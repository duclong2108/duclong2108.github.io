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embeddings/Microsoft_PowerPoint_Presentation.pptx" ContentType="application/vnd.openxmlformats-officedocument.presentationml.presentation"/>
  <Override PartName="/ppt/embeddings/Microsoft_PowerPoint_Presentation1.pptx" ContentType="application/vnd.openxmlformats-officedocument.presentationml.presentation"/>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5"/>
  </p:notesMasterIdLst>
  <p:handoutMasterIdLst>
    <p:handoutMasterId r:id="rId36"/>
  </p:handoutMasterIdLst>
  <p:sldIdLst>
    <p:sldId id="510" r:id="rId2"/>
    <p:sldId id="543" r:id="rId3"/>
    <p:sldId id="536" r:id="rId4"/>
    <p:sldId id="537" r:id="rId5"/>
    <p:sldId id="576" r:id="rId6"/>
    <p:sldId id="464" r:id="rId7"/>
    <p:sldId id="583" r:id="rId8"/>
    <p:sldId id="521" r:id="rId9"/>
    <p:sldId id="535" r:id="rId10"/>
    <p:sldId id="524" r:id="rId11"/>
    <p:sldId id="490" r:id="rId12"/>
    <p:sldId id="538" r:id="rId13"/>
    <p:sldId id="541" r:id="rId14"/>
    <p:sldId id="540" r:id="rId15"/>
    <p:sldId id="542" r:id="rId16"/>
    <p:sldId id="539" r:id="rId17"/>
    <p:sldId id="263" r:id="rId18"/>
    <p:sldId id="533" r:id="rId19"/>
    <p:sldId id="257" r:id="rId20"/>
    <p:sldId id="259" r:id="rId21"/>
    <p:sldId id="578" r:id="rId22"/>
    <p:sldId id="475" r:id="rId23"/>
    <p:sldId id="532" r:id="rId24"/>
    <p:sldId id="452" r:id="rId25"/>
    <p:sldId id="526" r:id="rId26"/>
    <p:sldId id="527" r:id="rId27"/>
    <p:sldId id="528" r:id="rId28"/>
    <p:sldId id="530" r:id="rId29"/>
    <p:sldId id="529" r:id="rId30"/>
    <p:sldId id="531" r:id="rId31"/>
    <p:sldId id="581" r:id="rId32"/>
    <p:sldId id="473" r:id="rId33"/>
    <p:sldId id="580" r:id="rId34"/>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101" d="100"/>
          <a:sy n="101" d="100"/>
        </p:scale>
        <p:origin x="1872" y="96"/>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commentAuthors" Target="commentAuthors.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vuong.vu\AppData\Local\Temp\_AZTMP1_\all.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Sheet1!$D$7</c:f>
              <c:strCache>
                <c:ptCount val="1"/>
                <c:pt idx="0">
                  <c:v>Total NG</c:v>
                </c:pt>
              </c:strCache>
            </c:strRef>
          </c:tx>
          <c:spPr>
            <a:solidFill>
              <a:schemeClr val="accent1"/>
            </a:solidFill>
            <a:ln>
              <a:noFill/>
            </a:ln>
            <a:effectLst/>
          </c:spPr>
          <c:invertIfNegative val="0"/>
          <c:dLbls>
            <c:delete val="1"/>
          </c:dLbls>
          <c:cat>
            <c:strRef>
              <c:f>Sheet1!$E$6:$K$6</c:f>
              <c:strCache>
                <c:ptCount val="7"/>
                <c:pt idx="0">
                  <c:v>16.Nov.2023</c:v>
                </c:pt>
                <c:pt idx="1">
                  <c:v>2.Jan.2024</c:v>
                </c:pt>
                <c:pt idx="2">
                  <c:v>23.Feb.2024</c:v>
                </c:pt>
                <c:pt idx="3">
                  <c:v>1.Mar.2024</c:v>
                </c:pt>
                <c:pt idx="4">
                  <c:v>15.Sep.2024</c:v>
                </c:pt>
                <c:pt idx="5">
                  <c:v>21.Nov.2024</c:v>
                </c:pt>
                <c:pt idx="6">
                  <c:v>28.Feb.2025</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dLbls>
          <c:showLegendKey val="0"/>
          <c:showVal val="1"/>
          <c:showCatName val="0"/>
          <c:showSerName val="0"/>
          <c:showPercent val="0"/>
          <c:showBubbleSize val="0"/>
        </c:dLbls>
        <c:gapWidth val="219"/>
        <c:overlap val="-27"/>
        <c:axId val="144407247"/>
        <c:axId val="294901951"/>
      </c:barChart>
      <c:barChart>
        <c:barDir val="col"/>
        <c:grouping val="clustered"/>
        <c:varyColors val="0"/>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16.Nov.2023</c:v>
                </c:pt>
                <c:pt idx="1">
                  <c:v>2.Jan.2024</c:v>
                </c:pt>
                <c:pt idx="2">
                  <c:v>23.Feb.2024</c:v>
                </c:pt>
                <c:pt idx="3">
                  <c:v>1.Mar.2024</c:v>
                </c:pt>
                <c:pt idx="4">
                  <c:v>15.Sep.2024</c:v>
                </c:pt>
                <c:pt idx="5">
                  <c:v>21.Nov.2024</c:v>
                </c:pt>
                <c:pt idx="6">
                  <c:v>28.Feb.2025</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16.Nov.2023</c:v>
                </c:pt>
                <c:pt idx="1">
                  <c:v>2.Jan.2024</c:v>
                </c:pt>
                <c:pt idx="2">
                  <c:v>23.Feb.2024</c:v>
                </c:pt>
                <c:pt idx="3">
                  <c:v>1.Mar.2024</c:v>
                </c:pt>
                <c:pt idx="4">
                  <c:v>15.Sep.2024</c:v>
                </c:pt>
                <c:pt idx="5">
                  <c:v>21.Nov.2024</c:v>
                </c:pt>
                <c:pt idx="6">
                  <c:v>28.Feb.2025</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1"/>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 Id="rId2"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3/19/2025</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2025-03-19</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2 weeks</a:t>
            </a:r>
          </a:p>
          <a:p>
            <a:pPr eaLnBrk="1" hangingPunct="1">
              <a:spcBef>
                <a:spcPct val="0"/>
              </a:spcBef>
            </a:pPr>
            <a:r>
              <a:rPr lang="en-US" altLang="ko-KR" dirty="0"/>
              <a:t>Measure: 4 weeks</a:t>
            </a:r>
          </a:p>
          <a:p>
            <a:pPr eaLnBrk="1" hangingPunct="1">
              <a:spcBef>
                <a:spcPct val="0"/>
              </a:spcBef>
            </a:pPr>
            <a:r>
              <a:rPr lang="en-US" altLang="ko-KR" dirty="0"/>
              <a:t>Analyze: 2 weeks</a:t>
            </a:r>
          </a:p>
          <a:p>
            <a:pPr eaLnBrk="1" hangingPunct="1">
              <a:spcBef>
                <a:spcPct val="0"/>
              </a:spcBef>
            </a:pPr>
            <a:r>
              <a:rPr lang="en-US" altLang="ko-KR" dirty="0"/>
              <a:t>Improve: 4 weeks</a:t>
            </a:r>
          </a:p>
          <a:p>
            <a:pPr eaLnBrk="1" hangingPunct="1">
              <a:spcBef>
                <a:spcPct val="0"/>
              </a:spcBef>
            </a:pPr>
            <a:r>
              <a:rPr lang="en-US" altLang="ko-KR" dirty="0"/>
              <a:t>Control: 2 weeks</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690083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Output level resolution: 0.01 Cd/m²</a:t>
            </a: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Step1: Check tolerance range to assess the variation in measurement system (</a:t>
            </a:r>
            <a:r>
              <a:rPr lang="en-US" sz="1200" b="0" i="0" kern="1200" dirty="0">
                <a:solidFill>
                  <a:schemeClr val="tx1"/>
                </a:solidFill>
                <a:effectLst/>
                <a:latin typeface="+mn-lt"/>
                <a:ea typeface="+mn-ea"/>
                <a:cs typeface="+mn-cs"/>
              </a:rPr>
              <a:t>measurements fall within the ± 10% tolerance range, is capable</a:t>
            </a:r>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a:t>
            </a: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Step2: Check P value to assess the bias (P value, a)</a:t>
            </a: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Step3: Check cg, cgk to assess the capability of measurement system (benchmark value)</a:t>
            </a: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Cg: Gage Capability : </a:t>
            </a:r>
            <a:r>
              <a:rPr lang="en-US" sz="1200" b="0" i="0" kern="1200" dirty="0">
                <a:solidFill>
                  <a:schemeClr val="tx1"/>
                </a:solidFill>
                <a:effectLst/>
                <a:latin typeface="+mn-lt"/>
                <a:ea typeface="+mn-ea"/>
                <a:cs typeface="+mn-cs"/>
              </a:rPr>
              <a:t>Measures the ability of the measurement device to detect variation in the product</a:t>
            </a:r>
            <a:endPar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 </a:t>
            </a:r>
            <a:r>
              <a:rPr lang="en-US" sz="1200" b="0" i="0" kern="1200" dirty="0">
                <a:solidFill>
                  <a:schemeClr val="tx1"/>
                </a:solidFill>
                <a:effectLst/>
                <a:latin typeface="+mn-lt"/>
                <a:ea typeface="+mn-ea"/>
                <a:cs typeface="+mn-cs"/>
              </a:rPr>
              <a:t>Measures the ability of the measurement device to detect variation in the product, but also considers the position of the measurement range relative to the control limits</a:t>
            </a: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7</a:t>
            </a:fld>
            <a:endParaRPr lang="ko-KR" altLang="en-US" dirty="0"/>
          </a:p>
        </p:txBody>
      </p:sp>
    </p:spTree>
    <p:extLst>
      <p:ext uri="{BB962C8B-B14F-4D97-AF65-F5344CB8AC3E}">
        <p14:creationId xmlns:p14="http://schemas.microsoft.com/office/powerpoint/2010/main" val="3392587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Step1: Check tolerance range to assess the variation in measurement system (</a:t>
            </a:r>
            <a:r>
              <a:rPr lang="en-US" sz="1000" b="0" i="0" kern="1200" dirty="0">
                <a:solidFill>
                  <a:schemeClr val="tx1"/>
                </a:solidFill>
                <a:effectLst/>
                <a:latin typeface="+mn-lt"/>
                <a:ea typeface="+mn-ea"/>
                <a:cs typeface="+mn-cs"/>
              </a:rPr>
              <a:t>measurements fall within the ± 10% tolerance range</a:t>
            </a:r>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Step2: Check P value to assess the bias (P value, a)</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Step3: Check cg, </a:t>
            </a:r>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a:t>
            </a:r>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 to assess the capability of measurement system (benchmark value)</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Gage Capability : </a:t>
            </a:r>
            <a:r>
              <a:rPr lang="en-US" sz="1000" b="0" i="0" kern="1200" dirty="0">
                <a:solidFill>
                  <a:schemeClr val="tx1"/>
                </a:solidFill>
                <a:effectLst/>
                <a:latin typeface="+mn-lt"/>
                <a:ea typeface="+mn-ea"/>
                <a:cs typeface="+mn-cs"/>
              </a:rPr>
              <a:t>Measures the ability of the measurement device to detect variation in the product</a:t>
            </a:r>
            <a:endPar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a:t>
            </a:r>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 Gage Capability Index : </a:t>
            </a:r>
            <a:r>
              <a:rPr lang="en-US" sz="1000" b="0" i="0" kern="1200" dirty="0">
                <a:solidFill>
                  <a:schemeClr val="tx1"/>
                </a:solidFill>
                <a:effectLst/>
                <a:latin typeface="+mn-lt"/>
                <a:ea typeface="+mn-ea"/>
                <a:cs typeface="+mn-cs"/>
              </a:rPr>
              <a:t>Measures the ability of the measurement device to detect variation in the product, but also considers the position of the measurement range relative to the control limits</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marR="0" indent="-342900" defTabSz="914400" rtl="0" eaLnBrk="1" fontAlgn="base" latinLnBrk="0" hangingPunct="1">
              <a:lnSpc>
                <a:spcPct val="100000"/>
              </a:lnSpc>
              <a:spcBef>
                <a:spcPct val="0"/>
              </a:spcBef>
              <a:spcAft>
                <a:spcPct val="0"/>
              </a:spcAft>
              <a:buClrTx/>
              <a:buSzTx/>
              <a:buFontTx/>
              <a:buAutoNum type="arabicPeriod"/>
              <a:tabLst/>
            </a:pP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9</a:t>
            </a:fld>
            <a:endParaRPr lang="ko-KR" altLang="en-US" dirty="0"/>
          </a:p>
        </p:txBody>
      </p:sp>
    </p:spTree>
    <p:extLst>
      <p:ext uri="{BB962C8B-B14F-4D97-AF65-F5344CB8AC3E}">
        <p14:creationId xmlns:p14="http://schemas.microsoft.com/office/powerpoint/2010/main" val="4192044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The group mean is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The group mean is not equal</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t>
            </a:r>
            <a:r>
              <a:rPr lang="en-US" sz="800" b="0" i="0" kern="1200" dirty="0">
                <a:solidFill>
                  <a:schemeClr val="tx1"/>
                </a:solidFill>
                <a:effectLst/>
                <a:latin typeface="+mn-lt"/>
                <a:ea typeface="+mn-ea"/>
                <a:cs typeface="+mn-cs"/>
              </a:rPr>
              <a:t> AIAG guidelines, if the measurement system variation is less than 10% of the process variation, then the measurement system is acceptable. Because the %Study Var, the %Tolerance, and the %Process are all less than 10%, the measurement system is Good</a:t>
            </a:r>
            <a:endParaRPr kumimoji="1" lang="en-US" altLang="ja-JP" sz="100" b="0" i="0" u="none" strike="noStrike" cap="none" normalizeH="0" baseline="0" dirty="0">
              <a:ln>
                <a:noFill/>
              </a:ln>
              <a:solidFill>
                <a:schemeClr val="tx1"/>
              </a:solidFill>
              <a:effectLst/>
              <a:latin typeface="Arial" charset="0"/>
              <a:ea typeface="돋움" pitchFamily="50" charset="-127"/>
            </a:endParaRP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a:t>
            </a:r>
            <a:r>
              <a:rPr kumimoji="1" lang="en-US" sz="800" b="0" i="0" u="none" strike="noStrike" cap="none" normalizeH="0" dirty="0">
                <a:ln>
                  <a:noFill/>
                </a:ln>
                <a:solidFill>
                  <a:srgbClr val="FF0000"/>
                </a:solidFill>
                <a:effectLst/>
                <a:latin typeface="Arial" charset="0"/>
                <a:ea typeface="돋움" pitchFamily="50" charset="-127"/>
              </a:rPr>
              <a:t> distinct categories: </a:t>
            </a:r>
            <a:r>
              <a:rPr kumimoji="1" lang="en-US" sz="800" b="0" i="0" u="none" strike="noStrike" cap="none" normalizeH="0" dirty="0" err="1">
                <a:ln>
                  <a:noFill/>
                </a:ln>
                <a:solidFill>
                  <a:srgbClr val="FF0000"/>
                </a:solidFill>
                <a:effectLst/>
                <a:latin typeface="Arial" charset="0"/>
                <a:ea typeface="돋움" pitchFamily="50" charset="-127"/>
              </a:rPr>
              <a:t>khả</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năng</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phân</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biệt</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của</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hệ</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thống</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đo</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10</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variation of each </a:t>
            </a:r>
            <a:r>
              <a:rPr kumimoji="1" lang="en-US" altLang="ja-JP" sz="600" b="0" i="0" u="none" strike="noStrike" cap="none" normalizeH="0" baseline="0" dirty="0" err="1">
                <a:ln>
                  <a:noFill/>
                </a:ln>
                <a:solidFill>
                  <a:schemeClr val="tx1"/>
                </a:solidFill>
                <a:effectLst/>
                <a:latin typeface="Arial" charset="0"/>
                <a:ea typeface="돋움" pitchFamily="50" charset="-127"/>
              </a:rPr>
              <a:t>sourse</a:t>
            </a:r>
            <a:r>
              <a:rPr kumimoji="1" lang="en-US" altLang="ja-JP" sz="600" b="0" i="0" u="none" strike="noStrike" cap="none" normalizeH="0" baseline="0" dirty="0">
                <a:ln>
                  <a:noFill/>
                </a:ln>
                <a:solidFill>
                  <a:schemeClr val="tx1"/>
                </a:solidFill>
                <a:effectLst/>
                <a:latin typeface="Arial" charset="0"/>
                <a:ea typeface="돋움" pitchFamily="50" charset="-127"/>
              </a:rPr>
              <a:t>, additional factor </a:t>
            </a:r>
            <a:r>
              <a:rPr kumimoji="1" lang="en-US" altLang="ja-JP" sz="600" b="0" i="0" u="none" strike="noStrike" cap="none" normalizeH="0" baseline="0" dirty="0" err="1">
                <a:ln>
                  <a:noFill/>
                </a:ln>
                <a:solidFill>
                  <a:schemeClr val="tx1"/>
                </a:solidFill>
                <a:effectLst/>
                <a:latin typeface="Arial" charset="0"/>
                <a:ea typeface="돋움" pitchFamily="50" charset="-127"/>
              </a:rPr>
              <a:t>afftected</a:t>
            </a:r>
            <a:r>
              <a:rPr kumimoji="1" lang="en-US" altLang="ja-JP" sz="600" b="0" i="0" u="none" strike="noStrike" cap="none" normalizeH="0" baseline="0" dirty="0">
                <a:ln>
                  <a:noFill/>
                </a:ln>
                <a:solidFill>
                  <a:schemeClr val="tx1"/>
                </a:solidFill>
                <a:effectLst/>
                <a:latin typeface="Arial" charset="0"/>
                <a:ea typeface="돋움" pitchFamily="50" charset="-127"/>
              </a:rPr>
              <a:t> to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all group mean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not all group mean is equal</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a:t>
            </a:r>
            <a:r>
              <a:rPr kumimoji="1" lang="en-US" altLang="ja-JP" sz="600" b="0" i="0" u="none" strike="noStrike" cap="none" normalizeH="0" baseline="0" dirty="0">
                <a:ln>
                  <a:noFill/>
                </a:ln>
                <a:solidFill>
                  <a:schemeClr val="tx1"/>
                </a:solidFill>
                <a:effectLst/>
                <a:latin typeface="Arial" charset="0"/>
                <a:ea typeface="돋움" pitchFamily="50" charset="-127"/>
              </a:rPr>
              <a:t> %contribution: almost contribution is from Part to part, </a:t>
            </a:r>
            <a:r>
              <a:rPr lang="en-US" sz="1200" b="0" i="0" kern="1200" dirty="0">
                <a:solidFill>
                  <a:schemeClr val="tx1"/>
                </a:solidFill>
                <a:effectLst/>
                <a:latin typeface="+mn-lt"/>
                <a:ea typeface="+mn-ea"/>
                <a:cs typeface="+mn-cs"/>
              </a:rPr>
              <a:t>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t>
            </a:r>
            <a:r>
              <a:rPr lang="en-US" sz="1200" b="0" i="0" kern="1200" dirty="0">
                <a:solidFill>
                  <a:schemeClr val="tx1"/>
                </a:solidFill>
                <a:effectLst/>
                <a:latin typeface="+mn-lt"/>
                <a:ea typeface="+mn-ea"/>
                <a:cs typeface="+mn-cs"/>
              </a:rPr>
              <a:t> AIAG guidelines, if the measurement system variation is less than 10% of the process variation, then the measurement system is acceptable. Because the %Study Var, the %Tolerance, and the %Process are all less than 10%,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22</a:t>
            </a:fld>
            <a:endParaRPr lang="ko-KR" altLang="en-US" dirty="0"/>
          </a:p>
        </p:txBody>
      </p:sp>
    </p:spTree>
    <p:extLst>
      <p:ext uri="{BB962C8B-B14F-4D97-AF65-F5344CB8AC3E}">
        <p14:creationId xmlns:p14="http://schemas.microsoft.com/office/powerpoint/2010/main" val="4192044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variation of each </a:t>
            </a:r>
            <a:r>
              <a:rPr kumimoji="1" lang="en-US" altLang="ja-JP" sz="600" b="0" i="0" u="none" strike="noStrike" cap="none" normalizeH="0" baseline="0" dirty="0" err="1">
                <a:ln>
                  <a:noFill/>
                </a:ln>
                <a:solidFill>
                  <a:schemeClr val="tx1"/>
                </a:solidFill>
                <a:effectLst/>
                <a:latin typeface="Arial" charset="0"/>
                <a:ea typeface="돋움" pitchFamily="50" charset="-127"/>
              </a:rPr>
              <a:t>sourse</a:t>
            </a:r>
            <a:r>
              <a:rPr kumimoji="1" lang="en-US" altLang="ja-JP" sz="600" b="0" i="0" u="none" strike="noStrike" cap="none" normalizeH="0" baseline="0" dirty="0">
                <a:ln>
                  <a:noFill/>
                </a:ln>
                <a:solidFill>
                  <a:schemeClr val="tx1"/>
                </a:solidFill>
                <a:effectLst/>
                <a:latin typeface="Arial" charset="0"/>
                <a:ea typeface="돋움" pitchFamily="50" charset="-127"/>
              </a:rPr>
              <a:t>, additional factor </a:t>
            </a:r>
            <a:r>
              <a:rPr kumimoji="1" lang="en-US" altLang="ja-JP" sz="600" b="0" i="0" u="none" strike="noStrike" cap="none" normalizeH="0" baseline="0" dirty="0" err="1">
                <a:ln>
                  <a:noFill/>
                </a:ln>
                <a:solidFill>
                  <a:schemeClr val="tx1"/>
                </a:solidFill>
                <a:effectLst/>
                <a:latin typeface="Arial" charset="0"/>
                <a:ea typeface="돋움" pitchFamily="50" charset="-127"/>
              </a:rPr>
              <a:t>afftected</a:t>
            </a:r>
            <a:r>
              <a:rPr kumimoji="1" lang="en-US" altLang="ja-JP" sz="600" b="0" i="0" u="none" strike="noStrike" cap="none" normalizeH="0" baseline="0" dirty="0">
                <a:ln>
                  <a:noFill/>
                </a:ln>
                <a:solidFill>
                  <a:schemeClr val="tx1"/>
                </a:solidFill>
                <a:effectLst/>
                <a:latin typeface="Arial" charset="0"/>
                <a:ea typeface="돋움" pitchFamily="50" charset="-127"/>
              </a:rPr>
              <a:t> to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all group mean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not all group mean is equal</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a:t>
            </a:r>
            <a:r>
              <a:rPr kumimoji="1" lang="en-US" altLang="ja-JP" sz="600" b="0" i="0" u="none" strike="noStrike" cap="none" normalizeH="0" baseline="0" dirty="0">
                <a:ln>
                  <a:noFill/>
                </a:ln>
                <a:solidFill>
                  <a:schemeClr val="tx1"/>
                </a:solidFill>
                <a:effectLst/>
                <a:latin typeface="Arial" charset="0"/>
                <a:ea typeface="돋움" pitchFamily="50" charset="-127"/>
              </a:rPr>
              <a:t> %contribution: almost contribution is from Part to part, </a:t>
            </a:r>
            <a:r>
              <a:rPr lang="en-US" sz="1200" b="0" i="0" kern="1200" dirty="0">
                <a:solidFill>
                  <a:schemeClr val="tx1"/>
                </a:solidFill>
                <a:effectLst/>
                <a:latin typeface="+mn-lt"/>
                <a:ea typeface="+mn-ea"/>
                <a:cs typeface="+mn-cs"/>
              </a:rPr>
              <a:t>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t>
            </a:r>
            <a:r>
              <a:rPr lang="en-US" sz="1200" b="0" i="0" kern="1200" dirty="0">
                <a:solidFill>
                  <a:schemeClr val="tx1"/>
                </a:solidFill>
                <a:effectLst/>
                <a:latin typeface="+mn-lt"/>
                <a:ea typeface="+mn-ea"/>
                <a:cs typeface="+mn-cs"/>
              </a:rPr>
              <a:t> AIAG guidelines, if the measurement system variation is less than 10% of the process variation, then the measurement system is acceptable. Because the %Study Var, the %Tolerance, and the %Process are all less than 10%,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dirty="0"/>
                  <a:t>Examine the R chart to determine whether the process variation is in control</a:t>
                </a:r>
              </a:p>
              <a:p>
                <a:r>
                  <a:rPr kumimoji="1" lang="en-US" altLang="ja-JP" dirty="0"/>
                  <a:t>Examine the Xbar chart to determine whether the process mean is in control</a:t>
                </a:r>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24</a:t>
            </a:fld>
            <a:endParaRPr lang="ko-KR" altLang="en-US" dirty="0"/>
          </a:p>
        </p:txBody>
      </p:sp>
    </p:spTree>
    <p:extLst>
      <p:ext uri="{BB962C8B-B14F-4D97-AF65-F5344CB8AC3E}">
        <p14:creationId xmlns:p14="http://schemas.microsoft.com/office/powerpoint/2010/main" val="40724101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kumimoji="1" lang="en-US" altLang="ja-JP" dirty="0"/>
                  <a:t>--To evaluate process capability:</a:t>
                </a:r>
              </a:p>
              <a:p>
                <a:r>
                  <a:rPr kumimoji="1" lang="en-US" altLang="ja-JP" dirty="0"/>
                  <a:t>Check the data fit the distribution</a:t>
                </a:r>
              </a:p>
              <a:p>
                <a:r>
                  <a:rPr kumimoji="1" lang="en-US" altLang="ja-JP" dirty="0"/>
                  <a:t>Notice if the solid curve fit closely the dash curve</a:t>
                </a:r>
              </a:p>
              <a:p>
                <a:r>
                  <a:rPr kumimoji="1" lang="en-US" altLang="ja-JP" dirty="0"/>
                  <a:t>Evaluate the capability base on performance and the Potential capability indicate, compare </a:t>
                </a:r>
                <a:r>
                  <a:rPr kumimoji="1" lang="en-US" altLang="ja-JP" dirty="0" err="1"/>
                  <a:t>Cpk</a:t>
                </a:r>
                <a:r>
                  <a:rPr kumimoji="1" lang="en-US" altLang="ja-JP" dirty="0"/>
                  <a:t> with a benchmark value that is acceptable for the process</a:t>
                </a:r>
              </a:p>
              <a:p>
                <a:r>
                  <a:rPr kumimoji="1" lang="en-US" altLang="ja-JP" dirty="0"/>
                  <a:t>Dash: within curve</a:t>
                </a:r>
              </a:p>
              <a:p>
                <a:r>
                  <a:rPr kumimoji="1" lang="en-US" altLang="ja-JP" dirty="0"/>
                  <a:t>Solid: overall curve</a:t>
                </a:r>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26</a:t>
            </a:fld>
            <a:endParaRPr lang="ko-KR" altLang="en-US" dirty="0"/>
          </a:p>
        </p:txBody>
      </p:sp>
    </p:spTree>
    <p:extLst>
      <p:ext uri="{BB962C8B-B14F-4D97-AF65-F5344CB8AC3E}">
        <p14:creationId xmlns:p14="http://schemas.microsoft.com/office/powerpoint/2010/main" val="1379089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0" dirty="0" err="1"/>
                  <a:t>Zst</a:t>
                </a:r>
                <a:r>
                  <a:rPr kumimoji="1" lang="en-US" altLang="ja-JP" b="0" dirty="0"/>
                  <a:t>: within (historical mean), </a:t>
                </a:r>
                <a:r>
                  <a:rPr kumimoji="1" lang="en-US" altLang="ja-JP" b="0" dirty="0" err="1"/>
                  <a:t>Zlt</a:t>
                </a:r>
                <a:r>
                  <a:rPr kumimoji="1" lang="en-US" altLang="ja-JP" b="0" dirty="0"/>
                  <a:t>: overall. 		The short-term process capability  (</a:t>
                </a:r>
                <a:r>
                  <a:rPr kumimoji="1" lang="en-US" altLang="ja-JP" b="0" dirty="0" err="1"/>
                  <a:t>Zst</a:t>
                </a:r>
                <a:r>
                  <a:rPr kumimoji="1" lang="en-US" altLang="ja-JP" b="0" dirty="0"/>
                  <a:t>) represents the best capability of the current process.		 (</a:t>
                </a:r>
                <a:r>
                  <a:rPr kumimoji="1" lang="en-US" altLang="ja-JP" b="0" dirty="0" err="1"/>
                  <a:t>Zlt</a:t>
                </a:r>
                <a:r>
                  <a:rPr kumimoji="1" lang="en-US" altLang="ja-JP" b="0" dirty="0"/>
                  <a:t>) represents the process capability of the customer's perspective.</a:t>
                </a:r>
              </a:p>
              <a:p>
                <a:r>
                  <a:rPr kumimoji="1" lang="en-US" altLang="ja-JP" b="0" dirty="0"/>
                  <a:t>In the early days of development, when the current capability is considered to be the best, the quality will deteriorate due to wear of tool and equipment, variation of worker, change of environment as time flows. Indicating a degree of deterioration, and a value of 1.0 to 1.5 is deteriorated based on the Z value.	Management is not good if </a:t>
                </a:r>
                <a:r>
                  <a:rPr kumimoji="1" lang="en-US" altLang="ja-JP" b="0" dirty="0" err="1"/>
                  <a:t>Zshift</a:t>
                </a:r>
                <a:r>
                  <a:rPr kumimoji="1" lang="en-US" altLang="ja-JP" b="0" dirty="0"/>
                  <a:t> amount is greater than 1.5 and </a:t>
                </a:r>
                <a:r>
                  <a:rPr kumimoji="1" lang="en-US" altLang="ja-JP" b="0" dirty="0" err="1"/>
                  <a:t>Zshift</a:t>
                </a:r>
                <a:r>
                  <a:rPr kumimoji="1" lang="en-US" altLang="ja-JP" b="0" dirty="0"/>
                  <a:t> amount is less than 1.5, judged management is good</a:t>
                </a:r>
              </a:p>
              <a:p>
                <a:r>
                  <a:rPr kumimoji="1" lang="en-US" altLang="ja-JP" b="0" dirty="0" err="1"/>
                  <a:t>Cpk</a:t>
                </a:r>
                <a:r>
                  <a:rPr kumimoji="1" lang="en-US" altLang="ja-JP" b="0" dirty="0"/>
                  <a:t> is a measure of the potential capability of the process and equals the minimum of CPU and CPL. </a:t>
                </a:r>
                <a:r>
                  <a:rPr kumimoji="1" lang="en-US" altLang="ja-JP" b="0" dirty="0" err="1"/>
                  <a:t>Cpk</a:t>
                </a:r>
                <a:r>
                  <a:rPr kumimoji="1" lang="en-US" altLang="ja-JP" b="0" dirty="0"/>
                  <a:t> is a ratio that compares two values:</a:t>
                </a:r>
              </a:p>
              <a:p>
                <a:r>
                  <a:rPr kumimoji="1" lang="en-US" altLang="ja-JP" b="0" dirty="0"/>
                  <a:t>The distance from the process mean to the closest specification limit (USL or LSL)</a:t>
                </a:r>
              </a:p>
              <a:p>
                <a:r>
                  <a:rPr kumimoji="1" lang="en-US" altLang="ja-JP" b="0" dirty="0"/>
                  <a:t>The one-sided spread of the process (the 3-σ variation) based on the within-subgroup standard deviation</a:t>
                </a:r>
              </a:p>
              <a:p>
                <a:r>
                  <a:rPr kumimoji="1" lang="en-US" altLang="ja-JP" b="0" dirty="0" err="1"/>
                  <a:t>Cpk</a:t>
                </a:r>
                <a:r>
                  <a:rPr kumimoji="1" lang="en-US" altLang="ja-JP" b="0" dirty="0"/>
                  <a:t> considers both the location and the variation (within subgroups) of the process.</a:t>
                </a:r>
                <a:endParaRPr kumimoji="1" lang="ja-JP" altLang="en-US" b="0" dirty="0"/>
              </a:p>
              <a:p>
                <a:endParaRPr kumimoji="1" lang="ja-JP" altLang="en-US" b="0" dirty="0"/>
              </a:p>
              <a:p>
                <a:endParaRPr kumimoji="1" lang="ja-JP" altLang="en-US" b="0"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27</a:t>
            </a:fld>
            <a:endParaRPr lang="ko-KR" altLang="en-US" dirty="0"/>
          </a:p>
        </p:txBody>
      </p:sp>
    </p:spTree>
    <p:extLst>
      <p:ext uri="{BB962C8B-B14F-4D97-AF65-F5344CB8AC3E}">
        <p14:creationId xmlns:p14="http://schemas.microsoft.com/office/powerpoint/2010/main" val="3303708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28</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a:t>
                </a:r>
                <a:r>
                  <a:rPr kumimoji="1" lang="en-US" altLang="ja-JP" b="1" dirty="0"/>
                  <a:t>: within (historical mean), </a:t>
                </a:r>
                <a:r>
                  <a:rPr kumimoji="1" lang="en-US" altLang="ja-JP" b="1" dirty="0" err="1"/>
                  <a:t>Zlt</a:t>
                </a:r>
                <a:r>
                  <a:rPr kumimoji="1" lang="en-US" altLang="ja-JP" b="1" dirty="0"/>
                  <a:t>: overall. 		The short-term process capability  (</a:t>
                </a:r>
                <a:r>
                  <a:rPr kumimoji="1" lang="en-US" altLang="ja-JP" b="1" dirty="0" err="1"/>
                  <a:t>Zst</a:t>
                </a:r>
                <a:r>
                  <a:rPr kumimoji="1" lang="en-US" altLang="ja-JP" b="1" dirty="0"/>
                  <a:t>) represents the best capability of the current process.		 (</a:t>
                </a:r>
                <a:r>
                  <a:rPr kumimoji="1" lang="en-US" altLang="ja-JP" b="1" dirty="0" err="1"/>
                  <a:t>Zlt</a:t>
                </a:r>
                <a:r>
                  <a:rPr kumimoji="1" lang="en-US" altLang="ja-JP" b="1" dirty="0"/>
                  <a:t>) represents the process capability of the customer's perspective.</a:t>
                </a:r>
              </a:p>
              <a:p>
                <a:r>
                  <a:rPr kumimoji="1" lang="en-US" altLang="ja-JP" b="1" dirty="0"/>
                  <a:t>In the early days of development, when the current capability is considered to be the best, the quality will deteriorate due to wear of tool and equipment, variation of worker, change of environment as time flows. Indicating a degree of deterioration, and a value of 1.0 to 1.5 is deteriorated based on the Z value.	Management is not good if </a:t>
                </a:r>
                <a:r>
                  <a:rPr kumimoji="1" lang="en-US" altLang="ja-JP" b="1" dirty="0" err="1"/>
                  <a:t>Zshift</a:t>
                </a:r>
                <a:r>
                  <a:rPr kumimoji="1" lang="en-US" altLang="ja-JP" b="1" dirty="0"/>
                  <a:t> amount is greater than 1.5 and </a:t>
                </a:r>
                <a:r>
                  <a:rPr kumimoji="1" lang="en-US" altLang="ja-JP" b="1" dirty="0" err="1"/>
                  <a:t>Zshift</a:t>
                </a:r>
                <a:r>
                  <a:rPr kumimoji="1" lang="en-US" altLang="ja-JP" b="1" dirty="0"/>
                  <a:t> amount is less than 1.5, judged management is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29</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Arial" panose="020B0503020000020004" pitchFamily="50" charset="-127"/>
                <a:ea typeface="Arial"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Arial" panose="02020603020101020101" pitchFamily="18" charset="-127"/>
                <a:ea typeface="Aria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Arial" pitchFamily="50" charset="-127"/>
              </a:rPr>
              <a:pPr>
                <a:defRPr/>
              </a:pPr>
              <a:t>‹#›</a:t>
            </a:fld>
            <a:endParaRPr lang="ko-KR" altLang="en-US" sz="1200" dirty="0">
              <a:solidFill>
                <a:srgbClr val="000000"/>
              </a:solidFill>
              <a:latin typeface="Arial" charset="0"/>
              <a:ea typeface="Arial"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3/19/2025</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Arial" panose="020B0503020000020004" pitchFamily="50" charset="-127"/>
          <a:ea typeface="Arial" panose="020B0503020000020004" pitchFamily="50" charset="-127"/>
          <a:cs typeface="Arial"/>
        </a:defRPr>
      </a:lvl1pPr>
      <a:lvl2pPr algn="l" rtl="0" eaLnBrk="0" fontAlgn="base" latinLnBrk="1" hangingPunct="0">
        <a:spcBef>
          <a:spcPct val="0"/>
        </a:spcBef>
        <a:spcAft>
          <a:spcPct val="0"/>
        </a:spcAft>
        <a:defRPr kumimoji="1" sz="2000" b="1">
          <a:solidFill>
            <a:schemeClr val="tx1"/>
          </a:solidFill>
          <a:latin typeface="Arial" charset="0"/>
          <a:ea typeface="Arial" pitchFamily="50" charset="-127"/>
        </a:defRPr>
      </a:lvl2pPr>
      <a:lvl3pPr algn="l" rtl="0" eaLnBrk="0" fontAlgn="base" latinLnBrk="1" hangingPunct="0">
        <a:spcBef>
          <a:spcPct val="0"/>
        </a:spcBef>
        <a:spcAft>
          <a:spcPct val="0"/>
        </a:spcAft>
        <a:defRPr kumimoji="1" sz="2000" b="1">
          <a:solidFill>
            <a:schemeClr val="tx1"/>
          </a:solidFill>
          <a:latin typeface="Arial" charset="0"/>
          <a:ea typeface="Arial" pitchFamily="50" charset="-127"/>
        </a:defRPr>
      </a:lvl3pPr>
      <a:lvl4pPr algn="l" rtl="0" eaLnBrk="0" fontAlgn="base" latinLnBrk="1" hangingPunct="0">
        <a:spcBef>
          <a:spcPct val="0"/>
        </a:spcBef>
        <a:spcAft>
          <a:spcPct val="0"/>
        </a:spcAft>
        <a:defRPr kumimoji="1" sz="2000" b="1">
          <a:solidFill>
            <a:schemeClr val="tx1"/>
          </a:solidFill>
          <a:latin typeface="Arial" charset="0"/>
          <a:ea typeface="Arial" pitchFamily="50" charset="-127"/>
        </a:defRPr>
      </a:lvl4pPr>
      <a:lvl5pPr algn="l" rtl="0" eaLnBrk="0" fontAlgn="base" latinLnBrk="1" hangingPunct="0">
        <a:spcBef>
          <a:spcPct val="0"/>
        </a:spcBef>
        <a:spcAft>
          <a:spcPct val="0"/>
        </a:spcAft>
        <a:defRPr kumimoji="1" sz="2000" b="1">
          <a:solidFill>
            <a:schemeClr val="tx1"/>
          </a:solidFill>
          <a:latin typeface="Arial" charset="0"/>
          <a:ea typeface="Arial" pitchFamily="50" charset="-127"/>
        </a:defRPr>
      </a:lvl5pPr>
      <a:lvl6pPr marL="457200" algn="l" rtl="0" fontAlgn="base" latinLnBrk="1">
        <a:spcBef>
          <a:spcPct val="0"/>
        </a:spcBef>
        <a:spcAft>
          <a:spcPct val="0"/>
        </a:spcAft>
        <a:defRPr kumimoji="1" sz="2000" b="1">
          <a:solidFill>
            <a:schemeClr val="tx1"/>
          </a:solidFill>
          <a:latin typeface="Arial" charset="0"/>
          <a:ea typeface="Arial" pitchFamily="50" charset="-127"/>
        </a:defRPr>
      </a:lvl6pPr>
      <a:lvl7pPr marL="914400" algn="l" rtl="0" fontAlgn="base" latinLnBrk="1">
        <a:spcBef>
          <a:spcPct val="0"/>
        </a:spcBef>
        <a:spcAft>
          <a:spcPct val="0"/>
        </a:spcAft>
        <a:defRPr kumimoji="1" sz="2000" b="1">
          <a:solidFill>
            <a:schemeClr val="tx1"/>
          </a:solidFill>
          <a:latin typeface="Arial" charset="0"/>
          <a:ea typeface="Arial" pitchFamily="50" charset="-127"/>
        </a:defRPr>
      </a:lvl7pPr>
      <a:lvl8pPr marL="1371600" algn="l" rtl="0" fontAlgn="base" latinLnBrk="1">
        <a:spcBef>
          <a:spcPct val="0"/>
        </a:spcBef>
        <a:spcAft>
          <a:spcPct val="0"/>
        </a:spcAft>
        <a:defRPr kumimoji="1" sz="2000" b="1">
          <a:solidFill>
            <a:schemeClr val="tx1"/>
          </a:solidFill>
          <a:latin typeface="Arial" charset="0"/>
          <a:ea typeface="Arial" pitchFamily="50" charset="-127"/>
        </a:defRPr>
      </a:lvl8pPr>
      <a:lvl9pPr marL="1828800" algn="l" rtl="0" fontAlgn="base" latinLnBrk="1">
        <a:spcBef>
          <a:spcPct val="0"/>
        </a:spcBef>
        <a:spcAft>
          <a:spcPct val="0"/>
        </a:spcAft>
        <a:defRPr kumimoji="1" sz="2000" b="1">
          <a:solidFill>
            <a:schemeClr val="tx1"/>
          </a:solidFill>
          <a:latin typeface="Arial" charset="0"/>
          <a:ea typeface="Arial"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Arial"/>
          <a:ea typeface="Arial" pitchFamily="50" charset="-127"/>
          <a:cs typeface="Arial"/>
        </a:defRPr>
      </a:lvl1pPr>
      <a:lvl2pPr marL="742950" indent="-285750" algn="l" rtl="0" eaLnBrk="0" fontAlgn="base" latinLnBrk="1" hangingPunct="0">
        <a:spcBef>
          <a:spcPct val="20000"/>
        </a:spcBef>
        <a:spcAft>
          <a:spcPct val="0"/>
        </a:spcAft>
        <a:buChar char="–"/>
        <a:defRPr kumimoji="1" sz="2800">
          <a:solidFill>
            <a:schemeClr val="tx1"/>
          </a:solidFill>
          <a:latin typeface="Arial" charset="-127"/>
          <a:ea typeface="Arial" charset="-127"/>
        </a:defRPr>
      </a:lvl2pPr>
      <a:lvl3pPr marL="1147763" indent="-228600" algn="l" rtl="0" eaLnBrk="0" fontAlgn="base" latinLnBrk="1" hangingPunct="0">
        <a:spcBef>
          <a:spcPct val="20000"/>
        </a:spcBef>
        <a:spcAft>
          <a:spcPct val="0"/>
        </a:spcAft>
        <a:buChar char="•"/>
        <a:defRPr kumimoji="1" sz="2400">
          <a:solidFill>
            <a:schemeClr val="tx1"/>
          </a:solidFill>
          <a:latin typeface="Arial" charset="-127"/>
          <a:ea typeface="Arial" charset="-127"/>
        </a:defRPr>
      </a:lvl3pPr>
      <a:lvl4pPr marL="1600200" indent="-228600" algn="l" rtl="0" eaLnBrk="0" fontAlgn="base" latinLnBrk="1" hangingPunct="0">
        <a:spcBef>
          <a:spcPct val="20000"/>
        </a:spcBef>
        <a:spcAft>
          <a:spcPct val="0"/>
        </a:spcAft>
        <a:buChar char="–"/>
        <a:defRPr kumimoji="1" sz="2000">
          <a:solidFill>
            <a:schemeClr val="tx1"/>
          </a:solidFill>
          <a:latin typeface="Arial" charset="-127"/>
          <a:ea typeface="Arial" charset="-127"/>
        </a:defRPr>
      </a:lvl4pPr>
      <a:lvl5pPr marL="2057400" indent="-228600" algn="l" rtl="0" eaLnBrk="0" fontAlgn="base" latinLnBrk="1" hangingPunct="0">
        <a:spcBef>
          <a:spcPct val="20000"/>
        </a:spcBef>
        <a:spcAft>
          <a:spcPct val="0"/>
        </a:spcAft>
        <a:buChar char="»"/>
        <a:defRPr kumimoji="1" sz="2000">
          <a:solidFill>
            <a:schemeClr val="tx1"/>
          </a:solidFill>
          <a:latin typeface="Arial" charset="-127"/>
          <a:ea typeface="Arial" charset="-127"/>
        </a:defRPr>
      </a:lvl5pPr>
      <a:lvl6pPr marL="2514600" indent="-228600" algn="l" rtl="0" fontAlgn="base" latinLnBrk="1">
        <a:spcBef>
          <a:spcPct val="20000"/>
        </a:spcBef>
        <a:spcAft>
          <a:spcPct val="0"/>
        </a:spcAft>
        <a:buChar char="»"/>
        <a:defRPr kumimoji="1" sz="2000">
          <a:solidFill>
            <a:schemeClr val="tx1"/>
          </a:solidFill>
          <a:latin typeface="Arial" charset="-127"/>
          <a:ea typeface="Arial" charset="-127"/>
        </a:defRPr>
      </a:lvl6pPr>
      <a:lvl7pPr marL="2971800" indent="-228600" algn="l" rtl="0" fontAlgn="base" latinLnBrk="1">
        <a:spcBef>
          <a:spcPct val="20000"/>
        </a:spcBef>
        <a:spcAft>
          <a:spcPct val="0"/>
        </a:spcAft>
        <a:buChar char="»"/>
        <a:defRPr kumimoji="1" sz="2000">
          <a:solidFill>
            <a:schemeClr val="tx1"/>
          </a:solidFill>
          <a:latin typeface="Arial" charset="-127"/>
          <a:ea typeface="Arial" charset="-127"/>
        </a:defRPr>
      </a:lvl7pPr>
      <a:lvl8pPr marL="3429000" indent="-228600" algn="l" rtl="0" fontAlgn="base" latinLnBrk="1">
        <a:spcBef>
          <a:spcPct val="20000"/>
        </a:spcBef>
        <a:spcAft>
          <a:spcPct val="0"/>
        </a:spcAft>
        <a:buChar char="»"/>
        <a:defRPr kumimoji="1" sz="2000">
          <a:solidFill>
            <a:schemeClr val="tx1"/>
          </a:solidFill>
          <a:latin typeface="Arial" charset="-127"/>
          <a:ea typeface="Arial" charset="-127"/>
        </a:defRPr>
      </a:lvl8pPr>
      <a:lvl9pPr marL="3886200" indent="-228600" algn="l" rtl="0" fontAlgn="base" latinLnBrk="1">
        <a:spcBef>
          <a:spcPct val="20000"/>
        </a:spcBef>
        <a:spcAft>
          <a:spcPct val="0"/>
        </a:spcAft>
        <a:buChar char="»"/>
        <a:defRPr kumimoji="1" sz="2000">
          <a:solidFill>
            <a:schemeClr val="tx1"/>
          </a:solidFill>
          <a:latin typeface="Arial" charset="-127"/>
          <a:ea typeface="Arial" charset="-127"/>
        </a:defRPr>
      </a:lvl9pPr>
    </p:bodyStyle>
    <p:otherStyle>
      <a:defPPr>
        <a:defRPr lang="ko-KR"/>
      </a:defPPr>
      <a:lvl1pPr marL="0" algn="l" defTabSz="914400" rtl="0" eaLnBrk="1" latinLnBrk="1" hangingPunct="1">
        <a:defRPr sz="1800" kern="1200">
          <a:solidFill>
            <a:schemeClr val="tx1"/>
          </a:solidFill>
          <a:latin typeface="Arial"/>
          <a:ea typeface="Arial"/>
          <a:cs typeface="Arial"/>
        </a:defRPr>
      </a:lvl1pPr>
      <a:lvl2pPr marL="457200" algn="l" defTabSz="914400" rtl="0" eaLnBrk="1" latinLnBrk="1" hangingPunct="1">
        <a:defRPr sz="1800" kern="1200">
          <a:solidFill>
            <a:schemeClr val="tx1"/>
          </a:solidFill>
          <a:latin typeface="Arial"/>
          <a:ea typeface="Arial"/>
          <a:cs typeface="Arial"/>
        </a:defRPr>
      </a:lvl2pPr>
      <a:lvl3pPr marL="914400" algn="l" defTabSz="914400" rtl="0" eaLnBrk="1" latinLnBrk="1" hangingPunct="1">
        <a:defRPr sz="1800" kern="1200">
          <a:solidFill>
            <a:schemeClr val="tx1"/>
          </a:solidFill>
          <a:latin typeface="Arial"/>
          <a:ea typeface="Arial"/>
          <a:cs typeface="Arial"/>
        </a:defRPr>
      </a:lvl3pPr>
      <a:lvl4pPr marL="1371600" algn="l" defTabSz="914400" rtl="0" eaLnBrk="1" latinLnBrk="1" hangingPunct="1">
        <a:defRPr sz="1800" kern="1200">
          <a:solidFill>
            <a:schemeClr val="tx1"/>
          </a:solidFill>
          <a:latin typeface="Arial"/>
          <a:ea typeface="Arial"/>
          <a:cs typeface="Arial"/>
        </a:defRPr>
      </a:lvl4pPr>
      <a:lvl5pPr marL="1828800" algn="l" defTabSz="914400" rtl="0" eaLnBrk="1" latinLnBrk="1" hangingPunct="1">
        <a:defRPr sz="1800" kern="1200">
          <a:solidFill>
            <a:schemeClr val="tx1"/>
          </a:solidFill>
          <a:latin typeface="Arial"/>
          <a:ea typeface="Arial"/>
          <a:cs typeface="Arial"/>
        </a:defRPr>
      </a:lvl5pPr>
      <a:lvl6pPr marL="2286000" algn="l" defTabSz="914400" rtl="0" eaLnBrk="1" latinLnBrk="1" hangingPunct="1">
        <a:defRPr sz="1800" kern="1200">
          <a:solidFill>
            <a:schemeClr val="tx1"/>
          </a:solidFill>
          <a:latin typeface="Arial"/>
          <a:ea typeface="Arial"/>
          <a:cs typeface="Arial"/>
        </a:defRPr>
      </a:lvl6pPr>
      <a:lvl7pPr marL="2743200" algn="l" defTabSz="914400" rtl="0" eaLnBrk="1" latinLnBrk="1" hangingPunct="1">
        <a:defRPr sz="1800" kern="1200">
          <a:solidFill>
            <a:schemeClr val="tx1"/>
          </a:solidFill>
          <a:latin typeface="Arial"/>
          <a:ea typeface="Arial"/>
          <a:cs typeface="Arial"/>
        </a:defRPr>
      </a:lvl7pPr>
      <a:lvl8pPr marL="3200400" algn="l" defTabSz="914400" rtl="0" eaLnBrk="1" latinLnBrk="1" hangingPunct="1">
        <a:defRPr sz="1800" kern="1200">
          <a:solidFill>
            <a:schemeClr val="tx1"/>
          </a:solidFill>
          <a:latin typeface="Arial"/>
          <a:ea typeface="Arial"/>
          <a:cs typeface="Arial"/>
        </a:defRPr>
      </a:lvl8pPr>
      <a:lvl9pPr marL="3657600" algn="l" defTabSz="914400" rtl="0" eaLnBrk="1" latinLnBrk="1" hangingPunct="1">
        <a:defRPr sz="1800"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emf"/><Relationship Id="rId5" Type="http://schemas.openxmlformats.org/officeDocument/2006/relationships/package" Target="../embeddings/Microsoft_Excel_Worksheet.xlsx"/><Relationship Id="rId6"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emf"/><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package" Target="../embeddings/Microsoft_PowerPoint_Presentation.pptx"/><Relationship Id="rId5" Type="http://schemas.openxmlformats.org/officeDocument/2006/relationships/image" Target="../media/image17.emf"/><Relationship Id="rId6" Type="http://schemas.openxmlformats.org/officeDocument/2006/relationships/package" Target="../embeddings/Microsoft_PowerPoint_Presentation1.pptx"/><Relationship Id="rId7" Type="http://schemas.openxmlformats.org/officeDocument/2006/relationships/image" Target="../media/image1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jpe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4.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package" Target="../embeddings/Microsoft_Excel_Worksheet2.xlsx"/><Relationship Id="rId8" Type="http://schemas.openxmlformats.org/officeDocument/2006/relationships/image" Target="../media/image4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8.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0.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2.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8" Type="http://schemas.openxmlformats.org/officeDocument/2006/relationships/image" Target="../media/image56.png"/><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8.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8" Type="http://schemas.openxmlformats.org/officeDocument/2006/relationships/image" Target="../media/image60.png"/><Relationship Id="rId9" Type="http://schemas.openxmlformats.org/officeDocument/2006/relationships/image" Target="../media/image6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diagramData" Target="../diagrams/data5.xml"/><Relationship Id="rId6" Type="http://schemas.openxmlformats.org/officeDocument/2006/relationships/diagramLayout" Target="../diagrams/layout5.xml"/><Relationship Id="rId7" Type="http://schemas.openxmlformats.org/officeDocument/2006/relationships/diagramQuickStyle" Target="../diagrams/quickStyle5.xml"/><Relationship Id="rId8" Type="http://schemas.openxmlformats.org/officeDocument/2006/relationships/diagramColors" Target="../diagrams/colors5.xml"/><Relationship Id="rId9" Type="http://schemas.microsoft.com/office/2007/relationships/diagramDrawing" Target="../diagrams/drawin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32.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1.xml"/><Relationship Id="rId3" Type="http://schemas.openxmlformats.org/officeDocument/2006/relationships/package" Target="../embeddings/Microsoft_Excel_Worksheet3.xlsx"/><Relationship Id="rId4" Type="http://schemas.openxmlformats.org/officeDocument/2006/relationships/image" Target="../media/image64.emf"/><Relationship Id="rId5" Type="http://schemas.openxmlformats.org/officeDocument/2006/relationships/image" Target="../media/image65.png"/><Relationship Id="rId6" Type="http://schemas.openxmlformats.org/officeDocument/2006/relationships/image" Target="../media/image6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fontAlgn="auto" latinLnBrk="0">
              <a:spcBef>
                <a:spcPts val="0"/>
              </a:spcBef>
              <a:spcAft>
                <a:spcPts val="0"/>
              </a:spcAft>
              <a:defRPr>
                <a:latin typeface="Arial"/>
              </a:defRPr>
            </a:pPr>
            <a:r>
              <a:rPr kumimoji="0" lang="en-US" altLang="en-US" sz="2600" b="1" kern="0" dirty="0">
                <a:solidFill>
                  <a:sysClr val="windowText" lastClr="000000"/>
                </a:solidFill>
                <a:latin typeface="Arial" pitchFamily="50" charset="-127"/>
                <a:ea typeface="Arial" pitchFamily="50" charset="-127"/>
              </a:rPr>
              <a:t>6 Sigma Assignment</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Arial" pitchFamily="50" charset="-127"/>
                <a:ea typeface="Arial"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Arial" pitchFamily="50" charset="-127"/>
                <a:ea typeface="Arial"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Measurement</a:t>
              </a:r>
              <a:endParaRPr kumimoji="0" lang="en-US" altLang="ko-KR" sz="1500" b="1" kern="0" dirty="0">
                <a:solidFill>
                  <a:srgbClr val="FFFFFF">
                    <a:lumMod val="65000"/>
                  </a:srgbClr>
                </a:solidFill>
                <a:latin typeface="Arial" pitchFamily="50" charset="-127"/>
                <a:ea typeface="Arial"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Improvement</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latinLnBrk="0">
              <a:defRPr>
                <a:latin typeface="Arial"/>
              </a:defRPr>
            </a:pPr>
            <a:r>
              <a:rPr sz="1600" b="1">
                <a:latin typeface="Arial"/>
              </a:rPr>
              <a:t>2025.Mar.04</a:t>
            </a:r>
          </a:p>
          <a:p>
            <a:pPr algn="ctr" latinLnBrk="0">
              <a:defRPr>
                <a:latin typeface="Arial"/>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latinLnBrk="0">
              <a:defRPr>
                <a:latin typeface="Arial"/>
              </a:defRPr>
            </a:pPr>
            <a:r>
              <a:rPr sz="1600" b="1">
                <a:latin typeface="Arial"/>
              </a:rPr>
              <a:t>IVI LD –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0" latinLnBrk="0" hangingPunct="0">
              <a:buFont typeface="Wingdings" pitchFamily="2" charset="2"/>
              <a:buNone/>
              <a:defRPr>
                <a:latin typeface="Arial"/>
              </a:defRPr>
            </a:pPr>
            <a:r>
              <a:rPr kumimoji="0" lang="en-US" altLang="ko-KR" u="sng" dirty="0" sz="100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Arial" panose="020B0600000101010101" pitchFamily="50" charset="-127"/>
              <a:ea typeface="Arial" panose="020B0600000101010101" pitchFamily="50" charset="-127"/>
              <a:cs typeface="Arial" pitchFamily="34" charset="0"/>
            </a:endParaRPr>
          </a:p>
        </p:txBody>
      </p:sp>
      <p:graphicFrame>
        <p:nvGraphicFramePr>
          <p:cNvPr id="75" name="Group 68"/>
          <p:cNvGraphicFramePr>
            <a:graphicFrameLocks noGrp="1"/>
          </p:cNvGraphicFramePr>
          <p:nvPr>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defRPr>
                          <a:latin typeface="Arial"/>
                        </a:defRPr>
                      </a:pPr>
                      <a:r>
                        <a:rPr sz="1000" b="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960005795"/>
              </p:ext>
            </p:extLst>
          </p:nvPr>
        </p:nvGraphicFramePr>
        <p:xfrm>
          <a:off x="120650" y="984162"/>
          <a:ext cx="9669509" cy="5702410"/>
        </p:xfrm>
        <a:graphic>
          <a:graphicData uri="http://schemas.openxmlformats.org/drawingml/2006/table">
            <a:tbl>
              <a:tblPr/>
              <a:tblGrid>
                <a:gridCol w="565150">
                  <a:extLst>
                    <a:ext uri="{9D8B030D-6E8A-4147-A177-3AD203B41FA5}">
                      <a16:colId xmlns:a16="http://schemas.microsoft.com/office/drawing/2014/main" val="20000"/>
                    </a:ext>
                  </a:extLst>
                </a:gridCol>
                <a:gridCol w="21069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28015">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l" defTabSz="914400" rtl="0" eaLnBrk="1" fontAlgn="auto" latinLnBrk="1" hangingPunct="1">
                        <a:lnSpc>
                          <a:spcPct val="100000"/>
                        </a:lnSpc>
                        <a:spcBef>
                          <a:spcPts val="0"/>
                        </a:spcBef>
                        <a:spcAft>
                          <a:spcPts val="0"/>
                        </a:spcAft>
                        <a:buClrTx/>
                        <a:buSzTx/>
                        <a:buFont typeface="Wingdings" pitchFamily="2" charset="2"/>
                        <a:buNone/>
                        <a:tabLst/>
                        <a:defRPr>
                          <a:latin typeface="Arial"/>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Arial"/>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Arial"/>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Arial"/>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Arial"/>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Arial"/>
                        </a:rPr>
                        <a:t>March-0</a:t>
                      </a:r>
                      <a:r>
                        <a:rPr kumimoji="1" lang="en-US" altLang="ko-KR" sz="1000" i="0" u="none" strike="noStrike" kern="0" cap="none" spc="0" normalizeH="0" baseline="0" noProof="0" dirty="0">
                          <a:ln>
                            <a:noFill/>
                          </a:ln>
                          <a:solidFill>
                            <a:schemeClr val="tx1"/>
                          </a:solidFill>
                          <a:effectLst/>
                          <a:uLnTx/>
                          <a:uFillTx/>
                          <a:latin typeface="Arial"/>
                          <a:ea typeface="Arial" pitchFamily="34" charset="-127"/>
                          <a:cs typeface="Arial"/>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Arial"/>
                        </a:rPr>
                        <a:t> ~ July-03</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a:defRPr>
                          <a:latin typeface="Arial"/>
                        </a:defRPr>
                      </a:pPr>
                      <a:endParaRPr lang="en-US"/>
                    </a:p>
                  </a:txBody>
                  <a:tcPr/>
                </a:tc>
                <a:tc hMerge="1">
                  <a:txBody>
                    <a:bodyPr/>
                    <a:lstStyle/>
                    <a:p>
                      <a:pPr latinLnBrk="1">
                        <a:defRPr>
                          <a:latin typeface="Arial"/>
                        </a:defRPr>
                      </a:pPr>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9500">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defRPr>
                          <a:latin typeface="Arial"/>
                        </a:defRPr>
                      </a:pPr>
                      <a:endParaRPr lang="ko-KR" altLang="en-US"/>
                    </a:p>
                  </a:txBody>
                  <a:tcPr/>
                </a:tc>
                <a:tc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a:defRPr>
                          <a:latin typeface="Arial"/>
                        </a:defRPr>
                      </a:pPr>
                      <a:endParaRPr lang="en-US"/>
                    </a:p>
                  </a:txBody>
                  <a:tcPr/>
                </a:tc>
                <a:tc hMerge="1">
                  <a:txBody>
                    <a:bodyPr/>
                    <a:lstStyle/>
                    <a:p>
                      <a:pPr latinLnBrk="1">
                        <a:defRPr>
                          <a:latin typeface="Arial"/>
                        </a:defRPr>
                      </a:pPr>
                      <a:endParaRPr lang="ko-KR" altLang="en-US"/>
                    </a:p>
                  </a:txBody>
                  <a:tcPr/>
                </a:tc>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defRPr>
                          <a:latin typeface="Arial"/>
                        </a:defRPr>
                      </a:pPr>
                      <a:endParaRPr lang="ko-KR" altLang="en-US"/>
                    </a:p>
                  </a:txBody>
                  <a:tcPr/>
                </a:tc>
                <a:extLst>
                  <a:ext uri="{0D108BD9-81ED-4DB2-BD59-A6C34878D82A}">
                    <a16:rowId xmlns:a16="http://schemas.microsoft.com/office/drawing/2014/main" val="10001"/>
                  </a:ext>
                </a:extLst>
              </a:tr>
              <a:tr h="207963">
                <a:tc gridSpan="2"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gridSpan="3">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hMerge="1">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extLst>
                  <a:ext uri="{0D108BD9-81ED-4DB2-BD59-A6C34878D82A}">
                    <a16:rowId xmlns:a16="http://schemas.microsoft.com/office/drawing/2014/main" val="10002"/>
                  </a:ext>
                </a:extLst>
              </a:tr>
              <a:tr h="325175">
                <a:tc rowSpan="2" gridSpan="2">
                  <a:txBody>
                    <a:bodyPr/>
                    <a:lstStyle/>
                    <a:p>
                      <a:pPr algn="ctr">
                        <a:defRPr>
                          <a:latin typeface="Arial"/>
                        </a:defRPr>
                      </a:pPr>
                      <a:r>
                        <a:rPr lang="en-US" altLang="en-US" sz="10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defRPr>
                          <a:latin typeface="Arial"/>
                        </a:defRPr>
                      </a:pPr>
                      <a:endParaRPr lang="ko-KR" altLang="en-US"/>
                    </a:p>
                  </a:txBody>
                  <a:tcPr/>
                </a:tc>
                <a:tc>
                  <a:txBody>
                    <a:bodyPr/>
                    <a:lstStyle/>
                    <a:p>
                      <a:pPr algn="ct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1" hangingPunct="1">
                        <a:lnSpc>
                          <a:spcPct val="11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defRPr>
                          <a:latin typeface="Arial"/>
                        </a:defRPr>
                      </a:pPr>
                      <a:r>
                        <a:rPr>
                          <a:latin typeface="Arial"/>
                        </a:rPr>
                        <a:t>226,624 ppm</a:t>
                      </a:r>
                    </a:p>
                    <a:p>
                      <a:pPr>
                        <a:defRPr>
                          <a:latin typeface="Arial"/>
                        </a:defRPr>
                      </a:pPr>
                      <a:r>
                        <a:rPr>
                          <a:latin typeface="Arial"/>
                        </a:rPr>
                        <a:t>(Baseline defect rate during peak issue period Feb-Mar 2024; Average Big Y baseline: 2294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tc hMerge="1">
                  <a:txBody>
                    <a:bodyPr/>
                    <a:lstStyle/>
                    <a:p>
                      <a:pPr algn="ct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defRPr>
                          <a:latin typeface="Arial"/>
                        </a:defRPr>
                      </a:pPr>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defRPr>
                          <a:latin typeface="Arial"/>
                        </a:defRPr>
                      </a:pPr>
                      <a:r>
                        <a:rPr>
                          <a:latin typeface="Arial"/>
                        </a:rPr>
                        <a:t>&lt; 1,000 ppm</a:t>
                      </a:r>
                    </a:p>
                    <a:p>
                      <a:pPr>
                        <a:defRPr>
                          <a:latin typeface="Arial"/>
                        </a:defRPr>
                      </a:pPr>
                      <a:r>
                        <a:rPr>
                          <a:latin typeface="Arial"/>
                        </a:rPr>
                        <a:t>(0 ppm Stretch Goal)</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a:defRPr>
                          <a:latin typeface="Arial"/>
                        </a:defRPr>
                      </a:pPr>
                      <a:r>
                        <a:rPr>
                          <a:latin typeface="Arial"/>
                        </a:rPr>
                        <a:t>Adjust camera angle to 90.0°, recheck robot servo position, and standardize weekly Master sample check sheet</a:t>
                      </a:r>
                    </a:p>
                    <a:p>
                      <a:pPr>
                        <a:defRPr>
                          <a:latin typeface="Arial"/>
                        </a:defRPr>
                      </a:pPr>
                      <a:r>
                        <a:rPr>
                          <a:latin typeface="Arial"/>
                        </a:rPr>
                        <a:t>Make check sheet to control camera equipment</a:t>
                      </a:r>
                    </a:p>
                    <a:p>
                      <a:pPr>
                        <a:defRPr>
                          <a:latin typeface="Arial"/>
                        </a:defRPr>
                      </a:p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defRPr>
                          <a:latin typeface="Arial"/>
                        </a:defRPr>
                      </a:pPr>
                      <a:endParaRPr lang="ko-KR" altLang="en-US"/>
                    </a:p>
                  </a:txBody>
                  <a:tcPr/>
                </a:tc>
                <a:extLst>
                  <a:ext uri="{0D108BD9-81ED-4DB2-BD59-A6C34878D82A}">
                    <a16:rowId xmlns:a16="http://schemas.microsoft.com/office/drawing/2014/main" val="10003"/>
                  </a:ext>
                </a:extLst>
              </a:tr>
              <a:tr h="325175">
                <a:tc gridSpan="2"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a:txBody>
                    <a:bodyPr/>
                    <a:lstStyle/>
                    <a:p>
                      <a:pPr algn="ct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a:defRPr>
                          <a:latin typeface="Arial"/>
                        </a:defRPr>
                      </a:pP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788 Cd/m</a:t>
                      </a:r>
                      <a:r>
                        <a:rPr kumimoji="0" lang="en-US" altLang="ko-KR" sz="1000" b="0" i="0"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p>
                    <a:p>
                      <a:pP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0.15</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909 Cd/m</a:t>
                      </a:r>
                      <a:r>
                        <a:rPr kumimoji="0" lang="en-US" altLang="ko-KR" sz="1000" b="0" i="0"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p>
                    <a:p>
                      <a:pPr>
                        <a:defRPr>
                          <a:latin typeface="Arial"/>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≥1.33</a:t>
                      </a:r>
                      <a:endParaRPr kumimoji="0" lang="ko-KR" altLang="en-US"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extLst>
                  <a:ext uri="{0D108BD9-81ED-4DB2-BD59-A6C34878D82A}">
                    <a16:rowId xmlns:a16="http://schemas.microsoft.com/office/drawing/2014/main" val="10004"/>
                  </a:ext>
                </a:extLst>
              </a:tr>
              <a:tr h="306699">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a:defRPr>
                          <a:latin typeface="Arial"/>
                        </a:defRPr>
                      </a:pPr>
                      <a:endParaRPr lang="en-US"/>
                    </a:p>
                  </a:txBody>
                  <a:tcPr/>
                </a:tc>
                <a:tc hMerge="1">
                  <a:txBody>
                    <a:bodyPr/>
                    <a:lstStyle/>
                    <a:p>
                      <a:pPr latinLnBrk="1">
                        <a:defRPr>
                          <a:latin typeface="Arial"/>
                        </a:defRPr>
                      </a:pPr>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extLst>
                  <a:ext uri="{0D108BD9-81ED-4DB2-BD59-A6C34878D82A}">
                    <a16:rowId xmlns:a16="http://schemas.microsoft.com/office/drawing/2014/main" val="10005"/>
                  </a:ext>
                </a:extLst>
              </a:tr>
              <a:tr h="1592452">
                <a:tc rowSpan="3" gridSpan="2">
                  <a:txBody>
                    <a:bodyPr/>
                    <a:lstStyle/>
                    <a:p>
                      <a:pPr marL="114300" indent="0" algn="l" fontAlgn="b">
                        <a:lnSpc>
                          <a:spcPct val="150000"/>
                        </a:lnSpc>
                        <a:buNone/>
                        <a:defRPr>
                          <a:latin typeface="Arial"/>
                        </a:defRPr>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-Luminance issue is affected to UPH of line, loss time when issue happen.</a:t>
                      </a:r>
                    </a:p>
                    <a:p>
                      <a:pPr marL="114300" indent="0" algn="l" fontAlgn="b">
                        <a:lnSpc>
                          <a:spcPct val="150000"/>
                        </a:lnSpc>
                        <a:buNone/>
                        <a:defRPr>
                          <a:latin typeface="Arial"/>
                        </a:defRPr>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-NG LCD of this issue after retest NG, can not pass inspection station, NG LCD will be returned to HEESUNG supplier scrap, lead to IF cost, so it is necessary to find action to eliminate this issue, improve factory performance</a:t>
                      </a:r>
                    </a:p>
                    <a:p>
                      <a:pPr marL="114300" indent="0" algn="l" fontAlgn="b">
                        <a:lnSpc>
                          <a:spcPct val="150000"/>
                        </a:lnSpc>
                        <a:buNone/>
                        <a:defRPr>
                          <a:latin typeface="Arial"/>
                        </a:defRPr>
                      </a:pPr>
                      <a:endPar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defRPr>
                          <a:latin typeface="Arial"/>
                        </a:defRPr>
                      </a:pPr>
                      <a:endParaRPr lang="ko-KR" altLang="en-US"/>
                    </a:p>
                  </a:txBody>
                  <a:tcPr/>
                </a:tc>
                <a:tc rowSpan="3"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endParaRPr kumimoji="0" lang="ko-KR"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defRPr>
                          <a:latin typeface="Arial"/>
                        </a:defRPr>
                      </a:pPr>
                      <a:endParaRPr lang="ko-KR" altLang="en-US"/>
                    </a:p>
                  </a:txBody>
                  <a:tcPr/>
                </a:tc>
                <a:tc rowSpan="3" hMerge="1">
                  <a:txBody>
                    <a:bodyPr/>
                    <a:lstStyle/>
                    <a:p>
                      <a:pPr latinLnBrk="1">
                        <a:defRPr>
                          <a:latin typeface="Arial"/>
                        </a:defRPr>
                      </a:pPr>
                      <a:endParaRPr lang="ko-KR" altLang="en-US"/>
                    </a:p>
                  </a:txBody>
                  <a:tcPr/>
                </a:tc>
                <a:tc rowSpan="3" hMerge="1">
                  <a:txBody>
                    <a:bodyPr/>
                    <a:lstStyle/>
                    <a:p>
                      <a:pPr latinLnBrk="1">
                        <a:defRPr>
                          <a:latin typeface="Arial"/>
                        </a:defRPr>
                      </a:pPr>
                      <a:endParaRPr lang="ko-KR" altLang="en-US"/>
                    </a:p>
                  </a:txBody>
                  <a:tcPr/>
                </a:tc>
                <a:tc rowSpan="3" hMerge="1">
                  <a:txBody>
                    <a:bodyPr/>
                    <a:lstStyle/>
                    <a:p>
                      <a:pPr latinLnBrk="1">
                        <a:defRPr>
                          <a:latin typeface="Arial"/>
                        </a:defRPr>
                      </a:pPr>
                      <a:endParaRPr lang="ko-KR" altLang="en-US"/>
                    </a:p>
                  </a:txBody>
                  <a:tcPr/>
                </a:tc>
                <a:tc rowSpan="3" hMerge="1">
                  <a:txBody>
                    <a:bodyPr/>
                    <a:lstStyle/>
                    <a:p>
                      <a:pPr>
                        <a:defRPr>
                          <a:latin typeface="Arial"/>
                        </a:defRPr>
                      </a:pPr>
                      <a:endParaRPr lang="en-US"/>
                    </a:p>
                  </a:txBody>
                  <a:tcPr/>
                </a:tc>
                <a:tc rowSpan="3" hMerge="1">
                  <a:txBody>
                    <a:bodyPr/>
                    <a:lstStyle/>
                    <a:p>
                      <a:pPr latinLnBrk="1">
                        <a:defRPr>
                          <a:latin typeface="Arial"/>
                        </a:defRPr>
                      </a:pPr>
                      <a:endParaRPr lang="ko-KR" altLang="en-US"/>
                    </a:p>
                  </a:txBody>
                  <a:tcPr/>
                </a:tc>
                <a:tc gridSpan="2">
                  <a:txBody>
                    <a:bodyPr/>
                    <a:lstStyle/>
                    <a:p>
                      <a:pPr marL="0" marR="0" lvl="0" indent="0" algn="l"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extLst>
                  <a:ext uri="{0D108BD9-81ED-4DB2-BD59-A6C34878D82A}">
                    <a16:rowId xmlns:a16="http://schemas.microsoft.com/office/drawing/2014/main" val="10006"/>
                  </a:ext>
                </a:extLst>
              </a:tr>
              <a:tr h="306699">
                <a:tc gridSpan="2"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gridSpan="7"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a:defRPr>
                          <a:latin typeface="Arial"/>
                        </a:defRPr>
                      </a:pPr>
                      <a:endParaRPr lang="en-US"/>
                    </a:p>
                  </a:txBody>
                  <a:tcPr/>
                </a:tc>
                <a:tc hMerge="1" vMerge="1">
                  <a:txBody>
                    <a:bodyPr/>
                    <a:lstStyle/>
                    <a:p>
                      <a:pPr latinLnBrk="1">
                        <a:defRPr>
                          <a:latin typeface="Arial"/>
                        </a:defRPr>
                      </a:pPr>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extLst>
                  <a:ext uri="{0D108BD9-81ED-4DB2-BD59-A6C34878D82A}">
                    <a16:rowId xmlns:a16="http://schemas.microsoft.com/office/drawing/2014/main" val="10007"/>
                  </a:ext>
                </a:extLst>
              </a:tr>
              <a:tr h="283389">
                <a:tc gridSpan="2"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gridSpan="7"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latinLnBrk="1">
                        <a:defRPr>
                          <a:latin typeface="Arial"/>
                        </a:defRPr>
                      </a:pPr>
                      <a:endParaRPr lang="ko-KR" altLang="en-US"/>
                    </a:p>
                  </a:txBody>
                  <a:tcPr/>
                </a:tc>
                <a:tc hMerge="1" vMerge="1">
                  <a:txBody>
                    <a:bodyPr/>
                    <a:lstStyle/>
                    <a:p>
                      <a:pPr>
                        <a:defRPr>
                          <a:latin typeface="Arial"/>
                        </a:defRPr>
                      </a:pPr>
                      <a:endParaRPr lang="en-US"/>
                    </a:p>
                  </a:txBody>
                  <a:tcPr/>
                </a:tc>
                <a:tc hMerge="1" vMerge="1">
                  <a:txBody>
                    <a:bodyPr/>
                    <a:lstStyle/>
                    <a:p>
                      <a:pPr latinLnBrk="1">
                        <a:defRPr>
                          <a:latin typeface="Arial"/>
                        </a:defRPr>
                      </a:pPr>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extLst>
                  <a:ext uri="{0D108BD9-81ED-4DB2-BD59-A6C34878D82A}">
                    <a16:rowId xmlns:a16="http://schemas.microsoft.com/office/drawing/2014/main" val="10008"/>
                  </a:ext>
                </a:extLst>
              </a:tr>
              <a:tr h="306699">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a:defRPr>
                          <a:latin typeface="Arial"/>
                        </a:defRPr>
                      </a:pPr>
                      <a:endParaRPr lang="en-US"/>
                    </a:p>
                  </a:txBody>
                  <a:tcPr/>
                </a:tc>
                <a:tc hMerge="1">
                  <a:txBody>
                    <a:bodyPr/>
                    <a:lstStyle/>
                    <a:p>
                      <a:pPr latinLnBrk="1">
                        <a:defRPr>
                          <a:latin typeface="Arial"/>
                        </a:defRPr>
                      </a:pPr>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defRPr>
                          <a:latin typeface="Arial"/>
                        </a:defRPr>
                      </a:pPr>
                      <a:endParaRPr lang="ko-KR" altLang="en-US"/>
                    </a:p>
                  </a:txBody>
                  <a:tcPr/>
                </a:tc>
                <a:extLst>
                  <a:ext uri="{0D108BD9-81ED-4DB2-BD59-A6C34878D82A}">
                    <a16:rowId xmlns:a16="http://schemas.microsoft.com/office/drawing/2014/main" val="10009"/>
                  </a:ext>
                </a:extLst>
              </a:tr>
              <a:tr h="807135">
                <a:tc gridSpan="2">
                  <a:txBody>
                    <a:bodyPr/>
                    <a:lstStyle/>
                    <a:p>
                      <a:pPr marL="0" marR="0" lvl="0" indent="0" algn="l" defTabSz="912813" rtl="0" eaLnBrk="1" fontAlgn="base" latinLnBrk="1" hangingPunct="1">
                        <a:lnSpc>
                          <a:spcPct val="100000"/>
                        </a:lnSpc>
                        <a:spcBef>
                          <a:spcPct val="0"/>
                        </a:spcBef>
                        <a:spcAft>
                          <a:spcPct val="0"/>
                        </a:spcAft>
                        <a:buClrTx/>
                        <a:buSzTx/>
                        <a:buFont typeface="Arial" charset="0"/>
                        <a:buNone/>
                        <a:tabLst/>
                        <a:defRPr>
                          <a:latin typeface="Arial"/>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1" hangingPunct="1">
                        <a:lnSpc>
                          <a:spcPct val="100000"/>
                        </a:lnSpc>
                        <a:spcBef>
                          <a:spcPct val="0"/>
                        </a:spcBef>
                        <a:spcAft>
                          <a:spcPct val="0"/>
                        </a:spcAft>
                        <a:buClrTx/>
                        <a:buSzTx/>
                        <a:buFont typeface="Arial" charset="0"/>
                        <a:buNone/>
                        <a:tabLst/>
                        <a:defRPr>
                          <a:latin typeface="Arial"/>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latin typeface="Arial"/>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latin typeface="Arial"/>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latin typeface="Arial"/>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latin typeface="Arial"/>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Need improve to reduce the scrap cost of Luminance issue</a:t>
                      </a:r>
                      <a:endParaRPr lang="en-US" altLang="ko-KR" sz="1000" b="0" dirty="0">
                        <a:solidFill>
                          <a:srgbClr val="000000"/>
                        </a:solidFill>
                        <a:latin typeface="Arial" panose="020B0600000101010101" pitchFamily="50" charset="-127"/>
                        <a:ea typeface="Arial"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latinLnBrk="1">
                        <a:defRPr>
                          <a:latin typeface="Arial"/>
                        </a:defRPr>
                      </a:pPr>
                      <a:endParaRPr lang="ko-KR" altLang="en-US"/>
                    </a:p>
                  </a:txBody>
                  <a:tcPr/>
                </a:tc>
                <a:tc hMerge="1">
                  <a:txBody>
                    <a:bodyPr/>
                    <a:lstStyle/>
                    <a:p>
                      <a:pPr>
                        <a:defRPr>
                          <a:latin typeface="Arial"/>
                        </a:defRPr>
                      </a:pPr>
                      <a:endParaRPr lang="en-US"/>
                    </a:p>
                  </a:txBody>
                  <a:tcPr/>
                </a:tc>
                <a:tc hMerge="1">
                  <a:txBody>
                    <a:bodyPr/>
                    <a:lstStyle/>
                    <a:p>
                      <a:pPr latinLnBrk="1">
                        <a:defRPr>
                          <a:latin typeface="Arial"/>
                        </a:defRPr>
                      </a:pPr>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latin typeface="Arial"/>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1" hangingPunct="1">
                        <a:lnSpc>
                          <a:spcPct val="100000"/>
                        </a:lnSpc>
                        <a:spcBef>
                          <a:spcPct val="0"/>
                        </a:spcBef>
                        <a:spcAft>
                          <a:spcPct val="0"/>
                        </a:spcAft>
                        <a:buClrTx/>
                        <a:buSzTx/>
                        <a:buFontTx/>
                        <a:buNone/>
                        <a:tabLst/>
                        <a:defRPr>
                          <a:latin typeface="Arial"/>
                        </a:defRPr>
                      </a:pPr>
                      <a:endPar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defRPr>
                          <a:latin typeface="Arial"/>
                        </a:defRPr>
                      </a:pPr>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0" latinLnBrk="0" hangingPunct="0">
              <a:defRPr>
                <a:latin typeface="Arial"/>
              </a:defRPr>
            </a:pPr>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Arial" panose="020B0600000101010101" pitchFamily="50" charset="-127"/>
              <a:ea typeface="Arial"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615763"/>
          </a:xfrm>
          <a:prstGeom prst="rect">
            <a:avLst/>
          </a:prstGeom>
          <a:noFill/>
          <a:ln w="9525">
            <a:noFill/>
            <a:miter lim="800000"/>
            <a:headEnd/>
            <a:tailEnd/>
          </a:ln>
        </p:spPr>
        <p:txBody>
          <a:bodyPr>
            <a:spAutoFit/>
          </a:bodyPr>
          <a:lstStyle/>
          <a:p>
            <a:pPr eaLnBrk="0" latinLnBrk="0" hangingPunct="0">
              <a:lnSpc>
                <a:spcPts val="1500"/>
              </a:lnSpc>
              <a:buFont typeface="Wingdings" pitchFamily="2" charset="2"/>
              <a:buChar char="q"/>
              <a:defRPr>
                <a:latin typeface="Arial"/>
              </a:defRP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0" hangingPunct="0">
              <a:lnSpc>
                <a:spcPts val="1500"/>
              </a:lnSpc>
              <a:buFont typeface="Arial" panose="020B0604020202020204" pitchFamily="34" charset="0"/>
              <a:buChar char="•"/>
              <a:defRPr>
                <a:latin typeface="Arial"/>
              </a:defRP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800" dirty="0">
                <a:latin typeface="Arial" panose="020B0600000101010101" pitchFamily="34" charset="-127"/>
                <a:ea typeface="Arial" panose="020B0600000101010101" pitchFamily="34" charset="-127"/>
                <a:cs typeface="Arial" panose="020B0604020202020204" pitchFamily="34" charset="0"/>
              </a:rPr>
              <a:t>Define issue, </a:t>
            </a:r>
            <a:r>
              <a:rPr lang="en-US" sz="8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8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0" hangingPunct="0">
              <a:lnSpc>
                <a:spcPts val="1500"/>
              </a:lnSpc>
              <a:buFont typeface="Arial" charset="0"/>
              <a:buChar char="•"/>
              <a:defRPr>
                <a:latin typeface="Arial"/>
              </a:defRP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800" dirty="0">
                <a:latin typeface="Arial" panose="020B0600000101010101" pitchFamily="34" charset="-127"/>
                <a:ea typeface="Arial" panose="020B0600000101010101" pitchFamily="34" charset="-127"/>
              </a:rPr>
              <a:t>Gage R&amp;R evaluate equipment</a:t>
            </a:r>
            <a:endParaRPr lang="en-US" sz="1000" dirty="0">
              <a:solidFill>
                <a:srgbClr val="000000"/>
              </a:solidFill>
              <a:latin typeface="Arial" panose="020B0600000101010101" pitchFamily="34" charset="-127"/>
              <a:ea typeface="Arial" panose="020B0600000101010101" pitchFamily="34" charset="-127"/>
              <a:cs typeface="Arial" pitchFamily="34" charset="0"/>
            </a:endParaRPr>
          </a:p>
          <a:p>
            <a:pPr eaLnBrk="0" hangingPunct="0">
              <a:lnSpc>
                <a:spcPts val="1500"/>
              </a:lnSpc>
              <a:buFont typeface="Arial" charset="0"/>
              <a:buChar char="•"/>
              <a:defRPr>
                <a:latin typeface="Arial"/>
              </a:defRP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800" dirty="0">
                <a:latin typeface="Arial" panose="020B0600000101010101" pitchFamily="34" charset="-127"/>
                <a:ea typeface="Arial" panose="020B0600000101010101" pitchFamily="34" charset="-127"/>
              </a:rPr>
              <a:t>Use 5 Why analysis method to find root cause. </a:t>
            </a:r>
            <a:r>
              <a:rPr lang="en-GB" altLang="ko-KR" sz="800" kern="0" dirty="0">
                <a:solidFill>
                  <a:srgbClr val="000000"/>
                </a:solidFill>
                <a:latin typeface="Arial" panose="020B0600000101010101" pitchFamily="34" charset="-127"/>
                <a:ea typeface="Arial" panose="020B0600000101010101" pitchFamily="34" charset="-127"/>
                <a:cs typeface="Arial" pitchFamily="34" charset="0"/>
              </a:rPr>
              <a:t>Test sample using different setting and pallet</a:t>
            </a:r>
          </a:p>
          <a:p>
            <a:pPr eaLnBrk="0" hangingPunct="0">
              <a:lnSpc>
                <a:spcPts val="1500"/>
              </a:lnSpc>
              <a:buFont typeface="Arial" charset="0"/>
              <a:buChar char="•"/>
              <a:defRPr>
                <a:latin typeface="Arial"/>
              </a:defRP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800" dirty="0">
                <a:latin typeface="Arial" panose="020B0600000101010101" pitchFamily="34" charset="-127"/>
                <a:ea typeface="Arial" panose="020B0600000101010101" pitchFamily="34" charset="-127"/>
              </a:rPr>
              <a:t>Meeting with HQ IE discuss about improvement action. </a:t>
            </a:r>
            <a:r>
              <a:rPr lang="en-US" altLang="ko-KR" sz="800" kern="0" dirty="0">
                <a:solidFill>
                  <a:srgbClr val="000000"/>
                </a:solidFill>
                <a:latin typeface="Arial" panose="020B0600000101010101" pitchFamily="34" charset="-127"/>
                <a:ea typeface="Arial" panose="020B0600000101010101" pitchFamily="34" charset="-127"/>
                <a:cs typeface="Arial" pitchFamily="34" charset="0"/>
              </a:rPr>
              <a:t>Make improvement action plan and follow up</a:t>
            </a:r>
            <a:endParaRPr kumimoji="0" lang="ko-KR" altLang="en-US" sz="1000" dirty="0">
              <a:solidFill>
                <a:srgbClr val="000000"/>
              </a:solidFill>
              <a:latin typeface="Arial" panose="020B0600000101010101" pitchFamily="34" charset="-127"/>
              <a:ea typeface="Arial" panose="020B0600000101010101" pitchFamily="34" charset="-127"/>
              <a:cs typeface="Arial" pitchFamily="34" charset="0"/>
            </a:endParaRPr>
          </a:p>
          <a:p>
            <a:pPr eaLnBrk="0" hangingPunct="0">
              <a:lnSpc>
                <a:spcPts val="1500"/>
              </a:lnSpc>
              <a:buFont typeface="Arial" charset="0"/>
              <a:buChar char="•"/>
              <a:defRPr>
                <a:latin typeface="Arial"/>
              </a:defRP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800" kern="0" dirty="0">
                <a:solidFill>
                  <a:srgbClr val="000000"/>
                </a:solidFill>
                <a:latin typeface="Arial" panose="020B0600000101010101" pitchFamily="34" charset="-127"/>
                <a:ea typeface="Arial" panose="020B0600000101010101" pitchFamily="34" charset="-127"/>
                <a:cs typeface="Arial" pitchFamily="34" charset="0"/>
              </a:rPr>
              <a:t>Control defect rate of NTF issue through GMES system</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0" latinLnBrk="0" hangingPunct="0">
              <a:defRPr>
                <a:latin typeface="Arial"/>
              </a:defRPr>
            </a:pP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defRPr>
                <a:latin typeface="Arial"/>
              </a:defRPr>
            </a:pPr>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defRPr>
                <a:latin typeface="Arial"/>
              </a:defRPr>
            </a:pPr>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defRPr>
                <a:latin typeface="Arial"/>
              </a:defRPr>
            </a:pPr>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0" latinLnBrk="0" hangingPunct="0">
              <a:defRPr>
                <a:latin typeface="Arial"/>
              </a:defRPr>
            </a:pPr>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0" latinLnBrk="0" hangingPunct="0">
              <a:defRPr>
                <a:latin typeface="Arial"/>
              </a:defRPr>
            </a:pP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0" latinLnBrk="0" hangingPunct="0">
              <a:defRPr>
                <a:latin typeface="Arial"/>
              </a:defRPr>
            </a:pP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0" latinLnBrk="0" hangingPunct="0">
              <a:defRPr>
                <a:latin typeface="Arial"/>
              </a:defRPr>
            </a:pP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0" latinLnBrk="0" hangingPunct="0">
              <a:defRPr>
                <a:latin typeface="Arial"/>
              </a:defRPr>
            </a:pP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0" latinLnBrk="0" hangingPunct="0">
              <a:defRPr>
                <a:latin typeface="Arial"/>
              </a:defRPr>
            </a:pP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0" latinLnBrk="0" hangingPunct="0">
              <a:defRPr>
                <a:latin typeface="Arial"/>
              </a:defRPr>
            </a:pPr>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Arial" panose="020B0600000101010101" pitchFamily="50" charset="-127"/>
              <a:ea typeface="Arial" panose="020B0600000101010101" pitchFamily="50" charset="-127"/>
              <a:cs typeface="Arial" charset="0"/>
            </a:endParaRPr>
          </a:p>
          <a:p>
            <a:pPr algn="just" defTabSz="912813" eaLnBrk="0" latinLnBrk="0" hangingPunct="0">
              <a:defRPr>
                <a:latin typeface="Arial"/>
              </a:defRPr>
            </a:pPr>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0" latinLnBrk="0" hangingPunct="0">
              <a:defRPr>
                <a:latin typeface="Arial"/>
              </a:defRPr>
            </a:pP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Arial" panose="020B0600000101010101" pitchFamily="50" charset="-127"/>
              <a:ea typeface="Arial"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078163335"/>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1" hangingPunct="1">
                        <a:lnSpc>
                          <a:spcPct val="110000"/>
                        </a:lnSpc>
                        <a:spcBef>
                          <a:spcPct val="20000"/>
                        </a:spcBef>
                        <a:spcAft>
                          <a:spcPct val="0"/>
                        </a:spcAft>
                        <a:buClrTx/>
                        <a:buSzTx/>
                        <a:buFontTx/>
                        <a:buNone/>
                        <a:tabLst/>
                        <a:defRPr>
                          <a:latin typeface="Arial"/>
                        </a:defRPr>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1" hangingPunct="1">
                        <a:lnSpc>
                          <a:spcPct val="110000"/>
                        </a:lnSpc>
                        <a:spcBef>
                          <a:spcPct val="20000"/>
                        </a:spcBef>
                        <a:spcAft>
                          <a:spcPct val="0"/>
                        </a:spcAft>
                        <a:buClrTx/>
                        <a:buSzTx/>
                        <a:buFontTx/>
                        <a:buNone/>
                        <a:tabLst/>
                        <a:defRPr>
                          <a:latin typeface="Arial"/>
                        </a:defRPr>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1" hangingPunct="1">
                        <a:lnSpc>
                          <a:spcPct val="110000"/>
                        </a:lnSpc>
                        <a:spcBef>
                          <a:spcPct val="20000"/>
                        </a:spcBef>
                        <a:spcAft>
                          <a:spcPct val="0"/>
                        </a:spcAft>
                        <a:buClrTx/>
                        <a:buSzTx/>
                        <a:buFontTx/>
                        <a:buNone/>
                        <a:tabLst/>
                        <a:defRPr>
                          <a:latin typeface="Arial"/>
                        </a:defRPr>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defRPr>
                          <a:latin typeface="Arial"/>
                        </a:defRPr>
                      </a:pPr>
                      <a:r>
                        <a:rPr sz="1000" b="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latin typeface="Arial"/>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0" hangingPunct="0">
              <a:defRPr>
                <a:latin typeface="Arial"/>
              </a:defRPr>
            </a:pPr>
            <a:r>
              <a:rPr lang="en-US" altLang="ko-KR" sz="1600" b="1" kern="0" dirty="0">
                <a:latin typeface="Arial" panose="020B0606020202030204" pitchFamily="34" charset="0"/>
                <a:ea typeface="Arial" panose="020B0600000101010101" pitchFamily="50" charset="-127"/>
              </a:rPr>
              <a:t>1.</a:t>
            </a:r>
            <a:r>
              <a:rPr lang="vi-VN" altLang="ko-KR" sz="1600" b="1" kern="0" dirty="0">
                <a:latin typeface="Arial" panose="020B0606020202030204" pitchFamily="34" charset="0"/>
                <a:ea typeface="Arial" panose="020B0600000101010101" pitchFamily="50" charset="-127"/>
              </a:rPr>
              <a:t>1</a:t>
            </a:r>
            <a:r>
              <a:rPr lang="en-US" altLang="ko-KR" sz="1600" b="1" kern="0" dirty="0">
                <a:latin typeface="Arial" panose="020B0606020202030204" pitchFamily="34" charset="0"/>
                <a:ea typeface="Arial" panose="020B0600000101010101" pitchFamily="50" charset="-127"/>
              </a:rPr>
              <a:t> </a:t>
            </a:r>
            <a:r>
              <a:rPr lang="vi-VN" altLang="ko-KR" sz="1600" b="1" kern="0" dirty="0">
                <a:latin typeface="Arial" panose="020B0606020202030204" pitchFamily="34" charset="0"/>
                <a:ea typeface="Arial" panose="020B0600000101010101" pitchFamily="50" charset="-127"/>
              </a:rPr>
              <a:t>D</a:t>
            </a:r>
            <a:r>
              <a:rPr lang="en-US" altLang="ko-KR" sz="1600" b="1" kern="0" dirty="0">
                <a:latin typeface="Arial" panose="020B0606020202030204" pitchFamily="34" charset="0"/>
                <a:ea typeface="Arial" panose="020B0600000101010101" pitchFamily="50" charset="-127"/>
              </a:rPr>
              <a:t>efine issue</a:t>
            </a:r>
            <a:endParaRPr lang="ko-KR" altLang="en-US" sz="1800" b="1" kern="0" dirty="0">
              <a:latin typeface="Arial" panose="020B0606020202030204" pitchFamily="34" charset="0"/>
              <a:ea typeface="Arial" panose="020B0600000101010101" pitchFamily="50" charset="-127"/>
              <a:cs typeface="Arial"/>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7" name="TextBox 226">
            <a:extLst>
              <a:ext uri="{FF2B5EF4-FFF2-40B4-BE49-F238E27FC236}">
                <a16:creationId xmlns:a16="http://schemas.microsoft.com/office/drawing/2014/main" id="{9FBE9D8E-4B25-4138-A998-98CA80DFC0D8}"/>
              </a:ext>
            </a:extLst>
          </p:cNvPr>
          <p:cNvSpPr txBox="1"/>
          <p:nvPr/>
        </p:nvSpPr>
        <p:spPr>
          <a:xfrm>
            <a:off x="63733" y="851416"/>
            <a:ext cx="3305091" cy="246221"/>
          </a:xfrm>
          <a:prstGeom prst="rect">
            <a:avLst/>
          </a:prstGeom>
          <a:noFill/>
        </p:spPr>
        <p:txBody>
          <a:bodyPr wrap="square" rtlCol="0">
            <a:spAutoFit/>
          </a:bodyPr>
          <a:lstStyle/>
          <a:p>
            <a:pPr>
              <a:defRPr>
                <a:latin typeface="Arial"/>
              </a:defRPr>
            </a:pPr>
            <a:r>
              <a:rPr lang="en-US" altLang="en-US" sz="10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Improve Luminance value</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03 / 33</a:t>
            </a:r>
          </a:p>
          <a:p>
            <a:pPr algn="ctr">
              <a:defRPr>
                <a:latin typeface="Arial"/>
              </a:defRPr>
            </a:pP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54" name="TextBox 53">
            <a:extLst>
              <a:ext uri="{FF2B5EF4-FFF2-40B4-BE49-F238E27FC236}">
                <a16:creationId xmlns:a16="http://schemas.microsoft.com/office/drawing/2014/main" id="{C7A10347-881C-49A1-8C74-C34608E19682}"/>
              </a:ext>
            </a:extLst>
          </p:cNvPr>
          <p:cNvSpPr txBox="1"/>
          <p:nvPr/>
        </p:nvSpPr>
        <p:spPr>
          <a:xfrm>
            <a:off x="63733" y="600385"/>
            <a:ext cx="1584176"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4020202020204" pitchFamily="34" charset="0"/>
                <a:ea typeface="Arial" panose="020B0604020202020204" pitchFamily="34" charset="-128"/>
                <a:cs typeface="Arial" panose="020B0604020202020204" pitchFamily="34" charset="0"/>
              </a:rPr>
              <a:t>Project name</a:t>
            </a:r>
          </a:p>
        </p:txBody>
      </p:sp>
      <p:sp>
        <p:nvSpPr>
          <p:cNvPr id="55" name="TextBox 54">
            <a:extLst>
              <a:ext uri="{FF2B5EF4-FFF2-40B4-BE49-F238E27FC236}">
                <a16:creationId xmlns:a16="http://schemas.microsoft.com/office/drawing/2014/main" id="{D6297210-A509-431E-8EC6-5008A74AEF62}"/>
              </a:ext>
            </a:extLst>
          </p:cNvPr>
          <p:cNvSpPr txBox="1"/>
          <p:nvPr/>
        </p:nvSpPr>
        <p:spPr>
          <a:xfrm>
            <a:off x="80857" y="1336681"/>
            <a:ext cx="1584176"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4020202020204" pitchFamily="34" charset="0"/>
                <a:ea typeface="Arial" panose="020B0604020202020204" pitchFamily="34" charset="-128"/>
                <a:cs typeface="Arial" panose="020B0604020202020204" pitchFamily="34" charset="0"/>
              </a:rPr>
              <a:t>Purpose</a:t>
            </a:r>
          </a:p>
        </p:txBody>
      </p:sp>
      <p:sp>
        <p:nvSpPr>
          <p:cNvPr id="56" name="TextBox 55">
            <a:extLst>
              <a:ext uri="{FF2B5EF4-FFF2-40B4-BE49-F238E27FC236}">
                <a16:creationId xmlns:a16="http://schemas.microsoft.com/office/drawing/2014/main" id="{322CCB2E-06CF-4ED8-B0F3-BD65641F9F6C}"/>
              </a:ext>
            </a:extLst>
          </p:cNvPr>
          <p:cNvSpPr txBox="1"/>
          <p:nvPr/>
        </p:nvSpPr>
        <p:spPr>
          <a:xfrm>
            <a:off x="87735" y="1613680"/>
            <a:ext cx="7906725" cy="246221"/>
          </a:xfrm>
          <a:prstGeom prst="rect">
            <a:avLst/>
          </a:prstGeom>
          <a:noFill/>
        </p:spPr>
        <p:txBody>
          <a:bodyPr wrap="square" rtlCol="0">
            <a:spAutoFit/>
          </a:bodyPr>
          <a:lstStyle/>
          <a:p>
            <a:pPr>
              <a:defRPr>
                <a:latin typeface="Arial"/>
              </a:defRPr>
            </a:pPr>
            <a:r>
              <a:rPr>
                <a:latin typeface="Arial"/>
              </a:rPr>
              <a:t>- Improve Luminance station performance  improve Luminance value from under 800 Cd/m2 to 800-2000 Cd/m2 </a:t>
            </a:r>
          </a:p>
        </p:txBody>
      </p:sp>
      <p:sp>
        <p:nvSpPr>
          <p:cNvPr id="57" name="TextBox 56">
            <a:extLst>
              <a:ext uri="{FF2B5EF4-FFF2-40B4-BE49-F238E27FC236}">
                <a16:creationId xmlns:a16="http://schemas.microsoft.com/office/drawing/2014/main" id="{F444CB0D-9539-4103-A2E2-F229C96A5C26}"/>
              </a:ext>
            </a:extLst>
          </p:cNvPr>
          <p:cNvSpPr txBox="1"/>
          <p:nvPr/>
        </p:nvSpPr>
        <p:spPr>
          <a:xfrm>
            <a:off x="63733" y="2077577"/>
            <a:ext cx="1584176"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4020202020204" pitchFamily="34" charset="0"/>
                <a:ea typeface="Arial" panose="020B0604020202020204" pitchFamily="34" charset="-128"/>
                <a:cs typeface="Arial" panose="020B0604020202020204" pitchFamily="34" charset="0"/>
              </a:rPr>
              <a:t>Outline</a:t>
            </a:r>
          </a:p>
        </p:txBody>
      </p:sp>
      <p:sp>
        <p:nvSpPr>
          <p:cNvPr id="58" name="TextBox 57">
            <a:extLst>
              <a:ext uri="{FF2B5EF4-FFF2-40B4-BE49-F238E27FC236}">
                <a16:creationId xmlns:a16="http://schemas.microsoft.com/office/drawing/2014/main" id="{D0CDD59F-EB79-4D2B-849B-B6645F4A5717}"/>
              </a:ext>
            </a:extLst>
          </p:cNvPr>
          <p:cNvSpPr txBox="1"/>
          <p:nvPr/>
        </p:nvSpPr>
        <p:spPr>
          <a:xfrm>
            <a:off x="63733" y="2354576"/>
            <a:ext cx="9613667" cy="707886"/>
          </a:xfrm>
          <a:prstGeom prst="rect">
            <a:avLst/>
          </a:prstGeom>
          <a:noFill/>
        </p:spPr>
        <p:txBody>
          <a:bodyPr wrap="square" rtlCol="0">
            <a:spAutoFit/>
          </a:bodyPr>
          <a:lstStyle/>
          <a:p>
            <a:pPr>
              <a:defRPr>
                <a:latin typeface="Arial"/>
              </a:defRPr>
            </a:pPr>
            <a:r>
              <a:rPr>
                <a:latin typeface="Arial"/>
              </a:rPr>
              <a:t>- If Luminance measure issue is still happening and pending at Luminance station which leads to line loss time and failure to meet line UPH.</a:t>
            </a:r>
          </a:p>
          <a:p>
            <a:pPr>
              <a:defRPr>
                <a:latin typeface="Arial"/>
              </a:defRPr>
            </a:pPr>
            <a:r>
              <a:rPr>
                <a:latin typeface="Arial"/>
              </a:rPr>
              <a:t>- The delay of checking issue will result in remaining production delay of line IVI5. Also the NG LCD sent back to supplier to retest, scrap which lead to more scrap cost.</a:t>
            </a:r>
          </a:p>
          <a:p>
            <a:pPr>
              <a:defRPr>
                <a:latin typeface="Arial"/>
              </a:defRPr>
            </a:pPr>
            <a:r>
              <a:rPr lang="en-US" altLang="en-US" sz="10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To prevent  this in advance, we selected this topic as Six Sigma GB task to improve luminance output performance from mass production stage and reduce to the minimum the cost for factory with this topic.</a:t>
            </a:r>
          </a:p>
        </p:txBody>
      </p:sp>
    </p:spTree>
    <p:extLst>
      <p:ext uri="{BB962C8B-B14F-4D97-AF65-F5344CB8AC3E}">
        <p14:creationId xmlns:p14="http://schemas.microsoft.com/office/powerpoint/2010/main" val="3594463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0" hangingPunct="0">
              <a:defRPr>
                <a:latin typeface="Arial"/>
              </a:defRPr>
            </a:pPr>
            <a:r>
              <a:rPr lang="en-US" altLang="ko-KR" sz="1600" b="1" kern="0" dirty="0">
                <a:latin typeface="Arial" panose="020B0606020202030204" pitchFamily="34" charset="0"/>
                <a:ea typeface="Arial" panose="020B0600000101010101" pitchFamily="50" charset="-127"/>
              </a:rPr>
              <a:t>1.2 Yy break down</a:t>
            </a:r>
            <a:endParaRPr lang="ko-KR" altLang="en-US" sz="1800" b="1" kern="0" dirty="0">
              <a:latin typeface="Arial" panose="020B0606020202030204" pitchFamily="34" charset="0"/>
              <a:ea typeface="Arial" panose="020B0600000101010101" pitchFamily="50" charset="-127"/>
              <a:cs typeface="Arial"/>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a:defRPr>
                          <a:latin typeface="Arial"/>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a:defRPr>
                          <a:latin typeface="Arial"/>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a:latin typeface="Arial"/>
              </a:rPr>
              <a:t>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04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a:defRPr>
                          <a:latin typeface="Arial"/>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Arial"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latin typeface="Arial"/>
              </a:defRPr>
            </a:pPr>
            <a:r>
              <a:rPr>
                <a:latin typeface="Arial"/>
              </a:rPr>
              <a:t>1292 PPM</a:t>
            </a: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r>
              <a:rPr lang="en-US" sz="1050" dirty="0">
                <a:solidFill>
                  <a:schemeClr val="tx1"/>
                </a:solidFill>
                <a:latin typeface="Arial" panose="020B0604020202020204" pitchFamily="34" charset="0"/>
                <a:cs typeface="Arial" panose="020B0604020202020204" pitchFamily="34" charset="0"/>
              </a:rPr>
              <a:t>2294 </a:t>
            </a:r>
            <a:r>
              <a:rPr lang="vi-VN" sz="1050" dirty="0">
                <a:solidFill>
                  <a:schemeClr val="tx1"/>
                </a:solidFill>
                <a:latin typeface="Arial" panose="020B0604020202020204" pitchFamily="34" charset="0"/>
                <a:cs typeface="Arial" panose="020B0604020202020204" pitchFamily="34" charset="0"/>
              </a:rPr>
              <a:t>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Arial"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Before</a:t>
            </a:r>
            <a:endParaRPr lang="vi-VN" sz="1000" dirty="0">
              <a:solidFill>
                <a:srgbClr val="000000"/>
              </a:solidFill>
              <a:latin typeface="Arial" panose="020B0604020202020204" pitchFamily="34" charset="0"/>
              <a:ea typeface="Arial"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After</a:t>
            </a:r>
            <a:endParaRPr lang="vi-VN" sz="1000" dirty="0">
              <a:solidFill>
                <a:srgbClr val="000000"/>
              </a:solidFill>
              <a:latin typeface="Arial" panose="020B0604020202020204" pitchFamily="34" charset="0"/>
              <a:ea typeface="Arial"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Real defect _ Material</a:t>
            </a:r>
          </a:p>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1" hangingPunct="1">
                        <a:defRPr>
                          <a:latin typeface="Arial"/>
                        </a:defRPr>
                      </a:pPr>
                      <a:r>
                        <a:rPr lang="en-US" altLang="ko-KR" sz="1000" b="1" kern="1200" dirty="0">
                          <a:solidFill>
                            <a:schemeClr val="tx1"/>
                          </a:solidFill>
                          <a:latin typeface="Arial" panose="020B0600000101010101" pitchFamily="50" charset="-127"/>
                          <a:ea typeface="Arial" panose="020B0600000101010101" pitchFamily="50" charset="-127"/>
                          <a:cs typeface="Arial"/>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a:defRPr>
                          <a:latin typeface="Arial"/>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spAutoFit/>
          </a:bodyPr>
          <a:lstStyle/>
          <a:p>
            <a:pPr marL="171450" lvl="0" indent="-171450">
              <a:buFontTx/>
              <a:buChar char="-"/>
              <a:defRPr>
                <a:latin typeface="Arial"/>
              </a:defRPr>
            </a:pPr>
            <a:r>
              <a:rPr>
                <a:latin typeface="Arial"/>
              </a:rPr>
              <a:t>Most of Hardware issues caused by foreign material inside the set after assembly process, SQA circuit, LCD from supplier, need to improve by HW members.</a:t>
            </a:r>
          </a:p>
          <a:p>
            <a:pPr marL="171450" lvl="0" indent="-171450">
              <a:buFontTx/>
              <a:buChar char="-"/>
              <a:defRPr>
                <a:latin typeface="Arial"/>
              </a:defRPr>
            </a:pPr>
            <a:r>
              <a:rPr lang="en-US" sz="1000" dirty="0">
                <a:latin typeface="Arial"/>
              </a:rPr>
              <a:t>Software issue will be solved by HQ software members.</a:t>
            </a:r>
          </a:p>
          <a:p>
            <a:pPr marL="171450" lvl="0" indent="-171450">
              <a:buFontTx/>
              <a:buChar char="-"/>
              <a:defRPr>
                <a:latin typeface="Arial"/>
              </a:defRPr>
            </a:pPr>
            <a:r>
              <a:rPr lang="en-US" sz="1000" dirty="0">
                <a:latin typeface="Arial"/>
              </a:rPr>
              <a:t>Machine include issue from inspection item, Luminance is important item measured by machine, it </a:t>
            </a:r>
            <a:r>
              <a:rPr lang="en-US" sz="1000" dirty="0">
                <a:solidFill>
                  <a:srgbClr val="000000"/>
                </a:solidFill>
                <a:latin typeface="Arial"/>
              </a:rPr>
              <a:t>refers to the amount of light emitted from the display per unit area, it</a:t>
            </a:r>
            <a:r>
              <a:rPr lang="en-US" sz="1000" dirty="0">
                <a:latin typeface="Arial"/>
              </a:rPr>
              <a:t> affects the brightness and visibility of the screen, that’s why I choose this issue for my 6 sigma assignment.</a:t>
            </a:r>
            <a:endParaRPr lang="en-US" altLang="en-US" sz="1000" dirty="0">
              <a:latin typeface="Arial"/>
              <a:ea typeface="Arial" panose="020B0604020202020204" pitchFamily="34" charset="-128"/>
              <a:cs typeface="Arial" panose="020B0604020202020204" pitchFamily="34" charset="0"/>
            </a:endParaRP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spid="_x0000_s25237" name="Worksheet" showAsIcon="1" r:id="rId5" imgW="914400" imgH="771792" progId="Excel.Sheet.12">
                  <p:embed/>
                </p:oleObj>
              </mc:Choice>
              <mc:Fallback>
                <p:oleObj name="Worksheet" showAsIcon="1" r:id="rId5" imgW="914400" imgH="771792" progId="Excel.Sheet.12">
                  <p:embed/>
                  <p:pic>
                    <p:nvPicPr>
                      <p:cNvPr id="0" name=""/>
                      <p:cNvPicPr/>
                      <p:nvPr/>
                    </p:nvPicPr>
                    <p:blipFill>
                      <a:blip r:embed="rId6"/>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sz="1800" b="0" i="0" u="none" strike="noStrike" cap="none" normalizeH="0" baseline="0">
              <a:ln>
                <a:noFill/>
              </a:ln>
              <a:solidFill>
                <a:schemeClr val="tx1"/>
              </a:solidFill>
              <a:effectLst/>
              <a:latin typeface="Arial" charset="0"/>
              <a:ea typeface="Arial"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sz="1000" b="0">
                <a:latin typeface="Arial"/>
              </a:rPr>
              <a:t>Long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1" hangingPunct="1">
                        <a:defRPr>
                          <a:latin typeface="Arial"/>
                        </a:defRPr>
                      </a:pPr>
                      <a:r>
                        <a:rPr lang="en-US" altLang="ko-KR" sz="1000" b="1" kern="1200" dirty="0">
                          <a:solidFill>
                            <a:schemeClr val="tx1"/>
                          </a:solidFill>
                          <a:latin typeface="Arial" panose="020B0600000101010101" pitchFamily="50" charset="-127"/>
                          <a:ea typeface="Arial" panose="020B0600000101010101" pitchFamily="50" charset="-127"/>
                          <a:cs typeface="Arial"/>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246221"/>
          </a:xfrm>
          <a:prstGeom prst="rect">
            <a:avLst/>
          </a:prstGeom>
        </p:spPr>
        <p:txBody>
          <a:bodyPr wrap="square">
            <a:spAutoFit/>
          </a:bodyPr>
          <a:lstStyle/>
          <a:p>
            <a:pPr algn="ctr" latinLnBrk="0">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2294 </a:t>
            </a:r>
            <a:r>
              <a:rPr lang="vi-VN" sz="1000" dirty="0">
                <a:solidFill>
                  <a:srgbClr val="000000"/>
                </a:solidFill>
                <a:latin typeface="Arial" panose="020B0604020202020204" pitchFamily="34" charset="0"/>
                <a:ea typeface="Arial" panose="020B0600000101010101"/>
                <a:cs typeface="Arial" panose="020B0604020202020204" pitchFamily="34" charset="0"/>
              </a:rPr>
              <a:t>PPM</a:t>
            </a:r>
            <a:endParaRPr lang="en-US" sz="1000" dirty="0">
              <a:solidFill>
                <a:srgbClr val="000000"/>
              </a:solidFill>
              <a:latin typeface="Arial" panose="020B0604020202020204" pitchFamily="34" charset="0"/>
              <a:ea typeface="Arial"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175322" cy="246221"/>
          </a:xfrm>
          <a:prstGeom prst="rect">
            <a:avLst/>
          </a:prstGeom>
        </p:spPr>
        <p:txBody>
          <a:bodyPr wrap="none">
            <a:spAutoFit/>
          </a:bodyP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56.3% 1292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04791" cy="246221"/>
          </a:xfrm>
          <a:prstGeom prst="rect">
            <a:avLst/>
          </a:prstGeom>
        </p:spPr>
        <p:txBody>
          <a:bodyPr wrap="none">
            <a:spAutoFit/>
          </a:bodyP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35.9% 824 </a:t>
            </a:r>
            <a:r>
              <a:rPr lang="vi-VN" sz="1000" dirty="0">
                <a:solidFill>
                  <a:srgbClr val="000000"/>
                </a:solidFill>
                <a:latin typeface="Arial" panose="020B0604020202020204" pitchFamily="34" charset="0"/>
                <a:ea typeface="Arial" panose="020B0600000101010101"/>
                <a:cs typeface="Arial" panose="020B0604020202020204" pitchFamily="34" charset="0"/>
              </a:rPr>
              <a:t>PPM</a:t>
            </a:r>
            <a:endParaRPr lang="en-US" sz="1000" dirty="0">
              <a:solidFill>
                <a:srgbClr val="000000"/>
              </a:solidFill>
              <a:latin typeface="Arial" panose="020B0604020202020204" pitchFamily="34" charset="0"/>
              <a:ea typeface="Arial"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034259" cy="246221"/>
          </a:xfrm>
          <a:prstGeom prst="rect">
            <a:avLst/>
          </a:prstGeom>
        </p:spPr>
        <p:txBody>
          <a:bodyPr wrap="none">
            <a:spAutoFit/>
          </a:bodyP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7.8% 178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chemeClr val="tx1"/>
                </a:solidFill>
                <a:latin typeface="Arial" panose="020B0604020202020204" pitchFamily="34" charset="0"/>
                <a:ea typeface="Arial" panose="020B0604020202020204" pitchFamily="34" charset="-128"/>
                <a:cs typeface="Arial" panose="020B0604020202020204" pitchFamily="34" charset="0"/>
              </a:rPr>
              <a:t>Haptic/Touch </a:t>
            </a:r>
          </a:p>
          <a:p>
            <a:pPr algn="ctr">
              <a:defRPr>
                <a:latin typeface="Arial"/>
              </a:defRPr>
            </a:pPr>
            <a:r>
              <a:rPr lang="en-US" sz="1000" dirty="0">
                <a:solidFill>
                  <a:schemeClr val="tx1"/>
                </a:solidFill>
                <a:latin typeface="Arial" panose="020B0604020202020204" pitchFamily="34" charset="0"/>
                <a:ea typeface="Arial"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04791" cy="246221"/>
          </a:xfrm>
          <a:prstGeom prst="rect">
            <a:avLst/>
          </a:prstGeom>
        </p:spPr>
        <p:txBody>
          <a:bodyPr wrap="none">
            <a:spAutoFit/>
          </a:bodyPr>
          <a:lstStyle/>
          <a:p>
            <a:pPr>
              <a:defRPr>
                <a:latin typeface="Arial"/>
              </a:defRPr>
            </a:pPr>
            <a:r>
              <a:rPr>
                <a:latin typeface="Arial"/>
              </a:rPr>
              <a:t>10.8% 140 PPM</a:t>
            </a: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175323" cy="246221"/>
          </a:xfrm>
          <a:prstGeom prst="rect">
            <a:avLst/>
          </a:prstGeom>
        </p:spPr>
        <p:txBody>
          <a:bodyPr wrap="none">
            <a:spAutoFit/>
          </a:bodyPr>
          <a:lstStyle/>
          <a:p>
            <a:pPr>
              <a:defRPr>
                <a:latin typeface="Arial"/>
              </a:defRPr>
            </a:pPr>
            <a:r>
              <a:rPr>
                <a:latin typeface="Arial"/>
              </a:rPr>
              <a:t>44.6% 576 PPM</a:t>
            </a: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104790" cy="246221"/>
          </a:xfrm>
          <a:prstGeom prst="rect">
            <a:avLst/>
          </a:prstGeom>
        </p:spPr>
        <p:txBody>
          <a:bodyPr wrap="none">
            <a:spAutoFit/>
          </a:bodyPr>
          <a:lstStyle/>
          <a:p>
            <a:pPr>
              <a:defRPr>
                <a:latin typeface="Arial"/>
              </a:defRPr>
            </a:pPr>
            <a:r>
              <a:rPr>
                <a:latin typeface="Arial"/>
              </a:rPr>
              <a:t>39.1% 505 PPM</a:t>
            </a: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034257" cy="246221"/>
          </a:xfrm>
          <a:prstGeom prst="rect">
            <a:avLst/>
          </a:prstGeom>
        </p:spPr>
        <p:txBody>
          <a:bodyPr wrap="none">
            <a:spAutoFit/>
          </a:bodyPr>
          <a:lstStyle/>
          <a:p>
            <a:pPr>
              <a:defRPr>
                <a:latin typeface="Arial"/>
              </a:defRPr>
            </a:pPr>
            <a:r>
              <a:rPr>
                <a:latin typeface="Arial"/>
              </a:rPr>
              <a:t>5.5% 71 PPM</a:t>
            </a: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chemeClr val="tx1"/>
                </a:solidFill>
                <a:latin typeface="Arial" panose="020B0604020202020204" pitchFamily="34" charset="0"/>
                <a:ea typeface="Arial"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chemeClr val="tx1"/>
                </a:solidFill>
                <a:latin typeface="Arial" panose="020B0604020202020204" pitchFamily="34" charset="0"/>
                <a:ea typeface="Arial"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defRPr>
                <a:latin typeface="Arial"/>
              </a:defRPr>
            </a:pPr>
            <a:r>
              <a:rPr lang="en-US" sz="1000" dirty="0">
                <a:solidFill>
                  <a:srgbClr val="000000"/>
                </a:solidFill>
                <a:latin typeface="Arial" panose="020B0604020202020204" pitchFamily="34" charset="0"/>
                <a:ea typeface="Arial"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0" hangingPunct="0">
              <a:defRPr>
                <a:latin typeface="Arial"/>
              </a:defRPr>
            </a:pPr>
            <a:r>
              <a:rPr lang="en-US" altLang="ko-KR" sz="1600" b="1" kern="0" dirty="0">
                <a:latin typeface="Arial" panose="020B0606020202030204" pitchFamily="34" charset="0"/>
                <a:ea typeface="Arial" panose="020B0600000101010101" pitchFamily="50" charset="-127"/>
              </a:rPr>
              <a:t>1.3 Define Project Y</a:t>
            </a:r>
            <a:endParaRPr lang="ko-KR" altLang="en-US" sz="1600" b="1" kern="0" dirty="0">
              <a:latin typeface="Arial" panose="020B0606020202030204" pitchFamily="34" charset="0"/>
              <a:ea typeface="Arial"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05 / 33</a:t>
            </a:r>
          </a:p>
          <a:p>
            <a:pPr algn="ctr">
              <a:defRPr>
                <a:latin typeface="Arial"/>
              </a:defRPr>
            </a:pPr>
            <a:endParaRPr lang="ko-KR" altLang="en-US" sz="1200" dirty="0">
              <a:solidFill>
                <a:prstClr val="black">
                  <a:tint val="75000"/>
                </a:prstClr>
              </a:solidFill>
              <a:latin typeface="Arial" panose="020B0600000101010101" pitchFamily="34" charset="-127"/>
              <a:ea typeface="Arial"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a:defRPr>
                <a:latin typeface="Arial"/>
              </a:defRPr>
            </a:pPr>
            <a:r>
              <a:rPr lang="en-US" sz="1200" dirty="0">
                <a:latin typeface="Arial" panose="020B0600000101010101" pitchFamily="34" charset="-127"/>
                <a:ea typeface="Arial" panose="020B0600000101010101" pitchFamily="34" charset="-127"/>
                <a:cs typeface="Arial" panose="020B0604020202020204" pitchFamily="34" charset="0"/>
              </a:rPr>
              <a:t>To reduce the luminance test value NG, Project Y is formed :“Luminance value "</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a:defRPr>
                <a:latin typeface="Arial"/>
              </a:defRPr>
            </a:pPr>
            <a:r>
              <a:rPr lang="en-US" sz="12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a:defRPr>
                <a:latin typeface="Arial"/>
              </a:defRPr>
            </a:pPr>
            <a:r>
              <a:rPr lang="en-US" sz="12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a:buFont typeface="Arial" panose="020B0604020202020204" pitchFamily="34" charset="0"/>
              <a:buChar char="•"/>
              <a:defRPr>
                <a:latin typeface="Arial"/>
              </a:defRPr>
            </a:pPr>
            <a:endParaRPr lang="en-US" sz="1100" dirty="0">
              <a:latin typeface="Arial" panose="020B0600000101010101" pitchFamily="34" charset="-127"/>
              <a:ea typeface="Arial" panose="020B0600000101010101" pitchFamily="34" charset="-127"/>
              <a:cs typeface="Arial" panose="020B0604020202020204" pitchFamily="34" charset="0"/>
            </a:endParaRPr>
          </a:p>
          <a:p>
            <a:pPr marL="171450" indent="-171450">
              <a:buFont typeface="Arial" panose="020B0604020202020204" pitchFamily="34" charset="0"/>
              <a:buChar char="•"/>
              <a:defRPr>
                <a:latin typeface="Arial"/>
              </a:defRPr>
            </a:pPr>
            <a:r>
              <a:rPr lang="en-US" sz="1100" dirty="0">
                <a:latin typeface="Arial" panose="020B0600000101010101" pitchFamily="34" charset="-127"/>
                <a:ea typeface="Arial" panose="020B0600000101010101" pitchFamily="34" charset="-127"/>
                <a:cs typeface="Arial" panose="020B0604020202020204" pitchFamily="34" charset="0"/>
              </a:rPr>
              <a:t>Luminance value is a term in the field of imaging and light source of LCD.</a:t>
            </a:r>
          </a:p>
          <a:p>
            <a:pPr>
              <a:defRPr>
                <a:latin typeface="Arial"/>
              </a:defRPr>
            </a:pPr>
            <a:endParaRPr lang="en-US" sz="1100" dirty="0">
              <a:latin typeface="Arial" panose="020B0600000101010101" pitchFamily="34" charset="-127"/>
              <a:ea typeface="Arial" panose="020B0600000101010101" pitchFamily="34" charset="-127"/>
              <a:cs typeface="Arial" panose="020B0604020202020204" pitchFamily="34" charset="0"/>
            </a:endParaRPr>
          </a:p>
          <a:p>
            <a:pPr marL="171450" indent="-171450">
              <a:buFont typeface="Arial" panose="020B0604020202020204" pitchFamily="34" charset="0"/>
              <a:buChar char="•"/>
              <a:defRPr>
                <a:latin typeface="Arial"/>
              </a:defRPr>
            </a:pPr>
            <a:r>
              <a:rPr lang="en-US" sz="1100" dirty="0">
                <a:latin typeface="Arial" panose="020B0600000101010101" pitchFamily="34" charset="-127"/>
                <a:ea typeface="Arial" panose="020B0600000101010101" pitchFamily="34" charset="-127"/>
                <a:cs typeface="Arial" panose="020B0604020202020204" pitchFamily="34" charset="0"/>
              </a:rPr>
              <a:t>Luminance can be used to show how well a screen performance </a:t>
            </a:r>
          </a:p>
          <a:p>
            <a:pPr>
              <a:defRPr>
                <a:latin typeface="Arial"/>
              </a:defRPr>
            </a:pPr>
            <a:r>
              <a:rPr lang="en-US" sz="1100" dirty="0">
                <a:latin typeface="Arial" panose="020B0600000101010101" pitchFamily="34" charset="-127"/>
                <a:ea typeface="Arial" panose="020B0600000101010101" pitchFamily="34" charset="-127"/>
                <a:cs typeface="Arial" panose="020B0604020202020204" pitchFamily="34" charset="0"/>
              </a:rPr>
              <a:t>    such as brightness level, Contrast, Color accuracy, Viewing Angles.</a:t>
            </a:r>
          </a:p>
          <a:p>
            <a:pPr marL="171450" indent="-171450">
              <a:buFont typeface="Arial" panose="020B0604020202020204" pitchFamily="34" charset="0"/>
              <a:buChar char="•"/>
              <a:defRPr>
                <a:latin typeface="Arial"/>
              </a:defRPr>
            </a:pPr>
            <a:endParaRPr lang="en-US" sz="1100" dirty="0">
              <a:latin typeface="Arial" panose="020B0600000101010101" pitchFamily="34" charset="-127"/>
              <a:ea typeface="Arial"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a:buFont typeface="Arial" panose="020B0604020202020204" pitchFamily="34" charset="0"/>
              <a:buChar char="•"/>
              <a:defRPr>
                <a:latin typeface="Arial"/>
              </a:defRPr>
            </a:pPr>
            <a:r>
              <a:rPr lang="en-US" sz="1100" dirty="0">
                <a:latin typeface="Arial" panose="020B0600000101010101" pitchFamily="34" charset="-127"/>
                <a:ea typeface="Arial" panose="020B0600000101010101" pitchFamily="34" charset="-127"/>
                <a:cs typeface="Arial" panose="020B0604020202020204" pitchFamily="34" charset="0"/>
              </a:rPr>
              <a:t>The project was selected as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sz="1800" b="0" i="0" u="none" strike="noStrike" cap="none" normalizeH="0" baseline="0">
              <a:ln>
                <a:noFill/>
              </a:ln>
              <a:solidFill>
                <a:schemeClr val="tx1"/>
              </a:solidFill>
              <a:effectLst/>
              <a:latin typeface="Arial" panose="020B0600000101010101" pitchFamily="34" charset="-127"/>
              <a:ea typeface="Arial"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sz="1800" b="0" i="0" u="none" strike="noStrike" cap="none" normalizeH="0" baseline="0">
              <a:ln>
                <a:noFill/>
              </a:ln>
              <a:solidFill>
                <a:schemeClr val="tx1"/>
              </a:solidFill>
              <a:effectLst/>
              <a:latin typeface="Arial" panose="020B0600000101010101" pitchFamily="34" charset="-127"/>
              <a:ea typeface="Arial"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0000101010101" pitchFamily="34" charset="-127"/>
                <a:ea typeface="Arial"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0000101010101" pitchFamily="34" charset="-127"/>
                <a:ea typeface="Arial"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0000101010101" pitchFamily="34" charset="-127"/>
                <a:ea typeface="Arial"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a:buFont typeface="Arial" panose="020B0604020202020204" pitchFamily="34" charset="0"/>
              <a:buChar char="•"/>
              <a:defRPr>
                <a:latin typeface="Arial"/>
              </a:defRPr>
            </a:pPr>
            <a:r>
              <a:rPr>
                <a:latin typeface="Arial"/>
              </a:rPr>
              <a:t>The sensors inside the detector will have the task of receiving the luminance value at the center of LCD, then calculating and respond to program the Luminance value measurement result.</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a:buFont typeface="Arial" panose="020B0604020202020204" pitchFamily="34" charset="0"/>
              <a:buChar char="•"/>
              <a:defRPr>
                <a:latin typeface="Arial"/>
              </a:defRPr>
            </a:pPr>
            <a:r>
              <a:rPr lang="en-US" sz="1100" dirty="0">
                <a:latin typeface="Arial" panose="020B0600000101010101" pitchFamily="34" charset="-127"/>
                <a:ea typeface="Arial" panose="020B0600000101010101" pitchFamily="34" charset="-127"/>
                <a:cs typeface="Arial" panose="020B0604020202020204" pitchFamily="34" charset="0"/>
              </a:rPr>
              <a:t>Issue: The Luminance values ​​measured at the PID screen is lower than the average compared value. This leads to a Luminance values test under spec.</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Project Y= Luminance value = f(x1,x2,..x5) + e</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Method measure: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screen connected to bench, when program send the request for display perform at the highest brightness level </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up the White screen with maximum brightness</a:t>
              </a:r>
            </a:p>
            <a:p>
              <a:pPr marL="171450" indent="-171450">
                <a:buFont typeface="Arial" panose="020B0604020202020204" pitchFamily="34" charset="0"/>
                <a:buChar char="•"/>
              </a:pPr>
              <a:endParaRPr lang="en-US" sz="1100" dirty="0">
                <a:latin typeface="Arial" panose="020B0600000101010101" pitchFamily="34" charset="-127"/>
                <a:ea typeface="Arial"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Detector CS2000 move to the central of PID LCD and the sensor recognize the central of display and measure Luminace level. </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Because the central always have the better brightness than the corner and edges, detector must be right place to measure the best value.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will be recorded and send back to the program.</a:t>
              </a:r>
            </a:p>
          </p:txBody>
        </p:sp>
      </p:gr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Luminance formula:</a:t>
                </a:r>
              </a:p>
              <a:p>
                <a:pPr/>
                <a14:m>
                  <m:oMathPara xmlns:m="http://schemas.openxmlformats.org/officeDocument/2006/math">
                    <m:oMathParaPr>
                      <m:jc m:val="left"/>
                    </m:oMathParaPr>
                    <m:oMath xmlns:m="http://schemas.openxmlformats.org/officeDocument/2006/math">
                      <m:r>
                        <a:rPr lang="en-US" sz="1100">
                          <a:latin typeface="Arial" panose="02040503050406030204" pitchFamily="18" charset="0"/>
                        </a:rPr>
                        <m:t>𝑳𝒖𝒎𝒊𝒏𝒂𝒏𝒄𝒆</m:t>
                      </m:r>
                      <m:r>
                        <a:rPr lang="en-US" sz="1100">
                          <a:latin typeface="Arial" panose="02040503050406030204" pitchFamily="18" charset="0"/>
                        </a:rPr>
                        <m:t> </m:t>
                      </m:r>
                      <m:r>
                        <a:rPr lang="en-US" sz="1100">
                          <a:latin typeface="Arial" panose="02040503050406030204" pitchFamily="18" charset="0"/>
                        </a:rPr>
                        <m:t>𝒗𝒂𝒍𝒖𝒆</m:t>
                      </m:r>
                      <m:r>
                        <a:rPr lang="en-US" sz="1100">
                          <a:latin typeface="Arial" panose="02040503050406030204" pitchFamily="18" charset="0"/>
                        </a:rPr>
                        <m:t>=</m:t>
                      </m:r>
                      <m:f>
                        <m:fPr>
                          <m:ctrlPr>
                            <a:rPr lang="en-US" sz="1100" i="1">
                              <a:latin typeface="Arial" panose="02040503050406030204" pitchFamily="18" charset="0"/>
                            </a:rPr>
                          </m:ctrlPr>
                        </m:fPr>
                        <m:num>
                          <m:r>
                            <m:rPr>
                              <m:nor/>
                            </m:rPr>
                            <a:rPr lang="en-US" sz="1100">
                              <a:latin typeface="Arial" panose="020B0600000101010101" pitchFamily="34" charset="-127"/>
                              <a:ea typeface="Arial" panose="020B0600000101010101" pitchFamily="34" charset="-127"/>
                              <a:cs typeface="Arial" panose="020B0604020202020204" pitchFamily="34" charset="0"/>
                            </a:rPr>
                            <m:t>d</m:t>
                          </m:r>
                          <m:r>
                            <m:rPr>
                              <m:nor/>
                            </m:rPr>
                            <a:rPr lang="en-US" sz="1100" baseline="30000">
                              <a:latin typeface="Arial" panose="020B0600000101010101" pitchFamily="34" charset="-127"/>
                              <a:ea typeface="Arial" panose="020B0600000101010101" pitchFamily="34" charset="-127"/>
                              <a:cs typeface="Arial" panose="020B0604020202020204" pitchFamily="34" charset="0"/>
                            </a:rPr>
                            <m:t>2</m:t>
                          </m:r>
                          <m:r>
                            <m:rPr>
                              <m:nor/>
                            </m:rPr>
                            <a:rPr lang="en-US" sz="1100" b="0" i="0" baseline="30000" smtClean="0">
                              <a:latin typeface="Arial" panose="020B0600000101010101" pitchFamily="34" charset="-127"/>
                              <a:ea typeface="Arial" panose="020B0600000101010101" pitchFamily="34" charset="-127"/>
                              <a:cs typeface="Arial" panose="020B0604020202020204" pitchFamily="34" charset="0"/>
                            </a:rPr>
                            <m:t> </m:t>
                          </m:r>
                          <m:r>
                            <m:rPr>
                              <m:nor/>
                            </m:rPr>
                            <a:rPr lang="el-GR" sz="1100">
                              <a:ea typeface="Arial" panose="020B0600000101010101" pitchFamily="34" charset="-127"/>
                              <a:cs typeface="Arial" panose="020B0604020202020204" pitchFamily="34" charset="0"/>
                            </a:rPr>
                            <m:t>Φ</m:t>
                          </m:r>
                        </m:num>
                        <m:den>
                          <m:r>
                            <m:rPr>
                              <m:nor/>
                            </m:rPr>
                            <a:rPr lang="en-US" sz="1100">
                              <a:latin typeface="Arial" panose="020B0600000101010101" pitchFamily="34" charset="-127"/>
                              <a:ea typeface="Arial" panose="020B0600000101010101" pitchFamily="34" charset="-127"/>
                              <a:cs typeface="Arial" panose="020B0604020202020204" pitchFamily="34" charset="0"/>
                            </a:rPr>
                            <m:t>d</m:t>
                          </m:r>
                          <m:r>
                            <m:rPr>
                              <m:nor/>
                            </m:rPr>
                            <a:rPr lang="en-US" sz="1100" b="0" i="0" baseline="-25000" smtClean="0">
                              <a:latin typeface="Arial" panose="020B0600000101010101" pitchFamily="34" charset="-127"/>
                              <a:ea typeface="Arial" panose="020B0600000101010101" pitchFamily="34" charset="-127"/>
                              <a:cs typeface="Arial" panose="020B0604020202020204" pitchFamily="34" charset="0"/>
                            </a:rPr>
                            <m:t>A</m:t>
                          </m:r>
                          <m:r>
                            <m:rPr>
                              <m:nor/>
                            </m:rPr>
                            <a:rPr lang="en-US" sz="1100" b="0" i="0" smtClean="0">
                              <a:ea typeface="Arial" panose="020B0600000101010101" pitchFamily="34" charset="-127"/>
                              <a:cs typeface="Arial" panose="020B0604020202020204" pitchFamily="34" charset="0"/>
                            </a:rPr>
                            <m:t> </m:t>
                          </m:r>
                          <m:r>
                            <m:rPr>
                              <m:nor/>
                            </m:rPr>
                            <a:rPr lang="en-US" sz="1100">
                              <a:latin typeface="Arial" panose="020B0600000101010101" pitchFamily="34" charset="-127"/>
                              <a:ea typeface="Arial" panose="020B0600000101010101" pitchFamily="34" charset="-127"/>
                              <a:cs typeface="Arial" panose="020B0604020202020204" pitchFamily="34" charset="0"/>
                            </a:rPr>
                            <m:t>d</m:t>
                          </m:r>
                          <m:r>
                            <m:rPr>
                              <m:nor/>
                            </m:rPr>
                            <a:rPr lang="el-GR" sz="1100"/>
                            <m:t>ω</m:t>
                          </m:r>
                          <m:r>
                            <m:rPr>
                              <m:nor/>
                            </m:rPr>
                            <a:rPr lang="el-GR" sz="1100">
                              <a:ea typeface="Arial" panose="020B0600000101010101" pitchFamily="34" charset="-127"/>
                              <a:cs typeface="Arial" panose="020B0604020202020204" pitchFamily="34" charset="0"/>
                            </a:rPr>
                            <m:t>Σ</m:t>
                          </m:r>
                          <m:r>
                            <m:rPr>
                              <m:nor/>
                            </m:rPr>
                            <a:rPr lang="en-US" sz="1100" b="0" i="0" smtClean="0">
                              <a:ea typeface="Arial" panose="020B0600000101010101" pitchFamily="34" charset="-127"/>
                              <a:cs typeface="Arial" panose="020B0604020202020204" pitchFamily="34" charset="0"/>
                            </a:rPr>
                            <m:t> </m:t>
                          </m:r>
                          <m:r>
                            <m:rPr>
                              <m:nor/>
                            </m:rPr>
                            <a:rPr lang="en-US" sz="1100">
                              <a:latin typeface="Arial" panose="020B0600000101010101" pitchFamily="34" charset="-127"/>
                              <a:ea typeface="Arial" panose="020B0600000101010101" pitchFamily="34" charset="-127"/>
                              <a:cs typeface="Arial" panose="020B0604020202020204" pitchFamily="34" charset="0"/>
                            </a:rPr>
                            <m:t>c</m:t>
                          </m:r>
                          <m:r>
                            <a:rPr lang="en-US" sz="1100">
                              <a:latin typeface="Arial" panose="02040503050406030204" pitchFamily="18" charset="0"/>
                            </a:rPr>
                            <m:t>𝑜𝑠</m:t>
                          </m:r>
                          <m:r>
                            <m:rPr>
                              <m:nor/>
                            </m:rPr>
                            <a:rPr lang="el-GR" sz="1100" i="1">
                              <a:ea typeface="Arial" panose="020B0600000101010101" pitchFamily="34" charset="-127"/>
                              <a:cs typeface="Arial" panose="020B0604020202020204" pitchFamily="34" charset="0"/>
                            </a:rPr>
                            <m:t>θ</m:t>
                          </m:r>
                        </m:den>
                      </m:f>
                    </m:oMath>
                  </m:oMathPara>
                </a14:m>
                <a:endParaRPr lang="en-US" sz="1100" dirty="0">
                  <a:latin typeface="Arial" panose="020B0600000101010101" pitchFamily="34" charset="-127"/>
                  <a:ea typeface="Arial" panose="020B0600000101010101" pitchFamily="34" charset="-127"/>
                  <a:cs typeface="Arial" panose="020B0604020202020204" pitchFamily="34" charset="0"/>
                </a:endParaRPr>
              </a:p>
              <a:p>
                <a:pPr>
                  <a:lnSpc>
                    <a:spcPct val="107000"/>
                  </a:lnSpc>
                  <a:spcAft>
                    <a:spcPts val="800"/>
                  </a:spcAft>
                </a:pPr>
                <a:endParaRPr lang="en-US" sz="1100" dirty="0">
                  <a:latin typeface="Arial" panose="020B0600000101010101" pitchFamily="34" charset="-127"/>
                  <a:ea typeface="Arial" panose="020B0600000101010101" pitchFamily="34" charset="-127"/>
                  <a:cs typeface="Arial" panose="020B0604020202020204" pitchFamily="34" charset="0"/>
                </a:endParaRPr>
              </a:p>
              <a:p>
                <a:pPr>
                  <a:lnSpc>
                    <a:spcPct val="107000"/>
                  </a:lnSpc>
                  <a:spcAft>
                    <a:spcPts val="800"/>
                  </a:spcAft>
                </a:pPr>
                <a:r>
                  <a:rPr lang="en-US" sz="1100" dirty="0">
                    <a:latin typeface="Arial" panose="020B0600000101010101" pitchFamily="34" charset="-127"/>
                    <a:ea typeface="Arial" panose="020B0600000101010101" pitchFamily="34" charset="-127"/>
                    <a:cs typeface="Arial" panose="020B0604020202020204" pitchFamily="34" charset="0"/>
                  </a:rPr>
                  <a:t>Spec: 800-2000 (</a:t>
                </a:r>
                <a:r>
                  <a:rPr lang="en-US" sz="1100" i="1" dirty="0">
                    <a:latin typeface="Arial" panose="020B0600000101010101" pitchFamily="34" charset="-127"/>
                    <a:ea typeface="Arial" panose="020B0600000101010101" pitchFamily="34" charset="-127"/>
                    <a:cs typeface="Arial" panose="020B0604020202020204" pitchFamily="34" charset="0"/>
                  </a:rPr>
                  <a:t>cd/m</a:t>
                </a:r>
                <a:r>
                  <a:rPr lang="en-US" sz="1100" i="1" baseline="30000" dirty="0">
                    <a:latin typeface="Arial" panose="020B0600000101010101" pitchFamily="34" charset="-127"/>
                    <a:ea typeface="Arial" panose="020B0600000101010101" pitchFamily="34" charset="-127"/>
                    <a:cs typeface="Arial" panose="020B0604020202020204" pitchFamily="34" charset="0"/>
                  </a:rPr>
                  <a:t>2</a:t>
                </a:r>
                <a:r>
                  <a:rPr lang="en-US" sz="1100" dirty="0">
                    <a:latin typeface="Arial" panose="020B0600000101010101" pitchFamily="34" charset="-127"/>
                    <a:ea typeface="Arial" panose="020B0600000101010101" pitchFamily="34" charset="-127"/>
                    <a:cs typeface="Arial" panose="020B0604020202020204" pitchFamily="34" charset="0"/>
                  </a:rPr>
                  <a:t>)</a:t>
                </a:r>
              </a:p>
              <a:p>
                <a:pPr marL="171450" indent="-171450">
                  <a:buFont typeface="Arial" panose="020B0604020202020204" pitchFamily="34" charset="0"/>
                  <a:buChar char="•"/>
                </a:pPr>
                <a14:m>
                  <m:oMath xmlns:m="http://schemas.openxmlformats.org/officeDocument/2006/math">
                    <m:r>
                      <m:rPr>
                        <m:nor/>
                      </m:rPr>
                      <a:rPr lang="en-US" sz="1100">
                        <a:latin typeface="Arial" panose="020B0600000101010101" pitchFamily="34" charset="-127"/>
                        <a:ea typeface="Arial" panose="020B0600000101010101" pitchFamily="34" charset="-127"/>
                        <a:cs typeface="Arial" panose="020B0604020202020204" pitchFamily="34" charset="0"/>
                      </a:rPr>
                      <m:t>d</m:t>
                    </m:r>
                    <m:r>
                      <m:rPr>
                        <m:nor/>
                      </m:rPr>
                      <a:rPr lang="en-US" sz="1100">
                        <a:latin typeface="Arial" panose="020B0600000101010101" pitchFamily="34" charset="-127"/>
                        <a:ea typeface="Arial" panose="020B0600000101010101" pitchFamily="34" charset="-127"/>
                        <a:cs typeface="Arial" panose="020B0604020202020204" pitchFamily="34" charset="0"/>
                      </a:rPr>
                      <m:t> </m:t>
                    </m:r>
                    <m:r>
                      <m:rPr>
                        <m:nor/>
                      </m:rPr>
                      <a:rPr lang="el-GR" sz="1100">
                        <a:latin typeface="Arial" panose="020B0600000101010101" pitchFamily="34" charset="-127"/>
                        <a:ea typeface="Arial" panose="020B0600000101010101" pitchFamily="34" charset="-127"/>
                        <a:cs typeface="Arial" panose="020B0604020202020204" pitchFamily="34" charset="0"/>
                      </a:rPr>
                      <m:t>Φ</m:t>
                    </m:r>
                    <m:r>
                      <a:rPr lang="el-GR" sz="1100">
                        <a:latin typeface="Arial" panose="02040503050406030204" pitchFamily="18" charset="0"/>
                        <a:ea typeface="Arial" panose="020B0600000101010101" pitchFamily="34" charset="-127"/>
                        <a:cs typeface="Arial" panose="020B0604020202020204" pitchFamily="34" charset="0"/>
                      </a:rPr>
                      <m:t> </m:t>
                    </m:r>
                  </m:oMath>
                </a14:m>
                <a:r>
                  <a:rPr lang="fr-FR" sz="1100" dirty="0">
                    <a:latin typeface="Arial" panose="020B0600000101010101" pitchFamily="34" charset="-127"/>
                    <a:ea typeface="Arial" panose="020B0600000101010101" pitchFamily="34" charset="-127"/>
                    <a:cs typeface="Arial" panose="020B0604020202020204" pitchFamily="34" charset="0"/>
                  </a:rPr>
                  <a:t>stands for the luminous flux in lumens (</a:t>
                </a:r>
                <a:r>
                  <a:rPr lang="fr-FR" sz="1100" i="1" dirty="0">
                    <a:latin typeface="Arial" panose="020B0600000101010101" pitchFamily="34" charset="-127"/>
                    <a:ea typeface="Arial" panose="020B0600000101010101" pitchFamily="34" charset="-127"/>
                    <a:cs typeface="Arial" panose="020B0604020202020204" pitchFamily="34" charset="0"/>
                  </a:rPr>
                  <a:t>lm</a:t>
                </a:r>
                <a:r>
                  <a:rPr lang="fr-FR" sz="1100" dirty="0">
                    <a:latin typeface="Arial" panose="020B0600000101010101" pitchFamily="34" charset="-127"/>
                    <a:ea typeface="Arial" panose="020B0600000101010101" pitchFamily="34" charset="-127"/>
                    <a:cs typeface="Arial" panose="020B0604020202020204" pitchFamily="34" charset="0"/>
                  </a:rPr>
                  <a:t>)</a:t>
                </a:r>
                <a:endParaRPr lang="en-US" sz="1100" dirty="0">
                  <a:latin typeface="Arial" panose="020B0600000101010101" pitchFamily="34" charset="-127"/>
                  <a:ea typeface="Arial"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Cos </a:t>
                </a:r>
                <a:r>
                  <a:rPr lang="en-US" sz="1100" i="1" dirty="0">
                    <a:latin typeface="Arial" panose="020B0600000101010101" pitchFamily="34" charset="-127"/>
                    <a:ea typeface="Arial" panose="020B0600000101010101" pitchFamily="34" charset="-127"/>
                    <a:cs typeface="Arial" panose="020B0604020202020204" pitchFamily="34" charset="0"/>
                  </a:rPr>
                  <a:t>θ</a:t>
                </a:r>
                <a:r>
                  <a:rPr lang="en-US" sz="1100" dirty="0">
                    <a:latin typeface="Arial" panose="020B0600000101010101" pitchFamily="34" charset="-127"/>
                    <a:ea typeface="Arial" panose="020B0600000101010101" pitchFamily="34" charset="-127"/>
                    <a:cs typeface="Arial" panose="020B0604020202020204" pitchFamily="34" charset="0"/>
                  </a:rPr>
                  <a:t> stands for the angle between the display surface and the sight line of detector, in this case, </a:t>
                </a:r>
                <a:r>
                  <a:rPr lang="en-US" sz="1100" i="1" dirty="0">
                    <a:latin typeface="Arial" panose="020B0600000101010101" pitchFamily="34" charset="-127"/>
                    <a:ea typeface="Arial" panose="020B0600000101010101" pitchFamily="34" charset="-127"/>
                    <a:cs typeface="Arial" panose="020B0604020202020204" pitchFamily="34" charset="0"/>
                  </a:rPr>
                  <a:t>θ = </a:t>
                </a:r>
                <a:r>
                  <a:rPr lang="en-US" sz="1100" dirty="0">
                    <a:latin typeface="Arial" panose="020B0600000101010101" pitchFamily="34" charset="-127"/>
                    <a:ea typeface="Arial" panose="020B0600000101010101" pitchFamily="34" charset="-127"/>
                    <a:cs typeface="Arial" panose="020B0604020202020204" pitchFamily="34" charset="0"/>
                  </a:rPr>
                  <a:t>0 degree. </a:t>
                </a:r>
              </a:p>
              <a:p>
                <a:pPr marL="171450" indent="-171450">
                  <a:buFont typeface="Arial" panose="020B0604020202020204" pitchFamily="34" charset="0"/>
                  <a:buChar char="•"/>
                </a:pPr>
                <a14:m>
                  <m:oMath xmlns:m="http://schemas.openxmlformats.org/officeDocument/2006/math">
                    <m:r>
                      <m:rPr>
                        <m:nor/>
                      </m:rPr>
                      <a:rPr lang="en-US" sz="1100" smtClean="0">
                        <a:latin typeface="Arial" panose="020B0600000101010101" pitchFamily="34" charset="-127"/>
                        <a:ea typeface="Arial" panose="020B0600000101010101" pitchFamily="34" charset="-127"/>
                        <a:cs typeface="Arial" panose="020B0604020202020204" pitchFamily="34" charset="0"/>
                      </a:rPr>
                      <m:t>d</m:t>
                    </m:r>
                    <m:r>
                      <m:rPr>
                        <m:nor/>
                      </m:rPr>
                      <a:rPr lang="en-US" sz="1100" baseline="-25000" smtClean="0">
                        <a:latin typeface="Arial" panose="020B0600000101010101" pitchFamily="34" charset="-127"/>
                        <a:ea typeface="Arial" panose="020B0600000101010101" pitchFamily="34" charset="-127"/>
                        <a:cs typeface="Arial" panose="020B0604020202020204" pitchFamily="34" charset="0"/>
                      </a:rPr>
                      <m:t>A</m:t>
                    </m:r>
                  </m:oMath>
                </a14:m>
                <a:r>
                  <a:rPr lang="en-US" sz="1100" baseline="-25000" dirty="0">
                    <a:latin typeface="Arial" panose="020B0600000101010101" pitchFamily="34" charset="-127"/>
                    <a:ea typeface="Arial" panose="020B0600000101010101" pitchFamily="34" charset="-127"/>
                    <a:cs typeface="Arial" panose="020B0604020202020204" pitchFamily="34" charset="0"/>
                  </a:rPr>
                  <a:t> </a:t>
                </a:r>
                <a:r>
                  <a:rPr lang="en-US" sz="1100" dirty="0">
                    <a:latin typeface="Arial" panose="020B0600000101010101" pitchFamily="34" charset="-127"/>
                    <a:ea typeface="Arial" panose="020B0600000101010101" pitchFamily="34" charset="-127"/>
                    <a:cs typeface="Arial" panose="020B0604020202020204" pitchFamily="34" charset="0"/>
                  </a:rPr>
                  <a:t>stands for differential area in square meters (</a:t>
                </a:r>
                <a:r>
                  <a:rPr lang="en-US" sz="1100" i="1" dirty="0">
                    <a:latin typeface="Arial" panose="020B0600000101010101" pitchFamily="34" charset="-127"/>
                    <a:ea typeface="Arial" panose="020B0600000101010101" pitchFamily="34" charset="-127"/>
                    <a:cs typeface="Arial" panose="020B0604020202020204" pitchFamily="34" charset="0"/>
                  </a:rPr>
                  <a:t>m²</a:t>
                </a:r>
                <a:r>
                  <a:rPr lang="en-US" sz="1100" dirty="0">
                    <a:latin typeface="Arial" panose="020B0600000101010101" pitchFamily="34" charset="-127"/>
                    <a:ea typeface="Arial" panose="020B0600000101010101" pitchFamily="34" charset="-127"/>
                    <a:cs typeface="Arial" panose="020B0604020202020204" pitchFamily="34" charset="0"/>
                  </a:rPr>
                  <a:t>)</a:t>
                </a:r>
              </a:p>
              <a:p>
                <a:pPr marL="171450" indent="-171450">
                  <a:buFont typeface="Arial" panose="020B0604020202020204" pitchFamily="34" charset="0"/>
                  <a:buChar char="•"/>
                </a:pPr>
                <a14:m>
                  <m:oMath xmlns:m="http://schemas.openxmlformats.org/officeDocument/2006/math">
                    <m:r>
                      <m:rPr>
                        <m:sty m:val="p"/>
                      </m:rPr>
                      <a:rPr lang="en-US" sz="1100" i="1">
                        <a:latin typeface="Arial" panose="02040503050406030204" pitchFamily="18" charset="0"/>
                        <a:ea typeface="Arial" panose="020B0600000101010101" pitchFamily="34" charset="-127"/>
                        <a:cs typeface="Arial" panose="020B0604020202020204" pitchFamily="34" charset="0"/>
                      </a:rPr>
                      <m:t>d</m:t>
                    </m:r>
                    <m:r>
                      <m:rPr>
                        <m:nor/>
                      </m:rPr>
                      <a:rPr lang="el-GR" sz="1100"/>
                      <m:t>ω</m:t>
                    </m:r>
                  </m:oMath>
                </a14:m>
                <a:r>
                  <a:rPr lang="en-US" sz="1100" dirty="0">
                    <a:latin typeface="Arial" panose="020B0600000101010101" pitchFamily="34" charset="-127"/>
                    <a:ea typeface="Arial" panose="020B0600000101010101" pitchFamily="34" charset="-127"/>
                    <a:cs typeface="Arial" panose="020B0604020202020204" pitchFamily="34" charset="0"/>
                  </a:rPr>
                  <a:t> stands for the differential solid angle in steradians (</a:t>
                </a:r>
                <a:r>
                  <a:rPr lang="en-US" sz="1100" i="1" dirty="0">
                    <a:latin typeface="Arial" panose="020B0600000101010101" pitchFamily="34" charset="-127"/>
                    <a:ea typeface="Arial" panose="020B0600000101010101" pitchFamily="34" charset="-127"/>
                    <a:cs typeface="Arial" panose="020B0604020202020204" pitchFamily="34" charset="0"/>
                  </a:rPr>
                  <a:t>sr</a:t>
                </a:r>
                <a:r>
                  <a:rPr lang="en-US" sz="1100" dirty="0">
                    <a:latin typeface="Arial" panose="020B0600000101010101" pitchFamily="34" charset="-127"/>
                    <a:ea typeface="Arial" panose="020B0600000101010101" pitchFamily="34" charset="-127"/>
                    <a:cs typeface="Arial" panose="020B0604020202020204" pitchFamily="34" charset="0"/>
                  </a:rPr>
                  <a:t>)</a:t>
                </a:r>
              </a:p>
              <a:p>
                <a:pPr marL="171450" indent="-171450">
                  <a:buFont typeface="Arial" panose="020B0604020202020204" pitchFamily="34" charset="0"/>
                  <a:buChar char="•"/>
                </a:pPr>
                <a:endParaRPr lang="en-US" sz="1100" dirty="0">
                  <a:latin typeface="Arial" panose="020B0600000101010101" pitchFamily="34" charset="-127"/>
                  <a:ea typeface="Arial" panose="020B0600000101010101" pitchFamily="34" charset="-127"/>
                  <a:cs typeface="Arial" panose="020B0604020202020204" pitchFamily="34" charset="0"/>
                </a:endParaRPr>
              </a:p>
            </p:txBody>
          </p:sp>
        </mc:Choice>
        <mc:Fallback xmlns="">
          <p:sp>
            <p:nvSpPr>
              <p:cNvPr id="8" name="Rectangle 7">
                <a:extLst>
                  <a:ext uri="{FF2B5EF4-FFF2-40B4-BE49-F238E27FC236}">
                    <a16:creationId xmlns:a16="http://schemas.microsoft.com/office/drawing/2014/main" id="{F5DF5708-2DFB-4E65-8558-59C7418E7751}"/>
                  </a:ext>
                </a:extLst>
              </p:cNvPr>
              <p:cNvSpPr>
                <a:spLocks noRot="1" noChangeAspect="1" noMove="1" noResize="1" noEditPoints="1" noAdjustHandles="1" noChangeArrowheads="1" noChangeShapeType="1" noTextEdit="1"/>
              </p:cNvSpPr>
              <p:nvPr/>
            </p:nvSpPr>
            <p:spPr>
              <a:xfrm>
                <a:off x="5161251" y="2277557"/>
                <a:ext cx="4673065" cy="217719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altLang="ko-KR" sz="1200" b="1" dirty="0">
                <a:latin typeface="Arial" panose="020B0604020202020204" pitchFamily="34" charset="0"/>
                <a:ea typeface="Arial" panose="020B0604020202020204" pitchFamily="34" charset="-128"/>
                <a:cs typeface="Arial" panose="020B0604020202020204" pitchFamily="34" charset="0"/>
              </a:rPr>
              <a:t>Equipment information:</a:t>
            </a:r>
          </a:p>
          <a:p>
            <a:pPr>
              <a:defRPr>
                <a:latin typeface="Arial"/>
              </a:defRPr>
            </a:pPr>
            <a:endParaRPr lang="en-US" altLang="ko-KR" sz="1200" dirty="0">
              <a:latin typeface="Arial" panose="020B0604020202020204" pitchFamily="34" charset="0"/>
              <a:ea typeface="Arial" panose="020B0604020202020204" pitchFamily="34" charset="-128"/>
              <a:cs typeface="Arial" panose="020B0604020202020204" pitchFamily="34" charset="0"/>
            </a:endParaRPr>
          </a:p>
          <a:p>
            <a:pPr marL="285750" indent="-285750">
              <a:buFont typeface="Arial" panose="020B0604020202020204" pitchFamily="34" charset="0"/>
              <a:buChar cha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Equipment: </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 Power supply, Pallet</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 CID bench</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 CANSIM</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 LMK camera CS2000</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 Resolution: 0.01 Cd/m</a:t>
            </a:r>
            <a:r>
              <a:rPr lang="en-US" altLang="ko-KR" sz="1200" baseline="30000" dirty="0">
                <a:latin typeface="Arial" panose="020B0604020202020204" pitchFamily="34" charset="0"/>
                <a:ea typeface="Arial" panose="020B0604020202020204" pitchFamily="34" charset="-128"/>
                <a:cs typeface="Arial" panose="020B0604020202020204" pitchFamily="34" charset="0"/>
              </a:rPr>
              <a:t>2</a:t>
            </a:r>
            <a:r>
              <a:rPr lang="en-US" altLang="ko-KR" sz="1200" dirty="0">
                <a:latin typeface="Arial" panose="020B0604020202020204" pitchFamily="34" charset="0"/>
                <a:ea typeface="Arial" panose="020B0604020202020204" pitchFamily="34" charset="-128"/>
                <a:cs typeface="Arial" panose="020B0604020202020204" pitchFamily="34" charset="0"/>
              </a:rPr>
              <a:t>		</a:t>
            </a:r>
          </a:p>
          <a:p>
            <a:pPr marL="285750" indent="-285750">
              <a:buFont typeface="Arial" panose="020B0604020202020204" pitchFamily="34" charset="0"/>
              <a:buChar char="•"/>
              <a:defRPr>
                <a:latin typeface="Arial"/>
              </a:defRPr>
            </a:pPr>
            <a:r>
              <a:rPr lang="en-US" sz="1200" dirty="0">
                <a:solidFill>
                  <a:srgbClr val="000000"/>
                </a:solidFill>
                <a:latin typeface="Arial" panose="020B0604020202020204" pitchFamily="34" charset="0"/>
                <a:ea typeface="Arial" panose="020B0604020202020204" pitchFamily="34" charset="-128"/>
                <a:cs typeface="Arial" panose="020B0604020202020204" pitchFamily="34" charset="0"/>
              </a:rPr>
              <a:t>Program: LG Moohantech</a:t>
            </a:r>
          </a:p>
          <a:p>
            <a:pPr>
              <a:defRPr>
                <a:latin typeface="Arial"/>
              </a:defRPr>
            </a:pPr>
            <a:endParaRPr lang="en-US" sz="1200" dirty="0">
              <a:solidFill>
                <a:srgbClr val="000000"/>
              </a:solidFill>
              <a:latin typeface="Arial" panose="020B0604020202020204" pitchFamily="34" charset="0"/>
              <a:ea typeface="Arial"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928707" cy="2031325"/>
          </a:xfrm>
          <a:prstGeom prst="rect">
            <a:avLst/>
          </a:prstGeom>
          <a:noFill/>
        </p:spPr>
        <p:txBody>
          <a:bodyPr wrap="square" rtlCol="0" anchor="t">
            <a:spAutoFit/>
          </a:bodyPr>
          <a:lstStyle/>
          <a:p>
            <a:pPr marL="171450" indent="-171450">
              <a:buFont typeface="Wingdings" panose="05000000000000000000" pitchFamily="2" charset="2"/>
              <a:buChar char="q"/>
              <a:defRPr>
                <a:latin typeface="Arial"/>
              </a:defRPr>
            </a:pPr>
            <a:r>
              <a:rPr lang="en-US" altLang="ko-KR" sz="1200" b="1" dirty="0">
                <a:latin typeface="Arial" panose="020B0604020202020204" pitchFamily="34" charset="0"/>
                <a:ea typeface="Arial"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panose="020B0604020202020204" pitchFamily="34" charset="-128"/>
              <a:cs typeface="Arial" panose="020B0604020202020204" pitchFamily="34" charset="0"/>
            </a:endParaRPr>
          </a:p>
          <a:p>
            <a:pPr marL="171450" indent="-171450" algn="just">
              <a:lnSpc>
                <a:spcPct val="150000"/>
              </a:lnSpc>
              <a:buFont typeface="Arial" panose="020B0604020202020204" pitchFamily="34" charset="0"/>
              <a:buChar char="•"/>
              <a:defRPr>
                <a:latin typeface="Arial"/>
              </a:defRPr>
            </a:pPr>
            <a:r>
              <a:rPr lang="en-US" sz="1200" dirty="0">
                <a:latin typeface="Arial" panose="020B0604020202020204" pitchFamily="34" charset="0"/>
                <a:cs typeface="Arial" panose="020B0604020202020204" pitchFamily="34" charset="0"/>
              </a:rPr>
              <a:t>Checking brightness level</a:t>
            </a:r>
          </a:p>
          <a:p>
            <a:pPr marL="171450" indent="-171450" algn="just">
              <a:lnSpc>
                <a:spcPct val="150000"/>
              </a:lnSpc>
              <a:buFont typeface="Arial" panose="020B0604020202020204" pitchFamily="34" charset="0"/>
              <a:buChar char="•"/>
              <a:defRPr>
                <a:latin typeface="Arial"/>
              </a:defRPr>
            </a:pPr>
            <a:r>
              <a:rPr lang="en-US" sz="1200" dirty="0">
                <a:latin typeface="Arial" panose="020B0604020202020204" pitchFamily="34" charset="0"/>
                <a:cs typeface="Arial" panose="020B0604020202020204" pitchFamily="34" charset="0"/>
              </a:rPr>
              <a:t>Detect and measure Luminance value</a:t>
            </a:r>
          </a:p>
          <a:p>
            <a:pPr marL="171450" indent="-171450" algn="just">
              <a:lnSpc>
                <a:spcPct val="150000"/>
              </a:lnSpc>
              <a:buFont typeface="Arial" panose="020B0604020202020204" pitchFamily="34" charset="0"/>
              <a:buChar char="•"/>
              <a:defRPr>
                <a:latin typeface="Arial"/>
              </a:defRPr>
            </a:pPr>
            <a:r>
              <a:rPr lang="en-US" sz="1200" dirty="0">
                <a:latin typeface="Arial" panose="020B0604020202020204" pitchFamily="34" charset="0"/>
                <a:cs typeface="Arial" panose="020B0604020202020204" pitchFamily="34" charset="0"/>
              </a:rPr>
              <a:t>Test set without can mode</a:t>
            </a:r>
          </a:p>
          <a:p>
            <a:pPr marL="171450" indent="-171450" algn="just">
              <a:lnSpc>
                <a:spcPct val="150000"/>
              </a:lnSpc>
              <a:buFont typeface="Arial" panose="020B0604020202020204" pitchFamily="34" charset="0"/>
              <a:buChar char="•"/>
              <a:defRPr>
                <a:latin typeface="Arial"/>
              </a:defRPr>
            </a:pPr>
            <a:r>
              <a:rPr lang="en-US" sz="1200" dirty="0">
                <a:latin typeface="Arial" panose="020B0604020202020204" pitchFamily="34" charset="0"/>
                <a:cs typeface="Arial" panose="020B0604020202020204" pitchFamily="34" charset="0"/>
              </a:rPr>
              <a:t>Checking pattern CID black, white</a:t>
            </a:r>
          </a:p>
          <a:p>
            <a:pPr marL="171450" indent="-171450" algn="just">
              <a:lnSpc>
                <a:spcPct val="150000"/>
              </a:lnSpc>
              <a:buFont typeface="Arial" panose="020B0604020202020204" pitchFamily="34" charset="0"/>
              <a:buChar char="•"/>
              <a:defRPr>
                <a:latin typeface="Arial"/>
              </a:defRPr>
            </a:pPr>
            <a:r>
              <a:rPr lang="en-US" sz="1200" dirty="0">
                <a:latin typeface="Arial" panose="020B0604020202020204" pitchFamily="34" charset="0"/>
                <a:cs typeface="Arial" panose="020B0604020202020204" pitchFamily="34" charset="0"/>
              </a:rPr>
              <a:t>Calculate contrast</a:t>
            </a:r>
          </a:p>
          <a:p>
            <a:pPr marL="285750" indent="-285750">
              <a:buFont typeface="Arial" panose="020B0604020202020204" pitchFamily="34" charset="0"/>
              <a:buChar char="•"/>
              <a:defRPr>
                <a:latin typeface="Arial"/>
              </a:defRPr>
            </a:pPr>
            <a:endParaRPr kumimoji="0" lang="ja-JP" altLang="ja-JP" sz="1200" dirty="0">
              <a:latin typeface="Arial" panose="020B0604020202020204" pitchFamily="34" charset="0"/>
              <a:ea typeface="Arial" panose="020B0604020202020204" pitchFamily="34" charset="-128"/>
              <a:cs typeface="Arial" panose="020B0604020202020204" pitchFamily="34" charset="0"/>
            </a:endParaRPr>
          </a:p>
          <a:p>
            <a:pPr>
              <a:defRPr>
                <a:latin typeface="Arial"/>
              </a:defRPr>
            </a:pPr>
            <a:endParaRPr lang="ko-KR" altLang="en-US" sz="1200" dirty="0">
              <a:latin typeface="Arial" panose="020B0604020202020204" pitchFamily="34" charset="0"/>
              <a:ea typeface="Arial"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06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3823701"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.1 Gage</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R&amp;R outline</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a:defRPr>
                <a:latin typeface="Arial"/>
              </a:defRPr>
            </a:pPr>
            <a:r>
              <a:rPr lang="en-US" sz="1200" b="1" dirty="0">
                <a:latin typeface="Arial" panose="020B0600000101010101" pitchFamily="34" charset="-127"/>
                <a:ea typeface="Arial" panose="020B0600000101010101" pitchFamily="34" charset="-127"/>
                <a:cs typeface="Arial" panose="020B0604020202020204" pitchFamily="34" charset="0"/>
              </a:rPr>
              <a:t>LMK Camera CS2000</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a:defRPr>
                <a:latin typeface="Arial"/>
              </a:defRPr>
            </a:pPr>
            <a:r>
              <a:rPr>
                <a:latin typeface="Arial"/>
              </a:rPr>
              <a:t>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256941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F3972BB8-0723-4658-8EFE-46045E1E10A0}"/>
              </a:ext>
            </a:extLst>
          </p:cNvPr>
          <p:cNvSpPr txBox="1"/>
          <p:nvPr/>
        </p:nvSpPr>
        <p:spPr>
          <a:xfrm>
            <a:off x="63248" y="6250230"/>
            <a:ext cx="4883332" cy="646331"/>
          </a:xfrm>
          <a:prstGeom prst="rect">
            <a:avLst/>
          </a:prstGeom>
          <a:noFill/>
        </p:spPr>
        <p:txBody>
          <a:bodyPr wrap="square" rtlCol="0">
            <a:spAutoFit/>
          </a:bodyPr>
          <a:lstStyle/>
          <a:p>
            <a:pPr>
              <a:defRPr>
                <a:latin typeface="Arial"/>
              </a:defRPr>
            </a:pPr>
            <a:endPar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endParaRPr>
          </a:p>
          <a:p>
            <a:pPr marL="171450" indent="-171450">
              <a:buFont typeface="Wingdings" panose="05000000000000000000" pitchFamily="2" charset="2"/>
              <a:buChar char="à"/>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Equipment is OK and LMK camera CS2000 of Luminance station1 can be used to measure Luminance value</a:t>
            </a:r>
          </a:p>
        </p:txBody>
      </p:sp>
      <p:sp>
        <p:nvSpPr>
          <p:cNvPr id="17" name="TextBox 16">
            <a:extLst>
              <a:ext uri="{FF2B5EF4-FFF2-40B4-BE49-F238E27FC236}">
                <a16:creationId xmlns:a16="http://schemas.microsoft.com/office/drawing/2014/main" id="{C682D0EC-51C2-4351-8B9B-1F085627F8A3}"/>
              </a:ext>
            </a:extLst>
          </p:cNvPr>
          <p:cNvSpPr txBox="1"/>
          <p:nvPr/>
        </p:nvSpPr>
        <p:spPr>
          <a:xfrm>
            <a:off x="77882" y="5121564"/>
            <a:ext cx="5371613" cy="1384995"/>
          </a:xfrm>
          <a:prstGeom prst="rect">
            <a:avLst/>
          </a:prstGeom>
          <a:noFill/>
          <a:ln>
            <a:noFill/>
          </a:ln>
        </p:spPr>
        <p:txBody>
          <a:bodyPr wrap="square" rtlCol="0">
            <a:spAutoFit/>
          </a:bodyPr>
          <a:lstStyle/>
          <a:p>
            <a:pPr marL="171450" indent="-171450">
              <a:buFont typeface="Wingdings" panose="05000000000000000000" pitchFamily="2" charset="2"/>
              <a:buChar char="Ø"/>
              <a:defRPr>
                <a:latin typeface="Arial"/>
              </a:defRPr>
            </a:pPr>
            <a:r>
              <a:rPr lang="en-US" sz="1200" b="1" u="sng" dirty="0">
                <a:latin typeface="Arial" panose="020B0604020202020204" pitchFamily="34" charset="0"/>
                <a:ea typeface="Arial" panose="020B0604020202020204" pitchFamily="34" charset="-128"/>
                <a:cs typeface="Arial" panose="020B0604020202020204" pitchFamily="34" charset="0"/>
              </a:rPr>
              <a:t>Conclusion </a:t>
            </a:r>
            <a:endParaRPr lang="en-US" sz="1200" dirty="0">
              <a:latin typeface="Arial" panose="020B0604020202020204" pitchFamily="34" charset="0"/>
              <a:ea typeface="Arial" panose="020B0604020202020204" pitchFamily="34" charset="-128"/>
              <a:cs typeface="Arial" panose="020B0604020202020204" pitchFamily="34" charset="0"/>
            </a:endParaRPr>
          </a:p>
          <a:p>
            <a:pPr marL="171450" indent="-171450">
              <a:buFont typeface="Arial" panose="020B0604020202020204" pitchFamily="34" charset="0"/>
              <a:buChar char="•"/>
              <a:defRPr>
                <a:latin typeface="Arial"/>
              </a:defRPr>
            </a:pPr>
            <a:r>
              <a:rPr sz="1200" b="0">
                <a:latin typeface="Arial"/>
              </a:rPr>
              <a:t>P value = 0.636 &gt; 0.05   Fail to reject H0 -&gt; Bias = 0 (No significant bias, System PASS)</a:t>
            </a:r>
          </a:p>
          <a:p>
            <a:pPr marL="171450" indent="-171450">
              <a:buFont typeface="Arial" panose="020B0604020202020204" pitchFamily="34" charset="0"/>
              <a:buChar char="•"/>
              <a:defRPr>
                <a:latin typeface="Arial"/>
              </a:defRPr>
            </a:pPr>
            <a:r>
              <a:rPr lang="vi-VN" sz="1200" dirty="0">
                <a:latin typeface="Arial" panose="020B0604020202020204" pitchFamily="34" charset="0"/>
                <a:ea typeface="Arial" panose="020B0604020202020204" pitchFamily="34" charset="-128"/>
                <a:cs typeface="Arial" panose="020B0604020202020204" pitchFamily="34" charset="0"/>
              </a:rPr>
              <a:t> </a:t>
            </a:r>
            <a:r>
              <a:rPr lang="en-US" sz="1200" dirty="0">
                <a:latin typeface="Arial" panose="020B0604020202020204" pitchFamily="34" charset="0"/>
                <a:ea typeface="Arial" panose="020B0604020202020204" pitchFamily="34" charset="-128"/>
                <a:cs typeface="Arial" panose="020B0604020202020204" pitchFamily="34" charset="0"/>
              </a:rPr>
              <a:t>Cg = 3.20 (Standard &gt;1.33)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PASS</a:t>
            </a:r>
            <a:endParaRPr lang="en-US" sz="1200" dirty="0">
              <a:latin typeface="Arial" panose="020B0604020202020204" pitchFamily="34" charset="0"/>
              <a:ea typeface="Arial" panose="020B0604020202020204" pitchFamily="34" charset="-128"/>
              <a:cs typeface="Arial" panose="020B0604020202020204" pitchFamily="34" charset="0"/>
            </a:endParaRP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 Cgk =</a:t>
            </a:r>
            <a:r>
              <a:rPr lang="vi-VN" sz="1200" dirty="0">
                <a:latin typeface="Arial" panose="020B0604020202020204" pitchFamily="34" charset="0"/>
                <a:ea typeface="Arial" panose="020B0604020202020204" pitchFamily="34" charset="-128"/>
                <a:cs typeface="Arial" panose="020B0604020202020204" pitchFamily="34" charset="0"/>
              </a:rPr>
              <a:t> </a:t>
            </a:r>
            <a:r>
              <a:rPr lang="en-US" sz="1200" dirty="0">
                <a:latin typeface="Arial" panose="020B0604020202020204" pitchFamily="34" charset="0"/>
                <a:ea typeface="Arial" panose="020B0604020202020204" pitchFamily="34" charset="-128"/>
                <a:cs typeface="Arial" panose="020B0604020202020204" pitchFamily="34" charset="0"/>
              </a:rPr>
              <a:t>3.17 (Standard &gt;1.33)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PASS</a:t>
            </a: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%Var(Repeatability) = 6.25% (Standard&lt;10%)  PASS</a:t>
            </a: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%Var(Repeatability and Bias) = 6.31% (Standard &lt;10%)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PASS</a:t>
            </a: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Resolution = 0.01 &lt; 5% of Tolerance</a:t>
            </a:r>
          </a:p>
        </p:txBody>
      </p:sp>
      <p:sp>
        <p:nvSpPr>
          <p:cNvPr id="7" name="제목 1"/>
          <p:cNvSpPr txBox="1">
            <a:spLocks/>
          </p:cNvSpPr>
          <p:nvPr/>
        </p:nvSpPr>
        <p:spPr>
          <a:xfrm>
            <a:off x="116442" y="96965"/>
            <a:ext cx="2599565"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.2 Type</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1 Study</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Measure </a:t>
            </a:r>
          </a:p>
        </p:txBody>
      </p:sp>
      <p:sp>
        <p:nvSpPr>
          <p:cNvPr id="27" name="TextBox 26">
            <a:extLst>
              <a:ext uri="{FF2B5EF4-FFF2-40B4-BE49-F238E27FC236}">
                <a16:creationId xmlns:a16="http://schemas.microsoft.com/office/drawing/2014/main" id="{6F0E05E3-9DC9-430D-9803-A1CD329A8191}"/>
              </a:ext>
            </a:extLst>
          </p:cNvPr>
          <p:cNvSpPr txBox="1"/>
          <p:nvPr/>
        </p:nvSpPr>
        <p:spPr>
          <a:xfrm>
            <a:off x="5299553" y="3075057"/>
            <a:ext cx="2355668" cy="707886"/>
          </a:xfrm>
          <a:prstGeom prst="rect">
            <a:avLst/>
          </a:prstGeom>
          <a:noFill/>
        </p:spPr>
        <p:txBody>
          <a:bodyPr wrap="square" rtlCol="0">
            <a:spAutoFit/>
          </a:bodyPr>
          <a:lstStyle/>
          <a:p>
            <a:pPr>
              <a:defRPr>
                <a:latin typeface="Arial"/>
              </a:defRPr>
            </a:pPr>
            <a:r>
              <a:rPr>
                <a:latin typeface="Arial"/>
              </a:rPr>
              <a:t>Spec: 800.00 ~ 2000.00</a:t>
            </a:r>
          </a:p>
          <a:p>
            <a:pPr>
              <a:defRPr>
                <a:latin typeface="Arial"/>
              </a:defRPr>
            </a:pPr>
            <a:r>
              <a:rPr>
                <a:latin typeface="Arial"/>
              </a:rPr>
              <a:t>Reference value: 910 Cd/m² (Calibrated Master Sample) (golden sample)</a:t>
            </a:r>
          </a:p>
          <a:p>
            <a:pPr>
              <a:defRPr>
                <a:latin typeface="Arial"/>
              </a:defRPr>
            </a:pPr>
            <a:r>
              <a:rPr>
                <a:latin typeface="Arial"/>
              </a:rPr>
              <a:t>Resolution of Instrument: 0.01 </a:t>
            </a:r>
          </a:p>
        </p:txBody>
      </p:sp>
      <p:sp>
        <p:nvSpPr>
          <p:cNvPr id="15" name="Slide Number Placeholder 4">
            <a:extLst>
              <a:ext uri="{FF2B5EF4-FFF2-40B4-BE49-F238E27FC236}">
                <a16:creationId xmlns:a16="http://schemas.microsoft.com/office/drawing/2014/main" id="{3A97A1D6-8318-4AE8-ABA4-3E86A3455159}"/>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07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6" name="TextBox 15">
            <a:extLst>
              <a:ext uri="{FF2B5EF4-FFF2-40B4-BE49-F238E27FC236}">
                <a16:creationId xmlns:a16="http://schemas.microsoft.com/office/drawing/2014/main" id="{98C5E36D-EEFF-4453-A88A-CDA04A433E1C}"/>
              </a:ext>
            </a:extLst>
          </p:cNvPr>
          <p:cNvSpPr txBox="1"/>
          <p:nvPr/>
        </p:nvSpPr>
        <p:spPr>
          <a:xfrm>
            <a:off x="63248" y="535377"/>
            <a:ext cx="20703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1 Luminance</a:t>
            </a:r>
          </a:p>
        </p:txBody>
      </p:sp>
      <p:graphicFrame>
        <p:nvGraphicFramePr>
          <p:cNvPr id="3" name="Table 2">
            <a:extLst>
              <a:ext uri="{FF2B5EF4-FFF2-40B4-BE49-F238E27FC236}">
                <a16:creationId xmlns:a16="http://schemas.microsoft.com/office/drawing/2014/main" id="{DCAFABC0-A57C-485A-81F0-216C152D8CD9}"/>
              </a:ext>
            </a:extLst>
          </p:cNvPr>
          <p:cNvGraphicFramePr>
            <a:graphicFrameLocks noGrp="1"/>
          </p:cNvGraphicFramePr>
          <p:nvPr>
            <p:extLst>
              <p:ext uri="{D42A27DB-BD31-4B8C-83A1-F6EECF244321}">
                <p14:modId xmlns:p14="http://schemas.microsoft.com/office/powerpoint/2010/main" val="3560516726"/>
              </p:ext>
            </p:extLst>
          </p:nvPr>
        </p:nvGraphicFramePr>
        <p:xfrm>
          <a:off x="239979" y="2021872"/>
          <a:ext cx="3670300" cy="3076575"/>
        </p:xfrm>
        <a:graphic>
          <a:graphicData uri="http://schemas.openxmlformats.org/drawingml/2006/table">
            <a:tbl>
              <a:tblPr/>
              <a:tblGrid>
                <a:gridCol w="369621">
                  <a:extLst>
                    <a:ext uri="{9D8B030D-6E8A-4147-A177-3AD203B41FA5}">
                      <a16:colId xmlns:a16="http://schemas.microsoft.com/office/drawing/2014/main" val="1869624035"/>
                    </a:ext>
                  </a:extLst>
                </a:gridCol>
                <a:gridCol w="1447800">
                  <a:extLst>
                    <a:ext uri="{9D8B030D-6E8A-4147-A177-3AD203B41FA5}">
                      <a16:colId xmlns:a16="http://schemas.microsoft.com/office/drawing/2014/main" val="1973871595"/>
                    </a:ext>
                  </a:extLst>
                </a:gridCol>
                <a:gridCol w="457200">
                  <a:extLst>
                    <a:ext uri="{9D8B030D-6E8A-4147-A177-3AD203B41FA5}">
                      <a16:colId xmlns:a16="http://schemas.microsoft.com/office/drawing/2014/main" val="3877533893"/>
                    </a:ext>
                  </a:extLst>
                </a:gridCol>
                <a:gridCol w="1395679">
                  <a:extLst>
                    <a:ext uri="{9D8B030D-6E8A-4147-A177-3AD203B41FA5}">
                      <a16:colId xmlns:a16="http://schemas.microsoft.com/office/drawing/2014/main" val="483160888"/>
                    </a:ext>
                  </a:extLst>
                </a:gridCol>
              </a:tblGrid>
              <a:tr h="219075">
                <a:tc>
                  <a:txBody>
                    <a:bodyPr/>
                    <a:lstStyle/>
                    <a:p>
                      <a:pPr algn="ctr" rtl="0" fontAlgn="ctr">
                        <a:defRPr>
                          <a:latin typeface="Arial"/>
                        </a:defRPr>
                      </a:pPr>
                      <a:r>
                        <a:rPr lang="en-US" sz="1100" b="1" i="0" u="none" strike="noStrike" dirty="0">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664682676"/>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908.00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911.46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9070195"/>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917.93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890.79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6000230"/>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915.27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908.47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5016158"/>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896.15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926.02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0077892"/>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919.40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924.05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965847"/>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924.00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928.50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7926171"/>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917.44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906.05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7339895"/>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894.39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924.20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0551954"/>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921.04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888.30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786549"/>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893.60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9588986"/>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930.70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921.38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5068799"/>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911.27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891.90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8258125"/>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927.62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908.25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6731877"/>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903.52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900.60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3188169"/>
                  </a:ext>
                </a:extLst>
              </a:tr>
              <a:tr h="190500">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899.24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B060402020202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910.68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0422400"/>
                  </a:ext>
                </a:extLst>
              </a:tr>
            </a:tbl>
          </a:graphicData>
        </a:graphic>
      </p:graphicFrame>
      <p:pic>
        <p:nvPicPr>
          <p:cNvPr id="6" name="Picture 5">
            <a:extLst>
              <a:ext uri="{FF2B5EF4-FFF2-40B4-BE49-F238E27FC236}">
                <a16:creationId xmlns:a16="http://schemas.microsoft.com/office/drawing/2014/main" id="{1E1B24B7-1F77-4AD9-8A9B-D0EF1773079C}"/>
              </a:ext>
            </a:extLst>
          </p:cNvPr>
          <p:cNvPicPr>
            <a:picLocks noChangeAspect="1"/>
          </p:cNvPicPr>
          <p:nvPr/>
        </p:nvPicPr>
        <p:blipFill>
          <a:blip r:embed="rId3"/>
          <a:stretch>
            <a:fillRect/>
          </a:stretch>
        </p:blipFill>
        <p:spPr>
          <a:xfrm>
            <a:off x="6156393" y="535377"/>
            <a:ext cx="3670299" cy="2484318"/>
          </a:xfrm>
          <a:prstGeom prst="rect">
            <a:avLst/>
          </a:prstGeom>
        </p:spPr>
      </p:pic>
      <p:cxnSp>
        <p:nvCxnSpPr>
          <p:cNvPr id="24" name="Straight Connector 23">
            <a:extLst>
              <a:ext uri="{FF2B5EF4-FFF2-40B4-BE49-F238E27FC236}">
                <a16:creationId xmlns:a16="http://schemas.microsoft.com/office/drawing/2014/main" id="{7CE5E6CD-4811-4F25-876B-8510C61287C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905DE67-B74C-4227-ABF6-E60CDFA1E5A3}"/>
              </a:ext>
            </a:extLst>
          </p:cNvPr>
          <p:cNvPicPr>
            <a:picLocks noChangeAspect="1"/>
          </p:cNvPicPr>
          <p:nvPr/>
        </p:nvPicPr>
        <p:blipFill>
          <a:blip r:embed="rId4"/>
          <a:stretch>
            <a:fillRect/>
          </a:stretch>
        </p:blipFill>
        <p:spPr>
          <a:xfrm>
            <a:off x="5347330" y="3747840"/>
            <a:ext cx="4558670" cy="3076575"/>
          </a:xfrm>
          <a:prstGeom prst="rect">
            <a:avLst/>
          </a:prstGeom>
        </p:spPr>
      </p:pic>
      <p:sp>
        <p:nvSpPr>
          <p:cNvPr id="26" name="TextBox 25">
            <a:extLst>
              <a:ext uri="{FF2B5EF4-FFF2-40B4-BE49-F238E27FC236}">
                <a16:creationId xmlns:a16="http://schemas.microsoft.com/office/drawing/2014/main" id="{9BDCA5C5-3828-49E1-AF1F-F35A3BFEEDC1}"/>
              </a:ext>
            </a:extLst>
          </p:cNvPr>
          <p:cNvSpPr txBox="1"/>
          <p:nvPr/>
        </p:nvSpPr>
        <p:spPr>
          <a:xfrm>
            <a:off x="247821" y="838200"/>
            <a:ext cx="5354074" cy="1015663"/>
          </a:xfrm>
          <a:prstGeom prst="rect">
            <a:avLst/>
          </a:prstGeom>
          <a:noFill/>
        </p:spPr>
        <p:txBody>
          <a:bodyPr wrap="square" rtlCol="0">
            <a:spAutoFit/>
          </a:bodyPr>
          <a:lstStyle/>
          <a:p>
            <a:pPr latinLnBrk="0">
              <a:defRPr>
                <a:latin typeface="Arial"/>
              </a:defRPr>
            </a:pPr>
            <a:r>
              <a:rPr>
                <a:latin typeface="Arial"/>
              </a:rPr>
              <a:t>Type 1 Gage Study was selected to assess the ability of component to measure based on repeatability and bias of the instrument.</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In this case, choose 1 sample and repeated test for 30 times.</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H0: Bias = 0 in measurement system.</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3210968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2599565"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.2 Type</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1 Study</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21336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Arial" panose="02020603020101020101" pitchFamily="18" charset="-127"/>
                <a:ea typeface="Arial" panose="02020603020101020101" pitchFamily="18" charset="-127"/>
                <a:cs typeface="Arial"/>
              </a:defRPr>
            </a:lvl1pPr>
            <a:lvl2pPr marL="4572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2pPr>
            <a:lvl3pPr marL="9144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3pPr>
            <a:lvl4pPr marL="13716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4pPr>
            <a:lvl5pPr marL="18288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5pPr>
            <a:lvl6pPr marL="2286000" algn="l" defTabSz="914400" rtl="0" eaLnBrk="1" latinLnBrk="1" hangingPunct="1">
              <a:defRPr kumimoji="1" kern="1200">
                <a:solidFill>
                  <a:schemeClr val="tx1"/>
                </a:solidFill>
                <a:latin typeface="Arial" pitchFamily="50" charset="-127"/>
                <a:ea typeface="Arial" pitchFamily="50" charset="-127"/>
                <a:cs typeface="Arial"/>
              </a:defRPr>
            </a:lvl6pPr>
            <a:lvl7pPr marL="2743200" algn="l" defTabSz="914400" rtl="0" eaLnBrk="1" latinLnBrk="1" hangingPunct="1">
              <a:defRPr kumimoji="1" kern="1200">
                <a:solidFill>
                  <a:schemeClr val="tx1"/>
                </a:solidFill>
                <a:latin typeface="Arial" pitchFamily="50" charset="-127"/>
                <a:ea typeface="Arial" pitchFamily="50" charset="-127"/>
                <a:cs typeface="Arial"/>
              </a:defRPr>
            </a:lvl7pPr>
            <a:lvl8pPr marL="3200400" algn="l" defTabSz="914400" rtl="0" eaLnBrk="1" latinLnBrk="1" hangingPunct="1">
              <a:defRPr kumimoji="1" kern="1200">
                <a:solidFill>
                  <a:schemeClr val="tx1"/>
                </a:solidFill>
                <a:latin typeface="Arial" pitchFamily="50" charset="-127"/>
                <a:ea typeface="Arial" pitchFamily="50" charset="-127"/>
                <a:cs typeface="Arial"/>
              </a:defRPr>
            </a:lvl8pPr>
            <a:lvl9pPr marL="3657600" algn="l" defTabSz="914400" rtl="0" eaLnBrk="1" latinLnBrk="1" hangingPunct="1">
              <a:defRPr kumimoji="1" kern="1200">
                <a:solidFill>
                  <a:schemeClr val="tx1"/>
                </a:solidFill>
                <a:latin typeface="Arial" pitchFamily="50" charset="-127"/>
                <a:ea typeface="Arial" pitchFamily="50" charset="-127"/>
                <a:cs typeface="Arial"/>
              </a:defRPr>
            </a:lvl9pPr>
          </a:lstStyle>
          <a:p>
            <a:pPr>
              <a:defRPr>
                <a:latin typeface="Arial"/>
              </a:defRPr>
            </a:pPr>
            <a:r>
              <a:rPr sz="1000" b="0">
                <a:latin typeface="Arial"/>
              </a:rPr>
              <a:t>08 / 33 </a:t>
            </a:r>
            <a:endParaRPr lang="ko-KR" altLang="en-US" dirty="0">
              <a:solidFill>
                <a:prstClr val="black">
                  <a:tint val="75000"/>
                </a:prstClr>
              </a:solidFill>
              <a:latin typeface="Arial" panose="020B0600000101010101" pitchFamily="34" charset="-127"/>
              <a:ea typeface="Arial"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485001"/>
            <a:ext cx="20703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18" name="TextBox 17">
            <a:extLst>
              <a:ext uri="{FF2B5EF4-FFF2-40B4-BE49-F238E27FC236}">
                <a16:creationId xmlns:a16="http://schemas.microsoft.com/office/drawing/2014/main" id="{E90369EA-41CF-4BB7-95EE-33A74A74A411}"/>
              </a:ext>
            </a:extLst>
          </p:cNvPr>
          <p:cNvSpPr txBox="1"/>
          <p:nvPr/>
        </p:nvSpPr>
        <p:spPr>
          <a:xfrm>
            <a:off x="-21020" y="5105400"/>
            <a:ext cx="5004710" cy="1569660"/>
          </a:xfrm>
          <a:prstGeom prst="rect">
            <a:avLst/>
          </a:prstGeom>
          <a:noFill/>
          <a:ln>
            <a:noFill/>
          </a:ln>
        </p:spPr>
        <p:txBody>
          <a:bodyPr wrap="square" rtlCol="0">
            <a:spAutoFit/>
          </a:bodyPr>
          <a:lstStyle/>
          <a:p>
            <a:pPr>
              <a:defRPr>
                <a:latin typeface="Arial"/>
              </a:defRPr>
            </a:pPr>
            <a:r>
              <a:rPr>
                <a:latin typeface="Arial"/>
              </a:rPr>
              <a:t>Conclusion </a:t>
            </a:r>
          </a:p>
          <a:p>
            <a:pPr>
              <a:defRPr>
                <a:latin typeface="Arial"/>
              </a:defRPr>
            </a:pPr>
            <a:r>
              <a:rPr>
                <a:latin typeface="Arial"/>
              </a:rPr>
              <a:t>P value = 0.00 ≤ 0.05 (significant level)  Reject H0 -&gt; Bias ≠ 0 (Significant bias exists, System FAIL) </a:t>
            </a:r>
          </a:p>
          <a:p>
            <a:pPr>
              <a:defRPr>
                <a:latin typeface="Arial"/>
              </a:defRPr>
            </a:pPr>
            <a:r>
              <a:rPr>
                <a:latin typeface="Arial"/>
              </a:rPr>
              <a:t>Cg = 0.91 (Standard &gt;1.33)  FAIL</a:t>
            </a:r>
          </a:p>
          <a:p>
            <a:pPr>
              <a:defRPr>
                <a:latin typeface="Arial"/>
              </a:defRPr>
            </a:pPr>
            <a:r>
              <a:rPr>
                <a:latin typeface="Arial"/>
              </a:rPr>
              <a:t>Cgk = 0.49 (Standard &gt; 1.33)  FAIL</a:t>
            </a:r>
          </a:p>
          <a:p>
            <a:pPr>
              <a:defRPr>
                <a:latin typeface="Arial"/>
              </a:defRPr>
            </a:pPr>
            <a:r>
              <a:rPr>
                <a:latin typeface="Arial"/>
              </a:rPr>
              <a:t>%Var(Repeatability) = 21.99% (Standard&lt;10%)  FAIL</a:t>
            </a:r>
          </a:p>
          <a:p>
            <a:pPr>
              <a:defRPr>
                <a:latin typeface="Arial"/>
              </a:defRPr>
            </a:pPr>
            <a:r>
              <a:rPr>
                <a:latin typeface="Arial"/>
              </a:rPr>
              <a:t>%Var(Repeatability and Bias) = 37.20% (Standard &lt;10%)  FAIL</a:t>
            </a:r>
          </a:p>
          <a:p>
            <a:pPr>
              <a:defRPr>
                <a:latin typeface="Arial"/>
              </a:defRPr>
            </a:pP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Luminance(Cd/m</a:t>
                      </a:r>
                      <a:r>
                        <a:rPr lang="en-US" sz="1100" b="1" i="0" u="none" strike="noStrike" baseline="30000">
                          <a:solidFill>
                            <a:srgbClr val="000000"/>
                          </a:solidFill>
                          <a:effectLst/>
                          <a:latin typeface="Arial" panose="020B0604020202020204" pitchFamily="34" charset="0"/>
                        </a:rPr>
                        <a:t>2</a:t>
                      </a:r>
                      <a:r>
                        <a:rPr lang="en-US" sz="11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779.90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872.50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811.25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881.38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794.00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820.60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829.24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905.68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887.44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897.04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844.39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833.60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851.46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885.70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799.79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838.27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903.47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837.62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876.02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863.52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904.05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892.00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918.50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847.93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890.05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885.27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904.20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786.15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a:solidFill>
                            <a:srgbClr val="000000"/>
                          </a:solidFill>
                          <a:effectLst/>
                          <a:latin typeface="Arial" panose="020F0502020204030204" pitchFamily="34" charset="0"/>
                        </a:rPr>
                        <a:t>748.30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dirty="0">
                          <a:solidFill>
                            <a:srgbClr val="000000"/>
                          </a:solidFill>
                          <a:effectLst/>
                          <a:latin typeface="Arial"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1100" b="0" i="0" u="none" strike="noStrike" dirty="0">
                          <a:solidFill>
                            <a:srgbClr val="000000"/>
                          </a:solidFill>
                          <a:effectLst/>
                          <a:latin typeface="Arial" panose="020F0502020204030204" pitchFamily="34" charset="0"/>
                        </a:rPr>
                        <a:t>859.40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spAutoFit/>
          </a:bodyPr>
          <a:lstStyle/>
          <a:p>
            <a:pPr>
              <a:spcBef>
                <a:spcPts val="600"/>
              </a:spcBef>
              <a:defRPr>
                <a:latin typeface="Arial"/>
              </a:defRPr>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a:spcBef>
                <a:spcPts val="600"/>
              </a:spcBef>
              <a:defRPr>
                <a:latin typeface="Arial"/>
              </a:defRPr>
            </a:pPr>
            <a:r>
              <a:rPr lang="en-GB" sz="1000" dirty="0">
                <a:latin typeface="Arial" panose="020B0600000101010101" pitchFamily="34" charset="-127"/>
                <a:ea typeface="Arial" panose="020B0600000101010101" pitchFamily="34" charset="-127"/>
              </a:rPr>
              <a:t>Reference value: 910 (golden sample)</a:t>
            </a:r>
          </a:p>
          <a:p>
            <a:pPr>
              <a:spcBef>
                <a:spcPts val="600"/>
              </a:spcBef>
              <a:defRPr>
                <a:latin typeface="Arial"/>
              </a:defRPr>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spAutoFit/>
          </a:bodyPr>
          <a:lstStyle/>
          <a:p>
            <a:pPr latinLnBrk="0">
              <a:defRPr>
                <a:latin typeface="Arial"/>
              </a:defRPr>
            </a:pPr>
            <a:r>
              <a:rPr>
                <a:latin typeface="Arial"/>
              </a:rPr>
              <a:t>Type 1 Gage Study was selected to assess the ability of component to measure based on repeatability and bias of the instrument.</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In this case, choose 1 sample and repeated test for 30 times.</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H0: Bias = 0 in measurement system.</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61393" y="6396335"/>
            <a:ext cx="5510887" cy="461665"/>
          </a:xfrm>
          <a:prstGeom prst="rect">
            <a:avLst/>
          </a:prstGeom>
          <a:noFill/>
        </p:spPr>
        <p:txBody>
          <a:bodyPr wrap="square" rtlCol="0">
            <a:spAutoFit/>
          </a:bodyPr>
          <a:lstStyle/>
          <a:p>
            <a:pPr marL="171450" indent="-171450">
              <a:buFont typeface="Wingdings" panose="05000000000000000000" pitchFamily="2" charset="2"/>
              <a:buChar char="à"/>
              <a:defRPr>
                <a:latin typeface="Arial"/>
              </a:defRPr>
            </a:pPr>
            <a:r>
              <a:rPr>
                <a:latin typeface="Arial"/>
              </a:rPr>
              <a:t>Equipment has a measurement accuracy problem, cannot measure parts consistently and accurately, We need to improve measurement system to make it more reliable</a:t>
            </a:r>
          </a:p>
        </p:txBody>
      </p:sp>
    </p:spTree>
    <p:extLst>
      <p:ext uri="{BB962C8B-B14F-4D97-AF65-F5344CB8AC3E}">
        <p14:creationId xmlns:p14="http://schemas.microsoft.com/office/powerpoint/2010/main" val="4026112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483810" cy="418058"/>
          </a:xfrm>
          <a:prstGeom prst="rect">
            <a:avLst/>
          </a:prstGeom>
        </p:spPr>
        <p:txBody>
          <a:bodyPr vert="horz" lIns="91440" tIns="45720" rIns="91440" bIns="45720" rtlCol="0" anchor="ctr">
            <a:normAutofit/>
          </a:bodyPr>
          <a:lstStyle/>
          <a:p>
            <a:pPr lvl="0" eaLnBrk="0" hangingPunct="0">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2.3</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a:t>
            </a:r>
            <a:r>
              <a:rPr lang="en-US" altLang="ko-KR" sz="1600" b="1" kern="0" dirty="0">
                <a:latin typeface="Arial" panose="020B0606020202030204" pitchFamily="34" charset="0"/>
                <a:ea typeface="Arial" panose="020B0604020202020204" pitchFamily="34" charset="-128"/>
                <a:cs typeface="Arial" panose="020B0604020202020204" pitchFamily="34" charset="0"/>
              </a:rPr>
              <a:t>2 sample T-test for station 1 and 2</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09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Measure </a:t>
            </a:r>
          </a:p>
        </p:txBody>
      </p:sp>
      <p:sp>
        <p:nvSpPr>
          <p:cNvPr id="30" name="TextBox 29">
            <a:extLst>
              <a:ext uri="{FF2B5EF4-FFF2-40B4-BE49-F238E27FC236}">
                <a16:creationId xmlns:a16="http://schemas.microsoft.com/office/drawing/2014/main" id="{D9E5C935-A679-448F-A219-59149360E3B9}"/>
              </a:ext>
            </a:extLst>
          </p:cNvPr>
          <p:cNvSpPr txBox="1"/>
          <p:nvPr/>
        </p:nvSpPr>
        <p:spPr>
          <a:xfrm>
            <a:off x="-1" y="927882"/>
            <a:ext cx="2095403" cy="253916"/>
          </a:xfrm>
          <a:prstGeom prst="rect">
            <a:avLst/>
          </a:prstGeom>
          <a:noFill/>
        </p:spPr>
        <p:txBody>
          <a:bodyPr wrap="square" rtlCol="0">
            <a:spAutoFit/>
          </a:bodyPr>
          <a:lstStyle/>
          <a:p>
            <a:pPr lvl="0">
              <a:defRPr>
                <a:latin typeface="Arial"/>
              </a:defRPr>
            </a:pPr>
            <a:r>
              <a:rPr lang="en-US" altLang="ko-KR" sz="1050" dirty="0">
                <a:latin typeface="Arial" panose="020B0604020202020204" pitchFamily="34" charset="0"/>
                <a:ea typeface="Arial" panose="020B0604020202020204" pitchFamily="34" charset="-128"/>
                <a:cs typeface="Arial" panose="020B0604020202020204" pitchFamily="34" charset="0"/>
              </a:rPr>
              <a:t>Spec: 80</a:t>
            </a:r>
            <a:r>
              <a:rPr lang="vi-VN" altLang="ko-KR" sz="1050" dirty="0">
                <a:latin typeface="Arial" panose="020B0604020202020204" pitchFamily="34" charset="0"/>
                <a:ea typeface="Arial" panose="020B0604020202020204" pitchFamily="34" charset="-128"/>
                <a:cs typeface="Arial" panose="020B0604020202020204" pitchFamily="34" charset="0"/>
              </a:rPr>
              <a:t>0-</a:t>
            </a:r>
            <a:r>
              <a:rPr lang="en-US" altLang="ko-KR" sz="1050" dirty="0">
                <a:latin typeface="Arial" panose="020B0604020202020204" pitchFamily="34" charset="0"/>
                <a:ea typeface="Arial" panose="020B0604020202020204" pitchFamily="34" charset="-128"/>
                <a:cs typeface="Arial" panose="020B0604020202020204" pitchFamily="34" charset="0"/>
              </a:rPr>
              <a:t> 2000 Cd/m</a:t>
            </a:r>
            <a:r>
              <a:rPr lang="en-US" altLang="ko-KR" sz="1050" baseline="30000" dirty="0">
                <a:latin typeface="Arial" panose="020B0604020202020204" pitchFamily="34" charset="0"/>
                <a:ea typeface="Arial" panose="020B0604020202020204" pitchFamily="34" charset="-128"/>
                <a:cs typeface="Arial" panose="020B0604020202020204" pitchFamily="34" charset="0"/>
              </a:rPr>
              <a:t>2</a:t>
            </a:r>
            <a:endParaRPr lang="vi-VN" altLang="ko-KR" sz="1050" baseline="30000" dirty="0">
              <a:latin typeface="Arial" panose="020B0604020202020204" pitchFamily="34" charset="0"/>
              <a:ea typeface="Arial" panose="020B0604020202020204" pitchFamily="34" charset="-128"/>
              <a:cs typeface="Arial" panose="020B0604020202020204" pitchFamily="34" charset="0"/>
            </a:endParaRPr>
          </a:p>
        </p:txBody>
      </p:sp>
      <p:sp>
        <p:nvSpPr>
          <p:cNvPr id="36" name="TextBox 35">
            <a:extLst>
              <a:ext uri="{FF2B5EF4-FFF2-40B4-BE49-F238E27FC236}">
                <a16:creationId xmlns:a16="http://schemas.microsoft.com/office/drawing/2014/main" id="{9E7385E5-B0FF-48A1-8457-CA79A2D0544B}"/>
              </a:ext>
            </a:extLst>
          </p:cNvPr>
          <p:cNvSpPr txBox="1"/>
          <p:nvPr/>
        </p:nvSpPr>
        <p:spPr>
          <a:xfrm>
            <a:off x="34730" y="5599971"/>
            <a:ext cx="9782021" cy="1015663"/>
          </a:xfrm>
          <a:prstGeom prst="rect">
            <a:avLst/>
          </a:prstGeom>
          <a:noFill/>
        </p:spPr>
        <p:txBody>
          <a:bodyPr wrap="square" rtlCol="0">
            <a:spAutoFit/>
          </a:bodyPr>
          <a:lstStyle/>
          <a:p>
            <a:pPr>
              <a:defRPr>
                <a:latin typeface="Arial"/>
              </a:defRPr>
            </a:pPr>
            <a:r>
              <a:rPr>
                <a:latin typeface="Arial"/>
              </a:rPr>
              <a:t>Conclusion: 30 samples tested at 2 stations.</a:t>
            </a:r>
          </a:p>
          <a:p>
            <a:pPr>
              <a:defRPr>
                <a:latin typeface="Arial"/>
              </a:defRPr>
            </a:pPr>
            <a:r>
              <a:rPr>
                <a:latin typeface="Arial"/>
              </a:rPr>
              <a:t>Station 1 Mean: 917.59 Cd/m², Station 2 Mean: 897.21 Cd/m² (Delta = 20.38 Cd/m²).</a:t>
            </a:r>
          </a:p>
          <a:p>
            <a:pPr>
              <a:defRPr>
                <a:latin typeface="Arial"/>
              </a:defRPr>
            </a:pPr>
            <a:r>
              <a:rPr>
                <a:latin typeface="Arial"/>
              </a:rPr>
              <a:t>H0: No difference between Station 1 and Station 2</a:t>
            </a:r>
          </a:p>
          <a:p>
            <a:pPr>
              <a:defRPr>
                <a:latin typeface="Arial"/>
              </a:defRPr>
            </a:pPr>
            <a:r>
              <a:rPr>
                <a:latin typeface="Arial"/>
              </a:rPr>
              <a:t>H1: Difference exists between Station 1 and Station 2</a:t>
            </a:r>
          </a:p>
          <a:p>
            <a:pPr>
              <a:defRPr>
                <a:latin typeface="Arial"/>
              </a:defRPr>
            </a:pPr>
            <a:r>
              <a:rPr>
                <a:latin typeface="Arial"/>
              </a:rPr>
              <a:t>P value = 0.002 ≤ 0.05 --&gt; Reject H0.</a:t>
            </a:r>
          </a:p>
          <a:p>
            <a:pPr>
              <a:defRPr>
                <a:latin typeface="Arial"/>
              </a:defRPr>
            </a:pPr>
            <a:r>
              <a:rPr>
                <a:latin typeface="Arial"/>
              </a:rPr>
              <a:t>--&gt; Significant measurement bias confirmed between Station 1 and Station 2 (Station 2 measures ~20 Cd/m² lower).</a:t>
            </a:r>
          </a:p>
        </p:txBody>
      </p:sp>
      <p:sp>
        <p:nvSpPr>
          <p:cNvPr id="27" name="TextBox 26">
            <a:extLst>
              <a:ext uri="{FF2B5EF4-FFF2-40B4-BE49-F238E27FC236}">
                <a16:creationId xmlns:a16="http://schemas.microsoft.com/office/drawing/2014/main" id="{FE78B3B8-2924-481E-8842-ADE05DED80C1}"/>
              </a:ext>
            </a:extLst>
          </p:cNvPr>
          <p:cNvSpPr txBox="1"/>
          <p:nvPr/>
        </p:nvSpPr>
        <p:spPr>
          <a:xfrm>
            <a:off x="0" y="626425"/>
            <a:ext cx="7687914" cy="253916"/>
          </a:xfrm>
          <a:prstGeom prst="rect">
            <a:avLst/>
          </a:prstGeom>
          <a:noFill/>
        </p:spPr>
        <p:txBody>
          <a:bodyPr wrap="square" rtlCol="0">
            <a:spAutoFit/>
          </a:bodyPr>
          <a:lstStyle/>
          <a:p>
            <a:pPr latinLnBrk="0">
              <a:defRPr>
                <a:latin typeface="Arial"/>
              </a:defRPr>
            </a:pPr>
            <a:r>
              <a:rPr lang="en-US" sz="1050" dirty="0">
                <a:latin typeface="Arial" panose="020B0604020202020204" pitchFamily="34" charset="0"/>
                <a:ea typeface="Arial" panose="020B0604020202020204" pitchFamily="34" charset="-128"/>
                <a:cs typeface="Arial" panose="020B0604020202020204" pitchFamily="34" charset="0"/>
                <a:sym typeface="Wingdings" pitchFamily="2" charset="2"/>
              </a:rPr>
              <a:t>After check Type 1 study, Comparing among 2 stations of Luminance process. </a:t>
            </a:r>
          </a:p>
        </p:txBody>
      </p:sp>
      <p:pic>
        <p:nvPicPr>
          <p:cNvPr id="2" name="Picture 1">
            <a:extLst>
              <a:ext uri="{FF2B5EF4-FFF2-40B4-BE49-F238E27FC236}">
                <a16:creationId xmlns:a16="http://schemas.microsoft.com/office/drawing/2014/main" id="{3987904E-49C2-44F0-A842-54AB4869F41A}"/>
              </a:ext>
            </a:extLst>
          </p:cNvPr>
          <p:cNvPicPr>
            <a:picLocks noChangeAspect="1"/>
          </p:cNvPicPr>
          <p:nvPr/>
        </p:nvPicPr>
        <p:blipFill>
          <a:blip r:embed="rId3"/>
          <a:stretch>
            <a:fillRect/>
          </a:stretch>
        </p:blipFill>
        <p:spPr>
          <a:xfrm>
            <a:off x="2636688" y="960965"/>
            <a:ext cx="3342417" cy="4325482"/>
          </a:xfrm>
          <a:prstGeom prst="rect">
            <a:avLst/>
          </a:prstGeom>
        </p:spPr>
      </p:pic>
      <p:graphicFrame>
        <p:nvGraphicFramePr>
          <p:cNvPr id="4" name="Table 3">
            <a:extLst>
              <a:ext uri="{FF2B5EF4-FFF2-40B4-BE49-F238E27FC236}">
                <a16:creationId xmlns:a16="http://schemas.microsoft.com/office/drawing/2014/main" id="{A95F8E66-B999-4B16-A397-ECFBB8B2E313}"/>
              </a:ext>
            </a:extLst>
          </p:cNvPr>
          <p:cNvGraphicFramePr>
            <a:graphicFrameLocks noGrp="1"/>
          </p:cNvGraphicFramePr>
          <p:nvPr>
            <p:extLst>
              <p:ext uri="{D42A27DB-BD31-4B8C-83A1-F6EECF244321}">
                <p14:modId xmlns:p14="http://schemas.microsoft.com/office/powerpoint/2010/main" val="1792688474"/>
              </p:ext>
            </p:extLst>
          </p:nvPr>
        </p:nvGraphicFramePr>
        <p:xfrm>
          <a:off x="198288" y="1246625"/>
          <a:ext cx="2438400" cy="4272722"/>
        </p:xfrm>
        <a:graphic>
          <a:graphicData uri="http://schemas.openxmlformats.org/drawingml/2006/table">
            <a:tbl>
              <a:tblPr/>
              <a:tblGrid>
                <a:gridCol w="1210301">
                  <a:extLst>
                    <a:ext uri="{9D8B030D-6E8A-4147-A177-3AD203B41FA5}">
                      <a16:colId xmlns:a16="http://schemas.microsoft.com/office/drawing/2014/main" val="307898533"/>
                    </a:ext>
                  </a:extLst>
                </a:gridCol>
                <a:gridCol w="1228099">
                  <a:extLst>
                    <a:ext uri="{9D8B030D-6E8A-4147-A177-3AD203B41FA5}">
                      <a16:colId xmlns:a16="http://schemas.microsoft.com/office/drawing/2014/main" val="655736119"/>
                    </a:ext>
                  </a:extLst>
                </a:gridCol>
              </a:tblGrid>
              <a:tr h="231602">
                <a:tc>
                  <a:txBody>
                    <a:bodyPr/>
                    <a:lstStyle/>
                    <a:p>
                      <a:pPr algn="ctr" fontAlgn="ctr">
                        <a:defRPr>
                          <a:latin typeface="Arial"/>
                        </a:defRPr>
                      </a:pPr>
                      <a:r>
                        <a:rPr lang="en-US" sz="700" b="1" i="0" u="none" strike="noStrike">
                          <a:effectLst/>
                          <a:latin typeface="Arial" panose="020B0604020202020204" pitchFamily="34" charset="0"/>
                        </a:rPr>
                        <a:t>Station 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defRPr>
                          <a:latin typeface="Arial"/>
                        </a:defRPr>
                      </a:pPr>
                      <a:r>
                        <a:rPr lang="en-US" sz="700" b="1" i="0" u="none" strike="noStrike">
                          <a:effectLst/>
                          <a:latin typeface="Arial" panose="020B0604020202020204" pitchFamily="34" charset="0"/>
                        </a:rPr>
                        <a:t>Station 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85297216"/>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891.90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864.43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673086"/>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908.25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902.75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0019459"/>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940.60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924.61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5483114"/>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910.68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893.10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9080495"/>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921.04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910.28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2556284"/>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893.60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885.34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4336398"/>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935.70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896.79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8417878"/>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951.27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911.49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4854873"/>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937.62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930.12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497659"/>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883.52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873.72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1452785"/>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908.00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933.11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8644068"/>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937.93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899.03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2755293"/>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935.27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929.61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8286760"/>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886.15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857.73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5104057"/>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929.40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919.88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7224395"/>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934.00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913.82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4364568"/>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899.24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871.07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5756269"/>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917.44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903.96</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0884834"/>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874.39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851.55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0935398"/>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911.46</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883.16</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0803295"/>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890.79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860.89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5027192"/>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948.47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903.74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2537219"/>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926.02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896.62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257526"/>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944.05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932.64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00843"/>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928.50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933.35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7560542"/>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906.05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901.82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1125240"/>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924.20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838.91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217688"/>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878.30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869.70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4031932"/>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932.50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903.21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3890717"/>
                  </a:ext>
                </a:extLst>
              </a:tr>
              <a:tr h="134704">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941.38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dirty="0">
                          <a:solidFill>
                            <a:srgbClr val="000000"/>
                          </a:solidFill>
                          <a:effectLst/>
                          <a:latin typeface="Arial" panose="020F0502020204030204" pitchFamily="34" charset="0"/>
                        </a:rPr>
                        <a:t>919.98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0850763"/>
                  </a:ext>
                </a:extLst>
              </a:tr>
            </a:tbl>
          </a:graphicData>
        </a:graphic>
      </p:graphicFrame>
      <p:pic>
        <p:nvPicPr>
          <p:cNvPr id="5" name="Picture 4">
            <a:extLst>
              <a:ext uri="{FF2B5EF4-FFF2-40B4-BE49-F238E27FC236}">
                <a16:creationId xmlns:a16="http://schemas.microsoft.com/office/drawing/2014/main" id="{32634A20-0F4B-48F7-A961-2452DB4CD82E}"/>
              </a:ext>
            </a:extLst>
          </p:cNvPr>
          <p:cNvPicPr>
            <a:picLocks noChangeAspect="1"/>
          </p:cNvPicPr>
          <p:nvPr/>
        </p:nvPicPr>
        <p:blipFill>
          <a:blip r:embed="rId4"/>
          <a:stretch>
            <a:fillRect/>
          </a:stretch>
        </p:blipFill>
        <p:spPr>
          <a:xfrm>
            <a:off x="5971827" y="1077174"/>
            <a:ext cx="3182589" cy="2162982"/>
          </a:xfrm>
          <a:prstGeom prst="rect">
            <a:avLst/>
          </a:prstGeom>
        </p:spPr>
      </p:pic>
      <p:pic>
        <p:nvPicPr>
          <p:cNvPr id="9" name="Picture 8">
            <a:extLst>
              <a:ext uri="{FF2B5EF4-FFF2-40B4-BE49-F238E27FC236}">
                <a16:creationId xmlns:a16="http://schemas.microsoft.com/office/drawing/2014/main" id="{E750542D-191C-4C67-9DBF-9C0B275A9FD3}"/>
              </a:ext>
            </a:extLst>
          </p:cNvPr>
          <p:cNvPicPr>
            <a:picLocks noChangeAspect="1"/>
          </p:cNvPicPr>
          <p:nvPr/>
        </p:nvPicPr>
        <p:blipFill>
          <a:blip r:embed="rId5"/>
          <a:stretch>
            <a:fillRect/>
          </a:stretch>
        </p:blipFill>
        <p:spPr>
          <a:xfrm>
            <a:off x="5984248" y="3289525"/>
            <a:ext cx="3084791" cy="2091188"/>
          </a:xfrm>
          <a:prstGeom prst="rect">
            <a:avLst/>
          </a:prstGeom>
        </p:spPr>
      </p:pic>
      <p:cxnSp>
        <p:nvCxnSpPr>
          <p:cNvPr id="16" name="Straight Connector 15">
            <a:extLst>
              <a:ext uri="{FF2B5EF4-FFF2-40B4-BE49-F238E27FC236}">
                <a16:creationId xmlns:a16="http://schemas.microsoft.com/office/drawing/2014/main" id="{E4C20D42-CB99-42D8-B193-D16FD5EB9FC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14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483810" cy="418058"/>
          </a:xfrm>
          <a:prstGeom prst="rect">
            <a:avLst/>
          </a:prstGeom>
        </p:spPr>
        <p:txBody>
          <a:bodyPr vert="horz" lIns="91440" tIns="45720" rIns="91440" bIns="45720" rtlCol="0" anchor="ctr">
            <a:normAutofit/>
          </a:bodyPr>
          <a:lstStyle/>
          <a:p>
            <a:pPr lvl="0" eaLnBrk="0" hangingPunct="0">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2.4</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a:t>
            </a:r>
            <a:r>
              <a:rPr lang="en-US" altLang="ko-KR" sz="1600" b="1" kern="0" dirty="0">
                <a:latin typeface="Arial" panose="020B0606020202030204" pitchFamily="34" charset="0"/>
                <a:ea typeface="Arial" panose="020B0604020202020204" pitchFamily="34" charset="-128"/>
                <a:cs typeface="Arial" panose="020B0604020202020204" pitchFamily="34" charset="0"/>
              </a:rPr>
              <a:t>Type 3 Study</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10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318383"/>
            <a:ext cx="1765227" cy="261610"/>
          </a:xfrm>
          <a:prstGeom prst="rect">
            <a:avLst/>
          </a:prstGeom>
        </p:spPr>
        <p:txBody>
          <a:bodyPr wrap="none">
            <a:spAutoFit/>
          </a:bodyPr>
          <a:lstStyle/>
          <a:p>
            <a:pPr>
              <a:defRPr>
                <a:latin typeface="Arial"/>
              </a:defRPr>
            </a:pPr>
            <a:r>
              <a:rPr lang="en-US" sz="1100" dirty="0">
                <a:latin typeface="Arial" panose="020B0604020202020204" pitchFamily="34" charset="0"/>
                <a:ea typeface="Arial"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746686"/>
            <a:ext cx="9281571" cy="646331"/>
          </a:xfrm>
          <a:prstGeom prst="rect">
            <a:avLst/>
          </a:prstGeom>
          <a:noFill/>
        </p:spPr>
        <p:txBody>
          <a:bodyPr wrap="square" rtlCol="0">
            <a:spAutoFit/>
          </a:bodyPr>
          <a:lstStyle/>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Need to evaluate repeatability and reproducibility. </a:t>
            </a:r>
          </a:p>
          <a:p>
            <a:pPr latinLnBrk="0">
              <a:defRPr>
                <a:latin typeface="Arial"/>
              </a:defRPr>
            </a:pPr>
            <a:r>
              <a:rPr sz="1000" b="0">
                <a:latin typeface="Arial"/>
              </a:rPr>
              <a:t>Because the Luminance station is fully automated with no operator influence, Type 3 Gage Study is used to evaluate equipment repeatability.</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796.95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837.73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786.61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811.78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794.73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833.46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796.58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836.42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838.61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839.58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817.70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810.76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857.9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830.05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837.17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815.12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835.75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828.88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823.98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826.94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834.57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840.14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827.40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839.72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827.69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830.75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839.12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835.42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823.24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839.73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826.32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842.06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825.35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834.01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827.79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834.48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838.87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834.67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837.29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836.61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850.33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786.15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819.42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780.77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755.89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827.29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853.94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spAutoFit/>
          </a:bodyPr>
          <a:lstStyle/>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 Contribution of Gage </a:t>
            </a:r>
            <a:r>
              <a:rPr lang="vi-VN" sz="1200" dirty="0">
                <a:latin typeface="Arial" panose="020B0604020202020204" pitchFamily="34" charset="0"/>
                <a:ea typeface="Arial" panose="020B0604020202020204" pitchFamily="34" charset="-128"/>
                <a:cs typeface="Arial" panose="020B0604020202020204" pitchFamily="34" charset="0"/>
              </a:rPr>
              <a:t>R&amp;R = 7</a:t>
            </a:r>
            <a:r>
              <a:rPr lang="en-US" sz="1200" dirty="0">
                <a:latin typeface="Arial" panose="020B0604020202020204" pitchFamily="34" charset="0"/>
                <a:ea typeface="Arial" panose="020B0604020202020204" pitchFamily="34" charset="-128"/>
                <a:cs typeface="Arial" panose="020B0604020202020204" pitchFamily="34" charset="0"/>
              </a:rPr>
              <a:t>1</a:t>
            </a:r>
            <a:r>
              <a:rPr lang="vi-VN" sz="1200" dirty="0">
                <a:latin typeface="Arial" panose="020B0604020202020204" pitchFamily="34" charset="0"/>
                <a:ea typeface="Arial" panose="020B0604020202020204" pitchFamily="34" charset="-128"/>
                <a:cs typeface="Arial" panose="020B0604020202020204" pitchFamily="34" charset="0"/>
              </a:rPr>
              <a:t>.</a:t>
            </a:r>
            <a:r>
              <a:rPr lang="en-US" sz="1200" dirty="0">
                <a:latin typeface="Arial" panose="020B0604020202020204" pitchFamily="34" charset="0"/>
                <a:ea typeface="Arial" panose="020B0604020202020204" pitchFamily="34" charset="-128"/>
                <a:cs typeface="Arial" panose="020B0604020202020204" pitchFamily="34" charset="0"/>
              </a:rPr>
              <a:t>56</a:t>
            </a:r>
            <a:r>
              <a:rPr lang="vi-VN" sz="1200" dirty="0">
                <a:latin typeface="Arial" panose="020B0604020202020204" pitchFamily="34" charset="0"/>
                <a:ea typeface="Arial" panose="020B0604020202020204" pitchFamily="34" charset="-128"/>
                <a:cs typeface="Arial" panose="020B0604020202020204" pitchFamily="34" charset="0"/>
              </a:rPr>
              <a:t>% &gt; 10% </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NG</a:t>
            </a:r>
          </a:p>
          <a:p>
            <a:pPr marL="171450" indent="-171450" latinLnBrk="0">
              <a:buFont typeface="Arial" panose="020B0604020202020204" pitchFamily="34" charset="0"/>
              <a:buChar char="•"/>
              <a:defRPr>
                <a:latin typeface="Arial"/>
              </a:defRPr>
            </a:pP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Study Var = 8</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4.59</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&gt;</a:t>
            </a:r>
            <a:r>
              <a:rPr lang="vi-VN" sz="1200" dirty="0">
                <a:latin typeface="Arial" panose="020B0604020202020204" pitchFamily="34" charset="0"/>
                <a:ea typeface="Arial" panose="020B0604020202020204" pitchFamily="34" charset="-128"/>
                <a:cs typeface="Arial" panose="020B0604020202020204" pitchFamily="34" charset="0"/>
              </a:rPr>
              <a:t>10%</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 NG</a:t>
            </a:r>
          </a:p>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itchFamily="2" charset="2"/>
              </a:rPr>
              <a:t>% Tolerance = 8.33 &lt; 10% </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OK</a:t>
            </a:r>
          </a:p>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NDC: 1 &lt; 5  </a:t>
            </a:r>
            <a:r>
              <a:rPr lang="vi-VN" sz="1200" dirty="0">
                <a:latin typeface="Arial" panose="020B0604020202020204" pitchFamily="34" charset="0"/>
                <a:ea typeface="Arial"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461665"/>
          </a:xfrm>
          <a:prstGeom prst="rect">
            <a:avLst/>
          </a:prstGeom>
          <a:noFill/>
        </p:spPr>
        <p:txBody>
          <a:bodyPr wrap="square" rtlCol="0">
            <a:spAutoFit/>
          </a:bodyPr>
          <a:lstStyle/>
          <a:p>
            <a:pPr>
              <a:defRPr>
                <a:latin typeface="Arial"/>
              </a:defRPr>
            </a:pPr>
            <a:r>
              <a:rPr>
                <a:latin typeface="Arial"/>
              </a:rPr>
              <a:t>Conclusion: %Contrib (71.56%) and %Study Var (84.59%) severely exceed the 10% threshold. NDC = 1 (&lt; 5). Station 2 measurement system is NOT CAPABLE for decision making and requires immediate root cause analysis.</a:t>
            </a: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latin typeface="Arial"/>
              </a:defRPr>
            </a:pPr>
            <a:r>
              <a:rPr lang="en-US" altLang="ko-KR" sz="1600" b="1" kern="0" dirty="0">
                <a:solidFill>
                  <a:srgbClr val="000000"/>
                </a:solidFill>
                <a:latin typeface="Arial" panose="020B0606020202030204" pitchFamily="34" charset="0"/>
                <a:ea typeface="Arial" pitchFamily="34" charset="-127"/>
              </a:rPr>
              <a:t>3.1 Find the Root Cause that making measurement system have problems</a:t>
            </a:r>
            <a:endParaRPr lang="ko-KR" altLang="en-US" sz="1600" b="1" kern="0" dirty="0">
              <a:solidFill>
                <a:srgbClr val="000000"/>
              </a:solidFill>
              <a:latin typeface="Arial" panose="020B0606020202030204" pitchFamily="34" charset="0"/>
              <a:ea typeface="Arial"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689185" y="7103351"/>
            <a:ext cx="2133600" cy="198047"/>
          </a:xfrm>
        </p:spPr>
        <p:txBody>
          <a:bodyPr/>
          <a:lstStyle/>
          <a:p>
            <a:pPr algn="ctr">
              <a:defRPr>
                <a:latin typeface="Arial"/>
              </a:defRPr>
            </a:pPr>
            <a:r>
              <a:rPr sz="1000" b="0">
                <a:latin typeface="Arial"/>
              </a:rPr>
              <a:t>11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4114800" cy="304800"/>
          </a:xfrm>
          <a:prstGeom prst="rect">
            <a:avLst/>
          </a:prstGeom>
          <a:noFill/>
          <a:ln w="9525" algn="ctr">
            <a:noFill/>
            <a:miter lim="800000"/>
            <a:headEnd/>
            <a:tailEnd/>
          </a:ln>
        </p:spPr>
        <p:txBody>
          <a:bodyPr lIns="84374" tIns="42187" rIns="84374" bIns="42187" anchor="ctr"/>
          <a:lstStyle/>
          <a:p>
            <a:pPr defTabSz="844083" fontAlgn="base" latinLnBrk="1">
              <a:spcBef>
                <a:spcPct val="0"/>
              </a:spcBef>
              <a:spcAft>
                <a:spcPct val="0"/>
              </a:spcAft>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Station 2</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357885" cy="369332"/>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a:defRPr>
                <a:latin typeface="Arial"/>
              </a:defRPr>
            </a:pPr>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Arial" panose="020B0600000101010101" pitchFamily="34" charset="-127"/>
              <a:ea typeface="Arial"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a:defRPr>
                <a:latin typeface="Arial"/>
              </a:defRPr>
            </a:pPr>
            <a:r>
              <a:rPr>
                <a:latin typeface="Arial"/>
              </a:rPr>
              <a:t>After checking Type 1 &amp; Type 3, Station 2 showed severe measurement errors. Logic tree used to screen root cause.</a:t>
            </a:r>
          </a:p>
          <a:p>
            <a:pPr>
              <a:defRPr>
                <a:latin typeface="Arial"/>
              </a:defRPr>
            </a:pPr>
            <a:r>
              <a:rPr>
                <a:latin typeface="Arial"/>
              </a:rPr>
              <a:t>(Note: Ambient light, fixture variation, and LCD part variation were controlled/screened out in dark chamber setup).</a:t>
            </a: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spid="_x0000_s26802" name="Presentation" showAsIcon="1" r:id="rId4" imgW="914400" imgH="771792" progId="PowerPoint.Show.12">
                  <p:embed/>
                </p:oleObj>
              </mc:Choice>
              <mc:Fallback>
                <p:oleObj name="Presentation" showAsIcon="1" r:id="rId4" imgW="914400" imgH="771792" progId="PowerPoint.Show.12">
                  <p:embed/>
                  <p:pic>
                    <p:nvPicPr>
                      <p:cNvPr id="0" name=""/>
                      <p:cNvPicPr/>
                      <p:nvPr/>
                    </p:nvPicPr>
                    <p:blipFill>
                      <a:blip r:embed="rId5"/>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spid="_x0000_s26803" name="Presentation" showAsIcon="1" r:id="rId6" imgW="914400" imgH="771792" progId="PowerPoint.Show.12">
                  <p:embed/>
                </p:oleObj>
              </mc:Choice>
              <mc:Fallback>
                <p:oleObj name="Presentation" showAsIcon="1" r:id="rId6" imgW="914400" imgH="771792" progId="PowerPoint.Show.12">
                  <p:embed/>
                  <p:pic>
                    <p:nvPicPr>
                      <p:cNvPr id="0" name=""/>
                      <p:cNvPicPr/>
                      <p:nvPr/>
                    </p:nvPicPr>
                    <p:blipFill>
                      <a:blip r:embed="rId7"/>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Can 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Can 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algn="ctr" fontAlgn="auto">
              <a:spcBef>
                <a:spcPts val="0"/>
              </a:spcBef>
              <a:spcAft>
                <a:spcPts val="0"/>
              </a:spcAft>
              <a:defRPr>
                <a:latin typeface="Arial"/>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 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latin typeface="Arial"/>
              </a:defRPr>
            </a:pPr>
            <a:r>
              <a:rPr>
                <a:latin typeface="Arial"/>
              </a:rPr>
              <a:t>3.1 Find the Root cause of measurement system failure</a:t>
            </a:r>
            <a:endParaRPr lang="ko-KR" altLang="en-US" sz="1600" b="1" kern="0" dirty="0">
              <a:solidFill>
                <a:srgbClr val="000000"/>
              </a:solidFill>
              <a:latin typeface="Arial" panose="020B0606020202030204" pitchFamily="34" charset="0"/>
              <a:ea typeface="Arial"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a:defRPr>
                <a:latin typeface="Arial"/>
              </a:defRPr>
            </a:pPr>
            <a:r>
              <a:rPr sz="1000" b="0">
                <a:latin typeface="Arial"/>
              </a:rPr>
              <a:t>12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a:defRPr>
                <a:latin typeface="Arial"/>
              </a:defRPr>
            </a:pPr>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Arial" panose="020B0600000101010101" pitchFamily="34" charset="-127"/>
              <a:ea typeface="Arial"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391772" cy="374589"/>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094186">
                  <a:extLst>
                    <a:ext uri="{9D8B030D-6E8A-4147-A177-3AD203B41FA5}">
                      <a16:colId xmlns:a16="http://schemas.microsoft.com/office/drawing/2014/main" val="4121057302"/>
                    </a:ext>
                  </a:extLst>
                </a:gridCol>
                <a:gridCol w="569929">
                  <a:extLst>
                    <a:ext uri="{9D8B030D-6E8A-4147-A177-3AD203B41FA5}">
                      <a16:colId xmlns:a16="http://schemas.microsoft.com/office/drawing/2014/main" val="1649521796"/>
                    </a:ext>
                  </a:extLst>
                </a:gridCol>
                <a:gridCol w="942128">
                  <a:extLst>
                    <a:ext uri="{9D8B030D-6E8A-4147-A177-3AD203B41FA5}">
                      <a16:colId xmlns:a16="http://schemas.microsoft.com/office/drawing/2014/main" val="6004670"/>
                    </a:ext>
                  </a:extLst>
                </a:gridCol>
              </a:tblGrid>
              <a:tr h="532635">
                <a:tc>
                  <a:txBody>
                    <a:bodyPr/>
                    <a:lstStyle/>
                    <a:p>
                      <a:pPr algn="ctr" rtl="0" fontAlgn="ctr">
                        <a:defRPr>
                          <a:latin typeface="Arial"/>
                        </a:defRPr>
                      </a:pPr>
                      <a:r>
                        <a:rPr lang="en-US" sz="800" b="1" i="0" u="none" strike="noStrike">
                          <a:solidFill>
                            <a:srgbClr val="000000"/>
                          </a:solidFill>
                          <a:effectLst/>
                          <a:latin typeface="Arial" panose="020F0502020204030204" pitchFamily="34" charset="0"/>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800" b="1" i="0" u="none" strike="noStrike">
                          <a:solidFill>
                            <a:srgbClr val="000000"/>
                          </a:solidFill>
                          <a:effectLst/>
                          <a:latin typeface="Arial" panose="020F0502020204030204" pitchFamily="34" charset="0"/>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800" b="1" i="0" u="none" strike="noStrike">
                          <a:solidFill>
                            <a:srgbClr val="000000"/>
                          </a:solidFill>
                          <a:effectLst/>
                          <a:latin typeface="Arial" panose="020F0502020204030204" pitchFamily="34" charset="0"/>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800" b="1" i="0" u="none" strike="noStrike">
                          <a:solidFill>
                            <a:srgbClr val="000000"/>
                          </a:solidFill>
                          <a:effectLst/>
                          <a:latin typeface="Arial" panose="020F0502020204030204" pitchFamily="34" charset="0"/>
                        </a:rPr>
                        <a:t>Station</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800" b="1" i="0" u="none" strike="noStrike">
                          <a:solidFill>
                            <a:srgbClr val="000000"/>
                          </a:solidFill>
                          <a:effectLst/>
                          <a:latin typeface="Arial" panose="020F0502020204030204" pitchFamily="34" charset="0"/>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CAN 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Checking luminance value before /after change to new CAN 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Station 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Station 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Station 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latin typeface="Arial"/>
              </a:defRPr>
            </a:pPr>
            <a:r>
              <a:rPr>
                <a:latin typeface="Arial"/>
              </a:rPr>
              <a:t>3.1 Find the Root cause of measurement system failure</a:t>
            </a:r>
            <a:endParaRPr lang="ko-KR" altLang="en-US" sz="1600" b="1" kern="0" dirty="0">
              <a:solidFill>
                <a:srgbClr val="000000"/>
              </a:solidFill>
              <a:latin typeface="Arial" panose="020B0606020202030204" pitchFamily="34" charset="0"/>
              <a:ea typeface="Arial"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a:defRPr>
                <a:latin typeface="Arial"/>
              </a:defRPr>
            </a:pPr>
            <a:r>
              <a:rPr sz="1000" b="0">
                <a:latin typeface="Arial"/>
              </a:rPr>
              <a:t>13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813638"/>
            <a:ext cx="8581114" cy="304800"/>
          </a:xfrm>
          <a:prstGeom prst="rect">
            <a:avLst/>
          </a:prstGeom>
          <a:noFill/>
          <a:ln w="9525" algn="ctr">
            <a:noFill/>
            <a:miter lim="800000"/>
            <a:headEnd/>
            <a:tailEnd/>
          </a:ln>
        </p:spPr>
        <p:txBody>
          <a:bodyPr lIns="84374" tIns="42187" rIns="84374" bIns="42187" anchor="ctr"/>
          <a:lstStyle/>
          <a:p>
            <a:pPr marL="228600" indent="-228600" defTabSz="844083" fontAlgn="base" latinLnBrk="1">
              <a:spcBef>
                <a:spcPct val="0"/>
              </a:spcBef>
              <a:spcAft>
                <a:spcPct val="0"/>
              </a:spcAft>
              <a:buFont typeface="Wingdings" panose="05000000000000000000" pitchFamily="2" charset="2"/>
              <a:buChar char="§"/>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Station 2_Change to the new CANSIM</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a:latin typeface="Arial"/>
              </a:rPr>
              <a:t>H0: The changing CANSIM does not affect in the luminance in station 2</a:t>
            </a:r>
          </a:p>
          <a:p>
            <a:pPr fontAlgn="auto">
              <a:spcBef>
                <a:spcPts val="0"/>
              </a:spcBef>
              <a:spcAft>
                <a:spcPts val="0"/>
              </a:spcAft>
              <a:defRPr>
                <a:latin typeface="Arial"/>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H1: Changing the CANSIM affects the luminance in station 2</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sz="1100" b="0">
                <a:latin typeface="Arial"/>
              </a:rPr>
              <a:t>P-value = 0.695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568722"/>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sz="1100" b="0">
                <a:latin typeface="Arial"/>
              </a:rPr>
              <a:t>Changing CANSIM has no significant effect on luminance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latin typeface="Arial"/>
              </a:defRPr>
            </a:pPr>
            <a:r>
              <a:rPr>
                <a:latin typeface="Arial"/>
              </a:rPr>
              <a:t>3.1 Find the Root cause of measurement system failure</a:t>
            </a:r>
            <a:endParaRPr lang="ko-KR" altLang="en-US" sz="1600" b="1" kern="0" dirty="0">
              <a:solidFill>
                <a:srgbClr val="000000"/>
              </a:solidFill>
              <a:latin typeface="Arial" panose="020B0606020202030204" pitchFamily="34" charset="0"/>
              <a:ea typeface="Arial"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a:defRPr>
                <a:latin typeface="Arial"/>
              </a:defRPr>
            </a:pPr>
            <a:r>
              <a:rPr sz="1000" b="0">
                <a:latin typeface="Arial"/>
              </a:rPr>
              <a:t>14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813638"/>
            <a:ext cx="8581114" cy="304800"/>
          </a:xfrm>
          <a:prstGeom prst="rect">
            <a:avLst/>
          </a:prstGeom>
          <a:noFill/>
          <a:ln w="9525" algn="ctr">
            <a:noFill/>
            <a:miter lim="800000"/>
            <a:headEnd/>
            <a:tailEnd/>
          </a:ln>
        </p:spPr>
        <p:txBody>
          <a:bodyPr lIns="84374" tIns="42187" rIns="84374" bIns="42187" anchor="ctr"/>
          <a:lstStyle/>
          <a:p>
            <a:pPr marL="228600" indent="-228600" defTabSz="844083" fontAlgn="base" latinLnBrk="1">
              <a:spcBef>
                <a:spcPct val="0"/>
              </a:spcBef>
              <a:spcAft>
                <a:spcPct val="0"/>
              </a:spcAft>
              <a:buFont typeface="Wingdings" panose="05000000000000000000" pitchFamily="2" charset="2"/>
              <a:buChar char="§"/>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Station 2_Change to the new camera</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a:latin typeface="Arial"/>
              </a:rPr>
              <a:t>H0: The changing new camera does not affect in the luminance in station 2</a:t>
            </a:r>
          </a:p>
          <a:p>
            <a:pPr fontAlgn="auto">
              <a:spcBef>
                <a:spcPts val="0"/>
              </a:spcBef>
              <a:spcAft>
                <a:spcPts val="0"/>
              </a:spcAft>
              <a:defRPr>
                <a:latin typeface="Arial"/>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H1: Changing the new camera affects luminance in station 2</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Since the P-Value before and after the changing new camera does not normally distributed</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sz="1100" b="0">
                <a:latin typeface="Arial"/>
              </a:rPr>
              <a:t>P-value = 0.950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sz="1100" b="0">
                <a:latin typeface="Arial"/>
              </a:rPr>
              <a:t>Changing camera has no significant effect on luminance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latin typeface="Arial"/>
              </a:defRPr>
            </a:pPr>
            <a:r>
              <a:rPr>
                <a:latin typeface="Arial"/>
              </a:rPr>
              <a:t>3.1 Find the Root cause of measurement system failure</a:t>
            </a:r>
            <a:endParaRPr lang="ko-KR" altLang="en-US" sz="1600" b="1" kern="0" dirty="0">
              <a:solidFill>
                <a:srgbClr val="000000"/>
              </a:solidFill>
              <a:latin typeface="Arial" panose="020B0606020202030204" pitchFamily="34" charset="0"/>
              <a:ea typeface="Arial"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a:defRPr>
                <a:latin typeface="Arial"/>
              </a:defRPr>
            </a:pPr>
            <a:r>
              <a:rPr sz="1000" b="0">
                <a:latin typeface="Arial"/>
              </a:rPr>
              <a:t>15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a:defRPr>
                <a:latin typeface="Arial"/>
              </a:defRPr>
            </a:pPr>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Arial" panose="020B0600000101010101" pitchFamily="34" charset="-127"/>
              <a:ea typeface="Arial"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391772" cy="374589"/>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813638"/>
            <a:ext cx="8581114" cy="304800"/>
          </a:xfrm>
          <a:prstGeom prst="rect">
            <a:avLst/>
          </a:prstGeom>
          <a:noFill/>
          <a:ln w="9525" algn="ctr">
            <a:noFill/>
            <a:miter lim="800000"/>
            <a:headEnd/>
            <a:tailEnd/>
          </a:ln>
        </p:spPr>
        <p:txBody>
          <a:bodyPr lIns="84374" tIns="42187" rIns="84374" bIns="42187" anchor="ctr"/>
          <a:lstStyle/>
          <a:p>
            <a:pPr marL="228600" indent="-228600" defTabSz="844083">
              <a:buFont typeface="Wingdings" panose="05000000000000000000" pitchFamily="2" charset="2"/>
              <a:buChar char="§"/>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Station 2_Change to the angle of Camera</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a:latin typeface="Arial"/>
              </a:rPr>
              <a:t>H0: The changing angle does not affect in the luminance in station 2</a:t>
            </a:r>
          </a:p>
          <a:p>
            <a:pPr fontAlgn="auto">
              <a:spcBef>
                <a:spcPts val="0"/>
              </a:spcBef>
              <a:spcAft>
                <a:spcPts val="0"/>
              </a:spcAft>
              <a:defRPr>
                <a:latin typeface="Arial"/>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H1: Changing angle affects the luminance in station 2</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sz="1100" b="1">
                <a:latin typeface="Arial"/>
              </a:rPr>
              <a:t>Changing camera angle significantly affects luminance -&gt;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r>
              <a:rPr sz="1100" b="0">
                <a:latin typeface="Arial"/>
              </a:rPr>
              <a:t>P-value = 0.000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Arial"/>
                <a:ea typeface="Arial"/>
                <a:cs typeface="Arial"/>
              </a:defRPr>
            </a:lvl1pPr>
            <a:lvl2pPr marL="457200" algn="l" defTabSz="914400" rtl="0" eaLnBrk="1" latinLnBrk="0" hangingPunct="1">
              <a:defRPr sz="1800" kern="1200">
                <a:solidFill>
                  <a:schemeClr val="lt1"/>
                </a:solidFill>
                <a:latin typeface="Arial"/>
                <a:ea typeface="Arial"/>
                <a:cs typeface="Arial"/>
              </a:defRPr>
            </a:lvl2pPr>
            <a:lvl3pPr marL="914400" algn="l" defTabSz="914400" rtl="0" eaLnBrk="1" latinLnBrk="0" hangingPunct="1">
              <a:defRPr sz="1800" kern="1200">
                <a:solidFill>
                  <a:schemeClr val="lt1"/>
                </a:solidFill>
                <a:latin typeface="Arial"/>
                <a:ea typeface="Arial"/>
                <a:cs typeface="Arial"/>
              </a:defRPr>
            </a:lvl3pPr>
            <a:lvl4pPr marL="1371600" algn="l" defTabSz="914400" rtl="0" eaLnBrk="1" latinLnBrk="0" hangingPunct="1">
              <a:defRPr sz="1800" kern="1200">
                <a:solidFill>
                  <a:schemeClr val="lt1"/>
                </a:solidFill>
                <a:latin typeface="Arial"/>
                <a:ea typeface="Arial"/>
                <a:cs typeface="Arial"/>
              </a:defRPr>
            </a:lvl4pPr>
            <a:lvl5pPr marL="1828800" algn="l" defTabSz="914400" rtl="0" eaLnBrk="1" latinLnBrk="0" hangingPunct="1">
              <a:defRPr sz="1800" kern="1200">
                <a:solidFill>
                  <a:schemeClr val="lt1"/>
                </a:solidFill>
                <a:latin typeface="Arial"/>
                <a:ea typeface="Arial"/>
                <a:cs typeface="Arial"/>
              </a:defRPr>
            </a:lvl5pPr>
            <a:lvl6pPr marL="2286000" algn="l" defTabSz="914400" rtl="0" eaLnBrk="1" latinLnBrk="0" hangingPunct="1">
              <a:defRPr sz="1800" kern="1200">
                <a:solidFill>
                  <a:schemeClr val="lt1"/>
                </a:solidFill>
                <a:latin typeface="Arial"/>
                <a:ea typeface="Arial"/>
                <a:cs typeface="Arial"/>
              </a:defRPr>
            </a:lvl6pPr>
            <a:lvl7pPr marL="2743200" algn="l" defTabSz="914400" rtl="0" eaLnBrk="1" latinLnBrk="0" hangingPunct="1">
              <a:defRPr sz="1800" kern="1200">
                <a:solidFill>
                  <a:schemeClr val="lt1"/>
                </a:solidFill>
                <a:latin typeface="Arial"/>
                <a:ea typeface="Arial"/>
                <a:cs typeface="Arial"/>
              </a:defRPr>
            </a:lvl7pPr>
            <a:lvl8pPr marL="3200400" algn="l" defTabSz="914400" rtl="0" eaLnBrk="1" latinLnBrk="0" hangingPunct="1">
              <a:defRPr sz="1800" kern="1200">
                <a:solidFill>
                  <a:schemeClr val="lt1"/>
                </a:solidFill>
                <a:latin typeface="Arial"/>
                <a:ea typeface="Arial"/>
                <a:cs typeface="Arial"/>
              </a:defRPr>
            </a:lvl8pPr>
            <a:lvl9pPr marL="3657600" algn="l" defTabSz="914400" rtl="0" eaLnBrk="1" latinLnBrk="0" hangingPunct="1">
              <a:defRPr sz="1800" kern="1200">
                <a:solidFill>
                  <a:schemeClr val="lt1"/>
                </a:solidFill>
                <a:latin typeface="Arial"/>
                <a:ea typeface="Arial"/>
                <a:cs typeface="Arial"/>
              </a:defRPr>
            </a:lvl9pPr>
          </a:lstStyle>
          <a:p>
            <a:pPr fontAlgn="auto">
              <a:spcBef>
                <a:spcPts val="0"/>
              </a:spcBef>
              <a:spcAft>
                <a:spcPts val="0"/>
              </a:spcAft>
              <a:defRPr>
                <a:latin typeface="Arial"/>
              </a:defRPr>
            </a:pP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latin typeface="Arial"/>
              </a:defRPr>
            </a:pPr>
            <a:r>
              <a:rPr>
                <a:latin typeface="Arial"/>
              </a:rPr>
              <a:t>3.1 Find the Root cause of measurement system failure</a:t>
            </a:r>
            <a:endParaRPr lang="ko-KR" altLang="en-US" sz="1600" b="1" kern="0" dirty="0">
              <a:solidFill>
                <a:srgbClr val="000000"/>
              </a:solidFill>
              <a:latin typeface="Arial" panose="020B0606020202030204" pitchFamily="34" charset="0"/>
              <a:ea typeface="Arial"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a:defRPr>
                <a:latin typeface="Arial"/>
              </a:defRPr>
            </a:pPr>
            <a:r>
              <a:rPr sz="1000" b="0">
                <a:latin typeface="Arial"/>
              </a:rPr>
              <a:t>16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a:defRPr>
                <a:latin typeface="Arial"/>
              </a:defRPr>
            </a:pPr>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Arial" panose="020B0600000101010101" pitchFamily="34" charset="-127"/>
              <a:ea typeface="Arial"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391772" cy="374589"/>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latin typeface="Arial"/>
              </a:defRPr>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008474" y="2262358"/>
            <a:ext cx="391772" cy="374589"/>
          </a:xfrm>
          <a:prstGeom prst="rect">
            <a:avLst/>
          </a:prstGeom>
          <a:noFill/>
        </p:spPr>
        <p:txBody>
          <a:bodyPr wrap="square" rtlCol="0">
            <a:spAutoFit/>
          </a:bodyPr>
          <a:lstStyle/>
          <a:p>
            <a:pPr>
              <a:defRPr>
                <a:latin typeface="Arial"/>
              </a:defRPr>
            </a:pPr>
            <a:r>
              <a:rPr lang="en-US" b="1" dirty="0" sz="100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Arial" panose="020B0600000101010101" pitchFamily="34" charset="-127"/>
              <a:ea typeface="Arial"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659449474"/>
              </p:ext>
            </p:extLst>
          </p:nvPr>
        </p:nvGraphicFramePr>
        <p:xfrm>
          <a:off x="281227" y="976320"/>
          <a:ext cx="9243773" cy="1690680"/>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425061">
                  <a:extLst>
                    <a:ext uri="{9D8B030D-6E8A-4147-A177-3AD203B41FA5}">
                      <a16:colId xmlns:a16="http://schemas.microsoft.com/office/drawing/2014/main" val="2242494846"/>
                    </a:ext>
                  </a:extLst>
                </a:gridCol>
                <a:gridCol w="476784">
                  <a:extLst>
                    <a:ext uri="{9D8B030D-6E8A-4147-A177-3AD203B41FA5}">
                      <a16:colId xmlns:a16="http://schemas.microsoft.com/office/drawing/2014/main" val="1351166837"/>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Station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defRPr>
                          <a:latin typeface="Arial"/>
                        </a:defRPr>
                      </a:pPr>
                      <a:r>
                        <a:rPr lang="en-US" sz="600" b="1" i="0" u="none" strike="noStrike">
                          <a:solidFill>
                            <a:srgbClr val="000000"/>
                          </a:solidFill>
                          <a:effectLst/>
                          <a:latin typeface="Arial" panose="020F0502020204030204" pitchFamily="34" charset="0"/>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CAN 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Checking luminance value before /after change to new CAN 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Station 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dirty="0">
                          <a:solidFill>
                            <a:srgbClr val="000000"/>
                          </a:solidFill>
                          <a:effectLst/>
                          <a:latin typeface="Arial" panose="020F0502020204030204" pitchFamily="34" charset="0"/>
                        </a:rPr>
                        <a:t>0.695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Station 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dirty="0">
                          <a:solidFill>
                            <a:srgbClr val="000000"/>
                          </a:solidFill>
                          <a:effectLst/>
                          <a:latin typeface="Arial" panose="020F0502020204030204" pitchFamily="34" charset="0"/>
                        </a:rPr>
                        <a:t>0.950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422670">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dirty="0">
                          <a:solidFill>
                            <a:srgbClr val="000000"/>
                          </a:solidFill>
                          <a:effectLst/>
                          <a:latin typeface="Arial" panose="020F0502020204030204" pitchFamily="34" charset="0"/>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dirty="0">
                          <a:solidFill>
                            <a:srgbClr val="000000"/>
                          </a:solidFill>
                          <a:effectLst/>
                          <a:latin typeface="Arial" panose="020F0502020204030204" pitchFamily="34" charset="0"/>
                        </a:rPr>
                        <a:t>Station 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a:solidFill>
                            <a:srgbClr val="000000"/>
                          </a:solidFill>
                          <a:effectLst/>
                          <a:latin typeface="Arial" panose="020F0502020204030204" pitchFamily="34" charset="0"/>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800" b="0" i="0" u="none" strike="noStrike" dirty="0">
                          <a:solidFill>
                            <a:srgbClr val="000000"/>
                          </a:solidFill>
                          <a:effectLst/>
                          <a:latin typeface="Arial" panose="020F0502020204030204" pitchFamily="34" charset="0"/>
                        </a:rPr>
                        <a:t> 0.00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defRPr>
                          <a:latin typeface="Arial"/>
                        </a:defRPr>
                      </a:pPr>
                      <a:r>
                        <a:rPr sz="1000" b="1">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fontAlgn="auto">
              <a:spcBef>
                <a:spcPts val="0"/>
              </a:spcBef>
              <a:spcAft>
                <a:spcPts val="0"/>
              </a:spcAft>
              <a:defRPr>
                <a:latin typeface="Arial"/>
              </a:defRPr>
            </a:pPr>
            <a:endParaRPr kumimoji="0" lang="zh-CN" altLang="zh-CN" b="1" kern="0"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5975350"/>
          </a:xfrm>
          <a:prstGeom prst="rect">
            <a:avLst/>
          </a:prstGeom>
          <a:noFill/>
          <a:ln w="9525">
            <a:solidFill>
              <a:srgbClr val="5F5F5F"/>
            </a:solidFill>
            <a:miter lim="800000"/>
            <a:headEnd/>
            <a:tailEnd/>
          </a:ln>
        </p:spPr>
        <p:txBody>
          <a:bodyPr wrap="none" lIns="91311" tIns="45659" rIns="91311" bIns="45659" anchor="ctr"/>
          <a:lstStyle/>
          <a:p>
            <a:pPr fontAlgn="auto">
              <a:spcBef>
                <a:spcPts val="0"/>
              </a:spcBef>
              <a:spcAft>
                <a:spcPts val="0"/>
              </a:spcAft>
              <a:defRPr>
                <a:latin typeface="Arial"/>
              </a:defRPr>
            </a:pPr>
            <a:endParaRPr kumimoji="0" lang="zh-CN" altLang="zh-CN" sz="1700"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fontAlgn="auto">
              <a:lnSpc>
                <a:spcPts val="15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Easy Working:                    </a:t>
            </a:r>
            <a:r>
              <a:rPr lang="en-US" altLang="zh-CN" sz="1000" u="sng" dirty="0">
                <a:solidFill>
                  <a:prstClr val="black"/>
                </a:solidFill>
                <a:latin typeface="Arial" panose="020B0600000101010101" pitchFamily="34" charset="-127"/>
                <a:ea typeface="Arial" panose="020B0600000101010101" pitchFamily="34" charset="-127"/>
                <a:cs typeface="Arial" pitchFamily="34" charset="0"/>
              </a:rPr>
              <a:t>√</a:t>
            </a:r>
            <a:endParaRPr kumimoji="0" lang="en-US" altLang="zh-CN" sz="1000" u="sng" dirty="0">
              <a:solidFill>
                <a:prstClr val="black"/>
              </a:solidFill>
              <a:latin typeface="Arial" panose="020B0600000101010101" pitchFamily="34" charset="-127"/>
              <a:ea typeface="Arial" panose="020B0600000101010101" pitchFamily="34" charset="-127"/>
              <a:cs typeface="Arial" pitchFamily="34" charset="0"/>
            </a:endParaRPr>
          </a:p>
          <a:p>
            <a:pPr fontAlgn="auto">
              <a:lnSpc>
                <a:spcPts val="15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Difficulty Working:</a:t>
            </a:r>
          </a:p>
          <a:p>
            <a:pPr fontAlgn="auto">
              <a:lnSpc>
                <a:spcPts val="15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Impossible Working:</a:t>
            </a:r>
            <a:endParaRPr kumimoji="0" lang="en-US" altLang="zh-CN" sz="1000" u="sng" dirty="0">
              <a:solidFill>
                <a:prstClr val="black"/>
              </a:solidFill>
              <a:latin typeface="Arial" panose="020B0600000101010101" pitchFamily="34" charset="-127"/>
              <a:ea typeface="Arial" panose="020B0600000101010101" pitchFamily="34" charset="-127"/>
              <a:cs typeface="Arial" pitchFamily="34" charset="0"/>
            </a:endParaRPr>
          </a:p>
          <a:p>
            <a:pPr fontAlgn="auto">
              <a:lnSpc>
                <a:spcPts val="15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1304769"/>
          </a:xfrm>
          <a:prstGeom prst="rect">
            <a:avLst/>
          </a:prstGeom>
          <a:noFill/>
          <a:ln w="9525">
            <a:noFill/>
            <a:miter lim="800000"/>
            <a:headEnd/>
            <a:tailEnd/>
          </a:ln>
        </p:spPr>
        <p:txBody>
          <a:bodyPr wrap="square" lIns="91429" tIns="45714" rIns="91429" bIns="45714">
            <a:spAutoFit/>
          </a:bodyPr>
          <a:lstStyle/>
          <a:p>
            <a:pPr fontAlgn="auto">
              <a:lnSpc>
                <a:spcPts val="1600"/>
              </a:lnSpc>
              <a:spcBef>
                <a:spcPts val="0"/>
              </a:spcBef>
              <a:spcAft>
                <a:spcPts val="0"/>
              </a:spcAft>
              <a:buFont typeface="Wingdings" pitchFamily="2" charset="2"/>
              <a:buChar char="p"/>
              <a:defRPr>
                <a:latin typeface="Arial"/>
              </a:defRPr>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fontAlgn="auto">
              <a:lnSpc>
                <a:spcPts val="16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a:p>
            <a:pPr fontAlgn="auto">
              <a:lnSpc>
                <a:spcPts val="1600"/>
              </a:lnSpc>
              <a:spcBef>
                <a:spcPts val="0"/>
              </a:spcBef>
              <a:spcAft>
                <a:spcPts val="0"/>
              </a:spcAft>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t>
            </a:r>
          </a:p>
          <a:p>
            <a:pPr fontAlgn="auto">
              <a:lnSpc>
                <a:spcPts val="1600"/>
              </a:lnSpc>
              <a:spcBef>
                <a:spcPts val="0"/>
              </a:spcBef>
              <a:spcAft>
                <a:spcPts val="0"/>
              </a:spcAft>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fontAlgn="auto">
              <a:spcBef>
                <a:spcPts val="0"/>
              </a:spcBef>
              <a:spcAft>
                <a:spcPts val="0"/>
              </a:spcAft>
              <a:defRPr>
                <a:latin typeface="Arial"/>
              </a:defRPr>
            </a:pPr>
            <a:endParaRPr kumimoji="0" lang="ko-KR" altLang="en-US" sz="900"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fontAlgn="auto">
              <a:spcBef>
                <a:spcPts val="0"/>
              </a:spcBef>
              <a:spcAft>
                <a:spcPts val="0"/>
              </a:spcAft>
              <a:defRPr>
                <a:latin typeface="Arial"/>
              </a:defRPr>
            </a:pPr>
            <a:endParaRPr kumimoji="0" lang="ko-KR" altLang="en-US" sz="1000" dirty="0">
              <a:solidFill>
                <a:prstClr val="black"/>
              </a:solidFill>
              <a:latin typeface="Arial" panose="020B0600000101010101" pitchFamily="34" charset="-127"/>
              <a:ea typeface="Arial"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618909"/>
            <a:ext cx="3113682" cy="1118243"/>
          </a:xfrm>
          <a:prstGeom prst="rect">
            <a:avLst/>
          </a:prstGeom>
          <a:noFill/>
          <a:ln w="9525">
            <a:noFill/>
            <a:miter lim="800000"/>
            <a:headEnd/>
            <a:tailEnd/>
          </a:ln>
        </p:spPr>
        <p:txBody>
          <a:bodyPr wrap="square" lIns="91429" tIns="45714" rIns="91429" bIns="45714" anchor="ctr">
            <a:spAutoFit/>
          </a:bodyPr>
          <a:lstStyle/>
          <a:p>
            <a:pPr fontAlgn="auto">
              <a:lnSpc>
                <a:spcPts val="16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Date: Feb-</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2024</a:t>
            </a:r>
            <a:endParaRPr kumimoji="0" lang="en-US" altLang="zh-CN" sz="1000" dirty="0">
              <a:solidFill>
                <a:prstClr val="black"/>
              </a:solidFill>
              <a:latin typeface="Arial" panose="020B0600000101010101" pitchFamily="34" charset="-127"/>
              <a:ea typeface="Arial" panose="020B0600000101010101" pitchFamily="34" charset="-127"/>
              <a:cs typeface="Arial" pitchFamily="34" charset="0"/>
            </a:endParaRPr>
          </a:p>
          <a:p>
            <a:pPr fontAlgn="auto">
              <a:lnSpc>
                <a:spcPts val="16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fontAlgn="auto">
              <a:lnSpc>
                <a:spcPts val="1600"/>
              </a:lnSpc>
              <a:spcBef>
                <a:spcPts val="0"/>
              </a:spcBef>
              <a:spcAft>
                <a:spcPts val="0"/>
              </a:spcAft>
              <a:buFont typeface="Wingdings" pitchFamily="2" charset="2"/>
              <a:buChar char="p"/>
              <a:defRPr>
                <a:latin typeface="Arial"/>
              </a:defRPr>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Arial" panose="020B0600000101010101" pitchFamily="34" charset="-127"/>
              <a:ea typeface="Arial" panose="020B0600000101010101" pitchFamily="34" charset="-127"/>
              <a:cs typeface="Arial" pitchFamily="34" charset="0"/>
            </a:endParaRPr>
          </a:p>
          <a:p>
            <a:pPr fontAlgn="auto">
              <a:lnSpc>
                <a:spcPts val="1600"/>
              </a:lnSpc>
              <a:spcBef>
                <a:spcPts val="0"/>
              </a:spcBef>
              <a:spcAft>
                <a:spcPts val="0"/>
              </a:spcAft>
              <a:buFont typeface="Wingdings" pitchFamily="2" charset="2"/>
              <a:buChar char="p"/>
              <a:defRPr>
                <a:latin typeface="Arial"/>
              </a:defRPr>
            </a:pPr>
            <a:r>
              <a:rPr sz="1000" b="0">
                <a:latin typeface="Arial"/>
              </a:rPr>
              <a:t> Detail Checking: Visual check the cable of LCD with PCBA to check set OK or not</a:t>
            </a:r>
            <a:endParaRPr kumimoji="0" lang="zh-CN" altLang="en-US" sz="1000" u="sng" dirty="0">
              <a:solidFill>
                <a:prstClr val="black"/>
              </a:solidFill>
              <a:latin typeface="Arial" panose="020B0600000101010101" pitchFamily="34" charset="-127"/>
              <a:ea typeface="Arial"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defRPr>
                <a:latin typeface="Arial"/>
              </a:defRPr>
            </a:pPr>
            <a:r>
              <a:rPr kumimoji="0" lang="en-US" altLang="ko-KR" b="1" dirty="0" sz="100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fontAlgn="auto">
              <a:spcBef>
                <a:spcPts val="0"/>
              </a:spcBef>
              <a:spcAft>
                <a:spcPts val="0"/>
              </a:spcAft>
              <a:buFont typeface="Wingdings" pitchFamily="2" charset="2"/>
              <a:buChar char="Ø"/>
              <a:defRPr>
                <a:latin typeface="Arial"/>
              </a:defRPr>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fontAlgn="auto">
              <a:spcBef>
                <a:spcPts val="0"/>
              </a:spcBef>
              <a:spcAft>
                <a:spcPts val="0"/>
              </a:spcAft>
              <a:buFont typeface="Wingdings" pitchFamily="2" charset="2"/>
              <a:buChar char="Ø"/>
              <a:defRPr>
                <a:latin typeface="Arial"/>
              </a:defRPr>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fontAlgn="auto">
              <a:spcBef>
                <a:spcPts val="0"/>
              </a:spcBef>
              <a:spcAft>
                <a:spcPts val="0"/>
              </a:spcAft>
              <a:buFont typeface="Wingdings" pitchFamily="2" charset="2"/>
              <a:buChar char="Ø"/>
              <a:defRPr>
                <a:latin typeface="Arial"/>
              </a:defRPr>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defRPr>
                <a:latin typeface="Arial"/>
              </a:defRPr>
            </a:pPr>
            <a:r>
              <a:rPr kumimoji="0" lang="en-US" altLang="zh-CN" b="1" dirty="0" sz="100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defRPr>
                <a:latin typeface="Arial"/>
              </a:defRPr>
            </a:pPr>
            <a:r>
              <a:rPr kumimoji="0" lang="en-US" altLang="ko-KR" b="1" dirty="0" sz="100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fontAlgn="auto">
              <a:spcBef>
                <a:spcPts val="0"/>
              </a:spcBef>
              <a:spcAft>
                <a:spcPts val="0"/>
              </a:spcAft>
              <a:buFont typeface="Arial" pitchFamily="34" charset="0"/>
              <a:buChar char="•"/>
              <a:defRPr>
                <a:latin typeface="Arial"/>
              </a:defRPr>
            </a:pPr>
            <a:r>
              <a:rPr kumimoji="0" lang="en-US" altLang="ko-KR" sz="11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1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1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defRPr>
                <a:latin typeface="Arial"/>
              </a:defRPr>
            </a:pPr>
            <a:r>
              <a:rPr kumimoji="0" lang="en-US" altLang="zh-CN" b="1" dirty="0" sz="100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92059" y="1428105"/>
            <a:ext cx="534917" cy="198714"/>
          </a:xfrm>
          <a:prstGeom prst="rect">
            <a:avLst/>
          </a:prstGeom>
          <a:noFill/>
          <a:ln w="9525">
            <a:noFill/>
            <a:miter lim="800000"/>
            <a:headEnd/>
            <a:tailEnd/>
          </a:ln>
        </p:spPr>
        <p:txBody>
          <a:bodyPr wrap="square" lIns="74867" tIns="37436" rIns="74867" bIns="37436">
            <a:spAutoFit/>
          </a:bodyPr>
          <a:lstStyle/>
          <a:p>
            <a:pPr algn="ctr" defTabSz="750403">
              <a:defRPr>
                <a:latin typeface="Arial"/>
              </a:defRPr>
            </a:pPr>
            <a:r>
              <a:rPr lang="en-US" altLang="ko-KR" sz="8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43" name="Text Box 20"/>
          <p:cNvSpPr txBox="1">
            <a:spLocks noChangeArrowheads="1"/>
          </p:cNvSpPr>
          <p:nvPr/>
        </p:nvSpPr>
        <p:spPr bwMode="auto">
          <a:xfrm>
            <a:off x="9274645" y="1436695"/>
            <a:ext cx="501285" cy="198714"/>
          </a:xfrm>
          <a:prstGeom prst="rect">
            <a:avLst/>
          </a:prstGeom>
          <a:noFill/>
          <a:ln w="9525">
            <a:noFill/>
            <a:miter lim="800000"/>
            <a:headEnd/>
            <a:tailEnd/>
          </a:ln>
        </p:spPr>
        <p:txBody>
          <a:bodyPr wrap="square" lIns="74867" tIns="37436" rIns="74867" bIns="37436">
            <a:spAutoFit/>
          </a:bodyPr>
          <a:lstStyle/>
          <a:p>
            <a:pPr algn="ctr" defTabSz="750403">
              <a:defRPr>
                <a:latin typeface="Arial"/>
              </a:defRPr>
            </a:pPr>
            <a:r>
              <a:rPr lang="en-US" altLang="zh-CN" sz="8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578199" cy="195491"/>
          </a:xfrm>
          <a:prstGeom prst="rect">
            <a:avLst/>
          </a:prstGeom>
          <a:noFill/>
          <a:ln w="9525">
            <a:noFill/>
            <a:miter lim="800000"/>
            <a:headEnd/>
            <a:tailEnd/>
          </a:ln>
        </p:spPr>
        <p:txBody>
          <a:bodyPr wrap="square" lIns="71680" tIns="35840" rIns="71680" bIns="35840">
            <a:spAutoFit/>
          </a:bodyPr>
          <a:lstStyle/>
          <a:p>
            <a:pPr algn="ctr" latinLnBrk="0">
              <a:defRPr>
                <a:latin typeface="Arial"/>
              </a:defRPr>
            </a:pPr>
            <a:r>
              <a:rPr lang="en-US" altLang="zh-CN" sz="8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Arial" panose="020B0600000101010101" pitchFamily="34" charset="-127"/>
              <a:ea typeface="Arial" panose="020B0600000101010101" pitchFamily="34" charset="-127"/>
              <a:cs typeface="Arial" pitchFamily="34" charset="0"/>
            </a:endParaRPr>
          </a:p>
        </p:txBody>
      </p:sp>
      <p:sp>
        <p:nvSpPr>
          <p:cNvPr id="45" name="TextBox 476"/>
          <p:cNvSpPr txBox="1">
            <a:spLocks noChangeArrowheads="1"/>
          </p:cNvSpPr>
          <p:nvPr/>
        </p:nvSpPr>
        <p:spPr bwMode="auto">
          <a:xfrm>
            <a:off x="7887387" y="1346549"/>
            <a:ext cx="923432" cy="195491"/>
          </a:xfrm>
          <a:prstGeom prst="rect">
            <a:avLst/>
          </a:prstGeom>
          <a:noFill/>
          <a:ln w="9525">
            <a:noFill/>
            <a:miter lim="800000"/>
            <a:headEnd/>
            <a:tailEnd/>
          </a:ln>
        </p:spPr>
        <p:txBody>
          <a:bodyPr wrap="square" lIns="71680" tIns="35840" rIns="71680" bIns="35840">
            <a:spAutoFit/>
          </a:bodyPr>
          <a:lstStyle/>
          <a:p>
            <a:pPr algn="ctr" latinLnBrk="0">
              <a:defRPr>
                <a:latin typeface="Arial"/>
              </a:defRPr>
            </a:pPr>
            <a:r>
              <a:rPr lang="en-US" altLang="zh-CN" sz="800" dirty="0">
                <a:solidFill>
                  <a:prstClr val="black"/>
                </a:solidFill>
                <a:latin typeface="Arial" panose="020B0600000101010101" pitchFamily="34" charset="-127"/>
                <a:ea typeface="Arial" panose="020B0600000101010101" pitchFamily="34" charset="-127"/>
                <a:cs typeface="Arial" pitchFamily="34" charset="0"/>
              </a:rPr>
              <a:t>   </a:t>
            </a:r>
            <a:r>
              <a:rPr lang="en-US" altLang="zh-CN" sz="8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Arial" panose="020B0600000101010101" pitchFamily="34" charset="-127"/>
              <a:ea typeface="Arial"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Arial" panose="020B0600000101010101" pitchFamily="34" charset="-127"/>
                  <a:ea typeface="Arial"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62058" y="1038589"/>
            <a:ext cx="2611690" cy="1102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71450" indent="-171450">
              <a:lnSpc>
                <a:spcPts val="1600"/>
              </a:lnSpc>
              <a:buFont typeface="Wingdings" pitchFamily="2" charset="2"/>
              <a:buChar char="q"/>
              <a:defRPr>
                <a:latin typeface="Arial"/>
              </a:defRPr>
            </a:pPr>
            <a:r>
              <a:rPr sz="1000">
                <a:latin typeface="Arial"/>
              </a:rPr>
              <a:t>Issue: ISSUE NG PPM LUMINANCE</a:t>
            </a:r>
            <a:endParaRPr lang="vi-VN" altLang="ko-KR" sz="1100" b="1" dirty="0">
              <a:solidFill>
                <a:srgbClr val="000000"/>
              </a:solidFill>
              <a:latin typeface="Arial" panose="020B0600000101010101" pitchFamily="34" charset="-127"/>
              <a:ea typeface="Arial" panose="020B0600000101010101" pitchFamily="34" charset="-127"/>
              <a:cs typeface="Arial" pitchFamily="34" charset="0"/>
            </a:endParaRPr>
          </a:p>
          <a:p>
            <a:pPr marL="171450" indent="-171450">
              <a:lnSpc>
                <a:spcPts val="1600"/>
              </a:lnSpc>
              <a:buFont typeface="Wingdings" pitchFamily="2" charset="2"/>
              <a:buChar char="q"/>
              <a:defRPr>
                <a:latin typeface="Arial"/>
              </a:defRPr>
            </a:pPr>
            <a:r>
              <a:rPr lang="en-US" sz="1100" b="1" dirty="0">
                <a:solidFill>
                  <a:srgbClr val="000000"/>
                </a:solidFill>
                <a:latin typeface="Arial" panose="020B0600000101010101" pitchFamily="34" charset="-127"/>
                <a:ea typeface="Arial" panose="020B0600000101010101" pitchFamily="34" charset="-127"/>
                <a:cs typeface="Arial" pitchFamily="34" charset="0"/>
              </a:rPr>
              <a:t>Defect date: February -2024</a:t>
            </a:r>
            <a:endParaRPr lang="en-US" altLang="ko-KR" sz="1100" b="1" dirty="0">
              <a:solidFill>
                <a:srgbClr val="000000"/>
              </a:solidFill>
              <a:latin typeface="Arial" panose="020B0600000101010101" pitchFamily="34" charset="-127"/>
              <a:ea typeface="Arial" panose="020B0600000101010101" pitchFamily="34" charset="-127"/>
              <a:cs typeface="Arial" pitchFamily="34" charset="0"/>
            </a:endParaRPr>
          </a:p>
          <a:p>
            <a:pPr marL="171450" indent="-171450">
              <a:lnSpc>
                <a:spcPts val="1600"/>
              </a:lnSpc>
              <a:buFont typeface="Wingdings" pitchFamily="2" charset="2"/>
              <a:buChar char="q"/>
              <a:defRPr>
                <a:latin typeface="Arial"/>
              </a:defRPr>
            </a:pPr>
            <a:r>
              <a:rPr lang="en-US" altLang="en-US" sz="1100" b="1" dirty="0">
                <a:solidFill>
                  <a:srgbClr val="000000"/>
                </a:solidFill>
                <a:latin typeface="Arial" panose="020B0600000101010101" pitchFamily="34" charset="-127"/>
                <a:ea typeface="Arial" panose="020B0600000101010101" pitchFamily="34" charset="-127"/>
                <a:cs typeface="Arial" pitchFamily="34" charset="0"/>
              </a:rPr>
              <a:t>Model</a:t>
            </a:r>
            <a:r>
              <a:rPr lang="en-US" altLang="en-US" sz="1100" b="1" dirty="0">
                <a:solidFill>
                  <a:srgbClr val="000000"/>
                </a:solidFill>
                <a:latin typeface="Arial" panose="020B0600000101010101" pitchFamily="34" charset="-127"/>
                <a:ea typeface="Arial" panose="020B0600000101010101" pitchFamily="34" charset="-127"/>
                <a:cs typeface="Arial" panose="02020603050405020304" pitchFamily="18" charset="0"/>
              </a:rPr>
              <a:t>: CID10RT-PJD.BEU1PAF</a:t>
            </a:r>
          </a:p>
          <a:p>
            <a:pPr marL="171450" indent="-171450">
              <a:lnSpc>
                <a:spcPts val="1600"/>
              </a:lnSpc>
              <a:buFont typeface="Wingdings" pitchFamily="2" charset="2"/>
              <a:buChar char="q"/>
              <a:defRPr>
                <a:latin typeface="Arial"/>
              </a:defRPr>
            </a:pPr>
            <a:r>
              <a:rPr lang="en-US" sz="1100" b="1" dirty="0">
                <a:solidFill>
                  <a:srgbClr val="000000"/>
                </a:solidFill>
                <a:latin typeface="Arial" panose="020B0600000101010101" pitchFamily="34" charset="-127"/>
                <a:ea typeface="Arial" panose="020B0600000101010101" pitchFamily="34" charset="-127"/>
                <a:cs typeface="Arial" pitchFamily="34" charset="0"/>
              </a:rPr>
              <a:t>Station: Luminance</a:t>
            </a:r>
          </a:p>
          <a:p>
            <a:pPr marL="171450" indent="-171450">
              <a:lnSpc>
                <a:spcPts val="1600"/>
              </a:lnSpc>
              <a:buFont typeface="Wingdings" pitchFamily="2" charset="2"/>
              <a:buChar char="q"/>
              <a:defRPr>
                <a:latin typeface="Arial"/>
              </a:defRPr>
            </a:pPr>
            <a:r>
              <a:rPr lang="en-US" altLang="en-US" sz="1100" b="1" dirty="0">
                <a:solidFill>
                  <a:srgbClr val="000000"/>
                </a:solidFill>
                <a:latin typeface="Arial" panose="020B0600000101010101" pitchFamily="34" charset="-127"/>
                <a:ea typeface="Arial" panose="020B0600000101010101" pitchFamily="34" charset="-127"/>
                <a:cs typeface="Arial" pitchFamily="34" charset="0"/>
              </a:rPr>
              <a:t>Q’ty : </a:t>
            </a:r>
            <a:r>
              <a:rPr lang="en-US" altLang="en-US" sz="1100" dirty="0">
                <a:solidFill>
                  <a:srgbClr val="000000"/>
                </a:solidFill>
                <a:latin typeface="Arial" panose="020B0600000101010101" pitchFamily="34" charset="-127"/>
                <a:ea typeface="Arial" panose="020B0600000101010101" pitchFamily="34" charset="-127"/>
                <a:cs typeface="Arial" pitchFamily="34" charset="0"/>
              </a:rPr>
              <a:t> </a:t>
            </a:r>
            <a:r>
              <a:rPr lang="en-US" altLang="en-US" sz="1100" b="1" dirty="0">
                <a:solidFill>
                  <a:srgbClr val="000000"/>
                </a:solidFill>
                <a:latin typeface="Arial" panose="020B0600000101010101" pitchFamily="34" charset="-127"/>
                <a:ea typeface="Arial" panose="020B0600000101010101" pitchFamily="34" charset="-127"/>
                <a:cs typeface="Arial" pitchFamily="34" charset="0"/>
              </a:rPr>
              <a:t>21ea/682ppm</a:t>
            </a:r>
          </a:p>
        </p:txBody>
      </p:sp>
      <p:sp>
        <p:nvSpPr>
          <p:cNvPr id="65" name="TextBox 64"/>
          <p:cNvSpPr txBox="1"/>
          <p:nvPr/>
        </p:nvSpPr>
        <p:spPr>
          <a:xfrm>
            <a:off x="7637145" y="1490803"/>
            <a:ext cx="795298" cy="215444"/>
          </a:xfrm>
          <a:prstGeom prst="rect">
            <a:avLst/>
          </a:prstGeom>
          <a:noFill/>
        </p:spPr>
        <p:txBody>
          <a:bodyPr wrap="square" rtlCol="0">
            <a:spAutoFit/>
          </a:bodyPr>
          <a:lstStyle/>
          <a:p>
            <a:pPr algn="ctr">
              <a:defRPr>
                <a:latin typeface="Arial"/>
              </a:defRPr>
            </a:pPr>
            <a:r>
              <a:rPr lang="vi-VN" sz="800" dirty="0">
                <a:latin typeface="Arial" panose="020B0600000101010101" pitchFamily="34" charset="-127"/>
                <a:ea typeface="Arial" panose="020B0600000101010101" pitchFamily="34" charset="-127"/>
                <a:cs typeface="Arial" pitchFamily="34" charset="0"/>
              </a:rPr>
              <a:t>Mar</a:t>
            </a:r>
            <a:endParaRPr lang="en-US" sz="800" dirty="0">
              <a:latin typeface="Arial" panose="020B0600000101010101" pitchFamily="34" charset="-127"/>
              <a:ea typeface="Arial" panose="020B0600000101010101" pitchFamily="34" charset="-127"/>
              <a:cs typeface="Arial" pitchFamily="34" charset="0"/>
            </a:endParaRPr>
          </a:p>
        </p:txBody>
      </p:sp>
      <p:sp>
        <p:nvSpPr>
          <p:cNvPr id="72" name="Text Box 60"/>
          <p:cNvSpPr txBox="1">
            <a:spLocks noChangeArrowheads="1"/>
          </p:cNvSpPr>
          <p:nvPr/>
        </p:nvSpPr>
        <p:spPr bwMode="auto">
          <a:xfrm>
            <a:off x="2490025" y="1034412"/>
            <a:ext cx="2843975" cy="3039160"/>
          </a:xfrm>
          <a:prstGeom prst="rect">
            <a:avLst/>
          </a:prstGeom>
          <a:noFill/>
          <a:ln w="9525">
            <a:noFill/>
            <a:miter lim="800000"/>
            <a:headEnd/>
            <a:tailEnd/>
          </a:ln>
        </p:spPr>
        <p:txBody>
          <a:bodyPr wrap="square" lIns="91307" tIns="45654" rIns="91307" bIns="45654">
            <a:spAutoFit/>
          </a:bodyPr>
          <a:lstStyle/>
          <a:p>
            <a:pPr>
              <a:defRPr>
                <a:latin typeface="Arial"/>
              </a:defRPr>
            </a:pPr>
            <a:r>
              <a:rPr>
                <a:latin typeface="Arial"/>
              </a:rPr>
              <a:t>Root Cause Analysis (5-Why):</a:t>
            </a:r>
          </a:p>
          <a:p>
            <a:pPr>
              <a:defRPr>
                <a:latin typeface="Arial"/>
              </a:defRPr>
            </a:pPr>
            <a:r>
              <a:rPr>
                <a:latin typeface="Arial"/>
              </a:rPr>
              <a:t>1. Why NG? Luminance measured under spec (800 - 2000 Cd/m²).</a:t>
            </a:r>
          </a:p>
          <a:p>
            <a:pPr>
              <a:defRPr>
                <a:latin typeface="Arial"/>
              </a:defRPr>
            </a:pPr>
            <a:r>
              <a:rPr>
                <a:latin typeface="Arial"/>
              </a:rPr>
              <a:t>2. Why under spec? LCD center point mismatched with Camera Angle view.</a:t>
            </a:r>
          </a:p>
          <a:p>
            <a:pPr>
              <a:defRPr>
                <a:latin typeface="Arial"/>
              </a:defRPr>
            </a:pPr>
            <a:r>
              <a:rPr>
                <a:latin typeface="Arial"/>
              </a:rPr>
              <a:t>3. Why mismatched? Camera Angle view deviated from perpendicular 90° over long production runs.</a:t>
            </a:r>
          </a:p>
          <a:p>
            <a:pPr>
              <a:defRPr>
                <a:latin typeface="Arial"/>
              </a:defRPr>
            </a:pPr>
            <a:r>
              <a:rPr>
                <a:latin typeface="Arial"/>
              </a:rPr>
              <a:t>4. Why deviated unnoticed? Absence of periodic camera angle verification protocol.</a:t>
            </a:r>
          </a:p>
          <a:p>
            <a:pPr>
              <a:defRPr>
                <a:latin typeface="Arial"/>
              </a:defRPr>
            </a:pPr>
            <a:r>
              <a:rPr>
                <a:latin typeface="Arial"/>
              </a:rPr>
              <a:t>5. Systemic Root Cause: Lack of standardized weekly Master Sample check sheet and camera angle lock standard.</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dirty="0">
              <a:latin typeface="Arial" panose="020B0600000101010101" pitchFamily="34" charset="-127"/>
              <a:ea typeface="Arial"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634496" y="3759239"/>
            <a:ext cx="1568113" cy="253916"/>
          </a:xfrm>
          <a:prstGeom prst="rect">
            <a:avLst/>
          </a:prstGeom>
          <a:noFill/>
        </p:spPr>
        <p:txBody>
          <a:bodyPr wrap="square" rtlCol="0">
            <a:spAutoFit/>
          </a:bodyPr>
          <a:lstStyle/>
          <a:p>
            <a:pPr>
              <a:defRPr>
                <a:latin typeface="Arial"/>
              </a:defRPr>
            </a:pPr>
            <a:r>
              <a:rPr lang="en-US" sz="105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rtlCol="0">
            <a:spAutoFit/>
          </a:bodyPr>
          <a:lstStyle/>
          <a:p>
            <a:pPr algn="ctr">
              <a:defRPr>
                <a:latin typeface="Arial"/>
              </a:defRPr>
            </a:pPr>
            <a:endParaRPr lang="en-US" sz="800" dirty="0">
              <a:latin typeface="Arial" panose="020B0600000101010101" pitchFamily="34" charset="-127"/>
              <a:ea typeface="Arial"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17860" y="1377720"/>
            <a:ext cx="1794572" cy="2862235"/>
          </a:xfrm>
          <a:prstGeom prst="rect">
            <a:avLst/>
          </a:prstGeom>
          <a:noFill/>
          <a:ln w="9525">
            <a:noFill/>
            <a:miter lim="800000"/>
            <a:headEnd/>
            <a:tailEnd/>
          </a:ln>
        </p:spPr>
        <p:txBody>
          <a:bodyPr wrap="square" lIns="91345" tIns="45677" rIns="91345" bIns="45677">
            <a:spAutoFit/>
          </a:bodyPr>
          <a:lstStyle/>
          <a:p>
            <a:pPr marL="171450" indent="-171450">
              <a:buFontTx/>
              <a:buChar char="-"/>
              <a:defRPr>
                <a:latin typeface="Arial"/>
              </a:defRPr>
            </a:pPr>
            <a:r>
              <a:rPr lang="en-US" sz="1000" dirty="0">
                <a:latin typeface="Arial" panose="020B0606020202030204" pitchFamily="34" charset="0"/>
                <a:sym typeface="Wingdings" panose="05000000000000000000" pitchFamily="2" charset="2"/>
              </a:rPr>
              <a:t>Teaching robot and adjust the angle of CS2000 Camera </a:t>
            </a:r>
          </a:p>
          <a:p>
            <a:pPr>
              <a:defRPr>
                <a:latin typeface="Arial"/>
              </a:defRPr>
            </a:pPr>
            <a:r>
              <a:rPr lang="en-US" sz="1000" dirty="0">
                <a:latin typeface="Arial" panose="020B0606020202030204" pitchFamily="34" charset="0"/>
                <a:sym typeface="Wingdings" panose="05000000000000000000" pitchFamily="2" charset="2"/>
              </a:rPr>
              <a:t>(Standard: 90 degrees) </a:t>
            </a:r>
          </a:p>
          <a:p>
            <a:pPr>
              <a:defRPr>
                <a:latin typeface="Arial"/>
              </a:defRPr>
            </a:pPr>
            <a:endParaRPr lang="en-US" sz="1000" dirty="0">
              <a:latin typeface="Arial" panose="020B0606020202030204" pitchFamily="34" charset="0"/>
              <a:sym typeface="Wingdings" panose="05000000000000000000" pitchFamily="2" charset="2"/>
            </a:endParaRPr>
          </a:p>
          <a:p>
            <a:pPr>
              <a:defRPr>
                <a:latin typeface="Arial"/>
              </a:defRPr>
            </a:pPr>
            <a:endParaRPr lang="en-US" sz="1000" dirty="0">
              <a:latin typeface="Arial" panose="020B0606020202030204" pitchFamily="34" charset="0"/>
              <a:sym typeface="Wingdings" panose="05000000000000000000" pitchFamily="2" charset="2"/>
            </a:endParaRPr>
          </a:p>
          <a:p>
            <a:pPr>
              <a:defRPr>
                <a:latin typeface="Arial"/>
              </a:defRPr>
            </a:pPr>
            <a:endParaRPr lang="en-US" sz="1000" dirty="0">
              <a:latin typeface="Arial" panose="020B0606020202030204" pitchFamily="34" charset="0"/>
              <a:sym typeface="Wingdings" panose="05000000000000000000" pitchFamily="2" charset="2"/>
            </a:endParaRPr>
          </a:p>
          <a:p>
            <a:pPr>
              <a:defRPr>
                <a:latin typeface="Arial"/>
              </a:defRPr>
            </a:pPr>
            <a:endParaRPr lang="en-US" sz="1000" dirty="0">
              <a:latin typeface="Arial" panose="020B0606020202030204" pitchFamily="34" charset="0"/>
              <a:sym typeface="Wingdings" panose="05000000000000000000" pitchFamily="2" charset="2"/>
            </a:endParaRPr>
          </a:p>
          <a:p>
            <a:pPr>
              <a:defRPr>
                <a:latin typeface="Arial"/>
              </a:defRPr>
            </a:pPr>
            <a:endParaRPr lang="en-US" sz="1000" dirty="0">
              <a:latin typeface="Arial" panose="020B0606020202030204" pitchFamily="34" charset="0"/>
              <a:sym typeface="Wingdings" panose="05000000000000000000" pitchFamily="2" charset="2"/>
            </a:endParaRPr>
          </a:p>
          <a:p>
            <a:pPr>
              <a:defRPr>
                <a:latin typeface="Arial"/>
              </a:defRPr>
            </a:pPr>
            <a:endParaRPr lang="en-US" sz="1000" dirty="0">
              <a:latin typeface="Arial" panose="020B0606020202030204" pitchFamily="34" charset="0"/>
              <a:sym typeface="Wingdings" panose="05000000000000000000" pitchFamily="2" charset="2"/>
            </a:endParaRPr>
          </a:p>
          <a:p>
            <a:pPr marL="171450" indent="-171450">
              <a:buFontTx/>
              <a:buChar char="-"/>
              <a:defRPr>
                <a:latin typeface="Arial"/>
              </a:defRPr>
            </a:pPr>
            <a:endParaRPr lang="en-US" altLang="ko-KR" sz="1000" dirty="0">
              <a:latin typeface="Arial" panose="020B0606020202030204" pitchFamily="34" charset="0"/>
              <a:ea typeface="Arial" panose="020B0600000101010101" pitchFamily="34" charset="-127"/>
              <a:cs typeface="Arial" panose="020B0604020202020204" pitchFamily="34" charset="0"/>
              <a:sym typeface="Wingdings" panose="05000000000000000000" pitchFamily="2" charset="2"/>
            </a:endParaRPr>
          </a:p>
          <a:p>
            <a:pPr marL="171450" indent="-171450">
              <a:buFontTx/>
              <a:buChar char="-"/>
              <a:defRPr>
                <a:latin typeface="Arial"/>
              </a:defRPr>
            </a:pPr>
            <a:endParaRPr lang="en-US" altLang="ko-KR" sz="1000" dirty="0">
              <a:latin typeface="Arial" panose="020B0606020202030204" pitchFamily="34" charset="0"/>
              <a:ea typeface="Arial" panose="020B0600000101010101" pitchFamily="34" charset="-127"/>
              <a:cs typeface="Arial" panose="020B0604020202020204" pitchFamily="34" charset="0"/>
              <a:sym typeface="Wingdings" panose="05000000000000000000" pitchFamily="2" charset="2"/>
            </a:endParaRPr>
          </a:p>
          <a:p>
            <a:pPr marL="171450" indent="-171450">
              <a:buFontTx/>
              <a:buChar char="-"/>
              <a:defRPr>
                <a:latin typeface="Arial"/>
              </a:defRPr>
            </a:pPr>
            <a:r>
              <a:rPr lang="en-US" altLang="ko-KR" sz="1000" dirty="0">
                <a:latin typeface="Arial" panose="020B0606020202030204" pitchFamily="34" charset="0"/>
                <a:ea typeface="Arial" panose="020B0600000101010101" pitchFamily="34" charset="-127"/>
                <a:cs typeface="Arial" panose="020B0604020202020204" pitchFamily="34" charset="0"/>
                <a:sym typeface="Wingdings" panose="05000000000000000000" pitchFamily="2" charset="2"/>
              </a:rPr>
              <a:t>Improvement about assembly LCD process in supplier.</a:t>
            </a:r>
            <a:endParaRPr lang="en-US" altLang="ko-KR" sz="1000" dirty="0">
              <a:latin typeface="Arial" panose="020B0600000101010101" pitchFamily="34" charset="-127"/>
              <a:ea typeface="Arial" panose="020B0600000101010101" pitchFamily="34" charset="-127"/>
              <a:cs typeface="Arial" panose="020B0604020202020204" pitchFamily="34" charset="0"/>
            </a:endParaRPr>
          </a:p>
          <a:p>
            <a:pPr>
              <a:defRPr>
                <a:latin typeface="Arial"/>
              </a:defRPr>
            </a:pPr>
            <a:endParaRPr lang="en-US" altLang="ko-KR" sz="1000" dirty="0">
              <a:latin typeface="Arial" panose="020B0606020202030204" pitchFamily="34" charset="0"/>
              <a:ea typeface="Arial" panose="020B0600000101010101" pitchFamily="34" charset="-127"/>
              <a:cs typeface="Arial" panose="020B0604020202020204" pitchFamily="34" charset="0"/>
            </a:endParaRPr>
          </a:p>
          <a:p>
            <a:pPr marL="171450" indent="-171450">
              <a:buFontTx/>
              <a:buChar char="-"/>
              <a:defRPr>
                <a:latin typeface="Arial"/>
              </a:defRPr>
            </a:pPr>
            <a:r>
              <a:rPr lang="en-US" altLang="ko-KR" sz="1000" dirty="0">
                <a:latin typeface="Arial" panose="020B0606020202030204" pitchFamily="34" charset="0"/>
                <a:ea typeface="Arial" panose="020B0600000101010101" pitchFamily="34" charset="-127"/>
                <a:cs typeface="Arial" panose="020B0604020202020204" pitchFamily="34" charset="0"/>
              </a:rPr>
              <a:t>Add check sheet weekly to measure Luminance value of Master sample and verify Camera angle view </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rtlCol="0">
            <a:spAutoFit/>
          </a:bodyPr>
          <a:lstStyle>
            <a:lvl1pPr marL="0" indent="0">
              <a:defRPr sz="1100">
                <a:latin typeface="Arial"/>
                <a:ea typeface="Arial"/>
                <a:cs typeface="Arial"/>
              </a:defRPr>
            </a:lvl1pPr>
            <a:lvl2pPr marL="457200" indent="0">
              <a:defRPr sz="1100">
                <a:latin typeface="Arial"/>
                <a:ea typeface="Arial"/>
                <a:cs typeface="Arial"/>
              </a:defRPr>
            </a:lvl2pPr>
            <a:lvl3pPr marL="914400" indent="0">
              <a:defRPr sz="1100">
                <a:latin typeface="Arial"/>
                <a:ea typeface="Arial"/>
                <a:cs typeface="Arial"/>
              </a:defRPr>
            </a:lvl3pPr>
            <a:lvl4pPr marL="1371600" indent="0">
              <a:defRPr sz="1100">
                <a:latin typeface="Arial"/>
                <a:ea typeface="Arial"/>
                <a:cs typeface="Arial"/>
              </a:defRPr>
            </a:lvl4pPr>
            <a:lvl5pPr marL="1828800" indent="0">
              <a:defRPr sz="1100">
                <a:latin typeface="Arial"/>
                <a:ea typeface="Arial"/>
                <a:cs typeface="Arial"/>
              </a:defRPr>
            </a:lvl5pPr>
            <a:lvl6pPr marL="2286000" indent="0">
              <a:defRPr sz="1100">
                <a:latin typeface="Arial"/>
                <a:ea typeface="Arial"/>
                <a:cs typeface="Arial"/>
              </a:defRPr>
            </a:lvl6pPr>
            <a:lvl7pPr marL="2743200" indent="0">
              <a:defRPr sz="1100">
                <a:latin typeface="Arial"/>
                <a:ea typeface="Arial"/>
                <a:cs typeface="Arial"/>
              </a:defRPr>
            </a:lvl7pPr>
            <a:lvl8pPr marL="3200400" indent="0">
              <a:defRPr sz="1100">
                <a:latin typeface="Arial"/>
                <a:ea typeface="Arial"/>
                <a:cs typeface="Arial"/>
              </a:defRPr>
            </a:lvl8pPr>
            <a:lvl9pPr marL="3657600" indent="0">
              <a:defRPr sz="1100">
                <a:latin typeface="Arial"/>
                <a:ea typeface="Arial"/>
                <a:cs typeface="Arial"/>
              </a:defRPr>
            </a:lvl9pPr>
          </a:lstStyle>
          <a:p>
            <a:pPr>
              <a:defRPr>
                <a:latin typeface="Arial"/>
              </a:defRPr>
            </a:pPr>
            <a:r>
              <a:rPr lang="en-US" sz="800" dirty="0">
                <a:latin typeface="Arial" panose="020B0600000101010101" pitchFamily="34" charset="-127"/>
                <a:ea typeface="Arial" panose="020B0600000101010101" pitchFamily="34" charset="-127"/>
                <a:cs typeface="Arial" pitchFamily="34" charset="0"/>
              </a:rPr>
              <a:t>13-</a:t>
            </a:r>
            <a:r>
              <a:rPr lang="vi-VN" sz="800" dirty="0">
                <a:latin typeface="Arial" panose="020B0600000101010101" pitchFamily="34" charset="-127"/>
                <a:ea typeface="Arial" panose="020B0600000101010101" pitchFamily="34" charset="-127"/>
                <a:cs typeface="Arial" pitchFamily="34" charset="0"/>
              </a:rPr>
              <a:t> Ma</a:t>
            </a:r>
            <a:r>
              <a:rPr lang="en-US" sz="800" dirty="0">
                <a:latin typeface="Arial" panose="020B0600000101010101" pitchFamily="34" charset="-127"/>
                <a:ea typeface="Arial" panose="020B0600000101010101" pitchFamily="34" charset="-127"/>
                <a:cs typeface="Arial" pitchFamily="34" charset="0"/>
              </a:rPr>
              <a:t>r</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42199" y="1930439"/>
            <a:ext cx="714683" cy="200055"/>
          </a:xfrm>
          <a:prstGeom prst="rect">
            <a:avLst/>
          </a:prstGeom>
          <a:noFill/>
        </p:spPr>
        <p:txBody>
          <a:bodyPr wrap="square" rtlCol="0">
            <a:spAutoFit/>
          </a:bodyPr>
          <a:lstStyle>
            <a:lvl1pPr marL="0" indent="0">
              <a:defRPr sz="1100">
                <a:latin typeface="Arial"/>
                <a:ea typeface="Arial"/>
                <a:cs typeface="Arial"/>
              </a:defRPr>
            </a:lvl1pPr>
            <a:lvl2pPr marL="457200" indent="0">
              <a:defRPr sz="1100">
                <a:latin typeface="Arial"/>
                <a:ea typeface="Arial"/>
                <a:cs typeface="Arial"/>
              </a:defRPr>
            </a:lvl2pPr>
            <a:lvl3pPr marL="914400" indent="0">
              <a:defRPr sz="1100">
                <a:latin typeface="Arial"/>
                <a:ea typeface="Arial"/>
                <a:cs typeface="Arial"/>
              </a:defRPr>
            </a:lvl3pPr>
            <a:lvl4pPr marL="1371600" indent="0">
              <a:defRPr sz="1100">
                <a:latin typeface="Arial"/>
                <a:ea typeface="Arial"/>
                <a:cs typeface="Arial"/>
              </a:defRPr>
            </a:lvl4pPr>
            <a:lvl5pPr marL="1828800" indent="0">
              <a:defRPr sz="1100">
                <a:latin typeface="Arial"/>
                <a:ea typeface="Arial"/>
                <a:cs typeface="Arial"/>
              </a:defRPr>
            </a:lvl5pPr>
            <a:lvl6pPr marL="2286000" indent="0">
              <a:defRPr sz="1100">
                <a:latin typeface="Arial"/>
                <a:ea typeface="Arial"/>
                <a:cs typeface="Arial"/>
              </a:defRPr>
            </a:lvl6pPr>
            <a:lvl7pPr marL="2743200" indent="0">
              <a:defRPr sz="1100">
                <a:latin typeface="Arial"/>
                <a:ea typeface="Arial"/>
                <a:cs typeface="Arial"/>
              </a:defRPr>
            </a:lvl7pPr>
            <a:lvl8pPr marL="3200400" indent="0">
              <a:defRPr sz="1100">
                <a:latin typeface="Arial"/>
                <a:ea typeface="Arial"/>
                <a:cs typeface="Arial"/>
              </a:defRPr>
            </a:lvl8pPr>
            <a:lvl9pPr marL="3657600" indent="0">
              <a:defRPr sz="1100">
                <a:latin typeface="Arial"/>
                <a:ea typeface="Arial"/>
                <a:cs typeface="Arial"/>
              </a:defRPr>
            </a:lvl9pPr>
          </a:lstStyle>
          <a:p>
            <a:pPr>
              <a:defRPr>
                <a:latin typeface="Arial"/>
              </a:defRPr>
            </a:pPr>
            <a:r>
              <a:rPr lang="vi-VN" sz="700" dirty="0">
                <a:latin typeface="Arial" panose="020B0600000101010101" pitchFamily="34" charset="-127"/>
                <a:ea typeface="Arial" panose="020B0600000101010101" pitchFamily="34" charset="-127"/>
                <a:cs typeface="Arial" pitchFamily="34" charset="0"/>
              </a:rPr>
              <a:t>Mr. </a:t>
            </a:r>
            <a:r>
              <a:rPr lang="en-US" sz="700" dirty="0">
                <a:latin typeface="Arial" panose="020B0600000101010101" pitchFamily="34" charset="-127"/>
                <a:ea typeface="Arial" panose="020B0600000101010101" pitchFamily="34" charset="-127"/>
                <a:cs typeface="Arial" pitchFamily="34" charset="0"/>
              </a:rPr>
              <a:t>Hung</a:t>
            </a:r>
            <a:r>
              <a:rPr lang="vi-VN" sz="700" dirty="0">
                <a:latin typeface="Arial" panose="020B0600000101010101" pitchFamily="34" charset="-127"/>
                <a:ea typeface="Arial" panose="020B0600000101010101" pitchFamily="34" charset="-127"/>
                <a:cs typeface="Arial" pitchFamily="34" charset="0"/>
              </a:rPr>
              <a:t> PE</a:t>
            </a:r>
            <a:endParaRPr lang="en-US" sz="700" dirty="0">
              <a:latin typeface="Arial" panose="020B0600000101010101" pitchFamily="34" charset="-127"/>
              <a:ea typeface="Arial"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fontAlgn="auto">
              <a:spcBef>
                <a:spcPts val="0"/>
              </a:spcBef>
              <a:spcAft>
                <a:spcPts val="0"/>
              </a:spcAft>
              <a:buFont typeface="Wingdings" pitchFamily="2" charset="2"/>
              <a:buChar char="q"/>
              <a:defRPr>
                <a:latin typeface="Arial"/>
              </a:defRPr>
            </a:pPr>
            <a:r>
              <a:rPr kumimoji="0" lang="en-US" altLang="ko-KR" sz="12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38434" y="1842413"/>
            <a:ext cx="617280" cy="492356"/>
          </a:xfrm>
          <a:prstGeom prst="rect">
            <a:avLst/>
          </a:prstGeom>
          <a:noFill/>
          <a:ln w="9525">
            <a:noFill/>
            <a:miter lim="800000"/>
            <a:headEnd/>
            <a:tailEnd/>
          </a:ln>
        </p:spPr>
        <p:txBody>
          <a:bodyPr wrap="square" lIns="91345" tIns="45677" rIns="91345" bIns="45677">
            <a:spAutoFit/>
          </a:bodyPr>
          <a:lstStyle/>
          <a:p>
            <a:pPr>
              <a:defRPr>
                <a:latin typeface="Arial"/>
              </a:defRPr>
            </a:pPr>
            <a:r>
              <a:rPr lang="en-US" altLang="ko-KR" sz="600" dirty="0">
                <a:solidFill>
                  <a:prstClr val="black"/>
                </a:solidFill>
                <a:latin typeface="Arial" panose="020B0600000101010101" pitchFamily="34" charset="-127"/>
                <a:ea typeface="Arial" panose="020B0600000101010101" pitchFamily="34" charset="-127"/>
                <a:cs typeface="Arial" panose="020B0604020202020204" pitchFamily="34" charset="0"/>
              </a:rPr>
              <a:t>1. </a:t>
            </a:r>
            <a:r>
              <a:rPr lang="en-US" sz="600" dirty="0">
                <a:solidFill>
                  <a:prstClr val="black"/>
                </a:solidFill>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Adjust the angle of CS2000 </a:t>
            </a:r>
          </a:p>
          <a:p>
            <a:pPr>
              <a:defRPr>
                <a:latin typeface="Arial"/>
              </a:defRPr>
            </a:pPr>
            <a:r>
              <a:rPr lang="en-US" sz="600" dirty="0">
                <a:solidFill>
                  <a:prstClr val="black"/>
                </a:solidFill>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Camera</a:t>
            </a:r>
            <a:r>
              <a:rPr lang="en-US" sz="800" dirty="0">
                <a:latin typeface="Arial" panose="020B0606020202030204" pitchFamily="34" charset="0"/>
                <a:sym typeface="Wingdings" panose="05000000000000000000" pitchFamily="2" charset="2"/>
              </a:rPr>
              <a:t> </a:t>
            </a:r>
            <a:endParaRPr lang="en-US" altLang="ko-KR" sz="600" dirty="0">
              <a:solidFill>
                <a:prstClr val="black"/>
              </a:solidFill>
              <a:latin typeface="Arial" panose="020B0600000101010101" pitchFamily="34" charset="-127"/>
              <a:ea typeface="Arial" panose="020B0600000101010101" pitchFamily="34" charset="-127"/>
              <a:cs typeface="Arial" panose="020B0604020202020204" pitchFamily="34" charset="0"/>
            </a:endParaRP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dirty="0">
              <a:latin typeface="Arial" panose="020B0600000101010101" pitchFamily="34" charset="-127"/>
              <a:ea typeface="Arial"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rtlCol="0">
            <a:spAutoFit/>
          </a:bodyPr>
          <a:lstStyle>
            <a:lvl1pPr marL="0" indent="0">
              <a:defRPr sz="1100">
                <a:latin typeface="Arial"/>
                <a:ea typeface="Arial"/>
                <a:cs typeface="Arial"/>
              </a:defRPr>
            </a:lvl1pPr>
            <a:lvl2pPr marL="457200" indent="0">
              <a:defRPr sz="1100">
                <a:latin typeface="Arial"/>
                <a:ea typeface="Arial"/>
                <a:cs typeface="Arial"/>
              </a:defRPr>
            </a:lvl2pPr>
            <a:lvl3pPr marL="914400" indent="0">
              <a:defRPr sz="1100">
                <a:latin typeface="Arial"/>
                <a:ea typeface="Arial"/>
                <a:cs typeface="Arial"/>
              </a:defRPr>
            </a:lvl3pPr>
            <a:lvl4pPr marL="1371600" indent="0">
              <a:defRPr sz="1100">
                <a:latin typeface="Arial"/>
                <a:ea typeface="Arial"/>
                <a:cs typeface="Arial"/>
              </a:defRPr>
            </a:lvl4pPr>
            <a:lvl5pPr marL="1828800" indent="0">
              <a:defRPr sz="1100">
                <a:latin typeface="Arial"/>
                <a:ea typeface="Arial"/>
                <a:cs typeface="Arial"/>
              </a:defRPr>
            </a:lvl5pPr>
            <a:lvl6pPr marL="2286000" indent="0">
              <a:defRPr sz="1100">
                <a:latin typeface="Arial"/>
                <a:ea typeface="Arial"/>
                <a:cs typeface="Arial"/>
              </a:defRPr>
            </a:lvl6pPr>
            <a:lvl7pPr marL="2743200" indent="0">
              <a:defRPr sz="1100">
                <a:latin typeface="Arial"/>
                <a:ea typeface="Arial"/>
                <a:cs typeface="Arial"/>
              </a:defRPr>
            </a:lvl7pPr>
            <a:lvl8pPr marL="3200400" indent="0">
              <a:defRPr sz="1100">
                <a:latin typeface="Arial"/>
                <a:ea typeface="Arial"/>
                <a:cs typeface="Arial"/>
              </a:defRPr>
            </a:lvl8pPr>
            <a:lvl9pPr marL="3657600" indent="0">
              <a:defRPr sz="1100">
                <a:latin typeface="Arial"/>
                <a:ea typeface="Arial"/>
                <a:cs typeface="Arial"/>
              </a:defRPr>
            </a:lvl9pPr>
          </a:lstStyle>
          <a:p>
            <a:pPr>
              <a:defRPr>
                <a:latin typeface="Arial"/>
              </a:defRPr>
            </a:pPr>
            <a:r>
              <a:rPr lang="en-US" sz="800" dirty="0">
                <a:latin typeface="Arial" panose="020B0600000101010101" pitchFamily="34" charset="-127"/>
                <a:ea typeface="Arial" panose="020B0600000101010101" pitchFamily="34" charset="-127"/>
                <a:cs typeface="Arial" pitchFamily="34" charset="0"/>
              </a:rPr>
              <a:t>13- Mar</a:t>
            </a:r>
          </a:p>
        </p:txBody>
      </p:sp>
      <p:sp>
        <p:nvSpPr>
          <p:cNvPr id="75" name="제목 1">
            <a:extLst>
              <a:ext uri="{FF2B5EF4-FFF2-40B4-BE49-F238E27FC236}">
                <a16:creationId xmlns:a16="http://schemas.microsoft.com/office/drawing/2014/main" id="{DDFAE7B1-6A4B-44C7-B646-014D6851D800}"/>
              </a:ext>
            </a:extLst>
          </p:cNvPr>
          <p:cNvSpPr txBox="1">
            <a:spLocks/>
          </p:cNvSpPr>
          <p:nvPr/>
        </p:nvSpPr>
        <p:spPr>
          <a:xfrm>
            <a:off x="27541" y="64338"/>
            <a:ext cx="3172337" cy="418058"/>
          </a:xfrm>
          <a:prstGeom prst="rect">
            <a:avLst/>
          </a:prstGeom>
        </p:spPr>
        <p:txBody>
          <a:bodyPr vert="horz" lIns="91440" tIns="45720" rIns="91440" bIns="45720" rtlCol="0" anchor="ctr">
            <a:noAutofit/>
          </a:bodyPr>
          <a:lstStyle/>
          <a:p>
            <a:pPr eaLnBrk="0" hangingPunct="0">
              <a:defRPr>
                <a:latin typeface="Arial"/>
              </a:defRPr>
            </a:pPr>
            <a:r>
              <a:rPr lang="en-US" altLang="ko-KR" sz="1600" b="1" kern="0" dirty="0">
                <a:solidFill>
                  <a:srgbClr val="000000"/>
                </a:solidFill>
                <a:latin typeface="Arial" panose="020B0606020202030204" pitchFamily="34" charset="0"/>
                <a:ea typeface="Arial" pitchFamily="34" charset="-127"/>
              </a:rPr>
              <a:t>3.1 Find the root cause</a:t>
            </a:r>
            <a:endParaRPr lang="ko-KR" altLang="en-US" sz="1600" b="1" kern="0" dirty="0">
              <a:solidFill>
                <a:srgbClr val="000000"/>
              </a:solidFill>
              <a:latin typeface="Arial" panose="020B0606020202030204" pitchFamily="34" charset="0"/>
              <a:ea typeface="Arial" pitchFamily="34" charset="-127"/>
            </a:endParaRP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72348" y="2392728"/>
            <a:ext cx="667620" cy="276912"/>
          </a:xfrm>
          <a:prstGeom prst="rect">
            <a:avLst/>
          </a:prstGeom>
          <a:noFill/>
          <a:ln w="9525">
            <a:noFill/>
            <a:miter lim="800000"/>
            <a:headEnd/>
            <a:tailEnd/>
          </a:ln>
        </p:spPr>
        <p:txBody>
          <a:bodyPr wrap="square" lIns="91345" tIns="45677" rIns="91345" bIns="45677">
            <a:spAutoFit/>
          </a:bodyPr>
          <a:lstStyle/>
          <a:p>
            <a:pPr>
              <a:defRPr>
                <a:latin typeface="Arial"/>
              </a:defRPr>
            </a:pPr>
            <a:r>
              <a:rPr sz="1000" b="0">
                <a:latin typeface="Arial"/>
              </a:rPr>
              <a:t>2. Monitoring 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62469" y="2413420"/>
            <a:ext cx="714683" cy="200055"/>
          </a:xfrm>
          <a:prstGeom prst="rect">
            <a:avLst/>
          </a:prstGeom>
          <a:noFill/>
        </p:spPr>
        <p:txBody>
          <a:bodyPr wrap="square" rtlCol="0">
            <a:spAutoFit/>
          </a:bodyPr>
          <a:lstStyle>
            <a:lvl1pPr marL="0" indent="0">
              <a:defRPr sz="1100">
                <a:latin typeface="Arial"/>
                <a:ea typeface="Arial"/>
                <a:cs typeface="Arial"/>
              </a:defRPr>
            </a:lvl1pPr>
            <a:lvl2pPr marL="457200" indent="0">
              <a:defRPr sz="1100">
                <a:latin typeface="Arial"/>
                <a:ea typeface="Arial"/>
                <a:cs typeface="Arial"/>
              </a:defRPr>
            </a:lvl2pPr>
            <a:lvl3pPr marL="914400" indent="0">
              <a:defRPr sz="1100">
                <a:latin typeface="Arial"/>
                <a:ea typeface="Arial"/>
                <a:cs typeface="Arial"/>
              </a:defRPr>
            </a:lvl3pPr>
            <a:lvl4pPr marL="1371600" indent="0">
              <a:defRPr sz="1100">
                <a:latin typeface="Arial"/>
                <a:ea typeface="Arial"/>
                <a:cs typeface="Arial"/>
              </a:defRPr>
            </a:lvl4pPr>
            <a:lvl5pPr marL="1828800" indent="0">
              <a:defRPr sz="1100">
                <a:latin typeface="Arial"/>
                <a:ea typeface="Arial"/>
                <a:cs typeface="Arial"/>
              </a:defRPr>
            </a:lvl5pPr>
            <a:lvl6pPr marL="2286000" indent="0">
              <a:defRPr sz="1100">
                <a:latin typeface="Arial"/>
                <a:ea typeface="Arial"/>
                <a:cs typeface="Arial"/>
              </a:defRPr>
            </a:lvl6pPr>
            <a:lvl7pPr marL="2743200" indent="0">
              <a:defRPr sz="1100">
                <a:latin typeface="Arial"/>
                <a:ea typeface="Arial"/>
                <a:cs typeface="Arial"/>
              </a:defRPr>
            </a:lvl7pPr>
            <a:lvl8pPr marL="3200400" indent="0">
              <a:defRPr sz="1100">
                <a:latin typeface="Arial"/>
                <a:ea typeface="Arial"/>
                <a:cs typeface="Arial"/>
              </a:defRPr>
            </a:lvl8pPr>
            <a:lvl9pPr marL="3657600" indent="0">
              <a:defRPr sz="1100">
                <a:latin typeface="Arial"/>
                <a:ea typeface="Arial"/>
                <a:cs typeface="Arial"/>
              </a:defRPr>
            </a:lvl9pPr>
          </a:lstStyle>
          <a:p>
            <a:pPr>
              <a:defRPr>
                <a:latin typeface="Arial"/>
              </a:defRPr>
            </a:pPr>
            <a:r>
              <a:rPr lang="vi-VN" sz="700" dirty="0">
                <a:latin typeface="Arial" panose="020B0600000101010101" pitchFamily="34" charset="-127"/>
                <a:ea typeface="Arial" panose="020B0600000101010101" pitchFamily="34" charset="-127"/>
                <a:cs typeface="Arial" pitchFamily="34" charset="0"/>
              </a:rPr>
              <a:t>Mr. </a:t>
            </a:r>
            <a:r>
              <a:rPr lang="en-US" sz="700" dirty="0">
                <a:latin typeface="Arial" panose="020B0600000101010101" pitchFamily="34" charset="-127"/>
                <a:ea typeface="Arial" panose="020B0600000101010101" pitchFamily="34" charset="-127"/>
                <a:cs typeface="Arial" pitchFamily="34" charset="0"/>
              </a:rPr>
              <a:t>Hung </a:t>
            </a:r>
            <a:r>
              <a:rPr lang="vi-VN" sz="700" dirty="0">
                <a:latin typeface="Arial" panose="020B0600000101010101" pitchFamily="34" charset="-127"/>
                <a:ea typeface="Arial" panose="020B0600000101010101" pitchFamily="34" charset="-127"/>
                <a:cs typeface="Arial" pitchFamily="34" charset="0"/>
              </a:rPr>
              <a:t>PE</a:t>
            </a:r>
            <a:endParaRPr lang="en-US" sz="700" dirty="0">
              <a:latin typeface="Arial" panose="020B0600000101010101" pitchFamily="34" charset="-127"/>
              <a:ea typeface="Arial"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a:defRPr>
                <a:latin typeface="Arial"/>
              </a:defRPr>
            </a:pPr>
            <a:r>
              <a:rPr sz="1000" b="0">
                <a:latin typeface="Arial"/>
              </a:rPr>
              <a:t>17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1863" y="2391700"/>
            <a:ext cx="2377045" cy="1322913"/>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latin typeface="Arial"/>
              </a:defRPr>
            </a:pPr>
            <a:r>
              <a:rPr>
                <a:latin typeface="Arial"/>
              </a:rPr>
              <a:t>3.1 Find the Root cause of measurement system failure</a:t>
            </a:r>
            <a:endParaRPr lang="ko-KR" altLang="en-US" sz="1600" b="1" kern="0" dirty="0">
              <a:solidFill>
                <a:srgbClr val="000000"/>
              </a:solidFill>
              <a:latin typeface="Arial" panose="020B0606020202030204" pitchFamily="34" charset="0"/>
              <a:ea typeface="Arial"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516632" y="1902616"/>
            <a:ext cx="1203518" cy="983107"/>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613471" y="4240809"/>
            <a:ext cx="1067722" cy="1067722"/>
          </a:xfrm>
          <a:prstGeom prst="rect">
            <a:avLst/>
          </a:prstGeom>
        </p:spPr>
      </p:pic>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a:defRPr>
                <a:latin typeface="Arial"/>
              </a:defRPr>
            </a:pPr>
            <a:r>
              <a:rPr lang="en-US" sz="1200" dirty="0">
                <a:latin typeface="Arial" panose="020B0606020202030204" pitchFamily="34" charset="0"/>
                <a:sym typeface="Wingdings" panose="05000000000000000000" pitchFamily="2" charset="2"/>
              </a:rPr>
              <a:t>Before measurement</a:t>
            </a:r>
            <a:br>
              <a:rPr lang="en-US" sz="1200" dirty="0">
                <a:latin typeface="Arial" panose="020B0606020202030204" pitchFamily="34" charset="0"/>
                <a:sym typeface="Wingdings" panose="05000000000000000000" pitchFamily="2" charset="2"/>
              </a:rPr>
            </a:br>
            <a:r>
              <a:rPr lang="en-US" sz="1200" dirty="0">
                <a:solidFill>
                  <a:srgbClr val="FF0000"/>
                </a:solidFill>
                <a:latin typeface="Arial" panose="020B0606020202030204" pitchFamily="34" charset="0"/>
                <a:sym typeface="Wingdings" panose="05000000000000000000" pitchFamily="2" charset="2"/>
              </a:rPr>
              <a:t> </a:t>
            </a:r>
            <a:r>
              <a:rPr lang="en-US" sz="1200" dirty="0">
                <a:latin typeface="Arial" panose="020B0606020202030204" pitchFamily="34" charset="0"/>
                <a:sym typeface="Wingdings" panose="05000000000000000000" pitchFamily="2" charset="2"/>
              </a:rPr>
              <a:t>XZ: 89.075</a:t>
            </a:r>
            <a:r>
              <a:rPr lang="en-US" sz="1200" dirty="0">
                <a:latin typeface="Arial" panose="020B0604020202020204" pitchFamily="34" charset="0"/>
              </a:rPr>
              <a:t>º</a:t>
            </a:r>
            <a:r>
              <a:rPr lang="en-US" sz="1200" dirty="0">
                <a:latin typeface="Arial" panose="020B0606020202030204" pitchFamily="34" charset="0"/>
                <a:sym typeface="Wingdings" panose="05000000000000000000" pitchFamily="2" charset="2"/>
              </a:rPr>
              <a:t> ; YZ: 88.806</a:t>
            </a:r>
            <a:r>
              <a:rPr lang="en-US" sz="1200" dirty="0">
                <a:latin typeface="Arial" panose="020B0604020202020204" pitchFamily="34" charset="0"/>
              </a:rPr>
              <a:t>º</a:t>
            </a:r>
            <a:r>
              <a:rPr lang="en-US" sz="12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a:defRPr>
                <a:latin typeface="Arial"/>
              </a:defRPr>
            </a:pPr>
            <a:r>
              <a:rPr lang="en-US" sz="1200" dirty="0">
                <a:latin typeface="Arial" panose="020B0606020202030204" pitchFamily="34" charset="0"/>
                <a:sym typeface="Wingdings" panose="05000000000000000000" pitchFamily="2" charset="2"/>
              </a:rPr>
              <a:t>After measurement </a:t>
            </a:r>
          </a:p>
          <a:p>
            <a:pPr algn="ctr">
              <a:defRPr>
                <a:latin typeface="Arial"/>
              </a:defRPr>
            </a:pPr>
            <a:r>
              <a:rPr lang="en-US" sz="1200" dirty="0">
                <a:latin typeface="Arial" panose="020B0606020202030204" pitchFamily="34" charset="0"/>
                <a:sym typeface="Wingdings" panose="05000000000000000000" pitchFamily="2" charset="2"/>
              </a:rPr>
              <a:t> XZ: 89.889</a:t>
            </a:r>
            <a:r>
              <a:rPr lang="en-US" sz="1200" dirty="0">
                <a:latin typeface="Arial" panose="020B0604020202020204" pitchFamily="34" charset="0"/>
              </a:rPr>
              <a:t>º</a:t>
            </a:r>
            <a:r>
              <a:rPr lang="en-US" sz="1200" dirty="0">
                <a:latin typeface="Arial" panose="020B0606020202030204" pitchFamily="34" charset="0"/>
                <a:sym typeface="Wingdings" panose="05000000000000000000" pitchFamily="2" charset="2"/>
              </a:rPr>
              <a:t> ; YZ: 89.889</a:t>
            </a:r>
            <a:r>
              <a:rPr lang="en-US" sz="1200" dirty="0">
                <a:latin typeface="Arial" panose="020B0604020202020204" pitchFamily="34" charset="0"/>
              </a:rPr>
              <a:t>º</a:t>
            </a:r>
            <a:r>
              <a:rPr lang="en-US" sz="12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2801520"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0000101010101" pitchFamily="34" charset="-127"/>
                <a:ea typeface="Arial" panose="020B0600000101010101" pitchFamily="34" charset="-127"/>
                <a:cs typeface="Arial" panose="020B0604020202020204" pitchFamily="34" charset="0"/>
              </a:rPr>
              <a:t>Changing Camera angle</a:t>
            </a:r>
            <a:endParaRPr lang="en-US" sz="1200" b="1" dirty="0">
              <a:latin typeface="Arial" panose="020B0604020202020204" pitchFamily="34" charset="0"/>
              <a:ea typeface="Arial"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a:defRPr>
                <a:latin typeface="Arial"/>
              </a:defRPr>
            </a:pPr>
            <a:r>
              <a:rPr>
                <a:latin typeface="Arial"/>
              </a:rPr>
              <a:t>After adjusting detector camera angle to target 90.0° (Actual verified: XZ = 89.889°, YZ = 89.889°) and re-testing samples, Luminance NG issues were completely eliminated. Correcting CS2000 camera angle is confirmed as effective solution.</a:t>
            </a: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249934" cy="418058"/>
          </a:xfrm>
          <a:prstGeom prst="rect">
            <a:avLst/>
          </a:prstGeom>
        </p:spPr>
        <p:txBody>
          <a:bodyPr vert="horz" lIns="91440" tIns="45720" rIns="91440" bIns="45720" rtlCol="0" anchor="ctr">
            <a:noAutofit/>
          </a:bodyPr>
          <a:lstStyle/>
          <a:p>
            <a:pPr lvl="0" eaLnBrk="0" hangingPunct="0">
              <a:defRPr>
                <a:latin typeface="Arial"/>
              </a:defRPr>
            </a:pPr>
            <a:r>
              <a:rPr lang="vi-VN" altLang="ko-KR" sz="1600" b="1" kern="0" dirty="0">
                <a:latin typeface="Arial" panose="020B0606020202030204" pitchFamily="34" charset="0"/>
                <a:ea typeface="Arial" panose="020B0604020202020204" pitchFamily="34" charset="-128"/>
                <a:cs typeface="Arial" panose="020B0604020202020204" pitchFamily="34" charset="0"/>
              </a:rPr>
              <a:t>4.1</a:t>
            </a:r>
            <a:r>
              <a:rPr lang="en-US" altLang="ko-KR" sz="1600" b="1" kern="0" dirty="0">
                <a:latin typeface="Arial" panose="020B0606020202030204" pitchFamily="34" charset="0"/>
                <a:ea typeface="Arial" panose="020B0604020202020204" pitchFamily="34" charset="-128"/>
                <a:cs typeface="Arial" panose="020B0604020202020204" pitchFamily="34" charset="0"/>
              </a:rPr>
              <a:t> </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Improvement</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activity of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panose="020B0606020202030204" pitchFamily="34" charset="0"/>
                  </a:rPr>
                  <a:t>Camera</a:t>
                </a:r>
              </a:p>
              <a:p>
                <a:pPr algn="ctr"/>
                <a:r>
                  <a:rPr lang="en-US" sz="1200">
                    <a:latin typeface="Arial"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a:defRPr>
                <a:latin typeface="Arial"/>
              </a:defRPr>
            </a:pPr>
            <a:r>
              <a:rPr lang="en-US" sz="1200" dirty="0">
                <a:latin typeface="Arial" panose="020B0606020202030204" pitchFamily="34" charset="0"/>
              </a:rPr>
              <a:t>1. Camera position is correct after checking.</a:t>
            </a:r>
          </a:p>
          <a:p>
            <a:pPr>
              <a:defRPr>
                <a:latin typeface="Arial"/>
              </a:defRPr>
            </a:pPr>
            <a:r>
              <a:rPr lang="en-US" sz="1200" dirty="0">
                <a:latin typeface="Arial" panose="020B0606020202030204" pitchFamily="34" charset="0"/>
                <a:sym typeface="Wingdings" panose="05000000000000000000" pitchFamily="2" charset="2"/>
              </a:rPr>
              <a:t> Camera center coincides with the SET center</a:t>
            </a:r>
            <a:r>
              <a:rPr lang="en-US" sz="12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a:defRPr>
                <a:latin typeface="Arial"/>
              </a:defRPr>
            </a:pPr>
            <a:r>
              <a:rPr lang="en-US" sz="1200" dirty="0">
                <a:latin typeface="Arial" panose="020B0606020202030204" pitchFamily="34" charset="0"/>
              </a:rPr>
              <a:t>2. Motion of J1 Dual PPR LHD and RHD in the same position. </a:t>
            </a:r>
            <a:r>
              <a:rPr lang="en-US" sz="1200" dirty="0">
                <a:latin typeface="Arial" panose="020B0606020202030204" pitchFamily="34" charset="0"/>
                <a:sym typeface="Wingdings" panose="05000000000000000000" pitchFamily="2" charset="2"/>
              </a:rPr>
              <a:t> If position of axis-servo is not correct, Model J1 PPR LHD will be NG. </a:t>
            </a:r>
            <a:endParaRPr lang="en-US" sz="1200" dirty="0">
              <a:latin typeface="Arial" panose="020B0606020202030204" pitchFamily="34" charset="0"/>
            </a:endParaRPr>
          </a:p>
          <a:p>
            <a:pPr>
              <a:defRPr>
                <a:latin typeface="Arial"/>
              </a:defRPr>
            </a:pPr>
            <a:r>
              <a:rPr lang="en-US" sz="1200" dirty="0">
                <a:latin typeface="Arial" panose="020B0606020202030204" pitchFamily="34" charset="0"/>
                <a:sym typeface="Wingdings" panose="05000000000000000000" pitchFamily="2" charset="2"/>
              </a:rPr>
              <a:t>(Same axis-servo position 48 and 49)</a:t>
            </a:r>
            <a:endParaRPr lang="en-US" sz="1200" dirty="0">
              <a:latin typeface="Arial"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2801520"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0000101010101" pitchFamily="34" charset="-127"/>
                <a:ea typeface="Arial" panose="020B0600000101010101" pitchFamily="34" charset="-127"/>
                <a:cs typeface="Arial" panose="020B0604020202020204" pitchFamily="34" charset="0"/>
              </a:rPr>
              <a:t>Changing Camera angle</a:t>
            </a:r>
            <a:endParaRPr lang="en-US" sz="1200" b="1" dirty="0">
              <a:latin typeface="Arial" panose="020B0604020202020204" pitchFamily="34" charset="0"/>
              <a:ea typeface="Arial"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249934" cy="418058"/>
          </a:xfrm>
          <a:prstGeom prst="rect">
            <a:avLst/>
          </a:prstGeom>
        </p:spPr>
        <p:txBody>
          <a:bodyPr vert="horz" lIns="91440" tIns="45720" rIns="91440" bIns="45720" rtlCol="0" anchor="ctr">
            <a:noAutofit/>
          </a:bodyPr>
          <a:lstStyle/>
          <a:p>
            <a:pPr lvl="0" eaLnBrk="0" hangingPunct="0">
              <a:defRPr>
                <a:latin typeface="Arial"/>
              </a:defRPr>
            </a:pPr>
            <a:r>
              <a:rPr lang="vi-VN" altLang="ko-KR" sz="1600" b="1" kern="0" dirty="0">
                <a:latin typeface="Arial" panose="020B0606020202030204" pitchFamily="34" charset="0"/>
                <a:ea typeface="Arial" panose="020B0604020202020204" pitchFamily="34" charset="-128"/>
                <a:cs typeface="Arial" panose="020B0604020202020204" pitchFamily="34" charset="0"/>
              </a:rPr>
              <a:t>4.1</a:t>
            </a:r>
            <a:r>
              <a:rPr lang="en-US" altLang="ko-KR" sz="1600" b="1" kern="0" dirty="0">
                <a:latin typeface="Arial" panose="020B0606020202030204" pitchFamily="34" charset="0"/>
                <a:ea typeface="Arial" panose="020B0604020202020204" pitchFamily="34" charset="-128"/>
                <a:cs typeface="Arial" panose="020B0604020202020204" pitchFamily="34" charset="0"/>
              </a:rPr>
              <a:t> </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Improvement</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activity of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extLst/>
          </p:nvPr>
        </p:nvGraphicFramePr>
        <p:xfrm>
          <a:off x="425381" y="820753"/>
          <a:ext cx="3765983" cy="5760597"/>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fontAlgn="ctr">
                        <a:defRPr>
                          <a:latin typeface="Arial"/>
                        </a:defRPr>
                      </a:pPr>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fontAlgn="ctr">
                        <a:defRPr>
                          <a:latin typeface="Arial"/>
                        </a:defRPr>
                      </a:pPr>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defRPr>
                          <a:latin typeface="Arial"/>
                        </a:defRPr>
                      </a:pPr>
                      <a:endParaRPr lang="en-US"/>
                    </a:p>
                  </a:txBody>
                  <a:tcPr/>
                </a:tc>
                <a:tc hMerge="1">
                  <a:txBody>
                    <a:bodyPr/>
                    <a:lstStyle/>
                    <a:p>
                      <a:pPr algn="ctr" fontAlgn="ctr">
                        <a:defRPr>
                          <a:latin typeface="Arial"/>
                        </a:defRPr>
                      </a:pP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altLang="ko-KR" sz="900" b="1" i="0" u="none" strike="noStrike" dirty="0">
                          <a:solidFill>
                            <a:srgbClr val="000000"/>
                          </a:solidFill>
                          <a:effectLst/>
                          <a:latin typeface="Arial" panose="020B0604020202020204" pitchFamily="34" charset="0"/>
                        </a:rPr>
                        <a:t>CS2000</a:t>
                      </a:r>
                    </a:p>
                    <a:p>
                      <a:pPr algn="ctr" fontAlgn="ctr">
                        <a:defRPr>
                          <a:latin typeface="Arial"/>
                        </a:defRPr>
                      </a:pPr>
                      <a:r>
                        <a:rPr lang="en-US" altLang="ko-KR" sz="900" b="1" i="0" u="none" strike="noStrike" dirty="0">
                          <a:solidFill>
                            <a:srgbClr val="000000"/>
                          </a:solidFill>
                          <a:effectLst/>
                          <a:latin typeface="Arial" panose="020B0604020202020204" pitchFamily="34" charset="0"/>
                        </a:rPr>
                        <a:t>Apply luminance compensation</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latinLnBrk="1">
                        <a:defRPr>
                          <a:latin typeface="Arial"/>
                        </a:defRPr>
                      </a:pPr>
                      <a:endParaRPr lang="ko-KR" altLang="en-US"/>
                    </a:p>
                  </a:txBody>
                  <a:tcPr/>
                </a:tc>
                <a:tc gridSpan="2">
                  <a:txBody>
                    <a:bodyPr/>
                    <a:lstStyle/>
                    <a:p>
                      <a:pPr algn="ctr" fontAlgn="ctr">
                        <a:defRPr>
                          <a:latin typeface="Arial"/>
                        </a:defRPr>
                      </a:pPr>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latinLnBrk="1">
                        <a:defRPr>
                          <a:latin typeface="Arial"/>
                        </a:defRPr>
                      </a:pPr>
                      <a:endParaRPr lang="ko-KR" altLang="en-US"/>
                    </a:p>
                  </a:txBody>
                  <a:tcPr/>
                </a:tc>
                <a:tc>
                  <a:txBody>
                    <a:bodyPr/>
                    <a:lstStyle/>
                    <a:p>
                      <a:pPr algn="ctr" fontAlgn="ctr">
                        <a:defRPr>
                          <a:latin typeface="Arial"/>
                        </a:defRPr>
                      </a:pPr>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latinLnBrk="1">
                        <a:defRPr>
                          <a:latin typeface="Arial"/>
                        </a:defRPr>
                      </a:pPr>
                      <a:endParaRPr lang="ko-KR" altLang="en-US"/>
                    </a:p>
                  </a:txBody>
                  <a:tcPr/>
                </a:tc>
                <a:extLst>
                  <a:ext uri="{0D108BD9-81ED-4DB2-BD59-A6C34878D82A}">
                    <a16:rowId xmlns:a16="http://schemas.microsoft.com/office/drawing/2014/main" val="10001"/>
                  </a:ext>
                </a:extLst>
              </a:tr>
              <a:tr h="200198">
                <a:tc>
                  <a:txBody>
                    <a:bodyPr/>
                    <a:lstStyle/>
                    <a:p>
                      <a:pPr algn="ctr" fontAlgn="ctr">
                        <a:defRPr>
                          <a:latin typeface="Arial"/>
                        </a:defRPr>
                      </a:pPr>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Bentayga(Bently)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fontAlgn="ctr">
                        <a:defRPr>
                          <a:latin typeface="Arial"/>
                        </a:defRPr>
                      </a:pPr>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Macan</a:t>
                      </a:r>
                      <a:r>
                        <a:rPr lang="en-US" sz="900" b="0" i="0" u="none" strike="noStrike" kern="1200" baseline="0" dirty="0">
                          <a:solidFill>
                            <a:srgbClr val="000000"/>
                          </a:solidFill>
                          <a:effectLst/>
                          <a:latin typeface="Arial" panose="020B0604020202020204" pitchFamily="34" charset="0"/>
                          <a:ea typeface="Arial"/>
                          <a:cs typeface="Arial"/>
                        </a:rPr>
                        <a:t> LZV</a:t>
                      </a: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E3PA</a:t>
                      </a:r>
                      <a:r>
                        <a:rPr lang="en-US" sz="900" b="0" i="0" u="none" strike="noStrike" kern="1200" baseline="0" dirty="0">
                          <a:solidFill>
                            <a:srgbClr val="000000"/>
                          </a:solidFill>
                          <a:effectLst/>
                          <a:latin typeface="Arial" panose="020B0604020202020204" pitchFamily="34" charset="0"/>
                          <a:ea typeface="Arial"/>
                          <a:cs typeface="Arial"/>
                        </a:rPr>
                        <a:t> CID</a:t>
                      </a: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0198">
                <a:tc rowSpan="4">
                  <a:txBody>
                    <a:bodyPr/>
                    <a:lstStyle/>
                    <a:p>
                      <a:pPr>
                        <a:defRPr>
                          <a:latin typeface="Arial"/>
                        </a:defRPr>
                      </a:pPr>
                      <a:r>
                        <a:rPr sz="1000" b="0">
                          <a:latin typeface="Arial"/>
                        </a:rPr>
                        <a:t>8</a:t>
                      </a:r>
                    </a:p>
                    <a:p>
                      <a:pPr>
                        <a:defRPr>
                          <a:latin typeface="Arial"/>
                        </a:defRPr>
                      </a:pPr>
                      <a:r>
                        <a:rPr sz="1000" b="0">
                          <a:latin typeface="Arial"/>
                        </a:rPr>
                        <a:t>(Discontinued)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E3PA</a:t>
                      </a:r>
                      <a:r>
                        <a:rPr lang="en-US" sz="900" b="0" i="0" u="none" strike="noStrike" kern="1200" baseline="0" dirty="0">
                          <a:solidFill>
                            <a:srgbClr val="000000"/>
                          </a:solidFill>
                          <a:effectLst/>
                          <a:latin typeface="Arial" panose="020B0604020202020204" pitchFamily="34" charset="0"/>
                          <a:ea typeface="Arial"/>
                          <a:cs typeface="Arial"/>
                        </a:rPr>
                        <a:t> Dual LHD</a:t>
                      </a: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E3PA</a:t>
                      </a:r>
                      <a:r>
                        <a:rPr lang="en-US" sz="900" b="0" i="0" u="none" strike="noStrike" kern="1200" baseline="0" dirty="0">
                          <a:solidFill>
                            <a:srgbClr val="000000"/>
                          </a:solidFill>
                          <a:effectLst/>
                          <a:latin typeface="Arial" panose="020B0604020202020204" pitchFamily="34" charset="0"/>
                          <a:ea typeface="Arial"/>
                          <a:cs typeface="Arial"/>
                        </a:rPr>
                        <a:t> Dual RHD</a:t>
                      </a: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FF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defRPr>
                          <a:latin typeface="Arial"/>
                        </a:defRPr>
                      </a:pPr>
                      <a:r>
                        <a:rPr lang="en-US" altLang="ko-KR" sz="900" b="0" i="0" u="none" strike="noStrike" kern="1200" dirty="0">
                          <a:solidFill>
                            <a:srgbClr val="FF0000"/>
                          </a:solidFill>
                          <a:effectLst/>
                          <a:latin typeface="Arial" panose="020B0604020202020204" pitchFamily="34" charset="0"/>
                          <a:ea typeface="Arial"/>
                          <a:cs typeface="Arial"/>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defRPr>
                          <a:latin typeface="Arial"/>
                        </a:defRPr>
                      </a:pPr>
                      <a:r>
                        <a:rPr lang="en-US" altLang="ko-KR" sz="900" b="0" i="0" u="none" strike="noStrike" kern="1200" dirty="0">
                          <a:solidFill>
                            <a:srgbClr val="FF0000"/>
                          </a:solidFill>
                          <a:effectLst/>
                          <a:latin typeface="Arial" panose="020B0604020202020204" pitchFamily="34" charset="0"/>
                          <a:ea typeface="Arial"/>
                          <a:cs typeface="Arial"/>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FF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FF0000"/>
                          </a:solidFill>
                          <a:effectLst/>
                          <a:latin typeface="Arial" panose="020B0604020202020204" pitchFamily="34" charset="0"/>
                          <a:ea typeface="Arial"/>
                          <a:cs typeface="Arial"/>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defRPr>
                          <a:latin typeface="Arial"/>
                        </a:defRPr>
                      </a:pPr>
                      <a:r>
                        <a:rPr lang="en-US" altLang="ko-KR" sz="900" b="0" i="0" u="none" strike="noStrike" kern="1200" dirty="0">
                          <a:solidFill>
                            <a:srgbClr val="FF0000"/>
                          </a:solidFill>
                          <a:effectLst/>
                          <a:latin typeface="Arial" panose="020B0604020202020204" pitchFamily="34" charset="0"/>
                          <a:ea typeface="Arial"/>
                          <a:cs typeface="Arial"/>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FF0000"/>
                          </a:solidFill>
                          <a:effectLst/>
                          <a:latin typeface="Arial" panose="020B0604020202020204" pitchFamily="34" charset="0"/>
                          <a:ea typeface="Arial"/>
                          <a:cs typeface="Arial"/>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FF0000"/>
                          </a:solidFill>
                          <a:effectLst/>
                          <a:latin typeface="Arial" panose="020B0604020202020204" pitchFamily="34" charset="0"/>
                          <a:ea typeface="Arial"/>
                          <a:cs typeface="Arial"/>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defRPr>
                          <a:latin typeface="Arial"/>
                        </a:defRPr>
                      </a:pPr>
                      <a:r>
                        <a:rPr lang="en-US" altLang="ko-KR" sz="900" b="0" i="0" u="none" strike="noStrike" kern="1200" dirty="0">
                          <a:solidFill>
                            <a:srgbClr val="FF0000"/>
                          </a:solidFill>
                          <a:effectLst/>
                          <a:latin typeface="Arial" panose="020B0604020202020204" pitchFamily="34" charset="0"/>
                          <a:ea typeface="Arial"/>
                          <a:cs typeface="Arial"/>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fontAlgn="ctr">
                        <a:defRPr>
                          <a:latin typeface="Arial"/>
                        </a:defRPr>
                      </a:pP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defRPr>
                          <a:latin typeface="Arial"/>
                        </a:defRPr>
                      </a:pPr>
                      <a:endParaRPr lang="en-US" sz="900" b="0" i="0" u="none" strike="noStrike" kern="1200" dirty="0">
                        <a:solidFill>
                          <a:srgbClr val="000000"/>
                        </a:solidFill>
                        <a:effectLst/>
                        <a:latin typeface="Arial" panose="020B0604020202020204" pitchFamily="34" charset="0"/>
                        <a:ea typeface="Arial"/>
                        <a:cs typeface="Arial"/>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fontAlgn="ctr">
                        <a:defRPr>
                          <a:latin typeface="Arial"/>
                        </a:defRPr>
                      </a:pPr>
                      <a:r>
                        <a:rPr lang="en-US" sz="900" b="0" i="0" u="none" strike="noStrike" dirty="0">
                          <a:solidFill>
                            <a:srgbClr val="000000"/>
                          </a:solidFill>
                          <a:effectLst/>
                          <a:latin typeface="Arial" panose="020B0604020202020204" pitchFamily="34" charset="0"/>
                        </a:rPr>
                        <a:t>14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defRPr>
                          <a:latin typeface="Arial"/>
                        </a:defRPr>
                      </a:pPr>
                      <a:r>
                        <a:rPr lang="en-US" sz="900" b="0" i="0" u="none" strike="noStrike" kern="1200" dirty="0">
                          <a:solidFill>
                            <a:srgbClr val="000000"/>
                          </a:solidFill>
                          <a:effectLst/>
                          <a:latin typeface="Arial" panose="020B0604020202020204" pitchFamily="34" charset="0"/>
                          <a:ea typeface="Arial"/>
                          <a:cs typeface="Arial"/>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Arial"/>
                        </a:defRPr>
                      </a:pPr>
                      <a:r>
                        <a:rPr lang="en-US" altLang="ko-KR" sz="900" b="0" i="0" u="none" strike="noStrike" kern="1200" dirty="0">
                          <a:solidFill>
                            <a:srgbClr val="000000"/>
                          </a:solidFill>
                          <a:effectLst/>
                          <a:latin typeface="Arial" panose="020B0604020202020204" pitchFamily="34" charset="0"/>
                          <a:ea typeface="Arial"/>
                          <a:cs typeface="Arial"/>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3"/>
          <a:stretch>
            <a:fillRect/>
          </a:stretch>
        </p:blipFill>
        <p:spPr>
          <a:xfrm>
            <a:off x="4797272" y="5053264"/>
            <a:ext cx="1713598" cy="1285199"/>
          </a:xfrm>
          <a:prstGeom prst="rect">
            <a:avLst/>
          </a:prstGeom>
        </p:spPr>
      </p:pic>
      <p:pic>
        <p:nvPicPr>
          <p:cNvPr id="28" name="그림 27"/>
          <p:cNvPicPr>
            <a:picLocks noChangeAspect="1"/>
          </p:cNvPicPr>
          <p:nvPr/>
        </p:nvPicPr>
        <p:blipFill>
          <a:blip r:embed="rId4"/>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a:buFont typeface="Wingdings" panose="05000000000000000000" pitchFamily="2" charset="2"/>
              <a:buChar char="§"/>
              <a:defRPr>
                <a:latin typeface="Arial"/>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a:defRPr>
                <a:latin typeface="Arial"/>
              </a:defRPr>
            </a:pPr>
            <a:endPar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a:buFont typeface="Wingdings" panose="05000000000000000000" pitchFamily="2" charset="2"/>
              <a:buChar char="§"/>
              <a:defRPr>
                <a:latin typeface="Arial"/>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5"/>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6"/>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ko-KR" altLang="en-US"/>
          </a:p>
        </p:txBody>
      </p:sp>
      <p:sp>
        <p:nvSpPr>
          <p:cNvPr id="45" name="TextBox 37"/>
          <p:cNvSpPr txBox="1">
            <a:spLocks noChangeArrowheads="1"/>
          </p:cNvSpPr>
          <p:nvPr/>
        </p:nvSpPr>
        <p:spPr bwMode="auto">
          <a:xfrm>
            <a:off x="6834866" y="4384328"/>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defRPr>
                <a:latin typeface="Arial"/>
              </a:defRPr>
            </a:pP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643949" y="4402118"/>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marL="0" indent="0">
              <a:defRPr>
                <a:latin typeface="Arial"/>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34764" y="4402118"/>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marL="0" indent="0">
              <a:defRPr>
                <a:latin typeface="Arial"/>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Arial"/>
              </a:defRPr>
            </a:pPr>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spid="_x0000_s18064" name="Worksheet" showAsIcon="1" r:id="rId7" imgW="914400" imgH="771480" progId="Excel.Sheet.12">
                  <p:embed/>
                </p:oleObj>
              </mc:Choice>
              <mc:Fallback>
                <p:oleObj name="Worksheet" showAsIcon="1" r:id="rId7" imgW="914400" imgH="771480" progId="Excel.Sheet.12">
                  <p:embed/>
                  <p:pic>
                    <p:nvPicPr>
                      <p:cNvPr id="9" name="개체 8"/>
                      <p:cNvPicPr/>
                      <p:nvPr/>
                    </p:nvPicPr>
                    <p:blipFill>
                      <a:blip r:embed="rId8"/>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413741"/>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a:buFont typeface="Wingdings" panose="05000000000000000000" pitchFamily="2" charset="2"/>
              <a:buChar char="§"/>
              <a:defRPr>
                <a:latin typeface="Arial"/>
              </a:defRPr>
            </a:pPr>
            <a:r>
              <a:rPr lang="en-US" altLang="ko-KR" sz="8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Difference between Privacy &amp; Public Whether or not LCF Film (Louver) is applied </a:t>
            </a:r>
          </a:p>
          <a:p>
            <a:pPr marL="0" indent="0">
              <a:defRPr>
                <a:latin typeface="Arial"/>
              </a:defRPr>
            </a:pPr>
            <a:r>
              <a:rPr lang="en-US" altLang="ko-KR" sz="8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Privacy display function within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marL="0" indent="0">
              <a:spcBef>
                <a:spcPts val="300"/>
              </a:spcBef>
              <a:defRPr>
                <a:latin typeface="Arial"/>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Even if the CS2000 measuring equipment is corrected from the existing 89° to 90°, the RHD Privacy Display</a:t>
            </a:r>
          </a:p>
          <a:p>
            <a:pPr marL="0" indent="0">
              <a:spcBef>
                <a:spcPts val="300"/>
              </a:spcBef>
              <a:defRPr>
                <a:latin typeface="Arial"/>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will increase brightness by about 13%, but for the general Public model, there is almost no change, less than 0.5% so there is no need for brightness compensation.. </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Arial" panose="020B0600000101010101" pitchFamily="50" charset="-127"/>
              </a:defRPr>
            </a:lvl1pPr>
            <a:lvl2pPr>
              <a:defRPr kumimoji="1" sz="1200" b="1">
                <a:solidFill>
                  <a:srgbClr val="FF0000"/>
                </a:solidFill>
                <a:latin typeface="Arial" panose="020B0604020202020204" pitchFamily="34" charset="0"/>
                <a:ea typeface="Arial" panose="020B0600000101010101" pitchFamily="50" charset="-127"/>
              </a:defRPr>
            </a:lvl2pPr>
            <a:lvl3pPr>
              <a:defRPr kumimoji="1" sz="1200" b="1">
                <a:solidFill>
                  <a:srgbClr val="FF0000"/>
                </a:solidFill>
                <a:latin typeface="Arial" panose="020B0604020202020204" pitchFamily="34" charset="0"/>
                <a:ea typeface="Arial" panose="020B0600000101010101" pitchFamily="50" charset="-127"/>
              </a:defRPr>
            </a:lvl3pPr>
            <a:lvl4pPr>
              <a:defRPr kumimoji="1" sz="1200" b="1">
                <a:solidFill>
                  <a:srgbClr val="FF0000"/>
                </a:solidFill>
                <a:latin typeface="Arial" panose="020B0604020202020204" pitchFamily="34" charset="0"/>
                <a:ea typeface="Arial" panose="020B0600000101010101" pitchFamily="50" charset="-127"/>
              </a:defRPr>
            </a:lvl4pPr>
            <a:lvl5pPr>
              <a:defRPr kumimoji="1" sz="1200" b="1">
                <a:solidFill>
                  <a:srgbClr val="FF0000"/>
                </a:solidFill>
                <a:latin typeface="Arial" panose="020B0604020202020204" pitchFamily="34" charset="0"/>
                <a:ea typeface="Arial"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Arial" panose="020B0600000101010101" pitchFamily="50" charset="-127"/>
              </a:defRPr>
            </a:lvl9pPr>
          </a:lstStyle>
          <a:p>
            <a:pPr>
              <a:defRPr>
                <a:latin typeface="Arial"/>
              </a:defRPr>
            </a:pPr>
            <a:r>
              <a:rPr>
                <a:latin typeface="Arial"/>
              </a:rPr>
              <a:t>Privacy &amp; Public Brightness Angle Effect:</a:t>
            </a:r>
          </a:p>
          <a:p>
            <a:pPr>
              <a:defRPr>
                <a:latin typeface="Arial"/>
              </a:defRPr>
            </a:pPr>
            <a:r>
              <a:rPr>
                <a:latin typeface="Arial"/>
              </a:rPr>
              <a:t>--&gt; Privacy displays utilize LCF (Louver Film) in BLU. Correcting CS2000 camera angle from 89° to 90° aligns measurement with peak LCF light transmission, increasing measured Privacy display brightness by ~13%. For general Public models, change is &lt; 0.5% (no compensation needed).</a:t>
            </a: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2801520"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0000101010101" pitchFamily="34" charset="-127"/>
                <a:ea typeface="Arial" panose="020B0600000101010101" pitchFamily="34" charset="-127"/>
                <a:cs typeface="Arial" panose="020B0604020202020204" pitchFamily="34" charset="0"/>
              </a:rPr>
              <a:t>Changing Camera angle</a:t>
            </a:r>
            <a:endParaRPr lang="en-US" sz="1200" b="1" dirty="0">
              <a:latin typeface="Arial" panose="020B0604020202020204" pitchFamily="34" charset="0"/>
              <a:ea typeface="Arial"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249934" cy="418058"/>
          </a:xfrm>
          <a:prstGeom prst="rect">
            <a:avLst/>
          </a:prstGeom>
        </p:spPr>
        <p:txBody>
          <a:bodyPr vert="horz" lIns="91440" tIns="45720" rIns="91440" bIns="45720" rtlCol="0" anchor="ctr">
            <a:noAutofit/>
          </a:bodyPr>
          <a:lstStyle/>
          <a:p>
            <a:pPr lvl="0" eaLnBrk="0" hangingPunct="0">
              <a:defRPr>
                <a:latin typeface="Arial"/>
              </a:defRPr>
            </a:pPr>
            <a:r>
              <a:rPr lang="vi-VN" altLang="ko-KR" sz="1600" b="1" kern="0" dirty="0">
                <a:latin typeface="Arial" panose="020B0606020202030204" pitchFamily="34" charset="0"/>
                <a:ea typeface="Arial" panose="020B0604020202020204" pitchFamily="34" charset="-128"/>
                <a:cs typeface="Arial" panose="020B0604020202020204" pitchFamily="34" charset="0"/>
              </a:rPr>
              <a:t>4.1</a:t>
            </a:r>
            <a:r>
              <a:rPr lang="en-US" altLang="ko-KR" sz="1600" b="1" kern="0" dirty="0">
                <a:latin typeface="Arial" panose="020B0606020202030204" pitchFamily="34" charset="0"/>
                <a:ea typeface="Arial" panose="020B0604020202020204" pitchFamily="34" charset="-128"/>
                <a:cs typeface="Arial" panose="020B0604020202020204" pitchFamily="34" charset="0"/>
              </a:rPr>
              <a:t> </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Improvement</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activity of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5369958"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4.2 Type</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1 Study again after improvement</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21336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Arial" panose="02020603020101020101" pitchFamily="18" charset="-127"/>
                <a:ea typeface="Arial" panose="02020603020101020101" pitchFamily="18" charset="-127"/>
                <a:cs typeface="Arial"/>
              </a:defRPr>
            </a:lvl1pPr>
            <a:lvl2pPr marL="4572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2pPr>
            <a:lvl3pPr marL="9144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3pPr>
            <a:lvl4pPr marL="13716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4pPr>
            <a:lvl5pPr marL="1828800" algn="l" rtl="0" fontAlgn="base" latinLnBrk="1">
              <a:spcBef>
                <a:spcPct val="0"/>
              </a:spcBef>
              <a:spcAft>
                <a:spcPct val="0"/>
              </a:spcAft>
              <a:defRPr kumimoji="1" kern="1200">
                <a:solidFill>
                  <a:schemeClr val="tx1"/>
                </a:solidFill>
                <a:latin typeface="Arial" pitchFamily="50" charset="-127"/>
                <a:ea typeface="Arial" pitchFamily="50" charset="-127"/>
                <a:cs typeface="Arial"/>
              </a:defRPr>
            </a:lvl5pPr>
            <a:lvl6pPr marL="2286000" algn="l" defTabSz="914400" rtl="0" eaLnBrk="1" latinLnBrk="1" hangingPunct="1">
              <a:defRPr kumimoji="1" kern="1200">
                <a:solidFill>
                  <a:schemeClr val="tx1"/>
                </a:solidFill>
                <a:latin typeface="Arial" pitchFamily="50" charset="-127"/>
                <a:ea typeface="Arial" pitchFamily="50" charset="-127"/>
                <a:cs typeface="Arial"/>
              </a:defRPr>
            </a:lvl6pPr>
            <a:lvl7pPr marL="2743200" algn="l" defTabSz="914400" rtl="0" eaLnBrk="1" latinLnBrk="1" hangingPunct="1">
              <a:defRPr kumimoji="1" kern="1200">
                <a:solidFill>
                  <a:schemeClr val="tx1"/>
                </a:solidFill>
                <a:latin typeface="Arial" pitchFamily="50" charset="-127"/>
                <a:ea typeface="Arial" pitchFamily="50" charset="-127"/>
                <a:cs typeface="Arial"/>
              </a:defRPr>
            </a:lvl7pPr>
            <a:lvl8pPr marL="3200400" algn="l" defTabSz="914400" rtl="0" eaLnBrk="1" latinLnBrk="1" hangingPunct="1">
              <a:defRPr kumimoji="1" kern="1200">
                <a:solidFill>
                  <a:schemeClr val="tx1"/>
                </a:solidFill>
                <a:latin typeface="Arial" pitchFamily="50" charset="-127"/>
                <a:ea typeface="Arial" pitchFamily="50" charset="-127"/>
                <a:cs typeface="Arial"/>
              </a:defRPr>
            </a:lvl8pPr>
            <a:lvl9pPr marL="3657600" algn="l" defTabSz="914400" rtl="0" eaLnBrk="1" latinLnBrk="1" hangingPunct="1">
              <a:defRPr kumimoji="1" kern="1200">
                <a:solidFill>
                  <a:schemeClr val="tx1"/>
                </a:solidFill>
                <a:latin typeface="Arial" pitchFamily="50" charset="-127"/>
                <a:ea typeface="Arial" pitchFamily="50" charset="-127"/>
                <a:cs typeface="Arial"/>
              </a:defRPr>
            </a:lvl9pPr>
          </a:lstStyle>
          <a:p>
            <a:pPr>
              <a:defRPr>
                <a:latin typeface="Arial"/>
              </a:defRPr>
            </a:pPr>
            <a:r>
              <a:rPr sz="1000" b="0">
                <a:latin typeface="Arial"/>
              </a:rPr>
              <a:t>21 / 33 </a:t>
            </a:r>
            <a:endParaRPr lang="ko-KR" altLang="en-US" dirty="0">
              <a:solidFill>
                <a:prstClr val="black">
                  <a:tint val="75000"/>
                </a:prstClr>
              </a:solidFill>
              <a:latin typeface="Arial" panose="020B0600000101010101" pitchFamily="34" charset="-127"/>
              <a:ea typeface="Arial"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spAutoFit/>
          </a:bodyPr>
          <a:lstStyle/>
          <a:p>
            <a:pPr>
              <a:spcBef>
                <a:spcPts val="600"/>
              </a:spcBef>
              <a:defRPr>
                <a:latin typeface="Arial"/>
              </a:defRPr>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a:spcBef>
                <a:spcPts val="600"/>
              </a:spcBef>
              <a:defRPr>
                <a:latin typeface="Arial"/>
              </a:defRPr>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Arial" panose="020B0600000101010101" pitchFamily="34" charset="-127"/>
              <a:ea typeface="Arial"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485001"/>
            <a:ext cx="20703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18" name="TextBox 17">
            <a:extLst>
              <a:ext uri="{FF2B5EF4-FFF2-40B4-BE49-F238E27FC236}">
                <a16:creationId xmlns:a16="http://schemas.microsoft.com/office/drawing/2014/main" id="{E90369EA-41CF-4BB7-95EE-33A74A74A411}"/>
              </a:ext>
            </a:extLst>
          </p:cNvPr>
          <p:cNvSpPr txBox="1"/>
          <p:nvPr/>
        </p:nvSpPr>
        <p:spPr>
          <a:xfrm>
            <a:off x="47625" y="5059740"/>
            <a:ext cx="4883332" cy="1569660"/>
          </a:xfrm>
          <a:prstGeom prst="rect">
            <a:avLst/>
          </a:prstGeom>
          <a:noFill/>
          <a:ln>
            <a:noFill/>
          </a:ln>
        </p:spPr>
        <p:txBody>
          <a:bodyPr wrap="square" rtlCol="0">
            <a:spAutoFit/>
          </a:bodyPr>
          <a:lstStyle/>
          <a:p>
            <a:pPr marL="171450" indent="-171450">
              <a:buFont typeface="Wingdings" panose="05000000000000000000" pitchFamily="2" charset="2"/>
              <a:buChar char="Ø"/>
              <a:defRPr>
                <a:latin typeface="Arial"/>
              </a:defRPr>
            </a:pPr>
            <a:r>
              <a:rPr lang="en-US" sz="1200" b="1" u="sng" dirty="0">
                <a:latin typeface="Arial" panose="020B0604020202020204" pitchFamily="34" charset="0"/>
                <a:ea typeface="Arial" panose="020B0604020202020204" pitchFamily="34" charset="-128"/>
                <a:cs typeface="Arial" panose="020B0604020202020204" pitchFamily="34" charset="0"/>
              </a:rPr>
              <a:t>Conclusion </a:t>
            </a:r>
          </a:p>
          <a:p>
            <a:pPr marL="171450" indent="-171450">
              <a:buFont typeface="Arial" panose="020B0604020202020204" pitchFamily="34" charset="0"/>
              <a:buChar char="•"/>
              <a:defRPr>
                <a:latin typeface="Arial"/>
              </a:defRPr>
            </a:pPr>
            <a:r>
              <a:rPr sz="1200" b="0">
                <a:latin typeface="Arial"/>
              </a:rPr>
              <a:t>P value = 0.926 &gt; α   Fail to reject H0 -&gt; Bias = 0 (No significant bias, System PASS)</a:t>
            </a:r>
          </a:p>
          <a:p>
            <a:pPr marL="171450" indent="-171450">
              <a:buFont typeface="Arial" panose="020B0604020202020204" pitchFamily="34" charset="0"/>
              <a:buChar char="•"/>
              <a:defRPr>
                <a:latin typeface="Arial"/>
              </a:defRPr>
            </a:pPr>
            <a:r>
              <a:rPr lang="vi-VN" sz="1200" dirty="0">
                <a:latin typeface="Arial" panose="020B0604020202020204" pitchFamily="34" charset="0"/>
                <a:ea typeface="Arial" panose="020B0604020202020204" pitchFamily="34" charset="-128"/>
                <a:cs typeface="Arial" panose="020B0604020202020204" pitchFamily="34" charset="0"/>
              </a:rPr>
              <a:t> </a:t>
            </a:r>
            <a:r>
              <a:rPr lang="en-US" sz="1200" dirty="0">
                <a:latin typeface="Arial" panose="020B0604020202020204" pitchFamily="34" charset="0"/>
                <a:ea typeface="Arial" panose="020B0604020202020204" pitchFamily="34" charset="-128"/>
                <a:cs typeface="Arial" panose="020B0604020202020204" pitchFamily="34" charset="0"/>
              </a:rPr>
              <a:t>Cg = 2.51 (Standard &gt;1.33)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PASS</a:t>
            </a:r>
            <a:endParaRPr lang="en-US" sz="1200" dirty="0">
              <a:latin typeface="Arial" panose="020B0604020202020204" pitchFamily="34" charset="0"/>
              <a:ea typeface="Arial" panose="020B0604020202020204" pitchFamily="34" charset="-128"/>
              <a:cs typeface="Arial" panose="020B0604020202020204" pitchFamily="34" charset="0"/>
            </a:endParaRP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 Cgk =</a:t>
            </a:r>
            <a:r>
              <a:rPr lang="vi-VN" sz="1200" dirty="0">
                <a:latin typeface="Arial" panose="020B0604020202020204" pitchFamily="34" charset="0"/>
                <a:ea typeface="Arial" panose="020B0604020202020204" pitchFamily="34" charset="-128"/>
                <a:cs typeface="Arial" panose="020B0604020202020204" pitchFamily="34" charset="0"/>
              </a:rPr>
              <a:t> </a:t>
            </a:r>
            <a:r>
              <a:rPr lang="en-US" sz="1200" dirty="0">
                <a:latin typeface="Arial" panose="020B0604020202020204" pitchFamily="34" charset="0"/>
                <a:ea typeface="Arial" panose="020B0604020202020204" pitchFamily="34" charset="-128"/>
                <a:cs typeface="Arial" panose="020B0604020202020204" pitchFamily="34" charset="0"/>
              </a:rPr>
              <a:t>2.50 (Standard &gt; 1.33)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PASS</a:t>
            </a: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%Var(Repeatability) = 7.98% (Standard&lt;10%)  PASS</a:t>
            </a:r>
          </a:p>
          <a:p>
            <a:pPr marL="171450" indent="-17145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%Var(Repeatability and Bias) = 8.00% (Standard &lt;10%)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PASS</a:t>
            </a:r>
          </a:p>
          <a:p>
            <a:pPr marL="171450" indent="-171450">
              <a:buFont typeface="Arial" panose="020B0604020202020204" pitchFamily="34" charset="0"/>
              <a:buChar char="•"/>
              <a:defRPr>
                <a:latin typeface="Arial"/>
              </a:defRPr>
            </a:pPr>
            <a:endParaRPr lang="en-US" sz="1200" dirty="0">
              <a:latin typeface="Arial" panose="020B0604020202020204" pitchFamily="34" charset="0"/>
              <a:ea typeface="Arial" panose="020B0604020202020204" pitchFamily="34" charset="-128"/>
              <a:cs typeface="Arial" panose="020B0604020202020204" pitchFamily="34" charset="0"/>
            </a:endParaRP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9525" y="6349162"/>
            <a:ext cx="4883332" cy="461665"/>
          </a:xfrm>
          <a:prstGeom prst="rect">
            <a:avLst/>
          </a:prstGeom>
          <a:noFill/>
        </p:spPr>
        <p:txBody>
          <a:bodyPr wrap="square" rtlCol="0">
            <a:spAutoFit/>
          </a:bodyPr>
          <a:lstStyle/>
          <a:p>
            <a:pPr marL="171450" indent="-171450">
              <a:buFont typeface="Wingdings" panose="05000000000000000000" pitchFamily="2" charset="2"/>
              <a:buChar char="à"/>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Equipment is OK and LMK camera CS2000 of Luminance station 2 can be used to measure Luminance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1100" b="1" i="0" u="none" strike="noStrike">
                          <a:solidFill>
                            <a:srgbClr val="000000"/>
                          </a:solidFill>
                          <a:effectLst/>
                          <a:latin typeface="Arial" panose="020B0604020202020204" pitchFamily="34" charset="0"/>
                        </a:rPr>
                        <a:t>Luminance(Cd/m</a:t>
                      </a:r>
                      <a:r>
                        <a:rPr lang="en-US" sz="1100" b="1" i="0" u="none" strike="noStrike" baseline="30000">
                          <a:solidFill>
                            <a:srgbClr val="000000"/>
                          </a:solidFill>
                          <a:effectLst/>
                          <a:latin typeface="Arial" panose="020B0604020202020204" pitchFamily="34" charset="0"/>
                        </a:rPr>
                        <a:t>2</a:t>
                      </a:r>
                      <a:r>
                        <a:rPr lang="en-US" sz="11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913.97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926.63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872.12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884.59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895.41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1100" b="0" i="0" u="none" strike="noStrike">
                          <a:solidFill>
                            <a:srgbClr val="000000"/>
                          </a:solidFill>
                          <a:effectLst/>
                          <a:latin typeface="Arial" panose="020F050202020403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883.01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24889"/>
            <a:ext cx="5354074" cy="1015663"/>
          </a:xfrm>
          <a:prstGeom prst="rect">
            <a:avLst/>
          </a:prstGeom>
          <a:noFill/>
        </p:spPr>
        <p:txBody>
          <a:bodyPr wrap="square" rtlCol="0">
            <a:spAutoFit/>
          </a:bodyPr>
          <a:lstStyle/>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Use gage study type 1 to assess the ability of component to measure based on repeatability and bias of the instrument after improvement.</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In this case, choose 1 sample and repeated test for 30 times.</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H0: Bias = 0 in measurement system.</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483810" cy="418058"/>
          </a:xfrm>
          <a:prstGeom prst="rect">
            <a:avLst/>
          </a:prstGeom>
        </p:spPr>
        <p:txBody>
          <a:bodyPr vert="horz" lIns="91440" tIns="45720" rIns="91440" bIns="45720" rtlCol="0" anchor="ctr">
            <a:normAutofit/>
          </a:bodyPr>
          <a:lstStyle/>
          <a:p>
            <a:pPr lvl="0" eaLnBrk="0" hangingPunct="0">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4.2 Check type 3 study again after improvement</a:t>
            </a:r>
            <a:endParaRPr lang="ko-KR" altLang="en-US" sz="1600" b="1" kern="0" dirty="0">
              <a:latin typeface="Arial" panose="020B0606020202030204" pitchFamily="34" charset="0"/>
              <a:ea typeface="Arial" panose="020B0604020202020204" pitchFamily="34" charset="-128"/>
              <a:cs typeface="Arial" panose="020B0604020202020204" pitchFamily="34" charset="0"/>
            </a:endParaRPr>
          </a:p>
        </p:txBody>
      </p:sp>
      <p:sp>
        <p:nvSpPr>
          <p:cNvPr id="23" name="TextBox 22">
            <a:extLst>
              <a:ext uri="{FF2B5EF4-FFF2-40B4-BE49-F238E27FC236}">
                <a16:creationId xmlns:a16="http://schemas.microsoft.com/office/drawing/2014/main" id="{7E780F4B-5672-40A9-A54C-41F7670782F4}"/>
              </a:ext>
            </a:extLst>
          </p:cNvPr>
          <p:cNvSpPr txBox="1"/>
          <p:nvPr/>
        </p:nvSpPr>
        <p:spPr>
          <a:xfrm>
            <a:off x="126340" y="831597"/>
            <a:ext cx="9281571" cy="830997"/>
          </a:xfrm>
          <a:prstGeom prst="rect">
            <a:avLst/>
          </a:prstGeom>
          <a:noFill/>
        </p:spPr>
        <p:txBody>
          <a:bodyPr wrap="square" rtlCol="0">
            <a:spAutoFit/>
          </a:bodyPr>
          <a:lstStyle/>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We only test gage study1, still need to evaluate repeatability and reproducibility at both stations.</a:t>
            </a:r>
          </a:p>
          <a:p>
            <a:pPr latinLnBrk="0">
              <a:defRPr>
                <a:latin typeface="Arial"/>
              </a:defRPr>
            </a:pPr>
            <a:r>
              <a:rPr sz="1000" b="0">
                <a:latin typeface="Arial"/>
              </a:rPr>
              <a:t>Because Luminance stations are fully automated with no operator variation, Type 3 Gage Study is conducted (25 samples measured twice per station).</a:t>
            </a:r>
          </a:p>
          <a:p>
            <a:pPr latinLnBrk="0">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Use 25 samples measured repeat 2 times to verify each station.</a:t>
            </a: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22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4" name="Rectangle 3">
            <a:extLst>
              <a:ext uri="{FF2B5EF4-FFF2-40B4-BE49-F238E27FC236}">
                <a16:creationId xmlns:a16="http://schemas.microsoft.com/office/drawing/2014/main" id="{48934BF3-CC0B-450B-ACCE-8B259B73DAE4}"/>
              </a:ext>
            </a:extLst>
          </p:cNvPr>
          <p:cNvSpPr/>
          <p:nvPr/>
        </p:nvSpPr>
        <p:spPr>
          <a:xfrm>
            <a:off x="2971800" y="5957694"/>
            <a:ext cx="1765227" cy="261610"/>
          </a:xfrm>
          <a:prstGeom prst="rect">
            <a:avLst/>
          </a:prstGeom>
        </p:spPr>
        <p:txBody>
          <a:bodyPr wrap="none">
            <a:spAutoFit/>
          </a:bodyPr>
          <a:lstStyle/>
          <a:p>
            <a:pPr>
              <a:defRPr>
                <a:latin typeface="Arial"/>
              </a:defRPr>
            </a:pPr>
            <a:r>
              <a:rPr lang="en-US" sz="1100" dirty="0">
                <a:latin typeface="Arial" panose="020B0604020202020204" pitchFamily="34" charset="0"/>
                <a:ea typeface="Arial" panose="020B0604020202020204" pitchFamily="34" charset="-128"/>
                <a:cs typeface="Arial" panose="020B0604020202020204" pitchFamily="34" charset="0"/>
              </a:rPr>
              <a:t>Spec: 800- 2000 (Cd/m</a:t>
            </a:r>
            <a:r>
              <a:rPr lang="en-US" sz="1100" baseline="30000" dirty="0">
                <a:latin typeface="Arial" panose="020B0604020202020204" pitchFamily="34" charset="0"/>
                <a:ea typeface="Arial" panose="020B0604020202020204" pitchFamily="34" charset="-128"/>
                <a:cs typeface="Arial" panose="020B0604020202020204" pitchFamily="34" charset="0"/>
              </a:rPr>
              <a:t>2</a:t>
            </a:r>
            <a:r>
              <a:rPr lang="en-US" sz="1100" dirty="0">
                <a:latin typeface="Arial" panose="020B0604020202020204" pitchFamily="34" charset="0"/>
                <a:ea typeface="Arial" panose="020B0604020202020204" pitchFamily="34" charset="-128"/>
                <a:cs typeface="Arial" panose="020B0604020202020204" pitchFamily="34" charset="0"/>
              </a:rPr>
              <a:t>)</a:t>
            </a:r>
            <a:endParaRPr lang="en-US" sz="1100" dirty="0"/>
          </a:p>
        </p:txBody>
      </p:sp>
      <p:graphicFrame>
        <p:nvGraphicFramePr>
          <p:cNvPr id="13" name="Table 12">
            <a:extLst>
              <a:ext uri="{FF2B5EF4-FFF2-40B4-BE49-F238E27FC236}">
                <a16:creationId xmlns:a16="http://schemas.microsoft.com/office/drawing/2014/main" id="{97CD21B4-9085-48D2-BDDD-DFAD010B4C16}"/>
              </a:ext>
            </a:extLst>
          </p:cNvPr>
          <p:cNvGraphicFramePr>
            <a:graphicFrameLocks noGrp="1"/>
          </p:cNvGraphicFramePr>
          <p:nvPr>
            <p:extLst>
              <p:ext uri="{D42A27DB-BD31-4B8C-83A1-F6EECF244321}">
                <p14:modId xmlns:p14="http://schemas.microsoft.com/office/powerpoint/2010/main" val="3234795596"/>
              </p:ext>
            </p:extLst>
          </p:nvPr>
        </p:nvGraphicFramePr>
        <p:xfrm>
          <a:off x="251820" y="1683120"/>
          <a:ext cx="2719980" cy="4641480"/>
        </p:xfrm>
        <a:graphic>
          <a:graphicData uri="http://schemas.openxmlformats.org/drawingml/2006/table">
            <a:tbl>
              <a:tblPr/>
              <a:tblGrid>
                <a:gridCol w="281580">
                  <a:extLst>
                    <a:ext uri="{9D8B030D-6E8A-4147-A177-3AD203B41FA5}">
                      <a16:colId xmlns:a16="http://schemas.microsoft.com/office/drawing/2014/main" val="2320095060"/>
                    </a:ext>
                  </a:extLst>
                </a:gridCol>
                <a:gridCol w="1143000">
                  <a:extLst>
                    <a:ext uri="{9D8B030D-6E8A-4147-A177-3AD203B41FA5}">
                      <a16:colId xmlns:a16="http://schemas.microsoft.com/office/drawing/2014/main" val="1078060711"/>
                    </a:ext>
                  </a:extLst>
                </a:gridCol>
                <a:gridCol w="304800">
                  <a:extLst>
                    <a:ext uri="{9D8B030D-6E8A-4147-A177-3AD203B41FA5}">
                      <a16:colId xmlns:a16="http://schemas.microsoft.com/office/drawing/2014/main" val="367826593"/>
                    </a:ext>
                  </a:extLst>
                </a:gridCol>
                <a:gridCol w="990600">
                  <a:extLst>
                    <a:ext uri="{9D8B030D-6E8A-4147-A177-3AD203B41FA5}">
                      <a16:colId xmlns:a16="http://schemas.microsoft.com/office/drawing/2014/main" val="704243827"/>
                    </a:ext>
                  </a:extLst>
                </a:gridCol>
              </a:tblGrid>
              <a:tr h="155003">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No</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latin typeface="Arial"/>
                        </a:defRPr>
                      </a:pPr>
                      <a:r>
                        <a:rPr lang="en-US" sz="800" b="1" i="0" u="none" strike="noStrike" dirty="0">
                          <a:solidFill>
                            <a:srgbClr val="000000"/>
                          </a:solidFill>
                          <a:effectLst/>
                          <a:latin typeface="Arial" panose="020B0604020202020204" pitchFamily="34" charset="0"/>
                        </a:rPr>
                        <a:t>Luminance(Cd/m</a:t>
                      </a:r>
                      <a:r>
                        <a:rPr lang="en-US" sz="800" b="1" i="0" u="none" strike="noStrike" baseline="30000" dirty="0">
                          <a:solidFill>
                            <a:srgbClr val="000000"/>
                          </a:solidFill>
                          <a:effectLst/>
                          <a:latin typeface="Arial" panose="020B0604020202020204" pitchFamily="34" charset="0"/>
                        </a:rPr>
                        <a:t>2</a:t>
                      </a:r>
                      <a:r>
                        <a:rPr lang="en-US" sz="800" b="1" i="0" u="none" strike="noStrike" dirty="0">
                          <a:solidFill>
                            <a:srgbClr val="000000"/>
                          </a:solidFill>
                          <a:effectLst/>
                          <a:latin typeface="Arial" panose="020B0604020202020204" pitchFamily="34" charset="0"/>
                        </a:rPr>
                        <a:t>)</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No</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latin typeface="Arial"/>
                        </a:defRPr>
                      </a:pPr>
                      <a:r>
                        <a:rPr lang="en-US" sz="800" b="1" i="0" u="none" strike="noStrike" dirty="0">
                          <a:solidFill>
                            <a:srgbClr val="000000"/>
                          </a:solidFill>
                          <a:effectLst/>
                          <a:latin typeface="Arial" panose="020B0604020202020204" pitchFamily="34" charset="0"/>
                        </a:rPr>
                        <a:t>Luminance(Cd/m</a:t>
                      </a:r>
                      <a:r>
                        <a:rPr lang="en-US" sz="800" b="1" i="0" u="none" strike="noStrike" baseline="30000" dirty="0">
                          <a:solidFill>
                            <a:srgbClr val="000000"/>
                          </a:solidFill>
                          <a:effectLst/>
                          <a:latin typeface="Arial" panose="020B0604020202020204" pitchFamily="34" charset="0"/>
                        </a:rPr>
                        <a:t>2</a:t>
                      </a:r>
                      <a:r>
                        <a:rPr lang="en-US" sz="800" b="1" i="0" u="none" strike="noStrike" dirty="0">
                          <a:solidFill>
                            <a:srgbClr val="000000"/>
                          </a:solidFill>
                          <a:effectLst/>
                          <a:latin typeface="Arial" panose="020B0604020202020204" pitchFamily="34" charset="0"/>
                        </a:rPr>
                        <a:t>)</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97676853"/>
                  </a:ext>
                </a:extLst>
              </a:tr>
              <a:tr h="180837">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867.90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839.46</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1386091"/>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865.27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901.79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7861849"/>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944.79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898.47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576868"/>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946.33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936.63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2069964"/>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843.90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936.27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9423515"/>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845.25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890.28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6910737"/>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920.68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887.88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8461390"/>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921.04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845.39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3694466"/>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859.34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848.02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4700972"/>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861.23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862.92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619298"/>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963.60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859.34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2462213"/>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965.47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838.59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8174214"/>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866.30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19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842.81</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5086670"/>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867.55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20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932.33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148766"/>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941.27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20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931.95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2804902"/>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938.62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21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847.79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2667530"/>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873.52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851.88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4926631"/>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872.70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886.95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3373319"/>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937.93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22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a:solidFill>
                            <a:srgbClr val="000000"/>
                          </a:solidFill>
                          <a:effectLst/>
                          <a:latin typeface="Arial" panose="020F0502020204030204" pitchFamily="34" charset="0"/>
                        </a:rPr>
                        <a:t>883.41</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282064"/>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935.27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23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910.18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7672813"/>
                  </a:ext>
                </a:extLst>
              </a:tr>
              <a:tr h="180837">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853.15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912.26</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117694"/>
                  </a:ext>
                </a:extLst>
              </a:tr>
              <a:tr h="172225">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854.44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901.24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532500"/>
                  </a:ext>
                </a:extLst>
              </a:tr>
              <a:tr h="172225">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921.24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899.79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9783059"/>
                  </a:ext>
                </a:extLst>
              </a:tr>
              <a:tr h="172225">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924.31</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25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903.05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273900"/>
                  </a:ext>
                </a:extLst>
              </a:tr>
              <a:tr h="172225">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13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845.39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defRPr>
                          <a:latin typeface="Arial"/>
                        </a:defRPr>
                      </a:pPr>
                      <a:r>
                        <a:rPr lang="en-US" sz="800" b="1" i="0" u="none" strike="noStrike" dirty="0">
                          <a:solidFill>
                            <a:srgbClr val="000000"/>
                          </a:solidFill>
                          <a:effectLst/>
                          <a:latin typeface="Arial" panose="020B0604020202020204" pitchFamily="34" charset="0"/>
                        </a:rPr>
                        <a:t>25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defRPr>
                          <a:latin typeface="Arial"/>
                        </a:defRPr>
                      </a:pPr>
                      <a:r>
                        <a:rPr lang="en-US" sz="900" b="0" i="0" u="none" strike="noStrike" dirty="0">
                          <a:solidFill>
                            <a:srgbClr val="000000"/>
                          </a:solidFill>
                          <a:effectLst/>
                          <a:latin typeface="Arial" panose="020F0502020204030204" pitchFamily="34" charset="0"/>
                        </a:rPr>
                        <a:t>896.84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733928"/>
                  </a:ext>
                </a:extLst>
              </a:tr>
            </a:tbl>
          </a:graphicData>
        </a:graphic>
      </p:graphicFrame>
      <p:sp>
        <p:nvSpPr>
          <p:cNvPr id="27" name="TextBox 26">
            <a:extLst>
              <a:ext uri="{FF2B5EF4-FFF2-40B4-BE49-F238E27FC236}">
                <a16:creationId xmlns:a16="http://schemas.microsoft.com/office/drawing/2014/main" id="{CEE611CC-43DE-4F63-94E1-F430738FAB0D}"/>
              </a:ext>
            </a:extLst>
          </p:cNvPr>
          <p:cNvSpPr txBox="1"/>
          <p:nvPr/>
        </p:nvSpPr>
        <p:spPr>
          <a:xfrm>
            <a:off x="51362" y="557313"/>
            <a:ext cx="20703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1 Luminance</a:t>
            </a:r>
          </a:p>
        </p:txBody>
      </p:sp>
      <p:sp>
        <p:nvSpPr>
          <p:cNvPr id="31" name="Rectangle 30">
            <a:extLst>
              <a:ext uri="{FF2B5EF4-FFF2-40B4-BE49-F238E27FC236}">
                <a16:creationId xmlns:a16="http://schemas.microsoft.com/office/drawing/2014/main" id="{09C1A86B-E1F6-43DD-86C2-969578BFB53A}"/>
              </a:ext>
            </a:extLst>
          </p:cNvPr>
          <p:cNvSpPr/>
          <p:nvPr/>
        </p:nvSpPr>
        <p:spPr>
          <a:xfrm>
            <a:off x="219480" y="6267844"/>
            <a:ext cx="5190720" cy="339260"/>
          </a:xfrm>
          <a:prstGeom prst="rect">
            <a:avLst/>
          </a:prstGeom>
        </p:spPr>
        <p:txBody>
          <a:bodyPr wrap="square">
            <a:spAutoFit/>
          </a:bodyPr>
          <a:lstStyle/>
          <a:p>
            <a:pPr latinLnBrk="0">
              <a:lnSpc>
                <a:spcPct val="150000"/>
              </a:lnSpc>
              <a:defRPr>
                <a:latin typeface="Arial"/>
              </a:defRPr>
            </a:pPr>
            <a:r>
              <a:rPr lang="en-US" sz="1200" b="1" dirty="0">
                <a:latin typeface="Arial" panose="020B0600000101010101" pitchFamily="34" charset="-127"/>
                <a:ea typeface="Arial" panose="020B0600000101010101" pitchFamily="34" charset="-127"/>
              </a:rPr>
              <a:t>Gage R&amp;R conclusion: </a:t>
            </a:r>
            <a:r>
              <a:rPr lang="en-US" sz="1200" dirty="0">
                <a:latin typeface="Arial" panose="020B0600000101010101" pitchFamily="34" charset="-127"/>
                <a:ea typeface="Arial" panose="020B0600000101010101" pitchFamily="34" charset="-127"/>
                <a:cs typeface="Arial" panose="020B0604020202020204" pitchFamily="34" charset="0"/>
              </a:rPr>
              <a:t>The measurement system in station 1 is Good</a:t>
            </a:r>
            <a:endParaRPr lang="en-US" sz="1200" dirty="0">
              <a:latin typeface="Arial" panose="020B0600000101010101" pitchFamily="34" charset="-127"/>
              <a:ea typeface="Arial" panose="020B0600000101010101" pitchFamily="34" charset="-127"/>
            </a:endParaRPr>
          </a:p>
        </p:txBody>
      </p:sp>
      <p:sp>
        <p:nvSpPr>
          <p:cNvPr id="32" name="TextBox 31">
            <a:extLst>
              <a:ext uri="{FF2B5EF4-FFF2-40B4-BE49-F238E27FC236}">
                <a16:creationId xmlns:a16="http://schemas.microsoft.com/office/drawing/2014/main" id="{92540360-258F-46E8-8DEE-474F710DF22D}"/>
              </a:ext>
            </a:extLst>
          </p:cNvPr>
          <p:cNvSpPr txBox="1"/>
          <p:nvPr/>
        </p:nvSpPr>
        <p:spPr>
          <a:xfrm>
            <a:off x="5698444" y="5119661"/>
            <a:ext cx="4310999" cy="1015663"/>
          </a:xfrm>
          <a:prstGeom prst="rect">
            <a:avLst/>
          </a:prstGeom>
          <a:noFill/>
        </p:spPr>
        <p:txBody>
          <a:bodyPr wrap="square" rtlCol="0">
            <a:spAutoFit/>
          </a:bodyPr>
          <a:lstStyle/>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 Contribution of Gage </a:t>
            </a:r>
            <a:r>
              <a:rPr lang="vi-VN" sz="1200" dirty="0">
                <a:latin typeface="Arial" panose="020B0604020202020204" pitchFamily="34" charset="0"/>
                <a:ea typeface="Arial" panose="020B0604020202020204" pitchFamily="34" charset="-128"/>
                <a:cs typeface="Arial" panose="020B0604020202020204" pitchFamily="34" charset="0"/>
              </a:rPr>
              <a:t>R&amp;R = </a:t>
            </a:r>
            <a:r>
              <a:rPr lang="en-US" sz="1200" dirty="0">
                <a:latin typeface="Arial" panose="020B0604020202020204" pitchFamily="34" charset="0"/>
                <a:ea typeface="Arial" panose="020B0604020202020204" pitchFamily="34" charset="-128"/>
                <a:cs typeface="Arial" panose="020B0604020202020204" pitchFamily="34" charset="0"/>
              </a:rPr>
              <a:t>0.29 &lt; </a:t>
            </a:r>
            <a:r>
              <a:rPr lang="vi-VN" sz="1200" dirty="0">
                <a:latin typeface="Arial" panose="020B0604020202020204" pitchFamily="34" charset="0"/>
                <a:ea typeface="Arial" panose="020B0604020202020204" pitchFamily="34" charset="-128"/>
                <a:cs typeface="Arial" panose="020B0604020202020204" pitchFamily="34" charset="0"/>
              </a:rPr>
              <a:t>10% </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a:t>
            </a:r>
            <a:r>
              <a:rPr lang="en-US"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endParaRPr>
          </a:p>
          <a:p>
            <a:pPr marL="171450" indent="-171450" latinLnBrk="0">
              <a:buFont typeface="Arial" panose="020B0604020202020204" pitchFamily="34" charset="0"/>
              <a:buChar char="•"/>
              <a:defRPr>
                <a:latin typeface="Arial"/>
              </a:defRPr>
            </a:pP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Study Var =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5.39 </a:t>
            </a:r>
            <a:r>
              <a:rPr lang="en-US" sz="1200" dirty="0">
                <a:latin typeface="Arial" panose="020B0604020202020204" pitchFamily="34" charset="0"/>
                <a:ea typeface="Arial" panose="020B0604020202020204" pitchFamily="34" charset="-128"/>
                <a:cs typeface="Arial" panose="020B0604020202020204" pitchFamily="34" charset="0"/>
              </a:rPr>
              <a:t>&lt; </a:t>
            </a:r>
            <a:r>
              <a:rPr lang="vi-VN" sz="1200" dirty="0">
                <a:latin typeface="Arial" panose="020B0604020202020204" pitchFamily="34" charset="0"/>
                <a:ea typeface="Arial" panose="020B0604020202020204" pitchFamily="34" charset="-128"/>
                <a:cs typeface="Arial" panose="020B0604020202020204" pitchFamily="34" charset="0"/>
              </a:rPr>
              <a:t>10% </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a:t>
            </a:r>
            <a:r>
              <a:rPr lang="en-US"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itchFamily="2" charset="2"/>
              </a:rPr>
              <a:t>OK</a:t>
            </a:r>
            <a:endParaRPr lang="en-US" sz="1200" dirty="0">
              <a:solidFill>
                <a:srgbClr val="006600"/>
              </a:solidFill>
              <a:latin typeface="Arial" panose="020B0600000101010101" pitchFamily="34" charset="-127"/>
              <a:ea typeface="Arial" panose="020B0600000101010101" pitchFamily="34" charset="-127"/>
              <a:sym typeface="Wingdings" pitchFamily="2" charset="2"/>
            </a:endParaRPr>
          </a:p>
          <a:p>
            <a:pPr marL="171450" indent="-171450" latinLnBrk="0">
              <a:buFont typeface="Arial" panose="020B0604020202020204" pitchFamily="34" charset="0"/>
              <a:buChar char="•"/>
              <a:defRPr>
                <a:latin typeface="Arial"/>
              </a:defRPr>
            </a:pPr>
            <a:r>
              <a:rPr lang="en-US" sz="1200" noProof="1">
                <a:latin typeface="Arial" panose="020B0600000101010101" pitchFamily="34" charset="-127"/>
                <a:ea typeface="Arial" panose="020B0600000101010101" pitchFamily="34" charset="-127"/>
              </a:rPr>
              <a:t>% Tolerance= 1.02 % </a:t>
            </a:r>
            <a:r>
              <a:rPr lang="en-US" sz="1200" dirty="0">
                <a:latin typeface="Arial" panose="020B0604020202020204" pitchFamily="34" charset="0"/>
                <a:ea typeface="Arial" panose="020B0604020202020204" pitchFamily="34" charset="-128"/>
                <a:cs typeface="Arial" panose="020B0604020202020204" pitchFamily="34" charset="0"/>
              </a:rPr>
              <a:t>&lt;</a:t>
            </a:r>
            <a:r>
              <a:rPr lang="en-US" sz="1200" noProof="1">
                <a:latin typeface="Arial" panose="020B0600000101010101" pitchFamily="34" charset="-127"/>
                <a:ea typeface="Arial" panose="020B0600000101010101" pitchFamily="34" charset="-127"/>
              </a:rPr>
              <a:t> 10% </a:t>
            </a:r>
            <a:r>
              <a:rPr lang="en-US" sz="1200" dirty="0">
                <a:latin typeface="Arial" panose="020B0600000101010101" pitchFamily="34" charset="-127"/>
                <a:ea typeface="Arial" panose="020B0600000101010101" pitchFamily="34" charset="-127"/>
                <a:sym typeface="Wingdings" pitchFamily="2" charset="2"/>
              </a:rPr>
              <a:t> </a:t>
            </a:r>
            <a:r>
              <a:rPr lang="en-US" sz="12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itchFamily="2" charset="2"/>
              </a:rPr>
              <a:t>NDC: 26 &gt; 5  OK</a:t>
            </a:r>
          </a:p>
          <a:p>
            <a:pPr latinLnBrk="0">
              <a:defRPr>
                <a:latin typeface="Arial"/>
              </a:defRPr>
            </a:pPr>
            <a:endParaRPr lang="en-US" sz="1200" dirty="0">
              <a:latin typeface="Arial" panose="020B0604020202020204" pitchFamily="34" charset="0"/>
              <a:ea typeface="Arial"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A786E974-04D9-4003-953F-1624E2972D11}"/>
              </a:ext>
            </a:extLst>
          </p:cNvPr>
          <p:cNvPicPr>
            <a:picLocks noChangeAspect="1"/>
          </p:cNvPicPr>
          <p:nvPr/>
        </p:nvPicPr>
        <p:blipFill>
          <a:blip r:embed="rId3"/>
          <a:stretch>
            <a:fillRect/>
          </a:stretch>
        </p:blipFill>
        <p:spPr>
          <a:xfrm>
            <a:off x="2981325" y="1822801"/>
            <a:ext cx="2569021" cy="3645320"/>
          </a:xfrm>
          <a:prstGeom prst="rect">
            <a:avLst/>
          </a:prstGeom>
        </p:spPr>
      </p:pic>
      <p:pic>
        <p:nvPicPr>
          <p:cNvPr id="5" name="Picture 4">
            <a:extLst>
              <a:ext uri="{FF2B5EF4-FFF2-40B4-BE49-F238E27FC236}">
                <a16:creationId xmlns:a16="http://schemas.microsoft.com/office/drawing/2014/main" id="{F579DB64-10E5-4BE0-9E68-AB5550A52832}"/>
              </a:ext>
            </a:extLst>
          </p:cNvPr>
          <p:cNvPicPr>
            <a:picLocks noChangeAspect="1"/>
          </p:cNvPicPr>
          <p:nvPr/>
        </p:nvPicPr>
        <p:blipFill>
          <a:blip r:embed="rId4"/>
          <a:stretch>
            <a:fillRect/>
          </a:stretch>
        </p:blipFill>
        <p:spPr>
          <a:xfrm>
            <a:off x="5789789" y="1755421"/>
            <a:ext cx="4005973" cy="3008418"/>
          </a:xfrm>
          <a:prstGeom prst="rect">
            <a:avLst/>
          </a:prstGeom>
        </p:spPr>
      </p:pic>
      <p:sp>
        <p:nvSpPr>
          <p:cNvPr id="17" name="AutoShape 57">
            <a:extLst>
              <a:ext uri="{FF2B5EF4-FFF2-40B4-BE49-F238E27FC236}">
                <a16:creationId xmlns:a16="http://schemas.microsoft.com/office/drawing/2014/main" id="{A8A20566-6A11-4281-B6A6-4827686DAF5A}"/>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18" name="AutoShape 55">
            <a:extLst>
              <a:ext uri="{FF2B5EF4-FFF2-40B4-BE49-F238E27FC236}">
                <a16:creationId xmlns:a16="http://schemas.microsoft.com/office/drawing/2014/main" id="{0AAAAE11-962F-4905-A704-79C99CD624BF}"/>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6">
            <a:extLst>
              <a:ext uri="{FF2B5EF4-FFF2-40B4-BE49-F238E27FC236}">
                <a16:creationId xmlns:a16="http://schemas.microsoft.com/office/drawing/2014/main" id="{65C4F444-965B-4E90-AAB3-86012AF21074}"/>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22" name="AutoShape 59">
            <a:extLst>
              <a:ext uri="{FF2B5EF4-FFF2-40B4-BE49-F238E27FC236}">
                <a16:creationId xmlns:a16="http://schemas.microsoft.com/office/drawing/2014/main" id="{B53444EE-0D82-41A0-9F29-932D68773F89}"/>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8" name="AutoShape 58">
            <a:extLst>
              <a:ext uri="{FF2B5EF4-FFF2-40B4-BE49-F238E27FC236}">
                <a16:creationId xmlns:a16="http://schemas.microsoft.com/office/drawing/2014/main" id="{1F71CA43-BD44-40DA-A6CC-F39D9CDDF9CC}"/>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cxnSp>
        <p:nvCxnSpPr>
          <p:cNvPr id="29" name="Straight Connector 28">
            <a:extLst>
              <a:ext uri="{FF2B5EF4-FFF2-40B4-BE49-F238E27FC236}">
                <a16:creationId xmlns:a16="http://schemas.microsoft.com/office/drawing/2014/main" id="{F25EF069-A357-49D4-BCF3-59C570CAC0D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649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8915400" cy="418058"/>
          </a:xfrm>
          <a:prstGeom prst="rect">
            <a:avLst/>
          </a:prstGeom>
        </p:spPr>
        <p:txBody>
          <a:bodyPr vert="horz" lIns="91440" tIns="45720" rIns="91440" bIns="45720" rtlCol="0" anchor="ctr">
            <a:normAutofit/>
          </a:bodyPr>
          <a:lstStyle/>
          <a:p>
            <a:pPr lvl="0" eaLnBrk="0" hangingPunct="0">
              <a:defRPr>
                <a:latin typeface="Arial"/>
              </a:defRPr>
            </a:pPr>
            <a:r>
              <a:rPr lang="en-US" altLang="ko-KR" sz="1600" b="1" kern="0" noProof="0" dirty="0">
                <a:latin typeface="Arial" panose="020B0606020202030204" pitchFamily="34" charset="0"/>
                <a:ea typeface="Arial" panose="020B0604020202020204" pitchFamily="34" charset="-128"/>
                <a:cs typeface="Arial" panose="020B0604020202020204" pitchFamily="34" charset="0"/>
              </a:rPr>
              <a:t>4.</a:t>
            </a:r>
            <a:r>
              <a:rPr lang="en-US" altLang="ko-KR" sz="1600" b="1" kern="0" dirty="0">
                <a:latin typeface="Arial" panose="020B0606020202030204" pitchFamily="34" charset="0"/>
                <a:ea typeface="Arial"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a:t>
            </a:r>
            <a:r>
              <a:rPr lang="en-US" altLang="ko-KR" sz="1600" b="1" kern="0" dirty="0">
                <a:latin typeface="Arial" panose="020B0606020202030204" pitchFamily="34" charset="0"/>
                <a:ea typeface="Arial" panose="020B0604020202020204" pitchFamily="34" charset="-128"/>
                <a:cs typeface="Arial" panose="020B0604020202020204" pitchFamily="34" charset="0"/>
              </a:rPr>
              <a:t>Check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23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931435" cy="1015663"/>
          </a:xfrm>
          <a:prstGeom prst="rect">
            <a:avLst/>
          </a:prstGeom>
          <a:noFill/>
        </p:spPr>
        <p:txBody>
          <a:bodyPr wrap="square" rtlCol="0">
            <a:spAutoFit/>
          </a:bodyPr>
          <a:lstStyle/>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rPr>
              <a:t>% Contribution of Gage </a:t>
            </a:r>
            <a:r>
              <a:rPr lang="vi-VN" sz="1200" dirty="0">
                <a:latin typeface="Arial" panose="020B0604020202020204" pitchFamily="34" charset="0"/>
                <a:ea typeface="Arial" panose="020B0604020202020204" pitchFamily="34" charset="-128"/>
                <a:cs typeface="Arial" panose="020B0604020202020204" pitchFamily="34" charset="0"/>
              </a:rPr>
              <a:t>R&amp;R = </a:t>
            </a:r>
            <a:r>
              <a:rPr lang="en-US" sz="1200" dirty="0">
                <a:latin typeface="Arial" panose="020B0604020202020204" pitchFamily="34" charset="0"/>
                <a:ea typeface="Arial" panose="020B0604020202020204" pitchFamily="34" charset="-128"/>
                <a:cs typeface="Arial" panose="020B0604020202020204" pitchFamily="34" charset="0"/>
              </a:rPr>
              <a:t>0.21</a:t>
            </a:r>
            <a:r>
              <a:rPr lang="vi-VN" sz="1200" dirty="0">
                <a:latin typeface="Arial" panose="020B0604020202020204" pitchFamily="34" charset="0"/>
                <a:ea typeface="Arial" panose="020B0604020202020204" pitchFamily="34" charset="-128"/>
                <a:cs typeface="Arial" panose="020B0604020202020204" pitchFamily="34" charset="0"/>
              </a:rPr>
              <a:t>% </a:t>
            </a:r>
            <a:r>
              <a:rPr lang="en-US" sz="1200" dirty="0">
                <a:latin typeface="Arial" panose="020B0604020202020204" pitchFamily="34" charset="0"/>
                <a:ea typeface="Arial" panose="020B0604020202020204" pitchFamily="34" charset="-128"/>
                <a:cs typeface="Arial" panose="020B0604020202020204" pitchFamily="34" charset="0"/>
              </a:rPr>
              <a:t>&lt;</a:t>
            </a:r>
            <a:r>
              <a:rPr lang="vi-VN" sz="1200" dirty="0">
                <a:latin typeface="Arial" panose="020B0604020202020204" pitchFamily="34" charset="0"/>
                <a:ea typeface="Arial" panose="020B0604020202020204" pitchFamily="34" charset="-128"/>
                <a:cs typeface="Arial" panose="020B0604020202020204" pitchFamily="34" charset="0"/>
              </a:rPr>
              <a:t> 10% </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a:t>
            </a:r>
            <a:r>
              <a:rPr lang="en-US"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endParaRPr>
          </a:p>
          <a:p>
            <a:pPr marL="171450" indent="-171450" latinLnBrk="0">
              <a:buFont typeface="Arial" panose="020B0604020202020204" pitchFamily="34" charset="0"/>
              <a:buChar char="•"/>
              <a:defRPr>
                <a:latin typeface="Arial"/>
              </a:defRPr>
            </a:pP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Study Var =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4.58</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a:t>
            </a:r>
            <a:r>
              <a:rPr lang="en-US"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&lt;</a:t>
            </a:r>
            <a:r>
              <a:rPr lang="vi-VN" sz="1200" dirty="0">
                <a:latin typeface="Arial" panose="020B0604020202020204" pitchFamily="34" charset="0"/>
                <a:ea typeface="Arial" panose="020B0604020202020204" pitchFamily="34" charset="-128"/>
                <a:cs typeface="Arial" panose="020B0604020202020204" pitchFamily="34" charset="0"/>
              </a:rPr>
              <a:t> 10% </a:t>
            </a:r>
            <a:r>
              <a:rPr lang="vi-VN" sz="1200" dirty="0">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 </a:t>
            </a:r>
            <a:r>
              <a:rPr lang="en-US"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panose="020B0604020202020204" pitchFamily="34" charset="-128"/>
              <a:cs typeface="Arial" panose="020B0604020202020204" pitchFamily="34" charset="0"/>
              <a:sym typeface="Wingdings" panose="05000000000000000000" pitchFamily="2" charset="2"/>
            </a:endParaRPr>
          </a:p>
          <a:p>
            <a:pPr marL="171450" indent="-171450" latinLnBrk="0">
              <a:buFont typeface="Arial" panose="020B0604020202020204" pitchFamily="34" charset="0"/>
              <a:buChar char="•"/>
              <a:defRPr>
                <a:latin typeface="Arial"/>
              </a:defRPr>
            </a:pPr>
            <a:r>
              <a:rPr lang="en-US" sz="1200" noProof="1">
                <a:latin typeface="Arial" panose="020B0600000101010101" pitchFamily="34" charset="-127"/>
                <a:ea typeface="Arial" panose="020B0600000101010101" pitchFamily="34" charset="-127"/>
              </a:rPr>
              <a:t>% Tolerance= 0.85 % &lt; 10% </a:t>
            </a:r>
            <a:r>
              <a:rPr lang="en-US" sz="1200" dirty="0">
                <a:latin typeface="Arial" panose="020B0600000101010101" pitchFamily="34" charset="-127"/>
                <a:ea typeface="Arial" panose="020B0600000101010101" pitchFamily="34" charset="-127"/>
                <a:sym typeface="Wingdings" pitchFamily="2" charset="2"/>
              </a:rPr>
              <a:t> </a:t>
            </a:r>
            <a:r>
              <a:rPr lang="en-US" sz="12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latinLnBrk="0">
              <a:buFont typeface="Arial" panose="020B0604020202020204" pitchFamily="34" charset="0"/>
              <a:buChar char="•"/>
              <a:defRPr>
                <a:latin typeface="Arial"/>
              </a:defRPr>
            </a:pPr>
            <a:r>
              <a:rPr lang="en-US" sz="1200" dirty="0">
                <a:latin typeface="Arial" panose="020B0604020202020204" pitchFamily="34" charset="0"/>
                <a:ea typeface="Arial" panose="020B0604020202020204" pitchFamily="34" charset="-128"/>
                <a:cs typeface="Arial" panose="020B0604020202020204" pitchFamily="34" charset="0"/>
                <a:sym typeface="Wingdings" pitchFamily="2" charset="2"/>
              </a:rPr>
              <a:t>NDC: 30 &gt; 5  OK</a:t>
            </a:r>
            <a:r>
              <a:rPr lang="vi-VN" sz="1200" dirty="0">
                <a:latin typeface="Arial" panose="020B0604020202020204" pitchFamily="34" charset="0"/>
                <a:ea typeface="Arial"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spAutoFit/>
          </a:bodyPr>
          <a:lstStyle/>
          <a:p>
            <a:pPr marL="171450" indent="-171450" latinLnBrk="0">
              <a:buFont typeface="Wingdings" panose="05000000000000000000" pitchFamily="2" charset="2"/>
              <a:buChar char="Ø"/>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sym typeface="Wingdings" pitchFamily="2" charset="2"/>
              </a:rPr>
              <a:t>Conclusion</a:t>
            </a:r>
            <a:r>
              <a:rPr lang="vi-VN" sz="1200" dirty="0">
                <a:latin typeface="Arial" panose="020B0604020202020204" pitchFamily="34" charset="0"/>
                <a:ea typeface="Arial" panose="020B0604020202020204" pitchFamily="34" charset="-128"/>
                <a:cs typeface="Arial" panose="020B0604020202020204" pitchFamily="34" charset="0"/>
                <a:sym typeface="Wingdings" pitchFamily="2" charset="2"/>
              </a:rPr>
              <a:t> </a:t>
            </a:r>
            <a:r>
              <a:rPr lang="en-US" sz="1200" dirty="0">
                <a:latin typeface="Arial" panose="020B0604020202020204" pitchFamily="34" charset="0"/>
                <a:ea typeface="Arial" panose="020B0604020202020204" pitchFamily="34" charset="-128"/>
                <a:cs typeface="Arial" panose="020B0604020202020204" pitchFamily="34" charset="0"/>
                <a:sym typeface="Wingdings" pitchFamily="2" charset="2"/>
              </a:rPr>
              <a:t>: Measurement system of station 2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a:defRPr>
                <a:latin typeface="Arial"/>
              </a:defRPr>
            </a:pPr>
            <a:r>
              <a:rPr sz="1000" b="0">
                <a:latin typeface="Arial"/>
              </a:rPr>
              <a:t>After adjusting camera angle to 90.0°, Type 3 Gage Study was repeated for Station 2 to verify measurement repeatability.</a:t>
            </a:r>
            <a:endParaRPr lang="ko-KR" altLang="en-US" sz="1200" b="1" dirty="0">
              <a:solidFill>
                <a:srgbClr val="000000"/>
              </a:solidFill>
              <a:latin typeface="Arial" panose="020B0600000101010101" pitchFamily="34" charset="-127"/>
              <a:ea typeface="Arial"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fontAlgn="ctr">
                        <a:defRPr>
                          <a:latin typeface="Arial"/>
                        </a:defRPr>
                      </a:pPr>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a:solidFill>
                            <a:srgbClr val="000000"/>
                          </a:solidFill>
                          <a:effectLst/>
                          <a:latin typeface="Arial" panose="020F0502020204030204" pitchFamily="34" charset="0"/>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000" b="0" i="0" u="none" strike="noStrike" dirty="0">
                          <a:solidFill>
                            <a:srgbClr val="000000"/>
                          </a:solidFill>
                          <a:effectLst/>
                          <a:latin typeface="Arial" panose="020F0502020204030204" pitchFamily="34" charset="0"/>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81293" cy="418058"/>
          </a:xfrm>
          <a:prstGeom prst="rect">
            <a:avLst/>
          </a:prstGeom>
        </p:spPr>
        <p:txBody>
          <a:bodyPr vert="horz" lIns="91440" tIns="45720" rIns="91440" bIns="45720" rtlCol="0" anchor="ctr">
            <a:normAutofit/>
          </a:bodyPr>
          <a:lstStyle/>
          <a:p>
            <a:pPr lvl="0" eaLnBrk="0" hangingPunct="0">
              <a:defRPr>
                <a:latin typeface="Arial"/>
              </a:defRPr>
            </a:pP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4.3 Xbar-R Chart</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Review </a:t>
            </a:r>
            <a:r>
              <a:rPr lang="en-US" altLang="ko-KR" sz="1600" b="1" kern="0" dirty="0">
                <a:latin typeface="Arial" panose="020B0606020202030204" pitchFamily="34" charset="0"/>
                <a:ea typeface="Arial" panose="020B0604020202020204" pitchFamily="34" charset="-128"/>
                <a:cs typeface="Arial" panose="020B0604020202020204" pitchFamily="34" charset="0"/>
              </a:rPr>
              <a:t>after improving the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43" name="TextBox 42"/>
          <p:cNvSpPr txBox="1"/>
          <p:nvPr/>
        </p:nvSpPr>
        <p:spPr>
          <a:xfrm>
            <a:off x="67106" y="842041"/>
            <a:ext cx="9457894" cy="461665"/>
          </a:xfrm>
          <a:prstGeom prst="rect">
            <a:avLst/>
          </a:prstGeom>
          <a:noFill/>
        </p:spPr>
        <p:txBody>
          <a:bodyPr wrap="square" rtlCol="0">
            <a:spAutoFit/>
          </a:bodyPr>
          <a:lstStyle/>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Sampling method: Rational sub group sampling</a:t>
            </a:r>
            <a:r>
              <a:rPr lang="vi-VN" altLang="ko-KR" sz="1200" dirty="0">
                <a:latin typeface="Arial" panose="020B0604020202020204" pitchFamily="34" charset="0"/>
                <a:ea typeface="Arial" panose="020B0604020202020204" pitchFamily="34" charset="-128"/>
                <a:cs typeface="Arial" panose="020B0604020202020204" pitchFamily="34" charset="0"/>
              </a:rPr>
              <a:t> </a:t>
            </a:r>
            <a:r>
              <a:rPr lang="en-US" altLang="ko-KR" sz="1200" dirty="0">
                <a:latin typeface="Arial" panose="020B0604020202020204" pitchFamily="34" charset="0"/>
                <a:ea typeface="Arial" panose="020B0604020202020204" pitchFamily="34" charset="-128"/>
                <a:cs typeface="Arial" panose="020B0604020202020204" pitchFamily="34" charset="0"/>
              </a:rPr>
              <a:t>firsts 5ea/day at production line for 10 days to analyze:</a:t>
            </a:r>
          </a:p>
        </p:txBody>
      </p:sp>
      <p:graphicFrame>
        <p:nvGraphicFramePr>
          <p:cNvPr id="12" name="Diagram 11"/>
          <p:cNvGraphicFramePr/>
          <p:nvPr>
            <p:extLst/>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44016" y="5823484"/>
            <a:ext cx="9228584" cy="646331"/>
          </a:xfrm>
          <a:prstGeom prst="rect">
            <a:avLst/>
          </a:prstGeom>
          <a:noFill/>
        </p:spPr>
        <p:txBody>
          <a:bodyPr wrap="square" rtlCol="0">
            <a:spAutoFit/>
          </a:bodyPr>
          <a:lstStyle/>
          <a:p>
            <a:pPr marL="171450" indent="-171450">
              <a:buFont typeface="Wingdings" panose="05000000000000000000" pitchFamily="2" charset="2"/>
              <a:buChar char="Ø"/>
              <a:defRPr>
                <a:latin typeface="Arial"/>
              </a:defRPr>
            </a:pPr>
            <a:r>
              <a:rPr lang="en-US" altLang="ko-KR" sz="1200" b="1" u="sng" dirty="0">
                <a:latin typeface="Arial" panose="020B0604020202020204" pitchFamily="34" charset="0"/>
                <a:ea typeface="Arial" panose="020B0600000101010101" pitchFamily="34" charset="-127"/>
                <a:cs typeface="Arial" panose="020B0604020202020204" pitchFamily="34" charset="0"/>
              </a:rPr>
              <a:t>Conclusion:</a:t>
            </a:r>
            <a:r>
              <a:rPr lang="vi-VN" altLang="ko-KR" sz="1200" b="1" u="sng" dirty="0">
                <a:latin typeface="Arial" panose="020B0604020202020204" pitchFamily="34" charset="0"/>
                <a:ea typeface="Arial" panose="020B0600000101010101" pitchFamily="34" charset="-127"/>
                <a:cs typeface="Arial" panose="020B0604020202020204" pitchFamily="34" charset="0"/>
              </a:rPr>
              <a:t> </a:t>
            </a:r>
          </a:p>
          <a:p>
            <a:pPr marL="171450" indent="-171450">
              <a:buFont typeface="Arial" panose="020B0604020202020204" pitchFamily="34" charset="0"/>
              <a:buChar char="•"/>
              <a:defRPr>
                <a:latin typeface="Arial"/>
              </a:defRPr>
            </a:pPr>
            <a:r>
              <a:rPr lang="en-US" altLang="en-US" sz="1200" dirty="0">
                <a:latin typeface="Arial" panose="020B0600000101010101" pitchFamily="34" charset="-127"/>
                <a:ea typeface="Arial" panose="020B0600000101010101" pitchFamily="34" charset="-127"/>
              </a:rPr>
              <a:t>No abnormality can be found in the Xbar control chart and the R control chart. Therefore, stability is acceptable, the performance of process over time is Good</a:t>
            </a:r>
            <a:endParaRPr lang="en-US" altLang="ko-KR" sz="1200" dirty="0">
              <a:latin typeface="Arial" panose="020B0604020202020204" pitchFamily="34" charset="0"/>
              <a:ea typeface="Arial" panose="020B0600000101010101" pitchFamily="34" charset="-127"/>
              <a:cs typeface="Arial" panose="020B0604020202020204" pitchFamily="34" charset="0"/>
            </a:endParaRPr>
          </a:p>
        </p:txBody>
      </p: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24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1" name="AutoShape 57">
            <a:extLst>
              <a:ext uri="{FF2B5EF4-FFF2-40B4-BE49-F238E27FC236}">
                <a16:creationId xmlns:a16="http://schemas.microsoft.com/office/drawing/2014/main" id="{FC2AADA2-7ABC-4D8D-BE22-7EF0DFC84E45}"/>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2" name="AutoShape 56">
            <a:extLst>
              <a:ext uri="{FF2B5EF4-FFF2-40B4-BE49-F238E27FC236}">
                <a16:creationId xmlns:a16="http://schemas.microsoft.com/office/drawing/2014/main" id="{5E74889D-BC3B-4CC2-A97B-0F77D2495EAE}"/>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23" name="AutoShape 58">
            <a:extLst>
              <a:ext uri="{FF2B5EF4-FFF2-40B4-BE49-F238E27FC236}">
                <a16:creationId xmlns:a16="http://schemas.microsoft.com/office/drawing/2014/main" id="{91238B10-8FED-4C48-BDE2-4FBBF1E228A6}"/>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
        <p:nvSpPr>
          <p:cNvPr id="20" name="TextBox 19">
            <a:extLst>
              <a:ext uri="{FF2B5EF4-FFF2-40B4-BE49-F238E27FC236}">
                <a16:creationId xmlns:a16="http://schemas.microsoft.com/office/drawing/2014/main" id="{37E2590F-A62F-4944-934D-B57B4522B109}"/>
              </a:ext>
            </a:extLst>
          </p:cNvPr>
          <p:cNvSpPr txBox="1"/>
          <p:nvPr/>
        </p:nvSpPr>
        <p:spPr>
          <a:xfrm>
            <a:off x="63248" y="535377"/>
            <a:ext cx="35181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1 Luminance</a:t>
            </a:r>
          </a:p>
        </p:txBody>
      </p:sp>
      <p:graphicFrame>
        <p:nvGraphicFramePr>
          <p:cNvPr id="8" name="Table 7">
            <a:extLst>
              <a:ext uri="{FF2B5EF4-FFF2-40B4-BE49-F238E27FC236}">
                <a16:creationId xmlns:a16="http://schemas.microsoft.com/office/drawing/2014/main" id="{DFBA1A7A-0E76-45AC-82EE-E65F89C7B769}"/>
              </a:ext>
            </a:extLst>
          </p:cNvPr>
          <p:cNvGraphicFramePr>
            <a:graphicFrameLocks noGrp="1"/>
          </p:cNvGraphicFramePr>
          <p:nvPr>
            <p:extLst>
              <p:ext uri="{D42A27DB-BD31-4B8C-83A1-F6EECF244321}">
                <p14:modId xmlns:p14="http://schemas.microsoft.com/office/powerpoint/2010/main" val="1585198051"/>
              </p:ext>
            </p:extLst>
          </p:nvPr>
        </p:nvGraphicFramePr>
        <p:xfrm>
          <a:off x="163797" y="1821588"/>
          <a:ext cx="4038600" cy="3282168"/>
        </p:xfrm>
        <a:graphic>
          <a:graphicData uri="http://schemas.openxmlformats.org/drawingml/2006/table">
            <a:tbl>
              <a:tblPr/>
              <a:tblGrid>
                <a:gridCol w="673100">
                  <a:extLst>
                    <a:ext uri="{9D8B030D-6E8A-4147-A177-3AD203B41FA5}">
                      <a16:colId xmlns:a16="http://schemas.microsoft.com/office/drawing/2014/main" val="2340100333"/>
                    </a:ext>
                  </a:extLst>
                </a:gridCol>
                <a:gridCol w="673100">
                  <a:extLst>
                    <a:ext uri="{9D8B030D-6E8A-4147-A177-3AD203B41FA5}">
                      <a16:colId xmlns:a16="http://schemas.microsoft.com/office/drawing/2014/main" val="1167583010"/>
                    </a:ext>
                  </a:extLst>
                </a:gridCol>
                <a:gridCol w="673100">
                  <a:extLst>
                    <a:ext uri="{9D8B030D-6E8A-4147-A177-3AD203B41FA5}">
                      <a16:colId xmlns:a16="http://schemas.microsoft.com/office/drawing/2014/main" val="4066901643"/>
                    </a:ext>
                  </a:extLst>
                </a:gridCol>
                <a:gridCol w="673100">
                  <a:extLst>
                    <a:ext uri="{9D8B030D-6E8A-4147-A177-3AD203B41FA5}">
                      <a16:colId xmlns:a16="http://schemas.microsoft.com/office/drawing/2014/main" val="1960153468"/>
                    </a:ext>
                  </a:extLst>
                </a:gridCol>
                <a:gridCol w="673100">
                  <a:extLst>
                    <a:ext uri="{9D8B030D-6E8A-4147-A177-3AD203B41FA5}">
                      <a16:colId xmlns:a16="http://schemas.microsoft.com/office/drawing/2014/main" val="2368877709"/>
                    </a:ext>
                  </a:extLst>
                </a:gridCol>
                <a:gridCol w="673100">
                  <a:extLst>
                    <a:ext uri="{9D8B030D-6E8A-4147-A177-3AD203B41FA5}">
                      <a16:colId xmlns:a16="http://schemas.microsoft.com/office/drawing/2014/main" val="1989563177"/>
                    </a:ext>
                  </a:extLst>
                </a:gridCol>
              </a:tblGrid>
              <a:tr h="257128">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Date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73820387"/>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879.90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878.25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891.17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921.47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911.97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1336354"/>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918.79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908.47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897.79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906.27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921.88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1208290"/>
                  </a:ext>
                </a:extLst>
              </a:tr>
              <a:tr h="302504">
                <a:tc>
                  <a:txBody>
                    <a:bodyPr/>
                    <a:lstStyle/>
                    <a:p>
                      <a:pPr algn="ctr" rtl="0" fontAlgn="ctr">
                        <a:defRPr>
                          <a:latin typeface="Arial"/>
                        </a:defRPr>
                      </a:pPr>
                      <a:r>
                        <a:rPr lang="en-US" sz="1000" b="1" i="0" u="none" strike="noStrike" dirty="0">
                          <a:solidFill>
                            <a:srgbClr val="000000"/>
                          </a:solidFill>
                          <a:effectLst/>
                          <a:latin typeface="Arial" panose="020B0600000101010101" pitchFamily="34" charset="-127"/>
                          <a:ea typeface="Arial" panose="020B0600000101010101" pitchFamily="34" charset="-127"/>
                        </a:rPr>
                        <a:t>3-Jul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920.61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929.42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914.50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930.37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902.39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7767888"/>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913.69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907.88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901.92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922.89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9502995"/>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902.26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898.68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916.27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0151649"/>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903.05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880.62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929.37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7871683"/>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911.27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897.62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077226"/>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896.84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890.74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893.58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909.34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1744127"/>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919.62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915.27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921.51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901.95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7223075"/>
                  </a:ext>
                </a:extLst>
              </a:tr>
              <a:tr h="302504">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893.52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888.02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875.39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926.85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6335670"/>
                  </a:ext>
                </a:extLst>
              </a:tr>
            </a:tbl>
          </a:graphicData>
        </a:graphic>
      </p:graphicFrame>
      <p:pic>
        <p:nvPicPr>
          <p:cNvPr id="2" name="Picture 1">
            <a:extLst>
              <a:ext uri="{FF2B5EF4-FFF2-40B4-BE49-F238E27FC236}">
                <a16:creationId xmlns:a16="http://schemas.microsoft.com/office/drawing/2014/main" id="{36823C64-CC70-4821-82AF-F464E87BEC31}"/>
              </a:ext>
            </a:extLst>
          </p:cNvPr>
          <p:cNvPicPr>
            <a:picLocks noChangeAspect="1"/>
          </p:cNvPicPr>
          <p:nvPr/>
        </p:nvPicPr>
        <p:blipFill>
          <a:blip r:embed="rId8"/>
          <a:stretch>
            <a:fillRect/>
          </a:stretch>
        </p:blipFill>
        <p:spPr>
          <a:xfrm>
            <a:off x="4505779" y="1709532"/>
            <a:ext cx="5106818" cy="3438935"/>
          </a:xfrm>
          <a:prstGeom prst="rect">
            <a:avLst/>
          </a:prstGeom>
        </p:spPr>
      </p:pic>
    </p:spTree>
    <p:extLst>
      <p:ext uri="{BB962C8B-B14F-4D97-AF65-F5344CB8AC3E}">
        <p14:creationId xmlns:p14="http://schemas.microsoft.com/office/powerpoint/2010/main" val="1774996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867093" cy="418058"/>
          </a:xfrm>
          <a:prstGeom prst="rect">
            <a:avLst/>
          </a:prstGeom>
        </p:spPr>
        <p:txBody>
          <a:bodyPr vert="horz" lIns="91440" tIns="45720" rIns="91440" bIns="45720" rtlCol="0" anchor="ctr">
            <a:normAutofit/>
          </a:bodyPr>
          <a:lstStyle/>
          <a:p>
            <a:pPr lvl="0" eaLnBrk="0" hangingPunct="0">
              <a:defRPr>
                <a:latin typeface="Arial"/>
              </a:defRPr>
            </a:pPr>
            <a:r>
              <a:rPr lang="en-US" altLang="ko-KR" sz="1600" b="1" kern="0" dirty="0">
                <a:latin typeface="Arial" panose="020B0606020202030204" pitchFamily="34" charset="0"/>
                <a:ea typeface="Arial" panose="020B0604020202020204" pitchFamily="34" charset="-128"/>
                <a:cs typeface="Arial" panose="020B0604020202020204" pitchFamily="34" charset="0"/>
              </a:rPr>
              <a:t>4.3 Xbar-R Chart Review after improving the measurement system</a:t>
            </a:r>
            <a:endParaRPr lang="ko-KR" altLang="en-US" sz="1600" b="1" kern="0" dirty="0">
              <a:latin typeface="Arial" panose="020B0606020202030204" pitchFamily="34" charset="0"/>
              <a:ea typeface="Arial" panose="020B0604020202020204" pitchFamily="34" charset="-128"/>
              <a:cs typeface="Arial" panose="020B0604020202020204" pitchFamily="34" charset="0"/>
            </a:endParaRPr>
          </a:p>
        </p:txBody>
      </p:sp>
      <p:graphicFrame>
        <p:nvGraphicFramePr>
          <p:cNvPr id="12" name="Diagram 11"/>
          <p:cNvGraphicFramePr/>
          <p:nvPr>
            <p:extLst/>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25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1" name="AutoShape 57">
            <a:extLst>
              <a:ext uri="{FF2B5EF4-FFF2-40B4-BE49-F238E27FC236}">
                <a16:creationId xmlns:a16="http://schemas.microsoft.com/office/drawing/2014/main" id="{78C39ED3-565A-4056-8BB5-76E484D6F4B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2" name="AutoShape 56">
            <a:extLst>
              <a:ext uri="{FF2B5EF4-FFF2-40B4-BE49-F238E27FC236}">
                <a16:creationId xmlns:a16="http://schemas.microsoft.com/office/drawing/2014/main" id="{374B8463-85EB-4D78-8390-CE3FE100BAE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23" name="AutoShape 58">
            <a:extLst>
              <a:ext uri="{FF2B5EF4-FFF2-40B4-BE49-F238E27FC236}">
                <a16:creationId xmlns:a16="http://schemas.microsoft.com/office/drawing/2014/main" id="{1618D9F1-F2DD-4E3F-92E3-2BB7598EB23A}"/>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a:buFont typeface="Wingdings" panose="05000000000000000000" pitchFamily="2" charset="2"/>
              <a:buChar char="Ø"/>
              <a:defRPr>
                <a:latin typeface="Arial"/>
              </a:defRPr>
            </a:pPr>
            <a:r>
              <a:rPr lang="en-US" altLang="ko-KR" sz="1200" b="1" u="sng" dirty="0">
                <a:latin typeface="Arial" panose="020B0604020202020204" pitchFamily="34" charset="0"/>
                <a:ea typeface="Arial" panose="020B0600000101010101" pitchFamily="34" charset="-127"/>
                <a:cs typeface="Arial" panose="020B0604020202020204" pitchFamily="34" charset="0"/>
              </a:rPr>
              <a:t>Conclusion:</a:t>
            </a:r>
            <a:r>
              <a:rPr lang="vi-VN" altLang="ko-KR" sz="1200" b="1" u="sng" dirty="0">
                <a:latin typeface="Arial" panose="020B0604020202020204" pitchFamily="34" charset="0"/>
                <a:ea typeface="Arial" panose="020B0600000101010101" pitchFamily="34" charset="-127"/>
                <a:cs typeface="Arial" panose="020B0604020202020204" pitchFamily="34" charset="0"/>
              </a:rPr>
              <a:t> </a:t>
            </a:r>
          </a:p>
          <a:p>
            <a:pPr marL="171450" indent="-171450">
              <a:buFont typeface="Arial" panose="020B0604020202020204" pitchFamily="34" charset="0"/>
              <a:buChar char="•"/>
              <a:defRPr>
                <a:latin typeface="Arial"/>
              </a:defRPr>
            </a:pPr>
            <a:r>
              <a:rPr lang="en-US" altLang="en-US" sz="1200" dirty="0">
                <a:latin typeface="Arial" panose="020B0600000101010101" pitchFamily="34" charset="-127"/>
                <a:ea typeface="Arial" panose="020B0600000101010101" pitchFamily="34" charset="-127"/>
              </a:rPr>
              <a:t>No abnormality can be found in the Xbar control chart and the R control chart. Therefore, stability is acceptable, the performance of process over time is Good</a:t>
            </a:r>
            <a:endParaRPr lang="en-US" altLang="ko-KR" sz="1200" dirty="0">
              <a:latin typeface="Arial" panose="020B0604020202020204" pitchFamily="34" charset="0"/>
              <a:ea typeface="Arial"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defRPr>
                          <a:latin typeface="Arial"/>
                        </a:defRPr>
                      </a:pPr>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fontAlgn="ctr">
                        <a:defRPr>
                          <a:latin typeface="Arial"/>
                        </a:defRPr>
                      </a:pPr>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rPr>
              <a:t>- Sampling method: Rational sub group sampling</a:t>
            </a:r>
            <a:r>
              <a:rPr lang="vi-VN" altLang="ko-KR" sz="1200" dirty="0">
                <a:latin typeface="Arial" panose="020B0604020202020204" pitchFamily="34" charset="0"/>
                <a:ea typeface="Arial" panose="020B0604020202020204" pitchFamily="34" charset="-128"/>
                <a:cs typeface="Arial" panose="020B0604020202020204" pitchFamily="34" charset="0"/>
              </a:rPr>
              <a:t> </a:t>
            </a:r>
            <a:r>
              <a:rPr lang="en-US" altLang="ko-KR" sz="1200" dirty="0">
                <a:latin typeface="Arial" panose="020B0604020202020204" pitchFamily="34" charset="0"/>
                <a:ea typeface="Arial" panose="020B0604020202020204" pitchFamily="34" charset="-128"/>
                <a:cs typeface="Arial" panose="020B0604020202020204" pitchFamily="34" charset="0"/>
              </a:rPr>
              <a:t>firsts 5ea/day at production line for 10 days to analyze:</a:t>
            </a:r>
          </a:p>
        </p:txBody>
      </p:sp>
    </p:spTree>
    <p:extLst>
      <p:ext uri="{BB962C8B-B14F-4D97-AF65-F5344CB8AC3E}">
        <p14:creationId xmlns:p14="http://schemas.microsoft.com/office/powerpoint/2010/main" val="1308763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extLst/>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26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4969699" y="5930887"/>
            <a:ext cx="4682798" cy="616259"/>
          </a:xfrm>
          <a:prstGeom prst="rect">
            <a:avLst/>
          </a:prstGeom>
          <a:noFill/>
        </p:spPr>
        <p:txBody>
          <a:bodyPr wrap="square" rtlCol="0">
            <a:spAutoFit/>
          </a:bodyPr>
          <a:lstStyle/>
          <a:p>
            <a:pPr>
              <a:defRPr>
                <a:latin typeface="Arial"/>
              </a:defRPr>
            </a:pPr>
            <a:r>
              <a:rPr>
                <a:latin typeface="Arial"/>
              </a:rPr>
              <a:t>Cpk = 2.15 (Standard ≥ 1.33 for mass production, ≥ 1.67 for 6 Sigma excellence) --&gt; Process capability is EXCELLENT.</a:t>
            </a:r>
          </a:p>
        </p:txBody>
      </p:sp>
      <p:sp>
        <p:nvSpPr>
          <p:cNvPr id="22" name="TextBox 21">
            <a:extLst>
              <a:ext uri="{FF2B5EF4-FFF2-40B4-BE49-F238E27FC236}">
                <a16:creationId xmlns:a16="http://schemas.microsoft.com/office/drawing/2014/main" id="{91A13D46-5B91-4121-A651-FD19FF223FEC}"/>
              </a:ext>
            </a:extLst>
          </p:cNvPr>
          <p:cNvSpPr txBox="1"/>
          <p:nvPr/>
        </p:nvSpPr>
        <p:spPr>
          <a:xfrm>
            <a:off x="361030" y="6050271"/>
            <a:ext cx="4876800" cy="616259"/>
          </a:xfrm>
          <a:prstGeom prst="rect">
            <a:avLst/>
          </a:prstGeom>
          <a:noFill/>
        </p:spPr>
        <p:txBody>
          <a:bodyPr wrap="square" rtlCol="0">
            <a:spAutoFit/>
          </a:bodyPr>
          <a:lstStyle/>
          <a:p>
            <a:pPr>
              <a:lnSpc>
                <a:spcPct val="150000"/>
              </a:lnSpc>
              <a:defRPr>
                <a:latin typeface="Arial"/>
              </a:defRPr>
            </a:pPr>
            <a:r>
              <a:rPr lang="en-US" sz="1200" dirty="0">
                <a:latin typeface="Arial" panose="020B0600000101010101" pitchFamily="34" charset="-127"/>
                <a:ea typeface="Arial" panose="020B0600000101010101" pitchFamily="34" charset="-127"/>
                <a:cs typeface="Arial" panose="020B0604020202020204" pitchFamily="34" charset="0"/>
              </a:rPr>
              <a:t>P-Value = 0.444 &gt; 0.05 </a:t>
            </a:r>
            <a:r>
              <a:rPr lang="en-US" sz="12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p>
          <a:p>
            <a:pPr>
              <a:lnSpc>
                <a:spcPct val="150000"/>
              </a:lnSpc>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sym typeface="Wingdings" pitchFamily="2" charset="2"/>
              </a:rPr>
              <a:t>(</a:t>
            </a:r>
            <a:r>
              <a:rPr lang="en-US" altLang="ko-KR" sz="1200" dirty="0">
                <a:latin typeface="Arial" panose="020B0600000101010101" pitchFamily="34" charset="-127"/>
                <a:ea typeface="Arial" panose="020B0600000101010101" pitchFamily="34" charset="-127"/>
                <a:cs typeface="Arial"/>
                <a:sym typeface="Wingdings" pitchFamily="2" charset="2"/>
              </a:rPr>
              <a:t>It has a normal distribution</a:t>
            </a:r>
            <a:r>
              <a:rPr lang="en-US" altLang="ko-KR" sz="1200" dirty="0">
                <a:latin typeface="Arial" panose="020B0604020202020204" pitchFamily="34" charset="0"/>
                <a:ea typeface="Arial" panose="020B0604020202020204" pitchFamily="34" charset="-128"/>
                <a:cs typeface="Arial" panose="020B0604020202020204" pitchFamily="34" charset="0"/>
                <a:sym typeface="Wingdings" pitchFamily="2" charset="2"/>
              </a:rPr>
              <a:t>)</a:t>
            </a:r>
            <a:r>
              <a:rPr lang="en-US" sz="1200" dirty="0">
                <a:latin typeface="Arial" panose="020B0600000101010101" pitchFamily="34" charset="-127"/>
                <a:ea typeface="Arial" panose="020B0600000101010101" pitchFamily="34" charset="-127"/>
                <a:cs typeface="Arial" panose="020B0604020202020204" pitchFamily="34" charset="0"/>
              </a:rPr>
              <a:t> </a:t>
            </a:r>
          </a:p>
        </p:txBody>
      </p:sp>
      <p:sp>
        <p:nvSpPr>
          <p:cNvPr id="27" name="제목 1">
            <a:extLst>
              <a:ext uri="{FF2B5EF4-FFF2-40B4-BE49-F238E27FC236}">
                <a16:creationId xmlns:a16="http://schemas.microsoft.com/office/drawing/2014/main" id="{DDE9B228-729B-47C3-9105-92CCCB7E7710}"/>
              </a:ext>
            </a:extLst>
          </p:cNvPr>
          <p:cNvSpPr txBox="1">
            <a:spLocks/>
          </p:cNvSpPr>
          <p:nvPr/>
        </p:nvSpPr>
        <p:spPr>
          <a:xfrm>
            <a:off x="85125" y="89839"/>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noProof="0" dirty="0">
                <a:latin typeface="Arial" panose="020B0606020202030204" pitchFamily="34" charset="0"/>
                <a:ea typeface="Arial"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28" name="TextBox 27">
            <a:extLst>
              <a:ext uri="{FF2B5EF4-FFF2-40B4-BE49-F238E27FC236}">
                <a16:creationId xmlns:a16="http://schemas.microsoft.com/office/drawing/2014/main" id="{ECE32947-3AE0-4F5F-A54D-B86A1B5F090E}"/>
              </a:ext>
            </a:extLst>
          </p:cNvPr>
          <p:cNvSpPr txBox="1"/>
          <p:nvPr/>
        </p:nvSpPr>
        <p:spPr>
          <a:xfrm>
            <a:off x="4626" y="612442"/>
            <a:ext cx="2357574"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1</a:t>
            </a:r>
            <a:r>
              <a:rPr lang="en-US" sz="1200" b="1" dirty="0">
                <a:latin typeface="Arial" panose="020B0604020202020204" pitchFamily="34" charset="0"/>
                <a:ea typeface="Arial" panose="020B0604020202020204" pitchFamily="34" charset="-128"/>
                <a:cs typeface="Arial" panose="020B0604020202020204" pitchFamily="34" charset="0"/>
              </a:rPr>
              <a:t> Luminance</a:t>
            </a:r>
          </a:p>
        </p:txBody>
      </p:sp>
      <p:sp>
        <p:nvSpPr>
          <p:cNvPr id="24" name="AutoShape 57">
            <a:extLst>
              <a:ext uri="{FF2B5EF4-FFF2-40B4-BE49-F238E27FC236}">
                <a16:creationId xmlns:a16="http://schemas.microsoft.com/office/drawing/2014/main" id="{28BD15D5-6D32-408C-A6FB-4836EF1DA03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5" name="AutoShape 56">
            <a:extLst>
              <a:ext uri="{FF2B5EF4-FFF2-40B4-BE49-F238E27FC236}">
                <a16:creationId xmlns:a16="http://schemas.microsoft.com/office/drawing/2014/main" id="{20A84D37-79F0-405E-A5EB-1C489E8F4A7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29" name="AutoShape 58">
            <a:extLst>
              <a:ext uri="{FF2B5EF4-FFF2-40B4-BE49-F238E27FC236}">
                <a16:creationId xmlns:a16="http://schemas.microsoft.com/office/drawing/2014/main" id="{1DDFF762-6353-4C56-9B3C-905A3BA397BC}"/>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pic>
        <p:nvPicPr>
          <p:cNvPr id="2" name="Picture 1">
            <a:extLst>
              <a:ext uri="{FF2B5EF4-FFF2-40B4-BE49-F238E27FC236}">
                <a16:creationId xmlns:a16="http://schemas.microsoft.com/office/drawing/2014/main" id="{E2C64297-EACD-4185-924B-57DD27FA9B37}"/>
              </a:ext>
            </a:extLst>
          </p:cNvPr>
          <p:cNvPicPr>
            <a:picLocks noChangeAspect="1"/>
          </p:cNvPicPr>
          <p:nvPr/>
        </p:nvPicPr>
        <p:blipFill>
          <a:blip r:embed="rId8"/>
          <a:stretch>
            <a:fillRect/>
          </a:stretch>
        </p:blipFill>
        <p:spPr>
          <a:xfrm>
            <a:off x="62864" y="2498575"/>
            <a:ext cx="4876801" cy="3308989"/>
          </a:xfrm>
          <a:prstGeom prst="rect">
            <a:avLst/>
          </a:prstGeom>
        </p:spPr>
      </p:pic>
      <p:pic>
        <p:nvPicPr>
          <p:cNvPr id="4" name="Picture 3">
            <a:extLst>
              <a:ext uri="{FF2B5EF4-FFF2-40B4-BE49-F238E27FC236}">
                <a16:creationId xmlns:a16="http://schemas.microsoft.com/office/drawing/2014/main" id="{85FD0020-07EF-4656-A85C-FB6D7D09DCAF}"/>
              </a:ext>
            </a:extLst>
          </p:cNvPr>
          <p:cNvPicPr>
            <a:picLocks noChangeAspect="1"/>
          </p:cNvPicPr>
          <p:nvPr/>
        </p:nvPicPr>
        <p:blipFill>
          <a:blip r:embed="rId9"/>
          <a:stretch>
            <a:fillRect/>
          </a:stretch>
        </p:blipFill>
        <p:spPr>
          <a:xfrm>
            <a:off x="5073015" y="2498575"/>
            <a:ext cx="4421059" cy="3310038"/>
          </a:xfrm>
          <a:prstGeom prst="rect">
            <a:avLst/>
          </a:prstGeom>
        </p:spPr>
      </p:pic>
      <p:sp>
        <p:nvSpPr>
          <p:cNvPr id="3" name="Rectangle 2">
            <a:extLst>
              <a:ext uri="{FF2B5EF4-FFF2-40B4-BE49-F238E27FC236}">
                <a16:creationId xmlns:a16="http://schemas.microsoft.com/office/drawing/2014/main" id="{8BBE6231-032D-4837-A7A5-B062D9E6BA76}"/>
              </a:ext>
            </a:extLst>
          </p:cNvPr>
          <p:cNvSpPr/>
          <p:nvPr/>
        </p:nvSpPr>
        <p:spPr>
          <a:xfrm>
            <a:off x="155974" y="927113"/>
            <a:ext cx="9521425" cy="1200329"/>
          </a:xfrm>
          <a:prstGeom prst="rect">
            <a:avLst/>
          </a:prstGeom>
        </p:spPr>
        <p:txBody>
          <a:bodyPr wrap="square">
            <a:spAutoFit/>
          </a:bodyPr>
          <a:lstStyle/>
          <a:p>
            <a:pPr lvl="0" eaLnBrk="0" hangingPunct="0">
              <a:defRPr>
                <a:latin typeface="Arial"/>
              </a:defRPr>
            </a:pPr>
            <a:r>
              <a:rPr lang="en-US" altLang="ja-JP" sz="1200" dirty="0">
                <a:latin typeface="Arial" panose="020B0604020202020204" pitchFamily="34" charset="0"/>
                <a:ea typeface="Arial" panose="020B0604020202020204" pitchFamily="34" charset="-128"/>
                <a:cs typeface="Arial" panose="020B0604020202020204" pitchFamily="34" charset="0"/>
              </a:rPr>
              <a:t>Use Normality test to d</a:t>
            </a:r>
            <a:r>
              <a:rPr lang="en-US" sz="1200" dirty="0">
                <a:latin typeface="Arial" panose="020B0604020202020204" pitchFamily="34" charset="0"/>
                <a:ea typeface="Arial" panose="020B0604020202020204" pitchFamily="34" charset="-128"/>
                <a:cs typeface="Arial" panose="020B0604020202020204" pitchFamily="34" charset="0"/>
              </a:rPr>
              <a:t>etermine whether the data do not follow the distribution</a:t>
            </a:r>
          </a:p>
          <a:p>
            <a:pPr>
              <a:defRPr>
                <a:latin typeface="Arial"/>
              </a:defRPr>
            </a:pPr>
            <a:r>
              <a:rPr sz="1000" b="0">
                <a:latin typeface="Arial"/>
              </a:rPr>
              <a:t>H0: Data follows Normal Distribution</a:t>
            </a:r>
          </a:p>
          <a:p>
            <a:pPr>
              <a:defRPr>
                <a:latin typeface="Arial"/>
              </a:defRPr>
            </a:pPr>
            <a:r>
              <a:rPr sz="1000" b="0">
                <a:latin typeface="Arial"/>
              </a:rPr>
              <a:t>H1: Data does NOT follow Normal Distribution</a:t>
            </a:r>
          </a:p>
          <a:p>
            <a:pPr>
              <a:defRPr>
                <a:latin typeface="Arial"/>
              </a:defRPr>
            </a:pPr>
            <a:r>
              <a:rPr sz="1000" b="0">
                <a:latin typeface="Arial"/>
              </a:rPr>
              <a:t>P-value = 0.444 &gt; 0.05 -&gt; Fail to reject H0 -&gt; Data follows Normal Distribution (PASS)</a:t>
            </a:r>
          </a:p>
          <a:p>
            <a:pPr>
              <a:defRPr>
                <a:latin typeface="Arial"/>
              </a:defRPr>
            </a:pPr>
            <a:r>
              <a:rPr lang="en-US" altLang="ja-JP" sz="1200" dirty="0">
                <a:latin typeface="Arial" panose="020B0604020202020204" pitchFamily="34" charset="0"/>
                <a:ea typeface="Arial" panose="020B0604020202020204" pitchFamily="34" charset="-128"/>
                <a:cs typeface="Arial" panose="020B0604020202020204" pitchFamily="34" charset="0"/>
              </a:rPr>
              <a:t>Then, check the points if it fit the distribution lines more closely to the fitted distribution, the more good the data.</a:t>
            </a:r>
          </a:p>
          <a:p>
            <a:pPr>
              <a:defRPr>
                <a:latin typeface="Arial"/>
              </a:defRPr>
            </a:pPr>
            <a:r>
              <a:rPr lang="en-US" altLang="ja-JP" sz="1200" dirty="0">
                <a:latin typeface="Arial" panose="020B0604020202020204" pitchFamily="34" charset="0"/>
                <a:ea typeface="Arial" panose="020B0604020202020204" pitchFamily="34" charset="-128"/>
                <a:cs typeface="Arial" panose="020B0604020202020204" pitchFamily="34" charset="0"/>
              </a:rPr>
              <a:t>After that, evaluate process capability:</a:t>
            </a:r>
          </a:p>
        </p:txBody>
      </p:sp>
    </p:spTree>
    <p:extLst>
      <p:ext uri="{BB962C8B-B14F-4D97-AF65-F5344CB8AC3E}">
        <p14:creationId xmlns:p14="http://schemas.microsoft.com/office/powerpoint/2010/main" val="2019222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7F89E8-DDD7-4177-BCAE-BFDA432D2832}"/>
              </a:ext>
            </a:extLst>
          </p:cNvPr>
          <p:cNvPicPr>
            <a:picLocks noChangeAspect="1"/>
          </p:cNvPicPr>
          <p:nvPr/>
        </p:nvPicPr>
        <p:blipFill>
          <a:blip r:embed="rId3"/>
          <a:stretch>
            <a:fillRect/>
          </a:stretch>
        </p:blipFill>
        <p:spPr>
          <a:xfrm>
            <a:off x="4844574" y="877357"/>
            <a:ext cx="4483152" cy="3369689"/>
          </a:xfrm>
          <a:prstGeom prst="rect">
            <a:avLst/>
          </a:prstGeom>
        </p:spPr>
      </p:pic>
      <p:pic>
        <p:nvPicPr>
          <p:cNvPr id="2" name="Picture 1">
            <a:extLst>
              <a:ext uri="{FF2B5EF4-FFF2-40B4-BE49-F238E27FC236}">
                <a16:creationId xmlns:a16="http://schemas.microsoft.com/office/drawing/2014/main" id="{0A49D9FF-2F12-4865-9342-A32699A2FADB}"/>
              </a:ext>
            </a:extLst>
          </p:cNvPr>
          <p:cNvPicPr>
            <a:picLocks noChangeAspect="1"/>
          </p:cNvPicPr>
          <p:nvPr/>
        </p:nvPicPr>
        <p:blipFill>
          <a:blip r:embed="rId4"/>
          <a:stretch>
            <a:fillRect/>
          </a:stretch>
        </p:blipFill>
        <p:spPr>
          <a:xfrm>
            <a:off x="139023" y="878537"/>
            <a:ext cx="4416591" cy="3331207"/>
          </a:xfrm>
          <a:prstGeom prst="rect">
            <a:avLst/>
          </a:prstGeom>
        </p:spPr>
      </p:pic>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27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68221" y="3248848"/>
            <a:ext cx="1241743" cy="507831"/>
          </a:xfrm>
          <a:prstGeom prst="rect">
            <a:avLst/>
          </a:prstGeom>
          <a:solidFill>
            <a:schemeClr val="bg1"/>
          </a:solidFill>
          <a:ln>
            <a:noFill/>
          </a:ln>
        </p:spPr>
        <p:txBody>
          <a:bodyPr wrap="square" rtlCol="0">
            <a:spAutoFit/>
          </a:bodyPr>
          <a:lstStyle/>
          <a:p>
            <a:pPr>
              <a:defRPr>
                <a:latin typeface="Arial"/>
              </a:defRPr>
            </a:pPr>
            <a:r>
              <a:rPr>
                <a:latin typeface="Arial"/>
              </a:rPr>
              <a:t>Z Long term = 6.45 (Z_LT = 3 * Cpk = 3 * 2.15) Standard ≥ 4.5 --&gt; OK</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17399" y="3248847"/>
            <a:ext cx="1241743" cy="507831"/>
          </a:xfrm>
          <a:prstGeom prst="rect">
            <a:avLst/>
          </a:prstGeom>
          <a:solidFill>
            <a:schemeClr val="bg1"/>
          </a:solidFill>
          <a:ln>
            <a:noFill/>
          </a:ln>
        </p:spPr>
        <p:txBody>
          <a:bodyPr wrap="square" rtlCol="0">
            <a:spAutoFit/>
          </a:bodyPr>
          <a:lstStyle/>
          <a:p>
            <a:pPr>
              <a:defRPr>
                <a:latin typeface="Arial"/>
              </a:defRPr>
            </a:pPr>
            <a:r>
              <a:rPr>
                <a:latin typeface="Arial"/>
              </a:rPr>
              <a:t>Z Short term = 6.53 Standard ≥ 6 --&gt; OK</a:t>
            </a:r>
          </a:p>
        </p:txBody>
      </p:sp>
      <p:sp>
        <p:nvSpPr>
          <p:cNvPr id="29" name="TextBox 28">
            <a:extLst>
              <a:ext uri="{FF2B5EF4-FFF2-40B4-BE49-F238E27FC236}">
                <a16:creationId xmlns:a16="http://schemas.microsoft.com/office/drawing/2014/main" id="{3F03CC85-78FB-49D7-B96C-52B4B103B707}"/>
              </a:ext>
            </a:extLst>
          </p:cNvPr>
          <p:cNvSpPr txBox="1"/>
          <p:nvPr/>
        </p:nvSpPr>
        <p:spPr>
          <a:xfrm>
            <a:off x="159127" y="4448547"/>
            <a:ext cx="4344755" cy="2000419"/>
          </a:xfrm>
          <a:prstGeom prst="rect">
            <a:avLst/>
          </a:prstGeom>
          <a:solidFill>
            <a:schemeClr val="bg1"/>
          </a:solidFill>
        </p:spPr>
        <p:txBody>
          <a:bodyPr wrap="square" rtlCol="0">
            <a:spAutoFit/>
          </a:bodyPr>
          <a:lstStyle/>
          <a:p>
            <a:pPr>
              <a:defRPr>
                <a:latin typeface="Arial"/>
              </a:defRPr>
            </a:pPr>
            <a:r>
              <a:rPr>
                <a:latin typeface="Arial"/>
              </a:rPr>
              <a:t>Zshift = Zst – Zlt = 6.53 – 6.45 = 0.08 --&gt; Z shift &lt; 1.5 --&gt; Proper process control management</a:t>
            </a: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715882"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panose="020B0604020202020204" pitchFamily="34" charset="-128"/>
                </a:rPr>
                <a:t>Lack of skill</a:t>
              </a:r>
              <a:endPar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management</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Lack of skills</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skills</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skills</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Technology</a:t>
              </a:r>
            </a:p>
          </p:txBody>
        </p:sp>
      </p:grpSp>
      <p:sp>
        <p:nvSpPr>
          <p:cNvPr id="52" name="제목 1">
            <a:extLst>
              <a:ext uri="{FF2B5EF4-FFF2-40B4-BE49-F238E27FC236}">
                <a16:creationId xmlns:a16="http://schemas.microsoft.com/office/drawing/2014/main" id="{E98C66C1-2F0F-45A6-8353-A1DF3D59C563}"/>
              </a:ext>
            </a:extLst>
          </p:cNvPr>
          <p:cNvSpPr txBox="1">
            <a:spLocks/>
          </p:cNvSpPr>
          <p:nvPr/>
        </p:nvSpPr>
        <p:spPr>
          <a:xfrm>
            <a:off x="110170" y="71674"/>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noProof="0" dirty="0">
                <a:latin typeface="Arial" panose="020B0606020202030204" pitchFamily="34" charset="0"/>
                <a:ea typeface="Arial"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53" name="TextBox 52">
            <a:extLst>
              <a:ext uri="{FF2B5EF4-FFF2-40B4-BE49-F238E27FC236}">
                <a16:creationId xmlns:a16="http://schemas.microsoft.com/office/drawing/2014/main" id="{2F5FF74F-BA63-469A-A32E-C5426DBE5C14}"/>
              </a:ext>
            </a:extLst>
          </p:cNvPr>
          <p:cNvSpPr txBox="1"/>
          <p:nvPr/>
        </p:nvSpPr>
        <p:spPr>
          <a:xfrm>
            <a:off x="29671" y="594277"/>
            <a:ext cx="2561129"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1</a:t>
            </a:r>
            <a:r>
              <a:rPr lang="en-US" sz="1200" b="1" dirty="0">
                <a:latin typeface="Arial" panose="020B0604020202020204" pitchFamily="34" charset="0"/>
                <a:ea typeface="Arial" panose="020B0604020202020204" pitchFamily="34" charset="-128"/>
                <a:cs typeface="Arial" panose="020B0604020202020204" pitchFamily="34" charset="0"/>
              </a:rPr>
              <a:t> Luminance</a:t>
            </a:r>
          </a:p>
        </p:txBody>
      </p:sp>
      <p:sp>
        <p:nvSpPr>
          <p:cNvPr id="54" name="AutoShape 57">
            <a:extLst>
              <a:ext uri="{FF2B5EF4-FFF2-40B4-BE49-F238E27FC236}">
                <a16:creationId xmlns:a16="http://schemas.microsoft.com/office/drawing/2014/main" id="{28EE689D-EE5C-4815-8EA0-F4D2FAE4A25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55" name="AutoShape 56">
            <a:extLst>
              <a:ext uri="{FF2B5EF4-FFF2-40B4-BE49-F238E27FC236}">
                <a16:creationId xmlns:a16="http://schemas.microsoft.com/office/drawing/2014/main" id="{D43199DA-1E14-4253-B216-05907E7561BB}"/>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D554B8F1-71A1-49DB-BE92-80A12AEE5C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
        <p:nvSpPr>
          <p:cNvPr id="4" name="Oval 3">
            <a:extLst>
              <a:ext uri="{FF2B5EF4-FFF2-40B4-BE49-F238E27FC236}">
                <a16:creationId xmlns:a16="http://schemas.microsoft.com/office/drawing/2014/main" id="{13B6EF7D-CDBF-45E6-A01F-F314BBB01FA9}"/>
              </a:ext>
            </a:extLst>
          </p:cNvPr>
          <p:cNvSpPr/>
          <p:nvPr/>
        </p:nvSpPr>
        <p:spPr bwMode="auto">
          <a:xfrm>
            <a:off x="8017399" y="5248557"/>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sz="1800" b="0" i="0" u="none" strike="noStrike" cap="none" normalizeH="0" baseline="0">
              <a:ln>
                <a:noFill/>
              </a:ln>
              <a:solidFill>
                <a:schemeClr val="tx1"/>
              </a:solidFill>
              <a:effectLst/>
              <a:latin typeface="Arial" charset="0"/>
              <a:ea typeface="Arial" pitchFamily="50" charset="-127"/>
            </a:endParaRPr>
          </a:p>
        </p:txBody>
      </p:sp>
    </p:spTree>
    <p:extLst>
      <p:ext uri="{BB962C8B-B14F-4D97-AF65-F5344CB8AC3E}">
        <p14:creationId xmlns:p14="http://schemas.microsoft.com/office/powerpoint/2010/main" val="2828906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extLst/>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28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a:defRPr>
                <a:latin typeface="Arial"/>
              </a:defRPr>
            </a:pPr>
            <a:r>
              <a:rPr>
                <a:latin typeface="Arial"/>
              </a:rPr>
              <a:t>Cpk = 2.24 (Standard ≥ 1.33 for mass production, ≥ 1.67 for 6 Sigma excellence) --&gt; Pass</a:t>
            </a: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a:lnSpc>
                <a:spcPct val="150000"/>
              </a:lnSpc>
              <a:defRPr>
                <a:latin typeface="Arial"/>
              </a:defRPr>
            </a:pPr>
            <a:r>
              <a:rPr sz="1000" b="0">
                <a:latin typeface="Arial"/>
              </a:rPr>
              <a:t>P-value = 0.600 &gt; 0.05 -&gt; Fail to reject H0 -&gt; Data follows Normal Distribution (PASS)</a:t>
            </a:r>
          </a:p>
          <a:p>
            <a:pPr>
              <a:lnSpc>
                <a:spcPct val="150000"/>
              </a:lnSpc>
              <a:defRPr>
                <a:latin typeface="Arial"/>
              </a:defRPr>
            </a:pPr>
            <a:r>
              <a:rPr lang="en-US" altLang="ko-KR" sz="1200" dirty="0">
                <a:latin typeface="Arial" panose="020B0604020202020204" pitchFamily="34" charset="0"/>
                <a:ea typeface="Arial" panose="020B0604020202020204" pitchFamily="34" charset="-128"/>
                <a:cs typeface="Arial" panose="020B0604020202020204" pitchFamily="34" charset="0"/>
                <a:sym typeface="Wingdings" pitchFamily="2" charset="2"/>
              </a:rPr>
              <a:t>(</a:t>
            </a:r>
            <a:r>
              <a:rPr lang="en-US" altLang="ko-KR" sz="1200" dirty="0">
                <a:latin typeface="Arial" panose="020B0600000101010101" pitchFamily="34" charset="-127"/>
                <a:ea typeface="Arial" panose="020B0600000101010101" pitchFamily="34" charset="-127"/>
                <a:cs typeface="Arial"/>
                <a:sym typeface="Wingdings" pitchFamily="2" charset="2"/>
              </a:rPr>
              <a:t>It has a normal distribution</a:t>
            </a:r>
            <a:r>
              <a:rPr lang="en-US" altLang="ko-KR" sz="1200" dirty="0">
                <a:latin typeface="Arial" panose="020B0604020202020204" pitchFamily="34" charset="0"/>
                <a:ea typeface="Arial" panose="020B0604020202020204" pitchFamily="34" charset="-128"/>
                <a:cs typeface="Arial" panose="020B0604020202020204" pitchFamily="34" charset="0"/>
                <a:sym typeface="Wingdings" pitchFamily="2" charset="2"/>
              </a:rPr>
              <a:t>)</a:t>
            </a:r>
            <a:r>
              <a:rPr lang="en-US" sz="12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noProof="0" dirty="0">
                <a:latin typeface="Arial" panose="020B0606020202030204" pitchFamily="34" charset="0"/>
                <a:ea typeface="Arial"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0" hangingPunct="0">
              <a:defRPr>
                <a:latin typeface="Arial"/>
              </a:defRPr>
            </a:pPr>
            <a:r>
              <a:rPr lang="en-US" altLang="ja-JP" sz="1200" dirty="0">
                <a:latin typeface="Arial" panose="020B0604020202020204" pitchFamily="34" charset="0"/>
                <a:ea typeface="Arial" panose="020B0604020202020204" pitchFamily="34" charset="-128"/>
                <a:cs typeface="Arial" panose="020B0604020202020204" pitchFamily="34" charset="0"/>
              </a:rPr>
              <a:t>To evaluate process capability of station 2:</a:t>
            </a:r>
          </a:p>
        </p:txBody>
      </p:sp>
    </p:spTree>
    <p:extLst>
      <p:ext uri="{BB962C8B-B14F-4D97-AF65-F5344CB8AC3E}">
        <p14:creationId xmlns:p14="http://schemas.microsoft.com/office/powerpoint/2010/main" val="3301881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extLst/>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29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chemeClr val="bg1"/>
          </a:solidFill>
          <a:ln>
            <a:noFill/>
          </a:ln>
        </p:spPr>
        <p:txBody>
          <a:bodyPr wrap="square" rtlCol="0">
            <a:spAutoFit/>
          </a:bodyPr>
          <a:lstStyle/>
          <a:p>
            <a:pPr>
              <a:defRPr>
                <a:latin typeface="Arial"/>
              </a:defRPr>
            </a:pPr>
            <a:r>
              <a:rPr>
                <a:latin typeface="Arial"/>
              </a:rPr>
              <a:t>Z Long term = 6.72 (Z_LT = 3 * Cpk = 3 * 2.24) Standard ≥ 4.5 --&gt; OK</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chemeClr val="bg1"/>
          </a:solidFill>
          <a:ln>
            <a:noFill/>
          </a:ln>
        </p:spPr>
        <p:txBody>
          <a:bodyPr wrap="square" rtlCol="0">
            <a:spAutoFit/>
          </a:bodyPr>
          <a:lstStyle/>
          <a:p>
            <a:pPr>
              <a:defRPr>
                <a:latin typeface="Arial"/>
              </a:defRPr>
            </a:pPr>
            <a:r>
              <a:rPr>
                <a:latin typeface="Arial"/>
              </a:rPr>
              <a:t>Z Short term = 7.19 Standard ≥ 6 --&gt; OK</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a:defRPr>
                <a:latin typeface="Arial"/>
              </a:defRPr>
            </a:pPr>
            <a:r>
              <a:rPr>
                <a:latin typeface="Arial"/>
              </a:rPr>
              <a:t>Zshift = Zst – Zlt = 7.19 – 6.72 = 0.47 --&gt; Z shift &lt; 1.5 --&gt; Proper process control management</a:t>
            </a: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715882"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panose="020B0604020202020204" pitchFamily="34" charset="-128"/>
                </a:rPr>
                <a:t>Lack of skill</a:t>
              </a:r>
              <a:endPar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management</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Lack of skills</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skills</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panose="020B0604020202020204" pitchFamily="34" charset="-128"/>
                </a:rPr>
                <a:t>Proper skills</a:t>
              </a:r>
              <a:endParaRPr lang="ko-KR" altLang="en-US" sz="1000" dirty="0">
                <a:solidFill>
                  <a:srgbClr val="000000"/>
                </a:solidFill>
                <a:latin typeface="Arial" panose="020B0600000101010101" pitchFamily="34" charset="-127"/>
                <a:ea typeface="Arial" panose="020B0600000101010101" pitchFamily="34" charset="-127"/>
                <a:cs typeface="Arial"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Arial" panose="020B0600000101010101" pitchFamily="34" charset="-127"/>
                <a:ea typeface="Arial" panose="020B0600000101010101" pitchFamily="34" charset="-127"/>
                <a:cs typeface="Arial"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noProof="0" dirty="0">
                <a:latin typeface="Arial" panose="020B0606020202030204" pitchFamily="34" charset="0"/>
                <a:ea typeface="Arial"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vi-VN" sz="1200" b="1" dirty="0">
                <a:latin typeface="Arial" panose="020B0604020202020204" pitchFamily="34" charset="0"/>
                <a:ea typeface="Arial" panose="020B0604020202020204" pitchFamily="34" charset="-128"/>
                <a:cs typeface="Arial" panose="020B0604020202020204" pitchFamily="34" charset="0"/>
              </a:rPr>
              <a:t>Station </a:t>
            </a:r>
            <a:r>
              <a:rPr lang="en-US" sz="1200" b="1" dirty="0">
                <a:latin typeface="Arial" panose="020B0604020202020204" pitchFamily="34" charset="0"/>
                <a:ea typeface="Arial" panose="020B0604020202020204" pitchFamily="34" charset="-128"/>
                <a:cs typeface="Arial" panose="020B0604020202020204" pitchFamily="34" charset="0"/>
              </a:rPr>
              <a:t>2 Luminance</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latin typeface="Arial"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defRPr>
                <a:latin typeface="Arial"/>
              </a:defRPr>
            </a:pPr>
            <a:endParaRPr kumimoji="1" lang="en-US" sz="1800" b="0" i="0" u="none" strike="noStrike" cap="none" normalizeH="0" baseline="0">
              <a:ln>
                <a:noFill/>
              </a:ln>
              <a:solidFill>
                <a:schemeClr val="tx1"/>
              </a:solidFill>
              <a:effectLst/>
              <a:latin typeface="Arial" charset="0"/>
              <a:ea typeface="Arial"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30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dirty="0">
                <a:solidFill>
                  <a:schemeClr val="tx1"/>
                </a:solidFill>
                <a:latin typeface="Arial"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3114638"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latin typeface="Arial"/>
              </a:defRPr>
            </a:pPr>
            <a:r>
              <a:rPr lang="en-US" altLang="ko-KR" sz="1600" b="1" kern="0" noProof="0" dirty="0">
                <a:latin typeface="Arial" panose="020B0606020202030204" pitchFamily="34" charset="0"/>
                <a:ea typeface="Arial" panose="020B0604020202020204" pitchFamily="34" charset="-128"/>
                <a:cs typeface="Arial" panose="020B0604020202020204" pitchFamily="34" charset="0"/>
              </a:rPr>
              <a:t>4.5</a:t>
            </a:r>
            <a:r>
              <a:rPr kumimoji="1" lang="en-US" altLang="ko-KR"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rPr>
              <a:t> Conclusion</a:t>
            </a:r>
            <a:endParaRPr kumimoji="1" lang="ko-KR" altLang="en-US" sz="1600" b="1" i="0" u="none" strike="noStrike" kern="0" cap="none" spc="0" normalizeH="0" baseline="0" noProof="0" dirty="0">
              <a:ln>
                <a:noFill/>
              </a:ln>
              <a:solidFill>
                <a:schemeClr val="tx1"/>
              </a:solidFill>
              <a:effectLst/>
              <a:uLnTx/>
              <a:uFillTx/>
              <a:latin typeface="Arial" panose="020B0606020202030204" pitchFamily="34" charset="0"/>
              <a:ea typeface="Arial"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a:spcBef>
                <a:spcPct val="20000"/>
              </a:spcBef>
              <a:buFontTx/>
              <a:buChar char="-"/>
              <a:defRPr>
                <a:latin typeface="Arial"/>
              </a:defRPr>
            </a:pPr>
            <a:r>
              <a:rPr sz="1200" b="0">
                <a:latin typeface="Arial"/>
              </a:rPr>
              <a:t>After evaluation, we confirmed that the measurement system at Station 2 had significant problems during testing (while Station 1 was normal). We proved that camera angle misalignment was the root cause of the Luminance NG defect.</a:t>
            </a:r>
          </a:p>
          <a:p>
            <a:pPr algn="just">
              <a:spcBef>
                <a:spcPct val="20000"/>
              </a:spcBef>
              <a:defRPr>
                <a:latin typeface="Arial"/>
              </a:defRPr>
            </a:pPr>
            <a:endParaRPr lang="en-US" altLang="ko-KR" sz="1200" dirty="0">
              <a:latin typeface="Arial" panose="020B0604020202020204" pitchFamily="34" charset="0"/>
              <a:cs typeface="Arial" panose="020B0604020202020204" pitchFamily="34" charset="0"/>
            </a:endParaRPr>
          </a:p>
          <a:p>
            <a:pPr marL="171450" indent="-171450" algn="just">
              <a:spcBef>
                <a:spcPct val="20000"/>
              </a:spcBef>
              <a:buFont typeface="Wingdings" panose="05000000000000000000" pitchFamily="2" charset="2"/>
              <a:buChar char="à"/>
              <a:defRPr>
                <a:latin typeface="Arial"/>
              </a:defRPr>
            </a:pPr>
            <a:r>
              <a:rPr sz="1200" b="0">
                <a:latin typeface="Arial"/>
              </a:rPr>
              <a:t>We improved the measurement system by correcting the camera angle to 90.0°. We then verified stability and capability using Type 1 Study, Type 3 Gage R&amp;R, Xbar-R control charts, and Process Capability analysis for both stations.</a:t>
            </a:r>
          </a:p>
          <a:p>
            <a:pPr algn="just">
              <a:spcBef>
                <a:spcPct val="20000"/>
              </a:spcBef>
              <a:defRPr>
                <a:latin typeface="Arial"/>
              </a:defRPr>
            </a:pPr>
            <a:endParaRPr lang="en-US" altLang="ko-KR" sz="1200" dirty="0">
              <a:latin typeface="Arial" panose="020B0604020202020204" pitchFamily="34" charset="0"/>
              <a:cs typeface="Arial" panose="020B0604020202020204" pitchFamily="34" charset="0"/>
            </a:endParaRPr>
          </a:p>
          <a:p>
            <a:pPr marL="171450" indent="-171450" algn="just">
              <a:spcBef>
                <a:spcPct val="20000"/>
              </a:spcBef>
              <a:buFont typeface="Wingdings" panose="05000000000000000000" pitchFamily="2" charset="2"/>
              <a:buChar char="à"/>
              <a:defRPr>
                <a:latin typeface="Arial"/>
              </a:defRPr>
            </a:pPr>
            <a:r>
              <a:rPr sz="1200" b="1">
                <a:latin typeface="Arial"/>
              </a:rPr>
              <a:t>The results demonstrate that both measurement stations achieve high repeatability, zero bias, and excellent process capability (Cpk &gt; 2.0).</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31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338554"/>
          </a:xfrm>
          <a:prstGeom prst="rect">
            <a:avLst/>
          </a:prstGeom>
          <a:noFill/>
        </p:spPr>
        <p:txBody>
          <a:bodyPr wrap="square" rtlCol="0">
            <a:spAutoFit/>
          </a:bodyPr>
          <a:lstStyle/>
          <a:p>
            <a:pPr>
              <a:defRPr>
                <a:latin typeface="Arial"/>
              </a:defRPr>
            </a:pPr>
            <a:r>
              <a:rPr lang="en-US" altLang="ko-KR" sz="1600" b="1" dirty="0">
                <a:latin typeface="Arial" panose="020B0606020202030204" pitchFamily="34" charset="0"/>
                <a:ea typeface="Arial" pitchFamily="34" charset="-127"/>
              </a:rPr>
              <a:t>5</a:t>
            </a:r>
            <a:r>
              <a:rPr lang="vi-VN" altLang="ko-KR" sz="1600" b="1" dirty="0">
                <a:latin typeface="Arial" panose="020B0606020202030204" pitchFamily="34" charset="0"/>
                <a:ea typeface="Arial" pitchFamily="34" charset="-127"/>
              </a:rPr>
              <a:t>.</a:t>
            </a:r>
            <a:r>
              <a:rPr lang="en-US" altLang="ko-KR" sz="1600" b="1" dirty="0">
                <a:latin typeface="Arial" panose="020B0606020202030204" pitchFamily="34" charset="0"/>
                <a:ea typeface="Arial" pitchFamily="34" charset="-127"/>
              </a:rPr>
              <a:t>1</a:t>
            </a:r>
            <a:r>
              <a:rPr lang="vi-VN" altLang="ko-KR" sz="1600" b="1" dirty="0">
                <a:latin typeface="Arial" panose="020B0606020202030204" pitchFamily="34" charset="0"/>
                <a:ea typeface="Arial" pitchFamily="34" charset="-127"/>
              </a:rPr>
              <a:t> </a:t>
            </a:r>
            <a:r>
              <a:rPr lang="en-US" altLang="ko-KR" sz="1600" b="1" dirty="0">
                <a:latin typeface="Arial" panose="020B0606020202030204" pitchFamily="34" charset="0"/>
                <a:ea typeface="Arial" pitchFamily="34" charset="-127"/>
              </a:rPr>
              <a:t>Result of project</a:t>
            </a:r>
            <a:endParaRPr lang="vi-VN" altLang="ko-KR" sz="1600" b="1" dirty="0">
              <a:ea typeface="Arial"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4020202020204" pitchFamily="34" charset="0"/>
                <a:ea typeface="Arial" panose="020B0604020202020204" pitchFamily="34" charset="-128"/>
                <a:cs typeface="Arial" panose="020B0604020202020204" pitchFamily="34" charset="0"/>
              </a:rPr>
              <a:t>Summary Defect rate of J1 model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fontAlgn="b">
                        <a:defRPr>
                          <a:latin typeface="Arial"/>
                        </a:defRPr>
                      </a:pPr>
                      <a:endParaRPr lang="en-US" sz="1100" b="0" i="0" u="none" strike="noStrike">
                        <a:solidFill>
                          <a:srgbClr val="000000"/>
                        </a:solidFill>
                        <a:effectLst/>
                        <a:latin typeface="Arial"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fontAlgn="b">
                        <a:defRPr>
                          <a:latin typeface="Arial"/>
                        </a:defRPr>
                      </a:pPr>
                      <a:r>
                        <a:rPr lang="en-US" sz="1100" b="1" i="0" u="none" strike="noStrike">
                          <a:solidFill>
                            <a:srgbClr val="000000"/>
                          </a:solidFill>
                          <a:effectLst/>
                          <a:latin typeface="Arial" panose="020F0502020204030204" pitchFamily="34" charset="0"/>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defRPr>
                          <a:latin typeface="Arial"/>
                        </a:defRPr>
                      </a:pPr>
                      <a:endParaRPr lang="en-US"/>
                    </a:p>
                  </a:txBody>
                  <a:tcPr/>
                </a:tc>
                <a:tc hMerge="1">
                  <a:txBody>
                    <a:bodyPr/>
                    <a:lstStyle/>
                    <a:p>
                      <a:pPr>
                        <a:defRPr>
                          <a:latin typeface="Arial"/>
                        </a:defRPr>
                      </a:pPr>
                      <a:endParaRPr lang="en-US"/>
                    </a:p>
                  </a:txBody>
                  <a:tcPr/>
                </a:tc>
                <a:tc hMerge="1">
                  <a:txBody>
                    <a:bodyPr/>
                    <a:lstStyle/>
                    <a:p>
                      <a:pPr>
                        <a:defRPr>
                          <a:latin typeface="Arial"/>
                        </a:defRPr>
                      </a:pPr>
                      <a:endParaRPr lang="en-US"/>
                    </a:p>
                  </a:txBody>
                  <a:tcPr/>
                </a:tc>
                <a:tc gridSpan="3">
                  <a:txBody>
                    <a:bodyPr/>
                    <a:lstStyle/>
                    <a:p>
                      <a:pPr algn="ctr" fontAlgn="b">
                        <a:defRPr>
                          <a:latin typeface="Arial"/>
                        </a:defRPr>
                      </a:pPr>
                      <a:r>
                        <a:rPr lang="en-US" sz="1100" b="1" i="0" u="none" strike="noStrike" dirty="0">
                          <a:solidFill>
                            <a:srgbClr val="000000"/>
                          </a:solidFill>
                          <a:effectLst/>
                          <a:latin typeface="Arial" panose="020F0502020204030204" pitchFamily="34" charset="0"/>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defRPr>
                          <a:latin typeface="Arial"/>
                        </a:defRPr>
                      </a:pPr>
                      <a:endParaRPr lang="en-US"/>
                    </a:p>
                  </a:txBody>
                  <a:tcPr/>
                </a:tc>
                <a:tc hMerge="1">
                  <a:txBody>
                    <a:bodyPr/>
                    <a:lstStyle/>
                    <a:p>
                      <a:pPr>
                        <a:defRPr>
                          <a:latin typeface="Arial"/>
                        </a:defRPr>
                      </a:pPr>
                      <a:endParaRPr lang="en-US"/>
                    </a:p>
                  </a:txBody>
                  <a:tcPr/>
                </a:tc>
                <a:extLst>
                  <a:ext uri="{0D108BD9-81ED-4DB2-BD59-A6C34878D82A}">
                    <a16:rowId xmlns:a16="http://schemas.microsoft.com/office/drawing/2014/main" val="2478485715"/>
                  </a:ext>
                </a:extLst>
              </a:tr>
              <a:tr h="190500">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16.Nov.2023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2.Jan.2024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23.Feb.2024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1.Mar.2024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15.Sep.2024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21.Nov.2024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28.Feb.2025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66666.67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383333.33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422535.21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a:solidFill>
                            <a:srgbClr val="000000"/>
                          </a:solidFill>
                          <a:effectLst/>
                          <a:latin typeface="Arial"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defRPr>
                          <a:latin typeface="Arial"/>
                        </a:defRPr>
                      </a:pPr>
                      <a:r>
                        <a:rPr lang="en-US" sz="1100" b="0" i="0" u="none" strike="noStrike" dirty="0">
                          <a:solidFill>
                            <a:srgbClr val="000000"/>
                          </a:solidFill>
                          <a:effectLst/>
                          <a:latin typeface="Arial" panose="020F050202020403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1847713" y="1228913"/>
          <a:ext cx="5838825" cy="37052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23371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32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338554"/>
          </a:xfrm>
          <a:prstGeom prst="rect">
            <a:avLst/>
          </a:prstGeom>
          <a:noFill/>
        </p:spPr>
        <p:txBody>
          <a:bodyPr wrap="square" rtlCol="0">
            <a:spAutoFit/>
          </a:bodyPr>
          <a:lstStyle/>
          <a:p>
            <a:pPr>
              <a:defRPr>
                <a:latin typeface="Arial"/>
              </a:defRPr>
            </a:pPr>
            <a:r>
              <a:rPr lang="en-US" altLang="ko-KR" sz="1600" b="1" dirty="0">
                <a:latin typeface="Arial" panose="020B0606020202030204" pitchFamily="34" charset="0"/>
                <a:ea typeface="Arial" pitchFamily="34" charset="-127"/>
              </a:rPr>
              <a:t>5</a:t>
            </a:r>
            <a:r>
              <a:rPr lang="vi-VN" altLang="ko-KR" sz="1600" b="1" dirty="0">
                <a:latin typeface="Arial" panose="020B0606020202030204" pitchFamily="34" charset="0"/>
                <a:ea typeface="Arial" pitchFamily="34" charset="-127"/>
              </a:rPr>
              <a:t>.</a:t>
            </a:r>
            <a:r>
              <a:rPr lang="en-US" altLang="ko-KR" sz="1600" b="1" dirty="0">
                <a:latin typeface="Arial" panose="020B0606020202030204" pitchFamily="34" charset="0"/>
                <a:ea typeface="Arial" pitchFamily="34" charset="-127"/>
              </a:rPr>
              <a:t>2</a:t>
            </a:r>
            <a:r>
              <a:rPr lang="vi-VN" altLang="ko-KR" sz="1600" b="1" dirty="0">
                <a:latin typeface="Arial" panose="020B0606020202030204" pitchFamily="34" charset="0"/>
                <a:ea typeface="Arial" pitchFamily="34" charset="-127"/>
              </a:rPr>
              <a:t> </a:t>
            </a:r>
            <a:r>
              <a:rPr lang="en-US" altLang="ko-KR" sz="1600" b="1" dirty="0">
                <a:latin typeface="Arial" panose="020B0606020202030204" pitchFamily="34" charset="0"/>
                <a:ea typeface="Arial" pitchFamily="34" charset="-127"/>
              </a:rPr>
              <a:t>Future plan</a:t>
            </a:r>
            <a:endParaRPr lang="vi-VN" altLang="ko-KR" sz="1600" b="1" dirty="0">
              <a:ea typeface="Arial"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034891"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4020202020204" pitchFamily="34" charset="0"/>
                <a:ea typeface="Arial" panose="020B0604020202020204" pitchFamily="34" charset="-128"/>
                <a:cs typeface="Arial" panose="020B0604020202020204" pitchFamily="34" charset="0"/>
              </a:rPr>
              <a:t>Management plan</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9717468" cy="904863"/>
          </a:xfrm>
          <a:prstGeom prst="rect">
            <a:avLst/>
          </a:prstGeom>
          <a:noFill/>
        </p:spPr>
        <p:txBody>
          <a:bodyPr wrap="square" rtlCol="0">
            <a:spAutoFit/>
          </a:bodyPr>
          <a:lstStyle/>
          <a:p>
            <a:pPr>
              <a:defRPr>
                <a:latin typeface="Arial"/>
              </a:defRPr>
            </a:pPr>
            <a:r>
              <a:rPr>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6048587" cy="538609"/>
          </a:xfrm>
          <a:prstGeom prst="rect">
            <a:avLst/>
          </a:prstGeom>
          <a:noFill/>
        </p:spPr>
        <p:txBody>
          <a:bodyPr wrap="square" rtlCol="0">
            <a:spAutoFit/>
          </a:bodyPr>
          <a:lstStyle/>
          <a:p>
            <a:pPr>
              <a:spcBef>
                <a:spcPts val="600"/>
              </a:spcBef>
              <a:defRPr>
                <a:latin typeface="Arial"/>
              </a:defRPr>
            </a:pPr>
            <a:r>
              <a:rPr lang="vi-VN" sz="1200" dirty="0">
                <a:latin typeface="Arial" panose="020B0604020202020204" pitchFamily="34" charset="0"/>
                <a:ea typeface="Arial" panose="020B0604020202020204" pitchFamily="34" charset="-128"/>
                <a:cs typeface="Arial" panose="020B0604020202020204" pitchFamily="34" charset="0"/>
              </a:rPr>
              <a:t>Make checksheet to </a:t>
            </a:r>
            <a:r>
              <a:rPr lang="en-US" sz="1200" dirty="0">
                <a:latin typeface="Arial" panose="020B0604020202020204" pitchFamily="34" charset="0"/>
                <a:ea typeface="Arial" panose="020B0604020202020204" pitchFamily="34" charset="-128"/>
                <a:cs typeface="Arial" panose="020B0604020202020204" pitchFamily="34" charset="0"/>
              </a:rPr>
              <a:t>control equipment with master sample</a:t>
            </a:r>
          </a:p>
          <a:p>
            <a:pPr>
              <a:spcBef>
                <a:spcPts val="600"/>
              </a:spcBef>
              <a:defRPr>
                <a:latin typeface="Arial"/>
              </a:defRPr>
            </a:pPr>
            <a:r>
              <a:rPr lang="en-US" sz="12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spid="_x0000_s25804" name="Worksheet" showAsIcon="1" r:id="rId3" imgW="914400" imgH="771792" progId="Excel.Sheet.12">
                  <p:embed/>
                </p:oleObj>
              </mc:Choice>
              <mc:Fallback>
                <p:oleObj name="Worksheet" showAsIcon="1" r:id="rId3" imgW="914400" imgH="771792" progId="Excel.Sheet.12">
                  <p:embed/>
                  <p:pic>
                    <p:nvPicPr>
                      <p:cNvPr id="0" name=""/>
                      <p:cNvPicPr/>
                      <p:nvPr/>
                    </p:nvPicPr>
                    <p:blipFill>
                      <a:blip r:embed="rId4"/>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5"/>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a:spcBef>
                <a:spcPct val="20000"/>
              </a:spcBef>
              <a:defRPr>
                <a:latin typeface="Arial"/>
              </a:defRPr>
            </a:pPr>
            <a:r>
              <a:rPr lang="en-US" sz="12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6"/>
          <a:srcRect b="5903"/>
          <a:stretch/>
        </p:blipFill>
        <p:spPr>
          <a:xfrm>
            <a:off x="4861689" y="1482932"/>
            <a:ext cx="4848959" cy="3156733"/>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a:spcBef>
                <a:spcPct val="20000"/>
              </a:spcBef>
              <a:defRPr>
                <a:latin typeface="Arial"/>
              </a:defRPr>
            </a:pPr>
            <a:r>
              <a:rPr lang="en-US" sz="12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a:defRPr>
                <a:latin typeface="Arial"/>
              </a:defRPr>
            </a:pPr>
            <a:r>
              <a:rPr sz="1000" b="0">
                <a:latin typeface="Arial"/>
              </a:rPr>
              <a:t>33 / 33</a:t>
            </a:r>
            <a:endParaRPr lang="ko-KR" altLang="en-US" sz="1200" dirty="0">
              <a:solidFill>
                <a:prstClr val="black">
                  <a:tint val="75000"/>
                </a:prstClr>
              </a:solidFill>
              <a:latin typeface="Arial" panose="020B0604020202020204" pitchFamily="34" charset="0"/>
              <a:ea typeface="Arial"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solidFill>
                  <a:schemeClr val="tx1"/>
                </a:solidFill>
                <a:latin typeface="Arial"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Arial" panose="020B0600000101010101" pitchFamily="50" charset="-127"/>
              </a:defRPr>
            </a:lvl1pPr>
            <a:lvl2pPr marL="742950" indent="-285750" defTabSz="762000">
              <a:defRPr kumimoji="1" sz="1300" b="1">
                <a:solidFill>
                  <a:schemeClr val="bg1"/>
                </a:solidFill>
                <a:latin typeface="Arial" panose="020B0604020202020204" pitchFamily="34" charset="0"/>
                <a:ea typeface="Arial" panose="020B0600000101010101" pitchFamily="50" charset="-127"/>
              </a:defRPr>
            </a:lvl2pPr>
            <a:lvl3pPr marL="1143000" indent="-228600" defTabSz="762000">
              <a:defRPr kumimoji="1" sz="1300" b="1">
                <a:solidFill>
                  <a:schemeClr val="bg1"/>
                </a:solidFill>
                <a:latin typeface="Arial" panose="020B0604020202020204" pitchFamily="34" charset="0"/>
                <a:ea typeface="Arial" panose="020B0600000101010101" pitchFamily="50" charset="-127"/>
              </a:defRPr>
            </a:lvl3pPr>
            <a:lvl4pPr marL="1600200" indent="-228600" defTabSz="762000">
              <a:defRPr kumimoji="1" sz="1300" b="1">
                <a:solidFill>
                  <a:schemeClr val="bg1"/>
                </a:solidFill>
                <a:latin typeface="Arial" panose="020B0604020202020204" pitchFamily="34" charset="0"/>
                <a:ea typeface="Arial" panose="020B0600000101010101" pitchFamily="50" charset="-127"/>
              </a:defRPr>
            </a:lvl4pPr>
            <a:lvl5pPr marL="2057400" indent="-228600" defTabSz="762000">
              <a:defRPr kumimoji="1" sz="1300" b="1">
                <a:solidFill>
                  <a:schemeClr val="bg1"/>
                </a:solidFill>
                <a:latin typeface="Arial" panose="020B0604020202020204" pitchFamily="34" charset="0"/>
                <a:ea typeface="Arial"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Arial" panose="020B0600000101010101" pitchFamily="50" charset="-127"/>
              </a:defRPr>
            </a:lvl9pPr>
          </a:lstStyle>
          <a:p>
            <a:pPr algn="ctr" eaLnBrk="1" hangingPunct="1">
              <a:defRPr>
                <a:latin typeface="Arial"/>
              </a:defRPr>
            </a:pPr>
            <a:r>
              <a:rPr lang="en-US" altLang="ko-KR" sz="1000">
                <a:latin typeface="Arial"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338554"/>
          </a:xfrm>
          <a:prstGeom prst="rect">
            <a:avLst/>
          </a:prstGeom>
          <a:noFill/>
        </p:spPr>
        <p:txBody>
          <a:bodyPr wrap="square" rtlCol="0">
            <a:spAutoFit/>
          </a:bodyPr>
          <a:lstStyle/>
          <a:p>
            <a:pPr>
              <a:defRPr>
                <a:latin typeface="Arial"/>
              </a:defRPr>
            </a:pPr>
            <a:r>
              <a:rPr lang="en-US" altLang="ko-KR" sz="1600" b="1" dirty="0">
                <a:latin typeface="Arial" panose="020B0606020202030204" pitchFamily="34" charset="0"/>
                <a:ea typeface="Arial" pitchFamily="34" charset="-127"/>
              </a:rPr>
              <a:t>5</a:t>
            </a:r>
            <a:r>
              <a:rPr lang="vi-VN" altLang="ko-KR" sz="1600" b="1" dirty="0">
                <a:latin typeface="Arial" panose="020B0606020202030204" pitchFamily="34" charset="0"/>
                <a:ea typeface="Arial" pitchFamily="34" charset="-127"/>
              </a:rPr>
              <a:t>.</a:t>
            </a:r>
            <a:r>
              <a:rPr lang="en-US" altLang="ko-KR" sz="1600" b="1" dirty="0">
                <a:latin typeface="Arial" panose="020B0606020202030204" pitchFamily="34" charset="0"/>
                <a:ea typeface="Arial" pitchFamily="34" charset="-127"/>
              </a:rPr>
              <a:t>2</a:t>
            </a:r>
            <a:r>
              <a:rPr lang="vi-VN" altLang="ko-KR" sz="1600" b="1" dirty="0">
                <a:latin typeface="Arial" panose="020B0606020202030204" pitchFamily="34" charset="0"/>
                <a:ea typeface="Arial" pitchFamily="34" charset="-127"/>
              </a:rPr>
              <a:t> </a:t>
            </a:r>
            <a:r>
              <a:rPr lang="en-US" altLang="ko-KR" sz="1600" b="1" dirty="0">
                <a:latin typeface="Arial" panose="020B0606020202030204" pitchFamily="34" charset="0"/>
                <a:ea typeface="Arial" pitchFamily="34" charset="-127"/>
              </a:rPr>
              <a:t>Future plan</a:t>
            </a:r>
            <a:endParaRPr lang="vi-VN" altLang="ko-KR" sz="1600" b="1" dirty="0">
              <a:ea typeface="Arial"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a:buFont typeface="Wingdings" panose="05000000000000000000" pitchFamily="2" charset="2"/>
              <a:buChar char="q"/>
              <a:defRPr>
                <a:latin typeface="Arial"/>
              </a:defRPr>
            </a:pPr>
            <a:r>
              <a:rPr lang="en-US" sz="1200" b="1" dirty="0">
                <a:latin typeface="Arial" panose="020B0604020202020204" pitchFamily="34" charset="0"/>
                <a:ea typeface="Arial"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a:defRPr>
                <a:latin typeface="Arial"/>
              </a:defRPr>
            </a:pPr>
            <a:r>
              <a:rPr>
                <a:latin typeface="Arial"/>
              </a:rPr>
              <a:t>Master Sample Management Procedure:</a:t>
            </a:r>
          </a:p>
          <a:p>
            <a:pPr>
              <a:defRPr>
                <a:latin typeface="Arial"/>
              </a:defRPr>
            </a:pPr>
            <a:r>
              <a:rPr>
                <a:latin typeface="Arial"/>
              </a:rPr>
              <a:t>• Inspection Timing: Daily before shift start (08:00~10:00 AM day shift, 20:00~22:00 PM night shift).</a:t>
            </a:r>
          </a:p>
          <a:p>
            <a:pPr>
              <a:defRPr>
                <a:latin typeface="Arial"/>
              </a:defRPr>
            </a:pPr>
            <a:r>
              <a:rPr>
                <a:latin typeface="Arial"/>
              </a:rPr>
              <a:t>• Responsible: PM Technician &amp; Line Leader.</a:t>
            </a:r>
          </a:p>
          <a:p>
            <a:pPr>
              <a:defRPr>
                <a:latin typeface="Arial"/>
              </a:defRPr>
            </a:pPr>
            <a:r>
              <a:rPr>
                <a:latin typeface="Arial"/>
              </a:rPr>
              <a:t>• Procedure:</a:t>
            </a:r>
          </a:p>
          <a:p>
            <a:pPr>
              <a:defRPr>
                <a:latin typeface="Arial"/>
              </a:defRPr>
            </a:pPr>
            <a:r>
              <a:rPr>
                <a:latin typeface="Arial"/>
              </a:rPr>
              <a:t>  1. Test Master Sample at Luminance station and verify values are within spec (800~2000 Cd/m²).</a:t>
            </a:r>
          </a:p>
          <a:p>
            <a:pPr>
              <a:defRPr>
                <a:latin typeface="Arial"/>
              </a:defRPr>
            </a:pPr>
            <a:r>
              <a:rPr>
                <a:latin typeface="Arial"/>
              </a:rPr>
              <a:t>  2. If any abnormal reading is detected, report immediately to Line Leader; PE &amp; PM teams inspect camera alignment.</a:t>
            </a:r>
          </a:p>
          <a:p>
            <a:pPr>
              <a:defRPr>
                <a:latin typeface="Arial"/>
              </a:defRPr>
            </a:pPr>
            <a:r>
              <a:rPr>
                <a:latin typeface="Arial"/>
              </a:rPr>
              <a:t>  3. Software/GMES version verification is managed separately by IT/GMES team; Master Sample daily check focuses strictly on optical camera measurement stability.</a:t>
            </a:r>
          </a:p>
        </p:txBody>
      </p:sp>
    </p:spTree>
    <p:extLst>
      <p:ext uri="{BB962C8B-B14F-4D97-AF65-F5344CB8AC3E}">
        <p14:creationId xmlns:p14="http://schemas.microsoft.com/office/powerpoint/2010/main" val="13792884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ns0:theme xmlns:ns0="http://schemas.openxmlformats.org/drawingml/2006/main" name="3_디자인 사용자 지정">
  <ns0:themeElements>
    <ns0:clrScheme name="디자인 사용자 지정 1">
      <ns0:dk1>
        <ns0:srgbClr val="000000"/>
      </ns0:dk1>
      <ns0:lt1>
        <ns0:srgbClr val="FFFFFF"/>
      </ns0:lt1>
      <ns0:dk2>
        <ns0:srgbClr val="000000"/>
      </ns0:dk2>
      <ns0:lt2>
        <ns0:srgbClr val="808080"/>
      </ns0:lt2>
      <ns0:accent1>
        <ns0:srgbClr val="BBE0E3"/>
      </ns0:accent1>
      <ns0:accent2>
        <ns0:srgbClr val="333399"/>
      </ns0:accent2>
      <ns0:accent3>
        <ns0:srgbClr val="FFFFFF"/>
      </ns0:accent3>
      <ns0:accent4>
        <ns0:srgbClr val="000000"/>
      </ns0:accent4>
      <ns0:accent5>
        <ns0:srgbClr val="DAEDEF"/>
      </ns0:accent5>
      <ns0:accent6>
        <ns0:srgbClr val="2D2D8A"/>
      </ns0:accent6>
      <ns0:hlink>
        <ns0:srgbClr val="009999"/>
      </ns0:hlink>
      <ns0:folHlink>
        <ns0:srgbClr val="99CC00"/>
      </ns0:folHlink>
    </ns0:clrScheme>
    <ns0:fontScheme name="디자인 사용자 지정">
      <ns0:majorFont>
        <ns0:latin typeface="Arial"/>
        <ns0:ea typeface="Arial"/>
        <ns0:cs typeface="Arial"/>
      </ns0:majorFont>
      <ns0:minorFont>
        <ns0:latin typeface="Arial"/>
        <ns0:ea typeface="Arial"/>
        <ns0:cs typeface="Arial"/>
      </ns0:minorFont>
    </ns0:fontScheme>
    <ns0:fmtScheme name="Office">
      <ns0:fillStyleLst>
        <ns0:solidFill>
          <ns0:schemeClr val="phClr"/>
        </ns0:solidFill>
        <ns0:gradFill rotWithShape="1">
          <ns0:gsLst>
            <ns0:gs pos="0">
              <ns0:schemeClr val="phClr">
                <ns0:tint val="50000"/>
                <ns0:satMod val="300000"/>
              </ns0:schemeClr>
            </ns0:gs>
            <ns0:gs pos="35000">
              <ns0:schemeClr val="phClr">
                <ns0:tint val="37000"/>
                <ns0:satMod val="300000"/>
              </ns0:schemeClr>
            </ns0:gs>
            <ns0:gs pos="100000">
              <ns0:schemeClr val="phClr">
                <ns0:tint val="15000"/>
                <ns0:satMod val="350000"/>
              </ns0:schemeClr>
            </ns0:gs>
          </ns0:gsLst>
          <ns0:lin ang="16200000" scaled="1"/>
        </ns0:gradFill>
        <ns0:gradFill rotWithShape="1">
          <ns0:gsLst>
            <ns0:gs pos="0">
              <ns0:schemeClr val="phClr">
                <ns0:shade val="51000"/>
                <ns0:satMod val="130000"/>
              </ns0:schemeClr>
            </ns0:gs>
            <ns0:gs pos="80000">
              <ns0:schemeClr val="phClr">
                <ns0:shade val="93000"/>
                <ns0:satMod val="130000"/>
              </ns0:schemeClr>
            </ns0:gs>
            <ns0:gs pos="100000">
              <ns0:schemeClr val="phClr">
                <ns0:shade val="94000"/>
                <ns0:satMod val="135000"/>
              </ns0:schemeClr>
            </ns0:gs>
          </ns0:gsLst>
          <ns0:lin ang="16200000" scaled="0"/>
        </ns0:gradFill>
      </ns0:fillStyleLst>
      <ns0:lnStyleLst>
        <ns0:ln w="9525" cap="flat" cmpd="sng" algn="ctr">
          <ns0:solidFill>
            <ns0:schemeClr val="phClr">
              <ns0:shade val="95000"/>
              <ns0:satMod val="105000"/>
            </ns0:schemeClr>
          </ns0:solidFill>
          <ns0:prstDash val="solid"/>
        </ns0:ln>
        <ns0:ln w="25400" cap="flat" cmpd="sng" algn="ctr">
          <ns0:solidFill>
            <ns0:schemeClr val="phClr"/>
          </ns0:solidFill>
          <ns0:prstDash val="solid"/>
        </ns0:ln>
        <ns0:ln w="38100" cap="flat" cmpd="sng" algn="ctr">
          <ns0:solidFill>
            <ns0:schemeClr val="phClr"/>
          </ns0:solidFill>
          <ns0:prstDash val="solid"/>
        </ns0:ln>
      </ns0:lnStyleLst>
      <ns0:effectStyleLst>
        <ns0:effectStyle>
          <ns0:effectLst>
            <ns0:outerShdw blurRad="40000" dist="20000" dir="5400000" rotWithShape="0">
              <ns0:srgbClr val="000000">
                <ns0:alpha val="38000"/>
              </ns0:srgbClr>
            </ns0:outerShdw>
          </ns0:effectLst>
        </ns0:effectStyle>
        <ns0:effectStyle>
          <ns0:effectLst>
            <ns0:outerShdw blurRad="40000" dist="23000" dir="5400000" rotWithShape="0">
              <ns0:srgbClr val="000000">
                <ns0:alpha val="35000"/>
              </ns0:srgbClr>
            </ns0:outerShdw>
          </ns0:effectLst>
        </ns0:effectStyle>
        <ns0:effectStyle>
          <ns0:effectLst>
            <ns0:outerShdw blurRad="40000" dist="23000" dir="5400000" rotWithShape="0">
              <ns0:srgbClr val="000000">
                <ns0:alpha val="35000"/>
              </ns0:srgbClr>
            </ns0:outerShdw>
          </ns0:effectLst>
          <ns0:scene3d>
            <ns0:camera prst="orthographicFront">
              <ns0:rot lat="0" lon="0" rev="0"/>
            </ns0:camera>
            <ns0:lightRig rig="threePt" dir="t">
              <ns0:rot lat="0" lon="0" rev="1200000"/>
            </ns0:lightRig>
          </ns0:scene3d>
          <ns0:sp3d>
            <ns0:bevelT w="63500" h="25400"/>
          </ns0:sp3d>
        </ns0:effectStyle>
      </ns0:effectStyleLst>
      <ns0:bgFillStyleLst>
        <ns0:solidFill>
          <ns0:schemeClr val="phClr"/>
        </ns0:solidFill>
        <ns0:gradFill rotWithShape="1">
          <ns0:gsLst>
            <ns0:gs pos="0">
              <ns0:schemeClr val="phClr">
                <ns0:tint val="40000"/>
                <ns0:satMod val="350000"/>
              </ns0:schemeClr>
            </ns0:gs>
            <ns0:gs pos="40000">
              <ns0:schemeClr val="phClr">
                <ns0:tint val="45000"/>
                <ns0:shade val="99000"/>
                <ns0:satMod val="350000"/>
              </ns0:schemeClr>
            </ns0:gs>
            <ns0:gs pos="100000">
              <ns0:schemeClr val="phClr">
                <ns0:shade val="20000"/>
                <ns0:satMod val="255000"/>
              </ns0:schemeClr>
            </ns0:gs>
          </ns0:gsLst>
          <ns0:path path="circle">
            <ns0:fillToRect l="50000" t="-80000" r="50000" b="180000"/>
          </ns0:path>
        </ns0:gradFill>
        <ns0:gradFill rotWithShape="1">
          <ns0:gsLst>
            <ns0:gs pos="0">
              <ns0:schemeClr val="phClr">
                <ns0:tint val="80000"/>
                <ns0:satMod val="300000"/>
              </ns0:schemeClr>
            </ns0:gs>
            <ns0:gs pos="100000">
              <ns0:schemeClr val="phClr">
                <ns0:shade val="30000"/>
                <ns0:satMod val="200000"/>
              </ns0:schemeClr>
            </ns0:gs>
          </ns0:gsLst>
          <ns0:path path="circle">
            <ns0:fillToRect l="50000" t="50000" r="50000" b="50000"/>
          </ns0:path>
        </ns0:gradFill>
      </ns0:bgFillStyleLst>
    </ns0:fmtScheme>
  </ns0:themeElements>
  <ns0:objectDefaults>
    <ns0:spDef>
      <ns0:spPr bwMode="auto">
        <ns0:xfrm>
          <ns0:off x="0" y="0"/>
          <ns0:ext cx="1" cy="1"/>
        </ns0:xfrm>
        <ns0:custGeom>
          <ns0:avLst/>
          <ns0:gdLst/>
          <ns0:ahLst/>
          <ns0:cxnLst/>
          <ns0:rect l="0" t="0" r="0" b="0"/>
          <ns0:pathLst/>
        </ns0:custGeom>
        <ns0:noFill/>
        <ns0:ln w="9525" cap="flat" cmpd="sng" algn="ctr">
          <ns0:solidFill>
            <ns0:schemeClr val="tx1"/>
          </ns0:solidFill>
          <ns0:prstDash val="solid"/>
          <ns0:round/>
          <ns0:headEnd type="none" w="med" len="med"/>
          <ns0:tailEnd type="none" w="med" len="med"/>
        </ns0:ln>
        <ns0:effectLst/>
      </ns0:spPr>
      <ns0:bodyPr vert="horz" wrap="none" lIns="91440" tIns="45720" rIns="91440" bIns="45720" numCol="1" anchor="ctr" anchorCtr="0" compatLnSpc="1">
        <ns0:prstTxWarp prst="textNoShape">
          <ns0:avLst/>
        </ns0:prstTxWarp>
      </ns0:bodyPr>
      <ns0:lstStyle>
        <ns0:defPPr marL="0" marR="0" indent="0" algn="ctr" defTabSz="914400" rtl="0" eaLnBrk="1" fontAlgn="base" latinLnBrk="1" hangingPunct="1">
          <ns0:lnSpc>
            <ns0:spcPct val="100000"/>
          </ns0:lnSpc>
          <ns0:spcBef>
            <ns0:spcPct val="0"/>
          </ns0:spcBef>
          <ns0:spcAft>
            <ns0:spcPct val="0"/>
          </ns0:spcAft>
          <ns0:buClrTx/>
          <ns0:buSzTx/>
          <ns0:buFontTx/>
          <ns0:buNone/>
          <ns0:tabLst/>
          <ns0:defRPr kumimoji="1" lang="ko-KR" sz="1800" b="0" i="0" u="none" strike="noStrike" cap="none" normalizeH="0" baseline="0" smtClean="0">
            <ns0:ln>
              <ns0:noFill/>
            </ns0:ln>
            <ns0:solidFill>
              <ns0:schemeClr val="tx1"/>
            </ns0:solidFill>
            <ns0:effectLst/>
            <ns0:latin typeface="Arial" charset="0"/>
            <ns0:ea typeface="Arial" pitchFamily="50" charset="-127"/>
          </ns0:defRPr>
        </ns0:defPPr>
      </ns0:lstStyle>
    </ns0:spDef>
    <ns0:lnDef>
      <ns0:spPr bwMode="auto">
        <ns0:noFill/>
        <ns0:ln w="9525" cap="flat" cmpd="sng" algn="ctr">
          <ns0:solidFill>
            <ns0:srgbClr val="C00000"/>
          </ns0:solidFill>
          <ns0:prstDash val="solid"/>
          <ns0:round/>
          <ns0:headEnd type="none" w="med" len="med"/>
          <ns0:tailEnd type="triangle" w="med" len="med"/>
        </ns0:ln>
        <ns0:effectLst/>
      </ns0:spPr>
      <ns0:bodyPr/>
      <ns0:lstStyle/>
    </ns0:lnDef>
  </ns0:objectDefaults>
  <ns0:extraClrSchemeLst>
    <ns0:extraClrScheme>
      <ns0:clrScheme name="디자인 사용자 지정 1">
        <ns0:dk1>
          <ns0:srgbClr val="000000"/>
        </ns0:dk1>
        <ns0:lt1>
          <ns0:srgbClr val="FFFFFF"/>
        </ns0:lt1>
        <ns0:dk2>
          <ns0:srgbClr val="000000"/>
        </ns0:dk2>
        <ns0:lt2>
          <ns0:srgbClr val="808080"/>
        </ns0:lt2>
        <ns0:accent1>
          <ns0:srgbClr val="BBE0E3"/>
        </ns0:accent1>
        <ns0:accent2>
          <ns0:srgbClr val="333399"/>
        </ns0:accent2>
        <ns0:accent3>
          <ns0:srgbClr val="FFFFFF"/>
        </ns0:accent3>
        <ns0:accent4>
          <ns0:srgbClr val="000000"/>
        </ns0:accent4>
        <ns0:accent5>
          <ns0:srgbClr val="DAEDEF"/>
        </ns0:accent5>
        <ns0:accent6>
          <ns0:srgbClr val="2D2D8A"/>
        </ns0:accent6>
        <ns0:hlink>
          <ns0:srgbClr val="009999"/>
        </ns0:hlink>
        <ns0:folHlink>
          <ns0:srgbClr val="99CC00"/>
        </ns0:folHlink>
      </ns0:clrScheme>
      <ns0:clrMap bg1="lt1" tx1="dk1" bg2="lt2" tx2="dk2" accent1="accent1" accent2="accent2" accent3="accent3" accent4="accent4" accent5="accent5" accent6="accent6" hlink="hlink" folHlink="folHlink"/>
    </ns0:extraClrScheme>
    <ns0:extraClrScheme>
      <ns0:clrScheme name="디자인 사용자 지정 2">
        <ns0:dk1>
          <ns0:srgbClr val="000000"/>
        </ns0:dk1>
        <ns0:lt1>
          <ns0:srgbClr val="FFFFFF"/>
        </ns0:lt1>
        <ns0:dk2>
          <ns0:srgbClr val="000000"/>
        </ns0:dk2>
        <ns0:lt2>
          <ns0:srgbClr val="969696"/>
        </ns0:lt2>
        <ns0:accent1>
          <ns0:srgbClr val="FBDF53"/>
        </ns0:accent1>
        <ns0:accent2>
          <ns0:srgbClr val="FF9966"/>
        </ns0:accent2>
        <ns0:accent3>
          <ns0:srgbClr val="FFFFFF"/>
        </ns0:accent3>
        <ns0:accent4>
          <ns0:srgbClr val="000000"/>
        </ns0:accent4>
        <ns0:accent5>
          <ns0:srgbClr val="FDECB3"/>
        </ns0:accent5>
        <ns0:accent6>
          <ns0:srgbClr val="E78A5C"/>
        </ns0:accent6>
        <ns0:hlink>
          <ns0:srgbClr val="CC3300"/>
        </ns0:hlink>
        <ns0:folHlink>
          <ns0:srgbClr val="996600"/>
        </ns0:folHlink>
      </ns0:clrScheme>
      <ns0:clrMap bg1="lt1" tx1="dk1" bg2="lt2" tx2="dk2" accent1="accent1" accent2="accent2" accent3="accent3" accent4="accent4" accent5="accent5" accent6="accent6" hlink="hlink" folHlink="folHlink"/>
    </ns0:extraClrScheme>
    <ns0:extraClrScheme>
      <ns0:clrScheme name="디자인 사용자 지정 3">
        <ns0:dk1>
          <ns0:srgbClr val="000000"/>
        </ns0:dk1>
        <ns0:lt1>
          <ns0:srgbClr val="FFFFFF"/>
        </ns0:lt1>
        <ns0:dk2>
          <ns0:srgbClr val="000000"/>
        </ns0:dk2>
        <ns0:lt2>
          <ns0:srgbClr val="808080"/>
        </ns0:lt2>
        <ns0:accent1>
          <ns0:srgbClr val="99CCFF"/>
        </ns0:accent1>
        <ns0:accent2>
          <ns0:srgbClr val="CCCCFF"/>
        </ns0:accent2>
        <ns0:accent3>
          <ns0:srgbClr val="FFFFFF"/>
        </ns0:accent3>
        <ns0:accent4>
          <ns0:srgbClr val="000000"/>
        </ns0:accent4>
        <ns0:accent5>
          <ns0:srgbClr val="CAE2FF"/>
        </ns0:accent5>
        <ns0:accent6>
          <ns0:srgbClr val="B9B9E7"/>
        </ns0:accent6>
        <ns0:hlink>
          <ns0:srgbClr val="3333CC"/>
        </ns0:hlink>
        <ns0:folHlink>
          <ns0:srgbClr val="AF67FF"/>
        </ns0:folHlink>
      </ns0:clrScheme>
      <ns0:clrMap bg1="lt1" tx1="dk1" bg2="lt2" tx2="dk2" accent1="accent1" accent2="accent2" accent3="accent3" accent4="accent4" accent5="accent5" accent6="accent6" hlink="hlink" folHlink="folHlink"/>
    </ns0:extraClrScheme>
    <ns0:extraClrScheme>
      <ns0:clrScheme name="디자인 사용자 지정 4">
        <ns0:dk1>
          <ns0:srgbClr val="000000"/>
        </ns0:dk1>
        <ns0:lt1>
          <ns0:srgbClr val="DEF6F1"/>
        </ns0:lt1>
        <ns0:dk2>
          <ns0:srgbClr val="000000"/>
        </ns0:dk2>
        <ns0:lt2>
          <ns0:srgbClr val="969696"/>
        </ns0:lt2>
        <ns0:accent1>
          <ns0:srgbClr val="FFFFFF"/>
        </ns0:accent1>
        <ns0:accent2>
          <ns0:srgbClr val="8DC6FF"/>
        </ns0:accent2>
        <ns0:accent3>
          <ns0:srgbClr val="ECFAF7"/>
        </ns0:accent3>
        <ns0:accent4>
          <ns0:srgbClr val="000000"/>
        </ns0:accent4>
        <ns0:accent5>
          <ns0:srgbClr val="FFFFFF"/>
        </ns0:accent5>
        <ns0:accent6>
          <ns0:srgbClr val="7FB3E7"/>
        </ns0:accent6>
        <ns0:hlink>
          <ns0:srgbClr val="0066CC"/>
        </ns0:hlink>
        <ns0:folHlink>
          <ns0:srgbClr val="00A800"/>
        </ns0:folHlink>
      </ns0:clrScheme>
      <ns0:clrMap bg1="lt1" tx1="dk1" bg2="lt2" tx2="dk2" accent1="accent1" accent2="accent2" accent3="accent3" accent4="accent4" accent5="accent5" accent6="accent6" hlink="hlink" folHlink="folHlink"/>
    </ns0:extraClrScheme>
    <ns0:extraClrScheme>
      <ns0:clrScheme name="디자인 사용자 지정 5">
        <ns0:dk1>
          <ns0:srgbClr val="000000"/>
        </ns0:dk1>
        <ns0:lt1>
          <ns0:srgbClr val="FFFFD9"/>
        </ns0:lt1>
        <ns0:dk2>
          <ns0:srgbClr val="000000"/>
        </ns0:dk2>
        <ns0:lt2>
          <ns0:srgbClr val="777777"/>
        </ns0:lt2>
        <ns0:accent1>
          <ns0:srgbClr val="FFFFF7"/>
        </ns0:accent1>
        <ns0:accent2>
          <ns0:srgbClr val="33CCCC"/>
        </ns0:accent2>
        <ns0:accent3>
          <ns0:srgbClr val="FFFFE9"/>
        </ns0:accent3>
        <ns0:accent4>
          <ns0:srgbClr val="000000"/>
        </ns0:accent4>
        <ns0:accent5>
          <ns0:srgbClr val="FFFFFA"/>
        </ns0:accent5>
        <ns0:accent6>
          <ns0:srgbClr val="2DB9B9"/>
        </ns0:accent6>
        <ns0:hlink>
          <ns0:srgbClr val="FF5050"/>
        </ns0:hlink>
        <ns0:folHlink>
          <ns0:srgbClr val="FF9900"/>
        </ns0:folHlink>
      </ns0:clrScheme>
      <ns0:clrMap bg1="lt1" tx1="dk1" bg2="lt2" tx2="dk2" accent1="accent1" accent2="accent2" accent3="accent3" accent4="accent4" accent5="accent5" accent6="accent6" hlink="hlink" folHlink="folHlink"/>
    </ns0:extraClrScheme>
    <ns0:extraClrScheme>
      <ns0:clrScheme name="디자인 사용자 지정 6">
        <ns0:dk1>
          <ns0:srgbClr val="005A58"/>
        </ns0:dk1>
        <ns0:lt1>
          <ns0:srgbClr val="FFFFFF"/>
        </ns0:lt1>
        <ns0:dk2>
          <ns0:srgbClr val="008080"/>
        </ns0:dk2>
        <ns0:lt2>
          <ns0:srgbClr val="FFFF99"/>
        </ns0:lt2>
        <ns0:accent1>
          <ns0:srgbClr val="006462"/>
        </ns0:accent1>
        <ns0:accent2>
          <ns0:srgbClr val="6D6FC7"/>
        </ns0:accent2>
        <ns0:accent3>
          <ns0:srgbClr val="AAC0C0"/>
        </ns0:accent3>
        <ns0:accent4>
          <ns0:srgbClr val="DADADA"/>
        </ns0:accent4>
        <ns0:accent5>
          <ns0:srgbClr val="AAB8B7"/>
        </ns0:accent5>
        <ns0:accent6>
          <ns0:srgbClr val="6264B4"/>
        </ns0:accent6>
        <ns0:hlink>
          <ns0:srgbClr val="00FFFF"/>
        </ns0:hlink>
        <ns0:folHlink>
          <ns0:srgbClr val="00FF00"/>
        </ns0:folHlink>
      </ns0:clrScheme>
      <ns0:clrMap bg1="dk2" tx1="lt1" bg2="dk1" tx2="lt2" accent1="accent1" accent2="accent2" accent3="accent3" accent4="accent4" accent5="accent5" accent6="accent6" hlink="hlink" folHlink="folHlink"/>
    </ns0:extraClrScheme>
    <ns0:extraClrScheme>
      <ns0:clrScheme name="디자인 사용자 지정 7">
        <ns0:dk1>
          <ns0:srgbClr val="5C1F00"/>
        </ns0:dk1>
        <ns0:lt1>
          <ns0:srgbClr val="FFFFFF"/>
        </ns0:lt1>
        <ns0:dk2>
          <ns0:srgbClr val="800000"/>
        </ns0:dk2>
        <ns0:lt2>
          <ns0:srgbClr val="DFD293"/>
        </ns0:lt2>
        <ns0:accent1>
          <ns0:srgbClr val="CC3300"/>
        </ns0:accent1>
        <ns0:accent2>
          <ns0:srgbClr val="BE7960"/>
        </ns0:accent2>
        <ns0:accent3>
          <ns0:srgbClr val="C0AAAA"/>
        </ns0:accent3>
        <ns0:accent4>
          <ns0:srgbClr val="DADADA"/>
        </ns0:accent4>
        <ns0:accent5>
          <ns0:srgbClr val="E2ADAA"/>
        </ns0:accent5>
        <ns0:accent6>
          <ns0:srgbClr val="AC6D56"/>
        </ns0:accent6>
        <ns0:hlink>
          <ns0:srgbClr val="FFFF99"/>
        </ns0:hlink>
        <ns0:folHlink>
          <ns0:srgbClr val="D3A219"/>
        </ns0:folHlink>
      </ns0:clrScheme>
      <ns0:clrMap bg1="dk2" tx1="lt1" bg2="dk1" tx2="lt2" accent1="accent1" accent2="accent2" accent3="accent3" accent4="accent4" accent5="accent5" accent6="accent6" hlink="hlink" folHlink="folHlink"/>
    </ns0:extraClrScheme>
    <ns0:extraClrScheme>
      <ns0:clrScheme name="디자인 사용자 지정 8">
        <ns0:dk1>
          <ns0:srgbClr val="003366"/>
        </ns0:dk1>
        <ns0:lt1>
          <ns0:srgbClr val="FFFFFF"/>
        </ns0:lt1>
        <ns0:dk2>
          <ns0:srgbClr val="000099"/>
        </ns0:dk2>
        <ns0:lt2>
          <ns0:srgbClr val="CCFFFF"/>
        </ns0:lt2>
        <ns0:accent1>
          <ns0:srgbClr val="3366CC"/>
        </ns0:accent1>
        <ns0:accent2>
          <ns0:srgbClr val="00B000"/>
        </ns0:accent2>
        <ns0:accent3>
          <ns0:srgbClr val="AAAACA"/>
        </ns0:accent3>
        <ns0:accent4>
          <ns0:srgbClr val="DADADA"/>
        </ns0:accent4>
        <ns0:accent5>
          <ns0:srgbClr val="ADB8E2"/>
        </ns0:accent5>
        <ns0:accent6>
          <ns0:srgbClr val="009F00"/>
        </ns0:accent6>
        <ns0:hlink>
          <ns0:srgbClr val="66CCFF"/>
        </ns0:hlink>
        <ns0:folHlink>
          <ns0:srgbClr val="FFE701"/>
        </ns0:folHlink>
      </ns0:clrScheme>
      <ns0:clrMap bg1="dk2" tx1="lt1" bg2="dk1" tx2="lt2" accent1="accent1" accent2="accent2" accent3="accent3" accent4="accent4" accent5="accent5" accent6="accent6" hlink="hlink" folHlink="folHlink"/>
    </ns0:extraClrScheme>
    <ns0:extraClrScheme>
      <ns0:clrScheme name="디자인 사용자 지정 9">
        <ns0:dk1>
          <ns0:srgbClr val="336699"/>
        </ns0:dk1>
        <ns0:lt1>
          <ns0:srgbClr val="FFFFFF"/>
        </ns0:lt1>
        <ns0:dk2>
          <ns0:srgbClr val="000000"/>
        </ns0:dk2>
        <ns0:lt2>
          <ns0:srgbClr val="E3EBF1"/>
        </ns0:lt2>
        <ns0:accent1>
          <ns0:srgbClr val="003399"/>
        </ns0:accent1>
        <ns0:accent2>
          <ns0:srgbClr val="468A4B"/>
        </ns0:accent2>
        <ns0:accent3>
          <ns0:srgbClr val="AAAAAA"/>
        </ns0:accent3>
        <ns0:accent4>
          <ns0:srgbClr val="DADADA"/>
        </ns0:accent4>
        <ns0:accent5>
          <ns0:srgbClr val="AAADCA"/>
        </ns0:accent5>
        <ns0:accent6>
          <ns0:srgbClr val="3F7D43"/>
        </ns0:accent6>
        <ns0:hlink>
          <ns0:srgbClr val="66CCFF"/>
        </ns0:hlink>
        <ns0:folHlink>
          <ns0:srgbClr val="F0E500"/>
        </ns0:folHlink>
      </ns0:clrScheme>
      <ns0:clrMap bg1="dk2" tx1="lt1" bg2="dk1" tx2="lt2" accent1="accent1" accent2="accent2" accent3="accent3" accent4="accent4" accent5="accent5" accent6="accent6" hlink="hlink" folHlink="folHlink"/>
    </ns0:extraClrScheme>
    <ns0:extraClrScheme>
      <ns0:clrScheme name="디자인 사용자 지정 10">
        <ns0:dk1>
          <ns0:srgbClr val="777777"/>
        </ns0:dk1>
        <ns0:lt1>
          <ns0:srgbClr val="FFFFFF"/>
        </ns0:lt1>
        <ns0:dk2>
          <ns0:srgbClr val="686B5D"/>
        </ns0:dk2>
        <ns0:lt2>
          <ns0:srgbClr val="D1D1CB"/>
        </ns0:lt2>
        <ns0:accent1>
          <ns0:srgbClr val="909082"/>
        </ns0:accent1>
        <ns0:accent2>
          <ns0:srgbClr val="809EA8"/>
        </ns0:accent2>
        <ns0:accent3>
          <ns0:srgbClr val="B9BAB6"/>
        </ns0:accent3>
        <ns0:accent4>
          <ns0:srgbClr val="DADADA"/>
        </ns0:accent4>
        <ns0:accent5>
          <ns0:srgbClr val="C6C6C1"/>
        </ns0:accent5>
        <ns0:accent6>
          <ns0:srgbClr val="738F98"/>
        </ns0:accent6>
        <ns0:hlink>
          <ns0:srgbClr val="FFCC66"/>
        </ns0:hlink>
        <ns0:folHlink>
          <ns0:srgbClr val="E9DCB9"/>
        </ns0:folHlink>
      </ns0:clrScheme>
      <ns0:clrMap bg1="dk2" tx1="lt1" bg2="dk1" tx2="lt2" accent1="accent1" accent2="accent2" accent3="accent3" accent4="accent4" accent5="accent5" accent6="accent6" hlink="hlink" folHlink="folHlink"/>
    </ns0:extraClrScheme>
    <ns0:extraClrScheme>
      <ns0:clrScheme name="디자인 사용자 지정 11">
        <ns0:dk1>
          <ns0:srgbClr val="3E3E5C"/>
        </ns0:dk1>
        <ns0:lt1>
          <ns0:srgbClr val="FFFFFF"/>
        </ns0:lt1>
        <ns0:dk2>
          <ns0:srgbClr val="666699"/>
        </ns0:dk2>
        <ns0:lt2>
          <ns0:srgbClr val="FFFFFF"/>
        </ns0:lt2>
        <ns0:accent1>
          <ns0:srgbClr val="60597B"/>
        </ns0:accent1>
        <ns0:accent2>
          <ns0:srgbClr val="6666FF"/>
        </ns0:accent2>
        <ns0:accent3>
          <ns0:srgbClr val="B8B8CA"/>
        </ns0:accent3>
        <ns0:accent4>
          <ns0:srgbClr val="DADADA"/>
        </ns0:accent4>
        <ns0:accent5>
          <ns0:srgbClr val="B6B5BF"/>
        </ns0:accent5>
        <ns0:accent6>
          <ns0:srgbClr val="5C5CE7"/>
        </ns0:accent6>
        <ns0:hlink>
          <ns0:srgbClr val="99CCFF"/>
        </ns0:hlink>
        <ns0:folHlink>
          <ns0:srgbClr val="FFFF99"/>
        </ns0:folHlink>
      </ns0:clrScheme>
      <ns0:clrMap bg1="dk2" tx1="lt1" bg2="dk1" tx2="lt2" accent1="accent1" accent2="accent2" accent3="accent3" accent4="accent4" accent5="accent5" accent6="accent6" hlink="hlink" folHlink="folHlink"/>
    </ns0:extraClrScheme>
    <ns0:extraClrScheme>
      <ns0:clrScheme name="디자인 사용자 지정 12">
        <ns0:dk1>
          <ns0:srgbClr val="2D2015"/>
        </ns0:dk1>
        <ns0:lt1>
          <ns0:srgbClr val="FFFFFF"/>
        </ns0:lt1>
        <ns0:dk2>
          <ns0:srgbClr val="523E26"/>
        </ns0:dk2>
        <ns0:lt2>
          <ns0:srgbClr val="DFC08D"/>
        </ns0:lt2>
        <ns0:accent1>
          <ns0:srgbClr val="8C7B70"/>
        </ns0:accent1>
        <ns0:accent2>
          <ns0:srgbClr val="8F5F2F"/>
        </ns0:accent2>
        <ns0:accent3>
          <ns0:srgbClr val="B3AFAC"/>
        </ns0:accent3>
        <ns0:accent4>
          <ns0:srgbClr val="DADADA"/>
        </ns0:accent4>
        <ns0:accent5>
          <ns0:srgbClr val="C5BFBB"/>
        </ns0:accent5>
        <ns0:accent6>
          <ns0:srgbClr val="81552A"/>
        </ns0:accent6>
        <ns0:hlink>
          <ns0:srgbClr val="CCB400"/>
        </ns0:hlink>
        <ns0:folHlink>
          <ns0:srgbClr val="8C9EA0"/>
        </ns0:folHlink>
      </ns0:clrScheme>
      <ns0:clrMap bg1="dk2" tx1="lt1" bg2="dk1" tx2="lt2" accent1="accent1" accent2="accent2" accent3="accent3" accent4="accent4" accent5="accent5" accent6="accent6" hlink="hlink" folHlink="folHlink"/>
    </ns0:extraClrScheme>
  </ns0:extraClrSchemeLst>
</ns0:theme>
</file>

<file path=ppt/theme/theme2.xml><?xml version="1.0" encoding="utf-8"?>
<ns0:theme xmlns:ns0="http://schemas.openxmlformats.org/drawingml/2006/main" name="Office 테마">
  <ns0:themeElements>
    <ns0:clrScheme name="Office">
      <ns0:dk1>
        <ns0:sysClr val="windowText" lastClr="000000"/>
      </ns0:dk1>
      <ns0:lt1>
        <ns0:sysClr val="window" lastClr="FFFFFF"/>
      </ns0:lt1>
      <ns0:dk2>
        <ns0:srgbClr val="1F497D"/>
      </ns0:dk2>
      <ns0:lt2>
        <ns0:srgbClr val="EEECE1"/>
      </ns0:lt2>
      <ns0:accent1>
        <ns0:srgbClr val="4F81BD"/>
      </ns0:accent1>
      <ns0:accent2>
        <ns0:srgbClr val="C0504D"/>
      </ns0:accent2>
      <ns0:accent3>
        <ns0:srgbClr val="9BBB59"/>
      </ns0:accent3>
      <ns0:accent4>
        <ns0:srgbClr val="8064A2"/>
      </ns0:accent4>
      <ns0:accent5>
        <ns0:srgbClr val="4BACC6"/>
      </ns0:accent5>
      <ns0:accent6>
        <ns0:srgbClr val="F79646"/>
      </ns0:accent6>
      <ns0:hlink>
        <ns0:srgbClr val="0000FF"/>
      </ns0:hlink>
      <ns0:folHlink>
        <ns0:srgbClr val="800080"/>
      </ns0:folHlink>
    </ns0:clrScheme>
    <ns0:fontScheme name="Office">
      <ns0:majorFont>
        <ns0:latin typeface="Arial"/>
        <ns0:ea typeface="Arial"/>
        <ns0:cs typeface="Arial"/>
        <ns0:font script="Jpan" typeface="Arial"/>
        <ns0:font script="Hang" typeface="Arial"/>
        <ns0:font script="Hans" typeface="Arial"/>
        <ns0:font script="Hant" typeface="Arial"/>
        <ns0:font script="Arab" typeface="Arial"/>
        <ns0:font script="Hebr" typeface="Arial"/>
        <ns0:font script="Thai" typeface="Arial"/>
        <ns0:font script="Ethi" typeface="Arial"/>
        <ns0:font script="Beng" typeface="Arial"/>
        <ns0:font script="Gujr" typeface="Arial"/>
        <ns0:font script="Khmr" typeface="Arial"/>
        <ns0:font script="Knda" typeface="Arial"/>
        <ns0:font script="Guru" typeface="Arial"/>
        <ns0:font script="Cans" typeface="Arial"/>
        <ns0:font script="Cher" typeface="Arial"/>
        <ns0:font script="Yiii" typeface="Arial"/>
        <ns0:font script="Tibt" typeface="Arial"/>
        <ns0:font script="Thaa" typeface="Arial"/>
        <ns0:font script="Deva" typeface="Arial"/>
        <ns0:font script="Telu" typeface="Arial"/>
        <ns0:font script="Taml" typeface="Arial"/>
        <ns0:font script="Syrc" typeface="Arial"/>
        <ns0:font script="Orya" typeface="Arial"/>
        <ns0:font script="Mlym" typeface="Arial"/>
        <ns0:font script="Laoo" typeface="Arial"/>
        <ns0:font script="Sinh" typeface="Arial"/>
        <ns0:font script="Mong" typeface="Arial"/>
        <ns0:font script="Viet" typeface="Arial"/>
        <ns0:font script="Uigh" typeface="Arial"/>
      </ns0:majorFont>
      <ns0:minorFont>
        <ns0:latin typeface="Arial"/>
        <ns0:ea typeface="Arial"/>
        <ns0:cs typeface="Arial"/>
        <ns0:font script="Jpan" typeface="Arial"/>
        <ns0:font script="Hang" typeface="Arial"/>
        <ns0:font script="Hans" typeface="Arial"/>
        <ns0:font script="Hant" typeface="Arial"/>
        <ns0:font script="Arab" typeface="Arial"/>
        <ns0:font script="Hebr" typeface="Arial"/>
        <ns0:font script="Thai" typeface="Arial"/>
        <ns0:font script="Ethi" typeface="Arial"/>
        <ns0:font script="Beng" typeface="Arial"/>
        <ns0:font script="Gujr" typeface="Arial"/>
        <ns0:font script="Khmr" typeface="Arial"/>
        <ns0:font script="Knda" typeface="Arial"/>
        <ns0:font script="Guru" typeface="Arial"/>
        <ns0:font script="Cans" typeface="Arial"/>
        <ns0:font script="Cher" typeface="Arial"/>
        <ns0:font script="Yiii" typeface="Arial"/>
        <ns0:font script="Tibt" typeface="Arial"/>
        <ns0:font script="Thaa" typeface="Arial"/>
        <ns0:font script="Deva" typeface="Arial"/>
        <ns0:font script="Telu" typeface="Arial"/>
        <ns0:font script="Taml" typeface="Arial"/>
        <ns0:font script="Syrc" typeface="Arial"/>
        <ns0:font script="Orya" typeface="Arial"/>
        <ns0:font script="Mlym" typeface="Arial"/>
        <ns0:font script="Laoo" typeface="Arial"/>
        <ns0:font script="Sinh" typeface="Arial"/>
        <ns0:font script="Mong" typeface="Arial"/>
        <ns0:font script="Viet" typeface="Arial"/>
        <ns0:font script="Uigh" typeface="Arial"/>
      </ns0:minorFont>
    </ns0:fontScheme>
    <ns0:fmtScheme name="Office">
      <ns0:fillStyleLst>
        <ns0:solidFill>
          <ns0:schemeClr val="phClr"/>
        </ns0:solidFill>
        <ns0:gradFill rotWithShape="1">
          <ns0:gsLst>
            <ns0:gs pos="0">
              <ns0:schemeClr val="phClr">
                <ns0:tint val="50000"/>
                <ns0:satMod val="300000"/>
              </ns0:schemeClr>
            </ns0:gs>
            <ns0:gs pos="35000">
              <ns0:schemeClr val="phClr">
                <ns0:tint val="37000"/>
                <ns0:satMod val="300000"/>
              </ns0:schemeClr>
            </ns0:gs>
            <ns0:gs pos="100000">
              <ns0:schemeClr val="phClr">
                <ns0:tint val="15000"/>
                <ns0:satMod val="350000"/>
              </ns0:schemeClr>
            </ns0:gs>
          </ns0:gsLst>
          <ns0:lin ang="16200000" scaled="1"/>
        </ns0:gradFill>
        <ns0:gradFill rotWithShape="1">
          <ns0:gsLst>
            <ns0:gs pos="0">
              <ns0:schemeClr val="phClr">
                <ns0:shade val="51000"/>
                <ns0:satMod val="130000"/>
              </ns0:schemeClr>
            </ns0:gs>
            <ns0:gs pos="80000">
              <ns0:schemeClr val="phClr">
                <ns0:shade val="93000"/>
                <ns0:satMod val="130000"/>
              </ns0:schemeClr>
            </ns0:gs>
            <ns0:gs pos="100000">
              <ns0:schemeClr val="phClr">
                <ns0:shade val="94000"/>
                <ns0:satMod val="135000"/>
              </ns0:schemeClr>
            </ns0:gs>
          </ns0:gsLst>
          <ns0:lin ang="16200000" scaled="0"/>
        </ns0:gradFill>
      </ns0:fillStyleLst>
      <ns0:lnStyleLst>
        <ns0:ln w="9525" cap="flat" cmpd="sng" algn="ctr">
          <ns0:solidFill>
            <ns0:schemeClr val="phClr">
              <ns0:shade val="95000"/>
              <ns0:satMod val="105000"/>
            </ns0:schemeClr>
          </ns0:solidFill>
          <ns0:prstDash val="solid"/>
        </ns0:ln>
        <ns0:ln w="25400" cap="flat" cmpd="sng" algn="ctr">
          <ns0:solidFill>
            <ns0:schemeClr val="phClr"/>
          </ns0:solidFill>
          <ns0:prstDash val="solid"/>
        </ns0:ln>
        <ns0:ln w="38100" cap="flat" cmpd="sng" algn="ctr">
          <ns0:solidFill>
            <ns0:schemeClr val="phClr"/>
          </ns0:solidFill>
          <ns0:prstDash val="solid"/>
        </ns0:ln>
      </ns0:lnStyleLst>
      <ns0:effectStyleLst>
        <ns0:effectStyle>
          <ns0:effectLst>
            <ns0:outerShdw blurRad="40000" dist="20000" dir="5400000" rotWithShape="0">
              <ns0:srgbClr val="000000">
                <ns0:alpha val="38000"/>
              </ns0:srgbClr>
            </ns0:outerShdw>
          </ns0:effectLst>
        </ns0:effectStyle>
        <ns0:effectStyle>
          <ns0:effectLst>
            <ns0:outerShdw blurRad="40000" dist="23000" dir="5400000" rotWithShape="0">
              <ns0:srgbClr val="000000">
                <ns0:alpha val="35000"/>
              </ns0:srgbClr>
            </ns0:outerShdw>
          </ns0:effectLst>
        </ns0:effectStyle>
        <ns0:effectStyle>
          <ns0:effectLst>
            <ns0:outerShdw blurRad="40000" dist="23000" dir="5400000" rotWithShape="0">
              <ns0:srgbClr val="000000">
                <ns0:alpha val="35000"/>
              </ns0:srgbClr>
            </ns0:outerShdw>
          </ns0:effectLst>
          <ns0:scene3d>
            <ns0:camera prst="orthographicFront">
              <ns0:rot lat="0" lon="0" rev="0"/>
            </ns0:camera>
            <ns0:lightRig rig="threePt" dir="t">
              <ns0:rot lat="0" lon="0" rev="1200000"/>
            </ns0:lightRig>
          </ns0:scene3d>
          <ns0:sp3d>
            <ns0:bevelT w="63500" h="25400"/>
          </ns0:sp3d>
        </ns0:effectStyle>
      </ns0:effectStyleLst>
      <ns0:bgFillStyleLst>
        <ns0:solidFill>
          <ns0:schemeClr val="phClr"/>
        </ns0:solidFill>
        <ns0:gradFill rotWithShape="1">
          <ns0:gsLst>
            <ns0:gs pos="0">
              <ns0:schemeClr val="phClr">
                <ns0:tint val="40000"/>
                <ns0:satMod val="350000"/>
              </ns0:schemeClr>
            </ns0:gs>
            <ns0:gs pos="40000">
              <ns0:schemeClr val="phClr">
                <ns0:tint val="45000"/>
                <ns0:shade val="99000"/>
                <ns0:satMod val="350000"/>
              </ns0:schemeClr>
            </ns0:gs>
            <ns0:gs pos="100000">
              <ns0:schemeClr val="phClr">
                <ns0:shade val="20000"/>
                <ns0:satMod val="255000"/>
              </ns0:schemeClr>
            </ns0:gs>
          </ns0:gsLst>
          <ns0:path path="circle">
            <ns0:fillToRect l="50000" t="-80000" r="50000" b="180000"/>
          </ns0:path>
        </ns0:gradFill>
        <ns0:gradFill rotWithShape="1">
          <ns0:gsLst>
            <ns0:gs pos="0">
              <ns0:schemeClr val="phClr">
                <ns0:tint val="80000"/>
                <ns0:satMod val="300000"/>
              </ns0:schemeClr>
            </ns0:gs>
            <ns0:gs pos="100000">
              <ns0:schemeClr val="phClr">
                <ns0:shade val="30000"/>
                <ns0:satMod val="200000"/>
              </ns0:schemeClr>
            </ns0:gs>
          </ns0:gsLst>
          <ns0:path path="circle">
            <ns0:fillToRect l="50000" t="50000" r="50000" b="50000"/>
          </ns0:path>
        </ns0:gradFill>
      </ns0:bgFillStyleLst>
    </ns0:fmtScheme>
  </ns0:themeElements>
  <ns0:objectDefaults/>
  <ns0:extraClrSchemeLst/>
</ns0:theme>
</file>

<file path=ppt/theme/theme3.xml><?xml version="1.0" encoding="utf-8"?>
<ns0:theme xmlns:ns0="http://schemas.openxmlformats.org/drawingml/2006/main" xmlns:ns1="http://schemas.microsoft.com/office/thememl/2012/main" name="Office Theme">
  <ns0:themeElements>
    <ns0:clrScheme name="Office">
      <ns0:dk1>
        <ns0:sysClr val="windowText" lastClr="000000"/>
      </ns0:dk1>
      <ns0:lt1>
        <ns0:sysClr val="window" lastClr="FFFFFF"/>
      </ns0:lt1>
      <ns0:dk2>
        <ns0:srgbClr val="44546A"/>
      </ns0:dk2>
      <ns0:lt2>
        <ns0:srgbClr val="E7E6E6"/>
      </ns0:lt2>
      <ns0:accent1>
        <ns0:srgbClr val="5B9BD5"/>
      </ns0:accent1>
      <ns0:accent2>
        <ns0:srgbClr val="ED7D31"/>
      </ns0:accent2>
      <ns0:accent3>
        <ns0:srgbClr val="A5A5A5"/>
      </ns0:accent3>
      <ns0:accent4>
        <ns0:srgbClr val="FFC000"/>
      </ns0:accent4>
      <ns0:accent5>
        <ns0:srgbClr val="4472C4"/>
      </ns0:accent5>
      <ns0:accent6>
        <ns0:srgbClr val="70AD47"/>
      </ns0:accent6>
      <ns0:hlink>
        <ns0:srgbClr val="0563C1"/>
      </ns0:hlink>
      <ns0:folHlink>
        <ns0:srgbClr val="954F72"/>
      </ns0:folHlink>
    </ns0:clrScheme>
    <ns0:fontScheme name="Office">
      <ns0:majorFont>
        <ns0:latin typeface="Arial" panose="020F0302020204030204"/>
        <ns0:ea typeface="Arial"/>
        <ns0:cs typeface="Arial"/>
        <ns0:font script="Jpan" typeface="Arial"/>
        <ns0:font script="Hang" typeface="Arial"/>
        <ns0:font script="Hans" typeface="Arial"/>
        <ns0:font script="Hant" typeface="Arial"/>
        <ns0:font script="Arab" typeface="Arial"/>
        <ns0:font script="Hebr" typeface="Arial"/>
        <ns0:font script="Thai" typeface="Arial"/>
        <ns0:font script="Ethi" typeface="Arial"/>
        <ns0:font script="Beng" typeface="Arial"/>
        <ns0:font script="Gujr" typeface="Arial"/>
        <ns0:font script="Khmr" typeface="Arial"/>
        <ns0:font script="Knda" typeface="Arial"/>
        <ns0:font script="Guru" typeface="Arial"/>
        <ns0:font script="Cans" typeface="Arial"/>
        <ns0:font script="Cher" typeface="Arial"/>
        <ns0:font script="Yiii" typeface="Arial"/>
        <ns0:font script="Tibt" typeface="Arial"/>
        <ns0:font script="Thaa" typeface="Arial"/>
        <ns0:font script="Deva" typeface="Arial"/>
        <ns0:font script="Telu" typeface="Arial"/>
        <ns0:font script="Taml" typeface="Arial"/>
        <ns0:font script="Syrc" typeface="Arial"/>
        <ns0:font script="Orya" typeface="Arial"/>
        <ns0:font script="Mlym" typeface="Arial"/>
        <ns0:font script="Laoo" typeface="Arial"/>
        <ns0:font script="Sinh" typeface="Arial"/>
        <ns0:font script="Mong" typeface="Arial"/>
        <ns0:font script="Viet" typeface="Arial"/>
        <ns0:font script="Uigh" typeface="Arial"/>
        <ns0:font script="Geor" typeface="Arial"/>
      </ns0:majorFont>
      <ns0:minorFont>
        <ns0:latin typeface="Arial" panose="020F0502020204030204"/>
        <ns0:ea typeface="Arial"/>
        <ns0:cs typeface="Arial"/>
        <ns0:font script="Jpan" typeface="Arial"/>
        <ns0:font script="Hang" typeface="Arial"/>
        <ns0:font script="Hans" typeface="Arial"/>
        <ns0:font script="Hant" typeface="Arial"/>
        <ns0:font script="Arab" typeface="Arial"/>
        <ns0:font script="Hebr" typeface="Arial"/>
        <ns0:font script="Thai" typeface="Arial"/>
        <ns0:font script="Ethi" typeface="Arial"/>
        <ns0:font script="Beng" typeface="Arial"/>
        <ns0:font script="Gujr" typeface="Arial"/>
        <ns0:font script="Khmr" typeface="Arial"/>
        <ns0:font script="Knda" typeface="Arial"/>
        <ns0:font script="Guru" typeface="Arial"/>
        <ns0:font script="Cans" typeface="Arial"/>
        <ns0:font script="Cher" typeface="Arial"/>
        <ns0:font script="Yiii" typeface="Arial"/>
        <ns0:font script="Tibt" typeface="Arial"/>
        <ns0:font script="Thaa" typeface="Arial"/>
        <ns0:font script="Deva" typeface="Arial"/>
        <ns0:font script="Telu" typeface="Arial"/>
        <ns0:font script="Taml" typeface="Arial"/>
        <ns0:font script="Syrc" typeface="Arial"/>
        <ns0:font script="Orya" typeface="Arial"/>
        <ns0:font script="Mlym" typeface="Arial"/>
        <ns0:font script="Laoo" typeface="Arial"/>
        <ns0:font script="Sinh" typeface="Arial"/>
        <ns0:font script="Mong" typeface="Arial"/>
        <ns0:font script="Viet" typeface="Arial"/>
        <ns0:font script="Uigh" typeface="Arial"/>
        <ns0:font script="Geor" typeface="Arial"/>
      </ns0:minorFont>
    </ns0:fontScheme>
    <ns0:fmtScheme name="Office">
      <ns0:fillStyleLst>
        <ns0:solidFill>
          <ns0:schemeClr val="phClr"/>
        </ns0:solidFill>
        <ns0:gradFill rotWithShape="1">
          <ns0:gsLst>
            <ns0:gs pos="0">
              <ns0:schemeClr val="phClr">
                <ns0:lumMod val="110000"/>
                <ns0:satMod val="105000"/>
                <ns0:tint val="67000"/>
              </ns0:schemeClr>
            </ns0:gs>
            <ns0:gs pos="50000">
              <ns0:schemeClr val="phClr">
                <ns0:lumMod val="105000"/>
                <ns0:satMod val="103000"/>
                <ns0:tint val="73000"/>
              </ns0:schemeClr>
            </ns0:gs>
            <ns0:gs pos="100000">
              <ns0:schemeClr val="phClr">
                <ns0:lumMod val="105000"/>
                <ns0:satMod val="109000"/>
                <ns0:tint val="81000"/>
              </ns0:schemeClr>
            </ns0:gs>
          </ns0:gsLst>
          <ns0:lin ang="5400000" scaled="0"/>
        </ns0:gradFill>
        <ns0:gradFill rotWithShape="1">
          <ns0:gsLst>
            <ns0:gs pos="0">
              <ns0:schemeClr val="phClr">
                <ns0:satMod val="103000"/>
                <ns0:lumMod val="102000"/>
                <ns0:tint val="94000"/>
              </ns0:schemeClr>
            </ns0:gs>
            <ns0:gs pos="50000">
              <ns0:schemeClr val="phClr">
                <ns0:satMod val="110000"/>
                <ns0:lumMod val="100000"/>
                <ns0:shade val="100000"/>
              </ns0:schemeClr>
            </ns0:gs>
            <ns0:gs pos="100000">
              <ns0:schemeClr val="phClr">
                <ns0:lumMod val="99000"/>
                <ns0:satMod val="120000"/>
                <ns0:shade val="78000"/>
              </ns0:schemeClr>
            </ns0:gs>
          </ns0:gsLst>
          <ns0:lin ang="5400000" scaled="0"/>
        </ns0:gradFill>
      </ns0:fillStyleLst>
      <ns0:lnStyleLst>
        <ns0:ln w="6350" cap="flat" cmpd="sng" algn="ctr">
          <ns0:solidFill>
            <ns0:schemeClr val="phClr"/>
          </ns0:solidFill>
          <ns0:prstDash val="solid"/>
          <ns0:miter lim="800000"/>
        </ns0:ln>
        <ns0:ln w="12700" cap="flat" cmpd="sng" algn="ctr">
          <ns0:solidFill>
            <ns0:schemeClr val="phClr"/>
          </ns0:solidFill>
          <ns0:prstDash val="solid"/>
          <ns0:miter lim="800000"/>
        </ns0:ln>
        <ns0:ln w="19050" cap="flat" cmpd="sng" algn="ctr">
          <ns0:solidFill>
            <ns0:schemeClr val="phClr"/>
          </ns0:solidFill>
          <ns0:prstDash val="solid"/>
          <ns0:miter lim="800000"/>
        </ns0:ln>
      </ns0:lnStyleLst>
      <ns0:effectStyleLst>
        <ns0:effectStyle>
          <ns0:effectLst/>
        </ns0:effectStyle>
        <ns0:effectStyle>
          <ns0:effectLst/>
        </ns0:effectStyle>
        <ns0:effectStyle>
          <ns0:effectLst>
            <ns0:outerShdw blurRad="57150" dist="19050" dir="5400000" algn="ctr" rotWithShape="0">
              <ns0:srgbClr val="000000">
                <ns0:alpha val="63000"/>
              </ns0:srgbClr>
            </ns0:outerShdw>
          </ns0:effectLst>
        </ns0:effectStyle>
      </ns0:effectStyleLst>
      <ns0:bgFillStyleLst>
        <ns0:solidFill>
          <ns0:schemeClr val="phClr"/>
        </ns0:solidFill>
        <ns0:solidFill>
          <ns0:schemeClr val="phClr">
            <ns0:tint val="95000"/>
            <ns0:satMod val="170000"/>
          </ns0:schemeClr>
        </ns0:solidFill>
        <ns0:gradFill rotWithShape="1">
          <ns0:gsLst>
            <ns0:gs pos="0">
              <ns0:schemeClr val="phClr">
                <ns0:tint val="93000"/>
                <ns0:satMod val="150000"/>
                <ns0:shade val="98000"/>
                <ns0:lumMod val="102000"/>
              </ns0:schemeClr>
            </ns0:gs>
            <ns0:gs pos="50000">
              <ns0:schemeClr val="phClr">
                <ns0:tint val="98000"/>
                <ns0:satMod val="130000"/>
                <ns0:shade val="90000"/>
                <ns0:lumMod val="103000"/>
              </ns0:schemeClr>
            </ns0:gs>
            <ns0:gs pos="100000">
              <ns0:schemeClr val="phClr">
                <ns0:shade val="63000"/>
                <ns0:satMod val="120000"/>
              </ns0:schemeClr>
            </ns0:gs>
          </ns0:gsLst>
          <ns0:lin ang="5400000" scaled="0"/>
        </ns0:gradFill>
      </ns0:bgFillStyleLst>
    </ns0:fmtScheme>
  </ns0:themeElements>
  <ns0:objectDefaults/>
  <ns0:extraClrSchemeLst/>
  <ns0:extLst>
    <ns0:ext uri="{05A4C25C-085E-4340-85A3-A5531E510DB2}">
      <ns1:themeFamily name="Office Theme" id="{62F939B6-93AF-4DB8-9C6B-D6C7DFDC589F}" vid="{4A3C46E8-61CC-4603-A589-7422A47A8E4A}"/>
    </ns0:ext>
  </ns0:extLst>
</ns0:theme>
</file>

<file path=docProps/app.xml><?xml version="1.0" encoding="utf-8"?>
<Properties xmlns="http://schemas.openxmlformats.org/officeDocument/2006/extended-properties" xmlns:vt="http://schemas.openxmlformats.org/officeDocument/2006/docPropsVTypes">
  <TotalTime>88349</TotalTime>
  <Words>6824</Words>
  <Application>Microsoft Office PowerPoint</Application>
  <PresentationFormat>A4 Paper (210x297 mm)</PresentationFormat>
  <Paragraphs>1760</Paragraphs>
  <Slides>33</Slides>
  <Notes>26</Notes>
  <HiddenSlides>0</HiddenSlides>
  <MMClips>0</MMClips>
  <ScaleCrop>false</ScaleCrop>
  <HeadingPairs>
    <vt:vector size="8" baseType="variant">
      <vt:variant>
        <vt:lpstr>Fonts Used</vt:lpstr>
      </vt:variant>
      <vt:variant>
        <vt:i4>17</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53" baseType="lpstr">
      <vt:lpstr>Arial Unicode MS</vt:lpstr>
      <vt:lpstr>돋움</vt:lpstr>
      <vt:lpstr>돋움체</vt:lpstr>
      <vt:lpstr>굴림</vt:lpstr>
      <vt:lpstr>LG Smart</vt:lpstr>
      <vt:lpstr>LG Smart_H Regular</vt:lpstr>
      <vt:lpstr>LG스마트체 Regular</vt:lpstr>
      <vt:lpstr>맑은 고딕</vt:lpstr>
      <vt:lpstr>ＭＳ Ｐゴシック</vt:lpstr>
      <vt:lpstr>현대하모니 L</vt:lpstr>
      <vt:lpstr>Arial</vt:lpstr>
      <vt:lpstr>Arial Narrow</vt:lpstr>
      <vt:lpstr>Calibri</vt:lpstr>
      <vt:lpstr>Cambria Math</vt:lpstr>
      <vt:lpstr>Times New Roman</vt:lpstr>
      <vt:lpstr>Wingdings</vt:lpstr>
      <vt:lpstr>Wingdings 2</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VUONG NGOC VU/LGEVH IVI IE Tele/AVN/HUD Part</cp:lastModifiedBy>
  <cp:revision>3201</cp:revision>
  <cp:lastPrinted>2017-04-20T00:57:17Z</cp:lastPrinted>
  <dcterms:created xsi:type="dcterms:W3CDTF">2013-07-05T02:04:59Z</dcterms:created>
  <dcterms:modified xsi:type="dcterms:W3CDTF">2025-03-19T04:31:39Z</dcterms:modified>
</cp:coreProperties>
</file>