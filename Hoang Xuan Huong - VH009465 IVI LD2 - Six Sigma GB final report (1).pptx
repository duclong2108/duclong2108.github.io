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63" r:id="rId2"/>
  </p:sldMasterIdLst>
  <p:notesMasterIdLst>
    <p:notesMasterId r:id="rId29"/>
  </p:notesMasterIdLst>
  <p:handoutMasterIdLst>
    <p:handoutMasterId r:id="rId30"/>
  </p:handoutMasterIdLst>
  <p:sldIdLst>
    <p:sldId id="257" r:id="rId3"/>
    <p:sldId id="449" r:id="rId4"/>
    <p:sldId id="1135" r:id="rId5"/>
    <p:sldId id="1151" r:id="rId6"/>
    <p:sldId id="1141" r:id="rId7"/>
    <p:sldId id="260" r:id="rId8"/>
    <p:sldId id="261" r:id="rId9"/>
    <p:sldId id="263" r:id="rId10"/>
    <p:sldId id="1136" r:id="rId11"/>
    <p:sldId id="264" r:id="rId12"/>
    <p:sldId id="1146" r:id="rId13"/>
    <p:sldId id="490" r:id="rId14"/>
    <p:sldId id="538" r:id="rId15"/>
    <p:sldId id="540" r:id="rId16"/>
    <p:sldId id="542" r:id="rId17"/>
    <p:sldId id="1148" r:id="rId18"/>
    <p:sldId id="1149" r:id="rId19"/>
    <p:sldId id="280" r:id="rId20"/>
    <p:sldId id="1150" r:id="rId21"/>
    <p:sldId id="359" r:id="rId22"/>
    <p:sldId id="360" r:id="rId23"/>
    <p:sldId id="531" r:id="rId24"/>
    <p:sldId id="358" r:id="rId25"/>
    <p:sldId id="1152" r:id="rId26"/>
    <p:sldId id="473" r:id="rId27"/>
    <p:sldId id="1129" r:id="rId28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A04D1A2-67CD-4D12-8472-2BC295F609D2}">
          <p14:sldIdLst>
            <p14:sldId id="257"/>
            <p14:sldId id="449"/>
          </p14:sldIdLst>
        </p14:section>
        <p14:section name="Define" id="{7962CC25-CFE8-4E71-9865-3811BF673D82}">
          <p14:sldIdLst>
            <p14:sldId id="1135"/>
            <p14:sldId id="1151"/>
            <p14:sldId id="1141"/>
          </p14:sldIdLst>
        </p14:section>
        <p14:section name="Measure" id="{26A4DEAE-1D61-412E-85CA-C85C9B08D821}">
          <p14:sldIdLst>
            <p14:sldId id="260"/>
            <p14:sldId id="261"/>
            <p14:sldId id="263"/>
            <p14:sldId id="1136"/>
            <p14:sldId id="264"/>
            <p14:sldId id="1146"/>
          </p14:sldIdLst>
        </p14:section>
        <p14:section name="Analyze" id="{51C37E92-E3F3-4962-B99D-97AE2C8D2ECF}">
          <p14:sldIdLst>
            <p14:sldId id="490"/>
            <p14:sldId id="538"/>
            <p14:sldId id="540"/>
            <p14:sldId id="542"/>
            <p14:sldId id="1148"/>
            <p14:sldId id="1149"/>
          </p14:sldIdLst>
        </p14:section>
        <p14:section name="Improvement" id="{AB6B31A5-06EA-4E9D-873C-85F9F76B08D4}">
          <p14:sldIdLst>
            <p14:sldId id="280"/>
            <p14:sldId id="1150"/>
            <p14:sldId id="359"/>
            <p14:sldId id="360"/>
            <p14:sldId id="531"/>
          </p14:sldIdLst>
        </p14:section>
        <p14:section name="Control" id="{B6AFA549-1D4D-4FDC-9152-F53AAE50A81D}">
          <p14:sldIdLst>
            <p14:sldId id="358"/>
            <p14:sldId id="1152"/>
            <p14:sldId id="473"/>
            <p14:sldId id="112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ONG XUAN HOANG/LGEVH IVI LD Mechanic" initials="HXHILM" lastIdx="1" clrIdx="0">
    <p:extLst>
      <p:ext uri="{19B8F6BF-5375-455C-9EA6-DF929625EA0E}">
        <p15:presenceInfo xmlns:p15="http://schemas.microsoft.com/office/powerpoint/2012/main" userId="S-1-5-21-2543426832-1914326140-3112152631-28690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00"/>
    <a:srgbClr val="FF5050"/>
    <a:srgbClr val="FFFF99"/>
    <a:srgbClr val="FF9999"/>
    <a:srgbClr val="FF7C80"/>
    <a:srgbClr val="F66F0A"/>
    <a:srgbClr val="DFC96D"/>
    <a:srgbClr val="5790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2" autoAdjust="0"/>
    <p:restoredTop sz="92455" autoAdjust="0"/>
  </p:normalViewPr>
  <p:slideViewPr>
    <p:cSldViewPr snapToGrid="0">
      <p:cViewPr varScale="1">
        <p:scale>
          <a:sx n="102" d="100"/>
          <a:sy n="102" d="100"/>
        </p:scale>
        <p:origin x="8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5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latin typeface="Arial Narrow" panose="020B0606020202030204" pitchFamily="34" charset="0"/>
              </a:rPr>
              <a:t>Flush defect</a:t>
            </a:r>
            <a:r>
              <a:rPr lang="en-US" baseline="0">
                <a:latin typeface="Arial Narrow" panose="020B0606020202030204" pitchFamily="34" charset="0"/>
              </a:rPr>
              <a:t> rate</a:t>
            </a:r>
            <a:endParaRPr lang="en-US">
              <a:latin typeface="Arial Narrow" panose="020B0606020202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Sheet1!$X$8</c:f>
              <c:strCache>
                <c:ptCount val="1"/>
                <c:pt idx="0">
                  <c:v>Total 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Sheet1!$Y$7:$AD$7</c:f>
              <c:strCache>
                <c:ptCount val="6"/>
                <c:pt idx="0">
                  <c:v>15.May</c:v>
                </c:pt>
                <c:pt idx="1">
                  <c:v>18.May</c:v>
                </c:pt>
                <c:pt idx="2">
                  <c:v>22.May</c:v>
                </c:pt>
                <c:pt idx="3">
                  <c:v>12.June</c:v>
                </c:pt>
                <c:pt idx="4">
                  <c:v>16.June</c:v>
                </c:pt>
                <c:pt idx="5">
                  <c:v>18.June</c:v>
                </c:pt>
              </c:strCache>
            </c:strRef>
          </c:cat>
          <c:val>
            <c:numRef>
              <c:f>Sheet1!$Y$8:$AD$8</c:f>
              <c:numCache>
                <c:formatCode>General</c:formatCode>
                <c:ptCount val="6"/>
                <c:pt idx="0">
                  <c:v>50</c:v>
                </c:pt>
                <c:pt idx="1">
                  <c:v>20</c:v>
                </c:pt>
                <c:pt idx="2">
                  <c:v>12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35-4B83-B650-B87A4A810804}"/>
            </c:ext>
          </c:extLst>
        </c:ser>
        <c:ser>
          <c:idx val="1"/>
          <c:order val="1"/>
          <c:tx>
            <c:strRef>
              <c:f>Sheet1!$X$9</c:f>
              <c:strCache>
                <c:ptCount val="1"/>
                <c:pt idx="0">
                  <c:v>Prod Q'ty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Sheet1!$Y$7:$AD$7</c:f>
              <c:strCache>
                <c:ptCount val="6"/>
                <c:pt idx="0">
                  <c:v>15.May</c:v>
                </c:pt>
                <c:pt idx="1">
                  <c:v>18.May</c:v>
                </c:pt>
                <c:pt idx="2">
                  <c:v>22.May</c:v>
                </c:pt>
                <c:pt idx="3">
                  <c:v>12.June</c:v>
                </c:pt>
                <c:pt idx="4">
                  <c:v>16.June</c:v>
                </c:pt>
                <c:pt idx="5">
                  <c:v>18.June</c:v>
                </c:pt>
              </c:strCache>
            </c:strRef>
          </c:cat>
          <c:val>
            <c:numRef>
              <c:f>Sheet1!$Y$9:$AD$9</c:f>
              <c:numCache>
                <c:formatCode>General</c:formatCode>
                <c:ptCount val="6"/>
                <c:pt idx="0">
                  <c:v>138</c:v>
                </c:pt>
                <c:pt idx="1">
                  <c:v>47</c:v>
                </c:pt>
                <c:pt idx="2">
                  <c:v>60</c:v>
                </c:pt>
                <c:pt idx="3">
                  <c:v>20</c:v>
                </c:pt>
                <c:pt idx="4">
                  <c:v>30</c:v>
                </c:pt>
                <c:pt idx="5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35-4B83-B650-B87A4A8108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6369088"/>
        <c:axId val="366371264"/>
      </c:barChart>
      <c:lineChart>
        <c:grouping val="standard"/>
        <c:varyColors val="0"/>
        <c:ser>
          <c:idx val="2"/>
          <c:order val="2"/>
          <c:tx>
            <c:strRef>
              <c:f>Sheet1!$X$10</c:f>
              <c:strCache>
                <c:ptCount val="1"/>
                <c:pt idx="0">
                  <c:v>Defect rate (ppm)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6.018070172244501E-2"/>
                  <c:y val="-0.12260941032471138"/>
                </c:manualLayout>
              </c:layout>
              <c:tx>
                <c:rich>
                  <a:bodyPr/>
                  <a:lstStyle/>
                  <a:p>
                    <a:fld id="{C979320F-D755-4615-BB3E-01CBBD0C7CB9}" type="VALUE">
                      <a:rPr lang="en-US">
                        <a:latin typeface="Arial Narrow" panose="020B0606020202030204" pitchFamily="34" charset="0"/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7D35-4B83-B650-B87A4A810804}"/>
                </c:ext>
              </c:extLst>
            </c:dLbl>
            <c:dLbl>
              <c:idx val="1"/>
              <c:layout>
                <c:manualLayout>
                  <c:x val="2.8506648184315999E-2"/>
                  <c:y val="-1.0661687854322727E-2"/>
                </c:manualLayout>
              </c:layout>
              <c:tx>
                <c:rich>
                  <a:bodyPr/>
                  <a:lstStyle/>
                  <a:p>
                    <a:fld id="{A7E48E57-F9EA-48EA-AE4E-1473CEC86A26}" type="VALUE">
                      <a:rPr lang="en-US">
                        <a:latin typeface="Arial Narrow" panose="020B0606020202030204" pitchFamily="34" charset="0"/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7D35-4B83-B650-B87A4A810804}"/>
                </c:ext>
              </c:extLst>
            </c:dLbl>
            <c:dLbl>
              <c:idx val="2"/>
              <c:layout>
                <c:manualLayout>
                  <c:x val="1.2669621415251523E-2"/>
                  <c:y val="-3.7315907490129543E-2"/>
                </c:manualLayout>
              </c:layout>
              <c:tx>
                <c:rich>
                  <a:bodyPr/>
                  <a:lstStyle/>
                  <a:p>
                    <a:fld id="{A89BCA75-572E-496A-BA7F-D977AE457715}" type="VALUE">
                      <a:rPr lang="en-US">
                        <a:latin typeface="Arial Narrow" panose="020B0606020202030204" pitchFamily="34" charset="0"/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7D35-4B83-B650-B87A4A810804}"/>
                </c:ext>
              </c:extLst>
            </c:dLbl>
            <c:dLbl>
              <c:idx val="3"/>
              <c:layout>
                <c:manualLayout>
                  <c:x val="2.2171837476690267E-2"/>
                  <c:y val="-6.397012712593636E-2"/>
                </c:manualLayout>
              </c:layout>
              <c:tx>
                <c:rich>
                  <a:bodyPr/>
                  <a:lstStyle/>
                  <a:p>
                    <a:fld id="{213DED3C-46D1-416E-96A9-7B80ACD39127}" type="VALUE">
                      <a:rPr lang="en-US">
                        <a:latin typeface="Arial Narrow" panose="020B0606020202030204" pitchFamily="34" charset="0"/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D35-4B83-B650-B87A4A810804}"/>
                </c:ext>
              </c:extLst>
            </c:dLbl>
            <c:dLbl>
              <c:idx val="4"/>
              <c:layout>
                <c:manualLayout>
                  <c:x val="9.5022160614385686E-3"/>
                  <c:y val="-6.397012712593636E-2"/>
                </c:manualLayout>
              </c:layout>
              <c:tx>
                <c:rich>
                  <a:bodyPr/>
                  <a:lstStyle/>
                  <a:p>
                    <a:fld id="{7ABEADD6-58D3-4907-92E8-D5CE8671B312}" type="VALUE">
                      <a:rPr lang="en-US">
                        <a:latin typeface="Arial Narrow" panose="020B0606020202030204" pitchFamily="34" charset="0"/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7D35-4B83-B650-B87A4A810804}"/>
                </c:ext>
              </c:extLst>
            </c:dLbl>
            <c:dLbl>
              <c:idx val="5"/>
              <c:layout>
                <c:manualLayout>
                  <c:x val="6.3349354086239722E-3"/>
                  <c:y val="-6.396991725019129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5A953F1-AE52-44E3-83FF-E4C04AD71BC9}" type="VALUE">
                      <a:rPr lang="en-US">
                        <a:latin typeface="Arial Narrow" panose="020B0606020202030204" pitchFamily="34" charset="0"/>
                      </a:rPr>
                      <a:pPr>
                        <a:defRPr/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857420619709083E-2"/>
                      <c:h val="0.1137870735010044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7D35-4B83-B650-B87A4A81080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Sheet1!$Y$7:$AD$7</c:f>
              <c:strCache>
                <c:ptCount val="6"/>
                <c:pt idx="0">
                  <c:v>15.May</c:v>
                </c:pt>
                <c:pt idx="1">
                  <c:v>18.May</c:v>
                </c:pt>
                <c:pt idx="2">
                  <c:v>22.May</c:v>
                </c:pt>
                <c:pt idx="3">
                  <c:v>12.June</c:v>
                </c:pt>
                <c:pt idx="4">
                  <c:v>16.June</c:v>
                </c:pt>
                <c:pt idx="5">
                  <c:v>18.June</c:v>
                </c:pt>
              </c:strCache>
            </c:strRef>
          </c:cat>
          <c:val>
            <c:numRef>
              <c:f>Sheet1!$Y$10:$AD$10</c:f>
              <c:numCache>
                <c:formatCode>_(* #,##0_);_(* \(#,##0\);_(* "-"??_);_(@_)</c:formatCode>
                <c:ptCount val="6"/>
                <c:pt idx="0">
                  <c:v>362318.84057971014</c:v>
                </c:pt>
                <c:pt idx="1">
                  <c:v>425531.91489361704</c:v>
                </c:pt>
                <c:pt idx="2">
                  <c:v>200000</c:v>
                </c:pt>
                <c:pt idx="3" formatCode="General">
                  <c:v>0</c:v>
                </c:pt>
                <c:pt idx="4" formatCode="General">
                  <c:v>0</c:v>
                </c:pt>
                <c:pt idx="5" formatCode="General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D35-4B83-B650-B87A4A8108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5316384"/>
        <c:axId val="366356576"/>
      </c:lineChart>
      <c:catAx>
        <c:axId val="366369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6371264"/>
        <c:crosses val="autoZero"/>
        <c:auto val="1"/>
        <c:lblAlgn val="ctr"/>
        <c:lblOffset val="100"/>
        <c:noMultiLvlLbl val="0"/>
      </c:catAx>
      <c:valAx>
        <c:axId val="366371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6369088"/>
        <c:crosses val="autoZero"/>
        <c:crossBetween val="between"/>
      </c:valAx>
      <c:valAx>
        <c:axId val="366356576"/>
        <c:scaling>
          <c:orientation val="minMax"/>
          <c:min val="-50000"/>
        </c:scaling>
        <c:delete val="0"/>
        <c:axPos val="r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5316384"/>
        <c:crosses val="max"/>
        <c:crossBetween val="between"/>
      </c:valAx>
      <c:catAx>
        <c:axId val="3653163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6635657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598720-3F50-4D89-9377-F1185AE987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9D7C5-F471-4066-B188-0513A1E5AD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B9110-AC3F-4C49-AF1C-4FB088E451A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D2572E-AA2B-423D-81C3-C24CAABF7D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E98B14-D2B9-4D94-84E2-4D466290B0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BE392-3D38-4B8B-89EA-B28F9D6E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131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1FD362-ABB4-44B8-8CA8-752E611B747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39352-3793-4FDF-909E-EC767B605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694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>
                <a:solidFill>
                  <a:prstClr val="black"/>
                </a:solidFill>
                <a:latin typeface="맑은 고딕"/>
              </a:rPr>
              <a:pPr>
                <a:defRPr/>
              </a:pPr>
              <a:t>1</a:t>
            </a:fld>
            <a:endParaRPr lang="ko-KR" altLang="en-US">
              <a:solidFill>
                <a:prstClr val="black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811258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124200" y="511175"/>
            <a:ext cx="3686175" cy="2551113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슬라이드 노트 개체 틀 2"/>
          <p:cNvSpPr>
            <a:spLocks noGrp="1"/>
          </p:cNvSpPr>
          <p:nvPr>
            <p:ph type="body" idx="1"/>
          </p:nvPr>
        </p:nvSpPr>
        <p:spPr bwMode="auto">
          <a:xfrm>
            <a:off x="993775" y="3235325"/>
            <a:ext cx="7951788" cy="3060700"/>
          </a:xfrm>
          <a:noFill/>
        </p:spPr>
        <p:txBody>
          <a:bodyPr wrap="square" lIns="90471" tIns="45234" rIns="90471" bIns="45234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28676" name="슬라이드 번호 개체 틀 3"/>
          <p:cNvSpPr txBox="1">
            <a:spLocks noGrp="1"/>
          </p:cNvSpPr>
          <p:nvPr/>
        </p:nvSpPr>
        <p:spPr bwMode="auto">
          <a:xfrm>
            <a:off x="5634038" y="6465888"/>
            <a:ext cx="4303712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71" tIns="45234" rIns="90471" bIns="45234" anchor="b"/>
          <a:lstStyle/>
          <a:p>
            <a:pPr algn="r" defTabSz="903288" eaLnBrk="0" latinLnBrk="0" hangingPunct="0"/>
            <a:fld id="{39B64D8B-A44D-4D7E-93C9-3A4A87537696}" type="slidenum">
              <a:rPr kumimoji="0" lang="ko-KR" altLang="en-US" sz="1200" b="1" smtClean="0">
                <a:solidFill>
                  <a:srgbClr val="000000"/>
                </a:solidFill>
                <a:latin typeface="Arial Narrow" panose="020B0606020202030204" pitchFamily="34" charset="0"/>
                <a:ea typeface="돋움" panose="020B0600000101010101" pitchFamily="50" charset="-127"/>
              </a:rPr>
              <a:pPr algn="r" defTabSz="903288" eaLnBrk="0" latinLnBrk="0" hangingPunct="0"/>
              <a:t>2</a:t>
            </a:fld>
            <a:endParaRPr kumimoji="0" lang="en-US" altLang="ko-KR" sz="1200" b="1">
              <a:solidFill>
                <a:srgbClr val="000000"/>
              </a:solidFill>
              <a:latin typeface="Arial Narrow" panose="020B0606020202030204" pitchFamily="34" charset="0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2679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D39352-3793-4FDF-909E-EC767B605A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510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2D61B-6607-FD16-482C-971432ED9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30675-C3AF-EEDD-4326-2EC1676A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F0D04-0C43-38D5-DE2A-84A70848A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53F45-BC27-488B-2EEC-BED579A338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D39352-3793-4FDF-909E-EC767B605A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45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413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How to process Type I? We need to measure 30 times for one sample which reference value is known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to choose Sampling?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mẫu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Just choose random sample and know the reference value-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mẫu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ngẫu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reference value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How to get the reference value?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reference value? –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two ways: Hai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First: Use equipment has high precision (accuracy)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Second: Measure one sample 10 times with equipment has high precision then get mean (average) of these measured values.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lặp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 10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Cg,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Cg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Measuring capacity index of measuring equipment ---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Cg,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&gt;=1.33 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Cg vs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Cg is used when target and data mean are the same,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used in case target and data mean is not the same.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Cg &amp;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Cp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called Process Capability. Pp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called Process Performance The index takes into consideration the fact that your data is maybe not centered.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many method to select sample? Simple random Stratified Systematic Cluster Combination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resolution &lt;5%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ra? –Based on the standard of GM, Bosch, VDA 5 The acceptance criteria are less than 5% in GM, Bosch, … and less than 10% in AIAG, so the resolution of the instrument is satisfactory. Tolerance=T=USL-LSL %RE=RE/T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099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G Smart_H Regular" panose="020B0600000101010101" pitchFamily="34" charset="-127"/>
                <a:ea typeface="LG Smart_H Regular" panose="020B0600000101010101" pitchFamily="34" charset="-127"/>
              </a:rPr>
              <a:t>Start</a:t>
            </a:r>
            <a:r>
              <a:rPr kumimoji="1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G Smart_H Regular" panose="020B0600000101010101" pitchFamily="34" charset="-127"/>
                <a:ea typeface="LG Smart_H Regular" panose="020B0600000101010101" pitchFamily="34" charset="-127"/>
                <a:sym typeface="Wingdings" panose="05000000000000000000" pitchFamily="2" charset="2"/>
              </a:rPr>
              <a:t>Quality</a:t>
            </a:r>
            <a:r>
              <a:rPr kumimoji="1" lang="en-US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LG Smart_H Regular" panose="020B0600000101010101" pitchFamily="34" charset="-127"/>
                <a:ea typeface="LG Smart_H Regular" panose="020B0600000101010101" pitchFamily="34" charset="-127"/>
                <a:sym typeface="Wingdings" panose="05000000000000000000" pitchFamily="2" charset="2"/>
              </a:rPr>
              <a:t> </a:t>
            </a:r>
            <a:r>
              <a:rPr kumimoji="1" lang="en-US" sz="12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LG Smart_H Regular" panose="020B0600000101010101" pitchFamily="34" charset="-127"/>
                <a:ea typeface="LG Smart_H Regular" panose="020B0600000101010101" pitchFamily="34" charset="-127"/>
                <a:sym typeface="Wingdings" panose="05000000000000000000" pitchFamily="2" charset="2"/>
              </a:rPr>
              <a:t>toolGage</a:t>
            </a:r>
            <a:r>
              <a:rPr kumimoji="1" lang="en-US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LG Smart_H Regular" panose="020B0600000101010101" pitchFamily="34" charset="-127"/>
                <a:ea typeface="LG Smart_H Regular" panose="020B0600000101010101" pitchFamily="34" charset="-127"/>
                <a:sym typeface="Wingdings" panose="05000000000000000000" pitchFamily="2" charset="2"/>
              </a:rPr>
              <a:t> </a:t>
            </a:r>
            <a:r>
              <a:rPr kumimoji="1" lang="en-US" sz="12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LG Smart_H Regular" panose="020B0600000101010101" pitchFamily="34" charset="-127"/>
                <a:ea typeface="LG Smart_H Regular" panose="020B0600000101010101" pitchFamily="34" charset="-127"/>
                <a:sym typeface="Wingdings" panose="05000000000000000000" pitchFamily="2" charset="2"/>
              </a:rPr>
              <a:t>studyGage</a:t>
            </a:r>
            <a:r>
              <a:rPr kumimoji="1" lang="en-US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LG Smart_H Regular" panose="020B0600000101010101" pitchFamily="34" charset="-127"/>
                <a:ea typeface="LG Smart_H Regular" panose="020B0600000101010101" pitchFamily="34" charset="-127"/>
                <a:sym typeface="Wingdings" panose="05000000000000000000" pitchFamily="2" charset="2"/>
              </a:rPr>
              <a:t> run chart</a:t>
            </a:r>
            <a:endParaRPr kumimoji="1" lang="en-US" sz="1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0631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u="sng" dirty="0">
                <a:solidFill>
                  <a:srgbClr val="FF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Variances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are subject to quality control and improvements !!!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How to process Type I? We need to measure 30 times for one sample which reference value is known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to choose Sampling?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mẫu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Just choose random sample and know the reference value-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mẫu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ngẫu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reference value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How to get the reference value?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reference value?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two ways: Hai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First: Use equipment has high precision (accuracy)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Second: Measure one sample 10 times with equipment has high precision then get mean (average) of these measured values.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lặp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 10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Cg,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Cg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Measuring capacity index of measuring equipment ---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Cg,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&gt;=1.33 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Cg vs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Cg is used when target and data mean are the same,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used in case target and data mean is not the same.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Cg &amp;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Cp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called Process Capability. Pp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called Process Performance The index takes into consideration the fact that your data is maybe not centered.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many method to select sample? Simple random Stratified Systematic Cluster Combination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resolution &lt;5%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ra? –Based on the standard of GM, Bosch, VDA 5 The acceptance criteria are less than 5% in GM, Bosch, … and less than 10% in AIAG, so the resolution of the instrument is satisfactory. Tolerance=T=USL-LSL %RE=RE/T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D39352-3793-4FDF-909E-EC767B605A2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22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D39352-3793-4FDF-909E-EC767B605A2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907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706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Ghi thông số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549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46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468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2429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Add 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9347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96800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375BCD-8584-40B1-BC96-764EEABFA7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04975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0626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7704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D39352-3793-4FDF-909E-EC767B605A2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78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2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 Narrow" panose="020B0606020202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7"/>
            <a:ext cx="2311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black">
                  <a:tint val="75000"/>
                </a:prstClr>
              </a:solidFill>
              <a:ea typeface="굴림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876801" y="6492879"/>
            <a:ext cx="2311400" cy="365125"/>
          </a:xfrm>
          <a:prstGeom prst="rect">
            <a:avLst/>
          </a:prstGeom>
        </p:spPr>
        <p:txBody>
          <a:bodyPr/>
          <a:lstStyle/>
          <a:p>
            <a:fld id="{9BFF983A-EC0A-4770-8E0B-A2C9B8B7F42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/71</a:t>
            </a: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80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6791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2"/>
          <p:cNvSpPr>
            <a:spLocks noGrp="1"/>
          </p:cNvSpPr>
          <p:nvPr>
            <p:ph type="title"/>
          </p:nvPr>
        </p:nvSpPr>
        <p:spPr>
          <a:xfrm>
            <a:off x="200472" y="116632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제목을 입력 하세요</a:t>
            </a:r>
          </a:p>
        </p:txBody>
      </p:sp>
      <p:sp>
        <p:nvSpPr>
          <p:cNvPr id="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200401" y="6564883"/>
            <a:ext cx="2133600" cy="293117"/>
          </a:xfrm>
          <a:prstGeom prst="rect">
            <a:avLst/>
          </a:prstGeom>
        </p:spPr>
        <p:txBody>
          <a:bodyPr/>
          <a:lstStyle>
            <a:lvl1pPr algn="ctr">
              <a:defRPr sz="800">
                <a:latin typeface="Arial Narrow" panose="020B0606020202030204" pitchFamily="34" charset="0"/>
                <a:ea typeface="현대하모니 L" panose="02020603020101020101" pitchFamily="18" charset="-127"/>
              </a:defRPr>
            </a:lvl1pPr>
          </a:lstStyle>
          <a:p>
            <a:fld id="{CCB65402-AEF5-4D26-A49C-7368E264DDA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/24</a:t>
            </a:r>
            <a:r>
              <a:rPr lang="ko-KR" altLang="en-US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  </a:t>
            </a: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98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2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 Narrow" panose="020B0606020202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7"/>
            <a:ext cx="2311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black">
                  <a:tint val="75000"/>
                </a:prstClr>
              </a:solidFill>
              <a:ea typeface="굴림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876801" y="6492879"/>
            <a:ext cx="2311400" cy="365125"/>
          </a:xfrm>
          <a:prstGeom prst="rect">
            <a:avLst/>
          </a:prstGeom>
        </p:spPr>
        <p:txBody>
          <a:bodyPr/>
          <a:lstStyle/>
          <a:p>
            <a:fld id="{9BFF983A-EC0A-4770-8E0B-A2C9B8B7F42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/71</a:t>
            </a: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147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305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2"/>
          <p:cNvSpPr>
            <a:spLocks noGrp="1"/>
          </p:cNvSpPr>
          <p:nvPr>
            <p:ph type="title"/>
          </p:nvPr>
        </p:nvSpPr>
        <p:spPr>
          <a:xfrm>
            <a:off x="200472" y="116632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제목을 입력 하세요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732150" y="6492875"/>
            <a:ext cx="2311400" cy="36512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>
                <a:ea typeface="굴림" pitchFamily="50" charset="-127"/>
              </a:rPr>
              <a:t>#/24</a:t>
            </a:r>
            <a:endParaRPr kumimoji="1" lang="ko-KR" altLang="en-US">
              <a:ea typeface="굴림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EDE92-DBFB-7017-9C7A-011A8451B81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281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487514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defRPr kumimoji="1" b="1">
          <a:solidFill>
            <a:schemeClr val="tx1"/>
          </a:solidFill>
          <a:latin typeface="+mn-lt"/>
          <a:ea typeface="돋움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굴림" charset="-127"/>
          <a:ea typeface="굴림" charset="-127"/>
        </a:defRPr>
      </a:lvl2pPr>
      <a:lvl3pPr marL="1147763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굴림" charset="-127"/>
          <a:ea typeface="굴림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charset="-127"/>
          <a:ea typeface="굴림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2"/>
          <p:cNvSpPr>
            <a:spLocks noGrp="1"/>
          </p:cNvSpPr>
          <p:nvPr>
            <p:ph type="title"/>
          </p:nvPr>
        </p:nvSpPr>
        <p:spPr>
          <a:xfrm>
            <a:off x="200472" y="116632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제목을 입력 하세요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76801" y="6492879"/>
            <a:ext cx="2311400" cy="36512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>
                <a:ea typeface="굴림" pitchFamily="50" charset="-127"/>
              </a:rPr>
              <a:t>#/24</a:t>
            </a:r>
          </a:p>
          <a:p>
            <a:pPr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ea typeface="굴림" pitchFamily="50" charset="-127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CD0557-0796-41F7-BFA5-AD25AF79EB42}"/>
              </a:ext>
            </a:extLst>
          </p:cNvPr>
          <p:cNvCxnSpPr/>
          <p:nvPr userDrawn="1"/>
        </p:nvCxnSpPr>
        <p:spPr>
          <a:xfrm>
            <a:off x="-12488" y="561513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E97BAA2-7ED4-BE56-5CA7-92D97E241B6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281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616639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5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defRPr kumimoji="1" b="1">
          <a:solidFill>
            <a:schemeClr val="tx1"/>
          </a:solidFill>
          <a:latin typeface="+mn-lt"/>
          <a:ea typeface="돋움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굴림" charset="-127"/>
          <a:ea typeface="굴림" charset="-127"/>
        </a:defRPr>
      </a:lvl2pPr>
      <a:lvl3pPr marL="1147763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굴림" charset="-127"/>
          <a:ea typeface="굴림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charset="-127"/>
          <a:ea typeface="굴림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45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cK Da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4000015" y="5662409"/>
            <a:ext cx="1905970" cy="4308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kumimoji="0" lang="en-US" altLang="ko-KR" sz="1400" b="1" kern="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6 Sigma </a:t>
            </a:r>
            <a:r>
              <a:rPr kumimoji="0" lang="en-US" altLang="ko-KR" sz="1400" b="1" kern="0" dirty="0">
                <a:solidFill>
                  <a:srgbClr val="333333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GB Assignment</a:t>
            </a:r>
            <a:endParaRPr kumimoji="0" lang="en-US" altLang="ko-KR" sz="1400" b="1" kern="0" dirty="0">
              <a:solidFill>
                <a:srgbClr val="333333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kumimoji="0" lang="en-US" altLang="ko-KR" sz="1400" b="1" kern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IVI LD2 Hoang Xuan Huong</a:t>
            </a:r>
            <a:endParaRPr kumimoji="0" lang="en-US" altLang="ko-KR" sz="1400" b="1" kern="0" dirty="0">
              <a:solidFill>
                <a:srgbClr val="333333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BCA0162-DD60-4841-8D20-4FD529A20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75" y="764704"/>
            <a:ext cx="5992813" cy="874315"/>
          </a:xfrm>
          <a:prstGeom prst="rect">
            <a:avLst/>
          </a:prstGeom>
          <a:solidFill>
            <a:srgbClr val="EAEAEA"/>
          </a:solidFill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kumimoji="1" lang="en-US" sz="2800" b="1" kern="0">
                <a:latin typeface="Arial Narrow" panose="020B0606020202030204" pitchFamily="34" charset="0"/>
                <a:ea typeface="LG Smart_H Regular" pitchFamily="34" charset="-127"/>
              </a:rPr>
              <a:t>Flush height between LCD and </a:t>
            </a:r>
          </a:p>
          <a:p>
            <a:pPr algn="ctr">
              <a:defRPr/>
            </a:pPr>
            <a:r>
              <a:rPr kumimoji="1" lang="en-US" sz="2800" b="1" kern="0">
                <a:latin typeface="Arial Narrow" panose="020B0606020202030204" pitchFamily="34" charset="0"/>
                <a:ea typeface="LG Smart_H Regular" pitchFamily="34" charset="-127"/>
              </a:rPr>
              <a:t>panel main 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D851E7A-6FAF-4210-8931-83AF9BA1DA86}"/>
              </a:ext>
            </a:extLst>
          </p:cNvPr>
          <p:cNvGrpSpPr/>
          <p:nvPr/>
        </p:nvGrpSpPr>
        <p:grpSpPr>
          <a:xfrm>
            <a:off x="3057475" y="2149003"/>
            <a:ext cx="3846611" cy="2700338"/>
            <a:chOff x="3122613" y="2564905"/>
            <a:chExt cx="3603625" cy="2519858"/>
          </a:xfrm>
        </p:grpSpPr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5641BEF1-6031-488D-B9D7-CA8E6D86A65E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122613" y="2564905"/>
              <a:ext cx="3603625" cy="436842"/>
            </a:xfrm>
            <a:prstGeom prst="rect">
              <a:avLst/>
            </a:prstGeom>
            <a:solidFill>
              <a:srgbClr val="7B9A9F"/>
            </a:solidFill>
            <a:ln w="9525">
              <a:noFill/>
              <a:miter lim="800000"/>
              <a:headEnd/>
              <a:tailEnd/>
            </a:ln>
          </p:spPr>
          <p:txBody>
            <a:bodyPr lIns="89978" tIns="45709" rIns="89978" bIns="45709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800" b="1" kern="0" dirty="0">
                  <a:solidFill>
                    <a:srgbClr val="FFFFFF"/>
                  </a:solidFill>
                  <a:latin typeface="Arial Narrow" panose="020B0606020202030204" pitchFamily="34" charset="0"/>
                  <a:ea typeface="맑은 고딕" pitchFamily="50" charset="-127"/>
                  <a:cs typeface="Arial" panose="020B0604020202020204" pitchFamily="34" charset="0"/>
                </a:rPr>
                <a:t>Contents</a:t>
              </a:r>
              <a:endParaRPr kumimoji="0" lang="ko-KR" altLang="en-US" sz="1800" b="1" kern="0" dirty="0">
                <a:solidFill>
                  <a:srgbClr val="FFFFFF"/>
                </a:solidFill>
                <a:latin typeface="Arial Narrow" panose="020B0606020202030204" pitchFamily="34" charset="0"/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4114E979-FFDC-498D-A39A-CD6567B2E05A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122613" y="3009900"/>
              <a:ext cx="3603625" cy="207486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808080"/>
              </a:solidFill>
              <a:miter lim="800000"/>
              <a:headEnd/>
              <a:tailEnd/>
            </a:ln>
          </p:spPr>
          <p:txBody>
            <a:bodyPr lIns="91417" tIns="45709" rIns="91417" bIns="45709" anchor="ctr"/>
            <a:lstStyle/>
            <a:p>
              <a:pPr marL="984250" indent="184150" fontAlgn="auto" latinLnBrk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tabLst>
                  <a:tab pos="984250" algn="l"/>
                </a:tabLst>
                <a:defRPr/>
              </a:pPr>
              <a:r>
                <a:rPr kumimoji="0" lang="en-US" altLang="ko-KR" sz="1500" b="1" kern="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맑은 고딕" pitchFamily="50" charset="-127"/>
                  <a:cs typeface="Arial" panose="020B0604020202020204" pitchFamily="34" charset="0"/>
                </a:rPr>
                <a:t>1. Define</a:t>
              </a:r>
              <a:endParaRPr kumimoji="0" lang="ko-KR" altLang="en-US" sz="1500" b="1" kern="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맑은 고딕" pitchFamily="50" charset="-127"/>
                <a:cs typeface="Arial" panose="020B0604020202020204" pitchFamily="34" charset="0"/>
              </a:endParaRPr>
            </a:p>
            <a:p>
              <a:pPr marL="984250" indent="184150" fontAlgn="auto" latinLnBrk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tabLst>
                  <a:tab pos="984250" algn="l"/>
                </a:tabLst>
                <a:defRPr/>
              </a:pPr>
              <a:r>
                <a:rPr kumimoji="0" lang="en-US" altLang="ko-KR" sz="1500" b="1" kern="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맑은 고딕" pitchFamily="50" charset="-127"/>
                  <a:cs typeface="Arial" panose="020B0604020202020204" pitchFamily="34" charset="0"/>
                </a:rPr>
                <a:t>2. Measurement</a:t>
              </a:r>
              <a:endParaRPr kumimoji="0" lang="en-US" altLang="ko-KR" sz="1500" b="1" kern="0" dirty="0">
                <a:solidFill>
                  <a:srgbClr val="FFFFFF">
                    <a:lumMod val="65000"/>
                  </a:srgbClr>
                </a:solidFill>
                <a:latin typeface="Arial Narrow" panose="020B0606020202030204" pitchFamily="34" charset="0"/>
                <a:ea typeface="맑은 고딕" pitchFamily="50" charset="-127"/>
                <a:cs typeface="Arial" panose="020B0604020202020204" pitchFamily="34" charset="0"/>
              </a:endParaRPr>
            </a:p>
            <a:p>
              <a:pPr marL="984250" indent="184150" fontAlgn="auto" latinLnBrk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tabLst>
                  <a:tab pos="984250" algn="l"/>
                </a:tabLst>
                <a:defRPr/>
              </a:pPr>
              <a:r>
                <a:rPr kumimoji="0" lang="en-US" altLang="ko-KR" sz="1500" b="1" kern="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맑은 고딕" pitchFamily="50" charset="-127"/>
                  <a:cs typeface="Arial" panose="020B0604020202020204" pitchFamily="34" charset="0"/>
                </a:rPr>
                <a:t>3. Analyze</a:t>
              </a:r>
            </a:p>
            <a:p>
              <a:pPr marL="984250" indent="184150" fontAlgn="auto" latinLnBrk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tabLst>
                  <a:tab pos="984250" algn="l"/>
                </a:tabLst>
                <a:defRPr/>
              </a:pPr>
              <a:r>
                <a:rPr kumimoji="0" lang="en-US" altLang="ko-KR" sz="1500" b="1" kern="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맑은 고딕" pitchFamily="50" charset="-127"/>
                  <a:cs typeface="Arial" panose="020B0604020202020204" pitchFamily="34" charset="0"/>
                </a:rPr>
                <a:t>4. Improvement</a:t>
              </a:r>
            </a:p>
            <a:p>
              <a:pPr marL="984250" indent="184150" fontAlgn="auto" latinLnBrk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tabLst>
                  <a:tab pos="984250" algn="l"/>
                </a:tabLst>
                <a:defRPr/>
              </a:pPr>
              <a:r>
                <a:rPr kumimoji="0" lang="en-US" altLang="ko-KR" sz="1500" b="1" kern="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맑은 고딕" pitchFamily="50" charset="-127"/>
                  <a:cs typeface="Arial" panose="020B0604020202020204" pitchFamily="34" charset="0"/>
                </a:rPr>
                <a:t>5. Control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2177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383228" y="308005"/>
            <a:ext cx="2491324" cy="3693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409" tIns="45705" rIns="91409" bIns="45705" anchor="ctr">
            <a:spAutoFit/>
          </a:bodyPr>
          <a:lstStyle/>
          <a:p>
            <a:pPr algn="ctr" eaLnBrk="0" latinLnBrk="0" hangingPunct="0">
              <a:buFont typeface="Wingdings" pitchFamily="2" charset="2"/>
              <a:buNone/>
            </a:pPr>
            <a:r>
              <a:rPr kumimoji="0" lang="en-US" altLang="ko-KR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Six Sigma Project Register </a:t>
            </a:r>
            <a:endParaRPr kumimoji="0" lang="ko-KR" altLang="en-US" u="sng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75" name="Group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677759"/>
              </p:ext>
            </p:extLst>
          </p:nvPr>
        </p:nvGraphicFramePr>
        <p:xfrm>
          <a:off x="7229974" y="222548"/>
          <a:ext cx="2557087" cy="657225"/>
        </p:xfrm>
        <a:graphic>
          <a:graphicData uri="http://schemas.openxmlformats.org/drawingml/2006/table">
            <a:tbl>
              <a:tblPr/>
              <a:tblGrid>
                <a:gridCol w="675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1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Team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IVI LD2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Leader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Dao Cong Sang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Owner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Hoang Xuan Huong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roup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614302"/>
              </p:ext>
            </p:extLst>
          </p:nvPr>
        </p:nvGraphicFramePr>
        <p:xfrm>
          <a:off x="120650" y="933362"/>
          <a:ext cx="9658269" cy="5878325"/>
        </p:xfrm>
        <a:graphic>
          <a:graphicData uri="http://schemas.openxmlformats.org/drawingml/2006/table">
            <a:tbl>
              <a:tblPr/>
              <a:tblGrid>
                <a:gridCol w="668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3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94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67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9455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28015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Theme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buFont typeface="Wingdings" pitchFamily="2" charset="2"/>
                        <a:buNone/>
                      </a:pPr>
                      <a:r>
                        <a:rPr kumimoji="1" lang="en-US" altLang="ko-KR" sz="1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 Smart_H Regular" pitchFamily="34" charset="-127"/>
                          <a:cs typeface="+mn-cs"/>
                          <a:sym typeface="Wingdings" pitchFamily="2" charset="2"/>
                        </a:rPr>
                        <a:t>Model JLR EMA FCD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sz="11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 Smart_H Regular" pitchFamily="34" charset="-127"/>
                          <a:cs typeface="+mn-cs"/>
                        </a:rPr>
                        <a:t>Flush height between LCD and panel main NG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Period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’25.04.06~’25.06.19</a:t>
                      </a: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Task team name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IVI LD Mechanic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500">
                <a:tc rowSpan="2"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Six Sigma Project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Improvement Goal (Stretch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Goal)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Idea of breaking the limit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55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Improvement index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Current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World</a:t>
                      </a:r>
                    </a:p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Best</a:t>
                      </a: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Goal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75">
                <a:tc rowSpan="2"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Reduce Flush between LCD and panel main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KPI</a:t>
                      </a:r>
                      <a:endParaRPr kumimoji="0" lang="ko-KR" altLang="en-US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 Smart_H Regular" pitchFamily="34" charset="-127"/>
                          <a:cs typeface="Arial" pitchFamily="34" charset="0"/>
                        </a:rPr>
                        <a:t>Defect rate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 Smart_H Regular" pitchFamily="34" charset="-127"/>
                        <a:cs typeface="Arial" pitchFamily="34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 Smart_H Regular" panose="020B0600000101010101"/>
                          <a:cs typeface="Arial" panose="020B0604020202020204" pitchFamily="34" charset="0"/>
                        </a:rPr>
                        <a:t>500,529</a:t>
                      </a:r>
                      <a:endParaRPr kumimoji="0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 Smart_H Regular" pitchFamily="34" charset="-127"/>
                        <a:cs typeface="Arial" pitchFamily="34" charset="0"/>
                      </a:endParaRPr>
                    </a:p>
                    <a:p>
                      <a:pPr marL="0" marR="0" lvl="0" indent="0" algn="ctr" defTabSz="912813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 Smart_H Regular" pitchFamily="34" charset="-127"/>
                          <a:cs typeface="Arial" pitchFamily="34" charset="0"/>
                        </a:rPr>
                        <a:t>(ppm)</a:t>
                      </a: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NA</a:t>
                      </a:r>
                      <a:endParaRPr kumimoji="0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0ppm</a:t>
                      </a:r>
                      <a:endParaRPr kumimoji="0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l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 Smart_H Regular" pitchFamily="34" charset="-127"/>
                          <a:cs typeface="+mn-cs"/>
                        </a:rPr>
                        <a:t> - Make ES sample to verify in line</a:t>
                      </a:r>
                    </a:p>
                    <a:p>
                      <a:pPr marL="0" marR="0" lvl="0" indent="0" algn="l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 Smart_H Regular" pitchFamily="34" charset="-127"/>
                          <a:cs typeface="+mn-cs"/>
                        </a:rPr>
                        <a:t> - </a:t>
                      </a:r>
                      <a:r>
                        <a:rPr kumimoji="1" lang="en-US" altLang="ko-KR" sz="110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 Smart_H Regular" pitchFamily="34" charset="-127"/>
                          <a:cs typeface="+mn-cs"/>
                        </a:rPr>
                        <a:t>Request supplier modify mold to control height dimension of panel main</a:t>
                      </a:r>
                      <a:endParaRPr kumimoji="1" lang="en-US" altLang="ko-KR" sz="110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 Smart_H Regular" pitchFamily="34" charset="-127"/>
                        <a:cs typeface="+mn-cs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7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ProjectY</a:t>
                      </a:r>
                      <a:endParaRPr kumimoji="0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Flush  </a:t>
                      </a:r>
                    </a:p>
                    <a:p>
                      <a:pPr algn="ctr"/>
                      <a:r>
                        <a:rPr kumimoji="0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-0.4~0 mm</a:t>
                      </a:r>
                      <a:endParaRPr kumimoji="0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ko-KR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Cpk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=0.28</a:t>
                      </a:r>
                    </a:p>
                    <a:p>
                      <a:pPr algn="ctr"/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Z=0.84</a:t>
                      </a:r>
                      <a:endParaRPr kumimoji="0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NA</a:t>
                      </a:r>
                      <a:endParaRPr kumimoji="0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Cpk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≥1.33</a:t>
                      </a:r>
                    </a:p>
                    <a:p>
                      <a:pPr algn="ctr"/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Z=4.5</a:t>
                      </a:r>
                      <a:endParaRPr kumimoji="0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699"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Management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Issue (</a:t>
                      </a:r>
                      <a:r>
                        <a:rPr kumimoji="0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Biz.Issue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Implement Plan</a:t>
                      </a: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(Fast &amp; Strong)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Task Member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92452">
                <a:tc rowSpan="3" gridSpan="2">
                  <a:txBody>
                    <a:bodyPr/>
                    <a:lstStyle/>
                    <a:p>
                      <a:pPr marL="0" marR="0" lvl="0" indent="0" algn="l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 Smart_H Regular" pitchFamily="34" charset="-127"/>
                          <a:cs typeface="+mn-cs"/>
                        </a:rPr>
                        <a:t>This issue has been around for a long time, and the failure rate is very high at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 Smart_H Regular" panose="020B0600000101010101"/>
                          <a:cs typeface="Arial" panose="020B0604020202020204" pitchFamily="34" charset="0"/>
                        </a:rPr>
                        <a:t>500,529</a:t>
                      </a:r>
                      <a:r>
                        <a:rPr kumimoji="1" lang="en-US" altLang="ko-KR" sz="110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 Smart_H Regular" pitchFamily="34" charset="-127"/>
                          <a:cs typeface="+mn-cs"/>
                        </a:rPr>
                        <a:t> ppm, so we waste time to rework and rework fee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1421" marR="91421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gridSpan="6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69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Location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38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LG Electronics Viet Nam-Hai Phong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699"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Qualitative Performance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Quantitative Performance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Neck Point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07135">
                <a:tc gridSpan="2">
                  <a:txBody>
                    <a:bodyPr/>
                    <a:lstStyle/>
                    <a:p>
                      <a:pPr marL="0" marR="0" lvl="0" indent="0" algn="l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After this theme, I have opportunity and experience make 6 sigma report for green </a:t>
                      </a:r>
                      <a:r>
                        <a:rPr kumimoji="0" lang="vi-VN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belt.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This is the first time I have made a report like this, so I cannot avoid some shortcomings. I look forward to your comments and support.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After this theme, I can save loss time: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Before defect rate: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 Smart_H Regular" panose="020B0600000101010101"/>
                          <a:cs typeface="Arial" panose="020B0604020202020204" pitchFamily="34" charset="0"/>
                        </a:rPr>
                        <a:t>500,529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ppm 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 EST: Loss time and rework fee (70$ - sample price)</a:t>
                      </a:r>
                      <a:endParaRPr lang="en-US" altLang="ko-KR" sz="1100" b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After defect rate: 0 ppm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 Improve issue </a:t>
                      </a:r>
                      <a:endParaRPr lang="en-US" altLang="ko-KR" sz="1100" b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Total save cost: 70$*500=35000$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71450" marR="0" lvl="0" indent="-171450" algn="l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Dimension not mention in drawing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2" name="Group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003143"/>
              </p:ext>
            </p:extLst>
          </p:nvPr>
        </p:nvGraphicFramePr>
        <p:xfrm>
          <a:off x="6837176" y="3392565"/>
          <a:ext cx="2931892" cy="1376230"/>
        </p:xfrm>
        <a:graphic>
          <a:graphicData uri="http://schemas.openxmlformats.org/drawingml/2006/table">
            <a:tbl>
              <a:tblPr/>
              <a:tblGrid>
                <a:gridCol w="938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61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Team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18001" marB="18001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 marL="36000" marR="36000" marT="18001" marB="18001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Role</a:t>
                      </a:r>
                    </a:p>
                  </a:txBody>
                  <a:tcPr marL="36000" marR="36000" marT="18001" marB="18001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0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LD</a:t>
                      </a: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Huong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Leader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0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SQA</a:t>
                      </a: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Hieu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Member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566493"/>
                  </a:ext>
                </a:extLst>
              </a:tr>
              <a:tr h="2300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ME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Cuong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Member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262165"/>
                  </a:ext>
                </a:extLst>
              </a:tr>
              <a:tr h="2300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PE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Vinh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Member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976295"/>
                  </a:ext>
                </a:extLst>
              </a:tr>
              <a:tr h="2300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PD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Hoan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Member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241043"/>
                  </a:ext>
                </a:extLst>
              </a:tr>
            </a:tbl>
          </a:graphicData>
        </a:graphic>
      </p:graphicFrame>
      <p:sp>
        <p:nvSpPr>
          <p:cNvPr id="19552" name="직사각형 39"/>
          <p:cNvSpPr>
            <a:spLocks noChangeArrowheads="1"/>
          </p:cNvSpPr>
          <p:nvPr/>
        </p:nvSpPr>
        <p:spPr bwMode="auto">
          <a:xfrm>
            <a:off x="2713740" y="3340059"/>
            <a:ext cx="822661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latinLnBrk="0" hangingPunct="0"/>
            <a:r>
              <a:rPr kumimoji="0" lang="ko-KR" altLang="en-US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 </a:t>
            </a:r>
            <a:r>
              <a:rPr kumimoji="0"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Schedule</a:t>
            </a:r>
            <a:endParaRPr kumimoji="0" lang="ko-KR" altLang="en-US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553" name="직사각형 40"/>
          <p:cNvSpPr>
            <a:spLocks noChangeArrowheads="1"/>
          </p:cNvSpPr>
          <p:nvPr/>
        </p:nvSpPr>
        <p:spPr bwMode="auto">
          <a:xfrm>
            <a:off x="2732062" y="4041569"/>
            <a:ext cx="4206620" cy="1227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lnSpc>
                <a:spcPts val="1500"/>
              </a:lnSpc>
              <a:buFont typeface="Wingdings" pitchFamily="2" charset="2"/>
              <a:buChar char="q"/>
            </a:pPr>
            <a:r>
              <a:rPr kumimoji="0"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kumimoji="0"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Key activity </a:t>
            </a:r>
            <a:r>
              <a:rPr kumimoji="0"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/ Output</a:t>
            </a:r>
            <a:endParaRPr kumimoji="0" lang="en-US" altLang="ko-KR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itchFamily="2" charset="2"/>
            </a:endParaRPr>
          </a:p>
          <a:p>
            <a:pPr eaLnBrk="0" hangingPunct="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kumimoji="0"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 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Define issue, Define defect rate, Collect defective sample</a:t>
            </a:r>
            <a:endParaRPr kumimoji="0" lang="en-US" altLang="ko-KR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eaLnBrk="0" hangingPunct="0">
              <a:lnSpc>
                <a:spcPts val="1500"/>
              </a:lnSpc>
              <a:buFont typeface="Arial" charset="0"/>
              <a:buChar char="•"/>
            </a:pPr>
            <a:r>
              <a:rPr kumimoji="0"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M : 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Gage R&amp;R evaluate equipment and inspector measurement skills</a:t>
            </a:r>
            <a:endParaRPr kumimoji="0" lang="en-US" altLang="ko-KR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eaLnBrk="0" hangingPunct="0">
              <a:lnSpc>
                <a:spcPts val="1500"/>
              </a:lnSpc>
              <a:buFont typeface="Arial" charset="0"/>
              <a:buChar char="•"/>
            </a:pPr>
            <a:r>
              <a:rPr kumimoji="0"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A : 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Use Fish bones analysis method to find root cause</a:t>
            </a:r>
            <a:endParaRPr kumimoji="0" lang="ko-KR" altLang="en-US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eaLnBrk="0" hangingPunct="0">
              <a:lnSpc>
                <a:spcPts val="1500"/>
              </a:lnSpc>
              <a:buFont typeface="Arial" charset="0"/>
              <a:buChar char="•"/>
            </a:pPr>
            <a:r>
              <a:rPr kumimoji="0"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I : 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Meeting discuss, make improvement action plan and follow up</a:t>
            </a:r>
            <a:endParaRPr kumimoji="0" lang="ko-KR" altLang="en-US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eaLnBrk="0" hangingPunct="0">
              <a:lnSpc>
                <a:spcPts val="1500"/>
              </a:lnSpc>
              <a:buFont typeface="Arial" charset="0"/>
              <a:buChar char="•"/>
            </a:pPr>
            <a:r>
              <a:rPr kumimoji="0"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C :</a:t>
            </a:r>
            <a:r>
              <a:rPr kumimoji="0"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Verify action on line, Set up  quality meeting to control this issue</a:t>
            </a:r>
          </a:p>
        </p:txBody>
      </p:sp>
      <p:sp>
        <p:nvSpPr>
          <p:cNvPr id="19554" name="AutoShape 110"/>
          <p:cNvSpPr>
            <a:spLocks noChangeArrowheads="1"/>
          </p:cNvSpPr>
          <p:nvPr/>
        </p:nvSpPr>
        <p:spPr bwMode="auto">
          <a:xfrm>
            <a:off x="2999259" y="3644131"/>
            <a:ext cx="576262" cy="288925"/>
          </a:xfrm>
          <a:prstGeom prst="homePlate">
            <a:avLst>
              <a:gd name="adj" fmla="val 4602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latinLnBrk="0" hangingPunct="0"/>
            <a:r>
              <a:rPr kumimoji="0"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9555" name="AutoShape 111"/>
          <p:cNvSpPr>
            <a:spLocks noChangeArrowheads="1"/>
          </p:cNvSpPr>
          <p:nvPr/>
        </p:nvSpPr>
        <p:spPr bwMode="auto">
          <a:xfrm>
            <a:off x="3575521" y="3644131"/>
            <a:ext cx="577850" cy="288925"/>
          </a:xfrm>
          <a:prstGeom prst="homePlate">
            <a:avLst>
              <a:gd name="adj" fmla="val 46148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latinLnBrk="0" hangingPunct="0"/>
            <a:r>
              <a:rPr kumimoji="0"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9556" name="AutoShape 112"/>
          <p:cNvSpPr>
            <a:spLocks noChangeArrowheads="1"/>
          </p:cNvSpPr>
          <p:nvPr/>
        </p:nvSpPr>
        <p:spPr bwMode="auto">
          <a:xfrm>
            <a:off x="4151784" y="3644131"/>
            <a:ext cx="577850" cy="288925"/>
          </a:xfrm>
          <a:prstGeom prst="homePlate">
            <a:avLst>
              <a:gd name="adj" fmla="val 46148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latinLnBrk="0" hangingPunct="0"/>
            <a:r>
              <a:rPr kumimoji="0"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9557" name="AutoShape 117"/>
          <p:cNvSpPr>
            <a:spLocks noChangeArrowheads="1"/>
          </p:cNvSpPr>
          <p:nvPr/>
        </p:nvSpPr>
        <p:spPr bwMode="auto">
          <a:xfrm>
            <a:off x="4729634" y="3644131"/>
            <a:ext cx="577850" cy="288925"/>
          </a:xfrm>
          <a:prstGeom prst="homePlate">
            <a:avLst>
              <a:gd name="adj" fmla="val 46148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latinLnBrk="0" hangingPunct="0"/>
            <a:r>
              <a:rPr kumimoji="0"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I</a:t>
            </a:r>
          </a:p>
        </p:txBody>
      </p:sp>
      <p:sp>
        <p:nvSpPr>
          <p:cNvPr id="19558" name="AutoShape 118"/>
          <p:cNvSpPr>
            <a:spLocks noChangeArrowheads="1"/>
          </p:cNvSpPr>
          <p:nvPr/>
        </p:nvSpPr>
        <p:spPr bwMode="auto">
          <a:xfrm>
            <a:off x="5305896" y="3644131"/>
            <a:ext cx="576263" cy="288925"/>
          </a:xfrm>
          <a:prstGeom prst="homePlate">
            <a:avLst>
              <a:gd name="adj" fmla="val 4602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latinLnBrk="0" hangingPunct="0"/>
            <a:r>
              <a:rPr kumimoji="0"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9559" name="Text Box 115"/>
          <p:cNvSpPr txBox="1">
            <a:spLocks noChangeArrowheads="1"/>
          </p:cNvSpPr>
          <p:nvPr/>
        </p:nvSpPr>
        <p:spPr bwMode="auto">
          <a:xfrm>
            <a:off x="3346990" y="3415531"/>
            <a:ext cx="34496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latinLnBrk="0" hangingPunct="0"/>
            <a:r>
              <a:rPr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6</a:t>
            </a:r>
            <a:r>
              <a:rPr kumimoji="0"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/1</a:t>
            </a:r>
            <a:endParaRPr kumimoji="0" lang="en-US" altLang="ko-KR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560" name="Text Box 115"/>
          <p:cNvSpPr txBox="1">
            <a:spLocks noChangeArrowheads="1"/>
          </p:cNvSpPr>
          <p:nvPr/>
        </p:nvSpPr>
        <p:spPr bwMode="auto">
          <a:xfrm>
            <a:off x="3908896" y="3415531"/>
            <a:ext cx="40908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latinLnBrk="0" hangingPunct="0"/>
            <a:r>
              <a:rPr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6</a:t>
            </a:r>
            <a:r>
              <a:rPr kumimoji="0"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/15</a:t>
            </a:r>
            <a:endParaRPr kumimoji="0" lang="en-US" altLang="ko-KR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561" name="Text Box 113"/>
          <p:cNvSpPr txBox="1">
            <a:spLocks noChangeArrowheads="1"/>
          </p:cNvSpPr>
          <p:nvPr/>
        </p:nvSpPr>
        <p:spPr bwMode="auto">
          <a:xfrm>
            <a:off x="4521671" y="3417119"/>
            <a:ext cx="40908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latinLnBrk="0" hangingPunct="0"/>
            <a:r>
              <a:rPr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6</a:t>
            </a:r>
            <a:r>
              <a:rPr kumimoji="0"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/30</a:t>
            </a:r>
            <a:endParaRPr kumimoji="0" lang="en-US" altLang="ko-KR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562" name="Text Box 114"/>
          <p:cNvSpPr txBox="1">
            <a:spLocks noChangeArrowheads="1"/>
          </p:cNvSpPr>
          <p:nvPr/>
        </p:nvSpPr>
        <p:spPr bwMode="auto">
          <a:xfrm>
            <a:off x="5074121" y="3417119"/>
            <a:ext cx="40908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latinLnBrk="0" hangingPunct="0"/>
            <a:r>
              <a:rPr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7</a:t>
            </a:r>
            <a:r>
              <a:rPr kumimoji="0"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/12</a:t>
            </a:r>
            <a:endParaRPr kumimoji="0" lang="en-US" altLang="ko-KR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563" name="Text Box 115"/>
          <p:cNvSpPr txBox="1">
            <a:spLocks noChangeArrowheads="1"/>
          </p:cNvSpPr>
          <p:nvPr/>
        </p:nvSpPr>
        <p:spPr bwMode="auto">
          <a:xfrm>
            <a:off x="5650384" y="3417119"/>
            <a:ext cx="40908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latinLnBrk="0" hangingPunct="0"/>
            <a:r>
              <a:rPr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7/30</a:t>
            </a:r>
            <a:endParaRPr kumimoji="0" lang="en-US" altLang="ko-KR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4" name="직사각형 20"/>
          <p:cNvSpPr>
            <a:spLocks noChangeArrowheads="1"/>
          </p:cNvSpPr>
          <p:nvPr/>
        </p:nvSpPr>
        <p:spPr bwMode="auto">
          <a:xfrm>
            <a:off x="5600530" y="325775"/>
            <a:ext cx="2131846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defTabSz="912813" eaLnBrk="0" latinLnBrk="0" hangingPunct="0"/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Task category</a:t>
            </a:r>
          </a:p>
          <a:p>
            <a:pPr algn="just" defTabSz="912813" eaLnBrk="0" latinLnBrk="0" hangingPunct="0"/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□ 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HW      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□ 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SW</a:t>
            </a:r>
          </a:p>
          <a:p>
            <a:pPr algn="just" defTabSz="912813" eaLnBrk="0" hangingPunct="0"/>
            <a:r>
              <a:rPr lang="ko-KR" altLang="en-US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■ </a:t>
            </a:r>
            <a:r>
              <a:rPr lang="en-US" altLang="ko-KR" sz="110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Mecha</a:t>
            </a:r>
            <a:r>
              <a:rPr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□ </a:t>
            </a:r>
            <a:r>
              <a:rPr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Current 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job</a:t>
            </a:r>
          </a:p>
        </p:txBody>
      </p:sp>
    </p:spTree>
    <p:extLst>
      <p:ext uri="{BB962C8B-B14F-4D97-AF65-F5344CB8AC3E}">
        <p14:creationId xmlns:p14="http://schemas.microsoft.com/office/powerpoint/2010/main" val="234654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제목 1">
            <a:extLst>
              <a:ext uri="{FF2B5EF4-FFF2-40B4-BE49-F238E27FC236}">
                <a16:creationId xmlns:a16="http://schemas.microsoft.com/office/drawing/2014/main" id="{3401966A-D779-4C03-A1E8-9645EB12B832}"/>
              </a:ext>
            </a:extLst>
          </p:cNvPr>
          <p:cNvSpPr txBox="1">
            <a:spLocks/>
          </p:cNvSpPr>
          <p:nvPr/>
        </p:nvSpPr>
        <p:spPr>
          <a:xfrm>
            <a:off x="56455" y="116632"/>
            <a:ext cx="3188549" cy="41805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r>
              <a:rPr lang="en-US" altLang="ko-KR" kern="0">
                <a:latin typeface="Arial Narrow" panose="020B0606020202030204" pitchFamily="34" charset="0"/>
                <a:ea typeface="LG스마트체 Regular" panose="020B0600000101010101" pitchFamily="50" charset="-127"/>
              </a:rPr>
              <a:t>1.1 Yy </a:t>
            </a:r>
            <a:r>
              <a:rPr lang="en-US" altLang="ko-KR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break down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273D72D-2909-4B35-A41F-76C25E13A78D}"/>
              </a:ext>
            </a:extLst>
          </p:cNvPr>
          <p:cNvCxnSpPr/>
          <p:nvPr/>
        </p:nvCxnSpPr>
        <p:spPr>
          <a:xfrm>
            <a:off x="-12488" y="561513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AutoShape 55">
            <a:extLst>
              <a:ext uri="{FF2B5EF4-FFF2-40B4-BE49-F238E27FC236}">
                <a16:creationId xmlns:a16="http://schemas.microsoft.com/office/drawing/2014/main" id="{FFA51FAA-9751-47FD-8FF1-0721683AF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7650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95" name="AutoShape 56">
            <a:extLst>
              <a:ext uri="{FF2B5EF4-FFF2-40B4-BE49-F238E27FC236}">
                <a16:creationId xmlns:a16="http://schemas.microsoft.com/office/drawing/2014/main" id="{3D06085D-CE68-4C59-B1A5-6A5E7040F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8675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Improve</a:t>
            </a:r>
          </a:p>
        </p:txBody>
      </p:sp>
      <p:sp>
        <p:nvSpPr>
          <p:cNvPr id="96" name="AutoShape 57">
            <a:extLst>
              <a:ext uri="{FF2B5EF4-FFF2-40B4-BE49-F238E27FC236}">
                <a16:creationId xmlns:a16="http://schemas.microsoft.com/office/drawing/2014/main" id="{F1A9EA6B-6F47-4C76-B662-A6159CFC8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6525" y="225425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Analyze</a:t>
            </a:r>
          </a:p>
        </p:txBody>
      </p:sp>
      <p:sp>
        <p:nvSpPr>
          <p:cNvPr id="97" name="AutoShape 58">
            <a:extLst>
              <a:ext uri="{FF2B5EF4-FFF2-40B4-BE49-F238E27FC236}">
                <a16:creationId xmlns:a16="http://schemas.microsoft.com/office/drawing/2014/main" id="{E42109E3-B075-4548-873E-C1EE1C229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013" y="22542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Measure</a:t>
            </a:r>
          </a:p>
        </p:txBody>
      </p:sp>
      <p:sp>
        <p:nvSpPr>
          <p:cNvPr id="98" name="AutoShape 59">
            <a:extLst>
              <a:ext uri="{FF2B5EF4-FFF2-40B4-BE49-F238E27FC236}">
                <a16:creationId xmlns:a16="http://schemas.microsoft.com/office/drawing/2014/main" id="{191C6DD6-8343-4E55-A836-A599EDA35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80963"/>
            <a:ext cx="757238" cy="287337"/>
          </a:xfrm>
          <a:prstGeom prst="homePlate">
            <a:avLst>
              <a:gd name="adj" fmla="val 47193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Define</a:t>
            </a:r>
          </a:p>
        </p:txBody>
      </p:sp>
      <p:graphicFrame>
        <p:nvGraphicFramePr>
          <p:cNvPr id="65" name="표 44">
            <a:extLst>
              <a:ext uri="{FF2B5EF4-FFF2-40B4-BE49-F238E27FC236}">
                <a16:creationId xmlns:a16="http://schemas.microsoft.com/office/drawing/2014/main" id="{F703B3ED-8354-4DB1-A2A8-03FC875CE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108881"/>
              </p:ext>
            </p:extLst>
          </p:nvPr>
        </p:nvGraphicFramePr>
        <p:xfrm>
          <a:off x="260401" y="703388"/>
          <a:ext cx="888407" cy="276631"/>
        </p:xfrm>
        <a:graphic>
          <a:graphicData uri="http://schemas.openxmlformats.org/drawingml/2006/table">
            <a:tbl>
              <a:tblPr/>
              <a:tblGrid>
                <a:gridCol w="888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663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Big Y</a:t>
                      </a:r>
                    </a:p>
                  </a:txBody>
                  <a:tcPr marL="91439" marR="914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표 45">
            <a:extLst>
              <a:ext uri="{FF2B5EF4-FFF2-40B4-BE49-F238E27FC236}">
                <a16:creationId xmlns:a16="http://schemas.microsoft.com/office/drawing/2014/main" id="{B4EC7869-785C-4283-842B-2D9521827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063335"/>
              </p:ext>
            </p:extLst>
          </p:nvPr>
        </p:nvGraphicFramePr>
        <p:xfrm>
          <a:off x="3633320" y="715698"/>
          <a:ext cx="1189966" cy="276631"/>
        </p:xfrm>
        <a:graphic>
          <a:graphicData uri="http://schemas.openxmlformats.org/drawingml/2006/table">
            <a:tbl>
              <a:tblPr/>
              <a:tblGrid>
                <a:gridCol w="1189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663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Little </a:t>
                      </a:r>
                      <a:r>
                        <a:rPr lang="en-US" altLang="ko-KR" sz="10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y2</a:t>
                      </a:r>
                    </a:p>
                  </a:txBody>
                  <a:tcPr marL="91439" marR="914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528D3E5-1491-470D-A0CB-58350562D206}"/>
              </a:ext>
            </a:extLst>
          </p:cNvPr>
          <p:cNvCxnSpPr>
            <a:cxnSpLocks/>
            <a:stCxn id="80" idx="3"/>
            <a:endCxn id="77" idx="1"/>
          </p:cNvCxnSpPr>
          <p:nvPr/>
        </p:nvCxnSpPr>
        <p:spPr>
          <a:xfrm>
            <a:off x="2867767" y="1437809"/>
            <a:ext cx="771729" cy="16254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직사각형 124">
            <a:extLst>
              <a:ext uri="{FF2B5EF4-FFF2-40B4-BE49-F238E27FC236}">
                <a16:creationId xmlns:a16="http://schemas.microsoft.com/office/drawing/2014/main" id="{02BEBAD7-D35F-40AA-A57F-5E6584D602E9}"/>
              </a:ext>
            </a:extLst>
          </p:cNvPr>
          <p:cNvSpPr/>
          <p:nvPr/>
        </p:nvSpPr>
        <p:spPr>
          <a:xfrm>
            <a:off x="5442125" y="1260273"/>
            <a:ext cx="1427220" cy="39591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Flush issue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71" name="직사각형 124">
            <a:extLst>
              <a:ext uri="{FF2B5EF4-FFF2-40B4-BE49-F238E27FC236}">
                <a16:creationId xmlns:a16="http://schemas.microsoft.com/office/drawing/2014/main" id="{5E8A0571-E14A-4BCD-BA4F-F4C1EBD1BEBD}"/>
              </a:ext>
            </a:extLst>
          </p:cNvPr>
          <p:cNvSpPr/>
          <p:nvPr/>
        </p:nvSpPr>
        <p:spPr>
          <a:xfrm>
            <a:off x="5466839" y="2084721"/>
            <a:ext cx="1427220" cy="39591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Gap issue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244168E-0552-40E0-A76D-E8BC67F304AC}"/>
              </a:ext>
            </a:extLst>
          </p:cNvPr>
          <p:cNvCxnSpPr>
            <a:cxnSpLocks/>
            <a:stCxn id="77" idx="3"/>
            <a:endCxn id="70" idx="1"/>
          </p:cNvCxnSpPr>
          <p:nvPr/>
        </p:nvCxnSpPr>
        <p:spPr>
          <a:xfrm>
            <a:off x="4822973" y="1454063"/>
            <a:ext cx="619152" cy="4167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7" name="직사각형 124">
            <a:extLst>
              <a:ext uri="{FF2B5EF4-FFF2-40B4-BE49-F238E27FC236}">
                <a16:creationId xmlns:a16="http://schemas.microsoft.com/office/drawing/2014/main" id="{B94BB3C9-3B6C-4147-A89E-E2835D151172}"/>
              </a:ext>
            </a:extLst>
          </p:cNvPr>
          <p:cNvSpPr/>
          <p:nvPr/>
        </p:nvSpPr>
        <p:spPr>
          <a:xfrm>
            <a:off x="3639496" y="1232831"/>
            <a:ext cx="1183477" cy="44246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Assembly issue</a:t>
            </a:r>
            <a:endParaRPr lang="en-US" sz="1100" dirty="0">
              <a:solidFill>
                <a:schemeClr val="tx1"/>
              </a:solidFill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79" name="표 45">
            <a:extLst>
              <a:ext uri="{FF2B5EF4-FFF2-40B4-BE49-F238E27FC236}">
                <a16:creationId xmlns:a16="http://schemas.microsoft.com/office/drawing/2014/main" id="{3C0B56B4-03F6-46CA-B901-F0DF309AB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213940"/>
              </p:ext>
            </p:extLst>
          </p:nvPr>
        </p:nvGraphicFramePr>
        <p:xfrm>
          <a:off x="1634164" y="715698"/>
          <a:ext cx="1233603" cy="276631"/>
        </p:xfrm>
        <a:graphic>
          <a:graphicData uri="http://schemas.openxmlformats.org/drawingml/2006/table">
            <a:tbl>
              <a:tblPr/>
              <a:tblGrid>
                <a:gridCol w="1233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663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1">
                          <a:latin typeface="Arial Narrow" panose="020B0606020202030204" pitchFamily="34" charset="0"/>
                          <a:ea typeface="LG스마트체 Regular" panose="020B0600000101010101" pitchFamily="34" charset="-127"/>
                        </a:rPr>
                        <a:t>Little </a:t>
                      </a:r>
                      <a:r>
                        <a:rPr lang="en-US" altLang="ko-KR" sz="1000" b="1" dirty="0">
                          <a:latin typeface="Arial Narrow" panose="020B0606020202030204" pitchFamily="34" charset="0"/>
                          <a:ea typeface="LG스마트체 Regular" panose="020B0600000101010101" pitchFamily="34" charset="-127"/>
                        </a:rPr>
                        <a:t>y1</a:t>
                      </a:r>
                    </a:p>
                  </a:txBody>
                  <a:tcPr marL="91439" marR="914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0" name="직사각형 124">
            <a:extLst>
              <a:ext uri="{FF2B5EF4-FFF2-40B4-BE49-F238E27FC236}">
                <a16:creationId xmlns:a16="http://schemas.microsoft.com/office/drawing/2014/main" id="{8B44BC2E-C64E-43DF-93FE-F5139BBCE0A0}"/>
              </a:ext>
            </a:extLst>
          </p:cNvPr>
          <p:cNvSpPr/>
          <p:nvPr/>
        </p:nvSpPr>
        <p:spPr>
          <a:xfrm>
            <a:off x="1651508" y="1228923"/>
            <a:ext cx="1216259" cy="417772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Mecha defect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81" name="직사각형 124">
            <a:extLst>
              <a:ext uri="{FF2B5EF4-FFF2-40B4-BE49-F238E27FC236}">
                <a16:creationId xmlns:a16="http://schemas.microsoft.com/office/drawing/2014/main" id="{AFCA8E5B-5411-4176-AB53-6F9EDF5CFA1F}"/>
              </a:ext>
            </a:extLst>
          </p:cNvPr>
          <p:cNvSpPr/>
          <p:nvPr/>
        </p:nvSpPr>
        <p:spPr>
          <a:xfrm>
            <a:off x="0" y="1247253"/>
            <a:ext cx="1257197" cy="39591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latinLnBrk="0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Reduce EMA FCD Defect </a:t>
            </a:r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rate</a:t>
            </a:r>
          </a:p>
        </p:txBody>
      </p:sp>
      <p:sp>
        <p:nvSpPr>
          <p:cNvPr id="82" name="직사각형 124">
            <a:extLst>
              <a:ext uri="{FF2B5EF4-FFF2-40B4-BE49-F238E27FC236}">
                <a16:creationId xmlns:a16="http://schemas.microsoft.com/office/drawing/2014/main" id="{7E807429-5955-496C-B210-C553A7057FE8}"/>
              </a:ext>
            </a:extLst>
          </p:cNvPr>
          <p:cNvSpPr/>
          <p:nvPr/>
        </p:nvSpPr>
        <p:spPr>
          <a:xfrm>
            <a:off x="1647314" y="3601250"/>
            <a:ext cx="1216259" cy="3797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Hardware defect</a:t>
            </a:r>
            <a:endParaRPr lang="vi-VN" sz="1100" dirty="0">
              <a:solidFill>
                <a:srgbClr val="000000"/>
              </a:solidFill>
              <a:latin typeface="Arial" panose="020B060402020202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D2F65EF-8CD4-4AAC-9943-821173CB9586}"/>
              </a:ext>
            </a:extLst>
          </p:cNvPr>
          <p:cNvCxnSpPr>
            <a:cxnSpLocks/>
            <a:stCxn id="81" idx="3"/>
            <a:endCxn id="80" idx="1"/>
          </p:cNvCxnSpPr>
          <p:nvPr/>
        </p:nvCxnSpPr>
        <p:spPr>
          <a:xfrm flipV="1">
            <a:off x="1257197" y="1437809"/>
            <a:ext cx="394311" cy="7401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4" name="직사각형 124">
            <a:extLst>
              <a:ext uri="{FF2B5EF4-FFF2-40B4-BE49-F238E27FC236}">
                <a16:creationId xmlns:a16="http://schemas.microsoft.com/office/drawing/2014/main" id="{EA532B82-DFE9-439F-B833-00821988A432}"/>
              </a:ext>
            </a:extLst>
          </p:cNvPr>
          <p:cNvSpPr/>
          <p:nvPr/>
        </p:nvSpPr>
        <p:spPr>
          <a:xfrm>
            <a:off x="1689870" y="4301495"/>
            <a:ext cx="1216259" cy="3797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Sorfware defect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C02C6BB-AD33-4EA3-ADDB-95878265C0BC}"/>
              </a:ext>
            </a:extLst>
          </p:cNvPr>
          <p:cNvCxnSpPr>
            <a:cxnSpLocks/>
          </p:cNvCxnSpPr>
          <p:nvPr/>
        </p:nvCxnSpPr>
        <p:spPr>
          <a:xfrm>
            <a:off x="363866" y="6355982"/>
            <a:ext cx="17904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94991FE9-FC93-4038-8330-D6EED84E83E7}"/>
              </a:ext>
            </a:extLst>
          </p:cNvPr>
          <p:cNvSpPr/>
          <p:nvPr/>
        </p:nvSpPr>
        <p:spPr>
          <a:xfrm>
            <a:off x="1620860" y="5816573"/>
            <a:ext cx="829775" cy="5336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336,467 </a:t>
            </a:r>
            <a:r>
              <a:rPr lang="vi-V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PPM</a:t>
            </a:r>
            <a:endParaRPr lang="en-US" sz="1100" dirty="0">
              <a:solidFill>
                <a:schemeClr val="tx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82C3D5A-7F5D-4D86-9D00-90616A816D44}"/>
              </a:ext>
            </a:extLst>
          </p:cNvPr>
          <p:cNvSpPr/>
          <p:nvPr/>
        </p:nvSpPr>
        <p:spPr>
          <a:xfrm>
            <a:off x="260401" y="5305591"/>
            <a:ext cx="818860" cy="10472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837,005 </a:t>
            </a:r>
            <a:r>
              <a:rPr lang="vi-V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PPM</a:t>
            </a:r>
            <a:endParaRPr lang="en-US" sz="1100" dirty="0">
              <a:solidFill>
                <a:schemeClr val="tx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88" name="직사각형 124">
            <a:extLst>
              <a:ext uri="{FF2B5EF4-FFF2-40B4-BE49-F238E27FC236}">
                <a16:creationId xmlns:a16="http://schemas.microsoft.com/office/drawing/2014/main" id="{63F9561E-119E-4D88-9671-36A362634B5C}"/>
              </a:ext>
            </a:extLst>
          </p:cNvPr>
          <p:cNvSpPr/>
          <p:nvPr/>
        </p:nvSpPr>
        <p:spPr>
          <a:xfrm>
            <a:off x="345307" y="6355982"/>
            <a:ext cx="1786889" cy="40358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latinLnBrk="0"/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Decrease defect rate </a:t>
            </a:r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of </a:t>
            </a:r>
          </a:p>
          <a:p>
            <a:pPr algn="ctr" latinLnBrk="0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JLR EMA FCD</a:t>
            </a:r>
            <a:endParaRPr lang="vi-VN" sz="1100" dirty="0">
              <a:solidFill>
                <a:srgbClr val="000000"/>
              </a:solidFill>
              <a:latin typeface="Arial" panose="020B060402020202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89" name="직사각형 124">
            <a:extLst>
              <a:ext uri="{FF2B5EF4-FFF2-40B4-BE49-F238E27FC236}">
                <a16:creationId xmlns:a16="http://schemas.microsoft.com/office/drawing/2014/main" id="{20347298-03DA-4585-9553-50165DC46F71}"/>
              </a:ext>
            </a:extLst>
          </p:cNvPr>
          <p:cNvSpPr/>
          <p:nvPr/>
        </p:nvSpPr>
        <p:spPr>
          <a:xfrm>
            <a:off x="288657" y="5110576"/>
            <a:ext cx="762348" cy="21646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latinLnBrk="0"/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Before</a:t>
            </a:r>
            <a:endParaRPr lang="vi-VN" sz="1100" dirty="0">
              <a:solidFill>
                <a:srgbClr val="000000"/>
              </a:solidFill>
              <a:latin typeface="Arial" panose="020B060402020202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90" name="직사각형 124">
            <a:extLst>
              <a:ext uri="{FF2B5EF4-FFF2-40B4-BE49-F238E27FC236}">
                <a16:creationId xmlns:a16="http://schemas.microsoft.com/office/drawing/2014/main" id="{6C2AD674-585C-428C-8E2E-52ED08E1348A}"/>
              </a:ext>
            </a:extLst>
          </p:cNvPr>
          <p:cNvSpPr/>
          <p:nvPr/>
        </p:nvSpPr>
        <p:spPr>
          <a:xfrm>
            <a:off x="1710896" y="5608389"/>
            <a:ext cx="649702" cy="21646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latinLnBrk="0"/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After</a:t>
            </a:r>
            <a:endParaRPr lang="vi-VN" sz="1100" dirty="0">
              <a:solidFill>
                <a:srgbClr val="000000"/>
              </a:solidFill>
              <a:latin typeface="Arial" panose="020B060402020202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91" name="직사각형 124">
            <a:extLst>
              <a:ext uri="{FF2B5EF4-FFF2-40B4-BE49-F238E27FC236}">
                <a16:creationId xmlns:a16="http://schemas.microsoft.com/office/drawing/2014/main" id="{C3411FC2-2D54-4A85-970F-3F25DA698347}"/>
              </a:ext>
            </a:extLst>
          </p:cNvPr>
          <p:cNvSpPr/>
          <p:nvPr/>
        </p:nvSpPr>
        <p:spPr>
          <a:xfrm>
            <a:off x="7322594" y="1260024"/>
            <a:ext cx="1586819" cy="39591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6 Sigma assignment</a:t>
            </a:r>
          </a:p>
        </p:txBody>
      </p:sp>
      <p:sp>
        <p:nvSpPr>
          <p:cNvPr id="99" name="직사각형 124">
            <a:extLst>
              <a:ext uri="{FF2B5EF4-FFF2-40B4-BE49-F238E27FC236}">
                <a16:creationId xmlns:a16="http://schemas.microsoft.com/office/drawing/2014/main" id="{C81FFC37-730C-4486-B885-8C5C276AD21F}"/>
              </a:ext>
            </a:extLst>
          </p:cNvPr>
          <p:cNvSpPr/>
          <p:nvPr/>
        </p:nvSpPr>
        <p:spPr>
          <a:xfrm>
            <a:off x="7347308" y="2084472"/>
            <a:ext cx="1586819" cy="39591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Material defect → return to supplier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graphicFrame>
        <p:nvGraphicFramePr>
          <p:cNvPr id="100" name="표 46">
            <a:extLst>
              <a:ext uri="{FF2B5EF4-FFF2-40B4-BE49-F238E27FC236}">
                <a16:creationId xmlns:a16="http://schemas.microsoft.com/office/drawing/2014/main" id="{4607D203-767A-4E4F-B7FF-04471B611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090161"/>
              </p:ext>
            </p:extLst>
          </p:nvPr>
        </p:nvGraphicFramePr>
        <p:xfrm>
          <a:off x="7322594" y="720833"/>
          <a:ext cx="1586819" cy="282190"/>
        </p:xfrm>
        <a:graphic>
          <a:graphicData uri="http://schemas.openxmlformats.org/drawingml/2006/table">
            <a:tbl>
              <a:tblPr/>
              <a:tblGrid>
                <a:gridCol w="1586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219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Activity</a:t>
                      </a:r>
                    </a:p>
                  </a:txBody>
                  <a:tcPr marL="91439" marR="914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1" name="표 45">
            <a:extLst>
              <a:ext uri="{FF2B5EF4-FFF2-40B4-BE49-F238E27FC236}">
                <a16:creationId xmlns:a16="http://schemas.microsoft.com/office/drawing/2014/main" id="{02E49CA9-8515-4D0D-8568-AC1D2562B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680316"/>
              </p:ext>
            </p:extLst>
          </p:nvPr>
        </p:nvGraphicFramePr>
        <p:xfrm>
          <a:off x="5442125" y="726392"/>
          <a:ext cx="1427220" cy="276631"/>
        </p:xfrm>
        <a:graphic>
          <a:graphicData uri="http://schemas.openxmlformats.org/drawingml/2006/table">
            <a:tbl>
              <a:tblPr/>
              <a:tblGrid>
                <a:gridCol w="1427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663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Little y3</a:t>
                      </a:r>
                    </a:p>
                  </a:txBody>
                  <a:tcPr marL="91439" marR="914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B7113F3-66FD-46B3-A3C8-E28C6E190061}"/>
              </a:ext>
            </a:extLst>
          </p:cNvPr>
          <p:cNvCxnSpPr>
            <a:cxnSpLocks/>
            <a:stCxn id="70" idx="3"/>
            <a:endCxn id="91" idx="1"/>
          </p:cNvCxnSpPr>
          <p:nvPr/>
        </p:nvCxnSpPr>
        <p:spPr>
          <a:xfrm flipV="1">
            <a:off x="6869345" y="1457981"/>
            <a:ext cx="453249" cy="249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4078BA44-5D4E-4A96-B478-3CB2CAFD85A8}"/>
              </a:ext>
            </a:extLst>
          </p:cNvPr>
          <p:cNvCxnSpPr>
            <a:cxnSpLocks/>
          </p:cNvCxnSpPr>
          <p:nvPr/>
        </p:nvCxnSpPr>
        <p:spPr>
          <a:xfrm flipV="1">
            <a:off x="6894059" y="2299531"/>
            <a:ext cx="453249" cy="24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E95C5F70-E5C4-4EC1-B187-CDAD0E2B3988}"/>
              </a:ext>
            </a:extLst>
          </p:cNvPr>
          <p:cNvSpPr txBox="1"/>
          <p:nvPr/>
        </p:nvSpPr>
        <p:spPr>
          <a:xfrm>
            <a:off x="2833263" y="5865600"/>
            <a:ext cx="652885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Tx/>
              <a:buChar char="-"/>
            </a:pPr>
            <a:r>
              <a:rPr lang="en-US" sz="1100" dirty="0">
                <a:latin typeface="Arial Narrow" panose="020B0606020202030204" pitchFamily="34" charset="0"/>
              </a:rPr>
              <a:t>Most </a:t>
            </a:r>
            <a:r>
              <a:rPr lang="en-US" sz="1100">
                <a:latin typeface="Arial Narrow" panose="020B0606020202030204" pitchFamily="34" charset="0"/>
              </a:rPr>
              <a:t>of hardware </a:t>
            </a:r>
            <a:r>
              <a:rPr lang="en-US" sz="1100" dirty="0">
                <a:latin typeface="Arial Narrow" panose="020B0606020202030204" pitchFamily="34" charset="0"/>
              </a:rPr>
              <a:t>issue cause by foreign material inside </a:t>
            </a:r>
            <a:r>
              <a:rPr lang="en-US" sz="1100">
                <a:latin typeface="Arial Narrow" panose="020B0606020202030204" pitchFamily="34" charset="0"/>
              </a:rPr>
              <a:t>the set or camera detect wrong position </a:t>
            </a:r>
            <a:r>
              <a:rPr lang="en-US" sz="1100" dirty="0">
                <a:latin typeface="Arial Narrow" panose="020B0606020202030204" pitchFamily="34" charset="0"/>
              </a:rPr>
              <a:t>after assembly process</a:t>
            </a:r>
            <a:r>
              <a:rPr lang="en-US" sz="1100">
                <a:latin typeface="Arial Narrow" panose="020B0606020202030204" pitchFamily="34" charset="0"/>
              </a:rPr>
              <a:t>, cable, connector </a:t>
            </a:r>
            <a:r>
              <a:rPr lang="en-US" sz="1100" dirty="0">
                <a:latin typeface="Arial Narrow" panose="020B0606020202030204" pitchFamily="34" charset="0"/>
              </a:rPr>
              <a:t>need to improve </a:t>
            </a:r>
            <a:r>
              <a:rPr lang="en-US" sz="1100">
                <a:latin typeface="Arial Narrow" panose="020B0606020202030204" pitchFamily="34" charset="0"/>
              </a:rPr>
              <a:t>by PE/Supplier</a:t>
            </a:r>
            <a:endParaRPr lang="en-US" sz="1100" dirty="0">
              <a:latin typeface="Arial Narrow" panose="020B0606020202030204" pitchFamily="34" charset="0"/>
            </a:endParaRPr>
          </a:p>
          <a:p>
            <a:pPr marL="171450" lvl="0" indent="-171450">
              <a:buFontTx/>
              <a:buChar char="-"/>
            </a:pPr>
            <a:r>
              <a:rPr lang="en-US" sz="1100">
                <a:latin typeface="Arial Narrow" panose="020B0606020202030204" pitchFamily="34" charset="0"/>
              </a:rPr>
              <a:t>Function </a:t>
            </a:r>
            <a:r>
              <a:rPr lang="en-US" sz="1100" dirty="0">
                <a:latin typeface="Arial Narrow" panose="020B0606020202030204" pitchFamily="34" charset="0"/>
              </a:rPr>
              <a:t>issue will be solved by </a:t>
            </a:r>
            <a:r>
              <a:rPr lang="en-US" sz="1100">
                <a:latin typeface="Arial Narrow" panose="020B0606020202030204" pitchFamily="34" charset="0"/>
              </a:rPr>
              <a:t>HQ R&amp;D</a:t>
            </a:r>
            <a:endParaRPr lang="en-US" sz="1100" dirty="0">
              <a:latin typeface="Arial Narrow" panose="020B0606020202030204" pitchFamily="34" charset="0"/>
            </a:endParaRPr>
          </a:p>
          <a:p>
            <a:pPr marL="171450" lvl="0" indent="-171450">
              <a:buFontTx/>
              <a:buChar char="-"/>
            </a:pPr>
            <a:r>
              <a:rPr lang="en-US" sz="1100">
                <a:latin typeface="Arial Narrow" panose="020B0606020202030204" pitchFamily="34" charset="0"/>
              </a:rPr>
              <a:t>Asemble issue from material, design of mechanic parts not optimize, </a:t>
            </a:r>
            <a:r>
              <a:rPr lang="en-US" sz="1100" dirty="0">
                <a:latin typeface="Arial Narrow" panose="020B0606020202030204" pitchFamily="34" charset="0"/>
              </a:rPr>
              <a:t>that’s why I choose this issue for my 6 sigma assignment.</a:t>
            </a:r>
            <a:endParaRPr lang="en-US" altLang="en-US" sz="1100" dirty="0"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15" name="Arrow: Right 114">
            <a:extLst>
              <a:ext uri="{FF2B5EF4-FFF2-40B4-BE49-F238E27FC236}">
                <a16:creationId xmlns:a16="http://schemas.microsoft.com/office/drawing/2014/main" id="{CD36EFC4-E21C-4409-A53A-E5500617AAE3}"/>
              </a:ext>
            </a:extLst>
          </p:cNvPr>
          <p:cNvSpPr/>
          <p:nvPr/>
        </p:nvSpPr>
        <p:spPr bwMode="auto">
          <a:xfrm rot="1145973">
            <a:off x="1114070" y="5816573"/>
            <a:ext cx="471981" cy="173244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돋움" pitchFamily="50" charset="-127"/>
            </a:endParaRPr>
          </a:p>
        </p:txBody>
      </p:sp>
      <p:sp>
        <p:nvSpPr>
          <p:cNvPr id="116" name="직사각형 124">
            <a:extLst>
              <a:ext uri="{FF2B5EF4-FFF2-40B4-BE49-F238E27FC236}">
                <a16:creationId xmlns:a16="http://schemas.microsoft.com/office/drawing/2014/main" id="{25E4EC17-C180-40FF-A621-DD818F4D71E7}"/>
              </a:ext>
            </a:extLst>
          </p:cNvPr>
          <p:cNvSpPr/>
          <p:nvPr/>
        </p:nvSpPr>
        <p:spPr>
          <a:xfrm>
            <a:off x="9111999" y="1263867"/>
            <a:ext cx="717728" cy="39591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LD Mec</a:t>
            </a:r>
          </a:p>
        </p:txBody>
      </p:sp>
      <p:sp>
        <p:nvSpPr>
          <p:cNvPr id="117" name="직사각형 124">
            <a:extLst>
              <a:ext uri="{FF2B5EF4-FFF2-40B4-BE49-F238E27FC236}">
                <a16:creationId xmlns:a16="http://schemas.microsoft.com/office/drawing/2014/main" id="{F787AD09-940C-4AFB-B054-E761730A9BCC}"/>
              </a:ext>
            </a:extLst>
          </p:cNvPr>
          <p:cNvSpPr/>
          <p:nvPr/>
        </p:nvSpPr>
        <p:spPr>
          <a:xfrm>
            <a:off x="9136713" y="2078607"/>
            <a:ext cx="717728" cy="39591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Seojin supplier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graphicFrame>
        <p:nvGraphicFramePr>
          <p:cNvPr id="118" name="표 46">
            <a:extLst>
              <a:ext uri="{FF2B5EF4-FFF2-40B4-BE49-F238E27FC236}">
                <a16:creationId xmlns:a16="http://schemas.microsoft.com/office/drawing/2014/main" id="{BA031682-7B75-4C01-A525-EE8E538B4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32148"/>
              </p:ext>
            </p:extLst>
          </p:nvPr>
        </p:nvGraphicFramePr>
        <p:xfrm>
          <a:off x="9112590" y="735156"/>
          <a:ext cx="717137" cy="282190"/>
        </p:xfrm>
        <a:graphic>
          <a:graphicData uri="http://schemas.openxmlformats.org/drawingml/2006/table">
            <a:tbl>
              <a:tblPr/>
              <a:tblGrid>
                <a:gridCol w="717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219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PIC</a:t>
                      </a:r>
                    </a:p>
                  </a:txBody>
                  <a:tcPr marL="91439" marR="914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4" name="Rectangle 123">
            <a:extLst>
              <a:ext uri="{FF2B5EF4-FFF2-40B4-BE49-F238E27FC236}">
                <a16:creationId xmlns:a16="http://schemas.microsoft.com/office/drawing/2014/main" id="{7DF97505-3888-4E67-BDA6-E6C4DDADBEEC}"/>
              </a:ext>
            </a:extLst>
          </p:cNvPr>
          <p:cNvSpPr/>
          <p:nvPr/>
        </p:nvSpPr>
        <p:spPr>
          <a:xfrm>
            <a:off x="51601" y="1670837"/>
            <a:ext cx="126188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/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837,005 </a:t>
            </a:r>
            <a:r>
              <a:rPr lang="vi-VN" sz="11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PPM</a:t>
            </a:r>
            <a:endParaRPr lang="en-US" sz="1100" dirty="0">
              <a:solidFill>
                <a:srgbClr val="000000"/>
              </a:solidFill>
              <a:latin typeface="Arial" panose="020B0604020202020204" pitchFamily="34" charset="0"/>
              <a:ea typeface="LG Smart_H Regular" panose="020B0600000101010101"/>
              <a:cs typeface="Arial" panose="020B0604020202020204" pitchFamily="34" charset="0"/>
            </a:endParaRPr>
          </a:p>
          <a:p>
            <a:pPr algn="ctr" latinLnBrk="0"/>
            <a:r>
              <a:rPr lang="en-US" sz="1100" dirty="0">
                <a:solidFill>
                  <a:srgbClr val="00B05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(xx/</a:t>
            </a:r>
            <a:r>
              <a:rPr lang="en-US" sz="1100" dirty="0" err="1">
                <a:solidFill>
                  <a:srgbClr val="00B05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xxxEA</a:t>
            </a:r>
            <a:endParaRPr lang="en-US" sz="1100" dirty="0">
              <a:solidFill>
                <a:srgbClr val="00B050"/>
              </a:solidFill>
              <a:latin typeface="Arial" panose="020B0604020202020204" pitchFamily="34" charset="0"/>
              <a:ea typeface="LG Smart_H Regular" panose="020B0600000101010101"/>
              <a:cs typeface="Arial" panose="020B0604020202020204" pitchFamily="34" charset="0"/>
            </a:endParaRPr>
          </a:p>
          <a:p>
            <a:pPr algn="ctr" latinLnBrk="0"/>
            <a:r>
              <a:rPr lang="en-US" sz="1100" dirty="0" err="1">
                <a:solidFill>
                  <a:srgbClr val="00B05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Jun~Aug</a:t>
            </a:r>
            <a:r>
              <a:rPr lang="en-US" sz="1100" dirty="0">
                <a:solidFill>
                  <a:srgbClr val="00B05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 Y26)</a:t>
            </a:r>
            <a:endParaRPr lang="en-US" sz="1100" dirty="0">
              <a:solidFill>
                <a:srgbClr val="00B05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5576E25-7F0B-47EB-9DA3-6D117FD8378F}"/>
              </a:ext>
            </a:extLst>
          </p:cNvPr>
          <p:cNvSpPr/>
          <p:nvPr/>
        </p:nvSpPr>
        <p:spPr>
          <a:xfrm>
            <a:off x="1643538" y="1639657"/>
            <a:ext cx="124264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7</a:t>
            </a:r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6.3% 638,634 </a:t>
            </a:r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PPM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CCECE96-5769-4873-81C3-2D05DBD39837}"/>
              </a:ext>
            </a:extLst>
          </p:cNvPr>
          <p:cNvSpPr/>
          <p:nvPr/>
        </p:nvSpPr>
        <p:spPr>
          <a:xfrm>
            <a:off x="1670799" y="4699596"/>
            <a:ext cx="123463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1</a:t>
            </a:r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5.9% 13,083 </a:t>
            </a:r>
            <a:r>
              <a:rPr lang="vi-VN" sz="11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PPM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38C73A4-49D6-4BAD-A9B8-D4EC9F9FBF52}"/>
              </a:ext>
            </a:extLst>
          </p:cNvPr>
          <p:cNvSpPr/>
          <p:nvPr/>
        </p:nvSpPr>
        <p:spPr>
          <a:xfrm>
            <a:off x="1740795" y="3925402"/>
            <a:ext cx="111440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7.8</a:t>
            </a:r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% 65,286 </a:t>
            </a:r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PPM</a:t>
            </a: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51455461-D79F-451A-BC5C-A63030519540}"/>
              </a:ext>
            </a:extLst>
          </p:cNvPr>
          <p:cNvCxnSpPr>
            <a:cxnSpLocks/>
            <a:stCxn id="77" idx="3"/>
            <a:endCxn id="102" idx="1"/>
          </p:cNvCxnSpPr>
          <p:nvPr/>
        </p:nvCxnSpPr>
        <p:spPr bwMode="auto">
          <a:xfrm>
            <a:off x="4822973" y="1454063"/>
            <a:ext cx="619152" cy="1514636"/>
          </a:xfrm>
          <a:prstGeom prst="bentConnector3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5756B4C5-F552-4D3A-B59F-88194A6F2447}"/>
              </a:ext>
            </a:extLst>
          </p:cNvPr>
          <p:cNvCxnSpPr>
            <a:cxnSpLocks/>
            <a:stCxn id="81" idx="3"/>
            <a:endCxn id="84" idx="1"/>
          </p:cNvCxnSpPr>
          <p:nvPr/>
        </p:nvCxnSpPr>
        <p:spPr bwMode="auto">
          <a:xfrm>
            <a:off x="1257197" y="1445210"/>
            <a:ext cx="432673" cy="304617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5EDC2A20-7E41-44D0-82B1-4CE400AD16E8}"/>
              </a:ext>
            </a:extLst>
          </p:cNvPr>
          <p:cNvCxnSpPr>
            <a:cxnSpLocks/>
            <a:stCxn id="81" idx="3"/>
            <a:endCxn id="82" idx="1"/>
          </p:cNvCxnSpPr>
          <p:nvPr/>
        </p:nvCxnSpPr>
        <p:spPr bwMode="auto">
          <a:xfrm>
            <a:off x="1257197" y="1445210"/>
            <a:ext cx="390117" cy="234592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3" name="직사각형 124">
            <a:extLst>
              <a:ext uri="{FF2B5EF4-FFF2-40B4-BE49-F238E27FC236}">
                <a16:creationId xmlns:a16="http://schemas.microsoft.com/office/drawing/2014/main" id="{945813B6-3F7C-4FBC-B46B-C0372157087D}"/>
              </a:ext>
            </a:extLst>
          </p:cNvPr>
          <p:cNvSpPr/>
          <p:nvPr/>
        </p:nvSpPr>
        <p:spPr>
          <a:xfrm>
            <a:off x="3600726" y="2057400"/>
            <a:ext cx="1183477" cy="4424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Appearance issue</a:t>
            </a:r>
            <a:endParaRPr lang="en-US" sz="1100" dirty="0">
              <a:solidFill>
                <a:schemeClr val="tx1"/>
              </a:solidFill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A829A77-C05B-475B-92FB-EEE9C6192B7F}"/>
              </a:ext>
            </a:extLst>
          </p:cNvPr>
          <p:cNvSpPr/>
          <p:nvPr/>
        </p:nvSpPr>
        <p:spPr>
          <a:xfrm>
            <a:off x="3758181" y="2562725"/>
            <a:ext cx="101021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6.9</a:t>
            </a:r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% 251 </a:t>
            </a:r>
            <a:r>
              <a:rPr lang="vi-VN" sz="11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PPM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7C90867-B141-480A-91B3-0BA60BFDC6BA}"/>
              </a:ext>
            </a:extLst>
          </p:cNvPr>
          <p:cNvSpPr/>
          <p:nvPr/>
        </p:nvSpPr>
        <p:spPr>
          <a:xfrm>
            <a:off x="3609344" y="1639402"/>
            <a:ext cx="129875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69.4% 580,882 </a:t>
            </a:r>
            <a:r>
              <a:rPr lang="vi-VN" sz="11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PPM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51772B1-CC29-49BE-9CF0-5DBD7DBD509D}"/>
              </a:ext>
            </a:extLst>
          </p:cNvPr>
          <p:cNvSpPr/>
          <p:nvPr/>
        </p:nvSpPr>
        <p:spPr>
          <a:xfrm>
            <a:off x="5506361" y="1670836"/>
            <a:ext cx="129875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5</a:t>
            </a:r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9.8% 500,529 </a:t>
            </a:r>
            <a:r>
              <a:rPr lang="vi-VN" sz="11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PPM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88E28C6-8801-47EA-A1EB-67F7716B9ADF}"/>
              </a:ext>
            </a:extLst>
          </p:cNvPr>
          <p:cNvSpPr/>
          <p:nvPr/>
        </p:nvSpPr>
        <p:spPr>
          <a:xfrm>
            <a:off x="5595192" y="3149827"/>
            <a:ext cx="117051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1</a:t>
            </a:r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.6% 80,353 </a:t>
            </a:r>
            <a:r>
              <a:rPr lang="vi-VN" sz="11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PPM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ED38EDB2-B6BA-4EC7-930D-2379544100F0}"/>
              </a:ext>
            </a:extLst>
          </p:cNvPr>
          <p:cNvCxnSpPr>
            <a:stCxn id="91" idx="3"/>
            <a:endCxn id="116" idx="1"/>
          </p:cNvCxnSpPr>
          <p:nvPr/>
        </p:nvCxnSpPr>
        <p:spPr bwMode="auto">
          <a:xfrm>
            <a:off x="8909413" y="1457981"/>
            <a:ext cx="202586" cy="3843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320CE984-C074-4DB4-90E2-300560F4F96D}"/>
              </a:ext>
            </a:extLst>
          </p:cNvPr>
          <p:cNvCxnSpPr>
            <a:cxnSpLocks/>
          </p:cNvCxnSpPr>
          <p:nvPr/>
        </p:nvCxnSpPr>
        <p:spPr bwMode="auto">
          <a:xfrm flipV="1">
            <a:off x="8757013" y="2810185"/>
            <a:ext cx="202586" cy="58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BA8953AA-6AFD-43B8-A391-B4E441DD3E7E}"/>
              </a:ext>
            </a:extLst>
          </p:cNvPr>
          <p:cNvCxnSpPr>
            <a:stCxn id="80" idx="3"/>
            <a:endCxn id="133" idx="1"/>
          </p:cNvCxnSpPr>
          <p:nvPr/>
        </p:nvCxnSpPr>
        <p:spPr bwMode="auto">
          <a:xfrm>
            <a:off x="2867767" y="1437809"/>
            <a:ext cx="732959" cy="840823"/>
          </a:xfrm>
          <a:prstGeom prst="bentConnector3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2" name="직사각형 124">
            <a:extLst>
              <a:ext uri="{FF2B5EF4-FFF2-40B4-BE49-F238E27FC236}">
                <a16:creationId xmlns:a16="http://schemas.microsoft.com/office/drawing/2014/main" id="{0305FEA7-8DDD-400A-8701-871743A9536F}"/>
              </a:ext>
            </a:extLst>
          </p:cNvPr>
          <p:cNvSpPr/>
          <p:nvPr/>
        </p:nvSpPr>
        <p:spPr>
          <a:xfrm>
            <a:off x="3611236" y="3601250"/>
            <a:ext cx="1183477" cy="37207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Vision inspection  </a:t>
            </a:r>
            <a:endParaRPr lang="en-US" sz="1100" dirty="0">
              <a:solidFill>
                <a:schemeClr val="tx1"/>
              </a:solidFill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43" name="직사각형 124">
            <a:extLst>
              <a:ext uri="{FF2B5EF4-FFF2-40B4-BE49-F238E27FC236}">
                <a16:creationId xmlns:a16="http://schemas.microsoft.com/office/drawing/2014/main" id="{62426F6B-E698-4FE5-9C3E-746C1F23A6DD}"/>
              </a:ext>
            </a:extLst>
          </p:cNvPr>
          <p:cNvSpPr/>
          <p:nvPr/>
        </p:nvSpPr>
        <p:spPr>
          <a:xfrm>
            <a:off x="5423821" y="3602845"/>
            <a:ext cx="1427220" cy="3774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OK/NG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BE4B9EBF-958E-44EE-A7F4-D9C0F83C48C6}"/>
              </a:ext>
            </a:extLst>
          </p:cNvPr>
          <p:cNvCxnSpPr>
            <a:cxnSpLocks/>
            <a:stCxn id="82" idx="3"/>
            <a:endCxn id="142" idx="1"/>
          </p:cNvCxnSpPr>
          <p:nvPr/>
        </p:nvCxnSpPr>
        <p:spPr bwMode="auto">
          <a:xfrm flipV="1">
            <a:off x="2863573" y="3787290"/>
            <a:ext cx="747663" cy="3846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5A3B422C-605D-4169-B2D8-A5C253EC9EB2}"/>
              </a:ext>
            </a:extLst>
          </p:cNvPr>
          <p:cNvCxnSpPr>
            <a:stCxn id="142" idx="3"/>
            <a:endCxn id="143" idx="1"/>
          </p:cNvCxnSpPr>
          <p:nvPr/>
        </p:nvCxnSpPr>
        <p:spPr bwMode="auto">
          <a:xfrm>
            <a:off x="4794713" y="3787290"/>
            <a:ext cx="629108" cy="4285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6" name="직사각형 124">
            <a:extLst>
              <a:ext uri="{FF2B5EF4-FFF2-40B4-BE49-F238E27FC236}">
                <a16:creationId xmlns:a16="http://schemas.microsoft.com/office/drawing/2014/main" id="{4CE21303-1EAA-4656-BAFA-D96B4DBE5030}"/>
              </a:ext>
            </a:extLst>
          </p:cNvPr>
          <p:cNvSpPr/>
          <p:nvPr/>
        </p:nvSpPr>
        <p:spPr>
          <a:xfrm>
            <a:off x="7322593" y="3579711"/>
            <a:ext cx="1586819" cy="41643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Broken pin connector _ check PCBA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63A3B3EC-9EF6-4863-90E3-A1EF5FD8A469}"/>
              </a:ext>
            </a:extLst>
          </p:cNvPr>
          <p:cNvCxnSpPr>
            <a:stCxn id="143" idx="3"/>
            <a:endCxn id="146" idx="1"/>
          </p:cNvCxnSpPr>
          <p:nvPr/>
        </p:nvCxnSpPr>
        <p:spPr bwMode="auto">
          <a:xfrm flipV="1">
            <a:off x="6851041" y="3787927"/>
            <a:ext cx="471552" cy="3648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8" name="직사각형 124">
            <a:extLst>
              <a:ext uri="{FF2B5EF4-FFF2-40B4-BE49-F238E27FC236}">
                <a16:creationId xmlns:a16="http://schemas.microsoft.com/office/drawing/2014/main" id="{36E791B4-D43B-4265-A6B4-D53A57E44B5E}"/>
              </a:ext>
            </a:extLst>
          </p:cNvPr>
          <p:cNvSpPr/>
          <p:nvPr/>
        </p:nvSpPr>
        <p:spPr>
          <a:xfrm>
            <a:off x="9103367" y="3589332"/>
            <a:ext cx="717728" cy="39591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4P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B77A7FFE-0C8A-446E-A635-68E3CD0C6434}"/>
              </a:ext>
            </a:extLst>
          </p:cNvPr>
          <p:cNvCxnSpPr>
            <a:stCxn id="146" idx="3"/>
            <a:endCxn id="148" idx="1"/>
          </p:cNvCxnSpPr>
          <p:nvPr/>
        </p:nvCxnSpPr>
        <p:spPr bwMode="auto">
          <a:xfrm flipV="1">
            <a:off x="8909412" y="3787289"/>
            <a:ext cx="193955" cy="638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0" name="직사각형 124">
            <a:extLst>
              <a:ext uri="{FF2B5EF4-FFF2-40B4-BE49-F238E27FC236}">
                <a16:creationId xmlns:a16="http://schemas.microsoft.com/office/drawing/2014/main" id="{0AE790EE-42CA-46DB-9C67-B525F0AB52D4}"/>
              </a:ext>
            </a:extLst>
          </p:cNvPr>
          <p:cNvSpPr/>
          <p:nvPr/>
        </p:nvSpPr>
        <p:spPr>
          <a:xfrm>
            <a:off x="3611236" y="4305341"/>
            <a:ext cx="1183477" cy="37207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Uniformity Function</a:t>
            </a:r>
          </a:p>
        </p:txBody>
      </p:sp>
      <p:sp>
        <p:nvSpPr>
          <p:cNvPr id="151" name="직사각형 124">
            <a:extLst>
              <a:ext uri="{FF2B5EF4-FFF2-40B4-BE49-F238E27FC236}">
                <a16:creationId xmlns:a16="http://schemas.microsoft.com/office/drawing/2014/main" id="{D3F97F42-8799-48E5-828C-09E5B9547B99}"/>
              </a:ext>
            </a:extLst>
          </p:cNvPr>
          <p:cNvSpPr/>
          <p:nvPr/>
        </p:nvSpPr>
        <p:spPr>
          <a:xfrm>
            <a:off x="5415782" y="4302650"/>
            <a:ext cx="1427220" cy="3774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Black Uniformity value</a:t>
            </a:r>
          </a:p>
        </p:txBody>
      </p:sp>
      <p:sp>
        <p:nvSpPr>
          <p:cNvPr id="152" name="직사각형 124">
            <a:extLst>
              <a:ext uri="{FF2B5EF4-FFF2-40B4-BE49-F238E27FC236}">
                <a16:creationId xmlns:a16="http://schemas.microsoft.com/office/drawing/2014/main" id="{BAAAC5BF-A9D0-4AB1-9C51-16B507F54707}"/>
              </a:ext>
            </a:extLst>
          </p:cNvPr>
          <p:cNvSpPr/>
          <p:nvPr/>
        </p:nvSpPr>
        <p:spPr>
          <a:xfrm>
            <a:off x="7314554" y="4283165"/>
            <a:ext cx="1586819" cy="41643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Improve software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1FCE3D2B-E47F-4158-BC3E-45641036C501}"/>
              </a:ext>
            </a:extLst>
          </p:cNvPr>
          <p:cNvCxnSpPr>
            <a:stCxn id="151" idx="3"/>
            <a:endCxn id="152" idx="1"/>
          </p:cNvCxnSpPr>
          <p:nvPr/>
        </p:nvCxnSpPr>
        <p:spPr bwMode="auto">
          <a:xfrm>
            <a:off x="6843002" y="4491380"/>
            <a:ext cx="471552" cy="1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4" name="직사각형 124">
            <a:extLst>
              <a:ext uri="{FF2B5EF4-FFF2-40B4-BE49-F238E27FC236}">
                <a16:creationId xmlns:a16="http://schemas.microsoft.com/office/drawing/2014/main" id="{3516D6A5-27AD-46A3-973D-D80D98036E6A}"/>
              </a:ext>
            </a:extLst>
          </p:cNvPr>
          <p:cNvSpPr/>
          <p:nvPr/>
        </p:nvSpPr>
        <p:spPr>
          <a:xfrm>
            <a:off x="9095328" y="4293424"/>
            <a:ext cx="717728" cy="39591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HQ R&amp;D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B9C13566-EC93-4265-A18F-B0021B2B7EB7}"/>
              </a:ext>
            </a:extLst>
          </p:cNvPr>
          <p:cNvCxnSpPr>
            <a:stCxn id="152" idx="3"/>
            <a:endCxn id="154" idx="1"/>
          </p:cNvCxnSpPr>
          <p:nvPr/>
        </p:nvCxnSpPr>
        <p:spPr bwMode="auto">
          <a:xfrm>
            <a:off x="8901373" y="4491381"/>
            <a:ext cx="193955" cy="0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EE98B9DB-2F73-44E0-A4B7-1C2294C77F41}"/>
              </a:ext>
            </a:extLst>
          </p:cNvPr>
          <p:cNvCxnSpPr>
            <a:stCxn id="84" idx="3"/>
            <a:endCxn id="150" idx="1"/>
          </p:cNvCxnSpPr>
          <p:nvPr/>
        </p:nvCxnSpPr>
        <p:spPr bwMode="auto">
          <a:xfrm>
            <a:off x="2906129" y="4491381"/>
            <a:ext cx="705107" cy="0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17B29E93-358F-412B-8EE9-376F1E54E922}"/>
              </a:ext>
            </a:extLst>
          </p:cNvPr>
          <p:cNvCxnSpPr>
            <a:stCxn id="150" idx="3"/>
            <a:endCxn id="151" idx="1"/>
          </p:cNvCxnSpPr>
          <p:nvPr/>
        </p:nvCxnSpPr>
        <p:spPr bwMode="auto">
          <a:xfrm flipV="1">
            <a:off x="4794713" y="4491380"/>
            <a:ext cx="621069" cy="1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2" name="직사각형 124">
            <a:extLst>
              <a:ext uri="{FF2B5EF4-FFF2-40B4-BE49-F238E27FC236}">
                <a16:creationId xmlns:a16="http://schemas.microsoft.com/office/drawing/2014/main" id="{C8B5C315-7801-40E3-B498-3E8B9BBF2201}"/>
              </a:ext>
            </a:extLst>
          </p:cNvPr>
          <p:cNvSpPr/>
          <p:nvPr/>
        </p:nvSpPr>
        <p:spPr>
          <a:xfrm>
            <a:off x="5442125" y="2770742"/>
            <a:ext cx="1427220" cy="39591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Press issue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103" name="직사각형 124">
            <a:extLst>
              <a:ext uri="{FF2B5EF4-FFF2-40B4-BE49-F238E27FC236}">
                <a16:creationId xmlns:a16="http://schemas.microsoft.com/office/drawing/2014/main" id="{A4119634-9D53-4264-95EF-9FDD42663EEB}"/>
              </a:ext>
            </a:extLst>
          </p:cNvPr>
          <p:cNvSpPr/>
          <p:nvPr/>
        </p:nvSpPr>
        <p:spPr>
          <a:xfrm>
            <a:off x="7322594" y="2770493"/>
            <a:ext cx="1586819" cy="39591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Machine issue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165DDAC-7633-4601-A444-E5BBD01B2A39}"/>
              </a:ext>
            </a:extLst>
          </p:cNvPr>
          <p:cNvCxnSpPr>
            <a:cxnSpLocks/>
            <a:stCxn id="102" idx="3"/>
            <a:endCxn id="103" idx="1"/>
          </p:cNvCxnSpPr>
          <p:nvPr/>
        </p:nvCxnSpPr>
        <p:spPr>
          <a:xfrm flipV="1">
            <a:off x="6869345" y="2968450"/>
            <a:ext cx="453249" cy="24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24">
            <a:extLst>
              <a:ext uri="{FF2B5EF4-FFF2-40B4-BE49-F238E27FC236}">
                <a16:creationId xmlns:a16="http://schemas.microsoft.com/office/drawing/2014/main" id="{48B5DAA3-78C9-4A01-8597-09D71D267F55}"/>
              </a:ext>
            </a:extLst>
          </p:cNvPr>
          <p:cNvSpPr/>
          <p:nvPr/>
        </p:nvSpPr>
        <p:spPr>
          <a:xfrm>
            <a:off x="9111999" y="2764628"/>
            <a:ext cx="717728" cy="39591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PE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8E573D0C-F15D-422F-9815-4243D629C9C6}"/>
              </a:ext>
            </a:extLst>
          </p:cNvPr>
          <p:cNvCxnSpPr>
            <a:stCxn id="103" idx="3"/>
            <a:endCxn id="105" idx="1"/>
          </p:cNvCxnSpPr>
          <p:nvPr/>
        </p:nvCxnSpPr>
        <p:spPr bwMode="auto">
          <a:xfrm flipV="1">
            <a:off x="8909413" y="2962585"/>
            <a:ext cx="202586" cy="58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A760D584-FE14-4A07-A203-DF8D74E49AB6}"/>
              </a:ext>
            </a:extLst>
          </p:cNvPr>
          <p:cNvCxnSpPr>
            <a:cxnSpLocks/>
            <a:stCxn id="77" idx="3"/>
            <a:endCxn id="71" idx="1"/>
          </p:cNvCxnSpPr>
          <p:nvPr/>
        </p:nvCxnSpPr>
        <p:spPr bwMode="auto">
          <a:xfrm>
            <a:off x="4822973" y="1454063"/>
            <a:ext cx="643866" cy="828615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C1F8D30-0795-4E02-8495-4E7F32CF5825}"/>
              </a:ext>
            </a:extLst>
          </p:cNvPr>
          <p:cNvSpPr/>
          <p:nvPr/>
        </p:nvSpPr>
        <p:spPr>
          <a:xfrm>
            <a:off x="5586179" y="2455146"/>
            <a:ext cx="123463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8.0% 500,529 </a:t>
            </a:r>
            <a:r>
              <a:rPr lang="vi-VN" sz="11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PPM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8BDDDF13-4FBF-4C56-A750-AF19D4267FDE}"/>
              </a:ext>
            </a:extLst>
          </p:cNvPr>
          <p:cNvCxnSpPr>
            <a:cxnSpLocks/>
            <a:endCxn id="114" idx="1"/>
          </p:cNvCxnSpPr>
          <p:nvPr/>
        </p:nvCxnSpPr>
        <p:spPr bwMode="auto">
          <a:xfrm>
            <a:off x="2905432" y="4484012"/>
            <a:ext cx="718099" cy="629743"/>
          </a:xfrm>
          <a:prstGeom prst="bentConnector3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4" name="직사각형 124">
            <a:extLst>
              <a:ext uri="{FF2B5EF4-FFF2-40B4-BE49-F238E27FC236}">
                <a16:creationId xmlns:a16="http://schemas.microsoft.com/office/drawing/2014/main" id="{73CA28FC-A3CF-4772-8A03-2AD7BD41ABCE}"/>
              </a:ext>
            </a:extLst>
          </p:cNvPr>
          <p:cNvSpPr/>
          <p:nvPr/>
        </p:nvSpPr>
        <p:spPr>
          <a:xfrm>
            <a:off x="3623531" y="4927715"/>
            <a:ext cx="1183477" cy="37207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Function issue</a:t>
            </a:r>
            <a:endParaRPr lang="en-US" sz="1100" dirty="0">
              <a:solidFill>
                <a:schemeClr val="tx1"/>
              </a:solidFill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19" name="직사각형 124">
            <a:extLst>
              <a:ext uri="{FF2B5EF4-FFF2-40B4-BE49-F238E27FC236}">
                <a16:creationId xmlns:a16="http://schemas.microsoft.com/office/drawing/2014/main" id="{8BE6DDEC-6FF4-41A8-A844-E312B40B1A56}"/>
              </a:ext>
            </a:extLst>
          </p:cNvPr>
          <p:cNvSpPr/>
          <p:nvPr/>
        </p:nvSpPr>
        <p:spPr>
          <a:xfrm>
            <a:off x="5423821" y="4917107"/>
            <a:ext cx="1427220" cy="3774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Sleep curent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120" name="직사각형 124">
            <a:extLst>
              <a:ext uri="{FF2B5EF4-FFF2-40B4-BE49-F238E27FC236}">
                <a16:creationId xmlns:a16="http://schemas.microsoft.com/office/drawing/2014/main" id="{567FB3B8-C7FD-4EF8-96AB-8320B0535191}"/>
              </a:ext>
            </a:extLst>
          </p:cNvPr>
          <p:cNvSpPr/>
          <p:nvPr/>
        </p:nvSpPr>
        <p:spPr>
          <a:xfrm>
            <a:off x="7322593" y="4897622"/>
            <a:ext cx="1586819" cy="41643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Improve program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F60C3C0-F4F6-41A9-A5C3-CA4428182483}"/>
              </a:ext>
            </a:extLst>
          </p:cNvPr>
          <p:cNvCxnSpPr>
            <a:stCxn id="119" idx="3"/>
            <a:endCxn id="120" idx="1"/>
          </p:cNvCxnSpPr>
          <p:nvPr/>
        </p:nvCxnSpPr>
        <p:spPr bwMode="auto">
          <a:xfrm>
            <a:off x="6851041" y="5105837"/>
            <a:ext cx="471552" cy="1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2" name="직사각형 124">
            <a:extLst>
              <a:ext uri="{FF2B5EF4-FFF2-40B4-BE49-F238E27FC236}">
                <a16:creationId xmlns:a16="http://schemas.microsoft.com/office/drawing/2014/main" id="{160F611F-63BC-4E78-A158-5AC7E4D68CE2}"/>
              </a:ext>
            </a:extLst>
          </p:cNvPr>
          <p:cNvSpPr/>
          <p:nvPr/>
        </p:nvSpPr>
        <p:spPr>
          <a:xfrm>
            <a:off x="9103367" y="4907881"/>
            <a:ext cx="717728" cy="39591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/>
                <a:cs typeface="Arial" panose="020B0604020202020204" pitchFamily="34" charset="0"/>
              </a:rPr>
              <a:t>HQ R&amp;D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3719E67-369F-4BE9-AF8F-1E482D8E36E7}"/>
              </a:ext>
            </a:extLst>
          </p:cNvPr>
          <p:cNvCxnSpPr>
            <a:stCxn id="120" idx="3"/>
            <a:endCxn id="122" idx="1"/>
          </p:cNvCxnSpPr>
          <p:nvPr/>
        </p:nvCxnSpPr>
        <p:spPr bwMode="auto">
          <a:xfrm>
            <a:off x="8909412" y="5105838"/>
            <a:ext cx="193955" cy="0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570369DE-ABA5-4E3C-BB01-B6B6AFBE1E8F}"/>
              </a:ext>
            </a:extLst>
          </p:cNvPr>
          <p:cNvCxnSpPr>
            <a:endCxn id="119" idx="1"/>
          </p:cNvCxnSpPr>
          <p:nvPr/>
        </p:nvCxnSpPr>
        <p:spPr bwMode="auto">
          <a:xfrm flipV="1">
            <a:off x="4802752" y="5105837"/>
            <a:ext cx="621069" cy="1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98AABE2-0516-DC19-ACD9-98F19B5ECCC5}"/>
              </a:ext>
            </a:extLst>
          </p:cNvPr>
          <p:cNvSpPr/>
          <p:nvPr/>
        </p:nvSpPr>
        <p:spPr bwMode="auto">
          <a:xfrm>
            <a:off x="9095328" y="1835063"/>
            <a:ext cx="887916" cy="355406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7148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51235-0060-EF93-23C6-85C3382FE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제목 1">
            <a:extLst>
              <a:ext uri="{FF2B5EF4-FFF2-40B4-BE49-F238E27FC236}">
                <a16:creationId xmlns:a16="http://schemas.microsoft.com/office/drawing/2014/main" id="{DD7420A9-0F4F-F771-53D6-2B77FCC59CFA}"/>
              </a:ext>
            </a:extLst>
          </p:cNvPr>
          <p:cNvSpPr txBox="1">
            <a:spLocks/>
          </p:cNvSpPr>
          <p:nvPr/>
        </p:nvSpPr>
        <p:spPr>
          <a:xfrm>
            <a:off x="56455" y="116632"/>
            <a:ext cx="3188549" cy="41805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r>
              <a:rPr lang="en-US" altLang="ko-KR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1.2 Pareto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856DA56-8AE0-6756-6200-A3E63C4FBF1F}"/>
              </a:ext>
            </a:extLst>
          </p:cNvPr>
          <p:cNvCxnSpPr/>
          <p:nvPr/>
        </p:nvCxnSpPr>
        <p:spPr>
          <a:xfrm>
            <a:off x="-12488" y="561513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AutoShape 55">
            <a:extLst>
              <a:ext uri="{FF2B5EF4-FFF2-40B4-BE49-F238E27FC236}">
                <a16:creationId xmlns:a16="http://schemas.microsoft.com/office/drawing/2014/main" id="{05F75FBF-4EEB-19CC-6386-1BB136F85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7650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95" name="AutoShape 56">
            <a:extLst>
              <a:ext uri="{FF2B5EF4-FFF2-40B4-BE49-F238E27FC236}">
                <a16:creationId xmlns:a16="http://schemas.microsoft.com/office/drawing/2014/main" id="{03B45F69-0EC7-DD7A-E05F-034793437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8675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Improve</a:t>
            </a:r>
          </a:p>
        </p:txBody>
      </p:sp>
      <p:sp>
        <p:nvSpPr>
          <p:cNvPr id="96" name="AutoShape 57">
            <a:extLst>
              <a:ext uri="{FF2B5EF4-FFF2-40B4-BE49-F238E27FC236}">
                <a16:creationId xmlns:a16="http://schemas.microsoft.com/office/drawing/2014/main" id="{50254BC3-2C10-F77E-918C-C411FF0A9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6525" y="225425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Analyze</a:t>
            </a:r>
          </a:p>
        </p:txBody>
      </p:sp>
      <p:sp>
        <p:nvSpPr>
          <p:cNvPr id="97" name="AutoShape 58">
            <a:extLst>
              <a:ext uri="{FF2B5EF4-FFF2-40B4-BE49-F238E27FC236}">
                <a16:creationId xmlns:a16="http://schemas.microsoft.com/office/drawing/2014/main" id="{7F675BC0-9A65-5537-8E2D-18D195454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013" y="22542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Measure</a:t>
            </a:r>
          </a:p>
        </p:txBody>
      </p:sp>
      <p:sp>
        <p:nvSpPr>
          <p:cNvPr id="98" name="AutoShape 59">
            <a:extLst>
              <a:ext uri="{FF2B5EF4-FFF2-40B4-BE49-F238E27FC236}">
                <a16:creationId xmlns:a16="http://schemas.microsoft.com/office/drawing/2014/main" id="{3C2C5ACA-C9BC-41B6-9FE1-3885F2027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80963"/>
            <a:ext cx="757238" cy="287337"/>
          </a:xfrm>
          <a:prstGeom prst="homePlate">
            <a:avLst>
              <a:gd name="adj" fmla="val 47193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Define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FF8182-9267-E5F1-B213-399FE9E10AAF}"/>
              </a:ext>
            </a:extLst>
          </p:cNvPr>
          <p:cNvSpPr/>
          <p:nvPr/>
        </p:nvSpPr>
        <p:spPr>
          <a:xfrm>
            <a:off x="3245004" y="974040"/>
            <a:ext cx="4790761" cy="1936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Add pareto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80:20 </a:t>
            </a:r>
          </a:p>
          <a:p>
            <a:pPr algn="ctr"/>
            <a:endParaRPr lang="en-US" sz="1100" dirty="0">
              <a:solidFill>
                <a:schemeClr val="tx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/>
            <a:endParaRPr lang="en-US" sz="1100" dirty="0">
              <a:solidFill>
                <a:schemeClr val="tx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/>
            <a:endParaRPr lang="en-US" sz="1100" dirty="0">
              <a:solidFill>
                <a:schemeClr val="tx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100" dirty="0" err="1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Giải</a:t>
            </a:r>
            <a:r>
              <a:rPr lang="en-US" sz="11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thích</a:t>
            </a:r>
            <a:r>
              <a:rPr lang="en-US" sz="11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80%</a:t>
            </a:r>
          </a:p>
          <a:p>
            <a:pPr marL="171450" indent="-171450" algn="ctr">
              <a:buFontTx/>
              <a:buChar char="-"/>
            </a:pPr>
            <a:r>
              <a:rPr lang="en-US" sz="11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Item </a:t>
            </a:r>
            <a:r>
              <a:rPr lang="en-US" sz="1100" dirty="0" err="1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PICxx</a:t>
            </a:r>
            <a:r>
              <a:rPr lang="en-US" sz="11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</a:p>
          <a:p>
            <a:pPr marL="171450" indent="-171450" algn="ctr">
              <a:buFontTx/>
              <a:buChar char="-"/>
            </a:pPr>
            <a:r>
              <a:rPr lang="en-US" sz="11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MFG xxx </a:t>
            </a:r>
          </a:p>
          <a:p>
            <a:pPr algn="ctr"/>
            <a:endParaRPr lang="en-US" sz="1100" dirty="0">
              <a:solidFill>
                <a:schemeClr val="tx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032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제목 1"/>
          <p:cNvSpPr txBox="1">
            <a:spLocks/>
          </p:cNvSpPr>
          <p:nvPr/>
        </p:nvSpPr>
        <p:spPr bwMode="auto">
          <a:xfrm>
            <a:off x="1609" y="100364"/>
            <a:ext cx="3860489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en-US" altLang="ko-KR" sz="20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1.2 Define project </a:t>
            </a:r>
            <a:r>
              <a:rPr lang="en-US" altLang="ko-KR" sz="2000" b="1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Y</a:t>
            </a:r>
            <a:endParaRPr lang="ko-KR" altLang="en-US" sz="2400" b="1" kern="0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CAB76A-2156-4EB2-A984-CE1DE5C98054}"/>
              </a:ext>
            </a:extLst>
          </p:cNvPr>
          <p:cNvSpPr/>
          <p:nvPr/>
        </p:nvSpPr>
        <p:spPr>
          <a:xfrm>
            <a:off x="207432" y="686965"/>
            <a:ext cx="828463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To reduce the flush between LCD and Panel main, Project Y is formed :“Flush “</a:t>
            </a:r>
          </a:p>
          <a:p>
            <a:r>
              <a:rPr lang="en-US" sz="1100" dirty="0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Flush (height) is the distance from the glass surface to the </a:t>
            </a:r>
            <a:r>
              <a:rPr lang="en-US" sz="1100" dirty="0" err="1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heightest</a:t>
            </a:r>
            <a:r>
              <a:rPr lang="en-US" sz="1100" dirty="0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 point of the panel main </a:t>
            </a:r>
          </a:p>
          <a:p>
            <a:endParaRPr lang="en-US" sz="1100" dirty="0"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80DAAD6-5666-473A-B884-D9E39BCDC7DD}"/>
              </a:ext>
            </a:extLst>
          </p:cNvPr>
          <p:cNvGrpSpPr/>
          <p:nvPr/>
        </p:nvGrpSpPr>
        <p:grpSpPr>
          <a:xfrm>
            <a:off x="2743846" y="2788512"/>
            <a:ext cx="2184215" cy="1408438"/>
            <a:chOff x="313954" y="2919663"/>
            <a:chExt cx="2184215" cy="1408438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9CBF263D-41B3-4E80-BD9C-20659BAF0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954" y="2919663"/>
              <a:ext cx="1622206" cy="1408438"/>
            </a:xfrm>
            <a:prstGeom prst="rect">
              <a:avLst/>
            </a:prstGeom>
          </p:spPr>
        </p:pic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B1C57EE-507C-497A-B368-EFEFF1A71B00}"/>
                </a:ext>
              </a:extLst>
            </p:cNvPr>
            <p:cNvSpPr/>
            <p:nvPr/>
          </p:nvSpPr>
          <p:spPr bwMode="auto">
            <a:xfrm>
              <a:off x="1432206" y="3402461"/>
              <a:ext cx="65078" cy="69511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17D958C-A609-4EE7-9046-15928D568565}"/>
                </a:ext>
              </a:extLst>
            </p:cNvPr>
            <p:cNvSpPr/>
            <p:nvPr/>
          </p:nvSpPr>
          <p:spPr bwMode="auto">
            <a:xfrm>
              <a:off x="1059979" y="3471972"/>
              <a:ext cx="65078" cy="69511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endParaRPr>
            </a:p>
          </p:txBody>
        </p:sp>
        <p:cxnSp>
          <p:nvCxnSpPr>
            <p:cNvPr id="30" name="직선 연결선 176">
              <a:extLst>
                <a:ext uri="{FF2B5EF4-FFF2-40B4-BE49-F238E27FC236}">
                  <a16:creationId xmlns:a16="http://schemas.microsoft.com/office/drawing/2014/main" id="{CAA9FBA6-6BF2-4182-80CB-B3BC667F75B1}"/>
                </a:ext>
              </a:extLst>
            </p:cNvPr>
            <p:cNvCxnSpPr>
              <a:cxnSpLocks/>
            </p:cNvCxnSpPr>
            <p:nvPr/>
          </p:nvCxnSpPr>
          <p:spPr>
            <a:xfrm>
              <a:off x="1464745" y="3451290"/>
              <a:ext cx="336945" cy="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</a:ln>
            <a:effectLst/>
          </p:spPr>
        </p:cxnSp>
        <p:cxnSp>
          <p:nvCxnSpPr>
            <p:cNvPr id="31" name="직선 연결선 177">
              <a:extLst>
                <a:ext uri="{FF2B5EF4-FFF2-40B4-BE49-F238E27FC236}">
                  <a16:creationId xmlns:a16="http://schemas.microsoft.com/office/drawing/2014/main" id="{0AC1E36A-0EC6-44CF-A323-7E15D7F1A55A}"/>
                </a:ext>
              </a:extLst>
            </p:cNvPr>
            <p:cNvCxnSpPr>
              <a:cxnSpLocks/>
            </p:cNvCxnSpPr>
            <p:nvPr/>
          </p:nvCxnSpPr>
          <p:spPr>
            <a:xfrm>
              <a:off x="1091282" y="3516875"/>
              <a:ext cx="710408" cy="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</a:ln>
            <a:effectLst/>
          </p:spPr>
        </p:cxnSp>
        <p:cxnSp>
          <p:nvCxnSpPr>
            <p:cNvPr id="34" name="직선 화살표 연결선 180">
              <a:extLst>
                <a:ext uri="{FF2B5EF4-FFF2-40B4-BE49-F238E27FC236}">
                  <a16:creationId xmlns:a16="http://schemas.microsoft.com/office/drawing/2014/main" id="{ABB459ED-F461-426A-B39A-1F30D5F3B8B4}"/>
                </a:ext>
              </a:extLst>
            </p:cNvPr>
            <p:cNvCxnSpPr>
              <a:cxnSpLocks/>
            </p:cNvCxnSpPr>
            <p:nvPr/>
          </p:nvCxnSpPr>
          <p:spPr>
            <a:xfrm>
              <a:off x="1727909" y="3319240"/>
              <a:ext cx="0" cy="125376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tailEnd type="triangle" w="sm" len="med"/>
            </a:ln>
            <a:effectLst/>
          </p:spPr>
        </p:cxnSp>
        <p:cxnSp>
          <p:nvCxnSpPr>
            <p:cNvPr id="35" name="직선 화살표 연결선 181">
              <a:extLst>
                <a:ext uri="{FF2B5EF4-FFF2-40B4-BE49-F238E27FC236}">
                  <a16:creationId xmlns:a16="http://schemas.microsoft.com/office/drawing/2014/main" id="{2FC277C8-E08C-4D97-97A5-7B2B2B433B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7909" y="3504031"/>
              <a:ext cx="0" cy="188601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tailEnd type="triangle" w="sm" len="med"/>
            </a:ln>
            <a:effectLst/>
          </p:spPr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3A51F01-4A4D-4240-B238-B0DF0B007076}"/>
                </a:ext>
              </a:extLst>
            </p:cNvPr>
            <p:cNvSpPr txBox="1"/>
            <p:nvPr/>
          </p:nvSpPr>
          <p:spPr>
            <a:xfrm>
              <a:off x="1722351" y="3559398"/>
              <a:ext cx="7758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>
                  <a:solidFill>
                    <a:srgbClr val="FF0000"/>
                  </a:solidFill>
                  <a:latin typeface="Arial Narrow" panose="020B0606020202030204" pitchFamily="34" charset="0"/>
                  <a:ea typeface="굴림"/>
                  <a:cs typeface="Arial"/>
                </a:rPr>
                <a:t>Flush (height</a:t>
              </a:r>
              <a:r>
                <a:rPr lang="en-US" altLang="ko-KR" sz="1100" dirty="0">
                  <a:solidFill>
                    <a:srgbClr val="FF0000"/>
                  </a:solidFill>
                  <a:latin typeface="Arial Narrow" panose="020B0606020202030204" pitchFamily="34" charset="0"/>
                  <a:ea typeface="굴림"/>
                  <a:cs typeface="Arial"/>
                </a:rPr>
                <a:t>)</a:t>
              </a:r>
              <a:endParaRPr lang="ko-KR" altLang="en-US" sz="1100" dirty="0">
                <a:solidFill>
                  <a:srgbClr val="FF0000"/>
                </a:solidFill>
                <a:latin typeface="Arial Narrow" panose="020B0606020202030204" pitchFamily="34" charset="0"/>
                <a:ea typeface="굴림"/>
                <a:cs typeface="Arial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9A4CCA0-6E3A-4D36-85D9-CE110DFA236C}"/>
              </a:ext>
            </a:extLst>
          </p:cNvPr>
          <p:cNvGrpSpPr/>
          <p:nvPr/>
        </p:nvGrpSpPr>
        <p:grpSpPr>
          <a:xfrm>
            <a:off x="229396" y="2673096"/>
            <a:ext cx="2282872" cy="1591138"/>
            <a:chOff x="2542491" y="3126393"/>
            <a:chExt cx="2282872" cy="159113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3A28741F-8E6B-43E5-BE50-642C2E42CAFD}"/>
                </a:ext>
              </a:extLst>
            </p:cNvPr>
            <p:cNvGrpSpPr/>
            <p:nvPr/>
          </p:nvGrpSpPr>
          <p:grpSpPr>
            <a:xfrm>
              <a:off x="2542491" y="3126393"/>
              <a:ext cx="2282872" cy="1591138"/>
              <a:chOff x="3193166" y="5393787"/>
              <a:chExt cx="1401332" cy="1099429"/>
            </a:xfrm>
          </p:grpSpPr>
          <p:cxnSp>
            <p:nvCxnSpPr>
              <p:cNvPr id="49" name="직선 연결선 176">
                <a:extLst>
                  <a:ext uri="{FF2B5EF4-FFF2-40B4-BE49-F238E27FC236}">
                    <a16:creationId xmlns:a16="http://schemas.microsoft.com/office/drawing/2014/main" id="{1918B3B4-9CDC-42F2-A79C-0050D1B3B366}"/>
                  </a:ext>
                </a:extLst>
              </p:cNvPr>
              <p:cNvCxnSpPr/>
              <p:nvPr/>
            </p:nvCxnSpPr>
            <p:spPr>
              <a:xfrm>
                <a:off x="3967919" y="6164721"/>
                <a:ext cx="219284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50" name="직선 연결선 177">
                <a:extLst>
                  <a:ext uri="{FF2B5EF4-FFF2-40B4-BE49-F238E27FC236}">
                    <a16:creationId xmlns:a16="http://schemas.microsoft.com/office/drawing/2014/main" id="{9258A20B-A6F9-4CC6-9B91-1858CBBF8DCB}"/>
                  </a:ext>
                </a:extLst>
              </p:cNvPr>
              <p:cNvCxnSpPr/>
              <p:nvPr/>
            </p:nvCxnSpPr>
            <p:spPr>
              <a:xfrm>
                <a:off x="3967919" y="6182988"/>
                <a:ext cx="219284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51" name="직선 화살표 연결선 180">
                <a:extLst>
                  <a:ext uri="{FF2B5EF4-FFF2-40B4-BE49-F238E27FC236}">
                    <a16:creationId xmlns:a16="http://schemas.microsoft.com/office/drawing/2014/main" id="{0A59574D-1007-40C3-AEB3-63CDD8A2EB0F}"/>
                  </a:ext>
                </a:extLst>
              </p:cNvPr>
              <p:cNvCxnSpPr/>
              <p:nvPr/>
            </p:nvCxnSpPr>
            <p:spPr>
              <a:xfrm>
                <a:off x="4139186" y="6050913"/>
                <a:ext cx="0" cy="108056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FF0000"/>
                </a:solidFill>
                <a:prstDash val="solid"/>
                <a:tailEnd type="triangle" w="sm" len="med"/>
              </a:ln>
              <a:effectLst/>
            </p:spPr>
          </p:cxnSp>
          <p:cxnSp>
            <p:nvCxnSpPr>
              <p:cNvPr id="52" name="직선 화살표 연결선 181">
                <a:extLst>
                  <a:ext uri="{FF2B5EF4-FFF2-40B4-BE49-F238E27FC236}">
                    <a16:creationId xmlns:a16="http://schemas.microsoft.com/office/drawing/2014/main" id="{2EAC955A-1564-48C7-ABCA-AC4EB7649852}"/>
                  </a:ext>
                </a:extLst>
              </p:cNvPr>
              <p:cNvCxnSpPr/>
              <p:nvPr/>
            </p:nvCxnSpPr>
            <p:spPr>
              <a:xfrm flipV="1">
                <a:off x="4139186" y="6188741"/>
                <a:ext cx="0" cy="145810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FF0000"/>
                </a:solidFill>
                <a:prstDash val="solid"/>
                <a:tailEnd type="triangle" w="sm" len="med"/>
              </a:ln>
              <a:effectLst/>
            </p:spPr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B43F793-2F48-41E5-88D9-554165C118B5}"/>
                  </a:ext>
                </a:extLst>
              </p:cNvPr>
              <p:cNvSpPr txBox="1"/>
              <p:nvPr/>
            </p:nvSpPr>
            <p:spPr>
              <a:xfrm>
                <a:off x="4089595" y="6208094"/>
                <a:ext cx="504903" cy="180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>
                    <a:solidFill>
                      <a:srgbClr val="FF0000"/>
                    </a:solidFill>
                    <a:latin typeface="Arial Narrow" panose="020B0606020202030204" pitchFamily="34" charset="0"/>
                    <a:ea typeface="굴림"/>
                    <a:cs typeface="Arial"/>
                  </a:rPr>
                  <a:t>Flush</a:t>
                </a:r>
                <a:endParaRPr lang="ko-KR" altLang="en-US" sz="1100">
                  <a:solidFill>
                    <a:srgbClr val="FF0000"/>
                  </a:solidFill>
                  <a:latin typeface="Arial Narrow" panose="020B0606020202030204" pitchFamily="34" charset="0"/>
                  <a:ea typeface="굴림"/>
                  <a:cs typeface="Arial"/>
                </a:endParaRPr>
              </a:p>
            </p:txBody>
          </p:sp>
          <p:pic>
            <p:nvPicPr>
              <p:cNvPr id="54" name="그림 186">
                <a:extLst>
                  <a:ext uri="{FF2B5EF4-FFF2-40B4-BE49-F238E27FC236}">
                    <a16:creationId xmlns:a16="http://schemas.microsoft.com/office/drawing/2014/main" id="{ACE7ACC9-5EB9-4649-A564-57491B5C5E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3193166" y="5922971"/>
                <a:ext cx="956980" cy="570245"/>
              </a:xfrm>
              <a:prstGeom prst="rect">
                <a:avLst/>
              </a:prstGeom>
            </p:spPr>
          </p:pic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F8A402C-EF5E-482A-913F-C4E226B2667D}"/>
                  </a:ext>
                </a:extLst>
              </p:cNvPr>
              <p:cNvSpPr txBox="1"/>
              <p:nvPr/>
            </p:nvSpPr>
            <p:spPr>
              <a:xfrm>
                <a:off x="3671656" y="5393787"/>
                <a:ext cx="754923" cy="180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>
                    <a:solidFill>
                      <a:srgbClr val="00660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/>
                  </a:rPr>
                  <a:t>Probe measurement</a:t>
                </a:r>
                <a:endParaRPr lang="en-US" altLang="ko-KR" sz="11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endParaRPr>
              </a:p>
            </p:txBody>
          </p:sp>
        </p:grpSp>
        <p:sp>
          <p:nvSpPr>
            <p:cNvPr id="48" name="Flowchart: Off-page Connector 47">
              <a:extLst>
                <a:ext uri="{FF2B5EF4-FFF2-40B4-BE49-F238E27FC236}">
                  <a16:creationId xmlns:a16="http://schemas.microsoft.com/office/drawing/2014/main" id="{4237E1F7-5D10-4D8A-A9E2-345D5EEEA250}"/>
                </a:ext>
              </a:extLst>
            </p:cNvPr>
            <p:cNvSpPr/>
            <p:nvPr/>
          </p:nvSpPr>
          <p:spPr>
            <a:xfrm>
              <a:off x="3640473" y="3491351"/>
              <a:ext cx="164147" cy="740873"/>
            </a:xfrm>
            <a:prstGeom prst="flowChartOffpageConnector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sp>
        <p:nvSpPr>
          <p:cNvPr id="57" name="AutoShape 55">
            <a:extLst>
              <a:ext uri="{FF2B5EF4-FFF2-40B4-BE49-F238E27FC236}">
                <a16:creationId xmlns:a16="http://schemas.microsoft.com/office/drawing/2014/main" id="{E3C0F883-2B92-4BF9-8E77-AA4ED1E1A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7650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58" name="AutoShape 56">
            <a:extLst>
              <a:ext uri="{FF2B5EF4-FFF2-40B4-BE49-F238E27FC236}">
                <a16:creationId xmlns:a16="http://schemas.microsoft.com/office/drawing/2014/main" id="{5335A6B3-7D95-4282-B471-03C4650C2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8675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Improve</a:t>
            </a:r>
          </a:p>
        </p:txBody>
      </p:sp>
      <p:sp>
        <p:nvSpPr>
          <p:cNvPr id="59" name="AutoShape 57">
            <a:extLst>
              <a:ext uri="{FF2B5EF4-FFF2-40B4-BE49-F238E27FC236}">
                <a16:creationId xmlns:a16="http://schemas.microsoft.com/office/drawing/2014/main" id="{FB3ADC31-29A3-4BC3-BF30-0D9070ED3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6525" y="225425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Analyze</a:t>
            </a:r>
          </a:p>
        </p:txBody>
      </p:sp>
      <p:sp>
        <p:nvSpPr>
          <p:cNvPr id="60" name="AutoShape 58">
            <a:extLst>
              <a:ext uri="{FF2B5EF4-FFF2-40B4-BE49-F238E27FC236}">
                <a16:creationId xmlns:a16="http://schemas.microsoft.com/office/drawing/2014/main" id="{418B3541-AC46-4FBD-B9E1-5A61F8241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013" y="22542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Measure</a:t>
            </a:r>
          </a:p>
        </p:txBody>
      </p:sp>
      <p:sp>
        <p:nvSpPr>
          <p:cNvPr id="61" name="AutoShape 59">
            <a:extLst>
              <a:ext uri="{FF2B5EF4-FFF2-40B4-BE49-F238E27FC236}">
                <a16:creationId xmlns:a16="http://schemas.microsoft.com/office/drawing/2014/main" id="{D4462CD0-19B4-4CA6-9DE9-4CE5CAC6B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80963"/>
            <a:ext cx="757238" cy="287337"/>
          </a:xfrm>
          <a:prstGeom prst="homePlate">
            <a:avLst>
              <a:gd name="adj" fmla="val 47193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Define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E84F0CC-9860-42D9-98C0-3A8FD3CB30BC}"/>
              </a:ext>
            </a:extLst>
          </p:cNvPr>
          <p:cNvSpPr/>
          <p:nvPr/>
        </p:nvSpPr>
        <p:spPr>
          <a:xfrm>
            <a:off x="2840566" y="3088307"/>
            <a:ext cx="54380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Glass</a:t>
            </a:r>
            <a:endParaRPr lang="en-US" sz="1100" dirty="0"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496454E-DD6B-400B-A270-CB2789B7E22F}"/>
              </a:ext>
            </a:extLst>
          </p:cNvPr>
          <p:cNvSpPr/>
          <p:nvPr/>
        </p:nvSpPr>
        <p:spPr>
          <a:xfrm>
            <a:off x="3730719" y="2688661"/>
            <a:ext cx="77581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Panel main</a:t>
            </a:r>
            <a:endParaRPr lang="en-US" sz="1100" dirty="0"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90A7254-388D-4939-A6CB-41CAC42E54B5}"/>
              </a:ext>
            </a:extLst>
          </p:cNvPr>
          <p:cNvCxnSpPr>
            <a:cxnSpLocks/>
            <a:stCxn id="38" idx="2"/>
          </p:cNvCxnSpPr>
          <p:nvPr/>
        </p:nvCxnSpPr>
        <p:spPr bwMode="auto">
          <a:xfrm flipH="1">
            <a:off x="3894637" y="2950271"/>
            <a:ext cx="223990" cy="138036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2EC38B1-B916-FB58-FB9A-8A1CD7CC7BC2}"/>
              </a:ext>
            </a:extLst>
          </p:cNvPr>
          <p:cNvSpPr txBox="1"/>
          <p:nvPr/>
        </p:nvSpPr>
        <p:spPr>
          <a:xfrm>
            <a:off x="3432132" y="4722312"/>
            <a:ext cx="332566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Chi </a:t>
            </a:r>
            <a:r>
              <a:rPr lang="en-US" dirty="0" err="1"/>
              <a:t>tiết</a:t>
            </a:r>
            <a:r>
              <a:rPr lang="en-US" dirty="0"/>
              <a:t> </a:t>
            </a:r>
          </a:p>
          <a:p>
            <a:r>
              <a:rPr lang="en-US" dirty="0"/>
              <a:t>3D</a:t>
            </a:r>
          </a:p>
        </p:txBody>
      </p:sp>
    </p:spTree>
    <p:extLst>
      <p:ext uri="{BB962C8B-B14F-4D97-AF65-F5344CB8AC3E}">
        <p14:creationId xmlns:p14="http://schemas.microsoft.com/office/powerpoint/2010/main" val="1774830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75">
            <a:extLst>
              <a:ext uri="{FF2B5EF4-FFF2-40B4-BE49-F238E27FC236}">
                <a16:creationId xmlns:a16="http://schemas.microsoft.com/office/drawing/2014/main" id="{66EE7E85-49E9-4783-A36C-C3FD64BB3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85" y="1355556"/>
            <a:ext cx="4780208" cy="93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73050" indent="-187325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latinLnBrk="1">
              <a:buFont typeface="맑은 고딕" panose="020B0503020000020004" pitchFamily="50" charset="-127"/>
              <a:buAutoNum type="arabicPeriod"/>
            </a:pPr>
            <a:r>
              <a:rPr kumimoji="0" lang="en-US" altLang="ko-KR" sz="1100" b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Equipment: </a:t>
            </a:r>
            <a:r>
              <a:rPr kumimoji="0" lang="en-US" altLang="ko-KR" sz="11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CMM (coordinate measurement machine) Mitoyoto </a:t>
            </a:r>
            <a:endParaRPr kumimoji="0" lang="en-US" altLang="ko-KR" sz="1100" b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latinLnBrk="1">
              <a:buFont typeface="맑은 고딕" panose="020B0503020000020004" pitchFamily="50" charset="-127"/>
              <a:buAutoNum type="arabicPeriod"/>
            </a:pPr>
            <a:r>
              <a:rPr kumimoji="0" lang="en-US" altLang="ko-KR" sz="1100" b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Resolution: 0.001 mm </a:t>
            </a:r>
          </a:p>
          <a:p>
            <a:pPr latinLnBrk="1">
              <a:buFont typeface="맑은 고딕" panose="020B0503020000020004" pitchFamily="50" charset="-127"/>
              <a:buAutoNum type="arabicPeriod"/>
            </a:pPr>
            <a:r>
              <a:rPr kumimoji="0" lang="en-US" altLang="ko-KR" sz="1100" b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Sample Selection: </a:t>
            </a:r>
          </a:p>
          <a:p>
            <a:pPr marL="85725" indent="0" latinLnBrk="1"/>
            <a:r>
              <a:rPr kumimoji="0" lang="en-US" altLang="ko-KR" sz="1100" b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Type 1: 1 people measure a sample, measure repeat 30 times</a:t>
            </a:r>
          </a:p>
          <a:p>
            <a:pPr marL="85725" indent="0" latinLnBrk="1"/>
            <a:r>
              <a:rPr kumimoji="0" lang="en-US" altLang="ko-KR" sz="1100" b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Type 2: </a:t>
            </a:r>
            <a:r>
              <a:rPr kumimoji="0" lang="en-US" altLang="ko-KR" sz="1100" b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 operators measure 10 samples, measure repeat 3 times (Blind and random)</a:t>
            </a:r>
            <a:endParaRPr kumimoji="0" lang="en-US" altLang="ko-KR" sz="1100" b="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56456" y="116632"/>
            <a:ext cx="3734290" cy="418058"/>
          </a:xfrm>
        </p:spPr>
        <p:txBody>
          <a:bodyPr>
            <a:normAutofit/>
          </a:bodyPr>
          <a:lstStyle/>
          <a:p>
            <a:r>
              <a:rPr lang="en-US" altLang="ko-KR">
                <a:latin typeface="Arial Narrow" panose="020B0606020202030204" pitchFamily="34" charset="0"/>
                <a:ea typeface="LG Smart_H Regular" pitchFamily="34" charset="-127"/>
              </a:rPr>
              <a:t>1</a:t>
            </a:r>
            <a:r>
              <a:rPr lang="vi-VN" altLang="ko-KR">
                <a:latin typeface="+mj-lt"/>
                <a:ea typeface="LG Smart_H Regular" pitchFamily="34" charset="-127"/>
              </a:rPr>
              <a:t> </a:t>
            </a:r>
            <a:r>
              <a:rPr lang="en-US" altLang="ko-KR" dirty="0">
                <a:latin typeface="Arial Narrow" panose="020B0606020202030204" pitchFamily="34" charset="0"/>
                <a:ea typeface="LG Smart_H Regular" pitchFamily="34" charset="-127"/>
              </a:rPr>
              <a:t>Preparation of Gage R&amp;R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-12488" y="561513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74">
            <a:extLst>
              <a:ext uri="{FF2B5EF4-FFF2-40B4-BE49-F238E27FC236}">
                <a16:creationId xmlns:a16="http://schemas.microsoft.com/office/drawing/2014/main" id="{1E1F4DCD-3CCD-4846-93CD-A18254EE3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85" y="4953496"/>
            <a:ext cx="482087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182563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85725" indent="0"/>
            <a:r>
              <a:rPr kumimoji="0" lang="en-US" altLang="ko-KR" sz="1100" b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4. </a:t>
            </a:r>
            <a:r>
              <a:rPr kumimoji="0" lang="en-US" altLang="ko-KR" sz="1100" b="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Blind test: </a:t>
            </a:r>
            <a:r>
              <a:rPr lang="en-US" altLang="ko-KR" sz="1100" b="0" dirty="0">
                <a:solidFill>
                  <a:schemeClr val="tx1"/>
                </a:solidFill>
                <a:latin typeface="Arial Narrow" panose="020B0606020202030204" pitchFamily="34" charset="0"/>
                <a:ea typeface="맑은 고딕" pitchFamily="50" charset="-127"/>
                <a:cs typeface="Arial" panose="020B0604020202020204" pitchFamily="34" charset="0"/>
              </a:rPr>
              <a:t>The measurer should not know the information of the   </a:t>
            </a:r>
          </a:p>
          <a:p>
            <a:pPr marL="85725" indent="0"/>
            <a:r>
              <a:rPr lang="en-US" altLang="ko-KR" sz="1100" b="0" dirty="0">
                <a:solidFill>
                  <a:schemeClr val="tx1"/>
                </a:solidFill>
                <a:latin typeface="Arial Narrow" panose="020B0606020202030204" pitchFamily="34" charset="0"/>
                <a:ea typeface="맑은 고딕" pitchFamily="50" charset="-127"/>
                <a:cs typeface="Arial" panose="020B0604020202020204" pitchFamily="34" charset="0"/>
              </a:rPr>
              <a:t>    sample to </a:t>
            </a:r>
            <a:r>
              <a:rPr lang="en-US" altLang="ko-KR" sz="1100" b="0">
                <a:solidFill>
                  <a:schemeClr val="tx1"/>
                </a:solidFill>
                <a:latin typeface="Arial Narrow" panose="020B0606020202030204" pitchFamily="34" charset="0"/>
                <a:ea typeface="맑은 고딕" pitchFamily="50" charset="-127"/>
                <a:cs typeface="Arial" panose="020B0604020202020204" pitchFamily="34" charset="0"/>
              </a:rPr>
              <a:t>be measured, including the specifications.</a:t>
            </a:r>
            <a:endParaRPr lang="en-US" altLang="ko-KR" sz="1100" b="0" dirty="0">
              <a:solidFill>
                <a:schemeClr val="tx1"/>
              </a:solidFill>
              <a:latin typeface="Arial Narrow" panose="020B0606020202030204" pitchFamily="34" charset="0"/>
              <a:ea typeface="맑은 고딕" pitchFamily="50" charset="-127"/>
              <a:cs typeface="Arial" panose="020B0604020202020204" pitchFamily="34" charset="0"/>
            </a:endParaRPr>
          </a:p>
          <a:p>
            <a:pPr marL="85725" indent="0"/>
            <a:r>
              <a:rPr kumimoji="0" lang="en-US" altLang="ko-KR" sz="1100" b="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5</a:t>
            </a:r>
            <a:r>
              <a:rPr kumimoji="0" lang="en-US" altLang="ko-KR" sz="1100" b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kumimoji="0" lang="en-US" altLang="ko-KR" sz="1100" b="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Random: </a:t>
            </a:r>
            <a:r>
              <a:rPr lang="en-US" altLang="ko-KR" sz="1100" b="0" dirty="0">
                <a:solidFill>
                  <a:schemeClr val="tx1"/>
                </a:solidFill>
                <a:latin typeface="Arial Narrow" panose="020B0606020202030204" pitchFamily="34" charset="0"/>
                <a:ea typeface="맑은 고딕" pitchFamily="50" charset="-127"/>
                <a:cs typeface="Arial" panose="020B0604020202020204" pitchFamily="34" charset="0"/>
              </a:rPr>
              <a:t>The measuring sequence of the measurer and the sample to be measured and the repetition are </a:t>
            </a:r>
            <a:r>
              <a:rPr lang="en-US" altLang="ko-KR" sz="1100" b="0">
                <a:solidFill>
                  <a:schemeClr val="tx1"/>
                </a:solidFill>
                <a:latin typeface="Arial Narrow" panose="020B0606020202030204" pitchFamily="34" charset="0"/>
                <a:ea typeface="맑은 고딕" pitchFamily="50" charset="-127"/>
                <a:cs typeface="Arial" panose="020B0604020202020204" pitchFamily="34" charset="0"/>
              </a:rPr>
              <a:t>determined randomly</a:t>
            </a:r>
            <a:endParaRPr lang="en-US" sz="1100" b="0" dirty="0">
              <a:solidFill>
                <a:schemeClr val="tx1"/>
              </a:solidFill>
              <a:latin typeface="Arial Narrow" panose="020B0606020202030204" pitchFamily="34" charset="0"/>
              <a:ea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50D879-356E-4F31-B8F9-217C5A758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8" y="1135063"/>
            <a:ext cx="27368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2563" indent="-182563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eaLnBrk="1" latinLnBrk="1" hangingPunct="1">
              <a:buFont typeface="Wingdings" panose="05000000000000000000" pitchFamily="2" charset="2"/>
              <a:buChar char="q"/>
            </a:pP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Measure System</a:t>
            </a:r>
            <a:endParaRPr lang="ko-KR" altLang="en-US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35" name="직선 연결선 135">
            <a:extLst>
              <a:ext uri="{FF2B5EF4-FFF2-40B4-BE49-F238E27FC236}">
                <a16:creationId xmlns:a16="http://schemas.microsoft.com/office/drawing/2014/main" id="{A915E7B1-5B69-43DA-A0DF-BDDC050D4DE4}"/>
              </a:ext>
            </a:extLst>
          </p:cNvPr>
          <p:cNvCxnSpPr/>
          <p:nvPr/>
        </p:nvCxnSpPr>
        <p:spPr>
          <a:xfrm>
            <a:off x="5025008" y="1151214"/>
            <a:ext cx="0" cy="5148262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3">
            <a:extLst>
              <a:ext uri="{FF2B5EF4-FFF2-40B4-BE49-F238E27FC236}">
                <a16:creationId xmlns:a16="http://schemas.microsoft.com/office/drawing/2014/main" id="{B06093BB-830B-459E-B00D-A625FA58D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2587" y="1151214"/>
            <a:ext cx="27368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2563" indent="-182563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eaLnBrk="1" latinLnBrk="1" hangingPunct="1">
              <a:buFont typeface="Wingdings" panose="05000000000000000000" pitchFamily="2" charset="2"/>
              <a:buChar char="q"/>
            </a:pP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How to get sample (sampling)</a:t>
            </a:r>
            <a:endParaRPr lang="ko-KR" altLang="en-US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5" name="AutoShape 55">
            <a:extLst>
              <a:ext uri="{FF2B5EF4-FFF2-40B4-BE49-F238E27FC236}">
                <a16:creationId xmlns:a16="http://schemas.microsoft.com/office/drawing/2014/main" id="{7542052E-2569-4B48-A273-BD7FC343F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7650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26" name="AutoShape 56">
            <a:extLst>
              <a:ext uri="{FF2B5EF4-FFF2-40B4-BE49-F238E27FC236}">
                <a16:creationId xmlns:a16="http://schemas.microsoft.com/office/drawing/2014/main" id="{841E5891-BC3A-4EC9-AD33-146792741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8675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Improve</a:t>
            </a:r>
          </a:p>
        </p:txBody>
      </p:sp>
      <p:sp>
        <p:nvSpPr>
          <p:cNvPr id="27" name="AutoShape 57">
            <a:extLst>
              <a:ext uri="{FF2B5EF4-FFF2-40B4-BE49-F238E27FC236}">
                <a16:creationId xmlns:a16="http://schemas.microsoft.com/office/drawing/2014/main" id="{09C4EFA7-7BE4-4732-B55F-3D62F02EF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6525" y="225425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Analyze</a:t>
            </a:r>
          </a:p>
        </p:txBody>
      </p:sp>
      <p:sp>
        <p:nvSpPr>
          <p:cNvPr id="28" name="AutoShape 58">
            <a:extLst>
              <a:ext uri="{FF2B5EF4-FFF2-40B4-BE49-F238E27FC236}">
                <a16:creationId xmlns:a16="http://schemas.microsoft.com/office/drawing/2014/main" id="{E18906F3-CA53-466B-B5D8-E07E96A93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013" y="22542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Measure</a:t>
            </a:r>
          </a:p>
        </p:txBody>
      </p:sp>
      <p:sp>
        <p:nvSpPr>
          <p:cNvPr id="29" name="AutoShape 59">
            <a:extLst>
              <a:ext uri="{FF2B5EF4-FFF2-40B4-BE49-F238E27FC236}">
                <a16:creationId xmlns:a16="http://schemas.microsoft.com/office/drawing/2014/main" id="{16C167CC-A398-4F53-BDB9-A341C3E4C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80963"/>
            <a:ext cx="757238" cy="287337"/>
          </a:xfrm>
          <a:prstGeom prst="homePlate">
            <a:avLst>
              <a:gd name="adj" fmla="val 47193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Define</a:t>
            </a:r>
          </a:p>
        </p:txBody>
      </p:sp>
      <p:sp>
        <p:nvSpPr>
          <p:cNvPr id="30" name="Text Box 14">
            <a:extLst>
              <a:ext uri="{FF2B5EF4-FFF2-40B4-BE49-F238E27FC236}">
                <a16:creationId xmlns:a16="http://schemas.microsoft.com/office/drawing/2014/main" id="{4B253ADA-8AF7-4F42-A5DC-B00555BD6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2" y="542788"/>
            <a:ext cx="8304213" cy="5856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281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Model</a:t>
            </a:r>
            <a:r>
              <a:rPr lang="en-US" altLang="ko-KR" sz="14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JLR EMA FCD</a:t>
            </a:r>
            <a:endParaRPr lang="en-US" altLang="ko-KR" sz="14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defTabSz="91281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Part name</a:t>
            </a:r>
            <a:r>
              <a:rPr lang="en-US" altLang="ko-KR" sz="14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Panel main</a:t>
            </a:r>
            <a:endParaRPr lang="ko-KR" altLang="en-US" sz="14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07AFD9-28A7-482C-9829-041A5F3E549B}"/>
              </a:ext>
            </a:extLst>
          </p:cNvPr>
          <p:cNvSpPr/>
          <p:nvPr/>
        </p:nvSpPr>
        <p:spPr>
          <a:xfrm>
            <a:off x="5116018" y="1414357"/>
            <a:ext cx="453116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1" dirty="0">
                <a:latin typeface="Arial Narrow" panose="020B0606020202030204" pitchFamily="34" charset="0"/>
                <a:ea typeface="맑은 고딕" pitchFamily="50" charset="-127"/>
              </a:rPr>
              <a:t>A sample which contains the entire spec or the dispersion of the process should be selected</a:t>
            </a:r>
          </a:p>
          <a:p>
            <a:pPr marL="228600" indent="-2286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b="1" kern="0" dirty="0">
                <a:latin typeface="Arial Narrow" panose="020B0606020202030204" pitchFamily="34" charset="0"/>
                <a:ea typeface="맑은 고딕" pitchFamily="50" charset="-127"/>
              </a:rPr>
              <a:t>   </a:t>
            </a:r>
            <a:r>
              <a:rPr kumimoji="0" lang="ko-KR" altLang="en-US" sz="1100" kern="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맑은 고딕" pitchFamily="50" charset="-127"/>
              </a:rPr>
              <a:t> </a:t>
            </a:r>
            <a:r>
              <a:rPr kumimoji="0" lang="en-US" altLang="ko-KR" sz="1100" kern="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맑은 고딕" pitchFamily="50" charset="-127"/>
              </a:rPr>
              <a:t>- Normally ± 10 to 20% is recommended, but it should be </a:t>
            </a:r>
            <a:r>
              <a:rPr kumimoji="0" lang="en-US" altLang="ko-KR" sz="1100" kern="0">
                <a:solidFill>
                  <a:sysClr val="windowText" lastClr="000000"/>
                </a:solidFill>
                <a:latin typeface="Arial Narrow" panose="020B0606020202030204" pitchFamily="34" charset="0"/>
                <a:ea typeface="맑은 고딕" pitchFamily="50" charset="-127"/>
              </a:rPr>
              <a:t>selected considering the </a:t>
            </a:r>
            <a:r>
              <a:rPr kumimoji="0" lang="en-US" altLang="ko-KR" sz="1100" kern="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맑은 고딕" pitchFamily="50" charset="-127"/>
              </a:rPr>
              <a:t>current state of the goods in stock!</a:t>
            </a:r>
          </a:p>
          <a:p>
            <a:pPr marL="228600" indent="-228600">
              <a:buNone/>
            </a:pPr>
            <a:r>
              <a:rPr kumimoji="0" lang="en-US" altLang="ko-KR" sz="1100" kern="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맑은 고딕" pitchFamily="50" charset="-127"/>
              </a:rPr>
              <a:t>   - </a:t>
            </a:r>
            <a:r>
              <a:rPr lang="en-US" sz="1100" dirty="0">
                <a:latin typeface="Arial Narrow" panose="020B0606020202030204" pitchFamily="34" charset="0"/>
              </a:rPr>
              <a:t>The choice of sample should reflect the state of the process</a:t>
            </a:r>
          </a:p>
          <a:p>
            <a:pPr marL="228600" indent="-228600">
              <a:buNone/>
            </a:pPr>
            <a:r>
              <a:rPr lang="en-US" sz="1100" dirty="0">
                <a:latin typeface="Arial Narrow" panose="020B0606020202030204" pitchFamily="34" charset="0"/>
              </a:rPr>
              <a:t>   -  Pick NG/OK samples, including sample near spec.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A9D899-B2C3-46E2-8E3E-E81A21A44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19" y="2379909"/>
            <a:ext cx="1901288" cy="24879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2A4AC3-84BE-4931-979B-883295C3C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302" y="2455376"/>
            <a:ext cx="1734620" cy="1459284"/>
          </a:xfrm>
          <a:prstGeom prst="rect">
            <a:avLst/>
          </a:prstGeom>
        </p:spPr>
      </p:pic>
      <p:sp>
        <p:nvSpPr>
          <p:cNvPr id="18" name="TextBox 74">
            <a:extLst>
              <a:ext uri="{FF2B5EF4-FFF2-40B4-BE49-F238E27FC236}">
                <a16:creationId xmlns:a16="http://schemas.microsoft.com/office/drawing/2014/main" id="{4ADA8C44-CDA7-4859-9B22-9FDF9BB0E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1016" y="3944956"/>
            <a:ext cx="110188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182563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85725" indent="0"/>
            <a:r>
              <a:rPr kumimoji="0" lang="en-US" altLang="ko-KR" sz="1100" b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Resolution </a:t>
            </a:r>
            <a:endParaRPr lang="en-US" sz="1100" b="0" dirty="0">
              <a:solidFill>
                <a:schemeClr val="tx1"/>
              </a:solidFill>
              <a:latin typeface="Arial Narrow" panose="020B0606020202030204" pitchFamily="34" charset="0"/>
              <a:ea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31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06E94B-341B-C0DE-C9FD-8E8B6DA4D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149" y="1884259"/>
            <a:ext cx="4123149" cy="2748766"/>
          </a:xfrm>
          <a:prstGeom prst="rect">
            <a:avLst/>
          </a:prstGeom>
        </p:spPr>
      </p:pic>
      <p:sp>
        <p:nvSpPr>
          <p:cNvPr id="7" name="제목 1"/>
          <p:cNvSpPr txBox="1">
            <a:spLocks/>
          </p:cNvSpPr>
          <p:nvPr/>
        </p:nvSpPr>
        <p:spPr>
          <a:xfrm>
            <a:off x="161491" y="547552"/>
            <a:ext cx="1900391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eaLnBrk="0" hangingPunct="0">
              <a:defRPr/>
            </a:pPr>
            <a:r>
              <a:rPr lang="en-US" altLang="ko-KR" sz="1400" b="1" kern="0">
                <a:solidFill>
                  <a:srgbClr val="000000"/>
                </a:solidFill>
                <a:latin typeface="Arial"/>
                <a:ea typeface="LG스마트체 Regular" panose="020B0600000101010101" pitchFamily="50" charset="-127"/>
                <a:cs typeface="+mj-cs"/>
              </a:rPr>
              <a:t>2.</a:t>
            </a:r>
            <a:r>
              <a:rPr lang="vi-VN" altLang="ko-KR" sz="1400" b="1" kern="0">
                <a:solidFill>
                  <a:srgbClr val="000000"/>
                </a:solidFill>
                <a:latin typeface="Arial"/>
                <a:ea typeface="LG스마트체 Regular" panose="020B0600000101010101" pitchFamily="50" charset="-127"/>
                <a:cs typeface="+mj-cs"/>
              </a:rPr>
              <a:t>1</a:t>
            </a:r>
            <a:r>
              <a:rPr lang="en-US" altLang="ko-KR" sz="14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</a:t>
            </a:r>
            <a:r>
              <a:rPr lang="en-US" altLang="ko-KR" sz="1400" b="1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Type 1 Study</a:t>
            </a:r>
            <a:endParaRPr lang="ko-KR" altLang="en-US" sz="1400" b="1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E8C0CE1-B90F-4CA4-A6FC-E2B4032F9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56" y="116632"/>
            <a:ext cx="3645211" cy="418058"/>
          </a:xfrm>
        </p:spPr>
        <p:txBody>
          <a:bodyPr>
            <a:normAutofit/>
          </a:bodyPr>
          <a:lstStyle/>
          <a:p>
            <a:r>
              <a:rPr lang="en-US" altLang="ko-KR">
                <a:latin typeface="Arial Narrow" panose="020B0606020202030204" pitchFamily="34" charset="0"/>
                <a:ea typeface="LG스마트체 Regular" panose="020B0600000101010101" pitchFamily="50" charset="-127"/>
              </a:rPr>
              <a:t>2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Result of </a:t>
            </a:r>
            <a:r>
              <a:rPr lang="en-US" altLang="ko-KR">
                <a:latin typeface="Arial Narrow" panose="020B0606020202030204" pitchFamily="34" charset="0"/>
                <a:ea typeface="LG스마트체 Regular" panose="020B0600000101010101" pitchFamily="50" charset="-127"/>
              </a:rPr>
              <a:t>Gage Study</a:t>
            </a:r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A3D55D-7EC9-427F-BAED-59A398563D64}"/>
              </a:ext>
            </a:extLst>
          </p:cNvPr>
          <p:cNvCxnSpPr/>
          <p:nvPr/>
        </p:nvCxnSpPr>
        <p:spPr>
          <a:xfrm>
            <a:off x="-12488" y="561513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utoShape 55">
            <a:extLst>
              <a:ext uri="{FF2B5EF4-FFF2-40B4-BE49-F238E27FC236}">
                <a16:creationId xmlns:a16="http://schemas.microsoft.com/office/drawing/2014/main" id="{75F57CB2-CFD6-4CFA-A765-D2C9D76B7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7650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20" name="AutoShape 56">
            <a:extLst>
              <a:ext uri="{FF2B5EF4-FFF2-40B4-BE49-F238E27FC236}">
                <a16:creationId xmlns:a16="http://schemas.microsoft.com/office/drawing/2014/main" id="{A6141158-D516-4CD8-BAB3-AF70A597B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8675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Improve</a:t>
            </a:r>
          </a:p>
        </p:txBody>
      </p:sp>
      <p:sp>
        <p:nvSpPr>
          <p:cNvPr id="21" name="AutoShape 57">
            <a:extLst>
              <a:ext uri="{FF2B5EF4-FFF2-40B4-BE49-F238E27FC236}">
                <a16:creationId xmlns:a16="http://schemas.microsoft.com/office/drawing/2014/main" id="{AEAF99E9-0F96-4A76-835B-7872B23F3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6525" y="225425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Analyze</a:t>
            </a:r>
          </a:p>
        </p:txBody>
      </p:sp>
      <p:sp>
        <p:nvSpPr>
          <p:cNvPr id="22" name="AutoShape 59">
            <a:extLst>
              <a:ext uri="{FF2B5EF4-FFF2-40B4-BE49-F238E27FC236}">
                <a16:creationId xmlns:a16="http://schemas.microsoft.com/office/drawing/2014/main" id="{E7A9A795-A3B4-43B7-AFF6-C9B627970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225425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Define</a:t>
            </a:r>
          </a:p>
        </p:txBody>
      </p:sp>
      <p:sp>
        <p:nvSpPr>
          <p:cNvPr id="23" name="AutoShape 58">
            <a:extLst>
              <a:ext uri="{FF2B5EF4-FFF2-40B4-BE49-F238E27FC236}">
                <a16:creationId xmlns:a16="http://schemas.microsoft.com/office/drawing/2014/main" id="{BD83A7E0-0117-4C9A-9322-FB26087CC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013" y="80963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Measure 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9CFC5F8-9B6B-4193-9E22-7AD86401E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788290"/>
              </p:ext>
            </p:extLst>
          </p:nvPr>
        </p:nvGraphicFramePr>
        <p:xfrm>
          <a:off x="104677" y="948418"/>
          <a:ext cx="4796166" cy="685800"/>
        </p:xfrm>
        <a:graphic>
          <a:graphicData uri="http://schemas.openxmlformats.org/drawingml/2006/table">
            <a:tbl>
              <a:tblPr/>
              <a:tblGrid>
                <a:gridCol w="707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2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18.June</a:t>
                      </a:r>
                      <a:r>
                        <a:rPr lang="vi-VN" sz="900" b="0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.202</a:t>
                      </a:r>
                      <a:r>
                        <a:rPr lang="en-US" sz="900" b="0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5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Equip</a:t>
                      </a:r>
                      <a:endParaRPr lang="en-US" sz="900" b="1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CMM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-0.2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Part 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ko-KR" sz="900"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ABA30132601</a:t>
                      </a:r>
                      <a:endParaRPr lang="en-US" altLang="ko-KR" sz="900" dirty="0"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vi-VN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IVI-SQA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900" b="1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+TOL</a:t>
                      </a:r>
                      <a:endParaRPr lang="en-US" sz="900" b="1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vi-VN" sz="900" b="0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+0</a:t>
                      </a:r>
                      <a:r>
                        <a:rPr lang="en-US" sz="900" b="0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Part 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>
                          <a:latin typeface="Arial Narrow" panose="020B0606020202030204" pitchFamily="34" charset="0"/>
                        </a:rPr>
                        <a:t>Bracket Mid Assy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Resolution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vi-VN" sz="900" b="0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0.0</a:t>
                      </a:r>
                      <a:r>
                        <a:rPr lang="en-US" sz="900" b="0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0</a:t>
                      </a:r>
                      <a:r>
                        <a:rPr lang="vi-VN" sz="900" b="0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1mm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900" b="1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-TOL</a:t>
                      </a:r>
                      <a:endParaRPr lang="en-US" sz="900" b="1" i="0" u="none" strike="noStrike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900" b="0" dirty="0">
                          <a:latin typeface="Arial Narrow" panose="020B0606020202030204" pitchFamily="34" charset="0"/>
                        </a:rPr>
                        <a:t>-0.</a:t>
                      </a:r>
                      <a:r>
                        <a:rPr lang="en-US" sz="900" b="0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423EB17-AB0A-40EF-BE1C-1C8393306A67}"/>
              </a:ext>
            </a:extLst>
          </p:cNvPr>
          <p:cNvSpPr txBox="1"/>
          <p:nvPr/>
        </p:nvSpPr>
        <p:spPr>
          <a:xfrm>
            <a:off x="2313772" y="5842337"/>
            <a:ext cx="7280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1100" dirty="0">
                <a:latin typeface="Arial Narrow" panose="020B0606020202030204" pitchFamily="34" charset="0"/>
                <a:cs typeface="Arial" pitchFamily="34" charset="0"/>
              </a:rPr>
              <a:t>Choose 1 QC member who skill well, measure 1 part 30 times same </a:t>
            </a:r>
            <a:r>
              <a:rPr lang="en-US" sz="1100">
                <a:latin typeface="Arial Narrow" panose="020B0606020202030204" pitchFamily="34" charset="0"/>
                <a:cs typeface="Arial" pitchFamily="34" charset="0"/>
              </a:rPr>
              <a:t>measure method to verify the measurement system, </a:t>
            </a:r>
            <a:r>
              <a:rPr lang="en-US" sz="1100" dirty="0">
                <a:latin typeface="Arial Narrow" panose="020B0606020202030204" pitchFamily="34" charset="0"/>
                <a:cs typeface="Arial" pitchFamily="34" charset="0"/>
              </a:rPr>
              <a:t>look at </a:t>
            </a:r>
            <a:r>
              <a:rPr lang="en-US" sz="1100">
                <a:latin typeface="Arial Narrow" panose="020B0606020202030204" pitchFamily="34" charset="0"/>
                <a:cs typeface="Arial" pitchFamily="34" charset="0"/>
              </a:rPr>
              <a:t>chart,</a:t>
            </a:r>
          </a:p>
          <a:p>
            <a:r>
              <a:rPr lang="en-US" sz="1100">
                <a:latin typeface="Arial Narrow" panose="020B0606020202030204" pitchFamily="34" charset="0"/>
                <a:cs typeface="Arial" pitchFamily="34" charset="0"/>
              </a:rPr>
              <a:t>we </a:t>
            </a:r>
            <a:r>
              <a:rPr lang="en-US" sz="1100" dirty="0">
                <a:latin typeface="Arial Narrow" panose="020B0606020202030204" pitchFamily="34" charset="0"/>
                <a:cs typeface="Arial" pitchFamily="34" charset="0"/>
              </a:rPr>
              <a:t>see “Resolution: 0.001&lt;5% of </a:t>
            </a:r>
            <a:r>
              <a:rPr lang="en-US" sz="1100" dirty="0" err="1">
                <a:latin typeface="Arial Narrow" panose="020B0606020202030204" pitchFamily="34" charset="0"/>
                <a:cs typeface="Arial" pitchFamily="34" charset="0"/>
              </a:rPr>
              <a:t>Tol</a:t>
            </a:r>
            <a:r>
              <a:rPr lang="en-US" sz="1100" dirty="0">
                <a:latin typeface="Arial Narrow" panose="020B0606020202030204" pitchFamily="34" charset="0"/>
                <a:cs typeface="Arial" pitchFamily="34" charset="0"/>
              </a:rPr>
              <a:t> ” </a:t>
            </a:r>
            <a:r>
              <a:rPr lang="en-US" sz="1100" dirty="0">
                <a:latin typeface="Arial Narrow" panose="020B0606020202030204" pitchFamily="34" charset="0"/>
                <a:cs typeface="Arial" pitchFamily="34" charset="0"/>
                <a:sym typeface="Wingdings" pitchFamily="2" charset="2"/>
              </a:rPr>
              <a:t></a:t>
            </a:r>
            <a:r>
              <a:rPr lang="en-US" sz="1100" dirty="0">
                <a:latin typeface="Arial Narrow" panose="020B0606020202030204" pitchFamily="34" charset="0"/>
                <a:cs typeface="Arial" pitchFamily="34" charset="0"/>
              </a:rPr>
              <a:t> Resolution of equipment is OK, Cg, </a:t>
            </a:r>
            <a:r>
              <a:rPr lang="en-US" sz="1100" dirty="0" err="1">
                <a:latin typeface="Arial Narrow" panose="020B0606020202030204" pitchFamily="34" charset="0"/>
                <a:cs typeface="Arial" pitchFamily="34" charset="0"/>
              </a:rPr>
              <a:t>Cgk</a:t>
            </a:r>
            <a:r>
              <a:rPr lang="en-US" sz="1100" dirty="0">
                <a:latin typeface="Arial Narrow" panose="020B0606020202030204" pitchFamily="34" charset="0"/>
                <a:cs typeface="Arial" pitchFamily="34" charset="0"/>
              </a:rPr>
              <a:t> &gt;1.33 (OK)</a:t>
            </a:r>
            <a:endParaRPr lang="en-US" sz="1100" dirty="0">
              <a:latin typeface="Arial Narrow" panose="020B0606020202030204" pitchFamily="34" charset="0"/>
              <a:cs typeface="Arial" pitchFamily="34" charset="0"/>
              <a:sym typeface="Wingdings" pitchFamily="2" charset="2"/>
            </a:endParaRPr>
          </a:p>
          <a:p>
            <a:r>
              <a:rPr lang="en-US" sz="1100" b="1" dirty="0">
                <a:latin typeface="Arial Narrow" panose="020B0606020202030204" pitchFamily="34" charset="0"/>
                <a:cs typeface="Arial" pitchFamily="34" charset="0"/>
              </a:rPr>
              <a:t>Conclusion</a:t>
            </a:r>
            <a:r>
              <a:rPr lang="en-US" sz="1100" dirty="0">
                <a:latin typeface="Arial Narrow" panose="020B0606020202030204" pitchFamily="34" charset="0"/>
                <a:cs typeface="Arial" pitchFamily="34" charset="0"/>
              </a:rPr>
              <a:t>: Equipment is OK and can use to measure and analysis.</a:t>
            </a:r>
            <a:endParaRPr lang="en-US" sz="1100" dirty="0">
              <a:latin typeface="Arial Narrow" panose="020B0606020202030204" pitchFamily="34" charset="0"/>
              <a:cs typeface="Arial" pitchFamily="34" charset="0"/>
              <a:sym typeface="Wingdings" pitchFamily="2" charset="2"/>
            </a:endParaRPr>
          </a:p>
          <a:p>
            <a:r>
              <a:rPr lang="en-US" sz="1100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03052E-422A-4249-9AB9-02DB46A52D58}"/>
              </a:ext>
            </a:extLst>
          </p:cNvPr>
          <p:cNvSpPr txBox="1"/>
          <p:nvPr/>
        </p:nvSpPr>
        <p:spPr>
          <a:xfrm>
            <a:off x="2686518" y="5078823"/>
            <a:ext cx="13708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u="sng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  <a:cs typeface="Arial" pitchFamily="34" charset="0"/>
              </a:rPr>
              <a:t>Result:</a:t>
            </a:r>
          </a:p>
          <a:p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  <a:cs typeface="Arial" pitchFamily="34" charset="0"/>
              </a:rPr>
              <a:t>- </a:t>
            </a:r>
            <a:r>
              <a:rPr lang="en-US" sz="1100" dirty="0" err="1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  <a:cs typeface="Arial" pitchFamily="34" charset="0"/>
              </a:rPr>
              <a:t>StDev</a:t>
            </a:r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  <a:cs typeface="Arial" pitchFamily="34" charset="0"/>
              </a:rPr>
              <a:t>: 0.0006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itchFamily="34" charset="-127"/>
              <a:cs typeface="Arial" pitchFamily="34" charset="0"/>
            </a:endParaRPr>
          </a:p>
          <a:p>
            <a:r>
              <a:rPr lang="en-US" sz="1100" dirty="0">
                <a:latin typeface="Arial Narrow" panose="020B0606020202030204" pitchFamily="34" charset="0"/>
                <a:ea typeface="LG Smart_H Regular" pitchFamily="34" charset="-127"/>
                <a:cs typeface="Arial" pitchFamily="34" charset="0"/>
              </a:rPr>
              <a:t>- Tolerance</a:t>
            </a:r>
            <a:r>
              <a:rPr lang="en-US" sz="1100">
                <a:latin typeface="Arial Narrow" panose="020B0606020202030204" pitchFamily="34" charset="0"/>
                <a:ea typeface="LG Smart_H Regular" pitchFamily="34" charset="-127"/>
                <a:cs typeface="Arial" pitchFamily="34" charset="0"/>
              </a:rPr>
              <a:t>: 0.1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itchFamily="34" charset="-127"/>
              <a:cs typeface="Arial" pitchFamily="34" charset="0"/>
            </a:endParaRPr>
          </a:p>
          <a:p>
            <a:pPr>
              <a:buFontTx/>
              <a:buChar char="-"/>
            </a:pPr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  <a:cs typeface="Arial" pitchFamily="34" charset="0"/>
              </a:rPr>
              <a:t> 6xStDev (SV</a:t>
            </a:r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  <a:cs typeface="Arial" pitchFamily="34" charset="0"/>
              </a:rPr>
              <a:t>): 0.0033</a:t>
            </a:r>
            <a:endParaRPr lang="en-US" sz="1100" dirty="0">
              <a:solidFill>
                <a:srgbClr val="000000"/>
              </a:solidFill>
              <a:latin typeface="Arial Narrow" panose="020B0606020202030204" pitchFamily="34" charset="0"/>
              <a:ea typeface="LG Smart_H Regular" pitchFamily="34" charset="-127"/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E2013D-0253-4332-B08C-C2A84A4083D7}"/>
              </a:ext>
            </a:extLst>
          </p:cNvPr>
          <p:cNvSpPr txBox="1"/>
          <p:nvPr/>
        </p:nvSpPr>
        <p:spPr>
          <a:xfrm>
            <a:off x="5989616" y="5150543"/>
            <a:ext cx="16139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 Narrow" panose="020B0606020202030204" pitchFamily="34" charset="0"/>
                <a:cs typeface="Arial" pitchFamily="34" charset="0"/>
              </a:rPr>
              <a:t>Capability</a:t>
            </a:r>
          </a:p>
          <a:p>
            <a:r>
              <a:rPr lang="en-US" sz="1100" dirty="0">
                <a:latin typeface="Arial Narrow" panose="020B0606020202030204" pitchFamily="34" charset="0"/>
                <a:cs typeface="Arial" pitchFamily="34" charset="0"/>
              </a:rPr>
              <a:t>- Cg: 23.98 &gt; 1.33</a:t>
            </a:r>
          </a:p>
          <a:p>
            <a:pPr>
              <a:buFontTx/>
              <a:buChar char="-"/>
            </a:pPr>
            <a:r>
              <a:rPr lang="en-US" sz="1100" dirty="0">
                <a:latin typeface="Arial Narrow" panose="020B0606020202030204" pitchFamily="34" charset="0"/>
                <a:cs typeface="Arial" pitchFamily="34" charset="0"/>
              </a:rPr>
              <a:t> </a:t>
            </a:r>
            <a:r>
              <a:rPr lang="en-US" sz="1100" dirty="0" err="1">
                <a:latin typeface="Arial Narrow" panose="020B0606020202030204" pitchFamily="34" charset="0"/>
                <a:cs typeface="Arial" pitchFamily="34" charset="0"/>
              </a:rPr>
              <a:t>Cgk</a:t>
            </a:r>
            <a:r>
              <a:rPr lang="en-US" sz="1100" dirty="0">
                <a:latin typeface="Arial Narrow" panose="020B0606020202030204" pitchFamily="34" charset="0"/>
                <a:cs typeface="Arial" pitchFamily="34" charset="0"/>
              </a:rPr>
              <a:t>: 23.96&gt; 1.33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916733-FDD6-40C7-9551-318E81250672}"/>
              </a:ext>
            </a:extLst>
          </p:cNvPr>
          <p:cNvSpPr/>
          <p:nvPr/>
        </p:nvSpPr>
        <p:spPr bwMode="auto">
          <a:xfrm>
            <a:off x="5915819" y="3888129"/>
            <a:ext cx="850900" cy="393700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돋움" pitchFamily="50" charset="-127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13E7E1-9011-486C-B964-305E7A526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306398"/>
              </p:ext>
            </p:extLst>
          </p:nvPr>
        </p:nvGraphicFramePr>
        <p:xfrm>
          <a:off x="533274" y="1771583"/>
          <a:ext cx="1528608" cy="4626793"/>
        </p:xfrm>
        <a:graphic>
          <a:graphicData uri="http://schemas.openxmlformats.org/drawingml/2006/table">
            <a:tbl>
              <a:tblPr/>
              <a:tblGrid>
                <a:gridCol w="764304">
                  <a:extLst>
                    <a:ext uri="{9D8B030D-6E8A-4147-A177-3AD203B41FA5}">
                      <a16:colId xmlns:a16="http://schemas.microsoft.com/office/drawing/2014/main" val="3896911482"/>
                    </a:ext>
                  </a:extLst>
                </a:gridCol>
                <a:gridCol w="764304">
                  <a:extLst>
                    <a:ext uri="{9D8B030D-6E8A-4147-A177-3AD203B41FA5}">
                      <a16:colId xmlns:a16="http://schemas.microsoft.com/office/drawing/2014/main" val="1162232725"/>
                    </a:ext>
                  </a:extLst>
                </a:gridCol>
              </a:tblGrid>
              <a:tr h="237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Reference Value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948110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Operator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Long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016707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Time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Data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520914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727548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289228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413259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559690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639635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64416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689673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-0.05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49334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308438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682959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89294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278706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897331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289327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013627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13010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841775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689332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-0.051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552791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320065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217099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391023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5906575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455799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754392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-0.05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6324259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8435711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263496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826601"/>
                  </a:ext>
                </a:extLst>
              </a:tr>
              <a:tr h="132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-0.049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31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161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-12488" y="561513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제목 1">
            <a:extLst>
              <a:ext uri="{FF2B5EF4-FFF2-40B4-BE49-F238E27FC236}">
                <a16:creationId xmlns:a16="http://schemas.microsoft.com/office/drawing/2014/main" id="{A021C556-1BAD-408B-BD71-14F833FE5B5B}"/>
              </a:ext>
            </a:extLst>
          </p:cNvPr>
          <p:cNvSpPr txBox="1">
            <a:spLocks/>
          </p:cNvSpPr>
          <p:nvPr/>
        </p:nvSpPr>
        <p:spPr>
          <a:xfrm>
            <a:off x="161491" y="574669"/>
            <a:ext cx="2209927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eaLnBrk="0" hangingPunct="0">
              <a:defRPr/>
            </a:pPr>
            <a:r>
              <a:rPr lang="en-US" altLang="ko-KR" sz="1600" b="1" kern="0">
                <a:solidFill>
                  <a:srgbClr val="000000"/>
                </a:solidFill>
                <a:latin typeface="Arial"/>
                <a:ea typeface="LG스마트체 Regular" panose="020B0600000101010101" pitchFamily="50" charset="-127"/>
                <a:cs typeface="+mj-cs"/>
              </a:rPr>
              <a:t>2.2</a:t>
            </a:r>
            <a:r>
              <a:rPr lang="en-US" altLang="ko-KR" sz="16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</a:t>
            </a:r>
            <a:r>
              <a:rPr lang="en-US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Type 2 study</a:t>
            </a:r>
            <a:endParaRPr lang="ko-KR" altLang="en-US" sz="1600" b="1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</p:txBody>
      </p:sp>
      <p:sp>
        <p:nvSpPr>
          <p:cNvPr id="11" name="AutoShape 55">
            <a:extLst>
              <a:ext uri="{FF2B5EF4-FFF2-40B4-BE49-F238E27FC236}">
                <a16:creationId xmlns:a16="http://schemas.microsoft.com/office/drawing/2014/main" id="{CEE901F8-7033-41D7-839C-6FF73C4D8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7650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12" name="AutoShape 56">
            <a:extLst>
              <a:ext uri="{FF2B5EF4-FFF2-40B4-BE49-F238E27FC236}">
                <a16:creationId xmlns:a16="http://schemas.microsoft.com/office/drawing/2014/main" id="{7EF44B9E-43EF-4D0A-A310-5AB001509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8675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Improve</a:t>
            </a:r>
          </a:p>
        </p:txBody>
      </p:sp>
      <p:sp>
        <p:nvSpPr>
          <p:cNvPr id="13" name="AutoShape 57">
            <a:extLst>
              <a:ext uri="{FF2B5EF4-FFF2-40B4-BE49-F238E27FC236}">
                <a16:creationId xmlns:a16="http://schemas.microsoft.com/office/drawing/2014/main" id="{202D91CA-BD82-47CE-A2FC-258CC1382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6525" y="225425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Analyze</a:t>
            </a:r>
          </a:p>
        </p:txBody>
      </p:sp>
      <p:sp>
        <p:nvSpPr>
          <p:cNvPr id="17" name="AutoShape 59">
            <a:extLst>
              <a:ext uri="{FF2B5EF4-FFF2-40B4-BE49-F238E27FC236}">
                <a16:creationId xmlns:a16="http://schemas.microsoft.com/office/drawing/2014/main" id="{0C5082C8-8079-41C3-8527-AACC88442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225425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Define</a:t>
            </a:r>
          </a:p>
        </p:txBody>
      </p:sp>
      <p:sp>
        <p:nvSpPr>
          <p:cNvPr id="18" name="AutoShape 58">
            <a:extLst>
              <a:ext uri="{FF2B5EF4-FFF2-40B4-BE49-F238E27FC236}">
                <a16:creationId xmlns:a16="http://schemas.microsoft.com/office/drawing/2014/main" id="{D8D9C582-7608-4926-96E1-2A1D978A0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013" y="80963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Measure 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F0A0A7C-2998-4D88-A529-E09EDF1D2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171492"/>
              </p:ext>
            </p:extLst>
          </p:nvPr>
        </p:nvGraphicFramePr>
        <p:xfrm>
          <a:off x="110283" y="992729"/>
          <a:ext cx="4796166" cy="548640"/>
        </p:xfrm>
        <a:graphic>
          <a:graphicData uri="http://schemas.openxmlformats.org/drawingml/2006/table">
            <a:tbl>
              <a:tblPr/>
              <a:tblGrid>
                <a:gridCol w="707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2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18.Oct</a:t>
                      </a:r>
                      <a:r>
                        <a:rPr lang="vi-VN" sz="900" b="0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.2024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Ruler</a:t>
                      </a:r>
                      <a:endParaRPr lang="en-US" sz="900" b="1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CMM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2.7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Part 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ko-KR" sz="900"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ABA30132601</a:t>
                      </a:r>
                      <a:endParaRPr lang="en-US" altLang="ko-KR" sz="900" dirty="0"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vi-VN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IVI-SQA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900" b="1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+TOL</a:t>
                      </a:r>
                      <a:endParaRPr lang="en-US" sz="900" b="1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vi-VN" sz="900" b="0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+0.</a:t>
                      </a:r>
                      <a:r>
                        <a:rPr lang="en-US" sz="900" b="0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05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Part 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>
                          <a:latin typeface="Arial Narrow" panose="020B0606020202030204" pitchFamily="34" charset="0"/>
                        </a:rPr>
                        <a:t>Bracket Mid Assy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Resolution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vi-VN" sz="900" b="0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0.01mm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900" b="1" i="0" u="none" strike="noStrike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-TOL</a:t>
                      </a:r>
                      <a:endParaRPr lang="en-US" sz="900" b="1" i="0" u="none" strike="noStrike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900" b="0">
                          <a:latin typeface="Arial Narrow" panose="020B0606020202030204" pitchFamily="34" charset="0"/>
                        </a:rPr>
                        <a:t>-0.</a:t>
                      </a:r>
                      <a:r>
                        <a:rPr lang="en-US" sz="900" b="0">
                          <a:latin typeface="Arial Narrow" panose="020B0606020202030204" pitchFamily="34" charset="0"/>
                        </a:rPr>
                        <a:t>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EC045FA1-9F4C-46E4-8573-CC82CEE1118C}"/>
              </a:ext>
            </a:extLst>
          </p:cNvPr>
          <p:cNvSpPr txBox="1"/>
          <p:nvPr/>
        </p:nvSpPr>
        <p:spPr>
          <a:xfrm>
            <a:off x="168585" y="4132227"/>
            <a:ext cx="520351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100">
                <a:latin typeface="Arial Narrow" panose="020B0606020202030204" pitchFamily="34" charset="0"/>
                <a:ea typeface="LG스마트체 Regular" pitchFamily="34" charset="-127"/>
              </a:rPr>
              <a:t> P part = 0.000 &lt; 0.05 - OK </a:t>
            </a:r>
            <a:r>
              <a:rPr lang="en-US" sz="1100">
                <a:latin typeface="Arial Narrow" panose="020B0606020202030204" pitchFamily="34" charset="0"/>
                <a:ea typeface="LG스마트체 Regular" pitchFamily="34" charset="-127"/>
                <a:sym typeface="Wingdings" pitchFamily="2" charset="2"/>
              </a:rPr>
              <a:t></a:t>
            </a:r>
            <a:r>
              <a:rPr lang="en-US" sz="1100">
                <a:latin typeface="Arial Narrow" panose="020B0606020202030204" pitchFamily="34" charset="0"/>
                <a:ea typeface="LG스마트체 Regular" pitchFamily="34" charset="-127"/>
                <a:cs typeface="Arial"/>
                <a:sym typeface="Wingdings" pitchFamily="2" charset="2"/>
              </a:rPr>
              <a:t> The different between parts is significant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맑은 고딕" pitchFamily="50" charset="-127"/>
                <a:sym typeface="Wingdings" pitchFamily="2" charset="2"/>
              </a:rPr>
              <a:t>   </a:t>
            </a:r>
            <a:r>
              <a:rPr lang="en-US" sz="1100" dirty="0">
                <a:latin typeface="Arial Narrow" panose="020B0606020202030204" pitchFamily="34" charset="0"/>
                <a:ea typeface="LG스마트체 Regular" pitchFamily="34" charset="-127"/>
                <a:cs typeface="Arial"/>
                <a:sym typeface="Wingdings" pitchFamily="2" charset="2"/>
              </a:rPr>
              <a:t>Since we selected 10 different parts, each part should be different</a:t>
            </a:r>
            <a:endParaRPr lang="en-US" sz="1100" dirty="0">
              <a:latin typeface="Arial Narrow" panose="020B0606020202030204" pitchFamily="34" charset="0"/>
              <a:ea typeface="LG스마트체 Regular" pitchFamily="34" charset="-127"/>
              <a:cs typeface="Arial"/>
            </a:endParaRPr>
          </a:p>
          <a:p>
            <a:pPr>
              <a:buFont typeface="Wingdings" pitchFamily="2" charset="2"/>
              <a:buChar char="§"/>
            </a:pPr>
            <a:r>
              <a:rPr lang="en-US" sz="1100" dirty="0">
                <a:latin typeface="Arial Narrow" panose="020B0606020202030204" pitchFamily="34" charset="0"/>
                <a:ea typeface="LG스마트체 Regular" pitchFamily="34" charset="-127"/>
                <a:cs typeface="Arial"/>
              </a:rPr>
              <a:t> P operator = 0.650 &gt; 0.05      </a:t>
            </a:r>
          </a:p>
          <a:p>
            <a:r>
              <a:rPr lang="en-US" sz="1100" dirty="0">
                <a:latin typeface="Arial Narrow" panose="020B0606020202030204" pitchFamily="34" charset="0"/>
                <a:ea typeface="LG스마트체 Regular" pitchFamily="34" charset="-127"/>
                <a:cs typeface="Arial"/>
                <a:sym typeface="Wingdings" pitchFamily="2" charset="2"/>
              </a:rPr>
              <a:t>   It is normal that measurements should not be measured differently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맑은 고딕" pitchFamily="50" charset="-127"/>
              </a:rPr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맑은 고딕" pitchFamily="50" charset="-127"/>
                <a:cs typeface="Arial"/>
                <a:sym typeface="Wingdings" pitchFamily="2" charset="2"/>
              </a:rPr>
              <a:t> </a:t>
            </a:r>
            <a:r>
              <a:rPr lang="en-US" sz="1100" dirty="0">
                <a:latin typeface="Arial Narrow" panose="020B0606020202030204" pitchFamily="34" charset="0"/>
                <a:ea typeface="LG스마트체 Regular" pitchFamily="34" charset="-127"/>
                <a:cs typeface="Arial"/>
                <a:sym typeface="Wingdings" pitchFamily="2" charset="2"/>
              </a:rPr>
              <a:t>P part * operator = 0.413&gt; </a:t>
            </a:r>
            <a:r>
              <a:rPr lang="en-US" sz="1100" dirty="0">
                <a:latin typeface="Arial Narrow" panose="020B0606020202030204" pitchFamily="34" charset="0"/>
                <a:ea typeface="LG스마트체 Regular" pitchFamily="34" charset="-127"/>
                <a:cs typeface="Arial"/>
              </a:rPr>
              <a:t>0.05 </a:t>
            </a:r>
          </a:p>
          <a:p>
            <a:r>
              <a:rPr lang="en-US" sz="1100" dirty="0">
                <a:latin typeface="Arial Narrow" panose="020B0606020202030204" pitchFamily="34" charset="0"/>
                <a:ea typeface="LG스마트체 Regular" pitchFamily="34" charset="-127"/>
              </a:rPr>
              <a:t>  </a:t>
            </a:r>
            <a:r>
              <a:rPr lang="en-US" sz="1100" dirty="0">
                <a:latin typeface="Arial Narrow" panose="020B0606020202030204" pitchFamily="34" charset="0"/>
                <a:ea typeface="LG스마트체 Regular" pitchFamily="34" charset="-127"/>
                <a:sym typeface="Wingdings" pitchFamily="2" charset="2"/>
              </a:rPr>
              <a:t></a:t>
            </a:r>
            <a:r>
              <a:rPr lang="en-US" sz="1100" dirty="0">
                <a:latin typeface="Arial Narrow" panose="020B0606020202030204" pitchFamily="34" charset="0"/>
                <a:ea typeface="LG스마트체 Regular" pitchFamily="34" charset="-127"/>
              </a:rPr>
              <a:t> </a:t>
            </a:r>
            <a:r>
              <a:rPr lang="en-US" sz="1100" dirty="0">
                <a:latin typeface="Arial Narrow" panose="020B0606020202030204" pitchFamily="34" charset="0"/>
                <a:ea typeface="LG스마트체 Regular" pitchFamily="34" charset="-127"/>
                <a:cs typeface="Arial"/>
                <a:sym typeface="Wingdings" pitchFamily="2" charset="2"/>
              </a:rPr>
              <a:t>It is normal that Interaction between Part and Operator not occur   </a:t>
            </a:r>
          </a:p>
          <a:p>
            <a:r>
              <a:rPr lang="en-US" sz="1100" dirty="0">
                <a:latin typeface="Arial Narrow" panose="020B0606020202030204" pitchFamily="34" charset="0"/>
                <a:ea typeface="LG스마트체 Regular" pitchFamily="34" charset="-127"/>
                <a:cs typeface="Arial"/>
                <a:sym typeface="Wingdings" pitchFamily="2" charset="2"/>
              </a:rPr>
              <a:t>       which means that the measurement is not different between part &amp; operator</a:t>
            </a:r>
          </a:p>
          <a:p>
            <a:r>
              <a:rPr lang="en-US" sz="1100" b="1" u="sng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Conclusion:</a:t>
            </a:r>
          </a:p>
          <a:p>
            <a:r>
              <a:rPr lang="en-US" sz="11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*3 people measure 10 samples, measure repeat 3 times (Blind and random)</a:t>
            </a:r>
          </a:p>
          <a:p>
            <a:pPr>
              <a:buFont typeface="Wingdings" pitchFamily="2" charset="2"/>
              <a:buChar char="§"/>
            </a:pPr>
            <a:r>
              <a:rPr lang="en-US" sz="11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  % Study Var (SV) :</a:t>
            </a:r>
            <a:r>
              <a:rPr lang="vi-VN" sz="11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 </a:t>
            </a:r>
            <a:r>
              <a:rPr lang="en-US" sz="11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1.72 &lt;</a:t>
            </a:r>
            <a:r>
              <a:rPr lang="vi-VN" sz="11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 </a:t>
            </a:r>
            <a:r>
              <a:rPr lang="en-US" sz="11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10% </a:t>
            </a:r>
            <a:r>
              <a:rPr lang="en-US" sz="1100" dirty="0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 </a:t>
            </a:r>
            <a:r>
              <a:rPr lang="en-US" sz="1100" b="1" dirty="0">
                <a:solidFill>
                  <a:srgbClr val="0066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OK</a:t>
            </a:r>
          </a:p>
          <a:p>
            <a:r>
              <a:rPr lang="en-US" sz="1100" dirty="0">
                <a:solidFill>
                  <a:srgbClr val="0066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      Can use to check process variation.</a:t>
            </a:r>
          </a:p>
          <a:p>
            <a:pPr>
              <a:buFont typeface="Wingdings" pitchFamily="2" charset="2"/>
              <a:buChar char="§"/>
            </a:pPr>
            <a:r>
              <a:rPr lang="en-US" sz="11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 % Tolerance</a:t>
            </a:r>
            <a:r>
              <a:rPr lang="vi-VN" sz="11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 </a:t>
            </a:r>
            <a:r>
              <a:rPr lang="en-US" sz="11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(SV </a:t>
            </a:r>
            <a:r>
              <a:rPr lang="vi-VN" sz="11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/ </a:t>
            </a:r>
            <a:r>
              <a:rPr lang="en-US" sz="11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Toler) : 2.47 % &lt;</a:t>
            </a:r>
            <a:r>
              <a:rPr lang="vi-VN" sz="11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 </a:t>
            </a:r>
            <a:r>
              <a:rPr lang="en-US" sz="11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10% </a:t>
            </a:r>
            <a:r>
              <a:rPr lang="en-US" sz="1100" dirty="0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 </a:t>
            </a:r>
            <a:r>
              <a:rPr lang="en-US" sz="1100" b="1" dirty="0">
                <a:solidFill>
                  <a:srgbClr val="0066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OK</a:t>
            </a:r>
          </a:p>
          <a:p>
            <a:r>
              <a:rPr lang="en-US" sz="1100" dirty="0">
                <a:solidFill>
                  <a:srgbClr val="0066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      Can use to judge OK/NG</a:t>
            </a:r>
          </a:p>
          <a:p>
            <a:pPr>
              <a:buFont typeface="Wingdings" pitchFamily="2" charset="2"/>
              <a:buChar char="§"/>
            </a:pPr>
            <a:r>
              <a:rPr lang="en-US" sz="1100" dirty="0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 NDC:</a:t>
            </a:r>
            <a:r>
              <a:rPr lang="vi-VN" sz="1100" dirty="0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 </a:t>
            </a:r>
            <a:r>
              <a:rPr lang="en-US" sz="1100" dirty="0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81 &gt;</a:t>
            </a:r>
            <a:r>
              <a:rPr lang="vi-VN" sz="1100" dirty="0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 </a:t>
            </a:r>
            <a:r>
              <a:rPr lang="en-US" sz="1100" dirty="0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5 </a:t>
            </a:r>
            <a:r>
              <a:rPr lang="en-US" sz="1100" dirty="0">
                <a:solidFill>
                  <a:srgbClr val="0066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 OK</a:t>
            </a:r>
          </a:p>
        </p:txBody>
      </p:sp>
      <p:sp>
        <p:nvSpPr>
          <p:cNvPr id="24" name="제목 1">
            <a:extLst>
              <a:ext uri="{FF2B5EF4-FFF2-40B4-BE49-F238E27FC236}">
                <a16:creationId xmlns:a16="http://schemas.microsoft.com/office/drawing/2014/main" id="{315325B2-5A31-4DA9-8183-41DD2DCCF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56" y="116632"/>
            <a:ext cx="3645211" cy="418058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lt"/>
                <a:ea typeface="LG스마트체 Regular" panose="020B0600000101010101" pitchFamily="50" charset="-127"/>
              </a:rPr>
              <a:t>2</a:t>
            </a:r>
            <a:r>
              <a:rPr lang="en-US" altLang="ko-KR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Result of </a:t>
            </a:r>
            <a:r>
              <a:rPr lang="en-US" altLang="ko-KR">
                <a:latin typeface="Arial Narrow" panose="020B0606020202030204" pitchFamily="34" charset="0"/>
                <a:ea typeface="LG스마트체 Regular" panose="020B0600000101010101" pitchFamily="50" charset="-127"/>
              </a:rPr>
              <a:t>Gage Study</a:t>
            </a:r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5702848-0E56-4C15-9519-5F083DFBE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024884"/>
              </p:ext>
            </p:extLst>
          </p:nvPr>
        </p:nvGraphicFramePr>
        <p:xfrm>
          <a:off x="168585" y="1787583"/>
          <a:ext cx="4737020" cy="1876380"/>
        </p:xfrm>
        <a:graphic>
          <a:graphicData uri="http://schemas.openxmlformats.org/drawingml/2006/table">
            <a:tbl>
              <a:tblPr/>
              <a:tblGrid>
                <a:gridCol w="473702">
                  <a:extLst>
                    <a:ext uri="{9D8B030D-6E8A-4147-A177-3AD203B41FA5}">
                      <a16:colId xmlns:a16="http://schemas.microsoft.com/office/drawing/2014/main" val="3263309948"/>
                    </a:ext>
                  </a:extLst>
                </a:gridCol>
                <a:gridCol w="473702">
                  <a:extLst>
                    <a:ext uri="{9D8B030D-6E8A-4147-A177-3AD203B41FA5}">
                      <a16:colId xmlns:a16="http://schemas.microsoft.com/office/drawing/2014/main" val="2703788228"/>
                    </a:ext>
                  </a:extLst>
                </a:gridCol>
                <a:gridCol w="473702">
                  <a:extLst>
                    <a:ext uri="{9D8B030D-6E8A-4147-A177-3AD203B41FA5}">
                      <a16:colId xmlns:a16="http://schemas.microsoft.com/office/drawing/2014/main" val="4137489031"/>
                    </a:ext>
                  </a:extLst>
                </a:gridCol>
                <a:gridCol w="473702">
                  <a:extLst>
                    <a:ext uri="{9D8B030D-6E8A-4147-A177-3AD203B41FA5}">
                      <a16:colId xmlns:a16="http://schemas.microsoft.com/office/drawing/2014/main" val="2378499388"/>
                    </a:ext>
                  </a:extLst>
                </a:gridCol>
                <a:gridCol w="473702">
                  <a:extLst>
                    <a:ext uri="{9D8B030D-6E8A-4147-A177-3AD203B41FA5}">
                      <a16:colId xmlns:a16="http://schemas.microsoft.com/office/drawing/2014/main" val="2051812191"/>
                    </a:ext>
                  </a:extLst>
                </a:gridCol>
                <a:gridCol w="473702">
                  <a:extLst>
                    <a:ext uri="{9D8B030D-6E8A-4147-A177-3AD203B41FA5}">
                      <a16:colId xmlns:a16="http://schemas.microsoft.com/office/drawing/2014/main" val="917533864"/>
                    </a:ext>
                  </a:extLst>
                </a:gridCol>
                <a:gridCol w="473702">
                  <a:extLst>
                    <a:ext uri="{9D8B030D-6E8A-4147-A177-3AD203B41FA5}">
                      <a16:colId xmlns:a16="http://schemas.microsoft.com/office/drawing/2014/main" val="3860865246"/>
                    </a:ext>
                  </a:extLst>
                </a:gridCol>
                <a:gridCol w="473702">
                  <a:extLst>
                    <a:ext uri="{9D8B030D-6E8A-4147-A177-3AD203B41FA5}">
                      <a16:colId xmlns:a16="http://schemas.microsoft.com/office/drawing/2014/main" val="577470680"/>
                    </a:ext>
                  </a:extLst>
                </a:gridCol>
                <a:gridCol w="473702">
                  <a:extLst>
                    <a:ext uri="{9D8B030D-6E8A-4147-A177-3AD203B41FA5}">
                      <a16:colId xmlns:a16="http://schemas.microsoft.com/office/drawing/2014/main" val="259095409"/>
                    </a:ext>
                  </a:extLst>
                </a:gridCol>
                <a:gridCol w="473702">
                  <a:extLst>
                    <a:ext uri="{9D8B030D-6E8A-4147-A177-3AD203B41FA5}">
                      <a16:colId xmlns:a16="http://schemas.microsoft.com/office/drawing/2014/main" val="1439777608"/>
                    </a:ext>
                  </a:extLst>
                </a:gridCol>
              </a:tblGrid>
              <a:tr h="156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Huong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Long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Phuc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490384"/>
                  </a:ext>
                </a:extLst>
              </a:tr>
              <a:tr h="156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Time 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Time 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Time 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Time 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Time 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Time 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Time 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Time 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Time 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63063"/>
                  </a:ext>
                </a:extLst>
              </a:tr>
              <a:tr h="156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0.025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0.025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863025"/>
                  </a:ext>
                </a:extLst>
              </a:tr>
              <a:tr h="156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-0.002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-0.002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-0.001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-0.002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-0.002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-0.003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-0.002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-0.002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-0.002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6790754"/>
                  </a:ext>
                </a:extLst>
              </a:tr>
              <a:tr h="156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975452"/>
                  </a:ext>
                </a:extLst>
              </a:tr>
              <a:tr h="156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0.025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0.025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172629"/>
                  </a:ext>
                </a:extLst>
              </a:tr>
              <a:tr h="156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-0.021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-0.022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27887"/>
                  </a:ext>
                </a:extLst>
              </a:tr>
              <a:tr h="156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64957"/>
                  </a:ext>
                </a:extLst>
              </a:tr>
              <a:tr h="156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0.027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0.027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0.027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0.027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0.027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0.027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0.027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852608"/>
                  </a:ext>
                </a:extLst>
              </a:tr>
              <a:tr h="156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0.021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0.021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0.021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0.021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0.021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0.021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0.021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0.021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917842"/>
                  </a:ext>
                </a:extLst>
              </a:tr>
              <a:tr h="156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0.073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0.073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0.073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0.073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0.072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0.073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0.073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0.073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0.073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329447"/>
                  </a:ext>
                </a:extLst>
              </a:tr>
              <a:tr h="156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0.018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0.018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0.018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0.018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0.018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0.018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0.018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0.018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0.018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56759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B75C54B-55D2-6A13-DCAA-7E16F5D29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442" y="1267049"/>
            <a:ext cx="3698854" cy="525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16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D053652F-952D-4227-8853-4A8D5BE87964}"/>
              </a:ext>
            </a:extLst>
          </p:cNvPr>
          <p:cNvSpPr txBox="1">
            <a:spLocks/>
          </p:cNvSpPr>
          <p:nvPr/>
        </p:nvSpPr>
        <p:spPr>
          <a:xfrm>
            <a:off x="161491" y="574669"/>
            <a:ext cx="2209927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eaLnBrk="0" hangingPunct="0">
              <a:defRPr/>
            </a:pPr>
            <a:r>
              <a:rPr lang="en-US" altLang="ko-KR" sz="1600" b="1" kern="0">
                <a:solidFill>
                  <a:srgbClr val="000000"/>
                </a:solidFill>
                <a:latin typeface="Arial"/>
                <a:ea typeface="LG스마트체 Regular" panose="020B0600000101010101" pitchFamily="50" charset="-127"/>
                <a:cs typeface="+mj-cs"/>
              </a:rPr>
              <a:t>2.</a:t>
            </a:r>
            <a:r>
              <a:rPr lang="vi-VN" altLang="ko-KR" sz="1600" b="1" kern="0">
                <a:solidFill>
                  <a:srgbClr val="000000"/>
                </a:solidFill>
                <a:latin typeface="Arial"/>
                <a:ea typeface="LG스마트체 Regular" panose="020B0600000101010101" pitchFamily="50" charset="-127"/>
                <a:cs typeface="+mj-cs"/>
              </a:rPr>
              <a:t>2</a:t>
            </a:r>
            <a:r>
              <a:rPr lang="en-US" altLang="ko-KR" sz="16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</a:t>
            </a:r>
            <a:r>
              <a:rPr lang="en-US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Type 2 study</a:t>
            </a:r>
            <a:endParaRPr lang="ko-KR" altLang="en-US" sz="1600" b="1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046F70-6FCF-4A90-B9BF-3CF16D401361}"/>
              </a:ext>
            </a:extLst>
          </p:cNvPr>
          <p:cNvCxnSpPr/>
          <p:nvPr/>
        </p:nvCxnSpPr>
        <p:spPr>
          <a:xfrm>
            <a:off x="-12488" y="561513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utoShape 55">
            <a:extLst>
              <a:ext uri="{FF2B5EF4-FFF2-40B4-BE49-F238E27FC236}">
                <a16:creationId xmlns:a16="http://schemas.microsoft.com/office/drawing/2014/main" id="{1FBC2BDD-2573-40AF-A2FD-AA2F90B68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7650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12" name="AutoShape 56">
            <a:extLst>
              <a:ext uri="{FF2B5EF4-FFF2-40B4-BE49-F238E27FC236}">
                <a16:creationId xmlns:a16="http://schemas.microsoft.com/office/drawing/2014/main" id="{0416B919-A739-4E70-B30C-B4C4E227C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8675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Improve</a:t>
            </a:r>
          </a:p>
        </p:txBody>
      </p:sp>
      <p:sp>
        <p:nvSpPr>
          <p:cNvPr id="13" name="AutoShape 57">
            <a:extLst>
              <a:ext uri="{FF2B5EF4-FFF2-40B4-BE49-F238E27FC236}">
                <a16:creationId xmlns:a16="http://schemas.microsoft.com/office/drawing/2014/main" id="{D477655B-8B96-44FA-9010-51F143900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6525" y="225425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Analyze</a:t>
            </a:r>
          </a:p>
        </p:txBody>
      </p:sp>
      <p:sp>
        <p:nvSpPr>
          <p:cNvPr id="14" name="AutoShape 59">
            <a:extLst>
              <a:ext uri="{FF2B5EF4-FFF2-40B4-BE49-F238E27FC236}">
                <a16:creationId xmlns:a16="http://schemas.microsoft.com/office/drawing/2014/main" id="{C641F492-CC4B-41CD-8431-EEACE18BD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225425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Define</a:t>
            </a:r>
          </a:p>
        </p:txBody>
      </p:sp>
      <p:sp>
        <p:nvSpPr>
          <p:cNvPr id="15" name="AutoShape 58">
            <a:extLst>
              <a:ext uri="{FF2B5EF4-FFF2-40B4-BE49-F238E27FC236}">
                <a16:creationId xmlns:a16="http://schemas.microsoft.com/office/drawing/2014/main" id="{848F6389-C384-4601-91E9-CE4DBAD45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013" y="80963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Measure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A22656-9F83-4EDC-80D1-F4FA79A64016}"/>
              </a:ext>
            </a:extLst>
          </p:cNvPr>
          <p:cNvSpPr txBox="1"/>
          <p:nvPr/>
        </p:nvSpPr>
        <p:spPr>
          <a:xfrm>
            <a:off x="609600" y="5808112"/>
            <a:ext cx="6835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Conclusion:</a:t>
            </a:r>
          </a:p>
          <a:p>
            <a:pPr>
              <a:buFontTx/>
              <a:buChar char="-"/>
            </a:pPr>
            <a:r>
              <a:rPr lang="en-US" sz="12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 Based on interaction between samples and inspector, </a:t>
            </a:r>
            <a:r>
              <a:rPr lang="en-GB" sz="1200">
                <a:latin typeface="Arial Narrow" panose="020B0606020202030204" pitchFamily="34" charset="0"/>
                <a:ea typeface="LG Smart_H Regular" panose="020B0600000101010101" pitchFamily="34" charset="-127"/>
              </a:rPr>
              <a:t>we cannot </a:t>
            </a:r>
            <a:r>
              <a:rPr lang="en-GB" sz="12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see significant differences between 10 samples.</a:t>
            </a:r>
          </a:p>
          <a:p>
            <a:pPr>
              <a:buFontTx/>
              <a:buChar char="-"/>
            </a:pPr>
            <a:r>
              <a:rPr lang="en-US" sz="12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 Inspector’s skill is acceptable. There is no significant differences between 3 operators during each measurement time.</a:t>
            </a:r>
            <a:endParaRPr lang="en-US" sz="1200" b="1" dirty="0">
              <a:latin typeface="Arial Narrow" panose="020B0606020202030204" pitchFamily="34" charset="0"/>
              <a:ea typeface="LG Smart_H Regular" panose="020B0600000101010101" pitchFamily="34" charset="-127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90FB43D8-C6BC-494F-AAE8-0F8B4A3EB8E3}"/>
              </a:ext>
            </a:extLst>
          </p:cNvPr>
          <p:cNvSpPr txBox="1">
            <a:spLocks/>
          </p:cNvSpPr>
          <p:nvPr/>
        </p:nvSpPr>
        <p:spPr>
          <a:xfrm>
            <a:off x="56456" y="116632"/>
            <a:ext cx="3645211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r>
              <a:rPr lang="en-US" altLang="ko-KR" kern="0">
                <a:latin typeface="+mj-lt"/>
                <a:ea typeface="LG스마트체 Regular" panose="020B0600000101010101" pitchFamily="50" charset="-127"/>
              </a:rPr>
              <a:t>2</a:t>
            </a:r>
            <a:r>
              <a:rPr lang="en-US" altLang="ko-KR" kern="0">
                <a:latin typeface="Arial Narrow" panose="020B0606020202030204" pitchFamily="34" charset="0"/>
                <a:ea typeface="LG스마트체 Regular" panose="020B0600000101010101" pitchFamily="50" charset="-127"/>
              </a:rPr>
              <a:t> Result of Gage Study</a:t>
            </a:r>
            <a:endParaRPr lang="ko-KR" altLang="en-US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160A38-81B7-AD7C-432C-D76B603B1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88" y="1492238"/>
            <a:ext cx="4707329" cy="3529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954393-4E46-55A5-124A-FEB82A8FD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219" y="1523048"/>
            <a:ext cx="5022315" cy="334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712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268104" y="991243"/>
            <a:ext cx="3896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spcBef>
                <a:spcPct val="0"/>
              </a:spcBef>
              <a:spcAft>
                <a:spcPct val="0"/>
              </a:spcAft>
              <a:tabLst>
                <a:tab pos="1097280" algn="l"/>
              </a:tabLst>
            </a:pP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 Issue Name: </a:t>
            </a:r>
            <a:r>
              <a:rPr lang="en-US" altLang="ko-KR" sz="1200" dirty="0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Flush data</a:t>
            </a:r>
            <a:endParaRPr lang="en-US" sz="1200" dirty="0"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Spec: -0.4 ~ 0</a:t>
            </a:r>
            <a:r>
              <a:rPr 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mm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Inspection Period: </a:t>
            </a:r>
            <a:r>
              <a:rPr kumimoji="1" lang="en-US" altLang="ko-KR" sz="1200" kern="0" dirty="0"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01-06-2025 ~ 30-06-2025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104" y="5530991"/>
            <a:ext cx="30974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Sampling method :</a:t>
            </a:r>
          </a:p>
          <a:p>
            <a:pPr marL="171450" indent="-171450"/>
            <a:r>
              <a:rPr 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 Rational sub group sampling</a:t>
            </a:r>
          </a:p>
          <a:p>
            <a:r>
              <a:rPr 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 5ea/line /day/at LG line 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-12488" y="561513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제목 1">
            <a:extLst>
              <a:ext uri="{FF2B5EF4-FFF2-40B4-BE49-F238E27FC236}">
                <a16:creationId xmlns:a16="http://schemas.microsoft.com/office/drawing/2014/main" id="{F3CC3122-6897-40CB-BB83-2484C5DC29C8}"/>
              </a:ext>
            </a:extLst>
          </p:cNvPr>
          <p:cNvSpPr txBox="1">
            <a:spLocks/>
          </p:cNvSpPr>
          <p:nvPr/>
        </p:nvSpPr>
        <p:spPr>
          <a:xfrm>
            <a:off x="161491" y="574669"/>
            <a:ext cx="2757979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eaLnBrk="0" hangingPunct="0">
              <a:defRPr/>
            </a:pPr>
            <a:r>
              <a:rPr lang="en-US" altLang="ko-KR" sz="1600" b="1" kern="0">
                <a:solidFill>
                  <a:srgbClr val="000000"/>
                </a:solidFill>
                <a:latin typeface="Arial"/>
                <a:ea typeface="LG스마트체 Regular" panose="020B0600000101010101" pitchFamily="50" charset="-127"/>
                <a:cs typeface="+mj-cs"/>
              </a:rPr>
              <a:t>2.3</a:t>
            </a:r>
            <a:r>
              <a:rPr lang="en-US" altLang="ko-KR" sz="16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</a:t>
            </a:r>
            <a:r>
              <a:rPr lang="en-US" altLang="ko-KR" sz="1600" b="1" kern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Xbar</a:t>
            </a:r>
            <a:r>
              <a:rPr lang="en-US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-R Chart Review</a:t>
            </a:r>
            <a:endParaRPr lang="ko-KR" altLang="en-US" sz="1600" b="1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</p:txBody>
      </p:sp>
      <p:sp>
        <p:nvSpPr>
          <p:cNvPr id="13" name="AutoShape 55">
            <a:extLst>
              <a:ext uri="{FF2B5EF4-FFF2-40B4-BE49-F238E27FC236}">
                <a16:creationId xmlns:a16="http://schemas.microsoft.com/office/drawing/2014/main" id="{14271227-5260-4FA3-9269-BBA7C8695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7650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16" name="AutoShape 56">
            <a:extLst>
              <a:ext uri="{FF2B5EF4-FFF2-40B4-BE49-F238E27FC236}">
                <a16:creationId xmlns:a16="http://schemas.microsoft.com/office/drawing/2014/main" id="{1A728347-509A-4548-8351-1AFF72328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8675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Improve</a:t>
            </a:r>
          </a:p>
        </p:txBody>
      </p:sp>
      <p:sp>
        <p:nvSpPr>
          <p:cNvPr id="17" name="AutoShape 57">
            <a:extLst>
              <a:ext uri="{FF2B5EF4-FFF2-40B4-BE49-F238E27FC236}">
                <a16:creationId xmlns:a16="http://schemas.microsoft.com/office/drawing/2014/main" id="{BCA935FB-587F-4070-915F-EBB034657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6525" y="225425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Analyze</a:t>
            </a:r>
          </a:p>
        </p:txBody>
      </p:sp>
      <p:sp>
        <p:nvSpPr>
          <p:cNvPr id="21" name="AutoShape 59">
            <a:extLst>
              <a:ext uri="{FF2B5EF4-FFF2-40B4-BE49-F238E27FC236}">
                <a16:creationId xmlns:a16="http://schemas.microsoft.com/office/drawing/2014/main" id="{DFDB722F-FA6B-40DF-8E17-7248348C6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225425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Define</a:t>
            </a:r>
          </a:p>
        </p:txBody>
      </p:sp>
      <p:sp>
        <p:nvSpPr>
          <p:cNvPr id="22" name="AutoShape 58">
            <a:extLst>
              <a:ext uri="{FF2B5EF4-FFF2-40B4-BE49-F238E27FC236}">
                <a16:creationId xmlns:a16="http://schemas.microsoft.com/office/drawing/2014/main" id="{955BA091-E0EB-4F16-AE0C-AA6F89B4F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013" y="80963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Measure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023E9-A2CD-4CCA-8E39-40DF50092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685389"/>
              </p:ext>
            </p:extLst>
          </p:nvPr>
        </p:nvGraphicFramePr>
        <p:xfrm>
          <a:off x="319292" y="1891685"/>
          <a:ext cx="3657600" cy="20955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6177316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447204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6583191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953203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0200192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7032821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Sample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Sample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Sample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Sample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Sample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2454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1-Jun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0.01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01041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2-Jun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0.01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0.03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0.02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6243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3-Jun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0.03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0.06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15871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4-Jun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2090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5-Jun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0.04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2736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6-Jun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13834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7-Jun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7699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8-Jun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0.03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62476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9-Jun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0.01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7256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10-Jun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0.04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936554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1BFCCF4-08E0-4CB8-B627-631735498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728" y="1616537"/>
            <a:ext cx="3935982" cy="262398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DA72BC6-F328-4FB3-8118-0C46FFB5DC2C}"/>
              </a:ext>
            </a:extLst>
          </p:cNvPr>
          <p:cNvSpPr txBox="1"/>
          <p:nvPr/>
        </p:nvSpPr>
        <p:spPr>
          <a:xfrm>
            <a:off x="4660067" y="5623323"/>
            <a:ext cx="524593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Conclusion:</a:t>
            </a:r>
          </a:p>
          <a:p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- </a:t>
            </a:r>
            <a:r>
              <a:rPr lang="en-US" altLang="ko-KR" sz="1200" dirty="0">
                <a:latin typeface="Arial Narrow" panose="020B0606020202030204" pitchFamily="34" charset="0"/>
                <a:cs typeface="Arial" panose="020B0604020202020204" pitchFamily="34" charset="0"/>
              </a:rPr>
              <a:t>Based on X-bar R- chart result we can </a:t>
            </a:r>
            <a:r>
              <a:rPr lang="en-US" altLang="ko-KR" sz="1200">
                <a:latin typeface="Arial Narrow" panose="020B0606020202030204" pitchFamily="34" charset="0"/>
                <a:cs typeface="Arial" panose="020B0604020202020204" pitchFamily="34" charset="0"/>
              </a:rPr>
              <a:t>see process is stable</a:t>
            </a:r>
            <a:endParaRPr lang="en-US" altLang="ko-KR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4" name="제목 1">
            <a:extLst>
              <a:ext uri="{FF2B5EF4-FFF2-40B4-BE49-F238E27FC236}">
                <a16:creationId xmlns:a16="http://schemas.microsoft.com/office/drawing/2014/main" id="{F1DE5FD3-2875-4B3E-9341-DF9B74D62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56" y="116632"/>
            <a:ext cx="3645211" cy="418058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lt"/>
                <a:ea typeface="LG스마트체 Regular" panose="020B0600000101010101" pitchFamily="50" charset="-127"/>
              </a:rPr>
              <a:t>2</a:t>
            </a:r>
            <a:r>
              <a:rPr lang="en-US" altLang="ko-KR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Result of </a:t>
            </a:r>
            <a:r>
              <a:rPr lang="en-US" altLang="ko-KR">
                <a:latin typeface="Arial Narrow" panose="020B0606020202030204" pitchFamily="34" charset="0"/>
                <a:ea typeface="LG스마트체 Regular" panose="020B0600000101010101" pitchFamily="50" charset="-127"/>
              </a:rPr>
              <a:t>Gage Study</a:t>
            </a:r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2265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제목 1"/>
          <p:cNvSpPr txBox="1">
            <a:spLocks/>
          </p:cNvSpPr>
          <p:nvPr/>
        </p:nvSpPr>
        <p:spPr bwMode="auto">
          <a:xfrm>
            <a:off x="107975" y="553277"/>
            <a:ext cx="749617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en-US" altLang="ko-KR" sz="16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2.4</a:t>
            </a:r>
            <a:r>
              <a:rPr lang="en-US" altLang="ko-KR" sz="16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6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Result </a:t>
            </a:r>
            <a:r>
              <a:rPr lang="en-US" altLang="ko-KR" sz="16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of current Cpk</a:t>
            </a:r>
            <a:endParaRPr lang="ko-KR" altLang="en-US" sz="18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2" name="AutoShape 55"/>
          <p:cNvSpPr>
            <a:spLocks noChangeArrowheads="1"/>
          </p:cNvSpPr>
          <p:nvPr/>
        </p:nvSpPr>
        <p:spPr bwMode="auto">
          <a:xfrm>
            <a:off x="9137650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1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Control</a:t>
            </a:r>
          </a:p>
        </p:txBody>
      </p:sp>
      <p:sp>
        <p:nvSpPr>
          <p:cNvPr id="53" name="AutoShape 56"/>
          <p:cNvSpPr>
            <a:spLocks noChangeArrowheads="1"/>
          </p:cNvSpPr>
          <p:nvPr/>
        </p:nvSpPr>
        <p:spPr bwMode="auto">
          <a:xfrm>
            <a:off x="8448675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1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Improve</a:t>
            </a:r>
          </a:p>
        </p:txBody>
      </p:sp>
      <p:sp>
        <p:nvSpPr>
          <p:cNvPr id="54" name="AutoShape 57"/>
          <p:cNvSpPr>
            <a:spLocks noChangeArrowheads="1"/>
          </p:cNvSpPr>
          <p:nvPr/>
        </p:nvSpPr>
        <p:spPr bwMode="auto">
          <a:xfrm>
            <a:off x="7756525" y="225425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1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Analyze</a:t>
            </a:r>
          </a:p>
        </p:txBody>
      </p:sp>
      <p:sp>
        <p:nvSpPr>
          <p:cNvPr id="55" name="AutoShape 59"/>
          <p:cNvSpPr>
            <a:spLocks noChangeArrowheads="1"/>
          </p:cNvSpPr>
          <p:nvPr/>
        </p:nvSpPr>
        <p:spPr bwMode="auto">
          <a:xfrm>
            <a:off x="6388100" y="225425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1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Define</a:t>
            </a:r>
          </a:p>
        </p:txBody>
      </p:sp>
      <p:sp>
        <p:nvSpPr>
          <p:cNvPr id="56" name="AutoShape 58"/>
          <p:cNvSpPr>
            <a:spLocks noChangeArrowheads="1"/>
          </p:cNvSpPr>
          <p:nvPr/>
        </p:nvSpPr>
        <p:spPr bwMode="auto">
          <a:xfrm>
            <a:off x="7085013" y="80963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100">
                <a:latin typeface="Arial Narrow" panose="020B0606020202030204" pitchFamily="34" charset="0"/>
                <a:ea typeface="맑은 고딕" panose="020B0503020000020004" pitchFamily="50" charset="-127"/>
              </a:rPr>
              <a:t>Measure </a:t>
            </a:r>
          </a:p>
        </p:txBody>
      </p:sp>
      <p:sp>
        <p:nvSpPr>
          <p:cNvPr id="137" name="TextBox 33"/>
          <p:cNvSpPr txBox="1">
            <a:spLocks noChangeArrowheads="1"/>
          </p:cNvSpPr>
          <p:nvPr/>
        </p:nvSpPr>
        <p:spPr bwMode="auto">
          <a:xfrm>
            <a:off x="379830" y="988156"/>
            <a:ext cx="2736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2563" indent="-182563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eaLnBrk="1" latinLnBrk="1" hangingPunct="1">
              <a:buFont typeface="Wingdings" panose="05000000000000000000" pitchFamily="2" charset="2"/>
              <a:buChar char="q"/>
            </a:pP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Current Cpk</a:t>
            </a:r>
            <a:endParaRPr lang="ko-KR" altLang="en-US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ABEEF7-E3B0-46C3-B18C-4B769423997F}"/>
              </a:ext>
            </a:extLst>
          </p:cNvPr>
          <p:cNvSpPr txBox="1"/>
          <p:nvPr/>
        </p:nvSpPr>
        <p:spPr>
          <a:xfrm>
            <a:off x="424813" y="6005556"/>
            <a:ext cx="323207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altLang="ko-KR" sz="1200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34" charset="-127"/>
                <a:sym typeface="Wingdings" pitchFamily="2" charset="2"/>
              </a:rPr>
              <a:t>Cpk</a:t>
            </a:r>
            <a:r>
              <a:rPr lang="en-US" altLang="ko-KR" sz="12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34" charset="-127"/>
                <a:sym typeface="Wingdings" pitchFamily="2" charset="2"/>
              </a:rPr>
              <a:t> = 0.28 → Standard &gt;1.33 → NG</a:t>
            </a:r>
          </a:p>
        </p:txBody>
      </p:sp>
      <p:sp>
        <p:nvSpPr>
          <p:cNvPr id="22" name="TextBox 33">
            <a:extLst>
              <a:ext uri="{FF2B5EF4-FFF2-40B4-BE49-F238E27FC236}">
                <a16:creationId xmlns:a16="http://schemas.microsoft.com/office/drawing/2014/main" id="{CCE58B39-783D-4965-A221-222BE71E8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3912" y="3767658"/>
            <a:ext cx="2736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2563" indent="-182563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eaLnBrk="1" latinLnBrk="1" hangingPunct="1">
              <a:buFont typeface="Wingdings" panose="05000000000000000000" pitchFamily="2" charset="2"/>
              <a:buChar char="q"/>
            </a:pP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Target of improvement</a:t>
            </a:r>
            <a:endParaRPr lang="ko-KR" altLang="en-US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156CD5-ADAB-4037-A2B5-442005272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13" y="3845266"/>
            <a:ext cx="2778157" cy="20836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DA4040-1866-4A02-8399-AEE620389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604" y="1413851"/>
            <a:ext cx="2778158" cy="2083619"/>
          </a:xfrm>
          <a:prstGeom prst="rect">
            <a:avLst/>
          </a:prstGeom>
        </p:spPr>
      </p:pic>
      <p:sp>
        <p:nvSpPr>
          <p:cNvPr id="46" name="제목 1">
            <a:extLst>
              <a:ext uri="{FF2B5EF4-FFF2-40B4-BE49-F238E27FC236}">
                <a16:creationId xmlns:a16="http://schemas.microsoft.com/office/drawing/2014/main" id="{447CDEDB-4F96-475F-9795-A5DC3F8FCB0D}"/>
              </a:ext>
            </a:extLst>
          </p:cNvPr>
          <p:cNvSpPr txBox="1">
            <a:spLocks/>
          </p:cNvSpPr>
          <p:nvPr/>
        </p:nvSpPr>
        <p:spPr>
          <a:xfrm>
            <a:off x="56456" y="116632"/>
            <a:ext cx="3645211" cy="418058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r>
              <a:rPr lang="en-US" altLang="ko-KR" kern="0">
                <a:latin typeface="+mj-lt"/>
                <a:ea typeface="LG스마트체 Regular" panose="020B0600000101010101" pitchFamily="50" charset="-127"/>
              </a:rPr>
              <a:t>2</a:t>
            </a:r>
            <a:r>
              <a:rPr lang="en-US" altLang="ko-KR" kern="0">
                <a:latin typeface="Arial Narrow" panose="020B0606020202030204" pitchFamily="34" charset="0"/>
                <a:ea typeface="LG스마트체 Regular" panose="020B0600000101010101" pitchFamily="50" charset="-127"/>
              </a:rPr>
              <a:t> Result of Gage Study</a:t>
            </a:r>
            <a:endParaRPr lang="ko-KR" altLang="en-US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8" name="TextBox 13">
            <a:extLst>
              <a:ext uri="{FF2B5EF4-FFF2-40B4-BE49-F238E27FC236}">
                <a16:creationId xmlns:a16="http://schemas.microsoft.com/office/drawing/2014/main" id="{D137B134-59FE-46FD-903D-FA4546707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604" y="4044657"/>
            <a:ext cx="4130433" cy="958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+mn-cs"/>
              </a:defRPr>
            </a:lvl9pPr>
          </a:lstStyle>
          <a:p>
            <a:pPr marL="85725" indent="-85725" eaLnBrk="1" hangingPunct="1"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kumimoji="0" lang="vi-VN" altLang="ko-KR" dirty="0"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Improvement Goals (Practical)</a:t>
            </a:r>
          </a:p>
          <a:p>
            <a:pPr marL="85725" indent="-85725" eaLnBrk="1" hangingPunct="1"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kumimoji="0" lang="en-US" altLang="ko-KR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Increase </a:t>
            </a:r>
            <a:r>
              <a:rPr kumimoji="0"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height between LCD and Panel main</a:t>
            </a:r>
            <a:endParaRPr kumimoji="0" lang="vi-VN" altLang="ko-KR" dirty="0"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60325">
              <a:lnSpc>
                <a:spcPct val="120000"/>
              </a:lnSpc>
              <a:defRPr/>
            </a:pPr>
            <a:r>
              <a:rPr kumimoji="0"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(Before improvement) </a:t>
            </a:r>
            <a:r>
              <a:rPr kumimoji="0" lang="en-US" altLang="ko-KR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Zst</a:t>
            </a:r>
            <a:r>
              <a:rPr kumimoji="0"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= 0.84 </a:t>
            </a:r>
            <a:r>
              <a:rPr kumimoji="0" lang="vi-VN" altLang="ko-KR" dirty="0"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(after improvement) Flawless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0"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⇒ </a:t>
            </a:r>
            <a:r>
              <a:rPr kumimoji="0" lang="vi-VN" altLang="ko-KR" dirty="0">
                <a:ea typeface="LG스마트체 Regular" panose="020B0600000101010101" pitchFamily="50" charset="-127"/>
                <a:cs typeface="Arial" panose="020B0604020202020204" pitchFamily="34" charset="0"/>
              </a:rPr>
              <a:t>gap betwen </a:t>
            </a:r>
            <a:r>
              <a:rPr kumimoji="0"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height between LCD and Panel main is center value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5A5D6-DB64-0B89-5FF5-93C55E45259D}"/>
              </a:ext>
            </a:extLst>
          </p:cNvPr>
          <p:cNvSpPr txBox="1"/>
          <p:nvPr/>
        </p:nvSpPr>
        <p:spPr>
          <a:xfrm>
            <a:off x="1129149" y="3244859"/>
            <a:ext cx="2988332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 P-value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= 0.628&gt;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0.05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  <a:sym typeface="Wingdings" pitchFamily="2" charset="2"/>
              </a:rPr>
              <a:t> OK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  <a:sym typeface="Wingdings" pitchFamily="2" charset="2"/>
              </a:rPr>
              <a:t>  (Data follow a normal distribution)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 Smart_H Regular" pitchFamily="34" charset="-12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12FD4-4325-8855-84AF-DCED87DE2559}"/>
              </a:ext>
            </a:extLst>
          </p:cNvPr>
          <p:cNvSpPr txBox="1"/>
          <p:nvPr/>
        </p:nvSpPr>
        <p:spPr>
          <a:xfrm>
            <a:off x="668557" y="3306930"/>
            <a:ext cx="2988332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 P-value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= 0.628&gt;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0.05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  <a:sym typeface="Wingdings" pitchFamily="2" charset="2"/>
              </a:rPr>
              <a:t> OK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  <a:sym typeface="Wingdings" pitchFamily="2" charset="2"/>
              </a:rPr>
              <a:t>  (Data follow a normal distribution)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 Smart_H Regular" pitchFamily="34" charset="-127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642CCF-A4B4-6650-36DD-A591C5DB6E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27" y="1293961"/>
            <a:ext cx="3083531" cy="2055687"/>
          </a:xfrm>
          <a:prstGeom prst="rect">
            <a:avLst/>
          </a:prstGeom>
        </p:spPr>
      </p:pic>
      <p:cxnSp>
        <p:nvCxnSpPr>
          <p:cNvPr id="7" name="직선 연결선 24">
            <a:extLst>
              <a:ext uri="{FF2B5EF4-FFF2-40B4-BE49-F238E27FC236}">
                <a16:creationId xmlns:a16="http://schemas.microsoft.com/office/drawing/2014/main" id="{5327B0FC-2B45-4DBD-E033-8A1262C4288D}"/>
              </a:ext>
            </a:extLst>
          </p:cNvPr>
          <p:cNvCxnSpPr/>
          <p:nvPr/>
        </p:nvCxnSpPr>
        <p:spPr>
          <a:xfrm>
            <a:off x="3858562" y="6526643"/>
            <a:ext cx="1571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25">
            <a:extLst>
              <a:ext uri="{FF2B5EF4-FFF2-40B4-BE49-F238E27FC236}">
                <a16:creationId xmlns:a16="http://schemas.microsoft.com/office/drawing/2014/main" id="{1E42EBE7-5139-2524-EC35-E9A525E37925}"/>
              </a:ext>
            </a:extLst>
          </p:cNvPr>
          <p:cNvSpPr/>
          <p:nvPr/>
        </p:nvSpPr>
        <p:spPr>
          <a:xfrm>
            <a:off x="4021445" y="6270091"/>
            <a:ext cx="530196" cy="2510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A9A0FB-F10C-0405-5AFD-DF73863A762A}"/>
              </a:ext>
            </a:extLst>
          </p:cNvPr>
          <p:cNvSpPr txBox="1"/>
          <p:nvPr/>
        </p:nvSpPr>
        <p:spPr>
          <a:xfrm>
            <a:off x="3885778" y="6551070"/>
            <a:ext cx="8015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Current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9A30C0-10DD-A2D6-EBF7-986E17DF227B}"/>
              </a:ext>
            </a:extLst>
          </p:cNvPr>
          <p:cNvSpPr txBox="1"/>
          <p:nvPr/>
        </p:nvSpPr>
        <p:spPr>
          <a:xfrm>
            <a:off x="3885778" y="6066869"/>
            <a:ext cx="8015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0.84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직사각형 28">
            <a:extLst>
              <a:ext uri="{FF2B5EF4-FFF2-40B4-BE49-F238E27FC236}">
                <a16:creationId xmlns:a16="http://schemas.microsoft.com/office/drawing/2014/main" id="{17EAD592-A576-593C-FE76-297638C9FB91}"/>
              </a:ext>
            </a:extLst>
          </p:cNvPr>
          <p:cNvSpPr/>
          <p:nvPr/>
        </p:nvSpPr>
        <p:spPr>
          <a:xfrm>
            <a:off x="4719733" y="5777663"/>
            <a:ext cx="530196" cy="7435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9CF577-F515-0920-0F40-3989778CC58E}"/>
              </a:ext>
            </a:extLst>
          </p:cNvPr>
          <p:cNvSpPr txBox="1"/>
          <p:nvPr/>
        </p:nvSpPr>
        <p:spPr>
          <a:xfrm>
            <a:off x="4584065" y="6551070"/>
            <a:ext cx="8015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8E4C66-1086-31A8-9BC8-BF413CBFCD00}"/>
              </a:ext>
            </a:extLst>
          </p:cNvPr>
          <p:cNvSpPr txBox="1"/>
          <p:nvPr/>
        </p:nvSpPr>
        <p:spPr>
          <a:xfrm>
            <a:off x="4788118" y="5567925"/>
            <a:ext cx="801532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1000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4.5</a:t>
            </a:r>
            <a:endParaRPr lang="ko-KR" altLang="en-US" sz="1000" dirty="0">
              <a:solidFill>
                <a:srgbClr val="0000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98BA61-A605-CFA7-7D8B-38E419B86179}"/>
              </a:ext>
            </a:extLst>
          </p:cNvPr>
          <p:cNvSpPr txBox="1"/>
          <p:nvPr/>
        </p:nvSpPr>
        <p:spPr>
          <a:xfrm>
            <a:off x="3961701" y="5257039"/>
            <a:ext cx="1290874" cy="2462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Z level</a:t>
            </a:r>
            <a:endParaRPr lang="ko-KR" altLang="en-US" sz="10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7" name="직선 연결선 55">
            <a:extLst>
              <a:ext uri="{FF2B5EF4-FFF2-40B4-BE49-F238E27FC236}">
                <a16:creationId xmlns:a16="http://schemas.microsoft.com/office/drawing/2014/main" id="{E1DE5B47-5F66-D9CF-CE49-CF3C87985E2E}"/>
              </a:ext>
            </a:extLst>
          </p:cNvPr>
          <p:cNvCxnSpPr/>
          <p:nvPr/>
        </p:nvCxnSpPr>
        <p:spPr>
          <a:xfrm>
            <a:off x="5692545" y="6528715"/>
            <a:ext cx="15988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56">
            <a:extLst>
              <a:ext uri="{FF2B5EF4-FFF2-40B4-BE49-F238E27FC236}">
                <a16:creationId xmlns:a16="http://schemas.microsoft.com/office/drawing/2014/main" id="{D805FD52-432C-D5A6-7FC7-BE981A430522}"/>
              </a:ext>
            </a:extLst>
          </p:cNvPr>
          <p:cNvSpPr/>
          <p:nvPr/>
        </p:nvSpPr>
        <p:spPr>
          <a:xfrm>
            <a:off x="5858280" y="5568776"/>
            <a:ext cx="523639" cy="9543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B23D9F-896C-4F86-83BC-8C659619050B}"/>
              </a:ext>
            </a:extLst>
          </p:cNvPr>
          <p:cNvSpPr txBox="1"/>
          <p:nvPr/>
        </p:nvSpPr>
        <p:spPr>
          <a:xfrm>
            <a:off x="5720237" y="6551070"/>
            <a:ext cx="815562" cy="2308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Current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02E174-B5F2-2E7C-F36D-91C558EB419B}"/>
              </a:ext>
            </a:extLst>
          </p:cNvPr>
          <p:cNvSpPr txBox="1"/>
          <p:nvPr/>
        </p:nvSpPr>
        <p:spPr>
          <a:xfrm>
            <a:off x="5854192" y="5220752"/>
            <a:ext cx="1251756" cy="246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Defect rate (ppm)</a:t>
            </a:r>
            <a:endParaRPr lang="ko-KR" altLang="en-US" sz="10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62F418-A0E3-9E87-947F-1346C0D437F1}"/>
              </a:ext>
            </a:extLst>
          </p:cNvPr>
          <p:cNvSpPr txBox="1"/>
          <p:nvPr/>
        </p:nvSpPr>
        <p:spPr>
          <a:xfrm>
            <a:off x="5777553" y="5468630"/>
            <a:ext cx="8015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500,00</a:t>
            </a:r>
          </a:p>
          <a:p>
            <a:pPr algn="ctr"/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ppm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4" name="직사각형 2">
            <a:extLst>
              <a:ext uri="{FF2B5EF4-FFF2-40B4-BE49-F238E27FC236}">
                <a16:creationId xmlns:a16="http://schemas.microsoft.com/office/drawing/2014/main" id="{8D4C8E3D-8B11-A67E-0626-EC76665DE7F1}"/>
              </a:ext>
            </a:extLst>
          </p:cNvPr>
          <p:cNvSpPr/>
          <p:nvPr/>
        </p:nvSpPr>
        <p:spPr>
          <a:xfrm>
            <a:off x="6696066" y="4942464"/>
            <a:ext cx="2778157" cy="256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spcBef>
                <a:spcPct val="0"/>
              </a:spcBef>
            </a:pPr>
            <a:r>
              <a:rPr kumimoji="1" lang="en-US" altLang="ko-KR" sz="800" dirty="0">
                <a:solidFill>
                  <a:srgbClr val="007E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Target(Mean)=0(LSL) + 4.5*0.048(std Dev ) = 0.216 (-)</a:t>
            </a:r>
            <a:endParaRPr kumimoji="1" lang="ko-KR" altLang="en-US" sz="800" dirty="0">
              <a:solidFill>
                <a:srgbClr val="007E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7" name="도형 74">
            <a:extLst>
              <a:ext uri="{FF2B5EF4-FFF2-40B4-BE49-F238E27FC236}">
                <a16:creationId xmlns:a16="http://schemas.microsoft.com/office/drawing/2014/main" id="{34BEAA94-6EEB-4151-FE98-C27D186EDB89}"/>
              </a:ext>
            </a:extLst>
          </p:cNvPr>
          <p:cNvSpPr/>
          <p:nvPr/>
        </p:nvSpPr>
        <p:spPr>
          <a:xfrm>
            <a:off x="4253730" y="5641431"/>
            <a:ext cx="530195" cy="471243"/>
          </a:xfrm>
          <a:prstGeom prst="swooshArrow">
            <a:avLst>
              <a:gd name="adj1" fmla="val 19508"/>
              <a:gd name="adj2" fmla="val 25000"/>
            </a:avLst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도형 82">
            <a:extLst>
              <a:ext uri="{FF2B5EF4-FFF2-40B4-BE49-F238E27FC236}">
                <a16:creationId xmlns:a16="http://schemas.microsoft.com/office/drawing/2014/main" id="{723C3C85-6596-8F87-C4FD-72322BC83074}"/>
              </a:ext>
            </a:extLst>
          </p:cNvPr>
          <p:cNvSpPr/>
          <p:nvPr/>
        </p:nvSpPr>
        <p:spPr>
          <a:xfrm rot="4679445">
            <a:off x="6319903" y="5714448"/>
            <a:ext cx="868582" cy="494055"/>
          </a:xfrm>
          <a:prstGeom prst="swooshArrow">
            <a:avLst>
              <a:gd name="adj1" fmla="val 19508"/>
              <a:gd name="adj2" fmla="val 25000"/>
            </a:avLst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98E0A9-4295-7483-4827-D96BA5EACF4F}"/>
              </a:ext>
            </a:extLst>
          </p:cNvPr>
          <p:cNvSpPr/>
          <p:nvPr/>
        </p:nvSpPr>
        <p:spPr>
          <a:xfrm>
            <a:off x="6842115" y="6348082"/>
            <a:ext cx="26481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1000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507F08-021C-CB88-7BB9-0792A5258104}"/>
              </a:ext>
            </a:extLst>
          </p:cNvPr>
          <p:cNvSpPr txBox="1"/>
          <p:nvPr/>
        </p:nvSpPr>
        <p:spPr>
          <a:xfrm>
            <a:off x="6573757" y="6551070"/>
            <a:ext cx="8015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31" name="직선 연결선 24">
            <a:extLst>
              <a:ext uri="{FF2B5EF4-FFF2-40B4-BE49-F238E27FC236}">
                <a16:creationId xmlns:a16="http://schemas.microsoft.com/office/drawing/2014/main" id="{ECF0BC79-92DC-A771-A40C-D8F1C0611C52}"/>
              </a:ext>
            </a:extLst>
          </p:cNvPr>
          <p:cNvCxnSpPr/>
          <p:nvPr/>
        </p:nvCxnSpPr>
        <p:spPr>
          <a:xfrm>
            <a:off x="7429923" y="6556523"/>
            <a:ext cx="1571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25">
            <a:extLst>
              <a:ext uri="{FF2B5EF4-FFF2-40B4-BE49-F238E27FC236}">
                <a16:creationId xmlns:a16="http://schemas.microsoft.com/office/drawing/2014/main" id="{B9CBE0BB-D063-9790-65FB-A11A797DC652}"/>
              </a:ext>
            </a:extLst>
          </p:cNvPr>
          <p:cNvSpPr/>
          <p:nvPr/>
        </p:nvSpPr>
        <p:spPr>
          <a:xfrm>
            <a:off x="7618387" y="6112674"/>
            <a:ext cx="530196" cy="4383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EF30D1-9C42-01F0-B5EE-4A87CD4A0D14}"/>
              </a:ext>
            </a:extLst>
          </p:cNvPr>
          <p:cNvSpPr txBox="1"/>
          <p:nvPr/>
        </p:nvSpPr>
        <p:spPr>
          <a:xfrm>
            <a:off x="7457139" y="6580950"/>
            <a:ext cx="8015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Current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1BFA61-5BB9-8BB0-4B0F-D972E4E244AD}"/>
              </a:ext>
            </a:extLst>
          </p:cNvPr>
          <p:cNvSpPr txBox="1"/>
          <p:nvPr/>
        </p:nvSpPr>
        <p:spPr>
          <a:xfrm>
            <a:off x="7457139" y="5939647"/>
            <a:ext cx="8015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-0.039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" name="직사각형 28">
            <a:extLst>
              <a:ext uri="{FF2B5EF4-FFF2-40B4-BE49-F238E27FC236}">
                <a16:creationId xmlns:a16="http://schemas.microsoft.com/office/drawing/2014/main" id="{DB01033C-D97C-64F9-FD60-0E447BBFC201}"/>
              </a:ext>
            </a:extLst>
          </p:cNvPr>
          <p:cNvSpPr/>
          <p:nvPr/>
        </p:nvSpPr>
        <p:spPr>
          <a:xfrm>
            <a:off x="8309831" y="5799718"/>
            <a:ext cx="530196" cy="7435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481F8-7BD0-72E6-1C62-8A429B797484}"/>
              </a:ext>
            </a:extLst>
          </p:cNvPr>
          <p:cNvSpPr txBox="1"/>
          <p:nvPr/>
        </p:nvSpPr>
        <p:spPr>
          <a:xfrm>
            <a:off x="8155426" y="6580950"/>
            <a:ext cx="8015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D1F39A-B9DD-8BCF-F144-76C51F882135}"/>
              </a:ext>
            </a:extLst>
          </p:cNvPr>
          <p:cNvSpPr txBox="1"/>
          <p:nvPr/>
        </p:nvSpPr>
        <p:spPr>
          <a:xfrm>
            <a:off x="7549153" y="5226292"/>
            <a:ext cx="1290874" cy="2462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Mean</a:t>
            </a:r>
            <a:endParaRPr lang="ko-KR" altLang="en-US" sz="10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" name="도형 74">
            <a:extLst>
              <a:ext uri="{FF2B5EF4-FFF2-40B4-BE49-F238E27FC236}">
                <a16:creationId xmlns:a16="http://schemas.microsoft.com/office/drawing/2014/main" id="{C42AF588-B472-9AF6-0D55-A1B517DCBB82}"/>
              </a:ext>
            </a:extLst>
          </p:cNvPr>
          <p:cNvSpPr/>
          <p:nvPr/>
        </p:nvSpPr>
        <p:spPr>
          <a:xfrm>
            <a:off x="7883886" y="5671312"/>
            <a:ext cx="471400" cy="363288"/>
          </a:xfrm>
          <a:prstGeom prst="swooshArrow">
            <a:avLst>
              <a:gd name="adj1" fmla="val 19508"/>
              <a:gd name="adj2" fmla="val 25000"/>
            </a:avLst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6B063C-3C2A-643F-21B4-C4AF8A9B4ECB}"/>
              </a:ext>
            </a:extLst>
          </p:cNvPr>
          <p:cNvSpPr txBox="1"/>
          <p:nvPr/>
        </p:nvSpPr>
        <p:spPr>
          <a:xfrm>
            <a:off x="8355286" y="5591929"/>
            <a:ext cx="801532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1000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0.216</a:t>
            </a:r>
            <a:endParaRPr lang="ko-KR" altLang="en-US" sz="1000" dirty="0">
              <a:solidFill>
                <a:srgbClr val="0000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5307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7C42D187-FF46-4A63-9E9D-A025BC7CC663}"/>
              </a:ext>
            </a:extLst>
          </p:cNvPr>
          <p:cNvCxnSpPr>
            <a:stCxn id="76" idx="3"/>
            <a:endCxn id="84" idx="1"/>
          </p:cNvCxnSpPr>
          <p:nvPr/>
        </p:nvCxnSpPr>
        <p:spPr bwMode="auto">
          <a:xfrm>
            <a:off x="2783434" y="1697232"/>
            <a:ext cx="346967" cy="907622"/>
          </a:xfrm>
          <a:prstGeom prst="bentConnector3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3" name="제목 1">
            <a:extLst>
              <a:ext uri="{FF2B5EF4-FFF2-40B4-BE49-F238E27FC236}">
                <a16:creationId xmlns:a16="http://schemas.microsoft.com/office/drawing/2014/main" id="{A33C1AE4-DB4A-4748-A4CE-56DE3154E7D9}"/>
              </a:ext>
            </a:extLst>
          </p:cNvPr>
          <p:cNvSpPr txBox="1">
            <a:spLocks/>
          </p:cNvSpPr>
          <p:nvPr/>
        </p:nvSpPr>
        <p:spPr>
          <a:xfrm>
            <a:off x="27541" y="64338"/>
            <a:ext cx="6525659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eaLnBrk="0" hangingPunct="0">
              <a:defRPr/>
            </a:pPr>
            <a:r>
              <a:rPr lang="en-US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3.1 Find the Root Cause that </a:t>
            </a:r>
            <a:r>
              <a:rPr lang="en-US" altLang="ko-KR" sz="1600" b="1" kern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making flush issue</a:t>
            </a:r>
            <a:endParaRPr lang="ko-KR" altLang="en-US" sz="1600" b="1" kern="0" dirty="0">
              <a:solidFill>
                <a:srgbClr val="000000"/>
              </a:solidFill>
              <a:latin typeface="Arial Narrow" panose="020B0606020202030204" pitchFamily="34" charset="0"/>
              <a:ea typeface="LG Smart_H Regular" pitchFamily="34" charset="-127"/>
            </a:endParaRPr>
          </a:p>
        </p:txBody>
      </p:sp>
      <p:sp>
        <p:nvSpPr>
          <p:cNvPr id="72" name="Text Box 2">
            <a:extLst>
              <a:ext uri="{FF2B5EF4-FFF2-40B4-BE49-F238E27FC236}">
                <a16:creationId xmlns:a16="http://schemas.microsoft.com/office/drawing/2014/main" id="{154D2356-34D8-4A47-AE3E-15659243D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684839"/>
            <a:ext cx="411480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/>
          <a:lstStyle/>
          <a:p>
            <a:pPr defTabSz="844083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Logic tree analysis</a:t>
            </a:r>
            <a:endParaRPr lang="ko-KR" altLang="en-US" sz="1200" b="1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8BB49C0-2391-4488-9636-39BB014241CF}"/>
              </a:ext>
            </a:extLst>
          </p:cNvPr>
          <p:cNvSpPr/>
          <p:nvPr/>
        </p:nvSpPr>
        <p:spPr>
          <a:xfrm>
            <a:off x="159774" y="3156008"/>
            <a:ext cx="116522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Flush NG</a:t>
            </a:r>
            <a:endParaRPr lang="en-US" sz="1000" b="1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A7F75B1-1676-4838-AC23-A6F29218D318}"/>
              </a:ext>
            </a:extLst>
          </p:cNvPr>
          <p:cNvSpPr/>
          <p:nvPr/>
        </p:nvSpPr>
        <p:spPr>
          <a:xfrm>
            <a:off x="1651384" y="5944884"/>
            <a:ext cx="116522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Man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A95EC89-2D59-457C-9D51-482F9FF272A8}"/>
              </a:ext>
            </a:extLst>
          </p:cNvPr>
          <p:cNvSpPr/>
          <p:nvPr/>
        </p:nvSpPr>
        <p:spPr>
          <a:xfrm>
            <a:off x="4719475" y="6271041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Automatic process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1A52889-10F4-4654-BF9E-1C234D11F6E6}"/>
              </a:ext>
            </a:extLst>
          </p:cNvPr>
          <p:cNvSpPr/>
          <p:nvPr/>
        </p:nvSpPr>
        <p:spPr>
          <a:xfrm>
            <a:off x="1618209" y="1427357"/>
            <a:ext cx="116522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Material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B2EA42F-BBCA-476E-A6D2-DCED7477DD94}"/>
              </a:ext>
            </a:extLst>
          </p:cNvPr>
          <p:cNvSpPr/>
          <p:nvPr/>
        </p:nvSpPr>
        <p:spPr>
          <a:xfrm>
            <a:off x="3132282" y="1603784"/>
            <a:ext cx="129657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Double side tape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B14BB72-DACF-49D8-B9E7-7795EBE9B6A4}"/>
              </a:ext>
            </a:extLst>
          </p:cNvPr>
          <p:cNvSpPr/>
          <p:nvPr/>
        </p:nvSpPr>
        <p:spPr>
          <a:xfrm>
            <a:off x="3123027" y="967992"/>
            <a:ext cx="129657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LCD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EDD2645-0EFA-436C-A6E7-C8D003106F1B}"/>
              </a:ext>
            </a:extLst>
          </p:cNvPr>
          <p:cNvSpPr/>
          <p:nvPr/>
        </p:nvSpPr>
        <p:spPr>
          <a:xfrm>
            <a:off x="4730616" y="967675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Appearance standard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DF543DF-7565-40EB-9D0A-0B63AA26DE3B}"/>
              </a:ext>
            </a:extLst>
          </p:cNvPr>
          <p:cNvSpPr/>
          <p:nvPr/>
        </p:nvSpPr>
        <p:spPr>
          <a:xfrm>
            <a:off x="3118102" y="6271041"/>
            <a:ext cx="129657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Working skill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21A6137-4C2A-4CAD-B245-15DBCEC5BE1C}"/>
              </a:ext>
            </a:extLst>
          </p:cNvPr>
          <p:cNvSpPr/>
          <p:nvPr/>
        </p:nvSpPr>
        <p:spPr>
          <a:xfrm>
            <a:off x="4733655" y="1603784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Thickness NG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690E334-C0F6-498D-B406-B7676F0A33E0}"/>
              </a:ext>
            </a:extLst>
          </p:cNvPr>
          <p:cNvSpPr/>
          <p:nvPr/>
        </p:nvSpPr>
        <p:spPr>
          <a:xfrm>
            <a:off x="3130401" y="2334979"/>
            <a:ext cx="129657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Panel main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cxnSp>
        <p:nvCxnSpPr>
          <p:cNvPr id="85" name="Elbow Connector 11">
            <a:extLst>
              <a:ext uri="{FF2B5EF4-FFF2-40B4-BE49-F238E27FC236}">
                <a16:creationId xmlns:a16="http://schemas.microsoft.com/office/drawing/2014/main" id="{A0900B0B-88B7-436C-8708-BACE50220958}"/>
              </a:ext>
            </a:extLst>
          </p:cNvPr>
          <p:cNvCxnSpPr>
            <a:stCxn id="73" idx="3"/>
            <a:endCxn id="76" idx="1"/>
          </p:cNvCxnSpPr>
          <p:nvPr/>
        </p:nvCxnSpPr>
        <p:spPr>
          <a:xfrm flipV="1">
            <a:off x="1324999" y="1697232"/>
            <a:ext cx="293210" cy="172865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14">
            <a:extLst>
              <a:ext uri="{FF2B5EF4-FFF2-40B4-BE49-F238E27FC236}">
                <a16:creationId xmlns:a16="http://schemas.microsoft.com/office/drawing/2014/main" id="{7C3D603A-2E8C-4A1D-8161-53008CE24C0D}"/>
              </a:ext>
            </a:extLst>
          </p:cNvPr>
          <p:cNvCxnSpPr>
            <a:cxnSpLocks/>
            <a:stCxn id="73" idx="3"/>
            <a:endCxn id="74" idx="1"/>
          </p:cNvCxnSpPr>
          <p:nvPr/>
        </p:nvCxnSpPr>
        <p:spPr>
          <a:xfrm>
            <a:off x="1324999" y="3425883"/>
            <a:ext cx="326385" cy="2788876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3DFF0DF6-D5B0-453E-A753-5B5ED81A50F4}"/>
              </a:ext>
            </a:extLst>
          </p:cNvPr>
          <p:cNvSpPr/>
          <p:nvPr/>
        </p:nvSpPr>
        <p:spPr>
          <a:xfrm>
            <a:off x="4748132" y="2334979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Height dimension NG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840A584-72DD-4DDF-A457-81F5E3DDA5CE}"/>
              </a:ext>
            </a:extLst>
          </p:cNvPr>
          <p:cNvCxnSpPr>
            <a:stCxn id="80" idx="3"/>
            <a:endCxn id="75" idx="1"/>
          </p:cNvCxnSpPr>
          <p:nvPr/>
        </p:nvCxnSpPr>
        <p:spPr>
          <a:xfrm>
            <a:off x="4414675" y="6540916"/>
            <a:ext cx="30480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DF8E102-D994-4E57-A889-210E1C85B4EE}"/>
              </a:ext>
            </a:extLst>
          </p:cNvPr>
          <p:cNvSpPr/>
          <p:nvPr/>
        </p:nvSpPr>
        <p:spPr>
          <a:xfrm>
            <a:off x="6414325" y="967675"/>
            <a:ext cx="1965738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Clean surface of LCD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93E51A7-2F56-473A-BCFB-084759CC0310}"/>
              </a:ext>
            </a:extLst>
          </p:cNvPr>
          <p:cNvSpPr/>
          <p:nvPr/>
        </p:nvSpPr>
        <p:spPr>
          <a:xfrm>
            <a:off x="6394839" y="1603784"/>
            <a:ext cx="1985224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Check DST condition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26365BE-C1C2-40A3-AA3C-F648D3A85333}"/>
              </a:ext>
            </a:extLst>
          </p:cNvPr>
          <p:cNvSpPr/>
          <p:nvPr/>
        </p:nvSpPr>
        <p:spPr>
          <a:xfrm>
            <a:off x="6421698" y="2339739"/>
            <a:ext cx="195836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Check height of panel main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CC36094-8B79-406C-AD09-9862013612E5}"/>
              </a:ext>
            </a:extLst>
          </p:cNvPr>
          <p:cNvSpPr/>
          <p:nvPr/>
        </p:nvSpPr>
        <p:spPr>
          <a:xfrm>
            <a:off x="6409400" y="6271041"/>
            <a:ext cx="1970664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Man is not related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6348AC4-7CC7-4562-A5F4-3D08FCFA7F86}"/>
              </a:ext>
            </a:extLst>
          </p:cNvPr>
          <p:cNvCxnSpPr>
            <a:cxnSpLocks/>
            <a:stCxn id="75" idx="3"/>
            <a:endCxn id="107" idx="1"/>
          </p:cNvCxnSpPr>
          <p:nvPr/>
        </p:nvCxnSpPr>
        <p:spPr>
          <a:xfrm>
            <a:off x="6091075" y="6540916"/>
            <a:ext cx="31832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A460B8F4-80BE-49C8-89CB-A5C7E9A567C0}"/>
              </a:ext>
            </a:extLst>
          </p:cNvPr>
          <p:cNvSpPr/>
          <p:nvPr/>
        </p:nvSpPr>
        <p:spPr>
          <a:xfrm>
            <a:off x="1651383" y="3171916"/>
            <a:ext cx="1138837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Machine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103916A-A389-4D0B-82E8-4E5DD92F975F}"/>
              </a:ext>
            </a:extLst>
          </p:cNvPr>
          <p:cNvSpPr/>
          <p:nvPr/>
        </p:nvSpPr>
        <p:spPr>
          <a:xfrm>
            <a:off x="1643067" y="4425392"/>
            <a:ext cx="116522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Method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DDBBEBB-5CA9-48F3-8807-40C42BCDD09A}"/>
              </a:ext>
            </a:extLst>
          </p:cNvPr>
          <p:cNvSpPr/>
          <p:nvPr/>
        </p:nvSpPr>
        <p:spPr>
          <a:xfrm>
            <a:off x="4684882" y="3171916"/>
            <a:ext cx="1430006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  <a:sym typeface="Wingdings" panose="05000000000000000000" pitchFamily="2" charset="2"/>
              </a:rPr>
              <a:t>Pressure force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3AD0F078-8893-47B3-AAA2-B875B6B049B4}"/>
              </a:ext>
            </a:extLst>
          </p:cNvPr>
          <p:cNvSpPr/>
          <p:nvPr/>
        </p:nvSpPr>
        <p:spPr>
          <a:xfrm>
            <a:off x="3118102" y="3171916"/>
            <a:ext cx="1263872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Pressure machine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2EF4C1BB-E769-49BE-82E8-09AC2E114D3D}"/>
              </a:ext>
            </a:extLst>
          </p:cNvPr>
          <p:cNvCxnSpPr>
            <a:cxnSpLocks/>
            <a:stCxn id="152" idx="3"/>
            <a:endCxn id="151" idx="1"/>
          </p:cNvCxnSpPr>
          <p:nvPr/>
        </p:nvCxnSpPr>
        <p:spPr>
          <a:xfrm>
            <a:off x="4381974" y="3441791"/>
            <a:ext cx="3029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C7D61E8F-3848-40A1-938A-C00B0BD74350}"/>
              </a:ext>
            </a:extLst>
          </p:cNvPr>
          <p:cNvSpPr/>
          <p:nvPr/>
        </p:nvSpPr>
        <p:spPr>
          <a:xfrm>
            <a:off x="6409399" y="3171916"/>
            <a:ext cx="1970664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Adjust pressure force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0099F56D-264D-4C71-87E1-E36D5E5023CF}"/>
              </a:ext>
            </a:extLst>
          </p:cNvPr>
          <p:cNvCxnSpPr>
            <a:cxnSpLocks/>
            <a:stCxn id="151" idx="3"/>
            <a:endCxn id="155" idx="1"/>
          </p:cNvCxnSpPr>
          <p:nvPr/>
        </p:nvCxnSpPr>
        <p:spPr>
          <a:xfrm>
            <a:off x="6114888" y="3441791"/>
            <a:ext cx="29451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8467BE26-3B27-40D6-82FD-EC081804E80A}"/>
              </a:ext>
            </a:extLst>
          </p:cNvPr>
          <p:cNvCxnSpPr>
            <a:stCxn id="149" idx="3"/>
            <a:endCxn id="152" idx="1"/>
          </p:cNvCxnSpPr>
          <p:nvPr/>
        </p:nvCxnSpPr>
        <p:spPr>
          <a:xfrm>
            <a:off x="2790220" y="3441791"/>
            <a:ext cx="32788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lbow Connector 11">
            <a:extLst>
              <a:ext uri="{FF2B5EF4-FFF2-40B4-BE49-F238E27FC236}">
                <a16:creationId xmlns:a16="http://schemas.microsoft.com/office/drawing/2014/main" id="{A8539414-FDD4-4ED4-AF7D-6DD857B0A62B}"/>
              </a:ext>
            </a:extLst>
          </p:cNvPr>
          <p:cNvCxnSpPr>
            <a:cxnSpLocks/>
            <a:endCxn id="150" idx="1"/>
          </p:cNvCxnSpPr>
          <p:nvPr/>
        </p:nvCxnSpPr>
        <p:spPr>
          <a:xfrm rot="16200000" flipH="1">
            <a:off x="922645" y="3974845"/>
            <a:ext cx="1269382" cy="171461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4C87628-BF12-40D4-9A9A-68CDD2BF67F1}"/>
              </a:ext>
            </a:extLst>
          </p:cNvPr>
          <p:cNvSpPr/>
          <p:nvPr/>
        </p:nvSpPr>
        <p:spPr>
          <a:xfrm>
            <a:off x="3109785" y="4425392"/>
            <a:ext cx="129657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Assembly method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1D50A4B6-DF5E-4323-9BED-2E5C23A78571}"/>
              </a:ext>
            </a:extLst>
          </p:cNvPr>
          <p:cNvCxnSpPr>
            <a:stCxn id="150" idx="3"/>
            <a:endCxn id="164" idx="1"/>
          </p:cNvCxnSpPr>
          <p:nvPr/>
        </p:nvCxnSpPr>
        <p:spPr>
          <a:xfrm>
            <a:off x="2808292" y="4695267"/>
            <a:ext cx="301493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 165">
            <a:extLst>
              <a:ext uri="{FF2B5EF4-FFF2-40B4-BE49-F238E27FC236}">
                <a16:creationId xmlns:a16="http://schemas.microsoft.com/office/drawing/2014/main" id="{2076F5FA-D971-4E47-82BE-E8A1D3F94816}"/>
              </a:ext>
            </a:extLst>
          </p:cNvPr>
          <p:cNvSpPr/>
          <p:nvPr/>
        </p:nvSpPr>
        <p:spPr>
          <a:xfrm>
            <a:off x="4711157" y="4425392"/>
            <a:ext cx="143000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Auto matic process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55DC3AAF-635D-41C2-8877-A829B844A728}"/>
              </a:ext>
            </a:extLst>
          </p:cNvPr>
          <p:cNvCxnSpPr>
            <a:cxnSpLocks/>
            <a:stCxn id="164" idx="3"/>
            <a:endCxn id="166" idx="1"/>
          </p:cNvCxnSpPr>
          <p:nvPr/>
        </p:nvCxnSpPr>
        <p:spPr>
          <a:xfrm>
            <a:off x="4406358" y="4695267"/>
            <a:ext cx="30479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E6039A6-3D38-448A-8C19-55ADC48F64FD}"/>
              </a:ext>
            </a:extLst>
          </p:cNvPr>
          <p:cNvSpPr/>
          <p:nvPr/>
        </p:nvSpPr>
        <p:spPr>
          <a:xfrm>
            <a:off x="6401083" y="4425392"/>
            <a:ext cx="198522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Man is not related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F555F9C6-D9E2-4FF4-B104-ECEC3D3E2660}"/>
              </a:ext>
            </a:extLst>
          </p:cNvPr>
          <p:cNvCxnSpPr>
            <a:cxnSpLocks/>
            <a:stCxn id="166" idx="3"/>
            <a:endCxn id="170" idx="1"/>
          </p:cNvCxnSpPr>
          <p:nvPr/>
        </p:nvCxnSpPr>
        <p:spPr>
          <a:xfrm>
            <a:off x="6141162" y="4695267"/>
            <a:ext cx="25992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Rectangle 173">
            <a:extLst>
              <a:ext uri="{FF2B5EF4-FFF2-40B4-BE49-F238E27FC236}">
                <a16:creationId xmlns:a16="http://schemas.microsoft.com/office/drawing/2014/main" id="{8F08C70E-C661-4A4A-A32D-07D838FE4A52}"/>
              </a:ext>
            </a:extLst>
          </p:cNvPr>
          <p:cNvSpPr/>
          <p:nvPr/>
        </p:nvSpPr>
        <p:spPr>
          <a:xfrm>
            <a:off x="4711158" y="5646868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Other function </a:t>
            </a: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is OK, </a:t>
            </a: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only Flush </a:t>
            </a: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is NG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B895C442-E39F-4F78-9F50-F0A2DC18C153}"/>
              </a:ext>
            </a:extLst>
          </p:cNvPr>
          <p:cNvSpPr/>
          <p:nvPr/>
        </p:nvSpPr>
        <p:spPr>
          <a:xfrm>
            <a:off x="3109785" y="5646868"/>
            <a:ext cx="129657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Input </a:t>
            </a: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set </a:t>
            </a: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to jig </a:t>
            </a: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not fully</a:t>
            </a: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C530E187-51B7-4142-AC22-C60B4DBD0D5C}"/>
              </a:ext>
            </a:extLst>
          </p:cNvPr>
          <p:cNvCxnSpPr>
            <a:stCxn id="175" idx="3"/>
            <a:endCxn id="174" idx="1"/>
          </p:cNvCxnSpPr>
          <p:nvPr/>
        </p:nvCxnSpPr>
        <p:spPr>
          <a:xfrm>
            <a:off x="4406358" y="5916743"/>
            <a:ext cx="30480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3F39FC5-DB21-4BF0-B0ED-09C2FE172F84}"/>
              </a:ext>
            </a:extLst>
          </p:cNvPr>
          <p:cNvSpPr/>
          <p:nvPr/>
        </p:nvSpPr>
        <p:spPr>
          <a:xfrm>
            <a:off x="6401083" y="5646868"/>
            <a:ext cx="1978981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Not relate </a:t>
            </a:r>
            <a:r>
              <a:rPr lang="en-US" sz="100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to part input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ABB10B07-3DA1-42EA-859D-3CF7A3708297}"/>
              </a:ext>
            </a:extLst>
          </p:cNvPr>
          <p:cNvCxnSpPr>
            <a:cxnSpLocks/>
            <a:stCxn id="174" idx="3"/>
            <a:endCxn id="177" idx="1"/>
          </p:cNvCxnSpPr>
          <p:nvPr/>
        </p:nvCxnSpPr>
        <p:spPr>
          <a:xfrm>
            <a:off x="6082758" y="5916743"/>
            <a:ext cx="31832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Elbow Connector 98">
            <a:extLst>
              <a:ext uri="{FF2B5EF4-FFF2-40B4-BE49-F238E27FC236}">
                <a16:creationId xmlns:a16="http://schemas.microsoft.com/office/drawing/2014/main" id="{E6BD7F65-64F4-4BC6-8A09-AA53ECEE1177}"/>
              </a:ext>
            </a:extLst>
          </p:cNvPr>
          <p:cNvCxnSpPr>
            <a:stCxn id="74" idx="3"/>
            <a:endCxn id="80" idx="1"/>
          </p:cNvCxnSpPr>
          <p:nvPr/>
        </p:nvCxnSpPr>
        <p:spPr>
          <a:xfrm>
            <a:off x="2816609" y="6214759"/>
            <a:ext cx="301493" cy="32615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lbow Connector 98">
            <a:extLst>
              <a:ext uri="{FF2B5EF4-FFF2-40B4-BE49-F238E27FC236}">
                <a16:creationId xmlns:a16="http://schemas.microsoft.com/office/drawing/2014/main" id="{1ADB74E5-B249-445C-B177-17CEE8F659B2}"/>
              </a:ext>
            </a:extLst>
          </p:cNvPr>
          <p:cNvCxnSpPr>
            <a:stCxn id="74" idx="3"/>
            <a:endCxn id="175" idx="1"/>
          </p:cNvCxnSpPr>
          <p:nvPr/>
        </p:nvCxnSpPr>
        <p:spPr>
          <a:xfrm flipV="1">
            <a:off x="2816609" y="5916743"/>
            <a:ext cx="293176" cy="298016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9F3DF8AA-61E9-45AC-A326-EEC96FD43AA4}"/>
              </a:ext>
            </a:extLst>
          </p:cNvPr>
          <p:cNvSpPr txBox="1"/>
          <p:nvPr/>
        </p:nvSpPr>
        <p:spPr>
          <a:xfrm>
            <a:off x="8237479" y="2408638"/>
            <a:ext cx="35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100AD42B-DE28-44C1-9F87-EC6EEC4098F1}"/>
              </a:ext>
            </a:extLst>
          </p:cNvPr>
          <p:cNvSpPr txBox="1"/>
          <p:nvPr/>
        </p:nvSpPr>
        <p:spPr>
          <a:xfrm>
            <a:off x="8441892" y="6504761"/>
            <a:ext cx="35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9206562-A479-4925-9BC1-FF6A9BBDE250}"/>
              </a:ext>
            </a:extLst>
          </p:cNvPr>
          <p:cNvSpPr txBox="1"/>
          <p:nvPr/>
        </p:nvSpPr>
        <p:spPr>
          <a:xfrm>
            <a:off x="8694077" y="6560610"/>
            <a:ext cx="1234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: Potential factor</a:t>
            </a:r>
            <a:endParaRPr lang="en-US" sz="1400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91" name="AutoShape 55">
            <a:extLst>
              <a:ext uri="{FF2B5EF4-FFF2-40B4-BE49-F238E27FC236}">
                <a16:creationId xmlns:a16="http://schemas.microsoft.com/office/drawing/2014/main" id="{CBB9EF69-BB7B-4362-AF27-5EC61A249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9039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Control</a:t>
            </a:r>
          </a:p>
        </p:txBody>
      </p:sp>
      <p:sp>
        <p:nvSpPr>
          <p:cNvPr id="192" name="AutoShape 56">
            <a:extLst>
              <a:ext uri="{FF2B5EF4-FFF2-40B4-BE49-F238E27FC236}">
                <a16:creationId xmlns:a16="http://schemas.microsoft.com/office/drawing/2014/main" id="{899114A1-A363-4B04-A11E-ECA42BBFA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0064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Improve</a:t>
            </a:r>
          </a:p>
        </p:txBody>
      </p:sp>
      <p:sp>
        <p:nvSpPr>
          <p:cNvPr id="194" name="AutoShape 59">
            <a:extLst>
              <a:ext uri="{FF2B5EF4-FFF2-40B4-BE49-F238E27FC236}">
                <a16:creationId xmlns:a16="http://schemas.microsoft.com/office/drawing/2014/main" id="{189FE38E-6AAE-4AC6-A89D-C8987F0B0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89" y="178989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Define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7A1AC0BE-D61B-4DF5-A5B3-7E662E9388EC}"/>
              </a:ext>
            </a:extLst>
          </p:cNvPr>
          <p:cNvCxnSpPr>
            <a:stCxn id="76" idx="3"/>
            <a:endCxn id="78" idx="1"/>
          </p:cNvCxnSpPr>
          <p:nvPr/>
        </p:nvCxnSpPr>
        <p:spPr bwMode="auto">
          <a:xfrm flipV="1">
            <a:off x="2783434" y="1237992"/>
            <a:ext cx="339593" cy="459240"/>
          </a:xfrm>
          <a:prstGeom prst="bentConnector3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15AC848-5978-4A92-9CE9-375F6E7FDBD4}"/>
              </a:ext>
            </a:extLst>
          </p:cNvPr>
          <p:cNvCxnSpPr>
            <a:stCxn id="76" idx="3"/>
            <a:endCxn id="77" idx="1"/>
          </p:cNvCxnSpPr>
          <p:nvPr/>
        </p:nvCxnSpPr>
        <p:spPr bwMode="auto">
          <a:xfrm>
            <a:off x="2783434" y="1697232"/>
            <a:ext cx="348848" cy="176427"/>
          </a:xfrm>
          <a:prstGeom prst="bentConnector3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4527899-A765-458F-8A78-A363E20CA815}"/>
              </a:ext>
            </a:extLst>
          </p:cNvPr>
          <p:cNvCxnSpPr>
            <a:stCxn id="84" idx="3"/>
            <a:endCxn id="89" idx="1"/>
          </p:cNvCxnSpPr>
          <p:nvPr/>
        </p:nvCxnSpPr>
        <p:spPr bwMode="auto">
          <a:xfrm>
            <a:off x="4426974" y="2604854"/>
            <a:ext cx="321158" cy="0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AFC0009-2914-4210-BA1F-C7185110F42E}"/>
              </a:ext>
            </a:extLst>
          </p:cNvPr>
          <p:cNvCxnSpPr>
            <a:stCxn id="77" idx="3"/>
            <a:endCxn id="81" idx="1"/>
          </p:cNvCxnSpPr>
          <p:nvPr/>
        </p:nvCxnSpPr>
        <p:spPr bwMode="auto">
          <a:xfrm>
            <a:off x="4428855" y="1873659"/>
            <a:ext cx="304800" cy="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AF0FBA5-C2E8-41FC-94EA-78655BBAEBCA}"/>
              </a:ext>
            </a:extLst>
          </p:cNvPr>
          <p:cNvCxnSpPr>
            <a:stCxn id="78" idx="3"/>
            <a:endCxn id="79" idx="1"/>
          </p:cNvCxnSpPr>
          <p:nvPr/>
        </p:nvCxnSpPr>
        <p:spPr bwMode="auto">
          <a:xfrm flipV="1">
            <a:off x="4419600" y="1237550"/>
            <a:ext cx="311016" cy="442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F3F4B1A-206F-4764-AB45-1B97FEE192AC}"/>
              </a:ext>
            </a:extLst>
          </p:cNvPr>
          <p:cNvCxnSpPr>
            <a:stCxn id="79" idx="3"/>
            <a:endCxn id="103" idx="1"/>
          </p:cNvCxnSpPr>
          <p:nvPr/>
        </p:nvCxnSpPr>
        <p:spPr bwMode="auto">
          <a:xfrm>
            <a:off x="6102216" y="1237550"/>
            <a:ext cx="312109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ED58CB8-EB39-4ECB-BB3D-DF765EEF23C6}"/>
              </a:ext>
            </a:extLst>
          </p:cNvPr>
          <p:cNvCxnSpPr>
            <a:stCxn id="81" idx="3"/>
            <a:endCxn id="104" idx="1"/>
          </p:cNvCxnSpPr>
          <p:nvPr/>
        </p:nvCxnSpPr>
        <p:spPr bwMode="auto">
          <a:xfrm>
            <a:off x="6105255" y="1873659"/>
            <a:ext cx="289584" cy="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40C8031-D0CB-4EA3-B672-41A2BAA53A8B}"/>
              </a:ext>
            </a:extLst>
          </p:cNvPr>
          <p:cNvCxnSpPr>
            <a:stCxn id="89" idx="3"/>
            <a:endCxn id="106" idx="1"/>
          </p:cNvCxnSpPr>
          <p:nvPr/>
        </p:nvCxnSpPr>
        <p:spPr bwMode="auto">
          <a:xfrm>
            <a:off x="6119732" y="2604854"/>
            <a:ext cx="301966" cy="4760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2" name="AutoShape 58">
            <a:extLst>
              <a:ext uri="{FF2B5EF4-FFF2-40B4-BE49-F238E27FC236}">
                <a16:creationId xmlns:a16="http://schemas.microsoft.com/office/drawing/2014/main" id="{B62677B9-888A-4840-899E-E32D64306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109" y="16658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Measure </a:t>
            </a:r>
          </a:p>
        </p:txBody>
      </p:sp>
      <p:sp>
        <p:nvSpPr>
          <p:cNvPr id="183" name="AutoShape 57">
            <a:extLst>
              <a:ext uri="{FF2B5EF4-FFF2-40B4-BE49-F238E27FC236}">
                <a16:creationId xmlns:a16="http://schemas.microsoft.com/office/drawing/2014/main" id="{23C9CAEE-59A1-46EB-8940-8C7223841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621" y="22123"/>
            <a:ext cx="749300" cy="287337"/>
          </a:xfrm>
          <a:prstGeom prst="homePlate">
            <a:avLst>
              <a:gd name="adj" fmla="val 46698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 Narrow" panose="020B0606020202030204" pitchFamily="34" charset="0"/>
                <a:ea typeface="맑은 고딕" panose="020B0503020000020004" pitchFamily="50" charset="-127"/>
              </a:rPr>
              <a:t>Analyze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2D94FA3-B0E1-45D5-AD90-1D068E02CB29}"/>
              </a:ext>
            </a:extLst>
          </p:cNvPr>
          <p:cNvCxnSpPr/>
          <p:nvPr/>
        </p:nvCxnSpPr>
        <p:spPr bwMode="auto">
          <a:xfrm>
            <a:off x="1342524" y="3425883"/>
            <a:ext cx="321158" cy="0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2CAD0187-1EBE-4E1D-8F59-3061C179FCD9}"/>
              </a:ext>
            </a:extLst>
          </p:cNvPr>
          <p:cNvSpPr txBox="1"/>
          <p:nvPr/>
        </p:nvSpPr>
        <p:spPr>
          <a:xfrm>
            <a:off x="8226400" y="3204000"/>
            <a:ext cx="35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06B7887-2C37-4055-8580-F4E0FB3E6E14}"/>
              </a:ext>
            </a:extLst>
          </p:cNvPr>
          <p:cNvSpPr txBox="1"/>
          <p:nvPr/>
        </p:nvSpPr>
        <p:spPr>
          <a:xfrm>
            <a:off x="8223116" y="1681351"/>
            <a:ext cx="35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5DEECC-7AAC-40AC-9AF1-83EF3D7F4BCC}"/>
              </a:ext>
            </a:extLst>
          </p:cNvPr>
          <p:cNvSpPr txBox="1"/>
          <p:nvPr/>
        </p:nvSpPr>
        <p:spPr>
          <a:xfrm>
            <a:off x="27541" y="620224"/>
            <a:ext cx="95770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latin typeface="Arial Narrow" panose="020B0606020202030204" pitchFamily="34" charset="0"/>
              </a:rPr>
              <a:t>In order to define root cause and improvement action, </a:t>
            </a:r>
            <a:r>
              <a:rPr lang="en-US" altLang="ko-KR" sz="11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I use logic tree to find the root cause</a:t>
            </a:r>
            <a:r>
              <a:rPr lang="en-US" sz="1100">
                <a:latin typeface="Arial Narrow" panose="020B0606020202030204" pitchFamily="34" charset="0"/>
              </a:rPr>
              <a:t>. </a:t>
            </a:r>
            <a:endParaRPr lang="en-US" sz="11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241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제목 1">
            <a:extLst>
              <a:ext uri="{FF2B5EF4-FFF2-40B4-BE49-F238E27FC236}">
                <a16:creationId xmlns:a16="http://schemas.microsoft.com/office/drawing/2014/main" id="{A33C1AE4-DB4A-4748-A4CE-56DE3154E7D9}"/>
              </a:ext>
            </a:extLst>
          </p:cNvPr>
          <p:cNvSpPr txBox="1">
            <a:spLocks/>
          </p:cNvSpPr>
          <p:nvPr/>
        </p:nvSpPr>
        <p:spPr>
          <a:xfrm>
            <a:off x="27541" y="64338"/>
            <a:ext cx="608564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eaLnBrk="0" hangingPunct="0">
              <a:defRPr/>
            </a:pPr>
            <a:r>
              <a:rPr lang="vi-VN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3.1</a:t>
            </a:r>
            <a:r>
              <a:rPr lang="en-US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 Find the root cause that </a:t>
            </a:r>
            <a:r>
              <a:rPr lang="en-US" altLang="ko-KR" sz="1600" b="1" kern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making flush issue</a:t>
            </a:r>
            <a:endParaRPr lang="ko-KR" altLang="en-US" sz="1600" b="1" kern="0" dirty="0">
              <a:solidFill>
                <a:srgbClr val="000000"/>
              </a:solidFill>
              <a:latin typeface="Arial Narrow" panose="020B0606020202030204" pitchFamily="34" charset="0"/>
              <a:ea typeface="LG Smart_H Regular" pitchFamily="34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30BA61B-B65C-41A9-8B27-50F93589B063}"/>
              </a:ext>
            </a:extLst>
          </p:cNvPr>
          <p:cNvSpPr txBox="1"/>
          <p:nvPr/>
        </p:nvSpPr>
        <p:spPr>
          <a:xfrm>
            <a:off x="244673" y="6496049"/>
            <a:ext cx="1234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: Potential factor</a:t>
            </a:r>
            <a:endParaRPr lang="en-US" sz="1400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0C5646B-6776-41B4-BBD7-13F91A6E3313}"/>
              </a:ext>
            </a:extLst>
          </p:cNvPr>
          <p:cNvSpPr txBox="1"/>
          <p:nvPr/>
        </p:nvSpPr>
        <p:spPr>
          <a:xfrm>
            <a:off x="39997" y="6477386"/>
            <a:ext cx="391772" cy="37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05" name="Text Box 2">
            <a:extLst>
              <a:ext uri="{FF2B5EF4-FFF2-40B4-BE49-F238E27FC236}">
                <a16:creationId xmlns:a16="http://schemas.microsoft.com/office/drawing/2014/main" id="{F885FEA8-2650-4BAE-BD30-177BEEB89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1" y="618466"/>
            <a:ext cx="5645539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/>
          <a:lstStyle/>
          <a:p>
            <a:pPr marL="171450" indent="-171450" defTabSz="844083" fontAlgn="base" latinLnBrk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2 </a:t>
            </a: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Samples T test </a:t>
            </a:r>
            <a:endParaRPr lang="ko-KR" altLang="en-US" sz="1200" b="1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00" name="AutoShape 55">
            <a:extLst>
              <a:ext uri="{FF2B5EF4-FFF2-40B4-BE49-F238E27FC236}">
                <a16:creationId xmlns:a16="http://schemas.microsoft.com/office/drawing/2014/main" id="{EED46192-4ED1-4158-8F3E-AA2D8BB90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0746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Control</a:t>
            </a:r>
          </a:p>
        </p:txBody>
      </p:sp>
      <p:sp>
        <p:nvSpPr>
          <p:cNvPr id="101" name="AutoShape 56">
            <a:extLst>
              <a:ext uri="{FF2B5EF4-FFF2-40B4-BE49-F238E27FC236}">
                <a16:creationId xmlns:a16="http://schemas.microsoft.com/office/drawing/2014/main" id="{7459209F-12BD-4723-B248-E7E3EC69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771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Improve</a:t>
            </a:r>
          </a:p>
        </p:txBody>
      </p:sp>
      <p:sp>
        <p:nvSpPr>
          <p:cNvPr id="114" name="AutoShape 58">
            <a:extLst>
              <a:ext uri="{FF2B5EF4-FFF2-40B4-BE49-F238E27FC236}">
                <a16:creationId xmlns:a16="http://schemas.microsoft.com/office/drawing/2014/main" id="{427C720A-861D-4934-858A-D651CA1E3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109" y="16658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Measure </a:t>
            </a:r>
          </a:p>
        </p:txBody>
      </p:sp>
      <p:sp>
        <p:nvSpPr>
          <p:cNvPr id="115" name="AutoShape 59">
            <a:extLst>
              <a:ext uri="{FF2B5EF4-FFF2-40B4-BE49-F238E27FC236}">
                <a16:creationId xmlns:a16="http://schemas.microsoft.com/office/drawing/2014/main" id="{05E66742-DE0E-48EA-8AA8-4CD0C570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196" y="166585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Define</a:t>
            </a:r>
          </a:p>
        </p:txBody>
      </p:sp>
      <p:sp>
        <p:nvSpPr>
          <p:cNvPr id="116" name="AutoShape 57">
            <a:extLst>
              <a:ext uri="{FF2B5EF4-FFF2-40B4-BE49-F238E27FC236}">
                <a16:creationId xmlns:a16="http://schemas.microsoft.com/office/drawing/2014/main" id="{DFFBFEFF-78C8-4850-A9A2-2EB6B7D4D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621" y="22123"/>
            <a:ext cx="749300" cy="287337"/>
          </a:xfrm>
          <a:prstGeom prst="homePlate">
            <a:avLst>
              <a:gd name="adj" fmla="val 46698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 Narrow" panose="020B0606020202030204" pitchFamily="34" charset="0"/>
                <a:ea typeface="맑은 고딕" panose="020B0503020000020004" pitchFamily="50" charset="-127"/>
              </a:rPr>
              <a:t>Analyze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B4F0AC-5783-4227-97F5-8187EC65F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770547"/>
              </p:ext>
            </p:extLst>
          </p:nvPr>
        </p:nvGraphicFramePr>
        <p:xfrm>
          <a:off x="595353" y="1100443"/>
          <a:ext cx="8646301" cy="2130540"/>
        </p:xfrm>
        <a:graphic>
          <a:graphicData uri="http://schemas.openxmlformats.org/drawingml/2006/table">
            <a:tbl>
              <a:tblPr/>
              <a:tblGrid>
                <a:gridCol w="558298">
                  <a:extLst>
                    <a:ext uri="{9D8B030D-6E8A-4147-A177-3AD203B41FA5}">
                      <a16:colId xmlns:a16="http://schemas.microsoft.com/office/drawing/2014/main" val="675507370"/>
                    </a:ext>
                  </a:extLst>
                </a:gridCol>
                <a:gridCol w="2628653">
                  <a:extLst>
                    <a:ext uri="{9D8B030D-6E8A-4147-A177-3AD203B41FA5}">
                      <a16:colId xmlns:a16="http://schemas.microsoft.com/office/drawing/2014/main" val="851657989"/>
                    </a:ext>
                  </a:extLst>
                </a:gridCol>
                <a:gridCol w="4094186">
                  <a:extLst>
                    <a:ext uri="{9D8B030D-6E8A-4147-A177-3AD203B41FA5}">
                      <a16:colId xmlns:a16="http://schemas.microsoft.com/office/drawing/2014/main" val="4121057302"/>
                    </a:ext>
                  </a:extLst>
                </a:gridCol>
                <a:gridCol w="1365164">
                  <a:extLst>
                    <a:ext uri="{9D8B030D-6E8A-4147-A177-3AD203B41FA5}">
                      <a16:colId xmlns:a16="http://schemas.microsoft.com/office/drawing/2014/main" val="6004670"/>
                    </a:ext>
                  </a:extLst>
                </a:gridCol>
              </a:tblGrid>
              <a:tr h="5326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No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Potential Factors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What is looking for ?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Tool to identify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186259"/>
                  </a:ext>
                </a:extLst>
              </a:tr>
              <a:tr h="5326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Panel main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Flush value change when change height of panel main </a:t>
                      </a:r>
                    </a:p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(2.70 → 2.90 mm)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 sample T test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720531"/>
                  </a:ext>
                </a:extLst>
              </a:tr>
              <a:tr h="5326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Machine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Flush value change when change Fressing force change (75kgf→ 80kgf)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 sample T test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305671"/>
                  </a:ext>
                </a:extLst>
              </a:tr>
              <a:tr h="5326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Double side tape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Flush value change when change double side tape attached position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sample T test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502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829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제목 1">
            <a:extLst>
              <a:ext uri="{FF2B5EF4-FFF2-40B4-BE49-F238E27FC236}">
                <a16:creationId xmlns:a16="http://schemas.microsoft.com/office/drawing/2014/main" id="{A33C1AE4-DB4A-4748-A4CE-56DE3154E7D9}"/>
              </a:ext>
            </a:extLst>
          </p:cNvPr>
          <p:cNvSpPr txBox="1">
            <a:spLocks/>
          </p:cNvSpPr>
          <p:nvPr/>
        </p:nvSpPr>
        <p:spPr>
          <a:xfrm>
            <a:off x="27541" y="64338"/>
            <a:ext cx="608564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eaLnBrk="0" hangingPunct="0">
              <a:defRPr/>
            </a:pPr>
            <a:r>
              <a:rPr lang="vi-VN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3.1</a:t>
            </a:r>
            <a:r>
              <a:rPr lang="en-US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 Find the root cause that </a:t>
            </a:r>
            <a:r>
              <a:rPr lang="en-US" altLang="ko-KR" sz="1600" b="1" kern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making flush issue</a:t>
            </a:r>
            <a:endParaRPr lang="ko-KR" altLang="en-US" sz="1600" b="1" kern="0" dirty="0">
              <a:solidFill>
                <a:srgbClr val="000000"/>
              </a:solidFill>
              <a:latin typeface="Arial Narrow" panose="020B0606020202030204" pitchFamily="34" charset="0"/>
              <a:ea typeface="LG Smart_H Regular" pitchFamily="34" charset="-127"/>
            </a:endParaRPr>
          </a:p>
        </p:txBody>
      </p:sp>
      <p:sp>
        <p:nvSpPr>
          <p:cNvPr id="100" name="AutoShape 55">
            <a:extLst>
              <a:ext uri="{FF2B5EF4-FFF2-40B4-BE49-F238E27FC236}">
                <a16:creationId xmlns:a16="http://schemas.microsoft.com/office/drawing/2014/main" id="{EED46192-4ED1-4158-8F3E-AA2D8BB90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0746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Control</a:t>
            </a:r>
          </a:p>
        </p:txBody>
      </p:sp>
      <p:sp>
        <p:nvSpPr>
          <p:cNvPr id="101" name="AutoShape 56">
            <a:extLst>
              <a:ext uri="{FF2B5EF4-FFF2-40B4-BE49-F238E27FC236}">
                <a16:creationId xmlns:a16="http://schemas.microsoft.com/office/drawing/2014/main" id="{7459209F-12BD-4723-B248-E7E3EC69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771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Improve</a:t>
            </a:r>
          </a:p>
        </p:txBody>
      </p:sp>
      <p:sp>
        <p:nvSpPr>
          <p:cNvPr id="114" name="AutoShape 58">
            <a:extLst>
              <a:ext uri="{FF2B5EF4-FFF2-40B4-BE49-F238E27FC236}">
                <a16:creationId xmlns:a16="http://schemas.microsoft.com/office/drawing/2014/main" id="{427C720A-861D-4934-858A-D651CA1E3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109" y="16658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Measure </a:t>
            </a:r>
          </a:p>
        </p:txBody>
      </p:sp>
      <p:sp>
        <p:nvSpPr>
          <p:cNvPr id="115" name="AutoShape 59">
            <a:extLst>
              <a:ext uri="{FF2B5EF4-FFF2-40B4-BE49-F238E27FC236}">
                <a16:creationId xmlns:a16="http://schemas.microsoft.com/office/drawing/2014/main" id="{05E66742-DE0E-48EA-8AA8-4CD0C570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196" y="166585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Define</a:t>
            </a:r>
          </a:p>
        </p:txBody>
      </p:sp>
      <p:sp>
        <p:nvSpPr>
          <p:cNvPr id="116" name="AutoShape 57">
            <a:extLst>
              <a:ext uri="{FF2B5EF4-FFF2-40B4-BE49-F238E27FC236}">
                <a16:creationId xmlns:a16="http://schemas.microsoft.com/office/drawing/2014/main" id="{DFFBFEFF-78C8-4850-A9A2-2EB6B7D4D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621" y="22123"/>
            <a:ext cx="749300" cy="287337"/>
          </a:xfrm>
          <a:prstGeom prst="homePlate">
            <a:avLst>
              <a:gd name="adj" fmla="val 46698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 Narrow" panose="020B0606020202030204" pitchFamily="34" charset="0"/>
                <a:ea typeface="맑은 고딕" panose="020B0503020000020004" pitchFamily="50" charset="-127"/>
              </a:rPr>
              <a:t>Analyze</a:t>
            </a: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4B4B956C-5807-4333-8355-4C41DF1F4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97" y="508838"/>
            <a:ext cx="5645539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/>
          <a:lstStyle/>
          <a:p>
            <a:pPr marL="171450" indent="-171450" defTabSz="844083" fontAlgn="base" latinLnBrk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2 Samples T _ Analysis </a:t>
            </a:r>
            <a:endParaRPr lang="ko-KR" altLang="en-US" sz="1200" b="1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04C03C-D103-4228-8164-DAC001218135}"/>
              </a:ext>
            </a:extLst>
          </p:cNvPr>
          <p:cNvGrpSpPr/>
          <p:nvPr/>
        </p:nvGrpSpPr>
        <p:grpSpPr>
          <a:xfrm>
            <a:off x="98866" y="1363842"/>
            <a:ext cx="3417450" cy="4985319"/>
            <a:chOff x="27541" y="1363842"/>
            <a:chExt cx="3488775" cy="498531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DCD8DDD-848A-4DD4-8977-795C2A45FAA7}"/>
                </a:ext>
              </a:extLst>
            </p:cNvPr>
            <p:cNvSpPr/>
            <p:nvPr/>
          </p:nvSpPr>
          <p:spPr>
            <a:xfrm>
              <a:off x="263167" y="4254957"/>
              <a:ext cx="2994615" cy="618675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 Narrow" panose="020B0606020202030204" pitchFamily="34" charset="0"/>
                  <a:ea typeface="LG Smart_H Regular" panose="020B0600000101010101" pitchFamily="34" charset="-127"/>
                  <a:cs typeface="Arial" panose="020B0604020202020204" pitchFamily="34" charset="0"/>
                </a:rPr>
                <a:t>Since the P-Value before and after the </a:t>
              </a:r>
              <a:r>
                <a:rPr lang="en-US" sz="1200">
                  <a:solidFill>
                    <a:prstClr val="black"/>
                  </a:solidFill>
                  <a:latin typeface="Arial Narrow" panose="020B0606020202030204" pitchFamily="34" charset="0"/>
                  <a:ea typeface="LG Smart_H Regular" panose="020B0600000101010101" pitchFamily="34" charset="-127"/>
                  <a:cs typeface="Arial" panose="020B0604020202020204" pitchFamily="34" charset="0"/>
                </a:rPr>
                <a:t>changing pressure force are normally </a:t>
              </a:r>
              <a:r>
                <a:rPr lang="en-US" sz="1200" dirty="0">
                  <a:solidFill>
                    <a:prstClr val="black"/>
                  </a:solidFill>
                  <a:latin typeface="Arial Narrow" panose="020B0606020202030204" pitchFamily="34" charset="0"/>
                  <a:ea typeface="LG Smart_H Regular" panose="020B0600000101010101" pitchFamily="34" charset="-127"/>
                  <a:cs typeface="Arial" panose="020B0604020202020204" pitchFamily="34" charset="0"/>
                </a:rPr>
                <a:t>distributed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991B64C-3D0C-4AFC-9A02-6A7E183572E6}"/>
                </a:ext>
              </a:extLst>
            </p:cNvPr>
            <p:cNvSpPr/>
            <p:nvPr/>
          </p:nvSpPr>
          <p:spPr>
            <a:xfrm>
              <a:off x="27541" y="1363842"/>
              <a:ext cx="3488775" cy="49853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Arial Narrow" panose="020B0606020202030204" pitchFamily="34" charset="0"/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25E2A72-A1A7-475D-B240-E52042B39D12}"/>
              </a:ext>
            </a:extLst>
          </p:cNvPr>
          <p:cNvSpPr/>
          <p:nvPr/>
        </p:nvSpPr>
        <p:spPr>
          <a:xfrm>
            <a:off x="3544167" y="4645715"/>
            <a:ext cx="2994615" cy="61867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Since the P-Value value is greater than 0.05, the variances of the two data cannot be considered homogeneous _ they cannot be considered different from each other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8140ED-C729-467D-AEC9-86F71656C87D}"/>
              </a:ext>
            </a:extLst>
          </p:cNvPr>
          <p:cNvSpPr/>
          <p:nvPr/>
        </p:nvSpPr>
        <p:spPr>
          <a:xfrm>
            <a:off x="3551643" y="1363842"/>
            <a:ext cx="3129550" cy="4985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 Narrow" panose="020B0606020202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E00427-54B6-45B9-ABA2-0D94A30B42D1}"/>
              </a:ext>
            </a:extLst>
          </p:cNvPr>
          <p:cNvSpPr/>
          <p:nvPr/>
        </p:nvSpPr>
        <p:spPr>
          <a:xfrm>
            <a:off x="6759815" y="1363841"/>
            <a:ext cx="3047319" cy="4985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 Narrow" panose="020B060602020203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D3EB6DA-1284-46E1-AF4F-F6185C7F5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05" y="1870618"/>
            <a:ext cx="3208403" cy="21389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6555ED-7640-4881-A18A-350B41E86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895" y="2956506"/>
            <a:ext cx="1928201" cy="1124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7A17BD-FDAD-44DE-9747-7211B2466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6783" y="1426559"/>
            <a:ext cx="1801838" cy="9828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7869A6-52EB-4DFB-B881-7B0F9106FD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368" y="2293897"/>
            <a:ext cx="1971547" cy="8382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839B66-D927-4A6F-B0E3-303BF8829E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6206" y="3083889"/>
            <a:ext cx="1283456" cy="757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D4C53F-F596-4FC1-B86A-E89E6CE94F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8801" y="2192955"/>
            <a:ext cx="2565348" cy="9757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D2A0E8-1482-4CA0-8881-B354C54CEE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1457" y="1419264"/>
            <a:ext cx="2286606" cy="97219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247D725-B3A1-44D3-A88C-96A69F89D5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6206" y="4062195"/>
            <a:ext cx="2655650" cy="1770433"/>
          </a:xfrm>
          <a:prstGeom prst="rect">
            <a:avLst/>
          </a:prstGeom>
        </p:spPr>
      </p:pic>
      <p:sp>
        <p:nvSpPr>
          <p:cNvPr id="37" name="Text Box 2">
            <a:extLst>
              <a:ext uri="{FF2B5EF4-FFF2-40B4-BE49-F238E27FC236}">
                <a16:creationId xmlns:a16="http://schemas.microsoft.com/office/drawing/2014/main" id="{47327663-68DB-44F1-B8F3-5927EA8EC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78" y="732016"/>
            <a:ext cx="7056055" cy="6176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t"/>
          <a:lstStyle/>
          <a:p>
            <a:pPr marL="228600" indent="-228600" defTabSz="844083" fontAlgn="base" latinLnBrk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Check pressure force value before/after change height of panel main (75kgf.cm</a:t>
            </a:r>
            <a:r>
              <a:rPr lang="en-US" altLang="ko-KR" sz="1200" b="1" baseline="300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2 </a:t>
            </a: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→80kgf.cm</a:t>
            </a:r>
            <a:r>
              <a:rPr lang="en-US" altLang="ko-KR" sz="1200" b="1" baseline="300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2</a:t>
            </a: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H0: Changing the pressure force of machine not effect to flush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H1: Changing the pressure force of machine effect to flush</a:t>
            </a:r>
          </a:p>
          <a:p>
            <a:pPr defTabSz="844083" fontAlgn="base" latinLnBrk="1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200" b="1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75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20">
            <a:extLst>
              <a:ext uri="{FF2B5EF4-FFF2-40B4-BE49-F238E27FC236}">
                <a16:creationId xmlns:a16="http://schemas.microsoft.com/office/drawing/2014/main" id="{730BA61B-B65C-41A9-8B27-50F93589B063}"/>
              </a:ext>
            </a:extLst>
          </p:cNvPr>
          <p:cNvSpPr txBox="1"/>
          <p:nvPr/>
        </p:nvSpPr>
        <p:spPr>
          <a:xfrm>
            <a:off x="235883" y="6564853"/>
            <a:ext cx="1234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: Potential factor</a:t>
            </a:r>
            <a:endParaRPr lang="en-US" sz="1400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0C5646B-6776-41B4-BBD7-13F91A6E3313}"/>
              </a:ext>
            </a:extLst>
          </p:cNvPr>
          <p:cNvSpPr txBox="1"/>
          <p:nvPr/>
        </p:nvSpPr>
        <p:spPr>
          <a:xfrm>
            <a:off x="39997" y="6477386"/>
            <a:ext cx="391772" cy="37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00" name="AutoShape 55">
            <a:extLst>
              <a:ext uri="{FF2B5EF4-FFF2-40B4-BE49-F238E27FC236}">
                <a16:creationId xmlns:a16="http://schemas.microsoft.com/office/drawing/2014/main" id="{EED46192-4ED1-4158-8F3E-AA2D8BB90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0746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Control</a:t>
            </a:r>
          </a:p>
        </p:txBody>
      </p:sp>
      <p:sp>
        <p:nvSpPr>
          <p:cNvPr id="101" name="AutoShape 56">
            <a:extLst>
              <a:ext uri="{FF2B5EF4-FFF2-40B4-BE49-F238E27FC236}">
                <a16:creationId xmlns:a16="http://schemas.microsoft.com/office/drawing/2014/main" id="{7459209F-12BD-4723-B248-E7E3EC69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771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Improve</a:t>
            </a:r>
          </a:p>
        </p:txBody>
      </p:sp>
      <p:sp>
        <p:nvSpPr>
          <p:cNvPr id="114" name="AutoShape 58">
            <a:extLst>
              <a:ext uri="{FF2B5EF4-FFF2-40B4-BE49-F238E27FC236}">
                <a16:creationId xmlns:a16="http://schemas.microsoft.com/office/drawing/2014/main" id="{427C720A-861D-4934-858A-D651CA1E3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109" y="16658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Measure </a:t>
            </a:r>
          </a:p>
        </p:txBody>
      </p:sp>
      <p:sp>
        <p:nvSpPr>
          <p:cNvPr id="115" name="AutoShape 59">
            <a:extLst>
              <a:ext uri="{FF2B5EF4-FFF2-40B4-BE49-F238E27FC236}">
                <a16:creationId xmlns:a16="http://schemas.microsoft.com/office/drawing/2014/main" id="{05E66742-DE0E-48EA-8AA8-4CD0C570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196" y="166585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Define</a:t>
            </a:r>
          </a:p>
        </p:txBody>
      </p:sp>
      <p:sp>
        <p:nvSpPr>
          <p:cNvPr id="116" name="AutoShape 57">
            <a:extLst>
              <a:ext uri="{FF2B5EF4-FFF2-40B4-BE49-F238E27FC236}">
                <a16:creationId xmlns:a16="http://schemas.microsoft.com/office/drawing/2014/main" id="{DFFBFEFF-78C8-4850-A9A2-2EB6B7D4D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621" y="22123"/>
            <a:ext cx="749300" cy="287337"/>
          </a:xfrm>
          <a:prstGeom prst="homePlate">
            <a:avLst>
              <a:gd name="adj" fmla="val 46698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 Narrow" panose="020B0606020202030204" pitchFamily="34" charset="0"/>
                <a:ea typeface="맑은 고딕" panose="020B0503020000020004" pitchFamily="50" charset="-127"/>
              </a:rPr>
              <a:t>Analyze</a:t>
            </a: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4B4B956C-5807-4333-8355-4C41DF1F4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97" y="508838"/>
            <a:ext cx="5645539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/>
          <a:lstStyle/>
          <a:p>
            <a:pPr marL="171450" indent="-171450" defTabSz="844083" fontAlgn="base" latinLnBrk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2 Samples T _ Analysis </a:t>
            </a:r>
            <a:endParaRPr lang="ko-KR" altLang="en-US" sz="1200" b="1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91B64C-3D0C-4AFC-9A02-6A7E183572E6}"/>
              </a:ext>
            </a:extLst>
          </p:cNvPr>
          <p:cNvSpPr/>
          <p:nvPr/>
        </p:nvSpPr>
        <p:spPr>
          <a:xfrm>
            <a:off x="98866" y="1363842"/>
            <a:ext cx="3417450" cy="4985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 Narrow" panose="020B0606020202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8140ED-C729-467D-AEC9-86F71656C87D}"/>
              </a:ext>
            </a:extLst>
          </p:cNvPr>
          <p:cNvSpPr/>
          <p:nvPr/>
        </p:nvSpPr>
        <p:spPr>
          <a:xfrm>
            <a:off x="3551643" y="1363842"/>
            <a:ext cx="3129550" cy="4985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 Narrow" panose="020B0606020202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E00427-54B6-45B9-ABA2-0D94A30B42D1}"/>
              </a:ext>
            </a:extLst>
          </p:cNvPr>
          <p:cNvSpPr/>
          <p:nvPr/>
        </p:nvSpPr>
        <p:spPr>
          <a:xfrm>
            <a:off x="6759815" y="1363841"/>
            <a:ext cx="3047319" cy="4985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 Narrow" panose="020B0606020202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7663FB-1332-41ED-B8CF-0B45DD907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69" y="1642614"/>
            <a:ext cx="2869725" cy="19131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70F55A-9500-4360-8277-BE3D7F037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365" y="1489524"/>
            <a:ext cx="2429669" cy="12028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F448D3-BA76-45E5-B3D6-55300DA316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223" y="3974559"/>
            <a:ext cx="1474548" cy="9765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579164-B868-41CB-859A-B50AD4C8F6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3958" y="3250177"/>
            <a:ext cx="1550434" cy="9154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7D2478-E766-49F3-A2CD-64D4E933C2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2260" y="2639291"/>
            <a:ext cx="2128283" cy="7989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926A88-364C-47D3-828D-1B4BBB538D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1313" y="4902818"/>
            <a:ext cx="1739230" cy="11594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B63376-D6B7-4B8C-AF35-D9FF8EA3F8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4330" y="1554030"/>
            <a:ext cx="2542935" cy="9545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44A2EE-A324-48D0-BD1B-D2223C6EB7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2161" y="2531039"/>
            <a:ext cx="2233613" cy="7191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54F7B4-DFCE-4D54-8842-000E3FCB4C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2161" y="3326240"/>
            <a:ext cx="1789699" cy="1043415"/>
          </a:xfrm>
          <a:prstGeom prst="rect">
            <a:avLst/>
          </a:prstGeom>
        </p:spPr>
      </p:pic>
      <p:sp>
        <p:nvSpPr>
          <p:cNvPr id="36" name="Text Box 2">
            <a:extLst>
              <a:ext uri="{FF2B5EF4-FFF2-40B4-BE49-F238E27FC236}">
                <a16:creationId xmlns:a16="http://schemas.microsoft.com/office/drawing/2014/main" id="{CA21F005-C5D0-460D-B3B6-1C154E00C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79" y="732016"/>
            <a:ext cx="5806744" cy="6176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t"/>
          <a:lstStyle/>
          <a:p>
            <a:pPr marL="228600" indent="-228600" defTabSz="844083" fontAlgn="base" latinLnBrk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Check flush value before/after change height of panel main 2.72mm → 2.90mm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H0: Changing the height of panel main not effect to flush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H1: Changing the height of panel effect to flush</a:t>
            </a:r>
          </a:p>
          <a:p>
            <a:pPr defTabSz="844083" fontAlgn="base" latinLnBrk="1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200" b="1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08D0C2-9B5C-4833-A14B-81D6FAD465C4}"/>
              </a:ext>
            </a:extLst>
          </p:cNvPr>
          <p:cNvSpPr/>
          <p:nvPr/>
        </p:nvSpPr>
        <p:spPr>
          <a:xfrm>
            <a:off x="3648433" y="5113893"/>
            <a:ext cx="29205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Since the P-Value value is less than 0.05, the variances of the two data can be considered homogeneous _ they can be considered different from each other</a:t>
            </a:r>
            <a:endParaRPr lang="en-US" sz="1200" dirty="0">
              <a:solidFill>
                <a:prstClr val="black"/>
              </a:solidFill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FD9566-363D-44F4-A695-9820F170AC7E}"/>
              </a:ext>
            </a:extLst>
          </p:cNvPr>
          <p:cNvSpPr/>
          <p:nvPr/>
        </p:nvSpPr>
        <p:spPr>
          <a:xfrm>
            <a:off x="329675" y="4254957"/>
            <a:ext cx="2933393" cy="61867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Since the P-Value before and after the </a:t>
            </a:r>
            <a:r>
              <a:rPr lang="en-US" sz="120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changing pressure force are normally </a:t>
            </a:r>
            <a:r>
              <a:rPr 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distributed</a:t>
            </a:r>
          </a:p>
        </p:txBody>
      </p:sp>
      <p:sp>
        <p:nvSpPr>
          <p:cNvPr id="29" name="제목 1">
            <a:extLst>
              <a:ext uri="{FF2B5EF4-FFF2-40B4-BE49-F238E27FC236}">
                <a16:creationId xmlns:a16="http://schemas.microsoft.com/office/drawing/2014/main" id="{40C383F3-C4C9-4DD7-8AB0-DD0661F104D3}"/>
              </a:ext>
            </a:extLst>
          </p:cNvPr>
          <p:cNvSpPr txBox="1">
            <a:spLocks/>
          </p:cNvSpPr>
          <p:nvPr/>
        </p:nvSpPr>
        <p:spPr>
          <a:xfrm>
            <a:off x="27541" y="64338"/>
            <a:ext cx="608564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eaLnBrk="0" hangingPunct="0">
              <a:defRPr/>
            </a:pPr>
            <a:r>
              <a:rPr lang="vi-VN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3.1</a:t>
            </a:r>
            <a:r>
              <a:rPr lang="en-US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 Find the root cause that </a:t>
            </a:r>
            <a:r>
              <a:rPr lang="en-US" altLang="ko-KR" sz="1600" b="1" kern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making flush issue</a:t>
            </a:r>
            <a:endParaRPr lang="ko-KR" altLang="en-US" sz="1600" b="1" kern="0" dirty="0">
              <a:solidFill>
                <a:srgbClr val="000000"/>
              </a:solidFill>
              <a:latin typeface="Arial Narrow" panose="020B0606020202030204" pitchFamily="34" charset="0"/>
              <a:ea typeface="LG Smart_H Regular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5824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utoShape 55">
            <a:extLst>
              <a:ext uri="{FF2B5EF4-FFF2-40B4-BE49-F238E27FC236}">
                <a16:creationId xmlns:a16="http://schemas.microsoft.com/office/drawing/2014/main" id="{EED46192-4ED1-4158-8F3E-AA2D8BB90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0746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Control</a:t>
            </a:r>
          </a:p>
        </p:txBody>
      </p:sp>
      <p:sp>
        <p:nvSpPr>
          <p:cNvPr id="101" name="AutoShape 56">
            <a:extLst>
              <a:ext uri="{FF2B5EF4-FFF2-40B4-BE49-F238E27FC236}">
                <a16:creationId xmlns:a16="http://schemas.microsoft.com/office/drawing/2014/main" id="{7459209F-12BD-4723-B248-E7E3EC69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771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Improve</a:t>
            </a:r>
          </a:p>
        </p:txBody>
      </p:sp>
      <p:sp>
        <p:nvSpPr>
          <p:cNvPr id="114" name="AutoShape 58">
            <a:extLst>
              <a:ext uri="{FF2B5EF4-FFF2-40B4-BE49-F238E27FC236}">
                <a16:creationId xmlns:a16="http://schemas.microsoft.com/office/drawing/2014/main" id="{427C720A-861D-4934-858A-D651CA1E3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109" y="16658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Measure </a:t>
            </a:r>
          </a:p>
        </p:txBody>
      </p:sp>
      <p:sp>
        <p:nvSpPr>
          <p:cNvPr id="115" name="AutoShape 59">
            <a:extLst>
              <a:ext uri="{FF2B5EF4-FFF2-40B4-BE49-F238E27FC236}">
                <a16:creationId xmlns:a16="http://schemas.microsoft.com/office/drawing/2014/main" id="{05E66742-DE0E-48EA-8AA8-4CD0C570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196" y="166585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Define</a:t>
            </a:r>
          </a:p>
        </p:txBody>
      </p:sp>
      <p:sp>
        <p:nvSpPr>
          <p:cNvPr id="116" name="AutoShape 57">
            <a:extLst>
              <a:ext uri="{FF2B5EF4-FFF2-40B4-BE49-F238E27FC236}">
                <a16:creationId xmlns:a16="http://schemas.microsoft.com/office/drawing/2014/main" id="{DFFBFEFF-78C8-4850-A9A2-2EB6B7D4D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621" y="22123"/>
            <a:ext cx="749300" cy="287337"/>
          </a:xfrm>
          <a:prstGeom prst="homePlate">
            <a:avLst>
              <a:gd name="adj" fmla="val 46698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 Narrow" panose="020B0606020202030204" pitchFamily="34" charset="0"/>
                <a:ea typeface="맑은 고딕" panose="020B0503020000020004" pitchFamily="50" charset="-127"/>
              </a:rPr>
              <a:t>Analyze</a:t>
            </a: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4B4B956C-5807-4333-8355-4C41DF1F4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97" y="508838"/>
            <a:ext cx="5645539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/>
          <a:lstStyle/>
          <a:p>
            <a:pPr marL="171450" indent="-171450" defTabSz="844083" fontAlgn="base" latinLnBrk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2 Samples T _ Analysis </a:t>
            </a:r>
            <a:endParaRPr lang="ko-KR" altLang="en-US" sz="1200" b="1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91B64C-3D0C-4AFC-9A02-6A7E183572E6}"/>
              </a:ext>
            </a:extLst>
          </p:cNvPr>
          <p:cNvSpPr/>
          <p:nvPr/>
        </p:nvSpPr>
        <p:spPr>
          <a:xfrm>
            <a:off x="98866" y="1363842"/>
            <a:ext cx="3417450" cy="4985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 Narrow" panose="020B0606020202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8140ED-C729-467D-AEC9-86F71656C87D}"/>
              </a:ext>
            </a:extLst>
          </p:cNvPr>
          <p:cNvSpPr/>
          <p:nvPr/>
        </p:nvSpPr>
        <p:spPr>
          <a:xfrm>
            <a:off x="3551643" y="1363842"/>
            <a:ext cx="3129550" cy="4985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 Narrow" panose="020B0606020202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E00427-54B6-45B9-ABA2-0D94A30B42D1}"/>
              </a:ext>
            </a:extLst>
          </p:cNvPr>
          <p:cNvSpPr/>
          <p:nvPr/>
        </p:nvSpPr>
        <p:spPr>
          <a:xfrm>
            <a:off x="6759815" y="1363841"/>
            <a:ext cx="3047319" cy="4985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 Narrow" panose="020B0606020202030204" pitchFamily="34" charset="0"/>
            </a:endParaRPr>
          </a:p>
        </p:txBody>
      </p:sp>
      <p:sp>
        <p:nvSpPr>
          <p:cNvPr id="36" name="Text Box 2">
            <a:extLst>
              <a:ext uri="{FF2B5EF4-FFF2-40B4-BE49-F238E27FC236}">
                <a16:creationId xmlns:a16="http://schemas.microsoft.com/office/drawing/2014/main" id="{CA21F005-C5D0-460D-B3B6-1C154E00C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79" y="732016"/>
            <a:ext cx="5806744" cy="6176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t"/>
          <a:lstStyle/>
          <a:p>
            <a:pPr marL="228600" indent="-228600" defTabSz="844083" fontAlgn="base" latinLnBrk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Check flush value before/after change height of panel main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H0: Changing the tape position  not effect to flush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H1: Changing the tape position effect to flush</a:t>
            </a:r>
          </a:p>
          <a:p>
            <a:pPr defTabSz="844083" fontAlgn="base" latinLnBrk="1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200" b="1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F0D067-2B91-4629-BE92-4C9913BB1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978" y="4953134"/>
            <a:ext cx="2111375" cy="14075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1C85086-967C-4AF3-A7DA-A8A188A52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274" y="1403685"/>
            <a:ext cx="2204240" cy="10769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B2F2586-AADE-4087-96BC-E45BA3AEC5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864" y="3921313"/>
            <a:ext cx="1699626" cy="11256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E2EDB51-47AF-4398-88C0-CFD8C96428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7864" y="3231275"/>
            <a:ext cx="1565446" cy="9243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2C2235E-E535-407E-8EBC-7F0792020A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3274" y="2440831"/>
            <a:ext cx="2512170" cy="93181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1FA8D0F-7B44-4EA5-8A97-5969A12F75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2021" y="3160437"/>
            <a:ext cx="1798637" cy="104862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5D9FF32-1183-49F6-9FF7-47E7E9FC9D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1358" y="2223764"/>
            <a:ext cx="2953458" cy="9428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6259507-A4FA-4955-9DC9-D8799D4B57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3040" y="1437216"/>
            <a:ext cx="2270898" cy="84232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B4E60CF-88B7-486A-B803-49C6030BBE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523" y="1707888"/>
            <a:ext cx="2567110" cy="1711406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7F5D312-A83E-4C4A-85FB-D69B8AD08A2D}"/>
              </a:ext>
            </a:extLst>
          </p:cNvPr>
          <p:cNvSpPr/>
          <p:nvPr/>
        </p:nvSpPr>
        <p:spPr>
          <a:xfrm>
            <a:off x="3544167" y="4645715"/>
            <a:ext cx="2994615" cy="84232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Since the P-Value value is greater than 0.05, the variances of the two data cannot be considered homogeneous _ they cannot be considered different from each other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D286CA-2B83-495D-BC98-7CD57F1500F7}"/>
              </a:ext>
            </a:extLst>
          </p:cNvPr>
          <p:cNvSpPr/>
          <p:nvPr/>
        </p:nvSpPr>
        <p:spPr>
          <a:xfrm>
            <a:off x="329675" y="4254957"/>
            <a:ext cx="2933393" cy="61867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Since the P-Value before and after the </a:t>
            </a:r>
            <a:r>
              <a:rPr lang="en-US" sz="120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changing pressure force are normally </a:t>
            </a:r>
            <a:r>
              <a:rPr 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distributed</a:t>
            </a:r>
          </a:p>
        </p:txBody>
      </p:sp>
      <p:sp>
        <p:nvSpPr>
          <p:cNvPr id="30" name="제목 1">
            <a:extLst>
              <a:ext uri="{FF2B5EF4-FFF2-40B4-BE49-F238E27FC236}">
                <a16:creationId xmlns:a16="http://schemas.microsoft.com/office/drawing/2014/main" id="{88497526-BF38-435D-B74F-6510702B0F1E}"/>
              </a:ext>
            </a:extLst>
          </p:cNvPr>
          <p:cNvSpPr txBox="1">
            <a:spLocks/>
          </p:cNvSpPr>
          <p:nvPr/>
        </p:nvSpPr>
        <p:spPr>
          <a:xfrm>
            <a:off x="27541" y="64338"/>
            <a:ext cx="608564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eaLnBrk="0" hangingPunct="0">
              <a:defRPr/>
            </a:pPr>
            <a:r>
              <a:rPr lang="vi-VN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3.1</a:t>
            </a:r>
            <a:r>
              <a:rPr lang="en-US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 Find the root cause that </a:t>
            </a:r>
            <a:r>
              <a:rPr lang="en-US" altLang="ko-KR" sz="1600" b="1" kern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making flush issue</a:t>
            </a:r>
            <a:endParaRPr lang="ko-KR" altLang="en-US" sz="1600" b="1" kern="0" dirty="0">
              <a:solidFill>
                <a:srgbClr val="000000"/>
              </a:solidFill>
              <a:latin typeface="Arial Narrow" panose="020B0606020202030204" pitchFamily="34" charset="0"/>
              <a:ea typeface="LG Smart_H Regular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1695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20">
            <a:extLst>
              <a:ext uri="{FF2B5EF4-FFF2-40B4-BE49-F238E27FC236}">
                <a16:creationId xmlns:a16="http://schemas.microsoft.com/office/drawing/2014/main" id="{730BA61B-B65C-41A9-8B27-50F93589B063}"/>
              </a:ext>
            </a:extLst>
          </p:cNvPr>
          <p:cNvSpPr txBox="1"/>
          <p:nvPr/>
        </p:nvSpPr>
        <p:spPr>
          <a:xfrm>
            <a:off x="244673" y="6496049"/>
            <a:ext cx="1234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: Potential factor</a:t>
            </a:r>
            <a:endParaRPr lang="en-US" sz="1400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0C5646B-6776-41B4-BBD7-13F91A6E3313}"/>
              </a:ext>
            </a:extLst>
          </p:cNvPr>
          <p:cNvSpPr txBox="1"/>
          <p:nvPr/>
        </p:nvSpPr>
        <p:spPr>
          <a:xfrm>
            <a:off x="39997" y="6477386"/>
            <a:ext cx="391772" cy="37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00" name="AutoShape 55">
            <a:extLst>
              <a:ext uri="{FF2B5EF4-FFF2-40B4-BE49-F238E27FC236}">
                <a16:creationId xmlns:a16="http://schemas.microsoft.com/office/drawing/2014/main" id="{EED46192-4ED1-4158-8F3E-AA2D8BB90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0746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Control</a:t>
            </a:r>
          </a:p>
        </p:txBody>
      </p:sp>
      <p:sp>
        <p:nvSpPr>
          <p:cNvPr id="101" name="AutoShape 56">
            <a:extLst>
              <a:ext uri="{FF2B5EF4-FFF2-40B4-BE49-F238E27FC236}">
                <a16:creationId xmlns:a16="http://schemas.microsoft.com/office/drawing/2014/main" id="{7459209F-12BD-4723-B248-E7E3EC69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771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Improve</a:t>
            </a:r>
          </a:p>
        </p:txBody>
      </p:sp>
      <p:sp>
        <p:nvSpPr>
          <p:cNvPr id="114" name="AutoShape 58">
            <a:extLst>
              <a:ext uri="{FF2B5EF4-FFF2-40B4-BE49-F238E27FC236}">
                <a16:creationId xmlns:a16="http://schemas.microsoft.com/office/drawing/2014/main" id="{427C720A-861D-4934-858A-D651CA1E3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109" y="16658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Measure </a:t>
            </a:r>
          </a:p>
        </p:txBody>
      </p:sp>
      <p:sp>
        <p:nvSpPr>
          <p:cNvPr id="115" name="AutoShape 59">
            <a:extLst>
              <a:ext uri="{FF2B5EF4-FFF2-40B4-BE49-F238E27FC236}">
                <a16:creationId xmlns:a16="http://schemas.microsoft.com/office/drawing/2014/main" id="{05E66742-DE0E-48EA-8AA8-4CD0C570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196" y="166585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Define</a:t>
            </a:r>
          </a:p>
        </p:txBody>
      </p:sp>
      <p:sp>
        <p:nvSpPr>
          <p:cNvPr id="116" name="AutoShape 57">
            <a:extLst>
              <a:ext uri="{FF2B5EF4-FFF2-40B4-BE49-F238E27FC236}">
                <a16:creationId xmlns:a16="http://schemas.microsoft.com/office/drawing/2014/main" id="{DFFBFEFF-78C8-4850-A9A2-2EB6B7D4D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621" y="22123"/>
            <a:ext cx="749300" cy="287337"/>
          </a:xfrm>
          <a:prstGeom prst="homePlate">
            <a:avLst>
              <a:gd name="adj" fmla="val 46698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 Narrow" panose="020B0606020202030204" pitchFamily="34" charset="0"/>
                <a:ea typeface="맑은 고딕" panose="020B0503020000020004" pitchFamily="50" charset="-127"/>
              </a:rPr>
              <a:t>Analyze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B4F0AC-5783-4227-97F5-8187EC65F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023168"/>
              </p:ext>
            </p:extLst>
          </p:nvPr>
        </p:nvGraphicFramePr>
        <p:xfrm>
          <a:off x="328027" y="1087809"/>
          <a:ext cx="8223265" cy="2130540"/>
        </p:xfrm>
        <a:graphic>
          <a:graphicData uri="http://schemas.openxmlformats.org/drawingml/2006/table">
            <a:tbl>
              <a:tblPr/>
              <a:tblGrid>
                <a:gridCol w="558298">
                  <a:extLst>
                    <a:ext uri="{9D8B030D-6E8A-4147-A177-3AD203B41FA5}">
                      <a16:colId xmlns:a16="http://schemas.microsoft.com/office/drawing/2014/main" val="675507370"/>
                    </a:ext>
                  </a:extLst>
                </a:gridCol>
                <a:gridCol w="2628653">
                  <a:extLst>
                    <a:ext uri="{9D8B030D-6E8A-4147-A177-3AD203B41FA5}">
                      <a16:colId xmlns:a16="http://schemas.microsoft.com/office/drawing/2014/main" val="851657989"/>
                    </a:ext>
                  </a:extLst>
                </a:gridCol>
                <a:gridCol w="4094186">
                  <a:extLst>
                    <a:ext uri="{9D8B030D-6E8A-4147-A177-3AD203B41FA5}">
                      <a16:colId xmlns:a16="http://schemas.microsoft.com/office/drawing/2014/main" val="4121057302"/>
                    </a:ext>
                  </a:extLst>
                </a:gridCol>
                <a:gridCol w="942128">
                  <a:extLst>
                    <a:ext uri="{9D8B030D-6E8A-4147-A177-3AD203B41FA5}">
                      <a16:colId xmlns:a16="http://schemas.microsoft.com/office/drawing/2014/main" val="6004670"/>
                    </a:ext>
                  </a:extLst>
                </a:gridCol>
              </a:tblGrid>
              <a:tr h="5326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No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Potential Factors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What is looking for ?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Tool to identify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186259"/>
                  </a:ext>
                </a:extLst>
              </a:tr>
              <a:tr h="5326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Panel main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Flush value change when change height of panel main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 sample T test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720531"/>
                  </a:ext>
                </a:extLst>
              </a:tr>
              <a:tr h="5326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Machine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Flush value change when change Fressing force change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 sample T test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305671"/>
                  </a:ext>
                </a:extLst>
              </a:tr>
              <a:tr h="5326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Double side tape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Flush value change when change double side tape attached position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sample T test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50262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1B25506-8552-4D32-B0CF-3EA1057DB97B}"/>
              </a:ext>
            </a:extLst>
          </p:cNvPr>
          <p:cNvSpPr txBox="1"/>
          <p:nvPr/>
        </p:nvSpPr>
        <p:spPr>
          <a:xfrm>
            <a:off x="7138434" y="1653489"/>
            <a:ext cx="391772" cy="37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0C99DECD-3124-462F-80A2-F767FA7E1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1" y="618466"/>
            <a:ext cx="5645539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/>
          <a:lstStyle/>
          <a:p>
            <a:pPr marL="171450" indent="-171450" defTabSz="844083" fontAlgn="base" latinLnBrk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2 </a:t>
            </a: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Samples T test </a:t>
            </a:r>
            <a:endParaRPr lang="ko-KR" altLang="en-US" sz="1200" b="1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B4946F16-A7C8-4D7B-A6A3-6947B47A4B79}"/>
              </a:ext>
            </a:extLst>
          </p:cNvPr>
          <p:cNvSpPr txBox="1">
            <a:spLocks/>
          </p:cNvSpPr>
          <p:nvPr/>
        </p:nvSpPr>
        <p:spPr>
          <a:xfrm>
            <a:off x="27541" y="64338"/>
            <a:ext cx="608564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eaLnBrk="0" hangingPunct="0">
              <a:defRPr/>
            </a:pPr>
            <a:r>
              <a:rPr lang="vi-VN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3.1</a:t>
            </a:r>
            <a:r>
              <a:rPr lang="en-US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 Find the root cause that </a:t>
            </a:r>
            <a:r>
              <a:rPr lang="en-US" altLang="ko-KR" sz="1600" b="1" kern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making flush issue</a:t>
            </a:r>
            <a:endParaRPr lang="ko-KR" altLang="en-US" sz="1600" b="1" kern="0" dirty="0">
              <a:solidFill>
                <a:srgbClr val="000000"/>
              </a:solidFill>
              <a:latin typeface="Arial Narrow" panose="020B0606020202030204" pitchFamily="34" charset="0"/>
              <a:ea typeface="LG Smart_H Regular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ABD26D-0F40-475C-98FD-F2E7BE1B102B}"/>
              </a:ext>
            </a:extLst>
          </p:cNvPr>
          <p:cNvSpPr txBox="1"/>
          <p:nvPr/>
        </p:nvSpPr>
        <p:spPr>
          <a:xfrm>
            <a:off x="328027" y="3891939"/>
            <a:ext cx="685439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Conclusion: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After change height of panel main from 2.70 mm to 2.90 mm, mean change from -0.045 to -0.1985 (center value)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→ This factor effect to issue</a:t>
            </a:r>
          </a:p>
          <a:p>
            <a:endParaRPr lang="en-US" altLang="ko-KR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133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373907"/>
              </p:ext>
            </p:extLst>
          </p:nvPr>
        </p:nvGraphicFramePr>
        <p:xfrm>
          <a:off x="273050" y="976536"/>
          <a:ext cx="9480550" cy="5500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0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9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256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Before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After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0208">
                <a:tc>
                  <a:txBody>
                    <a:bodyPr/>
                    <a:lstStyle/>
                    <a:p>
                      <a:pPr algn="ctr"/>
                      <a:endParaRPr lang="en-US" sz="1100">
                        <a:latin typeface="LG Smart_H Regular" panose="020B0600000101010101" pitchFamily="34" charset="-127"/>
                        <a:ea typeface="LG Smart_H Regular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LG Smart_H Regular" panose="020B0600000101010101" pitchFamily="34" charset="-127"/>
                        <a:ea typeface="LG Smart_H Regular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제목 1"/>
          <p:cNvSpPr txBox="1">
            <a:spLocks/>
          </p:cNvSpPr>
          <p:nvPr/>
        </p:nvSpPr>
        <p:spPr>
          <a:xfrm>
            <a:off x="273050" y="1521136"/>
            <a:ext cx="262107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342900" fontAlgn="ctr">
              <a:buAutoNum type="arabicPeriod"/>
            </a:pPr>
            <a:r>
              <a:rPr kumimoji="1"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Reduce height of panel main</a:t>
            </a:r>
          </a:p>
          <a:p>
            <a:pPr fontAlgn="ctr"/>
            <a:r>
              <a:rPr kumimoji="1" 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 As is: 2.72</a:t>
            </a:r>
            <a:endParaRPr lang="en-US" sz="12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381000" y="548680"/>
            <a:ext cx="9144000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8" name="TextBox 111"/>
          <p:cNvSpPr txBox="1"/>
          <p:nvPr/>
        </p:nvSpPr>
        <p:spPr>
          <a:xfrm>
            <a:off x="6873716" y="4499706"/>
            <a:ext cx="209372" cy="400110"/>
          </a:xfrm>
          <a:prstGeom prst="rect">
            <a:avLst/>
          </a:prstGeom>
          <a:solidFill>
            <a:schemeClr val="bg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ctr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dirty="0">
              <a:latin typeface="Arial Narrow" panose="020B0606020202030204" pitchFamily="34" charset="0"/>
              <a:ea typeface="LG Smart_H Regular" panose="020B0600000101010101" pitchFamily="34" charset="-127"/>
            </a:endParaRPr>
          </a:p>
        </p:txBody>
      </p:sp>
      <p:sp>
        <p:nvSpPr>
          <p:cNvPr id="4" name="Action Button: Home 3">
            <a:hlinkClick r:id="rId3" action="ppaction://hlinksldjump" highlightClick="1"/>
          </p:cNvPr>
          <p:cNvSpPr/>
          <p:nvPr/>
        </p:nvSpPr>
        <p:spPr bwMode="auto">
          <a:xfrm>
            <a:off x="9521488" y="6538699"/>
            <a:ext cx="263616" cy="301282"/>
          </a:xfrm>
          <a:prstGeom prst="actionButtonHome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2000">
              <a:latin typeface="Arial Narrow" panose="020B0606020202030204" pitchFamily="34" charset="0"/>
              <a:ea typeface="LG Smart_H Regular" panose="020B0600000101010101" pitchFamily="34" charset="-127"/>
            </a:endParaRPr>
          </a:p>
        </p:txBody>
      </p:sp>
      <p:sp>
        <p:nvSpPr>
          <p:cNvPr id="14" name="AutoShape 55">
            <a:extLst>
              <a:ext uri="{FF2B5EF4-FFF2-40B4-BE49-F238E27FC236}">
                <a16:creationId xmlns:a16="http://schemas.microsoft.com/office/drawing/2014/main" id="{AD162630-0389-442D-B1EB-B8D1115A4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2413" y="22542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17" name="AutoShape 57">
            <a:extLst>
              <a:ext uri="{FF2B5EF4-FFF2-40B4-BE49-F238E27FC236}">
                <a16:creationId xmlns:a16="http://schemas.microsoft.com/office/drawing/2014/main" id="{B0E4E45C-3532-40B4-8FC5-63BBF4A6C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288" y="225425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Analyze</a:t>
            </a:r>
          </a:p>
        </p:txBody>
      </p:sp>
      <p:sp>
        <p:nvSpPr>
          <p:cNvPr id="18" name="AutoShape 58">
            <a:extLst>
              <a:ext uri="{FF2B5EF4-FFF2-40B4-BE49-F238E27FC236}">
                <a16:creationId xmlns:a16="http://schemas.microsoft.com/office/drawing/2014/main" id="{018F5765-E8DD-4FB6-B656-4D844D3A2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9775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Measure </a:t>
            </a:r>
          </a:p>
        </p:txBody>
      </p:sp>
      <p:sp>
        <p:nvSpPr>
          <p:cNvPr id="19" name="AutoShape 59">
            <a:extLst>
              <a:ext uri="{FF2B5EF4-FFF2-40B4-BE49-F238E27FC236}">
                <a16:creationId xmlns:a16="http://schemas.microsoft.com/office/drawing/2014/main" id="{34AFD606-D0D8-43CB-B981-C75594CF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225425"/>
            <a:ext cx="757237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Define</a:t>
            </a:r>
          </a:p>
        </p:txBody>
      </p:sp>
      <p:sp>
        <p:nvSpPr>
          <p:cNvPr id="20" name="AutoShape 56">
            <a:extLst>
              <a:ext uri="{FF2B5EF4-FFF2-40B4-BE49-F238E27FC236}">
                <a16:creationId xmlns:a16="http://schemas.microsoft.com/office/drawing/2014/main" id="{D232A9A1-692C-4ACB-9BBD-C44C6C7D6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100013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Improve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3E5912F-ED3F-4CF7-A8E8-40AA81790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74" y="2212517"/>
            <a:ext cx="2803101" cy="17093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09D16B9-C5AB-413B-9D1F-CE2E406CF96A}"/>
              </a:ext>
            </a:extLst>
          </p:cNvPr>
          <p:cNvSpPr/>
          <p:nvPr/>
        </p:nvSpPr>
        <p:spPr bwMode="auto">
          <a:xfrm>
            <a:off x="761474" y="3726768"/>
            <a:ext cx="2838297" cy="1552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돋움" pitchFamily="50" charset="-127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48A1B8-11AF-42A6-B5FE-E96046FA049C}"/>
              </a:ext>
            </a:extLst>
          </p:cNvPr>
          <p:cNvGrpSpPr/>
          <p:nvPr/>
        </p:nvGrpSpPr>
        <p:grpSpPr>
          <a:xfrm>
            <a:off x="5721170" y="2180506"/>
            <a:ext cx="2514464" cy="1736304"/>
            <a:chOff x="5246824" y="2182301"/>
            <a:chExt cx="2859724" cy="197471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A8F17F7-E46D-4675-9AF3-56D7AB917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5689328" y="1739797"/>
              <a:ext cx="1974715" cy="2859724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FEC3375-B15D-42DD-82C6-5874919EEB09}"/>
                </a:ext>
              </a:extLst>
            </p:cNvPr>
            <p:cNvSpPr/>
            <p:nvPr/>
          </p:nvSpPr>
          <p:spPr bwMode="auto">
            <a:xfrm>
              <a:off x="5268252" y="3815601"/>
              <a:ext cx="2686468" cy="117514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돋움" pitchFamily="50" charset="-127"/>
              </a:endParaRPr>
            </a:p>
          </p:txBody>
        </p:sp>
      </p:grpSp>
      <p:sp>
        <p:nvSpPr>
          <p:cNvPr id="36" name="제목 1">
            <a:extLst>
              <a:ext uri="{FF2B5EF4-FFF2-40B4-BE49-F238E27FC236}">
                <a16:creationId xmlns:a16="http://schemas.microsoft.com/office/drawing/2014/main" id="{926FF46A-639A-430A-AB23-863BFEFF00AA}"/>
              </a:ext>
            </a:extLst>
          </p:cNvPr>
          <p:cNvSpPr txBox="1">
            <a:spLocks/>
          </p:cNvSpPr>
          <p:nvPr/>
        </p:nvSpPr>
        <p:spPr>
          <a:xfrm>
            <a:off x="152400" y="565786"/>
            <a:ext cx="4249934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eaLnBrk="0" hangingPunct="0">
              <a:defRPr/>
            </a:pPr>
            <a:r>
              <a:rPr lang="vi-VN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4.1</a:t>
            </a: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</a:t>
            </a:r>
            <a:r>
              <a:rPr kumimoji="1" lang="en-US" altLang="ko-KR" sz="1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Improvement</a:t>
            </a:r>
            <a:r>
              <a:rPr kumimoji="1" lang="en-US" altLang="ko-KR" sz="1600" b="1" i="0" u="none" strike="noStrike" kern="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height of panel main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7016E9F-A833-4715-B07C-9B639DFE2D59}"/>
              </a:ext>
            </a:extLst>
          </p:cNvPr>
          <p:cNvGrpSpPr/>
          <p:nvPr/>
        </p:nvGrpSpPr>
        <p:grpSpPr>
          <a:xfrm>
            <a:off x="846457" y="4145158"/>
            <a:ext cx="2555517" cy="1974717"/>
            <a:chOff x="846457" y="4145158"/>
            <a:chExt cx="2555517" cy="1974717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4CE2EC9-C026-4F39-A71C-26C808B513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64008" t="20562" r="9533" b="3247"/>
            <a:stretch/>
          </p:blipFill>
          <p:spPr>
            <a:xfrm rot="5400000">
              <a:off x="1136857" y="3854758"/>
              <a:ext cx="1974717" cy="2555517"/>
            </a:xfrm>
            <a:prstGeom prst="rect">
              <a:avLst/>
            </a:prstGeom>
          </p:spPr>
        </p:pic>
        <p:sp>
          <p:nvSpPr>
            <p:cNvPr id="27" name="제목 1">
              <a:extLst>
                <a:ext uri="{FF2B5EF4-FFF2-40B4-BE49-F238E27FC236}">
                  <a16:creationId xmlns:a16="http://schemas.microsoft.com/office/drawing/2014/main" id="{74968E47-3BBB-458D-A928-E2B060AA1958}"/>
                </a:ext>
              </a:extLst>
            </p:cNvPr>
            <p:cNvSpPr txBox="1">
              <a:spLocks/>
            </p:cNvSpPr>
            <p:nvPr/>
          </p:nvSpPr>
          <p:spPr>
            <a:xfrm rot="5400000">
              <a:off x="828521" y="4718140"/>
              <a:ext cx="404455" cy="333075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ctr">
              <a:noAutofit/>
            </a:bodyPr>
            <a:lstStyle/>
            <a:p>
              <a:pPr fontAlgn="ctr"/>
              <a:endParaRPr 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24" name="제목 1">
            <a:extLst>
              <a:ext uri="{FF2B5EF4-FFF2-40B4-BE49-F238E27FC236}">
                <a16:creationId xmlns:a16="http://schemas.microsoft.com/office/drawing/2014/main" id="{C9CC9EAF-761F-4909-91E1-3C2D44C67C70}"/>
              </a:ext>
            </a:extLst>
          </p:cNvPr>
          <p:cNvSpPr txBox="1">
            <a:spLocks/>
          </p:cNvSpPr>
          <p:nvPr/>
        </p:nvSpPr>
        <p:spPr>
          <a:xfrm>
            <a:off x="56456" y="116632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r>
              <a:rPr lang="en-US" altLang="ko-KR" kern="0" dirty="0">
                <a:latin typeface="Arial Narrow" panose="020B0606020202030204" pitchFamily="34" charset="0"/>
                <a:ea typeface="LG Smart_H Regular" pitchFamily="34" charset="-127"/>
              </a:rPr>
              <a:t>4</a:t>
            </a:r>
            <a:r>
              <a:rPr lang="en-US" altLang="ko-KR" kern="0">
                <a:latin typeface="Arial Narrow" panose="020B0606020202030204" pitchFamily="34" charset="0"/>
                <a:ea typeface="LG Smart_H Regular" pitchFamily="34" charset="-127"/>
              </a:rPr>
              <a:t>. Improvement (short term)</a:t>
            </a:r>
            <a:endParaRPr lang="en-US" altLang="ko-KR" kern="0" dirty="0">
              <a:latin typeface="Arial Narrow" panose="020B0606020202030204" pitchFamily="34" charset="0"/>
              <a:ea typeface="LG Smart_H Regular" pitchFamily="34" charset="-12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C7744D-8C61-4080-8962-AC682BDB94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5127" y="4145158"/>
            <a:ext cx="3255922" cy="2170614"/>
          </a:xfrm>
          <a:prstGeom prst="rect">
            <a:avLst/>
          </a:prstGeom>
        </p:spPr>
      </p:pic>
      <p:sp>
        <p:nvSpPr>
          <p:cNvPr id="28" name="제목 1">
            <a:extLst>
              <a:ext uri="{FF2B5EF4-FFF2-40B4-BE49-F238E27FC236}">
                <a16:creationId xmlns:a16="http://schemas.microsoft.com/office/drawing/2014/main" id="{751A6EC0-7756-4DE1-BDA2-ABF53DEC6131}"/>
              </a:ext>
            </a:extLst>
          </p:cNvPr>
          <p:cNvSpPr txBox="1">
            <a:spLocks/>
          </p:cNvSpPr>
          <p:nvPr/>
        </p:nvSpPr>
        <p:spPr>
          <a:xfrm>
            <a:off x="4646544" y="1273158"/>
            <a:ext cx="4715570" cy="9589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ctr"/>
            <a:r>
              <a:rPr lang="en-US" sz="12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Base on flush data after change height of panel main 2.7~3.0mm</a:t>
            </a:r>
          </a:p>
          <a:p>
            <a:pPr fontAlgn="ctr"/>
            <a:r>
              <a:rPr lang="en-US" sz="12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→ We can see if height of panel main is 2.9, the flush is center value</a:t>
            </a:r>
          </a:p>
          <a:p>
            <a:pPr fontAlgn="ctr"/>
            <a:r>
              <a:rPr lang="en-US" sz="12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→ We will adjust height of panel main to 2.9mm</a:t>
            </a:r>
          </a:p>
        </p:txBody>
      </p:sp>
    </p:spTree>
    <p:extLst>
      <p:ext uri="{BB962C8B-B14F-4D97-AF65-F5344CB8AC3E}">
        <p14:creationId xmlns:p14="http://schemas.microsoft.com/office/powerpoint/2010/main" val="3908069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73050" y="976536"/>
          <a:ext cx="9480550" cy="5500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0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9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256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Before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After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0208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LG Smart_H Regular" panose="020B0600000101010101" pitchFamily="34" charset="-127"/>
                        <a:ea typeface="LG Smart_H Regular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LG Smart_H Regular" panose="020B0600000101010101" pitchFamily="34" charset="-127"/>
                        <a:ea typeface="LG Smart_H Regular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1" name="Straight Connector 10"/>
          <p:cNvCxnSpPr/>
          <p:nvPr/>
        </p:nvCxnSpPr>
        <p:spPr bwMode="auto">
          <a:xfrm>
            <a:off x="381000" y="548680"/>
            <a:ext cx="9144000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8" name="TextBox 111"/>
          <p:cNvSpPr txBox="1"/>
          <p:nvPr/>
        </p:nvSpPr>
        <p:spPr>
          <a:xfrm>
            <a:off x="6873716" y="4499706"/>
            <a:ext cx="209372" cy="400110"/>
          </a:xfrm>
          <a:prstGeom prst="rect">
            <a:avLst/>
          </a:prstGeom>
          <a:solidFill>
            <a:schemeClr val="bg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ctr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n-cs"/>
            </a:endParaRPr>
          </a:p>
        </p:txBody>
      </p:sp>
      <p:sp>
        <p:nvSpPr>
          <p:cNvPr id="4" name="Action Button: Home 3">
            <a:hlinkClick r:id="rId3" action="ppaction://hlinksldjump" highlightClick="1"/>
          </p:cNvPr>
          <p:cNvSpPr/>
          <p:nvPr/>
        </p:nvSpPr>
        <p:spPr bwMode="auto">
          <a:xfrm>
            <a:off x="9521488" y="6538699"/>
            <a:ext cx="263616" cy="301282"/>
          </a:xfrm>
          <a:prstGeom prst="actionButtonHome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n-cs"/>
            </a:endParaRPr>
          </a:p>
        </p:txBody>
      </p:sp>
      <p:sp>
        <p:nvSpPr>
          <p:cNvPr id="14" name="AutoShape 55">
            <a:extLst>
              <a:ext uri="{FF2B5EF4-FFF2-40B4-BE49-F238E27FC236}">
                <a16:creationId xmlns:a16="http://schemas.microsoft.com/office/drawing/2014/main" id="{AD162630-0389-442D-B1EB-B8D1115A4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2413" y="22542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17" name="AutoShape 57">
            <a:extLst>
              <a:ext uri="{FF2B5EF4-FFF2-40B4-BE49-F238E27FC236}">
                <a16:creationId xmlns:a16="http://schemas.microsoft.com/office/drawing/2014/main" id="{B0E4E45C-3532-40B4-8FC5-63BBF4A6C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288" y="225425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Analyze</a:t>
            </a:r>
          </a:p>
        </p:txBody>
      </p:sp>
      <p:sp>
        <p:nvSpPr>
          <p:cNvPr id="18" name="AutoShape 58">
            <a:extLst>
              <a:ext uri="{FF2B5EF4-FFF2-40B4-BE49-F238E27FC236}">
                <a16:creationId xmlns:a16="http://schemas.microsoft.com/office/drawing/2014/main" id="{018F5765-E8DD-4FB6-B656-4D844D3A2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9775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Measure </a:t>
            </a:r>
          </a:p>
        </p:txBody>
      </p:sp>
      <p:sp>
        <p:nvSpPr>
          <p:cNvPr id="19" name="AutoShape 59">
            <a:extLst>
              <a:ext uri="{FF2B5EF4-FFF2-40B4-BE49-F238E27FC236}">
                <a16:creationId xmlns:a16="http://schemas.microsoft.com/office/drawing/2014/main" id="{34AFD606-D0D8-43CB-B981-C75594CF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225425"/>
            <a:ext cx="757237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Define</a:t>
            </a:r>
          </a:p>
        </p:txBody>
      </p:sp>
      <p:sp>
        <p:nvSpPr>
          <p:cNvPr id="20" name="AutoShape 56">
            <a:extLst>
              <a:ext uri="{FF2B5EF4-FFF2-40B4-BE49-F238E27FC236}">
                <a16:creationId xmlns:a16="http://schemas.microsoft.com/office/drawing/2014/main" id="{D232A9A1-692C-4ACB-9BBD-C44C6C7D6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100013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Improve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7FAA0A6-EFCB-47D9-BA80-095D428D4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665" y="2620548"/>
            <a:ext cx="2605292" cy="161690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7" name="제목 1">
            <a:extLst>
              <a:ext uri="{FF2B5EF4-FFF2-40B4-BE49-F238E27FC236}">
                <a16:creationId xmlns:a16="http://schemas.microsoft.com/office/drawing/2014/main" id="{74968E47-3BBB-458D-A928-E2B060AA1958}"/>
              </a:ext>
            </a:extLst>
          </p:cNvPr>
          <p:cNvSpPr txBox="1">
            <a:spLocks/>
          </p:cNvSpPr>
          <p:nvPr/>
        </p:nvSpPr>
        <p:spPr>
          <a:xfrm>
            <a:off x="1352900" y="1438748"/>
            <a:ext cx="2478604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Panel main not control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3" name="제목 1">
            <a:extLst>
              <a:ext uri="{FF2B5EF4-FFF2-40B4-BE49-F238E27FC236}">
                <a16:creationId xmlns:a16="http://schemas.microsoft.com/office/drawing/2014/main" id="{51F21534-0AFD-4AAD-BEA7-EFD8E276AEEC}"/>
              </a:ext>
            </a:extLst>
          </p:cNvPr>
          <p:cNvSpPr txBox="1">
            <a:spLocks/>
          </p:cNvSpPr>
          <p:nvPr/>
        </p:nvSpPr>
        <p:spPr>
          <a:xfrm>
            <a:off x="5634414" y="1390716"/>
            <a:ext cx="2478604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Add spec 2.90 in the drawing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DC07F68-3349-42FC-ADC3-5963F1A0C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985" y="2616640"/>
            <a:ext cx="2605292" cy="161690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5" name="제목 1">
            <a:extLst>
              <a:ext uri="{FF2B5EF4-FFF2-40B4-BE49-F238E27FC236}">
                <a16:creationId xmlns:a16="http://schemas.microsoft.com/office/drawing/2014/main" id="{EC0EA00E-402E-4D5A-8C9A-57555BB4673F}"/>
              </a:ext>
            </a:extLst>
          </p:cNvPr>
          <p:cNvSpPr txBox="1">
            <a:spLocks/>
          </p:cNvSpPr>
          <p:nvPr/>
        </p:nvSpPr>
        <p:spPr>
          <a:xfrm rot="16200000">
            <a:off x="6869942" y="2345912"/>
            <a:ext cx="1187378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2.90 ±0.05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13A221D8-93AB-4CA2-86AB-FF983AC66CAB}"/>
              </a:ext>
            </a:extLst>
          </p:cNvPr>
          <p:cNvSpPr txBox="1">
            <a:spLocks/>
          </p:cNvSpPr>
          <p:nvPr/>
        </p:nvSpPr>
        <p:spPr>
          <a:xfrm>
            <a:off x="152400" y="565786"/>
            <a:ext cx="4249934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eaLnBrk="0" hangingPunct="0">
              <a:defRPr/>
            </a:pPr>
            <a:r>
              <a:rPr lang="vi-VN" altLang="ko-KR" sz="1600" b="1" kern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4.</a:t>
            </a:r>
            <a:r>
              <a:rPr lang="en-US" altLang="ko-KR" sz="1600" b="1" kern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 </a:t>
            </a:r>
            <a:r>
              <a:rPr kumimoji="1" lang="en-US" altLang="ko-KR" sz="1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Add height dimension on drawing to control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CED11FE6-CEBF-4CEB-A692-ECC75AA3DD98}"/>
              </a:ext>
            </a:extLst>
          </p:cNvPr>
          <p:cNvSpPr txBox="1">
            <a:spLocks/>
          </p:cNvSpPr>
          <p:nvPr/>
        </p:nvSpPr>
        <p:spPr>
          <a:xfrm>
            <a:off x="56456" y="116632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r>
              <a:rPr lang="en-US" altLang="ko-KR" kern="0" dirty="0">
                <a:latin typeface="Arial Narrow" panose="020B0606020202030204" pitchFamily="34" charset="0"/>
                <a:ea typeface="LG Smart_H Regular" pitchFamily="34" charset="-127"/>
              </a:rPr>
              <a:t>4</a:t>
            </a:r>
            <a:r>
              <a:rPr lang="en-US" altLang="ko-KR" kern="0">
                <a:latin typeface="Arial Narrow" panose="020B0606020202030204" pitchFamily="34" charset="0"/>
                <a:ea typeface="LG Smart_H Regular" pitchFamily="34" charset="-127"/>
              </a:rPr>
              <a:t>. Improvement (long term)</a:t>
            </a:r>
            <a:endParaRPr lang="en-US" altLang="ko-KR" kern="0" dirty="0">
              <a:latin typeface="Arial Narrow" panose="020B0606020202030204" pitchFamily="34" charset="0"/>
              <a:ea typeface="LG Smart_H Regular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1896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4737F86-E74D-4736-9F1F-ED76FEBF2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979" y="3702415"/>
            <a:ext cx="3125883" cy="23444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2B0C88-37AB-4AF0-B6A0-004392693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26" y="3820825"/>
            <a:ext cx="3118119" cy="233858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9767" y="3240750"/>
            <a:ext cx="2988332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rIns="0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altLang="ko-KR" sz="1200" dirty="0">
                <a:solidFill>
                  <a:srgbClr val="00B050"/>
                </a:solidFill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 P-value </a:t>
            </a:r>
            <a:r>
              <a:rPr lang="en-US" altLang="ko-KR" sz="1200">
                <a:solidFill>
                  <a:srgbClr val="00B050"/>
                </a:solidFill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= 0.263&gt; </a:t>
            </a:r>
            <a:r>
              <a:rPr lang="en-US" altLang="ko-KR" sz="1200" dirty="0">
                <a:solidFill>
                  <a:srgbClr val="00B050"/>
                </a:solidFill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0.05 </a:t>
            </a:r>
            <a:r>
              <a:rPr lang="en-US" altLang="ko-KR" sz="1200" dirty="0">
                <a:solidFill>
                  <a:srgbClr val="00B050"/>
                </a:solidFill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  <a:sym typeface="Wingdings" pitchFamily="2" charset="2"/>
              </a:rPr>
              <a:t> OK</a:t>
            </a:r>
          </a:p>
          <a:p>
            <a:r>
              <a:rPr lang="en-US" altLang="ko-KR" sz="1200" dirty="0">
                <a:solidFill>
                  <a:srgbClr val="00B050"/>
                </a:solidFill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  <a:sym typeface="Wingdings" pitchFamily="2" charset="2"/>
              </a:rPr>
              <a:t>  (Data follow a normal distribution)</a:t>
            </a:r>
            <a:endParaRPr lang="en-US" altLang="ko-KR" sz="1200" dirty="0">
              <a:solidFill>
                <a:srgbClr val="00B050"/>
              </a:solidFill>
              <a:latin typeface="Arial Narrow" panose="020B0606020202030204" pitchFamily="34" charset="0"/>
              <a:ea typeface="LG Smart_H Regular" pitchFamily="34" charset="-127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8448831" y="4990030"/>
            <a:ext cx="432072" cy="895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en-US">
              <a:latin typeface="Arial Narrow" panose="020B0606020202030204" pitchFamily="34" charset="0"/>
              <a:ea typeface="돋움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85220" y="6314858"/>
            <a:ext cx="2971800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 latinLnBrk="1">
              <a:spcBef>
                <a:spcPct val="20000"/>
              </a:spcBef>
              <a:spcAft>
                <a:spcPct val="0"/>
              </a:spcAft>
            </a:pPr>
            <a:r>
              <a:rPr lang="en-US" altLang="ko-KR" sz="1200" dirty="0" err="1"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Cpk</a:t>
            </a:r>
            <a:r>
              <a:rPr lang="en-US" altLang="ko-KR" sz="1200" dirty="0"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 </a:t>
            </a:r>
            <a:r>
              <a:rPr lang="en-US" altLang="ko-KR" sz="1200"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= 1.54 </a:t>
            </a:r>
            <a:r>
              <a:rPr lang="en-US" altLang="ko-KR" sz="1200" dirty="0"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→ Standard: ≥ 1.33 → </a:t>
            </a:r>
            <a:r>
              <a:rPr lang="en-US" altLang="ko-KR" sz="1200" dirty="0">
                <a:solidFill>
                  <a:srgbClr val="00B050"/>
                </a:solidFill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OK</a:t>
            </a:r>
          </a:p>
          <a:p>
            <a:pPr algn="just" fontAlgn="base" latinLnBrk="1">
              <a:spcBef>
                <a:spcPct val="20000"/>
              </a:spcBef>
              <a:spcAft>
                <a:spcPct val="0"/>
              </a:spcAft>
              <a:buFont typeface="Wingdings"/>
              <a:buChar char="à"/>
            </a:pPr>
            <a:r>
              <a:rPr lang="en-US" altLang="ko-KR" sz="1200" dirty="0"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 Good process capability</a:t>
            </a:r>
            <a:endParaRPr lang="en-US" altLang="ko-KR" sz="1200" dirty="0">
              <a:solidFill>
                <a:srgbClr val="FF0000"/>
              </a:solidFill>
              <a:latin typeface="Arial Narrow" panose="020B0606020202030204" pitchFamily="34" charset="0"/>
              <a:ea typeface="LG Smart_H Regular" pitchFamily="34" charset="-127"/>
              <a:cs typeface="Arial" panose="020B0604020202020204" pitchFamily="34" charset="0"/>
            </a:endParaRPr>
          </a:p>
        </p:txBody>
      </p:sp>
      <p:sp>
        <p:nvSpPr>
          <p:cNvPr id="13" name="제목 1"/>
          <p:cNvSpPr txBox="1">
            <a:spLocks/>
          </p:cNvSpPr>
          <p:nvPr/>
        </p:nvSpPr>
        <p:spPr>
          <a:xfrm>
            <a:off x="56456" y="116632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r>
              <a:rPr lang="en-US" altLang="ko-KR" kern="0" dirty="0">
                <a:latin typeface="Arial Narrow" panose="020B0606020202030204" pitchFamily="34" charset="0"/>
                <a:ea typeface="LG Smart_H Regular" pitchFamily="34" charset="-127"/>
              </a:rPr>
              <a:t>4. Improvement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-12488" y="561513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3810256-63AE-42B6-912B-600C5D93CCD3}"/>
              </a:ext>
            </a:extLst>
          </p:cNvPr>
          <p:cNvSpPr/>
          <p:nvPr/>
        </p:nvSpPr>
        <p:spPr bwMode="auto">
          <a:xfrm flipV="1">
            <a:off x="3279488" y="5064240"/>
            <a:ext cx="563958" cy="10946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42" name="AutoShape 55">
            <a:extLst>
              <a:ext uri="{FF2B5EF4-FFF2-40B4-BE49-F238E27FC236}">
                <a16:creationId xmlns:a16="http://schemas.microsoft.com/office/drawing/2014/main" id="{857F9C77-C688-464A-97E2-542BDED9E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2413" y="22542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43" name="AutoShape 57">
            <a:extLst>
              <a:ext uri="{FF2B5EF4-FFF2-40B4-BE49-F238E27FC236}">
                <a16:creationId xmlns:a16="http://schemas.microsoft.com/office/drawing/2014/main" id="{9EE90D15-753A-4859-AA6D-580EC396B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288" y="225425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Analyze</a:t>
            </a:r>
          </a:p>
        </p:txBody>
      </p:sp>
      <p:sp>
        <p:nvSpPr>
          <p:cNvPr id="44" name="AutoShape 58">
            <a:extLst>
              <a:ext uri="{FF2B5EF4-FFF2-40B4-BE49-F238E27FC236}">
                <a16:creationId xmlns:a16="http://schemas.microsoft.com/office/drawing/2014/main" id="{9AE70768-5C64-44F1-AE77-592107F57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9775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Measure </a:t>
            </a:r>
          </a:p>
        </p:txBody>
      </p:sp>
      <p:sp>
        <p:nvSpPr>
          <p:cNvPr id="45" name="AutoShape 59">
            <a:extLst>
              <a:ext uri="{FF2B5EF4-FFF2-40B4-BE49-F238E27FC236}">
                <a16:creationId xmlns:a16="http://schemas.microsoft.com/office/drawing/2014/main" id="{7B1D8D77-BE5F-460F-9CEB-8460B286C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225425"/>
            <a:ext cx="757237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Define</a:t>
            </a:r>
          </a:p>
        </p:txBody>
      </p:sp>
      <p:sp>
        <p:nvSpPr>
          <p:cNvPr id="46" name="AutoShape 56">
            <a:extLst>
              <a:ext uri="{FF2B5EF4-FFF2-40B4-BE49-F238E27FC236}">
                <a16:creationId xmlns:a16="http://schemas.microsoft.com/office/drawing/2014/main" id="{37C783BE-50B3-498E-87E9-826E935EC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100013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Improve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F7B4B6-1ABC-4DBD-8FEC-B94780A92F5D}"/>
              </a:ext>
            </a:extLst>
          </p:cNvPr>
          <p:cNvSpPr txBox="1"/>
          <p:nvPr/>
        </p:nvSpPr>
        <p:spPr>
          <a:xfrm>
            <a:off x="1129149" y="3244859"/>
            <a:ext cx="2988332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 P-value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= 0.628&gt;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0.05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  <a:sym typeface="Wingdings" pitchFamily="2" charset="2"/>
              </a:rPr>
              <a:t> OK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  <a:sym typeface="Wingdings" pitchFamily="2" charset="2"/>
              </a:rPr>
              <a:t>  (Data follow a normal distribution)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 Smart_H Regular" pitchFamily="34" charset="-127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16FF6D0-7E42-4E7E-809A-3B43F6634545}"/>
              </a:ext>
            </a:extLst>
          </p:cNvPr>
          <p:cNvSpPr txBox="1"/>
          <p:nvPr/>
        </p:nvSpPr>
        <p:spPr>
          <a:xfrm>
            <a:off x="1123355" y="6277002"/>
            <a:ext cx="2971800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Cpk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= 0.28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→ Standard: ≥ 1.33 →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NG</a:t>
            </a:r>
          </a:p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/>
              <a:buChar char="à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itchFamily="34" charset="-127"/>
                <a:cs typeface="Arial" panose="020B0604020202020204" pitchFamily="34" charset="0"/>
              </a:rPr>
              <a:t> Lack of process capability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LG Smart_H Regular" pitchFamily="34" charset="-127"/>
              <a:cs typeface="Arial" panose="020B0604020202020204" pitchFamily="34" charset="0"/>
            </a:endParaRPr>
          </a:p>
        </p:txBody>
      </p:sp>
      <p:sp>
        <p:nvSpPr>
          <p:cNvPr id="53" name="TextBox 33">
            <a:extLst>
              <a:ext uri="{FF2B5EF4-FFF2-40B4-BE49-F238E27FC236}">
                <a16:creationId xmlns:a16="http://schemas.microsoft.com/office/drawing/2014/main" id="{76A12E1B-FEF3-41AB-A9D0-0693B19B3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715" y="978515"/>
            <a:ext cx="27368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2563" indent="-182563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eaLnBrk="1" latinLnBrk="1" hangingPunct="1">
              <a:buFont typeface="Wingdings" panose="05000000000000000000" pitchFamily="2" charset="2"/>
              <a:buChar char="q"/>
            </a:pPr>
            <a:r>
              <a:rPr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Before</a:t>
            </a:r>
            <a:endParaRPr lang="ko-KR" altLang="en-US" sz="10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4" name="TextBox 33">
            <a:extLst>
              <a:ext uri="{FF2B5EF4-FFF2-40B4-BE49-F238E27FC236}">
                <a16:creationId xmlns:a16="http://schemas.microsoft.com/office/drawing/2014/main" id="{C1AF7FC1-3066-4A70-9041-FCFFF6E1B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6923" y="853321"/>
            <a:ext cx="27368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2563" indent="-182563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eaLnBrk="1" latinLnBrk="1" hangingPunct="1">
              <a:buFont typeface="Wingdings" panose="05000000000000000000" pitchFamily="2" charset="2"/>
              <a:buChar char="q"/>
            </a:pPr>
            <a:r>
              <a:rPr lang="en-US" altLang="ko-KR" sz="10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After</a:t>
            </a:r>
            <a:endParaRPr lang="ko-KR" altLang="en-US" sz="10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315E53-C514-45E9-B7E7-96406E2A9B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1979" y="1065340"/>
            <a:ext cx="3153323" cy="210221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8F28A99-0962-4D70-9557-2A5A6C47F558}"/>
              </a:ext>
            </a:extLst>
          </p:cNvPr>
          <p:cNvSpPr/>
          <p:nvPr/>
        </p:nvSpPr>
        <p:spPr bwMode="auto">
          <a:xfrm>
            <a:off x="8509001" y="1736187"/>
            <a:ext cx="598861" cy="9947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en-US">
              <a:latin typeface="Arial Narrow" panose="020B0606020202030204" pitchFamily="34" charset="0"/>
              <a:ea typeface="돋움" pitchFamily="50" charset="-12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C619F1-10B3-4947-AAA2-57196776A8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119" y="1231890"/>
            <a:ext cx="3083531" cy="2055687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15A5DBF6-58FE-4F64-AAFD-31A9DDC31F93}"/>
              </a:ext>
            </a:extLst>
          </p:cNvPr>
          <p:cNvSpPr/>
          <p:nvPr/>
        </p:nvSpPr>
        <p:spPr bwMode="auto">
          <a:xfrm flipV="1">
            <a:off x="3396627" y="1621803"/>
            <a:ext cx="524125" cy="11438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55" name="제목 1">
            <a:extLst>
              <a:ext uri="{FF2B5EF4-FFF2-40B4-BE49-F238E27FC236}">
                <a16:creationId xmlns:a16="http://schemas.microsoft.com/office/drawing/2014/main" id="{769A4089-85DA-4081-AF0B-1746276C6440}"/>
              </a:ext>
            </a:extLst>
          </p:cNvPr>
          <p:cNvSpPr txBox="1">
            <a:spLocks/>
          </p:cNvSpPr>
          <p:nvPr/>
        </p:nvSpPr>
        <p:spPr>
          <a:xfrm>
            <a:off x="161491" y="574669"/>
            <a:ext cx="3191309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eaLnBrk="0" hangingPunct="0">
              <a:defRPr sz="1600" b="1" kern="0">
                <a:solidFill>
                  <a:srgbClr val="000000"/>
                </a:solidFill>
                <a:latin typeface="Arial"/>
                <a:ea typeface="LG Smart_H Regular" pitchFamily="34" charset="-127"/>
                <a:cs typeface="+mj-cs"/>
              </a:defRPr>
            </a:lvl1pPr>
          </a:lstStyle>
          <a:p>
            <a:r>
              <a:rPr lang="en-US" altLang="ko-KR">
                <a:latin typeface="Arial Narrow" panose="020B0606020202030204" pitchFamily="34" charset="0"/>
              </a:rPr>
              <a:t>4.4 </a:t>
            </a:r>
            <a:r>
              <a:rPr lang="en-US" altLang="ko-KR" dirty="0">
                <a:latin typeface="Arial Narrow" panose="020B0606020202030204" pitchFamily="34" charset="0"/>
              </a:rPr>
              <a:t>Process Capability review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414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161491" y="574669"/>
            <a:ext cx="3191309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eaLnBrk="0" hangingPunct="0">
              <a:defRPr sz="1600" b="1" kern="0">
                <a:solidFill>
                  <a:srgbClr val="000000"/>
                </a:solidFill>
                <a:latin typeface="Arial"/>
                <a:ea typeface="LG Smart_H Regular" pitchFamily="34" charset="-127"/>
                <a:cs typeface="+mj-cs"/>
              </a:defRPr>
            </a:lvl1pPr>
          </a:lstStyle>
          <a:p>
            <a:r>
              <a:rPr lang="en-US" altLang="ko-KR">
                <a:latin typeface="Arial Narrow" panose="020B0606020202030204" pitchFamily="34" charset="0"/>
              </a:rPr>
              <a:t>4.4 </a:t>
            </a:r>
            <a:r>
              <a:rPr lang="en-US" altLang="ko-KR" dirty="0">
                <a:latin typeface="Arial Narrow" panose="020B0606020202030204" pitchFamily="34" charset="0"/>
              </a:rPr>
              <a:t>Process Capability review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38" name="제목 1"/>
          <p:cNvSpPr txBox="1">
            <a:spLocks/>
          </p:cNvSpPr>
          <p:nvPr/>
        </p:nvSpPr>
        <p:spPr>
          <a:xfrm>
            <a:off x="56456" y="116632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r>
              <a:rPr lang="en-US" altLang="ko-KR" kern="0" dirty="0">
                <a:latin typeface="Arial Narrow" panose="020B0606020202030204" pitchFamily="34" charset="0"/>
                <a:ea typeface="LG Smart_H Regular" pitchFamily="34" charset="-127"/>
              </a:rPr>
              <a:t>4. Improvement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-12488" y="561513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55">
            <a:extLst>
              <a:ext uri="{FF2B5EF4-FFF2-40B4-BE49-F238E27FC236}">
                <a16:creationId xmlns:a16="http://schemas.microsoft.com/office/drawing/2014/main" id="{7105E837-36C5-4A3A-A3B1-66AAAC240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2413" y="22542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42" name="AutoShape 57">
            <a:extLst>
              <a:ext uri="{FF2B5EF4-FFF2-40B4-BE49-F238E27FC236}">
                <a16:creationId xmlns:a16="http://schemas.microsoft.com/office/drawing/2014/main" id="{A61B3999-4B55-4AAE-AFDD-F9C4C2F7D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288" y="225425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Analyze</a:t>
            </a:r>
          </a:p>
        </p:txBody>
      </p:sp>
      <p:sp>
        <p:nvSpPr>
          <p:cNvPr id="43" name="AutoShape 58">
            <a:extLst>
              <a:ext uri="{FF2B5EF4-FFF2-40B4-BE49-F238E27FC236}">
                <a16:creationId xmlns:a16="http://schemas.microsoft.com/office/drawing/2014/main" id="{F4C0393A-6952-457A-9305-F5B690BF8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9775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Measure </a:t>
            </a:r>
          </a:p>
        </p:txBody>
      </p:sp>
      <p:sp>
        <p:nvSpPr>
          <p:cNvPr id="44" name="AutoShape 59">
            <a:extLst>
              <a:ext uri="{FF2B5EF4-FFF2-40B4-BE49-F238E27FC236}">
                <a16:creationId xmlns:a16="http://schemas.microsoft.com/office/drawing/2014/main" id="{B8175F25-7640-49BC-A809-88A5DBC4B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225425"/>
            <a:ext cx="757237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Define</a:t>
            </a:r>
          </a:p>
        </p:txBody>
      </p:sp>
      <p:sp>
        <p:nvSpPr>
          <p:cNvPr id="45" name="AutoShape 56">
            <a:extLst>
              <a:ext uri="{FF2B5EF4-FFF2-40B4-BE49-F238E27FC236}">
                <a16:creationId xmlns:a16="http://schemas.microsoft.com/office/drawing/2014/main" id="{782957C0-66CE-4067-A357-80B69342B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100013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Improve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60EEC9-BA04-403F-A7BF-B6BC0BFC4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300" y="1113920"/>
            <a:ext cx="3125868" cy="23444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2CBB03E-BDB9-4FB3-9EBF-27D194857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58" y="1145144"/>
            <a:ext cx="3125883" cy="2344413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C8B57771-C783-477F-B3C1-CCFB54E1FF88}"/>
              </a:ext>
            </a:extLst>
          </p:cNvPr>
          <p:cNvSpPr txBox="1"/>
          <p:nvPr/>
        </p:nvSpPr>
        <p:spPr>
          <a:xfrm>
            <a:off x="233922" y="4306569"/>
            <a:ext cx="4344755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altLang="ko-KR" sz="1200" noProof="1">
                <a:latin typeface="Arial Narrow" panose="020B0606020202030204" pitchFamily="34" charset="0"/>
                <a:ea typeface="LG Smart_H Regular" panose="020B0600000101010101" pitchFamily="34" charset="-127"/>
              </a:rPr>
              <a:t>  Check the Z short term (best capability of process) and the Z long term (customer’s perspective):</a:t>
            </a:r>
          </a:p>
          <a:p>
            <a:pPr>
              <a:buFont typeface="Wingdings" pitchFamily="2" charset="2"/>
              <a:buChar char="§"/>
            </a:pPr>
            <a:r>
              <a:rPr lang="en-US" altLang="ko-KR" sz="1200" noProof="1">
                <a:latin typeface="Arial Narrow" panose="020B0606020202030204" pitchFamily="34" charset="0"/>
                <a:ea typeface="LG Smart_H Regular" panose="020B0600000101010101" pitchFamily="34" charset="-127"/>
              </a:rPr>
              <a:t>Zshift = Zst – Zlt = </a:t>
            </a:r>
            <a:r>
              <a:rPr lang="en-US" altLang="ko-KR" sz="1200">
                <a:latin typeface="Arial Narrow" panose="020B0606020202030204" pitchFamily="34" charset="0"/>
                <a:ea typeface="LG스마트체 Regular" pitchFamily="34" charset="-127"/>
              </a:rPr>
              <a:t>4.67 – 4.60 = 0.07 </a:t>
            </a:r>
            <a:r>
              <a:rPr lang="en-US" altLang="ko-KR" sz="1200" noProof="1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 Z shift &lt; 1.5 </a:t>
            </a:r>
          </a:p>
          <a:p>
            <a:r>
              <a:rPr lang="en-US" altLang="ko-KR" sz="1200" noProof="1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 Proper process control </a:t>
            </a:r>
            <a:r>
              <a:rPr lang="en-US" altLang="ko-KR" sz="1200" noProof="1">
                <a:latin typeface="Arial Narrow" panose="020B0606020202030204" pitchFamily="34" charset="0"/>
                <a:ea typeface="LG Smart_H Regular" panose="020B0600000101010101" pitchFamily="34" charset="-127"/>
              </a:rPr>
              <a:t>management</a:t>
            </a:r>
            <a:endParaRPr lang="en-US" altLang="ko-KR" sz="1200" noProof="1">
              <a:latin typeface="Arial Narrow" panose="020B0606020202030204" pitchFamily="34" charset="0"/>
              <a:ea typeface="LG Smart_H Regular" panose="020B0600000101010101" pitchFamily="34" charset="-127"/>
              <a:sym typeface="Wingdings" pitchFamily="2" charset="2"/>
            </a:endParaRPr>
          </a:p>
          <a:p>
            <a:pPr>
              <a:buFont typeface="Wingdings" pitchFamily="2" charset="2"/>
              <a:buChar char="§"/>
            </a:pPr>
            <a:r>
              <a:rPr lang="en-US" altLang="ko-KR" sz="1200" noProof="1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  Z long term : 4.60</a:t>
            </a:r>
            <a:r>
              <a:rPr lang="en-US" altLang="ko-KR" sz="1200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≥</a:t>
            </a:r>
            <a:r>
              <a:rPr lang="en-US" altLang="ko-KR" sz="1200" noProof="1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 4.5, Z short term: 4.67 </a:t>
            </a:r>
            <a:r>
              <a:rPr lang="en-US" altLang="ko-KR" sz="1200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≥</a:t>
            </a:r>
            <a:r>
              <a:rPr lang="en-US" altLang="ko-KR" sz="1200" noProof="1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 4.5  </a:t>
            </a:r>
          </a:p>
          <a:p>
            <a:r>
              <a:rPr lang="en-US" altLang="ko-KR" sz="1200" noProof="1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 Technology is OK</a:t>
            </a:r>
            <a:endParaRPr lang="en-US" altLang="ko-KR" sz="1200" noProof="1">
              <a:latin typeface="Arial Narrow" panose="020B0606020202030204" pitchFamily="34" charset="0"/>
              <a:ea typeface="LG Smart_H Regula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3270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55">
            <a:extLst>
              <a:ext uri="{FF2B5EF4-FFF2-40B4-BE49-F238E27FC236}">
                <a16:creationId xmlns:a16="http://schemas.microsoft.com/office/drawing/2014/main" id="{192872DD-0F6D-41C2-83BA-E80AF9901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9039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Control</a:t>
            </a:r>
          </a:p>
        </p:txBody>
      </p:sp>
      <p:sp>
        <p:nvSpPr>
          <p:cNvPr id="35" name="AutoShape 59">
            <a:extLst>
              <a:ext uri="{FF2B5EF4-FFF2-40B4-BE49-F238E27FC236}">
                <a16:creationId xmlns:a16="http://schemas.microsoft.com/office/drawing/2014/main" id="{89F6BFB0-96B2-4FA3-ABFE-85257141B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89" y="178989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Define</a:t>
            </a:r>
          </a:p>
        </p:txBody>
      </p:sp>
      <p:sp>
        <p:nvSpPr>
          <p:cNvPr id="37" name="제목 1">
            <a:extLst>
              <a:ext uri="{FF2B5EF4-FFF2-40B4-BE49-F238E27FC236}">
                <a16:creationId xmlns:a16="http://schemas.microsoft.com/office/drawing/2014/main" id="{3E2CD205-658C-4605-9774-0129D43DEF0F}"/>
              </a:ext>
            </a:extLst>
          </p:cNvPr>
          <p:cNvSpPr txBox="1">
            <a:spLocks/>
          </p:cNvSpPr>
          <p:nvPr/>
        </p:nvSpPr>
        <p:spPr>
          <a:xfrm>
            <a:off x="284075" y="551350"/>
            <a:ext cx="3114638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kern="0" noProof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4.5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Conclusion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AutoShape 57">
            <a:extLst>
              <a:ext uri="{FF2B5EF4-FFF2-40B4-BE49-F238E27FC236}">
                <a16:creationId xmlns:a16="http://schemas.microsoft.com/office/drawing/2014/main" id="{48FAC05E-800B-4E1A-9771-36BFD9957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7634" y="172287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Analyze</a:t>
            </a:r>
          </a:p>
        </p:txBody>
      </p:sp>
      <p:sp>
        <p:nvSpPr>
          <p:cNvPr id="12" name="AutoShape 58">
            <a:extLst>
              <a:ext uri="{FF2B5EF4-FFF2-40B4-BE49-F238E27FC236}">
                <a16:creationId xmlns:a16="http://schemas.microsoft.com/office/drawing/2014/main" id="{39ACC0DB-2BA4-4515-9475-B37010C8E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121" y="172287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Measure </a:t>
            </a:r>
          </a:p>
        </p:txBody>
      </p:sp>
      <p:sp>
        <p:nvSpPr>
          <p:cNvPr id="13" name="AutoShape 56">
            <a:extLst>
              <a:ext uri="{FF2B5EF4-FFF2-40B4-BE49-F238E27FC236}">
                <a16:creationId xmlns:a16="http://schemas.microsoft.com/office/drawing/2014/main" id="{841C5A25-FB18-4642-856C-7D543A293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9784" y="46875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Improve</a:t>
            </a: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F84472C5-9935-4A9C-A6FF-5A6404F439CE}"/>
              </a:ext>
            </a:extLst>
          </p:cNvPr>
          <p:cNvSpPr txBox="1">
            <a:spLocks/>
          </p:cNvSpPr>
          <p:nvPr/>
        </p:nvSpPr>
        <p:spPr>
          <a:xfrm>
            <a:off x="56456" y="116632"/>
            <a:ext cx="3892854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r>
              <a:rPr lang="en-US" altLang="ko-KR" kern="0" dirty="0">
                <a:latin typeface="Arial Narrow" panose="020B0606020202030204" pitchFamily="34" charset="0"/>
                <a:ea typeface="LG Smart_H Regular" pitchFamily="34" charset="-127"/>
              </a:rPr>
              <a:t>4. Improvement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740CA5-2702-48B3-9108-B018AE5FD835}"/>
              </a:ext>
            </a:extLst>
          </p:cNvPr>
          <p:cNvSpPr txBox="1"/>
          <p:nvPr/>
        </p:nvSpPr>
        <p:spPr>
          <a:xfrm>
            <a:off x="94266" y="982723"/>
            <a:ext cx="9717468" cy="134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spcBef>
                <a:spcPct val="20000"/>
              </a:spcBef>
              <a:buFontTx/>
              <a:buChar char="-"/>
            </a:pPr>
            <a:r>
              <a:rPr lang="en-US" altLang="ko-KR" sz="1200" dirty="0">
                <a:latin typeface="Arial Narrow" panose="020B0606020202030204" pitchFamily="34" charset="0"/>
                <a:cs typeface="Arial" panose="020B0604020202020204" pitchFamily="34" charset="0"/>
              </a:rPr>
              <a:t>After checking and found out that </a:t>
            </a:r>
            <a:r>
              <a:rPr lang="en-US" altLang="ko-KR" sz="1200">
                <a:latin typeface="Arial Narrow" panose="020B0606020202030204" pitchFamily="34" charset="0"/>
                <a:cs typeface="Arial" panose="020B0604020202020204" pitchFamily="34" charset="0"/>
              </a:rPr>
              <a:t>the height dimension has </a:t>
            </a:r>
            <a:r>
              <a:rPr lang="en-US" altLang="ko-KR" sz="1200" dirty="0">
                <a:latin typeface="Arial Narrow" panose="020B0606020202030204" pitchFamily="34" charset="0"/>
                <a:cs typeface="Arial" panose="020B0604020202020204" pitchFamily="34" charset="0"/>
              </a:rPr>
              <a:t>problems when test sample, we also suspect that </a:t>
            </a:r>
            <a:r>
              <a:rPr lang="en-US" altLang="ko-KR" sz="1200">
                <a:latin typeface="Arial Narrow" panose="020B0606020202030204" pitchFamily="34" charset="0"/>
                <a:cs typeface="Arial" panose="020B0604020202020204" pitchFamily="34" charset="0"/>
              </a:rPr>
              <a:t>the height dimension is the cause of Flush issue</a:t>
            </a:r>
            <a:endParaRPr lang="en-US" altLang="ko-KR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just">
              <a:spcBef>
                <a:spcPct val="20000"/>
              </a:spcBef>
            </a:pPr>
            <a:endParaRPr lang="en-US" altLang="ko-KR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171450" indent="-171450" algn="just">
              <a:spcBef>
                <a:spcPct val="20000"/>
              </a:spcBef>
              <a:buFont typeface="Wingdings" panose="05000000000000000000" pitchFamily="2" charset="2"/>
              <a:buChar char="à"/>
            </a:pPr>
            <a:r>
              <a:rPr lang="en-US" altLang="ko-KR" sz="1200" dirty="0">
                <a:latin typeface="Arial Narrow" panose="020B0606020202030204" pitchFamily="34" charset="0"/>
                <a:cs typeface="Arial" panose="020B0604020202020204" pitchFamily="34" charset="0"/>
              </a:rPr>
              <a:t>We conducted improving </a:t>
            </a:r>
            <a:r>
              <a:rPr lang="en-US" altLang="ko-KR" sz="1200">
                <a:latin typeface="Arial Narrow" panose="020B0606020202030204" pitchFamily="34" charset="0"/>
                <a:cs typeface="Arial" panose="020B0604020202020204" pitchFamily="34" charset="0"/>
              </a:rPr>
              <a:t>the height dimension by mold modifycation </a:t>
            </a:r>
            <a:r>
              <a:rPr lang="en-US" altLang="ko-KR" sz="1200" dirty="0">
                <a:latin typeface="Arial Narrow" panose="020B0606020202030204" pitchFamily="34" charset="0"/>
                <a:cs typeface="Arial" panose="020B0604020202020204" pitchFamily="34" charset="0"/>
              </a:rPr>
              <a:t>. After that, we also </a:t>
            </a:r>
            <a:r>
              <a:rPr lang="en-US" altLang="ko-KR" sz="1200">
                <a:latin typeface="Arial Narrow" panose="020B0606020202030204" pitchFamily="34" charset="0"/>
                <a:cs typeface="Arial" panose="020B0604020202020204" pitchFamily="34" charset="0"/>
              </a:rPr>
              <a:t>calculated flush data, use Xbar chart to control and Process capability to evaluate result</a:t>
            </a:r>
            <a:endParaRPr lang="en-US" altLang="ko-KR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just">
              <a:spcBef>
                <a:spcPct val="20000"/>
              </a:spcBef>
            </a:pPr>
            <a:endParaRPr lang="en-US" altLang="ko-KR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171450" indent="-171450" algn="just">
              <a:spcBef>
                <a:spcPct val="20000"/>
              </a:spcBef>
              <a:buFont typeface="Wingdings" panose="05000000000000000000" pitchFamily="2" charset="2"/>
              <a:buChar char="à"/>
            </a:pPr>
            <a:r>
              <a:rPr lang="en-US" altLang="ko-KR" sz="1200" dirty="0">
                <a:latin typeface="Arial Narrow" panose="020B0606020202030204" pitchFamily="34" charset="0"/>
                <a:cs typeface="Arial" panose="020B0604020202020204" pitchFamily="34" charset="0"/>
              </a:rPr>
              <a:t>The result shows that there is no problems with </a:t>
            </a:r>
            <a:r>
              <a:rPr lang="en-US" altLang="ko-KR" sz="1200">
                <a:latin typeface="Arial Narrow" panose="020B0606020202030204" pitchFamily="34" charset="0"/>
                <a:cs typeface="Arial" panose="020B0604020202020204" pitchFamily="34" charset="0"/>
              </a:rPr>
              <a:t>the height dimension after </a:t>
            </a:r>
            <a:r>
              <a:rPr lang="en-US" altLang="ko-KR" sz="1200" dirty="0">
                <a:latin typeface="Arial Narrow" panose="020B0606020202030204" pitchFamily="34" charset="0"/>
                <a:cs typeface="Arial" panose="020B0604020202020204" pitchFamily="34" charset="0"/>
              </a:rPr>
              <a:t>improvement. </a:t>
            </a:r>
          </a:p>
        </p:txBody>
      </p:sp>
    </p:spTree>
    <p:extLst>
      <p:ext uri="{BB962C8B-B14F-4D97-AF65-F5344CB8AC3E}">
        <p14:creationId xmlns:p14="http://schemas.microsoft.com/office/powerpoint/2010/main" val="4119998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1"/>
          <p:cNvSpPr txBox="1">
            <a:spLocks/>
          </p:cNvSpPr>
          <p:nvPr/>
        </p:nvSpPr>
        <p:spPr>
          <a:xfrm>
            <a:off x="56456" y="116632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r>
              <a:rPr lang="en-US" altLang="ko-KR" kern="0" dirty="0">
                <a:latin typeface="Arial Narrow" panose="020B0606020202030204" pitchFamily="34" charset="0"/>
                <a:ea typeface="LG Smart_H Regular" pitchFamily="34" charset="-127"/>
              </a:rPr>
              <a:t> 5. Control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-12488" y="561513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utoShape 55">
            <a:extLst>
              <a:ext uri="{FF2B5EF4-FFF2-40B4-BE49-F238E27FC236}">
                <a16:creationId xmlns:a16="http://schemas.microsoft.com/office/drawing/2014/main" id="{F9716D08-5743-4F1C-9F4C-C034FEB56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2413" y="22542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15" name="AutoShape 57">
            <a:extLst>
              <a:ext uri="{FF2B5EF4-FFF2-40B4-BE49-F238E27FC236}">
                <a16:creationId xmlns:a16="http://schemas.microsoft.com/office/drawing/2014/main" id="{6AF65A9F-F969-48FB-8E6E-0045F2F32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288" y="225425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Analyze</a:t>
            </a:r>
          </a:p>
        </p:txBody>
      </p:sp>
      <p:sp>
        <p:nvSpPr>
          <p:cNvPr id="16" name="AutoShape 58">
            <a:extLst>
              <a:ext uri="{FF2B5EF4-FFF2-40B4-BE49-F238E27FC236}">
                <a16:creationId xmlns:a16="http://schemas.microsoft.com/office/drawing/2014/main" id="{60B26CFA-8ED6-49E6-89ED-F2C3D8D5D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9775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Measure </a:t>
            </a:r>
          </a:p>
        </p:txBody>
      </p:sp>
      <p:sp>
        <p:nvSpPr>
          <p:cNvPr id="17" name="AutoShape 59">
            <a:extLst>
              <a:ext uri="{FF2B5EF4-FFF2-40B4-BE49-F238E27FC236}">
                <a16:creationId xmlns:a16="http://schemas.microsoft.com/office/drawing/2014/main" id="{F7F116AE-D9B5-4A61-BDBC-11F92E68D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225425"/>
            <a:ext cx="757237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Define</a:t>
            </a:r>
          </a:p>
        </p:txBody>
      </p:sp>
      <p:sp>
        <p:nvSpPr>
          <p:cNvPr id="18" name="AutoShape 56">
            <a:extLst>
              <a:ext uri="{FF2B5EF4-FFF2-40B4-BE49-F238E27FC236}">
                <a16:creationId xmlns:a16="http://schemas.microsoft.com/office/drawing/2014/main" id="{57096F8F-57A5-4D22-9A48-5819F763E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100013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Improve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70A2C5F-07EA-4254-9DD9-112F7DE7F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205488"/>
              </p:ext>
            </p:extLst>
          </p:nvPr>
        </p:nvGraphicFramePr>
        <p:xfrm>
          <a:off x="274414" y="1883130"/>
          <a:ext cx="3657600" cy="20955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49987599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41216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4056389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615053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7913997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5291504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Sample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Sample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Sample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Sample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Sample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6010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30580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3854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9496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58167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8412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8172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9870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6822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2744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-0.2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324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6B56FD16-7F97-4744-9824-D17623466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583679"/>
            <a:ext cx="4347846" cy="289856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CC59D65-F463-4D01-A797-3A95EE5BBA0C}"/>
              </a:ext>
            </a:extLst>
          </p:cNvPr>
          <p:cNvSpPr txBox="1"/>
          <p:nvPr/>
        </p:nvSpPr>
        <p:spPr>
          <a:xfrm>
            <a:off x="246987" y="5536605"/>
            <a:ext cx="922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200" b="1" u="sng" dirty="0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Conclusion:</a:t>
            </a:r>
            <a:r>
              <a:rPr lang="vi-VN" altLang="ko-KR" sz="1200" b="1" u="sng" dirty="0">
                <a:latin typeface="Arial" panose="020B060402020202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No abnormality can be found in the Xbar control chart and the R control chart. Therefore, stability is acceptable, the performance of process over time is Good</a:t>
            </a:r>
            <a:endParaRPr lang="en-US" altLang="ko-KR" sz="1200" dirty="0"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058DC0-2D1F-4AC8-8C7D-927B9A3AA2B8}"/>
              </a:ext>
            </a:extLst>
          </p:cNvPr>
          <p:cNvSpPr txBox="1"/>
          <p:nvPr/>
        </p:nvSpPr>
        <p:spPr>
          <a:xfrm>
            <a:off x="100765" y="968761"/>
            <a:ext cx="945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To monitor the mean and the variation of process after applying improvement and use control chart to monitor process stability over time.</a:t>
            </a:r>
          </a:p>
          <a:p>
            <a:r>
              <a:rPr lang="en-US" altLang="ko-KR" sz="120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- Sampling method: Rational sub group sampling</a:t>
            </a:r>
            <a:r>
              <a:rPr lang="vi-VN" altLang="ko-KR" sz="12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firsts 5ea/day at production line for 10 days to analyze: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06924D-2DB2-42AE-B888-BAB5C232FBAD}"/>
              </a:ext>
            </a:extLst>
          </p:cNvPr>
          <p:cNvSpPr/>
          <p:nvPr/>
        </p:nvSpPr>
        <p:spPr>
          <a:xfrm>
            <a:off x="221353" y="644695"/>
            <a:ext cx="67011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defRPr/>
            </a:pP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1.  </a:t>
            </a:r>
            <a:r>
              <a:rPr lang="en-US" altLang="ko-KR" sz="1600" b="1" kern="0" dirty="0" err="1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Xbar</a:t>
            </a: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-R Chart Review after improving</a:t>
            </a:r>
            <a:endParaRPr lang="ko-KR" altLang="en-US" sz="1600" b="1" kern="0" dirty="0"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018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448FC-6E6C-C9B3-36A2-3295EC76E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1">
            <a:extLst>
              <a:ext uri="{FF2B5EF4-FFF2-40B4-BE49-F238E27FC236}">
                <a16:creationId xmlns:a16="http://schemas.microsoft.com/office/drawing/2014/main" id="{399BA13C-AB55-311F-AFAB-B47A052BC4E2}"/>
              </a:ext>
            </a:extLst>
          </p:cNvPr>
          <p:cNvSpPr txBox="1">
            <a:spLocks/>
          </p:cNvSpPr>
          <p:nvPr/>
        </p:nvSpPr>
        <p:spPr>
          <a:xfrm>
            <a:off x="56456" y="116632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r>
              <a:rPr lang="en-US" altLang="ko-KR" kern="0" dirty="0">
                <a:latin typeface="Arial Narrow" panose="020B0606020202030204" pitchFamily="34" charset="0"/>
                <a:ea typeface="LG Smart_H Regular" pitchFamily="34" charset="-127"/>
              </a:rPr>
              <a:t> 5. Control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4AE1243-F43E-DDA3-633F-7F7A205527E5}"/>
              </a:ext>
            </a:extLst>
          </p:cNvPr>
          <p:cNvCxnSpPr/>
          <p:nvPr/>
        </p:nvCxnSpPr>
        <p:spPr>
          <a:xfrm>
            <a:off x="-12488" y="561513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utoShape 55">
            <a:extLst>
              <a:ext uri="{FF2B5EF4-FFF2-40B4-BE49-F238E27FC236}">
                <a16:creationId xmlns:a16="http://schemas.microsoft.com/office/drawing/2014/main" id="{A6E66855-C94E-AF62-9A44-F0E741582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2413" y="22542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15" name="AutoShape 57">
            <a:extLst>
              <a:ext uri="{FF2B5EF4-FFF2-40B4-BE49-F238E27FC236}">
                <a16:creationId xmlns:a16="http://schemas.microsoft.com/office/drawing/2014/main" id="{770EB727-C974-55F6-EFA7-EB5278DBA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288" y="225425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Analyze</a:t>
            </a:r>
          </a:p>
        </p:txBody>
      </p:sp>
      <p:sp>
        <p:nvSpPr>
          <p:cNvPr id="16" name="AutoShape 58">
            <a:extLst>
              <a:ext uri="{FF2B5EF4-FFF2-40B4-BE49-F238E27FC236}">
                <a16:creationId xmlns:a16="http://schemas.microsoft.com/office/drawing/2014/main" id="{7A722922-420B-BD5F-9741-E58843B41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9775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Measure </a:t>
            </a:r>
          </a:p>
        </p:txBody>
      </p:sp>
      <p:sp>
        <p:nvSpPr>
          <p:cNvPr id="17" name="AutoShape 59">
            <a:extLst>
              <a:ext uri="{FF2B5EF4-FFF2-40B4-BE49-F238E27FC236}">
                <a16:creationId xmlns:a16="http://schemas.microsoft.com/office/drawing/2014/main" id="{79C9118F-927E-7793-4A0A-7BDF6BBC1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225425"/>
            <a:ext cx="757237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Define</a:t>
            </a:r>
          </a:p>
        </p:txBody>
      </p:sp>
      <p:sp>
        <p:nvSpPr>
          <p:cNvPr id="18" name="AutoShape 56">
            <a:extLst>
              <a:ext uri="{FF2B5EF4-FFF2-40B4-BE49-F238E27FC236}">
                <a16:creationId xmlns:a16="http://schemas.microsoft.com/office/drawing/2014/main" id="{55A3FC5E-9B80-4AB2-F742-121148722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100013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Improve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EF84950-6CF8-3A5B-CC66-C4B219DD4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22428"/>
              </p:ext>
            </p:extLst>
          </p:nvPr>
        </p:nvGraphicFramePr>
        <p:xfrm>
          <a:off x="274414" y="1883130"/>
          <a:ext cx="3657600" cy="20955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49987599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41216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4056389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615053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7913997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5291504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Sample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Sample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Sample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Sample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Sample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6010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2.86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30580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2.85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3854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2.91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9496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2.96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2.97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58167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2.86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2.95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8412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2.88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2.87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2.85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2.81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8172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2.86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2.95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9870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2.94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2.91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2.87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6822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2.95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2.92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2.95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2744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2.83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2.96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2.93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2.96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Arial Narrow" panose="020B0606020202030204" pitchFamily="34" charset="0"/>
                        </a:rPr>
                        <a:t>2.9</a:t>
                      </a: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32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2BB5C5C-300D-3FAB-F4FB-BA6C5F3B21A4}"/>
              </a:ext>
            </a:extLst>
          </p:cNvPr>
          <p:cNvSpPr txBox="1"/>
          <p:nvPr/>
        </p:nvSpPr>
        <p:spPr>
          <a:xfrm>
            <a:off x="246987" y="5536605"/>
            <a:ext cx="922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200" b="1" u="sng" dirty="0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Conclusion:</a:t>
            </a:r>
            <a:r>
              <a:rPr lang="vi-VN" altLang="ko-KR" sz="1200" b="1" u="sng" dirty="0">
                <a:latin typeface="Arial" panose="020B060402020202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 Narrow" panose="020B0606020202030204" pitchFamily="34" charset="0"/>
                <a:ea typeface="LG Smart_H Regular" panose="020B0600000101010101" pitchFamily="34" charset="-127"/>
              </a:rPr>
              <a:t>No abnormality can be found in the Xbar control chart and the R control chart. Therefore, stability is acceptable, the performance of process over time is Good</a:t>
            </a:r>
            <a:endParaRPr lang="en-US" altLang="ko-KR" sz="1200" dirty="0"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723B1F-B0FE-47FC-6EA0-8509B7DBEAB7}"/>
              </a:ext>
            </a:extLst>
          </p:cNvPr>
          <p:cNvSpPr txBox="1"/>
          <p:nvPr/>
        </p:nvSpPr>
        <p:spPr>
          <a:xfrm>
            <a:off x="100765" y="968761"/>
            <a:ext cx="945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To monitor the mean and the variation of process after applying improvement and use control chart to monitor process stability over time.</a:t>
            </a:r>
          </a:p>
          <a:p>
            <a:r>
              <a:rPr lang="en-US" altLang="ko-KR" sz="120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- Sampling method: Rational sub group sampling</a:t>
            </a:r>
            <a:r>
              <a:rPr lang="vi-VN" altLang="ko-KR" sz="12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firsts 5ea/day at production line for 10 days to analyze: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2A00B3-6A27-0106-D1D1-2B2E321F8C8F}"/>
              </a:ext>
            </a:extLst>
          </p:cNvPr>
          <p:cNvSpPr/>
          <p:nvPr/>
        </p:nvSpPr>
        <p:spPr>
          <a:xfrm>
            <a:off x="221353" y="644695"/>
            <a:ext cx="67011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defRPr/>
            </a:pP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2.  </a:t>
            </a:r>
            <a:r>
              <a:rPr lang="en-US" altLang="ko-KR" sz="1600" b="1" kern="0" dirty="0" err="1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Xbar</a:t>
            </a: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-R Chart Review after improving the measurement system</a:t>
            </a:r>
            <a:endParaRPr lang="ko-KR" altLang="en-US" sz="1600" b="1" kern="0" dirty="0"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6EAB7E-D5A3-5178-3518-C54723E97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844" y="1676750"/>
            <a:ext cx="4413288" cy="294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66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57">
            <a:extLst>
              <a:ext uri="{FF2B5EF4-FFF2-40B4-BE49-F238E27FC236}">
                <a16:creationId xmlns:a16="http://schemas.microsoft.com/office/drawing/2014/main" id="{F7C0E09A-DB4D-43E6-B3CE-37B23F71A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1606" y="173344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Analyze</a:t>
            </a:r>
          </a:p>
        </p:txBody>
      </p:sp>
      <p:sp>
        <p:nvSpPr>
          <p:cNvPr id="20" name="AutoShape 58">
            <a:extLst>
              <a:ext uri="{FF2B5EF4-FFF2-40B4-BE49-F238E27FC236}">
                <a16:creationId xmlns:a16="http://schemas.microsoft.com/office/drawing/2014/main" id="{1CB20489-F538-4606-ADFB-86DC16482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0094" y="173344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Measure </a:t>
            </a:r>
          </a:p>
        </p:txBody>
      </p:sp>
      <p:sp>
        <p:nvSpPr>
          <p:cNvPr id="21" name="AutoShape 59">
            <a:extLst>
              <a:ext uri="{FF2B5EF4-FFF2-40B4-BE49-F238E27FC236}">
                <a16:creationId xmlns:a16="http://schemas.microsoft.com/office/drawing/2014/main" id="{34CE5EF4-26DB-49D7-BEFE-A27DCC698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181" y="173344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Define</a:t>
            </a:r>
          </a:p>
        </p:txBody>
      </p:sp>
      <p:sp>
        <p:nvSpPr>
          <p:cNvPr id="22" name="AutoShape 56">
            <a:extLst>
              <a:ext uri="{FF2B5EF4-FFF2-40B4-BE49-F238E27FC236}">
                <a16:creationId xmlns:a16="http://schemas.microsoft.com/office/drawing/2014/main" id="{25B21E42-9EA3-4D7E-8A2E-55F98358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756" y="173344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Improve</a:t>
            </a:r>
          </a:p>
        </p:txBody>
      </p:sp>
      <p:sp>
        <p:nvSpPr>
          <p:cNvPr id="23" name="AutoShape 55">
            <a:extLst>
              <a:ext uri="{FF2B5EF4-FFF2-40B4-BE49-F238E27FC236}">
                <a16:creationId xmlns:a16="http://schemas.microsoft.com/office/drawing/2014/main" id="{D709B8E8-5B31-4366-ACEB-109393355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2731" y="57457"/>
            <a:ext cx="747713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 Narrow" panose="020B0606020202030204" pitchFamily="34" charset="0"/>
                <a:ea typeface="맑은 고딕" panose="020B0503020000020004" pitchFamily="50" charset="-127"/>
              </a:rPr>
              <a:t>Control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3B0FBA-9900-427C-A2C3-53ABF38E2FB5}"/>
              </a:ext>
            </a:extLst>
          </p:cNvPr>
          <p:cNvSpPr txBox="1"/>
          <p:nvPr/>
        </p:nvSpPr>
        <p:spPr>
          <a:xfrm>
            <a:off x="70509" y="117554"/>
            <a:ext cx="5170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latin typeface="Arial Narrow" panose="020B0606020202030204" pitchFamily="34" charset="0"/>
                <a:ea typeface="LG Smart_H Regular" pitchFamily="34" charset="-127"/>
              </a:rPr>
              <a:t>2.</a:t>
            </a:r>
            <a:r>
              <a:rPr lang="vi-VN" altLang="ko-KR" sz="1600" b="1">
                <a:latin typeface="Arial Narrow" panose="020B0606020202030204" pitchFamily="34" charset="0"/>
                <a:ea typeface="LG Smart_H Regular" pitchFamily="34" charset="-127"/>
              </a:rPr>
              <a:t> </a:t>
            </a:r>
            <a:r>
              <a:rPr lang="en-US" altLang="ko-KR" sz="1600" b="1" dirty="0">
                <a:latin typeface="Arial Narrow" panose="020B0606020202030204" pitchFamily="34" charset="0"/>
                <a:ea typeface="LG Smart_H Regular" pitchFamily="34" charset="-127"/>
              </a:rPr>
              <a:t>Future plan</a:t>
            </a:r>
            <a:endParaRPr lang="vi-VN" altLang="ko-KR" sz="1600" b="1" dirty="0">
              <a:ea typeface="LG Smart_H Regular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D63CB9-F03A-4B55-82AC-AAB2E2DAE0B5}"/>
              </a:ext>
            </a:extLst>
          </p:cNvPr>
          <p:cNvSpPr txBox="1"/>
          <p:nvPr/>
        </p:nvSpPr>
        <p:spPr>
          <a:xfrm>
            <a:off x="70509" y="651485"/>
            <a:ext cx="5034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Management plan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3F5A17-8E19-4E92-AFD5-3A6969AF5F7F}"/>
              </a:ext>
            </a:extLst>
          </p:cNvPr>
          <p:cNvSpPr txBox="1"/>
          <p:nvPr/>
        </p:nvSpPr>
        <p:spPr>
          <a:xfrm>
            <a:off x="123613" y="982704"/>
            <a:ext cx="60485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Supplier add height dimension to control after completed painting process(update on PPAP document)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A4888C-6DB2-42CD-9134-F604E4FB8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3583"/>
            <a:ext cx="9906000" cy="381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931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제목 1"/>
          <p:cNvSpPr txBox="1">
            <a:spLocks/>
          </p:cNvSpPr>
          <p:nvPr/>
        </p:nvSpPr>
        <p:spPr bwMode="auto">
          <a:xfrm>
            <a:off x="1609" y="100364"/>
            <a:ext cx="749617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en-US" altLang="ko-KR" sz="16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1.Result of project</a:t>
            </a:r>
            <a:endParaRPr lang="ko-KR" altLang="en-US" sz="18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" name="TextBox 33"/>
          <p:cNvSpPr txBox="1">
            <a:spLocks noChangeArrowheads="1"/>
          </p:cNvSpPr>
          <p:nvPr/>
        </p:nvSpPr>
        <p:spPr bwMode="auto">
          <a:xfrm>
            <a:off x="291507" y="1259471"/>
            <a:ext cx="41856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2563" indent="-182563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Quantitative Performance (Compare with target)</a:t>
            </a:r>
          </a:p>
        </p:txBody>
      </p:sp>
      <p:sp>
        <p:nvSpPr>
          <p:cNvPr id="23" name="TextBox 33"/>
          <p:cNvSpPr txBox="1">
            <a:spLocks noChangeArrowheads="1"/>
          </p:cNvSpPr>
          <p:nvPr/>
        </p:nvSpPr>
        <p:spPr bwMode="auto">
          <a:xfrm>
            <a:off x="5705725" y="1266105"/>
            <a:ext cx="37244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2563" indent="-182563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Qualitative Performance(Compare with target)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1" name="AutoShape 57"/>
          <p:cNvSpPr>
            <a:spLocks noChangeArrowheads="1"/>
          </p:cNvSpPr>
          <p:nvPr/>
        </p:nvSpPr>
        <p:spPr bwMode="auto">
          <a:xfrm>
            <a:off x="7756525" y="225425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Analyze</a:t>
            </a:r>
          </a:p>
        </p:txBody>
      </p:sp>
      <p:sp>
        <p:nvSpPr>
          <p:cNvPr id="12" name="AutoShape 58"/>
          <p:cNvSpPr>
            <a:spLocks noChangeArrowheads="1"/>
          </p:cNvSpPr>
          <p:nvPr/>
        </p:nvSpPr>
        <p:spPr bwMode="auto">
          <a:xfrm>
            <a:off x="7085013" y="22542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Measure </a:t>
            </a:r>
          </a:p>
        </p:txBody>
      </p:sp>
      <p:sp>
        <p:nvSpPr>
          <p:cNvPr id="13" name="AutoShape 59"/>
          <p:cNvSpPr>
            <a:spLocks noChangeArrowheads="1"/>
          </p:cNvSpPr>
          <p:nvPr/>
        </p:nvSpPr>
        <p:spPr bwMode="auto">
          <a:xfrm>
            <a:off x="6388100" y="225425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Define</a:t>
            </a:r>
          </a:p>
        </p:txBody>
      </p:sp>
      <p:sp>
        <p:nvSpPr>
          <p:cNvPr id="14" name="AutoShape 56"/>
          <p:cNvSpPr>
            <a:spLocks noChangeArrowheads="1"/>
          </p:cNvSpPr>
          <p:nvPr/>
        </p:nvSpPr>
        <p:spPr bwMode="auto">
          <a:xfrm>
            <a:off x="8448675" y="22542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Improve</a:t>
            </a:r>
          </a:p>
        </p:txBody>
      </p:sp>
      <p:sp>
        <p:nvSpPr>
          <p:cNvPr id="15" name="AutoShape 55"/>
          <p:cNvSpPr>
            <a:spLocks noChangeArrowheads="1"/>
          </p:cNvSpPr>
          <p:nvPr/>
        </p:nvSpPr>
        <p:spPr bwMode="auto">
          <a:xfrm>
            <a:off x="9137650" y="109538"/>
            <a:ext cx="747713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Control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BD36FC-CE56-47F1-919C-2E00EA17666E}"/>
              </a:ext>
            </a:extLst>
          </p:cNvPr>
          <p:cNvSpPr/>
          <p:nvPr/>
        </p:nvSpPr>
        <p:spPr>
          <a:xfrm>
            <a:off x="356192" y="1473854"/>
            <a:ext cx="4612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2813">
              <a:defRPr/>
            </a:pPr>
            <a:r>
              <a:rPr kumimoji="0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1. Improve issue completely, no more same defect happens</a:t>
            </a:r>
          </a:p>
          <a:p>
            <a:pPr lvl="0" defTabSz="912813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2. Lesson learn, update in issue list, review when new similar project in development to prevent similar defect of other models in advance </a:t>
            </a:r>
          </a:p>
        </p:txBody>
      </p:sp>
      <p:sp>
        <p:nvSpPr>
          <p:cNvPr id="20" name="Text Box 2">
            <a:extLst>
              <a:ext uri="{FF2B5EF4-FFF2-40B4-BE49-F238E27FC236}">
                <a16:creationId xmlns:a16="http://schemas.microsoft.com/office/drawing/2014/main" id="{5FDE5D52-7428-4C59-8986-F2E9D31D6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7907" y="2215717"/>
            <a:ext cx="1970569" cy="286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4374" tIns="42187" rIns="84374" bIns="42187">
            <a:spAutoFit/>
          </a:bodyPr>
          <a:lstStyle>
            <a:lvl1pPr defTabSz="912813">
              <a:defRPr sz="1600">
                <a:solidFill>
                  <a:schemeClr val="bg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defTabSz="912813">
              <a:defRPr sz="1600">
                <a:solidFill>
                  <a:schemeClr val="bg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defTabSz="912813">
              <a:defRPr sz="1600">
                <a:solidFill>
                  <a:schemeClr val="bg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defTabSz="912813">
              <a:defRPr sz="1600">
                <a:solidFill>
                  <a:schemeClr val="bg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defTabSz="912813">
              <a:defRPr sz="1600">
                <a:solidFill>
                  <a:schemeClr val="bg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 Height/Flush Defect </a:t>
            </a:r>
            <a:r>
              <a:rPr kumimoji="1"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Rate (</a:t>
            </a:r>
            <a:r>
              <a:rPr kumimoji="1" lang="en-US" altLang="ko-KR" sz="1200" b="1" dirty="0" err="1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ea</a:t>
            </a:r>
            <a:r>
              <a:rPr kumimoji="1"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)</a:t>
            </a:r>
            <a:endParaRPr kumimoji="1" lang="ko-KR" altLang="en-US" sz="1200" dirty="0">
              <a:solidFill>
                <a:srgbClr val="000000"/>
              </a:solidFill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698A72E-BCD5-42DF-9AAC-962B940E0CE1}"/>
              </a:ext>
            </a:extLst>
          </p:cNvPr>
          <p:cNvGrpSpPr/>
          <p:nvPr/>
        </p:nvGrpSpPr>
        <p:grpSpPr>
          <a:xfrm>
            <a:off x="1468132" y="2509671"/>
            <a:ext cx="1323223" cy="1345170"/>
            <a:chOff x="3168455" y="4576306"/>
            <a:chExt cx="1727630" cy="2355114"/>
          </a:xfrm>
        </p:grpSpPr>
        <p:sp>
          <p:nvSpPr>
            <p:cNvPr id="24" name="TextBox 8">
              <a:extLst>
                <a:ext uri="{FF2B5EF4-FFF2-40B4-BE49-F238E27FC236}">
                  <a16:creationId xmlns:a16="http://schemas.microsoft.com/office/drawing/2014/main" id="{F3FA3B98-2351-4883-9380-1F5862BCEC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6194" y="6141837"/>
              <a:ext cx="728754" cy="484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1pPr>
              <a:lvl2pPr marL="742950" indent="-285750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2pPr>
              <a:lvl3pPr marL="1143000" indent="-228600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3pPr>
              <a:lvl4pPr marL="1600200" indent="-228600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4pPr>
              <a:lvl5pPr marL="2057400" indent="-228600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9pPr>
            </a:lstStyle>
            <a:p>
              <a:pPr latinLnBrk="1"/>
              <a:r>
                <a:rPr lang="en-US" altLang="zh-CN" sz="1200" dirty="0">
                  <a:solidFill>
                    <a:srgbClr val="000000"/>
                  </a:solidFill>
                  <a:latin typeface="Arial Narrow" panose="020B0606020202030204" pitchFamily="34" charset="0"/>
                  <a:ea typeface="LG Smart_H Regular" panose="020B0600000101010101" pitchFamily="34" charset="-127"/>
                  <a:cs typeface="Arial" panose="020B0604020202020204" pitchFamily="34" charset="0"/>
                </a:rPr>
                <a:t>Before</a:t>
              </a:r>
              <a:endParaRPr lang="zh-CN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898CCD8D-25ED-400B-BB7D-65BC2E2E5E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914" y="6128661"/>
              <a:ext cx="590622" cy="484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1pPr>
              <a:lvl2pPr marL="742950" indent="-285750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2pPr>
              <a:lvl3pPr marL="1143000" indent="-228600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3pPr>
              <a:lvl4pPr marL="1600200" indent="-228600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4pPr>
              <a:lvl5pPr marL="2057400" indent="-228600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9pPr>
            </a:lstStyle>
            <a:p>
              <a:pPr latinLnBrk="1"/>
              <a:r>
                <a:rPr lang="en-US" altLang="zh-CN" sz="1200" dirty="0">
                  <a:solidFill>
                    <a:srgbClr val="000000"/>
                  </a:solidFill>
                  <a:latin typeface="Arial Narrow" panose="020B0606020202030204" pitchFamily="34" charset="0"/>
                  <a:ea typeface="LG Smart_H Regular" panose="020B0600000101010101" pitchFamily="34" charset="-127"/>
                  <a:cs typeface="Arial" panose="020B0604020202020204" pitchFamily="34" charset="0"/>
                </a:rPr>
                <a:t>After</a:t>
              </a:r>
              <a:endParaRPr lang="zh-CN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26" name="矩形 437">
              <a:extLst>
                <a:ext uri="{FF2B5EF4-FFF2-40B4-BE49-F238E27FC236}">
                  <a16:creationId xmlns:a16="http://schemas.microsoft.com/office/drawing/2014/main" id="{8DB80806-069B-4B3E-B5E6-25654976CCAB}"/>
                </a:ext>
              </a:extLst>
            </p:cNvPr>
            <p:cNvSpPr/>
            <p:nvPr/>
          </p:nvSpPr>
          <p:spPr bwMode="auto">
            <a:xfrm>
              <a:off x="3315278" y="4588693"/>
              <a:ext cx="494233" cy="1389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1pPr>
              <a:lvl2pPr marL="742950" indent="-285750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2pPr>
              <a:lvl3pPr marL="1143000" indent="-228600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3pPr>
              <a:lvl4pPr marL="1600200" indent="-228600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4pPr>
              <a:lvl5pPr marL="2057400" indent="-228600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9pPr>
            </a:lstStyle>
            <a:p>
              <a:pPr latinLnBrk="1">
                <a:defRPr/>
              </a:pPr>
              <a:endParaRPr lang="zh-CN" altLang="en-US" sz="120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27" name="Text Box 41">
              <a:extLst>
                <a:ext uri="{FF2B5EF4-FFF2-40B4-BE49-F238E27FC236}">
                  <a16:creationId xmlns:a16="http://schemas.microsoft.com/office/drawing/2014/main" id="{6CF2CB3E-4345-4123-988C-45FD6DE8F7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1751" y="5170917"/>
              <a:ext cx="764334" cy="484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1pPr>
              <a:lvl2pPr marL="742950" indent="-285750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2pPr>
              <a:lvl3pPr marL="1143000" indent="-228600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3pPr>
              <a:lvl4pPr marL="1600200" indent="-228600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4pPr>
              <a:lvl5pPr marL="2057400" indent="-228600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9pPr>
            </a:lstStyle>
            <a:p>
              <a:pPr algn="ctr" latinLnBrk="1"/>
              <a:r>
                <a:rPr lang="en-GB" altLang="ko-KR" sz="1200" dirty="0">
                  <a:solidFill>
                    <a:srgbClr val="008000"/>
                  </a:solidFill>
                  <a:latin typeface="Arial Narrow" panose="020B0606020202030204" pitchFamily="34" charset="0"/>
                  <a:ea typeface="LG Smart_H Regular" panose="020B0600000101010101" pitchFamily="34" charset="-127"/>
                  <a:cs typeface="Arial" panose="020B0604020202020204" pitchFamily="34" charset="0"/>
                </a:rPr>
                <a:t>↓</a:t>
              </a:r>
              <a:r>
                <a:rPr lang="en-US" altLang="ko-KR" sz="1200" dirty="0">
                  <a:solidFill>
                    <a:srgbClr val="008000"/>
                  </a:solidFill>
                  <a:latin typeface="Arial Narrow" panose="020B0606020202030204" pitchFamily="34" charset="0"/>
                  <a:ea typeface="LG Smart_H Regular" panose="020B0600000101010101" pitchFamily="34" charset="-127"/>
                  <a:cs typeface="Arial" panose="020B0604020202020204" pitchFamily="34" charset="0"/>
                </a:rPr>
                <a:t>100</a:t>
              </a:r>
              <a:r>
                <a:rPr lang="en-US" altLang="zh-CN" sz="1200" dirty="0">
                  <a:solidFill>
                    <a:srgbClr val="008000"/>
                  </a:solidFill>
                  <a:latin typeface="Arial Narrow" panose="020B0606020202030204" pitchFamily="34" charset="0"/>
                  <a:ea typeface="LG Smart_H Regular" panose="020B0600000101010101" pitchFamily="34" charset="-127"/>
                  <a:cs typeface="Arial" panose="020B0604020202020204" pitchFamily="34" charset="0"/>
                </a:rPr>
                <a:t>%</a:t>
              </a:r>
              <a:endParaRPr lang="zh-CN" altLang="en-US" sz="1200" dirty="0">
                <a:solidFill>
                  <a:srgbClr val="008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28" name="직선 화살표 연결선 233">
              <a:extLst>
                <a:ext uri="{FF2B5EF4-FFF2-40B4-BE49-F238E27FC236}">
                  <a16:creationId xmlns:a16="http://schemas.microsoft.com/office/drawing/2014/main" id="{30C5D735-7382-44A7-A2F1-57E86B4680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70809" y="4576306"/>
              <a:ext cx="0" cy="1395638"/>
            </a:xfrm>
            <a:prstGeom prst="straightConnector1">
              <a:avLst/>
            </a:prstGeom>
            <a:noFill/>
            <a:ln w="9525" algn="ctr">
              <a:solidFill>
                <a:srgbClr val="7F7F7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直接连接符 439">
              <a:extLst>
                <a:ext uri="{FF2B5EF4-FFF2-40B4-BE49-F238E27FC236}">
                  <a16:creationId xmlns:a16="http://schemas.microsoft.com/office/drawing/2014/main" id="{329BFE1E-5DB2-4FEC-96B2-23E9B6BBAE34}"/>
                </a:ext>
              </a:extLst>
            </p:cNvPr>
            <p:cNvCxnSpPr/>
            <p:nvPr/>
          </p:nvCxnSpPr>
          <p:spPr bwMode="auto">
            <a:xfrm>
              <a:off x="3168455" y="5971944"/>
              <a:ext cx="16212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 Box 2">
              <a:extLst>
                <a:ext uri="{FF2B5EF4-FFF2-40B4-BE49-F238E27FC236}">
                  <a16:creationId xmlns:a16="http://schemas.microsoft.com/office/drawing/2014/main" id="{3D069488-7060-4644-AD17-19866FA11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4324" y="6431329"/>
              <a:ext cx="716403" cy="500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4374" tIns="42187" rIns="84374" bIns="42187">
              <a:spAutoFit/>
            </a:bodyPr>
            <a:lstStyle>
              <a:lvl1pPr defTabSz="912813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1pPr>
              <a:lvl2pPr marL="742950" indent="-285750" defTabSz="912813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2pPr>
              <a:lvl3pPr marL="1143000" indent="-228600" defTabSz="912813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3pPr>
              <a:lvl4pPr marL="1600200" indent="-228600" defTabSz="912813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4pPr>
              <a:lvl5pPr marL="2057400" indent="-228600" defTabSz="912813"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bg1"/>
                  </a:solidFill>
                  <a:latin typeface="바탕" pitchFamily="18" charset="-127"/>
                  <a:ea typeface="바탕" pitchFamily="18" charset="-127"/>
                </a:defRPr>
              </a:lvl9pPr>
            </a:lstStyle>
            <a:p>
              <a:pPr algn="ctr" eaLnBrk="1" latinLnBrk="1" hangingPunct="1">
                <a:lnSpc>
                  <a:spcPct val="12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 Narrow" panose="020B0606020202030204" pitchFamily="34" charset="0"/>
                  <a:ea typeface="LG Smart_H Regular" panose="020B0600000101010101" pitchFamily="34" charset="-127"/>
                  <a:cs typeface="Arial" panose="020B0604020202020204" pitchFamily="34" charset="0"/>
                </a:rPr>
                <a:t>(June)</a:t>
              </a:r>
              <a:endPara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34" name="Text Box 14">
            <a:extLst>
              <a:ext uri="{FF2B5EF4-FFF2-40B4-BE49-F238E27FC236}">
                <a16:creationId xmlns:a16="http://schemas.microsoft.com/office/drawing/2014/main" id="{CCA8310F-63DC-4C04-91E9-BF096A540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2" y="624085"/>
            <a:ext cx="8304213" cy="5856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281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Model</a:t>
            </a:r>
            <a:r>
              <a:rPr lang="en-US" altLang="ko-KR" sz="14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JLR EMA FCD</a:t>
            </a:r>
            <a:endParaRPr lang="en-US" altLang="ko-KR" sz="14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defTabSz="91281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Part name</a:t>
            </a:r>
            <a:r>
              <a:rPr lang="en-US" altLang="ko-KR" sz="14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Control height of panel main</a:t>
            </a:r>
            <a:endParaRPr lang="ko-KR" altLang="en-US" sz="14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96B489-1058-4345-8E79-F232B3747DAE}"/>
              </a:ext>
            </a:extLst>
          </p:cNvPr>
          <p:cNvSpPr/>
          <p:nvPr/>
        </p:nvSpPr>
        <p:spPr>
          <a:xfrm>
            <a:off x="5654675" y="1512326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28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Before</a:t>
            </a:r>
            <a:r>
              <a:rPr lang="en-US" altLang="ko-KR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defect rate: 500,529 ppm </a:t>
            </a:r>
          </a:p>
          <a:p>
            <a:pPr lvl="0" defTabSz="9128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EST: Change new ATO and panel main ( 70$)</a:t>
            </a:r>
            <a:endParaRPr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lvl="0" defTabSz="9128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After defect rate: 0 ppm 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Improve issue </a:t>
            </a:r>
            <a:endParaRPr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lvl="0" defTabSz="9128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Total save cost= 70$ * 500 EA= 35000 $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7EE7B3E-02DD-48D1-B3C4-959A3130D138}"/>
              </a:ext>
            </a:extLst>
          </p:cNvPr>
          <p:cNvCxnSpPr/>
          <p:nvPr/>
        </p:nvCxnSpPr>
        <p:spPr>
          <a:xfrm>
            <a:off x="-12488" y="561513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46D83AD-CA28-4308-844F-930F4FC6BE58}"/>
              </a:ext>
            </a:extLst>
          </p:cNvPr>
          <p:cNvSpPr txBox="1"/>
          <p:nvPr/>
        </p:nvSpPr>
        <p:spPr>
          <a:xfrm>
            <a:off x="6447931" y="2507865"/>
            <a:ext cx="378379" cy="21544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NG</a:t>
            </a:r>
            <a:endParaRPr kumimoji="1" lang="ja-JP" altLang="en-US" sz="8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72BD4F-EC71-4874-A2C5-E53CFDA60192}"/>
              </a:ext>
            </a:extLst>
          </p:cNvPr>
          <p:cNvSpPr txBox="1"/>
          <p:nvPr/>
        </p:nvSpPr>
        <p:spPr>
          <a:xfrm>
            <a:off x="8671857" y="2500117"/>
            <a:ext cx="399715" cy="21544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800" dirty="0">
                <a:latin typeface="Arial Narrow" panose="020B060602020203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OK</a:t>
            </a:r>
            <a:endParaRPr kumimoji="1" lang="ja-JP" altLang="en-US" sz="8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992C80A-E09F-47CB-B8F1-FDF8B1300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649" y="2771982"/>
            <a:ext cx="1277815" cy="102042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A917802-0B00-441A-A845-466F18787861}"/>
              </a:ext>
            </a:extLst>
          </p:cNvPr>
          <p:cNvGrpSpPr/>
          <p:nvPr/>
        </p:nvGrpSpPr>
        <p:grpSpPr>
          <a:xfrm>
            <a:off x="6115009" y="2723460"/>
            <a:ext cx="1343860" cy="1068946"/>
            <a:chOff x="6047898" y="2713677"/>
            <a:chExt cx="1410971" cy="1122328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B3793AE0-60E6-4857-9ADA-670146CD4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53446" y="2713677"/>
              <a:ext cx="1405423" cy="1122328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526DD71-3DB9-43E1-B573-00DCAEE70603}"/>
                </a:ext>
              </a:extLst>
            </p:cNvPr>
            <p:cNvSpPr/>
            <p:nvPr/>
          </p:nvSpPr>
          <p:spPr bwMode="auto">
            <a:xfrm>
              <a:off x="6047898" y="2775464"/>
              <a:ext cx="652744" cy="22934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돋움" pitchFamily="50" charset="-127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EFF98098-9442-48DB-A9F1-F74644935C92}"/>
              </a:ext>
            </a:extLst>
          </p:cNvPr>
          <p:cNvSpPr txBox="1"/>
          <p:nvPr/>
        </p:nvSpPr>
        <p:spPr>
          <a:xfrm>
            <a:off x="144462" y="3897243"/>
            <a:ext cx="5838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Summary Defect rate </a:t>
            </a:r>
            <a:r>
              <a:rPr lang="en-US" sz="1200" b="1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of EMA FCD after improvement</a:t>
            </a:r>
            <a:endParaRPr lang="en-US" sz="1200" b="1" dirty="0"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52" name="Chart 51">
            <a:extLst>
              <a:ext uri="{FF2B5EF4-FFF2-40B4-BE49-F238E27FC236}">
                <a16:creationId xmlns:a16="http://schemas.microsoft.com/office/drawing/2014/main" id="{A02A5868-28EA-440C-8072-BB49D67689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209401"/>
              </p:ext>
            </p:extLst>
          </p:nvPr>
        </p:nvGraphicFramePr>
        <p:xfrm>
          <a:off x="5460750" y="4293320"/>
          <a:ext cx="4009591" cy="2382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CD5D491-F313-4942-A8F5-B9EF25833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539315"/>
              </p:ext>
            </p:extLst>
          </p:nvPr>
        </p:nvGraphicFramePr>
        <p:xfrm>
          <a:off x="308540" y="4809847"/>
          <a:ext cx="4389992" cy="1438275"/>
        </p:xfrm>
        <a:graphic>
          <a:graphicData uri="http://schemas.openxmlformats.org/drawingml/2006/table">
            <a:tbl>
              <a:tblPr/>
              <a:tblGrid>
                <a:gridCol w="732392">
                  <a:extLst>
                    <a:ext uri="{9D8B030D-6E8A-4147-A177-3AD203B41FA5}">
                      <a16:colId xmlns:a16="http://schemas.microsoft.com/office/drawing/2014/main" val="36623171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006965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637495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566299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5175889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724686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81081001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Before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After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7121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15.May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18.May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22.May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12.June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16.June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18.June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1016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32019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 Q'ty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204846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Defect rate </a:t>
                      </a:r>
                    </a:p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(ppm)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362,319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425,532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200,000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121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8903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2DBPMRbQEK4PwqppxHtX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Ne9y31qx0OExXY5K1tKhA"/>
</p:tagLst>
</file>

<file path=ppt/theme/theme1.xml><?xml version="1.0" encoding="utf-8"?>
<a:theme xmlns:a="http://schemas.openxmlformats.org/drawingml/2006/main" name="3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17487</TotalTime>
  <Words>4116</Words>
  <Application>Microsoft Office PowerPoint</Application>
  <PresentationFormat>A4 Paper (210x297 mm)</PresentationFormat>
  <Paragraphs>1060</Paragraphs>
  <Slides>26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굴림</vt:lpstr>
      <vt:lpstr>LG Smart_H Regular</vt:lpstr>
      <vt:lpstr>LG Smart_H Regular</vt:lpstr>
      <vt:lpstr>맑은 고딕</vt:lpstr>
      <vt:lpstr>Arial</vt:lpstr>
      <vt:lpstr>Arial Narrow</vt:lpstr>
      <vt:lpstr>Calibri</vt:lpstr>
      <vt:lpstr>Wingdings</vt:lpstr>
      <vt:lpstr>3_디자인 사용자 지정</vt:lpstr>
      <vt:lpstr>4_디자인 사용자 지정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 Preparation of Gage R&amp;R</vt:lpstr>
      <vt:lpstr>2 Result of Gage Study</vt:lpstr>
      <vt:lpstr>2 Result of Gage Study</vt:lpstr>
      <vt:lpstr>PowerPoint Presentation</vt:lpstr>
      <vt:lpstr>2 Result of Gage Study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TOAN VAN LE/LGEVH QE LD Part(toan.le@lge.com)</dc:creator>
  <cp:lastModifiedBy>HIEN KHANH BUI/Team Leader/LGEVH REF MD Team</cp:lastModifiedBy>
  <cp:revision>1271</cp:revision>
  <dcterms:created xsi:type="dcterms:W3CDTF">2021-08-30T07:32:56Z</dcterms:created>
  <dcterms:modified xsi:type="dcterms:W3CDTF">2026-09-23T04:07:53Z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2026-09-15T05:16:27Z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1084d0ab-1a45-4c43-8eae-4895c8028fef</vt:lpwstr>
  </property>
  <property fmtid="{D5CDD505-2E9C-101B-9397-08002B2CF9AE}" pid="8" name="MSIP_Label_cc6ed9fc-fefc-4a0c-a6d6-10cf236c0d4f_ContentBits">
    <vt:lpwstr>1</vt:lpwstr>
  </property>
  <property fmtid="{D5CDD505-2E9C-101B-9397-08002B2CF9AE}" pid="9" name="MSIP_Label_cc6ed9fc-fefc-4a0c-a6d6-10cf236c0d4f_Tag">
    <vt:lpwstr>10, 3, 0, 1</vt:lpwstr>
  </property>
  <property fmtid="{D5CDD505-2E9C-101B-9397-08002B2CF9AE}" pid="10" name="ClassificationContentMarkingHeaderLocations">
    <vt:lpwstr>3_디자인 사용자 지정:5\4_디자인 사용자 지정:6</vt:lpwstr>
  </property>
  <property fmtid="{D5CDD505-2E9C-101B-9397-08002B2CF9AE}" pid="11" name="ClassificationContentMarkingHeaderText">
    <vt:lpwstr>LGE Internal Use Only</vt:lpwstr>
  </property>
</Properties>
</file>