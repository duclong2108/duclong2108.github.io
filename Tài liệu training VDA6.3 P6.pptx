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 id="2147483695" r:id="rId3"/>
  </p:sldMasterIdLst>
  <p:notesMasterIdLst>
    <p:notesMasterId r:id="rId39"/>
  </p:notesMasterIdLst>
  <p:sldIdLst>
    <p:sldId id="359" r:id="rId4"/>
    <p:sldId id="360" r:id="rId5"/>
    <p:sldId id="361" r:id="rId6"/>
    <p:sldId id="362" r:id="rId7"/>
    <p:sldId id="401" r:id="rId8"/>
    <p:sldId id="404" r:id="rId9"/>
    <p:sldId id="403" r:id="rId10"/>
    <p:sldId id="405" r:id="rId11"/>
    <p:sldId id="406" r:id="rId12"/>
    <p:sldId id="363" r:id="rId13"/>
    <p:sldId id="407" r:id="rId14"/>
    <p:sldId id="412" r:id="rId15"/>
    <p:sldId id="408" r:id="rId16"/>
    <p:sldId id="409" r:id="rId17"/>
    <p:sldId id="410" r:id="rId18"/>
    <p:sldId id="364" r:id="rId19"/>
    <p:sldId id="413" r:id="rId20"/>
    <p:sldId id="414" r:id="rId21"/>
    <p:sldId id="415" r:id="rId22"/>
    <p:sldId id="365" r:id="rId23"/>
    <p:sldId id="416" r:id="rId24"/>
    <p:sldId id="417" r:id="rId25"/>
    <p:sldId id="418" r:id="rId26"/>
    <p:sldId id="419" r:id="rId27"/>
    <p:sldId id="420" r:id="rId28"/>
    <p:sldId id="366" r:id="rId29"/>
    <p:sldId id="421" r:id="rId30"/>
    <p:sldId id="422" r:id="rId31"/>
    <p:sldId id="423" r:id="rId32"/>
    <p:sldId id="424" r:id="rId33"/>
    <p:sldId id="367" r:id="rId34"/>
    <p:sldId id="425" r:id="rId35"/>
    <p:sldId id="426" r:id="rId36"/>
    <p:sldId id="427" r:id="rId37"/>
    <p:sldId id="428" r:id="rId38"/>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48" autoAdjust="0"/>
  </p:normalViewPr>
  <p:slideViewPr>
    <p:cSldViewPr>
      <p:cViewPr varScale="1">
        <p:scale>
          <a:sx n="167" d="100"/>
          <a:sy n="167" d="100"/>
        </p:scale>
        <p:origin x="1536" y="126"/>
      </p:cViewPr>
      <p:guideLst>
        <p:guide orient="horz" pos="2160"/>
        <p:guide pos="2880"/>
      </p:guideLst>
    </p:cSldViewPr>
  </p:slideViewPr>
  <p:notesTextViewPr>
    <p:cViewPr>
      <p:scale>
        <a:sx n="3" d="2"/>
        <a:sy n="3" d="2"/>
      </p:scale>
      <p:origin x="0" y="0"/>
    </p:cViewPr>
  </p:notesTextViewPr>
  <p:sorterViewPr>
    <p:cViewPr>
      <p:scale>
        <a:sx n="100" d="100"/>
        <a:sy n="100" d="100"/>
      </p:scale>
      <p:origin x="0" y="441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031FB6-DAAE-4FED-9D7E-2866100A0633}" type="datetimeFigureOut">
              <a:rPr lang="de-DE" smtClean="0"/>
              <a:t>08.06.2026</a:t>
            </a:fld>
            <a:endParaRPr lang="de-DE"/>
          </a:p>
        </p:txBody>
      </p:sp>
      <p:sp>
        <p:nvSpPr>
          <p:cNvPr id="4" name="Folienbildplatzhalt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36169B-DC1E-45F0-987D-348C7FC0BCA5}" type="slidenum">
              <a:rPr lang="de-DE" smtClean="0"/>
              <a:t>‹#›</a:t>
            </a:fld>
            <a:endParaRPr lang="de-DE"/>
          </a:p>
        </p:txBody>
      </p:sp>
    </p:spTree>
    <p:extLst>
      <p:ext uri="{BB962C8B-B14F-4D97-AF65-F5344CB8AC3E}">
        <p14:creationId xmlns:p14="http://schemas.microsoft.com/office/powerpoint/2010/main" val="1798612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folie">
    <p:spTree>
      <p:nvGrpSpPr>
        <p:cNvPr id="1" name=""/>
        <p:cNvGrpSpPr/>
        <p:nvPr/>
      </p:nvGrpSpPr>
      <p:grpSpPr>
        <a:xfrm>
          <a:off x="0" y="0"/>
          <a:ext cx="0" cy="0"/>
          <a:chOff x="0" y="0"/>
          <a:chExt cx="0" cy="0"/>
        </a:xfrm>
      </p:grpSpPr>
      <p:pic>
        <p:nvPicPr>
          <p:cNvPr id="3" name="Bild 5" descr="MarkgrafenpalaisMM1000.jpg"/>
          <p:cNvPicPr>
            <a:picLocks noChangeAspect="1"/>
          </p:cNvPicPr>
          <p:nvPr/>
        </p:nvPicPr>
        <p:blipFill>
          <a:blip r:embed="rId2" cstate="print"/>
          <a:srcRect t="5640" b="21536"/>
          <a:stretch>
            <a:fillRect/>
          </a:stretch>
        </p:blipFill>
        <p:spPr bwMode="auto">
          <a:xfrm>
            <a:off x="0" y="1125538"/>
            <a:ext cx="9144000" cy="5233987"/>
          </a:xfrm>
          <a:prstGeom prst="rect">
            <a:avLst/>
          </a:prstGeom>
          <a:noFill/>
          <a:ln w="9525">
            <a:noFill/>
            <a:miter lim="800000"/>
            <a:headEnd/>
            <a:tailEnd/>
          </a:ln>
        </p:spPr>
      </p:pic>
      <p:sp>
        <p:nvSpPr>
          <p:cNvPr id="12" name="Titel 1"/>
          <p:cNvSpPr>
            <a:spLocks noGrp="1"/>
          </p:cNvSpPr>
          <p:nvPr>
            <p:ph type="title"/>
          </p:nvPr>
        </p:nvSpPr>
        <p:spPr>
          <a:xfrm>
            <a:off x="0" y="5085184"/>
            <a:ext cx="9144000" cy="648000"/>
          </a:xfrm>
          <a:prstGeom prst="rect">
            <a:avLst/>
          </a:prstGeom>
          <a:solidFill>
            <a:srgbClr val="FFFFFF">
              <a:alpha val="74902"/>
            </a:srgbClr>
          </a:solidFill>
        </p:spPr>
        <p:txBody>
          <a:bodyPr lIns="0" tIns="0" rIns="0" bIns="0" anchor="ctr" anchorCtr="0"/>
          <a:lstStyle>
            <a:lvl1pPr marL="0" algn="ctr" defTabSz="914400" rtl="0" eaLnBrk="1" latinLnBrk="0" hangingPunct="1">
              <a:defRPr lang="de-DE" sz="1800" b="1" kern="0" dirty="0">
                <a:solidFill>
                  <a:srgbClr val="004688"/>
                </a:solidFill>
                <a:latin typeface="Verdana" pitchFamily="34" charset="0"/>
                <a:ea typeface="+mj-ea"/>
                <a:cs typeface="+mj-cs"/>
              </a:defRPr>
            </a:lvl1pPr>
          </a:lstStyle>
          <a:p>
            <a:r>
              <a:rPr lang="de-DE"/>
              <a:t>Titelmasterformat durch Klicken bearbeiten</a:t>
            </a:r>
            <a:endParaRPr lang="de-DE" dirty="0"/>
          </a:p>
        </p:txBody>
      </p:sp>
    </p:spTree>
    <p:extLst>
      <p:ext uri="{BB962C8B-B14F-4D97-AF65-F5344CB8AC3E}">
        <p14:creationId xmlns:p14="http://schemas.microsoft.com/office/powerpoint/2010/main" val="2393318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o">
    <p:spTree>
      <p:nvGrpSpPr>
        <p:cNvPr id="1" name=""/>
        <p:cNvGrpSpPr/>
        <p:nvPr/>
      </p:nvGrpSpPr>
      <p:grpSpPr>
        <a:xfrm>
          <a:off x="0" y="0"/>
          <a:ext cx="0" cy="0"/>
          <a:chOff x="0" y="0"/>
          <a:chExt cx="0" cy="0"/>
        </a:xfrm>
      </p:grpSpPr>
      <p:pic>
        <p:nvPicPr>
          <p:cNvPr id="3" name="Picture 2" descr="NEU_Folienmaster_VDA-QMC_15062007"/>
          <p:cNvPicPr>
            <a:picLocks noChangeAspect="1" noChangeArrowheads="1"/>
          </p:cNvPicPr>
          <p:nvPr/>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4" name="Rectangle 6"/>
          <p:cNvSpPr txBox="1">
            <a:spLocks noChangeArrowheads="1"/>
          </p:cNvSpPr>
          <p:nvPr/>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endParaRPr lang="de-DE" sz="1000" dirty="0">
              <a:solidFill>
                <a:srgbClr val="FFFFFF"/>
              </a:solidFill>
            </a:endParaRPr>
          </a:p>
        </p:txBody>
      </p:sp>
      <p:sp>
        <p:nvSpPr>
          <p:cNvPr id="5" name="Inhaltsplatzhalter 2"/>
          <p:cNvSpPr>
            <a:spLocks noGrp="1"/>
          </p:cNvSpPr>
          <p:nvPr>
            <p:ph idx="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Tree>
    <p:extLst>
      <p:ext uri="{BB962C8B-B14F-4D97-AF65-F5344CB8AC3E}">
        <p14:creationId xmlns:p14="http://schemas.microsoft.com/office/powerpoint/2010/main" val="4005400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ufzählungspunkte">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Inhaltsplatzhalter 2"/>
          <p:cNvSpPr>
            <a:spLocks noGrp="1"/>
          </p:cNvSpPr>
          <p:nvPr>
            <p:ph idx="1"/>
          </p:nvPr>
        </p:nvSpPr>
        <p:spPr>
          <a:xfrm>
            <a:off x="179512" y="1628800"/>
            <a:ext cx="8785100" cy="4895825"/>
          </a:xfrm>
          <a:prstGeom prst="rect">
            <a:avLst/>
          </a:prstGeom>
        </p:spPr>
        <p:txBody>
          <a:bodyPr lIns="0" tIns="0" rIns="0" bIns="0"/>
          <a:lstStyle>
            <a:lvl1pPr>
              <a:spcBef>
                <a:spcPts val="0"/>
              </a:spcBef>
              <a:spcAft>
                <a:spcPts val="600"/>
              </a:spcAft>
              <a:buNone/>
              <a:defRPr sz="1600" b="0">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Char char="-"/>
              <a:defRPr sz="1600" b="0">
                <a:latin typeface="Verdana" pitchFamily="34" charset="0"/>
              </a:defRPr>
            </a:lvl3pPr>
            <a:lvl4pPr marL="896938" indent="-361950">
              <a:spcBef>
                <a:spcPts val="0"/>
              </a:spcBef>
              <a:spcAft>
                <a:spcPts val="600"/>
              </a:spcAft>
              <a:buFont typeface="Symbol" pitchFamily="18" charset="2"/>
              <a:buChar char="-"/>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a:p>
            <a:pPr lvl="1"/>
            <a:r>
              <a:rPr lang="de-DE"/>
              <a:t>Zweite Ebene</a:t>
            </a:r>
          </a:p>
          <a:p>
            <a:pPr lvl="2"/>
            <a:r>
              <a:rPr lang="de-DE"/>
              <a:t>Dritte Ebene</a:t>
            </a:r>
          </a:p>
        </p:txBody>
      </p:sp>
      <p:sp>
        <p:nvSpPr>
          <p:cNvPr id="7" name="Inhaltsplatzhalter 2"/>
          <p:cNvSpPr>
            <a:spLocks noGrp="1"/>
          </p:cNvSpPr>
          <p:nvPr>
            <p:ph idx="1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Tree>
    <p:extLst>
      <p:ext uri="{BB962C8B-B14F-4D97-AF65-F5344CB8AC3E}">
        <p14:creationId xmlns:p14="http://schemas.microsoft.com/office/powerpoint/2010/main" val="32251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abelle">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Inhaltsplatzhalter 2"/>
          <p:cNvSpPr>
            <a:spLocks noGrp="1"/>
          </p:cNvSpPr>
          <p:nvPr>
            <p:ph idx="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
        <p:nvSpPr>
          <p:cNvPr id="5" name="Tabellenplatzhalter 4"/>
          <p:cNvSpPr>
            <a:spLocks noGrp="1"/>
          </p:cNvSpPr>
          <p:nvPr>
            <p:ph type="tbl" sz="quarter" idx="14"/>
          </p:nvPr>
        </p:nvSpPr>
        <p:spPr>
          <a:xfrm>
            <a:off x="179388" y="1628800"/>
            <a:ext cx="8713092" cy="4895825"/>
          </a:xfrm>
          <a:prstGeom prst="rect">
            <a:avLst/>
          </a:prstGeom>
          <a:noFill/>
          <a:ln w="6350">
            <a:solidFill>
              <a:schemeClr val="bg1">
                <a:lumMod val="50000"/>
              </a:schemeClr>
            </a:solidFill>
          </a:ln>
          <a:effectLst/>
        </p:spPr>
        <p:txBody>
          <a:bodyPr lIns="36000" tIns="36000" rIns="36000" bIns="36000"/>
          <a:lstStyle>
            <a:lvl1pPr>
              <a:buNone/>
              <a:defRPr sz="1600">
                <a:ln w="0">
                  <a:solidFill>
                    <a:schemeClr val="tx1"/>
                  </a:solidFill>
                </a:ln>
                <a:effectLst/>
                <a:latin typeface="Verdana" pitchFamily="34" charset="0"/>
              </a:defRPr>
            </a:lvl1pPr>
          </a:lstStyle>
          <a:p>
            <a:pPr lvl="0"/>
            <a:r>
              <a:rPr lang="de-DE" noProof="0"/>
              <a:t>Tabelle durch Klicken auf Symbol hinzufügen</a:t>
            </a:r>
            <a:endParaRPr lang="de-DE" noProof="0" dirty="0"/>
          </a:p>
        </p:txBody>
      </p:sp>
    </p:spTree>
    <p:extLst>
      <p:ext uri="{BB962C8B-B14F-4D97-AF65-F5344CB8AC3E}">
        <p14:creationId xmlns:p14="http://schemas.microsoft.com/office/powerpoint/2010/main" val="131550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agramm">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Inhaltsplatzhalter 2"/>
          <p:cNvSpPr>
            <a:spLocks noGrp="1"/>
          </p:cNvSpPr>
          <p:nvPr>
            <p:ph idx="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
        <p:nvSpPr>
          <p:cNvPr id="8" name="Diagrammplatzhalter 7"/>
          <p:cNvSpPr>
            <a:spLocks noGrp="1"/>
          </p:cNvSpPr>
          <p:nvPr>
            <p:ph type="chart" sz="quarter" idx="10"/>
          </p:nvPr>
        </p:nvSpPr>
        <p:spPr>
          <a:xfrm>
            <a:off x="179388" y="1628775"/>
            <a:ext cx="8785225" cy="4824413"/>
          </a:xfrm>
          <a:prstGeom prst="rect">
            <a:avLst/>
          </a:prstGeom>
        </p:spPr>
        <p:txBody>
          <a:bodyPr/>
          <a:lstStyle/>
          <a:p>
            <a:pPr lvl="0"/>
            <a:r>
              <a:rPr lang="de-DE" noProof="0"/>
              <a:t>Diagramm durch Klicken auf Symbol hinzufügen</a:t>
            </a:r>
            <a:endParaRPr lang="de-DE" noProof="0" dirty="0"/>
          </a:p>
        </p:txBody>
      </p:sp>
    </p:spTree>
    <p:extLst>
      <p:ext uri="{BB962C8B-B14F-4D97-AF65-F5344CB8AC3E}">
        <p14:creationId xmlns:p14="http://schemas.microsoft.com/office/powerpoint/2010/main" val="527543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nhalt o +Text u">
    <p:spTree>
      <p:nvGrpSpPr>
        <p:cNvPr id="1" name=""/>
        <p:cNvGrpSpPr/>
        <p:nvPr/>
      </p:nvGrpSpPr>
      <p:grpSpPr>
        <a:xfrm>
          <a:off x="0" y="0"/>
          <a:ext cx="0" cy="0"/>
          <a:chOff x="0" y="0"/>
          <a:chExt cx="0" cy="0"/>
        </a:xfrm>
      </p:grpSpPr>
      <p:pic>
        <p:nvPicPr>
          <p:cNvPr id="7" name="Picture 2" descr="NEU_Folienmaster_VDA-QMC_15062007"/>
          <p:cNvPicPr>
            <a:picLocks noChangeAspect="1" noChangeArrowheads="1"/>
          </p:cNvPicPr>
          <p:nvPr/>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6" name="Textplatzhalter 5"/>
          <p:cNvSpPr>
            <a:spLocks noGrp="1"/>
          </p:cNvSpPr>
          <p:nvPr>
            <p:ph type="body" sz="quarter" idx="11"/>
          </p:nvPr>
        </p:nvSpPr>
        <p:spPr>
          <a:xfrm>
            <a:off x="187325" y="4149726"/>
            <a:ext cx="8777288" cy="2374900"/>
          </a:xfrm>
          <a:prstGeom prst="rect">
            <a:avLst/>
          </a:prstGeom>
        </p:spPr>
        <p:txBody>
          <a:bodyPr lIns="0" tIns="0" rIns="0" bIns="0"/>
          <a:lstStyle>
            <a:lvl1pPr marL="0" indent="0">
              <a:buNone/>
              <a:defRPr sz="1600" baseline="0"/>
            </a:lvl1pPr>
          </a:lstStyle>
          <a:p>
            <a:pPr lvl="0"/>
            <a:r>
              <a:rPr lang="de-DE"/>
              <a:t>Textmasterformat bearbeiten</a:t>
            </a:r>
          </a:p>
        </p:txBody>
      </p:sp>
      <p:sp>
        <p:nvSpPr>
          <p:cNvPr id="5" name="Inhaltsplatzhalter 4"/>
          <p:cNvSpPr>
            <a:spLocks noGrp="1"/>
          </p:cNvSpPr>
          <p:nvPr>
            <p:ph sz="quarter" idx="12"/>
          </p:nvPr>
        </p:nvSpPr>
        <p:spPr>
          <a:xfrm>
            <a:off x="179388" y="1628775"/>
            <a:ext cx="8785225" cy="2376488"/>
          </a:xfrm>
          <a:prstGeom prst="rect">
            <a:avLst/>
          </a:prstGeom>
        </p:spPr>
        <p:txBody>
          <a:bodyPr lIns="0" tIns="0" rIns="0" bIns="0"/>
          <a:lstStyle>
            <a:lvl1pPr marL="0" indent="0">
              <a:buNone/>
              <a:defRPr sz="1600"/>
            </a:lvl1pPr>
          </a:lstStyle>
          <a:p>
            <a:pPr lvl="0"/>
            <a:r>
              <a:rPr lang="de-DE"/>
              <a:t>Textmasterformat bearbeiten</a:t>
            </a:r>
          </a:p>
        </p:txBody>
      </p:sp>
    </p:spTree>
    <p:extLst>
      <p:ext uri="{BB962C8B-B14F-4D97-AF65-F5344CB8AC3E}">
        <p14:creationId xmlns:p14="http://schemas.microsoft.com/office/powerpoint/2010/main" val="3605991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ext o + Inhalt u">
    <p:spTree>
      <p:nvGrpSpPr>
        <p:cNvPr id="1" name=""/>
        <p:cNvGrpSpPr/>
        <p:nvPr/>
      </p:nvGrpSpPr>
      <p:grpSpPr>
        <a:xfrm>
          <a:off x="0" y="0"/>
          <a:ext cx="0" cy="0"/>
          <a:chOff x="0" y="0"/>
          <a:chExt cx="0" cy="0"/>
        </a:xfrm>
      </p:grpSpPr>
      <p:pic>
        <p:nvPicPr>
          <p:cNvPr id="5" name="Picture 2" descr="NEU_Folienmaster_VDA-QMC_15062007"/>
          <p:cNvPicPr>
            <a:picLocks noChangeAspect="1" noChangeArrowheads="1"/>
          </p:cNvPicPr>
          <p:nvPr/>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6" name="Textplatzhalter 5"/>
          <p:cNvSpPr>
            <a:spLocks noGrp="1"/>
          </p:cNvSpPr>
          <p:nvPr>
            <p:ph type="body" sz="quarter" idx="11"/>
          </p:nvPr>
        </p:nvSpPr>
        <p:spPr>
          <a:xfrm>
            <a:off x="187325" y="1629570"/>
            <a:ext cx="8777288" cy="2375694"/>
          </a:xfrm>
          <a:prstGeom prst="rect">
            <a:avLst/>
          </a:prstGeom>
        </p:spPr>
        <p:txBody>
          <a:bodyPr lIns="0" tIns="0" rIns="0" bIns="0"/>
          <a:lstStyle>
            <a:lvl1pPr marL="0" indent="0">
              <a:buNone/>
              <a:defRPr sz="1600" baseline="0"/>
            </a:lvl1pPr>
          </a:lstStyle>
          <a:p>
            <a:pPr lvl="0"/>
            <a:r>
              <a:rPr lang="de-DE"/>
              <a:t>Textmasterformat bearbeiten</a:t>
            </a:r>
          </a:p>
        </p:txBody>
      </p:sp>
      <p:sp>
        <p:nvSpPr>
          <p:cNvPr id="7" name="Inhaltsplatzhalter 4"/>
          <p:cNvSpPr>
            <a:spLocks noGrp="1"/>
          </p:cNvSpPr>
          <p:nvPr>
            <p:ph sz="quarter" idx="12"/>
          </p:nvPr>
        </p:nvSpPr>
        <p:spPr>
          <a:xfrm>
            <a:off x="179388" y="4149080"/>
            <a:ext cx="8785225" cy="2375545"/>
          </a:xfrm>
          <a:prstGeom prst="rect">
            <a:avLst/>
          </a:prstGeom>
        </p:spPr>
        <p:txBody>
          <a:bodyPr lIns="0" tIns="0" rIns="0" bIns="0"/>
          <a:lstStyle>
            <a:lvl1pPr marL="0" indent="0">
              <a:buNone/>
              <a:defRPr sz="1600">
                <a:latin typeface="+mn-lt"/>
              </a:defRPr>
            </a:lvl1pPr>
          </a:lstStyle>
          <a:p>
            <a:pPr lvl="0"/>
            <a:r>
              <a:rPr lang="de-DE"/>
              <a:t>Textmasterformat bearbeiten</a:t>
            </a:r>
          </a:p>
        </p:txBody>
      </p:sp>
    </p:spTree>
    <p:extLst>
      <p:ext uri="{BB962C8B-B14F-4D97-AF65-F5344CB8AC3E}">
        <p14:creationId xmlns:p14="http://schemas.microsoft.com/office/powerpoint/2010/main" val="3269932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ild">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5" name="Inhaltsplatzhalter 4"/>
          <p:cNvSpPr>
            <a:spLocks noGrp="1"/>
          </p:cNvSpPr>
          <p:nvPr>
            <p:ph sz="quarter" idx="10"/>
          </p:nvPr>
        </p:nvSpPr>
        <p:spPr>
          <a:xfrm>
            <a:off x="179388" y="1628776"/>
            <a:ext cx="8785225" cy="4895850"/>
          </a:xfrm>
          <a:prstGeom prst="rect">
            <a:avLst/>
          </a:prstGeom>
        </p:spPr>
        <p:txBody>
          <a:bodyPr lIns="0" tIns="0" rIns="0" bIns="0"/>
          <a:lstStyle>
            <a:lvl1pPr marL="0" indent="0">
              <a:buNone/>
              <a:defRPr sz="1600"/>
            </a:lvl1pPr>
          </a:lstStyle>
          <a:p>
            <a:pPr lvl="0"/>
            <a:r>
              <a:rPr lang="de-DE"/>
              <a:t>Textmasterformat bearbeiten</a:t>
            </a:r>
          </a:p>
        </p:txBody>
      </p:sp>
    </p:spTree>
    <p:extLst>
      <p:ext uri="{BB962C8B-B14F-4D97-AF65-F5344CB8AC3E}">
        <p14:creationId xmlns:p14="http://schemas.microsoft.com/office/powerpoint/2010/main" val="3612276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i + Inhalt re">
    <p:spTree>
      <p:nvGrpSpPr>
        <p:cNvPr id="1" name=""/>
        <p:cNvGrpSpPr/>
        <p:nvPr/>
      </p:nvGrpSpPr>
      <p:grpSpPr>
        <a:xfrm>
          <a:off x="0" y="0"/>
          <a:ext cx="0" cy="0"/>
          <a:chOff x="0" y="0"/>
          <a:chExt cx="0" cy="0"/>
        </a:xfrm>
      </p:grpSpPr>
      <p:pic>
        <p:nvPicPr>
          <p:cNvPr id="6" name="Picture 2" descr="NEU_Folienmaster_VDA-QMC_15062007"/>
          <p:cNvPicPr>
            <a:picLocks noChangeAspect="1" noChangeArrowheads="1"/>
          </p:cNvPicPr>
          <p:nvPr/>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5" name="Textplatzhalter 4"/>
          <p:cNvSpPr>
            <a:spLocks noGrp="1"/>
          </p:cNvSpPr>
          <p:nvPr>
            <p:ph type="body" sz="quarter" idx="10"/>
          </p:nvPr>
        </p:nvSpPr>
        <p:spPr>
          <a:xfrm>
            <a:off x="179388" y="4149725"/>
            <a:ext cx="4248150" cy="2376488"/>
          </a:xfrm>
          <a:prstGeom prst="rect">
            <a:avLst/>
          </a:prstGeom>
        </p:spPr>
        <p:txBody>
          <a:bodyPr lIns="0" tIns="0" rIns="0" bIns="0"/>
          <a:lstStyle>
            <a:lvl1pPr marL="0" indent="0">
              <a:buFontTx/>
              <a:buNone/>
              <a:defRPr sz="1600">
                <a:latin typeface="+mn-lt"/>
              </a:defRPr>
            </a:lvl1pPr>
          </a:lstStyle>
          <a:p>
            <a:pPr lvl="0"/>
            <a:r>
              <a:rPr lang="de-DE"/>
              <a:t>Textmasterformat bearbeiten</a:t>
            </a:r>
          </a:p>
        </p:txBody>
      </p:sp>
      <p:sp>
        <p:nvSpPr>
          <p:cNvPr id="4" name="Inhaltsplatzhalter 3"/>
          <p:cNvSpPr>
            <a:spLocks noGrp="1"/>
          </p:cNvSpPr>
          <p:nvPr>
            <p:ph sz="quarter" idx="11"/>
          </p:nvPr>
        </p:nvSpPr>
        <p:spPr>
          <a:xfrm>
            <a:off x="4716463" y="1628776"/>
            <a:ext cx="4248150" cy="4895850"/>
          </a:xfrm>
          <a:prstGeom prst="rect">
            <a:avLst/>
          </a:prstGeom>
        </p:spPr>
        <p:txBody>
          <a:bodyPr lIns="0" tIns="0" rIns="0" bIns="0"/>
          <a:lstStyle>
            <a:lvl1pPr marL="0" indent="0">
              <a:buNone/>
              <a:defRPr sz="1600"/>
            </a:lvl1pPr>
          </a:lstStyle>
          <a:p>
            <a:pPr lvl="0"/>
            <a:r>
              <a:rPr lang="de-DE"/>
              <a:t>Textmasterformat bearbeiten</a:t>
            </a:r>
          </a:p>
        </p:txBody>
      </p:sp>
      <p:sp>
        <p:nvSpPr>
          <p:cNvPr id="8" name="Inhaltsplatzhalter 2"/>
          <p:cNvSpPr>
            <a:spLocks noGrp="1"/>
          </p:cNvSpPr>
          <p:nvPr>
            <p:ph idx="1"/>
          </p:nvPr>
        </p:nvSpPr>
        <p:spPr>
          <a:xfrm>
            <a:off x="179512" y="1628800"/>
            <a:ext cx="4248026" cy="2376463"/>
          </a:xfrm>
          <a:prstGeom prst="rect">
            <a:avLst/>
          </a:prstGeom>
        </p:spPr>
        <p:txBody>
          <a:bodyPr lIns="0" tIns="0" rIns="0" bIns="0"/>
          <a:lstStyle>
            <a:lvl1pPr>
              <a:spcBef>
                <a:spcPts val="0"/>
              </a:spcBef>
              <a:spcAft>
                <a:spcPts val="600"/>
              </a:spcAft>
              <a:buNone/>
              <a:defRPr sz="1600" b="0">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Char char="-"/>
              <a:defRPr sz="1600" b="0">
                <a:latin typeface="Verdana" pitchFamily="34" charset="0"/>
              </a:defRPr>
            </a:lvl3pPr>
            <a:lvl4pPr marL="896938" indent="-361950">
              <a:spcBef>
                <a:spcPts val="0"/>
              </a:spcBef>
              <a:spcAft>
                <a:spcPts val="600"/>
              </a:spcAft>
              <a:buFont typeface="Symbol" pitchFamily="18" charset="2"/>
              <a:buChar char="-"/>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a:p>
            <a:pPr lvl="1"/>
            <a:r>
              <a:rPr lang="de-DE"/>
              <a:t>Zweite Ebene</a:t>
            </a:r>
          </a:p>
          <a:p>
            <a:pPr lvl="2"/>
            <a:r>
              <a:rPr lang="de-DE"/>
              <a:t>Dritte Ebene</a:t>
            </a:r>
          </a:p>
        </p:txBody>
      </p:sp>
    </p:spTree>
    <p:extLst>
      <p:ext uri="{BB962C8B-B14F-4D97-AF65-F5344CB8AC3E}">
        <p14:creationId xmlns:p14="http://schemas.microsoft.com/office/powerpoint/2010/main" val="3322515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nhalt li +Text re">
    <p:spTree>
      <p:nvGrpSpPr>
        <p:cNvPr id="1" name=""/>
        <p:cNvGrpSpPr/>
        <p:nvPr/>
      </p:nvGrpSpPr>
      <p:grpSpPr>
        <a:xfrm>
          <a:off x="0" y="0"/>
          <a:ext cx="0" cy="0"/>
          <a:chOff x="0" y="0"/>
          <a:chExt cx="0" cy="0"/>
        </a:xfrm>
      </p:grpSpPr>
      <p:pic>
        <p:nvPicPr>
          <p:cNvPr id="8" name="Picture 2" descr="NEU_Folienmaster_VDA-QMC_15062007"/>
          <p:cNvPicPr>
            <a:picLocks noChangeAspect="1" noChangeArrowheads="1"/>
          </p:cNvPicPr>
          <p:nvPr/>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6" name="Inhaltsplatzhalter 3"/>
          <p:cNvSpPr>
            <a:spLocks noGrp="1"/>
          </p:cNvSpPr>
          <p:nvPr>
            <p:ph sz="quarter" idx="11"/>
          </p:nvPr>
        </p:nvSpPr>
        <p:spPr>
          <a:xfrm>
            <a:off x="179834" y="1628776"/>
            <a:ext cx="4248150" cy="4895850"/>
          </a:xfrm>
          <a:prstGeom prst="rect">
            <a:avLst/>
          </a:prstGeom>
        </p:spPr>
        <p:txBody>
          <a:bodyPr lIns="0" tIns="0" rIns="0" bIns="0"/>
          <a:lstStyle>
            <a:lvl1pPr marL="0" indent="0">
              <a:buNone/>
              <a:defRPr sz="1600"/>
            </a:lvl1pPr>
          </a:lstStyle>
          <a:p>
            <a:pPr lvl="0"/>
            <a:r>
              <a:rPr lang="de-DE"/>
              <a:t>Textmasterformat bearbeiten</a:t>
            </a:r>
          </a:p>
        </p:txBody>
      </p:sp>
      <p:sp>
        <p:nvSpPr>
          <p:cNvPr id="7" name="Textplatzhalter 4"/>
          <p:cNvSpPr>
            <a:spLocks noGrp="1"/>
          </p:cNvSpPr>
          <p:nvPr>
            <p:ph type="body" sz="quarter" idx="10"/>
          </p:nvPr>
        </p:nvSpPr>
        <p:spPr>
          <a:xfrm>
            <a:off x="4716338" y="4149725"/>
            <a:ext cx="4248150" cy="2376488"/>
          </a:xfrm>
          <a:prstGeom prst="rect">
            <a:avLst/>
          </a:prstGeom>
        </p:spPr>
        <p:txBody>
          <a:bodyPr lIns="0" tIns="0" rIns="0" bIns="0"/>
          <a:lstStyle>
            <a:lvl1pPr marL="0" indent="0">
              <a:buFontTx/>
              <a:buNone/>
              <a:defRPr sz="1600">
                <a:latin typeface="+mn-lt"/>
              </a:defRPr>
            </a:lvl1pPr>
          </a:lstStyle>
          <a:p>
            <a:pPr lvl="0"/>
            <a:r>
              <a:rPr lang="de-DE"/>
              <a:t>Textmasterformat bearbeiten</a:t>
            </a:r>
          </a:p>
        </p:txBody>
      </p:sp>
      <p:sp>
        <p:nvSpPr>
          <p:cNvPr id="9" name="Inhaltsplatzhalter 2"/>
          <p:cNvSpPr>
            <a:spLocks noGrp="1"/>
          </p:cNvSpPr>
          <p:nvPr>
            <p:ph idx="1"/>
          </p:nvPr>
        </p:nvSpPr>
        <p:spPr>
          <a:xfrm>
            <a:off x="4716462" y="1628800"/>
            <a:ext cx="4248026" cy="2376463"/>
          </a:xfrm>
          <a:prstGeom prst="rect">
            <a:avLst/>
          </a:prstGeom>
        </p:spPr>
        <p:txBody>
          <a:bodyPr lIns="0" tIns="0" rIns="0" bIns="0"/>
          <a:lstStyle>
            <a:lvl1pPr>
              <a:spcBef>
                <a:spcPts val="0"/>
              </a:spcBef>
              <a:spcAft>
                <a:spcPts val="600"/>
              </a:spcAft>
              <a:buNone/>
              <a:defRPr sz="1600" b="0">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Char char="-"/>
              <a:defRPr sz="1600" b="0">
                <a:latin typeface="Verdana" pitchFamily="34" charset="0"/>
              </a:defRPr>
            </a:lvl3pPr>
            <a:lvl4pPr marL="896938" indent="-361950">
              <a:spcBef>
                <a:spcPts val="0"/>
              </a:spcBef>
              <a:spcAft>
                <a:spcPts val="600"/>
              </a:spcAft>
              <a:buFont typeface="Symbol" pitchFamily="18" charset="2"/>
              <a:buChar char="-"/>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a:p>
            <a:pPr lvl="1"/>
            <a:r>
              <a:rPr lang="de-DE"/>
              <a:t>Zweite Ebene</a:t>
            </a:r>
          </a:p>
          <a:p>
            <a:pPr lvl="2"/>
            <a:r>
              <a:rPr lang="de-DE"/>
              <a:t>Dritte Ebene</a:t>
            </a:r>
          </a:p>
        </p:txBody>
      </p:sp>
    </p:spTree>
    <p:extLst>
      <p:ext uri="{BB962C8B-B14F-4D97-AF65-F5344CB8AC3E}">
        <p14:creationId xmlns:p14="http://schemas.microsoft.com/office/powerpoint/2010/main" val="1727671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pic>
        <p:nvPicPr>
          <p:cNvPr id="2" name="Picture 2" descr="NEU_Folienmaster_VDA-QMC_15062007"/>
          <p:cNvPicPr>
            <a:picLocks noChangeAspect="1" noChangeArrowheads="1"/>
          </p:cNvPicPr>
          <p:nvPr/>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Rectangle 6"/>
          <p:cNvSpPr txBox="1">
            <a:spLocks noChangeArrowheads="1"/>
          </p:cNvSpPr>
          <p:nvPr/>
        </p:nvSpPr>
        <p:spPr>
          <a:xfrm>
            <a:off x="0" y="477838"/>
            <a:ext cx="9144000" cy="287337"/>
          </a:xfrm>
          <a:prstGeom prst="rect">
            <a:avLst/>
          </a:prstGeom>
          <a:noFill/>
        </p:spPr>
        <p:txBody>
          <a:bodyPr anchor="ctr"/>
          <a:lstStyle/>
          <a:p>
            <a:pPr algn="ctr" fontAlgn="base">
              <a:lnSpc>
                <a:spcPct val="80000"/>
              </a:lnSpc>
              <a:spcBef>
                <a:spcPct val="20000"/>
              </a:spcBef>
              <a:spcAft>
                <a:spcPct val="0"/>
              </a:spcAft>
              <a:buFontTx/>
              <a:buChar char="•"/>
              <a:defRPr/>
            </a:pPr>
            <a:endParaRPr lang="de-DE" sz="1000" kern="0" dirty="0">
              <a:solidFill>
                <a:srgbClr val="FFFFFF"/>
              </a:solidFill>
              <a:latin typeface="Arial" charset="0"/>
            </a:endParaRPr>
          </a:p>
        </p:txBody>
      </p:sp>
    </p:spTree>
    <p:extLst>
      <p:ext uri="{BB962C8B-B14F-4D97-AF65-F5344CB8AC3E}">
        <p14:creationId xmlns:p14="http://schemas.microsoft.com/office/powerpoint/2010/main" val="3088575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123400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el und vier Inhalte">
    <p:spTree>
      <p:nvGrpSpPr>
        <p:cNvPr id="1" name=""/>
        <p:cNvGrpSpPr/>
        <p:nvPr/>
      </p:nvGrpSpPr>
      <p:grpSpPr>
        <a:xfrm>
          <a:off x="0" y="0"/>
          <a:ext cx="0" cy="0"/>
          <a:chOff x="0" y="0"/>
          <a:chExt cx="0" cy="0"/>
        </a:xfrm>
      </p:grpSpPr>
      <p:sp>
        <p:nvSpPr>
          <p:cNvPr id="2" name="Titel 1"/>
          <p:cNvSpPr>
            <a:spLocks noGrp="1"/>
          </p:cNvSpPr>
          <p:nvPr>
            <p:ph type="title" sz="quarter"/>
          </p:nvPr>
        </p:nvSpPr>
        <p:spPr>
          <a:xfrm>
            <a:off x="457200" y="274638"/>
            <a:ext cx="8229600" cy="1143000"/>
          </a:xfrm>
          <a:prstGeom prst="rect">
            <a:avLst/>
          </a:prstGeom>
        </p:spPr>
        <p:txBody>
          <a:bodyPr/>
          <a:lstStyle/>
          <a:p>
            <a:r>
              <a:rPr lang="de-DE"/>
              <a:t>Titelmasterformat durch Klicken bearbeiten</a:t>
            </a:r>
          </a:p>
        </p:txBody>
      </p:sp>
      <p:sp>
        <p:nvSpPr>
          <p:cNvPr id="3" name="Inhaltsplatzhalter 2"/>
          <p:cNvSpPr>
            <a:spLocks noGrp="1"/>
          </p:cNvSpPr>
          <p:nvPr>
            <p:ph sz="quarter" idx="1"/>
          </p:nvPr>
        </p:nvSpPr>
        <p:spPr>
          <a:xfrm>
            <a:off x="457200" y="1600200"/>
            <a:ext cx="4038600" cy="2185988"/>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quarter" idx="2"/>
          </p:nvPr>
        </p:nvSpPr>
        <p:spPr>
          <a:xfrm>
            <a:off x="4648200" y="1600200"/>
            <a:ext cx="4038600" cy="2185988"/>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4"/>
          <p:cNvSpPr>
            <a:spLocks noGrp="1"/>
          </p:cNvSpPr>
          <p:nvPr>
            <p:ph sz="quarter" idx="3"/>
          </p:nvPr>
        </p:nvSpPr>
        <p:spPr>
          <a:xfrm>
            <a:off x="457200" y="3938588"/>
            <a:ext cx="4038600" cy="2187575"/>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Inhaltsplatzhalter 5"/>
          <p:cNvSpPr>
            <a:spLocks noGrp="1"/>
          </p:cNvSpPr>
          <p:nvPr>
            <p:ph sz="quarter" idx="4"/>
          </p:nvPr>
        </p:nvSpPr>
        <p:spPr>
          <a:xfrm>
            <a:off x="4648200" y="3938588"/>
            <a:ext cx="4038600" cy="2187575"/>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3409838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el und Inhalt">
    <p:spTree>
      <p:nvGrpSpPr>
        <p:cNvPr id="1" name=""/>
        <p:cNvGrpSpPr/>
        <p:nvPr/>
      </p:nvGrpSpPr>
      <p:grpSpPr>
        <a:xfrm>
          <a:off x="0" y="0"/>
          <a:ext cx="0" cy="0"/>
          <a:chOff x="0" y="0"/>
          <a:chExt cx="0" cy="0"/>
        </a:xfrm>
      </p:grpSpPr>
      <p:sp>
        <p:nvSpPr>
          <p:cNvPr id="4" name="Titel 1"/>
          <p:cNvSpPr>
            <a:spLocks noGrp="1"/>
          </p:cNvSpPr>
          <p:nvPr>
            <p:ph type="title"/>
          </p:nvPr>
        </p:nvSpPr>
        <p:spPr>
          <a:xfrm>
            <a:off x="514350" y="1703388"/>
            <a:ext cx="8229600" cy="1143000"/>
          </a:xfrm>
          <a:prstGeom prst="rect">
            <a:avLst/>
          </a:prstGeom>
        </p:spPr>
        <p:txBody>
          <a:bodyPr/>
          <a:lstStyle/>
          <a:p>
            <a:r>
              <a:rPr lang="de-DE"/>
              <a:t>Titelmasterformat durch Klicken bearbeiten</a:t>
            </a:r>
          </a:p>
        </p:txBody>
      </p:sp>
    </p:spTree>
    <p:extLst>
      <p:ext uri="{BB962C8B-B14F-4D97-AF65-F5344CB8AC3E}">
        <p14:creationId xmlns:p14="http://schemas.microsoft.com/office/powerpoint/2010/main" val="2115956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4_Nur Titel">
    <p:spTree>
      <p:nvGrpSpPr>
        <p:cNvPr id="1" name=""/>
        <p:cNvGrpSpPr/>
        <p:nvPr/>
      </p:nvGrpSpPr>
      <p:grpSpPr>
        <a:xfrm>
          <a:off x="0" y="0"/>
          <a:ext cx="0" cy="0"/>
          <a:chOff x="0" y="0"/>
          <a:chExt cx="0" cy="0"/>
        </a:xfrm>
      </p:grpSpPr>
      <p:sp>
        <p:nvSpPr>
          <p:cNvPr id="4" name="Titel 1"/>
          <p:cNvSpPr>
            <a:spLocks noGrp="1"/>
          </p:cNvSpPr>
          <p:nvPr>
            <p:ph type="title"/>
          </p:nvPr>
        </p:nvSpPr>
        <p:spPr>
          <a:xfrm>
            <a:off x="514350" y="1703388"/>
            <a:ext cx="8229600" cy="1143000"/>
          </a:xfrm>
          <a:prstGeom prst="rect">
            <a:avLst/>
          </a:prstGeom>
        </p:spPr>
        <p:txBody>
          <a:bodyPr/>
          <a:lstStyle/>
          <a:p>
            <a:r>
              <a:rPr lang="de-DE"/>
              <a:t>Titelmasterformat durch Klicken bearbeiten</a:t>
            </a:r>
          </a:p>
        </p:txBody>
      </p:sp>
    </p:spTree>
    <p:extLst>
      <p:ext uri="{BB962C8B-B14F-4D97-AF65-F5344CB8AC3E}">
        <p14:creationId xmlns:p14="http://schemas.microsoft.com/office/powerpoint/2010/main" val="3065275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5_Nur Titel">
    <p:spTree>
      <p:nvGrpSpPr>
        <p:cNvPr id="1" name=""/>
        <p:cNvGrpSpPr/>
        <p:nvPr/>
      </p:nvGrpSpPr>
      <p:grpSpPr>
        <a:xfrm>
          <a:off x="0" y="0"/>
          <a:ext cx="0" cy="0"/>
          <a:chOff x="0" y="0"/>
          <a:chExt cx="0" cy="0"/>
        </a:xfrm>
      </p:grpSpPr>
      <p:sp>
        <p:nvSpPr>
          <p:cNvPr id="4" name="Titel 1"/>
          <p:cNvSpPr>
            <a:spLocks noGrp="1"/>
          </p:cNvSpPr>
          <p:nvPr>
            <p:ph type="title"/>
          </p:nvPr>
        </p:nvSpPr>
        <p:spPr>
          <a:xfrm>
            <a:off x="514350" y="1703388"/>
            <a:ext cx="8229600" cy="1143000"/>
          </a:xfrm>
          <a:prstGeom prst="rect">
            <a:avLst/>
          </a:prstGeom>
        </p:spPr>
        <p:txBody>
          <a:bodyPr/>
          <a:lstStyle/>
          <a:p>
            <a:r>
              <a:rPr lang="de-DE"/>
              <a:t>Titelmasterformat durch Klicken bearbeiten</a:t>
            </a:r>
          </a:p>
        </p:txBody>
      </p:sp>
    </p:spTree>
    <p:extLst>
      <p:ext uri="{BB962C8B-B14F-4D97-AF65-F5344CB8AC3E}">
        <p14:creationId xmlns:p14="http://schemas.microsoft.com/office/powerpoint/2010/main" val="24365444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3" name="Bild 5" descr="MarkgrafenpalaisMM1000.jpg"/>
          <p:cNvPicPr>
            <a:picLocks noChangeAspect="1"/>
          </p:cNvPicPr>
          <p:nvPr userDrawn="1"/>
        </p:nvPicPr>
        <p:blipFill>
          <a:blip r:embed="rId2" cstate="print"/>
          <a:srcRect t="5640" b="21536"/>
          <a:stretch>
            <a:fillRect/>
          </a:stretch>
        </p:blipFill>
        <p:spPr bwMode="auto">
          <a:xfrm>
            <a:off x="0" y="1125538"/>
            <a:ext cx="9144000" cy="5233987"/>
          </a:xfrm>
          <a:prstGeom prst="rect">
            <a:avLst/>
          </a:prstGeom>
          <a:noFill/>
          <a:ln w="9525">
            <a:noFill/>
            <a:miter lim="800000"/>
            <a:headEnd/>
            <a:tailEnd/>
          </a:ln>
        </p:spPr>
      </p:pic>
      <p:sp>
        <p:nvSpPr>
          <p:cNvPr id="12" name="Titel 1"/>
          <p:cNvSpPr>
            <a:spLocks noGrp="1"/>
          </p:cNvSpPr>
          <p:nvPr>
            <p:ph type="title"/>
          </p:nvPr>
        </p:nvSpPr>
        <p:spPr>
          <a:xfrm>
            <a:off x="0" y="5085184"/>
            <a:ext cx="9144000" cy="648000"/>
          </a:xfrm>
          <a:prstGeom prst="rect">
            <a:avLst/>
          </a:prstGeom>
          <a:solidFill>
            <a:srgbClr val="FFFFFF">
              <a:alpha val="74902"/>
            </a:srgbClr>
          </a:solidFill>
        </p:spPr>
        <p:txBody>
          <a:bodyPr lIns="0" tIns="0" rIns="0" bIns="0" anchor="ctr" anchorCtr="0"/>
          <a:lstStyle>
            <a:lvl1pPr marL="0" algn="ctr" defTabSz="914400" rtl="0" eaLnBrk="1" latinLnBrk="0" hangingPunct="1">
              <a:defRPr lang="de-DE" sz="1800" b="1" kern="0" dirty="0">
                <a:solidFill>
                  <a:srgbClr val="004688"/>
                </a:solidFill>
                <a:latin typeface="Verdana" pitchFamily="34" charset="0"/>
                <a:ea typeface="+mj-ea"/>
                <a:cs typeface="+mj-cs"/>
              </a:defRPr>
            </a:lvl1pPr>
          </a:lstStyle>
          <a:p>
            <a:r>
              <a:rPr lang="de-DE"/>
              <a:t>Titelmasterformat durch Klicken bearbeiten</a:t>
            </a:r>
            <a:endParaRPr lang="de-DE" dirty="0"/>
          </a:p>
        </p:txBody>
      </p:sp>
    </p:spTree>
    <p:extLst>
      <p:ext uri="{BB962C8B-B14F-4D97-AF65-F5344CB8AC3E}">
        <p14:creationId xmlns:p14="http://schemas.microsoft.com/office/powerpoint/2010/main" val="25963702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3"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4" name="Rectangle 6"/>
          <p:cNvSpPr txBox="1">
            <a:spLocks noChangeArrowheads="1"/>
          </p:cNvSpPr>
          <p:nvPr userDrawn="1"/>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endParaRPr lang="de-DE" sz="1000" dirty="0">
              <a:solidFill>
                <a:srgbClr val="FFFFFF"/>
              </a:solidFill>
            </a:endParaRPr>
          </a:p>
        </p:txBody>
      </p:sp>
      <p:sp>
        <p:nvSpPr>
          <p:cNvPr id="5" name="Inhaltsplatzhalter 2"/>
          <p:cNvSpPr>
            <a:spLocks noGrp="1"/>
          </p:cNvSpPr>
          <p:nvPr>
            <p:ph idx="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Tree>
    <p:extLst>
      <p:ext uri="{BB962C8B-B14F-4D97-AF65-F5344CB8AC3E}">
        <p14:creationId xmlns:p14="http://schemas.microsoft.com/office/powerpoint/2010/main" val="12373322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ufzählungspunkte">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Inhaltsplatzhalter 2"/>
          <p:cNvSpPr>
            <a:spLocks noGrp="1"/>
          </p:cNvSpPr>
          <p:nvPr>
            <p:ph idx="1"/>
          </p:nvPr>
        </p:nvSpPr>
        <p:spPr>
          <a:xfrm>
            <a:off x="179512" y="1628800"/>
            <a:ext cx="8785100" cy="4895825"/>
          </a:xfrm>
          <a:prstGeom prst="rect">
            <a:avLst/>
          </a:prstGeom>
        </p:spPr>
        <p:txBody>
          <a:bodyPr lIns="0" tIns="0" rIns="0" bIns="0"/>
          <a:lstStyle>
            <a:lvl1pPr>
              <a:spcBef>
                <a:spcPts val="0"/>
              </a:spcBef>
              <a:spcAft>
                <a:spcPts val="600"/>
              </a:spcAft>
              <a:buNone/>
              <a:defRPr sz="1600" b="0">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Char char="-"/>
              <a:defRPr sz="1600" b="0">
                <a:latin typeface="Verdana" pitchFamily="34" charset="0"/>
              </a:defRPr>
            </a:lvl3pPr>
            <a:lvl4pPr marL="896938" indent="-361950">
              <a:spcBef>
                <a:spcPts val="0"/>
              </a:spcBef>
              <a:spcAft>
                <a:spcPts val="600"/>
              </a:spcAft>
              <a:buFont typeface="Symbol" pitchFamily="18" charset="2"/>
              <a:buChar char="-"/>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a:p>
            <a:pPr lvl="1"/>
            <a:r>
              <a:rPr lang="de-DE"/>
              <a:t>Zweite Ebene</a:t>
            </a:r>
          </a:p>
          <a:p>
            <a:pPr lvl="2"/>
            <a:r>
              <a:rPr lang="de-DE"/>
              <a:t>Dritte Ebene</a:t>
            </a:r>
          </a:p>
        </p:txBody>
      </p:sp>
      <p:sp>
        <p:nvSpPr>
          <p:cNvPr id="7" name="Inhaltsplatzhalter 2"/>
          <p:cNvSpPr>
            <a:spLocks noGrp="1"/>
          </p:cNvSpPr>
          <p:nvPr>
            <p:ph idx="1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Tree>
    <p:extLst>
      <p:ext uri="{BB962C8B-B14F-4D97-AF65-F5344CB8AC3E}">
        <p14:creationId xmlns:p14="http://schemas.microsoft.com/office/powerpoint/2010/main" val="21168879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elle">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Inhaltsplatzhalter 2"/>
          <p:cNvSpPr>
            <a:spLocks noGrp="1"/>
          </p:cNvSpPr>
          <p:nvPr>
            <p:ph idx="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
        <p:nvSpPr>
          <p:cNvPr id="5" name="Tabellenplatzhalter 4"/>
          <p:cNvSpPr>
            <a:spLocks noGrp="1"/>
          </p:cNvSpPr>
          <p:nvPr>
            <p:ph type="tbl" sz="quarter" idx="14"/>
          </p:nvPr>
        </p:nvSpPr>
        <p:spPr>
          <a:xfrm>
            <a:off x="179388" y="1628800"/>
            <a:ext cx="8713092" cy="4895825"/>
          </a:xfrm>
          <a:prstGeom prst="rect">
            <a:avLst/>
          </a:prstGeom>
          <a:noFill/>
          <a:ln w="6350">
            <a:solidFill>
              <a:schemeClr val="bg1">
                <a:lumMod val="50000"/>
              </a:schemeClr>
            </a:solidFill>
          </a:ln>
          <a:effectLst/>
        </p:spPr>
        <p:txBody>
          <a:bodyPr lIns="36000" tIns="36000" rIns="36000" bIns="36000"/>
          <a:lstStyle>
            <a:lvl1pPr>
              <a:buNone/>
              <a:defRPr sz="1600">
                <a:ln w="0">
                  <a:solidFill>
                    <a:schemeClr val="tx1"/>
                  </a:solidFill>
                </a:ln>
                <a:effectLst/>
                <a:latin typeface="Verdana" pitchFamily="34" charset="0"/>
              </a:defRPr>
            </a:lvl1pPr>
          </a:lstStyle>
          <a:p>
            <a:pPr lvl="0"/>
            <a:r>
              <a:rPr lang="de-DE" noProof="0"/>
              <a:t>Tabelle durch Klicken auf Symbol hinzufügen</a:t>
            </a:r>
            <a:endParaRPr lang="de-DE" noProof="0" dirty="0"/>
          </a:p>
        </p:txBody>
      </p:sp>
    </p:spTree>
    <p:extLst>
      <p:ext uri="{BB962C8B-B14F-4D97-AF65-F5344CB8AC3E}">
        <p14:creationId xmlns:p14="http://schemas.microsoft.com/office/powerpoint/2010/main" val="14909092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Inhaltsplatzhalter 2"/>
          <p:cNvSpPr>
            <a:spLocks noGrp="1"/>
          </p:cNvSpPr>
          <p:nvPr>
            <p:ph idx="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
        <p:nvSpPr>
          <p:cNvPr id="8" name="Diagrammplatzhalter 7"/>
          <p:cNvSpPr>
            <a:spLocks noGrp="1"/>
          </p:cNvSpPr>
          <p:nvPr>
            <p:ph type="chart" sz="quarter" idx="10"/>
          </p:nvPr>
        </p:nvSpPr>
        <p:spPr>
          <a:xfrm>
            <a:off x="179388" y="1628775"/>
            <a:ext cx="8785225" cy="4824413"/>
          </a:xfrm>
          <a:prstGeom prst="rect">
            <a:avLst/>
          </a:prstGeom>
        </p:spPr>
        <p:txBody>
          <a:bodyPr/>
          <a:lstStyle/>
          <a:p>
            <a:pPr lvl="0"/>
            <a:r>
              <a:rPr lang="de-DE" noProof="0"/>
              <a:t>Diagramm durch Klicken auf Symbol hinzufügen</a:t>
            </a:r>
            <a:endParaRPr lang="de-DE" noProof="0" dirty="0"/>
          </a:p>
        </p:txBody>
      </p:sp>
    </p:spTree>
    <p:extLst>
      <p:ext uri="{BB962C8B-B14F-4D97-AF65-F5344CB8AC3E}">
        <p14:creationId xmlns:p14="http://schemas.microsoft.com/office/powerpoint/2010/main" val="37955897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halt o +Text u">
    <p:spTree>
      <p:nvGrpSpPr>
        <p:cNvPr id="1" name=""/>
        <p:cNvGrpSpPr/>
        <p:nvPr/>
      </p:nvGrpSpPr>
      <p:grpSpPr>
        <a:xfrm>
          <a:off x="0" y="0"/>
          <a:ext cx="0" cy="0"/>
          <a:chOff x="0" y="0"/>
          <a:chExt cx="0" cy="0"/>
        </a:xfrm>
      </p:grpSpPr>
      <p:pic>
        <p:nvPicPr>
          <p:cNvPr id="7"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6" name="Textplatzhalter 5"/>
          <p:cNvSpPr>
            <a:spLocks noGrp="1"/>
          </p:cNvSpPr>
          <p:nvPr>
            <p:ph type="body" sz="quarter" idx="11"/>
          </p:nvPr>
        </p:nvSpPr>
        <p:spPr>
          <a:xfrm>
            <a:off x="187325" y="4149726"/>
            <a:ext cx="8777288" cy="2374900"/>
          </a:xfrm>
          <a:prstGeom prst="rect">
            <a:avLst/>
          </a:prstGeom>
        </p:spPr>
        <p:txBody>
          <a:bodyPr lIns="0" tIns="0" rIns="0" bIns="0"/>
          <a:lstStyle>
            <a:lvl1pPr marL="0" indent="0">
              <a:buNone/>
              <a:defRPr sz="1600" baseline="0"/>
            </a:lvl1pPr>
          </a:lstStyle>
          <a:p>
            <a:pPr lvl="0"/>
            <a:r>
              <a:rPr lang="de-DE"/>
              <a:t>Textmasterformat bearbeiten</a:t>
            </a:r>
          </a:p>
        </p:txBody>
      </p:sp>
      <p:sp>
        <p:nvSpPr>
          <p:cNvPr id="5" name="Inhaltsplatzhalter 4"/>
          <p:cNvSpPr>
            <a:spLocks noGrp="1"/>
          </p:cNvSpPr>
          <p:nvPr>
            <p:ph sz="quarter" idx="12"/>
          </p:nvPr>
        </p:nvSpPr>
        <p:spPr>
          <a:xfrm>
            <a:off x="179388" y="1628775"/>
            <a:ext cx="8785225" cy="2376488"/>
          </a:xfrm>
          <a:prstGeom prst="rect">
            <a:avLst/>
          </a:prstGeom>
        </p:spPr>
        <p:txBody>
          <a:bodyPr lIns="0" tIns="0" rIns="0" bIns="0"/>
          <a:lstStyle>
            <a:lvl1pPr marL="0" indent="0">
              <a:buNone/>
              <a:defRPr sz="1600"/>
            </a:lvl1pPr>
          </a:lstStyle>
          <a:p>
            <a:pPr lvl="0"/>
            <a:r>
              <a:rPr lang="de-DE"/>
              <a:t>Textmasterformat bearbeiten</a:t>
            </a:r>
          </a:p>
        </p:txBody>
      </p:sp>
    </p:spTree>
    <p:extLst>
      <p:ext uri="{BB962C8B-B14F-4D97-AF65-F5344CB8AC3E}">
        <p14:creationId xmlns:p14="http://schemas.microsoft.com/office/powerpoint/2010/main" val="3087074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o + Inhalt u">
    <p:spTree>
      <p:nvGrpSpPr>
        <p:cNvPr id="1" name=""/>
        <p:cNvGrpSpPr/>
        <p:nvPr/>
      </p:nvGrpSpPr>
      <p:grpSpPr>
        <a:xfrm>
          <a:off x="0" y="0"/>
          <a:ext cx="0" cy="0"/>
          <a:chOff x="0" y="0"/>
          <a:chExt cx="0" cy="0"/>
        </a:xfrm>
      </p:grpSpPr>
      <p:pic>
        <p:nvPicPr>
          <p:cNvPr id="5"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6" name="Textplatzhalter 5"/>
          <p:cNvSpPr>
            <a:spLocks noGrp="1"/>
          </p:cNvSpPr>
          <p:nvPr>
            <p:ph type="body" sz="quarter" idx="11"/>
          </p:nvPr>
        </p:nvSpPr>
        <p:spPr>
          <a:xfrm>
            <a:off x="187325" y="1629570"/>
            <a:ext cx="8777288" cy="2375694"/>
          </a:xfrm>
          <a:prstGeom prst="rect">
            <a:avLst/>
          </a:prstGeom>
        </p:spPr>
        <p:txBody>
          <a:bodyPr lIns="0" tIns="0" rIns="0" bIns="0"/>
          <a:lstStyle>
            <a:lvl1pPr marL="0" indent="0">
              <a:buNone/>
              <a:defRPr sz="1600" baseline="0"/>
            </a:lvl1pPr>
          </a:lstStyle>
          <a:p>
            <a:pPr lvl="0"/>
            <a:r>
              <a:rPr lang="de-DE"/>
              <a:t>Textmasterformat bearbeiten</a:t>
            </a:r>
          </a:p>
        </p:txBody>
      </p:sp>
      <p:sp>
        <p:nvSpPr>
          <p:cNvPr id="7" name="Inhaltsplatzhalter 4"/>
          <p:cNvSpPr>
            <a:spLocks noGrp="1"/>
          </p:cNvSpPr>
          <p:nvPr>
            <p:ph sz="quarter" idx="12"/>
          </p:nvPr>
        </p:nvSpPr>
        <p:spPr>
          <a:xfrm>
            <a:off x="179388" y="4149080"/>
            <a:ext cx="8785225" cy="2375545"/>
          </a:xfrm>
          <a:prstGeom prst="rect">
            <a:avLst/>
          </a:prstGeom>
        </p:spPr>
        <p:txBody>
          <a:bodyPr lIns="0" tIns="0" rIns="0" bIns="0"/>
          <a:lstStyle>
            <a:lvl1pPr marL="0" indent="0">
              <a:buNone/>
              <a:defRPr sz="1600">
                <a:latin typeface="+mn-lt"/>
              </a:defRPr>
            </a:lvl1pPr>
          </a:lstStyle>
          <a:p>
            <a:pPr lvl="0"/>
            <a:r>
              <a:rPr lang="de-DE"/>
              <a:t>Textmasterformat bearbeiten</a:t>
            </a:r>
          </a:p>
        </p:txBody>
      </p:sp>
    </p:spTree>
    <p:extLst>
      <p:ext uri="{BB962C8B-B14F-4D97-AF65-F5344CB8AC3E}">
        <p14:creationId xmlns:p14="http://schemas.microsoft.com/office/powerpoint/2010/main" val="40135257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ld">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5" name="Inhaltsplatzhalter 4"/>
          <p:cNvSpPr>
            <a:spLocks noGrp="1"/>
          </p:cNvSpPr>
          <p:nvPr>
            <p:ph sz="quarter" idx="10"/>
          </p:nvPr>
        </p:nvSpPr>
        <p:spPr>
          <a:xfrm>
            <a:off x="179388" y="1628776"/>
            <a:ext cx="8785225" cy="4895850"/>
          </a:xfrm>
          <a:prstGeom prst="rect">
            <a:avLst/>
          </a:prstGeom>
        </p:spPr>
        <p:txBody>
          <a:bodyPr lIns="0" tIns="0" rIns="0" bIns="0"/>
          <a:lstStyle>
            <a:lvl1pPr marL="0" indent="0">
              <a:buNone/>
              <a:defRPr sz="1600"/>
            </a:lvl1pPr>
          </a:lstStyle>
          <a:p>
            <a:pPr lvl="0"/>
            <a:r>
              <a:rPr lang="de-DE"/>
              <a:t>Textmasterformat bearbeiten</a:t>
            </a:r>
          </a:p>
        </p:txBody>
      </p:sp>
    </p:spTree>
    <p:extLst>
      <p:ext uri="{BB962C8B-B14F-4D97-AF65-F5344CB8AC3E}">
        <p14:creationId xmlns:p14="http://schemas.microsoft.com/office/powerpoint/2010/main" val="12664100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li + Inhalt re">
    <p:spTree>
      <p:nvGrpSpPr>
        <p:cNvPr id="1" name=""/>
        <p:cNvGrpSpPr/>
        <p:nvPr/>
      </p:nvGrpSpPr>
      <p:grpSpPr>
        <a:xfrm>
          <a:off x="0" y="0"/>
          <a:ext cx="0" cy="0"/>
          <a:chOff x="0" y="0"/>
          <a:chExt cx="0" cy="0"/>
        </a:xfrm>
      </p:grpSpPr>
      <p:pic>
        <p:nvPicPr>
          <p:cNvPr id="6"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5" name="Textplatzhalter 4"/>
          <p:cNvSpPr>
            <a:spLocks noGrp="1"/>
          </p:cNvSpPr>
          <p:nvPr>
            <p:ph type="body" sz="quarter" idx="10"/>
          </p:nvPr>
        </p:nvSpPr>
        <p:spPr>
          <a:xfrm>
            <a:off x="179388" y="4149725"/>
            <a:ext cx="4248150" cy="2376488"/>
          </a:xfrm>
          <a:prstGeom prst="rect">
            <a:avLst/>
          </a:prstGeom>
        </p:spPr>
        <p:txBody>
          <a:bodyPr lIns="0" tIns="0" rIns="0" bIns="0"/>
          <a:lstStyle>
            <a:lvl1pPr marL="0" indent="0">
              <a:buFontTx/>
              <a:buNone/>
              <a:defRPr sz="1600">
                <a:latin typeface="+mn-lt"/>
              </a:defRPr>
            </a:lvl1pPr>
          </a:lstStyle>
          <a:p>
            <a:pPr lvl="0"/>
            <a:r>
              <a:rPr lang="de-DE"/>
              <a:t>Textmasterformat bearbeiten</a:t>
            </a:r>
          </a:p>
        </p:txBody>
      </p:sp>
      <p:sp>
        <p:nvSpPr>
          <p:cNvPr id="4" name="Inhaltsplatzhalter 3"/>
          <p:cNvSpPr>
            <a:spLocks noGrp="1"/>
          </p:cNvSpPr>
          <p:nvPr>
            <p:ph sz="quarter" idx="11"/>
          </p:nvPr>
        </p:nvSpPr>
        <p:spPr>
          <a:xfrm>
            <a:off x="4716463" y="1628776"/>
            <a:ext cx="4248150" cy="4895850"/>
          </a:xfrm>
          <a:prstGeom prst="rect">
            <a:avLst/>
          </a:prstGeom>
        </p:spPr>
        <p:txBody>
          <a:bodyPr lIns="0" tIns="0" rIns="0" bIns="0"/>
          <a:lstStyle>
            <a:lvl1pPr marL="0" indent="0">
              <a:buNone/>
              <a:defRPr sz="1600"/>
            </a:lvl1pPr>
          </a:lstStyle>
          <a:p>
            <a:pPr lvl="0"/>
            <a:r>
              <a:rPr lang="de-DE"/>
              <a:t>Textmasterformat bearbeiten</a:t>
            </a:r>
          </a:p>
        </p:txBody>
      </p:sp>
      <p:sp>
        <p:nvSpPr>
          <p:cNvPr id="8" name="Inhaltsplatzhalter 2"/>
          <p:cNvSpPr>
            <a:spLocks noGrp="1"/>
          </p:cNvSpPr>
          <p:nvPr>
            <p:ph idx="1"/>
          </p:nvPr>
        </p:nvSpPr>
        <p:spPr>
          <a:xfrm>
            <a:off x="179512" y="1628800"/>
            <a:ext cx="4248026" cy="2376463"/>
          </a:xfrm>
          <a:prstGeom prst="rect">
            <a:avLst/>
          </a:prstGeom>
        </p:spPr>
        <p:txBody>
          <a:bodyPr lIns="0" tIns="0" rIns="0" bIns="0"/>
          <a:lstStyle>
            <a:lvl1pPr>
              <a:spcBef>
                <a:spcPts val="0"/>
              </a:spcBef>
              <a:spcAft>
                <a:spcPts val="600"/>
              </a:spcAft>
              <a:buNone/>
              <a:defRPr sz="1600" b="0">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Char char="-"/>
              <a:defRPr sz="1600" b="0">
                <a:latin typeface="Verdana" pitchFamily="34" charset="0"/>
              </a:defRPr>
            </a:lvl3pPr>
            <a:lvl4pPr marL="896938" indent="-361950">
              <a:spcBef>
                <a:spcPts val="0"/>
              </a:spcBef>
              <a:spcAft>
                <a:spcPts val="600"/>
              </a:spcAft>
              <a:buFont typeface="Symbol" pitchFamily="18" charset="2"/>
              <a:buChar char="-"/>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a:p>
            <a:pPr lvl="1"/>
            <a:r>
              <a:rPr lang="de-DE"/>
              <a:t>Zweite Ebene</a:t>
            </a:r>
          </a:p>
          <a:p>
            <a:pPr lvl="2"/>
            <a:r>
              <a:rPr lang="de-DE"/>
              <a:t>Dritte Ebene</a:t>
            </a:r>
          </a:p>
        </p:txBody>
      </p:sp>
    </p:spTree>
    <p:extLst>
      <p:ext uri="{BB962C8B-B14F-4D97-AF65-F5344CB8AC3E}">
        <p14:creationId xmlns:p14="http://schemas.microsoft.com/office/powerpoint/2010/main" val="1604728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halt li +Text re">
    <p:spTree>
      <p:nvGrpSpPr>
        <p:cNvPr id="1" name=""/>
        <p:cNvGrpSpPr/>
        <p:nvPr/>
      </p:nvGrpSpPr>
      <p:grpSpPr>
        <a:xfrm>
          <a:off x="0" y="0"/>
          <a:ext cx="0" cy="0"/>
          <a:chOff x="0" y="0"/>
          <a:chExt cx="0" cy="0"/>
        </a:xfrm>
      </p:grpSpPr>
      <p:pic>
        <p:nvPicPr>
          <p:cNvPr id="8"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6" name="Inhaltsplatzhalter 3"/>
          <p:cNvSpPr>
            <a:spLocks noGrp="1"/>
          </p:cNvSpPr>
          <p:nvPr>
            <p:ph sz="quarter" idx="11"/>
          </p:nvPr>
        </p:nvSpPr>
        <p:spPr>
          <a:xfrm>
            <a:off x="179834" y="1628776"/>
            <a:ext cx="4248150" cy="4895850"/>
          </a:xfrm>
          <a:prstGeom prst="rect">
            <a:avLst/>
          </a:prstGeom>
        </p:spPr>
        <p:txBody>
          <a:bodyPr lIns="0" tIns="0" rIns="0" bIns="0"/>
          <a:lstStyle>
            <a:lvl1pPr marL="0" indent="0">
              <a:buNone/>
              <a:defRPr sz="1600"/>
            </a:lvl1pPr>
          </a:lstStyle>
          <a:p>
            <a:pPr lvl="0"/>
            <a:r>
              <a:rPr lang="de-DE"/>
              <a:t>Textmasterformat bearbeiten</a:t>
            </a:r>
          </a:p>
        </p:txBody>
      </p:sp>
      <p:sp>
        <p:nvSpPr>
          <p:cNvPr id="7" name="Textplatzhalter 4"/>
          <p:cNvSpPr>
            <a:spLocks noGrp="1"/>
          </p:cNvSpPr>
          <p:nvPr>
            <p:ph type="body" sz="quarter" idx="10"/>
          </p:nvPr>
        </p:nvSpPr>
        <p:spPr>
          <a:xfrm>
            <a:off x="4716338" y="4149725"/>
            <a:ext cx="4248150" cy="2376488"/>
          </a:xfrm>
          <a:prstGeom prst="rect">
            <a:avLst/>
          </a:prstGeom>
        </p:spPr>
        <p:txBody>
          <a:bodyPr lIns="0" tIns="0" rIns="0" bIns="0"/>
          <a:lstStyle>
            <a:lvl1pPr marL="0" indent="0">
              <a:buFontTx/>
              <a:buNone/>
              <a:defRPr sz="1600">
                <a:latin typeface="+mn-lt"/>
              </a:defRPr>
            </a:lvl1pPr>
          </a:lstStyle>
          <a:p>
            <a:pPr lvl="0"/>
            <a:r>
              <a:rPr lang="de-DE"/>
              <a:t>Textmasterformat bearbeiten</a:t>
            </a:r>
          </a:p>
        </p:txBody>
      </p:sp>
      <p:sp>
        <p:nvSpPr>
          <p:cNvPr id="9" name="Inhaltsplatzhalter 2"/>
          <p:cNvSpPr>
            <a:spLocks noGrp="1"/>
          </p:cNvSpPr>
          <p:nvPr>
            <p:ph idx="1"/>
          </p:nvPr>
        </p:nvSpPr>
        <p:spPr>
          <a:xfrm>
            <a:off x="4716462" y="1628800"/>
            <a:ext cx="4248026" cy="2376463"/>
          </a:xfrm>
          <a:prstGeom prst="rect">
            <a:avLst/>
          </a:prstGeom>
        </p:spPr>
        <p:txBody>
          <a:bodyPr lIns="0" tIns="0" rIns="0" bIns="0"/>
          <a:lstStyle>
            <a:lvl1pPr>
              <a:spcBef>
                <a:spcPts val="0"/>
              </a:spcBef>
              <a:spcAft>
                <a:spcPts val="600"/>
              </a:spcAft>
              <a:buNone/>
              <a:defRPr sz="1600" b="0">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Char char="-"/>
              <a:defRPr sz="1600" b="0">
                <a:latin typeface="Verdana" pitchFamily="34" charset="0"/>
              </a:defRPr>
            </a:lvl3pPr>
            <a:lvl4pPr marL="896938" indent="-361950">
              <a:spcBef>
                <a:spcPts val="0"/>
              </a:spcBef>
              <a:spcAft>
                <a:spcPts val="600"/>
              </a:spcAft>
              <a:buFont typeface="Symbol" pitchFamily="18" charset="2"/>
              <a:buChar char="-"/>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a:p>
            <a:pPr lvl="1"/>
            <a:r>
              <a:rPr lang="de-DE"/>
              <a:t>Zweite Ebene</a:t>
            </a:r>
          </a:p>
          <a:p>
            <a:pPr lvl="2"/>
            <a:r>
              <a:rPr lang="de-DE"/>
              <a:t>Dritte Ebene</a:t>
            </a:r>
          </a:p>
        </p:txBody>
      </p:sp>
    </p:spTree>
    <p:extLst>
      <p:ext uri="{BB962C8B-B14F-4D97-AF65-F5344CB8AC3E}">
        <p14:creationId xmlns:p14="http://schemas.microsoft.com/office/powerpoint/2010/main" val="31735601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pic>
        <p:nvPicPr>
          <p:cNvPr id="2"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Rectangle 6"/>
          <p:cNvSpPr txBox="1">
            <a:spLocks noChangeArrowheads="1"/>
          </p:cNvSpPr>
          <p:nvPr userDrawn="1"/>
        </p:nvSpPr>
        <p:spPr>
          <a:xfrm>
            <a:off x="0" y="477838"/>
            <a:ext cx="9144000" cy="287337"/>
          </a:xfrm>
          <a:prstGeom prst="rect">
            <a:avLst/>
          </a:prstGeom>
          <a:noFill/>
        </p:spPr>
        <p:txBody>
          <a:bodyPr anchor="ctr"/>
          <a:lstStyle/>
          <a:p>
            <a:pPr algn="ctr" fontAlgn="base">
              <a:lnSpc>
                <a:spcPct val="80000"/>
              </a:lnSpc>
              <a:spcBef>
                <a:spcPct val="20000"/>
              </a:spcBef>
              <a:spcAft>
                <a:spcPct val="0"/>
              </a:spcAft>
              <a:buFontTx/>
              <a:buChar char="•"/>
              <a:defRPr/>
            </a:pPr>
            <a:endParaRPr lang="de-DE" sz="1000" kern="0" dirty="0">
              <a:solidFill>
                <a:srgbClr val="FFFFFF"/>
              </a:solidFill>
              <a:latin typeface="Arial" charset="0"/>
            </a:endParaRPr>
          </a:p>
        </p:txBody>
      </p:sp>
    </p:spTree>
    <p:extLst>
      <p:ext uri="{BB962C8B-B14F-4D97-AF65-F5344CB8AC3E}">
        <p14:creationId xmlns:p14="http://schemas.microsoft.com/office/powerpoint/2010/main" val="12482384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632412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fourObj" preserve="1">
  <p:cSld name="Titel und vier Inhalte">
    <p:spTree>
      <p:nvGrpSpPr>
        <p:cNvPr id="1" name=""/>
        <p:cNvGrpSpPr/>
        <p:nvPr/>
      </p:nvGrpSpPr>
      <p:grpSpPr>
        <a:xfrm>
          <a:off x="0" y="0"/>
          <a:ext cx="0" cy="0"/>
          <a:chOff x="0" y="0"/>
          <a:chExt cx="0" cy="0"/>
        </a:xfrm>
      </p:grpSpPr>
      <p:sp>
        <p:nvSpPr>
          <p:cNvPr id="2" name="Titel 1"/>
          <p:cNvSpPr>
            <a:spLocks noGrp="1"/>
          </p:cNvSpPr>
          <p:nvPr>
            <p:ph type="title" sz="quarter"/>
          </p:nvPr>
        </p:nvSpPr>
        <p:spPr>
          <a:xfrm>
            <a:off x="457200" y="274638"/>
            <a:ext cx="8229600" cy="1143000"/>
          </a:xfrm>
          <a:prstGeom prst="rect">
            <a:avLst/>
          </a:prstGeom>
        </p:spPr>
        <p:txBody>
          <a:bodyPr/>
          <a:lstStyle/>
          <a:p>
            <a:r>
              <a:rPr lang="de-DE"/>
              <a:t>Titelmasterformat durch Klicken bearbeiten</a:t>
            </a:r>
          </a:p>
        </p:txBody>
      </p:sp>
      <p:sp>
        <p:nvSpPr>
          <p:cNvPr id="3" name="Inhaltsplatzhalter 2"/>
          <p:cNvSpPr>
            <a:spLocks noGrp="1"/>
          </p:cNvSpPr>
          <p:nvPr>
            <p:ph sz="quarter" idx="1"/>
          </p:nvPr>
        </p:nvSpPr>
        <p:spPr>
          <a:xfrm>
            <a:off x="457200" y="1600200"/>
            <a:ext cx="4038600" cy="2185988"/>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quarter" idx="2"/>
          </p:nvPr>
        </p:nvSpPr>
        <p:spPr>
          <a:xfrm>
            <a:off x="4648200" y="1600200"/>
            <a:ext cx="4038600" cy="2185988"/>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4"/>
          <p:cNvSpPr>
            <a:spLocks noGrp="1"/>
          </p:cNvSpPr>
          <p:nvPr>
            <p:ph sz="quarter" idx="3"/>
          </p:nvPr>
        </p:nvSpPr>
        <p:spPr>
          <a:xfrm>
            <a:off x="457200" y="3938588"/>
            <a:ext cx="4038600" cy="2187575"/>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Inhaltsplatzhalter 5"/>
          <p:cNvSpPr>
            <a:spLocks noGrp="1"/>
          </p:cNvSpPr>
          <p:nvPr>
            <p:ph sz="quarter" idx="4"/>
          </p:nvPr>
        </p:nvSpPr>
        <p:spPr>
          <a:xfrm>
            <a:off x="4648200" y="3938588"/>
            <a:ext cx="4038600" cy="2187575"/>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3669517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4" name="Titel 1"/>
          <p:cNvSpPr>
            <a:spLocks noGrp="1"/>
          </p:cNvSpPr>
          <p:nvPr>
            <p:ph type="title"/>
          </p:nvPr>
        </p:nvSpPr>
        <p:spPr>
          <a:xfrm>
            <a:off x="514350" y="1703388"/>
            <a:ext cx="8229600" cy="1143000"/>
          </a:xfrm>
          <a:prstGeom prst="rect">
            <a:avLst/>
          </a:prstGeom>
        </p:spPr>
        <p:txBody>
          <a:bodyPr/>
          <a:lstStyle/>
          <a:p>
            <a:r>
              <a:rPr lang="de-DE"/>
              <a:t>Titelmasterformat durch Klicken bearbeiten</a:t>
            </a:r>
          </a:p>
        </p:txBody>
      </p:sp>
    </p:spTree>
    <p:extLst>
      <p:ext uri="{BB962C8B-B14F-4D97-AF65-F5344CB8AC3E}">
        <p14:creationId xmlns:p14="http://schemas.microsoft.com/office/powerpoint/2010/main" val="1046350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Nur Titel">
    <p:spTree>
      <p:nvGrpSpPr>
        <p:cNvPr id="1" name=""/>
        <p:cNvGrpSpPr/>
        <p:nvPr/>
      </p:nvGrpSpPr>
      <p:grpSpPr>
        <a:xfrm>
          <a:off x="0" y="0"/>
          <a:ext cx="0" cy="0"/>
          <a:chOff x="0" y="0"/>
          <a:chExt cx="0" cy="0"/>
        </a:xfrm>
      </p:grpSpPr>
      <p:sp>
        <p:nvSpPr>
          <p:cNvPr id="4" name="Titel 1"/>
          <p:cNvSpPr>
            <a:spLocks noGrp="1"/>
          </p:cNvSpPr>
          <p:nvPr>
            <p:ph type="title"/>
          </p:nvPr>
        </p:nvSpPr>
        <p:spPr>
          <a:xfrm>
            <a:off x="514350" y="1703388"/>
            <a:ext cx="8229600" cy="1143000"/>
          </a:xfrm>
          <a:prstGeom prst="rect">
            <a:avLst/>
          </a:prstGeom>
        </p:spPr>
        <p:txBody>
          <a:bodyPr/>
          <a:lstStyle/>
          <a:p>
            <a:r>
              <a:rPr lang="de-DE"/>
              <a:t>Titelmasterformat durch Klicken bearbeiten</a:t>
            </a:r>
          </a:p>
        </p:txBody>
      </p:sp>
    </p:spTree>
    <p:extLst>
      <p:ext uri="{BB962C8B-B14F-4D97-AF65-F5344CB8AC3E}">
        <p14:creationId xmlns:p14="http://schemas.microsoft.com/office/powerpoint/2010/main" val="1903289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Nur Titel">
    <p:spTree>
      <p:nvGrpSpPr>
        <p:cNvPr id="1" name=""/>
        <p:cNvGrpSpPr/>
        <p:nvPr/>
      </p:nvGrpSpPr>
      <p:grpSpPr>
        <a:xfrm>
          <a:off x="0" y="0"/>
          <a:ext cx="0" cy="0"/>
          <a:chOff x="0" y="0"/>
          <a:chExt cx="0" cy="0"/>
        </a:xfrm>
      </p:grpSpPr>
      <p:sp>
        <p:nvSpPr>
          <p:cNvPr id="4" name="Titel 1"/>
          <p:cNvSpPr>
            <a:spLocks noGrp="1"/>
          </p:cNvSpPr>
          <p:nvPr>
            <p:ph type="title"/>
          </p:nvPr>
        </p:nvSpPr>
        <p:spPr>
          <a:xfrm>
            <a:off x="514350" y="1703388"/>
            <a:ext cx="8229600" cy="1143000"/>
          </a:xfrm>
          <a:prstGeom prst="rect">
            <a:avLst/>
          </a:prstGeom>
        </p:spPr>
        <p:txBody>
          <a:bodyPr/>
          <a:lstStyle/>
          <a:p>
            <a:r>
              <a:rPr lang="de-DE"/>
              <a:t>Titelmasterformat durch Klicken bearbeiten</a:t>
            </a:r>
          </a:p>
        </p:txBody>
      </p:sp>
    </p:spTree>
    <p:extLst>
      <p:ext uri="{BB962C8B-B14F-4D97-AF65-F5344CB8AC3E}">
        <p14:creationId xmlns:p14="http://schemas.microsoft.com/office/powerpoint/2010/main" val="35231760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3" name="Bild 5" descr="MarkgrafenpalaisMM1000.jpg"/>
          <p:cNvPicPr>
            <a:picLocks noChangeAspect="1"/>
          </p:cNvPicPr>
          <p:nvPr userDrawn="1"/>
        </p:nvPicPr>
        <p:blipFill>
          <a:blip r:embed="rId2" cstate="print"/>
          <a:srcRect t="5640" b="21536"/>
          <a:stretch>
            <a:fillRect/>
          </a:stretch>
        </p:blipFill>
        <p:spPr bwMode="auto">
          <a:xfrm>
            <a:off x="0" y="1125538"/>
            <a:ext cx="9144000" cy="5233987"/>
          </a:xfrm>
          <a:prstGeom prst="rect">
            <a:avLst/>
          </a:prstGeom>
          <a:noFill/>
          <a:ln w="9525">
            <a:noFill/>
            <a:miter lim="800000"/>
            <a:headEnd/>
            <a:tailEnd/>
          </a:ln>
        </p:spPr>
      </p:pic>
      <p:sp>
        <p:nvSpPr>
          <p:cNvPr id="12" name="Titel 1"/>
          <p:cNvSpPr>
            <a:spLocks noGrp="1"/>
          </p:cNvSpPr>
          <p:nvPr>
            <p:ph type="title"/>
          </p:nvPr>
        </p:nvSpPr>
        <p:spPr>
          <a:xfrm>
            <a:off x="0" y="5085184"/>
            <a:ext cx="9144000" cy="648000"/>
          </a:xfrm>
          <a:prstGeom prst="rect">
            <a:avLst/>
          </a:prstGeom>
          <a:solidFill>
            <a:srgbClr val="FFFFFF">
              <a:alpha val="74902"/>
            </a:srgbClr>
          </a:solidFill>
        </p:spPr>
        <p:txBody>
          <a:bodyPr lIns="0" tIns="0" rIns="0" bIns="0" anchor="ctr" anchorCtr="0"/>
          <a:lstStyle>
            <a:lvl1pPr marL="0" algn="ctr" defTabSz="914400" rtl="0" eaLnBrk="1" latinLnBrk="0" hangingPunct="1">
              <a:defRPr lang="de-DE" sz="1800" b="1" kern="0" dirty="0">
                <a:solidFill>
                  <a:srgbClr val="004688"/>
                </a:solidFill>
                <a:latin typeface="Verdana" pitchFamily="34" charset="0"/>
                <a:ea typeface="+mj-ea"/>
                <a:cs typeface="+mj-cs"/>
              </a:defRPr>
            </a:lvl1pPr>
          </a:lstStyle>
          <a:p>
            <a:r>
              <a:rPr lang="de-DE"/>
              <a:t>Titelmasterformat durch Klicken bearbeiten</a:t>
            </a:r>
            <a:endParaRPr lang="de-DE" dirty="0"/>
          </a:p>
        </p:txBody>
      </p:sp>
    </p:spTree>
    <p:extLst>
      <p:ext uri="{BB962C8B-B14F-4D97-AF65-F5344CB8AC3E}">
        <p14:creationId xmlns:p14="http://schemas.microsoft.com/office/powerpoint/2010/main" val="32717171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3"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4" name="Rectangle 6"/>
          <p:cNvSpPr txBox="1">
            <a:spLocks noChangeArrowheads="1"/>
          </p:cNvSpPr>
          <p:nvPr userDrawn="1"/>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endParaRPr lang="de-DE" sz="1000" dirty="0">
              <a:solidFill>
                <a:srgbClr val="FFFFFF"/>
              </a:solidFill>
            </a:endParaRPr>
          </a:p>
        </p:txBody>
      </p:sp>
      <p:sp>
        <p:nvSpPr>
          <p:cNvPr id="5" name="Inhaltsplatzhalter 2"/>
          <p:cNvSpPr>
            <a:spLocks noGrp="1"/>
          </p:cNvSpPr>
          <p:nvPr>
            <p:ph idx="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Tree>
    <p:extLst>
      <p:ext uri="{BB962C8B-B14F-4D97-AF65-F5344CB8AC3E}">
        <p14:creationId xmlns:p14="http://schemas.microsoft.com/office/powerpoint/2010/main" val="21267026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ufzählungspunkte">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Inhaltsplatzhalter 2"/>
          <p:cNvSpPr>
            <a:spLocks noGrp="1"/>
          </p:cNvSpPr>
          <p:nvPr>
            <p:ph idx="1"/>
          </p:nvPr>
        </p:nvSpPr>
        <p:spPr>
          <a:xfrm>
            <a:off x="179512" y="1628800"/>
            <a:ext cx="8785100" cy="4895825"/>
          </a:xfrm>
          <a:prstGeom prst="rect">
            <a:avLst/>
          </a:prstGeom>
        </p:spPr>
        <p:txBody>
          <a:bodyPr lIns="0" tIns="0" rIns="0" bIns="0"/>
          <a:lstStyle>
            <a:lvl1pPr>
              <a:spcBef>
                <a:spcPts val="0"/>
              </a:spcBef>
              <a:spcAft>
                <a:spcPts val="600"/>
              </a:spcAft>
              <a:buNone/>
              <a:defRPr sz="1600" b="0">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Char char="-"/>
              <a:defRPr sz="1600" b="0">
                <a:latin typeface="Verdana" pitchFamily="34" charset="0"/>
              </a:defRPr>
            </a:lvl3pPr>
            <a:lvl4pPr marL="896938" indent="-361950">
              <a:spcBef>
                <a:spcPts val="0"/>
              </a:spcBef>
              <a:spcAft>
                <a:spcPts val="600"/>
              </a:spcAft>
              <a:buFont typeface="Symbol" pitchFamily="18" charset="2"/>
              <a:buChar char="-"/>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a:p>
            <a:pPr lvl="1"/>
            <a:r>
              <a:rPr lang="de-DE"/>
              <a:t>Zweite Ebene</a:t>
            </a:r>
          </a:p>
          <a:p>
            <a:pPr lvl="2"/>
            <a:r>
              <a:rPr lang="de-DE"/>
              <a:t>Dritte Ebene</a:t>
            </a:r>
          </a:p>
        </p:txBody>
      </p:sp>
      <p:sp>
        <p:nvSpPr>
          <p:cNvPr id="7" name="Inhaltsplatzhalter 2"/>
          <p:cNvSpPr>
            <a:spLocks noGrp="1"/>
          </p:cNvSpPr>
          <p:nvPr>
            <p:ph idx="1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Tree>
    <p:extLst>
      <p:ext uri="{BB962C8B-B14F-4D97-AF65-F5344CB8AC3E}">
        <p14:creationId xmlns:p14="http://schemas.microsoft.com/office/powerpoint/2010/main" val="9132766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elle">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Inhaltsplatzhalter 2"/>
          <p:cNvSpPr>
            <a:spLocks noGrp="1"/>
          </p:cNvSpPr>
          <p:nvPr>
            <p:ph idx="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
        <p:nvSpPr>
          <p:cNvPr id="5" name="Tabellenplatzhalter 4"/>
          <p:cNvSpPr>
            <a:spLocks noGrp="1"/>
          </p:cNvSpPr>
          <p:nvPr>
            <p:ph type="tbl" sz="quarter" idx="14"/>
          </p:nvPr>
        </p:nvSpPr>
        <p:spPr>
          <a:xfrm>
            <a:off x="179388" y="1628800"/>
            <a:ext cx="8713092" cy="4895825"/>
          </a:xfrm>
          <a:prstGeom prst="rect">
            <a:avLst/>
          </a:prstGeom>
          <a:noFill/>
          <a:ln w="6350">
            <a:solidFill>
              <a:schemeClr val="bg1">
                <a:lumMod val="50000"/>
              </a:schemeClr>
            </a:solidFill>
          </a:ln>
          <a:effectLst/>
        </p:spPr>
        <p:txBody>
          <a:bodyPr lIns="36000" tIns="36000" rIns="36000" bIns="36000"/>
          <a:lstStyle>
            <a:lvl1pPr>
              <a:buNone/>
              <a:defRPr sz="1600">
                <a:ln w="0">
                  <a:solidFill>
                    <a:schemeClr val="tx1"/>
                  </a:solidFill>
                </a:ln>
                <a:effectLst/>
                <a:latin typeface="Verdana" pitchFamily="34" charset="0"/>
              </a:defRPr>
            </a:lvl1pPr>
          </a:lstStyle>
          <a:p>
            <a:pPr lvl="0"/>
            <a:r>
              <a:rPr lang="de-DE" noProof="0"/>
              <a:t>Tabelle durch Klicken auf Symbol hinzufügen</a:t>
            </a:r>
            <a:endParaRPr lang="de-DE" noProof="0" dirty="0"/>
          </a:p>
        </p:txBody>
      </p:sp>
    </p:spTree>
    <p:extLst>
      <p:ext uri="{BB962C8B-B14F-4D97-AF65-F5344CB8AC3E}">
        <p14:creationId xmlns:p14="http://schemas.microsoft.com/office/powerpoint/2010/main" val="27083995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Inhaltsplatzhalter 2"/>
          <p:cNvSpPr>
            <a:spLocks noGrp="1"/>
          </p:cNvSpPr>
          <p:nvPr>
            <p:ph idx="1"/>
          </p:nvPr>
        </p:nvSpPr>
        <p:spPr>
          <a:xfrm>
            <a:off x="179388" y="1052736"/>
            <a:ext cx="8785100" cy="463639"/>
          </a:xfrm>
          <a:prstGeom prst="rect">
            <a:avLst/>
          </a:prstGeom>
        </p:spPr>
        <p:txBody>
          <a:bodyPr lIns="0" tIns="0" rIns="0" bIns="0"/>
          <a:lstStyle>
            <a:lvl1pPr>
              <a:spcBef>
                <a:spcPts val="0"/>
              </a:spcBef>
              <a:spcAft>
                <a:spcPts val="600"/>
              </a:spcAft>
              <a:buNone/>
              <a:defRPr sz="2000" b="1">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None/>
              <a:defRPr sz="1600" b="0">
                <a:latin typeface="Verdana" pitchFamily="34" charset="0"/>
              </a:defRPr>
            </a:lvl3pPr>
            <a:lvl4pPr>
              <a:spcBef>
                <a:spcPts val="0"/>
              </a:spcBef>
              <a:spcAft>
                <a:spcPts val="600"/>
              </a:spcAft>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p:txBody>
      </p:sp>
      <p:sp>
        <p:nvSpPr>
          <p:cNvPr id="8" name="Diagrammplatzhalter 7"/>
          <p:cNvSpPr>
            <a:spLocks noGrp="1"/>
          </p:cNvSpPr>
          <p:nvPr>
            <p:ph type="chart" sz="quarter" idx="10"/>
          </p:nvPr>
        </p:nvSpPr>
        <p:spPr>
          <a:xfrm>
            <a:off x="179388" y="1628775"/>
            <a:ext cx="8785225" cy="4824413"/>
          </a:xfrm>
          <a:prstGeom prst="rect">
            <a:avLst/>
          </a:prstGeom>
        </p:spPr>
        <p:txBody>
          <a:bodyPr/>
          <a:lstStyle/>
          <a:p>
            <a:pPr lvl="0"/>
            <a:r>
              <a:rPr lang="de-DE" noProof="0"/>
              <a:t>Diagramm durch Klicken auf Symbol hinzufügen</a:t>
            </a:r>
            <a:endParaRPr lang="de-DE" noProof="0" dirty="0"/>
          </a:p>
        </p:txBody>
      </p:sp>
    </p:spTree>
    <p:extLst>
      <p:ext uri="{BB962C8B-B14F-4D97-AF65-F5344CB8AC3E}">
        <p14:creationId xmlns:p14="http://schemas.microsoft.com/office/powerpoint/2010/main" val="26125350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nhalt o +Text u">
    <p:spTree>
      <p:nvGrpSpPr>
        <p:cNvPr id="1" name=""/>
        <p:cNvGrpSpPr/>
        <p:nvPr/>
      </p:nvGrpSpPr>
      <p:grpSpPr>
        <a:xfrm>
          <a:off x="0" y="0"/>
          <a:ext cx="0" cy="0"/>
          <a:chOff x="0" y="0"/>
          <a:chExt cx="0" cy="0"/>
        </a:xfrm>
      </p:grpSpPr>
      <p:pic>
        <p:nvPicPr>
          <p:cNvPr id="7"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6" name="Textplatzhalter 5"/>
          <p:cNvSpPr>
            <a:spLocks noGrp="1"/>
          </p:cNvSpPr>
          <p:nvPr>
            <p:ph type="body" sz="quarter" idx="11"/>
          </p:nvPr>
        </p:nvSpPr>
        <p:spPr>
          <a:xfrm>
            <a:off x="187325" y="4149726"/>
            <a:ext cx="8777288" cy="2374900"/>
          </a:xfrm>
          <a:prstGeom prst="rect">
            <a:avLst/>
          </a:prstGeom>
        </p:spPr>
        <p:txBody>
          <a:bodyPr lIns="0" tIns="0" rIns="0" bIns="0"/>
          <a:lstStyle>
            <a:lvl1pPr marL="0" indent="0">
              <a:buNone/>
              <a:defRPr sz="1600" baseline="0"/>
            </a:lvl1pPr>
          </a:lstStyle>
          <a:p>
            <a:pPr lvl="0"/>
            <a:r>
              <a:rPr lang="de-DE"/>
              <a:t>Textmasterformat bearbeiten</a:t>
            </a:r>
          </a:p>
        </p:txBody>
      </p:sp>
      <p:sp>
        <p:nvSpPr>
          <p:cNvPr id="5" name="Inhaltsplatzhalter 4"/>
          <p:cNvSpPr>
            <a:spLocks noGrp="1"/>
          </p:cNvSpPr>
          <p:nvPr>
            <p:ph sz="quarter" idx="12"/>
          </p:nvPr>
        </p:nvSpPr>
        <p:spPr>
          <a:xfrm>
            <a:off x="179388" y="1628775"/>
            <a:ext cx="8785225" cy="2376488"/>
          </a:xfrm>
          <a:prstGeom prst="rect">
            <a:avLst/>
          </a:prstGeom>
        </p:spPr>
        <p:txBody>
          <a:bodyPr lIns="0" tIns="0" rIns="0" bIns="0"/>
          <a:lstStyle>
            <a:lvl1pPr marL="0" indent="0">
              <a:buNone/>
              <a:defRPr sz="1600"/>
            </a:lvl1pPr>
          </a:lstStyle>
          <a:p>
            <a:pPr lvl="0"/>
            <a:r>
              <a:rPr lang="de-DE"/>
              <a:t>Textmasterformat bearbeiten</a:t>
            </a:r>
          </a:p>
        </p:txBody>
      </p:sp>
    </p:spTree>
    <p:extLst>
      <p:ext uri="{BB962C8B-B14F-4D97-AF65-F5344CB8AC3E}">
        <p14:creationId xmlns:p14="http://schemas.microsoft.com/office/powerpoint/2010/main" val="9082518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o + Inhalt u">
    <p:spTree>
      <p:nvGrpSpPr>
        <p:cNvPr id="1" name=""/>
        <p:cNvGrpSpPr/>
        <p:nvPr/>
      </p:nvGrpSpPr>
      <p:grpSpPr>
        <a:xfrm>
          <a:off x="0" y="0"/>
          <a:ext cx="0" cy="0"/>
          <a:chOff x="0" y="0"/>
          <a:chExt cx="0" cy="0"/>
        </a:xfrm>
      </p:grpSpPr>
      <p:pic>
        <p:nvPicPr>
          <p:cNvPr id="5"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6" name="Textplatzhalter 5"/>
          <p:cNvSpPr>
            <a:spLocks noGrp="1"/>
          </p:cNvSpPr>
          <p:nvPr>
            <p:ph type="body" sz="quarter" idx="11"/>
          </p:nvPr>
        </p:nvSpPr>
        <p:spPr>
          <a:xfrm>
            <a:off x="187325" y="1629570"/>
            <a:ext cx="8777288" cy="2375694"/>
          </a:xfrm>
          <a:prstGeom prst="rect">
            <a:avLst/>
          </a:prstGeom>
        </p:spPr>
        <p:txBody>
          <a:bodyPr lIns="0" tIns="0" rIns="0" bIns="0"/>
          <a:lstStyle>
            <a:lvl1pPr marL="0" indent="0">
              <a:buNone/>
              <a:defRPr sz="1600" baseline="0"/>
            </a:lvl1pPr>
          </a:lstStyle>
          <a:p>
            <a:pPr lvl="0"/>
            <a:r>
              <a:rPr lang="de-DE"/>
              <a:t>Textmasterformat bearbeiten</a:t>
            </a:r>
          </a:p>
        </p:txBody>
      </p:sp>
      <p:sp>
        <p:nvSpPr>
          <p:cNvPr id="7" name="Inhaltsplatzhalter 4"/>
          <p:cNvSpPr>
            <a:spLocks noGrp="1"/>
          </p:cNvSpPr>
          <p:nvPr>
            <p:ph sz="quarter" idx="12"/>
          </p:nvPr>
        </p:nvSpPr>
        <p:spPr>
          <a:xfrm>
            <a:off x="179388" y="4149080"/>
            <a:ext cx="8785225" cy="2375545"/>
          </a:xfrm>
          <a:prstGeom prst="rect">
            <a:avLst/>
          </a:prstGeom>
        </p:spPr>
        <p:txBody>
          <a:bodyPr lIns="0" tIns="0" rIns="0" bIns="0"/>
          <a:lstStyle>
            <a:lvl1pPr marL="0" indent="0">
              <a:buNone/>
              <a:defRPr sz="1600">
                <a:latin typeface="+mn-lt"/>
              </a:defRPr>
            </a:lvl1pPr>
          </a:lstStyle>
          <a:p>
            <a:pPr lvl="0"/>
            <a:r>
              <a:rPr lang="de-DE"/>
              <a:t>Textmasterformat bearbeiten</a:t>
            </a:r>
          </a:p>
        </p:txBody>
      </p:sp>
    </p:spTree>
    <p:extLst>
      <p:ext uri="{BB962C8B-B14F-4D97-AF65-F5344CB8AC3E}">
        <p14:creationId xmlns:p14="http://schemas.microsoft.com/office/powerpoint/2010/main" val="21409505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ild">
    <p:spTree>
      <p:nvGrpSpPr>
        <p:cNvPr id="1" name=""/>
        <p:cNvGrpSpPr/>
        <p:nvPr/>
      </p:nvGrpSpPr>
      <p:grpSpPr>
        <a:xfrm>
          <a:off x="0" y="0"/>
          <a:ext cx="0" cy="0"/>
          <a:chOff x="0" y="0"/>
          <a:chExt cx="0" cy="0"/>
        </a:xfrm>
      </p:grpSpPr>
      <p:pic>
        <p:nvPicPr>
          <p:cNvPr id="4"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5" name="Inhaltsplatzhalter 4"/>
          <p:cNvSpPr>
            <a:spLocks noGrp="1"/>
          </p:cNvSpPr>
          <p:nvPr>
            <p:ph sz="quarter" idx="10"/>
          </p:nvPr>
        </p:nvSpPr>
        <p:spPr>
          <a:xfrm>
            <a:off x="179388" y="1628776"/>
            <a:ext cx="8785225" cy="4895850"/>
          </a:xfrm>
          <a:prstGeom prst="rect">
            <a:avLst/>
          </a:prstGeom>
        </p:spPr>
        <p:txBody>
          <a:bodyPr lIns="0" tIns="0" rIns="0" bIns="0"/>
          <a:lstStyle>
            <a:lvl1pPr marL="0" indent="0">
              <a:buNone/>
              <a:defRPr sz="1600"/>
            </a:lvl1pPr>
          </a:lstStyle>
          <a:p>
            <a:pPr lvl="0"/>
            <a:r>
              <a:rPr lang="de-DE"/>
              <a:t>Textmasterformat bearbeiten</a:t>
            </a:r>
          </a:p>
        </p:txBody>
      </p:sp>
    </p:spTree>
    <p:extLst>
      <p:ext uri="{BB962C8B-B14F-4D97-AF65-F5344CB8AC3E}">
        <p14:creationId xmlns:p14="http://schemas.microsoft.com/office/powerpoint/2010/main" val="28329513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li + Inhalt re">
    <p:spTree>
      <p:nvGrpSpPr>
        <p:cNvPr id="1" name=""/>
        <p:cNvGrpSpPr/>
        <p:nvPr/>
      </p:nvGrpSpPr>
      <p:grpSpPr>
        <a:xfrm>
          <a:off x="0" y="0"/>
          <a:ext cx="0" cy="0"/>
          <a:chOff x="0" y="0"/>
          <a:chExt cx="0" cy="0"/>
        </a:xfrm>
      </p:grpSpPr>
      <p:pic>
        <p:nvPicPr>
          <p:cNvPr id="6"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5" name="Textplatzhalter 4"/>
          <p:cNvSpPr>
            <a:spLocks noGrp="1"/>
          </p:cNvSpPr>
          <p:nvPr>
            <p:ph type="body" sz="quarter" idx="10"/>
          </p:nvPr>
        </p:nvSpPr>
        <p:spPr>
          <a:xfrm>
            <a:off x="179388" y="4149725"/>
            <a:ext cx="4248150" cy="2376488"/>
          </a:xfrm>
          <a:prstGeom prst="rect">
            <a:avLst/>
          </a:prstGeom>
        </p:spPr>
        <p:txBody>
          <a:bodyPr lIns="0" tIns="0" rIns="0" bIns="0"/>
          <a:lstStyle>
            <a:lvl1pPr marL="0" indent="0">
              <a:buFontTx/>
              <a:buNone/>
              <a:defRPr sz="1600">
                <a:latin typeface="+mn-lt"/>
              </a:defRPr>
            </a:lvl1pPr>
          </a:lstStyle>
          <a:p>
            <a:pPr lvl="0"/>
            <a:r>
              <a:rPr lang="de-DE"/>
              <a:t>Textmasterformat bearbeiten</a:t>
            </a:r>
          </a:p>
        </p:txBody>
      </p:sp>
      <p:sp>
        <p:nvSpPr>
          <p:cNvPr id="4" name="Inhaltsplatzhalter 3"/>
          <p:cNvSpPr>
            <a:spLocks noGrp="1"/>
          </p:cNvSpPr>
          <p:nvPr>
            <p:ph sz="quarter" idx="11"/>
          </p:nvPr>
        </p:nvSpPr>
        <p:spPr>
          <a:xfrm>
            <a:off x="4716463" y="1628776"/>
            <a:ext cx="4248150" cy="4895850"/>
          </a:xfrm>
          <a:prstGeom prst="rect">
            <a:avLst/>
          </a:prstGeom>
        </p:spPr>
        <p:txBody>
          <a:bodyPr lIns="0" tIns="0" rIns="0" bIns="0"/>
          <a:lstStyle>
            <a:lvl1pPr marL="0" indent="0">
              <a:buNone/>
              <a:defRPr sz="1600"/>
            </a:lvl1pPr>
          </a:lstStyle>
          <a:p>
            <a:pPr lvl="0"/>
            <a:r>
              <a:rPr lang="de-DE"/>
              <a:t>Textmasterformat bearbeiten</a:t>
            </a:r>
          </a:p>
        </p:txBody>
      </p:sp>
      <p:sp>
        <p:nvSpPr>
          <p:cNvPr id="8" name="Inhaltsplatzhalter 2"/>
          <p:cNvSpPr>
            <a:spLocks noGrp="1"/>
          </p:cNvSpPr>
          <p:nvPr>
            <p:ph idx="1"/>
          </p:nvPr>
        </p:nvSpPr>
        <p:spPr>
          <a:xfrm>
            <a:off x="179512" y="1628800"/>
            <a:ext cx="4248026" cy="2376463"/>
          </a:xfrm>
          <a:prstGeom prst="rect">
            <a:avLst/>
          </a:prstGeom>
        </p:spPr>
        <p:txBody>
          <a:bodyPr lIns="0" tIns="0" rIns="0" bIns="0"/>
          <a:lstStyle>
            <a:lvl1pPr>
              <a:spcBef>
                <a:spcPts val="0"/>
              </a:spcBef>
              <a:spcAft>
                <a:spcPts val="600"/>
              </a:spcAft>
              <a:buNone/>
              <a:defRPr sz="1600" b="0">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Char char="-"/>
              <a:defRPr sz="1600" b="0">
                <a:latin typeface="Verdana" pitchFamily="34" charset="0"/>
              </a:defRPr>
            </a:lvl3pPr>
            <a:lvl4pPr marL="896938" indent="-361950">
              <a:spcBef>
                <a:spcPts val="0"/>
              </a:spcBef>
              <a:spcAft>
                <a:spcPts val="600"/>
              </a:spcAft>
              <a:buFont typeface="Symbol" pitchFamily="18" charset="2"/>
              <a:buChar char="-"/>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a:p>
            <a:pPr lvl="1"/>
            <a:r>
              <a:rPr lang="de-DE"/>
              <a:t>Zweite Ebene</a:t>
            </a:r>
          </a:p>
          <a:p>
            <a:pPr lvl="2"/>
            <a:r>
              <a:rPr lang="de-DE"/>
              <a:t>Dritte Ebene</a:t>
            </a:r>
          </a:p>
        </p:txBody>
      </p:sp>
    </p:spTree>
    <p:extLst>
      <p:ext uri="{BB962C8B-B14F-4D97-AF65-F5344CB8AC3E}">
        <p14:creationId xmlns:p14="http://schemas.microsoft.com/office/powerpoint/2010/main" val="41329831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halt li +Text re">
    <p:spTree>
      <p:nvGrpSpPr>
        <p:cNvPr id="1" name=""/>
        <p:cNvGrpSpPr/>
        <p:nvPr/>
      </p:nvGrpSpPr>
      <p:grpSpPr>
        <a:xfrm>
          <a:off x="0" y="0"/>
          <a:ext cx="0" cy="0"/>
          <a:chOff x="0" y="0"/>
          <a:chExt cx="0" cy="0"/>
        </a:xfrm>
      </p:grpSpPr>
      <p:pic>
        <p:nvPicPr>
          <p:cNvPr id="8"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2" name="Titel 1"/>
          <p:cNvSpPr>
            <a:spLocks noGrp="1"/>
          </p:cNvSpPr>
          <p:nvPr>
            <p:ph type="title"/>
          </p:nvPr>
        </p:nvSpPr>
        <p:spPr>
          <a:xfrm>
            <a:off x="186284" y="1052736"/>
            <a:ext cx="8229600" cy="360040"/>
          </a:xfrm>
          <a:prstGeom prst="rect">
            <a:avLst/>
          </a:prstGeom>
        </p:spPr>
        <p:txBody>
          <a:bodyPr lIns="0" tIns="0" rIns="0" bIns="0"/>
          <a:lstStyle>
            <a:lvl1pPr algn="l">
              <a:defRPr sz="2000" b="1"/>
            </a:lvl1pPr>
          </a:lstStyle>
          <a:p>
            <a:r>
              <a:rPr lang="de-DE"/>
              <a:t>Titelmasterformat durch Klicken bearbeiten</a:t>
            </a:r>
            <a:endParaRPr lang="de-DE" dirty="0"/>
          </a:p>
        </p:txBody>
      </p:sp>
      <p:sp>
        <p:nvSpPr>
          <p:cNvPr id="6" name="Inhaltsplatzhalter 3"/>
          <p:cNvSpPr>
            <a:spLocks noGrp="1"/>
          </p:cNvSpPr>
          <p:nvPr>
            <p:ph sz="quarter" idx="11"/>
          </p:nvPr>
        </p:nvSpPr>
        <p:spPr>
          <a:xfrm>
            <a:off x="179834" y="1628776"/>
            <a:ext cx="4248150" cy="4895850"/>
          </a:xfrm>
          <a:prstGeom prst="rect">
            <a:avLst/>
          </a:prstGeom>
        </p:spPr>
        <p:txBody>
          <a:bodyPr lIns="0" tIns="0" rIns="0" bIns="0"/>
          <a:lstStyle>
            <a:lvl1pPr marL="0" indent="0">
              <a:buNone/>
              <a:defRPr sz="1600"/>
            </a:lvl1pPr>
          </a:lstStyle>
          <a:p>
            <a:pPr lvl="0"/>
            <a:r>
              <a:rPr lang="de-DE"/>
              <a:t>Textmasterformat bearbeiten</a:t>
            </a:r>
          </a:p>
        </p:txBody>
      </p:sp>
      <p:sp>
        <p:nvSpPr>
          <p:cNvPr id="7" name="Textplatzhalter 4"/>
          <p:cNvSpPr>
            <a:spLocks noGrp="1"/>
          </p:cNvSpPr>
          <p:nvPr>
            <p:ph type="body" sz="quarter" idx="10"/>
          </p:nvPr>
        </p:nvSpPr>
        <p:spPr>
          <a:xfrm>
            <a:off x="4716338" y="4149725"/>
            <a:ext cx="4248150" cy="2376488"/>
          </a:xfrm>
          <a:prstGeom prst="rect">
            <a:avLst/>
          </a:prstGeom>
        </p:spPr>
        <p:txBody>
          <a:bodyPr lIns="0" tIns="0" rIns="0" bIns="0"/>
          <a:lstStyle>
            <a:lvl1pPr marL="0" indent="0">
              <a:buFontTx/>
              <a:buNone/>
              <a:defRPr sz="1600">
                <a:latin typeface="+mn-lt"/>
              </a:defRPr>
            </a:lvl1pPr>
          </a:lstStyle>
          <a:p>
            <a:pPr lvl="0"/>
            <a:r>
              <a:rPr lang="de-DE"/>
              <a:t>Textmasterformat bearbeiten</a:t>
            </a:r>
          </a:p>
        </p:txBody>
      </p:sp>
      <p:sp>
        <p:nvSpPr>
          <p:cNvPr id="9" name="Inhaltsplatzhalter 2"/>
          <p:cNvSpPr>
            <a:spLocks noGrp="1"/>
          </p:cNvSpPr>
          <p:nvPr>
            <p:ph idx="1"/>
          </p:nvPr>
        </p:nvSpPr>
        <p:spPr>
          <a:xfrm>
            <a:off x="4716462" y="1628800"/>
            <a:ext cx="4248026" cy="2376463"/>
          </a:xfrm>
          <a:prstGeom prst="rect">
            <a:avLst/>
          </a:prstGeom>
        </p:spPr>
        <p:txBody>
          <a:bodyPr lIns="0" tIns="0" rIns="0" bIns="0"/>
          <a:lstStyle>
            <a:lvl1pPr>
              <a:spcBef>
                <a:spcPts val="0"/>
              </a:spcBef>
              <a:spcAft>
                <a:spcPts val="600"/>
              </a:spcAft>
              <a:buNone/>
              <a:defRPr sz="1600" b="0">
                <a:latin typeface="Verdana" pitchFamily="34" charset="0"/>
              </a:defRPr>
            </a:lvl1pPr>
            <a:lvl2pPr marL="270000" indent="-252000">
              <a:spcBef>
                <a:spcPts val="0"/>
              </a:spcBef>
              <a:spcAft>
                <a:spcPts val="600"/>
              </a:spcAft>
              <a:buFont typeface="Arial" pitchFamily="34" charset="0"/>
              <a:buChar char="•"/>
              <a:defRPr sz="1600" b="0">
                <a:latin typeface="Verdana" pitchFamily="34" charset="0"/>
              </a:defRPr>
            </a:lvl2pPr>
            <a:lvl3pPr marL="538163" indent="-270000">
              <a:spcBef>
                <a:spcPts val="0"/>
              </a:spcBef>
              <a:spcAft>
                <a:spcPts val="600"/>
              </a:spcAft>
              <a:buFont typeface="Symbol" pitchFamily="18" charset="2"/>
              <a:buChar char="-"/>
              <a:defRPr sz="1600" b="0">
                <a:latin typeface="Verdana" pitchFamily="34" charset="0"/>
              </a:defRPr>
            </a:lvl3pPr>
            <a:lvl4pPr marL="896938" indent="-361950">
              <a:spcBef>
                <a:spcPts val="0"/>
              </a:spcBef>
              <a:spcAft>
                <a:spcPts val="600"/>
              </a:spcAft>
              <a:buFont typeface="Symbol" pitchFamily="18" charset="2"/>
              <a:buChar char="-"/>
              <a:defRPr sz="1600">
                <a:latin typeface="Verdana" pitchFamily="34" charset="0"/>
              </a:defRPr>
            </a:lvl4pPr>
            <a:lvl5pPr>
              <a:spcBef>
                <a:spcPts val="0"/>
              </a:spcBef>
              <a:spcAft>
                <a:spcPts val="600"/>
              </a:spcAft>
              <a:defRPr sz="1600">
                <a:latin typeface="Verdana" pitchFamily="34" charset="0"/>
              </a:defRPr>
            </a:lvl5pPr>
          </a:lstStyle>
          <a:p>
            <a:pPr lvl="0"/>
            <a:r>
              <a:rPr lang="de-DE"/>
              <a:t>Textmasterformat bearbeiten</a:t>
            </a:r>
          </a:p>
          <a:p>
            <a:pPr lvl="1"/>
            <a:r>
              <a:rPr lang="de-DE"/>
              <a:t>Zweite Ebene</a:t>
            </a:r>
          </a:p>
          <a:p>
            <a:pPr lvl="2"/>
            <a:r>
              <a:rPr lang="de-DE"/>
              <a:t>Dritte Ebene</a:t>
            </a:r>
          </a:p>
        </p:txBody>
      </p:sp>
    </p:spTree>
    <p:extLst>
      <p:ext uri="{BB962C8B-B14F-4D97-AF65-F5344CB8AC3E}">
        <p14:creationId xmlns:p14="http://schemas.microsoft.com/office/powerpoint/2010/main" val="29170571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pic>
        <p:nvPicPr>
          <p:cNvPr id="2" name="Picture 2" descr="NEU_Folienmaster_VDA-QMC_15062007"/>
          <p:cNvPicPr>
            <a:picLocks noChangeAspect="1" noChangeArrowheads="1"/>
          </p:cNvPicPr>
          <p:nvPr userDrawn="1"/>
        </p:nvPicPr>
        <p:blipFill>
          <a:blip r:embed="rId2" cstate="print"/>
          <a:srcRect l="197" t="18982" r="197" b="11235"/>
          <a:stretch>
            <a:fillRect/>
          </a:stretch>
        </p:blipFill>
        <p:spPr bwMode="auto">
          <a:xfrm>
            <a:off x="0" y="1484313"/>
            <a:ext cx="9139238" cy="4537075"/>
          </a:xfrm>
          <a:prstGeom prst="rect">
            <a:avLst/>
          </a:prstGeom>
          <a:noFill/>
          <a:ln w="9525">
            <a:noFill/>
            <a:miter lim="800000"/>
            <a:headEnd/>
            <a:tailEnd/>
          </a:ln>
        </p:spPr>
      </p:pic>
      <p:sp>
        <p:nvSpPr>
          <p:cNvPr id="3" name="Rectangle 6"/>
          <p:cNvSpPr txBox="1">
            <a:spLocks noChangeArrowheads="1"/>
          </p:cNvSpPr>
          <p:nvPr userDrawn="1"/>
        </p:nvSpPr>
        <p:spPr>
          <a:xfrm>
            <a:off x="0" y="477838"/>
            <a:ext cx="9144000" cy="287337"/>
          </a:xfrm>
          <a:prstGeom prst="rect">
            <a:avLst/>
          </a:prstGeom>
          <a:noFill/>
        </p:spPr>
        <p:txBody>
          <a:bodyPr anchor="ctr"/>
          <a:lstStyle/>
          <a:p>
            <a:pPr algn="ctr" fontAlgn="base">
              <a:lnSpc>
                <a:spcPct val="80000"/>
              </a:lnSpc>
              <a:spcBef>
                <a:spcPct val="20000"/>
              </a:spcBef>
              <a:spcAft>
                <a:spcPct val="0"/>
              </a:spcAft>
              <a:buFontTx/>
              <a:buChar char="•"/>
              <a:defRPr/>
            </a:pPr>
            <a:endParaRPr lang="de-DE" sz="1000" kern="0" dirty="0">
              <a:solidFill>
                <a:srgbClr val="FFFFFF"/>
              </a:solidFill>
              <a:latin typeface="Arial" charset="0"/>
            </a:endParaRPr>
          </a:p>
        </p:txBody>
      </p:sp>
    </p:spTree>
    <p:extLst>
      <p:ext uri="{BB962C8B-B14F-4D97-AF65-F5344CB8AC3E}">
        <p14:creationId xmlns:p14="http://schemas.microsoft.com/office/powerpoint/2010/main" val="13675355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4178162"/>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4" name="Titel 1"/>
          <p:cNvSpPr>
            <a:spLocks noGrp="1"/>
          </p:cNvSpPr>
          <p:nvPr>
            <p:ph type="title"/>
          </p:nvPr>
        </p:nvSpPr>
        <p:spPr>
          <a:xfrm>
            <a:off x="514350" y="1703388"/>
            <a:ext cx="8229600" cy="1143000"/>
          </a:xfrm>
          <a:prstGeom prst="rect">
            <a:avLst/>
          </a:prstGeom>
        </p:spPr>
        <p:txBody>
          <a:bodyPr/>
          <a:lstStyle/>
          <a:p>
            <a:r>
              <a:rPr lang="de-DE"/>
              <a:t>Titelmasterformat durch Klicken bearbeiten</a:t>
            </a:r>
          </a:p>
        </p:txBody>
      </p:sp>
    </p:spTree>
    <p:extLst>
      <p:ext uri="{BB962C8B-B14F-4D97-AF65-F5344CB8AC3E}">
        <p14:creationId xmlns:p14="http://schemas.microsoft.com/office/powerpoint/2010/main" val="11266231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Nur Titel">
    <p:spTree>
      <p:nvGrpSpPr>
        <p:cNvPr id="1" name=""/>
        <p:cNvGrpSpPr/>
        <p:nvPr/>
      </p:nvGrpSpPr>
      <p:grpSpPr>
        <a:xfrm>
          <a:off x="0" y="0"/>
          <a:ext cx="0" cy="0"/>
          <a:chOff x="0" y="0"/>
          <a:chExt cx="0" cy="0"/>
        </a:xfrm>
      </p:grpSpPr>
      <p:sp>
        <p:nvSpPr>
          <p:cNvPr id="4" name="Titel 1"/>
          <p:cNvSpPr>
            <a:spLocks noGrp="1"/>
          </p:cNvSpPr>
          <p:nvPr>
            <p:ph type="title"/>
          </p:nvPr>
        </p:nvSpPr>
        <p:spPr>
          <a:xfrm>
            <a:off x="514350" y="1703388"/>
            <a:ext cx="8229600" cy="1143000"/>
          </a:xfrm>
          <a:prstGeom prst="rect">
            <a:avLst/>
          </a:prstGeom>
        </p:spPr>
        <p:txBody>
          <a:bodyPr/>
          <a:lstStyle/>
          <a:p>
            <a:r>
              <a:rPr lang="de-DE"/>
              <a:t>Titelmasterformat durch Klicken bearbeiten</a:t>
            </a:r>
          </a:p>
        </p:txBody>
      </p:sp>
    </p:spTree>
    <p:extLst>
      <p:ext uri="{BB962C8B-B14F-4D97-AF65-F5344CB8AC3E}">
        <p14:creationId xmlns:p14="http://schemas.microsoft.com/office/powerpoint/2010/main" val="14084187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_Nur Titel">
    <p:spTree>
      <p:nvGrpSpPr>
        <p:cNvPr id="1" name=""/>
        <p:cNvGrpSpPr/>
        <p:nvPr/>
      </p:nvGrpSpPr>
      <p:grpSpPr>
        <a:xfrm>
          <a:off x="0" y="0"/>
          <a:ext cx="0" cy="0"/>
          <a:chOff x="0" y="0"/>
          <a:chExt cx="0" cy="0"/>
        </a:xfrm>
      </p:grpSpPr>
      <p:sp>
        <p:nvSpPr>
          <p:cNvPr id="4" name="Titel 1"/>
          <p:cNvSpPr>
            <a:spLocks noGrp="1"/>
          </p:cNvSpPr>
          <p:nvPr>
            <p:ph type="title"/>
          </p:nvPr>
        </p:nvSpPr>
        <p:spPr>
          <a:xfrm>
            <a:off x="514350" y="1703388"/>
            <a:ext cx="8229600" cy="1143000"/>
          </a:xfrm>
          <a:prstGeom prst="rect">
            <a:avLst/>
          </a:prstGeom>
        </p:spPr>
        <p:txBody>
          <a:bodyPr/>
          <a:lstStyle/>
          <a:p>
            <a:r>
              <a:rPr lang="de-DE"/>
              <a:t>Titelmasterformat durch Klicken bearbeiten</a:t>
            </a:r>
          </a:p>
        </p:txBody>
      </p:sp>
    </p:spTree>
    <p:extLst>
      <p:ext uri="{BB962C8B-B14F-4D97-AF65-F5344CB8AC3E}">
        <p14:creationId xmlns:p14="http://schemas.microsoft.com/office/powerpoint/2010/main" val="1021554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1.jpe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image" Target="../media/image2.jpeg"/><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image" Target="../media/image2.jpe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image" Target="../media/image1.jpeg"/><Relationship Id="rId2" Type="http://schemas.openxmlformats.org/officeDocument/2006/relationships/slideLayout" Target="../slideLayouts/slideLayout34.xml"/><Relationship Id="rId16" Type="http://schemas.openxmlformats.org/officeDocument/2006/relationships/theme" Target="../theme/theme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2" descr="D:\Freiwerk-B\VDA\Modularisierung\Konzept\pics\balken.jpg"/>
          <p:cNvPicPr>
            <a:picLocks noChangeAspect="1" noChangeArrowheads="1"/>
          </p:cNvPicPr>
          <p:nvPr/>
        </p:nvPicPr>
        <p:blipFill>
          <a:blip r:embed="rId18" cstate="print"/>
          <a:srcRect/>
          <a:stretch>
            <a:fillRect/>
          </a:stretch>
        </p:blipFill>
        <p:spPr bwMode="auto">
          <a:xfrm>
            <a:off x="0" y="539750"/>
            <a:ext cx="9144000" cy="187325"/>
          </a:xfrm>
          <a:prstGeom prst="rect">
            <a:avLst/>
          </a:prstGeom>
          <a:noFill/>
          <a:ln w="9525">
            <a:noFill/>
            <a:miter lim="800000"/>
            <a:headEnd/>
            <a:tailEnd/>
          </a:ln>
        </p:spPr>
      </p:pic>
      <p:pic>
        <p:nvPicPr>
          <p:cNvPr id="1027" name="Grafik 9" descr="D:\Freiwerk-B\VDA\Modularisierung\Konzept\logo_vda_qmc.jpg"/>
          <p:cNvPicPr>
            <a:picLocks noChangeAspect="1" noChangeArrowheads="1"/>
          </p:cNvPicPr>
          <p:nvPr/>
        </p:nvPicPr>
        <p:blipFill>
          <a:blip r:embed="rId19" cstate="print"/>
          <a:srcRect/>
          <a:stretch>
            <a:fillRect/>
          </a:stretch>
        </p:blipFill>
        <p:spPr bwMode="auto">
          <a:xfrm>
            <a:off x="3492500" y="115888"/>
            <a:ext cx="2047875" cy="361950"/>
          </a:xfrm>
          <a:prstGeom prst="rect">
            <a:avLst/>
          </a:prstGeom>
          <a:noFill/>
          <a:ln w="9525">
            <a:noFill/>
            <a:miter lim="800000"/>
            <a:headEnd/>
            <a:tailEnd/>
          </a:ln>
        </p:spPr>
      </p:pic>
      <p:pic>
        <p:nvPicPr>
          <p:cNvPr id="1028" name="Picture 2" descr="D:\Freiwerk-B\VDA\Modularisierung\Konzept\pics\balken.jpg"/>
          <p:cNvPicPr>
            <a:picLocks noChangeAspect="1" noChangeArrowheads="1"/>
          </p:cNvPicPr>
          <p:nvPr/>
        </p:nvPicPr>
        <p:blipFill>
          <a:blip r:embed="rId18" cstate="print"/>
          <a:srcRect/>
          <a:stretch>
            <a:fillRect/>
          </a:stretch>
        </p:blipFill>
        <p:spPr bwMode="auto">
          <a:xfrm>
            <a:off x="0" y="6669088"/>
            <a:ext cx="9144000" cy="188912"/>
          </a:xfrm>
          <a:prstGeom prst="rect">
            <a:avLst/>
          </a:prstGeom>
          <a:noFill/>
          <a:ln w="9525">
            <a:noFill/>
            <a:miter lim="800000"/>
            <a:headEnd/>
            <a:tailEnd/>
          </a:ln>
        </p:spPr>
      </p:pic>
      <p:sp>
        <p:nvSpPr>
          <p:cNvPr id="12" name="Rectangle 7"/>
          <p:cNvSpPr>
            <a:spLocks noChangeArrowheads="1"/>
          </p:cNvSpPr>
          <p:nvPr/>
        </p:nvSpPr>
        <p:spPr bwMode="auto">
          <a:xfrm>
            <a:off x="3919538" y="6680467"/>
            <a:ext cx="1304925" cy="177800"/>
          </a:xfrm>
          <a:prstGeom prst="rect">
            <a:avLst/>
          </a:prstGeom>
          <a:noFill/>
          <a:ln w="9525">
            <a:noFill/>
            <a:miter lim="800000"/>
            <a:headEnd/>
            <a:tailEnd/>
          </a:ln>
        </p:spPr>
        <p:txBody>
          <a:bodyPr/>
          <a:lstStyle/>
          <a:p>
            <a:pPr algn="ctr" fontAlgn="base">
              <a:lnSpc>
                <a:spcPct val="80000"/>
              </a:lnSpc>
              <a:spcBef>
                <a:spcPct val="20000"/>
              </a:spcBef>
              <a:spcAft>
                <a:spcPct val="0"/>
              </a:spcAft>
              <a:defRPr/>
            </a:pPr>
            <a:r>
              <a:rPr lang="de-DE" sz="800" dirty="0">
                <a:solidFill>
                  <a:srgbClr val="FFFFFF"/>
                </a:solidFill>
              </a:rPr>
              <a:t>315TF000-</a:t>
            </a:r>
            <a:fld id="{C6B19608-B4BD-4888-9947-D0E2E85AD5C0}" type="slidenum">
              <a:rPr lang="de-DE" sz="800">
                <a:solidFill>
                  <a:srgbClr val="FFFFFF"/>
                </a:solidFill>
              </a:rPr>
              <a:pPr algn="ctr" fontAlgn="base">
                <a:lnSpc>
                  <a:spcPct val="80000"/>
                </a:lnSpc>
                <a:spcBef>
                  <a:spcPct val="20000"/>
                </a:spcBef>
                <a:spcAft>
                  <a:spcPct val="0"/>
                </a:spcAft>
                <a:defRPr/>
              </a:pPr>
              <a:t>‹#›</a:t>
            </a:fld>
            <a:endParaRPr lang="de-DE" sz="800" dirty="0">
              <a:solidFill>
                <a:srgbClr val="FFFFFF"/>
              </a:solidFill>
            </a:endParaRPr>
          </a:p>
        </p:txBody>
      </p:sp>
      <p:sp>
        <p:nvSpPr>
          <p:cNvPr id="13" name="Text Box 8"/>
          <p:cNvSpPr txBox="1">
            <a:spLocks noChangeArrowheads="1"/>
          </p:cNvSpPr>
          <p:nvPr/>
        </p:nvSpPr>
        <p:spPr bwMode="auto">
          <a:xfrm>
            <a:off x="80963" y="6669088"/>
            <a:ext cx="2835275" cy="190500"/>
          </a:xfrm>
          <a:prstGeom prst="rect">
            <a:avLst/>
          </a:prstGeom>
          <a:noFill/>
          <a:ln w="9525">
            <a:noFill/>
            <a:miter lim="800000"/>
            <a:headEnd/>
            <a:tailEnd/>
          </a:ln>
        </p:spPr>
        <p:txBody>
          <a:bodyPr>
            <a:spAutoFit/>
          </a:bodyPr>
          <a:lstStyle/>
          <a:p>
            <a:pPr fontAlgn="base">
              <a:lnSpc>
                <a:spcPct val="80000"/>
              </a:lnSpc>
              <a:spcBef>
                <a:spcPct val="20000"/>
              </a:spcBef>
              <a:spcAft>
                <a:spcPct val="0"/>
              </a:spcAft>
              <a:defRPr/>
            </a:pPr>
            <a:r>
              <a:rPr lang="de-DE" sz="800" dirty="0">
                <a:solidFill>
                  <a:srgbClr val="FFFFFF"/>
                </a:solidFill>
              </a:rPr>
              <a:t>©  VDA QMC</a:t>
            </a:r>
          </a:p>
        </p:txBody>
      </p:sp>
      <p:sp>
        <p:nvSpPr>
          <p:cNvPr id="3" name="TextBox 2">
            <a:extLst>
              <a:ext uri="{FF2B5EF4-FFF2-40B4-BE49-F238E27FC236}">
                <a16:creationId xmlns:a16="http://schemas.microsoft.com/office/drawing/2014/main" id="{ABABBA6C-0447-95DD-AA50-18AB5C60F094}"/>
              </a:ext>
            </a:extLst>
          </p:cNvPr>
          <p:cNvSpPr txBox="1"/>
          <p:nvPr userDrawn="1">
            <p:extLst>
              <p:ext uri="{1162E1C5-73C7-4A58-AE30-91384D911F3F}">
                <p184:classification xmlns:p184="http://schemas.microsoft.com/office/powerpoint/2018/4/main" val="hdr"/>
              </p:ext>
            </p:extLst>
          </p:nvPr>
        </p:nvSpPr>
        <p:spPr>
          <a:xfrm>
            <a:off x="3854450" y="63500"/>
            <a:ext cx="1466850"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LGE Internal Use Only</a:t>
            </a:r>
          </a:p>
        </p:txBody>
      </p:sp>
    </p:spTree>
    <p:extLst>
      <p:ext uri="{BB962C8B-B14F-4D97-AF65-F5344CB8AC3E}">
        <p14:creationId xmlns:p14="http://schemas.microsoft.com/office/powerpoint/2010/main" val="34011600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Verdana" pitchFamily="34" charset="0"/>
        </a:defRPr>
      </a:lvl2pPr>
      <a:lvl3pPr algn="ctr" rtl="0" eaLnBrk="1" fontAlgn="base" hangingPunct="1">
        <a:spcBef>
          <a:spcPct val="0"/>
        </a:spcBef>
        <a:spcAft>
          <a:spcPct val="0"/>
        </a:spcAft>
        <a:defRPr sz="4400">
          <a:solidFill>
            <a:schemeClr val="tx1"/>
          </a:solidFill>
          <a:latin typeface="Verdana" pitchFamily="34" charset="0"/>
        </a:defRPr>
      </a:lvl3pPr>
      <a:lvl4pPr algn="ctr" rtl="0" eaLnBrk="1" fontAlgn="base" hangingPunct="1">
        <a:spcBef>
          <a:spcPct val="0"/>
        </a:spcBef>
        <a:spcAft>
          <a:spcPct val="0"/>
        </a:spcAft>
        <a:defRPr sz="4400">
          <a:solidFill>
            <a:schemeClr val="tx1"/>
          </a:solidFill>
          <a:latin typeface="Verdana" pitchFamily="34" charset="0"/>
        </a:defRPr>
      </a:lvl4pPr>
      <a:lvl5pPr algn="ctr" rtl="0" eaLnBrk="1" fontAlgn="base" hangingPunct="1">
        <a:spcBef>
          <a:spcPct val="0"/>
        </a:spcBef>
        <a:spcAft>
          <a:spcPct val="0"/>
        </a:spcAft>
        <a:defRPr sz="4400">
          <a:solidFill>
            <a:schemeClr val="tx1"/>
          </a:solidFill>
          <a:latin typeface="Verdana" pitchFamily="34" charset="0"/>
        </a:defRPr>
      </a:lvl5pPr>
      <a:lvl6pPr marL="457200" algn="ctr" rtl="0" eaLnBrk="1" fontAlgn="base" hangingPunct="1">
        <a:spcBef>
          <a:spcPct val="0"/>
        </a:spcBef>
        <a:spcAft>
          <a:spcPct val="0"/>
        </a:spcAft>
        <a:defRPr sz="4400">
          <a:solidFill>
            <a:schemeClr val="tx1"/>
          </a:solidFill>
          <a:latin typeface="Verdana" pitchFamily="34" charset="0"/>
        </a:defRPr>
      </a:lvl6pPr>
      <a:lvl7pPr marL="914400" algn="ctr" rtl="0" eaLnBrk="1" fontAlgn="base" hangingPunct="1">
        <a:spcBef>
          <a:spcPct val="0"/>
        </a:spcBef>
        <a:spcAft>
          <a:spcPct val="0"/>
        </a:spcAft>
        <a:defRPr sz="4400">
          <a:solidFill>
            <a:schemeClr val="tx1"/>
          </a:solidFill>
          <a:latin typeface="Verdana" pitchFamily="34" charset="0"/>
        </a:defRPr>
      </a:lvl7pPr>
      <a:lvl8pPr marL="1371600" algn="ctr" rtl="0" eaLnBrk="1" fontAlgn="base" hangingPunct="1">
        <a:spcBef>
          <a:spcPct val="0"/>
        </a:spcBef>
        <a:spcAft>
          <a:spcPct val="0"/>
        </a:spcAft>
        <a:defRPr sz="4400">
          <a:solidFill>
            <a:schemeClr val="tx1"/>
          </a:solidFill>
          <a:latin typeface="Verdana" pitchFamily="34" charset="0"/>
        </a:defRPr>
      </a:lvl8pPr>
      <a:lvl9pPr marL="1828800" algn="ctr" rtl="0" eaLnBrk="1" fontAlgn="base" hangingPunct="1">
        <a:spcBef>
          <a:spcPct val="0"/>
        </a:spcBef>
        <a:spcAft>
          <a:spcPct val="0"/>
        </a:spcAft>
        <a:defRPr sz="4400">
          <a:solidFill>
            <a:schemeClr val="tx1"/>
          </a:solidFill>
          <a:latin typeface="Verdana"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2" descr="D:\Freiwerk-B\VDA\Modularisierung\Konzept\pics\balken.jpg"/>
          <p:cNvPicPr>
            <a:picLocks noChangeAspect="1" noChangeArrowheads="1"/>
          </p:cNvPicPr>
          <p:nvPr/>
        </p:nvPicPr>
        <p:blipFill>
          <a:blip r:embed="rId18" cstate="print"/>
          <a:srcRect/>
          <a:stretch>
            <a:fillRect/>
          </a:stretch>
        </p:blipFill>
        <p:spPr bwMode="auto">
          <a:xfrm>
            <a:off x="0" y="539750"/>
            <a:ext cx="9144000" cy="187325"/>
          </a:xfrm>
          <a:prstGeom prst="rect">
            <a:avLst/>
          </a:prstGeom>
          <a:noFill/>
          <a:ln w="9525">
            <a:noFill/>
            <a:miter lim="800000"/>
            <a:headEnd/>
            <a:tailEnd/>
          </a:ln>
        </p:spPr>
      </p:pic>
      <p:pic>
        <p:nvPicPr>
          <p:cNvPr id="1027" name="Grafik 9" descr="D:\Freiwerk-B\VDA\Modularisierung\Konzept\logo_vda_qmc.jpg"/>
          <p:cNvPicPr>
            <a:picLocks noChangeAspect="1" noChangeArrowheads="1"/>
          </p:cNvPicPr>
          <p:nvPr/>
        </p:nvPicPr>
        <p:blipFill>
          <a:blip r:embed="rId19" cstate="print"/>
          <a:srcRect/>
          <a:stretch>
            <a:fillRect/>
          </a:stretch>
        </p:blipFill>
        <p:spPr bwMode="auto">
          <a:xfrm>
            <a:off x="3492500" y="115888"/>
            <a:ext cx="2047875" cy="361950"/>
          </a:xfrm>
          <a:prstGeom prst="rect">
            <a:avLst/>
          </a:prstGeom>
          <a:noFill/>
          <a:ln w="9525">
            <a:noFill/>
            <a:miter lim="800000"/>
            <a:headEnd/>
            <a:tailEnd/>
          </a:ln>
        </p:spPr>
      </p:pic>
      <p:pic>
        <p:nvPicPr>
          <p:cNvPr id="1028" name="Picture 2" descr="D:\Freiwerk-B\VDA\Modularisierung\Konzept\pics\balken.jpg"/>
          <p:cNvPicPr>
            <a:picLocks noChangeAspect="1" noChangeArrowheads="1"/>
          </p:cNvPicPr>
          <p:nvPr/>
        </p:nvPicPr>
        <p:blipFill>
          <a:blip r:embed="rId18" cstate="print"/>
          <a:srcRect/>
          <a:stretch>
            <a:fillRect/>
          </a:stretch>
        </p:blipFill>
        <p:spPr bwMode="auto">
          <a:xfrm>
            <a:off x="0" y="6669088"/>
            <a:ext cx="9144000" cy="188912"/>
          </a:xfrm>
          <a:prstGeom prst="rect">
            <a:avLst/>
          </a:prstGeom>
          <a:noFill/>
          <a:ln w="9525">
            <a:noFill/>
            <a:miter lim="800000"/>
            <a:headEnd/>
            <a:tailEnd/>
          </a:ln>
        </p:spPr>
      </p:pic>
      <p:sp>
        <p:nvSpPr>
          <p:cNvPr id="13" name="Text Box 8"/>
          <p:cNvSpPr txBox="1">
            <a:spLocks noChangeArrowheads="1"/>
          </p:cNvSpPr>
          <p:nvPr/>
        </p:nvSpPr>
        <p:spPr bwMode="auto">
          <a:xfrm>
            <a:off x="80963" y="6669088"/>
            <a:ext cx="2835275" cy="190500"/>
          </a:xfrm>
          <a:prstGeom prst="rect">
            <a:avLst/>
          </a:prstGeom>
          <a:noFill/>
          <a:ln w="9525">
            <a:noFill/>
            <a:miter lim="800000"/>
            <a:headEnd/>
            <a:tailEnd/>
          </a:ln>
        </p:spPr>
        <p:txBody>
          <a:bodyPr>
            <a:spAutoFit/>
          </a:bodyPr>
          <a:lstStyle/>
          <a:p>
            <a:pPr fontAlgn="base">
              <a:lnSpc>
                <a:spcPct val="80000"/>
              </a:lnSpc>
              <a:spcBef>
                <a:spcPct val="20000"/>
              </a:spcBef>
              <a:spcAft>
                <a:spcPct val="0"/>
              </a:spcAft>
              <a:defRPr/>
            </a:pPr>
            <a:r>
              <a:rPr lang="de-DE" sz="800" dirty="0">
                <a:solidFill>
                  <a:srgbClr val="FFFFFF"/>
                </a:solidFill>
              </a:rPr>
              <a:t>©  VDA QMC</a:t>
            </a:r>
          </a:p>
        </p:txBody>
      </p:sp>
      <p:sp>
        <p:nvSpPr>
          <p:cNvPr id="7" name="Rectangle 7"/>
          <p:cNvSpPr>
            <a:spLocks noChangeArrowheads="1"/>
          </p:cNvSpPr>
          <p:nvPr/>
        </p:nvSpPr>
        <p:spPr bwMode="auto">
          <a:xfrm>
            <a:off x="3919538" y="6680467"/>
            <a:ext cx="1304925" cy="177800"/>
          </a:xfrm>
          <a:prstGeom prst="rect">
            <a:avLst/>
          </a:prstGeom>
          <a:noFill/>
          <a:ln w="9525">
            <a:noFill/>
            <a:miter lim="800000"/>
            <a:headEnd/>
            <a:tailEnd/>
          </a:ln>
        </p:spPr>
        <p:txBody>
          <a:bodyPr/>
          <a:lstStyle/>
          <a:p>
            <a:pPr algn="ctr" fontAlgn="base">
              <a:lnSpc>
                <a:spcPct val="80000"/>
              </a:lnSpc>
              <a:spcBef>
                <a:spcPct val="20000"/>
              </a:spcBef>
              <a:spcAft>
                <a:spcPct val="0"/>
              </a:spcAft>
              <a:defRPr/>
            </a:pPr>
            <a:r>
              <a:rPr lang="de-DE" sz="800" dirty="0">
                <a:solidFill>
                  <a:srgbClr val="FFFFFF"/>
                </a:solidFill>
              </a:rPr>
              <a:t>315TF000-</a:t>
            </a:r>
            <a:fld id="{C6B19608-B4BD-4888-9947-D0E2E85AD5C0}" type="slidenum">
              <a:rPr lang="de-DE" sz="800">
                <a:solidFill>
                  <a:srgbClr val="FFFFFF"/>
                </a:solidFill>
              </a:rPr>
              <a:pPr algn="ctr" fontAlgn="base">
                <a:lnSpc>
                  <a:spcPct val="80000"/>
                </a:lnSpc>
                <a:spcBef>
                  <a:spcPct val="20000"/>
                </a:spcBef>
                <a:spcAft>
                  <a:spcPct val="0"/>
                </a:spcAft>
                <a:defRPr/>
              </a:pPr>
              <a:t>‹#›</a:t>
            </a:fld>
            <a:endParaRPr lang="de-DE" sz="800" dirty="0">
              <a:solidFill>
                <a:srgbClr val="FFFFFF"/>
              </a:solidFill>
            </a:endParaRPr>
          </a:p>
        </p:txBody>
      </p:sp>
      <p:sp>
        <p:nvSpPr>
          <p:cNvPr id="3" name="TextBox 2">
            <a:extLst>
              <a:ext uri="{FF2B5EF4-FFF2-40B4-BE49-F238E27FC236}">
                <a16:creationId xmlns:a16="http://schemas.microsoft.com/office/drawing/2014/main" id="{3DF57C83-A0FE-1F4D-17E7-A97799FC9D8B}"/>
              </a:ext>
            </a:extLst>
          </p:cNvPr>
          <p:cNvSpPr txBox="1"/>
          <p:nvPr userDrawn="1">
            <p:extLst>
              <p:ext uri="{1162E1C5-73C7-4A58-AE30-91384D911F3F}">
                <p184:classification xmlns:p184="http://schemas.microsoft.com/office/powerpoint/2018/4/main" val="hdr"/>
              </p:ext>
            </p:extLst>
          </p:nvPr>
        </p:nvSpPr>
        <p:spPr>
          <a:xfrm>
            <a:off x="3854450" y="63500"/>
            <a:ext cx="1466850"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LGE Internal Use Only</a:t>
            </a:r>
          </a:p>
        </p:txBody>
      </p:sp>
    </p:spTree>
    <p:extLst>
      <p:ext uri="{BB962C8B-B14F-4D97-AF65-F5344CB8AC3E}">
        <p14:creationId xmlns:p14="http://schemas.microsoft.com/office/powerpoint/2010/main" val="91013357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Verdana" pitchFamily="34" charset="0"/>
        </a:defRPr>
      </a:lvl2pPr>
      <a:lvl3pPr algn="ctr" rtl="0" eaLnBrk="1" fontAlgn="base" hangingPunct="1">
        <a:spcBef>
          <a:spcPct val="0"/>
        </a:spcBef>
        <a:spcAft>
          <a:spcPct val="0"/>
        </a:spcAft>
        <a:defRPr sz="4400">
          <a:solidFill>
            <a:schemeClr val="tx1"/>
          </a:solidFill>
          <a:latin typeface="Verdana" pitchFamily="34" charset="0"/>
        </a:defRPr>
      </a:lvl3pPr>
      <a:lvl4pPr algn="ctr" rtl="0" eaLnBrk="1" fontAlgn="base" hangingPunct="1">
        <a:spcBef>
          <a:spcPct val="0"/>
        </a:spcBef>
        <a:spcAft>
          <a:spcPct val="0"/>
        </a:spcAft>
        <a:defRPr sz="4400">
          <a:solidFill>
            <a:schemeClr val="tx1"/>
          </a:solidFill>
          <a:latin typeface="Verdana" pitchFamily="34" charset="0"/>
        </a:defRPr>
      </a:lvl4pPr>
      <a:lvl5pPr algn="ctr" rtl="0" eaLnBrk="1" fontAlgn="base" hangingPunct="1">
        <a:spcBef>
          <a:spcPct val="0"/>
        </a:spcBef>
        <a:spcAft>
          <a:spcPct val="0"/>
        </a:spcAft>
        <a:defRPr sz="4400">
          <a:solidFill>
            <a:schemeClr val="tx1"/>
          </a:solidFill>
          <a:latin typeface="Verdana" pitchFamily="34" charset="0"/>
        </a:defRPr>
      </a:lvl5pPr>
      <a:lvl6pPr marL="457200" algn="ctr" rtl="0" eaLnBrk="1" fontAlgn="base" hangingPunct="1">
        <a:spcBef>
          <a:spcPct val="0"/>
        </a:spcBef>
        <a:spcAft>
          <a:spcPct val="0"/>
        </a:spcAft>
        <a:defRPr sz="4400">
          <a:solidFill>
            <a:schemeClr val="tx1"/>
          </a:solidFill>
          <a:latin typeface="Verdana" pitchFamily="34" charset="0"/>
        </a:defRPr>
      </a:lvl6pPr>
      <a:lvl7pPr marL="914400" algn="ctr" rtl="0" eaLnBrk="1" fontAlgn="base" hangingPunct="1">
        <a:spcBef>
          <a:spcPct val="0"/>
        </a:spcBef>
        <a:spcAft>
          <a:spcPct val="0"/>
        </a:spcAft>
        <a:defRPr sz="4400">
          <a:solidFill>
            <a:schemeClr val="tx1"/>
          </a:solidFill>
          <a:latin typeface="Verdana" pitchFamily="34" charset="0"/>
        </a:defRPr>
      </a:lvl7pPr>
      <a:lvl8pPr marL="1371600" algn="ctr" rtl="0" eaLnBrk="1" fontAlgn="base" hangingPunct="1">
        <a:spcBef>
          <a:spcPct val="0"/>
        </a:spcBef>
        <a:spcAft>
          <a:spcPct val="0"/>
        </a:spcAft>
        <a:defRPr sz="4400">
          <a:solidFill>
            <a:schemeClr val="tx1"/>
          </a:solidFill>
          <a:latin typeface="Verdana" pitchFamily="34" charset="0"/>
        </a:defRPr>
      </a:lvl8pPr>
      <a:lvl9pPr marL="1828800" algn="ctr" rtl="0" eaLnBrk="1" fontAlgn="base" hangingPunct="1">
        <a:spcBef>
          <a:spcPct val="0"/>
        </a:spcBef>
        <a:spcAft>
          <a:spcPct val="0"/>
        </a:spcAft>
        <a:defRPr sz="4400">
          <a:solidFill>
            <a:schemeClr val="tx1"/>
          </a:solidFill>
          <a:latin typeface="Verdana"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2" descr="D:\Freiwerk-B\VDA\Modularisierung\Konzept\pics\balken.jpg"/>
          <p:cNvPicPr>
            <a:picLocks noChangeAspect="1" noChangeArrowheads="1"/>
          </p:cNvPicPr>
          <p:nvPr/>
        </p:nvPicPr>
        <p:blipFill>
          <a:blip r:embed="rId17" cstate="print"/>
          <a:srcRect/>
          <a:stretch>
            <a:fillRect/>
          </a:stretch>
        </p:blipFill>
        <p:spPr bwMode="auto">
          <a:xfrm>
            <a:off x="0" y="539750"/>
            <a:ext cx="9144000" cy="187325"/>
          </a:xfrm>
          <a:prstGeom prst="rect">
            <a:avLst/>
          </a:prstGeom>
          <a:noFill/>
          <a:ln w="9525">
            <a:noFill/>
            <a:miter lim="800000"/>
            <a:headEnd/>
            <a:tailEnd/>
          </a:ln>
        </p:spPr>
      </p:pic>
      <p:pic>
        <p:nvPicPr>
          <p:cNvPr id="1027" name="Grafik 9" descr="D:\Freiwerk-B\VDA\Modularisierung\Konzept\logo_vda_qmc.jpg"/>
          <p:cNvPicPr>
            <a:picLocks noChangeAspect="1" noChangeArrowheads="1"/>
          </p:cNvPicPr>
          <p:nvPr/>
        </p:nvPicPr>
        <p:blipFill>
          <a:blip r:embed="rId18" cstate="print"/>
          <a:srcRect/>
          <a:stretch>
            <a:fillRect/>
          </a:stretch>
        </p:blipFill>
        <p:spPr bwMode="auto">
          <a:xfrm>
            <a:off x="3492500" y="115888"/>
            <a:ext cx="2047875" cy="361950"/>
          </a:xfrm>
          <a:prstGeom prst="rect">
            <a:avLst/>
          </a:prstGeom>
          <a:noFill/>
          <a:ln w="9525">
            <a:noFill/>
            <a:miter lim="800000"/>
            <a:headEnd/>
            <a:tailEnd/>
          </a:ln>
        </p:spPr>
      </p:pic>
      <p:pic>
        <p:nvPicPr>
          <p:cNvPr id="1028" name="Picture 2" descr="D:\Freiwerk-B\VDA\Modularisierung\Konzept\pics\balken.jpg"/>
          <p:cNvPicPr>
            <a:picLocks noChangeAspect="1" noChangeArrowheads="1"/>
          </p:cNvPicPr>
          <p:nvPr/>
        </p:nvPicPr>
        <p:blipFill>
          <a:blip r:embed="rId17" cstate="print"/>
          <a:srcRect/>
          <a:stretch>
            <a:fillRect/>
          </a:stretch>
        </p:blipFill>
        <p:spPr bwMode="auto">
          <a:xfrm>
            <a:off x="0" y="6669088"/>
            <a:ext cx="9144000" cy="188912"/>
          </a:xfrm>
          <a:prstGeom prst="rect">
            <a:avLst/>
          </a:prstGeom>
          <a:noFill/>
          <a:ln w="9525">
            <a:noFill/>
            <a:miter lim="800000"/>
            <a:headEnd/>
            <a:tailEnd/>
          </a:ln>
        </p:spPr>
      </p:pic>
      <p:sp>
        <p:nvSpPr>
          <p:cNvPr id="13" name="Text Box 8"/>
          <p:cNvSpPr txBox="1">
            <a:spLocks noChangeArrowheads="1"/>
          </p:cNvSpPr>
          <p:nvPr/>
        </p:nvSpPr>
        <p:spPr bwMode="auto">
          <a:xfrm>
            <a:off x="80963" y="6669088"/>
            <a:ext cx="2835275" cy="190500"/>
          </a:xfrm>
          <a:prstGeom prst="rect">
            <a:avLst/>
          </a:prstGeom>
          <a:noFill/>
          <a:ln w="9525">
            <a:noFill/>
            <a:miter lim="800000"/>
            <a:headEnd/>
            <a:tailEnd/>
          </a:ln>
        </p:spPr>
        <p:txBody>
          <a:bodyPr>
            <a:spAutoFit/>
          </a:bodyPr>
          <a:lstStyle/>
          <a:p>
            <a:pPr fontAlgn="base">
              <a:lnSpc>
                <a:spcPct val="80000"/>
              </a:lnSpc>
              <a:spcBef>
                <a:spcPct val="20000"/>
              </a:spcBef>
              <a:spcAft>
                <a:spcPct val="0"/>
              </a:spcAft>
              <a:defRPr/>
            </a:pPr>
            <a:r>
              <a:rPr lang="de-DE" sz="800" dirty="0">
                <a:solidFill>
                  <a:srgbClr val="FFFFFF"/>
                </a:solidFill>
              </a:rPr>
              <a:t>©  VDA QMC</a:t>
            </a:r>
          </a:p>
        </p:txBody>
      </p:sp>
      <p:sp>
        <p:nvSpPr>
          <p:cNvPr id="7" name="Rectangle 7"/>
          <p:cNvSpPr>
            <a:spLocks noChangeArrowheads="1"/>
          </p:cNvSpPr>
          <p:nvPr/>
        </p:nvSpPr>
        <p:spPr bwMode="auto">
          <a:xfrm>
            <a:off x="3919538" y="6680467"/>
            <a:ext cx="1304925" cy="177800"/>
          </a:xfrm>
          <a:prstGeom prst="rect">
            <a:avLst/>
          </a:prstGeom>
          <a:noFill/>
          <a:ln w="9525">
            <a:noFill/>
            <a:miter lim="800000"/>
            <a:headEnd/>
            <a:tailEnd/>
          </a:ln>
        </p:spPr>
        <p:txBody>
          <a:bodyPr/>
          <a:lstStyle/>
          <a:p>
            <a:pPr algn="ctr" fontAlgn="base">
              <a:lnSpc>
                <a:spcPct val="80000"/>
              </a:lnSpc>
              <a:spcBef>
                <a:spcPct val="20000"/>
              </a:spcBef>
              <a:spcAft>
                <a:spcPct val="0"/>
              </a:spcAft>
              <a:defRPr/>
            </a:pPr>
            <a:r>
              <a:rPr lang="de-DE" sz="800" dirty="0">
                <a:solidFill>
                  <a:srgbClr val="FFFFFF"/>
                </a:solidFill>
              </a:rPr>
              <a:t>315TF000-</a:t>
            </a:r>
            <a:fld id="{C6B19608-B4BD-4888-9947-D0E2E85AD5C0}" type="slidenum">
              <a:rPr lang="de-DE" sz="800">
                <a:solidFill>
                  <a:srgbClr val="FFFFFF"/>
                </a:solidFill>
              </a:rPr>
              <a:pPr algn="ctr" fontAlgn="base">
                <a:lnSpc>
                  <a:spcPct val="80000"/>
                </a:lnSpc>
                <a:spcBef>
                  <a:spcPct val="20000"/>
                </a:spcBef>
                <a:spcAft>
                  <a:spcPct val="0"/>
                </a:spcAft>
                <a:defRPr/>
              </a:pPr>
              <a:t>‹#›</a:t>
            </a:fld>
            <a:endParaRPr lang="de-DE" sz="800" dirty="0">
              <a:solidFill>
                <a:srgbClr val="FFFFFF"/>
              </a:solidFill>
            </a:endParaRPr>
          </a:p>
        </p:txBody>
      </p:sp>
      <p:sp>
        <p:nvSpPr>
          <p:cNvPr id="3" name="TextBox 2">
            <a:extLst>
              <a:ext uri="{FF2B5EF4-FFF2-40B4-BE49-F238E27FC236}">
                <a16:creationId xmlns:a16="http://schemas.microsoft.com/office/drawing/2014/main" id="{E5AF88A0-CE8D-4FB2-4C96-906481723134}"/>
              </a:ext>
            </a:extLst>
          </p:cNvPr>
          <p:cNvSpPr txBox="1"/>
          <p:nvPr userDrawn="1">
            <p:extLst>
              <p:ext uri="{1162E1C5-73C7-4A58-AE30-91384D911F3F}">
                <p184:classification xmlns:p184="http://schemas.microsoft.com/office/powerpoint/2018/4/main" val="hdr"/>
              </p:ext>
            </p:extLst>
          </p:nvPr>
        </p:nvSpPr>
        <p:spPr>
          <a:xfrm>
            <a:off x="3854450" y="63500"/>
            <a:ext cx="1466850"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LGE Internal Use Only</a:t>
            </a:r>
          </a:p>
        </p:txBody>
      </p:sp>
    </p:spTree>
    <p:extLst>
      <p:ext uri="{BB962C8B-B14F-4D97-AF65-F5344CB8AC3E}">
        <p14:creationId xmlns:p14="http://schemas.microsoft.com/office/powerpoint/2010/main" val="4249622563"/>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Verdana" pitchFamily="34" charset="0"/>
        </a:defRPr>
      </a:lvl2pPr>
      <a:lvl3pPr algn="ctr" rtl="0" eaLnBrk="1" fontAlgn="base" hangingPunct="1">
        <a:spcBef>
          <a:spcPct val="0"/>
        </a:spcBef>
        <a:spcAft>
          <a:spcPct val="0"/>
        </a:spcAft>
        <a:defRPr sz="4400">
          <a:solidFill>
            <a:schemeClr val="tx1"/>
          </a:solidFill>
          <a:latin typeface="Verdana" pitchFamily="34" charset="0"/>
        </a:defRPr>
      </a:lvl3pPr>
      <a:lvl4pPr algn="ctr" rtl="0" eaLnBrk="1" fontAlgn="base" hangingPunct="1">
        <a:spcBef>
          <a:spcPct val="0"/>
        </a:spcBef>
        <a:spcAft>
          <a:spcPct val="0"/>
        </a:spcAft>
        <a:defRPr sz="4400">
          <a:solidFill>
            <a:schemeClr val="tx1"/>
          </a:solidFill>
          <a:latin typeface="Verdana" pitchFamily="34" charset="0"/>
        </a:defRPr>
      </a:lvl4pPr>
      <a:lvl5pPr algn="ctr" rtl="0" eaLnBrk="1" fontAlgn="base" hangingPunct="1">
        <a:spcBef>
          <a:spcPct val="0"/>
        </a:spcBef>
        <a:spcAft>
          <a:spcPct val="0"/>
        </a:spcAft>
        <a:defRPr sz="4400">
          <a:solidFill>
            <a:schemeClr val="tx1"/>
          </a:solidFill>
          <a:latin typeface="Verdana" pitchFamily="34" charset="0"/>
        </a:defRPr>
      </a:lvl5pPr>
      <a:lvl6pPr marL="457200" algn="ctr" rtl="0" eaLnBrk="1" fontAlgn="base" hangingPunct="1">
        <a:spcBef>
          <a:spcPct val="0"/>
        </a:spcBef>
        <a:spcAft>
          <a:spcPct val="0"/>
        </a:spcAft>
        <a:defRPr sz="4400">
          <a:solidFill>
            <a:schemeClr val="tx1"/>
          </a:solidFill>
          <a:latin typeface="Verdana" pitchFamily="34" charset="0"/>
        </a:defRPr>
      </a:lvl6pPr>
      <a:lvl7pPr marL="914400" algn="ctr" rtl="0" eaLnBrk="1" fontAlgn="base" hangingPunct="1">
        <a:spcBef>
          <a:spcPct val="0"/>
        </a:spcBef>
        <a:spcAft>
          <a:spcPct val="0"/>
        </a:spcAft>
        <a:defRPr sz="4400">
          <a:solidFill>
            <a:schemeClr val="tx1"/>
          </a:solidFill>
          <a:latin typeface="Verdana" pitchFamily="34" charset="0"/>
        </a:defRPr>
      </a:lvl7pPr>
      <a:lvl8pPr marL="1371600" algn="ctr" rtl="0" eaLnBrk="1" fontAlgn="base" hangingPunct="1">
        <a:spcBef>
          <a:spcPct val="0"/>
        </a:spcBef>
        <a:spcAft>
          <a:spcPct val="0"/>
        </a:spcAft>
        <a:defRPr sz="4400">
          <a:solidFill>
            <a:schemeClr val="tx1"/>
          </a:solidFill>
          <a:latin typeface="Verdana" pitchFamily="34" charset="0"/>
        </a:defRPr>
      </a:lvl8pPr>
      <a:lvl9pPr marL="1828800" algn="ctr" rtl="0" eaLnBrk="1" fontAlgn="base" hangingPunct="1">
        <a:spcBef>
          <a:spcPct val="0"/>
        </a:spcBef>
        <a:spcAft>
          <a:spcPct val="0"/>
        </a:spcAft>
        <a:defRPr sz="4400">
          <a:solidFill>
            <a:schemeClr val="tx1"/>
          </a:solidFill>
          <a:latin typeface="Verdana"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4.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Inhaltsplatzhalter 8"/>
          <p:cNvSpPr>
            <a:spLocks noGrp="1"/>
          </p:cNvSpPr>
          <p:nvPr>
            <p:ph idx="1"/>
          </p:nvPr>
        </p:nvSpPr>
        <p:spPr bwMode="auto">
          <a:noFill/>
          <a:ln>
            <a:miter lim="800000"/>
            <a:headEnd/>
            <a:tailEnd/>
          </a:ln>
        </p:spPr>
        <p:txBody>
          <a:bodyPr vert="horz" wrap="square" numCol="1" anchor="t" anchorCtr="0" compatLnSpc="1">
            <a:prstTxWarp prst="textNoShape">
              <a:avLst/>
            </a:prstTxWarp>
          </a:bodyPr>
          <a:lstStyle/>
          <a:p>
            <a:pPr>
              <a:spcBef>
                <a:spcPct val="0"/>
              </a:spcBef>
            </a:pPr>
            <a:r>
              <a:rPr lang="de-DE"/>
              <a:t>Questionnaire</a:t>
            </a:r>
            <a:endParaRPr lang="de-DE" dirty="0"/>
          </a:p>
        </p:txBody>
      </p:sp>
      <p:sp>
        <p:nvSpPr>
          <p:cNvPr id="2" name="Titel 1"/>
          <p:cNvSpPr>
            <a:spLocks noGrp="1"/>
          </p:cNvSpPr>
          <p:nvPr>
            <p:ph type="title" idx="4294967295"/>
          </p:nvPr>
        </p:nvSpPr>
        <p:spPr>
          <a:xfrm>
            <a:off x="0" y="274638"/>
            <a:ext cx="8229600" cy="220662"/>
          </a:xfrm>
          <a:prstGeom prst="rect">
            <a:avLst/>
          </a:prstGeom>
        </p:spPr>
        <p:txBody>
          <a:bodyPr/>
          <a:lstStyle/>
          <a:p>
            <a:pPr algn="l"/>
            <a:r>
              <a:rPr lang="de-DE" sz="1000" kern="1200" dirty="0">
                <a:solidFill>
                  <a:schemeClr val="bg1"/>
                </a:solidFill>
                <a:effectLst/>
                <a:latin typeface="Verdana"/>
              </a:rPr>
              <a:t>LE80-019</a:t>
            </a:r>
            <a:endParaRPr lang="de-DE" dirty="0">
              <a:solidFill>
                <a:schemeClr val="bg1"/>
              </a:solidFill>
            </a:endParaRPr>
          </a:p>
        </p:txBody>
      </p:sp>
      <p:sp>
        <p:nvSpPr>
          <p:cNvPr id="10" name="Inhaltsplatzhalter 3"/>
          <p:cNvSpPr txBox="1">
            <a:spLocks/>
          </p:cNvSpPr>
          <p:nvPr/>
        </p:nvSpPr>
        <p:spPr>
          <a:xfrm>
            <a:off x="179388" y="1628775"/>
            <a:ext cx="8785225" cy="4895850"/>
          </a:xfrm>
          <a:prstGeom prst="rect">
            <a:avLst/>
          </a:prstGeom>
        </p:spPr>
        <p:txBody>
          <a:bodyPr lIns="0" tIns="0" rIns="0" bIns="0"/>
          <a:lstStyle/>
          <a:p>
            <a:r>
              <a:rPr lang="en-GB" sz="1600" b="1" dirty="0">
                <a:solidFill>
                  <a:srgbClr val="080808"/>
                </a:solidFill>
              </a:rPr>
              <a:t>Carrying out process audits systematically and effectively</a:t>
            </a:r>
          </a:p>
          <a:p>
            <a:pPr marL="342900" indent="-342900" eaLnBrk="0" fontAlgn="base" hangingPunct="0">
              <a:spcAft>
                <a:spcPts val="600"/>
              </a:spcAft>
              <a:buFont typeface="Arial" charset="0"/>
              <a:buNone/>
              <a:defRPr/>
            </a:pPr>
            <a:endParaRPr lang="de-DE" sz="1600" b="1" dirty="0">
              <a:solidFill>
                <a:srgbClr val="080808"/>
              </a:solidFill>
            </a:endParaRPr>
          </a:p>
          <a:p>
            <a:pPr marL="342900" indent="-342900" eaLnBrk="0" fontAlgn="base" hangingPunct="0">
              <a:spcAft>
                <a:spcPts val="600"/>
              </a:spcAft>
              <a:buFont typeface="Arial" charset="0"/>
              <a:buNone/>
              <a:defRPr/>
            </a:pPr>
            <a:r>
              <a:rPr lang="de-DE" sz="1600" b="1" dirty="0">
                <a:solidFill>
                  <a:srgbClr val="080808"/>
                </a:solidFill>
              </a:rPr>
              <a:t>Content:</a:t>
            </a:r>
          </a:p>
          <a:p>
            <a:pPr marL="285750" indent="-285750" eaLnBrk="0" fontAlgn="base" hangingPunct="0">
              <a:spcAft>
                <a:spcPts val="600"/>
              </a:spcAft>
              <a:buFont typeface="Arial" panose="020B0604020202020204" pitchFamily="34" charset="0"/>
              <a:buChar char="•"/>
              <a:defRPr/>
            </a:pPr>
            <a:r>
              <a:rPr lang="en-GB" sz="1600" dirty="0">
                <a:solidFill>
                  <a:srgbClr val="080808"/>
                </a:solidFill>
              </a:rPr>
              <a:t>Questionnaire</a:t>
            </a:r>
            <a:br>
              <a:rPr lang="en-GB" sz="1600" dirty="0">
                <a:solidFill>
                  <a:srgbClr val="080808"/>
                </a:solidFill>
              </a:rPr>
            </a:br>
            <a:r>
              <a:rPr lang="en-GB" sz="1600" dirty="0">
                <a:solidFill>
                  <a:srgbClr val="080808"/>
                </a:solidFill>
              </a:rPr>
              <a:t>Process element P6</a:t>
            </a:r>
            <a:br>
              <a:rPr lang="en-GB" sz="1600" dirty="0">
                <a:solidFill>
                  <a:srgbClr val="080808"/>
                </a:solidFill>
              </a:rPr>
            </a:br>
            <a:r>
              <a:rPr lang="en-GB" sz="1600" dirty="0">
                <a:solidFill>
                  <a:srgbClr val="080808"/>
                </a:solidFill>
              </a:rPr>
              <a:t>Process analysis Production</a:t>
            </a:r>
          </a:p>
          <a:p>
            <a:pPr marL="342900" indent="-342900" eaLnBrk="0" fontAlgn="base" hangingPunct="0">
              <a:lnSpc>
                <a:spcPct val="80000"/>
              </a:lnSpc>
              <a:spcAft>
                <a:spcPts val="600"/>
              </a:spcAft>
              <a:buFont typeface="Arial" charset="0"/>
              <a:buNone/>
              <a:defRPr/>
            </a:pPr>
            <a:r>
              <a:rPr lang="de-DE" sz="1600" b="1" dirty="0">
                <a:solidFill>
                  <a:srgbClr val="080808"/>
                </a:solidFill>
              </a:rPr>
              <a:t> </a:t>
            </a:r>
          </a:p>
          <a:p>
            <a:pPr marL="342900" indent="-342900" eaLnBrk="0" fontAlgn="base" hangingPunct="0">
              <a:lnSpc>
                <a:spcPct val="80000"/>
              </a:lnSpc>
              <a:spcAft>
                <a:spcPts val="600"/>
              </a:spcAft>
              <a:buFont typeface="Arial" charset="0"/>
              <a:buNone/>
              <a:defRPr/>
            </a:pPr>
            <a:endParaRPr lang="de-DE" sz="1600" b="1" dirty="0">
              <a:solidFill>
                <a:srgbClr val="080808"/>
              </a:solidFill>
            </a:endParaRPr>
          </a:p>
        </p:txBody>
      </p:sp>
      <p:sp>
        <p:nvSpPr>
          <p:cNvPr id="11" name="Text Box 6"/>
          <p:cNvSpPr txBox="1">
            <a:spLocks noChangeArrowheads="1"/>
          </p:cNvSpPr>
          <p:nvPr/>
        </p:nvSpPr>
        <p:spPr bwMode="auto">
          <a:xfrm>
            <a:off x="7351713" y="1119188"/>
            <a:ext cx="1584325" cy="341312"/>
          </a:xfrm>
          <a:prstGeom prst="rect">
            <a:avLst/>
          </a:prstGeom>
          <a:solidFill>
            <a:srgbClr val="A60016"/>
          </a:solidFill>
          <a:ln w="28575" algn="ctr">
            <a:noFill/>
            <a:miter lim="800000"/>
            <a:headEnd/>
            <a:tailEnd/>
          </a:ln>
        </p:spPr>
        <p:txBody>
          <a:bodyPr lIns="90000" tIns="46800" rIns="90000" bIns="46800">
            <a:spAutoFit/>
          </a:bodyPr>
          <a:lstStyle>
            <a:lvl1pPr marL="342900" indent="-342900"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lnSpc>
                <a:spcPct val="80000"/>
              </a:lnSpc>
              <a:spcBef>
                <a:spcPct val="20000"/>
              </a:spcBef>
              <a:spcAft>
                <a:spcPct val="0"/>
              </a:spcAft>
              <a:buChar char="•"/>
              <a:defRPr sz="2000">
                <a:solidFill>
                  <a:schemeClr val="tx1"/>
                </a:solidFill>
                <a:latin typeface="Arial" charset="0"/>
              </a:defRPr>
            </a:lvl6pPr>
            <a:lvl7pPr marL="2971800" indent="-228600" algn="ctr" eaLnBrk="0" fontAlgn="base" hangingPunct="0">
              <a:lnSpc>
                <a:spcPct val="80000"/>
              </a:lnSpc>
              <a:spcBef>
                <a:spcPct val="20000"/>
              </a:spcBef>
              <a:spcAft>
                <a:spcPct val="0"/>
              </a:spcAft>
              <a:buChar char="•"/>
              <a:defRPr sz="2000">
                <a:solidFill>
                  <a:schemeClr val="tx1"/>
                </a:solidFill>
                <a:latin typeface="Arial" charset="0"/>
              </a:defRPr>
            </a:lvl7pPr>
            <a:lvl8pPr marL="3429000" indent="-228600" algn="ctr" eaLnBrk="0" fontAlgn="base" hangingPunct="0">
              <a:lnSpc>
                <a:spcPct val="80000"/>
              </a:lnSpc>
              <a:spcBef>
                <a:spcPct val="20000"/>
              </a:spcBef>
              <a:spcAft>
                <a:spcPct val="0"/>
              </a:spcAft>
              <a:buChar char="•"/>
              <a:defRPr sz="2000">
                <a:solidFill>
                  <a:schemeClr val="tx1"/>
                </a:solidFill>
                <a:latin typeface="Arial" charset="0"/>
              </a:defRPr>
            </a:lvl8pPr>
            <a:lvl9pPr marL="3886200" indent="-228600" algn="ctr" eaLnBrk="0" fontAlgn="base" hangingPunct="0">
              <a:lnSpc>
                <a:spcPct val="80000"/>
              </a:lnSpc>
              <a:spcBef>
                <a:spcPct val="20000"/>
              </a:spcBef>
              <a:spcAft>
                <a:spcPct val="0"/>
              </a:spcAft>
              <a:buChar char="•"/>
              <a:defRPr sz="2000">
                <a:solidFill>
                  <a:schemeClr val="tx1"/>
                </a:solidFill>
                <a:latin typeface="Arial" charset="0"/>
              </a:defRPr>
            </a:lvl9pPr>
          </a:lstStyle>
          <a:p>
            <a:pPr marL="0" indent="0" algn="ctr" eaLnBrk="1" fontAlgn="base" hangingPunct="1">
              <a:lnSpc>
                <a:spcPct val="80000"/>
              </a:lnSpc>
              <a:spcBef>
                <a:spcPct val="50000"/>
              </a:spcBef>
              <a:spcAft>
                <a:spcPct val="0"/>
              </a:spcAft>
              <a:defRPr/>
            </a:pPr>
            <a:r>
              <a:rPr lang="de-DE" b="1" dirty="0">
                <a:solidFill>
                  <a:srgbClr val="FFFFFF"/>
                </a:solidFill>
                <a:latin typeface="Verdana"/>
              </a:rPr>
              <a:t>Chapter 7</a:t>
            </a:r>
          </a:p>
        </p:txBody>
      </p:sp>
      <p:sp>
        <p:nvSpPr>
          <p:cNvPr id="7" name="Rectangle 6"/>
          <p:cNvSpPr txBox="1">
            <a:spLocks noChangeArrowheads="1"/>
          </p:cNvSpPr>
          <p:nvPr/>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r>
              <a:rPr lang="de-DE" sz="1000" dirty="0">
                <a:solidFill>
                  <a:srgbClr val="FFFFFF"/>
                </a:solidFill>
              </a:rPr>
              <a:t>VDA 6.3 – </a:t>
            </a:r>
            <a:r>
              <a:rPr lang="de-DE" sz="1000">
                <a:solidFill>
                  <a:srgbClr val="FFFFFF"/>
                </a:solidFill>
              </a:rPr>
              <a:t>Questionnaire</a:t>
            </a:r>
            <a:r>
              <a:rPr lang="de-DE" sz="1000" dirty="0">
                <a:solidFill>
                  <a:srgbClr val="FFFFFF"/>
                </a:solidFill>
              </a:rPr>
              <a:t> P6</a:t>
            </a: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9616" y="2115407"/>
            <a:ext cx="2676702" cy="39225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7337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Inhaltsplatzhalter 3"/>
          <p:cNvSpPr>
            <a:spLocks noGrp="1"/>
          </p:cNvSpPr>
          <p:nvPr>
            <p:ph idx="1"/>
          </p:nvPr>
        </p:nvSpPr>
        <p:spPr bwMode="auto">
          <a:noFill/>
          <a:ln>
            <a:miter lim="800000"/>
            <a:headEnd/>
            <a:tailEnd/>
          </a:ln>
        </p:spPr>
        <p:txBody>
          <a:bodyPr vert="horz" wrap="square" numCol="1" anchor="t" anchorCtr="0" compatLnSpc="1">
            <a:prstTxWarp prst="textNoShape">
              <a:avLst/>
            </a:prstTxWarp>
          </a:bodyPr>
          <a:lstStyle/>
          <a:p>
            <a:pPr>
              <a:spcBef>
                <a:spcPct val="0"/>
              </a:spcBef>
            </a:pPr>
            <a:r>
              <a:rPr lang="en-GB" dirty="0"/>
              <a:t>Process element P6 – Process analysis / Production</a:t>
            </a:r>
          </a:p>
        </p:txBody>
      </p:sp>
      <p:sp>
        <p:nvSpPr>
          <p:cNvPr id="2" name="Titel 1"/>
          <p:cNvSpPr>
            <a:spLocks noGrp="1"/>
          </p:cNvSpPr>
          <p:nvPr>
            <p:ph type="title" idx="4294967295"/>
          </p:nvPr>
        </p:nvSpPr>
        <p:spPr>
          <a:xfrm>
            <a:off x="0" y="274638"/>
            <a:ext cx="8229600" cy="220662"/>
          </a:xfrm>
          <a:prstGeom prst="rect">
            <a:avLst/>
          </a:prstGeom>
        </p:spPr>
        <p:txBody>
          <a:bodyPr/>
          <a:lstStyle/>
          <a:p>
            <a:pPr algn="l"/>
            <a:r>
              <a:rPr lang="de-DE" sz="1000" kern="1200" dirty="0">
                <a:solidFill>
                  <a:schemeClr val="bg1"/>
                </a:solidFill>
                <a:effectLst/>
                <a:latin typeface="Verdana"/>
              </a:rPr>
              <a:t>LE80-020</a:t>
            </a:r>
            <a:endParaRPr lang="de-DE" dirty="0">
              <a:solidFill>
                <a:schemeClr val="bg1"/>
              </a:solidFill>
            </a:endParaRPr>
          </a:p>
        </p:txBody>
      </p:sp>
      <p:sp>
        <p:nvSpPr>
          <p:cNvPr id="32" name="Rectangle 6"/>
          <p:cNvSpPr txBox="1">
            <a:spLocks noChangeArrowheads="1"/>
          </p:cNvSpPr>
          <p:nvPr/>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r>
              <a:rPr lang="de-DE" sz="1000" dirty="0">
                <a:solidFill>
                  <a:srgbClr val="FFFFFF"/>
                </a:solidFill>
              </a:rPr>
              <a:t>VDA 6.3 – </a:t>
            </a:r>
            <a:r>
              <a:rPr lang="de-DE" sz="1000">
                <a:solidFill>
                  <a:srgbClr val="FFFFFF"/>
                </a:solidFill>
              </a:rPr>
              <a:t>Questionnaire</a:t>
            </a:r>
            <a:r>
              <a:rPr lang="de-DE" sz="1000" dirty="0">
                <a:solidFill>
                  <a:srgbClr val="FFFFFF"/>
                </a:solidFill>
              </a:rPr>
              <a:t> P6</a:t>
            </a:r>
          </a:p>
        </p:txBody>
      </p:sp>
      <p:grpSp>
        <p:nvGrpSpPr>
          <p:cNvPr id="3" name="Gruppieren 2"/>
          <p:cNvGrpSpPr/>
          <p:nvPr/>
        </p:nvGrpSpPr>
        <p:grpSpPr>
          <a:xfrm>
            <a:off x="179388" y="2844847"/>
            <a:ext cx="8856984" cy="1662804"/>
            <a:chOff x="179388" y="2734776"/>
            <a:chExt cx="8856984" cy="1662804"/>
          </a:xfrm>
        </p:grpSpPr>
        <p:sp>
          <p:nvSpPr>
            <p:cNvPr id="45" name="Rechteck 44"/>
            <p:cNvSpPr/>
            <p:nvPr/>
          </p:nvSpPr>
          <p:spPr>
            <a:xfrm>
              <a:off x="179388" y="2734776"/>
              <a:ext cx="8856984" cy="1662804"/>
            </a:xfrm>
            <a:prstGeom prst="rect">
              <a:avLst/>
            </a:prstGeom>
            <a:solidFill>
              <a:srgbClr val="BFD1E1"/>
            </a:solidFill>
            <a:ln>
              <a:noFill/>
            </a:ln>
          </p:spPr>
          <p:style>
            <a:lnRef idx="2">
              <a:schemeClr val="accent5">
                <a:shade val="50000"/>
              </a:schemeClr>
            </a:lnRef>
            <a:fillRef idx="1">
              <a:schemeClr val="accent5"/>
            </a:fillRef>
            <a:effectRef idx="0">
              <a:schemeClr val="accent5"/>
            </a:effectRef>
            <a:fontRef idx="minor">
              <a:schemeClr val="lt1"/>
            </a:fontRef>
          </p:style>
          <p:txBody>
            <a:bodyPr lIns="108000" tIns="108000" rtlCol="0" anchor="t"/>
            <a:lstStyle/>
            <a:p>
              <a:r>
                <a:rPr lang="de-DE" sz="1600" dirty="0">
                  <a:solidFill>
                    <a:srgbClr val="4074A6"/>
                  </a:solidFill>
                </a:rPr>
                <a:t>Allocation </a:t>
              </a:r>
              <a:br>
                <a:rPr lang="de-DE" sz="1600" dirty="0">
                  <a:solidFill>
                    <a:srgbClr val="4074A6"/>
                  </a:solidFill>
                </a:rPr>
              </a:br>
              <a:r>
                <a:rPr lang="de-DE" sz="1600" dirty="0">
                  <a:solidFill>
                    <a:srgbClr val="4074A6"/>
                  </a:solidFill>
                </a:rPr>
                <a:t>of questions</a:t>
              </a:r>
            </a:p>
          </p:txBody>
        </p:sp>
        <p:sp>
          <p:nvSpPr>
            <p:cNvPr id="46" name="Eingekerbter Richtungspfeil 45"/>
            <p:cNvSpPr/>
            <p:nvPr/>
          </p:nvSpPr>
          <p:spPr>
            <a:xfrm>
              <a:off x="2299003" y="2808000"/>
              <a:ext cx="4649137" cy="216024"/>
            </a:xfrm>
            <a:prstGeom prst="chevron">
              <a:avLst/>
            </a:prstGeom>
            <a:solidFill>
              <a:srgbClr val="7FA2C3"/>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de-DE" sz="1100" b="1" dirty="0">
                  <a:solidFill>
                    <a:srgbClr val="080808"/>
                  </a:solidFill>
                  <a:latin typeface="Arial"/>
                  <a:cs typeface="Arial"/>
                </a:rPr>
                <a:t>P2</a:t>
              </a:r>
            </a:p>
          </p:txBody>
        </p:sp>
        <p:sp>
          <p:nvSpPr>
            <p:cNvPr id="47" name="Eingekerbter Richtungspfeil 46"/>
            <p:cNvSpPr/>
            <p:nvPr/>
          </p:nvSpPr>
          <p:spPr>
            <a:xfrm>
              <a:off x="1866956" y="3137563"/>
              <a:ext cx="3533504" cy="216024"/>
            </a:xfrm>
            <a:prstGeom prst="chevron">
              <a:avLst/>
            </a:prstGeom>
            <a:solidFill>
              <a:srgbClr val="7FA2C3"/>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de-DE" sz="1100" b="1" dirty="0">
                  <a:solidFill>
                    <a:srgbClr val="080808"/>
                  </a:solidFill>
                  <a:latin typeface="Arial"/>
                  <a:cs typeface="Arial"/>
                </a:rPr>
                <a:t>P3</a:t>
              </a:r>
            </a:p>
          </p:txBody>
        </p:sp>
        <p:sp>
          <p:nvSpPr>
            <p:cNvPr id="49" name="Eingekerbter Richtungspfeil 48"/>
            <p:cNvSpPr/>
            <p:nvPr/>
          </p:nvSpPr>
          <p:spPr>
            <a:xfrm>
              <a:off x="4963673" y="3474000"/>
              <a:ext cx="1588620" cy="216024"/>
            </a:xfrm>
            <a:prstGeom prst="chevron">
              <a:avLst/>
            </a:prstGeom>
            <a:solidFill>
              <a:srgbClr val="7FA2C3"/>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de-DE" sz="1100" b="1" dirty="0">
                  <a:solidFill>
                    <a:srgbClr val="080808"/>
                  </a:solidFill>
                  <a:latin typeface="Arial"/>
                  <a:cs typeface="Arial"/>
                </a:rPr>
                <a:t>P4</a:t>
              </a:r>
            </a:p>
          </p:txBody>
        </p:sp>
        <p:sp>
          <p:nvSpPr>
            <p:cNvPr id="50" name="Eingekerbter Richtungspfeil 49"/>
            <p:cNvSpPr/>
            <p:nvPr/>
          </p:nvSpPr>
          <p:spPr>
            <a:xfrm>
              <a:off x="3130166" y="3802355"/>
              <a:ext cx="4281779" cy="216024"/>
            </a:xfrm>
            <a:prstGeom prst="chevron">
              <a:avLst/>
            </a:prstGeom>
            <a:solidFill>
              <a:srgbClr val="7FA2C3"/>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de-DE" sz="1100" b="1" dirty="0">
                  <a:solidFill>
                    <a:srgbClr val="080808"/>
                  </a:solidFill>
                  <a:latin typeface="Arial"/>
                  <a:cs typeface="Arial"/>
                </a:rPr>
                <a:t>P5</a:t>
              </a:r>
            </a:p>
          </p:txBody>
        </p:sp>
        <p:sp>
          <p:nvSpPr>
            <p:cNvPr id="55" name="Eingekerbter Richtungspfeil 54"/>
            <p:cNvSpPr/>
            <p:nvPr/>
          </p:nvSpPr>
          <p:spPr>
            <a:xfrm>
              <a:off x="6407904" y="4111891"/>
              <a:ext cx="2083788" cy="216024"/>
            </a:xfrm>
            <a:prstGeom prst="chevron">
              <a:avLst/>
            </a:prstGeom>
            <a:solidFill>
              <a:srgbClr val="4074A6"/>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de-DE" sz="1100" b="1" dirty="0">
                  <a:solidFill>
                    <a:srgbClr val="080808"/>
                  </a:solidFill>
                  <a:latin typeface="Arial"/>
                  <a:cs typeface="Arial"/>
                </a:rPr>
                <a:t>P6</a:t>
              </a:r>
            </a:p>
          </p:txBody>
        </p:sp>
      </p:grpSp>
      <p:sp>
        <p:nvSpPr>
          <p:cNvPr id="25" name="Inhaltsplatzhalter 3"/>
          <p:cNvSpPr txBox="1">
            <a:spLocks/>
          </p:cNvSpPr>
          <p:nvPr/>
        </p:nvSpPr>
        <p:spPr>
          <a:xfrm>
            <a:off x="179512" y="4621786"/>
            <a:ext cx="8785100" cy="2024553"/>
          </a:xfrm>
          <a:prstGeom prst="rect">
            <a:avLst/>
          </a:prstGeom>
        </p:spPr>
        <p:txBody>
          <a:bodyPr lIns="0" tIns="0" rIns="0" bIns="0"/>
          <a:lstStyle>
            <a:lvl1pPr marL="342900" indent="-342900" algn="l" rtl="0" eaLnBrk="0" fontAlgn="base" hangingPunct="0">
              <a:spcBef>
                <a:spcPts val="0"/>
              </a:spcBef>
              <a:spcAft>
                <a:spcPts val="600"/>
              </a:spcAft>
              <a:buFont typeface="Arial" charset="0"/>
              <a:buNone/>
              <a:defRPr sz="1600" b="0"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Char char="-"/>
              <a:defRPr sz="1600" b="0" kern="1200">
                <a:solidFill>
                  <a:schemeClr val="tx1"/>
                </a:solidFill>
                <a:latin typeface="Verdana" pitchFamily="34" charset="0"/>
                <a:ea typeface="+mn-ea"/>
                <a:cs typeface="+mn-cs"/>
              </a:defRPr>
            </a:lvl3pPr>
            <a:lvl4pPr marL="896938" indent="-361950" algn="l" rtl="0" eaLnBrk="0" fontAlgn="base" hangingPunct="0">
              <a:spcBef>
                <a:spcPts val="0"/>
              </a:spcBef>
              <a:spcAft>
                <a:spcPts val="600"/>
              </a:spcAft>
              <a:buFont typeface="Symbol" pitchFamily="18" charset="2"/>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r>
              <a:rPr lang="de-DE" sz="1400" b="1" dirty="0" err="1">
                <a:solidFill>
                  <a:srgbClr val="080808"/>
                </a:solidFill>
              </a:rPr>
              <a:t>What</a:t>
            </a:r>
            <a:r>
              <a:rPr lang="de-DE" sz="1400" b="1" dirty="0">
                <a:solidFill>
                  <a:srgbClr val="080808"/>
                </a:solidFill>
              </a:rPr>
              <a:t> is ensured?</a:t>
            </a:r>
          </a:p>
          <a:p>
            <a:pPr marL="285750" indent="-285750">
              <a:buFont typeface="Arial" panose="020B0604020202020204" pitchFamily="34" charset="0"/>
              <a:buChar char="•"/>
              <a:defRPr/>
            </a:pPr>
            <a:r>
              <a:rPr lang="de-DE" sz="1400" dirty="0">
                <a:solidFill>
                  <a:srgbClr val="080808"/>
                </a:solidFill>
              </a:rPr>
              <a:t>P6.1: </a:t>
            </a:r>
            <a:r>
              <a:rPr lang="en-GB" sz="1400" dirty="0">
                <a:solidFill>
                  <a:srgbClr val="080808"/>
                </a:solidFill>
              </a:rPr>
              <a:t>What goes into the process – Process input</a:t>
            </a:r>
          </a:p>
          <a:p>
            <a:pPr marL="285750" indent="-285750">
              <a:buFont typeface="Arial" panose="020B0604020202020204" pitchFamily="34" charset="0"/>
              <a:buChar char="•"/>
              <a:defRPr/>
            </a:pPr>
            <a:r>
              <a:rPr lang="en-GB" sz="1400" dirty="0">
                <a:solidFill>
                  <a:srgbClr val="080808"/>
                </a:solidFill>
              </a:rPr>
              <a:t>P6.2: Are all production processes controlled – Process management</a:t>
            </a:r>
          </a:p>
          <a:p>
            <a:pPr marL="285750" indent="-285750">
              <a:buFont typeface="Arial" panose="020B0604020202020204" pitchFamily="34" charset="0"/>
              <a:buChar char="•"/>
              <a:defRPr/>
            </a:pPr>
            <a:r>
              <a:rPr lang="en-GB" sz="1400" dirty="0">
                <a:solidFill>
                  <a:srgbClr val="080808"/>
                </a:solidFill>
              </a:rPr>
              <a:t>P6.3: What functions support the process – Personnel resources</a:t>
            </a:r>
          </a:p>
          <a:p>
            <a:pPr marL="285750" indent="-285750">
              <a:buFont typeface="Arial" panose="020B0604020202020204" pitchFamily="34" charset="0"/>
              <a:buChar char="•"/>
              <a:defRPr/>
            </a:pPr>
            <a:r>
              <a:rPr lang="en-GB" sz="1400" dirty="0">
                <a:solidFill>
                  <a:srgbClr val="080808"/>
                </a:solidFill>
              </a:rPr>
              <a:t>P6.4: What means are used to implement the process – Material resources</a:t>
            </a:r>
          </a:p>
          <a:p>
            <a:pPr marL="285750" indent="-285750">
              <a:buFont typeface="Arial" panose="020B0604020202020204" pitchFamily="34" charset="0"/>
              <a:buChar char="•"/>
              <a:defRPr/>
            </a:pPr>
            <a:r>
              <a:rPr lang="en-GB" sz="1400" dirty="0">
                <a:solidFill>
                  <a:srgbClr val="080808"/>
                </a:solidFill>
              </a:rPr>
              <a:t>P6.5: How effective is the process being carried out – Effectiveness, efficiency, …</a:t>
            </a:r>
          </a:p>
          <a:p>
            <a:pPr marL="285750" indent="-285750">
              <a:buFont typeface="Arial" panose="020B0604020202020204" pitchFamily="34" charset="0"/>
              <a:buChar char="•"/>
              <a:defRPr/>
            </a:pPr>
            <a:r>
              <a:rPr lang="en-GB" sz="1400" dirty="0">
                <a:solidFill>
                  <a:srgbClr val="080808"/>
                </a:solidFill>
              </a:rPr>
              <a:t>P6.6: What should the process produce – Process result (output)</a:t>
            </a:r>
          </a:p>
          <a:p>
            <a:pPr marL="271463" indent="-271463">
              <a:buFont typeface="Arial" pitchFamily="34" charset="0"/>
              <a:buChar char="•"/>
              <a:defRPr/>
            </a:pPr>
            <a:endParaRPr lang="de-DE" sz="1400" dirty="0">
              <a:solidFill>
                <a:srgbClr val="080808"/>
              </a:solidFill>
            </a:endParaRPr>
          </a:p>
          <a:p>
            <a:pPr>
              <a:buFont typeface="Arial" panose="020B0604020202020204" pitchFamily="34" charset="0"/>
              <a:buChar char="•"/>
            </a:pPr>
            <a:endParaRPr lang="de-DE" sz="1400" b="1" dirty="0">
              <a:solidFill>
                <a:srgbClr val="080808"/>
              </a:solidFill>
            </a:endParaRPr>
          </a:p>
          <a:p>
            <a:pPr>
              <a:buFont typeface="Arial" panose="020B0604020202020204" pitchFamily="34" charset="0"/>
              <a:buChar char="•"/>
            </a:pPr>
            <a:endParaRPr lang="de-DE" sz="1400" b="1" dirty="0">
              <a:solidFill>
                <a:srgbClr val="080808"/>
              </a:solidFill>
            </a:endParaRPr>
          </a:p>
          <a:p>
            <a:endParaRPr lang="de-DE" sz="1400" dirty="0">
              <a:solidFill>
                <a:srgbClr val="080808"/>
              </a:solidFill>
            </a:endParaRPr>
          </a:p>
        </p:txBody>
      </p:sp>
      <p:grpSp>
        <p:nvGrpSpPr>
          <p:cNvPr id="33" name="Gruppieren 32"/>
          <p:cNvGrpSpPr/>
          <p:nvPr/>
        </p:nvGrpSpPr>
        <p:grpSpPr>
          <a:xfrm>
            <a:off x="179388" y="1468269"/>
            <a:ext cx="8856984" cy="1325595"/>
            <a:chOff x="179388" y="1482965"/>
            <a:chExt cx="8856984" cy="1325595"/>
          </a:xfrm>
        </p:grpSpPr>
        <p:sp>
          <p:nvSpPr>
            <p:cNvPr id="34" name="Rechteck 33"/>
            <p:cNvSpPr/>
            <p:nvPr/>
          </p:nvSpPr>
          <p:spPr>
            <a:xfrm>
              <a:off x="179388" y="1539717"/>
              <a:ext cx="8856984" cy="1268843"/>
            </a:xfrm>
            <a:prstGeom prst="rect">
              <a:avLst/>
            </a:prstGeom>
            <a:solidFill>
              <a:schemeClr val="accent6">
                <a:alpha val="3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lIns="108000" tIns="108000" rtlCol="0" anchor="t"/>
            <a:lstStyle/>
            <a:p>
              <a:r>
                <a:rPr lang="de-DE" sz="1600" dirty="0">
                  <a:solidFill>
                    <a:srgbClr val="B45000"/>
                  </a:solidFill>
                </a:rPr>
                <a:t>Organisation</a:t>
              </a:r>
            </a:p>
          </p:txBody>
        </p:sp>
        <p:sp>
          <p:nvSpPr>
            <p:cNvPr id="35" name="Richtungspfeil 34"/>
            <p:cNvSpPr/>
            <p:nvPr/>
          </p:nvSpPr>
          <p:spPr>
            <a:xfrm>
              <a:off x="1866956" y="1694773"/>
              <a:ext cx="1048384" cy="1073423"/>
            </a:xfrm>
            <a:prstGeom prst="homePlate">
              <a:avLst>
                <a:gd name="adj" fmla="val 22251"/>
              </a:avLst>
            </a:prstGeom>
            <a:solidFill>
              <a:schemeClr val="accent6"/>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lIns="18000" rIns="18000" rtlCol="0" anchor="ctr"/>
            <a:lstStyle/>
            <a:p>
              <a:pPr algn="ctr"/>
              <a:r>
                <a:rPr lang="de-DE" sz="1100" dirty="0">
                  <a:solidFill>
                    <a:srgbClr val="080808"/>
                  </a:solidFill>
                  <a:cs typeface="Arial"/>
                </a:rPr>
                <a:t>Offer processing (contract review)</a:t>
              </a:r>
            </a:p>
          </p:txBody>
        </p:sp>
        <p:sp>
          <p:nvSpPr>
            <p:cNvPr id="36" name="Richtungspfeil 35"/>
            <p:cNvSpPr/>
            <p:nvPr/>
          </p:nvSpPr>
          <p:spPr>
            <a:xfrm>
              <a:off x="5400460" y="1694773"/>
              <a:ext cx="1331303" cy="1073423"/>
            </a:xfrm>
            <a:prstGeom prst="homePlate">
              <a:avLst>
                <a:gd name="adj" fmla="val 22167"/>
              </a:avLst>
            </a:prstGeom>
            <a:solidFill>
              <a:schemeClr val="accent6"/>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lIns="18000" rIns="18000" rtlCol="0" anchor="ctr"/>
            <a:lstStyle/>
            <a:p>
              <a:pPr algn="ctr"/>
              <a:r>
                <a:rPr lang="de-DE" sz="1100" dirty="0">
                  <a:solidFill>
                    <a:srgbClr val="080808"/>
                  </a:solidFill>
                  <a:cs typeface="Arial"/>
                </a:rPr>
                <a:t>Product/ process development</a:t>
              </a:r>
            </a:p>
          </p:txBody>
        </p:sp>
        <p:sp>
          <p:nvSpPr>
            <p:cNvPr id="37" name="Richtungspfeil 36"/>
            <p:cNvSpPr/>
            <p:nvPr/>
          </p:nvSpPr>
          <p:spPr>
            <a:xfrm>
              <a:off x="6948140" y="1694773"/>
              <a:ext cx="1080119" cy="1073423"/>
            </a:xfrm>
            <a:prstGeom prst="homePlate">
              <a:avLst>
                <a:gd name="adj" fmla="val 23854"/>
              </a:avLst>
            </a:prstGeom>
            <a:solidFill>
              <a:schemeClr val="accent6"/>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lIns="18000" rIns="18000" rtlCol="0" anchor="ctr"/>
            <a:lstStyle/>
            <a:p>
              <a:pPr algn="ctr"/>
              <a:r>
                <a:rPr lang="de-DE" sz="1100" dirty="0">
                  <a:solidFill>
                    <a:srgbClr val="080808"/>
                  </a:solidFill>
                  <a:cs typeface="Arial"/>
                </a:rPr>
                <a:t>Serial production</a:t>
              </a:r>
            </a:p>
          </p:txBody>
        </p:sp>
        <p:sp>
          <p:nvSpPr>
            <p:cNvPr id="38" name="Richtungspfeil 37"/>
            <p:cNvSpPr/>
            <p:nvPr/>
          </p:nvSpPr>
          <p:spPr>
            <a:xfrm>
              <a:off x="8028258" y="1694773"/>
              <a:ext cx="936105" cy="1073423"/>
            </a:xfrm>
            <a:prstGeom prst="homePlate">
              <a:avLst>
                <a:gd name="adj" fmla="val 26789"/>
              </a:avLst>
            </a:prstGeom>
            <a:solidFill>
              <a:schemeClr val="accent6"/>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lIns="18000" rIns="18000" rtlCol="0" anchor="ctr"/>
            <a:lstStyle/>
            <a:p>
              <a:pPr algn="ctr"/>
              <a:r>
                <a:rPr lang="de-DE" sz="1100" dirty="0">
                  <a:solidFill>
                    <a:srgbClr val="080808"/>
                  </a:solidFill>
                  <a:cs typeface="Arial"/>
                </a:rPr>
                <a:t>Customer service (after sales)</a:t>
              </a:r>
            </a:p>
          </p:txBody>
        </p:sp>
        <p:sp>
          <p:nvSpPr>
            <p:cNvPr id="39" name="Richtungspfeil 38"/>
            <p:cNvSpPr/>
            <p:nvPr/>
          </p:nvSpPr>
          <p:spPr>
            <a:xfrm>
              <a:off x="3129795" y="1694773"/>
              <a:ext cx="1010034" cy="1073423"/>
            </a:xfrm>
            <a:prstGeom prst="homePlate">
              <a:avLst>
                <a:gd name="adj" fmla="val 23341"/>
              </a:avLst>
            </a:prstGeom>
            <a:solidFill>
              <a:schemeClr val="accent6"/>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lIns="18000" rIns="18000" rtlCol="0" anchor="ctr"/>
            <a:lstStyle/>
            <a:p>
              <a:pPr algn="ctr"/>
              <a:r>
                <a:rPr lang="de-DE" sz="1100" dirty="0">
                  <a:solidFill>
                    <a:srgbClr val="080808"/>
                  </a:solidFill>
                  <a:cs typeface="Arial"/>
                </a:rPr>
                <a:t>Product/</a:t>
              </a:r>
              <a:br>
                <a:rPr lang="de-DE" sz="1100" dirty="0">
                  <a:solidFill>
                    <a:srgbClr val="080808"/>
                  </a:solidFill>
                  <a:cs typeface="Arial"/>
                </a:rPr>
              </a:br>
              <a:r>
                <a:rPr lang="de-DE" sz="1100" dirty="0">
                  <a:solidFill>
                    <a:srgbClr val="080808"/>
                  </a:solidFill>
                  <a:cs typeface="Arial"/>
                </a:rPr>
                <a:t>process definition</a:t>
              </a:r>
            </a:p>
          </p:txBody>
        </p:sp>
        <p:sp>
          <p:nvSpPr>
            <p:cNvPr id="40" name="Richtungspfeil 39"/>
            <p:cNvSpPr/>
            <p:nvPr/>
          </p:nvSpPr>
          <p:spPr>
            <a:xfrm>
              <a:off x="4139829" y="1694773"/>
              <a:ext cx="1044254" cy="1073423"/>
            </a:xfrm>
            <a:prstGeom prst="homePlate">
              <a:avLst>
                <a:gd name="adj" fmla="val 22257"/>
              </a:avLst>
            </a:prstGeom>
            <a:solidFill>
              <a:schemeClr val="accent6"/>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lIns="18000" rIns="18000" rtlCol="0" anchor="ctr"/>
            <a:lstStyle/>
            <a:p>
              <a:pPr algn="ctr"/>
              <a:r>
                <a:rPr lang="de-DE" sz="1100" dirty="0">
                  <a:solidFill>
                    <a:srgbClr val="080808"/>
                  </a:solidFill>
                  <a:cs typeface="Arial"/>
                </a:rPr>
                <a:t>Preselection of suppliers: potential analysis</a:t>
              </a:r>
            </a:p>
          </p:txBody>
        </p:sp>
        <p:sp>
          <p:nvSpPr>
            <p:cNvPr id="41" name="Inhaltsplatzhalter 72"/>
            <p:cNvSpPr txBox="1">
              <a:spLocks/>
            </p:cNvSpPr>
            <p:nvPr/>
          </p:nvSpPr>
          <p:spPr>
            <a:xfrm>
              <a:off x="6373898" y="1482965"/>
              <a:ext cx="864096" cy="368774"/>
            </a:xfrm>
            <a:prstGeom prst="rect">
              <a:avLst/>
            </a:prstGeom>
          </p:spPr>
          <p:txBody>
            <a:bodyPr vert="horz" lIns="36000" tIns="45720" rIns="3600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de-DE" sz="1000" b="1" dirty="0">
                  <a:solidFill>
                    <a:srgbClr val="080808"/>
                  </a:solidFill>
                </a:rPr>
                <a:t>SOP</a:t>
              </a:r>
            </a:p>
          </p:txBody>
        </p:sp>
        <p:sp>
          <p:nvSpPr>
            <p:cNvPr id="42" name="Inhaltsplatzhalter 72"/>
            <p:cNvSpPr txBox="1">
              <a:spLocks/>
            </p:cNvSpPr>
            <p:nvPr/>
          </p:nvSpPr>
          <p:spPr>
            <a:xfrm>
              <a:off x="2391148" y="1482965"/>
              <a:ext cx="1152127" cy="368774"/>
            </a:xfrm>
            <a:prstGeom prst="rect">
              <a:avLst/>
            </a:prstGeom>
          </p:spPr>
          <p:txBody>
            <a:bodyPr vert="horz" lIns="36000" tIns="45720" rIns="3600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de-DE" sz="1100" b="1" dirty="0">
                  <a:solidFill>
                    <a:srgbClr val="080808"/>
                  </a:solidFill>
                </a:rPr>
                <a:t>Receive order</a:t>
              </a:r>
            </a:p>
          </p:txBody>
        </p:sp>
        <p:sp>
          <p:nvSpPr>
            <p:cNvPr id="43" name="Inhaltsplatzhalter 72"/>
            <p:cNvSpPr txBox="1">
              <a:spLocks/>
            </p:cNvSpPr>
            <p:nvPr/>
          </p:nvSpPr>
          <p:spPr>
            <a:xfrm>
              <a:off x="4812625" y="1482965"/>
              <a:ext cx="864096" cy="380421"/>
            </a:xfrm>
            <a:prstGeom prst="rect">
              <a:avLst/>
            </a:prstGeom>
          </p:spPr>
          <p:txBody>
            <a:bodyPr vert="horz" lIns="36000" tIns="45720" rIns="3600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de-DE" sz="1000" b="1">
                  <a:solidFill>
                    <a:srgbClr val="080808"/>
                  </a:solidFill>
                </a:rPr>
                <a:t>Issue</a:t>
              </a:r>
              <a:r>
                <a:rPr lang="de-DE" sz="1000" b="1" dirty="0">
                  <a:solidFill>
                    <a:srgbClr val="080808"/>
                  </a:solidFill>
                </a:rPr>
                <a:t> contract</a:t>
              </a:r>
            </a:p>
          </p:txBody>
        </p:sp>
        <p:sp>
          <p:nvSpPr>
            <p:cNvPr id="44" name="Rechteck 43"/>
            <p:cNvSpPr/>
            <p:nvPr/>
          </p:nvSpPr>
          <p:spPr>
            <a:xfrm rot="18900000">
              <a:off x="2945104" y="2154983"/>
              <a:ext cx="153002" cy="153002"/>
            </a:xfrm>
            <a:prstGeom prst="rect">
              <a:avLst/>
            </a:prstGeom>
            <a:solidFill>
              <a:schemeClr val="tx1"/>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lIns="18000" rIns="18000" rtlCol="0" anchor="ctr"/>
            <a:lstStyle/>
            <a:p>
              <a:pPr algn="ctr"/>
              <a:endParaRPr lang="de-DE" sz="1100" dirty="0">
                <a:solidFill>
                  <a:srgbClr val="080808"/>
                </a:solidFill>
                <a:latin typeface="Arial"/>
                <a:cs typeface="Arial"/>
              </a:endParaRPr>
            </a:p>
          </p:txBody>
        </p:sp>
        <p:sp>
          <p:nvSpPr>
            <p:cNvPr id="58" name="Rechteck 57"/>
            <p:cNvSpPr/>
            <p:nvPr/>
          </p:nvSpPr>
          <p:spPr>
            <a:xfrm rot="18900000">
              <a:off x="5215770" y="2154983"/>
              <a:ext cx="153002" cy="153002"/>
            </a:xfrm>
            <a:prstGeom prst="rect">
              <a:avLst/>
            </a:prstGeom>
            <a:solidFill>
              <a:schemeClr val="tx1"/>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lIns="18000" rIns="18000" rtlCol="0" anchor="ctr"/>
            <a:lstStyle/>
            <a:p>
              <a:pPr algn="ctr"/>
              <a:endParaRPr lang="de-DE" sz="1100" dirty="0">
                <a:solidFill>
                  <a:srgbClr val="080808"/>
                </a:solidFill>
                <a:latin typeface="Arial"/>
                <a:cs typeface="Arial"/>
              </a:endParaRPr>
            </a:p>
          </p:txBody>
        </p:sp>
        <p:sp>
          <p:nvSpPr>
            <p:cNvPr id="59" name="Rechteck 58"/>
            <p:cNvSpPr/>
            <p:nvPr/>
          </p:nvSpPr>
          <p:spPr>
            <a:xfrm rot="18900000">
              <a:off x="6763450" y="2154983"/>
              <a:ext cx="153002" cy="153002"/>
            </a:xfrm>
            <a:prstGeom prst="rect">
              <a:avLst/>
            </a:prstGeom>
            <a:solidFill>
              <a:schemeClr val="tx1"/>
            </a:solidFill>
            <a:ln w="19050">
              <a:noFill/>
              <a:miter lim="800000"/>
            </a:ln>
          </p:spPr>
          <p:style>
            <a:lnRef idx="2">
              <a:schemeClr val="accent5">
                <a:shade val="50000"/>
              </a:schemeClr>
            </a:lnRef>
            <a:fillRef idx="1">
              <a:schemeClr val="accent5"/>
            </a:fillRef>
            <a:effectRef idx="0">
              <a:schemeClr val="accent5"/>
            </a:effectRef>
            <a:fontRef idx="minor">
              <a:schemeClr val="lt1"/>
            </a:fontRef>
          </p:style>
          <p:txBody>
            <a:bodyPr lIns="18000" rIns="18000" rtlCol="0" anchor="ctr"/>
            <a:lstStyle/>
            <a:p>
              <a:pPr algn="ctr"/>
              <a:endParaRPr lang="de-DE" sz="1100" dirty="0">
                <a:solidFill>
                  <a:srgbClr val="080808"/>
                </a:solidFill>
                <a:latin typeface="Arial"/>
                <a:cs typeface="Arial"/>
              </a:endParaRPr>
            </a:p>
          </p:txBody>
        </p:sp>
      </p:grpSp>
    </p:spTree>
    <p:extLst>
      <p:ext uri="{BB962C8B-B14F-4D97-AF65-F5344CB8AC3E}">
        <p14:creationId xmlns:p14="http://schemas.microsoft.com/office/powerpoint/2010/main" val="3712638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Inhaltsplatzhalter 3"/>
          <p:cNvSpPr>
            <a:spLocks noGrp="1"/>
          </p:cNvSpPr>
          <p:nvPr>
            <p:ph idx="1"/>
          </p:nvPr>
        </p:nvSpPr>
        <p:spPr bwMode="auto">
          <a:noFill/>
          <a:ln>
            <a:miter lim="800000"/>
            <a:headEnd/>
            <a:tailEnd/>
          </a:ln>
        </p:spPr>
        <p:txBody>
          <a:bodyPr vert="horz" wrap="square" numCol="1" anchor="t" anchorCtr="0" compatLnSpc="1">
            <a:prstTxWarp prst="textNoShape">
              <a:avLst/>
            </a:prstTxWarp>
          </a:bodyPr>
          <a:lstStyle/>
          <a:p>
            <a:pPr marL="0" indent="0">
              <a:spcBef>
                <a:spcPct val="0"/>
              </a:spcBef>
            </a:pPr>
            <a:r>
              <a:rPr lang="en-GB" dirty="0"/>
              <a:t>Layout of questions using the turtle approach</a:t>
            </a:r>
          </a:p>
          <a:p>
            <a:pPr>
              <a:spcBef>
                <a:spcPct val="0"/>
              </a:spcBef>
            </a:pPr>
            <a:endParaRPr lang="de-DE" dirty="0"/>
          </a:p>
        </p:txBody>
      </p:sp>
      <p:sp>
        <p:nvSpPr>
          <p:cNvPr id="2" name="Titel 1"/>
          <p:cNvSpPr>
            <a:spLocks noGrp="1"/>
          </p:cNvSpPr>
          <p:nvPr>
            <p:ph type="title" idx="4294967295"/>
          </p:nvPr>
        </p:nvSpPr>
        <p:spPr>
          <a:xfrm>
            <a:off x="0" y="274638"/>
            <a:ext cx="8229600" cy="220662"/>
          </a:xfrm>
          <a:prstGeom prst="rect">
            <a:avLst/>
          </a:prstGeom>
        </p:spPr>
        <p:txBody>
          <a:bodyPr/>
          <a:lstStyle/>
          <a:p>
            <a:pPr algn="l"/>
            <a:r>
              <a:rPr lang="de-DE" sz="1000" dirty="0">
                <a:solidFill>
                  <a:schemeClr val="bg1"/>
                </a:solidFill>
                <a:latin typeface="Verdana"/>
              </a:rPr>
              <a:t>L</a:t>
            </a:r>
            <a:r>
              <a:rPr lang="de-DE" sz="1000" kern="1200" dirty="0">
                <a:solidFill>
                  <a:schemeClr val="bg1"/>
                </a:solidFill>
                <a:effectLst/>
                <a:latin typeface="Verdana"/>
              </a:rPr>
              <a:t>E80-021</a:t>
            </a:r>
            <a:endParaRPr lang="de-DE" dirty="0">
              <a:solidFill>
                <a:schemeClr val="bg1"/>
              </a:solidFill>
            </a:endParaRPr>
          </a:p>
        </p:txBody>
      </p:sp>
      <p:sp>
        <p:nvSpPr>
          <p:cNvPr id="40" name="Rectangle 6"/>
          <p:cNvSpPr txBox="1">
            <a:spLocks noChangeArrowheads="1"/>
          </p:cNvSpPr>
          <p:nvPr/>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r>
              <a:rPr lang="de-DE" sz="1000" dirty="0">
                <a:solidFill>
                  <a:srgbClr val="FFFFFF"/>
                </a:solidFill>
              </a:rPr>
              <a:t>VDA 6.3 – </a:t>
            </a:r>
            <a:r>
              <a:rPr lang="de-DE" sz="1000">
                <a:solidFill>
                  <a:srgbClr val="FFFFFF"/>
                </a:solidFill>
              </a:rPr>
              <a:t>Questionnaire</a:t>
            </a:r>
            <a:r>
              <a:rPr lang="de-DE" sz="1000" dirty="0">
                <a:solidFill>
                  <a:srgbClr val="FFFFFF"/>
                </a:solidFill>
              </a:rPr>
              <a:t> P6</a:t>
            </a:r>
          </a:p>
        </p:txBody>
      </p:sp>
      <p:grpSp>
        <p:nvGrpSpPr>
          <p:cNvPr id="37" name="Gruppieren 36"/>
          <p:cNvGrpSpPr/>
          <p:nvPr/>
        </p:nvGrpSpPr>
        <p:grpSpPr>
          <a:xfrm>
            <a:off x="335023" y="1710000"/>
            <a:ext cx="8502426" cy="4494680"/>
            <a:chOff x="335023" y="1937910"/>
            <a:chExt cx="8502426" cy="4494680"/>
          </a:xfrm>
        </p:grpSpPr>
        <p:cxnSp>
          <p:nvCxnSpPr>
            <p:cNvPr id="38" name="Gerade Verbindung 6"/>
            <p:cNvCxnSpPr/>
            <p:nvPr/>
          </p:nvCxnSpPr>
          <p:spPr bwMode="auto">
            <a:xfrm rot="16200000" flipV="1">
              <a:off x="3335721" y="3195619"/>
              <a:ext cx="2467752" cy="1991351"/>
            </a:xfrm>
            <a:prstGeom prst="line">
              <a:avLst/>
            </a:prstGeom>
            <a:noFill/>
            <a:ln w="28575" cap="flat" cmpd="sng" algn="ctr">
              <a:solidFill>
                <a:schemeClr val="tx1"/>
              </a:solidFill>
              <a:prstDash val="solid"/>
              <a:round/>
              <a:headEnd type="none" w="med" len="med"/>
              <a:tailEnd type="none" w="med" len="med"/>
            </a:ln>
            <a:effectLst/>
          </p:spPr>
        </p:cxnSp>
        <p:cxnSp>
          <p:nvCxnSpPr>
            <p:cNvPr id="39" name="Gerade Verbindung 7"/>
            <p:cNvCxnSpPr/>
            <p:nvPr/>
          </p:nvCxnSpPr>
          <p:spPr bwMode="auto">
            <a:xfrm rot="5400000">
              <a:off x="3335721" y="3195619"/>
              <a:ext cx="2467752" cy="1991351"/>
            </a:xfrm>
            <a:prstGeom prst="line">
              <a:avLst/>
            </a:prstGeom>
            <a:noFill/>
            <a:ln w="28575" cap="flat" cmpd="sng" algn="ctr">
              <a:solidFill>
                <a:schemeClr val="tx1"/>
              </a:solidFill>
              <a:prstDash val="solid"/>
              <a:round/>
              <a:headEnd type="none" w="med" len="med"/>
              <a:tailEnd type="none" w="med" len="med"/>
            </a:ln>
            <a:effectLst/>
          </p:spPr>
        </p:cxnSp>
        <p:sp>
          <p:nvSpPr>
            <p:cNvPr id="41" name="AutoShape 5"/>
            <p:cNvSpPr>
              <a:spLocks noChangeArrowheads="1"/>
            </p:cNvSpPr>
            <p:nvPr/>
          </p:nvSpPr>
          <p:spPr bwMode="auto">
            <a:xfrm>
              <a:off x="1536135" y="3478987"/>
              <a:ext cx="3582210" cy="1235302"/>
            </a:xfrm>
            <a:prstGeom prst="chevron">
              <a:avLst>
                <a:gd name="adj" fmla="val 52803"/>
              </a:avLst>
            </a:prstGeom>
            <a:solidFill>
              <a:srgbClr val="4074A6"/>
            </a:solidFill>
            <a:ln w="12700" algn="ctr">
              <a:noFill/>
              <a:miter lim="800000"/>
              <a:headEnd/>
              <a:tailEnd/>
            </a:ln>
          </p:spPr>
          <p:txBody>
            <a:bodyPr wrap="none" lIns="0" tIns="0" rIns="0" bIns="0" anchor="ctr"/>
            <a:lstStyle/>
            <a:p>
              <a:pPr marL="342900" indent="-342900">
                <a:lnSpc>
                  <a:spcPct val="80000"/>
                </a:lnSpc>
                <a:spcBef>
                  <a:spcPct val="20000"/>
                </a:spcBef>
              </a:pPr>
              <a:r>
                <a:rPr lang="de-DE" sz="1000" dirty="0">
                  <a:solidFill>
                    <a:srgbClr val="FFFFFF"/>
                  </a:solidFill>
                  <a:ea typeface="Verdana" pitchFamily="34" charset="0"/>
                  <a:cs typeface="Verdana" pitchFamily="34" charset="0"/>
                </a:rPr>
                <a:t>  </a:t>
              </a:r>
              <a:r>
                <a:rPr lang="de-DE" sz="1200" b="1">
                  <a:solidFill>
                    <a:srgbClr val="FFFFFF"/>
                  </a:solidFill>
                  <a:ea typeface="Verdana" pitchFamily="34" charset="0"/>
                  <a:cs typeface="Verdana" pitchFamily="34" charset="0"/>
                </a:rPr>
                <a:t>Input</a:t>
              </a:r>
              <a:r>
                <a:rPr lang="de-DE" sz="1000" dirty="0">
                  <a:solidFill>
                    <a:srgbClr val="FFFFFF"/>
                  </a:solidFill>
                  <a:ea typeface="Verdana" pitchFamily="34" charset="0"/>
                  <a:cs typeface="Verdana" pitchFamily="34" charset="0"/>
                </a:rPr>
                <a:t>       </a:t>
              </a:r>
            </a:p>
          </p:txBody>
        </p:sp>
        <p:sp>
          <p:nvSpPr>
            <p:cNvPr id="42" name="AutoShape 6"/>
            <p:cNvSpPr>
              <a:spLocks noChangeArrowheads="1"/>
            </p:cNvSpPr>
            <p:nvPr/>
          </p:nvSpPr>
          <p:spPr bwMode="auto">
            <a:xfrm>
              <a:off x="4382907" y="3478987"/>
              <a:ext cx="2984743" cy="1235302"/>
            </a:xfrm>
            <a:prstGeom prst="homePlate">
              <a:avLst>
                <a:gd name="adj" fmla="val 51492"/>
              </a:avLst>
            </a:prstGeom>
            <a:solidFill>
              <a:schemeClr val="accent5"/>
            </a:solidFill>
            <a:ln w="12700" algn="ctr">
              <a:noFill/>
              <a:miter lim="800000"/>
              <a:headEnd/>
              <a:tailEnd/>
            </a:ln>
          </p:spPr>
          <p:txBody>
            <a:bodyPr wrap="none" lIns="0" tIns="0" rIns="0" bIns="0" anchor="ctr"/>
            <a:lstStyle/>
            <a:p>
              <a:pPr algn="r"/>
              <a:r>
                <a:rPr lang="de-DE" sz="1200" b="1" dirty="0">
                  <a:solidFill>
                    <a:srgbClr val="FFFFFF"/>
                  </a:solidFill>
                  <a:ea typeface="Verdana" pitchFamily="34" charset="0"/>
                  <a:cs typeface="Verdana" pitchFamily="34" charset="0"/>
                </a:rPr>
                <a:t>Output</a:t>
              </a:r>
            </a:p>
          </p:txBody>
        </p:sp>
        <p:sp>
          <p:nvSpPr>
            <p:cNvPr id="43" name="Oval 7"/>
            <p:cNvSpPr>
              <a:spLocks noChangeArrowheads="1"/>
            </p:cNvSpPr>
            <p:nvPr/>
          </p:nvSpPr>
          <p:spPr bwMode="auto">
            <a:xfrm>
              <a:off x="3637787" y="3465485"/>
              <a:ext cx="1865257" cy="1235302"/>
            </a:xfrm>
            <a:prstGeom prst="ellipse">
              <a:avLst/>
            </a:prstGeom>
            <a:gradFill>
              <a:gsLst>
                <a:gs pos="0">
                  <a:schemeClr val="bg1"/>
                </a:gs>
                <a:gs pos="50000">
                  <a:srgbClr val="CCA600"/>
                </a:gs>
              </a:gsLst>
              <a:lin ang="5400000" scaled="0"/>
            </a:gradFill>
            <a:ln w="12700" algn="ctr">
              <a:noFill/>
              <a:round/>
              <a:headEnd/>
              <a:tailEnd/>
            </a:ln>
          </p:spPr>
          <p:txBody>
            <a:bodyPr wrap="none" lIns="0" tIns="0" rIns="0" bIns="0" anchor="ctr"/>
            <a:lstStyle/>
            <a:p>
              <a:pPr algn="ctr" fontAlgn="base">
                <a:spcBef>
                  <a:spcPct val="50000"/>
                </a:spcBef>
                <a:spcAft>
                  <a:spcPct val="0"/>
                </a:spcAft>
                <a:defRPr/>
              </a:pPr>
              <a:r>
                <a:rPr lang="de-DE" sz="1200" dirty="0">
                  <a:solidFill>
                    <a:srgbClr val="080808"/>
                  </a:solidFill>
                  <a:cs typeface="Arial" pitchFamily="34" charset="0"/>
                </a:rPr>
                <a:t>P6</a:t>
              </a:r>
            </a:p>
            <a:p>
              <a:pPr algn="ctr" fontAlgn="base">
                <a:spcBef>
                  <a:spcPct val="30000"/>
                </a:spcBef>
                <a:spcAft>
                  <a:spcPct val="0"/>
                </a:spcAft>
                <a:defRPr/>
              </a:pPr>
              <a:r>
                <a:rPr lang="en-GB" sz="1200" dirty="0">
                  <a:solidFill>
                    <a:srgbClr val="080808"/>
                  </a:solidFill>
                  <a:cs typeface="Arial" pitchFamily="34" charset="0"/>
                </a:rPr>
                <a:t>Process analysis/ </a:t>
              </a:r>
              <a:br>
                <a:rPr lang="en-GB" sz="1200" dirty="0">
                  <a:solidFill>
                    <a:srgbClr val="080808"/>
                  </a:solidFill>
                  <a:cs typeface="Arial" pitchFamily="34" charset="0"/>
                </a:rPr>
              </a:br>
              <a:r>
                <a:rPr lang="en-GB" sz="1200" dirty="0">
                  <a:solidFill>
                    <a:srgbClr val="080808"/>
                  </a:solidFill>
                  <a:cs typeface="Arial" pitchFamily="34" charset="0"/>
                </a:rPr>
                <a:t>Production</a:t>
              </a:r>
            </a:p>
          </p:txBody>
        </p:sp>
        <p:sp>
          <p:nvSpPr>
            <p:cNvPr id="44" name="AutoShape 49"/>
            <p:cNvSpPr>
              <a:spLocks noChangeArrowheads="1"/>
            </p:cNvSpPr>
            <p:nvPr/>
          </p:nvSpPr>
          <p:spPr bwMode="auto">
            <a:xfrm>
              <a:off x="7122149" y="3770211"/>
              <a:ext cx="1171038" cy="652854"/>
            </a:xfrm>
            <a:prstGeom prst="chevron">
              <a:avLst>
                <a:gd name="adj" fmla="val 52654"/>
              </a:avLst>
            </a:prstGeom>
            <a:solidFill>
              <a:srgbClr val="4074A6"/>
            </a:solidFill>
            <a:ln w="12700" algn="ctr">
              <a:noFill/>
              <a:miter lim="800000"/>
              <a:headEnd/>
              <a:tailEnd/>
            </a:ln>
          </p:spPr>
          <p:txBody>
            <a:bodyPr wrap="none" lIns="0" tIns="0" rIns="0" bIns="0" anchor="ctr"/>
            <a:lstStyle/>
            <a:p>
              <a:pPr marL="342900" indent="-342900" algn="ctr">
                <a:lnSpc>
                  <a:spcPct val="80000"/>
                </a:lnSpc>
                <a:spcBef>
                  <a:spcPct val="20000"/>
                </a:spcBef>
              </a:pPr>
              <a:endParaRPr lang="de-DE" sz="1000" dirty="0">
                <a:solidFill>
                  <a:srgbClr val="080808"/>
                </a:solidFill>
              </a:endParaRPr>
            </a:p>
          </p:txBody>
        </p:sp>
        <p:sp>
          <p:nvSpPr>
            <p:cNvPr id="45" name="AutoShape 50"/>
            <p:cNvSpPr>
              <a:spLocks noChangeArrowheads="1"/>
            </p:cNvSpPr>
            <p:nvPr/>
          </p:nvSpPr>
          <p:spPr bwMode="auto">
            <a:xfrm>
              <a:off x="7965212" y="3770211"/>
              <a:ext cx="872237" cy="652854"/>
            </a:xfrm>
            <a:prstGeom prst="homePlate">
              <a:avLst>
                <a:gd name="adj" fmla="val 32955"/>
              </a:avLst>
            </a:prstGeom>
            <a:solidFill>
              <a:schemeClr val="accent5"/>
            </a:solidFill>
            <a:ln w="12700" algn="ctr">
              <a:noFill/>
              <a:miter lim="800000"/>
              <a:headEnd/>
              <a:tailEnd/>
            </a:ln>
          </p:spPr>
          <p:txBody>
            <a:bodyPr wrap="none" lIns="0" tIns="0" rIns="0" bIns="0" anchor="ctr"/>
            <a:lstStyle/>
            <a:p>
              <a:pPr marL="342900" indent="-342900" algn="ctr">
                <a:lnSpc>
                  <a:spcPct val="80000"/>
                </a:lnSpc>
                <a:spcBef>
                  <a:spcPct val="20000"/>
                </a:spcBef>
              </a:pPr>
              <a:r>
                <a:rPr lang="de-DE" sz="1000" dirty="0">
                  <a:solidFill>
                    <a:srgbClr val="080808"/>
                  </a:solidFill>
                </a:rPr>
                <a:t>      </a:t>
              </a:r>
            </a:p>
          </p:txBody>
        </p:sp>
        <p:sp>
          <p:nvSpPr>
            <p:cNvPr id="46" name="Oval 51"/>
            <p:cNvSpPr>
              <a:spLocks noChangeArrowheads="1"/>
            </p:cNvSpPr>
            <p:nvPr/>
          </p:nvSpPr>
          <p:spPr bwMode="auto">
            <a:xfrm>
              <a:off x="7636733" y="3770211"/>
              <a:ext cx="747004" cy="652854"/>
            </a:xfrm>
            <a:prstGeom prst="ellipse">
              <a:avLst/>
            </a:prstGeom>
            <a:gradFill>
              <a:gsLst>
                <a:gs pos="0">
                  <a:schemeClr val="bg1"/>
                </a:gs>
                <a:gs pos="50000">
                  <a:srgbClr val="CCA600"/>
                </a:gs>
              </a:gsLst>
              <a:lin ang="5400000" scaled="0"/>
            </a:gradFill>
            <a:ln w="12700" algn="ctr">
              <a:noFill/>
              <a:round/>
              <a:headEnd/>
              <a:tailEnd/>
            </a:ln>
          </p:spPr>
          <p:txBody>
            <a:bodyPr wrap="none" lIns="0" tIns="0" rIns="0" bIns="0" anchor="ctr"/>
            <a:lstStyle/>
            <a:p>
              <a:pPr marL="342900" indent="-342900" algn="ctr">
                <a:lnSpc>
                  <a:spcPct val="80000"/>
                </a:lnSpc>
                <a:spcBef>
                  <a:spcPct val="20000"/>
                </a:spcBef>
              </a:pPr>
              <a:endParaRPr lang="de-DE" sz="1000" dirty="0">
                <a:solidFill>
                  <a:srgbClr val="080808"/>
                </a:solidFill>
              </a:endParaRPr>
            </a:p>
          </p:txBody>
        </p:sp>
        <p:grpSp>
          <p:nvGrpSpPr>
            <p:cNvPr id="47" name="Gruppieren 46"/>
            <p:cNvGrpSpPr/>
            <p:nvPr/>
          </p:nvGrpSpPr>
          <p:grpSpPr>
            <a:xfrm>
              <a:off x="340872" y="3755810"/>
              <a:ext cx="1731106" cy="652854"/>
              <a:chOff x="1069009" y="3755810"/>
              <a:chExt cx="1731106" cy="652854"/>
            </a:xfrm>
          </p:grpSpPr>
          <p:sp>
            <p:nvSpPr>
              <p:cNvPr id="65" name="AutoShape 53"/>
              <p:cNvSpPr>
                <a:spLocks noChangeArrowheads="1"/>
              </p:cNvSpPr>
              <p:nvPr/>
            </p:nvSpPr>
            <p:spPr bwMode="auto">
              <a:xfrm>
                <a:off x="1069009" y="3755810"/>
                <a:ext cx="1171038" cy="652854"/>
              </a:xfrm>
              <a:prstGeom prst="chevron">
                <a:avLst>
                  <a:gd name="adj" fmla="val 32056"/>
                </a:avLst>
              </a:prstGeom>
              <a:solidFill>
                <a:srgbClr val="4074A6"/>
              </a:solidFill>
              <a:ln w="12700" algn="ctr">
                <a:noFill/>
                <a:miter lim="800000"/>
                <a:headEnd/>
                <a:tailEnd/>
              </a:ln>
            </p:spPr>
            <p:txBody>
              <a:bodyPr wrap="none" lIns="0" tIns="0" rIns="0" bIns="0" anchor="ctr"/>
              <a:lstStyle/>
              <a:p>
                <a:pPr marL="342900" indent="-342900" algn="ctr">
                  <a:lnSpc>
                    <a:spcPct val="80000"/>
                  </a:lnSpc>
                  <a:spcBef>
                    <a:spcPct val="20000"/>
                  </a:spcBef>
                </a:pPr>
                <a:r>
                  <a:rPr lang="de-DE" sz="1000" dirty="0">
                    <a:solidFill>
                      <a:srgbClr val="080808"/>
                    </a:solidFill>
                  </a:rPr>
                  <a:t>  </a:t>
                </a:r>
              </a:p>
            </p:txBody>
          </p:sp>
          <p:sp>
            <p:nvSpPr>
              <p:cNvPr id="66" name="AutoShape 54"/>
              <p:cNvSpPr>
                <a:spLocks noChangeArrowheads="1"/>
              </p:cNvSpPr>
              <p:nvPr/>
            </p:nvSpPr>
            <p:spPr bwMode="auto">
              <a:xfrm>
                <a:off x="1927878" y="3755810"/>
                <a:ext cx="872237" cy="652854"/>
              </a:xfrm>
              <a:prstGeom prst="homePlate">
                <a:avLst>
                  <a:gd name="adj" fmla="val 51492"/>
                </a:avLst>
              </a:prstGeom>
              <a:solidFill>
                <a:schemeClr val="accent5"/>
              </a:solidFill>
              <a:ln w="12700" algn="ctr">
                <a:noFill/>
                <a:miter lim="800000"/>
                <a:headEnd/>
                <a:tailEnd/>
              </a:ln>
            </p:spPr>
            <p:txBody>
              <a:bodyPr wrap="none" lIns="0" tIns="0" rIns="0" bIns="0" anchor="ctr"/>
              <a:lstStyle/>
              <a:p>
                <a:pPr marL="342900" indent="-342900" algn="ctr">
                  <a:lnSpc>
                    <a:spcPct val="80000"/>
                  </a:lnSpc>
                  <a:spcBef>
                    <a:spcPct val="20000"/>
                  </a:spcBef>
                </a:pPr>
                <a:r>
                  <a:rPr lang="de-DE" sz="1000" dirty="0">
                    <a:solidFill>
                      <a:srgbClr val="080808"/>
                    </a:solidFill>
                  </a:rPr>
                  <a:t>     </a:t>
                </a:r>
              </a:p>
            </p:txBody>
          </p:sp>
          <p:sp>
            <p:nvSpPr>
              <p:cNvPr id="67" name="Oval 55"/>
              <p:cNvSpPr>
                <a:spLocks noChangeArrowheads="1"/>
              </p:cNvSpPr>
              <p:nvPr/>
            </p:nvSpPr>
            <p:spPr bwMode="auto">
              <a:xfrm>
                <a:off x="1554375" y="3755810"/>
                <a:ext cx="747004" cy="652854"/>
              </a:xfrm>
              <a:prstGeom prst="ellipse">
                <a:avLst/>
              </a:prstGeom>
              <a:gradFill>
                <a:gsLst>
                  <a:gs pos="0">
                    <a:schemeClr val="bg1"/>
                  </a:gs>
                  <a:gs pos="50000">
                    <a:srgbClr val="CCA600"/>
                  </a:gs>
                </a:gsLst>
                <a:lin ang="5400000" scaled="0"/>
              </a:gradFill>
              <a:ln w="12700" algn="ctr">
                <a:noFill/>
                <a:round/>
                <a:headEnd/>
                <a:tailEnd/>
              </a:ln>
            </p:spPr>
            <p:txBody>
              <a:bodyPr wrap="none" lIns="0" tIns="0" rIns="0" bIns="0" anchor="ctr"/>
              <a:lstStyle/>
              <a:p>
                <a:pPr marL="342900" indent="-342900" algn="ctr">
                  <a:lnSpc>
                    <a:spcPct val="80000"/>
                  </a:lnSpc>
                  <a:spcBef>
                    <a:spcPct val="20000"/>
                  </a:spcBef>
                </a:pPr>
                <a:endParaRPr lang="de-DE" sz="1000" dirty="0">
                  <a:solidFill>
                    <a:srgbClr val="080808"/>
                  </a:solidFill>
                </a:endParaRPr>
              </a:p>
            </p:txBody>
          </p:sp>
          <p:sp>
            <p:nvSpPr>
              <p:cNvPr id="68" name="Rectangle 5"/>
              <p:cNvSpPr>
                <a:spLocks noChangeArrowheads="1"/>
              </p:cNvSpPr>
              <p:nvPr/>
            </p:nvSpPr>
            <p:spPr bwMode="auto">
              <a:xfrm>
                <a:off x="1353214" y="3965305"/>
                <a:ext cx="248919"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I</a:t>
                </a:r>
              </a:p>
            </p:txBody>
          </p:sp>
          <p:sp>
            <p:nvSpPr>
              <p:cNvPr id="69" name="Rectangle 5"/>
              <p:cNvSpPr>
                <a:spLocks noChangeArrowheads="1"/>
              </p:cNvSpPr>
              <p:nvPr/>
            </p:nvSpPr>
            <p:spPr bwMode="auto">
              <a:xfrm>
                <a:off x="1582716" y="3950081"/>
                <a:ext cx="622298" cy="290324"/>
              </a:xfrm>
              <a:prstGeom prst="rect">
                <a:avLst/>
              </a:prstGeom>
              <a:noFill/>
              <a:ln w="9525">
                <a:noFill/>
                <a:miter lim="800000"/>
                <a:headEnd/>
                <a:tailEnd/>
              </a:ln>
              <a:effectLst/>
            </p:spPr>
            <p:txBody>
              <a:bodyPr anchor="ctr"/>
              <a:lstStyle/>
              <a:p>
                <a:pPr algn="ctr"/>
                <a:r>
                  <a:rPr lang="de-DE" sz="1000" spc="-60" dirty="0">
                    <a:solidFill>
                      <a:srgbClr val="000000"/>
                    </a:solidFill>
                    <a:cs typeface="Arial"/>
                  </a:rPr>
                  <a:t>P4.x</a:t>
                </a:r>
                <a:endParaRPr lang="de-DE" sz="800" dirty="0">
                  <a:solidFill>
                    <a:srgbClr val="000000"/>
                  </a:solidFill>
                  <a:cs typeface="Arial"/>
                </a:endParaRPr>
              </a:p>
            </p:txBody>
          </p:sp>
          <p:sp>
            <p:nvSpPr>
              <p:cNvPr id="70" name="Rectangle 5"/>
              <p:cNvSpPr>
                <a:spLocks noChangeArrowheads="1"/>
              </p:cNvSpPr>
              <p:nvPr/>
            </p:nvSpPr>
            <p:spPr bwMode="auto">
              <a:xfrm>
                <a:off x="2290832" y="3965305"/>
                <a:ext cx="397057"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O</a:t>
                </a:r>
              </a:p>
            </p:txBody>
          </p:sp>
        </p:grpSp>
        <p:sp>
          <p:nvSpPr>
            <p:cNvPr id="48" name="Rectangle 5"/>
            <p:cNvSpPr>
              <a:spLocks noChangeArrowheads="1"/>
            </p:cNvSpPr>
            <p:nvPr/>
          </p:nvSpPr>
          <p:spPr bwMode="auto">
            <a:xfrm>
              <a:off x="7689431" y="3960675"/>
              <a:ext cx="622298" cy="290324"/>
            </a:xfrm>
            <a:prstGeom prst="rect">
              <a:avLst/>
            </a:prstGeom>
            <a:noFill/>
            <a:ln w="9525">
              <a:noFill/>
              <a:miter lim="800000"/>
              <a:headEnd/>
              <a:tailEnd/>
            </a:ln>
            <a:effectLst/>
          </p:spPr>
          <p:txBody>
            <a:bodyPr anchor="ctr"/>
            <a:lstStyle/>
            <a:p>
              <a:pPr algn="ctr"/>
              <a:r>
                <a:rPr lang="de-DE" sz="1000" spc="-60" dirty="0">
                  <a:solidFill>
                    <a:srgbClr val="000000"/>
                  </a:solidFill>
                  <a:cs typeface="Arial"/>
                </a:rPr>
                <a:t>P6.x</a:t>
              </a:r>
              <a:endParaRPr lang="de-DE" sz="800" dirty="0">
                <a:solidFill>
                  <a:srgbClr val="000000"/>
                </a:solidFill>
                <a:cs typeface="Arial"/>
              </a:endParaRPr>
            </a:p>
          </p:txBody>
        </p:sp>
        <p:sp>
          <p:nvSpPr>
            <p:cNvPr id="49" name="Rectangle 5"/>
            <p:cNvSpPr>
              <a:spLocks noChangeArrowheads="1"/>
            </p:cNvSpPr>
            <p:nvPr/>
          </p:nvSpPr>
          <p:spPr bwMode="auto">
            <a:xfrm>
              <a:off x="7419995" y="3965207"/>
              <a:ext cx="533396"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I</a:t>
              </a:r>
            </a:p>
          </p:txBody>
        </p:sp>
        <p:sp>
          <p:nvSpPr>
            <p:cNvPr id="50" name="Rectangle 5"/>
            <p:cNvSpPr>
              <a:spLocks noChangeArrowheads="1"/>
            </p:cNvSpPr>
            <p:nvPr/>
          </p:nvSpPr>
          <p:spPr bwMode="auto">
            <a:xfrm>
              <a:off x="8335953" y="3960675"/>
              <a:ext cx="344371"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O</a:t>
              </a:r>
            </a:p>
          </p:txBody>
        </p:sp>
        <p:sp>
          <p:nvSpPr>
            <p:cNvPr id="51" name="Rectangle 5"/>
            <p:cNvSpPr>
              <a:spLocks noChangeArrowheads="1"/>
            </p:cNvSpPr>
            <p:nvPr/>
          </p:nvSpPr>
          <p:spPr bwMode="auto">
            <a:xfrm>
              <a:off x="2040399" y="5112044"/>
              <a:ext cx="1140086" cy="290324"/>
            </a:xfrm>
            <a:prstGeom prst="rect">
              <a:avLst/>
            </a:prstGeom>
            <a:noFill/>
            <a:ln w="9525">
              <a:noFill/>
              <a:miter lim="800000"/>
              <a:headEnd/>
              <a:tailEnd/>
            </a:ln>
            <a:effectLst/>
          </p:spPr>
          <p:txBody>
            <a:bodyPr/>
            <a:lstStyle/>
            <a:p>
              <a:pPr algn="ctr"/>
              <a:r>
                <a:rPr lang="de-DE" sz="1000" dirty="0">
                  <a:solidFill>
                    <a:srgbClr val="C00000"/>
                  </a:solidFill>
                  <a:ea typeface="Verdana" pitchFamily="34" charset="0"/>
                  <a:cs typeface="Verdana" pitchFamily="34" charset="0"/>
                </a:rPr>
                <a:t>Interface</a:t>
              </a:r>
            </a:p>
          </p:txBody>
        </p:sp>
        <p:sp>
          <p:nvSpPr>
            <p:cNvPr id="52" name="Rectangle 5"/>
            <p:cNvSpPr>
              <a:spLocks noChangeArrowheads="1"/>
            </p:cNvSpPr>
            <p:nvPr/>
          </p:nvSpPr>
          <p:spPr bwMode="auto">
            <a:xfrm>
              <a:off x="6047071" y="5116272"/>
              <a:ext cx="1140086" cy="290324"/>
            </a:xfrm>
            <a:prstGeom prst="rect">
              <a:avLst/>
            </a:prstGeom>
            <a:noFill/>
            <a:ln w="9525">
              <a:noFill/>
              <a:miter lim="800000"/>
              <a:headEnd/>
              <a:tailEnd/>
            </a:ln>
            <a:effectLst/>
          </p:spPr>
          <p:txBody>
            <a:bodyPr/>
            <a:lstStyle/>
            <a:p>
              <a:pPr algn="ctr"/>
              <a:r>
                <a:rPr lang="de-DE" sz="1000" dirty="0">
                  <a:solidFill>
                    <a:srgbClr val="C00000"/>
                  </a:solidFill>
                  <a:ea typeface="Verdana" pitchFamily="34" charset="0"/>
                  <a:cs typeface="Verdana" pitchFamily="34" charset="0"/>
                </a:rPr>
                <a:t>Interface</a:t>
              </a:r>
            </a:p>
          </p:txBody>
        </p:sp>
        <p:sp>
          <p:nvSpPr>
            <p:cNvPr id="53" name="Rectangle 5"/>
            <p:cNvSpPr>
              <a:spLocks noChangeArrowheads="1"/>
            </p:cNvSpPr>
            <p:nvPr/>
          </p:nvSpPr>
          <p:spPr bwMode="auto">
            <a:xfrm>
              <a:off x="987469" y="1937910"/>
              <a:ext cx="3139335" cy="1036690"/>
            </a:xfrm>
            <a:prstGeom prst="rect">
              <a:avLst/>
            </a:prstGeom>
            <a:solidFill>
              <a:srgbClr val="C1C1C1"/>
            </a:solidFill>
            <a:ln w="9525">
              <a:noFill/>
              <a:miter lim="800000"/>
              <a:headEnd/>
              <a:tailEnd/>
            </a:ln>
            <a:effectLst/>
          </p:spPr>
          <p:txBody>
            <a:bodyPr anchor="ctr"/>
            <a:lstStyle/>
            <a:p>
              <a:pPr algn="ctr" eaLnBrk="0" fontAlgn="base" hangingPunct="0">
                <a:spcAft>
                  <a:spcPts val="600"/>
                </a:spcAft>
                <a:defRPr/>
              </a:pPr>
              <a:r>
                <a:rPr lang="en-GB" sz="1200" dirty="0">
                  <a:solidFill>
                    <a:srgbClr val="080808"/>
                  </a:solidFill>
                  <a:cs typeface="Arial" pitchFamily="34" charset="0"/>
                </a:rPr>
                <a:t>What means are used to implement the process?</a:t>
              </a:r>
            </a:p>
            <a:p>
              <a:pPr algn="ctr" eaLnBrk="0" fontAlgn="base" hangingPunct="0">
                <a:spcAft>
                  <a:spcPts val="600"/>
                </a:spcAft>
                <a:defRPr/>
              </a:pPr>
              <a:r>
                <a:rPr lang="en-GB" sz="1200" b="1" dirty="0">
                  <a:solidFill>
                    <a:srgbClr val="080808"/>
                  </a:solidFill>
                  <a:cs typeface="Arial" pitchFamily="34" charset="0"/>
                </a:rPr>
                <a:t>Material Resources</a:t>
              </a:r>
              <a:endParaRPr lang="en-GB" sz="1200" dirty="0">
                <a:solidFill>
                  <a:srgbClr val="080808"/>
                </a:solidFill>
                <a:cs typeface="Arial" pitchFamily="34" charset="0"/>
              </a:endParaRPr>
            </a:p>
            <a:p>
              <a:pPr algn="ctr" eaLnBrk="0" fontAlgn="base" hangingPunct="0">
                <a:spcAft>
                  <a:spcPts val="600"/>
                </a:spcAft>
                <a:defRPr/>
              </a:pPr>
              <a:r>
                <a:rPr lang="en-GB" sz="1200" dirty="0">
                  <a:solidFill>
                    <a:srgbClr val="080808"/>
                  </a:solidFill>
                  <a:cs typeface="Arial" pitchFamily="34" charset="0"/>
                </a:rPr>
                <a:t>Equipment, facilities</a:t>
              </a:r>
            </a:p>
          </p:txBody>
        </p:sp>
        <p:sp>
          <p:nvSpPr>
            <p:cNvPr id="54" name="Rectangle 5"/>
            <p:cNvSpPr>
              <a:spLocks noChangeArrowheads="1"/>
            </p:cNvSpPr>
            <p:nvPr/>
          </p:nvSpPr>
          <p:spPr bwMode="auto">
            <a:xfrm>
              <a:off x="5240634" y="1937910"/>
              <a:ext cx="3283164" cy="1036690"/>
            </a:xfrm>
            <a:prstGeom prst="rect">
              <a:avLst/>
            </a:prstGeom>
            <a:solidFill>
              <a:srgbClr val="C1C1C1"/>
            </a:solidFill>
            <a:ln w="9525">
              <a:noFill/>
              <a:miter lim="800000"/>
              <a:headEnd/>
              <a:tailEnd/>
            </a:ln>
            <a:effectLst/>
          </p:spPr>
          <p:txBody>
            <a:bodyPr anchor="ctr"/>
            <a:lstStyle/>
            <a:p>
              <a:pPr algn="ctr" eaLnBrk="0" fontAlgn="base" hangingPunct="0">
                <a:spcAft>
                  <a:spcPts val="600"/>
                </a:spcAft>
                <a:defRPr/>
              </a:pPr>
              <a:r>
                <a:rPr lang="en-GB" sz="1200" dirty="0">
                  <a:solidFill>
                    <a:srgbClr val="080808"/>
                  </a:solidFill>
                  <a:cs typeface="Arial" pitchFamily="34" charset="0"/>
                </a:rPr>
                <a:t>What functions, areas, personnel support the process?</a:t>
              </a:r>
            </a:p>
            <a:p>
              <a:pPr algn="ctr" eaLnBrk="0" fontAlgn="base" hangingPunct="0">
                <a:spcAft>
                  <a:spcPts val="600"/>
                </a:spcAft>
                <a:defRPr/>
              </a:pPr>
              <a:r>
                <a:rPr lang="en-GB" sz="1200" b="1" dirty="0">
                  <a:solidFill>
                    <a:srgbClr val="080808"/>
                  </a:solidFill>
                  <a:cs typeface="Arial" pitchFamily="34" charset="0"/>
                </a:rPr>
                <a:t>Personnel Resources</a:t>
              </a:r>
              <a:endParaRPr lang="en-GB" sz="1200" dirty="0">
                <a:solidFill>
                  <a:srgbClr val="080808"/>
                </a:solidFill>
                <a:ea typeface="Verdana" pitchFamily="34" charset="0"/>
                <a:cs typeface="Verdana" pitchFamily="34" charset="0"/>
              </a:endParaRPr>
            </a:p>
            <a:p>
              <a:pPr algn="ctr" eaLnBrk="0" fontAlgn="base" hangingPunct="0">
                <a:spcAft>
                  <a:spcPts val="600"/>
                </a:spcAft>
                <a:defRPr/>
              </a:pPr>
              <a:r>
                <a:rPr lang="en-GB" sz="1200" dirty="0">
                  <a:solidFill>
                    <a:srgbClr val="080808"/>
                  </a:solidFill>
                  <a:cs typeface="Arial" pitchFamily="34" charset="0"/>
                </a:rPr>
                <a:t>Training, knowledge, skills, authorities</a:t>
              </a:r>
              <a:endParaRPr lang="en-GB" sz="1200" dirty="0">
                <a:solidFill>
                  <a:srgbClr val="080808"/>
                </a:solidFill>
                <a:ea typeface="Verdana" pitchFamily="34" charset="0"/>
                <a:cs typeface="Verdana" pitchFamily="34" charset="0"/>
              </a:endParaRPr>
            </a:p>
          </p:txBody>
        </p:sp>
        <p:sp>
          <p:nvSpPr>
            <p:cNvPr id="55" name="Rectangle 5"/>
            <p:cNvSpPr>
              <a:spLocks noChangeArrowheads="1"/>
            </p:cNvSpPr>
            <p:nvPr/>
          </p:nvSpPr>
          <p:spPr bwMode="auto">
            <a:xfrm>
              <a:off x="987469" y="5395900"/>
              <a:ext cx="3139335" cy="1036690"/>
            </a:xfrm>
            <a:prstGeom prst="rect">
              <a:avLst/>
            </a:prstGeom>
            <a:solidFill>
              <a:srgbClr val="C1C1C1"/>
            </a:solidFill>
            <a:ln w="9525">
              <a:noFill/>
              <a:miter lim="800000"/>
              <a:headEnd/>
              <a:tailEnd/>
            </a:ln>
            <a:effectLst/>
          </p:spPr>
          <p:txBody>
            <a:bodyPr anchor="ctr"/>
            <a:lstStyle/>
            <a:p>
              <a:pPr algn="ctr" eaLnBrk="0" fontAlgn="base" hangingPunct="0">
                <a:spcAft>
                  <a:spcPts val="600"/>
                </a:spcAft>
                <a:defRPr/>
              </a:pPr>
              <a:r>
                <a:rPr lang="en-GB" sz="1200" dirty="0">
                  <a:solidFill>
                    <a:srgbClr val="080808"/>
                  </a:solidFill>
                  <a:cs typeface="Arial" pitchFamily="34" charset="0"/>
                </a:rPr>
                <a:t>How dies the process run?</a:t>
              </a:r>
            </a:p>
            <a:p>
              <a:pPr algn="ctr" eaLnBrk="0" fontAlgn="base" hangingPunct="0">
                <a:spcAft>
                  <a:spcPts val="1200"/>
                </a:spcAft>
                <a:defRPr/>
              </a:pPr>
              <a:r>
                <a:rPr lang="en-GB" sz="1200" b="1" dirty="0">
                  <a:solidFill>
                    <a:srgbClr val="080808"/>
                  </a:solidFill>
                  <a:cs typeface="Arial" pitchFamily="34" charset="0"/>
                </a:rPr>
                <a:t>Process Operation</a:t>
              </a:r>
              <a:endParaRPr lang="en-GB" sz="1200" dirty="0">
                <a:solidFill>
                  <a:srgbClr val="080808"/>
                </a:solidFill>
                <a:ea typeface="Verdana" pitchFamily="34" charset="0"/>
                <a:cs typeface="Verdana" pitchFamily="34" charset="0"/>
              </a:endParaRPr>
            </a:p>
            <a:p>
              <a:pPr algn="ctr" eaLnBrk="0" fontAlgn="base" hangingPunct="0">
                <a:spcAft>
                  <a:spcPts val="1200"/>
                </a:spcAft>
                <a:defRPr/>
              </a:pPr>
              <a:r>
                <a:rPr lang="en-GB" sz="1200" dirty="0">
                  <a:solidFill>
                    <a:srgbClr val="080808"/>
                  </a:solidFill>
                  <a:cs typeface="Arial" pitchFamily="34" charset="0"/>
                </a:rPr>
                <a:t>Implementation rules: instructions, procedures, methods</a:t>
              </a:r>
            </a:p>
          </p:txBody>
        </p:sp>
        <p:sp>
          <p:nvSpPr>
            <p:cNvPr id="56" name="Rectangle 5"/>
            <p:cNvSpPr>
              <a:spLocks noChangeArrowheads="1"/>
            </p:cNvSpPr>
            <p:nvPr/>
          </p:nvSpPr>
          <p:spPr bwMode="auto">
            <a:xfrm>
              <a:off x="5240634" y="5395900"/>
              <a:ext cx="3283164" cy="1036690"/>
            </a:xfrm>
            <a:prstGeom prst="rect">
              <a:avLst/>
            </a:prstGeom>
            <a:solidFill>
              <a:srgbClr val="C1C1C1"/>
            </a:solidFill>
            <a:ln w="9525">
              <a:noFill/>
              <a:miter lim="800000"/>
              <a:headEnd/>
              <a:tailEnd/>
            </a:ln>
            <a:effectLst/>
          </p:spPr>
          <p:txBody>
            <a:bodyPr anchor="ctr"/>
            <a:lstStyle/>
            <a:p>
              <a:pPr algn="ctr" eaLnBrk="0" fontAlgn="base" hangingPunct="0">
                <a:spcAft>
                  <a:spcPts val="600"/>
                </a:spcAft>
                <a:defRPr/>
              </a:pPr>
              <a:r>
                <a:rPr lang="en-GB" sz="1200" dirty="0">
                  <a:solidFill>
                    <a:srgbClr val="080808"/>
                  </a:solidFill>
                  <a:cs typeface="Arial" pitchFamily="34" charset="0"/>
                </a:rPr>
                <a:t>How effective is the process being carried out?</a:t>
              </a:r>
            </a:p>
            <a:p>
              <a:pPr algn="ctr" eaLnBrk="0" fontAlgn="base" hangingPunct="0">
                <a:spcAft>
                  <a:spcPts val="600"/>
                </a:spcAft>
                <a:defRPr/>
              </a:pPr>
              <a:r>
                <a:rPr lang="en-GB" sz="1200" b="1" dirty="0">
                  <a:solidFill>
                    <a:srgbClr val="080808"/>
                  </a:solidFill>
                  <a:cs typeface="Arial" pitchFamily="34" charset="0"/>
                </a:rPr>
                <a:t>Effectiveness</a:t>
              </a:r>
              <a:endParaRPr lang="en-GB" sz="1200" dirty="0">
                <a:solidFill>
                  <a:srgbClr val="080808"/>
                </a:solidFill>
                <a:cs typeface="Arial" pitchFamily="34" charset="0"/>
              </a:endParaRPr>
            </a:p>
            <a:p>
              <a:pPr algn="ctr" eaLnBrk="0" fontAlgn="base" hangingPunct="0">
                <a:spcAft>
                  <a:spcPts val="600"/>
                </a:spcAft>
                <a:defRPr/>
              </a:pPr>
              <a:r>
                <a:rPr lang="en-GB" sz="1200" dirty="0">
                  <a:solidFill>
                    <a:srgbClr val="080808"/>
                  </a:solidFill>
                  <a:cs typeface="Arial" pitchFamily="34" charset="0"/>
                </a:rPr>
                <a:t>Performance indicators, targets</a:t>
              </a:r>
            </a:p>
          </p:txBody>
        </p:sp>
        <p:sp>
          <p:nvSpPr>
            <p:cNvPr id="57" name="Rechteck 56"/>
            <p:cNvSpPr/>
            <p:nvPr/>
          </p:nvSpPr>
          <p:spPr bwMode="auto">
            <a:xfrm>
              <a:off x="1625587" y="3140277"/>
              <a:ext cx="1946827" cy="1954635"/>
            </a:xfrm>
            <a:prstGeom prst="rect">
              <a:avLst/>
            </a:prstGeom>
            <a:noFill/>
            <a:ln w="12700">
              <a:solidFill>
                <a:srgbClr val="C00000"/>
              </a:solidFill>
              <a:prstDash val="dash"/>
              <a:round/>
              <a:headEnd/>
              <a:tailEnd/>
            </a:ln>
            <a:effectLst/>
          </p:spPr>
          <p:txBody>
            <a:bodyPr rtlCol="0" anchor="ctr"/>
            <a:lstStyle/>
            <a:p>
              <a:pPr algn="ctr"/>
              <a:endParaRPr lang="de-DE" sz="1400" dirty="0">
                <a:solidFill>
                  <a:srgbClr val="080808"/>
                </a:solidFill>
              </a:endParaRPr>
            </a:p>
          </p:txBody>
        </p:sp>
        <p:sp>
          <p:nvSpPr>
            <p:cNvPr id="58" name="Rechteck 57"/>
            <p:cNvSpPr/>
            <p:nvPr/>
          </p:nvSpPr>
          <p:spPr bwMode="auto">
            <a:xfrm>
              <a:off x="5536346" y="3141608"/>
              <a:ext cx="2064975" cy="1954635"/>
            </a:xfrm>
            <a:prstGeom prst="rect">
              <a:avLst/>
            </a:prstGeom>
            <a:noFill/>
            <a:ln w="12700">
              <a:solidFill>
                <a:srgbClr val="C00000"/>
              </a:solidFill>
              <a:prstDash val="dash"/>
              <a:round/>
              <a:headEnd/>
              <a:tailEnd/>
            </a:ln>
            <a:effectLst/>
          </p:spPr>
          <p:txBody>
            <a:bodyPr rtlCol="0" anchor="ctr"/>
            <a:lstStyle/>
            <a:p>
              <a:pPr algn="ctr"/>
              <a:endParaRPr lang="de-DE" sz="1400" dirty="0">
                <a:solidFill>
                  <a:srgbClr val="080808"/>
                </a:solidFill>
              </a:endParaRPr>
            </a:p>
          </p:txBody>
        </p:sp>
        <p:sp>
          <p:nvSpPr>
            <p:cNvPr id="59" name="Text Box 56"/>
            <p:cNvSpPr txBox="1">
              <a:spLocks noChangeArrowheads="1"/>
            </p:cNvSpPr>
            <p:nvPr/>
          </p:nvSpPr>
          <p:spPr bwMode="auto">
            <a:xfrm>
              <a:off x="335023" y="5434872"/>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6.2</a:t>
              </a:r>
            </a:p>
          </p:txBody>
        </p:sp>
        <p:sp>
          <p:nvSpPr>
            <p:cNvPr id="60" name="Text Box 56"/>
            <p:cNvSpPr txBox="1">
              <a:spLocks noChangeArrowheads="1"/>
            </p:cNvSpPr>
            <p:nvPr/>
          </p:nvSpPr>
          <p:spPr bwMode="auto">
            <a:xfrm>
              <a:off x="335023" y="1968678"/>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6.4</a:t>
              </a:r>
            </a:p>
          </p:txBody>
        </p:sp>
        <p:sp>
          <p:nvSpPr>
            <p:cNvPr id="61" name="Text Box 56"/>
            <p:cNvSpPr txBox="1">
              <a:spLocks noChangeArrowheads="1"/>
            </p:cNvSpPr>
            <p:nvPr/>
          </p:nvSpPr>
          <p:spPr bwMode="auto">
            <a:xfrm>
              <a:off x="4621433" y="1968678"/>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6.3</a:t>
              </a:r>
            </a:p>
          </p:txBody>
        </p:sp>
        <p:sp>
          <p:nvSpPr>
            <p:cNvPr id="62" name="Text Box 56"/>
            <p:cNvSpPr txBox="1">
              <a:spLocks noChangeArrowheads="1"/>
            </p:cNvSpPr>
            <p:nvPr/>
          </p:nvSpPr>
          <p:spPr bwMode="auto">
            <a:xfrm>
              <a:off x="4621954" y="5434872"/>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6.5</a:t>
              </a:r>
            </a:p>
          </p:txBody>
        </p:sp>
        <p:sp>
          <p:nvSpPr>
            <p:cNvPr id="63" name="Text Box 56"/>
            <p:cNvSpPr txBox="1">
              <a:spLocks noChangeArrowheads="1"/>
            </p:cNvSpPr>
            <p:nvPr/>
          </p:nvSpPr>
          <p:spPr bwMode="auto">
            <a:xfrm>
              <a:off x="2015116" y="3213984"/>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6.1</a:t>
              </a:r>
            </a:p>
          </p:txBody>
        </p:sp>
        <p:sp>
          <p:nvSpPr>
            <p:cNvPr id="64" name="Text Box 56"/>
            <p:cNvSpPr txBox="1">
              <a:spLocks noChangeArrowheads="1"/>
            </p:cNvSpPr>
            <p:nvPr/>
          </p:nvSpPr>
          <p:spPr bwMode="auto">
            <a:xfrm>
              <a:off x="6184048" y="3211408"/>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6.6</a:t>
              </a:r>
            </a:p>
          </p:txBody>
        </p:sp>
      </p:grpSp>
      <p:sp>
        <p:nvSpPr>
          <p:cNvPr id="71" name="Text Box 69"/>
          <p:cNvSpPr txBox="1">
            <a:spLocks noChangeArrowheads="1"/>
          </p:cNvSpPr>
          <p:nvPr>
            <p:custDataLst>
              <p:tags r:id="rId1"/>
            </p:custDataLst>
          </p:nvPr>
        </p:nvSpPr>
        <p:spPr bwMode="auto">
          <a:xfrm>
            <a:off x="5135504" y="4576516"/>
            <a:ext cx="3689350" cy="147733"/>
          </a:xfrm>
          <a:prstGeom prst="rect">
            <a:avLst/>
          </a:prstGeom>
          <a:noFill/>
          <a:ln w="9525">
            <a:noFill/>
            <a:miter lim="800000"/>
            <a:headEnd/>
            <a:tailEnd/>
          </a:ln>
        </p:spPr>
        <p:txBody>
          <a:bodyPr lIns="0" tIns="0" rIns="0" bIns="0">
            <a:spAutoFit/>
          </a:bodyPr>
          <a:lstStyle/>
          <a:p>
            <a:pPr algn="ctr" fontAlgn="base">
              <a:lnSpc>
                <a:spcPct val="80000"/>
              </a:lnSpc>
              <a:spcBef>
                <a:spcPct val="20000"/>
              </a:spcBef>
              <a:spcAft>
                <a:spcPct val="0"/>
              </a:spcAft>
              <a:defRPr/>
            </a:pPr>
            <a:r>
              <a:rPr lang="en-GB" sz="1200" b="1" dirty="0">
                <a:solidFill>
                  <a:srgbClr val="080808"/>
                </a:solidFill>
                <a:cs typeface="Arial" pitchFamily="34" charset="0"/>
              </a:rPr>
              <a:t>What should be the result of the process</a:t>
            </a:r>
            <a:r>
              <a:rPr lang="de-DE" sz="1200" b="1" dirty="0">
                <a:solidFill>
                  <a:srgbClr val="080808"/>
                </a:solidFill>
                <a:cs typeface="Arial" pitchFamily="34" charset="0"/>
              </a:rPr>
              <a:t>?</a:t>
            </a:r>
          </a:p>
        </p:txBody>
      </p:sp>
      <p:sp>
        <p:nvSpPr>
          <p:cNvPr id="72" name="Text Box 70"/>
          <p:cNvSpPr txBox="1">
            <a:spLocks noChangeArrowheads="1"/>
          </p:cNvSpPr>
          <p:nvPr>
            <p:custDataLst>
              <p:tags r:id="rId2"/>
            </p:custDataLst>
          </p:nvPr>
        </p:nvSpPr>
        <p:spPr bwMode="auto">
          <a:xfrm>
            <a:off x="1186563" y="4576516"/>
            <a:ext cx="2847975" cy="147733"/>
          </a:xfrm>
          <a:prstGeom prst="rect">
            <a:avLst/>
          </a:prstGeom>
          <a:noFill/>
          <a:ln w="9525">
            <a:noFill/>
            <a:miter lim="800000"/>
            <a:headEnd/>
            <a:tailEnd/>
          </a:ln>
        </p:spPr>
        <p:txBody>
          <a:bodyPr lIns="0" tIns="0" rIns="0" bIns="0">
            <a:spAutoFit/>
          </a:bodyPr>
          <a:lstStyle/>
          <a:p>
            <a:pPr algn="ctr" fontAlgn="base">
              <a:lnSpc>
                <a:spcPct val="80000"/>
              </a:lnSpc>
              <a:spcBef>
                <a:spcPct val="20000"/>
              </a:spcBef>
              <a:spcAft>
                <a:spcPct val="0"/>
              </a:spcAft>
              <a:defRPr/>
            </a:pPr>
            <a:r>
              <a:rPr lang="de-DE" sz="1200" b="1">
                <a:solidFill>
                  <a:srgbClr val="080808"/>
                </a:solidFill>
                <a:cs typeface="Arial" pitchFamily="34" charset="0"/>
              </a:rPr>
              <a:t>What</a:t>
            </a:r>
            <a:r>
              <a:rPr lang="de-DE" sz="1200" b="1" dirty="0">
                <a:solidFill>
                  <a:srgbClr val="080808"/>
                </a:solidFill>
                <a:cs typeface="Arial" pitchFamily="34" charset="0"/>
              </a:rPr>
              <a:t> goes into the process?</a:t>
            </a:r>
          </a:p>
        </p:txBody>
      </p:sp>
    </p:spTree>
    <p:extLst>
      <p:ext uri="{BB962C8B-B14F-4D97-AF65-F5344CB8AC3E}">
        <p14:creationId xmlns:p14="http://schemas.microsoft.com/office/powerpoint/2010/main" val="419309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Inhaltsplatzhalter 3"/>
          <p:cNvSpPr>
            <a:spLocks noGrp="1"/>
          </p:cNvSpPr>
          <p:nvPr>
            <p:ph idx="1"/>
          </p:nvPr>
        </p:nvSpPr>
        <p:spPr bwMode="auto">
          <a:noFill/>
          <a:ln>
            <a:miter lim="800000"/>
            <a:headEnd/>
            <a:tailEnd/>
          </a:ln>
        </p:spPr>
        <p:txBody>
          <a:bodyPr vert="horz" wrap="square" numCol="1" anchor="t" anchorCtr="0" compatLnSpc="1">
            <a:prstTxWarp prst="textNoShape">
              <a:avLst/>
            </a:prstTxWarp>
          </a:bodyPr>
          <a:lstStyle/>
          <a:p>
            <a:pPr marL="0" indent="0">
              <a:spcBef>
                <a:spcPct val="0"/>
              </a:spcBef>
            </a:pPr>
            <a:r>
              <a:rPr lang="de-DE" dirty="0"/>
              <a:t>Sub-element P6.1 – Process input </a:t>
            </a:r>
          </a:p>
        </p:txBody>
      </p:sp>
      <p:sp>
        <p:nvSpPr>
          <p:cNvPr id="2" name="Titel 1"/>
          <p:cNvSpPr>
            <a:spLocks noGrp="1"/>
          </p:cNvSpPr>
          <p:nvPr>
            <p:ph type="title" idx="4294967295"/>
          </p:nvPr>
        </p:nvSpPr>
        <p:spPr>
          <a:xfrm>
            <a:off x="0" y="273050"/>
            <a:ext cx="2551113" cy="633413"/>
          </a:xfrm>
          <a:prstGeom prst="rect">
            <a:avLst/>
          </a:prstGeom>
        </p:spPr>
        <p:txBody>
          <a:bodyPr/>
          <a:lstStyle/>
          <a:p>
            <a:pPr algn="l"/>
            <a:r>
              <a:rPr lang="de-DE" sz="1000" dirty="0">
                <a:solidFill>
                  <a:schemeClr val="bg1"/>
                </a:solidFill>
              </a:rPr>
              <a:t>LE80-023</a:t>
            </a:r>
          </a:p>
        </p:txBody>
      </p:sp>
      <p:sp>
        <p:nvSpPr>
          <p:cNvPr id="40" name="Rectangle 6"/>
          <p:cNvSpPr txBox="1">
            <a:spLocks noChangeArrowheads="1"/>
          </p:cNvSpPr>
          <p:nvPr/>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r>
              <a:rPr lang="de-DE" sz="1000" dirty="0">
                <a:solidFill>
                  <a:srgbClr val="FFFFFF"/>
                </a:solidFill>
              </a:rPr>
              <a:t>VDA 6.3 – </a:t>
            </a:r>
            <a:r>
              <a:rPr lang="de-DE" sz="1000">
                <a:solidFill>
                  <a:srgbClr val="FFFFFF"/>
                </a:solidFill>
              </a:rPr>
              <a:t>Questionnaire</a:t>
            </a:r>
            <a:r>
              <a:rPr lang="de-DE" sz="1000" dirty="0">
                <a:solidFill>
                  <a:srgbClr val="FFFFFF"/>
                </a:solidFill>
              </a:rPr>
              <a:t> P6</a:t>
            </a:r>
          </a:p>
        </p:txBody>
      </p:sp>
      <p:sp>
        <p:nvSpPr>
          <p:cNvPr id="71" name="Text Box 69"/>
          <p:cNvSpPr txBox="1">
            <a:spLocks noChangeArrowheads="1"/>
          </p:cNvSpPr>
          <p:nvPr>
            <p:custDataLst>
              <p:tags r:id="rId1"/>
            </p:custDataLst>
          </p:nvPr>
        </p:nvSpPr>
        <p:spPr bwMode="auto">
          <a:xfrm>
            <a:off x="5135504" y="4796649"/>
            <a:ext cx="3689350" cy="147733"/>
          </a:xfrm>
          <a:prstGeom prst="rect">
            <a:avLst/>
          </a:prstGeom>
          <a:noFill/>
          <a:ln w="9525">
            <a:noFill/>
            <a:miter lim="800000"/>
            <a:headEnd/>
            <a:tailEnd/>
          </a:ln>
        </p:spPr>
        <p:txBody>
          <a:bodyPr lIns="0" tIns="0" rIns="0" bIns="0">
            <a:spAutoFit/>
          </a:bodyPr>
          <a:lstStyle/>
          <a:p>
            <a:pPr algn="ctr" fontAlgn="base">
              <a:lnSpc>
                <a:spcPct val="80000"/>
              </a:lnSpc>
              <a:spcBef>
                <a:spcPct val="20000"/>
              </a:spcBef>
              <a:spcAft>
                <a:spcPct val="0"/>
              </a:spcAft>
              <a:defRPr/>
            </a:pPr>
            <a:r>
              <a:rPr lang="de-DE" sz="1200" b="1" dirty="0">
                <a:solidFill>
                  <a:srgbClr val="080808"/>
                </a:solidFill>
                <a:cs typeface="Arial" pitchFamily="34" charset="0"/>
              </a:rPr>
              <a:t>Was soll das Ergebnis des Prozesses sein?</a:t>
            </a:r>
          </a:p>
        </p:txBody>
      </p:sp>
      <p:grpSp>
        <p:nvGrpSpPr>
          <p:cNvPr id="3" name="Gruppieren 2"/>
          <p:cNvGrpSpPr/>
          <p:nvPr/>
        </p:nvGrpSpPr>
        <p:grpSpPr>
          <a:xfrm>
            <a:off x="335023" y="1709312"/>
            <a:ext cx="8502426" cy="4494680"/>
            <a:chOff x="335023" y="1937910"/>
            <a:chExt cx="8502426" cy="4494680"/>
          </a:xfrm>
        </p:grpSpPr>
        <p:grpSp>
          <p:nvGrpSpPr>
            <p:cNvPr id="37" name="Gruppieren 36"/>
            <p:cNvGrpSpPr/>
            <p:nvPr/>
          </p:nvGrpSpPr>
          <p:grpSpPr>
            <a:xfrm>
              <a:off x="335023" y="1937910"/>
              <a:ext cx="8502426" cy="4494680"/>
              <a:chOff x="335023" y="1937910"/>
              <a:chExt cx="8502426" cy="4494680"/>
            </a:xfrm>
          </p:grpSpPr>
          <p:cxnSp>
            <p:nvCxnSpPr>
              <p:cNvPr id="38" name="Gerade Verbindung 6"/>
              <p:cNvCxnSpPr/>
              <p:nvPr/>
            </p:nvCxnSpPr>
            <p:spPr bwMode="auto">
              <a:xfrm rot="16200000" flipV="1">
                <a:off x="3335721" y="3195619"/>
                <a:ext cx="2467752" cy="1991351"/>
              </a:xfrm>
              <a:prstGeom prst="line">
                <a:avLst/>
              </a:prstGeom>
              <a:noFill/>
              <a:ln w="28575" cap="flat" cmpd="sng" algn="ctr">
                <a:solidFill>
                  <a:schemeClr val="tx1"/>
                </a:solidFill>
                <a:prstDash val="solid"/>
                <a:round/>
                <a:headEnd type="none" w="med" len="med"/>
                <a:tailEnd type="none" w="med" len="med"/>
              </a:ln>
              <a:effectLst/>
            </p:spPr>
          </p:cxnSp>
          <p:cxnSp>
            <p:nvCxnSpPr>
              <p:cNvPr id="39" name="Gerade Verbindung 7"/>
              <p:cNvCxnSpPr/>
              <p:nvPr/>
            </p:nvCxnSpPr>
            <p:spPr bwMode="auto">
              <a:xfrm rot="5400000">
                <a:off x="3335721" y="3195619"/>
                <a:ext cx="2467752" cy="1991351"/>
              </a:xfrm>
              <a:prstGeom prst="line">
                <a:avLst/>
              </a:prstGeom>
              <a:noFill/>
              <a:ln w="28575" cap="flat" cmpd="sng" algn="ctr">
                <a:solidFill>
                  <a:schemeClr val="tx1"/>
                </a:solidFill>
                <a:prstDash val="solid"/>
                <a:round/>
                <a:headEnd type="none" w="med" len="med"/>
                <a:tailEnd type="none" w="med" len="med"/>
              </a:ln>
              <a:effectLst/>
            </p:spPr>
          </p:cxnSp>
          <p:sp>
            <p:nvSpPr>
              <p:cNvPr id="41" name="AutoShape 5"/>
              <p:cNvSpPr>
                <a:spLocks noChangeArrowheads="1"/>
              </p:cNvSpPr>
              <p:nvPr/>
            </p:nvSpPr>
            <p:spPr bwMode="auto">
              <a:xfrm>
                <a:off x="1536135" y="3478987"/>
                <a:ext cx="3582210" cy="1235302"/>
              </a:xfrm>
              <a:prstGeom prst="chevron">
                <a:avLst>
                  <a:gd name="adj" fmla="val 52803"/>
                </a:avLst>
              </a:prstGeom>
              <a:solidFill>
                <a:srgbClr val="4074A6"/>
              </a:solidFill>
              <a:ln w="12700" algn="ctr">
                <a:noFill/>
                <a:miter lim="800000"/>
                <a:headEnd/>
                <a:tailEnd/>
              </a:ln>
            </p:spPr>
            <p:txBody>
              <a:bodyPr wrap="none" lIns="0" tIns="0" rIns="0" bIns="0" anchor="ctr"/>
              <a:lstStyle/>
              <a:p>
                <a:pPr marL="342900" indent="-342900">
                  <a:lnSpc>
                    <a:spcPct val="80000"/>
                  </a:lnSpc>
                  <a:spcBef>
                    <a:spcPct val="20000"/>
                  </a:spcBef>
                </a:pPr>
                <a:r>
                  <a:rPr lang="de-DE" sz="1000" dirty="0">
                    <a:solidFill>
                      <a:srgbClr val="FFFFFF"/>
                    </a:solidFill>
                    <a:ea typeface="Verdana" pitchFamily="34" charset="0"/>
                    <a:cs typeface="Verdana" pitchFamily="34" charset="0"/>
                  </a:rPr>
                  <a:t>  </a:t>
                </a:r>
                <a:r>
                  <a:rPr lang="de-DE" sz="1200" b="1" dirty="0">
                    <a:solidFill>
                      <a:srgbClr val="FFFFFF"/>
                    </a:solidFill>
                    <a:ea typeface="Verdana" pitchFamily="34" charset="0"/>
                    <a:cs typeface="Verdana" pitchFamily="34" charset="0"/>
                  </a:rPr>
                  <a:t>Input</a:t>
                </a:r>
                <a:r>
                  <a:rPr lang="de-DE" sz="1000" dirty="0">
                    <a:solidFill>
                      <a:srgbClr val="FFFFFF"/>
                    </a:solidFill>
                    <a:ea typeface="Verdana" pitchFamily="34" charset="0"/>
                    <a:cs typeface="Verdana" pitchFamily="34" charset="0"/>
                  </a:rPr>
                  <a:t>       </a:t>
                </a:r>
              </a:p>
            </p:txBody>
          </p:sp>
          <p:sp>
            <p:nvSpPr>
              <p:cNvPr id="42" name="AutoShape 6"/>
              <p:cNvSpPr>
                <a:spLocks noChangeArrowheads="1"/>
              </p:cNvSpPr>
              <p:nvPr/>
            </p:nvSpPr>
            <p:spPr bwMode="auto">
              <a:xfrm>
                <a:off x="4382907" y="3478987"/>
                <a:ext cx="2984743" cy="1235302"/>
              </a:xfrm>
              <a:prstGeom prst="homePlate">
                <a:avLst>
                  <a:gd name="adj" fmla="val 51492"/>
                </a:avLst>
              </a:prstGeom>
              <a:solidFill>
                <a:schemeClr val="accent5"/>
              </a:solidFill>
              <a:ln w="12700" algn="ctr">
                <a:noFill/>
                <a:miter lim="800000"/>
                <a:headEnd/>
                <a:tailEnd/>
              </a:ln>
            </p:spPr>
            <p:txBody>
              <a:bodyPr wrap="none" lIns="0" tIns="0" rIns="0" bIns="0" anchor="ctr"/>
              <a:lstStyle/>
              <a:p>
                <a:pPr algn="r"/>
                <a:r>
                  <a:rPr lang="de-DE" sz="1200" b="1" dirty="0">
                    <a:solidFill>
                      <a:srgbClr val="FFFFFF"/>
                    </a:solidFill>
                    <a:ea typeface="Verdana" pitchFamily="34" charset="0"/>
                    <a:cs typeface="Verdana" pitchFamily="34" charset="0"/>
                  </a:rPr>
                  <a:t>Output</a:t>
                </a:r>
              </a:p>
            </p:txBody>
          </p:sp>
          <p:sp>
            <p:nvSpPr>
              <p:cNvPr id="43" name="Oval 7"/>
              <p:cNvSpPr>
                <a:spLocks noChangeArrowheads="1"/>
              </p:cNvSpPr>
              <p:nvPr/>
            </p:nvSpPr>
            <p:spPr bwMode="auto">
              <a:xfrm>
                <a:off x="3637787" y="3465485"/>
                <a:ext cx="1865257" cy="1235302"/>
              </a:xfrm>
              <a:prstGeom prst="ellipse">
                <a:avLst/>
              </a:prstGeom>
              <a:gradFill>
                <a:gsLst>
                  <a:gs pos="0">
                    <a:schemeClr val="bg1"/>
                  </a:gs>
                  <a:gs pos="50000">
                    <a:srgbClr val="CCA600"/>
                  </a:gs>
                </a:gsLst>
                <a:lin ang="5400000" scaled="0"/>
              </a:gradFill>
              <a:ln w="12700" algn="ctr">
                <a:noFill/>
                <a:round/>
                <a:headEnd/>
                <a:tailEnd/>
              </a:ln>
            </p:spPr>
            <p:txBody>
              <a:bodyPr wrap="none" lIns="0" tIns="0" rIns="0" bIns="0" anchor="ctr"/>
              <a:lstStyle/>
              <a:p>
                <a:pPr algn="ctr" fontAlgn="base">
                  <a:lnSpc>
                    <a:spcPct val="80000"/>
                  </a:lnSpc>
                  <a:spcBef>
                    <a:spcPct val="50000"/>
                  </a:spcBef>
                  <a:spcAft>
                    <a:spcPct val="0"/>
                  </a:spcAft>
                  <a:defRPr/>
                </a:pPr>
                <a:r>
                  <a:rPr lang="de-DE" sz="1200" dirty="0">
                    <a:solidFill>
                      <a:srgbClr val="080808"/>
                    </a:solidFill>
                    <a:cs typeface="Arial" pitchFamily="34" charset="0"/>
                  </a:rPr>
                  <a:t>P6</a:t>
                </a:r>
              </a:p>
              <a:p>
                <a:pPr algn="ctr" fontAlgn="base">
                  <a:lnSpc>
                    <a:spcPct val="80000"/>
                  </a:lnSpc>
                  <a:spcBef>
                    <a:spcPct val="30000"/>
                  </a:spcBef>
                  <a:spcAft>
                    <a:spcPct val="0"/>
                  </a:spcAft>
                  <a:defRPr/>
                </a:pPr>
                <a:r>
                  <a:rPr lang="de-DE" sz="1200" dirty="0">
                    <a:solidFill>
                      <a:srgbClr val="080808"/>
                    </a:solidFill>
                    <a:cs typeface="Arial" pitchFamily="34" charset="0"/>
                  </a:rPr>
                  <a:t>Processalyse/ </a:t>
                </a:r>
                <a:br>
                  <a:rPr lang="de-DE" sz="1200" dirty="0">
                    <a:solidFill>
                      <a:srgbClr val="080808"/>
                    </a:solidFill>
                    <a:cs typeface="Arial" pitchFamily="34" charset="0"/>
                  </a:rPr>
                </a:br>
                <a:r>
                  <a:rPr lang="de-DE" sz="1200" dirty="0">
                    <a:solidFill>
                      <a:srgbClr val="080808"/>
                    </a:solidFill>
                    <a:cs typeface="Arial" pitchFamily="34" charset="0"/>
                  </a:rPr>
                  <a:t>Produktion</a:t>
                </a:r>
              </a:p>
            </p:txBody>
          </p:sp>
          <p:sp>
            <p:nvSpPr>
              <p:cNvPr id="44" name="AutoShape 49"/>
              <p:cNvSpPr>
                <a:spLocks noChangeArrowheads="1"/>
              </p:cNvSpPr>
              <p:nvPr/>
            </p:nvSpPr>
            <p:spPr bwMode="auto">
              <a:xfrm>
                <a:off x="7122149" y="3770211"/>
                <a:ext cx="1171038" cy="652854"/>
              </a:xfrm>
              <a:prstGeom prst="chevron">
                <a:avLst>
                  <a:gd name="adj" fmla="val 52654"/>
                </a:avLst>
              </a:prstGeom>
              <a:solidFill>
                <a:srgbClr val="4074A6"/>
              </a:solidFill>
              <a:ln w="12700" algn="ctr">
                <a:noFill/>
                <a:miter lim="800000"/>
                <a:headEnd/>
                <a:tailEnd/>
              </a:ln>
            </p:spPr>
            <p:txBody>
              <a:bodyPr wrap="none" lIns="0" tIns="0" rIns="0" bIns="0" anchor="ctr"/>
              <a:lstStyle/>
              <a:p>
                <a:pPr marL="342900" indent="-342900" algn="ctr">
                  <a:lnSpc>
                    <a:spcPct val="80000"/>
                  </a:lnSpc>
                  <a:spcBef>
                    <a:spcPct val="20000"/>
                  </a:spcBef>
                </a:pPr>
                <a:endParaRPr lang="de-DE" sz="1000" dirty="0">
                  <a:solidFill>
                    <a:srgbClr val="080808"/>
                  </a:solidFill>
                </a:endParaRPr>
              </a:p>
            </p:txBody>
          </p:sp>
          <p:sp>
            <p:nvSpPr>
              <p:cNvPr id="45" name="AutoShape 50"/>
              <p:cNvSpPr>
                <a:spLocks noChangeArrowheads="1"/>
              </p:cNvSpPr>
              <p:nvPr/>
            </p:nvSpPr>
            <p:spPr bwMode="auto">
              <a:xfrm>
                <a:off x="7965212" y="3770211"/>
                <a:ext cx="872237" cy="652854"/>
              </a:xfrm>
              <a:prstGeom prst="homePlate">
                <a:avLst>
                  <a:gd name="adj" fmla="val 32955"/>
                </a:avLst>
              </a:prstGeom>
              <a:solidFill>
                <a:schemeClr val="accent5"/>
              </a:solidFill>
              <a:ln w="12700" algn="ctr">
                <a:noFill/>
                <a:miter lim="800000"/>
                <a:headEnd/>
                <a:tailEnd/>
              </a:ln>
            </p:spPr>
            <p:txBody>
              <a:bodyPr wrap="none" lIns="0" tIns="0" rIns="0" bIns="0" anchor="ctr"/>
              <a:lstStyle/>
              <a:p>
                <a:pPr marL="342900" indent="-342900" algn="ctr">
                  <a:lnSpc>
                    <a:spcPct val="80000"/>
                  </a:lnSpc>
                  <a:spcBef>
                    <a:spcPct val="20000"/>
                  </a:spcBef>
                </a:pPr>
                <a:r>
                  <a:rPr lang="de-DE" sz="1000" dirty="0">
                    <a:solidFill>
                      <a:srgbClr val="080808"/>
                    </a:solidFill>
                  </a:rPr>
                  <a:t>      </a:t>
                </a:r>
              </a:p>
            </p:txBody>
          </p:sp>
          <p:sp>
            <p:nvSpPr>
              <p:cNvPr id="46" name="Oval 51"/>
              <p:cNvSpPr>
                <a:spLocks noChangeArrowheads="1"/>
              </p:cNvSpPr>
              <p:nvPr/>
            </p:nvSpPr>
            <p:spPr bwMode="auto">
              <a:xfrm>
                <a:off x="7636733" y="3770211"/>
                <a:ext cx="747004" cy="652854"/>
              </a:xfrm>
              <a:prstGeom prst="ellipse">
                <a:avLst/>
              </a:prstGeom>
              <a:gradFill>
                <a:gsLst>
                  <a:gs pos="0">
                    <a:schemeClr val="bg1"/>
                  </a:gs>
                  <a:gs pos="50000">
                    <a:srgbClr val="CCA600"/>
                  </a:gs>
                </a:gsLst>
                <a:lin ang="5400000" scaled="0"/>
              </a:gradFill>
              <a:ln w="12700" algn="ctr">
                <a:noFill/>
                <a:round/>
                <a:headEnd/>
                <a:tailEnd/>
              </a:ln>
            </p:spPr>
            <p:txBody>
              <a:bodyPr wrap="none" lIns="0" tIns="0" rIns="0" bIns="0" anchor="ctr"/>
              <a:lstStyle/>
              <a:p>
                <a:pPr marL="342900" indent="-342900" algn="ctr">
                  <a:lnSpc>
                    <a:spcPct val="80000"/>
                  </a:lnSpc>
                  <a:spcBef>
                    <a:spcPct val="20000"/>
                  </a:spcBef>
                </a:pPr>
                <a:endParaRPr lang="de-DE" sz="1000" dirty="0">
                  <a:solidFill>
                    <a:srgbClr val="080808"/>
                  </a:solidFill>
                </a:endParaRPr>
              </a:p>
            </p:txBody>
          </p:sp>
          <p:grpSp>
            <p:nvGrpSpPr>
              <p:cNvPr id="47" name="Gruppieren 46"/>
              <p:cNvGrpSpPr/>
              <p:nvPr/>
            </p:nvGrpSpPr>
            <p:grpSpPr>
              <a:xfrm>
                <a:off x="340872" y="3755810"/>
                <a:ext cx="1731106" cy="652854"/>
                <a:chOff x="1069009" y="3755810"/>
                <a:chExt cx="1731106" cy="652854"/>
              </a:xfrm>
            </p:grpSpPr>
            <p:sp>
              <p:nvSpPr>
                <p:cNvPr id="65" name="AutoShape 53"/>
                <p:cNvSpPr>
                  <a:spLocks noChangeArrowheads="1"/>
                </p:cNvSpPr>
                <p:nvPr/>
              </p:nvSpPr>
              <p:spPr bwMode="auto">
                <a:xfrm>
                  <a:off x="1069009" y="3755810"/>
                  <a:ext cx="1171038" cy="652854"/>
                </a:xfrm>
                <a:prstGeom prst="chevron">
                  <a:avLst>
                    <a:gd name="adj" fmla="val 32056"/>
                  </a:avLst>
                </a:prstGeom>
                <a:solidFill>
                  <a:srgbClr val="4074A6"/>
                </a:solidFill>
                <a:ln w="12700" algn="ctr">
                  <a:noFill/>
                  <a:miter lim="800000"/>
                  <a:headEnd/>
                  <a:tailEnd/>
                </a:ln>
              </p:spPr>
              <p:txBody>
                <a:bodyPr wrap="none" lIns="0" tIns="0" rIns="0" bIns="0" anchor="ctr"/>
                <a:lstStyle/>
                <a:p>
                  <a:pPr marL="342900" indent="-342900" algn="ctr">
                    <a:lnSpc>
                      <a:spcPct val="80000"/>
                    </a:lnSpc>
                    <a:spcBef>
                      <a:spcPct val="20000"/>
                    </a:spcBef>
                  </a:pPr>
                  <a:r>
                    <a:rPr lang="de-DE" sz="1000" dirty="0">
                      <a:solidFill>
                        <a:srgbClr val="080808"/>
                      </a:solidFill>
                    </a:rPr>
                    <a:t>  </a:t>
                  </a:r>
                </a:p>
              </p:txBody>
            </p:sp>
            <p:sp>
              <p:nvSpPr>
                <p:cNvPr id="66" name="AutoShape 54"/>
                <p:cNvSpPr>
                  <a:spLocks noChangeArrowheads="1"/>
                </p:cNvSpPr>
                <p:nvPr/>
              </p:nvSpPr>
              <p:spPr bwMode="auto">
                <a:xfrm>
                  <a:off x="1927878" y="3755810"/>
                  <a:ext cx="872237" cy="652854"/>
                </a:xfrm>
                <a:prstGeom prst="homePlate">
                  <a:avLst>
                    <a:gd name="adj" fmla="val 51492"/>
                  </a:avLst>
                </a:prstGeom>
                <a:solidFill>
                  <a:schemeClr val="accent5"/>
                </a:solidFill>
                <a:ln w="12700" algn="ctr">
                  <a:noFill/>
                  <a:miter lim="800000"/>
                  <a:headEnd/>
                  <a:tailEnd/>
                </a:ln>
              </p:spPr>
              <p:txBody>
                <a:bodyPr wrap="none" lIns="0" tIns="0" rIns="0" bIns="0" anchor="ctr"/>
                <a:lstStyle/>
                <a:p>
                  <a:pPr marL="342900" indent="-342900" algn="ctr">
                    <a:lnSpc>
                      <a:spcPct val="80000"/>
                    </a:lnSpc>
                    <a:spcBef>
                      <a:spcPct val="20000"/>
                    </a:spcBef>
                  </a:pPr>
                  <a:r>
                    <a:rPr lang="de-DE" sz="1000" dirty="0">
                      <a:solidFill>
                        <a:srgbClr val="080808"/>
                      </a:solidFill>
                    </a:rPr>
                    <a:t>     </a:t>
                  </a:r>
                </a:p>
              </p:txBody>
            </p:sp>
            <p:sp>
              <p:nvSpPr>
                <p:cNvPr id="67" name="Oval 55"/>
                <p:cNvSpPr>
                  <a:spLocks noChangeArrowheads="1"/>
                </p:cNvSpPr>
                <p:nvPr/>
              </p:nvSpPr>
              <p:spPr bwMode="auto">
                <a:xfrm>
                  <a:off x="1554375" y="3755810"/>
                  <a:ext cx="747004" cy="652854"/>
                </a:xfrm>
                <a:prstGeom prst="ellipse">
                  <a:avLst/>
                </a:prstGeom>
                <a:gradFill>
                  <a:gsLst>
                    <a:gs pos="0">
                      <a:schemeClr val="bg1"/>
                    </a:gs>
                    <a:gs pos="50000">
                      <a:srgbClr val="CCA600"/>
                    </a:gs>
                  </a:gsLst>
                  <a:lin ang="5400000" scaled="0"/>
                </a:gradFill>
                <a:ln w="12700" algn="ctr">
                  <a:noFill/>
                  <a:round/>
                  <a:headEnd/>
                  <a:tailEnd/>
                </a:ln>
              </p:spPr>
              <p:txBody>
                <a:bodyPr wrap="none" lIns="0" tIns="0" rIns="0" bIns="0" anchor="ctr"/>
                <a:lstStyle/>
                <a:p>
                  <a:pPr marL="342900" indent="-342900" algn="ctr">
                    <a:lnSpc>
                      <a:spcPct val="80000"/>
                    </a:lnSpc>
                    <a:spcBef>
                      <a:spcPct val="20000"/>
                    </a:spcBef>
                  </a:pPr>
                  <a:endParaRPr lang="de-DE" sz="1000" dirty="0">
                    <a:solidFill>
                      <a:srgbClr val="080808"/>
                    </a:solidFill>
                  </a:endParaRPr>
                </a:p>
              </p:txBody>
            </p:sp>
            <p:sp>
              <p:nvSpPr>
                <p:cNvPr id="68" name="Rectangle 5"/>
                <p:cNvSpPr>
                  <a:spLocks noChangeArrowheads="1"/>
                </p:cNvSpPr>
                <p:nvPr/>
              </p:nvSpPr>
              <p:spPr bwMode="auto">
                <a:xfrm>
                  <a:off x="1353214" y="3965305"/>
                  <a:ext cx="248919"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I</a:t>
                  </a:r>
                </a:p>
              </p:txBody>
            </p:sp>
            <p:sp>
              <p:nvSpPr>
                <p:cNvPr id="69" name="Rectangle 5"/>
                <p:cNvSpPr>
                  <a:spLocks noChangeArrowheads="1"/>
                </p:cNvSpPr>
                <p:nvPr/>
              </p:nvSpPr>
              <p:spPr bwMode="auto">
                <a:xfrm>
                  <a:off x="1582716" y="3950081"/>
                  <a:ext cx="622298" cy="290324"/>
                </a:xfrm>
                <a:prstGeom prst="rect">
                  <a:avLst/>
                </a:prstGeom>
                <a:noFill/>
                <a:ln w="9525">
                  <a:noFill/>
                  <a:miter lim="800000"/>
                  <a:headEnd/>
                  <a:tailEnd/>
                </a:ln>
                <a:effectLst/>
              </p:spPr>
              <p:txBody>
                <a:bodyPr anchor="ctr"/>
                <a:lstStyle/>
                <a:p>
                  <a:pPr algn="ctr"/>
                  <a:r>
                    <a:rPr lang="de-DE" sz="1000" spc="-60" dirty="0">
                      <a:solidFill>
                        <a:srgbClr val="000000"/>
                      </a:solidFill>
                      <a:cs typeface="Arial"/>
                    </a:rPr>
                    <a:t>P4.x</a:t>
                  </a:r>
                  <a:endParaRPr lang="de-DE" sz="800" dirty="0">
                    <a:solidFill>
                      <a:srgbClr val="000000"/>
                    </a:solidFill>
                    <a:cs typeface="Arial"/>
                  </a:endParaRPr>
                </a:p>
              </p:txBody>
            </p:sp>
            <p:sp>
              <p:nvSpPr>
                <p:cNvPr id="70" name="Rectangle 5"/>
                <p:cNvSpPr>
                  <a:spLocks noChangeArrowheads="1"/>
                </p:cNvSpPr>
                <p:nvPr/>
              </p:nvSpPr>
              <p:spPr bwMode="auto">
                <a:xfrm>
                  <a:off x="2290832" y="3965305"/>
                  <a:ext cx="397057"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O</a:t>
                  </a:r>
                </a:p>
              </p:txBody>
            </p:sp>
          </p:grpSp>
          <p:sp>
            <p:nvSpPr>
              <p:cNvPr id="48" name="Rectangle 5"/>
              <p:cNvSpPr>
                <a:spLocks noChangeArrowheads="1"/>
              </p:cNvSpPr>
              <p:nvPr/>
            </p:nvSpPr>
            <p:spPr bwMode="auto">
              <a:xfrm>
                <a:off x="7689431" y="3960675"/>
                <a:ext cx="622298" cy="290324"/>
              </a:xfrm>
              <a:prstGeom prst="rect">
                <a:avLst/>
              </a:prstGeom>
              <a:noFill/>
              <a:ln w="9525">
                <a:noFill/>
                <a:miter lim="800000"/>
                <a:headEnd/>
                <a:tailEnd/>
              </a:ln>
              <a:effectLst/>
            </p:spPr>
            <p:txBody>
              <a:bodyPr anchor="ctr"/>
              <a:lstStyle/>
              <a:p>
                <a:pPr algn="ctr"/>
                <a:r>
                  <a:rPr lang="de-DE" sz="1000" spc="-60" dirty="0">
                    <a:solidFill>
                      <a:srgbClr val="000000"/>
                    </a:solidFill>
                    <a:cs typeface="Arial"/>
                  </a:rPr>
                  <a:t>P6.x</a:t>
                </a:r>
                <a:endParaRPr lang="de-DE" sz="800" dirty="0">
                  <a:solidFill>
                    <a:srgbClr val="000000"/>
                  </a:solidFill>
                  <a:cs typeface="Arial"/>
                </a:endParaRPr>
              </a:p>
            </p:txBody>
          </p:sp>
          <p:sp>
            <p:nvSpPr>
              <p:cNvPr id="49" name="Rectangle 5"/>
              <p:cNvSpPr>
                <a:spLocks noChangeArrowheads="1"/>
              </p:cNvSpPr>
              <p:nvPr/>
            </p:nvSpPr>
            <p:spPr bwMode="auto">
              <a:xfrm>
                <a:off x="7419995" y="3965207"/>
                <a:ext cx="533396"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I</a:t>
                </a:r>
              </a:p>
            </p:txBody>
          </p:sp>
          <p:sp>
            <p:nvSpPr>
              <p:cNvPr id="50" name="Rectangle 5"/>
              <p:cNvSpPr>
                <a:spLocks noChangeArrowheads="1"/>
              </p:cNvSpPr>
              <p:nvPr/>
            </p:nvSpPr>
            <p:spPr bwMode="auto">
              <a:xfrm>
                <a:off x="8335953" y="3960675"/>
                <a:ext cx="344371"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O</a:t>
                </a:r>
              </a:p>
            </p:txBody>
          </p:sp>
          <p:sp>
            <p:nvSpPr>
              <p:cNvPr id="51" name="Rectangle 5"/>
              <p:cNvSpPr>
                <a:spLocks noChangeArrowheads="1"/>
              </p:cNvSpPr>
              <p:nvPr/>
            </p:nvSpPr>
            <p:spPr bwMode="auto">
              <a:xfrm>
                <a:off x="2040399" y="5035842"/>
                <a:ext cx="1140086" cy="290324"/>
              </a:xfrm>
              <a:prstGeom prst="rect">
                <a:avLst/>
              </a:prstGeom>
              <a:noFill/>
              <a:ln w="9525">
                <a:noFill/>
                <a:miter lim="800000"/>
                <a:headEnd/>
                <a:tailEnd/>
              </a:ln>
              <a:effectLst/>
            </p:spPr>
            <p:txBody>
              <a:bodyPr/>
              <a:lstStyle/>
              <a:p>
                <a:pPr algn="ctr"/>
                <a:r>
                  <a:rPr lang="de-DE" sz="1000" dirty="0">
                    <a:solidFill>
                      <a:srgbClr val="C00000"/>
                    </a:solidFill>
                    <a:ea typeface="Verdana" pitchFamily="34" charset="0"/>
                    <a:cs typeface="Verdana" pitchFamily="34" charset="0"/>
                  </a:rPr>
                  <a:t>Interface</a:t>
                </a:r>
              </a:p>
            </p:txBody>
          </p:sp>
          <p:sp>
            <p:nvSpPr>
              <p:cNvPr id="52" name="Rectangle 5"/>
              <p:cNvSpPr>
                <a:spLocks noChangeArrowheads="1"/>
              </p:cNvSpPr>
              <p:nvPr/>
            </p:nvSpPr>
            <p:spPr bwMode="auto">
              <a:xfrm>
                <a:off x="6047071" y="5040070"/>
                <a:ext cx="1140086" cy="290324"/>
              </a:xfrm>
              <a:prstGeom prst="rect">
                <a:avLst/>
              </a:prstGeom>
              <a:noFill/>
              <a:ln w="9525">
                <a:noFill/>
                <a:miter lim="800000"/>
                <a:headEnd/>
                <a:tailEnd/>
              </a:ln>
              <a:effectLst/>
            </p:spPr>
            <p:txBody>
              <a:bodyPr/>
              <a:lstStyle/>
              <a:p>
                <a:pPr algn="ctr"/>
                <a:r>
                  <a:rPr lang="de-DE" sz="1000" dirty="0">
                    <a:solidFill>
                      <a:srgbClr val="C00000"/>
                    </a:solidFill>
                    <a:ea typeface="Verdana" pitchFamily="34" charset="0"/>
                    <a:cs typeface="Verdana" pitchFamily="34" charset="0"/>
                  </a:rPr>
                  <a:t>Schnittstelle</a:t>
                </a:r>
              </a:p>
            </p:txBody>
          </p:sp>
          <p:sp>
            <p:nvSpPr>
              <p:cNvPr id="53" name="Rectangle 5"/>
              <p:cNvSpPr>
                <a:spLocks noChangeArrowheads="1"/>
              </p:cNvSpPr>
              <p:nvPr/>
            </p:nvSpPr>
            <p:spPr bwMode="auto">
              <a:xfrm>
                <a:off x="987469" y="1937910"/>
                <a:ext cx="3139335" cy="1036690"/>
              </a:xfrm>
              <a:prstGeom prst="rect">
                <a:avLst/>
              </a:prstGeom>
              <a:solidFill>
                <a:srgbClr val="C1C1C1"/>
              </a:solidFill>
              <a:ln w="9525">
                <a:noFill/>
                <a:miter lim="800000"/>
                <a:headEnd/>
                <a:tailEnd/>
              </a:ln>
              <a:effectLst/>
            </p:spPr>
            <p:txBody>
              <a:bodyPr anchor="ctr"/>
              <a:lstStyle/>
              <a:p>
                <a:pPr algn="ctr" eaLnBrk="0" fontAlgn="base" hangingPunct="0">
                  <a:spcAft>
                    <a:spcPts val="600"/>
                  </a:spcAft>
                  <a:defRPr/>
                </a:pPr>
                <a:r>
                  <a:rPr lang="en-GB" sz="1200" dirty="0">
                    <a:solidFill>
                      <a:srgbClr val="080808"/>
                    </a:solidFill>
                    <a:cs typeface="Arial" pitchFamily="34" charset="0"/>
                  </a:rPr>
                  <a:t>What means are used to implement the process?</a:t>
                </a:r>
              </a:p>
              <a:p>
                <a:pPr algn="ctr" eaLnBrk="0" fontAlgn="base" hangingPunct="0">
                  <a:spcAft>
                    <a:spcPts val="600"/>
                  </a:spcAft>
                  <a:defRPr/>
                </a:pPr>
                <a:r>
                  <a:rPr lang="en-GB" sz="1200" b="1" dirty="0">
                    <a:solidFill>
                      <a:srgbClr val="080808"/>
                    </a:solidFill>
                    <a:cs typeface="Arial" pitchFamily="34" charset="0"/>
                  </a:rPr>
                  <a:t>Material Resources</a:t>
                </a:r>
                <a:endParaRPr lang="en-GB" sz="1200" dirty="0">
                  <a:solidFill>
                    <a:srgbClr val="080808"/>
                  </a:solidFill>
                  <a:cs typeface="Arial" pitchFamily="34" charset="0"/>
                </a:endParaRPr>
              </a:p>
              <a:p>
                <a:pPr algn="ctr" eaLnBrk="0" fontAlgn="base" hangingPunct="0">
                  <a:spcAft>
                    <a:spcPts val="600"/>
                  </a:spcAft>
                  <a:defRPr/>
                </a:pPr>
                <a:r>
                  <a:rPr lang="en-GB" sz="1200" dirty="0">
                    <a:solidFill>
                      <a:srgbClr val="080808"/>
                    </a:solidFill>
                    <a:cs typeface="Arial" pitchFamily="34" charset="0"/>
                  </a:rPr>
                  <a:t>Equipment, facilities</a:t>
                </a:r>
              </a:p>
            </p:txBody>
          </p:sp>
          <p:sp>
            <p:nvSpPr>
              <p:cNvPr id="54" name="Rectangle 5"/>
              <p:cNvSpPr>
                <a:spLocks noChangeArrowheads="1"/>
              </p:cNvSpPr>
              <p:nvPr/>
            </p:nvSpPr>
            <p:spPr bwMode="auto">
              <a:xfrm>
                <a:off x="5240634" y="1937910"/>
                <a:ext cx="3283164" cy="1036690"/>
              </a:xfrm>
              <a:prstGeom prst="rect">
                <a:avLst/>
              </a:prstGeom>
              <a:solidFill>
                <a:srgbClr val="C1C1C1"/>
              </a:solidFill>
              <a:ln w="9525">
                <a:noFill/>
                <a:miter lim="800000"/>
                <a:headEnd/>
                <a:tailEnd/>
              </a:ln>
              <a:effectLst/>
            </p:spPr>
            <p:txBody>
              <a:bodyPr anchor="ctr"/>
              <a:lstStyle/>
              <a:p>
                <a:pPr algn="ctr" eaLnBrk="0" fontAlgn="base" hangingPunct="0">
                  <a:spcAft>
                    <a:spcPts val="600"/>
                  </a:spcAft>
                  <a:defRPr/>
                </a:pPr>
                <a:r>
                  <a:rPr lang="de-DE" sz="1200" dirty="0">
                    <a:solidFill>
                      <a:srgbClr val="080808"/>
                    </a:solidFill>
                    <a:cs typeface="Arial" pitchFamily="34" charset="0"/>
                  </a:rPr>
                  <a:t>Welche Funktionen/Bereiche/ </a:t>
                </a:r>
                <a:br>
                  <a:rPr lang="de-DE" sz="1200" dirty="0">
                    <a:solidFill>
                      <a:srgbClr val="080808"/>
                    </a:solidFill>
                    <a:cs typeface="Arial" pitchFamily="34" charset="0"/>
                  </a:rPr>
                </a:br>
                <a:r>
                  <a:rPr lang="de-DE" sz="1200" dirty="0">
                    <a:solidFill>
                      <a:srgbClr val="080808"/>
                    </a:solidFill>
                    <a:cs typeface="Arial" pitchFamily="34" charset="0"/>
                  </a:rPr>
                  <a:t>Personen unterstützen den Prozess?</a:t>
                </a:r>
              </a:p>
              <a:p>
                <a:pPr algn="ctr" eaLnBrk="0" fontAlgn="base" hangingPunct="0">
                  <a:spcAft>
                    <a:spcPts val="600"/>
                  </a:spcAft>
                  <a:defRPr/>
                </a:pPr>
                <a:r>
                  <a:rPr lang="de-DE" sz="1200" b="1" dirty="0">
                    <a:solidFill>
                      <a:srgbClr val="080808"/>
                    </a:solidFill>
                    <a:cs typeface="Arial" pitchFamily="34" charset="0"/>
                  </a:rPr>
                  <a:t>Prozessunterstützung</a:t>
                </a:r>
                <a:endParaRPr lang="de-DE" sz="1200" dirty="0">
                  <a:solidFill>
                    <a:srgbClr val="080808"/>
                  </a:solidFill>
                  <a:cs typeface="Arial" pitchFamily="34" charset="0"/>
                </a:endParaRPr>
              </a:p>
              <a:p>
                <a:pPr algn="ctr" eaLnBrk="0" fontAlgn="base" hangingPunct="0">
                  <a:spcAft>
                    <a:spcPts val="600"/>
                  </a:spcAft>
                  <a:defRPr/>
                </a:pPr>
                <a:r>
                  <a:rPr lang="de-DE" sz="1200" dirty="0">
                    <a:solidFill>
                      <a:srgbClr val="080808"/>
                    </a:solidFill>
                    <a:cs typeface="Arial" pitchFamily="34" charset="0"/>
                  </a:rPr>
                  <a:t>Schulung, Wissen, Fähigkeit, Befugnisse</a:t>
                </a:r>
                <a:endParaRPr lang="de-DE" sz="1200" dirty="0">
                  <a:solidFill>
                    <a:srgbClr val="080808"/>
                  </a:solidFill>
                  <a:ea typeface="Verdana" pitchFamily="34" charset="0"/>
                  <a:cs typeface="Verdana" pitchFamily="34" charset="0"/>
                </a:endParaRPr>
              </a:p>
            </p:txBody>
          </p:sp>
          <p:sp>
            <p:nvSpPr>
              <p:cNvPr id="55" name="Rectangle 5"/>
              <p:cNvSpPr>
                <a:spLocks noChangeArrowheads="1"/>
              </p:cNvSpPr>
              <p:nvPr/>
            </p:nvSpPr>
            <p:spPr bwMode="auto">
              <a:xfrm>
                <a:off x="987469" y="5395900"/>
                <a:ext cx="3139335" cy="1036690"/>
              </a:xfrm>
              <a:prstGeom prst="rect">
                <a:avLst/>
              </a:prstGeom>
              <a:solidFill>
                <a:srgbClr val="C1C1C1"/>
              </a:solidFill>
              <a:ln w="9525">
                <a:noFill/>
                <a:miter lim="800000"/>
                <a:headEnd/>
                <a:tailEnd/>
              </a:ln>
              <a:effectLst/>
            </p:spPr>
            <p:txBody>
              <a:bodyPr anchor="ctr"/>
              <a:lstStyle/>
              <a:p>
                <a:pPr algn="ctr" eaLnBrk="0" fontAlgn="base" hangingPunct="0">
                  <a:spcAft>
                    <a:spcPts val="600"/>
                  </a:spcAft>
                  <a:defRPr/>
                </a:pPr>
                <a:r>
                  <a:rPr lang="en-GB" sz="1200" dirty="0">
                    <a:solidFill>
                      <a:srgbClr val="080808"/>
                    </a:solidFill>
                    <a:cs typeface="Arial" pitchFamily="34" charset="0"/>
                  </a:rPr>
                  <a:t>How dies the process run?</a:t>
                </a:r>
              </a:p>
              <a:p>
                <a:pPr algn="ctr" eaLnBrk="0" fontAlgn="base" hangingPunct="0">
                  <a:spcAft>
                    <a:spcPts val="1200"/>
                  </a:spcAft>
                  <a:defRPr/>
                </a:pPr>
                <a:r>
                  <a:rPr lang="en-GB" sz="1200" b="1" dirty="0">
                    <a:solidFill>
                      <a:srgbClr val="080808"/>
                    </a:solidFill>
                    <a:cs typeface="Arial" pitchFamily="34" charset="0"/>
                  </a:rPr>
                  <a:t>Process Operation</a:t>
                </a:r>
                <a:endParaRPr lang="en-GB" sz="1200" dirty="0">
                  <a:solidFill>
                    <a:srgbClr val="080808"/>
                  </a:solidFill>
                  <a:ea typeface="Verdana" pitchFamily="34" charset="0"/>
                  <a:cs typeface="Verdana" pitchFamily="34" charset="0"/>
                </a:endParaRPr>
              </a:p>
              <a:p>
                <a:pPr algn="ctr" eaLnBrk="0" fontAlgn="base" hangingPunct="0">
                  <a:spcAft>
                    <a:spcPts val="600"/>
                  </a:spcAft>
                  <a:defRPr/>
                </a:pPr>
                <a:r>
                  <a:rPr lang="en-GB" sz="1200" dirty="0">
                    <a:solidFill>
                      <a:srgbClr val="080808"/>
                    </a:solidFill>
                    <a:cs typeface="Arial" pitchFamily="34" charset="0"/>
                  </a:rPr>
                  <a:t>Implementation rules: instructions, procedures, methods</a:t>
                </a:r>
              </a:p>
            </p:txBody>
          </p:sp>
          <p:sp>
            <p:nvSpPr>
              <p:cNvPr id="56" name="Rectangle 5"/>
              <p:cNvSpPr>
                <a:spLocks noChangeArrowheads="1"/>
              </p:cNvSpPr>
              <p:nvPr/>
            </p:nvSpPr>
            <p:spPr bwMode="auto">
              <a:xfrm>
                <a:off x="5240634" y="5395900"/>
                <a:ext cx="3283164" cy="1036690"/>
              </a:xfrm>
              <a:prstGeom prst="rect">
                <a:avLst/>
              </a:prstGeom>
              <a:solidFill>
                <a:srgbClr val="C1C1C1"/>
              </a:solidFill>
              <a:ln w="9525">
                <a:noFill/>
                <a:miter lim="800000"/>
                <a:headEnd/>
                <a:tailEnd/>
              </a:ln>
              <a:effectLst/>
            </p:spPr>
            <p:txBody>
              <a:bodyPr anchor="ctr"/>
              <a:lstStyle/>
              <a:p>
                <a:pPr algn="ctr" eaLnBrk="0" fontAlgn="base" hangingPunct="0">
                  <a:spcAft>
                    <a:spcPts val="600"/>
                  </a:spcAft>
                  <a:defRPr/>
                </a:pPr>
                <a:r>
                  <a:rPr lang="de-DE" sz="1200" dirty="0">
                    <a:solidFill>
                      <a:srgbClr val="080808"/>
                    </a:solidFill>
                    <a:cs typeface="Arial" pitchFamily="34" charset="0"/>
                  </a:rPr>
                  <a:t>Wie wirkungsvoll wird der Prozess durchgeführt?</a:t>
                </a:r>
              </a:p>
              <a:p>
                <a:pPr algn="ctr" eaLnBrk="0" fontAlgn="base" hangingPunct="0">
                  <a:spcAft>
                    <a:spcPts val="600"/>
                  </a:spcAft>
                  <a:defRPr/>
                </a:pPr>
                <a:r>
                  <a:rPr lang="de-DE" sz="1200" b="1" dirty="0">
                    <a:solidFill>
                      <a:srgbClr val="080808"/>
                    </a:solidFill>
                    <a:cs typeface="Arial" pitchFamily="34" charset="0"/>
                  </a:rPr>
                  <a:t>Wirkungsgrad</a:t>
                </a:r>
                <a:endParaRPr lang="de-DE" sz="1200" dirty="0">
                  <a:solidFill>
                    <a:srgbClr val="080808"/>
                  </a:solidFill>
                  <a:cs typeface="Arial" pitchFamily="34" charset="0"/>
                </a:endParaRPr>
              </a:p>
              <a:p>
                <a:pPr algn="ctr" eaLnBrk="0" fontAlgn="base" hangingPunct="0">
                  <a:spcAft>
                    <a:spcPts val="600"/>
                  </a:spcAft>
                  <a:defRPr/>
                </a:pPr>
                <a:r>
                  <a:rPr lang="de-DE" sz="1200" dirty="0">
                    <a:solidFill>
                      <a:srgbClr val="080808"/>
                    </a:solidFill>
                    <a:cs typeface="Arial" pitchFamily="34" charset="0"/>
                  </a:rPr>
                  <a:t>Leistungsindikatoren, Kennzahlen</a:t>
                </a:r>
              </a:p>
            </p:txBody>
          </p:sp>
          <p:sp>
            <p:nvSpPr>
              <p:cNvPr id="57" name="Rechteck 56"/>
              <p:cNvSpPr/>
              <p:nvPr/>
            </p:nvSpPr>
            <p:spPr bwMode="auto">
              <a:xfrm>
                <a:off x="1625587" y="3140277"/>
                <a:ext cx="1946827" cy="1898461"/>
              </a:xfrm>
              <a:prstGeom prst="rect">
                <a:avLst/>
              </a:prstGeom>
              <a:noFill/>
              <a:ln w="12700">
                <a:solidFill>
                  <a:srgbClr val="C00000"/>
                </a:solidFill>
                <a:prstDash val="dash"/>
                <a:round/>
                <a:headEnd/>
                <a:tailEnd/>
              </a:ln>
              <a:effectLst/>
            </p:spPr>
            <p:txBody>
              <a:bodyPr rtlCol="0" anchor="ctr"/>
              <a:lstStyle/>
              <a:p>
                <a:pPr algn="ctr"/>
                <a:endParaRPr lang="de-DE" sz="1400" dirty="0">
                  <a:solidFill>
                    <a:srgbClr val="080808"/>
                  </a:solidFill>
                </a:endParaRPr>
              </a:p>
            </p:txBody>
          </p:sp>
          <p:sp>
            <p:nvSpPr>
              <p:cNvPr id="58" name="Rechteck 57"/>
              <p:cNvSpPr/>
              <p:nvPr/>
            </p:nvSpPr>
            <p:spPr bwMode="auto">
              <a:xfrm>
                <a:off x="5536346" y="3141608"/>
                <a:ext cx="2064975" cy="1898461"/>
              </a:xfrm>
              <a:prstGeom prst="rect">
                <a:avLst/>
              </a:prstGeom>
              <a:noFill/>
              <a:ln w="12700">
                <a:solidFill>
                  <a:srgbClr val="C00000"/>
                </a:solidFill>
                <a:prstDash val="dash"/>
                <a:round/>
                <a:headEnd/>
                <a:tailEnd/>
              </a:ln>
              <a:effectLst/>
            </p:spPr>
            <p:txBody>
              <a:bodyPr rtlCol="0" anchor="ctr"/>
              <a:lstStyle/>
              <a:p>
                <a:pPr algn="ctr"/>
                <a:endParaRPr lang="de-DE" sz="1400" dirty="0">
                  <a:solidFill>
                    <a:srgbClr val="080808"/>
                  </a:solidFill>
                </a:endParaRPr>
              </a:p>
            </p:txBody>
          </p:sp>
          <p:sp>
            <p:nvSpPr>
              <p:cNvPr id="59" name="Text Box 56"/>
              <p:cNvSpPr txBox="1">
                <a:spLocks noChangeArrowheads="1"/>
              </p:cNvSpPr>
              <p:nvPr/>
            </p:nvSpPr>
            <p:spPr bwMode="auto">
              <a:xfrm>
                <a:off x="335023" y="5434872"/>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6.2</a:t>
                </a:r>
              </a:p>
            </p:txBody>
          </p:sp>
          <p:sp>
            <p:nvSpPr>
              <p:cNvPr id="60" name="Text Box 56"/>
              <p:cNvSpPr txBox="1">
                <a:spLocks noChangeArrowheads="1"/>
              </p:cNvSpPr>
              <p:nvPr/>
            </p:nvSpPr>
            <p:spPr bwMode="auto">
              <a:xfrm>
                <a:off x="335023" y="1968678"/>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6.4</a:t>
                </a:r>
              </a:p>
            </p:txBody>
          </p:sp>
          <p:sp>
            <p:nvSpPr>
              <p:cNvPr id="61" name="Text Box 56"/>
              <p:cNvSpPr txBox="1">
                <a:spLocks noChangeArrowheads="1"/>
              </p:cNvSpPr>
              <p:nvPr/>
            </p:nvSpPr>
            <p:spPr bwMode="auto">
              <a:xfrm>
                <a:off x="4621433" y="1968678"/>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6.3</a:t>
                </a:r>
              </a:p>
            </p:txBody>
          </p:sp>
          <p:sp>
            <p:nvSpPr>
              <p:cNvPr id="62" name="Text Box 56"/>
              <p:cNvSpPr txBox="1">
                <a:spLocks noChangeArrowheads="1"/>
              </p:cNvSpPr>
              <p:nvPr/>
            </p:nvSpPr>
            <p:spPr bwMode="auto">
              <a:xfrm>
                <a:off x="4621954" y="5434872"/>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6.5</a:t>
                </a:r>
              </a:p>
            </p:txBody>
          </p:sp>
          <p:sp>
            <p:nvSpPr>
              <p:cNvPr id="63" name="Text Box 56"/>
              <p:cNvSpPr txBox="1">
                <a:spLocks noChangeArrowheads="1"/>
              </p:cNvSpPr>
              <p:nvPr/>
            </p:nvSpPr>
            <p:spPr bwMode="auto">
              <a:xfrm>
                <a:off x="2015116" y="3213984"/>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6.1</a:t>
                </a:r>
              </a:p>
            </p:txBody>
          </p:sp>
          <p:sp>
            <p:nvSpPr>
              <p:cNvPr id="64" name="Text Box 56"/>
              <p:cNvSpPr txBox="1">
                <a:spLocks noChangeArrowheads="1"/>
              </p:cNvSpPr>
              <p:nvPr/>
            </p:nvSpPr>
            <p:spPr bwMode="auto">
              <a:xfrm>
                <a:off x="6184048" y="3211408"/>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6.6</a:t>
                </a:r>
              </a:p>
            </p:txBody>
          </p:sp>
        </p:grpSp>
        <p:sp>
          <p:nvSpPr>
            <p:cNvPr id="72" name="Text Box 70"/>
            <p:cNvSpPr txBox="1">
              <a:spLocks noChangeArrowheads="1"/>
            </p:cNvSpPr>
            <p:nvPr>
              <p:custDataLst>
                <p:tags r:id="rId2"/>
              </p:custDataLst>
            </p:nvPr>
          </p:nvSpPr>
          <p:spPr bwMode="auto">
            <a:xfrm>
              <a:off x="1186563" y="4796649"/>
              <a:ext cx="2847975" cy="147733"/>
            </a:xfrm>
            <a:prstGeom prst="rect">
              <a:avLst/>
            </a:prstGeom>
            <a:noFill/>
            <a:ln w="9525">
              <a:noFill/>
              <a:miter lim="800000"/>
              <a:headEnd/>
              <a:tailEnd/>
            </a:ln>
          </p:spPr>
          <p:txBody>
            <a:bodyPr lIns="0" tIns="0" rIns="0" bIns="0">
              <a:spAutoFit/>
            </a:bodyPr>
            <a:lstStyle/>
            <a:p>
              <a:pPr algn="ctr" fontAlgn="base">
                <a:lnSpc>
                  <a:spcPct val="80000"/>
                </a:lnSpc>
                <a:spcBef>
                  <a:spcPct val="20000"/>
                </a:spcBef>
                <a:spcAft>
                  <a:spcPct val="0"/>
                </a:spcAft>
                <a:defRPr/>
              </a:pPr>
              <a:r>
                <a:rPr lang="en-GB" sz="1200" b="1" dirty="0">
                  <a:solidFill>
                    <a:srgbClr val="080808"/>
                  </a:solidFill>
                  <a:cs typeface="Arial" pitchFamily="34" charset="0"/>
                </a:rPr>
                <a:t>What goes into the process</a:t>
              </a:r>
              <a:r>
                <a:rPr lang="de-DE" sz="1200" b="1" dirty="0">
                  <a:solidFill>
                    <a:srgbClr val="080808"/>
                  </a:solidFill>
                  <a:cs typeface="Arial" pitchFamily="34" charset="0"/>
                </a:rPr>
                <a:t>?</a:t>
              </a:r>
            </a:p>
          </p:txBody>
        </p:sp>
      </p:grpSp>
      <p:sp>
        <p:nvSpPr>
          <p:cNvPr id="73" name="Inhaltsplatzhalter 4"/>
          <p:cNvSpPr txBox="1">
            <a:spLocks/>
          </p:cNvSpPr>
          <p:nvPr/>
        </p:nvSpPr>
        <p:spPr>
          <a:xfrm>
            <a:off x="4608000" y="1691861"/>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buFont typeface="Arial" pitchFamily="34" charset="0"/>
              <a:buNone/>
              <a:defRPr/>
            </a:pPr>
            <a:r>
              <a:rPr lang="en-GB" sz="1600" dirty="0">
                <a:solidFill>
                  <a:srgbClr val="080808"/>
                </a:solidFill>
              </a:rPr>
              <a:t>P6.1 – What is ensured?</a:t>
            </a:r>
          </a:p>
          <a:p>
            <a:pPr>
              <a:spcAft>
                <a:spcPts val="0"/>
              </a:spcAft>
              <a:buFont typeface="Arial" pitchFamily="34" charset="0"/>
              <a:buNone/>
              <a:defRPr/>
            </a:pPr>
            <a:endParaRPr lang="en-GB" sz="1600" b="0" dirty="0">
              <a:solidFill>
                <a:srgbClr val="080808"/>
              </a:solidFill>
            </a:endParaRPr>
          </a:p>
          <a:p>
            <a:pPr marL="285750" indent="-285750">
              <a:spcBef>
                <a:spcPct val="20000"/>
              </a:spcBef>
              <a:buFont typeface="Arial" panose="020B0604020202020204" pitchFamily="34" charset="0"/>
              <a:buChar char="•"/>
              <a:defRPr/>
            </a:pPr>
            <a:r>
              <a:rPr lang="en-GB" sz="1600" b="0" dirty="0">
                <a:solidFill>
                  <a:srgbClr val="080808"/>
                </a:solidFill>
              </a:rPr>
              <a:t>A transfer of the project from </a:t>
            </a:r>
            <a:r>
              <a:rPr lang="en-GB" sz="1600" dirty="0">
                <a:solidFill>
                  <a:srgbClr val="080808"/>
                </a:solidFill>
              </a:rPr>
              <a:t>development</a:t>
            </a:r>
            <a:r>
              <a:rPr lang="en-GB" sz="1600" b="0" dirty="0">
                <a:solidFill>
                  <a:srgbClr val="080808"/>
                </a:solidFill>
              </a:rPr>
              <a:t> to </a:t>
            </a:r>
            <a:r>
              <a:rPr lang="en-GB" sz="1600" dirty="0">
                <a:solidFill>
                  <a:srgbClr val="080808"/>
                </a:solidFill>
              </a:rPr>
              <a:t>serial production </a:t>
            </a:r>
            <a:r>
              <a:rPr lang="en-GB" sz="1600" b="0" dirty="0">
                <a:solidFill>
                  <a:srgbClr val="080808"/>
                </a:solidFill>
              </a:rPr>
              <a:t>has been carried out</a:t>
            </a:r>
          </a:p>
          <a:p>
            <a:pPr marL="285750" indent="-285750">
              <a:spcBef>
                <a:spcPct val="20000"/>
              </a:spcBef>
              <a:buFont typeface="Arial" panose="020B0604020202020204" pitchFamily="34" charset="0"/>
              <a:buChar char="•"/>
              <a:defRPr/>
            </a:pPr>
            <a:r>
              <a:rPr lang="en-GB" sz="1600" b="0" dirty="0">
                <a:solidFill>
                  <a:srgbClr val="080808"/>
                </a:solidFill>
              </a:rPr>
              <a:t>The </a:t>
            </a:r>
            <a:r>
              <a:rPr lang="en-GB" sz="1600" dirty="0">
                <a:solidFill>
                  <a:srgbClr val="080808"/>
                </a:solidFill>
              </a:rPr>
              <a:t>correct product</a:t>
            </a:r>
            <a:r>
              <a:rPr lang="en-GB" sz="1600" b="0" dirty="0">
                <a:solidFill>
                  <a:srgbClr val="080808"/>
                </a:solidFill>
              </a:rPr>
              <a:t> (incoming material, part, component etc.) must be provided to the agreed quality, in the correct quantity and the correct packing, with the correct documentation, at the agreed time and at the agreed place</a:t>
            </a:r>
          </a:p>
          <a:p>
            <a:pPr marL="285750" indent="-285750">
              <a:spcBef>
                <a:spcPct val="20000"/>
              </a:spcBef>
              <a:buFont typeface="Arial" panose="020B0604020202020204" pitchFamily="34" charset="0"/>
              <a:buChar char="•"/>
              <a:defRPr/>
            </a:pPr>
            <a:r>
              <a:rPr lang="en-GB" sz="1600" dirty="0">
                <a:solidFill>
                  <a:srgbClr val="080808"/>
                </a:solidFill>
              </a:rPr>
              <a:t>Releases</a:t>
            </a:r>
            <a:r>
              <a:rPr lang="en-GB" sz="1600" b="0" dirty="0">
                <a:solidFill>
                  <a:srgbClr val="080808"/>
                </a:solidFill>
              </a:rPr>
              <a:t> and approvals for incoming goods are available and </a:t>
            </a:r>
            <a:r>
              <a:rPr lang="en-GB" sz="1600" dirty="0">
                <a:solidFill>
                  <a:srgbClr val="080808"/>
                </a:solidFill>
              </a:rPr>
              <a:t>identifiable </a:t>
            </a:r>
          </a:p>
          <a:p>
            <a:pPr marL="285750" indent="-285750">
              <a:spcBef>
                <a:spcPct val="20000"/>
              </a:spcBef>
              <a:buFont typeface="Arial" panose="020B0604020202020204" pitchFamily="34" charset="0"/>
              <a:buChar char="•"/>
              <a:defRPr/>
            </a:pPr>
            <a:r>
              <a:rPr lang="en-GB" sz="1600" dirty="0">
                <a:solidFill>
                  <a:srgbClr val="080808"/>
                </a:solidFill>
              </a:rPr>
              <a:t>Process or product changes</a:t>
            </a:r>
            <a:br>
              <a:rPr lang="en-GB" sz="1600" b="0" dirty="0">
                <a:solidFill>
                  <a:srgbClr val="080808"/>
                </a:solidFill>
              </a:rPr>
            </a:br>
            <a:r>
              <a:rPr lang="en-GB" sz="1600" b="0" dirty="0">
                <a:solidFill>
                  <a:srgbClr val="080808"/>
                </a:solidFill>
              </a:rPr>
              <a:t>are documented and communicated</a:t>
            </a:r>
          </a:p>
          <a:p>
            <a:pPr>
              <a:buFont typeface="Arial" pitchFamily="34" charset="0"/>
              <a:buNone/>
              <a:defRPr/>
            </a:pPr>
            <a:endParaRPr lang="de-DE" sz="1600" dirty="0">
              <a:solidFill>
                <a:srgbClr val="080808"/>
              </a:solidFill>
            </a:endParaRPr>
          </a:p>
          <a:p>
            <a:pPr>
              <a:buFont typeface="Arial" pitchFamily="34" charset="0"/>
              <a:buNone/>
              <a:defRPr/>
            </a:pPr>
            <a:endParaRPr lang="de-DE" sz="1600" dirty="0">
              <a:solidFill>
                <a:srgbClr val="080808"/>
              </a:solidFill>
            </a:endParaRPr>
          </a:p>
        </p:txBody>
      </p:sp>
    </p:spTree>
    <p:extLst>
      <p:ext uri="{BB962C8B-B14F-4D97-AF65-F5344CB8AC3E}">
        <p14:creationId xmlns:p14="http://schemas.microsoft.com/office/powerpoint/2010/main" val="3392280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Inhaltsplatzhalter 4">
            <a:extLst>
              <a:ext uri="{FF2B5EF4-FFF2-40B4-BE49-F238E27FC236}">
                <a16:creationId xmlns:a16="http://schemas.microsoft.com/office/drawing/2014/main" id="{DDFEDDE1-E1D5-F268-6D14-150111A4FF5C}"/>
              </a:ext>
            </a:extLst>
          </p:cNvPr>
          <p:cNvSpPr txBox="1">
            <a:spLocks/>
          </p:cNvSpPr>
          <p:nvPr/>
        </p:nvSpPr>
        <p:spPr>
          <a:xfrm>
            <a:off x="251520" y="1052736"/>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dirty="0"/>
              <a:t>6.1.1* Has the project been handed over from development to series production and is a reliable start guaranteed?</a:t>
            </a:r>
          </a:p>
          <a:p>
            <a:r>
              <a:rPr lang="en-US" sz="1100" u="sng" dirty="0"/>
              <a:t>Minimum requirements relevant for assessment</a:t>
            </a:r>
            <a:endParaRPr lang="en-GB" sz="1000" b="0" dirty="0">
              <a:solidFill>
                <a:srgbClr val="080808"/>
              </a:solidFill>
            </a:endParaRPr>
          </a:p>
          <a:p>
            <a:pPr marL="285750" indent="-285750">
              <a:spcBef>
                <a:spcPct val="20000"/>
              </a:spcBef>
              <a:buFont typeface="Arial" panose="020B0604020202020204" pitchFamily="34" charset="0"/>
              <a:buChar char="•"/>
              <a:defRPr/>
            </a:pPr>
            <a:r>
              <a:rPr lang="en-US" sz="1600" b="0" dirty="0">
                <a:latin typeface="Arial Narrow" panose="020B0606020202030204" pitchFamily="34" charset="0"/>
              </a:rPr>
              <a:t>The project handover to series production has been documented according to the specified criteria.</a:t>
            </a:r>
            <a:br>
              <a:rPr lang="en-US" sz="1200" dirty="0">
                <a:latin typeface="Arial Narrow" panose="020B0606020202030204" pitchFamily="34" charset="0"/>
              </a:rPr>
            </a:br>
            <a:r>
              <a:rPr lang="en-US" sz="1600" b="0" dirty="0">
                <a:latin typeface="Arial Narrow" panose="020B0606020202030204" pitchFamily="34" charset="0"/>
              </a:rPr>
              <a:t>The responsibilities for the entire handover process are specified and acknowledged. Unresolved issues are followed up on, and the necessary measures are implemented on schedule.</a:t>
            </a:r>
            <a:br>
              <a:rPr lang="en-US" sz="1200" dirty="0">
                <a:latin typeface="Arial Narrow" panose="020B0606020202030204" pitchFamily="34" charset="0"/>
              </a:rPr>
            </a:br>
            <a:r>
              <a:rPr lang="en-US" sz="1600" b="0" dirty="0">
                <a:latin typeface="Arial Narrow" panose="020B0606020202030204" pitchFamily="34" charset="0"/>
              </a:rPr>
              <a:t>A complete production process and product release (PPA) including the documentation required is available before the first production shipment.</a:t>
            </a:r>
            <a:br>
              <a:rPr lang="en-US" sz="1200" dirty="0">
                <a:latin typeface="Arial Narrow" panose="020B0606020202030204" pitchFamily="34" charset="0"/>
              </a:rPr>
            </a:br>
            <a:r>
              <a:rPr lang="en-US" sz="1600" b="0" dirty="0">
                <a:latin typeface="Arial Narrow" panose="020B0606020202030204" pitchFamily="34" charset="0"/>
              </a:rPr>
              <a:t>Measures to secure the production start-up have been implemented on the basis of a risk analysis.</a:t>
            </a:r>
            <a:br>
              <a:rPr lang="en-US" sz="1200" dirty="0">
                <a:latin typeface="Arial Narrow" panose="020B0606020202030204" pitchFamily="34" charset="0"/>
              </a:rPr>
            </a:br>
            <a:r>
              <a:rPr lang="en-US" sz="1600" b="0" dirty="0">
                <a:latin typeface="Arial Narrow" panose="020B0606020202030204" pitchFamily="34" charset="0"/>
              </a:rPr>
              <a:t>Tools, transport and series packaging, inspection and measuring equipment are available in the necessary quantities.</a:t>
            </a:r>
            <a:br>
              <a:rPr lang="en-US" sz="1200" dirty="0">
                <a:latin typeface="Arial Narrow" panose="020B0606020202030204" pitchFamily="34" charset="0"/>
              </a:rPr>
            </a:br>
            <a:r>
              <a:rPr lang="en-US" sz="1600" b="0" dirty="0">
                <a:latin typeface="Arial Narrow" panose="020B0606020202030204" pitchFamily="34" charset="0"/>
              </a:rPr>
              <a:t>Analysis options for failure analysis are available.</a:t>
            </a:r>
            <a:br>
              <a:rPr lang="en-US" sz="1200" dirty="0">
                <a:latin typeface="Arial Narrow" panose="020B0606020202030204" pitchFamily="34" charset="0"/>
              </a:rPr>
            </a:br>
            <a:r>
              <a:rPr lang="en-US" sz="1600" b="0" dirty="0">
                <a:latin typeface="Arial Narrow" panose="020B0606020202030204" pitchFamily="34" charset="0"/>
              </a:rPr>
              <a:t>The product software corresponds to the latest release versions.</a:t>
            </a:r>
            <a:endParaRPr lang="de-DE" sz="1200" dirty="0">
              <a:solidFill>
                <a:srgbClr val="080808"/>
              </a:solidFill>
              <a:latin typeface="Arial Narrow" panose="020B0606020202030204" pitchFamily="34" charset="0"/>
            </a:endParaRPr>
          </a:p>
          <a:p>
            <a:pPr>
              <a:buFont typeface="Arial" pitchFamily="34" charset="0"/>
              <a:buNone/>
              <a:defRPr/>
            </a:pPr>
            <a:endParaRPr lang="de-DE" sz="1600" dirty="0">
              <a:solidFill>
                <a:srgbClr val="080808"/>
              </a:solidFill>
            </a:endParaRPr>
          </a:p>
        </p:txBody>
      </p:sp>
      <p:sp>
        <p:nvSpPr>
          <p:cNvPr id="39" name="Inhaltsplatzhalter 4">
            <a:extLst>
              <a:ext uri="{FF2B5EF4-FFF2-40B4-BE49-F238E27FC236}">
                <a16:creationId xmlns:a16="http://schemas.microsoft.com/office/drawing/2014/main" id="{C11EFEAF-DD31-6492-3091-0A2AB0A24D0E}"/>
              </a:ext>
            </a:extLst>
          </p:cNvPr>
          <p:cNvSpPr txBox="1">
            <a:spLocks/>
          </p:cNvSpPr>
          <p:nvPr/>
        </p:nvSpPr>
        <p:spPr>
          <a:xfrm>
            <a:off x="4677142" y="1052736"/>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t>Examples for implementation</a:t>
            </a:r>
          </a:p>
          <a:p>
            <a:pPr>
              <a:spcAft>
                <a:spcPts val="0"/>
              </a:spcAft>
              <a:defRPr/>
            </a:pPr>
            <a:endParaRPr lang="en-GB" sz="1200" b="0" dirty="0">
              <a:solidFill>
                <a:srgbClr val="080808"/>
              </a:solidFill>
            </a:endParaRPr>
          </a:p>
          <a:p>
            <a:pPr marL="285750" indent="-285750">
              <a:buFont typeface="Arial" panose="020B0604020202020204" pitchFamily="34" charset="0"/>
              <a:buChar char="•"/>
            </a:pPr>
            <a:r>
              <a:rPr lang="en-US" sz="1600" b="0" dirty="0">
                <a:latin typeface="Arial Narrow" panose="020B0606020202030204" pitchFamily="34" charset="0"/>
              </a:rPr>
              <a:t>Handover reports</a:t>
            </a:r>
          </a:p>
          <a:p>
            <a:pPr marL="285750" indent="-285750">
              <a:buFont typeface="Arial" panose="020B0604020202020204" pitchFamily="34" charset="0"/>
              <a:buChar char="•"/>
            </a:pPr>
            <a:r>
              <a:rPr lang="en-US" sz="1600" b="0" dirty="0">
                <a:latin typeface="Arial Narrow" panose="020B0606020202030204" pitchFamily="34" charset="0"/>
              </a:rPr>
              <a:t>defined measures and implementation schedule</a:t>
            </a:r>
          </a:p>
          <a:p>
            <a:pPr marL="285750" indent="-285750">
              <a:buFont typeface="Arial" panose="020B0604020202020204" pitchFamily="34" charset="0"/>
              <a:buChar char="•"/>
            </a:pPr>
            <a:r>
              <a:rPr lang="en-US" sz="1600" b="0" dirty="0">
                <a:latin typeface="Arial Narrow" panose="020B0606020202030204" pitchFamily="34" charset="0"/>
              </a:rPr>
              <a:t>Production release report</a:t>
            </a:r>
          </a:p>
          <a:p>
            <a:pPr marL="285750" indent="-285750">
              <a:buFont typeface="Arial" panose="020B0604020202020204" pitchFamily="34" charset="0"/>
              <a:buChar char="•"/>
            </a:pPr>
            <a:r>
              <a:rPr lang="en-US" sz="1600" b="0" dirty="0">
                <a:latin typeface="Arial Narrow" panose="020B0606020202030204" pitchFamily="34" charset="0"/>
              </a:rPr>
              <a:t>Releases for all production line components and tools</a:t>
            </a:r>
          </a:p>
          <a:p>
            <a:pPr marL="285750" indent="-285750">
              <a:buFont typeface="Arial" panose="020B0604020202020204" pitchFamily="34" charset="0"/>
              <a:buChar char="•"/>
            </a:pPr>
            <a:r>
              <a:rPr lang="en-US" sz="1600" b="0" dirty="0">
                <a:latin typeface="Arial Narrow" panose="020B0606020202030204" pitchFamily="34" charset="0"/>
              </a:rPr>
              <a:t>PPA documents, including customer release and reference parts regarding the PPA procedure</a:t>
            </a:r>
          </a:p>
          <a:p>
            <a:pPr marL="285750" indent="-285750">
              <a:buFont typeface="Arial" panose="020B0604020202020204" pitchFamily="34" charset="0"/>
              <a:buChar char="•"/>
            </a:pPr>
            <a:r>
              <a:rPr lang="en-US" sz="1600" b="0" dirty="0">
                <a:latin typeface="Arial Narrow" panose="020B0606020202030204" pitchFamily="34" charset="0"/>
              </a:rPr>
              <a:t>Special releases</a:t>
            </a:r>
          </a:p>
          <a:p>
            <a:pPr marL="285750" indent="-285750">
              <a:buFont typeface="Arial" panose="020B0604020202020204" pitchFamily="34" charset="0"/>
              <a:buChar char="•"/>
            </a:pPr>
            <a:r>
              <a:rPr lang="en-US" sz="1600" b="0" dirty="0">
                <a:latin typeface="Arial Narrow" panose="020B0606020202030204" pitchFamily="34" charset="0"/>
              </a:rPr>
              <a:t>Released software versions</a:t>
            </a:r>
          </a:p>
          <a:p>
            <a:pPr marL="285750" indent="-285750">
              <a:buFont typeface="Arial" panose="020B0604020202020204" pitchFamily="34" charset="0"/>
              <a:buChar char="•"/>
            </a:pPr>
            <a:r>
              <a:rPr lang="en-US" sz="1600" b="0" dirty="0">
                <a:latin typeface="Arial Narrow" panose="020B0606020202030204" pitchFamily="34" charset="0"/>
              </a:rPr>
              <a:t>Examples for securing the production start-up: Higher inspection frequency, additional inspections, Resident Engineer</a:t>
            </a:r>
          </a:p>
          <a:p>
            <a:pPr marL="285750" indent="-285750">
              <a:buFont typeface="Arial" panose="020B0604020202020204" pitchFamily="34" charset="0"/>
              <a:buChar char="•"/>
            </a:pPr>
            <a:r>
              <a:rPr lang="en-US" sz="1600" b="0" dirty="0">
                <a:latin typeface="Arial Narrow" panose="020B0606020202030204" pitchFamily="34" charset="0"/>
              </a:rPr>
              <a:t>Safe-launch concept</a:t>
            </a:r>
            <a:endParaRPr lang="de-DE" sz="1600" b="0" dirty="0">
              <a:latin typeface="Arial Narrow" panose="020B0606020202030204" pitchFamily="34" charset="0"/>
            </a:endParaRPr>
          </a:p>
          <a:p>
            <a:pPr>
              <a:buFont typeface="Arial" pitchFamily="34" charset="0"/>
              <a:buNone/>
              <a:defRPr/>
            </a:pPr>
            <a:endParaRPr lang="de-DE" sz="1600" dirty="0">
              <a:solidFill>
                <a:srgbClr val="080808"/>
              </a:solidFill>
            </a:endParaRPr>
          </a:p>
        </p:txBody>
      </p:sp>
    </p:spTree>
    <p:extLst>
      <p:ext uri="{BB962C8B-B14F-4D97-AF65-F5344CB8AC3E}">
        <p14:creationId xmlns:p14="http://schemas.microsoft.com/office/powerpoint/2010/main" val="668315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3AC4D-FCF4-696A-62E5-317BA293CCD9}"/>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BE0552A6-B337-019B-C894-B30C9370DDA0}"/>
              </a:ext>
            </a:extLst>
          </p:cNvPr>
          <p:cNvSpPr txBox="1">
            <a:spLocks/>
          </p:cNvSpPr>
          <p:nvPr/>
        </p:nvSpPr>
        <p:spPr>
          <a:xfrm>
            <a:off x="244637" y="957262"/>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6.1.2 Are the necessary quantities/production batch sizes of the materials available at the agreed-upon time and at the specified location?</a:t>
            </a:r>
          </a:p>
          <a:p>
            <a:r>
              <a:rPr lang="en-US" sz="1400" u="sng" dirty="0">
                <a:latin typeface="Arial Narrow" panose="020B0606020202030204" pitchFamily="34" charset="0"/>
              </a:rPr>
              <a:t>Minimum requirements relevant for assessment</a:t>
            </a:r>
          </a:p>
          <a:p>
            <a:r>
              <a:rPr lang="en-US" sz="1400" b="0" dirty="0">
                <a:latin typeface="Arial Narrow" panose="020B0606020202030204" pitchFamily="34" charset="0"/>
              </a:rPr>
              <a:t>The material is of the agreed quality and is provided in the correct quantity and the correct packaging, with the correct documentation, at the agreed time and at the agreed place. Parts/components are available at defined storage areas/work-stations.</a:t>
            </a:r>
            <a:br>
              <a:rPr lang="en-US" sz="1400" b="0" dirty="0">
                <a:latin typeface="Arial Narrow" panose="020B0606020202030204" pitchFamily="34" charset="0"/>
              </a:rPr>
            </a:br>
            <a:r>
              <a:rPr lang="en-US" sz="1400" b="0" dirty="0">
                <a:latin typeface="Arial Narrow" panose="020B0606020202030204" pitchFamily="34" charset="0"/>
              </a:rPr>
              <a:t>At the workplace, products and materials are provided as needed, taking into account the order quantity/lot size in accordance with the logistics concept.</a:t>
            </a:r>
            <a:br>
              <a:rPr lang="en-US" sz="1400" b="0" dirty="0">
                <a:latin typeface="Arial Narrow" panose="020B0606020202030204" pitchFamily="34" charset="0"/>
              </a:rPr>
            </a:br>
            <a:r>
              <a:rPr lang="en-US" sz="1400" b="0" dirty="0">
                <a:latin typeface="Arial Narrow" panose="020B0606020202030204" pitchFamily="34" charset="0"/>
              </a:rPr>
              <a:t>The use of residual quantities and their traceability is clearly defined.</a:t>
            </a:r>
            <a:br>
              <a:rPr lang="en-US" sz="1400" b="0" dirty="0">
                <a:latin typeface="Arial Narrow" panose="020B0606020202030204" pitchFamily="34" charset="0"/>
              </a:rPr>
            </a:br>
            <a:r>
              <a:rPr lang="en-US" sz="1400" b="0" dirty="0">
                <a:latin typeface="Arial Narrow" panose="020B0606020202030204" pitchFamily="34" charset="0"/>
              </a:rPr>
              <a:t>Regulations for reintroducing parts from outsourced processes (including sorting service) are available</a:t>
            </a:r>
          </a:p>
        </p:txBody>
      </p:sp>
      <p:sp>
        <p:nvSpPr>
          <p:cNvPr id="4" name="Inhaltsplatzhalter 4">
            <a:extLst>
              <a:ext uri="{FF2B5EF4-FFF2-40B4-BE49-F238E27FC236}">
                <a16:creationId xmlns:a16="http://schemas.microsoft.com/office/drawing/2014/main" id="{37373740-15FD-C450-94F0-0E24919950A4}"/>
              </a:ext>
            </a:extLst>
          </p:cNvPr>
          <p:cNvSpPr txBox="1">
            <a:spLocks/>
          </p:cNvSpPr>
          <p:nvPr/>
        </p:nvSpPr>
        <p:spPr>
          <a:xfrm>
            <a:off x="4696566" y="1052736"/>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Material includes, for example: Software, packaging, load carriers, parts and components, raw material, semi-finished products, series packaging for delivery to the customer, operating, auxiliary and process materials</a:t>
            </a:r>
          </a:p>
          <a:p>
            <a:pPr>
              <a:buFont typeface="Arial" panose="020B0604020202020204" pitchFamily="34" charset="0"/>
              <a:buChar char="•"/>
            </a:pPr>
            <a:r>
              <a:rPr lang="en-US" sz="1400" b="0" dirty="0">
                <a:latin typeface="Arial Narrow" panose="020B0606020202030204" pitchFamily="34" charset="0"/>
              </a:rPr>
              <a:t>Suitable means of transport</a:t>
            </a:r>
          </a:p>
          <a:p>
            <a:pPr>
              <a:buFont typeface="Arial" panose="020B0604020202020204" pitchFamily="34" charset="0"/>
              <a:buChar char="•"/>
            </a:pPr>
            <a:r>
              <a:rPr lang="en-US" sz="1400" b="0" dirty="0">
                <a:latin typeface="Arial Narrow" panose="020B0606020202030204" pitchFamily="34" charset="0"/>
              </a:rPr>
              <a:t>Defined storage locations and stock levels</a:t>
            </a:r>
          </a:p>
          <a:p>
            <a:pPr>
              <a:buFont typeface="Arial" panose="020B0604020202020204" pitchFamily="34" charset="0"/>
              <a:buChar char="•"/>
            </a:pPr>
            <a:r>
              <a:rPr lang="en-US" sz="1400" b="0" dirty="0">
                <a:latin typeface="Arial Narrow" panose="020B0606020202030204" pitchFamily="34" charset="0"/>
              </a:rPr>
              <a:t>KANBAN, Just in time/Just in sequence, FIFO/FEFO</a:t>
            </a:r>
          </a:p>
          <a:p>
            <a:pPr>
              <a:buFont typeface="Arial" panose="020B0604020202020204" pitchFamily="34" charset="0"/>
              <a:buChar char="•"/>
            </a:pPr>
            <a:r>
              <a:rPr lang="en-US" sz="1400" b="0" dirty="0">
                <a:latin typeface="Arial Narrow" panose="020B0606020202030204" pitchFamily="34" charset="0"/>
              </a:rPr>
              <a:t>Revision/change status of materials and software</a:t>
            </a:r>
          </a:p>
          <a:p>
            <a:pPr>
              <a:buFont typeface="Arial" panose="020B0604020202020204" pitchFamily="34" charset="0"/>
              <a:buChar char="•"/>
            </a:pPr>
            <a:r>
              <a:rPr lang="en-US" sz="1400" b="0" dirty="0">
                <a:latin typeface="Arial Narrow" panose="020B0606020202030204" pitchFamily="34" charset="0"/>
              </a:rPr>
              <a:t>Special requirements regarding components and containers (e.g. ESD protection, humidity, temperature, residue)</a:t>
            </a:r>
          </a:p>
        </p:txBody>
      </p:sp>
    </p:spTree>
    <p:extLst>
      <p:ext uri="{BB962C8B-B14F-4D97-AF65-F5344CB8AC3E}">
        <p14:creationId xmlns:p14="http://schemas.microsoft.com/office/powerpoint/2010/main" val="2862727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0446A-3B77-C9F4-95A1-F222238C1989}"/>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373E0B5E-FF2F-8B90-76AB-5A56B62644BD}"/>
              </a:ext>
            </a:extLst>
          </p:cNvPr>
          <p:cNvSpPr txBox="1">
            <a:spLocks/>
          </p:cNvSpPr>
          <p:nvPr/>
        </p:nvSpPr>
        <p:spPr>
          <a:xfrm>
            <a:off x="244637" y="957262"/>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6.1.3 Are materials stored appropriately and are the means of transport/packaging facilities suitable for the specific properties of the materials?</a:t>
            </a:r>
          </a:p>
          <a:p>
            <a:r>
              <a:rPr lang="en-US" sz="1400" u="sng" dirty="0">
                <a:latin typeface="Arial Narrow" panose="020B0606020202030204" pitchFamily="34" charset="0"/>
              </a:rPr>
              <a:t>Minimum requirements relevant for assessment</a:t>
            </a:r>
          </a:p>
          <a:p>
            <a:pPr marL="285750" indent="-285750">
              <a:spcBef>
                <a:spcPct val="20000"/>
              </a:spcBef>
              <a:buFont typeface="Arial" panose="020B0604020202020204" pitchFamily="34" charset="0"/>
              <a:buChar char="•"/>
              <a:defRPr/>
            </a:pPr>
            <a:r>
              <a:rPr lang="en-US" sz="1400" b="0" dirty="0">
                <a:latin typeface="Arial Narrow" panose="020B0606020202030204" pitchFamily="34" charset="0"/>
              </a:rPr>
              <a:t>Packaging requirements are consistently taken into account/fulfilled.</a:t>
            </a:r>
            <a:br>
              <a:rPr lang="en-US" sz="1400" dirty="0">
                <a:latin typeface="Arial Narrow" panose="020B0606020202030204" pitchFamily="34" charset="0"/>
              </a:rPr>
            </a:br>
            <a:r>
              <a:rPr lang="en-US" sz="1400" b="0" dirty="0">
                <a:latin typeface="Arial Narrow" panose="020B0606020202030204" pitchFamily="34" charset="0"/>
              </a:rPr>
              <a:t>During manufacturing and in-house transport and also when being transported to and from service providers, suitable transport units are used to protect the products from damage and contamination.</a:t>
            </a:r>
            <a:br>
              <a:rPr lang="en-US" sz="1400" dirty="0">
                <a:latin typeface="Arial Narrow" panose="020B0606020202030204" pitchFamily="34" charset="0"/>
              </a:rPr>
            </a:br>
            <a:r>
              <a:rPr lang="en-US" sz="1400" b="0" dirty="0">
                <a:latin typeface="Arial Narrow" panose="020B0606020202030204" pitchFamily="34" charset="0"/>
              </a:rPr>
              <a:t>Storage areas/work-stations/containers are appropriate for the tidiness and cleanliness required for the material. Cleaning cycles are defined and monitored.</a:t>
            </a:r>
            <a:br>
              <a:rPr lang="en-US" sz="1400" dirty="0">
                <a:latin typeface="Arial Narrow" panose="020B0606020202030204" pitchFamily="34" charset="0"/>
              </a:rPr>
            </a:br>
            <a:r>
              <a:rPr lang="en-US" sz="1400" b="0" dirty="0">
                <a:latin typeface="Arial Narrow" panose="020B0606020202030204" pitchFamily="34" charset="0"/>
              </a:rPr>
              <a:t>The supply of materials at the work-station/on the assembly line allows for safe handling.</a:t>
            </a:r>
            <a:br>
              <a:rPr lang="en-US" sz="1400" dirty="0">
                <a:latin typeface="Arial Narrow" panose="020B0606020202030204" pitchFamily="34" charset="0"/>
              </a:rPr>
            </a:br>
            <a:r>
              <a:rPr lang="en-US" sz="1400" b="0" dirty="0">
                <a:latin typeface="Arial Narrow" panose="020B0606020202030204" pitchFamily="34" charset="0"/>
              </a:rPr>
              <a:t>Specified storage times and use-by dates for materials are monitored by means of appropriate methods.</a:t>
            </a:r>
            <a:br>
              <a:rPr lang="en-US" sz="1400" dirty="0">
                <a:latin typeface="Arial Narrow" panose="020B0606020202030204" pitchFamily="34" charset="0"/>
              </a:rPr>
            </a:br>
            <a:r>
              <a:rPr lang="en-US" sz="1400" b="0" dirty="0">
                <a:latin typeface="Arial Narrow" panose="020B0606020202030204" pitchFamily="34" charset="0"/>
              </a:rPr>
              <a:t>Operating and auxiliary materials for production lines and machines that have a direct effect on the product/product quality are monitored accordingly.</a:t>
            </a:r>
            <a:br>
              <a:rPr lang="en-US" sz="1400" dirty="0">
                <a:latin typeface="Arial Narrow" panose="020B0606020202030204" pitchFamily="34" charset="0"/>
              </a:rPr>
            </a:br>
            <a:r>
              <a:rPr lang="en-US" sz="1400" b="0" dirty="0">
                <a:latin typeface="Arial Narrow" panose="020B0606020202030204" pitchFamily="34" charset="0"/>
              </a:rPr>
              <a:t>Materials, operating and auxiliary materials are protected against environmental and climatic influences</a:t>
            </a:r>
            <a:endParaRPr lang="de-DE" sz="1400" dirty="0">
              <a:solidFill>
                <a:srgbClr val="080808"/>
              </a:solidFill>
              <a:latin typeface="Arial Narrow" panose="020B0606020202030204" pitchFamily="34" charset="0"/>
            </a:endParaRPr>
          </a:p>
        </p:txBody>
      </p:sp>
      <p:sp>
        <p:nvSpPr>
          <p:cNvPr id="4" name="Inhaltsplatzhalter 4">
            <a:extLst>
              <a:ext uri="{FF2B5EF4-FFF2-40B4-BE49-F238E27FC236}">
                <a16:creationId xmlns:a16="http://schemas.microsoft.com/office/drawing/2014/main" id="{AC4BF60C-D38E-8B8E-52E3-0136270DF0EE}"/>
              </a:ext>
            </a:extLst>
          </p:cNvPr>
          <p:cNvSpPr txBox="1">
            <a:spLocks/>
          </p:cNvSpPr>
          <p:nvPr/>
        </p:nvSpPr>
        <p:spPr>
          <a:xfrm>
            <a:off x="4696566" y="1052736"/>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Stock quantities</a:t>
            </a:r>
          </a:p>
          <a:p>
            <a:pPr>
              <a:buFont typeface="Arial" panose="020B0604020202020204" pitchFamily="34" charset="0"/>
              <a:buChar char="•"/>
            </a:pPr>
            <a:r>
              <a:rPr lang="en-US" sz="1400" b="0" dirty="0">
                <a:latin typeface="Arial Narrow" panose="020B0606020202030204" pitchFamily="34" charset="0"/>
              </a:rPr>
              <a:t>Storage conditions</a:t>
            </a:r>
          </a:p>
          <a:p>
            <a:pPr>
              <a:buFont typeface="Arial" panose="020B0604020202020204" pitchFamily="34" charset="0"/>
              <a:buChar char="•"/>
            </a:pPr>
            <a:r>
              <a:rPr lang="en-US" sz="1400" b="0" dirty="0">
                <a:latin typeface="Arial Narrow" panose="020B0606020202030204" pitchFamily="34" charset="0"/>
              </a:rPr>
              <a:t>Released special and standard transport containers</a:t>
            </a:r>
          </a:p>
          <a:p>
            <a:pPr>
              <a:buFont typeface="Arial" panose="020B0604020202020204" pitchFamily="34" charset="0"/>
              <a:buChar char="•"/>
            </a:pPr>
            <a:r>
              <a:rPr lang="en-US" sz="1400" b="0" dirty="0">
                <a:latin typeface="Arial Narrow" panose="020B0606020202030204" pitchFamily="34" charset="0"/>
              </a:rPr>
              <a:t>Protection against damage to the material</a:t>
            </a:r>
          </a:p>
          <a:p>
            <a:pPr>
              <a:buFont typeface="Arial" panose="020B0604020202020204" pitchFamily="34" charset="0"/>
              <a:buChar char="•"/>
            </a:pPr>
            <a:r>
              <a:rPr lang="en-US" sz="1400" b="0" dirty="0">
                <a:latin typeface="Arial Narrow" panose="020B0606020202030204" pitchFamily="34" charset="0"/>
              </a:rPr>
              <a:t>5S</a:t>
            </a:r>
          </a:p>
          <a:p>
            <a:pPr>
              <a:buFont typeface="Arial" panose="020B0604020202020204" pitchFamily="34" charset="0"/>
              <a:buChar char="•"/>
            </a:pPr>
            <a:r>
              <a:rPr lang="en-US" sz="1400" b="0" dirty="0">
                <a:latin typeface="Arial Narrow" panose="020B0606020202030204" pitchFamily="34" charset="0"/>
              </a:rPr>
              <a:t>No over-filling (storage areas and containers)</a:t>
            </a:r>
          </a:p>
          <a:p>
            <a:pPr>
              <a:buFont typeface="Arial" panose="020B0604020202020204" pitchFamily="34" charset="0"/>
              <a:buChar char="•"/>
            </a:pPr>
            <a:r>
              <a:rPr lang="en-US" sz="1400" b="0" dirty="0">
                <a:latin typeface="Arial Narrow" panose="020B0606020202030204" pitchFamily="34" charset="0"/>
              </a:rPr>
              <a:t>Maximum and minimum storage times, specified interim storage times, FIFO/FEFO)</a:t>
            </a:r>
          </a:p>
        </p:txBody>
      </p:sp>
    </p:spTree>
    <p:extLst>
      <p:ext uri="{BB962C8B-B14F-4D97-AF65-F5344CB8AC3E}">
        <p14:creationId xmlns:p14="http://schemas.microsoft.com/office/powerpoint/2010/main" val="527123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1ADF2-8295-FAD0-BD1A-975F9F304615}"/>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28DF0598-3713-2BD2-5239-FED48D75CAF0}"/>
              </a:ext>
            </a:extLst>
          </p:cNvPr>
          <p:cNvSpPr txBox="1">
            <a:spLocks/>
          </p:cNvSpPr>
          <p:nvPr/>
        </p:nvSpPr>
        <p:spPr>
          <a:xfrm>
            <a:off x="244637" y="957262"/>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6.1.4 Are the necessary identifications/records/releases available and allocated appropriately to the materials?</a:t>
            </a:r>
          </a:p>
          <a:p>
            <a:r>
              <a:rPr lang="en-US" sz="1400" u="sng" dirty="0">
                <a:latin typeface="Arial Narrow" panose="020B0606020202030204" pitchFamily="34" charset="0"/>
              </a:rPr>
              <a:t>Minimum requirements relevant for assessment</a:t>
            </a:r>
          </a:p>
          <a:p>
            <a:endParaRPr lang="en-US" sz="1400" b="0" dirty="0">
              <a:latin typeface="Arial Narrow" panose="020B0606020202030204" pitchFamily="34" charset="0"/>
            </a:endParaRPr>
          </a:p>
          <a:p>
            <a:r>
              <a:rPr lang="en-US" sz="1400" b="0" dirty="0">
                <a:latin typeface="Arial Narrow" panose="020B0606020202030204" pitchFamily="34" charset="0"/>
              </a:rPr>
              <a:t>The release status of materials is clearly identifiable. The release identification on bundles/batches/load carriers/parts is defined.</a:t>
            </a:r>
            <a:br>
              <a:rPr lang="en-US" sz="1400" b="0" dirty="0">
                <a:latin typeface="Arial Narrow" panose="020B0606020202030204" pitchFamily="34" charset="0"/>
              </a:rPr>
            </a:br>
            <a:r>
              <a:rPr lang="en-US" sz="1400" b="0" dirty="0">
                <a:latin typeface="Arial Narrow" panose="020B0606020202030204" pitchFamily="34" charset="0"/>
              </a:rPr>
              <a:t>It is ensured that only released materials/parts are forwarded to production/the next production stage and used.</a:t>
            </a:r>
            <a:br>
              <a:rPr lang="en-US" sz="1400" b="0" dirty="0">
                <a:latin typeface="Arial Narrow" panose="020B0606020202030204" pitchFamily="34" charset="0"/>
              </a:rPr>
            </a:br>
            <a:r>
              <a:rPr lang="en-US" sz="1400" b="0" dirty="0">
                <a:latin typeface="Arial Narrow" panose="020B0606020202030204" pitchFamily="34" charset="0"/>
              </a:rPr>
              <a:t>Traceability from the sub-supplier to the customer is guaranteed according to a defined traceability concept.</a:t>
            </a:r>
            <a:br>
              <a:rPr lang="en-US" sz="1400" b="0" dirty="0">
                <a:latin typeface="Arial Narrow" panose="020B0606020202030204" pitchFamily="34" charset="0"/>
              </a:rPr>
            </a:br>
            <a:r>
              <a:rPr lang="en-US" sz="1400" b="0" dirty="0">
                <a:latin typeface="Arial Narrow" panose="020B0606020202030204" pitchFamily="34" charset="0"/>
              </a:rPr>
              <a:t>Customer specifications as well as statutory and regulatory requirements regarding labeling are taken into account</a:t>
            </a:r>
          </a:p>
        </p:txBody>
      </p:sp>
      <p:sp>
        <p:nvSpPr>
          <p:cNvPr id="4" name="Inhaltsplatzhalter 4">
            <a:extLst>
              <a:ext uri="{FF2B5EF4-FFF2-40B4-BE49-F238E27FC236}">
                <a16:creationId xmlns:a16="http://schemas.microsoft.com/office/drawing/2014/main" id="{982C65F6-95DA-EF0D-2A4B-E96529ED2134}"/>
              </a:ext>
            </a:extLst>
          </p:cNvPr>
          <p:cNvSpPr txBox="1">
            <a:spLocks/>
          </p:cNvSpPr>
          <p:nvPr/>
        </p:nvSpPr>
        <p:spPr>
          <a:xfrm>
            <a:off x="4696566" y="1052736"/>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Customer specifications regarding labeling and traceability</a:t>
            </a:r>
          </a:p>
          <a:p>
            <a:pPr>
              <a:buFont typeface="Arial" panose="020B0604020202020204" pitchFamily="34" charset="0"/>
              <a:buChar char="•"/>
            </a:pPr>
            <a:r>
              <a:rPr lang="en-US" sz="1400" b="0" dirty="0">
                <a:latin typeface="Arial Narrow" panose="020B0606020202030204" pitchFamily="34" charset="0"/>
              </a:rPr>
              <a:t>Labeling of released parts/materials (stickers, labels, issue slips, VDA label, Data Matrix Code (DMC) etc.)</a:t>
            </a:r>
          </a:p>
          <a:p>
            <a:pPr>
              <a:buFont typeface="Arial" panose="020B0604020202020204" pitchFamily="34" charset="0"/>
              <a:buChar char="•"/>
            </a:pPr>
            <a:r>
              <a:rPr lang="en-US" sz="1400" b="0" dirty="0">
                <a:latin typeface="Arial Narrow" panose="020B0606020202030204" pitchFamily="34" charset="0"/>
              </a:rPr>
              <a:t>Records of approvals</a:t>
            </a:r>
          </a:p>
          <a:p>
            <a:pPr>
              <a:buFont typeface="Arial" panose="020B0604020202020204" pitchFamily="34" charset="0"/>
              <a:buChar char="•"/>
            </a:pPr>
            <a:r>
              <a:rPr lang="en-US" sz="1400" b="0" dirty="0">
                <a:latin typeface="Arial Narrow" panose="020B0606020202030204" pitchFamily="34" charset="0"/>
              </a:rPr>
              <a:t>Traceability system</a:t>
            </a:r>
          </a:p>
          <a:p>
            <a:pPr>
              <a:buFont typeface="Arial" panose="020B0604020202020204" pitchFamily="34" charset="0"/>
              <a:buChar char="•"/>
            </a:pPr>
            <a:r>
              <a:rPr lang="en-US" sz="1400" b="0" dirty="0">
                <a:latin typeface="Arial Narrow" panose="020B0606020202030204" pitchFamily="34" charset="0"/>
              </a:rPr>
              <a:t>Documentation of special releases (number, duration, type of identification, etc.)</a:t>
            </a:r>
          </a:p>
          <a:p>
            <a:pPr>
              <a:buFont typeface="Arial" panose="020B0604020202020204" pitchFamily="34" charset="0"/>
              <a:buChar char="•"/>
            </a:pPr>
            <a:r>
              <a:rPr lang="en-US" sz="1400" b="0" dirty="0">
                <a:latin typeface="Arial Narrow" panose="020B0606020202030204" pitchFamily="34" charset="0"/>
              </a:rPr>
              <a:t>Stock management systems</a:t>
            </a:r>
          </a:p>
        </p:txBody>
      </p:sp>
    </p:spTree>
    <p:extLst>
      <p:ext uri="{BB962C8B-B14F-4D97-AF65-F5344CB8AC3E}">
        <p14:creationId xmlns:p14="http://schemas.microsoft.com/office/powerpoint/2010/main" val="1000752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21592-0B34-E097-3348-5FB04F7F3B57}"/>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2A305EB4-9969-B525-1494-53788F98E645}"/>
              </a:ext>
            </a:extLst>
          </p:cNvPr>
          <p:cNvSpPr txBox="1">
            <a:spLocks/>
          </p:cNvSpPr>
          <p:nvPr/>
        </p:nvSpPr>
        <p:spPr>
          <a:xfrm>
            <a:off x="244637" y="957262"/>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6.1.5* Are changes to the product or production process during series production tracked and documented?</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endParaRPr lang="en-US" sz="1400" b="0" dirty="0">
              <a:latin typeface="Arial Narrow" panose="020B0606020202030204" pitchFamily="34" charset="0"/>
            </a:endParaRPr>
          </a:p>
          <a:p>
            <a:r>
              <a:rPr lang="en-US" sz="1400" u="sng" dirty="0">
                <a:latin typeface="Arial Narrow" panose="020B0606020202030204" pitchFamily="34" charset="0"/>
              </a:rPr>
              <a:t>Examples for implementation</a:t>
            </a:r>
          </a:p>
          <a:p>
            <a:r>
              <a:rPr lang="en-US" sz="1400" b="0" dirty="0">
                <a:latin typeface="Arial Narrow" panose="020B0606020202030204" pitchFamily="34" charset="0"/>
              </a:rPr>
              <a:t>Changes to the product and the production process are implemented in accordance with the change management described. Changes to the product and production process are agreed upon with the customer, approved and released (including software changes) in accordance with customer requirements. A PPA is carried out. The history of change statuses is fully traceable.</a:t>
            </a:r>
            <a:br>
              <a:rPr lang="en-US" sz="1400" b="0" dirty="0">
                <a:latin typeface="Arial Narrow" panose="020B0606020202030204" pitchFamily="34" charset="0"/>
              </a:rPr>
            </a:br>
            <a:r>
              <a:rPr lang="en-US" sz="1400" b="0" dirty="0">
                <a:latin typeface="Arial Narrow" panose="020B0606020202030204" pitchFamily="34" charset="0"/>
              </a:rPr>
              <a:t>The correct, released version of the material/software is used.</a:t>
            </a:r>
            <a:br>
              <a:rPr lang="en-US" sz="1400" b="0" dirty="0">
                <a:latin typeface="Arial Narrow" panose="020B0606020202030204" pitchFamily="34" charset="0"/>
              </a:rPr>
            </a:br>
            <a:r>
              <a:rPr lang="en-US" sz="1400" b="0" dirty="0">
                <a:latin typeface="Arial Narrow" panose="020B0606020202030204" pitchFamily="34" charset="0"/>
              </a:rPr>
              <a:t>After changes have been made, it is checked whether the risk analyses need to be updated</a:t>
            </a:r>
          </a:p>
        </p:txBody>
      </p:sp>
      <p:sp>
        <p:nvSpPr>
          <p:cNvPr id="4" name="Inhaltsplatzhalter 4">
            <a:extLst>
              <a:ext uri="{FF2B5EF4-FFF2-40B4-BE49-F238E27FC236}">
                <a16:creationId xmlns:a16="http://schemas.microsoft.com/office/drawing/2014/main" id="{D56F5D81-A69A-8330-4916-BEB1980E47ED}"/>
              </a:ext>
            </a:extLst>
          </p:cNvPr>
          <p:cNvSpPr txBox="1">
            <a:spLocks/>
          </p:cNvSpPr>
          <p:nvPr/>
        </p:nvSpPr>
        <p:spPr>
          <a:xfrm>
            <a:off x="4696566" y="1052736"/>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Trigger matrix in accordance with VDA Volume 2 or customer specifications</a:t>
            </a:r>
          </a:p>
          <a:p>
            <a:pPr>
              <a:buFont typeface="Arial" panose="020B0604020202020204" pitchFamily="34" charset="0"/>
              <a:buChar char="•"/>
            </a:pPr>
            <a:r>
              <a:rPr lang="en-US" sz="1400" b="0" dirty="0">
                <a:latin typeface="Arial Narrow" panose="020B0606020202030204" pitchFamily="34" charset="0"/>
              </a:rPr>
              <a:t>Documented release of a change</a:t>
            </a:r>
          </a:p>
          <a:p>
            <a:pPr>
              <a:buFont typeface="Arial" panose="020B0604020202020204" pitchFamily="34" charset="0"/>
              <a:buChar char="•"/>
            </a:pPr>
            <a:r>
              <a:rPr lang="en-US" sz="1400" b="0" dirty="0">
                <a:latin typeface="Arial Narrow" panose="020B0606020202030204" pitchFamily="34" charset="0"/>
              </a:rPr>
              <a:t>Multi-disciplinary evaluation prior to changes</a:t>
            </a:r>
          </a:p>
          <a:p>
            <a:pPr>
              <a:buFont typeface="Arial" panose="020B0604020202020204" pitchFamily="34" charset="0"/>
              <a:buChar char="•"/>
            </a:pPr>
            <a:r>
              <a:rPr lang="en-US" sz="1400" b="0" dirty="0">
                <a:latin typeface="Arial Narrow" panose="020B0606020202030204" pitchFamily="34" charset="0"/>
              </a:rPr>
              <a:t>Change history/parts history (also for software)</a:t>
            </a:r>
          </a:p>
          <a:p>
            <a:pPr>
              <a:buFont typeface="Arial" panose="020B0604020202020204" pitchFamily="34" charset="0"/>
              <a:buChar char="•"/>
            </a:pPr>
            <a:r>
              <a:rPr lang="en-US" sz="1400" b="0" dirty="0">
                <a:latin typeface="Arial Narrow" panose="020B0606020202030204" pitchFamily="34" charset="0"/>
              </a:rPr>
              <a:t>Design and process FMEA</a:t>
            </a:r>
          </a:p>
          <a:p>
            <a:pPr>
              <a:buFont typeface="Arial" panose="020B0604020202020204" pitchFamily="34" charset="0"/>
              <a:buChar char="•"/>
            </a:pPr>
            <a:r>
              <a:rPr lang="en-US" sz="1400" b="0" dirty="0">
                <a:latin typeface="Arial Narrow" panose="020B0606020202030204" pitchFamily="34" charset="0"/>
              </a:rPr>
              <a:t>Operation management in case of changes</a:t>
            </a:r>
          </a:p>
          <a:p>
            <a:pPr>
              <a:buFont typeface="Arial" panose="020B0604020202020204" pitchFamily="34" charset="0"/>
              <a:buChar char="•"/>
            </a:pPr>
            <a:r>
              <a:rPr lang="en-US" sz="1400" b="0" dirty="0">
                <a:latin typeface="Arial Narrow" panose="020B0606020202030204" pitchFamily="34" charset="0"/>
              </a:rPr>
              <a:t>Pre-production</a:t>
            </a:r>
          </a:p>
          <a:p>
            <a:pPr>
              <a:buFont typeface="Arial" panose="020B0604020202020204" pitchFamily="34" charset="0"/>
              <a:buChar char="•"/>
            </a:pPr>
            <a:r>
              <a:rPr lang="en-US" sz="1400" b="0" dirty="0">
                <a:latin typeface="Arial Narrow" panose="020B0606020202030204" pitchFamily="34" charset="0"/>
              </a:rPr>
              <a:t>Unique software identifier, software integrity (build number, hash key)</a:t>
            </a:r>
          </a:p>
        </p:txBody>
      </p:sp>
    </p:spTree>
    <p:extLst>
      <p:ext uri="{BB962C8B-B14F-4D97-AF65-F5344CB8AC3E}">
        <p14:creationId xmlns:p14="http://schemas.microsoft.com/office/powerpoint/2010/main" val="58291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Inhaltsplatzhalter 3"/>
          <p:cNvSpPr>
            <a:spLocks noGrp="1"/>
          </p:cNvSpPr>
          <p:nvPr>
            <p:ph idx="1"/>
          </p:nvPr>
        </p:nvSpPr>
        <p:spPr bwMode="auto">
          <a:noFill/>
          <a:ln>
            <a:miter lim="800000"/>
            <a:headEnd/>
            <a:tailEnd/>
          </a:ln>
        </p:spPr>
        <p:txBody>
          <a:bodyPr vert="horz" wrap="square" numCol="1" anchor="t" anchorCtr="0" compatLnSpc="1">
            <a:prstTxWarp prst="textNoShape">
              <a:avLst/>
            </a:prstTxWarp>
          </a:bodyPr>
          <a:lstStyle/>
          <a:p>
            <a:pPr>
              <a:spcBef>
                <a:spcPct val="0"/>
              </a:spcBef>
            </a:pPr>
            <a:r>
              <a:rPr lang="de-DE"/>
              <a:t>Sub-element </a:t>
            </a:r>
            <a:r>
              <a:rPr lang="de-DE" dirty="0"/>
              <a:t>P6.2 – Process Management</a:t>
            </a:r>
          </a:p>
          <a:p>
            <a:pPr marL="0" indent="0">
              <a:spcBef>
                <a:spcPct val="0"/>
              </a:spcBef>
            </a:pPr>
            <a:endParaRPr lang="de-DE" dirty="0"/>
          </a:p>
        </p:txBody>
      </p:sp>
      <p:sp>
        <p:nvSpPr>
          <p:cNvPr id="2" name="Titel 1"/>
          <p:cNvSpPr>
            <a:spLocks noGrp="1"/>
          </p:cNvSpPr>
          <p:nvPr>
            <p:ph type="title" idx="4294967295"/>
          </p:nvPr>
        </p:nvSpPr>
        <p:spPr>
          <a:xfrm>
            <a:off x="0" y="274638"/>
            <a:ext cx="8229600" cy="220662"/>
          </a:xfrm>
          <a:prstGeom prst="rect">
            <a:avLst/>
          </a:prstGeom>
        </p:spPr>
        <p:txBody>
          <a:bodyPr/>
          <a:lstStyle/>
          <a:p>
            <a:pPr algn="l"/>
            <a:r>
              <a:rPr lang="de-DE" sz="1000" kern="1200" dirty="0">
                <a:solidFill>
                  <a:schemeClr val="bg1"/>
                </a:solidFill>
                <a:effectLst/>
                <a:latin typeface="Verdana"/>
              </a:rPr>
              <a:t>LE80-035</a:t>
            </a:r>
            <a:endParaRPr lang="de-DE" dirty="0">
              <a:solidFill>
                <a:schemeClr val="bg1"/>
              </a:solidFill>
            </a:endParaRPr>
          </a:p>
        </p:txBody>
      </p:sp>
      <p:sp>
        <p:nvSpPr>
          <p:cNvPr id="51" name="Rectangle 6"/>
          <p:cNvSpPr txBox="1">
            <a:spLocks noChangeArrowheads="1"/>
          </p:cNvSpPr>
          <p:nvPr/>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r>
              <a:rPr lang="de-DE" sz="1000" dirty="0">
                <a:solidFill>
                  <a:srgbClr val="FFFFFF"/>
                </a:solidFill>
              </a:rPr>
              <a:t>VDA 6.3 – </a:t>
            </a:r>
            <a:r>
              <a:rPr lang="de-DE" sz="1000">
                <a:solidFill>
                  <a:srgbClr val="FFFFFF"/>
                </a:solidFill>
              </a:rPr>
              <a:t>Questionnaire</a:t>
            </a:r>
            <a:r>
              <a:rPr lang="de-DE" sz="1000" dirty="0">
                <a:solidFill>
                  <a:srgbClr val="FFFFFF"/>
                </a:solidFill>
              </a:rPr>
              <a:t> P6</a:t>
            </a:r>
          </a:p>
        </p:txBody>
      </p:sp>
      <p:sp>
        <p:nvSpPr>
          <p:cNvPr id="71" name="Inhaltsplatzhalter 4"/>
          <p:cNvSpPr txBox="1">
            <a:spLocks/>
          </p:cNvSpPr>
          <p:nvPr/>
        </p:nvSpPr>
        <p:spPr>
          <a:xfrm>
            <a:off x="4608000" y="1692000"/>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ct val="0"/>
              </a:spcAft>
              <a:defRPr/>
            </a:pPr>
            <a:r>
              <a:rPr lang="en-GB" sz="1600" dirty="0">
                <a:solidFill>
                  <a:srgbClr val="080808"/>
                </a:solidFill>
                <a:latin typeface="Verdana"/>
                <a:cs typeface="Arial" pitchFamily="34" charset="0"/>
              </a:rPr>
              <a:t>P6.2 – what is ensured?</a:t>
            </a:r>
            <a:endParaRPr lang="en-GB" sz="1600" b="0" dirty="0">
              <a:solidFill>
                <a:srgbClr val="080808"/>
              </a:solidFill>
              <a:latin typeface="Verdana"/>
              <a:cs typeface="Arial" pitchFamily="34" charset="0"/>
            </a:endParaRPr>
          </a:p>
          <a:p>
            <a:pPr marL="349250" indent="-349250">
              <a:spcAft>
                <a:spcPct val="0"/>
              </a:spcAft>
              <a:buFontTx/>
              <a:buChar char="•"/>
              <a:defRPr/>
            </a:pPr>
            <a:endParaRPr lang="en-GB" sz="1600" b="0" dirty="0">
              <a:solidFill>
                <a:srgbClr val="080808"/>
              </a:solidFill>
              <a:latin typeface="Verdana"/>
              <a:cs typeface="Arial" pitchFamily="34" charset="0"/>
            </a:endParaRPr>
          </a:p>
          <a:p>
            <a:pPr marL="285750" indent="-285750">
              <a:spcBef>
                <a:spcPct val="20000"/>
              </a:spcBef>
              <a:buFont typeface="Arial" panose="020B0604020202020204" pitchFamily="34" charset="0"/>
              <a:buChar char="•"/>
              <a:defRPr/>
            </a:pPr>
            <a:r>
              <a:rPr lang="en-GB" sz="1600" b="0" dirty="0">
                <a:solidFill>
                  <a:srgbClr val="080808"/>
                </a:solidFill>
              </a:rPr>
              <a:t>Production processed are based on a control plan, </a:t>
            </a:r>
            <a:r>
              <a:rPr lang="en-GB" sz="1600" dirty="0">
                <a:solidFill>
                  <a:srgbClr val="080808"/>
                </a:solidFill>
              </a:rPr>
              <a:t> regulated and released</a:t>
            </a:r>
            <a:endParaRPr lang="en-GB" sz="1600" b="0" dirty="0">
              <a:solidFill>
                <a:srgbClr val="080808"/>
              </a:solidFill>
            </a:endParaRPr>
          </a:p>
          <a:p>
            <a:pPr marL="285750" indent="-285750">
              <a:spcBef>
                <a:spcPct val="20000"/>
              </a:spcBef>
              <a:buFont typeface="Arial" panose="020B0604020202020204" pitchFamily="34" charset="0"/>
              <a:buChar char="•"/>
              <a:defRPr/>
            </a:pPr>
            <a:r>
              <a:rPr lang="en-GB" sz="1600" b="0" dirty="0">
                <a:solidFill>
                  <a:srgbClr val="080808"/>
                </a:solidFill>
              </a:rPr>
              <a:t>The </a:t>
            </a:r>
            <a:r>
              <a:rPr lang="en-GB" sz="1600" dirty="0">
                <a:solidFill>
                  <a:srgbClr val="080808"/>
                </a:solidFill>
              </a:rPr>
              <a:t>repeat release </a:t>
            </a:r>
            <a:r>
              <a:rPr lang="en-GB" sz="1600" b="0" dirty="0">
                <a:solidFill>
                  <a:srgbClr val="080808"/>
                </a:solidFill>
              </a:rPr>
              <a:t>of production processes is regulated</a:t>
            </a:r>
          </a:p>
          <a:p>
            <a:pPr marL="285750" indent="-285750">
              <a:spcBef>
                <a:spcPct val="20000"/>
              </a:spcBef>
              <a:buFont typeface="Arial" panose="020B0604020202020204" pitchFamily="34" charset="0"/>
              <a:buChar char="•"/>
              <a:defRPr/>
            </a:pPr>
            <a:r>
              <a:rPr lang="en-GB" sz="1600" dirty="0">
                <a:solidFill>
                  <a:srgbClr val="080808"/>
                </a:solidFill>
              </a:rPr>
              <a:t>Special characteristics  </a:t>
            </a:r>
            <a:r>
              <a:rPr lang="en-GB" sz="1600" b="0" dirty="0">
                <a:solidFill>
                  <a:srgbClr val="080808"/>
                </a:solidFill>
              </a:rPr>
              <a:t>are managed</a:t>
            </a:r>
          </a:p>
          <a:p>
            <a:pPr marL="285750" indent="-285750">
              <a:spcBef>
                <a:spcPct val="20000"/>
              </a:spcBef>
              <a:buFont typeface="Arial" panose="020B0604020202020204" pitchFamily="34" charset="0"/>
              <a:buChar char="•"/>
              <a:defRPr/>
            </a:pPr>
            <a:r>
              <a:rPr lang="en-GB" sz="1600" dirty="0">
                <a:solidFill>
                  <a:srgbClr val="080808"/>
                </a:solidFill>
              </a:rPr>
              <a:t>Non-approved and/or defective parts </a:t>
            </a:r>
            <a:r>
              <a:rPr lang="en-GB" sz="1600" b="0" dirty="0">
                <a:solidFill>
                  <a:srgbClr val="080808"/>
                </a:solidFill>
              </a:rPr>
              <a:t>are managed</a:t>
            </a:r>
          </a:p>
          <a:p>
            <a:pPr marL="285750" indent="-285750">
              <a:spcBef>
                <a:spcPct val="20000"/>
              </a:spcBef>
              <a:buFont typeface="Arial" panose="020B0604020202020204" pitchFamily="34" charset="0"/>
              <a:buChar char="•"/>
              <a:defRPr/>
            </a:pPr>
            <a:r>
              <a:rPr lang="en-GB" sz="1600" b="0" dirty="0">
                <a:solidFill>
                  <a:srgbClr val="080808"/>
                </a:solidFill>
              </a:rPr>
              <a:t>The flow of materials and parts </a:t>
            </a:r>
            <a:r>
              <a:rPr lang="en-GB" sz="1600" dirty="0">
                <a:solidFill>
                  <a:srgbClr val="080808"/>
                </a:solidFill>
              </a:rPr>
              <a:t>secured</a:t>
            </a:r>
            <a:r>
              <a:rPr lang="en-GB" sz="1600" b="0" dirty="0">
                <a:solidFill>
                  <a:srgbClr val="080808"/>
                </a:solidFill>
              </a:rPr>
              <a:t> against </a:t>
            </a:r>
            <a:r>
              <a:rPr lang="en-GB" sz="1600" dirty="0">
                <a:solidFill>
                  <a:srgbClr val="080808"/>
                </a:solidFill>
              </a:rPr>
              <a:t>mixing/wrong items</a:t>
            </a:r>
          </a:p>
          <a:p>
            <a:pPr>
              <a:buFont typeface="Arial" pitchFamily="34" charset="0"/>
              <a:buNone/>
              <a:defRPr/>
            </a:pPr>
            <a:endParaRPr lang="de-DE" sz="1600" dirty="0">
              <a:solidFill>
                <a:srgbClr val="080808"/>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75" y="1524000"/>
            <a:ext cx="4170045" cy="48996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hteck 3"/>
          <p:cNvSpPr/>
          <p:nvPr/>
        </p:nvSpPr>
        <p:spPr>
          <a:xfrm>
            <a:off x="1534982" y="5500301"/>
            <a:ext cx="1766830" cy="276999"/>
          </a:xfrm>
          <a:prstGeom prst="rect">
            <a:avLst/>
          </a:prstGeom>
          <a:solidFill>
            <a:schemeClr val="bg1">
              <a:lumMod val="75000"/>
            </a:schemeClr>
          </a:solidFill>
        </p:spPr>
        <p:txBody>
          <a:bodyPr wrap="none">
            <a:spAutoFit/>
          </a:bodyPr>
          <a:lstStyle/>
          <a:p>
            <a:pPr lvl="0" algn="ctr" eaLnBrk="0" fontAlgn="base" hangingPunct="0">
              <a:spcAft>
                <a:spcPts val="1200"/>
              </a:spcAft>
              <a:defRPr/>
            </a:pPr>
            <a:r>
              <a:rPr lang="en-GB" sz="1200" b="1" dirty="0">
                <a:solidFill>
                  <a:srgbClr val="080808"/>
                </a:solidFill>
                <a:cs typeface="Arial" pitchFamily="34" charset="0"/>
              </a:rPr>
              <a:t>Process Operation</a:t>
            </a:r>
            <a:endParaRPr lang="en-GB" sz="1200" dirty="0">
              <a:solidFill>
                <a:srgbClr val="080808"/>
              </a:solidFill>
              <a:ea typeface="Verdana" pitchFamily="34" charset="0"/>
              <a:cs typeface="Verdana" pitchFamily="34" charset="0"/>
            </a:endParaRPr>
          </a:p>
        </p:txBody>
      </p:sp>
      <p:sp>
        <p:nvSpPr>
          <p:cNvPr id="8" name="TextBox 7">
            <a:extLst>
              <a:ext uri="{FF2B5EF4-FFF2-40B4-BE49-F238E27FC236}">
                <a16:creationId xmlns:a16="http://schemas.microsoft.com/office/drawing/2014/main" id="{14D46F6C-2C86-4E1A-BA17-38258BCD21CF}"/>
              </a:ext>
            </a:extLst>
          </p:cNvPr>
          <p:cNvSpPr txBox="1"/>
          <p:nvPr/>
        </p:nvSpPr>
        <p:spPr bwMode="auto">
          <a:xfrm rot="19208640">
            <a:off x="844122" y="3589084"/>
            <a:ext cx="6624736" cy="430887"/>
          </a:xfrm>
          <a:prstGeom prst="rect">
            <a:avLst/>
          </a:prstGeom>
          <a:noFill/>
          <a:ln w="9525">
            <a:noFill/>
            <a:miter lim="800000"/>
            <a:headEnd/>
            <a:tailEnd/>
          </a:ln>
          <a:effectLst>
            <a:outerShdw blurRad="50800" dist="38100" dir="2700000" algn="tl" rotWithShape="0">
              <a:prstClr val="black">
                <a:alpha val="40000"/>
              </a:prstClr>
            </a:outerShdw>
          </a:effectLst>
        </p:spPr>
        <p:txBody>
          <a:bodyPr wrap="square" lIns="0" tIns="0" rIns="0" bIns="0" rtlCol="0">
            <a:spAutoFit/>
          </a:bodyPr>
          <a:lstStyle/>
          <a:p>
            <a:pPr marL="269875" indent="-269875" algn="ctr" eaLnBrk="0" hangingPunct="0">
              <a:spcAft>
                <a:spcPts val="600"/>
              </a:spcAft>
            </a:pPr>
            <a:r>
              <a:rPr lang="en-US" sz="2800" b="0">
                <a:solidFill>
                  <a:schemeClr val="bg1">
                    <a:lumMod val="50000"/>
                    <a:alpha val="10000"/>
                  </a:schemeClr>
                </a:solidFill>
                <a:latin typeface="Arial" panose="020B0604020202020204" pitchFamily="34" charset="0"/>
                <a:cs typeface="Arial" panose="020B0604020202020204" pitchFamily="34" charset="0"/>
              </a:rPr>
              <a:t>To participant 18-22 Oct 2021</a:t>
            </a:r>
            <a:endParaRPr lang="en-US" sz="2800" b="0" dirty="0">
              <a:solidFill>
                <a:schemeClr val="bg1">
                  <a:lumMod val="50000"/>
                  <a:alpha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7063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1027D-A370-5B48-32AA-B0186C48432B}"/>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DA1AB393-0A88-6D31-6417-F8724006CAEB}"/>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6.2.1 Are the requirements in the production control plan as well as the production and inspection documents complete and are they effectively implemented?</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The production and inspection documents are complete and are based on the production control plan.</a:t>
            </a:r>
            <a:br>
              <a:rPr lang="en-US" sz="1400" b="0" dirty="0">
                <a:latin typeface="Arial Narrow" panose="020B0606020202030204" pitchFamily="34" charset="0"/>
              </a:rPr>
            </a:br>
            <a:r>
              <a:rPr lang="en-US" sz="1400" b="0" dirty="0">
                <a:latin typeface="Arial Narrow" panose="020B0606020202030204" pitchFamily="34" charset="0"/>
              </a:rPr>
              <a:t>The data relating to released machinery/tools/aids is noted in the production control plan and/or the production and inspection documents.</a:t>
            </a:r>
            <a:br>
              <a:rPr lang="en-US" sz="1400" b="0" dirty="0">
                <a:latin typeface="Arial Narrow" panose="020B0606020202030204" pitchFamily="34" charset="0"/>
              </a:rPr>
            </a:br>
            <a:r>
              <a:rPr lang="en-US" sz="1400" b="0" dirty="0">
                <a:latin typeface="Arial Narrow" panose="020B0606020202030204" pitchFamily="34" charset="0"/>
              </a:rPr>
              <a:t>The documents are accessible close to the work-station.</a:t>
            </a:r>
            <a:br>
              <a:rPr lang="en-US" sz="1400" b="0" dirty="0">
                <a:latin typeface="Arial Narrow" panose="020B0606020202030204" pitchFamily="34" charset="0"/>
              </a:rPr>
            </a:br>
            <a:r>
              <a:rPr lang="en-US" sz="1400" b="0" dirty="0">
                <a:latin typeface="Arial Narrow" panose="020B0606020202030204" pitchFamily="34" charset="0"/>
              </a:rPr>
              <a:t>Required measures for process disturbances are described in the production control plan and are implemented and documented.</a:t>
            </a:r>
            <a:br>
              <a:rPr lang="en-US" sz="1400" b="0" dirty="0">
                <a:latin typeface="Arial Narrow" panose="020B0606020202030204" pitchFamily="34" charset="0"/>
              </a:rPr>
            </a:br>
            <a:r>
              <a:rPr lang="en-US" sz="1400" b="0" dirty="0">
                <a:latin typeface="Arial Narrow" panose="020B0606020202030204" pitchFamily="34" charset="0"/>
              </a:rPr>
              <a:t>Process parameters influencing product properties/quality are fully stated.</a:t>
            </a:r>
            <a:br>
              <a:rPr lang="en-US" sz="1400" b="0" dirty="0">
                <a:latin typeface="Arial Narrow" panose="020B0606020202030204" pitchFamily="34" charset="0"/>
              </a:rPr>
            </a:br>
            <a:r>
              <a:rPr lang="en-US" sz="1400" b="0" dirty="0">
                <a:latin typeface="Arial Narrow" panose="020B0606020202030204" pitchFamily="34" charset="0"/>
              </a:rPr>
              <a:t>Tolerances are stated for process parameters and inspection characteristics.</a:t>
            </a:r>
            <a:br>
              <a:rPr lang="en-US" sz="1400" b="0" dirty="0">
                <a:latin typeface="Arial Narrow" panose="020B0606020202030204" pitchFamily="34" charset="0"/>
              </a:rPr>
            </a:br>
            <a:r>
              <a:rPr lang="en-US" sz="1400" b="0" dirty="0">
                <a:latin typeface="Arial Narrow" panose="020B0606020202030204" pitchFamily="34" charset="0"/>
              </a:rPr>
              <a:t>The control limits in process control charts are defined, identifiable and plausible.</a:t>
            </a:r>
            <a:br>
              <a:rPr lang="en-US" sz="1400" b="0" dirty="0">
                <a:latin typeface="Arial Narrow" panose="020B0606020202030204" pitchFamily="34" charset="0"/>
              </a:rPr>
            </a:br>
            <a:r>
              <a:rPr lang="en-US" sz="1400" b="0" dirty="0">
                <a:latin typeface="Arial Narrow" panose="020B0606020202030204" pitchFamily="34" charset="0"/>
              </a:rPr>
              <a:t>Deviations and initiated measures regarding process requirements and inspection characteristics are documented.</a:t>
            </a:r>
            <a:br>
              <a:rPr lang="en-US" sz="1400" b="0" dirty="0">
                <a:latin typeface="Arial Narrow" panose="020B0606020202030204" pitchFamily="34" charset="0"/>
              </a:rPr>
            </a:br>
            <a:r>
              <a:rPr lang="en-US" sz="1400" b="0" dirty="0">
                <a:latin typeface="Arial Narrow" panose="020B0606020202030204" pitchFamily="34" charset="0"/>
              </a:rPr>
              <a:t>Conditions governing rework are specified, assessed as part of the risk analysis and secured within the process (parts identification; repeat inspection etc.).</a:t>
            </a:r>
          </a:p>
        </p:txBody>
      </p:sp>
      <p:sp>
        <p:nvSpPr>
          <p:cNvPr id="4" name="Inhaltsplatzhalter 4">
            <a:extLst>
              <a:ext uri="{FF2B5EF4-FFF2-40B4-BE49-F238E27FC236}">
                <a16:creationId xmlns:a16="http://schemas.microsoft.com/office/drawing/2014/main" id="{30905B1A-549D-D705-8BAE-2174365EF3DD}"/>
              </a:ext>
            </a:extLst>
          </p:cNvPr>
          <p:cNvSpPr txBox="1">
            <a:spLocks/>
          </p:cNvSpPr>
          <p:nvPr/>
        </p:nvSpPr>
        <p:spPr>
          <a:xfrm>
            <a:off x="4749195"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Inspection characteristics, inspection equipment, inspection methods, inspection frequencies, inspection cycles and requalification</a:t>
            </a:r>
          </a:p>
          <a:p>
            <a:pPr>
              <a:buFont typeface="Arial" panose="020B0604020202020204" pitchFamily="34" charset="0"/>
              <a:buChar char="•"/>
            </a:pPr>
            <a:r>
              <a:rPr lang="en-US" sz="1400" b="0" dirty="0">
                <a:latin typeface="Arial Narrow" panose="020B0606020202030204" pitchFamily="34" charset="0"/>
              </a:rPr>
              <a:t>Data regarding machines/tools/aids (identification numbers), process parameters and tolerances (pressure, temperatures, times, speeds etc.)</a:t>
            </a:r>
          </a:p>
          <a:p>
            <a:pPr>
              <a:buFont typeface="Arial" panose="020B0604020202020204" pitchFamily="34" charset="0"/>
              <a:buChar char="•"/>
            </a:pPr>
            <a:r>
              <a:rPr lang="en-US" sz="1400" b="0" dirty="0">
                <a:latin typeface="Arial Narrow" panose="020B0606020202030204" pitchFamily="34" charset="0"/>
              </a:rPr>
              <a:t>Work instructions (including rework)</a:t>
            </a:r>
          </a:p>
          <a:p>
            <a:pPr>
              <a:buFont typeface="Arial" panose="020B0604020202020204" pitchFamily="34" charset="0"/>
              <a:buChar char="•"/>
            </a:pPr>
            <a:r>
              <a:rPr lang="en-US" sz="1400" b="0" dirty="0">
                <a:latin typeface="Arial Narrow" panose="020B0606020202030204" pitchFamily="34" charset="0"/>
              </a:rPr>
              <a:t>Inspection instruction</a:t>
            </a:r>
          </a:p>
        </p:txBody>
      </p:sp>
    </p:spTree>
    <p:extLst>
      <p:ext uri="{BB962C8B-B14F-4D97-AF65-F5344CB8AC3E}">
        <p14:creationId xmlns:p14="http://schemas.microsoft.com/office/powerpoint/2010/main" val="3235041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0B79F-0C68-27DA-8288-30896C0BB454}"/>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2CCCD20C-7E36-895D-62E3-5BE66EA3CCB6}"/>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6.2.2 Does a release of production processes take place?</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endParaRPr lang="en-US" sz="1400" b="0" dirty="0">
              <a:latin typeface="Arial Narrow" panose="020B0606020202030204" pitchFamily="34" charset="0"/>
            </a:endParaRPr>
          </a:p>
          <a:p>
            <a:r>
              <a:rPr lang="en-US" sz="1400" b="0" dirty="0">
                <a:latin typeface="Arial Narrow" panose="020B0606020202030204" pitchFamily="34" charset="0"/>
              </a:rPr>
              <a:t>        A process-specific release inspection for first piece/last piece and re-release was carried out and documented.</a:t>
            </a:r>
            <a:br>
              <a:rPr lang="en-US" sz="1400" b="0" dirty="0">
                <a:latin typeface="Arial Narrow" panose="020B0606020202030204" pitchFamily="34" charset="0"/>
              </a:rPr>
            </a:br>
            <a:r>
              <a:rPr lang="en-US" sz="1400" b="0" dirty="0">
                <a:latin typeface="Arial Narrow" panose="020B0606020202030204" pitchFamily="34" charset="0"/>
              </a:rPr>
              <a:t>A release is necessary for the product and the production process and is carried out and documented by authorized employees using acceptance criteria. Deviations and initiated measures are documented.</a:t>
            </a:r>
            <a:br>
              <a:rPr lang="en-US" sz="1400" b="0" dirty="0">
                <a:latin typeface="Arial Narrow" panose="020B0606020202030204" pitchFamily="34" charset="0"/>
              </a:rPr>
            </a:br>
            <a:r>
              <a:rPr lang="en-US" sz="1400" b="0" dirty="0">
                <a:latin typeface="Arial Narrow" panose="020B0606020202030204" pitchFamily="34" charset="0"/>
              </a:rPr>
              <a:t>At the time of release, the necessary reference and boundary samples are available.</a:t>
            </a:r>
            <a:br>
              <a:rPr lang="en-US" sz="1400" b="0" dirty="0">
                <a:latin typeface="Arial Narrow" panose="020B0606020202030204" pitchFamily="34" charset="0"/>
              </a:rPr>
            </a:br>
            <a:r>
              <a:rPr lang="en-US" sz="1400" b="0" dirty="0">
                <a:latin typeface="Arial Narrow" panose="020B0606020202030204" pitchFamily="34" charset="0"/>
              </a:rPr>
              <a:t>Criteria for triggering a re-release are defined, e.g. after an interruption of production.</a:t>
            </a:r>
            <a:br>
              <a:rPr lang="en-US" sz="1400" b="0" dirty="0">
                <a:latin typeface="Arial Narrow" panose="020B0606020202030204" pitchFamily="34" charset="0"/>
              </a:rPr>
            </a:br>
            <a:r>
              <a:rPr lang="en-US" sz="1400" b="0" dirty="0">
                <a:latin typeface="Arial Narrow" panose="020B0606020202030204" pitchFamily="34" charset="0"/>
              </a:rPr>
              <a:t>If production is continued after the collection of inspection parts, these products are accessible until the inspection parts are</a:t>
            </a:r>
          </a:p>
        </p:txBody>
      </p:sp>
      <p:sp>
        <p:nvSpPr>
          <p:cNvPr id="4" name="Inhaltsplatzhalter 4">
            <a:extLst>
              <a:ext uri="{FF2B5EF4-FFF2-40B4-BE49-F238E27FC236}">
                <a16:creationId xmlns:a16="http://schemas.microsoft.com/office/drawing/2014/main" id="{0D8B32D1-A396-D722-F8B5-8FBC2EA168D7}"/>
              </a:ext>
            </a:extLst>
          </p:cNvPr>
          <p:cNvSpPr txBox="1">
            <a:spLocks/>
          </p:cNvSpPr>
          <p:nvPr/>
        </p:nvSpPr>
        <p:spPr>
          <a:xfrm>
            <a:off x="4749195"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Release of a batch, including re-release</a:t>
            </a:r>
          </a:p>
          <a:p>
            <a:pPr>
              <a:buFont typeface="Arial" panose="020B0604020202020204" pitchFamily="34" charset="0"/>
              <a:buChar char="•"/>
            </a:pPr>
            <a:r>
              <a:rPr lang="en-US" sz="1400" b="0" dirty="0">
                <a:latin typeface="Arial Narrow" panose="020B0606020202030204" pitchFamily="34" charset="0"/>
              </a:rPr>
              <a:t>First piece/last piece and re-release</a:t>
            </a:r>
          </a:p>
          <a:p>
            <a:pPr>
              <a:buFont typeface="Arial" panose="020B0604020202020204" pitchFamily="34" charset="0"/>
              <a:buChar char="•"/>
            </a:pPr>
            <a:r>
              <a:rPr lang="en-US" sz="1400" b="0" dirty="0">
                <a:latin typeface="Arial Narrow" panose="020B0606020202030204" pitchFamily="34" charset="0"/>
              </a:rPr>
              <a:t>Tooling diagrams/reference parts/setup parts (e.g. failure test pieces, OK/NOK samples)</a:t>
            </a:r>
          </a:p>
          <a:p>
            <a:pPr>
              <a:buFont typeface="Arial" panose="020B0604020202020204" pitchFamily="34" charset="0"/>
              <a:buChar char="•"/>
            </a:pPr>
            <a:r>
              <a:rPr lang="en-US" sz="1400" b="0" dirty="0">
                <a:latin typeface="Arial Narrow" panose="020B0606020202030204" pitchFamily="34" charset="0"/>
              </a:rPr>
              <a:t>Possible triggering criteria for a re-release:</a:t>
            </a:r>
          </a:p>
          <a:p>
            <a:pPr marL="18000" lvl="1" indent="0">
              <a:buNone/>
            </a:pPr>
            <a:r>
              <a:rPr lang="en-US" sz="1400" dirty="0">
                <a:latin typeface="Arial Narrow" panose="020B0606020202030204" pitchFamily="34" charset="0"/>
              </a:rPr>
              <a:t>- Production interruption (e.g. night time in two-shift operations, tool changes, material/ batch/product change)</a:t>
            </a:r>
          </a:p>
          <a:p>
            <a:pPr marL="18000" lvl="1" indent="0">
              <a:buNone/>
            </a:pPr>
            <a:r>
              <a:rPr lang="en-US" sz="1400" dirty="0">
                <a:latin typeface="Arial Narrow" panose="020B0606020202030204" pitchFamily="34" charset="0"/>
              </a:rPr>
              <a:t>- Repair, tool change</a:t>
            </a:r>
          </a:p>
          <a:p>
            <a:pPr marL="18000" lvl="1" indent="0">
              <a:buNone/>
            </a:pPr>
            <a:r>
              <a:rPr lang="en-US" sz="1400" dirty="0">
                <a:latin typeface="Arial Narrow" panose="020B0606020202030204" pitchFamily="34" charset="0"/>
              </a:rPr>
              <a:t>- Changed setting data</a:t>
            </a:r>
          </a:p>
          <a:p>
            <a:pPr lvl="1"/>
            <a:r>
              <a:rPr lang="en-US" sz="1400" b="0" dirty="0">
                <a:latin typeface="Arial Narrow" panose="020B0606020202030204" pitchFamily="34" charset="0"/>
              </a:rPr>
              <a:t>Released rework</a:t>
            </a:r>
          </a:p>
        </p:txBody>
      </p:sp>
    </p:spTree>
    <p:extLst>
      <p:ext uri="{BB962C8B-B14F-4D97-AF65-F5344CB8AC3E}">
        <p14:creationId xmlns:p14="http://schemas.microsoft.com/office/powerpoint/2010/main" val="3282086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5A8F6-53D2-E797-D516-F137B04258B9}"/>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589B0412-704A-C2FA-6AD2-7EAEE2C95C70}"/>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6.2.3* Are special characteristics controlled in production?</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Special characteristics specified by the customer and the organization as well as defined process parameters are marked in the production control plan, are systematically monitored and documented.</a:t>
            </a:r>
            <a:br>
              <a:rPr lang="en-US" sz="1400" b="0" dirty="0">
                <a:latin typeface="Arial Narrow" panose="020B0606020202030204" pitchFamily="34" charset="0"/>
              </a:rPr>
            </a:br>
            <a:r>
              <a:rPr lang="en-US" sz="1400" b="0" dirty="0">
                <a:latin typeface="Arial Narrow" panose="020B0606020202030204" pitchFamily="34" charset="0"/>
              </a:rPr>
              <a:t>Records of deviations and corrective actions are maintained. Deviations affecting the properties of the product are approved by the customer.</a:t>
            </a:r>
            <a:br>
              <a:rPr lang="en-US" sz="1400" b="0" dirty="0">
                <a:latin typeface="Arial Narrow" panose="020B0606020202030204" pitchFamily="34" charset="0"/>
              </a:rPr>
            </a:br>
            <a:r>
              <a:rPr lang="en-US" sz="1400" b="0" dirty="0">
                <a:latin typeface="Arial Narrow" panose="020B0606020202030204" pitchFamily="34" charset="0"/>
              </a:rPr>
              <a:t>Records regarding special characteristics are available. The duration and type of archiving of these records are specified and meet the customer requirements.</a:t>
            </a:r>
          </a:p>
        </p:txBody>
      </p:sp>
      <p:sp>
        <p:nvSpPr>
          <p:cNvPr id="4" name="Inhaltsplatzhalter 4">
            <a:extLst>
              <a:ext uri="{FF2B5EF4-FFF2-40B4-BE49-F238E27FC236}">
                <a16:creationId xmlns:a16="http://schemas.microsoft.com/office/drawing/2014/main" id="{DB98B0DC-8A50-D644-DCF3-917C3D8E6D31}"/>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Drawings</a:t>
            </a:r>
          </a:p>
          <a:p>
            <a:pPr>
              <a:buFont typeface="Arial" panose="020B0604020202020204" pitchFamily="34" charset="0"/>
              <a:buChar char="•"/>
            </a:pPr>
            <a:r>
              <a:rPr lang="en-US" sz="1400" b="0" dirty="0">
                <a:latin typeface="Arial Narrow" panose="020B0606020202030204" pitchFamily="34" charset="0"/>
              </a:rPr>
              <a:t>Labeling indicating the customer-specific special characteristics, e.g.: D/TLD, DS, DZ, R, S, F</a:t>
            </a:r>
          </a:p>
          <a:p>
            <a:pPr>
              <a:buFont typeface="Arial" panose="020B0604020202020204" pitchFamily="34" charset="0"/>
              <a:buChar char="•"/>
            </a:pPr>
            <a:r>
              <a:rPr lang="en-US" sz="1400" b="0" dirty="0">
                <a:latin typeface="Arial Narrow" panose="020B0606020202030204" pitchFamily="34" charset="0"/>
              </a:rPr>
              <a:t>Process FMEA</a:t>
            </a:r>
          </a:p>
          <a:p>
            <a:pPr>
              <a:buFont typeface="Arial" panose="020B0604020202020204" pitchFamily="34" charset="0"/>
              <a:buChar char="•"/>
            </a:pPr>
            <a:r>
              <a:rPr lang="en-US" sz="1400" b="0" dirty="0">
                <a:latin typeface="Arial Narrow" panose="020B0606020202030204" pitchFamily="34" charset="0"/>
              </a:rPr>
              <a:t>Production control plan</a:t>
            </a:r>
          </a:p>
          <a:p>
            <a:pPr>
              <a:buFont typeface="Arial" panose="020B0604020202020204" pitchFamily="34" charset="0"/>
              <a:buChar char="•"/>
            </a:pPr>
            <a:r>
              <a:rPr lang="en-US" sz="1400" b="0" dirty="0">
                <a:latin typeface="Arial Narrow" panose="020B0606020202030204" pitchFamily="34" charset="0"/>
              </a:rPr>
              <a:t>SPC evaluations</a:t>
            </a:r>
          </a:p>
          <a:p>
            <a:pPr>
              <a:buFont typeface="Arial" panose="020B0604020202020204" pitchFamily="34" charset="0"/>
              <a:buChar char="•"/>
            </a:pPr>
            <a:r>
              <a:rPr lang="en-US" sz="1400" b="0" dirty="0">
                <a:latin typeface="Arial Narrow" panose="020B0606020202030204" pitchFamily="34" charset="0"/>
              </a:rPr>
              <a:t>Quality control charts</a:t>
            </a:r>
          </a:p>
          <a:p>
            <a:pPr>
              <a:buFont typeface="Arial" panose="020B0604020202020204" pitchFamily="34" charset="0"/>
              <a:buChar char="•"/>
            </a:pPr>
            <a:r>
              <a:rPr lang="en-US" sz="1400" b="0" dirty="0">
                <a:latin typeface="Arial Narrow" panose="020B0606020202030204" pitchFamily="34" charset="0"/>
              </a:rPr>
              <a:t>Proofs of capability</a:t>
            </a:r>
          </a:p>
          <a:p>
            <a:pPr>
              <a:buFont typeface="Arial" panose="020B0604020202020204" pitchFamily="34" charset="0"/>
              <a:buChar char="•"/>
            </a:pPr>
            <a:r>
              <a:rPr lang="en-US" sz="1400" b="0" dirty="0">
                <a:latin typeface="Arial Narrow" panose="020B0606020202030204" pitchFamily="34" charset="0"/>
              </a:rPr>
              <a:t>Proofs of inspection process capability</a:t>
            </a:r>
          </a:p>
          <a:p>
            <a:pPr>
              <a:buFont typeface="Arial" panose="020B0604020202020204" pitchFamily="34" charset="0"/>
              <a:buChar char="•"/>
            </a:pPr>
            <a:r>
              <a:rPr lang="en-US" sz="1400" b="0" dirty="0">
                <a:latin typeface="Arial Narrow" panose="020B0606020202030204" pitchFamily="34" charset="0"/>
              </a:rPr>
              <a:t>Inspection results</a:t>
            </a:r>
          </a:p>
          <a:p>
            <a:pPr>
              <a:buFont typeface="Arial" panose="020B0604020202020204" pitchFamily="34" charset="0"/>
              <a:buChar char="•"/>
            </a:pPr>
            <a:r>
              <a:rPr lang="en-US" sz="1400" b="0" dirty="0">
                <a:latin typeface="Arial Narrow" panose="020B0606020202030204" pitchFamily="34" charset="0"/>
              </a:rPr>
              <a:t>Process parameter records</a:t>
            </a:r>
          </a:p>
        </p:txBody>
      </p:sp>
    </p:spTree>
    <p:extLst>
      <p:ext uri="{BB962C8B-B14F-4D97-AF65-F5344CB8AC3E}">
        <p14:creationId xmlns:p14="http://schemas.microsoft.com/office/powerpoint/2010/main" val="2147729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12BF-5B2E-0236-E7F6-620856687968}"/>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2671FF52-3D22-BCE7-4FFF-E5AD7BFBBCA8}"/>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6.2.4* Are suspect and nonconforming products controlled?</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Suspect products and nonconforming products are separated, labeled, recorded and safely removed from the production process.</a:t>
            </a:r>
            <a:br>
              <a:rPr lang="en-US" sz="1400" b="0" dirty="0">
                <a:latin typeface="Arial Narrow" panose="020B0606020202030204" pitchFamily="34" charset="0"/>
              </a:rPr>
            </a:br>
            <a:r>
              <a:rPr lang="en-US" sz="1400" b="0" dirty="0">
                <a:latin typeface="Arial Narrow" panose="020B0606020202030204" pitchFamily="34" charset="0"/>
              </a:rPr>
              <a:t>These products are either directly marked or marked on their container.</a:t>
            </a:r>
            <a:br>
              <a:rPr lang="en-US" sz="1400" b="0" dirty="0">
                <a:latin typeface="Arial Narrow" panose="020B0606020202030204" pitchFamily="34" charset="0"/>
              </a:rPr>
            </a:br>
            <a:r>
              <a:rPr lang="en-US" sz="1400" b="0" dirty="0">
                <a:latin typeface="Arial Narrow" panose="020B0606020202030204" pitchFamily="34" charset="0"/>
              </a:rPr>
              <a:t>Authorized personnel decide on the further use of suspect products.</a:t>
            </a:r>
            <a:br>
              <a:rPr lang="en-US" sz="1400" b="0" dirty="0">
                <a:latin typeface="Arial Narrow" panose="020B0606020202030204" pitchFamily="34" charset="0"/>
              </a:rPr>
            </a:br>
            <a:r>
              <a:rPr lang="en-US" sz="1400" b="0" dirty="0">
                <a:latin typeface="Arial Narrow" panose="020B0606020202030204" pitchFamily="34" charset="0"/>
              </a:rPr>
              <a:t>The scope (including inspection and release) of permitted rework is described in work instructions.</a:t>
            </a:r>
            <a:br>
              <a:rPr lang="en-US" sz="1400" b="0" dirty="0">
                <a:latin typeface="Arial Narrow" panose="020B0606020202030204" pitchFamily="34" charset="0"/>
              </a:rPr>
            </a:br>
            <a:r>
              <a:rPr lang="en-US" sz="1400" b="0" dirty="0">
                <a:latin typeface="Arial Narrow" panose="020B0606020202030204" pitchFamily="34" charset="0"/>
              </a:rPr>
              <a:t>Quarantine stores and quarantine areas are clearly labeled. Accidental or unauthorized use of blocked products is excluded</a:t>
            </a:r>
          </a:p>
        </p:txBody>
      </p:sp>
      <p:sp>
        <p:nvSpPr>
          <p:cNvPr id="4" name="Inhaltsplatzhalter 4">
            <a:extLst>
              <a:ext uri="{FF2B5EF4-FFF2-40B4-BE49-F238E27FC236}">
                <a16:creationId xmlns:a16="http://schemas.microsoft.com/office/drawing/2014/main" id="{A13DE63E-FDAB-AC96-7515-79298C285030}"/>
              </a:ext>
            </a:extLst>
          </p:cNvPr>
          <p:cNvSpPr txBox="1">
            <a:spLocks/>
          </p:cNvSpPr>
          <p:nvPr/>
        </p:nvSpPr>
        <p:spPr>
          <a:xfrm>
            <a:off x="4750351"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Labeling indicating the product status</a:t>
            </a:r>
          </a:p>
          <a:p>
            <a:pPr>
              <a:buFont typeface="Arial" panose="020B0604020202020204" pitchFamily="34" charset="0"/>
              <a:buChar char="•"/>
            </a:pPr>
            <a:r>
              <a:rPr lang="en-US" sz="1400" b="0" dirty="0">
                <a:latin typeface="Arial Narrow" panose="020B0606020202030204" pitchFamily="34" charset="0"/>
              </a:rPr>
              <a:t>defined scrap/rework-stations in production</a:t>
            </a:r>
          </a:p>
          <a:p>
            <a:pPr>
              <a:buFont typeface="Arial" panose="020B0604020202020204" pitchFamily="34" charset="0"/>
              <a:buChar char="•"/>
            </a:pPr>
            <a:r>
              <a:rPr lang="en-US" sz="1400" b="0" dirty="0">
                <a:latin typeface="Arial Narrow" panose="020B0606020202030204" pitchFamily="34" charset="0"/>
              </a:rPr>
              <a:t>Quarantine stores and quarantine areas , clearance areas</a:t>
            </a:r>
          </a:p>
          <a:p>
            <a:pPr>
              <a:buFont typeface="Arial" panose="020B0604020202020204" pitchFamily="34" charset="0"/>
              <a:buChar char="•"/>
            </a:pPr>
            <a:r>
              <a:rPr lang="en-US" sz="1400" b="0" dirty="0">
                <a:latin typeface="Arial Narrow" panose="020B0606020202030204" pitchFamily="34" charset="0"/>
              </a:rPr>
              <a:t>Documentation regarding rejects, rework and repair</a:t>
            </a:r>
          </a:p>
          <a:p>
            <a:pPr>
              <a:buFont typeface="Arial" panose="020B0604020202020204" pitchFamily="34" charset="0"/>
              <a:buChar char="•"/>
            </a:pPr>
            <a:r>
              <a:rPr lang="en-US" sz="1400" b="0" dirty="0">
                <a:latin typeface="Arial Narrow" panose="020B0606020202030204" pitchFamily="34" charset="0"/>
              </a:rPr>
              <a:t>Authorizations</a:t>
            </a:r>
          </a:p>
        </p:txBody>
      </p:sp>
    </p:spTree>
    <p:extLst>
      <p:ext uri="{BB962C8B-B14F-4D97-AF65-F5344CB8AC3E}">
        <p14:creationId xmlns:p14="http://schemas.microsoft.com/office/powerpoint/2010/main" val="2481085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A1CC6-0761-ED99-B9C3-FD1D840C72F2}"/>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95A4AC99-59A7-0E54-9C53-9836449A5BAA}"/>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6.2.5 Is the flow of materials secured against mixing/wrong items?</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A mix-up of materials or the use of wrong materials, software or components is ruled out.</a:t>
            </a:r>
            <a:br>
              <a:rPr lang="en-US" sz="1400" b="0" dirty="0">
                <a:latin typeface="Arial Narrow" panose="020B0606020202030204" pitchFamily="34" charset="0"/>
              </a:rPr>
            </a:br>
            <a:r>
              <a:rPr lang="en-US" sz="1400" b="0" dirty="0">
                <a:latin typeface="Arial Narrow" panose="020B0606020202030204" pitchFamily="34" charset="0"/>
              </a:rPr>
              <a:t>Appropriate measures are taken to ensure that any mix-ups of parts or any use of wrong parts/incorrect installation of parts is detected early </a:t>
            </a:r>
            <a:r>
              <a:rPr lang="en-US" sz="1400" b="0" dirty="0" err="1">
                <a:latin typeface="Arial Narrow" panose="020B0606020202030204" pitchFamily="34" charset="0"/>
              </a:rPr>
              <a:t>on.The</a:t>
            </a:r>
            <a:r>
              <a:rPr lang="en-US" sz="1400" b="0" dirty="0">
                <a:latin typeface="Arial Narrow" panose="020B0606020202030204" pitchFamily="34" charset="0"/>
              </a:rPr>
              <a:t> use status of the products is clearly evident from the labeling.</a:t>
            </a:r>
            <a:br>
              <a:rPr lang="en-US" sz="1400" b="0" dirty="0">
                <a:latin typeface="Arial Narrow" panose="020B0606020202030204" pitchFamily="34" charset="0"/>
              </a:rPr>
            </a:br>
            <a:r>
              <a:rPr lang="en-US" sz="1400" b="0" dirty="0">
                <a:latin typeface="Arial Narrow" panose="020B0606020202030204" pitchFamily="34" charset="0"/>
              </a:rPr>
              <a:t>The use of separated parts, reworked parts and reusable products is clearly defined. Traceability is ensured.</a:t>
            </a:r>
            <a:br>
              <a:rPr lang="en-US" sz="1400" b="0" dirty="0">
                <a:latin typeface="Arial Narrow" panose="020B0606020202030204" pitchFamily="34" charset="0"/>
              </a:rPr>
            </a:br>
            <a:r>
              <a:rPr lang="en-US" sz="1400" b="0" dirty="0">
                <a:latin typeface="Arial Narrow" panose="020B0606020202030204" pitchFamily="34" charset="0"/>
              </a:rPr>
              <a:t>Setting masters, setup and reference parts are labeled and protected against accidental use</a:t>
            </a:r>
          </a:p>
        </p:txBody>
      </p:sp>
      <p:sp>
        <p:nvSpPr>
          <p:cNvPr id="4" name="Inhaltsplatzhalter 4">
            <a:extLst>
              <a:ext uri="{FF2B5EF4-FFF2-40B4-BE49-F238E27FC236}">
                <a16:creationId xmlns:a16="http://schemas.microsoft.com/office/drawing/2014/main" id="{9A6DD79D-FE16-29B6-3FB1-84D4FE9CD394}"/>
              </a:ext>
            </a:extLst>
          </p:cNvPr>
          <p:cNvSpPr txBox="1">
            <a:spLocks/>
          </p:cNvSpPr>
          <p:nvPr/>
        </p:nvSpPr>
        <p:spPr>
          <a:xfrm>
            <a:off x="4749195"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Process FMEA</a:t>
            </a:r>
          </a:p>
          <a:p>
            <a:pPr>
              <a:buFont typeface="Arial" panose="020B0604020202020204" pitchFamily="34" charset="0"/>
              <a:buChar char="•"/>
            </a:pPr>
            <a:r>
              <a:rPr lang="en-US" sz="1400" b="0" dirty="0">
                <a:latin typeface="Arial Narrow" panose="020B0606020202030204" pitchFamily="34" charset="0"/>
              </a:rPr>
              <a:t>Poka-Yoke actions</a:t>
            </a:r>
          </a:p>
          <a:p>
            <a:pPr>
              <a:buFont typeface="Arial" panose="020B0604020202020204" pitchFamily="34" charset="0"/>
              <a:buChar char="•"/>
            </a:pPr>
            <a:r>
              <a:rPr lang="en-US" sz="1400" b="0" dirty="0">
                <a:latin typeface="Arial Narrow" panose="020B0606020202030204" pitchFamily="34" charset="0"/>
              </a:rPr>
              <a:t>Checks and inspections in production facilities</a:t>
            </a:r>
          </a:p>
          <a:p>
            <a:pPr>
              <a:buFont typeface="Arial" panose="020B0604020202020204" pitchFamily="34" charset="0"/>
              <a:buChar char="•"/>
            </a:pPr>
            <a:r>
              <a:rPr lang="en-US" sz="1400" b="0" dirty="0">
                <a:latin typeface="Arial Narrow" panose="020B0606020202030204" pitchFamily="34" charset="0"/>
              </a:rPr>
              <a:t>Traceability of batches</a:t>
            </a:r>
          </a:p>
          <a:p>
            <a:pPr>
              <a:buFont typeface="Arial" panose="020B0604020202020204" pitchFamily="34" charset="0"/>
              <a:buChar char="•"/>
            </a:pPr>
            <a:r>
              <a:rPr lang="en-US" sz="1400" b="0" dirty="0">
                <a:latin typeface="Arial Narrow" panose="020B0606020202030204" pitchFamily="34" charset="0"/>
              </a:rPr>
              <a:t>FIFO/FEFO</a:t>
            </a:r>
          </a:p>
          <a:p>
            <a:pPr>
              <a:buFont typeface="Arial" panose="020B0604020202020204" pitchFamily="34" charset="0"/>
              <a:buChar char="•"/>
            </a:pPr>
            <a:r>
              <a:rPr lang="en-US" sz="1400" b="0" dirty="0">
                <a:latin typeface="Arial Narrow" panose="020B0606020202030204" pitchFamily="34" charset="0"/>
              </a:rPr>
              <a:t>KANBAN</a:t>
            </a:r>
          </a:p>
          <a:p>
            <a:pPr>
              <a:buFont typeface="Arial" panose="020B0604020202020204" pitchFamily="34" charset="0"/>
              <a:buChar char="•"/>
            </a:pPr>
            <a:r>
              <a:rPr lang="en-US" sz="1400" b="0" dirty="0">
                <a:latin typeface="Arial Narrow" panose="020B0606020202030204" pitchFamily="34" charset="0"/>
              </a:rPr>
              <a:t>Removal of invalid labeling</a:t>
            </a:r>
          </a:p>
          <a:p>
            <a:pPr>
              <a:buFont typeface="Arial" panose="020B0604020202020204" pitchFamily="34" charset="0"/>
              <a:buChar char="•"/>
            </a:pPr>
            <a:r>
              <a:rPr lang="en-US" sz="1400" b="0" dirty="0">
                <a:latin typeface="Arial Narrow" panose="020B0606020202030204" pitchFamily="34" charset="0"/>
              </a:rPr>
              <a:t>Value stream analysis</a:t>
            </a:r>
          </a:p>
          <a:p>
            <a:pPr>
              <a:buFont typeface="Arial" panose="020B0604020202020204" pitchFamily="34" charset="0"/>
              <a:buChar char="•"/>
            </a:pPr>
            <a:r>
              <a:rPr lang="en-US" sz="1400" b="0" dirty="0">
                <a:latin typeface="Arial Narrow" panose="020B0606020202030204" pitchFamily="34" charset="0"/>
              </a:rPr>
              <a:t>Sorting service</a:t>
            </a:r>
          </a:p>
          <a:p>
            <a:pPr>
              <a:buFont typeface="Arial" panose="020B0604020202020204" pitchFamily="34" charset="0"/>
              <a:buChar char="•"/>
            </a:pPr>
            <a:r>
              <a:rPr lang="en-US" sz="1400" b="0" dirty="0">
                <a:latin typeface="Arial Narrow" panose="020B0606020202030204" pitchFamily="34" charset="0"/>
              </a:rPr>
              <a:t>Unique software identifier, software integrity (build number, hash key)</a:t>
            </a:r>
          </a:p>
        </p:txBody>
      </p:sp>
    </p:spTree>
    <p:extLst>
      <p:ext uri="{BB962C8B-B14F-4D97-AF65-F5344CB8AC3E}">
        <p14:creationId xmlns:p14="http://schemas.microsoft.com/office/powerpoint/2010/main" val="3926781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Inhaltsplatzhalter 3"/>
          <p:cNvSpPr>
            <a:spLocks noGrp="1"/>
          </p:cNvSpPr>
          <p:nvPr>
            <p:ph idx="1"/>
          </p:nvPr>
        </p:nvSpPr>
        <p:spPr bwMode="auto">
          <a:noFill/>
          <a:ln>
            <a:miter lim="800000"/>
            <a:headEnd/>
            <a:tailEnd/>
          </a:ln>
        </p:spPr>
        <p:txBody>
          <a:bodyPr vert="horz" wrap="square" numCol="1" anchor="t" anchorCtr="0" compatLnSpc="1">
            <a:prstTxWarp prst="textNoShape">
              <a:avLst/>
            </a:prstTxWarp>
          </a:bodyPr>
          <a:lstStyle/>
          <a:p>
            <a:pPr>
              <a:spcBef>
                <a:spcPct val="0"/>
              </a:spcBef>
            </a:pPr>
            <a:r>
              <a:rPr lang="de-DE" dirty="0"/>
              <a:t>Sub-element P6.3 - </a:t>
            </a:r>
            <a:r>
              <a:rPr lang="en-GB" dirty="0"/>
              <a:t>Personnel resources</a:t>
            </a:r>
            <a:endParaRPr lang="de-DE" dirty="0"/>
          </a:p>
          <a:p>
            <a:pPr>
              <a:spcBef>
                <a:spcPct val="0"/>
              </a:spcBef>
            </a:pPr>
            <a:endParaRPr lang="de-DE" dirty="0"/>
          </a:p>
        </p:txBody>
      </p:sp>
      <p:sp>
        <p:nvSpPr>
          <p:cNvPr id="2" name="Titel 1"/>
          <p:cNvSpPr>
            <a:spLocks noGrp="1"/>
          </p:cNvSpPr>
          <p:nvPr>
            <p:ph type="title" idx="4294967295"/>
          </p:nvPr>
        </p:nvSpPr>
        <p:spPr>
          <a:xfrm>
            <a:off x="0" y="274638"/>
            <a:ext cx="8229600" cy="220662"/>
          </a:xfrm>
          <a:prstGeom prst="rect">
            <a:avLst/>
          </a:prstGeom>
        </p:spPr>
        <p:txBody>
          <a:bodyPr/>
          <a:lstStyle/>
          <a:p>
            <a:pPr algn="l"/>
            <a:r>
              <a:rPr lang="de-DE" sz="1000" dirty="0">
                <a:solidFill>
                  <a:schemeClr val="bg1"/>
                </a:solidFill>
                <a:latin typeface="Verdana"/>
              </a:rPr>
              <a:t>L</a:t>
            </a:r>
            <a:r>
              <a:rPr lang="de-DE" sz="1000" kern="1200" dirty="0">
                <a:solidFill>
                  <a:schemeClr val="bg1"/>
                </a:solidFill>
                <a:effectLst/>
                <a:latin typeface="Verdana"/>
              </a:rPr>
              <a:t>E80-047</a:t>
            </a:r>
            <a:endParaRPr lang="de-DE" dirty="0">
              <a:solidFill>
                <a:schemeClr val="bg1"/>
              </a:solidFill>
            </a:endParaRPr>
          </a:p>
        </p:txBody>
      </p:sp>
      <p:sp>
        <p:nvSpPr>
          <p:cNvPr id="40" name="Rectangle 6"/>
          <p:cNvSpPr txBox="1">
            <a:spLocks noChangeArrowheads="1"/>
          </p:cNvSpPr>
          <p:nvPr/>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r>
              <a:rPr lang="de-DE" sz="1000" dirty="0">
                <a:solidFill>
                  <a:srgbClr val="FFFFFF"/>
                </a:solidFill>
              </a:rPr>
              <a:t>VDA 6.3 – </a:t>
            </a:r>
            <a:r>
              <a:rPr lang="de-DE" sz="1000">
                <a:solidFill>
                  <a:srgbClr val="FFFFFF"/>
                </a:solidFill>
              </a:rPr>
              <a:t>Questionnaire</a:t>
            </a:r>
            <a:r>
              <a:rPr lang="de-DE" sz="1000" dirty="0">
                <a:solidFill>
                  <a:srgbClr val="FFFFFF"/>
                </a:solidFill>
              </a:rPr>
              <a:t> P6</a:t>
            </a:r>
          </a:p>
        </p:txBody>
      </p:sp>
      <p:sp>
        <p:nvSpPr>
          <p:cNvPr id="70" name="Inhaltsplatzhalter 7"/>
          <p:cNvSpPr txBox="1">
            <a:spLocks/>
          </p:cNvSpPr>
          <p:nvPr/>
        </p:nvSpPr>
        <p:spPr>
          <a:xfrm>
            <a:off x="177336" y="1692000"/>
            <a:ext cx="4392000" cy="4870450"/>
          </a:xfrm>
          <a:prstGeom prst="rect">
            <a:avLst/>
          </a:prstGeom>
          <a:solidFill>
            <a:schemeClr val="bg1"/>
          </a:solidFill>
        </p:spPr>
        <p:txBody>
          <a:bodyPr lIns="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buFont typeface="Arial" pitchFamily="34" charset="0"/>
              <a:buNone/>
              <a:defRPr/>
            </a:pPr>
            <a:r>
              <a:rPr lang="en-GB" sz="1600" dirty="0">
                <a:solidFill>
                  <a:srgbClr val="080808"/>
                </a:solidFill>
                <a:latin typeface="Verdana"/>
              </a:rPr>
              <a:t>P6.3 – what is ensured?</a:t>
            </a:r>
          </a:p>
          <a:p>
            <a:pPr>
              <a:spcAft>
                <a:spcPts val="0"/>
              </a:spcAft>
              <a:buFont typeface="Arial" pitchFamily="34" charset="0"/>
              <a:buNone/>
              <a:defRPr/>
            </a:pPr>
            <a:endParaRPr lang="en-GB" sz="1600" dirty="0">
              <a:solidFill>
                <a:srgbClr val="080808"/>
              </a:solidFill>
              <a:latin typeface="Verdana"/>
            </a:endParaRPr>
          </a:p>
          <a:p>
            <a:pPr marL="285750" indent="-285750">
              <a:spcBef>
                <a:spcPct val="20000"/>
              </a:spcBef>
              <a:buFont typeface="Arial" panose="020B0604020202020204" pitchFamily="34" charset="0"/>
              <a:buChar char="•"/>
              <a:defRPr/>
            </a:pPr>
            <a:r>
              <a:rPr lang="en-GB" sz="1600" b="0" dirty="0">
                <a:solidFill>
                  <a:srgbClr val="080808"/>
                </a:solidFill>
              </a:rPr>
              <a:t>The </a:t>
            </a:r>
            <a:r>
              <a:rPr lang="en-GB" sz="1600" dirty="0">
                <a:solidFill>
                  <a:srgbClr val="080808"/>
                </a:solidFill>
              </a:rPr>
              <a:t>employees</a:t>
            </a:r>
            <a:r>
              <a:rPr lang="en-GB" sz="1600" b="0" dirty="0">
                <a:solidFill>
                  <a:srgbClr val="080808"/>
                </a:solidFill>
              </a:rPr>
              <a:t> able to </a:t>
            </a:r>
            <a:r>
              <a:rPr lang="en-GB" sz="1600" dirty="0">
                <a:solidFill>
                  <a:srgbClr val="080808"/>
                </a:solidFill>
              </a:rPr>
              <a:t>fulfil</a:t>
            </a:r>
            <a:r>
              <a:rPr lang="en-GB" sz="1600" b="0" dirty="0">
                <a:solidFill>
                  <a:srgbClr val="080808"/>
                </a:solidFill>
              </a:rPr>
              <a:t> their given tasks </a:t>
            </a:r>
          </a:p>
          <a:p>
            <a:pPr marL="285750" indent="-285750">
              <a:spcBef>
                <a:spcPct val="20000"/>
              </a:spcBef>
              <a:buFont typeface="Arial" panose="020B0604020202020204" pitchFamily="34" charset="0"/>
              <a:buChar char="•"/>
              <a:defRPr/>
            </a:pPr>
            <a:r>
              <a:rPr lang="en-GB" sz="1600" dirty="0">
                <a:solidFill>
                  <a:srgbClr val="080808"/>
                </a:solidFill>
                <a:latin typeface="Verdana"/>
              </a:rPr>
              <a:t>Employees </a:t>
            </a:r>
            <a:r>
              <a:rPr lang="en-GB" sz="1600" b="0" dirty="0">
                <a:solidFill>
                  <a:srgbClr val="080808"/>
                </a:solidFill>
                <a:latin typeface="Verdana"/>
              </a:rPr>
              <a:t>know the </a:t>
            </a:r>
            <a:r>
              <a:rPr lang="en-GB" sz="1600" dirty="0">
                <a:solidFill>
                  <a:srgbClr val="080808"/>
                </a:solidFill>
                <a:latin typeface="Verdana"/>
              </a:rPr>
              <a:t>responsibilities</a:t>
            </a:r>
            <a:r>
              <a:rPr lang="en-GB" sz="1600" b="0" dirty="0">
                <a:solidFill>
                  <a:srgbClr val="080808"/>
                </a:solidFill>
                <a:latin typeface="Verdana"/>
              </a:rPr>
              <a:t>  </a:t>
            </a:r>
            <a:br>
              <a:rPr lang="en-GB" sz="1600" b="0" dirty="0">
                <a:solidFill>
                  <a:srgbClr val="080808"/>
                </a:solidFill>
                <a:latin typeface="Verdana"/>
              </a:rPr>
            </a:br>
            <a:r>
              <a:rPr lang="en-GB" sz="1600" b="0" dirty="0">
                <a:solidFill>
                  <a:srgbClr val="080808"/>
                </a:solidFill>
                <a:latin typeface="Verdana"/>
              </a:rPr>
              <a:t>and </a:t>
            </a:r>
            <a:r>
              <a:rPr lang="en-GB" sz="1600" dirty="0">
                <a:solidFill>
                  <a:srgbClr val="080808"/>
                </a:solidFill>
                <a:latin typeface="Verdana"/>
              </a:rPr>
              <a:t>authorities </a:t>
            </a:r>
            <a:r>
              <a:rPr lang="en-GB" sz="1600" b="0" dirty="0">
                <a:solidFill>
                  <a:srgbClr val="080808"/>
                </a:solidFill>
              </a:rPr>
              <a:t>in the monitoring of the product and process quality</a:t>
            </a:r>
            <a:endParaRPr lang="en-GB" sz="1600" b="0" dirty="0">
              <a:solidFill>
                <a:srgbClr val="080808"/>
              </a:solidFill>
              <a:latin typeface="Verdana"/>
            </a:endParaRPr>
          </a:p>
          <a:p>
            <a:pPr marL="285750" indent="-285750">
              <a:spcBef>
                <a:spcPct val="20000"/>
              </a:spcBef>
              <a:buFont typeface="Arial" panose="020B0604020202020204" pitchFamily="34" charset="0"/>
              <a:buChar char="•"/>
              <a:defRPr/>
            </a:pPr>
            <a:r>
              <a:rPr lang="en-GB" sz="1600" b="0" dirty="0">
                <a:solidFill>
                  <a:srgbClr val="080808"/>
                </a:solidFill>
              </a:rPr>
              <a:t>The necessary </a:t>
            </a:r>
            <a:r>
              <a:rPr lang="en-GB" sz="1600" dirty="0">
                <a:solidFill>
                  <a:srgbClr val="080808"/>
                </a:solidFill>
              </a:rPr>
              <a:t>personnel resources are </a:t>
            </a:r>
            <a:r>
              <a:rPr lang="en-GB" sz="1600" b="0" dirty="0">
                <a:solidFill>
                  <a:srgbClr val="080808"/>
                </a:solidFill>
              </a:rPr>
              <a:t>available</a:t>
            </a:r>
            <a:endParaRPr lang="en-GB" b="0" dirty="0">
              <a:solidFill>
                <a:srgbClr val="080808"/>
              </a:solidFill>
              <a:latin typeface="Verdana"/>
            </a:endParaRPr>
          </a:p>
          <a:p>
            <a:pPr>
              <a:buFont typeface="Arial" pitchFamily="34" charset="0"/>
              <a:buNone/>
              <a:defRPr/>
            </a:pPr>
            <a:endParaRPr lang="en-GB" dirty="0">
              <a:solidFill>
                <a:srgbClr val="080808"/>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8225" y="1455780"/>
            <a:ext cx="4208101" cy="4832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hteck 3"/>
          <p:cNvSpPr/>
          <p:nvPr/>
        </p:nvSpPr>
        <p:spPr>
          <a:xfrm>
            <a:off x="5957451" y="2261801"/>
            <a:ext cx="1989647" cy="276999"/>
          </a:xfrm>
          <a:prstGeom prst="rect">
            <a:avLst/>
          </a:prstGeom>
          <a:solidFill>
            <a:schemeClr val="tx1">
              <a:lumMod val="25000"/>
              <a:lumOff val="75000"/>
            </a:schemeClr>
          </a:solidFill>
        </p:spPr>
        <p:txBody>
          <a:bodyPr wrap="none">
            <a:spAutoFit/>
          </a:bodyPr>
          <a:lstStyle/>
          <a:p>
            <a:pPr lvl="0" algn="ctr" eaLnBrk="0" fontAlgn="base" hangingPunct="0">
              <a:spcAft>
                <a:spcPts val="600"/>
              </a:spcAft>
              <a:defRPr/>
            </a:pPr>
            <a:r>
              <a:rPr lang="en-GB" sz="1200" b="1" dirty="0">
                <a:solidFill>
                  <a:srgbClr val="080808"/>
                </a:solidFill>
                <a:cs typeface="Arial" pitchFamily="34" charset="0"/>
              </a:rPr>
              <a:t>Personnel Resources</a:t>
            </a:r>
            <a:endParaRPr lang="en-GB" sz="1200" dirty="0">
              <a:solidFill>
                <a:srgbClr val="080808"/>
              </a:solidFill>
              <a:ea typeface="Verdana" pitchFamily="34" charset="0"/>
              <a:cs typeface="Verdana" pitchFamily="34" charset="0"/>
            </a:endParaRPr>
          </a:p>
        </p:txBody>
      </p:sp>
    </p:spTree>
    <p:extLst>
      <p:ext uri="{BB962C8B-B14F-4D97-AF65-F5344CB8AC3E}">
        <p14:creationId xmlns:p14="http://schemas.microsoft.com/office/powerpoint/2010/main" val="2366938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BC7FB-D2AA-EC5B-F5B5-1B71D95D3919}"/>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422EAFF1-1B94-260C-A5B0-186715DAF1A3}"/>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6.3.1 Are the employees able to fulfill their given tasks?</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endParaRPr lang="en-US" sz="1400" b="0" dirty="0">
              <a:latin typeface="Arial Narrow" panose="020B0606020202030204" pitchFamily="34" charset="0"/>
            </a:endParaRPr>
          </a:p>
          <a:p>
            <a:r>
              <a:rPr lang="en-US" sz="1400" b="0" dirty="0">
                <a:latin typeface="Arial Narrow" panose="020B0606020202030204" pitchFamily="34" charset="0"/>
              </a:rPr>
              <a:t>        For each task/job, the corresponding requirements profile has been specified. The employees’ qualification is in line with the requirements profile. If this is not the case, a qualification scheme are put in place.</a:t>
            </a:r>
            <a:br>
              <a:rPr lang="en-US" sz="1400" b="0" dirty="0">
                <a:latin typeface="Arial Narrow" panose="020B0606020202030204" pitchFamily="34" charset="0"/>
              </a:rPr>
            </a:br>
            <a:r>
              <a:rPr lang="en-US" sz="1400" b="0" dirty="0">
                <a:latin typeface="Arial Narrow" panose="020B0606020202030204" pitchFamily="34" charset="0"/>
              </a:rPr>
              <a:t>Instructions, trainings and inductions provided to the employees as well as proofs of qualification are documented.</a:t>
            </a:r>
            <a:br>
              <a:rPr lang="en-US" sz="1400" b="0" dirty="0">
                <a:latin typeface="Arial Narrow" panose="020B0606020202030204" pitchFamily="34" charset="0"/>
              </a:rPr>
            </a:br>
            <a:r>
              <a:rPr lang="en-US" sz="1400" b="0" dirty="0">
                <a:latin typeface="Arial Narrow" panose="020B0606020202030204" pitchFamily="34" charset="0"/>
              </a:rPr>
              <a:t>Proof of special qualifications required for the relevant job is available.</a:t>
            </a:r>
            <a:br>
              <a:rPr lang="en-US" sz="1400" b="0" dirty="0">
                <a:latin typeface="Arial Narrow" panose="020B0606020202030204" pitchFamily="34" charset="0"/>
              </a:rPr>
            </a:br>
            <a:r>
              <a:rPr lang="en-US" sz="1400" b="0" dirty="0">
                <a:latin typeface="Arial Narrow" panose="020B0606020202030204" pitchFamily="34" charset="0"/>
              </a:rPr>
              <a:t>In case of changes to processes, trainings/instructions are provided and </a:t>
            </a:r>
            <a:r>
              <a:rPr lang="en-US" sz="1400" b="0" dirty="0" err="1">
                <a:latin typeface="Arial Narrow" panose="020B0606020202030204" pitchFamily="34" charset="0"/>
              </a:rPr>
              <a:t>documented.The</a:t>
            </a:r>
            <a:r>
              <a:rPr lang="en-US" sz="1400" b="0" dirty="0">
                <a:latin typeface="Arial Narrow" panose="020B0606020202030204" pitchFamily="34" charset="0"/>
              </a:rPr>
              <a:t> requirements also apply to temporary employees.</a:t>
            </a:r>
          </a:p>
        </p:txBody>
      </p:sp>
      <p:sp>
        <p:nvSpPr>
          <p:cNvPr id="4" name="Inhaltsplatzhalter 4">
            <a:extLst>
              <a:ext uri="{FF2B5EF4-FFF2-40B4-BE49-F238E27FC236}">
                <a16:creationId xmlns:a16="http://schemas.microsoft.com/office/drawing/2014/main" id="{61A48412-AA4C-934E-0D72-135F735DBF24}"/>
              </a:ext>
            </a:extLst>
          </p:cNvPr>
          <p:cNvSpPr txBox="1">
            <a:spLocks/>
          </p:cNvSpPr>
          <p:nvPr/>
        </p:nvSpPr>
        <p:spPr>
          <a:xfrm>
            <a:off x="4749195"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Evidence of qualifications</a:t>
            </a:r>
          </a:p>
          <a:p>
            <a:pPr>
              <a:buFont typeface="Arial" panose="020B0604020202020204" pitchFamily="34" charset="0"/>
              <a:buChar char="•"/>
            </a:pPr>
            <a:r>
              <a:rPr lang="en-US" sz="1400" b="0" dirty="0">
                <a:latin typeface="Arial Narrow" panose="020B0606020202030204" pitchFamily="34" charset="0"/>
              </a:rPr>
              <a:t>Training plan</a:t>
            </a:r>
          </a:p>
          <a:p>
            <a:pPr>
              <a:buFont typeface="Arial" panose="020B0604020202020204" pitchFamily="34" charset="0"/>
              <a:buChar char="•"/>
            </a:pPr>
            <a:r>
              <a:rPr lang="en-US" sz="1400" b="0" dirty="0">
                <a:latin typeface="Arial Narrow" panose="020B0606020202030204" pitchFamily="34" charset="0"/>
              </a:rPr>
              <a:t>Initial training plan, including evidence</a:t>
            </a:r>
          </a:p>
          <a:p>
            <a:pPr>
              <a:buFont typeface="Arial" panose="020B0604020202020204" pitchFamily="34" charset="0"/>
              <a:buChar char="•"/>
            </a:pPr>
            <a:r>
              <a:rPr lang="en-US" sz="1400" b="0" dirty="0">
                <a:latin typeface="Arial Narrow" panose="020B0606020202030204" pitchFamily="34" charset="0"/>
              </a:rPr>
              <a:t>On-the-job training</a:t>
            </a:r>
          </a:p>
          <a:p>
            <a:pPr>
              <a:buFont typeface="Arial" panose="020B0604020202020204" pitchFamily="34" charset="0"/>
              <a:buChar char="•"/>
            </a:pPr>
            <a:r>
              <a:rPr lang="en-US" sz="1400" b="0" dirty="0">
                <a:latin typeface="Arial Narrow" panose="020B0606020202030204" pitchFamily="34" charset="0"/>
              </a:rPr>
              <a:t>Qualification matrix</a:t>
            </a:r>
          </a:p>
          <a:p>
            <a:pPr>
              <a:buFont typeface="Arial" panose="020B0604020202020204" pitchFamily="34" charset="0"/>
              <a:buChar char="•"/>
            </a:pPr>
            <a:r>
              <a:rPr lang="en-US" sz="1400" b="0" dirty="0">
                <a:latin typeface="Arial Narrow" panose="020B0606020202030204" pitchFamily="34" charset="0"/>
              </a:rPr>
              <a:t>Knowledge about the product and failures that have occurred</a:t>
            </a:r>
          </a:p>
          <a:p>
            <a:pPr>
              <a:buFont typeface="Arial" panose="020B0604020202020204" pitchFamily="34" charset="0"/>
              <a:buChar char="•"/>
            </a:pPr>
            <a:r>
              <a:rPr lang="en-US" sz="1400" b="0" dirty="0">
                <a:latin typeface="Arial Narrow" panose="020B0606020202030204" pitchFamily="34" charset="0"/>
              </a:rPr>
              <a:t>Handling of measuring equipment</a:t>
            </a:r>
          </a:p>
          <a:p>
            <a:pPr>
              <a:buFont typeface="Arial" panose="020B0604020202020204" pitchFamily="34" charset="0"/>
              <a:buChar char="•"/>
            </a:pPr>
            <a:r>
              <a:rPr lang="en-US" sz="1400" b="0" dirty="0">
                <a:latin typeface="Arial Narrow" panose="020B0606020202030204" pitchFamily="34" charset="0"/>
              </a:rPr>
              <a:t>Interpretation of control charts</a:t>
            </a:r>
          </a:p>
          <a:p>
            <a:pPr>
              <a:buFont typeface="Arial" panose="020B0604020202020204" pitchFamily="34" charset="0"/>
              <a:buChar char="•"/>
            </a:pPr>
            <a:r>
              <a:rPr lang="en-US" sz="1400" b="0" dirty="0">
                <a:latin typeface="Arial Narrow" panose="020B0606020202030204" pitchFamily="34" charset="0"/>
              </a:rPr>
              <a:t>Training/instructions regarding occupational safety</a:t>
            </a:r>
          </a:p>
          <a:p>
            <a:pPr>
              <a:buFont typeface="Arial" panose="020B0604020202020204" pitchFamily="34" charset="0"/>
              <a:buChar char="•"/>
            </a:pPr>
            <a:r>
              <a:rPr lang="en-US" sz="1400" b="0" dirty="0">
                <a:latin typeface="Arial Narrow" panose="020B0606020202030204" pitchFamily="34" charset="0"/>
              </a:rPr>
              <a:t>Training in special characteristics</a:t>
            </a:r>
          </a:p>
          <a:p>
            <a:pPr>
              <a:buFont typeface="Arial" panose="020B0604020202020204" pitchFamily="34" charset="0"/>
              <a:buChar char="•"/>
            </a:pPr>
            <a:r>
              <a:rPr lang="en-US" sz="1400" b="0" dirty="0">
                <a:latin typeface="Arial Narrow" panose="020B0606020202030204" pitchFamily="34" charset="0"/>
              </a:rPr>
              <a:t>Suitable evidence of qualification (e.g. welding certificate, vision test results, hearing test results)</a:t>
            </a:r>
          </a:p>
        </p:txBody>
      </p:sp>
    </p:spTree>
    <p:extLst>
      <p:ext uri="{BB962C8B-B14F-4D97-AF65-F5344CB8AC3E}">
        <p14:creationId xmlns:p14="http://schemas.microsoft.com/office/powerpoint/2010/main" val="2690711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51449-331C-5170-820C-EFD576F13DE9}"/>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EFBDF3D1-F443-5EA9-6C29-B499BE884F97}"/>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6.3.2 Do the employees know their responsibilities and authorizations regarding the monitoring of product and process quality?</a:t>
            </a:r>
          </a:p>
          <a:p>
            <a:br>
              <a:rPr lang="en-US" sz="1400" b="0" dirty="0">
                <a:latin typeface="Arial Narrow" panose="020B0606020202030204" pitchFamily="34" charset="0"/>
              </a:rPr>
            </a:br>
            <a:r>
              <a:rPr lang="en-US" sz="1400" b="0" dirty="0">
                <a:latin typeface="Arial Narrow" panose="020B0606020202030204" pitchFamily="34" charset="0"/>
              </a:rPr>
              <a:t>The employees’ responsibilities, duties and authorities are described and implemented.</a:t>
            </a:r>
            <a:br>
              <a:rPr lang="en-US" sz="1400" b="0" dirty="0">
                <a:latin typeface="Arial Narrow" panose="020B0606020202030204" pitchFamily="34" charset="0"/>
              </a:rPr>
            </a:br>
            <a:r>
              <a:rPr lang="en-US" sz="1400" b="0" dirty="0">
                <a:latin typeface="Arial Narrow" panose="020B0606020202030204" pitchFamily="34" charset="0"/>
              </a:rPr>
              <a:t>The employees know the consequences of incorrect execution of work. The tasks/functions of the product are known. It is also known what happens when they are no longer guaranteed.</a:t>
            </a:r>
            <a:br>
              <a:rPr lang="en-US" sz="1400" b="0" dirty="0">
                <a:latin typeface="Arial Narrow" panose="020B0606020202030204" pitchFamily="34" charset="0"/>
              </a:rPr>
            </a:br>
            <a:r>
              <a:rPr lang="en-US" sz="1400" b="0" dirty="0">
                <a:latin typeface="Arial Narrow" panose="020B0606020202030204" pitchFamily="34" charset="0"/>
              </a:rPr>
              <a:t>Employees receive regular information on the current quality performance achieved and are informed about customer complaints.</a:t>
            </a:r>
            <a:br>
              <a:rPr lang="en-US" sz="1400" b="0" dirty="0">
                <a:latin typeface="Arial Narrow" panose="020B0606020202030204" pitchFamily="34" charset="0"/>
              </a:rPr>
            </a:br>
            <a:r>
              <a:rPr lang="en-US" sz="1400" b="0" dirty="0">
                <a:latin typeface="Arial Narrow" panose="020B0606020202030204" pitchFamily="34" charset="0"/>
              </a:rPr>
              <a:t>The requirements also apply to temporary employees</a:t>
            </a:r>
          </a:p>
          <a:p>
            <a:r>
              <a:rPr lang="en-US" sz="1400" b="0" dirty="0">
                <a:latin typeface="Arial Narrow" panose="020B0606020202030204" pitchFamily="34" charset="0"/>
              </a:rPr>
              <a:t>.</a:t>
            </a:r>
          </a:p>
        </p:txBody>
      </p:sp>
      <p:sp>
        <p:nvSpPr>
          <p:cNvPr id="4" name="Inhaltsplatzhalter 4">
            <a:extLst>
              <a:ext uri="{FF2B5EF4-FFF2-40B4-BE49-F238E27FC236}">
                <a16:creationId xmlns:a16="http://schemas.microsoft.com/office/drawing/2014/main" id="{DE87E57C-8A64-1953-B9CE-B0F4D3374E19}"/>
              </a:ext>
            </a:extLst>
          </p:cNvPr>
          <p:cNvSpPr txBox="1">
            <a:spLocks/>
          </p:cNvSpPr>
          <p:nvPr/>
        </p:nvSpPr>
        <p:spPr>
          <a:xfrm>
            <a:off x="4749195"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Work/inspection instructions</a:t>
            </a:r>
          </a:p>
          <a:p>
            <a:pPr>
              <a:buFont typeface="Arial" panose="020B0604020202020204" pitchFamily="34" charset="0"/>
              <a:buChar char="•"/>
            </a:pPr>
            <a:r>
              <a:rPr lang="en-US" sz="1400" b="0" dirty="0">
                <a:latin typeface="Arial Narrow" panose="020B0606020202030204" pitchFamily="34" charset="0"/>
              </a:rPr>
              <a:t>Job descriptions</a:t>
            </a:r>
          </a:p>
          <a:p>
            <a:pPr>
              <a:buFont typeface="Arial" panose="020B0604020202020204" pitchFamily="34" charset="0"/>
              <a:buChar char="•"/>
            </a:pPr>
            <a:r>
              <a:rPr lang="en-US" sz="1400" b="0" dirty="0">
                <a:latin typeface="Arial Narrow" panose="020B0606020202030204" pitchFamily="34" charset="0"/>
              </a:rPr>
              <a:t>Setup release, first piece inspection, last piece inspection</a:t>
            </a:r>
          </a:p>
          <a:p>
            <a:pPr>
              <a:buFont typeface="Arial" panose="020B0604020202020204" pitchFamily="34" charset="0"/>
              <a:buChar char="•"/>
            </a:pPr>
            <a:r>
              <a:rPr lang="en-US" sz="1400" b="0" dirty="0">
                <a:latin typeface="Arial Narrow" panose="020B0606020202030204" pitchFamily="34" charset="0"/>
              </a:rPr>
              <a:t>Authority to stop and start the process</a:t>
            </a:r>
          </a:p>
          <a:p>
            <a:pPr>
              <a:buFont typeface="Arial" panose="020B0604020202020204" pitchFamily="34" charset="0"/>
              <a:buChar char="•"/>
            </a:pPr>
            <a:r>
              <a:rPr lang="en-US" sz="1400" b="0" dirty="0">
                <a:latin typeface="Arial Narrow" panose="020B0606020202030204" pitchFamily="34" charset="0"/>
              </a:rPr>
              <a:t>Escalation protocol</a:t>
            </a:r>
          </a:p>
          <a:p>
            <a:pPr>
              <a:buFont typeface="Arial" panose="020B0604020202020204" pitchFamily="34" charset="0"/>
              <a:buChar char="•"/>
            </a:pPr>
            <a:r>
              <a:rPr lang="en-US" sz="1400" b="0" dirty="0">
                <a:latin typeface="Arial Narrow" panose="020B0606020202030204" pitchFamily="34" charset="0"/>
              </a:rPr>
              <a:t>Product training</a:t>
            </a:r>
          </a:p>
          <a:p>
            <a:pPr>
              <a:buFont typeface="Arial" panose="020B0604020202020204" pitchFamily="34" charset="0"/>
              <a:buChar char="•"/>
            </a:pPr>
            <a:r>
              <a:rPr lang="en-US" sz="1400" b="0" dirty="0">
                <a:latin typeface="Arial Narrow" panose="020B0606020202030204" pitchFamily="34" charset="0"/>
              </a:rPr>
              <a:t>Product safety/product liability training</a:t>
            </a:r>
          </a:p>
        </p:txBody>
      </p:sp>
    </p:spTree>
    <p:extLst>
      <p:ext uri="{BB962C8B-B14F-4D97-AF65-F5344CB8AC3E}">
        <p14:creationId xmlns:p14="http://schemas.microsoft.com/office/powerpoint/2010/main" val="2485922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C1306-45F0-8C2E-E167-961326A9E8EF}"/>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41006BB9-BC2F-77E2-BB84-84769E19FAB9}"/>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6.3.3 Are the necessary personnel resources available?</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There is a staff schedule for all shifts. The staff schedule takes into account the required number of qualified employees.</a:t>
            </a:r>
            <a:br>
              <a:rPr lang="en-US" sz="1400" b="0" dirty="0">
                <a:latin typeface="Arial Narrow" panose="020B0606020202030204" pitchFamily="34" charset="0"/>
              </a:rPr>
            </a:br>
            <a:r>
              <a:rPr lang="en-US" sz="1400" b="0" dirty="0">
                <a:latin typeface="Arial Narrow" panose="020B0606020202030204" pitchFamily="34" charset="0"/>
              </a:rPr>
              <a:t>Rules exist for supporting areas that are not continually in use (e.g. laboratory, measurement room).</a:t>
            </a:r>
            <a:br>
              <a:rPr lang="en-US" sz="1400" b="0" dirty="0">
                <a:latin typeface="Arial Narrow" panose="020B0606020202030204" pitchFamily="34" charset="0"/>
              </a:rPr>
            </a:br>
            <a:r>
              <a:rPr lang="en-US" sz="1400" b="0" dirty="0">
                <a:latin typeface="Arial Narrow" panose="020B0606020202030204" pitchFamily="34" charset="0"/>
              </a:rPr>
              <a:t>Fluctuations in customer orders and workforce absences (e.g. illness, holidays, training) are taken into account in the staff schedule.</a:t>
            </a:r>
            <a:br>
              <a:rPr lang="en-US" sz="1400" b="0" dirty="0">
                <a:latin typeface="Arial Narrow" panose="020B0606020202030204" pitchFamily="34" charset="0"/>
              </a:rPr>
            </a:br>
            <a:r>
              <a:rPr lang="en-US" sz="1400" b="0" dirty="0">
                <a:latin typeface="Arial Narrow" panose="020B0606020202030204" pitchFamily="34" charset="0"/>
              </a:rPr>
              <a:t>The requirements also apply to temporary employees</a:t>
            </a:r>
          </a:p>
          <a:p>
            <a:r>
              <a:rPr lang="en-US" sz="1400" b="0" dirty="0">
                <a:latin typeface="Arial Narrow" panose="020B0606020202030204" pitchFamily="34" charset="0"/>
              </a:rPr>
              <a:t>.</a:t>
            </a:r>
          </a:p>
        </p:txBody>
      </p:sp>
      <p:sp>
        <p:nvSpPr>
          <p:cNvPr id="4" name="Inhaltsplatzhalter 4">
            <a:extLst>
              <a:ext uri="{FF2B5EF4-FFF2-40B4-BE49-F238E27FC236}">
                <a16:creationId xmlns:a16="http://schemas.microsoft.com/office/drawing/2014/main" id="{D98E930F-74C6-8505-6F7C-61D0A94501E1}"/>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Shift plan</a:t>
            </a:r>
          </a:p>
          <a:p>
            <a:pPr>
              <a:buFont typeface="Arial" panose="020B0604020202020204" pitchFamily="34" charset="0"/>
              <a:buChar char="•"/>
            </a:pPr>
            <a:r>
              <a:rPr lang="en-US" sz="1400" b="0" dirty="0">
                <a:latin typeface="Arial Narrow" panose="020B0606020202030204" pitchFamily="34" charset="0"/>
              </a:rPr>
              <a:t>Evidence of qualifications</a:t>
            </a:r>
          </a:p>
          <a:p>
            <a:pPr>
              <a:buFont typeface="Arial" panose="020B0604020202020204" pitchFamily="34" charset="0"/>
              <a:buChar char="•"/>
            </a:pPr>
            <a:r>
              <a:rPr lang="en-US" sz="1400" b="0" dirty="0">
                <a:latin typeface="Arial Narrow" panose="020B0606020202030204" pitchFamily="34" charset="0"/>
              </a:rPr>
              <a:t>Qualification matrix</a:t>
            </a:r>
          </a:p>
          <a:p>
            <a:pPr>
              <a:buFont typeface="Arial" panose="020B0604020202020204" pitchFamily="34" charset="0"/>
              <a:buChar char="•"/>
            </a:pPr>
            <a:r>
              <a:rPr lang="en-US" sz="1400" b="0" dirty="0">
                <a:latin typeface="Arial Narrow" panose="020B0606020202030204" pitchFamily="34" charset="0"/>
              </a:rPr>
              <a:t>Documented absence management rules</a:t>
            </a:r>
          </a:p>
          <a:p>
            <a:pPr>
              <a:buFont typeface="Arial" panose="020B0604020202020204" pitchFamily="34" charset="0"/>
              <a:buChar char="•"/>
            </a:pPr>
            <a:r>
              <a:rPr lang="en-US" sz="1400" b="0" dirty="0">
                <a:latin typeface="Arial Narrow" panose="020B0606020202030204" pitchFamily="34" charset="0"/>
              </a:rPr>
              <a:t>Staff schedule</a:t>
            </a:r>
          </a:p>
          <a:p>
            <a:pPr>
              <a:buFont typeface="Arial" panose="020B0604020202020204" pitchFamily="34" charset="0"/>
              <a:buChar char="•"/>
            </a:pPr>
            <a:r>
              <a:rPr lang="en-US" sz="1400" b="0" dirty="0">
                <a:latin typeface="Arial Narrow" panose="020B0606020202030204" pitchFamily="34" charset="0"/>
              </a:rPr>
              <a:t>Mentors</a:t>
            </a:r>
          </a:p>
        </p:txBody>
      </p:sp>
    </p:spTree>
    <p:extLst>
      <p:ext uri="{BB962C8B-B14F-4D97-AF65-F5344CB8AC3E}">
        <p14:creationId xmlns:p14="http://schemas.microsoft.com/office/powerpoint/2010/main" val="1448409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Inhaltsplatzhalter 3"/>
          <p:cNvSpPr>
            <a:spLocks noGrp="1"/>
          </p:cNvSpPr>
          <p:nvPr>
            <p:ph idx="1"/>
          </p:nvPr>
        </p:nvSpPr>
        <p:spPr bwMode="auto">
          <a:noFill/>
          <a:ln>
            <a:miter lim="800000"/>
            <a:headEnd/>
            <a:tailEnd/>
          </a:ln>
        </p:spPr>
        <p:txBody>
          <a:bodyPr vert="horz" wrap="square" numCol="1" anchor="t" anchorCtr="0" compatLnSpc="1">
            <a:prstTxWarp prst="textNoShape">
              <a:avLst/>
            </a:prstTxWarp>
          </a:bodyPr>
          <a:lstStyle/>
          <a:p>
            <a:pPr>
              <a:spcBef>
                <a:spcPct val="0"/>
              </a:spcBef>
            </a:pPr>
            <a:r>
              <a:rPr lang="de-DE" dirty="0"/>
              <a:t>Sub-element P6.4 - </a:t>
            </a:r>
            <a:r>
              <a:rPr lang="en-GB" dirty="0"/>
              <a:t>Material resources</a:t>
            </a:r>
            <a:endParaRPr lang="de-DE" dirty="0"/>
          </a:p>
          <a:p>
            <a:pPr marL="0" indent="0">
              <a:spcBef>
                <a:spcPct val="0"/>
              </a:spcBef>
            </a:pPr>
            <a:endParaRPr lang="de-DE" dirty="0"/>
          </a:p>
        </p:txBody>
      </p:sp>
      <p:sp>
        <p:nvSpPr>
          <p:cNvPr id="2" name="Titel 1"/>
          <p:cNvSpPr>
            <a:spLocks noGrp="1"/>
          </p:cNvSpPr>
          <p:nvPr>
            <p:ph type="title" idx="4294967295"/>
          </p:nvPr>
        </p:nvSpPr>
        <p:spPr>
          <a:xfrm>
            <a:off x="0" y="274638"/>
            <a:ext cx="8229600" cy="220662"/>
          </a:xfrm>
          <a:prstGeom prst="rect">
            <a:avLst/>
          </a:prstGeom>
        </p:spPr>
        <p:txBody>
          <a:bodyPr/>
          <a:lstStyle/>
          <a:p>
            <a:pPr algn="l"/>
            <a:r>
              <a:rPr lang="de-DE" sz="1000" kern="1200" dirty="0">
                <a:solidFill>
                  <a:schemeClr val="bg1"/>
                </a:solidFill>
                <a:effectLst/>
                <a:latin typeface="Verdana"/>
              </a:rPr>
              <a:t>LE80-055</a:t>
            </a:r>
            <a:endParaRPr lang="de-DE" dirty="0">
              <a:solidFill>
                <a:schemeClr val="bg1"/>
              </a:solidFill>
            </a:endParaRPr>
          </a:p>
        </p:txBody>
      </p:sp>
      <p:sp>
        <p:nvSpPr>
          <p:cNvPr id="51" name="Rectangle 6"/>
          <p:cNvSpPr txBox="1">
            <a:spLocks noChangeArrowheads="1"/>
          </p:cNvSpPr>
          <p:nvPr/>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r>
              <a:rPr lang="de-DE" sz="1000" dirty="0">
                <a:solidFill>
                  <a:srgbClr val="FFFFFF"/>
                </a:solidFill>
              </a:rPr>
              <a:t>VDA 6.3 – </a:t>
            </a:r>
            <a:r>
              <a:rPr lang="de-DE" sz="1000">
                <a:solidFill>
                  <a:srgbClr val="FFFFFF"/>
                </a:solidFill>
              </a:rPr>
              <a:t>Questionnaire</a:t>
            </a:r>
            <a:r>
              <a:rPr lang="de-DE" sz="1000" dirty="0">
                <a:solidFill>
                  <a:srgbClr val="FFFFFF"/>
                </a:solidFill>
              </a:rPr>
              <a:t> P6</a:t>
            </a:r>
          </a:p>
        </p:txBody>
      </p:sp>
      <p:grpSp>
        <p:nvGrpSpPr>
          <p:cNvPr id="22" name="Gruppieren 21"/>
          <p:cNvGrpSpPr/>
          <p:nvPr/>
        </p:nvGrpSpPr>
        <p:grpSpPr>
          <a:xfrm>
            <a:off x="625077" y="1709312"/>
            <a:ext cx="8212372" cy="4494680"/>
            <a:chOff x="625077" y="1937910"/>
            <a:chExt cx="8212372" cy="4494680"/>
          </a:xfrm>
        </p:grpSpPr>
        <p:sp>
          <p:nvSpPr>
            <p:cNvPr id="30" name="AutoShape 49"/>
            <p:cNvSpPr>
              <a:spLocks noChangeArrowheads="1"/>
            </p:cNvSpPr>
            <p:nvPr/>
          </p:nvSpPr>
          <p:spPr bwMode="auto">
            <a:xfrm>
              <a:off x="7122149" y="3770211"/>
              <a:ext cx="1171038" cy="652854"/>
            </a:xfrm>
            <a:prstGeom prst="chevron">
              <a:avLst>
                <a:gd name="adj" fmla="val 52654"/>
              </a:avLst>
            </a:prstGeom>
            <a:solidFill>
              <a:srgbClr val="4074A6"/>
            </a:solidFill>
            <a:ln w="12700" algn="ctr">
              <a:noFill/>
              <a:miter lim="800000"/>
              <a:headEnd/>
              <a:tailEnd/>
            </a:ln>
          </p:spPr>
          <p:txBody>
            <a:bodyPr wrap="none" lIns="0" tIns="0" rIns="0" bIns="0" anchor="ctr"/>
            <a:lstStyle/>
            <a:p>
              <a:pPr marL="342900" indent="-342900" algn="ctr">
                <a:lnSpc>
                  <a:spcPct val="80000"/>
                </a:lnSpc>
                <a:spcBef>
                  <a:spcPct val="20000"/>
                </a:spcBef>
              </a:pPr>
              <a:endParaRPr lang="de-DE" sz="1000" dirty="0">
                <a:solidFill>
                  <a:srgbClr val="080808"/>
                </a:solidFill>
              </a:endParaRPr>
            </a:p>
          </p:txBody>
        </p:sp>
        <p:sp>
          <p:nvSpPr>
            <p:cNvPr id="31" name="AutoShape 50"/>
            <p:cNvSpPr>
              <a:spLocks noChangeArrowheads="1"/>
            </p:cNvSpPr>
            <p:nvPr/>
          </p:nvSpPr>
          <p:spPr bwMode="auto">
            <a:xfrm>
              <a:off x="7965212" y="3770211"/>
              <a:ext cx="872237" cy="652854"/>
            </a:xfrm>
            <a:prstGeom prst="homePlate">
              <a:avLst>
                <a:gd name="adj" fmla="val 32955"/>
              </a:avLst>
            </a:prstGeom>
            <a:solidFill>
              <a:schemeClr val="accent5"/>
            </a:solidFill>
            <a:ln w="12700" algn="ctr">
              <a:noFill/>
              <a:miter lim="800000"/>
              <a:headEnd/>
              <a:tailEnd/>
            </a:ln>
          </p:spPr>
          <p:txBody>
            <a:bodyPr wrap="none" lIns="0" tIns="0" rIns="0" bIns="0" anchor="ctr"/>
            <a:lstStyle/>
            <a:p>
              <a:pPr marL="342900" indent="-342900" algn="ctr">
                <a:lnSpc>
                  <a:spcPct val="80000"/>
                </a:lnSpc>
                <a:spcBef>
                  <a:spcPct val="20000"/>
                </a:spcBef>
              </a:pPr>
              <a:r>
                <a:rPr lang="de-DE" sz="1000" dirty="0">
                  <a:solidFill>
                    <a:srgbClr val="080808"/>
                  </a:solidFill>
                </a:rPr>
                <a:t>      </a:t>
              </a:r>
            </a:p>
          </p:txBody>
        </p:sp>
        <p:sp>
          <p:nvSpPr>
            <p:cNvPr id="32" name="Oval 51"/>
            <p:cNvSpPr>
              <a:spLocks noChangeArrowheads="1"/>
            </p:cNvSpPr>
            <p:nvPr/>
          </p:nvSpPr>
          <p:spPr bwMode="auto">
            <a:xfrm>
              <a:off x="7636733" y="3770211"/>
              <a:ext cx="747004" cy="652854"/>
            </a:xfrm>
            <a:prstGeom prst="ellipse">
              <a:avLst/>
            </a:prstGeom>
            <a:gradFill>
              <a:gsLst>
                <a:gs pos="0">
                  <a:schemeClr val="bg1"/>
                </a:gs>
                <a:gs pos="50000">
                  <a:srgbClr val="CCA600"/>
                </a:gs>
              </a:gsLst>
              <a:lin ang="5400000" scaled="0"/>
            </a:gradFill>
            <a:ln w="12700" algn="ctr">
              <a:noFill/>
              <a:round/>
              <a:headEnd/>
              <a:tailEnd/>
            </a:ln>
          </p:spPr>
          <p:txBody>
            <a:bodyPr wrap="none" lIns="0" tIns="0" rIns="0" bIns="0" anchor="ctr"/>
            <a:lstStyle/>
            <a:p>
              <a:pPr marL="342900" indent="-342900" algn="ctr">
                <a:lnSpc>
                  <a:spcPct val="80000"/>
                </a:lnSpc>
                <a:spcBef>
                  <a:spcPct val="20000"/>
                </a:spcBef>
              </a:pPr>
              <a:endParaRPr lang="de-DE" sz="1000" dirty="0">
                <a:solidFill>
                  <a:srgbClr val="080808"/>
                </a:solidFill>
              </a:endParaRPr>
            </a:p>
          </p:txBody>
        </p:sp>
        <p:grpSp>
          <p:nvGrpSpPr>
            <p:cNvPr id="33" name="Gruppieren 32"/>
            <p:cNvGrpSpPr/>
            <p:nvPr/>
          </p:nvGrpSpPr>
          <p:grpSpPr>
            <a:xfrm>
              <a:off x="625077" y="3965305"/>
              <a:ext cx="1334675" cy="290324"/>
              <a:chOff x="1353214" y="3965305"/>
              <a:chExt cx="1334675" cy="290324"/>
            </a:xfrm>
          </p:grpSpPr>
          <p:sp>
            <p:nvSpPr>
              <p:cNvPr id="58" name="Rectangle 5"/>
              <p:cNvSpPr>
                <a:spLocks noChangeArrowheads="1"/>
              </p:cNvSpPr>
              <p:nvPr/>
            </p:nvSpPr>
            <p:spPr bwMode="auto">
              <a:xfrm>
                <a:off x="1353214" y="3965305"/>
                <a:ext cx="248919"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I</a:t>
                </a:r>
              </a:p>
            </p:txBody>
          </p:sp>
          <p:sp>
            <p:nvSpPr>
              <p:cNvPr id="70" name="Rectangle 5"/>
              <p:cNvSpPr>
                <a:spLocks noChangeArrowheads="1"/>
              </p:cNvSpPr>
              <p:nvPr/>
            </p:nvSpPr>
            <p:spPr bwMode="auto">
              <a:xfrm>
                <a:off x="2290832" y="3965305"/>
                <a:ext cx="397057"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O</a:t>
                </a:r>
              </a:p>
            </p:txBody>
          </p:sp>
        </p:grpSp>
        <p:sp>
          <p:nvSpPr>
            <p:cNvPr id="34" name="Rectangle 5"/>
            <p:cNvSpPr>
              <a:spLocks noChangeArrowheads="1"/>
            </p:cNvSpPr>
            <p:nvPr/>
          </p:nvSpPr>
          <p:spPr bwMode="auto">
            <a:xfrm>
              <a:off x="7689431" y="3960675"/>
              <a:ext cx="622298" cy="290324"/>
            </a:xfrm>
            <a:prstGeom prst="rect">
              <a:avLst/>
            </a:prstGeom>
            <a:noFill/>
            <a:ln w="9525">
              <a:noFill/>
              <a:miter lim="800000"/>
              <a:headEnd/>
              <a:tailEnd/>
            </a:ln>
            <a:effectLst/>
          </p:spPr>
          <p:txBody>
            <a:bodyPr anchor="ctr"/>
            <a:lstStyle/>
            <a:p>
              <a:pPr algn="ctr"/>
              <a:r>
                <a:rPr lang="de-DE" sz="1000" spc="-60" dirty="0">
                  <a:solidFill>
                    <a:srgbClr val="000000"/>
                  </a:solidFill>
                  <a:cs typeface="Arial"/>
                </a:rPr>
                <a:t>P6.x</a:t>
              </a:r>
              <a:endParaRPr lang="de-DE" sz="800" dirty="0">
                <a:solidFill>
                  <a:srgbClr val="000000"/>
                </a:solidFill>
                <a:cs typeface="Arial"/>
              </a:endParaRPr>
            </a:p>
          </p:txBody>
        </p:sp>
        <p:sp>
          <p:nvSpPr>
            <p:cNvPr id="35" name="Rectangle 5"/>
            <p:cNvSpPr>
              <a:spLocks noChangeArrowheads="1"/>
            </p:cNvSpPr>
            <p:nvPr/>
          </p:nvSpPr>
          <p:spPr bwMode="auto">
            <a:xfrm>
              <a:off x="7419995" y="3965207"/>
              <a:ext cx="533396"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I</a:t>
              </a:r>
            </a:p>
          </p:txBody>
        </p:sp>
        <p:sp>
          <p:nvSpPr>
            <p:cNvPr id="36" name="Rectangle 5"/>
            <p:cNvSpPr>
              <a:spLocks noChangeArrowheads="1"/>
            </p:cNvSpPr>
            <p:nvPr/>
          </p:nvSpPr>
          <p:spPr bwMode="auto">
            <a:xfrm>
              <a:off x="8335953" y="3960675"/>
              <a:ext cx="344371" cy="290324"/>
            </a:xfrm>
            <a:prstGeom prst="rect">
              <a:avLst/>
            </a:prstGeom>
            <a:noFill/>
            <a:ln w="9525">
              <a:noFill/>
              <a:miter lim="800000"/>
              <a:headEnd/>
              <a:tailEnd/>
            </a:ln>
            <a:effectLst/>
          </p:spPr>
          <p:txBody>
            <a:bodyPr/>
            <a:lstStyle/>
            <a:p>
              <a:r>
                <a:rPr lang="de-DE" sz="1000" dirty="0">
                  <a:solidFill>
                    <a:srgbClr val="FFFFFF"/>
                  </a:solidFill>
                  <a:ea typeface="Verdana" pitchFamily="34" charset="0"/>
                  <a:cs typeface="Verdana" pitchFamily="34" charset="0"/>
                </a:rPr>
                <a:t>O</a:t>
              </a:r>
            </a:p>
          </p:txBody>
        </p:sp>
        <p:sp>
          <p:nvSpPr>
            <p:cNvPr id="38" name="Rectangle 5"/>
            <p:cNvSpPr>
              <a:spLocks noChangeArrowheads="1"/>
            </p:cNvSpPr>
            <p:nvPr/>
          </p:nvSpPr>
          <p:spPr bwMode="auto">
            <a:xfrm>
              <a:off x="6047071" y="5040070"/>
              <a:ext cx="1140086" cy="290324"/>
            </a:xfrm>
            <a:prstGeom prst="rect">
              <a:avLst/>
            </a:prstGeom>
            <a:noFill/>
            <a:ln w="9525">
              <a:noFill/>
              <a:miter lim="800000"/>
              <a:headEnd/>
              <a:tailEnd/>
            </a:ln>
            <a:effectLst/>
          </p:spPr>
          <p:txBody>
            <a:bodyPr/>
            <a:lstStyle/>
            <a:p>
              <a:pPr algn="ctr"/>
              <a:r>
                <a:rPr lang="de-DE" sz="1000" dirty="0">
                  <a:solidFill>
                    <a:srgbClr val="C00000"/>
                  </a:solidFill>
                  <a:ea typeface="Verdana" pitchFamily="34" charset="0"/>
                  <a:cs typeface="Verdana" pitchFamily="34" charset="0"/>
                </a:rPr>
                <a:t>Schnittstelle</a:t>
              </a:r>
            </a:p>
          </p:txBody>
        </p:sp>
        <p:sp>
          <p:nvSpPr>
            <p:cNvPr id="40" name="Rectangle 5"/>
            <p:cNvSpPr>
              <a:spLocks noChangeArrowheads="1"/>
            </p:cNvSpPr>
            <p:nvPr/>
          </p:nvSpPr>
          <p:spPr bwMode="auto">
            <a:xfrm>
              <a:off x="5240634" y="1937910"/>
              <a:ext cx="3283164" cy="1036690"/>
            </a:xfrm>
            <a:prstGeom prst="rect">
              <a:avLst/>
            </a:prstGeom>
            <a:solidFill>
              <a:srgbClr val="C1C1C1"/>
            </a:solidFill>
            <a:ln w="9525">
              <a:noFill/>
              <a:miter lim="800000"/>
              <a:headEnd/>
              <a:tailEnd/>
            </a:ln>
            <a:effectLst/>
          </p:spPr>
          <p:txBody>
            <a:bodyPr anchor="ctr"/>
            <a:lstStyle/>
            <a:p>
              <a:pPr algn="ctr" eaLnBrk="0" fontAlgn="base" hangingPunct="0">
                <a:spcAft>
                  <a:spcPts val="600"/>
                </a:spcAft>
                <a:defRPr/>
              </a:pPr>
              <a:r>
                <a:rPr lang="de-DE" sz="1200" dirty="0">
                  <a:solidFill>
                    <a:srgbClr val="080808"/>
                  </a:solidFill>
                  <a:cs typeface="Arial" pitchFamily="34" charset="0"/>
                </a:rPr>
                <a:t>Welche Funktionen/Bereiche/ </a:t>
              </a:r>
              <a:br>
                <a:rPr lang="de-DE" sz="1200" dirty="0">
                  <a:solidFill>
                    <a:srgbClr val="080808"/>
                  </a:solidFill>
                  <a:cs typeface="Arial" pitchFamily="34" charset="0"/>
                </a:rPr>
              </a:br>
              <a:r>
                <a:rPr lang="de-DE" sz="1200" dirty="0">
                  <a:solidFill>
                    <a:srgbClr val="080808"/>
                  </a:solidFill>
                  <a:cs typeface="Arial" pitchFamily="34" charset="0"/>
                </a:rPr>
                <a:t>Personen unterstützen den Prozess?</a:t>
              </a:r>
            </a:p>
            <a:p>
              <a:pPr algn="ctr" eaLnBrk="0" fontAlgn="base" hangingPunct="0">
                <a:spcAft>
                  <a:spcPts val="600"/>
                </a:spcAft>
                <a:defRPr/>
              </a:pPr>
              <a:r>
                <a:rPr lang="de-DE" sz="1200" b="1" dirty="0">
                  <a:solidFill>
                    <a:srgbClr val="080808"/>
                  </a:solidFill>
                  <a:cs typeface="Arial" pitchFamily="34" charset="0"/>
                </a:rPr>
                <a:t>Prozessunterstützung</a:t>
              </a:r>
              <a:endParaRPr lang="de-DE" sz="1200" dirty="0">
                <a:solidFill>
                  <a:srgbClr val="080808"/>
                </a:solidFill>
                <a:cs typeface="Arial" pitchFamily="34" charset="0"/>
              </a:endParaRPr>
            </a:p>
            <a:p>
              <a:pPr algn="ctr" eaLnBrk="0" fontAlgn="base" hangingPunct="0">
                <a:spcAft>
                  <a:spcPts val="600"/>
                </a:spcAft>
                <a:defRPr/>
              </a:pPr>
              <a:r>
                <a:rPr lang="de-DE" sz="1200" dirty="0">
                  <a:solidFill>
                    <a:srgbClr val="080808"/>
                  </a:solidFill>
                  <a:cs typeface="Arial" pitchFamily="34" charset="0"/>
                </a:rPr>
                <a:t>Schulung, Wissen, Fähigkeit, Befugnisse</a:t>
              </a:r>
              <a:endParaRPr lang="de-DE" sz="1200" dirty="0">
                <a:solidFill>
                  <a:srgbClr val="080808"/>
                </a:solidFill>
                <a:ea typeface="Verdana" pitchFamily="34" charset="0"/>
                <a:cs typeface="Verdana" pitchFamily="34" charset="0"/>
              </a:endParaRPr>
            </a:p>
          </p:txBody>
        </p:sp>
        <p:sp>
          <p:nvSpPr>
            <p:cNvPr id="42" name="Rectangle 5"/>
            <p:cNvSpPr>
              <a:spLocks noChangeArrowheads="1"/>
            </p:cNvSpPr>
            <p:nvPr/>
          </p:nvSpPr>
          <p:spPr bwMode="auto">
            <a:xfrm>
              <a:off x="5240634" y="5395900"/>
              <a:ext cx="3283164" cy="1036690"/>
            </a:xfrm>
            <a:prstGeom prst="rect">
              <a:avLst/>
            </a:prstGeom>
            <a:solidFill>
              <a:srgbClr val="C1C1C1"/>
            </a:solidFill>
            <a:ln w="9525">
              <a:noFill/>
              <a:miter lim="800000"/>
              <a:headEnd/>
              <a:tailEnd/>
            </a:ln>
            <a:effectLst/>
          </p:spPr>
          <p:txBody>
            <a:bodyPr anchor="ctr"/>
            <a:lstStyle/>
            <a:p>
              <a:pPr algn="ctr" eaLnBrk="0" fontAlgn="base" hangingPunct="0">
                <a:spcAft>
                  <a:spcPts val="600"/>
                </a:spcAft>
                <a:defRPr/>
              </a:pPr>
              <a:r>
                <a:rPr lang="de-DE" sz="1200" dirty="0">
                  <a:solidFill>
                    <a:srgbClr val="080808"/>
                  </a:solidFill>
                  <a:cs typeface="Arial" pitchFamily="34" charset="0"/>
                </a:rPr>
                <a:t>Wie wirkungsvoll wird der Prozess durchgeführt?</a:t>
              </a:r>
            </a:p>
            <a:p>
              <a:pPr algn="ctr" eaLnBrk="0" fontAlgn="base" hangingPunct="0">
                <a:spcAft>
                  <a:spcPts val="600"/>
                </a:spcAft>
                <a:defRPr/>
              </a:pPr>
              <a:r>
                <a:rPr lang="de-DE" sz="1200" b="1" dirty="0">
                  <a:solidFill>
                    <a:srgbClr val="080808"/>
                  </a:solidFill>
                  <a:cs typeface="Arial" pitchFamily="34" charset="0"/>
                </a:rPr>
                <a:t>Wirkungsgrad</a:t>
              </a:r>
              <a:endParaRPr lang="de-DE" sz="1200" dirty="0">
                <a:solidFill>
                  <a:srgbClr val="080808"/>
                </a:solidFill>
                <a:cs typeface="Arial" pitchFamily="34" charset="0"/>
              </a:endParaRPr>
            </a:p>
            <a:p>
              <a:pPr algn="ctr" eaLnBrk="0" fontAlgn="base" hangingPunct="0">
                <a:spcAft>
                  <a:spcPts val="600"/>
                </a:spcAft>
                <a:defRPr/>
              </a:pPr>
              <a:r>
                <a:rPr lang="de-DE" sz="1200" dirty="0">
                  <a:solidFill>
                    <a:srgbClr val="080808"/>
                  </a:solidFill>
                  <a:cs typeface="Arial" pitchFamily="34" charset="0"/>
                </a:rPr>
                <a:t>Leistungsindikatoren, Kennzahlen</a:t>
              </a:r>
            </a:p>
          </p:txBody>
        </p:sp>
        <p:sp>
          <p:nvSpPr>
            <p:cNvPr id="47" name="Rechteck 46"/>
            <p:cNvSpPr/>
            <p:nvPr/>
          </p:nvSpPr>
          <p:spPr bwMode="auto">
            <a:xfrm>
              <a:off x="5536346" y="3141608"/>
              <a:ext cx="2064975" cy="1898461"/>
            </a:xfrm>
            <a:prstGeom prst="rect">
              <a:avLst/>
            </a:prstGeom>
            <a:noFill/>
            <a:ln w="12700">
              <a:solidFill>
                <a:srgbClr val="C00000"/>
              </a:solidFill>
              <a:prstDash val="dash"/>
              <a:round/>
              <a:headEnd/>
              <a:tailEnd/>
            </a:ln>
            <a:effectLst/>
          </p:spPr>
          <p:txBody>
            <a:bodyPr rtlCol="0" anchor="ctr"/>
            <a:lstStyle/>
            <a:p>
              <a:pPr algn="ctr"/>
              <a:endParaRPr lang="de-DE" sz="1400" dirty="0">
                <a:solidFill>
                  <a:srgbClr val="080808"/>
                </a:solidFill>
              </a:endParaRPr>
            </a:p>
          </p:txBody>
        </p:sp>
        <p:sp>
          <p:nvSpPr>
            <p:cNvPr id="50" name="Text Box 56"/>
            <p:cNvSpPr txBox="1">
              <a:spLocks noChangeArrowheads="1"/>
            </p:cNvSpPr>
            <p:nvPr/>
          </p:nvSpPr>
          <p:spPr bwMode="auto">
            <a:xfrm>
              <a:off x="4621433" y="1968678"/>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6.3</a:t>
              </a:r>
            </a:p>
          </p:txBody>
        </p:sp>
        <p:sp>
          <p:nvSpPr>
            <p:cNvPr id="52" name="Text Box 56"/>
            <p:cNvSpPr txBox="1">
              <a:spLocks noChangeArrowheads="1"/>
            </p:cNvSpPr>
            <p:nvPr/>
          </p:nvSpPr>
          <p:spPr bwMode="auto">
            <a:xfrm>
              <a:off x="4621954" y="5434872"/>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6.5</a:t>
              </a:r>
            </a:p>
          </p:txBody>
        </p:sp>
        <p:sp>
          <p:nvSpPr>
            <p:cNvPr id="54" name="Text Box 56"/>
            <p:cNvSpPr txBox="1">
              <a:spLocks noChangeArrowheads="1"/>
            </p:cNvSpPr>
            <p:nvPr/>
          </p:nvSpPr>
          <p:spPr bwMode="auto">
            <a:xfrm>
              <a:off x="6184048" y="3211408"/>
              <a:ext cx="647700" cy="173037"/>
            </a:xfrm>
            <a:prstGeom prst="rect">
              <a:avLst/>
            </a:prstGeom>
            <a:noFill/>
            <a:ln w="9525">
              <a:noFill/>
              <a:miter lim="800000"/>
              <a:headEnd/>
              <a:tailEnd/>
            </a:ln>
          </p:spPr>
          <p:txBody>
            <a:bodyPr lIns="0" tIns="0" rIns="0" bIns="0">
              <a:spAutoFit/>
            </a:bodyPr>
            <a:lstStyle/>
            <a:p>
              <a:pPr algn="ctr" fontAlgn="base">
                <a:lnSpc>
                  <a:spcPct val="80000"/>
                </a:lnSpc>
                <a:spcBef>
                  <a:spcPct val="50000"/>
                </a:spcBef>
                <a:spcAft>
                  <a:spcPct val="0"/>
                </a:spcAft>
                <a:defRPr/>
              </a:pPr>
              <a:r>
                <a:rPr lang="de-DE" sz="1400" b="1" dirty="0">
                  <a:solidFill>
                    <a:srgbClr val="080808"/>
                  </a:solidFill>
                  <a:cs typeface="Arial" pitchFamily="34" charset="0"/>
                </a:rPr>
                <a:t>6.6</a:t>
              </a:r>
            </a:p>
          </p:txBody>
        </p:sp>
      </p:grpSp>
      <p:sp>
        <p:nvSpPr>
          <p:cNvPr id="71" name="Inhaltsplatzhalter 4"/>
          <p:cNvSpPr txBox="1">
            <a:spLocks/>
          </p:cNvSpPr>
          <p:nvPr/>
        </p:nvSpPr>
        <p:spPr>
          <a:xfrm>
            <a:off x="4608000" y="1691861"/>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fontAlgn="auto" hangingPunct="1">
              <a:spcAft>
                <a:spcPts val="0"/>
              </a:spcAft>
              <a:defRPr/>
            </a:pPr>
            <a:r>
              <a:rPr lang="de-DE" sz="1600" dirty="0">
                <a:solidFill>
                  <a:srgbClr val="080808"/>
                </a:solidFill>
                <a:latin typeface="Verdana"/>
              </a:rPr>
              <a:t>P6.4 – </a:t>
            </a:r>
            <a:r>
              <a:rPr lang="en-GB" sz="1600" dirty="0">
                <a:solidFill>
                  <a:srgbClr val="080808"/>
                </a:solidFill>
                <a:latin typeface="Verdana"/>
              </a:rPr>
              <a:t>What is ensured?</a:t>
            </a:r>
          </a:p>
          <a:p>
            <a:pPr marL="0" indent="0" eaLnBrk="1" fontAlgn="auto" hangingPunct="1">
              <a:spcAft>
                <a:spcPts val="0"/>
              </a:spcAft>
              <a:defRPr/>
            </a:pPr>
            <a:endParaRPr lang="en-GB" sz="1600" b="0" dirty="0">
              <a:solidFill>
                <a:srgbClr val="080808"/>
              </a:solidFill>
              <a:latin typeface="Verdana"/>
            </a:endParaRPr>
          </a:p>
          <a:p>
            <a:pPr marL="285750" indent="-285750" eaLnBrk="1" fontAlgn="auto" hangingPunct="1">
              <a:buFont typeface="Arial" panose="020B0604020202020204" pitchFamily="34" charset="0"/>
              <a:buChar char="•"/>
              <a:defRPr/>
            </a:pPr>
            <a:r>
              <a:rPr lang="en-GB" sz="1600" b="0" dirty="0">
                <a:solidFill>
                  <a:srgbClr val="080808"/>
                </a:solidFill>
              </a:rPr>
              <a:t>The product-specific requirements from the customer be met with the </a:t>
            </a:r>
            <a:r>
              <a:rPr lang="en-GB" sz="1600" dirty="0">
                <a:solidFill>
                  <a:srgbClr val="080808"/>
                </a:solidFill>
              </a:rPr>
              <a:t>manufacturing equipment</a:t>
            </a:r>
          </a:p>
          <a:p>
            <a:pPr marL="285750" indent="-285750" eaLnBrk="1" fontAlgn="auto" hangingPunct="1">
              <a:buFont typeface="Arial" panose="020B0604020202020204" pitchFamily="34" charset="0"/>
              <a:buChar char="•"/>
              <a:defRPr/>
            </a:pPr>
            <a:r>
              <a:rPr lang="en-GB" sz="1600" b="0" dirty="0">
                <a:solidFill>
                  <a:srgbClr val="080808"/>
                </a:solidFill>
              </a:rPr>
              <a:t>The </a:t>
            </a:r>
            <a:r>
              <a:rPr lang="en-GB" sz="1600" dirty="0">
                <a:solidFill>
                  <a:srgbClr val="080808"/>
                </a:solidFill>
              </a:rPr>
              <a:t>maintenance</a:t>
            </a:r>
            <a:r>
              <a:rPr lang="en-GB" sz="1600" b="0" dirty="0">
                <a:solidFill>
                  <a:srgbClr val="080808"/>
                </a:solidFill>
              </a:rPr>
              <a:t> of the manufacturing equipment and tools is controlled </a:t>
            </a:r>
          </a:p>
          <a:p>
            <a:pPr marL="285750" indent="-285750" eaLnBrk="1" fontAlgn="auto" hangingPunct="1">
              <a:buFont typeface="Arial" panose="020B0604020202020204" pitchFamily="34" charset="0"/>
              <a:buChar char="•"/>
              <a:defRPr/>
            </a:pPr>
            <a:r>
              <a:rPr lang="en-GB" sz="1600" b="0" dirty="0">
                <a:solidFill>
                  <a:srgbClr val="080808"/>
                </a:solidFill>
              </a:rPr>
              <a:t>Test and measuring equipment/ facilities used are suitable</a:t>
            </a:r>
            <a:r>
              <a:rPr lang="en-GB" sz="1600" b="0" dirty="0">
                <a:solidFill>
                  <a:srgbClr val="080808"/>
                </a:solidFill>
                <a:latin typeface="Verdana"/>
              </a:rPr>
              <a:t>, </a:t>
            </a:r>
            <a:r>
              <a:rPr lang="en-GB" sz="1600" dirty="0">
                <a:solidFill>
                  <a:srgbClr val="080808"/>
                </a:solidFill>
                <a:latin typeface="Verdana"/>
              </a:rPr>
              <a:t>effective </a:t>
            </a:r>
            <a:r>
              <a:rPr lang="en-GB" sz="1600" b="0" dirty="0">
                <a:solidFill>
                  <a:srgbClr val="080808"/>
                </a:solidFill>
                <a:latin typeface="Verdana"/>
              </a:rPr>
              <a:t>and monitored</a:t>
            </a:r>
          </a:p>
          <a:p>
            <a:pPr marL="285750" indent="-285750" eaLnBrk="1" fontAlgn="auto" hangingPunct="1">
              <a:buFont typeface="Arial" panose="020B0604020202020204" pitchFamily="34" charset="0"/>
              <a:buChar char="•"/>
              <a:defRPr/>
            </a:pPr>
            <a:r>
              <a:rPr lang="en-GB" sz="1600" dirty="0">
                <a:solidFill>
                  <a:srgbClr val="080808"/>
                </a:solidFill>
                <a:latin typeface="Verdana"/>
              </a:rPr>
              <a:t>Work and inspection stations </a:t>
            </a:r>
            <a:r>
              <a:rPr lang="en-GB" sz="1600" b="0" dirty="0">
                <a:solidFill>
                  <a:srgbClr val="080808"/>
                </a:solidFill>
              </a:rPr>
              <a:t>are appropriate for the products and the work carried out, in order to prevent or eliminate contamination, damage, mixing-up of parts </a:t>
            </a:r>
          </a:p>
          <a:p>
            <a:pPr marL="285750" indent="-285750" eaLnBrk="1" fontAlgn="auto" hangingPunct="1">
              <a:buFont typeface="Arial" panose="020B0604020202020204" pitchFamily="34" charset="0"/>
              <a:buChar char="•"/>
              <a:defRPr/>
            </a:pPr>
            <a:r>
              <a:rPr lang="en-GB" sz="1600" b="0" dirty="0">
                <a:solidFill>
                  <a:srgbClr val="080808"/>
                </a:solidFill>
              </a:rPr>
              <a:t>Tools, equipment and test equipment are </a:t>
            </a:r>
            <a:r>
              <a:rPr lang="en-GB" sz="1600" dirty="0">
                <a:solidFill>
                  <a:srgbClr val="080808"/>
                </a:solidFill>
              </a:rPr>
              <a:t>stored properly</a:t>
            </a:r>
          </a:p>
        </p:txBody>
      </p:sp>
      <p:pic>
        <p:nvPicPr>
          <p:cNvPr id="4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75" y="1592580"/>
            <a:ext cx="4111677" cy="4831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hteck 3"/>
          <p:cNvSpPr/>
          <p:nvPr/>
        </p:nvSpPr>
        <p:spPr>
          <a:xfrm>
            <a:off x="1505798" y="5499522"/>
            <a:ext cx="1766830" cy="276999"/>
          </a:xfrm>
          <a:prstGeom prst="rect">
            <a:avLst/>
          </a:prstGeom>
          <a:solidFill>
            <a:schemeClr val="bg1">
              <a:lumMod val="75000"/>
            </a:schemeClr>
          </a:solidFill>
        </p:spPr>
        <p:txBody>
          <a:bodyPr wrap="none">
            <a:spAutoFit/>
          </a:bodyPr>
          <a:lstStyle/>
          <a:p>
            <a:pPr lvl="0" algn="ctr" eaLnBrk="0" fontAlgn="base" hangingPunct="0">
              <a:spcAft>
                <a:spcPts val="1200"/>
              </a:spcAft>
              <a:defRPr/>
            </a:pPr>
            <a:r>
              <a:rPr lang="en-GB" sz="1200" b="1" dirty="0">
                <a:solidFill>
                  <a:srgbClr val="080808"/>
                </a:solidFill>
                <a:cs typeface="Arial" pitchFamily="34" charset="0"/>
              </a:rPr>
              <a:t>Process Operation</a:t>
            </a:r>
            <a:endParaRPr lang="en-GB" sz="1200" dirty="0">
              <a:solidFill>
                <a:srgbClr val="080808"/>
              </a:solidFill>
              <a:ea typeface="Verdana" pitchFamily="34" charset="0"/>
              <a:cs typeface="Verdana" pitchFamily="34" charset="0"/>
            </a:endParaRPr>
          </a:p>
        </p:txBody>
      </p:sp>
    </p:spTree>
    <p:extLst>
      <p:ext uri="{BB962C8B-B14F-4D97-AF65-F5344CB8AC3E}">
        <p14:creationId xmlns:p14="http://schemas.microsoft.com/office/powerpoint/2010/main" val="1048399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BBFFE-42BF-75F6-7994-218C585E2AC1}"/>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9A3E748D-8182-C2CD-CFFD-918195B3A7BB}"/>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6.4.1* Is the manufacturing equipment suitable to meet the customer’s product-specific requirements?</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It is demonstrated that the processes are implemented in accordance with the customer requirements using the existing production facilities, and that the resulting products meet the customer specifications.</a:t>
            </a:r>
            <a:br>
              <a:rPr lang="en-US" sz="1400" b="0" dirty="0">
                <a:latin typeface="Arial Narrow" panose="020B0606020202030204" pitchFamily="34" charset="0"/>
              </a:rPr>
            </a:br>
            <a:r>
              <a:rPr lang="en-US" sz="1400" b="0" dirty="0">
                <a:latin typeface="Arial Narrow" panose="020B0606020202030204" pitchFamily="34" charset="0"/>
              </a:rPr>
              <a:t>The production facilities, machines and production lines are able to comply with the specified tolerances for the respective product and process characteristics.</a:t>
            </a:r>
            <a:br>
              <a:rPr lang="en-US" sz="1400" b="0" dirty="0">
                <a:latin typeface="Arial Narrow" panose="020B0606020202030204" pitchFamily="34" charset="0"/>
              </a:rPr>
            </a:br>
            <a:r>
              <a:rPr lang="en-US" sz="1400" b="0" dirty="0">
                <a:latin typeface="Arial Narrow" panose="020B0606020202030204" pitchFamily="34" charset="0"/>
              </a:rPr>
              <a:t>Parameters and software that influence the process are protected against unauthorized access.</a:t>
            </a:r>
            <a:br>
              <a:rPr lang="en-US" sz="1400" b="0" dirty="0">
                <a:latin typeface="Arial Narrow" panose="020B0606020202030204" pitchFamily="34" charset="0"/>
              </a:rPr>
            </a:br>
            <a:r>
              <a:rPr lang="en-US" sz="1400" b="0" dirty="0">
                <a:latin typeface="Arial Narrow" panose="020B0606020202030204" pitchFamily="34" charset="0"/>
              </a:rPr>
              <a:t>Process capability must be determined for selected product and process characteristics, and proof of capability must be provided.</a:t>
            </a:r>
            <a:br>
              <a:rPr lang="en-US" sz="1400" b="0" dirty="0">
                <a:latin typeface="Arial Narrow" panose="020B0606020202030204" pitchFamily="34" charset="0"/>
              </a:rPr>
            </a:br>
            <a:r>
              <a:rPr lang="en-US" sz="1400" b="0" dirty="0">
                <a:latin typeface="Arial Narrow" panose="020B0606020202030204" pitchFamily="34" charset="0"/>
              </a:rPr>
              <a:t>The process capability must meet internal specifications as well as customer specifications. The minimum requirement for process capability is </a:t>
            </a:r>
            <a:r>
              <a:rPr lang="en-US" sz="1400" b="0" dirty="0" err="1">
                <a:latin typeface="Arial Narrow" panose="020B0606020202030204" pitchFamily="34" charset="0"/>
              </a:rPr>
              <a:t>Cpk</a:t>
            </a:r>
            <a:r>
              <a:rPr lang="en-US" sz="1400" b="0" dirty="0">
                <a:latin typeface="Arial Narrow" panose="020B0606020202030204" pitchFamily="34" charset="0"/>
              </a:rPr>
              <a:t> ≥ 1.33. In case of characteristics where a certain capability is required but proof of capability cannot be obtained, a 100% inspection is required.</a:t>
            </a:r>
          </a:p>
        </p:txBody>
      </p:sp>
      <p:sp>
        <p:nvSpPr>
          <p:cNvPr id="4" name="Inhaltsplatzhalter 4">
            <a:extLst>
              <a:ext uri="{FF2B5EF4-FFF2-40B4-BE49-F238E27FC236}">
                <a16:creationId xmlns:a16="http://schemas.microsoft.com/office/drawing/2014/main" id="{5F8DDB98-14EE-A7F9-CC7A-C90260E8E828}"/>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Proof of machine/process capability</a:t>
            </a:r>
          </a:p>
          <a:p>
            <a:pPr>
              <a:buFont typeface="Arial" panose="020B0604020202020204" pitchFamily="34" charset="0"/>
              <a:buChar char="•"/>
            </a:pPr>
            <a:r>
              <a:rPr lang="en-US" sz="1400" b="0" dirty="0">
                <a:latin typeface="Arial Narrow" panose="020B0606020202030204" pitchFamily="34" charset="0"/>
              </a:rPr>
              <a:t>Monitoring of key process parameters (e.g. pressure, time, temperature)</a:t>
            </a:r>
          </a:p>
          <a:p>
            <a:pPr>
              <a:buFont typeface="Arial" panose="020B0604020202020204" pitchFamily="34" charset="0"/>
              <a:buChar char="•"/>
            </a:pPr>
            <a:r>
              <a:rPr lang="en-US" sz="1400" b="0" dirty="0">
                <a:latin typeface="Arial Narrow" panose="020B0606020202030204" pitchFamily="34" charset="0"/>
              </a:rPr>
              <a:t>Capability of replacement tools</a:t>
            </a:r>
          </a:p>
          <a:p>
            <a:pPr>
              <a:buFont typeface="Arial" panose="020B0604020202020204" pitchFamily="34" charset="0"/>
              <a:buChar char="•"/>
            </a:pPr>
            <a:r>
              <a:rPr lang="en-US" sz="1400" b="0" dirty="0">
                <a:latin typeface="Arial Narrow" panose="020B0606020202030204" pitchFamily="34" charset="0"/>
              </a:rPr>
              <a:t>Feed and removal systems</a:t>
            </a:r>
          </a:p>
          <a:p>
            <a:pPr>
              <a:buFont typeface="Arial" panose="020B0604020202020204" pitchFamily="34" charset="0"/>
              <a:buChar char="•"/>
            </a:pPr>
            <a:r>
              <a:rPr lang="en-US" sz="1400" b="0" dirty="0">
                <a:latin typeface="Arial Narrow" panose="020B0606020202030204" pitchFamily="34" charset="0"/>
              </a:rPr>
              <a:t>Reproducibility of gages, fixtures etc.</a:t>
            </a:r>
          </a:p>
          <a:p>
            <a:pPr>
              <a:buFont typeface="Arial" panose="020B0604020202020204" pitchFamily="34" charset="0"/>
              <a:buChar char="•"/>
            </a:pPr>
            <a:r>
              <a:rPr lang="en-US" sz="1400" b="0" dirty="0">
                <a:latin typeface="Arial Narrow" panose="020B0606020202030204" pitchFamily="34" charset="0"/>
              </a:rPr>
              <a:t>Cleanliness requirements</a:t>
            </a:r>
          </a:p>
          <a:p>
            <a:pPr>
              <a:buFont typeface="Arial" panose="020B0604020202020204" pitchFamily="34" charset="0"/>
              <a:buChar char="•"/>
            </a:pPr>
            <a:r>
              <a:rPr lang="en-US" sz="1400" b="0" dirty="0">
                <a:latin typeface="Arial Narrow" panose="020B0606020202030204" pitchFamily="34" charset="0"/>
              </a:rPr>
              <a:t>Configuration management, ensuring provision of software in accordance with the unique identifier, software integrity (build number, hash key)</a:t>
            </a:r>
          </a:p>
        </p:txBody>
      </p:sp>
    </p:spTree>
    <p:extLst>
      <p:ext uri="{BB962C8B-B14F-4D97-AF65-F5344CB8AC3E}">
        <p14:creationId xmlns:p14="http://schemas.microsoft.com/office/powerpoint/2010/main" val="3674545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D7FAB-2DF7-CDB9-D762-666B8C41C3CE}"/>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2E83ECB9-7013-B76A-6208-5D20AE9C5D76}"/>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6.4.2 Is the maintenance of the manufacturing equipment and tools controlled?</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Preventive and/or predictive maintenance activities (maintenance, inspection and repair) are defined and implemented for all machines, production lines, equipment and tools based on the risk.</a:t>
            </a:r>
            <a:br>
              <a:rPr lang="en-US" sz="1400" b="0" dirty="0">
                <a:latin typeface="Arial Narrow" panose="020B0606020202030204" pitchFamily="34" charset="0"/>
              </a:rPr>
            </a:br>
            <a:r>
              <a:rPr lang="en-US" sz="1400" b="0" dirty="0">
                <a:latin typeface="Arial Narrow" panose="020B0606020202030204" pitchFamily="34" charset="0"/>
              </a:rPr>
              <a:t>Scheduled and unscheduled maintenance activities that have been carried out are documented and analyzed with regard to potential improvement measures.</a:t>
            </a:r>
            <a:br>
              <a:rPr lang="en-US" sz="1400" b="0" dirty="0">
                <a:latin typeface="Arial Narrow" panose="020B0606020202030204" pitchFamily="34" charset="0"/>
              </a:rPr>
            </a:br>
            <a:r>
              <a:rPr lang="en-US" sz="1400" b="0" dirty="0">
                <a:latin typeface="Arial Narrow" panose="020B0606020202030204" pitchFamily="34" charset="0"/>
              </a:rPr>
              <a:t>Resources needed to carry out necessary maintenance activities are available.</a:t>
            </a:r>
            <a:br>
              <a:rPr lang="en-US" sz="1400" b="0" dirty="0">
                <a:latin typeface="Arial Narrow" panose="020B0606020202030204" pitchFamily="34" charset="0"/>
              </a:rPr>
            </a:br>
            <a:r>
              <a:rPr lang="en-US" sz="1400" b="0" dirty="0">
                <a:latin typeface="Arial Narrow" panose="020B0606020202030204" pitchFamily="34" charset="0"/>
              </a:rPr>
              <a:t>A process for the analysis and optimization of down-time, machine utilization and tool life is implemented effectively.</a:t>
            </a:r>
            <a:br>
              <a:rPr lang="en-US" sz="1400" b="0" dirty="0">
                <a:latin typeface="Arial Narrow" panose="020B0606020202030204" pitchFamily="34" charset="0"/>
              </a:rPr>
            </a:br>
            <a:r>
              <a:rPr lang="en-US" sz="1400" b="0" dirty="0">
                <a:latin typeface="Arial Narrow" panose="020B0606020202030204" pitchFamily="34" charset="0"/>
              </a:rPr>
              <a:t>The availability of replacement parts is ensured.</a:t>
            </a:r>
            <a:br>
              <a:rPr lang="en-US" sz="1400" b="0" dirty="0">
                <a:latin typeface="Arial Narrow" panose="020B0606020202030204" pitchFamily="34" charset="0"/>
              </a:rPr>
            </a:br>
            <a:r>
              <a:rPr lang="en-US" sz="1400" b="0" dirty="0">
                <a:latin typeface="Arial Narrow" panose="020B0606020202030204" pitchFamily="34" charset="0"/>
              </a:rPr>
              <a:t>Tools undergo tool management which includes the </a:t>
            </a:r>
            <a:r>
              <a:rPr lang="en-US" sz="1400" b="0" dirty="0" err="1">
                <a:latin typeface="Arial Narrow" panose="020B0606020202030204" pitchFamily="34" charset="0"/>
              </a:rPr>
              <a:t>following:Tool</a:t>
            </a:r>
            <a:r>
              <a:rPr lang="en-US" sz="1400" b="0" dirty="0">
                <a:latin typeface="Arial Narrow" panose="020B0606020202030204" pitchFamily="34" charset="0"/>
              </a:rPr>
              <a:t> history including all changes and tool life</a:t>
            </a:r>
          </a:p>
          <a:p>
            <a:r>
              <a:rPr lang="en-US" sz="1400" b="0" dirty="0">
                <a:latin typeface="Arial Narrow" panose="020B0606020202030204" pitchFamily="34" charset="0"/>
              </a:rPr>
              <a:t>-      Operational status</a:t>
            </a:r>
          </a:p>
          <a:p>
            <a:pPr>
              <a:buFontTx/>
              <a:buChar char="-"/>
            </a:pPr>
            <a:r>
              <a:rPr lang="en-US" sz="1400" b="0" dirty="0">
                <a:latin typeface="Arial Narrow" panose="020B0606020202030204" pitchFamily="34" charset="0"/>
              </a:rPr>
              <a:t>Labeling of tools</a:t>
            </a:r>
          </a:p>
          <a:p>
            <a:pPr>
              <a:buFontTx/>
              <a:buChar char="-"/>
            </a:pPr>
            <a:r>
              <a:rPr lang="en-US" sz="1400" b="0" dirty="0">
                <a:latin typeface="Arial Narrow" panose="020B0606020202030204" pitchFamily="34" charset="0"/>
              </a:rPr>
              <a:t>These requirements also apply to external service providers</a:t>
            </a:r>
          </a:p>
        </p:txBody>
      </p:sp>
      <p:sp>
        <p:nvSpPr>
          <p:cNvPr id="4" name="Inhaltsplatzhalter 4">
            <a:extLst>
              <a:ext uri="{FF2B5EF4-FFF2-40B4-BE49-F238E27FC236}">
                <a16:creationId xmlns:a16="http://schemas.microsoft.com/office/drawing/2014/main" id="{28FC89A1-69C1-BCCD-B320-1821D78F18B9}"/>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Production-related logistical equipment, such as forklift trucks</a:t>
            </a:r>
          </a:p>
          <a:p>
            <a:pPr>
              <a:buFont typeface="Arial" panose="020B0604020202020204" pitchFamily="34" charset="0"/>
              <a:buChar char="•"/>
            </a:pPr>
            <a:r>
              <a:rPr lang="en-US" sz="1400" b="0" dirty="0">
                <a:latin typeface="Arial Narrow" panose="020B0606020202030204" pitchFamily="34" charset="0"/>
              </a:rPr>
              <a:t>Maintenance and servicing schedules</a:t>
            </a:r>
          </a:p>
          <a:p>
            <a:pPr>
              <a:buFont typeface="Arial" panose="020B0604020202020204" pitchFamily="34" charset="0"/>
              <a:buChar char="•"/>
            </a:pPr>
            <a:r>
              <a:rPr lang="en-US" sz="1400" b="0" dirty="0">
                <a:latin typeface="Arial Narrow" panose="020B0606020202030204" pitchFamily="34" charset="0"/>
              </a:rPr>
              <a:t>TPM Total Productive Maintenance</a:t>
            </a:r>
          </a:p>
          <a:p>
            <a:pPr>
              <a:buFont typeface="Arial" panose="020B0604020202020204" pitchFamily="34" charset="0"/>
              <a:buChar char="•"/>
            </a:pPr>
            <a:r>
              <a:rPr lang="en-US" sz="1400" b="0" dirty="0">
                <a:latin typeface="Arial Narrow" panose="020B0606020202030204" pitchFamily="34" charset="0"/>
              </a:rPr>
              <a:t>Key processes and bottleneck machines</a:t>
            </a:r>
          </a:p>
          <a:p>
            <a:pPr>
              <a:buFont typeface="Arial" panose="020B0604020202020204" pitchFamily="34" charset="0"/>
              <a:buChar char="•"/>
            </a:pPr>
            <a:r>
              <a:rPr lang="en-US" sz="1400" b="0" dirty="0">
                <a:latin typeface="Arial Narrow" panose="020B0606020202030204" pitchFamily="34" charset="0"/>
              </a:rPr>
              <a:t>Technical documentation provided by the manufacturer</a:t>
            </a:r>
          </a:p>
          <a:p>
            <a:pPr>
              <a:buFont typeface="Arial" panose="020B0604020202020204" pitchFamily="34" charset="0"/>
              <a:buChar char="•"/>
            </a:pPr>
            <a:r>
              <a:rPr lang="en-US" sz="1400" b="0" dirty="0">
                <a:latin typeface="Arial Narrow" panose="020B0606020202030204" pitchFamily="34" charset="0"/>
              </a:rPr>
              <a:t>preventative tool exchange programs for units subject to increased wear</a:t>
            </a:r>
          </a:p>
          <a:p>
            <a:pPr>
              <a:buFont typeface="Arial" panose="020B0604020202020204" pitchFamily="34" charset="0"/>
              <a:buChar char="•"/>
            </a:pPr>
            <a:r>
              <a:rPr lang="en-US" sz="1400" b="0" dirty="0">
                <a:latin typeface="Arial Narrow" panose="020B0606020202030204" pitchFamily="34" charset="0"/>
              </a:rPr>
              <a:t>Tool operation sheet</a:t>
            </a:r>
          </a:p>
          <a:p>
            <a:pPr>
              <a:buFont typeface="Arial" panose="020B0604020202020204" pitchFamily="34" charset="0"/>
              <a:buChar char="•"/>
            </a:pPr>
            <a:r>
              <a:rPr lang="en-US" sz="1400" b="0" dirty="0">
                <a:latin typeface="Arial Narrow" panose="020B0606020202030204" pitchFamily="34" charset="0"/>
              </a:rPr>
              <a:t>Operational status of tools, e.g. operational, not operational</a:t>
            </a:r>
          </a:p>
          <a:p>
            <a:pPr>
              <a:buFont typeface="Arial" panose="020B0604020202020204" pitchFamily="34" charset="0"/>
              <a:buChar char="•"/>
            </a:pPr>
            <a:r>
              <a:rPr lang="en-US" sz="1400" b="0" dirty="0">
                <a:latin typeface="Arial Narrow" panose="020B0606020202030204" pitchFamily="34" charset="0"/>
              </a:rPr>
              <a:t>Labeling of tools, e.g. property of the customer, tool no., index</a:t>
            </a:r>
          </a:p>
        </p:txBody>
      </p:sp>
    </p:spTree>
    <p:extLst>
      <p:ext uri="{BB962C8B-B14F-4D97-AF65-F5344CB8AC3E}">
        <p14:creationId xmlns:p14="http://schemas.microsoft.com/office/powerpoint/2010/main" val="200279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60F0D-576B-765B-0211-EBC98D7D10D3}"/>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3B08C294-3883-F26B-EB33-C327F4A639CE}"/>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6.4.3* Can the conformity of quality requirements be effectively monitored by the use of measurement and inspection equipment?</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The measuring and inspection systems used are suitable for the intended purpose and handling in production. They are included in the production control plan.</a:t>
            </a:r>
            <a:br>
              <a:rPr lang="en-US" sz="1400" b="0" dirty="0">
                <a:latin typeface="Arial Narrow" panose="020B0606020202030204" pitchFamily="34" charset="0"/>
              </a:rPr>
            </a:br>
            <a:r>
              <a:rPr lang="en-US" sz="1400" b="0" dirty="0">
                <a:latin typeface="Arial Narrow" panose="020B0606020202030204" pitchFamily="34" charset="0"/>
              </a:rPr>
              <a:t>Proofs of capability are available for the measuring and inspection systems used.</a:t>
            </a:r>
            <a:br>
              <a:rPr lang="en-US" sz="1400" b="0" dirty="0">
                <a:latin typeface="Arial Narrow" panose="020B0606020202030204" pitchFamily="34" charset="0"/>
              </a:rPr>
            </a:br>
            <a:r>
              <a:rPr lang="en-US" sz="1400" b="0" dirty="0">
                <a:latin typeface="Arial Narrow" panose="020B0606020202030204" pitchFamily="34" charset="0"/>
              </a:rPr>
              <a:t>All systems and devices used in the inspection process are labeled. The validity status is monitored. A process for monitoring the ongoing capability of measuring and inspection systems is established and implemented.</a:t>
            </a:r>
            <a:br>
              <a:rPr lang="en-US" sz="1400" b="0" dirty="0">
                <a:latin typeface="Arial Narrow" panose="020B0606020202030204" pitchFamily="34" charset="0"/>
              </a:rPr>
            </a:br>
            <a:r>
              <a:rPr lang="en-US" sz="1400" b="0" dirty="0">
                <a:latin typeface="Arial Narrow" panose="020B0606020202030204" pitchFamily="34" charset="0"/>
              </a:rPr>
              <a:t>In case of deviations, an assessment of potential risks in relation to the process, the product and the customer is carried out. Measures have been defined and are implemented effectively.</a:t>
            </a:r>
            <a:br>
              <a:rPr lang="en-US" sz="1400" b="0" dirty="0">
                <a:latin typeface="Arial Narrow" panose="020B0606020202030204" pitchFamily="34" charset="0"/>
              </a:rPr>
            </a:br>
            <a:r>
              <a:rPr lang="en-US" sz="1400" b="0" dirty="0">
                <a:latin typeface="Arial Narrow" panose="020B0606020202030204" pitchFamily="34" charset="0"/>
              </a:rPr>
              <a:t>Measuring systems and corresponding standards as well as reference materials that have an influence on the measurement result are monitored in the same way.</a:t>
            </a:r>
          </a:p>
        </p:txBody>
      </p:sp>
      <p:sp>
        <p:nvSpPr>
          <p:cNvPr id="4" name="Inhaltsplatzhalter 4">
            <a:extLst>
              <a:ext uri="{FF2B5EF4-FFF2-40B4-BE49-F238E27FC236}">
                <a16:creationId xmlns:a16="http://schemas.microsoft.com/office/drawing/2014/main" id="{DB13EE99-D296-7815-EC4F-F41A9326C607}"/>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Measuring system analysis</a:t>
            </a:r>
          </a:p>
          <a:p>
            <a:pPr>
              <a:buFont typeface="Arial" panose="020B0604020202020204" pitchFamily="34" charset="0"/>
              <a:buChar char="•"/>
            </a:pPr>
            <a:r>
              <a:rPr lang="en-US" sz="1400" b="0" dirty="0">
                <a:latin typeface="Arial Narrow" panose="020B0606020202030204" pitchFamily="34" charset="0"/>
              </a:rPr>
              <a:t>Measurement and inspection process capability</a:t>
            </a:r>
          </a:p>
          <a:p>
            <a:pPr>
              <a:buFont typeface="Arial" panose="020B0604020202020204" pitchFamily="34" charset="0"/>
              <a:buChar char="•"/>
            </a:pPr>
            <a:r>
              <a:rPr lang="en-US" sz="1400" b="0" dirty="0">
                <a:latin typeface="Arial Narrow" panose="020B0606020202030204" pitchFamily="34" charset="0"/>
              </a:rPr>
              <a:t>Replacement measuring device</a:t>
            </a:r>
          </a:p>
          <a:p>
            <a:pPr>
              <a:buFont typeface="Arial" panose="020B0604020202020204" pitchFamily="34" charset="0"/>
              <a:buChar char="•"/>
            </a:pPr>
            <a:r>
              <a:rPr lang="en-US" sz="1400" b="0" dirty="0">
                <a:latin typeface="Arial Narrow" panose="020B0606020202030204" pitchFamily="34" charset="0"/>
              </a:rPr>
              <a:t>Integrity check embedded software</a:t>
            </a:r>
          </a:p>
          <a:p>
            <a:pPr>
              <a:buFont typeface="Arial" panose="020B0604020202020204" pitchFamily="34" charset="0"/>
              <a:buChar char="•"/>
            </a:pPr>
            <a:r>
              <a:rPr lang="en-US" sz="1400" b="0" dirty="0">
                <a:latin typeface="Arial Narrow" panose="020B0606020202030204" pitchFamily="34" charset="0"/>
              </a:rPr>
              <a:t>Calibration status (inspection sticker, barcode, engraving, etc.)</a:t>
            </a:r>
          </a:p>
          <a:p>
            <a:pPr>
              <a:buFont typeface="Arial" panose="020B0604020202020204" pitchFamily="34" charset="0"/>
              <a:buChar char="•"/>
            </a:pPr>
            <a:r>
              <a:rPr lang="en-US" sz="1400" b="0" dirty="0">
                <a:latin typeface="Arial Narrow" panose="020B0606020202030204" pitchFamily="34" charset="0"/>
              </a:rPr>
              <a:t>Validation of the measurement and inspection software</a:t>
            </a:r>
          </a:p>
          <a:p>
            <a:pPr>
              <a:buFont typeface="Arial" panose="020B0604020202020204" pitchFamily="34" charset="0"/>
              <a:buChar char="•"/>
            </a:pPr>
            <a:r>
              <a:rPr lang="en-US" sz="1400" b="0" dirty="0">
                <a:latin typeface="Arial Narrow" panose="020B0606020202030204" pitchFamily="34" charset="0"/>
              </a:rPr>
              <a:t>Reference parts and materials</a:t>
            </a:r>
          </a:p>
          <a:p>
            <a:pPr>
              <a:buFont typeface="Arial" panose="020B0604020202020204" pitchFamily="34" charset="0"/>
              <a:buChar char="•"/>
            </a:pPr>
            <a:r>
              <a:rPr lang="en-US" sz="1400" b="0" dirty="0">
                <a:latin typeface="Arial Narrow" panose="020B0606020202030204" pitchFamily="34" charset="0"/>
              </a:rPr>
              <a:t>Monitoring test equipment</a:t>
            </a:r>
          </a:p>
        </p:txBody>
      </p:sp>
    </p:spTree>
    <p:extLst>
      <p:ext uri="{BB962C8B-B14F-4D97-AF65-F5344CB8AC3E}">
        <p14:creationId xmlns:p14="http://schemas.microsoft.com/office/powerpoint/2010/main" val="2506912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A481B-57AC-584F-808B-13E470CA4AED}"/>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01154908-6BE3-1B40-DD94-4FD0903DF681}"/>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6.4.4 Do the work and inspection stations fulfill the requirements?</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Workplace and ambient conditions are appropriate for the products and the work content, in order to prevent or eliminate contamination, damage, mix-ups of parts and the use of wrong parts.</a:t>
            </a:r>
            <a:br>
              <a:rPr lang="en-US" sz="1400" b="0" dirty="0">
                <a:latin typeface="Arial Narrow" panose="020B0606020202030204" pitchFamily="34" charset="0"/>
              </a:rPr>
            </a:br>
            <a:r>
              <a:rPr lang="en-US" sz="1400" b="0" dirty="0">
                <a:latin typeface="Arial Narrow" panose="020B0606020202030204" pitchFamily="34" charset="0"/>
              </a:rPr>
              <a:t>This also applies to rework, sorting and inspection stations that have been permanently or temporarily set up.</a:t>
            </a:r>
            <a:br>
              <a:rPr lang="en-US" sz="1400" b="0" dirty="0">
                <a:latin typeface="Arial Narrow" panose="020B0606020202030204" pitchFamily="34" charset="0"/>
              </a:rPr>
            </a:br>
            <a:r>
              <a:rPr lang="en-US" sz="1400" b="0" dirty="0">
                <a:latin typeface="Arial Narrow" panose="020B0606020202030204" pitchFamily="34" charset="0"/>
              </a:rPr>
              <a:t>The layout of the work station is adapted to the work to be carried out</a:t>
            </a:r>
          </a:p>
          <a:p>
            <a:r>
              <a:rPr lang="en-US" sz="1400" b="0" dirty="0">
                <a:latin typeface="Arial Narrow" panose="020B0606020202030204" pitchFamily="34" charset="0"/>
              </a:rPr>
              <a:t>.</a:t>
            </a:r>
          </a:p>
        </p:txBody>
      </p:sp>
      <p:sp>
        <p:nvSpPr>
          <p:cNvPr id="4" name="Inhaltsplatzhalter 4">
            <a:extLst>
              <a:ext uri="{FF2B5EF4-FFF2-40B4-BE49-F238E27FC236}">
                <a16:creationId xmlns:a16="http://schemas.microsoft.com/office/drawing/2014/main" id="{0070A0C5-6F66-5270-2DF6-9016EE3B948C}"/>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Cleanliness and tidiness, 5S</a:t>
            </a:r>
          </a:p>
          <a:p>
            <a:pPr>
              <a:buFont typeface="Arial" panose="020B0604020202020204" pitchFamily="34" charset="0"/>
              <a:buChar char="•"/>
            </a:pPr>
            <a:r>
              <a:rPr lang="en-US" sz="1400" b="0" dirty="0">
                <a:latin typeface="Arial Narrow" panose="020B0606020202030204" pitchFamily="34" charset="0"/>
              </a:rPr>
              <a:t>Lighting</a:t>
            </a:r>
          </a:p>
          <a:p>
            <a:pPr>
              <a:buFont typeface="Arial" panose="020B0604020202020204" pitchFamily="34" charset="0"/>
              <a:buChar char="•"/>
            </a:pPr>
            <a:r>
              <a:rPr lang="en-US" sz="1400" b="0" dirty="0">
                <a:latin typeface="Arial Narrow" panose="020B0606020202030204" pitchFamily="34" charset="0"/>
              </a:rPr>
              <a:t>Noise pollution</a:t>
            </a:r>
          </a:p>
          <a:p>
            <a:pPr>
              <a:buFont typeface="Arial" panose="020B0604020202020204" pitchFamily="34" charset="0"/>
              <a:buChar char="•"/>
            </a:pPr>
            <a:r>
              <a:rPr lang="en-US" sz="1400" b="0" dirty="0">
                <a:latin typeface="Arial Narrow" panose="020B0606020202030204" pitchFamily="34" charset="0"/>
              </a:rPr>
              <a:t>Climate control</a:t>
            </a:r>
          </a:p>
          <a:p>
            <a:pPr>
              <a:buFont typeface="Arial" panose="020B0604020202020204" pitchFamily="34" charset="0"/>
              <a:buChar char="•"/>
            </a:pPr>
            <a:r>
              <a:rPr lang="en-US" sz="1400" b="0" dirty="0">
                <a:latin typeface="Arial Narrow" panose="020B0606020202030204" pitchFamily="34" charset="0"/>
              </a:rPr>
              <a:t>Clean rooms</a:t>
            </a:r>
          </a:p>
          <a:p>
            <a:pPr>
              <a:buFont typeface="Arial" panose="020B0604020202020204" pitchFamily="34" charset="0"/>
              <a:buChar char="•"/>
            </a:pPr>
            <a:r>
              <a:rPr lang="en-US" sz="1400" b="0" dirty="0">
                <a:latin typeface="Arial Narrow" panose="020B0606020202030204" pitchFamily="34" charset="0"/>
              </a:rPr>
              <a:t>ESD</a:t>
            </a:r>
          </a:p>
          <a:p>
            <a:pPr>
              <a:buFont typeface="Arial" panose="020B0604020202020204" pitchFamily="34" charset="0"/>
              <a:buChar char="•"/>
            </a:pPr>
            <a:r>
              <a:rPr lang="en-US" sz="1400" b="0" dirty="0">
                <a:latin typeface="Arial Narrow" panose="020B0606020202030204" pitchFamily="34" charset="0"/>
              </a:rPr>
              <a:t>Layout of the work station</a:t>
            </a:r>
          </a:p>
          <a:p>
            <a:pPr>
              <a:buFont typeface="Arial" panose="020B0604020202020204" pitchFamily="34" charset="0"/>
              <a:buChar char="•"/>
            </a:pPr>
            <a:r>
              <a:rPr lang="en-US" sz="1400" b="0" dirty="0">
                <a:latin typeface="Arial Narrow" panose="020B0606020202030204" pitchFamily="34" charset="0"/>
              </a:rPr>
              <a:t>Surroundings/handling of parts at the work station</a:t>
            </a:r>
          </a:p>
          <a:p>
            <a:pPr>
              <a:buFont typeface="Arial" panose="020B0604020202020204" pitchFamily="34" charset="0"/>
              <a:buChar char="•"/>
            </a:pPr>
            <a:r>
              <a:rPr lang="en-US" sz="1400" b="0" dirty="0">
                <a:latin typeface="Arial Narrow" panose="020B0606020202030204" pitchFamily="34" charset="0"/>
              </a:rPr>
              <a:t>Occupational health and safety</a:t>
            </a:r>
          </a:p>
        </p:txBody>
      </p:sp>
    </p:spTree>
    <p:extLst>
      <p:ext uri="{BB962C8B-B14F-4D97-AF65-F5344CB8AC3E}">
        <p14:creationId xmlns:p14="http://schemas.microsoft.com/office/powerpoint/2010/main" val="3999640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9C40F-003C-021B-7AF2-B366B58172D0}"/>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1206F3D2-7B88-37DC-4EA4-4A8D2DF8FDBA}"/>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6.4.5 Are tools, devices and inspection equipment stored properly?</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All tools, devices and inspection equipment are stored properly.</a:t>
            </a:r>
            <a:br>
              <a:rPr lang="en-US" sz="1400" b="0" dirty="0">
                <a:latin typeface="Arial Narrow" panose="020B0606020202030204" pitchFamily="34" charset="0"/>
              </a:rPr>
            </a:br>
            <a:r>
              <a:rPr lang="en-US" sz="1400" b="0" dirty="0">
                <a:latin typeface="Arial Narrow" panose="020B0606020202030204" pitchFamily="34" charset="0"/>
              </a:rPr>
              <a:t>It is ensured that the equipment is stored in such a way as to be protected against damage and environmental effects.</a:t>
            </a:r>
            <a:br>
              <a:rPr lang="en-US" sz="1400" b="0" dirty="0">
                <a:latin typeface="Arial Narrow" panose="020B0606020202030204" pitchFamily="34" charset="0"/>
              </a:rPr>
            </a:br>
            <a:r>
              <a:rPr lang="en-US" sz="1400" b="0" dirty="0">
                <a:latin typeface="Arial Narrow" panose="020B0606020202030204" pitchFamily="34" charset="0"/>
              </a:rPr>
              <a:t>Cleanliness and tidiness are ensured.</a:t>
            </a:r>
            <a:br>
              <a:rPr lang="en-US" sz="1400" b="0" dirty="0">
                <a:latin typeface="Arial Narrow" panose="020B0606020202030204" pitchFamily="34" charset="0"/>
              </a:rPr>
            </a:br>
            <a:r>
              <a:rPr lang="en-US" sz="1400" b="0" dirty="0">
                <a:latin typeface="Arial Narrow" panose="020B0606020202030204" pitchFamily="34" charset="0"/>
              </a:rPr>
              <a:t>The issue and use of this equipment is controlled and documented.</a:t>
            </a:r>
          </a:p>
          <a:p>
            <a:r>
              <a:rPr lang="en-US" sz="1400" b="0" dirty="0">
                <a:latin typeface="Arial Narrow" panose="020B0606020202030204" pitchFamily="34" charset="0"/>
              </a:rPr>
              <a:t>.</a:t>
            </a:r>
          </a:p>
        </p:txBody>
      </p:sp>
      <p:sp>
        <p:nvSpPr>
          <p:cNvPr id="4" name="Inhaltsplatzhalter 4">
            <a:extLst>
              <a:ext uri="{FF2B5EF4-FFF2-40B4-BE49-F238E27FC236}">
                <a16:creationId xmlns:a16="http://schemas.microsoft.com/office/drawing/2014/main" id="{53D69AA4-B2D6-5687-E8E6-CCC1B44B1082}"/>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Protection against: collision, pollution, environmental influence</a:t>
            </a:r>
          </a:p>
          <a:p>
            <a:pPr>
              <a:buFont typeface="Arial" panose="020B0604020202020204" pitchFamily="34" charset="0"/>
              <a:buChar char="•"/>
            </a:pPr>
            <a:r>
              <a:rPr lang="en-US" sz="1400" b="0" dirty="0">
                <a:latin typeface="Arial Narrow" panose="020B0606020202030204" pitchFamily="34" charset="0"/>
              </a:rPr>
              <a:t>5S Method</a:t>
            </a:r>
          </a:p>
          <a:p>
            <a:pPr>
              <a:buFont typeface="Arial" panose="020B0604020202020204" pitchFamily="34" charset="0"/>
              <a:buChar char="•"/>
            </a:pPr>
            <a:r>
              <a:rPr lang="en-US" sz="1400" b="0" dirty="0">
                <a:latin typeface="Arial Narrow" panose="020B0606020202030204" pitchFamily="34" charset="0"/>
              </a:rPr>
              <a:t>Defined storage location, e.g. markings on the floor</a:t>
            </a:r>
          </a:p>
          <a:p>
            <a:pPr>
              <a:buFont typeface="Arial" panose="020B0604020202020204" pitchFamily="34" charset="0"/>
              <a:buChar char="•"/>
            </a:pPr>
            <a:r>
              <a:rPr lang="en-US" sz="1400" b="0" dirty="0">
                <a:latin typeface="Arial Narrow" panose="020B0606020202030204" pitchFamily="34" charset="0"/>
              </a:rPr>
              <a:t>Transparent warehouse management</a:t>
            </a:r>
          </a:p>
        </p:txBody>
      </p:sp>
    </p:spTree>
    <p:extLst>
      <p:ext uri="{BB962C8B-B14F-4D97-AF65-F5344CB8AC3E}">
        <p14:creationId xmlns:p14="http://schemas.microsoft.com/office/powerpoint/2010/main" val="27670914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Inhaltsplatzhalter 3"/>
          <p:cNvSpPr>
            <a:spLocks noGrp="1"/>
          </p:cNvSpPr>
          <p:nvPr>
            <p:ph idx="1"/>
          </p:nvPr>
        </p:nvSpPr>
        <p:spPr bwMode="auto">
          <a:noFill/>
          <a:ln>
            <a:miter lim="800000"/>
            <a:headEnd/>
            <a:tailEnd/>
          </a:ln>
        </p:spPr>
        <p:txBody>
          <a:bodyPr vert="horz" wrap="square" numCol="1" anchor="t" anchorCtr="0" compatLnSpc="1">
            <a:prstTxWarp prst="textNoShape">
              <a:avLst/>
            </a:prstTxWarp>
          </a:bodyPr>
          <a:lstStyle/>
          <a:p>
            <a:pPr marL="0" lvl="0" indent="0">
              <a:spcBef>
                <a:spcPct val="0"/>
              </a:spcBef>
            </a:pPr>
            <a:r>
              <a:rPr lang="de-DE" dirty="0">
                <a:solidFill>
                  <a:srgbClr val="080808"/>
                </a:solidFill>
              </a:rPr>
              <a:t>Sub-element P6.5 – </a:t>
            </a:r>
            <a:r>
              <a:rPr lang="en-GB" dirty="0"/>
              <a:t>Effectiveness, efficiency, </a:t>
            </a:r>
            <a:br>
              <a:rPr lang="en-GB" dirty="0"/>
            </a:br>
            <a:r>
              <a:rPr lang="en-GB" dirty="0"/>
              <a:t>waste avoidance</a:t>
            </a:r>
            <a:endParaRPr lang="de-DE" dirty="0">
              <a:solidFill>
                <a:srgbClr val="080808"/>
              </a:solidFill>
            </a:endParaRPr>
          </a:p>
          <a:p>
            <a:pPr>
              <a:spcBef>
                <a:spcPct val="0"/>
              </a:spcBef>
            </a:pPr>
            <a:endParaRPr lang="de-DE" dirty="0"/>
          </a:p>
        </p:txBody>
      </p:sp>
      <p:sp>
        <p:nvSpPr>
          <p:cNvPr id="2" name="Titel 1"/>
          <p:cNvSpPr>
            <a:spLocks noGrp="1"/>
          </p:cNvSpPr>
          <p:nvPr>
            <p:ph type="title" idx="4294967295"/>
          </p:nvPr>
        </p:nvSpPr>
        <p:spPr>
          <a:xfrm>
            <a:off x="0" y="274638"/>
            <a:ext cx="8229600" cy="220662"/>
          </a:xfrm>
          <a:prstGeom prst="rect">
            <a:avLst/>
          </a:prstGeom>
        </p:spPr>
        <p:txBody>
          <a:bodyPr/>
          <a:lstStyle/>
          <a:p>
            <a:pPr algn="l"/>
            <a:r>
              <a:rPr lang="de-DE" sz="1000" dirty="0">
                <a:solidFill>
                  <a:schemeClr val="bg1"/>
                </a:solidFill>
                <a:latin typeface="Verdana"/>
              </a:rPr>
              <a:t>L</a:t>
            </a:r>
            <a:r>
              <a:rPr lang="de-DE" sz="1000" kern="1200" dirty="0">
                <a:solidFill>
                  <a:schemeClr val="bg1"/>
                </a:solidFill>
                <a:effectLst/>
                <a:latin typeface="Verdana"/>
              </a:rPr>
              <a:t>E80-067</a:t>
            </a:r>
            <a:endParaRPr lang="de-DE" dirty="0">
              <a:solidFill>
                <a:schemeClr val="bg1"/>
              </a:solidFill>
            </a:endParaRPr>
          </a:p>
        </p:txBody>
      </p:sp>
      <p:sp>
        <p:nvSpPr>
          <p:cNvPr id="40" name="Rectangle 6"/>
          <p:cNvSpPr txBox="1">
            <a:spLocks noChangeArrowheads="1"/>
          </p:cNvSpPr>
          <p:nvPr/>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r>
              <a:rPr lang="de-DE" sz="1000" dirty="0">
                <a:solidFill>
                  <a:srgbClr val="FFFFFF"/>
                </a:solidFill>
              </a:rPr>
              <a:t>VDA 6.3 – </a:t>
            </a:r>
            <a:r>
              <a:rPr lang="de-DE" sz="1000">
                <a:solidFill>
                  <a:srgbClr val="FFFFFF"/>
                </a:solidFill>
              </a:rPr>
              <a:t>Questionnaire</a:t>
            </a:r>
            <a:r>
              <a:rPr lang="de-DE" sz="1000" dirty="0">
                <a:solidFill>
                  <a:srgbClr val="FFFFFF"/>
                </a:solidFill>
              </a:rPr>
              <a:t> P6</a:t>
            </a:r>
          </a:p>
        </p:txBody>
      </p:sp>
      <p:sp>
        <p:nvSpPr>
          <p:cNvPr id="70" name="Inhaltsplatzhalter 8"/>
          <p:cNvSpPr txBox="1">
            <a:spLocks/>
          </p:cNvSpPr>
          <p:nvPr/>
        </p:nvSpPr>
        <p:spPr>
          <a:xfrm>
            <a:off x="180000" y="1980246"/>
            <a:ext cx="4392000" cy="4494680"/>
          </a:xfrm>
          <a:prstGeom prst="rect">
            <a:avLst/>
          </a:prstGeom>
          <a:solidFill>
            <a:schemeClr val="bg1"/>
          </a:solidFill>
        </p:spPr>
        <p:txBody>
          <a:bodyPr lIns="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buFont typeface="Arial" pitchFamily="34" charset="0"/>
              <a:buNone/>
              <a:defRPr/>
            </a:pPr>
            <a:r>
              <a:rPr lang="de-DE" sz="1600" dirty="0">
                <a:solidFill>
                  <a:srgbClr val="080808"/>
                </a:solidFill>
              </a:rPr>
              <a:t>P6.5 – </a:t>
            </a:r>
            <a:r>
              <a:rPr lang="en-GB" sz="1600" dirty="0">
                <a:solidFill>
                  <a:srgbClr val="080808"/>
                </a:solidFill>
              </a:rPr>
              <a:t>What is ensured?</a:t>
            </a:r>
          </a:p>
          <a:p>
            <a:pPr>
              <a:spcAft>
                <a:spcPts val="0"/>
              </a:spcAft>
              <a:buFont typeface="Arial" pitchFamily="34" charset="0"/>
              <a:buNone/>
              <a:defRPr/>
            </a:pPr>
            <a:endParaRPr lang="en-GB" sz="1600" b="0" dirty="0">
              <a:solidFill>
                <a:srgbClr val="080808"/>
              </a:solidFill>
            </a:endParaRPr>
          </a:p>
          <a:p>
            <a:pPr marL="271463" indent="-271463">
              <a:spcBef>
                <a:spcPts val="384"/>
              </a:spcBef>
              <a:buFont typeface="Arial" panose="020B0604020202020204" pitchFamily="34" charset="0"/>
              <a:buChar char="•"/>
              <a:defRPr/>
            </a:pPr>
            <a:r>
              <a:rPr lang="en-GB" sz="1600" dirty="0">
                <a:solidFill>
                  <a:srgbClr val="080808"/>
                </a:solidFill>
              </a:rPr>
              <a:t>Targets</a:t>
            </a:r>
            <a:r>
              <a:rPr lang="en-GB" sz="1600" b="0" dirty="0">
                <a:solidFill>
                  <a:srgbClr val="080808"/>
                </a:solidFill>
              </a:rPr>
              <a:t> are set for the manufacturing process</a:t>
            </a:r>
          </a:p>
          <a:p>
            <a:pPr marL="271463" indent="-271463">
              <a:spcBef>
                <a:spcPts val="384"/>
              </a:spcBef>
              <a:buFont typeface="Arial" panose="020B0604020202020204" pitchFamily="34" charset="0"/>
              <a:buChar char="•"/>
              <a:defRPr/>
            </a:pPr>
            <a:r>
              <a:rPr lang="en-GB" sz="1600" dirty="0">
                <a:solidFill>
                  <a:srgbClr val="080808"/>
                </a:solidFill>
              </a:rPr>
              <a:t>Quality and process data </a:t>
            </a:r>
            <a:r>
              <a:rPr lang="en-GB" sz="1600" b="0" dirty="0">
                <a:solidFill>
                  <a:srgbClr val="080808"/>
                </a:solidFill>
              </a:rPr>
              <a:t>is collected in a way that allows analysis</a:t>
            </a:r>
          </a:p>
          <a:p>
            <a:pPr marL="271463" indent="-271463">
              <a:spcBef>
                <a:spcPts val="384"/>
              </a:spcBef>
              <a:buFont typeface="Arial" panose="020B0604020202020204" pitchFamily="34" charset="0"/>
              <a:buChar char="•"/>
              <a:defRPr/>
            </a:pPr>
            <a:r>
              <a:rPr lang="en-GB" sz="1600" b="0" dirty="0">
                <a:solidFill>
                  <a:srgbClr val="080808"/>
                </a:solidFill>
              </a:rPr>
              <a:t>In case of deviations the causes are analysed and </a:t>
            </a:r>
            <a:r>
              <a:rPr lang="en-GB" sz="1600" dirty="0">
                <a:solidFill>
                  <a:srgbClr val="080808"/>
                </a:solidFill>
              </a:rPr>
              <a:t>corrective actions </a:t>
            </a:r>
            <a:r>
              <a:rPr lang="en-GB" sz="1600" b="0" dirty="0">
                <a:solidFill>
                  <a:srgbClr val="080808"/>
                </a:solidFill>
              </a:rPr>
              <a:t>checked for </a:t>
            </a:r>
            <a:r>
              <a:rPr lang="en-GB" sz="1600" dirty="0">
                <a:solidFill>
                  <a:srgbClr val="080808"/>
                </a:solidFill>
              </a:rPr>
              <a:t>effectiveness</a:t>
            </a:r>
          </a:p>
          <a:p>
            <a:pPr marL="271463" indent="-271463">
              <a:spcBef>
                <a:spcPts val="384"/>
              </a:spcBef>
              <a:buFont typeface="Arial" panose="020B0604020202020204" pitchFamily="34" charset="0"/>
              <a:buChar char="•"/>
              <a:defRPr/>
            </a:pPr>
            <a:r>
              <a:rPr lang="en-GB" sz="1600" b="0" dirty="0">
                <a:solidFill>
                  <a:srgbClr val="080808"/>
                </a:solidFill>
              </a:rPr>
              <a:t>Products and processes are </a:t>
            </a:r>
            <a:r>
              <a:rPr lang="en-GB" sz="1600" dirty="0">
                <a:solidFill>
                  <a:srgbClr val="080808"/>
                </a:solidFill>
              </a:rPr>
              <a:t>audited regularly </a:t>
            </a:r>
            <a:br>
              <a:rPr lang="en-GB" sz="1600" b="0" dirty="0">
                <a:solidFill>
                  <a:srgbClr val="080808"/>
                </a:solidFill>
              </a:rPr>
            </a:br>
            <a:endParaRPr lang="en-GB" dirty="0">
              <a:solidFill>
                <a:srgbClr val="080808"/>
              </a:solidFill>
            </a:endParaRPr>
          </a:p>
          <a:p>
            <a:pPr>
              <a:buFont typeface="Arial" pitchFamily="34" charset="0"/>
              <a:buNone/>
              <a:defRPr/>
            </a:pPr>
            <a:endParaRPr lang="de-DE" dirty="0">
              <a:solidFill>
                <a:srgbClr val="080808"/>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7548" y="1561146"/>
            <a:ext cx="4077710" cy="46828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hteck 3"/>
          <p:cNvSpPr/>
          <p:nvPr/>
        </p:nvSpPr>
        <p:spPr>
          <a:xfrm>
            <a:off x="5941579" y="2312667"/>
            <a:ext cx="1989647" cy="276999"/>
          </a:xfrm>
          <a:prstGeom prst="rect">
            <a:avLst/>
          </a:prstGeom>
          <a:solidFill>
            <a:schemeClr val="tx1">
              <a:lumMod val="25000"/>
              <a:lumOff val="75000"/>
            </a:schemeClr>
          </a:solidFill>
        </p:spPr>
        <p:txBody>
          <a:bodyPr wrap="none">
            <a:spAutoFit/>
          </a:bodyPr>
          <a:lstStyle/>
          <a:p>
            <a:pPr lvl="0" algn="ctr" eaLnBrk="0" fontAlgn="base" hangingPunct="0">
              <a:spcAft>
                <a:spcPts val="600"/>
              </a:spcAft>
              <a:defRPr/>
            </a:pPr>
            <a:r>
              <a:rPr lang="en-GB" sz="1200" b="1" dirty="0">
                <a:solidFill>
                  <a:srgbClr val="080808"/>
                </a:solidFill>
                <a:cs typeface="Arial" pitchFamily="34" charset="0"/>
              </a:rPr>
              <a:t>Personnel Resources</a:t>
            </a:r>
            <a:endParaRPr lang="en-GB" sz="1200" dirty="0">
              <a:solidFill>
                <a:srgbClr val="080808"/>
              </a:solidFill>
              <a:ea typeface="Verdana" pitchFamily="34" charset="0"/>
              <a:cs typeface="Verdana" pitchFamily="34" charset="0"/>
            </a:endParaRPr>
          </a:p>
        </p:txBody>
      </p:sp>
    </p:spTree>
    <p:extLst>
      <p:ext uri="{BB962C8B-B14F-4D97-AF65-F5344CB8AC3E}">
        <p14:creationId xmlns:p14="http://schemas.microsoft.com/office/powerpoint/2010/main" val="1201735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60C6D-7608-CCDE-8B5F-3E37A9C6A6E1}"/>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A73EE533-3FF3-136A-09D6-86A0B6D6F3C3}"/>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6.5.1 Have targets been set for the production process?</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Process-specific targets regarding effectiveness and efficiency are defined, monitored and communicated. Customer requirements are taken into account when setting targets.</a:t>
            </a:r>
            <a:br>
              <a:rPr lang="en-US" sz="1400" b="0" dirty="0">
                <a:latin typeface="Arial Narrow" panose="020B0606020202030204" pitchFamily="34" charset="0"/>
              </a:rPr>
            </a:br>
            <a:r>
              <a:rPr lang="en-US" sz="1400" b="0" dirty="0">
                <a:latin typeface="Arial Narrow" panose="020B0606020202030204" pitchFamily="34" charset="0"/>
              </a:rPr>
              <a:t>A regular comparison between specified targets and actual results is made and documented</a:t>
            </a:r>
          </a:p>
          <a:p>
            <a:r>
              <a:rPr lang="en-US" sz="1400" b="0" dirty="0">
                <a:latin typeface="Arial Narrow" panose="020B0606020202030204" pitchFamily="34" charset="0"/>
              </a:rPr>
              <a:t>.</a:t>
            </a:r>
          </a:p>
        </p:txBody>
      </p:sp>
      <p:sp>
        <p:nvSpPr>
          <p:cNvPr id="4" name="Inhaltsplatzhalter 4">
            <a:extLst>
              <a:ext uri="{FF2B5EF4-FFF2-40B4-BE49-F238E27FC236}">
                <a16:creationId xmlns:a16="http://schemas.microsoft.com/office/drawing/2014/main" id="{0BB23B3C-1431-4B8E-CE88-32BB12F18C02}"/>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Key production figures, e.g. quantities produced, quality metrics, throughput times, defect costs, process effectiveness figures, production line and machine availability</a:t>
            </a:r>
          </a:p>
          <a:p>
            <a:pPr>
              <a:buFont typeface="Arial" panose="020B0604020202020204" pitchFamily="34" charset="0"/>
              <a:buChar char="•"/>
            </a:pPr>
            <a:r>
              <a:rPr lang="en-US" sz="1400" b="0" dirty="0">
                <a:latin typeface="Arial Narrow" panose="020B0606020202030204" pitchFamily="34" charset="0"/>
              </a:rPr>
              <a:t>First time through quality, First pass yield</a:t>
            </a:r>
          </a:p>
          <a:p>
            <a:pPr>
              <a:buFont typeface="Arial" panose="020B0604020202020204" pitchFamily="34" charset="0"/>
              <a:buChar char="•"/>
            </a:pPr>
            <a:r>
              <a:rPr lang="en-US" sz="1400" b="0" dirty="0">
                <a:latin typeface="Arial Narrow" panose="020B0606020202030204" pitchFamily="34" charset="0"/>
              </a:rPr>
              <a:t>Reduction of waste (e.g. rejects and rework, energy and process materials)</a:t>
            </a:r>
          </a:p>
        </p:txBody>
      </p:sp>
    </p:spTree>
    <p:extLst>
      <p:ext uri="{BB962C8B-B14F-4D97-AF65-F5344CB8AC3E}">
        <p14:creationId xmlns:p14="http://schemas.microsoft.com/office/powerpoint/2010/main" val="109714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BC43B-0C81-DED6-41CF-4999B10D48D7}"/>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DDC3B0AD-BCA2-322B-7044-817E21987BCF}"/>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6.5.2 Is quality and production process data collected in a way that allows for analysis?</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The quality and process parameters required to demonstrate product conformity (target values) are defined and documented. The actual data is analyzed and appropriate improvement measures are initiated.</a:t>
            </a:r>
            <a:br>
              <a:rPr lang="en-US" sz="1400" b="0" dirty="0">
                <a:latin typeface="Arial Narrow" panose="020B0606020202030204" pitchFamily="34" charset="0"/>
              </a:rPr>
            </a:br>
            <a:r>
              <a:rPr lang="en-US" sz="1400" b="0" dirty="0">
                <a:latin typeface="Arial Narrow" panose="020B0606020202030204" pitchFamily="34" charset="0"/>
              </a:rPr>
              <a:t>Special incidents are documented.</a:t>
            </a:r>
            <a:br>
              <a:rPr lang="en-US" sz="1400" b="0" dirty="0">
                <a:latin typeface="Arial Narrow" panose="020B0606020202030204" pitchFamily="34" charset="0"/>
              </a:rPr>
            </a:br>
            <a:r>
              <a:rPr lang="en-US" sz="1400" b="0" dirty="0">
                <a:latin typeface="Arial Narrow" panose="020B0606020202030204" pitchFamily="34" charset="0"/>
              </a:rPr>
              <a:t>The recorded data can be allocated to a product and process, the data is available, legible, accessible and archived as specified. Traceability requirements are met.</a:t>
            </a:r>
            <a:br>
              <a:rPr lang="en-US" sz="1400" b="0" dirty="0">
                <a:latin typeface="Arial Narrow" panose="020B0606020202030204" pitchFamily="34" charset="0"/>
              </a:rPr>
            </a:br>
            <a:r>
              <a:rPr lang="en-US" sz="1400" b="0" dirty="0">
                <a:latin typeface="Arial Narrow" panose="020B0606020202030204" pitchFamily="34" charset="0"/>
              </a:rPr>
              <a:t>The potential for improvement is continuously determined based on findings relating to quality, costs, and services.</a:t>
            </a:r>
          </a:p>
        </p:txBody>
      </p:sp>
      <p:sp>
        <p:nvSpPr>
          <p:cNvPr id="4" name="Inhaltsplatzhalter 4">
            <a:extLst>
              <a:ext uri="{FF2B5EF4-FFF2-40B4-BE49-F238E27FC236}">
                <a16:creationId xmlns:a16="http://schemas.microsoft.com/office/drawing/2014/main" id="{46BEB1F9-D6E1-8A40-FDB2-64842D39B9B8}"/>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Control charts</a:t>
            </a:r>
          </a:p>
          <a:p>
            <a:pPr>
              <a:buFont typeface="Arial" panose="020B0604020202020204" pitchFamily="34" charset="0"/>
              <a:buChar char="•"/>
            </a:pPr>
            <a:r>
              <a:rPr lang="en-US" sz="1400" b="0" dirty="0">
                <a:latin typeface="Arial Narrow" panose="020B0606020202030204" pitchFamily="34" charset="0"/>
              </a:rPr>
              <a:t>Check sheet</a:t>
            </a:r>
          </a:p>
          <a:p>
            <a:pPr>
              <a:buFont typeface="Arial" panose="020B0604020202020204" pitchFamily="34" charset="0"/>
              <a:buChar char="•"/>
            </a:pPr>
            <a:r>
              <a:rPr lang="en-US" sz="1400" b="0" dirty="0">
                <a:latin typeface="Arial Narrow" panose="020B0606020202030204" pitchFamily="34" charset="0"/>
              </a:rPr>
              <a:t>Types of errors/error frequencies</a:t>
            </a:r>
          </a:p>
          <a:p>
            <a:pPr>
              <a:buFont typeface="Arial" panose="020B0604020202020204" pitchFamily="34" charset="0"/>
              <a:buChar char="•"/>
            </a:pPr>
            <a:r>
              <a:rPr lang="en-US" sz="1400" b="0" dirty="0">
                <a:latin typeface="Arial Narrow" panose="020B0606020202030204" pitchFamily="34" charset="0"/>
              </a:rPr>
              <a:t>Rejects/rework</a:t>
            </a:r>
          </a:p>
          <a:p>
            <a:pPr>
              <a:buFont typeface="Arial" panose="020B0604020202020204" pitchFamily="34" charset="0"/>
              <a:buChar char="•"/>
            </a:pPr>
            <a:r>
              <a:rPr lang="en-US" sz="1400" b="0" dirty="0">
                <a:latin typeface="Arial Narrow" panose="020B0606020202030204" pitchFamily="34" charset="0"/>
              </a:rPr>
              <a:t>Process data sheet with parameter changes</a:t>
            </a:r>
          </a:p>
          <a:p>
            <a:pPr>
              <a:buFont typeface="Arial" panose="020B0604020202020204" pitchFamily="34" charset="0"/>
              <a:buChar char="•"/>
            </a:pPr>
            <a:r>
              <a:rPr lang="en-US" sz="1400" b="0" dirty="0">
                <a:latin typeface="Arial Narrow" panose="020B0606020202030204" pitchFamily="34" charset="0"/>
              </a:rPr>
              <a:t>Shift/machine log</a:t>
            </a:r>
          </a:p>
          <a:p>
            <a:pPr>
              <a:buFont typeface="Arial" panose="020B0604020202020204" pitchFamily="34" charset="0"/>
              <a:buChar char="•"/>
            </a:pPr>
            <a:r>
              <a:rPr lang="en-US" sz="1400" b="0" dirty="0">
                <a:latin typeface="Arial Narrow" panose="020B0606020202030204" pitchFamily="34" charset="0"/>
              </a:rPr>
              <a:t>Cycle times, throughput times</a:t>
            </a:r>
          </a:p>
          <a:p>
            <a:pPr>
              <a:buFont typeface="Arial" panose="020B0604020202020204" pitchFamily="34" charset="0"/>
              <a:buChar char="•"/>
            </a:pPr>
            <a:r>
              <a:rPr lang="en-US" sz="1400" b="0" dirty="0">
                <a:latin typeface="Arial Narrow" panose="020B0606020202030204" pitchFamily="34" charset="0"/>
              </a:rPr>
              <a:t>Fault message (e.g. production line standstill, power outage, program error message)</a:t>
            </a:r>
          </a:p>
          <a:p>
            <a:pPr>
              <a:buFont typeface="Arial" panose="020B0604020202020204" pitchFamily="34" charset="0"/>
              <a:buChar char="•"/>
            </a:pPr>
            <a:r>
              <a:rPr lang="en-US" sz="1400" b="0" dirty="0">
                <a:latin typeface="Arial Narrow" panose="020B0606020202030204" pitchFamily="34" charset="0"/>
              </a:rPr>
              <a:t>Output/availability</a:t>
            </a:r>
          </a:p>
          <a:p>
            <a:pPr>
              <a:buFont typeface="Arial" panose="020B0604020202020204" pitchFamily="34" charset="0"/>
              <a:buChar char="•"/>
            </a:pPr>
            <a:r>
              <a:rPr lang="en-US" sz="1400" b="0" dirty="0">
                <a:latin typeface="Arial Narrow" panose="020B0606020202030204" pitchFamily="34" charset="0"/>
              </a:rPr>
              <a:t>Blocking message/sorting actions</a:t>
            </a:r>
          </a:p>
          <a:p>
            <a:pPr>
              <a:buFont typeface="Arial" panose="020B0604020202020204" pitchFamily="34" charset="0"/>
              <a:buChar char="•"/>
            </a:pPr>
            <a:r>
              <a:rPr lang="en-US" sz="1400" b="0" dirty="0">
                <a:latin typeface="Arial Narrow" panose="020B0606020202030204" pitchFamily="34" charset="0"/>
              </a:rPr>
              <a:t>Traceability</a:t>
            </a:r>
          </a:p>
        </p:txBody>
      </p:sp>
    </p:spTree>
    <p:extLst>
      <p:ext uri="{BB962C8B-B14F-4D97-AF65-F5344CB8AC3E}">
        <p14:creationId xmlns:p14="http://schemas.microsoft.com/office/powerpoint/2010/main" val="25869765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832E0-FCBB-092B-6A0E-E7A7A05A1614}"/>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7B79D86F-F9C0-D6DB-2984-6C605571B142}"/>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6.5.3* If product or production process requirements are not met, are the causes analyzed and the corrective actions checked for effectiveness?</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If product and production process requirements are not met, containment actions are taken to fulfill the requirements, until it has been proven that the corrective actions have been effective. The employees are familiar with these containment actions.</a:t>
            </a:r>
            <a:br>
              <a:rPr lang="en-US" sz="1400" b="0" dirty="0">
                <a:latin typeface="Arial Narrow" panose="020B0606020202030204" pitchFamily="34" charset="0"/>
              </a:rPr>
            </a:br>
            <a:r>
              <a:rPr lang="en-US" sz="1400" b="0" dirty="0">
                <a:latin typeface="Arial Narrow" panose="020B0606020202030204" pitchFamily="34" charset="0"/>
              </a:rPr>
              <a:t>Suitable methods are implemented to analyze the causes.</a:t>
            </a:r>
            <a:br>
              <a:rPr lang="en-US" sz="1400" b="0" dirty="0">
                <a:latin typeface="Arial Narrow" panose="020B0606020202030204" pitchFamily="34" charset="0"/>
              </a:rPr>
            </a:br>
            <a:r>
              <a:rPr lang="en-US" sz="1400" b="0" dirty="0">
                <a:latin typeface="Arial Narrow" panose="020B0606020202030204" pitchFamily="34" charset="0"/>
              </a:rPr>
              <a:t>Repeat failures are recorded. A more detailed analysis of the causes must be carried out accordingly.</a:t>
            </a:r>
            <a:br>
              <a:rPr lang="en-US" sz="1400" b="0" dirty="0">
                <a:latin typeface="Arial Narrow" panose="020B0606020202030204" pitchFamily="34" charset="0"/>
              </a:rPr>
            </a:br>
            <a:r>
              <a:rPr lang="en-US" sz="1400" b="0" dirty="0">
                <a:latin typeface="Arial Narrow" panose="020B0606020202030204" pitchFamily="34" charset="0"/>
              </a:rPr>
              <a:t>Corrective actions are derived from the cause analysis, their implementation is monitored and the effectiveness is verified.</a:t>
            </a:r>
            <a:br>
              <a:rPr lang="en-US" sz="1400" b="0" dirty="0">
                <a:latin typeface="Arial Narrow" panose="020B0606020202030204" pitchFamily="34" charset="0"/>
              </a:rPr>
            </a:br>
            <a:r>
              <a:rPr lang="en-US" sz="1400" b="0" dirty="0">
                <a:latin typeface="Arial Narrow" panose="020B0606020202030204" pitchFamily="34" charset="0"/>
              </a:rPr>
              <a:t>The production control plan and the risk analysis are updated on an event-oriented basis.</a:t>
            </a:r>
            <a:br>
              <a:rPr lang="en-US" sz="1400" b="0" dirty="0">
                <a:latin typeface="Arial Narrow" panose="020B0606020202030204" pitchFamily="34" charset="0"/>
              </a:rPr>
            </a:br>
            <a:r>
              <a:rPr lang="en-US" sz="1400" b="0" dirty="0">
                <a:latin typeface="Arial Narrow" panose="020B0606020202030204" pitchFamily="34" charset="0"/>
              </a:rPr>
              <a:t>Deviations that affect the properties of the delivered product are communicated to the customer</a:t>
            </a:r>
          </a:p>
        </p:txBody>
      </p:sp>
      <p:sp>
        <p:nvSpPr>
          <p:cNvPr id="4" name="Inhaltsplatzhalter 4">
            <a:extLst>
              <a:ext uri="{FF2B5EF4-FFF2-40B4-BE49-F238E27FC236}">
                <a16:creationId xmlns:a16="http://schemas.microsoft.com/office/drawing/2014/main" id="{016BD1E8-E907-A213-C046-1DCCA30E8F36}"/>
              </a:ext>
            </a:extLst>
          </p:cNvPr>
          <p:cNvSpPr txBox="1">
            <a:spLocks/>
          </p:cNvSpPr>
          <p:nvPr/>
        </p:nvSpPr>
        <p:spPr>
          <a:xfrm>
            <a:off x="4815503"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8D method</a:t>
            </a:r>
          </a:p>
          <a:p>
            <a:pPr>
              <a:buFont typeface="Arial" panose="020B0604020202020204" pitchFamily="34" charset="0"/>
              <a:buChar char="•"/>
            </a:pPr>
            <a:r>
              <a:rPr lang="en-US" sz="1400" b="0" dirty="0">
                <a:latin typeface="Arial Narrow" panose="020B0606020202030204" pitchFamily="34" charset="0"/>
              </a:rPr>
              <a:t>Cause and effects diagram</a:t>
            </a:r>
          </a:p>
          <a:p>
            <a:pPr>
              <a:buFont typeface="Arial" panose="020B0604020202020204" pitchFamily="34" charset="0"/>
              <a:buChar char="•"/>
            </a:pPr>
            <a:r>
              <a:rPr lang="en-US" sz="1400" b="0" dirty="0">
                <a:latin typeface="Arial Narrow" panose="020B0606020202030204" pitchFamily="34" charset="0"/>
              </a:rPr>
              <a:t>Taguchi, Shainin</a:t>
            </a:r>
          </a:p>
          <a:p>
            <a:pPr>
              <a:buFont typeface="Arial" panose="020B0604020202020204" pitchFamily="34" charset="0"/>
              <a:buChar char="•"/>
            </a:pPr>
            <a:r>
              <a:rPr lang="en-US" sz="1400" b="0" dirty="0">
                <a:latin typeface="Arial Narrow" panose="020B0606020202030204" pitchFamily="34" charset="0"/>
              </a:rPr>
              <a:t>5 Why method</a:t>
            </a:r>
          </a:p>
          <a:p>
            <a:pPr>
              <a:buFont typeface="Arial" panose="020B0604020202020204" pitchFamily="34" charset="0"/>
              <a:buChar char="•"/>
            </a:pPr>
            <a:r>
              <a:rPr lang="en-US" sz="1400" b="0" dirty="0">
                <a:latin typeface="Arial Narrow" panose="020B0606020202030204" pitchFamily="34" charset="0"/>
              </a:rPr>
              <a:t>Process capability analysis</a:t>
            </a:r>
          </a:p>
          <a:p>
            <a:pPr>
              <a:buFont typeface="Arial" panose="020B0604020202020204" pitchFamily="34" charset="0"/>
              <a:buChar char="•"/>
            </a:pPr>
            <a:r>
              <a:rPr lang="en-US" sz="1400" b="0" dirty="0">
                <a:latin typeface="Arial Narrow" panose="020B0606020202030204" pitchFamily="34" charset="0"/>
              </a:rPr>
              <a:t>Design and process FMEA</a:t>
            </a:r>
          </a:p>
          <a:p>
            <a:pPr>
              <a:buFont typeface="Arial" panose="020B0604020202020204" pitchFamily="34" charset="0"/>
              <a:buChar char="•"/>
            </a:pPr>
            <a:r>
              <a:rPr lang="en-US" sz="1400" b="0" dirty="0">
                <a:latin typeface="Arial Narrow" panose="020B0606020202030204" pitchFamily="34" charset="0"/>
              </a:rPr>
              <a:t>Waivers/special releases</a:t>
            </a:r>
          </a:p>
          <a:p>
            <a:pPr>
              <a:buFont typeface="Arial" panose="020B0604020202020204" pitchFamily="34" charset="0"/>
              <a:buChar char="•"/>
            </a:pPr>
            <a:r>
              <a:rPr lang="en-US" sz="1400" b="0" dirty="0">
                <a:latin typeface="Arial Narrow" panose="020B0606020202030204" pitchFamily="34" charset="0"/>
              </a:rPr>
              <a:t>Additional dimensional, material, functional and endurance testing</a:t>
            </a:r>
          </a:p>
        </p:txBody>
      </p:sp>
    </p:spTree>
    <p:extLst>
      <p:ext uri="{BB962C8B-B14F-4D97-AF65-F5344CB8AC3E}">
        <p14:creationId xmlns:p14="http://schemas.microsoft.com/office/powerpoint/2010/main" val="5653689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2628F-416E-57E5-DACD-810A3AE85408}"/>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3B168EAA-FB7D-E931-D21A-D53D5A43D2CA}"/>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6.5.4 Are processes and products audited regularly?</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The audit program for process and product audits is based on customer requirements as well as specific risks and is implemented.</a:t>
            </a:r>
            <a:br>
              <a:rPr lang="en-US" sz="1400" b="0" dirty="0">
                <a:latin typeface="Arial Narrow" panose="020B0606020202030204" pitchFamily="34" charset="0"/>
              </a:rPr>
            </a:br>
            <a:r>
              <a:rPr lang="en-US" sz="1400" b="0" dirty="0">
                <a:latin typeface="Arial Narrow" panose="020B0606020202030204" pitchFamily="34" charset="0"/>
              </a:rPr>
              <a:t>The process and product audits carried out are suitable to identify specific risks and weaknesses.</a:t>
            </a:r>
            <a:br>
              <a:rPr lang="en-US" sz="1400" b="0" dirty="0">
                <a:latin typeface="Arial Narrow" panose="020B0606020202030204" pitchFamily="34" charset="0"/>
              </a:rPr>
            </a:br>
            <a:r>
              <a:rPr lang="en-US" sz="1400" b="0" dirty="0">
                <a:latin typeface="Arial Narrow" panose="020B0606020202030204" pitchFamily="34" charset="0"/>
              </a:rPr>
              <a:t>If deviations are detected during an audit, the causes are analyzed. Corrective actions are derived, their implementation is monitored and the effectiveness is verified.</a:t>
            </a:r>
            <a:br>
              <a:rPr lang="en-US" sz="1400" b="0" dirty="0">
                <a:latin typeface="Arial Narrow" panose="020B0606020202030204" pitchFamily="34" charset="0"/>
              </a:rPr>
            </a:br>
            <a:r>
              <a:rPr lang="en-US" sz="1400" b="0" dirty="0">
                <a:latin typeface="Arial Narrow" panose="020B0606020202030204" pitchFamily="34" charset="0"/>
              </a:rPr>
              <a:t>Deviations that affect products which have already been delivered are communicated to the customer..</a:t>
            </a:r>
          </a:p>
        </p:txBody>
      </p:sp>
      <p:sp>
        <p:nvSpPr>
          <p:cNvPr id="4" name="Inhaltsplatzhalter 4">
            <a:extLst>
              <a:ext uri="{FF2B5EF4-FFF2-40B4-BE49-F238E27FC236}">
                <a16:creationId xmlns:a16="http://schemas.microsoft.com/office/drawing/2014/main" id="{17D4B020-E6E6-5711-6427-8827A05C4D1C}"/>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Specifications</a:t>
            </a:r>
          </a:p>
          <a:p>
            <a:pPr>
              <a:buFont typeface="Arial" panose="020B0604020202020204" pitchFamily="34" charset="0"/>
              <a:buChar char="•"/>
            </a:pPr>
            <a:r>
              <a:rPr lang="en-US" sz="1400" b="0" dirty="0">
                <a:latin typeface="Arial Narrow" panose="020B0606020202030204" pitchFamily="34" charset="0"/>
              </a:rPr>
              <a:t>Special characteristics</a:t>
            </a:r>
          </a:p>
          <a:p>
            <a:pPr>
              <a:buFont typeface="Arial" panose="020B0604020202020204" pitchFamily="34" charset="0"/>
              <a:buChar char="•"/>
            </a:pPr>
            <a:r>
              <a:rPr lang="en-US" sz="1400" b="0" dirty="0">
                <a:latin typeface="Arial Narrow" panose="020B0606020202030204" pitchFamily="34" charset="0"/>
              </a:rPr>
              <a:t>Audit program including scheduled and event-oriented audits</a:t>
            </a:r>
          </a:p>
          <a:p>
            <a:pPr>
              <a:buFont typeface="Arial" panose="020B0604020202020204" pitchFamily="34" charset="0"/>
              <a:buChar char="•"/>
            </a:pPr>
            <a:r>
              <a:rPr lang="en-US" sz="1400" b="0" dirty="0">
                <a:latin typeface="Arial Narrow" panose="020B0606020202030204" pitchFamily="34" charset="0"/>
              </a:rPr>
              <a:t>Frequency of audits</a:t>
            </a:r>
          </a:p>
          <a:p>
            <a:pPr>
              <a:buFont typeface="Arial" panose="020B0604020202020204" pitchFamily="34" charset="0"/>
              <a:buChar char="•"/>
            </a:pPr>
            <a:r>
              <a:rPr lang="en-US" sz="1400" b="0" dirty="0">
                <a:latin typeface="Arial Narrow" panose="020B0606020202030204" pitchFamily="34" charset="0"/>
              </a:rPr>
              <a:t>Audit results, audit reports, action plans</a:t>
            </a:r>
          </a:p>
          <a:p>
            <a:pPr>
              <a:buFont typeface="Arial" panose="020B0604020202020204" pitchFamily="34" charset="0"/>
              <a:buChar char="•"/>
            </a:pPr>
            <a:r>
              <a:rPr lang="en-US" sz="1400" b="0" dirty="0">
                <a:latin typeface="Arial Narrow" panose="020B0606020202030204" pitchFamily="34" charset="0"/>
              </a:rPr>
              <a:t>Auditor qualification</a:t>
            </a:r>
          </a:p>
          <a:p>
            <a:pPr>
              <a:buFont typeface="Arial" panose="020B0604020202020204" pitchFamily="34" charset="0"/>
              <a:buChar char="•"/>
            </a:pPr>
            <a:r>
              <a:rPr lang="en-US" sz="1400" b="0" dirty="0">
                <a:latin typeface="Arial Narrow" panose="020B0606020202030204" pitchFamily="34" charset="0"/>
              </a:rPr>
              <a:t>Scope of the audit, e.g.: P5, P6, P7</a:t>
            </a:r>
          </a:p>
          <a:p>
            <a:pPr>
              <a:buFont typeface="Arial" panose="020B0604020202020204" pitchFamily="34" charset="0"/>
              <a:buChar char="•"/>
            </a:pPr>
            <a:r>
              <a:rPr lang="en-US" sz="1400" b="0" dirty="0">
                <a:latin typeface="Arial Narrow" panose="020B0606020202030204" pitchFamily="34" charset="0"/>
              </a:rPr>
              <a:t>Labeling, packaging</a:t>
            </a:r>
          </a:p>
          <a:p>
            <a:pPr>
              <a:buFont typeface="Arial" panose="020B0604020202020204" pitchFamily="34" charset="0"/>
              <a:buChar char="•"/>
            </a:pPr>
            <a:r>
              <a:rPr lang="en-US" sz="1400" b="0" dirty="0">
                <a:latin typeface="Arial Narrow" panose="020B0606020202030204" pitchFamily="34" charset="0"/>
              </a:rPr>
              <a:t>Change status of individual parts and software</a:t>
            </a:r>
          </a:p>
        </p:txBody>
      </p:sp>
    </p:spTree>
    <p:extLst>
      <p:ext uri="{BB962C8B-B14F-4D97-AF65-F5344CB8AC3E}">
        <p14:creationId xmlns:p14="http://schemas.microsoft.com/office/powerpoint/2010/main" val="2562916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Inhaltsplatzhalter 3"/>
          <p:cNvSpPr>
            <a:spLocks noGrp="1"/>
          </p:cNvSpPr>
          <p:nvPr>
            <p:ph idx="1"/>
          </p:nvPr>
        </p:nvSpPr>
        <p:spPr bwMode="auto">
          <a:noFill/>
          <a:ln>
            <a:miter lim="800000"/>
            <a:headEnd/>
            <a:tailEnd/>
          </a:ln>
        </p:spPr>
        <p:txBody>
          <a:bodyPr vert="horz" wrap="square" numCol="1" anchor="t" anchorCtr="0" compatLnSpc="1">
            <a:prstTxWarp prst="textNoShape">
              <a:avLst/>
            </a:prstTxWarp>
          </a:bodyPr>
          <a:lstStyle/>
          <a:p>
            <a:pPr>
              <a:spcBef>
                <a:spcPct val="0"/>
              </a:spcBef>
            </a:pPr>
            <a:r>
              <a:rPr lang="en-GB" dirty="0"/>
              <a:t>Sub-element P6.6 – Process result (Output)</a:t>
            </a:r>
          </a:p>
          <a:p>
            <a:pPr>
              <a:spcBef>
                <a:spcPct val="0"/>
              </a:spcBef>
            </a:pPr>
            <a:endParaRPr lang="de-DE" dirty="0"/>
          </a:p>
        </p:txBody>
      </p:sp>
      <p:sp>
        <p:nvSpPr>
          <p:cNvPr id="2" name="Titel 1"/>
          <p:cNvSpPr>
            <a:spLocks noGrp="1"/>
          </p:cNvSpPr>
          <p:nvPr>
            <p:ph type="title" idx="4294967295"/>
          </p:nvPr>
        </p:nvSpPr>
        <p:spPr>
          <a:xfrm>
            <a:off x="0" y="274638"/>
            <a:ext cx="8229600" cy="220662"/>
          </a:xfrm>
          <a:prstGeom prst="rect">
            <a:avLst/>
          </a:prstGeom>
        </p:spPr>
        <p:txBody>
          <a:bodyPr/>
          <a:lstStyle/>
          <a:p>
            <a:pPr algn="l"/>
            <a:r>
              <a:rPr lang="de-DE" sz="1000" dirty="0">
                <a:solidFill>
                  <a:schemeClr val="bg1"/>
                </a:solidFill>
                <a:latin typeface="Verdana"/>
              </a:rPr>
              <a:t>L</a:t>
            </a:r>
            <a:r>
              <a:rPr lang="de-DE" sz="1000" kern="1200" dirty="0">
                <a:solidFill>
                  <a:schemeClr val="bg1"/>
                </a:solidFill>
                <a:effectLst/>
                <a:latin typeface="Verdana"/>
              </a:rPr>
              <a:t>E80-077</a:t>
            </a:r>
            <a:endParaRPr lang="de-DE" dirty="0">
              <a:solidFill>
                <a:schemeClr val="bg1"/>
              </a:solidFill>
            </a:endParaRPr>
          </a:p>
        </p:txBody>
      </p:sp>
      <p:sp>
        <p:nvSpPr>
          <p:cNvPr id="40" name="Rectangle 6"/>
          <p:cNvSpPr txBox="1">
            <a:spLocks noChangeArrowheads="1"/>
          </p:cNvSpPr>
          <p:nvPr/>
        </p:nvSpPr>
        <p:spPr>
          <a:xfrm>
            <a:off x="0" y="495300"/>
            <a:ext cx="9144000" cy="287338"/>
          </a:xfrm>
          <a:prstGeom prst="rect">
            <a:avLst/>
          </a:prstGeom>
          <a:noFill/>
        </p:spPr>
        <p:txBody>
          <a:bodyPr anchor="ctr"/>
          <a:lstStyle/>
          <a:p>
            <a:pPr algn="ctr" fontAlgn="base">
              <a:lnSpc>
                <a:spcPct val="80000"/>
              </a:lnSpc>
              <a:spcBef>
                <a:spcPct val="20000"/>
              </a:spcBef>
              <a:spcAft>
                <a:spcPct val="0"/>
              </a:spcAft>
              <a:defRPr/>
            </a:pPr>
            <a:r>
              <a:rPr lang="de-DE" sz="1000" dirty="0">
                <a:solidFill>
                  <a:srgbClr val="FFFFFF"/>
                </a:solidFill>
              </a:rPr>
              <a:t>VDA 6.3 – </a:t>
            </a:r>
            <a:r>
              <a:rPr lang="de-DE" sz="1000">
                <a:solidFill>
                  <a:srgbClr val="FFFFFF"/>
                </a:solidFill>
              </a:rPr>
              <a:t>Questionnaire</a:t>
            </a:r>
            <a:r>
              <a:rPr lang="de-DE" sz="1000" dirty="0">
                <a:solidFill>
                  <a:srgbClr val="FFFFFF"/>
                </a:solidFill>
              </a:rPr>
              <a:t> P6</a:t>
            </a:r>
          </a:p>
        </p:txBody>
      </p:sp>
      <p:sp>
        <p:nvSpPr>
          <p:cNvPr id="72" name="Inhaltsplatzhalter 4"/>
          <p:cNvSpPr txBox="1">
            <a:spLocks/>
          </p:cNvSpPr>
          <p:nvPr/>
        </p:nvSpPr>
        <p:spPr>
          <a:xfrm>
            <a:off x="180000" y="1692000"/>
            <a:ext cx="4392000" cy="4789487"/>
          </a:xfrm>
          <a:prstGeom prst="rect">
            <a:avLst/>
          </a:prstGeom>
          <a:solidFill>
            <a:schemeClr val="bg1"/>
          </a:solidFill>
        </p:spPr>
        <p:txBody>
          <a:bodyPr lIns="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buFont typeface="Arial" pitchFamily="34" charset="0"/>
              <a:buNone/>
              <a:defRPr/>
            </a:pPr>
            <a:r>
              <a:rPr lang="de-DE" sz="1600" dirty="0">
                <a:solidFill>
                  <a:srgbClr val="080808"/>
                </a:solidFill>
                <a:latin typeface="Verdana"/>
              </a:rPr>
              <a:t>P6.6 – </a:t>
            </a:r>
            <a:r>
              <a:rPr lang="en-GB" sz="1600" dirty="0">
                <a:solidFill>
                  <a:srgbClr val="080808"/>
                </a:solidFill>
                <a:latin typeface="Verdana"/>
              </a:rPr>
              <a:t>What is ensured?</a:t>
            </a:r>
          </a:p>
          <a:p>
            <a:pPr>
              <a:spcAft>
                <a:spcPts val="0"/>
              </a:spcAft>
              <a:buFont typeface="Arial" pitchFamily="34" charset="0"/>
              <a:buNone/>
              <a:defRPr/>
            </a:pPr>
            <a:endParaRPr lang="en-GB" sz="1600" b="0" dirty="0">
              <a:solidFill>
                <a:srgbClr val="080808"/>
              </a:solidFill>
              <a:latin typeface="Verdana"/>
            </a:endParaRPr>
          </a:p>
          <a:p>
            <a:pPr marL="285750" indent="-285750">
              <a:spcBef>
                <a:spcPts val="384"/>
              </a:spcBef>
              <a:buFont typeface="Arial" panose="020B0604020202020204" pitchFamily="34" charset="0"/>
              <a:buChar char="•"/>
              <a:defRPr/>
            </a:pPr>
            <a:r>
              <a:rPr lang="en-GB" sz="1600" dirty="0">
                <a:solidFill>
                  <a:srgbClr val="080808"/>
                </a:solidFill>
                <a:latin typeface="Verdana"/>
              </a:rPr>
              <a:t>Quantities </a:t>
            </a:r>
            <a:r>
              <a:rPr lang="en-GB" sz="1600" b="0" dirty="0">
                <a:solidFill>
                  <a:srgbClr val="080808"/>
                </a:solidFill>
                <a:latin typeface="Verdana"/>
              </a:rPr>
              <a:t>produced</a:t>
            </a:r>
            <a:r>
              <a:rPr lang="en-GB" sz="1600" dirty="0">
                <a:solidFill>
                  <a:srgbClr val="080808"/>
                </a:solidFill>
                <a:latin typeface="Verdana"/>
              </a:rPr>
              <a:t> </a:t>
            </a:r>
            <a:r>
              <a:rPr lang="en-GB" sz="1600" b="0" dirty="0">
                <a:solidFill>
                  <a:srgbClr val="080808"/>
                </a:solidFill>
                <a:latin typeface="Verdana"/>
              </a:rPr>
              <a:t>match the need and are </a:t>
            </a:r>
            <a:r>
              <a:rPr lang="en-GB" sz="1600" dirty="0">
                <a:solidFill>
                  <a:srgbClr val="080808"/>
                </a:solidFill>
                <a:latin typeface="Verdana"/>
              </a:rPr>
              <a:t>systematically directed </a:t>
            </a:r>
            <a:r>
              <a:rPr lang="en-GB" sz="1600" b="0" dirty="0">
                <a:solidFill>
                  <a:srgbClr val="080808"/>
                </a:solidFill>
                <a:latin typeface="Verdana"/>
              </a:rPr>
              <a:t>to the next process step</a:t>
            </a:r>
          </a:p>
          <a:p>
            <a:pPr marL="285750" indent="-285750">
              <a:buFont typeface="Arial" panose="020B0604020202020204" pitchFamily="34" charset="0"/>
              <a:buChar char="•"/>
              <a:defRPr/>
            </a:pPr>
            <a:r>
              <a:rPr lang="en-GB" sz="1600" dirty="0">
                <a:solidFill>
                  <a:srgbClr val="080808"/>
                </a:solidFill>
                <a:latin typeface="Verdana"/>
              </a:rPr>
              <a:t>Products/components</a:t>
            </a:r>
            <a:r>
              <a:rPr lang="en-GB" sz="1600" b="0" dirty="0">
                <a:solidFill>
                  <a:srgbClr val="080808"/>
                </a:solidFill>
                <a:latin typeface="Verdana"/>
              </a:rPr>
              <a:t> are </a:t>
            </a:r>
            <a:r>
              <a:rPr lang="en-GB" sz="1600" dirty="0">
                <a:solidFill>
                  <a:srgbClr val="080808"/>
                </a:solidFill>
                <a:latin typeface="Verdana"/>
              </a:rPr>
              <a:t>stored</a:t>
            </a:r>
            <a:r>
              <a:rPr lang="en-GB" sz="1600" b="0" dirty="0">
                <a:solidFill>
                  <a:srgbClr val="080808"/>
                </a:solidFill>
                <a:latin typeface="Verdana"/>
              </a:rPr>
              <a:t> and </a:t>
            </a:r>
            <a:r>
              <a:rPr lang="en-GB" sz="1600" dirty="0">
                <a:solidFill>
                  <a:srgbClr val="080808"/>
                </a:solidFill>
                <a:latin typeface="Verdana"/>
              </a:rPr>
              <a:t>transported</a:t>
            </a:r>
            <a:r>
              <a:rPr lang="en-GB" sz="1600" b="0" dirty="0">
                <a:solidFill>
                  <a:srgbClr val="080808"/>
                </a:solidFill>
                <a:latin typeface="Verdana"/>
              </a:rPr>
              <a:t> in an appropriate manner</a:t>
            </a:r>
          </a:p>
          <a:p>
            <a:pPr marL="285750" indent="-285750">
              <a:buFont typeface="Arial" panose="020B0604020202020204" pitchFamily="34" charset="0"/>
              <a:buChar char="•"/>
              <a:defRPr/>
            </a:pPr>
            <a:r>
              <a:rPr lang="en-GB" sz="1600" dirty="0">
                <a:solidFill>
                  <a:srgbClr val="080808"/>
                </a:solidFill>
                <a:latin typeface="Verdana"/>
              </a:rPr>
              <a:t>Records and releases </a:t>
            </a:r>
            <a:r>
              <a:rPr lang="en-GB" sz="1600" b="0" dirty="0">
                <a:solidFill>
                  <a:srgbClr val="080808"/>
                </a:solidFill>
                <a:latin typeface="Verdana"/>
              </a:rPr>
              <a:t>are </a:t>
            </a:r>
            <a:r>
              <a:rPr lang="en-GB" sz="1600" dirty="0">
                <a:solidFill>
                  <a:srgbClr val="080808"/>
                </a:solidFill>
                <a:latin typeface="Verdana"/>
              </a:rPr>
              <a:t>documented</a:t>
            </a:r>
            <a:r>
              <a:rPr lang="en-GB" sz="1600" b="0" dirty="0">
                <a:solidFill>
                  <a:srgbClr val="080808"/>
                </a:solidFill>
                <a:latin typeface="Verdana"/>
              </a:rPr>
              <a:t> and retained</a:t>
            </a:r>
          </a:p>
          <a:p>
            <a:pPr marL="285750" indent="-285750">
              <a:buFont typeface="Arial" panose="020B0604020202020204" pitchFamily="34" charset="0"/>
              <a:buChar char="•"/>
              <a:defRPr/>
            </a:pPr>
            <a:r>
              <a:rPr lang="en-GB" sz="1600" dirty="0">
                <a:solidFill>
                  <a:srgbClr val="080808"/>
                </a:solidFill>
                <a:latin typeface="Verdana"/>
              </a:rPr>
              <a:t>Customer requirements are met </a:t>
            </a:r>
            <a:r>
              <a:rPr lang="en-GB" sz="1600" b="0" dirty="0">
                <a:solidFill>
                  <a:srgbClr val="080808"/>
                </a:solidFill>
                <a:latin typeface="Verdana"/>
              </a:rPr>
              <a:t>at the delivery of the final product</a:t>
            </a:r>
            <a:endParaRPr lang="en-GB" dirty="0">
              <a:solidFill>
                <a:srgbClr val="080808"/>
              </a:solidFill>
              <a:latin typeface="Verdana"/>
            </a:endParaRPr>
          </a:p>
          <a:p>
            <a:pPr>
              <a:buFont typeface="Arial" pitchFamily="34" charset="0"/>
              <a:buNone/>
              <a:defRPr/>
            </a:pPr>
            <a:endParaRPr lang="en-GB" dirty="0">
              <a:solidFill>
                <a:srgbClr val="080808"/>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0605" y="1752599"/>
            <a:ext cx="3777123" cy="43376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hteck 3"/>
          <p:cNvSpPr/>
          <p:nvPr/>
        </p:nvSpPr>
        <p:spPr>
          <a:xfrm>
            <a:off x="5872701" y="2442776"/>
            <a:ext cx="1989647" cy="276999"/>
          </a:xfrm>
          <a:prstGeom prst="rect">
            <a:avLst/>
          </a:prstGeom>
          <a:solidFill>
            <a:schemeClr val="bg1">
              <a:lumMod val="75000"/>
            </a:schemeClr>
          </a:solidFill>
        </p:spPr>
        <p:txBody>
          <a:bodyPr wrap="none">
            <a:spAutoFit/>
          </a:bodyPr>
          <a:lstStyle/>
          <a:p>
            <a:pPr lvl="0" algn="ctr" eaLnBrk="0" fontAlgn="base" hangingPunct="0">
              <a:spcAft>
                <a:spcPts val="600"/>
              </a:spcAft>
              <a:defRPr/>
            </a:pPr>
            <a:r>
              <a:rPr lang="en-GB" sz="1200" b="1" dirty="0">
                <a:solidFill>
                  <a:srgbClr val="080808"/>
                </a:solidFill>
                <a:cs typeface="Arial" pitchFamily="34" charset="0"/>
              </a:rPr>
              <a:t>Personnel Resources</a:t>
            </a:r>
            <a:endParaRPr lang="en-GB" sz="1200" dirty="0">
              <a:solidFill>
                <a:srgbClr val="080808"/>
              </a:solidFill>
              <a:ea typeface="Verdana" pitchFamily="34" charset="0"/>
              <a:cs typeface="Verdana" pitchFamily="34" charset="0"/>
            </a:endParaRPr>
          </a:p>
        </p:txBody>
      </p:sp>
    </p:spTree>
    <p:extLst>
      <p:ext uri="{BB962C8B-B14F-4D97-AF65-F5344CB8AC3E}">
        <p14:creationId xmlns:p14="http://schemas.microsoft.com/office/powerpoint/2010/main" val="70008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E7BFA-6BF1-22EF-89BF-7232F2A7B29C}"/>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E5273E68-8C76-6C0F-9577-4C0E604F9289}"/>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6.6.1 Do the quantities/production batch sizes match needs and are they systematically directed to the next production process step?</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Products are forwarded to defined storage/holding points using suitable means of transport.</a:t>
            </a:r>
            <a:br>
              <a:rPr lang="en-US" sz="1400" b="0" dirty="0">
                <a:latin typeface="Arial Narrow" panose="020B0606020202030204" pitchFamily="34" charset="0"/>
              </a:rPr>
            </a:br>
            <a:r>
              <a:rPr lang="en-US" sz="1400" b="0" dirty="0">
                <a:latin typeface="Arial Narrow" panose="020B0606020202030204" pitchFamily="34" charset="0"/>
              </a:rPr>
              <a:t>The order quantity/batch size is taken into account, so that only the required quantity of products is moved to the stipulated storage/holding point.</a:t>
            </a:r>
            <a:br>
              <a:rPr lang="en-US" sz="1400" b="0" dirty="0">
                <a:latin typeface="Arial Narrow" panose="020B0606020202030204" pitchFamily="34" charset="0"/>
              </a:rPr>
            </a:br>
            <a:r>
              <a:rPr lang="en-US" sz="1400" b="0" dirty="0">
                <a:latin typeface="Arial Narrow" panose="020B0606020202030204" pitchFamily="34" charset="0"/>
              </a:rPr>
              <a:t>The use status of the product (OK part, rework, reject, etc.) is evident from the labeling (component, container etc.).</a:t>
            </a:r>
            <a:br>
              <a:rPr lang="en-US" sz="1400" b="0" dirty="0">
                <a:latin typeface="Arial Narrow" panose="020B0606020202030204" pitchFamily="34" charset="0"/>
              </a:rPr>
            </a:br>
            <a:r>
              <a:rPr lang="en-US" sz="1400" b="0" dirty="0">
                <a:latin typeface="Arial Narrow" panose="020B0606020202030204" pitchFamily="34" charset="0"/>
              </a:rPr>
              <a:t>The change status is clearly indicated.</a:t>
            </a:r>
            <a:br>
              <a:rPr lang="en-US" sz="1400" b="0" dirty="0">
                <a:latin typeface="Arial Narrow" panose="020B0606020202030204" pitchFamily="34" charset="0"/>
              </a:rPr>
            </a:br>
            <a:r>
              <a:rPr lang="en-US" sz="1400" b="0" dirty="0">
                <a:latin typeface="Arial Narrow" panose="020B0606020202030204" pitchFamily="34" charset="0"/>
              </a:rPr>
              <a:t>It is ensured that only OK parts move on to the next production process step.</a:t>
            </a:r>
            <a:br>
              <a:rPr lang="en-US" sz="1400" b="0" dirty="0">
                <a:latin typeface="Arial Narrow" panose="020B0606020202030204" pitchFamily="34" charset="0"/>
              </a:rPr>
            </a:br>
            <a:r>
              <a:rPr lang="en-US" sz="1400" b="0" dirty="0">
                <a:latin typeface="Arial Narrow" panose="020B0606020202030204" pitchFamily="34" charset="0"/>
              </a:rPr>
              <a:t>Rules are put in place for returning residual quantities, including the recording of the quantities as well as further processing.</a:t>
            </a:r>
          </a:p>
        </p:txBody>
      </p:sp>
      <p:sp>
        <p:nvSpPr>
          <p:cNvPr id="4" name="Inhaltsplatzhalter 4">
            <a:extLst>
              <a:ext uri="{FF2B5EF4-FFF2-40B4-BE49-F238E27FC236}">
                <a16:creationId xmlns:a16="http://schemas.microsoft.com/office/drawing/2014/main" id="{166B243B-508F-BAB4-46BF-BE39E8618A8A}"/>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KANBAN</a:t>
            </a:r>
          </a:p>
          <a:p>
            <a:pPr>
              <a:buFont typeface="Arial" panose="020B0604020202020204" pitchFamily="34" charset="0"/>
              <a:buChar char="•"/>
            </a:pPr>
            <a:r>
              <a:rPr lang="en-US" sz="1400" b="0" dirty="0">
                <a:latin typeface="Arial Narrow" panose="020B0606020202030204" pitchFamily="34" charset="0"/>
              </a:rPr>
              <a:t>FIFO/FEFO</a:t>
            </a:r>
          </a:p>
          <a:p>
            <a:pPr>
              <a:buFont typeface="Arial" panose="020B0604020202020204" pitchFamily="34" charset="0"/>
              <a:buChar char="•"/>
            </a:pPr>
            <a:r>
              <a:rPr lang="en-US" sz="1400" b="0" dirty="0">
                <a:latin typeface="Arial Narrow" panose="020B0606020202030204" pitchFamily="34" charset="0"/>
              </a:rPr>
              <a:t>JIT/JIS</a:t>
            </a:r>
          </a:p>
          <a:p>
            <a:pPr>
              <a:buFont typeface="Arial" panose="020B0604020202020204" pitchFamily="34" charset="0"/>
              <a:buChar char="•"/>
            </a:pPr>
            <a:r>
              <a:rPr lang="en-US" sz="1400" b="0" dirty="0">
                <a:latin typeface="Arial Narrow" panose="020B0606020202030204" pitchFamily="34" charset="0"/>
              </a:rPr>
              <a:t>Warehouse management</a:t>
            </a:r>
          </a:p>
          <a:p>
            <a:pPr>
              <a:buFont typeface="Arial" panose="020B0604020202020204" pitchFamily="34" charset="0"/>
              <a:buChar char="•"/>
            </a:pPr>
            <a:r>
              <a:rPr lang="en-US" sz="1400" b="0" dirty="0">
                <a:latin typeface="Arial Narrow" panose="020B0606020202030204" pitchFamily="34" charset="0"/>
              </a:rPr>
              <a:t>Production quantities tailored to the customer’s needs</a:t>
            </a:r>
          </a:p>
          <a:p>
            <a:pPr>
              <a:buFont typeface="Arial" panose="020B0604020202020204" pitchFamily="34" charset="0"/>
              <a:buChar char="•"/>
            </a:pPr>
            <a:r>
              <a:rPr lang="en-US" sz="1400" b="0" dirty="0">
                <a:latin typeface="Arial Narrow" panose="020B0606020202030204" pitchFamily="34" charset="0"/>
              </a:rPr>
              <a:t>Technical cleanliness</a:t>
            </a:r>
          </a:p>
        </p:txBody>
      </p:sp>
    </p:spTree>
    <p:extLst>
      <p:ext uri="{BB962C8B-B14F-4D97-AF65-F5344CB8AC3E}">
        <p14:creationId xmlns:p14="http://schemas.microsoft.com/office/powerpoint/2010/main" val="1159756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AA915-7DA1-2BB2-128B-0D6991EA6355}"/>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300E3A23-3C06-6152-92FD-78139EAE6657}"/>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6.6.2 Are products stored in an appropriate manner and are the means of transport/packaging facilities suitable for the specific properties of the products?</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The products are protected from damage by suitable storage and packaging.</a:t>
            </a:r>
            <a:br>
              <a:rPr lang="en-US" sz="1400" b="0" dirty="0">
                <a:latin typeface="Arial Narrow" panose="020B0606020202030204" pitchFamily="34" charset="0"/>
              </a:rPr>
            </a:br>
            <a:r>
              <a:rPr lang="en-US" sz="1400" b="0" dirty="0">
                <a:latin typeface="Arial Narrow" panose="020B0606020202030204" pitchFamily="34" charset="0"/>
              </a:rPr>
              <a:t>Internal and customer-specific packaging instructions are known and are implemented. This also applies to released replacement packaging.</a:t>
            </a:r>
            <a:br>
              <a:rPr lang="en-US" sz="1400" b="0" dirty="0">
                <a:latin typeface="Arial Narrow" panose="020B0606020202030204" pitchFamily="34" charset="0"/>
              </a:rPr>
            </a:br>
            <a:r>
              <a:rPr lang="en-US" sz="1400" b="0" dirty="0">
                <a:latin typeface="Arial Narrow" panose="020B0606020202030204" pitchFamily="34" charset="0"/>
              </a:rPr>
              <a:t>The storage areas/containers meet the requirements with regard to cleanliness.</a:t>
            </a:r>
            <a:br>
              <a:rPr lang="en-US" sz="1400" b="0" dirty="0">
                <a:latin typeface="Arial Narrow" panose="020B0606020202030204" pitchFamily="34" charset="0"/>
              </a:rPr>
            </a:br>
            <a:r>
              <a:rPr lang="en-US" sz="1400" b="0" dirty="0">
                <a:latin typeface="Arial Narrow" panose="020B0606020202030204" pitchFamily="34" charset="0"/>
              </a:rPr>
              <a:t>Specified storage times are monitored.</a:t>
            </a:r>
            <a:br>
              <a:rPr lang="en-US" sz="1400" b="0" dirty="0">
                <a:latin typeface="Arial Narrow" panose="020B0606020202030204" pitchFamily="34" charset="0"/>
              </a:rPr>
            </a:br>
            <a:r>
              <a:rPr lang="en-US" sz="1400" b="0" dirty="0">
                <a:latin typeface="Arial Narrow" panose="020B0606020202030204" pitchFamily="34" charset="0"/>
              </a:rPr>
              <a:t>Products are protected against environmental and climatic influences during storage and shipment.</a:t>
            </a:r>
            <a:br>
              <a:rPr lang="en-US" sz="1400" b="0" dirty="0">
                <a:latin typeface="Arial Narrow" panose="020B0606020202030204" pitchFamily="34" charset="0"/>
              </a:rPr>
            </a:br>
            <a:r>
              <a:rPr lang="en-US" sz="1400" b="0" dirty="0">
                <a:latin typeface="Arial Narrow" panose="020B0606020202030204" pitchFamily="34" charset="0"/>
              </a:rPr>
              <a:t>The requirements apply to the handling during the production processes as well as during shipment</a:t>
            </a:r>
          </a:p>
        </p:txBody>
      </p:sp>
      <p:sp>
        <p:nvSpPr>
          <p:cNvPr id="4" name="Inhaltsplatzhalter 4">
            <a:extLst>
              <a:ext uri="{FF2B5EF4-FFF2-40B4-BE49-F238E27FC236}">
                <a16:creationId xmlns:a16="http://schemas.microsoft.com/office/drawing/2014/main" id="{44817874-F31C-E385-2C3B-D564E103C1AD}"/>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Protection from damage</a:t>
            </a:r>
          </a:p>
          <a:p>
            <a:pPr>
              <a:buFont typeface="Arial" panose="020B0604020202020204" pitchFamily="34" charset="0"/>
              <a:buChar char="•"/>
            </a:pPr>
            <a:r>
              <a:rPr lang="en-US" sz="1400" b="0" dirty="0">
                <a:latin typeface="Arial Narrow" panose="020B0606020202030204" pitchFamily="34" charset="0"/>
              </a:rPr>
              <a:t>ESD protection for electronic components</a:t>
            </a:r>
          </a:p>
          <a:p>
            <a:pPr>
              <a:buFont typeface="Arial" panose="020B0604020202020204" pitchFamily="34" charset="0"/>
              <a:buChar char="•"/>
            </a:pPr>
            <a:r>
              <a:rPr lang="en-US" sz="1400" b="0" dirty="0">
                <a:latin typeface="Arial Narrow" panose="020B0606020202030204" pitchFamily="34" charset="0"/>
              </a:rPr>
              <a:t>Technical cleanliness</a:t>
            </a:r>
          </a:p>
          <a:p>
            <a:pPr>
              <a:buFont typeface="Arial" panose="020B0604020202020204" pitchFamily="34" charset="0"/>
              <a:buChar char="•"/>
            </a:pPr>
            <a:r>
              <a:rPr lang="en-US" sz="1400" b="0" dirty="0">
                <a:latin typeface="Arial Narrow" panose="020B0606020202030204" pitchFamily="34" charset="0"/>
              </a:rPr>
              <a:t>Cleanliness and tidiness, 5S</a:t>
            </a:r>
          </a:p>
          <a:p>
            <a:pPr>
              <a:buFont typeface="Arial" panose="020B0604020202020204" pitchFamily="34" charset="0"/>
              <a:buChar char="•"/>
            </a:pPr>
            <a:r>
              <a:rPr lang="en-US" sz="1400" b="0" dirty="0">
                <a:latin typeface="Arial Narrow" panose="020B0606020202030204" pitchFamily="34" charset="0"/>
              </a:rPr>
              <a:t>No over-filling (storage areas and containers)</a:t>
            </a:r>
          </a:p>
          <a:p>
            <a:pPr>
              <a:buFont typeface="Arial" panose="020B0604020202020204" pitchFamily="34" charset="0"/>
              <a:buChar char="•"/>
            </a:pPr>
            <a:r>
              <a:rPr lang="en-US" sz="1400" b="0" dirty="0">
                <a:latin typeface="Arial Narrow" panose="020B0606020202030204" pitchFamily="34" charset="0"/>
              </a:rPr>
              <a:t>Monitoring of storage times/storage quantity (maximum/minimum storage times, specified interim storage times)</a:t>
            </a:r>
          </a:p>
          <a:p>
            <a:pPr>
              <a:buFont typeface="Arial" panose="020B0604020202020204" pitchFamily="34" charset="0"/>
              <a:buChar char="•"/>
            </a:pPr>
            <a:r>
              <a:rPr lang="en-US" sz="1400" b="0" dirty="0">
                <a:latin typeface="Arial Narrow" panose="020B0606020202030204" pitchFamily="34" charset="0"/>
              </a:rPr>
              <a:t>Specifications regarding the cleaning of packaging</a:t>
            </a:r>
          </a:p>
          <a:p>
            <a:pPr>
              <a:buFont typeface="Arial" panose="020B0604020202020204" pitchFamily="34" charset="0"/>
              <a:buChar char="•"/>
            </a:pPr>
            <a:r>
              <a:rPr lang="en-US" sz="1400" b="0" dirty="0">
                <a:latin typeface="Arial Narrow" panose="020B0606020202030204" pitchFamily="34" charset="0"/>
              </a:rPr>
              <a:t>Sufficient amount of packaging</a:t>
            </a:r>
          </a:p>
        </p:txBody>
      </p:sp>
    </p:spTree>
    <p:extLst>
      <p:ext uri="{BB962C8B-B14F-4D97-AF65-F5344CB8AC3E}">
        <p14:creationId xmlns:p14="http://schemas.microsoft.com/office/powerpoint/2010/main" val="35154154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38CE8-101E-50B7-F3AB-153B6A87DBA9}"/>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ECA8DE25-B4AA-5C0E-FD61-6566B2284139}"/>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6.6.3 Are the necessary records and releases retained?</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The release of the products as well as the relevant evidence is documented.</a:t>
            </a:r>
            <a:br>
              <a:rPr lang="en-US" sz="1400" b="0" dirty="0">
                <a:latin typeface="Arial Narrow" panose="020B0606020202030204" pitchFamily="34" charset="0"/>
              </a:rPr>
            </a:br>
            <a:r>
              <a:rPr lang="en-US" sz="1400" b="0" dirty="0">
                <a:latin typeface="Arial Narrow" panose="020B0606020202030204" pitchFamily="34" charset="0"/>
              </a:rPr>
              <a:t>Special releases/waivers are documented. The documentation covers the period and/or quantity of products involved.</a:t>
            </a:r>
            <a:br>
              <a:rPr lang="en-US" sz="1400" b="0" dirty="0">
                <a:latin typeface="Arial Narrow" panose="020B0606020202030204" pitchFamily="34" charset="0"/>
              </a:rPr>
            </a:br>
            <a:r>
              <a:rPr lang="en-US" sz="1400" b="0" dirty="0">
                <a:latin typeface="Arial Narrow" panose="020B0606020202030204" pitchFamily="34" charset="0"/>
              </a:rPr>
              <a:t>Internal specifications and customer specifications regarding the documentation of rework and repair are fulfilled.</a:t>
            </a:r>
            <a:br>
              <a:rPr lang="en-US" sz="1400" b="0" dirty="0">
                <a:latin typeface="Arial Narrow" panose="020B0606020202030204" pitchFamily="34" charset="0"/>
              </a:rPr>
            </a:br>
            <a:r>
              <a:rPr lang="en-US" sz="1400" b="0" dirty="0">
                <a:latin typeface="Arial Narrow" panose="020B0606020202030204" pitchFamily="34" charset="0"/>
              </a:rPr>
              <a:t>The traceability of products is ensured.</a:t>
            </a:r>
            <a:br>
              <a:rPr lang="en-US" sz="1400" b="0" dirty="0">
                <a:latin typeface="Arial Narrow" panose="020B0606020202030204" pitchFamily="34" charset="0"/>
              </a:rPr>
            </a:br>
            <a:r>
              <a:rPr lang="en-US" sz="1400" b="0" dirty="0">
                <a:latin typeface="Arial Narrow" panose="020B0606020202030204" pitchFamily="34" charset="0"/>
              </a:rPr>
              <a:t>Customer requirements with regard to archiving are fulfilled.</a:t>
            </a:r>
          </a:p>
        </p:txBody>
      </p:sp>
      <p:sp>
        <p:nvSpPr>
          <p:cNvPr id="4" name="Inhaltsplatzhalter 4">
            <a:extLst>
              <a:ext uri="{FF2B5EF4-FFF2-40B4-BE49-F238E27FC236}">
                <a16:creationId xmlns:a16="http://schemas.microsoft.com/office/drawing/2014/main" id="{7B670B5F-BAF2-EF4C-31E8-81E4CDC9108B}"/>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Customer specifications</a:t>
            </a:r>
          </a:p>
          <a:p>
            <a:pPr>
              <a:buFont typeface="Arial" panose="020B0604020202020204" pitchFamily="34" charset="0"/>
              <a:buChar char="•"/>
            </a:pPr>
            <a:r>
              <a:rPr lang="en-US" sz="1400" b="0" dirty="0">
                <a:latin typeface="Arial Narrow" panose="020B0606020202030204" pitchFamily="34" charset="0"/>
              </a:rPr>
              <a:t>Customer specifications for archiving time limits</a:t>
            </a:r>
          </a:p>
          <a:p>
            <a:pPr>
              <a:buFont typeface="Arial" panose="020B0604020202020204" pitchFamily="34" charset="0"/>
              <a:buChar char="•"/>
            </a:pPr>
            <a:r>
              <a:rPr lang="en-US" sz="1400" b="0" dirty="0">
                <a:latin typeface="Arial Narrow" panose="020B0606020202030204" pitchFamily="34" charset="0"/>
              </a:rPr>
              <a:t>Archiving requirements/regulations (e.g. EDP, paper, fire protection, legibility)</a:t>
            </a:r>
          </a:p>
          <a:p>
            <a:pPr>
              <a:buFont typeface="Arial" panose="020B0604020202020204" pitchFamily="34" charset="0"/>
              <a:buChar char="•"/>
            </a:pPr>
            <a:r>
              <a:rPr lang="en-US" sz="1400" b="0" dirty="0">
                <a:latin typeface="Arial Narrow" panose="020B0606020202030204" pitchFamily="34" charset="0"/>
              </a:rPr>
              <a:t>Parts history</a:t>
            </a:r>
          </a:p>
        </p:txBody>
      </p:sp>
    </p:spTree>
    <p:extLst>
      <p:ext uri="{BB962C8B-B14F-4D97-AF65-F5344CB8AC3E}">
        <p14:creationId xmlns:p14="http://schemas.microsoft.com/office/powerpoint/2010/main" val="35193292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F78BB-4AC3-8FE2-A06B-AB910494F95B}"/>
            </a:ext>
          </a:extLst>
        </p:cNvPr>
        <p:cNvGrpSpPr/>
        <p:nvPr/>
      </p:nvGrpSpPr>
      <p:grpSpPr>
        <a:xfrm>
          <a:off x="0" y="0"/>
          <a:ext cx="0" cy="0"/>
          <a:chOff x="0" y="0"/>
          <a:chExt cx="0" cy="0"/>
        </a:xfrm>
      </p:grpSpPr>
      <p:sp>
        <p:nvSpPr>
          <p:cNvPr id="3" name="Inhaltsplatzhalter 4">
            <a:extLst>
              <a:ext uri="{FF2B5EF4-FFF2-40B4-BE49-F238E27FC236}">
                <a16:creationId xmlns:a16="http://schemas.microsoft.com/office/drawing/2014/main" id="{443F40A8-DC23-BCC2-D37B-F49360B08FCF}"/>
              </a:ext>
            </a:extLst>
          </p:cNvPr>
          <p:cNvSpPr txBox="1">
            <a:spLocks/>
          </p:cNvSpPr>
          <p:nvPr/>
        </p:nvSpPr>
        <p:spPr>
          <a:xfrm>
            <a:off x="244637" y="838323"/>
            <a:ext cx="4222221"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latin typeface="Arial Narrow" panose="020B0606020202030204" pitchFamily="34" charset="0"/>
              </a:rPr>
              <a:t>6.6.4* Are the customer requirements met upon delivery of the product?</a:t>
            </a:r>
          </a:p>
          <a:p>
            <a:r>
              <a:rPr lang="en-US" sz="1400" u="sng" dirty="0">
                <a:latin typeface="Arial Narrow" panose="020B0606020202030204" pitchFamily="34" charset="0"/>
              </a:rPr>
              <a:t>Minimum requirements relevant for assessment</a:t>
            </a:r>
          </a:p>
          <a:p>
            <a:br>
              <a:rPr lang="en-US" sz="1400" b="0" dirty="0">
                <a:latin typeface="Arial Narrow" panose="020B0606020202030204" pitchFamily="34" charset="0"/>
              </a:rPr>
            </a:br>
            <a:r>
              <a:rPr lang="en-US" sz="1400" b="0" dirty="0">
                <a:latin typeface="Arial Narrow" panose="020B0606020202030204" pitchFamily="34" charset="0"/>
              </a:rPr>
              <a:t>The customer-specific requirements regarding the final product (delivery reliability, quality targets, quality performance etc.) are known. The fulfillment of these requirements is continuously monitored, assessed and documented.</a:t>
            </a:r>
            <a:br>
              <a:rPr lang="en-US" sz="1400" b="0" dirty="0">
                <a:latin typeface="Arial Narrow" panose="020B0606020202030204" pitchFamily="34" charset="0"/>
              </a:rPr>
            </a:br>
            <a:r>
              <a:rPr lang="en-US" sz="1400" b="0" dirty="0">
                <a:latin typeface="Arial Narrow" panose="020B0606020202030204" pitchFamily="34" charset="0"/>
              </a:rPr>
              <a:t>In case of deviations, the causes are analyzed, measures are defined and implemented and their effectiveness is ensured.</a:t>
            </a:r>
            <a:br>
              <a:rPr lang="en-US" sz="1400" b="0" dirty="0">
                <a:latin typeface="Arial Narrow" panose="020B0606020202030204" pitchFamily="34" charset="0"/>
              </a:rPr>
            </a:br>
            <a:r>
              <a:rPr lang="en-US" sz="1400" b="0" dirty="0">
                <a:latin typeface="Arial Narrow" panose="020B0606020202030204" pitchFamily="34" charset="0"/>
              </a:rPr>
              <a:t>Products are labeled, stored and shipped in accordance with the customer requirements.</a:t>
            </a:r>
            <a:br>
              <a:rPr lang="en-US" sz="1400" b="0" dirty="0">
                <a:latin typeface="Arial Narrow" panose="020B0606020202030204" pitchFamily="34" charset="0"/>
              </a:rPr>
            </a:br>
            <a:r>
              <a:rPr lang="en-US" sz="1400" b="0" dirty="0">
                <a:latin typeface="Arial Narrow" panose="020B0606020202030204" pitchFamily="34" charset="0"/>
              </a:rPr>
              <a:t>In case of special releases/waivers, products and packaging are labeled accordingly.</a:t>
            </a:r>
            <a:br>
              <a:rPr lang="en-US" sz="1400" b="0" dirty="0">
                <a:latin typeface="Arial Narrow" panose="020B0606020202030204" pitchFamily="34" charset="0"/>
              </a:rPr>
            </a:br>
            <a:r>
              <a:rPr lang="en-US" sz="1400" b="0" dirty="0">
                <a:latin typeface="Arial Narrow" panose="020B0606020202030204" pitchFamily="34" charset="0"/>
              </a:rPr>
              <a:t>Internal specifications as well as customer specifications regarding the labeling of reworked or repaired products are observed.</a:t>
            </a:r>
            <a:br>
              <a:rPr lang="en-US" sz="1400" b="0" dirty="0">
                <a:latin typeface="Arial Narrow" panose="020B0606020202030204" pitchFamily="34" charset="0"/>
              </a:rPr>
            </a:br>
            <a:r>
              <a:rPr lang="en-US" sz="1400" b="0" dirty="0">
                <a:latin typeface="Arial Narrow" panose="020B0606020202030204" pitchFamily="34" charset="0"/>
              </a:rPr>
              <a:t>The handling of supplied products is regulated.</a:t>
            </a:r>
            <a:br>
              <a:rPr lang="en-US" sz="1400" b="0" dirty="0">
                <a:latin typeface="Arial Narrow" panose="020B0606020202030204" pitchFamily="34" charset="0"/>
              </a:rPr>
            </a:br>
            <a:r>
              <a:rPr lang="en-US" sz="1400" b="0" dirty="0">
                <a:latin typeface="Arial Narrow" panose="020B0606020202030204" pitchFamily="34" charset="0"/>
              </a:rPr>
              <a:t>Customers should be informed of delivery stops which affect them, and the further procedure should be coordinated with them.</a:t>
            </a:r>
          </a:p>
        </p:txBody>
      </p:sp>
      <p:sp>
        <p:nvSpPr>
          <p:cNvPr id="4" name="Inhaltsplatzhalter 4">
            <a:extLst>
              <a:ext uri="{FF2B5EF4-FFF2-40B4-BE49-F238E27FC236}">
                <a16:creationId xmlns:a16="http://schemas.microsoft.com/office/drawing/2014/main" id="{0DBCD367-55FB-C31A-6308-A276B666BC45}"/>
              </a:ext>
            </a:extLst>
          </p:cNvPr>
          <p:cNvSpPr txBox="1">
            <a:spLocks/>
          </p:cNvSpPr>
          <p:nvPr/>
        </p:nvSpPr>
        <p:spPr>
          <a:xfrm>
            <a:off x="4784646" y="957262"/>
            <a:ext cx="4359354" cy="4943475"/>
          </a:xfrm>
          <a:prstGeom prst="rect">
            <a:avLst/>
          </a:prstGeom>
          <a:solidFill>
            <a:schemeClr val="bg1"/>
          </a:solidFill>
        </p:spPr>
        <p:txBody>
          <a:bodyPr lIns="72000" tIns="0" rIns="0" bIns="0"/>
          <a:lstStyle>
            <a:lvl1pPr marL="342900" indent="-342900" algn="l" rtl="0" eaLnBrk="0" fontAlgn="base" hangingPunct="0">
              <a:spcBef>
                <a:spcPts val="0"/>
              </a:spcBef>
              <a:spcAft>
                <a:spcPts val="600"/>
              </a:spcAft>
              <a:buFont typeface="Arial" charset="0"/>
              <a:buNone/>
              <a:defRPr sz="2000" b="1" kern="1200">
                <a:solidFill>
                  <a:schemeClr val="tx1"/>
                </a:solidFill>
                <a:latin typeface="Verdana" pitchFamily="34" charset="0"/>
                <a:ea typeface="+mn-ea"/>
                <a:cs typeface="+mn-cs"/>
              </a:defRPr>
            </a:lvl1pPr>
            <a:lvl2pPr marL="270000" indent="-252000" algn="l" rtl="0" eaLnBrk="0" fontAlgn="base" hangingPunct="0">
              <a:spcBef>
                <a:spcPts val="0"/>
              </a:spcBef>
              <a:spcAft>
                <a:spcPts val="600"/>
              </a:spcAft>
              <a:buFont typeface="Arial" pitchFamily="34" charset="0"/>
              <a:buChar char="•"/>
              <a:defRPr sz="1600" b="0" kern="1200">
                <a:solidFill>
                  <a:schemeClr val="tx1"/>
                </a:solidFill>
                <a:latin typeface="Verdana" pitchFamily="34" charset="0"/>
                <a:ea typeface="+mn-ea"/>
                <a:cs typeface="+mn-cs"/>
              </a:defRPr>
            </a:lvl2pPr>
            <a:lvl3pPr marL="538163" indent="-270000" algn="l" rtl="0" eaLnBrk="0" fontAlgn="base" hangingPunct="0">
              <a:spcBef>
                <a:spcPts val="0"/>
              </a:spcBef>
              <a:spcAft>
                <a:spcPts val="600"/>
              </a:spcAft>
              <a:buFont typeface="Symbol" pitchFamily="18" charset="2"/>
              <a:buNone/>
              <a:defRPr sz="1600" b="0" kern="1200">
                <a:solidFill>
                  <a:schemeClr val="tx1"/>
                </a:solidFill>
                <a:latin typeface="Verdana" pitchFamily="34" charset="0"/>
                <a:ea typeface="+mn-ea"/>
                <a:cs typeface="+mn-cs"/>
              </a:defRPr>
            </a:lvl3pPr>
            <a:lvl4pPr marL="16002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4pPr>
            <a:lvl5pPr marL="2057400" indent="-228600" algn="l" rtl="0" eaLnBrk="0" fontAlgn="base" hangingPunct="0">
              <a:spcBef>
                <a:spcPts val="0"/>
              </a:spcBef>
              <a:spcAft>
                <a:spcPts val="600"/>
              </a:spcAft>
              <a:buFont typeface="Arial" charset="0"/>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0"/>
              </a:spcAft>
              <a:defRPr/>
            </a:pPr>
            <a:r>
              <a:rPr lang="en-US" sz="1400" u="sng" dirty="0">
                <a:latin typeface="Arial Narrow" panose="020B0606020202030204" pitchFamily="34" charset="0"/>
              </a:rPr>
              <a:t>Examples for implementation</a:t>
            </a:r>
          </a:p>
          <a:p>
            <a:pPr>
              <a:spcAft>
                <a:spcPts val="0"/>
              </a:spcAft>
              <a:defRPr/>
            </a:pPr>
            <a:endParaRPr lang="en-GB" sz="1400" b="0" dirty="0">
              <a:solidFill>
                <a:srgbClr val="080808"/>
              </a:solidFill>
              <a:latin typeface="Arial Narrow" panose="020B0606020202030204" pitchFamily="34" charset="0"/>
            </a:endParaRPr>
          </a:p>
          <a:p>
            <a:pPr>
              <a:buFont typeface="Arial" panose="020B0604020202020204" pitchFamily="34" charset="0"/>
              <a:buChar char="•"/>
            </a:pPr>
            <a:r>
              <a:rPr lang="en-US" sz="1400" b="0" dirty="0">
                <a:latin typeface="Arial Narrow" panose="020B0606020202030204" pitchFamily="34" charset="0"/>
              </a:rPr>
              <a:t>Quality agreements with the customer</a:t>
            </a:r>
          </a:p>
          <a:p>
            <a:pPr>
              <a:buFont typeface="Arial" panose="020B0604020202020204" pitchFamily="34" charset="0"/>
              <a:buChar char="•"/>
            </a:pPr>
            <a:r>
              <a:rPr lang="en-US" sz="1400" b="0" dirty="0">
                <a:latin typeface="Arial Narrow" panose="020B0606020202030204" pitchFamily="34" charset="0"/>
              </a:rPr>
              <a:t>Packaging specification</a:t>
            </a:r>
          </a:p>
          <a:p>
            <a:pPr>
              <a:buFont typeface="Arial" panose="020B0604020202020204" pitchFamily="34" charset="0"/>
              <a:buChar char="•"/>
            </a:pPr>
            <a:r>
              <a:rPr lang="en-US" sz="1400" b="0" dirty="0">
                <a:latin typeface="Arial Narrow" panose="020B0606020202030204" pitchFamily="34" charset="0"/>
              </a:rPr>
              <a:t>Target agreements</a:t>
            </a:r>
          </a:p>
          <a:p>
            <a:pPr>
              <a:buFont typeface="Arial" panose="020B0604020202020204" pitchFamily="34" charset="0"/>
              <a:buChar char="•"/>
            </a:pPr>
            <a:r>
              <a:rPr lang="en-US" sz="1400" b="0" dirty="0">
                <a:latin typeface="Arial Narrow" panose="020B0606020202030204" pitchFamily="34" charset="0"/>
              </a:rPr>
              <a:t>Shipping audit</a:t>
            </a:r>
          </a:p>
          <a:p>
            <a:pPr>
              <a:buFont typeface="Arial" panose="020B0604020202020204" pitchFamily="34" charset="0"/>
              <a:buChar char="•"/>
            </a:pPr>
            <a:r>
              <a:rPr lang="en-US" sz="1400" b="0" dirty="0">
                <a:latin typeface="Arial Narrow" panose="020B0606020202030204" pitchFamily="34" charset="0"/>
              </a:rPr>
              <a:t>Customer specifications regarding labeling (e.g.: VDA </a:t>
            </a:r>
            <a:r>
              <a:rPr lang="en-US" sz="1400" b="0">
                <a:latin typeface="Arial Narrow" panose="020B0606020202030204" pitchFamily="34" charset="0"/>
              </a:rPr>
              <a:t>label)</a:t>
            </a:r>
          </a:p>
          <a:p>
            <a:pPr>
              <a:buFont typeface="Arial" panose="020B0604020202020204" pitchFamily="34" charset="0"/>
              <a:buChar char="•"/>
            </a:pPr>
            <a:r>
              <a:rPr lang="en-US" sz="1400" b="0">
                <a:latin typeface="Arial Narrow" panose="020B0606020202030204" pitchFamily="34" charset="0"/>
              </a:rPr>
              <a:t>Labeling </a:t>
            </a:r>
            <a:r>
              <a:rPr lang="en-US" sz="1400" b="0" dirty="0">
                <a:latin typeface="Arial Narrow" panose="020B0606020202030204" pitchFamily="34" charset="0"/>
              </a:rPr>
              <a:t>in cases of special releases</a:t>
            </a:r>
          </a:p>
        </p:txBody>
      </p:sp>
    </p:spTree>
    <p:extLst>
      <p:ext uri="{BB962C8B-B14F-4D97-AF65-F5344CB8AC3E}">
        <p14:creationId xmlns:p14="http://schemas.microsoft.com/office/powerpoint/2010/main" val="2634318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hYUTOQ4OAkurr9JaApMNS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VyYRY5TqUyCLFdwUp2ry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hYUTOQ4OAkurr9JaApMNS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VyYRY5TqUyCLFdwUp2ryA"/>
</p:tagLst>
</file>

<file path=ppt/theme/theme1.xml><?xml version="1.0" encoding="utf-8"?>
<a:theme xmlns:a="http://schemas.openxmlformats.org/drawingml/2006/main" name="VDA-QMC_PP-Vorlage2011">
  <a:themeElements>
    <a:clrScheme name="VDA Designfarben">
      <a:dk1>
        <a:srgbClr val="080808"/>
      </a:dk1>
      <a:lt1>
        <a:srgbClr val="FFFFFF"/>
      </a:lt1>
      <a:dk2>
        <a:srgbClr val="004688"/>
      </a:dk2>
      <a:lt2>
        <a:srgbClr val="00243C"/>
      </a:lt2>
      <a:accent1>
        <a:srgbClr val="004688"/>
      </a:accent1>
      <a:accent2>
        <a:srgbClr val="6690B8"/>
      </a:accent2>
      <a:accent3>
        <a:srgbClr val="B2C7DB"/>
      </a:accent3>
      <a:accent4>
        <a:srgbClr val="A60016"/>
      </a:accent4>
      <a:accent5>
        <a:srgbClr val="007A43"/>
      </a:accent5>
      <a:accent6>
        <a:srgbClr val="CCA600"/>
      </a:accent6>
      <a:hlink>
        <a:srgbClr val="080808"/>
      </a:hlink>
      <a:folHlink>
        <a:srgbClr val="080808"/>
      </a:folHlink>
    </a:clrScheme>
    <a:fontScheme name="Ganymed">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nanke">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0">
              <a:schemeClr val="bg1"/>
            </a:gs>
            <a:gs pos="50000">
              <a:srgbClr val="C1C1C1"/>
            </a:gs>
          </a:gsLst>
          <a:lin ang="5400000" scaled="1"/>
        </a:gradFill>
        <a:ln w="9525">
          <a:noFill/>
          <a:round/>
          <a:headEnd/>
          <a:tailEnd/>
        </a:ln>
        <a:effectLst>
          <a:outerShdw blurRad="50800" dist="38100" dir="2700000" algn="tl" rotWithShape="0">
            <a:prstClr val="black">
              <a:alpha val="40000"/>
            </a:prstClr>
          </a:outerShdw>
        </a:effectLst>
      </a:spPr>
      <a:bodyPr rtlCol="0" anchor="ctr"/>
      <a:lstStyle>
        <a:defPPr algn="ctr">
          <a:defRPr sz="1400" b="0" dirty="0" smtClean="0">
            <a:latin typeface="+mn-lt"/>
          </a:defRPr>
        </a:defPPr>
      </a:lstStyle>
    </a:spDef>
    <a:lnDef>
      <a:spPr>
        <a:ln w="19050">
          <a:solidFill>
            <a:srgbClr val="A60016"/>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gradFill>
          <a:gsLst>
            <a:gs pos="0">
              <a:schemeClr val="bg1"/>
            </a:gs>
            <a:gs pos="50000">
              <a:srgbClr val="C1C1C1"/>
            </a:gs>
          </a:gsLst>
          <a:lin ang="5400000" scaled="0"/>
        </a:gradFill>
        <a:ln w="9525">
          <a:noFill/>
          <a:miter lim="800000"/>
          <a:headEnd/>
          <a:tailEnd/>
        </a:ln>
        <a:effectLst>
          <a:outerShdw blurRad="50800" dist="38100" dir="2700000" algn="tl" rotWithShape="0">
            <a:prstClr val="black">
              <a:alpha val="40000"/>
            </a:prstClr>
          </a:outerShdw>
        </a:effectLst>
      </a:spPr>
      <a:bodyPr wrap="square" lIns="0" tIns="0" rIns="0" bIns="0" rtlCol="0">
        <a:spAutoFit/>
      </a:bodyPr>
      <a:lstStyle>
        <a:defPPr marL="269875" indent="-269875" algn="ctr" eaLnBrk="0" hangingPunct="0">
          <a:spcAft>
            <a:spcPts val="600"/>
          </a:spcAft>
          <a:defRPr sz="1600" b="0" dirty="0" smtClean="0">
            <a:solidFill>
              <a:srgbClr val="221F15"/>
            </a:solidFill>
            <a:latin typeface="Verdana" pitchFamily="34" charset="0"/>
          </a:defRPr>
        </a:defPPr>
      </a:lstStyle>
    </a:txDef>
  </a:objectDefaults>
  <a:extraClrSchemeLst/>
</a:theme>
</file>

<file path=ppt/theme/theme2.xml><?xml version="1.0" encoding="utf-8"?>
<a:theme xmlns:a="http://schemas.openxmlformats.org/drawingml/2006/main" name="3_VDA-QMC_PP-Vorlage2011">
  <a:themeElements>
    <a:clrScheme name="VDA Designfarben">
      <a:dk1>
        <a:srgbClr val="080808"/>
      </a:dk1>
      <a:lt1>
        <a:srgbClr val="FFFFFF"/>
      </a:lt1>
      <a:dk2>
        <a:srgbClr val="004688"/>
      </a:dk2>
      <a:lt2>
        <a:srgbClr val="00243C"/>
      </a:lt2>
      <a:accent1>
        <a:srgbClr val="004688"/>
      </a:accent1>
      <a:accent2>
        <a:srgbClr val="6690B8"/>
      </a:accent2>
      <a:accent3>
        <a:srgbClr val="B2C7DB"/>
      </a:accent3>
      <a:accent4>
        <a:srgbClr val="A60016"/>
      </a:accent4>
      <a:accent5>
        <a:srgbClr val="007A43"/>
      </a:accent5>
      <a:accent6>
        <a:srgbClr val="CCA600"/>
      </a:accent6>
      <a:hlink>
        <a:srgbClr val="080808"/>
      </a:hlink>
      <a:folHlink>
        <a:srgbClr val="080808"/>
      </a:folHlink>
    </a:clrScheme>
    <a:fontScheme name="Ganymed">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nanke">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0">
              <a:schemeClr val="bg1"/>
            </a:gs>
            <a:gs pos="50000">
              <a:srgbClr val="C1C1C1"/>
            </a:gs>
          </a:gsLst>
          <a:lin ang="5400000" scaled="1"/>
        </a:gradFill>
        <a:ln w="9525">
          <a:noFill/>
          <a:round/>
          <a:headEnd/>
          <a:tailEnd/>
        </a:ln>
        <a:effectLst>
          <a:outerShdw blurRad="50800" dist="38100" dir="2700000" algn="tl" rotWithShape="0">
            <a:prstClr val="black">
              <a:alpha val="40000"/>
            </a:prstClr>
          </a:outerShdw>
        </a:effectLst>
      </a:spPr>
      <a:bodyPr rtlCol="0" anchor="ctr"/>
      <a:lstStyle>
        <a:defPPr algn="ctr">
          <a:defRPr sz="1400" b="0" dirty="0" smtClean="0">
            <a:latin typeface="+mn-lt"/>
          </a:defRPr>
        </a:defPPr>
      </a:lstStyle>
    </a:spDef>
    <a:lnDef>
      <a:spPr>
        <a:ln w="19050">
          <a:solidFill>
            <a:srgbClr val="A60016"/>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gradFill>
          <a:gsLst>
            <a:gs pos="0">
              <a:schemeClr val="bg1"/>
            </a:gs>
            <a:gs pos="50000">
              <a:srgbClr val="C1C1C1"/>
            </a:gs>
          </a:gsLst>
          <a:lin ang="5400000" scaled="0"/>
        </a:gradFill>
        <a:ln w="9525">
          <a:noFill/>
          <a:miter lim="800000"/>
          <a:headEnd/>
          <a:tailEnd/>
        </a:ln>
        <a:effectLst>
          <a:outerShdw blurRad="50800" dist="38100" dir="2700000" algn="tl" rotWithShape="0">
            <a:prstClr val="black">
              <a:alpha val="40000"/>
            </a:prstClr>
          </a:outerShdw>
        </a:effectLst>
      </a:spPr>
      <a:bodyPr wrap="square" lIns="0" tIns="0" rIns="0" bIns="0" rtlCol="0">
        <a:spAutoFit/>
      </a:bodyPr>
      <a:lstStyle>
        <a:defPPr marL="269875" indent="-269875" algn="ctr" eaLnBrk="0" hangingPunct="0">
          <a:spcAft>
            <a:spcPts val="600"/>
          </a:spcAft>
          <a:defRPr sz="1600" b="0" dirty="0" smtClean="0">
            <a:solidFill>
              <a:srgbClr val="221F15"/>
            </a:solidFill>
            <a:latin typeface="Verdana" pitchFamily="34" charset="0"/>
          </a:defRPr>
        </a:defPPr>
      </a:lstStyle>
    </a:txDef>
  </a:objectDefaults>
  <a:extraClrSchemeLst/>
</a:theme>
</file>

<file path=ppt/theme/theme3.xml><?xml version="1.0" encoding="utf-8"?>
<a:theme xmlns:a="http://schemas.openxmlformats.org/drawingml/2006/main" name="2_VDA-QMC_PP-Vorlage2011">
  <a:themeElements>
    <a:clrScheme name="VDA Designfarben">
      <a:dk1>
        <a:srgbClr val="080808"/>
      </a:dk1>
      <a:lt1>
        <a:srgbClr val="FFFFFF"/>
      </a:lt1>
      <a:dk2>
        <a:srgbClr val="004688"/>
      </a:dk2>
      <a:lt2>
        <a:srgbClr val="00243C"/>
      </a:lt2>
      <a:accent1>
        <a:srgbClr val="004688"/>
      </a:accent1>
      <a:accent2>
        <a:srgbClr val="6690B8"/>
      </a:accent2>
      <a:accent3>
        <a:srgbClr val="B2C7DB"/>
      </a:accent3>
      <a:accent4>
        <a:srgbClr val="A60016"/>
      </a:accent4>
      <a:accent5>
        <a:srgbClr val="007A43"/>
      </a:accent5>
      <a:accent6>
        <a:srgbClr val="CCA600"/>
      </a:accent6>
      <a:hlink>
        <a:srgbClr val="080808"/>
      </a:hlink>
      <a:folHlink>
        <a:srgbClr val="080808"/>
      </a:folHlink>
    </a:clrScheme>
    <a:fontScheme name="Ganymed">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nanke">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0">
              <a:schemeClr val="bg1"/>
            </a:gs>
            <a:gs pos="50000">
              <a:srgbClr val="C1C1C1"/>
            </a:gs>
          </a:gsLst>
          <a:lin ang="5400000" scaled="1"/>
        </a:gradFill>
        <a:ln w="9525">
          <a:noFill/>
          <a:round/>
          <a:headEnd/>
          <a:tailEnd/>
        </a:ln>
        <a:effectLst>
          <a:outerShdw blurRad="50800" dist="38100" dir="2700000" algn="tl" rotWithShape="0">
            <a:prstClr val="black">
              <a:alpha val="40000"/>
            </a:prstClr>
          </a:outerShdw>
        </a:effectLst>
      </a:spPr>
      <a:bodyPr rtlCol="0" anchor="ctr"/>
      <a:lstStyle>
        <a:defPPr algn="ctr">
          <a:defRPr sz="1400" b="0" dirty="0" smtClean="0">
            <a:latin typeface="+mn-lt"/>
          </a:defRPr>
        </a:defPPr>
      </a:lstStyle>
    </a:spDef>
    <a:lnDef>
      <a:spPr>
        <a:ln w="19050">
          <a:solidFill>
            <a:srgbClr val="A60016"/>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gradFill>
          <a:gsLst>
            <a:gs pos="0">
              <a:schemeClr val="bg1"/>
            </a:gs>
            <a:gs pos="50000">
              <a:srgbClr val="C1C1C1"/>
            </a:gs>
          </a:gsLst>
          <a:lin ang="5400000" scaled="0"/>
        </a:gradFill>
        <a:ln w="9525">
          <a:noFill/>
          <a:miter lim="800000"/>
          <a:headEnd/>
          <a:tailEnd/>
        </a:ln>
        <a:effectLst>
          <a:outerShdw blurRad="50800" dist="38100" dir="2700000" algn="tl" rotWithShape="0">
            <a:prstClr val="black">
              <a:alpha val="40000"/>
            </a:prstClr>
          </a:outerShdw>
        </a:effectLst>
      </a:spPr>
      <a:bodyPr wrap="square" lIns="0" tIns="0" rIns="0" bIns="0" rtlCol="0">
        <a:spAutoFit/>
      </a:bodyPr>
      <a:lstStyle>
        <a:defPPr marL="269875" indent="-269875" algn="ctr" eaLnBrk="0" hangingPunct="0">
          <a:spcAft>
            <a:spcPts val="600"/>
          </a:spcAft>
          <a:defRPr sz="1600" b="0" dirty="0" smtClean="0">
            <a:solidFill>
              <a:srgbClr val="221F15"/>
            </a:solidFill>
            <a:latin typeface="Verdana" pitchFamily="34" charset="0"/>
          </a:defRPr>
        </a:defPPr>
      </a:lstStyle>
    </a:txDef>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315TF000_VDA_6.3_eng_20170324</Template>
  <TotalTime>492</TotalTime>
  <Words>5246</Words>
  <Application>Microsoft Office PowerPoint</Application>
  <PresentationFormat>On-screen Show (4:3)</PresentationFormat>
  <Paragraphs>518</Paragraphs>
  <Slides>35</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35</vt:i4>
      </vt:variant>
    </vt:vector>
  </HeadingPairs>
  <TitlesOfParts>
    <vt:vector size="44" baseType="lpstr">
      <vt:lpstr>Aptos</vt:lpstr>
      <vt:lpstr>Arial</vt:lpstr>
      <vt:lpstr>Arial Narrow</vt:lpstr>
      <vt:lpstr>Calibri</vt:lpstr>
      <vt:lpstr>Symbol</vt:lpstr>
      <vt:lpstr>Verdana</vt:lpstr>
      <vt:lpstr>VDA-QMC_PP-Vorlage2011</vt:lpstr>
      <vt:lpstr>3_VDA-QMC_PP-Vorlage2011</vt:lpstr>
      <vt:lpstr>2_VDA-QMC_PP-Vorlage2011</vt:lpstr>
      <vt:lpstr>LE80-019</vt:lpstr>
      <vt:lpstr>LE80-020</vt:lpstr>
      <vt:lpstr>LE80-021</vt:lpstr>
      <vt:lpstr>LE80-023</vt:lpstr>
      <vt:lpstr>PowerPoint Presentation</vt:lpstr>
      <vt:lpstr>PowerPoint Presentation</vt:lpstr>
      <vt:lpstr>PowerPoint Presentation</vt:lpstr>
      <vt:lpstr>PowerPoint Presentation</vt:lpstr>
      <vt:lpstr>PowerPoint Presentation</vt:lpstr>
      <vt:lpstr>LE80-035</vt:lpstr>
      <vt:lpstr>PowerPoint Presentation</vt:lpstr>
      <vt:lpstr>PowerPoint Presentation</vt:lpstr>
      <vt:lpstr>PowerPoint Presentation</vt:lpstr>
      <vt:lpstr>PowerPoint Presentation</vt:lpstr>
      <vt:lpstr>PowerPoint Presentation</vt:lpstr>
      <vt:lpstr>LE80-047</vt:lpstr>
      <vt:lpstr>PowerPoint Presentation</vt:lpstr>
      <vt:lpstr>PowerPoint Presentation</vt:lpstr>
      <vt:lpstr>PowerPoint Presentation</vt:lpstr>
      <vt:lpstr>LE80-055</vt:lpstr>
      <vt:lpstr>PowerPoint Presentation</vt:lpstr>
      <vt:lpstr>PowerPoint Presentation</vt:lpstr>
      <vt:lpstr>PowerPoint Presentation</vt:lpstr>
      <vt:lpstr>PowerPoint Presentation</vt:lpstr>
      <vt:lpstr>PowerPoint Presentation</vt:lpstr>
      <vt:lpstr>LE80-067</vt:lpstr>
      <vt:lpstr>PowerPoint Presentation</vt:lpstr>
      <vt:lpstr>PowerPoint Presentation</vt:lpstr>
      <vt:lpstr>PowerPoint Presentation</vt:lpstr>
      <vt:lpstr>PowerPoint Presentation</vt:lpstr>
      <vt:lpstr>LE80-077</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VDA 6.3 – Qualification as process auditor in the product life cycle</dc:title>
  <dc:creator>Rempel, Irina</dc:creator>
  <cp:lastModifiedBy>NGAN THI PHAM/Part Leader/LGEVH IVI SQD Part</cp:lastModifiedBy>
  <cp:revision>37</cp:revision>
  <dcterms:created xsi:type="dcterms:W3CDTF">2017-04-11T08:33:03Z</dcterms:created>
  <dcterms:modified xsi:type="dcterms:W3CDTF">2026-06-08T06:54:07Z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c6ed9fc-fefc-4a0c-a6d6-10cf236c0d4f_Enabled">
    <vt:lpwstr>true</vt:lpwstr>
  </property>
  <property fmtid="{D5CDD505-2E9C-101B-9397-08002B2CF9AE}" pid="3" name="MSIP_Label_cc6ed9fc-fefc-4a0c-a6d6-10cf236c0d4f_SetDate">
    <vt:lpwstr>2026-06-08T04:16:56Z</vt:lpwstr>
  </property>
  <property fmtid="{D5CDD505-2E9C-101B-9397-08002B2CF9AE}" pid="4" name="MSIP_Label_cc6ed9fc-fefc-4a0c-a6d6-10cf236c0d4f_Method">
    <vt:lpwstr>Standard</vt:lpwstr>
  </property>
  <property fmtid="{D5CDD505-2E9C-101B-9397-08002B2CF9AE}" pid="5" name="MSIP_Label_cc6ed9fc-fefc-4a0c-a6d6-10cf236c0d4f_Name">
    <vt:lpwstr>Internal use only</vt:lpwstr>
  </property>
  <property fmtid="{D5CDD505-2E9C-101B-9397-08002B2CF9AE}" pid="6" name="MSIP_Label_cc6ed9fc-fefc-4a0c-a6d6-10cf236c0d4f_SiteId">
    <vt:lpwstr>5069cde4-642a-45c0-8094-d0c2dec10be3</vt:lpwstr>
  </property>
  <property fmtid="{D5CDD505-2E9C-101B-9397-08002B2CF9AE}" pid="7" name="MSIP_Label_cc6ed9fc-fefc-4a0c-a6d6-10cf236c0d4f_ActionId">
    <vt:lpwstr>adfbd912-7d21-4b27-ab54-07ca0fcae91a</vt:lpwstr>
  </property>
  <property fmtid="{D5CDD505-2E9C-101B-9397-08002B2CF9AE}" pid="8" name="MSIP_Label_cc6ed9fc-fefc-4a0c-a6d6-10cf236c0d4f_ContentBits">
    <vt:lpwstr>1</vt:lpwstr>
  </property>
  <property fmtid="{D5CDD505-2E9C-101B-9397-08002B2CF9AE}" pid="9" name="MSIP_Label_cc6ed9fc-fefc-4a0c-a6d6-10cf236c0d4f_Tag">
    <vt:lpwstr>10, 3, 0, 1</vt:lpwstr>
  </property>
  <property fmtid="{D5CDD505-2E9C-101B-9397-08002B2CF9AE}" pid="10" name="ClassificationContentMarkingHeaderLocations">
    <vt:lpwstr>VDA-QMC_PP-Vorlage2011:3\3_VDA-QMC_PP-Vorlage2011:3\2_VDA-QMC_PP-Vorlage2011:3</vt:lpwstr>
  </property>
  <property fmtid="{D5CDD505-2E9C-101B-9397-08002B2CF9AE}" pid="11" name="ClassificationContentMarkingHeaderText">
    <vt:lpwstr>LGE Internal Use Only</vt:lpwstr>
  </property>
</Properties>
</file>