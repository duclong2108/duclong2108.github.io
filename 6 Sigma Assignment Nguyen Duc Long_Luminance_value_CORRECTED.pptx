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35"/>
  </p:notesMasterIdLst>
  <p:handoutMasterIdLst>
    <p:handoutMasterId r:id="rId36"/>
  </p:handoutMasterIdLst>
  <p:sldIdLst>
    <p:sldId id="510" r:id="rId2"/>
    <p:sldId id="543" r:id="rId3"/>
    <p:sldId id="536" r:id="rId4"/>
    <p:sldId id="537" r:id="rId5"/>
    <p:sldId id="576" r:id="rId6"/>
    <p:sldId id="464" r:id="rId7"/>
    <p:sldId id="583" r:id="rId8"/>
    <p:sldId id="521" r:id="rId9"/>
    <p:sldId id="535" r:id="rId10"/>
    <p:sldId id="524" r:id="rId11"/>
    <p:sldId id="490" r:id="rId12"/>
    <p:sldId id="538" r:id="rId13"/>
    <p:sldId id="541" r:id="rId14"/>
    <p:sldId id="540" r:id="rId15"/>
    <p:sldId id="542" r:id="rId16"/>
    <p:sldId id="539" r:id="rId17"/>
    <p:sldId id="263" r:id="rId18"/>
    <p:sldId id="533" r:id="rId19"/>
    <p:sldId id="257" r:id="rId20"/>
    <p:sldId id="259" r:id="rId21"/>
    <p:sldId id="578" r:id="rId22"/>
    <p:sldId id="475" r:id="rId23"/>
    <p:sldId id="532" r:id="rId24"/>
    <p:sldId id="452" r:id="rId25"/>
    <p:sldId id="526" r:id="rId26"/>
    <p:sldId id="527" r:id="rId27"/>
    <p:sldId id="528" r:id="rId28"/>
    <p:sldId id="530" r:id="rId29"/>
    <p:sldId id="529" r:id="rId30"/>
    <p:sldId id="531" r:id="rId31"/>
    <p:sldId id="581" r:id="rId32"/>
    <p:sldId id="473" r:id="rId33"/>
    <p:sldId id="580" r:id="rId34"/>
  </p:sldIdLst>
  <p:sldSz cx="9906000" cy="6858000" type="A4"/>
  <p:notesSz cx="6807200" cy="9939338"/>
  <p:defaultTextStyle>
    <a:defPPr>
      <a:defRPr lang="ko-KR"/>
    </a:defPPr>
    <a:lvl1pPr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p:defaultTextStyle>
  <p:extLst>
    <p:ext uri="{EFAFB233-063F-42B5-8137-9DF3F51BA10A}">
      <p15:sldGuideLst xmlns:p15="http://schemas.microsoft.com/office/powerpoint/2012/main">
        <p15:guide id="8" pos="126">
          <p15:clr>
            <a:srgbClr val="A4A3A4"/>
          </p15:clr>
        </p15:guide>
        <p15:guide id="10" pos="172" userDrawn="1">
          <p15:clr>
            <a:srgbClr val="A4A3A4"/>
          </p15:clr>
        </p15:guide>
        <p15:guide id="12" orient="horz" pos="391">
          <p15:clr>
            <a:srgbClr val="A4A3A4"/>
          </p15:clr>
        </p15:guide>
        <p15:guide id="13" orient="horz" pos="4110">
          <p15:clr>
            <a:srgbClr val="A4A3A4"/>
          </p15:clr>
        </p15:guide>
        <p15:guide id="14" pos="6023">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UONG NGOC VU/LGEVH IVI IE Tele/AVN/HUD Part" initials="VNVIITP" lastIdx="0" clrIdx="0">
    <p:extLst>
      <p:ext uri="{19B8F6BF-5375-455C-9EA6-DF929625EA0E}">
        <p15:presenceInfo xmlns:p15="http://schemas.microsoft.com/office/powerpoint/2012/main" userId="S-1-5-21-2543426832-1914326140-3112152631-27985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8D621"/>
    <a:srgbClr val="00CC66"/>
    <a:srgbClr val="FFFFCC"/>
    <a:srgbClr val="FF9933"/>
    <a:srgbClr val="0000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87663" autoAdjust="0"/>
  </p:normalViewPr>
  <p:slideViewPr>
    <p:cSldViewPr>
      <p:cViewPr varScale="1">
        <p:scale>
          <a:sx n="97" d="100"/>
          <a:sy n="97" d="100"/>
        </p:scale>
        <p:origin x="1696" y="56"/>
      </p:cViewPr>
      <p:guideLst>
        <p:guide pos="126"/>
        <p:guide pos="172"/>
        <p:guide orient="horz" pos="391"/>
        <p:guide orient="horz" pos="4110"/>
        <p:guide pos="60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58" d="100"/>
          <a:sy n="58" d="100"/>
        </p:scale>
        <p:origin x="-3269" y="-72"/>
      </p:cViewPr>
      <p:guideLst>
        <p:guide orient="horz" pos="3130"/>
        <p:guide pos="214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vuong.vu\AppData\Local\Temp\_AZTMP1_\all.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Luminance defect</a:t>
            </a:r>
            <a:r>
              <a:rPr lang="en-US" baseline="0" dirty="0"/>
              <a:t> rate of J1 Dual model</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Sheet1!$D$7</c:f>
              <c:strCache>
                <c:ptCount val="1"/>
                <c:pt idx="0">
                  <c:v>Total NG</c:v>
                </c:pt>
              </c:strCache>
            </c:strRef>
          </c:tx>
          <c:spPr>
            <a:solidFill>
              <a:schemeClr val="accent1"/>
            </a:solidFill>
            <a:ln>
              <a:noFill/>
            </a:ln>
            <a:effectLst/>
          </c:spPr>
          <c:invertIfNegative val="0"/>
          <c:dLbls>
            <c:delete val="1"/>
          </c:dLbls>
          <c:cat>
            <c:strRef>
              <c:f>Sheet1!$E$6:$K$6</c:f>
              <c:strCache>
                <c:ptCount val="7"/>
                <c:pt idx="0">
                  <c:v>16.Nov.2023</c:v>
                </c:pt>
                <c:pt idx="1">
                  <c:v>2.Jan.2024</c:v>
                </c:pt>
                <c:pt idx="2">
                  <c:v>23.Feb.2024</c:v>
                </c:pt>
                <c:pt idx="3">
                  <c:v>1.Mar.2024</c:v>
                </c:pt>
                <c:pt idx="4">
                  <c:v>15.Sep.2024</c:v>
                </c:pt>
                <c:pt idx="5">
                  <c:v>21.Nov.2024</c:v>
                </c:pt>
                <c:pt idx="6">
                  <c:v>28.Feb.2025</c:v>
                </c:pt>
              </c:strCache>
            </c:strRef>
          </c:cat>
          <c:val>
            <c:numRef>
              <c:f>Sheet1!$E$7:$K$7</c:f>
              <c:numCache>
                <c:formatCode>General</c:formatCode>
                <c:ptCount val="7"/>
                <c:pt idx="0">
                  <c:v>13</c:v>
                </c:pt>
                <c:pt idx="1">
                  <c:v>8</c:v>
                </c:pt>
                <c:pt idx="2">
                  <c:v>92</c:v>
                </c:pt>
                <c:pt idx="3">
                  <c:v>30</c:v>
                </c:pt>
                <c:pt idx="4">
                  <c:v>0</c:v>
                </c:pt>
                <c:pt idx="5">
                  <c:v>0</c:v>
                </c:pt>
                <c:pt idx="6">
                  <c:v>0</c:v>
                </c:pt>
              </c:numCache>
            </c:numRef>
          </c:val>
          <c:extLst>
            <c:ext xmlns:c16="http://schemas.microsoft.com/office/drawing/2014/chart" uri="{C3380CC4-5D6E-409C-BE32-E72D297353CC}">
              <c16:uniqueId val="{00000000-8241-4E88-B6AB-4C7FE8828860}"/>
            </c:ext>
          </c:extLst>
        </c:ser>
        <c:dLbls>
          <c:showLegendKey val="0"/>
          <c:showVal val="1"/>
          <c:showCatName val="0"/>
          <c:showSerName val="0"/>
          <c:showPercent val="0"/>
          <c:showBubbleSize val="0"/>
        </c:dLbls>
        <c:gapWidth val="219"/>
        <c:overlap val="-27"/>
        <c:axId val="144407247"/>
        <c:axId val="294901951"/>
      </c:barChart>
      <c:barChart>
        <c:barDir val="col"/>
        <c:grouping val="clustered"/>
        <c:varyColors val="0"/>
        <c:ser>
          <c:idx val="1"/>
          <c:order val="1"/>
          <c:tx>
            <c:strRef>
              <c:f>Sheet1!$D$8</c:f>
              <c:strCache>
                <c:ptCount val="1"/>
                <c:pt idx="0">
                  <c:v>Prod Q'ty</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16.Nov.2023</c:v>
                </c:pt>
                <c:pt idx="1">
                  <c:v>2.Jan.2024</c:v>
                </c:pt>
                <c:pt idx="2">
                  <c:v>23.Feb.2024</c:v>
                </c:pt>
                <c:pt idx="3">
                  <c:v>1.Mar.2024</c:v>
                </c:pt>
                <c:pt idx="4">
                  <c:v>15.Sep.2024</c:v>
                </c:pt>
                <c:pt idx="5">
                  <c:v>21.Nov.2024</c:v>
                </c:pt>
                <c:pt idx="6">
                  <c:v>28.Feb.2025</c:v>
                </c:pt>
              </c:strCache>
            </c:strRef>
          </c:cat>
          <c:val>
            <c:numRef>
              <c:f>Sheet1!$E$8:$K$8</c:f>
              <c:numCache>
                <c:formatCode>General</c:formatCode>
                <c:ptCount val="7"/>
                <c:pt idx="0">
                  <c:v>200</c:v>
                </c:pt>
                <c:pt idx="1">
                  <c:v>120</c:v>
                </c:pt>
                <c:pt idx="2">
                  <c:v>240</c:v>
                </c:pt>
                <c:pt idx="3">
                  <c:v>71</c:v>
                </c:pt>
                <c:pt idx="4">
                  <c:v>240</c:v>
                </c:pt>
                <c:pt idx="5">
                  <c:v>120</c:v>
                </c:pt>
                <c:pt idx="6">
                  <c:v>60</c:v>
                </c:pt>
              </c:numCache>
            </c:numRef>
          </c:val>
          <c:extLst>
            <c:ext xmlns:c16="http://schemas.microsoft.com/office/drawing/2014/chart" uri="{C3380CC4-5D6E-409C-BE32-E72D297353CC}">
              <c16:uniqueId val="{00000001-8241-4E88-B6AB-4C7FE8828860}"/>
            </c:ext>
          </c:extLst>
        </c:ser>
        <c:dLbls>
          <c:showLegendKey val="0"/>
          <c:showVal val="1"/>
          <c:showCatName val="0"/>
          <c:showSerName val="0"/>
          <c:showPercent val="0"/>
          <c:showBubbleSize val="0"/>
        </c:dLbls>
        <c:gapWidth val="219"/>
        <c:overlap val="-27"/>
        <c:axId val="137649919"/>
        <c:axId val="294917759"/>
      </c:barChart>
      <c:lineChart>
        <c:grouping val="standard"/>
        <c:varyColors val="0"/>
        <c:ser>
          <c:idx val="2"/>
          <c:order val="2"/>
          <c:tx>
            <c:strRef>
              <c:f>Sheet1!$D$9</c:f>
              <c:strCache>
                <c:ptCount val="1"/>
                <c:pt idx="0">
                  <c:v>Defect rate (ppm)</c:v>
                </c:pt>
              </c:strCache>
            </c:strRef>
          </c:tx>
          <c:spPr>
            <a:ln w="28575" cap="rnd">
              <a:solidFill>
                <a:srgbClr val="FF0000">
                  <a:alpha val="83000"/>
                </a:srgbClr>
              </a:solidFill>
              <a:round/>
            </a:ln>
            <a:effectLst>
              <a:softEdge rad="0"/>
            </a:effectLst>
          </c:spPr>
          <c:marker>
            <c:symbol val="none"/>
          </c:marker>
          <c:dLbls>
            <c:dLbl>
              <c:idx val="0"/>
              <c:layout>
                <c:manualLayout>
                  <c:x val="-6.9630276639563615E-2"/>
                  <c:y val="-7.5998353676227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241-4E88-B6AB-4C7FE8828860}"/>
                </c:ext>
              </c:extLst>
            </c:dLbl>
            <c:dLbl>
              <c:idx val="1"/>
              <c:layout>
                <c:manualLayout>
                  <c:x val="-7.0184840271801302E-2"/>
                  <c:y val="-0.1274122354242995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241-4E88-B6AB-4C7FE8828860}"/>
                </c:ext>
              </c:extLst>
            </c:dLbl>
            <c:dLbl>
              <c:idx val="2"/>
              <c:layout>
                <c:manualLayout>
                  <c:x val="-6.9102773246329532E-2"/>
                  <c:y val="-7.94259457927656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241-4E88-B6AB-4C7FE8828860}"/>
                </c:ext>
              </c:extLst>
            </c:dLbl>
            <c:dLbl>
              <c:idx val="3"/>
              <c:layout>
                <c:manualLayout>
                  <c:x val="-5.3877107123436734E-2"/>
                  <c:y val="-7.25707615596893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241-4E88-B6AB-4C7FE8828860}"/>
                </c:ext>
              </c:extLst>
            </c:dLbl>
            <c:dLbl>
              <c:idx val="4"/>
              <c:layout>
                <c:manualLayout>
                  <c:x val="6.5198049265049046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241-4E88-B6AB-4C7FE8828860}"/>
                </c:ext>
              </c:extLst>
            </c:dLbl>
            <c:dLbl>
              <c:idx val="5"/>
              <c:layout>
                <c:manualLayout>
                  <c:x val="-2.1805757151481678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241-4E88-B6AB-4C7FE8828860}"/>
                </c:ext>
              </c:extLst>
            </c:dLbl>
            <c:dLbl>
              <c:idx val="6"/>
              <c:layout>
                <c:manualLayout>
                  <c:x val="8.6949000869181725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241-4E88-B6AB-4C7FE882886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16.Nov.2023</c:v>
                </c:pt>
                <c:pt idx="1">
                  <c:v>2.Jan.2024</c:v>
                </c:pt>
                <c:pt idx="2">
                  <c:v>23.Feb.2024</c:v>
                </c:pt>
                <c:pt idx="3">
                  <c:v>1.Mar.2024</c:v>
                </c:pt>
                <c:pt idx="4">
                  <c:v>15.Sep.2024</c:v>
                </c:pt>
                <c:pt idx="5">
                  <c:v>21.Nov.2024</c:v>
                </c:pt>
                <c:pt idx="6">
                  <c:v>28.Feb.2025</c:v>
                </c:pt>
              </c:strCache>
            </c:strRef>
          </c:cat>
          <c:val>
            <c:numRef>
              <c:f>Sheet1!$E$9:$K$9</c:f>
              <c:numCache>
                <c:formatCode>0.00</c:formatCode>
                <c:ptCount val="7"/>
                <c:pt idx="0" formatCode="General">
                  <c:v>65000</c:v>
                </c:pt>
                <c:pt idx="1">
                  <c:v>66666.666666666672</c:v>
                </c:pt>
                <c:pt idx="2">
                  <c:v>383333.33333333337</c:v>
                </c:pt>
                <c:pt idx="3">
                  <c:v>422535.2112676056</c:v>
                </c:pt>
                <c:pt idx="4" formatCode="General">
                  <c:v>0</c:v>
                </c:pt>
                <c:pt idx="5" formatCode="General">
                  <c:v>0</c:v>
                </c:pt>
                <c:pt idx="6" formatCode="General">
                  <c:v>0</c:v>
                </c:pt>
              </c:numCache>
            </c:numRef>
          </c:val>
          <c:smooth val="1"/>
          <c:extLst>
            <c:ext xmlns:c16="http://schemas.microsoft.com/office/drawing/2014/chart" uri="{C3380CC4-5D6E-409C-BE32-E72D297353CC}">
              <c16:uniqueId val="{00000003-8241-4E88-B6AB-4C7FE8828860}"/>
            </c:ext>
          </c:extLst>
        </c:ser>
        <c:dLbls>
          <c:showLegendKey val="0"/>
          <c:showVal val="1"/>
          <c:showCatName val="0"/>
          <c:showSerName val="0"/>
          <c:showPercent val="0"/>
          <c:showBubbleSize val="0"/>
        </c:dLbls>
        <c:marker val="1"/>
        <c:smooth val="0"/>
        <c:axId val="144407247"/>
        <c:axId val="294901951"/>
      </c:lineChart>
      <c:catAx>
        <c:axId val="144407247"/>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4901951"/>
        <c:crosses val="autoZero"/>
        <c:auto val="1"/>
        <c:lblAlgn val="ctr"/>
        <c:lblOffset val="100"/>
        <c:noMultiLvlLbl val="0"/>
      </c:catAx>
      <c:valAx>
        <c:axId val="2949019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407247"/>
        <c:crosses val="autoZero"/>
        <c:crossBetween val="between"/>
      </c:valAx>
      <c:valAx>
        <c:axId val="29491775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649919"/>
        <c:crosses val="max"/>
        <c:crossBetween val="between"/>
      </c:valAx>
      <c:catAx>
        <c:axId val="137649919"/>
        <c:scaling>
          <c:orientation val="minMax"/>
        </c:scaling>
        <c:delete val="1"/>
        <c:axPos val="b"/>
        <c:numFmt formatCode="General" sourceLinked="1"/>
        <c:majorTickMark val="out"/>
        <c:minorTickMark val="none"/>
        <c:tickLblPos val="nextTo"/>
        <c:crossAx val="2949177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C6E2330A-8D0C-445B-8B20-23313C7DE240}" type="datetimeFigureOut">
              <a:rPr lang="en-US" smtClean="0"/>
              <a:t>9/23/2026</a:t>
            </a:fld>
            <a:endParaRPr lang="en-US"/>
          </a:p>
        </p:txBody>
      </p:sp>
      <p:sp>
        <p:nvSpPr>
          <p:cNvPr id="4" name="Footer Placeholder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E4EAB48F-E3FC-40BF-BD3F-3260D120AEE0}" type="slidenum">
              <a:rPr lang="en-US" smtClean="0"/>
              <a:t>‹#›</a:t>
            </a:fld>
            <a:endParaRPr lang="en-US"/>
          </a:p>
        </p:txBody>
      </p:sp>
    </p:spTree>
    <p:extLst>
      <p:ext uri="{BB962C8B-B14F-4D97-AF65-F5344CB8AC3E}">
        <p14:creationId xmlns:p14="http://schemas.microsoft.com/office/powerpoint/2010/main" val="190283965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ko-KR" altLang="en-US" dirty="0"/>
          </a:p>
        </p:txBody>
      </p:sp>
      <p:sp>
        <p:nvSpPr>
          <p:cNvPr id="3" name="날짜 개체 틀 2"/>
          <p:cNvSpPr>
            <a:spLocks noGrp="1"/>
          </p:cNvSpPr>
          <p:nvPr>
            <p:ph type="dt" idx="1"/>
          </p:nvPr>
        </p:nvSpPr>
        <p:spPr>
          <a:xfrm>
            <a:off x="3856038" y="0"/>
            <a:ext cx="2949575" cy="496888"/>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A5588429-511D-4A72-A1D4-C32335397616}" type="datetimeFigureOut">
              <a:rPr lang="ko-KR" altLang="en-US"/>
              <a:pPr>
                <a:defRPr/>
              </a:pPr>
              <a:t>2026-09-23</a:t>
            </a:fld>
            <a:endParaRPr lang="ko-KR" altLang="en-US" dirty="0"/>
          </a:p>
        </p:txBody>
      </p:sp>
      <p:sp>
        <p:nvSpPr>
          <p:cNvPr id="4" name="슬라이드 이미지 개체 틀 3"/>
          <p:cNvSpPr>
            <a:spLocks noGrp="1" noRot="1" noChangeAspect="1"/>
          </p:cNvSpPr>
          <p:nvPr>
            <p:ph type="sldImg" idx="2"/>
          </p:nvPr>
        </p:nvSpPr>
        <p:spPr>
          <a:xfrm>
            <a:off x="712788" y="746125"/>
            <a:ext cx="5381625" cy="3725863"/>
          </a:xfrm>
          <a:prstGeom prst="rect">
            <a:avLst/>
          </a:prstGeom>
          <a:noFill/>
          <a:ln w="12700">
            <a:solidFill>
              <a:prstClr val="black"/>
            </a:solidFill>
          </a:ln>
        </p:spPr>
        <p:txBody>
          <a:bodyPr vert="horz" lIns="91440" tIns="45720" rIns="91440" bIns="45720" rtlCol="0" anchor="ctr"/>
          <a:lstStyle/>
          <a:p>
            <a:pPr lvl="0"/>
            <a:endParaRPr lang="ko-KR" altLang="en-US" noProof="0" dirty="0"/>
          </a:p>
        </p:txBody>
      </p:sp>
      <p:sp>
        <p:nvSpPr>
          <p:cNvPr id="5" name="슬라이드 노트 개체 틀 4"/>
          <p:cNvSpPr>
            <a:spLocks noGrp="1"/>
          </p:cNvSpPr>
          <p:nvPr>
            <p:ph type="body" sz="quarter" idx="3"/>
          </p:nvPr>
        </p:nvSpPr>
        <p:spPr>
          <a:xfrm>
            <a:off x="681038" y="4721225"/>
            <a:ext cx="5445125" cy="4471988"/>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r>
              <a:rPr lang="en-US" altLang="ko-KR"/>
              <a:t>1</a:t>
            </a:r>
            <a:endParaRPr lang="ko-KR" altLang="en-US" dirty="0"/>
          </a:p>
        </p:txBody>
      </p:sp>
      <p:sp>
        <p:nvSpPr>
          <p:cNvPr id="7" name="슬라이드 번호 개체 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97375BCD-8584-40B1-BC96-764EEABFA733}" type="slidenum">
              <a:rPr lang="ko-KR" altLang="en-US"/>
              <a:pPr>
                <a:defRPr/>
              </a:pPr>
              <a:t>‹#›</a:t>
            </a:fld>
            <a:endParaRPr lang="ko-KR" altLang="en-US" dirty="0"/>
          </a:p>
        </p:txBody>
      </p:sp>
    </p:spTree>
    <p:extLst>
      <p:ext uri="{BB962C8B-B14F-4D97-AF65-F5344CB8AC3E}">
        <p14:creationId xmlns:p14="http://schemas.microsoft.com/office/powerpoint/2010/main" val="1233377560"/>
      </p:ext>
    </p:extLst>
  </p:cSld>
  <p:clrMap bg1="lt1" tx1="dk1" bg2="lt2" tx2="dk2" accent1="accent1" accent2="accent2" accent3="accent3" accent4="accent4" accent5="accent5" accent6="accent6" hlink="hlink" folHlink="folHlink"/>
  <p:hf hdr="0" dt="0"/>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712788" y="746125"/>
            <a:ext cx="5380037" cy="3725863"/>
          </a:xfrm>
          <a:ln/>
        </p:spPr>
      </p:sp>
      <p:sp>
        <p:nvSpPr>
          <p:cNvPr id="19459" name="슬라이드 노트 개체 틀 2"/>
          <p:cNvSpPr>
            <a:spLocks noGrp="1"/>
          </p:cNvSpPr>
          <p:nvPr>
            <p:ph type="body" idx="1"/>
          </p:nvPr>
        </p:nvSpPr>
        <p:spPr>
          <a:xfrm>
            <a:off x="681038" y="4722813"/>
            <a:ext cx="5445125" cy="4470400"/>
          </a:xfrm>
          <a:noFill/>
          <a:ln/>
        </p:spPr>
        <p:txBody>
          <a:bodyPr lIns="91742" tIns="45871" rIns="91742" bIns="45871"/>
          <a:lstStyle/>
          <a:p>
            <a:endParaRPr lang="ko-KR" altLang="en-US" dirty="0"/>
          </a:p>
        </p:txBody>
      </p:sp>
      <p:sp>
        <p:nvSpPr>
          <p:cNvPr id="19460" name="슬라이드 번호 개체 틀 3"/>
          <p:cNvSpPr txBox="1">
            <a:spLocks noGrp="1"/>
          </p:cNvSpPr>
          <p:nvPr/>
        </p:nvSpPr>
        <p:spPr bwMode="auto">
          <a:xfrm>
            <a:off x="3856038" y="9440863"/>
            <a:ext cx="2949575" cy="496887"/>
          </a:xfrm>
          <a:prstGeom prst="rect">
            <a:avLst/>
          </a:prstGeom>
          <a:noFill/>
          <a:ln w="9525">
            <a:noFill/>
            <a:miter lim="800000"/>
            <a:headEnd/>
            <a:tailEnd/>
          </a:ln>
        </p:spPr>
        <p:txBody>
          <a:bodyPr lIns="91742" tIns="45871" rIns="91742" bIns="45871" anchor="b"/>
          <a:lstStyle/>
          <a:p>
            <a:pPr algn="r" defTabSz="917575"/>
            <a:fld id="{507ACCBB-C431-42CE-B77B-8DA086166DDE}" type="slidenum">
              <a:rPr lang="ko-KR" altLang="en-US">
                <a:latin typeface="굴림" pitchFamily="50" charset="-127"/>
              </a:rPr>
              <a:pPr algn="r" defTabSz="917575"/>
              <a:t>1</a:t>
            </a:fld>
            <a:endParaRPr lang="en-US" altLang="ko-KR" dirty="0">
              <a:latin typeface="굴림" pitchFamily="50" charset="-127"/>
            </a:endParaRPr>
          </a:p>
        </p:txBody>
      </p:sp>
    </p:spTree>
    <p:extLst>
      <p:ext uri="{BB962C8B-B14F-4D97-AF65-F5344CB8AC3E}">
        <p14:creationId xmlns:p14="http://schemas.microsoft.com/office/powerpoint/2010/main" val="978713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슬라이드 이미지 개체 틀 1"/>
          <p:cNvSpPr>
            <a:spLocks noGrp="1" noRot="1" noChangeAspect="1" noTextEdit="1"/>
          </p:cNvSpPr>
          <p:nvPr>
            <p:ph type="sldImg"/>
          </p:nvPr>
        </p:nvSpPr>
        <p:spPr bwMode="auto">
          <a:xfrm>
            <a:off x="3124200" y="511175"/>
            <a:ext cx="3686175" cy="2551113"/>
          </a:xfrm>
          <a:noFill/>
          <a:ln>
            <a:solidFill>
              <a:srgbClr val="000000"/>
            </a:solidFill>
            <a:miter lim="800000"/>
            <a:headEnd/>
            <a:tailEnd/>
          </a:ln>
        </p:spPr>
      </p:sp>
      <p:sp>
        <p:nvSpPr>
          <p:cNvPr id="28675" name="슬라이드 노트 개체 틀 2"/>
          <p:cNvSpPr>
            <a:spLocks noGrp="1"/>
          </p:cNvSpPr>
          <p:nvPr>
            <p:ph type="body" idx="1"/>
          </p:nvPr>
        </p:nvSpPr>
        <p:spPr bwMode="auto">
          <a:xfrm>
            <a:off x="993775" y="3235325"/>
            <a:ext cx="7951788" cy="3060700"/>
          </a:xfrm>
          <a:noFill/>
        </p:spPr>
        <p:txBody>
          <a:bodyPr wrap="square" lIns="90471" tIns="45234" rIns="90471" bIns="45234" numCol="1" anchor="t" anchorCtr="0" compatLnSpc="1">
            <a:prstTxWarp prst="textNoShape">
              <a:avLst/>
            </a:prstTxWarp>
          </a:bodyPr>
          <a:lstStyle/>
          <a:p>
            <a:pPr eaLnBrk="1" hangingPunct="1">
              <a:spcBef>
                <a:spcPct val="0"/>
              </a:spcBef>
            </a:pPr>
            <a:r>
              <a:rPr lang="en-US" altLang="ko-KR" dirty="0"/>
              <a:t>Define: 2 weeks</a:t>
            </a:r>
          </a:p>
          <a:p>
            <a:pPr eaLnBrk="1" hangingPunct="1">
              <a:spcBef>
                <a:spcPct val="0"/>
              </a:spcBef>
            </a:pPr>
            <a:r>
              <a:rPr lang="en-US" altLang="ko-KR" dirty="0"/>
              <a:t>Measure: 4 weeks</a:t>
            </a:r>
          </a:p>
          <a:p>
            <a:pPr eaLnBrk="1" hangingPunct="1">
              <a:spcBef>
                <a:spcPct val="0"/>
              </a:spcBef>
            </a:pPr>
            <a:r>
              <a:rPr lang="en-US" altLang="ko-KR" dirty="0"/>
              <a:t>Analyze: 2 weeks</a:t>
            </a:r>
          </a:p>
          <a:p>
            <a:pPr eaLnBrk="1" hangingPunct="1">
              <a:spcBef>
                <a:spcPct val="0"/>
              </a:spcBef>
            </a:pPr>
            <a:r>
              <a:rPr lang="en-US" altLang="ko-KR" dirty="0"/>
              <a:t>Improve: 4 weeks</a:t>
            </a:r>
          </a:p>
          <a:p>
            <a:pPr eaLnBrk="1" hangingPunct="1">
              <a:spcBef>
                <a:spcPct val="0"/>
              </a:spcBef>
            </a:pPr>
            <a:r>
              <a:rPr lang="en-US" altLang="ko-KR" dirty="0"/>
              <a:t>Control: 2 weeks</a:t>
            </a:r>
            <a:endParaRPr lang="ko-KR" altLang="en-US" dirty="0"/>
          </a:p>
        </p:txBody>
      </p:sp>
      <p:sp>
        <p:nvSpPr>
          <p:cNvPr id="28676" name="슬라이드 번호 개체 틀 3"/>
          <p:cNvSpPr txBox="1">
            <a:spLocks noGrp="1"/>
          </p:cNvSpPr>
          <p:nvPr/>
        </p:nvSpPr>
        <p:spPr bwMode="auto">
          <a:xfrm>
            <a:off x="5634038" y="6465888"/>
            <a:ext cx="4303712" cy="339725"/>
          </a:xfrm>
          <a:prstGeom prst="rect">
            <a:avLst/>
          </a:prstGeom>
          <a:noFill/>
          <a:ln w="9525">
            <a:noFill/>
            <a:miter lim="800000"/>
            <a:headEnd/>
            <a:tailEnd/>
          </a:ln>
        </p:spPr>
        <p:txBody>
          <a:bodyPr lIns="90471" tIns="45234" rIns="90471" bIns="45234" anchor="b"/>
          <a:lstStyle/>
          <a:p>
            <a:pPr algn="r" defTabSz="903288" eaLnBrk="0" latinLnBrk="0" hangingPunct="0"/>
            <a:fld id="{39B64D8B-A44D-4D7E-93C9-3A4A87537696}" type="slidenum">
              <a:rPr kumimoji="0" lang="ko-KR" altLang="en-US" sz="1200" b="1" smtClean="0">
                <a:solidFill>
                  <a:srgbClr val="000000"/>
                </a:solidFill>
                <a:latin typeface="Arial" panose="020B0604020202020204" pitchFamily="34" charset="0"/>
                <a:ea typeface="돋움" panose="020B0600000101010101" pitchFamily="50" charset="-127"/>
              </a:rPr>
              <a:pPr algn="r" defTabSz="903288" eaLnBrk="0" latinLnBrk="0" hangingPunct="0"/>
              <a:t>2</a:t>
            </a:fld>
            <a:endParaRPr kumimoji="0" lang="en-US" altLang="ko-KR" sz="1200" b="1">
              <a:solidFill>
                <a:srgbClr val="000000"/>
              </a:solidFill>
              <a:latin typeface="Arial" panose="020B0604020202020204" pitchFamily="34" charset="0"/>
              <a:ea typeface="돋움" panose="020B0600000101010101" pitchFamily="50" charset="-127"/>
            </a:endParaRPr>
          </a:p>
        </p:txBody>
      </p:sp>
    </p:spTree>
    <p:extLst>
      <p:ext uri="{BB962C8B-B14F-4D97-AF65-F5344CB8AC3E}">
        <p14:creationId xmlns:p14="http://schemas.microsoft.com/office/powerpoint/2010/main" val="3431465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690083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81909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83829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b="0" i="0" u="none" strike="noStrike" kern="1200" baseline="0" dirty="0">
                <a:solidFill>
                  <a:schemeClr val="tx1"/>
                </a:solidFill>
                <a:latin typeface="Arial" panose="020B0604020202020204" pitchFamily="34" charset="0"/>
                <a:ea typeface="+mn-ea"/>
                <a:cs typeface="Arial" panose="020B0604020202020204" pitchFamily="34" charset="0"/>
              </a:rPr>
              <a:t>Output level resolution: 0.01 dB</a:t>
            </a:r>
            <a:endParaRPr lang="en-US" sz="1050"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6</a:t>
            </a:fld>
            <a:endParaRPr lang="ko-KR" altLang="en-US" dirty="0"/>
          </a:p>
        </p:txBody>
      </p:sp>
    </p:spTree>
    <p:extLst>
      <p:ext uri="{BB962C8B-B14F-4D97-AF65-F5344CB8AC3E}">
        <p14:creationId xmlns:p14="http://schemas.microsoft.com/office/powerpoint/2010/main" val="2144263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Step1: Check tolerance range to assess the variation in measurement system (</a:t>
            </a:r>
            <a:r>
              <a:rPr lang="en-US" sz="1200" b="0" i="0" kern="1200" dirty="0">
                <a:solidFill>
                  <a:schemeClr val="tx1"/>
                </a:solidFill>
                <a:effectLst/>
                <a:latin typeface="+mn-lt"/>
                <a:ea typeface="+mn-ea"/>
                <a:cs typeface="+mn-cs"/>
              </a:rPr>
              <a:t>measurements fall within the ± 10% tolerance range, is capable</a:t>
            </a:r>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a:t>
            </a:r>
          </a:p>
          <a:p>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Step2: Check P value to assess the bias (P value, a)</a:t>
            </a:r>
          </a:p>
          <a:p>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Step3: Check cg, cgk to assess the capability of measurement system (benchmark value)</a:t>
            </a:r>
          </a:p>
          <a:p>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Cg: Gage Capability : </a:t>
            </a:r>
            <a:r>
              <a:rPr lang="en-US" sz="1200" b="0" i="0" kern="1200" dirty="0">
                <a:solidFill>
                  <a:schemeClr val="tx1"/>
                </a:solidFill>
                <a:effectLst/>
                <a:latin typeface="+mn-lt"/>
                <a:ea typeface="+mn-ea"/>
                <a:cs typeface="+mn-cs"/>
              </a:rPr>
              <a:t>Measures the ability of the measurement device to detect variation in the product</a:t>
            </a:r>
            <a:endPar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endParaRPr>
          </a:p>
          <a:p>
            <a:r>
              <a:rPr kumimoji="1" lang="en-US" altLang="ja-JP" sz="1000" dirty="0">
                <a:latin typeface="Arial Unicode MS" panose="020B0604020202020204" pitchFamily="34" charset="-128"/>
                <a:ea typeface="Arial Unicode MS" panose="020B0604020202020204" pitchFamily="34" charset="-128"/>
                <a:cs typeface="Arial Unicode MS" panose="020B0604020202020204" pitchFamily="34" charset="-128"/>
              </a:rPr>
              <a:t>Cgk: Gage Capability Index : </a:t>
            </a:r>
            <a:r>
              <a:rPr lang="en-US" sz="1200" b="0" i="0" kern="1200" dirty="0">
                <a:solidFill>
                  <a:schemeClr val="tx1"/>
                </a:solidFill>
                <a:effectLst/>
                <a:latin typeface="+mn-lt"/>
                <a:ea typeface="+mn-ea"/>
                <a:cs typeface="+mn-cs"/>
              </a:rPr>
              <a:t>Measures the ability of the measurement device to detect variation in the product, but also considers the position of the measurement range relative to the control limits</a:t>
            </a:r>
          </a:p>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7</a:t>
            </a:fld>
            <a:endParaRPr lang="ko-KR" altLang="en-US" dirty="0"/>
          </a:p>
        </p:txBody>
      </p:sp>
    </p:spTree>
    <p:extLst>
      <p:ext uri="{BB962C8B-B14F-4D97-AF65-F5344CB8AC3E}">
        <p14:creationId xmlns:p14="http://schemas.microsoft.com/office/powerpoint/2010/main" val="3392587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Step1: Check tolerance range to assess the variation in measurement system (</a:t>
            </a:r>
            <a:r>
              <a:rPr lang="en-US" sz="1000" b="0" i="0" kern="1200" dirty="0">
                <a:solidFill>
                  <a:schemeClr val="tx1"/>
                </a:solidFill>
                <a:effectLst/>
                <a:latin typeface="+mn-lt"/>
                <a:ea typeface="+mn-ea"/>
                <a:cs typeface="+mn-cs"/>
              </a:rPr>
              <a:t>measurements fall within the ± 10% tolerance range</a:t>
            </a:r>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Step2: Check P value to assess the bias (P value, a)</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Step3: Check cg, </a:t>
            </a:r>
            <a:r>
              <a:rPr kumimoji="1" lang="en-US" altLang="ja-JP" sz="800" dirty="0" err="1">
                <a:latin typeface="Arial Unicode MS" panose="020B0604020202020204" pitchFamily="34" charset="-128"/>
                <a:ea typeface="Arial Unicode MS" panose="020B0604020202020204" pitchFamily="34" charset="-128"/>
                <a:cs typeface="Arial Unicode MS" panose="020B0604020202020204" pitchFamily="34" charset="-128"/>
              </a:rPr>
              <a:t>cgk</a:t>
            </a:r>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 to assess the capability of measurement system (benchmark value)</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Cg: Gage Capability : </a:t>
            </a:r>
            <a:r>
              <a:rPr lang="en-US" sz="1000" b="0" i="0" kern="1200" dirty="0">
                <a:solidFill>
                  <a:schemeClr val="tx1"/>
                </a:solidFill>
                <a:effectLst/>
                <a:latin typeface="+mn-lt"/>
                <a:ea typeface="+mn-ea"/>
                <a:cs typeface="+mn-cs"/>
              </a:rPr>
              <a:t>Measures the ability of the measurement device to detect variation in the product</a:t>
            </a:r>
            <a:endPar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endParaRPr>
          </a:p>
          <a:p>
            <a:r>
              <a:rPr kumimoji="1" lang="en-US" altLang="ja-JP" sz="800" dirty="0" err="1">
                <a:latin typeface="Arial Unicode MS" panose="020B0604020202020204" pitchFamily="34" charset="-128"/>
                <a:ea typeface="Arial Unicode MS" panose="020B0604020202020204" pitchFamily="34" charset="-128"/>
                <a:cs typeface="Arial Unicode MS" panose="020B0604020202020204" pitchFamily="34" charset="-128"/>
              </a:rPr>
              <a:t>Cgk</a:t>
            </a:r>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 Gage Capability Index : </a:t>
            </a:r>
            <a:r>
              <a:rPr lang="en-US" sz="1000" b="0" i="0" kern="1200" dirty="0">
                <a:solidFill>
                  <a:schemeClr val="tx1"/>
                </a:solidFill>
                <a:effectLst/>
                <a:latin typeface="+mn-lt"/>
                <a:ea typeface="+mn-ea"/>
                <a:cs typeface="+mn-cs"/>
              </a:rPr>
              <a:t>Measures the ability of the measurement device to detect variation in the product, but also considers the position of the measurement range relative to the control limits</a:t>
            </a:r>
          </a:p>
          <a:p>
            <a:endParaRPr kumimoji="1" lang="ja-JP" altLang="en-US" sz="800" dirty="0">
              <a:latin typeface="Arial Unicode MS" panose="020B0604020202020204" pitchFamily="34" charset="-128"/>
              <a:ea typeface="Arial Unicode MS" panose="020B0604020202020204" pitchFamily="34" charset="-128"/>
              <a:cs typeface="Arial Unicode MS" panose="020B0604020202020204" pitchFamily="34" charset="-128"/>
            </a:endParaRPr>
          </a:p>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8</a:t>
            </a:fld>
            <a:endParaRPr lang="ko-KR" altLang="en-US" dirty="0"/>
          </a:p>
        </p:txBody>
      </p:sp>
    </p:spTree>
    <p:extLst>
      <p:ext uri="{BB962C8B-B14F-4D97-AF65-F5344CB8AC3E}">
        <p14:creationId xmlns:p14="http://schemas.microsoft.com/office/powerpoint/2010/main" val="2404249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342900" marR="0" indent="-342900" defTabSz="914400" rtl="0" eaLnBrk="1" fontAlgn="base" latinLnBrk="0" hangingPunct="1">
              <a:lnSpc>
                <a:spcPct val="100000"/>
              </a:lnSpc>
              <a:spcBef>
                <a:spcPct val="0"/>
              </a:spcBef>
              <a:spcAft>
                <a:spcPct val="0"/>
              </a:spcAft>
              <a:buClrTx/>
              <a:buSzTx/>
              <a:buFontTx/>
              <a:buAutoNum type="arabicPeriod"/>
              <a:tabLst/>
            </a:pP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9</a:t>
            </a:fld>
            <a:endParaRPr lang="ko-KR" altLang="en-US" dirty="0"/>
          </a:p>
        </p:txBody>
      </p:sp>
    </p:spTree>
    <p:extLst>
      <p:ext uri="{BB962C8B-B14F-4D97-AF65-F5344CB8AC3E}">
        <p14:creationId xmlns:p14="http://schemas.microsoft.com/office/powerpoint/2010/main" val="4192044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H0: The group mean is equal</a:t>
            </a: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H1: The group mean is not equal</a:t>
            </a: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100" b="0" i="0" u="none" strike="noStrike" cap="none" normalizeH="0" baseline="0" dirty="0">
                <a:ln>
                  <a:noFill/>
                </a:ln>
                <a:solidFill>
                  <a:schemeClr val="tx1"/>
                </a:solidFill>
                <a:effectLst/>
                <a:latin typeface="Arial" charset="0"/>
                <a:ea typeface="돋움" pitchFamily="50" charset="-127"/>
              </a:rPr>
              <a:t>Follow </a:t>
            </a:r>
            <a:r>
              <a:rPr lang="en-US" sz="800" b="0" i="0" kern="1200" dirty="0">
                <a:solidFill>
                  <a:schemeClr val="tx1"/>
                </a:solidFill>
                <a:effectLst/>
                <a:latin typeface="+mn-lt"/>
                <a:ea typeface="+mn-ea"/>
                <a:cs typeface="+mn-cs"/>
              </a:rPr>
              <a:t> AIAG guidelines, if the measurement system variation is less than 10% of the process variation, then the measurement system is acceptable. Because the %Study Var, the %Tolerance, and the %Process are all less than 10%, the measurement system is Good</a:t>
            </a:r>
            <a:endParaRPr kumimoji="1" lang="en-US" altLang="ja-JP" sz="100" b="0" i="0" u="none" strike="noStrike" cap="none" normalizeH="0" baseline="0" dirty="0">
              <a:ln>
                <a:noFill/>
              </a:ln>
              <a:solidFill>
                <a:schemeClr val="tx1"/>
              </a:solidFill>
              <a:effectLst/>
              <a:latin typeface="Arial" charset="0"/>
              <a:ea typeface="돋움" pitchFamily="50" charset="-127"/>
            </a:endParaRPr>
          </a:p>
          <a:p>
            <a:pPr algn="l"/>
            <a:endParaRPr lang="en-US" altLang="ja-JP" sz="100" dirty="0"/>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NDC: number of</a:t>
            </a:r>
            <a:r>
              <a:rPr kumimoji="1" lang="en-US" sz="800" b="0" i="0" u="none" strike="noStrike" cap="none" normalizeH="0" dirty="0">
                <a:ln>
                  <a:noFill/>
                </a:ln>
                <a:solidFill>
                  <a:srgbClr val="FF0000"/>
                </a:solidFill>
                <a:effectLst/>
                <a:latin typeface="Arial" charset="0"/>
                <a:ea typeface="돋움" pitchFamily="50" charset="-127"/>
              </a:rPr>
              <a:t> distinct categories: </a:t>
            </a:r>
            <a:r>
              <a:rPr kumimoji="1" lang="en-US" sz="800" b="0" i="0" u="none" strike="noStrike" cap="none" normalizeH="0" dirty="0" err="1">
                <a:ln>
                  <a:noFill/>
                </a:ln>
                <a:solidFill>
                  <a:srgbClr val="FF0000"/>
                </a:solidFill>
                <a:effectLst/>
                <a:latin typeface="Arial" charset="0"/>
                <a:ea typeface="돋움" pitchFamily="50" charset="-127"/>
              </a:rPr>
              <a:t>khả</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năng</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phân</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biệt</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của</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hệ</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thống</a:t>
            </a:r>
            <a:r>
              <a:rPr kumimoji="1" lang="en-US" sz="800" b="0" i="0" u="none" strike="noStrike" cap="none" normalizeH="0" dirty="0">
                <a:ln>
                  <a:noFill/>
                </a:ln>
                <a:solidFill>
                  <a:srgbClr val="FF0000"/>
                </a:solidFill>
                <a:effectLst/>
                <a:latin typeface="Arial" charset="0"/>
                <a:ea typeface="돋움" pitchFamily="50" charset="-127"/>
              </a:rPr>
              <a:t> </a:t>
            </a:r>
            <a:r>
              <a:rPr kumimoji="1" lang="en-US" sz="800" b="0" i="0" u="none" strike="noStrike" cap="none" normalizeH="0" dirty="0" err="1">
                <a:ln>
                  <a:noFill/>
                </a:ln>
                <a:solidFill>
                  <a:srgbClr val="FF0000"/>
                </a:solidFill>
                <a:effectLst/>
                <a:latin typeface="Arial" charset="0"/>
                <a:ea typeface="돋움" pitchFamily="50" charset="-127"/>
              </a:rPr>
              <a:t>đo</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10</a:t>
            </a:fld>
            <a:endParaRPr lang="ko-KR" altLang="en-US" dirty="0"/>
          </a:p>
        </p:txBody>
      </p:sp>
    </p:spTree>
    <p:extLst>
      <p:ext uri="{BB962C8B-B14F-4D97-AF65-F5344CB8AC3E}">
        <p14:creationId xmlns:p14="http://schemas.microsoft.com/office/powerpoint/2010/main" val="30708541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3706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325549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90218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52500" y="685800"/>
            <a:ext cx="4953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78F89C-25FB-47FE-9A04-A7BE919D4590}" type="slidenum">
              <a:rPr lang="en-US" smtClean="0"/>
              <a:pPr/>
              <a:t>17</a:t>
            </a:fld>
            <a:endParaRPr lang="en-US"/>
          </a:p>
        </p:txBody>
      </p:sp>
    </p:spTree>
    <p:extLst>
      <p:ext uri="{BB962C8B-B14F-4D97-AF65-F5344CB8AC3E}">
        <p14:creationId xmlns:p14="http://schemas.microsoft.com/office/powerpoint/2010/main" val="35411091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21</a:t>
            </a:fld>
            <a:endParaRPr lang="ko-KR" altLang="en-US" dirty="0"/>
          </a:p>
        </p:txBody>
      </p:sp>
    </p:spTree>
    <p:extLst>
      <p:ext uri="{BB962C8B-B14F-4D97-AF65-F5344CB8AC3E}">
        <p14:creationId xmlns:p14="http://schemas.microsoft.com/office/powerpoint/2010/main" val="12208190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Assess variation of each </a:t>
            </a:r>
            <a:r>
              <a:rPr kumimoji="1" lang="en-US" altLang="ja-JP" sz="600" b="0" i="0" u="none" strike="noStrike" cap="none" normalizeH="0" baseline="0" dirty="0" err="1">
                <a:ln>
                  <a:noFill/>
                </a:ln>
                <a:solidFill>
                  <a:schemeClr val="tx1"/>
                </a:solidFill>
                <a:effectLst/>
                <a:latin typeface="Arial" charset="0"/>
                <a:ea typeface="돋움" pitchFamily="50" charset="-127"/>
              </a:rPr>
              <a:t>sourse</a:t>
            </a:r>
            <a:r>
              <a:rPr kumimoji="1" lang="en-US" altLang="ja-JP" sz="600" b="0" i="0" u="none" strike="noStrike" cap="none" normalizeH="0" baseline="0" dirty="0">
                <a:ln>
                  <a:noFill/>
                </a:ln>
                <a:solidFill>
                  <a:schemeClr val="tx1"/>
                </a:solidFill>
                <a:effectLst/>
                <a:latin typeface="Arial" charset="0"/>
                <a:ea typeface="돋움" pitchFamily="50" charset="-127"/>
              </a:rPr>
              <a:t>, additional factor </a:t>
            </a:r>
            <a:r>
              <a:rPr kumimoji="1" lang="en-US" altLang="ja-JP" sz="600" b="0" i="0" u="none" strike="noStrike" cap="none" normalizeH="0" baseline="0" dirty="0" err="1">
                <a:ln>
                  <a:noFill/>
                </a:ln>
                <a:solidFill>
                  <a:schemeClr val="tx1"/>
                </a:solidFill>
                <a:effectLst/>
                <a:latin typeface="Arial" charset="0"/>
                <a:ea typeface="돋움" pitchFamily="50" charset="-127"/>
              </a:rPr>
              <a:t>afftected</a:t>
            </a:r>
            <a:r>
              <a:rPr kumimoji="1" lang="en-US" altLang="ja-JP" sz="600" b="0" i="0" u="none" strike="noStrike" cap="none" normalizeH="0" baseline="0" dirty="0">
                <a:ln>
                  <a:noFill/>
                </a:ln>
                <a:solidFill>
                  <a:schemeClr val="tx1"/>
                </a:solidFill>
                <a:effectLst/>
                <a:latin typeface="Arial" charset="0"/>
                <a:ea typeface="돋움" pitchFamily="50" charset="-127"/>
              </a:rPr>
              <a:t> to measurement system.</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H0: all group mean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H1: not all group mean is equal</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err="1">
                <a:ln>
                  <a:noFill/>
                </a:ln>
                <a:solidFill>
                  <a:schemeClr val="tx1"/>
                </a:solidFill>
                <a:effectLst/>
                <a:latin typeface="Arial" charset="0"/>
                <a:ea typeface="돋움" pitchFamily="50" charset="-127"/>
              </a:rPr>
              <a:t>VarComp</a:t>
            </a:r>
            <a:r>
              <a:rPr kumimoji="1" lang="en-US" altLang="ja-JP" sz="600" b="0" i="0" u="none" strike="noStrike" cap="none" normalizeH="0" baseline="0" dirty="0">
                <a:ln>
                  <a:noFill/>
                </a:ln>
                <a:solidFill>
                  <a:schemeClr val="tx1"/>
                </a:solidFill>
                <a:effectLst/>
                <a:latin typeface="Arial" charset="0"/>
                <a:ea typeface="돋움" pitchFamily="50" charset="-127"/>
              </a:rPr>
              <a:t> %contribution: almost contribution is from Part to part, </a:t>
            </a:r>
            <a:r>
              <a:rPr lang="en-US" sz="1200" b="0" i="0" kern="1200" dirty="0">
                <a:solidFill>
                  <a:schemeClr val="tx1"/>
                </a:solidFill>
                <a:effectLst/>
                <a:latin typeface="+mn-lt"/>
                <a:ea typeface="+mn-ea"/>
                <a:cs typeface="+mn-cs"/>
              </a:rPr>
              <a:t>the measurement system can reliably distinguish between parts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a:ln>
                  <a:noFill/>
                </a:ln>
                <a:solidFill>
                  <a:schemeClr val="tx1"/>
                </a:solidFill>
                <a:effectLst/>
                <a:latin typeface="Arial" charset="0"/>
                <a:ea typeface="돋움" pitchFamily="50" charset="-127"/>
              </a:rPr>
              <a:t>%Study var: </a:t>
            </a:r>
            <a:r>
              <a:rPr lang="en-US" sz="1200" b="0" i="0" kern="1200" dirty="0">
                <a:solidFill>
                  <a:schemeClr val="tx1"/>
                </a:solidFill>
                <a:effectLst/>
                <a:latin typeface="+mn-lt"/>
                <a:ea typeface="+mn-ea"/>
                <a:cs typeface="+mn-cs"/>
              </a:rPr>
              <a:t>compare the measurement system variation to the total variation</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Follow </a:t>
            </a:r>
            <a:r>
              <a:rPr lang="en-US" sz="1200" b="0" i="0" kern="1200" dirty="0">
                <a:solidFill>
                  <a:schemeClr val="tx1"/>
                </a:solidFill>
                <a:effectLst/>
                <a:latin typeface="+mn-lt"/>
                <a:ea typeface="+mn-ea"/>
                <a:cs typeface="+mn-cs"/>
              </a:rPr>
              <a:t> AIAG guidelines, if the measurement system variation is less than 10% of the process variation, then the measurement system is acceptable. Because the %Study Var, the %Tolerance, and the %Process are all less than 10%, the measurement system is Good</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22</a:t>
            </a:fld>
            <a:endParaRPr lang="ko-KR" altLang="en-US" dirty="0"/>
          </a:p>
        </p:txBody>
      </p:sp>
    </p:spTree>
    <p:extLst>
      <p:ext uri="{BB962C8B-B14F-4D97-AF65-F5344CB8AC3E}">
        <p14:creationId xmlns:p14="http://schemas.microsoft.com/office/powerpoint/2010/main" val="4192044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Assess variation of each </a:t>
            </a:r>
            <a:r>
              <a:rPr kumimoji="1" lang="en-US" altLang="ja-JP" sz="600" b="0" i="0" u="none" strike="noStrike" cap="none" normalizeH="0" baseline="0" dirty="0" err="1">
                <a:ln>
                  <a:noFill/>
                </a:ln>
                <a:solidFill>
                  <a:schemeClr val="tx1"/>
                </a:solidFill>
                <a:effectLst/>
                <a:latin typeface="Arial" charset="0"/>
                <a:ea typeface="돋움" pitchFamily="50" charset="-127"/>
              </a:rPr>
              <a:t>sourse</a:t>
            </a:r>
            <a:r>
              <a:rPr kumimoji="1" lang="en-US" altLang="ja-JP" sz="600" b="0" i="0" u="none" strike="noStrike" cap="none" normalizeH="0" baseline="0" dirty="0">
                <a:ln>
                  <a:noFill/>
                </a:ln>
                <a:solidFill>
                  <a:schemeClr val="tx1"/>
                </a:solidFill>
                <a:effectLst/>
                <a:latin typeface="Arial" charset="0"/>
                <a:ea typeface="돋움" pitchFamily="50" charset="-127"/>
              </a:rPr>
              <a:t>, additional factor </a:t>
            </a:r>
            <a:r>
              <a:rPr kumimoji="1" lang="en-US" altLang="ja-JP" sz="600" b="0" i="0" u="none" strike="noStrike" cap="none" normalizeH="0" baseline="0" dirty="0" err="1">
                <a:ln>
                  <a:noFill/>
                </a:ln>
                <a:solidFill>
                  <a:schemeClr val="tx1"/>
                </a:solidFill>
                <a:effectLst/>
                <a:latin typeface="Arial" charset="0"/>
                <a:ea typeface="돋움" pitchFamily="50" charset="-127"/>
              </a:rPr>
              <a:t>afftected</a:t>
            </a:r>
            <a:r>
              <a:rPr kumimoji="1" lang="en-US" altLang="ja-JP" sz="600" b="0" i="0" u="none" strike="noStrike" cap="none" normalizeH="0" baseline="0" dirty="0">
                <a:ln>
                  <a:noFill/>
                </a:ln>
                <a:solidFill>
                  <a:schemeClr val="tx1"/>
                </a:solidFill>
                <a:effectLst/>
                <a:latin typeface="Arial" charset="0"/>
                <a:ea typeface="돋움" pitchFamily="50" charset="-127"/>
              </a:rPr>
              <a:t> to measurement system.</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H0: all group mean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H1: not all group mean is equal</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err="1">
                <a:ln>
                  <a:noFill/>
                </a:ln>
                <a:solidFill>
                  <a:schemeClr val="tx1"/>
                </a:solidFill>
                <a:effectLst/>
                <a:latin typeface="Arial" charset="0"/>
                <a:ea typeface="돋움" pitchFamily="50" charset="-127"/>
              </a:rPr>
              <a:t>VarComp</a:t>
            </a:r>
            <a:r>
              <a:rPr kumimoji="1" lang="en-US" altLang="ja-JP" sz="600" b="0" i="0" u="none" strike="noStrike" cap="none" normalizeH="0" baseline="0" dirty="0">
                <a:ln>
                  <a:noFill/>
                </a:ln>
                <a:solidFill>
                  <a:schemeClr val="tx1"/>
                </a:solidFill>
                <a:effectLst/>
                <a:latin typeface="Arial" charset="0"/>
                <a:ea typeface="돋움" pitchFamily="50" charset="-127"/>
              </a:rPr>
              <a:t> %contribution: almost contribution is from Part to part, </a:t>
            </a:r>
            <a:r>
              <a:rPr lang="en-US" sz="1200" b="0" i="0" kern="1200" dirty="0">
                <a:solidFill>
                  <a:schemeClr val="tx1"/>
                </a:solidFill>
                <a:effectLst/>
                <a:latin typeface="+mn-lt"/>
                <a:ea typeface="+mn-ea"/>
                <a:cs typeface="+mn-cs"/>
              </a:rPr>
              <a:t>the measurement system can reliably distinguish between parts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a:ln>
                  <a:noFill/>
                </a:ln>
                <a:solidFill>
                  <a:schemeClr val="tx1"/>
                </a:solidFill>
                <a:effectLst/>
                <a:latin typeface="Arial" charset="0"/>
                <a:ea typeface="돋움" pitchFamily="50" charset="-127"/>
              </a:rPr>
              <a:t>%Study var: </a:t>
            </a:r>
            <a:r>
              <a:rPr lang="en-US" sz="1200" b="0" i="0" kern="1200" dirty="0">
                <a:solidFill>
                  <a:schemeClr val="tx1"/>
                </a:solidFill>
                <a:effectLst/>
                <a:latin typeface="+mn-lt"/>
                <a:ea typeface="+mn-ea"/>
                <a:cs typeface="+mn-cs"/>
              </a:rPr>
              <a:t>compare the measurement system variation to the total variation</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Follow </a:t>
            </a:r>
            <a:r>
              <a:rPr lang="en-US" sz="1200" b="0" i="0" kern="1200" dirty="0">
                <a:solidFill>
                  <a:schemeClr val="tx1"/>
                </a:solidFill>
                <a:effectLst/>
                <a:latin typeface="+mn-lt"/>
                <a:ea typeface="+mn-ea"/>
                <a:cs typeface="+mn-cs"/>
              </a:rPr>
              <a:t> AIAG guidelines, if the measurement system variation is less than 10% of the process variation, then the measurement system is acceptable. Because the %Study Var, the %Tolerance, and the %Process are all less than 10%, the measurement system is Good</a:t>
            </a:r>
            <a:endParaRPr kumimoji="1" lang="en-US" altLang="ja-JP" sz="600" b="0" i="0" u="none" strike="noStrike" cap="none" normalizeH="0" baseline="0" dirty="0">
              <a:ln>
                <a:noFill/>
              </a:ln>
              <a:solidFill>
                <a:schemeClr val="tx1"/>
              </a:solidFill>
              <a:effectLst/>
              <a:latin typeface="Arial" charset="0"/>
              <a:ea typeface="돋움" pitchFamily="50" charset="-127"/>
            </a:endParaRPr>
          </a:p>
        </p:txBody>
      </p:sp>
      <p:sp>
        <p:nvSpPr>
          <p:cNvPr id="4" name="Footer Placeholder 3"/>
          <p:cNvSpPr>
            <a:spLocks noGrp="1"/>
          </p:cNvSpPr>
          <p:nvPr>
            <p:ph type="ftr" sz="quarter" idx="4"/>
          </p:nvPr>
        </p:nvSpPr>
        <p:spPr/>
        <p:txBody>
          <a:bodyPr/>
          <a:lstStyle/>
          <a:p>
            <a:pPr>
              <a:defRPr/>
            </a:pPr>
            <a:r>
              <a:rPr lang="en-US" altLang="ko-KR"/>
              <a:t>1</a:t>
            </a:r>
            <a:endParaRPr lang="ko-KR" altLang="en-US" dirty="0"/>
          </a:p>
        </p:txBody>
      </p:sp>
      <p:sp>
        <p:nvSpPr>
          <p:cNvPr id="5" name="Slide Number Placeholder 4"/>
          <p:cNvSpPr>
            <a:spLocks noGrp="1"/>
          </p:cNvSpPr>
          <p:nvPr>
            <p:ph type="sldNum" sz="quarter" idx="5"/>
          </p:nvPr>
        </p:nvSpPr>
        <p:spPr/>
        <p:txBody>
          <a:bodyPr/>
          <a:lstStyle/>
          <a:p>
            <a:pPr>
              <a:defRPr/>
            </a:pPr>
            <a:fld id="{97375BCD-8584-40B1-BC96-764EEABFA733}" type="slidenum">
              <a:rPr lang="ko-KR" altLang="en-US" smtClean="0"/>
              <a:pPr>
                <a:defRPr/>
              </a:pPr>
              <a:t>23</a:t>
            </a:fld>
            <a:endParaRPr lang="ko-KR" altLang="en-US" dirty="0"/>
          </a:p>
        </p:txBody>
      </p:sp>
    </p:spTree>
    <p:extLst>
      <p:ext uri="{BB962C8B-B14F-4D97-AF65-F5344CB8AC3E}">
        <p14:creationId xmlns:p14="http://schemas.microsoft.com/office/powerpoint/2010/main" val="3993729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dirty="0"/>
                  <a:t>Examine the R chart to determine whether the process variation is in control</a:t>
                </a:r>
              </a:p>
              <a:p>
                <a:r>
                  <a:rPr kumimoji="1" lang="en-US" altLang="ja-JP" dirty="0"/>
                  <a:t>Examine the Xbar chart to determine whether the process mean is in control</a:t>
                </a:r>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24</a:t>
            </a:fld>
            <a:endParaRPr lang="ko-KR" altLang="en-US" dirty="0"/>
          </a:p>
        </p:txBody>
      </p:sp>
    </p:spTree>
    <p:extLst>
      <p:ext uri="{BB962C8B-B14F-4D97-AF65-F5344CB8AC3E}">
        <p14:creationId xmlns:p14="http://schemas.microsoft.com/office/powerpoint/2010/main" val="40724101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25</a:t>
            </a:fld>
            <a:endParaRPr lang="ko-KR" altLang="en-US" dirty="0"/>
          </a:p>
        </p:txBody>
      </p:sp>
    </p:spTree>
    <p:extLst>
      <p:ext uri="{BB962C8B-B14F-4D97-AF65-F5344CB8AC3E}">
        <p14:creationId xmlns:p14="http://schemas.microsoft.com/office/powerpoint/2010/main" val="16879720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1" hangingPunct="0">
                  <a:lnSpc>
                    <a:spcPct val="100000"/>
                  </a:lnSpc>
                  <a:spcBef>
                    <a:spcPct val="30000"/>
                  </a:spcBef>
                  <a:spcAft>
                    <a:spcPct val="0"/>
                  </a:spcAft>
                  <a:buClrTx/>
                  <a:buSzTx/>
                  <a:buFontTx/>
                  <a:buNone/>
                  <a:tabLst/>
                  <a:defRPr/>
                </a:pPr>
                <a:r>
                  <a:rPr kumimoji="1" lang="en-US" altLang="ja-JP" dirty="0"/>
                  <a:t>--To evaluate process capability:</a:t>
                </a:r>
              </a:p>
              <a:p>
                <a:r>
                  <a:rPr kumimoji="1" lang="en-US" altLang="ja-JP" dirty="0"/>
                  <a:t>Check the data fit the distribution</a:t>
                </a:r>
              </a:p>
              <a:p>
                <a:r>
                  <a:rPr kumimoji="1" lang="en-US" altLang="ja-JP" dirty="0"/>
                  <a:t>Notice if the solid curve fit closely the dash curve</a:t>
                </a:r>
              </a:p>
              <a:p>
                <a:r>
                  <a:rPr kumimoji="1" lang="en-US" altLang="ja-JP" dirty="0"/>
                  <a:t>Evaluate the capability base on performance and the Potential capability indicate, compare </a:t>
                </a:r>
                <a:r>
                  <a:rPr kumimoji="1" lang="en-US" altLang="ja-JP" dirty="0" err="1"/>
                  <a:t>Cpk</a:t>
                </a:r>
                <a:r>
                  <a:rPr kumimoji="1" lang="en-US" altLang="ja-JP" dirty="0"/>
                  <a:t> with a benchmark value that is acceptable for the process</a:t>
                </a:r>
              </a:p>
              <a:p>
                <a:r>
                  <a:rPr kumimoji="1" lang="en-US" altLang="ja-JP" dirty="0"/>
                  <a:t>Dash: within curve</a:t>
                </a:r>
              </a:p>
              <a:p>
                <a:r>
                  <a:rPr kumimoji="1" lang="en-US" altLang="ja-JP" dirty="0"/>
                  <a:t>Solid: overall curve</a:t>
                </a:r>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26</a:t>
            </a:fld>
            <a:endParaRPr lang="ko-KR" altLang="en-US" dirty="0"/>
          </a:p>
        </p:txBody>
      </p:sp>
    </p:spTree>
    <p:extLst>
      <p:ext uri="{BB962C8B-B14F-4D97-AF65-F5344CB8AC3E}">
        <p14:creationId xmlns:p14="http://schemas.microsoft.com/office/powerpoint/2010/main" val="13790899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b="0" dirty="0" err="1"/>
                  <a:t>Zst</a:t>
                </a:r>
                <a:r>
                  <a:rPr kumimoji="1" lang="en-US" altLang="ja-JP" b="0" dirty="0"/>
                  <a:t>: within (historical mean), </a:t>
                </a:r>
                <a:r>
                  <a:rPr kumimoji="1" lang="en-US" altLang="ja-JP" b="0" dirty="0" err="1"/>
                  <a:t>Zlt</a:t>
                </a:r>
                <a:r>
                  <a:rPr kumimoji="1" lang="en-US" altLang="ja-JP" b="0" dirty="0"/>
                  <a:t>: overall. 		The short-term process capability  (</a:t>
                </a:r>
                <a:r>
                  <a:rPr kumimoji="1" lang="en-US" altLang="ja-JP" b="0" dirty="0" err="1"/>
                  <a:t>Zst</a:t>
                </a:r>
                <a:r>
                  <a:rPr kumimoji="1" lang="en-US" altLang="ja-JP" b="0" dirty="0"/>
                  <a:t>) represents the best capability of the current process.		 (</a:t>
                </a:r>
                <a:r>
                  <a:rPr kumimoji="1" lang="en-US" altLang="ja-JP" b="0" dirty="0" err="1"/>
                  <a:t>Zlt</a:t>
                </a:r>
                <a:r>
                  <a:rPr kumimoji="1" lang="en-US" altLang="ja-JP" b="0" dirty="0"/>
                  <a:t>) represents the process capability of the customer's perspective.</a:t>
                </a:r>
              </a:p>
              <a:p>
                <a:r>
                  <a:rPr kumimoji="1" lang="en-US" altLang="ja-JP" b="0" dirty="0"/>
                  <a:t>In the early days of development, when the current capability is considered to be the best, the quality will deteriorate due to wear of tool and equipment, variation of worker, change of environment as time flows. Indicating a degree of deterioration, and a value of 1.0 to 1.5 is deteriorated based on the Z value.	Management is not good if </a:t>
                </a:r>
                <a:r>
                  <a:rPr kumimoji="1" lang="en-US" altLang="ja-JP" b="0" dirty="0" err="1"/>
                  <a:t>Zshift</a:t>
                </a:r>
                <a:r>
                  <a:rPr kumimoji="1" lang="en-US" altLang="ja-JP" b="0" dirty="0"/>
                  <a:t> amount is greater than 1.5 and </a:t>
                </a:r>
                <a:r>
                  <a:rPr kumimoji="1" lang="en-US" altLang="ja-JP" b="0" dirty="0" err="1"/>
                  <a:t>Zshift</a:t>
                </a:r>
                <a:r>
                  <a:rPr kumimoji="1" lang="en-US" altLang="ja-JP" b="0" dirty="0"/>
                  <a:t> amount is less than 1.5, judged management is good</a:t>
                </a:r>
              </a:p>
              <a:p>
                <a:r>
                  <a:rPr kumimoji="1" lang="en-US" altLang="ja-JP" b="0" dirty="0" err="1"/>
                  <a:t>Cpk</a:t>
                </a:r>
                <a:r>
                  <a:rPr kumimoji="1" lang="en-US" altLang="ja-JP" b="0" dirty="0"/>
                  <a:t> is a measure of the potential capability of the process and equals the minimum of CPU and CPL. </a:t>
                </a:r>
                <a:r>
                  <a:rPr kumimoji="1" lang="en-US" altLang="ja-JP" b="0" dirty="0" err="1"/>
                  <a:t>Cpk</a:t>
                </a:r>
                <a:r>
                  <a:rPr kumimoji="1" lang="en-US" altLang="ja-JP" b="0" dirty="0"/>
                  <a:t> is a ratio that compares two values:</a:t>
                </a:r>
              </a:p>
              <a:p>
                <a:r>
                  <a:rPr kumimoji="1" lang="en-US" altLang="ja-JP" b="0" dirty="0"/>
                  <a:t>The distance from the process mean to the closest specification limit (USL or LSL)</a:t>
                </a:r>
              </a:p>
              <a:p>
                <a:r>
                  <a:rPr kumimoji="1" lang="en-US" altLang="ja-JP" b="0" dirty="0"/>
                  <a:t>The one-sided spread of the process (the 3-σ variation) based on the within-subgroup standard deviation</a:t>
                </a:r>
              </a:p>
              <a:p>
                <a:r>
                  <a:rPr kumimoji="1" lang="en-US" altLang="ja-JP" b="0" dirty="0" err="1"/>
                  <a:t>Cpk</a:t>
                </a:r>
                <a:r>
                  <a:rPr kumimoji="1" lang="en-US" altLang="ja-JP" b="0" dirty="0"/>
                  <a:t> considers both the location and the variation (within subgroups) of the process.</a:t>
                </a:r>
                <a:endParaRPr kumimoji="1" lang="ja-JP" altLang="en-US" b="0" dirty="0"/>
              </a:p>
              <a:p>
                <a:endParaRPr kumimoji="1" lang="ja-JP" altLang="en-US" b="0" dirty="0"/>
              </a:p>
              <a:p>
                <a:endParaRPr kumimoji="1" lang="ja-JP" altLang="en-US" b="0"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27</a:t>
            </a:fld>
            <a:endParaRPr lang="ko-KR" altLang="en-US" dirty="0"/>
          </a:p>
        </p:txBody>
      </p:sp>
    </p:spTree>
    <p:extLst>
      <p:ext uri="{BB962C8B-B14F-4D97-AF65-F5344CB8AC3E}">
        <p14:creationId xmlns:p14="http://schemas.microsoft.com/office/powerpoint/2010/main" val="3303708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28</a:t>
            </a:fld>
            <a:endParaRPr lang="ko-KR" altLang="en-US" dirty="0"/>
          </a:p>
        </p:txBody>
      </p:sp>
    </p:spTree>
    <p:extLst>
      <p:ext uri="{BB962C8B-B14F-4D97-AF65-F5344CB8AC3E}">
        <p14:creationId xmlns:p14="http://schemas.microsoft.com/office/powerpoint/2010/main" val="34062332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b="1" dirty="0" err="1"/>
                  <a:t>Zst</a:t>
                </a:r>
                <a:r>
                  <a:rPr kumimoji="1" lang="en-US" altLang="ja-JP" b="1" dirty="0"/>
                  <a:t>: within (historical mean), </a:t>
                </a:r>
                <a:r>
                  <a:rPr kumimoji="1" lang="en-US" altLang="ja-JP" b="1" dirty="0" err="1"/>
                  <a:t>Zlt</a:t>
                </a:r>
                <a:r>
                  <a:rPr kumimoji="1" lang="en-US" altLang="ja-JP" b="1" dirty="0"/>
                  <a:t>: overall. 		The short-term process capability  (</a:t>
                </a:r>
                <a:r>
                  <a:rPr kumimoji="1" lang="en-US" altLang="ja-JP" b="1" dirty="0" err="1"/>
                  <a:t>Zst</a:t>
                </a:r>
                <a:r>
                  <a:rPr kumimoji="1" lang="en-US" altLang="ja-JP" b="1" dirty="0"/>
                  <a:t>) represents the best capability of the current process.		 (</a:t>
                </a:r>
                <a:r>
                  <a:rPr kumimoji="1" lang="en-US" altLang="ja-JP" b="1" dirty="0" err="1"/>
                  <a:t>Zlt</a:t>
                </a:r>
                <a:r>
                  <a:rPr kumimoji="1" lang="en-US" altLang="ja-JP" b="1" dirty="0"/>
                  <a:t>) represents the process capability of the customer's perspective.</a:t>
                </a:r>
              </a:p>
              <a:p>
                <a:r>
                  <a:rPr kumimoji="1" lang="en-US" altLang="ja-JP" b="1" dirty="0"/>
                  <a:t>In the early days of development, when the current capability is considered to be the best, the quality will deteriorate due to wear of tool and equipment, variation of worker, change of environment as time flows. Indicating a degree of deterioration, and a value of 1.0 to 1.5 is deteriorated based on the Z value.	Management is not good if </a:t>
                </a:r>
                <a:r>
                  <a:rPr kumimoji="1" lang="en-US" altLang="ja-JP" b="1" dirty="0" err="1"/>
                  <a:t>Zshift</a:t>
                </a:r>
                <a:r>
                  <a:rPr kumimoji="1" lang="en-US" altLang="ja-JP" b="1" dirty="0"/>
                  <a:t> amount is greater than 1.5 and </a:t>
                </a:r>
                <a:r>
                  <a:rPr kumimoji="1" lang="en-US" altLang="ja-JP" b="1" dirty="0" err="1"/>
                  <a:t>Zshift</a:t>
                </a:r>
                <a:r>
                  <a:rPr kumimoji="1" lang="en-US" altLang="ja-JP" b="1" dirty="0"/>
                  <a:t> amount is less than 1.5, judged management is good</a:t>
                </a:r>
              </a:p>
              <a:p>
                <a:r>
                  <a:rPr kumimoji="1" lang="en-US" altLang="ja-JP" dirty="0" err="1"/>
                  <a:t>Cpk</a:t>
                </a:r>
                <a:r>
                  <a:rPr kumimoji="1" lang="en-US" altLang="ja-JP" dirty="0"/>
                  <a:t> is a measure of the potential capability of the process and equals the minimum of CPU and CPL. </a:t>
                </a:r>
                <a:r>
                  <a:rPr kumimoji="1" lang="en-US" altLang="ja-JP" dirty="0" err="1"/>
                  <a:t>Cpk</a:t>
                </a:r>
                <a:r>
                  <a:rPr kumimoji="1" lang="en-US" altLang="ja-JP" dirty="0"/>
                  <a:t> is a ratio that compares two values:</a:t>
                </a:r>
              </a:p>
              <a:p>
                <a:r>
                  <a:rPr kumimoji="1" lang="en-US" altLang="ja-JP" dirty="0"/>
                  <a:t>The distance from the process mean to the closest specification limit (USL or LSL)</a:t>
                </a:r>
              </a:p>
              <a:p>
                <a:r>
                  <a:rPr kumimoji="1" lang="en-US" altLang="ja-JP" dirty="0"/>
                  <a:t>The one-sided spread of the process (the 3-σ variation) based on the within-subgroup standard deviation</a:t>
                </a:r>
              </a:p>
              <a:p>
                <a:r>
                  <a:rPr kumimoji="1" lang="en-US" altLang="ja-JP" dirty="0" err="1"/>
                  <a:t>Cpk</a:t>
                </a:r>
                <a:r>
                  <a:rPr kumimoji="1" lang="en-US" altLang="ja-JP" dirty="0"/>
                  <a:t> considers both the location and the variation (within subgroups) of the process.</a:t>
                </a:r>
                <a:endParaRPr kumimoji="1" lang="ja-JP" altLang="en-US" dirty="0"/>
              </a:p>
              <a:p>
                <a:endParaRPr kumimoji="1" lang="ja-JP" altLang="en-US" dirty="0"/>
              </a:p>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những</a:t>
                </a:r>
                <a:r>
                  <a:rPr kumimoji="1" lang="en-US" altLang="ja-JP" sz="1200" b="0" i="0" u="none" strike="noStrike" cap="none" normalizeH="0" dirty="0" smtClean="0">
                    <a:ln>
                      <a:noFill/>
                    </a:ln>
                    <a:solidFill>
                      <a:schemeClr val="tx1"/>
                    </a:solidFill>
                    <a:effectLst/>
                    <a:latin typeface="Arial" charset="0"/>
                    <a:ea typeface="돋움" pitchFamily="50" charset="-127"/>
                  </a:rPr>
                  <a:t> sample </a:t>
                </a:r>
                <a:r>
                  <a:rPr kumimoji="1" lang="en-US" altLang="ja-JP" sz="1200" b="0" i="0" u="none" strike="noStrike" cap="none" normalizeH="0" dirty="0" err="1" smtClean="0">
                    <a:ln>
                      <a:noFill/>
                    </a:ln>
                    <a:solidFill>
                      <a:schemeClr val="tx1"/>
                    </a:solidFill>
                    <a:effectLst/>
                    <a:latin typeface="Arial" charset="0"/>
                    <a:ea typeface="돋움" pitchFamily="50" charset="-127"/>
                  </a:rPr>
                  <a:t>đc</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lấy</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là</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giống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hệt</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nhau</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chỉ</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tồn</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tại</a:t>
                </a:r>
                <a:r>
                  <a:rPr kumimoji="1" lang="en-US" altLang="ja-JP" sz="1200" b="0" i="0" u="none" strike="noStrike" cap="none" normalizeH="0" dirty="0" smtClean="0">
                    <a:ln>
                      <a:noFill/>
                    </a:ln>
                    <a:solidFill>
                      <a:schemeClr val="tx1"/>
                    </a:solidFill>
                    <a:effectLst/>
                    <a:latin typeface="Arial" charset="0"/>
                    <a:ea typeface="돋움" pitchFamily="50" charset="-127"/>
                  </a:rPr>
                  <a:t> chance cause </a:t>
                </a:r>
                <a:r>
                  <a:rPr kumimoji="1" lang="en-US" altLang="ja-JP" sz="1200" b="0" i="0" u="none" strike="noStrike" cap="none" normalizeH="0" dirty="0" err="1" smtClean="0">
                    <a:ln>
                      <a:noFill/>
                    </a:ln>
                    <a:solidFill>
                      <a:schemeClr val="tx1"/>
                    </a:solidFill>
                    <a:effectLst/>
                    <a:latin typeface="Arial" charset="0"/>
                    <a:ea typeface="돋움" pitchFamily="50" charset="-127"/>
                  </a:rPr>
                  <a:t>trong</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mỗi</a:t>
                </a:r>
                <a:r>
                  <a:rPr kumimoji="1" lang="en-US" altLang="ja-JP" sz="1200" b="0" i="0" u="none" strike="noStrike" cap="none" normalizeH="0" dirty="0" smtClean="0">
                    <a:ln>
                      <a:noFill/>
                    </a:ln>
                    <a:solidFill>
                      <a:schemeClr val="tx1"/>
                    </a:solidFill>
                    <a:effectLst/>
                    <a:latin typeface="Arial" charset="0"/>
                    <a:ea typeface="돋움" pitchFamily="50" charset="-127"/>
                  </a:rPr>
                  <a:t> </a:t>
                </a:r>
                <a:r>
                  <a:rPr kumimoji="1" lang="en-US" altLang="ja-JP" sz="1200" b="0" i="0" u="none" strike="noStrike" cap="none" normalizeH="0" dirty="0" err="1" smtClean="0">
                    <a:ln>
                      <a:noFill/>
                    </a:ln>
                    <a:solidFill>
                      <a:schemeClr val="tx1"/>
                    </a:solidFill>
                    <a:effectLst/>
                    <a:latin typeface="Arial" charset="0"/>
                    <a:ea typeface="돋움" pitchFamily="50" charset="-127"/>
                  </a:rPr>
                  <a:t>nhóm</a:t>
                </a:r>
                <a:r>
                  <a:rPr kumimoji="1" lang="en-US" altLang="ja-JP" sz="1200" b="0" i="0" u="none" strike="noStrike" cap="none" normalizeH="0" dirty="0" smtClean="0">
                    <a:ln>
                      <a:noFill/>
                    </a:ln>
                    <a:solidFill>
                      <a:schemeClr val="tx1"/>
                    </a:solidFill>
                    <a:effectLst/>
                    <a:latin typeface="Arial" charset="0"/>
                    <a:ea typeface="돋움" pitchFamily="50" charset="-127"/>
                  </a:rPr>
                  <a:t>)</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do I choose a template for Process Capability?</a:t>
                </a:r>
                <a:br>
                  <a:rPr lang="en-US" altLang="ja-JP" dirty="0" smtClean="0"/>
                </a:br>
                <a:r>
                  <a:rPr lang="en-US" altLang="ja-JP" dirty="0" smtClean="0"/>
                  <a:t>- Take in lots, at</a:t>
                </a:r>
                <a:r>
                  <a:rPr lang="en-US" altLang="ja-JP" baseline="0" dirty="0" smtClean="0"/>
                  <a:t> least5 samples</a:t>
                </a:r>
                <a:r>
                  <a:rPr lang="en-US" altLang="ja-JP" dirty="0" smtClean="0"/>
                  <a:t>(n &lt;= 5), at fixed intervals of time. Example: every 2 hours for several consecutive days</a:t>
                </a:r>
                <a:r>
                  <a:rPr lang="en-US" altLang="ja-JP" baseline="0" dirty="0" smtClean="0"/>
                  <a:t> </a:t>
                </a:r>
                <a:r>
                  <a:rPr lang="en-US" altLang="ja-JP" dirty="0" smtClean="0"/>
                  <a:t>to security conditions</a:t>
                </a:r>
                <a:r>
                  <a:rPr lang="en-US" altLang="ja-JP" baseline="0" dirty="0" smtClean="0"/>
                  <a:t> </a:t>
                </a:r>
                <a:r>
                  <a:rPr lang="en-US" altLang="ja-JP" dirty="0" smtClean="0"/>
                  <a:t>of the sample is taken the same, there is only </a:t>
                </a:r>
                <a:r>
                  <a:rPr lang="en-US" altLang="ja-JP" b="1" dirty="0" smtClean="0"/>
                  <a:t>chance cause </a:t>
                </a:r>
                <a:r>
                  <a:rPr lang="en-US" altLang="ja-JP" dirty="0" smtClean="0"/>
                  <a:t>in each group)</a:t>
                </a:r>
                <a:br>
                  <a:rPr lang="en-US" altLang="ja-JP" dirty="0" smtClean="0"/>
                </a:br>
                <a:r>
                  <a:rPr lang="en-US" altLang="ja-JP" dirty="0" smtClean="0"/>
                  <a:t>Why is n &lt;= 5? Because the 6th child onwards is not the same as a security condition</a:t>
                </a:r>
                <a:r>
                  <a:rPr lang="en-US" altLang="ja-JP" baseline="0" dirty="0" smtClean="0"/>
                  <a:t> </a:t>
                </a:r>
                <a:r>
                  <a:rPr lang="en-US" altLang="ja-JP" dirty="0" smtClean="0"/>
                  <a:t>as the first first.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a:t>
                </a:r>
                <a:r>
                  <a:rPr lang="en-US" altLang="ja-JP" sz="1200" b="1" dirty="0" smtClean="0">
                    <a:latin typeface="Arial" charset="0"/>
                    <a:ea typeface="돋움" pitchFamily="50" charset="-127"/>
                  </a:rPr>
                  <a:t>Why use </a:t>
                </a:r>
                <a:r>
                  <a:rPr kumimoji="1" lang="en-US" altLang="ja-JP" sz="1200" b="1" i="0" u="none" strike="noStrike" cap="none" normalizeH="0" dirty="0" smtClean="0">
                    <a:ln>
                      <a:noFill/>
                    </a:ln>
                    <a:solidFill>
                      <a:schemeClr val="tx1"/>
                    </a:solidFill>
                    <a:effectLst/>
                    <a:latin typeface="Arial" charset="0"/>
                    <a:ea typeface="돋움" pitchFamily="50" charset="-127"/>
                  </a:rPr>
                  <a:t>control chart?</a:t>
                </a:r>
                <a:r>
                  <a:rPr kumimoji="1" lang="en-US" altLang="ja-JP" sz="1200" b="1" i="0" u="none" strike="noStrike" cap="none" normalizeH="0" baseline="0" dirty="0" smtClean="0">
                    <a:ln>
                      <a:noFill/>
                    </a:ln>
                    <a:solidFill>
                      <a:schemeClr val="tx1"/>
                    </a:solidFill>
                    <a:effectLst/>
                    <a:latin typeface="Arial" charset="0"/>
                    <a:ea typeface="돋움" pitchFamily="50" charset="-127"/>
                  </a:rPr>
                  <a:t> </a:t>
                </a:r>
                <a:r>
                  <a:rPr lang="en-US" altLang="ja-JP" sz="1200" dirty="0" smtClean="0">
                    <a:latin typeface="Arial" charset="0"/>
                    <a:ea typeface="돋움" pitchFamily="50" charset="-127"/>
                  </a:rPr>
                  <a:t>Control chart used to </a:t>
                </a:r>
                <a:r>
                  <a:rPr lang="en-US" altLang="ja-JP" sz="1200" b="1" dirty="0" smtClean="0">
                    <a:latin typeface="Arial" charset="0"/>
                    <a:ea typeface="돋움" pitchFamily="50" charset="-127"/>
                  </a:rPr>
                  <a:t>detect abnormal of the process </a:t>
                </a:r>
                <a:r>
                  <a:rPr lang="en-US" altLang="ja-JP" sz="1200" dirty="0" smtClean="0">
                    <a:latin typeface="Arial" charset="0"/>
                    <a:ea typeface="돋움" pitchFamily="50" charset="-127"/>
                  </a:rPr>
                  <a:t>at earlier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29</a:t>
            </a:fld>
            <a:endParaRPr lang="ko-KR" altLang="en-US" dirty="0"/>
          </a:p>
        </p:txBody>
      </p:sp>
    </p:spTree>
    <p:extLst>
      <p:ext uri="{BB962C8B-B14F-4D97-AF65-F5344CB8AC3E}">
        <p14:creationId xmlns:p14="http://schemas.microsoft.com/office/powerpoint/2010/main" val="3337533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
        <p:nvSpPr>
          <p:cNvPr id="2"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lvl1pPr>
              <a:defRPr>
                <a:latin typeface="맑은 고딕" panose="020B0503020000020004" pitchFamily="50" charset="-127"/>
                <a:ea typeface="맑은 고딕" panose="020B0503020000020004" pitchFamily="50" charset="-127"/>
              </a:defRPr>
            </a:lvl1pPr>
          </a:lstStyle>
          <a:p>
            <a:r>
              <a:rPr lang="ko-KR" altLang="en-US" dirty="0"/>
              <a:t>제목을 입력 하세요</a:t>
            </a:r>
          </a:p>
        </p:txBody>
      </p:sp>
      <p:sp>
        <p:nvSpPr>
          <p:cNvPr id="3" name="슬라이드 번호 개체 틀 5"/>
          <p:cNvSpPr>
            <a:spLocks noGrp="1"/>
          </p:cNvSpPr>
          <p:nvPr>
            <p:ph type="sldNum" sz="quarter" idx="12"/>
          </p:nvPr>
        </p:nvSpPr>
        <p:spPr>
          <a:xfrm>
            <a:off x="3728864" y="6542599"/>
            <a:ext cx="2133600" cy="293117"/>
          </a:xfrm>
          <a:prstGeom prst="rect">
            <a:avLst/>
          </a:prstGeom>
        </p:spPr>
        <p:txBody>
          <a:bodyPr/>
          <a:lstStyle>
            <a:lvl1pPr algn="ctr">
              <a:defRPr sz="1000">
                <a:latin typeface="현대하모니 L" panose="02020603020101020101" pitchFamily="18" charset="-127"/>
                <a:ea typeface="현대하모니 L" panose="02020603020101020101" pitchFamily="18" charset="-127"/>
              </a:defRPr>
            </a:lvl1pPr>
          </a:lstStyle>
          <a:p>
            <a:fld id="{CCB65402-AEF5-4D26-A49C-7368E264DDAC}" type="slidenum">
              <a:rPr lang="ko-KR" altLang="en-US" smtClean="0">
                <a:solidFill>
                  <a:prstClr val="black">
                    <a:tint val="75000"/>
                  </a:prstClr>
                </a:solidFill>
              </a:rPr>
              <a:pPr/>
              <a:t>‹#›</a:t>
            </a:fld>
            <a:r>
              <a:rPr lang="ko-KR" altLang="en-US" dirty="0">
                <a:solidFill>
                  <a:prstClr val="black">
                    <a:tint val="75000"/>
                  </a:prstClr>
                </a:solidFill>
              </a:rPr>
              <a:t> </a:t>
            </a:r>
            <a:r>
              <a:rPr lang="en-US" altLang="ko-KR" dirty="0">
                <a:solidFill>
                  <a:prstClr val="black">
                    <a:tint val="75000"/>
                  </a:prstClr>
                </a:solidFill>
              </a:rPr>
              <a:t>/  </a:t>
            </a:r>
            <a:endParaRPr lang="ko-KR" altLang="en-US" dirty="0">
              <a:solidFill>
                <a:prstClr val="black">
                  <a:tint val="75000"/>
                </a:prstClr>
              </a:solidFill>
            </a:endParaRPr>
          </a:p>
        </p:txBody>
      </p:sp>
    </p:spTree>
    <p:extLst>
      <p:ext uri="{BB962C8B-B14F-4D97-AF65-F5344CB8AC3E}">
        <p14:creationId xmlns:p14="http://schemas.microsoft.com/office/powerpoint/2010/main" val="262447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a:xfrm>
            <a:off x="742950" y="6248400"/>
            <a:ext cx="2063750" cy="457200"/>
          </a:xfrm>
          <a:prstGeom prst="rect">
            <a:avLst/>
          </a:prstGeom>
        </p:spPr>
        <p:txBody>
          <a:bodyPr/>
          <a:lstStyle>
            <a:lvl1pPr>
              <a:defRPr/>
            </a:lvl1pPr>
          </a:lstStyle>
          <a:p>
            <a:pPr>
              <a:defRPr/>
            </a:pPr>
            <a:endParaRPr lang="ko-KR" altLang="en-US" dirty="0">
              <a:solidFill>
                <a:srgbClr val="000000"/>
              </a:solidFill>
            </a:endParaRPr>
          </a:p>
        </p:txBody>
      </p:sp>
      <p:sp>
        <p:nvSpPr>
          <p:cNvPr id="3" name="바닥글 개체 틀 2"/>
          <p:cNvSpPr>
            <a:spLocks noGrp="1"/>
          </p:cNvSpPr>
          <p:nvPr>
            <p:ph type="ftr" sz="quarter" idx="11"/>
          </p:nvPr>
        </p:nvSpPr>
        <p:spPr>
          <a:xfrm>
            <a:off x="3384550" y="6248400"/>
            <a:ext cx="3136900" cy="457200"/>
          </a:xfrm>
          <a:prstGeom prst="rect">
            <a:avLst/>
          </a:prstGeom>
        </p:spPr>
        <p:txBody>
          <a:bodyPr/>
          <a:lstStyle>
            <a:lvl1pPr>
              <a:defRPr/>
            </a:lvl1pPr>
          </a:lstStyle>
          <a:p>
            <a:pPr>
              <a:defRPr/>
            </a:pPr>
            <a:endParaRPr lang="ko-KR" altLang="en-US">
              <a:solidFill>
                <a:srgbClr val="000000"/>
              </a:solidFill>
            </a:endParaRPr>
          </a:p>
        </p:txBody>
      </p:sp>
      <p:sp>
        <p:nvSpPr>
          <p:cNvPr id="4" name="슬라이드 번호 개체 틀 3"/>
          <p:cNvSpPr>
            <a:spLocks noGrp="1"/>
          </p:cNvSpPr>
          <p:nvPr>
            <p:ph type="sldNum" sz="quarter" idx="12"/>
          </p:nvPr>
        </p:nvSpPr>
        <p:spPr>
          <a:xfrm>
            <a:off x="7099300" y="6356350"/>
            <a:ext cx="2311400" cy="365125"/>
          </a:xfrm>
          <a:prstGeom prst="rect">
            <a:avLst/>
          </a:prstGeom>
        </p:spPr>
        <p:txBody>
          <a:bodyPr/>
          <a:lstStyle>
            <a:lvl1pPr>
              <a:defRPr/>
            </a:lvl1pPr>
          </a:lstStyle>
          <a:p>
            <a:pPr>
              <a:defRPr/>
            </a:pPr>
            <a:fld id="{0674F093-85E3-4077-80AF-B10359088A98}" type="slidenum">
              <a:rPr lang="ko-KR" altLang="en-US" sz="1200">
                <a:solidFill>
                  <a:srgbClr val="000000"/>
                </a:solidFill>
                <a:latin typeface="Arial" charset="0"/>
                <a:ea typeface="돋움" pitchFamily="50" charset="-127"/>
              </a:rPr>
              <a:pPr>
                <a:defRPr/>
              </a:pPr>
              <a:t>‹#›</a:t>
            </a:fld>
            <a:endParaRPr lang="ko-KR" altLang="en-US" sz="1200" dirty="0">
              <a:solidFill>
                <a:srgbClr val="000000"/>
              </a:solidFill>
              <a:latin typeface="Arial" charset="0"/>
              <a:ea typeface="돋움" pitchFamily="50" charset="-127"/>
            </a:endParaRPr>
          </a:p>
        </p:txBody>
      </p:sp>
    </p:spTree>
    <p:extLst>
      <p:ext uri="{BB962C8B-B14F-4D97-AF65-F5344CB8AC3E}">
        <p14:creationId xmlns:p14="http://schemas.microsoft.com/office/powerpoint/2010/main" val="2715539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11" indent="0" algn="ctr">
              <a:buNone/>
              <a:defRPr sz="2000"/>
            </a:lvl2pPr>
            <a:lvl3pPr marL="914423" indent="0" algn="ctr">
              <a:buNone/>
              <a:defRPr sz="1801"/>
            </a:lvl3pPr>
            <a:lvl4pPr marL="1371634" indent="0" algn="ctr">
              <a:buNone/>
              <a:defRPr sz="1600"/>
            </a:lvl4pPr>
            <a:lvl5pPr marL="1828846" indent="0" algn="ctr">
              <a:buNone/>
              <a:defRPr sz="1600"/>
            </a:lvl5pPr>
            <a:lvl6pPr marL="2286057" indent="0" algn="ctr">
              <a:buNone/>
              <a:defRPr sz="1600"/>
            </a:lvl6pPr>
            <a:lvl7pPr marL="2743269" indent="0" algn="ctr">
              <a:buNone/>
              <a:defRPr sz="1600"/>
            </a:lvl7pPr>
            <a:lvl8pPr marL="3200480" indent="0" algn="ctr">
              <a:buNone/>
              <a:defRPr sz="1600"/>
            </a:lvl8pPr>
            <a:lvl9pPr marL="3657691"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5D0E64B-9113-4BE4-BEDA-1D3C752AD119}"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AF9C5-787B-4812-8641-4E431B5130D1}" type="slidenum">
              <a:rPr lang="en-US" smtClean="0"/>
              <a:pPr/>
              <a:t>‹#›</a:t>
            </a:fld>
            <a:endParaRPr lang="en-US"/>
          </a:p>
        </p:txBody>
      </p:sp>
      <p:sp>
        <p:nvSpPr>
          <p:cNvPr id="8" name="Content Placeholder 7"/>
          <p:cNvSpPr>
            <a:spLocks noGrp="1"/>
          </p:cNvSpPr>
          <p:nvPr>
            <p:ph sz="quarter" idx="13"/>
          </p:nvPr>
        </p:nvSpPr>
        <p:spPr>
          <a:xfrm>
            <a:off x="8253413" y="187325"/>
            <a:ext cx="914400"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49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81038" y="1825625"/>
            <a:ext cx="8543925"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0C1232D1-D26A-4B9E-9F74-30AF75FEA22D}" type="datetimeFigureOut">
              <a:rPr lang="en-US" smtClean="0"/>
              <a:t>9/23/2026</a:t>
            </a:fld>
            <a:endParaRPr 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A7EEBFAC-7688-42D7-A474-447757C1272C}" type="slidenum">
              <a:rPr lang="en-US" smtClean="0"/>
              <a:t>‹#›</a:t>
            </a:fld>
            <a:endParaRPr lang="en-US"/>
          </a:p>
        </p:txBody>
      </p:sp>
    </p:spTree>
    <p:extLst>
      <p:ext uri="{BB962C8B-B14F-4D97-AF65-F5344CB8AC3E}">
        <p14:creationId xmlns:p14="http://schemas.microsoft.com/office/powerpoint/2010/main" val="4065975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694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8"/>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a:xfrm>
            <a:off x="495300" y="6356353"/>
            <a:ext cx="2311400" cy="365125"/>
          </a:xfrm>
          <a:prstGeom prst="rect">
            <a:avLst/>
          </a:prstGeom>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a:xfrm>
            <a:off x="7099300" y="6356353"/>
            <a:ext cx="2311400" cy="365125"/>
          </a:xfrm>
          <a:prstGeom prst="rect">
            <a:avLst/>
          </a:prstGeom>
        </p:spPr>
        <p:txBody>
          <a:bodyPr/>
          <a:lstStyle/>
          <a:p>
            <a:fld id="{9BFF983A-EC0A-4770-8E0B-A2C9B8B7F425}" type="slidenum">
              <a:rPr lang="ko-KR" altLang="en-US">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906503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p>
            <a:r>
              <a:rPr lang="ko-KR" altLang="en-US" dirty="0"/>
              <a:t>제목을 입력 하세요</a:t>
            </a:r>
          </a:p>
        </p:txBody>
      </p:sp>
      <p:sp>
        <p:nvSpPr>
          <p:cNvPr id="4" name="TextBox 3">
            <a:extLst>
              <a:ext uri="{FF2B5EF4-FFF2-40B4-BE49-F238E27FC236}">
                <a16:creationId xmlns:a16="http://schemas.microsoft.com/office/drawing/2014/main" id="{9DAD3A4A-DBC2-B460-D6E3-B6C54F17340C}"/>
              </a:ext>
            </a:extLst>
          </p:cNvPr>
          <p:cNvSpPr txBox="1"/>
          <p:nvPr userDrawn="1">
            <p:extLst>
              <p:ext uri="{1162E1C5-73C7-4A58-AE30-91384D911F3F}">
                <p184:classification xmlns:p184="http://schemas.microsoft.com/office/powerpoint/2018/4/main" val="hdr"/>
              </p:ext>
            </p:extLst>
          </p:nvPr>
        </p:nvSpPr>
        <p:spPr>
          <a:xfrm>
            <a:off x="4281488" y="63500"/>
            <a:ext cx="1377950" cy="182880"/>
          </a:xfrm>
          <a:prstGeom prst="rect">
            <a:avLst/>
          </a:prstGeom>
        </p:spPr>
        <p:txBody>
          <a:bodyPr horzOverflow="overflow" lIns="0" tIns="0" rIns="0" bIns="0">
            <a:spAutoFit/>
          </a:bodyPr>
          <a:lstStyle/>
          <a:p>
            <a:pPr algn="l"/>
            <a:r>
              <a:rPr lang="en-US" sz="12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LGE Internal Use Only</a:t>
            </a:r>
          </a:p>
        </p:txBody>
      </p:sp>
    </p:spTree>
  </p:cSld>
  <p:clrMap bg1="lt1" tx1="dk1" bg2="lt2" tx2="dk2" accent1="accent1" accent2="accent2" accent3="accent3" accent4="accent4" accent5="accent5" accent6="accent6" hlink="hlink" folHlink="folHlink"/>
  <p:sldLayoutIdLst>
    <p:sldLayoutId id="2147485194" r:id="rId1"/>
    <p:sldLayoutId id="2147485197" r:id="rId2"/>
    <p:sldLayoutId id="2147485201" r:id="rId3"/>
    <p:sldLayoutId id="2147485203" r:id="rId4"/>
    <p:sldLayoutId id="2147485204" r:id="rId5"/>
    <p:sldLayoutId id="2147485205" r:id="rId6"/>
  </p:sldLayoutIdLst>
  <p:hf hdr="0" dt="0"/>
  <p:txStyles>
    <p:title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p:titleStyle>
    <p:bodyStyle>
      <a:lvl1pPr marL="342900" indent="-342900" algn="l" rtl="0" eaLnBrk="0" fontAlgn="base" latinLnBrk="1" hangingPunct="0">
        <a:spcBef>
          <a:spcPct val="20000"/>
        </a:spcBef>
        <a:spcAft>
          <a:spcPct val="0"/>
        </a:spcAft>
        <a:defRPr kumimoji="1" b="1">
          <a:solidFill>
            <a:schemeClr val="tx1"/>
          </a:solidFill>
          <a:latin typeface="+mn-lt"/>
          <a:ea typeface="돋움" pitchFamily="50"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굴림" charset="-127"/>
          <a:ea typeface="굴림" charset="-127"/>
        </a:defRPr>
      </a:lvl2pPr>
      <a:lvl3pPr marL="1147763" indent="-228600" algn="l" rtl="0" eaLnBrk="0" fontAlgn="base" latinLnBrk="1" hangingPunct="0">
        <a:spcBef>
          <a:spcPct val="20000"/>
        </a:spcBef>
        <a:spcAft>
          <a:spcPct val="0"/>
        </a:spcAft>
        <a:buChar char="•"/>
        <a:defRPr kumimoji="1" sz="2400">
          <a:solidFill>
            <a:schemeClr val="tx1"/>
          </a:solidFill>
          <a:latin typeface="굴림" charset="-127"/>
          <a:ea typeface="굴림" charset="-127"/>
        </a:defRPr>
      </a:lvl3pPr>
      <a:lvl4pPr marL="16002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4pPr>
      <a:lvl5pPr marL="20574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5pPr>
      <a:lvl6pPr marL="2514600" indent="-228600" algn="l" rtl="0" fontAlgn="base" latinLnBrk="1">
        <a:spcBef>
          <a:spcPct val="20000"/>
        </a:spcBef>
        <a:spcAft>
          <a:spcPct val="0"/>
        </a:spcAft>
        <a:buChar char="»"/>
        <a:defRPr kumimoji="1" sz="2000">
          <a:solidFill>
            <a:schemeClr val="tx1"/>
          </a:solidFill>
          <a:latin typeface="굴림" charset="-127"/>
          <a:ea typeface="굴림" charset="-127"/>
        </a:defRPr>
      </a:lvl6pPr>
      <a:lvl7pPr marL="2971800" indent="-228600" algn="l" rtl="0" fontAlgn="base" latinLnBrk="1">
        <a:spcBef>
          <a:spcPct val="20000"/>
        </a:spcBef>
        <a:spcAft>
          <a:spcPct val="0"/>
        </a:spcAft>
        <a:buChar char="»"/>
        <a:defRPr kumimoji="1" sz="2000">
          <a:solidFill>
            <a:schemeClr val="tx1"/>
          </a:solidFill>
          <a:latin typeface="굴림" charset="-127"/>
          <a:ea typeface="굴림" charset="-127"/>
        </a:defRPr>
      </a:lvl7pPr>
      <a:lvl8pPr marL="3429000" indent="-228600" algn="l" rtl="0" fontAlgn="base" latinLnBrk="1">
        <a:spcBef>
          <a:spcPct val="20000"/>
        </a:spcBef>
        <a:spcAft>
          <a:spcPct val="0"/>
        </a:spcAft>
        <a:buChar char="»"/>
        <a:defRPr kumimoji="1" sz="2000">
          <a:solidFill>
            <a:schemeClr val="tx1"/>
          </a:solidFill>
          <a:latin typeface="굴림" charset="-127"/>
          <a:ea typeface="굴림" charset="-127"/>
        </a:defRPr>
      </a:lvl8pPr>
      <a:lvl9pPr marL="3886200" indent="-228600" algn="l" rtl="0" fontAlgn="base" latinLnBrk="1">
        <a:spcBef>
          <a:spcPct val="20000"/>
        </a:spcBef>
        <a:spcAft>
          <a:spcPct val="0"/>
        </a:spcAft>
        <a:buChar char="»"/>
        <a:defRPr kumimoji="1" sz="2000">
          <a:solidFill>
            <a:schemeClr val="tx1"/>
          </a:solidFill>
          <a:latin typeface="굴림" charset="-127"/>
          <a:ea typeface="굴림" charset="-127"/>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Excel_Worksheet.xlsx"/></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PowerPoint_Presentation.pptx"/><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emf"/><Relationship Id="rId5" Type="http://schemas.openxmlformats.org/officeDocument/2006/relationships/package" Target="../embeddings/Microsoft_PowerPoint_Presentation1.pptx"/><Relationship Id="rId4" Type="http://schemas.openxmlformats.org/officeDocument/2006/relationships/image" Target="../media/image17.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7.wmf"/><Relationship Id="rId2"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package" Target="../embeddings/Microsoft_Excel_Worksheet2.xlsx"/><Relationship Id="rId5" Type="http://schemas.openxmlformats.org/officeDocument/2006/relationships/image" Target="../media/image46.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61.png"/></Relationships>
</file>

<file path=ppt/slides/_rels/slide29.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image" Target="../media/image62.png"/><Relationship Id="rId7" Type="http://schemas.openxmlformats.org/officeDocument/2006/relationships/diagramQuickStyle" Target="../diagrams/quickStyle5.xm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diagramLayout" Target="../diagrams/layout5.xml"/><Relationship Id="rId5" Type="http://schemas.openxmlformats.org/officeDocument/2006/relationships/diagramData" Target="../diagrams/data5.xml"/><Relationship Id="rId4" Type="http://schemas.openxmlformats.org/officeDocument/2006/relationships/image" Target="../media/image63.png"/><Relationship Id="rId9" Type="http://schemas.microsoft.com/office/2007/relationships/diagramDrawing" Target="../diagrams/drawing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package" Target="../embeddings/Microsoft_Excel_Worksheet3.xlsx"/><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
          <p:cNvSpPr>
            <a:spLocks noChangeArrowheads="1"/>
          </p:cNvSpPr>
          <p:nvPr/>
        </p:nvSpPr>
        <p:spPr bwMode="auto">
          <a:xfrm>
            <a:off x="1984375" y="764704"/>
            <a:ext cx="5992813" cy="1116012"/>
          </a:xfrm>
          <a:prstGeom prst="rect">
            <a:avLst/>
          </a:prstGeom>
          <a:solidFill>
            <a:srgbClr val="EAEAEA"/>
          </a:solidFill>
          <a:ln w="9525">
            <a:solidFill>
              <a:srgbClr val="C0C0C0"/>
            </a:solidFill>
            <a:miter lim="800000"/>
            <a:headEnd/>
            <a:tailEnd/>
          </a:ln>
        </p:spPr>
        <p:txBody>
          <a:bodyPr wrap="none" anchor="ctr"/>
          <a:lstStyle/>
          <a:p>
            <a:pPr algn="ctr" fontAlgn="auto" latinLnBrk="0">
              <a:spcBef>
                <a:spcPts val="0"/>
              </a:spcBef>
              <a:spcAft>
                <a:spcPts val="0"/>
              </a:spcAft>
              <a:defRPr/>
            </a:pPr>
            <a:r>
              <a:rPr kumimoji="0" lang="en-US" altLang="en-US" sz="2600" b="1" kern="0" dirty="0">
                <a:solidFill>
                  <a:sysClr val="windowText" lastClr="000000"/>
                </a:solidFill>
                <a:latin typeface="Arial" pitchFamily="50" charset="-127"/>
                <a:ea typeface="Arial" pitchFamily="50" charset="-127"/>
              </a:rPr>
              <a:t>6 Sigma Assignment</a:t>
            </a:r>
          </a:p>
        </p:txBody>
      </p:sp>
      <p:grpSp>
        <p:nvGrpSpPr>
          <p:cNvPr id="2" name="Group 1">
            <a:extLst>
              <a:ext uri="{FF2B5EF4-FFF2-40B4-BE49-F238E27FC236}">
                <a16:creationId xmlns:a16="http://schemas.microsoft.com/office/drawing/2014/main" id="{C73B0D02-5891-4E36-BF6C-DBA735A890E7}"/>
              </a:ext>
            </a:extLst>
          </p:cNvPr>
          <p:cNvGrpSpPr/>
          <p:nvPr/>
        </p:nvGrpSpPr>
        <p:grpSpPr>
          <a:xfrm>
            <a:off x="3057475" y="2149003"/>
            <a:ext cx="3846611" cy="2700338"/>
            <a:chOff x="3122613" y="2564905"/>
            <a:chExt cx="3603625" cy="2519858"/>
          </a:xfrm>
        </p:grpSpPr>
        <p:sp>
          <p:nvSpPr>
            <p:cNvPr id="33" name="Rectangle 7"/>
            <p:cNvSpPr>
              <a:spLocks noChangeArrowheads="1"/>
            </p:cNvSpPr>
            <p:nvPr>
              <p:custDataLst>
                <p:tags r:id="rId1"/>
              </p:custDataLst>
            </p:nvPr>
          </p:nvSpPr>
          <p:spPr bwMode="auto">
            <a:xfrm>
              <a:off x="3122613" y="2564905"/>
              <a:ext cx="3603625" cy="436842"/>
            </a:xfrm>
            <a:prstGeom prst="rect">
              <a:avLst/>
            </a:prstGeom>
            <a:solidFill>
              <a:srgbClr val="7B9A9F"/>
            </a:solidFill>
            <a:ln w="9525">
              <a:noFill/>
              <a:miter lim="800000"/>
              <a:headEnd/>
              <a:tailEnd/>
            </a:ln>
          </p:spPr>
          <p:txBody>
            <a:bodyPr lIns="89978" tIns="45709" rIns="89978" bIns="45709" anchor="ctr"/>
            <a:lstStyle/>
            <a:p>
              <a:pPr algn="ctr" fontAlgn="auto" latinLnBrk="0">
                <a:spcBef>
                  <a:spcPts val="0"/>
                </a:spcBef>
                <a:spcAft>
                  <a:spcPts val="0"/>
                </a:spcAft>
                <a:defRPr/>
              </a:pPr>
              <a:r>
                <a:rPr kumimoji="0" lang="en-US" altLang="ko-KR" sz="1800" b="1" kern="0">
                  <a:solidFill>
                    <a:srgbClr val="FFFFFF"/>
                  </a:solidFill>
                  <a:latin typeface="Arial" pitchFamily="50" charset="-127"/>
                  <a:ea typeface="Arial" pitchFamily="50" charset="-127"/>
                </a:rPr>
                <a:t>Contents</a:t>
              </a:r>
              <a:endParaRPr kumimoji="0" lang="ko-KR" altLang="en-US" sz="1800" b="1" kern="0" dirty="0">
                <a:solidFill>
                  <a:srgbClr val="FFFFFF"/>
                </a:solidFill>
                <a:latin typeface="맑은 고딕" pitchFamily="50" charset="-127"/>
                <a:ea typeface="맑은 고딕" pitchFamily="50" charset="-127"/>
              </a:endParaRPr>
            </a:p>
          </p:txBody>
        </p:sp>
        <p:sp>
          <p:nvSpPr>
            <p:cNvPr id="34" name="Rectangle 8"/>
            <p:cNvSpPr>
              <a:spLocks noChangeArrowheads="1"/>
            </p:cNvSpPr>
            <p:nvPr>
              <p:custDataLst>
                <p:tags r:id="rId2"/>
              </p:custDataLst>
            </p:nvPr>
          </p:nvSpPr>
          <p:spPr bwMode="auto">
            <a:xfrm>
              <a:off x="3122613" y="3009900"/>
              <a:ext cx="3603625" cy="2074863"/>
            </a:xfrm>
            <a:prstGeom prst="rect">
              <a:avLst/>
            </a:prstGeom>
            <a:solidFill>
              <a:srgbClr val="FFFFFF"/>
            </a:solidFill>
            <a:ln w="3175">
              <a:solidFill>
                <a:srgbClr val="808080"/>
              </a:solidFill>
              <a:miter lim="800000"/>
              <a:headEnd/>
              <a:tailEnd/>
            </a:ln>
          </p:spPr>
          <p:txBody>
            <a:bodyPr lIns="91417" tIns="45709" rIns="91417" bIns="45709" anchor="ctr"/>
            <a:lstStyle/>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1. Define</a:t>
              </a:r>
              <a:endParaRPr kumimoji="0" lang="ko-KR" altLang="en-US" sz="1500" b="1" kern="0" dirty="0">
                <a:solidFill>
                  <a:sysClr val="windowText" lastClr="000000"/>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2. Measure</a:t>
              </a:r>
              <a:endParaRPr kumimoji="0" lang="en-US" altLang="ko-KR" sz="1500" b="1" kern="0" dirty="0">
                <a:solidFill>
                  <a:srgbClr val="FFFFFF">
                    <a:lumMod val="65000"/>
                  </a:srgbClr>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3. Analyze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4. Improvement</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5. Control</a:t>
              </a:r>
            </a:p>
          </p:txBody>
        </p:sp>
      </p:grpSp>
      <p:sp>
        <p:nvSpPr>
          <p:cNvPr id="10246" name="Text Box 9"/>
          <p:cNvSpPr txBox="1">
            <a:spLocks noChangeArrowheads="1"/>
          </p:cNvSpPr>
          <p:nvPr/>
        </p:nvSpPr>
        <p:spPr bwMode="auto">
          <a:xfrm>
            <a:off x="3325813" y="5117629"/>
            <a:ext cx="3197225" cy="830985"/>
          </a:xfrm>
          <a:prstGeom prst="rect">
            <a:avLst/>
          </a:prstGeom>
          <a:noFill/>
          <a:ln w="9525">
            <a:noFill/>
            <a:miter lim="800000"/>
            <a:headEnd/>
            <a:tailEnd/>
          </a:ln>
        </p:spPr>
        <p:txBody>
          <a:bodyPr lIns="91429" tIns="45714" rIns="91429" bIns="45714">
            <a:spAutoFit/>
          </a:bodyPr>
          <a:lstStyle/>
          <a:p>
            <a:pPr algn="ctr" latinLnBrk="0">
              <a:defRPr/>
            </a:pPr>
            <a:r>
              <a:rPr sz="1600" b="1" dirty="0">
                <a:latin typeface="Arial Narrow"/>
              </a:rPr>
              <a:t>202</a:t>
            </a:r>
            <a:r>
              <a:rPr lang="en-US" sz="1600" b="1" dirty="0">
                <a:latin typeface="Arial Narrow"/>
              </a:rPr>
              <a:t>6</a:t>
            </a:r>
            <a:r>
              <a:rPr sz="1600" b="1" dirty="0">
                <a:latin typeface="Arial Narrow"/>
              </a:rPr>
              <a:t>.</a:t>
            </a:r>
            <a:r>
              <a:rPr lang="en-US" sz="1600" b="1" dirty="0">
                <a:latin typeface="Arial Narrow"/>
              </a:rPr>
              <a:t>Sep</a:t>
            </a:r>
            <a:r>
              <a:rPr sz="1600" b="1" dirty="0">
                <a:latin typeface="Arial Narrow"/>
              </a:rPr>
              <a:t>.</a:t>
            </a:r>
            <a:r>
              <a:rPr lang="en-US" sz="1600" b="1" dirty="0">
                <a:latin typeface="Arial Narrow"/>
              </a:rPr>
              <a:t>23</a:t>
            </a:r>
            <a:endParaRPr sz="1600" b="1" dirty="0">
              <a:latin typeface="Arial Narrow"/>
            </a:endParaRPr>
          </a:p>
          <a:p>
            <a:pPr algn="ctr" latinLnBrk="0">
              <a:defRPr/>
            </a:pPr>
            <a:r>
              <a:rPr kumimoji="0" lang="en-US" altLang="ko-KR" sz="1600" b="1" kern="0" dirty="0">
                <a:solidFill>
                  <a:srgbClr val="333333"/>
                </a:solidFill>
                <a:latin typeface="Arial Narrow" panose="020B0606020202030204" pitchFamily="34" charset="0"/>
                <a:ea typeface="LG스마트체 Regular" panose="020B0600000101010101" pitchFamily="50" charset="-127"/>
                <a:cs typeface="Arial" panose="020B0604020202020204" pitchFamily="34" charset="0"/>
              </a:rPr>
              <a:t>6 Sigma GB assignment</a:t>
            </a:r>
          </a:p>
          <a:p>
            <a:pPr algn="ctr" latinLnBrk="0">
              <a:defRPr/>
            </a:pPr>
            <a:r>
              <a:rPr sz="1600" b="1" dirty="0">
                <a:latin typeface="Arial Narrow"/>
              </a:rPr>
              <a:t>IVI LD – Nguyen Duc Long</a:t>
            </a:r>
          </a:p>
        </p:txBody>
      </p:sp>
    </p:spTree>
    <p:extLst>
      <p:ext uri="{BB962C8B-B14F-4D97-AF65-F5344CB8AC3E}">
        <p14:creationId xmlns:p14="http://schemas.microsoft.com/office/powerpoint/2010/main" val="2787170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61212" y="76200"/>
            <a:ext cx="2935356" cy="369302"/>
          </a:xfrm>
          <a:prstGeom prst="rect">
            <a:avLst/>
          </a:prstGeom>
          <a:noFill/>
          <a:ln w="9525" algn="ctr">
            <a:noFill/>
            <a:miter lim="800000"/>
            <a:headEnd/>
            <a:tailEnd/>
          </a:ln>
        </p:spPr>
        <p:txBody>
          <a:bodyPr wrap="none" lIns="91409" tIns="45705" rIns="91409" bIns="45705" anchor="ctr">
            <a:spAutoFit/>
          </a:bodyPr>
          <a:lstStyle/>
          <a:p>
            <a:pPr algn="ctr" eaLnBrk="0" latinLnBrk="0" hangingPunct="0">
              <a:buFont typeface="Wingdings" pitchFamily="2" charset="2"/>
              <a:buNone/>
            </a:pPr>
            <a:r>
              <a:rPr kumimoji="0" lang="en-US" altLang="ko-KR" sz="1100" u="sng" dirty="0">
                <a:solidFill>
                  <a:srgbClr val="000000"/>
                </a:solidFill>
                <a:latin typeface="Arial" panose="020B0600000101010101" pitchFamily="50" charset="-127"/>
                <a:ea typeface="Arial" panose="020B0600000101010101" pitchFamily="50" charset="-127"/>
                <a:cs typeface="Arial" pitchFamily="34" charset="0"/>
              </a:rPr>
              <a:t>Six Sigma Project Register </a:t>
            </a:r>
            <a:endParaRPr kumimoji="0" lang="ko-KR" altLang="en-US" u="sng"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graphicFrame>
        <p:nvGraphicFramePr>
          <p:cNvPr id="75" name="Group 68"/>
          <p:cNvGraphicFramePr>
            <a:graphicFrameLocks noGrp="1"/>
          </p:cNvGraphicFramePr>
          <p:nvPr>
            <p:extLst>
              <p:ext uri="{D42A27DB-BD31-4B8C-83A1-F6EECF244321}">
                <p14:modId xmlns:p14="http://schemas.microsoft.com/office/powerpoint/2010/main" val="2189576015"/>
              </p:ext>
            </p:extLst>
          </p:nvPr>
        </p:nvGraphicFramePr>
        <p:xfrm>
          <a:off x="7221832" y="106389"/>
          <a:ext cx="2557087" cy="657225"/>
        </p:xfrm>
        <a:graphic>
          <a:graphicData uri="http://schemas.openxmlformats.org/drawingml/2006/table">
            <a:tbl>
              <a:tblPr/>
              <a:tblGrid>
                <a:gridCol w="675354">
                  <a:extLst>
                    <a:ext uri="{9D8B030D-6E8A-4147-A177-3AD203B41FA5}">
                      <a16:colId xmlns:a16="http://schemas.microsoft.com/office/drawing/2014/main" val="20000"/>
                    </a:ext>
                  </a:extLst>
                </a:gridCol>
                <a:gridCol w="1881733">
                  <a:extLst>
                    <a:ext uri="{9D8B030D-6E8A-4147-A177-3AD203B41FA5}">
                      <a16:colId xmlns:a16="http://schemas.microsoft.com/office/drawing/2014/main" val="20001"/>
                    </a:ext>
                  </a:extLst>
                </a:gridCol>
              </a:tblGrid>
              <a:tr h="2190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Team</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50" charset="-127"/>
                          <a:ea typeface="Arial" panose="020B0600000101010101" pitchFamily="50" charset="-127"/>
                        </a:rPr>
                        <a:t>IVI LD</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90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Leader</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Nguyen Dinh Huong TL</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075">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Owner</a:t>
                      </a:r>
                      <a:endParaRPr kumimoji="0"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algn="ctr"/>
                      <a:r>
                        <a:rPr sz="1000" b="0" dirty="0">
                          <a:latin typeface="Arial"/>
                        </a:rPr>
                        <a:t>Nguyen Duc Long</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 name="Group 133"/>
          <p:cNvGraphicFramePr>
            <a:graphicFrameLocks noGrp="1"/>
          </p:cNvGraphicFramePr>
          <p:nvPr>
            <p:extLst>
              <p:ext uri="{D42A27DB-BD31-4B8C-83A1-F6EECF244321}">
                <p14:modId xmlns:p14="http://schemas.microsoft.com/office/powerpoint/2010/main" val="2316957716"/>
              </p:ext>
            </p:extLst>
          </p:nvPr>
        </p:nvGraphicFramePr>
        <p:xfrm>
          <a:off x="120650" y="984162"/>
          <a:ext cx="9669509" cy="5797639"/>
        </p:xfrm>
        <a:graphic>
          <a:graphicData uri="http://schemas.openxmlformats.org/drawingml/2006/table">
            <a:tbl>
              <a:tblPr/>
              <a:tblGrid>
                <a:gridCol w="717550">
                  <a:extLst>
                    <a:ext uri="{9D8B030D-6E8A-4147-A177-3AD203B41FA5}">
                      <a16:colId xmlns:a16="http://schemas.microsoft.com/office/drawing/2014/main" val="20000"/>
                    </a:ext>
                  </a:extLst>
                </a:gridCol>
                <a:gridCol w="195456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44016">
                  <a:extLst>
                    <a:ext uri="{9D8B030D-6E8A-4147-A177-3AD203B41FA5}">
                      <a16:colId xmlns:a16="http://schemas.microsoft.com/office/drawing/2014/main" val="20004"/>
                    </a:ext>
                  </a:extLst>
                </a:gridCol>
                <a:gridCol w="649455">
                  <a:extLst>
                    <a:ext uri="{9D8B030D-6E8A-4147-A177-3AD203B41FA5}">
                      <a16:colId xmlns:a16="http://schemas.microsoft.com/office/drawing/2014/main" val="20005"/>
                    </a:ext>
                  </a:extLst>
                </a:gridCol>
                <a:gridCol w="115401">
                  <a:extLst>
                    <a:ext uri="{9D8B030D-6E8A-4147-A177-3AD203B41FA5}">
                      <a16:colId xmlns:a16="http://schemas.microsoft.com/office/drawing/2014/main" val="20006"/>
                    </a:ext>
                  </a:extLst>
                </a:gridCol>
                <a:gridCol w="543911">
                  <a:extLst>
                    <a:ext uri="{9D8B030D-6E8A-4147-A177-3AD203B41FA5}">
                      <a16:colId xmlns:a16="http://schemas.microsoft.com/office/drawing/2014/main" val="377791108"/>
                    </a:ext>
                  </a:extLst>
                </a:gridCol>
                <a:gridCol w="720080">
                  <a:extLst>
                    <a:ext uri="{9D8B030D-6E8A-4147-A177-3AD203B41FA5}">
                      <a16:colId xmlns:a16="http://schemas.microsoft.com/office/drawing/2014/main" val="20007"/>
                    </a:ext>
                  </a:extLst>
                </a:gridCol>
                <a:gridCol w="1006729">
                  <a:extLst>
                    <a:ext uri="{9D8B030D-6E8A-4147-A177-3AD203B41FA5}">
                      <a16:colId xmlns:a16="http://schemas.microsoft.com/office/drawing/2014/main" val="20008"/>
                    </a:ext>
                  </a:extLst>
                </a:gridCol>
                <a:gridCol w="1945599">
                  <a:extLst>
                    <a:ext uri="{9D8B030D-6E8A-4147-A177-3AD203B41FA5}">
                      <a16:colId xmlns:a16="http://schemas.microsoft.com/office/drawing/2014/main" val="20009"/>
                    </a:ext>
                  </a:extLst>
                </a:gridCol>
              </a:tblGrid>
              <a:tr h="536833">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Theme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4">
                  <a:txBody>
                    <a:bodyPr/>
                    <a:lstStyle/>
                    <a:p>
                      <a:pPr marL="0" marR="0" lvl="0" indent="0" algn="ctr" defTabSz="914400" rtl="0" eaLnBrk="1" fontAlgn="auto" latinLnBrk="1" hangingPunct="1">
                        <a:lnSpc>
                          <a:spcPct val="100000"/>
                        </a:lnSpc>
                        <a:spcBef>
                          <a:spcPts val="0"/>
                        </a:spcBef>
                        <a:spcAft>
                          <a:spcPts val="0"/>
                        </a:spcAft>
                        <a:buClrTx/>
                        <a:buSzTx/>
                        <a:buFont typeface="Wingdings" pitchFamily="2" charset="2"/>
                        <a:buNone/>
                        <a:tabLst/>
                        <a:defRPr/>
                      </a:pP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Reduce defect rate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of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Model Porsche CID J1 Dual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Luminance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Period</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3">
                  <a:txBody>
                    <a:bodyPr/>
                    <a:lstStyle/>
                    <a:p>
                      <a:pPr marL="0" marR="0" lvl="0" indent="0" algn="ctr" defTabSz="912813" rtl="0" eaLnBrk="1" fontAlgn="base" latinLnBrk="1" hangingPunct="1">
                        <a:lnSpc>
                          <a:spcPct val="100000"/>
                        </a:lnSpc>
                        <a:spcBef>
                          <a:spcPct val="0"/>
                        </a:spcBef>
                        <a:spcAft>
                          <a:spcPct val="0"/>
                        </a:spcAft>
                        <a:buClrTx/>
                        <a:buSzTx/>
                        <a:buFontTx/>
                        <a:buNone/>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2026.Mar.0</a:t>
                      </a:r>
                      <a:r>
                        <a:rPr kumimoji="1" lang="en-US" altLang="ko-KR" sz="1000" i="0" u="none" strike="noStrike" kern="0" cap="none" spc="0" normalizeH="0" baseline="0" noProof="0" dirty="0">
                          <a:ln>
                            <a:noFill/>
                          </a:ln>
                          <a:solidFill>
                            <a:schemeClr val="tx1"/>
                          </a:solidFill>
                          <a:effectLst/>
                          <a:uLnTx/>
                          <a:uFillTx/>
                          <a:latin typeface="+mn-lt"/>
                          <a:ea typeface="LG Smart_H Regular" pitchFamily="34" charset="-127"/>
                          <a:cs typeface="+mn-cs"/>
                        </a:rPr>
                        <a:t>9</a:t>
                      </a: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 ~ 2026.Jul.03</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pPr latinLnBrk="1"/>
                      <a:endParaRPr lang="ko-KR" altLang="en-US"/>
                    </a:p>
                  </a:txBody>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Task team name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Arial" panose="020B0600000101010101" pitchFamily="34" charset="-127"/>
                          <a:ea typeface="Arial" panose="020B0600000101010101" pitchFamily="34" charset="-127"/>
                          <a:cs typeface="Arial" charset="0"/>
                        </a:rPr>
                        <a:t>Inspection Engineering Project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4836">
                <a:tc rowSpan="2"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Six Sigma Project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latinLnBrk="1"/>
                      <a:endParaRPr lang="ko-KR" altLang="en-US"/>
                    </a:p>
                  </a:txBody>
                  <a:tcPr/>
                </a:tc>
                <a:tc gridSpan="7">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Goal (Stretch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Goal)</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endParaRPr lang="en-US"/>
                    </a:p>
                  </a:txBody>
                  <a:tcPr/>
                </a:tc>
                <a:tc hMerge="1">
                  <a:txBody>
                    <a:bodyPr/>
                    <a:lstStyle/>
                    <a:p>
                      <a:pPr latinLnBrk="1"/>
                      <a:endParaRPr lang="ko-KR" altLang="en-US"/>
                    </a:p>
                  </a:txBody>
                  <a:tcPr/>
                </a:tc>
                <a:tc rowSpan="2"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Idea of breaking the limit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latinLnBrk="1"/>
                      <a:endParaRPr lang="ko-KR" altLang="en-US"/>
                    </a:p>
                  </a:txBody>
                  <a:tcPr/>
                </a:tc>
                <a:extLst>
                  <a:ext uri="{0D108BD9-81ED-4DB2-BD59-A6C34878D82A}">
                    <a16:rowId xmlns:a16="http://schemas.microsoft.com/office/drawing/2014/main" val="10001"/>
                  </a:ext>
                </a:extLst>
              </a:tr>
              <a:tr h="405055">
                <a:tc gridSpan="2" vMerge="1">
                  <a:txBody>
                    <a:bodyPr/>
                    <a:lstStyle/>
                    <a:p>
                      <a:pPr latinLnBrk="1"/>
                      <a:endParaRPr lang="ko-KR" altLang="en-US"/>
                    </a:p>
                  </a:txBody>
                  <a:tcPr/>
                </a:tc>
                <a:tc hMerge="1" v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index</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gridSpan="3">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Current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hMerge="1">
                  <a:txBody>
                    <a:bodyPr/>
                    <a:lstStyle/>
                    <a:p>
                      <a:pPr marL="0" marR="0" lvl="0" indent="0" algn="ctr" defTabSz="912813"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Best</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Best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Goal</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vMerge="1">
                  <a:txBody>
                    <a:bodyPr/>
                    <a:lstStyle/>
                    <a:p>
                      <a:pPr latinLnBrk="1"/>
                      <a:endParaRPr lang="ko-KR" altLang="en-US"/>
                    </a:p>
                  </a:txBody>
                  <a:tcPr/>
                </a:tc>
                <a:tc hMerge="1" vMerge="1">
                  <a:txBody>
                    <a:bodyPr/>
                    <a:lstStyle/>
                    <a:p>
                      <a:pPr latinLnBrk="1"/>
                      <a:endParaRPr lang="ko-KR" altLang="en-US"/>
                    </a:p>
                  </a:txBody>
                  <a:tcPr/>
                </a:tc>
                <a:extLst>
                  <a:ext uri="{0D108BD9-81ED-4DB2-BD59-A6C34878D82A}">
                    <a16:rowId xmlns:a16="http://schemas.microsoft.com/office/drawing/2014/main" val="10002"/>
                  </a:ext>
                </a:extLst>
              </a:tr>
              <a:tr h="422810">
                <a:tc rowSpan="2" gridSpan="2">
                  <a:txBody>
                    <a:bodyPr/>
                    <a:lstStyle/>
                    <a:p>
                      <a:pPr algn="ctr"/>
                      <a:r>
                        <a:rPr lang="en-US" alt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Improve Luminance value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latinLnBrk="1"/>
                      <a:endParaRPr lang="ko-KR" altLang="en-US"/>
                    </a:p>
                  </a:txBody>
                  <a:tcPr/>
                </a:tc>
                <a:tc>
                  <a:txBody>
                    <a:bodyPr/>
                    <a:lstStyle/>
                    <a:p>
                      <a:pPr algn="ct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KPI</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1"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Defect rate</a:t>
                      </a:r>
                    </a:p>
                    <a:p>
                      <a:pPr marL="0" marR="0" lvl="0" indent="0" algn="ctr" defTabSz="912813" rtl="0" eaLnBrk="1" fontAlgn="base" latinLnBrk="1"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(ppm) </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dirty="0">
                          <a:solidFill>
                            <a:schemeClr val="tx1"/>
                          </a:solidFill>
                          <a:latin typeface="Arial" panose="020B0600000101010101" pitchFamily="34" charset="-127"/>
                          <a:ea typeface="Arial" panose="020B0600000101010101" pitchFamily="34" charset="-127"/>
                          <a:cs typeface="Arial" panose="020B0604020202020204" pitchFamily="34" charset="0"/>
                        </a:rPr>
                        <a:t>226,624</a:t>
                      </a: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ppm</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hMerge="1">
                  <a:txBody>
                    <a:bodyPr/>
                    <a:lstStyle/>
                    <a:p>
                      <a:pPr algn="ct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0" lang="en-US" altLang="ko-KR" sz="1000" b="0" i="0" u="none" strike="noStrike" kern="1200" cap="none" normalizeH="0" baseline="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1" hangingPunct="1">
                        <a:lnSpc>
                          <a:spcPct val="110000"/>
                        </a:lnSpc>
                        <a:spcBef>
                          <a:spcPct val="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0 ppm</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gridSpan="2">
                  <a:txBody>
                    <a:bodyPr/>
                    <a:lstStyle/>
                    <a:p>
                      <a:pPr marL="171450" marR="0" lvl="0" indent="-171450" algn="l" defTabSz="914400" rtl="0" eaLnBrk="0" fontAlgn="base" latinLnBrk="1"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Teaching robot and change camera angle for detecting the central of PID</a:t>
                      </a:r>
                    </a:p>
                    <a:p>
                      <a:pPr marL="171450" marR="0" lvl="0" indent="-171450" algn="l" defTabSz="914400" rtl="0" eaLnBrk="0" fontAlgn="base" latinLnBrk="1"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Make check sheet to control camera equipment</a:t>
                      </a:r>
                    </a:p>
                    <a:p>
                      <a:pPr marL="171450" marR="0" lvl="0" indent="-171450" algn="l" defTabSz="914400" rtl="0" eaLnBrk="0" fontAlgn="base" latinLnBrk="1" hangingPunct="0">
                        <a:lnSpc>
                          <a:spcPct val="100000"/>
                        </a:lnSpc>
                        <a:spcBef>
                          <a:spcPct val="0"/>
                        </a:spcBef>
                        <a:spcAft>
                          <a:spcPct val="0"/>
                        </a:spcAft>
                        <a:buClrTx/>
                        <a:buSzTx/>
                        <a:buFontTx/>
                        <a:buChar char="-"/>
                        <a:tabLst/>
                        <a:defRPr/>
                      </a:pPr>
                      <a:endParaRPr kumimoji="1" lang="en-US" altLang="ko-KR" sz="1000" i="0" u="none" strike="noStrike" kern="0" cap="none" spc="0" normalizeH="0" baseline="0" noProof="0" dirty="0">
                        <a:ln>
                          <a:noFill/>
                        </a:ln>
                        <a:solidFill>
                          <a:schemeClr val="tx1"/>
                        </a:solidFill>
                        <a:effectLst/>
                        <a:uLnTx/>
                        <a:uFillTx/>
                        <a:latin typeface="LG Smart_H Regular" panose="020B0600000101010101" pitchFamily="34" charset="-127"/>
                        <a:ea typeface="LG Smart_H Regular" panose="020B0600000101010101" pitchFamily="34" charset="-127"/>
                        <a:cs typeface="+mn-cs"/>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latinLnBrk="1"/>
                      <a:endParaRPr lang="ko-KR" altLang="en-US"/>
                    </a:p>
                  </a:txBody>
                  <a:tcPr/>
                </a:tc>
                <a:extLst>
                  <a:ext uri="{0D108BD9-81ED-4DB2-BD59-A6C34878D82A}">
                    <a16:rowId xmlns:a16="http://schemas.microsoft.com/office/drawing/2014/main" val="10003"/>
                  </a:ext>
                </a:extLst>
              </a:tr>
              <a:tr h="444862">
                <a:tc gridSpan="2" vMerge="1">
                  <a:txBody>
                    <a:bodyPr/>
                    <a:lstStyle/>
                    <a:p>
                      <a:pPr latinLnBrk="1"/>
                      <a:endParaRPr lang="ko-KR" altLang="en-US"/>
                    </a:p>
                  </a:txBody>
                  <a:tcPr/>
                </a:tc>
                <a:tc hMerge="1" vMerge="1">
                  <a:txBody>
                    <a:bodyPr/>
                    <a:lstStyle/>
                    <a:p>
                      <a:pPr latinLnBrk="1"/>
                      <a:endParaRPr lang="ko-KR" altLang="en-US"/>
                    </a:p>
                  </a:txBody>
                  <a:tcPr/>
                </a:tc>
                <a:tc>
                  <a:txBody>
                    <a:bodyPr/>
                    <a:lstStyle/>
                    <a:p>
                      <a:pPr algn="ct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ProjectY</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Luminance </a:t>
                      </a:r>
                    </a:p>
                    <a:p>
                      <a:pPr algn="ctr"/>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(800-2000Cd/m</a:t>
                      </a:r>
                      <a:r>
                        <a:rPr kumimoji="0" lang="en-US" altLang="ko-KR" sz="1000" b="0" i="1"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a:t>
                      </a:r>
                      <a:endParaRPr kumimoji="0" lang="ko-KR" altLang="en-US" sz="1000" b="0" i="1"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algn="ct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788 Cd/m</a:t>
                      </a:r>
                      <a:r>
                        <a:rPr kumimoji="0" lang="en-US" altLang="ko-KR" sz="1000" b="0" i="0"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p>
                    <a:p>
                      <a:pPr algn="ct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0.15</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909 Cd/m</a:t>
                      </a:r>
                      <a:r>
                        <a:rPr kumimoji="0" lang="en-US" altLang="ko-KR" sz="1000" b="0" i="0"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p>
                    <a:p>
                      <a:pPr algn="ct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≥1.33</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vMerge="1">
                  <a:txBody>
                    <a:bodyPr/>
                    <a:lstStyle/>
                    <a:p>
                      <a:pPr latinLnBrk="1"/>
                      <a:endParaRPr lang="ko-KR" altLang="en-US"/>
                    </a:p>
                  </a:txBody>
                  <a:tcPr/>
                </a:tc>
                <a:tc hMerge="1" vMerge="1">
                  <a:txBody>
                    <a:bodyPr/>
                    <a:lstStyle/>
                    <a:p>
                      <a:pPr latinLnBrk="1"/>
                      <a:endParaRPr lang="ko-KR" altLang="en-US"/>
                    </a:p>
                  </a:txBody>
                  <a:tcPr/>
                </a:tc>
                <a:extLst>
                  <a:ext uri="{0D108BD9-81ED-4DB2-BD59-A6C34878D82A}">
                    <a16:rowId xmlns:a16="http://schemas.microsoft.com/office/drawing/2014/main" val="10004"/>
                  </a:ext>
                </a:extLst>
              </a:tr>
              <a:tr h="311821">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Management</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Issue (Biz. Issue)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gridSpan="7">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Implement Plan</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(Fast &amp; Strong)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endParaRPr lang="en-US"/>
                    </a:p>
                  </a:txBody>
                  <a:tcPr/>
                </a:tc>
                <a:tc h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Task Member</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extLst>
                  <a:ext uri="{0D108BD9-81ED-4DB2-BD59-A6C34878D82A}">
                    <a16:rowId xmlns:a16="http://schemas.microsoft.com/office/drawing/2014/main" val="10005"/>
                  </a:ext>
                </a:extLst>
              </a:tr>
              <a:tr h="1619045">
                <a:tc rowSpan="3" gridSpan="2">
                  <a:txBody>
                    <a:bodyPr/>
                    <a:lstStyle/>
                    <a:p>
                      <a:pPr marL="114300" indent="0" algn="l" fontAlgn="b">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-Luminance issue is affected to UPH of line, loss time when issue happen.</a:t>
                      </a:r>
                    </a:p>
                    <a:p>
                      <a:pPr marL="114300" indent="0" algn="l" fontAlgn="b">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-NG LCD of this issue after retest NG, can not pass inspection station, NG LCD will be returned to HEESUNG supplier scrap, lead to IF cost, so it is necessary to find action to eliminate this issue, improve factory performance</a:t>
                      </a:r>
                    </a:p>
                    <a:p>
                      <a:pPr marL="114300" indent="0" algn="l" fontAlgn="b">
                        <a:lnSpc>
                          <a:spcPct val="150000"/>
                        </a:lnSpc>
                        <a:buNone/>
                      </a:pPr>
                      <a:endParaRPr kumimoji="0" lang="en-US" altLang="ko-KR" sz="1000" b="0" i="0" u="none" strike="noStrike" cap="none" normalizeH="0" baseline="0" dirty="0">
                        <a:ln>
                          <a:noFill/>
                        </a:ln>
                        <a:solidFill>
                          <a:schemeClr val="tx1"/>
                        </a:solidFill>
                        <a:effectLst/>
                        <a:latin typeface="LG Smart_H Regular" pitchFamily="34" charset="-127"/>
                        <a:ea typeface="LG Smart_H Regular" pitchFamily="34" charset="-127"/>
                        <a:cs typeface="Arial" pitchFamily="34" charset="0"/>
                        <a:sym typeface="Wingdings" pitchFamily="2" charset="2"/>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latinLnBrk="1"/>
                      <a:endParaRPr lang="ko-KR" altLang="en-US"/>
                    </a:p>
                  </a:txBody>
                  <a:tcPr/>
                </a:tc>
                <a:tc rowSpan="3" gridSpan="7">
                  <a:txBody>
                    <a:bodyPr/>
                    <a:lstStyle/>
                    <a:p>
                      <a:pPr marL="0" marR="0" lvl="0" indent="0" algn="ctr" defTabSz="912813" rtl="0" eaLnBrk="1" fontAlgn="base" latinLnBrk="1" hangingPunct="1">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latinLnBrk="1"/>
                      <a:endParaRPr lang="ko-KR" altLang="en-US"/>
                    </a:p>
                  </a:txBody>
                  <a:tcPr/>
                </a:tc>
                <a:tc rowSpan="3" hMerge="1">
                  <a:txBody>
                    <a:bodyPr/>
                    <a:lstStyle/>
                    <a:p>
                      <a:pPr latinLnBrk="1"/>
                      <a:endParaRPr lang="ko-KR" altLang="en-US"/>
                    </a:p>
                  </a:txBody>
                  <a:tcPr/>
                </a:tc>
                <a:tc rowSpan="3" hMerge="1">
                  <a:txBody>
                    <a:bodyPr/>
                    <a:lstStyle/>
                    <a:p>
                      <a:pPr latinLnBrk="1"/>
                      <a:endParaRPr lang="ko-KR" altLang="en-US"/>
                    </a:p>
                  </a:txBody>
                  <a:tcPr/>
                </a:tc>
                <a:tc rowSpan="3" hMerge="1">
                  <a:txBody>
                    <a:bodyPr/>
                    <a:lstStyle/>
                    <a:p>
                      <a:pPr latinLnBrk="1"/>
                      <a:endParaRPr lang="ko-KR" altLang="en-US"/>
                    </a:p>
                  </a:txBody>
                  <a:tcPr/>
                </a:tc>
                <a:tc rowSpan="3" hMerge="1">
                  <a:txBody>
                    <a:bodyPr/>
                    <a:lstStyle/>
                    <a:p>
                      <a:endParaRPr lang="en-US"/>
                    </a:p>
                  </a:txBody>
                  <a:tcPr/>
                </a:tc>
                <a:tc rowSpan="3" hMerge="1">
                  <a:txBody>
                    <a:bodyPr/>
                    <a:lstStyle/>
                    <a:p>
                      <a:pPr latinLnBrk="1"/>
                      <a:endParaRPr lang="ko-KR" altLang="en-US"/>
                    </a:p>
                  </a:txBody>
                  <a:tcPr/>
                </a:tc>
                <a:tc gridSpan="2">
                  <a:txBody>
                    <a:bodyPr/>
                    <a:lstStyle/>
                    <a:p>
                      <a:pPr marL="0" marR="0" lvl="0" indent="0" algn="l"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06"/>
                  </a:ext>
                </a:extLst>
              </a:tr>
              <a:tr h="311821">
                <a:tc gridSpan="2" vMerge="1">
                  <a:txBody>
                    <a:bodyPr/>
                    <a:lstStyle/>
                    <a:p>
                      <a:pPr latinLnBrk="1"/>
                      <a:endParaRPr lang="ko-KR" altLang="en-US"/>
                    </a:p>
                  </a:txBody>
                  <a:tcPr/>
                </a:tc>
                <a:tc hMerge="1" vMerge="1">
                  <a:txBody>
                    <a:bodyPr/>
                    <a:lstStyle/>
                    <a:p>
                      <a:pPr latinLnBrk="1"/>
                      <a:endParaRPr lang="ko-KR" altLang="en-US"/>
                    </a:p>
                  </a:txBody>
                  <a:tcPr/>
                </a:tc>
                <a:tc gridSpan="7"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endParaRPr lang="en-US"/>
                    </a:p>
                  </a:txBody>
                  <a:tcPr/>
                </a:tc>
                <a:tc hMerge="1" v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Location</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extLst>
                  <a:ext uri="{0D108BD9-81ED-4DB2-BD59-A6C34878D82A}">
                    <a16:rowId xmlns:a16="http://schemas.microsoft.com/office/drawing/2014/main" val="10007"/>
                  </a:ext>
                </a:extLst>
              </a:tr>
              <a:tr h="288121">
                <a:tc gridSpan="2" vMerge="1">
                  <a:txBody>
                    <a:bodyPr/>
                    <a:lstStyle/>
                    <a:p>
                      <a:pPr latinLnBrk="1"/>
                      <a:endParaRPr lang="ko-KR" altLang="en-US"/>
                    </a:p>
                  </a:txBody>
                  <a:tcPr/>
                </a:tc>
                <a:tc hMerge="1" vMerge="1">
                  <a:txBody>
                    <a:bodyPr/>
                    <a:lstStyle/>
                    <a:p>
                      <a:pPr latinLnBrk="1"/>
                      <a:endParaRPr lang="ko-KR" altLang="en-US"/>
                    </a:p>
                  </a:txBody>
                  <a:tcPr/>
                </a:tc>
                <a:tc gridSpan="7"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endParaRPr lang="en-US"/>
                    </a:p>
                  </a:txBody>
                  <a:tcPr/>
                </a:tc>
                <a:tc hMerge="1" v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LG Smart_H Regular" pitchFamily="34" charset="-127"/>
                          <a:cs typeface="Arial" panose="020B0604020202020204" pitchFamily="34" charset="0"/>
                        </a:rPr>
                        <a:t>LG Electronics Viet Nam-Hai Phong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08"/>
                  </a:ext>
                </a:extLst>
              </a:tr>
              <a:tr h="311821">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Qualitative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gridSpan="7">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Quantitative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endParaRPr lang="en-US"/>
                    </a:p>
                  </a:txBody>
                  <a:tcPr/>
                </a:tc>
                <a:tc h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Neck Point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latinLnBrk="1"/>
                      <a:endParaRPr lang="ko-KR" altLang="en-US"/>
                    </a:p>
                  </a:txBody>
                  <a:tcPr/>
                </a:tc>
                <a:extLst>
                  <a:ext uri="{0D108BD9-81ED-4DB2-BD59-A6C34878D82A}">
                    <a16:rowId xmlns:a16="http://schemas.microsoft.com/office/drawing/2014/main" val="10009"/>
                  </a:ext>
                </a:extLst>
              </a:tr>
              <a:tr h="820614">
                <a:tc gridSpan="2">
                  <a:txBody>
                    <a:bodyPr/>
                    <a:lstStyle/>
                    <a:p>
                      <a:pPr marL="0" marR="0" lvl="0" indent="0" algn="l" defTabSz="912813" rtl="0" eaLnBrk="1" fontAlgn="base" latinLnBrk="1"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sym typeface="Wingdings" pitchFamily="2" charset="2"/>
                        </a:rPr>
                        <a:t>Improving smoothly testing process for sets</a:t>
                      </a:r>
                    </a:p>
                    <a:p>
                      <a:pPr marL="0" marR="0" lvl="0" indent="0" algn="l" defTabSz="912813" rtl="0" eaLnBrk="1" fontAlgn="base" latinLnBrk="1"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sym typeface="Wingdings" pitchFamily="2" charset="2"/>
                        </a:rPr>
                        <a:t>Reducing cost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gridSpan="7">
                  <a:txBody>
                    <a:bodyPr/>
                    <a:lstStyle/>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 LCD part =118.72$</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The scrap cost of Luminance issue on March:</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19*118.72 = 2255.68$</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sym typeface="Wingdings" panose="05000000000000000000" pitchFamily="2" charset="2"/>
                        </a:rPr>
                        <a:t> Need improve to reduce the scrap cost of Luminance issue</a:t>
                      </a:r>
                      <a:endParaRPr lang="en-US" altLang="ko-KR" sz="1000" b="0" dirty="0">
                        <a:solidFill>
                          <a:srgbClr val="000000"/>
                        </a:solidFill>
                        <a:latin typeface="LG스마트체 Regular" panose="020B0600000101010101" pitchFamily="50" charset="-127"/>
                        <a:ea typeface="LG스마트체 Regular" panose="020B0600000101010101" pitchFamily="50"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endParaRPr lang="en-US"/>
                    </a:p>
                  </a:txBody>
                  <a:tcPr/>
                </a:tc>
                <a:tc hMerge="1">
                  <a:txBody>
                    <a:bodyPr/>
                    <a:lstStyle/>
                    <a:p>
                      <a:pPr latinLnBrk="1"/>
                      <a:endParaRPr lang="ko-KR" altLang="en-US"/>
                    </a:p>
                  </a:txBody>
                  <a:tcPr/>
                </a:tc>
                <a:tc gridSpan="2">
                  <a:txBody>
                    <a:bodyPr/>
                    <a:lstStyle/>
                    <a:p>
                      <a:pPr marL="0" marR="0" lvl="0" indent="0" algn="ctr" defTabSz="912813" rtl="0" eaLnBrk="1" fontAlgn="base" latinLnBrk="1"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rgbClr val="000000"/>
                          </a:solidFill>
                          <a:effectLst/>
                          <a:latin typeface="Arial" panose="020B0600000101010101" pitchFamily="50" charset="-127"/>
                          <a:ea typeface="Arial" panose="020B0600000101010101" pitchFamily="50" charset="-127"/>
                          <a:cs typeface="Arial" charset="0"/>
                        </a:rPr>
                        <a:t>Because improvement action related to equipment, So need support from PE team</a:t>
                      </a:r>
                    </a:p>
                    <a:p>
                      <a:pPr marL="0" marR="0" lvl="0" indent="0" algn="l" defTabSz="912813" rtl="0" eaLnBrk="1" fontAlgn="base" latinLnBrk="1"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extLst>
                  <a:ext uri="{0D108BD9-81ED-4DB2-BD59-A6C34878D82A}">
                    <a16:rowId xmlns:a16="http://schemas.microsoft.com/office/drawing/2014/main" val="10010"/>
                  </a:ext>
                </a:extLst>
              </a:tr>
            </a:tbl>
          </a:graphicData>
        </a:graphic>
      </p:graphicFrame>
      <p:sp>
        <p:nvSpPr>
          <p:cNvPr id="19552" name="직사각형 39"/>
          <p:cNvSpPr>
            <a:spLocks noChangeArrowheads="1"/>
          </p:cNvSpPr>
          <p:nvPr/>
        </p:nvSpPr>
        <p:spPr bwMode="auto">
          <a:xfrm>
            <a:off x="2714516" y="3335179"/>
            <a:ext cx="843501" cy="246221"/>
          </a:xfrm>
          <a:prstGeom prst="rect">
            <a:avLst/>
          </a:prstGeom>
          <a:noFill/>
          <a:ln w="9525">
            <a:noFill/>
            <a:miter lim="800000"/>
            <a:headEnd/>
            <a:tailEnd/>
          </a:ln>
        </p:spPr>
        <p:txBody>
          <a:bodyPr wrap="none">
            <a:spAutoFit/>
          </a:bodyPr>
          <a:lstStyle/>
          <a:p>
            <a:pPr eaLnBrk="0" latinLnBrk="0" hangingPunct="0"/>
            <a:r>
              <a:rPr kumimoji="0" lang="ko-KR" altLang="en-US" sz="1100" dirty="0">
                <a:solidFill>
                  <a:srgbClr val="000000"/>
                </a:solidFill>
                <a:latin typeface="Arial" panose="020B0600000101010101" pitchFamily="50" charset="-127"/>
                <a:ea typeface="Arial" panose="020B0600000101010101" pitchFamily="50" charset="-127"/>
                <a:cs typeface="Arial" pitchFamily="34" charset="0"/>
                <a:sym typeface="Wingdings" pitchFamily="2" charset="2"/>
              </a:rPr>
              <a:t> </a:t>
            </a:r>
            <a:r>
              <a:rPr kumimoji="0" lang="en-US" altLang="ko-KR" sz="1100" dirty="0">
                <a:solidFill>
                  <a:srgbClr val="000000"/>
                </a:solidFill>
                <a:latin typeface="Arial" panose="020B0600000101010101" pitchFamily="50" charset="-127"/>
                <a:ea typeface="Arial" panose="020B0600000101010101" pitchFamily="50" charset="-127"/>
                <a:cs typeface="Arial" pitchFamily="34" charset="0"/>
              </a:rPr>
              <a:t>Schedule</a:t>
            </a:r>
            <a:endParaRPr kumimoji="0" lang="ko-KR" altLang="en-US" sz="1000"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sp>
        <p:nvSpPr>
          <p:cNvPr id="19553" name="직사각형 40"/>
          <p:cNvSpPr>
            <a:spLocks noChangeArrowheads="1"/>
          </p:cNvSpPr>
          <p:nvPr/>
        </p:nvSpPr>
        <p:spPr bwMode="auto">
          <a:xfrm>
            <a:off x="2732062" y="3886200"/>
            <a:ext cx="4078288" cy="1804661"/>
          </a:xfrm>
          <a:prstGeom prst="rect">
            <a:avLst/>
          </a:prstGeom>
          <a:noFill/>
          <a:ln w="9525">
            <a:noFill/>
            <a:miter lim="800000"/>
            <a:headEnd/>
            <a:tailEnd/>
          </a:ln>
        </p:spPr>
        <p:txBody>
          <a:bodyPr>
            <a:spAutoFit/>
          </a:bodyPr>
          <a:lstStyle/>
          <a:p>
            <a:pPr eaLnBrk="0" latinLnBrk="0" hangingPunct="0">
              <a:lnSpc>
                <a:spcPts val="1500"/>
              </a:lnSpc>
              <a:buFont typeface="Wingdings" pitchFamily="2" charset="2"/>
              <a:buChar char="q"/>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Key activity / Output</a:t>
            </a:r>
          </a:p>
          <a:p>
            <a:pPr eaLnBrk="0" hangingPunct="0">
              <a:lnSpc>
                <a:spcPts val="1500"/>
              </a:lnSpc>
              <a:buFont typeface="Arial" panose="020B0604020202020204" pitchFamily="34" charset="0"/>
              <a:buChar char="•"/>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D : </a:t>
            </a:r>
            <a:r>
              <a:rPr lang="en-US" sz="1000" dirty="0">
                <a:latin typeface="Arial" panose="020B0600000101010101" pitchFamily="34" charset="-127"/>
                <a:ea typeface="Arial" panose="020B0600000101010101" pitchFamily="34" charset="-127"/>
                <a:cs typeface="Arial" panose="020B0604020202020204" pitchFamily="34" charset="0"/>
              </a:rPr>
              <a:t>Define issue, </a:t>
            </a:r>
            <a:r>
              <a:rPr lang="en-US"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d</a:t>
            </a:r>
            <a:r>
              <a:rPr lang="en-US" altLang="ko-KR"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efine defect rate, collect defective sample and issue information</a:t>
            </a:r>
          </a:p>
          <a:p>
            <a:pPr ea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M : </a:t>
            </a:r>
            <a:r>
              <a:rPr lang="en-US" sz="1000" dirty="0">
                <a:latin typeface="Arial" panose="020B0600000101010101" pitchFamily="34" charset="-127"/>
                <a:ea typeface="Arial" panose="020B0600000101010101" pitchFamily="34" charset="-127"/>
              </a:rPr>
              <a:t>Gage R&amp;R evaluate equipment</a:t>
            </a:r>
            <a:endParaRPr 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A : </a:t>
            </a:r>
            <a:r>
              <a:rPr lang="en-US" sz="1000" dirty="0">
                <a:latin typeface="Arial" panose="020B0600000101010101" pitchFamily="34" charset="-127"/>
                <a:ea typeface="Arial" panose="020B0600000101010101" pitchFamily="34" charset="-127"/>
              </a:rPr>
              <a:t>Use 5 Why analysis method to find root cause.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Test sample using different setting and pallet</a:t>
            </a:r>
          </a:p>
          <a:p>
            <a:pPr ea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I : </a:t>
            </a:r>
            <a:r>
              <a:rPr lang="en-US" sz="1000" dirty="0">
                <a:latin typeface="Arial" panose="020B0600000101010101" pitchFamily="34" charset="-127"/>
                <a:ea typeface="Arial" panose="020B0600000101010101" pitchFamily="34" charset="-127"/>
              </a:rPr>
              <a:t>Meeting with HQ IE discuss about improvement action. </a:t>
            </a:r>
            <a:r>
              <a:rPr lang="en-US" altLang="ko-KR" sz="1000" kern="0" dirty="0">
                <a:solidFill>
                  <a:srgbClr val="000000"/>
                </a:solidFill>
                <a:latin typeface="Arial" panose="020B0600000101010101" pitchFamily="34" charset="-127"/>
                <a:ea typeface="Arial" panose="020B0600000101010101" pitchFamily="34" charset="-127"/>
                <a:cs typeface="Arial" pitchFamily="34" charset="0"/>
              </a:rPr>
              <a:t>Make improvement action plan and follow up</a:t>
            </a:r>
            <a:endParaRPr kumimoji="0" lang="ko-KR" alt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C :</a:t>
            </a: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Control defect rate of Luminance issue through GMES system</a:t>
            </a:r>
          </a:p>
        </p:txBody>
      </p:sp>
      <p:sp>
        <p:nvSpPr>
          <p:cNvPr id="19554" name="AutoShape 110"/>
          <p:cNvSpPr>
            <a:spLocks noChangeArrowheads="1"/>
          </p:cNvSpPr>
          <p:nvPr/>
        </p:nvSpPr>
        <p:spPr bwMode="auto">
          <a:xfrm>
            <a:off x="2999259" y="3644131"/>
            <a:ext cx="576262"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0" latinLnBrk="0" hangingPunct="0"/>
            <a:r>
              <a:rPr kumimoji="0" lang="en-US" altLang="ko-KR" sz="1100" dirty="0">
                <a:solidFill>
                  <a:srgbClr val="000000"/>
                </a:solidFill>
                <a:latin typeface="Arial" panose="020B0600000101010101" pitchFamily="50" charset="-127"/>
                <a:ea typeface="Arial" panose="020B0600000101010101" pitchFamily="50" charset="-127"/>
                <a:cs typeface="Arial" pitchFamily="34" charset="0"/>
              </a:rPr>
              <a:t>D</a:t>
            </a:r>
          </a:p>
        </p:txBody>
      </p:sp>
      <p:sp>
        <p:nvSpPr>
          <p:cNvPr id="19555" name="AutoShape 111"/>
          <p:cNvSpPr>
            <a:spLocks noChangeArrowheads="1"/>
          </p:cNvSpPr>
          <p:nvPr/>
        </p:nvSpPr>
        <p:spPr bwMode="auto">
          <a:xfrm>
            <a:off x="3575521"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0" latinLnBrk="0" hangingPunct="0"/>
            <a:r>
              <a:rPr kumimoji="0" lang="en-US" altLang="ko-KR" sz="1100">
                <a:solidFill>
                  <a:srgbClr val="000000"/>
                </a:solidFill>
                <a:latin typeface="Arial" panose="020B0600000101010101" pitchFamily="50" charset="-127"/>
                <a:ea typeface="Arial" panose="020B0600000101010101" pitchFamily="50" charset="-127"/>
                <a:cs typeface="Arial" pitchFamily="34" charset="0"/>
              </a:rPr>
              <a:t>M</a:t>
            </a:r>
          </a:p>
        </p:txBody>
      </p:sp>
      <p:sp>
        <p:nvSpPr>
          <p:cNvPr id="19556" name="AutoShape 112"/>
          <p:cNvSpPr>
            <a:spLocks noChangeArrowheads="1"/>
          </p:cNvSpPr>
          <p:nvPr/>
        </p:nvSpPr>
        <p:spPr bwMode="auto">
          <a:xfrm>
            <a:off x="415178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0" latinLnBrk="0" hangingPunct="0"/>
            <a:r>
              <a:rPr kumimoji="0" lang="en-US" altLang="ko-KR" sz="1100">
                <a:solidFill>
                  <a:srgbClr val="000000"/>
                </a:solidFill>
                <a:latin typeface="Arial" panose="020B0600000101010101" pitchFamily="50" charset="-127"/>
                <a:ea typeface="Arial" panose="020B0600000101010101" pitchFamily="50" charset="-127"/>
                <a:cs typeface="Arial" pitchFamily="34" charset="0"/>
              </a:rPr>
              <a:t>A</a:t>
            </a:r>
          </a:p>
        </p:txBody>
      </p:sp>
      <p:sp>
        <p:nvSpPr>
          <p:cNvPr id="19557" name="AutoShape 117"/>
          <p:cNvSpPr>
            <a:spLocks noChangeArrowheads="1"/>
          </p:cNvSpPr>
          <p:nvPr/>
        </p:nvSpPr>
        <p:spPr bwMode="auto">
          <a:xfrm>
            <a:off x="472963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0" latinLnBrk="0" hangingPunct="0"/>
            <a:r>
              <a:rPr kumimoji="0" lang="en-US" altLang="ko-KR" sz="1100">
                <a:solidFill>
                  <a:srgbClr val="000000"/>
                </a:solidFill>
                <a:latin typeface="Arial" panose="020B0600000101010101" pitchFamily="50" charset="-127"/>
                <a:ea typeface="Arial" panose="020B0600000101010101" pitchFamily="50" charset="-127"/>
                <a:cs typeface="Arial" pitchFamily="34" charset="0"/>
              </a:rPr>
              <a:t>I</a:t>
            </a:r>
          </a:p>
        </p:txBody>
      </p:sp>
      <p:sp>
        <p:nvSpPr>
          <p:cNvPr id="19558" name="AutoShape 118"/>
          <p:cNvSpPr>
            <a:spLocks noChangeArrowheads="1"/>
          </p:cNvSpPr>
          <p:nvPr/>
        </p:nvSpPr>
        <p:spPr bwMode="auto">
          <a:xfrm>
            <a:off x="5305896" y="3644131"/>
            <a:ext cx="576263"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0" latinLnBrk="0" hangingPunct="0"/>
            <a:r>
              <a:rPr kumimoji="0" lang="en-US" altLang="ko-KR" sz="1100">
                <a:solidFill>
                  <a:srgbClr val="000000"/>
                </a:solidFill>
                <a:latin typeface="Arial" panose="020B0600000101010101" pitchFamily="50" charset="-127"/>
                <a:ea typeface="Arial" panose="020B0600000101010101" pitchFamily="50" charset="-127"/>
                <a:cs typeface="Arial" pitchFamily="34" charset="0"/>
              </a:rPr>
              <a:t>C</a:t>
            </a:r>
          </a:p>
        </p:txBody>
      </p:sp>
      <p:sp>
        <p:nvSpPr>
          <p:cNvPr id="19559" name="Text Box 115"/>
          <p:cNvSpPr txBox="1">
            <a:spLocks noChangeArrowheads="1"/>
          </p:cNvSpPr>
          <p:nvPr/>
        </p:nvSpPr>
        <p:spPr bwMode="auto">
          <a:xfrm>
            <a:off x="3346990" y="3415531"/>
            <a:ext cx="394660" cy="246221"/>
          </a:xfrm>
          <a:prstGeom prst="rect">
            <a:avLst/>
          </a:prstGeom>
          <a:noFill/>
          <a:ln w="9525">
            <a:noFill/>
            <a:miter lim="800000"/>
            <a:headEnd/>
            <a:tailEnd/>
          </a:ln>
        </p:spPr>
        <p:txBody>
          <a:bodyPr wrap="none">
            <a:spAutoFit/>
          </a:bodyPr>
          <a:lstStyle/>
          <a:p>
            <a:pPr eaLnBrk="0" latinLnBrk="0" hangingPunct="0"/>
            <a:r>
              <a:rPr kumimoji="0" lang="en-US" altLang="ko-KR" sz="1100" dirty="0">
                <a:solidFill>
                  <a:srgbClr val="000000"/>
                </a:solidFill>
                <a:latin typeface="Arial" panose="020B0600000101010101" pitchFamily="50" charset="-127"/>
                <a:ea typeface="Arial" panose="020B0600000101010101" pitchFamily="50" charset="-127"/>
                <a:cs typeface="Arial" pitchFamily="34" charset="0"/>
              </a:rPr>
              <a:t>3/9</a:t>
            </a:r>
          </a:p>
        </p:txBody>
      </p:sp>
      <p:sp>
        <p:nvSpPr>
          <p:cNvPr id="19560" name="Text Box 115"/>
          <p:cNvSpPr txBox="1">
            <a:spLocks noChangeArrowheads="1"/>
          </p:cNvSpPr>
          <p:nvPr/>
        </p:nvSpPr>
        <p:spPr bwMode="auto">
          <a:xfrm>
            <a:off x="3868590" y="3415531"/>
            <a:ext cx="394660" cy="246221"/>
          </a:xfrm>
          <a:prstGeom prst="rect">
            <a:avLst/>
          </a:prstGeom>
          <a:noFill/>
          <a:ln w="9525">
            <a:noFill/>
            <a:miter lim="800000"/>
            <a:headEnd/>
            <a:tailEnd/>
          </a:ln>
        </p:spPr>
        <p:txBody>
          <a:bodyPr wrap="none">
            <a:spAutoFit/>
          </a:bodyPr>
          <a:lstStyle/>
          <a:p>
            <a:pPr eaLnBrk="0" latinLnBrk="0" hangingPunct="0"/>
            <a:r>
              <a:rPr kumimoji="0" lang="en-US" altLang="ko-KR" sz="1100" dirty="0">
                <a:solidFill>
                  <a:srgbClr val="000000"/>
                </a:solidFill>
                <a:latin typeface="Arial" panose="020B0600000101010101" pitchFamily="50" charset="-127"/>
                <a:ea typeface="Arial" panose="020B0600000101010101" pitchFamily="50" charset="-127"/>
                <a:cs typeface="Arial" pitchFamily="34" charset="0"/>
              </a:rPr>
              <a:t>4/1</a:t>
            </a:r>
          </a:p>
        </p:txBody>
      </p:sp>
      <p:sp>
        <p:nvSpPr>
          <p:cNvPr id="19561" name="Text Box 113"/>
          <p:cNvSpPr txBox="1">
            <a:spLocks noChangeArrowheads="1"/>
          </p:cNvSpPr>
          <p:nvPr/>
        </p:nvSpPr>
        <p:spPr bwMode="auto">
          <a:xfrm>
            <a:off x="4495800" y="3417119"/>
            <a:ext cx="394660" cy="246221"/>
          </a:xfrm>
          <a:prstGeom prst="rect">
            <a:avLst/>
          </a:prstGeom>
          <a:noFill/>
          <a:ln w="9525">
            <a:noFill/>
            <a:miter lim="800000"/>
            <a:headEnd/>
            <a:tailEnd/>
          </a:ln>
        </p:spPr>
        <p:txBody>
          <a:bodyPr wrap="none">
            <a:spAutoFit/>
          </a:bodyPr>
          <a:lstStyle/>
          <a:p>
            <a:pPr eaLnBrk="0" latinLnBrk="0" hangingPunct="0"/>
            <a:r>
              <a:rPr kumimoji="0" lang="en-US" altLang="ko-KR" sz="1100" dirty="0">
                <a:solidFill>
                  <a:srgbClr val="000000"/>
                </a:solidFill>
                <a:latin typeface="Arial" panose="020B0600000101010101" pitchFamily="50" charset="-127"/>
                <a:ea typeface="Arial" panose="020B0600000101010101" pitchFamily="50" charset="-127"/>
                <a:cs typeface="Arial" pitchFamily="34" charset="0"/>
              </a:rPr>
              <a:t>5/1</a:t>
            </a:r>
          </a:p>
        </p:txBody>
      </p:sp>
      <p:sp>
        <p:nvSpPr>
          <p:cNvPr id="19562" name="Text Box 114"/>
          <p:cNvSpPr txBox="1">
            <a:spLocks noChangeArrowheads="1"/>
          </p:cNvSpPr>
          <p:nvPr/>
        </p:nvSpPr>
        <p:spPr bwMode="auto">
          <a:xfrm>
            <a:off x="5074121" y="3417119"/>
            <a:ext cx="474810" cy="246221"/>
          </a:xfrm>
          <a:prstGeom prst="rect">
            <a:avLst/>
          </a:prstGeom>
          <a:noFill/>
          <a:ln w="9525">
            <a:noFill/>
            <a:miter lim="800000"/>
            <a:headEnd/>
            <a:tailEnd/>
          </a:ln>
        </p:spPr>
        <p:txBody>
          <a:bodyPr wrap="none">
            <a:spAutoFit/>
          </a:bodyPr>
          <a:lstStyle/>
          <a:p>
            <a:pPr eaLnBrk="0" latinLnBrk="0" hangingPunct="0"/>
            <a:r>
              <a:rPr kumimoji="0" lang="en-US" altLang="ko-KR" sz="1100" dirty="0">
                <a:solidFill>
                  <a:srgbClr val="000000"/>
                </a:solidFill>
                <a:latin typeface="Arial" panose="020B0600000101010101" pitchFamily="50" charset="-127"/>
                <a:ea typeface="Arial" panose="020B0600000101010101" pitchFamily="50" charset="-127"/>
                <a:cs typeface="Arial" pitchFamily="34" charset="0"/>
              </a:rPr>
              <a:t>5/19</a:t>
            </a:r>
          </a:p>
        </p:txBody>
      </p:sp>
      <p:sp>
        <p:nvSpPr>
          <p:cNvPr id="19563" name="Text Box 115"/>
          <p:cNvSpPr txBox="1">
            <a:spLocks noChangeArrowheads="1"/>
          </p:cNvSpPr>
          <p:nvPr/>
        </p:nvSpPr>
        <p:spPr bwMode="auto">
          <a:xfrm>
            <a:off x="5638800" y="3417119"/>
            <a:ext cx="474810" cy="246221"/>
          </a:xfrm>
          <a:prstGeom prst="rect">
            <a:avLst/>
          </a:prstGeom>
          <a:noFill/>
          <a:ln w="9525">
            <a:noFill/>
            <a:miter lim="800000"/>
            <a:headEnd/>
            <a:tailEnd/>
          </a:ln>
        </p:spPr>
        <p:txBody>
          <a:bodyPr wrap="none">
            <a:spAutoFit/>
          </a:bodyPr>
          <a:lstStyle/>
          <a:p>
            <a:pPr eaLnBrk="0" latinLnBrk="0" hangingPunct="0"/>
            <a:r>
              <a:rPr kumimoji="0" lang="en-US" altLang="ko-KR" sz="1100" dirty="0">
                <a:solidFill>
                  <a:srgbClr val="000000"/>
                </a:solidFill>
                <a:latin typeface="Arial" panose="020B0600000101010101" pitchFamily="50" charset="-127"/>
                <a:ea typeface="Arial" panose="020B0600000101010101" pitchFamily="50" charset="-127"/>
                <a:cs typeface="Arial" pitchFamily="34" charset="0"/>
              </a:rPr>
              <a:t>6/15</a:t>
            </a:r>
          </a:p>
        </p:txBody>
      </p:sp>
      <p:sp>
        <p:nvSpPr>
          <p:cNvPr id="24" name="직사각형 20"/>
          <p:cNvSpPr>
            <a:spLocks noChangeArrowheads="1"/>
          </p:cNvSpPr>
          <p:nvPr/>
        </p:nvSpPr>
        <p:spPr bwMode="auto">
          <a:xfrm>
            <a:off x="5600530" y="325775"/>
            <a:ext cx="2131846" cy="553998"/>
          </a:xfrm>
          <a:prstGeom prst="rect">
            <a:avLst/>
          </a:prstGeom>
          <a:noFill/>
          <a:ln w="9525">
            <a:noFill/>
            <a:miter lim="800000"/>
            <a:headEnd/>
            <a:tailEnd/>
          </a:ln>
        </p:spPr>
        <p:txBody>
          <a:bodyPr wrap="square">
            <a:spAutoFit/>
          </a:bodyPr>
          <a:lstStyle/>
          <a:p>
            <a:pPr algn="just" defTabSz="912813" eaLnBrk="0" latinLnBrk="0" hangingPunct="0"/>
            <a:r>
              <a:rPr lang="en-US" altLang="ko-KR" sz="1100">
                <a:solidFill>
                  <a:srgbClr val="000000"/>
                </a:solidFill>
                <a:latin typeface="Arial" panose="020B0600000101010101" pitchFamily="50" charset="-127"/>
                <a:ea typeface="Arial" panose="020B0600000101010101" pitchFamily="50" charset="-127"/>
                <a:cs typeface="Arial" charset="0"/>
              </a:rPr>
              <a:t>Task category</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a:p>
            <a:pPr algn="just" defTabSz="912813" eaLnBrk="0" latinLnBrk="0" hangingPunct="0"/>
            <a:r>
              <a:rPr lang="ko-KR" altLang="en-US" sz="1100" dirty="0">
                <a:solidFill>
                  <a:srgbClr val="000000"/>
                </a:solidFill>
                <a:latin typeface="Arial" panose="020B0600000101010101" pitchFamily="50" charset="-127"/>
                <a:ea typeface="Arial" panose="020B0600000101010101" pitchFamily="50" charset="-127"/>
                <a:cs typeface="Arial" charset="0"/>
              </a:rPr>
              <a:t>□ </a:t>
            </a:r>
            <a:r>
              <a:rPr lang="en-US" altLang="ko-KR" sz="1100">
                <a:solidFill>
                  <a:srgbClr val="000000"/>
                </a:solidFill>
                <a:latin typeface="Arial" panose="020B0600000101010101" pitchFamily="50" charset="-127"/>
                <a:ea typeface="Arial" panose="020B0600000101010101" pitchFamily="50" charset="-127"/>
                <a:cs typeface="Arial" charset="0"/>
              </a:rPr>
              <a:t>HW      </a:t>
            </a:r>
            <a:r>
              <a:rPr lang="ko-KR" altLang="en-US" sz="1100">
                <a:solidFill>
                  <a:srgbClr val="000000"/>
                </a:solidFill>
                <a:latin typeface="Arial" panose="020B0600000101010101" pitchFamily="50" charset="-127"/>
                <a:ea typeface="Arial" panose="020B0600000101010101" pitchFamily="50" charset="-127"/>
                <a:cs typeface="Arial" charset="0"/>
              </a:rPr>
              <a:t>□ </a:t>
            </a:r>
            <a:r>
              <a:rPr lang="en-US" altLang="ko-KR" sz="1100" dirty="0">
                <a:solidFill>
                  <a:srgbClr val="000000"/>
                </a:solidFill>
                <a:latin typeface="Arial" panose="020B0600000101010101" pitchFamily="50" charset="-127"/>
                <a:ea typeface="Arial" panose="020B0600000101010101" pitchFamily="50" charset="-127"/>
                <a:cs typeface="Arial" charset="0"/>
              </a:rPr>
              <a:t>SW</a:t>
            </a:r>
          </a:p>
          <a:p>
            <a:pPr algn="just" defTabSz="912813" eaLnBrk="0" latinLnBrk="0" hangingPunct="0"/>
            <a:r>
              <a:rPr lang="ko-KR" altLang="en-US" sz="1100">
                <a:solidFill>
                  <a:srgbClr val="000000"/>
                </a:solidFill>
                <a:latin typeface="Arial" panose="020B0600000101010101" pitchFamily="50" charset="-127"/>
                <a:ea typeface="Arial" panose="020B0600000101010101" pitchFamily="50" charset="-127"/>
                <a:cs typeface="Arial" charset="0"/>
              </a:rPr>
              <a:t>□ </a:t>
            </a:r>
            <a:r>
              <a:rPr lang="en-US" altLang="ko-KR" sz="1100">
                <a:solidFill>
                  <a:srgbClr val="000000"/>
                </a:solidFill>
                <a:latin typeface="Arial" panose="020B0600000101010101" pitchFamily="50" charset="-127"/>
                <a:ea typeface="Arial" panose="020B0600000101010101" pitchFamily="50" charset="-127"/>
                <a:cs typeface="Arial" charset="0"/>
              </a:rPr>
              <a:t>Mecha  </a:t>
            </a:r>
            <a:r>
              <a:rPr lang="ko-KR" altLang="en-US" sz="1100">
                <a:solidFill>
                  <a:srgbClr val="000000"/>
                </a:solidFill>
                <a:latin typeface="Arial" panose="020B0600000101010101" pitchFamily="50" charset="-127"/>
                <a:ea typeface="Arial" panose="020B0600000101010101" pitchFamily="50" charset="-127"/>
                <a:cs typeface="Arial" charset="0"/>
              </a:rPr>
              <a:t>■ </a:t>
            </a:r>
            <a:r>
              <a:rPr lang="en-US" altLang="ko-KR" sz="1100">
                <a:solidFill>
                  <a:srgbClr val="000000"/>
                </a:solidFill>
                <a:latin typeface="Arial" panose="020B0600000101010101" pitchFamily="50" charset="-127"/>
                <a:ea typeface="Arial" panose="020B0600000101010101" pitchFamily="50" charset="-127"/>
                <a:cs typeface="Arial" charset="0"/>
              </a:rPr>
              <a:t>Current job</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p:txBody>
      </p:sp>
      <p:graphicFrame>
        <p:nvGraphicFramePr>
          <p:cNvPr id="21" name="Group 133">
            <a:extLst>
              <a:ext uri="{FF2B5EF4-FFF2-40B4-BE49-F238E27FC236}">
                <a16:creationId xmlns:a16="http://schemas.microsoft.com/office/drawing/2014/main" id="{871447DD-1D73-49D5-866D-9AC4D91C41AE}"/>
              </a:ext>
            </a:extLst>
          </p:cNvPr>
          <p:cNvGraphicFramePr>
            <a:graphicFrameLocks noGrp="1"/>
          </p:cNvGraphicFramePr>
          <p:nvPr>
            <p:extLst>
              <p:ext uri="{D42A27DB-BD31-4B8C-83A1-F6EECF244321}">
                <p14:modId xmlns:p14="http://schemas.microsoft.com/office/powerpoint/2010/main" val="3793983478"/>
              </p:ext>
            </p:extLst>
          </p:nvPr>
        </p:nvGraphicFramePr>
        <p:xfrm>
          <a:off x="6847563" y="3429000"/>
          <a:ext cx="2931523" cy="1526608"/>
        </p:xfrm>
        <a:graphic>
          <a:graphicData uri="http://schemas.openxmlformats.org/drawingml/2006/table">
            <a:tbl>
              <a:tblPr/>
              <a:tblGrid>
                <a:gridCol w="541685">
                  <a:extLst>
                    <a:ext uri="{9D8B030D-6E8A-4147-A177-3AD203B41FA5}">
                      <a16:colId xmlns:a16="http://schemas.microsoft.com/office/drawing/2014/main" val="20000"/>
                    </a:ext>
                  </a:extLst>
                </a:gridCol>
                <a:gridCol w="1511977">
                  <a:extLst>
                    <a:ext uri="{9D8B030D-6E8A-4147-A177-3AD203B41FA5}">
                      <a16:colId xmlns:a16="http://schemas.microsoft.com/office/drawing/2014/main" val="20001"/>
                    </a:ext>
                  </a:extLst>
                </a:gridCol>
                <a:gridCol w="877861">
                  <a:extLst>
                    <a:ext uri="{9D8B030D-6E8A-4147-A177-3AD203B41FA5}">
                      <a16:colId xmlns:a16="http://schemas.microsoft.com/office/drawing/2014/main" val="20002"/>
                    </a:ext>
                  </a:extLst>
                </a:gridCol>
              </a:tblGrid>
              <a:tr h="296971">
                <a:tc>
                  <a:txBody>
                    <a:bodyPr/>
                    <a:lstStyle/>
                    <a:p>
                      <a:pPr marL="0" marR="0" lvl="0" indent="0" algn="ctr" defTabSz="914400" rtl="0" eaLnBrk="1" fontAlgn="base" latinLnBrk="1"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Team</a:t>
                      </a:r>
                      <a:endParaRPr kumimoji="1" lang="ko-KR" altLang="en-US" sz="1000" b="1"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1"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Name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1"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Role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0"/>
                  </a:ext>
                </a:extLst>
              </a:tr>
              <a:tr h="479160">
                <a:tc rowSpan="2">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IVI LD</a:t>
                      </a:r>
                    </a:p>
                    <a:p>
                      <a:pPr marL="0" marR="0" lvl="0" indent="0" algn="ctr" defTabSz="914400" rtl="0" eaLnBrk="1" fontAlgn="base" latinLnBrk="1"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sz="1000" b="0" dirty="0">
                          <a:latin typeface="Arial"/>
                        </a:rPr>
                        <a:t>Nguyen Duc Long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Task leader</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159">
                <a:tc vMerge="1">
                  <a:txBody>
                    <a:bodyPr/>
                    <a:lstStyle/>
                    <a:p>
                      <a:pPr marL="0" marR="0" lvl="0" indent="0" algn="ctr" defTabSz="914400" rtl="0" eaLnBrk="1" fontAlgn="base" latinLnBrk="1"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Hoang Nhan Quoc</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159">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IVI PE</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Pham Van Hung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4292548"/>
                  </a:ext>
                </a:extLst>
              </a:tr>
              <a:tr h="250159">
                <a:tc>
                  <a:txBody>
                    <a:bodyPr/>
                    <a:lstStyle/>
                    <a:p>
                      <a:pPr marL="0" marR="0" lvl="0" indent="0" algn="ctr" defTabSz="914400" rtl="0" eaLnBrk="1" fontAlgn="base" latinLnBrk="1"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IVI PM</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Ta Van Cong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6803826"/>
                  </a:ext>
                </a:extLst>
              </a:tr>
            </a:tbl>
          </a:graphicData>
        </a:graphic>
      </p:graphicFrame>
    </p:spTree>
    <p:extLst>
      <p:ext uri="{BB962C8B-B14F-4D97-AF65-F5344CB8AC3E}">
        <p14:creationId xmlns:p14="http://schemas.microsoft.com/office/powerpoint/2010/main" val="3593654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0" hangingPunct="0">
              <a:defRPr/>
            </a:pPr>
            <a:r>
              <a:rPr lang="en-US" altLang="ko-KR" sz="1600" b="1" kern="0" dirty="0">
                <a:latin typeface="Arial Narrow" panose="020B0606020202030204" pitchFamily="34" charset="0"/>
                <a:ea typeface="LG스마트체 Regular" panose="020B0600000101010101" pitchFamily="50" charset="-127"/>
              </a:rPr>
              <a:t>1.</a:t>
            </a:r>
            <a:r>
              <a:rPr lang="vi-VN" altLang="ko-KR" sz="1600" b="1" kern="0" dirty="0">
                <a:latin typeface="Arial Narrow" panose="020B0606020202030204" pitchFamily="34" charset="0"/>
                <a:ea typeface="LG스마트체 Regular" panose="020B0600000101010101" pitchFamily="50" charset="-127"/>
              </a:rPr>
              <a:t>1</a:t>
            </a:r>
            <a:r>
              <a:rPr lang="en-US" altLang="ko-KR" sz="1600" b="1" kern="0" dirty="0">
                <a:latin typeface="Arial Narrow" panose="020B0606020202030204" pitchFamily="34" charset="0"/>
                <a:ea typeface="LG스마트체 Regular" panose="020B0600000101010101" pitchFamily="50" charset="-127"/>
              </a:rPr>
              <a:t> </a:t>
            </a:r>
            <a:r>
              <a:rPr lang="vi-VN" altLang="ko-KR" sz="1600" b="1" kern="0" dirty="0">
                <a:latin typeface="Arial Narrow" panose="020B0606020202030204" pitchFamily="34" charset="0"/>
                <a:ea typeface="LG스마트체 Regular" panose="020B0600000101010101" pitchFamily="50" charset="-127"/>
              </a:rPr>
              <a:t>D</a:t>
            </a:r>
            <a:r>
              <a:rPr lang="en-US" altLang="ko-KR" sz="1600" b="1" kern="0" dirty="0">
                <a:latin typeface="Arial Narrow" panose="020B0606020202030204" pitchFamily="34" charset="0"/>
                <a:ea typeface="LG스마트체 Regular" panose="020B0600000101010101" pitchFamily="50" charset="-127"/>
              </a:rPr>
              <a:t>efine issue</a:t>
            </a:r>
            <a:endParaRPr lang="ko-KR" altLang="en-US" sz="1800" b="1" kern="0" dirty="0">
              <a:latin typeface="Arial Narrow" panose="020B0606020202030204" pitchFamily="34" charset="0"/>
              <a:ea typeface="LG스마트체 Regular" panose="020B0600000101010101" pitchFamily="50" charset="-127"/>
              <a:cs typeface="+mj-cs"/>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7" name="TextBox 226">
            <a:extLst>
              <a:ext uri="{FF2B5EF4-FFF2-40B4-BE49-F238E27FC236}">
                <a16:creationId xmlns:a16="http://schemas.microsoft.com/office/drawing/2014/main" id="{9FBE9D8E-4B25-4138-A998-98CA80DFC0D8}"/>
              </a:ext>
            </a:extLst>
          </p:cNvPr>
          <p:cNvSpPr txBox="1"/>
          <p:nvPr/>
        </p:nvSpPr>
        <p:spPr>
          <a:xfrm>
            <a:off x="63733" y="851416"/>
            <a:ext cx="3305091" cy="246221"/>
          </a:xfrm>
          <a:prstGeom prst="rect">
            <a:avLst/>
          </a:prstGeom>
          <a:noFill/>
        </p:spPr>
        <p:txBody>
          <a:bodyPr wrap="square" rtlCol="0">
            <a:spAutoFit/>
          </a:bodyPr>
          <a:lstStyle/>
          <a:p>
            <a:r>
              <a:rPr lang="en-US" alt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Improve Luminance value</a:t>
            </a:r>
          </a:p>
        </p:txBody>
      </p: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a:r>
              <a:rPr sz="1000" b="0">
                <a:latin typeface="Arial"/>
              </a:rPr>
              <a:t>03 / 33</a:t>
            </a:r>
          </a:p>
          <a:p>
            <a:pPr algn="ct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54" name="TextBox 53">
            <a:extLst>
              <a:ext uri="{FF2B5EF4-FFF2-40B4-BE49-F238E27FC236}">
                <a16:creationId xmlns:a16="http://schemas.microsoft.com/office/drawing/2014/main" id="{C7A10347-881C-49A1-8C74-C34608E19682}"/>
              </a:ext>
            </a:extLst>
          </p:cNvPr>
          <p:cNvSpPr txBox="1"/>
          <p:nvPr/>
        </p:nvSpPr>
        <p:spPr>
          <a:xfrm>
            <a:off x="63733" y="600385"/>
            <a:ext cx="1584176" cy="276999"/>
          </a:xfrm>
          <a:prstGeom prst="rect">
            <a:avLst/>
          </a:prstGeom>
          <a:noFill/>
        </p:spPr>
        <p:txBody>
          <a:bodyPr wrap="square" rtlCol="0">
            <a:spAutoFit/>
          </a:bodyPr>
          <a:lstStyle/>
          <a:p>
            <a:pPr marL="171450" indent="-171450">
              <a:buFont typeface="Wingdings" panose="05000000000000000000" pitchFamily="2" charset="2"/>
              <a:buChar char="q"/>
            </a:pPr>
            <a:r>
              <a:rPr lang="en-US" sz="1100" b="1" dirty="0">
                <a:latin typeface="Arial" panose="020B0604020202020204" pitchFamily="34" charset="0"/>
                <a:ea typeface="Arial Unicode MS" panose="020B0604020202020204" pitchFamily="34" charset="-128"/>
                <a:cs typeface="Arial" panose="020B0604020202020204" pitchFamily="34" charset="0"/>
              </a:rPr>
              <a:t>Project name</a:t>
            </a:r>
          </a:p>
        </p:txBody>
      </p:sp>
      <p:sp>
        <p:nvSpPr>
          <p:cNvPr id="55" name="TextBox 54">
            <a:extLst>
              <a:ext uri="{FF2B5EF4-FFF2-40B4-BE49-F238E27FC236}">
                <a16:creationId xmlns:a16="http://schemas.microsoft.com/office/drawing/2014/main" id="{D6297210-A509-431E-8EC6-5008A74AEF62}"/>
              </a:ext>
            </a:extLst>
          </p:cNvPr>
          <p:cNvSpPr txBox="1"/>
          <p:nvPr/>
        </p:nvSpPr>
        <p:spPr>
          <a:xfrm>
            <a:off x="80857" y="1336681"/>
            <a:ext cx="1584176" cy="276999"/>
          </a:xfrm>
          <a:prstGeom prst="rect">
            <a:avLst/>
          </a:prstGeom>
          <a:noFill/>
        </p:spPr>
        <p:txBody>
          <a:bodyPr wrap="square" rtlCol="0">
            <a:spAutoFit/>
          </a:bodyPr>
          <a:lstStyle/>
          <a:p>
            <a:pPr marL="171450" indent="-171450">
              <a:buFont typeface="Wingdings" panose="05000000000000000000" pitchFamily="2" charset="2"/>
              <a:buChar char="q"/>
            </a:pPr>
            <a:r>
              <a:rPr lang="en-US" sz="1100" b="1" dirty="0">
                <a:latin typeface="Arial" panose="020B0604020202020204" pitchFamily="34" charset="0"/>
                <a:ea typeface="Arial Unicode MS" panose="020B0604020202020204" pitchFamily="34" charset="-128"/>
                <a:cs typeface="Arial" panose="020B0604020202020204" pitchFamily="34" charset="0"/>
              </a:rPr>
              <a:t>Purpose</a:t>
            </a:r>
          </a:p>
        </p:txBody>
      </p:sp>
      <p:sp>
        <p:nvSpPr>
          <p:cNvPr id="56" name="TextBox 55">
            <a:extLst>
              <a:ext uri="{FF2B5EF4-FFF2-40B4-BE49-F238E27FC236}">
                <a16:creationId xmlns:a16="http://schemas.microsoft.com/office/drawing/2014/main" id="{322CCB2E-06CF-4ED8-B0F3-BD65641F9F6C}"/>
              </a:ext>
            </a:extLst>
          </p:cNvPr>
          <p:cNvSpPr txBox="1"/>
          <p:nvPr/>
        </p:nvSpPr>
        <p:spPr>
          <a:xfrm>
            <a:off x="87735" y="1613680"/>
            <a:ext cx="7906725" cy="246221"/>
          </a:xfrm>
          <a:prstGeom prst="rect">
            <a:avLst/>
          </a:prstGeom>
          <a:noFill/>
        </p:spPr>
        <p:txBody>
          <a:bodyPr wrap="square" rtlCol="0">
            <a:spAutoFit/>
          </a:bodyPr>
          <a:lstStyle/>
          <a:p>
            <a:r>
              <a:rPr lang="en-US" alt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Improve illuminance station performance  improve Luminance value from below 800 Cd/m2 to 800-2000 Cd/m</a:t>
            </a:r>
            <a:r>
              <a:rPr lang="en-US" altLang="en-US" sz="1100" baseline="30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2 </a:t>
            </a:r>
          </a:p>
        </p:txBody>
      </p:sp>
      <p:sp>
        <p:nvSpPr>
          <p:cNvPr id="57" name="TextBox 56">
            <a:extLst>
              <a:ext uri="{FF2B5EF4-FFF2-40B4-BE49-F238E27FC236}">
                <a16:creationId xmlns:a16="http://schemas.microsoft.com/office/drawing/2014/main" id="{F444CB0D-9539-4103-A2E2-F229C96A5C26}"/>
              </a:ext>
            </a:extLst>
          </p:cNvPr>
          <p:cNvSpPr txBox="1"/>
          <p:nvPr/>
        </p:nvSpPr>
        <p:spPr>
          <a:xfrm>
            <a:off x="63733" y="2077577"/>
            <a:ext cx="1584176" cy="276999"/>
          </a:xfrm>
          <a:prstGeom prst="rect">
            <a:avLst/>
          </a:prstGeom>
          <a:noFill/>
        </p:spPr>
        <p:txBody>
          <a:bodyPr wrap="square" rtlCol="0">
            <a:spAutoFit/>
          </a:bodyPr>
          <a:lstStyle/>
          <a:p>
            <a:pPr marL="171450" indent="-171450">
              <a:buFont typeface="Wingdings" panose="05000000000000000000" pitchFamily="2" charset="2"/>
              <a:buChar char="q"/>
            </a:pPr>
            <a:r>
              <a:rPr lang="en-US" sz="1100" b="1" dirty="0">
                <a:latin typeface="Arial" panose="020B0604020202020204" pitchFamily="34" charset="0"/>
                <a:ea typeface="Arial Unicode MS" panose="020B0604020202020204" pitchFamily="34" charset="-128"/>
                <a:cs typeface="Arial" panose="020B0604020202020204" pitchFamily="34" charset="0"/>
              </a:rPr>
              <a:t>Outline</a:t>
            </a:r>
          </a:p>
        </p:txBody>
      </p:sp>
      <p:sp>
        <p:nvSpPr>
          <p:cNvPr id="58" name="TextBox 57">
            <a:extLst>
              <a:ext uri="{FF2B5EF4-FFF2-40B4-BE49-F238E27FC236}">
                <a16:creationId xmlns:a16="http://schemas.microsoft.com/office/drawing/2014/main" id="{D0CDD59F-EB79-4D2B-849B-B6645F4A5717}"/>
              </a:ext>
            </a:extLst>
          </p:cNvPr>
          <p:cNvSpPr txBox="1"/>
          <p:nvPr/>
        </p:nvSpPr>
        <p:spPr>
          <a:xfrm>
            <a:off x="63733" y="2354576"/>
            <a:ext cx="9613667" cy="707886"/>
          </a:xfrm>
          <a:prstGeom prst="rect">
            <a:avLst/>
          </a:prstGeom>
          <a:noFill/>
        </p:spPr>
        <p:txBody>
          <a:bodyPr wrap="square" rtlCol="0">
            <a:spAutoFit/>
          </a:bodyPr>
          <a:lstStyle/>
          <a:p>
            <a:r>
              <a:rPr sz="1100" b="0">
                <a:latin typeface="Arial"/>
              </a:rPr>
              <a:t>- If Luminance measure issue is still happening and pending at illuminance station which leads to line loss time and failure to meet line UPH.</a:t>
            </a:r>
          </a:p>
          <a:p>
            <a:r>
              <a:rPr sz="1100" b="0">
                <a:latin typeface="Arial"/>
              </a:rPr>
              <a:t>- The delay of checking issue will result in a remain manufacture of line IVI5. Also the NG LCD sent back to supplier to retest, scrap which lead to more scrap cost.</a:t>
            </a:r>
          </a:p>
          <a:p>
            <a:r>
              <a:rPr lang="en-US" alt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To prevent  this in advance, we selected this topic as Six Sigma GB task to improve luminance output performance from mass production stage and reduce to the minimum the cost for factory with this topic.</a:t>
            </a:r>
          </a:p>
        </p:txBody>
      </p:sp>
    </p:spTree>
    <p:extLst>
      <p:ext uri="{BB962C8B-B14F-4D97-AF65-F5344CB8AC3E}">
        <p14:creationId xmlns:p14="http://schemas.microsoft.com/office/powerpoint/2010/main" val="3594463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0" hangingPunct="0">
              <a:defRPr/>
            </a:pPr>
            <a:r>
              <a:rPr lang="en-US" altLang="ko-KR" sz="1600" b="1" kern="0" dirty="0">
                <a:latin typeface="Arial Narrow" panose="020B0606020202030204" pitchFamily="34" charset="0"/>
                <a:ea typeface="LG스마트체 Regular" panose="020B0600000101010101" pitchFamily="50" charset="-127"/>
              </a:rPr>
              <a:t>1.2 Yy break down</a:t>
            </a:r>
            <a:endParaRPr lang="ko-KR" altLang="en-US" sz="1800" b="1" kern="0" dirty="0">
              <a:latin typeface="Arial Narrow" panose="020B0606020202030204" pitchFamily="34" charset="0"/>
              <a:ea typeface="LG스마트체 Regular" panose="020B0600000101010101" pitchFamily="50" charset="-127"/>
              <a:cs typeface="+mj-cs"/>
            </a:endParaRPr>
          </a:p>
        </p:txBody>
      </p:sp>
      <p:graphicFrame>
        <p:nvGraphicFramePr>
          <p:cNvPr id="75" name="표 44">
            <a:extLst>
              <a:ext uri="{FF2B5EF4-FFF2-40B4-BE49-F238E27FC236}">
                <a16:creationId xmlns:a16="http://schemas.microsoft.com/office/drawing/2014/main" id="{62E95B8F-07A4-4620-864C-2FBBFA255844}"/>
              </a:ext>
            </a:extLst>
          </p:cNvPr>
          <p:cNvGraphicFramePr>
            <a:graphicFrameLocks noGrp="1"/>
          </p:cNvGraphicFramePr>
          <p:nvPr>
            <p:extLst>
              <p:ext uri="{D42A27DB-BD31-4B8C-83A1-F6EECF244321}">
                <p14:modId xmlns:p14="http://schemas.microsoft.com/office/powerpoint/2010/main" val="2929659898"/>
              </p:ext>
            </p:extLst>
          </p:nvPr>
        </p:nvGraphicFramePr>
        <p:xfrm>
          <a:off x="260401" y="703388"/>
          <a:ext cx="888407" cy="276631"/>
        </p:xfrm>
        <a:graphic>
          <a:graphicData uri="http://schemas.openxmlformats.org/drawingml/2006/table">
            <a:tbl>
              <a:tblPr/>
              <a:tblGrid>
                <a:gridCol w="888407">
                  <a:extLst>
                    <a:ext uri="{9D8B030D-6E8A-4147-A177-3AD203B41FA5}">
                      <a16:colId xmlns:a16="http://schemas.microsoft.com/office/drawing/2014/main" val="20000"/>
                    </a:ext>
                  </a:extLst>
                </a:gridCol>
              </a:tblGrid>
              <a:tr h="276631">
                <a:tc>
                  <a:txBody>
                    <a:bodyPr/>
                    <a:lstStyle/>
                    <a:p>
                      <a:pPr algn="ctr">
                        <a:defRPr/>
                      </a:pPr>
                      <a:r>
                        <a:rPr lang="en-US" altLang="ko-KR" sz="1000" b="1" dirty="0">
                          <a:latin typeface="Arial" panose="020B0600000101010101" pitchFamily="50" charset="-127"/>
                          <a:ea typeface="Arial" panose="020B0600000101010101" pitchFamily="50" charset="-127"/>
                        </a:rPr>
                        <a:t>Big 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77" name="표 45">
            <a:extLst>
              <a:ext uri="{FF2B5EF4-FFF2-40B4-BE49-F238E27FC236}">
                <a16:creationId xmlns:a16="http://schemas.microsoft.com/office/drawing/2014/main" id="{499556D8-5147-4323-B83A-8E52DFD161DA}"/>
              </a:ext>
            </a:extLst>
          </p:cNvPr>
          <p:cNvGraphicFramePr>
            <a:graphicFrameLocks noGrp="1"/>
          </p:cNvGraphicFramePr>
          <p:nvPr>
            <p:extLst>
              <p:ext uri="{D42A27DB-BD31-4B8C-83A1-F6EECF244321}">
                <p14:modId xmlns:p14="http://schemas.microsoft.com/office/powerpoint/2010/main" val="2626578847"/>
              </p:ext>
            </p:extLst>
          </p:nvPr>
        </p:nvGraphicFramePr>
        <p:xfrm>
          <a:off x="3633320" y="715698"/>
          <a:ext cx="1189966" cy="276631"/>
        </p:xfrm>
        <a:graphic>
          <a:graphicData uri="http://schemas.openxmlformats.org/drawingml/2006/table">
            <a:tbl>
              <a:tblPr/>
              <a:tblGrid>
                <a:gridCol w="1189966">
                  <a:extLst>
                    <a:ext uri="{9D8B030D-6E8A-4147-A177-3AD203B41FA5}">
                      <a16:colId xmlns:a16="http://schemas.microsoft.com/office/drawing/2014/main" val="20000"/>
                    </a:ext>
                  </a:extLst>
                </a:gridCol>
              </a:tblGrid>
              <a:tr h="276631">
                <a:tc>
                  <a:txBody>
                    <a:bodyPr/>
                    <a:lstStyle/>
                    <a:p>
                      <a:pPr algn="ctr">
                        <a:defRPr/>
                      </a:pPr>
                      <a:r>
                        <a:rPr lang="en-US" altLang="ko-KR" sz="1000" b="1" dirty="0">
                          <a:latin typeface="Arial" panose="020B0600000101010101" pitchFamily="50" charset="-127"/>
                          <a:ea typeface="Arial" panose="020B0600000101010101" pitchFamily="50" charset="-127"/>
                        </a:rPr>
                        <a:t>Little y2</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Arrow Connector 347"/>
          <p:cNvCxnSpPr>
            <a:cxnSpLocks/>
            <a:stCxn id="68" idx="3"/>
            <a:endCxn id="104" idx="1"/>
          </p:cNvCxnSpPr>
          <p:nvPr/>
        </p:nvCxnSpPr>
        <p:spPr>
          <a:xfrm>
            <a:off x="2867767" y="1437809"/>
            <a:ext cx="771729" cy="16254"/>
          </a:xfrm>
          <a:prstGeom prst="straightConnector1">
            <a:avLst/>
          </a:prstGeom>
          <a:noFill/>
          <a:ln w="9525" cap="flat" cmpd="sng" algn="ctr">
            <a:solidFill>
              <a:srgbClr val="C00000"/>
            </a:solidFill>
            <a:prstDash val="solid"/>
            <a:round/>
            <a:headEnd type="none" w="med" len="med"/>
            <a:tailEnd type="triangle"/>
          </a:ln>
          <a:effectLst/>
        </p:spPr>
      </p:cxnSp>
      <p:sp>
        <p:nvSpPr>
          <p:cNvPr id="129" name="직사각형 124">
            <a:extLst>
              <a:ext uri="{FF2B5EF4-FFF2-40B4-BE49-F238E27FC236}">
                <a16:creationId xmlns:a16="http://schemas.microsoft.com/office/drawing/2014/main" id="{34502E28-C1BD-478D-B067-6D24CDCCF17A}"/>
              </a:ext>
            </a:extLst>
          </p:cNvPr>
          <p:cNvSpPr/>
          <p:nvPr/>
        </p:nvSpPr>
        <p:spPr>
          <a:xfrm>
            <a:off x="5442125" y="1260273"/>
            <a:ext cx="1427220"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Luminance value</a:t>
            </a:r>
          </a:p>
        </p:txBody>
      </p:sp>
      <p:sp>
        <p:nvSpPr>
          <p:cNvPr id="130" name="직사각형 124">
            <a:extLst>
              <a:ext uri="{FF2B5EF4-FFF2-40B4-BE49-F238E27FC236}">
                <a16:creationId xmlns:a16="http://schemas.microsoft.com/office/drawing/2014/main" id="{13446F57-EBDE-4ECD-B078-B6D3C3C38C44}"/>
              </a:ext>
            </a:extLst>
          </p:cNvPr>
          <p:cNvSpPr/>
          <p:nvPr/>
        </p:nvSpPr>
        <p:spPr>
          <a:xfrm>
            <a:off x="5466839" y="2084721"/>
            <a:ext cx="1427220"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Calculate contrast value</a:t>
            </a:r>
          </a:p>
        </p:txBody>
      </p:sp>
      <p:cxnSp>
        <p:nvCxnSpPr>
          <p:cNvPr id="220" name="Straight Arrow Connector 219">
            <a:extLst>
              <a:ext uri="{FF2B5EF4-FFF2-40B4-BE49-F238E27FC236}">
                <a16:creationId xmlns:a16="http://schemas.microsoft.com/office/drawing/2014/main" id="{6349E0A9-07EC-47F5-B8C4-ED8B16151483}"/>
              </a:ext>
            </a:extLst>
          </p:cNvPr>
          <p:cNvCxnSpPr>
            <a:cxnSpLocks/>
            <a:stCxn id="104" idx="3"/>
            <a:endCxn id="129" idx="1"/>
          </p:cNvCxnSpPr>
          <p:nvPr/>
        </p:nvCxnSpPr>
        <p:spPr>
          <a:xfrm>
            <a:off x="4822973" y="1454063"/>
            <a:ext cx="619152" cy="4167"/>
          </a:xfrm>
          <a:prstGeom prst="straightConnector1">
            <a:avLst/>
          </a:prstGeom>
          <a:noFill/>
          <a:ln w="9525" cap="flat" cmpd="sng" algn="ctr">
            <a:solidFill>
              <a:srgbClr val="C00000"/>
            </a:solidFill>
            <a:prstDash val="solid"/>
            <a:round/>
            <a:headEnd type="none" w="med" len="med"/>
            <a:tailEnd type="triangle"/>
          </a:ln>
          <a:effectLst/>
        </p:spPr>
      </p:cxnSp>
      <p:sp>
        <p:nvSpPr>
          <p:cNvPr id="104" name="직사각형 124">
            <a:extLst>
              <a:ext uri="{FF2B5EF4-FFF2-40B4-BE49-F238E27FC236}">
                <a16:creationId xmlns:a16="http://schemas.microsoft.com/office/drawing/2014/main" id="{9B9F9D1B-2EF7-453F-A467-28A0282E9129}"/>
              </a:ext>
            </a:extLst>
          </p:cNvPr>
          <p:cNvSpPr/>
          <p:nvPr/>
        </p:nvSpPr>
        <p:spPr>
          <a:xfrm>
            <a:off x="3639496" y="1232831"/>
            <a:ext cx="1183477" cy="44246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chemeClr val="tx1"/>
                </a:solidFill>
                <a:latin typeface="Arial" panose="020B0604020202020204" pitchFamily="34" charset="0"/>
                <a:ea typeface="Arial Unicode MS" panose="020B0604020202020204" pitchFamily="34" charset="-128"/>
                <a:cs typeface="Arial" panose="020B0604020202020204" pitchFamily="34" charset="0"/>
              </a:rPr>
              <a:t>Illuminance Function</a:t>
            </a:r>
          </a:p>
        </p:txBody>
      </p: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a:r>
              <a:rPr sz="1000" b="0">
                <a:latin typeface="Arial"/>
              </a:rPr>
              <a:t>04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51" name="표 45">
            <a:extLst>
              <a:ext uri="{FF2B5EF4-FFF2-40B4-BE49-F238E27FC236}">
                <a16:creationId xmlns:a16="http://schemas.microsoft.com/office/drawing/2014/main" id="{E5BD5886-F8BF-4C7D-977D-717364C24859}"/>
              </a:ext>
            </a:extLst>
          </p:cNvPr>
          <p:cNvGraphicFramePr>
            <a:graphicFrameLocks noGrp="1"/>
          </p:cNvGraphicFramePr>
          <p:nvPr>
            <p:extLst>
              <p:ext uri="{D42A27DB-BD31-4B8C-83A1-F6EECF244321}">
                <p14:modId xmlns:p14="http://schemas.microsoft.com/office/powerpoint/2010/main" val="3356529664"/>
              </p:ext>
            </p:extLst>
          </p:nvPr>
        </p:nvGraphicFramePr>
        <p:xfrm>
          <a:off x="1634164" y="715698"/>
          <a:ext cx="1233603" cy="276631"/>
        </p:xfrm>
        <a:graphic>
          <a:graphicData uri="http://schemas.openxmlformats.org/drawingml/2006/table">
            <a:tbl>
              <a:tblPr/>
              <a:tblGrid>
                <a:gridCol w="1233603">
                  <a:extLst>
                    <a:ext uri="{9D8B030D-6E8A-4147-A177-3AD203B41FA5}">
                      <a16:colId xmlns:a16="http://schemas.microsoft.com/office/drawing/2014/main" val="20000"/>
                    </a:ext>
                  </a:extLst>
                </a:gridCol>
              </a:tblGrid>
              <a:tr h="276631">
                <a:tc>
                  <a:txBody>
                    <a:bodyPr/>
                    <a:lstStyle/>
                    <a:p>
                      <a:pPr algn="ctr">
                        <a:defRPr/>
                      </a:pPr>
                      <a:r>
                        <a:rPr lang="en-US" altLang="ko-KR" sz="1000" b="1" dirty="0">
                          <a:latin typeface="Arial" panose="020B0600000101010101" pitchFamily="50" charset="-127"/>
                          <a:ea typeface="Arial" panose="020B0600000101010101" pitchFamily="50" charset="-127"/>
                        </a:rPr>
                        <a:t>Little y1</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68" name="직사각형 124">
            <a:extLst>
              <a:ext uri="{FF2B5EF4-FFF2-40B4-BE49-F238E27FC236}">
                <a16:creationId xmlns:a16="http://schemas.microsoft.com/office/drawing/2014/main" id="{839B0C23-7FDA-49E6-9061-B2E15E0B38F3}"/>
              </a:ext>
            </a:extLst>
          </p:cNvPr>
          <p:cNvSpPr/>
          <p:nvPr/>
        </p:nvSpPr>
        <p:spPr>
          <a:xfrm>
            <a:off x="1651508" y="1228923"/>
            <a:ext cx="1216259" cy="417772"/>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Machine defect</a:t>
            </a:r>
          </a:p>
        </p:txBody>
      </p:sp>
      <p:sp>
        <p:nvSpPr>
          <p:cNvPr id="52" name="직사각형 124">
            <a:extLst>
              <a:ext uri="{FF2B5EF4-FFF2-40B4-BE49-F238E27FC236}">
                <a16:creationId xmlns:a16="http://schemas.microsoft.com/office/drawing/2014/main" id="{4415074A-29BC-4A5B-9687-F14C61349A2C}"/>
              </a:ext>
            </a:extLst>
          </p:cNvPr>
          <p:cNvSpPr/>
          <p:nvPr/>
        </p:nvSpPr>
        <p:spPr>
          <a:xfrm>
            <a:off x="0" y="1247253"/>
            <a:ext cx="1257197"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latinLnBrk="0"/>
            <a:r>
              <a:rPr lang="en-US" sz="1100" dirty="0">
                <a:solidFill>
                  <a:srgbClr val="000000"/>
                </a:solidFill>
                <a:latin typeface="Arial" panose="020B0604020202020204" pitchFamily="34" charset="0"/>
                <a:ea typeface="LG Smart_H Regular" panose="020B0600000101010101"/>
                <a:cs typeface="Arial" panose="020B0604020202020204" pitchFamily="34" charset="0"/>
              </a:rPr>
              <a:t>Reduce Porsche CID Defect rate</a:t>
            </a:r>
          </a:p>
        </p:txBody>
      </p:sp>
      <p:sp>
        <p:nvSpPr>
          <p:cNvPr id="83" name="직사각형 124">
            <a:extLst>
              <a:ext uri="{FF2B5EF4-FFF2-40B4-BE49-F238E27FC236}">
                <a16:creationId xmlns:a16="http://schemas.microsoft.com/office/drawing/2014/main" id="{CA83E05B-BD5C-4D19-937D-8440D1E97727}"/>
              </a:ext>
            </a:extLst>
          </p:cNvPr>
          <p:cNvSpPr/>
          <p:nvPr/>
        </p:nvSpPr>
        <p:spPr>
          <a:xfrm>
            <a:off x="1647314" y="2840939"/>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Hardware defect</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84" name="Straight Arrow Connector 83">
            <a:extLst>
              <a:ext uri="{FF2B5EF4-FFF2-40B4-BE49-F238E27FC236}">
                <a16:creationId xmlns:a16="http://schemas.microsoft.com/office/drawing/2014/main" id="{79F9BF4D-AD41-4475-A659-3F1176F386EB}"/>
              </a:ext>
            </a:extLst>
          </p:cNvPr>
          <p:cNvCxnSpPr>
            <a:cxnSpLocks/>
            <a:stCxn id="52" idx="3"/>
            <a:endCxn id="68" idx="1"/>
          </p:cNvCxnSpPr>
          <p:nvPr/>
        </p:nvCxnSpPr>
        <p:spPr>
          <a:xfrm flipV="1">
            <a:off x="1257197" y="1437809"/>
            <a:ext cx="394311" cy="7401"/>
          </a:xfrm>
          <a:prstGeom prst="straightConnector1">
            <a:avLst/>
          </a:prstGeom>
          <a:noFill/>
          <a:ln w="9525" cap="flat" cmpd="sng" algn="ctr">
            <a:solidFill>
              <a:srgbClr val="C00000"/>
            </a:solidFill>
            <a:prstDash val="solid"/>
            <a:round/>
            <a:headEnd type="none" w="med" len="med"/>
            <a:tailEnd type="triangle"/>
          </a:ln>
          <a:effectLst/>
        </p:spPr>
      </p:cxnSp>
      <p:sp>
        <p:nvSpPr>
          <p:cNvPr id="71" name="직사각형 124">
            <a:extLst>
              <a:ext uri="{FF2B5EF4-FFF2-40B4-BE49-F238E27FC236}">
                <a16:creationId xmlns:a16="http://schemas.microsoft.com/office/drawing/2014/main" id="{84C613EF-B7C1-4EE7-B1DE-F6F54BF90DC1}"/>
              </a:ext>
            </a:extLst>
          </p:cNvPr>
          <p:cNvSpPr/>
          <p:nvPr/>
        </p:nvSpPr>
        <p:spPr>
          <a:xfrm>
            <a:off x="1689870" y="3706771"/>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Software defect</a:t>
            </a:r>
          </a:p>
        </p:txBody>
      </p:sp>
      <p:cxnSp>
        <p:nvCxnSpPr>
          <p:cNvPr id="3" name="Straight Connector 2">
            <a:extLst>
              <a:ext uri="{FF2B5EF4-FFF2-40B4-BE49-F238E27FC236}">
                <a16:creationId xmlns:a16="http://schemas.microsoft.com/office/drawing/2014/main" id="{C382F0B5-FE2A-44F8-A778-4490D033265A}"/>
              </a:ext>
            </a:extLst>
          </p:cNvPr>
          <p:cNvCxnSpPr>
            <a:cxnSpLocks/>
          </p:cNvCxnSpPr>
          <p:nvPr/>
        </p:nvCxnSpPr>
        <p:spPr>
          <a:xfrm>
            <a:off x="656431" y="5436406"/>
            <a:ext cx="1790464"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E5D3784-A161-4E39-ABFC-E9884EBC2613}"/>
              </a:ext>
            </a:extLst>
          </p:cNvPr>
          <p:cNvSpPr/>
          <p:nvPr/>
        </p:nvSpPr>
        <p:spPr>
          <a:xfrm>
            <a:off x="1913425" y="4896997"/>
            <a:ext cx="829775" cy="533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rial" panose="020B0604020202020204" pitchFamily="34" charset="0"/>
                <a:cs typeface="Arial" panose="020B0604020202020204" pitchFamily="34" charset="0"/>
              </a:rPr>
              <a:t>1381 </a:t>
            </a:r>
            <a:r>
              <a:rPr lang="vi-VN" sz="1100" dirty="0">
                <a:solidFill>
                  <a:schemeClr val="tx1"/>
                </a:solidFill>
                <a:latin typeface="Arial" panose="020B0604020202020204" pitchFamily="34" charset="0"/>
                <a:cs typeface="Arial" panose="020B0604020202020204" pitchFamily="34" charset="0"/>
              </a:rPr>
              <a:t>PPM</a:t>
            </a:r>
            <a:endParaRPr lang="en-US" sz="1000" dirty="0">
              <a:solidFill>
                <a:schemeClr val="tx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D6ABC82-A55A-4E3D-9824-C9ABB364FBE1}"/>
              </a:ext>
            </a:extLst>
          </p:cNvPr>
          <p:cNvSpPr/>
          <p:nvPr/>
        </p:nvSpPr>
        <p:spPr>
          <a:xfrm>
            <a:off x="552966" y="4386015"/>
            <a:ext cx="818860" cy="1047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rial" panose="020B0604020202020204" pitchFamily="34" charset="0"/>
                <a:cs typeface="Arial" panose="020B0604020202020204" pitchFamily="34" charset="0"/>
              </a:rPr>
              <a:t>2294 </a:t>
            </a:r>
            <a:r>
              <a:rPr lang="vi-VN" sz="1100" dirty="0">
                <a:solidFill>
                  <a:schemeClr val="tx1"/>
                </a:solidFill>
                <a:latin typeface="Arial" panose="020B0604020202020204" pitchFamily="34" charset="0"/>
                <a:cs typeface="Arial" panose="020B0604020202020204" pitchFamily="34" charset="0"/>
              </a:rPr>
              <a:t>PPM</a:t>
            </a:r>
            <a:endParaRPr lang="en-US" sz="1050" dirty="0">
              <a:solidFill>
                <a:schemeClr val="tx1"/>
              </a:solidFill>
              <a:latin typeface="Arial" panose="020B0604020202020204" pitchFamily="34" charset="0"/>
              <a:cs typeface="Arial" panose="020B0604020202020204" pitchFamily="34" charset="0"/>
            </a:endParaRPr>
          </a:p>
        </p:txBody>
      </p:sp>
      <p:sp>
        <p:nvSpPr>
          <p:cNvPr id="59" name="직사각형 124">
            <a:extLst>
              <a:ext uri="{FF2B5EF4-FFF2-40B4-BE49-F238E27FC236}">
                <a16:creationId xmlns:a16="http://schemas.microsoft.com/office/drawing/2014/main" id="{6488CD88-09C5-4039-9404-8FA529031D59}"/>
              </a:ext>
            </a:extLst>
          </p:cNvPr>
          <p:cNvSpPr/>
          <p:nvPr/>
        </p:nvSpPr>
        <p:spPr>
          <a:xfrm>
            <a:off x="637872" y="5436406"/>
            <a:ext cx="1786889" cy="4035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latinLnBrk="0"/>
            <a:r>
              <a:rPr lang="en-US" sz="1100" dirty="0">
                <a:solidFill>
                  <a:srgbClr val="000000"/>
                </a:solidFill>
                <a:latin typeface="Arial" panose="020B0604020202020204" pitchFamily="34" charset="0"/>
                <a:ea typeface="LG Smart_H Regular" panose="020B0600000101010101"/>
                <a:cs typeface="Arial" panose="020B0604020202020204" pitchFamily="34" charset="0"/>
              </a:rPr>
              <a:t>Decrease defect rate of Porsche CID</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1" name="직사각형 124">
            <a:extLst>
              <a:ext uri="{FF2B5EF4-FFF2-40B4-BE49-F238E27FC236}">
                <a16:creationId xmlns:a16="http://schemas.microsoft.com/office/drawing/2014/main" id="{85F4DA65-E4DC-4E8D-9E8A-592DB1E42CC9}"/>
              </a:ext>
            </a:extLst>
          </p:cNvPr>
          <p:cNvSpPr/>
          <p:nvPr/>
        </p:nvSpPr>
        <p:spPr>
          <a:xfrm>
            <a:off x="581222" y="4191000"/>
            <a:ext cx="762348"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latinLnBrk="0"/>
            <a:r>
              <a:rPr lang="en-US" sz="1100" dirty="0">
                <a:solidFill>
                  <a:srgbClr val="000000"/>
                </a:solidFill>
                <a:latin typeface="Arial" panose="020B0604020202020204" pitchFamily="34" charset="0"/>
                <a:ea typeface="LG Smart_H Regular" panose="020B0600000101010101"/>
                <a:cs typeface="Arial" panose="020B0604020202020204" pitchFamily="34" charset="0"/>
              </a:rPr>
              <a:t>Before</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2" name="직사각형 124">
            <a:extLst>
              <a:ext uri="{FF2B5EF4-FFF2-40B4-BE49-F238E27FC236}">
                <a16:creationId xmlns:a16="http://schemas.microsoft.com/office/drawing/2014/main" id="{C64B288A-C4DC-4C32-8350-28B1FD1A5C8C}"/>
              </a:ext>
            </a:extLst>
          </p:cNvPr>
          <p:cNvSpPr/>
          <p:nvPr/>
        </p:nvSpPr>
        <p:spPr>
          <a:xfrm>
            <a:off x="2003461" y="4688813"/>
            <a:ext cx="649702"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latinLnBrk="0"/>
            <a:r>
              <a:rPr lang="en-US" sz="1100" dirty="0">
                <a:solidFill>
                  <a:srgbClr val="000000"/>
                </a:solidFill>
                <a:latin typeface="Arial" panose="020B0604020202020204" pitchFamily="34" charset="0"/>
                <a:ea typeface="LG Smart_H Regular" panose="020B0600000101010101"/>
                <a:cs typeface="Arial" panose="020B0604020202020204" pitchFamily="34" charset="0"/>
              </a:rPr>
              <a:t>After</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9" name="직사각형 124">
            <a:extLst>
              <a:ext uri="{FF2B5EF4-FFF2-40B4-BE49-F238E27FC236}">
                <a16:creationId xmlns:a16="http://schemas.microsoft.com/office/drawing/2014/main" id="{5A1ACA1F-B7FE-4D14-98DB-0463FDB3B045}"/>
              </a:ext>
            </a:extLst>
          </p:cNvPr>
          <p:cNvSpPr/>
          <p:nvPr/>
        </p:nvSpPr>
        <p:spPr>
          <a:xfrm>
            <a:off x="7322594" y="1260024"/>
            <a:ext cx="1586819"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6 Sigma assignment</a:t>
            </a:r>
          </a:p>
        </p:txBody>
      </p:sp>
      <p:sp>
        <p:nvSpPr>
          <p:cNvPr id="70" name="직사각형 124">
            <a:extLst>
              <a:ext uri="{FF2B5EF4-FFF2-40B4-BE49-F238E27FC236}">
                <a16:creationId xmlns:a16="http://schemas.microsoft.com/office/drawing/2014/main" id="{08E76798-9784-458B-85C4-0CA820956B8D}"/>
              </a:ext>
            </a:extLst>
          </p:cNvPr>
          <p:cNvSpPr/>
          <p:nvPr/>
        </p:nvSpPr>
        <p:spPr>
          <a:xfrm>
            <a:off x="7347308" y="2084472"/>
            <a:ext cx="1586819"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Real defect _ Material</a:t>
            </a:r>
          </a:p>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Return to supplier</a:t>
            </a:r>
          </a:p>
        </p:txBody>
      </p:sp>
      <p:graphicFrame>
        <p:nvGraphicFramePr>
          <p:cNvPr id="74" name="표 46">
            <a:extLst>
              <a:ext uri="{FF2B5EF4-FFF2-40B4-BE49-F238E27FC236}">
                <a16:creationId xmlns:a16="http://schemas.microsoft.com/office/drawing/2014/main" id="{E5BFD7BA-52E1-4DEB-8CC0-42C339E19764}"/>
              </a:ext>
            </a:extLst>
          </p:cNvPr>
          <p:cNvGraphicFramePr>
            <a:graphicFrameLocks noGrp="1"/>
          </p:cNvGraphicFramePr>
          <p:nvPr>
            <p:extLst>
              <p:ext uri="{D42A27DB-BD31-4B8C-83A1-F6EECF244321}">
                <p14:modId xmlns:p14="http://schemas.microsoft.com/office/powerpoint/2010/main" val="414107595"/>
              </p:ext>
            </p:extLst>
          </p:nvPr>
        </p:nvGraphicFramePr>
        <p:xfrm>
          <a:off x="7322594" y="720833"/>
          <a:ext cx="1586819" cy="282190"/>
        </p:xfrm>
        <a:graphic>
          <a:graphicData uri="http://schemas.openxmlformats.org/drawingml/2006/table">
            <a:tbl>
              <a:tblPr/>
              <a:tblGrid>
                <a:gridCol w="1586819">
                  <a:extLst>
                    <a:ext uri="{9D8B030D-6E8A-4147-A177-3AD203B41FA5}">
                      <a16:colId xmlns:a16="http://schemas.microsoft.com/office/drawing/2014/main" val="20000"/>
                    </a:ext>
                  </a:extLst>
                </a:gridCol>
              </a:tblGrid>
              <a:tr h="282190">
                <a:tc>
                  <a:txBody>
                    <a:bodyPr/>
                    <a:lstStyle/>
                    <a:p>
                      <a:pPr marL="0" algn="ctr" defTabSz="914400" rtl="0" eaLnBrk="1" latinLnBrk="1"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Activity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6" name="표 45">
            <a:extLst>
              <a:ext uri="{FF2B5EF4-FFF2-40B4-BE49-F238E27FC236}">
                <a16:creationId xmlns:a16="http://schemas.microsoft.com/office/drawing/2014/main" id="{340A01BA-E649-4A07-BE4C-FE4BD7441B73}"/>
              </a:ext>
            </a:extLst>
          </p:cNvPr>
          <p:cNvGraphicFramePr>
            <a:graphicFrameLocks noGrp="1"/>
          </p:cNvGraphicFramePr>
          <p:nvPr>
            <p:extLst>
              <p:ext uri="{D42A27DB-BD31-4B8C-83A1-F6EECF244321}">
                <p14:modId xmlns:p14="http://schemas.microsoft.com/office/powerpoint/2010/main" val="1695317186"/>
              </p:ext>
            </p:extLst>
          </p:nvPr>
        </p:nvGraphicFramePr>
        <p:xfrm>
          <a:off x="5442125" y="726392"/>
          <a:ext cx="1427220" cy="276631"/>
        </p:xfrm>
        <a:graphic>
          <a:graphicData uri="http://schemas.openxmlformats.org/drawingml/2006/table">
            <a:tbl>
              <a:tblPr/>
              <a:tblGrid>
                <a:gridCol w="1427220">
                  <a:extLst>
                    <a:ext uri="{9D8B030D-6E8A-4147-A177-3AD203B41FA5}">
                      <a16:colId xmlns:a16="http://schemas.microsoft.com/office/drawing/2014/main" val="20000"/>
                    </a:ext>
                  </a:extLst>
                </a:gridCol>
              </a:tblGrid>
              <a:tr h="276631">
                <a:tc>
                  <a:txBody>
                    <a:bodyPr/>
                    <a:lstStyle/>
                    <a:p>
                      <a:pPr algn="ctr">
                        <a:defRPr/>
                      </a:pPr>
                      <a:r>
                        <a:rPr lang="en-US" altLang="ko-KR" sz="1000" b="1" dirty="0">
                          <a:latin typeface="Arial" panose="020B0600000101010101" pitchFamily="50" charset="-127"/>
                          <a:ea typeface="Arial" panose="020B0600000101010101" pitchFamily="50" charset="-127"/>
                        </a:rPr>
                        <a:t>Little y3</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9" name="Straight Arrow Connector 88">
            <a:extLst>
              <a:ext uri="{FF2B5EF4-FFF2-40B4-BE49-F238E27FC236}">
                <a16:creationId xmlns:a16="http://schemas.microsoft.com/office/drawing/2014/main" id="{93DB9B81-6E8A-4C8A-9C14-CAA405A93511}"/>
              </a:ext>
            </a:extLst>
          </p:cNvPr>
          <p:cNvCxnSpPr>
            <a:cxnSpLocks/>
            <a:stCxn id="129" idx="3"/>
            <a:endCxn id="69" idx="1"/>
          </p:cNvCxnSpPr>
          <p:nvPr/>
        </p:nvCxnSpPr>
        <p:spPr>
          <a:xfrm flipV="1">
            <a:off x="6869345" y="1457981"/>
            <a:ext cx="453249" cy="249"/>
          </a:xfrm>
          <a:prstGeom prst="straightConnector1">
            <a:avLst/>
          </a:prstGeom>
          <a:noFill/>
          <a:ln w="9525" cap="flat" cmpd="sng" algn="ctr">
            <a:solidFill>
              <a:srgbClr val="C00000"/>
            </a:solidFill>
            <a:prstDash val="solid"/>
            <a:round/>
            <a:headEnd type="none" w="med" len="med"/>
            <a:tailEnd type="triangle"/>
          </a:ln>
          <a:effectLst/>
        </p:spPr>
      </p:cxnSp>
      <p:cxnSp>
        <p:nvCxnSpPr>
          <p:cNvPr id="92" name="Straight Arrow Connector 91">
            <a:extLst>
              <a:ext uri="{FF2B5EF4-FFF2-40B4-BE49-F238E27FC236}">
                <a16:creationId xmlns:a16="http://schemas.microsoft.com/office/drawing/2014/main" id="{E42DC42A-02BC-4314-AFEF-5343F6F313A8}"/>
              </a:ext>
            </a:extLst>
          </p:cNvPr>
          <p:cNvCxnSpPr>
            <a:cxnSpLocks/>
            <a:stCxn id="130" idx="3"/>
            <a:endCxn id="70" idx="1"/>
          </p:cNvCxnSpPr>
          <p:nvPr/>
        </p:nvCxnSpPr>
        <p:spPr>
          <a:xfrm flipV="1">
            <a:off x="6894059" y="2282429"/>
            <a:ext cx="453249" cy="24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12294C19-F708-49EE-A527-FA9394A10AA7}"/>
              </a:ext>
            </a:extLst>
          </p:cNvPr>
          <p:cNvSpPr txBox="1"/>
          <p:nvPr/>
        </p:nvSpPr>
        <p:spPr>
          <a:xfrm>
            <a:off x="57849" y="5921514"/>
            <a:ext cx="9577064" cy="707886"/>
          </a:xfrm>
          <a:prstGeom prst="rect">
            <a:avLst/>
          </a:prstGeom>
          <a:noFill/>
        </p:spPr>
        <p:txBody>
          <a:bodyPr wrap="square" rtlCol="0">
            <a:spAutoFit/>
          </a:bodyPr>
          <a:lstStyle/>
          <a:p>
            <a:pPr marL="171450" lvl="0" indent="-171450">
              <a:buFontTx/>
              <a:buChar char="-"/>
            </a:pPr>
            <a:r>
              <a:rPr lang="en-US" sz="1100" dirty="0">
                <a:latin typeface="+mj-lt"/>
              </a:rPr>
              <a:t>Most of Hardware issue cause by foreign material inside the set after assembly process, SQA circuit, LCD from supplier, need to improve by HW members.</a:t>
            </a:r>
          </a:p>
          <a:p>
            <a:pPr marL="171450" lvl="0" indent="-171450">
              <a:buFontTx/>
              <a:buChar char="-"/>
            </a:pPr>
            <a:r>
              <a:rPr lang="en-US" sz="1100" dirty="0">
                <a:latin typeface="+mj-lt"/>
              </a:rPr>
              <a:t>Software issue will be solved by HQ software members.</a:t>
            </a:r>
          </a:p>
          <a:p>
            <a:pPr marL="171450" lvl="0" indent="-171450">
              <a:buFontTx/>
              <a:buChar char="-"/>
            </a:pPr>
            <a:r>
              <a:rPr lang="en-US" sz="1100" dirty="0">
                <a:latin typeface="+mj-lt"/>
              </a:rPr>
              <a:t>Machine include issue from inspection item, Luminance is important item measured by machine, it </a:t>
            </a:r>
            <a:r>
              <a:rPr lang="en-US" sz="1100" dirty="0">
                <a:solidFill>
                  <a:srgbClr val="000000"/>
                </a:solidFill>
                <a:latin typeface="Arial"/>
              </a:rPr>
              <a:t>refers to the amount of light emitted from the display per unit area, it</a:t>
            </a:r>
            <a:r>
              <a:rPr lang="en-US" sz="1100" dirty="0">
                <a:latin typeface="+mj-lt"/>
              </a:rPr>
              <a:t> affects the brightness and visibility of the screen, that’s why I choose this issue for my 6 sigma assignment.</a:t>
            </a:r>
            <a:endParaRPr lang="en-US" altLang="en-US" sz="1000" dirty="0">
              <a:latin typeface="+mj-lt"/>
              <a:ea typeface="Arial Unicode MS" panose="020B0604020202020204" pitchFamily="34" charset="-128"/>
              <a:cs typeface="Arial" panose="020B0604020202020204" pitchFamily="34" charset="0"/>
            </a:endParaRPr>
          </a:p>
        </p:txBody>
      </p:sp>
      <p:graphicFrame>
        <p:nvGraphicFramePr>
          <p:cNvPr id="12" name="Object 11">
            <a:extLst>
              <a:ext uri="{FF2B5EF4-FFF2-40B4-BE49-F238E27FC236}">
                <a16:creationId xmlns:a16="http://schemas.microsoft.com/office/drawing/2014/main" id="{641D5FF9-8E48-4313-BA6F-2F3C8DCE93A7}"/>
              </a:ext>
            </a:extLst>
          </p:cNvPr>
          <p:cNvGraphicFramePr>
            <a:graphicFrameLocks noChangeAspect="1"/>
          </p:cNvGraphicFramePr>
          <p:nvPr>
            <p:extLst>
              <p:ext uri="{D42A27DB-BD31-4B8C-83A1-F6EECF244321}">
                <p14:modId xmlns:p14="http://schemas.microsoft.com/office/powerpoint/2010/main" val="561615864"/>
              </p:ext>
            </p:extLst>
          </p:nvPr>
        </p:nvGraphicFramePr>
        <p:xfrm>
          <a:off x="304468" y="2246935"/>
          <a:ext cx="467633" cy="394566"/>
        </p:xfrm>
        <a:graphic>
          <a:graphicData uri="http://schemas.openxmlformats.org/presentationml/2006/ole">
            <mc:AlternateContent xmlns:mc="http://schemas.openxmlformats.org/markup-compatibility/2006">
              <mc:Choice xmlns:v="urn:schemas-microsoft-com:vml" Requires="v">
                <p:oleObj name="Worksheet" showAsIcon="1" r:id="rId4" imgW="914400" imgH="771792" progId="Excel.Sheet.12">
                  <p:embed/>
                </p:oleObj>
              </mc:Choice>
              <mc:Fallback>
                <p:oleObj name="Worksheet" showAsIcon="1" r:id="rId4" imgW="914400" imgH="771792" progId="Excel.Sheet.12">
                  <p:embed/>
                  <p:pic>
                    <p:nvPicPr>
                      <p:cNvPr id="0" name=""/>
                      <p:cNvPicPr/>
                      <p:nvPr/>
                    </p:nvPicPr>
                    <p:blipFill>
                      <a:blip r:embed="rId5"/>
                      <a:stretch>
                        <a:fillRect/>
                      </a:stretch>
                    </p:blipFill>
                    <p:spPr>
                      <a:xfrm>
                        <a:off x="304468" y="2246935"/>
                        <a:ext cx="467633" cy="394566"/>
                      </a:xfrm>
                      <a:prstGeom prst="rect">
                        <a:avLst/>
                      </a:prstGeom>
                    </p:spPr>
                  </p:pic>
                </p:oleObj>
              </mc:Fallback>
            </mc:AlternateContent>
          </a:graphicData>
        </a:graphic>
      </p:graphicFrame>
      <p:sp>
        <p:nvSpPr>
          <p:cNvPr id="2" name="Arrow: Right 1">
            <a:extLst>
              <a:ext uri="{FF2B5EF4-FFF2-40B4-BE49-F238E27FC236}">
                <a16:creationId xmlns:a16="http://schemas.microsoft.com/office/drawing/2014/main" id="{883DEA73-C594-43D5-86DD-20AFA7CB55DE}"/>
              </a:ext>
            </a:extLst>
          </p:cNvPr>
          <p:cNvSpPr/>
          <p:nvPr/>
        </p:nvSpPr>
        <p:spPr bwMode="auto">
          <a:xfrm rot="1145973">
            <a:off x="1406635" y="4896997"/>
            <a:ext cx="471981" cy="173244"/>
          </a:xfrm>
          <a:prstGeom prst="rightArrow">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
        <p:nvSpPr>
          <p:cNvPr id="50" name="직사각형 124">
            <a:extLst>
              <a:ext uri="{FF2B5EF4-FFF2-40B4-BE49-F238E27FC236}">
                <a16:creationId xmlns:a16="http://schemas.microsoft.com/office/drawing/2014/main" id="{90A54F67-C922-4481-83DE-35020CA82089}"/>
              </a:ext>
            </a:extLst>
          </p:cNvPr>
          <p:cNvSpPr/>
          <p:nvPr/>
        </p:nvSpPr>
        <p:spPr>
          <a:xfrm>
            <a:off x="9111999" y="1263867"/>
            <a:ext cx="717728"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b="0" dirty="0">
                <a:solidFill>
                  <a:schemeClr val="tx1"/>
                </a:solidFill>
                <a:latin typeface="Arial"/>
              </a:rPr>
              <a:t>IVI LD</a:t>
            </a:r>
            <a:r>
              <a:rPr sz="1100" b="0" dirty="0">
                <a:latin typeface="Arial"/>
              </a:rPr>
              <a:t> IE</a:t>
            </a:r>
          </a:p>
        </p:txBody>
      </p:sp>
      <p:sp>
        <p:nvSpPr>
          <p:cNvPr id="53" name="직사각형 124">
            <a:extLst>
              <a:ext uri="{FF2B5EF4-FFF2-40B4-BE49-F238E27FC236}">
                <a16:creationId xmlns:a16="http://schemas.microsoft.com/office/drawing/2014/main" id="{1045D11C-94C8-40D5-BC41-24537629FD31}"/>
              </a:ext>
            </a:extLst>
          </p:cNvPr>
          <p:cNvSpPr/>
          <p:nvPr/>
        </p:nvSpPr>
        <p:spPr>
          <a:xfrm>
            <a:off x="9136713" y="2078607"/>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HEESUNG vendor</a:t>
            </a:r>
          </a:p>
        </p:txBody>
      </p:sp>
      <p:graphicFrame>
        <p:nvGraphicFramePr>
          <p:cNvPr id="56" name="표 46">
            <a:extLst>
              <a:ext uri="{FF2B5EF4-FFF2-40B4-BE49-F238E27FC236}">
                <a16:creationId xmlns:a16="http://schemas.microsoft.com/office/drawing/2014/main" id="{389174B0-4A7E-4DAC-B76B-156987A7EF90}"/>
              </a:ext>
            </a:extLst>
          </p:cNvPr>
          <p:cNvGraphicFramePr>
            <a:graphicFrameLocks noGrp="1"/>
          </p:cNvGraphicFramePr>
          <p:nvPr>
            <p:extLst>
              <p:ext uri="{D42A27DB-BD31-4B8C-83A1-F6EECF244321}">
                <p14:modId xmlns:p14="http://schemas.microsoft.com/office/powerpoint/2010/main" val="4294634826"/>
              </p:ext>
            </p:extLst>
          </p:nvPr>
        </p:nvGraphicFramePr>
        <p:xfrm>
          <a:off x="9112590" y="735156"/>
          <a:ext cx="717137" cy="282190"/>
        </p:xfrm>
        <a:graphic>
          <a:graphicData uri="http://schemas.openxmlformats.org/drawingml/2006/table">
            <a:tbl>
              <a:tblPr/>
              <a:tblGrid>
                <a:gridCol w="717137">
                  <a:extLst>
                    <a:ext uri="{9D8B030D-6E8A-4147-A177-3AD203B41FA5}">
                      <a16:colId xmlns:a16="http://schemas.microsoft.com/office/drawing/2014/main" val="20000"/>
                    </a:ext>
                  </a:extLst>
                </a:gridCol>
              </a:tblGrid>
              <a:tr h="282190">
                <a:tc>
                  <a:txBody>
                    <a:bodyPr/>
                    <a:lstStyle/>
                    <a:p>
                      <a:pPr marL="0" algn="ctr" defTabSz="914400" rtl="0" eaLnBrk="1" latinLnBrk="1"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PIC</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5" name="Rectangle 4">
            <a:extLst>
              <a:ext uri="{FF2B5EF4-FFF2-40B4-BE49-F238E27FC236}">
                <a16:creationId xmlns:a16="http://schemas.microsoft.com/office/drawing/2014/main" id="{6AF0C5BD-1F30-4E1B-B64B-6F14E8B4E4DA}"/>
              </a:ext>
            </a:extLst>
          </p:cNvPr>
          <p:cNvSpPr/>
          <p:nvPr/>
        </p:nvSpPr>
        <p:spPr>
          <a:xfrm>
            <a:off x="51601" y="1670837"/>
            <a:ext cx="1261884" cy="600164"/>
          </a:xfrm>
          <a:prstGeom prst="rect">
            <a:avLst/>
          </a:prstGeom>
        </p:spPr>
        <p:txBody>
          <a:bodyPr wrap="square">
            <a:spAutoFit/>
          </a:bodyPr>
          <a:lstStyle/>
          <a:p>
            <a:pPr algn="ctr" latinLnBrk="0"/>
            <a:r>
              <a:rPr lang="en-US" sz="1100" dirty="0">
                <a:solidFill>
                  <a:srgbClr val="000000"/>
                </a:solidFill>
                <a:latin typeface="Arial" panose="020B0604020202020204" pitchFamily="34" charset="0"/>
                <a:ea typeface="LG Smart_H Regular" panose="020B0600000101010101"/>
                <a:cs typeface="Arial" panose="020B0604020202020204" pitchFamily="34" charset="0"/>
              </a:rPr>
              <a:t>2294 </a:t>
            </a:r>
            <a:r>
              <a:rPr lang="vi-VN" sz="1100" dirty="0">
                <a:solidFill>
                  <a:srgbClr val="000000"/>
                </a:solidFill>
                <a:latin typeface="Arial" panose="020B0604020202020204" pitchFamily="34" charset="0"/>
                <a:ea typeface="LG Smart_H Regular" panose="020B0600000101010101"/>
                <a:cs typeface="Arial" panose="020B0604020202020204" pitchFamily="34" charset="0"/>
              </a:rPr>
              <a:t>PPM</a:t>
            </a:r>
            <a:endParaRPr lang="en-US" sz="1100" dirty="0">
              <a:solidFill>
                <a:srgbClr val="000000"/>
              </a:solidFill>
              <a:latin typeface="Arial" panose="020B0604020202020204" pitchFamily="34" charset="0"/>
              <a:ea typeface="LG Smart_H Regular" panose="020B0600000101010101"/>
              <a:cs typeface="Arial" panose="020B0604020202020204" pitchFamily="34" charset="0"/>
            </a:endParaRPr>
          </a:p>
          <a:p>
            <a:pPr algn="ctr" latinLnBrk="0"/>
            <a:r>
              <a:rPr lang="en-US" sz="1100" dirty="0">
                <a:solidFill>
                  <a:srgbClr val="000000"/>
                </a:solidFill>
                <a:latin typeface="Arial" panose="020B0604020202020204" pitchFamily="34" charset="0"/>
                <a:ea typeface="LG Smart_H Regular" panose="020B0600000101010101"/>
                <a:cs typeface="Arial" panose="020B0604020202020204" pitchFamily="34" charset="0"/>
              </a:rPr>
              <a:t>(</a:t>
            </a:r>
            <a:r>
              <a:rPr lang="en-US" sz="1100" dirty="0">
                <a:solidFill>
                  <a:srgbClr val="FF0000"/>
                </a:solidFill>
                <a:latin typeface="Arial" panose="020B0604020202020204" pitchFamily="34" charset="0"/>
                <a:ea typeface="LG Smart_H Regular" panose="020B0600000101010101"/>
                <a:cs typeface="Arial" panose="020B0604020202020204" pitchFamily="34" charset="0"/>
              </a:rPr>
              <a:t>xx/</a:t>
            </a:r>
            <a:r>
              <a:rPr lang="en-US" sz="1100" dirty="0" err="1">
                <a:solidFill>
                  <a:srgbClr val="FF0000"/>
                </a:solidFill>
                <a:latin typeface="Arial" panose="020B0604020202020204" pitchFamily="34" charset="0"/>
                <a:ea typeface="LG Smart_H Regular" panose="020B0600000101010101"/>
                <a:cs typeface="Arial" panose="020B0604020202020204" pitchFamily="34" charset="0"/>
              </a:rPr>
              <a:t>xxxEA</a:t>
            </a:r>
            <a:endParaRPr lang="en-US" sz="1100" dirty="0">
              <a:solidFill>
                <a:srgbClr val="FF0000"/>
              </a:solidFill>
              <a:latin typeface="Arial" panose="020B0604020202020204" pitchFamily="34" charset="0"/>
              <a:ea typeface="LG Smart_H Regular" panose="020B0600000101010101"/>
              <a:cs typeface="Arial" panose="020B0604020202020204" pitchFamily="34" charset="0"/>
            </a:endParaRPr>
          </a:p>
          <a:p>
            <a:pPr algn="ctr" latinLnBrk="0"/>
            <a:r>
              <a:rPr lang="en-US" sz="1100" dirty="0" err="1">
                <a:solidFill>
                  <a:srgbClr val="FF0000"/>
                </a:solidFill>
                <a:latin typeface="Arial" panose="020B0604020202020204" pitchFamily="34" charset="0"/>
                <a:ea typeface="LG Smart_H Regular" panose="020B0600000101010101"/>
                <a:cs typeface="Arial" panose="020B0604020202020204" pitchFamily="34" charset="0"/>
              </a:rPr>
              <a:t>Jun~Aug</a:t>
            </a:r>
            <a:r>
              <a:rPr lang="en-US" sz="1100" dirty="0">
                <a:solidFill>
                  <a:srgbClr val="FF0000"/>
                </a:solidFill>
                <a:latin typeface="Arial" panose="020B0604020202020204" pitchFamily="34" charset="0"/>
                <a:ea typeface="LG Smart_H Regular" panose="020B0600000101010101"/>
                <a:cs typeface="Arial" panose="020B0604020202020204" pitchFamily="34" charset="0"/>
              </a:rPr>
              <a:t> Y26</a:t>
            </a:r>
            <a:r>
              <a:rPr lang="en-US" sz="1100" dirty="0">
                <a:solidFill>
                  <a:srgbClr val="000000"/>
                </a:solidFill>
                <a:latin typeface="Arial" panose="020B0604020202020204" pitchFamily="34" charset="0"/>
                <a:ea typeface="LG Smart_H Regular" panose="020B0600000101010101"/>
                <a:cs typeface="Arial" panose="020B0604020202020204" pitchFamily="34" charset="0"/>
              </a:rPr>
              <a:t>)</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 name="Rectangle 5">
            <a:extLst>
              <a:ext uri="{FF2B5EF4-FFF2-40B4-BE49-F238E27FC236}">
                <a16:creationId xmlns:a16="http://schemas.microsoft.com/office/drawing/2014/main" id="{05F4D52F-1976-4C98-B1BC-20259337E454}"/>
              </a:ext>
            </a:extLst>
          </p:cNvPr>
          <p:cNvSpPr/>
          <p:nvPr/>
        </p:nvSpPr>
        <p:spPr>
          <a:xfrm>
            <a:off x="1677199" y="1639657"/>
            <a:ext cx="1175322" cy="246221"/>
          </a:xfrm>
          <a:prstGeom prst="rect">
            <a:avLst/>
          </a:prstGeom>
        </p:spPr>
        <p:txBody>
          <a:bodyPr wrap="none">
            <a:spAutoFit/>
          </a:bodyP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56.3% 1292 PPM</a:t>
            </a:r>
          </a:p>
        </p:txBody>
      </p:sp>
      <p:sp>
        <p:nvSpPr>
          <p:cNvPr id="7" name="Rectangle 6">
            <a:extLst>
              <a:ext uri="{FF2B5EF4-FFF2-40B4-BE49-F238E27FC236}">
                <a16:creationId xmlns:a16="http://schemas.microsoft.com/office/drawing/2014/main" id="{30B36D77-47D1-4939-B27C-3B292C8F8F4D}"/>
              </a:ext>
            </a:extLst>
          </p:cNvPr>
          <p:cNvSpPr/>
          <p:nvPr/>
        </p:nvSpPr>
        <p:spPr>
          <a:xfrm>
            <a:off x="1713759" y="4148648"/>
            <a:ext cx="1104791" cy="246221"/>
          </a:xfrm>
          <a:prstGeom prst="rect">
            <a:avLst/>
          </a:prstGeom>
        </p:spPr>
        <p:txBody>
          <a:bodyPr wrap="none">
            <a:spAutoFit/>
          </a:bodyP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35.9% 824 </a:t>
            </a:r>
            <a:r>
              <a:rPr lang="vi-VN" sz="1100" dirty="0">
                <a:solidFill>
                  <a:srgbClr val="000000"/>
                </a:solidFill>
                <a:latin typeface="Arial" panose="020B0604020202020204" pitchFamily="34" charset="0"/>
                <a:ea typeface="LG Smart_H Regular" panose="020B0600000101010101"/>
                <a:cs typeface="Arial" panose="020B0604020202020204" pitchFamily="34" charset="0"/>
              </a:rPr>
              <a:t>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8" name="Rectangle 7">
            <a:extLst>
              <a:ext uri="{FF2B5EF4-FFF2-40B4-BE49-F238E27FC236}">
                <a16:creationId xmlns:a16="http://schemas.microsoft.com/office/drawing/2014/main" id="{760BD9FF-BA40-45C8-B5BF-7471B03E5658}"/>
              </a:ext>
            </a:extLst>
          </p:cNvPr>
          <p:cNvSpPr/>
          <p:nvPr/>
        </p:nvSpPr>
        <p:spPr>
          <a:xfrm>
            <a:off x="1710838" y="3210563"/>
            <a:ext cx="1034259" cy="246221"/>
          </a:xfrm>
          <a:prstGeom prst="rect">
            <a:avLst/>
          </a:prstGeom>
        </p:spPr>
        <p:txBody>
          <a:bodyPr wrap="none">
            <a:spAutoFit/>
          </a:bodyP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7.8% 178 PPM</a:t>
            </a:r>
          </a:p>
        </p:txBody>
      </p:sp>
      <p:cxnSp>
        <p:nvCxnSpPr>
          <p:cNvPr id="10" name="Connector: Elbow 9">
            <a:extLst>
              <a:ext uri="{FF2B5EF4-FFF2-40B4-BE49-F238E27FC236}">
                <a16:creationId xmlns:a16="http://schemas.microsoft.com/office/drawing/2014/main" id="{368EBAD9-AB13-4234-82B1-F3C26DD02447}"/>
              </a:ext>
            </a:extLst>
          </p:cNvPr>
          <p:cNvCxnSpPr>
            <a:stCxn id="104" idx="3"/>
            <a:endCxn id="130" idx="1"/>
          </p:cNvCxnSpPr>
          <p:nvPr/>
        </p:nvCxnSpPr>
        <p:spPr bwMode="auto">
          <a:xfrm>
            <a:off x="4822973" y="1454063"/>
            <a:ext cx="643866" cy="828615"/>
          </a:xfrm>
          <a:prstGeom prst="bentConnector3">
            <a:avLst/>
          </a:prstGeom>
          <a:noFill/>
          <a:ln w="9525" cap="flat" cmpd="sng" algn="ctr">
            <a:solidFill>
              <a:schemeClr val="bg2"/>
            </a:solidFill>
            <a:prstDash val="solid"/>
            <a:round/>
            <a:headEnd type="none" w="med" len="med"/>
            <a:tailEnd type="triangle"/>
          </a:ln>
          <a:effectLst/>
        </p:spPr>
      </p:cxnSp>
      <p:cxnSp>
        <p:nvCxnSpPr>
          <p:cNvPr id="13" name="Connector: Elbow 12">
            <a:extLst>
              <a:ext uri="{FF2B5EF4-FFF2-40B4-BE49-F238E27FC236}">
                <a16:creationId xmlns:a16="http://schemas.microsoft.com/office/drawing/2014/main" id="{856C0AA8-FC66-4C21-B31D-56F322604C13}"/>
              </a:ext>
            </a:extLst>
          </p:cNvPr>
          <p:cNvCxnSpPr>
            <a:stCxn id="52" idx="3"/>
            <a:endCxn id="71" idx="1"/>
          </p:cNvCxnSpPr>
          <p:nvPr/>
        </p:nvCxnSpPr>
        <p:spPr bwMode="auto">
          <a:xfrm>
            <a:off x="1257197" y="1445210"/>
            <a:ext cx="432673" cy="2451447"/>
          </a:xfrm>
          <a:prstGeom prst="bentConnector3">
            <a:avLst>
              <a:gd name="adj1" fmla="val 50000"/>
            </a:avLst>
          </a:prstGeom>
          <a:noFill/>
          <a:ln w="9525" cap="flat" cmpd="sng" algn="ctr">
            <a:solidFill>
              <a:schemeClr val="bg2"/>
            </a:solidFill>
            <a:prstDash val="solid"/>
            <a:round/>
            <a:headEnd type="none" w="med" len="med"/>
            <a:tailEnd type="triangle"/>
          </a:ln>
          <a:effectLst/>
        </p:spPr>
      </p:cxnSp>
      <p:cxnSp>
        <p:nvCxnSpPr>
          <p:cNvPr id="15" name="Connector: Elbow 14">
            <a:extLst>
              <a:ext uri="{FF2B5EF4-FFF2-40B4-BE49-F238E27FC236}">
                <a16:creationId xmlns:a16="http://schemas.microsoft.com/office/drawing/2014/main" id="{DB7FD541-B9AE-4E0D-A3AE-AC9AA5B1A5C8}"/>
              </a:ext>
            </a:extLst>
          </p:cNvPr>
          <p:cNvCxnSpPr>
            <a:cxnSpLocks/>
            <a:stCxn id="52" idx="3"/>
            <a:endCxn id="83" idx="1"/>
          </p:cNvCxnSpPr>
          <p:nvPr/>
        </p:nvCxnSpPr>
        <p:spPr bwMode="auto">
          <a:xfrm>
            <a:off x="1257197" y="1445210"/>
            <a:ext cx="390117" cy="1585615"/>
          </a:xfrm>
          <a:prstGeom prst="bentConnector3">
            <a:avLst>
              <a:gd name="adj1" fmla="val 50000"/>
            </a:avLst>
          </a:prstGeom>
          <a:noFill/>
          <a:ln w="9525" cap="flat" cmpd="sng" algn="ctr">
            <a:solidFill>
              <a:schemeClr val="bg2"/>
            </a:solidFill>
            <a:prstDash val="solid"/>
            <a:round/>
            <a:headEnd type="none" w="med" len="med"/>
            <a:tailEnd type="triangle"/>
          </a:ln>
          <a:effectLst/>
        </p:spPr>
      </p:cxnSp>
      <p:sp>
        <p:nvSpPr>
          <p:cNvPr id="65" name="직사각형 124">
            <a:extLst>
              <a:ext uri="{FF2B5EF4-FFF2-40B4-BE49-F238E27FC236}">
                <a16:creationId xmlns:a16="http://schemas.microsoft.com/office/drawing/2014/main" id="{DCFE7B6D-E84B-4231-8DAF-21ACE678009D}"/>
              </a:ext>
            </a:extLst>
          </p:cNvPr>
          <p:cNvSpPr/>
          <p:nvPr/>
        </p:nvSpPr>
        <p:spPr>
          <a:xfrm>
            <a:off x="3600726" y="2057400"/>
            <a:ext cx="1183477" cy="44246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chemeClr val="tx1"/>
                </a:solidFill>
                <a:latin typeface="Arial" panose="020B0604020202020204" pitchFamily="34" charset="0"/>
                <a:ea typeface="Arial Unicode MS" panose="020B0604020202020204" pitchFamily="34" charset="-128"/>
                <a:cs typeface="Arial" panose="020B0604020202020204" pitchFamily="34" charset="0"/>
              </a:rPr>
              <a:t>Haptic/Touch </a:t>
            </a:r>
          </a:p>
          <a:p>
            <a:pPr algn="ctr"/>
            <a:r>
              <a:rPr lang="en-US" sz="1100" dirty="0">
                <a:solidFill>
                  <a:schemeClr val="tx1"/>
                </a:solidFill>
                <a:latin typeface="Arial" panose="020B0604020202020204" pitchFamily="34" charset="0"/>
                <a:ea typeface="Arial Unicode MS" panose="020B0604020202020204" pitchFamily="34" charset="-128"/>
                <a:cs typeface="Arial" panose="020B0604020202020204" pitchFamily="34" charset="0"/>
              </a:rPr>
              <a:t>Function</a:t>
            </a:r>
          </a:p>
        </p:txBody>
      </p:sp>
      <p:sp>
        <p:nvSpPr>
          <p:cNvPr id="16" name="Rectangle 15">
            <a:extLst>
              <a:ext uri="{FF2B5EF4-FFF2-40B4-BE49-F238E27FC236}">
                <a16:creationId xmlns:a16="http://schemas.microsoft.com/office/drawing/2014/main" id="{288E1CE7-F4BC-4EBD-90F5-3CFE8E35BDA1}"/>
              </a:ext>
            </a:extLst>
          </p:cNvPr>
          <p:cNvSpPr/>
          <p:nvPr/>
        </p:nvSpPr>
        <p:spPr>
          <a:xfrm>
            <a:off x="3678910" y="2514600"/>
            <a:ext cx="1104791" cy="246221"/>
          </a:xfrm>
          <a:prstGeom prst="rect">
            <a:avLst/>
          </a:prstGeom>
        </p:spPr>
        <p:txBody>
          <a:bodyPr wrap="none">
            <a:spAutoFit/>
          </a:bodyPr>
          <a:lstStyle/>
          <a:p>
            <a:pPr algn="ctr"/>
            <a:r>
              <a:rPr sz="1100" b="0">
                <a:latin typeface="Arial"/>
              </a:rPr>
              <a:t>10.9% 140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7" name="Rectangle 16">
            <a:extLst>
              <a:ext uri="{FF2B5EF4-FFF2-40B4-BE49-F238E27FC236}">
                <a16:creationId xmlns:a16="http://schemas.microsoft.com/office/drawing/2014/main" id="{6B236DF7-163A-478C-958C-BB6F9A456983}"/>
              </a:ext>
            </a:extLst>
          </p:cNvPr>
          <p:cNvSpPr/>
          <p:nvPr/>
        </p:nvSpPr>
        <p:spPr>
          <a:xfrm>
            <a:off x="3671058" y="1639402"/>
            <a:ext cx="1175323" cy="246221"/>
          </a:xfrm>
          <a:prstGeom prst="rect">
            <a:avLst/>
          </a:prstGeom>
        </p:spPr>
        <p:txBody>
          <a:bodyPr wrap="none">
            <a:spAutoFit/>
          </a:bodyPr>
          <a:lstStyle/>
          <a:p>
            <a:pPr algn="ctr"/>
            <a:r>
              <a:rPr sz="1100" b="0">
                <a:latin typeface="Arial"/>
              </a:rPr>
              <a:t>45.4% 576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8" name="Rectangle 17">
            <a:extLst>
              <a:ext uri="{FF2B5EF4-FFF2-40B4-BE49-F238E27FC236}">
                <a16:creationId xmlns:a16="http://schemas.microsoft.com/office/drawing/2014/main" id="{3E9C44D0-3B3F-416F-A77E-B52AFB15C63C}"/>
              </a:ext>
            </a:extLst>
          </p:cNvPr>
          <p:cNvSpPr/>
          <p:nvPr/>
        </p:nvSpPr>
        <p:spPr>
          <a:xfrm>
            <a:off x="5603342" y="1670836"/>
            <a:ext cx="1104790" cy="246221"/>
          </a:xfrm>
          <a:prstGeom prst="rect">
            <a:avLst/>
          </a:prstGeom>
        </p:spPr>
        <p:txBody>
          <a:bodyPr wrap="none">
            <a:spAutoFit/>
          </a:bodyPr>
          <a:lstStyle/>
          <a:p>
            <a:pPr algn="ctr"/>
            <a:r>
              <a:rPr sz="1100" b="0">
                <a:latin typeface="Arial"/>
              </a:rPr>
              <a:t>39.8% 505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9" name="Rectangle 18">
            <a:extLst>
              <a:ext uri="{FF2B5EF4-FFF2-40B4-BE49-F238E27FC236}">
                <a16:creationId xmlns:a16="http://schemas.microsoft.com/office/drawing/2014/main" id="{9610AA58-682F-4FB2-9E51-FF3CD21FFCAB}"/>
              </a:ext>
            </a:extLst>
          </p:cNvPr>
          <p:cNvSpPr/>
          <p:nvPr/>
        </p:nvSpPr>
        <p:spPr>
          <a:xfrm>
            <a:off x="5663322" y="2502569"/>
            <a:ext cx="1034257" cy="246221"/>
          </a:xfrm>
          <a:prstGeom prst="rect">
            <a:avLst/>
          </a:prstGeom>
        </p:spPr>
        <p:txBody>
          <a:bodyPr wrap="none">
            <a:spAutoFit/>
          </a:bodyPr>
          <a:lstStyle/>
          <a:p>
            <a:pPr algn="ctr"/>
            <a:r>
              <a:rPr sz="1100" b="0">
                <a:latin typeface="Arial"/>
              </a:rPr>
              <a:t>5.6% 71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24" name="Straight Arrow Connector 23">
            <a:extLst>
              <a:ext uri="{FF2B5EF4-FFF2-40B4-BE49-F238E27FC236}">
                <a16:creationId xmlns:a16="http://schemas.microsoft.com/office/drawing/2014/main" id="{BC6C054B-5829-4BE0-A31D-2CA7A59F1F41}"/>
              </a:ext>
            </a:extLst>
          </p:cNvPr>
          <p:cNvCxnSpPr>
            <a:stCxn id="69" idx="3"/>
            <a:endCxn id="50" idx="1"/>
          </p:cNvCxnSpPr>
          <p:nvPr/>
        </p:nvCxnSpPr>
        <p:spPr bwMode="auto">
          <a:xfrm>
            <a:off x="8909413" y="1457981"/>
            <a:ext cx="202586" cy="3843"/>
          </a:xfrm>
          <a:prstGeom prst="straightConnector1">
            <a:avLst/>
          </a:prstGeom>
          <a:noFill/>
          <a:ln w="9525" cap="flat" cmpd="sng" algn="ctr">
            <a:solidFill>
              <a:srgbClr val="C0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18BE62C-07D6-473A-B50C-1AC28254AF33}"/>
              </a:ext>
            </a:extLst>
          </p:cNvPr>
          <p:cNvCxnSpPr>
            <a:stCxn id="70" idx="3"/>
            <a:endCxn id="53" idx="1"/>
          </p:cNvCxnSpPr>
          <p:nvPr/>
        </p:nvCxnSpPr>
        <p:spPr bwMode="auto">
          <a:xfrm flipV="1">
            <a:off x="8934127" y="2276564"/>
            <a:ext cx="202586" cy="586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24D5C481-9F97-4082-8B72-7206183B9A86}"/>
              </a:ext>
            </a:extLst>
          </p:cNvPr>
          <p:cNvCxnSpPr>
            <a:stCxn id="68" idx="3"/>
            <a:endCxn id="65" idx="1"/>
          </p:cNvCxnSpPr>
          <p:nvPr/>
        </p:nvCxnSpPr>
        <p:spPr bwMode="auto">
          <a:xfrm>
            <a:off x="2867767" y="1437809"/>
            <a:ext cx="732959" cy="840823"/>
          </a:xfrm>
          <a:prstGeom prst="bentConnector3">
            <a:avLst/>
          </a:prstGeom>
          <a:noFill/>
          <a:ln w="9525" cap="flat" cmpd="sng" algn="ctr">
            <a:solidFill>
              <a:schemeClr val="bg2"/>
            </a:solidFill>
            <a:prstDash val="solid"/>
            <a:round/>
            <a:headEnd type="none" w="med" len="med"/>
            <a:tailEnd type="triangle"/>
          </a:ln>
          <a:effectLst/>
        </p:spPr>
      </p:cxnSp>
      <p:sp>
        <p:nvSpPr>
          <p:cNvPr id="54" name="직사각형 124">
            <a:extLst>
              <a:ext uri="{FF2B5EF4-FFF2-40B4-BE49-F238E27FC236}">
                <a16:creationId xmlns:a16="http://schemas.microsoft.com/office/drawing/2014/main" id="{6E4609AA-34B6-4679-A537-F7B40309CB26}"/>
              </a:ext>
            </a:extLst>
          </p:cNvPr>
          <p:cNvSpPr/>
          <p:nvPr/>
        </p:nvSpPr>
        <p:spPr>
          <a:xfrm>
            <a:off x="3611236" y="2840939"/>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chemeClr val="tx1"/>
                </a:solidFill>
                <a:latin typeface="Arial" panose="020B0604020202020204" pitchFamily="34" charset="0"/>
                <a:ea typeface="Arial Unicode MS" panose="020B0604020202020204" pitchFamily="34" charset="-128"/>
                <a:cs typeface="Arial" panose="020B0604020202020204" pitchFamily="34" charset="0"/>
              </a:rPr>
              <a:t>Power Function</a:t>
            </a:r>
          </a:p>
        </p:txBody>
      </p:sp>
      <p:sp>
        <p:nvSpPr>
          <p:cNvPr id="58" name="직사각형 124">
            <a:extLst>
              <a:ext uri="{FF2B5EF4-FFF2-40B4-BE49-F238E27FC236}">
                <a16:creationId xmlns:a16="http://schemas.microsoft.com/office/drawing/2014/main" id="{219D5C33-0AD8-4A59-AFDB-684F26C6C4AF}"/>
              </a:ext>
            </a:extLst>
          </p:cNvPr>
          <p:cNvSpPr/>
          <p:nvPr/>
        </p:nvSpPr>
        <p:spPr>
          <a:xfrm>
            <a:off x="5423821" y="2842534"/>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Initial/ Booting </a:t>
            </a:r>
          </a:p>
        </p:txBody>
      </p:sp>
      <p:cxnSp>
        <p:nvCxnSpPr>
          <p:cNvPr id="11" name="Straight Arrow Connector 10">
            <a:extLst>
              <a:ext uri="{FF2B5EF4-FFF2-40B4-BE49-F238E27FC236}">
                <a16:creationId xmlns:a16="http://schemas.microsoft.com/office/drawing/2014/main" id="{316FA9F6-1715-4F4C-B7AF-5D0BE96AEC3A}"/>
              </a:ext>
            </a:extLst>
          </p:cNvPr>
          <p:cNvCxnSpPr>
            <a:cxnSpLocks/>
            <a:stCxn id="83" idx="3"/>
            <a:endCxn id="54" idx="1"/>
          </p:cNvCxnSpPr>
          <p:nvPr/>
        </p:nvCxnSpPr>
        <p:spPr bwMode="auto">
          <a:xfrm flipV="1">
            <a:off x="2863573" y="3026979"/>
            <a:ext cx="747663" cy="3846"/>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A20F0BDF-CB60-46E4-9AA0-1B74E29B6406}"/>
              </a:ext>
            </a:extLst>
          </p:cNvPr>
          <p:cNvCxnSpPr>
            <a:stCxn id="54" idx="3"/>
            <a:endCxn id="58" idx="1"/>
          </p:cNvCxnSpPr>
          <p:nvPr/>
        </p:nvCxnSpPr>
        <p:spPr bwMode="auto">
          <a:xfrm>
            <a:off x="4794713" y="3026979"/>
            <a:ext cx="629108" cy="4285"/>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66" name="직사각형 124">
            <a:extLst>
              <a:ext uri="{FF2B5EF4-FFF2-40B4-BE49-F238E27FC236}">
                <a16:creationId xmlns:a16="http://schemas.microsoft.com/office/drawing/2014/main" id="{6AA2B0E5-EC42-4C84-994A-778FC6501B06}"/>
              </a:ext>
            </a:extLst>
          </p:cNvPr>
          <p:cNvSpPr/>
          <p:nvPr/>
        </p:nvSpPr>
        <p:spPr>
          <a:xfrm>
            <a:off x="7322593" y="2819400"/>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Broken pin connector _ check PCBA</a:t>
            </a:r>
          </a:p>
        </p:txBody>
      </p:sp>
      <p:cxnSp>
        <p:nvCxnSpPr>
          <p:cNvPr id="30" name="Straight Arrow Connector 29">
            <a:extLst>
              <a:ext uri="{FF2B5EF4-FFF2-40B4-BE49-F238E27FC236}">
                <a16:creationId xmlns:a16="http://schemas.microsoft.com/office/drawing/2014/main" id="{654EA2C0-7A57-4607-B4AC-BFF85E4612BC}"/>
              </a:ext>
            </a:extLst>
          </p:cNvPr>
          <p:cNvCxnSpPr>
            <a:stCxn id="58" idx="3"/>
            <a:endCxn id="66" idx="1"/>
          </p:cNvCxnSpPr>
          <p:nvPr/>
        </p:nvCxnSpPr>
        <p:spPr bwMode="auto">
          <a:xfrm flipV="1">
            <a:off x="6851041" y="3027616"/>
            <a:ext cx="471552" cy="364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2" name="직사각형 124">
            <a:extLst>
              <a:ext uri="{FF2B5EF4-FFF2-40B4-BE49-F238E27FC236}">
                <a16:creationId xmlns:a16="http://schemas.microsoft.com/office/drawing/2014/main" id="{A6CBACB8-857B-400B-873A-143B2C375E95}"/>
              </a:ext>
            </a:extLst>
          </p:cNvPr>
          <p:cNvSpPr/>
          <p:nvPr/>
        </p:nvSpPr>
        <p:spPr>
          <a:xfrm>
            <a:off x="9103367" y="2829021"/>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Mr. Hai HW</a:t>
            </a:r>
          </a:p>
        </p:txBody>
      </p:sp>
      <p:cxnSp>
        <p:nvCxnSpPr>
          <p:cNvPr id="21" name="Straight Arrow Connector 20">
            <a:extLst>
              <a:ext uri="{FF2B5EF4-FFF2-40B4-BE49-F238E27FC236}">
                <a16:creationId xmlns:a16="http://schemas.microsoft.com/office/drawing/2014/main" id="{BD629D11-E31F-42F2-886F-2ACA099FB128}"/>
              </a:ext>
            </a:extLst>
          </p:cNvPr>
          <p:cNvCxnSpPr>
            <a:stCxn id="66" idx="3"/>
            <a:endCxn id="72" idx="1"/>
          </p:cNvCxnSpPr>
          <p:nvPr/>
        </p:nvCxnSpPr>
        <p:spPr bwMode="auto">
          <a:xfrm flipV="1">
            <a:off x="8909412" y="3026978"/>
            <a:ext cx="193955" cy="63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3" name="직사각형 124">
            <a:extLst>
              <a:ext uri="{FF2B5EF4-FFF2-40B4-BE49-F238E27FC236}">
                <a16:creationId xmlns:a16="http://schemas.microsoft.com/office/drawing/2014/main" id="{02F03E4C-6B25-4594-A904-49A6F7A6D5AB}"/>
              </a:ext>
            </a:extLst>
          </p:cNvPr>
          <p:cNvSpPr/>
          <p:nvPr/>
        </p:nvSpPr>
        <p:spPr>
          <a:xfrm>
            <a:off x="3611236" y="3710617"/>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chemeClr val="tx1"/>
                </a:solidFill>
                <a:latin typeface="Arial" panose="020B0604020202020204" pitchFamily="34" charset="0"/>
                <a:ea typeface="Arial Unicode MS" panose="020B0604020202020204" pitchFamily="34" charset="-128"/>
                <a:cs typeface="Arial" panose="020B0604020202020204" pitchFamily="34" charset="0"/>
              </a:rPr>
              <a:t>Uniformity Function</a:t>
            </a:r>
          </a:p>
        </p:txBody>
      </p:sp>
      <p:sp>
        <p:nvSpPr>
          <p:cNvPr id="78" name="직사각형 124">
            <a:extLst>
              <a:ext uri="{FF2B5EF4-FFF2-40B4-BE49-F238E27FC236}">
                <a16:creationId xmlns:a16="http://schemas.microsoft.com/office/drawing/2014/main" id="{AF1F87F1-6034-411B-A915-807D211A396D}"/>
              </a:ext>
            </a:extLst>
          </p:cNvPr>
          <p:cNvSpPr/>
          <p:nvPr/>
        </p:nvSpPr>
        <p:spPr>
          <a:xfrm>
            <a:off x="5415782" y="3707926"/>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Black Uniformity value</a:t>
            </a:r>
          </a:p>
        </p:txBody>
      </p:sp>
      <p:sp>
        <p:nvSpPr>
          <p:cNvPr id="81" name="직사각형 124">
            <a:extLst>
              <a:ext uri="{FF2B5EF4-FFF2-40B4-BE49-F238E27FC236}">
                <a16:creationId xmlns:a16="http://schemas.microsoft.com/office/drawing/2014/main" id="{8420CAE5-18AF-453C-961B-E2C9C8CEA2EA}"/>
              </a:ext>
            </a:extLst>
          </p:cNvPr>
          <p:cNvSpPr/>
          <p:nvPr/>
        </p:nvSpPr>
        <p:spPr>
          <a:xfrm>
            <a:off x="7314554" y="3688441"/>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Improve software</a:t>
            </a:r>
          </a:p>
        </p:txBody>
      </p:sp>
      <p:cxnSp>
        <p:nvCxnSpPr>
          <p:cNvPr id="82" name="Straight Arrow Connector 81">
            <a:extLst>
              <a:ext uri="{FF2B5EF4-FFF2-40B4-BE49-F238E27FC236}">
                <a16:creationId xmlns:a16="http://schemas.microsoft.com/office/drawing/2014/main" id="{2AF4C39A-6C4C-4507-8D8E-700E8114055E}"/>
              </a:ext>
            </a:extLst>
          </p:cNvPr>
          <p:cNvCxnSpPr>
            <a:stCxn id="78" idx="3"/>
            <a:endCxn id="81" idx="1"/>
          </p:cNvCxnSpPr>
          <p:nvPr/>
        </p:nvCxnSpPr>
        <p:spPr bwMode="auto">
          <a:xfrm>
            <a:off x="6843002" y="3896656"/>
            <a:ext cx="471552"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87" name="직사각형 124">
            <a:extLst>
              <a:ext uri="{FF2B5EF4-FFF2-40B4-BE49-F238E27FC236}">
                <a16:creationId xmlns:a16="http://schemas.microsoft.com/office/drawing/2014/main" id="{67F1B8FE-E275-4B4F-8EC5-A272AA3A0D0E}"/>
              </a:ext>
            </a:extLst>
          </p:cNvPr>
          <p:cNvSpPr/>
          <p:nvPr/>
        </p:nvSpPr>
        <p:spPr>
          <a:xfrm>
            <a:off x="9095328" y="3698700"/>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a:r>
              <a:rPr lang="en-US" sz="1100" dirty="0">
                <a:solidFill>
                  <a:srgbClr val="000000"/>
                </a:solidFill>
                <a:latin typeface="Arial" panose="020B0604020202020204" pitchFamily="34" charset="0"/>
                <a:ea typeface="LG Smart_H Regular" panose="020B0600000101010101"/>
                <a:cs typeface="Arial" panose="020B0604020202020204" pitchFamily="34" charset="0"/>
              </a:rPr>
              <a:t>HQ R&amp;D</a:t>
            </a:r>
          </a:p>
        </p:txBody>
      </p:sp>
      <p:cxnSp>
        <p:nvCxnSpPr>
          <p:cNvPr id="88" name="Straight Arrow Connector 87">
            <a:extLst>
              <a:ext uri="{FF2B5EF4-FFF2-40B4-BE49-F238E27FC236}">
                <a16:creationId xmlns:a16="http://schemas.microsoft.com/office/drawing/2014/main" id="{1938498C-816F-4E61-9CA7-375B5168EFF2}"/>
              </a:ext>
            </a:extLst>
          </p:cNvPr>
          <p:cNvCxnSpPr>
            <a:stCxn id="81" idx="3"/>
            <a:endCxn id="87" idx="1"/>
          </p:cNvCxnSpPr>
          <p:nvPr/>
        </p:nvCxnSpPr>
        <p:spPr bwMode="auto">
          <a:xfrm>
            <a:off x="8901373" y="3896657"/>
            <a:ext cx="193955"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9614912F-ED54-4E11-8172-5D2E5AECB661}"/>
              </a:ext>
            </a:extLst>
          </p:cNvPr>
          <p:cNvCxnSpPr>
            <a:stCxn id="71" idx="3"/>
            <a:endCxn id="73" idx="1"/>
          </p:cNvCxnSpPr>
          <p:nvPr/>
        </p:nvCxnSpPr>
        <p:spPr bwMode="auto">
          <a:xfrm>
            <a:off x="2906129" y="3896657"/>
            <a:ext cx="705107"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26651EDC-BC53-4F29-A438-9CCB88853252}"/>
              </a:ext>
            </a:extLst>
          </p:cNvPr>
          <p:cNvCxnSpPr>
            <a:stCxn id="73" idx="3"/>
            <a:endCxn id="78" idx="1"/>
          </p:cNvCxnSpPr>
          <p:nvPr/>
        </p:nvCxnSpPr>
        <p:spPr bwMode="auto">
          <a:xfrm flipV="1">
            <a:off x="4794713" y="3896656"/>
            <a:ext cx="621069"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Tree>
    <p:extLst>
      <p:ext uri="{BB962C8B-B14F-4D97-AF65-F5344CB8AC3E}">
        <p14:creationId xmlns:p14="http://schemas.microsoft.com/office/powerpoint/2010/main" val="1738383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58C813-0DB8-4A39-A4D8-BBFF0639DBF9}"/>
              </a:ext>
            </a:extLst>
          </p:cNvPr>
          <p:cNvPicPr>
            <a:picLocks noChangeAspect="1"/>
          </p:cNvPicPr>
          <p:nvPr/>
        </p:nvPicPr>
        <p:blipFill>
          <a:blip r:embed="rId3"/>
          <a:stretch>
            <a:fillRect/>
          </a:stretch>
        </p:blipFill>
        <p:spPr>
          <a:xfrm>
            <a:off x="7344886" y="1969261"/>
            <a:ext cx="2257810" cy="1509767"/>
          </a:xfrm>
          <a:prstGeom prst="rect">
            <a:avLst/>
          </a:prstGeom>
        </p:spPr>
      </p:pic>
      <p:cxnSp>
        <p:nvCxnSpPr>
          <p:cNvPr id="6" name="Straight Arrow Connector 5">
            <a:extLst>
              <a:ext uri="{FF2B5EF4-FFF2-40B4-BE49-F238E27FC236}">
                <a16:creationId xmlns:a16="http://schemas.microsoft.com/office/drawing/2014/main" id="{1CF9D283-0BE3-4211-9C24-96F49A398B87}"/>
              </a:ext>
            </a:extLst>
          </p:cNvPr>
          <p:cNvCxnSpPr>
            <a:cxnSpLocks/>
          </p:cNvCxnSpPr>
          <p:nvPr/>
        </p:nvCxnSpPr>
        <p:spPr bwMode="auto">
          <a:xfrm>
            <a:off x="461814" y="3962400"/>
            <a:ext cx="2788042" cy="0"/>
          </a:xfrm>
          <a:prstGeom prst="straightConnector1">
            <a:avLst/>
          </a:prstGeom>
          <a:noFill/>
          <a:ln w="9525" cap="flat" cmpd="sng" algn="ctr">
            <a:solidFill>
              <a:schemeClr val="tx1"/>
            </a:solidFill>
            <a:prstDash val="solid"/>
            <a:round/>
            <a:headEnd type="triangle"/>
            <a:tailEnd type="triangle"/>
          </a:ln>
          <a:effectLst/>
        </p:spPr>
      </p:cxnSp>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4"/>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0" hangingPunct="0">
              <a:defRPr/>
            </a:pPr>
            <a:r>
              <a:rPr lang="en-US" altLang="ko-KR" sz="1600" b="1" kern="0" dirty="0">
                <a:latin typeface="Arial Narrow" panose="020B0606020202030204" pitchFamily="34" charset="0"/>
                <a:ea typeface="LG스마트체 Regular" panose="020B0600000101010101" pitchFamily="50" charset="-127"/>
              </a:rPr>
              <a:t>1.3 Define Project Y</a:t>
            </a:r>
            <a:endParaRPr lang="ko-KR" altLang="en-US" sz="1600" b="1" kern="0" dirty="0">
              <a:latin typeface="Arial Narrow" panose="020B0606020202030204" pitchFamily="34" charset="0"/>
              <a:ea typeface="LG스마트체 Regular" panose="020B0600000101010101" pitchFamily="50" charset="-127"/>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0"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a:r>
              <a:rPr sz="1000" b="0">
                <a:latin typeface="Arial"/>
              </a:rPr>
              <a:t>05 / 33</a:t>
            </a:r>
          </a:p>
          <a:p>
            <a:pPr algn="ctr"/>
            <a:endParaRPr lang="ko-KR" altLang="en-US" sz="1200" dirty="0">
              <a:solidFill>
                <a:prstClr val="black">
                  <a:tint val="75000"/>
                </a:prstClr>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 name="Rectangle 1">
            <a:extLst>
              <a:ext uri="{FF2B5EF4-FFF2-40B4-BE49-F238E27FC236}">
                <a16:creationId xmlns:a16="http://schemas.microsoft.com/office/drawing/2014/main" id="{CB35B87B-F8D3-4412-A631-FE92C5556A7C}"/>
              </a:ext>
            </a:extLst>
          </p:cNvPr>
          <p:cNvSpPr/>
          <p:nvPr/>
        </p:nvSpPr>
        <p:spPr>
          <a:xfrm>
            <a:off x="207432" y="686965"/>
            <a:ext cx="8284633" cy="276999"/>
          </a:xfrm>
          <a:prstGeom prst="rect">
            <a:avLst/>
          </a:prstGeom>
        </p:spPr>
        <p:txBody>
          <a:bodyPr wrap="square">
            <a:spAutoFit/>
          </a:bodyPr>
          <a:lstStyle/>
          <a:p>
            <a:r>
              <a:rPr lang="en-US" sz="1100" dirty="0">
                <a:latin typeface="Arial" panose="020B0600000101010101" pitchFamily="34" charset="-127"/>
                <a:ea typeface="Arial" panose="020B0600000101010101" pitchFamily="34" charset="-127"/>
                <a:cs typeface="Arial" panose="020B0604020202020204" pitchFamily="34" charset="0"/>
              </a:rPr>
              <a:t>To reduce the luminance test value NG, Project Y is formed :“Luminance value "</a:t>
            </a:r>
          </a:p>
        </p:txBody>
      </p:sp>
      <p:sp>
        <p:nvSpPr>
          <p:cNvPr id="19" name="Rectangle 18">
            <a:extLst>
              <a:ext uri="{FF2B5EF4-FFF2-40B4-BE49-F238E27FC236}">
                <a16:creationId xmlns:a16="http://schemas.microsoft.com/office/drawing/2014/main" id="{242EAB6C-D76B-40D5-8D75-24A6F062710A}"/>
              </a:ext>
            </a:extLst>
          </p:cNvPr>
          <p:cNvSpPr/>
          <p:nvPr/>
        </p:nvSpPr>
        <p:spPr>
          <a:xfrm>
            <a:off x="1828804" y="1179270"/>
            <a:ext cx="1654229" cy="276999"/>
          </a:xfrm>
          <a:prstGeom prst="rect">
            <a:avLst/>
          </a:prstGeom>
          <a:solidFill>
            <a:schemeClr val="bg1">
              <a:lumMod val="75000"/>
            </a:schemeClr>
          </a:solidFill>
        </p:spPr>
        <p:txBody>
          <a:bodyPr wrap="square">
            <a:spAutoFit/>
          </a:bodyPr>
          <a:lstStyle/>
          <a:p>
            <a:pPr algn="ctr"/>
            <a:r>
              <a:rPr lang="en-US" sz="1100" b="1" dirty="0">
                <a:latin typeface="Arial" panose="020B0600000101010101" pitchFamily="34" charset="-127"/>
                <a:ea typeface="Arial" panose="020B0600000101010101" pitchFamily="34" charset="-127"/>
                <a:cs typeface="Arial" panose="020B0604020202020204" pitchFamily="34" charset="0"/>
              </a:rPr>
              <a:t> What is Luminance ?</a:t>
            </a:r>
          </a:p>
        </p:txBody>
      </p:sp>
      <p:sp>
        <p:nvSpPr>
          <p:cNvPr id="20" name="Rectangle 19">
            <a:extLst>
              <a:ext uri="{FF2B5EF4-FFF2-40B4-BE49-F238E27FC236}">
                <a16:creationId xmlns:a16="http://schemas.microsoft.com/office/drawing/2014/main" id="{D405AB4F-F26F-45A9-8F7F-C5783CC870BF}"/>
              </a:ext>
            </a:extLst>
          </p:cNvPr>
          <p:cNvSpPr/>
          <p:nvPr/>
        </p:nvSpPr>
        <p:spPr>
          <a:xfrm>
            <a:off x="7095071" y="1179270"/>
            <a:ext cx="982125" cy="276998"/>
          </a:xfrm>
          <a:prstGeom prst="rect">
            <a:avLst/>
          </a:prstGeom>
          <a:solidFill>
            <a:schemeClr val="bg1">
              <a:lumMod val="75000"/>
            </a:schemeClr>
          </a:solidFill>
        </p:spPr>
        <p:txBody>
          <a:bodyPr wrap="square">
            <a:spAutoFit/>
          </a:bodyPr>
          <a:lstStyle/>
          <a:p>
            <a:pPr algn="ctr"/>
            <a:r>
              <a:rPr lang="en-US" sz="1100" b="1" dirty="0">
                <a:latin typeface="Arial" panose="020B0600000101010101" pitchFamily="34" charset="-127"/>
                <a:ea typeface="Arial" panose="020B0600000101010101" pitchFamily="34" charset="-127"/>
                <a:cs typeface="Arial" panose="020B0604020202020204" pitchFamily="34" charset="0"/>
              </a:rPr>
              <a:t>Project Y</a:t>
            </a:r>
          </a:p>
        </p:txBody>
      </p:sp>
      <p:sp>
        <p:nvSpPr>
          <p:cNvPr id="27" name="Rectangle 26">
            <a:extLst>
              <a:ext uri="{FF2B5EF4-FFF2-40B4-BE49-F238E27FC236}">
                <a16:creationId xmlns:a16="http://schemas.microsoft.com/office/drawing/2014/main" id="{E1F16C62-F577-40B3-8AB6-3B7E6758EDA6}"/>
              </a:ext>
            </a:extLst>
          </p:cNvPr>
          <p:cNvSpPr/>
          <p:nvPr/>
        </p:nvSpPr>
        <p:spPr>
          <a:xfrm>
            <a:off x="283394" y="1665339"/>
            <a:ext cx="4606191" cy="1277273"/>
          </a:xfrm>
          <a:prstGeom prst="rect">
            <a:avLst/>
          </a:prstGeom>
        </p:spPr>
        <p:txBody>
          <a:bodyPr wrap="square">
            <a:spAutoFit/>
          </a:bodyPr>
          <a:lstStyle/>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Luminance value is a term in the field of imaging and light source of LCD.</a:t>
            </a:r>
          </a:p>
          <a:p>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Luminance can be used to show how well a screen performs </a:t>
            </a:r>
          </a:p>
          <a:p>
            <a:r>
              <a:rPr lang="en-US" sz="1100" dirty="0">
                <a:latin typeface="Arial" panose="020B0600000101010101" pitchFamily="34" charset="-127"/>
                <a:ea typeface="Arial" panose="020B0600000101010101" pitchFamily="34" charset="-127"/>
                <a:cs typeface="Arial" panose="020B0604020202020204" pitchFamily="34" charset="0"/>
              </a:rPr>
              <a:t>    such as brightness level, Contrast, Color accuracy, Viewing Angles.</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61" name="Rectangle 60">
            <a:extLst>
              <a:ext uri="{FF2B5EF4-FFF2-40B4-BE49-F238E27FC236}">
                <a16:creationId xmlns:a16="http://schemas.microsoft.com/office/drawing/2014/main" id="{D96E2486-3128-4120-9217-9F837F3982C6}"/>
              </a:ext>
            </a:extLst>
          </p:cNvPr>
          <p:cNvSpPr/>
          <p:nvPr/>
        </p:nvSpPr>
        <p:spPr>
          <a:xfrm>
            <a:off x="5169435" y="1660181"/>
            <a:ext cx="4472313" cy="430887"/>
          </a:xfrm>
          <a:prstGeom prst="rect">
            <a:avLst/>
          </a:prstGeom>
        </p:spPr>
        <p:txBody>
          <a:bodyPr wrap="square">
            <a:spAutoFit/>
          </a:bodyPr>
          <a:lstStyle/>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project was selected as “Luminance value" of the Porsche CID J1 Dual model.</a:t>
            </a:r>
          </a:p>
        </p:txBody>
      </p:sp>
      <p:sp>
        <p:nvSpPr>
          <p:cNvPr id="118" name="Rectangle 117">
            <a:extLst>
              <a:ext uri="{FF2B5EF4-FFF2-40B4-BE49-F238E27FC236}">
                <a16:creationId xmlns:a16="http://schemas.microsoft.com/office/drawing/2014/main" id="{191C40F2-5603-4149-B4BA-529994C06C94}"/>
              </a:ext>
            </a:extLst>
          </p:cNvPr>
          <p:cNvSpPr/>
          <p:nvPr/>
        </p:nvSpPr>
        <p:spPr bwMode="auto">
          <a:xfrm>
            <a:off x="63500" y="1557871"/>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sp>
        <p:nvSpPr>
          <p:cNvPr id="120" name="Rectangle 119">
            <a:extLst>
              <a:ext uri="{FF2B5EF4-FFF2-40B4-BE49-F238E27FC236}">
                <a16:creationId xmlns:a16="http://schemas.microsoft.com/office/drawing/2014/main" id="{100A0EA0-F5A9-436D-9D0E-8A7F23604522}"/>
              </a:ext>
            </a:extLst>
          </p:cNvPr>
          <p:cNvSpPr/>
          <p:nvPr/>
        </p:nvSpPr>
        <p:spPr bwMode="auto">
          <a:xfrm>
            <a:off x="4953085" y="1557866"/>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grpSp>
        <p:nvGrpSpPr>
          <p:cNvPr id="23" name="Group 22">
            <a:extLst>
              <a:ext uri="{FF2B5EF4-FFF2-40B4-BE49-F238E27FC236}">
                <a16:creationId xmlns:a16="http://schemas.microsoft.com/office/drawing/2014/main" id="{B3510BD3-45E9-4C25-A573-941E65C8BB4E}"/>
              </a:ext>
            </a:extLst>
          </p:cNvPr>
          <p:cNvGrpSpPr/>
          <p:nvPr/>
        </p:nvGrpSpPr>
        <p:grpSpPr>
          <a:xfrm>
            <a:off x="461814" y="2760869"/>
            <a:ext cx="4092785" cy="1430131"/>
            <a:chOff x="2874491" y="438296"/>
            <a:chExt cx="6320086" cy="3164992"/>
          </a:xfrm>
        </p:grpSpPr>
        <p:sp>
          <p:nvSpPr>
            <p:cNvPr id="32" name="Rectangle 31">
              <a:extLst>
                <a:ext uri="{FF2B5EF4-FFF2-40B4-BE49-F238E27FC236}">
                  <a16:creationId xmlns:a16="http://schemas.microsoft.com/office/drawing/2014/main" id="{D39F5129-BAF6-46F3-A235-D0CF5CD6BD42}"/>
                </a:ext>
              </a:extLst>
            </p:cNvPr>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3" name="Rectangle 32">
              <a:extLst>
                <a:ext uri="{FF2B5EF4-FFF2-40B4-BE49-F238E27FC236}">
                  <a16:creationId xmlns:a16="http://schemas.microsoft.com/office/drawing/2014/main" id="{67C9F4A3-9565-4093-84E6-8D3A1DD83121}"/>
                </a:ext>
              </a:extLst>
            </p:cNvPr>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anose="020B0600000101010101" pitchFamily="34" charset="-127"/>
                  <a:ea typeface="Arial" panose="020B0600000101010101" pitchFamily="34" charset="-127"/>
                </a:rPr>
                <a:t>+</a:t>
              </a:r>
            </a:p>
          </p:txBody>
        </p:sp>
        <p:cxnSp>
          <p:nvCxnSpPr>
            <p:cNvPr id="34" name="Straight Connector 33">
              <a:extLst>
                <a:ext uri="{FF2B5EF4-FFF2-40B4-BE49-F238E27FC236}">
                  <a16:creationId xmlns:a16="http://schemas.microsoft.com/office/drawing/2014/main" id="{9828F0AD-5A19-4D73-BB8A-65B8CDAD978F}"/>
                </a:ext>
              </a:extLst>
            </p:cNvPr>
            <p:cNvCxnSpPr>
              <a:stCxn id="33" idx="0"/>
              <a:endCxn id="32"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F564BEA-F1BC-4357-9354-0C15C28CF1A0}"/>
                </a:ext>
              </a:extLst>
            </p:cNvPr>
            <p:cNvCxnSpPr>
              <a:stCxn id="37"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4767A0C-8332-4F58-BE3F-9B731132E6BA}"/>
                </a:ext>
              </a:extLst>
            </p:cNvPr>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7" name="Rectangle 36">
              <a:extLst>
                <a:ext uri="{FF2B5EF4-FFF2-40B4-BE49-F238E27FC236}">
                  <a16:creationId xmlns:a16="http://schemas.microsoft.com/office/drawing/2014/main" id="{56B4BDCF-6360-4CDC-B5A9-CF549A2654F6}"/>
                </a:ext>
              </a:extLst>
            </p:cNvPr>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8" name="TextBox 37">
              <a:extLst>
                <a:ext uri="{FF2B5EF4-FFF2-40B4-BE49-F238E27FC236}">
                  <a16:creationId xmlns:a16="http://schemas.microsoft.com/office/drawing/2014/main" id="{D1EA06A3-30E7-4165-AE11-51957BBD9466}"/>
                </a:ext>
              </a:extLst>
            </p:cNvPr>
            <p:cNvSpPr txBox="1"/>
            <p:nvPr/>
          </p:nvSpPr>
          <p:spPr>
            <a:xfrm>
              <a:off x="3592976" y="2795782"/>
              <a:ext cx="831445" cy="613020"/>
            </a:xfrm>
            <a:prstGeom prst="rect">
              <a:avLst/>
            </a:prstGeom>
            <a:noFill/>
          </p:spPr>
          <p:txBody>
            <a:bodyPr wrap="square" rtlCol="0">
              <a:spAutoFit/>
            </a:bodyPr>
            <a:lstStyle/>
            <a:p>
              <a:pPr algn="ctr"/>
              <a:r>
                <a:rPr lang="en-US" sz="600" dirty="0">
                  <a:latin typeface="Arial" panose="020B0600000101010101" pitchFamily="34" charset="-127"/>
                  <a:ea typeface="Arial" panose="020B0600000101010101" pitchFamily="34" charset="-127"/>
                </a:rPr>
                <a:t>Camera</a:t>
              </a:r>
            </a:p>
            <a:p>
              <a:pPr algn="ctr"/>
              <a:r>
                <a:rPr lang="en-US" sz="600" dirty="0">
                  <a:latin typeface="Arial" panose="020B0600000101010101" pitchFamily="34" charset="-127"/>
                  <a:ea typeface="Arial" panose="020B0600000101010101" pitchFamily="34" charset="-127"/>
                </a:rPr>
                <a:t>CS2000</a:t>
              </a:r>
            </a:p>
          </p:txBody>
        </p:sp>
        <p:sp>
          <p:nvSpPr>
            <p:cNvPr id="39" name="TextBox 38">
              <a:extLst>
                <a:ext uri="{FF2B5EF4-FFF2-40B4-BE49-F238E27FC236}">
                  <a16:creationId xmlns:a16="http://schemas.microsoft.com/office/drawing/2014/main" id="{9C1C1BAD-EBC5-4492-96B1-BDA3AF775ABC}"/>
                </a:ext>
              </a:extLst>
            </p:cNvPr>
            <p:cNvSpPr txBox="1"/>
            <p:nvPr/>
          </p:nvSpPr>
          <p:spPr>
            <a:xfrm>
              <a:off x="3742627" y="438296"/>
              <a:ext cx="55992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PID</a:t>
              </a:r>
            </a:p>
          </p:txBody>
        </p:sp>
        <p:sp>
          <p:nvSpPr>
            <p:cNvPr id="40" name="TextBox 39">
              <a:extLst>
                <a:ext uri="{FF2B5EF4-FFF2-40B4-BE49-F238E27FC236}">
                  <a16:creationId xmlns:a16="http://schemas.microsoft.com/office/drawing/2014/main" id="{E22AE40D-F801-4C4A-9EF9-F9D2A39F3647}"/>
                </a:ext>
              </a:extLst>
            </p:cNvPr>
            <p:cNvSpPr txBox="1"/>
            <p:nvPr/>
          </p:nvSpPr>
          <p:spPr>
            <a:xfrm>
              <a:off x="5819778" y="438296"/>
              <a:ext cx="56487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CID</a:t>
              </a:r>
            </a:p>
          </p:txBody>
        </p:sp>
        <p:sp>
          <p:nvSpPr>
            <p:cNvPr id="45" name="TextBox 44">
              <a:extLst>
                <a:ext uri="{FF2B5EF4-FFF2-40B4-BE49-F238E27FC236}">
                  <a16:creationId xmlns:a16="http://schemas.microsoft.com/office/drawing/2014/main" id="{12BE85C0-15EE-41DE-B564-360A2B3B0D71}"/>
                </a:ext>
              </a:extLst>
            </p:cNvPr>
            <p:cNvSpPr txBox="1"/>
            <p:nvPr/>
          </p:nvSpPr>
          <p:spPr>
            <a:xfrm>
              <a:off x="7250924" y="1094159"/>
              <a:ext cx="1943653"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J1 Dual PPR RHD set</a:t>
              </a:r>
            </a:p>
          </p:txBody>
        </p:sp>
      </p:grpSp>
      <p:sp>
        <p:nvSpPr>
          <p:cNvPr id="47" name="Rectangle 46">
            <a:extLst>
              <a:ext uri="{FF2B5EF4-FFF2-40B4-BE49-F238E27FC236}">
                <a16:creationId xmlns:a16="http://schemas.microsoft.com/office/drawing/2014/main" id="{6F77CA24-93D9-4FB1-B981-DD60FB4D2381}"/>
              </a:ext>
            </a:extLst>
          </p:cNvPr>
          <p:cNvSpPr/>
          <p:nvPr/>
        </p:nvSpPr>
        <p:spPr>
          <a:xfrm>
            <a:off x="256209" y="4508325"/>
            <a:ext cx="4580462" cy="600164"/>
          </a:xfrm>
          <a:prstGeom prst="rect">
            <a:avLst/>
          </a:prstGeom>
        </p:spPr>
        <p:txBody>
          <a:bodyPr wrap="square">
            <a:spAutoFit/>
          </a:bodyPr>
          <a:lstStyle/>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sensors inside the detector will have the task of receiving the luminance value at the central of LCD, then calculating and respond to program the Luminance value measurement result.</a:t>
            </a:r>
          </a:p>
        </p:txBody>
      </p:sp>
      <p:sp>
        <p:nvSpPr>
          <p:cNvPr id="48" name="Rectangle 47">
            <a:extLst>
              <a:ext uri="{FF2B5EF4-FFF2-40B4-BE49-F238E27FC236}">
                <a16:creationId xmlns:a16="http://schemas.microsoft.com/office/drawing/2014/main" id="{A6E5C9F6-7913-475A-85E1-43C17ABA4F1D}"/>
              </a:ext>
            </a:extLst>
          </p:cNvPr>
          <p:cNvSpPr/>
          <p:nvPr/>
        </p:nvSpPr>
        <p:spPr>
          <a:xfrm>
            <a:off x="256208" y="5267236"/>
            <a:ext cx="4720152" cy="600164"/>
          </a:xfrm>
          <a:prstGeom prst="rect">
            <a:avLst/>
          </a:prstGeom>
        </p:spPr>
        <p:txBody>
          <a:bodyPr wrap="square">
            <a:spAutoFit/>
          </a:bodyPr>
          <a:lstStyle/>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Issue: The Luminance values ​​measured at the PID screen is lower than the average compared value. This leads to a Luminance values test under spec.</a:t>
            </a:r>
          </a:p>
        </p:txBody>
      </p:sp>
      <p:grpSp>
        <p:nvGrpSpPr>
          <p:cNvPr id="9" name="Group 8">
            <a:extLst>
              <a:ext uri="{FF2B5EF4-FFF2-40B4-BE49-F238E27FC236}">
                <a16:creationId xmlns:a16="http://schemas.microsoft.com/office/drawing/2014/main" id="{D70DAEF3-BCAB-4209-A697-FA691623BE35}"/>
              </a:ext>
            </a:extLst>
          </p:cNvPr>
          <p:cNvGrpSpPr/>
          <p:nvPr/>
        </p:nvGrpSpPr>
        <p:grpSpPr>
          <a:xfrm>
            <a:off x="5059910" y="4454756"/>
            <a:ext cx="4845498" cy="2026116"/>
            <a:chOff x="5057775" y="4374684"/>
            <a:chExt cx="4673065" cy="2026116"/>
          </a:xfrm>
        </p:grpSpPr>
        <p:sp>
          <p:nvSpPr>
            <p:cNvPr id="25" name="Rectangle 24">
              <a:extLst>
                <a:ext uri="{FF2B5EF4-FFF2-40B4-BE49-F238E27FC236}">
                  <a16:creationId xmlns:a16="http://schemas.microsoft.com/office/drawing/2014/main" id="{19DBA1ED-3148-49D7-A167-BF35898176B1}"/>
                </a:ext>
              </a:extLst>
            </p:cNvPr>
            <p:cNvSpPr/>
            <p:nvPr/>
          </p:nvSpPr>
          <p:spPr>
            <a:xfrm>
              <a:off x="5057775" y="6139190"/>
              <a:ext cx="4472313" cy="261610"/>
            </a:xfrm>
            <a:prstGeom prst="rect">
              <a:avLst/>
            </a:prstGeom>
          </p:spPr>
          <p:txBody>
            <a:bodyPr wrap="square">
              <a:spAutoFit/>
            </a:bodyPr>
            <a:lstStyle/>
            <a:p>
              <a:pPr marL="171450" indent="-171450">
                <a:buFont typeface="Arial" panose="020B0604020202020204" pitchFamily="34" charset="0"/>
                <a:buChar char="•"/>
              </a:pPr>
              <a:r>
                <a:rPr lang="en-US" sz="1100" b="1" dirty="0">
                  <a:latin typeface="Arial" panose="020B0600000101010101" pitchFamily="34" charset="-127"/>
                  <a:ea typeface="Arial" panose="020B0600000101010101" pitchFamily="34" charset="-127"/>
                  <a:cs typeface="Arial" panose="020B0604020202020204" pitchFamily="34" charset="0"/>
                </a:rPr>
                <a:t>Project Y= Luminance value = f(x1,x2,..x5) + e</a:t>
              </a:r>
            </a:p>
          </p:txBody>
        </p:sp>
        <p:sp>
          <p:nvSpPr>
            <p:cNvPr id="49" name="Rectangle 48">
              <a:extLst>
                <a:ext uri="{FF2B5EF4-FFF2-40B4-BE49-F238E27FC236}">
                  <a16:creationId xmlns:a16="http://schemas.microsoft.com/office/drawing/2014/main" id="{FE2864A1-6435-4223-BFD7-661C15F6E3E5}"/>
                </a:ext>
              </a:extLst>
            </p:cNvPr>
            <p:cNvSpPr/>
            <p:nvPr/>
          </p:nvSpPr>
          <p:spPr>
            <a:xfrm>
              <a:off x="5057775" y="4374684"/>
              <a:ext cx="4673065" cy="1785104"/>
            </a:xfrm>
            <a:prstGeom prst="rect">
              <a:avLst/>
            </a:prstGeom>
          </p:spPr>
          <p:txBody>
            <a:bodyPr wrap="square">
              <a:spAutoFit/>
            </a:bodyPr>
            <a:lstStyle/>
            <a:p>
              <a:r>
                <a:rPr lang="en-US" sz="1100" dirty="0">
                  <a:latin typeface="Arial" panose="020B0600000101010101" pitchFamily="34" charset="-127"/>
                  <a:ea typeface="Arial" panose="020B0600000101010101" pitchFamily="34" charset="-127"/>
                  <a:cs typeface="Arial" panose="020B0604020202020204" pitchFamily="34" charset="0"/>
                </a:rPr>
                <a:t>Method measure:</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set screen connected to bench, when program send the request for display perform at the highest brightness level </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J1 Display shows up the White screen with maximum brightness</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Detector CS2000 move to the central of PID LCD and the sensor recognize the central of display and measure Luminance level. </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Because the central always have the better brightness than the corner and edges, detector must be right place to measure the best value.</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result will be recorded and send back to the program.</a:t>
              </a:r>
            </a:p>
          </p:txBody>
        </p:sp>
      </p:gr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5DF5708-2DFB-4E65-8558-59C7418E7751}"/>
                  </a:ext>
                </a:extLst>
              </p:cNvPr>
              <p:cNvSpPr/>
              <p:nvPr/>
            </p:nvSpPr>
            <p:spPr>
              <a:xfrm>
                <a:off x="5161251" y="2277557"/>
                <a:ext cx="4673065" cy="2177199"/>
              </a:xfrm>
              <a:prstGeom prst="rect">
                <a:avLst/>
              </a:prstGeom>
            </p:spPr>
            <p:txBody>
              <a:bodyPr wrap="square">
                <a:spAutoFit/>
              </a:bodyPr>
              <a:lstStyle/>
              <a:p>
                <a:r>
                  <a:rPr lang="en-US" sz="1100" dirty="0">
                    <a:latin typeface="LG Smart_H Regular" panose="020B0600000101010101" pitchFamily="34" charset="-127"/>
                    <a:ea typeface="LG Smart_H Regular" panose="020B0600000101010101" pitchFamily="34" charset="-127"/>
                    <a:cs typeface="Arial" panose="020B0604020202020204" pitchFamily="34" charset="0"/>
                  </a:rPr>
                  <a:t>Luminance formula:</a:t>
                </a:r>
              </a:p>
              <a:p>
                <a:pPr/>
                <a14:m>
                  <m:oMathPara xmlns:m="http://schemas.openxmlformats.org/officeDocument/2006/math">
                    <m:oMathParaPr>
                      <m:jc m:val="left"/>
                    </m:oMathParaPr>
                    <m:oMath xmlns:m="http://schemas.openxmlformats.org/officeDocument/2006/math">
                      <m:r>
                        <a:rPr lang="en-US" sz="1100">
                          <a:latin typeface="Cambria Math" panose="02040503050406030204" pitchFamily="18" charset="0"/>
                        </a:rPr>
                        <m:t>𝑳𝒖𝒎𝒊𝒏𝒂𝒏𝒄𝒆</m:t>
                      </m:r>
                      <m:r>
                        <a:rPr lang="en-US" sz="1100">
                          <a:latin typeface="Cambria Math" panose="02040503050406030204" pitchFamily="18" charset="0"/>
                        </a:rPr>
                        <m:t> </m:t>
                      </m:r>
                      <m:r>
                        <a:rPr lang="en-US" sz="1100">
                          <a:latin typeface="Cambria Math" panose="02040503050406030204" pitchFamily="18" charset="0"/>
                        </a:rPr>
                        <m:t>𝒗𝒂𝒍𝒖𝒆</m:t>
                      </m:r>
                      <m:r>
                        <a:rPr lang="en-US" sz="1100">
                          <a:latin typeface="Cambria Math" panose="02040503050406030204" pitchFamily="18" charset="0"/>
                        </a:rPr>
                        <m:t>=</m:t>
                      </m:r>
                      <m:f>
                        <m:fPr>
                          <m:ctrlPr>
                            <a:rPr lang="en-US" sz="1100" i="1">
                              <a:latin typeface="Cambria Math" panose="02040503050406030204" pitchFamily="18" charset="0"/>
                            </a:rPr>
                          </m:ctrlPr>
                        </m:fPr>
                        <m:num>
                          <m:r>
                            <m:rPr>
                              <m:nor/>
                            </m:rPr>
                            <a:rPr lang="en-US" sz="1100">
                              <a:latin typeface="LG Smart_H Regular" panose="020B0600000101010101" pitchFamily="34" charset="-127"/>
                              <a:ea typeface="LG Smart_H Regular" panose="020B0600000101010101" pitchFamily="34" charset="-127"/>
                              <a:cs typeface="Arial" panose="020B0604020202020204" pitchFamily="34" charset="0"/>
                            </a:rPr>
                            <m:t>d</m:t>
                          </m:r>
                          <m:r>
                            <m:rPr>
                              <m:nor/>
                            </m:rPr>
                            <a:rPr lang="en-US" sz="1100" baseline="30000">
                              <a:latin typeface="LG Smart_H Regular" panose="020B0600000101010101" pitchFamily="34" charset="-127"/>
                              <a:ea typeface="LG Smart_H Regular" panose="020B0600000101010101" pitchFamily="34" charset="-127"/>
                              <a:cs typeface="Arial" panose="020B0604020202020204" pitchFamily="34" charset="0"/>
                            </a:rPr>
                            <m:t>2</m:t>
                          </m:r>
                          <m:r>
                            <m:rPr>
                              <m:nor/>
                            </m:rPr>
                            <a:rPr lang="en-US" sz="1100" b="0" i="0" baseline="30000" smtClean="0">
                              <a:latin typeface="LG Smart_H Regular" panose="020B0600000101010101" pitchFamily="34" charset="-127"/>
                              <a:ea typeface="LG Smart_H Regular" panose="020B0600000101010101" pitchFamily="34" charset="-127"/>
                              <a:cs typeface="Arial" panose="020B0604020202020204" pitchFamily="34" charset="0"/>
                            </a:rPr>
                            <m:t> </m:t>
                          </m:r>
                          <m:r>
                            <m:rPr>
                              <m:nor/>
                            </m:rPr>
                            <a:rPr lang="el-GR" sz="1100">
                              <a:ea typeface="LG Smart_H Regular" panose="020B0600000101010101" pitchFamily="34" charset="-127"/>
                              <a:cs typeface="Arial" panose="020B0604020202020204" pitchFamily="34" charset="0"/>
                            </a:rPr>
                            <m:t>Φ</m:t>
                          </m:r>
                        </m:num>
                        <m:den>
                          <m:r>
                            <m:rPr>
                              <m:nor/>
                            </m:rPr>
                            <a:rPr lang="en-US" sz="1100">
                              <a:latin typeface="LG Smart_H Regular" panose="020B0600000101010101" pitchFamily="34" charset="-127"/>
                              <a:ea typeface="LG Smart_H Regular" panose="020B0600000101010101" pitchFamily="34" charset="-127"/>
                              <a:cs typeface="Arial" panose="020B0604020202020204" pitchFamily="34" charset="0"/>
                            </a:rPr>
                            <m:t>d</m:t>
                          </m:r>
                          <m:r>
                            <m:rPr>
                              <m:nor/>
                            </m:rPr>
                            <a:rPr lang="en-US" sz="1100" b="0" i="0" baseline="-25000" smtClean="0">
                              <a:latin typeface="LG Smart_H Regular" panose="020B0600000101010101" pitchFamily="34" charset="-127"/>
                              <a:ea typeface="LG Smart_H Regular" panose="020B0600000101010101" pitchFamily="34" charset="-127"/>
                              <a:cs typeface="Arial" panose="020B0604020202020204" pitchFamily="34" charset="0"/>
                            </a:rPr>
                            <m:t>A</m:t>
                          </m:r>
                          <m:r>
                            <m:rPr>
                              <m:nor/>
                            </m:rPr>
                            <a:rPr lang="en-US" sz="1100" b="0" i="0" smtClean="0">
                              <a:ea typeface="LG Smart_H Regular" panose="020B0600000101010101" pitchFamily="34" charset="-127"/>
                              <a:cs typeface="Arial" panose="020B0604020202020204" pitchFamily="34" charset="0"/>
                            </a:rPr>
                            <m:t> </m:t>
                          </m:r>
                          <m:r>
                            <m:rPr>
                              <m:nor/>
                            </m:rPr>
                            <a:rPr lang="en-US" sz="1100">
                              <a:latin typeface="LG Smart_H Regular" panose="020B0600000101010101" pitchFamily="34" charset="-127"/>
                              <a:ea typeface="LG Smart_H Regular" panose="020B0600000101010101" pitchFamily="34" charset="-127"/>
                              <a:cs typeface="Arial" panose="020B0604020202020204" pitchFamily="34" charset="0"/>
                            </a:rPr>
                            <m:t>d</m:t>
                          </m:r>
                          <m:r>
                            <m:rPr>
                              <m:nor/>
                            </m:rPr>
                            <a:rPr lang="el-GR" sz="1100"/>
                            <m:t>ω</m:t>
                          </m:r>
                          <m:r>
                            <m:rPr>
                              <m:nor/>
                            </m:rPr>
                            <a:rPr lang="el-GR" sz="1100">
                              <a:ea typeface="LG Smart_H Regular" panose="020B0600000101010101" pitchFamily="34" charset="-127"/>
                              <a:cs typeface="Arial" panose="020B0604020202020204" pitchFamily="34" charset="0"/>
                            </a:rPr>
                            <m:t>Σ</m:t>
                          </m:r>
                          <m:r>
                            <m:rPr>
                              <m:nor/>
                            </m:rPr>
                            <a:rPr lang="en-US" sz="1100" b="0" i="0" smtClean="0">
                              <a:ea typeface="LG Smart_H Regular" panose="020B0600000101010101" pitchFamily="34" charset="-127"/>
                              <a:cs typeface="Arial" panose="020B0604020202020204" pitchFamily="34" charset="0"/>
                            </a:rPr>
                            <m:t> </m:t>
                          </m:r>
                          <m:r>
                            <m:rPr>
                              <m:nor/>
                            </m:rPr>
                            <a:rPr lang="en-US" sz="1100">
                              <a:latin typeface="LG Smart_H Regular" panose="020B0600000101010101" pitchFamily="34" charset="-127"/>
                              <a:ea typeface="LG Smart_H Regular" panose="020B0600000101010101" pitchFamily="34" charset="-127"/>
                              <a:cs typeface="Arial" panose="020B0604020202020204" pitchFamily="34" charset="0"/>
                            </a:rPr>
                            <m:t>c</m:t>
                          </m:r>
                          <m:r>
                            <a:rPr lang="en-US" sz="1100">
                              <a:latin typeface="Cambria Math" panose="02040503050406030204" pitchFamily="18" charset="0"/>
                            </a:rPr>
                            <m:t>𝑜𝑠</m:t>
                          </m:r>
                          <m:r>
                            <m:rPr>
                              <m:nor/>
                            </m:rPr>
                            <a:rPr lang="el-GR" sz="1100" i="1">
                              <a:ea typeface="LG Smart_H Regular" panose="020B0600000101010101" pitchFamily="34" charset="-127"/>
                              <a:cs typeface="Arial" panose="020B0604020202020204" pitchFamily="34" charset="0"/>
                            </a:rPr>
                            <m:t>θ</m:t>
                          </m:r>
                        </m:den>
                      </m:f>
                    </m:oMath>
                  </m:oMathPara>
                </a14:m>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r>
                  <a:rPr lang="en-US" sz="1100" dirty="0">
                    <a:latin typeface="LG Smart_H Regular" panose="020B0600000101010101" pitchFamily="34" charset="-127"/>
                    <a:ea typeface="LG Smart_H Regular" panose="020B0600000101010101" pitchFamily="34" charset="-127"/>
                    <a:cs typeface="Arial" panose="020B0604020202020204" pitchFamily="34" charset="0"/>
                  </a:rPr>
                  <a:t>Spec: 800-2000 (</a:t>
                </a:r>
                <a:r>
                  <a:rPr lang="en-US" sz="1100" i="1" dirty="0">
                    <a:latin typeface="LG Smart_H Regular" panose="020B0600000101010101" pitchFamily="34" charset="-127"/>
                    <a:ea typeface="LG Smart_H Regular" panose="020B0600000101010101" pitchFamily="34" charset="-127"/>
                    <a:cs typeface="Arial" panose="020B0604020202020204" pitchFamily="34" charset="0"/>
                  </a:rPr>
                  <a:t>cd/m</a:t>
                </a:r>
                <a:r>
                  <a:rPr lang="en-US" sz="1100" i="1" baseline="30000" dirty="0">
                    <a:latin typeface="LG Smart_H Regular" panose="020B0600000101010101" pitchFamily="34" charset="-127"/>
                    <a:ea typeface="LG Smart_H Regular" panose="020B0600000101010101" pitchFamily="34" charset="-127"/>
                    <a:cs typeface="Arial" panose="020B0604020202020204" pitchFamily="34" charset="0"/>
                  </a:rPr>
                  <a:t>2</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a:t>
                </a:r>
              </a:p>
              <a:p>
                <a:pPr marL="171450" indent="-171450">
                  <a:buFont typeface="Arial" panose="020B0604020202020204" pitchFamily="34" charset="0"/>
                  <a:buChar char="•"/>
                </a:pPr>
                <a14:m>
                  <m:oMath xmlns:m="http://schemas.openxmlformats.org/officeDocument/2006/math">
                    <m:r>
                      <m:rPr>
                        <m:nor/>
                      </m:rPr>
                      <a:rPr lang="en-US" sz="1100">
                        <a:latin typeface="LG Smart_H Regular" panose="020B0600000101010101" pitchFamily="34" charset="-127"/>
                        <a:ea typeface="LG Smart_H Regular" panose="020B0600000101010101" pitchFamily="34" charset="-127"/>
                        <a:cs typeface="Arial" panose="020B0604020202020204" pitchFamily="34" charset="0"/>
                      </a:rPr>
                      <m:t>d</m:t>
                    </m:r>
                    <m:r>
                      <m:rPr>
                        <m:nor/>
                      </m:rPr>
                      <a:rPr lang="en-US" sz="1100">
                        <a:latin typeface="LG Smart_H Regular" panose="020B0600000101010101" pitchFamily="34" charset="-127"/>
                        <a:ea typeface="LG Smart_H Regular" panose="020B0600000101010101" pitchFamily="34" charset="-127"/>
                        <a:cs typeface="Arial" panose="020B0604020202020204" pitchFamily="34" charset="0"/>
                      </a:rPr>
                      <m:t> </m:t>
                    </m:r>
                    <m:r>
                      <m:rPr>
                        <m:nor/>
                      </m:rPr>
                      <a:rPr lang="el-GR" sz="1100">
                        <a:latin typeface="LG Smart_H Regular" panose="020B0600000101010101" pitchFamily="34" charset="-127"/>
                        <a:ea typeface="LG Smart_H Regular" panose="020B0600000101010101" pitchFamily="34" charset="-127"/>
                        <a:cs typeface="Arial" panose="020B0604020202020204" pitchFamily="34" charset="0"/>
                      </a:rPr>
                      <m:t>Φ</m:t>
                    </m:r>
                    <m:r>
                      <a:rPr lang="el-GR" sz="1100">
                        <a:latin typeface="Cambria Math" panose="02040503050406030204" pitchFamily="18" charset="0"/>
                        <a:ea typeface="LG Smart_H Regular" panose="020B0600000101010101" pitchFamily="34" charset="-127"/>
                        <a:cs typeface="Arial" panose="020B0604020202020204" pitchFamily="34" charset="0"/>
                      </a:rPr>
                      <m:t> </m:t>
                    </m:r>
                  </m:oMath>
                </a14:m>
                <a:r>
                  <a:rPr lang="fr-FR" sz="1100" dirty="0">
                    <a:latin typeface="LG Smart_H Regular" panose="020B0600000101010101" pitchFamily="34" charset="-127"/>
                    <a:ea typeface="LG Smart_H Regular" panose="020B0600000101010101" pitchFamily="34" charset="-127"/>
                    <a:cs typeface="Arial" panose="020B0604020202020204" pitchFamily="34" charset="0"/>
                  </a:rPr>
                  <a:t>stands for the luminous flux in lumens (</a:t>
                </a:r>
                <a:r>
                  <a:rPr lang="fr-FR" sz="1100" i="1" dirty="0">
                    <a:latin typeface="LG Smart_H Regular" panose="020B0600000101010101" pitchFamily="34" charset="-127"/>
                    <a:ea typeface="LG Smart_H Regular" panose="020B0600000101010101" pitchFamily="34" charset="-127"/>
                    <a:cs typeface="Arial" panose="020B0604020202020204" pitchFamily="34" charset="0"/>
                  </a:rPr>
                  <a:t>lm</a:t>
                </a:r>
                <a:r>
                  <a:rPr lang="fr-FR" sz="1100" dirty="0">
                    <a:latin typeface="LG Smart_H Regular" panose="020B0600000101010101" pitchFamily="34" charset="-127"/>
                    <a:ea typeface="LG Smart_H Regular" panose="020B0600000101010101" pitchFamily="34" charset="-127"/>
                    <a:cs typeface="Arial" panose="020B0604020202020204" pitchFamily="34" charset="0"/>
                  </a:rPr>
                  <a:t>)</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LG Smart_H Regular" panose="020B0600000101010101" pitchFamily="34" charset="-127"/>
                    <a:ea typeface="LG Smart_H Regular" panose="020B0600000101010101" pitchFamily="34" charset="-127"/>
                    <a:cs typeface="Arial" panose="020B0604020202020204" pitchFamily="34" charset="0"/>
                  </a:rPr>
                  <a:t>Cos </a:t>
                </a:r>
                <a:r>
                  <a:rPr lang="en-US" sz="1100" i="1" dirty="0">
                    <a:latin typeface="LG Smart_H Regular" panose="020B0600000101010101" pitchFamily="34" charset="-127"/>
                    <a:ea typeface="LG Smart_H Regular" panose="020B0600000101010101" pitchFamily="34" charset="-127"/>
                    <a:cs typeface="Arial" panose="020B0604020202020204" pitchFamily="34" charset="0"/>
                  </a:rPr>
                  <a:t>θ</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 stands for the angle between the display surface and the sight line of detector, in this case, </a:t>
                </a:r>
                <a:r>
                  <a:rPr lang="en-US" sz="1100" i="1" dirty="0">
                    <a:latin typeface="LG Smart_H Regular" panose="020B0600000101010101" pitchFamily="34" charset="-127"/>
                    <a:ea typeface="LG Smart_H Regular" panose="020B0600000101010101" pitchFamily="34" charset="-127"/>
                    <a:cs typeface="Arial" panose="020B0604020202020204" pitchFamily="34" charset="0"/>
                  </a:rPr>
                  <a:t>θ = </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0 degree. </a:t>
                </a:r>
              </a:p>
              <a:p>
                <a:pPr marL="171450" indent="-171450">
                  <a:buFont typeface="Arial" panose="020B0604020202020204" pitchFamily="34" charset="0"/>
                  <a:buChar char="•"/>
                </a:pPr>
                <a14:m>
                  <m:oMath xmlns:m="http://schemas.openxmlformats.org/officeDocument/2006/math">
                    <m:r>
                      <m:rPr>
                        <m:nor/>
                      </m:rPr>
                      <a:rPr lang="en-US" sz="1100" smtClean="0">
                        <a:latin typeface="LG Smart_H Regular" panose="020B0600000101010101" pitchFamily="34" charset="-127"/>
                        <a:ea typeface="LG Smart_H Regular" panose="020B0600000101010101" pitchFamily="34" charset="-127"/>
                        <a:cs typeface="Arial" panose="020B0604020202020204" pitchFamily="34" charset="0"/>
                      </a:rPr>
                      <m:t>d</m:t>
                    </m:r>
                    <m:r>
                      <m:rPr>
                        <m:nor/>
                      </m:rPr>
                      <a:rPr lang="en-US" sz="1100" baseline="-25000" smtClean="0">
                        <a:latin typeface="LG Smart_H Regular" panose="020B0600000101010101" pitchFamily="34" charset="-127"/>
                        <a:ea typeface="LG Smart_H Regular" panose="020B0600000101010101" pitchFamily="34" charset="-127"/>
                        <a:cs typeface="Arial" panose="020B0604020202020204" pitchFamily="34" charset="0"/>
                      </a:rPr>
                      <m:t>A</m:t>
                    </m:r>
                  </m:oMath>
                </a14:m>
                <a:r>
                  <a:rPr lang="en-US" sz="1100" baseline="-25000" dirty="0">
                    <a:latin typeface="LG Smart_H Regular" panose="020B0600000101010101" pitchFamily="34" charset="-127"/>
                    <a:ea typeface="LG Smart_H Regular" panose="020B0600000101010101" pitchFamily="34" charset="-127"/>
                    <a:cs typeface="Arial" panose="020B0604020202020204" pitchFamily="34" charset="0"/>
                  </a:rPr>
                  <a:t> </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stands for differential area in square meters (</a:t>
                </a:r>
                <a:r>
                  <a:rPr lang="en-US" sz="1100" i="1" dirty="0">
                    <a:latin typeface="LG Smart_H Regular" panose="020B0600000101010101" pitchFamily="34" charset="-127"/>
                    <a:ea typeface="LG Smart_H Regular" panose="020B0600000101010101" pitchFamily="34" charset="-127"/>
                    <a:cs typeface="Arial" panose="020B0604020202020204" pitchFamily="34" charset="0"/>
                  </a:rPr>
                  <a:t>m²</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a:t>
                </a:r>
              </a:p>
              <a:p>
                <a:pPr marL="171450" indent="-171450">
                  <a:buFont typeface="Arial" panose="020B0604020202020204" pitchFamily="34" charset="0"/>
                  <a:buChar char="•"/>
                </a:pPr>
                <a14:m>
                  <m:oMath xmlns:m="http://schemas.openxmlformats.org/officeDocument/2006/math">
                    <m:r>
                      <m:rPr>
                        <m:sty m:val="p"/>
                      </m:rPr>
                      <a:rPr lang="en-US" sz="1100" i="1">
                        <a:latin typeface="Cambria Math" panose="02040503050406030204" pitchFamily="18" charset="0"/>
                        <a:ea typeface="LG Smart_H Regular" panose="020B0600000101010101" pitchFamily="34" charset="-127"/>
                        <a:cs typeface="Arial" panose="020B0604020202020204" pitchFamily="34" charset="0"/>
                      </a:rPr>
                      <m:t>d</m:t>
                    </m:r>
                    <m:r>
                      <m:rPr>
                        <m:nor/>
                      </m:rPr>
                      <a:rPr lang="el-GR" sz="1100"/>
                      <m:t>ω</m:t>
                    </m:r>
                  </m:oMath>
                </a14:m>
                <a:r>
                  <a:rPr lang="en-US" sz="1100" dirty="0">
                    <a:latin typeface="LG Smart_H Regular" panose="020B0600000101010101" pitchFamily="34" charset="-127"/>
                    <a:ea typeface="LG Smart_H Regular" panose="020B0600000101010101" pitchFamily="34" charset="-127"/>
                    <a:cs typeface="Arial" panose="020B0604020202020204" pitchFamily="34" charset="0"/>
                  </a:rPr>
                  <a:t> stands for the differential solid angle in steradians (</a:t>
                </a:r>
                <a:r>
                  <a:rPr lang="en-US" sz="1100" i="1" dirty="0">
                    <a:latin typeface="LG Smart_H Regular" panose="020B0600000101010101" pitchFamily="34" charset="-127"/>
                    <a:ea typeface="LG Smart_H Regular" panose="020B0600000101010101" pitchFamily="34" charset="-127"/>
                    <a:cs typeface="Arial" panose="020B0604020202020204" pitchFamily="34" charset="0"/>
                  </a:rPr>
                  <a:t>sr</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mc:Choice>
        <mc:Fallback xmlns="">
          <p:sp>
            <p:nvSpPr>
              <p:cNvPr id="8" name="Rectangle 7">
                <a:extLst>
                  <a:ext uri="{FF2B5EF4-FFF2-40B4-BE49-F238E27FC236}">
                    <a16:creationId xmlns:a16="http://schemas.microsoft.com/office/drawing/2014/main" id="{F5DF5708-2DFB-4E65-8558-59C7418E7751}"/>
                  </a:ext>
                </a:extLst>
              </p:cNvPr>
              <p:cNvSpPr>
                <a:spLocks noRot="1" noChangeAspect="1" noMove="1" noResize="1" noEditPoints="1" noAdjustHandles="1" noChangeArrowheads="1" noChangeShapeType="1" noTextEdit="1"/>
              </p:cNvSpPr>
              <p:nvPr/>
            </p:nvSpPr>
            <p:spPr>
              <a:xfrm>
                <a:off x="5161251" y="2277557"/>
                <a:ext cx="4673065" cy="2177199"/>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1884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28464" y="1031890"/>
            <a:ext cx="3612264" cy="2123658"/>
          </a:xfrm>
          <a:prstGeom prst="rect">
            <a:avLst/>
          </a:prstGeom>
          <a:noFill/>
        </p:spPr>
        <p:txBody>
          <a:bodyPr wrap="square" rtlCol="0">
            <a:spAutoFit/>
          </a:bodyPr>
          <a:lstStyle/>
          <a:p>
            <a:pPr marL="171450" indent="-171450">
              <a:buFont typeface="Wingdings" panose="05000000000000000000" pitchFamily="2" charset="2"/>
              <a:buChar char="q"/>
            </a:pPr>
            <a:r>
              <a:rPr lang="en-US" altLang="ko-KR" sz="1100" b="1" dirty="0">
                <a:latin typeface="Arial" panose="020B0604020202020204" pitchFamily="34" charset="0"/>
                <a:ea typeface="Arial Unicode MS" panose="020B0604020202020204" pitchFamily="34" charset="-128"/>
                <a:cs typeface="Arial" panose="020B0604020202020204" pitchFamily="34" charset="0"/>
              </a:rPr>
              <a:t>Equipment information:</a:t>
            </a:r>
          </a:p>
          <a:p>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285750" indent="-285750">
              <a:buFont typeface="Arial" panose="020B0604020202020204" pitchFamily="34" charset="0"/>
              <a:buChar char="•"/>
            </a:pPr>
            <a:r>
              <a:rPr lang="en-US" altLang="ko-KR" sz="1100" dirty="0">
                <a:latin typeface="Arial" panose="020B0604020202020204" pitchFamily="34" charset="0"/>
                <a:ea typeface="Arial Unicode MS" panose="020B0604020202020204" pitchFamily="34" charset="-128"/>
                <a:cs typeface="Arial" panose="020B0604020202020204" pitchFamily="34" charset="0"/>
              </a:rPr>
              <a:t>Equipment: </a:t>
            </a:r>
          </a:p>
          <a:p>
            <a:r>
              <a:rPr lang="en-US" altLang="ko-KR" sz="1100" dirty="0">
                <a:latin typeface="Arial" panose="020B0604020202020204" pitchFamily="34" charset="0"/>
                <a:ea typeface="Arial Unicode MS" panose="020B0604020202020204" pitchFamily="34" charset="-128"/>
                <a:cs typeface="Arial" panose="020B0604020202020204" pitchFamily="34" charset="0"/>
              </a:rPr>
              <a:t>	- Power supply, Pallet</a:t>
            </a:r>
          </a:p>
          <a:p>
            <a:r>
              <a:rPr lang="en-US" altLang="ko-KR" sz="1100" dirty="0">
                <a:latin typeface="Arial" panose="020B0604020202020204" pitchFamily="34" charset="0"/>
                <a:ea typeface="Arial Unicode MS" panose="020B0604020202020204" pitchFamily="34" charset="-128"/>
                <a:cs typeface="Arial" panose="020B0604020202020204" pitchFamily="34" charset="0"/>
              </a:rPr>
              <a:t>	- CID bench</a:t>
            </a:r>
          </a:p>
          <a:p>
            <a:r>
              <a:rPr lang="en-US" altLang="ko-KR" sz="1100" dirty="0">
                <a:latin typeface="Arial" panose="020B0604020202020204" pitchFamily="34" charset="0"/>
                <a:ea typeface="Arial Unicode MS" panose="020B0604020202020204" pitchFamily="34" charset="-128"/>
                <a:cs typeface="Arial" panose="020B0604020202020204" pitchFamily="34" charset="0"/>
              </a:rPr>
              <a:t>	- CANSIM</a:t>
            </a:r>
          </a:p>
          <a:p>
            <a:r>
              <a:rPr lang="en-US" altLang="ko-KR" sz="1100" dirty="0">
                <a:latin typeface="Arial" panose="020B0604020202020204" pitchFamily="34" charset="0"/>
                <a:ea typeface="Arial Unicode MS" panose="020B0604020202020204" pitchFamily="34" charset="-128"/>
                <a:cs typeface="Arial" panose="020B0604020202020204" pitchFamily="34" charset="0"/>
              </a:rPr>
              <a:t>	- LMK camera CS2000</a:t>
            </a:r>
          </a:p>
          <a:p>
            <a:r>
              <a:rPr lang="en-US" altLang="ko-KR" sz="1100" dirty="0">
                <a:latin typeface="Arial" panose="020B0604020202020204" pitchFamily="34" charset="0"/>
                <a:ea typeface="Arial Unicode MS" panose="020B0604020202020204" pitchFamily="34" charset="-128"/>
                <a:cs typeface="Arial" panose="020B0604020202020204" pitchFamily="34" charset="0"/>
              </a:rPr>
              <a:t>	- Resolution: 0.01 Cd/m</a:t>
            </a:r>
            <a:r>
              <a:rPr lang="en-US" altLang="ko-KR" sz="1100" baseline="30000" dirty="0">
                <a:latin typeface="Arial" panose="020B0604020202020204" pitchFamily="34" charset="0"/>
                <a:ea typeface="Arial Unicode MS" panose="020B0604020202020204" pitchFamily="34" charset="-128"/>
                <a:cs typeface="Arial" panose="020B0604020202020204" pitchFamily="34" charset="0"/>
              </a:rPr>
              <a:t>2</a:t>
            </a:r>
            <a:r>
              <a:rPr lang="en-US" altLang="ko-KR" sz="1100" dirty="0">
                <a:latin typeface="Arial" panose="020B0604020202020204" pitchFamily="34" charset="0"/>
                <a:ea typeface="Arial Unicode MS" panose="020B0604020202020204" pitchFamily="34" charset="-128"/>
                <a:cs typeface="Arial" panose="020B0604020202020204" pitchFamily="34" charset="0"/>
              </a:rPr>
              <a:t>		</a:t>
            </a:r>
          </a:p>
          <a:p>
            <a:pPr marL="285750" indent="-285750">
              <a:buFont typeface="Arial" panose="020B0604020202020204" pitchFamily="34" charset="0"/>
              <a:buChar char="•"/>
            </a:pPr>
            <a:r>
              <a:rPr lang="en-US" sz="1100" dirty="0">
                <a:solidFill>
                  <a:srgbClr val="000000"/>
                </a:solidFill>
                <a:latin typeface="Arial" panose="020B0604020202020204" pitchFamily="34" charset="0"/>
                <a:ea typeface="Arial Unicode MS" panose="020B0604020202020204" pitchFamily="34" charset="-128"/>
                <a:cs typeface="Arial" panose="020B0604020202020204" pitchFamily="34" charset="0"/>
              </a:rPr>
              <a:t>Program: LG Moohantech</a:t>
            </a:r>
          </a:p>
          <a:p>
            <a:endParaRPr lang="en-US" sz="1200" dirty="0">
              <a:solidFill>
                <a:srgbClr val="000000"/>
              </a:solidFill>
              <a:latin typeface="Arial" panose="020B0604020202020204" pitchFamily="34" charset="0"/>
              <a:ea typeface="Arial Unicode MS" panose="020B0604020202020204" pitchFamily="34" charset="-128"/>
              <a:cs typeface="Arial" panose="020B0604020202020204" pitchFamily="34" charset="0"/>
            </a:endParaRPr>
          </a:p>
        </p:txBody>
      </p:sp>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23E752-56C7-4841-8742-6226DE8F5A23}"/>
              </a:ext>
            </a:extLst>
          </p:cNvPr>
          <p:cNvSpPr txBox="1"/>
          <p:nvPr/>
        </p:nvSpPr>
        <p:spPr>
          <a:xfrm>
            <a:off x="128464" y="3473398"/>
            <a:ext cx="3928707" cy="2031325"/>
          </a:xfrm>
          <a:prstGeom prst="rect">
            <a:avLst/>
          </a:prstGeom>
          <a:noFill/>
        </p:spPr>
        <p:txBody>
          <a:bodyPr wrap="square" rtlCol="0" anchor="t">
            <a:spAutoFit/>
          </a:bodyPr>
          <a:lstStyle/>
          <a:p>
            <a:pPr marL="171450" indent="-171450">
              <a:buFont typeface="Wingdings" panose="05000000000000000000" pitchFamily="2" charset="2"/>
              <a:buChar char="q"/>
            </a:pPr>
            <a:r>
              <a:rPr lang="en-US" altLang="ko-KR" sz="1100" b="1" dirty="0">
                <a:latin typeface="Arial" panose="020B0604020202020204" pitchFamily="34" charset="0"/>
                <a:ea typeface="Arial Unicode MS" panose="020B0604020202020204" pitchFamily="34" charset="-128"/>
                <a:cs typeface="Arial" panose="020B0604020202020204" pitchFamily="34" charset="0"/>
              </a:rPr>
              <a:t>Function test Luminance station</a:t>
            </a:r>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171450" indent="-171450" algn="just">
              <a:lnSpc>
                <a:spcPct val="150000"/>
              </a:lnSpc>
              <a:buFont typeface="Arial" panose="020B0604020202020204" pitchFamily="34" charset="0"/>
              <a:buChar char="•"/>
            </a:pPr>
            <a:r>
              <a:rPr lang="en-US" sz="1100" dirty="0">
                <a:latin typeface="Arial" panose="020B0604020202020204" pitchFamily="34" charset="0"/>
                <a:cs typeface="Arial" panose="020B0604020202020204" pitchFamily="34" charset="0"/>
              </a:rPr>
              <a:t>Checking brightness level</a:t>
            </a:r>
          </a:p>
          <a:p>
            <a:pPr marL="171450" indent="-171450" algn="just">
              <a:lnSpc>
                <a:spcPct val="150000"/>
              </a:lnSpc>
              <a:buFont typeface="Arial" panose="020B0604020202020204" pitchFamily="34" charset="0"/>
              <a:buChar char="•"/>
            </a:pPr>
            <a:r>
              <a:rPr lang="en-US" sz="1100" dirty="0">
                <a:latin typeface="Arial" panose="020B0604020202020204" pitchFamily="34" charset="0"/>
                <a:cs typeface="Arial" panose="020B0604020202020204" pitchFamily="34" charset="0"/>
              </a:rPr>
              <a:t>Detect and measure Luminance value</a:t>
            </a:r>
          </a:p>
          <a:p>
            <a:pPr marL="171450" indent="-171450" algn="just">
              <a:lnSpc>
                <a:spcPct val="150000"/>
              </a:lnSpc>
              <a:buFont typeface="Arial" panose="020B0604020202020204" pitchFamily="34" charset="0"/>
              <a:buChar char="•"/>
            </a:pPr>
            <a:r>
              <a:rPr lang="en-US" sz="1100" dirty="0">
                <a:latin typeface="Arial" panose="020B0604020202020204" pitchFamily="34" charset="0"/>
                <a:cs typeface="Arial" panose="020B0604020202020204" pitchFamily="34" charset="0"/>
              </a:rPr>
              <a:t>Test set without can mode</a:t>
            </a:r>
          </a:p>
          <a:p>
            <a:pPr marL="171450" indent="-171450" algn="just">
              <a:lnSpc>
                <a:spcPct val="150000"/>
              </a:lnSpc>
              <a:buFont typeface="Arial" panose="020B0604020202020204" pitchFamily="34" charset="0"/>
              <a:buChar char="•"/>
            </a:pPr>
            <a:r>
              <a:rPr lang="en-US" sz="1100" dirty="0">
                <a:latin typeface="Arial" panose="020B0604020202020204" pitchFamily="34" charset="0"/>
                <a:cs typeface="Arial" panose="020B0604020202020204" pitchFamily="34" charset="0"/>
              </a:rPr>
              <a:t>Checking pattern CID black, white</a:t>
            </a:r>
          </a:p>
          <a:p>
            <a:pPr marL="171450" indent="-171450" algn="just">
              <a:lnSpc>
                <a:spcPct val="150000"/>
              </a:lnSpc>
              <a:buFont typeface="Arial" panose="020B0604020202020204" pitchFamily="34" charset="0"/>
              <a:buChar char="•"/>
            </a:pPr>
            <a:r>
              <a:rPr lang="en-US" sz="1100" dirty="0">
                <a:latin typeface="Arial" panose="020B0604020202020204" pitchFamily="34" charset="0"/>
                <a:cs typeface="Arial" panose="020B0604020202020204" pitchFamily="34" charset="0"/>
              </a:rPr>
              <a:t>Calculate contrast</a:t>
            </a:r>
          </a:p>
          <a:p>
            <a:pPr marL="285750" indent="-285750">
              <a:buFont typeface="Arial" panose="020B0604020202020204" pitchFamily="34" charset="0"/>
              <a:buChar char="•"/>
            </a:pPr>
            <a:endParaRPr kumimoji="0" lang="ja-JP" altLang="ja-JP" sz="1200" dirty="0">
              <a:latin typeface="Arial" panose="020B0604020202020204" pitchFamily="34" charset="0"/>
              <a:ea typeface="Arial Unicode MS" panose="020B0604020202020204" pitchFamily="34" charset="-128"/>
              <a:cs typeface="Arial" panose="020B0604020202020204" pitchFamily="34" charset="0"/>
            </a:endParaRPr>
          </a:p>
          <a:p>
            <a:endParaRPr lang="ko-KR" altLang="en-US" sz="1200" dirty="0">
              <a:latin typeface="Arial" panose="020B0604020202020204" pitchFamily="34" charset="0"/>
              <a:ea typeface="Arial Unicode MS" panose="020B0604020202020204" pitchFamily="34" charset="-128"/>
              <a:cs typeface="Arial" panose="020B0604020202020204" pitchFamily="34" charset="0"/>
            </a:endParaRPr>
          </a:p>
        </p:txBody>
      </p: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a:r>
              <a:rPr sz="1000" b="0">
                <a:latin typeface="Arial"/>
              </a:rPr>
              <a:t>06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3823701"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.1 Gage</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R&amp;R outline</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pic>
        <p:nvPicPr>
          <p:cNvPr id="26" name="Picture 25">
            <a:extLst>
              <a:ext uri="{FF2B5EF4-FFF2-40B4-BE49-F238E27FC236}">
                <a16:creationId xmlns:a16="http://schemas.microsoft.com/office/drawing/2014/main" id="{B7318AFB-3E4E-4F2D-9F27-68979D22E268}"/>
              </a:ext>
            </a:extLst>
          </p:cNvPr>
          <p:cNvPicPr>
            <a:picLocks noChangeAspect="1"/>
          </p:cNvPicPr>
          <p:nvPr/>
        </p:nvPicPr>
        <p:blipFill>
          <a:blip r:embed="rId3"/>
          <a:stretch>
            <a:fillRect/>
          </a:stretch>
        </p:blipFill>
        <p:spPr>
          <a:xfrm>
            <a:off x="6255430" y="4354954"/>
            <a:ext cx="1694969" cy="1694969"/>
          </a:xfrm>
          <a:prstGeom prst="rect">
            <a:avLst/>
          </a:prstGeom>
        </p:spPr>
      </p:pic>
      <p:sp>
        <p:nvSpPr>
          <p:cNvPr id="27" name="TextBox 26">
            <a:extLst>
              <a:ext uri="{FF2B5EF4-FFF2-40B4-BE49-F238E27FC236}">
                <a16:creationId xmlns:a16="http://schemas.microsoft.com/office/drawing/2014/main" id="{1F23290D-FFCC-4467-B33A-7BFD68762FF8}"/>
              </a:ext>
            </a:extLst>
          </p:cNvPr>
          <p:cNvSpPr txBox="1"/>
          <p:nvPr/>
        </p:nvSpPr>
        <p:spPr>
          <a:xfrm>
            <a:off x="6104699" y="6049923"/>
            <a:ext cx="1887658" cy="276999"/>
          </a:xfrm>
          <a:prstGeom prst="rect">
            <a:avLst/>
          </a:prstGeom>
          <a:noFill/>
        </p:spPr>
        <p:txBody>
          <a:bodyPr wrap="square" rtlCol="0">
            <a:spAutoFit/>
          </a:bodyPr>
          <a:lstStyle/>
          <a:p>
            <a:pPr algn="ctr"/>
            <a:r>
              <a:rPr lang="en-US" sz="1100" b="1" dirty="0">
                <a:latin typeface="Arial" panose="020B0600000101010101" pitchFamily="34" charset="-127"/>
                <a:ea typeface="Arial" panose="020B0600000101010101" pitchFamily="34" charset="-127"/>
                <a:cs typeface="Arial" panose="020B0604020202020204" pitchFamily="34" charset="0"/>
              </a:rPr>
              <a:t>LMK Camera CS2000</a:t>
            </a:r>
          </a:p>
        </p:txBody>
      </p:sp>
      <p:sp>
        <p:nvSpPr>
          <p:cNvPr id="30" name="TextBox 29">
            <a:extLst>
              <a:ext uri="{FF2B5EF4-FFF2-40B4-BE49-F238E27FC236}">
                <a16:creationId xmlns:a16="http://schemas.microsoft.com/office/drawing/2014/main" id="{D6DA2A8A-8142-4788-BCA7-5A9926BF1C45}"/>
              </a:ext>
            </a:extLst>
          </p:cNvPr>
          <p:cNvSpPr txBox="1"/>
          <p:nvPr/>
        </p:nvSpPr>
        <p:spPr>
          <a:xfrm>
            <a:off x="3863179" y="3656060"/>
            <a:ext cx="2020348" cy="276999"/>
          </a:xfrm>
          <a:prstGeom prst="rect">
            <a:avLst/>
          </a:prstGeom>
          <a:noFill/>
        </p:spPr>
        <p:txBody>
          <a:bodyPr wrap="square" rtlCol="0">
            <a:spAutoFit/>
          </a:bodyPr>
          <a:lstStyle/>
          <a:p>
            <a:pPr algn="ctr"/>
            <a:r>
              <a:rPr lang="en-US" sz="1100" b="1" dirty="0">
                <a:latin typeface="Arial" panose="020B0600000101010101" pitchFamily="34" charset="-127"/>
                <a:ea typeface="Arial" panose="020B0600000101010101" pitchFamily="34" charset="-127"/>
                <a:cs typeface="Arial" panose="020B0604020202020204" pitchFamily="34" charset="0"/>
              </a:rPr>
              <a:t>Illuminance station diagram</a:t>
            </a:r>
          </a:p>
        </p:txBody>
      </p:sp>
      <p:grpSp>
        <p:nvGrpSpPr>
          <p:cNvPr id="5" name="Group 4">
            <a:extLst>
              <a:ext uri="{FF2B5EF4-FFF2-40B4-BE49-F238E27FC236}">
                <a16:creationId xmlns:a16="http://schemas.microsoft.com/office/drawing/2014/main" id="{050F06E4-0F81-4918-87F9-CB372E4F5864}"/>
              </a:ext>
            </a:extLst>
          </p:cNvPr>
          <p:cNvGrpSpPr/>
          <p:nvPr/>
        </p:nvGrpSpPr>
        <p:grpSpPr>
          <a:xfrm>
            <a:off x="4024176" y="1580371"/>
            <a:ext cx="5845556" cy="2034838"/>
            <a:chOff x="4024176" y="1580371"/>
            <a:chExt cx="5845556" cy="2034838"/>
          </a:xfrm>
        </p:grpSpPr>
        <p:pic>
          <p:nvPicPr>
            <p:cNvPr id="2" name="Picture 1">
              <a:extLst>
                <a:ext uri="{FF2B5EF4-FFF2-40B4-BE49-F238E27FC236}">
                  <a16:creationId xmlns:a16="http://schemas.microsoft.com/office/drawing/2014/main" id="{FB6C22B7-D86A-457E-97D6-DC13E71AED19}"/>
                </a:ext>
              </a:extLst>
            </p:cNvPr>
            <p:cNvPicPr>
              <a:picLocks noChangeAspect="1"/>
            </p:cNvPicPr>
            <p:nvPr/>
          </p:nvPicPr>
          <p:blipFill>
            <a:blip r:embed="rId4"/>
            <a:stretch>
              <a:fillRect/>
            </a:stretch>
          </p:blipFill>
          <p:spPr>
            <a:xfrm>
              <a:off x="4024176" y="1580371"/>
              <a:ext cx="5819775" cy="2034838"/>
            </a:xfrm>
            <a:prstGeom prst="rect">
              <a:avLst/>
            </a:prstGeom>
          </p:spPr>
        </p:pic>
        <p:pic>
          <p:nvPicPr>
            <p:cNvPr id="3" name="Picture 2">
              <a:extLst>
                <a:ext uri="{FF2B5EF4-FFF2-40B4-BE49-F238E27FC236}">
                  <a16:creationId xmlns:a16="http://schemas.microsoft.com/office/drawing/2014/main" id="{9BF84F16-1BE4-4851-BE3B-8C427D42DF8C}"/>
                </a:ext>
              </a:extLst>
            </p:cNvPr>
            <p:cNvPicPr>
              <a:picLocks noChangeAspect="1"/>
            </p:cNvPicPr>
            <p:nvPr/>
          </p:nvPicPr>
          <p:blipFill>
            <a:blip r:embed="rId5"/>
            <a:stretch>
              <a:fillRect/>
            </a:stretch>
          </p:blipFill>
          <p:spPr>
            <a:xfrm>
              <a:off x="8844243" y="2362201"/>
              <a:ext cx="1025489" cy="609599"/>
            </a:xfrm>
            <a:prstGeom prst="rect">
              <a:avLst/>
            </a:prstGeom>
          </p:spPr>
        </p:pic>
      </p:grpSp>
      <p:cxnSp>
        <p:nvCxnSpPr>
          <p:cNvPr id="6" name="Straight Arrow Connector 5">
            <a:extLst>
              <a:ext uri="{FF2B5EF4-FFF2-40B4-BE49-F238E27FC236}">
                <a16:creationId xmlns:a16="http://schemas.microsoft.com/office/drawing/2014/main" id="{D5EFFC24-7EB8-4BF2-8848-23404B7E3518}"/>
              </a:ext>
            </a:extLst>
          </p:cNvPr>
          <p:cNvCxnSpPr>
            <a:cxnSpLocks/>
          </p:cNvCxnSpPr>
          <p:nvPr/>
        </p:nvCxnSpPr>
        <p:spPr bwMode="auto">
          <a:xfrm>
            <a:off x="6934063" y="3656060"/>
            <a:ext cx="0" cy="698894"/>
          </a:xfrm>
          <a:prstGeom prst="straightConnector1">
            <a:avLst/>
          </a:prstGeom>
          <a:noFill/>
          <a:ln w="9525"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2569419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F3972BB8-0723-4658-8EFE-46045E1E10A0}"/>
              </a:ext>
            </a:extLst>
          </p:cNvPr>
          <p:cNvSpPr txBox="1"/>
          <p:nvPr/>
        </p:nvSpPr>
        <p:spPr>
          <a:xfrm>
            <a:off x="72000" y="6192000"/>
            <a:ext cx="5040000" cy="432000"/>
          </a:xfrm>
          <a:prstGeom prst="rect">
            <a:avLst/>
          </a:prstGeom>
          <a:noFill/>
        </p:spPr>
        <p:txBody>
          <a:bodyPr wrap="square" rtlCol="0">
            <a:noAutofit/>
          </a:bodyPr>
          <a:lstStyle/>
          <a:p>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p:txBody>
      </p:sp>
      <p:sp>
        <p:nvSpPr>
          <p:cNvPr id="17" name="TextBox 16">
            <a:extLst>
              <a:ext uri="{FF2B5EF4-FFF2-40B4-BE49-F238E27FC236}">
                <a16:creationId xmlns:a16="http://schemas.microsoft.com/office/drawing/2014/main" id="{C682D0EC-51C2-4351-8B9B-1F085627F8A3}"/>
              </a:ext>
            </a:extLst>
          </p:cNvPr>
          <p:cNvSpPr txBox="1"/>
          <p:nvPr/>
        </p:nvSpPr>
        <p:spPr>
          <a:xfrm>
            <a:off x="72000" y="5112000"/>
            <a:ext cx="5040000" cy="1044000"/>
          </a:xfrm>
          <a:prstGeom prst="rect">
            <a:avLst/>
          </a:prstGeom>
          <a:noFill/>
          <a:ln>
            <a:noFill/>
          </a:ln>
        </p:spPr>
        <p:txBody>
          <a:bodyPr wrap="square" rtlCol="0">
            <a:noAutofit/>
          </a:bodyPr>
          <a:lstStyle/>
          <a:p>
            <a:pPr marL="171450" indent="-171450">
              <a:buFont typeface="Wingdings" panose="05000000000000000000" pitchFamily="2" charset="2"/>
              <a:buChar char="Ø"/>
            </a:pPr>
            <a:r>
              <a:rPr lang="en-US" sz="1100" b="1" u="sng" dirty="0">
                <a:latin typeface="Arial" panose="020B0604020202020204" pitchFamily="34" charset="0"/>
                <a:ea typeface="Arial Unicode MS" panose="020B0604020202020204" pitchFamily="34" charset="-128"/>
                <a:cs typeface="Arial" panose="020B0604020202020204" pitchFamily="34" charset="0"/>
              </a:rPr>
              <a:t>Conclusion</a:t>
            </a:r>
            <a:endParaRPr lang="en-US" sz="1200" dirty="0">
              <a:latin typeface="Arial" panose="020B0604020202020204" pitchFamily="34" charset="0"/>
              <a:ea typeface="Arial Unicode MS" panose="020B0604020202020204" pitchFamily="34" charset="-128"/>
              <a:cs typeface="Arial" panose="020B0604020202020204" pitchFamily="34" charset="0"/>
            </a:endParaRPr>
          </a:p>
          <a:p>
            <a:r>
              <a:rPr lang="en-US" sz="1100">
                <a:latin typeface="Arial"/>
              </a:rPr>
              <a:t>P value=0.636 &gt; 0.05  Fail to reject H0  Bias=0 (PASS)</a:t>
            </a:r>
          </a:p>
          <a:p>
            <a:r>
              <a:rPr lang="en-US" sz="1100">
                <a:latin typeface="Arial"/>
              </a:rPr>
              <a:t>Cg=3.20 (Std&gt;1.33) PASS | Cgk=3.17 (Std&gt;1.33) PASS</a:t>
            </a:r>
          </a:p>
          <a:p>
            <a:r>
              <a:rPr lang="en-US" sz="1100">
                <a:latin typeface="Arial"/>
              </a:rPr>
              <a:t>%Var(Repeatability)=6.25% (&lt;10%) PASS</a:t>
            </a:r>
          </a:p>
          <a:p>
            <a:r>
              <a:rPr lang="en-US" sz="1100">
                <a:latin typeface="Arial"/>
              </a:rPr>
              <a:t>%Var(Repeat.+Bias)=6.31% (&lt;10%) PASS</a:t>
            </a:r>
          </a:p>
          <a:p>
            <a:r>
              <a:rPr lang="en-US" sz="1100">
                <a:latin typeface="Arial"/>
              </a:rPr>
              <a:t>Resolution=0.01 &lt; 5% of Tolerance</a:t>
            </a:r>
          </a:p>
        </p:txBody>
      </p:sp>
      <p:sp>
        <p:nvSpPr>
          <p:cNvPr id="7" name="제목 1"/>
          <p:cNvSpPr txBox="1">
            <a:spLocks/>
          </p:cNvSpPr>
          <p:nvPr/>
        </p:nvSpPr>
        <p:spPr>
          <a:xfrm>
            <a:off x="116442" y="96965"/>
            <a:ext cx="2599565"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 Type</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1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19" name="AutoShape 55">
            <a:extLst>
              <a:ext uri="{FF2B5EF4-FFF2-40B4-BE49-F238E27FC236}">
                <a16:creationId xmlns:a16="http://schemas.microsoft.com/office/drawing/2014/main" id="{48A61023-CDBC-4C6D-9BB1-EFBB3E5DADD2}"/>
              </a:ext>
            </a:extLst>
          </p:cNvPr>
          <p:cNvSpPr>
            <a:spLocks noChangeArrowheads="1"/>
          </p:cNvSpPr>
          <p:nvPr/>
        </p:nvSpPr>
        <p:spPr bwMode="auto">
          <a:xfrm>
            <a:off x="9121600"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20" name="AutoShape 56">
            <a:extLst>
              <a:ext uri="{FF2B5EF4-FFF2-40B4-BE49-F238E27FC236}">
                <a16:creationId xmlns:a16="http://schemas.microsoft.com/office/drawing/2014/main" id="{BACA622A-2FAA-4B1D-8427-F75634CC5D2B}"/>
              </a:ext>
            </a:extLst>
          </p:cNvPr>
          <p:cNvSpPr>
            <a:spLocks noChangeArrowheads="1"/>
          </p:cNvSpPr>
          <p:nvPr/>
        </p:nvSpPr>
        <p:spPr bwMode="auto">
          <a:xfrm>
            <a:off x="8432625"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21" name="AutoShape 57">
            <a:extLst>
              <a:ext uri="{FF2B5EF4-FFF2-40B4-BE49-F238E27FC236}">
                <a16:creationId xmlns:a16="http://schemas.microsoft.com/office/drawing/2014/main" id="{75A7294A-CC51-4608-A86C-6EFFB224E38C}"/>
              </a:ext>
            </a:extLst>
          </p:cNvPr>
          <p:cNvSpPr>
            <a:spLocks noChangeArrowheads="1"/>
          </p:cNvSpPr>
          <p:nvPr/>
        </p:nvSpPr>
        <p:spPr bwMode="auto">
          <a:xfrm>
            <a:off x="7740475" y="186782"/>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22" name="AutoShape 59">
            <a:extLst>
              <a:ext uri="{FF2B5EF4-FFF2-40B4-BE49-F238E27FC236}">
                <a16:creationId xmlns:a16="http://schemas.microsoft.com/office/drawing/2014/main" id="{9DB1964C-2D8B-4B4E-9C14-7211818B60A1}"/>
              </a:ext>
            </a:extLst>
          </p:cNvPr>
          <p:cNvSpPr>
            <a:spLocks noChangeArrowheads="1"/>
          </p:cNvSpPr>
          <p:nvPr/>
        </p:nvSpPr>
        <p:spPr bwMode="auto">
          <a:xfrm>
            <a:off x="6372050" y="186782"/>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3" name="AutoShape 58">
            <a:extLst>
              <a:ext uri="{FF2B5EF4-FFF2-40B4-BE49-F238E27FC236}">
                <a16:creationId xmlns:a16="http://schemas.microsoft.com/office/drawing/2014/main" id="{734B0F39-A31B-4819-A185-C7981959C679}"/>
              </a:ext>
            </a:extLst>
          </p:cNvPr>
          <p:cNvSpPr>
            <a:spLocks noChangeArrowheads="1"/>
          </p:cNvSpPr>
          <p:nvPr/>
        </p:nvSpPr>
        <p:spPr bwMode="auto">
          <a:xfrm>
            <a:off x="7068963" y="42320"/>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Measure </a:t>
            </a:r>
          </a:p>
        </p:txBody>
      </p:sp>
      <p:sp>
        <p:nvSpPr>
          <p:cNvPr id="27" name="TextBox 26">
            <a:extLst>
              <a:ext uri="{FF2B5EF4-FFF2-40B4-BE49-F238E27FC236}">
                <a16:creationId xmlns:a16="http://schemas.microsoft.com/office/drawing/2014/main" id="{6F0E05E3-9DC9-430D-9803-A1CD329A8191}"/>
              </a:ext>
            </a:extLst>
          </p:cNvPr>
          <p:cNvSpPr txBox="1"/>
          <p:nvPr/>
        </p:nvSpPr>
        <p:spPr>
          <a:xfrm>
            <a:off x="5299553" y="3075057"/>
            <a:ext cx="2355668" cy="707886"/>
          </a:xfrm>
          <a:prstGeom prst="rect">
            <a:avLst/>
          </a:prstGeom>
          <a:noFill/>
        </p:spPr>
        <p:txBody>
          <a:bodyPr wrap="square" rtlCol="0">
            <a:noAutofit/>
          </a:bodyPr>
          <a:lstStyle/>
          <a:p>
            <a:pPr>
              <a:spcBef>
                <a:spcPts val="600"/>
              </a:spcBef>
            </a:pPr>
            <a:r>
              <a:rPr lang="en-GB" sz="1100" dirty="0">
                <a:latin typeface="Arial" panose="020B0600000101010101" pitchFamily="34" charset="-127"/>
                <a:ea typeface="Arial" panose="020B0600000101010101" pitchFamily="34" charset="-127"/>
              </a:rPr>
              <a:t>Spec: </a:t>
            </a:r>
            <a:r>
              <a:rPr lang="en-US" sz="11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a:spcBef>
                <a:spcPts val="600"/>
              </a:spcBef>
            </a:pPr>
            <a:r>
              <a:rPr lang="en-GB" sz="1100" dirty="0">
                <a:latin typeface="Arial" panose="020B0600000101010101" pitchFamily="34" charset="-127"/>
                <a:ea typeface="Arial" panose="020B0600000101010101" pitchFamily="34" charset="-127"/>
              </a:rPr>
              <a:t>Reference value: 910 (golden sample)</a:t>
            </a:r>
          </a:p>
          <a:p>
            <a:pPr>
              <a:spcBef>
                <a:spcPts val="600"/>
              </a:spcBef>
            </a:pPr>
            <a:r>
              <a:rPr lang="en-US" sz="1100" dirty="0">
                <a:latin typeface="Arial" panose="020B0600000101010101" pitchFamily="34" charset="-127"/>
                <a:ea typeface="Arial" panose="020B0600000101010101" pitchFamily="34" charset="-127"/>
              </a:rPr>
              <a:t>Resolution of Instrument: 0.01 </a:t>
            </a:r>
          </a:p>
        </p:txBody>
      </p:sp>
      <p:sp>
        <p:nvSpPr>
          <p:cNvPr id="15" name="Slide Number Placeholder 4">
            <a:extLst>
              <a:ext uri="{FF2B5EF4-FFF2-40B4-BE49-F238E27FC236}">
                <a16:creationId xmlns:a16="http://schemas.microsoft.com/office/drawing/2014/main" id="{3A97A1D6-8318-4AE8-ABA4-3E86A3455159}"/>
              </a:ext>
            </a:extLst>
          </p:cNvPr>
          <p:cNvSpPr>
            <a:spLocks noGrp="1"/>
          </p:cNvSpPr>
          <p:nvPr>
            <p:ph type="sldNum" sz="quarter" idx="12"/>
          </p:nvPr>
        </p:nvSpPr>
        <p:spPr>
          <a:xfrm>
            <a:off x="3700326" y="6643499"/>
            <a:ext cx="2133600" cy="198047"/>
          </a:xfrm>
        </p:spPr>
        <p:txBody>
          <a:bodyPr/>
          <a:lstStyle/>
          <a:p>
            <a:pPr algn="ctr"/>
            <a:r>
              <a:rPr sz="1000" b="0">
                <a:latin typeface="Arial"/>
              </a:rPr>
              <a:t>07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6" name="TextBox 15">
            <a:extLst>
              <a:ext uri="{FF2B5EF4-FFF2-40B4-BE49-F238E27FC236}">
                <a16:creationId xmlns:a16="http://schemas.microsoft.com/office/drawing/2014/main" id="{98C5E36D-EEFF-4453-A88A-CDA04A433E1C}"/>
              </a:ext>
            </a:extLst>
          </p:cNvPr>
          <p:cNvSpPr txBox="1"/>
          <p:nvPr/>
        </p:nvSpPr>
        <p:spPr>
          <a:xfrm>
            <a:off x="63248" y="535377"/>
            <a:ext cx="2070352" cy="276999"/>
          </a:xfrm>
          <a:prstGeom prst="rect">
            <a:avLst/>
          </a:prstGeom>
          <a:noFill/>
        </p:spPr>
        <p:txBody>
          <a:bodyPr wrap="square" rtlCol="0">
            <a:no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a:t>
            </a:r>
            <a:r>
              <a:rPr lang="en-US" sz="1100" b="1" dirty="0">
                <a:latin typeface="Arial" panose="020B0604020202020204" pitchFamily="34" charset="0"/>
                <a:ea typeface="Arial Unicode MS" panose="020B0604020202020204" pitchFamily="34" charset="-128"/>
                <a:cs typeface="Arial" panose="020B0604020202020204" pitchFamily="34" charset="0"/>
              </a:rPr>
              <a:t>1 Luminance</a:t>
            </a:r>
          </a:p>
        </p:txBody>
      </p:sp>
      <p:graphicFrame>
        <p:nvGraphicFramePr>
          <p:cNvPr id="3" name="Table 2">
            <a:extLst>
              <a:ext uri="{FF2B5EF4-FFF2-40B4-BE49-F238E27FC236}">
                <a16:creationId xmlns:a16="http://schemas.microsoft.com/office/drawing/2014/main" id="{DCAFABC0-A57C-485A-81F0-216C152D8CD9}"/>
              </a:ext>
            </a:extLst>
          </p:cNvPr>
          <p:cNvGraphicFramePr>
            <a:graphicFrameLocks noGrp="1"/>
          </p:cNvGraphicFramePr>
          <p:nvPr>
            <p:extLst>
              <p:ext uri="{D42A27DB-BD31-4B8C-83A1-F6EECF244321}">
                <p14:modId xmlns:p14="http://schemas.microsoft.com/office/powerpoint/2010/main" val="3560516726"/>
              </p:ext>
            </p:extLst>
          </p:nvPr>
        </p:nvGraphicFramePr>
        <p:xfrm>
          <a:off x="239979" y="2021872"/>
          <a:ext cx="3670300" cy="3076575"/>
        </p:xfrm>
        <a:graphic>
          <a:graphicData uri="http://schemas.openxmlformats.org/drawingml/2006/table">
            <a:tbl>
              <a:tblPr/>
              <a:tblGrid>
                <a:gridCol w="369621">
                  <a:extLst>
                    <a:ext uri="{9D8B030D-6E8A-4147-A177-3AD203B41FA5}">
                      <a16:colId xmlns:a16="http://schemas.microsoft.com/office/drawing/2014/main" val="1869624035"/>
                    </a:ext>
                  </a:extLst>
                </a:gridCol>
                <a:gridCol w="1447800">
                  <a:extLst>
                    <a:ext uri="{9D8B030D-6E8A-4147-A177-3AD203B41FA5}">
                      <a16:colId xmlns:a16="http://schemas.microsoft.com/office/drawing/2014/main" val="1973871595"/>
                    </a:ext>
                  </a:extLst>
                </a:gridCol>
                <a:gridCol w="457200">
                  <a:extLst>
                    <a:ext uri="{9D8B030D-6E8A-4147-A177-3AD203B41FA5}">
                      <a16:colId xmlns:a16="http://schemas.microsoft.com/office/drawing/2014/main" val="3877533893"/>
                    </a:ext>
                  </a:extLst>
                </a:gridCol>
                <a:gridCol w="1395679">
                  <a:extLst>
                    <a:ext uri="{9D8B030D-6E8A-4147-A177-3AD203B41FA5}">
                      <a16:colId xmlns:a16="http://schemas.microsoft.com/office/drawing/2014/main" val="483160888"/>
                    </a:ext>
                  </a:extLst>
                </a:gridCol>
              </a:tblGrid>
              <a:tr h="219075">
                <a:tc>
                  <a:txBody>
                    <a:bodyPr/>
                    <a:lstStyle/>
                    <a:p>
                      <a:pPr algn="ctr" rtl="0" fontAlgn="ctr"/>
                      <a:r>
                        <a:rPr lang="en-US" sz="1100" b="1" i="0" u="none" strike="noStrike" dirty="0">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1100" b="1" i="0" u="none" strike="noStrike" dirty="0">
                          <a:solidFill>
                            <a:srgbClr val="000000"/>
                          </a:solidFill>
                          <a:effectLst/>
                          <a:latin typeface="Arial" panose="020B0604020202020204" pitchFamily="34" charset="0"/>
                        </a:rPr>
                        <a:t>Luminance(Cd/m</a:t>
                      </a:r>
                      <a:r>
                        <a:rPr lang="en-US" sz="1100" b="1" i="0" u="none" strike="noStrike" baseline="30000" dirty="0">
                          <a:solidFill>
                            <a:srgbClr val="000000"/>
                          </a:solidFill>
                          <a:effectLst/>
                          <a:latin typeface="Arial" panose="020B0604020202020204" pitchFamily="34" charset="0"/>
                        </a:rPr>
                        <a:t>2</a:t>
                      </a:r>
                      <a:r>
                        <a:rPr lang="en-US" sz="11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11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1100" b="1" i="0" u="none" strike="noStrike" dirty="0">
                          <a:solidFill>
                            <a:srgbClr val="000000"/>
                          </a:solidFill>
                          <a:effectLst/>
                          <a:latin typeface="Arial" panose="020B0604020202020204" pitchFamily="34" charset="0"/>
                        </a:rPr>
                        <a:t>Luminance(Cd/m</a:t>
                      </a:r>
                      <a:r>
                        <a:rPr lang="en-US" sz="1100" b="1" i="0" u="none" strike="noStrike" baseline="30000" dirty="0">
                          <a:solidFill>
                            <a:srgbClr val="000000"/>
                          </a:solidFill>
                          <a:effectLst/>
                          <a:latin typeface="Arial" panose="020B0604020202020204" pitchFamily="34" charset="0"/>
                        </a:rPr>
                        <a:t>2</a:t>
                      </a:r>
                      <a:r>
                        <a:rPr lang="en-US" sz="11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664682676"/>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908.00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911.46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9070195"/>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917.93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890.79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6000230"/>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915.27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908.47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5016158"/>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896.15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926.02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0077892"/>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919.40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924.05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965847"/>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924.00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928.50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7926171"/>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917.44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906.05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7339895"/>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894.39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924.20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0551954"/>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921.04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888.30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6786549"/>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893.60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912.50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9588986"/>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930.70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921.38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5068799"/>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911.27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891.90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8258125"/>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927.62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908.25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6731877"/>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903.52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900.60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3188169"/>
                  </a:ext>
                </a:extLst>
              </a:tr>
              <a:tr h="190500">
                <a:tc>
                  <a:txBody>
                    <a:bodyPr/>
                    <a:lstStyle/>
                    <a:p>
                      <a:pPr algn="ctr" rtl="0" fontAlgn="ctr"/>
                      <a:r>
                        <a:rPr lang="en-US" sz="1100" b="0" i="0" u="none" strike="noStrike" dirty="0">
                          <a:solidFill>
                            <a:srgbClr val="000000"/>
                          </a:solidFill>
                          <a:effectLst/>
                          <a:latin typeface="Arial" panose="020B0604020202020204" pitchFamily="34" charset="0"/>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899.24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B0604020202020204" pitchFamily="34" charset="0"/>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910.68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0422400"/>
                  </a:ext>
                </a:extLst>
              </a:tr>
            </a:tbl>
          </a:graphicData>
        </a:graphic>
      </p:graphicFrame>
      <p:pic>
        <p:nvPicPr>
          <p:cNvPr id="6" name="Picture 5">
            <a:extLst>
              <a:ext uri="{FF2B5EF4-FFF2-40B4-BE49-F238E27FC236}">
                <a16:creationId xmlns:a16="http://schemas.microsoft.com/office/drawing/2014/main" id="{1E1B24B7-1F77-4AD9-8A9B-D0EF1773079C}"/>
              </a:ext>
            </a:extLst>
          </p:cNvPr>
          <p:cNvPicPr>
            <a:picLocks noChangeAspect="1"/>
          </p:cNvPicPr>
          <p:nvPr/>
        </p:nvPicPr>
        <p:blipFill>
          <a:blip r:embed="rId3"/>
          <a:stretch>
            <a:fillRect/>
          </a:stretch>
        </p:blipFill>
        <p:spPr>
          <a:xfrm>
            <a:off x="6156393" y="535377"/>
            <a:ext cx="3670299" cy="2484318"/>
          </a:xfrm>
          <a:prstGeom prst="rect">
            <a:avLst/>
          </a:prstGeom>
        </p:spPr>
      </p:pic>
      <p:cxnSp>
        <p:nvCxnSpPr>
          <p:cNvPr id="24" name="Straight Connector 23">
            <a:extLst>
              <a:ext uri="{FF2B5EF4-FFF2-40B4-BE49-F238E27FC236}">
                <a16:creationId xmlns:a16="http://schemas.microsoft.com/office/drawing/2014/main" id="{7CE5E6CD-4811-4F25-876B-8510C61287CE}"/>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5905DE67-B74C-4227-ABF6-E60CDFA1E5A3}"/>
              </a:ext>
            </a:extLst>
          </p:cNvPr>
          <p:cNvPicPr>
            <a:picLocks noChangeAspect="1"/>
          </p:cNvPicPr>
          <p:nvPr/>
        </p:nvPicPr>
        <p:blipFill>
          <a:blip r:embed="rId4"/>
          <a:stretch>
            <a:fillRect/>
          </a:stretch>
        </p:blipFill>
        <p:spPr>
          <a:xfrm>
            <a:off x="5347330" y="3747840"/>
            <a:ext cx="4558670" cy="3076575"/>
          </a:xfrm>
          <a:prstGeom prst="rect">
            <a:avLst/>
          </a:prstGeom>
        </p:spPr>
      </p:pic>
      <p:sp>
        <p:nvSpPr>
          <p:cNvPr id="26" name="TextBox 25">
            <a:extLst>
              <a:ext uri="{FF2B5EF4-FFF2-40B4-BE49-F238E27FC236}">
                <a16:creationId xmlns:a16="http://schemas.microsoft.com/office/drawing/2014/main" id="{9BDCA5C5-3828-49E1-AF1F-F35A3BFEEDC1}"/>
              </a:ext>
            </a:extLst>
          </p:cNvPr>
          <p:cNvSpPr txBox="1"/>
          <p:nvPr/>
        </p:nvSpPr>
        <p:spPr>
          <a:xfrm>
            <a:off x="247821" y="838200"/>
            <a:ext cx="5354074" cy="1015663"/>
          </a:xfrm>
          <a:prstGeom prst="rect">
            <a:avLst/>
          </a:prstGeom>
          <a:noFill/>
        </p:spPr>
        <p:txBody>
          <a:bodyPr wrap="square" rtlCol="0">
            <a:noAutofit/>
          </a:bodyPr>
          <a:lstStyle/>
          <a:p>
            <a:pPr latinLnBrk="0"/>
            <a:r>
              <a:rPr lang="en-US" sz="1100" dirty="0">
                <a:latin typeface="Arial" panose="020B0604020202020204" pitchFamily="34" charset="0"/>
                <a:ea typeface="Arial Unicode MS" panose="020B0604020202020204" pitchFamily="34" charset="-128"/>
                <a:cs typeface="Arial" panose="020B0604020202020204" pitchFamily="34" charset="0"/>
              </a:rPr>
              <a:t>I choose gage study type 1 to assess the ability of component to measure based on repeatability and bias of the instrument.</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rPr>
              <a:t>In this case, choose 1 sample and repeated test for 30 times.</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Tree>
    <p:extLst>
      <p:ext uri="{BB962C8B-B14F-4D97-AF65-F5344CB8AC3E}">
        <p14:creationId xmlns:p14="http://schemas.microsoft.com/office/powerpoint/2010/main" val="3210968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2599565"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 Type</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1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19" name="AutoShape 55">
            <a:extLst>
              <a:ext uri="{FF2B5EF4-FFF2-40B4-BE49-F238E27FC236}">
                <a16:creationId xmlns:a16="http://schemas.microsoft.com/office/drawing/2014/main" id="{48A61023-CDBC-4C6D-9BB1-EFBB3E5DADD2}"/>
              </a:ext>
            </a:extLst>
          </p:cNvPr>
          <p:cNvSpPr>
            <a:spLocks noChangeArrowheads="1"/>
          </p:cNvSpPr>
          <p:nvPr/>
        </p:nvSpPr>
        <p:spPr bwMode="auto">
          <a:xfrm>
            <a:off x="9121600"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20" name="AutoShape 56">
            <a:extLst>
              <a:ext uri="{FF2B5EF4-FFF2-40B4-BE49-F238E27FC236}">
                <a16:creationId xmlns:a16="http://schemas.microsoft.com/office/drawing/2014/main" id="{BACA622A-2FAA-4B1D-8427-F75634CC5D2B}"/>
              </a:ext>
            </a:extLst>
          </p:cNvPr>
          <p:cNvSpPr>
            <a:spLocks noChangeArrowheads="1"/>
          </p:cNvSpPr>
          <p:nvPr/>
        </p:nvSpPr>
        <p:spPr bwMode="auto">
          <a:xfrm>
            <a:off x="8432625"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21" name="AutoShape 57">
            <a:extLst>
              <a:ext uri="{FF2B5EF4-FFF2-40B4-BE49-F238E27FC236}">
                <a16:creationId xmlns:a16="http://schemas.microsoft.com/office/drawing/2014/main" id="{75A7294A-CC51-4608-A86C-6EFFB224E38C}"/>
              </a:ext>
            </a:extLst>
          </p:cNvPr>
          <p:cNvSpPr>
            <a:spLocks noChangeArrowheads="1"/>
          </p:cNvSpPr>
          <p:nvPr/>
        </p:nvSpPr>
        <p:spPr bwMode="auto">
          <a:xfrm>
            <a:off x="7740475" y="186782"/>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22" name="AutoShape 59">
            <a:extLst>
              <a:ext uri="{FF2B5EF4-FFF2-40B4-BE49-F238E27FC236}">
                <a16:creationId xmlns:a16="http://schemas.microsoft.com/office/drawing/2014/main" id="{9DB1964C-2D8B-4B4E-9C14-7211818B60A1}"/>
              </a:ext>
            </a:extLst>
          </p:cNvPr>
          <p:cNvSpPr>
            <a:spLocks noChangeArrowheads="1"/>
          </p:cNvSpPr>
          <p:nvPr/>
        </p:nvSpPr>
        <p:spPr bwMode="auto">
          <a:xfrm>
            <a:off x="6372050" y="186782"/>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3" name="AutoShape 58">
            <a:extLst>
              <a:ext uri="{FF2B5EF4-FFF2-40B4-BE49-F238E27FC236}">
                <a16:creationId xmlns:a16="http://schemas.microsoft.com/office/drawing/2014/main" id="{734B0F39-A31B-4819-A185-C7981959C679}"/>
              </a:ext>
            </a:extLst>
          </p:cNvPr>
          <p:cNvSpPr>
            <a:spLocks noChangeArrowheads="1"/>
          </p:cNvSpPr>
          <p:nvPr/>
        </p:nvSpPr>
        <p:spPr bwMode="auto">
          <a:xfrm>
            <a:off x="7068963" y="42320"/>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Measure </a:t>
            </a: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21336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r>
              <a:rPr sz="1000" b="0">
                <a:latin typeface="Arial"/>
              </a:rPr>
              <a:t>08 / 33 </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485001"/>
            <a:ext cx="2070352" cy="276999"/>
          </a:xfrm>
          <a:prstGeom prst="rect">
            <a:avLst/>
          </a:prstGeom>
          <a:noFill/>
        </p:spPr>
        <p:txBody>
          <a:bodyPr wrap="square" rtlCol="0">
            <a:no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a:t>
            </a:r>
            <a:r>
              <a:rPr lang="en-US" sz="1100" b="1" dirty="0">
                <a:latin typeface="Arial" panose="020B0604020202020204" pitchFamily="34" charset="0"/>
                <a:ea typeface="Arial Unicode MS" panose="020B0604020202020204" pitchFamily="34" charset="-128"/>
                <a:cs typeface="Arial" panose="020B0604020202020204" pitchFamily="34" charset="0"/>
              </a:rPr>
              <a:t>2 Luminance</a:t>
            </a:r>
          </a:p>
        </p:txBody>
      </p:sp>
      <p:sp>
        <p:nvSpPr>
          <p:cNvPr id="18" name="TextBox 17">
            <a:extLst>
              <a:ext uri="{FF2B5EF4-FFF2-40B4-BE49-F238E27FC236}">
                <a16:creationId xmlns:a16="http://schemas.microsoft.com/office/drawing/2014/main" id="{E90369EA-41CF-4BB7-95EE-33A74A74A411}"/>
              </a:ext>
            </a:extLst>
          </p:cNvPr>
          <p:cNvSpPr txBox="1"/>
          <p:nvPr/>
        </p:nvSpPr>
        <p:spPr>
          <a:xfrm>
            <a:off x="0" y="5112000"/>
            <a:ext cx="5040000" cy="900000"/>
          </a:xfrm>
          <a:prstGeom prst="rect">
            <a:avLst/>
          </a:prstGeom>
          <a:noFill/>
          <a:ln>
            <a:noFill/>
          </a:ln>
        </p:spPr>
        <p:txBody>
          <a:bodyPr wrap="square" rtlCol="0">
            <a:noAutofit/>
          </a:bodyPr>
          <a:lstStyle/>
          <a:p>
            <a:pPr marL="171450" indent="-171450">
              <a:buFont typeface="Wingdings" panose="05000000000000000000" pitchFamily="2" charset="2"/>
              <a:buChar char="Ø"/>
            </a:pPr>
            <a:r>
              <a:rPr lang="en-US" sz="1100" b="1" u="sng" dirty="0">
                <a:latin typeface="Arial" panose="020B0604020202020204" pitchFamily="34" charset="0"/>
                <a:ea typeface="Arial Unicode MS" panose="020B0604020202020204" pitchFamily="34" charset="-128"/>
                <a:cs typeface="Arial" panose="020B0604020202020204" pitchFamily="34" charset="0"/>
              </a:rPr>
              <a:t>Conclusion</a:t>
            </a:r>
          </a:p>
          <a:p>
            <a:r>
              <a:rPr lang="en-US" sz="1100">
                <a:latin typeface="Arial"/>
              </a:rPr>
              <a:t>P value=0.00 &lt;= 0.05  Reject H0  Bias!=0 (FAIL)</a:t>
            </a:r>
          </a:p>
          <a:p>
            <a:r>
              <a:rPr lang="en-US" sz="1100">
                <a:latin typeface="Arial"/>
              </a:rPr>
              <a:t>Cg=0.93 (Std&gt;1.33) FAIL | Cgk=0.54 (Std&gt;1.33) FAIL</a:t>
            </a:r>
          </a:p>
          <a:p>
            <a:r>
              <a:rPr lang="en-US" sz="1100">
                <a:latin typeface="Arial"/>
              </a:rPr>
              <a:t>%Var(Repeatability)=21.46% (&gt;10%) FAIL</a:t>
            </a:r>
          </a:p>
          <a:p>
            <a:r>
              <a:rPr lang="en-US" sz="1100">
                <a:latin typeface="Arial"/>
              </a:rPr>
              <a:t>%Var(Repeat.+Bias)=37.17% (&gt;10%) FAIL</a:t>
            </a:r>
          </a:p>
        </p:txBody>
      </p:sp>
      <p:pic>
        <p:nvPicPr>
          <p:cNvPr id="5" name="Picture 4">
            <a:extLst>
              <a:ext uri="{FF2B5EF4-FFF2-40B4-BE49-F238E27FC236}">
                <a16:creationId xmlns:a16="http://schemas.microsoft.com/office/drawing/2014/main" id="{622F548D-3A7A-4D5B-91E6-696720BAEDCD}"/>
              </a:ext>
            </a:extLst>
          </p:cNvPr>
          <p:cNvPicPr>
            <a:picLocks noChangeAspect="1"/>
          </p:cNvPicPr>
          <p:nvPr/>
        </p:nvPicPr>
        <p:blipFill>
          <a:blip r:embed="rId3"/>
          <a:stretch>
            <a:fillRect/>
          </a:stretch>
        </p:blipFill>
        <p:spPr>
          <a:xfrm>
            <a:off x="6081737" y="508838"/>
            <a:ext cx="3670300" cy="2515529"/>
          </a:xfrm>
          <a:prstGeom prst="rect">
            <a:avLst/>
          </a:prstGeom>
        </p:spPr>
      </p:pic>
      <p:graphicFrame>
        <p:nvGraphicFramePr>
          <p:cNvPr id="8" name="Table 7">
            <a:extLst>
              <a:ext uri="{FF2B5EF4-FFF2-40B4-BE49-F238E27FC236}">
                <a16:creationId xmlns:a16="http://schemas.microsoft.com/office/drawing/2014/main" id="{6762E103-568D-44B2-B836-06647021EE55}"/>
              </a:ext>
            </a:extLst>
          </p:cNvPr>
          <p:cNvGraphicFramePr>
            <a:graphicFrameLocks noGrp="1"/>
          </p:cNvGraphicFramePr>
          <p:nvPr>
            <p:extLst>
              <p:ext uri="{D42A27DB-BD31-4B8C-83A1-F6EECF244321}">
                <p14:modId xmlns:p14="http://schemas.microsoft.com/office/powerpoint/2010/main" val="1536392145"/>
              </p:ext>
            </p:extLst>
          </p:nvPr>
        </p:nvGraphicFramePr>
        <p:xfrm>
          <a:off x="153963" y="1957420"/>
          <a:ext cx="3670300" cy="3152775"/>
        </p:xfrm>
        <a:graphic>
          <a:graphicData uri="http://schemas.openxmlformats.org/drawingml/2006/table">
            <a:tbl>
              <a:tblPr/>
              <a:tblGrid>
                <a:gridCol w="379437">
                  <a:extLst>
                    <a:ext uri="{9D8B030D-6E8A-4147-A177-3AD203B41FA5}">
                      <a16:colId xmlns:a16="http://schemas.microsoft.com/office/drawing/2014/main" val="2928826695"/>
                    </a:ext>
                  </a:extLst>
                </a:gridCol>
                <a:gridCol w="1485321">
                  <a:extLst>
                    <a:ext uri="{9D8B030D-6E8A-4147-A177-3AD203B41FA5}">
                      <a16:colId xmlns:a16="http://schemas.microsoft.com/office/drawing/2014/main" val="3225775588"/>
                    </a:ext>
                  </a:extLst>
                </a:gridCol>
                <a:gridCol w="419679">
                  <a:extLst>
                    <a:ext uri="{9D8B030D-6E8A-4147-A177-3AD203B41FA5}">
                      <a16:colId xmlns:a16="http://schemas.microsoft.com/office/drawing/2014/main" val="1137933355"/>
                    </a:ext>
                  </a:extLst>
                </a:gridCol>
                <a:gridCol w="1385863">
                  <a:extLst>
                    <a:ext uri="{9D8B030D-6E8A-4147-A177-3AD203B41FA5}">
                      <a16:colId xmlns:a16="http://schemas.microsoft.com/office/drawing/2014/main" val="2284661630"/>
                    </a:ext>
                  </a:extLst>
                </a:gridCol>
              </a:tblGrid>
              <a:tr h="295275">
                <a:tc>
                  <a:txBody>
                    <a:bodyPr/>
                    <a:lstStyle/>
                    <a:p>
                      <a:pPr algn="ctr" rtl="0" fontAlgn="ctr"/>
                      <a:r>
                        <a:rPr lang="en-US" sz="11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1100" b="1" i="0" u="none" strike="noStrike" dirty="0">
                          <a:solidFill>
                            <a:srgbClr val="000000"/>
                          </a:solidFill>
                          <a:effectLst/>
                          <a:latin typeface="Arial" panose="020B0604020202020204" pitchFamily="34" charset="0"/>
                        </a:rPr>
                        <a:t>Luminance(Cd/m</a:t>
                      </a:r>
                      <a:r>
                        <a:rPr lang="en-US" sz="1100" b="1" i="0" u="none" strike="noStrike" baseline="30000" dirty="0">
                          <a:solidFill>
                            <a:srgbClr val="000000"/>
                          </a:solidFill>
                          <a:effectLst/>
                          <a:latin typeface="Arial" panose="020B0604020202020204" pitchFamily="34" charset="0"/>
                        </a:rPr>
                        <a:t>2</a:t>
                      </a:r>
                      <a:r>
                        <a:rPr lang="en-US" sz="11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11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1100" b="1" i="0" u="none" strike="noStrike">
                          <a:solidFill>
                            <a:srgbClr val="000000"/>
                          </a:solidFill>
                          <a:effectLst/>
                          <a:latin typeface="Arial" panose="020B0604020202020204" pitchFamily="34" charset="0"/>
                        </a:rPr>
                        <a:t>Luminance(Cd/m</a:t>
                      </a:r>
                      <a:r>
                        <a:rPr lang="en-US" sz="1100" b="1" i="0" u="none" strike="noStrike" baseline="30000">
                          <a:solidFill>
                            <a:srgbClr val="000000"/>
                          </a:solidFill>
                          <a:effectLst/>
                          <a:latin typeface="Arial" panose="020B0604020202020204" pitchFamily="34" charset="0"/>
                        </a:rPr>
                        <a:t>2</a:t>
                      </a:r>
                      <a:r>
                        <a:rPr lang="en-US" sz="11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33014747"/>
                  </a:ext>
                </a:extLst>
              </a:tr>
              <a:tr h="190500">
                <a:tc>
                  <a:txBody>
                    <a:bodyPr/>
                    <a:lstStyle/>
                    <a:p>
                      <a:pPr algn="ctr" rtl="0" fontAlgn="ctr"/>
                      <a:r>
                        <a:rPr lang="en-US" sz="1100" b="0" i="0" u="none" strike="noStrike" dirty="0">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779.90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872.50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38083"/>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811.25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881.38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4844286"/>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794.00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820.60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1087224"/>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829.24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905.68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6110264"/>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887.44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897.04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6178105"/>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844.39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833.60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8522016"/>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851.46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885.70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7059282"/>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799.79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838.27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2877946"/>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903.47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837.62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7178712"/>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876.02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863.52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4974870"/>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904.05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892.00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5777479"/>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918.50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847.93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2676050"/>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890.05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885.27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104159"/>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904.20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786.15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833206"/>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a:solidFill>
                            <a:srgbClr val="000000"/>
                          </a:solidFill>
                          <a:effectLst/>
                          <a:latin typeface="Arial" panose="020F0502020204030204" pitchFamily="34" charset="0"/>
                          <a:ea typeface="Arial"/>
                        </a:rPr>
                        <a:t>748.30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dirty="0">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100" b="0" i="0" u="none" strike="noStrike" dirty="0">
                          <a:solidFill>
                            <a:srgbClr val="000000"/>
                          </a:solidFill>
                          <a:effectLst/>
                          <a:latin typeface="Arial" panose="020F0502020204030204" pitchFamily="34" charset="0"/>
                          <a:ea typeface="Arial"/>
                        </a:rPr>
                        <a:t>859.40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796975"/>
                  </a:ext>
                </a:extLst>
              </a:tr>
            </a:tbl>
          </a:graphicData>
        </a:graphic>
      </p:graphicFrame>
      <p:cxnSp>
        <p:nvCxnSpPr>
          <p:cNvPr id="16" name="Straight Connector 15">
            <a:extLst>
              <a:ext uri="{FF2B5EF4-FFF2-40B4-BE49-F238E27FC236}">
                <a16:creationId xmlns:a16="http://schemas.microsoft.com/office/drawing/2014/main" id="{87501724-7158-4FE8-ACBA-6688A19E2B8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9BD94B-49AB-4069-9056-4246765E0D3B}"/>
              </a:ext>
            </a:extLst>
          </p:cNvPr>
          <p:cNvSpPr txBox="1"/>
          <p:nvPr/>
        </p:nvSpPr>
        <p:spPr>
          <a:xfrm>
            <a:off x="5482309" y="3107127"/>
            <a:ext cx="2355668" cy="707886"/>
          </a:xfrm>
          <a:prstGeom prst="rect">
            <a:avLst/>
          </a:prstGeom>
          <a:noFill/>
        </p:spPr>
        <p:txBody>
          <a:bodyPr wrap="square" rtlCol="0">
            <a:noAutofit/>
          </a:bodyPr>
          <a:lstStyle/>
          <a:p>
            <a:pPr>
              <a:spcBef>
                <a:spcPts val="600"/>
              </a:spcBef>
            </a:pPr>
            <a:r>
              <a:rPr lang="en-GB" sz="1100" dirty="0">
                <a:latin typeface="Arial" panose="020B0600000101010101" pitchFamily="34" charset="-127"/>
                <a:ea typeface="Arial" panose="020B0600000101010101" pitchFamily="34" charset="-127"/>
              </a:rPr>
              <a:t>Spec: </a:t>
            </a:r>
            <a:r>
              <a:rPr lang="en-US" sz="11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a:spcBef>
                <a:spcPts val="600"/>
              </a:spcBef>
            </a:pPr>
            <a:r>
              <a:rPr lang="en-GB" sz="1100" dirty="0">
                <a:latin typeface="Arial" panose="020B0600000101010101" pitchFamily="34" charset="-127"/>
                <a:ea typeface="Arial" panose="020B0600000101010101" pitchFamily="34" charset="-127"/>
              </a:rPr>
              <a:t>Reference value: 910 (golden sample)</a:t>
            </a:r>
          </a:p>
          <a:p>
            <a:pPr>
              <a:spcBef>
                <a:spcPts val="600"/>
              </a:spcBef>
            </a:pPr>
            <a:r>
              <a:rPr lang="en-US" sz="1100" dirty="0">
                <a:latin typeface="Arial" panose="020B0600000101010101" pitchFamily="34" charset="-127"/>
                <a:ea typeface="Arial" panose="020B0600000101010101" pitchFamily="34" charset="-127"/>
              </a:rPr>
              <a:t>Resolution of Instrument: 0.01 </a:t>
            </a:r>
          </a:p>
        </p:txBody>
      </p:sp>
      <p:pic>
        <p:nvPicPr>
          <p:cNvPr id="4" name="Picture 3">
            <a:extLst>
              <a:ext uri="{FF2B5EF4-FFF2-40B4-BE49-F238E27FC236}">
                <a16:creationId xmlns:a16="http://schemas.microsoft.com/office/drawing/2014/main" id="{B77B3597-6FB3-429B-AD6A-0BC49F816375}"/>
              </a:ext>
            </a:extLst>
          </p:cNvPr>
          <p:cNvPicPr>
            <a:picLocks noChangeAspect="1"/>
          </p:cNvPicPr>
          <p:nvPr/>
        </p:nvPicPr>
        <p:blipFill>
          <a:blip r:embed="rId4"/>
          <a:stretch>
            <a:fillRect/>
          </a:stretch>
        </p:blipFill>
        <p:spPr>
          <a:xfrm>
            <a:off x="5494865" y="3811302"/>
            <a:ext cx="4256925" cy="2859916"/>
          </a:xfrm>
          <a:prstGeom prst="rect">
            <a:avLst/>
          </a:prstGeom>
        </p:spPr>
      </p:pic>
      <p:sp>
        <p:nvSpPr>
          <p:cNvPr id="25" name="TextBox 24">
            <a:extLst>
              <a:ext uri="{FF2B5EF4-FFF2-40B4-BE49-F238E27FC236}">
                <a16:creationId xmlns:a16="http://schemas.microsoft.com/office/drawing/2014/main" id="{1C130328-DF82-4F66-919E-E17B44353E09}"/>
              </a:ext>
            </a:extLst>
          </p:cNvPr>
          <p:cNvSpPr txBox="1"/>
          <p:nvPr/>
        </p:nvSpPr>
        <p:spPr>
          <a:xfrm>
            <a:off x="95421" y="792716"/>
            <a:ext cx="5354074" cy="1015663"/>
          </a:xfrm>
          <a:prstGeom prst="rect">
            <a:avLst/>
          </a:prstGeom>
          <a:noFill/>
        </p:spPr>
        <p:txBody>
          <a:bodyPr wrap="square" rtlCol="0">
            <a:noAutofit/>
          </a:bodyPr>
          <a:lstStyle/>
          <a:p>
            <a:pPr latinLnBrk="0"/>
            <a:r>
              <a:rPr lang="en-US" sz="1100" dirty="0">
                <a:latin typeface="Arial" panose="020B0604020202020204" pitchFamily="34" charset="0"/>
                <a:ea typeface="Arial Unicode MS" panose="020B0604020202020204" pitchFamily="34" charset="-128"/>
                <a:cs typeface="Arial" panose="020B0604020202020204" pitchFamily="34" charset="0"/>
              </a:rPr>
              <a:t>I choose gage study type 1 to assess the ability of component to measure based on repeatability and bias of the instrument.</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rPr>
              <a:t>In this case, choose 1 sample and repeated test for 30 times.</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
        <p:nvSpPr>
          <p:cNvPr id="30" name="TextBox 29">
            <a:extLst>
              <a:ext uri="{FF2B5EF4-FFF2-40B4-BE49-F238E27FC236}">
                <a16:creationId xmlns:a16="http://schemas.microsoft.com/office/drawing/2014/main" id="{B96D4B9C-38B5-48CE-89A8-155AFE43FEA6}"/>
              </a:ext>
            </a:extLst>
          </p:cNvPr>
          <p:cNvSpPr txBox="1"/>
          <p:nvPr/>
        </p:nvSpPr>
        <p:spPr>
          <a:xfrm>
            <a:off x="0" y="6048000"/>
            <a:ext cx="5040000" cy="468000"/>
          </a:xfrm>
          <a:prstGeom prst="rect">
            <a:avLst/>
          </a:prstGeom>
          <a:noFill/>
        </p:spPr>
        <p:txBody>
          <a:bodyPr wrap="square" rtlCol="0">
            <a:noAutofit/>
          </a:bodyPr>
          <a:lstStyle/>
          <a:p>
            <a:pPr marL="171450" indent="-171450">
              <a:buFont typeface="Wingdings" panose="05000000000000000000" pitchFamily="2" charset="2"/>
              <a:buChar char="à"/>
            </a:pPr>
            <a:r>
              <a:rPr lang="en-US" sz="1100" dirty="0">
                <a:latin typeface="Arial" panose="020B0604020202020204" pitchFamily="34" charset="0"/>
                <a:ea typeface="Arial Unicode MS" panose="020B0604020202020204" pitchFamily="34" charset="-128"/>
                <a:cs typeface="Arial" panose="020B0604020202020204" pitchFamily="34" charset="0"/>
              </a:rPr>
              <a:t>Equipment has problem. Cannot measure parts consistently. Need to improve measurement system.</a:t>
            </a:r>
          </a:p>
        </p:txBody>
      </p:sp>
    </p:spTree>
    <p:extLst>
      <p:ext uri="{BB962C8B-B14F-4D97-AF65-F5344CB8AC3E}">
        <p14:creationId xmlns:p14="http://schemas.microsoft.com/office/powerpoint/2010/main" val="4026112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483810" cy="418058"/>
          </a:xfrm>
          <a:prstGeom prst="rect">
            <a:avLst/>
          </a:prstGeom>
        </p:spPr>
        <p:txBody>
          <a:bodyPr vert="horz" lIns="91440" tIns="45720" rIns="91440" bIns="45720" rtlCol="0" anchor="ctr">
            <a:normAutofit/>
          </a:bodyPr>
          <a:lstStyle/>
          <a:p>
            <a:pPr lvl="0" ea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2.3</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a:t>
            </a: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 sample T-test for station 1 and 2</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a:r>
              <a:rPr sz="1000" b="0">
                <a:latin typeface="Arial"/>
              </a:rPr>
              <a:t>09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0"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Measure </a:t>
            </a:r>
          </a:p>
        </p:txBody>
      </p:sp>
      <p:sp>
        <p:nvSpPr>
          <p:cNvPr id="30" name="TextBox 29">
            <a:extLst>
              <a:ext uri="{FF2B5EF4-FFF2-40B4-BE49-F238E27FC236}">
                <a16:creationId xmlns:a16="http://schemas.microsoft.com/office/drawing/2014/main" id="{D9E5C935-A679-448F-A219-59149360E3B9}"/>
              </a:ext>
            </a:extLst>
          </p:cNvPr>
          <p:cNvSpPr txBox="1"/>
          <p:nvPr/>
        </p:nvSpPr>
        <p:spPr>
          <a:xfrm>
            <a:off x="-1" y="927882"/>
            <a:ext cx="2095403" cy="253916"/>
          </a:xfrm>
          <a:prstGeom prst="rect">
            <a:avLst/>
          </a:prstGeom>
          <a:noFill/>
        </p:spPr>
        <p:txBody>
          <a:bodyPr wrap="square" rtlCol="0">
            <a:noAutofit/>
          </a:bodyPr>
          <a:lstStyle/>
          <a:p>
            <a:pPr lvl="0"/>
            <a:r>
              <a:rPr lang="en-US" altLang="ko-KR" sz="1100" dirty="0">
                <a:latin typeface="Arial" panose="020B0604020202020204" pitchFamily="34" charset="0"/>
                <a:ea typeface="Arial Unicode MS" panose="020B0604020202020204" pitchFamily="34" charset="-128"/>
                <a:cs typeface="Arial" panose="020B0604020202020204" pitchFamily="34" charset="0"/>
              </a:rPr>
              <a:t>Spec: 80</a:t>
            </a:r>
            <a:r>
              <a:rPr lang="vi-VN" altLang="ko-KR" sz="1100" dirty="0">
                <a:latin typeface="Arial" panose="020B0604020202020204" pitchFamily="34" charset="0"/>
                <a:ea typeface="Arial Unicode MS" panose="020B0604020202020204" pitchFamily="34" charset="-128"/>
                <a:cs typeface="Arial" panose="020B0604020202020204" pitchFamily="34" charset="0"/>
              </a:rPr>
              <a:t>0-</a:t>
            </a:r>
            <a:r>
              <a:rPr lang="en-US" altLang="ko-KR" sz="1100" dirty="0">
                <a:latin typeface="Arial" panose="020B0604020202020204" pitchFamily="34" charset="0"/>
                <a:ea typeface="Arial Unicode MS" panose="020B0604020202020204" pitchFamily="34" charset="-128"/>
                <a:cs typeface="Arial" panose="020B0604020202020204" pitchFamily="34" charset="0"/>
              </a:rPr>
              <a:t> 2000 Cd/m</a:t>
            </a:r>
            <a:r>
              <a:rPr lang="en-US" altLang="ko-KR" sz="1100" baseline="30000" dirty="0">
                <a:latin typeface="Arial" panose="020B0604020202020204" pitchFamily="34" charset="0"/>
                <a:ea typeface="Arial Unicode MS" panose="020B0604020202020204" pitchFamily="34" charset="-128"/>
                <a:cs typeface="Arial" panose="020B0604020202020204" pitchFamily="34" charset="0"/>
              </a:rPr>
              <a:t>2</a:t>
            </a:r>
            <a:endParaRPr lang="vi-VN" altLang="ko-KR" sz="1050" baseline="30000" dirty="0">
              <a:latin typeface="Arial" panose="020B0604020202020204" pitchFamily="34" charset="0"/>
              <a:ea typeface="Arial Unicode MS" panose="020B0604020202020204" pitchFamily="34" charset="-128"/>
              <a:cs typeface="Arial" panose="020B0604020202020204" pitchFamily="34" charset="0"/>
            </a:endParaRPr>
          </a:p>
        </p:txBody>
      </p:sp>
      <p:sp>
        <p:nvSpPr>
          <p:cNvPr id="36" name="TextBox 35">
            <a:extLst>
              <a:ext uri="{FF2B5EF4-FFF2-40B4-BE49-F238E27FC236}">
                <a16:creationId xmlns:a16="http://schemas.microsoft.com/office/drawing/2014/main" id="{9E7385E5-B0FF-48A1-8457-CA79A2D0544B}"/>
              </a:ext>
            </a:extLst>
          </p:cNvPr>
          <p:cNvSpPr txBox="1"/>
          <p:nvPr/>
        </p:nvSpPr>
        <p:spPr>
          <a:xfrm>
            <a:off x="34730" y="5599971"/>
            <a:ext cx="9782021" cy="1015663"/>
          </a:xfrm>
          <a:prstGeom prst="rect">
            <a:avLst/>
          </a:prstGeom>
          <a:noFill/>
        </p:spPr>
        <p:txBody>
          <a:bodyPr wrap="square" rtlCol="0">
            <a:noAutofit/>
          </a:bodyPr>
          <a:lstStyle/>
          <a:p>
            <a:pPr marL="171450" indent="-171450" latinLnBrk="0">
              <a:buFont typeface="Wingdings" panose="05000000000000000000" pitchFamily="2" charset="2"/>
              <a:buChar char="Ø"/>
            </a:pPr>
            <a:r>
              <a:rPr lang="vi-VN" sz="11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r>
              <a:rPr lang="en-US"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we chose 30 samples and tested at 2 stations.</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H0: there is no significant difference between station 1 and station 2</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H1: there is a significant difference between station 1 and station 2</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P value = 0.002 </a:t>
            </a:r>
            <a:r>
              <a:rPr lang="en-US" sz="1100" dirty="0">
                <a:latin typeface="Arial" panose="020B0604020202020204" pitchFamily="34" charset="0"/>
                <a:ea typeface="Arial Unicode MS" panose="020B0604020202020204" pitchFamily="34" charset="-128"/>
                <a:cs typeface="Arial" panose="020B0604020202020204" pitchFamily="34" charset="0"/>
              </a:rPr>
              <a:t>≤</a:t>
            </a:r>
            <a:r>
              <a:rPr lang="en-US"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0.05  reject H0,</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The charts also showed that measurement value have different between station1 and station 2. So need to check why there is difference.</a:t>
            </a:r>
          </a:p>
        </p:txBody>
      </p:sp>
      <p:sp>
        <p:nvSpPr>
          <p:cNvPr id="27" name="TextBox 26">
            <a:extLst>
              <a:ext uri="{FF2B5EF4-FFF2-40B4-BE49-F238E27FC236}">
                <a16:creationId xmlns:a16="http://schemas.microsoft.com/office/drawing/2014/main" id="{FE78B3B8-2924-481E-8842-ADE05DED80C1}"/>
              </a:ext>
            </a:extLst>
          </p:cNvPr>
          <p:cNvSpPr txBox="1"/>
          <p:nvPr/>
        </p:nvSpPr>
        <p:spPr>
          <a:xfrm>
            <a:off x="0" y="626425"/>
            <a:ext cx="7687914" cy="253916"/>
          </a:xfrm>
          <a:prstGeom prst="rect">
            <a:avLst/>
          </a:prstGeom>
          <a:noFill/>
        </p:spPr>
        <p:txBody>
          <a:bodyPr wrap="square" rtlCol="0">
            <a:noAutofit/>
          </a:bodyPr>
          <a:lstStyle/>
          <a:p>
            <a:pPr latinLnBrk="0"/>
            <a:r>
              <a:rPr lang="en-US"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After check Type 1 study, Comparing among 2 stations of Luminance process. </a:t>
            </a:r>
          </a:p>
        </p:txBody>
      </p:sp>
      <p:pic>
        <p:nvPicPr>
          <p:cNvPr id="2" name="Picture 1">
            <a:extLst>
              <a:ext uri="{FF2B5EF4-FFF2-40B4-BE49-F238E27FC236}">
                <a16:creationId xmlns:a16="http://schemas.microsoft.com/office/drawing/2014/main" id="{3987904E-49C2-44F0-A842-54AB4869F41A}"/>
              </a:ext>
            </a:extLst>
          </p:cNvPr>
          <p:cNvPicPr>
            <a:picLocks noChangeAspect="1"/>
          </p:cNvPicPr>
          <p:nvPr/>
        </p:nvPicPr>
        <p:blipFill>
          <a:blip r:embed="rId3"/>
          <a:stretch>
            <a:fillRect/>
          </a:stretch>
        </p:blipFill>
        <p:spPr>
          <a:xfrm>
            <a:off x="2636688" y="960965"/>
            <a:ext cx="3342417" cy="4325482"/>
          </a:xfrm>
          <a:prstGeom prst="rect">
            <a:avLst/>
          </a:prstGeom>
        </p:spPr>
      </p:pic>
      <p:graphicFrame>
        <p:nvGraphicFramePr>
          <p:cNvPr id="4" name="Table 3">
            <a:extLst>
              <a:ext uri="{FF2B5EF4-FFF2-40B4-BE49-F238E27FC236}">
                <a16:creationId xmlns:a16="http://schemas.microsoft.com/office/drawing/2014/main" id="{A95F8E66-B999-4B16-A397-ECFBB8B2E313}"/>
              </a:ext>
            </a:extLst>
          </p:cNvPr>
          <p:cNvGraphicFramePr>
            <a:graphicFrameLocks noGrp="1"/>
          </p:cNvGraphicFramePr>
          <p:nvPr>
            <p:extLst>
              <p:ext uri="{D42A27DB-BD31-4B8C-83A1-F6EECF244321}">
                <p14:modId xmlns:p14="http://schemas.microsoft.com/office/powerpoint/2010/main" val="1792688474"/>
              </p:ext>
            </p:extLst>
          </p:nvPr>
        </p:nvGraphicFramePr>
        <p:xfrm>
          <a:off x="198288" y="1246625"/>
          <a:ext cx="2438400" cy="4272722"/>
        </p:xfrm>
        <a:graphic>
          <a:graphicData uri="http://schemas.openxmlformats.org/drawingml/2006/table">
            <a:tbl>
              <a:tblPr/>
              <a:tblGrid>
                <a:gridCol w="1210301">
                  <a:extLst>
                    <a:ext uri="{9D8B030D-6E8A-4147-A177-3AD203B41FA5}">
                      <a16:colId xmlns:a16="http://schemas.microsoft.com/office/drawing/2014/main" val="307898533"/>
                    </a:ext>
                  </a:extLst>
                </a:gridCol>
                <a:gridCol w="1228099">
                  <a:extLst>
                    <a:ext uri="{9D8B030D-6E8A-4147-A177-3AD203B41FA5}">
                      <a16:colId xmlns:a16="http://schemas.microsoft.com/office/drawing/2014/main" val="655736119"/>
                    </a:ext>
                  </a:extLst>
                </a:gridCol>
              </a:tblGrid>
              <a:tr h="231602">
                <a:tc>
                  <a:txBody>
                    <a:bodyPr/>
                    <a:lstStyle/>
                    <a:p>
                      <a:pPr algn="ctr" fontAlgn="ctr"/>
                      <a:r>
                        <a:rPr lang="en-US" sz="700" b="1" i="0" u="none" strike="noStrike">
                          <a:effectLst/>
                          <a:latin typeface="Arial" panose="020B0604020202020204" pitchFamily="34" charset="0"/>
                        </a:rPr>
                        <a:t>Station 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fontAlgn="ctr"/>
                      <a:r>
                        <a:rPr lang="en-US" sz="700" b="1" i="0" u="none" strike="noStrike">
                          <a:effectLst/>
                          <a:latin typeface="Arial" panose="020B0604020202020204" pitchFamily="34" charset="0"/>
                        </a:rPr>
                        <a:t>Station 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885297216"/>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891.90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864.43</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673086"/>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908.25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902.75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0019459"/>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940.60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924.61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5483114"/>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910.68</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893.10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9080495"/>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921.04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910.28</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2556284"/>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893.60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885.34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4336398"/>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935.70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896.79</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8417878"/>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951.27</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911.49</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4854873"/>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937.62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930.12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85497659"/>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883.52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873.72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1452785"/>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908.00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933.11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8644068"/>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937.93</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899.03</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2755293"/>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935.27</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929.61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8286760"/>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886.15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857.73</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5104057"/>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929.40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919.88</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7224395"/>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934.00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913.82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4364568"/>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899.24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871.07</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5756269"/>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917.44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903.96</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0884834"/>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874.39</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851.55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90935398"/>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911.46</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883.16</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0803295"/>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890.79</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860.89</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5027192"/>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948.47</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903.74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2537219"/>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926.02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896.62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0257526"/>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944.05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932.64</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00843"/>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928.50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933.35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7560542"/>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906.05</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901.82</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1125240"/>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924.20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838.91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7217688"/>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878.30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869.70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4031932"/>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932.50</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903.21</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3890717"/>
                  </a:ext>
                </a:extLst>
              </a:tr>
              <a:tr h="134704">
                <a:tc>
                  <a:txBody>
                    <a:bodyPr/>
                    <a:lstStyle/>
                    <a:p>
                      <a:pPr algn="ctr" fontAlgn="ctr"/>
                      <a:r>
                        <a:rPr lang="en-US" sz="800" b="0" i="0" u="none" strike="noStrike">
                          <a:solidFill>
                            <a:srgbClr val="000000"/>
                          </a:solidFill>
                          <a:effectLst/>
                          <a:latin typeface="Arial" panose="020F0502020204030204" pitchFamily="34" charset="0"/>
                          <a:ea typeface="Arial"/>
                        </a:rPr>
                        <a:t>941.38</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Arial" panose="020F0502020204030204" pitchFamily="34" charset="0"/>
                          <a:ea typeface="Arial"/>
                        </a:rPr>
                        <a:t>919.98</a:t>
                      </a:r>
                    </a:p>
                  </a:txBody>
                  <a:tcPr marL="6788" marR="6788" marT="678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0850763"/>
                  </a:ext>
                </a:extLst>
              </a:tr>
            </a:tbl>
          </a:graphicData>
        </a:graphic>
      </p:graphicFrame>
      <p:pic>
        <p:nvPicPr>
          <p:cNvPr id="5" name="Picture 4">
            <a:extLst>
              <a:ext uri="{FF2B5EF4-FFF2-40B4-BE49-F238E27FC236}">
                <a16:creationId xmlns:a16="http://schemas.microsoft.com/office/drawing/2014/main" id="{32634A20-0F4B-48F7-A961-2452DB4CD82E}"/>
              </a:ext>
            </a:extLst>
          </p:cNvPr>
          <p:cNvPicPr>
            <a:picLocks noChangeAspect="1"/>
          </p:cNvPicPr>
          <p:nvPr/>
        </p:nvPicPr>
        <p:blipFill>
          <a:blip r:embed="rId4"/>
          <a:stretch>
            <a:fillRect/>
          </a:stretch>
        </p:blipFill>
        <p:spPr>
          <a:xfrm>
            <a:off x="5971827" y="1077174"/>
            <a:ext cx="3182589" cy="2162982"/>
          </a:xfrm>
          <a:prstGeom prst="rect">
            <a:avLst/>
          </a:prstGeom>
        </p:spPr>
      </p:pic>
      <p:pic>
        <p:nvPicPr>
          <p:cNvPr id="9" name="Picture 8">
            <a:extLst>
              <a:ext uri="{FF2B5EF4-FFF2-40B4-BE49-F238E27FC236}">
                <a16:creationId xmlns:a16="http://schemas.microsoft.com/office/drawing/2014/main" id="{E750542D-191C-4C67-9DBF-9C0B275A9FD3}"/>
              </a:ext>
            </a:extLst>
          </p:cNvPr>
          <p:cNvPicPr>
            <a:picLocks noChangeAspect="1"/>
          </p:cNvPicPr>
          <p:nvPr/>
        </p:nvPicPr>
        <p:blipFill>
          <a:blip r:embed="rId5"/>
          <a:stretch>
            <a:fillRect/>
          </a:stretch>
        </p:blipFill>
        <p:spPr>
          <a:xfrm>
            <a:off x="5984248" y="3289525"/>
            <a:ext cx="3084791" cy="2091188"/>
          </a:xfrm>
          <a:prstGeom prst="rect">
            <a:avLst/>
          </a:prstGeom>
        </p:spPr>
      </p:pic>
      <p:cxnSp>
        <p:nvCxnSpPr>
          <p:cNvPr id="16" name="Straight Connector 15">
            <a:extLst>
              <a:ext uri="{FF2B5EF4-FFF2-40B4-BE49-F238E27FC236}">
                <a16:creationId xmlns:a16="http://schemas.microsoft.com/office/drawing/2014/main" id="{E4C20D42-CB99-42D8-B193-D16FD5EB9FCB}"/>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143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483810" cy="418058"/>
          </a:xfrm>
          <a:prstGeom prst="rect">
            <a:avLst/>
          </a:prstGeom>
        </p:spPr>
        <p:txBody>
          <a:bodyPr vert="horz" lIns="91440" tIns="45720" rIns="91440" bIns="45720" rtlCol="0" anchor="ctr">
            <a:normAutofit/>
          </a:bodyPr>
          <a:lstStyle/>
          <a:p>
            <a:pPr lvl="0" ea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2.4</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a:t>
            </a: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Type 3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a:r>
              <a:rPr sz="1000" b="0">
                <a:latin typeface="Arial"/>
              </a:rPr>
              <a:t>10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0"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Measure </a:t>
            </a:r>
          </a:p>
        </p:txBody>
      </p:sp>
      <p:sp>
        <p:nvSpPr>
          <p:cNvPr id="4" name="Rectangle 3">
            <a:extLst>
              <a:ext uri="{FF2B5EF4-FFF2-40B4-BE49-F238E27FC236}">
                <a16:creationId xmlns:a16="http://schemas.microsoft.com/office/drawing/2014/main" id="{48934BF3-CC0B-450B-ACCE-8B259B73DAE4}"/>
              </a:ext>
            </a:extLst>
          </p:cNvPr>
          <p:cNvSpPr/>
          <p:nvPr/>
        </p:nvSpPr>
        <p:spPr>
          <a:xfrm>
            <a:off x="179294" y="1429017"/>
            <a:ext cx="1765227" cy="261610"/>
          </a:xfrm>
          <a:prstGeom prst="rect">
            <a:avLst/>
          </a:prstGeom>
        </p:spPr>
        <p:txBody>
          <a:bodyPr wrap="none">
            <a:noAutofit/>
          </a:bodyPr>
          <a:lstStyle/>
          <a:p>
            <a:r>
              <a:rPr lang="en-US" sz="1100" dirty="0">
                <a:latin typeface="Arial" panose="020B0604020202020204" pitchFamily="34" charset="0"/>
                <a:ea typeface="Arial Unicode MS" panose="020B0604020202020204" pitchFamily="34" charset="-128"/>
                <a:cs typeface="Arial" panose="020B0604020202020204" pitchFamily="34" charset="0"/>
              </a:rPr>
              <a:t>Spec: 800- 2000 (Cd/m2)</a:t>
            </a:r>
            <a:endParaRPr lang="en-US" sz="1100" dirty="0"/>
          </a:p>
        </p:txBody>
      </p:sp>
      <p:sp>
        <p:nvSpPr>
          <p:cNvPr id="19" name="TextBox 18">
            <a:extLst>
              <a:ext uri="{FF2B5EF4-FFF2-40B4-BE49-F238E27FC236}">
                <a16:creationId xmlns:a16="http://schemas.microsoft.com/office/drawing/2014/main" id="{FE0BCEBF-7305-42B3-B115-08C7954FB69C}"/>
              </a:ext>
            </a:extLst>
          </p:cNvPr>
          <p:cNvSpPr txBox="1"/>
          <p:nvPr/>
        </p:nvSpPr>
        <p:spPr>
          <a:xfrm>
            <a:off x="49365" y="554971"/>
            <a:ext cx="2070352" cy="276999"/>
          </a:xfrm>
          <a:prstGeom prst="rect">
            <a:avLst/>
          </a:prstGeom>
          <a:noFill/>
        </p:spPr>
        <p:txBody>
          <a:bodyPr wrap="square" rtlCol="0">
            <a:no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a:t>
            </a:r>
            <a:r>
              <a:rPr lang="en-US" sz="1100" b="1" dirty="0">
                <a:latin typeface="Arial" panose="020B0604020202020204" pitchFamily="34" charset="0"/>
                <a:ea typeface="Arial Unicode MS" panose="020B0604020202020204" pitchFamily="34" charset="-128"/>
                <a:cs typeface="Arial" panose="020B0604020202020204" pitchFamily="34" charset="0"/>
              </a:rPr>
              <a:t>2 Luminance</a:t>
            </a:r>
          </a:p>
        </p:txBody>
      </p:sp>
      <p:sp>
        <p:nvSpPr>
          <p:cNvPr id="16" name="TextBox 15">
            <a:extLst>
              <a:ext uri="{FF2B5EF4-FFF2-40B4-BE49-F238E27FC236}">
                <a16:creationId xmlns:a16="http://schemas.microsoft.com/office/drawing/2014/main" id="{424CE4AD-BCCA-49E0-A50B-E95635AC090C}"/>
              </a:ext>
            </a:extLst>
          </p:cNvPr>
          <p:cNvSpPr txBox="1"/>
          <p:nvPr/>
        </p:nvSpPr>
        <p:spPr>
          <a:xfrm>
            <a:off x="67838" y="867970"/>
            <a:ext cx="9281571" cy="525047"/>
          </a:xfrm>
          <a:prstGeom prst="rect">
            <a:avLst/>
          </a:prstGeom>
          <a:noFill/>
        </p:spPr>
        <p:txBody>
          <a:bodyPr wrap="square" rtlCol="0">
            <a:noAutofit/>
          </a:bodyPr>
          <a:lstStyle/>
          <a:p>
            <a:pPr latinLnBrk="0"/>
            <a:r>
              <a:rPr lang="en-US" sz="1100" dirty="0">
                <a:latin typeface="Arial" panose="020B0604020202020204" pitchFamily="34" charset="0"/>
                <a:ea typeface="Arial Unicode MS" panose="020B0604020202020204" pitchFamily="34" charset="-128"/>
                <a:cs typeface="Arial" panose="020B0604020202020204" pitchFamily="34" charset="0"/>
              </a:rPr>
              <a:t>Need to evaluate repeatability and reproducibility. </a:t>
            </a:r>
          </a:p>
          <a:p>
            <a:pPr latinLnBrk="0"/>
            <a:r>
              <a:rPr sz="1100" b="0">
                <a:latin typeface="Arial"/>
              </a:rPr>
              <a:t>Because the Luminance station is fully automated with no operator influence, Type 3 Gage Study is used to evaluate equipment repeatability.</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rPr>
              <a:t>In type 3 study, use 25 samples to verify station, each sample is measured repeat 2 times.</a:t>
            </a:r>
          </a:p>
        </p:txBody>
      </p:sp>
      <p:graphicFrame>
        <p:nvGraphicFramePr>
          <p:cNvPr id="5" name="Table 4">
            <a:extLst>
              <a:ext uri="{FF2B5EF4-FFF2-40B4-BE49-F238E27FC236}">
                <a16:creationId xmlns:a16="http://schemas.microsoft.com/office/drawing/2014/main" id="{B177F281-A5EB-4A9B-8F2B-81AE0B6EDB3C}"/>
              </a:ext>
            </a:extLst>
          </p:cNvPr>
          <p:cNvGraphicFramePr>
            <a:graphicFrameLocks noGrp="1"/>
          </p:cNvGraphicFramePr>
          <p:nvPr>
            <p:extLst>
              <p:ext uri="{D42A27DB-BD31-4B8C-83A1-F6EECF244321}">
                <p14:modId xmlns:p14="http://schemas.microsoft.com/office/powerpoint/2010/main" val="3322818604"/>
              </p:ext>
            </p:extLst>
          </p:nvPr>
        </p:nvGraphicFramePr>
        <p:xfrm>
          <a:off x="169589" y="1655916"/>
          <a:ext cx="2330040" cy="4516281"/>
        </p:xfrm>
        <a:graphic>
          <a:graphicData uri="http://schemas.openxmlformats.org/drawingml/2006/table">
            <a:tbl>
              <a:tblPr/>
              <a:tblGrid>
                <a:gridCol w="582510">
                  <a:extLst>
                    <a:ext uri="{9D8B030D-6E8A-4147-A177-3AD203B41FA5}">
                      <a16:colId xmlns:a16="http://schemas.microsoft.com/office/drawing/2014/main" val="2099896177"/>
                    </a:ext>
                  </a:extLst>
                </a:gridCol>
                <a:gridCol w="582510">
                  <a:extLst>
                    <a:ext uri="{9D8B030D-6E8A-4147-A177-3AD203B41FA5}">
                      <a16:colId xmlns:a16="http://schemas.microsoft.com/office/drawing/2014/main" val="1074729442"/>
                    </a:ext>
                  </a:extLst>
                </a:gridCol>
                <a:gridCol w="582510">
                  <a:extLst>
                    <a:ext uri="{9D8B030D-6E8A-4147-A177-3AD203B41FA5}">
                      <a16:colId xmlns:a16="http://schemas.microsoft.com/office/drawing/2014/main" val="3326624257"/>
                    </a:ext>
                  </a:extLst>
                </a:gridCol>
                <a:gridCol w="582510">
                  <a:extLst>
                    <a:ext uri="{9D8B030D-6E8A-4147-A177-3AD203B41FA5}">
                      <a16:colId xmlns:a16="http://schemas.microsoft.com/office/drawing/2014/main" val="2970423013"/>
                    </a:ext>
                  </a:extLst>
                </a:gridCol>
              </a:tblGrid>
              <a:tr h="148506">
                <a:tc>
                  <a:txBody>
                    <a:bodyPr/>
                    <a:lstStyle/>
                    <a:p>
                      <a:pPr algn="ctr" rtl="0" fontAlgn="ctr"/>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390625296"/>
                  </a:ext>
                </a:extLst>
              </a:tr>
              <a:tr h="174711">
                <a:tc>
                  <a:txBody>
                    <a:bodyPr/>
                    <a:lstStyle/>
                    <a:p>
                      <a:pPr algn="ctr" fontAlgn="ctr"/>
                      <a:r>
                        <a:rPr lang="en-US" sz="1000" b="0" i="0" u="none" strike="noStrike" dirty="0">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796.95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837.73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854035"/>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786.61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811.78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1343685"/>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794.73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833.46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9857023"/>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796.58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836.42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6114638"/>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838.61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837.85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496341"/>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839.58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817.70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5333353"/>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810.76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857.9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3066934"/>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830.05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837.17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1478065"/>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815.12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838.29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3816260"/>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835.75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828.88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8845378"/>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823.98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826.94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617241"/>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834.57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840.14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7381478"/>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827.40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839.72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5102378"/>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827.69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830.75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610026"/>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839.12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830.78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1586263"/>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835.42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823.24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1476966"/>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839.73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826.32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5727971"/>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842.06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825.35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5129022"/>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834.01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827.79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5630667"/>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834.48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838.87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3080362"/>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834.67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837.29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8228352"/>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836.61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850.33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5533224"/>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786.15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819.42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8743622"/>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780.77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755.89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9111923"/>
                  </a:ext>
                </a:extLst>
              </a:tr>
              <a:tr h="174711">
                <a:tc>
                  <a:txBody>
                    <a:bodyPr/>
                    <a:lstStyle/>
                    <a:p>
                      <a:pPr algn="ctr" fontAlgn="ctr"/>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827.29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853.94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2125278"/>
                  </a:ext>
                </a:extLst>
              </a:tr>
            </a:tbl>
          </a:graphicData>
        </a:graphic>
      </p:graphicFrame>
      <p:sp>
        <p:nvSpPr>
          <p:cNvPr id="32" name="TextBox 31">
            <a:extLst>
              <a:ext uri="{FF2B5EF4-FFF2-40B4-BE49-F238E27FC236}">
                <a16:creationId xmlns:a16="http://schemas.microsoft.com/office/drawing/2014/main" id="{7CF4679F-CC6C-45D5-90C5-B2C94D3F932D}"/>
              </a:ext>
            </a:extLst>
          </p:cNvPr>
          <p:cNvSpPr txBox="1"/>
          <p:nvPr/>
        </p:nvSpPr>
        <p:spPr>
          <a:xfrm>
            <a:off x="5875171" y="4953000"/>
            <a:ext cx="4030829" cy="830997"/>
          </a:xfrm>
          <a:prstGeom prst="rect">
            <a:avLst/>
          </a:prstGeom>
          <a:noFill/>
        </p:spPr>
        <p:txBody>
          <a:bodyPr wrap="square" rtlCol="0">
            <a:noAutofit/>
          </a:bodyPr>
          <a:lstStyle/>
          <a:p>
            <a:pPr marL="171450" indent="-171450" latinLnBrk="0">
              <a:buFont typeface="Arial" panose="020B0604020202020204" pitchFamily="34" charset="0"/>
              <a:buChar char="•"/>
            </a:pPr>
            <a:r>
              <a:rPr lang="en-US" sz="11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100" dirty="0">
                <a:latin typeface="Arial" panose="020B0604020202020204" pitchFamily="34" charset="0"/>
                <a:ea typeface="Arial Unicode MS" panose="020B0604020202020204" pitchFamily="34" charset="-128"/>
                <a:cs typeface="Arial" panose="020B0604020202020204" pitchFamily="34" charset="0"/>
              </a:rPr>
              <a:t>R&amp;R = 7</a:t>
            </a:r>
            <a:r>
              <a:rPr lang="en-US" sz="1100" dirty="0">
                <a:latin typeface="Arial" panose="020B0604020202020204" pitchFamily="34" charset="0"/>
                <a:ea typeface="Arial Unicode MS" panose="020B0604020202020204" pitchFamily="34" charset="-128"/>
                <a:cs typeface="Arial" panose="020B0604020202020204" pitchFamily="34" charset="0"/>
              </a:rPr>
              <a:t>1</a:t>
            </a:r>
            <a:r>
              <a:rPr lang="vi-VN" sz="1100" dirty="0">
                <a:latin typeface="Arial" panose="020B0604020202020204" pitchFamily="34" charset="0"/>
                <a:ea typeface="Arial Unicode MS" panose="020B0604020202020204" pitchFamily="34" charset="-128"/>
                <a:cs typeface="Arial" panose="020B0604020202020204" pitchFamily="34" charset="0"/>
              </a:rPr>
              <a:t>.</a:t>
            </a:r>
            <a:r>
              <a:rPr lang="en-US" sz="1100" dirty="0">
                <a:latin typeface="Arial" panose="020B0604020202020204" pitchFamily="34" charset="0"/>
                <a:ea typeface="Arial Unicode MS" panose="020B0604020202020204" pitchFamily="34" charset="-128"/>
                <a:cs typeface="Arial" panose="020B0604020202020204" pitchFamily="34" charset="0"/>
              </a:rPr>
              <a:t>56</a:t>
            </a:r>
            <a:r>
              <a:rPr lang="vi-VN" sz="1100" dirty="0">
                <a:latin typeface="Arial" panose="020B0604020202020204" pitchFamily="34" charset="0"/>
                <a:ea typeface="Arial Unicode MS" panose="020B0604020202020204" pitchFamily="34" charset="-128"/>
                <a:cs typeface="Arial" panose="020B0604020202020204" pitchFamily="34" charset="0"/>
              </a:rPr>
              <a:t>% &gt; 10% </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NG</a:t>
            </a:r>
          </a:p>
          <a:p>
            <a:pPr marL="171450" indent="-171450" latinLnBrk="0">
              <a:buFont typeface="Arial" panose="020B0604020202020204" pitchFamily="34" charset="0"/>
              <a:buChar char="•"/>
            </a:pP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8</a:t>
            </a:r>
            <a:r>
              <a:rPr 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4.59</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&gt;</a:t>
            </a:r>
            <a:r>
              <a:rPr lang="vi-VN" sz="1100" dirty="0">
                <a:latin typeface="Arial" panose="020B0604020202020204" pitchFamily="34" charset="0"/>
                <a:ea typeface="Arial Unicode MS" panose="020B0604020202020204" pitchFamily="34" charset="-128"/>
                <a:cs typeface="Arial" panose="020B0604020202020204" pitchFamily="34" charset="0"/>
              </a:rPr>
              <a:t>10%</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 NG</a:t>
            </a:r>
          </a:p>
          <a:p>
            <a:pPr marL="171450" indent="-171450" latinLnBrk="0">
              <a:buFont typeface="Arial" panose="020B0604020202020204" pitchFamily="34" charset="0"/>
              <a:buChar char="•"/>
            </a:pPr>
            <a:r>
              <a:rPr lang="en-US"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Tolerance = 8.33 &lt; 10% </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OK</a:t>
            </a:r>
          </a:p>
          <a:p>
            <a:pPr marL="171450" indent="-171450" latinLnBrk="0">
              <a:buFont typeface="Arial" panose="020B0604020202020204" pitchFamily="34" charset="0"/>
              <a:buChar char="•"/>
            </a:pPr>
            <a:r>
              <a:rPr 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NDC: 1 &lt; 5  </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NG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p:txBody>
      </p:sp>
      <p:sp>
        <p:nvSpPr>
          <p:cNvPr id="33" name="TextBox 32">
            <a:extLst>
              <a:ext uri="{FF2B5EF4-FFF2-40B4-BE49-F238E27FC236}">
                <a16:creationId xmlns:a16="http://schemas.microsoft.com/office/drawing/2014/main" id="{905D7C2E-0446-4D3E-B01F-0F913AFAFE04}"/>
              </a:ext>
            </a:extLst>
          </p:cNvPr>
          <p:cNvSpPr txBox="1"/>
          <p:nvPr/>
        </p:nvSpPr>
        <p:spPr>
          <a:xfrm>
            <a:off x="59902" y="6296220"/>
            <a:ext cx="9369942" cy="311279"/>
          </a:xfrm>
          <a:prstGeom prst="rect">
            <a:avLst/>
          </a:prstGeom>
          <a:noFill/>
        </p:spPr>
        <p:txBody>
          <a:bodyPr wrap="square" rtlCol="0">
            <a:noAutofit/>
          </a:bodyPr>
          <a:lstStyle/>
          <a:p>
            <a:pPr marL="171450" indent="-171450" latinLnBrk="0">
              <a:buFont typeface="Wingdings" panose="05000000000000000000" pitchFamily="2" charset="2"/>
              <a:buChar char="Ø"/>
            </a:pPr>
            <a:r>
              <a:rPr lang="vi-VN" sz="11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 GR&amp;R Contribution=71.56% (&gt;10% NG), Study Var=84.59% (NG), Tolerance=8.33% (OK), NDC=1 (&lt;5 NG). System is NOT acceptable. Requires immediate improvement.</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pic>
        <p:nvPicPr>
          <p:cNvPr id="2" name="Picture 1">
            <a:extLst>
              <a:ext uri="{FF2B5EF4-FFF2-40B4-BE49-F238E27FC236}">
                <a16:creationId xmlns:a16="http://schemas.microsoft.com/office/drawing/2014/main" id="{9CC0D461-7724-4A16-8B0F-A1D501ACB4B3}"/>
              </a:ext>
            </a:extLst>
          </p:cNvPr>
          <p:cNvPicPr>
            <a:picLocks noChangeAspect="1"/>
          </p:cNvPicPr>
          <p:nvPr/>
        </p:nvPicPr>
        <p:blipFill>
          <a:blip r:embed="rId3"/>
          <a:stretch>
            <a:fillRect/>
          </a:stretch>
        </p:blipFill>
        <p:spPr>
          <a:xfrm>
            <a:off x="2588009" y="1579993"/>
            <a:ext cx="2700224" cy="3757612"/>
          </a:xfrm>
          <a:prstGeom prst="rect">
            <a:avLst/>
          </a:prstGeom>
        </p:spPr>
      </p:pic>
      <p:pic>
        <p:nvPicPr>
          <p:cNvPr id="3" name="Picture 2">
            <a:extLst>
              <a:ext uri="{FF2B5EF4-FFF2-40B4-BE49-F238E27FC236}">
                <a16:creationId xmlns:a16="http://schemas.microsoft.com/office/drawing/2014/main" id="{BA95E6EA-E652-449C-9F8A-5EFC5269E60F}"/>
              </a:ext>
            </a:extLst>
          </p:cNvPr>
          <p:cNvPicPr>
            <a:picLocks noChangeAspect="1"/>
          </p:cNvPicPr>
          <p:nvPr/>
        </p:nvPicPr>
        <p:blipFill>
          <a:blip r:embed="rId4"/>
          <a:stretch>
            <a:fillRect/>
          </a:stretch>
        </p:blipFill>
        <p:spPr>
          <a:xfrm>
            <a:off x="5482981" y="1579992"/>
            <a:ext cx="4264219" cy="3220607"/>
          </a:xfrm>
          <a:prstGeom prst="rect">
            <a:avLst/>
          </a:prstGeom>
        </p:spPr>
      </p:pic>
      <p:cxnSp>
        <p:nvCxnSpPr>
          <p:cNvPr id="18" name="Straight Connector 17">
            <a:extLst>
              <a:ext uri="{FF2B5EF4-FFF2-40B4-BE49-F238E27FC236}">
                <a16:creationId xmlns:a16="http://schemas.microsoft.com/office/drawing/2014/main" id="{C5241C5D-C65E-467C-9A84-DDA1FEE8E50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49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0" hangingPunct="0">
              <a:defRPr/>
            </a:pPr>
            <a:r>
              <a:rPr lang="en-US" altLang="ko-KR" sz="1600" b="1" kern="0" dirty="0">
                <a:solidFill>
                  <a:srgbClr val="000000"/>
                </a:solidFill>
                <a:latin typeface="Arial Narrow" panose="020B0606020202030204" pitchFamily="34" charset="0"/>
                <a:ea typeface="LG Smart_H Regular" pitchFamily="34" charset="-127"/>
              </a:rPr>
              <a:t>3.1 Find the Root Cause that making measurement system have problems</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689185" y="7103351"/>
            <a:ext cx="2133600" cy="198047"/>
          </a:xfrm>
        </p:spPr>
        <p:txBody>
          <a:bodyPr/>
          <a:lstStyle/>
          <a:p>
            <a:pPr algn="ctr"/>
            <a:r>
              <a:rPr sz="1000" b="0">
                <a:latin typeface="Arial"/>
              </a:rPr>
              <a:t>11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72" name="Text Box 2">
            <a:extLst>
              <a:ext uri="{FF2B5EF4-FFF2-40B4-BE49-F238E27FC236}">
                <a16:creationId xmlns:a16="http://schemas.microsoft.com/office/drawing/2014/main" id="{154D2356-34D8-4A47-AE3E-15659243DDEF}"/>
              </a:ext>
            </a:extLst>
          </p:cNvPr>
          <p:cNvSpPr txBox="1">
            <a:spLocks noChangeArrowheads="1"/>
          </p:cNvSpPr>
          <p:nvPr/>
        </p:nvSpPr>
        <p:spPr bwMode="auto">
          <a:xfrm>
            <a:off x="0" y="2684839"/>
            <a:ext cx="4114800" cy="304800"/>
          </a:xfrm>
          <a:prstGeom prst="rect">
            <a:avLst/>
          </a:prstGeom>
          <a:noFill/>
          <a:ln w="9525" algn="ctr">
            <a:noFill/>
            <a:miter lim="800000"/>
            <a:headEnd/>
            <a:tailEnd/>
          </a:ln>
        </p:spPr>
        <p:txBody>
          <a:bodyPr lIns="84374" tIns="42187" rIns="84374" bIns="42187" anchor="ctr"/>
          <a:lstStyle/>
          <a:p>
            <a:pPr defTabSz="844083" fontAlgn="base" latinLnBrk="1">
              <a:spcBef>
                <a:spcPct val="0"/>
              </a:spcBef>
              <a:spcAft>
                <a:spcPct val="0"/>
              </a:spcAft>
              <a:defRPr/>
            </a:pPr>
            <a:r>
              <a:rPr lang="en-US" altLang="ko-KR" sz="1100" b="1" dirty="0">
                <a:solidFill>
                  <a:srgbClr val="000000"/>
                </a:solidFill>
                <a:latin typeface="Arial" panose="020B0600000101010101" pitchFamily="34" charset="-127"/>
                <a:ea typeface="Arial" panose="020B0600000101010101" pitchFamily="34" charset="-127"/>
                <a:cs typeface="Arial" panose="020B0604020202020204" pitchFamily="34" charset="0"/>
              </a:rPr>
              <a:t>Logic tree analysis</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73" name="Rectangle 72">
            <a:extLst>
              <a:ext uri="{FF2B5EF4-FFF2-40B4-BE49-F238E27FC236}">
                <a16:creationId xmlns:a16="http://schemas.microsoft.com/office/drawing/2014/main" id="{98BB49C0-2391-4488-9636-39BB014241CF}"/>
              </a:ext>
            </a:extLst>
          </p:cNvPr>
          <p:cNvSpPr/>
          <p:nvPr/>
        </p:nvSpPr>
        <p:spPr>
          <a:xfrm>
            <a:off x="159774" y="3156008"/>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b="1" dirty="0">
                <a:solidFill>
                  <a:prstClr val="black"/>
                </a:solidFill>
                <a:latin typeface="Arial" panose="020B0600000101010101" pitchFamily="34" charset="-127"/>
                <a:ea typeface="Arial" panose="020B0600000101010101" pitchFamily="34" charset="-127"/>
                <a:cs typeface="Arial" pitchFamily="34" charset="0"/>
              </a:rPr>
              <a:t>Luminance at Station 2</a:t>
            </a:r>
          </a:p>
        </p:txBody>
      </p:sp>
      <p:sp>
        <p:nvSpPr>
          <p:cNvPr id="74" name="Rectangle 73">
            <a:extLst>
              <a:ext uri="{FF2B5EF4-FFF2-40B4-BE49-F238E27FC236}">
                <a16:creationId xmlns:a16="http://schemas.microsoft.com/office/drawing/2014/main" id="{8A7F75B1-1676-4838-AC23-A6F29218D318}"/>
              </a:ext>
            </a:extLst>
          </p:cNvPr>
          <p:cNvSpPr/>
          <p:nvPr/>
        </p:nvSpPr>
        <p:spPr>
          <a:xfrm>
            <a:off x="1651384" y="5944884"/>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Man</a:t>
            </a:r>
          </a:p>
        </p:txBody>
      </p:sp>
      <p:sp>
        <p:nvSpPr>
          <p:cNvPr id="75" name="Rectangle 74">
            <a:extLst>
              <a:ext uri="{FF2B5EF4-FFF2-40B4-BE49-F238E27FC236}">
                <a16:creationId xmlns:a16="http://schemas.microsoft.com/office/drawing/2014/main" id="{AA95EC89-2D59-457C-9D51-482F9FF272A8}"/>
              </a:ext>
            </a:extLst>
          </p:cNvPr>
          <p:cNvSpPr/>
          <p:nvPr/>
        </p:nvSpPr>
        <p:spPr>
          <a:xfrm>
            <a:off x="4719475" y="6271041"/>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Automatic process</a:t>
            </a:r>
          </a:p>
        </p:txBody>
      </p:sp>
      <p:sp>
        <p:nvSpPr>
          <p:cNvPr id="76" name="Rectangle 75">
            <a:extLst>
              <a:ext uri="{FF2B5EF4-FFF2-40B4-BE49-F238E27FC236}">
                <a16:creationId xmlns:a16="http://schemas.microsoft.com/office/drawing/2014/main" id="{D1A52889-10F4-4654-BF9E-1C234D11F6E6}"/>
              </a:ext>
            </a:extLst>
          </p:cNvPr>
          <p:cNvSpPr/>
          <p:nvPr/>
        </p:nvSpPr>
        <p:spPr>
          <a:xfrm>
            <a:off x="1618209" y="1427357"/>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Machine</a:t>
            </a:r>
          </a:p>
        </p:txBody>
      </p:sp>
      <p:sp>
        <p:nvSpPr>
          <p:cNvPr id="77" name="Rectangle 76">
            <a:extLst>
              <a:ext uri="{FF2B5EF4-FFF2-40B4-BE49-F238E27FC236}">
                <a16:creationId xmlns:a16="http://schemas.microsoft.com/office/drawing/2014/main" id="{8B2EA42F-BBCA-476E-A6D2-DCED7477DD94}"/>
              </a:ext>
            </a:extLst>
          </p:cNvPr>
          <p:cNvSpPr/>
          <p:nvPr/>
        </p:nvSpPr>
        <p:spPr>
          <a:xfrm>
            <a:off x="3132282" y="1603784"/>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Pallet</a:t>
            </a:r>
          </a:p>
        </p:txBody>
      </p:sp>
      <p:sp>
        <p:nvSpPr>
          <p:cNvPr id="78" name="Rectangle 77">
            <a:extLst>
              <a:ext uri="{FF2B5EF4-FFF2-40B4-BE49-F238E27FC236}">
                <a16:creationId xmlns:a16="http://schemas.microsoft.com/office/drawing/2014/main" id="{CB14BB72-DACF-49D8-B9E7-7795EBE9B6A4}"/>
              </a:ext>
            </a:extLst>
          </p:cNvPr>
          <p:cNvSpPr/>
          <p:nvPr/>
        </p:nvSpPr>
        <p:spPr>
          <a:xfrm>
            <a:off x="3123027" y="967992"/>
            <a:ext cx="1296573" cy="54000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Power supply</a:t>
            </a:r>
          </a:p>
        </p:txBody>
      </p:sp>
      <p:sp>
        <p:nvSpPr>
          <p:cNvPr id="79" name="Rectangle 78">
            <a:extLst>
              <a:ext uri="{FF2B5EF4-FFF2-40B4-BE49-F238E27FC236}">
                <a16:creationId xmlns:a16="http://schemas.microsoft.com/office/drawing/2014/main" id="{EEDD2645-0EFA-436C-A6E7-C8D003106F1B}"/>
              </a:ext>
            </a:extLst>
          </p:cNvPr>
          <p:cNvSpPr/>
          <p:nvPr/>
        </p:nvSpPr>
        <p:spPr>
          <a:xfrm>
            <a:off x="4730616" y="967675"/>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Power supply is stable</a:t>
            </a:r>
          </a:p>
        </p:txBody>
      </p:sp>
      <p:sp>
        <p:nvSpPr>
          <p:cNvPr id="80" name="Rectangle 79">
            <a:extLst>
              <a:ext uri="{FF2B5EF4-FFF2-40B4-BE49-F238E27FC236}">
                <a16:creationId xmlns:a16="http://schemas.microsoft.com/office/drawing/2014/main" id="{6DF543DF-7565-40EB-9D0A-0B63AA26DE3B}"/>
              </a:ext>
            </a:extLst>
          </p:cNvPr>
          <p:cNvSpPr/>
          <p:nvPr/>
        </p:nvSpPr>
        <p:spPr>
          <a:xfrm>
            <a:off x="3118102" y="6271041"/>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Working skill</a:t>
            </a:r>
          </a:p>
        </p:txBody>
      </p:sp>
      <p:sp>
        <p:nvSpPr>
          <p:cNvPr id="81" name="Rectangle 80">
            <a:extLst>
              <a:ext uri="{FF2B5EF4-FFF2-40B4-BE49-F238E27FC236}">
                <a16:creationId xmlns:a16="http://schemas.microsoft.com/office/drawing/2014/main" id="{221A6137-4C2A-4CAD-B245-15DBCEC5BE1C}"/>
              </a:ext>
            </a:extLst>
          </p:cNvPr>
          <p:cNvSpPr/>
          <p:nvPr/>
        </p:nvSpPr>
        <p:spPr>
          <a:xfrm>
            <a:off x="4733655" y="1603784"/>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All model used same kind of pallet</a:t>
            </a:r>
          </a:p>
        </p:txBody>
      </p:sp>
      <p:sp>
        <p:nvSpPr>
          <p:cNvPr id="84" name="Rectangle 83">
            <a:extLst>
              <a:ext uri="{FF2B5EF4-FFF2-40B4-BE49-F238E27FC236}">
                <a16:creationId xmlns:a16="http://schemas.microsoft.com/office/drawing/2014/main" id="{1690E334-C0F6-498D-B406-B7676F0A33E0}"/>
              </a:ext>
            </a:extLst>
          </p:cNvPr>
          <p:cNvSpPr/>
          <p:nvPr/>
        </p:nvSpPr>
        <p:spPr>
          <a:xfrm>
            <a:off x="3130401" y="2334979"/>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Camera equipment (CS2000)</a:t>
            </a:r>
          </a:p>
        </p:txBody>
      </p:sp>
      <p:cxnSp>
        <p:nvCxnSpPr>
          <p:cNvPr id="85" name="Elbow Connector 11">
            <a:extLst>
              <a:ext uri="{FF2B5EF4-FFF2-40B4-BE49-F238E27FC236}">
                <a16:creationId xmlns:a16="http://schemas.microsoft.com/office/drawing/2014/main" id="{A0900B0B-88B7-436C-8708-BACE50220958}"/>
              </a:ext>
            </a:extLst>
          </p:cNvPr>
          <p:cNvCxnSpPr>
            <a:stCxn id="73" idx="3"/>
            <a:endCxn id="76" idx="1"/>
          </p:cNvCxnSpPr>
          <p:nvPr/>
        </p:nvCxnSpPr>
        <p:spPr>
          <a:xfrm flipV="1">
            <a:off x="1324999" y="1697232"/>
            <a:ext cx="293210" cy="172865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14">
            <a:extLst>
              <a:ext uri="{FF2B5EF4-FFF2-40B4-BE49-F238E27FC236}">
                <a16:creationId xmlns:a16="http://schemas.microsoft.com/office/drawing/2014/main" id="{7C3D603A-2E8C-4A1D-8161-53008CE24C0D}"/>
              </a:ext>
            </a:extLst>
          </p:cNvPr>
          <p:cNvCxnSpPr>
            <a:stCxn id="73" idx="3"/>
            <a:endCxn id="74" idx="1"/>
          </p:cNvCxnSpPr>
          <p:nvPr/>
        </p:nvCxnSpPr>
        <p:spPr>
          <a:xfrm>
            <a:off x="1324999" y="3425883"/>
            <a:ext cx="326385" cy="2788876"/>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3DFF0DF6-D5B0-453E-A753-5B5ED81A50F4}"/>
              </a:ext>
            </a:extLst>
          </p:cNvPr>
          <p:cNvSpPr/>
          <p:nvPr/>
        </p:nvSpPr>
        <p:spPr>
          <a:xfrm>
            <a:off x="4748132" y="2334979"/>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Measure incorrectly</a:t>
            </a:r>
          </a:p>
        </p:txBody>
      </p:sp>
      <p:cxnSp>
        <p:nvCxnSpPr>
          <p:cNvPr id="102" name="Straight Arrow Connector 101">
            <a:extLst>
              <a:ext uri="{FF2B5EF4-FFF2-40B4-BE49-F238E27FC236}">
                <a16:creationId xmlns:a16="http://schemas.microsoft.com/office/drawing/2014/main" id="{7840A584-72DD-4DDF-A457-81F5E3DDA5CE}"/>
              </a:ext>
            </a:extLst>
          </p:cNvPr>
          <p:cNvCxnSpPr>
            <a:stCxn id="80" idx="3"/>
            <a:endCxn id="75" idx="1"/>
          </p:cNvCxnSpPr>
          <p:nvPr/>
        </p:nvCxnSpPr>
        <p:spPr>
          <a:xfrm>
            <a:off x="4414675" y="6540916"/>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9DF8E102-D994-4E57-A889-210E1C85B4EE}"/>
              </a:ext>
            </a:extLst>
          </p:cNvPr>
          <p:cNvSpPr/>
          <p:nvPr/>
        </p:nvSpPr>
        <p:spPr>
          <a:xfrm>
            <a:off x="6414325" y="967675"/>
            <a:ext cx="1965738"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Power supply is not affected</a:t>
            </a:r>
          </a:p>
        </p:txBody>
      </p:sp>
      <p:sp>
        <p:nvSpPr>
          <p:cNvPr id="104" name="Rectangle 103">
            <a:extLst>
              <a:ext uri="{FF2B5EF4-FFF2-40B4-BE49-F238E27FC236}">
                <a16:creationId xmlns:a16="http://schemas.microsoft.com/office/drawing/2014/main" id="{293E51A7-2F56-473A-BCFB-084759CC0310}"/>
              </a:ext>
            </a:extLst>
          </p:cNvPr>
          <p:cNvSpPr/>
          <p:nvPr/>
        </p:nvSpPr>
        <p:spPr>
          <a:xfrm>
            <a:off x="6394839" y="1603784"/>
            <a:ext cx="198522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Changing pallet no different</a:t>
            </a:r>
          </a:p>
        </p:txBody>
      </p:sp>
      <p:sp>
        <p:nvSpPr>
          <p:cNvPr id="106" name="Rectangle 105">
            <a:extLst>
              <a:ext uri="{FF2B5EF4-FFF2-40B4-BE49-F238E27FC236}">
                <a16:creationId xmlns:a16="http://schemas.microsoft.com/office/drawing/2014/main" id="{E26365BE-C1C2-40A3-AA3C-F648D3A85333}"/>
              </a:ext>
            </a:extLst>
          </p:cNvPr>
          <p:cNvSpPr/>
          <p:nvPr/>
        </p:nvSpPr>
        <p:spPr>
          <a:xfrm>
            <a:off x="6421698" y="2339739"/>
            <a:ext cx="195836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Change new camera </a:t>
            </a:r>
          </a:p>
        </p:txBody>
      </p:sp>
      <p:sp>
        <p:nvSpPr>
          <p:cNvPr id="107" name="Rectangle 106">
            <a:extLst>
              <a:ext uri="{FF2B5EF4-FFF2-40B4-BE49-F238E27FC236}">
                <a16:creationId xmlns:a16="http://schemas.microsoft.com/office/drawing/2014/main" id="{ACC36094-8B79-406C-AD09-9862013612E5}"/>
              </a:ext>
            </a:extLst>
          </p:cNvPr>
          <p:cNvSpPr/>
          <p:nvPr/>
        </p:nvSpPr>
        <p:spPr>
          <a:xfrm>
            <a:off x="6409400" y="6271041"/>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Man is not related</a:t>
            </a:r>
          </a:p>
        </p:txBody>
      </p:sp>
      <p:cxnSp>
        <p:nvCxnSpPr>
          <p:cNvPr id="144" name="Straight Arrow Connector 143">
            <a:extLst>
              <a:ext uri="{FF2B5EF4-FFF2-40B4-BE49-F238E27FC236}">
                <a16:creationId xmlns:a16="http://schemas.microsoft.com/office/drawing/2014/main" id="{F6348AC4-7CC7-4562-A5F4-3D08FCFA7F86}"/>
              </a:ext>
            </a:extLst>
          </p:cNvPr>
          <p:cNvCxnSpPr>
            <a:cxnSpLocks/>
            <a:stCxn id="75" idx="3"/>
            <a:endCxn id="107" idx="1"/>
          </p:cNvCxnSpPr>
          <p:nvPr/>
        </p:nvCxnSpPr>
        <p:spPr>
          <a:xfrm>
            <a:off x="6091075" y="6540916"/>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A460B8F4-80BE-49C8-89CB-A5C7E9A567C0}"/>
              </a:ext>
            </a:extLst>
          </p:cNvPr>
          <p:cNvSpPr/>
          <p:nvPr/>
        </p:nvSpPr>
        <p:spPr>
          <a:xfrm>
            <a:off x="1651384" y="4355386"/>
            <a:ext cx="1138837"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Material</a:t>
            </a:r>
          </a:p>
        </p:txBody>
      </p:sp>
      <p:sp>
        <p:nvSpPr>
          <p:cNvPr id="150" name="Rectangle 149">
            <a:extLst>
              <a:ext uri="{FF2B5EF4-FFF2-40B4-BE49-F238E27FC236}">
                <a16:creationId xmlns:a16="http://schemas.microsoft.com/office/drawing/2014/main" id="{0103916A-A389-4D0B-82E8-4E5DD92F975F}"/>
              </a:ext>
            </a:extLst>
          </p:cNvPr>
          <p:cNvSpPr/>
          <p:nvPr/>
        </p:nvSpPr>
        <p:spPr>
          <a:xfrm>
            <a:off x="1636823" y="5002816"/>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Method</a:t>
            </a:r>
          </a:p>
        </p:txBody>
      </p:sp>
      <p:sp>
        <p:nvSpPr>
          <p:cNvPr id="151" name="Rectangle 150">
            <a:extLst>
              <a:ext uri="{FF2B5EF4-FFF2-40B4-BE49-F238E27FC236}">
                <a16:creationId xmlns:a16="http://schemas.microsoft.com/office/drawing/2014/main" id="{6DDBBEBB-5CA9-48F3-8807-40C42BCDD09A}"/>
              </a:ext>
            </a:extLst>
          </p:cNvPr>
          <p:cNvSpPr/>
          <p:nvPr/>
        </p:nvSpPr>
        <p:spPr>
          <a:xfrm>
            <a:off x="4684883" y="4355386"/>
            <a:ext cx="1430006"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sym typeface="Wingdings" panose="05000000000000000000" pitchFamily="2" charset="2"/>
              </a:rPr>
              <a:t>Return LCD and check on vendor </a:t>
            </a:r>
            <a:r>
              <a:rPr lang="en-US" sz="1100" dirty="0">
                <a:solidFill>
                  <a:prstClr val="black"/>
                </a:solidFill>
                <a:latin typeface="Arial" panose="020B0604020202020204" pitchFamily="34" charset="0"/>
                <a:ea typeface="LG Smart_H Regular" panose="020B0600000101010101" pitchFamily="34" charset="-127"/>
                <a:cs typeface="Arial" panose="020B0604020202020204" pitchFamily="34" charset="0"/>
                <a:sym typeface="Wingdings" panose="05000000000000000000" pitchFamily="2" charset="2"/>
              </a:rPr>
              <a:t> result is OK</a:t>
            </a:r>
            <a:endParaRPr 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52" name="Rectangle 151">
            <a:extLst>
              <a:ext uri="{FF2B5EF4-FFF2-40B4-BE49-F238E27FC236}">
                <a16:creationId xmlns:a16="http://schemas.microsoft.com/office/drawing/2014/main" id="{3AD0F078-8893-47B3-AAA2-B875B6B049B4}"/>
              </a:ext>
            </a:extLst>
          </p:cNvPr>
          <p:cNvSpPr/>
          <p:nvPr/>
        </p:nvSpPr>
        <p:spPr>
          <a:xfrm>
            <a:off x="3118103" y="4355386"/>
            <a:ext cx="1263872"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Set</a:t>
            </a:r>
          </a:p>
        </p:txBody>
      </p:sp>
      <p:cxnSp>
        <p:nvCxnSpPr>
          <p:cNvPr id="154" name="Straight Arrow Connector 153">
            <a:extLst>
              <a:ext uri="{FF2B5EF4-FFF2-40B4-BE49-F238E27FC236}">
                <a16:creationId xmlns:a16="http://schemas.microsoft.com/office/drawing/2014/main" id="{2EF4C1BB-E769-49BE-82E8-09AC2E114D3D}"/>
              </a:ext>
            </a:extLst>
          </p:cNvPr>
          <p:cNvCxnSpPr>
            <a:cxnSpLocks/>
            <a:stCxn id="152" idx="3"/>
            <a:endCxn id="151" idx="1"/>
          </p:cNvCxnSpPr>
          <p:nvPr/>
        </p:nvCxnSpPr>
        <p:spPr>
          <a:xfrm>
            <a:off x="4381975" y="4625261"/>
            <a:ext cx="302908"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C7D61E8F-3848-40A1-938A-C00B0BD74350}"/>
              </a:ext>
            </a:extLst>
          </p:cNvPr>
          <p:cNvSpPr/>
          <p:nvPr/>
        </p:nvSpPr>
        <p:spPr>
          <a:xfrm>
            <a:off x="6409400" y="4355386"/>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LCD is not affected</a:t>
            </a:r>
          </a:p>
        </p:txBody>
      </p:sp>
      <p:cxnSp>
        <p:nvCxnSpPr>
          <p:cNvPr id="157" name="Straight Arrow Connector 156">
            <a:extLst>
              <a:ext uri="{FF2B5EF4-FFF2-40B4-BE49-F238E27FC236}">
                <a16:creationId xmlns:a16="http://schemas.microsoft.com/office/drawing/2014/main" id="{0099F56D-264D-4C71-87E1-E36D5E5023CF}"/>
              </a:ext>
            </a:extLst>
          </p:cNvPr>
          <p:cNvCxnSpPr>
            <a:cxnSpLocks/>
            <a:stCxn id="151" idx="3"/>
            <a:endCxn id="155" idx="1"/>
          </p:cNvCxnSpPr>
          <p:nvPr/>
        </p:nvCxnSpPr>
        <p:spPr>
          <a:xfrm>
            <a:off x="6114889" y="4625261"/>
            <a:ext cx="29451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8467BE26-3B27-40D6-82FD-EC081804E80A}"/>
              </a:ext>
            </a:extLst>
          </p:cNvPr>
          <p:cNvCxnSpPr>
            <a:stCxn id="149" idx="3"/>
            <a:endCxn id="152" idx="1"/>
          </p:cNvCxnSpPr>
          <p:nvPr/>
        </p:nvCxnSpPr>
        <p:spPr>
          <a:xfrm>
            <a:off x="2790221" y="4625261"/>
            <a:ext cx="32788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Elbow Connector 11">
            <a:extLst>
              <a:ext uri="{FF2B5EF4-FFF2-40B4-BE49-F238E27FC236}">
                <a16:creationId xmlns:a16="http://schemas.microsoft.com/office/drawing/2014/main" id="{2108C2DB-4457-487E-B74E-832776759959}"/>
              </a:ext>
            </a:extLst>
          </p:cNvPr>
          <p:cNvCxnSpPr>
            <a:cxnSpLocks/>
            <a:stCxn id="73" idx="3"/>
            <a:endCxn id="149" idx="1"/>
          </p:cNvCxnSpPr>
          <p:nvPr/>
        </p:nvCxnSpPr>
        <p:spPr>
          <a:xfrm>
            <a:off x="1324999" y="3425883"/>
            <a:ext cx="326385" cy="119937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Elbow Connector 11">
            <a:extLst>
              <a:ext uri="{FF2B5EF4-FFF2-40B4-BE49-F238E27FC236}">
                <a16:creationId xmlns:a16="http://schemas.microsoft.com/office/drawing/2014/main" id="{A8539414-FDD4-4ED4-AF7D-6DD857B0A62B}"/>
              </a:ext>
            </a:extLst>
          </p:cNvPr>
          <p:cNvCxnSpPr>
            <a:stCxn id="73" idx="3"/>
            <a:endCxn id="150" idx="1"/>
          </p:cNvCxnSpPr>
          <p:nvPr/>
        </p:nvCxnSpPr>
        <p:spPr>
          <a:xfrm>
            <a:off x="1324999" y="3425883"/>
            <a:ext cx="311824" cy="184680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4" name="Rectangle 163">
            <a:extLst>
              <a:ext uri="{FF2B5EF4-FFF2-40B4-BE49-F238E27FC236}">
                <a16:creationId xmlns:a16="http://schemas.microsoft.com/office/drawing/2014/main" id="{B4C87628-BF12-40D4-9A9A-68CDD2BF67F1}"/>
              </a:ext>
            </a:extLst>
          </p:cNvPr>
          <p:cNvSpPr/>
          <p:nvPr/>
        </p:nvSpPr>
        <p:spPr>
          <a:xfrm>
            <a:off x="3103541" y="5002816"/>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Sequence test, timing</a:t>
            </a:r>
          </a:p>
        </p:txBody>
      </p:sp>
      <p:cxnSp>
        <p:nvCxnSpPr>
          <p:cNvPr id="165" name="Straight Arrow Connector 164">
            <a:extLst>
              <a:ext uri="{FF2B5EF4-FFF2-40B4-BE49-F238E27FC236}">
                <a16:creationId xmlns:a16="http://schemas.microsoft.com/office/drawing/2014/main" id="{1D50A4B6-DF5E-4323-9BED-2E5C23A78571}"/>
              </a:ext>
            </a:extLst>
          </p:cNvPr>
          <p:cNvCxnSpPr>
            <a:stCxn id="150" idx="3"/>
            <a:endCxn id="164" idx="1"/>
          </p:cNvCxnSpPr>
          <p:nvPr/>
        </p:nvCxnSpPr>
        <p:spPr>
          <a:xfrm>
            <a:off x="2802048" y="5272691"/>
            <a:ext cx="301493"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2076F5FA-D971-4E47-82BE-E8A1D3F94816}"/>
              </a:ext>
            </a:extLst>
          </p:cNvPr>
          <p:cNvSpPr/>
          <p:nvPr/>
        </p:nvSpPr>
        <p:spPr>
          <a:xfrm>
            <a:off x="4704913" y="5002816"/>
            <a:ext cx="143000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Sequence is used for all model, but only this model have issue</a:t>
            </a:r>
          </a:p>
        </p:txBody>
      </p:sp>
      <p:cxnSp>
        <p:nvCxnSpPr>
          <p:cNvPr id="168" name="Straight Arrow Connector 167">
            <a:extLst>
              <a:ext uri="{FF2B5EF4-FFF2-40B4-BE49-F238E27FC236}">
                <a16:creationId xmlns:a16="http://schemas.microsoft.com/office/drawing/2014/main" id="{55DC3AAF-635D-41C2-8877-A829B844A728}"/>
              </a:ext>
            </a:extLst>
          </p:cNvPr>
          <p:cNvCxnSpPr>
            <a:cxnSpLocks/>
            <a:stCxn id="164" idx="3"/>
            <a:endCxn id="166" idx="1"/>
          </p:cNvCxnSpPr>
          <p:nvPr/>
        </p:nvCxnSpPr>
        <p:spPr>
          <a:xfrm>
            <a:off x="4400114" y="5272691"/>
            <a:ext cx="30479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0" name="Rectangle 169">
            <a:extLst>
              <a:ext uri="{FF2B5EF4-FFF2-40B4-BE49-F238E27FC236}">
                <a16:creationId xmlns:a16="http://schemas.microsoft.com/office/drawing/2014/main" id="{FE6039A6-3D38-448A-8C19-55ADC48F64FD}"/>
              </a:ext>
            </a:extLst>
          </p:cNvPr>
          <p:cNvSpPr/>
          <p:nvPr/>
        </p:nvSpPr>
        <p:spPr>
          <a:xfrm>
            <a:off x="6394839" y="5002816"/>
            <a:ext cx="198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Sequence is not affected</a:t>
            </a:r>
          </a:p>
        </p:txBody>
      </p:sp>
      <p:cxnSp>
        <p:nvCxnSpPr>
          <p:cNvPr id="173" name="Straight Arrow Connector 172">
            <a:extLst>
              <a:ext uri="{FF2B5EF4-FFF2-40B4-BE49-F238E27FC236}">
                <a16:creationId xmlns:a16="http://schemas.microsoft.com/office/drawing/2014/main" id="{F555F9C6-D9E2-4FF4-B104-ECEC3D3E2660}"/>
              </a:ext>
            </a:extLst>
          </p:cNvPr>
          <p:cNvCxnSpPr>
            <a:cxnSpLocks/>
            <a:stCxn id="166" idx="3"/>
            <a:endCxn id="170" idx="1"/>
          </p:cNvCxnSpPr>
          <p:nvPr/>
        </p:nvCxnSpPr>
        <p:spPr>
          <a:xfrm>
            <a:off x="6134918" y="5272691"/>
            <a:ext cx="25992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8F08C70E-C661-4A4A-A32D-07D838FE4A52}"/>
              </a:ext>
            </a:extLst>
          </p:cNvPr>
          <p:cNvSpPr/>
          <p:nvPr/>
        </p:nvSpPr>
        <p:spPr>
          <a:xfrm>
            <a:off x="4711158" y="5646868"/>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Other function is OK, only Luminance is NG</a:t>
            </a:r>
          </a:p>
        </p:txBody>
      </p:sp>
      <p:sp>
        <p:nvSpPr>
          <p:cNvPr id="175" name="Rectangle 174">
            <a:extLst>
              <a:ext uri="{FF2B5EF4-FFF2-40B4-BE49-F238E27FC236}">
                <a16:creationId xmlns:a16="http://schemas.microsoft.com/office/drawing/2014/main" id="{B895C442-E39F-4F78-9F50-F0A2DC18C153}"/>
              </a:ext>
            </a:extLst>
          </p:cNvPr>
          <p:cNvSpPr/>
          <p:nvPr/>
        </p:nvSpPr>
        <p:spPr>
          <a:xfrm>
            <a:off x="3109785" y="5646868"/>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Plug in set to pallet not fully</a:t>
            </a:r>
          </a:p>
        </p:txBody>
      </p:sp>
      <p:cxnSp>
        <p:nvCxnSpPr>
          <p:cNvPr id="176" name="Straight Arrow Connector 175">
            <a:extLst>
              <a:ext uri="{FF2B5EF4-FFF2-40B4-BE49-F238E27FC236}">
                <a16:creationId xmlns:a16="http://schemas.microsoft.com/office/drawing/2014/main" id="{C530E187-51B7-4142-AC22-C60B4DBD0D5C}"/>
              </a:ext>
            </a:extLst>
          </p:cNvPr>
          <p:cNvCxnSpPr>
            <a:stCxn id="175" idx="3"/>
            <a:endCxn id="174" idx="1"/>
          </p:cNvCxnSpPr>
          <p:nvPr/>
        </p:nvCxnSpPr>
        <p:spPr>
          <a:xfrm>
            <a:off x="4406358" y="5916743"/>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23F39FC5-DB21-4BF0-B0ED-09C2FE172F84}"/>
              </a:ext>
            </a:extLst>
          </p:cNvPr>
          <p:cNvSpPr/>
          <p:nvPr/>
        </p:nvSpPr>
        <p:spPr>
          <a:xfrm>
            <a:off x="6401083" y="5646868"/>
            <a:ext cx="197898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Not relate to set plugging in</a:t>
            </a:r>
          </a:p>
        </p:txBody>
      </p:sp>
      <p:cxnSp>
        <p:nvCxnSpPr>
          <p:cNvPr id="178" name="Straight Arrow Connector 177">
            <a:extLst>
              <a:ext uri="{FF2B5EF4-FFF2-40B4-BE49-F238E27FC236}">
                <a16:creationId xmlns:a16="http://schemas.microsoft.com/office/drawing/2014/main" id="{ABB10B07-3DA1-42EA-859D-3CF7A3708297}"/>
              </a:ext>
            </a:extLst>
          </p:cNvPr>
          <p:cNvCxnSpPr>
            <a:cxnSpLocks/>
            <a:stCxn id="174" idx="3"/>
            <a:endCxn id="177" idx="1"/>
          </p:cNvCxnSpPr>
          <p:nvPr/>
        </p:nvCxnSpPr>
        <p:spPr>
          <a:xfrm>
            <a:off x="6082758" y="5916743"/>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Elbow Connector 98">
            <a:extLst>
              <a:ext uri="{FF2B5EF4-FFF2-40B4-BE49-F238E27FC236}">
                <a16:creationId xmlns:a16="http://schemas.microsoft.com/office/drawing/2014/main" id="{E6BD7F65-64F4-4BC6-8A09-AA53ECEE1177}"/>
              </a:ext>
            </a:extLst>
          </p:cNvPr>
          <p:cNvCxnSpPr>
            <a:stCxn id="74" idx="3"/>
            <a:endCxn id="80" idx="1"/>
          </p:cNvCxnSpPr>
          <p:nvPr/>
        </p:nvCxnSpPr>
        <p:spPr>
          <a:xfrm>
            <a:off x="2816609" y="6214759"/>
            <a:ext cx="301493" cy="32615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Elbow Connector 98">
            <a:extLst>
              <a:ext uri="{FF2B5EF4-FFF2-40B4-BE49-F238E27FC236}">
                <a16:creationId xmlns:a16="http://schemas.microsoft.com/office/drawing/2014/main" id="{1ADB74E5-B249-445C-B177-17CEE8F659B2}"/>
              </a:ext>
            </a:extLst>
          </p:cNvPr>
          <p:cNvCxnSpPr>
            <a:stCxn id="74" idx="3"/>
            <a:endCxn id="175" idx="1"/>
          </p:cNvCxnSpPr>
          <p:nvPr/>
        </p:nvCxnSpPr>
        <p:spPr>
          <a:xfrm flipV="1">
            <a:off x="2816609" y="5916743"/>
            <a:ext cx="293176" cy="298016"/>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9F3DF8AA-61E9-45AC-A326-EEC96FD43AA4}"/>
              </a:ext>
            </a:extLst>
          </p:cNvPr>
          <p:cNvSpPr txBox="1"/>
          <p:nvPr/>
        </p:nvSpPr>
        <p:spPr>
          <a:xfrm>
            <a:off x="8192469" y="2232808"/>
            <a:ext cx="357885" cy="369332"/>
          </a:xfrm>
          <a:prstGeom prst="rect">
            <a:avLst/>
          </a:prstGeom>
          <a:noFill/>
        </p:spPr>
        <p:txBody>
          <a:bodyPr wrap="square" rtlCol="0">
            <a:spAutoFit/>
          </a:bodyPr>
          <a:lstStyle/>
          <a:p>
            <a:r>
              <a:rPr lang="en-US" sz="11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4" name="TextBox 183">
            <a:extLst>
              <a:ext uri="{FF2B5EF4-FFF2-40B4-BE49-F238E27FC236}">
                <a16:creationId xmlns:a16="http://schemas.microsoft.com/office/drawing/2014/main" id="{100AD42B-DE28-44C1-9F87-EC6EEC4098F1}"/>
              </a:ext>
            </a:extLst>
          </p:cNvPr>
          <p:cNvSpPr txBox="1"/>
          <p:nvPr/>
        </p:nvSpPr>
        <p:spPr>
          <a:xfrm>
            <a:off x="8441892" y="6504761"/>
            <a:ext cx="357885" cy="369332"/>
          </a:xfrm>
          <a:prstGeom prst="rect">
            <a:avLst/>
          </a:prstGeom>
          <a:noFill/>
        </p:spPr>
        <p:txBody>
          <a:bodyPr wrap="square" rtlCol="0">
            <a:spAutoFit/>
          </a:bodyPr>
          <a:lstStyle/>
          <a:p>
            <a:r>
              <a:rPr lang="en-US" sz="11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5" name="TextBox 184">
            <a:extLst>
              <a:ext uri="{FF2B5EF4-FFF2-40B4-BE49-F238E27FC236}">
                <a16:creationId xmlns:a16="http://schemas.microsoft.com/office/drawing/2014/main" id="{E9206562-A479-4925-9BC1-FF6A9BBDE250}"/>
              </a:ext>
            </a:extLst>
          </p:cNvPr>
          <p:cNvSpPr txBox="1"/>
          <p:nvPr/>
        </p:nvSpPr>
        <p:spPr>
          <a:xfrm>
            <a:off x="8694077" y="6560610"/>
            <a:ext cx="1234633" cy="261610"/>
          </a:xfrm>
          <a:prstGeom prst="rect">
            <a:avLst/>
          </a:prstGeom>
          <a:noFill/>
        </p:spPr>
        <p:txBody>
          <a:bodyPr wrap="none" rtlCol="0">
            <a:spAutoFit/>
          </a:bodyPr>
          <a:lstStyle/>
          <a:p>
            <a:r>
              <a:rPr lang="en-US" sz="11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88" name="Rectangle 187">
            <a:extLst>
              <a:ext uri="{FF2B5EF4-FFF2-40B4-BE49-F238E27FC236}">
                <a16:creationId xmlns:a16="http://schemas.microsoft.com/office/drawing/2014/main" id="{78AD3491-CD21-48CA-ADF9-A64AE6C8A009}"/>
              </a:ext>
            </a:extLst>
          </p:cNvPr>
          <p:cNvSpPr/>
          <p:nvPr/>
        </p:nvSpPr>
        <p:spPr>
          <a:xfrm>
            <a:off x="4743289" y="3016995"/>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Camera Angle is changed</a:t>
            </a:r>
          </a:p>
        </p:txBody>
      </p:sp>
      <p:sp>
        <p:nvSpPr>
          <p:cNvPr id="189" name="Rectangle 188">
            <a:extLst>
              <a:ext uri="{FF2B5EF4-FFF2-40B4-BE49-F238E27FC236}">
                <a16:creationId xmlns:a16="http://schemas.microsoft.com/office/drawing/2014/main" id="{189A6C18-A8FA-4996-8E52-61C097CBED86}"/>
              </a:ext>
            </a:extLst>
          </p:cNvPr>
          <p:cNvSpPr/>
          <p:nvPr/>
        </p:nvSpPr>
        <p:spPr>
          <a:xfrm>
            <a:off x="6416856" y="3021755"/>
            <a:ext cx="1963208"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Change angle of camera</a:t>
            </a:r>
          </a:p>
        </p:txBody>
      </p:sp>
      <p:sp>
        <p:nvSpPr>
          <p:cNvPr id="190" name="Text Box 2">
            <a:extLst>
              <a:ext uri="{FF2B5EF4-FFF2-40B4-BE49-F238E27FC236}">
                <a16:creationId xmlns:a16="http://schemas.microsoft.com/office/drawing/2014/main" id="{388E17BD-8641-4FEC-A5A8-2A21B1B0CD89}"/>
              </a:ext>
            </a:extLst>
          </p:cNvPr>
          <p:cNvSpPr txBox="1">
            <a:spLocks noChangeArrowheads="1"/>
          </p:cNvSpPr>
          <p:nvPr/>
        </p:nvSpPr>
        <p:spPr bwMode="auto">
          <a:xfrm>
            <a:off x="-38384" y="552932"/>
            <a:ext cx="9825377" cy="304800"/>
          </a:xfrm>
          <a:prstGeom prst="rect">
            <a:avLst/>
          </a:prstGeom>
          <a:noFill/>
          <a:ln w="9525" algn="ctr">
            <a:noFill/>
            <a:miter lim="800000"/>
            <a:headEnd/>
            <a:tailEnd/>
          </a:ln>
        </p:spPr>
        <p:txBody>
          <a:bodyPr lIns="84374" tIns="42187" rIns="84374" bIns="42187" anchor="ctr"/>
          <a:lstStyle/>
          <a:p>
            <a:pPr defTabSz="844083" fontAlgn="base" latinLnBrk="1">
              <a:spcBef>
                <a:spcPct val="0"/>
              </a:spcBef>
              <a:spcAft>
                <a:spcPct val="0"/>
              </a:spcAft>
              <a:defRPr/>
            </a:pPr>
            <a:r>
              <a:rPr lang="en-US" altLang="ko-KR" sz="1100" b="1" dirty="0">
                <a:solidFill>
                  <a:srgbClr val="000000"/>
                </a:solidFill>
                <a:latin typeface="Arial" panose="020B0600000101010101" pitchFamily="34" charset="-127"/>
                <a:ea typeface="Arial" panose="020B0600000101010101" pitchFamily="34" charset="-127"/>
                <a:cs typeface="Arial" panose="020B0604020202020204" pitchFamily="34" charset="0"/>
              </a:rPr>
              <a:t>After checking by type 1, we see that measurement system of station 2 have problems, I use logic tree to find the root cause</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91" name="AutoShape 55">
            <a:extLst>
              <a:ext uri="{FF2B5EF4-FFF2-40B4-BE49-F238E27FC236}">
                <a16:creationId xmlns:a16="http://schemas.microsoft.com/office/drawing/2014/main" id="{CBB9EF69-BB7B-4362-AF27-5EC61A24968A}"/>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92" name="AutoShape 56">
            <a:extLst>
              <a:ext uri="{FF2B5EF4-FFF2-40B4-BE49-F238E27FC236}">
                <a16:creationId xmlns:a16="http://schemas.microsoft.com/office/drawing/2014/main" id="{899114A1-A363-4B04-A11E-ECA42BBFABBB}"/>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94" name="AutoShape 59">
            <a:extLst>
              <a:ext uri="{FF2B5EF4-FFF2-40B4-BE49-F238E27FC236}">
                <a16:creationId xmlns:a16="http://schemas.microsoft.com/office/drawing/2014/main" id="{189FE38E-6AAE-4AC6-A89D-C8987F0B06F3}"/>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graphicFrame>
        <p:nvGraphicFramePr>
          <p:cNvPr id="4" name="Object 3">
            <a:hlinkClick r:id="" action="ppaction://ole?verb=0"/>
            <a:extLst>
              <a:ext uri="{FF2B5EF4-FFF2-40B4-BE49-F238E27FC236}">
                <a16:creationId xmlns:a16="http://schemas.microsoft.com/office/drawing/2014/main" id="{CE5C7E09-1A6D-40CA-984C-4350A69E000C}"/>
              </a:ext>
            </a:extLst>
          </p:cNvPr>
          <p:cNvGraphicFramePr>
            <a:graphicFrameLocks noChangeAspect="1"/>
          </p:cNvGraphicFramePr>
          <p:nvPr>
            <p:extLst>
              <p:ext uri="{D42A27DB-BD31-4B8C-83A1-F6EECF244321}">
                <p14:modId xmlns:p14="http://schemas.microsoft.com/office/powerpoint/2010/main" val="1233077575"/>
              </p:ext>
            </p:extLst>
          </p:nvPr>
        </p:nvGraphicFramePr>
        <p:xfrm>
          <a:off x="9291889" y="2477855"/>
          <a:ext cx="495105" cy="417745"/>
        </p:xfrm>
        <a:graphic>
          <a:graphicData uri="http://schemas.openxmlformats.org/presentationml/2006/ole">
            <mc:AlternateContent xmlns:mc="http://schemas.openxmlformats.org/markup-compatibility/2006">
              <mc:Choice xmlns:v="urn:schemas-microsoft-com:vml" Requires="v">
                <p:oleObj name="Presentation" showAsIcon="1" r:id="rId3" imgW="914400" imgH="771792" progId="PowerPoint.Show.12">
                  <p:embed/>
                </p:oleObj>
              </mc:Choice>
              <mc:Fallback>
                <p:oleObj name="Presentation" showAsIcon="1" r:id="rId3" imgW="914400" imgH="771792" progId="PowerPoint.Show.12">
                  <p:embed/>
                  <p:pic>
                    <p:nvPicPr>
                      <p:cNvPr id="0" name=""/>
                      <p:cNvPicPr/>
                      <p:nvPr/>
                    </p:nvPicPr>
                    <p:blipFill>
                      <a:blip r:embed="rId4"/>
                      <a:stretch>
                        <a:fillRect/>
                      </a:stretch>
                    </p:blipFill>
                    <p:spPr>
                      <a:xfrm>
                        <a:off x="9291889" y="2477855"/>
                        <a:ext cx="495105" cy="417745"/>
                      </a:xfrm>
                      <a:prstGeom prst="rect">
                        <a:avLst/>
                      </a:prstGeom>
                    </p:spPr>
                  </p:pic>
                </p:oleObj>
              </mc:Fallback>
            </mc:AlternateContent>
          </a:graphicData>
        </a:graphic>
      </p:graphicFrame>
      <p:graphicFrame>
        <p:nvGraphicFramePr>
          <p:cNvPr id="5" name="Object 4">
            <a:hlinkClick r:id="" action="ppaction://ole?verb=0"/>
            <a:extLst>
              <a:ext uri="{FF2B5EF4-FFF2-40B4-BE49-F238E27FC236}">
                <a16:creationId xmlns:a16="http://schemas.microsoft.com/office/drawing/2014/main" id="{C929FD74-D7E2-40CF-AC12-F07CA7B9DE9E}"/>
              </a:ext>
            </a:extLst>
          </p:cNvPr>
          <p:cNvGraphicFramePr>
            <a:graphicFrameLocks noChangeAspect="1"/>
          </p:cNvGraphicFramePr>
          <p:nvPr>
            <p:extLst>
              <p:ext uri="{D42A27DB-BD31-4B8C-83A1-F6EECF244321}">
                <p14:modId xmlns:p14="http://schemas.microsoft.com/office/powerpoint/2010/main" val="1657059760"/>
              </p:ext>
            </p:extLst>
          </p:nvPr>
        </p:nvGraphicFramePr>
        <p:xfrm>
          <a:off x="9291888" y="4469007"/>
          <a:ext cx="495105" cy="417745"/>
        </p:xfrm>
        <a:graphic>
          <a:graphicData uri="http://schemas.openxmlformats.org/presentationml/2006/ole">
            <mc:AlternateContent xmlns:mc="http://schemas.openxmlformats.org/markup-compatibility/2006">
              <mc:Choice xmlns:v="urn:schemas-microsoft-com:vml" Requires="v">
                <p:oleObj name="Presentation" showAsIcon="1" r:id="rId5" imgW="914400" imgH="771792" progId="PowerPoint.Show.12">
                  <p:embed/>
                </p:oleObj>
              </mc:Choice>
              <mc:Fallback>
                <p:oleObj name="Presentation" showAsIcon="1" r:id="rId5" imgW="914400" imgH="771792" progId="PowerPoint.Show.12">
                  <p:embed/>
                  <p:pic>
                    <p:nvPicPr>
                      <p:cNvPr id="0" name=""/>
                      <p:cNvPicPr/>
                      <p:nvPr/>
                    </p:nvPicPr>
                    <p:blipFill>
                      <a:blip r:embed="rId6"/>
                      <a:stretch>
                        <a:fillRect/>
                      </a:stretch>
                    </p:blipFill>
                    <p:spPr>
                      <a:xfrm>
                        <a:off x="9291888" y="4469007"/>
                        <a:ext cx="495105" cy="417745"/>
                      </a:xfrm>
                      <a:prstGeom prst="rect">
                        <a:avLst/>
                      </a:prstGeom>
                    </p:spPr>
                  </p:pic>
                </p:oleObj>
              </mc:Fallback>
            </mc:AlternateContent>
          </a:graphicData>
        </a:graphic>
      </p:graphicFrame>
      <p:sp>
        <p:nvSpPr>
          <p:cNvPr id="182" name="TextBox 181">
            <a:extLst>
              <a:ext uri="{FF2B5EF4-FFF2-40B4-BE49-F238E27FC236}">
                <a16:creationId xmlns:a16="http://schemas.microsoft.com/office/drawing/2014/main" id="{131D16A1-B68B-4A32-87D0-AB885CC09560}"/>
              </a:ext>
            </a:extLst>
          </p:cNvPr>
          <p:cNvSpPr txBox="1"/>
          <p:nvPr/>
        </p:nvSpPr>
        <p:spPr>
          <a:xfrm>
            <a:off x="8229086" y="2975692"/>
            <a:ext cx="357885" cy="369332"/>
          </a:xfrm>
          <a:prstGeom prst="rect">
            <a:avLst/>
          </a:prstGeom>
          <a:noFill/>
        </p:spPr>
        <p:txBody>
          <a:bodyPr wrap="square" rtlCol="0">
            <a:spAutoFit/>
          </a:bodyPr>
          <a:lstStyle/>
          <a:p>
            <a:r>
              <a:rPr lang="en-US" sz="11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97" name="Rectangle 96">
            <a:extLst>
              <a:ext uri="{FF2B5EF4-FFF2-40B4-BE49-F238E27FC236}">
                <a16:creationId xmlns:a16="http://schemas.microsoft.com/office/drawing/2014/main" id="{F4C9CF36-A57D-4285-8408-0B6B8AEFD0E4}"/>
              </a:ext>
            </a:extLst>
          </p:cNvPr>
          <p:cNvSpPr/>
          <p:nvPr/>
        </p:nvSpPr>
        <p:spPr>
          <a:xfrm>
            <a:off x="3118102" y="3625915"/>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CANSIM</a:t>
            </a:r>
          </a:p>
        </p:txBody>
      </p:sp>
      <p:sp>
        <p:nvSpPr>
          <p:cNvPr id="98" name="Rectangle 97">
            <a:extLst>
              <a:ext uri="{FF2B5EF4-FFF2-40B4-BE49-F238E27FC236}">
                <a16:creationId xmlns:a16="http://schemas.microsoft.com/office/drawing/2014/main" id="{75994054-C7FA-4934-9ED4-D403523FBE00}"/>
              </a:ext>
            </a:extLst>
          </p:cNvPr>
          <p:cNvSpPr/>
          <p:nvPr/>
        </p:nvSpPr>
        <p:spPr>
          <a:xfrm>
            <a:off x="4735833" y="3625915"/>
            <a:ext cx="1371600" cy="539750"/>
          </a:xfrm>
          <a:prstGeom prst="rect">
            <a:avLst/>
          </a:prstGeom>
          <a:solidFill>
            <a:schemeClr val="bg1">
              <a:lumMod val="9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CANSIM send weak signal for LCD recognize</a:t>
            </a:r>
          </a:p>
        </p:txBody>
      </p:sp>
      <p:sp>
        <p:nvSpPr>
          <p:cNvPr id="99" name="Rectangle 98">
            <a:extLst>
              <a:ext uri="{FF2B5EF4-FFF2-40B4-BE49-F238E27FC236}">
                <a16:creationId xmlns:a16="http://schemas.microsoft.com/office/drawing/2014/main" id="{5A1F7A52-226E-4A78-A0F9-0D9A9A23EAB8}"/>
              </a:ext>
            </a:extLst>
          </p:cNvPr>
          <p:cNvSpPr/>
          <p:nvPr/>
        </p:nvSpPr>
        <p:spPr>
          <a:xfrm>
            <a:off x="6409400" y="3630675"/>
            <a:ext cx="1970664"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100" dirty="0">
                <a:solidFill>
                  <a:prstClr val="black"/>
                </a:solidFill>
                <a:latin typeface="Arial" panose="020B0600000101010101" pitchFamily="34" charset="-127"/>
                <a:ea typeface="Arial" panose="020B0600000101010101" pitchFamily="34" charset="-127"/>
                <a:cs typeface="Arial" pitchFamily="34" charset="0"/>
              </a:rPr>
              <a:t>Change new CANSIM</a:t>
            </a:r>
          </a:p>
        </p:txBody>
      </p:sp>
      <p:sp>
        <p:nvSpPr>
          <p:cNvPr id="100" name="TextBox 99">
            <a:extLst>
              <a:ext uri="{FF2B5EF4-FFF2-40B4-BE49-F238E27FC236}">
                <a16:creationId xmlns:a16="http://schemas.microsoft.com/office/drawing/2014/main" id="{B140B348-EE79-468D-ACA4-7D910D6C585A}"/>
              </a:ext>
            </a:extLst>
          </p:cNvPr>
          <p:cNvSpPr txBox="1"/>
          <p:nvPr/>
        </p:nvSpPr>
        <p:spPr>
          <a:xfrm>
            <a:off x="8245705" y="3559095"/>
            <a:ext cx="357885" cy="369332"/>
          </a:xfrm>
          <a:prstGeom prst="rect">
            <a:avLst/>
          </a:prstGeom>
          <a:noFill/>
        </p:spPr>
        <p:txBody>
          <a:bodyPr wrap="square" rtlCol="0">
            <a:spAutoFit/>
          </a:bodyPr>
          <a:lstStyle/>
          <a:p>
            <a:r>
              <a:rPr lang="en-US" sz="11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cxnSp>
        <p:nvCxnSpPr>
          <p:cNvPr id="37" name="Connector: Elbow 36">
            <a:extLst>
              <a:ext uri="{FF2B5EF4-FFF2-40B4-BE49-F238E27FC236}">
                <a16:creationId xmlns:a16="http://schemas.microsoft.com/office/drawing/2014/main" id="{7A1AC0BE-D61B-4DF5-A5B3-7E662E9388EC}"/>
              </a:ext>
            </a:extLst>
          </p:cNvPr>
          <p:cNvCxnSpPr>
            <a:stCxn id="76" idx="3"/>
            <a:endCxn id="78" idx="1"/>
          </p:cNvCxnSpPr>
          <p:nvPr/>
        </p:nvCxnSpPr>
        <p:spPr bwMode="auto">
          <a:xfrm flipV="1">
            <a:off x="2783434" y="1237992"/>
            <a:ext cx="339593" cy="459240"/>
          </a:xfrm>
          <a:prstGeom prst="bentConnector3">
            <a:avLst/>
          </a:prstGeom>
          <a:noFill/>
          <a:ln w="9525" cap="flat" cmpd="sng" algn="ctr">
            <a:solidFill>
              <a:schemeClr val="tx1"/>
            </a:solidFill>
            <a:prstDash val="solid"/>
            <a:round/>
            <a:headEnd type="none" w="med" len="med"/>
            <a:tailEnd type="triangle"/>
          </a:ln>
          <a:effectLst/>
        </p:spPr>
      </p:cxnSp>
      <p:cxnSp>
        <p:nvCxnSpPr>
          <p:cNvPr id="39" name="Connector: Elbow 38">
            <a:extLst>
              <a:ext uri="{FF2B5EF4-FFF2-40B4-BE49-F238E27FC236}">
                <a16:creationId xmlns:a16="http://schemas.microsoft.com/office/drawing/2014/main" id="{815AC848-5978-4A92-9CE9-375F6E7FDBD4}"/>
              </a:ext>
            </a:extLst>
          </p:cNvPr>
          <p:cNvCxnSpPr>
            <a:stCxn id="76" idx="3"/>
            <a:endCxn id="77" idx="1"/>
          </p:cNvCxnSpPr>
          <p:nvPr/>
        </p:nvCxnSpPr>
        <p:spPr bwMode="auto">
          <a:xfrm>
            <a:off x="2783434" y="1697232"/>
            <a:ext cx="348848" cy="176427"/>
          </a:xfrm>
          <a:prstGeom prst="bentConnector3">
            <a:avLst/>
          </a:prstGeom>
          <a:noFill/>
          <a:ln w="9525" cap="flat" cmpd="sng" algn="ctr">
            <a:solidFill>
              <a:schemeClr val="tx1"/>
            </a:solidFill>
            <a:prstDash val="solid"/>
            <a:round/>
            <a:headEnd type="none" w="med" len="med"/>
            <a:tailEnd type="triangle"/>
          </a:ln>
          <a:effectLst/>
        </p:spPr>
      </p:cxnSp>
      <p:cxnSp>
        <p:nvCxnSpPr>
          <p:cNvPr id="41" name="Connector: Elbow 40">
            <a:extLst>
              <a:ext uri="{FF2B5EF4-FFF2-40B4-BE49-F238E27FC236}">
                <a16:creationId xmlns:a16="http://schemas.microsoft.com/office/drawing/2014/main" id="{7C42D187-FF46-4A63-9E9D-A025BC7CC663}"/>
              </a:ext>
            </a:extLst>
          </p:cNvPr>
          <p:cNvCxnSpPr>
            <a:stCxn id="76" idx="3"/>
            <a:endCxn id="84" idx="1"/>
          </p:cNvCxnSpPr>
          <p:nvPr/>
        </p:nvCxnSpPr>
        <p:spPr bwMode="auto">
          <a:xfrm>
            <a:off x="2783434" y="1697232"/>
            <a:ext cx="346967" cy="907622"/>
          </a:xfrm>
          <a:prstGeom prst="bentConnector3">
            <a:avLst/>
          </a:prstGeom>
          <a:noFill/>
          <a:ln w="9525" cap="flat" cmpd="sng" algn="ctr">
            <a:solidFill>
              <a:srgbClr val="FF0000"/>
            </a:solidFill>
            <a:prstDash val="solid"/>
            <a:round/>
            <a:headEnd type="none" w="med" len="med"/>
            <a:tailEnd type="triangle"/>
          </a:ln>
          <a:effectLst/>
        </p:spPr>
      </p:cxnSp>
      <p:cxnSp>
        <p:nvCxnSpPr>
          <p:cNvPr id="45" name="Connector: Elbow 44">
            <a:extLst>
              <a:ext uri="{FF2B5EF4-FFF2-40B4-BE49-F238E27FC236}">
                <a16:creationId xmlns:a16="http://schemas.microsoft.com/office/drawing/2014/main" id="{303C918B-97A1-4B86-8F1E-F6CE142A657B}"/>
              </a:ext>
            </a:extLst>
          </p:cNvPr>
          <p:cNvCxnSpPr>
            <a:stCxn id="76" idx="3"/>
            <a:endCxn id="97" idx="1"/>
          </p:cNvCxnSpPr>
          <p:nvPr/>
        </p:nvCxnSpPr>
        <p:spPr bwMode="auto">
          <a:xfrm>
            <a:off x="2783434" y="1697232"/>
            <a:ext cx="334668" cy="2198558"/>
          </a:xfrm>
          <a:prstGeom prst="bentConnector3">
            <a:avLst/>
          </a:prstGeom>
          <a:noFill/>
          <a:ln w="9525" cap="flat" cmpd="sng" algn="ctr">
            <a:solidFill>
              <a:srgbClr val="FF0000"/>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CD65241C-0538-4EDA-9433-9F69261C4D85}"/>
              </a:ext>
            </a:extLst>
          </p:cNvPr>
          <p:cNvCxnSpPr>
            <a:stCxn id="97" idx="3"/>
            <a:endCxn id="98" idx="1"/>
          </p:cNvCxnSpPr>
          <p:nvPr/>
        </p:nvCxnSpPr>
        <p:spPr bwMode="auto">
          <a:xfrm>
            <a:off x="4414675" y="3895790"/>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4527899-A765-458F-8A78-A363E20CA815}"/>
              </a:ext>
            </a:extLst>
          </p:cNvPr>
          <p:cNvCxnSpPr>
            <a:stCxn id="84" idx="3"/>
            <a:endCxn id="89" idx="1"/>
          </p:cNvCxnSpPr>
          <p:nvPr/>
        </p:nvCxnSpPr>
        <p:spPr bwMode="auto">
          <a:xfrm>
            <a:off x="4426974" y="2604854"/>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9AFC0009-2914-4210-BA1F-C7185110F42E}"/>
              </a:ext>
            </a:extLst>
          </p:cNvPr>
          <p:cNvCxnSpPr>
            <a:stCxn id="77" idx="3"/>
            <a:endCxn id="81" idx="1"/>
          </p:cNvCxnSpPr>
          <p:nvPr/>
        </p:nvCxnSpPr>
        <p:spPr bwMode="auto">
          <a:xfrm>
            <a:off x="4428855" y="1873659"/>
            <a:ext cx="304800" cy="0"/>
          </a:xfrm>
          <a:prstGeom prst="straightConnector1">
            <a:avLst/>
          </a:prstGeom>
          <a:noFill/>
          <a:ln w="9525" cap="flat" cmpd="sng" algn="ctr">
            <a:solidFill>
              <a:schemeClr val="tx1"/>
            </a:solidFill>
            <a:prstDash val="solid"/>
            <a:round/>
            <a:headEnd type="none" w="med" len="med"/>
            <a:tailEnd type="triangle"/>
          </a:ln>
          <a:effectLst/>
        </p:spPr>
      </p:cxnSp>
      <p:cxnSp>
        <p:nvCxnSpPr>
          <p:cNvPr id="55" name="Straight Arrow Connector 54">
            <a:extLst>
              <a:ext uri="{FF2B5EF4-FFF2-40B4-BE49-F238E27FC236}">
                <a16:creationId xmlns:a16="http://schemas.microsoft.com/office/drawing/2014/main" id="{6AF0FBA5-C2E8-41FC-94EA-78655BBAEBCA}"/>
              </a:ext>
            </a:extLst>
          </p:cNvPr>
          <p:cNvCxnSpPr>
            <a:stCxn id="78" idx="3"/>
            <a:endCxn id="79" idx="1"/>
          </p:cNvCxnSpPr>
          <p:nvPr/>
        </p:nvCxnSpPr>
        <p:spPr bwMode="auto">
          <a:xfrm flipV="1">
            <a:off x="4419600" y="1237550"/>
            <a:ext cx="311016" cy="442"/>
          </a:xfrm>
          <a:prstGeom prst="straightConnector1">
            <a:avLst/>
          </a:prstGeom>
          <a:noFill/>
          <a:ln w="9525"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1F3F4B1A-206F-4764-AB45-1B97FEE192AC}"/>
              </a:ext>
            </a:extLst>
          </p:cNvPr>
          <p:cNvCxnSpPr>
            <a:stCxn id="79" idx="3"/>
            <a:endCxn id="103" idx="1"/>
          </p:cNvCxnSpPr>
          <p:nvPr/>
        </p:nvCxnSpPr>
        <p:spPr bwMode="auto">
          <a:xfrm>
            <a:off x="6102216" y="1237550"/>
            <a:ext cx="312109" cy="0"/>
          </a:xfrm>
          <a:prstGeom prst="straightConnector1">
            <a:avLst/>
          </a:prstGeom>
          <a:no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4ED58CB8-EB39-4ECB-BB3D-DF765EEF23C6}"/>
              </a:ext>
            </a:extLst>
          </p:cNvPr>
          <p:cNvCxnSpPr>
            <a:stCxn id="81" idx="3"/>
            <a:endCxn id="104" idx="1"/>
          </p:cNvCxnSpPr>
          <p:nvPr/>
        </p:nvCxnSpPr>
        <p:spPr bwMode="auto">
          <a:xfrm>
            <a:off x="6105255" y="1873659"/>
            <a:ext cx="289584" cy="0"/>
          </a:xfrm>
          <a:prstGeom prst="straightConnector1">
            <a:avLst/>
          </a:prstGeom>
          <a:no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F40C8031-D0CB-4EA3-B672-41A2BAA53A8B}"/>
              </a:ext>
            </a:extLst>
          </p:cNvPr>
          <p:cNvCxnSpPr>
            <a:stCxn id="89" idx="3"/>
            <a:endCxn id="106" idx="1"/>
          </p:cNvCxnSpPr>
          <p:nvPr/>
        </p:nvCxnSpPr>
        <p:spPr bwMode="auto">
          <a:xfrm>
            <a:off x="6119732" y="2604854"/>
            <a:ext cx="301966"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170F0DBF-836A-475B-A067-ABA424571F49}"/>
              </a:ext>
            </a:extLst>
          </p:cNvPr>
          <p:cNvCxnSpPr>
            <a:cxnSpLocks/>
            <a:stCxn id="188" idx="3"/>
            <a:endCxn id="189" idx="1"/>
          </p:cNvCxnSpPr>
          <p:nvPr/>
        </p:nvCxnSpPr>
        <p:spPr bwMode="auto">
          <a:xfrm>
            <a:off x="6114889" y="3286870"/>
            <a:ext cx="301967"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7" name="Straight Arrow Connector 66">
            <a:extLst>
              <a:ext uri="{FF2B5EF4-FFF2-40B4-BE49-F238E27FC236}">
                <a16:creationId xmlns:a16="http://schemas.microsoft.com/office/drawing/2014/main" id="{10B380A6-82B8-4C3E-A43A-E1768E54CA4B}"/>
              </a:ext>
            </a:extLst>
          </p:cNvPr>
          <p:cNvCxnSpPr>
            <a:stCxn id="98" idx="3"/>
            <a:endCxn id="99" idx="1"/>
          </p:cNvCxnSpPr>
          <p:nvPr/>
        </p:nvCxnSpPr>
        <p:spPr bwMode="auto">
          <a:xfrm>
            <a:off x="6107433" y="3895790"/>
            <a:ext cx="301967" cy="4760"/>
          </a:xfrm>
          <a:prstGeom prst="straightConnector1">
            <a:avLst/>
          </a:prstGeom>
          <a:noFill/>
          <a:ln w="9525" cap="flat" cmpd="sng" algn="ctr">
            <a:solidFill>
              <a:srgbClr val="C00000"/>
            </a:solidFill>
            <a:prstDash val="solid"/>
            <a:round/>
            <a:headEnd type="none" w="med" len="med"/>
            <a:tailEnd type="triangle"/>
          </a:ln>
          <a:effectLst/>
        </p:spPr>
      </p:cxnSp>
      <p:sp>
        <p:nvSpPr>
          <p:cNvPr id="172" name="AutoShape 58">
            <a:extLst>
              <a:ext uri="{FF2B5EF4-FFF2-40B4-BE49-F238E27FC236}">
                <a16:creationId xmlns:a16="http://schemas.microsoft.com/office/drawing/2014/main" id="{B62677B9-888A-4840-899E-E32D64306EB5}"/>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183" name="AutoShape 57">
            <a:extLst>
              <a:ext uri="{FF2B5EF4-FFF2-40B4-BE49-F238E27FC236}">
                <a16:creationId xmlns:a16="http://schemas.microsoft.com/office/drawing/2014/main" id="{23C9CAEE-59A1-46EB-8940-8C7223841C65}"/>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cxnSp>
        <p:nvCxnSpPr>
          <p:cNvPr id="15" name="Connector: Elbow 14">
            <a:extLst>
              <a:ext uri="{FF2B5EF4-FFF2-40B4-BE49-F238E27FC236}">
                <a16:creationId xmlns:a16="http://schemas.microsoft.com/office/drawing/2014/main" id="{BCF99099-F0BF-42B7-BA7E-6881BC669740}"/>
              </a:ext>
            </a:extLst>
          </p:cNvPr>
          <p:cNvCxnSpPr>
            <a:cxnSpLocks/>
            <a:stCxn id="84" idx="3"/>
            <a:endCxn id="188" idx="1"/>
          </p:cNvCxnSpPr>
          <p:nvPr/>
        </p:nvCxnSpPr>
        <p:spPr bwMode="auto">
          <a:xfrm>
            <a:off x="4426974" y="2604854"/>
            <a:ext cx="316315" cy="682016"/>
          </a:xfrm>
          <a:prstGeom prst="bentConnector3">
            <a:avLst/>
          </a:prstGeom>
          <a:noFill/>
          <a:ln w="9525" cap="flat" cmpd="sng" algn="ctr">
            <a:solidFill>
              <a:srgbClr val="C00000"/>
            </a:solidFill>
            <a:prstDash val="solid"/>
            <a:round/>
            <a:headEnd type="none" w="med" len="med"/>
            <a:tailEnd type="triangle"/>
          </a:ln>
          <a:effectLst/>
        </p:spPr>
      </p:cxnSp>
      <p:cxnSp>
        <p:nvCxnSpPr>
          <p:cNvPr id="82" name="Straight Connector 81">
            <a:extLst>
              <a:ext uri="{FF2B5EF4-FFF2-40B4-BE49-F238E27FC236}">
                <a16:creationId xmlns:a16="http://schemas.microsoft.com/office/drawing/2014/main" id="{165D5E96-02F4-4B54-9857-CC1D4C995313}"/>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241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Find the root cause that making measurement system have problems</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a:r>
              <a:rPr sz="1000" b="0">
                <a:latin typeface="Arial"/>
              </a:rPr>
              <a:t>12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r>
              <a:rPr lang="en-US" sz="11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391772" cy="374589"/>
          </a:xfrm>
          <a:prstGeom prst="rect">
            <a:avLst/>
          </a:prstGeom>
          <a:noFill/>
        </p:spPr>
        <p:txBody>
          <a:bodyPr wrap="square" rtlCol="0">
            <a:spAutoFit/>
          </a:bodyPr>
          <a:lstStyle/>
          <a:p>
            <a:r>
              <a:rPr lang="en-US" sz="11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pPr>
            <a:r>
              <a:rPr lang="en-US" altLang="ko-KR" sz="11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graphicFrame>
        <p:nvGraphicFramePr>
          <p:cNvPr id="3" name="Table 2">
            <a:extLst>
              <a:ext uri="{FF2B5EF4-FFF2-40B4-BE49-F238E27FC236}">
                <a16:creationId xmlns:a16="http://schemas.microsoft.com/office/drawing/2014/main" id="{FEB4F0AC-5783-4227-97F5-8187EC65FDFE}"/>
              </a:ext>
            </a:extLst>
          </p:cNvPr>
          <p:cNvGraphicFramePr>
            <a:graphicFrameLocks noGrp="1"/>
          </p:cNvGraphicFramePr>
          <p:nvPr>
            <p:extLst>
              <p:ext uri="{D42A27DB-BD31-4B8C-83A1-F6EECF244321}">
                <p14:modId xmlns:p14="http://schemas.microsoft.com/office/powerpoint/2010/main" val="2536506491"/>
              </p:ext>
            </p:extLst>
          </p:nvPr>
        </p:nvGraphicFramePr>
        <p:xfrm>
          <a:off x="328027" y="1087809"/>
          <a:ext cx="8793194" cy="2130540"/>
        </p:xfrm>
        <a:graphic>
          <a:graphicData uri="http://schemas.openxmlformats.org/drawingml/2006/table">
            <a:tbl>
              <a:tblPr/>
              <a:tblGrid>
                <a:gridCol w="558298">
                  <a:extLst>
                    <a:ext uri="{9D8B030D-6E8A-4147-A177-3AD203B41FA5}">
                      <a16:colId xmlns:a16="http://schemas.microsoft.com/office/drawing/2014/main" val="675507370"/>
                    </a:ext>
                  </a:extLst>
                </a:gridCol>
                <a:gridCol w="2628653">
                  <a:extLst>
                    <a:ext uri="{9D8B030D-6E8A-4147-A177-3AD203B41FA5}">
                      <a16:colId xmlns:a16="http://schemas.microsoft.com/office/drawing/2014/main" val="851657989"/>
                    </a:ext>
                  </a:extLst>
                </a:gridCol>
                <a:gridCol w="4094186">
                  <a:extLst>
                    <a:ext uri="{9D8B030D-6E8A-4147-A177-3AD203B41FA5}">
                      <a16:colId xmlns:a16="http://schemas.microsoft.com/office/drawing/2014/main" val="4121057302"/>
                    </a:ext>
                  </a:extLst>
                </a:gridCol>
                <a:gridCol w="569929">
                  <a:extLst>
                    <a:ext uri="{9D8B030D-6E8A-4147-A177-3AD203B41FA5}">
                      <a16:colId xmlns:a16="http://schemas.microsoft.com/office/drawing/2014/main" val="1649521796"/>
                    </a:ext>
                  </a:extLst>
                </a:gridCol>
                <a:gridCol w="942128">
                  <a:extLst>
                    <a:ext uri="{9D8B030D-6E8A-4147-A177-3AD203B41FA5}">
                      <a16:colId xmlns:a16="http://schemas.microsoft.com/office/drawing/2014/main" val="6004670"/>
                    </a:ext>
                  </a:extLst>
                </a:gridCol>
              </a:tblGrid>
              <a:tr h="532635">
                <a:tc>
                  <a:txBody>
                    <a:bodyPr/>
                    <a:lstStyle/>
                    <a:p>
                      <a:pPr algn="ctr" rtl="0" fontAlgn="ctr"/>
                      <a:r>
                        <a:rPr lang="en-US" sz="800" b="1" i="0" u="none" strike="noStrike">
                          <a:solidFill>
                            <a:srgbClr val="000000"/>
                          </a:solidFill>
                          <a:effectLst/>
                          <a:latin typeface="Arial" panose="020F0502020204030204" pitchFamily="34" charset="0"/>
                          <a:ea typeface="Arial"/>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800" b="1" i="0" u="none" strike="noStrike">
                          <a:solidFill>
                            <a:srgbClr val="000000"/>
                          </a:solidFill>
                          <a:effectLst/>
                          <a:latin typeface="Arial" panose="020F0502020204030204" pitchFamily="34" charset="0"/>
                          <a:ea typeface="Arial"/>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800" b="1" i="0" u="none" strike="noStrike">
                          <a:solidFill>
                            <a:srgbClr val="000000"/>
                          </a:solidFill>
                          <a:effectLst/>
                          <a:latin typeface="Arial" panose="020F0502020204030204" pitchFamily="34" charset="0"/>
                          <a:ea typeface="Arial"/>
                        </a:rPr>
                        <a:t>List checking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800" b="1" i="0" u="none" strike="noStrike">
                          <a:solidFill>
                            <a:srgbClr val="000000"/>
                          </a:solidFill>
                          <a:effectLst/>
                          <a:latin typeface="Arial" panose="020F0502020204030204" pitchFamily="34" charset="0"/>
                          <a:ea typeface="Arial"/>
                        </a:rPr>
                        <a:t>Station</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800" b="1" i="0" u="none" strike="noStrike">
                          <a:solidFill>
                            <a:srgbClr val="000000"/>
                          </a:solidFill>
                          <a:effectLst/>
                          <a:latin typeface="Arial" panose="020F0502020204030204" pitchFamily="34" charset="0"/>
                          <a:ea typeface="Arial"/>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532635">
                <a:tc>
                  <a:txBody>
                    <a:bodyPr/>
                    <a:lstStyle/>
                    <a:p>
                      <a:pPr algn="ctr" fontAlgn="ctr"/>
                      <a:r>
                        <a:rPr lang="en-US" sz="1000" b="0" i="0" u="none" strike="noStrike">
                          <a:solidFill>
                            <a:srgbClr val="000000"/>
                          </a:solidFill>
                          <a:effectLst/>
                          <a:latin typeface="Arial" panose="020F0502020204030204" pitchFamily="34" charset="0"/>
                          <a:ea typeface="Arial"/>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CAN SIM send weak signal to LCD recognized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Checking luminance value before /after change to new CAN SIM</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Station 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 sample T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532635">
                <a:tc>
                  <a:txBody>
                    <a:bodyPr/>
                    <a:lstStyle/>
                    <a:p>
                      <a:pPr algn="ctr" fontAlgn="ctr"/>
                      <a:r>
                        <a:rPr lang="en-US" sz="1000" b="0" i="0" u="none" strike="noStrike">
                          <a:solidFill>
                            <a:srgbClr val="000000"/>
                          </a:solidFill>
                          <a:effectLst/>
                          <a:latin typeface="Arial" panose="020F0502020204030204" pitchFamily="34" charset="0"/>
                          <a:ea typeface="Arial"/>
                        </a:rPr>
                        <a:t>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Measure incorrectly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Checking luminance value before /after change to new camera</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Station 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05671"/>
                  </a:ext>
                </a:extLst>
              </a:tr>
              <a:tr h="532635">
                <a:tc>
                  <a:txBody>
                    <a:bodyPr/>
                    <a:lstStyle/>
                    <a:p>
                      <a:pPr algn="ctr" fontAlgn="ctr"/>
                      <a:r>
                        <a:rPr lang="en-US" sz="1000" b="0" i="0" u="none" strike="noStrike">
                          <a:solidFill>
                            <a:srgbClr val="000000"/>
                          </a:solidFill>
                          <a:effectLst/>
                          <a:latin typeface="Arial" panose="020F0502020204030204" pitchFamily="34" charset="0"/>
                          <a:ea typeface="Arial"/>
                        </a:rPr>
                        <a:t>3</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Camera angle changed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Checking luminance value before /after changing angle of detector</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Station 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502622"/>
                  </a:ext>
                </a:extLst>
              </a:tr>
            </a:tbl>
          </a:graphicData>
        </a:graphic>
      </p:graphicFrame>
      <p:cxnSp>
        <p:nvCxnSpPr>
          <p:cNvPr id="13" name="Straight Connector 12">
            <a:extLst>
              <a:ext uri="{FF2B5EF4-FFF2-40B4-BE49-F238E27FC236}">
                <a16:creationId xmlns:a16="http://schemas.microsoft.com/office/drawing/2014/main" id="{30BD119D-483F-4B62-A423-BE8480B87DC8}"/>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829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CBE53BB-8EA3-4A02-8B07-C1241536D4CC}"/>
              </a:ext>
            </a:extLst>
          </p:cNvPr>
          <p:cNvPicPr>
            <a:picLocks noChangeAspect="1"/>
          </p:cNvPicPr>
          <p:nvPr/>
        </p:nvPicPr>
        <p:blipFill>
          <a:blip r:embed="rId3"/>
          <a:stretch>
            <a:fillRect/>
          </a:stretch>
        </p:blipFill>
        <p:spPr>
          <a:xfrm>
            <a:off x="6929967" y="1459562"/>
            <a:ext cx="2554377" cy="4328997"/>
          </a:xfrm>
          <a:prstGeom prst="rect">
            <a:avLst/>
          </a:prstGeom>
        </p:spPr>
      </p:pic>
      <p:pic>
        <p:nvPicPr>
          <p:cNvPr id="8" name="Picture 7">
            <a:extLst>
              <a:ext uri="{FF2B5EF4-FFF2-40B4-BE49-F238E27FC236}">
                <a16:creationId xmlns:a16="http://schemas.microsoft.com/office/drawing/2014/main" id="{690435D6-C429-45C3-B6B1-35C46158EE86}"/>
              </a:ext>
            </a:extLst>
          </p:cNvPr>
          <p:cNvPicPr>
            <a:picLocks noChangeAspect="1"/>
          </p:cNvPicPr>
          <p:nvPr/>
        </p:nvPicPr>
        <p:blipFill>
          <a:blip r:embed="rId4"/>
          <a:stretch>
            <a:fillRect/>
          </a:stretch>
        </p:blipFill>
        <p:spPr>
          <a:xfrm>
            <a:off x="3639951" y="1487678"/>
            <a:ext cx="2850569" cy="4224337"/>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Find the root cause that making measurement system have problems</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a:r>
              <a:rPr sz="1000" b="0">
                <a:latin typeface="Arial"/>
              </a:rPr>
              <a:t>13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pPr>
            <a:r>
              <a:rPr lang="en-US" altLang="ko-KR" sz="11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813638"/>
            <a:ext cx="8581114" cy="304800"/>
          </a:xfrm>
          <a:prstGeom prst="rect">
            <a:avLst/>
          </a:prstGeom>
          <a:noFill/>
          <a:ln w="9525" algn="ctr">
            <a:noFill/>
            <a:miter lim="800000"/>
            <a:headEnd/>
            <a:tailEnd/>
          </a:ln>
        </p:spPr>
        <p:txBody>
          <a:bodyPr lIns="84374" tIns="42187" rIns="84374" bIns="42187" anchor="ctr"/>
          <a:lstStyle/>
          <a:p>
            <a:pPr marL="228600" indent="-228600" defTabSz="844083" fontAlgn="base" latinLnBrk="1">
              <a:spcBef>
                <a:spcPct val="0"/>
              </a:spcBef>
              <a:spcAft>
                <a:spcPct val="0"/>
              </a:spcAft>
              <a:buFont typeface="Wingdings" panose="05000000000000000000" pitchFamily="2" charset="2"/>
              <a:buChar char="§"/>
              <a:defRPr/>
            </a:pPr>
            <a:r>
              <a:rPr lang="en-US" altLang="ko-KR" sz="11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CANSIM of Station 2_Change to the new CANSIM</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lang="en-US" sz="11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CANSIM does not affect in the luminance in station 2</a:t>
            </a:r>
          </a:p>
          <a:p>
            <a:pPr fontAlgn="auto">
              <a:spcBef>
                <a:spcPts val="0"/>
              </a:spcBef>
              <a:spcAft>
                <a:spcPts val="0"/>
              </a:spcAft>
              <a:defRPr/>
            </a:pPr>
            <a:r>
              <a:rPr lang="en-US" sz="11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CANSIM affects the luminance in station 2</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B1E05F07-6192-43D2-BDDA-820ED5A6D7C8}"/>
              </a:ext>
            </a:extLst>
          </p:cNvPr>
          <p:cNvSpPr/>
          <p:nvPr/>
        </p:nvSpPr>
        <p:spPr>
          <a:xfrm>
            <a:off x="3622945" y="554014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sz="1100" b="0">
                <a:latin typeface="Arial"/>
              </a:rPr>
              <a:t>P-value = 0.695 &gt; 0.05 -&gt; Fail to reject H0 (No significant difference before/after changing CANSIM).</a:t>
            </a:r>
          </a:p>
        </p:txBody>
      </p:sp>
      <p:sp>
        <p:nvSpPr>
          <p:cNvPr id="42" name="Rectangle 41">
            <a:extLst>
              <a:ext uri="{FF2B5EF4-FFF2-40B4-BE49-F238E27FC236}">
                <a16:creationId xmlns:a16="http://schemas.microsoft.com/office/drawing/2014/main" id="{56AC9E33-5B26-4D42-8AD9-8C8F452EA347}"/>
              </a:ext>
            </a:extLst>
          </p:cNvPr>
          <p:cNvSpPr/>
          <p:nvPr/>
        </p:nvSpPr>
        <p:spPr>
          <a:xfrm>
            <a:off x="7005666" y="5568722"/>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sz="1100" b="0">
                <a:latin typeface="Arial"/>
              </a:rPr>
              <a:t>Changing CANSIM has no significant effect on luminance (Factor eliminated).</a:t>
            </a:r>
          </a:p>
        </p:txBody>
      </p:sp>
      <p:sp>
        <p:nvSpPr>
          <p:cNvPr id="43" name="Rectangle 42">
            <a:extLst>
              <a:ext uri="{FF2B5EF4-FFF2-40B4-BE49-F238E27FC236}">
                <a16:creationId xmlns:a16="http://schemas.microsoft.com/office/drawing/2014/main" id="{6E83014D-3F1B-4CCF-854B-576FA6A74A3A}"/>
              </a:ext>
            </a:extLst>
          </p:cNvPr>
          <p:cNvSpPr/>
          <p:nvPr/>
        </p:nvSpPr>
        <p:spPr>
          <a:xfrm>
            <a:off x="152438" y="4574457"/>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endParaRPr/>
          </a:p>
        </p:txBody>
      </p:sp>
      <p:pic>
        <p:nvPicPr>
          <p:cNvPr id="10" name="Picture 9">
            <a:extLst>
              <a:ext uri="{FF2B5EF4-FFF2-40B4-BE49-F238E27FC236}">
                <a16:creationId xmlns:a16="http://schemas.microsoft.com/office/drawing/2014/main" id="{ED8DA734-5217-4015-98F6-80B3FBB26F85}"/>
              </a:ext>
            </a:extLst>
          </p:cNvPr>
          <p:cNvPicPr>
            <a:picLocks noChangeAspect="1"/>
          </p:cNvPicPr>
          <p:nvPr/>
        </p:nvPicPr>
        <p:blipFill>
          <a:blip r:embed="rId5"/>
          <a:stretch>
            <a:fillRect/>
          </a:stretch>
        </p:blipFill>
        <p:spPr>
          <a:xfrm>
            <a:off x="161963" y="2127473"/>
            <a:ext cx="3183204" cy="2168212"/>
          </a:xfrm>
          <a:prstGeom prst="rect">
            <a:avLst/>
          </a:prstGeom>
        </p:spPr>
      </p:pic>
      <p:cxnSp>
        <p:nvCxnSpPr>
          <p:cNvPr id="21" name="Straight Connector 20">
            <a:extLst>
              <a:ext uri="{FF2B5EF4-FFF2-40B4-BE49-F238E27FC236}">
                <a16:creationId xmlns:a16="http://schemas.microsoft.com/office/drawing/2014/main" id="{3B2BAC12-9112-4963-B6B7-476061BB0D9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4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7F0C3D-A52B-4FFE-B84A-79BA69F43C4C}"/>
              </a:ext>
            </a:extLst>
          </p:cNvPr>
          <p:cNvPicPr>
            <a:picLocks noChangeAspect="1"/>
          </p:cNvPicPr>
          <p:nvPr/>
        </p:nvPicPr>
        <p:blipFill>
          <a:blip r:embed="rId3"/>
          <a:stretch>
            <a:fillRect/>
          </a:stretch>
        </p:blipFill>
        <p:spPr>
          <a:xfrm>
            <a:off x="7106684" y="1592725"/>
            <a:ext cx="2234166" cy="4047856"/>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Find the root cause that making measurement system have problems</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a:r>
              <a:rPr sz="1000" b="0">
                <a:latin typeface="Arial"/>
              </a:rPr>
              <a:t>14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pPr>
            <a:r>
              <a:rPr lang="en-US" altLang="ko-KR" sz="11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813638"/>
            <a:ext cx="8581114" cy="304800"/>
          </a:xfrm>
          <a:prstGeom prst="rect">
            <a:avLst/>
          </a:prstGeom>
          <a:noFill/>
          <a:ln w="9525" algn="ctr">
            <a:noFill/>
            <a:miter lim="800000"/>
            <a:headEnd/>
            <a:tailEnd/>
          </a:ln>
        </p:spPr>
        <p:txBody>
          <a:bodyPr lIns="84374" tIns="42187" rIns="84374" bIns="42187" anchor="ctr"/>
          <a:lstStyle/>
          <a:p>
            <a:pPr marL="228600" indent="-228600" defTabSz="844083" fontAlgn="base" latinLnBrk="1">
              <a:spcBef>
                <a:spcPct val="0"/>
              </a:spcBef>
              <a:spcAft>
                <a:spcPct val="0"/>
              </a:spcAft>
              <a:buFont typeface="Wingdings" panose="05000000000000000000" pitchFamily="2" charset="2"/>
              <a:buChar char="§"/>
              <a:defRPr/>
            </a:pPr>
            <a:r>
              <a:rPr lang="en-US" altLang="ko-KR" sz="11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Station 2_Change to the new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lang="en-US" sz="11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new camera does not affect in the luminance in station 2</a:t>
            </a:r>
          </a:p>
          <a:p>
            <a:pPr fontAlgn="auto">
              <a:spcBef>
                <a:spcPts val="0"/>
              </a:spcBef>
              <a:spcAft>
                <a:spcPts val="0"/>
              </a:spcAft>
              <a:defRPr/>
            </a:pPr>
            <a:r>
              <a:rPr lang="en-US" sz="11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new camera affects luminance in station 2</a:t>
            </a:r>
          </a:p>
        </p:txBody>
      </p:sp>
      <p:grpSp>
        <p:nvGrpSpPr>
          <p:cNvPr id="18" name="Group 17">
            <a:extLst>
              <a:ext uri="{FF2B5EF4-FFF2-40B4-BE49-F238E27FC236}">
                <a16:creationId xmlns:a16="http://schemas.microsoft.com/office/drawing/2014/main" id="{6004C03C-D103-4228-8164-DAC001218135}"/>
              </a:ext>
            </a:extLst>
          </p:cNvPr>
          <p:cNvGrpSpPr/>
          <p:nvPr/>
        </p:nvGrpSpPr>
        <p:grpSpPr>
          <a:xfrm>
            <a:off x="98866" y="1363842"/>
            <a:ext cx="3417450" cy="4985319"/>
            <a:chOff x="27541" y="1363842"/>
            <a:chExt cx="3488775" cy="4985319"/>
          </a:xfrm>
        </p:grpSpPr>
        <p:sp>
          <p:nvSpPr>
            <p:cNvPr id="30" name="Rectangle 29">
              <a:extLst>
                <a:ext uri="{FF2B5EF4-FFF2-40B4-BE49-F238E27FC236}">
                  <a16:creationId xmlns:a16="http://schemas.microsoft.com/office/drawing/2014/main" id="{3DCD8DDD-848A-4DD4-8977-795C2A45FAA7}"/>
                </a:ext>
              </a:extLst>
            </p:cNvPr>
            <p:cNvSpPr/>
            <p:nvPr/>
          </p:nvSpPr>
          <p:spPr>
            <a:xfrm>
              <a:off x="82231" y="457445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rPr>
                <a:t>Since the P-Value before and after changing to the new camera is not normally distributed, Mann-Whitney test was used</a:t>
              </a:r>
            </a:p>
          </p:txBody>
        </p:sp>
        <p:sp>
          <p:nvSpPr>
            <p:cNvPr id="13" name="Rectangle 12">
              <a:extLst>
                <a:ext uri="{FF2B5EF4-FFF2-40B4-BE49-F238E27FC236}">
                  <a16:creationId xmlns:a16="http://schemas.microsoft.com/office/drawing/2014/main" id="{6991B64C-3D0C-4AFC-9A02-6A7E183572E6}"/>
                </a:ext>
              </a:extLst>
            </p:cNvPr>
            <p:cNvSpPr/>
            <p:nvPr/>
          </p:nvSpPr>
          <p:spPr>
            <a:xfrm>
              <a:off x="27541" y="1363842"/>
              <a:ext cx="3488775"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025E2A72-A1A7-475D-B240-E52042B39D12}"/>
              </a:ext>
            </a:extLst>
          </p:cNvPr>
          <p:cNvSpPr/>
          <p:nvPr/>
        </p:nvSpPr>
        <p:spPr>
          <a:xfrm>
            <a:off x="3616861" y="5650106"/>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sz="1100" b="0">
                <a:latin typeface="Arial"/>
              </a:rPr>
              <a:t>P-value = 0.950 &gt; 0.05 -&gt; Fail to reject H0 (No significant difference before/after changing camera).</a:t>
            </a:r>
          </a:p>
        </p:txBody>
      </p:sp>
      <p:pic>
        <p:nvPicPr>
          <p:cNvPr id="4" name="Picture 3">
            <a:extLst>
              <a:ext uri="{FF2B5EF4-FFF2-40B4-BE49-F238E27FC236}">
                <a16:creationId xmlns:a16="http://schemas.microsoft.com/office/drawing/2014/main" id="{713F22A1-2A24-4A0B-8A57-21B51CCA25AF}"/>
              </a:ext>
            </a:extLst>
          </p:cNvPr>
          <p:cNvPicPr>
            <a:picLocks noChangeAspect="1"/>
          </p:cNvPicPr>
          <p:nvPr/>
        </p:nvPicPr>
        <p:blipFill>
          <a:blip r:embed="rId4"/>
          <a:stretch>
            <a:fillRect/>
          </a:stretch>
        </p:blipFill>
        <p:spPr>
          <a:xfrm>
            <a:off x="3774759" y="1787863"/>
            <a:ext cx="2606993" cy="3724275"/>
          </a:xfrm>
          <a:prstGeom prst="rect">
            <a:avLst/>
          </a:prstGeom>
        </p:spPr>
      </p:pic>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47185BE-8036-4784-9456-394E8FE0CE4B}"/>
              </a:ext>
            </a:extLst>
          </p:cNvPr>
          <p:cNvSpPr/>
          <p:nvPr/>
        </p:nvSpPr>
        <p:spPr>
          <a:xfrm>
            <a:off x="6890602" y="5528419"/>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sz="1100" b="0">
                <a:latin typeface="Arial"/>
              </a:rPr>
              <a:t>Changing camera has no significant effect on luminance (Factor eliminated).</a:t>
            </a:r>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FCD0B0C-4467-4222-A67F-45926F3433D6}"/>
              </a:ext>
            </a:extLst>
          </p:cNvPr>
          <p:cNvPicPr>
            <a:picLocks noChangeAspect="1"/>
          </p:cNvPicPr>
          <p:nvPr/>
        </p:nvPicPr>
        <p:blipFill>
          <a:blip r:embed="rId5"/>
          <a:stretch>
            <a:fillRect/>
          </a:stretch>
        </p:blipFill>
        <p:spPr>
          <a:xfrm>
            <a:off x="142669" y="2162694"/>
            <a:ext cx="3253640" cy="2162957"/>
          </a:xfrm>
          <a:prstGeom prst="rect">
            <a:avLst/>
          </a:prstGeom>
        </p:spPr>
      </p:pic>
      <p:cxnSp>
        <p:nvCxnSpPr>
          <p:cNvPr id="22" name="Straight Connector 21">
            <a:extLst>
              <a:ext uri="{FF2B5EF4-FFF2-40B4-BE49-F238E27FC236}">
                <a16:creationId xmlns:a16="http://schemas.microsoft.com/office/drawing/2014/main" id="{481D8C7D-05B6-4D3D-9ABB-71119BC488A9}"/>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75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F81463-D00C-42E3-B8C4-F13E6DF99BB3}"/>
              </a:ext>
            </a:extLst>
          </p:cNvPr>
          <p:cNvPicPr>
            <a:picLocks noChangeAspect="1"/>
          </p:cNvPicPr>
          <p:nvPr/>
        </p:nvPicPr>
        <p:blipFill>
          <a:blip r:embed="rId3"/>
          <a:stretch>
            <a:fillRect/>
          </a:stretch>
        </p:blipFill>
        <p:spPr>
          <a:xfrm>
            <a:off x="3578913" y="1463388"/>
            <a:ext cx="2830034" cy="4232009"/>
          </a:xfrm>
          <a:prstGeom prst="rect">
            <a:avLst/>
          </a:prstGeom>
        </p:spPr>
      </p:pic>
      <p:pic>
        <p:nvPicPr>
          <p:cNvPr id="5" name="Picture 4">
            <a:extLst>
              <a:ext uri="{FF2B5EF4-FFF2-40B4-BE49-F238E27FC236}">
                <a16:creationId xmlns:a16="http://schemas.microsoft.com/office/drawing/2014/main" id="{B02A1F05-CB59-4ED6-9475-01BA35AED076}"/>
              </a:ext>
            </a:extLst>
          </p:cNvPr>
          <p:cNvPicPr>
            <a:picLocks noChangeAspect="1"/>
          </p:cNvPicPr>
          <p:nvPr/>
        </p:nvPicPr>
        <p:blipFill>
          <a:blip r:embed="rId4"/>
          <a:stretch>
            <a:fillRect/>
          </a:stretch>
        </p:blipFill>
        <p:spPr>
          <a:xfrm>
            <a:off x="6881471" y="1821584"/>
            <a:ext cx="2794242" cy="3819383"/>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Find the root cause that making measurement system have problems</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a:r>
              <a:rPr sz="1000" b="0">
                <a:latin typeface="Arial"/>
              </a:rPr>
              <a:t>15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35883" y="6564853"/>
            <a:ext cx="1234633" cy="261610"/>
          </a:xfrm>
          <a:prstGeom prst="rect">
            <a:avLst/>
          </a:prstGeom>
          <a:noFill/>
        </p:spPr>
        <p:txBody>
          <a:bodyPr wrap="none" rtlCol="0">
            <a:spAutoFit/>
          </a:bodyPr>
          <a:lstStyle/>
          <a:p>
            <a:r>
              <a:rPr lang="en-US" sz="11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391772" cy="374589"/>
          </a:xfrm>
          <a:prstGeom prst="rect">
            <a:avLst/>
          </a:prstGeom>
          <a:noFill/>
        </p:spPr>
        <p:txBody>
          <a:bodyPr wrap="square" rtlCol="0">
            <a:spAutoFit/>
          </a:bodyPr>
          <a:lstStyle/>
          <a:p>
            <a:r>
              <a:rPr lang="en-US" sz="11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pPr>
            <a:r>
              <a:rPr lang="en-US" altLang="ko-KR" sz="11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813638"/>
            <a:ext cx="8581114" cy="304800"/>
          </a:xfrm>
          <a:prstGeom prst="rect">
            <a:avLst/>
          </a:prstGeom>
          <a:noFill/>
          <a:ln w="9525" algn="ctr">
            <a:noFill/>
            <a:miter lim="800000"/>
            <a:headEnd/>
            <a:tailEnd/>
          </a:ln>
        </p:spPr>
        <p:txBody>
          <a:bodyPr lIns="84374" tIns="42187" rIns="84374" bIns="42187" anchor="ctr"/>
          <a:lstStyle/>
          <a:p>
            <a:pPr marL="228600" indent="-228600" defTabSz="844083">
              <a:buFont typeface="Wingdings" panose="05000000000000000000" pitchFamily="2" charset="2"/>
              <a:buChar char="§"/>
              <a:defRPr/>
            </a:pPr>
            <a:r>
              <a:rPr lang="en-US" altLang="ko-KR" sz="11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Station 2_Change to the angle of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lang="en-US" sz="11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The changing angle does not affect in the luminance in station 2</a:t>
            </a:r>
          </a:p>
          <a:p>
            <a:pPr fontAlgn="auto">
              <a:spcBef>
                <a:spcPts val="0"/>
              </a:spcBef>
              <a:spcAft>
                <a:spcPts val="0"/>
              </a:spcAft>
              <a:defRPr/>
            </a:pPr>
            <a:r>
              <a:rPr lang="en-US" sz="11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angle affects the luminance in station 2</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97D18562-BCC3-4013-82DD-F4D405717BC8}"/>
              </a:ext>
            </a:extLst>
          </p:cNvPr>
          <p:cNvSpPr/>
          <p:nvPr/>
        </p:nvSpPr>
        <p:spPr>
          <a:xfrm>
            <a:off x="7078109" y="5640967"/>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sz="1100" b="1">
                <a:latin typeface="Arial"/>
              </a:rPr>
              <a:t>Changing camera angle significantly affects luminance -&gt; Root Cause verified!</a:t>
            </a:r>
          </a:p>
        </p:txBody>
      </p:sp>
      <p:sp>
        <p:nvSpPr>
          <p:cNvPr id="34" name="Rectangle 33">
            <a:extLst>
              <a:ext uri="{FF2B5EF4-FFF2-40B4-BE49-F238E27FC236}">
                <a16:creationId xmlns:a16="http://schemas.microsoft.com/office/drawing/2014/main" id="{57C9282F-7684-42EC-8ACA-B2F7764FEB40}"/>
              </a:ext>
            </a:extLst>
          </p:cNvPr>
          <p:cNvSpPr/>
          <p:nvPr/>
        </p:nvSpPr>
        <p:spPr>
          <a:xfrm>
            <a:off x="3608582" y="5694299"/>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sz="1100" b="0">
                <a:latin typeface="Arial"/>
              </a:rPr>
              <a:t>P-value = 0.000 &lt; 0.05 -&gt; Reject H0 (Significant difference before/after angle adjustment).</a:t>
            </a:r>
          </a:p>
        </p:txBody>
      </p:sp>
      <p:sp>
        <p:nvSpPr>
          <p:cNvPr id="35" name="Rectangle 34">
            <a:extLst>
              <a:ext uri="{FF2B5EF4-FFF2-40B4-BE49-F238E27FC236}">
                <a16:creationId xmlns:a16="http://schemas.microsoft.com/office/drawing/2014/main" id="{C6D04D18-793F-4BB5-941D-DBC9777DF9A3}"/>
              </a:ext>
            </a:extLst>
          </p:cNvPr>
          <p:cNvSpPr/>
          <p:nvPr/>
        </p:nvSpPr>
        <p:spPr>
          <a:xfrm>
            <a:off x="98866" y="5564534"/>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endParaRPr/>
          </a:p>
        </p:txBody>
      </p:sp>
      <p:pic>
        <p:nvPicPr>
          <p:cNvPr id="7" name="Picture 6">
            <a:extLst>
              <a:ext uri="{FF2B5EF4-FFF2-40B4-BE49-F238E27FC236}">
                <a16:creationId xmlns:a16="http://schemas.microsoft.com/office/drawing/2014/main" id="{0BD2CE55-1666-4BA2-8F5D-76D7AD09ED1B}"/>
              </a:ext>
            </a:extLst>
          </p:cNvPr>
          <p:cNvPicPr>
            <a:picLocks noChangeAspect="1"/>
          </p:cNvPicPr>
          <p:nvPr/>
        </p:nvPicPr>
        <p:blipFill>
          <a:blip r:embed="rId5"/>
          <a:stretch>
            <a:fillRect/>
          </a:stretch>
        </p:blipFill>
        <p:spPr>
          <a:xfrm>
            <a:off x="189458" y="2514600"/>
            <a:ext cx="3160523" cy="2113294"/>
          </a:xfrm>
          <a:prstGeom prst="rect">
            <a:avLst/>
          </a:prstGeom>
        </p:spPr>
      </p:pic>
      <p:cxnSp>
        <p:nvCxnSpPr>
          <p:cNvPr id="23" name="Straight Connector 22">
            <a:extLst>
              <a:ext uri="{FF2B5EF4-FFF2-40B4-BE49-F238E27FC236}">
                <a16:creationId xmlns:a16="http://schemas.microsoft.com/office/drawing/2014/main" id="{BA493B99-CBD5-4FF7-890F-B765055A2C9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824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Find the root cause that making measurement system have problems</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a:r>
              <a:rPr sz="1000" b="0">
                <a:latin typeface="Arial"/>
              </a:rPr>
              <a:t>16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r>
              <a:rPr lang="en-US" sz="11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391772" cy="374589"/>
          </a:xfrm>
          <a:prstGeom prst="rect">
            <a:avLst/>
          </a:prstGeom>
          <a:noFill/>
        </p:spPr>
        <p:txBody>
          <a:bodyPr wrap="square" rtlCol="0">
            <a:spAutoFit/>
          </a:bodyPr>
          <a:lstStyle/>
          <a:p>
            <a:r>
              <a:rPr lang="en-US" sz="11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fontAlgn="base" latinLnBrk="1">
              <a:spcBef>
                <a:spcPct val="0"/>
              </a:spcBef>
              <a:spcAft>
                <a:spcPct val="0"/>
              </a:spcAft>
              <a:buFont typeface="Wingdings" panose="05000000000000000000" pitchFamily="2" charset="2"/>
              <a:buChar char="q"/>
              <a:defRPr/>
            </a:pPr>
            <a:r>
              <a:rPr lang="en-US" altLang="ko-KR" sz="11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sp>
        <p:nvSpPr>
          <p:cNvPr id="14" name="TextBox 13">
            <a:extLst>
              <a:ext uri="{FF2B5EF4-FFF2-40B4-BE49-F238E27FC236}">
                <a16:creationId xmlns:a16="http://schemas.microsoft.com/office/drawing/2014/main" id="{77319FFA-3B9B-430E-9F64-271EFD67D4AA}"/>
              </a:ext>
            </a:extLst>
          </p:cNvPr>
          <p:cNvSpPr txBox="1"/>
          <p:nvPr/>
        </p:nvSpPr>
        <p:spPr>
          <a:xfrm>
            <a:off x="6008474" y="2262358"/>
            <a:ext cx="391772" cy="374589"/>
          </a:xfrm>
          <a:prstGeom prst="rect">
            <a:avLst/>
          </a:prstGeom>
          <a:noFill/>
        </p:spPr>
        <p:txBody>
          <a:bodyPr wrap="square" rtlCol="0">
            <a:spAutoFit/>
          </a:bodyPr>
          <a:lstStyle/>
          <a:p>
            <a:r>
              <a:rPr lang="en-US" sz="11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graphicFrame>
        <p:nvGraphicFramePr>
          <p:cNvPr id="3" name="Table 2">
            <a:extLst>
              <a:ext uri="{FF2B5EF4-FFF2-40B4-BE49-F238E27FC236}">
                <a16:creationId xmlns:a16="http://schemas.microsoft.com/office/drawing/2014/main" id="{BF03B95D-B4D0-4970-B381-592923B524DE}"/>
              </a:ext>
            </a:extLst>
          </p:cNvPr>
          <p:cNvGraphicFramePr>
            <a:graphicFrameLocks noGrp="1"/>
          </p:cNvGraphicFramePr>
          <p:nvPr>
            <p:extLst>
              <p:ext uri="{D42A27DB-BD31-4B8C-83A1-F6EECF244321}">
                <p14:modId xmlns:p14="http://schemas.microsoft.com/office/powerpoint/2010/main" val="659449474"/>
              </p:ext>
            </p:extLst>
          </p:nvPr>
        </p:nvGraphicFramePr>
        <p:xfrm>
          <a:off x="281227" y="976320"/>
          <a:ext cx="9243773" cy="1690680"/>
        </p:xfrm>
        <a:graphic>
          <a:graphicData uri="http://schemas.openxmlformats.org/drawingml/2006/table">
            <a:tbl>
              <a:tblPr/>
              <a:tblGrid>
                <a:gridCol w="467054">
                  <a:extLst>
                    <a:ext uri="{9D8B030D-6E8A-4147-A177-3AD203B41FA5}">
                      <a16:colId xmlns:a16="http://schemas.microsoft.com/office/drawing/2014/main" val="2109521739"/>
                    </a:ext>
                  </a:extLst>
                </a:gridCol>
                <a:gridCol w="2199045">
                  <a:extLst>
                    <a:ext uri="{9D8B030D-6E8A-4147-A177-3AD203B41FA5}">
                      <a16:colId xmlns:a16="http://schemas.microsoft.com/office/drawing/2014/main" val="3424737538"/>
                    </a:ext>
                  </a:extLst>
                </a:gridCol>
                <a:gridCol w="3425061">
                  <a:extLst>
                    <a:ext uri="{9D8B030D-6E8A-4147-A177-3AD203B41FA5}">
                      <a16:colId xmlns:a16="http://schemas.microsoft.com/office/drawing/2014/main" val="2242494846"/>
                    </a:ext>
                  </a:extLst>
                </a:gridCol>
                <a:gridCol w="476784">
                  <a:extLst>
                    <a:ext uri="{9D8B030D-6E8A-4147-A177-3AD203B41FA5}">
                      <a16:colId xmlns:a16="http://schemas.microsoft.com/office/drawing/2014/main" val="1351166837"/>
                    </a:ext>
                  </a:extLst>
                </a:gridCol>
                <a:gridCol w="788153">
                  <a:extLst>
                    <a:ext uri="{9D8B030D-6E8A-4147-A177-3AD203B41FA5}">
                      <a16:colId xmlns:a16="http://schemas.microsoft.com/office/drawing/2014/main" val="1537678072"/>
                    </a:ext>
                  </a:extLst>
                </a:gridCol>
                <a:gridCol w="467054">
                  <a:extLst>
                    <a:ext uri="{9D8B030D-6E8A-4147-A177-3AD203B41FA5}">
                      <a16:colId xmlns:a16="http://schemas.microsoft.com/office/drawing/2014/main" val="2323986976"/>
                    </a:ext>
                  </a:extLst>
                </a:gridCol>
                <a:gridCol w="1420622">
                  <a:extLst>
                    <a:ext uri="{9D8B030D-6E8A-4147-A177-3AD203B41FA5}">
                      <a16:colId xmlns:a16="http://schemas.microsoft.com/office/drawing/2014/main" val="1603859258"/>
                    </a:ext>
                  </a:extLst>
                </a:gridCol>
              </a:tblGrid>
              <a:tr h="422670">
                <a:tc>
                  <a:txBody>
                    <a:bodyPr/>
                    <a:lstStyle/>
                    <a:p>
                      <a:pPr algn="ctr" rtl="0" fontAlgn="ctr"/>
                      <a:r>
                        <a:rPr lang="en-US" sz="600" b="1" i="0" u="none" strike="noStrike">
                          <a:solidFill>
                            <a:srgbClr val="000000"/>
                          </a:solidFill>
                          <a:effectLst/>
                          <a:latin typeface="Arial" panose="020F0502020204030204" pitchFamily="34" charset="0"/>
                          <a:ea typeface="Arial"/>
                        </a:rPr>
                        <a:t>No</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600" b="1" i="0" u="none" strike="noStrike">
                          <a:solidFill>
                            <a:srgbClr val="000000"/>
                          </a:solidFill>
                          <a:effectLst/>
                          <a:latin typeface="Arial" panose="020F0502020204030204" pitchFamily="34" charset="0"/>
                          <a:ea typeface="Arial"/>
                        </a:rPr>
                        <a:t>Potential Factors</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600" b="1" i="0" u="none" strike="noStrike">
                          <a:solidFill>
                            <a:srgbClr val="000000"/>
                          </a:solidFill>
                          <a:effectLst/>
                          <a:latin typeface="Arial" panose="020F0502020204030204" pitchFamily="34" charset="0"/>
                          <a:ea typeface="Arial"/>
                        </a:rPr>
                        <a:t>List checking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600" b="1" i="0" u="none" strike="noStrike">
                          <a:solidFill>
                            <a:srgbClr val="000000"/>
                          </a:solidFill>
                          <a:effectLst/>
                          <a:latin typeface="Arial" panose="020F0502020204030204" pitchFamily="34" charset="0"/>
                          <a:ea typeface="Arial"/>
                        </a:rPr>
                        <a:t>Station</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600" b="1" i="0" u="none" strike="noStrike">
                          <a:solidFill>
                            <a:srgbClr val="000000"/>
                          </a:solidFill>
                          <a:effectLst/>
                          <a:latin typeface="Arial" panose="020F0502020204030204" pitchFamily="34" charset="0"/>
                          <a:ea typeface="Arial"/>
                        </a:rPr>
                        <a:t>Tool to identify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600" b="1" i="0" u="none" strike="noStrike">
                          <a:solidFill>
                            <a:srgbClr val="000000"/>
                          </a:solidFill>
                          <a:effectLst/>
                          <a:latin typeface="Arial" panose="020F0502020204030204" pitchFamily="34" charset="0"/>
                          <a:ea typeface="Arial"/>
                        </a:rPr>
                        <a:t>P value</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fontAlgn="ctr"/>
                      <a:r>
                        <a:rPr lang="en-US" sz="600" b="1" i="0" u="none" strike="noStrike">
                          <a:solidFill>
                            <a:srgbClr val="000000"/>
                          </a:solidFill>
                          <a:effectLst/>
                          <a:latin typeface="Arial" panose="020F0502020204030204" pitchFamily="34" charset="0"/>
                          <a:ea typeface="Arial"/>
                        </a:rPr>
                        <a:t>Conclusion</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650287274"/>
                  </a:ext>
                </a:extLst>
              </a:tr>
              <a:tr h="422670">
                <a:tc>
                  <a:txBody>
                    <a:bodyPr/>
                    <a:lstStyle/>
                    <a:p>
                      <a:pPr algn="ctr" fontAlgn="ctr"/>
                      <a:r>
                        <a:rPr lang="en-US" sz="800" b="0" i="0" u="none" strike="noStrike">
                          <a:solidFill>
                            <a:srgbClr val="000000"/>
                          </a:solidFill>
                          <a:effectLst/>
                          <a:latin typeface="Arial" panose="020F0502020204030204" pitchFamily="34" charset="0"/>
                          <a:ea typeface="Arial"/>
                        </a:rPr>
                        <a:t>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CAN SIM send weak signal to LCD recognized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Checking luminance value before /after change to new CAN SIM</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Station 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2 sample 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Arial" panose="020F0502020204030204" pitchFamily="34" charset="0"/>
                          <a:ea typeface="Arial"/>
                        </a:rPr>
                        <a:t>0.695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0196543"/>
                  </a:ext>
                </a:extLst>
              </a:tr>
              <a:tr h="422670">
                <a:tc>
                  <a:txBody>
                    <a:bodyPr/>
                    <a:lstStyle/>
                    <a:p>
                      <a:pPr algn="ctr" fontAlgn="ctr"/>
                      <a:r>
                        <a:rPr lang="en-US" sz="800" b="0" i="0" u="none" strike="noStrike">
                          <a:solidFill>
                            <a:srgbClr val="000000"/>
                          </a:solidFill>
                          <a:effectLst/>
                          <a:latin typeface="Arial" panose="020F0502020204030204" pitchFamily="34" charset="0"/>
                          <a:ea typeface="Arial"/>
                        </a:rPr>
                        <a:t>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Measure incorrectly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Checking luminance value before /after change to new camera</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Station 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Arial" panose="020F0502020204030204" pitchFamily="34" charset="0"/>
                          <a:ea typeface="Arial"/>
                        </a:rPr>
                        <a:t>0.950</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5251994"/>
                  </a:ext>
                </a:extLst>
              </a:tr>
              <a:tr h="422670">
                <a:tc>
                  <a:txBody>
                    <a:bodyPr/>
                    <a:lstStyle/>
                    <a:p>
                      <a:pPr algn="ctr" fontAlgn="ctr"/>
                      <a:r>
                        <a:rPr lang="en-US" sz="800" b="0" i="0" u="none" strike="noStrike">
                          <a:solidFill>
                            <a:srgbClr val="000000"/>
                          </a:solidFill>
                          <a:effectLst/>
                          <a:latin typeface="Arial" panose="020F0502020204030204" pitchFamily="34" charset="0"/>
                          <a:ea typeface="Arial"/>
                        </a:rPr>
                        <a:t>3</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Camera angle changed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Arial" panose="020F0502020204030204" pitchFamily="34" charset="0"/>
                          <a:ea typeface="Arial"/>
                        </a:rPr>
                        <a:t>Checking luminance value before /after changing angle of detector</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Arial" panose="020F0502020204030204" pitchFamily="34" charset="0"/>
                          <a:ea typeface="Arial"/>
                        </a:rPr>
                        <a:t>Station 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dirty="0">
                          <a:solidFill>
                            <a:srgbClr val="000000"/>
                          </a:solidFill>
                          <a:effectLst/>
                          <a:latin typeface="Arial" panose="020F0502020204030204" pitchFamily="34" charset="0"/>
                          <a:ea typeface="Arial"/>
                        </a:rPr>
                        <a:t>&lt; 0.001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sz="1000" b="1">
                          <a:latin typeface="Arial"/>
                        </a:rPr>
                        <a:t>Root Cause (Significant effect, P &lt;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4136179"/>
                  </a:ext>
                </a:extLst>
              </a:tr>
            </a:tbl>
          </a:graphicData>
        </a:graphic>
      </p:graphicFrame>
      <p:cxnSp>
        <p:nvCxnSpPr>
          <p:cNvPr id="15" name="Straight Connector 14">
            <a:extLst>
              <a:ext uri="{FF2B5EF4-FFF2-40B4-BE49-F238E27FC236}">
                <a16:creationId xmlns:a16="http://schemas.microsoft.com/office/drawing/2014/main" id="{E3DE82FB-9C04-4132-BDB3-42EC338047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5826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112718" y="692150"/>
            <a:ext cx="9598025" cy="379413"/>
          </a:xfrm>
          <a:prstGeom prst="rect">
            <a:avLst/>
          </a:prstGeom>
          <a:solidFill>
            <a:srgbClr val="DDDDDD"/>
          </a:solidFill>
          <a:ln w="9525">
            <a:solidFill>
              <a:srgbClr val="000000"/>
            </a:solidFill>
            <a:miter lim="800000"/>
            <a:headEnd/>
            <a:tailEnd/>
          </a:ln>
        </p:spPr>
        <p:txBody>
          <a:bodyPr wrap="none" lIns="91311" tIns="45659" rIns="91311" bIns="45659" anchor="ctr"/>
          <a:lstStyle/>
          <a:p>
            <a:pPr fontAlgn="auto">
              <a:spcBef>
                <a:spcPts val="0"/>
              </a:spcBef>
              <a:spcAft>
                <a:spcPts val="0"/>
              </a:spcAft>
              <a:defRPr/>
            </a:pPr>
            <a:endParaRPr kumimoji="0" lang="zh-CN" altLang="zh-CN" b="1" kern="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1" name="Rectangle 21"/>
          <p:cNvSpPr>
            <a:spLocks noChangeArrowheads="1"/>
          </p:cNvSpPr>
          <p:nvPr/>
        </p:nvSpPr>
        <p:spPr bwMode="auto">
          <a:xfrm>
            <a:off x="112719" y="686988"/>
            <a:ext cx="9602749" cy="5975350"/>
          </a:xfrm>
          <a:prstGeom prst="rect">
            <a:avLst/>
          </a:prstGeom>
          <a:noFill/>
          <a:ln w="9525">
            <a:solidFill>
              <a:srgbClr val="5F5F5F"/>
            </a:solidFill>
            <a:miter lim="800000"/>
            <a:headEnd/>
            <a:tailEnd/>
          </a:ln>
        </p:spPr>
        <p:txBody>
          <a:bodyPr wrap="none" lIns="91311" tIns="45659" rIns="91311" bIns="45659" anchor="ctr"/>
          <a:lstStyle/>
          <a:p>
            <a:pPr fontAlgn="auto">
              <a:spcBef>
                <a:spcPts val="0"/>
              </a:spcBef>
              <a:spcAft>
                <a:spcPts val="0"/>
              </a:spcAft>
            </a:pPr>
            <a:endParaRPr kumimoji="0" lang="zh-CN" altLang="zh-CN"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2" name="TextBox 466"/>
          <p:cNvSpPr txBox="1">
            <a:spLocks noChangeArrowheads="1"/>
          </p:cNvSpPr>
          <p:nvPr/>
        </p:nvSpPr>
        <p:spPr bwMode="auto">
          <a:xfrm>
            <a:off x="3232600" y="5721501"/>
            <a:ext cx="3448592" cy="861762"/>
          </a:xfrm>
          <a:prstGeom prst="rect">
            <a:avLst/>
          </a:prstGeom>
          <a:noFill/>
          <a:ln w="9525">
            <a:noFill/>
            <a:miter lim="800000"/>
            <a:headEnd/>
            <a:tailEnd/>
          </a:ln>
        </p:spPr>
        <p:txBody>
          <a:bodyPr wrap="square" lIns="91429" tIns="45714" rIns="91429" bIns="45714" anchor="ctr">
            <a:spAutoFit/>
          </a:bodyPr>
          <a:lstStyle/>
          <a:p>
            <a:pPr fontAlgn="auto">
              <a:lnSpc>
                <a:spcPts val="1500"/>
              </a:lnSpc>
              <a:spcBef>
                <a:spcPts val="0"/>
              </a:spcBef>
              <a:spcAft>
                <a:spcPts val="0"/>
              </a:spcAft>
              <a:buFont typeface="Wingdings" pitchFamily="2" charset="2"/>
              <a:buChar char="p"/>
            </a:pP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 Easy Working:                    </a:t>
            </a:r>
            <a:r>
              <a:rPr lang="en-US" altLang="zh-CN" sz="1100" u="sng" dirty="0">
                <a:solidFill>
                  <a:prstClr val="black"/>
                </a:solidFill>
                <a:latin typeface="Arial" panose="020B0600000101010101" pitchFamily="34" charset="-127"/>
                <a:ea typeface="Arial" panose="020B0600000101010101" pitchFamily="34" charset="-127"/>
                <a:cs typeface="Arial" pitchFamily="34" charset="0"/>
              </a:rPr>
              <a:t>√</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fontAlgn="auto">
              <a:lnSpc>
                <a:spcPts val="1500"/>
              </a:lnSpc>
              <a:spcBef>
                <a:spcPts val="0"/>
              </a:spcBef>
              <a:spcAft>
                <a:spcPts val="0"/>
              </a:spcAft>
              <a:buFont typeface="Wingdings" pitchFamily="2" charset="2"/>
              <a:buChar char="p"/>
            </a:pP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 Difficulty Working:</a:t>
            </a:r>
          </a:p>
          <a:p>
            <a:pPr fontAlgn="auto">
              <a:lnSpc>
                <a:spcPts val="1500"/>
              </a:lnSpc>
              <a:spcBef>
                <a:spcPts val="0"/>
              </a:spcBef>
              <a:spcAft>
                <a:spcPts val="0"/>
              </a:spcAft>
              <a:buFont typeface="Wingdings" pitchFamily="2" charset="2"/>
              <a:buChar char="p"/>
            </a:pP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 Impossible Working:</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fontAlgn="auto">
              <a:lnSpc>
                <a:spcPts val="1500"/>
              </a:lnSpc>
              <a:spcBef>
                <a:spcPts val="0"/>
              </a:spcBef>
              <a:spcAft>
                <a:spcPts val="0"/>
              </a:spcAft>
              <a:buFont typeface="Wingdings" pitchFamily="2" charset="2"/>
              <a:buChar char="p"/>
            </a:pP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 Working Feeling</a:t>
            </a:r>
            <a:r>
              <a:rPr lang="en-US" altLang="zh-CN" sz="1100" dirty="0">
                <a:solidFill>
                  <a:prstClr val="black"/>
                </a:solidFill>
                <a:latin typeface="Arial" panose="020B0600000101010101" pitchFamily="34" charset="-127"/>
                <a:ea typeface="Arial" panose="020B0600000101010101" pitchFamily="34" charset="-127"/>
                <a:cs typeface="Arial" pitchFamily="34" charset="0"/>
              </a:rPr>
              <a:t>: Can detect by program</a:t>
            </a:r>
            <a:endParaRPr kumimoji="0" lang="zh-CN"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3" name="TextBox 468"/>
          <p:cNvSpPr txBox="1">
            <a:spLocks noChangeArrowheads="1"/>
          </p:cNvSpPr>
          <p:nvPr/>
        </p:nvSpPr>
        <p:spPr bwMode="auto">
          <a:xfrm>
            <a:off x="6743704" y="5721501"/>
            <a:ext cx="2942776" cy="1304769"/>
          </a:xfrm>
          <a:prstGeom prst="rect">
            <a:avLst/>
          </a:prstGeom>
          <a:noFill/>
          <a:ln w="9525">
            <a:noFill/>
            <a:miter lim="800000"/>
            <a:headEnd/>
            <a:tailEnd/>
          </a:ln>
        </p:spPr>
        <p:txBody>
          <a:bodyPr wrap="square" lIns="91429" tIns="45714" rIns="91429" bIns="45714">
            <a:spAutoFit/>
          </a:bodyPr>
          <a:lstStyle/>
          <a:p>
            <a:pPr fontAlgn="auto">
              <a:lnSpc>
                <a:spcPts val="1600"/>
              </a:lnSpc>
              <a:spcBef>
                <a:spcPts val="0"/>
              </a:spcBef>
              <a:spcAft>
                <a:spcPts val="0"/>
              </a:spcAft>
              <a:buFont typeface="Wingdings" pitchFamily="2" charset="2"/>
              <a:buChar char="p"/>
            </a:pPr>
            <a:r>
              <a:rPr kumimoji="0" lang="zh-CN" altLang="en-US" sz="1100"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With who</a:t>
            </a:r>
            <a:r>
              <a:rPr lang="en-US" altLang="zh-CN" sz="1100" dirty="0">
                <a:solidFill>
                  <a:prstClr val="black"/>
                </a:solidFill>
                <a:latin typeface="Arial" panose="020B0600000101010101" pitchFamily="34" charset="-127"/>
                <a:ea typeface="Arial" panose="020B0600000101010101" pitchFamily="34" charset="-127"/>
                <a:cs typeface="Arial" pitchFamily="34" charset="0"/>
              </a:rPr>
              <a:t>:</a:t>
            </a:r>
            <a:r>
              <a:rPr kumimoji="0" lang="zh-CN" altLang="en-US" sz="1100" dirty="0">
                <a:solidFill>
                  <a:prstClr val="black"/>
                </a:solidFill>
                <a:latin typeface="Arial" panose="020B0600000101010101" pitchFamily="34" charset="-127"/>
                <a:ea typeface="Arial" panose="020B0600000101010101" pitchFamily="34" charset="-127"/>
                <a:cs typeface="Arial" pitchFamily="34" charset="0"/>
              </a:rPr>
              <a:t> </a:t>
            </a:r>
            <a:r>
              <a:rPr kumimoji="0" lang="vi-VN" altLang="zh-CN" sz="1100" dirty="0">
                <a:solidFill>
                  <a:prstClr val="black"/>
                </a:solidFill>
                <a:latin typeface="Arial" panose="020B0600000101010101" pitchFamily="34" charset="-127"/>
                <a:ea typeface="Arial" panose="020B0600000101010101" pitchFamily="34" charset="-127"/>
                <a:cs typeface="Arial" pitchFamily="34" charset="0"/>
              </a:rPr>
              <a:t>M</a:t>
            </a: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r. </a:t>
            </a:r>
            <a:r>
              <a:rPr kumimoji="0" lang="en-US" altLang="zh-CN" sz="1100" dirty="0" err="1">
                <a:solidFill>
                  <a:prstClr val="black"/>
                </a:solidFill>
                <a:latin typeface="Arial" panose="020B0600000101010101" pitchFamily="34" charset="-127"/>
                <a:ea typeface="Arial" panose="020B0600000101010101" pitchFamily="34" charset="-127"/>
                <a:cs typeface="Arial" pitchFamily="34" charset="0"/>
              </a:rPr>
              <a:t>Chien</a:t>
            </a: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 LQC</a:t>
            </a:r>
          </a:p>
          <a:p>
            <a:pPr fontAlgn="auto">
              <a:lnSpc>
                <a:spcPts val="1600"/>
              </a:lnSpc>
              <a:spcBef>
                <a:spcPts val="0"/>
              </a:spcBef>
              <a:spcAft>
                <a:spcPts val="0"/>
              </a:spcAft>
              <a:buFont typeface="Wingdings" pitchFamily="2" charset="2"/>
              <a:buChar char="p"/>
            </a:pP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Field request</a:t>
            </a:r>
            <a:r>
              <a:rPr lang="en-US" altLang="zh-CN" sz="1100" dirty="0">
                <a:solidFill>
                  <a:prstClr val="black"/>
                </a:solidFill>
                <a:latin typeface="Arial" panose="020B0600000101010101" pitchFamily="34" charset="-127"/>
                <a:ea typeface="Arial" panose="020B0600000101010101" pitchFamily="34" charset="-127"/>
                <a:cs typeface="Arial" pitchFamily="34" charset="0"/>
              </a:rPr>
              <a:t>: when issues happen, the repair member uses repair station to check if NTF, PE member check the camera status.</a:t>
            </a:r>
          </a:p>
          <a:p>
            <a:pPr fontAlgn="auto">
              <a:lnSpc>
                <a:spcPts val="1600"/>
              </a:lnSpc>
              <a:spcBef>
                <a:spcPts val="0"/>
              </a:spcBef>
              <a:spcAft>
                <a:spcPts val="0"/>
              </a:spcAft>
            </a:pP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    </a:t>
            </a:r>
          </a:p>
          <a:p>
            <a:pPr fontAlgn="auto">
              <a:lnSpc>
                <a:spcPts val="1600"/>
              </a:lnSpc>
              <a:spcBef>
                <a:spcPts val="0"/>
              </a:spcBef>
              <a:spcAft>
                <a:spcPts val="0"/>
              </a:spcAft>
            </a:pP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    </a:t>
            </a:r>
          </a:p>
        </p:txBody>
      </p:sp>
      <p:sp>
        <p:nvSpPr>
          <p:cNvPr id="15" name="Line 10"/>
          <p:cNvSpPr>
            <a:spLocks noChangeShapeType="1"/>
          </p:cNvSpPr>
          <p:nvPr/>
        </p:nvSpPr>
        <p:spPr bwMode="auto">
          <a:xfrm>
            <a:off x="124866" y="5414954"/>
            <a:ext cx="9593151" cy="11420"/>
          </a:xfrm>
          <a:prstGeom prst="line">
            <a:avLst/>
          </a:prstGeom>
          <a:noFill/>
          <a:ln w="9525">
            <a:solidFill>
              <a:srgbClr val="5F5F5F"/>
            </a:solidFill>
            <a:round/>
            <a:headEnd/>
            <a:tailEnd/>
          </a:ln>
        </p:spPr>
        <p:txBody>
          <a:bodyPr lIns="91345" tIns="45677" rIns="91345" bIns="45677"/>
          <a:lstStyle/>
          <a:p>
            <a:pPr fontAlgn="auto">
              <a:spcBef>
                <a:spcPts val="0"/>
              </a:spcBef>
              <a:spcAft>
                <a:spcPts val="0"/>
              </a:spcAft>
            </a:pPr>
            <a:endParaRPr kumimoji="0" lang="ko-KR" altLang="en-US" sz="9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6" name="Line 10"/>
          <p:cNvSpPr>
            <a:spLocks noChangeShapeType="1"/>
          </p:cNvSpPr>
          <p:nvPr/>
        </p:nvSpPr>
        <p:spPr bwMode="auto">
          <a:xfrm>
            <a:off x="120763" y="5680830"/>
            <a:ext cx="9593151" cy="0"/>
          </a:xfrm>
          <a:prstGeom prst="line">
            <a:avLst/>
          </a:prstGeom>
          <a:noFill/>
          <a:ln w="9525">
            <a:solidFill>
              <a:srgbClr val="5F5F5F"/>
            </a:solidFill>
            <a:round/>
            <a:headEnd/>
            <a:tailEnd/>
          </a:ln>
        </p:spPr>
        <p:txBody>
          <a:bodyPr lIns="91345" tIns="45677" rIns="91345" bIns="45677"/>
          <a:lstStyle/>
          <a:p>
            <a:pPr fontAlgn="auto">
              <a:spcBef>
                <a:spcPts val="0"/>
              </a:spcBef>
              <a:spcAft>
                <a:spcPts val="0"/>
              </a:spcAft>
            </a:pPr>
            <a:endParaRPr kumimoji="0" lang="ko-KR"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2" name="그룹 296"/>
          <p:cNvGrpSpPr/>
          <p:nvPr/>
        </p:nvGrpSpPr>
        <p:grpSpPr>
          <a:xfrm>
            <a:off x="3216233" y="5429265"/>
            <a:ext cx="3524294" cy="1216014"/>
            <a:chOff x="3055327" y="5143503"/>
            <a:chExt cx="3166698" cy="1501775"/>
          </a:xfrm>
        </p:grpSpPr>
        <p:cxnSp>
          <p:nvCxnSpPr>
            <p:cNvPr id="18" name="直接连接符 92"/>
            <p:cNvCxnSpPr/>
            <p:nvPr/>
          </p:nvCxnSpPr>
          <p:spPr>
            <a:xfrm rot="5400000">
              <a:off x="5471199" y="5894452"/>
              <a:ext cx="1500187"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22"/>
            <p:cNvCxnSpPr/>
            <p:nvPr/>
          </p:nvCxnSpPr>
          <p:spPr>
            <a:xfrm rot="5400000">
              <a:off x="2305966" y="5892864"/>
              <a:ext cx="1500188"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1" name="TextBox 462"/>
          <p:cNvSpPr txBox="1">
            <a:spLocks noChangeArrowheads="1"/>
          </p:cNvSpPr>
          <p:nvPr/>
        </p:nvSpPr>
        <p:spPr bwMode="auto">
          <a:xfrm>
            <a:off x="111126" y="5706181"/>
            <a:ext cx="3113682" cy="1118243"/>
          </a:xfrm>
          <a:prstGeom prst="rect">
            <a:avLst/>
          </a:prstGeom>
          <a:noFill/>
          <a:ln w="9525">
            <a:noFill/>
            <a:miter lim="800000"/>
            <a:headEnd/>
            <a:tailEnd/>
          </a:ln>
        </p:spPr>
        <p:txBody>
          <a:bodyPr wrap="square" lIns="91429" tIns="45714" rIns="91429" bIns="45714" anchor="ctr">
            <a:spAutoFit/>
          </a:bodyPr>
          <a:lstStyle/>
          <a:p>
            <a:pPr fontAlgn="auto">
              <a:lnSpc>
                <a:spcPts val="1600"/>
              </a:lnSpc>
              <a:spcBef>
                <a:spcPts val="0"/>
              </a:spcBef>
              <a:spcAft>
                <a:spcPts val="0"/>
              </a:spcAft>
              <a:buFont typeface="Wingdings" pitchFamily="2" charset="2"/>
              <a:buChar char="p"/>
            </a:pP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 Date: Feb-</a:t>
            </a:r>
            <a:r>
              <a:rPr kumimoji="0" lang="vi-VN" altLang="zh-CN" sz="1100" dirty="0">
                <a:solidFill>
                  <a:prstClr val="black"/>
                </a:solidFill>
                <a:latin typeface="Arial" panose="020B0600000101010101" pitchFamily="34" charset="-127"/>
                <a:ea typeface="Arial" panose="020B0600000101010101" pitchFamily="34" charset="-127"/>
                <a:cs typeface="Arial" pitchFamily="34" charset="0"/>
              </a:rPr>
              <a:t>2024</a:t>
            </a:r>
            <a:endParaRPr kumimoji="0" lang="en-US" altLang="zh-CN"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fontAlgn="auto">
              <a:lnSpc>
                <a:spcPts val="1600"/>
              </a:lnSpc>
              <a:spcBef>
                <a:spcPts val="0"/>
              </a:spcBef>
              <a:spcAft>
                <a:spcPts val="0"/>
              </a:spcAft>
              <a:buFont typeface="Wingdings" pitchFamily="2" charset="2"/>
              <a:buChar char="p"/>
            </a:pP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 Line: IVI 5</a:t>
            </a:r>
          </a:p>
          <a:p>
            <a:pPr fontAlgn="auto">
              <a:lnSpc>
                <a:spcPts val="1600"/>
              </a:lnSpc>
              <a:spcBef>
                <a:spcPts val="0"/>
              </a:spcBef>
              <a:spcAft>
                <a:spcPts val="0"/>
              </a:spcAft>
              <a:buFont typeface="Wingdings" pitchFamily="2" charset="2"/>
              <a:buChar char="p"/>
            </a:pPr>
            <a:r>
              <a:rPr kumimoji="0" lang="en-US" altLang="zh-CN" sz="1100" dirty="0">
                <a:solidFill>
                  <a:prstClr val="black"/>
                </a:solidFill>
                <a:latin typeface="Arial" panose="020B0600000101010101" pitchFamily="34" charset="-127"/>
                <a:ea typeface="Arial" panose="020B0600000101010101" pitchFamily="34" charset="-127"/>
                <a:cs typeface="Arial" pitchFamily="34" charset="0"/>
              </a:rPr>
              <a:t> Area: FA production line</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fontAlgn="auto">
              <a:lnSpc>
                <a:spcPts val="1600"/>
              </a:lnSpc>
              <a:spcBef>
                <a:spcPts val="0"/>
              </a:spcBef>
              <a:spcAft>
                <a:spcPts val="0"/>
              </a:spcAft>
              <a:buFont typeface="Wingdings" pitchFamily="2" charset="2"/>
              <a:buChar char="p"/>
            </a:pPr>
            <a:r>
              <a:rPr sz="1100" b="0">
                <a:latin typeface="Arial"/>
              </a:rPr>
              <a:t> Detail Checking: Visual check the cable of LCD with PCBA to check set OK or not</a:t>
            </a:r>
            <a:endParaRPr kumimoji="0" lang="zh-CN" altLang="en-US"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28" name="직선 연결선 27"/>
          <p:cNvCxnSpPr/>
          <p:nvPr/>
        </p:nvCxnSpPr>
        <p:spPr>
          <a:xfrm rot="5400000">
            <a:off x="2878015" y="305909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5400000">
            <a:off x="4759190" y="3055344"/>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 Box 12"/>
          <p:cNvSpPr txBox="1">
            <a:spLocks noChangeArrowheads="1"/>
          </p:cNvSpPr>
          <p:nvPr/>
        </p:nvSpPr>
        <p:spPr bwMode="auto">
          <a:xfrm>
            <a:off x="124634" y="694919"/>
            <a:ext cx="2445468" cy="373432"/>
          </a:xfrm>
          <a:prstGeom prst="rect">
            <a:avLst/>
          </a:prstGeom>
          <a:noFill/>
          <a:ln w="9525">
            <a:noFill/>
            <a:miter lim="800000"/>
            <a:headEnd/>
            <a:tailEnd/>
          </a:ln>
        </p:spPr>
        <p:txBody>
          <a:bodyPr wrap="square" lIns="95494" tIns="47750" rIns="95494" bIns="47750">
            <a:spAutoFit/>
          </a:bodyPr>
          <a:lstStyle/>
          <a:p>
            <a:pPr algn="ctr" defTabSz="957147" fontAlgn="auto">
              <a:spcBef>
                <a:spcPts val="0"/>
              </a:spcBef>
              <a:spcAft>
                <a:spcPts val="0"/>
              </a:spcAft>
            </a:pPr>
            <a:r>
              <a:rPr kumimoji="0" lang="en-US" altLang="ko-KR" sz="1100" b="1" dirty="0">
                <a:solidFill>
                  <a:prstClr val="black"/>
                </a:solidFill>
                <a:latin typeface="Arial" panose="020B0600000101010101" pitchFamily="34" charset="-127"/>
                <a:ea typeface="Arial" panose="020B0600000101010101" pitchFamily="34" charset="-127"/>
                <a:cs typeface="Arial" pitchFamily="34" charset="0"/>
              </a:rPr>
              <a:t>Problem</a:t>
            </a:r>
          </a:p>
        </p:txBody>
      </p:sp>
      <p:sp>
        <p:nvSpPr>
          <p:cNvPr id="34" name="TextBox 423"/>
          <p:cNvSpPr txBox="1">
            <a:spLocks noChangeArrowheads="1"/>
          </p:cNvSpPr>
          <p:nvPr/>
        </p:nvSpPr>
        <p:spPr bwMode="auto">
          <a:xfrm>
            <a:off x="1050274" y="5441972"/>
            <a:ext cx="1652587" cy="246209"/>
          </a:xfrm>
          <a:prstGeom prst="rect">
            <a:avLst/>
          </a:prstGeom>
          <a:noFill/>
          <a:ln w="9525">
            <a:noFill/>
            <a:miter lim="800000"/>
            <a:headEnd/>
            <a:tailEnd/>
          </a:ln>
        </p:spPr>
        <p:txBody>
          <a:bodyPr lIns="91429" tIns="45714" rIns="91429" bIns="45714">
            <a:spAutoFit/>
          </a:bodyPr>
          <a:lstStyle/>
          <a:p>
            <a:pPr fontAlgn="auto">
              <a:spcBef>
                <a:spcPts val="0"/>
              </a:spcBef>
              <a:spcAft>
                <a:spcPts val="0"/>
              </a:spcAft>
              <a:buFont typeface="Wingdings" pitchFamily="2" charset="2"/>
              <a:buChar char="Ø"/>
            </a:pPr>
            <a:r>
              <a:rPr kumimoji="0" lang="en-US" altLang="zh-CN" sz="1100" b="1" dirty="0">
                <a:solidFill>
                  <a:prstClr val="black"/>
                </a:solidFill>
                <a:latin typeface="Arial" panose="020B0600000101010101" pitchFamily="34" charset="-127"/>
                <a:ea typeface="Arial" panose="020B0600000101010101" pitchFamily="34" charset="-127"/>
                <a:cs typeface="Arial" pitchFamily="34" charset="0"/>
              </a:rPr>
              <a:t> Field Checking</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5" name="TextBox 424"/>
          <p:cNvSpPr txBox="1">
            <a:spLocks noChangeArrowheads="1"/>
          </p:cNvSpPr>
          <p:nvPr/>
        </p:nvSpPr>
        <p:spPr bwMode="auto">
          <a:xfrm>
            <a:off x="3216235" y="5468792"/>
            <a:ext cx="3546518" cy="246209"/>
          </a:xfrm>
          <a:prstGeom prst="rect">
            <a:avLst/>
          </a:prstGeom>
          <a:noFill/>
          <a:ln w="9525">
            <a:noFill/>
            <a:miter lim="800000"/>
            <a:headEnd/>
            <a:tailEnd/>
          </a:ln>
        </p:spPr>
        <p:txBody>
          <a:bodyPr wrap="square" lIns="91429" tIns="45714" rIns="91429" bIns="45714">
            <a:spAutoFit/>
          </a:bodyPr>
          <a:lstStyle/>
          <a:p>
            <a:pPr algn="ctr" fontAlgn="auto">
              <a:spcBef>
                <a:spcPts val="0"/>
              </a:spcBef>
              <a:spcAft>
                <a:spcPts val="0"/>
              </a:spcAft>
              <a:buFont typeface="Wingdings" pitchFamily="2" charset="2"/>
              <a:buChar char="Ø"/>
            </a:pPr>
            <a:r>
              <a:rPr kumimoji="0" lang="en-US" altLang="zh-CN" sz="1100" b="1" dirty="0">
                <a:solidFill>
                  <a:prstClr val="black"/>
                </a:solidFill>
                <a:latin typeface="Arial" panose="020B0600000101010101" pitchFamily="34" charset="-127"/>
                <a:ea typeface="Arial" panose="020B0600000101010101" pitchFamily="34" charset="-127"/>
                <a:cs typeface="Arial" pitchFamily="34" charset="0"/>
              </a:rPr>
              <a:t> Field Workability  </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6" name="TextBox 425"/>
          <p:cNvSpPr txBox="1">
            <a:spLocks noChangeArrowheads="1"/>
          </p:cNvSpPr>
          <p:nvPr/>
        </p:nvSpPr>
        <p:spPr bwMode="auto">
          <a:xfrm>
            <a:off x="6762753" y="5441972"/>
            <a:ext cx="2942775" cy="246209"/>
          </a:xfrm>
          <a:prstGeom prst="rect">
            <a:avLst/>
          </a:prstGeom>
          <a:noFill/>
          <a:ln w="9525">
            <a:noFill/>
            <a:miter lim="800000"/>
            <a:headEnd/>
            <a:tailEnd/>
          </a:ln>
        </p:spPr>
        <p:txBody>
          <a:bodyPr wrap="square" lIns="91429" tIns="45714" rIns="91429" bIns="45714">
            <a:spAutoFit/>
          </a:bodyPr>
          <a:lstStyle/>
          <a:p>
            <a:pPr algn="ctr" fontAlgn="auto">
              <a:spcBef>
                <a:spcPts val="0"/>
              </a:spcBef>
              <a:spcAft>
                <a:spcPts val="0"/>
              </a:spcAft>
              <a:buFont typeface="Wingdings" pitchFamily="2" charset="2"/>
              <a:buChar char="Ø"/>
            </a:pPr>
            <a:r>
              <a:rPr kumimoji="0" lang="en-US" altLang="zh-CN" sz="1100" b="1">
                <a:solidFill>
                  <a:prstClr val="black"/>
                </a:solidFill>
                <a:latin typeface="Arial" panose="020B0600000101010101" pitchFamily="34" charset="-127"/>
                <a:ea typeface="Arial" panose="020B0600000101010101" pitchFamily="34" charset="-127"/>
                <a:cs typeface="Arial" pitchFamily="34" charset="0"/>
              </a:rPr>
              <a:t> Field Interview</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7" name="Text Box 16"/>
          <p:cNvSpPr txBox="1">
            <a:spLocks noChangeArrowheads="1"/>
          </p:cNvSpPr>
          <p:nvPr/>
        </p:nvSpPr>
        <p:spPr bwMode="auto">
          <a:xfrm>
            <a:off x="5230883" y="702924"/>
            <a:ext cx="1889092" cy="373432"/>
          </a:xfrm>
          <a:prstGeom prst="rect">
            <a:avLst/>
          </a:prstGeom>
          <a:noFill/>
          <a:ln w="9525">
            <a:noFill/>
            <a:miter lim="800000"/>
            <a:headEnd/>
            <a:tailEnd/>
          </a:ln>
        </p:spPr>
        <p:txBody>
          <a:bodyPr wrap="square" lIns="95494" tIns="47750" rIns="95494" bIns="47750">
            <a:spAutoFit/>
          </a:bodyPr>
          <a:lstStyle/>
          <a:p>
            <a:pPr algn="ctr" defTabSz="957147" fontAlgn="auto">
              <a:spcBef>
                <a:spcPts val="0"/>
              </a:spcBef>
              <a:spcAft>
                <a:spcPts val="0"/>
              </a:spcAft>
            </a:pPr>
            <a:r>
              <a:rPr kumimoji="0" lang="en-US" altLang="zh-CN" sz="1100" b="1" dirty="0">
                <a:solidFill>
                  <a:prstClr val="black"/>
                </a:solidFill>
                <a:latin typeface="Arial" panose="020B0600000101010101" pitchFamily="34" charset="-127"/>
                <a:ea typeface="Arial" panose="020B0600000101010101" pitchFamily="34" charset="-127"/>
                <a:cs typeface="Arial" pitchFamily="34" charset="0"/>
              </a:rPr>
              <a:t>Improvement</a:t>
            </a:r>
          </a:p>
        </p:txBody>
      </p:sp>
      <p:sp>
        <p:nvSpPr>
          <p:cNvPr id="38" name="Text Box 13"/>
          <p:cNvSpPr txBox="1">
            <a:spLocks noChangeArrowheads="1"/>
          </p:cNvSpPr>
          <p:nvPr/>
        </p:nvSpPr>
        <p:spPr bwMode="auto">
          <a:xfrm>
            <a:off x="2566230" y="714307"/>
            <a:ext cx="2672570" cy="373432"/>
          </a:xfrm>
          <a:prstGeom prst="rect">
            <a:avLst/>
          </a:prstGeom>
          <a:noFill/>
          <a:ln w="9525">
            <a:noFill/>
            <a:miter lim="800000"/>
            <a:headEnd/>
            <a:tailEnd/>
          </a:ln>
        </p:spPr>
        <p:txBody>
          <a:bodyPr wrap="square" lIns="95494" tIns="47750" rIns="95494" bIns="47750">
            <a:spAutoFit/>
          </a:bodyPr>
          <a:lstStyle/>
          <a:p>
            <a:pPr algn="ctr" defTabSz="957147" fontAlgn="auto">
              <a:spcBef>
                <a:spcPts val="0"/>
              </a:spcBef>
              <a:spcAft>
                <a:spcPts val="0"/>
              </a:spcAft>
            </a:pPr>
            <a:r>
              <a:rPr kumimoji="0" lang="en-US" altLang="ko-KR" sz="1100" b="1" dirty="0">
                <a:solidFill>
                  <a:prstClr val="black"/>
                </a:solidFill>
                <a:latin typeface="Arial" panose="020B0600000101010101" pitchFamily="34" charset="-127"/>
                <a:ea typeface="Arial" panose="020B0600000101010101" pitchFamily="34" charset="-127"/>
                <a:cs typeface="Arial" pitchFamily="34" charset="0"/>
              </a:rPr>
              <a:t>Cause</a:t>
            </a:r>
          </a:p>
        </p:txBody>
      </p:sp>
      <p:sp>
        <p:nvSpPr>
          <p:cNvPr id="40" name="TextBox 128"/>
          <p:cNvSpPr txBox="1">
            <a:spLocks noChangeArrowheads="1"/>
          </p:cNvSpPr>
          <p:nvPr/>
        </p:nvSpPr>
        <p:spPr bwMode="auto">
          <a:xfrm>
            <a:off x="7295558" y="1083346"/>
            <a:ext cx="1250472" cy="261523"/>
          </a:xfrm>
          <a:prstGeom prst="rect">
            <a:avLst/>
          </a:prstGeom>
          <a:noFill/>
          <a:ln w="9525">
            <a:noFill/>
            <a:miter lim="800000"/>
            <a:headEnd/>
            <a:tailEnd/>
          </a:ln>
        </p:spPr>
        <p:txBody>
          <a:bodyPr wrap="none" lIns="91345" tIns="45677" rIns="91345" bIns="45677">
            <a:spAutoFit/>
          </a:bodyPr>
          <a:lstStyle/>
          <a:p>
            <a:pPr fontAlgn="auto">
              <a:spcBef>
                <a:spcPts val="0"/>
              </a:spcBef>
              <a:spcAft>
                <a:spcPts val="0"/>
              </a:spcAft>
              <a:buFont typeface="Arial" pitchFamily="34" charset="0"/>
              <a:buChar char="•"/>
            </a:pPr>
            <a:r>
              <a:rPr kumimoji="0" lang="en-US" altLang="ko-KR" sz="1100" b="1" u="sng" dirty="0">
                <a:solidFill>
                  <a:prstClr val="black"/>
                </a:solidFill>
                <a:latin typeface="Arial" panose="020B0600000101010101" pitchFamily="34" charset="-127"/>
                <a:ea typeface="Arial" panose="020B0600000101010101" pitchFamily="34" charset="-127"/>
                <a:cs typeface="Arial" pitchFamily="34" charset="0"/>
              </a:rPr>
              <a:t> Progress</a:t>
            </a:r>
            <a:r>
              <a:rPr kumimoji="0" lang="ko-KR" altLang="en-US" sz="1100" b="1" u="sng"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ko-KR" sz="1100" b="1" u="sng" dirty="0">
                <a:solidFill>
                  <a:prstClr val="black"/>
                </a:solidFill>
                <a:latin typeface="Arial" panose="020B0600000101010101" pitchFamily="34" charset="-127"/>
                <a:ea typeface="Arial" panose="020B0600000101010101" pitchFamily="34" charset="-127"/>
                <a:cs typeface="Arial" pitchFamily="34" charset="0"/>
              </a:rPr>
              <a:t>Status</a:t>
            </a:r>
          </a:p>
        </p:txBody>
      </p:sp>
      <p:sp>
        <p:nvSpPr>
          <p:cNvPr id="41" name="Text Box 16"/>
          <p:cNvSpPr txBox="1">
            <a:spLocks noChangeArrowheads="1"/>
          </p:cNvSpPr>
          <p:nvPr/>
        </p:nvSpPr>
        <p:spPr bwMode="auto">
          <a:xfrm>
            <a:off x="7119975" y="702937"/>
            <a:ext cx="2600591" cy="373432"/>
          </a:xfrm>
          <a:prstGeom prst="rect">
            <a:avLst/>
          </a:prstGeom>
          <a:noFill/>
          <a:ln w="9525">
            <a:noFill/>
            <a:miter lim="800000"/>
            <a:headEnd/>
            <a:tailEnd/>
          </a:ln>
        </p:spPr>
        <p:txBody>
          <a:bodyPr wrap="square" lIns="95494" tIns="47750" rIns="95494" bIns="47750">
            <a:spAutoFit/>
          </a:bodyPr>
          <a:lstStyle/>
          <a:p>
            <a:pPr algn="ctr" defTabSz="957147" fontAlgn="auto">
              <a:spcBef>
                <a:spcPts val="0"/>
              </a:spcBef>
              <a:spcAft>
                <a:spcPts val="0"/>
              </a:spcAft>
            </a:pPr>
            <a:r>
              <a:rPr kumimoji="0" lang="en-US" altLang="zh-CN" sz="1100" b="1" dirty="0">
                <a:solidFill>
                  <a:prstClr val="black"/>
                </a:solidFill>
                <a:latin typeface="Arial" panose="020B0600000101010101" pitchFamily="34" charset="-127"/>
                <a:ea typeface="Arial" panose="020B0600000101010101" pitchFamily="34" charset="-127"/>
                <a:cs typeface="Arial" pitchFamily="34" charset="0"/>
              </a:rPr>
              <a:t>Progress  Monitoring</a:t>
            </a:r>
          </a:p>
        </p:txBody>
      </p:sp>
      <p:sp>
        <p:nvSpPr>
          <p:cNvPr id="42" name="Text Box 17"/>
          <p:cNvSpPr txBox="1">
            <a:spLocks noChangeArrowheads="1"/>
          </p:cNvSpPr>
          <p:nvPr/>
        </p:nvSpPr>
        <p:spPr bwMode="auto">
          <a:xfrm>
            <a:off x="8792059" y="1428105"/>
            <a:ext cx="534917" cy="198714"/>
          </a:xfrm>
          <a:prstGeom prst="rect">
            <a:avLst/>
          </a:prstGeom>
          <a:noFill/>
          <a:ln w="9525">
            <a:noFill/>
            <a:miter lim="800000"/>
            <a:headEnd/>
            <a:tailEnd/>
          </a:ln>
        </p:spPr>
        <p:txBody>
          <a:bodyPr wrap="square" lIns="74867" tIns="37436" rIns="74867" bIns="37436">
            <a:spAutoFit/>
          </a:bodyPr>
          <a:lstStyle/>
          <a:p>
            <a:pPr algn="ctr" defTabSz="750403"/>
            <a:r>
              <a:rPr lang="en-US" altLang="ko-KR" sz="1100" dirty="0">
                <a:solidFill>
                  <a:prstClr val="black"/>
                </a:solidFill>
                <a:latin typeface="Arial" panose="020B0600000101010101" pitchFamily="34" charset="-127"/>
                <a:ea typeface="Arial" panose="020B0600000101010101" pitchFamily="34" charset="-127"/>
                <a:cs typeface="Arial" pitchFamily="34" charset="0"/>
              </a:rPr>
              <a:t>Owner</a:t>
            </a:r>
            <a:endParaRPr lang="en-US" altLang="zh-CN" sz="8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3" name="Text Box 20"/>
          <p:cNvSpPr txBox="1">
            <a:spLocks noChangeArrowheads="1"/>
          </p:cNvSpPr>
          <p:nvPr/>
        </p:nvSpPr>
        <p:spPr bwMode="auto">
          <a:xfrm>
            <a:off x="9274645" y="1436695"/>
            <a:ext cx="501285" cy="198714"/>
          </a:xfrm>
          <a:prstGeom prst="rect">
            <a:avLst/>
          </a:prstGeom>
          <a:noFill/>
          <a:ln w="9525">
            <a:noFill/>
            <a:miter lim="800000"/>
            <a:headEnd/>
            <a:tailEnd/>
          </a:ln>
        </p:spPr>
        <p:txBody>
          <a:bodyPr wrap="square" lIns="74867" tIns="37436" rIns="74867" bIns="37436">
            <a:spAutoFit/>
          </a:bodyPr>
          <a:lstStyle/>
          <a:p>
            <a:pPr algn="ctr" defTabSz="750403"/>
            <a:r>
              <a:rPr lang="en-US" altLang="zh-CN" sz="1100" dirty="0">
                <a:solidFill>
                  <a:prstClr val="black"/>
                </a:solidFill>
                <a:latin typeface="Arial" panose="020B0600000101010101" pitchFamily="34" charset="-127"/>
                <a:ea typeface="Arial" panose="020B0600000101010101" pitchFamily="34" charset="-127"/>
                <a:cs typeface="Arial" pitchFamily="34" charset="0"/>
              </a:rPr>
              <a:t>Verify</a:t>
            </a:r>
          </a:p>
        </p:txBody>
      </p:sp>
      <p:sp>
        <p:nvSpPr>
          <p:cNvPr id="44" name="TextBox 474"/>
          <p:cNvSpPr txBox="1">
            <a:spLocks noChangeArrowheads="1"/>
          </p:cNvSpPr>
          <p:nvPr/>
        </p:nvSpPr>
        <p:spPr bwMode="auto">
          <a:xfrm>
            <a:off x="7150116" y="1417423"/>
            <a:ext cx="578199" cy="195491"/>
          </a:xfrm>
          <a:prstGeom prst="rect">
            <a:avLst/>
          </a:prstGeom>
          <a:noFill/>
          <a:ln w="9525">
            <a:noFill/>
            <a:miter lim="800000"/>
            <a:headEnd/>
            <a:tailEnd/>
          </a:ln>
        </p:spPr>
        <p:txBody>
          <a:bodyPr wrap="square" lIns="71680" tIns="35840" rIns="71680" bIns="35840">
            <a:spAutoFit/>
          </a:bodyPr>
          <a:lstStyle/>
          <a:p>
            <a:pPr algn="ctr" latinLnBrk="0"/>
            <a:r>
              <a:rPr lang="en-US" altLang="zh-CN" sz="1100" b="1" dirty="0">
                <a:solidFill>
                  <a:prstClr val="black"/>
                </a:solidFill>
                <a:latin typeface="Arial" panose="020B0600000101010101" pitchFamily="34" charset="-127"/>
                <a:ea typeface="Arial" panose="020B0600000101010101" pitchFamily="34" charset="-127"/>
                <a:cs typeface="Arial" pitchFamily="34" charset="0"/>
              </a:rPr>
              <a:t>Remark</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5" name="TextBox 476"/>
          <p:cNvSpPr txBox="1">
            <a:spLocks noChangeArrowheads="1"/>
          </p:cNvSpPr>
          <p:nvPr/>
        </p:nvSpPr>
        <p:spPr bwMode="auto">
          <a:xfrm>
            <a:off x="7887387" y="1346549"/>
            <a:ext cx="923432" cy="195491"/>
          </a:xfrm>
          <a:prstGeom prst="rect">
            <a:avLst/>
          </a:prstGeom>
          <a:noFill/>
          <a:ln w="9525">
            <a:noFill/>
            <a:miter lim="800000"/>
            <a:headEnd/>
            <a:tailEnd/>
          </a:ln>
        </p:spPr>
        <p:txBody>
          <a:bodyPr wrap="square" lIns="71680" tIns="35840" rIns="71680" bIns="35840">
            <a:spAutoFit/>
          </a:bodyPr>
          <a:lstStyle/>
          <a:p>
            <a:pPr algn="ctr" latinLnBrk="0"/>
            <a:r>
              <a:rPr lang="en-US" altLang="zh-CN" sz="1100" dirty="0">
                <a:solidFill>
                  <a:prstClr val="black"/>
                </a:solidFill>
                <a:latin typeface="Arial" panose="020B0600000101010101" pitchFamily="34" charset="-127"/>
                <a:ea typeface="Arial" panose="020B0600000101010101" pitchFamily="34" charset="-127"/>
                <a:cs typeface="Arial" pitchFamily="34" charset="0"/>
              </a:rPr>
              <a:t>   </a:t>
            </a:r>
            <a:r>
              <a:rPr lang="en-US" altLang="zh-CN" sz="1100" b="1" dirty="0">
                <a:solidFill>
                  <a:prstClr val="black"/>
                </a:solidFill>
                <a:latin typeface="Arial" panose="020B0600000101010101" pitchFamily="34" charset="-127"/>
                <a:ea typeface="Arial" panose="020B0600000101010101" pitchFamily="34" charset="-127"/>
                <a:cs typeface="Arial" pitchFamily="34" charset="0"/>
              </a:rPr>
              <a:t>Schedule</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3" name="Group 121"/>
          <p:cNvGrpSpPr/>
          <p:nvPr/>
        </p:nvGrpSpPr>
        <p:grpSpPr>
          <a:xfrm>
            <a:off x="7151567" y="1362407"/>
            <a:ext cx="2533170" cy="1892995"/>
            <a:chOff x="5120821" y="1060197"/>
            <a:chExt cx="1877538" cy="1362964"/>
          </a:xfrm>
        </p:grpSpPr>
        <p:cxnSp>
          <p:nvCxnSpPr>
            <p:cNvPr id="47" name="直接连接符 118"/>
            <p:cNvCxnSpPr/>
            <p:nvPr/>
          </p:nvCxnSpPr>
          <p:spPr>
            <a:xfrm>
              <a:off x="5123679" y="1303136"/>
              <a:ext cx="1871568"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4" name="Group 93"/>
            <p:cNvGrpSpPr/>
            <p:nvPr/>
          </p:nvGrpSpPr>
          <p:grpSpPr>
            <a:xfrm>
              <a:off x="5120821" y="1060197"/>
              <a:ext cx="1877538" cy="1362964"/>
              <a:chOff x="5120821" y="1060197"/>
              <a:chExt cx="1877538" cy="1362964"/>
            </a:xfrm>
          </p:grpSpPr>
          <p:sp>
            <p:nvSpPr>
              <p:cNvPr id="50" name="矩形 115"/>
              <p:cNvSpPr/>
              <p:nvPr/>
            </p:nvSpPr>
            <p:spPr>
              <a:xfrm>
                <a:off x="5120821" y="1060197"/>
                <a:ext cx="1877538" cy="13629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3645" tIns="26822" rIns="53645" bIns="26822" anchor="ctr"/>
              <a:lstStyle/>
              <a:p>
                <a:pPr algn="ctr" latinLnBrk="0">
                  <a:defRPr/>
                </a:pPr>
                <a:endParaRPr lang="zh-CN" altLang="en-US"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51" name="直接连接符 121"/>
              <p:cNvCxnSpPr/>
              <p:nvPr/>
            </p:nvCxnSpPr>
            <p:spPr>
              <a:xfrm rot="16200000" flipH="1">
                <a:off x="4865021" y="1741263"/>
                <a:ext cx="135331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26"/>
              <p:cNvCxnSpPr/>
              <p:nvPr/>
            </p:nvCxnSpPr>
            <p:spPr>
              <a:xfrm rot="16200000" flipH="1">
                <a:off x="5655761" y="1741444"/>
                <a:ext cx="136245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127"/>
              <p:cNvCxnSpPr>
                <a:cxnSpLocks/>
              </p:cNvCxnSpPr>
              <p:nvPr/>
            </p:nvCxnSpPr>
            <p:spPr>
              <a:xfrm>
                <a:off x="6718491" y="1066568"/>
                <a:ext cx="22403" cy="135610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30"/>
              <p:cNvCxnSpPr/>
              <p:nvPr/>
            </p:nvCxnSpPr>
            <p:spPr>
              <a:xfrm rot="5400000">
                <a:off x="5324829" y="1798251"/>
                <a:ext cx="1232039" cy="0"/>
              </a:xfrm>
              <a:prstGeom prst="line">
                <a:avLst/>
              </a:prstGeom>
              <a:ln w="63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49" name="直接连接符 129"/>
            <p:cNvCxnSpPr>
              <a:cxnSpLocks/>
            </p:cNvCxnSpPr>
            <p:nvPr/>
          </p:nvCxnSpPr>
          <p:spPr>
            <a:xfrm>
              <a:off x="5546192" y="1178144"/>
              <a:ext cx="788427"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27" name="직선 연결선 26"/>
          <p:cNvCxnSpPr/>
          <p:nvPr/>
        </p:nvCxnSpPr>
        <p:spPr>
          <a:xfrm rot="5400000">
            <a:off x="197403" y="305348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72"/>
          <p:cNvSpPr>
            <a:spLocks noChangeArrowheads="1"/>
          </p:cNvSpPr>
          <p:nvPr/>
        </p:nvSpPr>
        <p:spPr bwMode="auto">
          <a:xfrm>
            <a:off x="62058" y="1038589"/>
            <a:ext cx="2611690" cy="1102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171450" indent="-171450">
              <a:lnSpc>
                <a:spcPts val="1600"/>
              </a:lnSpc>
              <a:buFont typeface="Wingdings" pitchFamily="2" charset="2"/>
              <a:buChar char="q"/>
            </a:pPr>
            <a:r>
              <a:rPr sz="1100">
                <a:latin typeface="Arial"/>
              </a:rPr>
              <a:t>Issue: ISSUE NG PPM LUMINANCE</a:t>
            </a:r>
            <a:endParaRPr lang="vi-VN" altLang="ko-KR" sz="1100" b="1"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marL="171450" indent="-171450">
              <a:lnSpc>
                <a:spcPts val="1600"/>
              </a:lnSpc>
              <a:buFont typeface="Wingdings" pitchFamily="2" charset="2"/>
              <a:buChar char="q"/>
            </a:pPr>
            <a:r>
              <a:rPr lang="en-US" sz="1100" b="1" dirty="0">
                <a:solidFill>
                  <a:srgbClr val="000000"/>
                </a:solidFill>
                <a:latin typeface="Arial" panose="020B0600000101010101" pitchFamily="34" charset="-127"/>
                <a:ea typeface="Arial" panose="020B0600000101010101" pitchFamily="34" charset="-127"/>
                <a:cs typeface="Arial" pitchFamily="34" charset="0"/>
              </a:rPr>
              <a:t>Defect date: February -2024</a:t>
            </a:r>
            <a:endParaRPr lang="en-US" altLang="ko-KR" sz="1100" b="1"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marL="171450" indent="-171450">
              <a:lnSpc>
                <a:spcPts val="1600"/>
              </a:lnSpc>
              <a:buFont typeface="Wingdings" pitchFamily="2" charset="2"/>
              <a:buChar char="q"/>
            </a:pPr>
            <a:r>
              <a:rPr lang="en-US" altLang="en-US" sz="1100" b="1" dirty="0">
                <a:solidFill>
                  <a:srgbClr val="000000"/>
                </a:solidFill>
                <a:latin typeface="Arial" panose="020B0600000101010101" pitchFamily="34" charset="-127"/>
                <a:ea typeface="Arial" panose="020B0600000101010101" pitchFamily="34" charset="-127"/>
                <a:cs typeface="Arial" pitchFamily="34" charset="0"/>
              </a:rPr>
              <a:t>Model</a:t>
            </a:r>
            <a:r>
              <a:rPr lang="en-US" altLang="en-US" sz="1100" b="1" dirty="0">
                <a:solidFill>
                  <a:srgbClr val="000000"/>
                </a:solidFill>
                <a:latin typeface="Arial" panose="020B0600000101010101" pitchFamily="34" charset="-127"/>
                <a:ea typeface="Arial" panose="020B0600000101010101" pitchFamily="34" charset="-127"/>
                <a:cs typeface="Times New Roman" panose="02020603050405020304" pitchFamily="18" charset="0"/>
              </a:rPr>
              <a:t>: CID10RT-PJD.BEU1PAF</a:t>
            </a:r>
          </a:p>
          <a:p>
            <a:pPr marL="171450" indent="-171450">
              <a:lnSpc>
                <a:spcPts val="1600"/>
              </a:lnSpc>
              <a:buFont typeface="Wingdings" pitchFamily="2" charset="2"/>
              <a:buChar char="q"/>
            </a:pPr>
            <a:r>
              <a:rPr lang="en-US" sz="1100" b="1" dirty="0">
                <a:solidFill>
                  <a:srgbClr val="000000"/>
                </a:solidFill>
                <a:latin typeface="Arial" panose="020B0600000101010101" pitchFamily="34" charset="-127"/>
                <a:ea typeface="Arial" panose="020B0600000101010101" pitchFamily="34" charset="-127"/>
                <a:cs typeface="Arial" pitchFamily="34" charset="0"/>
              </a:rPr>
              <a:t>Station: Luminance</a:t>
            </a:r>
          </a:p>
          <a:p>
            <a:pPr marL="171450" indent="-171450">
              <a:lnSpc>
                <a:spcPts val="1600"/>
              </a:lnSpc>
              <a:buFont typeface="Wingdings" pitchFamily="2" charset="2"/>
              <a:buChar char="q"/>
            </a:pPr>
            <a:r>
              <a:rPr lang="en-US" altLang="en-US" sz="1100" b="1" dirty="0">
                <a:solidFill>
                  <a:srgbClr val="000000"/>
                </a:solidFill>
                <a:latin typeface="Arial" panose="020B0600000101010101" pitchFamily="34" charset="-127"/>
                <a:ea typeface="Arial" panose="020B0600000101010101" pitchFamily="34" charset="-127"/>
                <a:cs typeface="Arial" pitchFamily="34" charset="0"/>
              </a:rPr>
              <a:t>Q’ty : </a:t>
            </a:r>
            <a:r>
              <a:rPr lang="en-US" altLang="en-US" sz="1100" dirty="0">
                <a:solidFill>
                  <a:srgbClr val="000000"/>
                </a:solidFill>
                <a:latin typeface="Arial" panose="020B0600000101010101" pitchFamily="34" charset="-127"/>
                <a:ea typeface="Arial" panose="020B0600000101010101" pitchFamily="34" charset="-127"/>
                <a:cs typeface="Arial" pitchFamily="34" charset="0"/>
              </a:rPr>
              <a:t> </a:t>
            </a:r>
            <a:r>
              <a:rPr lang="en-US" altLang="en-US" sz="1100" b="1" dirty="0">
                <a:solidFill>
                  <a:srgbClr val="000000"/>
                </a:solidFill>
                <a:latin typeface="Arial" panose="020B0600000101010101" pitchFamily="34" charset="-127"/>
                <a:ea typeface="Arial" panose="020B0600000101010101" pitchFamily="34" charset="-127"/>
                <a:cs typeface="Arial" pitchFamily="34" charset="0"/>
              </a:rPr>
              <a:t>21ea/682ppm</a:t>
            </a:r>
          </a:p>
        </p:txBody>
      </p:sp>
      <p:sp>
        <p:nvSpPr>
          <p:cNvPr id="65" name="TextBox 64"/>
          <p:cNvSpPr txBox="1"/>
          <p:nvPr/>
        </p:nvSpPr>
        <p:spPr>
          <a:xfrm>
            <a:off x="7637145" y="1560040"/>
            <a:ext cx="795298" cy="215444"/>
          </a:xfrm>
          <a:prstGeom prst="rect">
            <a:avLst/>
          </a:prstGeom>
          <a:noFill/>
        </p:spPr>
        <p:txBody>
          <a:bodyPr wrap="square" rtlCol="0">
            <a:spAutoFit/>
          </a:bodyPr>
          <a:lstStyle/>
          <a:p>
            <a:pPr algn="ctr"/>
            <a:r>
              <a:rPr lang="vi-VN" sz="1100" dirty="0">
                <a:latin typeface="Arial" panose="020B0600000101010101" pitchFamily="34" charset="-127"/>
                <a:ea typeface="Arial" panose="020B0600000101010101" pitchFamily="34" charset="-127"/>
                <a:cs typeface="Arial" pitchFamily="34" charset="0"/>
              </a:rPr>
              <a:t>Mar</a:t>
            </a:r>
            <a:endParaRPr lang="en-US" sz="800" dirty="0">
              <a:latin typeface="LG Smart_H Regular" panose="020B0600000101010101" pitchFamily="34" charset="-127"/>
              <a:ea typeface="LG Smart_H Regular" panose="020B0600000101010101" pitchFamily="34" charset="-127"/>
              <a:cs typeface="Arial" pitchFamily="34" charset="0"/>
            </a:endParaRPr>
          </a:p>
        </p:txBody>
      </p:sp>
      <p:sp>
        <p:nvSpPr>
          <p:cNvPr id="72" name="Text Box 60"/>
          <p:cNvSpPr txBox="1">
            <a:spLocks noChangeArrowheads="1"/>
          </p:cNvSpPr>
          <p:nvPr/>
        </p:nvSpPr>
        <p:spPr bwMode="auto">
          <a:xfrm>
            <a:off x="2490025" y="1034412"/>
            <a:ext cx="2843975" cy="3039160"/>
          </a:xfrm>
          <a:prstGeom prst="rect">
            <a:avLst/>
          </a:prstGeom>
          <a:noFill/>
          <a:ln w="9525">
            <a:noFill/>
            <a:miter lim="800000"/>
            <a:headEnd/>
            <a:tailEnd/>
          </a:ln>
        </p:spPr>
        <p:txBody>
          <a:bodyPr wrap="square" lIns="91307" tIns="45654" rIns="91307" bIns="45654">
            <a:spAutoFit/>
          </a:bodyPr>
          <a:lstStyle/>
          <a:p>
            <a:pPr marL="171450" indent="-171450" fontAlgn="base" latinLnBrk="0">
              <a:lnSpc>
                <a:spcPct val="150000"/>
              </a:lnSpc>
              <a:spcBef>
                <a:spcPct val="0"/>
              </a:spcBef>
              <a:spcAft>
                <a:spcPct val="0"/>
              </a:spcAft>
              <a:buFont typeface="Wingdings" panose="05000000000000000000" pitchFamily="2" charset="2"/>
              <a:buChar char="q"/>
            </a:pPr>
            <a:r>
              <a:rPr lang="en-US" altLang="ko-KR" sz="1100" b="1" u="sng" dirty="0">
                <a:latin typeface="Arial" panose="020B0600000101010101" pitchFamily="34" charset="-127"/>
                <a:ea typeface="Arial" panose="020B0600000101010101" pitchFamily="34" charset="-127"/>
                <a:cs typeface="Arial" panose="020B0604020202020204" pitchFamily="34" charset="0"/>
              </a:rPr>
              <a:t>Root Cause</a:t>
            </a:r>
          </a:p>
          <a:p>
            <a:pPr>
              <a:lnSpc>
                <a:spcPct val="150000"/>
              </a:lnSpc>
            </a:pPr>
            <a:r>
              <a:rPr lang="vi-VN" altLang="ko-KR" sz="1100" b="1" dirty="0">
                <a:latin typeface="Arial" panose="020B0600000101010101" pitchFamily="34" charset="-127"/>
                <a:ea typeface="Arial" panose="020B0600000101010101" pitchFamily="34" charset="-127"/>
                <a:cs typeface="Arial" panose="020B0604020202020204" pitchFamily="34" charset="0"/>
              </a:rPr>
              <a:t>1. </a:t>
            </a:r>
            <a:r>
              <a:rPr lang="en-US" altLang="ko-KR" sz="1100" b="1" dirty="0">
                <a:latin typeface="Arial" panose="020B0600000101010101" pitchFamily="34" charset="-127"/>
                <a:ea typeface="Arial" panose="020B0600000101010101" pitchFamily="34" charset="-127"/>
                <a:cs typeface="Arial" panose="020B0604020202020204" pitchFamily="34" charset="0"/>
              </a:rPr>
              <a:t>Why does the issue occur? </a:t>
            </a:r>
          </a:p>
          <a:p>
            <a:pPr marL="171450" indent="-171450">
              <a:buFont typeface="Wingdings" panose="05000000000000000000" pitchFamily="2" charset="2"/>
              <a:buChar char="à"/>
              <a:defRPr/>
            </a:pPr>
            <a:r>
              <a:rPr lang="vi-VN" altLang="ko-KR" sz="1100" dirty="0">
                <a:solidFill>
                  <a:prstClr val="black"/>
                </a:solidFill>
                <a:latin typeface="Arial" panose="020B0600000101010101" pitchFamily="34" charset="-127"/>
                <a:ea typeface="Arial" panose="020B0600000101010101" pitchFamily="34" charset="-127"/>
                <a:sym typeface="Wingdings" panose="05000000000000000000" pitchFamily="2" charset="2"/>
              </a:rPr>
              <a:t>Because </a:t>
            </a:r>
            <a:r>
              <a:rPr lang="en-US" altLang="ko-KR" sz="1100" dirty="0">
                <a:solidFill>
                  <a:prstClr val="black"/>
                </a:solidFill>
                <a:latin typeface="Arial" panose="020B0600000101010101" pitchFamily="34" charset="-127"/>
                <a:ea typeface="Arial" panose="020B0600000101010101" pitchFamily="34" charset="-127"/>
                <a:sym typeface="Wingdings" panose="05000000000000000000" pitchFamily="2" charset="2"/>
              </a:rPr>
              <a:t>Luminance</a:t>
            </a:r>
            <a:r>
              <a:rPr lang="vi-VN" altLang="ko-KR" sz="1100" dirty="0">
                <a:solidFill>
                  <a:prstClr val="black"/>
                </a:solidFill>
                <a:latin typeface="Arial" panose="020B0600000101010101" pitchFamily="34" charset="-127"/>
                <a:ea typeface="Arial" panose="020B0600000101010101" pitchFamily="34" charset="-127"/>
                <a:sym typeface="Wingdings" panose="05000000000000000000" pitchFamily="2" charset="2"/>
              </a:rPr>
              <a:t> of set</a:t>
            </a:r>
            <a:r>
              <a:rPr lang="en-US" altLang="ko-KR" sz="1100" dirty="0">
                <a:solidFill>
                  <a:prstClr val="black"/>
                </a:solidFill>
                <a:latin typeface="Arial" panose="020B0600000101010101" pitchFamily="34" charset="-127"/>
                <a:ea typeface="Arial" panose="020B0600000101010101" pitchFamily="34" charset="-127"/>
                <a:sym typeface="Wingdings" panose="05000000000000000000" pitchFamily="2" charset="2"/>
              </a:rPr>
              <a:t> was measured with value under spec </a:t>
            </a:r>
          </a:p>
          <a:p>
            <a:pPr>
              <a:defRPr/>
            </a:pPr>
            <a:r>
              <a:rPr lang="en-US" altLang="ko-KR" sz="1100" i="1" dirty="0">
                <a:latin typeface="Arial" panose="020B0604020202020204" pitchFamily="34" charset="0"/>
                <a:ea typeface="돋움체" pitchFamily="49" charset="-127"/>
                <a:cs typeface="Arial" panose="020B0604020202020204" pitchFamily="34" charset="0"/>
              </a:rPr>
              <a:t>(Spec : 800 – 2000 </a:t>
            </a:r>
            <a:r>
              <a:rPr lang="en-US" altLang="ko-KR" sz="1100" i="1" dirty="0">
                <a:latin typeface="Arial" panose="020F0502020204030204" pitchFamily="34" charset="0"/>
                <a:ea typeface="Arial" pitchFamily="49" charset="-127"/>
                <a:cs typeface="Calibri" panose="020F0502020204030204" pitchFamily="34" charset="0"/>
              </a:rPr>
              <a:t>Cd/m2)</a:t>
            </a:r>
            <a:endParaRPr lang="en-US" altLang="ko-KR" sz="1000" i="1" dirty="0">
              <a:latin typeface="Arial" panose="020B0604020202020204" pitchFamily="34" charset="0"/>
              <a:ea typeface="돋움체" pitchFamily="49" charset="-127"/>
              <a:cs typeface="Arial" panose="020B0604020202020204" pitchFamily="34" charset="0"/>
            </a:endParaRPr>
          </a:p>
          <a:p>
            <a:pPr lvl="0">
              <a:defRPr/>
            </a:pPr>
            <a:endParaRPr lang="vi-VN" altLang="ko-KR" sz="1000" dirty="0">
              <a:solidFill>
                <a:prstClr val="black"/>
              </a:solidFill>
              <a:latin typeface="LG Smart"/>
              <a:ea typeface="LG Smart_H Regular" panose="020B0600000101010101" pitchFamily="34" charset="-127"/>
              <a:sym typeface="Wingdings" panose="05000000000000000000" pitchFamily="2" charset="2"/>
            </a:endParaRPr>
          </a:p>
          <a:p>
            <a:r>
              <a:rPr lang="en-US" altLang="ko-KR" sz="1100" b="1" dirty="0">
                <a:solidFill>
                  <a:prstClr val="black"/>
                </a:solidFill>
                <a:latin typeface="Arial" panose="020B0600000101010101" pitchFamily="34" charset="-127"/>
                <a:ea typeface="Arial" panose="020B0600000101010101" pitchFamily="34" charset="-127"/>
                <a:cs typeface="Arial" pitchFamily="34" charset="0"/>
              </a:rPr>
              <a:t>2. Why was </a:t>
            </a:r>
            <a:r>
              <a:rPr lang="en-US" altLang="ko-KR" sz="1100" b="1" dirty="0">
                <a:solidFill>
                  <a:prstClr val="black"/>
                </a:solidFill>
                <a:latin typeface="Arial" panose="020B0600000101010101" pitchFamily="34" charset="-127"/>
                <a:ea typeface="Arial" panose="020B0600000101010101" pitchFamily="34" charset="-127"/>
                <a:cs typeface="Arial" pitchFamily="34" charset="0"/>
                <a:sym typeface="Wingdings" panose="05000000000000000000" pitchFamily="2" charset="2"/>
              </a:rPr>
              <a:t>Luminance</a:t>
            </a:r>
            <a:r>
              <a:rPr lang="vi-VN" altLang="ko-KR" sz="1100" b="1" dirty="0">
                <a:solidFill>
                  <a:prstClr val="black"/>
                </a:solidFill>
                <a:latin typeface="Arial"/>
                <a:ea typeface="LG Smart_H Regular" panose="020B0600000101010101" pitchFamily="34" charset="-127"/>
                <a:cs typeface="Arial" pitchFamily="34" charset="0"/>
                <a:sym typeface="Wingdings" panose="05000000000000000000" pitchFamily="2" charset="2"/>
              </a:rPr>
              <a:t> of</a:t>
            </a:r>
            <a:r>
              <a:rPr lang="en-US" altLang="ko-KR" sz="1100" b="1" dirty="0">
                <a:solidFill>
                  <a:prstClr val="black"/>
                </a:solidFill>
                <a:latin typeface="Arial"/>
                <a:ea typeface="LG Smart_H Regular" panose="020B0600000101010101" pitchFamily="34" charset="-127"/>
                <a:cs typeface="Arial" pitchFamily="34" charset="0"/>
                <a:sym typeface="Wingdings" panose="05000000000000000000" pitchFamily="2" charset="2"/>
              </a:rPr>
              <a:t> </a:t>
            </a:r>
            <a:r>
              <a:rPr lang="vi-VN" altLang="ko-KR" sz="1100" b="1" dirty="0">
                <a:solidFill>
                  <a:prstClr val="black"/>
                </a:solidFill>
                <a:latin typeface="Arial"/>
                <a:ea typeface="LG Smart_H Regular" panose="020B0600000101010101" pitchFamily="34" charset="-127"/>
                <a:cs typeface="Arial" pitchFamily="34" charset="0"/>
                <a:sym typeface="Wingdings" panose="05000000000000000000" pitchFamily="2" charset="2"/>
              </a:rPr>
              <a:t>set </a:t>
            </a:r>
            <a:r>
              <a:rPr lang="en-US" altLang="ko-KR" sz="1100" b="1" dirty="0">
                <a:solidFill>
                  <a:prstClr val="black"/>
                </a:solidFill>
                <a:latin typeface="Arial" panose="020B0600000101010101" pitchFamily="34" charset="-127"/>
                <a:ea typeface="Arial" panose="020B0600000101010101" pitchFamily="34" charset="-127"/>
                <a:cs typeface="Arial" pitchFamily="34" charset="0"/>
                <a:sym typeface="Wingdings" panose="05000000000000000000" pitchFamily="2" charset="2"/>
              </a:rPr>
              <a:t>value under spec </a:t>
            </a:r>
            <a:r>
              <a:rPr lang="en-US" altLang="ko-KR" sz="1100" b="1" dirty="0">
                <a:solidFill>
                  <a:prstClr val="black"/>
                </a:solidFill>
                <a:latin typeface="Arial" panose="020B0600000101010101" pitchFamily="34" charset="-127"/>
                <a:ea typeface="Arial" panose="020B0600000101010101" pitchFamily="34" charset="-127"/>
                <a:cs typeface="Arial" pitchFamily="34" charset="0"/>
              </a:rPr>
              <a:t>?</a:t>
            </a:r>
          </a:p>
          <a:p>
            <a:pPr marL="171450" indent="-171450">
              <a:buFont typeface="Wingdings" panose="05000000000000000000" pitchFamily="2" charset="2"/>
              <a:buChar char="à"/>
            </a:pPr>
            <a:r>
              <a:rPr lang="en-US" altLang="ko-KR" sz="1100" dirty="0">
                <a:solidFill>
                  <a:prstClr val="black"/>
                </a:solidFill>
                <a:latin typeface="Arial" panose="020B0600000101010101" pitchFamily="34" charset="-127"/>
                <a:ea typeface="Arial" panose="020B0600000101010101" pitchFamily="34" charset="-127"/>
                <a:sym typeface="Wingdings" panose="05000000000000000000" pitchFamily="2" charset="2"/>
              </a:rPr>
              <a:t>Because LCD center point is not matching with Camera Angle view.</a:t>
            </a:r>
          </a:p>
          <a:p>
            <a:endParaRPr lang="en-US" altLang="ko-KR" sz="1000" dirty="0">
              <a:solidFill>
                <a:prstClr val="black"/>
              </a:solidFill>
              <a:latin typeface="LG Smart_H Regular" panose="020B0600000101010101" pitchFamily="34" charset="-127"/>
              <a:ea typeface="LG Smart_H Regular" panose="020B0600000101010101" pitchFamily="34" charset="-127"/>
              <a:sym typeface="Wingdings" panose="05000000000000000000" pitchFamily="2" charset="2"/>
            </a:endParaRPr>
          </a:p>
          <a:p>
            <a:pPr lvl="0" eaLnBrk="0" hangingPunct="0"/>
            <a:r>
              <a:rPr lang="en-US" altLang="ko-KR" sz="1100" b="1" dirty="0">
                <a:solidFill>
                  <a:prstClr val="black"/>
                </a:solidFill>
                <a:latin typeface="Arial" panose="020B0600000101010101" pitchFamily="34" charset="-127"/>
                <a:ea typeface="Arial" panose="020B0600000101010101" pitchFamily="34" charset="-127"/>
                <a:sym typeface="Wingdings" panose="05000000000000000000" pitchFamily="2" charset="2"/>
              </a:rPr>
              <a:t>3. Why lead to issue?</a:t>
            </a:r>
          </a:p>
          <a:p>
            <a:pPr marL="171450" lvl="0" indent="-171450" eaLnBrk="0" hangingPunct="0">
              <a:buFont typeface="Wingdings" panose="05000000000000000000" pitchFamily="2" charset="2"/>
              <a:buChar char="à"/>
            </a:pPr>
            <a:r>
              <a:rPr lang="en-US" altLang="ko-KR" sz="1100" dirty="0">
                <a:solidFill>
                  <a:prstClr val="black"/>
                </a:solidFill>
                <a:latin typeface="Arial" panose="020B0600000101010101" pitchFamily="34" charset="-127"/>
                <a:ea typeface="Arial" panose="020B0600000101010101" pitchFamily="34" charset="-127"/>
                <a:sym typeface="Wingdings" panose="05000000000000000000" pitchFamily="2" charset="2"/>
              </a:rPr>
              <a:t>Camera Angle view is changed when the line production in long time so there is different about luminance value between Camera angle view at perpendicular and other angle (Luminance measurement based on camera position in line)</a:t>
            </a:r>
          </a:p>
          <a:p>
            <a:pPr marL="171450" lvl="0" indent="-171450" eaLnBrk="0" hangingPunct="0">
              <a:buFont typeface="Wingdings" panose="05000000000000000000" pitchFamily="2" charset="2"/>
              <a:buChar char="à"/>
            </a:pPr>
            <a:r>
              <a:rPr lang="en-US" altLang="ko-KR" sz="1100" dirty="0">
                <a:solidFill>
                  <a:prstClr val="black"/>
                </a:solidFill>
                <a:latin typeface="Arial" panose="020B0600000101010101" pitchFamily="34" charset="-127"/>
                <a:ea typeface="Arial" panose="020B0600000101010101" pitchFamily="34" charset="-127"/>
                <a:sym typeface="Wingdings" panose="05000000000000000000" pitchFamily="2" charset="2"/>
              </a:rPr>
              <a:t>4. Why did the camera angle change?</a:t>
            </a:r>
          </a:p>
          <a:p>
            <a:pPr marL="171450" lvl="0" indent="-171450" eaLnBrk="0" hangingPunct="0">
              <a:buFont typeface="Wingdings" panose="05000000000000000000" pitchFamily="2" charset="2"/>
              <a:buChar char="à"/>
            </a:pPr>
            <a:r>
              <a:rPr lang="en-US" altLang="ko-KR" sz="1100" dirty="0">
                <a:solidFill>
                  <a:prstClr val="black"/>
                </a:solidFill>
                <a:latin typeface="Arial" panose="020B0600000101010101" pitchFamily="34" charset="-127"/>
                <a:ea typeface="Arial" panose="020B0600000101010101" pitchFamily="34" charset="-127"/>
                <a:sym typeface="Wingdings" panose="05000000000000000000" pitchFamily="2" charset="2"/>
              </a:rPr>
              <a:t>Because the J1 Dual model requires camera movement between PID and CID screens. After long production time, mechanical vibration causes gradual angle deviation from 90° standard.</a:t>
            </a:r>
          </a:p>
          <a:p>
            <a:pPr marL="171450" lvl="0" indent="-171450" eaLnBrk="0" hangingPunct="0">
              <a:buFont typeface="Wingdings" panose="05000000000000000000" pitchFamily="2" charset="2"/>
              <a:buChar char="à"/>
            </a:pPr>
            <a:r>
              <a:rPr lang="en-US" altLang="ko-KR" sz="1100" dirty="0">
                <a:solidFill>
                  <a:prstClr val="black"/>
                </a:solidFill>
                <a:latin typeface="Arial" panose="020B0600000101010101" pitchFamily="34" charset="-127"/>
                <a:ea typeface="Arial" panose="020B0600000101010101" pitchFamily="34" charset="-127"/>
                <a:sym typeface="Wingdings" panose="05000000000000000000" pitchFamily="2" charset="2"/>
              </a:rPr>
              <a:t>5. Why was there no prevention mechanism?</a:t>
            </a:r>
          </a:p>
          <a:p>
            <a:pPr marL="171450" lvl="0" indent="-171450" eaLnBrk="0" hangingPunct="0">
              <a:buFont typeface="Wingdings" panose="05000000000000000000" pitchFamily="2" charset="2"/>
              <a:buChar char="à"/>
            </a:pPr>
            <a:r>
              <a:rPr lang="en-US" altLang="ko-KR" sz="1100" dirty="0">
                <a:solidFill>
                  <a:prstClr val="black"/>
                </a:solidFill>
                <a:latin typeface="Arial" panose="020B0600000101010101" pitchFamily="34" charset="-127"/>
                <a:ea typeface="Arial" panose="020B0600000101010101" pitchFamily="34" charset="-127"/>
                <a:sym typeface="Wingdings" panose="05000000000000000000" pitchFamily="2" charset="2"/>
              </a:rPr>
              <a:t>Because there was no periodic check sheet or master sample verification procedure to monitor camera angle deviation before production.</a:t>
            </a:r>
          </a:p>
          <a:p>
            <a:pPr lvl="0" eaLnBrk="0" hangingPunct="0"/>
            <a:endParaRPr lang="en-US" altLang="ko-KR" sz="1000" dirty="0">
              <a:solidFill>
                <a:prstClr val="black"/>
              </a:solidFill>
              <a:latin typeface="LG Smart_H Regular" panose="020B0600000101010101" pitchFamily="34" charset="-127"/>
              <a:ea typeface="LG Smart_H Regular" panose="020B0600000101010101" pitchFamily="34" charset="-127"/>
              <a:sym typeface="Wingdings" panose="05000000000000000000" pitchFamily="2" charset="2"/>
            </a:endParaRPr>
          </a:p>
        </p:txBody>
      </p:sp>
      <p:sp>
        <p:nvSpPr>
          <p:cNvPr id="77" name="Oval 76"/>
          <p:cNvSpPr/>
          <p:nvPr/>
        </p:nvSpPr>
        <p:spPr>
          <a:xfrm>
            <a:off x="9403135" y="1926797"/>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G Smart_H Regular" panose="020B0600000101010101" pitchFamily="34" charset="-127"/>
              <a:ea typeface="LG Smart_H Regular" panose="020B0600000101010101" pitchFamily="34" charset="-127"/>
            </a:endParaRPr>
          </a:p>
        </p:txBody>
      </p:sp>
      <p:sp>
        <p:nvSpPr>
          <p:cNvPr id="57" name="TextBox 56">
            <a:extLst>
              <a:ext uri="{FF2B5EF4-FFF2-40B4-BE49-F238E27FC236}">
                <a16:creationId xmlns:a16="http://schemas.microsoft.com/office/drawing/2014/main" id="{8637D2F0-6B90-41E4-9032-0E95A98516C0}"/>
              </a:ext>
            </a:extLst>
          </p:cNvPr>
          <p:cNvSpPr txBox="1"/>
          <p:nvPr/>
        </p:nvSpPr>
        <p:spPr>
          <a:xfrm>
            <a:off x="634496" y="3759239"/>
            <a:ext cx="1568113" cy="253916"/>
          </a:xfrm>
          <a:prstGeom prst="rect">
            <a:avLst/>
          </a:prstGeom>
          <a:noFill/>
        </p:spPr>
        <p:txBody>
          <a:bodyPr wrap="square" rtlCol="0">
            <a:spAutoFit/>
          </a:bodyPr>
          <a:lstStyle/>
          <a:p>
            <a:r>
              <a:rPr lang="en-US" sz="1100" b="1" dirty="0">
                <a:latin typeface="Arial" panose="020B0600000101010101" pitchFamily="34" charset="-127"/>
                <a:ea typeface="Arial" panose="020B0600000101010101" pitchFamily="34" charset="-127"/>
              </a:rPr>
              <a:t>[Luminance NG]</a:t>
            </a:r>
          </a:p>
        </p:txBody>
      </p:sp>
      <p:sp>
        <p:nvSpPr>
          <p:cNvPr id="58" name="TextBox 57">
            <a:extLst>
              <a:ext uri="{FF2B5EF4-FFF2-40B4-BE49-F238E27FC236}">
                <a16:creationId xmlns:a16="http://schemas.microsoft.com/office/drawing/2014/main" id="{0F602090-E50C-4F49-B857-754EE553DF4D}"/>
              </a:ext>
            </a:extLst>
          </p:cNvPr>
          <p:cNvSpPr txBox="1"/>
          <p:nvPr/>
        </p:nvSpPr>
        <p:spPr>
          <a:xfrm>
            <a:off x="8155635" y="1499387"/>
            <a:ext cx="795298" cy="215444"/>
          </a:xfrm>
          <a:prstGeom prst="rect">
            <a:avLst/>
          </a:prstGeom>
          <a:noFill/>
        </p:spPr>
        <p:txBody>
          <a:bodyPr wrap="square" rtlCol="0">
            <a:spAutoFit/>
          </a:bodyPr>
          <a:lstStyle/>
          <a:p>
            <a:pPr algn="ctr"/>
            <a:endParaRPr lang="en-US" sz="800" dirty="0">
              <a:latin typeface="LG Smart_H Regular" panose="020B0600000101010101" pitchFamily="34" charset="-127"/>
              <a:ea typeface="LG Smart_H Regular" panose="020B0600000101010101" pitchFamily="34" charset="-127"/>
              <a:cs typeface="Arial" pitchFamily="34" charset="0"/>
            </a:endParaRPr>
          </a:p>
        </p:txBody>
      </p:sp>
      <p:cxnSp>
        <p:nvCxnSpPr>
          <p:cNvPr id="59" name="Straight Arrow Connector 58">
            <a:extLst>
              <a:ext uri="{FF2B5EF4-FFF2-40B4-BE49-F238E27FC236}">
                <a16:creationId xmlns:a16="http://schemas.microsoft.com/office/drawing/2014/main" id="{91CBDE20-C90F-4404-974B-0FCE7E1DC650}"/>
              </a:ext>
            </a:extLst>
          </p:cNvPr>
          <p:cNvCxnSpPr>
            <a:cxnSpLocks/>
          </p:cNvCxnSpPr>
          <p:nvPr/>
        </p:nvCxnSpPr>
        <p:spPr>
          <a:xfrm flipV="1">
            <a:off x="8073091" y="2049910"/>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5" name="TextBox 128">
            <a:extLst>
              <a:ext uri="{FF2B5EF4-FFF2-40B4-BE49-F238E27FC236}">
                <a16:creationId xmlns:a16="http://schemas.microsoft.com/office/drawing/2014/main" id="{983CA82C-C735-4016-BE24-6F82F94F46DC}"/>
              </a:ext>
            </a:extLst>
          </p:cNvPr>
          <p:cNvSpPr txBox="1">
            <a:spLocks noChangeArrowheads="1"/>
          </p:cNvSpPr>
          <p:nvPr/>
        </p:nvSpPr>
        <p:spPr bwMode="auto">
          <a:xfrm>
            <a:off x="5217860" y="1377720"/>
            <a:ext cx="1794572" cy="2862235"/>
          </a:xfrm>
          <a:prstGeom prst="rect">
            <a:avLst/>
          </a:prstGeom>
          <a:noFill/>
          <a:ln w="9525">
            <a:noFill/>
            <a:miter lim="800000"/>
            <a:headEnd/>
            <a:tailEnd/>
          </a:ln>
        </p:spPr>
        <p:txBody>
          <a:bodyPr wrap="square" lIns="91345" tIns="45677" rIns="91345" bIns="45677">
            <a:spAutoFit/>
          </a:bodyPr>
          <a:lstStyle/>
          <a:p>
            <a:pPr marL="171450" indent="-171450">
              <a:buFontTx/>
              <a:buChar char="-"/>
            </a:pPr>
            <a:r>
              <a:rPr lang="en-US" sz="1100" dirty="0">
                <a:latin typeface="Arial Narrow" panose="020B0606020202030204" pitchFamily="34" charset="0"/>
                <a:sym typeface="Wingdings" panose="05000000000000000000" pitchFamily="2" charset="2"/>
              </a:rPr>
              <a:t>Teaching robot and adjust the angle of CS2000 Camera </a:t>
            </a:r>
          </a:p>
          <a:p>
            <a:r>
              <a:rPr lang="en-US" sz="1100" dirty="0">
                <a:latin typeface="Arial Narrow" panose="020B0606020202030204" pitchFamily="34" charset="0"/>
                <a:sym typeface="Wingdings" panose="05000000000000000000" pitchFamily="2" charset="2"/>
              </a:rPr>
              <a:t>(Standard: 90 degrees) </a:t>
            </a:r>
          </a:p>
          <a:p>
            <a:endParaRPr lang="en-US" sz="1000" dirty="0">
              <a:latin typeface="Arial Narrow" panose="020B0606020202030204" pitchFamily="34" charset="0"/>
              <a:sym typeface="Wingdings" panose="05000000000000000000" pitchFamily="2" charset="2"/>
            </a:endParaRPr>
          </a:p>
          <a:p>
            <a:endParaRPr lang="en-US" sz="1000" dirty="0">
              <a:latin typeface="Arial Narrow" panose="020B0606020202030204" pitchFamily="34" charset="0"/>
              <a:sym typeface="Wingdings" panose="05000000000000000000" pitchFamily="2" charset="2"/>
            </a:endParaRPr>
          </a:p>
          <a:p>
            <a:endParaRPr lang="en-US" sz="1000" dirty="0">
              <a:latin typeface="Arial Narrow" panose="020B0606020202030204" pitchFamily="34" charset="0"/>
              <a:sym typeface="Wingdings" panose="05000000000000000000" pitchFamily="2" charset="2"/>
            </a:endParaRPr>
          </a:p>
          <a:p>
            <a:endParaRPr lang="en-US" sz="1000" dirty="0">
              <a:latin typeface="Arial Narrow" panose="020B0606020202030204" pitchFamily="34" charset="0"/>
              <a:sym typeface="Wingdings" panose="05000000000000000000" pitchFamily="2" charset="2"/>
            </a:endParaRPr>
          </a:p>
          <a:p>
            <a:endParaRPr lang="en-US" sz="1000" dirty="0">
              <a:latin typeface="Arial Narrow" panose="020B0606020202030204" pitchFamily="34" charset="0"/>
              <a:sym typeface="Wingdings" panose="05000000000000000000" pitchFamily="2" charset="2"/>
            </a:endParaRPr>
          </a:p>
          <a:p>
            <a:endParaRPr lang="en-US" sz="1000" dirty="0">
              <a:latin typeface="Arial Narrow" panose="020B0606020202030204" pitchFamily="34" charset="0"/>
              <a:sym typeface="Wingdings" panose="05000000000000000000" pitchFamily="2" charset="2"/>
            </a:endParaRPr>
          </a:p>
          <a:p>
            <a:pPr marL="171450" indent="-171450">
              <a:buFontTx/>
              <a:buChar char="-"/>
            </a:pPr>
            <a:endParaRPr lang="en-US" altLang="ko-KR" sz="1000" dirty="0">
              <a:latin typeface="Arial Narrow" panose="020B0606020202030204" pitchFamily="34" charset="0"/>
              <a:ea typeface="LG Smart_H Regular" panose="020B0600000101010101" pitchFamily="34" charset="-127"/>
              <a:cs typeface="Arial" panose="020B0604020202020204" pitchFamily="34" charset="0"/>
              <a:sym typeface="Wingdings" panose="05000000000000000000" pitchFamily="2" charset="2"/>
            </a:endParaRPr>
          </a:p>
          <a:p>
            <a:pPr marL="171450" indent="-171450">
              <a:buFontTx/>
              <a:buChar char="-"/>
            </a:pPr>
            <a:endParaRPr lang="en-US" altLang="ko-KR" sz="1000" dirty="0">
              <a:latin typeface="Arial Narrow" panose="020B0606020202030204" pitchFamily="34" charset="0"/>
              <a:ea typeface="LG Smart_H Regular" panose="020B0600000101010101" pitchFamily="34" charset="-127"/>
              <a:cs typeface="Arial" panose="020B0604020202020204" pitchFamily="34" charset="0"/>
              <a:sym typeface="Wingdings" panose="05000000000000000000" pitchFamily="2" charset="2"/>
            </a:endParaRPr>
          </a:p>
          <a:p>
            <a:pPr marL="171450" indent="-171450">
              <a:buFontTx/>
              <a:buChar char="-"/>
            </a:pPr>
            <a:r>
              <a:rPr lang="en-US" altLang="ko-KR" sz="1100" dirty="0">
                <a:latin typeface="Arial Narrow" panose="020B0606020202030204" pitchFamily="34" charset="0"/>
                <a:ea typeface="LG Smart_H Regular" panose="020B0600000101010101" pitchFamily="34" charset="-127"/>
                <a:cs typeface="Arial" panose="020B0604020202020204" pitchFamily="34" charset="0"/>
                <a:sym typeface="Wingdings" panose="05000000000000000000" pitchFamily="2" charset="2"/>
              </a:rPr>
              <a:t>Improvement about assembly LCD process in supplier.</a:t>
            </a:r>
            <a:endParaRPr lang="en-US" altLang="ko-KR" sz="1000" dirty="0">
              <a:latin typeface="LG Smart_H Regular" panose="020B0600000101010101" pitchFamily="34" charset="-127"/>
              <a:ea typeface="LG Smart_H Regular" panose="020B0600000101010101" pitchFamily="34" charset="-127"/>
              <a:cs typeface="Arial" panose="020B0604020202020204" pitchFamily="34" charset="0"/>
            </a:endParaRPr>
          </a:p>
          <a:p>
            <a:endParaRPr lang="en-US" altLang="ko-KR" sz="1000" dirty="0">
              <a:latin typeface="Arial Narrow" panose="020B0606020202030204" pitchFamily="34" charset="0"/>
              <a:ea typeface="LG Smart_H Regular" panose="020B0600000101010101" pitchFamily="34" charset="-127"/>
              <a:cs typeface="Arial" panose="020B0604020202020204" pitchFamily="34" charset="0"/>
            </a:endParaRPr>
          </a:p>
          <a:p>
            <a:pPr marL="171450" indent="-171450">
              <a:buFontTx/>
              <a:buChar char="-"/>
            </a:pPr>
            <a:r>
              <a:rPr lang="en-US" altLang="ko-KR" sz="1100" dirty="0">
                <a:latin typeface="Arial Narrow" panose="020B0606020202030204" pitchFamily="34" charset="0"/>
                <a:ea typeface="LG Smart_H Regular" panose="020B0600000101010101" pitchFamily="34" charset="-127"/>
                <a:cs typeface="Arial" panose="020B0604020202020204" pitchFamily="34" charset="0"/>
              </a:rPr>
              <a:t>Add check sheet weekly to measure Luminance value of Master sample and verify Camera angle view </a:t>
            </a:r>
          </a:p>
        </p:txBody>
      </p:sp>
      <p:sp>
        <p:nvSpPr>
          <p:cNvPr id="64" name="TextBox 93">
            <a:extLst>
              <a:ext uri="{FF2B5EF4-FFF2-40B4-BE49-F238E27FC236}">
                <a16:creationId xmlns:a16="http://schemas.microsoft.com/office/drawing/2014/main" id="{EE94C9A6-714C-4DF8-A112-382381776DDE}"/>
              </a:ext>
            </a:extLst>
          </p:cNvPr>
          <p:cNvSpPr txBox="1"/>
          <p:nvPr/>
        </p:nvSpPr>
        <p:spPr>
          <a:xfrm>
            <a:off x="7782327" y="1801251"/>
            <a:ext cx="706509" cy="21544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100" dirty="0">
                <a:latin typeface="Arial" panose="020B0600000101010101" pitchFamily="34" charset="-127"/>
                <a:ea typeface="Arial" panose="020B0600000101010101" pitchFamily="34" charset="-127"/>
                <a:cs typeface="Arial" pitchFamily="34" charset="0"/>
              </a:rPr>
              <a:t>13-</a:t>
            </a:r>
            <a:r>
              <a:rPr lang="vi-VN" sz="1100" dirty="0">
                <a:latin typeface="Arial" panose="020B0600000101010101" pitchFamily="34" charset="-127"/>
                <a:ea typeface="Arial" panose="020B0600000101010101" pitchFamily="34" charset="-127"/>
                <a:cs typeface="Arial" pitchFamily="34" charset="0"/>
              </a:rPr>
              <a:t> Ma</a:t>
            </a:r>
            <a:r>
              <a:rPr lang="en-US" sz="1100" dirty="0">
                <a:latin typeface="Arial" panose="020B0600000101010101" pitchFamily="34" charset="-127"/>
                <a:ea typeface="Arial" panose="020B0600000101010101" pitchFamily="34" charset="-127"/>
                <a:cs typeface="Arial" pitchFamily="34" charset="0"/>
              </a:rPr>
              <a:t>r</a:t>
            </a:r>
          </a:p>
        </p:txBody>
      </p:sp>
      <p:sp>
        <p:nvSpPr>
          <p:cNvPr id="66" name="TextBox 93">
            <a:extLst>
              <a:ext uri="{FF2B5EF4-FFF2-40B4-BE49-F238E27FC236}">
                <a16:creationId xmlns:a16="http://schemas.microsoft.com/office/drawing/2014/main" id="{8D337C30-8194-4ADE-93BE-89A00C68871C}"/>
              </a:ext>
            </a:extLst>
          </p:cNvPr>
          <p:cNvSpPr txBox="1"/>
          <p:nvPr/>
        </p:nvSpPr>
        <p:spPr>
          <a:xfrm>
            <a:off x="8742199" y="1930439"/>
            <a:ext cx="714683" cy="20005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vi-VN" sz="700" dirty="0">
                <a:latin typeface="Arial" panose="020B0600000101010101" pitchFamily="34" charset="-127"/>
                <a:ea typeface="Arial" panose="020B0600000101010101" pitchFamily="34" charset="-127"/>
                <a:cs typeface="Arial" pitchFamily="34" charset="0"/>
              </a:rPr>
              <a:t>Mr. </a:t>
            </a:r>
            <a:r>
              <a:rPr lang="en-US" sz="700" dirty="0">
                <a:latin typeface="Arial" panose="020B0600000101010101" pitchFamily="34" charset="-127"/>
                <a:ea typeface="Arial" panose="020B0600000101010101" pitchFamily="34" charset="-127"/>
                <a:cs typeface="Arial" pitchFamily="34" charset="0"/>
              </a:rPr>
              <a:t>Hung</a:t>
            </a:r>
            <a:r>
              <a:rPr lang="vi-VN" sz="700" dirty="0">
                <a:latin typeface="Arial" panose="020B0600000101010101" pitchFamily="34" charset="-127"/>
                <a:ea typeface="Arial" panose="020B0600000101010101" pitchFamily="34" charset="-127"/>
                <a:cs typeface="Arial" pitchFamily="34" charset="0"/>
              </a:rPr>
              <a:t> 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60" name="TextBox 128">
            <a:extLst>
              <a:ext uri="{FF2B5EF4-FFF2-40B4-BE49-F238E27FC236}">
                <a16:creationId xmlns:a16="http://schemas.microsoft.com/office/drawing/2014/main" id="{5666655F-1E01-4994-850E-5E6166294887}"/>
              </a:ext>
            </a:extLst>
          </p:cNvPr>
          <p:cNvSpPr txBox="1">
            <a:spLocks noChangeArrowheads="1"/>
          </p:cNvSpPr>
          <p:nvPr/>
        </p:nvSpPr>
        <p:spPr bwMode="auto">
          <a:xfrm>
            <a:off x="5207954" y="1063268"/>
            <a:ext cx="2207754" cy="276912"/>
          </a:xfrm>
          <a:prstGeom prst="rect">
            <a:avLst/>
          </a:prstGeom>
          <a:noFill/>
          <a:ln w="9525">
            <a:noFill/>
            <a:miter lim="800000"/>
            <a:headEnd/>
            <a:tailEnd/>
          </a:ln>
        </p:spPr>
        <p:txBody>
          <a:bodyPr wrap="square" lIns="91345" tIns="45677" rIns="91345" bIns="45677">
            <a:spAutoFit/>
          </a:bodyPr>
          <a:lstStyle/>
          <a:p>
            <a:pPr fontAlgn="auto">
              <a:spcBef>
                <a:spcPts val="0"/>
              </a:spcBef>
              <a:spcAft>
                <a:spcPts val="0"/>
              </a:spcAft>
              <a:buFont typeface="Wingdings" pitchFamily="2" charset="2"/>
              <a:buChar char="q"/>
            </a:pPr>
            <a:r>
              <a:rPr kumimoji="0" lang="en-US" altLang="ko-KR" sz="1100" b="1" u="sng" dirty="0">
                <a:solidFill>
                  <a:prstClr val="black"/>
                </a:solidFill>
                <a:latin typeface="Arial" panose="020B0600000101010101" pitchFamily="34" charset="-127"/>
                <a:ea typeface="Arial" panose="020B0600000101010101" pitchFamily="34" charset="-127"/>
                <a:cs typeface="Arial" panose="020B0604020202020204" pitchFamily="34" charset="0"/>
              </a:rPr>
              <a:t> Improvement</a:t>
            </a:r>
          </a:p>
        </p:txBody>
      </p:sp>
      <p:sp>
        <p:nvSpPr>
          <p:cNvPr id="62" name="TextBox 128">
            <a:extLst>
              <a:ext uri="{FF2B5EF4-FFF2-40B4-BE49-F238E27FC236}">
                <a16:creationId xmlns:a16="http://schemas.microsoft.com/office/drawing/2014/main" id="{C66630D7-5675-4F9F-B957-7BEA31EDB70D}"/>
              </a:ext>
            </a:extLst>
          </p:cNvPr>
          <p:cNvSpPr txBox="1">
            <a:spLocks noChangeArrowheads="1"/>
          </p:cNvSpPr>
          <p:nvPr/>
        </p:nvSpPr>
        <p:spPr bwMode="auto">
          <a:xfrm>
            <a:off x="7138434" y="1842413"/>
            <a:ext cx="617280" cy="492356"/>
          </a:xfrm>
          <a:prstGeom prst="rect">
            <a:avLst/>
          </a:prstGeom>
          <a:noFill/>
          <a:ln w="9525">
            <a:noFill/>
            <a:miter lim="800000"/>
            <a:headEnd/>
            <a:tailEnd/>
          </a:ln>
        </p:spPr>
        <p:txBody>
          <a:bodyPr wrap="square" lIns="91345" tIns="45677" rIns="91345" bIns="45677">
            <a:spAutoFit/>
          </a:bodyPr>
          <a:lstStyle/>
          <a:p>
            <a:r>
              <a:rPr lang="en-US" altLang="ko-KR" sz="600" dirty="0">
                <a:solidFill>
                  <a:prstClr val="black"/>
                </a:solidFill>
                <a:latin typeface="Arial" panose="020B0600000101010101" pitchFamily="34" charset="-127"/>
                <a:ea typeface="Arial" panose="020B0600000101010101" pitchFamily="34" charset="-127"/>
                <a:cs typeface="Arial" panose="020B0604020202020204" pitchFamily="34" charset="0"/>
              </a:rPr>
              <a:t>1. </a:t>
            </a:r>
            <a:r>
              <a:rPr lang="en-US" sz="600" dirty="0">
                <a:solidFill>
                  <a:prstClr val="black"/>
                </a:solidFill>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Adjust the angle of CS2000 </a:t>
            </a:r>
          </a:p>
          <a:p>
            <a:r>
              <a:rPr lang="en-US" sz="600" dirty="0">
                <a:solidFill>
                  <a:prstClr val="black"/>
                </a:solidFill>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Camera</a:t>
            </a:r>
            <a:r>
              <a:rPr lang="en-US" sz="1100" dirty="0">
                <a:latin typeface="Arial Narrow" panose="020B0606020202030204" pitchFamily="34" charset="0"/>
                <a:sym typeface="Wingdings" panose="05000000000000000000" pitchFamily="2" charset="2"/>
              </a:rPr>
              <a:t> </a:t>
            </a:r>
            <a:endParaRPr lang="en-US" altLang="ko-KR" sz="600" dirty="0">
              <a:solidFill>
                <a:prstClr val="black"/>
              </a:solidFill>
              <a:latin typeface="LG Smart_H Regular" panose="020B0600000101010101" pitchFamily="34" charset="-127"/>
              <a:ea typeface="LG Smart_H Regular" panose="020B0600000101010101" pitchFamily="34" charset="-127"/>
              <a:cs typeface="Arial" panose="020B0604020202020204" pitchFamily="34" charset="0"/>
            </a:endParaRPr>
          </a:p>
        </p:txBody>
      </p:sp>
      <p:cxnSp>
        <p:nvCxnSpPr>
          <p:cNvPr id="67" name="Straight Arrow Connector 66">
            <a:extLst>
              <a:ext uri="{FF2B5EF4-FFF2-40B4-BE49-F238E27FC236}">
                <a16:creationId xmlns:a16="http://schemas.microsoft.com/office/drawing/2014/main" id="{DC0D2E81-B641-4A00-AC8D-397DF12660C0}"/>
              </a:ext>
            </a:extLst>
          </p:cNvPr>
          <p:cNvCxnSpPr>
            <a:cxnSpLocks/>
          </p:cNvCxnSpPr>
          <p:nvPr/>
        </p:nvCxnSpPr>
        <p:spPr>
          <a:xfrm flipV="1">
            <a:off x="8074192" y="2521219"/>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34AC5C43-25D8-45D4-B158-4429C0460685}"/>
              </a:ext>
            </a:extLst>
          </p:cNvPr>
          <p:cNvSpPr/>
          <p:nvPr/>
        </p:nvSpPr>
        <p:spPr>
          <a:xfrm>
            <a:off x="9403135" y="2389989"/>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LG Smart_H Regular" panose="020B0600000101010101" pitchFamily="34" charset="-127"/>
              <a:ea typeface="LG Smart_H Regular" panose="020B0600000101010101" pitchFamily="34" charset="-127"/>
            </a:endParaRPr>
          </a:p>
        </p:txBody>
      </p:sp>
      <p:sp>
        <p:nvSpPr>
          <p:cNvPr id="73" name="TextBox 93">
            <a:extLst>
              <a:ext uri="{FF2B5EF4-FFF2-40B4-BE49-F238E27FC236}">
                <a16:creationId xmlns:a16="http://schemas.microsoft.com/office/drawing/2014/main" id="{40D0226D-DEC2-4D06-9639-C07205FDEEC5}"/>
              </a:ext>
            </a:extLst>
          </p:cNvPr>
          <p:cNvSpPr txBox="1"/>
          <p:nvPr/>
        </p:nvSpPr>
        <p:spPr>
          <a:xfrm>
            <a:off x="7809419" y="2311324"/>
            <a:ext cx="706509" cy="215444"/>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1100" dirty="0">
                <a:latin typeface="Arial" panose="020B0600000101010101" pitchFamily="34" charset="-127"/>
                <a:ea typeface="Arial" panose="020B0600000101010101" pitchFamily="34" charset="-127"/>
                <a:cs typeface="Arial" pitchFamily="34" charset="0"/>
              </a:rPr>
              <a:t>13- Mar</a:t>
            </a:r>
          </a:p>
        </p:txBody>
      </p:sp>
      <p:sp>
        <p:nvSpPr>
          <p:cNvPr id="75" name="제목 1">
            <a:extLst>
              <a:ext uri="{FF2B5EF4-FFF2-40B4-BE49-F238E27FC236}">
                <a16:creationId xmlns:a16="http://schemas.microsoft.com/office/drawing/2014/main" id="{DDFAE7B1-6A4B-44C7-B646-014D6851D800}"/>
              </a:ext>
            </a:extLst>
          </p:cNvPr>
          <p:cNvSpPr txBox="1">
            <a:spLocks/>
          </p:cNvSpPr>
          <p:nvPr/>
        </p:nvSpPr>
        <p:spPr>
          <a:xfrm>
            <a:off x="27541" y="64338"/>
            <a:ext cx="3172337" cy="418058"/>
          </a:xfrm>
          <a:prstGeom prst="rect">
            <a:avLst/>
          </a:prstGeom>
        </p:spPr>
        <p:txBody>
          <a:bodyPr vert="horz" lIns="91440" tIns="45720" rIns="91440" bIns="45720" rtlCol="0" anchor="ctr">
            <a:noAutofit/>
          </a:bodyPr>
          <a:lstStyle/>
          <a:p>
            <a:pPr eaLnBrk="0" hangingPunct="0">
              <a:defRPr/>
            </a:pP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82" name="TextBox 128">
            <a:extLst>
              <a:ext uri="{FF2B5EF4-FFF2-40B4-BE49-F238E27FC236}">
                <a16:creationId xmlns:a16="http://schemas.microsoft.com/office/drawing/2014/main" id="{313E9328-5552-484F-A3B2-16E4CFD45CD3}"/>
              </a:ext>
            </a:extLst>
          </p:cNvPr>
          <p:cNvSpPr txBox="1">
            <a:spLocks noChangeArrowheads="1"/>
          </p:cNvSpPr>
          <p:nvPr/>
        </p:nvSpPr>
        <p:spPr bwMode="auto">
          <a:xfrm>
            <a:off x="7172348" y="2392728"/>
            <a:ext cx="667620" cy="276912"/>
          </a:xfrm>
          <a:prstGeom prst="rect">
            <a:avLst/>
          </a:prstGeom>
          <a:noFill/>
          <a:ln w="9525">
            <a:noFill/>
            <a:miter lim="800000"/>
            <a:headEnd/>
            <a:tailEnd/>
          </a:ln>
        </p:spPr>
        <p:txBody>
          <a:bodyPr wrap="square" lIns="91345" tIns="45677" rIns="91345" bIns="45677">
            <a:spAutoFit/>
          </a:bodyPr>
          <a:lstStyle/>
          <a:p>
            <a:r>
              <a:rPr sz="1100" b="0">
                <a:latin typeface="Arial"/>
              </a:rPr>
              <a:t>2. Monitoring result</a:t>
            </a:r>
          </a:p>
        </p:txBody>
      </p:sp>
      <p:sp>
        <p:nvSpPr>
          <p:cNvPr id="89" name="TextBox 93">
            <a:extLst>
              <a:ext uri="{FF2B5EF4-FFF2-40B4-BE49-F238E27FC236}">
                <a16:creationId xmlns:a16="http://schemas.microsoft.com/office/drawing/2014/main" id="{754F827D-7B4C-4967-985B-F20B89D9F272}"/>
              </a:ext>
            </a:extLst>
          </p:cNvPr>
          <p:cNvSpPr txBox="1"/>
          <p:nvPr/>
        </p:nvSpPr>
        <p:spPr>
          <a:xfrm>
            <a:off x="8762469" y="2413420"/>
            <a:ext cx="714683" cy="200055"/>
          </a:xfrm>
          <a:prstGeom prst="rect">
            <a:avLst/>
          </a:prstGeom>
          <a:noFill/>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vi-VN" sz="700" dirty="0">
                <a:latin typeface="Arial" panose="020B0600000101010101" pitchFamily="34" charset="-127"/>
                <a:ea typeface="Arial" panose="020B0600000101010101" pitchFamily="34" charset="-127"/>
                <a:cs typeface="Arial" pitchFamily="34" charset="0"/>
              </a:rPr>
              <a:t>Mr. </a:t>
            </a:r>
            <a:r>
              <a:rPr lang="en-US" sz="700" dirty="0">
                <a:latin typeface="Arial" panose="020B0600000101010101" pitchFamily="34" charset="-127"/>
                <a:ea typeface="Arial" panose="020B0600000101010101" pitchFamily="34" charset="-127"/>
                <a:cs typeface="Arial" pitchFamily="34" charset="0"/>
              </a:rPr>
              <a:t>Hung </a:t>
            </a:r>
            <a:r>
              <a:rPr lang="vi-VN" sz="700" dirty="0">
                <a:latin typeface="Arial" panose="020B0600000101010101" pitchFamily="34" charset="-127"/>
                <a:ea typeface="Arial" panose="020B0600000101010101" pitchFamily="34" charset="-127"/>
                <a:cs typeface="Arial" pitchFamily="34" charset="0"/>
              </a:rPr>
              <a:t>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96" name="Slide Number Placeholder 4">
            <a:extLst>
              <a:ext uri="{FF2B5EF4-FFF2-40B4-BE49-F238E27FC236}">
                <a16:creationId xmlns:a16="http://schemas.microsoft.com/office/drawing/2014/main" id="{14609694-DD49-4E0A-9942-EE39A65918AD}"/>
              </a:ext>
            </a:extLst>
          </p:cNvPr>
          <p:cNvSpPr>
            <a:spLocks noGrp="1"/>
          </p:cNvSpPr>
          <p:nvPr>
            <p:ph type="sldNum" sz="quarter" idx="12"/>
          </p:nvPr>
        </p:nvSpPr>
        <p:spPr>
          <a:xfrm>
            <a:off x="3581025" y="6631416"/>
            <a:ext cx="2133600" cy="198047"/>
          </a:xfrm>
        </p:spPr>
        <p:txBody>
          <a:bodyPr/>
          <a:lstStyle/>
          <a:p>
            <a:pPr algn="ctr"/>
            <a:r>
              <a:rPr sz="1000" b="0">
                <a:latin typeface="Arial"/>
              </a:rPr>
              <a:t>17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3" name="AutoShape 55">
            <a:extLst>
              <a:ext uri="{FF2B5EF4-FFF2-40B4-BE49-F238E27FC236}">
                <a16:creationId xmlns:a16="http://schemas.microsoft.com/office/drawing/2014/main" id="{5FF6A60A-3B00-49E1-A8A5-82E4EB233D0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98" name="AutoShape 56">
            <a:extLst>
              <a:ext uri="{FF2B5EF4-FFF2-40B4-BE49-F238E27FC236}">
                <a16:creationId xmlns:a16="http://schemas.microsoft.com/office/drawing/2014/main" id="{BE828803-685E-4F72-BA18-05549CE77D40}"/>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100" name="AutoShape 59">
            <a:extLst>
              <a:ext uri="{FF2B5EF4-FFF2-40B4-BE49-F238E27FC236}">
                <a16:creationId xmlns:a16="http://schemas.microsoft.com/office/drawing/2014/main" id="{A2335E91-637C-41F5-8FF2-3999615C314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grpSp>
        <p:nvGrpSpPr>
          <p:cNvPr id="5" name="Group 4">
            <a:extLst>
              <a:ext uri="{FF2B5EF4-FFF2-40B4-BE49-F238E27FC236}">
                <a16:creationId xmlns:a16="http://schemas.microsoft.com/office/drawing/2014/main" id="{70CCCD43-E2C8-4475-B7AC-985605111E3B}"/>
              </a:ext>
            </a:extLst>
          </p:cNvPr>
          <p:cNvGrpSpPr/>
          <p:nvPr/>
        </p:nvGrpSpPr>
        <p:grpSpPr>
          <a:xfrm>
            <a:off x="151863" y="2391700"/>
            <a:ext cx="2377045" cy="1322913"/>
            <a:chOff x="151863" y="2084210"/>
            <a:chExt cx="3735245" cy="2027105"/>
          </a:xfrm>
        </p:grpSpPr>
        <p:pic>
          <p:nvPicPr>
            <p:cNvPr id="81" name="Picture 80">
              <a:extLst>
                <a:ext uri="{FF2B5EF4-FFF2-40B4-BE49-F238E27FC236}">
                  <a16:creationId xmlns:a16="http://schemas.microsoft.com/office/drawing/2014/main" id="{1F7EBDA6-5181-4B85-984A-6B5EEF35655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5728" r="13608" b="9278"/>
            <a:stretch/>
          </p:blipFill>
          <p:spPr>
            <a:xfrm>
              <a:off x="169923" y="2084210"/>
              <a:ext cx="3699125" cy="1728031"/>
            </a:xfrm>
            <a:prstGeom prst="rect">
              <a:avLst/>
            </a:prstGeom>
          </p:spPr>
        </p:pic>
        <p:pic>
          <p:nvPicPr>
            <p:cNvPr id="102" name="Picture 101">
              <a:extLst>
                <a:ext uri="{FF2B5EF4-FFF2-40B4-BE49-F238E27FC236}">
                  <a16:creationId xmlns:a16="http://schemas.microsoft.com/office/drawing/2014/main" id="{472B5B2A-7AF0-481A-9348-20F0F45334F2}"/>
                </a:ext>
              </a:extLst>
            </p:cNvPr>
            <p:cNvPicPr>
              <a:picLocks noChangeAspect="1"/>
            </p:cNvPicPr>
            <p:nvPr/>
          </p:nvPicPr>
          <p:blipFill rotWithShape="1">
            <a:blip r:embed="rId4"/>
            <a:srcRect t="6181"/>
            <a:stretch/>
          </p:blipFill>
          <p:spPr>
            <a:xfrm>
              <a:off x="151863" y="3812241"/>
              <a:ext cx="3735245" cy="299074"/>
            </a:xfrm>
            <a:prstGeom prst="rect">
              <a:avLst/>
            </a:prstGeom>
          </p:spPr>
        </p:pic>
      </p:grpSp>
      <p:sp>
        <p:nvSpPr>
          <p:cNvPr id="68" name="AutoShape 58">
            <a:extLst>
              <a:ext uri="{FF2B5EF4-FFF2-40B4-BE49-F238E27FC236}">
                <a16:creationId xmlns:a16="http://schemas.microsoft.com/office/drawing/2014/main" id="{8439CF7A-E4A4-48F9-BB8E-8C6D35963389}"/>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 </a:t>
            </a:r>
          </a:p>
        </p:txBody>
      </p:sp>
      <p:sp>
        <p:nvSpPr>
          <p:cNvPr id="70" name="AutoShape 57">
            <a:extLst>
              <a:ext uri="{FF2B5EF4-FFF2-40B4-BE49-F238E27FC236}">
                <a16:creationId xmlns:a16="http://schemas.microsoft.com/office/drawing/2014/main" id="{56AAA23E-69A7-4A40-B391-03F1B1B425D9}"/>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Analyze</a:t>
            </a:r>
          </a:p>
        </p:txBody>
      </p:sp>
      <p:sp>
        <p:nvSpPr>
          <p:cNvPr id="63" name="제목 1">
            <a:extLst>
              <a:ext uri="{FF2B5EF4-FFF2-40B4-BE49-F238E27FC236}">
                <a16:creationId xmlns:a16="http://schemas.microsoft.com/office/drawing/2014/main" id="{88D77FF8-1554-4412-B6B1-066B61688658}"/>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Find the root cause that making measurement system have problems</a:t>
            </a:r>
            <a:endParaRPr lang="ko-KR" altLang="en-US" sz="1600" b="1" kern="0" dirty="0">
              <a:solidFill>
                <a:srgbClr val="000000"/>
              </a:solidFill>
              <a:latin typeface="Arial Narrow" panose="020B0606020202030204" pitchFamily="34" charset="0"/>
              <a:ea typeface="LG Smart_H Regular" pitchFamily="34" charset="-127"/>
            </a:endParaRPr>
          </a:p>
        </p:txBody>
      </p:sp>
      <p:pic>
        <p:nvPicPr>
          <p:cNvPr id="71" name="Picture 70">
            <a:extLst>
              <a:ext uri="{FF2B5EF4-FFF2-40B4-BE49-F238E27FC236}">
                <a16:creationId xmlns:a16="http://schemas.microsoft.com/office/drawing/2014/main" id="{BB59170F-BA1F-4852-BC1D-995D04CFD141}"/>
              </a:ext>
            </a:extLst>
          </p:cNvPr>
          <p:cNvPicPr>
            <a:picLocks/>
          </p:cNvPicPr>
          <p:nvPr/>
        </p:nvPicPr>
        <p:blipFill>
          <a:blip r:embed="rId5"/>
          <a:stretch>
            <a:fillRect/>
          </a:stretch>
        </p:blipFill>
        <p:spPr>
          <a:xfrm>
            <a:off x="5516632" y="1902616"/>
            <a:ext cx="1203518" cy="983107"/>
          </a:xfrm>
          <a:prstGeom prst="rect">
            <a:avLst/>
          </a:prstGeom>
        </p:spPr>
      </p:pic>
      <p:cxnSp>
        <p:nvCxnSpPr>
          <p:cNvPr id="74" name="Straight Connector 73">
            <a:extLst>
              <a:ext uri="{FF2B5EF4-FFF2-40B4-BE49-F238E27FC236}">
                <a16:creationId xmlns:a16="http://schemas.microsoft.com/office/drawing/2014/main" id="{CC4C4646-645C-4749-997E-6E7BC56E3BFC}"/>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B8976FD-D84B-4631-B28C-087AEA346DD6}"/>
              </a:ext>
            </a:extLst>
          </p:cNvPr>
          <p:cNvPicPr>
            <a:picLocks noChangeAspect="1"/>
          </p:cNvPicPr>
          <p:nvPr/>
        </p:nvPicPr>
        <p:blipFill>
          <a:blip r:embed="rId6"/>
          <a:stretch>
            <a:fillRect/>
          </a:stretch>
        </p:blipFill>
        <p:spPr>
          <a:xfrm>
            <a:off x="5613471" y="4240809"/>
            <a:ext cx="1067722" cy="1067722"/>
          </a:xfrm>
          <a:prstGeom prst="rect">
            <a:avLst/>
          </a:prstGeom>
        </p:spPr>
      </p:pic>
    </p:spTree>
    <p:extLst>
      <p:ext uri="{BB962C8B-B14F-4D97-AF65-F5344CB8AC3E}">
        <p14:creationId xmlns:p14="http://schemas.microsoft.com/office/powerpoint/2010/main" val="2914413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7">
            <a:extLst>
              <a:ext uri="{FF2B5EF4-FFF2-40B4-BE49-F238E27FC236}">
                <a16:creationId xmlns:a16="http://schemas.microsoft.com/office/drawing/2014/main" id="{070DE589-DDD5-47D1-A503-62ED9BC3ABFC}"/>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33" name="AutoShape 56">
            <a:extLst>
              <a:ext uri="{FF2B5EF4-FFF2-40B4-BE49-F238E27FC236}">
                <a16:creationId xmlns:a16="http://schemas.microsoft.com/office/drawing/2014/main" id="{23631B7D-C17E-41E8-9D6B-B9B3F68937B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36" name="AutoShape 58">
            <a:extLst>
              <a:ext uri="{FF2B5EF4-FFF2-40B4-BE49-F238E27FC236}">
                <a16:creationId xmlns:a16="http://schemas.microsoft.com/office/drawing/2014/main" id="{44574530-997A-46EB-A83C-40E10BC125A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pic>
        <p:nvPicPr>
          <p:cNvPr id="14" name="Picture 13">
            <a:extLst>
              <a:ext uri="{FF2B5EF4-FFF2-40B4-BE49-F238E27FC236}">
                <a16:creationId xmlns:a16="http://schemas.microsoft.com/office/drawing/2014/main" id="{5B082D17-34B4-449C-8443-54621443924F}"/>
              </a:ext>
            </a:extLst>
          </p:cNvPr>
          <p:cNvPicPr>
            <a:picLocks/>
          </p:cNvPicPr>
          <p:nvPr/>
        </p:nvPicPr>
        <p:blipFill>
          <a:blip r:embed="rId2"/>
          <a:stretch>
            <a:fillRect/>
          </a:stretch>
        </p:blipFill>
        <p:spPr>
          <a:xfrm>
            <a:off x="5685274" y="3598209"/>
            <a:ext cx="1972979" cy="1320070"/>
          </a:xfrm>
          <a:prstGeom prst="rect">
            <a:avLst/>
          </a:prstGeom>
        </p:spPr>
      </p:pic>
      <p:sp>
        <p:nvSpPr>
          <p:cNvPr id="16" name="TextBox 15">
            <a:extLst>
              <a:ext uri="{FF2B5EF4-FFF2-40B4-BE49-F238E27FC236}">
                <a16:creationId xmlns:a16="http://schemas.microsoft.com/office/drawing/2014/main" id="{D43ED96F-C0E0-4D2F-95EC-E23F350DE80A}"/>
              </a:ext>
            </a:extLst>
          </p:cNvPr>
          <p:cNvSpPr txBox="1"/>
          <p:nvPr/>
        </p:nvSpPr>
        <p:spPr>
          <a:xfrm>
            <a:off x="173009" y="1007491"/>
            <a:ext cx="4611181" cy="461665"/>
          </a:xfrm>
          <a:prstGeom prst="rect">
            <a:avLst/>
          </a:prstGeom>
          <a:noFill/>
        </p:spPr>
        <p:txBody>
          <a:bodyPr wrap="square" rtlCol="0">
            <a:spAutoFit/>
          </a:bodyPr>
          <a:lstStyle/>
          <a:p>
            <a:pPr algn="ctr"/>
            <a:r>
              <a:rPr lang="en-US" sz="1100" dirty="0">
                <a:latin typeface="Arial Narrow" panose="020B0606020202030204" pitchFamily="34" charset="0"/>
                <a:sym typeface="Wingdings" panose="05000000000000000000" pitchFamily="2" charset="2"/>
              </a:rPr>
              <a:t>Before measurement</a:t>
            </a:r>
            <a:br>
              <a:rPr lang="en-US" sz="1200" dirty="0">
                <a:latin typeface="Arial Narrow" panose="020B0606020202030204" pitchFamily="34" charset="0"/>
                <a:sym typeface="Wingdings" panose="05000000000000000000" pitchFamily="2" charset="2"/>
              </a:rPr>
            </a:br>
            <a:r>
              <a:rPr lang="en-US" sz="1100" dirty="0">
                <a:solidFill>
                  <a:srgbClr val="FF0000"/>
                </a:solidFill>
                <a:latin typeface="Arial Narrow" panose="020B0606020202030204" pitchFamily="34" charset="0"/>
                <a:sym typeface="Wingdings" panose="05000000000000000000" pitchFamily="2" charset="2"/>
              </a:rPr>
              <a:t> </a:t>
            </a:r>
            <a:r>
              <a:rPr lang="en-US" sz="1100" dirty="0">
                <a:latin typeface="Arial Narrow" panose="020B0606020202030204" pitchFamily="34" charset="0"/>
                <a:sym typeface="Wingdings" panose="05000000000000000000" pitchFamily="2" charset="2"/>
              </a:rPr>
              <a:t>XZ: 89.075</a:t>
            </a:r>
            <a:r>
              <a:rPr lang="en-US" sz="1100" dirty="0">
                <a:latin typeface="Arial" panose="020B0604020202020204" pitchFamily="34" charset="0"/>
              </a:rPr>
              <a:t>º</a:t>
            </a:r>
            <a:r>
              <a:rPr lang="en-US" sz="1100" dirty="0">
                <a:latin typeface="Arial Narrow" panose="020B0606020202030204" pitchFamily="34" charset="0"/>
                <a:sym typeface="Wingdings" panose="05000000000000000000" pitchFamily="2" charset="2"/>
              </a:rPr>
              <a:t> ; YZ: 88.806</a:t>
            </a:r>
            <a:r>
              <a:rPr lang="en-US" sz="1100" dirty="0">
                <a:latin typeface="Arial" panose="020B0604020202020204" pitchFamily="34" charset="0"/>
              </a:rPr>
              <a:t>º</a:t>
            </a:r>
            <a:r>
              <a:rPr lang="en-US" sz="1100" dirty="0">
                <a:latin typeface="Arial Narrow" panose="020B0606020202030204" pitchFamily="34" charset="0"/>
                <a:sym typeface="Wingdings" panose="05000000000000000000" pitchFamily="2" charset="2"/>
              </a:rPr>
              <a:t> </a:t>
            </a:r>
          </a:p>
        </p:txBody>
      </p:sp>
      <p:sp>
        <p:nvSpPr>
          <p:cNvPr id="17" name="TextBox 16">
            <a:extLst>
              <a:ext uri="{FF2B5EF4-FFF2-40B4-BE49-F238E27FC236}">
                <a16:creationId xmlns:a16="http://schemas.microsoft.com/office/drawing/2014/main" id="{295D5869-11BE-479D-9E74-3B8C469DF7D2}"/>
              </a:ext>
            </a:extLst>
          </p:cNvPr>
          <p:cNvSpPr txBox="1"/>
          <p:nvPr/>
        </p:nvSpPr>
        <p:spPr>
          <a:xfrm>
            <a:off x="5194180" y="1077373"/>
            <a:ext cx="4606791" cy="461665"/>
          </a:xfrm>
          <a:prstGeom prst="rect">
            <a:avLst/>
          </a:prstGeom>
          <a:noFill/>
        </p:spPr>
        <p:txBody>
          <a:bodyPr wrap="square" rtlCol="0">
            <a:spAutoFit/>
          </a:bodyPr>
          <a:lstStyle/>
          <a:p>
            <a:pPr algn="ctr"/>
            <a:r>
              <a:rPr lang="en-US" sz="1100" dirty="0">
                <a:latin typeface="Arial Narrow" panose="020B0606020202030204" pitchFamily="34" charset="0"/>
                <a:sym typeface="Wingdings" panose="05000000000000000000" pitchFamily="2" charset="2"/>
              </a:rPr>
              <a:t>After measurement </a:t>
            </a:r>
          </a:p>
          <a:p>
            <a:pPr algn="ctr"/>
            <a:r>
              <a:rPr lang="en-US" sz="1100" dirty="0">
                <a:latin typeface="Arial Narrow" panose="020B0606020202030204" pitchFamily="34" charset="0"/>
                <a:sym typeface="Wingdings" panose="05000000000000000000" pitchFamily="2" charset="2"/>
              </a:rPr>
              <a:t> XZ: 90.000</a:t>
            </a:r>
            <a:r>
              <a:rPr lang="en-US" sz="1100" dirty="0">
                <a:latin typeface="Arial" panose="020B0604020202020204" pitchFamily="34" charset="0"/>
              </a:rPr>
              <a:t>º</a:t>
            </a:r>
            <a:r>
              <a:rPr lang="en-US" sz="1100" dirty="0">
                <a:latin typeface="Arial Narrow" panose="020B0606020202030204" pitchFamily="34" charset="0"/>
                <a:sym typeface="Wingdings" panose="05000000000000000000" pitchFamily="2" charset="2"/>
              </a:rPr>
              <a:t> ; YZ: 90.000</a:t>
            </a:r>
            <a:r>
              <a:rPr lang="en-US" sz="1100" dirty="0">
                <a:latin typeface="Arial" panose="020B0604020202020204" pitchFamily="34" charset="0"/>
              </a:rPr>
              <a:t>º</a:t>
            </a:r>
            <a:r>
              <a:rPr lang="en-US" sz="1100" dirty="0">
                <a:latin typeface="Arial Narrow" panose="020B0606020202030204" pitchFamily="34" charset="0"/>
                <a:sym typeface="Wingdings" panose="05000000000000000000" pitchFamily="2" charset="2"/>
              </a:rPr>
              <a:t> </a:t>
            </a:r>
          </a:p>
        </p:txBody>
      </p:sp>
      <p:grpSp>
        <p:nvGrpSpPr>
          <p:cNvPr id="18" name="Group 17">
            <a:extLst>
              <a:ext uri="{FF2B5EF4-FFF2-40B4-BE49-F238E27FC236}">
                <a16:creationId xmlns:a16="http://schemas.microsoft.com/office/drawing/2014/main" id="{FFDFEB6B-6C38-4E13-8FF2-58968AF811CE}"/>
              </a:ext>
            </a:extLst>
          </p:cNvPr>
          <p:cNvGrpSpPr/>
          <p:nvPr/>
        </p:nvGrpSpPr>
        <p:grpSpPr>
          <a:xfrm>
            <a:off x="5483506" y="1633963"/>
            <a:ext cx="3081098" cy="1555753"/>
            <a:chOff x="5019235" y="2239786"/>
            <a:chExt cx="1856981" cy="1207008"/>
          </a:xfrm>
        </p:grpSpPr>
        <p:pic>
          <p:nvPicPr>
            <p:cNvPr id="19" name="Picture 18">
              <a:extLst>
                <a:ext uri="{FF2B5EF4-FFF2-40B4-BE49-F238E27FC236}">
                  <a16:creationId xmlns:a16="http://schemas.microsoft.com/office/drawing/2014/main" id="{E8E1BD45-198B-47D2-BCE1-A451860F970D}"/>
                </a:ext>
              </a:extLst>
            </p:cNvPr>
            <p:cNvPicPr>
              <a:picLocks/>
            </p:cNvPicPr>
            <p:nvPr/>
          </p:nvPicPr>
          <p:blipFill>
            <a:blip r:embed="rId3"/>
            <a:stretch>
              <a:fillRect/>
            </a:stretch>
          </p:blipFill>
          <p:spPr>
            <a:xfrm>
              <a:off x="5130063" y="2239786"/>
              <a:ext cx="1634235" cy="1207008"/>
            </a:xfrm>
            <a:prstGeom prst="rect">
              <a:avLst/>
            </a:prstGeom>
          </p:spPr>
        </p:pic>
        <p:sp>
          <p:nvSpPr>
            <p:cNvPr id="21" name="TextBox 20">
              <a:extLst>
                <a:ext uri="{FF2B5EF4-FFF2-40B4-BE49-F238E27FC236}">
                  <a16:creationId xmlns:a16="http://schemas.microsoft.com/office/drawing/2014/main" id="{3EC54F66-68DD-4487-AA96-B48B87AFD744}"/>
                </a:ext>
              </a:extLst>
            </p:cNvPr>
            <p:cNvSpPr txBox="1"/>
            <p:nvPr/>
          </p:nvSpPr>
          <p:spPr>
            <a:xfrm>
              <a:off x="634386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22" name="TextBox 21">
              <a:extLst>
                <a:ext uri="{FF2B5EF4-FFF2-40B4-BE49-F238E27FC236}">
                  <a16:creationId xmlns:a16="http://schemas.microsoft.com/office/drawing/2014/main" id="{FB6A216C-48E7-4F57-8343-10A50ACA411B}"/>
                </a:ext>
              </a:extLst>
            </p:cNvPr>
            <p:cNvSpPr txBox="1"/>
            <p:nvPr/>
          </p:nvSpPr>
          <p:spPr>
            <a:xfrm>
              <a:off x="501923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grpSp>
        <p:nvGrpSpPr>
          <p:cNvPr id="23" name="Group 22">
            <a:extLst>
              <a:ext uri="{FF2B5EF4-FFF2-40B4-BE49-F238E27FC236}">
                <a16:creationId xmlns:a16="http://schemas.microsoft.com/office/drawing/2014/main" id="{055BAE43-8118-4D06-8250-847B5596110A}"/>
              </a:ext>
            </a:extLst>
          </p:cNvPr>
          <p:cNvGrpSpPr/>
          <p:nvPr/>
        </p:nvGrpSpPr>
        <p:grpSpPr>
          <a:xfrm>
            <a:off x="7853491" y="3724867"/>
            <a:ext cx="1540078" cy="1219751"/>
            <a:chOff x="8468343" y="2246708"/>
            <a:chExt cx="1313079" cy="1200086"/>
          </a:xfrm>
        </p:grpSpPr>
        <p:pic>
          <p:nvPicPr>
            <p:cNvPr id="24" name="Picture 23">
              <a:extLst>
                <a:ext uri="{FF2B5EF4-FFF2-40B4-BE49-F238E27FC236}">
                  <a16:creationId xmlns:a16="http://schemas.microsoft.com/office/drawing/2014/main" id="{12373177-7176-4DE4-9D57-B26FE528CFB2}"/>
                </a:ext>
              </a:extLst>
            </p:cNvPr>
            <p:cNvPicPr>
              <a:picLocks noChangeAspect="1"/>
            </p:cNvPicPr>
            <p:nvPr/>
          </p:nvPicPr>
          <p:blipFill>
            <a:blip r:embed="rId4"/>
            <a:stretch>
              <a:fillRect/>
            </a:stretch>
          </p:blipFill>
          <p:spPr>
            <a:xfrm>
              <a:off x="8500201" y="2246708"/>
              <a:ext cx="1236653" cy="1200086"/>
            </a:xfrm>
            <a:prstGeom prst="rect">
              <a:avLst/>
            </a:prstGeom>
          </p:spPr>
        </p:pic>
        <p:sp>
          <p:nvSpPr>
            <p:cNvPr id="25" name="TextBox 24">
              <a:extLst>
                <a:ext uri="{FF2B5EF4-FFF2-40B4-BE49-F238E27FC236}">
                  <a16:creationId xmlns:a16="http://schemas.microsoft.com/office/drawing/2014/main" id="{185A6C82-02E0-42B6-8729-7702DD4F2023}"/>
                </a:ext>
              </a:extLst>
            </p:cNvPr>
            <p:cNvSpPr txBox="1"/>
            <p:nvPr/>
          </p:nvSpPr>
          <p:spPr>
            <a:xfrm>
              <a:off x="9199140" y="3082704"/>
              <a:ext cx="256802" cy="276999"/>
            </a:xfrm>
            <a:prstGeom prst="rect">
              <a:avLst/>
            </a:prstGeom>
            <a:noFill/>
          </p:spPr>
          <p:txBody>
            <a:bodyPr wrap="none" rtlCol="0">
              <a:spAutoFit/>
            </a:bodyPr>
            <a:lstStyle/>
            <a:p>
              <a:r>
                <a:rPr lang="en-US" sz="1200"/>
                <a:t>Z</a:t>
              </a:r>
            </a:p>
          </p:txBody>
        </p:sp>
        <p:sp>
          <p:nvSpPr>
            <p:cNvPr id="26" name="TextBox 25">
              <a:extLst>
                <a:ext uri="{FF2B5EF4-FFF2-40B4-BE49-F238E27FC236}">
                  <a16:creationId xmlns:a16="http://schemas.microsoft.com/office/drawing/2014/main" id="{4C3EED04-DFC9-4D87-A6E4-ED4C59855162}"/>
                </a:ext>
              </a:extLst>
            </p:cNvPr>
            <p:cNvSpPr txBox="1"/>
            <p:nvPr/>
          </p:nvSpPr>
          <p:spPr>
            <a:xfrm>
              <a:off x="9516606" y="2807458"/>
              <a:ext cx="264816" cy="276999"/>
            </a:xfrm>
            <a:prstGeom prst="rect">
              <a:avLst/>
            </a:prstGeom>
            <a:noFill/>
          </p:spPr>
          <p:txBody>
            <a:bodyPr wrap="none" rtlCol="0">
              <a:spAutoFit/>
            </a:bodyPr>
            <a:lstStyle/>
            <a:p>
              <a:r>
                <a:rPr lang="en-US" sz="1200"/>
                <a:t>X</a:t>
              </a:r>
            </a:p>
          </p:txBody>
        </p:sp>
        <p:sp>
          <p:nvSpPr>
            <p:cNvPr id="27" name="TextBox 26">
              <a:extLst>
                <a:ext uri="{FF2B5EF4-FFF2-40B4-BE49-F238E27FC236}">
                  <a16:creationId xmlns:a16="http://schemas.microsoft.com/office/drawing/2014/main" id="{96DBFDFA-1BE8-4248-8725-ED73D8793DC1}"/>
                </a:ext>
              </a:extLst>
            </p:cNvPr>
            <p:cNvSpPr txBox="1"/>
            <p:nvPr/>
          </p:nvSpPr>
          <p:spPr>
            <a:xfrm>
              <a:off x="8468343" y="2773834"/>
              <a:ext cx="264816" cy="276999"/>
            </a:xfrm>
            <a:prstGeom prst="rect">
              <a:avLst/>
            </a:prstGeom>
            <a:noFill/>
          </p:spPr>
          <p:txBody>
            <a:bodyPr wrap="none" rtlCol="0">
              <a:spAutoFit/>
            </a:bodyPr>
            <a:lstStyle/>
            <a:p>
              <a:r>
                <a:rPr lang="en-US" sz="1200"/>
                <a:t>Y</a:t>
              </a:r>
            </a:p>
          </p:txBody>
        </p:sp>
      </p:grpSp>
      <p:sp>
        <p:nvSpPr>
          <p:cNvPr id="28" name="Rectangular Callout 58">
            <a:extLst>
              <a:ext uri="{FF2B5EF4-FFF2-40B4-BE49-F238E27FC236}">
                <a16:creationId xmlns:a16="http://schemas.microsoft.com/office/drawing/2014/main" id="{7BB701AD-2FCE-4A96-942A-E2D723992B75}"/>
              </a:ext>
            </a:extLst>
          </p:cNvPr>
          <p:cNvSpPr/>
          <p:nvPr/>
        </p:nvSpPr>
        <p:spPr>
          <a:xfrm>
            <a:off x="7743717" y="3478021"/>
            <a:ext cx="1540078" cy="1453639"/>
          </a:xfrm>
          <a:prstGeom prst="wedgeRectCallout">
            <a:avLst>
              <a:gd name="adj1" fmla="val -108972"/>
              <a:gd name="adj2" fmla="val 208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511C2AAA-739A-4938-AF5C-0A55CBA5F2ED}"/>
              </a:ext>
            </a:extLst>
          </p:cNvPr>
          <p:cNvGrpSpPr/>
          <p:nvPr/>
        </p:nvGrpSpPr>
        <p:grpSpPr>
          <a:xfrm>
            <a:off x="77425" y="1485896"/>
            <a:ext cx="3247628" cy="1987179"/>
            <a:chOff x="125050" y="2038370"/>
            <a:chExt cx="1856981" cy="1207008"/>
          </a:xfrm>
        </p:grpSpPr>
        <p:pic>
          <p:nvPicPr>
            <p:cNvPr id="30" name="Picture 29">
              <a:extLst>
                <a:ext uri="{FF2B5EF4-FFF2-40B4-BE49-F238E27FC236}">
                  <a16:creationId xmlns:a16="http://schemas.microsoft.com/office/drawing/2014/main" id="{C4950509-DC7B-4818-A7D7-E807C7E0A5DC}"/>
                </a:ext>
              </a:extLst>
            </p:cNvPr>
            <p:cNvPicPr>
              <a:picLocks/>
            </p:cNvPicPr>
            <p:nvPr/>
          </p:nvPicPr>
          <p:blipFill>
            <a:blip r:embed="rId5"/>
            <a:stretch>
              <a:fillRect/>
            </a:stretch>
          </p:blipFill>
          <p:spPr>
            <a:xfrm>
              <a:off x="228439" y="2038370"/>
              <a:ext cx="1636776" cy="1207008"/>
            </a:xfrm>
            <a:prstGeom prst="rect">
              <a:avLst/>
            </a:prstGeom>
          </p:spPr>
        </p:pic>
        <p:sp>
          <p:nvSpPr>
            <p:cNvPr id="31" name="TextBox 30">
              <a:extLst>
                <a:ext uri="{FF2B5EF4-FFF2-40B4-BE49-F238E27FC236}">
                  <a16:creationId xmlns:a16="http://schemas.microsoft.com/office/drawing/2014/main" id="{31F06AF7-217B-44D6-945D-FFBFA7CB8934}"/>
                </a:ext>
              </a:extLst>
            </p:cNvPr>
            <p:cNvSpPr txBox="1"/>
            <p:nvPr/>
          </p:nvSpPr>
          <p:spPr>
            <a:xfrm>
              <a:off x="144968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39" name="TextBox 38">
              <a:extLst>
                <a:ext uri="{FF2B5EF4-FFF2-40B4-BE49-F238E27FC236}">
                  <a16:creationId xmlns:a16="http://schemas.microsoft.com/office/drawing/2014/main" id="{EED274E5-CC64-4277-B9DB-F4375B0150CC}"/>
                </a:ext>
              </a:extLst>
            </p:cNvPr>
            <p:cNvSpPr txBox="1"/>
            <p:nvPr/>
          </p:nvSpPr>
          <p:spPr>
            <a:xfrm>
              <a:off x="12505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pic>
        <p:nvPicPr>
          <p:cNvPr id="40" name="Picture 39">
            <a:extLst>
              <a:ext uri="{FF2B5EF4-FFF2-40B4-BE49-F238E27FC236}">
                <a16:creationId xmlns:a16="http://schemas.microsoft.com/office/drawing/2014/main" id="{44305FBD-0C39-44B7-B79B-29D3AAE06EE3}"/>
              </a:ext>
            </a:extLst>
          </p:cNvPr>
          <p:cNvPicPr>
            <a:picLocks/>
          </p:cNvPicPr>
          <p:nvPr/>
        </p:nvPicPr>
        <p:blipFill>
          <a:blip r:embed="rId6"/>
          <a:stretch>
            <a:fillRect/>
          </a:stretch>
        </p:blipFill>
        <p:spPr>
          <a:xfrm>
            <a:off x="323313" y="3560167"/>
            <a:ext cx="2171589" cy="1364786"/>
          </a:xfrm>
          <a:prstGeom prst="rect">
            <a:avLst/>
          </a:prstGeom>
        </p:spPr>
      </p:pic>
      <p:sp>
        <p:nvSpPr>
          <p:cNvPr id="41" name="Rectangular Callout 69">
            <a:extLst>
              <a:ext uri="{FF2B5EF4-FFF2-40B4-BE49-F238E27FC236}">
                <a16:creationId xmlns:a16="http://schemas.microsoft.com/office/drawing/2014/main" id="{53971F0F-89D2-4566-976C-0BD679EE98A1}"/>
              </a:ext>
            </a:extLst>
          </p:cNvPr>
          <p:cNvSpPr/>
          <p:nvPr/>
        </p:nvSpPr>
        <p:spPr>
          <a:xfrm>
            <a:off x="2494902" y="3579832"/>
            <a:ext cx="1637790" cy="1364786"/>
          </a:xfrm>
          <a:prstGeom prst="wedgeRectCallout">
            <a:avLst>
              <a:gd name="adj1" fmla="val -108503"/>
              <a:gd name="adj2" fmla="val 496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BF5A8FAC-056C-4EAD-BC06-72A7BCE984E4}"/>
              </a:ext>
            </a:extLst>
          </p:cNvPr>
          <p:cNvGrpSpPr/>
          <p:nvPr/>
        </p:nvGrpSpPr>
        <p:grpSpPr>
          <a:xfrm>
            <a:off x="2462031" y="3583156"/>
            <a:ext cx="1750686" cy="1354447"/>
            <a:chOff x="3566770" y="2034773"/>
            <a:chExt cx="1319532" cy="1197864"/>
          </a:xfrm>
        </p:grpSpPr>
        <p:pic>
          <p:nvPicPr>
            <p:cNvPr id="43" name="Picture 42">
              <a:extLst>
                <a:ext uri="{FF2B5EF4-FFF2-40B4-BE49-F238E27FC236}">
                  <a16:creationId xmlns:a16="http://schemas.microsoft.com/office/drawing/2014/main" id="{1BC10210-DD2E-45B5-A344-F6E8B945F174}"/>
                </a:ext>
              </a:extLst>
            </p:cNvPr>
            <p:cNvPicPr>
              <a:picLocks/>
            </p:cNvPicPr>
            <p:nvPr/>
          </p:nvPicPr>
          <p:blipFill>
            <a:blip r:embed="rId7"/>
            <a:stretch>
              <a:fillRect/>
            </a:stretch>
          </p:blipFill>
          <p:spPr>
            <a:xfrm>
              <a:off x="3598747" y="2034773"/>
              <a:ext cx="1234440" cy="1197864"/>
            </a:xfrm>
            <a:prstGeom prst="rect">
              <a:avLst/>
            </a:prstGeom>
          </p:spPr>
        </p:pic>
        <p:sp>
          <p:nvSpPr>
            <p:cNvPr id="44" name="TextBox 43">
              <a:extLst>
                <a:ext uri="{FF2B5EF4-FFF2-40B4-BE49-F238E27FC236}">
                  <a16:creationId xmlns:a16="http://schemas.microsoft.com/office/drawing/2014/main" id="{164C464D-B3C2-4407-BDB6-0DA3DB59F201}"/>
                </a:ext>
              </a:extLst>
            </p:cNvPr>
            <p:cNvSpPr txBox="1"/>
            <p:nvPr/>
          </p:nvSpPr>
          <p:spPr>
            <a:xfrm>
              <a:off x="3923225" y="2662157"/>
              <a:ext cx="256802" cy="276999"/>
            </a:xfrm>
            <a:prstGeom prst="rect">
              <a:avLst/>
            </a:prstGeom>
            <a:noFill/>
          </p:spPr>
          <p:txBody>
            <a:bodyPr wrap="none" rtlCol="0">
              <a:spAutoFit/>
            </a:bodyPr>
            <a:lstStyle/>
            <a:p>
              <a:r>
                <a:rPr lang="en-US" sz="1200"/>
                <a:t>Z</a:t>
              </a:r>
            </a:p>
          </p:txBody>
        </p:sp>
        <p:sp>
          <p:nvSpPr>
            <p:cNvPr id="45" name="TextBox 44">
              <a:extLst>
                <a:ext uri="{FF2B5EF4-FFF2-40B4-BE49-F238E27FC236}">
                  <a16:creationId xmlns:a16="http://schemas.microsoft.com/office/drawing/2014/main" id="{F3045DC7-CFDA-41F6-A023-413FC7614317}"/>
                </a:ext>
              </a:extLst>
            </p:cNvPr>
            <p:cNvSpPr txBox="1"/>
            <p:nvPr/>
          </p:nvSpPr>
          <p:spPr>
            <a:xfrm>
              <a:off x="4621486" y="2385158"/>
              <a:ext cx="264816" cy="276999"/>
            </a:xfrm>
            <a:prstGeom prst="rect">
              <a:avLst/>
            </a:prstGeom>
            <a:noFill/>
          </p:spPr>
          <p:txBody>
            <a:bodyPr wrap="none" rtlCol="0">
              <a:spAutoFit/>
            </a:bodyPr>
            <a:lstStyle/>
            <a:p>
              <a:r>
                <a:rPr lang="en-US" sz="1200"/>
                <a:t>X</a:t>
              </a:r>
            </a:p>
          </p:txBody>
        </p:sp>
        <p:sp>
          <p:nvSpPr>
            <p:cNvPr id="46" name="TextBox 45">
              <a:extLst>
                <a:ext uri="{FF2B5EF4-FFF2-40B4-BE49-F238E27FC236}">
                  <a16:creationId xmlns:a16="http://schemas.microsoft.com/office/drawing/2014/main" id="{F28BCC1F-A169-4DA7-9F4E-D8DB22F9D13A}"/>
                </a:ext>
              </a:extLst>
            </p:cNvPr>
            <p:cNvSpPr txBox="1"/>
            <p:nvPr/>
          </p:nvSpPr>
          <p:spPr>
            <a:xfrm>
              <a:off x="3566770" y="2532540"/>
              <a:ext cx="264816" cy="276999"/>
            </a:xfrm>
            <a:prstGeom prst="rect">
              <a:avLst/>
            </a:prstGeom>
            <a:noFill/>
          </p:spPr>
          <p:txBody>
            <a:bodyPr wrap="none" rtlCol="0">
              <a:spAutoFit/>
            </a:bodyPr>
            <a:lstStyle/>
            <a:p>
              <a:r>
                <a:rPr lang="en-US" sz="1200"/>
                <a:t>Y</a:t>
              </a:r>
            </a:p>
          </p:txBody>
        </p:sp>
      </p:grpSp>
      <p:sp>
        <p:nvSpPr>
          <p:cNvPr id="38" name="Arrow: Pentagon 37">
            <a:extLst>
              <a:ext uri="{FF2B5EF4-FFF2-40B4-BE49-F238E27FC236}">
                <a16:creationId xmlns:a16="http://schemas.microsoft.com/office/drawing/2014/main" id="{A14AF0D6-0157-4A37-8465-7003C201F12B}"/>
              </a:ext>
            </a:extLst>
          </p:cNvPr>
          <p:cNvSpPr/>
          <p:nvPr/>
        </p:nvSpPr>
        <p:spPr>
          <a:xfrm>
            <a:off x="100067" y="997045"/>
            <a:ext cx="4991276" cy="4053093"/>
          </a:xfrm>
          <a:prstGeom prst="homePlate">
            <a:avLst>
              <a:gd name="adj" fmla="val 8496"/>
            </a:avLst>
          </a:prstGeom>
          <a:noFill/>
          <a:ln>
            <a:solidFill>
              <a:srgbClr val="FF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8A01F703-7AED-49D9-BA5F-ED2257D3FBA0}"/>
              </a:ext>
            </a:extLst>
          </p:cNvPr>
          <p:cNvSpPr/>
          <p:nvPr/>
        </p:nvSpPr>
        <p:spPr>
          <a:xfrm>
            <a:off x="5195367" y="990600"/>
            <a:ext cx="4453247" cy="405953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5A4ADFE1-6D46-4FDB-B3C8-F8FE8E05C7E4}"/>
              </a:ext>
            </a:extLst>
          </p:cNvPr>
          <p:cNvSpPr txBox="1"/>
          <p:nvPr/>
        </p:nvSpPr>
        <p:spPr>
          <a:xfrm>
            <a:off x="63248" y="535377"/>
            <a:ext cx="2801520" cy="276999"/>
          </a:xfrm>
          <a:prstGeom prst="rect">
            <a:avLst/>
          </a:prstGeom>
          <a:noFill/>
        </p:spPr>
        <p:txBody>
          <a:bodyPr wrap="square" rtlCol="0">
            <a:spAutoFit/>
          </a:bodyPr>
          <a:lstStyle/>
          <a:p>
            <a:pPr marL="171450" indent="-171450">
              <a:buFont typeface="Wingdings" panose="05000000000000000000" pitchFamily="2" charset="2"/>
              <a:buChar char="q"/>
            </a:pPr>
            <a:r>
              <a:rPr lang="en-US" sz="1100" b="1" dirty="0">
                <a:latin typeface="Arial" panose="020B0600000101010101" pitchFamily="34" charset="-127"/>
                <a:ea typeface="Arial" panose="020B0600000101010101" pitchFamily="34" charset="-127"/>
                <a:cs typeface="Arial" panose="020B0604020202020204" pitchFamily="34" charset="0"/>
              </a:rPr>
              <a:t>Changing Camera angle</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0" name="TextBox 49">
            <a:extLst>
              <a:ext uri="{FF2B5EF4-FFF2-40B4-BE49-F238E27FC236}">
                <a16:creationId xmlns:a16="http://schemas.microsoft.com/office/drawing/2014/main" id="{9796D67F-121E-4991-B95F-AD4E2D8F1606}"/>
              </a:ext>
            </a:extLst>
          </p:cNvPr>
          <p:cNvSpPr txBox="1"/>
          <p:nvPr/>
        </p:nvSpPr>
        <p:spPr>
          <a:xfrm>
            <a:off x="87912" y="5250882"/>
            <a:ext cx="6160488" cy="577081"/>
          </a:xfrm>
          <a:prstGeom prst="rect">
            <a:avLst/>
          </a:prstGeom>
          <a:noFill/>
        </p:spPr>
        <p:txBody>
          <a:bodyPr wrap="square" rtlCol="0">
            <a:spAutoFit/>
          </a:bodyPr>
          <a:lstStyle/>
          <a:p>
            <a:pPr marL="171450" indent="-171450" algn="just">
              <a:spcBef>
                <a:spcPct val="20000"/>
              </a:spcBef>
              <a:buFont typeface="Wingdings" panose="05000000000000000000" pitchFamily="2" charset="2"/>
              <a:buChar char="Ø"/>
            </a:pPr>
            <a:r>
              <a:rPr sz="1100" b="0">
                <a:latin typeface="Arial"/>
              </a:rPr>
              <a:t>After adjusting detector camera angle to 90.0° and re-testing samples, Luminance NG issues were completely eliminated. Correcting CS2000 camera angle is confirmed as the effective solution.</a:t>
            </a:r>
            <a:endParaRPr lang="ko-KR" altLang="en-US" sz="1050" dirty="0">
              <a:solidFill>
                <a:prstClr val="black"/>
              </a:solidFill>
              <a:latin typeface="Arial" panose="020B0604020202020204" pitchFamily="34" charset="0"/>
              <a:ea typeface="LG Smart_H Regular" panose="020B0600000101010101" pitchFamily="34" charset="-127"/>
              <a:cs typeface="Arial" panose="020B0604020202020204" pitchFamily="34" charset="0"/>
            </a:endParaRPr>
          </a:p>
        </p:txBody>
      </p:sp>
      <p:pic>
        <p:nvPicPr>
          <p:cNvPr id="51" name="Picture 50">
            <a:extLst>
              <a:ext uri="{FF2B5EF4-FFF2-40B4-BE49-F238E27FC236}">
                <a16:creationId xmlns:a16="http://schemas.microsoft.com/office/drawing/2014/main" id="{DC490346-BFF1-42EE-9917-D7CC93E7D79D}"/>
              </a:ext>
            </a:extLst>
          </p:cNvPr>
          <p:cNvPicPr>
            <a:picLocks/>
          </p:cNvPicPr>
          <p:nvPr/>
        </p:nvPicPr>
        <p:blipFill>
          <a:blip r:embed="rId8"/>
          <a:stretch>
            <a:fillRect/>
          </a:stretch>
        </p:blipFill>
        <p:spPr>
          <a:xfrm>
            <a:off x="6654452" y="5267813"/>
            <a:ext cx="2267434" cy="1163112"/>
          </a:xfrm>
          <a:prstGeom prst="rect">
            <a:avLst/>
          </a:prstGeom>
        </p:spPr>
      </p:pic>
      <p:sp>
        <p:nvSpPr>
          <p:cNvPr id="52" name="제목 1">
            <a:extLst>
              <a:ext uri="{FF2B5EF4-FFF2-40B4-BE49-F238E27FC236}">
                <a16:creationId xmlns:a16="http://schemas.microsoft.com/office/drawing/2014/main" id="{5DEA8993-5816-41E5-B83D-7C241142F792}"/>
              </a:ext>
            </a:extLst>
          </p:cNvPr>
          <p:cNvSpPr txBox="1">
            <a:spLocks/>
          </p:cNvSpPr>
          <p:nvPr/>
        </p:nvSpPr>
        <p:spPr>
          <a:xfrm>
            <a:off x="127002" y="85711"/>
            <a:ext cx="4249934" cy="418058"/>
          </a:xfrm>
          <a:prstGeom prst="rect">
            <a:avLst/>
          </a:prstGeom>
        </p:spPr>
        <p:txBody>
          <a:bodyPr vert="horz" lIns="91440" tIns="45720" rIns="91440" bIns="45720" rtlCol="0" anchor="ctr">
            <a:noAutofit/>
          </a:bodyPr>
          <a:lstStyle/>
          <a:p>
            <a:pPr lvl="0" eaLnBrk="0" hangingPunct="0">
              <a:defRPr/>
            </a:pPr>
            <a:r>
              <a:rPr lang="vi-VN" altLang="ko-KR" sz="1600" b="1" kern="0" dirty="0">
                <a:latin typeface="Arial Narrow" panose="020B0606020202030204" pitchFamily="34" charset="0"/>
                <a:ea typeface="Arial Unicode MS" panose="020B0604020202020204" pitchFamily="34" charset="-128"/>
                <a:cs typeface="Arial" panose="020B0604020202020204" pitchFamily="34" charset="0"/>
              </a:rPr>
              <a:t>4.1</a:t>
            </a: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 </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Improvement</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activity of measurement system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37" name="Straight Connector 36">
            <a:extLst>
              <a:ext uri="{FF2B5EF4-FFF2-40B4-BE49-F238E27FC236}">
                <a16:creationId xmlns:a16="http://schemas.microsoft.com/office/drawing/2014/main" id="{40623CFD-7D50-4755-9BC8-5BB2B026E5EB}"/>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7424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6B0328D7-4F88-4E3F-906D-CDB9E15A1C4F}"/>
              </a:ext>
            </a:extLst>
          </p:cNvPr>
          <p:cNvCxnSpPr/>
          <p:nvPr/>
        </p:nvCxnSpPr>
        <p:spPr bwMode="auto">
          <a:xfrm>
            <a:off x="3810000" y="6349162"/>
            <a:ext cx="1094487" cy="0"/>
          </a:xfrm>
          <a:prstGeom prst="straightConnector1">
            <a:avLst/>
          </a:prstGeom>
          <a:noFill/>
          <a:ln w="9525" cap="flat" cmpd="sng" algn="ctr">
            <a:solidFill>
              <a:srgbClr val="C00000"/>
            </a:solidFill>
            <a:prstDash val="solid"/>
            <a:round/>
            <a:headEnd type="none" w="med" len="med"/>
            <a:tailEnd type="triangle"/>
          </a:ln>
          <a:effectLst/>
        </p:spPr>
      </p:cxnSp>
      <p:cxnSp>
        <p:nvCxnSpPr>
          <p:cNvPr id="3" name="Straight Arrow Connector 2">
            <a:extLst>
              <a:ext uri="{FF2B5EF4-FFF2-40B4-BE49-F238E27FC236}">
                <a16:creationId xmlns:a16="http://schemas.microsoft.com/office/drawing/2014/main" id="{343B9057-F582-4381-91D8-097F77C1B3CF}"/>
              </a:ext>
            </a:extLst>
          </p:cNvPr>
          <p:cNvCxnSpPr/>
          <p:nvPr/>
        </p:nvCxnSpPr>
        <p:spPr bwMode="auto">
          <a:xfrm flipH="1">
            <a:off x="426181" y="6349162"/>
            <a:ext cx="1371600" cy="0"/>
          </a:xfrm>
          <a:prstGeom prst="straightConnector1">
            <a:avLst/>
          </a:prstGeom>
          <a:noFill/>
          <a:ln w="9525" cap="flat" cmpd="sng" algn="ctr">
            <a:solidFill>
              <a:srgbClr val="C00000"/>
            </a:solidFill>
            <a:prstDash val="solid"/>
            <a:round/>
            <a:headEnd type="none" w="med" len="med"/>
            <a:tailEnd type="triangle"/>
          </a:ln>
          <a:effectLst/>
        </p:spPr>
      </p:cxnSp>
      <p:grpSp>
        <p:nvGrpSpPr>
          <p:cNvPr id="27" name="Group 26"/>
          <p:cNvGrpSpPr/>
          <p:nvPr/>
        </p:nvGrpSpPr>
        <p:grpSpPr>
          <a:xfrm>
            <a:off x="1984978" y="947234"/>
            <a:ext cx="5204525" cy="2862385"/>
            <a:chOff x="1196275" y="805422"/>
            <a:chExt cx="5889416" cy="3554856"/>
          </a:xfrm>
        </p:grpSpPr>
        <p:grpSp>
          <p:nvGrpSpPr>
            <p:cNvPr id="28" name="Group 27"/>
            <p:cNvGrpSpPr/>
            <p:nvPr/>
          </p:nvGrpSpPr>
          <p:grpSpPr>
            <a:xfrm>
              <a:off x="2780391" y="805422"/>
              <a:ext cx="4305300" cy="2712480"/>
              <a:chOff x="2874491" y="438296"/>
              <a:chExt cx="4305300" cy="3164992"/>
            </a:xfrm>
          </p:grpSpPr>
          <p:sp>
            <p:nvSpPr>
              <p:cNvPr id="38" name="Rectangle 37"/>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p>
            </p:txBody>
          </p:sp>
          <p:cxnSp>
            <p:nvCxnSpPr>
              <p:cNvPr id="45" name="Straight Connector 44"/>
              <p:cNvCxnSpPr>
                <a:stCxn id="39" idx="0"/>
                <a:endCxn id="38"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52"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p:nvSpPr>
            <p:spPr>
              <a:xfrm>
                <a:off x="3592975" y="2795783"/>
                <a:ext cx="831444" cy="538683"/>
              </a:xfrm>
              <a:prstGeom prst="rect">
                <a:avLst/>
              </a:prstGeom>
              <a:noFill/>
            </p:spPr>
            <p:txBody>
              <a:bodyPr wrap="square" rtlCol="0">
                <a:spAutoFit/>
              </a:bodyPr>
              <a:lstStyle/>
              <a:p>
                <a:pPr algn="ctr"/>
                <a:r>
                  <a:rPr lang="en-US" sz="1200">
                    <a:latin typeface="Arial Narrow" panose="020B0606020202030204" pitchFamily="34" charset="0"/>
                  </a:rPr>
                  <a:t>Camera</a:t>
                </a:r>
              </a:p>
              <a:p>
                <a:pPr algn="ctr"/>
                <a:r>
                  <a:rPr lang="en-US" sz="1200">
                    <a:latin typeface="Arial Narrow" panose="020B0606020202030204" pitchFamily="34" charset="0"/>
                  </a:rPr>
                  <a:t>CS2000</a:t>
                </a:r>
              </a:p>
            </p:txBody>
          </p:sp>
          <p:sp>
            <p:nvSpPr>
              <p:cNvPr id="61" name="TextBox 60"/>
              <p:cNvSpPr txBox="1"/>
              <p:nvPr/>
            </p:nvSpPr>
            <p:spPr>
              <a:xfrm>
                <a:off x="3742628" y="438296"/>
                <a:ext cx="526409" cy="490601"/>
              </a:xfrm>
              <a:prstGeom prst="rect">
                <a:avLst/>
              </a:prstGeom>
              <a:noFill/>
            </p:spPr>
            <p:txBody>
              <a:bodyPr wrap="none" rtlCol="0">
                <a:spAutoFit/>
              </a:bodyPr>
              <a:lstStyle/>
              <a:p>
                <a:r>
                  <a:rPr lang="en-US" sz="1600">
                    <a:latin typeface="Arial Narrow" panose="020B0606020202030204" pitchFamily="34" charset="0"/>
                  </a:rPr>
                  <a:t>PID</a:t>
                </a:r>
              </a:p>
            </p:txBody>
          </p:sp>
          <p:sp>
            <p:nvSpPr>
              <p:cNvPr id="62" name="TextBox 61"/>
              <p:cNvSpPr txBox="1"/>
              <p:nvPr/>
            </p:nvSpPr>
            <p:spPr>
              <a:xfrm>
                <a:off x="5819779" y="438296"/>
                <a:ext cx="537293" cy="490601"/>
              </a:xfrm>
              <a:prstGeom prst="rect">
                <a:avLst/>
              </a:prstGeom>
              <a:noFill/>
            </p:spPr>
            <p:txBody>
              <a:bodyPr wrap="none" rtlCol="0">
                <a:spAutoFit/>
              </a:bodyPr>
              <a:lstStyle/>
              <a:p>
                <a:r>
                  <a:rPr lang="en-US" sz="1600">
                    <a:latin typeface="Arial Narrow" panose="020B0606020202030204" pitchFamily="34" charset="0"/>
                  </a:rPr>
                  <a:t>CID</a:t>
                </a:r>
              </a:p>
            </p:txBody>
          </p:sp>
          <p:cxnSp>
            <p:nvCxnSpPr>
              <p:cNvPr id="17" name="Straight Connector 16"/>
              <p:cNvCxnSpPr>
                <a:endCxn id="39" idx="2"/>
              </p:cNvCxnSpPr>
              <p:nvPr/>
            </p:nvCxnSpPr>
            <p:spPr>
              <a:xfrm>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39" idx="0"/>
              </p:cNvCxnSpPr>
              <p:nvPr/>
            </p:nvCxnSpPr>
            <p:spPr>
              <a:xfrm flipH="1">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261339" y="1967733"/>
                <a:ext cx="1558440" cy="338554"/>
              </a:xfrm>
              <a:prstGeom prst="rect">
                <a:avLst/>
              </a:prstGeom>
              <a:noFill/>
            </p:spPr>
            <p:txBody>
              <a:bodyPr wrap="none" rtlCol="0">
                <a:spAutoFit/>
              </a:bodyPr>
              <a:lstStyle/>
              <a:p>
                <a:r>
                  <a:rPr lang="en-US" sz="1600">
                    <a:latin typeface="Arial Narrow" panose="020B0606020202030204" pitchFamily="34" charset="0"/>
                  </a:rPr>
                  <a:t>J1 Dual PPR RHD</a:t>
                </a:r>
              </a:p>
            </p:txBody>
          </p:sp>
          <p:sp>
            <p:nvSpPr>
              <p:cNvPr id="68" name="TextBox 67"/>
              <p:cNvSpPr txBox="1"/>
              <p:nvPr/>
            </p:nvSpPr>
            <p:spPr>
              <a:xfrm>
                <a:off x="4407816" y="1209084"/>
                <a:ext cx="470000" cy="314312"/>
              </a:xfrm>
              <a:prstGeom prst="rect">
                <a:avLst/>
              </a:prstGeom>
              <a:noFill/>
            </p:spPr>
            <p:txBody>
              <a:bodyPr wrap="none" rtlCol="0">
                <a:spAutoFit/>
              </a:bodyPr>
              <a:lstStyle/>
              <a:p>
                <a:r>
                  <a:rPr lang="en-US" sz="900">
                    <a:latin typeface="Arial Narrow" panose="020B0606020202030204" pitchFamily="34" charset="0"/>
                  </a:rPr>
                  <a:t>Center</a:t>
                </a:r>
              </a:p>
            </p:txBody>
          </p:sp>
        </p:grpSp>
        <p:pic>
          <p:nvPicPr>
            <p:cNvPr id="70" name="Picture 69"/>
            <p:cNvPicPr>
              <a:picLocks noChangeAspect="1"/>
            </p:cNvPicPr>
            <p:nvPr/>
          </p:nvPicPr>
          <p:blipFill>
            <a:blip r:embed="rId2"/>
            <a:stretch>
              <a:fillRect/>
            </a:stretch>
          </p:blipFill>
          <p:spPr>
            <a:xfrm>
              <a:off x="1196275" y="2700544"/>
              <a:ext cx="1702020" cy="1659734"/>
            </a:xfrm>
            <a:prstGeom prst="rect">
              <a:avLst/>
            </a:prstGeom>
          </p:spPr>
        </p:pic>
        <p:sp>
          <p:nvSpPr>
            <p:cNvPr id="5" name="Oval 4"/>
            <p:cNvSpPr/>
            <p:nvPr/>
          </p:nvSpPr>
          <p:spPr>
            <a:xfrm>
              <a:off x="3753070" y="1466007"/>
              <a:ext cx="323055" cy="3198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p:cNvCxnSpPr/>
            <p:nvPr/>
          </p:nvCxnSpPr>
          <p:spPr>
            <a:xfrm flipH="1">
              <a:off x="4105275" y="1613358"/>
              <a:ext cx="267247" cy="73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196275" y="2700544"/>
              <a:ext cx="1702020" cy="16597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3"/>
            </p:cNvCxnSpPr>
            <p:nvPr/>
          </p:nvCxnSpPr>
          <p:spPr>
            <a:xfrm flipH="1">
              <a:off x="1196275" y="1739010"/>
              <a:ext cx="2604105"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 idx="3"/>
            </p:cNvCxnSpPr>
            <p:nvPr/>
          </p:nvCxnSpPr>
          <p:spPr>
            <a:xfrm flipH="1">
              <a:off x="2896154" y="1739010"/>
              <a:ext cx="904226"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3" name="TextBox 62"/>
          <p:cNvSpPr txBox="1"/>
          <p:nvPr/>
        </p:nvSpPr>
        <p:spPr>
          <a:xfrm>
            <a:off x="142491" y="877319"/>
            <a:ext cx="3139783" cy="461665"/>
          </a:xfrm>
          <a:prstGeom prst="rect">
            <a:avLst/>
          </a:prstGeom>
          <a:noFill/>
        </p:spPr>
        <p:txBody>
          <a:bodyPr wrap="square" rtlCol="0">
            <a:spAutoFit/>
          </a:bodyPr>
          <a:lstStyle/>
          <a:p>
            <a:r>
              <a:rPr lang="en-US" sz="1100" dirty="0">
                <a:latin typeface="Arial Narrow" panose="020B0606020202030204" pitchFamily="34" charset="0"/>
              </a:rPr>
              <a:t>1. Camera position is correct after checking.</a:t>
            </a:r>
          </a:p>
          <a:p>
            <a:r>
              <a:rPr lang="en-US" sz="1100" dirty="0">
                <a:latin typeface="Arial Narrow" panose="020B0606020202030204" pitchFamily="34" charset="0"/>
                <a:sym typeface="Wingdings" panose="05000000000000000000" pitchFamily="2" charset="2"/>
              </a:rPr>
              <a:t> Camera center coincides with the SET center</a:t>
            </a:r>
            <a:r>
              <a:rPr lang="en-US" sz="1100" dirty="0">
                <a:latin typeface="Arial Narrow" panose="020B0606020202030204" pitchFamily="34" charset="0"/>
              </a:rPr>
              <a:t> </a:t>
            </a:r>
          </a:p>
        </p:txBody>
      </p:sp>
      <p:sp>
        <p:nvSpPr>
          <p:cNvPr id="71" name="TextBox 70"/>
          <p:cNvSpPr txBox="1"/>
          <p:nvPr/>
        </p:nvSpPr>
        <p:spPr>
          <a:xfrm>
            <a:off x="327172" y="3868129"/>
            <a:ext cx="8313888" cy="461665"/>
          </a:xfrm>
          <a:prstGeom prst="rect">
            <a:avLst/>
          </a:prstGeom>
          <a:noFill/>
        </p:spPr>
        <p:txBody>
          <a:bodyPr wrap="square" rtlCol="0">
            <a:spAutoFit/>
          </a:bodyPr>
          <a:lstStyle/>
          <a:p>
            <a:r>
              <a:rPr lang="en-US" sz="1100" dirty="0">
                <a:latin typeface="Arial Narrow" panose="020B0606020202030204" pitchFamily="34" charset="0"/>
              </a:rPr>
              <a:t>2. Motion of J1 Dual PPR LHD and RHD in the same position. </a:t>
            </a:r>
            <a:r>
              <a:rPr lang="en-US" sz="1100" dirty="0">
                <a:latin typeface="Arial Narrow" panose="020B0606020202030204" pitchFamily="34" charset="0"/>
                <a:sym typeface="Wingdings" panose="05000000000000000000" pitchFamily="2" charset="2"/>
              </a:rPr>
              <a:t> If position of axis-servo is not correct, Model J1 PPR LHD will be NG. </a:t>
            </a:r>
            <a:endParaRPr lang="en-US" sz="1200" dirty="0">
              <a:latin typeface="Arial Narrow" panose="020B0606020202030204" pitchFamily="34" charset="0"/>
            </a:endParaRPr>
          </a:p>
          <a:p>
            <a:r>
              <a:rPr lang="en-US" sz="1100" dirty="0">
                <a:latin typeface="Arial Narrow" panose="020B0606020202030204" pitchFamily="34" charset="0"/>
                <a:sym typeface="Wingdings" panose="05000000000000000000" pitchFamily="2" charset="2"/>
              </a:rPr>
              <a:t>(Same axis-servo position 48 and 49)</a:t>
            </a:r>
            <a:endParaRPr lang="en-US" sz="1200" dirty="0">
              <a:latin typeface="Arial Narrow" panose="020B0606020202030204" pitchFamily="34" charset="0"/>
            </a:endParaRPr>
          </a:p>
        </p:txBody>
      </p:sp>
      <p:pic>
        <p:nvPicPr>
          <p:cNvPr id="33" name="Picture 32"/>
          <p:cNvPicPr>
            <a:picLocks noChangeAspect="1"/>
          </p:cNvPicPr>
          <p:nvPr/>
        </p:nvPicPr>
        <p:blipFill>
          <a:blip r:embed="rId3"/>
          <a:stretch>
            <a:fillRect/>
          </a:stretch>
        </p:blipFill>
        <p:spPr>
          <a:xfrm>
            <a:off x="426181" y="5144816"/>
            <a:ext cx="4478306" cy="1552310"/>
          </a:xfrm>
          <a:prstGeom prst="rect">
            <a:avLst/>
          </a:prstGeom>
        </p:spPr>
      </p:pic>
      <p:pic>
        <p:nvPicPr>
          <p:cNvPr id="34" name="Picture 33"/>
          <p:cNvPicPr>
            <a:picLocks/>
          </p:cNvPicPr>
          <p:nvPr/>
        </p:nvPicPr>
        <p:blipFill>
          <a:blip r:embed="rId4"/>
          <a:stretch>
            <a:fillRect/>
          </a:stretch>
        </p:blipFill>
        <p:spPr>
          <a:xfrm>
            <a:off x="5287188" y="5144816"/>
            <a:ext cx="4479533" cy="1554480"/>
          </a:xfrm>
          <a:prstGeom prst="rect">
            <a:avLst/>
          </a:prstGeom>
        </p:spPr>
      </p:pic>
      <p:cxnSp>
        <p:nvCxnSpPr>
          <p:cNvPr id="36" name="Straight Connector 35"/>
          <p:cNvCxnSpPr/>
          <p:nvPr/>
        </p:nvCxnSpPr>
        <p:spPr>
          <a:xfrm>
            <a:off x="5095837" y="5144816"/>
            <a:ext cx="0" cy="15544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rotWithShape="1">
          <a:blip r:embed="rId5"/>
          <a:srcRect t="2551"/>
          <a:stretch/>
        </p:blipFill>
        <p:spPr>
          <a:xfrm>
            <a:off x="2423836" y="4340760"/>
            <a:ext cx="5106113" cy="668702"/>
          </a:xfrm>
          <a:prstGeom prst="rect">
            <a:avLst/>
          </a:prstGeom>
        </p:spPr>
      </p:pic>
      <p:sp>
        <p:nvSpPr>
          <p:cNvPr id="37" name="AutoShape 57">
            <a:extLst>
              <a:ext uri="{FF2B5EF4-FFF2-40B4-BE49-F238E27FC236}">
                <a16:creationId xmlns:a16="http://schemas.microsoft.com/office/drawing/2014/main" id="{68DDE1B3-3D28-43A2-9A04-83B6A91CE5E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43" name="AutoShape 55">
            <a:extLst>
              <a:ext uri="{FF2B5EF4-FFF2-40B4-BE49-F238E27FC236}">
                <a16:creationId xmlns:a16="http://schemas.microsoft.com/office/drawing/2014/main" id="{79FEF9DE-91F2-466D-8D5A-77EA15C545BE}"/>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44" name="AutoShape 56">
            <a:extLst>
              <a:ext uri="{FF2B5EF4-FFF2-40B4-BE49-F238E27FC236}">
                <a16:creationId xmlns:a16="http://schemas.microsoft.com/office/drawing/2014/main" id="{090CE2DB-80F1-4E32-BAFD-64B2789C99F7}"/>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sp>
        <p:nvSpPr>
          <p:cNvPr id="46" name="AutoShape 59">
            <a:extLst>
              <a:ext uri="{FF2B5EF4-FFF2-40B4-BE49-F238E27FC236}">
                <a16:creationId xmlns:a16="http://schemas.microsoft.com/office/drawing/2014/main" id="{3264D4EE-B2E7-41C4-B5D1-4BC9AD3C777F}"/>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47" name="AutoShape 58">
            <a:extLst>
              <a:ext uri="{FF2B5EF4-FFF2-40B4-BE49-F238E27FC236}">
                <a16:creationId xmlns:a16="http://schemas.microsoft.com/office/drawing/2014/main" id="{42D6958D-B1E2-4DD9-96D1-51C0AB9FB66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sp>
        <p:nvSpPr>
          <p:cNvPr id="49" name="TextBox 48">
            <a:extLst>
              <a:ext uri="{FF2B5EF4-FFF2-40B4-BE49-F238E27FC236}">
                <a16:creationId xmlns:a16="http://schemas.microsoft.com/office/drawing/2014/main" id="{8798F2BE-084D-42A1-A858-95A723788943}"/>
              </a:ext>
            </a:extLst>
          </p:cNvPr>
          <p:cNvSpPr txBox="1"/>
          <p:nvPr/>
        </p:nvSpPr>
        <p:spPr>
          <a:xfrm>
            <a:off x="63248" y="535377"/>
            <a:ext cx="2801520" cy="276999"/>
          </a:xfrm>
          <a:prstGeom prst="rect">
            <a:avLst/>
          </a:prstGeom>
          <a:noFill/>
        </p:spPr>
        <p:txBody>
          <a:bodyPr wrap="square" rtlCol="0">
            <a:spAutoFit/>
          </a:bodyPr>
          <a:lstStyle/>
          <a:p>
            <a:pPr marL="171450" indent="-171450">
              <a:buFont typeface="Wingdings" panose="05000000000000000000" pitchFamily="2" charset="2"/>
              <a:buChar char="q"/>
            </a:pPr>
            <a:r>
              <a:rPr lang="en-US" sz="1100" b="1" dirty="0">
                <a:latin typeface="Arial" panose="020B0600000101010101" pitchFamily="34" charset="-127"/>
                <a:ea typeface="Arial" panose="020B0600000101010101" pitchFamily="34" charset="-127"/>
                <a:cs typeface="Arial" panose="020B0604020202020204" pitchFamily="34" charset="0"/>
              </a:rPr>
              <a:t>Changing Camera angle</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4" name="제목 1">
            <a:extLst>
              <a:ext uri="{FF2B5EF4-FFF2-40B4-BE49-F238E27FC236}">
                <a16:creationId xmlns:a16="http://schemas.microsoft.com/office/drawing/2014/main" id="{CCCE3919-55FD-41DA-B3C1-6C5CCEBCC1BF}"/>
              </a:ext>
            </a:extLst>
          </p:cNvPr>
          <p:cNvSpPr txBox="1">
            <a:spLocks/>
          </p:cNvSpPr>
          <p:nvPr/>
        </p:nvSpPr>
        <p:spPr>
          <a:xfrm>
            <a:off x="127002" y="85711"/>
            <a:ext cx="4249934" cy="418058"/>
          </a:xfrm>
          <a:prstGeom prst="rect">
            <a:avLst/>
          </a:prstGeom>
        </p:spPr>
        <p:txBody>
          <a:bodyPr vert="horz" lIns="91440" tIns="45720" rIns="91440" bIns="45720" rtlCol="0" anchor="ctr">
            <a:noAutofit/>
          </a:bodyPr>
          <a:lstStyle/>
          <a:p>
            <a:pPr lvl="0" eaLnBrk="0" hangingPunct="0">
              <a:defRPr/>
            </a:pPr>
            <a:r>
              <a:rPr lang="vi-VN" altLang="ko-KR" sz="1600" b="1" kern="0" dirty="0">
                <a:latin typeface="Arial Narrow" panose="020B0606020202030204" pitchFamily="34" charset="0"/>
                <a:ea typeface="Arial Unicode MS" panose="020B0604020202020204" pitchFamily="34" charset="-128"/>
                <a:cs typeface="Arial" panose="020B0604020202020204" pitchFamily="34" charset="0"/>
              </a:rPr>
              <a:t>4.1</a:t>
            </a: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 </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Improvement</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activity of measurement system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56" name="Straight Connector 55">
            <a:extLst>
              <a:ext uri="{FF2B5EF4-FFF2-40B4-BE49-F238E27FC236}">
                <a16:creationId xmlns:a16="http://schemas.microsoft.com/office/drawing/2014/main" id="{1891B0EE-1FBE-46BF-A1A2-CA4A34E5075A}"/>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4306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35"/>
          <p:cNvGraphicFramePr>
            <a:graphicFrameLocks noGrp="1"/>
          </p:cNvGraphicFramePr>
          <p:nvPr/>
        </p:nvGraphicFramePr>
        <p:xfrm>
          <a:off x="425381" y="820753"/>
          <a:ext cx="3765983" cy="5760597"/>
        </p:xfrm>
        <a:graphic>
          <a:graphicData uri="http://schemas.openxmlformats.org/drawingml/2006/table">
            <a:tbl>
              <a:tblPr/>
              <a:tblGrid>
                <a:gridCol w="386956">
                  <a:extLst>
                    <a:ext uri="{9D8B030D-6E8A-4147-A177-3AD203B41FA5}">
                      <a16:colId xmlns:a16="http://schemas.microsoft.com/office/drawing/2014/main" val="20000"/>
                    </a:ext>
                  </a:extLst>
                </a:gridCol>
                <a:gridCol w="994169">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898958">
                  <a:extLst>
                    <a:ext uri="{9D8B030D-6E8A-4147-A177-3AD203B41FA5}">
                      <a16:colId xmlns:a16="http://schemas.microsoft.com/office/drawing/2014/main" val="20004"/>
                    </a:ext>
                  </a:extLst>
                </a:gridCol>
              </a:tblGrid>
              <a:tr h="204469">
                <a:tc rowSpan="2">
                  <a:txBody>
                    <a:bodyPr/>
                    <a:lstStyle/>
                    <a:p>
                      <a:pPr algn="ctr" fontAlgn="ctr"/>
                      <a:r>
                        <a:rPr lang="en-US" sz="900" b="1" i="0" u="none" strike="noStrike" dirty="0">
                          <a:solidFill>
                            <a:srgbClr val="000000"/>
                          </a:solidFill>
                          <a:effectLst/>
                          <a:latin typeface="Arial" panose="020B0604020202020204" pitchFamily="34" charset="0"/>
                        </a:rPr>
                        <a:t>No</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gridSpan="3">
                  <a:txBody>
                    <a:bodyPr/>
                    <a:lstStyle/>
                    <a:p>
                      <a:pPr algn="ctr" fontAlgn="ctr"/>
                      <a:r>
                        <a:rPr lang="en-US" sz="900" b="1" i="0" u="none" strike="noStrike" dirty="0">
                          <a:solidFill>
                            <a:srgbClr val="000000"/>
                          </a:solidFill>
                          <a:effectLst/>
                          <a:latin typeface="Arial" panose="020B0604020202020204" pitchFamily="34" charset="0"/>
                        </a:rPr>
                        <a:t>IVI</a:t>
                      </a:r>
                      <a:r>
                        <a:rPr lang="en-US" sz="900" b="1" i="0" u="none" strike="noStrike" baseline="0" dirty="0">
                          <a:solidFill>
                            <a:srgbClr val="000000"/>
                          </a:solidFill>
                          <a:effectLst/>
                          <a:latin typeface="Arial" panose="020B0604020202020204" pitchFamily="34" charset="0"/>
                        </a:rPr>
                        <a:t> 5 LINE</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tc>
                <a:tc hMerge="1">
                  <a:txBody>
                    <a:bodyPr/>
                    <a:lstStyle/>
                    <a:p>
                      <a:pPr algn="ctr" fontAlgn="ct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r>
                        <a:rPr lang="en-US" altLang="ko-KR" sz="900" b="1" i="0" u="none" strike="noStrike" dirty="0">
                          <a:solidFill>
                            <a:srgbClr val="000000"/>
                          </a:solidFill>
                          <a:effectLst/>
                          <a:latin typeface="Arial" panose="020B0604020202020204" pitchFamily="34" charset="0"/>
                        </a:rPr>
                        <a:t>CS2000</a:t>
                      </a:r>
                    </a:p>
                    <a:p>
                      <a:pPr algn="ctr" fontAlgn="ctr"/>
                      <a:r>
                        <a:rPr lang="en-US" altLang="ko-KR" sz="900" b="1" i="0" u="none" strike="noStrike" dirty="0">
                          <a:solidFill>
                            <a:srgbClr val="000000"/>
                          </a:solidFill>
                          <a:effectLst/>
                          <a:latin typeface="Arial" panose="020B0604020202020204" pitchFamily="34" charset="0"/>
                        </a:rPr>
                        <a:t>Apply luminance compensation</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9239">
                <a:tc vMerge="1">
                  <a:txBody>
                    <a:bodyPr/>
                    <a:lstStyle/>
                    <a:p>
                      <a:pPr latinLnBrk="1"/>
                      <a:endParaRPr lang="ko-KR" altLang="en-US"/>
                    </a:p>
                  </a:txBody>
                  <a:tcPr/>
                </a:tc>
                <a:tc gridSpan="2">
                  <a:txBody>
                    <a:bodyPr/>
                    <a:lstStyle/>
                    <a:p>
                      <a:pPr algn="ctr" fontAlgn="ctr"/>
                      <a:r>
                        <a:rPr lang="en-US" sz="900" b="1" i="0" u="none" strike="noStrike" dirty="0">
                          <a:solidFill>
                            <a:srgbClr val="000000"/>
                          </a:solidFill>
                          <a:effectLst/>
                          <a:latin typeface="Arial" panose="020B0604020202020204" pitchFamily="34" charset="0"/>
                        </a:rPr>
                        <a:t>Model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a:txBody>
                    <a:bodyPr/>
                    <a:lstStyle/>
                    <a:p>
                      <a:pPr algn="ctr" fontAlgn="ctr"/>
                      <a:r>
                        <a:rPr lang="en-US" sz="900" b="1" i="0" u="none" strike="noStrike" dirty="0">
                          <a:solidFill>
                            <a:srgbClr val="000000"/>
                          </a:solidFill>
                          <a:effectLst/>
                          <a:latin typeface="Arial" panose="020B0604020202020204" pitchFamily="34" charset="0"/>
                        </a:rPr>
                        <a:t>BLU Type</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latinLnBrk="1"/>
                      <a:endParaRPr lang="ko-KR" altLang="en-US"/>
                    </a:p>
                  </a:txBody>
                  <a:tcPr/>
                </a:tc>
                <a:extLst>
                  <a:ext uri="{0D108BD9-81ED-4DB2-BD59-A6C34878D82A}">
                    <a16:rowId xmlns:a16="http://schemas.microsoft.com/office/drawing/2014/main" val="10001"/>
                  </a:ext>
                </a:extLst>
              </a:tr>
              <a:tr h="200198">
                <a:tc>
                  <a:txBody>
                    <a:bodyPr/>
                    <a:lstStyle/>
                    <a:p>
                      <a:pPr algn="ctr" fontAlgn="ctr"/>
                      <a:r>
                        <a:rPr lang="en-US" sz="900" b="0" i="0" u="none" strike="noStrike">
                          <a:solidFill>
                            <a:srgbClr val="000000"/>
                          </a:solidFill>
                          <a:effectLst/>
                          <a:latin typeface="Arial" panose="020B0604020202020204" pitchFamily="34" charset="0"/>
                        </a:rPr>
                        <a:t>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Bentayga(Bently)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198">
                <a:tc>
                  <a:txBody>
                    <a:bodyPr/>
                    <a:lstStyle/>
                    <a:p>
                      <a:pPr algn="ctr" fontAlgn="ctr"/>
                      <a:r>
                        <a:rPr lang="en-US" sz="900" b="0" i="0" u="none" strike="noStrike">
                          <a:solidFill>
                            <a:srgbClr val="000000"/>
                          </a:solidFill>
                          <a:effectLst/>
                          <a:latin typeface="Arial" panose="020B0604020202020204" pitchFamily="34" charset="0"/>
                        </a:rPr>
                        <a:t>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Macan</a:t>
                      </a:r>
                      <a:r>
                        <a:rPr lang="en-US" sz="900" b="0" i="0" u="none" strike="noStrike" kern="1200" baseline="0" dirty="0">
                          <a:solidFill>
                            <a:srgbClr val="000000"/>
                          </a:solidFill>
                          <a:effectLst/>
                          <a:latin typeface="Arial" panose="020B0604020202020204" pitchFamily="34" charset="0"/>
                          <a:ea typeface="+mn-ea"/>
                          <a:cs typeface="+mn-cs"/>
                        </a:rPr>
                        <a:t> LZV</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198">
                <a:tc>
                  <a:txBody>
                    <a:bodyPr/>
                    <a:lstStyle/>
                    <a:p>
                      <a:pPr algn="ctr" fontAlgn="ctr"/>
                      <a:r>
                        <a:rPr lang="en-US" sz="900" b="0" i="0" u="none" strike="noStrike" dirty="0">
                          <a:solidFill>
                            <a:srgbClr val="000000"/>
                          </a:solidFill>
                          <a:effectLst/>
                          <a:latin typeface="Arial" panose="020B0604020202020204" pitchFamily="34" charset="0"/>
                        </a:rPr>
                        <a:t>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992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198">
                <a:tc>
                  <a:txBody>
                    <a:bodyPr/>
                    <a:lstStyle/>
                    <a:p>
                      <a:pPr algn="ctr" fontAlgn="ctr"/>
                      <a:r>
                        <a:rPr lang="en-US" sz="900" b="0" i="0" u="none" strike="noStrike" dirty="0">
                          <a:solidFill>
                            <a:srgbClr val="000000"/>
                          </a:solidFill>
                          <a:effectLst/>
                          <a:latin typeface="Arial" panose="020B0604020202020204" pitchFamily="34" charset="0"/>
                        </a:rPr>
                        <a:t>4</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J1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198">
                <a:tc>
                  <a:txBody>
                    <a:bodyPr/>
                    <a:lstStyle/>
                    <a:p>
                      <a:pPr algn="ctr" fontAlgn="ctr"/>
                      <a:r>
                        <a:rPr lang="en-US" sz="900" b="0" i="0" u="none" strike="noStrike" dirty="0">
                          <a:solidFill>
                            <a:srgbClr val="000000"/>
                          </a:solidFill>
                          <a:effectLst/>
                          <a:latin typeface="Arial" panose="020B0604020202020204" pitchFamily="34" charset="0"/>
                        </a:rPr>
                        <a:t>5</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G3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198">
                <a:tc>
                  <a:txBody>
                    <a:bodyPr/>
                    <a:lstStyle/>
                    <a:p>
                      <a:pPr algn="ctr" fontAlgn="ctr"/>
                      <a:r>
                        <a:rPr lang="en-US" sz="900" b="0" i="0" u="none" strike="noStrike" dirty="0">
                          <a:solidFill>
                            <a:srgbClr val="000000"/>
                          </a:solidFill>
                          <a:effectLst/>
                          <a:latin typeface="Arial" panose="020B0604020202020204" pitchFamily="34" charset="0"/>
                        </a:rPr>
                        <a:t>6</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CID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198">
                <a:tc>
                  <a:txBody>
                    <a:bodyPr/>
                    <a:lstStyle/>
                    <a:p>
                      <a:pPr algn="ctr" fontAlgn="ctr"/>
                      <a:r>
                        <a:rPr lang="en-US" sz="900" b="0" i="0" u="none" strike="noStrike" dirty="0">
                          <a:solidFill>
                            <a:srgbClr val="000000"/>
                          </a:solidFill>
                          <a:effectLst/>
                          <a:latin typeface="Arial" panose="020B0604020202020204" pitchFamily="34" charset="0"/>
                        </a:rPr>
                        <a:t>7</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J1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00198">
                <a:tc rowSpan="4">
                  <a:txBody>
                    <a:bodyPr/>
                    <a:lstStyle/>
                    <a:p>
                      <a:r>
                        <a:rPr sz="1000" b="0">
                          <a:latin typeface="Arial"/>
                        </a:rPr>
                        <a:t>8</a:t>
                      </a:r>
                    </a:p>
                    <a:p>
                      <a:r>
                        <a:rPr sz="1000" b="0">
                          <a:latin typeface="Arial"/>
                        </a:rPr>
                        <a:t>(Discontinued)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J1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J1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fontAlgn="ct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00198">
                <a:tc>
                  <a:txBody>
                    <a:bodyPr/>
                    <a:lstStyle/>
                    <a:p>
                      <a:pPr algn="ctr" fontAlgn="ctr"/>
                      <a:r>
                        <a:rPr lang="en-US" sz="900" b="0" i="0" u="none" strike="noStrike" dirty="0">
                          <a:solidFill>
                            <a:srgbClr val="000000"/>
                          </a:solidFill>
                          <a:effectLst/>
                          <a:latin typeface="Arial" panose="020B0604020202020204" pitchFamily="34" charset="0"/>
                        </a:rPr>
                        <a:t>9</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Lamborghini</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00198">
                <a:tc rowSpan="4">
                  <a:txBody>
                    <a:bodyPr/>
                    <a:lstStyle/>
                    <a:p>
                      <a:pPr algn="ctr" fontAlgn="ctr"/>
                      <a:r>
                        <a:rPr lang="en-US" sz="900" b="0" i="0" u="none" strike="noStrike" dirty="0">
                          <a:solidFill>
                            <a:srgbClr val="000000"/>
                          </a:solidFill>
                          <a:effectLst/>
                          <a:latin typeface="Arial" panose="020B0604020202020204" pitchFamily="34" charset="0"/>
                        </a:rPr>
                        <a:t>10</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LHD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4"/>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fontAlgn="ct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RHD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16"/>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fontAlgn="ct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00198">
                <a:tc rowSpan="4">
                  <a:txBody>
                    <a:bodyPr/>
                    <a:lstStyle/>
                    <a:p>
                      <a:pPr algn="ctr" fontAlgn="ctr"/>
                      <a:r>
                        <a:rPr lang="en-US" sz="900" b="0" i="0" u="none" strike="noStrike" dirty="0">
                          <a:solidFill>
                            <a:srgbClr val="000000"/>
                          </a:solidFill>
                          <a:effectLst/>
                          <a:latin typeface="Arial" panose="020B0604020202020204" pitchFamily="34" charset="0"/>
                        </a:rPr>
                        <a:t>11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G3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8"/>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G3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0"/>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fontAlgn="ct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00198">
                <a:tc rowSpan="4">
                  <a:txBody>
                    <a:bodyPr/>
                    <a:lstStyle/>
                    <a:p>
                      <a:pPr algn="ctr" fontAlgn="ctr"/>
                      <a:r>
                        <a:rPr lang="en-US" sz="900" b="0" i="0" u="none" strike="noStrike" dirty="0">
                          <a:solidFill>
                            <a:srgbClr val="000000"/>
                          </a:solidFill>
                          <a:effectLst/>
                          <a:latin typeface="Arial" panose="020B0604020202020204" pitchFamily="34" charset="0"/>
                        </a:rPr>
                        <a:t>12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J1 Dual PPR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22"/>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fontAlgn="ct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J1 Dual PPR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4"/>
                  </a:ext>
                </a:extLst>
              </a:tr>
              <a:tr h="200198">
                <a:tc vMerge="1">
                  <a:txBody>
                    <a:bodyPr/>
                    <a:lstStyle/>
                    <a:p>
                      <a:pPr algn="ctr" fontAlgn="ctr"/>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fontAlgn="ct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200198">
                <a:tc>
                  <a:txBody>
                    <a:bodyPr/>
                    <a:lstStyle/>
                    <a:p>
                      <a:pPr algn="ctr" fontAlgn="ctr"/>
                      <a:r>
                        <a:rPr lang="en-US" sz="900" b="0" i="0" u="none" strike="noStrike" dirty="0">
                          <a:solidFill>
                            <a:srgbClr val="000000"/>
                          </a:solidFill>
                          <a:effectLst/>
                          <a:latin typeface="Arial" panose="020B0604020202020204" pitchFamily="34" charset="0"/>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G2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200198">
                <a:tc>
                  <a:txBody>
                    <a:bodyPr/>
                    <a:lstStyle/>
                    <a:p>
                      <a:pPr algn="ctr" fontAlgn="ctr"/>
                      <a:r>
                        <a:rPr lang="en-US" sz="900" b="0" i="0" u="none" strike="noStrike" dirty="0">
                          <a:solidFill>
                            <a:srgbClr val="000000"/>
                          </a:solidFill>
                          <a:effectLst/>
                          <a:latin typeface="Arial" panose="020B0604020202020204" pitchFamily="34" charset="0"/>
                        </a:rPr>
                        <a:t>14</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ctr"/>
                      <a:r>
                        <a:rPr lang="en-US" sz="900" b="0" i="0" u="none" strike="noStrike" kern="1200" dirty="0">
                          <a:solidFill>
                            <a:srgbClr val="000000"/>
                          </a:solidFill>
                          <a:effectLst/>
                          <a:latin typeface="Arial" panose="020B0604020202020204" pitchFamily="34" charset="0"/>
                          <a:ea typeface="+mn-ea"/>
                          <a:cs typeface="+mn-cs"/>
                        </a:rPr>
                        <a:t>E3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bl>
          </a:graphicData>
        </a:graphic>
      </p:graphicFrame>
      <p:pic>
        <p:nvPicPr>
          <p:cNvPr id="27" name="그림 26"/>
          <p:cNvPicPr>
            <a:picLocks noChangeAspect="1"/>
          </p:cNvPicPr>
          <p:nvPr/>
        </p:nvPicPr>
        <p:blipFill>
          <a:blip r:embed="rId2"/>
          <a:stretch>
            <a:fillRect/>
          </a:stretch>
        </p:blipFill>
        <p:spPr>
          <a:xfrm>
            <a:off x="4797272" y="5053264"/>
            <a:ext cx="1713598" cy="1285199"/>
          </a:xfrm>
          <a:prstGeom prst="rect">
            <a:avLst/>
          </a:prstGeom>
        </p:spPr>
      </p:pic>
      <p:pic>
        <p:nvPicPr>
          <p:cNvPr id="28" name="그림 27"/>
          <p:cNvPicPr>
            <a:picLocks noChangeAspect="1"/>
          </p:cNvPicPr>
          <p:nvPr/>
        </p:nvPicPr>
        <p:blipFill>
          <a:blip r:embed="rId3"/>
          <a:stretch>
            <a:fillRect/>
          </a:stretch>
        </p:blipFill>
        <p:spPr>
          <a:xfrm>
            <a:off x="7301071" y="5076792"/>
            <a:ext cx="1650858" cy="1238144"/>
          </a:xfrm>
          <a:prstGeom prst="rect">
            <a:avLst/>
          </a:prstGeom>
        </p:spPr>
      </p:pic>
      <p:sp>
        <p:nvSpPr>
          <p:cNvPr id="29" name="TextBox 37"/>
          <p:cNvSpPr txBox="1">
            <a:spLocks noChangeArrowheads="1"/>
          </p:cNvSpPr>
          <p:nvPr/>
        </p:nvSpPr>
        <p:spPr bwMode="auto">
          <a:xfrm>
            <a:off x="4702628" y="4600800"/>
            <a:ext cx="17524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a:buFont typeface="Wingdings" panose="05000000000000000000" pitchFamily="2" charset="2"/>
              <a:buChar char="§"/>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View Angle (PID)</a:t>
            </a:r>
          </a:p>
          <a:p>
            <a:pPr marL="0" indent="0">
              <a:defRPr/>
            </a:pPr>
            <a:endParaRPr lang="en-US" altLang="ko-KR" sz="1100" b="0"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0" name="TextBox 37"/>
          <p:cNvSpPr txBox="1">
            <a:spLocks noChangeArrowheads="1"/>
          </p:cNvSpPr>
          <p:nvPr/>
        </p:nvSpPr>
        <p:spPr bwMode="auto">
          <a:xfrm>
            <a:off x="7280550" y="4600800"/>
            <a:ext cx="16914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a:buFont typeface="Wingdings" panose="05000000000000000000" pitchFamily="2" charset="2"/>
              <a:buChar char="§"/>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 View Angle (CID)</a:t>
            </a:r>
          </a:p>
        </p:txBody>
      </p:sp>
      <p:pic>
        <p:nvPicPr>
          <p:cNvPr id="8" name="그림 7"/>
          <p:cNvPicPr>
            <a:picLocks noChangeAspect="1"/>
          </p:cNvPicPr>
          <p:nvPr/>
        </p:nvPicPr>
        <p:blipFill rotWithShape="1">
          <a:blip r:embed="rId4"/>
          <a:srcRect l="52980" t="20433" r="20933" b="68609"/>
          <a:stretch/>
        </p:blipFill>
        <p:spPr>
          <a:xfrm>
            <a:off x="4550818" y="3845476"/>
            <a:ext cx="4723003" cy="557966"/>
          </a:xfrm>
          <a:prstGeom prst="rect">
            <a:avLst/>
          </a:prstGeom>
        </p:spPr>
      </p:pic>
      <p:grpSp>
        <p:nvGrpSpPr>
          <p:cNvPr id="10" name="그룹 9"/>
          <p:cNvGrpSpPr/>
          <p:nvPr/>
        </p:nvGrpSpPr>
        <p:grpSpPr>
          <a:xfrm>
            <a:off x="4766088" y="1806629"/>
            <a:ext cx="4137556" cy="2023142"/>
            <a:chOff x="4889570" y="1204240"/>
            <a:chExt cx="4137556" cy="2023142"/>
          </a:xfrm>
        </p:grpSpPr>
        <p:pic>
          <p:nvPicPr>
            <p:cNvPr id="2" name="그림 1"/>
            <p:cNvPicPr>
              <a:picLocks noChangeAspect="1"/>
            </p:cNvPicPr>
            <p:nvPr/>
          </p:nvPicPr>
          <p:blipFill rotWithShape="1">
            <a:blip r:embed="rId5"/>
            <a:srcRect l="21954" t="30233" r="63077" b="43273"/>
            <a:stretch/>
          </p:blipFill>
          <p:spPr>
            <a:xfrm>
              <a:off x="4889570" y="1353650"/>
              <a:ext cx="3242600" cy="1873732"/>
            </a:xfrm>
            <a:prstGeom prst="rect">
              <a:avLst/>
            </a:prstGeom>
          </p:spPr>
        </p:pic>
        <p:cxnSp>
          <p:nvCxnSpPr>
            <p:cNvPr id="5" name="직선 연결선 4"/>
            <p:cNvCxnSpPr/>
            <p:nvPr/>
          </p:nvCxnSpPr>
          <p:spPr>
            <a:xfrm>
              <a:off x="8126500" y="1812324"/>
              <a:ext cx="255373" cy="0"/>
            </a:xfrm>
            <a:prstGeom prst="line">
              <a:avLst/>
            </a:prstGeom>
            <a:ln w="25400">
              <a:solidFill>
                <a:srgbClr val="EE8943"/>
              </a:solidFill>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a:off x="8126500" y="2001794"/>
              <a:ext cx="25537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TextBox 37"/>
            <p:cNvSpPr txBox="1">
              <a:spLocks noChangeArrowheads="1"/>
            </p:cNvSpPr>
            <p:nvPr/>
          </p:nvSpPr>
          <p:spPr bwMode="auto">
            <a:xfrm>
              <a:off x="8358353" y="1690872"/>
              <a:ext cx="66877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a:t>
              </a:r>
            </a:p>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a:t>
              </a:r>
            </a:p>
          </p:txBody>
        </p:sp>
        <p:cxnSp>
          <p:nvCxnSpPr>
            <p:cNvPr id="36" name="직선 연결선 35"/>
            <p:cNvCxnSpPr/>
            <p:nvPr/>
          </p:nvCxnSpPr>
          <p:spPr>
            <a:xfrm flipV="1">
              <a:off x="6605478" y="1437146"/>
              <a:ext cx="0" cy="15857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 name="직선 연결선 38"/>
            <p:cNvCxnSpPr/>
            <p:nvPr/>
          </p:nvCxnSpPr>
          <p:spPr>
            <a:xfrm flipV="1">
              <a:off x="6535584" y="1437146"/>
              <a:ext cx="0" cy="158575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40" name="TextBox 37"/>
            <p:cNvSpPr txBox="1">
              <a:spLocks noChangeArrowheads="1"/>
            </p:cNvSpPr>
            <p:nvPr/>
          </p:nvSpPr>
          <p:spPr bwMode="auto">
            <a:xfrm>
              <a:off x="6403698" y="1480352"/>
              <a:ext cx="3209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1" name="TextBox 37"/>
            <p:cNvSpPr txBox="1">
              <a:spLocks noChangeArrowheads="1"/>
            </p:cNvSpPr>
            <p:nvPr/>
          </p:nvSpPr>
          <p:spPr bwMode="auto">
            <a:xfrm>
              <a:off x="6189378"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43" name="TextBox 37"/>
            <p:cNvSpPr txBox="1">
              <a:spLocks noChangeArrowheads="1"/>
            </p:cNvSpPr>
            <p:nvPr/>
          </p:nvSpPr>
          <p:spPr bwMode="auto">
            <a:xfrm>
              <a:off x="6582101"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grpSp>
      <p:sp>
        <p:nvSpPr>
          <p:cNvPr id="44" name="직사각형 43"/>
          <p:cNvSpPr/>
          <p:nvPr/>
        </p:nvSpPr>
        <p:spPr>
          <a:xfrm>
            <a:off x="6971579" y="4047013"/>
            <a:ext cx="330783" cy="339783"/>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TextBox 37"/>
          <p:cNvSpPr txBox="1">
            <a:spLocks noChangeArrowheads="1"/>
          </p:cNvSpPr>
          <p:nvPr/>
        </p:nvSpPr>
        <p:spPr bwMode="auto">
          <a:xfrm>
            <a:off x="6834866" y="4384328"/>
            <a:ext cx="3209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ko-KR" sz="11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6" name="TextBox 37"/>
          <p:cNvSpPr txBox="1">
            <a:spLocks noChangeArrowheads="1"/>
          </p:cNvSpPr>
          <p:nvPr/>
        </p:nvSpPr>
        <p:spPr bwMode="auto">
          <a:xfrm>
            <a:off x="6643949" y="4402118"/>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55" name="TextBox 37"/>
          <p:cNvSpPr txBox="1">
            <a:spLocks noChangeArrowheads="1"/>
          </p:cNvSpPr>
          <p:nvPr/>
        </p:nvSpPr>
        <p:spPr bwMode="auto">
          <a:xfrm>
            <a:off x="7034764" y="4402118"/>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sp>
        <p:nvSpPr>
          <p:cNvPr id="64" name="직사각형 63"/>
          <p:cNvSpPr/>
          <p:nvPr/>
        </p:nvSpPr>
        <p:spPr>
          <a:xfrm>
            <a:off x="6630498" y="4047013"/>
            <a:ext cx="330783" cy="339783"/>
          </a:xfrm>
          <a:prstGeom prst="rect">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9" name="개체 8"/>
          <p:cNvGraphicFramePr>
            <a:graphicFrameLocks noChangeAspect="1"/>
          </p:cNvGraphicFramePr>
          <p:nvPr>
            <p:extLst>
              <p:ext uri="{D42A27DB-BD31-4B8C-83A1-F6EECF244321}">
                <p14:modId xmlns:p14="http://schemas.microsoft.com/office/powerpoint/2010/main" val="4216972648"/>
              </p:ext>
            </p:extLst>
          </p:nvPr>
        </p:nvGraphicFramePr>
        <p:xfrm>
          <a:off x="8235539" y="3017987"/>
          <a:ext cx="914400" cy="771525"/>
        </p:xfrm>
        <a:graphic>
          <a:graphicData uri="http://schemas.openxmlformats.org/presentationml/2006/ole">
            <mc:AlternateContent xmlns:mc="http://schemas.openxmlformats.org/markup-compatibility/2006">
              <mc:Choice xmlns:v="urn:schemas-microsoft-com:vml" Requires="v">
                <p:oleObj name="Worksheet" showAsIcon="1" r:id="rId6" imgW="914400" imgH="771480" progId="Excel.Sheet.12">
                  <p:embed/>
                </p:oleObj>
              </mc:Choice>
              <mc:Fallback>
                <p:oleObj name="Worksheet" showAsIcon="1" r:id="rId6" imgW="914400" imgH="771480" progId="Excel.Sheet.12">
                  <p:embed/>
                  <p:pic>
                    <p:nvPicPr>
                      <p:cNvPr id="9" name="개체 8"/>
                      <p:cNvPicPr/>
                      <p:nvPr/>
                    </p:nvPicPr>
                    <p:blipFill>
                      <a:blip r:embed="rId7"/>
                      <a:stretch>
                        <a:fillRect/>
                      </a:stretch>
                    </p:blipFill>
                    <p:spPr>
                      <a:xfrm>
                        <a:off x="8235539" y="3017987"/>
                        <a:ext cx="914400" cy="771525"/>
                      </a:xfrm>
                      <a:prstGeom prst="rect">
                        <a:avLst/>
                      </a:prstGeom>
                    </p:spPr>
                  </p:pic>
                </p:oleObj>
              </mc:Fallback>
            </mc:AlternateContent>
          </a:graphicData>
        </a:graphic>
      </p:graphicFrame>
      <p:sp>
        <p:nvSpPr>
          <p:cNvPr id="66" name="TextBox 37"/>
          <p:cNvSpPr txBox="1">
            <a:spLocks noChangeArrowheads="1"/>
          </p:cNvSpPr>
          <p:nvPr/>
        </p:nvSpPr>
        <p:spPr bwMode="auto">
          <a:xfrm>
            <a:off x="4818857" y="6413741"/>
            <a:ext cx="40382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a:buFont typeface="Wingdings" panose="05000000000000000000" pitchFamily="2" charset="2"/>
              <a:buChar char="§"/>
              <a:defRPr/>
            </a:pPr>
            <a:r>
              <a:rPr lang="en-US" altLang="ko-KR" sz="11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Difference between Privacy &amp; Public Whether or not LCF Film (Louver) is applied </a:t>
            </a:r>
          </a:p>
          <a:p>
            <a:pPr marL="0" indent="0">
              <a:defRPr/>
            </a:pPr>
            <a:r>
              <a:rPr lang="en-US" altLang="ko-KR" sz="11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for Privacy display function within BLU module</a:t>
            </a:r>
          </a:p>
        </p:txBody>
      </p:sp>
      <p:sp>
        <p:nvSpPr>
          <p:cNvPr id="67" name="TextBox 37"/>
          <p:cNvSpPr txBox="1">
            <a:spLocks noChangeArrowheads="1"/>
          </p:cNvSpPr>
          <p:nvPr/>
        </p:nvSpPr>
        <p:spPr bwMode="auto">
          <a:xfrm>
            <a:off x="4485214" y="638277"/>
            <a:ext cx="5420785" cy="746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spcBef>
                <a:spcPts val="300"/>
              </a:spcBef>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 Even if the CS2000 measuring equipment is corrected from the existing 89° to 90°, the RHD Privacy Display</a:t>
            </a:r>
          </a:p>
          <a:p>
            <a:pPr marL="0" indent="0">
              <a:spcBef>
                <a:spcPts val="300"/>
              </a:spcBef>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will increase brightness by about 13%, but for the general Public model, there is almost no change, less than 0.5% so there is no need for brightness compensation.. </a:t>
            </a:r>
          </a:p>
        </p:txBody>
      </p:sp>
      <p:cxnSp>
        <p:nvCxnSpPr>
          <p:cNvPr id="71" name="직선 화살표 연결선 161"/>
          <p:cNvCxnSpPr>
            <a:cxnSpLocks noChangeShapeType="1"/>
          </p:cNvCxnSpPr>
          <p:nvPr/>
        </p:nvCxnSpPr>
        <p:spPr bwMode="auto">
          <a:xfrm flipV="1">
            <a:off x="6519753" y="2484503"/>
            <a:ext cx="85725" cy="131762"/>
          </a:xfrm>
          <a:prstGeom prst="straightConnector1">
            <a:avLst/>
          </a:prstGeom>
          <a:noFill/>
          <a:ln w="25400" algn="ctr">
            <a:solidFill>
              <a:srgbClr val="FF0000"/>
            </a:solidFill>
            <a:round/>
            <a:headEnd/>
            <a:tailEnd type="stealth" w="med" len="med"/>
          </a:ln>
          <a:extLst>
            <a:ext uri="{909E8E84-426E-40DD-AFC4-6F175D3DCCD1}">
              <a14:hiddenFill xmlns:a14="http://schemas.microsoft.com/office/drawing/2010/main">
                <a:noFill/>
              </a14:hiddenFill>
            </a:ext>
          </a:extLst>
        </p:spPr>
      </p:cxnSp>
      <p:cxnSp>
        <p:nvCxnSpPr>
          <p:cNvPr id="74" name="직선 화살표 연결선 161"/>
          <p:cNvCxnSpPr>
            <a:cxnSpLocks noChangeShapeType="1"/>
          </p:cNvCxnSpPr>
          <p:nvPr/>
        </p:nvCxnSpPr>
        <p:spPr bwMode="auto">
          <a:xfrm>
            <a:off x="6517013" y="1740587"/>
            <a:ext cx="103188" cy="0"/>
          </a:xfrm>
          <a:prstGeom prst="straightConnector1">
            <a:avLst/>
          </a:prstGeom>
          <a:noFill/>
          <a:ln w="25400" algn="ctr">
            <a:solidFill>
              <a:srgbClr val="0000FF"/>
            </a:solidFill>
            <a:round/>
            <a:headEnd/>
            <a:tailEnd type="stealth" w="med" len="med"/>
          </a:ln>
          <a:extLst>
            <a:ext uri="{909E8E84-426E-40DD-AFC4-6F175D3DCCD1}">
              <a14:hiddenFill xmlns:a14="http://schemas.microsoft.com/office/drawing/2010/main">
                <a:noFill/>
              </a14:hiddenFill>
            </a:ext>
          </a:extLst>
        </p:spPr>
      </p:cxnSp>
      <p:sp>
        <p:nvSpPr>
          <p:cNvPr id="79" name="TextBox 37"/>
          <p:cNvSpPr txBox="1">
            <a:spLocks noChangeArrowheads="1"/>
          </p:cNvSpPr>
          <p:nvPr/>
        </p:nvSpPr>
        <p:spPr bwMode="auto">
          <a:xfrm>
            <a:off x="4797272" y="1433640"/>
            <a:ext cx="38186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1100" b="0" u="sng"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&amp; Public Brightness changes depending on viewing angle</a:t>
            </a:r>
            <a:endParaRPr lang="en-US" altLang="ko-KR" sz="1100" b="0" u="sng"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1" name="AutoShape 57">
            <a:extLst>
              <a:ext uri="{FF2B5EF4-FFF2-40B4-BE49-F238E27FC236}">
                <a16:creationId xmlns:a16="http://schemas.microsoft.com/office/drawing/2014/main" id="{D123ED7D-1627-4425-8E1C-E07699476297}"/>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32" name="AutoShape 55">
            <a:extLst>
              <a:ext uri="{FF2B5EF4-FFF2-40B4-BE49-F238E27FC236}">
                <a16:creationId xmlns:a16="http://schemas.microsoft.com/office/drawing/2014/main" id="{710F07CB-AD46-4102-9196-B391B0CE38C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33" name="AutoShape 56">
            <a:extLst>
              <a:ext uri="{FF2B5EF4-FFF2-40B4-BE49-F238E27FC236}">
                <a16:creationId xmlns:a16="http://schemas.microsoft.com/office/drawing/2014/main" id="{668E3865-DB76-45D5-9F6D-A72984A44BFF}"/>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sp>
        <p:nvSpPr>
          <p:cNvPr id="37" name="AutoShape 59">
            <a:extLst>
              <a:ext uri="{FF2B5EF4-FFF2-40B4-BE49-F238E27FC236}">
                <a16:creationId xmlns:a16="http://schemas.microsoft.com/office/drawing/2014/main" id="{0CCDE314-7273-49D5-A38E-FA39075D2A52}"/>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38" name="AutoShape 58">
            <a:extLst>
              <a:ext uri="{FF2B5EF4-FFF2-40B4-BE49-F238E27FC236}">
                <a16:creationId xmlns:a16="http://schemas.microsoft.com/office/drawing/2014/main" id="{88E7A157-1CAC-4DAB-921E-EB94CA3CD767}"/>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sp>
        <p:nvSpPr>
          <p:cNvPr id="42" name="TextBox 41">
            <a:extLst>
              <a:ext uri="{FF2B5EF4-FFF2-40B4-BE49-F238E27FC236}">
                <a16:creationId xmlns:a16="http://schemas.microsoft.com/office/drawing/2014/main" id="{89E657DE-328C-4EAB-A06D-1CB735961433}"/>
              </a:ext>
            </a:extLst>
          </p:cNvPr>
          <p:cNvSpPr txBox="1"/>
          <p:nvPr/>
        </p:nvSpPr>
        <p:spPr>
          <a:xfrm>
            <a:off x="63248" y="535377"/>
            <a:ext cx="2801520" cy="276999"/>
          </a:xfrm>
          <a:prstGeom prst="rect">
            <a:avLst/>
          </a:prstGeom>
          <a:noFill/>
        </p:spPr>
        <p:txBody>
          <a:bodyPr wrap="square" rtlCol="0">
            <a:spAutoFit/>
          </a:bodyPr>
          <a:lstStyle/>
          <a:p>
            <a:pPr marL="171450" indent="-171450">
              <a:buFont typeface="Wingdings" panose="05000000000000000000" pitchFamily="2" charset="2"/>
              <a:buChar char="q"/>
            </a:pPr>
            <a:r>
              <a:rPr lang="en-US" sz="1100" b="1" dirty="0">
                <a:latin typeface="Arial" panose="020B0600000101010101" pitchFamily="34" charset="-127"/>
                <a:ea typeface="Arial" panose="020B0600000101010101" pitchFamily="34" charset="-127"/>
                <a:cs typeface="Arial" panose="020B0604020202020204" pitchFamily="34" charset="0"/>
              </a:rPr>
              <a:t>Changing Camera angle</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47" name="제목 1">
            <a:extLst>
              <a:ext uri="{FF2B5EF4-FFF2-40B4-BE49-F238E27FC236}">
                <a16:creationId xmlns:a16="http://schemas.microsoft.com/office/drawing/2014/main" id="{2C8BFCFC-70E5-4DFC-8FC2-47983BF73131}"/>
              </a:ext>
            </a:extLst>
          </p:cNvPr>
          <p:cNvSpPr txBox="1">
            <a:spLocks/>
          </p:cNvSpPr>
          <p:nvPr/>
        </p:nvSpPr>
        <p:spPr>
          <a:xfrm>
            <a:off x="127002" y="85711"/>
            <a:ext cx="4249934" cy="418058"/>
          </a:xfrm>
          <a:prstGeom prst="rect">
            <a:avLst/>
          </a:prstGeom>
        </p:spPr>
        <p:txBody>
          <a:bodyPr vert="horz" lIns="91440" tIns="45720" rIns="91440" bIns="45720" rtlCol="0" anchor="ctr">
            <a:noAutofit/>
          </a:bodyPr>
          <a:lstStyle/>
          <a:p>
            <a:pPr lvl="0" eaLnBrk="0" hangingPunct="0">
              <a:defRPr/>
            </a:pPr>
            <a:r>
              <a:rPr lang="vi-VN" altLang="ko-KR" sz="1600" b="1" kern="0" dirty="0">
                <a:latin typeface="Arial Narrow" panose="020B0606020202030204" pitchFamily="34" charset="0"/>
                <a:ea typeface="Arial Unicode MS" panose="020B0604020202020204" pitchFamily="34" charset="-128"/>
                <a:cs typeface="Arial" panose="020B0604020202020204" pitchFamily="34" charset="0"/>
              </a:rPr>
              <a:t>4.1</a:t>
            </a: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 </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Improvement</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activity of measurement system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48" name="Straight Connector 47">
            <a:extLst>
              <a:ext uri="{FF2B5EF4-FFF2-40B4-BE49-F238E27FC236}">
                <a16:creationId xmlns:a16="http://schemas.microsoft.com/office/drawing/2014/main" id="{2C016ABE-1AFD-4D27-91EC-F67F090244C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081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5369958"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pP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4.2 Type</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1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21336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r>
              <a:rPr sz="1000" b="0">
                <a:latin typeface="Arial"/>
              </a:rPr>
              <a:t>21 / 33 </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29" name="TextBox 28">
            <a:extLst>
              <a:ext uri="{FF2B5EF4-FFF2-40B4-BE49-F238E27FC236}">
                <a16:creationId xmlns:a16="http://schemas.microsoft.com/office/drawing/2014/main" id="{1B343AEE-326F-4166-A091-AF8F5A490D4A}"/>
              </a:ext>
            </a:extLst>
          </p:cNvPr>
          <p:cNvSpPr txBox="1"/>
          <p:nvPr/>
        </p:nvSpPr>
        <p:spPr>
          <a:xfrm>
            <a:off x="5188636" y="3236635"/>
            <a:ext cx="2362200" cy="477054"/>
          </a:xfrm>
          <a:prstGeom prst="rect">
            <a:avLst/>
          </a:prstGeom>
          <a:noFill/>
        </p:spPr>
        <p:txBody>
          <a:bodyPr wrap="square" rtlCol="0">
            <a:noAutofit/>
          </a:bodyPr>
          <a:lstStyle/>
          <a:p>
            <a:pPr>
              <a:spcBef>
                <a:spcPts val="600"/>
              </a:spcBef>
            </a:pPr>
            <a:r>
              <a:rPr lang="en-GB" sz="1100" dirty="0">
                <a:latin typeface="Arial" panose="020B0600000101010101" pitchFamily="34" charset="-127"/>
                <a:ea typeface="Arial" panose="020B0600000101010101" pitchFamily="34" charset="-127"/>
              </a:rPr>
              <a:t>Spec: </a:t>
            </a:r>
            <a:r>
              <a:rPr lang="en-US" sz="11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a:spcBef>
                <a:spcPts val="600"/>
              </a:spcBef>
            </a:pPr>
            <a:r>
              <a:rPr lang="en-GB" sz="1100" dirty="0">
                <a:latin typeface="Arial" panose="020B0600000101010101" pitchFamily="34" charset="-127"/>
                <a:ea typeface="Arial" panose="020B0600000101010101" pitchFamily="34" charset="-127"/>
              </a:rPr>
              <a:t>Reference value: </a:t>
            </a:r>
            <a:r>
              <a:rPr lang="en-US" sz="1100" dirty="0">
                <a:solidFill>
                  <a:srgbClr val="000000"/>
                </a:solidFill>
                <a:latin typeface="Arial" panose="020B0600000101010101" pitchFamily="34" charset="-127"/>
                <a:ea typeface="Arial" panose="020B0600000101010101" pitchFamily="34" charset="-127"/>
                <a:cs typeface="Arial" panose="020B0604020202020204" pitchFamily="34" charset="0"/>
              </a:rPr>
              <a:t>910 (golden sample)</a:t>
            </a:r>
            <a:endParaRPr lang="en-US" sz="1000" dirty="0">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485001"/>
            <a:ext cx="2070352" cy="276999"/>
          </a:xfrm>
          <a:prstGeom prst="rect">
            <a:avLst/>
          </a:prstGeom>
          <a:noFill/>
        </p:spPr>
        <p:txBody>
          <a:bodyPr wrap="square" rtlCol="0">
            <a:no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a:t>
            </a:r>
            <a:r>
              <a:rPr lang="en-US" sz="1100" b="1" dirty="0">
                <a:latin typeface="Arial" panose="020B0604020202020204" pitchFamily="34" charset="0"/>
                <a:ea typeface="Arial Unicode MS" panose="020B0604020202020204" pitchFamily="34" charset="-128"/>
                <a:cs typeface="Arial" panose="020B0604020202020204" pitchFamily="34" charset="0"/>
              </a:rPr>
              <a:t>2 Luminance</a:t>
            </a:r>
          </a:p>
        </p:txBody>
      </p:sp>
      <p:sp>
        <p:nvSpPr>
          <p:cNvPr id="18" name="TextBox 17">
            <a:extLst>
              <a:ext uri="{FF2B5EF4-FFF2-40B4-BE49-F238E27FC236}">
                <a16:creationId xmlns:a16="http://schemas.microsoft.com/office/drawing/2014/main" id="{E90369EA-41CF-4BB7-95EE-33A74A74A411}"/>
              </a:ext>
            </a:extLst>
          </p:cNvPr>
          <p:cNvSpPr txBox="1"/>
          <p:nvPr/>
        </p:nvSpPr>
        <p:spPr>
          <a:xfrm>
            <a:off x="36000" y="5040000"/>
            <a:ext cx="5040000" cy="900000"/>
          </a:xfrm>
          <a:prstGeom prst="rect">
            <a:avLst/>
          </a:prstGeom>
          <a:noFill/>
          <a:ln>
            <a:noFill/>
          </a:ln>
        </p:spPr>
        <p:txBody>
          <a:bodyPr wrap="square" rtlCol="0">
            <a:noAutofit/>
          </a:bodyPr>
          <a:lstStyle/>
          <a:p>
            <a:pPr marL="171450" indent="-171450">
              <a:buFont typeface="Wingdings" panose="05000000000000000000" pitchFamily="2" charset="2"/>
              <a:buChar char="Ø"/>
            </a:pPr>
            <a:r>
              <a:rPr lang="en-US" sz="1100" b="1" u="sng" dirty="0">
                <a:latin typeface="Arial" panose="020B0604020202020204" pitchFamily="34" charset="0"/>
                <a:ea typeface="Arial Unicode MS" panose="020B0604020202020204" pitchFamily="34" charset="-128"/>
                <a:cs typeface="Arial" panose="020B0604020202020204" pitchFamily="34" charset="0"/>
              </a:rPr>
              <a:t>Conclusion</a:t>
            </a:r>
          </a:p>
          <a:p>
            <a:r>
              <a:rPr lang="en-US" sz="1100">
                <a:latin typeface="Arial"/>
              </a:rPr>
              <a:t>P value=0.926 &gt; 0.05  Fail to reject H0  Bias=0 (PASS)</a:t>
            </a:r>
          </a:p>
          <a:p>
            <a:r>
              <a:rPr lang="en-US" sz="1100">
                <a:latin typeface="Arial"/>
              </a:rPr>
              <a:t>Cg=2.51 (Std&gt;1.33) PASS | Cgk=2.50 (Std&gt;1.33) PASS</a:t>
            </a:r>
          </a:p>
          <a:p>
            <a:r>
              <a:rPr lang="en-US" sz="1100">
                <a:latin typeface="Arial"/>
              </a:rPr>
              <a:t>%Var(Repeatability)=7.98% (&lt;10%) PASS</a:t>
            </a:r>
          </a:p>
          <a:p>
            <a:r>
              <a:rPr lang="en-US" sz="1100">
                <a:latin typeface="Arial"/>
              </a:rPr>
              <a:t>%Var(Repeat.+Bias)=8.00% (&lt;10%) PASS</a:t>
            </a:r>
          </a:p>
        </p:txBody>
      </p:sp>
      <p:pic>
        <p:nvPicPr>
          <p:cNvPr id="3" name="Picture 2">
            <a:extLst>
              <a:ext uri="{FF2B5EF4-FFF2-40B4-BE49-F238E27FC236}">
                <a16:creationId xmlns:a16="http://schemas.microsoft.com/office/drawing/2014/main" id="{0CF4BAE4-7011-4E5A-AC6B-231C9D00DB5E}"/>
              </a:ext>
            </a:extLst>
          </p:cNvPr>
          <p:cNvPicPr>
            <a:picLocks noChangeAspect="1"/>
          </p:cNvPicPr>
          <p:nvPr/>
        </p:nvPicPr>
        <p:blipFill>
          <a:blip r:embed="rId3"/>
          <a:stretch>
            <a:fillRect/>
          </a:stretch>
        </p:blipFill>
        <p:spPr>
          <a:xfrm>
            <a:off x="5976241" y="624615"/>
            <a:ext cx="3858817" cy="2583445"/>
          </a:xfrm>
          <a:prstGeom prst="rect">
            <a:avLst/>
          </a:prstGeom>
        </p:spPr>
      </p:pic>
      <p:pic>
        <p:nvPicPr>
          <p:cNvPr id="4" name="Picture 3">
            <a:extLst>
              <a:ext uri="{FF2B5EF4-FFF2-40B4-BE49-F238E27FC236}">
                <a16:creationId xmlns:a16="http://schemas.microsoft.com/office/drawing/2014/main" id="{2B4A6D4C-07A1-4D69-BEAA-6C2D30E87DB8}"/>
              </a:ext>
            </a:extLst>
          </p:cNvPr>
          <p:cNvPicPr>
            <a:picLocks noChangeAspect="1"/>
          </p:cNvPicPr>
          <p:nvPr/>
        </p:nvPicPr>
        <p:blipFill>
          <a:blip r:embed="rId4"/>
          <a:stretch>
            <a:fillRect/>
          </a:stretch>
        </p:blipFill>
        <p:spPr>
          <a:xfrm>
            <a:off x="5217211" y="3649940"/>
            <a:ext cx="4641164" cy="3144270"/>
          </a:xfrm>
          <a:prstGeom prst="rect">
            <a:avLst/>
          </a:prstGeom>
        </p:spPr>
      </p:pic>
      <p:sp>
        <p:nvSpPr>
          <p:cNvPr id="24" name="TextBox 23">
            <a:extLst>
              <a:ext uri="{FF2B5EF4-FFF2-40B4-BE49-F238E27FC236}">
                <a16:creationId xmlns:a16="http://schemas.microsoft.com/office/drawing/2014/main" id="{2E6C57C6-8F91-41B9-BC8E-38F5C99A38B5}"/>
              </a:ext>
            </a:extLst>
          </p:cNvPr>
          <p:cNvSpPr txBox="1"/>
          <p:nvPr/>
        </p:nvSpPr>
        <p:spPr>
          <a:xfrm>
            <a:off x="0" y="5976000"/>
            <a:ext cx="5040000" cy="468000"/>
          </a:xfrm>
          <a:prstGeom prst="rect">
            <a:avLst/>
          </a:prstGeom>
          <a:noFill/>
        </p:spPr>
        <p:txBody>
          <a:bodyPr wrap="square" rtlCol="0">
            <a:noAutofit/>
          </a:bodyPr>
          <a:lstStyle/>
          <a:p>
            <a:pPr marL="171450" indent="-171450">
              <a:buFont typeface="Wingdings" panose="05000000000000000000" pitchFamily="2" charset="2"/>
              <a:buChar char="à"/>
            </a:pPr>
            <a:r>
              <a:rPr lang="en-US" sz="1100" dirty="0">
                <a:latin typeface="Arial" panose="020B0604020202020204" pitchFamily="34" charset="0"/>
                <a:ea typeface="Arial Unicode MS" panose="020B0604020202020204" pitchFamily="34" charset="-128"/>
                <a:cs typeface="Arial" panose="020B0604020202020204" pitchFamily="34" charset="0"/>
              </a:rPr>
              <a:t>Equipment is OK. LMK camera CS2000 of Station 2 can measure Luminance value.</a:t>
            </a:r>
          </a:p>
        </p:txBody>
      </p:sp>
      <p:graphicFrame>
        <p:nvGraphicFramePr>
          <p:cNvPr id="9" name="Table 8">
            <a:extLst>
              <a:ext uri="{FF2B5EF4-FFF2-40B4-BE49-F238E27FC236}">
                <a16:creationId xmlns:a16="http://schemas.microsoft.com/office/drawing/2014/main" id="{1F794835-D2AA-4427-9577-00F62D39277C}"/>
              </a:ext>
            </a:extLst>
          </p:cNvPr>
          <p:cNvGraphicFramePr>
            <a:graphicFrameLocks noGrp="1"/>
          </p:cNvGraphicFramePr>
          <p:nvPr>
            <p:extLst>
              <p:ext uri="{D42A27DB-BD31-4B8C-83A1-F6EECF244321}">
                <p14:modId xmlns:p14="http://schemas.microsoft.com/office/powerpoint/2010/main" val="2150053924"/>
              </p:ext>
            </p:extLst>
          </p:nvPr>
        </p:nvGraphicFramePr>
        <p:xfrm>
          <a:off x="119760" y="1858281"/>
          <a:ext cx="3810000" cy="3267075"/>
        </p:xfrm>
        <a:graphic>
          <a:graphicData uri="http://schemas.openxmlformats.org/drawingml/2006/table">
            <a:tbl>
              <a:tblPr/>
              <a:tblGrid>
                <a:gridCol w="608547">
                  <a:extLst>
                    <a:ext uri="{9D8B030D-6E8A-4147-A177-3AD203B41FA5}">
                      <a16:colId xmlns:a16="http://schemas.microsoft.com/office/drawing/2014/main" val="1750809248"/>
                    </a:ext>
                  </a:extLst>
                </a:gridCol>
                <a:gridCol w="1372653">
                  <a:extLst>
                    <a:ext uri="{9D8B030D-6E8A-4147-A177-3AD203B41FA5}">
                      <a16:colId xmlns:a16="http://schemas.microsoft.com/office/drawing/2014/main" val="507090747"/>
                    </a:ext>
                  </a:extLst>
                </a:gridCol>
                <a:gridCol w="443480">
                  <a:extLst>
                    <a:ext uri="{9D8B030D-6E8A-4147-A177-3AD203B41FA5}">
                      <a16:colId xmlns:a16="http://schemas.microsoft.com/office/drawing/2014/main" val="2319962046"/>
                    </a:ext>
                  </a:extLst>
                </a:gridCol>
                <a:gridCol w="1385320">
                  <a:extLst>
                    <a:ext uri="{9D8B030D-6E8A-4147-A177-3AD203B41FA5}">
                      <a16:colId xmlns:a16="http://schemas.microsoft.com/office/drawing/2014/main" val="2794394947"/>
                    </a:ext>
                  </a:extLst>
                </a:gridCol>
              </a:tblGrid>
              <a:tr h="409575">
                <a:tc>
                  <a:txBody>
                    <a:bodyPr/>
                    <a:lstStyle/>
                    <a:p>
                      <a:pPr algn="ctr" rtl="0" fontAlgn="ctr"/>
                      <a:r>
                        <a:rPr lang="en-US" sz="11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1100" b="1" i="0" u="none" strike="noStrike" dirty="0">
                          <a:solidFill>
                            <a:srgbClr val="000000"/>
                          </a:solidFill>
                          <a:effectLst/>
                          <a:latin typeface="Arial" panose="020B0604020202020204" pitchFamily="34" charset="0"/>
                        </a:rPr>
                        <a:t>Luminance(Cd/m</a:t>
                      </a:r>
                      <a:r>
                        <a:rPr lang="en-US" sz="1100" b="1" i="0" u="none" strike="noStrike" baseline="30000" dirty="0">
                          <a:solidFill>
                            <a:srgbClr val="000000"/>
                          </a:solidFill>
                          <a:effectLst/>
                          <a:latin typeface="Arial" panose="020B0604020202020204" pitchFamily="34" charset="0"/>
                        </a:rPr>
                        <a:t>2</a:t>
                      </a:r>
                      <a:r>
                        <a:rPr lang="en-US" sz="11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11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1100" b="1" i="0" u="none" strike="noStrike">
                          <a:solidFill>
                            <a:srgbClr val="000000"/>
                          </a:solidFill>
                          <a:effectLst/>
                          <a:latin typeface="Arial" panose="020B0604020202020204" pitchFamily="34" charset="0"/>
                        </a:rPr>
                        <a:t>Luminance(Cd/m</a:t>
                      </a:r>
                      <a:r>
                        <a:rPr lang="en-US" sz="1100" b="1" i="0" u="none" strike="noStrike" baseline="30000">
                          <a:solidFill>
                            <a:srgbClr val="000000"/>
                          </a:solidFill>
                          <a:effectLst/>
                          <a:latin typeface="Arial" panose="020B0604020202020204" pitchFamily="34" charset="0"/>
                        </a:rPr>
                        <a:t>2</a:t>
                      </a:r>
                      <a:r>
                        <a:rPr lang="en-US" sz="11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20388274"/>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913.97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2906823"/>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9709346"/>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11575"/>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926.63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081104"/>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1837168"/>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6354868"/>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3427465"/>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872.12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884.59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401257"/>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365766"/>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73950"/>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072591"/>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000870"/>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895.41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4821821"/>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9828486"/>
                  </a:ext>
                </a:extLst>
              </a:tr>
              <a:tr h="190500">
                <a:tc>
                  <a:txBody>
                    <a:bodyPr/>
                    <a:lstStyle/>
                    <a:p>
                      <a:pPr algn="ctr" rtl="0" fontAlgn="ctr"/>
                      <a:r>
                        <a:rPr lang="en-US" sz="11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1100" b="0" i="0" u="none" strike="noStrike">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883.01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7001934"/>
                  </a:ext>
                </a:extLst>
              </a:tr>
            </a:tbl>
          </a:graphicData>
        </a:graphic>
      </p:graphicFrame>
      <p:sp>
        <p:nvSpPr>
          <p:cNvPr id="16" name="AutoShape 57">
            <a:extLst>
              <a:ext uri="{FF2B5EF4-FFF2-40B4-BE49-F238E27FC236}">
                <a16:creationId xmlns:a16="http://schemas.microsoft.com/office/drawing/2014/main" id="{E56DB63D-2D01-4DBC-A986-26AC25D62E26}"/>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25" name="AutoShape 55">
            <a:extLst>
              <a:ext uri="{FF2B5EF4-FFF2-40B4-BE49-F238E27FC236}">
                <a16:creationId xmlns:a16="http://schemas.microsoft.com/office/drawing/2014/main" id="{DE503F63-9490-4916-B9A6-B6442FD6B399}"/>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26" name="AutoShape 56">
            <a:extLst>
              <a:ext uri="{FF2B5EF4-FFF2-40B4-BE49-F238E27FC236}">
                <a16:creationId xmlns:a16="http://schemas.microsoft.com/office/drawing/2014/main" id="{D2E20A55-BE65-4BAD-8A38-75FD26911C99}"/>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sp>
        <p:nvSpPr>
          <p:cNvPr id="28" name="AutoShape 59">
            <a:extLst>
              <a:ext uri="{FF2B5EF4-FFF2-40B4-BE49-F238E27FC236}">
                <a16:creationId xmlns:a16="http://schemas.microsoft.com/office/drawing/2014/main" id="{9C494BAF-7E5D-498F-A235-2F6AB64EE481}"/>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30" name="AutoShape 58">
            <a:extLst>
              <a:ext uri="{FF2B5EF4-FFF2-40B4-BE49-F238E27FC236}">
                <a16:creationId xmlns:a16="http://schemas.microsoft.com/office/drawing/2014/main" id="{91402361-DAA8-4064-A8C7-952CFA000153}"/>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cxnSp>
        <p:nvCxnSpPr>
          <p:cNvPr id="31" name="Straight Connector 30">
            <a:extLst>
              <a:ext uri="{FF2B5EF4-FFF2-40B4-BE49-F238E27FC236}">
                <a16:creationId xmlns:a16="http://schemas.microsoft.com/office/drawing/2014/main" id="{EE1CB60C-262D-436D-81A8-3D72B6B4811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68CD868-16BA-46A5-AECC-0273074C5396}"/>
              </a:ext>
            </a:extLst>
          </p:cNvPr>
          <p:cNvSpPr txBox="1"/>
          <p:nvPr/>
        </p:nvSpPr>
        <p:spPr>
          <a:xfrm>
            <a:off x="63248" y="724889"/>
            <a:ext cx="5354074" cy="1015663"/>
          </a:xfrm>
          <a:prstGeom prst="rect">
            <a:avLst/>
          </a:prstGeom>
          <a:noFill/>
        </p:spPr>
        <p:txBody>
          <a:bodyPr wrap="square" rtlCol="0">
            <a:noAutofit/>
          </a:bodyPr>
          <a:lstStyle/>
          <a:p>
            <a:pPr latinLnBrk="0"/>
            <a:r>
              <a:rPr lang="en-US" sz="1100" dirty="0">
                <a:latin typeface="Arial" panose="020B0604020202020204" pitchFamily="34" charset="0"/>
                <a:ea typeface="Arial Unicode MS" panose="020B0604020202020204" pitchFamily="34" charset="-128"/>
                <a:cs typeface="Arial" panose="020B0604020202020204" pitchFamily="34" charset="0"/>
              </a:rPr>
              <a:t>Use gage study type 1 to assess the ability of component to measure based on repeatability and bias of the instrument after improvement.</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rPr>
              <a:t>In this case, choose 1 sample and repeated test for 30 times.</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Tree>
    <p:extLst>
      <p:ext uri="{BB962C8B-B14F-4D97-AF65-F5344CB8AC3E}">
        <p14:creationId xmlns:p14="http://schemas.microsoft.com/office/powerpoint/2010/main" val="2126649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483810" cy="418058"/>
          </a:xfrm>
          <a:prstGeom prst="rect">
            <a:avLst/>
          </a:prstGeom>
        </p:spPr>
        <p:txBody>
          <a:bodyPr vert="horz" lIns="91440" tIns="45720" rIns="91440" bIns="45720" rtlCol="0" anchor="ctr">
            <a:normAutofit/>
          </a:bodyPr>
          <a:lstStyle/>
          <a:p>
            <a:pPr lvl="0" ea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4.2 Check type 3 study again after improvement</a:t>
            </a:r>
            <a:endParaRPr lang="ko-KR" altLang="en-US" sz="1600" b="1" kern="0" dirty="0">
              <a:latin typeface="Arial Narrow" panose="020B0606020202030204" pitchFamily="34" charset="0"/>
              <a:ea typeface="Arial Unicode MS" panose="020B0604020202020204" pitchFamily="34" charset="-128"/>
              <a:cs typeface="Arial" panose="020B0604020202020204" pitchFamily="34" charset="0"/>
            </a:endParaRPr>
          </a:p>
        </p:txBody>
      </p:sp>
      <p:sp>
        <p:nvSpPr>
          <p:cNvPr id="23" name="TextBox 22">
            <a:extLst>
              <a:ext uri="{FF2B5EF4-FFF2-40B4-BE49-F238E27FC236}">
                <a16:creationId xmlns:a16="http://schemas.microsoft.com/office/drawing/2014/main" id="{7E780F4B-5672-40A9-A54C-41F7670782F4}"/>
              </a:ext>
            </a:extLst>
          </p:cNvPr>
          <p:cNvSpPr txBox="1"/>
          <p:nvPr/>
        </p:nvSpPr>
        <p:spPr>
          <a:xfrm>
            <a:off x="126340" y="831597"/>
            <a:ext cx="9281571" cy="830997"/>
          </a:xfrm>
          <a:prstGeom prst="rect">
            <a:avLst/>
          </a:prstGeom>
          <a:noFill/>
        </p:spPr>
        <p:txBody>
          <a:bodyPr wrap="square" rtlCol="0">
            <a:noAutofit/>
          </a:bodyPr>
          <a:lstStyle/>
          <a:p>
            <a:pPr latinLnBrk="0"/>
            <a:r>
              <a:rPr lang="en-US" sz="1100" dirty="0">
                <a:latin typeface="Arial" panose="020B0604020202020204" pitchFamily="34" charset="0"/>
                <a:ea typeface="Arial Unicode MS" panose="020B0604020202020204" pitchFamily="34" charset="-128"/>
                <a:cs typeface="Arial" panose="020B0604020202020204" pitchFamily="34" charset="0"/>
              </a:rPr>
              <a:t>We only test gage study1, still need to evaluate repeatability and reproducibility at both stations.</a:t>
            </a:r>
          </a:p>
          <a:p>
            <a:pPr latinLnBrk="0"/>
            <a:r>
              <a:rPr sz="1100" b="0">
                <a:latin typeface="Arial"/>
              </a:rPr>
              <a:t>Because Luminance stations are fully automated with no operator variation, Type 3 Gage Study is conducted (25 samples measured twice per station).</a:t>
            </a:r>
          </a:p>
          <a:p>
            <a:pPr latinLnBrk="0"/>
            <a:r>
              <a:rPr lang="en-US" sz="1100" dirty="0">
                <a:latin typeface="Arial" panose="020B0604020202020204" pitchFamily="34" charset="0"/>
                <a:ea typeface="Arial Unicode MS" panose="020B0604020202020204" pitchFamily="34" charset="-128"/>
                <a:cs typeface="Arial" panose="020B0604020202020204" pitchFamily="34" charset="0"/>
              </a:rPr>
              <a:t>Use 25 samples measured repeat 2 times to verify each station.</a:t>
            </a: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a:r>
              <a:rPr sz="1000" b="0">
                <a:latin typeface="Arial"/>
              </a:rPr>
              <a:t>22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4" name="Rectangle 3">
            <a:extLst>
              <a:ext uri="{FF2B5EF4-FFF2-40B4-BE49-F238E27FC236}">
                <a16:creationId xmlns:a16="http://schemas.microsoft.com/office/drawing/2014/main" id="{48934BF3-CC0B-450B-ACCE-8B259B73DAE4}"/>
              </a:ext>
            </a:extLst>
          </p:cNvPr>
          <p:cNvSpPr/>
          <p:nvPr/>
        </p:nvSpPr>
        <p:spPr>
          <a:xfrm>
            <a:off x="2971800" y="5957694"/>
            <a:ext cx="1765227" cy="261610"/>
          </a:xfrm>
          <a:prstGeom prst="rect">
            <a:avLst/>
          </a:prstGeom>
        </p:spPr>
        <p:txBody>
          <a:bodyPr wrap="none">
            <a:noAutofit/>
          </a:bodyPr>
          <a:lstStyle/>
          <a:p>
            <a:r>
              <a:rPr lang="en-US" sz="1100" dirty="0">
                <a:latin typeface="Arial" panose="020B0604020202020204" pitchFamily="34" charset="0"/>
                <a:ea typeface="Arial Unicode MS" panose="020B0604020202020204" pitchFamily="34" charset="-128"/>
                <a:cs typeface="Arial" panose="020B0604020202020204" pitchFamily="34" charset="0"/>
              </a:rPr>
              <a:t>Spec: 800- 2000 (Cd/m</a:t>
            </a:r>
            <a:r>
              <a:rPr lang="en-US" sz="1100" baseline="30000" dirty="0">
                <a:latin typeface="Arial" panose="020B0604020202020204" pitchFamily="34" charset="0"/>
                <a:ea typeface="Arial Unicode MS" panose="020B0604020202020204" pitchFamily="34" charset="-128"/>
                <a:cs typeface="Arial" panose="020B0604020202020204" pitchFamily="34" charset="0"/>
              </a:rPr>
              <a:t>2</a:t>
            </a:r>
            <a:r>
              <a:rPr lang="en-US" sz="1100" dirty="0">
                <a:latin typeface="Arial" panose="020B0604020202020204" pitchFamily="34" charset="0"/>
                <a:ea typeface="Arial Unicode MS" panose="020B0604020202020204" pitchFamily="34" charset="-128"/>
                <a:cs typeface="Arial" panose="020B0604020202020204" pitchFamily="34" charset="0"/>
              </a:rPr>
              <a:t>)</a:t>
            </a:r>
            <a:endParaRPr lang="en-US" sz="1100" dirty="0"/>
          </a:p>
        </p:txBody>
      </p:sp>
      <p:graphicFrame>
        <p:nvGraphicFramePr>
          <p:cNvPr id="13" name="Table 12">
            <a:extLst>
              <a:ext uri="{FF2B5EF4-FFF2-40B4-BE49-F238E27FC236}">
                <a16:creationId xmlns:a16="http://schemas.microsoft.com/office/drawing/2014/main" id="{97CD21B4-9085-48D2-BDDD-DFAD010B4C16}"/>
              </a:ext>
            </a:extLst>
          </p:cNvPr>
          <p:cNvGraphicFramePr>
            <a:graphicFrameLocks noGrp="1"/>
          </p:cNvGraphicFramePr>
          <p:nvPr>
            <p:extLst>
              <p:ext uri="{D42A27DB-BD31-4B8C-83A1-F6EECF244321}">
                <p14:modId xmlns:p14="http://schemas.microsoft.com/office/powerpoint/2010/main" val="3234795596"/>
              </p:ext>
            </p:extLst>
          </p:nvPr>
        </p:nvGraphicFramePr>
        <p:xfrm>
          <a:off x="251820" y="1683120"/>
          <a:ext cx="2719980" cy="4641480"/>
        </p:xfrm>
        <a:graphic>
          <a:graphicData uri="http://schemas.openxmlformats.org/drawingml/2006/table">
            <a:tbl>
              <a:tblPr/>
              <a:tblGrid>
                <a:gridCol w="281580">
                  <a:extLst>
                    <a:ext uri="{9D8B030D-6E8A-4147-A177-3AD203B41FA5}">
                      <a16:colId xmlns:a16="http://schemas.microsoft.com/office/drawing/2014/main" val="2320095060"/>
                    </a:ext>
                  </a:extLst>
                </a:gridCol>
                <a:gridCol w="1143000">
                  <a:extLst>
                    <a:ext uri="{9D8B030D-6E8A-4147-A177-3AD203B41FA5}">
                      <a16:colId xmlns:a16="http://schemas.microsoft.com/office/drawing/2014/main" val="1078060711"/>
                    </a:ext>
                  </a:extLst>
                </a:gridCol>
                <a:gridCol w="304800">
                  <a:extLst>
                    <a:ext uri="{9D8B030D-6E8A-4147-A177-3AD203B41FA5}">
                      <a16:colId xmlns:a16="http://schemas.microsoft.com/office/drawing/2014/main" val="367826593"/>
                    </a:ext>
                  </a:extLst>
                </a:gridCol>
                <a:gridCol w="990600">
                  <a:extLst>
                    <a:ext uri="{9D8B030D-6E8A-4147-A177-3AD203B41FA5}">
                      <a16:colId xmlns:a16="http://schemas.microsoft.com/office/drawing/2014/main" val="704243827"/>
                    </a:ext>
                  </a:extLst>
                </a:gridCol>
              </a:tblGrid>
              <a:tr h="155003">
                <a:tc>
                  <a:txBody>
                    <a:bodyPr/>
                    <a:lstStyle/>
                    <a:p>
                      <a:pPr algn="ctr" rtl="0" fontAlgn="ctr"/>
                      <a:r>
                        <a:rPr lang="en-US" sz="800" b="1" i="0" u="none" strike="noStrike" dirty="0">
                          <a:solidFill>
                            <a:srgbClr val="000000"/>
                          </a:solidFill>
                          <a:effectLst/>
                          <a:latin typeface="Arial" panose="020B0604020202020204" pitchFamily="34" charset="0"/>
                        </a:rPr>
                        <a:t>No</a:t>
                      </a:r>
                    </a:p>
                  </a:txBody>
                  <a:tcPr marL="8073" marR="8073" marT="807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Arial" panose="020B0604020202020204" pitchFamily="34" charset="0"/>
                        </a:rPr>
                        <a:t>Luminance(Cd/m</a:t>
                      </a:r>
                      <a:r>
                        <a:rPr lang="en-US" sz="800" b="1" i="0" u="none" strike="noStrike" baseline="30000" dirty="0">
                          <a:solidFill>
                            <a:srgbClr val="000000"/>
                          </a:solidFill>
                          <a:effectLst/>
                          <a:latin typeface="Arial" panose="020B0604020202020204" pitchFamily="34" charset="0"/>
                        </a:rPr>
                        <a:t>2</a:t>
                      </a:r>
                      <a:r>
                        <a:rPr lang="en-US" sz="800" b="1" i="0" u="none" strike="noStrike" dirty="0">
                          <a:solidFill>
                            <a:srgbClr val="000000"/>
                          </a:solidFill>
                          <a:effectLst/>
                          <a:latin typeface="Arial" panose="020B0604020202020204" pitchFamily="34" charset="0"/>
                        </a:rPr>
                        <a:t>)</a:t>
                      </a:r>
                    </a:p>
                  </a:txBody>
                  <a:tcPr marL="8073" marR="8073" marT="807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No</a:t>
                      </a:r>
                    </a:p>
                  </a:txBody>
                  <a:tcPr marL="8073" marR="8073" marT="807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sz="800" b="1" i="0" u="none" strike="noStrike" dirty="0">
                          <a:solidFill>
                            <a:srgbClr val="000000"/>
                          </a:solidFill>
                          <a:effectLst/>
                          <a:latin typeface="Arial" panose="020B0604020202020204" pitchFamily="34" charset="0"/>
                        </a:rPr>
                        <a:t>Luminance(Cd/m</a:t>
                      </a:r>
                      <a:r>
                        <a:rPr lang="en-US" sz="800" b="1" i="0" u="none" strike="noStrike" baseline="30000" dirty="0">
                          <a:solidFill>
                            <a:srgbClr val="000000"/>
                          </a:solidFill>
                          <a:effectLst/>
                          <a:latin typeface="Arial" panose="020B0604020202020204" pitchFamily="34" charset="0"/>
                        </a:rPr>
                        <a:t>2</a:t>
                      </a:r>
                      <a:r>
                        <a:rPr lang="en-US" sz="800" b="1" i="0" u="none" strike="noStrike" dirty="0">
                          <a:solidFill>
                            <a:srgbClr val="000000"/>
                          </a:solidFill>
                          <a:effectLst/>
                          <a:latin typeface="Arial" panose="020B0604020202020204" pitchFamily="34" charset="0"/>
                        </a:rPr>
                        <a:t>)</a:t>
                      </a:r>
                    </a:p>
                  </a:txBody>
                  <a:tcPr marL="8073" marR="8073" marT="807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897676853"/>
                  </a:ext>
                </a:extLst>
              </a:tr>
              <a:tr h="180837">
                <a:tc>
                  <a:txBody>
                    <a:bodyPr/>
                    <a:lstStyle/>
                    <a:p>
                      <a:pPr algn="ctr" rtl="0" fontAlgn="ctr"/>
                      <a:r>
                        <a:rPr lang="en-US" sz="800" b="1" i="0" u="none" strike="noStrike" dirty="0">
                          <a:solidFill>
                            <a:srgbClr val="000000"/>
                          </a:solidFill>
                          <a:effectLst/>
                          <a:latin typeface="Arial" panose="020B0604020202020204" pitchFamily="34" charset="0"/>
                        </a:rPr>
                        <a:t>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867.90</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13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839.46</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1386091"/>
                  </a:ext>
                </a:extLst>
              </a:tr>
              <a:tr h="180837">
                <a:tc>
                  <a:txBody>
                    <a:bodyPr/>
                    <a:lstStyle/>
                    <a:p>
                      <a:pPr algn="ctr" rtl="0" fontAlgn="ctr"/>
                      <a:r>
                        <a:rPr lang="en-US" sz="800" b="1" i="0" u="none" strike="noStrike">
                          <a:solidFill>
                            <a:srgbClr val="000000"/>
                          </a:solidFill>
                          <a:effectLst/>
                          <a:latin typeface="Arial" panose="020B0604020202020204" pitchFamily="34" charset="0"/>
                        </a:rPr>
                        <a:t>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865.27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14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901.79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67861849"/>
                  </a:ext>
                </a:extLst>
              </a:tr>
              <a:tr h="180837">
                <a:tc>
                  <a:txBody>
                    <a:bodyPr/>
                    <a:lstStyle/>
                    <a:p>
                      <a:pPr algn="ctr" rtl="0" fontAlgn="ctr"/>
                      <a:r>
                        <a:rPr lang="en-US" sz="800" b="1" i="0" u="none" strike="noStrike">
                          <a:solidFill>
                            <a:srgbClr val="000000"/>
                          </a:solidFill>
                          <a:effectLst/>
                          <a:latin typeface="Arial" panose="020B0604020202020204" pitchFamily="34" charset="0"/>
                        </a:rPr>
                        <a:t>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944.79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14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898.47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576868"/>
                  </a:ext>
                </a:extLst>
              </a:tr>
              <a:tr h="180837">
                <a:tc>
                  <a:txBody>
                    <a:bodyPr/>
                    <a:lstStyle/>
                    <a:p>
                      <a:pPr algn="ctr" rtl="0" fontAlgn="ctr"/>
                      <a:r>
                        <a:rPr lang="en-US" sz="800" b="1" i="0" u="none" strike="noStrike">
                          <a:solidFill>
                            <a:srgbClr val="000000"/>
                          </a:solidFill>
                          <a:effectLst/>
                          <a:latin typeface="Arial" panose="020B0604020202020204" pitchFamily="34" charset="0"/>
                        </a:rPr>
                        <a:t>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946.33</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15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936.63</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2069964"/>
                  </a:ext>
                </a:extLst>
              </a:tr>
              <a:tr h="180837">
                <a:tc>
                  <a:txBody>
                    <a:bodyPr/>
                    <a:lstStyle/>
                    <a:p>
                      <a:pPr algn="ctr" rtl="0" fontAlgn="ctr"/>
                      <a:r>
                        <a:rPr lang="en-US" sz="800" b="1" i="0" u="none" strike="noStrike">
                          <a:solidFill>
                            <a:srgbClr val="000000"/>
                          </a:solidFill>
                          <a:effectLst/>
                          <a:latin typeface="Arial" panose="020B0604020202020204" pitchFamily="34" charset="0"/>
                        </a:rPr>
                        <a:t>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843.90</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15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936.27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9423515"/>
                  </a:ext>
                </a:extLst>
              </a:tr>
              <a:tr h="180837">
                <a:tc>
                  <a:txBody>
                    <a:bodyPr/>
                    <a:lstStyle/>
                    <a:p>
                      <a:pPr algn="ctr" rtl="0" fontAlgn="ctr"/>
                      <a:r>
                        <a:rPr lang="en-US" sz="800" b="1" i="0" u="none" strike="noStrike">
                          <a:solidFill>
                            <a:srgbClr val="000000"/>
                          </a:solidFill>
                          <a:effectLst/>
                          <a:latin typeface="Arial" panose="020B0604020202020204" pitchFamily="34" charset="0"/>
                        </a:rPr>
                        <a:t>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845.25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16</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890.28</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06910737"/>
                  </a:ext>
                </a:extLst>
              </a:tr>
              <a:tr h="180837">
                <a:tc>
                  <a:txBody>
                    <a:bodyPr/>
                    <a:lstStyle/>
                    <a:p>
                      <a:pPr algn="ctr" rtl="0" fontAlgn="ctr"/>
                      <a:r>
                        <a:rPr lang="en-US" sz="800" b="1" i="0" u="none" strike="noStrike">
                          <a:solidFill>
                            <a:srgbClr val="000000"/>
                          </a:solidFill>
                          <a:effectLst/>
                          <a:latin typeface="Arial" panose="020B0604020202020204" pitchFamily="34" charset="0"/>
                        </a:rPr>
                        <a:t>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920.68</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16</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887.88</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8461390"/>
                  </a:ext>
                </a:extLst>
              </a:tr>
              <a:tr h="180837">
                <a:tc>
                  <a:txBody>
                    <a:bodyPr/>
                    <a:lstStyle/>
                    <a:p>
                      <a:pPr algn="ctr" rtl="0" fontAlgn="ctr"/>
                      <a:r>
                        <a:rPr lang="en-US" sz="800" b="1" i="0" u="none" strike="noStrike">
                          <a:solidFill>
                            <a:srgbClr val="000000"/>
                          </a:solidFill>
                          <a:effectLst/>
                          <a:latin typeface="Arial" panose="020B0604020202020204" pitchFamily="34" charset="0"/>
                        </a:rPr>
                        <a:t>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921.04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17</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845.39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3694466"/>
                  </a:ext>
                </a:extLst>
              </a:tr>
              <a:tr h="180837">
                <a:tc>
                  <a:txBody>
                    <a:bodyPr/>
                    <a:lstStyle/>
                    <a:p>
                      <a:pPr algn="ctr" rtl="0" fontAlgn="ctr"/>
                      <a:r>
                        <a:rPr lang="en-US" sz="800" b="1" i="0" u="none" strike="noStrike">
                          <a:solidFill>
                            <a:srgbClr val="000000"/>
                          </a:solidFill>
                          <a:effectLst/>
                          <a:latin typeface="Arial" panose="020B0604020202020204" pitchFamily="34" charset="0"/>
                        </a:rPr>
                        <a:t>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859.34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17</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848.02</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4700972"/>
                  </a:ext>
                </a:extLst>
              </a:tr>
              <a:tr h="180837">
                <a:tc>
                  <a:txBody>
                    <a:bodyPr/>
                    <a:lstStyle/>
                    <a:p>
                      <a:pPr algn="ctr" rtl="0" fontAlgn="ctr"/>
                      <a:r>
                        <a:rPr lang="en-US" sz="800" b="1" i="0" u="none" strike="noStrike">
                          <a:solidFill>
                            <a:srgbClr val="000000"/>
                          </a:solidFill>
                          <a:effectLst/>
                          <a:latin typeface="Arial" panose="020B0604020202020204" pitchFamily="34" charset="0"/>
                        </a:rPr>
                        <a:t>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861.23</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18</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862.92</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619298"/>
                  </a:ext>
                </a:extLst>
              </a:tr>
              <a:tr h="180837">
                <a:tc>
                  <a:txBody>
                    <a:bodyPr/>
                    <a:lstStyle/>
                    <a:p>
                      <a:pPr algn="ctr" rtl="0" fontAlgn="ctr"/>
                      <a:r>
                        <a:rPr lang="en-US" sz="800" b="1" i="0" u="none" strike="noStrike">
                          <a:solidFill>
                            <a:srgbClr val="000000"/>
                          </a:solidFill>
                          <a:effectLst/>
                          <a:latin typeface="Arial" panose="020B0604020202020204" pitchFamily="34" charset="0"/>
                        </a:rPr>
                        <a:t>6</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963.60</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18</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859.34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2462213"/>
                  </a:ext>
                </a:extLst>
              </a:tr>
              <a:tr h="180837">
                <a:tc>
                  <a:txBody>
                    <a:bodyPr/>
                    <a:lstStyle/>
                    <a:p>
                      <a:pPr algn="ctr" rtl="0" fontAlgn="ctr"/>
                      <a:r>
                        <a:rPr lang="en-US" sz="800" b="1" i="0" u="none" strike="noStrike">
                          <a:solidFill>
                            <a:srgbClr val="000000"/>
                          </a:solidFill>
                          <a:effectLst/>
                          <a:latin typeface="Arial" panose="020B0604020202020204" pitchFamily="34" charset="0"/>
                        </a:rPr>
                        <a:t>6</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965.47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19</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838.59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8174214"/>
                  </a:ext>
                </a:extLst>
              </a:tr>
              <a:tr h="180837">
                <a:tc>
                  <a:txBody>
                    <a:bodyPr/>
                    <a:lstStyle/>
                    <a:p>
                      <a:pPr algn="ctr" rtl="0" fontAlgn="ctr"/>
                      <a:r>
                        <a:rPr lang="en-US" sz="800" b="1" i="0" u="none" strike="noStrike">
                          <a:solidFill>
                            <a:srgbClr val="000000"/>
                          </a:solidFill>
                          <a:effectLst/>
                          <a:latin typeface="Arial" panose="020B0604020202020204" pitchFamily="34" charset="0"/>
                        </a:rPr>
                        <a:t>7</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866.30</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19</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842.81</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5086670"/>
                  </a:ext>
                </a:extLst>
              </a:tr>
              <a:tr h="180837">
                <a:tc>
                  <a:txBody>
                    <a:bodyPr/>
                    <a:lstStyle/>
                    <a:p>
                      <a:pPr algn="ctr" rtl="0" fontAlgn="ctr"/>
                      <a:r>
                        <a:rPr lang="en-US" sz="800" b="1" i="0" u="none" strike="noStrike">
                          <a:solidFill>
                            <a:srgbClr val="000000"/>
                          </a:solidFill>
                          <a:effectLst/>
                          <a:latin typeface="Arial" panose="020B0604020202020204" pitchFamily="34" charset="0"/>
                        </a:rPr>
                        <a:t>7</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867.55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20</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932.33</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8148766"/>
                  </a:ext>
                </a:extLst>
              </a:tr>
              <a:tr h="180837">
                <a:tc>
                  <a:txBody>
                    <a:bodyPr/>
                    <a:lstStyle/>
                    <a:p>
                      <a:pPr algn="ctr" rtl="0" fontAlgn="ctr"/>
                      <a:r>
                        <a:rPr lang="en-US" sz="800" b="1" i="0" u="none" strike="noStrike">
                          <a:solidFill>
                            <a:srgbClr val="000000"/>
                          </a:solidFill>
                          <a:effectLst/>
                          <a:latin typeface="Arial" panose="020B0604020202020204" pitchFamily="34" charset="0"/>
                        </a:rPr>
                        <a:t>8</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941.27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20</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931.95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2804902"/>
                  </a:ext>
                </a:extLst>
              </a:tr>
              <a:tr h="180837">
                <a:tc>
                  <a:txBody>
                    <a:bodyPr/>
                    <a:lstStyle/>
                    <a:p>
                      <a:pPr algn="ctr" rtl="0" fontAlgn="ctr"/>
                      <a:r>
                        <a:rPr lang="en-US" sz="800" b="1" i="0" u="none" strike="noStrike">
                          <a:solidFill>
                            <a:srgbClr val="000000"/>
                          </a:solidFill>
                          <a:effectLst/>
                          <a:latin typeface="Arial" panose="020B0604020202020204" pitchFamily="34" charset="0"/>
                        </a:rPr>
                        <a:t>8</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938.62</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21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847.79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12667530"/>
                  </a:ext>
                </a:extLst>
              </a:tr>
              <a:tr h="180837">
                <a:tc>
                  <a:txBody>
                    <a:bodyPr/>
                    <a:lstStyle/>
                    <a:p>
                      <a:pPr algn="ctr" rtl="0" fontAlgn="ctr"/>
                      <a:r>
                        <a:rPr lang="en-US" sz="800" b="1" i="0" u="none" strike="noStrike">
                          <a:solidFill>
                            <a:srgbClr val="000000"/>
                          </a:solidFill>
                          <a:effectLst/>
                          <a:latin typeface="Arial" panose="020B0604020202020204" pitchFamily="34" charset="0"/>
                        </a:rPr>
                        <a:t>9</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873.52</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21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851.88</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4926631"/>
                  </a:ext>
                </a:extLst>
              </a:tr>
              <a:tr h="180837">
                <a:tc>
                  <a:txBody>
                    <a:bodyPr/>
                    <a:lstStyle/>
                    <a:p>
                      <a:pPr algn="ctr" rtl="0" fontAlgn="ctr"/>
                      <a:r>
                        <a:rPr lang="en-US" sz="800" b="1" i="0" u="none" strike="noStrike">
                          <a:solidFill>
                            <a:srgbClr val="000000"/>
                          </a:solidFill>
                          <a:effectLst/>
                          <a:latin typeface="Arial" panose="020B0604020202020204" pitchFamily="34" charset="0"/>
                        </a:rPr>
                        <a:t>9</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872.70</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22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886.95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3373319"/>
                  </a:ext>
                </a:extLst>
              </a:tr>
              <a:tr h="180837">
                <a:tc>
                  <a:txBody>
                    <a:bodyPr/>
                    <a:lstStyle/>
                    <a:p>
                      <a:pPr algn="ctr" rtl="0" fontAlgn="ctr"/>
                      <a:r>
                        <a:rPr lang="en-US" sz="800" b="1" i="0" u="none" strike="noStrike">
                          <a:solidFill>
                            <a:srgbClr val="000000"/>
                          </a:solidFill>
                          <a:effectLst/>
                          <a:latin typeface="Arial" panose="020B0604020202020204" pitchFamily="34" charset="0"/>
                        </a:rPr>
                        <a:t>10</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937.93</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22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a:solidFill>
                            <a:srgbClr val="000000"/>
                          </a:solidFill>
                          <a:effectLst/>
                          <a:latin typeface="Arial" panose="020F0502020204030204" pitchFamily="34" charset="0"/>
                          <a:ea typeface="Arial"/>
                        </a:rPr>
                        <a:t>883.41</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282064"/>
                  </a:ext>
                </a:extLst>
              </a:tr>
              <a:tr h="180837">
                <a:tc>
                  <a:txBody>
                    <a:bodyPr/>
                    <a:lstStyle/>
                    <a:p>
                      <a:pPr algn="ctr" rtl="0" fontAlgn="ctr"/>
                      <a:r>
                        <a:rPr lang="en-US" sz="800" b="1" i="0" u="none" strike="noStrike">
                          <a:solidFill>
                            <a:srgbClr val="000000"/>
                          </a:solidFill>
                          <a:effectLst/>
                          <a:latin typeface="Arial" panose="020B0604020202020204" pitchFamily="34" charset="0"/>
                        </a:rPr>
                        <a:t>10</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935.27</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23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910.18</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7672813"/>
                  </a:ext>
                </a:extLst>
              </a:tr>
              <a:tr h="180837">
                <a:tc>
                  <a:txBody>
                    <a:bodyPr/>
                    <a:lstStyle/>
                    <a:p>
                      <a:pPr algn="ctr" rtl="0" fontAlgn="ctr"/>
                      <a:r>
                        <a:rPr lang="en-US" sz="800" b="1" i="0" u="none" strike="noStrike">
                          <a:solidFill>
                            <a:srgbClr val="000000"/>
                          </a:solidFill>
                          <a:effectLst/>
                          <a:latin typeface="Arial" panose="020B0604020202020204" pitchFamily="34" charset="0"/>
                        </a:rPr>
                        <a:t>11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853.15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23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912.26</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7117694"/>
                  </a:ext>
                </a:extLst>
              </a:tr>
              <a:tr h="172225">
                <a:tc>
                  <a:txBody>
                    <a:bodyPr/>
                    <a:lstStyle/>
                    <a:p>
                      <a:pPr algn="ctr" rtl="0" fontAlgn="ctr"/>
                      <a:r>
                        <a:rPr lang="en-US" sz="800" b="1" i="0" u="none" strike="noStrike">
                          <a:solidFill>
                            <a:srgbClr val="000000"/>
                          </a:solidFill>
                          <a:effectLst/>
                          <a:latin typeface="Arial" panose="020B0604020202020204" pitchFamily="34" charset="0"/>
                        </a:rPr>
                        <a:t>11</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854.44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24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901.24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532500"/>
                  </a:ext>
                </a:extLst>
              </a:tr>
              <a:tr h="172225">
                <a:tc>
                  <a:txBody>
                    <a:bodyPr/>
                    <a:lstStyle/>
                    <a:p>
                      <a:pPr algn="ctr" rtl="0" fontAlgn="ctr"/>
                      <a:r>
                        <a:rPr lang="en-US" sz="800" b="1" i="0" u="none" strike="noStrike">
                          <a:solidFill>
                            <a:srgbClr val="000000"/>
                          </a:solidFill>
                          <a:effectLst/>
                          <a:latin typeface="Arial" panose="020B0604020202020204" pitchFamily="34" charset="0"/>
                        </a:rPr>
                        <a:t>12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921.24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24</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899.79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9783059"/>
                  </a:ext>
                </a:extLst>
              </a:tr>
              <a:tr h="172225">
                <a:tc>
                  <a:txBody>
                    <a:bodyPr/>
                    <a:lstStyle/>
                    <a:p>
                      <a:pPr algn="ctr" rtl="0" fontAlgn="ctr"/>
                      <a:r>
                        <a:rPr lang="en-US" sz="800" b="1" i="0" u="none" strike="noStrike">
                          <a:solidFill>
                            <a:srgbClr val="000000"/>
                          </a:solidFill>
                          <a:effectLst/>
                          <a:latin typeface="Arial" panose="020B0604020202020204" pitchFamily="34" charset="0"/>
                        </a:rPr>
                        <a:t>12</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924.31</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a:solidFill>
                            <a:srgbClr val="000000"/>
                          </a:solidFill>
                          <a:effectLst/>
                          <a:latin typeface="Arial" panose="020B0604020202020204" pitchFamily="34" charset="0"/>
                        </a:rPr>
                        <a:t>25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903.05</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0273900"/>
                  </a:ext>
                </a:extLst>
              </a:tr>
              <a:tr h="172225">
                <a:tc>
                  <a:txBody>
                    <a:bodyPr/>
                    <a:lstStyle/>
                    <a:p>
                      <a:pPr algn="ctr" rtl="0" fontAlgn="ctr"/>
                      <a:r>
                        <a:rPr lang="en-US" sz="800" b="1" i="0" u="none" strike="noStrike">
                          <a:solidFill>
                            <a:srgbClr val="000000"/>
                          </a:solidFill>
                          <a:effectLst/>
                          <a:latin typeface="Arial" panose="020B0604020202020204" pitchFamily="34" charset="0"/>
                        </a:rPr>
                        <a:t>13</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845.39</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n-US" sz="800" b="1" i="0" u="none" strike="noStrike" dirty="0">
                          <a:solidFill>
                            <a:srgbClr val="000000"/>
                          </a:solidFill>
                          <a:effectLst/>
                          <a:latin typeface="Arial" panose="020B0604020202020204" pitchFamily="34" charset="0"/>
                        </a:rPr>
                        <a:t>25</a:t>
                      </a:r>
                    </a:p>
                  </a:txBody>
                  <a:tcPr marL="8073" marR="8073" marT="807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900" b="0" i="0" u="none" strike="noStrike" dirty="0">
                          <a:solidFill>
                            <a:srgbClr val="000000"/>
                          </a:solidFill>
                          <a:effectLst/>
                          <a:latin typeface="Arial" panose="020F0502020204030204" pitchFamily="34" charset="0"/>
                          <a:ea typeface="Arial"/>
                        </a:rPr>
                        <a:t>896.84</a:t>
                      </a:r>
                    </a:p>
                  </a:txBody>
                  <a:tcPr marL="8073" marR="8073" marT="807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733928"/>
                  </a:ext>
                </a:extLst>
              </a:tr>
            </a:tbl>
          </a:graphicData>
        </a:graphic>
      </p:graphicFrame>
      <p:sp>
        <p:nvSpPr>
          <p:cNvPr id="27" name="TextBox 26">
            <a:extLst>
              <a:ext uri="{FF2B5EF4-FFF2-40B4-BE49-F238E27FC236}">
                <a16:creationId xmlns:a16="http://schemas.microsoft.com/office/drawing/2014/main" id="{CEE611CC-43DE-4F63-94E1-F430738FAB0D}"/>
              </a:ext>
            </a:extLst>
          </p:cNvPr>
          <p:cNvSpPr txBox="1"/>
          <p:nvPr/>
        </p:nvSpPr>
        <p:spPr>
          <a:xfrm>
            <a:off x="51362" y="557313"/>
            <a:ext cx="2070352" cy="276999"/>
          </a:xfrm>
          <a:prstGeom prst="rect">
            <a:avLst/>
          </a:prstGeom>
          <a:noFill/>
        </p:spPr>
        <p:txBody>
          <a:bodyPr wrap="square" rtlCol="0">
            <a:no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a:t>
            </a:r>
            <a:r>
              <a:rPr lang="en-US" sz="1100" b="1" dirty="0">
                <a:latin typeface="Arial" panose="020B0604020202020204" pitchFamily="34" charset="0"/>
                <a:ea typeface="Arial Unicode MS" panose="020B0604020202020204" pitchFamily="34" charset="-128"/>
                <a:cs typeface="Arial" panose="020B0604020202020204" pitchFamily="34" charset="0"/>
              </a:rPr>
              <a:t>1 Luminance</a:t>
            </a:r>
          </a:p>
        </p:txBody>
      </p:sp>
      <p:sp>
        <p:nvSpPr>
          <p:cNvPr id="31" name="Rectangle 30">
            <a:extLst>
              <a:ext uri="{FF2B5EF4-FFF2-40B4-BE49-F238E27FC236}">
                <a16:creationId xmlns:a16="http://schemas.microsoft.com/office/drawing/2014/main" id="{09C1A86B-E1F6-43DD-86C2-969578BFB53A}"/>
              </a:ext>
            </a:extLst>
          </p:cNvPr>
          <p:cNvSpPr/>
          <p:nvPr/>
        </p:nvSpPr>
        <p:spPr>
          <a:xfrm>
            <a:off x="219480" y="6267844"/>
            <a:ext cx="5190720" cy="339260"/>
          </a:xfrm>
          <a:prstGeom prst="rect">
            <a:avLst/>
          </a:prstGeom>
        </p:spPr>
        <p:txBody>
          <a:bodyPr wrap="square">
            <a:noAutofit/>
          </a:bodyPr>
          <a:lstStyle/>
          <a:p>
            <a:pPr latinLnBrk="0">
              <a:lnSpc>
                <a:spcPct val="150000"/>
              </a:lnSpc>
            </a:pPr>
            <a:r>
              <a:rPr lang="en-US" sz="1100" b="1" dirty="0">
                <a:latin typeface="Arial" panose="020B0600000101010101" pitchFamily="34" charset="-127"/>
                <a:ea typeface="Arial" panose="020B0600000101010101" pitchFamily="34" charset="-127"/>
              </a:rPr>
              <a:t>Gage R&amp;R conclusion: </a:t>
            </a:r>
            <a:r>
              <a:rPr lang="en-US" sz="1100" dirty="0">
                <a:latin typeface="Arial" panose="020B0600000101010101" pitchFamily="34" charset="-127"/>
                <a:ea typeface="Arial" panose="020B0600000101010101" pitchFamily="34" charset="-127"/>
                <a:cs typeface="Arial" panose="020B0604020202020204" pitchFamily="34" charset="0"/>
              </a:rPr>
              <a:t>The measurement system in station 1 is Good</a:t>
            </a:r>
            <a:endParaRPr lang="en-US" sz="1200" dirty="0">
              <a:latin typeface="LG Smart_H Regular" panose="020B0600000101010101" pitchFamily="34" charset="-127"/>
              <a:ea typeface="LG Smart_H Regular" panose="020B0600000101010101" pitchFamily="34" charset="-127"/>
            </a:endParaRPr>
          </a:p>
        </p:txBody>
      </p:sp>
      <p:sp>
        <p:nvSpPr>
          <p:cNvPr id="32" name="TextBox 31">
            <a:extLst>
              <a:ext uri="{FF2B5EF4-FFF2-40B4-BE49-F238E27FC236}">
                <a16:creationId xmlns:a16="http://schemas.microsoft.com/office/drawing/2014/main" id="{92540360-258F-46E8-8DEE-474F710DF22D}"/>
              </a:ext>
            </a:extLst>
          </p:cNvPr>
          <p:cNvSpPr txBox="1"/>
          <p:nvPr/>
        </p:nvSpPr>
        <p:spPr>
          <a:xfrm>
            <a:off x="5698444" y="5119661"/>
            <a:ext cx="4310999" cy="1015663"/>
          </a:xfrm>
          <a:prstGeom prst="rect">
            <a:avLst/>
          </a:prstGeom>
          <a:noFill/>
        </p:spPr>
        <p:txBody>
          <a:bodyPr wrap="square" rtlCol="0">
            <a:noAutofit/>
          </a:bodyPr>
          <a:lstStyle/>
          <a:p>
            <a:pPr marL="171450" indent="-171450" latinLnBrk="0">
              <a:buFont typeface="Arial" panose="020B0604020202020204" pitchFamily="34" charset="0"/>
              <a:buChar char="•"/>
            </a:pPr>
            <a:r>
              <a:rPr lang="en-US" sz="11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100" dirty="0">
                <a:latin typeface="Arial" panose="020B0604020202020204" pitchFamily="34" charset="0"/>
                <a:ea typeface="Arial Unicode MS" panose="020B0604020202020204" pitchFamily="34" charset="-128"/>
                <a:cs typeface="Arial" panose="020B0604020202020204" pitchFamily="34" charset="0"/>
              </a:rPr>
              <a:t>R&amp;R = </a:t>
            </a:r>
            <a:r>
              <a:rPr lang="en-US" sz="1100" dirty="0">
                <a:latin typeface="Arial" panose="020B0604020202020204" pitchFamily="34" charset="0"/>
                <a:ea typeface="Arial Unicode MS" panose="020B0604020202020204" pitchFamily="34" charset="-128"/>
                <a:cs typeface="Arial" panose="020B0604020202020204" pitchFamily="34" charset="0"/>
              </a:rPr>
              <a:t>0.29 &lt; </a:t>
            </a:r>
            <a:r>
              <a:rPr lang="vi-VN" sz="1100" dirty="0">
                <a:latin typeface="Arial" panose="020B0604020202020204" pitchFamily="34" charset="0"/>
                <a:ea typeface="Arial Unicode MS" panose="020B0604020202020204" pitchFamily="34" charset="-128"/>
                <a:cs typeface="Arial" panose="020B0604020202020204" pitchFamily="34" charset="0"/>
              </a:rPr>
              <a:t>10% </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1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latinLnBrk="0">
              <a:buFont typeface="Arial" panose="020B0604020202020204" pitchFamily="34" charset="0"/>
              <a:buChar char="•"/>
            </a:pP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a:t>
            </a:r>
            <a:r>
              <a:rPr 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5.39 </a:t>
            </a:r>
            <a:r>
              <a:rPr lang="en-US" sz="1100" dirty="0">
                <a:latin typeface="Arial" panose="020B0604020202020204" pitchFamily="34" charset="0"/>
                <a:ea typeface="Arial Unicode MS" panose="020B0604020202020204" pitchFamily="34" charset="-128"/>
                <a:cs typeface="Arial" panose="020B0604020202020204" pitchFamily="34" charset="0"/>
              </a:rPr>
              <a:t>&lt; </a:t>
            </a:r>
            <a:r>
              <a:rPr lang="vi-VN" sz="1100" dirty="0">
                <a:latin typeface="Arial" panose="020B0604020202020204" pitchFamily="34" charset="0"/>
                <a:ea typeface="Arial Unicode MS" panose="020B0604020202020204" pitchFamily="34" charset="-128"/>
                <a:cs typeface="Arial" panose="020B0604020202020204" pitchFamily="34" charset="0"/>
              </a:rPr>
              <a:t>10% </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1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itchFamily="2" charset="2"/>
              </a:rPr>
              <a:t>OK</a:t>
            </a:r>
            <a:endParaRPr lang="en-US" sz="1200" dirty="0">
              <a:solidFill>
                <a:srgbClr val="006600"/>
              </a:solidFill>
              <a:latin typeface="LG Smart_H Regular" panose="020B0600000101010101" pitchFamily="34" charset="-127"/>
              <a:ea typeface="LG Smart_H Regular" panose="020B0600000101010101" pitchFamily="34" charset="-127"/>
              <a:sym typeface="Wingdings" pitchFamily="2" charset="2"/>
            </a:endParaRPr>
          </a:p>
          <a:p>
            <a:pPr marL="171450" indent="-171450" latinLnBrk="0">
              <a:buFont typeface="Arial" panose="020B0604020202020204" pitchFamily="34" charset="0"/>
              <a:buChar char="•"/>
            </a:pPr>
            <a:r>
              <a:rPr lang="en-US" sz="1100" noProof="1">
                <a:latin typeface="Arial" panose="020B0600000101010101" pitchFamily="34" charset="-127"/>
                <a:ea typeface="Arial" panose="020B0600000101010101" pitchFamily="34" charset="-127"/>
              </a:rPr>
              <a:t>% Tolerance= 1.02 % </a:t>
            </a:r>
            <a:r>
              <a:rPr lang="en-US" sz="1100" dirty="0">
                <a:latin typeface="Arial" panose="020B0604020202020204" pitchFamily="34" charset="0"/>
                <a:ea typeface="Arial Unicode MS" panose="020B0604020202020204" pitchFamily="34" charset="-128"/>
                <a:cs typeface="Arial" panose="020B0604020202020204" pitchFamily="34" charset="0"/>
              </a:rPr>
              <a:t>&lt;</a:t>
            </a:r>
            <a:r>
              <a:rPr lang="en-US" sz="1100" noProof="1">
                <a:latin typeface="Arial" panose="020B0600000101010101" pitchFamily="34" charset="-127"/>
                <a:ea typeface="Arial" panose="020B0600000101010101" pitchFamily="34" charset="-127"/>
              </a:rPr>
              <a:t> 10% </a:t>
            </a:r>
            <a:r>
              <a:rPr lang="en-US" sz="1100" dirty="0">
                <a:latin typeface="Arial" panose="020B0600000101010101" pitchFamily="34" charset="-127"/>
                <a:ea typeface="Arial" panose="020B0600000101010101" pitchFamily="34" charset="-127"/>
                <a:sym typeface="Wingdings" pitchFamily="2" charset="2"/>
              </a:rPr>
              <a:t> </a:t>
            </a:r>
            <a:r>
              <a:rPr lang="en-US" sz="1100" dirty="0">
                <a:solidFill>
                  <a:srgbClr val="006600"/>
                </a:solidFill>
                <a:latin typeface="Arial" panose="020B0600000101010101" pitchFamily="34" charset="-127"/>
                <a:ea typeface="Arial" panose="020B0600000101010101" pitchFamily="34" charset="-127"/>
                <a:sym typeface="Wingdings" pitchFamily="2" charset="2"/>
              </a:rPr>
              <a:t>Can use to judge OK/NG</a:t>
            </a:r>
          </a:p>
          <a:p>
            <a:pPr marL="171450" indent="-171450" latinLnBrk="0">
              <a:buFont typeface="Arial" panose="020B0604020202020204" pitchFamily="34" charset="0"/>
              <a:buChar char="•"/>
            </a:pPr>
            <a:r>
              <a:rPr lang="en-US"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NDC: 26 &gt; 5  OK</a:t>
            </a:r>
          </a:p>
          <a:p>
            <a:pPr latinLnBrk="0"/>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pic>
        <p:nvPicPr>
          <p:cNvPr id="2" name="Picture 1">
            <a:extLst>
              <a:ext uri="{FF2B5EF4-FFF2-40B4-BE49-F238E27FC236}">
                <a16:creationId xmlns:a16="http://schemas.microsoft.com/office/drawing/2014/main" id="{A786E974-04D9-4003-953F-1624E2972D11}"/>
              </a:ext>
            </a:extLst>
          </p:cNvPr>
          <p:cNvPicPr>
            <a:picLocks noChangeAspect="1"/>
          </p:cNvPicPr>
          <p:nvPr/>
        </p:nvPicPr>
        <p:blipFill>
          <a:blip r:embed="rId3"/>
          <a:stretch>
            <a:fillRect/>
          </a:stretch>
        </p:blipFill>
        <p:spPr>
          <a:xfrm>
            <a:off x="2981325" y="1822801"/>
            <a:ext cx="2569021" cy="3645320"/>
          </a:xfrm>
          <a:prstGeom prst="rect">
            <a:avLst/>
          </a:prstGeom>
        </p:spPr>
      </p:pic>
      <p:pic>
        <p:nvPicPr>
          <p:cNvPr id="5" name="Picture 4">
            <a:extLst>
              <a:ext uri="{FF2B5EF4-FFF2-40B4-BE49-F238E27FC236}">
                <a16:creationId xmlns:a16="http://schemas.microsoft.com/office/drawing/2014/main" id="{F579DB64-10E5-4BE0-9E68-AB5550A52832}"/>
              </a:ext>
            </a:extLst>
          </p:cNvPr>
          <p:cNvPicPr>
            <a:picLocks noChangeAspect="1"/>
          </p:cNvPicPr>
          <p:nvPr/>
        </p:nvPicPr>
        <p:blipFill>
          <a:blip r:embed="rId4"/>
          <a:stretch>
            <a:fillRect/>
          </a:stretch>
        </p:blipFill>
        <p:spPr>
          <a:xfrm>
            <a:off x="5789789" y="1755421"/>
            <a:ext cx="4005973" cy="3008418"/>
          </a:xfrm>
          <a:prstGeom prst="rect">
            <a:avLst/>
          </a:prstGeom>
        </p:spPr>
      </p:pic>
      <p:sp>
        <p:nvSpPr>
          <p:cNvPr id="17" name="AutoShape 57">
            <a:extLst>
              <a:ext uri="{FF2B5EF4-FFF2-40B4-BE49-F238E27FC236}">
                <a16:creationId xmlns:a16="http://schemas.microsoft.com/office/drawing/2014/main" id="{A8A20566-6A11-4281-B6A6-4827686DAF5A}"/>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18" name="AutoShape 55">
            <a:extLst>
              <a:ext uri="{FF2B5EF4-FFF2-40B4-BE49-F238E27FC236}">
                <a16:creationId xmlns:a16="http://schemas.microsoft.com/office/drawing/2014/main" id="{0AAAAE11-962F-4905-A704-79C99CD624BF}"/>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9" name="AutoShape 56">
            <a:extLst>
              <a:ext uri="{FF2B5EF4-FFF2-40B4-BE49-F238E27FC236}">
                <a16:creationId xmlns:a16="http://schemas.microsoft.com/office/drawing/2014/main" id="{65C4F444-965B-4E90-AAB3-86012AF21074}"/>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sp>
        <p:nvSpPr>
          <p:cNvPr id="22" name="AutoShape 59">
            <a:extLst>
              <a:ext uri="{FF2B5EF4-FFF2-40B4-BE49-F238E27FC236}">
                <a16:creationId xmlns:a16="http://schemas.microsoft.com/office/drawing/2014/main" id="{B53444EE-0D82-41A0-9F29-932D68773F89}"/>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8" name="AutoShape 58">
            <a:extLst>
              <a:ext uri="{FF2B5EF4-FFF2-40B4-BE49-F238E27FC236}">
                <a16:creationId xmlns:a16="http://schemas.microsoft.com/office/drawing/2014/main" id="{1F71CA43-BD44-40DA-A6CC-F39D9CDDF9CC}"/>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cxnSp>
        <p:nvCxnSpPr>
          <p:cNvPr id="29" name="Straight Connector 28">
            <a:extLst>
              <a:ext uri="{FF2B5EF4-FFF2-40B4-BE49-F238E27FC236}">
                <a16:creationId xmlns:a16="http://schemas.microsoft.com/office/drawing/2014/main" id="{F25EF069-A357-49D4-BCF3-59C570CAC0D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7649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9">
            <a:extLst>
              <a:ext uri="{FF2B5EF4-FFF2-40B4-BE49-F238E27FC236}">
                <a16:creationId xmlns:a16="http://schemas.microsoft.com/office/drawing/2014/main" id="{42E250E9-7B6D-4CB6-9D59-474D4A6C6285}"/>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18" name="AutoShape 56">
            <a:extLst>
              <a:ext uri="{FF2B5EF4-FFF2-40B4-BE49-F238E27FC236}">
                <a16:creationId xmlns:a16="http://schemas.microsoft.com/office/drawing/2014/main" id="{C0C944A4-101E-42D6-81BA-0D952D7C49D3}"/>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pic>
        <p:nvPicPr>
          <p:cNvPr id="9" name="Picture 8">
            <a:extLst>
              <a:ext uri="{FF2B5EF4-FFF2-40B4-BE49-F238E27FC236}">
                <a16:creationId xmlns:a16="http://schemas.microsoft.com/office/drawing/2014/main" id="{D87638E1-3883-4927-AC6D-92EA20AB92E1}"/>
              </a:ext>
            </a:extLst>
          </p:cNvPr>
          <p:cNvPicPr>
            <a:picLocks noChangeAspect="1"/>
          </p:cNvPicPr>
          <p:nvPr/>
        </p:nvPicPr>
        <p:blipFill>
          <a:blip r:embed="rId3"/>
          <a:stretch>
            <a:fillRect/>
          </a:stretch>
        </p:blipFill>
        <p:spPr>
          <a:xfrm>
            <a:off x="2898636" y="1261535"/>
            <a:ext cx="3197364" cy="4488279"/>
          </a:xfrm>
          <a:prstGeom prst="rect">
            <a:avLst/>
          </a:prstGeom>
        </p:spPr>
      </p:pic>
      <p:sp>
        <p:nvSpPr>
          <p:cNvPr id="7" name="제목 1"/>
          <p:cNvSpPr txBox="1">
            <a:spLocks/>
          </p:cNvSpPr>
          <p:nvPr/>
        </p:nvSpPr>
        <p:spPr>
          <a:xfrm>
            <a:off x="63248" y="59759"/>
            <a:ext cx="8915400" cy="418058"/>
          </a:xfrm>
          <a:prstGeom prst="rect">
            <a:avLst/>
          </a:prstGeom>
        </p:spPr>
        <p:txBody>
          <a:bodyPr vert="horz" lIns="91440" tIns="45720" rIns="91440" bIns="45720" rtlCol="0" anchor="ctr">
            <a:normAutofit/>
          </a:bodyPr>
          <a:lstStyle/>
          <a:p>
            <a:pPr lvl="0" eaLnBrk="0" hangingPunct="0">
              <a:defRPr/>
            </a:pPr>
            <a:r>
              <a:rPr lang="en-US" altLang="ko-KR" sz="1600" b="1" kern="0" noProof="0" dirty="0">
                <a:latin typeface="Arial Narrow" panose="020B0606020202030204" pitchFamily="34" charset="0"/>
                <a:ea typeface="Arial Unicode MS" panose="020B0604020202020204" pitchFamily="34" charset="-128"/>
                <a:cs typeface="Arial" panose="020B0604020202020204" pitchFamily="34" charset="0"/>
              </a:rPr>
              <a:t>4.</a:t>
            </a: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a:t>
            </a: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Check type 3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15" name="Straight Connector 14">
            <a:extLst>
              <a:ext uri="{FF2B5EF4-FFF2-40B4-BE49-F238E27FC236}">
                <a16:creationId xmlns:a16="http://schemas.microsoft.com/office/drawing/2014/main" id="{2F116EDF-8FB8-49D4-9D95-4106566CA48E}"/>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Slide Number Placeholder 4">
            <a:extLst>
              <a:ext uri="{FF2B5EF4-FFF2-40B4-BE49-F238E27FC236}">
                <a16:creationId xmlns:a16="http://schemas.microsoft.com/office/drawing/2014/main" id="{8B7C0E50-731F-45CB-B95B-47B094B1A43F}"/>
              </a:ext>
            </a:extLst>
          </p:cNvPr>
          <p:cNvSpPr>
            <a:spLocks noGrp="1"/>
          </p:cNvSpPr>
          <p:nvPr>
            <p:ph type="sldNum" sz="quarter" idx="12"/>
          </p:nvPr>
        </p:nvSpPr>
        <p:spPr>
          <a:xfrm>
            <a:off x="3700326" y="6643499"/>
            <a:ext cx="2133600" cy="198047"/>
          </a:xfrm>
        </p:spPr>
        <p:txBody>
          <a:bodyPr/>
          <a:lstStyle/>
          <a:p>
            <a:pPr algn="ctr"/>
            <a:r>
              <a:rPr sz="1000" b="0">
                <a:latin typeface="Arial"/>
              </a:rPr>
              <a:t>23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2" name="TextBox 21">
            <a:extLst>
              <a:ext uri="{FF2B5EF4-FFF2-40B4-BE49-F238E27FC236}">
                <a16:creationId xmlns:a16="http://schemas.microsoft.com/office/drawing/2014/main" id="{1D7A0E4A-FE65-4EFE-9AAA-D95F0FD47D39}"/>
              </a:ext>
            </a:extLst>
          </p:cNvPr>
          <p:cNvSpPr txBox="1"/>
          <p:nvPr/>
        </p:nvSpPr>
        <p:spPr>
          <a:xfrm>
            <a:off x="63248" y="535377"/>
            <a:ext cx="2679952" cy="276999"/>
          </a:xfrm>
          <a:prstGeom prst="rect">
            <a:avLst/>
          </a:prstGeom>
          <a:noFill/>
        </p:spPr>
        <p:txBody>
          <a:bodyPr wrap="square" rtlCol="0">
            <a:no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a:t>
            </a:r>
            <a:r>
              <a:rPr lang="en-US" sz="1100" b="1" dirty="0">
                <a:latin typeface="Arial" panose="020B0604020202020204" pitchFamily="34" charset="0"/>
                <a:ea typeface="Arial Unicode MS" panose="020B0604020202020204" pitchFamily="34" charset="-128"/>
                <a:cs typeface="Arial" panose="020B0604020202020204" pitchFamily="34" charset="0"/>
              </a:rPr>
              <a:t>2 Luminance</a:t>
            </a:r>
          </a:p>
        </p:txBody>
      </p:sp>
      <p:sp>
        <p:nvSpPr>
          <p:cNvPr id="16" name="TextBox 15">
            <a:extLst>
              <a:ext uri="{FF2B5EF4-FFF2-40B4-BE49-F238E27FC236}">
                <a16:creationId xmlns:a16="http://schemas.microsoft.com/office/drawing/2014/main" id="{3966E839-E464-44A6-B3A7-069EFFB3BB53}"/>
              </a:ext>
            </a:extLst>
          </p:cNvPr>
          <p:cNvSpPr txBox="1"/>
          <p:nvPr/>
        </p:nvSpPr>
        <p:spPr>
          <a:xfrm>
            <a:off x="6027146" y="4781800"/>
            <a:ext cx="3931435" cy="1015663"/>
          </a:xfrm>
          <a:prstGeom prst="rect">
            <a:avLst/>
          </a:prstGeom>
          <a:noFill/>
        </p:spPr>
        <p:txBody>
          <a:bodyPr wrap="square" rtlCol="0">
            <a:noAutofit/>
          </a:bodyPr>
          <a:lstStyle/>
          <a:p>
            <a:pPr marL="171450" indent="-171450" latinLnBrk="0">
              <a:buFont typeface="Arial" panose="020B0604020202020204" pitchFamily="34" charset="0"/>
              <a:buChar char="•"/>
            </a:pPr>
            <a:r>
              <a:rPr lang="en-US" sz="11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100" dirty="0">
                <a:latin typeface="Arial" panose="020B0604020202020204" pitchFamily="34" charset="0"/>
                <a:ea typeface="Arial Unicode MS" panose="020B0604020202020204" pitchFamily="34" charset="-128"/>
                <a:cs typeface="Arial" panose="020B0604020202020204" pitchFamily="34" charset="0"/>
              </a:rPr>
              <a:t>R&amp;R = </a:t>
            </a:r>
            <a:r>
              <a:rPr lang="en-US" sz="1100" dirty="0">
                <a:latin typeface="Arial" panose="020B0604020202020204" pitchFamily="34" charset="0"/>
                <a:ea typeface="Arial Unicode MS" panose="020B0604020202020204" pitchFamily="34" charset="-128"/>
                <a:cs typeface="Arial" panose="020B0604020202020204" pitchFamily="34" charset="0"/>
              </a:rPr>
              <a:t>0.21</a:t>
            </a:r>
            <a:r>
              <a:rPr lang="vi-VN" sz="1100" dirty="0">
                <a:latin typeface="Arial" panose="020B0604020202020204" pitchFamily="34" charset="0"/>
                <a:ea typeface="Arial Unicode MS" panose="020B0604020202020204" pitchFamily="34" charset="-128"/>
                <a:cs typeface="Arial" panose="020B0604020202020204" pitchFamily="34" charset="0"/>
              </a:rPr>
              <a:t>% </a:t>
            </a:r>
            <a:r>
              <a:rPr lang="en-US" sz="1100" dirty="0">
                <a:latin typeface="Arial" panose="020B0604020202020204" pitchFamily="34" charset="0"/>
                <a:ea typeface="Arial Unicode MS" panose="020B0604020202020204" pitchFamily="34" charset="-128"/>
                <a:cs typeface="Arial" panose="020B0604020202020204" pitchFamily="34" charset="0"/>
              </a:rPr>
              <a:t>&lt;</a:t>
            </a:r>
            <a:r>
              <a:rPr lang="vi-VN" sz="1100" dirty="0">
                <a:latin typeface="Arial" panose="020B0604020202020204" pitchFamily="34" charset="0"/>
                <a:ea typeface="Arial Unicode MS" panose="020B0604020202020204" pitchFamily="34" charset="-128"/>
                <a:cs typeface="Arial" panose="020B0604020202020204" pitchFamily="34" charset="0"/>
              </a:rPr>
              <a:t> 10% </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1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latinLnBrk="0">
              <a:buFont typeface="Arial" panose="020B0604020202020204" pitchFamily="34" charset="0"/>
              <a:buChar char="•"/>
            </a:pP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a:t>
            </a:r>
            <a:r>
              <a:rPr 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4.58</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&lt;</a:t>
            </a:r>
            <a:r>
              <a:rPr lang="vi-VN" sz="1100" dirty="0">
                <a:latin typeface="Arial" panose="020B0604020202020204" pitchFamily="34" charset="0"/>
                <a:ea typeface="Arial Unicode MS" panose="020B0604020202020204" pitchFamily="34" charset="-128"/>
                <a:cs typeface="Arial" panose="020B0604020202020204" pitchFamily="34" charset="0"/>
              </a:rPr>
              <a:t> 10% </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1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latinLnBrk="0">
              <a:buFont typeface="Arial" panose="020B0604020202020204" pitchFamily="34" charset="0"/>
              <a:buChar char="•"/>
            </a:pPr>
            <a:r>
              <a:rPr lang="en-US" sz="1100" noProof="1">
                <a:latin typeface="Arial" panose="020B0600000101010101" pitchFamily="34" charset="-127"/>
                <a:ea typeface="Arial" panose="020B0600000101010101" pitchFamily="34" charset="-127"/>
              </a:rPr>
              <a:t>% Tolerance= 0.85 % &lt; 10% </a:t>
            </a:r>
            <a:r>
              <a:rPr lang="en-US" sz="1100" dirty="0">
                <a:latin typeface="Arial" panose="020B0600000101010101" pitchFamily="34" charset="-127"/>
                <a:ea typeface="Arial" panose="020B0600000101010101" pitchFamily="34" charset="-127"/>
                <a:sym typeface="Wingdings" pitchFamily="2" charset="2"/>
              </a:rPr>
              <a:t> </a:t>
            </a:r>
            <a:r>
              <a:rPr lang="en-US" sz="1100" dirty="0">
                <a:solidFill>
                  <a:srgbClr val="006600"/>
                </a:solidFill>
                <a:latin typeface="Arial" panose="020B0600000101010101" pitchFamily="34" charset="-127"/>
                <a:ea typeface="Arial" panose="020B0600000101010101" pitchFamily="34" charset="-127"/>
                <a:sym typeface="Wingdings" pitchFamily="2" charset="2"/>
              </a:rPr>
              <a:t>Can use to judge OK/NG</a:t>
            </a:r>
          </a:p>
          <a:p>
            <a:pPr marL="171450" indent="-171450" latinLnBrk="0">
              <a:buFont typeface="Arial" panose="020B0604020202020204" pitchFamily="34" charset="0"/>
              <a:buChar char="•"/>
            </a:pPr>
            <a:r>
              <a:rPr lang="en-US"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NDC: 30 &gt; 5  OK</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sp>
        <p:nvSpPr>
          <p:cNvPr id="21" name="TextBox 20">
            <a:extLst>
              <a:ext uri="{FF2B5EF4-FFF2-40B4-BE49-F238E27FC236}">
                <a16:creationId xmlns:a16="http://schemas.microsoft.com/office/drawing/2014/main" id="{0C04EA2E-54FC-4AFE-90F2-2B41EEBF1447}"/>
              </a:ext>
            </a:extLst>
          </p:cNvPr>
          <p:cNvSpPr txBox="1"/>
          <p:nvPr/>
        </p:nvSpPr>
        <p:spPr>
          <a:xfrm>
            <a:off x="59902" y="6296220"/>
            <a:ext cx="6765306" cy="276999"/>
          </a:xfrm>
          <a:prstGeom prst="rect">
            <a:avLst/>
          </a:prstGeom>
          <a:noFill/>
        </p:spPr>
        <p:txBody>
          <a:bodyPr wrap="square" rtlCol="0">
            <a:noAutofit/>
          </a:bodyPr>
          <a:lstStyle/>
          <a:p>
            <a:pPr marL="171450" indent="-171450" latinLnBrk="0">
              <a:buFont typeface="Wingdings" panose="05000000000000000000" pitchFamily="2" charset="2"/>
              <a:buChar char="Ø"/>
            </a:pPr>
            <a:r>
              <a:rPr lang="vi-VN" sz="11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a:t>
            </a:r>
            <a:r>
              <a:rPr lang="vi-VN"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r>
              <a:rPr lang="en-US"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Measurement system of station 2 is Good after improving measurement system</a:t>
            </a:r>
          </a:p>
        </p:txBody>
      </p:sp>
      <p:sp>
        <p:nvSpPr>
          <p:cNvPr id="23" name="Text Box 2">
            <a:extLst>
              <a:ext uri="{FF2B5EF4-FFF2-40B4-BE49-F238E27FC236}">
                <a16:creationId xmlns:a16="http://schemas.microsoft.com/office/drawing/2014/main" id="{18AB2045-A1D9-4F7C-ABE5-0EE724EF6EEB}"/>
              </a:ext>
            </a:extLst>
          </p:cNvPr>
          <p:cNvSpPr txBox="1">
            <a:spLocks noChangeArrowheads="1"/>
          </p:cNvSpPr>
          <p:nvPr/>
        </p:nvSpPr>
        <p:spPr bwMode="auto">
          <a:xfrm>
            <a:off x="40311" y="786484"/>
            <a:ext cx="9332289" cy="304800"/>
          </a:xfrm>
          <a:prstGeom prst="rect">
            <a:avLst/>
          </a:prstGeom>
          <a:noFill/>
          <a:ln w="9525" algn="ctr">
            <a:noFill/>
            <a:miter lim="800000"/>
            <a:headEnd/>
            <a:tailEnd/>
          </a:ln>
        </p:spPr>
        <p:txBody>
          <a:bodyPr lIns="84374" tIns="42187" rIns="84374" bIns="42187" anchor="ctr"/>
          <a:lstStyle/>
          <a:p>
            <a:pPr defTabSz="844083">
              <a:defRPr/>
            </a:pPr>
            <a:r>
              <a:rPr sz="1100" b="0">
                <a:latin typeface="Arial"/>
              </a:rPr>
              <a:t>After adjusting camera angle to 90.0°, Type 3 Gage Study was repeated for Station 2 to verify measurement repeatability.</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4" name="AutoShape 55">
            <a:extLst>
              <a:ext uri="{FF2B5EF4-FFF2-40B4-BE49-F238E27FC236}">
                <a16:creationId xmlns:a16="http://schemas.microsoft.com/office/drawing/2014/main" id="{D17A6884-A0A7-406C-A731-813E957B5BCD}"/>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graphicFrame>
        <p:nvGraphicFramePr>
          <p:cNvPr id="6" name="Table 5">
            <a:extLst>
              <a:ext uri="{FF2B5EF4-FFF2-40B4-BE49-F238E27FC236}">
                <a16:creationId xmlns:a16="http://schemas.microsoft.com/office/drawing/2014/main" id="{EBD78909-2208-48C8-9FE8-B1C822F4B79B}"/>
              </a:ext>
            </a:extLst>
          </p:cNvPr>
          <p:cNvGraphicFramePr>
            <a:graphicFrameLocks noGrp="1"/>
          </p:cNvGraphicFramePr>
          <p:nvPr>
            <p:extLst>
              <p:ext uri="{D42A27DB-BD31-4B8C-83A1-F6EECF244321}">
                <p14:modId xmlns:p14="http://schemas.microsoft.com/office/powerpoint/2010/main" val="1538451455"/>
              </p:ext>
            </p:extLst>
          </p:nvPr>
        </p:nvGraphicFramePr>
        <p:xfrm>
          <a:off x="107420" y="1247455"/>
          <a:ext cx="2711980" cy="4769863"/>
        </p:xfrm>
        <a:graphic>
          <a:graphicData uri="http://schemas.openxmlformats.org/drawingml/2006/table">
            <a:tbl>
              <a:tblPr/>
              <a:tblGrid>
                <a:gridCol w="677995">
                  <a:extLst>
                    <a:ext uri="{9D8B030D-6E8A-4147-A177-3AD203B41FA5}">
                      <a16:colId xmlns:a16="http://schemas.microsoft.com/office/drawing/2014/main" val="2454351302"/>
                    </a:ext>
                  </a:extLst>
                </a:gridCol>
                <a:gridCol w="677995">
                  <a:extLst>
                    <a:ext uri="{9D8B030D-6E8A-4147-A177-3AD203B41FA5}">
                      <a16:colId xmlns:a16="http://schemas.microsoft.com/office/drawing/2014/main" val="1364988761"/>
                    </a:ext>
                  </a:extLst>
                </a:gridCol>
                <a:gridCol w="677995">
                  <a:extLst>
                    <a:ext uri="{9D8B030D-6E8A-4147-A177-3AD203B41FA5}">
                      <a16:colId xmlns:a16="http://schemas.microsoft.com/office/drawing/2014/main" val="540453528"/>
                    </a:ext>
                  </a:extLst>
                </a:gridCol>
                <a:gridCol w="677995">
                  <a:extLst>
                    <a:ext uri="{9D8B030D-6E8A-4147-A177-3AD203B41FA5}">
                      <a16:colId xmlns:a16="http://schemas.microsoft.com/office/drawing/2014/main" val="1565661320"/>
                    </a:ext>
                  </a:extLst>
                </a:gridCol>
              </a:tblGrid>
              <a:tr h="159488">
                <a:tc>
                  <a:txBody>
                    <a:bodyPr/>
                    <a:lstStyle/>
                    <a:p>
                      <a:pPr algn="ctr" rtl="0" fontAlgn="ctr"/>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89677896"/>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946.86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928.45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092601"/>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949.24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919.77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307722"/>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871.49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918.29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1701855"/>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871.89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919.34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7195219"/>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846.49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918.22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9260361"/>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847.85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903.63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9897662"/>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901.35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900.43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2897988"/>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898.05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847.94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5657016"/>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951.03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850.22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572026"/>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950.78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872.57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1261525"/>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890.56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869.91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758953"/>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892.16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948.43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07352"/>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855.23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950.59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1333202"/>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851.36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918.35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0630780"/>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889.44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920.88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6073922"/>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886.99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846.80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4930923"/>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882.94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847.89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8780344"/>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882.16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870.83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2366353"/>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933.20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871.74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4745787"/>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937.61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961.99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3611454"/>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861.69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963.88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627802"/>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859.00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931.05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8179688"/>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854.84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936.46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1374"/>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856.49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877.87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120300"/>
                  </a:ext>
                </a:extLst>
              </a:tr>
              <a:tr h="184415">
                <a:tc>
                  <a:txBody>
                    <a:bodyPr/>
                    <a:lstStyle/>
                    <a:p>
                      <a:pPr algn="ctr" fontAlgn="ctr"/>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926.83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dirty="0">
                          <a:solidFill>
                            <a:srgbClr val="000000"/>
                          </a:solidFill>
                          <a:effectLst/>
                          <a:latin typeface="Arial" panose="020F0502020204030204" pitchFamily="34" charset="0"/>
                          <a:ea typeface="Arial"/>
                        </a:rPr>
                        <a:t>877.12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6660481"/>
                  </a:ext>
                </a:extLst>
              </a:tr>
            </a:tbl>
          </a:graphicData>
        </a:graphic>
      </p:graphicFrame>
      <p:pic>
        <p:nvPicPr>
          <p:cNvPr id="8" name="Picture 7">
            <a:extLst>
              <a:ext uri="{FF2B5EF4-FFF2-40B4-BE49-F238E27FC236}">
                <a16:creationId xmlns:a16="http://schemas.microsoft.com/office/drawing/2014/main" id="{BB0F8718-B35E-4C23-BD06-E9D07E02704C}"/>
              </a:ext>
            </a:extLst>
          </p:cNvPr>
          <p:cNvPicPr>
            <a:picLocks noChangeAspect="1"/>
          </p:cNvPicPr>
          <p:nvPr/>
        </p:nvPicPr>
        <p:blipFill>
          <a:blip r:embed="rId4"/>
          <a:stretch>
            <a:fillRect/>
          </a:stretch>
        </p:blipFill>
        <p:spPr>
          <a:xfrm>
            <a:off x="5911316" y="1508265"/>
            <a:ext cx="3931436" cy="2957124"/>
          </a:xfrm>
          <a:prstGeom prst="rect">
            <a:avLst/>
          </a:prstGeom>
        </p:spPr>
      </p:pic>
      <p:sp>
        <p:nvSpPr>
          <p:cNvPr id="17" name="AutoShape 57">
            <a:extLst>
              <a:ext uri="{FF2B5EF4-FFF2-40B4-BE49-F238E27FC236}">
                <a16:creationId xmlns:a16="http://schemas.microsoft.com/office/drawing/2014/main" id="{7AC55846-A8AC-4576-9929-69CC7DB8A83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19" name="AutoShape 58">
            <a:extLst>
              <a:ext uri="{FF2B5EF4-FFF2-40B4-BE49-F238E27FC236}">
                <a16:creationId xmlns:a16="http://schemas.microsoft.com/office/drawing/2014/main" id="{C1BD87E1-CF39-4ACA-8A8B-E73D4CC9739D}"/>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spTree>
    <p:extLst>
      <p:ext uri="{BB962C8B-B14F-4D97-AF65-F5344CB8AC3E}">
        <p14:creationId xmlns:p14="http://schemas.microsoft.com/office/powerpoint/2010/main" val="381964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181293" cy="418058"/>
          </a:xfrm>
          <a:prstGeom prst="rect">
            <a:avLst/>
          </a:prstGeom>
        </p:spPr>
        <p:txBody>
          <a:bodyPr vert="horz" lIns="91440" tIns="45720" rIns="91440" bIns="45720" rtlCol="0" anchor="ctr">
            <a:normAutofit/>
          </a:bodyPr>
          <a:lstStyle/>
          <a:p>
            <a:pPr lvl="0" eaLnBrk="0" hangingPunct="0">
              <a:defRPr/>
            </a:pP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4.3 Xbar-R Chart</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Review </a:t>
            </a: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after improving the measurement system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43" name="TextBox 42"/>
          <p:cNvSpPr txBox="1"/>
          <p:nvPr/>
        </p:nvSpPr>
        <p:spPr>
          <a:xfrm>
            <a:off x="67106" y="842041"/>
            <a:ext cx="9457894" cy="461665"/>
          </a:xfrm>
          <a:prstGeom prst="rect">
            <a:avLst/>
          </a:prstGeom>
          <a:noFill/>
        </p:spPr>
        <p:txBody>
          <a:bodyPr wrap="square" rtlCol="0">
            <a:spAutoFit/>
          </a:bodyPr>
          <a:lstStyle/>
          <a:p>
            <a:r>
              <a:rPr lang="en-US" altLang="ko-KR" sz="1100" dirty="0">
                <a:latin typeface="Arial" panose="020B0604020202020204" pitchFamily="34" charset="0"/>
                <a:ea typeface="Arial Unicode MS" panose="020B0604020202020204" pitchFamily="34" charset="-128"/>
                <a:cs typeface="Arial" panose="020B0604020202020204" pitchFamily="34" charset="0"/>
              </a:rPr>
              <a:t>To monitor the mean and the variation of process after applying improvement and use control chart to monitor process stability over time.</a:t>
            </a:r>
          </a:p>
          <a:p>
            <a:r>
              <a:rPr lang="en-US" altLang="ko-KR" sz="1100" dirty="0">
                <a:latin typeface="Arial" panose="020B0604020202020204" pitchFamily="34" charset="0"/>
                <a:ea typeface="Arial Unicode MS" panose="020B0604020202020204" pitchFamily="34" charset="-128"/>
                <a:cs typeface="Arial" panose="020B0604020202020204" pitchFamily="34" charset="0"/>
              </a:rPr>
              <a:t>- Sampling method: Rational sub group sampling</a:t>
            </a:r>
            <a:r>
              <a:rPr lang="vi-VN" altLang="ko-KR" sz="1100" dirty="0">
                <a:latin typeface="Arial" panose="020B0604020202020204" pitchFamily="34" charset="0"/>
                <a:ea typeface="Arial Unicode MS" panose="020B0604020202020204" pitchFamily="34" charset="-128"/>
                <a:cs typeface="Arial" panose="020B0604020202020204" pitchFamily="34" charset="0"/>
              </a:rPr>
              <a:t> </a:t>
            </a:r>
            <a:r>
              <a:rPr lang="en-US" altLang="ko-KR" sz="1100" dirty="0">
                <a:latin typeface="Arial" panose="020B0604020202020204" pitchFamily="34" charset="0"/>
                <a:ea typeface="Arial Unicode MS" panose="020B0604020202020204" pitchFamily="34" charset="-128"/>
                <a:cs typeface="Arial" panose="020B0604020202020204" pitchFamily="34" charset="0"/>
              </a:rPr>
              <a:t>first 5ea/day at production line for 10 days to analyze:</a:t>
            </a:r>
          </a:p>
        </p:txBody>
      </p:sp>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44016" y="5823484"/>
            <a:ext cx="9228584" cy="646331"/>
          </a:xfrm>
          <a:prstGeom prst="rect">
            <a:avLst/>
          </a:prstGeom>
          <a:noFill/>
        </p:spPr>
        <p:txBody>
          <a:bodyPr wrap="square" rtlCol="0">
            <a:spAutoFit/>
          </a:bodyPr>
          <a:lstStyle/>
          <a:p>
            <a:pPr marL="171450" indent="-171450">
              <a:buFont typeface="Wingdings" panose="05000000000000000000" pitchFamily="2" charset="2"/>
              <a:buChar char="Ø"/>
            </a:pPr>
            <a:r>
              <a:rPr lang="en-US" altLang="ko-KR" sz="1100" b="1" u="sng" dirty="0">
                <a:latin typeface="Arial" panose="020B0604020202020204" pitchFamily="34" charset="0"/>
                <a:ea typeface="LG Smart_H Regular" panose="020B0600000101010101" pitchFamily="34" charset="-127"/>
                <a:cs typeface="Arial" panose="020B0604020202020204" pitchFamily="34" charset="0"/>
              </a:rPr>
              <a:t>Conclusion:</a:t>
            </a:r>
            <a:r>
              <a:rPr lang="vi-VN" altLang="ko-KR" sz="1100" b="1" u="sng" dirty="0">
                <a:latin typeface="Arial" panose="020B0604020202020204" pitchFamily="34" charset="0"/>
                <a:ea typeface="LG Smart_H Regular" panose="020B0600000101010101" pitchFamily="34" charset="-127"/>
                <a:cs typeface="Arial" panose="020B0604020202020204" pitchFamily="34" charset="0"/>
              </a:rPr>
              <a:t> </a:t>
            </a:r>
          </a:p>
          <a:p>
            <a:pPr marL="171450" indent="-171450">
              <a:buFont typeface="Arial" panose="020B0604020202020204" pitchFamily="34" charset="0"/>
              <a:buChar char="•"/>
            </a:pPr>
            <a:r>
              <a:rPr lang="en-US" altLang="en-US" sz="1100" dirty="0">
                <a:latin typeface="Arial" panose="020B0600000101010101" pitchFamily="34" charset="-127"/>
                <a:ea typeface="Arial" panose="020B0600000101010101" pitchFamily="34" charset="-127"/>
              </a:rPr>
              <a:t>No abnormality can be found in the Xbar control chart and the R control chart. Therefore, stability is acceptable, the performance of process over time is Good</a:t>
            </a:r>
            <a:endParaRPr lang="en-US" altLang="ko-KR" sz="1200" dirty="0">
              <a:latin typeface="Arial" panose="020B0604020202020204" pitchFamily="34" charset="0"/>
              <a:ea typeface="LG Smart_H Regular" panose="020B0600000101010101" pitchFamily="34" charset="-127"/>
              <a:cs typeface="Arial" panose="020B0604020202020204" pitchFamily="34" charset="0"/>
            </a:endParaRPr>
          </a:p>
        </p:txBody>
      </p: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r>
              <a:rPr sz="1000" b="0">
                <a:latin typeface="Arial"/>
              </a:rPr>
              <a:t>24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1" name="AutoShape 57">
            <a:extLst>
              <a:ext uri="{FF2B5EF4-FFF2-40B4-BE49-F238E27FC236}">
                <a16:creationId xmlns:a16="http://schemas.microsoft.com/office/drawing/2014/main" id="{FC2AADA2-7ABC-4D8D-BE22-7EF0DFC84E45}"/>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22" name="AutoShape 56">
            <a:extLst>
              <a:ext uri="{FF2B5EF4-FFF2-40B4-BE49-F238E27FC236}">
                <a16:creationId xmlns:a16="http://schemas.microsoft.com/office/drawing/2014/main" id="{5E74889D-BC3B-4CC2-A97B-0F77D2495EAE}"/>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sp>
        <p:nvSpPr>
          <p:cNvPr id="23" name="AutoShape 58">
            <a:extLst>
              <a:ext uri="{FF2B5EF4-FFF2-40B4-BE49-F238E27FC236}">
                <a16:creationId xmlns:a16="http://schemas.microsoft.com/office/drawing/2014/main" id="{91238B10-8FED-4C48-BDE2-4FBBF1E228A6}"/>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sp>
        <p:nvSpPr>
          <p:cNvPr id="20" name="TextBox 19">
            <a:extLst>
              <a:ext uri="{FF2B5EF4-FFF2-40B4-BE49-F238E27FC236}">
                <a16:creationId xmlns:a16="http://schemas.microsoft.com/office/drawing/2014/main" id="{37E2590F-A62F-4944-934D-B57B4522B109}"/>
              </a:ext>
            </a:extLst>
          </p:cNvPr>
          <p:cNvSpPr txBox="1"/>
          <p:nvPr/>
        </p:nvSpPr>
        <p:spPr>
          <a:xfrm>
            <a:off x="63248" y="535377"/>
            <a:ext cx="3518152" cy="276999"/>
          </a:xfrm>
          <a:prstGeom prst="rect">
            <a:avLst/>
          </a:prstGeom>
          <a:noFill/>
        </p:spPr>
        <p:txBody>
          <a:bodyPr wrap="square" rtlCol="0">
            <a:sp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a:t>
            </a:r>
            <a:r>
              <a:rPr lang="en-US" sz="1100" b="1" dirty="0">
                <a:latin typeface="Arial" panose="020B0604020202020204" pitchFamily="34" charset="0"/>
                <a:ea typeface="Arial Unicode MS" panose="020B0604020202020204" pitchFamily="34" charset="-128"/>
                <a:cs typeface="Arial" panose="020B0604020202020204" pitchFamily="34" charset="0"/>
              </a:rPr>
              <a:t>1 Luminance</a:t>
            </a:r>
          </a:p>
        </p:txBody>
      </p:sp>
      <p:graphicFrame>
        <p:nvGraphicFramePr>
          <p:cNvPr id="8" name="Table 7">
            <a:extLst>
              <a:ext uri="{FF2B5EF4-FFF2-40B4-BE49-F238E27FC236}">
                <a16:creationId xmlns:a16="http://schemas.microsoft.com/office/drawing/2014/main" id="{DFBA1A7A-0E76-45AC-82EE-E65F89C7B769}"/>
              </a:ext>
            </a:extLst>
          </p:cNvPr>
          <p:cNvGraphicFramePr>
            <a:graphicFrameLocks noGrp="1"/>
          </p:cNvGraphicFramePr>
          <p:nvPr>
            <p:extLst>
              <p:ext uri="{D42A27DB-BD31-4B8C-83A1-F6EECF244321}">
                <p14:modId xmlns:p14="http://schemas.microsoft.com/office/powerpoint/2010/main" val="1585198051"/>
              </p:ext>
            </p:extLst>
          </p:nvPr>
        </p:nvGraphicFramePr>
        <p:xfrm>
          <a:off x="163797" y="1821588"/>
          <a:ext cx="4038600" cy="3282168"/>
        </p:xfrm>
        <a:graphic>
          <a:graphicData uri="http://schemas.openxmlformats.org/drawingml/2006/table">
            <a:tbl>
              <a:tblPr/>
              <a:tblGrid>
                <a:gridCol w="673100">
                  <a:extLst>
                    <a:ext uri="{9D8B030D-6E8A-4147-A177-3AD203B41FA5}">
                      <a16:colId xmlns:a16="http://schemas.microsoft.com/office/drawing/2014/main" val="2340100333"/>
                    </a:ext>
                  </a:extLst>
                </a:gridCol>
                <a:gridCol w="673100">
                  <a:extLst>
                    <a:ext uri="{9D8B030D-6E8A-4147-A177-3AD203B41FA5}">
                      <a16:colId xmlns:a16="http://schemas.microsoft.com/office/drawing/2014/main" val="1167583010"/>
                    </a:ext>
                  </a:extLst>
                </a:gridCol>
                <a:gridCol w="673100">
                  <a:extLst>
                    <a:ext uri="{9D8B030D-6E8A-4147-A177-3AD203B41FA5}">
                      <a16:colId xmlns:a16="http://schemas.microsoft.com/office/drawing/2014/main" val="4066901643"/>
                    </a:ext>
                  </a:extLst>
                </a:gridCol>
                <a:gridCol w="673100">
                  <a:extLst>
                    <a:ext uri="{9D8B030D-6E8A-4147-A177-3AD203B41FA5}">
                      <a16:colId xmlns:a16="http://schemas.microsoft.com/office/drawing/2014/main" val="1960153468"/>
                    </a:ext>
                  </a:extLst>
                </a:gridCol>
                <a:gridCol w="673100">
                  <a:extLst>
                    <a:ext uri="{9D8B030D-6E8A-4147-A177-3AD203B41FA5}">
                      <a16:colId xmlns:a16="http://schemas.microsoft.com/office/drawing/2014/main" val="2368877709"/>
                    </a:ext>
                  </a:extLst>
                </a:gridCol>
                <a:gridCol w="673100">
                  <a:extLst>
                    <a:ext uri="{9D8B030D-6E8A-4147-A177-3AD203B41FA5}">
                      <a16:colId xmlns:a16="http://schemas.microsoft.com/office/drawing/2014/main" val="1989563177"/>
                    </a:ext>
                  </a:extLst>
                </a:gridCol>
              </a:tblGrid>
              <a:tr h="257128">
                <a:tc>
                  <a:txBody>
                    <a:bodyPr/>
                    <a:lstStyle/>
                    <a:p>
                      <a:pPr algn="ctr" rtl="0" fontAlgn="ctr"/>
                      <a:r>
                        <a:rPr lang="en-US" sz="800" b="1" i="0" u="none" strike="noStrike">
                          <a:solidFill>
                            <a:srgbClr val="000000"/>
                          </a:solidFill>
                          <a:effectLst/>
                          <a:latin typeface="Arial" panose="020B0604020202020204" pitchFamily="34" charset="0"/>
                        </a:rPr>
                        <a:t>Date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Sample 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Sample 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Sample 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Sample 4</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Sample 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73820387"/>
                  </a:ext>
                </a:extLst>
              </a:tr>
              <a:tr h="302504">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1-Jul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879.90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878.25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891.17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921.47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911.97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1336354"/>
                  </a:ext>
                </a:extLst>
              </a:tr>
              <a:tr h="302504">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2-Jul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918.79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908.47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897.79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906.27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921.88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1208290"/>
                  </a:ext>
                </a:extLst>
              </a:tr>
              <a:tr h="302504">
                <a:tc>
                  <a:txBody>
                    <a:bodyPr/>
                    <a:lstStyle/>
                    <a:p>
                      <a:pPr algn="ctr" rtl="0" fontAlgn="ctr"/>
                      <a:r>
                        <a:rPr lang="en-US" sz="1000" b="1" i="0" u="none" strike="noStrike" dirty="0">
                          <a:solidFill>
                            <a:srgbClr val="000000"/>
                          </a:solidFill>
                          <a:effectLst/>
                          <a:latin typeface="Arial" panose="020B0600000101010101" pitchFamily="34" charset="-127"/>
                          <a:ea typeface="Arial" panose="020B0600000101010101" pitchFamily="34" charset="-127"/>
                        </a:rPr>
                        <a:t>3-Jul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920.61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929.42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914.50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930.37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902.39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7767888"/>
                  </a:ext>
                </a:extLst>
              </a:tr>
              <a:tr h="302504">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4-Jul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913.69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907.88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921.66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901.92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922.89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99502995"/>
                  </a:ext>
                </a:extLst>
              </a:tr>
              <a:tr h="302504">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5-Jul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901.04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902.26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916.63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898.68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916.27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0151649"/>
                  </a:ext>
                </a:extLst>
              </a:tr>
              <a:tr h="302504">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6-Jul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903.05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920.08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880.62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929.37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7871683"/>
                  </a:ext>
                </a:extLst>
              </a:tr>
              <a:tr h="302504">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7-Jul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911.27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914.57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897.62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907.96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3077226"/>
                  </a:ext>
                </a:extLst>
              </a:tr>
              <a:tr h="302504">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8-Jul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892.92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896.84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890.74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893.58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909.34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1744127"/>
                  </a:ext>
                </a:extLst>
              </a:tr>
              <a:tr h="302504">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9-Jul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919.62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915.27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905.33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921.51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901.95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7223075"/>
                  </a:ext>
                </a:extLst>
              </a:tr>
              <a:tr h="302504">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10-Jul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893.52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888.02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875.39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893.15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926.85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26335670"/>
                  </a:ext>
                </a:extLst>
              </a:tr>
            </a:tbl>
          </a:graphicData>
        </a:graphic>
      </p:graphicFrame>
      <p:pic>
        <p:nvPicPr>
          <p:cNvPr id="2" name="Picture 1">
            <a:extLst>
              <a:ext uri="{FF2B5EF4-FFF2-40B4-BE49-F238E27FC236}">
                <a16:creationId xmlns:a16="http://schemas.microsoft.com/office/drawing/2014/main" id="{36823C64-CC70-4821-82AF-F464E87BEC31}"/>
              </a:ext>
            </a:extLst>
          </p:cNvPr>
          <p:cNvPicPr>
            <a:picLocks noChangeAspect="1"/>
          </p:cNvPicPr>
          <p:nvPr/>
        </p:nvPicPr>
        <p:blipFill>
          <a:blip r:embed="rId8"/>
          <a:stretch>
            <a:fillRect/>
          </a:stretch>
        </p:blipFill>
        <p:spPr>
          <a:xfrm>
            <a:off x="4505779" y="1709532"/>
            <a:ext cx="5106818" cy="3438935"/>
          </a:xfrm>
          <a:prstGeom prst="rect">
            <a:avLst/>
          </a:prstGeom>
        </p:spPr>
      </p:pic>
    </p:spTree>
    <p:extLst>
      <p:ext uri="{BB962C8B-B14F-4D97-AF65-F5344CB8AC3E}">
        <p14:creationId xmlns:p14="http://schemas.microsoft.com/office/powerpoint/2010/main" val="1774996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867093" cy="418058"/>
          </a:xfrm>
          <a:prstGeom prst="rect">
            <a:avLst/>
          </a:prstGeom>
        </p:spPr>
        <p:txBody>
          <a:bodyPr vert="horz" lIns="91440" tIns="45720" rIns="91440" bIns="45720" rtlCol="0" anchor="ctr">
            <a:normAutofit/>
          </a:bodyPr>
          <a:lstStyle/>
          <a:p>
            <a:pPr lvl="0" ea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4.3 Xbar-R Chart Review after improving the measurement system</a:t>
            </a:r>
            <a:endParaRPr lang="ko-KR" altLang="en-US" sz="1600" b="1" kern="0" dirty="0">
              <a:latin typeface="Arial Narrow" panose="020B0606020202030204" pitchFamily="34" charset="0"/>
              <a:ea typeface="Arial Unicode MS" panose="020B0604020202020204" pitchFamily="34" charset="-128"/>
              <a:cs typeface="Arial" panose="020B0604020202020204" pitchFamily="34" charset="0"/>
            </a:endParaRPr>
          </a:p>
        </p:txBody>
      </p:sp>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r>
              <a:rPr sz="1000" b="0">
                <a:latin typeface="Arial"/>
              </a:rPr>
              <a:t>25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1" name="AutoShape 57">
            <a:extLst>
              <a:ext uri="{FF2B5EF4-FFF2-40B4-BE49-F238E27FC236}">
                <a16:creationId xmlns:a16="http://schemas.microsoft.com/office/drawing/2014/main" id="{78C39ED3-565A-4056-8BB5-76E484D6F4B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22" name="AutoShape 56">
            <a:extLst>
              <a:ext uri="{FF2B5EF4-FFF2-40B4-BE49-F238E27FC236}">
                <a16:creationId xmlns:a16="http://schemas.microsoft.com/office/drawing/2014/main" id="{374B8463-85EB-4D78-8390-CE3FE100BAE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sp>
        <p:nvSpPr>
          <p:cNvPr id="23" name="AutoShape 58">
            <a:extLst>
              <a:ext uri="{FF2B5EF4-FFF2-40B4-BE49-F238E27FC236}">
                <a16:creationId xmlns:a16="http://schemas.microsoft.com/office/drawing/2014/main" id="{1618D9F1-F2DD-4E3F-92E3-2BB7598EB23A}"/>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sp>
        <p:nvSpPr>
          <p:cNvPr id="16" name="TextBox 15">
            <a:extLst>
              <a:ext uri="{FF2B5EF4-FFF2-40B4-BE49-F238E27FC236}">
                <a16:creationId xmlns:a16="http://schemas.microsoft.com/office/drawing/2014/main" id="{5CB9201B-E4DF-490F-839D-DE3B930B4CCB}"/>
              </a:ext>
            </a:extLst>
          </p:cNvPr>
          <p:cNvSpPr txBox="1"/>
          <p:nvPr/>
        </p:nvSpPr>
        <p:spPr>
          <a:xfrm>
            <a:off x="63248" y="535377"/>
            <a:ext cx="3441952" cy="276999"/>
          </a:xfrm>
          <a:prstGeom prst="rect">
            <a:avLst/>
          </a:prstGeom>
          <a:noFill/>
        </p:spPr>
        <p:txBody>
          <a:bodyPr wrap="square" rtlCol="0">
            <a:sp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a:t>
            </a:r>
            <a:r>
              <a:rPr lang="en-US" sz="1100" b="1" dirty="0">
                <a:latin typeface="Arial" panose="020B0604020202020204" pitchFamily="34" charset="0"/>
                <a:ea typeface="Arial Unicode MS" panose="020B0604020202020204" pitchFamily="34" charset="-128"/>
                <a:cs typeface="Arial" panose="020B0604020202020204" pitchFamily="34" charset="0"/>
              </a:rPr>
              <a:t>2 Luminance</a:t>
            </a:r>
          </a:p>
        </p:txBody>
      </p:sp>
      <p:sp>
        <p:nvSpPr>
          <p:cNvPr id="18" name="TextBox 17">
            <a:extLst>
              <a:ext uri="{FF2B5EF4-FFF2-40B4-BE49-F238E27FC236}">
                <a16:creationId xmlns:a16="http://schemas.microsoft.com/office/drawing/2014/main" id="{2F0F0E5E-6DDF-4CAB-BC6D-54F0BC4AB452}"/>
              </a:ext>
            </a:extLst>
          </p:cNvPr>
          <p:cNvSpPr txBox="1"/>
          <p:nvPr/>
        </p:nvSpPr>
        <p:spPr>
          <a:xfrm>
            <a:off x="144016" y="5823484"/>
            <a:ext cx="9228584" cy="646331"/>
          </a:xfrm>
          <a:prstGeom prst="rect">
            <a:avLst/>
          </a:prstGeom>
          <a:noFill/>
        </p:spPr>
        <p:txBody>
          <a:bodyPr wrap="square" rtlCol="0">
            <a:spAutoFit/>
          </a:bodyPr>
          <a:lstStyle/>
          <a:p>
            <a:pPr marL="171450" indent="-171450">
              <a:buFont typeface="Wingdings" panose="05000000000000000000" pitchFamily="2" charset="2"/>
              <a:buChar char="Ø"/>
            </a:pPr>
            <a:r>
              <a:rPr lang="en-US" altLang="ko-KR" sz="1100" b="1" u="sng" dirty="0">
                <a:latin typeface="Arial" panose="020B0604020202020204" pitchFamily="34" charset="0"/>
                <a:ea typeface="LG Smart_H Regular" panose="020B0600000101010101" pitchFamily="34" charset="-127"/>
                <a:cs typeface="Arial" panose="020B0604020202020204" pitchFamily="34" charset="0"/>
              </a:rPr>
              <a:t>Conclusion:</a:t>
            </a:r>
            <a:r>
              <a:rPr lang="vi-VN" altLang="ko-KR" sz="1100" b="1" u="sng" dirty="0">
                <a:latin typeface="Arial" panose="020B0604020202020204" pitchFamily="34" charset="0"/>
                <a:ea typeface="LG Smart_H Regular" panose="020B0600000101010101" pitchFamily="34" charset="-127"/>
                <a:cs typeface="Arial" panose="020B0604020202020204" pitchFamily="34" charset="0"/>
              </a:rPr>
              <a:t> </a:t>
            </a:r>
          </a:p>
          <a:p>
            <a:pPr marL="171450" indent="-171450">
              <a:buFont typeface="Arial" panose="020B0604020202020204" pitchFamily="34" charset="0"/>
              <a:buChar char="•"/>
            </a:pPr>
            <a:r>
              <a:rPr lang="en-US" altLang="en-US" sz="1100" dirty="0">
                <a:latin typeface="Arial" panose="020B0600000101010101" pitchFamily="34" charset="-127"/>
                <a:ea typeface="Arial" panose="020B0600000101010101" pitchFamily="34" charset="-127"/>
              </a:rPr>
              <a:t>No abnormality can be found in the Xbar control chart and the R control chart. Therefore, stability is acceptable, the performance of process over time is Good</a:t>
            </a:r>
            <a:endParaRPr lang="en-US" altLang="ko-KR" sz="1200" dirty="0">
              <a:latin typeface="Arial" panose="020B0604020202020204" pitchFamily="34" charset="0"/>
              <a:ea typeface="LG Smart_H Regular" panose="020B0600000101010101" pitchFamily="34" charset="-127"/>
              <a:cs typeface="Arial" panose="020B0604020202020204" pitchFamily="34" charset="0"/>
            </a:endParaRPr>
          </a:p>
        </p:txBody>
      </p:sp>
      <p:graphicFrame>
        <p:nvGraphicFramePr>
          <p:cNvPr id="4" name="Table 3">
            <a:extLst>
              <a:ext uri="{FF2B5EF4-FFF2-40B4-BE49-F238E27FC236}">
                <a16:creationId xmlns:a16="http://schemas.microsoft.com/office/drawing/2014/main" id="{80AE7440-4A49-4884-9338-70840B8D69D5}"/>
              </a:ext>
            </a:extLst>
          </p:cNvPr>
          <p:cNvGraphicFramePr>
            <a:graphicFrameLocks noGrp="1"/>
          </p:cNvGraphicFramePr>
          <p:nvPr>
            <p:extLst>
              <p:ext uri="{D42A27DB-BD31-4B8C-83A1-F6EECF244321}">
                <p14:modId xmlns:p14="http://schemas.microsoft.com/office/powerpoint/2010/main" val="141134505"/>
              </p:ext>
            </p:extLst>
          </p:nvPr>
        </p:nvGraphicFramePr>
        <p:xfrm>
          <a:off x="144016" y="1730969"/>
          <a:ext cx="3962400" cy="3295490"/>
        </p:xfrm>
        <a:graphic>
          <a:graphicData uri="http://schemas.openxmlformats.org/drawingml/2006/table">
            <a:tbl>
              <a:tblPr/>
              <a:tblGrid>
                <a:gridCol w="660400">
                  <a:extLst>
                    <a:ext uri="{9D8B030D-6E8A-4147-A177-3AD203B41FA5}">
                      <a16:colId xmlns:a16="http://schemas.microsoft.com/office/drawing/2014/main" val="1668832001"/>
                    </a:ext>
                  </a:extLst>
                </a:gridCol>
                <a:gridCol w="660400">
                  <a:extLst>
                    <a:ext uri="{9D8B030D-6E8A-4147-A177-3AD203B41FA5}">
                      <a16:colId xmlns:a16="http://schemas.microsoft.com/office/drawing/2014/main" val="3568765916"/>
                    </a:ext>
                  </a:extLst>
                </a:gridCol>
                <a:gridCol w="660400">
                  <a:extLst>
                    <a:ext uri="{9D8B030D-6E8A-4147-A177-3AD203B41FA5}">
                      <a16:colId xmlns:a16="http://schemas.microsoft.com/office/drawing/2014/main" val="510279553"/>
                    </a:ext>
                  </a:extLst>
                </a:gridCol>
                <a:gridCol w="660400">
                  <a:extLst>
                    <a:ext uri="{9D8B030D-6E8A-4147-A177-3AD203B41FA5}">
                      <a16:colId xmlns:a16="http://schemas.microsoft.com/office/drawing/2014/main" val="3294816272"/>
                    </a:ext>
                  </a:extLst>
                </a:gridCol>
                <a:gridCol w="660400">
                  <a:extLst>
                    <a:ext uri="{9D8B030D-6E8A-4147-A177-3AD203B41FA5}">
                      <a16:colId xmlns:a16="http://schemas.microsoft.com/office/drawing/2014/main" val="2667025655"/>
                    </a:ext>
                  </a:extLst>
                </a:gridCol>
                <a:gridCol w="660400">
                  <a:extLst>
                    <a:ext uri="{9D8B030D-6E8A-4147-A177-3AD203B41FA5}">
                      <a16:colId xmlns:a16="http://schemas.microsoft.com/office/drawing/2014/main" val="2627515326"/>
                    </a:ext>
                  </a:extLst>
                </a:gridCol>
              </a:tblGrid>
              <a:tr h="299590">
                <a:tc>
                  <a:txBody>
                    <a:bodyPr/>
                    <a:lstStyle/>
                    <a:p>
                      <a:pPr algn="ctr" rtl="0" fontAlgn="ctr"/>
                      <a:r>
                        <a:rPr lang="en-US" sz="800" b="1" i="0" u="none" strike="noStrike">
                          <a:solidFill>
                            <a:srgbClr val="000000"/>
                          </a:solidFill>
                          <a:effectLst/>
                          <a:latin typeface="Arial" panose="020B0604020202020204" pitchFamily="34" charset="0"/>
                        </a:rPr>
                        <a:t>Date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Sample 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Sample 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Sample 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Sample 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r>
                        <a:rPr lang="en-US" sz="800" b="1" i="0" u="none" strike="noStrike">
                          <a:solidFill>
                            <a:srgbClr val="000000"/>
                          </a:solidFill>
                          <a:effectLst/>
                          <a:latin typeface="Arial" panose="020B0604020202020204" pitchFamily="34" charset="0"/>
                        </a:rPr>
                        <a:t>Sample 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38885912"/>
                  </a:ext>
                </a:extLst>
              </a:tr>
              <a:tr h="299590">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1-Jul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903.99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888.65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910.28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901.09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5930103"/>
                  </a:ext>
                </a:extLst>
              </a:tr>
              <a:tr h="299590">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2-Jul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906.56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165055"/>
                  </a:ext>
                </a:extLst>
              </a:tr>
              <a:tr h="299590">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3-Jul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905.74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884.21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897.26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615110"/>
                  </a:ext>
                </a:extLst>
              </a:tr>
              <a:tr h="299590">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4-Jul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926.69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917.92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932.89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8842911"/>
                  </a:ext>
                </a:extLst>
              </a:tr>
              <a:tr h="299590">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5-Jul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920.68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896.27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3840345"/>
                  </a:ext>
                </a:extLst>
              </a:tr>
              <a:tr h="299590">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6-Jul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929.27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912.16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3943853"/>
                  </a:ext>
                </a:extLst>
              </a:tr>
              <a:tr h="299590">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7-Jul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957.93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907.04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4588"/>
                  </a:ext>
                </a:extLst>
              </a:tr>
              <a:tr h="299590">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8-Jul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893.85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907.01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5670741"/>
                  </a:ext>
                </a:extLst>
              </a:tr>
              <a:tr h="299590">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9-Jul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937.52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920.73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918.64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527454"/>
                  </a:ext>
                </a:extLst>
              </a:tr>
              <a:tr h="299590">
                <a:tc>
                  <a:txBody>
                    <a:bodyPr/>
                    <a:lstStyle/>
                    <a:p>
                      <a:pPr algn="ctr" rtl="0" fontAlgn="ctr"/>
                      <a:r>
                        <a:rPr lang="en-US" sz="1000" b="1" i="0" u="none" strike="noStrike">
                          <a:solidFill>
                            <a:srgbClr val="000000"/>
                          </a:solidFill>
                          <a:effectLst/>
                          <a:latin typeface="Arial" panose="020B0600000101010101" pitchFamily="34" charset="-127"/>
                          <a:ea typeface="Arial" panose="020B0600000101010101" pitchFamily="34" charset="-127"/>
                        </a:rPr>
                        <a:t>10-Jul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893.27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904.75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873.01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914.26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932.42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8251075"/>
                  </a:ext>
                </a:extLst>
              </a:tr>
            </a:tbl>
          </a:graphicData>
        </a:graphic>
      </p:graphicFrame>
      <p:pic>
        <p:nvPicPr>
          <p:cNvPr id="8" name="Picture 7">
            <a:extLst>
              <a:ext uri="{FF2B5EF4-FFF2-40B4-BE49-F238E27FC236}">
                <a16:creationId xmlns:a16="http://schemas.microsoft.com/office/drawing/2014/main" id="{5FF8E901-80C9-4272-8121-A4E818956BB0}"/>
              </a:ext>
            </a:extLst>
          </p:cNvPr>
          <p:cNvPicPr>
            <a:picLocks noChangeAspect="1"/>
          </p:cNvPicPr>
          <p:nvPr/>
        </p:nvPicPr>
        <p:blipFill>
          <a:blip r:embed="rId8"/>
          <a:stretch>
            <a:fillRect/>
          </a:stretch>
        </p:blipFill>
        <p:spPr>
          <a:xfrm>
            <a:off x="4503987" y="1728466"/>
            <a:ext cx="4860425" cy="3295485"/>
          </a:xfrm>
          <a:prstGeom prst="rect">
            <a:avLst/>
          </a:prstGeom>
        </p:spPr>
      </p:pic>
      <p:sp>
        <p:nvSpPr>
          <p:cNvPr id="20" name="TextBox 19">
            <a:extLst>
              <a:ext uri="{FF2B5EF4-FFF2-40B4-BE49-F238E27FC236}">
                <a16:creationId xmlns:a16="http://schemas.microsoft.com/office/drawing/2014/main" id="{CC80CBA3-AF38-4F86-A93F-C2965B6E0F40}"/>
              </a:ext>
            </a:extLst>
          </p:cNvPr>
          <p:cNvSpPr txBox="1"/>
          <p:nvPr/>
        </p:nvSpPr>
        <p:spPr>
          <a:xfrm>
            <a:off x="67106" y="842041"/>
            <a:ext cx="9457894" cy="461665"/>
          </a:xfrm>
          <a:prstGeom prst="rect">
            <a:avLst/>
          </a:prstGeom>
          <a:noFill/>
        </p:spPr>
        <p:txBody>
          <a:bodyPr wrap="square" rtlCol="0">
            <a:spAutoFit/>
          </a:bodyPr>
          <a:lstStyle/>
          <a:p>
            <a:r>
              <a:rPr lang="en-US" altLang="ko-KR" sz="1100" dirty="0">
                <a:latin typeface="Arial" panose="020B0604020202020204" pitchFamily="34" charset="0"/>
                <a:ea typeface="Arial Unicode MS" panose="020B0604020202020204" pitchFamily="34" charset="-128"/>
                <a:cs typeface="Arial" panose="020B0604020202020204" pitchFamily="34" charset="0"/>
              </a:rPr>
              <a:t>To monitor the mean and the variation of process after applying improvement and use control chart to monitor process stability over time.</a:t>
            </a:r>
          </a:p>
          <a:p>
            <a:r>
              <a:rPr lang="en-US" altLang="ko-KR" sz="1100" dirty="0">
                <a:latin typeface="Arial" panose="020B0604020202020204" pitchFamily="34" charset="0"/>
                <a:ea typeface="Arial Unicode MS" panose="020B0604020202020204" pitchFamily="34" charset="-128"/>
                <a:cs typeface="Arial" panose="020B0604020202020204" pitchFamily="34" charset="0"/>
              </a:rPr>
              <a:t>- Sampling method: Rational sub group sampling</a:t>
            </a:r>
            <a:r>
              <a:rPr lang="vi-VN" altLang="ko-KR" sz="1100" dirty="0">
                <a:latin typeface="Arial" panose="020B0604020202020204" pitchFamily="34" charset="0"/>
                <a:ea typeface="Arial Unicode MS" panose="020B0604020202020204" pitchFamily="34" charset="-128"/>
                <a:cs typeface="Arial" panose="020B0604020202020204" pitchFamily="34" charset="0"/>
              </a:rPr>
              <a:t> </a:t>
            </a:r>
            <a:r>
              <a:rPr lang="en-US" altLang="ko-KR" sz="1100" dirty="0">
                <a:latin typeface="Arial" panose="020B0604020202020204" pitchFamily="34" charset="0"/>
                <a:ea typeface="Arial Unicode MS" panose="020B0604020202020204" pitchFamily="34" charset="-128"/>
                <a:cs typeface="Arial" panose="020B0604020202020204" pitchFamily="34" charset="0"/>
              </a:rPr>
              <a:t>first 5ea/day at production line for 10 days to analyze:</a:t>
            </a:r>
          </a:p>
        </p:txBody>
      </p:sp>
    </p:spTree>
    <p:extLst>
      <p:ext uri="{BB962C8B-B14F-4D97-AF65-F5344CB8AC3E}">
        <p14:creationId xmlns:p14="http://schemas.microsoft.com/office/powerpoint/2010/main" val="1308763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r>
              <a:rPr sz="1000" b="0">
                <a:latin typeface="Arial"/>
              </a:rPr>
              <a:t>26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1" name="TextBox 20">
            <a:extLst>
              <a:ext uri="{FF2B5EF4-FFF2-40B4-BE49-F238E27FC236}">
                <a16:creationId xmlns:a16="http://schemas.microsoft.com/office/drawing/2014/main" id="{4D3DF1E9-4F4B-4537-85CB-35E50A4338F4}"/>
              </a:ext>
            </a:extLst>
          </p:cNvPr>
          <p:cNvSpPr txBox="1"/>
          <p:nvPr/>
        </p:nvSpPr>
        <p:spPr>
          <a:xfrm>
            <a:off x="4969699" y="5930887"/>
            <a:ext cx="4682798" cy="616259"/>
          </a:xfrm>
          <a:prstGeom prst="rect">
            <a:avLst/>
          </a:prstGeom>
          <a:noFill/>
        </p:spPr>
        <p:txBody>
          <a:bodyPr wrap="square" rtlCol="0">
            <a:spAutoFit/>
          </a:bodyPr>
          <a:lstStyle/>
          <a:p>
            <a:pPr>
              <a:lnSpc>
                <a:spcPct val="150000"/>
              </a:lnSpc>
            </a:pPr>
            <a:r>
              <a:rPr lang="en-US" sz="1100" dirty="0">
                <a:latin typeface="Arial" panose="020B0600000101010101" pitchFamily="34" charset="-127"/>
                <a:ea typeface="Arial" panose="020B0600000101010101" pitchFamily="34" charset="-127"/>
                <a:cs typeface="Arial" panose="020B0604020202020204" pitchFamily="34" charset="0"/>
              </a:rPr>
              <a:t>Cpk = 2.15 (Standard ≥ 1.67) </a:t>
            </a:r>
            <a:r>
              <a:rPr lang="en-US" sz="1100" dirty="0">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 Process capability is sufficient.</a:t>
            </a:r>
          </a:p>
          <a:p>
            <a:pPr>
              <a:lnSpc>
                <a:spcPct val="150000"/>
              </a:lnSpc>
            </a:pPr>
            <a:r>
              <a:rPr lang="en-US" sz="1100" dirty="0">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Focus effort on maintenance and shared management measures</a:t>
            </a:r>
          </a:p>
        </p:txBody>
      </p:sp>
      <p:sp>
        <p:nvSpPr>
          <p:cNvPr id="22" name="TextBox 21">
            <a:extLst>
              <a:ext uri="{FF2B5EF4-FFF2-40B4-BE49-F238E27FC236}">
                <a16:creationId xmlns:a16="http://schemas.microsoft.com/office/drawing/2014/main" id="{91A13D46-5B91-4121-A651-FD19FF223FEC}"/>
              </a:ext>
            </a:extLst>
          </p:cNvPr>
          <p:cNvSpPr txBox="1"/>
          <p:nvPr/>
        </p:nvSpPr>
        <p:spPr>
          <a:xfrm>
            <a:off x="361030" y="6050271"/>
            <a:ext cx="4876800" cy="616259"/>
          </a:xfrm>
          <a:prstGeom prst="rect">
            <a:avLst/>
          </a:prstGeom>
          <a:noFill/>
        </p:spPr>
        <p:txBody>
          <a:bodyPr wrap="square" rtlCol="0">
            <a:spAutoFit/>
          </a:bodyPr>
          <a:lstStyle/>
          <a:p>
            <a:pPr>
              <a:lnSpc>
                <a:spcPct val="150000"/>
              </a:lnSpc>
            </a:pPr>
            <a:r>
              <a:rPr lang="en-US" sz="1100" dirty="0">
                <a:latin typeface="Arial" panose="020B0600000101010101" pitchFamily="34" charset="-127"/>
                <a:ea typeface="Arial" panose="020B0600000101010101" pitchFamily="34" charset="-127"/>
                <a:cs typeface="Arial" panose="020B0604020202020204" pitchFamily="34" charset="0"/>
              </a:rPr>
              <a:t>P-Value = 0.444 &gt; 0.05 </a:t>
            </a:r>
            <a:r>
              <a:rPr lang="en-US" sz="1100" dirty="0">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 Pass</a:t>
            </a:r>
          </a:p>
          <a:p>
            <a:pPr>
              <a:lnSpc>
                <a:spcPct val="150000"/>
              </a:lnSpc>
            </a:pPr>
            <a:r>
              <a:rPr lang="en-US" altLang="ko-KR"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altLang="ko-KR" sz="1100" dirty="0">
                <a:latin typeface="Arial" panose="020B0600000101010101" pitchFamily="34" charset="-127"/>
                <a:ea typeface="Arial" panose="020B0600000101010101" pitchFamily="34" charset="-127"/>
                <a:cs typeface="Arial"/>
                <a:sym typeface="Wingdings" pitchFamily="2" charset="2"/>
              </a:rPr>
              <a:t>It has a normal distribution</a:t>
            </a:r>
            <a:r>
              <a:rPr lang="en-US" altLang="ko-KR"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sz="1100" dirty="0">
                <a:latin typeface="Arial" panose="020B0600000101010101" pitchFamily="34" charset="-127"/>
                <a:ea typeface="Arial" panose="020B0600000101010101" pitchFamily="34" charset="-127"/>
                <a:cs typeface="Arial" panose="020B0604020202020204" pitchFamily="34" charset="0"/>
              </a:rPr>
              <a:t> </a:t>
            </a:r>
          </a:p>
        </p:txBody>
      </p:sp>
      <p:sp>
        <p:nvSpPr>
          <p:cNvPr id="27" name="제목 1">
            <a:extLst>
              <a:ext uri="{FF2B5EF4-FFF2-40B4-BE49-F238E27FC236}">
                <a16:creationId xmlns:a16="http://schemas.microsoft.com/office/drawing/2014/main" id="{DDE9B228-729B-47C3-9105-92CCCB7E7710}"/>
              </a:ext>
            </a:extLst>
          </p:cNvPr>
          <p:cNvSpPr txBox="1">
            <a:spLocks/>
          </p:cNvSpPr>
          <p:nvPr/>
        </p:nvSpPr>
        <p:spPr>
          <a:xfrm>
            <a:off x="85125" y="89839"/>
            <a:ext cx="6696744"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pPr>
            <a:r>
              <a:rPr lang="en-US" altLang="ko-KR" sz="1600" b="1" kern="0" noProof="0" dirty="0">
                <a:latin typeface="Arial Narrow" panose="020B0606020202030204" pitchFamily="34" charset="0"/>
                <a:ea typeface="Arial Unicode MS" panose="020B0604020202020204" pitchFamily="34" charset="-128"/>
                <a:cs typeface="Arial" panose="020B0604020202020204" pitchFamily="34" charset="0"/>
              </a:rPr>
              <a:t>4.4</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Check Process Capability after</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improving the measurement system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8" name="TextBox 27">
            <a:extLst>
              <a:ext uri="{FF2B5EF4-FFF2-40B4-BE49-F238E27FC236}">
                <a16:creationId xmlns:a16="http://schemas.microsoft.com/office/drawing/2014/main" id="{ECE32947-3AE0-4F5F-A54D-B86A1B5F090E}"/>
              </a:ext>
            </a:extLst>
          </p:cNvPr>
          <p:cNvSpPr txBox="1"/>
          <p:nvPr/>
        </p:nvSpPr>
        <p:spPr>
          <a:xfrm>
            <a:off x="4626" y="612442"/>
            <a:ext cx="2357574" cy="276999"/>
          </a:xfrm>
          <a:prstGeom prst="rect">
            <a:avLst/>
          </a:prstGeom>
          <a:noFill/>
        </p:spPr>
        <p:txBody>
          <a:bodyPr wrap="square" rtlCol="0">
            <a:sp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1</a:t>
            </a:r>
            <a:r>
              <a:rPr lang="en-US" sz="1100" b="1" dirty="0">
                <a:latin typeface="Arial" panose="020B0604020202020204" pitchFamily="34" charset="0"/>
                <a:ea typeface="Arial Unicode MS" panose="020B0604020202020204" pitchFamily="34" charset="-128"/>
                <a:cs typeface="Arial" panose="020B0604020202020204" pitchFamily="34" charset="0"/>
              </a:rPr>
              <a:t> Luminance</a:t>
            </a:r>
          </a:p>
        </p:txBody>
      </p:sp>
      <p:sp>
        <p:nvSpPr>
          <p:cNvPr id="24" name="AutoShape 57">
            <a:extLst>
              <a:ext uri="{FF2B5EF4-FFF2-40B4-BE49-F238E27FC236}">
                <a16:creationId xmlns:a16="http://schemas.microsoft.com/office/drawing/2014/main" id="{28BD15D5-6D32-408C-A6FB-4836EF1DA036}"/>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25" name="AutoShape 56">
            <a:extLst>
              <a:ext uri="{FF2B5EF4-FFF2-40B4-BE49-F238E27FC236}">
                <a16:creationId xmlns:a16="http://schemas.microsoft.com/office/drawing/2014/main" id="{20A84D37-79F0-405E-A5EB-1C489E8F4A7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sp>
        <p:nvSpPr>
          <p:cNvPr id="29" name="AutoShape 58">
            <a:extLst>
              <a:ext uri="{FF2B5EF4-FFF2-40B4-BE49-F238E27FC236}">
                <a16:creationId xmlns:a16="http://schemas.microsoft.com/office/drawing/2014/main" id="{1DDFF762-6353-4C56-9B3C-905A3BA397BC}"/>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pic>
        <p:nvPicPr>
          <p:cNvPr id="2" name="Picture 1">
            <a:extLst>
              <a:ext uri="{FF2B5EF4-FFF2-40B4-BE49-F238E27FC236}">
                <a16:creationId xmlns:a16="http://schemas.microsoft.com/office/drawing/2014/main" id="{E2C64297-EACD-4185-924B-57DD27FA9B37}"/>
              </a:ext>
            </a:extLst>
          </p:cNvPr>
          <p:cNvPicPr>
            <a:picLocks noChangeAspect="1"/>
          </p:cNvPicPr>
          <p:nvPr/>
        </p:nvPicPr>
        <p:blipFill>
          <a:blip r:embed="rId8"/>
          <a:stretch>
            <a:fillRect/>
          </a:stretch>
        </p:blipFill>
        <p:spPr>
          <a:xfrm>
            <a:off x="62864" y="2498575"/>
            <a:ext cx="4876801" cy="3308989"/>
          </a:xfrm>
          <a:prstGeom prst="rect">
            <a:avLst/>
          </a:prstGeom>
        </p:spPr>
      </p:pic>
      <p:pic>
        <p:nvPicPr>
          <p:cNvPr id="4" name="Picture 3">
            <a:extLst>
              <a:ext uri="{FF2B5EF4-FFF2-40B4-BE49-F238E27FC236}">
                <a16:creationId xmlns:a16="http://schemas.microsoft.com/office/drawing/2014/main" id="{85FD0020-07EF-4656-A85C-FB6D7D09DCAF}"/>
              </a:ext>
            </a:extLst>
          </p:cNvPr>
          <p:cNvPicPr>
            <a:picLocks noChangeAspect="1"/>
          </p:cNvPicPr>
          <p:nvPr/>
        </p:nvPicPr>
        <p:blipFill>
          <a:blip r:embed="rId9"/>
          <a:stretch>
            <a:fillRect/>
          </a:stretch>
        </p:blipFill>
        <p:spPr>
          <a:xfrm>
            <a:off x="5073015" y="2498575"/>
            <a:ext cx="4421059" cy="3310038"/>
          </a:xfrm>
          <a:prstGeom prst="rect">
            <a:avLst/>
          </a:prstGeom>
        </p:spPr>
      </p:pic>
      <p:sp>
        <p:nvSpPr>
          <p:cNvPr id="3" name="Rectangle 2">
            <a:extLst>
              <a:ext uri="{FF2B5EF4-FFF2-40B4-BE49-F238E27FC236}">
                <a16:creationId xmlns:a16="http://schemas.microsoft.com/office/drawing/2014/main" id="{8BBE6231-032D-4837-A7A5-B062D9E6BA76}"/>
              </a:ext>
            </a:extLst>
          </p:cNvPr>
          <p:cNvSpPr/>
          <p:nvPr/>
        </p:nvSpPr>
        <p:spPr>
          <a:xfrm>
            <a:off x="155974" y="927113"/>
            <a:ext cx="9521425" cy="1200329"/>
          </a:xfrm>
          <a:prstGeom prst="rect">
            <a:avLst/>
          </a:prstGeom>
        </p:spPr>
        <p:txBody>
          <a:bodyPr wrap="square">
            <a:spAutoFit/>
          </a:bodyPr>
          <a:lstStyle/>
          <a:p>
            <a:pPr lvl="0" eaLnBrk="0" hangingPunct="0">
              <a:defRPr/>
            </a:pPr>
            <a:r>
              <a:rPr lang="en-US" altLang="ja-JP" sz="1100" dirty="0">
                <a:latin typeface="Arial" panose="020B0604020202020204" pitchFamily="34" charset="0"/>
                <a:ea typeface="Arial Unicode MS" panose="020B0604020202020204" pitchFamily="34" charset="-128"/>
                <a:cs typeface="Arial" panose="020B0604020202020204" pitchFamily="34" charset="0"/>
              </a:rPr>
              <a:t>Use Normality test to d</a:t>
            </a:r>
            <a:r>
              <a:rPr lang="en-US" sz="1100" dirty="0">
                <a:latin typeface="Arial" panose="020B0604020202020204" pitchFamily="34" charset="0"/>
                <a:ea typeface="Arial Unicode MS" panose="020B0604020202020204" pitchFamily="34" charset="-128"/>
                <a:cs typeface="Arial" panose="020B0604020202020204" pitchFamily="34" charset="0"/>
              </a:rPr>
              <a:t>etermine whether the data do not follow the distribution</a:t>
            </a:r>
          </a:p>
          <a:p>
            <a:r>
              <a:rPr sz="1100" b="0">
                <a:latin typeface="Arial"/>
              </a:rPr>
              <a:t>H0: Data follows Normal Distribution</a:t>
            </a:r>
          </a:p>
          <a:p>
            <a:r>
              <a:rPr sz="1100" b="0">
                <a:latin typeface="Arial"/>
              </a:rPr>
              <a:t>H1: Data does NOT follow Normal Distribution</a:t>
            </a:r>
          </a:p>
          <a:p>
            <a:r>
              <a:rPr sz="1100" b="0">
                <a:latin typeface="Arial"/>
              </a:rPr>
              <a:t>P-value = 0.444 &gt; 0.05 -&gt; Fail to reject H0 -&gt; Data follows Normal Distribution (PASS)</a:t>
            </a:r>
          </a:p>
          <a:p>
            <a:r>
              <a:rPr lang="en-US" altLang="ja-JP" sz="1100" dirty="0">
                <a:latin typeface="Arial" panose="020B0604020202020204" pitchFamily="34" charset="0"/>
                <a:ea typeface="Arial Unicode MS" panose="020B0604020202020204" pitchFamily="34" charset="-128"/>
                <a:cs typeface="Arial" panose="020B0604020202020204" pitchFamily="34" charset="0"/>
              </a:rPr>
              <a:t>Then, check the points if it fit the distribution lines more closely to the fitted distribution, the more good the data.</a:t>
            </a:r>
          </a:p>
          <a:p>
            <a:r>
              <a:rPr lang="en-US" altLang="ja-JP" sz="1100" dirty="0">
                <a:latin typeface="Arial" panose="020B0604020202020204" pitchFamily="34" charset="0"/>
                <a:ea typeface="Arial Unicode MS" panose="020B0604020202020204" pitchFamily="34" charset="-128"/>
                <a:cs typeface="Arial" panose="020B0604020202020204" pitchFamily="34" charset="0"/>
              </a:rPr>
              <a:t>After that, evaluate process capability:</a:t>
            </a:r>
          </a:p>
        </p:txBody>
      </p:sp>
    </p:spTree>
    <p:extLst>
      <p:ext uri="{BB962C8B-B14F-4D97-AF65-F5344CB8AC3E}">
        <p14:creationId xmlns:p14="http://schemas.microsoft.com/office/powerpoint/2010/main" val="2019222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7F89E8-DDD7-4177-BCAE-BFDA432D2832}"/>
              </a:ext>
            </a:extLst>
          </p:cNvPr>
          <p:cNvPicPr>
            <a:picLocks noChangeAspect="1"/>
          </p:cNvPicPr>
          <p:nvPr/>
        </p:nvPicPr>
        <p:blipFill>
          <a:blip r:embed="rId3"/>
          <a:stretch>
            <a:fillRect/>
          </a:stretch>
        </p:blipFill>
        <p:spPr>
          <a:xfrm>
            <a:off x="4844574" y="877357"/>
            <a:ext cx="4483152" cy="3369689"/>
          </a:xfrm>
          <a:prstGeom prst="rect">
            <a:avLst/>
          </a:prstGeom>
        </p:spPr>
      </p:pic>
      <p:pic>
        <p:nvPicPr>
          <p:cNvPr id="2" name="Picture 1">
            <a:extLst>
              <a:ext uri="{FF2B5EF4-FFF2-40B4-BE49-F238E27FC236}">
                <a16:creationId xmlns:a16="http://schemas.microsoft.com/office/drawing/2014/main" id="{0A49D9FF-2F12-4865-9342-A32699A2FADB}"/>
              </a:ext>
            </a:extLst>
          </p:cNvPr>
          <p:cNvPicPr>
            <a:picLocks noChangeAspect="1"/>
          </p:cNvPicPr>
          <p:nvPr/>
        </p:nvPicPr>
        <p:blipFill>
          <a:blip r:embed="rId4"/>
          <a:stretch>
            <a:fillRect/>
          </a:stretch>
        </p:blipFill>
        <p:spPr>
          <a:xfrm>
            <a:off x="139023" y="878537"/>
            <a:ext cx="4416591" cy="3331207"/>
          </a:xfrm>
          <a:prstGeom prst="rect">
            <a:avLst/>
          </a:prstGeom>
        </p:spPr>
      </p:pic>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r>
              <a:rPr sz="1000" b="0">
                <a:latin typeface="Arial"/>
              </a:rPr>
              <a:t>27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7" name="TextBox 26">
            <a:extLst>
              <a:ext uri="{FF2B5EF4-FFF2-40B4-BE49-F238E27FC236}">
                <a16:creationId xmlns:a16="http://schemas.microsoft.com/office/drawing/2014/main" id="{00F4DEE4-CDEB-4C16-817D-6B1C512B108F}"/>
              </a:ext>
            </a:extLst>
          </p:cNvPr>
          <p:cNvSpPr txBox="1"/>
          <p:nvPr/>
        </p:nvSpPr>
        <p:spPr>
          <a:xfrm>
            <a:off x="3268221" y="3248848"/>
            <a:ext cx="1241743" cy="507831"/>
          </a:xfrm>
          <a:prstGeom prst="rect">
            <a:avLst/>
          </a:prstGeom>
          <a:solidFill>
            <a:schemeClr val="bg1"/>
          </a:solidFill>
          <a:ln>
            <a:noFill/>
          </a:ln>
        </p:spPr>
        <p:txBody>
          <a:bodyPr wrap="square" rtlCol="0">
            <a:spAutoFit/>
          </a:bodyPr>
          <a:lstStyle/>
          <a:p>
            <a:r>
              <a:rPr lang="en-US" altLang="ko-KR" sz="1100" dirty="0">
                <a:latin typeface="Arial" panose="020B0600000101010101" pitchFamily="34" charset="-127"/>
                <a:ea typeface="Arial" panose="020B0600000101010101" pitchFamily="34" charset="-127"/>
                <a:cs typeface="Arial" panose="020B0604020202020204" pitchFamily="34" charset="0"/>
              </a:rPr>
              <a:t> Z Long term = 6.19 Standard ≥  4.5</a:t>
            </a:r>
          </a:p>
          <a:p>
            <a:r>
              <a:rPr lang="en-US" altLang="ko-KR" sz="1100" dirty="0">
                <a:latin typeface="Arial" panose="020B0600000101010101" pitchFamily="34" charset="-127"/>
                <a:ea typeface="Arial" panose="020B0600000101010101" pitchFamily="34" charset="-127"/>
                <a:cs typeface="Arial" panose="020B0604020202020204" pitchFamily="34" charset="0"/>
              </a:rPr>
              <a:t> </a:t>
            </a:r>
            <a:r>
              <a:rPr lang="en-US" altLang="ko-KR" sz="11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100" dirty="0">
                <a:latin typeface="Arial" panose="020B0600000101010101" pitchFamily="34" charset="-127"/>
                <a:ea typeface="Arial" panose="020B0600000101010101" pitchFamily="34" charset="-127"/>
                <a:cs typeface="Arial" panose="020B0604020202020204" pitchFamily="34" charset="0"/>
              </a:rPr>
              <a:t> </a:t>
            </a:r>
          </a:p>
        </p:txBody>
      </p:sp>
      <p:sp>
        <p:nvSpPr>
          <p:cNvPr id="28" name="TextBox 27">
            <a:extLst>
              <a:ext uri="{FF2B5EF4-FFF2-40B4-BE49-F238E27FC236}">
                <a16:creationId xmlns:a16="http://schemas.microsoft.com/office/drawing/2014/main" id="{770B63C0-BDB9-4BB1-B7CE-47513CEA8001}"/>
              </a:ext>
            </a:extLst>
          </p:cNvPr>
          <p:cNvSpPr txBox="1"/>
          <p:nvPr/>
        </p:nvSpPr>
        <p:spPr>
          <a:xfrm>
            <a:off x="8017399" y="3248847"/>
            <a:ext cx="1241743" cy="507831"/>
          </a:xfrm>
          <a:prstGeom prst="rect">
            <a:avLst/>
          </a:prstGeom>
          <a:solidFill>
            <a:schemeClr val="bg1"/>
          </a:solidFill>
          <a:ln>
            <a:noFill/>
          </a:ln>
        </p:spPr>
        <p:txBody>
          <a:bodyPr wrap="square" rtlCol="0">
            <a:spAutoFit/>
          </a:bodyPr>
          <a:lstStyle/>
          <a:p>
            <a:r>
              <a:rPr lang="en-US" altLang="ko-KR" sz="1100" dirty="0">
                <a:latin typeface="Arial" panose="020B0600000101010101" pitchFamily="34" charset="-127"/>
                <a:ea typeface="Arial" panose="020B0600000101010101" pitchFamily="34" charset="-127"/>
                <a:cs typeface="Arial" panose="020B0604020202020204" pitchFamily="34" charset="0"/>
              </a:rPr>
              <a:t> Z Short term = 6.27   Standard ≥  6</a:t>
            </a:r>
          </a:p>
          <a:p>
            <a:r>
              <a:rPr lang="en-US" altLang="ko-KR" sz="1100" dirty="0">
                <a:latin typeface="Arial" panose="020B0600000101010101" pitchFamily="34" charset="-127"/>
                <a:ea typeface="Arial" panose="020B0600000101010101" pitchFamily="34" charset="-127"/>
                <a:cs typeface="Arial" panose="020B0604020202020204" pitchFamily="34" charset="0"/>
              </a:rPr>
              <a:t> </a:t>
            </a:r>
            <a:r>
              <a:rPr lang="en-US" altLang="ko-KR" sz="11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100" dirty="0">
                <a:latin typeface="Arial" panose="020B0600000101010101" pitchFamily="34" charset="-127"/>
                <a:ea typeface="Arial" panose="020B0600000101010101" pitchFamily="34" charset="-127"/>
                <a:cs typeface="Arial" panose="020B0604020202020204" pitchFamily="34" charset="0"/>
              </a:rPr>
              <a:t> </a:t>
            </a:r>
          </a:p>
        </p:txBody>
      </p:sp>
      <p:sp>
        <p:nvSpPr>
          <p:cNvPr id="29" name="TextBox 28">
            <a:extLst>
              <a:ext uri="{FF2B5EF4-FFF2-40B4-BE49-F238E27FC236}">
                <a16:creationId xmlns:a16="http://schemas.microsoft.com/office/drawing/2014/main" id="{3F03CC85-78FB-49D7-B96C-52B4B103B707}"/>
              </a:ext>
            </a:extLst>
          </p:cNvPr>
          <p:cNvSpPr txBox="1"/>
          <p:nvPr/>
        </p:nvSpPr>
        <p:spPr>
          <a:xfrm>
            <a:off x="159127" y="4448547"/>
            <a:ext cx="4344755" cy="2000419"/>
          </a:xfrm>
          <a:prstGeom prst="rect">
            <a:avLst/>
          </a:prstGeom>
          <a:solidFill>
            <a:schemeClr val="bg1"/>
          </a:solidFill>
        </p:spPr>
        <p:txBody>
          <a:bodyPr wrap="square" rtlCol="0">
            <a:spAutoFit/>
          </a:bodyPr>
          <a:lstStyle/>
          <a:p>
            <a:pPr>
              <a:lnSpc>
                <a:spcPct val="150000"/>
              </a:lnSpc>
              <a:buFont typeface="Wingdings" pitchFamily="2" charset="2"/>
              <a:buChar char="§"/>
            </a:pPr>
            <a:r>
              <a:rPr lang="en-US" altLang="ko-KR" sz="1100" noProof="1">
                <a:latin typeface="Arial" panose="020B0600000101010101" pitchFamily="34" charset="-127"/>
                <a:ea typeface="Arial" panose="020B0600000101010101" pitchFamily="34" charset="-127"/>
              </a:rPr>
              <a:t>  Check the Z short term (best capability of process) and the Z long term (customer’s perspective):</a:t>
            </a:r>
          </a:p>
          <a:p>
            <a:pPr>
              <a:lnSpc>
                <a:spcPct val="150000"/>
              </a:lnSpc>
            </a:pPr>
            <a:endParaRPr lang="en-US" altLang="ko-KR" sz="1200" noProof="1">
              <a:latin typeface="LG Smart_H Regular" panose="020B0600000101010101" pitchFamily="34" charset="-127"/>
              <a:ea typeface="LG Smart_H Regular" panose="020B0600000101010101" pitchFamily="34" charset="-127"/>
            </a:endParaRPr>
          </a:p>
          <a:p>
            <a:pPr>
              <a:lnSpc>
                <a:spcPct val="150000"/>
              </a:lnSpc>
              <a:buFont typeface="Wingdings" pitchFamily="2" charset="2"/>
              <a:buChar char="§"/>
            </a:pPr>
            <a:r>
              <a:rPr lang="en-US" altLang="ko-KR" sz="1100" noProof="1">
                <a:latin typeface="Arial" panose="020B0600000101010101" pitchFamily="34" charset="-127"/>
                <a:ea typeface="Arial" panose="020B0600000101010101" pitchFamily="34" charset="-127"/>
              </a:rPr>
              <a:t>Zshift = Zst – Zlt = 6.27 – 6.19= 0.08 </a:t>
            </a:r>
            <a:r>
              <a:rPr lang="en-US" altLang="ko-KR" sz="1100" noProof="1">
                <a:latin typeface="Arial" panose="020B0600000101010101" pitchFamily="34" charset="-127"/>
                <a:ea typeface="Arial" panose="020B0600000101010101" pitchFamily="34" charset="-127"/>
                <a:sym typeface="Wingdings" pitchFamily="2" charset="2"/>
              </a:rPr>
              <a:t> Z shift &lt; 1.5 </a:t>
            </a:r>
          </a:p>
          <a:p>
            <a:pPr>
              <a:lnSpc>
                <a:spcPct val="150000"/>
              </a:lnSpc>
            </a:pPr>
            <a:r>
              <a:rPr lang="en-US" altLang="ko-KR" sz="1100" noProof="1">
                <a:latin typeface="Arial" panose="020B0600000101010101" pitchFamily="34" charset="-127"/>
                <a:ea typeface="Arial" panose="020B0600000101010101" pitchFamily="34" charset="-127"/>
                <a:sym typeface="Wingdings" pitchFamily="2" charset="2"/>
              </a:rPr>
              <a:t> Proper process control </a:t>
            </a:r>
            <a:r>
              <a:rPr lang="en-US" altLang="ko-KR" sz="1100" noProof="1">
                <a:latin typeface="Arial" panose="020B0600000101010101" pitchFamily="34" charset="-127"/>
                <a:ea typeface="Arial" panose="020B0600000101010101" pitchFamily="34" charset="-127"/>
              </a:rPr>
              <a:t>management</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a:lnSpc>
                <a:spcPct val="150000"/>
              </a:lnSpc>
              <a:buFont typeface="Wingdings" pitchFamily="2" charset="2"/>
              <a:buChar char="§"/>
            </a:pPr>
            <a:r>
              <a:rPr lang="en-US" altLang="ko-KR" sz="1100" noProof="1">
                <a:latin typeface="Arial" panose="020B0600000101010101" pitchFamily="34" charset="-127"/>
                <a:ea typeface="Arial" panose="020B0600000101010101" pitchFamily="34" charset="-127"/>
                <a:sym typeface="Wingdings" pitchFamily="2" charset="2"/>
              </a:rPr>
              <a:t>  Z long term : 6.19</a:t>
            </a:r>
            <a:r>
              <a:rPr lang="en-US" altLang="ko-KR" sz="1100" dirty="0">
                <a:latin typeface="Arial" panose="020B0600000101010101" pitchFamily="34" charset="-127"/>
                <a:ea typeface="Arial" panose="020B0600000101010101" pitchFamily="34" charset="-127"/>
                <a:cs typeface="Arial" panose="020B0604020202020204" pitchFamily="34" charset="0"/>
              </a:rPr>
              <a:t> ≥</a:t>
            </a:r>
            <a:r>
              <a:rPr lang="en-US" altLang="ko-KR" sz="1100" noProof="1">
                <a:latin typeface="Arial" panose="020B0600000101010101" pitchFamily="34" charset="-127"/>
                <a:ea typeface="Arial" panose="020B0600000101010101" pitchFamily="34" charset="-127"/>
                <a:sym typeface="Wingdings" pitchFamily="2" charset="2"/>
              </a:rPr>
              <a:t> 4.5, Z short term: 6.27 </a:t>
            </a:r>
            <a:r>
              <a:rPr lang="en-US" altLang="ko-KR" sz="1100" dirty="0">
                <a:latin typeface="Arial" panose="020B0600000101010101" pitchFamily="34" charset="-127"/>
                <a:ea typeface="Arial" panose="020B0600000101010101" pitchFamily="34" charset="-127"/>
                <a:cs typeface="Arial" panose="020B0604020202020204" pitchFamily="34" charset="0"/>
              </a:rPr>
              <a:t>≥</a:t>
            </a:r>
            <a:r>
              <a:rPr lang="en-US" altLang="ko-KR" sz="1100" noProof="1">
                <a:latin typeface="Arial" panose="020B0600000101010101" pitchFamily="34" charset="-127"/>
                <a:ea typeface="Arial" panose="020B0600000101010101" pitchFamily="34" charset="-127"/>
                <a:sym typeface="Wingdings" pitchFamily="2" charset="2"/>
              </a:rPr>
              <a:t>6  </a:t>
            </a:r>
          </a:p>
          <a:p>
            <a:pPr>
              <a:lnSpc>
                <a:spcPct val="150000"/>
              </a:lnSpc>
            </a:pPr>
            <a:r>
              <a:rPr lang="en-US" altLang="ko-KR" sz="1100" noProof="1">
                <a:latin typeface="Arial" panose="020B0600000101010101" pitchFamily="34" charset="-127"/>
                <a:ea typeface="Arial" panose="020B0600000101010101" pitchFamily="34" charset="-127"/>
                <a:sym typeface="Wingdings" pitchFamily="2" charset="2"/>
              </a:rPr>
              <a:t> Technology is OK</a:t>
            </a:r>
            <a:endParaRPr lang="en-US" altLang="ko-KR" sz="1200" noProof="1">
              <a:latin typeface="LG Smart_H Regular" panose="020B0600000101010101" pitchFamily="34" charset="-127"/>
              <a:ea typeface="LG Smart_H Regular" panose="020B0600000101010101" pitchFamily="34" charset="-127"/>
            </a:endParaRPr>
          </a:p>
        </p:txBody>
      </p:sp>
      <p:grpSp>
        <p:nvGrpSpPr>
          <p:cNvPr id="30" name="Group 29">
            <a:extLst>
              <a:ext uri="{FF2B5EF4-FFF2-40B4-BE49-F238E27FC236}">
                <a16:creationId xmlns:a16="http://schemas.microsoft.com/office/drawing/2014/main" id="{A91AC523-C770-45D1-BAAD-CA31C2D5A8E8}"/>
              </a:ext>
            </a:extLst>
          </p:cNvPr>
          <p:cNvGrpSpPr/>
          <p:nvPr/>
        </p:nvGrpSpPr>
        <p:grpSpPr>
          <a:xfrm>
            <a:off x="5277611" y="4038601"/>
            <a:ext cx="4715882" cy="2710762"/>
            <a:chOff x="5383160" y="3319792"/>
            <a:chExt cx="5061928" cy="3189588"/>
          </a:xfrm>
        </p:grpSpPr>
        <p:sp>
          <p:nvSpPr>
            <p:cNvPr id="31" name="Rectangle 9">
              <a:extLst>
                <a:ext uri="{FF2B5EF4-FFF2-40B4-BE49-F238E27FC236}">
                  <a16:creationId xmlns:a16="http://schemas.microsoft.com/office/drawing/2014/main" id="{DF669F23-0AC3-4F56-9A0B-2411DEF3812C}"/>
                </a:ext>
              </a:extLst>
            </p:cNvPr>
            <p:cNvSpPr>
              <a:spLocks noChangeArrowheads="1"/>
            </p:cNvSpPr>
            <p:nvPr/>
          </p:nvSpPr>
          <p:spPr bwMode="auto">
            <a:xfrm>
              <a:off x="6033120" y="3708392"/>
              <a:ext cx="3423745" cy="2136281"/>
            </a:xfrm>
            <a:prstGeom prst="rect">
              <a:avLst/>
            </a:prstGeom>
            <a:solidFill>
              <a:schemeClr val="bg2">
                <a:lumMod val="20000"/>
                <a:lumOff val="80000"/>
              </a:schemeClr>
            </a:solidFill>
            <a:ln w="12700">
              <a:solidFill>
                <a:schemeClr val="tx1"/>
              </a:solidFill>
              <a:miter lim="800000"/>
              <a:headEnd/>
              <a:tailEnd/>
            </a:ln>
          </p:spPr>
          <p:txBody>
            <a:bodyPr wrap="none" anchor="ctr"/>
            <a:lstStyle/>
            <a:p>
              <a:pPr algn="ctr">
                <a:defRPr/>
              </a:pPr>
              <a:endParaRPr lang="ko-KR" altLang="en-US" sz="7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2" name="Line 10">
              <a:extLst>
                <a:ext uri="{FF2B5EF4-FFF2-40B4-BE49-F238E27FC236}">
                  <a16:creationId xmlns:a16="http://schemas.microsoft.com/office/drawing/2014/main" id="{E325E004-4EBD-46E8-A128-4006A20037A9}"/>
                </a:ext>
              </a:extLst>
            </p:cNvPr>
            <p:cNvSpPr>
              <a:spLocks noChangeShapeType="1"/>
            </p:cNvSpPr>
            <p:nvPr/>
          </p:nvSpPr>
          <p:spPr bwMode="auto">
            <a:xfrm>
              <a:off x="8234872" y="3708391"/>
              <a:ext cx="8082" cy="2136281"/>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3" name="Line 11">
              <a:extLst>
                <a:ext uri="{FF2B5EF4-FFF2-40B4-BE49-F238E27FC236}">
                  <a16:creationId xmlns:a16="http://schemas.microsoft.com/office/drawing/2014/main" id="{29F7C8D4-F09C-4737-8A79-22659B843F21}"/>
                </a:ext>
              </a:extLst>
            </p:cNvPr>
            <p:cNvSpPr>
              <a:spLocks noChangeShapeType="1"/>
            </p:cNvSpPr>
            <p:nvPr/>
          </p:nvSpPr>
          <p:spPr bwMode="auto">
            <a:xfrm>
              <a:off x="6036455" y="4689438"/>
              <a:ext cx="3412072" cy="0"/>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4" name="Rectangle 12">
              <a:extLst>
                <a:ext uri="{FF2B5EF4-FFF2-40B4-BE49-F238E27FC236}">
                  <a16:creationId xmlns:a16="http://schemas.microsoft.com/office/drawing/2014/main" id="{134442CB-1980-4352-98E7-E128F12A9699}"/>
                </a:ext>
              </a:extLst>
            </p:cNvPr>
            <p:cNvSpPr>
              <a:spLocks noChangeArrowheads="1"/>
            </p:cNvSpPr>
            <p:nvPr/>
          </p:nvSpPr>
          <p:spPr bwMode="auto">
            <a:xfrm>
              <a:off x="5677904" y="4528497"/>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1.5</a:t>
              </a:r>
            </a:p>
          </p:txBody>
        </p:sp>
        <p:sp>
          <p:nvSpPr>
            <p:cNvPr id="35" name="Rectangle 13">
              <a:extLst>
                <a:ext uri="{FF2B5EF4-FFF2-40B4-BE49-F238E27FC236}">
                  <a16:creationId xmlns:a16="http://schemas.microsoft.com/office/drawing/2014/main" id="{6A8D9248-A26E-4915-8262-E9F9172EB945}"/>
                </a:ext>
              </a:extLst>
            </p:cNvPr>
            <p:cNvSpPr>
              <a:spLocks noChangeArrowheads="1"/>
            </p:cNvSpPr>
            <p:nvPr/>
          </p:nvSpPr>
          <p:spPr bwMode="auto">
            <a:xfrm>
              <a:off x="5536315" y="3319792"/>
              <a:ext cx="509306" cy="299523"/>
            </a:xfrm>
            <a:prstGeom prst="rect">
              <a:avLst/>
            </a:prstGeom>
            <a:noFill/>
            <a:ln w="9525">
              <a:noFill/>
              <a:miter lim="800000"/>
              <a:headEnd/>
              <a:tailEnd/>
            </a:ln>
          </p:spPr>
          <p:txBody>
            <a:bodyPr wrap="none" lIns="92075" tIns="46038" rIns="92075" bIns="46038">
              <a:spAutoFit/>
            </a:bodyPr>
            <a:lstStyle/>
            <a:p>
              <a:pPr algn="ctr" latinLnBrk="0"/>
              <a:r>
                <a:rPr lang="en-US" altLang="ko-KR" sz="105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 </a:t>
              </a:r>
              <a:r>
                <a:rPr lang="en-US" altLang="ko-KR" sz="105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shift</a:t>
              </a:r>
            </a:p>
          </p:txBody>
        </p:sp>
        <p:sp>
          <p:nvSpPr>
            <p:cNvPr id="36" name="Rectangle 35">
              <a:extLst>
                <a:ext uri="{FF2B5EF4-FFF2-40B4-BE49-F238E27FC236}">
                  <a16:creationId xmlns:a16="http://schemas.microsoft.com/office/drawing/2014/main" id="{CB0A57F4-3B93-43B5-9D53-5CCBFA12E66A}"/>
                </a:ext>
              </a:extLst>
            </p:cNvPr>
            <p:cNvSpPr>
              <a:spLocks noChangeArrowheads="1"/>
            </p:cNvSpPr>
            <p:nvPr/>
          </p:nvSpPr>
          <p:spPr bwMode="auto">
            <a:xfrm>
              <a:off x="7726610" y="5884462"/>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4.5</a:t>
              </a:r>
            </a:p>
          </p:txBody>
        </p:sp>
        <p:sp>
          <p:nvSpPr>
            <p:cNvPr id="37" name="Text Box 16">
              <a:extLst>
                <a:ext uri="{FF2B5EF4-FFF2-40B4-BE49-F238E27FC236}">
                  <a16:creationId xmlns:a16="http://schemas.microsoft.com/office/drawing/2014/main" id="{72B57459-49DE-460E-94B7-BCAE72DBB8A3}"/>
                </a:ext>
              </a:extLst>
            </p:cNvPr>
            <p:cNvSpPr txBox="1">
              <a:spLocks noChangeArrowheads="1"/>
            </p:cNvSpPr>
            <p:nvPr/>
          </p:nvSpPr>
          <p:spPr bwMode="auto">
            <a:xfrm>
              <a:off x="6093354" y="4758357"/>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a:t>
              </a:r>
            </a:p>
          </p:txBody>
        </p:sp>
        <p:sp>
          <p:nvSpPr>
            <p:cNvPr id="38" name="Text Box 17">
              <a:extLst>
                <a:ext uri="{FF2B5EF4-FFF2-40B4-BE49-F238E27FC236}">
                  <a16:creationId xmlns:a16="http://schemas.microsoft.com/office/drawing/2014/main" id="{3D4C8AE9-341D-470A-AB1F-69BE23C6B97F}"/>
                </a:ext>
              </a:extLst>
            </p:cNvPr>
            <p:cNvSpPr txBox="1">
              <a:spLocks noChangeArrowheads="1"/>
            </p:cNvSpPr>
            <p:nvPr/>
          </p:nvSpPr>
          <p:spPr bwMode="auto">
            <a:xfrm>
              <a:off x="6113061" y="4037091"/>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A</a:t>
              </a:r>
            </a:p>
          </p:txBody>
        </p:sp>
        <p:sp>
          <p:nvSpPr>
            <p:cNvPr id="39" name="Text Box 18">
              <a:extLst>
                <a:ext uri="{FF2B5EF4-FFF2-40B4-BE49-F238E27FC236}">
                  <a16:creationId xmlns:a16="http://schemas.microsoft.com/office/drawing/2014/main" id="{104C2049-1F2F-4C40-8732-C908DC24241F}"/>
                </a:ext>
              </a:extLst>
            </p:cNvPr>
            <p:cNvSpPr txBox="1">
              <a:spLocks noChangeArrowheads="1"/>
            </p:cNvSpPr>
            <p:nvPr/>
          </p:nvSpPr>
          <p:spPr bwMode="auto">
            <a:xfrm>
              <a:off x="9186767" y="4035612"/>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a:t>
              </a:r>
            </a:p>
          </p:txBody>
        </p:sp>
        <p:sp>
          <p:nvSpPr>
            <p:cNvPr id="40" name="Text Box 19">
              <a:extLst>
                <a:ext uri="{FF2B5EF4-FFF2-40B4-BE49-F238E27FC236}">
                  <a16:creationId xmlns:a16="http://schemas.microsoft.com/office/drawing/2014/main" id="{D55D9F2E-8DB9-49AB-9859-A655FC742095}"/>
                </a:ext>
              </a:extLst>
            </p:cNvPr>
            <p:cNvSpPr txBox="1">
              <a:spLocks noChangeArrowheads="1"/>
            </p:cNvSpPr>
            <p:nvPr/>
          </p:nvSpPr>
          <p:spPr bwMode="auto">
            <a:xfrm>
              <a:off x="9113035" y="4758357"/>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D</a:t>
              </a:r>
            </a:p>
          </p:txBody>
        </p:sp>
        <p:sp>
          <p:nvSpPr>
            <p:cNvPr id="41" name="Text Box 20">
              <a:extLst>
                <a:ext uri="{FF2B5EF4-FFF2-40B4-BE49-F238E27FC236}">
                  <a16:creationId xmlns:a16="http://schemas.microsoft.com/office/drawing/2014/main" id="{FBA9863E-9869-4537-84DF-E5058BB9D2BA}"/>
                </a:ext>
              </a:extLst>
            </p:cNvPr>
            <p:cNvSpPr txBox="1">
              <a:spLocks noChangeArrowheads="1"/>
            </p:cNvSpPr>
            <p:nvPr/>
          </p:nvSpPr>
          <p:spPr bwMode="auto">
            <a:xfrm>
              <a:off x="6513562" y="3827720"/>
              <a:ext cx="1303327"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a:t>
              </a:r>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of management</a:t>
              </a:r>
            </a:p>
            <a:p>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a:t>
              </a:r>
              <a:endParaRPr lang="en-US" altLang="ko-KR"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2" name="Text Box 21">
              <a:extLst>
                <a:ext uri="{FF2B5EF4-FFF2-40B4-BE49-F238E27FC236}">
                  <a16:creationId xmlns:a16="http://schemas.microsoft.com/office/drawing/2014/main" id="{4E6A85B0-10C3-4A76-ADAD-E2C95236DA18}"/>
                </a:ext>
              </a:extLst>
            </p:cNvPr>
            <p:cNvSpPr txBox="1">
              <a:spLocks noChangeArrowheads="1"/>
            </p:cNvSpPr>
            <p:nvPr/>
          </p:nvSpPr>
          <p:spPr bwMode="auto">
            <a:xfrm>
              <a:off x="6568444" y="5020070"/>
              <a:ext cx="1117346" cy="651856"/>
            </a:xfrm>
            <a:prstGeom prst="rect">
              <a:avLst/>
            </a:prstGeom>
            <a:noFill/>
            <a:ln w="9525">
              <a:noFill/>
              <a:miter lim="800000"/>
              <a:headEnd/>
              <a:tailEnd/>
            </a:ln>
          </p:spPr>
          <p:txBody>
            <a:bodyPr>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3" name="Text Box 22">
              <a:extLst>
                <a:ext uri="{FF2B5EF4-FFF2-40B4-BE49-F238E27FC236}">
                  <a16:creationId xmlns:a16="http://schemas.microsoft.com/office/drawing/2014/main" id="{B3A76730-7D39-4250-BA71-BD4D5C0069FF}"/>
                </a:ext>
              </a:extLst>
            </p:cNvPr>
            <p:cNvSpPr txBox="1">
              <a:spLocks noChangeArrowheads="1"/>
            </p:cNvSpPr>
            <p:nvPr/>
          </p:nvSpPr>
          <p:spPr bwMode="auto">
            <a:xfrm>
              <a:off x="8264079" y="3867733"/>
              <a:ext cx="1213911"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4" name="Text Box 23">
              <a:extLst>
                <a:ext uri="{FF2B5EF4-FFF2-40B4-BE49-F238E27FC236}">
                  <a16:creationId xmlns:a16="http://schemas.microsoft.com/office/drawing/2014/main" id="{05BD512F-67DF-4736-80E2-CEA1B470C486}"/>
                </a:ext>
              </a:extLst>
            </p:cNvPr>
            <p:cNvSpPr txBox="1">
              <a:spLocks noChangeArrowheads="1"/>
            </p:cNvSpPr>
            <p:nvPr/>
          </p:nvSpPr>
          <p:spPr bwMode="auto">
            <a:xfrm>
              <a:off x="8323991" y="4965073"/>
              <a:ext cx="1220446"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5" name="Line 30">
              <a:extLst>
                <a:ext uri="{FF2B5EF4-FFF2-40B4-BE49-F238E27FC236}">
                  <a16:creationId xmlns:a16="http://schemas.microsoft.com/office/drawing/2014/main" id="{25B2880B-8280-4D1B-9DDF-8314019EA58B}"/>
                </a:ext>
              </a:extLst>
            </p:cNvPr>
            <p:cNvSpPr>
              <a:spLocks noChangeShapeType="1"/>
            </p:cNvSpPr>
            <p:nvPr/>
          </p:nvSpPr>
          <p:spPr bwMode="auto">
            <a:xfrm>
              <a:off x="5706255" y="3615323"/>
              <a:ext cx="0" cy="2380896"/>
            </a:xfrm>
            <a:prstGeom prst="line">
              <a:avLst/>
            </a:prstGeom>
            <a:noFill/>
            <a:ln w="9525">
              <a:solidFill>
                <a:srgbClr val="FF0000"/>
              </a:solidFill>
              <a:round/>
              <a:headEnd type="triangle" w="med" len="med"/>
              <a:tailEnd type="triangle" w="med" len="med"/>
            </a:ln>
          </p:spPr>
          <p:txBody>
            <a:bodyPr anchor="ct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6" name="Text Box 36">
              <a:extLst>
                <a:ext uri="{FF2B5EF4-FFF2-40B4-BE49-F238E27FC236}">
                  <a16:creationId xmlns:a16="http://schemas.microsoft.com/office/drawing/2014/main" id="{6DB980A6-8D3E-4595-A095-0CD813709CAA}"/>
                </a:ext>
              </a:extLst>
            </p:cNvPr>
            <p:cNvSpPr txBox="1">
              <a:spLocks noChangeArrowheads="1"/>
            </p:cNvSpPr>
            <p:nvPr/>
          </p:nvSpPr>
          <p:spPr bwMode="auto">
            <a:xfrm rot="16200000">
              <a:off x="4880282" y="4564292"/>
              <a:ext cx="1270044" cy="264288"/>
            </a:xfrm>
            <a:prstGeom prst="rect">
              <a:avLst/>
            </a:prstGeom>
            <a:noFill/>
            <a:ln w="9525" algn="ctr">
              <a:noFill/>
              <a:miter lim="800000"/>
              <a:headEnd/>
              <a:tailEnd/>
            </a:ln>
          </p:spPr>
          <p:txBody>
            <a:bodyPr>
              <a:spAutoFit/>
            </a:bodyPr>
            <a:lstStyle/>
            <a:p>
              <a:pPr algn="ctr">
                <a:spcBef>
                  <a:spcPct val="50000"/>
                </a:spcBef>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Control</a:t>
              </a:r>
            </a:p>
          </p:txBody>
        </p:sp>
        <p:sp>
          <p:nvSpPr>
            <p:cNvPr id="47" name="Rectangle 55">
              <a:extLst>
                <a:ext uri="{FF2B5EF4-FFF2-40B4-BE49-F238E27FC236}">
                  <a16:creationId xmlns:a16="http://schemas.microsoft.com/office/drawing/2014/main" id="{420C2EB9-5F53-479C-9447-39BFD0FCD091}"/>
                </a:ext>
              </a:extLst>
            </p:cNvPr>
            <p:cNvSpPr>
              <a:spLocks noChangeArrowheads="1"/>
            </p:cNvSpPr>
            <p:nvPr/>
          </p:nvSpPr>
          <p:spPr bwMode="auto">
            <a:xfrm>
              <a:off x="9456865" y="5884461"/>
              <a:ext cx="988223" cy="235392"/>
            </a:xfrm>
            <a:prstGeom prst="rect">
              <a:avLst/>
            </a:prstGeom>
            <a:noFill/>
            <a:ln w="9525">
              <a:noFill/>
              <a:miter lim="800000"/>
              <a:headEnd/>
              <a:tailEnd/>
            </a:ln>
          </p:spPr>
          <p:txBody>
            <a:bodyPr wrap="square">
              <a:spAutoFit/>
            </a:bodyPr>
            <a:lstStyle/>
            <a:p>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 </a:t>
              </a:r>
              <a:r>
                <a:rPr lang="ko-KR" altLang="en-US"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 </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Or 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(Bench)</a:t>
              </a:r>
            </a:p>
          </p:txBody>
        </p:sp>
        <p:sp>
          <p:nvSpPr>
            <p:cNvPr id="48" name="Line 31">
              <a:extLst>
                <a:ext uri="{FF2B5EF4-FFF2-40B4-BE49-F238E27FC236}">
                  <a16:creationId xmlns:a16="http://schemas.microsoft.com/office/drawing/2014/main" id="{D4DA5518-7C01-4BE4-8ABF-562CA7555F91}"/>
                </a:ext>
              </a:extLst>
            </p:cNvPr>
            <p:cNvSpPr>
              <a:spLocks noChangeShapeType="1"/>
            </p:cNvSpPr>
            <p:nvPr/>
          </p:nvSpPr>
          <p:spPr bwMode="auto">
            <a:xfrm>
              <a:off x="6060635" y="6162459"/>
              <a:ext cx="3403733" cy="0"/>
            </a:xfrm>
            <a:prstGeom prst="line">
              <a:avLst/>
            </a:prstGeom>
            <a:noFill/>
            <a:ln w="9525">
              <a:solidFill>
                <a:srgbClr val="FF0000"/>
              </a:solidFill>
              <a:round/>
              <a:headEnd type="triangle" w="med" len="med"/>
              <a:tailEnd type="triangle" w="med" len="med"/>
            </a:ln>
          </p:spPr>
          <p:txBody>
            <a:bodyPr anchor="ctr"/>
            <a:lstStyle/>
            <a:p>
              <a:endParaRPr lang="ko-KR" altLang="en-US"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9" name="Text Box 34">
              <a:extLst>
                <a:ext uri="{FF2B5EF4-FFF2-40B4-BE49-F238E27FC236}">
                  <a16:creationId xmlns:a16="http://schemas.microsoft.com/office/drawing/2014/main" id="{EBDA23CD-C680-41C0-9552-B6A4B7F2BB63}"/>
                </a:ext>
              </a:extLst>
            </p:cNvPr>
            <p:cNvSpPr txBox="1">
              <a:spLocks noChangeArrowheads="1"/>
            </p:cNvSpPr>
            <p:nvPr/>
          </p:nvSpPr>
          <p:spPr bwMode="auto">
            <a:xfrm>
              <a:off x="9109150" y="6183452"/>
              <a:ext cx="734112" cy="325928"/>
            </a:xfrm>
            <a:prstGeom prst="rect">
              <a:avLst/>
            </a:prstGeom>
            <a:noFill/>
            <a:ln w="9525" algn="ctr">
              <a:noFill/>
              <a:miter lim="800000"/>
              <a:headEnd/>
              <a:tailEnd/>
            </a:ln>
          </p:spPr>
          <p:txBody>
            <a:bodyPr wrap="square">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Good</a:t>
              </a:r>
            </a:p>
          </p:txBody>
        </p:sp>
        <p:sp>
          <p:nvSpPr>
            <p:cNvPr id="50" name="Text Box 35">
              <a:extLst>
                <a:ext uri="{FF2B5EF4-FFF2-40B4-BE49-F238E27FC236}">
                  <a16:creationId xmlns:a16="http://schemas.microsoft.com/office/drawing/2014/main" id="{E48E283C-7CC9-426A-84F4-62FAD64114CF}"/>
                </a:ext>
              </a:extLst>
            </p:cNvPr>
            <p:cNvSpPr txBox="1">
              <a:spLocks noChangeArrowheads="1"/>
            </p:cNvSpPr>
            <p:nvPr/>
          </p:nvSpPr>
          <p:spPr bwMode="auto">
            <a:xfrm>
              <a:off x="5833830" y="6146714"/>
              <a:ext cx="605367" cy="325928"/>
            </a:xfrm>
            <a:prstGeom prst="rect">
              <a:avLst/>
            </a:prstGeom>
            <a:noFill/>
            <a:ln w="9525" algn="ctr">
              <a:noFill/>
              <a:miter lim="800000"/>
              <a:headEnd/>
              <a:tailEnd/>
            </a:ln>
          </p:spPr>
          <p:txBody>
            <a:bodyPr>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Poor</a:t>
              </a:r>
            </a:p>
          </p:txBody>
        </p:sp>
        <p:sp>
          <p:nvSpPr>
            <p:cNvPr id="51" name="Text Box 37">
              <a:extLst>
                <a:ext uri="{FF2B5EF4-FFF2-40B4-BE49-F238E27FC236}">
                  <a16:creationId xmlns:a16="http://schemas.microsoft.com/office/drawing/2014/main" id="{6ACB3CF9-F1A5-40FF-94B5-AC5A9AA50E7F}"/>
                </a:ext>
              </a:extLst>
            </p:cNvPr>
            <p:cNvSpPr txBox="1">
              <a:spLocks noChangeArrowheads="1"/>
            </p:cNvSpPr>
            <p:nvPr/>
          </p:nvSpPr>
          <p:spPr bwMode="auto">
            <a:xfrm>
              <a:off x="7269702" y="6134470"/>
              <a:ext cx="1210735" cy="325928"/>
            </a:xfrm>
            <a:prstGeom prst="rect">
              <a:avLst/>
            </a:prstGeom>
            <a:noFill/>
            <a:ln w="9525" algn="ctr">
              <a:noFill/>
              <a:miter lim="800000"/>
              <a:headEnd/>
              <a:tailEnd/>
            </a:ln>
          </p:spPr>
          <p:txBody>
            <a:bodyPr>
              <a:spAutoFit/>
            </a:bodyPr>
            <a:lstStyle/>
            <a:p>
              <a:pPr algn="ct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Technology</a:t>
              </a:r>
            </a:p>
          </p:txBody>
        </p:sp>
      </p:grpSp>
      <p:sp>
        <p:nvSpPr>
          <p:cNvPr id="52" name="제목 1">
            <a:extLst>
              <a:ext uri="{FF2B5EF4-FFF2-40B4-BE49-F238E27FC236}">
                <a16:creationId xmlns:a16="http://schemas.microsoft.com/office/drawing/2014/main" id="{E98C66C1-2F0F-45A6-8353-A1DF3D59C563}"/>
              </a:ext>
            </a:extLst>
          </p:cNvPr>
          <p:cNvSpPr txBox="1">
            <a:spLocks/>
          </p:cNvSpPr>
          <p:nvPr/>
        </p:nvSpPr>
        <p:spPr>
          <a:xfrm>
            <a:off x="110170" y="71674"/>
            <a:ext cx="6696744"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pPr>
            <a:r>
              <a:rPr lang="en-US" altLang="ko-KR" sz="1600" b="1" kern="0" noProof="0" dirty="0">
                <a:latin typeface="Arial Narrow" panose="020B0606020202030204" pitchFamily="34" charset="0"/>
                <a:ea typeface="Arial Unicode MS" panose="020B0604020202020204" pitchFamily="34" charset="-128"/>
                <a:cs typeface="Arial" panose="020B0604020202020204" pitchFamily="34" charset="0"/>
              </a:rPr>
              <a:t>4.4</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Check Process Capability after</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improving the measurement system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53" name="TextBox 52">
            <a:extLst>
              <a:ext uri="{FF2B5EF4-FFF2-40B4-BE49-F238E27FC236}">
                <a16:creationId xmlns:a16="http://schemas.microsoft.com/office/drawing/2014/main" id="{2F5FF74F-BA63-469A-A32E-C5426DBE5C14}"/>
              </a:ext>
            </a:extLst>
          </p:cNvPr>
          <p:cNvSpPr txBox="1"/>
          <p:nvPr/>
        </p:nvSpPr>
        <p:spPr>
          <a:xfrm>
            <a:off x="29671" y="594277"/>
            <a:ext cx="2561129" cy="276999"/>
          </a:xfrm>
          <a:prstGeom prst="rect">
            <a:avLst/>
          </a:prstGeom>
          <a:noFill/>
        </p:spPr>
        <p:txBody>
          <a:bodyPr wrap="square" rtlCol="0">
            <a:sp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1</a:t>
            </a:r>
            <a:r>
              <a:rPr lang="en-US" sz="1100" b="1" dirty="0">
                <a:latin typeface="Arial" panose="020B0604020202020204" pitchFamily="34" charset="0"/>
                <a:ea typeface="Arial Unicode MS" panose="020B0604020202020204" pitchFamily="34" charset="-128"/>
                <a:cs typeface="Arial" panose="020B0604020202020204" pitchFamily="34" charset="0"/>
              </a:rPr>
              <a:t> Luminance</a:t>
            </a:r>
          </a:p>
        </p:txBody>
      </p:sp>
      <p:sp>
        <p:nvSpPr>
          <p:cNvPr id="54" name="AutoShape 57">
            <a:extLst>
              <a:ext uri="{FF2B5EF4-FFF2-40B4-BE49-F238E27FC236}">
                <a16:creationId xmlns:a16="http://schemas.microsoft.com/office/drawing/2014/main" id="{28EE689D-EE5C-4815-8EA0-F4D2FAE4A257}"/>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55" name="AutoShape 56">
            <a:extLst>
              <a:ext uri="{FF2B5EF4-FFF2-40B4-BE49-F238E27FC236}">
                <a16:creationId xmlns:a16="http://schemas.microsoft.com/office/drawing/2014/main" id="{D43199DA-1E14-4253-B216-05907E7561BB}"/>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sp>
        <p:nvSpPr>
          <p:cNvPr id="56" name="AutoShape 58">
            <a:extLst>
              <a:ext uri="{FF2B5EF4-FFF2-40B4-BE49-F238E27FC236}">
                <a16:creationId xmlns:a16="http://schemas.microsoft.com/office/drawing/2014/main" id="{D554B8F1-71A1-49DB-BE92-80A12AEE5C7F}"/>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sp>
        <p:nvSpPr>
          <p:cNvPr id="4" name="Oval 3">
            <a:extLst>
              <a:ext uri="{FF2B5EF4-FFF2-40B4-BE49-F238E27FC236}">
                <a16:creationId xmlns:a16="http://schemas.microsoft.com/office/drawing/2014/main" id="{13B6EF7D-CDBF-45E6-A01F-F314BBB01FA9}"/>
              </a:ext>
            </a:extLst>
          </p:cNvPr>
          <p:cNvSpPr/>
          <p:nvPr/>
        </p:nvSpPr>
        <p:spPr bwMode="auto">
          <a:xfrm>
            <a:off x="8017399" y="5248557"/>
            <a:ext cx="130509" cy="137281"/>
          </a:xfrm>
          <a:prstGeom prst="ellipse">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Tree>
    <p:extLst>
      <p:ext uri="{BB962C8B-B14F-4D97-AF65-F5344CB8AC3E}">
        <p14:creationId xmlns:p14="http://schemas.microsoft.com/office/powerpoint/2010/main" val="2828906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r>
              <a:rPr sz="1000" b="0">
                <a:latin typeface="Arial"/>
              </a:rPr>
              <a:t>28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1" name="TextBox 20">
            <a:extLst>
              <a:ext uri="{FF2B5EF4-FFF2-40B4-BE49-F238E27FC236}">
                <a16:creationId xmlns:a16="http://schemas.microsoft.com/office/drawing/2014/main" id="{4D3DF1E9-4F4B-4537-85CB-35E50A4338F4}"/>
              </a:ext>
            </a:extLst>
          </p:cNvPr>
          <p:cNvSpPr txBox="1"/>
          <p:nvPr/>
        </p:nvSpPr>
        <p:spPr>
          <a:xfrm>
            <a:off x="5572865" y="5360459"/>
            <a:ext cx="3429000" cy="338426"/>
          </a:xfrm>
          <a:prstGeom prst="rect">
            <a:avLst/>
          </a:prstGeom>
          <a:noFill/>
        </p:spPr>
        <p:txBody>
          <a:bodyPr wrap="square" rtlCol="0">
            <a:spAutoFit/>
          </a:bodyPr>
          <a:lstStyle/>
          <a:p>
            <a:pPr>
              <a:lnSpc>
                <a:spcPct val="150000"/>
              </a:lnSpc>
            </a:pPr>
            <a:r>
              <a:rPr lang="en-US" sz="1100" dirty="0">
                <a:latin typeface="Arial" panose="020B0600000101010101" pitchFamily="34" charset="-127"/>
                <a:ea typeface="Arial" panose="020B0600000101010101" pitchFamily="34" charset="-127"/>
                <a:cs typeface="Arial" panose="020B0604020202020204" pitchFamily="34" charset="0"/>
              </a:rPr>
              <a:t>Cpk = 2.24 (Standard ≥ 1.67) </a:t>
            </a:r>
            <a:r>
              <a:rPr lang="en-US" sz="1100" dirty="0">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 Pass</a:t>
            </a:r>
            <a:endParaRPr lang="en-US" sz="12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2" name="TextBox 21">
            <a:extLst>
              <a:ext uri="{FF2B5EF4-FFF2-40B4-BE49-F238E27FC236}">
                <a16:creationId xmlns:a16="http://schemas.microsoft.com/office/drawing/2014/main" id="{91A13D46-5B91-4121-A651-FD19FF223FEC}"/>
              </a:ext>
            </a:extLst>
          </p:cNvPr>
          <p:cNvSpPr txBox="1"/>
          <p:nvPr/>
        </p:nvSpPr>
        <p:spPr>
          <a:xfrm>
            <a:off x="307691" y="5360459"/>
            <a:ext cx="4876800" cy="616259"/>
          </a:xfrm>
          <a:prstGeom prst="rect">
            <a:avLst/>
          </a:prstGeom>
          <a:noFill/>
        </p:spPr>
        <p:txBody>
          <a:bodyPr wrap="square" rtlCol="0">
            <a:spAutoFit/>
          </a:bodyPr>
          <a:lstStyle/>
          <a:p>
            <a:pPr>
              <a:lnSpc>
                <a:spcPct val="150000"/>
              </a:lnSpc>
            </a:pPr>
            <a:r>
              <a:rPr sz="1100" b="0">
                <a:latin typeface="Arial"/>
              </a:rPr>
              <a:t>P-value = 0.600 &gt; 0.05 -&gt; Fail to reject H0 -&gt; Data follows Normal Distribution (PASS)</a:t>
            </a:r>
          </a:p>
          <a:p>
            <a:pPr>
              <a:lnSpc>
                <a:spcPct val="150000"/>
              </a:lnSpc>
            </a:pPr>
            <a:r>
              <a:rPr lang="en-US" altLang="ko-KR"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altLang="ko-KR" sz="1100" dirty="0">
                <a:latin typeface="Arial" panose="020B0600000101010101" pitchFamily="34" charset="-127"/>
                <a:ea typeface="Arial" panose="020B0600000101010101" pitchFamily="34" charset="-127"/>
                <a:cs typeface="Arial"/>
                <a:sym typeface="Wingdings" pitchFamily="2" charset="2"/>
              </a:rPr>
              <a:t>It has a normal distribution</a:t>
            </a:r>
            <a:r>
              <a:rPr lang="en-US" altLang="ko-KR" sz="11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sz="1100" dirty="0">
                <a:latin typeface="Arial" panose="020B0600000101010101" pitchFamily="34" charset="-127"/>
                <a:ea typeface="Arial" panose="020B0600000101010101" pitchFamily="34" charset="-127"/>
                <a:cs typeface="Arial" panose="020B0604020202020204" pitchFamily="34" charset="0"/>
              </a:rPr>
              <a:t> </a:t>
            </a:r>
          </a:p>
        </p:txBody>
      </p:sp>
      <p:sp>
        <p:nvSpPr>
          <p:cNvPr id="24" name="제목 1">
            <a:extLst>
              <a:ext uri="{FF2B5EF4-FFF2-40B4-BE49-F238E27FC236}">
                <a16:creationId xmlns:a16="http://schemas.microsoft.com/office/drawing/2014/main" id="{031A6440-6634-4103-92B8-49C3ED90C4C8}"/>
              </a:ext>
            </a:extLst>
          </p:cNvPr>
          <p:cNvSpPr txBox="1">
            <a:spLocks/>
          </p:cNvSpPr>
          <p:nvPr/>
        </p:nvSpPr>
        <p:spPr>
          <a:xfrm>
            <a:off x="110170" y="71674"/>
            <a:ext cx="6696744"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pPr>
            <a:r>
              <a:rPr lang="en-US" altLang="ko-KR" sz="1600" b="1" kern="0" noProof="0" dirty="0">
                <a:latin typeface="Arial Narrow" panose="020B0606020202030204" pitchFamily="34" charset="0"/>
                <a:ea typeface="Arial Unicode MS" panose="020B0604020202020204" pitchFamily="34" charset="-128"/>
                <a:cs typeface="Arial" panose="020B0604020202020204" pitchFamily="34" charset="0"/>
              </a:rPr>
              <a:t>4.4</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Check Process Capability after</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improving the measurement system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5" name="TextBox 24">
            <a:extLst>
              <a:ext uri="{FF2B5EF4-FFF2-40B4-BE49-F238E27FC236}">
                <a16:creationId xmlns:a16="http://schemas.microsoft.com/office/drawing/2014/main" id="{B7674296-F9ED-4CBE-BD6B-2C6DA8CD6EBE}"/>
              </a:ext>
            </a:extLst>
          </p:cNvPr>
          <p:cNvSpPr txBox="1"/>
          <p:nvPr/>
        </p:nvSpPr>
        <p:spPr>
          <a:xfrm>
            <a:off x="29671" y="594277"/>
            <a:ext cx="2942129" cy="276999"/>
          </a:xfrm>
          <a:prstGeom prst="rect">
            <a:avLst/>
          </a:prstGeom>
          <a:noFill/>
        </p:spPr>
        <p:txBody>
          <a:bodyPr wrap="square" rtlCol="0">
            <a:sp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a:t>
            </a:r>
            <a:r>
              <a:rPr lang="en-US" sz="1100" b="1" dirty="0">
                <a:latin typeface="Arial" panose="020B0604020202020204" pitchFamily="34" charset="0"/>
                <a:ea typeface="Arial Unicode MS" panose="020B0604020202020204" pitchFamily="34" charset="-128"/>
                <a:cs typeface="Arial" panose="020B0604020202020204" pitchFamily="34" charset="0"/>
              </a:rPr>
              <a:t>2 Luminance</a:t>
            </a:r>
          </a:p>
        </p:txBody>
      </p:sp>
      <p:sp>
        <p:nvSpPr>
          <p:cNvPr id="23" name="AutoShape 57">
            <a:extLst>
              <a:ext uri="{FF2B5EF4-FFF2-40B4-BE49-F238E27FC236}">
                <a16:creationId xmlns:a16="http://schemas.microsoft.com/office/drawing/2014/main" id="{73911B39-23F6-4CF1-B590-3BF4AF2DF50F}"/>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26" name="AutoShape 56">
            <a:extLst>
              <a:ext uri="{FF2B5EF4-FFF2-40B4-BE49-F238E27FC236}">
                <a16:creationId xmlns:a16="http://schemas.microsoft.com/office/drawing/2014/main" id="{293DCF7A-2413-46F4-BD40-0B6E07C06B26}"/>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sp>
        <p:nvSpPr>
          <p:cNvPr id="27" name="AutoShape 58">
            <a:extLst>
              <a:ext uri="{FF2B5EF4-FFF2-40B4-BE49-F238E27FC236}">
                <a16:creationId xmlns:a16="http://schemas.microsoft.com/office/drawing/2014/main" id="{DE0B4DB6-3714-4D76-943B-90338DEBD77F}"/>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pic>
        <p:nvPicPr>
          <p:cNvPr id="5" name="Picture 4">
            <a:extLst>
              <a:ext uri="{FF2B5EF4-FFF2-40B4-BE49-F238E27FC236}">
                <a16:creationId xmlns:a16="http://schemas.microsoft.com/office/drawing/2014/main" id="{CDBFE2BA-22EC-4E68-8012-8DD2082BFAE0}"/>
              </a:ext>
            </a:extLst>
          </p:cNvPr>
          <p:cNvPicPr>
            <a:picLocks noChangeAspect="1"/>
          </p:cNvPicPr>
          <p:nvPr/>
        </p:nvPicPr>
        <p:blipFill>
          <a:blip r:embed="rId8"/>
          <a:stretch>
            <a:fillRect/>
          </a:stretch>
        </p:blipFill>
        <p:spPr>
          <a:xfrm>
            <a:off x="0" y="1781554"/>
            <a:ext cx="4937235" cy="3357985"/>
          </a:xfrm>
          <a:prstGeom prst="rect">
            <a:avLst/>
          </a:prstGeom>
        </p:spPr>
      </p:pic>
      <p:pic>
        <p:nvPicPr>
          <p:cNvPr id="6" name="Picture 5">
            <a:extLst>
              <a:ext uri="{FF2B5EF4-FFF2-40B4-BE49-F238E27FC236}">
                <a16:creationId xmlns:a16="http://schemas.microsoft.com/office/drawing/2014/main" id="{1041727C-0180-47BE-980A-7240A140896B}"/>
              </a:ext>
            </a:extLst>
          </p:cNvPr>
          <p:cNvPicPr>
            <a:picLocks noChangeAspect="1"/>
          </p:cNvPicPr>
          <p:nvPr/>
        </p:nvPicPr>
        <p:blipFill>
          <a:blip r:embed="rId9"/>
          <a:stretch>
            <a:fillRect/>
          </a:stretch>
        </p:blipFill>
        <p:spPr>
          <a:xfrm>
            <a:off x="5071808" y="1811242"/>
            <a:ext cx="4453192" cy="3328297"/>
          </a:xfrm>
          <a:prstGeom prst="rect">
            <a:avLst/>
          </a:prstGeom>
        </p:spPr>
      </p:pic>
      <p:sp>
        <p:nvSpPr>
          <p:cNvPr id="2" name="Rectangle 1">
            <a:extLst>
              <a:ext uri="{FF2B5EF4-FFF2-40B4-BE49-F238E27FC236}">
                <a16:creationId xmlns:a16="http://schemas.microsoft.com/office/drawing/2014/main" id="{77DD4380-CC7A-4120-9471-60982EE3B35F}"/>
              </a:ext>
            </a:extLst>
          </p:cNvPr>
          <p:cNvSpPr/>
          <p:nvPr/>
        </p:nvSpPr>
        <p:spPr>
          <a:xfrm>
            <a:off x="83021" y="942979"/>
            <a:ext cx="3069045" cy="276999"/>
          </a:xfrm>
          <a:prstGeom prst="rect">
            <a:avLst/>
          </a:prstGeom>
        </p:spPr>
        <p:txBody>
          <a:bodyPr wrap="none">
            <a:spAutoFit/>
          </a:bodyPr>
          <a:lstStyle/>
          <a:p>
            <a:pPr lvl="0" eaLnBrk="0" hangingPunct="0">
              <a:defRPr/>
            </a:pPr>
            <a:r>
              <a:rPr lang="en-US" altLang="ja-JP" sz="1100" dirty="0">
                <a:latin typeface="Arial" panose="020B0604020202020204" pitchFamily="34" charset="0"/>
                <a:ea typeface="Arial Unicode MS" panose="020B0604020202020204" pitchFamily="34" charset="-128"/>
                <a:cs typeface="Arial" panose="020B0604020202020204" pitchFamily="34" charset="0"/>
              </a:rPr>
              <a:t>To evaluate process capability of station 2:</a:t>
            </a:r>
          </a:p>
        </p:txBody>
      </p:sp>
    </p:spTree>
    <p:extLst>
      <p:ext uri="{BB962C8B-B14F-4D97-AF65-F5344CB8AC3E}">
        <p14:creationId xmlns:p14="http://schemas.microsoft.com/office/powerpoint/2010/main" val="33018814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A66E45-431A-4EF3-A2E5-33060C669DFC}"/>
              </a:ext>
            </a:extLst>
          </p:cNvPr>
          <p:cNvPicPr>
            <a:picLocks noChangeAspect="1"/>
          </p:cNvPicPr>
          <p:nvPr/>
        </p:nvPicPr>
        <p:blipFill>
          <a:blip r:embed="rId3"/>
          <a:stretch>
            <a:fillRect/>
          </a:stretch>
        </p:blipFill>
        <p:spPr>
          <a:xfrm>
            <a:off x="5085601" y="803973"/>
            <a:ext cx="4376380" cy="3268076"/>
          </a:xfrm>
          <a:prstGeom prst="rect">
            <a:avLst/>
          </a:prstGeom>
          <a:ln>
            <a:noFill/>
          </a:ln>
        </p:spPr>
      </p:pic>
      <p:pic>
        <p:nvPicPr>
          <p:cNvPr id="4" name="Picture 3">
            <a:extLst>
              <a:ext uri="{FF2B5EF4-FFF2-40B4-BE49-F238E27FC236}">
                <a16:creationId xmlns:a16="http://schemas.microsoft.com/office/drawing/2014/main" id="{E2D6D6AB-CED2-4959-B087-729054AAA04B}"/>
              </a:ext>
            </a:extLst>
          </p:cNvPr>
          <p:cNvPicPr>
            <a:picLocks noChangeAspect="1"/>
          </p:cNvPicPr>
          <p:nvPr/>
        </p:nvPicPr>
        <p:blipFill>
          <a:blip r:embed="rId4"/>
          <a:stretch>
            <a:fillRect/>
          </a:stretch>
        </p:blipFill>
        <p:spPr>
          <a:xfrm>
            <a:off x="453669" y="839100"/>
            <a:ext cx="4140698" cy="3128528"/>
          </a:xfrm>
          <a:prstGeom prst="rect">
            <a:avLst/>
          </a:prstGeom>
        </p:spPr>
      </p:pic>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a:r>
              <a:rPr sz="1000" b="0">
                <a:latin typeface="Arial"/>
              </a:rPr>
              <a:t>29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27" name="TextBox 26">
            <a:extLst>
              <a:ext uri="{FF2B5EF4-FFF2-40B4-BE49-F238E27FC236}">
                <a16:creationId xmlns:a16="http://schemas.microsoft.com/office/drawing/2014/main" id="{00F4DEE4-CDEB-4C16-817D-6B1C512B108F}"/>
              </a:ext>
            </a:extLst>
          </p:cNvPr>
          <p:cNvSpPr txBox="1"/>
          <p:nvPr/>
        </p:nvSpPr>
        <p:spPr>
          <a:xfrm>
            <a:off x="3276600" y="3161026"/>
            <a:ext cx="1241743" cy="507831"/>
          </a:xfrm>
          <a:prstGeom prst="rect">
            <a:avLst/>
          </a:prstGeom>
          <a:solidFill>
            <a:schemeClr val="bg1"/>
          </a:solidFill>
          <a:ln>
            <a:noFill/>
          </a:ln>
        </p:spPr>
        <p:txBody>
          <a:bodyPr wrap="square" rtlCol="0">
            <a:spAutoFit/>
          </a:bodyPr>
          <a:lstStyle/>
          <a:p>
            <a:r>
              <a:rPr lang="en-US" altLang="ko-KR" sz="1100" dirty="0">
                <a:latin typeface="Arial" panose="020B0600000101010101" pitchFamily="34" charset="-127"/>
                <a:ea typeface="Arial" panose="020B0600000101010101" pitchFamily="34" charset="-127"/>
                <a:cs typeface="Arial" panose="020B0604020202020204" pitchFamily="34" charset="0"/>
              </a:rPr>
              <a:t> Z Long term = 6.21</a:t>
            </a:r>
          </a:p>
          <a:p>
            <a:r>
              <a:rPr lang="en-US" altLang="ko-KR" sz="1100" dirty="0">
                <a:latin typeface="Arial" panose="020B0600000101010101" pitchFamily="34" charset="-127"/>
                <a:ea typeface="Arial" panose="020B0600000101010101" pitchFamily="34" charset="-127"/>
                <a:cs typeface="Arial" panose="020B0604020202020204" pitchFamily="34" charset="0"/>
              </a:rPr>
              <a:t>Standard ≥  4.5</a:t>
            </a:r>
          </a:p>
          <a:p>
            <a:r>
              <a:rPr lang="en-US" altLang="ko-KR" sz="1100" dirty="0">
                <a:latin typeface="Arial" panose="020B0600000101010101" pitchFamily="34" charset="-127"/>
                <a:ea typeface="Arial" panose="020B0600000101010101" pitchFamily="34" charset="-127"/>
                <a:cs typeface="Arial" panose="020B0604020202020204" pitchFamily="34" charset="0"/>
              </a:rPr>
              <a:t> </a:t>
            </a:r>
            <a:r>
              <a:rPr lang="en-US" altLang="ko-KR" sz="11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100" dirty="0">
                <a:latin typeface="Arial" panose="020B0600000101010101" pitchFamily="34" charset="-127"/>
                <a:ea typeface="Arial" panose="020B0600000101010101" pitchFamily="34" charset="-127"/>
                <a:cs typeface="Arial" panose="020B0604020202020204" pitchFamily="34" charset="0"/>
              </a:rPr>
              <a:t> </a:t>
            </a:r>
          </a:p>
        </p:txBody>
      </p:sp>
      <p:sp>
        <p:nvSpPr>
          <p:cNvPr id="28" name="TextBox 27">
            <a:extLst>
              <a:ext uri="{FF2B5EF4-FFF2-40B4-BE49-F238E27FC236}">
                <a16:creationId xmlns:a16="http://schemas.microsoft.com/office/drawing/2014/main" id="{770B63C0-BDB9-4BB1-B7CE-47513CEA8001}"/>
              </a:ext>
            </a:extLst>
          </p:cNvPr>
          <p:cNvSpPr txBox="1"/>
          <p:nvPr/>
        </p:nvSpPr>
        <p:spPr>
          <a:xfrm>
            <a:off x="8093510" y="3044271"/>
            <a:ext cx="1241743" cy="507831"/>
          </a:xfrm>
          <a:prstGeom prst="rect">
            <a:avLst/>
          </a:prstGeom>
          <a:solidFill>
            <a:schemeClr val="bg1"/>
          </a:solidFill>
          <a:ln>
            <a:noFill/>
          </a:ln>
        </p:spPr>
        <p:txBody>
          <a:bodyPr wrap="square" rtlCol="0">
            <a:spAutoFit/>
          </a:bodyPr>
          <a:lstStyle/>
          <a:p>
            <a:r>
              <a:rPr lang="en-US" altLang="ko-KR" sz="1100" dirty="0">
                <a:latin typeface="Arial" panose="020B0600000101010101" pitchFamily="34" charset="-127"/>
                <a:ea typeface="Arial" panose="020B0600000101010101" pitchFamily="34" charset="-127"/>
                <a:cs typeface="Arial" panose="020B0604020202020204" pitchFamily="34" charset="0"/>
              </a:rPr>
              <a:t> Z Short term = 6.68   Standard ≥  6</a:t>
            </a:r>
          </a:p>
          <a:p>
            <a:r>
              <a:rPr lang="en-US" altLang="ko-KR" sz="1100" dirty="0">
                <a:latin typeface="Arial" panose="020B0600000101010101" pitchFamily="34" charset="-127"/>
                <a:ea typeface="Arial" panose="020B0600000101010101" pitchFamily="34" charset="-127"/>
                <a:cs typeface="Arial" panose="020B0604020202020204" pitchFamily="34" charset="0"/>
              </a:rPr>
              <a:t> </a:t>
            </a:r>
            <a:r>
              <a:rPr lang="en-US" altLang="ko-KR" sz="11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100" dirty="0">
                <a:latin typeface="Arial" panose="020B0600000101010101" pitchFamily="34" charset="-127"/>
                <a:ea typeface="Arial" panose="020B0600000101010101" pitchFamily="34" charset="-127"/>
                <a:cs typeface="Arial" panose="020B0604020202020204" pitchFamily="34" charset="0"/>
              </a:rPr>
              <a:t> </a:t>
            </a:r>
          </a:p>
        </p:txBody>
      </p:sp>
      <p:sp>
        <p:nvSpPr>
          <p:cNvPr id="29" name="TextBox 28">
            <a:extLst>
              <a:ext uri="{FF2B5EF4-FFF2-40B4-BE49-F238E27FC236}">
                <a16:creationId xmlns:a16="http://schemas.microsoft.com/office/drawing/2014/main" id="{3F03CC85-78FB-49D7-B96C-52B4B103B707}"/>
              </a:ext>
            </a:extLst>
          </p:cNvPr>
          <p:cNvSpPr txBox="1"/>
          <p:nvPr/>
        </p:nvSpPr>
        <p:spPr>
          <a:xfrm>
            <a:off x="222124" y="4752877"/>
            <a:ext cx="4376380" cy="1169423"/>
          </a:xfrm>
          <a:prstGeom prst="rect">
            <a:avLst/>
          </a:prstGeom>
          <a:solidFill>
            <a:schemeClr val="bg1"/>
          </a:solidFill>
        </p:spPr>
        <p:txBody>
          <a:bodyPr wrap="square" rtlCol="0">
            <a:spAutoFit/>
          </a:bodyPr>
          <a:lstStyle/>
          <a:p>
            <a:pPr>
              <a:lnSpc>
                <a:spcPct val="150000"/>
              </a:lnSpc>
              <a:buFont typeface="Wingdings" pitchFamily="2" charset="2"/>
              <a:buChar char="§"/>
            </a:pPr>
            <a:r>
              <a:rPr lang="en-US" altLang="ko-KR" sz="1100" noProof="1">
                <a:latin typeface="Arial" panose="020B0600000101010101" pitchFamily="34" charset="-127"/>
                <a:ea typeface="Arial" panose="020B0600000101010101" pitchFamily="34" charset="-127"/>
              </a:rPr>
              <a:t>  Zshift = Zst – Zlt = 6.68 – 6.21= 0.47 </a:t>
            </a:r>
            <a:r>
              <a:rPr lang="en-US" altLang="ko-KR" sz="1100" noProof="1">
                <a:latin typeface="Arial" panose="020B0600000101010101" pitchFamily="34" charset="-127"/>
                <a:ea typeface="Arial" panose="020B0600000101010101" pitchFamily="34" charset="-127"/>
                <a:sym typeface="Wingdings" pitchFamily="2" charset="2"/>
              </a:rPr>
              <a:t> Z shift &lt; 1.5 </a:t>
            </a:r>
          </a:p>
          <a:p>
            <a:pPr>
              <a:lnSpc>
                <a:spcPct val="150000"/>
              </a:lnSpc>
            </a:pPr>
            <a:r>
              <a:rPr lang="en-US" altLang="ko-KR" sz="1100" noProof="1">
                <a:latin typeface="Arial" panose="020B0600000101010101" pitchFamily="34" charset="-127"/>
                <a:ea typeface="Arial" panose="020B0600000101010101" pitchFamily="34" charset="-127"/>
                <a:sym typeface="Wingdings" pitchFamily="2" charset="2"/>
              </a:rPr>
              <a:t> Proper process control </a:t>
            </a:r>
            <a:r>
              <a:rPr lang="en-US" altLang="ko-KR" sz="1100" noProof="1">
                <a:latin typeface="Arial" panose="020B0600000101010101" pitchFamily="34" charset="-127"/>
                <a:ea typeface="Arial" panose="020B0600000101010101" pitchFamily="34" charset="-127"/>
              </a:rPr>
              <a:t>management</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a:lnSpc>
                <a:spcPct val="150000"/>
              </a:lnSpc>
              <a:buFont typeface="Wingdings" pitchFamily="2" charset="2"/>
              <a:buChar char="§"/>
            </a:pPr>
            <a:r>
              <a:rPr lang="en-US" altLang="ko-KR" sz="1100" noProof="1">
                <a:latin typeface="Arial" panose="020B0600000101010101" pitchFamily="34" charset="-127"/>
                <a:ea typeface="Arial" panose="020B0600000101010101" pitchFamily="34" charset="-127"/>
                <a:sym typeface="Wingdings" pitchFamily="2" charset="2"/>
              </a:rPr>
              <a:t>  Z short term: 6.68 </a:t>
            </a:r>
            <a:r>
              <a:rPr lang="en-US" altLang="ko-KR" sz="1100" dirty="0">
                <a:latin typeface="Arial" panose="020B0600000101010101" pitchFamily="34" charset="-127"/>
                <a:ea typeface="Arial" panose="020B0600000101010101" pitchFamily="34" charset="-127"/>
                <a:cs typeface="Arial" panose="020B0604020202020204" pitchFamily="34" charset="0"/>
              </a:rPr>
              <a:t>≥  6</a:t>
            </a:r>
            <a:r>
              <a:rPr lang="en-US" altLang="ko-KR" sz="1100" noProof="1">
                <a:latin typeface="Arial" panose="020B0600000101010101" pitchFamily="34" charset="-127"/>
                <a:ea typeface="Arial" panose="020B0600000101010101" pitchFamily="34" charset="-127"/>
                <a:sym typeface="Wingdings" pitchFamily="2" charset="2"/>
              </a:rPr>
              <a:t> , Z long term: 6.21 </a:t>
            </a:r>
            <a:r>
              <a:rPr lang="en-US" altLang="ko-KR" sz="1100" dirty="0">
                <a:latin typeface="Arial" panose="020B0600000101010101" pitchFamily="34" charset="-127"/>
                <a:ea typeface="Arial" panose="020B0600000101010101" pitchFamily="34" charset="-127"/>
                <a:cs typeface="Arial" panose="020B0604020202020204" pitchFamily="34" charset="0"/>
              </a:rPr>
              <a:t>≥ 4.5</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a:lnSpc>
                <a:spcPct val="150000"/>
              </a:lnSpc>
            </a:pPr>
            <a:r>
              <a:rPr lang="en-US" altLang="ko-KR" sz="1100" noProof="1">
                <a:latin typeface="Arial" panose="020B0600000101010101" pitchFamily="34" charset="-127"/>
                <a:ea typeface="Arial" panose="020B0600000101010101" pitchFamily="34" charset="-127"/>
                <a:sym typeface="Wingdings" pitchFamily="2" charset="2"/>
              </a:rPr>
              <a:t> Technology is OK</a:t>
            </a:r>
            <a:endParaRPr lang="en-US" altLang="ko-KR" sz="1200" noProof="1">
              <a:latin typeface="LG Smart_H Regular" panose="020B0600000101010101" pitchFamily="34" charset="-127"/>
              <a:ea typeface="LG Smart_H Regular" panose="020B0600000101010101" pitchFamily="34" charset="-127"/>
            </a:endParaRPr>
          </a:p>
        </p:txBody>
      </p:sp>
      <p:grpSp>
        <p:nvGrpSpPr>
          <p:cNvPr id="30" name="Group 29">
            <a:extLst>
              <a:ext uri="{FF2B5EF4-FFF2-40B4-BE49-F238E27FC236}">
                <a16:creationId xmlns:a16="http://schemas.microsoft.com/office/drawing/2014/main" id="{A91AC523-C770-45D1-BAAD-CA31C2D5A8E8}"/>
              </a:ext>
            </a:extLst>
          </p:cNvPr>
          <p:cNvGrpSpPr/>
          <p:nvPr/>
        </p:nvGrpSpPr>
        <p:grpSpPr>
          <a:xfrm>
            <a:off x="5277611" y="4038601"/>
            <a:ext cx="4715882" cy="2710762"/>
            <a:chOff x="5383160" y="3319792"/>
            <a:chExt cx="5061928" cy="3189588"/>
          </a:xfrm>
        </p:grpSpPr>
        <p:sp>
          <p:nvSpPr>
            <p:cNvPr id="31" name="Rectangle 9">
              <a:extLst>
                <a:ext uri="{FF2B5EF4-FFF2-40B4-BE49-F238E27FC236}">
                  <a16:creationId xmlns:a16="http://schemas.microsoft.com/office/drawing/2014/main" id="{DF669F23-0AC3-4F56-9A0B-2411DEF3812C}"/>
                </a:ext>
              </a:extLst>
            </p:cNvPr>
            <p:cNvSpPr>
              <a:spLocks noChangeArrowheads="1"/>
            </p:cNvSpPr>
            <p:nvPr/>
          </p:nvSpPr>
          <p:spPr bwMode="auto">
            <a:xfrm>
              <a:off x="6033120" y="3708392"/>
              <a:ext cx="3423745" cy="2136281"/>
            </a:xfrm>
            <a:prstGeom prst="rect">
              <a:avLst/>
            </a:prstGeom>
            <a:solidFill>
              <a:schemeClr val="bg2">
                <a:lumMod val="20000"/>
                <a:lumOff val="80000"/>
              </a:schemeClr>
            </a:solidFill>
            <a:ln w="12700">
              <a:solidFill>
                <a:schemeClr val="tx1"/>
              </a:solidFill>
              <a:miter lim="800000"/>
              <a:headEnd/>
              <a:tailEnd/>
            </a:ln>
          </p:spPr>
          <p:txBody>
            <a:bodyPr wrap="none" anchor="ctr"/>
            <a:lstStyle/>
            <a:p>
              <a:pPr algn="ctr">
                <a:defRPr/>
              </a:pPr>
              <a:endParaRPr lang="ko-KR" altLang="en-US" sz="7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2" name="Line 10">
              <a:extLst>
                <a:ext uri="{FF2B5EF4-FFF2-40B4-BE49-F238E27FC236}">
                  <a16:creationId xmlns:a16="http://schemas.microsoft.com/office/drawing/2014/main" id="{E325E004-4EBD-46E8-A128-4006A20037A9}"/>
                </a:ext>
              </a:extLst>
            </p:cNvPr>
            <p:cNvSpPr>
              <a:spLocks noChangeShapeType="1"/>
            </p:cNvSpPr>
            <p:nvPr/>
          </p:nvSpPr>
          <p:spPr bwMode="auto">
            <a:xfrm>
              <a:off x="8234872" y="3708391"/>
              <a:ext cx="8082" cy="2136281"/>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3" name="Line 11">
              <a:extLst>
                <a:ext uri="{FF2B5EF4-FFF2-40B4-BE49-F238E27FC236}">
                  <a16:creationId xmlns:a16="http://schemas.microsoft.com/office/drawing/2014/main" id="{29F7C8D4-F09C-4737-8A79-22659B843F21}"/>
                </a:ext>
              </a:extLst>
            </p:cNvPr>
            <p:cNvSpPr>
              <a:spLocks noChangeShapeType="1"/>
            </p:cNvSpPr>
            <p:nvPr/>
          </p:nvSpPr>
          <p:spPr bwMode="auto">
            <a:xfrm>
              <a:off x="6036455" y="4689438"/>
              <a:ext cx="3412072" cy="0"/>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4" name="Rectangle 12">
              <a:extLst>
                <a:ext uri="{FF2B5EF4-FFF2-40B4-BE49-F238E27FC236}">
                  <a16:creationId xmlns:a16="http://schemas.microsoft.com/office/drawing/2014/main" id="{134442CB-1980-4352-98E7-E128F12A9699}"/>
                </a:ext>
              </a:extLst>
            </p:cNvPr>
            <p:cNvSpPr>
              <a:spLocks noChangeArrowheads="1"/>
            </p:cNvSpPr>
            <p:nvPr/>
          </p:nvSpPr>
          <p:spPr bwMode="auto">
            <a:xfrm>
              <a:off x="5677904" y="4528497"/>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1.5</a:t>
              </a:r>
            </a:p>
          </p:txBody>
        </p:sp>
        <p:sp>
          <p:nvSpPr>
            <p:cNvPr id="35" name="Rectangle 13">
              <a:extLst>
                <a:ext uri="{FF2B5EF4-FFF2-40B4-BE49-F238E27FC236}">
                  <a16:creationId xmlns:a16="http://schemas.microsoft.com/office/drawing/2014/main" id="{6A8D9248-A26E-4915-8262-E9F9172EB945}"/>
                </a:ext>
              </a:extLst>
            </p:cNvPr>
            <p:cNvSpPr>
              <a:spLocks noChangeArrowheads="1"/>
            </p:cNvSpPr>
            <p:nvPr/>
          </p:nvSpPr>
          <p:spPr bwMode="auto">
            <a:xfrm>
              <a:off x="5536315" y="3319792"/>
              <a:ext cx="509306" cy="299523"/>
            </a:xfrm>
            <a:prstGeom prst="rect">
              <a:avLst/>
            </a:prstGeom>
            <a:noFill/>
            <a:ln w="9525">
              <a:noFill/>
              <a:miter lim="800000"/>
              <a:headEnd/>
              <a:tailEnd/>
            </a:ln>
          </p:spPr>
          <p:txBody>
            <a:bodyPr wrap="none" lIns="92075" tIns="46038" rIns="92075" bIns="46038">
              <a:spAutoFit/>
            </a:bodyPr>
            <a:lstStyle/>
            <a:p>
              <a:pPr algn="ctr" latinLnBrk="0"/>
              <a:r>
                <a:rPr lang="en-US" altLang="ko-KR" sz="105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 </a:t>
              </a:r>
              <a:r>
                <a:rPr lang="en-US" altLang="ko-KR" sz="105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shift</a:t>
              </a:r>
            </a:p>
          </p:txBody>
        </p:sp>
        <p:sp>
          <p:nvSpPr>
            <p:cNvPr id="36" name="Rectangle 35">
              <a:extLst>
                <a:ext uri="{FF2B5EF4-FFF2-40B4-BE49-F238E27FC236}">
                  <a16:creationId xmlns:a16="http://schemas.microsoft.com/office/drawing/2014/main" id="{CB0A57F4-3B93-43B5-9D53-5CCBFA12E66A}"/>
                </a:ext>
              </a:extLst>
            </p:cNvPr>
            <p:cNvSpPr>
              <a:spLocks noChangeArrowheads="1"/>
            </p:cNvSpPr>
            <p:nvPr/>
          </p:nvSpPr>
          <p:spPr bwMode="auto">
            <a:xfrm>
              <a:off x="7726610" y="5884462"/>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4.5</a:t>
              </a:r>
            </a:p>
          </p:txBody>
        </p:sp>
        <p:sp>
          <p:nvSpPr>
            <p:cNvPr id="37" name="Text Box 16">
              <a:extLst>
                <a:ext uri="{FF2B5EF4-FFF2-40B4-BE49-F238E27FC236}">
                  <a16:creationId xmlns:a16="http://schemas.microsoft.com/office/drawing/2014/main" id="{72B57459-49DE-460E-94B7-BCAE72DBB8A3}"/>
                </a:ext>
              </a:extLst>
            </p:cNvPr>
            <p:cNvSpPr txBox="1">
              <a:spLocks noChangeArrowheads="1"/>
            </p:cNvSpPr>
            <p:nvPr/>
          </p:nvSpPr>
          <p:spPr bwMode="auto">
            <a:xfrm>
              <a:off x="6093354" y="4758357"/>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a:t>
              </a:r>
            </a:p>
          </p:txBody>
        </p:sp>
        <p:sp>
          <p:nvSpPr>
            <p:cNvPr id="38" name="Text Box 17">
              <a:extLst>
                <a:ext uri="{FF2B5EF4-FFF2-40B4-BE49-F238E27FC236}">
                  <a16:creationId xmlns:a16="http://schemas.microsoft.com/office/drawing/2014/main" id="{3D4C8AE9-341D-470A-AB1F-69BE23C6B97F}"/>
                </a:ext>
              </a:extLst>
            </p:cNvPr>
            <p:cNvSpPr txBox="1">
              <a:spLocks noChangeArrowheads="1"/>
            </p:cNvSpPr>
            <p:nvPr/>
          </p:nvSpPr>
          <p:spPr bwMode="auto">
            <a:xfrm>
              <a:off x="6113061" y="4037091"/>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A</a:t>
              </a:r>
            </a:p>
          </p:txBody>
        </p:sp>
        <p:sp>
          <p:nvSpPr>
            <p:cNvPr id="39" name="Text Box 18">
              <a:extLst>
                <a:ext uri="{FF2B5EF4-FFF2-40B4-BE49-F238E27FC236}">
                  <a16:creationId xmlns:a16="http://schemas.microsoft.com/office/drawing/2014/main" id="{104C2049-1F2F-4C40-8732-C908DC24241F}"/>
                </a:ext>
              </a:extLst>
            </p:cNvPr>
            <p:cNvSpPr txBox="1">
              <a:spLocks noChangeArrowheads="1"/>
            </p:cNvSpPr>
            <p:nvPr/>
          </p:nvSpPr>
          <p:spPr bwMode="auto">
            <a:xfrm>
              <a:off x="9186767" y="4035612"/>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a:t>
              </a:r>
            </a:p>
          </p:txBody>
        </p:sp>
        <p:sp>
          <p:nvSpPr>
            <p:cNvPr id="40" name="Text Box 19">
              <a:extLst>
                <a:ext uri="{FF2B5EF4-FFF2-40B4-BE49-F238E27FC236}">
                  <a16:creationId xmlns:a16="http://schemas.microsoft.com/office/drawing/2014/main" id="{D55D9F2E-8DB9-49AB-9859-A655FC742095}"/>
                </a:ext>
              </a:extLst>
            </p:cNvPr>
            <p:cNvSpPr txBox="1">
              <a:spLocks noChangeArrowheads="1"/>
            </p:cNvSpPr>
            <p:nvPr/>
          </p:nvSpPr>
          <p:spPr bwMode="auto">
            <a:xfrm>
              <a:off x="9113035" y="4758357"/>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D</a:t>
              </a:r>
            </a:p>
          </p:txBody>
        </p:sp>
        <p:sp>
          <p:nvSpPr>
            <p:cNvPr id="41" name="Text Box 20">
              <a:extLst>
                <a:ext uri="{FF2B5EF4-FFF2-40B4-BE49-F238E27FC236}">
                  <a16:creationId xmlns:a16="http://schemas.microsoft.com/office/drawing/2014/main" id="{FBA9863E-9869-4537-84DF-E5058BB9D2BA}"/>
                </a:ext>
              </a:extLst>
            </p:cNvPr>
            <p:cNvSpPr txBox="1">
              <a:spLocks noChangeArrowheads="1"/>
            </p:cNvSpPr>
            <p:nvPr/>
          </p:nvSpPr>
          <p:spPr bwMode="auto">
            <a:xfrm>
              <a:off x="6513562" y="3827720"/>
              <a:ext cx="1303327"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a:t>
              </a:r>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of management</a:t>
              </a:r>
            </a:p>
            <a:p>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a:t>
              </a:r>
              <a:endParaRPr lang="en-US" altLang="ko-KR"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2" name="Text Box 21">
              <a:extLst>
                <a:ext uri="{FF2B5EF4-FFF2-40B4-BE49-F238E27FC236}">
                  <a16:creationId xmlns:a16="http://schemas.microsoft.com/office/drawing/2014/main" id="{4E6A85B0-10C3-4A76-ADAD-E2C95236DA18}"/>
                </a:ext>
              </a:extLst>
            </p:cNvPr>
            <p:cNvSpPr txBox="1">
              <a:spLocks noChangeArrowheads="1"/>
            </p:cNvSpPr>
            <p:nvPr/>
          </p:nvSpPr>
          <p:spPr bwMode="auto">
            <a:xfrm>
              <a:off x="6568444" y="5020070"/>
              <a:ext cx="1117346" cy="651856"/>
            </a:xfrm>
            <a:prstGeom prst="rect">
              <a:avLst/>
            </a:prstGeom>
            <a:noFill/>
            <a:ln w="9525">
              <a:noFill/>
              <a:miter lim="800000"/>
              <a:headEnd/>
              <a:tailEnd/>
            </a:ln>
          </p:spPr>
          <p:txBody>
            <a:bodyPr>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3" name="Text Box 22">
              <a:extLst>
                <a:ext uri="{FF2B5EF4-FFF2-40B4-BE49-F238E27FC236}">
                  <a16:creationId xmlns:a16="http://schemas.microsoft.com/office/drawing/2014/main" id="{B3A76730-7D39-4250-BA71-BD4D5C0069FF}"/>
                </a:ext>
              </a:extLst>
            </p:cNvPr>
            <p:cNvSpPr txBox="1">
              <a:spLocks noChangeArrowheads="1"/>
            </p:cNvSpPr>
            <p:nvPr/>
          </p:nvSpPr>
          <p:spPr bwMode="auto">
            <a:xfrm>
              <a:off x="8264079" y="3867733"/>
              <a:ext cx="1213911"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4" name="Text Box 23">
              <a:extLst>
                <a:ext uri="{FF2B5EF4-FFF2-40B4-BE49-F238E27FC236}">
                  <a16:creationId xmlns:a16="http://schemas.microsoft.com/office/drawing/2014/main" id="{05BD512F-67DF-4736-80E2-CEA1B470C486}"/>
                </a:ext>
              </a:extLst>
            </p:cNvPr>
            <p:cNvSpPr txBox="1">
              <a:spLocks noChangeArrowheads="1"/>
            </p:cNvSpPr>
            <p:nvPr/>
          </p:nvSpPr>
          <p:spPr bwMode="auto">
            <a:xfrm>
              <a:off x="8323991" y="4965073"/>
              <a:ext cx="1220446"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5" name="Line 30">
              <a:extLst>
                <a:ext uri="{FF2B5EF4-FFF2-40B4-BE49-F238E27FC236}">
                  <a16:creationId xmlns:a16="http://schemas.microsoft.com/office/drawing/2014/main" id="{25B2880B-8280-4D1B-9DDF-8314019EA58B}"/>
                </a:ext>
              </a:extLst>
            </p:cNvPr>
            <p:cNvSpPr>
              <a:spLocks noChangeShapeType="1"/>
            </p:cNvSpPr>
            <p:nvPr/>
          </p:nvSpPr>
          <p:spPr bwMode="auto">
            <a:xfrm>
              <a:off x="5706255" y="3615323"/>
              <a:ext cx="0" cy="2380896"/>
            </a:xfrm>
            <a:prstGeom prst="line">
              <a:avLst/>
            </a:prstGeom>
            <a:noFill/>
            <a:ln w="9525">
              <a:solidFill>
                <a:srgbClr val="FF0000"/>
              </a:solidFill>
              <a:round/>
              <a:headEnd type="triangle" w="med" len="med"/>
              <a:tailEnd type="triangle" w="med" len="med"/>
            </a:ln>
          </p:spPr>
          <p:txBody>
            <a:bodyPr anchor="ct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6" name="Text Box 36">
              <a:extLst>
                <a:ext uri="{FF2B5EF4-FFF2-40B4-BE49-F238E27FC236}">
                  <a16:creationId xmlns:a16="http://schemas.microsoft.com/office/drawing/2014/main" id="{6DB980A6-8D3E-4595-A095-0CD813709CAA}"/>
                </a:ext>
              </a:extLst>
            </p:cNvPr>
            <p:cNvSpPr txBox="1">
              <a:spLocks noChangeArrowheads="1"/>
            </p:cNvSpPr>
            <p:nvPr/>
          </p:nvSpPr>
          <p:spPr bwMode="auto">
            <a:xfrm rot="16200000">
              <a:off x="4880282" y="4564292"/>
              <a:ext cx="1270044" cy="264288"/>
            </a:xfrm>
            <a:prstGeom prst="rect">
              <a:avLst/>
            </a:prstGeom>
            <a:noFill/>
            <a:ln w="9525" algn="ctr">
              <a:noFill/>
              <a:miter lim="800000"/>
              <a:headEnd/>
              <a:tailEnd/>
            </a:ln>
          </p:spPr>
          <p:txBody>
            <a:bodyPr>
              <a:spAutoFit/>
            </a:bodyPr>
            <a:lstStyle/>
            <a:p>
              <a:pPr algn="ctr">
                <a:spcBef>
                  <a:spcPct val="50000"/>
                </a:spcBef>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Control</a:t>
              </a:r>
            </a:p>
          </p:txBody>
        </p:sp>
        <p:sp>
          <p:nvSpPr>
            <p:cNvPr id="47" name="Rectangle 55">
              <a:extLst>
                <a:ext uri="{FF2B5EF4-FFF2-40B4-BE49-F238E27FC236}">
                  <a16:creationId xmlns:a16="http://schemas.microsoft.com/office/drawing/2014/main" id="{420C2EB9-5F53-479C-9447-39BFD0FCD091}"/>
                </a:ext>
              </a:extLst>
            </p:cNvPr>
            <p:cNvSpPr>
              <a:spLocks noChangeArrowheads="1"/>
            </p:cNvSpPr>
            <p:nvPr/>
          </p:nvSpPr>
          <p:spPr bwMode="auto">
            <a:xfrm>
              <a:off x="9456865" y="5884461"/>
              <a:ext cx="988223" cy="235392"/>
            </a:xfrm>
            <a:prstGeom prst="rect">
              <a:avLst/>
            </a:prstGeom>
            <a:noFill/>
            <a:ln w="9525">
              <a:noFill/>
              <a:miter lim="800000"/>
              <a:headEnd/>
              <a:tailEnd/>
            </a:ln>
          </p:spPr>
          <p:txBody>
            <a:bodyPr wrap="square">
              <a:spAutoFit/>
            </a:bodyPr>
            <a:lstStyle/>
            <a:p>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 </a:t>
              </a:r>
              <a:r>
                <a:rPr lang="ko-KR" altLang="en-US"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 </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Or 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(Bench)</a:t>
              </a:r>
            </a:p>
          </p:txBody>
        </p:sp>
        <p:sp>
          <p:nvSpPr>
            <p:cNvPr id="48" name="Line 31">
              <a:extLst>
                <a:ext uri="{FF2B5EF4-FFF2-40B4-BE49-F238E27FC236}">
                  <a16:creationId xmlns:a16="http://schemas.microsoft.com/office/drawing/2014/main" id="{D4DA5518-7C01-4BE4-8ABF-562CA7555F91}"/>
                </a:ext>
              </a:extLst>
            </p:cNvPr>
            <p:cNvSpPr>
              <a:spLocks noChangeShapeType="1"/>
            </p:cNvSpPr>
            <p:nvPr/>
          </p:nvSpPr>
          <p:spPr bwMode="auto">
            <a:xfrm>
              <a:off x="6060635" y="6162459"/>
              <a:ext cx="3403733" cy="0"/>
            </a:xfrm>
            <a:prstGeom prst="line">
              <a:avLst/>
            </a:prstGeom>
            <a:noFill/>
            <a:ln w="9525">
              <a:solidFill>
                <a:srgbClr val="FF0000"/>
              </a:solidFill>
              <a:round/>
              <a:headEnd type="triangle" w="med" len="med"/>
              <a:tailEnd type="triangle" w="med" len="med"/>
            </a:ln>
          </p:spPr>
          <p:txBody>
            <a:bodyPr anchor="ctr"/>
            <a:lstStyle/>
            <a:p>
              <a:endParaRPr lang="ko-KR" altLang="en-US"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9" name="Text Box 34">
              <a:extLst>
                <a:ext uri="{FF2B5EF4-FFF2-40B4-BE49-F238E27FC236}">
                  <a16:creationId xmlns:a16="http://schemas.microsoft.com/office/drawing/2014/main" id="{EBDA23CD-C680-41C0-9552-B6A4B7F2BB63}"/>
                </a:ext>
              </a:extLst>
            </p:cNvPr>
            <p:cNvSpPr txBox="1">
              <a:spLocks noChangeArrowheads="1"/>
            </p:cNvSpPr>
            <p:nvPr/>
          </p:nvSpPr>
          <p:spPr bwMode="auto">
            <a:xfrm>
              <a:off x="9109150" y="6183452"/>
              <a:ext cx="734112" cy="325928"/>
            </a:xfrm>
            <a:prstGeom prst="rect">
              <a:avLst/>
            </a:prstGeom>
            <a:noFill/>
            <a:ln w="9525" algn="ctr">
              <a:noFill/>
              <a:miter lim="800000"/>
              <a:headEnd/>
              <a:tailEnd/>
            </a:ln>
          </p:spPr>
          <p:txBody>
            <a:bodyPr wrap="square">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Good</a:t>
              </a:r>
            </a:p>
          </p:txBody>
        </p:sp>
        <p:sp>
          <p:nvSpPr>
            <p:cNvPr id="50" name="Text Box 35">
              <a:extLst>
                <a:ext uri="{FF2B5EF4-FFF2-40B4-BE49-F238E27FC236}">
                  <a16:creationId xmlns:a16="http://schemas.microsoft.com/office/drawing/2014/main" id="{E48E283C-7CC9-426A-84F4-62FAD64114CF}"/>
                </a:ext>
              </a:extLst>
            </p:cNvPr>
            <p:cNvSpPr txBox="1">
              <a:spLocks noChangeArrowheads="1"/>
            </p:cNvSpPr>
            <p:nvPr/>
          </p:nvSpPr>
          <p:spPr bwMode="auto">
            <a:xfrm>
              <a:off x="5833830" y="6146714"/>
              <a:ext cx="605367" cy="325928"/>
            </a:xfrm>
            <a:prstGeom prst="rect">
              <a:avLst/>
            </a:prstGeom>
            <a:noFill/>
            <a:ln w="9525" algn="ctr">
              <a:noFill/>
              <a:miter lim="800000"/>
              <a:headEnd/>
              <a:tailEnd/>
            </a:ln>
          </p:spPr>
          <p:txBody>
            <a:bodyPr>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Poor</a:t>
              </a:r>
            </a:p>
          </p:txBody>
        </p:sp>
        <p:sp>
          <p:nvSpPr>
            <p:cNvPr id="51" name="Text Box 37">
              <a:extLst>
                <a:ext uri="{FF2B5EF4-FFF2-40B4-BE49-F238E27FC236}">
                  <a16:creationId xmlns:a16="http://schemas.microsoft.com/office/drawing/2014/main" id="{6ACB3CF9-F1A5-40FF-94B5-AC5A9AA50E7F}"/>
                </a:ext>
              </a:extLst>
            </p:cNvPr>
            <p:cNvSpPr txBox="1">
              <a:spLocks noChangeArrowheads="1"/>
            </p:cNvSpPr>
            <p:nvPr/>
          </p:nvSpPr>
          <p:spPr bwMode="auto">
            <a:xfrm>
              <a:off x="7269702" y="6134470"/>
              <a:ext cx="1210735" cy="325928"/>
            </a:xfrm>
            <a:prstGeom prst="rect">
              <a:avLst/>
            </a:prstGeom>
            <a:noFill/>
            <a:ln w="9525" algn="ctr">
              <a:noFill/>
              <a:miter lim="800000"/>
              <a:headEnd/>
              <a:tailEnd/>
            </a:ln>
          </p:spPr>
          <p:txBody>
            <a:bodyPr>
              <a:spAutoFit/>
            </a:bodyPr>
            <a:lstStyle/>
            <a:p>
              <a:pPr algn="ct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Technology</a:t>
              </a:r>
            </a:p>
          </p:txBody>
        </p:sp>
      </p:grpSp>
      <p:sp>
        <p:nvSpPr>
          <p:cNvPr id="54" name="제목 1">
            <a:extLst>
              <a:ext uri="{FF2B5EF4-FFF2-40B4-BE49-F238E27FC236}">
                <a16:creationId xmlns:a16="http://schemas.microsoft.com/office/drawing/2014/main" id="{C1E39F43-4212-4D85-A402-9DA4EED98FCF}"/>
              </a:ext>
            </a:extLst>
          </p:cNvPr>
          <p:cNvSpPr txBox="1">
            <a:spLocks/>
          </p:cNvSpPr>
          <p:nvPr/>
        </p:nvSpPr>
        <p:spPr>
          <a:xfrm>
            <a:off x="110170" y="71674"/>
            <a:ext cx="6696744"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pPr>
            <a:r>
              <a:rPr lang="en-US" altLang="ko-KR" sz="1600" b="1" kern="0" noProof="0" dirty="0">
                <a:latin typeface="Arial Narrow" panose="020B0606020202030204" pitchFamily="34" charset="0"/>
                <a:ea typeface="Arial Unicode MS" panose="020B0604020202020204" pitchFamily="34" charset="-128"/>
                <a:cs typeface="Arial" panose="020B0604020202020204" pitchFamily="34" charset="0"/>
              </a:rPr>
              <a:t>4.4</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Check Process Capability after</a:t>
            </a: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improving the measurement system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55" name="TextBox 54">
            <a:extLst>
              <a:ext uri="{FF2B5EF4-FFF2-40B4-BE49-F238E27FC236}">
                <a16:creationId xmlns:a16="http://schemas.microsoft.com/office/drawing/2014/main" id="{98D96AB4-12A2-4255-A061-D35744AE3B8D}"/>
              </a:ext>
            </a:extLst>
          </p:cNvPr>
          <p:cNvSpPr txBox="1"/>
          <p:nvPr/>
        </p:nvSpPr>
        <p:spPr>
          <a:xfrm>
            <a:off x="29671" y="594277"/>
            <a:ext cx="2637329" cy="276999"/>
          </a:xfrm>
          <a:prstGeom prst="rect">
            <a:avLst/>
          </a:prstGeom>
          <a:noFill/>
        </p:spPr>
        <p:txBody>
          <a:bodyPr wrap="square" rtlCol="0">
            <a:spAutoFit/>
          </a:bodyPr>
          <a:lstStyle/>
          <a:p>
            <a:pPr marL="171450" indent="-171450">
              <a:buFont typeface="Wingdings" panose="05000000000000000000" pitchFamily="2" charset="2"/>
              <a:buChar char="q"/>
            </a:pPr>
            <a:r>
              <a:rPr lang="vi-VN" sz="1100" b="1" dirty="0">
                <a:latin typeface="Arial" panose="020B0604020202020204" pitchFamily="34" charset="0"/>
                <a:ea typeface="Arial Unicode MS" panose="020B0604020202020204" pitchFamily="34" charset="-128"/>
                <a:cs typeface="Arial" panose="020B0604020202020204" pitchFamily="34" charset="0"/>
              </a:rPr>
              <a:t>Station </a:t>
            </a:r>
            <a:r>
              <a:rPr lang="en-US" sz="1100" b="1" dirty="0">
                <a:latin typeface="Arial" panose="020B0604020202020204" pitchFamily="34" charset="0"/>
                <a:ea typeface="Arial Unicode MS" panose="020B0604020202020204" pitchFamily="34" charset="-128"/>
                <a:cs typeface="Arial" panose="020B0604020202020204" pitchFamily="34" charset="0"/>
              </a:rPr>
              <a:t>2 Luminance</a:t>
            </a:r>
          </a:p>
        </p:txBody>
      </p:sp>
      <p:sp>
        <p:nvSpPr>
          <p:cNvPr id="52" name="AutoShape 57">
            <a:extLst>
              <a:ext uri="{FF2B5EF4-FFF2-40B4-BE49-F238E27FC236}">
                <a16:creationId xmlns:a16="http://schemas.microsoft.com/office/drawing/2014/main" id="{508EC12D-F11B-4FFB-88DA-39948A1A7C3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Analyze</a:t>
            </a:r>
          </a:p>
        </p:txBody>
      </p:sp>
      <p:sp>
        <p:nvSpPr>
          <p:cNvPr id="53" name="AutoShape 56">
            <a:extLst>
              <a:ext uri="{FF2B5EF4-FFF2-40B4-BE49-F238E27FC236}">
                <a16:creationId xmlns:a16="http://schemas.microsoft.com/office/drawing/2014/main" id="{F95FD074-5AF2-4416-AFCF-7A5073F4B158}"/>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Measure</a:t>
            </a:r>
          </a:p>
        </p:txBody>
      </p:sp>
      <p:sp>
        <p:nvSpPr>
          <p:cNvPr id="56" name="AutoShape 58">
            <a:extLst>
              <a:ext uri="{FF2B5EF4-FFF2-40B4-BE49-F238E27FC236}">
                <a16:creationId xmlns:a16="http://schemas.microsoft.com/office/drawing/2014/main" id="{F6CA6BFA-4510-4DAD-83FD-90AD22316A5B}"/>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latin typeface="Arial Narrow" panose="020B0606020202030204" pitchFamily="34" charset="0"/>
                <a:ea typeface="맑은 고딕" panose="020B0503020000020004" pitchFamily="50" charset="-127"/>
              </a:rPr>
              <a:t>Improve</a:t>
            </a:r>
          </a:p>
        </p:txBody>
      </p:sp>
      <p:sp>
        <p:nvSpPr>
          <p:cNvPr id="57" name="Oval 56">
            <a:extLst>
              <a:ext uri="{FF2B5EF4-FFF2-40B4-BE49-F238E27FC236}">
                <a16:creationId xmlns:a16="http://schemas.microsoft.com/office/drawing/2014/main" id="{6E8DCBC3-A95D-4092-B08D-A31121EC3FF1}"/>
              </a:ext>
            </a:extLst>
          </p:cNvPr>
          <p:cNvSpPr/>
          <p:nvPr/>
        </p:nvSpPr>
        <p:spPr bwMode="auto">
          <a:xfrm>
            <a:off x="7997309" y="5292918"/>
            <a:ext cx="130509" cy="137281"/>
          </a:xfrm>
          <a:prstGeom prst="ellipse">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1"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Tree>
    <p:extLst>
      <p:ext uri="{BB962C8B-B14F-4D97-AF65-F5344CB8AC3E}">
        <p14:creationId xmlns:p14="http://schemas.microsoft.com/office/powerpoint/2010/main" val="3788297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D6B8DA67-8CAF-45C2-B88E-D3D992BF994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4">
            <a:extLst>
              <a:ext uri="{FF2B5EF4-FFF2-40B4-BE49-F238E27FC236}">
                <a16:creationId xmlns:a16="http://schemas.microsoft.com/office/drawing/2014/main" id="{AAF66B0A-7BB0-4BF6-8480-6319118578F6}"/>
              </a:ext>
            </a:extLst>
          </p:cNvPr>
          <p:cNvSpPr>
            <a:spLocks noGrp="1"/>
          </p:cNvSpPr>
          <p:nvPr>
            <p:ph type="sldNum" sz="quarter" idx="12"/>
          </p:nvPr>
        </p:nvSpPr>
        <p:spPr>
          <a:xfrm>
            <a:off x="3700326" y="6643499"/>
            <a:ext cx="2133600" cy="198047"/>
          </a:xfrm>
        </p:spPr>
        <p:txBody>
          <a:bodyPr/>
          <a:lstStyle/>
          <a:p>
            <a:pPr algn="ctr"/>
            <a:r>
              <a:rPr sz="1000" b="0">
                <a:latin typeface="Arial"/>
              </a:rPr>
              <a:t>30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Control</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dirty="0">
                <a:solidFill>
                  <a:schemeClr val="tx1"/>
                </a:solidFill>
                <a:latin typeface="Arial Narrow" panose="020B0606020202030204" pitchFamily="34" charset="0"/>
                <a:ea typeface="맑은 고딕" panose="020B0503020000020004" pitchFamily="50" charset="-127"/>
              </a:rPr>
              <a:t>Define</a:t>
            </a:r>
          </a:p>
        </p:txBody>
      </p:sp>
      <p:sp>
        <p:nvSpPr>
          <p:cNvPr id="37" name="제목 1">
            <a:extLst>
              <a:ext uri="{FF2B5EF4-FFF2-40B4-BE49-F238E27FC236}">
                <a16:creationId xmlns:a16="http://schemas.microsoft.com/office/drawing/2014/main" id="{3E2CD205-658C-4605-9774-0129D43DEF0F}"/>
              </a:ext>
            </a:extLst>
          </p:cNvPr>
          <p:cNvSpPr txBox="1">
            <a:spLocks/>
          </p:cNvSpPr>
          <p:nvPr/>
        </p:nvSpPr>
        <p:spPr>
          <a:xfrm>
            <a:off x="110170" y="71674"/>
            <a:ext cx="3114638" cy="418058"/>
          </a:xfrm>
          <a:prstGeom prst="rect">
            <a:avLst/>
          </a:prstGeom>
        </p:spPr>
        <p:txBody>
          <a:bodyPr vert="horz" lIns="91440" tIns="45720" rIns="91440" bIns="45720" rtlCol="0" anchor="ctr">
            <a:normAutofit/>
          </a:bodyPr>
          <a:lstStyle/>
          <a:p>
            <a:pPr marL="0" marR="0" lvl="0" indent="0" algn="l" defTabSz="914400" rtl="0" eaLnBrk="0" fontAlgn="base" latinLnBrk="1" hangingPunct="0">
              <a:lnSpc>
                <a:spcPct val="100000"/>
              </a:lnSpc>
              <a:spcBef>
                <a:spcPct val="0"/>
              </a:spcBef>
              <a:spcAft>
                <a:spcPct val="0"/>
              </a:spcAft>
              <a:buClrTx/>
              <a:buSzTx/>
              <a:buFontTx/>
              <a:buNone/>
              <a:tabLst/>
              <a:defRPr/>
            </a:pPr>
            <a:r>
              <a:rPr lang="en-US" altLang="ko-KR" sz="1600" b="1" kern="0" noProof="0" dirty="0">
                <a:latin typeface="Arial Narrow" panose="020B0606020202030204" pitchFamily="34" charset="0"/>
                <a:ea typeface="Arial Unicode MS" panose="020B0604020202020204" pitchFamily="34" charset="-128"/>
                <a:cs typeface="Arial" panose="020B0604020202020204" pitchFamily="34" charset="0"/>
              </a:rPr>
              <a:t>4.5</a:t>
            </a: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 Conclusion</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8" name="TextBox 37">
            <a:extLst>
              <a:ext uri="{FF2B5EF4-FFF2-40B4-BE49-F238E27FC236}">
                <a16:creationId xmlns:a16="http://schemas.microsoft.com/office/drawing/2014/main" id="{FCB45B73-A320-43DB-85F3-C32E2B96BB81}"/>
              </a:ext>
            </a:extLst>
          </p:cNvPr>
          <p:cNvSpPr txBox="1"/>
          <p:nvPr/>
        </p:nvSpPr>
        <p:spPr>
          <a:xfrm>
            <a:off x="94266" y="836712"/>
            <a:ext cx="9717468" cy="1532727"/>
          </a:xfrm>
          <a:prstGeom prst="rect">
            <a:avLst/>
          </a:prstGeom>
          <a:noFill/>
        </p:spPr>
        <p:txBody>
          <a:bodyPr wrap="square" rtlCol="0">
            <a:spAutoFit/>
          </a:bodyPr>
          <a:lstStyle/>
          <a:p>
            <a:pPr marL="171450" indent="-171450" algn="just">
              <a:spcBef>
                <a:spcPct val="20000"/>
              </a:spcBef>
              <a:buFontTx/>
              <a:buChar char="-"/>
            </a:pPr>
            <a:r>
              <a:rPr sz="1100" b="0">
                <a:latin typeface="Arial"/>
              </a:rPr>
              <a:t>After evaluation, we confirmed that the measurement system at Station 2 had significant problems during testing (while Station 1 was normal). We proved that camera angle misalignment was the root cause of the Luminance NG defect.</a:t>
            </a:r>
          </a:p>
          <a:p>
            <a:pPr algn="just">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a:spcBef>
                <a:spcPct val="20000"/>
              </a:spcBef>
              <a:buFont typeface="Wingdings" panose="05000000000000000000" pitchFamily="2" charset="2"/>
              <a:buChar char="à"/>
            </a:pPr>
            <a:r>
              <a:rPr sz="1100" b="0">
                <a:latin typeface="Arial"/>
              </a:rPr>
              <a:t>We improved the measurement system by correcting the camera angle to 90.0°. We then verified stability and capability using Type 1 Study, Type 3 Gage R&amp;R, Xbar-R control charts, and Process Capability analysis for both stations.</a:t>
            </a:r>
          </a:p>
          <a:p>
            <a:pPr algn="just">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a:spcBef>
                <a:spcPct val="20000"/>
              </a:spcBef>
              <a:buFont typeface="Wingdings" panose="05000000000000000000" pitchFamily="2" charset="2"/>
              <a:buChar char="à"/>
            </a:pPr>
            <a:r>
              <a:rPr sz="1100" b="1">
                <a:latin typeface="Arial"/>
              </a:rPr>
              <a:t>The results demonstrate that both measurement stations achieve high repeatability, zero bias, and excellent process capability (Cpk &gt; 2.0).</a:t>
            </a:r>
          </a:p>
        </p:txBody>
      </p:sp>
      <p:sp>
        <p:nvSpPr>
          <p:cNvPr id="11" name="AutoShape 57">
            <a:extLst>
              <a:ext uri="{FF2B5EF4-FFF2-40B4-BE49-F238E27FC236}">
                <a16:creationId xmlns:a16="http://schemas.microsoft.com/office/drawing/2014/main" id="{48FAC05E-800B-4E1A-9771-36BFD9957914}"/>
              </a:ext>
            </a:extLst>
          </p:cNvPr>
          <p:cNvSpPr>
            <a:spLocks noChangeArrowheads="1"/>
          </p:cNvSpPr>
          <p:nvPr/>
        </p:nvSpPr>
        <p:spPr bwMode="auto">
          <a:xfrm>
            <a:off x="7727634" y="172287"/>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panose="020B0503020000020004" pitchFamily="50" charset="-127"/>
                <a:ea typeface="Arial" panose="020B0503020000020004" pitchFamily="50" charset="-127"/>
              </a:rPr>
              <a:t>Analyze</a:t>
            </a:r>
          </a:p>
        </p:txBody>
      </p:sp>
      <p:sp>
        <p:nvSpPr>
          <p:cNvPr id="12" name="AutoShape 58">
            <a:extLst>
              <a:ext uri="{FF2B5EF4-FFF2-40B4-BE49-F238E27FC236}">
                <a16:creationId xmlns:a16="http://schemas.microsoft.com/office/drawing/2014/main" id="{39ACC0DB-2BA4-4515-9475-B37010C8E563}"/>
              </a:ext>
            </a:extLst>
          </p:cNvPr>
          <p:cNvSpPr>
            <a:spLocks noChangeArrowheads="1"/>
          </p:cNvSpPr>
          <p:nvPr/>
        </p:nvSpPr>
        <p:spPr bwMode="auto">
          <a:xfrm>
            <a:off x="7056121" y="172287"/>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panose="020B0503020000020004" pitchFamily="50" charset="-127"/>
                <a:ea typeface="Arial" panose="020B0503020000020004" pitchFamily="50" charset="-127"/>
              </a:rPr>
              <a:t>Measure </a:t>
            </a:r>
          </a:p>
        </p:txBody>
      </p:sp>
      <p:sp>
        <p:nvSpPr>
          <p:cNvPr id="13" name="AutoShape 56">
            <a:extLst>
              <a:ext uri="{FF2B5EF4-FFF2-40B4-BE49-F238E27FC236}">
                <a16:creationId xmlns:a16="http://schemas.microsoft.com/office/drawing/2014/main" id="{841C5A25-FB18-4642-856C-7D543A29395F}"/>
              </a:ext>
            </a:extLst>
          </p:cNvPr>
          <p:cNvSpPr>
            <a:spLocks noChangeArrowheads="1"/>
          </p:cNvSpPr>
          <p:nvPr/>
        </p:nvSpPr>
        <p:spPr bwMode="auto">
          <a:xfrm>
            <a:off x="8419784" y="46875"/>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panose="020B0503020000020004" pitchFamily="50" charset="-127"/>
                <a:ea typeface="Arial" panose="020B0503020000020004" pitchFamily="50" charset="-127"/>
              </a:rPr>
              <a:t>Improve</a:t>
            </a:r>
          </a:p>
        </p:txBody>
      </p:sp>
    </p:spTree>
    <p:extLst>
      <p:ext uri="{BB962C8B-B14F-4D97-AF65-F5344CB8AC3E}">
        <p14:creationId xmlns:p14="http://schemas.microsoft.com/office/powerpoint/2010/main" val="41199980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a:r>
              <a:rPr sz="1000" b="0">
                <a:latin typeface="Arial"/>
              </a:rPr>
              <a:t>31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5170524" cy="338554"/>
          </a:xfrm>
          <a:prstGeom prst="rect">
            <a:avLst/>
          </a:prstGeom>
          <a:noFill/>
        </p:spPr>
        <p:txBody>
          <a:bodyPr wrap="square" rtlCol="0">
            <a:spAutoFit/>
          </a:bodyPr>
          <a:lstStyle/>
          <a:p>
            <a:r>
              <a:rPr lang="en-US" altLang="ko-KR" sz="1600" b="1" dirty="0">
                <a:latin typeface="Arial Narrow" panose="020B0606020202030204" pitchFamily="34" charset="0"/>
                <a:ea typeface="LG Smart_H Regular" pitchFamily="34" charset="-127"/>
              </a:rPr>
              <a:t>5</a:t>
            </a:r>
            <a:r>
              <a:rPr lang="vi-VN" altLang="ko-KR" sz="1600" b="1" dirty="0">
                <a:latin typeface="Arial Narrow" panose="020B0606020202030204" pitchFamily="34" charset="0"/>
                <a:ea typeface="LG Smart_H Regular" pitchFamily="34" charset="-127"/>
              </a:rPr>
              <a:t>.</a:t>
            </a:r>
            <a:r>
              <a:rPr lang="en-US" altLang="ko-KR" sz="1600" b="1" dirty="0">
                <a:latin typeface="Arial Narrow" panose="020B0606020202030204" pitchFamily="34" charset="0"/>
                <a:ea typeface="LG Smart_H Regular" pitchFamily="34" charset="-127"/>
              </a:rPr>
              <a:t>1</a:t>
            </a:r>
            <a:r>
              <a:rPr lang="vi-VN" altLang="ko-KR" sz="1600" b="1" dirty="0">
                <a:latin typeface="Arial Narrow" panose="020B0606020202030204" pitchFamily="34" charset="0"/>
                <a:ea typeface="LG Smart_H Regular" pitchFamily="34" charset="-127"/>
              </a:rPr>
              <a:t> </a:t>
            </a:r>
            <a:r>
              <a:rPr lang="en-US" altLang="ko-KR" sz="1600" b="1" dirty="0">
                <a:latin typeface="Arial Narrow" panose="020B0606020202030204" pitchFamily="34" charset="0"/>
                <a:ea typeface="LG Smart_H Regular" pitchFamily="34" charset="-127"/>
              </a:rPr>
              <a:t>Result of project</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838825" cy="276999"/>
          </a:xfrm>
          <a:prstGeom prst="rect">
            <a:avLst/>
          </a:prstGeom>
          <a:noFill/>
        </p:spPr>
        <p:txBody>
          <a:bodyPr wrap="square" rtlCol="0">
            <a:spAutoFit/>
          </a:bodyPr>
          <a:lstStyle/>
          <a:p>
            <a:pPr marL="171450" indent="-171450">
              <a:buFont typeface="Wingdings" panose="05000000000000000000" pitchFamily="2" charset="2"/>
              <a:buChar char="q"/>
            </a:pPr>
            <a:r>
              <a:rPr lang="en-US" sz="1100" b="1" dirty="0">
                <a:latin typeface="Arial" panose="020B0604020202020204" pitchFamily="34" charset="0"/>
                <a:ea typeface="Arial Unicode MS" panose="020B0604020202020204" pitchFamily="34" charset="-128"/>
                <a:cs typeface="Arial" panose="020B0604020202020204" pitchFamily="34" charset="0"/>
              </a:rPr>
              <a:t>Summary Defect rate of J1 model after improvement</a:t>
            </a:r>
          </a:p>
        </p:txBody>
      </p:sp>
      <p:graphicFrame>
        <p:nvGraphicFramePr>
          <p:cNvPr id="3" name="Table 2">
            <a:extLst>
              <a:ext uri="{FF2B5EF4-FFF2-40B4-BE49-F238E27FC236}">
                <a16:creationId xmlns:a16="http://schemas.microsoft.com/office/drawing/2014/main" id="{8BD0EBF9-1057-4CB9-9589-B88CACBE8668}"/>
              </a:ext>
            </a:extLst>
          </p:cNvPr>
          <p:cNvGraphicFramePr>
            <a:graphicFrameLocks noGrp="1"/>
          </p:cNvGraphicFramePr>
          <p:nvPr>
            <p:extLst>
              <p:ext uri="{D42A27DB-BD31-4B8C-83A1-F6EECF244321}">
                <p14:modId xmlns:p14="http://schemas.microsoft.com/office/powerpoint/2010/main" val="3828555247"/>
              </p:ext>
            </p:extLst>
          </p:nvPr>
        </p:nvGraphicFramePr>
        <p:xfrm>
          <a:off x="1219199" y="5271354"/>
          <a:ext cx="6629401" cy="952500"/>
        </p:xfrm>
        <a:graphic>
          <a:graphicData uri="http://schemas.openxmlformats.org/drawingml/2006/table">
            <a:tbl>
              <a:tblPr/>
              <a:tblGrid>
                <a:gridCol w="1132469">
                  <a:extLst>
                    <a:ext uri="{9D8B030D-6E8A-4147-A177-3AD203B41FA5}">
                      <a16:colId xmlns:a16="http://schemas.microsoft.com/office/drawing/2014/main" val="2004553203"/>
                    </a:ext>
                  </a:extLst>
                </a:gridCol>
                <a:gridCol w="782549">
                  <a:extLst>
                    <a:ext uri="{9D8B030D-6E8A-4147-A177-3AD203B41FA5}">
                      <a16:colId xmlns:a16="http://schemas.microsoft.com/office/drawing/2014/main" val="4232704115"/>
                    </a:ext>
                  </a:extLst>
                </a:gridCol>
                <a:gridCol w="801636">
                  <a:extLst>
                    <a:ext uri="{9D8B030D-6E8A-4147-A177-3AD203B41FA5}">
                      <a16:colId xmlns:a16="http://schemas.microsoft.com/office/drawing/2014/main" val="654927867"/>
                    </a:ext>
                  </a:extLst>
                </a:gridCol>
                <a:gridCol w="801636">
                  <a:extLst>
                    <a:ext uri="{9D8B030D-6E8A-4147-A177-3AD203B41FA5}">
                      <a16:colId xmlns:a16="http://schemas.microsoft.com/office/drawing/2014/main" val="3292068108"/>
                    </a:ext>
                  </a:extLst>
                </a:gridCol>
                <a:gridCol w="801636">
                  <a:extLst>
                    <a:ext uri="{9D8B030D-6E8A-4147-A177-3AD203B41FA5}">
                      <a16:colId xmlns:a16="http://schemas.microsoft.com/office/drawing/2014/main" val="741631198"/>
                    </a:ext>
                  </a:extLst>
                </a:gridCol>
                <a:gridCol w="763463">
                  <a:extLst>
                    <a:ext uri="{9D8B030D-6E8A-4147-A177-3AD203B41FA5}">
                      <a16:colId xmlns:a16="http://schemas.microsoft.com/office/drawing/2014/main" val="3339929106"/>
                    </a:ext>
                  </a:extLst>
                </a:gridCol>
                <a:gridCol w="782549">
                  <a:extLst>
                    <a:ext uri="{9D8B030D-6E8A-4147-A177-3AD203B41FA5}">
                      <a16:colId xmlns:a16="http://schemas.microsoft.com/office/drawing/2014/main" val="648464248"/>
                    </a:ext>
                  </a:extLst>
                </a:gridCol>
                <a:gridCol w="763463">
                  <a:extLst>
                    <a:ext uri="{9D8B030D-6E8A-4147-A177-3AD203B41FA5}">
                      <a16:colId xmlns:a16="http://schemas.microsoft.com/office/drawing/2014/main" val="4249366675"/>
                    </a:ext>
                  </a:extLst>
                </a:gridCol>
              </a:tblGrid>
              <a:tr h="190500">
                <a:tc>
                  <a:txBody>
                    <a:bodyPr/>
                    <a:lstStyle/>
                    <a:p>
                      <a:pPr algn="l" fontAlgn="b"/>
                      <a:endParaRPr lang="en-US" sz="1100" b="0" i="0" u="none" strike="noStrike">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4">
                  <a:txBody>
                    <a:bodyPr/>
                    <a:lstStyle/>
                    <a:p>
                      <a:pPr algn="ctr" fontAlgn="b"/>
                      <a:r>
                        <a:rPr lang="en-US" sz="1100" b="1" i="0" u="none" strike="noStrike">
                          <a:solidFill>
                            <a:srgbClr val="000000"/>
                          </a:solidFill>
                          <a:effectLst/>
                          <a:latin typeface="Arial" panose="020F0502020204030204" pitchFamily="34" charset="0"/>
                          <a:ea typeface="Arial"/>
                        </a:rPr>
                        <a:t>Before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fontAlgn="b"/>
                      <a:r>
                        <a:rPr lang="en-US" sz="1100" b="1" i="0" u="none" strike="noStrike" dirty="0">
                          <a:solidFill>
                            <a:srgbClr val="000000"/>
                          </a:solidFill>
                          <a:effectLst/>
                          <a:latin typeface="Arial" panose="020F0502020204030204" pitchFamily="34" charset="0"/>
                          <a:ea typeface="Arial"/>
                        </a:rPr>
                        <a:t>After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78485715"/>
                  </a:ext>
                </a:extLst>
              </a:tr>
              <a:tr h="190500">
                <a:tc>
                  <a:txBody>
                    <a:bodyPr/>
                    <a:lstStyle/>
                    <a:p>
                      <a:pPr algn="ctr" fontAlgn="ctr"/>
                      <a:r>
                        <a:rPr lang="en-US" sz="1100" b="0" i="0" u="none" strike="noStrike">
                          <a:solidFill>
                            <a:srgbClr val="000000"/>
                          </a:solidFill>
                          <a:effectLst/>
                          <a:latin typeface="Arial" panose="020F0502020204030204" pitchFamily="34" charset="0"/>
                          <a:ea typeface="Arial"/>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r>
                        <a:rPr lang="en-US" sz="1100" b="0" i="0" u="none" strike="noStrike">
                          <a:solidFill>
                            <a:srgbClr val="000000"/>
                          </a:solidFill>
                          <a:effectLst/>
                          <a:latin typeface="Arial" panose="020F0502020204030204" pitchFamily="34" charset="0"/>
                          <a:ea typeface="Arial"/>
                        </a:rPr>
                        <a:t>16.Nov.2023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r>
                        <a:rPr lang="en-US" sz="1100" b="0" i="0" u="none" strike="noStrike">
                          <a:solidFill>
                            <a:srgbClr val="000000"/>
                          </a:solidFill>
                          <a:effectLst/>
                          <a:latin typeface="Arial" panose="020F0502020204030204" pitchFamily="34" charset="0"/>
                          <a:ea typeface="Arial"/>
                        </a:rPr>
                        <a:t>2.Jan.2024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r>
                        <a:rPr lang="en-US" sz="1100" b="0" i="0" u="none" strike="noStrike">
                          <a:solidFill>
                            <a:srgbClr val="000000"/>
                          </a:solidFill>
                          <a:effectLst/>
                          <a:latin typeface="Arial" panose="020F0502020204030204" pitchFamily="34" charset="0"/>
                          <a:ea typeface="Arial"/>
                        </a:rPr>
                        <a:t>23.Feb.2024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r>
                        <a:rPr lang="en-US" sz="1100" b="0" i="0" u="none" strike="noStrike">
                          <a:solidFill>
                            <a:srgbClr val="000000"/>
                          </a:solidFill>
                          <a:effectLst/>
                          <a:latin typeface="Arial" panose="020F0502020204030204" pitchFamily="34" charset="0"/>
                          <a:ea typeface="Arial"/>
                        </a:rPr>
                        <a:t>1.Mar.2024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r>
                        <a:rPr lang="en-US" sz="1100" b="0" i="0" u="none" strike="noStrike">
                          <a:solidFill>
                            <a:srgbClr val="000000"/>
                          </a:solidFill>
                          <a:effectLst/>
                          <a:latin typeface="Arial" panose="020F0502020204030204" pitchFamily="34" charset="0"/>
                          <a:ea typeface="Arial"/>
                        </a:rPr>
                        <a:t>15.Sep.2024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r>
                        <a:rPr lang="en-US" sz="1100" b="0" i="0" u="none" strike="noStrike">
                          <a:solidFill>
                            <a:srgbClr val="000000"/>
                          </a:solidFill>
                          <a:effectLst/>
                          <a:latin typeface="Arial" panose="020F0502020204030204" pitchFamily="34" charset="0"/>
                          <a:ea typeface="Arial"/>
                        </a:rPr>
                        <a:t>21.Nov.2024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ctr" fontAlgn="ctr"/>
                      <a:r>
                        <a:rPr lang="en-US" sz="1100" b="0" i="0" u="none" strike="noStrike">
                          <a:solidFill>
                            <a:srgbClr val="000000"/>
                          </a:solidFill>
                          <a:effectLst/>
                          <a:latin typeface="Arial" panose="020F0502020204030204" pitchFamily="34" charset="0"/>
                          <a:ea typeface="Arial"/>
                        </a:rPr>
                        <a:t>28.Feb.2025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2667689879"/>
                  </a:ext>
                </a:extLst>
              </a:tr>
              <a:tr h="190500">
                <a:tc>
                  <a:txBody>
                    <a:bodyPr/>
                    <a:lstStyle/>
                    <a:p>
                      <a:pPr algn="ctr" fontAlgn="ctr"/>
                      <a:r>
                        <a:rPr lang="en-US" sz="1100" b="0" i="0" u="none" strike="noStrike">
                          <a:solidFill>
                            <a:srgbClr val="000000"/>
                          </a:solidFill>
                          <a:effectLst/>
                          <a:latin typeface="Arial" panose="020F0502020204030204" pitchFamily="34" charset="0"/>
                          <a:ea typeface="Arial"/>
                        </a:rPr>
                        <a:t>Total 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dirty="0">
                          <a:solidFill>
                            <a:srgbClr val="000000"/>
                          </a:solidFill>
                          <a:effectLst/>
                          <a:latin typeface="Arial" panose="020F0502020204030204" pitchFamily="34" charset="0"/>
                          <a:ea typeface="Arial"/>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1299594"/>
                  </a:ext>
                </a:extLst>
              </a:tr>
              <a:tr h="190500">
                <a:tc>
                  <a:txBody>
                    <a:bodyPr/>
                    <a:lstStyle/>
                    <a:p>
                      <a:pPr algn="ctr" fontAlgn="ctr"/>
                      <a:r>
                        <a:rPr lang="en-US" sz="1100" b="0" i="0" u="none" strike="noStrike">
                          <a:solidFill>
                            <a:srgbClr val="000000"/>
                          </a:solidFill>
                          <a:effectLst/>
                          <a:latin typeface="Arial" panose="020F0502020204030204" pitchFamily="34" charset="0"/>
                          <a:ea typeface="Arial"/>
                        </a:rPr>
                        <a:t>Prod Q'ty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a:solidFill>
                            <a:srgbClr val="000000"/>
                          </a:solidFill>
                          <a:effectLst/>
                          <a:latin typeface="Arial" panose="020F0502020204030204" pitchFamily="34" charset="0"/>
                          <a:ea typeface="Arial"/>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9353430"/>
                  </a:ext>
                </a:extLst>
              </a:tr>
              <a:tr h="190500">
                <a:tc>
                  <a:txBody>
                    <a:bodyPr/>
                    <a:lstStyle/>
                    <a:p>
                      <a:pPr algn="ctr" fontAlgn="ctr"/>
                      <a:r>
                        <a:rPr lang="en-US" sz="1100" b="0" i="0" u="none" strike="noStrike">
                          <a:solidFill>
                            <a:srgbClr val="000000"/>
                          </a:solidFill>
                          <a:effectLst/>
                          <a:latin typeface="Arial" panose="020F0502020204030204" pitchFamily="34" charset="0"/>
                          <a:ea typeface="Arial"/>
                        </a:rPr>
                        <a:t>Defect rate (ppm)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1100" b="0" i="0" u="none" strike="noStrike" dirty="0">
                          <a:solidFill>
                            <a:srgbClr val="000000"/>
                          </a:solidFill>
                          <a:effectLst/>
                          <a:latin typeface="Arial" panose="020F0502020204030204" pitchFamily="34" charset="0"/>
                          <a:ea typeface="Arial"/>
                        </a:rPr>
                        <a:t>65000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66666.67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383333.33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422535.21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024561"/>
                  </a:ext>
                </a:extLst>
              </a:tr>
            </a:tbl>
          </a:graphicData>
        </a:graphic>
      </p:graphicFrame>
      <p:graphicFrame>
        <p:nvGraphicFramePr>
          <p:cNvPr id="14" name="Chart 13">
            <a:extLst>
              <a:ext uri="{FF2B5EF4-FFF2-40B4-BE49-F238E27FC236}">
                <a16:creationId xmlns:a16="http://schemas.microsoft.com/office/drawing/2014/main" id="{50EEBF16-A037-4D15-A91C-137FDDA65F87}"/>
              </a:ext>
            </a:extLst>
          </p:cNvPr>
          <p:cNvGraphicFramePr>
            <a:graphicFrameLocks/>
          </p:cNvGraphicFramePr>
          <p:nvPr>
            <p:extLst>
              <p:ext uri="{D42A27DB-BD31-4B8C-83A1-F6EECF244321}">
                <p14:modId xmlns:p14="http://schemas.microsoft.com/office/powerpoint/2010/main" val="60871288"/>
              </p:ext>
            </p:extLst>
          </p:nvPr>
        </p:nvGraphicFramePr>
        <p:xfrm>
          <a:off x="1847713" y="1228913"/>
          <a:ext cx="5838825" cy="37052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23371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a:r>
              <a:rPr sz="1000" b="0">
                <a:latin typeface="Arial"/>
              </a:rPr>
              <a:t>32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5170524" cy="338554"/>
          </a:xfrm>
          <a:prstGeom prst="rect">
            <a:avLst/>
          </a:prstGeom>
          <a:noFill/>
        </p:spPr>
        <p:txBody>
          <a:bodyPr wrap="square" rtlCol="0">
            <a:spAutoFit/>
          </a:bodyPr>
          <a:lstStyle/>
          <a:p>
            <a:r>
              <a:rPr lang="en-US" altLang="ko-KR" sz="1600" b="1" dirty="0">
                <a:latin typeface="Arial Narrow" panose="020B0606020202030204" pitchFamily="34" charset="0"/>
                <a:ea typeface="LG Smart_H Regular" pitchFamily="34" charset="-127"/>
              </a:rPr>
              <a:t>5</a:t>
            </a:r>
            <a:r>
              <a:rPr lang="vi-VN" altLang="ko-KR" sz="1600" b="1" dirty="0">
                <a:latin typeface="Arial Narrow" panose="020B0606020202030204" pitchFamily="34" charset="0"/>
                <a:ea typeface="LG Smart_H Regular" pitchFamily="34" charset="-127"/>
              </a:rPr>
              <a:t>.</a:t>
            </a:r>
            <a:r>
              <a:rPr lang="en-US" altLang="ko-KR" sz="1600" b="1" dirty="0">
                <a:latin typeface="Arial Narrow" panose="020B0606020202030204" pitchFamily="34" charset="0"/>
                <a:ea typeface="LG Smart_H Regular" pitchFamily="34" charset="-127"/>
              </a:rPr>
              <a:t>2</a:t>
            </a:r>
            <a:r>
              <a:rPr lang="vi-VN" altLang="ko-KR" sz="1600" b="1" dirty="0">
                <a:latin typeface="Arial Narrow" panose="020B0606020202030204" pitchFamily="34" charset="0"/>
                <a:ea typeface="LG Smart_H Regular" pitchFamily="34" charset="-127"/>
              </a:rPr>
              <a:t> </a:t>
            </a:r>
            <a:r>
              <a:rPr lang="en-US" altLang="ko-KR" sz="1600" b="1" dirty="0">
                <a:latin typeface="Arial Narrow" panose="020B0606020202030204" pitchFamily="34" charset="0"/>
                <a:ea typeface="LG Smart_H Regular" pitchFamily="34" charset="-127"/>
              </a:rPr>
              <a:t>Future plan</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034891" cy="276999"/>
          </a:xfrm>
          <a:prstGeom prst="rect">
            <a:avLst/>
          </a:prstGeom>
          <a:noFill/>
        </p:spPr>
        <p:txBody>
          <a:bodyPr wrap="square" rtlCol="0">
            <a:spAutoFit/>
          </a:bodyPr>
          <a:lstStyle/>
          <a:p>
            <a:pPr marL="171450" indent="-171450">
              <a:buFont typeface="Wingdings" panose="05000000000000000000" pitchFamily="2" charset="2"/>
              <a:buChar char="q"/>
            </a:pPr>
            <a:r>
              <a:rPr lang="en-US" sz="1100" b="1" dirty="0">
                <a:latin typeface="Arial" panose="020B0604020202020204" pitchFamily="34" charset="0"/>
                <a:ea typeface="Arial Unicode MS" panose="020B0604020202020204" pitchFamily="34" charset="-128"/>
                <a:cs typeface="Arial" panose="020B0604020202020204" pitchFamily="34" charset="0"/>
              </a:rPr>
              <a:t>Management plan</a:t>
            </a:r>
          </a:p>
        </p:txBody>
      </p:sp>
      <p:sp>
        <p:nvSpPr>
          <p:cNvPr id="15" name="TextBox 14">
            <a:extLst>
              <a:ext uri="{FF2B5EF4-FFF2-40B4-BE49-F238E27FC236}">
                <a16:creationId xmlns:a16="http://schemas.microsoft.com/office/drawing/2014/main" id="{80938115-D6E4-4142-920C-CD47680F7AF5}"/>
              </a:ext>
            </a:extLst>
          </p:cNvPr>
          <p:cNvSpPr txBox="1"/>
          <p:nvPr/>
        </p:nvSpPr>
        <p:spPr>
          <a:xfrm>
            <a:off x="34159" y="5782179"/>
            <a:ext cx="9717468" cy="825320"/>
          </a:xfrm>
          <a:prstGeom prst="rect">
            <a:avLst/>
          </a:prstGeom>
          <a:noFill/>
        </p:spPr>
        <p:txBody>
          <a:bodyPr wrap="square" rtlCol="0">
            <a:noAutofit/>
          </a:bodyPr>
          <a:lstStyle/>
          <a:p>
            <a:pPr algn="just">
              <a:spcBef>
                <a:spcPct val="20000"/>
              </a:spcBef>
            </a:pPr>
            <a:r>
              <a:rPr sz="1100" b="0">
                <a:latin typeface="Arial"/>
              </a:rPr>
              <a:t>A daily check sheet is established to monitor equipment status using a Master sample. Because the J1 Dual model features dual displays requiring camera movement, camera angle status must be verified during pre-production setup to prevent angle deviation.</a:t>
            </a:r>
          </a:p>
          <a:p>
            <a:pPr algn="just">
              <a:spcBef>
                <a:spcPct val="20000"/>
              </a:spcBef>
            </a:pPr>
            <a:endParaRPr sz="1100" b="0">
              <a:latin typeface="Arial"/>
            </a:endParaRPr>
          </a:p>
          <a:p>
            <a:pPr algn="just">
              <a:spcBef>
                <a:spcPct val="20000"/>
              </a:spcBef>
            </a:pPr>
            <a:endParaRPr sz="1100" b="0">
              <a:latin typeface="Arial"/>
            </a:endParaRPr>
          </a:p>
        </p:txBody>
      </p:sp>
      <p:sp>
        <p:nvSpPr>
          <p:cNvPr id="18" name="TextBox 17">
            <a:extLst>
              <a:ext uri="{FF2B5EF4-FFF2-40B4-BE49-F238E27FC236}">
                <a16:creationId xmlns:a16="http://schemas.microsoft.com/office/drawing/2014/main" id="{9E3F5A17-8E19-4E92-AFD5-3A6969AF5F7F}"/>
              </a:ext>
            </a:extLst>
          </p:cNvPr>
          <p:cNvSpPr txBox="1"/>
          <p:nvPr/>
        </p:nvSpPr>
        <p:spPr>
          <a:xfrm>
            <a:off x="123613" y="982704"/>
            <a:ext cx="6048587" cy="538609"/>
          </a:xfrm>
          <a:prstGeom prst="rect">
            <a:avLst/>
          </a:prstGeom>
          <a:noFill/>
        </p:spPr>
        <p:txBody>
          <a:bodyPr wrap="square" rtlCol="0">
            <a:spAutoFit/>
          </a:bodyPr>
          <a:lstStyle/>
          <a:p>
            <a:pPr>
              <a:spcBef>
                <a:spcPts val="600"/>
              </a:spcBef>
            </a:pPr>
            <a:r>
              <a:rPr lang="vi-VN" sz="1100" dirty="0">
                <a:latin typeface="Arial" panose="020B0604020202020204" pitchFamily="34" charset="0"/>
                <a:ea typeface="Arial Unicode MS" panose="020B0604020202020204" pitchFamily="34" charset="-128"/>
                <a:cs typeface="Arial" panose="020B0604020202020204" pitchFamily="34" charset="0"/>
              </a:rPr>
              <a:t>Make checksheet to </a:t>
            </a:r>
            <a:r>
              <a:rPr lang="en-US" sz="1100" dirty="0">
                <a:latin typeface="Arial" panose="020B0604020202020204" pitchFamily="34" charset="0"/>
                <a:ea typeface="Arial Unicode MS" panose="020B0604020202020204" pitchFamily="34" charset="-128"/>
                <a:cs typeface="Arial" panose="020B0604020202020204" pitchFamily="34" charset="0"/>
              </a:rPr>
              <a:t>control equipment with master sample</a:t>
            </a:r>
          </a:p>
          <a:p>
            <a:pPr>
              <a:spcBef>
                <a:spcPts val="600"/>
              </a:spcBef>
            </a:pPr>
            <a:r>
              <a:rPr lang="en-US" sz="1100" dirty="0">
                <a:latin typeface="Arial" panose="020B0600000101010101" pitchFamily="34" charset="-127"/>
                <a:ea typeface="Arial" panose="020B0600000101010101" pitchFamily="34" charset="-127"/>
              </a:rPr>
              <a:t> </a:t>
            </a:r>
          </a:p>
        </p:txBody>
      </p:sp>
      <p:graphicFrame>
        <p:nvGraphicFramePr>
          <p:cNvPr id="4" name="Object 3">
            <a:extLst>
              <a:ext uri="{FF2B5EF4-FFF2-40B4-BE49-F238E27FC236}">
                <a16:creationId xmlns:a16="http://schemas.microsoft.com/office/drawing/2014/main" id="{F707B042-44B2-4C31-B6D1-DF9E136E9F5F}"/>
              </a:ext>
            </a:extLst>
          </p:cNvPr>
          <p:cNvGraphicFramePr>
            <a:graphicFrameLocks noChangeAspect="1"/>
          </p:cNvGraphicFramePr>
          <p:nvPr>
            <p:extLst>
              <p:ext uri="{D42A27DB-BD31-4B8C-83A1-F6EECF244321}">
                <p14:modId xmlns:p14="http://schemas.microsoft.com/office/powerpoint/2010/main" val="1464855402"/>
              </p:ext>
            </p:extLst>
          </p:nvPr>
        </p:nvGraphicFramePr>
        <p:xfrm>
          <a:off x="8542187" y="5277591"/>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400" imgH="771792" progId="Excel.Sheet.12">
                  <p:embed/>
                </p:oleObj>
              </mc:Choice>
              <mc:Fallback>
                <p:oleObj name="Worksheet" showAsIcon="1" r:id="rId2" imgW="914400" imgH="771792" progId="Excel.Sheet.12">
                  <p:embed/>
                  <p:pic>
                    <p:nvPicPr>
                      <p:cNvPr id="0" name=""/>
                      <p:cNvPicPr/>
                      <p:nvPr/>
                    </p:nvPicPr>
                    <p:blipFill>
                      <a:blip r:embed="rId3"/>
                      <a:stretch>
                        <a:fillRect/>
                      </a:stretch>
                    </p:blipFill>
                    <p:spPr>
                      <a:xfrm>
                        <a:off x="8542187" y="5277591"/>
                        <a:ext cx="914400" cy="771525"/>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3A1F7D6-78B6-4903-8B08-17F7BF22736E}"/>
              </a:ext>
            </a:extLst>
          </p:cNvPr>
          <p:cNvPicPr>
            <a:picLocks noChangeAspect="1"/>
          </p:cNvPicPr>
          <p:nvPr/>
        </p:nvPicPr>
        <p:blipFill>
          <a:blip r:embed="rId4"/>
          <a:stretch>
            <a:fillRect/>
          </a:stretch>
        </p:blipFill>
        <p:spPr>
          <a:xfrm>
            <a:off x="256441" y="1482932"/>
            <a:ext cx="4477700" cy="3354765"/>
          </a:xfrm>
          <a:prstGeom prst="rect">
            <a:avLst/>
          </a:prstGeom>
        </p:spPr>
      </p:pic>
      <p:sp>
        <p:nvSpPr>
          <p:cNvPr id="10" name="TextBox 9">
            <a:extLst>
              <a:ext uri="{FF2B5EF4-FFF2-40B4-BE49-F238E27FC236}">
                <a16:creationId xmlns:a16="http://schemas.microsoft.com/office/drawing/2014/main" id="{1FCA5DC4-72B4-4AE7-850D-6E6718474DCD}"/>
              </a:ext>
            </a:extLst>
          </p:cNvPr>
          <p:cNvSpPr txBox="1"/>
          <p:nvPr/>
        </p:nvSpPr>
        <p:spPr>
          <a:xfrm>
            <a:off x="1004337" y="4922426"/>
            <a:ext cx="2981907" cy="276999"/>
          </a:xfrm>
          <a:prstGeom prst="rect">
            <a:avLst/>
          </a:prstGeom>
          <a:noFill/>
        </p:spPr>
        <p:txBody>
          <a:bodyPr wrap="none" rtlCol="0">
            <a:spAutoFit/>
          </a:bodyPr>
          <a:lstStyle/>
          <a:p>
            <a:pPr algn="just">
              <a:spcBef>
                <a:spcPct val="20000"/>
              </a:spcBef>
            </a:pPr>
            <a:r>
              <a:rPr lang="en-US" sz="1100" dirty="0">
                <a:latin typeface="Arial" panose="020B0604020202020204" pitchFamily="34" charset="0"/>
                <a:cs typeface="Arial" panose="020B0604020202020204" pitchFamily="34" charset="0"/>
              </a:rPr>
              <a:t>Actual DID check sheet in production line</a:t>
            </a:r>
          </a:p>
        </p:txBody>
      </p:sp>
      <p:pic>
        <p:nvPicPr>
          <p:cNvPr id="11" name="Picture 10">
            <a:extLst>
              <a:ext uri="{FF2B5EF4-FFF2-40B4-BE49-F238E27FC236}">
                <a16:creationId xmlns:a16="http://schemas.microsoft.com/office/drawing/2014/main" id="{E3F08EC4-155B-456F-B519-D2C962C8D150}"/>
              </a:ext>
            </a:extLst>
          </p:cNvPr>
          <p:cNvPicPr>
            <a:picLocks noChangeAspect="1"/>
          </p:cNvPicPr>
          <p:nvPr/>
        </p:nvPicPr>
        <p:blipFill rotWithShape="1">
          <a:blip r:embed="rId5"/>
          <a:srcRect b="5903"/>
          <a:stretch/>
        </p:blipFill>
        <p:spPr>
          <a:xfrm>
            <a:off x="4861689" y="1482932"/>
            <a:ext cx="4848959" cy="3156733"/>
          </a:xfrm>
          <a:prstGeom prst="rect">
            <a:avLst/>
          </a:prstGeom>
        </p:spPr>
      </p:pic>
      <p:sp>
        <p:nvSpPr>
          <p:cNvPr id="24" name="TextBox 23">
            <a:extLst>
              <a:ext uri="{FF2B5EF4-FFF2-40B4-BE49-F238E27FC236}">
                <a16:creationId xmlns:a16="http://schemas.microsoft.com/office/drawing/2014/main" id="{51591882-9305-4E72-8150-888EA1F3C22B}"/>
              </a:ext>
            </a:extLst>
          </p:cNvPr>
          <p:cNvSpPr txBox="1"/>
          <p:nvPr/>
        </p:nvSpPr>
        <p:spPr>
          <a:xfrm>
            <a:off x="6460326" y="4944935"/>
            <a:ext cx="1790875" cy="276999"/>
          </a:xfrm>
          <a:prstGeom prst="rect">
            <a:avLst/>
          </a:prstGeom>
          <a:noFill/>
        </p:spPr>
        <p:txBody>
          <a:bodyPr wrap="none" rtlCol="0">
            <a:spAutoFit/>
          </a:bodyPr>
          <a:lstStyle/>
          <a:p>
            <a:pPr algn="just">
              <a:spcBef>
                <a:spcPct val="20000"/>
              </a:spcBef>
            </a:pPr>
            <a:r>
              <a:rPr lang="en-US" sz="1100" dirty="0">
                <a:latin typeface="Arial" panose="020B0604020202020204" pitchFamily="34" charset="0"/>
                <a:cs typeface="Arial" panose="020B0604020202020204" pitchFamily="34" charset="0"/>
              </a:rPr>
              <a:t>DID check sheet format</a:t>
            </a:r>
          </a:p>
        </p:txBody>
      </p:sp>
    </p:spTree>
    <p:extLst>
      <p:ext uri="{BB962C8B-B14F-4D97-AF65-F5344CB8AC3E}">
        <p14:creationId xmlns:p14="http://schemas.microsoft.com/office/powerpoint/2010/main" val="36379314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a:r>
              <a:rPr sz="1000" b="0">
                <a:latin typeface="Arial"/>
              </a:rPr>
              <a:t>33 / 33</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solidFill>
                  <a:schemeClr val="tx1"/>
                </a:solidFill>
                <a:latin typeface="Arial Narrow" panose="020B0606020202030204" pitchFamily="34" charset="0"/>
                <a:ea typeface="맑은 고딕"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hangingPunct="1"/>
            <a:r>
              <a:rPr lang="en-US" altLang="ko-KR" sz="1000">
                <a:latin typeface="Arial Narrow" panose="020B0606020202030204" pitchFamily="34" charset="0"/>
                <a:ea typeface="맑은 고딕"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5170524" cy="338554"/>
          </a:xfrm>
          <a:prstGeom prst="rect">
            <a:avLst/>
          </a:prstGeom>
          <a:noFill/>
        </p:spPr>
        <p:txBody>
          <a:bodyPr wrap="square" rtlCol="0">
            <a:spAutoFit/>
          </a:bodyPr>
          <a:lstStyle/>
          <a:p>
            <a:r>
              <a:rPr lang="en-US" altLang="ko-KR" sz="1600" b="1" dirty="0">
                <a:latin typeface="Arial Narrow" panose="020B0606020202030204" pitchFamily="34" charset="0"/>
                <a:ea typeface="LG Smart_H Regular" pitchFamily="34" charset="-127"/>
              </a:rPr>
              <a:t>5</a:t>
            </a:r>
            <a:r>
              <a:rPr lang="vi-VN" altLang="ko-KR" sz="1600" b="1" dirty="0">
                <a:latin typeface="Arial Narrow" panose="020B0606020202030204" pitchFamily="34" charset="0"/>
                <a:ea typeface="LG Smart_H Regular" pitchFamily="34" charset="-127"/>
              </a:rPr>
              <a:t>.</a:t>
            </a:r>
            <a:r>
              <a:rPr lang="en-US" altLang="ko-KR" sz="1600" b="1" dirty="0">
                <a:latin typeface="Arial Narrow" panose="020B0606020202030204" pitchFamily="34" charset="0"/>
                <a:ea typeface="LG Smart_H Regular" pitchFamily="34" charset="-127"/>
              </a:rPr>
              <a:t>2</a:t>
            </a:r>
            <a:r>
              <a:rPr lang="vi-VN" altLang="ko-KR" sz="1600" b="1" dirty="0">
                <a:latin typeface="Arial Narrow" panose="020B0606020202030204" pitchFamily="34" charset="0"/>
                <a:ea typeface="LG Smart_H Regular" pitchFamily="34" charset="-127"/>
              </a:rPr>
              <a:t> </a:t>
            </a:r>
            <a:r>
              <a:rPr lang="en-US" altLang="ko-KR" sz="1600" b="1" dirty="0">
                <a:latin typeface="Arial Narrow" panose="020B0606020202030204" pitchFamily="34" charset="0"/>
                <a:ea typeface="LG Smart_H Regular" pitchFamily="34" charset="-127"/>
              </a:rPr>
              <a:t>Future plan</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263491" cy="276999"/>
          </a:xfrm>
          <a:prstGeom prst="rect">
            <a:avLst/>
          </a:prstGeom>
          <a:noFill/>
        </p:spPr>
        <p:txBody>
          <a:bodyPr wrap="square" rtlCol="0">
            <a:spAutoFit/>
          </a:bodyPr>
          <a:lstStyle/>
          <a:p>
            <a:pPr marL="171450" indent="-171450">
              <a:buFont typeface="Wingdings" panose="05000000000000000000" pitchFamily="2" charset="2"/>
              <a:buChar char="q"/>
            </a:pPr>
            <a:r>
              <a:rPr lang="en-US" sz="1100" b="1" dirty="0">
                <a:latin typeface="Arial" panose="020B0604020202020204" pitchFamily="34" charset="0"/>
                <a:ea typeface="Arial Unicode MS" panose="020B0604020202020204" pitchFamily="34" charset="-128"/>
                <a:cs typeface="Arial" panose="020B0604020202020204" pitchFamily="34" charset="0"/>
              </a:rPr>
              <a:t>Management plan</a:t>
            </a:r>
          </a:p>
        </p:txBody>
      </p:sp>
      <p:sp>
        <p:nvSpPr>
          <p:cNvPr id="5" name="Rectangle 4">
            <a:extLst>
              <a:ext uri="{FF2B5EF4-FFF2-40B4-BE49-F238E27FC236}">
                <a16:creationId xmlns:a16="http://schemas.microsoft.com/office/drawing/2014/main" id="{F5FE59E6-9BB3-42ED-8FCB-1F488C986E37}"/>
              </a:ext>
            </a:extLst>
          </p:cNvPr>
          <p:cNvSpPr/>
          <p:nvPr/>
        </p:nvSpPr>
        <p:spPr>
          <a:xfrm>
            <a:off x="102040" y="1124809"/>
            <a:ext cx="9380293" cy="1384995"/>
          </a:xfrm>
          <a:prstGeom prst="rect">
            <a:avLst/>
          </a:prstGeom>
        </p:spPr>
        <p:txBody>
          <a:bodyPr wrap="square">
            <a:spAutoFit/>
          </a:bodyPr>
          <a:lstStyle/>
          <a:p>
            <a:r>
              <a:rPr sz="1100" b="0">
                <a:latin typeface="Arial"/>
              </a:rPr>
              <a:t>Master Sample Management Procedure:</a:t>
            </a:r>
            <a:br/>
            <a:r>
              <a:rPr sz="1100" b="0">
                <a:latin typeface="Arial"/>
              </a:rPr>
              <a:t>• Inspection Timing: Daily before shift start (08:00~10:00 AM for day shift, 20:00~22:00 PM for night shift).</a:t>
            </a:r>
            <a:br/>
            <a:r>
              <a:rPr sz="1100" b="0">
                <a:latin typeface="Arial"/>
              </a:rPr>
              <a:t>• Responsible: PM Technician &amp; Line Leader.</a:t>
            </a:r>
            <a:br/>
            <a:r>
              <a:rPr sz="1100" b="0">
                <a:latin typeface="Arial"/>
              </a:rPr>
              <a:t>• Procedure:</a:t>
            </a:r>
            <a:br/>
            <a:r>
              <a:rPr sz="1100" b="0">
                <a:latin typeface="Arial"/>
              </a:rPr>
              <a:t>  1. Test Master Sample at Luminance station and verify values are within spec (800~2000 Cd/m²).</a:t>
            </a:r>
            <a:br/>
            <a:r>
              <a:rPr sz="1100" b="0">
                <a:latin typeface="Arial"/>
              </a:rPr>
              <a:t>  2. If any abnormal reading is detected, report immediately to Line Leader; PE &amp; PM teams will inspect camera alignment.</a:t>
            </a:r>
            <a:br/>
            <a:r>
              <a:rPr sz="1100" b="0">
                <a:latin typeface="Arial"/>
              </a:rPr>
              <a:t>  3. GMES version checking (SW/HW) is skipped during Master Sample testing to focus strictly on hardware measurement stability.</a:t>
            </a:r>
          </a:p>
          <a:p>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92884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2DBPMRbQEK4PwqppxHtX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gNe9y31qx0OExXY5K1tKhA"/>
</p:tagLst>
</file>

<file path=ppt/theme/theme1.xml><?xml version="1.0" encoding="utf-8"?>
<a:theme xmlns:a="http://schemas.openxmlformats.org/drawingml/2006/main" name="3_디자인 사용자 지정">
  <a:themeElements>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디자인 사용자 지정">
      <a:majorFont>
        <a:latin typeface="Arial"/>
        <a:ea typeface="돋움"/>
        <a:cs typeface=""/>
      </a:majorFont>
      <a:minorFont>
        <a:latin typeface="Arial"/>
        <a:ea typeface="돋움"/>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sz="1800" b="0" i="0" u="none" strike="noStrike" cap="none" normalizeH="0" baseline="0" smtClean="0">
            <a:ln>
              <a:noFill/>
            </a:ln>
            <a:solidFill>
              <a:schemeClr val="tx1"/>
            </a:solidFill>
            <a:effectLst/>
            <a:latin typeface="Arial" charset="0"/>
            <a:ea typeface="돋움" pitchFamily="50" charset="-127"/>
          </a:defRPr>
        </a:defPPr>
      </a:lstStyle>
    </a:spDef>
    <a:lnDef>
      <a:spPr bwMode="auto">
        <a:noFill/>
        <a:ln w="9525" cap="flat" cmpd="sng" algn="ctr">
          <a:solidFill>
            <a:srgbClr val="C00000"/>
          </a:solidFill>
          <a:prstDash val="solid"/>
          <a:round/>
          <a:headEnd type="none" w="med" len="med"/>
          <a:tailEnd type="triangle" w="med" len="med"/>
        </a:ln>
        <a:effectLst/>
      </a:spPr>
      <a:bodyPr/>
      <a:lstStyle/>
    </a:lnDef>
  </a:objectDefaults>
  <a:extraClrSchemeLst>
    <a:extraClrScheme>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디자인 사용자 지정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디자인 사용자 지정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디자인 사용자 지정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디자인 사용자 지정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디자인 사용자 지정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디자인 사용자 지정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디자인 사용자 지정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디자인 사용자 지정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디자인 사용자 지정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디자인 사용자 지정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디자인 사용자 지정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c6ed9fc-fefc-4a0c-a6d6-10cf236c0d4f}" enabled="1" method="Standard" siteId="{5069cde4-642a-45c0-8094-d0c2dec10be3}" contentBits="1" removed="0"/>
</clbl:labelList>
</file>

<file path=docProps/app.xml><?xml version="1.0" encoding="utf-8"?>
<Properties xmlns="http://schemas.openxmlformats.org/officeDocument/2006/extended-properties" xmlns:vt="http://schemas.openxmlformats.org/officeDocument/2006/docPropsVTypes">
  <TotalTime>88522</TotalTime>
  <Words>6713</Words>
  <Application>Microsoft Office PowerPoint</Application>
  <PresentationFormat>A4 Paper (210x297 mm)</PresentationFormat>
  <Paragraphs>1756</Paragraphs>
  <Slides>33</Slides>
  <Notes>26</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2</vt:i4>
      </vt:variant>
      <vt:variant>
        <vt:lpstr>Slide Titles</vt:lpstr>
      </vt:variant>
      <vt:variant>
        <vt:i4>33</vt:i4>
      </vt:variant>
    </vt:vector>
  </HeadingPairs>
  <TitlesOfParts>
    <vt:vector size="48" baseType="lpstr">
      <vt:lpstr>Arial Unicode MS</vt:lpstr>
      <vt:lpstr>굴림</vt:lpstr>
      <vt:lpstr>현대하모니 L</vt:lpstr>
      <vt:lpstr>LG Smart</vt:lpstr>
      <vt:lpstr>LG스마트체 Regular</vt:lpstr>
      <vt:lpstr>LG스마트체 Regular</vt:lpstr>
      <vt:lpstr>맑은 고딕</vt:lpstr>
      <vt:lpstr>Arial</vt:lpstr>
      <vt:lpstr>Arial Narrow</vt:lpstr>
      <vt:lpstr>Calibri</vt:lpstr>
      <vt:lpstr>Cambria Math</vt:lpstr>
      <vt:lpstr>Wingdings</vt:lpstr>
      <vt:lpstr>3_디자인 사용자 지정</vt:lpstr>
      <vt:lpstr>Worksheet</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Bery</dc:creator>
  <cp:lastModifiedBy>LONG DUC NGUYEN/LGEVH IVI LD Cyber Security Part</cp:lastModifiedBy>
  <cp:revision>3212</cp:revision>
  <cp:lastPrinted>2017-04-20T00:57:17Z</cp:lastPrinted>
  <dcterms:created xsi:type="dcterms:W3CDTF">2013-07-05T02:04:59Z</dcterms:created>
  <dcterms:modified xsi:type="dcterms:W3CDTF">2026-09-23T04:09:12Z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3_디자인 사용자 지정:4</vt:lpwstr>
  </property>
  <property fmtid="{D5CDD505-2E9C-101B-9397-08002B2CF9AE}" pid="3" name="ClassificationContentMarkingHeaderText">
    <vt:lpwstr>LGE Internal Use Only</vt:lpwstr>
  </property>
</Properties>
</file>