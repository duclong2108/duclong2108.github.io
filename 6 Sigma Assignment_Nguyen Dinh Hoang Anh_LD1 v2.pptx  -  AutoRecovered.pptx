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7" r:id="rId2"/>
    <p:sldId id="449" r:id="rId3"/>
    <p:sldId id="259" r:id="rId4"/>
    <p:sldId id="1135" r:id="rId5"/>
    <p:sldId id="260" r:id="rId6"/>
    <p:sldId id="261" r:id="rId7"/>
    <p:sldId id="263" r:id="rId8"/>
    <p:sldId id="1136" r:id="rId9"/>
    <p:sldId id="264" r:id="rId10"/>
    <p:sldId id="1146" r:id="rId11"/>
    <p:sldId id="1156" r:id="rId12"/>
    <p:sldId id="1147" r:id="rId13"/>
    <p:sldId id="538" r:id="rId14"/>
    <p:sldId id="1154" r:id="rId15"/>
    <p:sldId id="1150" r:id="rId16"/>
    <p:sldId id="1155" r:id="rId17"/>
    <p:sldId id="1149" r:id="rId18"/>
    <p:sldId id="1152" r:id="rId19"/>
    <p:sldId id="1159" r:id="rId20"/>
    <p:sldId id="1153" r:id="rId21"/>
    <p:sldId id="359" r:id="rId22"/>
    <p:sldId id="1158" r:id="rId23"/>
    <p:sldId id="360" r:id="rId24"/>
    <p:sldId id="1157" r:id="rId25"/>
    <p:sldId id="473" r:id="rId26"/>
  </p:sldIdLst>
  <p:sldSz cx="9906000" cy="6858000" type="A4"/>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728" autoAdjust="0"/>
    <p:restoredTop sz="82979" autoAdjust="0"/>
  </p:normalViewPr>
  <p:slideViewPr>
    <p:cSldViewPr snapToGrid="0">
      <p:cViewPr varScale="1">
        <p:scale>
          <a:sx n="110" d="100"/>
          <a:sy n="110" d="100"/>
        </p:scale>
        <p:origin x="1084" y="76"/>
      </p:cViewPr>
      <p:guideLst/>
    </p:cSldViewPr>
  </p:slideViewPr>
  <p:notesTextViewPr>
    <p:cViewPr>
      <p:scale>
        <a:sx n="1" d="1"/>
        <a:sy n="1" d="1"/>
      </p:scale>
      <p:origin x="0" y="0"/>
    </p:cViewPr>
  </p:notesTextViewPr>
  <p:notesViewPr>
    <p:cSldViewPr snapToGrid="0">
      <p:cViewPr varScale="1">
        <p:scale>
          <a:sx n="83" d="100"/>
          <a:sy n="83" d="100"/>
        </p:scale>
        <p:origin x="2428" y="7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88F56A-B201-456D-94F2-6A943D8B3090}" type="datetimeFigureOut">
              <a:rPr lang="en-US" smtClean="0"/>
              <a:t>10/12/2026</a:t>
            </a:fld>
            <a:endParaRPr lang="en-US"/>
          </a:p>
        </p:txBody>
      </p:sp>
      <p:sp>
        <p:nvSpPr>
          <p:cNvPr id="4" name="Slide Image Placeholder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A8BCF1-051D-455F-9F54-ACB016B0CCFA}" type="slidenum">
              <a:rPr lang="en-US" smtClean="0"/>
              <a:t>‹#›</a:t>
            </a:fld>
            <a:endParaRPr lang="en-US"/>
          </a:p>
        </p:txBody>
      </p:sp>
    </p:spTree>
    <p:extLst>
      <p:ext uri="{BB962C8B-B14F-4D97-AF65-F5344CB8AC3E}">
        <p14:creationId xmlns:p14="http://schemas.microsoft.com/office/powerpoint/2010/main" val="23826875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solidFill>
                  <a:prstClr val="black"/>
                </a:solidFill>
                <a:latin typeface="맑은 고딕"/>
              </a:rPr>
              <a:pPr>
                <a:defRPr/>
              </a:pPr>
              <a:t>1</a:t>
            </a:fld>
            <a:endParaRPr lang="ko-KR" altLang="en-US">
              <a:solidFill>
                <a:prstClr val="black"/>
              </a:solidFill>
              <a:latin typeface="맑은 고딕"/>
            </a:endParaRPr>
          </a:p>
        </p:txBody>
      </p:sp>
    </p:spTree>
    <p:extLst>
      <p:ext uri="{BB962C8B-B14F-4D97-AF65-F5344CB8AC3E}">
        <p14:creationId xmlns:p14="http://schemas.microsoft.com/office/powerpoint/2010/main" val="8112588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슬라이드 이미지 개체 틀 1"/>
          <p:cNvSpPr>
            <a:spLocks noGrp="1" noRot="1" noChangeAspect="1" noTextEdit="1"/>
          </p:cNvSpPr>
          <p:nvPr>
            <p:ph type="sldImg"/>
          </p:nvPr>
        </p:nvSpPr>
        <p:spPr bwMode="auto">
          <a:xfrm>
            <a:off x="3125788" y="511175"/>
            <a:ext cx="3683000" cy="2551113"/>
          </a:xfrm>
          <a:noFill/>
          <a:ln>
            <a:solidFill>
              <a:srgbClr val="000000"/>
            </a:solidFill>
            <a:miter lim="800000"/>
            <a:headEnd/>
            <a:tailEnd/>
          </a:ln>
        </p:spPr>
      </p:sp>
      <p:sp>
        <p:nvSpPr>
          <p:cNvPr id="28675" name="슬라이드 노트 개체 틀 2"/>
          <p:cNvSpPr>
            <a:spLocks noGrp="1"/>
          </p:cNvSpPr>
          <p:nvPr>
            <p:ph type="body" idx="1"/>
          </p:nvPr>
        </p:nvSpPr>
        <p:spPr bwMode="auto">
          <a:xfrm>
            <a:off x="993775" y="3235325"/>
            <a:ext cx="7951788" cy="3060700"/>
          </a:xfrm>
          <a:noFill/>
        </p:spPr>
        <p:txBody>
          <a:bodyPr wrap="square" lIns="90471" tIns="45234" rIns="90471" bIns="45234" numCol="1" anchor="t" anchorCtr="0" compatLnSpc="1">
            <a:prstTxWarp prst="textNoShape">
              <a:avLst/>
            </a:prstTxWarp>
          </a:bodyPr>
          <a:lstStyle/>
          <a:p>
            <a:pPr eaLnBrk="1" hangingPunct="1">
              <a:spcBef>
                <a:spcPct val="0"/>
              </a:spcBef>
            </a:pPr>
            <a:endParaRPr lang="ko-KR" altLang="en-US" dirty="0"/>
          </a:p>
        </p:txBody>
      </p:sp>
      <p:sp>
        <p:nvSpPr>
          <p:cNvPr id="28676" name="슬라이드 번호 개체 틀 3"/>
          <p:cNvSpPr txBox="1">
            <a:spLocks noGrp="1"/>
          </p:cNvSpPr>
          <p:nvPr/>
        </p:nvSpPr>
        <p:spPr bwMode="auto">
          <a:xfrm>
            <a:off x="5634038" y="6465888"/>
            <a:ext cx="4303712" cy="339725"/>
          </a:xfrm>
          <a:prstGeom prst="rect">
            <a:avLst/>
          </a:prstGeom>
          <a:noFill/>
          <a:ln w="9525">
            <a:noFill/>
            <a:miter lim="800000"/>
            <a:headEnd/>
            <a:tailEnd/>
          </a:ln>
        </p:spPr>
        <p:txBody>
          <a:bodyPr lIns="90471" tIns="45234" rIns="90471" bIns="45234" anchor="b"/>
          <a:lstStyle/>
          <a:p>
            <a:pPr algn="r" defTabSz="903288" eaLnBrk="0" latinLnBrk="0" hangingPunct="0"/>
            <a:fld id="{39B64D8B-A44D-4D7E-93C9-3A4A87537696}" type="slidenum">
              <a:rPr kumimoji="0" lang="ko-KR" altLang="en-US" sz="1200" b="1" smtClean="0">
                <a:solidFill>
                  <a:srgbClr val="000000"/>
                </a:solidFill>
                <a:latin typeface="Arial Narrow" panose="020B0606020202030204" pitchFamily="34" charset="0"/>
                <a:ea typeface="돋움" panose="020B0600000101010101" pitchFamily="50" charset="-127"/>
              </a:rPr>
              <a:pPr algn="r" defTabSz="903288" eaLnBrk="0" latinLnBrk="0" hangingPunct="0"/>
              <a:t>2</a:t>
            </a:fld>
            <a:endParaRPr kumimoji="0" lang="en-US" altLang="ko-KR" sz="1200" b="1">
              <a:solidFill>
                <a:srgbClr val="000000"/>
              </a:solidFill>
              <a:latin typeface="Arial Narrow" panose="020B0606020202030204" pitchFamily="34" charset="0"/>
              <a:ea typeface="돋움" panose="020B0600000101010101" pitchFamily="50" charset="-127"/>
            </a:endParaRPr>
          </a:p>
        </p:txBody>
      </p:sp>
    </p:spTree>
    <p:extLst>
      <p:ext uri="{BB962C8B-B14F-4D97-AF65-F5344CB8AC3E}">
        <p14:creationId xmlns:p14="http://schemas.microsoft.com/office/powerpoint/2010/main" val="28026799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r>
              <a:rPr lang="en-US" dirty="0"/>
              <a:t>I see that first issue is high portion, it uses high about 76 percent. The line is happen issue so I </a:t>
            </a:r>
            <a:r>
              <a:rPr lang="en-US" dirty="0" err="1"/>
              <a:t>wanna</a:t>
            </a:r>
            <a:r>
              <a:rPr lang="en-US" dirty="0"/>
              <a:t> improve this issue</a:t>
            </a:r>
          </a:p>
        </p:txBody>
      </p:sp>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solidFill>
                  <a:prstClr val="black"/>
                </a:solidFill>
                <a:latin typeface="맑은 고딕"/>
              </a:rPr>
              <a:pPr>
                <a:defRPr/>
              </a:pPr>
              <a:t>3</a:t>
            </a:fld>
            <a:endParaRPr lang="ko-KR" altLang="en-US">
              <a:solidFill>
                <a:prstClr val="black"/>
              </a:solidFill>
              <a:latin typeface="맑은 고딕"/>
            </a:endParaRPr>
          </a:p>
        </p:txBody>
      </p:sp>
    </p:spTree>
    <p:extLst>
      <p:ext uri="{BB962C8B-B14F-4D97-AF65-F5344CB8AC3E}">
        <p14:creationId xmlns:p14="http://schemas.microsoft.com/office/powerpoint/2010/main" val="38650947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6D39352-3793-4FDF-909E-EC767B605A2F}" type="slidenum">
              <a:rPr lang="en-US" smtClean="0"/>
              <a:t>4</a:t>
            </a:fld>
            <a:endParaRPr lang="en-US"/>
          </a:p>
        </p:txBody>
      </p:sp>
    </p:spTree>
    <p:extLst>
      <p:ext uri="{BB962C8B-B14F-4D97-AF65-F5344CB8AC3E}">
        <p14:creationId xmlns:p14="http://schemas.microsoft.com/office/powerpoint/2010/main" val="35865104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solidFill>
                  <a:prstClr val="black"/>
                </a:solidFill>
              </a:rPr>
              <a:pPr>
                <a:defRPr/>
              </a:pPr>
              <a:t>5</a:t>
            </a:fld>
            <a:endParaRPr lang="ko-KR" altLang="en-US">
              <a:solidFill>
                <a:prstClr val="black"/>
              </a:solidFill>
            </a:endParaRPr>
          </a:p>
        </p:txBody>
      </p:sp>
    </p:spTree>
    <p:extLst>
      <p:ext uri="{BB962C8B-B14F-4D97-AF65-F5344CB8AC3E}">
        <p14:creationId xmlns:p14="http://schemas.microsoft.com/office/powerpoint/2010/main" val="37244138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normAutofit fontScale="92500" lnSpcReduction="20000"/>
          </a:bodyPr>
          <a:lstStyle/>
          <a:p>
            <a:pPr fontAlgn="t"/>
            <a:r>
              <a:rPr lang="vi-VN" sz="1200" b="1" i="0" kern="1200" dirty="0">
                <a:solidFill>
                  <a:schemeClr val="tx1"/>
                </a:solidFill>
                <a:effectLst/>
                <a:latin typeface="+mn-lt"/>
                <a:ea typeface="+mn-ea"/>
                <a:cs typeface="+mn-cs"/>
              </a:rPr>
              <a:t>Trước khi phân tích nguyên nhân, nhóm thực hiện Type 1 Gage Study để đánh giá độ lặp lại và độ chệch của hệ thống đo AVMT Distortion. Một mẫu chuẩn có Reference bằng 0.02 được đo lặp lại 30 lần.</a:t>
            </a:r>
            <a:endParaRPr lang="vi-VN" sz="1200" b="0" i="0" kern="1200" dirty="0">
              <a:solidFill>
                <a:schemeClr val="tx1"/>
              </a:solidFill>
              <a:effectLst/>
              <a:latin typeface="+mn-lt"/>
              <a:ea typeface="+mn-ea"/>
              <a:cs typeface="+mn-cs"/>
            </a:endParaRPr>
          </a:p>
          <a:p>
            <a:pPr fontAlgn="t"/>
            <a:r>
              <a:rPr lang="vi-VN" sz="1200" b="1" i="0" kern="1200" dirty="0">
                <a:solidFill>
                  <a:schemeClr val="tx1"/>
                </a:solidFill>
                <a:effectLst/>
                <a:latin typeface="+mn-lt"/>
                <a:ea typeface="+mn-ea"/>
                <a:cs typeface="+mn-cs"/>
              </a:rPr>
              <a:t>Trên Run Chart, tất cả kết quả đo đều nằm trong giới hạn Reference ±10% Tolerance và dao động quanh giá trị chuẩn, không xuất hiện điểm bất thường vượt giới hạn.</a:t>
            </a:r>
            <a:endParaRPr lang="vi-VN" sz="1200" b="0" i="0" kern="1200" dirty="0">
              <a:solidFill>
                <a:schemeClr val="tx1"/>
              </a:solidFill>
              <a:effectLst/>
              <a:latin typeface="+mn-lt"/>
              <a:ea typeface="+mn-ea"/>
              <a:cs typeface="+mn-cs"/>
            </a:endParaRPr>
          </a:p>
          <a:p>
            <a:pPr fontAlgn="t"/>
            <a:r>
              <a:rPr lang="vi-VN" sz="1200" b="1" i="0" kern="1200" dirty="0">
                <a:solidFill>
                  <a:schemeClr val="tx1"/>
                </a:solidFill>
                <a:effectLst/>
                <a:latin typeface="+mn-lt"/>
                <a:ea typeface="+mn-ea"/>
                <a:cs typeface="+mn-cs"/>
              </a:rPr>
              <a:t>Kết quả Cg và Cgk đều bằng 3.93, lớn hơn tiêu chuẩn 1.33, cho thấy hệ thống đo có độ lặp lại tốt. Mean bằng Reference 0.0200, Bias bằng 0 và P-value bằng 1.000, lớn hơn 0.05, nên không phát hiện bias có ý nghĩa thống kê.</a:t>
            </a:r>
            <a:endParaRPr lang="vi-VN" sz="1200" b="0" i="0" kern="1200" dirty="0">
              <a:solidFill>
                <a:schemeClr val="tx1"/>
              </a:solidFill>
              <a:effectLst/>
              <a:latin typeface="+mn-lt"/>
              <a:ea typeface="+mn-ea"/>
              <a:cs typeface="+mn-cs"/>
            </a:endParaRPr>
          </a:p>
          <a:p>
            <a:pPr fontAlgn="t"/>
            <a:r>
              <a:rPr lang="vi-VN" sz="1200" b="1" i="0" kern="1200" dirty="0">
                <a:solidFill>
                  <a:schemeClr val="tx1"/>
                </a:solidFill>
                <a:effectLst/>
                <a:latin typeface="+mn-lt"/>
                <a:ea typeface="+mn-ea"/>
                <a:cs typeface="+mn-cs"/>
              </a:rPr>
              <a:t>Vì vậy, hệ thống đo đạt Type 1 Gage Study và có thể tiếp tục thực hiện Type 2 Gage R&amp;R.</a:t>
            </a:r>
            <a:endParaRPr lang="vi-VN" sz="1200" b="0" i="0" kern="1200" dirty="0">
              <a:solidFill>
                <a:schemeClr val="tx1"/>
              </a:solidFill>
              <a:effectLst/>
              <a:latin typeface="+mn-lt"/>
              <a:ea typeface="+mn-ea"/>
              <a:cs typeface="+mn-cs"/>
            </a:endParaRPr>
          </a:p>
          <a:p>
            <a:pPr fontAlgn="t"/>
            <a:r>
              <a:rPr lang="vi-VN" sz="1200" b="0" i="0" kern="1200" dirty="0">
                <a:solidFill>
                  <a:schemeClr val="tx1"/>
                </a:solidFill>
                <a:effectLst/>
                <a:latin typeface="+mn-lt"/>
                <a:ea typeface="+mn-ea"/>
                <a:cs typeface="+mn-cs"/>
              </a:rPr>
              <a:t>Theo hướng dẫn của Minitab Type 1 Gage Study, Cg lớn hơn 1.33 cho thấy độ phân tán của phép đo đủ hẹp so với tolerance; Cg đánh giá repeatability, còn Cgk đánh giá thêm ảnh hưởng của bias.</a:t>
            </a:r>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endParaRPr lang="en-US" sz="1200" b="1" i="0" kern="1200" dirty="0">
              <a:solidFill>
                <a:schemeClr val="tx1"/>
              </a:solidFill>
              <a:effectLst/>
              <a:latin typeface="+mn-lt"/>
              <a:ea typeface="+mn-ea"/>
              <a:cs typeface="+mn-cs"/>
            </a:endParaRPr>
          </a:p>
          <a:p>
            <a:pPr fontAlgn="t"/>
            <a:r>
              <a:rPr lang="vi-VN" sz="1200" b="0" i="0" kern="1200" dirty="0">
                <a:solidFill>
                  <a:schemeClr val="tx1"/>
                </a:solidFill>
                <a:effectLst/>
                <a:latin typeface="+mn-lt"/>
                <a:ea typeface="+mn-ea"/>
                <a:cs typeface="+mn-cs"/>
              </a:rPr>
              <a:t>StDev cho biết các kết quả đo </a:t>
            </a:r>
            <a:r>
              <a:rPr lang="vi-VN" sz="1200" b="1" i="0" kern="1200" dirty="0">
                <a:solidFill>
                  <a:schemeClr val="tx1"/>
                </a:solidFill>
                <a:effectLst/>
                <a:latin typeface="+mn-lt"/>
                <a:ea typeface="+mn-ea"/>
                <a:cs typeface="+mn-cs"/>
              </a:rPr>
              <a:t>phân tán xa giá trị trung bình đến mức nào</a:t>
            </a:r>
            <a:r>
              <a:rPr lang="vi-VN" sz="1200" b="0" i="0" kern="1200" dirty="0">
                <a:solidFill>
                  <a:schemeClr val="tx1"/>
                </a:solidFill>
                <a:effectLst/>
                <a:latin typeface="+mn-lt"/>
                <a:ea typeface="+mn-ea"/>
                <a:cs typeface="+mn-cs"/>
              </a:rPr>
              <a:t>.</a:t>
            </a:r>
          </a:p>
          <a:p>
            <a:pPr fontAlgn="t"/>
            <a:r>
              <a:rPr lang="vi-VN" sz="1200" b="0" i="0" kern="1200" dirty="0">
                <a:solidFill>
                  <a:schemeClr val="tx1"/>
                </a:solidFill>
                <a:effectLst/>
                <a:latin typeface="+mn-lt"/>
                <a:ea typeface="+mn-ea"/>
                <a:cs typeface="+mn-cs"/>
              </a:rPr>
              <a:t>Hiểu rất đơn giản:</a:t>
            </a:r>
          </a:p>
          <a:p>
            <a:pPr fontAlgn="t"/>
            <a:r>
              <a:rPr lang="vi-VN" sz="1200" b="1" i="0" kern="1200" dirty="0">
                <a:solidFill>
                  <a:schemeClr val="tx1"/>
                </a:solidFill>
                <a:effectLst/>
                <a:latin typeface="+mn-lt"/>
                <a:ea typeface="+mn-ea"/>
                <a:cs typeface="+mn-cs"/>
              </a:rPr>
              <a:t>Mean</a:t>
            </a:r>
            <a:r>
              <a:rPr lang="vi-VN" sz="1200" b="0" i="0" kern="1200" dirty="0">
                <a:solidFill>
                  <a:schemeClr val="tx1"/>
                </a:solidFill>
                <a:effectLst/>
                <a:latin typeface="+mn-lt"/>
                <a:ea typeface="+mn-ea"/>
                <a:cs typeface="+mn-cs"/>
              </a:rPr>
              <a:t> cho biết dữ liệu nằm ở vị trí trung tâm nào.</a:t>
            </a:r>
          </a:p>
          <a:p>
            <a:pPr fontAlgn="t"/>
            <a:r>
              <a:rPr lang="vi-VN" sz="1200" b="1" i="0" kern="1200" dirty="0">
                <a:solidFill>
                  <a:schemeClr val="tx1"/>
                </a:solidFill>
                <a:effectLst/>
                <a:latin typeface="+mn-lt"/>
                <a:ea typeface="+mn-ea"/>
                <a:cs typeface="+mn-cs"/>
              </a:rPr>
              <a:t>StDev</a:t>
            </a:r>
            <a:r>
              <a:rPr lang="vi-VN" sz="1200" b="0" i="0" kern="1200" dirty="0">
                <a:solidFill>
                  <a:schemeClr val="tx1"/>
                </a:solidFill>
                <a:effectLst/>
                <a:latin typeface="+mn-lt"/>
                <a:ea typeface="+mn-ea"/>
                <a:cs typeface="+mn-cs"/>
              </a:rPr>
              <a:t> cho biết dữ liệu dao động rộng hay hẹp quanh Mean.</a:t>
            </a:r>
          </a:p>
          <a:p>
            <a:pPr marL="0" marR="0" lvl="0" indent="0" algn="l" defTabSz="914400" rtl="0" eaLnBrk="1" fontAlgn="t" latinLnBrk="0" hangingPunct="1">
              <a:lnSpc>
                <a:spcPct val="100000"/>
              </a:lnSpc>
              <a:spcBef>
                <a:spcPts val="0"/>
              </a:spcBef>
              <a:spcAft>
                <a:spcPts val="0"/>
              </a:spcAft>
              <a:buClrTx/>
              <a:buSzTx/>
              <a:buFontTx/>
              <a:buNone/>
              <a:tabLst/>
              <a:defRPr/>
            </a:pPr>
            <a:endParaRPr lang="en-US" sz="1200" b="1"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vi-VN" sz="1200" b="1" i="0" kern="1200" dirty="0">
                <a:solidFill>
                  <a:schemeClr val="tx1"/>
                </a:solidFill>
                <a:effectLst/>
                <a:latin typeface="+mn-lt"/>
                <a:ea typeface="+mn-ea"/>
                <a:cs typeface="+mn-cs"/>
              </a:rPr>
              <a:t>6 × StDev</a:t>
            </a:r>
            <a:r>
              <a:rPr lang="vi-VN" sz="1200" b="0" i="0" kern="1200" dirty="0">
                <a:solidFill>
                  <a:schemeClr val="tx1"/>
                </a:solidFill>
                <a:effectLst/>
                <a:latin typeface="+mn-lt"/>
                <a:ea typeface="+mn-ea"/>
                <a:cs typeface="+mn-cs"/>
              </a:rPr>
              <a:t> thường được dùng để biểu diễn </a:t>
            </a:r>
            <a:r>
              <a:rPr lang="vi-VN" sz="1200" b="1" i="0" kern="1200" dirty="0">
                <a:solidFill>
                  <a:schemeClr val="tx1"/>
                </a:solidFill>
                <a:effectLst/>
                <a:latin typeface="+mn-lt"/>
                <a:ea typeface="+mn-ea"/>
                <a:cs typeface="+mn-cs"/>
              </a:rPr>
              <a:t>độ rộng biến động tự nhiên của quá trình</a:t>
            </a:r>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Nếu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dữ</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liệu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gần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phân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phối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chuẩn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khoảng</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99.73%</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tổng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thể</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nằm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trong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khoảng</a:t>
            </a:r>
            <a:r>
              <a:rPr lang="en-US" sz="1200" b="0" i="0" kern="1200" dirty="0">
                <a:solidFill>
                  <a:schemeClr val="tx1"/>
                </a:solidFill>
                <a:effectLst/>
                <a:latin typeface="+mn-lt"/>
                <a:ea typeface="+mn-ea"/>
                <a:cs typeface="+mn-cs"/>
              </a:rPr>
              <a:t> Mean±3sMean \pm 3sMean±3s</a:t>
            </a:r>
          </a:p>
          <a:p>
            <a:pPr fontAlgn="t"/>
            <a:endParaRPr lang="vi-V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solidFill>
                  <a:prstClr val="black"/>
                </a:solidFill>
              </a:rPr>
              <a:pPr>
                <a:defRPr/>
              </a:pPr>
              <a:t>6</a:t>
            </a:fld>
            <a:endParaRPr lang="ko-KR" altLang="en-US">
              <a:solidFill>
                <a:prstClr val="black"/>
              </a:solidFill>
            </a:endParaRPr>
          </a:p>
        </p:txBody>
      </p:sp>
    </p:spTree>
    <p:extLst>
      <p:ext uri="{BB962C8B-B14F-4D97-AF65-F5344CB8AC3E}">
        <p14:creationId xmlns:p14="http://schemas.microsoft.com/office/powerpoint/2010/main" val="17690998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200" b="0" i="0" u="none" strike="noStrike" cap="none" normalizeH="0" baseline="0" dirty="0" err="1">
                <a:ln>
                  <a:noFill/>
                </a:ln>
                <a:solidFill>
                  <a:schemeClr val="tx1"/>
                </a:solidFill>
                <a:effectLst/>
                <a:latin typeface="LG Smart_H Regular" panose="020B0600000101010101" pitchFamily="34" charset="-127"/>
                <a:ea typeface="LG Smart_H Regular" panose="020B0600000101010101" pitchFamily="34" charset="-127"/>
              </a:rPr>
              <a:t>Start</a:t>
            </a:r>
            <a:r>
              <a:rPr kumimoji="1" lang="en-US" sz="1200" b="0" i="0" u="none" strike="noStrike" cap="none" normalizeH="0" baseline="0" dirty="0" err="1">
                <a:ln>
                  <a:noFill/>
                </a:ln>
                <a:solidFill>
                  <a:schemeClr val="tx1"/>
                </a:solidFill>
                <a:effectLst/>
                <a:latin typeface="LG Smart_H Regular" panose="020B0600000101010101" pitchFamily="34" charset="-127"/>
                <a:ea typeface="LG Smart_H Regular" panose="020B0600000101010101" pitchFamily="34" charset="-127"/>
                <a:sym typeface="Wingdings" panose="05000000000000000000" pitchFamily="2" charset="2"/>
              </a:rPr>
              <a:t>Quality</a:t>
            </a:r>
            <a:r>
              <a:rPr kumimoji="1" lang="en-US" sz="1200" b="0" i="0" u="none" strike="noStrike" cap="none" normalizeH="0" dirty="0">
                <a:ln>
                  <a:noFill/>
                </a:ln>
                <a:solidFill>
                  <a:schemeClr val="tx1"/>
                </a:solidFill>
                <a:effectLst/>
                <a:latin typeface="LG Smart_H Regular" panose="020B0600000101010101" pitchFamily="34" charset="-127"/>
                <a:ea typeface="LG Smart_H Regular" panose="020B0600000101010101" pitchFamily="34" charset="-127"/>
                <a:sym typeface="Wingdings" panose="05000000000000000000" pitchFamily="2" charset="2"/>
              </a:rPr>
              <a:t> </a:t>
            </a:r>
            <a:r>
              <a:rPr kumimoji="1" lang="en-US" sz="1200" b="0" i="0" u="none" strike="noStrike" cap="none" normalizeH="0" dirty="0" err="1">
                <a:ln>
                  <a:noFill/>
                </a:ln>
                <a:solidFill>
                  <a:schemeClr val="tx1"/>
                </a:solidFill>
                <a:effectLst/>
                <a:latin typeface="LG Smart_H Regular" panose="020B0600000101010101" pitchFamily="34" charset="-127"/>
                <a:ea typeface="LG Smart_H Regular" panose="020B0600000101010101" pitchFamily="34" charset="-127"/>
                <a:sym typeface="Wingdings" panose="05000000000000000000" pitchFamily="2" charset="2"/>
              </a:rPr>
              <a:t>toolGage</a:t>
            </a:r>
            <a:r>
              <a:rPr kumimoji="1" lang="en-US" sz="1200" b="0" i="0" u="none" strike="noStrike" cap="none" normalizeH="0" dirty="0">
                <a:ln>
                  <a:noFill/>
                </a:ln>
                <a:solidFill>
                  <a:schemeClr val="tx1"/>
                </a:solidFill>
                <a:effectLst/>
                <a:latin typeface="LG Smart_H Regular" panose="020B0600000101010101" pitchFamily="34" charset="-127"/>
                <a:ea typeface="LG Smart_H Regular" panose="020B0600000101010101" pitchFamily="34" charset="-127"/>
                <a:sym typeface="Wingdings" panose="05000000000000000000" pitchFamily="2" charset="2"/>
              </a:rPr>
              <a:t> </a:t>
            </a:r>
            <a:r>
              <a:rPr kumimoji="1" lang="en-US" sz="1200" b="0" i="0" u="none" strike="noStrike" cap="none" normalizeH="0" dirty="0" err="1">
                <a:ln>
                  <a:noFill/>
                </a:ln>
                <a:solidFill>
                  <a:schemeClr val="tx1"/>
                </a:solidFill>
                <a:effectLst/>
                <a:latin typeface="LG Smart_H Regular" panose="020B0600000101010101" pitchFamily="34" charset="-127"/>
                <a:ea typeface="LG Smart_H Regular" panose="020B0600000101010101" pitchFamily="34" charset="-127"/>
                <a:sym typeface="Wingdings" panose="05000000000000000000" pitchFamily="2" charset="2"/>
              </a:rPr>
              <a:t>studyGage</a:t>
            </a:r>
            <a:r>
              <a:rPr kumimoji="1" lang="en-US" sz="1200" b="0" i="0" u="none" strike="noStrike" cap="none" normalizeH="0" dirty="0">
                <a:ln>
                  <a:noFill/>
                </a:ln>
                <a:solidFill>
                  <a:schemeClr val="tx1"/>
                </a:solidFill>
                <a:effectLst/>
                <a:latin typeface="LG Smart_H Regular" panose="020B0600000101010101" pitchFamily="34" charset="-127"/>
                <a:ea typeface="LG Smart_H Regular" panose="020B0600000101010101" pitchFamily="34" charset="-127"/>
                <a:sym typeface="Wingdings" panose="05000000000000000000" pitchFamily="2" charset="2"/>
              </a:rPr>
              <a:t> run chart</a:t>
            </a:r>
            <a:endParaRPr kumimoji="1" lang="en-US" sz="1200" b="0" i="0" u="none" strike="noStrike" cap="none" normalizeH="0" dirty="0">
              <a:ln>
                <a:noFill/>
              </a:ln>
              <a:solidFill>
                <a:schemeClr val="tx1"/>
              </a:solidFill>
              <a:effectLst/>
              <a:latin typeface="LG Smart_H Regular" panose="020B0600000101010101" pitchFamily="34" charset="-127"/>
              <a:ea typeface="LG Smart_H Regular" panose="020B0600000101010101" pitchFamily="34" charset="-127"/>
            </a:endParaRPr>
          </a:p>
          <a:p>
            <a:endParaRPr lang="en-US" dirty="0"/>
          </a:p>
        </p:txBody>
      </p:sp>
      <p:sp>
        <p:nvSpPr>
          <p:cNvPr id="5" name="Slide Number Placeholder 4"/>
          <p:cNvSpPr>
            <a:spLocks noGrp="1"/>
          </p:cNvSpPr>
          <p:nvPr>
            <p:ph type="sldNum" sz="quarter" idx="10"/>
          </p:nvPr>
        </p:nvSpPr>
        <p:spPr/>
        <p:txBody>
          <a:bodyPr/>
          <a:lstStyle/>
          <a:p>
            <a:pPr>
              <a:defRPr/>
            </a:pPr>
            <a:fld id="{97375BCD-8584-40B1-BC96-764EEABFA733}" type="slidenum">
              <a:rPr lang="ko-KR" altLang="en-US" smtClean="0">
                <a:solidFill>
                  <a:prstClr val="black"/>
                </a:solidFill>
              </a:rPr>
              <a:pPr>
                <a:defRPr/>
              </a:pPr>
              <a:t>7</a:t>
            </a:fld>
            <a:endParaRPr lang="ko-KR" altLang="en-US">
              <a:solidFill>
                <a:prstClr val="black"/>
              </a:solidFill>
            </a:endParaRPr>
          </a:p>
        </p:txBody>
      </p:sp>
    </p:spTree>
    <p:extLst>
      <p:ext uri="{BB962C8B-B14F-4D97-AF65-F5344CB8AC3E}">
        <p14:creationId xmlns:p14="http://schemas.microsoft.com/office/powerpoint/2010/main" val="9106311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ko-KR" sz="1200" u="sng" dirty="0">
                <a:solidFill>
                  <a:srgbClr val="FF3300"/>
                </a:solidFill>
                <a:latin typeface="맑은 고딕" panose="020B0503020000020004" pitchFamily="50" charset="-127"/>
                <a:ea typeface="맑은 고딕" panose="020B0503020000020004" pitchFamily="50" charset="-127"/>
              </a:rPr>
              <a:t>Variances</a:t>
            </a:r>
            <a:r>
              <a:rPr lang="en-US" altLang="ko-KR" sz="1200" dirty="0">
                <a:latin typeface="맑은 고딕" panose="020B0503020000020004" pitchFamily="50" charset="-127"/>
                <a:ea typeface="맑은 고딕" panose="020B0503020000020004" pitchFamily="50" charset="-127"/>
              </a:rPr>
              <a:t> are subject to quality control and improvements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r>
              <a:rPr lang="en-US" sz="1200" b="0" i="0" kern="1200" dirty="0">
                <a:solidFill>
                  <a:schemeClr val="tx1"/>
                </a:solidFill>
                <a:effectLst/>
                <a:latin typeface="+mn-lt"/>
                <a:ea typeface="+mn-ea"/>
                <a:cs typeface="+mn-cs"/>
              </a:rPr>
              <a:t>1. How to process Type I? We need to measure 30 times for one sample which reference value is known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How to choose Sampling? </a:t>
            </a:r>
            <a:r>
              <a:rPr lang="en-US" sz="1200" b="0" i="0" kern="1200" dirty="0" err="1">
                <a:solidFill>
                  <a:schemeClr val="tx1"/>
                </a:solidFill>
                <a:effectLst/>
                <a:latin typeface="+mn-lt"/>
                <a:ea typeface="+mn-ea"/>
                <a:cs typeface="+mn-cs"/>
              </a:rPr>
              <a:t>Chọn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mẫu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như</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thế</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nào</a:t>
            </a:r>
            <a:r>
              <a:rPr lang="en-US" sz="1200" b="0" i="0" kern="1200" dirty="0">
                <a:solidFill>
                  <a:schemeClr val="tx1"/>
                </a:solidFill>
                <a:effectLst/>
                <a:latin typeface="+mn-lt"/>
                <a:ea typeface="+mn-ea"/>
                <a:cs typeface="+mn-cs"/>
              </a:rPr>
              <a:t>? Just choose random sample and know the reference value-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1 </a:t>
            </a:r>
            <a:r>
              <a:rPr lang="en-US" sz="1200" b="0" i="0" kern="1200" dirty="0" err="1">
                <a:solidFill>
                  <a:schemeClr val="tx1"/>
                </a:solidFill>
                <a:effectLst/>
                <a:latin typeface="+mn-lt"/>
                <a:ea typeface="+mn-ea"/>
                <a:cs typeface="+mn-cs"/>
              </a:rPr>
              <a:t>mẫu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ngẫu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nhiên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biết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trước</a:t>
            </a:r>
            <a:r>
              <a:rPr lang="en-US" sz="1200" b="0" i="0" kern="1200" dirty="0">
                <a:solidFill>
                  <a:schemeClr val="tx1"/>
                </a:solidFill>
                <a:effectLst/>
                <a:latin typeface="+mn-lt"/>
                <a:ea typeface="+mn-ea"/>
                <a:cs typeface="+mn-cs"/>
              </a:rPr>
              <a:t> reference value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2. How to get the reference value? </a:t>
            </a:r>
            <a:r>
              <a:rPr lang="en-US" sz="1200" b="0" i="0" kern="1200" dirty="0" err="1">
                <a:solidFill>
                  <a:schemeClr val="tx1"/>
                </a:solidFill>
                <a:effectLst/>
                <a:latin typeface="+mn-lt"/>
                <a:ea typeface="+mn-ea"/>
                <a:cs typeface="+mn-cs"/>
              </a:rPr>
              <a:t>Làm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sao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để</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có</a:t>
            </a:r>
            <a:r>
              <a:rPr lang="en-US" sz="1200" b="0" i="0" kern="1200" dirty="0">
                <a:solidFill>
                  <a:schemeClr val="tx1"/>
                </a:solidFill>
                <a:effectLst/>
                <a:latin typeface="+mn-lt"/>
                <a:ea typeface="+mn-ea"/>
                <a:cs typeface="+mn-cs"/>
              </a:rPr>
              <a:t> reference value?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There are two ways: Hai </a:t>
            </a:r>
            <a:r>
              <a:rPr lang="en-US" sz="1200" b="0" i="0" kern="1200" dirty="0" err="1">
                <a:solidFill>
                  <a:schemeClr val="tx1"/>
                </a:solidFill>
                <a:effectLst/>
                <a:latin typeface="+mn-lt"/>
                <a:ea typeface="+mn-ea"/>
                <a:cs typeface="+mn-cs"/>
              </a:rPr>
              <a:t>cách</a:t>
            </a:r>
            <a:r>
              <a:rPr lang="en-US" sz="1200" b="0" i="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 - First: Use equipment has high precision (accuracy) </a:t>
            </a:r>
            <a:r>
              <a:rPr lang="en-US" sz="1200" b="0" i="0" kern="1200" dirty="0" err="1">
                <a:solidFill>
                  <a:schemeClr val="tx1"/>
                </a:solidFill>
                <a:effectLst/>
                <a:latin typeface="+mn-lt"/>
                <a:ea typeface="+mn-ea"/>
                <a:cs typeface="+mn-cs"/>
              </a:rPr>
              <a:t>Sử</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dụng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thiết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bị</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chính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xác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cao</a:t>
            </a:r>
            <a:r>
              <a:rPr lang="en-US" sz="1200" b="0" i="0"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 Second: Measure one sample 10 times with equipment has high precision then get mean (average) of these measured values. </a:t>
            </a:r>
            <a:r>
              <a:rPr lang="en-US" sz="1200" b="0" i="0" kern="1200" dirty="0" err="1">
                <a:solidFill>
                  <a:schemeClr val="tx1"/>
                </a:solidFill>
                <a:effectLst/>
                <a:latin typeface="+mn-lt"/>
                <a:ea typeface="+mn-ea"/>
                <a:cs typeface="+mn-cs"/>
              </a:rPr>
              <a:t>Đo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lặp</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lại</a:t>
            </a:r>
            <a:r>
              <a:rPr lang="en-US" sz="1200" b="0" i="0" kern="1200" dirty="0">
                <a:solidFill>
                  <a:schemeClr val="tx1"/>
                </a:solidFill>
                <a:effectLst/>
                <a:latin typeface="+mn-lt"/>
                <a:ea typeface="+mn-ea"/>
                <a:cs typeface="+mn-cs"/>
              </a:rPr>
              <a:t> part 10 </a:t>
            </a:r>
            <a:r>
              <a:rPr lang="en-US" sz="1200" b="0" i="0" kern="1200" dirty="0" err="1">
                <a:solidFill>
                  <a:schemeClr val="tx1"/>
                </a:solidFill>
                <a:effectLst/>
                <a:latin typeface="+mn-lt"/>
                <a:ea typeface="+mn-ea"/>
                <a:cs typeface="+mn-cs"/>
              </a:rPr>
              <a:t>lần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với</a:t>
            </a:r>
            <a:r>
              <a:rPr lang="en-US" sz="1200" b="0" i="0" kern="1200" dirty="0">
                <a:solidFill>
                  <a:schemeClr val="tx1"/>
                </a:solidFill>
                <a:effectLst/>
                <a:latin typeface="+mn-lt"/>
                <a:ea typeface="+mn-ea"/>
                <a:cs typeface="+mn-cs"/>
              </a:rPr>
              <a:t> 1 </a:t>
            </a:r>
            <a:r>
              <a:rPr lang="en-US" sz="1200" b="0" i="0" kern="1200" dirty="0" err="1">
                <a:solidFill>
                  <a:schemeClr val="tx1"/>
                </a:solidFill>
                <a:effectLst/>
                <a:latin typeface="+mn-lt"/>
                <a:ea typeface="+mn-ea"/>
                <a:cs typeface="+mn-cs"/>
              </a:rPr>
              <a:t>dụng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cụ</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chính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xác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sau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đó</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lấy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trung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bình</a:t>
            </a:r>
            <a:r>
              <a:rPr lang="en-US" sz="1200" b="0" i="0"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3. Cg, </a:t>
            </a:r>
            <a:r>
              <a:rPr lang="en-US" sz="1200" b="0" i="0" kern="1200" dirty="0" err="1">
                <a:solidFill>
                  <a:schemeClr val="tx1"/>
                </a:solidFill>
                <a:effectLst/>
                <a:latin typeface="+mn-lt"/>
                <a:ea typeface="+mn-ea"/>
                <a:cs typeface="+mn-cs"/>
              </a:rPr>
              <a:t>Cgk</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là</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gì</a:t>
            </a:r>
            <a:r>
              <a:rPr lang="en-US" sz="1200" b="0" i="0" kern="1200" dirty="0">
                <a:solidFill>
                  <a:schemeClr val="tx1"/>
                </a:solidFill>
                <a:effectLst/>
                <a:latin typeface="+mn-lt"/>
                <a:ea typeface="+mn-ea"/>
                <a:cs typeface="+mn-cs"/>
              </a:rPr>
              <a:t>? Cg and </a:t>
            </a:r>
            <a:r>
              <a:rPr lang="en-US" sz="1200" b="0" i="0" kern="1200" dirty="0" err="1">
                <a:solidFill>
                  <a:schemeClr val="tx1"/>
                </a:solidFill>
                <a:effectLst/>
                <a:latin typeface="+mn-lt"/>
                <a:ea typeface="+mn-ea"/>
                <a:cs typeface="+mn-cs"/>
              </a:rPr>
              <a:t>Cgk</a:t>
            </a:r>
            <a:r>
              <a:rPr lang="en-US" sz="1200" b="0" i="0" kern="1200" dirty="0">
                <a:solidFill>
                  <a:schemeClr val="tx1"/>
                </a:solidFill>
                <a:effectLst/>
                <a:latin typeface="+mn-lt"/>
                <a:ea typeface="+mn-ea"/>
                <a:cs typeface="+mn-cs"/>
              </a:rPr>
              <a:t> are Measuring capacity index of measuring equipment --- </a:t>
            </a:r>
            <a:r>
              <a:rPr lang="en-US" sz="1200" b="0" i="0" kern="1200" dirty="0" err="1">
                <a:solidFill>
                  <a:schemeClr val="tx1"/>
                </a:solidFill>
                <a:effectLst/>
                <a:latin typeface="+mn-lt"/>
                <a:ea typeface="+mn-ea"/>
                <a:cs typeface="+mn-cs"/>
              </a:rPr>
              <a:t>Chỉ</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số</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năng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lực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đạc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của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thiết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bị</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Tiêu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chuẩn</a:t>
            </a:r>
            <a:r>
              <a:rPr lang="en-US" sz="1200" b="0" i="0" kern="1200" dirty="0">
                <a:solidFill>
                  <a:schemeClr val="tx1"/>
                </a:solidFill>
                <a:effectLst/>
                <a:latin typeface="+mn-lt"/>
                <a:ea typeface="+mn-ea"/>
                <a:cs typeface="+mn-cs"/>
              </a:rPr>
              <a:t>: Cg, </a:t>
            </a:r>
            <a:r>
              <a:rPr lang="en-US" sz="1200" b="0" i="0" kern="1200" dirty="0" err="1">
                <a:solidFill>
                  <a:schemeClr val="tx1"/>
                </a:solidFill>
                <a:effectLst/>
                <a:latin typeface="+mn-lt"/>
                <a:ea typeface="+mn-ea"/>
                <a:cs typeface="+mn-cs"/>
              </a:rPr>
              <a:t>Cgk</a:t>
            </a:r>
            <a:r>
              <a:rPr lang="en-US" sz="1200" b="0" i="0" kern="1200" dirty="0">
                <a:solidFill>
                  <a:schemeClr val="tx1"/>
                </a:solidFill>
                <a:effectLst/>
                <a:latin typeface="+mn-lt"/>
                <a:ea typeface="+mn-ea"/>
                <a:cs typeface="+mn-cs"/>
              </a:rPr>
              <a:t> &gt;=1.33 4.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Phân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biệt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giữa</a:t>
            </a:r>
            <a:r>
              <a:rPr lang="en-US" sz="1200" b="0" i="0" kern="1200" dirty="0">
                <a:solidFill>
                  <a:schemeClr val="tx1"/>
                </a:solidFill>
                <a:effectLst/>
                <a:latin typeface="+mn-lt"/>
                <a:ea typeface="+mn-ea"/>
                <a:cs typeface="+mn-cs"/>
              </a:rPr>
              <a:t> Cg vs </a:t>
            </a:r>
            <a:r>
              <a:rPr lang="en-US" sz="1200" b="0" i="0" kern="1200" dirty="0" err="1">
                <a:solidFill>
                  <a:schemeClr val="tx1"/>
                </a:solidFill>
                <a:effectLst/>
                <a:latin typeface="+mn-lt"/>
                <a:ea typeface="+mn-ea"/>
                <a:cs typeface="+mn-cs"/>
              </a:rPr>
              <a:t>Cgk</a:t>
            </a:r>
            <a:r>
              <a:rPr lang="en-US" sz="1200" b="0" i="0" kern="1200" dirty="0">
                <a:solidFill>
                  <a:schemeClr val="tx1"/>
                </a:solidFill>
                <a:effectLst/>
                <a:latin typeface="+mn-lt"/>
                <a:ea typeface="+mn-ea"/>
                <a:cs typeface="+mn-cs"/>
              </a:rPr>
              <a:t>? Cg is used when target and data mean are the same, </a:t>
            </a:r>
            <a:r>
              <a:rPr lang="en-US" sz="1200" b="0" i="0" kern="1200" dirty="0" err="1">
                <a:solidFill>
                  <a:schemeClr val="tx1"/>
                </a:solidFill>
                <a:effectLst/>
                <a:latin typeface="+mn-lt"/>
                <a:ea typeface="+mn-ea"/>
                <a:cs typeface="+mn-cs"/>
              </a:rPr>
              <a:t>Cgk</a:t>
            </a:r>
            <a:r>
              <a:rPr lang="en-US" sz="1200" b="0" i="0" kern="1200" dirty="0">
                <a:solidFill>
                  <a:schemeClr val="tx1"/>
                </a:solidFill>
                <a:effectLst/>
                <a:latin typeface="+mn-lt"/>
                <a:ea typeface="+mn-ea"/>
                <a:cs typeface="+mn-cs"/>
              </a:rPr>
              <a:t> is used in case target and data mean is not the same.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5. </a:t>
            </a:r>
            <a:r>
              <a:rPr lang="en-US" sz="1200" b="0" i="0" kern="1200" dirty="0" err="1">
                <a:solidFill>
                  <a:schemeClr val="tx1"/>
                </a:solidFill>
                <a:effectLst/>
                <a:latin typeface="+mn-lt"/>
                <a:ea typeface="+mn-ea"/>
                <a:cs typeface="+mn-cs"/>
              </a:rPr>
              <a:t>Công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thức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của</a:t>
            </a:r>
            <a:r>
              <a:rPr lang="en-US" sz="1200" b="0" i="0" kern="1200" dirty="0">
                <a:solidFill>
                  <a:schemeClr val="tx1"/>
                </a:solidFill>
                <a:effectLst/>
                <a:latin typeface="+mn-lt"/>
                <a:ea typeface="+mn-ea"/>
                <a:cs typeface="+mn-cs"/>
              </a:rPr>
              <a:t> Cg &amp;</a:t>
            </a:r>
            <a:r>
              <a:rPr lang="en-US" sz="1200" b="0" i="0" kern="1200" dirty="0" err="1">
                <a:solidFill>
                  <a:schemeClr val="tx1"/>
                </a:solidFill>
                <a:effectLst/>
                <a:latin typeface="+mn-lt"/>
                <a:ea typeface="+mn-ea"/>
                <a:cs typeface="+mn-cs"/>
              </a:rPr>
              <a:t>Cgk</a:t>
            </a:r>
            <a:r>
              <a:rPr lang="en-US" sz="1200" b="0" i="0" kern="1200" dirty="0">
                <a:solidFill>
                  <a:schemeClr val="tx1"/>
                </a:solidFill>
                <a:effectLst/>
                <a:latin typeface="+mn-lt"/>
                <a:ea typeface="+mn-ea"/>
                <a:cs typeface="+mn-cs"/>
              </a:rPr>
              <a:t>? Cp and </a:t>
            </a:r>
            <a:r>
              <a:rPr lang="en-US" sz="1200" b="0" i="0" kern="1200" dirty="0" err="1">
                <a:solidFill>
                  <a:schemeClr val="tx1"/>
                </a:solidFill>
                <a:effectLst/>
                <a:latin typeface="+mn-lt"/>
                <a:ea typeface="+mn-ea"/>
                <a:cs typeface="+mn-cs"/>
              </a:rPr>
              <a:t>Cpk</a:t>
            </a:r>
            <a:r>
              <a:rPr lang="en-US" sz="1200" b="0" i="0" kern="1200" dirty="0">
                <a:solidFill>
                  <a:schemeClr val="tx1"/>
                </a:solidFill>
                <a:effectLst/>
                <a:latin typeface="+mn-lt"/>
                <a:ea typeface="+mn-ea"/>
                <a:cs typeface="+mn-cs"/>
              </a:rPr>
              <a:t> are called Process Capability. Pp and </a:t>
            </a:r>
            <a:r>
              <a:rPr lang="en-US" sz="1200" b="0" i="0" kern="1200" dirty="0" err="1">
                <a:solidFill>
                  <a:schemeClr val="tx1"/>
                </a:solidFill>
                <a:effectLst/>
                <a:latin typeface="+mn-lt"/>
                <a:ea typeface="+mn-ea"/>
                <a:cs typeface="+mn-cs"/>
              </a:rPr>
              <a:t>Ppk</a:t>
            </a:r>
            <a:r>
              <a:rPr lang="en-US" sz="1200" b="0" i="0" kern="1200" dirty="0">
                <a:solidFill>
                  <a:schemeClr val="tx1"/>
                </a:solidFill>
                <a:effectLst/>
                <a:latin typeface="+mn-lt"/>
                <a:ea typeface="+mn-ea"/>
                <a:cs typeface="+mn-cs"/>
              </a:rPr>
              <a:t> are called Process Performance The index takes into consideration the fact that your data is maybe not centered.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How many method to select sample? Simple random Stratified Systematic Cluster Combination </a:t>
            </a:r>
            <a:r>
              <a:rPr lang="en-US" sz="1200" b="0" i="0" kern="1200" dirty="0" err="1">
                <a:solidFill>
                  <a:schemeClr val="tx1"/>
                </a:solidFill>
                <a:effectLst/>
                <a:latin typeface="+mn-lt"/>
                <a:ea typeface="+mn-ea"/>
                <a:cs typeface="+mn-cs"/>
              </a:rPr>
              <a:t>Tiêu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chuẩn</a:t>
            </a:r>
            <a:r>
              <a:rPr lang="en-US" sz="1200" b="0" i="0" kern="1200" dirty="0">
                <a:solidFill>
                  <a:schemeClr val="tx1"/>
                </a:solidFill>
                <a:effectLst/>
                <a:latin typeface="+mn-lt"/>
                <a:ea typeface="+mn-ea"/>
                <a:cs typeface="+mn-cs"/>
              </a:rPr>
              <a:t> resolution &lt;5% </a:t>
            </a:r>
            <a:r>
              <a:rPr lang="en-US" sz="1200" b="0" i="0" kern="1200" dirty="0" err="1">
                <a:solidFill>
                  <a:schemeClr val="tx1"/>
                </a:solidFill>
                <a:effectLst/>
                <a:latin typeface="+mn-lt"/>
                <a:ea typeface="+mn-ea"/>
                <a:cs typeface="+mn-cs"/>
              </a:rPr>
              <a:t>lấy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đâu</a:t>
            </a:r>
            <a:r>
              <a:rPr lang="en-US" sz="1200" b="0" i="0" kern="1200" dirty="0">
                <a:solidFill>
                  <a:schemeClr val="tx1"/>
                </a:solidFill>
                <a:effectLst/>
                <a:latin typeface="+mn-lt"/>
                <a:ea typeface="+mn-ea"/>
                <a:cs typeface="+mn-cs"/>
              </a:rPr>
              <a:t> ra? –Based on the standard of GM, Bosch, VDA 5 The acceptance criteria are less than 5% in GM, Bosch, … and less than 10% in AIAG, so the resolution of the instrument is satisfactory. Tolerance=T=USL-LSL %RE=RE/T</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ko-KR" sz="1200" dirty="0">
              <a:latin typeface="맑은 고딕" panose="020B0503020000020004" pitchFamily="50" charset="-127"/>
              <a:ea typeface="맑은 고딕" panose="020B0503020000020004" pitchFamily="50" charset="-127"/>
            </a:endParaRPr>
          </a:p>
          <a:p>
            <a:endParaRPr lang="en-US" dirty="0"/>
          </a:p>
        </p:txBody>
      </p:sp>
      <p:sp>
        <p:nvSpPr>
          <p:cNvPr id="4" name="Slide Number Placeholder 3"/>
          <p:cNvSpPr>
            <a:spLocks noGrp="1"/>
          </p:cNvSpPr>
          <p:nvPr>
            <p:ph type="sldNum" sz="quarter" idx="5"/>
          </p:nvPr>
        </p:nvSpPr>
        <p:spPr/>
        <p:txBody>
          <a:bodyPr/>
          <a:lstStyle/>
          <a:p>
            <a:fld id="{96D39352-3793-4FDF-909E-EC767B605A2F}" type="slidenum">
              <a:rPr lang="en-US" smtClean="0"/>
              <a:t>9</a:t>
            </a:fld>
            <a:endParaRPr lang="en-US"/>
          </a:p>
        </p:txBody>
      </p:sp>
    </p:spTree>
    <p:extLst>
      <p:ext uri="{BB962C8B-B14F-4D97-AF65-F5344CB8AC3E}">
        <p14:creationId xmlns:p14="http://schemas.microsoft.com/office/powerpoint/2010/main" val="30921224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6D39352-3793-4FDF-909E-EC767B605A2F}" type="slidenum">
              <a:rPr lang="en-US" smtClean="0"/>
              <a:t>10</a:t>
            </a:fld>
            <a:endParaRPr lang="en-US"/>
          </a:p>
        </p:txBody>
      </p:sp>
    </p:spTree>
    <p:extLst>
      <p:ext uri="{BB962C8B-B14F-4D97-AF65-F5344CB8AC3E}">
        <p14:creationId xmlns:p14="http://schemas.microsoft.com/office/powerpoint/2010/main" val="29871907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FF33B-25A1-6513-A02F-EF450FF0D3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0C1656-E1E5-A4F2-0572-EC0296A3B6DE}"/>
              </a:ext>
            </a:extLst>
          </p:cNvPr>
          <p:cNvSpPr>
            <a:spLocks noGrp="1" noRot="1" noChangeAspect="1"/>
          </p:cNvSpPr>
          <p:nvPr>
            <p:ph type="sldImg"/>
          </p:nvPr>
        </p:nvSpPr>
        <p:spPr>
          <a:xfrm>
            <a:off x="1200150" y="1143000"/>
            <a:ext cx="4457700" cy="3086100"/>
          </a:xfrm>
        </p:spPr>
      </p:sp>
      <p:sp>
        <p:nvSpPr>
          <p:cNvPr id="3" name="Notes Placeholder 2">
            <a:extLst>
              <a:ext uri="{FF2B5EF4-FFF2-40B4-BE49-F238E27FC236}">
                <a16:creationId xmlns:a16="http://schemas.microsoft.com/office/drawing/2014/main" id="{4A0F2F50-2C8E-30FF-7CBD-E9BDB0965C7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2B98C5A-6B32-E959-EA57-BF9B78CAE89F}"/>
              </a:ext>
            </a:extLst>
          </p:cNvPr>
          <p:cNvSpPr>
            <a:spLocks noGrp="1"/>
          </p:cNvSpPr>
          <p:nvPr>
            <p:ph type="sldNum" sz="quarter" idx="5"/>
          </p:nvPr>
        </p:nvSpPr>
        <p:spPr/>
        <p:txBody>
          <a:bodyPr/>
          <a:lstStyle/>
          <a:p>
            <a:fld id="{96D39352-3793-4FDF-909E-EC767B605A2F}" type="slidenum">
              <a:rPr lang="en-US" smtClean="0"/>
              <a:t>11</a:t>
            </a:fld>
            <a:endParaRPr lang="en-US"/>
          </a:p>
        </p:txBody>
      </p:sp>
    </p:spTree>
    <p:extLst>
      <p:ext uri="{BB962C8B-B14F-4D97-AF65-F5344CB8AC3E}">
        <p14:creationId xmlns:p14="http://schemas.microsoft.com/office/powerpoint/2010/main" val="39083242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t>Ghi thông số</a:t>
            </a:r>
            <a:endParaRPr lang="en-US" dirty="0"/>
          </a:p>
        </p:txBody>
      </p:sp>
    </p:spTree>
    <p:extLst>
      <p:ext uri="{BB962C8B-B14F-4D97-AF65-F5344CB8AC3E}">
        <p14:creationId xmlns:p14="http://schemas.microsoft.com/office/powerpoint/2010/main" val="13255490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0B448-E956-4894-4797-BE48897211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1DDCAC-4DB4-BF03-FA22-AA96D9AFF0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FC4AC1-7B4D-76CF-AAAA-D1EFCDB4FB08}"/>
              </a:ext>
            </a:extLst>
          </p:cNvP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4113692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5DCCA-1437-8B01-C4A1-BCF9F52148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CFCD1F-8764-EF64-C0F1-66BF26D747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951124-77A6-400B-AEEC-42BC30A88F65}"/>
              </a:ext>
            </a:extLst>
          </p:cNvP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3164245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B5182-0954-0F9E-3B0D-4F1994E6B4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2AFF8C-7388-11E4-64CB-34E103A570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EB7805-08D7-FFD2-D8DD-D4E413653093}"/>
              </a:ext>
            </a:extLst>
          </p:cNvP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0226607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t>Add conclusion</a:t>
            </a:r>
            <a:endParaRPr lang="en-US" dirty="0"/>
          </a:p>
        </p:txBody>
      </p:sp>
    </p:spTree>
    <p:extLst>
      <p:ext uri="{BB962C8B-B14F-4D97-AF65-F5344CB8AC3E}">
        <p14:creationId xmlns:p14="http://schemas.microsoft.com/office/powerpoint/2010/main" val="21029347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DD349-1CB8-EABE-CFFF-E62EDD3505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BDE507-DA02-F7DF-09C7-DCE8B173CF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F2A8C4-290E-A789-14FA-C263A7A56CB4}"/>
              </a:ext>
            </a:extLst>
          </p:cNvPr>
          <p:cNvSpPr>
            <a:spLocks noGrp="1"/>
          </p:cNvSpPr>
          <p:nvPr>
            <p:ph type="body" idx="1"/>
          </p:nvPr>
        </p:nvSpPr>
        <p:spPr/>
        <p:txBody>
          <a:bodyPr>
            <a:normAutofit/>
          </a:bodyPr>
          <a:lstStyle/>
          <a:p>
            <a:r>
              <a:rPr lang="en-US"/>
              <a:t>Add conclusion</a:t>
            </a:r>
            <a:endParaRPr lang="en-US" dirty="0"/>
          </a:p>
        </p:txBody>
      </p:sp>
    </p:spTree>
    <p:extLst>
      <p:ext uri="{BB962C8B-B14F-4D97-AF65-F5344CB8AC3E}">
        <p14:creationId xmlns:p14="http://schemas.microsoft.com/office/powerpoint/2010/main" val="361750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8D85B-E66A-14E0-40CC-F3D70F5A8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149C60-54EA-ACC2-AF66-CD7796EDCA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6CC511-9834-F0A3-C9BB-CD59AF5C43D8}"/>
              </a:ext>
            </a:extLst>
          </p:cNvPr>
          <p:cNvSpPr>
            <a:spLocks noGrp="1"/>
          </p:cNvSpPr>
          <p:nvPr>
            <p:ph type="body" idx="1"/>
          </p:nvPr>
        </p:nvSpPr>
        <p:spPr/>
        <p:txBody>
          <a:bodyPr>
            <a:normAutofit/>
          </a:bodyPr>
          <a:lstStyle/>
          <a:p>
            <a:r>
              <a:rPr lang="en-US"/>
              <a:t>Add conclusion</a:t>
            </a:r>
            <a:endParaRPr lang="en-US" dirty="0"/>
          </a:p>
        </p:txBody>
      </p:sp>
    </p:spTree>
    <p:extLst>
      <p:ext uri="{BB962C8B-B14F-4D97-AF65-F5344CB8AC3E}">
        <p14:creationId xmlns:p14="http://schemas.microsoft.com/office/powerpoint/2010/main" val="4525085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BA812-C9F4-B247-2B97-2E6413BFFE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582234-B6D5-08BD-1D2F-A158D3D237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9B6DD-6018-6E72-3D6D-B8284BFF6C51}"/>
              </a:ext>
            </a:extLst>
          </p:cNvPr>
          <p:cNvSpPr>
            <a:spLocks noGrp="1"/>
          </p:cNvSpPr>
          <p:nvPr>
            <p:ph type="body" idx="1"/>
          </p:nvPr>
        </p:nvSpPr>
        <p:spPr/>
        <p:txBody>
          <a:bodyPr>
            <a:normAutofit/>
          </a:bodyPr>
          <a:lstStyle/>
          <a:p>
            <a:r>
              <a:rPr lang="en-US"/>
              <a:t>Add conclusion</a:t>
            </a:r>
            <a:endParaRPr lang="en-US" dirty="0"/>
          </a:p>
        </p:txBody>
      </p:sp>
    </p:spTree>
    <p:extLst>
      <p:ext uri="{BB962C8B-B14F-4D97-AF65-F5344CB8AC3E}">
        <p14:creationId xmlns:p14="http://schemas.microsoft.com/office/powerpoint/2010/main" val="19673964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21</a:t>
            </a:fld>
            <a:endParaRPr lang="ko-KR" altLang="en-US"/>
          </a:p>
        </p:txBody>
      </p:sp>
    </p:spTree>
    <p:extLst>
      <p:ext uri="{BB962C8B-B14F-4D97-AF65-F5344CB8AC3E}">
        <p14:creationId xmlns:p14="http://schemas.microsoft.com/office/powerpoint/2010/main" val="33050626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8081E-B6C9-7DB5-7EFA-194412E31B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E64C44-4CC1-624D-ED8B-53470169FBAD}"/>
              </a:ext>
            </a:extLst>
          </p:cNvPr>
          <p:cNvSpPr>
            <a:spLocks noGrp="1" noRot="1" noChangeAspect="1"/>
          </p:cNvSpPr>
          <p:nvPr>
            <p:ph type="sldImg"/>
          </p:nvPr>
        </p:nvSpPr>
        <p:spPr>
          <a:xfrm>
            <a:off x="1200150" y="1143000"/>
            <a:ext cx="4457700" cy="3086100"/>
          </a:xfrm>
        </p:spPr>
      </p:sp>
      <p:sp>
        <p:nvSpPr>
          <p:cNvPr id="3" name="Notes Placeholder 2">
            <a:extLst>
              <a:ext uri="{FF2B5EF4-FFF2-40B4-BE49-F238E27FC236}">
                <a16:creationId xmlns:a16="http://schemas.microsoft.com/office/drawing/2014/main" id="{5382AD7A-95E3-4852-4517-A7876698957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F711014-BF10-049C-B8FC-9A69D2F2FAA5}"/>
              </a:ext>
            </a:extLst>
          </p:cNvPr>
          <p:cNvSpPr>
            <a:spLocks noGrp="1"/>
          </p:cNvSpPr>
          <p:nvPr>
            <p:ph type="sldNum" sz="quarter" idx="10"/>
          </p:nvPr>
        </p:nvSpPr>
        <p:spPr/>
        <p:txBody>
          <a:bodyPr/>
          <a:lstStyle/>
          <a:p>
            <a:pPr>
              <a:defRPr/>
            </a:pPr>
            <a:fld id="{97375BCD-8584-40B1-BC96-764EEABFA733}" type="slidenum">
              <a:rPr lang="ko-KR" altLang="en-US" smtClean="0"/>
              <a:pPr>
                <a:defRPr/>
              </a:pPr>
              <a:t>22</a:t>
            </a:fld>
            <a:endParaRPr lang="ko-KR" altLang="en-US"/>
          </a:p>
        </p:txBody>
      </p:sp>
    </p:spTree>
    <p:extLst>
      <p:ext uri="{BB962C8B-B14F-4D97-AF65-F5344CB8AC3E}">
        <p14:creationId xmlns:p14="http://schemas.microsoft.com/office/powerpoint/2010/main" val="36593259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23</a:t>
            </a:fld>
            <a:endParaRPr lang="ko-KR" altLang="en-US"/>
          </a:p>
        </p:txBody>
      </p:sp>
    </p:spTree>
    <p:extLst>
      <p:ext uri="{BB962C8B-B14F-4D97-AF65-F5344CB8AC3E}">
        <p14:creationId xmlns:p14="http://schemas.microsoft.com/office/powerpoint/2010/main" val="24887704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5CCFC-CFBE-9EE3-285F-C1984AE092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8A8AD9-2F27-963A-0351-D036AB24606B}"/>
              </a:ext>
            </a:extLst>
          </p:cNvPr>
          <p:cNvSpPr>
            <a:spLocks noGrp="1" noRot="1" noChangeAspect="1"/>
          </p:cNvSpPr>
          <p:nvPr>
            <p:ph type="sldImg"/>
          </p:nvPr>
        </p:nvSpPr>
        <p:spPr>
          <a:xfrm>
            <a:off x="1200150" y="1143000"/>
            <a:ext cx="4457700" cy="3086100"/>
          </a:xfrm>
        </p:spPr>
      </p:sp>
      <p:sp>
        <p:nvSpPr>
          <p:cNvPr id="3" name="Notes Placeholder 2">
            <a:extLst>
              <a:ext uri="{FF2B5EF4-FFF2-40B4-BE49-F238E27FC236}">
                <a16:creationId xmlns:a16="http://schemas.microsoft.com/office/drawing/2014/main" id="{83C448E7-D938-54C3-F007-FCE02F2952F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084A32C-37DB-0ED4-862A-C2BEF3BDC53E}"/>
              </a:ext>
            </a:extLst>
          </p:cNvPr>
          <p:cNvSpPr>
            <a:spLocks noGrp="1"/>
          </p:cNvSpPr>
          <p:nvPr>
            <p:ph type="sldNum" sz="quarter" idx="10"/>
          </p:nvPr>
        </p:nvSpPr>
        <p:spPr/>
        <p:txBody>
          <a:bodyPr/>
          <a:lstStyle/>
          <a:p>
            <a:pPr>
              <a:defRPr/>
            </a:pPr>
            <a:fld id="{97375BCD-8584-40B1-BC96-764EEABFA733}" type="slidenum">
              <a:rPr lang="ko-KR" altLang="en-US" smtClean="0"/>
              <a:pPr>
                <a:defRPr/>
              </a:pPr>
              <a:t>24</a:t>
            </a:fld>
            <a:endParaRPr lang="ko-KR" altLang="en-US"/>
          </a:p>
        </p:txBody>
      </p:sp>
    </p:spTree>
    <p:extLst>
      <p:ext uri="{BB962C8B-B14F-4D97-AF65-F5344CB8AC3E}">
        <p14:creationId xmlns:p14="http://schemas.microsoft.com/office/powerpoint/2010/main" val="18910106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E9261-B741-ABF9-3E66-AE6B7D40FA54}"/>
              </a:ext>
            </a:extLst>
          </p:cNvPr>
          <p:cNvSpPr>
            <a:spLocks noGrp="1"/>
          </p:cNvSpPr>
          <p:nvPr>
            <p:ph type="ctrTitle"/>
          </p:nvPr>
        </p:nvSpPr>
        <p:spPr>
          <a:xfrm>
            <a:off x="1238250" y="1122363"/>
            <a:ext cx="74295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1A75DA3-2945-C8D7-10D7-051E96CAF265}"/>
              </a:ext>
            </a:extLst>
          </p:cNvPr>
          <p:cNvSpPr>
            <a:spLocks noGrp="1"/>
          </p:cNvSpPr>
          <p:nvPr>
            <p:ph type="subTitle" idx="1"/>
          </p:nvPr>
        </p:nvSpPr>
        <p:spPr>
          <a:xfrm>
            <a:off x="1238250" y="3602038"/>
            <a:ext cx="7429500" cy="1655762"/>
          </a:xfrm>
        </p:spPr>
        <p:txBody>
          <a:bodyPr/>
          <a:lstStyle>
            <a:lvl1pPr marL="0" indent="0" algn="ctr">
              <a:buNone/>
              <a:defRPr sz="2400"/>
            </a:lvl1pPr>
            <a:lvl2pPr marL="457198" indent="0" algn="ctr">
              <a:buNone/>
              <a:defRPr sz="2000"/>
            </a:lvl2pPr>
            <a:lvl3pPr marL="914395" indent="0" algn="ctr">
              <a:buNone/>
              <a:defRPr sz="1800"/>
            </a:lvl3pPr>
            <a:lvl4pPr marL="1371592" indent="0" algn="ctr">
              <a:buNone/>
              <a:defRPr sz="1600"/>
            </a:lvl4pPr>
            <a:lvl5pPr marL="1828789" indent="0" algn="ctr">
              <a:buNone/>
              <a:defRPr sz="1600"/>
            </a:lvl5pPr>
            <a:lvl6pPr marL="2285987" indent="0" algn="ctr">
              <a:buNone/>
              <a:defRPr sz="1600"/>
            </a:lvl6pPr>
            <a:lvl7pPr marL="2743185" indent="0" algn="ctr">
              <a:buNone/>
              <a:defRPr sz="1600"/>
            </a:lvl7pPr>
            <a:lvl8pPr marL="3200381" indent="0" algn="ctr">
              <a:buNone/>
              <a:defRPr sz="1600"/>
            </a:lvl8pPr>
            <a:lvl9pPr marL="3657579"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33489E8-EEA1-0093-5373-5FC52218D7AD}"/>
              </a:ext>
            </a:extLst>
          </p:cNvPr>
          <p:cNvSpPr>
            <a:spLocks noGrp="1"/>
          </p:cNvSpPr>
          <p:nvPr>
            <p:ph type="dt" sz="half" idx="10"/>
          </p:nvPr>
        </p:nvSpPr>
        <p:spPr/>
        <p:txBody>
          <a:bodyPr/>
          <a:lstStyle/>
          <a:p>
            <a:fld id="{4ECD0A30-6079-4AF3-8202-4D981D714E14}" type="datetimeFigureOut">
              <a:rPr lang="en-US" smtClean="0"/>
              <a:t>10/12/2026</a:t>
            </a:fld>
            <a:endParaRPr lang="en-US"/>
          </a:p>
        </p:txBody>
      </p:sp>
      <p:sp>
        <p:nvSpPr>
          <p:cNvPr id="5" name="Footer Placeholder 4">
            <a:extLst>
              <a:ext uri="{FF2B5EF4-FFF2-40B4-BE49-F238E27FC236}">
                <a16:creationId xmlns:a16="http://schemas.microsoft.com/office/drawing/2014/main" id="{40776069-9F69-78B8-BEB5-CDDF73E4C4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C5FD21-3DE2-2677-8BEC-91657F9C8403}"/>
              </a:ext>
            </a:extLst>
          </p:cNvPr>
          <p:cNvSpPr>
            <a:spLocks noGrp="1"/>
          </p:cNvSpPr>
          <p:nvPr>
            <p:ph type="sldNum" sz="quarter" idx="12"/>
          </p:nvPr>
        </p:nvSpPr>
        <p:spPr/>
        <p:txBody>
          <a:bodyPr/>
          <a:lstStyle/>
          <a:p>
            <a:fld id="{03F7496B-6883-4D18-B2DB-1E1E1D8F1E24}" type="slidenum">
              <a:rPr lang="en-US" smtClean="0"/>
              <a:t>‹#›</a:t>
            </a:fld>
            <a:endParaRPr lang="en-US"/>
          </a:p>
        </p:txBody>
      </p:sp>
    </p:spTree>
    <p:extLst>
      <p:ext uri="{BB962C8B-B14F-4D97-AF65-F5344CB8AC3E}">
        <p14:creationId xmlns:p14="http://schemas.microsoft.com/office/powerpoint/2010/main" val="41484211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092ED-01EE-D71B-2BA9-3ADF1297415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1E31C81-3E03-8EFE-3B39-9774EEE99A0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794E51-049D-922D-A78B-6ED723ADC850}"/>
              </a:ext>
            </a:extLst>
          </p:cNvPr>
          <p:cNvSpPr>
            <a:spLocks noGrp="1"/>
          </p:cNvSpPr>
          <p:nvPr>
            <p:ph type="dt" sz="half" idx="10"/>
          </p:nvPr>
        </p:nvSpPr>
        <p:spPr/>
        <p:txBody>
          <a:bodyPr/>
          <a:lstStyle/>
          <a:p>
            <a:fld id="{4ECD0A30-6079-4AF3-8202-4D981D714E14}" type="datetimeFigureOut">
              <a:rPr lang="en-US" smtClean="0"/>
              <a:t>10/12/2026</a:t>
            </a:fld>
            <a:endParaRPr lang="en-US"/>
          </a:p>
        </p:txBody>
      </p:sp>
      <p:sp>
        <p:nvSpPr>
          <p:cNvPr id="5" name="Footer Placeholder 4">
            <a:extLst>
              <a:ext uri="{FF2B5EF4-FFF2-40B4-BE49-F238E27FC236}">
                <a16:creationId xmlns:a16="http://schemas.microsoft.com/office/drawing/2014/main" id="{82B68C11-0A82-86FC-A36D-C9ABC5288D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9A3184-9613-5A87-C305-E3E41027FFB9}"/>
              </a:ext>
            </a:extLst>
          </p:cNvPr>
          <p:cNvSpPr>
            <a:spLocks noGrp="1"/>
          </p:cNvSpPr>
          <p:nvPr>
            <p:ph type="sldNum" sz="quarter" idx="12"/>
          </p:nvPr>
        </p:nvSpPr>
        <p:spPr/>
        <p:txBody>
          <a:bodyPr/>
          <a:lstStyle/>
          <a:p>
            <a:fld id="{03F7496B-6883-4D18-B2DB-1E1E1D8F1E24}" type="slidenum">
              <a:rPr lang="en-US" smtClean="0"/>
              <a:t>‹#›</a:t>
            </a:fld>
            <a:endParaRPr lang="en-US"/>
          </a:p>
        </p:txBody>
      </p:sp>
    </p:spTree>
    <p:extLst>
      <p:ext uri="{BB962C8B-B14F-4D97-AF65-F5344CB8AC3E}">
        <p14:creationId xmlns:p14="http://schemas.microsoft.com/office/powerpoint/2010/main" val="1049914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2221-2873-18D5-F2A0-397061825676}"/>
              </a:ext>
            </a:extLst>
          </p:cNvPr>
          <p:cNvSpPr>
            <a:spLocks noGrp="1"/>
          </p:cNvSpPr>
          <p:nvPr>
            <p:ph type="title"/>
          </p:nvPr>
        </p:nvSpPr>
        <p:spPr>
          <a:xfrm>
            <a:off x="675880" y="1709742"/>
            <a:ext cx="8543925"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C434753-9CB9-4F09-EFCD-57259C6CBF2D}"/>
              </a:ext>
            </a:extLst>
          </p:cNvPr>
          <p:cNvSpPr>
            <a:spLocks noGrp="1"/>
          </p:cNvSpPr>
          <p:nvPr>
            <p:ph type="body" idx="1"/>
          </p:nvPr>
        </p:nvSpPr>
        <p:spPr>
          <a:xfrm>
            <a:off x="675880" y="4589467"/>
            <a:ext cx="8543925" cy="1500187"/>
          </a:xfrm>
        </p:spPr>
        <p:txBody>
          <a:bodyPr/>
          <a:lstStyle>
            <a:lvl1pPr marL="0" indent="0">
              <a:buNone/>
              <a:defRPr sz="2400">
                <a:solidFill>
                  <a:schemeClr val="tx1">
                    <a:tint val="82000"/>
                  </a:schemeClr>
                </a:solidFill>
              </a:defRPr>
            </a:lvl1pPr>
            <a:lvl2pPr marL="457198" indent="0">
              <a:buNone/>
              <a:defRPr sz="2000">
                <a:solidFill>
                  <a:schemeClr val="tx1">
                    <a:tint val="82000"/>
                  </a:schemeClr>
                </a:solidFill>
              </a:defRPr>
            </a:lvl2pPr>
            <a:lvl3pPr marL="914395" indent="0">
              <a:buNone/>
              <a:defRPr sz="1800">
                <a:solidFill>
                  <a:schemeClr val="tx1">
                    <a:tint val="82000"/>
                  </a:schemeClr>
                </a:solidFill>
              </a:defRPr>
            </a:lvl3pPr>
            <a:lvl4pPr marL="1371592" indent="0">
              <a:buNone/>
              <a:defRPr sz="1600">
                <a:solidFill>
                  <a:schemeClr val="tx1">
                    <a:tint val="82000"/>
                  </a:schemeClr>
                </a:solidFill>
              </a:defRPr>
            </a:lvl4pPr>
            <a:lvl5pPr marL="1828789" indent="0">
              <a:buNone/>
              <a:defRPr sz="1600">
                <a:solidFill>
                  <a:schemeClr val="tx1">
                    <a:tint val="82000"/>
                  </a:schemeClr>
                </a:solidFill>
              </a:defRPr>
            </a:lvl5pPr>
            <a:lvl6pPr marL="2285987" indent="0">
              <a:buNone/>
              <a:defRPr sz="1600">
                <a:solidFill>
                  <a:schemeClr val="tx1">
                    <a:tint val="82000"/>
                  </a:schemeClr>
                </a:solidFill>
              </a:defRPr>
            </a:lvl6pPr>
            <a:lvl7pPr marL="2743185" indent="0">
              <a:buNone/>
              <a:defRPr sz="1600">
                <a:solidFill>
                  <a:schemeClr val="tx1">
                    <a:tint val="82000"/>
                  </a:schemeClr>
                </a:solidFill>
              </a:defRPr>
            </a:lvl7pPr>
            <a:lvl8pPr marL="3200381" indent="0">
              <a:buNone/>
              <a:defRPr sz="1600">
                <a:solidFill>
                  <a:schemeClr val="tx1">
                    <a:tint val="82000"/>
                  </a:schemeClr>
                </a:solidFill>
              </a:defRPr>
            </a:lvl8pPr>
            <a:lvl9pPr marL="3657579"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75B1656-45C5-BDEE-6C94-74D6A9AF9DCD}"/>
              </a:ext>
            </a:extLst>
          </p:cNvPr>
          <p:cNvSpPr>
            <a:spLocks noGrp="1"/>
          </p:cNvSpPr>
          <p:nvPr>
            <p:ph type="dt" sz="half" idx="10"/>
          </p:nvPr>
        </p:nvSpPr>
        <p:spPr/>
        <p:txBody>
          <a:bodyPr/>
          <a:lstStyle/>
          <a:p>
            <a:fld id="{4ECD0A30-6079-4AF3-8202-4D981D714E14}" type="datetimeFigureOut">
              <a:rPr lang="en-US" smtClean="0"/>
              <a:t>10/12/2026</a:t>
            </a:fld>
            <a:endParaRPr lang="en-US"/>
          </a:p>
        </p:txBody>
      </p:sp>
      <p:sp>
        <p:nvSpPr>
          <p:cNvPr id="5" name="Footer Placeholder 4">
            <a:extLst>
              <a:ext uri="{FF2B5EF4-FFF2-40B4-BE49-F238E27FC236}">
                <a16:creationId xmlns:a16="http://schemas.microsoft.com/office/drawing/2014/main" id="{0D33F9E7-D55C-76A6-C0D8-45E7CE16C9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B3F80B-F48F-A30F-02C6-CCD03BFF9D47}"/>
              </a:ext>
            </a:extLst>
          </p:cNvPr>
          <p:cNvSpPr>
            <a:spLocks noGrp="1"/>
          </p:cNvSpPr>
          <p:nvPr>
            <p:ph type="sldNum" sz="quarter" idx="12"/>
          </p:nvPr>
        </p:nvSpPr>
        <p:spPr/>
        <p:txBody>
          <a:bodyPr/>
          <a:lstStyle/>
          <a:p>
            <a:fld id="{03F7496B-6883-4D18-B2DB-1E1E1D8F1E24}" type="slidenum">
              <a:rPr lang="en-US" smtClean="0"/>
              <a:t>‹#›</a:t>
            </a:fld>
            <a:endParaRPr lang="en-US"/>
          </a:p>
        </p:txBody>
      </p:sp>
    </p:spTree>
    <p:extLst>
      <p:ext uri="{BB962C8B-B14F-4D97-AF65-F5344CB8AC3E}">
        <p14:creationId xmlns:p14="http://schemas.microsoft.com/office/powerpoint/2010/main" val="38921228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7C452-F3B4-EC92-D280-793CB4CFD42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547131B-1D36-0427-A645-F7AC0188E61F}"/>
              </a:ext>
            </a:extLst>
          </p:cNvPr>
          <p:cNvSpPr>
            <a:spLocks noGrp="1"/>
          </p:cNvSpPr>
          <p:nvPr>
            <p:ph sz="half" idx="1"/>
          </p:nvPr>
        </p:nvSpPr>
        <p:spPr>
          <a:xfrm>
            <a:off x="681038"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8DE8A1E-E5F3-DA88-5F1A-1D3AFE21FB5B}"/>
              </a:ext>
            </a:extLst>
          </p:cNvPr>
          <p:cNvSpPr>
            <a:spLocks noGrp="1"/>
          </p:cNvSpPr>
          <p:nvPr>
            <p:ph sz="half" idx="2"/>
          </p:nvPr>
        </p:nvSpPr>
        <p:spPr>
          <a:xfrm>
            <a:off x="5014913"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362DBD9-0536-EB9B-4678-4AF0C7436FDE}"/>
              </a:ext>
            </a:extLst>
          </p:cNvPr>
          <p:cNvSpPr>
            <a:spLocks noGrp="1"/>
          </p:cNvSpPr>
          <p:nvPr>
            <p:ph type="dt" sz="half" idx="10"/>
          </p:nvPr>
        </p:nvSpPr>
        <p:spPr/>
        <p:txBody>
          <a:bodyPr/>
          <a:lstStyle/>
          <a:p>
            <a:fld id="{4ECD0A30-6079-4AF3-8202-4D981D714E14}" type="datetimeFigureOut">
              <a:rPr lang="en-US" smtClean="0"/>
              <a:t>10/12/2026</a:t>
            </a:fld>
            <a:endParaRPr lang="en-US"/>
          </a:p>
        </p:txBody>
      </p:sp>
      <p:sp>
        <p:nvSpPr>
          <p:cNvPr id="6" name="Footer Placeholder 5">
            <a:extLst>
              <a:ext uri="{FF2B5EF4-FFF2-40B4-BE49-F238E27FC236}">
                <a16:creationId xmlns:a16="http://schemas.microsoft.com/office/drawing/2014/main" id="{12CA8132-B705-3985-8ECC-FA19F94A07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BE34D2-9BC0-79EE-E545-933D90DA36C0}"/>
              </a:ext>
            </a:extLst>
          </p:cNvPr>
          <p:cNvSpPr>
            <a:spLocks noGrp="1"/>
          </p:cNvSpPr>
          <p:nvPr>
            <p:ph type="sldNum" sz="quarter" idx="12"/>
          </p:nvPr>
        </p:nvSpPr>
        <p:spPr/>
        <p:txBody>
          <a:bodyPr/>
          <a:lstStyle/>
          <a:p>
            <a:fld id="{03F7496B-6883-4D18-B2DB-1E1E1D8F1E24}" type="slidenum">
              <a:rPr lang="en-US" smtClean="0"/>
              <a:t>‹#›</a:t>
            </a:fld>
            <a:endParaRPr lang="en-US"/>
          </a:p>
        </p:txBody>
      </p:sp>
    </p:spTree>
    <p:extLst>
      <p:ext uri="{BB962C8B-B14F-4D97-AF65-F5344CB8AC3E}">
        <p14:creationId xmlns:p14="http://schemas.microsoft.com/office/powerpoint/2010/main" val="39327142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B982F-D56B-45BD-8C76-87A86AB76A86}"/>
              </a:ext>
            </a:extLst>
          </p:cNvPr>
          <p:cNvSpPr>
            <a:spLocks noGrp="1"/>
          </p:cNvSpPr>
          <p:nvPr>
            <p:ph type="title"/>
          </p:nvPr>
        </p:nvSpPr>
        <p:spPr>
          <a:xfrm>
            <a:off x="682329" y="365129"/>
            <a:ext cx="8543925"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6A8432C-5D5C-3A5E-111E-4CF6A4106233}"/>
              </a:ext>
            </a:extLst>
          </p:cNvPr>
          <p:cNvSpPr>
            <a:spLocks noGrp="1"/>
          </p:cNvSpPr>
          <p:nvPr>
            <p:ph type="body" idx="1"/>
          </p:nvPr>
        </p:nvSpPr>
        <p:spPr>
          <a:xfrm>
            <a:off x="682329" y="1681163"/>
            <a:ext cx="4190702" cy="823912"/>
          </a:xfrm>
        </p:spPr>
        <p:txBody>
          <a:bodyPr anchor="b"/>
          <a:lstStyle>
            <a:lvl1pPr marL="0" indent="0">
              <a:buNone/>
              <a:defRPr sz="2400" b="1"/>
            </a:lvl1pPr>
            <a:lvl2pPr marL="457198" indent="0">
              <a:buNone/>
              <a:defRPr sz="2000" b="1"/>
            </a:lvl2pPr>
            <a:lvl3pPr marL="914395" indent="0">
              <a:buNone/>
              <a:defRPr sz="1800" b="1"/>
            </a:lvl3pPr>
            <a:lvl4pPr marL="1371592" indent="0">
              <a:buNone/>
              <a:defRPr sz="1600" b="1"/>
            </a:lvl4pPr>
            <a:lvl5pPr marL="1828789" indent="0">
              <a:buNone/>
              <a:defRPr sz="1600" b="1"/>
            </a:lvl5pPr>
            <a:lvl6pPr marL="2285987" indent="0">
              <a:buNone/>
              <a:defRPr sz="1600" b="1"/>
            </a:lvl6pPr>
            <a:lvl7pPr marL="2743185" indent="0">
              <a:buNone/>
              <a:defRPr sz="1600" b="1"/>
            </a:lvl7pPr>
            <a:lvl8pPr marL="3200381" indent="0">
              <a:buNone/>
              <a:defRPr sz="1600" b="1"/>
            </a:lvl8pPr>
            <a:lvl9pPr marL="3657579"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B53F990-CB38-B335-22B2-5433EB033C6B}"/>
              </a:ext>
            </a:extLst>
          </p:cNvPr>
          <p:cNvSpPr>
            <a:spLocks noGrp="1"/>
          </p:cNvSpPr>
          <p:nvPr>
            <p:ph sz="half" idx="2"/>
          </p:nvPr>
        </p:nvSpPr>
        <p:spPr>
          <a:xfrm>
            <a:off x="682329" y="2505075"/>
            <a:ext cx="419070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C23162B-8C01-D4C1-BD0F-123A160E252E}"/>
              </a:ext>
            </a:extLst>
          </p:cNvPr>
          <p:cNvSpPr>
            <a:spLocks noGrp="1"/>
          </p:cNvSpPr>
          <p:nvPr>
            <p:ph type="body" sz="quarter" idx="3"/>
          </p:nvPr>
        </p:nvSpPr>
        <p:spPr>
          <a:xfrm>
            <a:off x="5014913" y="1681163"/>
            <a:ext cx="4211340" cy="823912"/>
          </a:xfrm>
        </p:spPr>
        <p:txBody>
          <a:bodyPr anchor="b"/>
          <a:lstStyle>
            <a:lvl1pPr marL="0" indent="0">
              <a:buNone/>
              <a:defRPr sz="2400" b="1"/>
            </a:lvl1pPr>
            <a:lvl2pPr marL="457198" indent="0">
              <a:buNone/>
              <a:defRPr sz="2000" b="1"/>
            </a:lvl2pPr>
            <a:lvl3pPr marL="914395" indent="0">
              <a:buNone/>
              <a:defRPr sz="1800" b="1"/>
            </a:lvl3pPr>
            <a:lvl4pPr marL="1371592" indent="0">
              <a:buNone/>
              <a:defRPr sz="1600" b="1"/>
            </a:lvl4pPr>
            <a:lvl5pPr marL="1828789" indent="0">
              <a:buNone/>
              <a:defRPr sz="1600" b="1"/>
            </a:lvl5pPr>
            <a:lvl6pPr marL="2285987" indent="0">
              <a:buNone/>
              <a:defRPr sz="1600" b="1"/>
            </a:lvl6pPr>
            <a:lvl7pPr marL="2743185" indent="0">
              <a:buNone/>
              <a:defRPr sz="1600" b="1"/>
            </a:lvl7pPr>
            <a:lvl8pPr marL="3200381" indent="0">
              <a:buNone/>
              <a:defRPr sz="1600" b="1"/>
            </a:lvl8pPr>
            <a:lvl9pPr marL="3657579"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44898AD-414A-B6EF-27B4-E1F2C153CE0B}"/>
              </a:ext>
            </a:extLst>
          </p:cNvPr>
          <p:cNvSpPr>
            <a:spLocks noGrp="1"/>
          </p:cNvSpPr>
          <p:nvPr>
            <p:ph sz="quarter" idx="4"/>
          </p:nvPr>
        </p:nvSpPr>
        <p:spPr>
          <a:xfrm>
            <a:off x="5014913" y="2505075"/>
            <a:ext cx="4211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F7A1178-4ED4-A87B-0765-BA5550941493}"/>
              </a:ext>
            </a:extLst>
          </p:cNvPr>
          <p:cNvSpPr>
            <a:spLocks noGrp="1"/>
          </p:cNvSpPr>
          <p:nvPr>
            <p:ph type="dt" sz="half" idx="10"/>
          </p:nvPr>
        </p:nvSpPr>
        <p:spPr/>
        <p:txBody>
          <a:bodyPr/>
          <a:lstStyle/>
          <a:p>
            <a:fld id="{4ECD0A30-6079-4AF3-8202-4D981D714E14}" type="datetimeFigureOut">
              <a:rPr lang="en-US" smtClean="0"/>
              <a:t>10/12/2026</a:t>
            </a:fld>
            <a:endParaRPr lang="en-US"/>
          </a:p>
        </p:txBody>
      </p:sp>
      <p:sp>
        <p:nvSpPr>
          <p:cNvPr id="8" name="Footer Placeholder 7">
            <a:extLst>
              <a:ext uri="{FF2B5EF4-FFF2-40B4-BE49-F238E27FC236}">
                <a16:creationId xmlns:a16="http://schemas.microsoft.com/office/drawing/2014/main" id="{BFB75E80-C50C-333D-BDCE-F9D75A2BAA4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73E4292-80DC-13E7-46CD-5ADA38F2FD54}"/>
              </a:ext>
            </a:extLst>
          </p:cNvPr>
          <p:cNvSpPr>
            <a:spLocks noGrp="1"/>
          </p:cNvSpPr>
          <p:nvPr>
            <p:ph type="sldNum" sz="quarter" idx="12"/>
          </p:nvPr>
        </p:nvSpPr>
        <p:spPr/>
        <p:txBody>
          <a:bodyPr/>
          <a:lstStyle/>
          <a:p>
            <a:fld id="{03F7496B-6883-4D18-B2DB-1E1E1D8F1E24}" type="slidenum">
              <a:rPr lang="en-US" smtClean="0"/>
              <a:t>‹#›</a:t>
            </a:fld>
            <a:endParaRPr lang="en-US"/>
          </a:p>
        </p:txBody>
      </p:sp>
    </p:spTree>
    <p:extLst>
      <p:ext uri="{BB962C8B-B14F-4D97-AF65-F5344CB8AC3E}">
        <p14:creationId xmlns:p14="http://schemas.microsoft.com/office/powerpoint/2010/main" val="8038314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75EDC-1A95-551B-52E0-A609D5C857B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C5D54F1-1087-E7D5-33B2-E655D1618DAD}"/>
              </a:ext>
            </a:extLst>
          </p:cNvPr>
          <p:cNvSpPr>
            <a:spLocks noGrp="1"/>
          </p:cNvSpPr>
          <p:nvPr>
            <p:ph type="dt" sz="half" idx="10"/>
          </p:nvPr>
        </p:nvSpPr>
        <p:spPr/>
        <p:txBody>
          <a:bodyPr/>
          <a:lstStyle/>
          <a:p>
            <a:fld id="{4ECD0A30-6079-4AF3-8202-4D981D714E14}" type="datetimeFigureOut">
              <a:rPr lang="en-US" smtClean="0"/>
              <a:t>10/12/2026</a:t>
            </a:fld>
            <a:endParaRPr lang="en-US"/>
          </a:p>
        </p:txBody>
      </p:sp>
      <p:sp>
        <p:nvSpPr>
          <p:cNvPr id="4" name="Footer Placeholder 3">
            <a:extLst>
              <a:ext uri="{FF2B5EF4-FFF2-40B4-BE49-F238E27FC236}">
                <a16:creationId xmlns:a16="http://schemas.microsoft.com/office/drawing/2014/main" id="{AD142923-0FE4-0A92-60FD-8098C3C200F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3D54CCE-9F94-BF92-1F48-8A7104CFB5FF}"/>
              </a:ext>
            </a:extLst>
          </p:cNvPr>
          <p:cNvSpPr>
            <a:spLocks noGrp="1"/>
          </p:cNvSpPr>
          <p:nvPr>
            <p:ph type="sldNum" sz="quarter" idx="12"/>
          </p:nvPr>
        </p:nvSpPr>
        <p:spPr/>
        <p:txBody>
          <a:bodyPr/>
          <a:lstStyle/>
          <a:p>
            <a:fld id="{03F7496B-6883-4D18-B2DB-1E1E1D8F1E24}" type="slidenum">
              <a:rPr lang="en-US" smtClean="0"/>
              <a:t>‹#›</a:t>
            </a:fld>
            <a:endParaRPr lang="en-US"/>
          </a:p>
        </p:txBody>
      </p:sp>
    </p:spTree>
    <p:extLst>
      <p:ext uri="{BB962C8B-B14F-4D97-AF65-F5344CB8AC3E}">
        <p14:creationId xmlns:p14="http://schemas.microsoft.com/office/powerpoint/2010/main" val="6723622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56AE82-71A0-5349-4C94-126CB32782E6}"/>
              </a:ext>
            </a:extLst>
          </p:cNvPr>
          <p:cNvSpPr>
            <a:spLocks noGrp="1"/>
          </p:cNvSpPr>
          <p:nvPr>
            <p:ph type="dt" sz="half" idx="10"/>
          </p:nvPr>
        </p:nvSpPr>
        <p:spPr/>
        <p:txBody>
          <a:bodyPr/>
          <a:lstStyle/>
          <a:p>
            <a:fld id="{4ECD0A30-6079-4AF3-8202-4D981D714E14}" type="datetimeFigureOut">
              <a:rPr lang="en-US" smtClean="0"/>
              <a:t>10/12/2026</a:t>
            </a:fld>
            <a:endParaRPr lang="en-US"/>
          </a:p>
        </p:txBody>
      </p:sp>
      <p:sp>
        <p:nvSpPr>
          <p:cNvPr id="3" name="Footer Placeholder 2">
            <a:extLst>
              <a:ext uri="{FF2B5EF4-FFF2-40B4-BE49-F238E27FC236}">
                <a16:creationId xmlns:a16="http://schemas.microsoft.com/office/drawing/2014/main" id="{67F42430-8160-D3BF-BE96-17F34715D3D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73E436C-AF0A-2DC7-CB0B-2874DDEC63F5}"/>
              </a:ext>
            </a:extLst>
          </p:cNvPr>
          <p:cNvSpPr>
            <a:spLocks noGrp="1"/>
          </p:cNvSpPr>
          <p:nvPr>
            <p:ph type="sldNum" sz="quarter" idx="12"/>
          </p:nvPr>
        </p:nvSpPr>
        <p:spPr/>
        <p:txBody>
          <a:bodyPr/>
          <a:lstStyle/>
          <a:p>
            <a:fld id="{03F7496B-6883-4D18-B2DB-1E1E1D8F1E24}" type="slidenum">
              <a:rPr lang="en-US" smtClean="0"/>
              <a:t>‹#›</a:t>
            </a:fld>
            <a:endParaRPr lang="en-US"/>
          </a:p>
        </p:txBody>
      </p:sp>
    </p:spTree>
    <p:extLst>
      <p:ext uri="{BB962C8B-B14F-4D97-AF65-F5344CB8AC3E}">
        <p14:creationId xmlns:p14="http://schemas.microsoft.com/office/powerpoint/2010/main" val="5357347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A1C99-B88B-D4B6-2026-A237E88AFDA3}"/>
              </a:ext>
            </a:extLst>
          </p:cNvPr>
          <p:cNvSpPr>
            <a:spLocks noGrp="1"/>
          </p:cNvSpPr>
          <p:nvPr>
            <p:ph type="title"/>
          </p:nvPr>
        </p:nvSpPr>
        <p:spPr>
          <a:xfrm>
            <a:off x="682329" y="457200"/>
            <a:ext cx="3194943"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297DD3-782C-3464-EF18-C39EC83C5144}"/>
              </a:ext>
            </a:extLst>
          </p:cNvPr>
          <p:cNvSpPr>
            <a:spLocks noGrp="1"/>
          </p:cNvSpPr>
          <p:nvPr>
            <p:ph idx="1"/>
          </p:nvPr>
        </p:nvSpPr>
        <p:spPr>
          <a:xfrm>
            <a:off x="4211340" y="987429"/>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2FEDC18-77F0-9EF7-5445-9F86C659DE4E}"/>
              </a:ext>
            </a:extLst>
          </p:cNvPr>
          <p:cNvSpPr>
            <a:spLocks noGrp="1"/>
          </p:cNvSpPr>
          <p:nvPr>
            <p:ph type="body" sz="half" idx="2"/>
          </p:nvPr>
        </p:nvSpPr>
        <p:spPr>
          <a:xfrm>
            <a:off x="682329" y="2057400"/>
            <a:ext cx="3194943" cy="3811588"/>
          </a:xfrm>
        </p:spPr>
        <p:txBody>
          <a:bodyPr/>
          <a:lstStyle>
            <a:lvl1pPr marL="0" indent="0">
              <a:buNone/>
              <a:defRPr sz="1600"/>
            </a:lvl1pPr>
            <a:lvl2pPr marL="457198" indent="0">
              <a:buNone/>
              <a:defRPr sz="1400"/>
            </a:lvl2pPr>
            <a:lvl3pPr marL="914395" indent="0">
              <a:buNone/>
              <a:defRPr sz="1200"/>
            </a:lvl3pPr>
            <a:lvl4pPr marL="1371592" indent="0">
              <a:buNone/>
              <a:defRPr sz="1000"/>
            </a:lvl4pPr>
            <a:lvl5pPr marL="1828789" indent="0">
              <a:buNone/>
              <a:defRPr sz="1000"/>
            </a:lvl5pPr>
            <a:lvl6pPr marL="2285987" indent="0">
              <a:buNone/>
              <a:defRPr sz="1000"/>
            </a:lvl6pPr>
            <a:lvl7pPr marL="2743185" indent="0">
              <a:buNone/>
              <a:defRPr sz="1000"/>
            </a:lvl7pPr>
            <a:lvl8pPr marL="3200381" indent="0">
              <a:buNone/>
              <a:defRPr sz="1000"/>
            </a:lvl8pPr>
            <a:lvl9pPr marL="365757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4A9567-6B5C-212B-BDB6-13988FDC7A27}"/>
              </a:ext>
            </a:extLst>
          </p:cNvPr>
          <p:cNvSpPr>
            <a:spLocks noGrp="1"/>
          </p:cNvSpPr>
          <p:nvPr>
            <p:ph type="dt" sz="half" idx="10"/>
          </p:nvPr>
        </p:nvSpPr>
        <p:spPr/>
        <p:txBody>
          <a:bodyPr/>
          <a:lstStyle/>
          <a:p>
            <a:fld id="{4ECD0A30-6079-4AF3-8202-4D981D714E14}" type="datetimeFigureOut">
              <a:rPr lang="en-US" smtClean="0"/>
              <a:t>10/12/2026</a:t>
            </a:fld>
            <a:endParaRPr lang="en-US"/>
          </a:p>
        </p:txBody>
      </p:sp>
      <p:sp>
        <p:nvSpPr>
          <p:cNvPr id="6" name="Footer Placeholder 5">
            <a:extLst>
              <a:ext uri="{FF2B5EF4-FFF2-40B4-BE49-F238E27FC236}">
                <a16:creationId xmlns:a16="http://schemas.microsoft.com/office/drawing/2014/main" id="{C01AE359-BA46-4092-24BD-7AD984CC1C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0EA496-F904-966C-CDA0-09032C3F56B1}"/>
              </a:ext>
            </a:extLst>
          </p:cNvPr>
          <p:cNvSpPr>
            <a:spLocks noGrp="1"/>
          </p:cNvSpPr>
          <p:nvPr>
            <p:ph type="sldNum" sz="quarter" idx="12"/>
          </p:nvPr>
        </p:nvSpPr>
        <p:spPr/>
        <p:txBody>
          <a:bodyPr/>
          <a:lstStyle/>
          <a:p>
            <a:fld id="{03F7496B-6883-4D18-B2DB-1E1E1D8F1E24}" type="slidenum">
              <a:rPr lang="en-US" smtClean="0"/>
              <a:t>‹#›</a:t>
            </a:fld>
            <a:endParaRPr lang="en-US"/>
          </a:p>
        </p:txBody>
      </p:sp>
    </p:spTree>
    <p:extLst>
      <p:ext uri="{BB962C8B-B14F-4D97-AF65-F5344CB8AC3E}">
        <p14:creationId xmlns:p14="http://schemas.microsoft.com/office/powerpoint/2010/main" val="17278154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A5E81-ABD3-25E5-9696-5F4BDBAFC43D}"/>
              </a:ext>
            </a:extLst>
          </p:cNvPr>
          <p:cNvSpPr>
            <a:spLocks noGrp="1"/>
          </p:cNvSpPr>
          <p:nvPr>
            <p:ph type="title"/>
          </p:nvPr>
        </p:nvSpPr>
        <p:spPr>
          <a:xfrm>
            <a:off x="682329" y="457200"/>
            <a:ext cx="3194943"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BF8377A-AE40-C80C-AF5B-2CCACF70DE43}"/>
              </a:ext>
            </a:extLst>
          </p:cNvPr>
          <p:cNvSpPr>
            <a:spLocks noGrp="1"/>
          </p:cNvSpPr>
          <p:nvPr>
            <p:ph type="pic" idx="1"/>
          </p:nvPr>
        </p:nvSpPr>
        <p:spPr>
          <a:xfrm>
            <a:off x="4211340" y="987429"/>
            <a:ext cx="5014913" cy="4873625"/>
          </a:xfrm>
        </p:spPr>
        <p:txBody>
          <a:bodyPr/>
          <a:lstStyle>
            <a:lvl1pPr marL="0" indent="0">
              <a:buNone/>
              <a:defRPr sz="3200"/>
            </a:lvl1pPr>
            <a:lvl2pPr marL="457198" indent="0">
              <a:buNone/>
              <a:defRPr sz="2800"/>
            </a:lvl2pPr>
            <a:lvl3pPr marL="914395" indent="0">
              <a:buNone/>
              <a:defRPr sz="2400"/>
            </a:lvl3pPr>
            <a:lvl4pPr marL="1371592" indent="0">
              <a:buNone/>
              <a:defRPr sz="2000"/>
            </a:lvl4pPr>
            <a:lvl5pPr marL="1828789" indent="0">
              <a:buNone/>
              <a:defRPr sz="2000"/>
            </a:lvl5pPr>
            <a:lvl6pPr marL="2285987" indent="0">
              <a:buNone/>
              <a:defRPr sz="2000"/>
            </a:lvl6pPr>
            <a:lvl7pPr marL="2743185" indent="0">
              <a:buNone/>
              <a:defRPr sz="2000"/>
            </a:lvl7pPr>
            <a:lvl8pPr marL="3200381" indent="0">
              <a:buNone/>
              <a:defRPr sz="2000"/>
            </a:lvl8pPr>
            <a:lvl9pPr marL="3657579" indent="0">
              <a:buNone/>
              <a:defRPr sz="2000"/>
            </a:lvl9pPr>
          </a:lstStyle>
          <a:p>
            <a:endParaRPr lang="en-US"/>
          </a:p>
        </p:txBody>
      </p:sp>
      <p:sp>
        <p:nvSpPr>
          <p:cNvPr id="4" name="Text Placeholder 3">
            <a:extLst>
              <a:ext uri="{FF2B5EF4-FFF2-40B4-BE49-F238E27FC236}">
                <a16:creationId xmlns:a16="http://schemas.microsoft.com/office/drawing/2014/main" id="{9C7D7E28-6203-CD14-7C89-415EE2817AAA}"/>
              </a:ext>
            </a:extLst>
          </p:cNvPr>
          <p:cNvSpPr>
            <a:spLocks noGrp="1"/>
          </p:cNvSpPr>
          <p:nvPr>
            <p:ph type="body" sz="half" idx="2"/>
          </p:nvPr>
        </p:nvSpPr>
        <p:spPr>
          <a:xfrm>
            <a:off x="682329" y="2057400"/>
            <a:ext cx="3194943" cy="3811588"/>
          </a:xfrm>
        </p:spPr>
        <p:txBody>
          <a:bodyPr/>
          <a:lstStyle>
            <a:lvl1pPr marL="0" indent="0">
              <a:buNone/>
              <a:defRPr sz="1600"/>
            </a:lvl1pPr>
            <a:lvl2pPr marL="457198" indent="0">
              <a:buNone/>
              <a:defRPr sz="1400"/>
            </a:lvl2pPr>
            <a:lvl3pPr marL="914395" indent="0">
              <a:buNone/>
              <a:defRPr sz="1200"/>
            </a:lvl3pPr>
            <a:lvl4pPr marL="1371592" indent="0">
              <a:buNone/>
              <a:defRPr sz="1000"/>
            </a:lvl4pPr>
            <a:lvl5pPr marL="1828789" indent="0">
              <a:buNone/>
              <a:defRPr sz="1000"/>
            </a:lvl5pPr>
            <a:lvl6pPr marL="2285987" indent="0">
              <a:buNone/>
              <a:defRPr sz="1000"/>
            </a:lvl6pPr>
            <a:lvl7pPr marL="2743185" indent="0">
              <a:buNone/>
              <a:defRPr sz="1000"/>
            </a:lvl7pPr>
            <a:lvl8pPr marL="3200381" indent="0">
              <a:buNone/>
              <a:defRPr sz="1000"/>
            </a:lvl8pPr>
            <a:lvl9pPr marL="365757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8AE16B-5D05-2057-7ACE-D8915D770955}"/>
              </a:ext>
            </a:extLst>
          </p:cNvPr>
          <p:cNvSpPr>
            <a:spLocks noGrp="1"/>
          </p:cNvSpPr>
          <p:nvPr>
            <p:ph type="dt" sz="half" idx="10"/>
          </p:nvPr>
        </p:nvSpPr>
        <p:spPr/>
        <p:txBody>
          <a:bodyPr/>
          <a:lstStyle/>
          <a:p>
            <a:fld id="{4ECD0A30-6079-4AF3-8202-4D981D714E14}" type="datetimeFigureOut">
              <a:rPr lang="en-US" smtClean="0"/>
              <a:t>10/12/2026</a:t>
            </a:fld>
            <a:endParaRPr lang="en-US"/>
          </a:p>
        </p:txBody>
      </p:sp>
      <p:sp>
        <p:nvSpPr>
          <p:cNvPr id="6" name="Footer Placeholder 5">
            <a:extLst>
              <a:ext uri="{FF2B5EF4-FFF2-40B4-BE49-F238E27FC236}">
                <a16:creationId xmlns:a16="http://schemas.microsoft.com/office/drawing/2014/main" id="{C8D248F7-32B6-D60E-59FE-4A446307EF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4B3322-7E5F-15DB-283A-AD4026CD54CA}"/>
              </a:ext>
            </a:extLst>
          </p:cNvPr>
          <p:cNvSpPr>
            <a:spLocks noGrp="1"/>
          </p:cNvSpPr>
          <p:nvPr>
            <p:ph type="sldNum" sz="quarter" idx="12"/>
          </p:nvPr>
        </p:nvSpPr>
        <p:spPr/>
        <p:txBody>
          <a:bodyPr/>
          <a:lstStyle/>
          <a:p>
            <a:fld id="{03F7496B-6883-4D18-B2DB-1E1E1D8F1E24}" type="slidenum">
              <a:rPr lang="en-US" smtClean="0"/>
              <a:t>‹#›</a:t>
            </a:fld>
            <a:endParaRPr lang="en-US"/>
          </a:p>
        </p:txBody>
      </p:sp>
    </p:spTree>
    <p:extLst>
      <p:ext uri="{BB962C8B-B14F-4D97-AF65-F5344CB8AC3E}">
        <p14:creationId xmlns:p14="http://schemas.microsoft.com/office/powerpoint/2010/main" val="921231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F96D9-0071-CB3D-D5F1-692DC82790F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E17E5A5-D390-8003-0549-6E6064E2EC5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297328-32E6-7DF4-35D4-82564D77AB2A}"/>
              </a:ext>
            </a:extLst>
          </p:cNvPr>
          <p:cNvSpPr>
            <a:spLocks noGrp="1"/>
          </p:cNvSpPr>
          <p:nvPr>
            <p:ph type="dt" sz="half" idx="10"/>
          </p:nvPr>
        </p:nvSpPr>
        <p:spPr/>
        <p:txBody>
          <a:bodyPr/>
          <a:lstStyle/>
          <a:p>
            <a:fld id="{4ECD0A30-6079-4AF3-8202-4D981D714E14}" type="datetimeFigureOut">
              <a:rPr lang="en-US" smtClean="0"/>
              <a:t>10/12/2026</a:t>
            </a:fld>
            <a:endParaRPr lang="en-US"/>
          </a:p>
        </p:txBody>
      </p:sp>
      <p:sp>
        <p:nvSpPr>
          <p:cNvPr id="5" name="Footer Placeholder 4">
            <a:extLst>
              <a:ext uri="{FF2B5EF4-FFF2-40B4-BE49-F238E27FC236}">
                <a16:creationId xmlns:a16="http://schemas.microsoft.com/office/drawing/2014/main" id="{399044E0-1867-CD0A-9122-CF4732FEF7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B51D83-CBA1-2E26-9F3A-C88BB8499318}"/>
              </a:ext>
            </a:extLst>
          </p:cNvPr>
          <p:cNvSpPr>
            <a:spLocks noGrp="1"/>
          </p:cNvSpPr>
          <p:nvPr>
            <p:ph type="sldNum" sz="quarter" idx="12"/>
          </p:nvPr>
        </p:nvSpPr>
        <p:spPr/>
        <p:txBody>
          <a:bodyPr/>
          <a:lstStyle/>
          <a:p>
            <a:fld id="{03F7496B-6883-4D18-B2DB-1E1E1D8F1E24}" type="slidenum">
              <a:rPr lang="en-US" smtClean="0"/>
              <a:t>‹#›</a:t>
            </a:fld>
            <a:endParaRPr lang="en-US"/>
          </a:p>
        </p:txBody>
      </p:sp>
    </p:spTree>
    <p:extLst>
      <p:ext uri="{BB962C8B-B14F-4D97-AF65-F5344CB8AC3E}">
        <p14:creationId xmlns:p14="http://schemas.microsoft.com/office/powerpoint/2010/main" val="2785517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1FDDCB1-A110-7344-640B-870625E04BD7}"/>
              </a:ext>
            </a:extLst>
          </p:cNvPr>
          <p:cNvSpPr>
            <a:spLocks noGrp="1"/>
          </p:cNvSpPr>
          <p:nvPr>
            <p:ph type="title" orient="vert"/>
          </p:nvPr>
        </p:nvSpPr>
        <p:spPr>
          <a:xfrm>
            <a:off x="7088983" y="365125"/>
            <a:ext cx="2135981"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165B8FB-7ACF-56C3-09B6-8376DA46CFD9}"/>
              </a:ext>
            </a:extLst>
          </p:cNvPr>
          <p:cNvSpPr>
            <a:spLocks noGrp="1"/>
          </p:cNvSpPr>
          <p:nvPr>
            <p:ph type="body" orient="vert" idx="1"/>
          </p:nvPr>
        </p:nvSpPr>
        <p:spPr>
          <a:xfrm>
            <a:off x="681039" y="365125"/>
            <a:ext cx="6284119"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FB4617-BBC9-2231-A81F-96F9769020F9}"/>
              </a:ext>
            </a:extLst>
          </p:cNvPr>
          <p:cNvSpPr>
            <a:spLocks noGrp="1"/>
          </p:cNvSpPr>
          <p:nvPr>
            <p:ph type="dt" sz="half" idx="10"/>
          </p:nvPr>
        </p:nvSpPr>
        <p:spPr/>
        <p:txBody>
          <a:bodyPr/>
          <a:lstStyle/>
          <a:p>
            <a:fld id="{4ECD0A30-6079-4AF3-8202-4D981D714E14}" type="datetimeFigureOut">
              <a:rPr lang="en-US" smtClean="0"/>
              <a:t>10/12/2026</a:t>
            </a:fld>
            <a:endParaRPr lang="en-US"/>
          </a:p>
        </p:txBody>
      </p:sp>
      <p:sp>
        <p:nvSpPr>
          <p:cNvPr id="5" name="Footer Placeholder 4">
            <a:extLst>
              <a:ext uri="{FF2B5EF4-FFF2-40B4-BE49-F238E27FC236}">
                <a16:creationId xmlns:a16="http://schemas.microsoft.com/office/drawing/2014/main" id="{46851A5E-A151-75F1-EBB7-B393BE15D1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A6B754-01C6-6A37-2D22-215F7F13DC81}"/>
              </a:ext>
            </a:extLst>
          </p:cNvPr>
          <p:cNvSpPr>
            <a:spLocks noGrp="1"/>
          </p:cNvSpPr>
          <p:nvPr>
            <p:ph type="sldNum" sz="quarter" idx="12"/>
          </p:nvPr>
        </p:nvSpPr>
        <p:spPr/>
        <p:txBody>
          <a:bodyPr/>
          <a:lstStyle/>
          <a:p>
            <a:fld id="{03F7496B-6883-4D18-B2DB-1E1E1D8F1E24}" type="slidenum">
              <a:rPr lang="en-US" smtClean="0"/>
              <a:t>‹#›</a:t>
            </a:fld>
            <a:endParaRPr lang="en-US"/>
          </a:p>
        </p:txBody>
      </p:sp>
    </p:spTree>
    <p:extLst>
      <p:ext uri="{BB962C8B-B14F-4D97-AF65-F5344CB8AC3E}">
        <p14:creationId xmlns:p14="http://schemas.microsoft.com/office/powerpoint/2010/main" val="17678174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빈 화면">
    <p:spTree>
      <p:nvGrpSpPr>
        <p:cNvPr id="1" name=""/>
        <p:cNvGrpSpPr/>
        <p:nvPr/>
      </p:nvGrpSpPr>
      <p:grpSpPr>
        <a:xfrm>
          <a:off x="0" y="0"/>
          <a:ext cx="0" cy="0"/>
          <a:chOff x="0" y="0"/>
          <a:chExt cx="0" cy="0"/>
        </a:xfrm>
      </p:grpSpPr>
      <p:sp>
        <p:nvSpPr>
          <p:cNvPr id="2" name="제목 개체 틀 2"/>
          <p:cNvSpPr>
            <a:spLocks noGrp="1"/>
          </p:cNvSpPr>
          <p:nvPr>
            <p:ph type="title"/>
          </p:nvPr>
        </p:nvSpPr>
        <p:spPr>
          <a:xfrm>
            <a:off x="200472" y="116632"/>
            <a:ext cx="8915400" cy="418058"/>
          </a:xfrm>
          <a:prstGeom prst="rect">
            <a:avLst/>
          </a:prstGeom>
        </p:spPr>
        <p:txBody>
          <a:bodyPr vert="horz" lIns="91440" tIns="45720" rIns="91440" bIns="45720" rtlCol="0" anchor="ctr">
            <a:normAutofit/>
          </a:bodyPr>
          <a:lstStyle>
            <a:lvl1pPr>
              <a:defRPr>
                <a:latin typeface="맑은 고딕" panose="020B0503020000020004" pitchFamily="50" charset="-127"/>
                <a:ea typeface="맑은 고딕" panose="020B0503020000020004" pitchFamily="50" charset="-127"/>
              </a:defRPr>
            </a:lvl1pPr>
          </a:lstStyle>
          <a:p>
            <a:r>
              <a:rPr lang="ko-KR" altLang="en-US" dirty="0"/>
              <a:t>제목을 입력 하세요</a:t>
            </a:r>
          </a:p>
        </p:txBody>
      </p:sp>
      <p:sp>
        <p:nvSpPr>
          <p:cNvPr id="3" name="슬라이드 번호 개체 틀 5"/>
          <p:cNvSpPr>
            <a:spLocks noGrp="1"/>
          </p:cNvSpPr>
          <p:nvPr>
            <p:ph type="sldNum" sz="quarter" idx="12"/>
          </p:nvPr>
        </p:nvSpPr>
        <p:spPr>
          <a:xfrm>
            <a:off x="4724402" y="6564892"/>
            <a:ext cx="2133600" cy="293117"/>
          </a:xfrm>
          <a:prstGeom prst="rect">
            <a:avLst/>
          </a:prstGeom>
        </p:spPr>
        <p:txBody>
          <a:bodyPr/>
          <a:lstStyle>
            <a:lvl1pPr algn="ctr">
              <a:defRPr sz="1000">
                <a:latin typeface="현대하모니 L" panose="02020603020101020101" pitchFamily="18" charset="-127"/>
                <a:ea typeface="현대하모니 L" panose="02020603020101020101" pitchFamily="18" charset="-127"/>
              </a:defRPr>
            </a:lvl1pPr>
          </a:lstStyle>
          <a:p>
            <a:fld id="{CCB65402-AEF5-4D26-A49C-7368E264DDAC}" type="slidenum">
              <a:rPr lang="ko-KR" altLang="en-US" smtClean="0">
                <a:solidFill>
                  <a:prstClr val="black">
                    <a:tint val="75000"/>
                  </a:prstClr>
                </a:solidFill>
              </a:rPr>
              <a:pPr/>
              <a:t>‹#›</a:t>
            </a:fld>
            <a:r>
              <a:rPr lang="en-US" altLang="ko-KR">
                <a:solidFill>
                  <a:prstClr val="black">
                    <a:tint val="75000"/>
                  </a:prstClr>
                </a:solidFill>
              </a:rPr>
              <a:t>/71</a:t>
            </a:r>
            <a:r>
              <a:rPr lang="ko-KR" altLang="en-US">
                <a:solidFill>
                  <a:prstClr val="black">
                    <a:tint val="75000"/>
                  </a:prstClr>
                </a:solidFill>
              </a:rPr>
              <a:t> </a:t>
            </a:r>
            <a:r>
              <a:rPr lang="en-US" altLang="ko-KR">
                <a:solidFill>
                  <a:prstClr val="black">
                    <a:tint val="75000"/>
                  </a:prstClr>
                </a:solidFill>
              </a:rPr>
              <a:t>  </a:t>
            </a:r>
            <a:endParaRPr lang="ko-KR" altLang="en-US">
              <a:solidFill>
                <a:prstClr val="black">
                  <a:tint val="75000"/>
                </a:prstClr>
              </a:solidFill>
            </a:endParaRPr>
          </a:p>
        </p:txBody>
      </p:sp>
    </p:spTree>
    <p:extLst>
      <p:ext uri="{BB962C8B-B14F-4D97-AF65-F5344CB8AC3E}">
        <p14:creationId xmlns:p14="http://schemas.microsoft.com/office/powerpoint/2010/main" val="32272236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73FED3-A77F-E581-2799-92055AA613F3}"/>
              </a:ext>
            </a:extLst>
          </p:cNvPr>
          <p:cNvSpPr>
            <a:spLocks noGrp="1"/>
          </p:cNvSpPr>
          <p:nvPr>
            <p:ph type="title"/>
          </p:nvPr>
        </p:nvSpPr>
        <p:spPr>
          <a:xfrm>
            <a:off x="681039" y="365129"/>
            <a:ext cx="8543925"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D74D395-5212-C887-9CA8-A2785836E419}"/>
              </a:ext>
            </a:extLst>
          </p:cNvPr>
          <p:cNvSpPr>
            <a:spLocks noGrp="1"/>
          </p:cNvSpPr>
          <p:nvPr>
            <p:ph type="body" idx="1"/>
          </p:nvPr>
        </p:nvSpPr>
        <p:spPr>
          <a:xfrm>
            <a:off x="681039" y="1825625"/>
            <a:ext cx="8543925"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428445-2BDF-96D4-F11D-DA79CEA4AA50}"/>
              </a:ext>
            </a:extLst>
          </p:cNvPr>
          <p:cNvSpPr>
            <a:spLocks noGrp="1"/>
          </p:cNvSpPr>
          <p:nvPr>
            <p:ph type="dt" sz="half" idx="2"/>
          </p:nvPr>
        </p:nvSpPr>
        <p:spPr>
          <a:xfrm>
            <a:off x="681038" y="6356354"/>
            <a:ext cx="222885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ECD0A30-6079-4AF3-8202-4D981D714E14}" type="datetimeFigureOut">
              <a:rPr lang="en-US" smtClean="0"/>
              <a:t>10/12/2026</a:t>
            </a:fld>
            <a:endParaRPr lang="en-US"/>
          </a:p>
        </p:txBody>
      </p:sp>
      <p:sp>
        <p:nvSpPr>
          <p:cNvPr id="5" name="Footer Placeholder 4">
            <a:extLst>
              <a:ext uri="{FF2B5EF4-FFF2-40B4-BE49-F238E27FC236}">
                <a16:creationId xmlns:a16="http://schemas.microsoft.com/office/drawing/2014/main" id="{1DC997A7-560D-AF5C-CB81-199006372AE5}"/>
              </a:ext>
            </a:extLst>
          </p:cNvPr>
          <p:cNvSpPr>
            <a:spLocks noGrp="1"/>
          </p:cNvSpPr>
          <p:nvPr>
            <p:ph type="ftr" sz="quarter" idx="3"/>
          </p:nvPr>
        </p:nvSpPr>
        <p:spPr>
          <a:xfrm>
            <a:off x="3281364" y="6356354"/>
            <a:ext cx="3343275"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F07A64A-AC5B-7102-BF74-F116F239489F}"/>
              </a:ext>
            </a:extLst>
          </p:cNvPr>
          <p:cNvSpPr>
            <a:spLocks noGrp="1"/>
          </p:cNvSpPr>
          <p:nvPr>
            <p:ph type="sldNum" sz="quarter" idx="4"/>
          </p:nvPr>
        </p:nvSpPr>
        <p:spPr>
          <a:xfrm>
            <a:off x="6996113" y="6356354"/>
            <a:ext cx="222885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3F7496B-6883-4D18-B2DB-1E1E1D8F1E24}" type="slidenum">
              <a:rPr lang="en-US" smtClean="0"/>
              <a:t>‹#›</a:t>
            </a:fld>
            <a:endParaRPr lang="en-US"/>
          </a:p>
        </p:txBody>
      </p:sp>
    </p:spTree>
    <p:extLst>
      <p:ext uri="{BB962C8B-B14F-4D97-AF65-F5344CB8AC3E}">
        <p14:creationId xmlns:p14="http://schemas.microsoft.com/office/powerpoint/2010/main" val="17874794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395"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8" indent="-228598" algn="l" defTabSz="914395"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96" indent="-228598" algn="l" defTabSz="914395"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93" indent="-228598" algn="l" defTabSz="914395"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91" indent="-228598" algn="l" defTabSz="91439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88" indent="-228598" algn="l" defTabSz="91439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85" indent="-228598" algn="l" defTabSz="91439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83" indent="-228598" algn="l" defTabSz="91439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80" indent="-228598" algn="l" defTabSz="91439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77" indent="-228598" algn="l" defTabSz="91439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95" rtl="0" eaLnBrk="1" latinLnBrk="0" hangingPunct="1">
        <a:defRPr sz="1800" kern="1200">
          <a:solidFill>
            <a:schemeClr val="tx1"/>
          </a:solidFill>
          <a:latin typeface="+mn-lt"/>
          <a:ea typeface="+mn-ea"/>
          <a:cs typeface="+mn-cs"/>
        </a:defRPr>
      </a:lvl1pPr>
      <a:lvl2pPr marL="457198" algn="l" defTabSz="914395" rtl="0" eaLnBrk="1" latinLnBrk="0" hangingPunct="1">
        <a:defRPr sz="1800" kern="1200">
          <a:solidFill>
            <a:schemeClr val="tx1"/>
          </a:solidFill>
          <a:latin typeface="+mn-lt"/>
          <a:ea typeface="+mn-ea"/>
          <a:cs typeface="+mn-cs"/>
        </a:defRPr>
      </a:lvl2pPr>
      <a:lvl3pPr marL="914395" algn="l" defTabSz="914395" rtl="0" eaLnBrk="1" latinLnBrk="0" hangingPunct="1">
        <a:defRPr sz="1800" kern="1200">
          <a:solidFill>
            <a:schemeClr val="tx1"/>
          </a:solidFill>
          <a:latin typeface="+mn-lt"/>
          <a:ea typeface="+mn-ea"/>
          <a:cs typeface="+mn-cs"/>
        </a:defRPr>
      </a:lvl3pPr>
      <a:lvl4pPr marL="1371592" algn="l" defTabSz="914395" rtl="0" eaLnBrk="1" latinLnBrk="0" hangingPunct="1">
        <a:defRPr sz="1800" kern="1200">
          <a:solidFill>
            <a:schemeClr val="tx1"/>
          </a:solidFill>
          <a:latin typeface="+mn-lt"/>
          <a:ea typeface="+mn-ea"/>
          <a:cs typeface="+mn-cs"/>
        </a:defRPr>
      </a:lvl4pPr>
      <a:lvl5pPr marL="1828789" algn="l" defTabSz="914395" rtl="0" eaLnBrk="1" latinLnBrk="0" hangingPunct="1">
        <a:defRPr sz="1800" kern="1200">
          <a:solidFill>
            <a:schemeClr val="tx1"/>
          </a:solidFill>
          <a:latin typeface="+mn-lt"/>
          <a:ea typeface="+mn-ea"/>
          <a:cs typeface="+mn-cs"/>
        </a:defRPr>
      </a:lvl5pPr>
      <a:lvl6pPr marL="2285987" algn="l" defTabSz="914395" rtl="0" eaLnBrk="1" latinLnBrk="0" hangingPunct="1">
        <a:defRPr sz="1800" kern="1200">
          <a:solidFill>
            <a:schemeClr val="tx1"/>
          </a:solidFill>
          <a:latin typeface="+mn-lt"/>
          <a:ea typeface="+mn-ea"/>
          <a:cs typeface="+mn-cs"/>
        </a:defRPr>
      </a:lvl6pPr>
      <a:lvl7pPr marL="2743185" algn="l" defTabSz="914395" rtl="0" eaLnBrk="1" latinLnBrk="0" hangingPunct="1">
        <a:defRPr sz="1800" kern="1200">
          <a:solidFill>
            <a:schemeClr val="tx1"/>
          </a:solidFill>
          <a:latin typeface="+mn-lt"/>
          <a:ea typeface="+mn-ea"/>
          <a:cs typeface="+mn-cs"/>
        </a:defRPr>
      </a:lvl7pPr>
      <a:lvl8pPr marL="3200381" algn="l" defTabSz="914395" rtl="0" eaLnBrk="1" latinLnBrk="0" hangingPunct="1">
        <a:defRPr sz="1800" kern="1200">
          <a:solidFill>
            <a:schemeClr val="tx1"/>
          </a:solidFill>
          <a:latin typeface="+mn-lt"/>
          <a:ea typeface="+mn-ea"/>
          <a:cs typeface="+mn-cs"/>
        </a:defRPr>
      </a:lvl8pPr>
      <a:lvl9pPr marL="3657579" algn="l" defTabSz="91439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2.xml"/><Relationship Id="rId5" Type="http://schemas.openxmlformats.org/officeDocument/2006/relationships/image" Target="../media/image20.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9.png"/><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cK Date"/>
          <p:cNvSpPr txBox="1">
            <a:spLocks noChangeArrowheads="1"/>
          </p:cNvSpPr>
          <p:nvPr>
            <p:custDataLst>
              <p:tags r:id="rId1"/>
            </p:custDataLst>
          </p:nvPr>
        </p:nvSpPr>
        <p:spPr bwMode="gray">
          <a:xfrm>
            <a:off x="3815669" y="5662413"/>
            <a:ext cx="2274662" cy="4308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algn="ctr" eaLnBrk="1" fontAlgn="base" hangingPunct="1">
              <a:spcBef>
                <a:spcPct val="0"/>
              </a:spcBef>
              <a:spcAft>
                <a:spcPct val="0"/>
              </a:spcAft>
              <a:buFontTx/>
              <a:buNone/>
              <a:defRPr/>
            </a:pPr>
            <a:r>
              <a:rPr kumimoji="0" lang="en-US" altLang="ko-KR" sz="1400" b="1" kern="0" dirty="0">
                <a:solidFill>
                  <a:srgbClr val="333333"/>
                </a:solidFill>
                <a:latin typeface="Arial Narrow" panose="020B0606020202030204" pitchFamily="34" charset="0"/>
                <a:ea typeface="LG스마트체 Regular" panose="020B0600000101010101" pitchFamily="50" charset="-127"/>
                <a:cs typeface="Arial" panose="020B0604020202020204" pitchFamily="34" charset="0"/>
              </a:rPr>
              <a:t>6 Sigma </a:t>
            </a:r>
            <a:r>
              <a:rPr kumimoji="0" lang="en-US" altLang="ko-KR" sz="1400" b="1" kern="0" dirty="0">
                <a:solidFill>
                  <a:srgbClr val="333333"/>
                </a:solidFill>
                <a:latin typeface="Arial Narrow" panose="020B0606020202030204" pitchFamily="34" charset="0"/>
                <a:ea typeface="LG Smart_H Regular" panose="020B0600000101010101" pitchFamily="34" charset="-127"/>
                <a:cs typeface="Arial" panose="020B0604020202020204" pitchFamily="34" charset="0"/>
              </a:rPr>
              <a:t>GB Assignment</a:t>
            </a:r>
            <a:endParaRPr kumimoji="0" lang="en-US" altLang="ko-KR" sz="1400" b="1" kern="0" dirty="0">
              <a:solidFill>
                <a:srgbClr val="333333"/>
              </a:solidFill>
              <a:latin typeface="Arial Narrow" panose="020B0606020202030204" pitchFamily="34" charset="0"/>
              <a:ea typeface="LG스마트체 Regular" panose="020B0600000101010101" pitchFamily="50" charset="-127"/>
              <a:cs typeface="Arial" panose="020B0604020202020204" pitchFamily="34" charset="0"/>
            </a:endParaRPr>
          </a:p>
          <a:p>
            <a:pPr algn="ctr" eaLnBrk="1" fontAlgn="base" hangingPunct="1">
              <a:spcBef>
                <a:spcPct val="0"/>
              </a:spcBef>
              <a:spcAft>
                <a:spcPct val="0"/>
              </a:spcAft>
              <a:buFontTx/>
              <a:buNone/>
              <a:defRPr/>
            </a:pPr>
            <a:r>
              <a:rPr kumimoji="0" lang="en-US" altLang="ko-KR" sz="1400" b="1" kern="0" dirty="0">
                <a:solidFill>
                  <a:srgbClr val="333333"/>
                </a:solidFill>
                <a:latin typeface="Arial Narrow" panose="020B0606020202030204" pitchFamily="34" charset="0"/>
                <a:ea typeface="LG스마트체 Regular" panose="020B0600000101010101" pitchFamily="50" charset="-127"/>
                <a:cs typeface="Arial" panose="020B0604020202020204" pitchFamily="34" charset="0"/>
              </a:rPr>
              <a:t>IVI LD1 Nguyen Dinh Hoang Anh</a:t>
            </a:r>
          </a:p>
        </p:txBody>
      </p:sp>
      <p:sp>
        <p:nvSpPr>
          <p:cNvPr id="11" name="Rectangle 2">
            <a:extLst>
              <a:ext uri="{FF2B5EF4-FFF2-40B4-BE49-F238E27FC236}">
                <a16:creationId xmlns:a16="http://schemas.microsoft.com/office/drawing/2014/main" id="{CBCA0162-DD60-4841-8D20-4FD529A203AA}"/>
              </a:ext>
            </a:extLst>
          </p:cNvPr>
          <p:cNvSpPr>
            <a:spLocks noChangeArrowheads="1"/>
          </p:cNvSpPr>
          <p:nvPr/>
        </p:nvSpPr>
        <p:spPr bwMode="auto">
          <a:xfrm>
            <a:off x="1358614" y="813801"/>
            <a:ext cx="7188774" cy="652922"/>
          </a:xfrm>
          <a:prstGeom prst="rect">
            <a:avLst/>
          </a:prstGeom>
          <a:solidFill>
            <a:srgbClr val="EAEAEA"/>
          </a:solidFill>
          <a:ln w="9525">
            <a:solidFill>
              <a:srgbClr val="C0C0C0"/>
            </a:solidFill>
            <a:miter lim="800000"/>
            <a:headEnd/>
            <a:tailEnd/>
          </a:ln>
        </p:spPr>
        <p:txBody>
          <a:bodyPr wrap="none" anchor="ctr"/>
          <a:lstStyle/>
          <a:p>
            <a:pPr algn="ctr"/>
            <a:r>
              <a:rPr lang="en-US" sz="2400" b="1" dirty="0">
                <a:latin typeface="Arial Narrow" panose="020B0606020202030204" pitchFamily="34" charset="0"/>
              </a:rPr>
              <a:t>Reduce distortion of USB audio signal on Renault AIVI2</a:t>
            </a:r>
            <a:endParaRPr lang="en-US" sz="2400" b="1" dirty="0">
              <a:latin typeface="Arial Narrow" panose="020B0606020202030204" pitchFamily="34" charset="0"/>
              <a:ea typeface="LG Smart_H Regular" panose="020B0600000101010101" pitchFamily="34" charset="-127"/>
            </a:endParaRPr>
          </a:p>
        </p:txBody>
      </p:sp>
      <p:grpSp>
        <p:nvGrpSpPr>
          <p:cNvPr id="12" name="Group 11">
            <a:extLst>
              <a:ext uri="{FF2B5EF4-FFF2-40B4-BE49-F238E27FC236}">
                <a16:creationId xmlns:a16="http://schemas.microsoft.com/office/drawing/2014/main" id="{DD851E7A-6FAF-4210-8931-83AF9BA1DA86}"/>
              </a:ext>
            </a:extLst>
          </p:cNvPr>
          <p:cNvGrpSpPr/>
          <p:nvPr/>
        </p:nvGrpSpPr>
        <p:grpSpPr>
          <a:xfrm>
            <a:off x="3057478" y="2149003"/>
            <a:ext cx="3846611" cy="2700338"/>
            <a:chOff x="3122613" y="2564905"/>
            <a:chExt cx="3603625" cy="2519858"/>
          </a:xfrm>
        </p:grpSpPr>
        <p:sp>
          <p:nvSpPr>
            <p:cNvPr id="13" name="Rectangle 7">
              <a:extLst>
                <a:ext uri="{FF2B5EF4-FFF2-40B4-BE49-F238E27FC236}">
                  <a16:creationId xmlns:a16="http://schemas.microsoft.com/office/drawing/2014/main" id="{5641BEF1-6031-488D-B9D7-CA8E6D86A65E}"/>
                </a:ext>
              </a:extLst>
            </p:cNvPr>
            <p:cNvSpPr>
              <a:spLocks noChangeArrowheads="1"/>
            </p:cNvSpPr>
            <p:nvPr>
              <p:custDataLst>
                <p:tags r:id="rId2"/>
              </p:custDataLst>
            </p:nvPr>
          </p:nvSpPr>
          <p:spPr bwMode="auto">
            <a:xfrm>
              <a:off x="3122613" y="2564905"/>
              <a:ext cx="3603625" cy="436842"/>
            </a:xfrm>
            <a:prstGeom prst="rect">
              <a:avLst/>
            </a:prstGeom>
            <a:solidFill>
              <a:srgbClr val="7B9A9F"/>
            </a:solidFill>
            <a:ln w="9525">
              <a:noFill/>
              <a:miter lim="800000"/>
              <a:headEnd/>
              <a:tailEnd/>
            </a:ln>
          </p:spPr>
          <p:txBody>
            <a:bodyPr lIns="89978" tIns="45709" rIns="89978" bIns="45709" anchor="ctr"/>
            <a:lstStyle/>
            <a:p>
              <a:pPr algn="ctr">
                <a:defRPr/>
              </a:pPr>
              <a:r>
                <a:rPr lang="en-US" altLang="ko-KR" b="1" kern="0" dirty="0">
                  <a:solidFill>
                    <a:srgbClr val="FFFFFF"/>
                  </a:solidFill>
                  <a:latin typeface="Arial Narrow" panose="020B0606020202030204" pitchFamily="34" charset="0"/>
                  <a:ea typeface="맑은 고딕" pitchFamily="50" charset="-127"/>
                  <a:cs typeface="Arial" panose="020B0604020202020204" pitchFamily="34" charset="0"/>
                </a:rPr>
                <a:t>Contents</a:t>
              </a:r>
              <a:endParaRPr lang="ko-KR" altLang="en-US" b="1" kern="0" dirty="0">
                <a:solidFill>
                  <a:srgbClr val="FFFFFF"/>
                </a:solidFill>
                <a:latin typeface="Arial Narrow" panose="020B0606020202030204" pitchFamily="34" charset="0"/>
                <a:ea typeface="맑은 고딕" pitchFamily="50" charset="-127"/>
                <a:cs typeface="Arial" panose="020B0604020202020204" pitchFamily="34" charset="0"/>
              </a:endParaRPr>
            </a:p>
          </p:txBody>
        </p:sp>
        <p:sp>
          <p:nvSpPr>
            <p:cNvPr id="14" name="Rectangle 8">
              <a:extLst>
                <a:ext uri="{FF2B5EF4-FFF2-40B4-BE49-F238E27FC236}">
                  <a16:creationId xmlns:a16="http://schemas.microsoft.com/office/drawing/2014/main" id="{4114E979-FFDC-498D-A39A-CD6567B2E05A}"/>
                </a:ext>
              </a:extLst>
            </p:cNvPr>
            <p:cNvSpPr>
              <a:spLocks noChangeArrowheads="1"/>
            </p:cNvSpPr>
            <p:nvPr>
              <p:custDataLst>
                <p:tags r:id="rId3"/>
              </p:custDataLst>
            </p:nvPr>
          </p:nvSpPr>
          <p:spPr bwMode="auto">
            <a:xfrm>
              <a:off x="3122613" y="3009900"/>
              <a:ext cx="3603625" cy="2074863"/>
            </a:xfrm>
            <a:prstGeom prst="rect">
              <a:avLst/>
            </a:prstGeom>
            <a:solidFill>
              <a:srgbClr val="FFFFFF"/>
            </a:solidFill>
            <a:ln w="3175">
              <a:solidFill>
                <a:srgbClr val="808080"/>
              </a:solidFill>
              <a:miter lim="800000"/>
              <a:headEnd/>
              <a:tailEnd/>
            </a:ln>
          </p:spPr>
          <p:txBody>
            <a:bodyPr lIns="91417" tIns="45709" rIns="91417" bIns="45709" anchor="ctr"/>
            <a:lstStyle/>
            <a:p>
              <a:pPr marL="984244" indent="184149">
                <a:lnSpc>
                  <a:spcPct val="130000"/>
                </a:lnSpc>
                <a:tabLst>
                  <a:tab pos="984244" algn="l"/>
                </a:tabLst>
                <a:defRPr/>
              </a:pPr>
              <a:r>
                <a:rPr lang="en-US" altLang="ko-KR" sz="1500" b="1" kern="0" dirty="0">
                  <a:solidFill>
                    <a:sysClr val="windowText" lastClr="000000"/>
                  </a:solidFill>
                  <a:latin typeface="Arial Narrow" panose="020B0606020202030204" pitchFamily="34" charset="0"/>
                  <a:ea typeface="맑은 고딕" pitchFamily="50" charset="-127"/>
                  <a:cs typeface="Arial" panose="020B0604020202020204" pitchFamily="34" charset="0"/>
                </a:rPr>
                <a:t>1. Define</a:t>
              </a:r>
              <a:endParaRPr lang="ko-KR" altLang="en-US" sz="1500" b="1" kern="0" dirty="0">
                <a:solidFill>
                  <a:sysClr val="windowText" lastClr="000000"/>
                </a:solidFill>
                <a:latin typeface="Arial Narrow" panose="020B0606020202030204" pitchFamily="34" charset="0"/>
                <a:ea typeface="맑은 고딕" pitchFamily="50" charset="-127"/>
                <a:cs typeface="Arial" panose="020B0604020202020204" pitchFamily="34" charset="0"/>
              </a:endParaRPr>
            </a:p>
            <a:p>
              <a:pPr marL="984244" indent="184149">
                <a:lnSpc>
                  <a:spcPct val="130000"/>
                </a:lnSpc>
                <a:tabLst>
                  <a:tab pos="984244" algn="l"/>
                </a:tabLst>
                <a:defRPr/>
              </a:pPr>
              <a:r>
                <a:rPr lang="en-US" altLang="ko-KR" sz="1500" b="1" kern="0" dirty="0">
                  <a:solidFill>
                    <a:sysClr val="windowText" lastClr="000000"/>
                  </a:solidFill>
                  <a:latin typeface="Arial Narrow" panose="020B0606020202030204" pitchFamily="34" charset="0"/>
                  <a:ea typeface="맑은 고딕" pitchFamily="50" charset="-127"/>
                  <a:cs typeface="Arial" panose="020B0604020202020204" pitchFamily="34" charset="0"/>
                </a:rPr>
                <a:t>2. Measurement</a:t>
              </a:r>
              <a:endParaRPr lang="en-US" altLang="ko-KR" sz="1500" b="1" kern="0" dirty="0">
                <a:solidFill>
                  <a:srgbClr val="FFFFFF">
                    <a:lumMod val="65000"/>
                  </a:srgbClr>
                </a:solidFill>
                <a:latin typeface="Arial Narrow" panose="020B0606020202030204" pitchFamily="34" charset="0"/>
                <a:ea typeface="맑은 고딕" pitchFamily="50" charset="-127"/>
                <a:cs typeface="Arial" panose="020B0604020202020204" pitchFamily="34" charset="0"/>
              </a:endParaRPr>
            </a:p>
            <a:p>
              <a:pPr marL="984244" indent="184149">
                <a:lnSpc>
                  <a:spcPct val="130000"/>
                </a:lnSpc>
                <a:tabLst>
                  <a:tab pos="984244" algn="l"/>
                </a:tabLst>
                <a:defRPr/>
              </a:pPr>
              <a:r>
                <a:rPr lang="en-US" altLang="ko-KR" sz="1500" b="1" kern="0" dirty="0">
                  <a:solidFill>
                    <a:sysClr val="windowText" lastClr="000000"/>
                  </a:solidFill>
                  <a:latin typeface="Arial Narrow" panose="020B0606020202030204" pitchFamily="34" charset="0"/>
                  <a:ea typeface="맑은 고딕" pitchFamily="50" charset="-127"/>
                  <a:cs typeface="Arial" panose="020B0604020202020204" pitchFamily="34" charset="0"/>
                </a:rPr>
                <a:t>3. Analyze</a:t>
              </a:r>
            </a:p>
            <a:p>
              <a:pPr marL="984244" indent="184149">
                <a:lnSpc>
                  <a:spcPct val="130000"/>
                </a:lnSpc>
                <a:tabLst>
                  <a:tab pos="984244" algn="l"/>
                </a:tabLst>
                <a:defRPr/>
              </a:pPr>
              <a:r>
                <a:rPr lang="en-US" altLang="ko-KR" sz="1500" b="1" kern="0" dirty="0">
                  <a:solidFill>
                    <a:sysClr val="windowText" lastClr="000000"/>
                  </a:solidFill>
                  <a:latin typeface="Arial Narrow" panose="020B0606020202030204" pitchFamily="34" charset="0"/>
                  <a:ea typeface="맑은 고딕" pitchFamily="50" charset="-127"/>
                  <a:cs typeface="Arial" panose="020B0604020202020204" pitchFamily="34" charset="0"/>
                </a:rPr>
                <a:t>4. Improvement</a:t>
              </a:r>
            </a:p>
            <a:p>
              <a:pPr marL="984244" indent="184149">
                <a:lnSpc>
                  <a:spcPct val="130000"/>
                </a:lnSpc>
                <a:tabLst>
                  <a:tab pos="984244" algn="l"/>
                </a:tabLst>
                <a:defRPr/>
              </a:pPr>
              <a:r>
                <a:rPr lang="en-US" altLang="ko-KR" sz="1500" b="1" kern="0" dirty="0">
                  <a:solidFill>
                    <a:sysClr val="windowText" lastClr="000000"/>
                  </a:solidFill>
                  <a:latin typeface="Arial Narrow" panose="020B0606020202030204" pitchFamily="34" charset="0"/>
                  <a:ea typeface="맑은 고딕" pitchFamily="50" charset="-127"/>
                  <a:cs typeface="Arial" panose="020B0604020202020204" pitchFamily="34" charset="0"/>
                </a:rPr>
                <a:t>5. Control</a:t>
              </a:r>
            </a:p>
          </p:txBody>
        </p:sp>
      </p:grpSp>
    </p:spTree>
    <p:extLst>
      <p:ext uri="{BB962C8B-B14F-4D97-AF65-F5344CB8AC3E}">
        <p14:creationId xmlns:p14="http://schemas.microsoft.com/office/powerpoint/2010/main" val="34821770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1374756" y="355100"/>
            <a:ext cx="2491325" cy="369302"/>
          </a:xfrm>
          <a:prstGeom prst="rect">
            <a:avLst/>
          </a:prstGeom>
          <a:noFill/>
          <a:ln w="9525" algn="ctr">
            <a:noFill/>
            <a:miter lim="800000"/>
            <a:headEnd/>
            <a:tailEnd/>
          </a:ln>
        </p:spPr>
        <p:txBody>
          <a:bodyPr wrap="none" lIns="91409" tIns="45705" rIns="91409" bIns="45705" anchor="ctr">
            <a:spAutoFit/>
          </a:bodyPr>
          <a:lstStyle/>
          <a:p>
            <a:pPr algn="ctr" eaLnBrk="0" latinLnBrk="0" hangingPunct="0">
              <a:buFont typeface="Wingdings" pitchFamily="2" charset="2"/>
              <a:buNone/>
            </a:pPr>
            <a:r>
              <a:rPr lang="en-US" altLang="ko-KR" u="sng"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rPr>
              <a:t>Six Sigma Project Register </a:t>
            </a:r>
            <a:endParaRPr lang="ko-KR" altLang="en-US" u="sng"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endParaRPr>
          </a:p>
        </p:txBody>
      </p:sp>
      <p:graphicFrame>
        <p:nvGraphicFramePr>
          <p:cNvPr id="75" name="Group 68"/>
          <p:cNvGraphicFramePr>
            <a:graphicFrameLocks noGrp="1"/>
          </p:cNvGraphicFramePr>
          <p:nvPr>
            <p:extLst>
              <p:ext uri="{D42A27DB-BD31-4B8C-83A1-F6EECF244321}">
                <p14:modId xmlns:p14="http://schemas.microsoft.com/office/powerpoint/2010/main" val="3689214381"/>
              </p:ext>
            </p:extLst>
          </p:nvPr>
        </p:nvGraphicFramePr>
        <p:xfrm>
          <a:off x="7208675" y="152164"/>
          <a:ext cx="2421462" cy="572238"/>
        </p:xfrm>
        <a:graphic>
          <a:graphicData uri="http://schemas.openxmlformats.org/drawingml/2006/table">
            <a:tbl>
              <a:tblPr/>
              <a:tblGrid>
                <a:gridCol w="855862">
                  <a:extLst>
                    <a:ext uri="{9D8B030D-6E8A-4147-A177-3AD203B41FA5}">
                      <a16:colId xmlns:a16="http://schemas.microsoft.com/office/drawing/2014/main" val="20000"/>
                    </a:ext>
                  </a:extLst>
                </a:gridCol>
                <a:gridCol w="1565600">
                  <a:extLst>
                    <a:ext uri="{9D8B030D-6E8A-4147-A177-3AD203B41FA5}">
                      <a16:colId xmlns:a16="http://schemas.microsoft.com/office/drawing/2014/main" val="20001"/>
                    </a:ext>
                  </a:extLst>
                </a:gridCol>
              </a:tblGrid>
              <a:tr h="190746">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Team</a:t>
                      </a:r>
                      <a:endParaRPr kumimoji="0" lang="ko-KR" altLang="en-US" sz="1000" b="0"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endParaRP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IVI LD1</a:t>
                      </a:r>
                      <a:endParaRPr kumimoji="0" lang="ko-KR" altLang="en-US" sz="1000" b="0"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endParaRP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90746">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Leader</a:t>
                      </a:r>
                      <a:endParaRPr kumimoji="0" lang="ko-KR" altLang="en-US" sz="1000" b="0"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endParaRP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Nguyen Dinh Huong</a:t>
                      </a:r>
                      <a:endParaRPr kumimoji="0" lang="ko-KR" altLang="en-US" sz="1000" b="0"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endParaRP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90746">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Owner</a:t>
                      </a:r>
                      <a:endParaRPr kumimoji="0" lang="en-US" altLang="ko-KR" sz="1000" b="0"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endParaRP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Nguyen Dinh Hoang Anh</a:t>
                      </a:r>
                      <a:endParaRPr kumimoji="0" lang="ko-KR" altLang="en-US" sz="1000" b="0"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endParaRP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18" name="Group 133"/>
          <p:cNvGraphicFramePr>
            <a:graphicFrameLocks noGrp="1"/>
          </p:cNvGraphicFramePr>
          <p:nvPr>
            <p:extLst>
              <p:ext uri="{D42A27DB-BD31-4B8C-83A1-F6EECF244321}">
                <p14:modId xmlns:p14="http://schemas.microsoft.com/office/powerpoint/2010/main" val="692283886"/>
              </p:ext>
            </p:extLst>
          </p:nvPr>
        </p:nvGraphicFramePr>
        <p:xfrm>
          <a:off x="318304" y="882026"/>
          <a:ext cx="9311833" cy="5744478"/>
        </p:xfrm>
        <a:graphic>
          <a:graphicData uri="http://schemas.openxmlformats.org/drawingml/2006/table">
            <a:tbl>
              <a:tblPr/>
              <a:tblGrid>
                <a:gridCol w="644364">
                  <a:extLst>
                    <a:ext uri="{9D8B030D-6E8A-4147-A177-3AD203B41FA5}">
                      <a16:colId xmlns:a16="http://schemas.microsoft.com/office/drawing/2014/main" val="20000"/>
                    </a:ext>
                  </a:extLst>
                </a:gridCol>
                <a:gridCol w="1931898">
                  <a:extLst>
                    <a:ext uri="{9D8B030D-6E8A-4147-A177-3AD203B41FA5}">
                      <a16:colId xmlns:a16="http://schemas.microsoft.com/office/drawing/2014/main" val="20001"/>
                    </a:ext>
                  </a:extLst>
                </a:gridCol>
                <a:gridCol w="694251">
                  <a:extLst>
                    <a:ext uri="{9D8B030D-6E8A-4147-A177-3AD203B41FA5}">
                      <a16:colId xmlns:a16="http://schemas.microsoft.com/office/drawing/2014/main" val="20002"/>
                    </a:ext>
                  </a:extLst>
                </a:gridCol>
                <a:gridCol w="1110801">
                  <a:extLst>
                    <a:ext uri="{9D8B030D-6E8A-4147-A177-3AD203B41FA5}">
                      <a16:colId xmlns:a16="http://schemas.microsoft.com/office/drawing/2014/main" val="20003"/>
                    </a:ext>
                  </a:extLst>
                </a:gridCol>
                <a:gridCol w="138851">
                  <a:extLst>
                    <a:ext uri="{9D8B030D-6E8A-4147-A177-3AD203B41FA5}">
                      <a16:colId xmlns:a16="http://schemas.microsoft.com/office/drawing/2014/main" val="20004"/>
                    </a:ext>
                  </a:extLst>
                </a:gridCol>
                <a:gridCol w="626160">
                  <a:extLst>
                    <a:ext uri="{9D8B030D-6E8A-4147-A177-3AD203B41FA5}">
                      <a16:colId xmlns:a16="http://schemas.microsoft.com/office/drawing/2014/main" val="20005"/>
                    </a:ext>
                  </a:extLst>
                </a:gridCol>
                <a:gridCol w="624827">
                  <a:extLst>
                    <a:ext uri="{9D8B030D-6E8A-4147-A177-3AD203B41FA5}">
                      <a16:colId xmlns:a16="http://schemas.microsoft.com/office/drawing/2014/main" val="20006"/>
                    </a:ext>
                  </a:extLst>
                </a:gridCol>
                <a:gridCol w="694251">
                  <a:extLst>
                    <a:ext uri="{9D8B030D-6E8A-4147-A177-3AD203B41FA5}">
                      <a16:colId xmlns:a16="http://schemas.microsoft.com/office/drawing/2014/main" val="20007"/>
                    </a:ext>
                  </a:extLst>
                </a:gridCol>
                <a:gridCol w="970618">
                  <a:extLst>
                    <a:ext uri="{9D8B030D-6E8A-4147-A177-3AD203B41FA5}">
                      <a16:colId xmlns:a16="http://schemas.microsoft.com/office/drawing/2014/main" val="20008"/>
                    </a:ext>
                  </a:extLst>
                </a:gridCol>
                <a:gridCol w="1875812">
                  <a:extLst>
                    <a:ext uri="{9D8B030D-6E8A-4147-A177-3AD203B41FA5}">
                      <a16:colId xmlns:a16="http://schemas.microsoft.com/office/drawing/2014/main" val="20009"/>
                    </a:ext>
                  </a:extLst>
                </a:gridCol>
              </a:tblGrid>
              <a:tr h="478071">
                <a:tc>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000" b="1"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Theme</a:t>
                      </a:r>
                      <a:endParaRPr kumimoji="0" lang="ko-KR" altLang="en-US" sz="1000" b="1"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4">
                  <a:txBody>
                    <a:bodyPr/>
                    <a:lstStyle/>
                    <a:p>
                      <a:r>
                        <a:rPr lang="en-US" sz="1000" kern="1200" dirty="0">
                          <a:solidFill>
                            <a:schemeClr val="tx1"/>
                          </a:solidFill>
                          <a:effectLst/>
                          <a:latin typeface="Arial Narrow" panose="020B0606020202030204" pitchFamily="34" charset="0"/>
                          <a:ea typeface="+mn-ea"/>
                          <a:cs typeface="+mn-cs"/>
                        </a:rPr>
                        <a:t>Model Renault AIVI2 – Media 2 Station</a:t>
                      </a:r>
                    </a:p>
                    <a:p>
                      <a:pPr marL="0" indent="0" algn="l">
                        <a:buFont typeface="Arial" panose="020B0604020202020204" pitchFamily="34" charset="0"/>
                        <a:buNone/>
                      </a:pPr>
                      <a:r>
                        <a:rPr lang="en-US" sz="1000" b="0" dirty="0">
                          <a:latin typeface="Arial Narrow" panose="020B0606020202030204" pitchFamily="34" charset="0"/>
                        </a:rPr>
                        <a:t>Reduce d</a:t>
                      </a:r>
                      <a:r>
                        <a:rPr lang="en-US" sz="1000" dirty="0">
                          <a:latin typeface="Arial Narrow" panose="020B0606020202030204" pitchFamily="34" charset="0"/>
                        </a:rPr>
                        <a:t>istortion of USB audio signal on Renault AIVI2</a:t>
                      </a:r>
                      <a:endParaRPr lang="en-US" sz="1000" b="0" dirty="0">
                        <a:latin typeface="Arial Narrow" panose="020B0606020202030204" pitchFamily="34" charset="0"/>
                        <a:ea typeface="LG Smart_H Regular" panose="020B0600000101010101" pitchFamily="34" charset="-127"/>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000" b="1"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Period</a:t>
                      </a:r>
                      <a:endParaRPr kumimoji="0" lang="ko-KR" altLang="en-US" sz="1000" b="1"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2">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2026.09.01~2026.11.10</a:t>
                      </a: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latinLnBrk="1"/>
                      <a:endParaRPr lang="ko-KR" altLang="en-US"/>
                    </a:p>
                  </a:txBody>
                  <a:tcPr/>
                </a:tc>
                <a:tc>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000" b="1"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Task team name</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rgbClr val="000000"/>
                          </a:solidFill>
                          <a:effectLst/>
                          <a:latin typeface="Arial Narrow" panose="020B0606020202030204" pitchFamily="34" charset="0"/>
                          <a:ea typeface="LG스마트체 Regular" panose="020B0600000101010101" pitchFamily="50" charset="-127"/>
                          <a:cs typeface="Arial" panose="020B0604020202020204" pitchFamily="34" charset="0"/>
                        </a:rPr>
                        <a:t>IVI LD1</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9279">
                <a:tc rowSpan="2" gridSpan="2">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000" b="1"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Six Sigma Project</a:t>
                      </a:r>
                      <a:endParaRPr kumimoji="0" lang="ko-KR" altLang="en-US" sz="1000" b="1"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rowSpan="2" hMerge="1">
                  <a:txBody>
                    <a:bodyPr/>
                    <a:lstStyle/>
                    <a:p>
                      <a:pPr latinLnBrk="1"/>
                      <a:endParaRPr lang="ko-KR" altLang="en-US"/>
                    </a:p>
                  </a:txBody>
                  <a:tcPr/>
                </a:tc>
                <a:tc gridSpan="6">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000" b="1"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Improvement Goal (Stretch Goal)</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rowSpan="2" gridSpan="2">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000" b="1"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Idea of breaking the limit</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rowSpan="2" hMerge="1">
                  <a:txBody>
                    <a:bodyPr/>
                    <a:lstStyle/>
                    <a:p>
                      <a:pPr latinLnBrk="1"/>
                      <a:endParaRPr lang="ko-KR" altLang="en-US"/>
                    </a:p>
                  </a:txBody>
                  <a:tcPr/>
                </a:tc>
                <a:extLst>
                  <a:ext uri="{0D108BD9-81ED-4DB2-BD59-A6C34878D82A}">
                    <a16:rowId xmlns:a16="http://schemas.microsoft.com/office/drawing/2014/main" val="10001"/>
                  </a:ext>
                </a:extLst>
              </a:tr>
              <a:tr h="415459">
                <a:tc gridSpan="2" vMerge="1">
                  <a:txBody>
                    <a:bodyPr/>
                    <a:lstStyle/>
                    <a:p>
                      <a:pPr latinLnBrk="1"/>
                      <a:endParaRPr lang="ko-KR" altLang="en-US"/>
                    </a:p>
                  </a:txBody>
                  <a:tcPr/>
                </a:tc>
                <a:tc hMerge="1" vMerge="1">
                  <a:txBody>
                    <a:bodyPr/>
                    <a:lstStyle/>
                    <a:p>
                      <a:pPr latinLnBrk="1"/>
                      <a:endParaRPr lang="ko-KR" altLang="en-US" dirty="0"/>
                    </a:p>
                  </a:txBody>
                  <a:tcPr/>
                </a:tc>
                <a:tc gridSpan="2">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000" b="1"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Improvement index</a:t>
                      </a: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latinLnBrk="1"/>
                      <a:endParaRPr lang="ko-KR" altLang="en-US"/>
                    </a:p>
                  </a:txBody>
                  <a:tcPr/>
                </a:tc>
                <a:tc gridSpan="2">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000" b="1"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Current</a:t>
                      </a:r>
                      <a:endParaRPr kumimoji="0" lang="ko-KR" altLang="en-US" sz="1000" b="1"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latinLnBrk="1"/>
                      <a:endParaRPr lang="ko-KR" altLang="en-US"/>
                    </a:p>
                  </a:txBody>
                  <a:tcPr/>
                </a:tc>
                <a:tc>
                  <a:txBody>
                    <a:bodyPr/>
                    <a:lstStyle/>
                    <a:p>
                      <a:pPr marL="0" marR="0" lvl="0" indent="0" algn="ctr" defTabSz="912813" rtl="0" eaLnBrk="1" fontAlgn="base" latinLnBrk="1" hangingPunct="1">
                        <a:lnSpc>
                          <a:spcPct val="100000"/>
                        </a:lnSpc>
                        <a:spcBef>
                          <a:spcPct val="0"/>
                        </a:spcBef>
                        <a:spcAft>
                          <a:spcPct val="0"/>
                        </a:spcAft>
                        <a:buClrTx/>
                        <a:buSzTx/>
                        <a:buFontTx/>
                        <a:buNone/>
                        <a:tabLst/>
                        <a:defRPr/>
                      </a:pPr>
                      <a:r>
                        <a:rPr kumimoji="0" lang="en-US" altLang="ko-KR" sz="1000" b="1"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World</a:t>
                      </a:r>
                    </a:p>
                    <a:p>
                      <a:pPr marL="0" marR="0" lvl="0" indent="0" algn="ctr" defTabSz="912813" rtl="0" eaLnBrk="1" fontAlgn="base" latinLnBrk="1" hangingPunct="1">
                        <a:lnSpc>
                          <a:spcPct val="100000"/>
                        </a:lnSpc>
                        <a:spcBef>
                          <a:spcPct val="0"/>
                        </a:spcBef>
                        <a:spcAft>
                          <a:spcPct val="0"/>
                        </a:spcAft>
                        <a:buClrTx/>
                        <a:buSzTx/>
                        <a:buFontTx/>
                        <a:buNone/>
                        <a:tabLst/>
                        <a:defRPr/>
                      </a:pPr>
                      <a:r>
                        <a:rPr kumimoji="0" lang="en-US" altLang="ko-KR" sz="1000" b="1"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Best</a:t>
                      </a: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000" b="1"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Goal</a:t>
                      </a:r>
                      <a:endParaRPr kumimoji="0" lang="ko-KR" altLang="en-US" sz="1000" b="1"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2" vMerge="1">
                  <a:txBody>
                    <a:bodyPr/>
                    <a:lstStyle/>
                    <a:p>
                      <a:pPr latinLnBrk="1"/>
                      <a:endParaRPr lang="ko-KR" altLang="en-US"/>
                    </a:p>
                  </a:txBody>
                  <a:tcPr/>
                </a:tc>
                <a:tc hMerge="1" vMerge="1">
                  <a:txBody>
                    <a:bodyPr/>
                    <a:lstStyle/>
                    <a:p>
                      <a:pPr latinLnBrk="1"/>
                      <a:endParaRPr lang="ko-KR" altLang="en-US"/>
                    </a:p>
                  </a:txBody>
                  <a:tcPr/>
                </a:tc>
                <a:extLst>
                  <a:ext uri="{0D108BD9-81ED-4DB2-BD59-A6C34878D82A}">
                    <a16:rowId xmlns:a16="http://schemas.microsoft.com/office/drawing/2014/main" val="10002"/>
                  </a:ext>
                </a:extLst>
              </a:tr>
              <a:tr h="658527">
                <a:tc rowSpan="2" gridSpan="2">
                  <a:txBody>
                    <a:bodyPr/>
                    <a:lstStyle/>
                    <a:p>
                      <a:pPr marL="0" indent="0" algn="ctr">
                        <a:buFont typeface="Arial" panose="020B0604020202020204" pitchFamily="34" charset="0"/>
                        <a:buNone/>
                      </a:pPr>
                      <a:r>
                        <a:rPr lang="en-US" sz="1000" b="0" dirty="0">
                          <a:latin typeface="Arial Narrow" panose="020B0606020202030204" pitchFamily="34" charset="0"/>
                        </a:rPr>
                        <a:t>Reduce d</a:t>
                      </a:r>
                      <a:r>
                        <a:rPr lang="en-US" sz="1000" dirty="0">
                          <a:latin typeface="Arial Narrow" panose="020B0606020202030204" pitchFamily="34" charset="0"/>
                        </a:rPr>
                        <a:t>istortion of USB audio signal on Renault AIVI2</a:t>
                      </a:r>
                      <a:endParaRPr lang="en-US" sz="1000" b="0" dirty="0">
                        <a:latin typeface="Arial Narrow" panose="020B0606020202030204" pitchFamily="34" charset="0"/>
                        <a:ea typeface="LG Smart_H Regular" panose="020B0600000101010101" pitchFamily="34" charset="-127"/>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hMerge="1">
                  <a:txBody>
                    <a:bodyPr/>
                    <a:lstStyle/>
                    <a:p>
                      <a:pPr latinLnBrk="1"/>
                      <a:endParaRPr lang="ko-KR" altLang="en-US"/>
                    </a:p>
                  </a:txBody>
                  <a:tcPr/>
                </a:tc>
                <a:tc>
                  <a:txBody>
                    <a:bodyPr/>
                    <a:lstStyle/>
                    <a:p>
                      <a:pPr algn="ctr"/>
                      <a:r>
                        <a:rPr kumimoji="0" lang="en-US" altLang="ko-KR" sz="1000" b="0" i="0" u="none" strike="noStrike" kern="1200" cap="none" normalizeH="0" baseline="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KPI</a:t>
                      </a:r>
                      <a:endParaRPr kumimoji="0" lang="ko-KR" altLang="en-US" sz="1000" b="0" i="0" u="none" strike="noStrike" kern="1200" cap="none" normalizeH="0" baseline="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1" hangingPunct="1">
                        <a:lnSpc>
                          <a:spcPct val="11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Narrow" panose="020B0606020202030204" pitchFamily="34" charset="0"/>
                          <a:ea typeface="LG Smart_H Regular" panose="020B0600000101010101" pitchFamily="34" charset="-127"/>
                          <a:cs typeface="Arial" pitchFamily="34" charset="0"/>
                        </a:rPr>
                        <a:t>Reduce defect for this issue</a:t>
                      </a:r>
                      <a:r>
                        <a:rPr kumimoji="0" lang="en-US" altLang="ko-KR" sz="1000" b="0" i="0" u="none" strike="noStrike" kern="1200" cap="none" normalizeH="0" baseline="0" dirty="0">
                          <a:ln>
                            <a:noFill/>
                          </a:ln>
                          <a:solidFill>
                            <a:schemeClr val="tx1"/>
                          </a:solidFill>
                          <a:effectLst/>
                          <a:latin typeface="Arial Narrow" panose="020B0606020202030204" pitchFamily="34" charset="0"/>
                          <a:ea typeface="LG Smart_H Regular" panose="020B0600000101010101" pitchFamily="34" charset="-127"/>
                          <a:cs typeface="Arial" pitchFamily="34" charset="0"/>
                          <a:sym typeface="Wingdings" pitchFamily="2" charset="2"/>
                        </a:rPr>
                        <a:t> </a:t>
                      </a:r>
                      <a:r>
                        <a:rPr kumimoji="0" lang="en-US" altLang="ko-KR" sz="1000" b="0" i="0" u="none" strike="noStrike" cap="none" normalizeH="0" baseline="0" dirty="0">
                          <a:ln>
                            <a:noFill/>
                          </a:ln>
                          <a:solidFill>
                            <a:schemeClr val="tx1"/>
                          </a:solidFill>
                          <a:effectLst/>
                          <a:latin typeface="Arial Narrow" panose="020B0606020202030204" pitchFamily="34" charset="0"/>
                          <a:ea typeface="LG Smart_H Regular" panose="020B0600000101010101" pitchFamily="34" charset="-127"/>
                          <a:cs typeface="Arial" pitchFamily="34" charset="0"/>
                        </a:rPr>
                        <a:t>(ppm)</a:t>
                      </a: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2813" rtl="0" eaLnBrk="1" fontAlgn="base" latinLnBrk="1" hangingPunct="1">
                        <a:lnSpc>
                          <a:spcPct val="110000"/>
                        </a:lnSpc>
                        <a:spcBef>
                          <a:spcPct val="0"/>
                        </a:spcBef>
                        <a:spcAft>
                          <a:spcPct val="0"/>
                        </a:spcAft>
                        <a:buClrTx/>
                        <a:buSzTx/>
                        <a:buFontTx/>
                        <a:buNone/>
                        <a:tabLst/>
                      </a:pPr>
                      <a:r>
                        <a:rPr kumimoji="0" lang="en-US" altLang="ko-KR" sz="1000" b="0" i="0" u="none" strike="noStrike" kern="1200" cap="none" normalizeH="0" baseline="0" dirty="0">
                          <a:ln>
                            <a:noFill/>
                          </a:ln>
                          <a:solidFill>
                            <a:srgbClr val="000000"/>
                          </a:solidFill>
                          <a:effectLst/>
                          <a:latin typeface="Arial Narrow" panose="020B0606020202030204" pitchFamily="34" charset="0"/>
                          <a:ea typeface="LG Smart_H Regular" panose="020B0600000101010101"/>
                          <a:cs typeface="Arial" panose="020B0604020202020204" pitchFamily="34" charset="0"/>
                        </a:rPr>
                        <a:t>47,091</a:t>
                      </a:r>
                      <a:endParaRPr kumimoji="0" lang="en-US" altLang="ko-KR" sz="1000" b="0" i="0" u="none" strike="noStrike" kern="1200" cap="none" normalizeH="0" baseline="0" dirty="0">
                        <a:ln>
                          <a:noFill/>
                        </a:ln>
                        <a:solidFill>
                          <a:schemeClr val="tx1"/>
                        </a:solidFill>
                        <a:effectLst/>
                        <a:latin typeface="Arial Narrow" panose="020B0606020202030204" pitchFamily="34" charset="0"/>
                        <a:ea typeface="LG Smart_H Regular" pitchFamily="34" charset="-127"/>
                        <a:cs typeface="Arial" pitchFamily="34" charset="0"/>
                      </a:endParaRPr>
                    </a:p>
                    <a:p>
                      <a:pPr marL="0" marR="0" lvl="0" indent="0" algn="ctr" defTabSz="912813" rtl="0" eaLnBrk="1" fontAlgn="base" latinLnBrk="1" hangingPunct="1">
                        <a:lnSpc>
                          <a:spcPct val="110000"/>
                        </a:lnSpc>
                        <a:spcBef>
                          <a:spcPct val="0"/>
                        </a:spcBef>
                        <a:spcAft>
                          <a:spcPct val="0"/>
                        </a:spcAft>
                        <a:buClrTx/>
                        <a:buSzTx/>
                        <a:buFontTx/>
                        <a:buNone/>
                        <a:tabLst/>
                      </a:pPr>
                      <a:r>
                        <a:rPr kumimoji="0" lang="en-US" altLang="ko-KR" sz="1000" b="0" i="0" u="none" strike="noStrike" kern="1200" cap="none" normalizeH="0" baseline="0" dirty="0">
                          <a:ln>
                            <a:noFill/>
                          </a:ln>
                          <a:solidFill>
                            <a:schemeClr val="tx1"/>
                          </a:solidFill>
                          <a:effectLst/>
                          <a:latin typeface="Arial Narrow" panose="020B0606020202030204" pitchFamily="34" charset="0"/>
                          <a:ea typeface="LG Smart_H Regular" pitchFamily="34" charset="-127"/>
                          <a:cs typeface="Arial" pitchFamily="34" charset="0"/>
                        </a:rPr>
                        <a:t>(ppm)</a:t>
                      </a: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pPr latinLnBrk="1"/>
                      <a:endParaRPr lang="ko-KR" altLang="en-US"/>
                    </a:p>
                  </a:txBody>
                  <a:tcPr/>
                </a:tc>
                <a:tc>
                  <a:txBody>
                    <a:bodyPr/>
                    <a:lstStyle/>
                    <a:p>
                      <a:pPr algn="ctr"/>
                      <a:r>
                        <a:rPr kumimoji="0" lang="en-US" altLang="ko-KR" sz="1000" b="0" i="0" u="none" strike="noStrike" kern="1200" cap="none" normalizeH="0" baseline="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NA</a:t>
                      </a:r>
                      <a:endParaRPr kumimoji="0" lang="ko-KR" altLang="en-US" sz="1000" b="0" i="0" u="none" strike="noStrike" kern="1200"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algn="ctr"/>
                      <a:r>
                        <a:rPr kumimoji="0" lang="en-US" altLang="ko-KR" sz="1000" b="0" i="0" u="none" strike="noStrike" kern="1200"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0ppm</a:t>
                      </a:r>
                      <a:endParaRPr kumimoji="0" lang="ko-KR" altLang="en-US" sz="1000" b="0" i="0" u="none" strike="noStrike" kern="1200"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rowSpan="2" gridSpan="2">
                  <a:txBody>
                    <a:bodyPr/>
                    <a:lstStyle/>
                    <a:p>
                      <a:pPr rtl="0"/>
                      <a:r>
                        <a:rPr lang="en-US" sz="1000" dirty="0">
                          <a:latin typeface="Arial Narrow" panose="020B0606020202030204" pitchFamily="34" charset="0"/>
                        </a:rPr>
                        <a:t>- Change job file sequence to run the USB test before the AUX test; realign and fix the contact level of the Pogo pin with the Pallet.</a:t>
                      </a:r>
                      <a:br>
                        <a:rPr lang="en-US" sz="1000" dirty="0">
                          <a:latin typeface="Arial Narrow" panose="020B0606020202030204" pitchFamily="34" charset="0"/>
                        </a:rPr>
                      </a:br>
                      <a:r>
                        <a:rPr lang="en-US" sz="1000" dirty="0">
                          <a:latin typeface="Arial Narrow" panose="020B0606020202030204" pitchFamily="34" charset="0"/>
                        </a:rPr>
                        <a:t>- Change the Audio signal connector type from pogo pin block to PCB and shift the connection direction from vertical to horizontal to reduce force stress.</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hMerge="1">
                  <a:txBody>
                    <a:bodyPr/>
                    <a:lstStyle/>
                    <a:p>
                      <a:pPr latinLnBrk="1"/>
                      <a:endParaRPr lang="ko-KR" altLang="en-US"/>
                    </a:p>
                  </a:txBody>
                  <a:tcPr/>
                </a:tc>
                <a:extLst>
                  <a:ext uri="{0D108BD9-81ED-4DB2-BD59-A6C34878D82A}">
                    <a16:rowId xmlns:a16="http://schemas.microsoft.com/office/drawing/2014/main" val="10003"/>
                  </a:ext>
                </a:extLst>
              </a:tr>
              <a:tr h="481011">
                <a:tc gridSpan="2" vMerge="1">
                  <a:txBody>
                    <a:bodyPr/>
                    <a:lstStyle/>
                    <a:p>
                      <a:pPr latinLnBrk="1"/>
                      <a:endParaRPr lang="ko-KR" altLang="en-US"/>
                    </a:p>
                  </a:txBody>
                  <a:tcPr/>
                </a:tc>
                <a:tc hMerge="1" vMerge="1">
                  <a:txBody>
                    <a:bodyPr/>
                    <a:lstStyle/>
                    <a:p>
                      <a:pPr latinLnBrk="1"/>
                      <a:endParaRPr lang="ko-KR" altLang="en-US"/>
                    </a:p>
                  </a:txBody>
                  <a:tcPr/>
                </a:tc>
                <a:tc>
                  <a:txBody>
                    <a:bodyPr/>
                    <a:lstStyle/>
                    <a:p>
                      <a:pPr algn="ctr"/>
                      <a:r>
                        <a:rPr kumimoji="0" lang="en-US" altLang="ko-KR" sz="1000" b="0" i="0" u="none" strike="noStrike" kern="1200"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Project Y</a:t>
                      </a:r>
                      <a:endParaRPr kumimoji="0" lang="ko-KR" altLang="en-US" sz="1000" b="0" i="0" u="none" strike="noStrike" kern="1200"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algn="ctr"/>
                      <a:r>
                        <a:rPr lang="en-US" sz="1000" dirty="0">
                          <a:latin typeface="Arial Narrow" panose="020B0606020202030204" pitchFamily="34" charset="0"/>
                          <a:ea typeface="LG Smart_H Regular" panose="020B0600000101010101" pitchFamily="34" charset="-127"/>
                        </a:rPr>
                        <a:t>Spec: 0 -&gt;1.2</a:t>
                      </a: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normalizeH="0" baseline="0" dirty="0" err="1">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Cpk</a:t>
                      </a:r>
                      <a:r>
                        <a:rPr kumimoji="0" lang="en-US" altLang="ko-KR" sz="1000" b="0" i="0" u="none" strike="noStrike" kern="1200"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 = 0.68</a:t>
                      </a:r>
                      <a:endParaRPr kumimoji="0" lang="ko-KR" altLang="en-US" sz="1000" b="0" i="0" u="none" strike="noStrike" kern="1200"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pPr latinLnBrk="1"/>
                      <a:endParaRPr lang="ko-KR" altLang="en-US"/>
                    </a:p>
                  </a:txBody>
                  <a:tcPr/>
                </a:tc>
                <a:tc>
                  <a:txBody>
                    <a:bodyPr/>
                    <a:lstStyle/>
                    <a:p>
                      <a:pPr algn="ctr"/>
                      <a:r>
                        <a:rPr kumimoji="0" lang="en-US" altLang="ko-KR" sz="1000" b="0" i="0" u="none" strike="noStrike" kern="1200"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NA</a:t>
                      </a:r>
                      <a:endParaRPr kumimoji="0" lang="ko-KR" altLang="en-US" sz="1000" b="0" i="0" u="none" strike="noStrike" kern="1200"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algn="ctr"/>
                      <a:r>
                        <a:rPr kumimoji="0" lang="en-US" altLang="ko-KR" sz="1000" b="0" i="0" u="none" strike="noStrike" kern="1200" cap="none" normalizeH="0" baseline="0" dirty="0" err="1">
                          <a:ln>
                            <a:noFill/>
                          </a:ln>
                          <a:solidFill>
                            <a:schemeClr val="tx1"/>
                          </a:solidFill>
                          <a:effectLst/>
                          <a:latin typeface="Arial Narrow" panose="020B0606020202030204" pitchFamily="34" charset="0"/>
                          <a:ea typeface="LG Smart_H Regular" panose="020B0600000101010101" pitchFamily="34" charset="-127"/>
                          <a:cs typeface="Arial" charset="0"/>
                        </a:rPr>
                        <a:t>Cpk</a:t>
                      </a:r>
                      <a:r>
                        <a:rPr kumimoji="0" lang="en-US" altLang="ko-KR" sz="1000" b="0" i="0" u="none" strike="noStrike" kern="1200" cap="none" normalizeH="0" baseline="0" dirty="0">
                          <a:ln>
                            <a:noFill/>
                          </a:ln>
                          <a:solidFill>
                            <a:schemeClr val="tx1"/>
                          </a:solidFill>
                          <a:effectLst/>
                          <a:latin typeface="Arial Narrow" panose="020B0606020202030204" pitchFamily="34" charset="0"/>
                          <a:ea typeface="LG Smart_H Regular" panose="020B0600000101010101" pitchFamily="34" charset="-127"/>
                          <a:cs typeface="Arial" charset="0"/>
                        </a:rPr>
                        <a:t> ≥1.33</a:t>
                      </a:r>
                      <a:endParaRPr kumimoji="0" lang="ko-KR" altLang="en-US" sz="1000" b="0" i="0" u="none" strike="noStrike" kern="1200" cap="none" normalizeH="0" baseline="0" dirty="0">
                        <a:ln>
                          <a:noFill/>
                        </a:ln>
                        <a:solidFill>
                          <a:schemeClr val="tx1"/>
                        </a:solidFill>
                        <a:effectLst/>
                        <a:latin typeface="Arial Narrow" panose="020B0606020202030204" pitchFamily="34" charset="0"/>
                        <a:ea typeface="LG Smart_H Regular" panose="020B0600000101010101" pitchFamily="34" charset="-127"/>
                        <a:cs typeface="Arial"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gridSpan="2" vMerge="1">
                  <a:txBody>
                    <a:bodyPr/>
                    <a:lstStyle/>
                    <a:p>
                      <a:pPr latinLnBrk="1"/>
                      <a:endParaRPr lang="ko-KR" altLang="en-US"/>
                    </a:p>
                  </a:txBody>
                  <a:tcPr/>
                </a:tc>
                <a:tc hMerge="1" vMerge="1">
                  <a:txBody>
                    <a:bodyPr/>
                    <a:lstStyle/>
                    <a:p>
                      <a:pPr latinLnBrk="1"/>
                      <a:endParaRPr lang="ko-KR" altLang="en-US"/>
                    </a:p>
                  </a:txBody>
                  <a:tcPr/>
                </a:tc>
                <a:extLst>
                  <a:ext uri="{0D108BD9-81ED-4DB2-BD59-A6C34878D82A}">
                    <a16:rowId xmlns:a16="http://schemas.microsoft.com/office/drawing/2014/main" val="10004"/>
                  </a:ext>
                </a:extLst>
              </a:tr>
              <a:tr h="277689">
                <a:tc gridSpan="2">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000" b="1"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Management</a:t>
                      </a:r>
                      <a:r>
                        <a:rPr kumimoji="0" lang="ko-KR" altLang="en-US" sz="1000" b="1"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 </a:t>
                      </a:r>
                      <a:r>
                        <a:rPr kumimoji="0" lang="en-US" altLang="ko-KR" sz="1000" b="1"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Issue (</a:t>
                      </a:r>
                      <a:r>
                        <a:rPr kumimoji="0" lang="en-US" altLang="ko-KR" sz="1000" b="1" i="0" u="none" strike="noStrike" cap="none" normalizeH="0" baseline="0" dirty="0" err="1">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Biz.Issue</a:t>
                      </a:r>
                      <a:r>
                        <a:rPr kumimoji="0" lang="en-US" altLang="ko-KR" sz="1000" b="1"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latinLnBrk="1"/>
                      <a:endParaRPr lang="ko-KR" altLang="en-US"/>
                    </a:p>
                  </a:txBody>
                  <a:tcPr/>
                </a:tc>
                <a:tc gridSpan="6">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000" b="1"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Implement Plan</a:t>
                      </a:r>
                      <a:r>
                        <a:rPr kumimoji="0" lang="ko-KR" altLang="en-US" sz="1000" b="1"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 </a:t>
                      </a:r>
                      <a:r>
                        <a:rPr kumimoji="0" lang="en-US" altLang="ko-KR" sz="1000" b="1"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(Fast &amp; Strong)</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gridSpan="2">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000" b="1"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Task Member</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latinLnBrk="1"/>
                      <a:endParaRPr lang="ko-KR" altLang="en-US"/>
                    </a:p>
                  </a:txBody>
                  <a:tcPr/>
                </a:tc>
                <a:extLst>
                  <a:ext uri="{0D108BD9-81ED-4DB2-BD59-A6C34878D82A}">
                    <a16:rowId xmlns:a16="http://schemas.microsoft.com/office/drawing/2014/main" val="10005"/>
                  </a:ext>
                </a:extLst>
              </a:tr>
              <a:tr h="1441827">
                <a:tc rowSpan="3" gridSpan="2">
                  <a:txBody>
                    <a:bodyPr/>
                    <a:lstStyle/>
                    <a:p>
                      <a:pPr marL="0" marR="0" lvl="0" indent="0" algn="l" defTabSz="912813" rtl="0" eaLnBrk="1" fontAlgn="base" latinLnBrk="1" hangingPunct="1">
                        <a:lnSpc>
                          <a:spcPct val="100000"/>
                        </a:lnSpc>
                        <a:spcBef>
                          <a:spcPct val="0"/>
                        </a:spcBef>
                        <a:spcAft>
                          <a:spcPct val="0"/>
                        </a:spcAft>
                        <a:buClrTx/>
                        <a:buSzTx/>
                        <a:buFontTx/>
                        <a:buNone/>
                        <a:tabLst/>
                        <a:defRPr/>
                      </a:pPr>
                      <a:r>
                        <a:rPr kumimoji="1" lang="en-US" altLang="ko-KR" sz="1000" i="0" u="none" strike="noStrike" kern="0" cap="none" spc="0" normalizeH="0" baseline="0" noProof="0" dirty="0">
                          <a:ln>
                            <a:noFill/>
                          </a:ln>
                          <a:solidFill>
                            <a:schemeClr val="tx1"/>
                          </a:solidFill>
                          <a:effectLst/>
                          <a:uLnTx/>
                          <a:uFillTx/>
                          <a:latin typeface="Arial Narrow" panose="020B0606020202030204" pitchFamily="34" charset="0"/>
                          <a:ea typeface="LG Smart_H Regular" pitchFamily="34" charset="-127"/>
                          <a:cs typeface="+mn-cs"/>
                        </a:rPr>
                        <a:t>This issue has been around for a long time, and the failure rate is very high at </a:t>
                      </a:r>
                      <a:r>
                        <a:rPr kumimoji="0" lang="en-US" altLang="ko-KR" sz="1000" b="0" i="0" u="none" strike="noStrike" kern="1200" cap="none" normalizeH="0" baseline="0" dirty="0">
                          <a:ln>
                            <a:noFill/>
                          </a:ln>
                          <a:solidFill>
                            <a:srgbClr val="000000"/>
                          </a:solidFill>
                          <a:effectLst/>
                          <a:latin typeface="Arial Narrow" panose="020B0606020202030204" pitchFamily="34" charset="0"/>
                          <a:ea typeface="LG Smart_H Regular" panose="020B0600000101010101"/>
                          <a:cs typeface="Arial" panose="020B0604020202020204" pitchFamily="34" charset="0"/>
                        </a:rPr>
                        <a:t>47,091</a:t>
                      </a:r>
                      <a:r>
                        <a:rPr kumimoji="1" lang="en-US" altLang="ko-KR" sz="1000" i="0" u="none" strike="noStrike" kern="0" cap="none" spc="0" normalizeH="0" baseline="0" noProof="0" dirty="0">
                          <a:ln>
                            <a:noFill/>
                          </a:ln>
                          <a:solidFill>
                            <a:schemeClr val="tx1"/>
                          </a:solidFill>
                          <a:effectLst/>
                          <a:uLnTx/>
                          <a:uFillTx/>
                          <a:latin typeface="Arial Narrow" panose="020B0606020202030204" pitchFamily="34" charset="0"/>
                          <a:ea typeface="LG Smart_H Regular" pitchFamily="34" charset="-127"/>
                          <a:cs typeface="+mn-cs"/>
                        </a:rPr>
                        <a:t> ppm, so we waste time to rework and rework fee</a:t>
                      </a:r>
                      <a:endParaRPr kumimoji="0" lang="en-US" altLang="ko-KR" sz="1000" b="0"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endParaRPr>
                    </a:p>
                  </a:txBody>
                  <a:tcPr marL="91421" marR="91421"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3" hMerge="1">
                  <a:txBody>
                    <a:bodyPr/>
                    <a:lstStyle/>
                    <a:p>
                      <a:pPr latinLnBrk="1"/>
                      <a:endParaRPr lang="ko-KR" altLang="en-US"/>
                    </a:p>
                  </a:txBody>
                  <a:tcPr/>
                </a:tc>
                <a:tc rowSpan="3" gridSpan="6">
                  <a:txBody>
                    <a:bodyPr/>
                    <a:lstStyle/>
                    <a:p>
                      <a:pPr marL="0" marR="0" lvl="0" indent="0" algn="ctr" defTabSz="912813" rtl="0" eaLnBrk="1" fontAlgn="base" latinLnBrk="1" hangingPunct="1">
                        <a:lnSpc>
                          <a:spcPct val="100000"/>
                        </a:lnSpc>
                        <a:spcBef>
                          <a:spcPct val="0"/>
                        </a:spcBef>
                        <a:spcAft>
                          <a:spcPct val="0"/>
                        </a:spcAft>
                        <a:buClrTx/>
                        <a:buSzTx/>
                        <a:buFontTx/>
                        <a:buNone/>
                        <a:tabLst/>
                      </a:pPr>
                      <a:endParaRPr kumimoji="0" lang="ko-KR" altLang="ko-KR" sz="1000" b="0"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3" hMerge="1">
                  <a:txBody>
                    <a:bodyPr/>
                    <a:lstStyle/>
                    <a:p>
                      <a:pPr latinLnBrk="1"/>
                      <a:endParaRPr lang="ko-KR" altLang="en-US"/>
                    </a:p>
                  </a:txBody>
                  <a:tcPr/>
                </a:tc>
                <a:tc rowSpan="3" hMerge="1">
                  <a:txBody>
                    <a:bodyPr/>
                    <a:lstStyle/>
                    <a:p>
                      <a:pPr latinLnBrk="1"/>
                      <a:endParaRPr lang="ko-KR" altLang="en-US"/>
                    </a:p>
                  </a:txBody>
                  <a:tcPr/>
                </a:tc>
                <a:tc rowSpan="3" hMerge="1">
                  <a:txBody>
                    <a:bodyPr/>
                    <a:lstStyle/>
                    <a:p>
                      <a:pPr latinLnBrk="1"/>
                      <a:endParaRPr lang="ko-KR" altLang="en-US"/>
                    </a:p>
                  </a:txBody>
                  <a:tcPr/>
                </a:tc>
                <a:tc rowSpan="3" hMerge="1">
                  <a:txBody>
                    <a:bodyPr/>
                    <a:lstStyle/>
                    <a:p>
                      <a:pPr latinLnBrk="1"/>
                      <a:endParaRPr lang="ko-KR" altLang="en-US"/>
                    </a:p>
                  </a:txBody>
                  <a:tcPr/>
                </a:tc>
                <a:tc rowSpan="3" hMerge="1">
                  <a:txBody>
                    <a:bodyPr/>
                    <a:lstStyle/>
                    <a:p>
                      <a:pPr latinLnBrk="1"/>
                      <a:endParaRPr lang="ko-KR" altLang="en-US"/>
                    </a:p>
                  </a:txBody>
                  <a:tcPr/>
                </a:tc>
                <a:tc gridSpan="2">
                  <a:txBody>
                    <a:bodyPr/>
                    <a:lstStyle/>
                    <a:p>
                      <a:pPr marL="0" marR="0" lvl="0" indent="0" algn="l" defTabSz="912813"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 </a:t>
                      </a:r>
                      <a:endParaRPr kumimoji="0" lang="en-US" altLang="ko-KR" sz="1000" b="0"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latinLnBrk="1"/>
                      <a:endParaRPr lang="ko-KR" altLang="en-US"/>
                    </a:p>
                  </a:txBody>
                  <a:tcPr/>
                </a:tc>
                <a:extLst>
                  <a:ext uri="{0D108BD9-81ED-4DB2-BD59-A6C34878D82A}">
                    <a16:rowId xmlns:a16="http://schemas.microsoft.com/office/drawing/2014/main" val="10006"/>
                  </a:ext>
                </a:extLst>
              </a:tr>
              <a:tr h="276655">
                <a:tc gridSpan="2" vMerge="1">
                  <a:txBody>
                    <a:bodyPr/>
                    <a:lstStyle/>
                    <a:p>
                      <a:pPr latinLnBrk="1"/>
                      <a:endParaRPr lang="ko-KR" altLang="en-US"/>
                    </a:p>
                  </a:txBody>
                  <a:tcPr/>
                </a:tc>
                <a:tc hMerge="1" vMerge="1">
                  <a:txBody>
                    <a:bodyPr/>
                    <a:lstStyle/>
                    <a:p>
                      <a:pPr latinLnBrk="1"/>
                      <a:endParaRPr lang="ko-KR" altLang="en-US"/>
                    </a:p>
                  </a:txBody>
                  <a:tcPr/>
                </a:tc>
                <a:tc gridSpan="6" vMerge="1">
                  <a:txBody>
                    <a:bodyPr/>
                    <a:lstStyle/>
                    <a:p>
                      <a:pPr latinLnBrk="1"/>
                      <a:endParaRPr lang="ko-KR" altLang="en-US"/>
                    </a:p>
                  </a:txBody>
                  <a:tcPr/>
                </a:tc>
                <a:tc hMerge="1" vMerge="1">
                  <a:txBody>
                    <a:bodyPr/>
                    <a:lstStyle/>
                    <a:p>
                      <a:pPr latinLnBrk="1"/>
                      <a:endParaRPr lang="ko-KR" altLang="en-US"/>
                    </a:p>
                  </a:txBody>
                  <a:tcPr/>
                </a:tc>
                <a:tc hMerge="1" vMerge="1">
                  <a:txBody>
                    <a:bodyPr/>
                    <a:lstStyle/>
                    <a:p>
                      <a:pPr latinLnBrk="1"/>
                      <a:endParaRPr lang="ko-KR" altLang="en-US"/>
                    </a:p>
                  </a:txBody>
                  <a:tcPr/>
                </a:tc>
                <a:tc hMerge="1" vMerge="1">
                  <a:txBody>
                    <a:bodyPr/>
                    <a:lstStyle/>
                    <a:p>
                      <a:pPr latinLnBrk="1"/>
                      <a:endParaRPr lang="ko-KR" altLang="en-US"/>
                    </a:p>
                  </a:txBody>
                  <a:tcPr/>
                </a:tc>
                <a:tc hMerge="1" vMerge="1">
                  <a:txBody>
                    <a:bodyPr/>
                    <a:lstStyle/>
                    <a:p>
                      <a:pPr latinLnBrk="1"/>
                      <a:endParaRPr lang="ko-KR" altLang="en-US"/>
                    </a:p>
                  </a:txBody>
                  <a:tcPr/>
                </a:tc>
                <a:tc hMerge="1" vMerge="1">
                  <a:txBody>
                    <a:bodyPr/>
                    <a:lstStyle/>
                    <a:p>
                      <a:pPr latinLnBrk="1"/>
                      <a:endParaRPr lang="ko-KR" altLang="en-US"/>
                    </a:p>
                  </a:txBody>
                  <a:tcPr/>
                </a:tc>
                <a:tc gridSpan="2">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000" b="1"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Location</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latinLnBrk="1"/>
                      <a:endParaRPr lang="ko-KR" altLang="en-US"/>
                    </a:p>
                  </a:txBody>
                  <a:tcPr/>
                </a:tc>
                <a:extLst>
                  <a:ext uri="{0D108BD9-81ED-4DB2-BD59-A6C34878D82A}">
                    <a16:rowId xmlns:a16="http://schemas.microsoft.com/office/drawing/2014/main" val="10007"/>
                  </a:ext>
                </a:extLst>
              </a:tr>
              <a:tr h="256584">
                <a:tc gridSpan="2" vMerge="1">
                  <a:txBody>
                    <a:bodyPr/>
                    <a:lstStyle/>
                    <a:p>
                      <a:pPr latinLnBrk="1"/>
                      <a:endParaRPr lang="ko-KR" altLang="en-US"/>
                    </a:p>
                  </a:txBody>
                  <a:tcPr/>
                </a:tc>
                <a:tc hMerge="1" vMerge="1">
                  <a:txBody>
                    <a:bodyPr/>
                    <a:lstStyle/>
                    <a:p>
                      <a:pPr latinLnBrk="1"/>
                      <a:endParaRPr lang="ko-KR" altLang="en-US"/>
                    </a:p>
                  </a:txBody>
                  <a:tcPr/>
                </a:tc>
                <a:tc gridSpan="6" vMerge="1">
                  <a:txBody>
                    <a:bodyPr/>
                    <a:lstStyle/>
                    <a:p>
                      <a:pPr latinLnBrk="1"/>
                      <a:endParaRPr lang="ko-KR" altLang="en-US"/>
                    </a:p>
                  </a:txBody>
                  <a:tcPr/>
                </a:tc>
                <a:tc hMerge="1" vMerge="1">
                  <a:txBody>
                    <a:bodyPr/>
                    <a:lstStyle/>
                    <a:p>
                      <a:pPr latinLnBrk="1"/>
                      <a:endParaRPr lang="ko-KR" altLang="en-US"/>
                    </a:p>
                  </a:txBody>
                  <a:tcPr/>
                </a:tc>
                <a:tc hMerge="1" vMerge="1">
                  <a:txBody>
                    <a:bodyPr/>
                    <a:lstStyle/>
                    <a:p>
                      <a:pPr latinLnBrk="1"/>
                      <a:endParaRPr lang="ko-KR" altLang="en-US"/>
                    </a:p>
                  </a:txBody>
                  <a:tcPr/>
                </a:tc>
                <a:tc hMerge="1" vMerge="1">
                  <a:txBody>
                    <a:bodyPr/>
                    <a:lstStyle/>
                    <a:p>
                      <a:pPr latinLnBrk="1"/>
                      <a:endParaRPr lang="ko-KR" altLang="en-US"/>
                    </a:p>
                  </a:txBody>
                  <a:tcPr/>
                </a:tc>
                <a:tc hMerge="1" vMerge="1">
                  <a:txBody>
                    <a:bodyPr/>
                    <a:lstStyle/>
                    <a:p>
                      <a:pPr latinLnBrk="1"/>
                      <a:endParaRPr lang="ko-KR" altLang="en-US"/>
                    </a:p>
                  </a:txBody>
                  <a:tcPr/>
                </a:tc>
                <a:tc hMerge="1" vMerge="1">
                  <a:txBody>
                    <a:bodyPr/>
                    <a:lstStyle/>
                    <a:p>
                      <a:pPr latinLnBrk="1"/>
                      <a:endParaRPr lang="ko-KR" altLang="en-US"/>
                    </a:p>
                  </a:txBody>
                  <a:tcPr/>
                </a:tc>
                <a:tc gridSpan="2">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LG Electronics Viet Nam-Hai Phong</a:t>
                      </a:r>
                      <a:endParaRPr kumimoji="0" lang="en-US" altLang="ko-KR" sz="1000" b="0"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latinLnBrk="1"/>
                      <a:endParaRPr lang="ko-KR" altLang="en-US"/>
                    </a:p>
                  </a:txBody>
                  <a:tcPr/>
                </a:tc>
                <a:extLst>
                  <a:ext uri="{0D108BD9-81ED-4DB2-BD59-A6C34878D82A}">
                    <a16:rowId xmlns:a16="http://schemas.microsoft.com/office/drawing/2014/main" val="10008"/>
                  </a:ext>
                </a:extLst>
              </a:tr>
              <a:tr h="277689">
                <a:tc gridSpan="2">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000" b="1"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Qualitative Performance</a:t>
                      </a:r>
                      <a:endParaRPr kumimoji="0" lang="ko-KR" altLang="en-US" sz="1000" b="1"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latinLnBrk="1"/>
                      <a:endParaRPr lang="ko-KR" altLang="en-US"/>
                    </a:p>
                  </a:txBody>
                  <a:tcPr/>
                </a:tc>
                <a:tc gridSpan="6">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000" b="1"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Quantitative Performance</a:t>
                      </a:r>
                      <a:endParaRPr kumimoji="0" lang="ko-KR" altLang="en-US" sz="1000" b="1"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gridSpan="2">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000" b="1"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Neck Point</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latinLnBrk="1"/>
                      <a:endParaRPr lang="ko-KR" altLang="en-US"/>
                    </a:p>
                  </a:txBody>
                  <a:tcPr/>
                </a:tc>
                <a:extLst>
                  <a:ext uri="{0D108BD9-81ED-4DB2-BD59-A6C34878D82A}">
                    <a16:rowId xmlns:a16="http://schemas.microsoft.com/office/drawing/2014/main" val="10009"/>
                  </a:ext>
                </a:extLst>
              </a:tr>
              <a:tr h="891687">
                <a:tc gridSpan="2">
                  <a:txBody>
                    <a:bodyPr/>
                    <a:lstStyle/>
                    <a:p>
                      <a:pPr marL="0" marR="0" lvl="0" indent="0" algn="l" defTabSz="912813" rtl="0" eaLnBrk="1" fontAlgn="base" latinLnBrk="1" hangingPunct="1">
                        <a:lnSpc>
                          <a:spcPct val="100000"/>
                        </a:lnSpc>
                        <a:spcBef>
                          <a:spcPct val="0"/>
                        </a:spcBef>
                        <a:spcAft>
                          <a:spcPct val="0"/>
                        </a:spcAft>
                        <a:buClrTx/>
                        <a:buSzTx/>
                        <a:buFont typeface="Arial" charset="0"/>
                        <a:buNone/>
                        <a:tabLst/>
                        <a:defRPr/>
                      </a:pPr>
                      <a:r>
                        <a:rPr kumimoji="0" lang="en-US" altLang="ko-KR" sz="1000" b="0"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 Improving smoothly testing process for sets</a:t>
                      </a:r>
                    </a:p>
                    <a:p>
                      <a:pPr marL="0" marR="0" lvl="0" indent="0" algn="l" defTabSz="912813" rtl="0" eaLnBrk="1" fontAlgn="base" latinLnBrk="1" hangingPunct="1">
                        <a:lnSpc>
                          <a:spcPct val="100000"/>
                        </a:lnSpc>
                        <a:spcBef>
                          <a:spcPct val="0"/>
                        </a:spcBef>
                        <a:spcAft>
                          <a:spcPct val="0"/>
                        </a:spcAft>
                        <a:buClrTx/>
                        <a:buSzTx/>
                        <a:buFont typeface="Arial" charset="0"/>
                        <a:buNone/>
                        <a:tabLst/>
                        <a:defRPr/>
                      </a:pPr>
                      <a:r>
                        <a:rPr kumimoji="0" lang="en-US" altLang="ko-KR" sz="1000" b="0"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 Reducing cost </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latinLnBrk="1"/>
                      <a:endParaRPr lang="ko-KR" altLang="en-US"/>
                    </a:p>
                  </a:txBody>
                  <a:tcPr/>
                </a:tc>
                <a:tc gridSpan="6">
                  <a:txBody>
                    <a:bodyPr/>
                    <a:lstStyle/>
                    <a:p>
                      <a:pPr marL="0" marR="0" lvl="0" indent="0" algn="l" defTabSz="912813" rtl="0" eaLnBrk="1" fontAlgn="base" latinLnBrk="0" hangingPunct="1">
                        <a:lnSpc>
                          <a:spcPct val="100000"/>
                        </a:lnSpc>
                        <a:spcBef>
                          <a:spcPct val="0"/>
                        </a:spcBef>
                        <a:spcAft>
                          <a:spcPct val="0"/>
                        </a:spcAft>
                        <a:buClrTx/>
                        <a:buSzTx/>
                        <a:buFont typeface="Arial" panose="020B0604020202020204" pitchFamily="34" charset="0"/>
                        <a:buNone/>
                        <a:tabLst/>
                        <a:defRPr/>
                      </a:pPr>
                      <a:r>
                        <a:rPr lang="en-US" altLang="ko-KR" sz="1000" b="0"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rPr>
                        <a:t>After this theme, I can save loss time:</a:t>
                      </a:r>
                    </a:p>
                    <a:p>
                      <a:pPr marL="0" marR="0" lvl="0" indent="0" algn="l" defTabSz="912813" rtl="0" eaLnBrk="1" fontAlgn="base" latinLnBrk="0" hangingPunct="1">
                        <a:lnSpc>
                          <a:spcPct val="100000"/>
                        </a:lnSpc>
                        <a:spcBef>
                          <a:spcPct val="0"/>
                        </a:spcBef>
                        <a:spcAft>
                          <a:spcPct val="0"/>
                        </a:spcAft>
                        <a:buClrTx/>
                        <a:buSzTx/>
                        <a:buFont typeface="Arial" panose="020B0604020202020204" pitchFamily="34" charset="0"/>
                        <a:buNone/>
                        <a:tabLst/>
                        <a:defRPr/>
                      </a:pPr>
                      <a:r>
                        <a:rPr lang="en-US" altLang="ko-KR" sz="1000" b="0"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rPr>
                        <a:t>Before defect rate: </a:t>
                      </a:r>
                      <a:r>
                        <a:rPr kumimoji="0" lang="en-US" altLang="ko-KR" sz="1000" b="0" i="0" u="none" strike="noStrike" kern="1200" cap="none" normalizeH="0" baseline="0" dirty="0">
                          <a:ln>
                            <a:noFill/>
                          </a:ln>
                          <a:solidFill>
                            <a:srgbClr val="000000"/>
                          </a:solidFill>
                          <a:effectLst/>
                          <a:latin typeface="Arial Narrow" panose="020B0606020202030204" pitchFamily="34" charset="0"/>
                          <a:ea typeface="LG Smart_H Regular" panose="020B0600000101010101"/>
                          <a:cs typeface="Arial" panose="020B0604020202020204" pitchFamily="34" charset="0"/>
                        </a:rPr>
                        <a:t>47,091</a:t>
                      </a:r>
                      <a:r>
                        <a:rPr lang="en-US" altLang="ko-KR" sz="1000" b="0"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rPr>
                        <a:t> ppm </a:t>
                      </a:r>
                    </a:p>
                    <a:p>
                      <a:pPr marL="0" marR="0" lvl="0" indent="0" algn="l" defTabSz="912813" rtl="0" eaLnBrk="1" fontAlgn="base" latinLnBrk="0" hangingPunct="1">
                        <a:lnSpc>
                          <a:spcPct val="100000"/>
                        </a:lnSpc>
                        <a:spcBef>
                          <a:spcPct val="0"/>
                        </a:spcBef>
                        <a:spcAft>
                          <a:spcPct val="0"/>
                        </a:spcAft>
                        <a:buClrTx/>
                        <a:buSzTx/>
                        <a:buFont typeface="Arial" panose="020B0604020202020204" pitchFamily="34" charset="0"/>
                        <a:buNone/>
                        <a:tabLst/>
                        <a:defRPr/>
                      </a:pPr>
                      <a:r>
                        <a:rPr lang="en-US" altLang="ko-KR" sz="1000" b="0"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sym typeface="Wingdings" panose="05000000000000000000" pitchFamily="2" charset="2"/>
                        </a:rPr>
                        <a:t> EST: Loss time and rework fee (42$ - sample price)</a:t>
                      </a:r>
                      <a:endParaRPr lang="en-US" altLang="ko-KR" sz="1000" b="0"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endParaRPr>
                    </a:p>
                    <a:p>
                      <a:pPr marL="0" marR="0" lvl="0" indent="0" algn="l" defTabSz="912813" rtl="0" eaLnBrk="1" fontAlgn="base" latinLnBrk="0" hangingPunct="1">
                        <a:lnSpc>
                          <a:spcPct val="100000"/>
                        </a:lnSpc>
                        <a:spcBef>
                          <a:spcPct val="0"/>
                        </a:spcBef>
                        <a:spcAft>
                          <a:spcPct val="0"/>
                        </a:spcAft>
                        <a:buClrTx/>
                        <a:buSzTx/>
                        <a:buFont typeface="Arial" panose="020B0604020202020204" pitchFamily="34" charset="0"/>
                        <a:buNone/>
                        <a:tabLst/>
                        <a:defRPr/>
                      </a:pPr>
                      <a:r>
                        <a:rPr lang="en-US" altLang="ko-KR" sz="1000" b="0"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rPr>
                        <a:t>After defect rate: 0 ppm </a:t>
                      </a:r>
                      <a:r>
                        <a:rPr lang="en-US" altLang="ko-KR" sz="1000" b="0"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sym typeface="Wingdings" panose="05000000000000000000" pitchFamily="2" charset="2"/>
                        </a:rPr>
                        <a:t> Improve issue </a:t>
                      </a:r>
                      <a:endParaRPr lang="en-US" altLang="ko-KR" sz="1000" b="0"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endParaRPr>
                    </a:p>
                    <a:p>
                      <a:pPr marL="0" marR="0" lvl="0" indent="0" algn="l" defTabSz="912813" rtl="0" eaLnBrk="1" fontAlgn="base" latinLnBrk="0" hangingPunct="1">
                        <a:lnSpc>
                          <a:spcPct val="100000"/>
                        </a:lnSpc>
                        <a:spcBef>
                          <a:spcPct val="0"/>
                        </a:spcBef>
                        <a:spcAft>
                          <a:spcPct val="0"/>
                        </a:spcAft>
                        <a:buClrTx/>
                        <a:buSzTx/>
                        <a:buFont typeface="Arial" panose="020B0604020202020204" pitchFamily="34" charset="0"/>
                        <a:buNone/>
                        <a:tabLst/>
                        <a:defRPr/>
                      </a:pPr>
                      <a:r>
                        <a:rPr lang="en-US" altLang="ko-KR" sz="1000" b="0"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rPr>
                        <a:t>Total save cost: 42$*1200=50400$</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gridSpan="2">
                  <a:txBody>
                    <a:bodyPr/>
                    <a:lstStyle/>
                    <a:p>
                      <a:pPr marL="171450" marR="0" lvl="0" indent="-171450" algn="l" defTabSz="912813" rtl="0" eaLnBrk="1" fontAlgn="base" latinLnBrk="1" hangingPunct="1">
                        <a:lnSpc>
                          <a:spcPct val="100000"/>
                        </a:lnSpc>
                        <a:spcBef>
                          <a:spcPct val="0"/>
                        </a:spcBef>
                        <a:spcAft>
                          <a:spcPct val="0"/>
                        </a:spcAft>
                        <a:buClrTx/>
                        <a:buSzTx/>
                        <a:buFontTx/>
                        <a:buChar char="-"/>
                        <a:tabLst/>
                        <a:defRPr/>
                      </a:pPr>
                      <a:r>
                        <a:rPr kumimoji="0" lang="en-US" altLang="ko-KR" sz="1000" b="0" i="0" u="none" strike="noStrike" cap="none" normalizeH="0" baseline="0" dirty="0">
                          <a:ln>
                            <a:noFill/>
                          </a:ln>
                          <a:solidFill>
                            <a:srgbClr val="000000"/>
                          </a:solidFill>
                          <a:effectLst/>
                          <a:latin typeface="Arial Narrow" panose="020B0606020202030204" pitchFamily="34" charset="0"/>
                          <a:ea typeface="LG스마트체 Regular" panose="020B0600000101010101" pitchFamily="50" charset="-127"/>
                          <a:cs typeface="Arial" charset="0"/>
                        </a:rPr>
                        <a:t>Because improvement action related to equipment, so need support from PE team</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latinLnBrk="1"/>
                      <a:endParaRPr lang="ko-KR" altLang="en-US"/>
                    </a:p>
                  </a:txBody>
                  <a:tcPr/>
                </a:tc>
                <a:extLst>
                  <a:ext uri="{0D108BD9-81ED-4DB2-BD59-A6C34878D82A}">
                    <a16:rowId xmlns:a16="http://schemas.microsoft.com/office/drawing/2014/main" val="10010"/>
                  </a:ext>
                </a:extLst>
              </a:tr>
            </a:tbl>
          </a:graphicData>
        </a:graphic>
      </p:graphicFrame>
      <p:graphicFrame>
        <p:nvGraphicFramePr>
          <p:cNvPr id="32" name="Group 133"/>
          <p:cNvGraphicFramePr>
            <a:graphicFrameLocks noGrp="1"/>
          </p:cNvGraphicFramePr>
          <p:nvPr>
            <p:extLst>
              <p:ext uri="{D42A27DB-BD31-4B8C-83A1-F6EECF244321}">
                <p14:modId xmlns:p14="http://schemas.microsoft.com/office/powerpoint/2010/main" val="1422541482"/>
              </p:ext>
            </p:extLst>
          </p:nvPr>
        </p:nvGraphicFramePr>
        <p:xfrm>
          <a:off x="6811261" y="3507817"/>
          <a:ext cx="2788009" cy="1388274"/>
        </p:xfrm>
        <a:graphic>
          <a:graphicData uri="http://schemas.openxmlformats.org/drawingml/2006/table">
            <a:tbl>
              <a:tblPr/>
              <a:tblGrid>
                <a:gridCol w="892241">
                  <a:extLst>
                    <a:ext uri="{9D8B030D-6E8A-4147-A177-3AD203B41FA5}">
                      <a16:colId xmlns:a16="http://schemas.microsoft.com/office/drawing/2014/main" val="20000"/>
                    </a:ext>
                  </a:extLst>
                </a:gridCol>
                <a:gridCol w="894944">
                  <a:extLst>
                    <a:ext uri="{9D8B030D-6E8A-4147-A177-3AD203B41FA5}">
                      <a16:colId xmlns:a16="http://schemas.microsoft.com/office/drawing/2014/main" val="20001"/>
                    </a:ext>
                  </a:extLst>
                </a:gridCol>
                <a:gridCol w="1000824">
                  <a:extLst>
                    <a:ext uri="{9D8B030D-6E8A-4147-A177-3AD203B41FA5}">
                      <a16:colId xmlns:a16="http://schemas.microsoft.com/office/drawing/2014/main" val="20002"/>
                    </a:ext>
                  </a:extLst>
                </a:gridCol>
              </a:tblGrid>
              <a:tr h="228094">
                <a:tc>
                  <a:txBody>
                    <a:bodyPr/>
                    <a:lstStyle/>
                    <a:p>
                      <a:pPr marL="0" marR="0" lvl="0" indent="0" algn="ctr" defTabSz="914400" rtl="0" eaLnBrk="1" fontAlgn="base" latinLnBrk="1" hangingPunct="1">
                        <a:lnSpc>
                          <a:spcPct val="11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Team</a:t>
                      </a:r>
                      <a:endParaRPr kumimoji="1" lang="ko-KR" altLang="en-US" sz="1000" b="1"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endParaRPr>
                    </a:p>
                  </a:txBody>
                  <a:tcPr marL="37480" marR="37480" marT="18741" marB="18741"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EAEAEA"/>
                    </a:solidFill>
                  </a:tcPr>
                </a:tc>
                <a:tc>
                  <a:txBody>
                    <a:bodyPr/>
                    <a:lstStyle/>
                    <a:p>
                      <a:pPr marL="0" marR="0" lvl="0" indent="0" algn="ctr" defTabSz="914400" rtl="0" eaLnBrk="1" fontAlgn="base" latinLnBrk="1" hangingPunct="1">
                        <a:lnSpc>
                          <a:spcPct val="11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Name</a:t>
                      </a:r>
                    </a:p>
                  </a:txBody>
                  <a:tcPr marL="37480" marR="37480" marT="18741" marB="18741"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EAEAEA"/>
                    </a:solidFill>
                  </a:tcPr>
                </a:tc>
                <a:tc>
                  <a:txBody>
                    <a:bodyPr/>
                    <a:lstStyle/>
                    <a:p>
                      <a:pPr marL="0" marR="0" lvl="0" indent="0" algn="ctr" defTabSz="914400" rtl="0" eaLnBrk="1" fontAlgn="base" latinLnBrk="1" hangingPunct="1">
                        <a:lnSpc>
                          <a:spcPct val="11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Role</a:t>
                      </a:r>
                    </a:p>
                  </a:txBody>
                  <a:tcPr marL="37480" marR="37480" marT="18741" marB="18741"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EAEAEA"/>
                    </a:solidFill>
                  </a:tcPr>
                </a:tc>
                <a:extLst>
                  <a:ext uri="{0D108BD9-81ED-4DB2-BD59-A6C34878D82A}">
                    <a16:rowId xmlns:a16="http://schemas.microsoft.com/office/drawing/2014/main" val="10000"/>
                  </a:ext>
                </a:extLst>
              </a:tr>
              <a:tr h="232036">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LD1</a:t>
                      </a:r>
                    </a:p>
                  </a:txBody>
                  <a:tcPr marL="37480" marR="37480" marT="18740" marB="1874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80000"/>
                        </a:lnSpc>
                        <a:spcBef>
                          <a:spcPct val="2000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Phu</a:t>
                      </a:r>
                    </a:p>
                  </a:txBody>
                  <a:tcPr marL="37480" marR="37480" marT="37480" marB="3748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80000"/>
                        </a:lnSpc>
                        <a:spcBef>
                          <a:spcPct val="20000"/>
                        </a:spcBef>
                        <a:spcAft>
                          <a:spcPct val="0"/>
                        </a:spcAft>
                        <a:buClrTx/>
                        <a:buSzTx/>
                        <a:buFontTx/>
                        <a:buNone/>
                        <a:tabLst/>
                      </a:pPr>
                      <a:r>
                        <a:rPr kumimoji="1" lang="en-US" altLang="ko-KR" sz="1000" b="0" i="0" u="none" strike="noStrike" kern="120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cs typeface="Arial" panose="020B0604020202020204" pitchFamily="34" charset="0"/>
                        </a:rPr>
                        <a:t>Member</a:t>
                      </a:r>
                      <a:endParaRPr kumimoji="1" lang="en-US" altLang="ko-KR" sz="1000" b="0"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endParaRPr>
                    </a:p>
                  </a:txBody>
                  <a:tcPr marL="37480" marR="37480" marT="37480" marB="3748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32036">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SQA</a:t>
                      </a:r>
                    </a:p>
                  </a:txBody>
                  <a:tcPr marL="37480" marR="37480" marT="18740" marB="1874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80000"/>
                        </a:lnSpc>
                        <a:spcBef>
                          <a:spcPct val="20000"/>
                        </a:spcBef>
                        <a:spcAft>
                          <a:spcPct val="0"/>
                        </a:spcAft>
                        <a:buClrTx/>
                        <a:buSzTx/>
                        <a:buFontTx/>
                        <a:buNone/>
                        <a:tabLst/>
                      </a:pPr>
                      <a:r>
                        <a:rPr kumimoji="1" lang="en-US" altLang="ko-KR" sz="1000" b="0" i="0" u="none" strike="noStrike" cap="none" normalizeH="0" baseline="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Hieu</a:t>
                      </a:r>
                      <a:endParaRPr kumimoji="1" lang="en-US" altLang="ko-KR" sz="1000" b="0"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endParaRPr>
                    </a:p>
                  </a:txBody>
                  <a:tcPr marL="37480" marR="37480" marT="37480" marB="3748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80000"/>
                        </a:lnSpc>
                        <a:spcBef>
                          <a:spcPct val="20000"/>
                        </a:spcBef>
                        <a:spcAft>
                          <a:spcPct val="0"/>
                        </a:spcAft>
                        <a:buClrTx/>
                        <a:buSzTx/>
                        <a:buFontTx/>
                        <a:buNone/>
                        <a:tabLst/>
                        <a:defRPr/>
                      </a:pPr>
                      <a:r>
                        <a:rPr kumimoji="1" lang="en-US" altLang="ko-KR" sz="1000" b="0" i="0" u="none" strike="noStrike" kern="120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cs typeface="Arial" panose="020B0604020202020204" pitchFamily="34" charset="0"/>
                        </a:rPr>
                        <a:t>Member</a:t>
                      </a:r>
                    </a:p>
                  </a:txBody>
                  <a:tcPr marL="37480" marR="37480" marT="37480" marB="3748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06566493"/>
                  </a:ext>
                </a:extLst>
              </a:tr>
              <a:tr h="232036">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ME</a:t>
                      </a:r>
                    </a:p>
                  </a:txBody>
                  <a:tcPr marL="37480" marR="37480" marT="18740" marB="1874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80000"/>
                        </a:lnSpc>
                        <a:spcBef>
                          <a:spcPct val="2000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Cuong</a:t>
                      </a:r>
                    </a:p>
                  </a:txBody>
                  <a:tcPr marL="37480" marR="37480" marT="37480" marB="3748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80000"/>
                        </a:lnSpc>
                        <a:spcBef>
                          <a:spcPct val="20000"/>
                        </a:spcBef>
                        <a:spcAft>
                          <a:spcPct val="0"/>
                        </a:spcAft>
                        <a:buClrTx/>
                        <a:buSzTx/>
                        <a:buFontTx/>
                        <a:buNone/>
                        <a:tabLst/>
                        <a:defRPr/>
                      </a:pPr>
                      <a:r>
                        <a:rPr kumimoji="1" lang="en-US" altLang="ko-KR" sz="1000" b="0" i="0" u="none" strike="noStrike" kern="120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cs typeface="Arial" panose="020B0604020202020204" pitchFamily="34" charset="0"/>
                        </a:rPr>
                        <a:t>Member</a:t>
                      </a:r>
                    </a:p>
                  </a:txBody>
                  <a:tcPr marL="37480" marR="37480" marT="37480" marB="3748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70262165"/>
                  </a:ext>
                </a:extLst>
              </a:tr>
              <a:tr h="232036">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ko-KR" sz="1000" b="0" i="0" u="none" strike="noStrike" cap="none" normalizeH="0" baseline="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PE</a:t>
                      </a:r>
                      <a:endParaRPr kumimoji="1" lang="en-US" altLang="ko-KR" sz="1000" b="0"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endParaRPr>
                    </a:p>
                  </a:txBody>
                  <a:tcPr marL="37480" marR="37480" marT="18740" marB="1874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80000"/>
                        </a:lnSpc>
                        <a:spcBef>
                          <a:spcPct val="20000"/>
                        </a:spcBef>
                        <a:spcAft>
                          <a:spcPct val="0"/>
                        </a:spcAft>
                        <a:buClrTx/>
                        <a:buSzTx/>
                        <a:buFontTx/>
                        <a:buNone/>
                        <a:tabLst/>
                      </a:pPr>
                      <a:r>
                        <a:rPr kumimoji="1" lang="en-US" altLang="ko-KR" sz="1000" b="0" i="0" u="none" strike="noStrike" cap="none" normalizeH="0" baseline="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Vinh</a:t>
                      </a:r>
                      <a:endParaRPr kumimoji="1" lang="en-US" altLang="ko-KR" sz="1000" b="0"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endParaRPr>
                    </a:p>
                  </a:txBody>
                  <a:tcPr marL="37480" marR="37480" marT="37480" marB="3748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80000"/>
                        </a:lnSpc>
                        <a:spcBef>
                          <a:spcPct val="20000"/>
                        </a:spcBef>
                        <a:spcAft>
                          <a:spcPct val="0"/>
                        </a:spcAft>
                        <a:buClrTx/>
                        <a:buSzTx/>
                        <a:buFontTx/>
                        <a:buNone/>
                        <a:tabLst/>
                        <a:defRPr/>
                      </a:pPr>
                      <a:r>
                        <a:rPr kumimoji="1" lang="en-US" altLang="ko-KR" sz="1000" b="0" i="0" u="none" strike="noStrike" kern="120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cs typeface="Arial" panose="020B0604020202020204" pitchFamily="34" charset="0"/>
                        </a:rPr>
                        <a:t>Member</a:t>
                      </a:r>
                    </a:p>
                  </a:txBody>
                  <a:tcPr marL="37480" marR="37480" marT="37480" marB="3748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43976295"/>
                  </a:ext>
                </a:extLst>
              </a:tr>
              <a:tr h="232036">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ko-KR" sz="1000" b="0" i="0" u="none" strike="noStrike" cap="none" normalizeH="0" baseline="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PD</a:t>
                      </a:r>
                      <a:endParaRPr kumimoji="1" lang="en-US" altLang="ko-KR" sz="1000" b="0"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endParaRPr>
                    </a:p>
                  </a:txBody>
                  <a:tcPr marL="37480" marR="37480" marT="18740" marB="1874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80000"/>
                        </a:lnSpc>
                        <a:spcBef>
                          <a:spcPct val="2000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Narrow" panose="020B0606020202030204" pitchFamily="34" charset="0"/>
                          <a:ea typeface="LG스마트체 Regular" panose="020B0600000101010101" pitchFamily="50" charset="-127"/>
                          <a:cs typeface="Arial" panose="020B0604020202020204" pitchFamily="34" charset="0"/>
                        </a:rPr>
                        <a:t>Hoan</a:t>
                      </a:r>
                    </a:p>
                  </a:txBody>
                  <a:tcPr marL="37480" marR="37480" marT="37480" marB="3748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80000"/>
                        </a:lnSpc>
                        <a:spcBef>
                          <a:spcPct val="20000"/>
                        </a:spcBef>
                        <a:spcAft>
                          <a:spcPct val="0"/>
                        </a:spcAft>
                        <a:buClrTx/>
                        <a:buSzTx/>
                        <a:buFontTx/>
                        <a:buNone/>
                        <a:tabLst/>
                        <a:defRPr/>
                      </a:pPr>
                      <a:r>
                        <a:rPr kumimoji="1" lang="en-US" altLang="ko-KR" sz="1000" b="0" i="0" u="none" strike="noStrike" kern="1200" cap="none" spc="0" normalizeH="0" baseline="0" noProof="0" dirty="0">
                          <a:ln>
                            <a:noFill/>
                          </a:ln>
                          <a:solidFill>
                            <a:srgbClr val="000000"/>
                          </a:solidFill>
                          <a:effectLst/>
                          <a:uLnTx/>
                          <a:uFillTx/>
                          <a:latin typeface="Arial Narrow" panose="020B0606020202030204" pitchFamily="34" charset="0"/>
                          <a:ea typeface="LG스마트체 Regular" panose="020B0600000101010101" pitchFamily="50" charset="-127"/>
                          <a:cs typeface="Arial" panose="020B0604020202020204" pitchFamily="34" charset="0"/>
                        </a:rPr>
                        <a:t>Member</a:t>
                      </a:r>
                    </a:p>
                  </a:txBody>
                  <a:tcPr marL="37480" marR="37480" marT="37480" marB="3748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97241043"/>
                  </a:ext>
                </a:extLst>
              </a:tr>
            </a:tbl>
          </a:graphicData>
        </a:graphic>
      </p:graphicFrame>
      <p:sp>
        <p:nvSpPr>
          <p:cNvPr id="19552" name="직사각형 39"/>
          <p:cNvSpPr>
            <a:spLocks noChangeArrowheads="1"/>
          </p:cNvSpPr>
          <p:nvPr/>
        </p:nvSpPr>
        <p:spPr bwMode="auto">
          <a:xfrm>
            <a:off x="2908997" y="3471827"/>
            <a:ext cx="792205" cy="246221"/>
          </a:xfrm>
          <a:prstGeom prst="rect">
            <a:avLst/>
          </a:prstGeom>
          <a:noFill/>
          <a:ln w="9525">
            <a:noFill/>
            <a:miter lim="800000"/>
            <a:headEnd/>
            <a:tailEnd/>
          </a:ln>
        </p:spPr>
        <p:txBody>
          <a:bodyPr wrap="none">
            <a:spAutoFit/>
          </a:bodyPr>
          <a:lstStyle/>
          <a:p>
            <a:pPr eaLnBrk="0" latinLnBrk="0" hangingPunct="0"/>
            <a:r>
              <a:rPr lang="ko-KR" altLang="en-US" sz="1000" b="1"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 </a:t>
            </a:r>
            <a:r>
              <a:rPr lang="en-US" altLang="ko-KR" sz="1000" b="1"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rPr>
              <a:t>Schedule</a:t>
            </a:r>
            <a:endParaRPr lang="ko-KR" altLang="en-US" sz="1000" b="1"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endParaRPr>
          </a:p>
        </p:txBody>
      </p:sp>
      <p:sp>
        <p:nvSpPr>
          <p:cNvPr id="19553" name="직사각형 40"/>
          <p:cNvSpPr>
            <a:spLocks noChangeArrowheads="1"/>
          </p:cNvSpPr>
          <p:nvPr/>
        </p:nvSpPr>
        <p:spPr bwMode="auto">
          <a:xfrm>
            <a:off x="2922572" y="4132668"/>
            <a:ext cx="3608115" cy="1227003"/>
          </a:xfrm>
          <a:prstGeom prst="rect">
            <a:avLst/>
          </a:prstGeom>
          <a:noFill/>
          <a:ln w="9525">
            <a:noFill/>
            <a:miter lim="800000"/>
            <a:headEnd/>
            <a:tailEnd/>
          </a:ln>
        </p:spPr>
        <p:txBody>
          <a:bodyPr wrap="square">
            <a:spAutoFit/>
          </a:bodyPr>
          <a:lstStyle/>
          <a:p>
            <a:pPr eaLnBrk="0" hangingPunct="0">
              <a:lnSpc>
                <a:spcPts val="1500"/>
              </a:lnSpc>
              <a:buFont typeface="Wingdings" pitchFamily="2" charset="2"/>
              <a:buChar char="q"/>
            </a:pPr>
            <a:r>
              <a:rPr lang="ko-KR" altLang="en-US" sz="1000" b="1"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 </a:t>
            </a:r>
            <a:r>
              <a:rPr lang="en-US" altLang="ko-KR" sz="1000" b="1"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sym typeface="Wingdings" pitchFamily="2" charset="2"/>
              </a:rPr>
              <a:t>Key activity / Output</a:t>
            </a:r>
          </a:p>
          <a:p>
            <a:pPr eaLnBrk="0" hangingPunct="0">
              <a:lnSpc>
                <a:spcPts val="1500"/>
              </a:lnSpc>
              <a:buFont typeface="Arial" panose="020B0604020202020204" pitchFamily="34" charset="0"/>
              <a:buChar char="•"/>
            </a:pPr>
            <a:r>
              <a:rPr lang="ko-KR" altLang="en-US" sz="1000"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rPr>
              <a:t> </a:t>
            </a:r>
            <a:r>
              <a:rPr lang="en-US" altLang="ko-KR" sz="1000"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rPr>
              <a:t>D : Define issue, Define defect rate, Collect defective sample</a:t>
            </a:r>
          </a:p>
          <a:p>
            <a:pPr eaLnBrk="0" hangingPunct="0">
              <a:lnSpc>
                <a:spcPts val="1500"/>
              </a:lnSpc>
              <a:buFont typeface="Arial" charset="0"/>
              <a:buChar char="•"/>
            </a:pPr>
            <a:r>
              <a:rPr lang="en-US" altLang="ko-KR" sz="1000"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rPr>
              <a:t> M : Gage R&amp;R evaluate equipment and inspector measurement skills</a:t>
            </a:r>
          </a:p>
          <a:p>
            <a:pPr eaLnBrk="0" hangingPunct="0">
              <a:lnSpc>
                <a:spcPts val="1500"/>
              </a:lnSpc>
              <a:buFont typeface="Arial" charset="0"/>
              <a:buChar char="•"/>
            </a:pPr>
            <a:r>
              <a:rPr lang="en-US" altLang="ko-KR" sz="1000"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rPr>
              <a:t> A : Use Fish bones analysis method to find root cause</a:t>
            </a:r>
            <a:endParaRPr lang="ko-KR" altLang="en-US" sz="1000"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endParaRPr>
          </a:p>
          <a:p>
            <a:pPr eaLnBrk="0" hangingPunct="0">
              <a:lnSpc>
                <a:spcPts val="1500"/>
              </a:lnSpc>
              <a:buFont typeface="Arial" charset="0"/>
              <a:buChar char="•"/>
            </a:pPr>
            <a:r>
              <a:rPr lang="en-US" altLang="ko-KR" sz="1000"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rPr>
              <a:t> I : Meeting discuss, make improvement action plan and follow up</a:t>
            </a:r>
            <a:endParaRPr lang="ko-KR" altLang="en-US" sz="1000"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endParaRPr>
          </a:p>
          <a:p>
            <a:pPr eaLnBrk="0" hangingPunct="0">
              <a:lnSpc>
                <a:spcPts val="1500"/>
              </a:lnSpc>
              <a:buFont typeface="Arial" charset="0"/>
              <a:buChar char="•"/>
            </a:pPr>
            <a:r>
              <a:rPr lang="en-US" altLang="ko-KR" sz="1000"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rPr>
              <a:t> C :</a:t>
            </a:r>
            <a:r>
              <a:rPr lang="ko-KR" altLang="en-US" sz="1000"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rPr>
              <a:t> </a:t>
            </a:r>
            <a:r>
              <a:rPr lang="en-US" altLang="ko-KR" sz="1000"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rPr>
              <a:t>Verify action on the line, Set up  quality meeting to control this issue</a:t>
            </a:r>
          </a:p>
        </p:txBody>
      </p:sp>
      <p:sp>
        <p:nvSpPr>
          <p:cNvPr id="19554" name="AutoShape 110"/>
          <p:cNvSpPr>
            <a:spLocks noChangeArrowheads="1"/>
          </p:cNvSpPr>
          <p:nvPr/>
        </p:nvSpPr>
        <p:spPr bwMode="auto">
          <a:xfrm>
            <a:off x="3376627" y="3901495"/>
            <a:ext cx="579373" cy="246221"/>
          </a:xfrm>
          <a:prstGeom prst="homePlate">
            <a:avLst>
              <a:gd name="adj" fmla="val 46021"/>
            </a:avLst>
          </a:prstGeom>
          <a:solidFill>
            <a:schemeClr val="bg1"/>
          </a:solidFill>
          <a:ln w="9525">
            <a:solidFill>
              <a:schemeClr val="tx1"/>
            </a:solidFill>
            <a:miter lim="800000"/>
            <a:headEnd/>
            <a:tailEnd/>
          </a:ln>
        </p:spPr>
        <p:txBody>
          <a:bodyPr wrap="none" anchor="ctr"/>
          <a:lstStyle/>
          <a:p>
            <a:pPr algn="ctr" eaLnBrk="0" latinLnBrk="0" hangingPunct="0"/>
            <a:r>
              <a:rPr lang="en-US" altLang="ko-KR" sz="1000"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rPr>
              <a:t>D</a:t>
            </a:r>
          </a:p>
        </p:txBody>
      </p:sp>
      <p:sp>
        <p:nvSpPr>
          <p:cNvPr id="19555" name="AutoShape 111"/>
          <p:cNvSpPr>
            <a:spLocks noChangeArrowheads="1"/>
          </p:cNvSpPr>
          <p:nvPr/>
        </p:nvSpPr>
        <p:spPr bwMode="auto">
          <a:xfrm>
            <a:off x="3952888" y="3901495"/>
            <a:ext cx="580970" cy="246221"/>
          </a:xfrm>
          <a:prstGeom prst="homePlate">
            <a:avLst>
              <a:gd name="adj" fmla="val 46148"/>
            </a:avLst>
          </a:prstGeom>
          <a:solidFill>
            <a:schemeClr val="bg1"/>
          </a:solidFill>
          <a:ln w="9525">
            <a:solidFill>
              <a:schemeClr val="tx1"/>
            </a:solidFill>
            <a:miter lim="800000"/>
            <a:headEnd/>
            <a:tailEnd/>
          </a:ln>
        </p:spPr>
        <p:txBody>
          <a:bodyPr wrap="none" anchor="ctr"/>
          <a:lstStyle/>
          <a:p>
            <a:pPr algn="ctr" eaLnBrk="0" latinLnBrk="0" hangingPunct="0"/>
            <a:r>
              <a:rPr lang="en-US" altLang="ko-KR" sz="1000"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rPr>
              <a:t>M</a:t>
            </a:r>
          </a:p>
        </p:txBody>
      </p:sp>
      <p:sp>
        <p:nvSpPr>
          <p:cNvPr id="19556" name="AutoShape 112"/>
          <p:cNvSpPr>
            <a:spLocks noChangeArrowheads="1"/>
          </p:cNvSpPr>
          <p:nvPr/>
        </p:nvSpPr>
        <p:spPr bwMode="auto">
          <a:xfrm>
            <a:off x="4529151" y="3901495"/>
            <a:ext cx="580970" cy="246221"/>
          </a:xfrm>
          <a:prstGeom prst="homePlate">
            <a:avLst>
              <a:gd name="adj" fmla="val 46148"/>
            </a:avLst>
          </a:prstGeom>
          <a:solidFill>
            <a:schemeClr val="bg1"/>
          </a:solidFill>
          <a:ln w="9525">
            <a:solidFill>
              <a:schemeClr val="tx1"/>
            </a:solidFill>
            <a:miter lim="800000"/>
            <a:headEnd/>
            <a:tailEnd/>
          </a:ln>
        </p:spPr>
        <p:txBody>
          <a:bodyPr wrap="none" anchor="ctr"/>
          <a:lstStyle/>
          <a:p>
            <a:pPr algn="ctr" eaLnBrk="0" latinLnBrk="0" hangingPunct="0"/>
            <a:r>
              <a:rPr lang="en-US" altLang="ko-KR" sz="1000">
                <a:solidFill>
                  <a:srgbClr val="000000"/>
                </a:solidFill>
                <a:latin typeface="Arial Narrow" panose="020B0606020202030204" pitchFamily="34" charset="0"/>
                <a:ea typeface="LG스마트체 Regular" panose="020B0600000101010101" pitchFamily="50" charset="-127"/>
                <a:cs typeface="Arial" panose="020B0604020202020204" pitchFamily="34" charset="0"/>
              </a:rPr>
              <a:t>A</a:t>
            </a:r>
          </a:p>
        </p:txBody>
      </p:sp>
      <p:sp>
        <p:nvSpPr>
          <p:cNvPr id="19557" name="AutoShape 117"/>
          <p:cNvSpPr>
            <a:spLocks noChangeArrowheads="1"/>
          </p:cNvSpPr>
          <p:nvPr/>
        </p:nvSpPr>
        <p:spPr bwMode="auto">
          <a:xfrm>
            <a:off x="5107001" y="3901495"/>
            <a:ext cx="580970" cy="246221"/>
          </a:xfrm>
          <a:prstGeom prst="homePlate">
            <a:avLst>
              <a:gd name="adj" fmla="val 46148"/>
            </a:avLst>
          </a:prstGeom>
          <a:solidFill>
            <a:schemeClr val="bg1"/>
          </a:solidFill>
          <a:ln w="9525">
            <a:solidFill>
              <a:schemeClr val="tx1"/>
            </a:solidFill>
            <a:miter lim="800000"/>
            <a:headEnd/>
            <a:tailEnd/>
          </a:ln>
        </p:spPr>
        <p:txBody>
          <a:bodyPr wrap="none" anchor="ctr"/>
          <a:lstStyle/>
          <a:p>
            <a:pPr algn="ctr" eaLnBrk="0" latinLnBrk="0" hangingPunct="0"/>
            <a:r>
              <a:rPr lang="en-US" altLang="ko-KR" sz="1000">
                <a:solidFill>
                  <a:srgbClr val="000000"/>
                </a:solidFill>
                <a:latin typeface="Arial Narrow" panose="020B0606020202030204" pitchFamily="34" charset="0"/>
                <a:ea typeface="LG스마트체 Regular" panose="020B0600000101010101" pitchFamily="50" charset="-127"/>
                <a:cs typeface="Arial" panose="020B0604020202020204" pitchFamily="34" charset="0"/>
              </a:rPr>
              <a:t>I</a:t>
            </a:r>
          </a:p>
        </p:txBody>
      </p:sp>
      <p:sp>
        <p:nvSpPr>
          <p:cNvPr id="19558" name="AutoShape 118"/>
          <p:cNvSpPr>
            <a:spLocks noChangeArrowheads="1"/>
          </p:cNvSpPr>
          <p:nvPr/>
        </p:nvSpPr>
        <p:spPr bwMode="auto">
          <a:xfrm>
            <a:off x="5683265" y="3901495"/>
            <a:ext cx="579374" cy="246221"/>
          </a:xfrm>
          <a:prstGeom prst="homePlate">
            <a:avLst>
              <a:gd name="adj" fmla="val 46021"/>
            </a:avLst>
          </a:prstGeom>
          <a:solidFill>
            <a:schemeClr val="bg1"/>
          </a:solidFill>
          <a:ln w="9525">
            <a:solidFill>
              <a:schemeClr val="tx1"/>
            </a:solidFill>
            <a:miter lim="800000"/>
            <a:headEnd/>
            <a:tailEnd/>
          </a:ln>
        </p:spPr>
        <p:txBody>
          <a:bodyPr wrap="none" anchor="ctr"/>
          <a:lstStyle/>
          <a:p>
            <a:pPr algn="ctr" eaLnBrk="0" latinLnBrk="0" hangingPunct="0"/>
            <a:r>
              <a:rPr lang="en-US" altLang="ko-KR" sz="1000"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rPr>
              <a:t>C</a:t>
            </a:r>
          </a:p>
        </p:txBody>
      </p:sp>
      <p:sp>
        <p:nvSpPr>
          <p:cNvPr id="19559" name="Text Box 115"/>
          <p:cNvSpPr txBox="1">
            <a:spLocks noChangeArrowheads="1"/>
          </p:cNvSpPr>
          <p:nvPr/>
        </p:nvSpPr>
        <p:spPr bwMode="auto">
          <a:xfrm>
            <a:off x="3472082" y="3650586"/>
            <a:ext cx="328936" cy="246221"/>
          </a:xfrm>
          <a:prstGeom prst="rect">
            <a:avLst/>
          </a:prstGeom>
          <a:noFill/>
          <a:ln w="9525">
            <a:noFill/>
            <a:miter lim="800000"/>
            <a:headEnd/>
            <a:tailEnd/>
          </a:ln>
        </p:spPr>
        <p:txBody>
          <a:bodyPr wrap="none">
            <a:spAutoFit/>
          </a:bodyPr>
          <a:lstStyle/>
          <a:p>
            <a:pPr eaLnBrk="0" latinLnBrk="0" hangingPunct="0"/>
            <a:r>
              <a:rPr lang="en-US" altLang="ko-KR" sz="1000"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rPr>
              <a:t>9/1</a:t>
            </a:r>
          </a:p>
        </p:txBody>
      </p:sp>
      <p:sp>
        <p:nvSpPr>
          <p:cNvPr id="19560" name="Text Box 115"/>
          <p:cNvSpPr txBox="1">
            <a:spLocks noChangeArrowheads="1"/>
          </p:cNvSpPr>
          <p:nvPr/>
        </p:nvSpPr>
        <p:spPr bwMode="auto">
          <a:xfrm>
            <a:off x="3939732" y="3658280"/>
            <a:ext cx="386644" cy="246221"/>
          </a:xfrm>
          <a:prstGeom prst="rect">
            <a:avLst/>
          </a:prstGeom>
          <a:noFill/>
          <a:ln w="9525">
            <a:noFill/>
            <a:miter lim="800000"/>
            <a:headEnd/>
            <a:tailEnd/>
          </a:ln>
        </p:spPr>
        <p:txBody>
          <a:bodyPr wrap="none">
            <a:spAutoFit/>
          </a:bodyPr>
          <a:lstStyle/>
          <a:p>
            <a:pPr eaLnBrk="0" latinLnBrk="0" hangingPunct="0"/>
            <a:r>
              <a:rPr lang="en-US" altLang="ko-KR" sz="1000"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rPr>
              <a:t>9/15</a:t>
            </a:r>
          </a:p>
        </p:txBody>
      </p:sp>
      <p:sp>
        <p:nvSpPr>
          <p:cNvPr id="19561" name="Text Box 113"/>
          <p:cNvSpPr txBox="1">
            <a:spLocks noChangeArrowheads="1"/>
          </p:cNvSpPr>
          <p:nvPr/>
        </p:nvSpPr>
        <p:spPr bwMode="auto">
          <a:xfrm>
            <a:off x="4571754" y="3661104"/>
            <a:ext cx="386644" cy="246221"/>
          </a:xfrm>
          <a:prstGeom prst="rect">
            <a:avLst/>
          </a:prstGeom>
          <a:noFill/>
          <a:ln w="9525">
            <a:noFill/>
            <a:miter lim="800000"/>
            <a:headEnd/>
            <a:tailEnd/>
          </a:ln>
        </p:spPr>
        <p:txBody>
          <a:bodyPr wrap="none">
            <a:spAutoFit/>
          </a:bodyPr>
          <a:lstStyle/>
          <a:p>
            <a:pPr eaLnBrk="0" latinLnBrk="0" hangingPunct="0"/>
            <a:r>
              <a:rPr lang="en-US" altLang="ko-KR" sz="1000"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rPr>
              <a:t>9/30</a:t>
            </a:r>
          </a:p>
        </p:txBody>
      </p:sp>
      <p:sp>
        <p:nvSpPr>
          <p:cNvPr id="19562" name="Text Box 114"/>
          <p:cNvSpPr txBox="1">
            <a:spLocks noChangeArrowheads="1"/>
          </p:cNvSpPr>
          <p:nvPr/>
        </p:nvSpPr>
        <p:spPr bwMode="auto">
          <a:xfrm>
            <a:off x="5196142" y="3649105"/>
            <a:ext cx="444352" cy="246221"/>
          </a:xfrm>
          <a:prstGeom prst="rect">
            <a:avLst/>
          </a:prstGeom>
          <a:noFill/>
          <a:ln w="9525">
            <a:noFill/>
            <a:miter lim="800000"/>
            <a:headEnd/>
            <a:tailEnd/>
          </a:ln>
        </p:spPr>
        <p:txBody>
          <a:bodyPr wrap="none">
            <a:spAutoFit/>
          </a:bodyPr>
          <a:lstStyle/>
          <a:p>
            <a:pPr eaLnBrk="0" latinLnBrk="0" hangingPunct="0"/>
            <a:r>
              <a:rPr lang="en-US" altLang="ko-KR" sz="1000"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rPr>
              <a:t>10/12</a:t>
            </a:r>
          </a:p>
        </p:txBody>
      </p:sp>
      <p:sp>
        <p:nvSpPr>
          <p:cNvPr id="19563" name="Text Box 115"/>
          <p:cNvSpPr txBox="1">
            <a:spLocks noChangeArrowheads="1"/>
          </p:cNvSpPr>
          <p:nvPr/>
        </p:nvSpPr>
        <p:spPr bwMode="auto">
          <a:xfrm>
            <a:off x="5725249" y="3650586"/>
            <a:ext cx="444352" cy="246221"/>
          </a:xfrm>
          <a:prstGeom prst="rect">
            <a:avLst/>
          </a:prstGeom>
          <a:noFill/>
          <a:ln w="9525">
            <a:noFill/>
            <a:miter lim="800000"/>
            <a:headEnd/>
            <a:tailEnd/>
          </a:ln>
        </p:spPr>
        <p:txBody>
          <a:bodyPr wrap="none">
            <a:spAutoFit/>
          </a:bodyPr>
          <a:lstStyle/>
          <a:p>
            <a:pPr eaLnBrk="0" latinLnBrk="0" hangingPunct="0"/>
            <a:r>
              <a:rPr lang="en-US" altLang="ko-KR" sz="1000"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rPr>
              <a:t>10/30</a:t>
            </a:r>
            <a:endParaRPr lang="en-US" altLang="ko-KR" sz="1100"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endParaRPr>
          </a:p>
        </p:txBody>
      </p:sp>
      <p:sp>
        <p:nvSpPr>
          <p:cNvPr id="24" name="직사각형 20"/>
          <p:cNvSpPr>
            <a:spLocks noChangeArrowheads="1"/>
          </p:cNvSpPr>
          <p:nvPr/>
        </p:nvSpPr>
        <p:spPr bwMode="auto">
          <a:xfrm>
            <a:off x="5754687" y="183591"/>
            <a:ext cx="1453988" cy="553998"/>
          </a:xfrm>
          <a:prstGeom prst="rect">
            <a:avLst/>
          </a:prstGeom>
          <a:noFill/>
          <a:ln w="9525">
            <a:noFill/>
            <a:miter lim="800000"/>
            <a:headEnd/>
            <a:tailEnd/>
          </a:ln>
        </p:spPr>
        <p:txBody>
          <a:bodyPr wrap="square">
            <a:spAutoFit/>
          </a:bodyPr>
          <a:lstStyle/>
          <a:p>
            <a:pPr algn="just" defTabSz="912807" eaLnBrk="0" hangingPunct="0"/>
            <a:r>
              <a:rPr lang="en-US" altLang="ko-KR" sz="1000"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rPr>
              <a:t>Task category</a:t>
            </a:r>
          </a:p>
          <a:p>
            <a:pPr algn="just" defTabSz="912807" eaLnBrk="0" hangingPunct="0"/>
            <a:r>
              <a:rPr lang="ko-KR" altLang="en-US" sz="1000"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rPr>
              <a:t>□ </a:t>
            </a:r>
            <a:r>
              <a:rPr lang="en-US" altLang="ko-KR" sz="1000"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rPr>
              <a:t>HW      </a:t>
            </a:r>
            <a:r>
              <a:rPr lang="ko-KR" altLang="en-US" sz="1000"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rPr>
              <a:t>■ </a:t>
            </a:r>
            <a:r>
              <a:rPr lang="en-US" altLang="ko-KR" sz="1000"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rPr>
              <a:t>SW</a:t>
            </a:r>
          </a:p>
          <a:p>
            <a:pPr algn="just" defTabSz="912807" eaLnBrk="0" hangingPunct="0"/>
            <a:r>
              <a:rPr lang="ko-KR" altLang="en-US" sz="1000"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rPr>
              <a:t>□ </a:t>
            </a:r>
            <a:r>
              <a:rPr lang="en-US" altLang="ko-KR" sz="1000"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rPr>
              <a:t>Mecha </a:t>
            </a:r>
            <a:r>
              <a:rPr lang="ko-KR" altLang="en-US" sz="1000"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rPr>
              <a:t>□ </a:t>
            </a:r>
            <a:r>
              <a:rPr lang="en-US" altLang="ko-KR" sz="1000"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rPr>
              <a:t>Current job</a:t>
            </a:r>
          </a:p>
        </p:txBody>
      </p:sp>
    </p:spTree>
    <p:extLst>
      <p:ext uri="{BB962C8B-B14F-4D97-AF65-F5344CB8AC3E}">
        <p14:creationId xmlns:p14="http://schemas.microsoft.com/office/powerpoint/2010/main" val="2346540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56457" y="116632"/>
            <a:ext cx="1280419" cy="418058"/>
          </a:xfrm>
        </p:spPr>
        <p:txBody>
          <a:bodyPr>
            <a:noAutofit/>
          </a:bodyPr>
          <a:lstStyle/>
          <a:p>
            <a:r>
              <a:rPr lang="en-US" altLang="ko-KR" sz="2000" b="1" dirty="0">
                <a:latin typeface="Arial Narrow" panose="020B0606020202030204" pitchFamily="34" charset="0"/>
                <a:ea typeface="LG스마트체 Regular" panose="020B0600000101010101" pitchFamily="50" charset="-127"/>
              </a:rPr>
              <a:t>1. Pareto</a:t>
            </a:r>
            <a:endParaRPr lang="ko-KR" altLang="en-US" sz="2000" b="1" dirty="0">
              <a:latin typeface="Arial Narrow" panose="020B0606020202030204" pitchFamily="34" charset="0"/>
              <a:ea typeface="LG스마트체 Regular" panose="020B0600000101010101" pitchFamily="50" charset="-127"/>
            </a:endParaRPr>
          </a:p>
        </p:txBody>
      </p:sp>
      <p:sp>
        <p:nvSpPr>
          <p:cNvPr id="7" name="제목 1"/>
          <p:cNvSpPr txBox="1">
            <a:spLocks/>
          </p:cNvSpPr>
          <p:nvPr/>
        </p:nvSpPr>
        <p:spPr>
          <a:xfrm>
            <a:off x="147794" y="601339"/>
            <a:ext cx="1761688" cy="418058"/>
          </a:xfrm>
          <a:prstGeom prst="rect">
            <a:avLst/>
          </a:prstGeom>
        </p:spPr>
        <p:txBody>
          <a:bodyPr vert="horz" lIns="91440" tIns="45720" rIns="91440" bIns="45720" rtlCol="0" anchor="ctr">
            <a:normAutofit/>
          </a:bodyPr>
          <a:lstStyle/>
          <a:p>
            <a:pPr eaLnBrk="0" fontAlgn="base" latinLnBrk="1" hangingPunct="0">
              <a:spcBef>
                <a:spcPct val="0"/>
              </a:spcBef>
              <a:spcAft>
                <a:spcPct val="0"/>
              </a:spcAft>
              <a:defRPr/>
            </a:pPr>
            <a:r>
              <a:rPr kumimoji="1" lang="en-US" altLang="ko-KR" sz="1600" b="1" kern="0" dirty="0">
                <a:solidFill>
                  <a:srgbClr val="000000"/>
                </a:solidFill>
                <a:latin typeface="Arial Narrow" panose="020B0606020202030204" pitchFamily="34" charset="0"/>
                <a:ea typeface="LG스마트체 Regular" panose="020B0600000101010101" pitchFamily="50" charset="-127"/>
                <a:cs typeface="+mj-cs"/>
              </a:rPr>
              <a:t>1.1 Define Issue</a:t>
            </a:r>
            <a:endParaRPr kumimoji="1" lang="ko-KR" altLang="en-US" sz="1600" b="1" kern="0" dirty="0">
              <a:solidFill>
                <a:srgbClr val="000000"/>
              </a:solidFill>
              <a:latin typeface="Arial Narrow" panose="020B0606020202030204" pitchFamily="34" charset="0"/>
              <a:ea typeface="LG스마트체 Regular" panose="020B0600000101010101" pitchFamily="50" charset="-127"/>
              <a:cs typeface="+mj-cs"/>
            </a:endParaRPr>
          </a:p>
        </p:txBody>
      </p:sp>
      <p:sp>
        <p:nvSpPr>
          <p:cNvPr id="11" name="TextBox 10"/>
          <p:cNvSpPr txBox="1"/>
          <p:nvPr/>
        </p:nvSpPr>
        <p:spPr>
          <a:xfrm>
            <a:off x="327219" y="1036322"/>
            <a:ext cx="4703516" cy="1800493"/>
          </a:xfrm>
          <a:prstGeom prst="rect">
            <a:avLst/>
          </a:prstGeom>
          <a:noFill/>
        </p:spPr>
        <p:txBody>
          <a:bodyPr wrap="square" rtlCol="0">
            <a:spAutoFit/>
          </a:bodyPr>
          <a:lstStyle/>
          <a:p>
            <a:pPr fontAlgn="base" latinLnBrk="1">
              <a:spcBef>
                <a:spcPct val="0"/>
              </a:spcBef>
              <a:spcAft>
                <a:spcPct val="0"/>
              </a:spcAft>
              <a:buFont typeface="Wingdings" pitchFamily="2" charset="2"/>
              <a:buChar char="q"/>
            </a:pPr>
            <a:r>
              <a:rPr kumimoji="1" lang="en-US" sz="1100" b="1" dirty="0">
                <a:solidFill>
                  <a:srgbClr val="000000"/>
                </a:solidFill>
                <a:latin typeface="Arial Narrow" panose="020B0606020202030204" pitchFamily="34" charset="0"/>
                <a:ea typeface="LG Smart_H Regular" pitchFamily="34" charset="-127"/>
                <a:cs typeface="Times New Roman" panose="02020603050405020304" pitchFamily="18" charset="0"/>
              </a:rPr>
              <a:t> Issue information</a:t>
            </a:r>
            <a:endParaRPr kumimoji="1" lang="en-US" sz="1100" dirty="0">
              <a:solidFill>
                <a:srgbClr val="000000"/>
              </a:solidFill>
              <a:latin typeface="Arial Narrow" panose="020B0606020202030204" pitchFamily="34" charset="0"/>
              <a:ea typeface="LG Smart_H Regular" pitchFamily="34" charset="-127"/>
              <a:cs typeface="Times New Roman" panose="02020603050405020304" pitchFamily="18" charset="0"/>
            </a:endParaRPr>
          </a:p>
          <a:p>
            <a:r>
              <a:rPr kumimoji="1" lang="en-US" sz="1100" dirty="0">
                <a:solidFill>
                  <a:srgbClr val="000000"/>
                </a:solidFill>
                <a:latin typeface="Arial Narrow" panose="020B0606020202030204" pitchFamily="34" charset="0"/>
                <a:ea typeface="LG Smart_H Regular" pitchFamily="34" charset="-127"/>
                <a:cs typeface="Times New Roman" panose="02020603050405020304" pitchFamily="18" charset="0"/>
              </a:rPr>
              <a:t>Symptom       : </a:t>
            </a:r>
            <a:r>
              <a:rPr lang="en-US" sz="1100" dirty="0">
                <a:latin typeface="Arial Narrow" panose="020B0606020202030204" pitchFamily="34" charset="0"/>
              </a:rPr>
              <a:t>Reduce distortion of USB audio signal on Renault AIVI2</a:t>
            </a:r>
            <a:endParaRPr lang="en-US" sz="1100" dirty="0">
              <a:latin typeface="Arial Narrow" panose="020B0606020202030204" pitchFamily="34" charset="0"/>
              <a:ea typeface="LG Smart_H Regular" panose="020B0600000101010101" pitchFamily="34" charset="-127"/>
            </a:endParaRPr>
          </a:p>
          <a:p>
            <a:pPr fontAlgn="base" latinLnBrk="1">
              <a:spcBef>
                <a:spcPct val="0"/>
              </a:spcBef>
              <a:spcAft>
                <a:spcPct val="0"/>
              </a:spcAft>
            </a:pPr>
            <a:r>
              <a:rPr kumimoji="1" lang="en-US" sz="1100" dirty="0">
                <a:solidFill>
                  <a:srgbClr val="000000"/>
                </a:solidFill>
                <a:latin typeface="Arial Narrow" panose="020B0606020202030204" pitchFamily="34" charset="0"/>
                <a:ea typeface="LG Smart_H Regular" pitchFamily="34" charset="-127"/>
                <a:cs typeface="Times New Roman" panose="02020603050405020304" pitchFamily="18" charset="0"/>
              </a:rPr>
              <a:t>Prod Q’ty        : 361</a:t>
            </a:r>
          </a:p>
          <a:p>
            <a:pPr fontAlgn="base" latinLnBrk="1">
              <a:spcBef>
                <a:spcPct val="0"/>
              </a:spcBef>
              <a:spcAft>
                <a:spcPct val="0"/>
              </a:spcAft>
            </a:pPr>
            <a:r>
              <a:rPr kumimoji="1" lang="en-US" sz="1100" dirty="0">
                <a:solidFill>
                  <a:srgbClr val="000000"/>
                </a:solidFill>
                <a:latin typeface="Arial Narrow" panose="020B0606020202030204" pitchFamily="34" charset="0"/>
                <a:ea typeface="LG Smart_H Regular" pitchFamily="34" charset="-127"/>
                <a:cs typeface="Times New Roman" panose="02020603050405020304" pitchFamily="18" charset="0"/>
              </a:rPr>
              <a:t>Defect Q’ty    : 17</a:t>
            </a:r>
          </a:p>
          <a:p>
            <a:pPr fontAlgn="base" latinLnBrk="1">
              <a:spcBef>
                <a:spcPct val="0"/>
              </a:spcBef>
              <a:spcAft>
                <a:spcPct val="0"/>
              </a:spcAft>
            </a:pPr>
            <a:r>
              <a:rPr kumimoji="1" lang="en-US" sz="1100" dirty="0">
                <a:solidFill>
                  <a:srgbClr val="000000"/>
                </a:solidFill>
                <a:latin typeface="Arial Narrow" panose="020B0606020202030204" pitchFamily="34" charset="0"/>
                <a:ea typeface="LG Smart_H Regular" pitchFamily="34" charset="-127"/>
                <a:cs typeface="Times New Roman" panose="02020603050405020304" pitchFamily="18" charset="0"/>
              </a:rPr>
              <a:t>Defect Rate   : </a:t>
            </a:r>
            <a:r>
              <a:rPr lang="en-US" altLang="ko-KR" sz="1100" dirty="0">
                <a:solidFill>
                  <a:srgbClr val="000000"/>
                </a:solidFill>
                <a:latin typeface="Arial Narrow" panose="020B0606020202030204" pitchFamily="34" charset="0"/>
                <a:ea typeface="LG Smart_H Regular" panose="020B0600000101010101"/>
                <a:cs typeface="Arial" panose="020B0604020202020204" pitchFamily="34" charset="0"/>
              </a:rPr>
              <a:t>47,091</a:t>
            </a:r>
            <a:r>
              <a:rPr lang="en-US" altLang="ko-KR" sz="1100" dirty="0">
                <a:latin typeface="Arial Narrow" panose="020B0606020202030204" pitchFamily="34" charset="0"/>
                <a:ea typeface="LG Smart_H Regular" pitchFamily="34" charset="-127"/>
                <a:cs typeface="Arial" pitchFamily="34" charset="0"/>
              </a:rPr>
              <a:t> </a:t>
            </a:r>
            <a:r>
              <a:rPr kumimoji="1" lang="en-US" sz="1100" dirty="0">
                <a:solidFill>
                  <a:srgbClr val="000000"/>
                </a:solidFill>
                <a:latin typeface="Arial Narrow" panose="020B0606020202030204" pitchFamily="34" charset="0"/>
                <a:ea typeface="LG Smart_H Regular" pitchFamily="34" charset="-127"/>
                <a:cs typeface="Times New Roman" panose="02020603050405020304" pitchFamily="18" charset="0"/>
              </a:rPr>
              <a:t>ppm</a:t>
            </a:r>
          </a:p>
          <a:p>
            <a:pPr fontAlgn="base" latinLnBrk="1">
              <a:spcBef>
                <a:spcPct val="0"/>
              </a:spcBef>
              <a:spcAft>
                <a:spcPct val="0"/>
              </a:spcAft>
            </a:pPr>
            <a:r>
              <a:rPr kumimoji="1" lang="en-US" sz="1100" dirty="0">
                <a:solidFill>
                  <a:srgbClr val="000000"/>
                </a:solidFill>
                <a:latin typeface="Arial Narrow" panose="020B0606020202030204" pitchFamily="34" charset="0"/>
                <a:ea typeface="LG Smart_H Regular" pitchFamily="34" charset="-127"/>
                <a:cs typeface="Times New Roman" panose="02020603050405020304" pitchFamily="18" charset="0"/>
              </a:rPr>
              <a:t>Issue date      : 19.Jun.2025~17.July.2026</a:t>
            </a:r>
          </a:p>
          <a:p>
            <a:pPr fontAlgn="base" latinLnBrk="1">
              <a:spcBef>
                <a:spcPct val="0"/>
              </a:spcBef>
              <a:spcAft>
                <a:spcPct val="0"/>
              </a:spcAft>
            </a:pPr>
            <a:endParaRPr kumimoji="1" lang="en-US" sz="1100" dirty="0">
              <a:solidFill>
                <a:srgbClr val="000000"/>
              </a:solidFill>
              <a:latin typeface="Arial Narrow" panose="020B0606020202030204" pitchFamily="34" charset="0"/>
              <a:ea typeface="LG Smart_H Regular" pitchFamily="34" charset="-127"/>
              <a:cs typeface="Times New Roman" panose="02020603050405020304" pitchFamily="18" charset="0"/>
            </a:endParaRPr>
          </a:p>
          <a:p>
            <a:pPr marL="171449" indent="-171449" fontAlgn="base" latinLnBrk="1">
              <a:spcBef>
                <a:spcPct val="0"/>
              </a:spcBef>
              <a:spcAft>
                <a:spcPct val="0"/>
              </a:spcAft>
              <a:buFont typeface="Wingdings" panose="05000000000000000000" pitchFamily="2" charset="2"/>
              <a:buChar char="q"/>
            </a:pPr>
            <a:r>
              <a:rPr kumimoji="1" lang="en-US" altLang="ko-KR" sz="1100" b="1" dirty="0">
                <a:solidFill>
                  <a:srgbClr val="000000"/>
                </a:solidFill>
                <a:latin typeface="Arial Narrow" panose="020B0606020202030204" pitchFamily="34" charset="0"/>
                <a:ea typeface="LG Smart_H Regular" pitchFamily="34" charset="-127"/>
                <a:cs typeface="Times New Roman" panose="02020603050405020304" pitchFamily="18" charset="0"/>
              </a:rPr>
              <a:t>Reason of choosing</a:t>
            </a:r>
            <a:endParaRPr kumimoji="1" lang="en-US" sz="1100" dirty="0">
              <a:solidFill>
                <a:srgbClr val="000000"/>
              </a:solidFill>
              <a:latin typeface="Arial Narrow" panose="020B0606020202030204" pitchFamily="34" charset="0"/>
              <a:ea typeface="LG Smart_H Regular" pitchFamily="34" charset="-127"/>
              <a:cs typeface="Times New Roman" panose="02020603050405020304" pitchFamily="18" charset="0"/>
            </a:endParaRPr>
          </a:p>
          <a:p>
            <a:pPr indent="-171450" algn="just">
              <a:buFont typeface="Arial" panose="020B0604020202020204" pitchFamily="34" charset="0"/>
              <a:buChar char="•"/>
            </a:pPr>
            <a:r>
              <a:rPr lang="en-US" altLang="en-US" sz="1100" dirty="0">
                <a:latin typeface="Arial Narrow" panose="020B0606020202030204" pitchFamily="34" charset="0"/>
                <a:ea typeface="LG Smart_H Regular" panose="020B0600000101010101" pitchFamily="34" charset="-127"/>
              </a:rPr>
              <a:t>This issue occurs with high defect rate</a:t>
            </a:r>
          </a:p>
          <a:p>
            <a:pPr indent="-171450" algn="just">
              <a:buFont typeface="Arial" panose="020B0604020202020204" pitchFamily="34" charset="0"/>
              <a:buChar char="•"/>
            </a:pPr>
            <a:r>
              <a:rPr lang="en-US" altLang="en-US" sz="1100" dirty="0">
                <a:solidFill>
                  <a:srgbClr val="000000"/>
                </a:solidFill>
                <a:latin typeface="Arial Narrow" panose="020B0606020202030204" pitchFamily="34" charset="0"/>
                <a:ea typeface="LG Smart_H Regular" panose="020B0600000101010101" pitchFamily="34" charset="-127"/>
              </a:rPr>
              <a:t>I choose this item because </a:t>
            </a:r>
            <a:r>
              <a:rPr lang="en-US" altLang="ko-KR" sz="1100" dirty="0">
                <a:latin typeface="Arial Narrow" panose="020B0606020202030204" pitchFamily="34" charset="0"/>
                <a:ea typeface="LG Smart_H Regular" panose="020B0600000101010101" pitchFamily="34" charset="-127"/>
                <a:cs typeface="Arial" pitchFamily="34" charset="0"/>
                <a:sym typeface="Wingdings" pitchFamily="2" charset="2"/>
              </a:rPr>
              <a:t>high NG occurs frequently, UPH will be reduced</a:t>
            </a:r>
          </a:p>
        </p:txBody>
      </p:sp>
      <p:sp>
        <p:nvSpPr>
          <p:cNvPr id="6" name="TextBox 5"/>
          <p:cNvSpPr txBox="1"/>
          <p:nvPr/>
        </p:nvSpPr>
        <p:spPr>
          <a:xfrm>
            <a:off x="5933542" y="3659120"/>
            <a:ext cx="2371598" cy="600164"/>
          </a:xfrm>
          <a:prstGeom prst="rect">
            <a:avLst/>
          </a:prstGeom>
          <a:noFill/>
        </p:spPr>
        <p:txBody>
          <a:bodyPr wrap="square" rtlCol="0">
            <a:spAutoFit/>
          </a:bodyPr>
          <a:lstStyle/>
          <a:p>
            <a:pPr algn="ctr" defTabSz="912807" fontAlgn="base" latinLnBrk="1">
              <a:spcBef>
                <a:spcPct val="0"/>
              </a:spcBef>
              <a:spcAft>
                <a:spcPct val="0"/>
              </a:spcAft>
              <a:defRPr/>
            </a:pPr>
            <a:r>
              <a:rPr lang="en-US" sz="1100" dirty="0">
                <a:latin typeface="Arial Narrow" panose="020B0606020202030204" pitchFamily="34" charset="0"/>
              </a:rPr>
              <a:t>Distortion of USB audio signal </a:t>
            </a:r>
          </a:p>
          <a:p>
            <a:pPr algn="ctr" defTabSz="912807" fontAlgn="base" latinLnBrk="1">
              <a:spcBef>
                <a:spcPct val="0"/>
              </a:spcBef>
              <a:spcAft>
                <a:spcPct val="0"/>
              </a:spcAft>
              <a:defRPr/>
            </a:pPr>
            <a:r>
              <a:rPr kumimoji="1" lang="en-US" altLang="ko-KR" sz="1100" kern="0" dirty="0">
                <a:latin typeface="Arial Narrow" panose="020B0606020202030204" pitchFamily="34" charset="0"/>
                <a:ea typeface="LG Smart_H Regular" pitchFamily="34" charset="-127"/>
              </a:rPr>
              <a:t>+ Spec : 0 ~ 1.2 </a:t>
            </a:r>
          </a:p>
          <a:p>
            <a:pPr algn="ctr" defTabSz="912807" fontAlgn="base" latinLnBrk="1">
              <a:spcBef>
                <a:spcPct val="0"/>
              </a:spcBef>
              <a:spcAft>
                <a:spcPct val="0"/>
              </a:spcAft>
              <a:defRPr/>
            </a:pPr>
            <a:r>
              <a:rPr kumimoji="1" lang="en-US" altLang="ko-KR" sz="1100" kern="0" dirty="0">
                <a:latin typeface="Arial Narrow" panose="020B0606020202030204" pitchFamily="34" charset="0"/>
                <a:ea typeface="LG Smart_H Regular" pitchFamily="34" charset="-127"/>
              </a:rPr>
              <a:t>+ Actual : 0.01 ~ 2.2</a:t>
            </a:r>
          </a:p>
        </p:txBody>
      </p:sp>
      <p:sp>
        <p:nvSpPr>
          <p:cNvPr id="12" name="제목 1"/>
          <p:cNvSpPr txBox="1">
            <a:spLocks/>
          </p:cNvSpPr>
          <p:nvPr/>
        </p:nvSpPr>
        <p:spPr>
          <a:xfrm>
            <a:off x="147794" y="3096146"/>
            <a:ext cx="1761688" cy="418058"/>
          </a:xfrm>
          <a:prstGeom prst="rect">
            <a:avLst/>
          </a:prstGeom>
        </p:spPr>
        <p:txBody>
          <a:bodyPr vert="horz" lIns="91440" tIns="45720" rIns="91440" bIns="45720" rtlCol="0" anchor="ctr">
            <a:normAutofit/>
          </a:bodyPr>
          <a:lstStyle/>
          <a:p>
            <a:pPr eaLnBrk="0" fontAlgn="base" latinLnBrk="1" hangingPunct="0">
              <a:spcBef>
                <a:spcPct val="0"/>
              </a:spcBef>
              <a:spcAft>
                <a:spcPct val="0"/>
              </a:spcAft>
              <a:defRPr/>
            </a:pPr>
            <a:r>
              <a:rPr kumimoji="1" lang="en-US" altLang="ko-KR" sz="1600" b="1" kern="0" dirty="0">
                <a:solidFill>
                  <a:srgbClr val="000000"/>
                </a:solidFill>
                <a:latin typeface="Arial Narrow" panose="020B0606020202030204" pitchFamily="34" charset="0"/>
                <a:ea typeface="LG스마트체 Regular" panose="020B0600000101010101" pitchFamily="50" charset="-127"/>
                <a:cs typeface="+mj-cs"/>
              </a:rPr>
              <a:t>1.2 Defect Rate</a:t>
            </a:r>
            <a:endParaRPr kumimoji="1" lang="ko-KR" altLang="en-US" sz="1600" b="1" kern="0" dirty="0">
              <a:solidFill>
                <a:srgbClr val="000000"/>
              </a:solidFill>
              <a:latin typeface="Arial Narrow" panose="020B0606020202030204" pitchFamily="34" charset="0"/>
              <a:ea typeface="LG스마트체 Regular" panose="020B0600000101010101" pitchFamily="50" charset="-127"/>
              <a:cs typeface="+mj-cs"/>
            </a:endParaRPr>
          </a:p>
        </p:txBody>
      </p:sp>
      <p:cxnSp>
        <p:nvCxnSpPr>
          <p:cNvPr id="22" name="Straight Connector 21"/>
          <p:cNvCxnSpPr/>
          <p:nvPr/>
        </p:nvCxnSpPr>
        <p:spPr>
          <a:xfrm>
            <a:off x="-12488" y="561513"/>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7" name="AutoShape 55">
            <a:extLst>
              <a:ext uri="{FF2B5EF4-FFF2-40B4-BE49-F238E27FC236}">
                <a16:creationId xmlns:a16="http://schemas.microsoft.com/office/drawing/2014/main" id="{3B9006F9-4BD2-46AE-80CB-9715BC799723}"/>
              </a:ext>
            </a:extLst>
          </p:cNvPr>
          <p:cNvSpPr>
            <a:spLocks noChangeArrowheads="1"/>
          </p:cNvSpPr>
          <p:nvPr/>
        </p:nvSpPr>
        <p:spPr bwMode="auto">
          <a:xfrm>
            <a:off x="9137654" y="22542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34" charset="-127"/>
              </a:defRPr>
            </a:lvl1pPr>
            <a:lvl2pPr marL="742950" indent="-285750" defTabSz="762000">
              <a:defRPr kumimoji="1" sz="1300" b="1">
                <a:solidFill>
                  <a:schemeClr val="bg1"/>
                </a:solidFill>
                <a:latin typeface="Arial" panose="020B0604020202020204" pitchFamily="34" charset="0"/>
                <a:ea typeface="돋움" panose="020B0600000101010101" pitchFamily="34" charset="-127"/>
              </a:defRPr>
            </a:lvl2pPr>
            <a:lvl3pPr marL="1143000" indent="-228600" defTabSz="762000">
              <a:defRPr kumimoji="1" sz="1300" b="1">
                <a:solidFill>
                  <a:schemeClr val="bg1"/>
                </a:solidFill>
                <a:latin typeface="Arial" panose="020B0604020202020204" pitchFamily="34" charset="0"/>
                <a:ea typeface="돋움" panose="020B0600000101010101" pitchFamily="34" charset="-127"/>
              </a:defRPr>
            </a:lvl3pPr>
            <a:lvl4pPr marL="1600200" indent="-228600" defTabSz="762000">
              <a:defRPr kumimoji="1" sz="1300" b="1">
                <a:solidFill>
                  <a:schemeClr val="bg1"/>
                </a:solidFill>
                <a:latin typeface="Arial" panose="020B0604020202020204" pitchFamily="34" charset="0"/>
                <a:ea typeface="돋움" panose="020B0600000101010101" pitchFamily="34" charset="-127"/>
              </a:defRPr>
            </a:lvl4pPr>
            <a:lvl5pPr marL="2057400" indent="-228600" defTabSz="762000">
              <a:defRPr kumimoji="1" sz="1300" b="1">
                <a:solidFill>
                  <a:schemeClr val="bg1"/>
                </a:solidFill>
                <a:latin typeface="Arial" panose="020B0604020202020204" pitchFamily="34" charset="0"/>
                <a:ea typeface="돋움" panose="020B0600000101010101" pitchFamily="34"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34"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34"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34"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34" charset="-127"/>
              </a:defRPr>
            </a:lvl9pPr>
          </a:lstStyle>
          <a:p>
            <a:pPr algn="ctr" eaLnBrk="1" hangingPunct="1"/>
            <a:r>
              <a:rPr lang="en-US" altLang="ko-KR" sz="1000" dirty="0">
                <a:solidFill>
                  <a:schemeClr val="tx1"/>
                </a:solidFill>
                <a:latin typeface="Arial Narrow" panose="020B0606020202030204" pitchFamily="34" charset="0"/>
                <a:ea typeface="LG Smart_H Regular" panose="020B0600000101010101" pitchFamily="34" charset="-127"/>
                <a:cs typeface="Arial" panose="020B0604020202020204" pitchFamily="34" charset="0"/>
              </a:rPr>
              <a:t>Control</a:t>
            </a:r>
          </a:p>
        </p:txBody>
      </p:sp>
      <p:sp>
        <p:nvSpPr>
          <p:cNvPr id="19" name="AutoShape 56">
            <a:extLst>
              <a:ext uri="{FF2B5EF4-FFF2-40B4-BE49-F238E27FC236}">
                <a16:creationId xmlns:a16="http://schemas.microsoft.com/office/drawing/2014/main" id="{FA073C2C-9ACB-4474-AB28-93F46305514F}"/>
              </a:ext>
            </a:extLst>
          </p:cNvPr>
          <p:cNvSpPr>
            <a:spLocks noChangeArrowheads="1"/>
          </p:cNvSpPr>
          <p:nvPr/>
        </p:nvSpPr>
        <p:spPr bwMode="auto">
          <a:xfrm>
            <a:off x="8448678" y="22542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34" charset="-127"/>
              </a:defRPr>
            </a:lvl1pPr>
            <a:lvl2pPr marL="742950" indent="-285750" defTabSz="762000">
              <a:defRPr kumimoji="1" sz="1300" b="1">
                <a:solidFill>
                  <a:schemeClr val="bg1"/>
                </a:solidFill>
                <a:latin typeface="Arial" panose="020B0604020202020204" pitchFamily="34" charset="0"/>
                <a:ea typeface="돋움" panose="020B0600000101010101" pitchFamily="34" charset="-127"/>
              </a:defRPr>
            </a:lvl2pPr>
            <a:lvl3pPr marL="1143000" indent="-228600" defTabSz="762000">
              <a:defRPr kumimoji="1" sz="1300" b="1">
                <a:solidFill>
                  <a:schemeClr val="bg1"/>
                </a:solidFill>
                <a:latin typeface="Arial" panose="020B0604020202020204" pitchFamily="34" charset="0"/>
                <a:ea typeface="돋움" panose="020B0600000101010101" pitchFamily="34" charset="-127"/>
              </a:defRPr>
            </a:lvl3pPr>
            <a:lvl4pPr marL="1600200" indent="-228600" defTabSz="762000">
              <a:defRPr kumimoji="1" sz="1300" b="1">
                <a:solidFill>
                  <a:schemeClr val="bg1"/>
                </a:solidFill>
                <a:latin typeface="Arial" panose="020B0604020202020204" pitchFamily="34" charset="0"/>
                <a:ea typeface="돋움" panose="020B0600000101010101" pitchFamily="34" charset="-127"/>
              </a:defRPr>
            </a:lvl4pPr>
            <a:lvl5pPr marL="2057400" indent="-228600" defTabSz="762000">
              <a:defRPr kumimoji="1" sz="1300" b="1">
                <a:solidFill>
                  <a:schemeClr val="bg1"/>
                </a:solidFill>
                <a:latin typeface="Arial" panose="020B0604020202020204" pitchFamily="34" charset="0"/>
                <a:ea typeface="돋움" panose="020B0600000101010101" pitchFamily="34"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34"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34"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34"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34" charset="-127"/>
              </a:defRPr>
            </a:lvl9pPr>
          </a:lstStyle>
          <a:p>
            <a:pPr algn="ctr" eaLnBrk="1" hangingPunct="1"/>
            <a:r>
              <a:rPr lang="en-US" altLang="ko-KR" sz="1000" dirty="0">
                <a:solidFill>
                  <a:schemeClr val="tx1"/>
                </a:solidFill>
                <a:latin typeface="Arial Narrow" panose="020B0606020202030204" pitchFamily="34" charset="0"/>
                <a:ea typeface="LG Smart_H Regular" panose="020B0600000101010101" pitchFamily="34" charset="-127"/>
                <a:cs typeface="Arial" panose="020B0604020202020204" pitchFamily="34" charset="0"/>
              </a:rPr>
              <a:t>Improve</a:t>
            </a:r>
          </a:p>
        </p:txBody>
      </p:sp>
      <p:sp>
        <p:nvSpPr>
          <p:cNvPr id="20" name="AutoShape 57">
            <a:extLst>
              <a:ext uri="{FF2B5EF4-FFF2-40B4-BE49-F238E27FC236}">
                <a16:creationId xmlns:a16="http://schemas.microsoft.com/office/drawing/2014/main" id="{847C363B-4924-48BE-8B9D-54A25EC5227E}"/>
              </a:ext>
            </a:extLst>
          </p:cNvPr>
          <p:cNvSpPr>
            <a:spLocks noChangeArrowheads="1"/>
          </p:cNvSpPr>
          <p:nvPr/>
        </p:nvSpPr>
        <p:spPr bwMode="auto">
          <a:xfrm>
            <a:off x="7756525" y="225425"/>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34" charset="-127"/>
              </a:defRPr>
            </a:lvl1pPr>
            <a:lvl2pPr marL="742950" indent="-285750" defTabSz="762000">
              <a:defRPr kumimoji="1" sz="1300" b="1">
                <a:solidFill>
                  <a:schemeClr val="bg1"/>
                </a:solidFill>
                <a:latin typeface="Arial" panose="020B0604020202020204" pitchFamily="34" charset="0"/>
                <a:ea typeface="돋움" panose="020B0600000101010101" pitchFamily="34" charset="-127"/>
              </a:defRPr>
            </a:lvl2pPr>
            <a:lvl3pPr marL="1143000" indent="-228600" defTabSz="762000">
              <a:defRPr kumimoji="1" sz="1300" b="1">
                <a:solidFill>
                  <a:schemeClr val="bg1"/>
                </a:solidFill>
                <a:latin typeface="Arial" panose="020B0604020202020204" pitchFamily="34" charset="0"/>
                <a:ea typeface="돋움" panose="020B0600000101010101" pitchFamily="34" charset="-127"/>
              </a:defRPr>
            </a:lvl3pPr>
            <a:lvl4pPr marL="1600200" indent="-228600" defTabSz="762000">
              <a:defRPr kumimoji="1" sz="1300" b="1">
                <a:solidFill>
                  <a:schemeClr val="bg1"/>
                </a:solidFill>
                <a:latin typeface="Arial" panose="020B0604020202020204" pitchFamily="34" charset="0"/>
                <a:ea typeface="돋움" panose="020B0600000101010101" pitchFamily="34" charset="-127"/>
              </a:defRPr>
            </a:lvl4pPr>
            <a:lvl5pPr marL="2057400" indent="-228600" defTabSz="762000">
              <a:defRPr kumimoji="1" sz="1300" b="1">
                <a:solidFill>
                  <a:schemeClr val="bg1"/>
                </a:solidFill>
                <a:latin typeface="Arial" panose="020B0604020202020204" pitchFamily="34" charset="0"/>
                <a:ea typeface="돋움" panose="020B0600000101010101" pitchFamily="34"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34"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34"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34"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34" charset="-127"/>
              </a:defRPr>
            </a:lvl9pPr>
          </a:lstStyle>
          <a:p>
            <a:pPr algn="ctr" eaLnBrk="1" hangingPunct="1"/>
            <a:r>
              <a:rPr lang="en-US" altLang="ko-KR" sz="1000" dirty="0">
                <a:solidFill>
                  <a:schemeClr val="tx1"/>
                </a:solidFill>
                <a:latin typeface="Arial Narrow" panose="020B0606020202030204" pitchFamily="34" charset="0"/>
                <a:ea typeface="LG Smart_H Regular" panose="020B0600000101010101" pitchFamily="34" charset="-127"/>
                <a:cs typeface="Arial" panose="020B0604020202020204" pitchFamily="34" charset="0"/>
              </a:rPr>
              <a:t>Analyze</a:t>
            </a:r>
          </a:p>
        </p:txBody>
      </p:sp>
      <p:sp>
        <p:nvSpPr>
          <p:cNvPr id="21" name="AutoShape 58">
            <a:extLst>
              <a:ext uri="{FF2B5EF4-FFF2-40B4-BE49-F238E27FC236}">
                <a16:creationId xmlns:a16="http://schemas.microsoft.com/office/drawing/2014/main" id="{7C0F0C27-7463-46F1-80D7-D4C3FC07350B}"/>
              </a:ext>
            </a:extLst>
          </p:cNvPr>
          <p:cNvSpPr>
            <a:spLocks noChangeArrowheads="1"/>
          </p:cNvSpPr>
          <p:nvPr/>
        </p:nvSpPr>
        <p:spPr bwMode="auto">
          <a:xfrm>
            <a:off x="7085014" y="225425"/>
            <a:ext cx="747712" cy="287338"/>
          </a:xfrm>
          <a:prstGeom prst="homePlate">
            <a:avLst>
              <a:gd name="adj" fmla="val 46599"/>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34" charset="-127"/>
              </a:defRPr>
            </a:lvl1pPr>
            <a:lvl2pPr marL="742950" indent="-285750" defTabSz="762000">
              <a:defRPr kumimoji="1" sz="1300" b="1">
                <a:solidFill>
                  <a:schemeClr val="bg1"/>
                </a:solidFill>
                <a:latin typeface="Arial" panose="020B0604020202020204" pitchFamily="34" charset="0"/>
                <a:ea typeface="돋움" panose="020B0600000101010101" pitchFamily="34" charset="-127"/>
              </a:defRPr>
            </a:lvl2pPr>
            <a:lvl3pPr marL="1143000" indent="-228600" defTabSz="762000">
              <a:defRPr kumimoji="1" sz="1300" b="1">
                <a:solidFill>
                  <a:schemeClr val="bg1"/>
                </a:solidFill>
                <a:latin typeface="Arial" panose="020B0604020202020204" pitchFamily="34" charset="0"/>
                <a:ea typeface="돋움" panose="020B0600000101010101" pitchFamily="34" charset="-127"/>
              </a:defRPr>
            </a:lvl3pPr>
            <a:lvl4pPr marL="1600200" indent="-228600" defTabSz="762000">
              <a:defRPr kumimoji="1" sz="1300" b="1">
                <a:solidFill>
                  <a:schemeClr val="bg1"/>
                </a:solidFill>
                <a:latin typeface="Arial" panose="020B0604020202020204" pitchFamily="34" charset="0"/>
                <a:ea typeface="돋움" panose="020B0600000101010101" pitchFamily="34" charset="-127"/>
              </a:defRPr>
            </a:lvl4pPr>
            <a:lvl5pPr marL="2057400" indent="-228600" defTabSz="762000">
              <a:defRPr kumimoji="1" sz="1300" b="1">
                <a:solidFill>
                  <a:schemeClr val="bg1"/>
                </a:solidFill>
                <a:latin typeface="Arial" panose="020B0604020202020204" pitchFamily="34" charset="0"/>
                <a:ea typeface="돋움" panose="020B0600000101010101" pitchFamily="34"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34"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34"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34"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34" charset="-127"/>
              </a:defRPr>
            </a:lvl9pPr>
          </a:lstStyle>
          <a:p>
            <a:pPr algn="ctr" eaLnBrk="1" hangingPunct="1"/>
            <a:r>
              <a:rPr lang="en-US" altLang="ko-KR" sz="1000" dirty="0">
                <a:solidFill>
                  <a:schemeClr val="tx1"/>
                </a:solidFill>
                <a:latin typeface="Arial Narrow" panose="020B0606020202030204" pitchFamily="34" charset="0"/>
                <a:ea typeface="LG Smart_H Regular" panose="020B0600000101010101" pitchFamily="34" charset="-127"/>
                <a:cs typeface="Arial" panose="020B0604020202020204" pitchFamily="34" charset="0"/>
              </a:rPr>
              <a:t>Measure</a:t>
            </a:r>
          </a:p>
        </p:txBody>
      </p:sp>
      <p:sp>
        <p:nvSpPr>
          <p:cNvPr id="23" name="AutoShape 59">
            <a:extLst>
              <a:ext uri="{FF2B5EF4-FFF2-40B4-BE49-F238E27FC236}">
                <a16:creationId xmlns:a16="http://schemas.microsoft.com/office/drawing/2014/main" id="{EA0F1255-4559-49F3-96E3-0E72206B8D4F}"/>
              </a:ext>
            </a:extLst>
          </p:cNvPr>
          <p:cNvSpPr>
            <a:spLocks noChangeArrowheads="1"/>
          </p:cNvSpPr>
          <p:nvPr/>
        </p:nvSpPr>
        <p:spPr bwMode="auto">
          <a:xfrm>
            <a:off x="6388101" y="80967"/>
            <a:ext cx="757238" cy="287337"/>
          </a:xfrm>
          <a:prstGeom prst="homePlate">
            <a:avLst>
              <a:gd name="adj" fmla="val 47193"/>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34" charset="-127"/>
              </a:defRPr>
            </a:lvl1pPr>
            <a:lvl2pPr marL="742950" indent="-285750" defTabSz="762000">
              <a:defRPr kumimoji="1" sz="1300" b="1">
                <a:solidFill>
                  <a:schemeClr val="bg1"/>
                </a:solidFill>
                <a:latin typeface="Arial" panose="020B0604020202020204" pitchFamily="34" charset="0"/>
                <a:ea typeface="돋움" panose="020B0600000101010101" pitchFamily="34" charset="-127"/>
              </a:defRPr>
            </a:lvl2pPr>
            <a:lvl3pPr marL="1143000" indent="-228600" defTabSz="762000">
              <a:defRPr kumimoji="1" sz="1300" b="1">
                <a:solidFill>
                  <a:schemeClr val="bg1"/>
                </a:solidFill>
                <a:latin typeface="Arial" panose="020B0604020202020204" pitchFamily="34" charset="0"/>
                <a:ea typeface="돋움" panose="020B0600000101010101" pitchFamily="34" charset="-127"/>
              </a:defRPr>
            </a:lvl3pPr>
            <a:lvl4pPr marL="1600200" indent="-228600" defTabSz="762000">
              <a:defRPr kumimoji="1" sz="1300" b="1">
                <a:solidFill>
                  <a:schemeClr val="bg1"/>
                </a:solidFill>
                <a:latin typeface="Arial" panose="020B0604020202020204" pitchFamily="34" charset="0"/>
                <a:ea typeface="돋움" panose="020B0600000101010101" pitchFamily="34" charset="-127"/>
              </a:defRPr>
            </a:lvl4pPr>
            <a:lvl5pPr marL="2057400" indent="-228600" defTabSz="762000">
              <a:defRPr kumimoji="1" sz="1300" b="1">
                <a:solidFill>
                  <a:schemeClr val="bg1"/>
                </a:solidFill>
                <a:latin typeface="Arial" panose="020B0604020202020204" pitchFamily="34" charset="0"/>
                <a:ea typeface="돋움" panose="020B0600000101010101" pitchFamily="34"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34"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34"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34"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34" charset="-127"/>
              </a:defRPr>
            </a:lvl9pPr>
          </a:lstStyle>
          <a:p>
            <a:pPr algn="ctr" eaLnBrk="1" hangingPunct="1"/>
            <a:r>
              <a:rPr lang="en-US" altLang="ko-KR" sz="1000">
                <a:latin typeface="Arial Narrow" panose="020B0606020202030204" pitchFamily="34" charset="0"/>
                <a:ea typeface="LG Smart_H Regular" panose="020B0600000101010101" pitchFamily="34" charset="-127"/>
                <a:cs typeface="Arial" panose="020B0604020202020204" pitchFamily="34" charset="0"/>
              </a:rPr>
              <a:t>Define</a:t>
            </a:r>
          </a:p>
        </p:txBody>
      </p:sp>
      <p:pic>
        <p:nvPicPr>
          <p:cNvPr id="8" name="Picture 7">
            <a:extLst>
              <a:ext uri="{FF2B5EF4-FFF2-40B4-BE49-F238E27FC236}">
                <a16:creationId xmlns:a16="http://schemas.microsoft.com/office/drawing/2014/main" id="{0591230D-9CC2-D388-9F9F-F22D2B513E96}"/>
              </a:ext>
            </a:extLst>
          </p:cNvPr>
          <p:cNvPicPr>
            <a:picLocks noChangeAspect="1"/>
          </p:cNvPicPr>
          <p:nvPr/>
        </p:nvPicPr>
        <p:blipFill>
          <a:blip r:embed="rId3"/>
          <a:srcRect t="1" b="41064"/>
          <a:stretch>
            <a:fillRect/>
          </a:stretch>
        </p:blipFill>
        <p:spPr>
          <a:xfrm>
            <a:off x="5629473" y="1264048"/>
            <a:ext cx="3031731" cy="2382372"/>
          </a:xfrm>
          <a:prstGeom prst="rect">
            <a:avLst/>
          </a:prstGeom>
        </p:spPr>
      </p:pic>
      <p:graphicFrame>
        <p:nvGraphicFramePr>
          <p:cNvPr id="5" name="Table 4">
            <a:extLst>
              <a:ext uri="{FF2B5EF4-FFF2-40B4-BE49-F238E27FC236}">
                <a16:creationId xmlns:a16="http://schemas.microsoft.com/office/drawing/2014/main" id="{8F637DB7-9848-885C-6FA6-04C3AF939907}"/>
              </a:ext>
            </a:extLst>
          </p:cNvPr>
          <p:cNvGraphicFramePr>
            <a:graphicFrameLocks noGrp="1"/>
          </p:cNvGraphicFramePr>
          <p:nvPr>
            <p:extLst>
              <p:ext uri="{D42A27DB-BD31-4B8C-83A1-F6EECF244321}">
                <p14:modId xmlns:p14="http://schemas.microsoft.com/office/powerpoint/2010/main" val="3771039286"/>
              </p:ext>
            </p:extLst>
          </p:nvPr>
        </p:nvGraphicFramePr>
        <p:xfrm>
          <a:off x="5276852" y="4715337"/>
          <a:ext cx="3810000" cy="1581150"/>
        </p:xfrm>
        <a:graphic>
          <a:graphicData uri="http://schemas.openxmlformats.org/drawingml/2006/table">
            <a:tbl>
              <a:tblPr/>
              <a:tblGrid>
                <a:gridCol w="2085473">
                  <a:extLst>
                    <a:ext uri="{9D8B030D-6E8A-4147-A177-3AD203B41FA5}">
                      <a16:colId xmlns:a16="http://schemas.microsoft.com/office/drawing/2014/main" val="20000"/>
                    </a:ext>
                  </a:extLst>
                </a:gridCol>
                <a:gridCol w="1002632">
                  <a:extLst>
                    <a:ext uri="{9D8B030D-6E8A-4147-A177-3AD203B41FA5}">
                      <a16:colId xmlns:a16="http://schemas.microsoft.com/office/drawing/2014/main" val="20001"/>
                    </a:ext>
                  </a:extLst>
                </a:gridCol>
                <a:gridCol w="721895">
                  <a:extLst>
                    <a:ext uri="{9D8B030D-6E8A-4147-A177-3AD203B41FA5}">
                      <a16:colId xmlns:a16="http://schemas.microsoft.com/office/drawing/2014/main" val="20002"/>
                    </a:ext>
                  </a:extLst>
                </a:gridCol>
              </a:tblGrid>
              <a:tr h="381000">
                <a:tc>
                  <a:txBody>
                    <a:bodyPr/>
                    <a:lstStyle/>
                    <a:p>
                      <a:pPr algn="ctr" rtl="0" fontAlgn="ctr"/>
                      <a:r>
                        <a:rPr lang="en-US" sz="1200" b="0" i="0" u="none" strike="noStrike" dirty="0">
                          <a:solidFill>
                            <a:srgbClr val="000000"/>
                          </a:solidFill>
                          <a:effectLst/>
                          <a:latin typeface="LG Smart_H Regular" panose="020B0600000101010101" pitchFamily="34" charset="-127"/>
                          <a:ea typeface="LG Smart_H Regular" panose="020B0600000101010101" pitchFamily="34" charset="-127"/>
                        </a:rPr>
                        <a:t>Defect symptom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1200" b="0" i="0" u="none" strike="noStrike" dirty="0">
                          <a:solidFill>
                            <a:srgbClr val="000000"/>
                          </a:solidFill>
                          <a:effectLst/>
                          <a:latin typeface="LG Smart_H Regular" panose="020B0600000101010101" pitchFamily="34" charset="-127"/>
                          <a:ea typeface="LG Smart_H Regular" panose="020B0600000101010101" pitchFamily="34" charset="-127"/>
                        </a:rPr>
                        <a:t>Qty (EA)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1200" b="0" i="0" u="none" strike="noStrike">
                          <a:solidFill>
                            <a:srgbClr val="000000"/>
                          </a:solidFill>
                          <a:effectLst/>
                          <a:latin typeface="LG Smart_H Regular" panose="020B0600000101010101" pitchFamily="34" charset="-127"/>
                          <a:ea typeface="LG Smart_H Regular" panose="020B0600000101010101" pitchFamily="34" charset="-127"/>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200025">
                <a:tc>
                  <a:txBody>
                    <a:bodyPr/>
                    <a:lstStyle/>
                    <a:p>
                      <a:pPr algn="ctr" rtl="0" fontAlgn="b"/>
                      <a:r>
                        <a:rPr lang="en-US" sz="1200" b="0" i="0" u="none" strike="noStrike" dirty="0">
                          <a:solidFill>
                            <a:srgbClr val="000000"/>
                          </a:solidFill>
                          <a:effectLst/>
                          <a:latin typeface="LG Smart_H Regular" panose="020B0600000101010101" pitchFamily="34" charset="-127"/>
                          <a:ea typeface="LG Smart_H Regular" panose="020B0600000101010101" pitchFamily="34" charset="-127"/>
                        </a:rPr>
                        <a:t>Audio distortion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200" b="0" i="0" u="none" strike="noStrike" dirty="0">
                          <a:solidFill>
                            <a:srgbClr val="000000"/>
                          </a:solidFill>
                          <a:effectLst/>
                          <a:latin typeface="LG Smart_H Regular" panose="020B0600000101010101" pitchFamily="34" charset="-127"/>
                          <a:ea typeface="LG Smart_H Regular" panose="020B0600000101010101" pitchFamily="34" charset="-127"/>
                        </a:rPr>
                        <a:t>17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200" b="0" i="0" u="none" strike="noStrike" dirty="0">
                          <a:solidFill>
                            <a:srgbClr val="000000"/>
                          </a:solidFill>
                          <a:effectLst/>
                          <a:latin typeface="LG Smart_H Regular" panose="020B0600000101010101" pitchFamily="34" charset="-127"/>
                          <a:ea typeface="LG Smart_H Regular" panose="020B0600000101010101" pitchFamily="34" charset="-127"/>
                        </a:rPr>
                        <a:t>77.3%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00025">
                <a:tc>
                  <a:txBody>
                    <a:bodyPr/>
                    <a:lstStyle/>
                    <a:p>
                      <a:pPr algn="ctr" rtl="0" fontAlgn="b"/>
                      <a:r>
                        <a:rPr lang="en-US" sz="1200" b="0" i="0" u="none" strike="noStrike" dirty="0" err="1">
                          <a:solidFill>
                            <a:srgbClr val="000000"/>
                          </a:solidFill>
                          <a:effectLst/>
                          <a:latin typeface="LG Smart_H Regular" panose="020B0600000101010101" pitchFamily="34" charset="-127"/>
                          <a:ea typeface="LG Smart_H Regular" panose="020B0600000101010101" pitchFamily="34" charset="-127"/>
                        </a:rPr>
                        <a:t>Wifi</a:t>
                      </a:r>
                      <a:r>
                        <a:rPr lang="en-US" sz="1200" b="0" i="0" u="none" strike="noStrike" dirty="0">
                          <a:solidFill>
                            <a:srgbClr val="000000"/>
                          </a:solidFill>
                          <a:effectLst/>
                          <a:latin typeface="LG Smart_H Regular" panose="020B0600000101010101" pitchFamily="34" charset="-127"/>
                          <a:ea typeface="LG Smart_H Regular" panose="020B0600000101010101" pitchFamily="34" charset="-127"/>
                        </a:rPr>
                        <a:t> 2.4 connect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200" b="0" i="0" u="none" strike="noStrike" dirty="0">
                          <a:solidFill>
                            <a:srgbClr val="000000"/>
                          </a:solidFill>
                          <a:effectLst/>
                          <a:latin typeface="LG Smart_H Regular" panose="020B0600000101010101" pitchFamily="34" charset="-127"/>
                          <a:ea typeface="LG Smart_H Regular" panose="020B0600000101010101" pitchFamily="34" charset="-127"/>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1"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LG Smart_H Regular" panose="020B0600000101010101" pitchFamily="34" charset="-127"/>
                          <a:ea typeface="LG Smart_H Regular" panose="020B0600000101010101" pitchFamily="34" charset="-127"/>
                        </a:rPr>
                        <a:t>9.1%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00025">
                <a:tc>
                  <a:txBody>
                    <a:bodyPr/>
                    <a:lstStyle/>
                    <a:p>
                      <a:pPr marL="0" marR="0" lvl="0" indent="0" algn="ctr" defTabSz="914400" rtl="0" eaLnBrk="1" fontAlgn="b" latinLnBrk="1"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LG Smart_H Regular" panose="020B0600000101010101" pitchFamily="34" charset="-127"/>
                          <a:ea typeface="LG Smart_H Regular" panose="020B0600000101010101" pitchFamily="34" charset="-127"/>
                        </a:rPr>
                        <a:t>FM RSSI under spec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200" b="0" i="0" u="none" strike="noStrike" dirty="0">
                          <a:solidFill>
                            <a:srgbClr val="000000"/>
                          </a:solidFill>
                          <a:effectLst/>
                          <a:latin typeface="LG Smart_H Regular" panose="020B0600000101010101" pitchFamily="34" charset="-127"/>
                          <a:ea typeface="LG Smart_H Regular" panose="020B0600000101010101" pitchFamily="34" charset="-127"/>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200" b="0" i="0" u="none" strike="noStrike" dirty="0">
                          <a:solidFill>
                            <a:srgbClr val="000000"/>
                          </a:solidFill>
                          <a:effectLst/>
                          <a:latin typeface="LG Smart_H Regular" panose="020B0600000101010101" pitchFamily="34" charset="-127"/>
                          <a:ea typeface="LG Smart_H Regular" panose="020B0600000101010101" pitchFamily="34" charset="-127"/>
                        </a:rPr>
                        <a:t>4.5%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00025">
                <a:tc>
                  <a:txBody>
                    <a:bodyPr/>
                    <a:lstStyle/>
                    <a:p>
                      <a:pPr algn="ctr" rtl="0" fontAlgn="b"/>
                      <a:r>
                        <a:rPr lang="en-US" sz="1200" b="0" i="0" u="none" strike="noStrike" dirty="0">
                          <a:solidFill>
                            <a:srgbClr val="000000"/>
                          </a:solidFill>
                          <a:effectLst/>
                          <a:latin typeface="LG Smart_H Regular" panose="020B0600000101010101" pitchFamily="34" charset="-127"/>
                          <a:ea typeface="LG Smart_H Regular" panose="020B0600000101010101" pitchFamily="34" charset="-127"/>
                        </a:rPr>
                        <a:t>AVMT level under spec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200" b="0" i="0" u="none" strike="noStrike" dirty="0">
                          <a:solidFill>
                            <a:srgbClr val="000000"/>
                          </a:solidFill>
                          <a:effectLst/>
                          <a:latin typeface="LG Smart_H Regular" panose="020B0600000101010101" pitchFamily="34" charset="-127"/>
                          <a:ea typeface="LG Smart_H Regular" panose="020B0600000101010101" pitchFamily="34" charset="-127"/>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200" b="0" i="0" u="none" strike="noStrike" dirty="0">
                          <a:solidFill>
                            <a:srgbClr val="000000"/>
                          </a:solidFill>
                          <a:effectLst/>
                          <a:latin typeface="LG Smart_H Regular" panose="020B0600000101010101" pitchFamily="34" charset="-127"/>
                          <a:ea typeface="LG Smart_H Regular" panose="020B0600000101010101" pitchFamily="34" charset="-127"/>
                        </a:rPr>
                        <a:t>4.5%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00025">
                <a:tc>
                  <a:txBody>
                    <a:bodyPr/>
                    <a:lstStyle/>
                    <a:p>
                      <a:pPr algn="ctr" rtl="0" fontAlgn="b"/>
                      <a:r>
                        <a:rPr lang="en-US" sz="1200" b="0" i="0" u="none" strike="noStrike" dirty="0">
                          <a:solidFill>
                            <a:srgbClr val="000000"/>
                          </a:solidFill>
                          <a:effectLst/>
                          <a:latin typeface="LG Smart_H Regular" panose="020B0600000101010101" pitchFamily="34" charset="-127"/>
                          <a:ea typeface="LG Smart_H Regular" panose="020B0600000101010101" pitchFamily="34" charset="-127"/>
                        </a:rPr>
                        <a:t>Google key check</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200" b="0" i="0" u="none" strike="noStrike" dirty="0">
                          <a:solidFill>
                            <a:srgbClr val="000000"/>
                          </a:solidFill>
                          <a:effectLst/>
                          <a:latin typeface="LG Smart_H Regular" panose="020B0600000101010101" pitchFamily="34" charset="-127"/>
                          <a:ea typeface="LG Smart_H Regular" panose="020B0600000101010101" pitchFamily="34" charset="-127"/>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200" b="0" i="0" u="none" strike="noStrike" dirty="0">
                          <a:solidFill>
                            <a:srgbClr val="000000"/>
                          </a:solidFill>
                          <a:effectLst/>
                          <a:latin typeface="LG Smart_H Regular" panose="020B0600000101010101" pitchFamily="34" charset="-127"/>
                          <a:ea typeface="LG Smart_H Regular" panose="020B0600000101010101" pitchFamily="34" charset="-127"/>
                        </a:rPr>
                        <a:t>4.5%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00025">
                <a:tc>
                  <a:txBody>
                    <a:bodyPr/>
                    <a:lstStyle/>
                    <a:p>
                      <a:pPr algn="ctr" rtl="0" fontAlgn="b"/>
                      <a:r>
                        <a:rPr lang="en-US" sz="1200" b="0" i="0" u="none" strike="noStrike">
                          <a:solidFill>
                            <a:srgbClr val="000000"/>
                          </a:solidFill>
                          <a:effectLst/>
                          <a:latin typeface="LG Smart_H Regular" panose="020B0600000101010101" pitchFamily="34" charset="-127"/>
                          <a:ea typeface="LG Smart_H Regular" panose="020B0600000101010101" pitchFamily="34" charset="-127"/>
                        </a:rPr>
                        <a:t>Total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200" b="0" i="0" u="none" strike="noStrike" dirty="0">
                          <a:solidFill>
                            <a:srgbClr val="000000"/>
                          </a:solidFill>
                          <a:effectLst/>
                          <a:latin typeface="LG Smart_H Regular" panose="020B0600000101010101" pitchFamily="34" charset="-127"/>
                          <a:ea typeface="LG Smart_H Regular" panose="020B0600000101010101" pitchFamily="34" charset="-127"/>
                        </a:rPr>
                        <a:t>22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n-US" sz="1200" b="0" i="0" u="none" strike="noStrike" dirty="0">
                          <a:solidFill>
                            <a:srgbClr val="000000"/>
                          </a:solidFill>
                          <a:effectLst/>
                          <a:latin typeface="LG Smart_H Regular" panose="020B0600000101010101" pitchFamily="34" charset="-127"/>
                          <a:ea typeface="LG Smart_H Regular" panose="020B0600000101010101" pitchFamily="34" charset="-127"/>
                        </a:rPr>
                        <a:t>100%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pic>
        <p:nvPicPr>
          <p:cNvPr id="10" name="Picture 9">
            <a:extLst>
              <a:ext uri="{FF2B5EF4-FFF2-40B4-BE49-F238E27FC236}">
                <a16:creationId xmlns:a16="http://schemas.microsoft.com/office/drawing/2014/main" id="{5AAD4E12-3B5A-EF8C-D261-66AEE7A28B66}"/>
              </a:ext>
            </a:extLst>
          </p:cNvPr>
          <p:cNvPicPr>
            <a:picLocks noChangeAspect="1"/>
          </p:cNvPicPr>
          <p:nvPr/>
        </p:nvPicPr>
        <p:blipFill>
          <a:blip r:embed="rId4"/>
          <a:stretch>
            <a:fillRect/>
          </a:stretch>
        </p:blipFill>
        <p:spPr>
          <a:xfrm>
            <a:off x="654050" y="3646420"/>
            <a:ext cx="3975100" cy="2650067"/>
          </a:xfrm>
          <a:prstGeom prst="rect">
            <a:avLst/>
          </a:prstGeom>
        </p:spPr>
      </p:pic>
    </p:spTree>
    <p:extLst>
      <p:ext uri="{BB962C8B-B14F-4D97-AF65-F5344CB8AC3E}">
        <p14:creationId xmlns:p14="http://schemas.microsoft.com/office/powerpoint/2010/main" val="23943212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제목 1">
            <a:extLst>
              <a:ext uri="{FF2B5EF4-FFF2-40B4-BE49-F238E27FC236}">
                <a16:creationId xmlns:a16="http://schemas.microsoft.com/office/drawing/2014/main" id="{3401966A-D779-4C03-A1E8-9645EB12B832}"/>
              </a:ext>
            </a:extLst>
          </p:cNvPr>
          <p:cNvSpPr txBox="1">
            <a:spLocks/>
          </p:cNvSpPr>
          <p:nvPr/>
        </p:nvSpPr>
        <p:spPr>
          <a:xfrm>
            <a:off x="56458" y="116632"/>
            <a:ext cx="3188549" cy="418058"/>
          </a:xfrm>
          <a:prstGeom prst="rect">
            <a:avLst/>
          </a:prstGeom>
        </p:spPr>
        <p:txBody>
          <a:bodyPr anchor="ctr">
            <a:normAutofit/>
          </a:bodyPr>
          <a:lstStyle>
            <a:lvl1pPr algn="l" rtl="0" eaLnBrk="0" fontAlgn="base" latinLnBrk="1" hangingPunct="0">
              <a:spcBef>
                <a:spcPct val="0"/>
              </a:spcBef>
              <a:spcAft>
                <a:spcPct val="0"/>
              </a:spcAft>
              <a:defRPr kumimoji="1" sz="2000" b="1">
                <a:solidFill>
                  <a:schemeClr val="tx1"/>
                </a:solidFill>
                <a:latin typeface="맑은 고딕" panose="020B0503020000020004" pitchFamily="50" charset="-127"/>
                <a:ea typeface="맑은 고딕" panose="020B0503020000020004" pitchFamily="50" charset="-127"/>
                <a:cs typeface="+mj-cs"/>
              </a:defRPr>
            </a:lvl1pPr>
            <a:lvl2pPr algn="l" rtl="0" eaLnBrk="0" fontAlgn="base" latinLnBrk="1" hangingPunct="0">
              <a:spcBef>
                <a:spcPct val="0"/>
              </a:spcBef>
              <a:spcAft>
                <a:spcPct val="0"/>
              </a:spcAft>
              <a:defRPr kumimoji="1" sz="2000" b="1">
                <a:solidFill>
                  <a:schemeClr val="tx1"/>
                </a:solidFill>
                <a:latin typeface="Arial" charset="0"/>
                <a:ea typeface="돋움" pitchFamily="50" charset="-127"/>
              </a:defRPr>
            </a:lvl2pPr>
            <a:lvl3pPr algn="l" rtl="0" eaLnBrk="0" fontAlgn="base" latinLnBrk="1" hangingPunct="0">
              <a:spcBef>
                <a:spcPct val="0"/>
              </a:spcBef>
              <a:spcAft>
                <a:spcPct val="0"/>
              </a:spcAft>
              <a:defRPr kumimoji="1" sz="2000" b="1">
                <a:solidFill>
                  <a:schemeClr val="tx1"/>
                </a:solidFill>
                <a:latin typeface="Arial" charset="0"/>
                <a:ea typeface="돋움" pitchFamily="50" charset="-127"/>
              </a:defRPr>
            </a:lvl3pPr>
            <a:lvl4pPr algn="l" rtl="0" eaLnBrk="0" fontAlgn="base" latinLnBrk="1" hangingPunct="0">
              <a:spcBef>
                <a:spcPct val="0"/>
              </a:spcBef>
              <a:spcAft>
                <a:spcPct val="0"/>
              </a:spcAft>
              <a:defRPr kumimoji="1" sz="2000" b="1">
                <a:solidFill>
                  <a:schemeClr val="tx1"/>
                </a:solidFill>
                <a:latin typeface="Arial" charset="0"/>
                <a:ea typeface="돋움" pitchFamily="50" charset="-127"/>
              </a:defRPr>
            </a:lvl4pPr>
            <a:lvl5pPr algn="l" rtl="0" eaLnBrk="0" fontAlgn="base" latinLnBrk="1" hangingPunct="0">
              <a:spcBef>
                <a:spcPct val="0"/>
              </a:spcBef>
              <a:spcAft>
                <a:spcPct val="0"/>
              </a:spcAft>
              <a:defRPr kumimoji="1" sz="2000" b="1">
                <a:solidFill>
                  <a:schemeClr val="tx1"/>
                </a:solidFill>
                <a:latin typeface="Arial" charset="0"/>
                <a:ea typeface="돋움" pitchFamily="50" charset="-127"/>
              </a:defRPr>
            </a:lvl5pPr>
            <a:lvl6pPr marL="457200" algn="l" rtl="0" fontAlgn="base" latinLnBrk="1">
              <a:spcBef>
                <a:spcPct val="0"/>
              </a:spcBef>
              <a:spcAft>
                <a:spcPct val="0"/>
              </a:spcAft>
              <a:defRPr kumimoji="1" sz="2000" b="1">
                <a:solidFill>
                  <a:schemeClr val="tx1"/>
                </a:solidFill>
                <a:latin typeface="Arial" charset="0"/>
                <a:ea typeface="돋움" pitchFamily="50" charset="-127"/>
              </a:defRPr>
            </a:lvl6pPr>
            <a:lvl7pPr marL="914400" algn="l" rtl="0" fontAlgn="base" latinLnBrk="1">
              <a:spcBef>
                <a:spcPct val="0"/>
              </a:spcBef>
              <a:spcAft>
                <a:spcPct val="0"/>
              </a:spcAft>
              <a:defRPr kumimoji="1" sz="2000" b="1">
                <a:solidFill>
                  <a:schemeClr val="tx1"/>
                </a:solidFill>
                <a:latin typeface="Arial" charset="0"/>
                <a:ea typeface="돋움" pitchFamily="50" charset="-127"/>
              </a:defRPr>
            </a:lvl7pPr>
            <a:lvl8pPr marL="1371600" algn="l" rtl="0" fontAlgn="base" latinLnBrk="1">
              <a:spcBef>
                <a:spcPct val="0"/>
              </a:spcBef>
              <a:spcAft>
                <a:spcPct val="0"/>
              </a:spcAft>
              <a:defRPr kumimoji="1" sz="2000" b="1">
                <a:solidFill>
                  <a:schemeClr val="tx1"/>
                </a:solidFill>
                <a:latin typeface="Arial" charset="0"/>
                <a:ea typeface="돋움" pitchFamily="50" charset="-127"/>
              </a:defRPr>
            </a:lvl8pPr>
            <a:lvl9pPr marL="1828800" algn="l" rtl="0" fontAlgn="base" latinLnBrk="1">
              <a:spcBef>
                <a:spcPct val="0"/>
              </a:spcBef>
              <a:spcAft>
                <a:spcPct val="0"/>
              </a:spcAft>
              <a:defRPr kumimoji="1" sz="2000" b="1">
                <a:solidFill>
                  <a:schemeClr val="tx1"/>
                </a:solidFill>
                <a:latin typeface="Arial" charset="0"/>
                <a:ea typeface="돋움" pitchFamily="50" charset="-127"/>
              </a:defRPr>
            </a:lvl9pPr>
          </a:lstStyle>
          <a:p>
            <a:r>
              <a:rPr lang="en-US" altLang="ko-KR" kern="0" dirty="0">
                <a:latin typeface="Arial Narrow" panose="020B0606020202030204" pitchFamily="34" charset="0"/>
                <a:ea typeface="LG스마트체 Regular" panose="020B0600000101010101" pitchFamily="50" charset="-127"/>
              </a:rPr>
              <a:t>2. </a:t>
            </a:r>
            <a:r>
              <a:rPr lang="en-US" altLang="ko-KR" kern="0" dirty="0" err="1">
                <a:latin typeface="Arial Narrow" panose="020B0606020202030204" pitchFamily="34" charset="0"/>
                <a:ea typeface="LG스마트체 Regular" panose="020B0600000101010101" pitchFamily="50" charset="-127"/>
              </a:rPr>
              <a:t>Yy</a:t>
            </a:r>
            <a:r>
              <a:rPr lang="en-US" altLang="ko-KR" kern="0" dirty="0">
                <a:latin typeface="Arial Narrow" panose="020B0606020202030204" pitchFamily="34" charset="0"/>
                <a:ea typeface="LG스마트체 Regular" panose="020B0600000101010101" pitchFamily="50" charset="-127"/>
              </a:rPr>
              <a:t> break down</a:t>
            </a:r>
          </a:p>
        </p:txBody>
      </p:sp>
      <p:cxnSp>
        <p:nvCxnSpPr>
          <p:cNvPr id="74" name="Straight Connector 73">
            <a:extLst>
              <a:ext uri="{FF2B5EF4-FFF2-40B4-BE49-F238E27FC236}">
                <a16:creationId xmlns:a16="http://schemas.microsoft.com/office/drawing/2014/main" id="{9273D72D-2909-4B35-A41F-76C25E13A78D}"/>
              </a:ext>
            </a:extLst>
          </p:cNvPr>
          <p:cNvCxnSpPr/>
          <p:nvPr/>
        </p:nvCxnSpPr>
        <p:spPr>
          <a:xfrm>
            <a:off x="-12488" y="561513"/>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94" name="AutoShape 55">
            <a:extLst>
              <a:ext uri="{FF2B5EF4-FFF2-40B4-BE49-F238E27FC236}">
                <a16:creationId xmlns:a16="http://schemas.microsoft.com/office/drawing/2014/main" id="{FFA51FAA-9751-47FD-8FF1-0721683AF75E}"/>
              </a:ext>
            </a:extLst>
          </p:cNvPr>
          <p:cNvSpPr>
            <a:spLocks noChangeArrowheads="1"/>
          </p:cNvSpPr>
          <p:nvPr/>
        </p:nvSpPr>
        <p:spPr bwMode="auto">
          <a:xfrm>
            <a:off x="9137654" y="22542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34" charset="-127"/>
              </a:defRPr>
            </a:lvl1pPr>
            <a:lvl2pPr marL="742950" indent="-285750" defTabSz="762000">
              <a:defRPr kumimoji="1" sz="1300" b="1">
                <a:solidFill>
                  <a:schemeClr val="bg1"/>
                </a:solidFill>
                <a:latin typeface="Arial" panose="020B0604020202020204" pitchFamily="34" charset="0"/>
                <a:ea typeface="돋움" panose="020B0600000101010101" pitchFamily="34" charset="-127"/>
              </a:defRPr>
            </a:lvl2pPr>
            <a:lvl3pPr marL="1143000" indent="-228600" defTabSz="762000">
              <a:defRPr kumimoji="1" sz="1300" b="1">
                <a:solidFill>
                  <a:schemeClr val="bg1"/>
                </a:solidFill>
                <a:latin typeface="Arial" panose="020B0604020202020204" pitchFamily="34" charset="0"/>
                <a:ea typeface="돋움" panose="020B0600000101010101" pitchFamily="34" charset="-127"/>
              </a:defRPr>
            </a:lvl3pPr>
            <a:lvl4pPr marL="1600200" indent="-228600" defTabSz="762000">
              <a:defRPr kumimoji="1" sz="1300" b="1">
                <a:solidFill>
                  <a:schemeClr val="bg1"/>
                </a:solidFill>
                <a:latin typeface="Arial" panose="020B0604020202020204" pitchFamily="34" charset="0"/>
                <a:ea typeface="돋움" panose="020B0600000101010101" pitchFamily="34" charset="-127"/>
              </a:defRPr>
            </a:lvl4pPr>
            <a:lvl5pPr marL="2057400" indent="-228600" defTabSz="762000">
              <a:defRPr kumimoji="1" sz="1300" b="1">
                <a:solidFill>
                  <a:schemeClr val="bg1"/>
                </a:solidFill>
                <a:latin typeface="Arial" panose="020B0604020202020204" pitchFamily="34" charset="0"/>
                <a:ea typeface="돋움" panose="020B0600000101010101" pitchFamily="34"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34"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34"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34"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34" charset="-127"/>
              </a:defRPr>
            </a:lvl9pPr>
          </a:lstStyle>
          <a:p>
            <a:pPr algn="ctr" eaLnBrk="1" hangingPunct="1"/>
            <a:r>
              <a:rPr lang="en-US" altLang="ko-KR" sz="1000">
                <a:solidFill>
                  <a:schemeClr val="tx1"/>
                </a:solidFill>
                <a:latin typeface="Arial Narrow" panose="020B0606020202030204" pitchFamily="34" charset="0"/>
                <a:ea typeface="LG Smart_H Regular" panose="020B0600000101010101" pitchFamily="34" charset="-127"/>
                <a:cs typeface="Arial" panose="020B0604020202020204" pitchFamily="34" charset="0"/>
              </a:rPr>
              <a:t>Control</a:t>
            </a:r>
          </a:p>
        </p:txBody>
      </p:sp>
      <p:sp>
        <p:nvSpPr>
          <p:cNvPr id="95" name="AutoShape 56">
            <a:extLst>
              <a:ext uri="{FF2B5EF4-FFF2-40B4-BE49-F238E27FC236}">
                <a16:creationId xmlns:a16="http://schemas.microsoft.com/office/drawing/2014/main" id="{3D06085D-CE68-4C59-B1A5-6A5E7040F5C3}"/>
              </a:ext>
            </a:extLst>
          </p:cNvPr>
          <p:cNvSpPr>
            <a:spLocks noChangeArrowheads="1"/>
          </p:cNvSpPr>
          <p:nvPr/>
        </p:nvSpPr>
        <p:spPr bwMode="auto">
          <a:xfrm>
            <a:off x="8448678" y="22542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34" charset="-127"/>
              </a:defRPr>
            </a:lvl1pPr>
            <a:lvl2pPr marL="742950" indent="-285750" defTabSz="762000">
              <a:defRPr kumimoji="1" sz="1300" b="1">
                <a:solidFill>
                  <a:schemeClr val="bg1"/>
                </a:solidFill>
                <a:latin typeface="Arial" panose="020B0604020202020204" pitchFamily="34" charset="0"/>
                <a:ea typeface="돋움" panose="020B0600000101010101" pitchFamily="34" charset="-127"/>
              </a:defRPr>
            </a:lvl2pPr>
            <a:lvl3pPr marL="1143000" indent="-228600" defTabSz="762000">
              <a:defRPr kumimoji="1" sz="1300" b="1">
                <a:solidFill>
                  <a:schemeClr val="bg1"/>
                </a:solidFill>
                <a:latin typeface="Arial" panose="020B0604020202020204" pitchFamily="34" charset="0"/>
                <a:ea typeface="돋움" panose="020B0600000101010101" pitchFamily="34" charset="-127"/>
              </a:defRPr>
            </a:lvl3pPr>
            <a:lvl4pPr marL="1600200" indent="-228600" defTabSz="762000">
              <a:defRPr kumimoji="1" sz="1300" b="1">
                <a:solidFill>
                  <a:schemeClr val="bg1"/>
                </a:solidFill>
                <a:latin typeface="Arial" panose="020B0604020202020204" pitchFamily="34" charset="0"/>
                <a:ea typeface="돋움" panose="020B0600000101010101" pitchFamily="34" charset="-127"/>
              </a:defRPr>
            </a:lvl4pPr>
            <a:lvl5pPr marL="2057400" indent="-228600" defTabSz="762000">
              <a:defRPr kumimoji="1" sz="1300" b="1">
                <a:solidFill>
                  <a:schemeClr val="bg1"/>
                </a:solidFill>
                <a:latin typeface="Arial" panose="020B0604020202020204" pitchFamily="34" charset="0"/>
                <a:ea typeface="돋움" panose="020B0600000101010101" pitchFamily="34"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34"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34"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34"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34" charset="-127"/>
              </a:defRPr>
            </a:lvl9pPr>
          </a:lstStyle>
          <a:p>
            <a:pPr algn="ctr" eaLnBrk="1" hangingPunct="1"/>
            <a:r>
              <a:rPr lang="en-US" altLang="ko-KR" sz="1000">
                <a:solidFill>
                  <a:schemeClr val="tx1"/>
                </a:solidFill>
                <a:latin typeface="Arial Narrow" panose="020B0606020202030204" pitchFamily="34" charset="0"/>
                <a:ea typeface="LG Smart_H Regular" panose="020B0600000101010101" pitchFamily="34" charset="-127"/>
                <a:cs typeface="Arial" panose="020B0604020202020204" pitchFamily="34" charset="0"/>
              </a:rPr>
              <a:t>Improve</a:t>
            </a:r>
          </a:p>
        </p:txBody>
      </p:sp>
      <p:sp>
        <p:nvSpPr>
          <p:cNvPr id="96" name="AutoShape 57">
            <a:extLst>
              <a:ext uri="{FF2B5EF4-FFF2-40B4-BE49-F238E27FC236}">
                <a16:creationId xmlns:a16="http://schemas.microsoft.com/office/drawing/2014/main" id="{F1A9EA6B-6F47-4C76-B662-A6159CFC8C50}"/>
              </a:ext>
            </a:extLst>
          </p:cNvPr>
          <p:cNvSpPr>
            <a:spLocks noChangeArrowheads="1"/>
          </p:cNvSpPr>
          <p:nvPr/>
        </p:nvSpPr>
        <p:spPr bwMode="auto">
          <a:xfrm>
            <a:off x="7756525" y="225425"/>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34" charset="-127"/>
              </a:defRPr>
            </a:lvl1pPr>
            <a:lvl2pPr marL="742950" indent="-285750" defTabSz="762000">
              <a:defRPr kumimoji="1" sz="1300" b="1">
                <a:solidFill>
                  <a:schemeClr val="bg1"/>
                </a:solidFill>
                <a:latin typeface="Arial" panose="020B0604020202020204" pitchFamily="34" charset="0"/>
                <a:ea typeface="돋움" panose="020B0600000101010101" pitchFamily="34" charset="-127"/>
              </a:defRPr>
            </a:lvl2pPr>
            <a:lvl3pPr marL="1143000" indent="-228600" defTabSz="762000">
              <a:defRPr kumimoji="1" sz="1300" b="1">
                <a:solidFill>
                  <a:schemeClr val="bg1"/>
                </a:solidFill>
                <a:latin typeface="Arial" panose="020B0604020202020204" pitchFamily="34" charset="0"/>
                <a:ea typeface="돋움" panose="020B0600000101010101" pitchFamily="34" charset="-127"/>
              </a:defRPr>
            </a:lvl3pPr>
            <a:lvl4pPr marL="1600200" indent="-228600" defTabSz="762000">
              <a:defRPr kumimoji="1" sz="1300" b="1">
                <a:solidFill>
                  <a:schemeClr val="bg1"/>
                </a:solidFill>
                <a:latin typeface="Arial" panose="020B0604020202020204" pitchFamily="34" charset="0"/>
                <a:ea typeface="돋움" panose="020B0600000101010101" pitchFamily="34" charset="-127"/>
              </a:defRPr>
            </a:lvl4pPr>
            <a:lvl5pPr marL="2057400" indent="-228600" defTabSz="762000">
              <a:defRPr kumimoji="1" sz="1300" b="1">
                <a:solidFill>
                  <a:schemeClr val="bg1"/>
                </a:solidFill>
                <a:latin typeface="Arial" panose="020B0604020202020204" pitchFamily="34" charset="0"/>
                <a:ea typeface="돋움" panose="020B0600000101010101" pitchFamily="34"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34"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34"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34"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34" charset="-127"/>
              </a:defRPr>
            </a:lvl9pPr>
          </a:lstStyle>
          <a:p>
            <a:pPr algn="ctr" eaLnBrk="1" hangingPunct="1"/>
            <a:r>
              <a:rPr lang="en-US" altLang="ko-KR" sz="1000">
                <a:solidFill>
                  <a:schemeClr val="tx1"/>
                </a:solidFill>
                <a:latin typeface="Arial Narrow" panose="020B0606020202030204" pitchFamily="34" charset="0"/>
                <a:ea typeface="LG Smart_H Regular" panose="020B0600000101010101" pitchFamily="34" charset="-127"/>
                <a:cs typeface="Arial" panose="020B0604020202020204" pitchFamily="34" charset="0"/>
              </a:rPr>
              <a:t>Analyze</a:t>
            </a:r>
          </a:p>
        </p:txBody>
      </p:sp>
      <p:sp>
        <p:nvSpPr>
          <p:cNvPr id="97" name="AutoShape 58">
            <a:extLst>
              <a:ext uri="{FF2B5EF4-FFF2-40B4-BE49-F238E27FC236}">
                <a16:creationId xmlns:a16="http://schemas.microsoft.com/office/drawing/2014/main" id="{E42109E3-B075-4548-873E-C1EE1C2298EE}"/>
              </a:ext>
            </a:extLst>
          </p:cNvPr>
          <p:cNvSpPr>
            <a:spLocks noChangeArrowheads="1"/>
          </p:cNvSpPr>
          <p:nvPr/>
        </p:nvSpPr>
        <p:spPr bwMode="auto">
          <a:xfrm>
            <a:off x="7085014" y="225425"/>
            <a:ext cx="747712" cy="287338"/>
          </a:xfrm>
          <a:prstGeom prst="homePlate">
            <a:avLst>
              <a:gd name="adj" fmla="val 46599"/>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34" charset="-127"/>
              </a:defRPr>
            </a:lvl1pPr>
            <a:lvl2pPr marL="742950" indent="-285750" defTabSz="762000">
              <a:defRPr kumimoji="1" sz="1300" b="1">
                <a:solidFill>
                  <a:schemeClr val="bg1"/>
                </a:solidFill>
                <a:latin typeface="Arial" panose="020B0604020202020204" pitchFamily="34" charset="0"/>
                <a:ea typeface="돋움" panose="020B0600000101010101" pitchFamily="34" charset="-127"/>
              </a:defRPr>
            </a:lvl2pPr>
            <a:lvl3pPr marL="1143000" indent="-228600" defTabSz="762000">
              <a:defRPr kumimoji="1" sz="1300" b="1">
                <a:solidFill>
                  <a:schemeClr val="bg1"/>
                </a:solidFill>
                <a:latin typeface="Arial" panose="020B0604020202020204" pitchFamily="34" charset="0"/>
                <a:ea typeface="돋움" panose="020B0600000101010101" pitchFamily="34" charset="-127"/>
              </a:defRPr>
            </a:lvl3pPr>
            <a:lvl4pPr marL="1600200" indent="-228600" defTabSz="762000">
              <a:defRPr kumimoji="1" sz="1300" b="1">
                <a:solidFill>
                  <a:schemeClr val="bg1"/>
                </a:solidFill>
                <a:latin typeface="Arial" panose="020B0604020202020204" pitchFamily="34" charset="0"/>
                <a:ea typeface="돋움" panose="020B0600000101010101" pitchFamily="34" charset="-127"/>
              </a:defRPr>
            </a:lvl4pPr>
            <a:lvl5pPr marL="2057400" indent="-228600" defTabSz="762000">
              <a:defRPr kumimoji="1" sz="1300" b="1">
                <a:solidFill>
                  <a:schemeClr val="bg1"/>
                </a:solidFill>
                <a:latin typeface="Arial" panose="020B0604020202020204" pitchFamily="34" charset="0"/>
                <a:ea typeface="돋움" panose="020B0600000101010101" pitchFamily="34"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34"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34"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34"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34" charset="-127"/>
              </a:defRPr>
            </a:lvl9pPr>
          </a:lstStyle>
          <a:p>
            <a:pPr algn="ctr" eaLnBrk="1" hangingPunct="1"/>
            <a:r>
              <a:rPr lang="en-US" altLang="ko-KR" sz="1000" dirty="0">
                <a:solidFill>
                  <a:schemeClr val="tx1"/>
                </a:solidFill>
                <a:latin typeface="Arial Narrow" panose="020B0606020202030204" pitchFamily="34" charset="0"/>
                <a:ea typeface="LG Smart_H Regular" panose="020B0600000101010101" pitchFamily="34" charset="-127"/>
                <a:cs typeface="Arial" panose="020B0604020202020204" pitchFamily="34" charset="0"/>
              </a:rPr>
              <a:t>Measure</a:t>
            </a:r>
          </a:p>
        </p:txBody>
      </p:sp>
      <p:sp>
        <p:nvSpPr>
          <p:cNvPr id="98" name="AutoShape 59">
            <a:extLst>
              <a:ext uri="{FF2B5EF4-FFF2-40B4-BE49-F238E27FC236}">
                <a16:creationId xmlns:a16="http://schemas.microsoft.com/office/drawing/2014/main" id="{191C6DD6-8343-4E55-A836-A599EDA35C53}"/>
              </a:ext>
            </a:extLst>
          </p:cNvPr>
          <p:cNvSpPr>
            <a:spLocks noChangeArrowheads="1"/>
          </p:cNvSpPr>
          <p:nvPr/>
        </p:nvSpPr>
        <p:spPr bwMode="auto">
          <a:xfrm>
            <a:off x="6388101" y="80967"/>
            <a:ext cx="757238" cy="287337"/>
          </a:xfrm>
          <a:prstGeom prst="homePlate">
            <a:avLst>
              <a:gd name="adj" fmla="val 47193"/>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34" charset="-127"/>
              </a:defRPr>
            </a:lvl1pPr>
            <a:lvl2pPr marL="742950" indent="-285750" defTabSz="762000">
              <a:defRPr kumimoji="1" sz="1300" b="1">
                <a:solidFill>
                  <a:schemeClr val="bg1"/>
                </a:solidFill>
                <a:latin typeface="Arial" panose="020B0604020202020204" pitchFamily="34" charset="0"/>
                <a:ea typeface="돋움" panose="020B0600000101010101" pitchFamily="34" charset="-127"/>
              </a:defRPr>
            </a:lvl2pPr>
            <a:lvl3pPr marL="1143000" indent="-228600" defTabSz="762000">
              <a:defRPr kumimoji="1" sz="1300" b="1">
                <a:solidFill>
                  <a:schemeClr val="bg1"/>
                </a:solidFill>
                <a:latin typeface="Arial" panose="020B0604020202020204" pitchFamily="34" charset="0"/>
                <a:ea typeface="돋움" panose="020B0600000101010101" pitchFamily="34" charset="-127"/>
              </a:defRPr>
            </a:lvl3pPr>
            <a:lvl4pPr marL="1600200" indent="-228600" defTabSz="762000">
              <a:defRPr kumimoji="1" sz="1300" b="1">
                <a:solidFill>
                  <a:schemeClr val="bg1"/>
                </a:solidFill>
                <a:latin typeface="Arial" panose="020B0604020202020204" pitchFamily="34" charset="0"/>
                <a:ea typeface="돋움" panose="020B0600000101010101" pitchFamily="34" charset="-127"/>
              </a:defRPr>
            </a:lvl4pPr>
            <a:lvl5pPr marL="2057400" indent="-228600" defTabSz="762000">
              <a:defRPr kumimoji="1" sz="1300" b="1">
                <a:solidFill>
                  <a:schemeClr val="bg1"/>
                </a:solidFill>
                <a:latin typeface="Arial" panose="020B0604020202020204" pitchFamily="34" charset="0"/>
                <a:ea typeface="돋움" panose="020B0600000101010101" pitchFamily="34"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34"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34"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34"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34" charset="-127"/>
              </a:defRPr>
            </a:lvl9pPr>
          </a:lstStyle>
          <a:p>
            <a:pPr algn="ctr" eaLnBrk="1" hangingPunct="1"/>
            <a:r>
              <a:rPr lang="en-US" altLang="ko-KR" sz="1000">
                <a:latin typeface="Arial Narrow" panose="020B0606020202030204" pitchFamily="34" charset="0"/>
                <a:ea typeface="LG Smart_H Regular" panose="020B0600000101010101" pitchFamily="34" charset="-127"/>
                <a:cs typeface="Arial" panose="020B0604020202020204" pitchFamily="34" charset="0"/>
              </a:rPr>
              <a:t>Define</a:t>
            </a:r>
          </a:p>
        </p:txBody>
      </p:sp>
      <p:graphicFrame>
        <p:nvGraphicFramePr>
          <p:cNvPr id="65" name="표 44">
            <a:extLst>
              <a:ext uri="{FF2B5EF4-FFF2-40B4-BE49-F238E27FC236}">
                <a16:creationId xmlns:a16="http://schemas.microsoft.com/office/drawing/2014/main" id="{F703B3ED-8354-4DB1-A2A8-03FC875CE568}"/>
              </a:ext>
            </a:extLst>
          </p:cNvPr>
          <p:cNvGraphicFramePr>
            <a:graphicFrameLocks noGrp="1"/>
          </p:cNvGraphicFramePr>
          <p:nvPr>
            <p:extLst>
              <p:ext uri="{D42A27DB-BD31-4B8C-83A1-F6EECF244321}">
                <p14:modId xmlns:p14="http://schemas.microsoft.com/office/powerpoint/2010/main" val="877624988"/>
              </p:ext>
            </p:extLst>
          </p:nvPr>
        </p:nvGraphicFramePr>
        <p:xfrm>
          <a:off x="282635" y="1143239"/>
          <a:ext cx="888407" cy="276631"/>
        </p:xfrm>
        <a:graphic>
          <a:graphicData uri="http://schemas.openxmlformats.org/drawingml/2006/table">
            <a:tbl>
              <a:tblPr/>
              <a:tblGrid>
                <a:gridCol w="888407">
                  <a:extLst>
                    <a:ext uri="{9D8B030D-6E8A-4147-A177-3AD203B41FA5}">
                      <a16:colId xmlns:a16="http://schemas.microsoft.com/office/drawing/2014/main" val="20000"/>
                    </a:ext>
                  </a:extLst>
                </a:gridCol>
              </a:tblGrid>
              <a:tr h="276631">
                <a:tc>
                  <a:txBody>
                    <a:bodyPr/>
                    <a:lstStyle/>
                    <a:p>
                      <a:pPr algn="ctr">
                        <a:defRPr/>
                      </a:pPr>
                      <a:r>
                        <a:rPr lang="en-US" altLang="ko-KR" sz="1000" b="1" dirty="0">
                          <a:latin typeface="Arial Narrow" panose="020B0606020202030204" pitchFamily="34" charset="0"/>
                          <a:ea typeface="LG스마트체 Regular" panose="020B0600000101010101" pitchFamily="50" charset="-127"/>
                        </a:rPr>
                        <a:t>Big Y</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graphicFrame>
        <p:nvGraphicFramePr>
          <p:cNvPr id="67" name="표 45">
            <a:extLst>
              <a:ext uri="{FF2B5EF4-FFF2-40B4-BE49-F238E27FC236}">
                <a16:creationId xmlns:a16="http://schemas.microsoft.com/office/drawing/2014/main" id="{B4EC7869-785C-4283-842B-2D9521827846}"/>
              </a:ext>
            </a:extLst>
          </p:cNvPr>
          <p:cNvGraphicFramePr>
            <a:graphicFrameLocks noGrp="1"/>
          </p:cNvGraphicFramePr>
          <p:nvPr>
            <p:extLst>
              <p:ext uri="{D42A27DB-BD31-4B8C-83A1-F6EECF244321}">
                <p14:modId xmlns:p14="http://schemas.microsoft.com/office/powerpoint/2010/main" val="1804380745"/>
              </p:ext>
            </p:extLst>
          </p:nvPr>
        </p:nvGraphicFramePr>
        <p:xfrm>
          <a:off x="3655551" y="1155550"/>
          <a:ext cx="1189966" cy="276631"/>
        </p:xfrm>
        <a:graphic>
          <a:graphicData uri="http://schemas.openxmlformats.org/drawingml/2006/table">
            <a:tbl>
              <a:tblPr/>
              <a:tblGrid>
                <a:gridCol w="1189966">
                  <a:extLst>
                    <a:ext uri="{9D8B030D-6E8A-4147-A177-3AD203B41FA5}">
                      <a16:colId xmlns:a16="http://schemas.microsoft.com/office/drawing/2014/main" val="20000"/>
                    </a:ext>
                  </a:extLst>
                </a:gridCol>
              </a:tblGrid>
              <a:tr h="276631">
                <a:tc>
                  <a:txBody>
                    <a:bodyPr/>
                    <a:lstStyle/>
                    <a:p>
                      <a:pPr algn="ctr">
                        <a:defRPr/>
                      </a:pPr>
                      <a:r>
                        <a:rPr lang="en-US" altLang="ko-KR" sz="1000" b="1">
                          <a:latin typeface="Arial Narrow" panose="020B0606020202030204" pitchFamily="34" charset="0"/>
                          <a:ea typeface="LG스마트체 Regular" panose="020B0600000101010101" pitchFamily="50" charset="-127"/>
                        </a:rPr>
                        <a:t>Little </a:t>
                      </a:r>
                      <a:r>
                        <a:rPr lang="en-US" altLang="ko-KR" sz="1000" b="1" dirty="0">
                          <a:latin typeface="Arial Narrow" panose="020B0606020202030204" pitchFamily="34" charset="0"/>
                          <a:ea typeface="LG스마트체 Regular" panose="020B0600000101010101" pitchFamily="50" charset="-127"/>
                        </a:rPr>
                        <a:t>y2</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sp>
        <p:nvSpPr>
          <p:cNvPr id="70" name="직사각형 124">
            <a:extLst>
              <a:ext uri="{FF2B5EF4-FFF2-40B4-BE49-F238E27FC236}">
                <a16:creationId xmlns:a16="http://schemas.microsoft.com/office/drawing/2014/main" id="{02BEBAD7-D35F-40AA-A57F-5E6584D602E9}"/>
              </a:ext>
            </a:extLst>
          </p:cNvPr>
          <p:cNvSpPr/>
          <p:nvPr/>
        </p:nvSpPr>
        <p:spPr>
          <a:xfrm>
            <a:off x="5464356" y="1700124"/>
            <a:ext cx="1427220" cy="395913"/>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fontAlgn="auto">
              <a:spcBef>
                <a:spcPts val="0"/>
              </a:spcBef>
              <a:spcAft>
                <a:spcPts val="0"/>
              </a:spcAft>
              <a:defRPr/>
            </a:pPr>
            <a:r>
              <a:rPr lang="en-US" sz="1100" dirty="0">
                <a:solidFill>
                  <a:prstClr val="black"/>
                </a:solidFill>
                <a:latin typeface="Arial Narrow" panose="020B0606020202030204" pitchFamily="34" charset="0"/>
                <a:ea typeface="LG Smart_H Regular" panose="020B0600000101010101" pitchFamily="34" charset="-127"/>
                <a:cs typeface="Arial" pitchFamily="34" charset="0"/>
              </a:rPr>
              <a:t>Audio distortion issue</a:t>
            </a:r>
          </a:p>
        </p:txBody>
      </p:sp>
      <p:cxnSp>
        <p:nvCxnSpPr>
          <p:cNvPr id="76" name="Straight Arrow Connector 75">
            <a:extLst>
              <a:ext uri="{FF2B5EF4-FFF2-40B4-BE49-F238E27FC236}">
                <a16:creationId xmlns:a16="http://schemas.microsoft.com/office/drawing/2014/main" id="{D244168E-0552-40E0-A76D-E8BC67F304AC}"/>
              </a:ext>
            </a:extLst>
          </p:cNvPr>
          <p:cNvCxnSpPr>
            <a:cxnSpLocks/>
            <a:stCxn id="77" idx="3"/>
            <a:endCxn id="70" idx="1"/>
          </p:cNvCxnSpPr>
          <p:nvPr/>
        </p:nvCxnSpPr>
        <p:spPr>
          <a:xfrm>
            <a:off x="4845204" y="1893915"/>
            <a:ext cx="619152" cy="4167"/>
          </a:xfrm>
          <a:prstGeom prst="straightConnector1">
            <a:avLst/>
          </a:prstGeom>
          <a:noFill/>
          <a:ln w="9525" cap="flat" cmpd="sng" algn="ctr">
            <a:solidFill>
              <a:srgbClr val="C00000"/>
            </a:solidFill>
            <a:prstDash val="solid"/>
            <a:round/>
            <a:headEnd type="none" w="med" len="med"/>
            <a:tailEnd type="triangle"/>
          </a:ln>
          <a:effectLst/>
        </p:spPr>
      </p:cxnSp>
      <p:sp>
        <p:nvSpPr>
          <p:cNvPr id="77" name="직사각형 124">
            <a:extLst>
              <a:ext uri="{FF2B5EF4-FFF2-40B4-BE49-F238E27FC236}">
                <a16:creationId xmlns:a16="http://schemas.microsoft.com/office/drawing/2014/main" id="{B94BB3C9-3B6C-4147-A89E-E2835D151172}"/>
              </a:ext>
            </a:extLst>
          </p:cNvPr>
          <p:cNvSpPr/>
          <p:nvPr/>
        </p:nvSpPr>
        <p:spPr>
          <a:xfrm>
            <a:off x="3661730" y="1672683"/>
            <a:ext cx="1183477" cy="442463"/>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r>
              <a:rPr lang="en-US" sz="1100" dirty="0">
                <a:solidFill>
                  <a:schemeClr val="tx1"/>
                </a:solidFill>
                <a:latin typeface="Arial Narrow" panose="020B0606020202030204" pitchFamily="34" charset="0"/>
                <a:ea typeface="Arial Unicode MS" panose="020B0604020202020204" pitchFamily="34" charset="-128"/>
                <a:cs typeface="Arial" panose="020B0604020202020204" pitchFamily="34" charset="0"/>
              </a:rPr>
              <a:t>Media 2 issue</a:t>
            </a:r>
          </a:p>
        </p:txBody>
      </p:sp>
      <p:graphicFrame>
        <p:nvGraphicFramePr>
          <p:cNvPr id="79" name="표 45">
            <a:extLst>
              <a:ext uri="{FF2B5EF4-FFF2-40B4-BE49-F238E27FC236}">
                <a16:creationId xmlns:a16="http://schemas.microsoft.com/office/drawing/2014/main" id="{3C0B56B4-03F6-46CA-B901-F0DF309AB606}"/>
              </a:ext>
            </a:extLst>
          </p:cNvPr>
          <p:cNvGraphicFramePr>
            <a:graphicFrameLocks noGrp="1"/>
          </p:cNvGraphicFramePr>
          <p:nvPr>
            <p:extLst>
              <p:ext uri="{D42A27DB-BD31-4B8C-83A1-F6EECF244321}">
                <p14:modId xmlns:p14="http://schemas.microsoft.com/office/powerpoint/2010/main" val="1029512578"/>
              </p:ext>
            </p:extLst>
          </p:nvPr>
        </p:nvGraphicFramePr>
        <p:xfrm>
          <a:off x="1656399" y="1155550"/>
          <a:ext cx="1233603" cy="276631"/>
        </p:xfrm>
        <a:graphic>
          <a:graphicData uri="http://schemas.openxmlformats.org/drawingml/2006/table">
            <a:tbl>
              <a:tblPr/>
              <a:tblGrid>
                <a:gridCol w="1233603">
                  <a:extLst>
                    <a:ext uri="{9D8B030D-6E8A-4147-A177-3AD203B41FA5}">
                      <a16:colId xmlns:a16="http://schemas.microsoft.com/office/drawing/2014/main" val="20000"/>
                    </a:ext>
                  </a:extLst>
                </a:gridCol>
              </a:tblGrid>
              <a:tr h="276631">
                <a:tc>
                  <a:txBody>
                    <a:bodyPr/>
                    <a:lstStyle/>
                    <a:p>
                      <a:pPr algn="ctr">
                        <a:defRPr/>
                      </a:pPr>
                      <a:r>
                        <a:rPr lang="en-US" altLang="ko-KR" sz="1000" b="1" dirty="0">
                          <a:latin typeface="Arial Narrow" panose="020B0606020202030204" pitchFamily="34" charset="0"/>
                          <a:ea typeface="LG스마트체 Regular" panose="020B0600000101010101" pitchFamily="34" charset="-127"/>
                        </a:rPr>
                        <a:t>Little y1</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sp>
        <p:nvSpPr>
          <p:cNvPr id="80" name="직사각형 124">
            <a:extLst>
              <a:ext uri="{FF2B5EF4-FFF2-40B4-BE49-F238E27FC236}">
                <a16:creationId xmlns:a16="http://schemas.microsoft.com/office/drawing/2014/main" id="{8B44BC2E-C64E-43DF-93FE-F5139BBCE0A0}"/>
              </a:ext>
            </a:extLst>
          </p:cNvPr>
          <p:cNvSpPr/>
          <p:nvPr/>
        </p:nvSpPr>
        <p:spPr>
          <a:xfrm>
            <a:off x="1673742" y="1668771"/>
            <a:ext cx="1216259" cy="417772"/>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r>
              <a:rPr lang="en-US" sz="1100" dirty="0" err="1">
                <a:solidFill>
                  <a:srgbClr val="000000"/>
                </a:solidFill>
                <a:latin typeface="Arial Narrow" panose="020B0606020202030204" pitchFamily="34" charset="0"/>
                <a:ea typeface="LG Smart_H Regular" panose="020B0600000101010101"/>
                <a:cs typeface="Arial" panose="020B0604020202020204" pitchFamily="34" charset="0"/>
              </a:rPr>
              <a:t>Sorfware</a:t>
            </a:r>
            <a:r>
              <a:rPr lang="en-US" sz="1100" dirty="0">
                <a:solidFill>
                  <a:srgbClr val="000000"/>
                </a:solidFill>
                <a:latin typeface="Arial Narrow" panose="020B0606020202030204" pitchFamily="34" charset="0"/>
                <a:ea typeface="LG Smart_H Regular" panose="020B0600000101010101"/>
                <a:cs typeface="Arial" panose="020B0604020202020204" pitchFamily="34" charset="0"/>
              </a:rPr>
              <a:t> defect</a:t>
            </a:r>
          </a:p>
        </p:txBody>
      </p:sp>
      <p:sp>
        <p:nvSpPr>
          <p:cNvPr id="81" name="직사각형 124">
            <a:extLst>
              <a:ext uri="{FF2B5EF4-FFF2-40B4-BE49-F238E27FC236}">
                <a16:creationId xmlns:a16="http://schemas.microsoft.com/office/drawing/2014/main" id="{AFCA8E5B-5411-4176-AB53-6F9EDF5CFA1F}"/>
              </a:ext>
            </a:extLst>
          </p:cNvPr>
          <p:cNvSpPr/>
          <p:nvPr/>
        </p:nvSpPr>
        <p:spPr>
          <a:xfrm>
            <a:off x="22234" y="1687104"/>
            <a:ext cx="1257197" cy="395913"/>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fontAlgn="auto">
              <a:spcBef>
                <a:spcPts val="0"/>
              </a:spcBef>
              <a:spcAft>
                <a:spcPts val="0"/>
              </a:spcAft>
              <a:defRPr/>
            </a:pPr>
            <a:r>
              <a:rPr lang="en-US" sz="1100" b="1" dirty="0">
                <a:solidFill>
                  <a:prstClr val="black"/>
                </a:solidFill>
                <a:latin typeface="LG Smart_H Regular" panose="020B0600000101010101" pitchFamily="34" charset="-127"/>
                <a:ea typeface="LG Smart_H Regular" panose="020B0600000101010101" pitchFamily="34" charset="-127"/>
                <a:cs typeface="Arial" pitchFamily="34" charset="0"/>
              </a:rPr>
              <a:t>Reduce AIVI2</a:t>
            </a:r>
          </a:p>
          <a:p>
            <a:pPr algn="ctr" fontAlgn="auto">
              <a:spcBef>
                <a:spcPts val="0"/>
              </a:spcBef>
              <a:spcAft>
                <a:spcPts val="0"/>
              </a:spcAft>
              <a:defRPr/>
            </a:pPr>
            <a:r>
              <a:rPr lang="en-US" sz="1100" b="1" dirty="0">
                <a:solidFill>
                  <a:prstClr val="black"/>
                </a:solidFill>
                <a:latin typeface="LG Smart_H Regular" panose="020B0600000101010101" pitchFamily="34" charset="-127"/>
                <a:ea typeface="LG Smart_H Regular" panose="020B0600000101010101" pitchFamily="34" charset="-127"/>
                <a:cs typeface="Arial" pitchFamily="34" charset="0"/>
              </a:rPr>
              <a:t>defect rate</a:t>
            </a:r>
          </a:p>
        </p:txBody>
      </p:sp>
      <p:sp>
        <p:nvSpPr>
          <p:cNvPr id="82" name="직사각형 124">
            <a:extLst>
              <a:ext uri="{FF2B5EF4-FFF2-40B4-BE49-F238E27FC236}">
                <a16:creationId xmlns:a16="http://schemas.microsoft.com/office/drawing/2014/main" id="{7E807429-5955-496C-B210-C553A7057FE8}"/>
              </a:ext>
            </a:extLst>
          </p:cNvPr>
          <p:cNvSpPr/>
          <p:nvPr/>
        </p:nvSpPr>
        <p:spPr>
          <a:xfrm>
            <a:off x="1709380" y="3097630"/>
            <a:ext cx="1216259" cy="379771"/>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r>
              <a:rPr lang="en-US" sz="1100" dirty="0">
                <a:solidFill>
                  <a:srgbClr val="000000"/>
                </a:solidFill>
                <a:latin typeface="Arial Narrow" panose="020B0606020202030204" pitchFamily="34" charset="0"/>
                <a:ea typeface="LG Smart_H Regular" panose="020B0600000101010101"/>
                <a:cs typeface="Arial" panose="020B0604020202020204" pitchFamily="34" charset="0"/>
              </a:rPr>
              <a:t>Hardware defect</a:t>
            </a:r>
            <a:endParaRPr lang="vi-VN" sz="11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91" name="직사각형 124">
            <a:extLst>
              <a:ext uri="{FF2B5EF4-FFF2-40B4-BE49-F238E27FC236}">
                <a16:creationId xmlns:a16="http://schemas.microsoft.com/office/drawing/2014/main" id="{C3411FC2-2D54-4A85-970F-3F25DA698347}"/>
              </a:ext>
            </a:extLst>
          </p:cNvPr>
          <p:cNvSpPr/>
          <p:nvPr/>
        </p:nvSpPr>
        <p:spPr>
          <a:xfrm>
            <a:off x="7344829" y="1699876"/>
            <a:ext cx="1586819" cy="395913"/>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r>
              <a:rPr lang="en-US" sz="1100" dirty="0">
                <a:solidFill>
                  <a:srgbClr val="000000"/>
                </a:solidFill>
                <a:latin typeface="Arial Narrow" panose="020B0606020202030204" pitchFamily="34" charset="0"/>
                <a:ea typeface="LG Smart_H Regular" panose="020B0600000101010101"/>
                <a:cs typeface="Arial" panose="020B0604020202020204" pitchFamily="34" charset="0"/>
              </a:rPr>
              <a:t>6 Sigma assignment</a:t>
            </a:r>
          </a:p>
        </p:txBody>
      </p:sp>
      <p:graphicFrame>
        <p:nvGraphicFramePr>
          <p:cNvPr id="100" name="표 46">
            <a:extLst>
              <a:ext uri="{FF2B5EF4-FFF2-40B4-BE49-F238E27FC236}">
                <a16:creationId xmlns:a16="http://schemas.microsoft.com/office/drawing/2014/main" id="{4607D203-767A-4E4F-B7FF-04471B611385}"/>
              </a:ext>
            </a:extLst>
          </p:cNvPr>
          <p:cNvGraphicFramePr>
            <a:graphicFrameLocks noGrp="1"/>
          </p:cNvGraphicFramePr>
          <p:nvPr>
            <p:extLst>
              <p:ext uri="{D42A27DB-BD31-4B8C-83A1-F6EECF244321}">
                <p14:modId xmlns:p14="http://schemas.microsoft.com/office/powerpoint/2010/main" val="672609163"/>
              </p:ext>
            </p:extLst>
          </p:nvPr>
        </p:nvGraphicFramePr>
        <p:xfrm>
          <a:off x="7344829" y="1160681"/>
          <a:ext cx="1586819" cy="282190"/>
        </p:xfrm>
        <a:graphic>
          <a:graphicData uri="http://schemas.openxmlformats.org/drawingml/2006/table">
            <a:tbl>
              <a:tblPr/>
              <a:tblGrid>
                <a:gridCol w="1586819">
                  <a:extLst>
                    <a:ext uri="{9D8B030D-6E8A-4147-A177-3AD203B41FA5}">
                      <a16:colId xmlns:a16="http://schemas.microsoft.com/office/drawing/2014/main" val="20000"/>
                    </a:ext>
                  </a:extLst>
                </a:gridCol>
              </a:tblGrid>
              <a:tr h="282190">
                <a:tc>
                  <a:txBody>
                    <a:bodyPr/>
                    <a:lstStyle/>
                    <a:p>
                      <a:pPr marL="0" algn="ctr" defTabSz="914400" rtl="0" eaLnBrk="1" latinLnBrk="1" hangingPunct="1">
                        <a:defRPr/>
                      </a:pPr>
                      <a:r>
                        <a:rPr lang="en-US" altLang="ko-KR" sz="1000" b="1" kern="1200" dirty="0">
                          <a:solidFill>
                            <a:schemeClr val="tx1"/>
                          </a:solidFill>
                          <a:latin typeface="Arial Narrow" panose="020B0606020202030204" pitchFamily="34" charset="0"/>
                          <a:ea typeface="LG스마트체 Regular" panose="020B0600000101010101" pitchFamily="50" charset="-127"/>
                          <a:cs typeface="+mn-cs"/>
                        </a:rPr>
                        <a:t>Activity</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graphicFrame>
        <p:nvGraphicFramePr>
          <p:cNvPr id="101" name="표 45">
            <a:extLst>
              <a:ext uri="{FF2B5EF4-FFF2-40B4-BE49-F238E27FC236}">
                <a16:creationId xmlns:a16="http://schemas.microsoft.com/office/drawing/2014/main" id="{02E49CA9-8515-4D0D-8568-AC1D2562BBD2}"/>
              </a:ext>
            </a:extLst>
          </p:cNvPr>
          <p:cNvGraphicFramePr>
            <a:graphicFrameLocks noGrp="1"/>
          </p:cNvGraphicFramePr>
          <p:nvPr>
            <p:extLst>
              <p:ext uri="{D42A27DB-BD31-4B8C-83A1-F6EECF244321}">
                <p14:modId xmlns:p14="http://schemas.microsoft.com/office/powerpoint/2010/main" val="3699809660"/>
              </p:ext>
            </p:extLst>
          </p:nvPr>
        </p:nvGraphicFramePr>
        <p:xfrm>
          <a:off x="5464356" y="1166243"/>
          <a:ext cx="1427220" cy="276631"/>
        </p:xfrm>
        <a:graphic>
          <a:graphicData uri="http://schemas.openxmlformats.org/drawingml/2006/table">
            <a:tbl>
              <a:tblPr/>
              <a:tblGrid>
                <a:gridCol w="1427220">
                  <a:extLst>
                    <a:ext uri="{9D8B030D-6E8A-4147-A177-3AD203B41FA5}">
                      <a16:colId xmlns:a16="http://schemas.microsoft.com/office/drawing/2014/main" val="20000"/>
                    </a:ext>
                  </a:extLst>
                </a:gridCol>
              </a:tblGrid>
              <a:tr h="276631">
                <a:tc>
                  <a:txBody>
                    <a:bodyPr/>
                    <a:lstStyle/>
                    <a:p>
                      <a:pPr algn="ctr">
                        <a:defRPr/>
                      </a:pPr>
                      <a:r>
                        <a:rPr lang="en-US" altLang="ko-KR" sz="1000" b="1" dirty="0">
                          <a:latin typeface="Arial Narrow" panose="020B0606020202030204" pitchFamily="34" charset="0"/>
                          <a:ea typeface="LG스마트체 Regular" panose="020B0600000101010101" pitchFamily="50" charset="-127"/>
                        </a:rPr>
                        <a:t>Little y3</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cxnSp>
        <p:nvCxnSpPr>
          <p:cNvPr id="108" name="Straight Arrow Connector 107">
            <a:extLst>
              <a:ext uri="{FF2B5EF4-FFF2-40B4-BE49-F238E27FC236}">
                <a16:creationId xmlns:a16="http://schemas.microsoft.com/office/drawing/2014/main" id="{0B7113F3-66FD-46B3-A3C8-E28C6E190061}"/>
              </a:ext>
            </a:extLst>
          </p:cNvPr>
          <p:cNvCxnSpPr>
            <a:cxnSpLocks/>
            <a:stCxn id="70" idx="3"/>
            <a:endCxn id="91" idx="1"/>
          </p:cNvCxnSpPr>
          <p:nvPr/>
        </p:nvCxnSpPr>
        <p:spPr>
          <a:xfrm flipV="1">
            <a:off x="6891580" y="1897833"/>
            <a:ext cx="453249" cy="249"/>
          </a:xfrm>
          <a:prstGeom prst="straightConnector1">
            <a:avLst/>
          </a:prstGeom>
          <a:noFill/>
          <a:ln w="9525" cap="flat" cmpd="sng" algn="ctr">
            <a:solidFill>
              <a:srgbClr val="C00000"/>
            </a:solidFill>
            <a:prstDash val="solid"/>
            <a:round/>
            <a:headEnd type="none" w="med" len="med"/>
            <a:tailEnd type="triangle"/>
          </a:ln>
          <a:effectLst/>
        </p:spPr>
      </p:cxnSp>
      <p:sp>
        <p:nvSpPr>
          <p:cNvPr id="116" name="직사각형 124">
            <a:extLst>
              <a:ext uri="{FF2B5EF4-FFF2-40B4-BE49-F238E27FC236}">
                <a16:creationId xmlns:a16="http://schemas.microsoft.com/office/drawing/2014/main" id="{25E4EC17-C180-40FF-A621-DD818F4D71E7}"/>
              </a:ext>
            </a:extLst>
          </p:cNvPr>
          <p:cNvSpPr/>
          <p:nvPr/>
        </p:nvSpPr>
        <p:spPr>
          <a:xfrm>
            <a:off x="9134230" y="1703719"/>
            <a:ext cx="717728" cy="395913"/>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r>
              <a:rPr lang="en-US" sz="1100" dirty="0">
                <a:solidFill>
                  <a:srgbClr val="000000"/>
                </a:solidFill>
                <a:latin typeface="Arial Narrow" panose="020B0606020202030204" pitchFamily="34" charset="0"/>
                <a:ea typeface="LG Smart_H Regular" panose="020B0600000101010101"/>
                <a:cs typeface="Arial" panose="020B0604020202020204" pitchFamily="34" charset="0"/>
              </a:rPr>
              <a:t>LD IE</a:t>
            </a:r>
          </a:p>
        </p:txBody>
      </p:sp>
      <p:graphicFrame>
        <p:nvGraphicFramePr>
          <p:cNvPr id="118" name="표 46">
            <a:extLst>
              <a:ext uri="{FF2B5EF4-FFF2-40B4-BE49-F238E27FC236}">
                <a16:creationId xmlns:a16="http://schemas.microsoft.com/office/drawing/2014/main" id="{BA031682-7B75-4C01-A525-EE8E538B42B7}"/>
              </a:ext>
            </a:extLst>
          </p:cNvPr>
          <p:cNvGraphicFramePr>
            <a:graphicFrameLocks noGrp="1"/>
          </p:cNvGraphicFramePr>
          <p:nvPr>
            <p:extLst>
              <p:ext uri="{D42A27DB-BD31-4B8C-83A1-F6EECF244321}">
                <p14:modId xmlns:p14="http://schemas.microsoft.com/office/powerpoint/2010/main" val="3413396571"/>
              </p:ext>
            </p:extLst>
          </p:nvPr>
        </p:nvGraphicFramePr>
        <p:xfrm>
          <a:off x="9134824" y="1175004"/>
          <a:ext cx="717137" cy="282190"/>
        </p:xfrm>
        <a:graphic>
          <a:graphicData uri="http://schemas.openxmlformats.org/drawingml/2006/table">
            <a:tbl>
              <a:tblPr/>
              <a:tblGrid>
                <a:gridCol w="717137">
                  <a:extLst>
                    <a:ext uri="{9D8B030D-6E8A-4147-A177-3AD203B41FA5}">
                      <a16:colId xmlns:a16="http://schemas.microsoft.com/office/drawing/2014/main" val="20000"/>
                    </a:ext>
                  </a:extLst>
                </a:gridCol>
              </a:tblGrid>
              <a:tr h="282190">
                <a:tc>
                  <a:txBody>
                    <a:bodyPr/>
                    <a:lstStyle/>
                    <a:p>
                      <a:pPr marL="0" algn="ctr" defTabSz="914400" rtl="0" eaLnBrk="1" latinLnBrk="1" hangingPunct="1">
                        <a:defRPr/>
                      </a:pPr>
                      <a:r>
                        <a:rPr lang="en-US" altLang="ko-KR" sz="1000" b="1" kern="1200" dirty="0">
                          <a:solidFill>
                            <a:schemeClr val="tx1"/>
                          </a:solidFill>
                          <a:latin typeface="Arial Narrow" panose="020B0606020202030204" pitchFamily="34" charset="0"/>
                          <a:ea typeface="LG스마트체 Regular" panose="020B0600000101010101" pitchFamily="50" charset="-127"/>
                          <a:cs typeface="+mn-cs"/>
                        </a:rPr>
                        <a:t>PIC</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cxnSp>
        <p:nvCxnSpPr>
          <p:cNvPr id="138" name="Straight Arrow Connector 137">
            <a:extLst>
              <a:ext uri="{FF2B5EF4-FFF2-40B4-BE49-F238E27FC236}">
                <a16:creationId xmlns:a16="http://schemas.microsoft.com/office/drawing/2014/main" id="{ED38EDB2-B6BA-4EC7-930D-2379544100F0}"/>
              </a:ext>
            </a:extLst>
          </p:cNvPr>
          <p:cNvCxnSpPr>
            <a:cxnSpLocks/>
            <a:stCxn id="91" idx="3"/>
            <a:endCxn id="116" idx="1"/>
          </p:cNvCxnSpPr>
          <p:nvPr/>
        </p:nvCxnSpPr>
        <p:spPr bwMode="auto">
          <a:xfrm>
            <a:off x="8931644" y="1897833"/>
            <a:ext cx="202586" cy="3843"/>
          </a:xfrm>
          <a:prstGeom prst="straightConnector1">
            <a:avLst/>
          </a:prstGeom>
          <a:noFill/>
          <a:ln w="9525" cap="flat" cmpd="sng" algn="ctr">
            <a:solidFill>
              <a:srgbClr val="C00000"/>
            </a:solidFill>
            <a:prstDash val="solid"/>
            <a:round/>
            <a:headEnd type="none" w="med" len="med"/>
            <a:tailEnd type="triangle"/>
          </a:ln>
          <a:effectLst/>
        </p:spPr>
      </p:cxnSp>
      <p:sp>
        <p:nvSpPr>
          <p:cNvPr id="142" name="직사각형 124">
            <a:extLst>
              <a:ext uri="{FF2B5EF4-FFF2-40B4-BE49-F238E27FC236}">
                <a16:creationId xmlns:a16="http://schemas.microsoft.com/office/drawing/2014/main" id="{0305FEA7-8DDD-400A-8701-871743A9536F}"/>
              </a:ext>
            </a:extLst>
          </p:cNvPr>
          <p:cNvSpPr/>
          <p:nvPr/>
        </p:nvSpPr>
        <p:spPr>
          <a:xfrm>
            <a:off x="3661727" y="3097630"/>
            <a:ext cx="1183477" cy="372079"/>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r>
              <a:rPr lang="en-US" sz="1100">
                <a:solidFill>
                  <a:schemeClr val="tx1"/>
                </a:solidFill>
                <a:latin typeface="Arial Narrow" panose="020B0606020202030204" pitchFamily="34" charset="0"/>
                <a:ea typeface="Arial Unicode MS" panose="020B0604020202020204" pitchFamily="34" charset="-128"/>
                <a:cs typeface="Arial" panose="020B0604020202020204" pitchFamily="34" charset="0"/>
              </a:rPr>
              <a:t>Vision inspection  </a:t>
            </a:r>
            <a:endParaRPr lang="en-US" sz="1100" dirty="0">
              <a:solidFill>
                <a:schemeClr val="tx1"/>
              </a:solidFill>
              <a:latin typeface="Arial Narrow" panose="020B0606020202030204" pitchFamily="34" charset="0"/>
              <a:ea typeface="Arial Unicode MS" panose="020B0604020202020204" pitchFamily="34" charset="-128"/>
              <a:cs typeface="Arial" panose="020B0604020202020204" pitchFamily="34" charset="0"/>
            </a:endParaRPr>
          </a:p>
        </p:txBody>
      </p:sp>
      <p:sp>
        <p:nvSpPr>
          <p:cNvPr id="143" name="직사각형 124">
            <a:extLst>
              <a:ext uri="{FF2B5EF4-FFF2-40B4-BE49-F238E27FC236}">
                <a16:creationId xmlns:a16="http://schemas.microsoft.com/office/drawing/2014/main" id="{62426F6B-E698-4FE5-9C3E-746C1F23A6DD}"/>
              </a:ext>
            </a:extLst>
          </p:cNvPr>
          <p:cNvSpPr/>
          <p:nvPr/>
        </p:nvSpPr>
        <p:spPr>
          <a:xfrm>
            <a:off x="5474309" y="3099221"/>
            <a:ext cx="1427220" cy="377460"/>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r>
              <a:rPr lang="en-US" sz="1100">
                <a:solidFill>
                  <a:srgbClr val="000000"/>
                </a:solidFill>
                <a:latin typeface="Arial Narrow" panose="020B0606020202030204" pitchFamily="34" charset="0"/>
                <a:ea typeface="LG Smart_H Regular" panose="020B0600000101010101"/>
                <a:cs typeface="Arial" panose="020B0604020202020204" pitchFamily="34" charset="0"/>
              </a:rPr>
              <a:t>OK/NG</a:t>
            </a:r>
            <a:endParaRPr lang="en-US" sz="1100" dirty="0">
              <a:solidFill>
                <a:srgbClr val="000000"/>
              </a:solidFill>
              <a:latin typeface="Arial Narrow" panose="020B0606020202030204" pitchFamily="34" charset="0"/>
              <a:ea typeface="LG Smart_H Regular" panose="020B0600000101010101"/>
              <a:cs typeface="Arial" panose="020B0604020202020204" pitchFamily="34" charset="0"/>
            </a:endParaRPr>
          </a:p>
        </p:txBody>
      </p:sp>
      <p:cxnSp>
        <p:nvCxnSpPr>
          <p:cNvPr id="144" name="Straight Arrow Connector 143">
            <a:extLst>
              <a:ext uri="{FF2B5EF4-FFF2-40B4-BE49-F238E27FC236}">
                <a16:creationId xmlns:a16="http://schemas.microsoft.com/office/drawing/2014/main" id="{BE4B9EBF-958E-44EE-A7F4-D9C0F83C48C6}"/>
              </a:ext>
            </a:extLst>
          </p:cNvPr>
          <p:cNvCxnSpPr>
            <a:cxnSpLocks/>
            <a:stCxn id="82" idx="3"/>
            <a:endCxn id="142" idx="1"/>
          </p:cNvCxnSpPr>
          <p:nvPr/>
        </p:nvCxnSpPr>
        <p:spPr bwMode="auto">
          <a:xfrm flipV="1">
            <a:off x="2925639" y="3283670"/>
            <a:ext cx="736088" cy="3846"/>
          </a:xfrm>
          <a:prstGeom prst="straightConnector1">
            <a:avLst/>
          </a:prstGeom>
          <a:noFill/>
          <a:ln w="9525" cap="flat" cmpd="sng" algn="ctr">
            <a:solidFill>
              <a:schemeClr val="bg1">
                <a:lumMod val="50000"/>
              </a:schemeClr>
            </a:solidFill>
            <a:prstDash val="solid"/>
            <a:round/>
            <a:headEnd type="none" w="med" len="med"/>
            <a:tailEnd type="triangle"/>
          </a:ln>
          <a:effectLst/>
        </p:spPr>
      </p:cxnSp>
      <p:cxnSp>
        <p:nvCxnSpPr>
          <p:cNvPr id="145" name="Straight Arrow Connector 144">
            <a:extLst>
              <a:ext uri="{FF2B5EF4-FFF2-40B4-BE49-F238E27FC236}">
                <a16:creationId xmlns:a16="http://schemas.microsoft.com/office/drawing/2014/main" id="{5A3B422C-605D-4169-B2D8-A5C253EC9EB2}"/>
              </a:ext>
            </a:extLst>
          </p:cNvPr>
          <p:cNvCxnSpPr>
            <a:cxnSpLocks/>
            <a:stCxn id="142" idx="3"/>
            <a:endCxn id="143" idx="1"/>
          </p:cNvCxnSpPr>
          <p:nvPr/>
        </p:nvCxnSpPr>
        <p:spPr bwMode="auto">
          <a:xfrm>
            <a:off x="4845201" y="3283669"/>
            <a:ext cx="629108" cy="4285"/>
          </a:xfrm>
          <a:prstGeom prst="straightConnector1">
            <a:avLst/>
          </a:prstGeom>
          <a:noFill/>
          <a:ln w="9525" cap="flat" cmpd="sng" algn="ctr">
            <a:solidFill>
              <a:schemeClr val="bg1">
                <a:lumMod val="50000"/>
              </a:schemeClr>
            </a:solidFill>
            <a:prstDash val="solid"/>
            <a:round/>
            <a:headEnd type="none" w="med" len="med"/>
            <a:tailEnd type="triangle"/>
          </a:ln>
          <a:effectLst/>
        </p:spPr>
      </p:cxnSp>
      <p:sp>
        <p:nvSpPr>
          <p:cNvPr id="146" name="직사각형 124">
            <a:extLst>
              <a:ext uri="{FF2B5EF4-FFF2-40B4-BE49-F238E27FC236}">
                <a16:creationId xmlns:a16="http://schemas.microsoft.com/office/drawing/2014/main" id="{4CE21303-1EAA-4656-BAFA-D96B4DBE5030}"/>
              </a:ext>
            </a:extLst>
          </p:cNvPr>
          <p:cNvSpPr/>
          <p:nvPr/>
        </p:nvSpPr>
        <p:spPr>
          <a:xfrm>
            <a:off x="7373085" y="3076091"/>
            <a:ext cx="1586819" cy="416431"/>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r>
              <a:rPr lang="en-US" sz="1100" dirty="0">
                <a:solidFill>
                  <a:srgbClr val="000000"/>
                </a:solidFill>
                <a:latin typeface="Arial Narrow" panose="020B0606020202030204" pitchFamily="34" charset="0"/>
                <a:ea typeface="LG Smart_H Regular" panose="020B0600000101010101"/>
                <a:cs typeface="Arial" panose="020B0604020202020204" pitchFamily="34" charset="0"/>
              </a:rPr>
              <a:t>Broken pin connector check PCBA</a:t>
            </a:r>
          </a:p>
        </p:txBody>
      </p:sp>
      <p:cxnSp>
        <p:nvCxnSpPr>
          <p:cNvPr id="147" name="Straight Arrow Connector 146">
            <a:extLst>
              <a:ext uri="{FF2B5EF4-FFF2-40B4-BE49-F238E27FC236}">
                <a16:creationId xmlns:a16="http://schemas.microsoft.com/office/drawing/2014/main" id="{63A3B3EC-9EF6-4863-90E3-A1EF5FD8A469}"/>
              </a:ext>
            </a:extLst>
          </p:cNvPr>
          <p:cNvCxnSpPr>
            <a:cxnSpLocks/>
            <a:stCxn id="143" idx="3"/>
            <a:endCxn id="146" idx="1"/>
          </p:cNvCxnSpPr>
          <p:nvPr/>
        </p:nvCxnSpPr>
        <p:spPr bwMode="auto">
          <a:xfrm flipV="1">
            <a:off x="6901529" y="3284303"/>
            <a:ext cx="471552" cy="3648"/>
          </a:xfrm>
          <a:prstGeom prst="straightConnector1">
            <a:avLst/>
          </a:prstGeom>
          <a:noFill/>
          <a:ln w="9525" cap="flat" cmpd="sng" algn="ctr">
            <a:solidFill>
              <a:schemeClr val="bg1">
                <a:lumMod val="50000"/>
              </a:schemeClr>
            </a:solidFill>
            <a:prstDash val="solid"/>
            <a:round/>
            <a:headEnd type="none" w="med" len="med"/>
            <a:tailEnd type="triangle"/>
          </a:ln>
          <a:effectLst/>
        </p:spPr>
      </p:cxnSp>
      <p:sp>
        <p:nvSpPr>
          <p:cNvPr id="148" name="직사각형 124">
            <a:extLst>
              <a:ext uri="{FF2B5EF4-FFF2-40B4-BE49-F238E27FC236}">
                <a16:creationId xmlns:a16="http://schemas.microsoft.com/office/drawing/2014/main" id="{36E791B4-D43B-4265-A6B4-D53A57E44B5E}"/>
              </a:ext>
            </a:extLst>
          </p:cNvPr>
          <p:cNvSpPr/>
          <p:nvPr/>
        </p:nvSpPr>
        <p:spPr>
          <a:xfrm>
            <a:off x="9153856" y="3085712"/>
            <a:ext cx="692286" cy="39591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r>
              <a:rPr lang="en-US" sz="1100" dirty="0">
                <a:solidFill>
                  <a:srgbClr val="000000"/>
                </a:solidFill>
                <a:latin typeface="Arial Narrow" panose="020B0606020202030204" pitchFamily="34" charset="0"/>
                <a:ea typeface="LG Smart_H Regular" panose="020B0600000101010101"/>
                <a:cs typeface="Arial" panose="020B0604020202020204" pitchFamily="34" charset="0"/>
              </a:rPr>
              <a:t>Supplier</a:t>
            </a:r>
          </a:p>
        </p:txBody>
      </p:sp>
      <p:cxnSp>
        <p:nvCxnSpPr>
          <p:cNvPr id="149" name="Straight Arrow Connector 148">
            <a:extLst>
              <a:ext uri="{FF2B5EF4-FFF2-40B4-BE49-F238E27FC236}">
                <a16:creationId xmlns:a16="http://schemas.microsoft.com/office/drawing/2014/main" id="{B77A7FFE-0C8A-446E-A635-68E3CD0C6434}"/>
              </a:ext>
            </a:extLst>
          </p:cNvPr>
          <p:cNvCxnSpPr>
            <a:cxnSpLocks/>
            <a:stCxn id="146" idx="3"/>
            <a:endCxn id="148" idx="1"/>
          </p:cNvCxnSpPr>
          <p:nvPr/>
        </p:nvCxnSpPr>
        <p:spPr bwMode="auto">
          <a:xfrm flipV="1">
            <a:off x="8959904" y="3283669"/>
            <a:ext cx="193952" cy="638"/>
          </a:xfrm>
          <a:prstGeom prst="straightConnector1">
            <a:avLst/>
          </a:prstGeom>
          <a:noFill/>
          <a:ln w="9525" cap="flat" cmpd="sng" algn="ctr">
            <a:solidFill>
              <a:schemeClr val="bg1">
                <a:lumMod val="50000"/>
              </a:schemeClr>
            </a:solidFill>
            <a:prstDash val="solid"/>
            <a:round/>
            <a:headEnd type="none" w="med" len="med"/>
            <a:tailEnd type="triangle"/>
          </a:ln>
          <a:effectLst/>
        </p:spPr>
      </p:cxnSp>
      <p:cxnSp>
        <p:nvCxnSpPr>
          <p:cNvPr id="111" name="Connector: Elbow 110">
            <a:extLst>
              <a:ext uri="{FF2B5EF4-FFF2-40B4-BE49-F238E27FC236}">
                <a16:creationId xmlns:a16="http://schemas.microsoft.com/office/drawing/2014/main" id="{8BDDDF13-4FBF-4C56-A750-AF19D4267FDE}"/>
              </a:ext>
            </a:extLst>
          </p:cNvPr>
          <p:cNvCxnSpPr>
            <a:cxnSpLocks/>
            <a:stCxn id="80" idx="3"/>
            <a:endCxn id="114" idx="1"/>
          </p:cNvCxnSpPr>
          <p:nvPr/>
        </p:nvCxnSpPr>
        <p:spPr bwMode="auto">
          <a:xfrm>
            <a:off x="2890001" y="1877657"/>
            <a:ext cx="755766" cy="700364"/>
          </a:xfrm>
          <a:prstGeom prst="bentConnector3">
            <a:avLst/>
          </a:prstGeom>
          <a:noFill/>
          <a:ln w="9525" cap="flat" cmpd="sng" algn="ctr">
            <a:solidFill>
              <a:schemeClr val="bg1">
                <a:lumMod val="50000"/>
              </a:schemeClr>
            </a:solidFill>
            <a:prstDash val="solid"/>
            <a:round/>
            <a:headEnd type="none" w="med" len="med"/>
            <a:tailEnd type="triangle"/>
          </a:ln>
          <a:effectLst/>
        </p:spPr>
      </p:cxnSp>
      <p:sp>
        <p:nvSpPr>
          <p:cNvPr id="114" name="직사각형 124">
            <a:extLst>
              <a:ext uri="{FF2B5EF4-FFF2-40B4-BE49-F238E27FC236}">
                <a16:creationId xmlns:a16="http://schemas.microsoft.com/office/drawing/2014/main" id="{73CA28FC-A3CF-4772-8A03-2AD7BD41ABCE}"/>
              </a:ext>
            </a:extLst>
          </p:cNvPr>
          <p:cNvSpPr/>
          <p:nvPr/>
        </p:nvSpPr>
        <p:spPr>
          <a:xfrm>
            <a:off x="3645767" y="2391981"/>
            <a:ext cx="1183477" cy="372079"/>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r>
              <a:rPr lang="en-US" sz="1100" dirty="0">
                <a:solidFill>
                  <a:schemeClr val="tx1"/>
                </a:solidFill>
                <a:latin typeface="Arial Narrow" panose="020B0606020202030204" pitchFamily="34" charset="0"/>
                <a:ea typeface="Arial Unicode MS" panose="020B0604020202020204" pitchFamily="34" charset="-128"/>
                <a:cs typeface="Arial" panose="020B0604020202020204" pitchFamily="34" charset="0"/>
              </a:rPr>
              <a:t>Function issue</a:t>
            </a:r>
          </a:p>
        </p:txBody>
      </p:sp>
      <p:sp>
        <p:nvSpPr>
          <p:cNvPr id="119" name="직사각형 124">
            <a:extLst>
              <a:ext uri="{FF2B5EF4-FFF2-40B4-BE49-F238E27FC236}">
                <a16:creationId xmlns:a16="http://schemas.microsoft.com/office/drawing/2014/main" id="{8BE6DDEC-6FF4-41A8-A844-E312B40B1A56}"/>
              </a:ext>
            </a:extLst>
          </p:cNvPr>
          <p:cNvSpPr/>
          <p:nvPr/>
        </p:nvSpPr>
        <p:spPr>
          <a:xfrm>
            <a:off x="5446053" y="2381371"/>
            <a:ext cx="1427220" cy="377460"/>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r>
              <a:rPr lang="en-US" sz="1100" dirty="0" err="1">
                <a:solidFill>
                  <a:srgbClr val="000000"/>
                </a:solidFill>
                <a:latin typeface="Arial Narrow" panose="020B0606020202030204" pitchFamily="34" charset="0"/>
                <a:ea typeface="LG Smart_H Regular" panose="020B0600000101010101"/>
                <a:cs typeface="Arial" panose="020B0604020202020204" pitchFamily="34" charset="0"/>
              </a:rPr>
              <a:t>Wifi</a:t>
            </a:r>
            <a:r>
              <a:rPr lang="en-US" sz="1100" dirty="0">
                <a:solidFill>
                  <a:srgbClr val="000000"/>
                </a:solidFill>
                <a:latin typeface="Arial Narrow" panose="020B0606020202030204" pitchFamily="34" charset="0"/>
                <a:ea typeface="LG Smart_H Regular" panose="020B0600000101010101"/>
                <a:cs typeface="Arial" panose="020B0604020202020204" pitchFamily="34" charset="0"/>
              </a:rPr>
              <a:t> connect </a:t>
            </a:r>
          </a:p>
        </p:txBody>
      </p:sp>
      <p:sp>
        <p:nvSpPr>
          <p:cNvPr id="120" name="직사각형 124">
            <a:extLst>
              <a:ext uri="{FF2B5EF4-FFF2-40B4-BE49-F238E27FC236}">
                <a16:creationId xmlns:a16="http://schemas.microsoft.com/office/drawing/2014/main" id="{567FB3B8-C7FD-4EF8-96AB-8320B0535191}"/>
              </a:ext>
            </a:extLst>
          </p:cNvPr>
          <p:cNvSpPr/>
          <p:nvPr/>
        </p:nvSpPr>
        <p:spPr>
          <a:xfrm>
            <a:off x="7344829" y="2361889"/>
            <a:ext cx="1586819" cy="416431"/>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r>
              <a:rPr lang="en-US" sz="1100">
                <a:solidFill>
                  <a:srgbClr val="000000"/>
                </a:solidFill>
                <a:latin typeface="Arial Narrow" panose="020B0606020202030204" pitchFamily="34" charset="0"/>
                <a:ea typeface="LG Smart_H Regular" panose="020B0600000101010101"/>
                <a:cs typeface="Arial" panose="020B0604020202020204" pitchFamily="34" charset="0"/>
              </a:rPr>
              <a:t>Improve program</a:t>
            </a:r>
            <a:endParaRPr lang="en-US" sz="1100" dirty="0">
              <a:solidFill>
                <a:srgbClr val="000000"/>
              </a:solidFill>
              <a:latin typeface="Arial Narrow" panose="020B0606020202030204" pitchFamily="34" charset="0"/>
              <a:ea typeface="LG Smart_H Regular" panose="020B0600000101010101"/>
              <a:cs typeface="Arial" panose="020B0604020202020204" pitchFamily="34" charset="0"/>
            </a:endParaRPr>
          </a:p>
        </p:txBody>
      </p:sp>
      <p:cxnSp>
        <p:nvCxnSpPr>
          <p:cNvPr id="121" name="Straight Arrow Connector 120">
            <a:extLst>
              <a:ext uri="{FF2B5EF4-FFF2-40B4-BE49-F238E27FC236}">
                <a16:creationId xmlns:a16="http://schemas.microsoft.com/office/drawing/2014/main" id="{1F60C3C0-F4F6-41A9-A5C3-CA4428182483}"/>
              </a:ext>
            </a:extLst>
          </p:cNvPr>
          <p:cNvCxnSpPr>
            <a:cxnSpLocks/>
            <a:stCxn id="119" idx="3"/>
            <a:endCxn id="120" idx="1"/>
          </p:cNvCxnSpPr>
          <p:nvPr/>
        </p:nvCxnSpPr>
        <p:spPr bwMode="auto">
          <a:xfrm>
            <a:off x="6873273" y="2570104"/>
            <a:ext cx="471552" cy="1"/>
          </a:xfrm>
          <a:prstGeom prst="straightConnector1">
            <a:avLst/>
          </a:prstGeom>
          <a:noFill/>
          <a:ln w="9525" cap="flat" cmpd="sng" algn="ctr">
            <a:solidFill>
              <a:schemeClr val="bg1">
                <a:lumMod val="50000"/>
              </a:schemeClr>
            </a:solidFill>
            <a:prstDash val="solid"/>
            <a:round/>
            <a:headEnd type="none" w="med" len="med"/>
            <a:tailEnd type="triangle"/>
          </a:ln>
          <a:effectLst/>
        </p:spPr>
      </p:cxnSp>
      <p:sp>
        <p:nvSpPr>
          <p:cNvPr id="122" name="직사각형 124">
            <a:extLst>
              <a:ext uri="{FF2B5EF4-FFF2-40B4-BE49-F238E27FC236}">
                <a16:creationId xmlns:a16="http://schemas.microsoft.com/office/drawing/2014/main" id="{160F611F-63BC-4E78-A158-5AC7E4D68CE2}"/>
              </a:ext>
            </a:extLst>
          </p:cNvPr>
          <p:cNvSpPr/>
          <p:nvPr/>
        </p:nvSpPr>
        <p:spPr>
          <a:xfrm>
            <a:off x="9119250" y="2372148"/>
            <a:ext cx="709689" cy="39591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r>
              <a:rPr lang="en-US" sz="1100" dirty="0">
                <a:solidFill>
                  <a:srgbClr val="000000"/>
                </a:solidFill>
                <a:latin typeface="Arial Narrow" panose="020B0606020202030204" pitchFamily="34" charset="0"/>
                <a:ea typeface="LG Smart_H Regular" panose="020B0600000101010101"/>
                <a:cs typeface="Arial" panose="020B0604020202020204" pitchFamily="34" charset="0"/>
              </a:rPr>
              <a:t>HQ R&amp;D</a:t>
            </a:r>
          </a:p>
        </p:txBody>
      </p:sp>
      <p:cxnSp>
        <p:nvCxnSpPr>
          <p:cNvPr id="123" name="Straight Arrow Connector 122">
            <a:extLst>
              <a:ext uri="{FF2B5EF4-FFF2-40B4-BE49-F238E27FC236}">
                <a16:creationId xmlns:a16="http://schemas.microsoft.com/office/drawing/2014/main" id="{03719E67-369F-4BE9-AF8F-1E482D8E36E7}"/>
              </a:ext>
            </a:extLst>
          </p:cNvPr>
          <p:cNvCxnSpPr>
            <a:cxnSpLocks/>
            <a:stCxn id="120" idx="3"/>
            <a:endCxn id="122" idx="1"/>
          </p:cNvCxnSpPr>
          <p:nvPr/>
        </p:nvCxnSpPr>
        <p:spPr bwMode="auto">
          <a:xfrm>
            <a:off x="8931648" y="2570105"/>
            <a:ext cx="187602" cy="0"/>
          </a:xfrm>
          <a:prstGeom prst="straightConnector1">
            <a:avLst/>
          </a:prstGeom>
          <a:noFill/>
          <a:ln w="9525" cap="flat" cmpd="sng" algn="ctr">
            <a:solidFill>
              <a:schemeClr val="bg1">
                <a:lumMod val="50000"/>
              </a:schemeClr>
            </a:solidFill>
            <a:prstDash val="solid"/>
            <a:round/>
            <a:headEnd type="none" w="med" len="med"/>
            <a:tailEnd type="triangle"/>
          </a:ln>
          <a:effectLst/>
        </p:spPr>
      </p:cxnSp>
      <p:cxnSp>
        <p:nvCxnSpPr>
          <p:cNvPr id="125" name="Straight Arrow Connector 124">
            <a:extLst>
              <a:ext uri="{FF2B5EF4-FFF2-40B4-BE49-F238E27FC236}">
                <a16:creationId xmlns:a16="http://schemas.microsoft.com/office/drawing/2014/main" id="{570369DE-ABA5-4E3C-BB01-B6B6AFBE1E8F}"/>
              </a:ext>
            </a:extLst>
          </p:cNvPr>
          <p:cNvCxnSpPr>
            <a:cxnSpLocks/>
            <a:endCxn id="119" idx="1"/>
          </p:cNvCxnSpPr>
          <p:nvPr/>
        </p:nvCxnSpPr>
        <p:spPr bwMode="auto">
          <a:xfrm flipV="1">
            <a:off x="4824988" y="2570104"/>
            <a:ext cx="621069" cy="1"/>
          </a:xfrm>
          <a:prstGeom prst="straightConnector1">
            <a:avLst/>
          </a:prstGeom>
          <a:noFill/>
          <a:ln w="9525" cap="flat" cmpd="sng" algn="ctr">
            <a:solidFill>
              <a:schemeClr val="bg1">
                <a:lumMod val="50000"/>
              </a:schemeClr>
            </a:solidFill>
            <a:prstDash val="solid"/>
            <a:round/>
            <a:headEnd type="none" w="med" len="med"/>
            <a:tailEnd type="triangle"/>
          </a:ln>
          <a:effectLst/>
        </p:spPr>
      </p:cxnSp>
      <p:cxnSp>
        <p:nvCxnSpPr>
          <p:cNvPr id="19" name="Connector: Elbow 18">
            <a:extLst>
              <a:ext uri="{FF2B5EF4-FFF2-40B4-BE49-F238E27FC236}">
                <a16:creationId xmlns:a16="http://schemas.microsoft.com/office/drawing/2014/main" id="{A66EF0CA-6A6D-56FE-B7C5-9BD4AA8BD2EF}"/>
              </a:ext>
            </a:extLst>
          </p:cNvPr>
          <p:cNvCxnSpPr>
            <a:cxnSpLocks/>
            <a:stCxn id="81" idx="3"/>
            <a:endCxn id="82" idx="1"/>
          </p:cNvCxnSpPr>
          <p:nvPr/>
        </p:nvCxnSpPr>
        <p:spPr bwMode="auto">
          <a:xfrm>
            <a:off x="1279431" y="1885061"/>
            <a:ext cx="429949" cy="1402455"/>
          </a:xfrm>
          <a:prstGeom prst="bentConnector3">
            <a:avLst>
              <a:gd name="adj1" fmla="val 50000"/>
            </a:avLst>
          </a:prstGeom>
          <a:noFill/>
          <a:ln w="9525" cap="flat" cmpd="sng" algn="ctr">
            <a:solidFill>
              <a:schemeClr val="bg1">
                <a:lumMod val="50000"/>
              </a:schemeClr>
            </a:solidFill>
            <a:prstDash val="solid"/>
            <a:round/>
            <a:headEnd type="none" w="med" len="med"/>
            <a:tailEnd type="triangle"/>
          </a:ln>
          <a:effectLst/>
        </p:spPr>
      </p:cxnSp>
      <p:sp>
        <p:nvSpPr>
          <p:cNvPr id="29" name="직사각형 124">
            <a:extLst>
              <a:ext uri="{FF2B5EF4-FFF2-40B4-BE49-F238E27FC236}">
                <a16:creationId xmlns:a16="http://schemas.microsoft.com/office/drawing/2014/main" id="{A331CF5C-3B80-9090-FBD1-374504C02C7B}"/>
              </a:ext>
            </a:extLst>
          </p:cNvPr>
          <p:cNvSpPr/>
          <p:nvPr/>
        </p:nvSpPr>
        <p:spPr>
          <a:xfrm>
            <a:off x="5448762" y="3805152"/>
            <a:ext cx="1427220" cy="39591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r>
              <a:rPr lang="en-US" sz="1100">
                <a:solidFill>
                  <a:srgbClr val="000000"/>
                </a:solidFill>
                <a:latin typeface="Arial Narrow" panose="020B0606020202030204" pitchFamily="34" charset="0"/>
                <a:ea typeface="LG Smart_H Regular" panose="020B0600000101010101"/>
                <a:cs typeface="Arial" panose="020B0604020202020204" pitchFamily="34" charset="0"/>
              </a:rPr>
              <a:t>Gap issue</a:t>
            </a:r>
            <a:endParaRPr lang="en-US" sz="1100" dirty="0">
              <a:solidFill>
                <a:srgbClr val="000000"/>
              </a:solidFill>
              <a:latin typeface="Arial Narrow" panose="020B0606020202030204" pitchFamily="34" charset="0"/>
              <a:ea typeface="LG Smart_H Regular" panose="020B0600000101010101"/>
              <a:cs typeface="Arial" panose="020B0604020202020204" pitchFamily="34" charset="0"/>
            </a:endParaRPr>
          </a:p>
        </p:txBody>
      </p:sp>
      <p:sp>
        <p:nvSpPr>
          <p:cNvPr id="34" name="직사각형 124">
            <a:extLst>
              <a:ext uri="{FF2B5EF4-FFF2-40B4-BE49-F238E27FC236}">
                <a16:creationId xmlns:a16="http://schemas.microsoft.com/office/drawing/2014/main" id="{F6E12A01-F356-047D-0719-88F87A327EA3}"/>
              </a:ext>
            </a:extLst>
          </p:cNvPr>
          <p:cNvSpPr/>
          <p:nvPr/>
        </p:nvSpPr>
        <p:spPr>
          <a:xfrm>
            <a:off x="7329231" y="3804903"/>
            <a:ext cx="1586819" cy="39591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r>
              <a:rPr lang="en-US" sz="1100">
                <a:solidFill>
                  <a:srgbClr val="000000"/>
                </a:solidFill>
                <a:latin typeface="Arial Narrow" panose="020B0606020202030204" pitchFamily="34" charset="0"/>
                <a:ea typeface="LG Smart_H Regular" panose="020B0600000101010101"/>
                <a:cs typeface="Arial" panose="020B0604020202020204" pitchFamily="34" charset="0"/>
              </a:rPr>
              <a:t>Material defect → return to supplier</a:t>
            </a:r>
            <a:endParaRPr lang="en-US" sz="1100" dirty="0">
              <a:solidFill>
                <a:srgbClr val="000000"/>
              </a:solidFill>
              <a:latin typeface="Arial Narrow" panose="020B0606020202030204" pitchFamily="34" charset="0"/>
              <a:ea typeface="LG Smart_H Regular" panose="020B0600000101010101"/>
              <a:cs typeface="Arial" panose="020B0604020202020204" pitchFamily="34" charset="0"/>
            </a:endParaRPr>
          </a:p>
        </p:txBody>
      </p:sp>
      <p:cxnSp>
        <p:nvCxnSpPr>
          <p:cNvPr id="36" name="Straight Arrow Connector 35">
            <a:extLst>
              <a:ext uri="{FF2B5EF4-FFF2-40B4-BE49-F238E27FC236}">
                <a16:creationId xmlns:a16="http://schemas.microsoft.com/office/drawing/2014/main" id="{8B879AE7-27E2-BA4C-81B0-7339BABF39AA}"/>
              </a:ext>
            </a:extLst>
          </p:cNvPr>
          <p:cNvCxnSpPr>
            <a:cxnSpLocks/>
          </p:cNvCxnSpPr>
          <p:nvPr/>
        </p:nvCxnSpPr>
        <p:spPr>
          <a:xfrm flipV="1">
            <a:off x="6875982" y="4019962"/>
            <a:ext cx="453249" cy="249"/>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8" name="직사각형 124">
            <a:extLst>
              <a:ext uri="{FF2B5EF4-FFF2-40B4-BE49-F238E27FC236}">
                <a16:creationId xmlns:a16="http://schemas.microsoft.com/office/drawing/2014/main" id="{13A5E834-F41D-177D-4A4A-C5745E2715A3}"/>
              </a:ext>
            </a:extLst>
          </p:cNvPr>
          <p:cNvSpPr/>
          <p:nvPr/>
        </p:nvSpPr>
        <p:spPr>
          <a:xfrm>
            <a:off x="9118636" y="3799038"/>
            <a:ext cx="717728" cy="39591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r>
              <a:rPr lang="en-US" sz="1100" dirty="0">
                <a:solidFill>
                  <a:srgbClr val="000000"/>
                </a:solidFill>
                <a:latin typeface="Arial Narrow" panose="020B0606020202030204" pitchFamily="34" charset="0"/>
                <a:ea typeface="LG Smart_H Regular" panose="020B0600000101010101"/>
                <a:cs typeface="Arial" panose="020B0604020202020204" pitchFamily="34" charset="0"/>
              </a:rPr>
              <a:t>Supplier</a:t>
            </a:r>
          </a:p>
        </p:txBody>
      </p:sp>
      <p:cxnSp>
        <p:nvCxnSpPr>
          <p:cNvPr id="40" name="Connector: Elbow 39">
            <a:extLst>
              <a:ext uri="{FF2B5EF4-FFF2-40B4-BE49-F238E27FC236}">
                <a16:creationId xmlns:a16="http://schemas.microsoft.com/office/drawing/2014/main" id="{3CF942AD-87E5-6FEE-3171-2DB8B44F8871}"/>
              </a:ext>
            </a:extLst>
          </p:cNvPr>
          <p:cNvCxnSpPr>
            <a:cxnSpLocks/>
            <a:stCxn id="41" idx="3"/>
            <a:endCxn id="48" idx="1"/>
          </p:cNvCxnSpPr>
          <p:nvPr/>
        </p:nvCxnSpPr>
        <p:spPr bwMode="auto">
          <a:xfrm>
            <a:off x="4766126" y="3999063"/>
            <a:ext cx="657922" cy="690067"/>
          </a:xfrm>
          <a:prstGeom prst="bentConnector3">
            <a:avLst>
              <a:gd name="adj1" fmla="val 50000"/>
            </a:avLst>
          </a:prstGeom>
          <a:noFill/>
          <a:ln w="9525" cap="flat" cmpd="sng" algn="ctr">
            <a:solidFill>
              <a:schemeClr val="bg1">
                <a:lumMod val="50000"/>
              </a:schemeClr>
            </a:solidFill>
            <a:prstDash val="solid"/>
            <a:round/>
            <a:headEnd type="none" w="med" len="med"/>
            <a:tailEnd type="triangle"/>
          </a:ln>
          <a:effectLst/>
        </p:spPr>
      </p:cxnSp>
      <p:sp>
        <p:nvSpPr>
          <p:cNvPr id="41" name="직사각형 124">
            <a:extLst>
              <a:ext uri="{FF2B5EF4-FFF2-40B4-BE49-F238E27FC236}">
                <a16:creationId xmlns:a16="http://schemas.microsoft.com/office/drawing/2014/main" id="{6FACA655-0F80-FEFF-4BBD-F3147FAB3068}"/>
              </a:ext>
            </a:extLst>
          </p:cNvPr>
          <p:cNvSpPr/>
          <p:nvPr/>
        </p:nvSpPr>
        <p:spPr>
          <a:xfrm>
            <a:off x="3582649" y="3777831"/>
            <a:ext cx="1183477" cy="44246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r>
              <a:rPr lang="en-US" sz="1100">
                <a:solidFill>
                  <a:schemeClr val="tx1"/>
                </a:solidFill>
                <a:latin typeface="Arial Narrow" panose="020B0606020202030204" pitchFamily="34" charset="0"/>
                <a:ea typeface="Arial Unicode MS" panose="020B0604020202020204" pitchFamily="34" charset="-128"/>
                <a:cs typeface="Arial" panose="020B0604020202020204" pitchFamily="34" charset="0"/>
              </a:rPr>
              <a:t>Appearance issue</a:t>
            </a:r>
            <a:endParaRPr lang="en-US" sz="1100" dirty="0">
              <a:solidFill>
                <a:schemeClr val="tx1"/>
              </a:solidFill>
              <a:latin typeface="Arial Narrow" panose="020B0606020202030204" pitchFamily="34" charset="0"/>
              <a:ea typeface="Arial Unicode MS" panose="020B0604020202020204" pitchFamily="34" charset="-128"/>
              <a:cs typeface="Arial" panose="020B0604020202020204" pitchFamily="34" charset="0"/>
            </a:endParaRPr>
          </a:p>
        </p:txBody>
      </p:sp>
      <p:sp>
        <p:nvSpPr>
          <p:cNvPr id="48" name="직사각형 124">
            <a:extLst>
              <a:ext uri="{FF2B5EF4-FFF2-40B4-BE49-F238E27FC236}">
                <a16:creationId xmlns:a16="http://schemas.microsoft.com/office/drawing/2014/main" id="{86869664-04BA-7197-BF6B-F863751F5B99}"/>
              </a:ext>
            </a:extLst>
          </p:cNvPr>
          <p:cNvSpPr/>
          <p:nvPr/>
        </p:nvSpPr>
        <p:spPr>
          <a:xfrm>
            <a:off x="5424048" y="4491173"/>
            <a:ext cx="1427220" cy="39591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r>
              <a:rPr lang="en-US" sz="1100">
                <a:solidFill>
                  <a:srgbClr val="000000"/>
                </a:solidFill>
                <a:latin typeface="Arial Narrow" panose="020B0606020202030204" pitchFamily="34" charset="0"/>
                <a:ea typeface="LG Smart_H Regular" panose="020B0600000101010101"/>
                <a:cs typeface="Arial" panose="020B0604020202020204" pitchFamily="34" charset="0"/>
              </a:rPr>
              <a:t>Press issue</a:t>
            </a:r>
            <a:endParaRPr lang="en-US" sz="1100" dirty="0">
              <a:solidFill>
                <a:srgbClr val="000000"/>
              </a:solidFill>
              <a:latin typeface="Arial Narrow" panose="020B0606020202030204" pitchFamily="34" charset="0"/>
              <a:ea typeface="LG Smart_H Regular" panose="020B0600000101010101"/>
              <a:cs typeface="Arial" panose="020B0604020202020204" pitchFamily="34" charset="0"/>
            </a:endParaRPr>
          </a:p>
        </p:txBody>
      </p:sp>
      <p:sp>
        <p:nvSpPr>
          <p:cNvPr id="49" name="직사각형 124">
            <a:extLst>
              <a:ext uri="{FF2B5EF4-FFF2-40B4-BE49-F238E27FC236}">
                <a16:creationId xmlns:a16="http://schemas.microsoft.com/office/drawing/2014/main" id="{4D46F8C6-658C-B7E1-FDA4-B60E00C560CF}"/>
              </a:ext>
            </a:extLst>
          </p:cNvPr>
          <p:cNvSpPr/>
          <p:nvPr/>
        </p:nvSpPr>
        <p:spPr>
          <a:xfrm>
            <a:off x="7329230" y="4491173"/>
            <a:ext cx="1586819" cy="39591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r>
              <a:rPr lang="en-US" sz="1100">
                <a:solidFill>
                  <a:srgbClr val="000000"/>
                </a:solidFill>
                <a:latin typeface="Arial Narrow" panose="020B0606020202030204" pitchFamily="34" charset="0"/>
                <a:ea typeface="LG Smart_H Regular" panose="020B0600000101010101"/>
                <a:cs typeface="Arial" panose="020B0604020202020204" pitchFamily="34" charset="0"/>
              </a:rPr>
              <a:t>Machine issue</a:t>
            </a:r>
            <a:endParaRPr lang="en-US" sz="1100" dirty="0">
              <a:solidFill>
                <a:srgbClr val="000000"/>
              </a:solidFill>
              <a:latin typeface="Arial Narrow" panose="020B0606020202030204" pitchFamily="34" charset="0"/>
              <a:ea typeface="LG Smart_H Regular" panose="020B0600000101010101"/>
              <a:cs typeface="Arial" panose="020B0604020202020204" pitchFamily="34" charset="0"/>
            </a:endParaRPr>
          </a:p>
        </p:txBody>
      </p:sp>
      <p:cxnSp>
        <p:nvCxnSpPr>
          <p:cNvPr id="50" name="Straight Arrow Connector 49">
            <a:extLst>
              <a:ext uri="{FF2B5EF4-FFF2-40B4-BE49-F238E27FC236}">
                <a16:creationId xmlns:a16="http://schemas.microsoft.com/office/drawing/2014/main" id="{340053AD-C6DC-906F-53E1-1A3077BC889D}"/>
              </a:ext>
            </a:extLst>
          </p:cNvPr>
          <p:cNvCxnSpPr>
            <a:cxnSpLocks/>
            <a:stCxn id="48" idx="3"/>
            <a:endCxn id="49" idx="1"/>
          </p:cNvCxnSpPr>
          <p:nvPr/>
        </p:nvCxnSpPr>
        <p:spPr>
          <a:xfrm>
            <a:off x="6851268" y="4689130"/>
            <a:ext cx="477962"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1" name="직사각형 124">
            <a:extLst>
              <a:ext uri="{FF2B5EF4-FFF2-40B4-BE49-F238E27FC236}">
                <a16:creationId xmlns:a16="http://schemas.microsoft.com/office/drawing/2014/main" id="{93E6EE21-F3BF-C83E-AA9D-3E975FB9BCC8}"/>
              </a:ext>
            </a:extLst>
          </p:cNvPr>
          <p:cNvSpPr/>
          <p:nvPr/>
        </p:nvSpPr>
        <p:spPr>
          <a:xfrm>
            <a:off x="9100272" y="4491409"/>
            <a:ext cx="717728" cy="395039"/>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r>
              <a:rPr lang="en-US" sz="1100">
                <a:solidFill>
                  <a:srgbClr val="000000"/>
                </a:solidFill>
                <a:latin typeface="Arial Narrow" panose="020B0606020202030204" pitchFamily="34" charset="0"/>
                <a:ea typeface="LG Smart_H Regular" panose="020B0600000101010101"/>
                <a:cs typeface="Arial" panose="020B0604020202020204" pitchFamily="34" charset="0"/>
              </a:rPr>
              <a:t>PE</a:t>
            </a:r>
            <a:endParaRPr lang="en-US" sz="1100" dirty="0">
              <a:solidFill>
                <a:srgbClr val="000000"/>
              </a:solidFill>
              <a:latin typeface="Arial Narrow" panose="020B0606020202030204" pitchFamily="34" charset="0"/>
              <a:ea typeface="LG Smart_H Regular" panose="020B0600000101010101"/>
              <a:cs typeface="Arial" panose="020B0604020202020204" pitchFamily="34" charset="0"/>
            </a:endParaRPr>
          </a:p>
        </p:txBody>
      </p:sp>
      <p:cxnSp>
        <p:nvCxnSpPr>
          <p:cNvPr id="52" name="Straight Arrow Connector 51">
            <a:extLst>
              <a:ext uri="{FF2B5EF4-FFF2-40B4-BE49-F238E27FC236}">
                <a16:creationId xmlns:a16="http://schemas.microsoft.com/office/drawing/2014/main" id="{80DCFDE6-CBCE-C430-3659-F86DAC222FCE}"/>
              </a:ext>
            </a:extLst>
          </p:cNvPr>
          <p:cNvCxnSpPr>
            <a:cxnSpLocks/>
            <a:stCxn id="49" idx="3"/>
            <a:endCxn id="51" idx="1"/>
          </p:cNvCxnSpPr>
          <p:nvPr/>
        </p:nvCxnSpPr>
        <p:spPr bwMode="auto">
          <a:xfrm flipV="1">
            <a:off x="8916049" y="4688929"/>
            <a:ext cx="184223" cy="201"/>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87F2E3A9-17AE-E5A4-930C-31D99FF2DC63}"/>
              </a:ext>
            </a:extLst>
          </p:cNvPr>
          <p:cNvCxnSpPr>
            <a:cxnSpLocks/>
            <a:stCxn id="41" idx="3"/>
            <a:endCxn id="29" idx="1"/>
          </p:cNvCxnSpPr>
          <p:nvPr/>
        </p:nvCxnSpPr>
        <p:spPr bwMode="auto">
          <a:xfrm>
            <a:off x="4766126" y="3999063"/>
            <a:ext cx="682636" cy="4046"/>
          </a:xfrm>
          <a:prstGeom prst="bentConnector3">
            <a:avLst>
              <a:gd name="adj1" fmla="val 50000"/>
            </a:avLst>
          </a:prstGeom>
          <a:noFill/>
          <a:ln w="9525" cap="flat" cmpd="sng" algn="ctr">
            <a:solidFill>
              <a:schemeClr val="bg1">
                <a:lumMod val="50000"/>
              </a:schemeClr>
            </a:solidFill>
            <a:prstDash val="solid"/>
            <a:round/>
            <a:headEnd type="none" w="med" len="med"/>
            <a:tailEnd type="triangle"/>
          </a:ln>
          <a:effectLst/>
        </p:spPr>
      </p:cxnSp>
      <p:cxnSp>
        <p:nvCxnSpPr>
          <p:cNvPr id="61" name="Connector: Elbow 60">
            <a:extLst>
              <a:ext uri="{FF2B5EF4-FFF2-40B4-BE49-F238E27FC236}">
                <a16:creationId xmlns:a16="http://schemas.microsoft.com/office/drawing/2014/main" id="{81F76141-92E5-2DC0-A47C-D326A643C904}"/>
              </a:ext>
            </a:extLst>
          </p:cNvPr>
          <p:cNvCxnSpPr>
            <a:cxnSpLocks/>
            <a:stCxn id="81" idx="3"/>
            <a:endCxn id="64" idx="1"/>
          </p:cNvCxnSpPr>
          <p:nvPr/>
        </p:nvCxnSpPr>
        <p:spPr bwMode="auto">
          <a:xfrm>
            <a:off x="1279431" y="1885061"/>
            <a:ext cx="442558" cy="2116123"/>
          </a:xfrm>
          <a:prstGeom prst="bentConnector3">
            <a:avLst>
              <a:gd name="adj1" fmla="val 50000"/>
            </a:avLst>
          </a:prstGeom>
          <a:noFill/>
          <a:ln w="9525" cap="flat" cmpd="sng" algn="ctr">
            <a:solidFill>
              <a:schemeClr val="bg1">
                <a:lumMod val="50000"/>
              </a:schemeClr>
            </a:solidFill>
            <a:prstDash val="solid"/>
            <a:round/>
            <a:headEnd type="none" w="med" len="med"/>
            <a:tailEnd type="triangle"/>
          </a:ln>
          <a:effectLst/>
        </p:spPr>
      </p:cxnSp>
      <p:sp>
        <p:nvSpPr>
          <p:cNvPr id="64" name="직사각형 124">
            <a:extLst>
              <a:ext uri="{FF2B5EF4-FFF2-40B4-BE49-F238E27FC236}">
                <a16:creationId xmlns:a16="http://schemas.microsoft.com/office/drawing/2014/main" id="{7A1F927A-F318-832C-5B10-1A00EC1AA09C}"/>
              </a:ext>
            </a:extLst>
          </p:cNvPr>
          <p:cNvSpPr/>
          <p:nvPr/>
        </p:nvSpPr>
        <p:spPr>
          <a:xfrm>
            <a:off x="1721989" y="3811298"/>
            <a:ext cx="1216259" cy="379771"/>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r>
              <a:rPr lang="en-US" sz="1100" dirty="0">
                <a:solidFill>
                  <a:srgbClr val="000000"/>
                </a:solidFill>
                <a:latin typeface="Arial Narrow" panose="020B0606020202030204" pitchFamily="34" charset="0"/>
                <a:ea typeface="LG Smart_H Regular" panose="020B0600000101010101"/>
                <a:cs typeface="Arial" panose="020B0604020202020204" pitchFamily="34" charset="0"/>
              </a:rPr>
              <a:t>Hardware defect</a:t>
            </a:r>
            <a:endParaRPr lang="vi-VN" sz="1100" dirty="0">
              <a:solidFill>
                <a:srgbClr val="000000"/>
              </a:solidFill>
              <a:latin typeface="Arial" panose="020B0604020202020204" pitchFamily="34" charset="0"/>
              <a:ea typeface="LG Smart_H Regular" panose="020B0600000101010101"/>
              <a:cs typeface="Arial" panose="020B0604020202020204" pitchFamily="34" charset="0"/>
            </a:endParaRPr>
          </a:p>
        </p:txBody>
      </p:sp>
      <p:cxnSp>
        <p:nvCxnSpPr>
          <p:cNvPr id="69" name="Straight Arrow Connector 68">
            <a:extLst>
              <a:ext uri="{FF2B5EF4-FFF2-40B4-BE49-F238E27FC236}">
                <a16:creationId xmlns:a16="http://schemas.microsoft.com/office/drawing/2014/main" id="{1528D3E5-1491-470D-A0CB-58350562D206}"/>
              </a:ext>
            </a:extLst>
          </p:cNvPr>
          <p:cNvCxnSpPr>
            <a:cxnSpLocks/>
            <a:stCxn id="80" idx="3"/>
            <a:endCxn id="77" idx="1"/>
          </p:cNvCxnSpPr>
          <p:nvPr/>
        </p:nvCxnSpPr>
        <p:spPr>
          <a:xfrm>
            <a:off x="2890001" y="1877657"/>
            <a:ext cx="771729" cy="16254"/>
          </a:xfrm>
          <a:prstGeom prst="straightConnector1">
            <a:avLst/>
          </a:prstGeom>
          <a:noFill/>
          <a:ln w="9525" cap="flat" cmpd="sng" algn="ctr">
            <a:solidFill>
              <a:srgbClr val="C00000"/>
            </a:solidFill>
            <a:prstDash val="solid"/>
            <a:round/>
            <a:headEnd type="none" w="med" len="med"/>
            <a:tailEnd type="triangle"/>
          </a:ln>
          <a:effectLst/>
        </p:spPr>
      </p:cxnSp>
      <p:cxnSp>
        <p:nvCxnSpPr>
          <p:cNvPr id="83" name="Straight Arrow Connector 82">
            <a:extLst>
              <a:ext uri="{FF2B5EF4-FFF2-40B4-BE49-F238E27FC236}">
                <a16:creationId xmlns:a16="http://schemas.microsoft.com/office/drawing/2014/main" id="{6D2F65EF-8CD4-4AAC-9943-821173CB9586}"/>
              </a:ext>
            </a:extLst>
          </p:cNvPr>
          <p:cNvCxnSpPr>
            <a:cxnSpLocks/>
            <a:stCxn id="81" idx="3"/>
            <a:endCxn id="80" idx="1"/>
          </p:cNvCxnSpPr>
          <p:nvPr/>
        </p:nvCxnSpPr>
        <p:spPr>
          <a:xfrm flipV="1">
            <a:off x="1279431" y="1877661"/>
            <a:ext cx="394311" cy="7401"/>
          </a:xfrm>
          <a:prstGeom prst="straightConnector1">
            <a:avLst/>
          </a:prstGeom>
          <a:noFill/>
          <a:ln w="9525" cap="flat" cmpd="sng" algn="ctr">
            <a:solidFill>
              <a:srgbClr val="C00000"/>
            </a:solidFill>
            <a:prstDash val="solid"/>
            <a:round/>
            <a:headEnd type="none" w="med" len="med"/>
            <a:tailEnd type="triangle"/>
          </a:ln>
          <a:effectLst/>
        </p:spPr>
      </p:cxnSp>
      <p:cxnSp>
        <p:nvCxnSpPr>
          <p:cNvPr id="73" name="Straight Arrow Connector 72">
            <a:extLst>
              <a:ext uri="{FF2B5EF4-FFF2-40B4-BE49-F238E27FC236}">
                <a16:creationId xmlns:a16="http://schemas.microsoft.com/office/drawing/2014/main" id="{A1F9E4ED-924A-6E4F-486D-04AB4B5A283D}"/>
              </a:ext>
            </a:extLst>
          </p:cNvPr>
          <p:cNvCxnSpPr>
            <a:cxnSpLocks/>
            <a:stCxn id="64" idx="3"/>
            <a:endCxn id="41" idx="1"/>
          </p:cNvCxnSpPr>
          <p:nvPr/>
        </p:nvCxnSpPr>
        <p:spPr bwMode="auto">
          <a:xfrm flipV="1">
            <a:off x="2938248" y="3999063"/>
            <a:ext cx="644401" cy="2121"/>
          </a:xfrm>
          <a:prstGeom prst="straightConnector1">
            <a:avLst/>
          </a:prstGeom>
          <a:noFill/>
          <a:ln w="9525" cap="flat" cmpd="sng" algn="ctr">
            <a:solidFill>
              <a:schemeClr val="bg1">
                <a:lumMod val="50000"/>
              </a:schemeClr>
            </a:solidFill>
            <a:prstDash val="solid"/>
            <a:round/>
            <a:headEnd type="none" w="med" len="med"/>
            <a:tailEnd type="triangle"/>
          </a:ln>
          <a:effectLst/>
        </p:spPr>
      </p:cxnSp>
      <p:cxnSp>
        <p:nvCxnSpPr>
          <p:cNvPr id="90" name="Straight Arrow Connector 89">
            <a:extLst>
              <a:ext uri="{FF2B5EF4-FFF2-40B4-BE49-F238E27FC236}">
                <a16:creationId xmlns:a16="http://schemas.microsoft.com/office/drawing/2014/main" id="{4AEE6DE0-7DBF-3B4B-A586-01703169DD10}"/>
              </a:ext>
            </a:extLst>
          </p:cNvPr>
          <p:cNvCxnSpPr>
            <a:cxnSpLocks/>
            <a:stCxn id="34" idx="3"/>
            <a:endCxn id="38" idx="1"/>
          </p:cNvCxnSpPr>
          <p:nvPr/>
        </p:nvCxnSpPr>
        <p:spPr bwMode="auto">
          <a:xfrm flipV="1">
            <a:off x="8916050" y="3996995"/>
            <a:ext cx="202586" cy="5865"/>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71485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75">
            <a:extLst>
              <a:ext uri="{FF2B5EF4-FFF2-40B4-BE49-F238E27FC236}">
                <a16:creationId xmlns:a16="http://schemas.microsoft.com/office/drawing/2014/main" id="{66EE7E85-49E9-4783-A36C-C3FD64BB3C5C}"/>
              </a:ext>
            </a:extLst>
          </p:cNvPr>
          <p:cNvSpPr txBox="1">
            <a:spLocks noChangeArrowheads="1"/>
          </p:cNvSpPr>
          <p:nvPr/>
        </p:nvSpPr>
        <p:spPr bwMode="auto">
          <a:xfrm>
            <a:off x="100786" y="1355560"/>
            <a:ext cx="4780208" cy="93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73050" indent="-187325">
              <a:defRPr kumimoji="1" sz="1300" b="1">
                <a:solidFill>
                  <a:schemeClr val="bg1"/>
                </a:solidFill>
                <a:latin typeface="Arial" panose="020B0604020202020204" pitchFamily="34" charset="0"/>
                <a:ea typeface="돋움" panose="020B0600000101010101" pitchFamily="50" charset="-127"/>
              </a:defRPr>
            </a:lvl1pPr>
            <a:lvl2pPr marL="742950" indent="-285750">
              <a:defRPr kumimoji="1" sz="1300" b="1">
                <a:solidFill>
                  <a:schemeClr val="bg1"/>
                </a:solidFill>
                <a:latin typeface="Arial" panose="020B0604020202020204" pitchFamily="34" charset="0"/>
                <a:ea typeface="돋움" panose="020B0600000101010101" pitchFamily="50" charset="-127"/>
              </a:defRPr>
            </a:lvl2pPr>
            <a:lvl3pPr marL="1143000" indent="-228600">
              <a:defRPr kumimoji="1" sz="1300" b="1">
                <a:solidFill>
                  <a:schemeClr val="bg1"/>
                </a:solidFill>
                <a:latin typeface="Arial" panose="020B0604020202020204" pitchFamily="34" charset="0"/>
                <a:ea typeface="돋움" panose="020B0600000101010101" pitchFamily="50" charset="-127"/>
              </a:defRPr>
            </a:lvl3pPr>
            <a:lvl4pPr marL="1600200" indent="-228600">
              <a:defRPr kumimoji="1" sz="1300" b="1">
                <a:solidFill>
                  <a:schemeClr val="bg1"/>
                </a:solidFill>
                <a:latin typeface="Arial" panose="020B0604020202020204" pitchFamily="34" charset="0"/>
                <a:ea typeface="돋움" panose="020B0600000101010101" pitchFamily="50" charset="-127"/>
              </a:defRPr>
            </a:lvl4pPr>
            <a:lvl5pPr marL="2057400" indent="-228600">
              <a:defRPr kumimoji="1" sz="1300" b="1">
                <a:solidFill>
                  <a:schemeClr val="bg1"/>
                </a:solidFill>
                <a:latin typeface="Arial" panose="020B0604020202020204" pitchFamily="34" charset="0"/>
                <a:ea typeface="돋움" panose="020B0600000101010101" pitchFamily="50" charset="-127"/>
              </a:defRPr>
            </a:lvl5pPr>
            <a:lvl6pPr marL="25146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latinLnBrk="1">
              <a:buFont typeface="맑은 고딕" panose="020B0503020000020004" pitchFamily="50" charset="-127"/>
              <a:buAutoNum type="arabicPeriod"/>
            </a:pPr>
            <a:r>
              <a:rPr kumimoji="0" lang="en-US" altLang="ko-KR" sz="1100" b="0" dirty="0">
                <a:solidFill>
                  <a:schemeClr val="tx1"/>
                </a:solidFill>
                <a:latin typeface="Arial Narrow" panose="020B0606020202030204" pitchFamily="34" charset="0"/>
                <a:ea typeface="LG스마트체 Regular" panose="020B0600000101010101" pitchFamily="50" charset="-127"/>
                <a:cs typeface="Arial" panose="020B0604020202020204" pitchFamily="34" charset="0"/>
              </a:rPr>
              <a:t>Equipment: </a:t>
            </a:r>
            <a:r>
              <a:rPr lang="en-US" sz="1100" b="0" dirty="0">
                <a:solidFill>
                  <a:srgbClr val="000000"/>
                </a:solidFill>
                <a:latin typeface="Arial Narrow" panose="020B0606020202030204" pitchFamily="34" charset="0"/>
                <a:ea typeface="LG Smart_H Regular" panose="020B0600000101010101" pitchFamily="34" charset="-127"/>
                <a:cs typeface="Arial" panose="020B0604020202020204" pitchFamily="34" charset="0"/>
              </a:rPr>
              <a:t>Audio Video Multi Tester (AVMT)</a:t>
            </a:r>
            <a:endParaRPr kumimoji="0" lang="en-US" altLang="ko-KR" sz="1100" b="0" dirty="0">
              <a:solidFill>
                <a:schemeClr val="tx1"/>
              </a:solidFill>
              <a:latin typeface="Arial Narrow" panose="020B0606020202030204" pitchFamily="34" charset="0"/>
              <a:ea typeface="LG스마트체 Regular" panose="020B0600000101010101" pitchFamily="50" charset="-127"/>
              <a:cs typeface="Arial" panose="020B0604020202020204" pitchFamily="34" charset="0"/>
            </a:endParaRPr>
          </a:p>
          <a:p>
            <a:pPr latinLnBrk="1">
              <a:buFont typeface="맑은 고딕" panose="020B0503020000020004" pitchFamily="50" charset="-127"/>
              <a:buAutoNum type="arabicPeriod"/>
            </a:pPr>
            <a:r>
              <a:rPr kumimoji="0" lang="en-US" altLang="ko-KR" sz="1100" b="0" dirty="0">
                <a:solidFill>
                  <a:schemeClr val="tx1"/>
                </a:solidFill>
                <a:latin typeface="Arial Narrow" panose="020B0606020202030204" pitchFamily="34" charset="0"/>
                <a:ea typeface="LG스마트체 Regular" panose="020B0600000101010101" pitchFamily="50" charset="-127"/>
                <a:cs typeface="Arial" panose="020B0604020202020204" pitchFamily="34" charset="0"/>
              </a:rPr>
              <a:t>Resolution: 0.01</a:t>
            </a:r>
          </a:p>
          <a:p>
            <a:pPr latinLnBrk="1">
              <a:buFont typeface="맑은 고딕" panose="020B0503020000020004" pitchFamily="50" charset="-127"/>
              <a:buAutoNum type="arabicPeriod"/>
            </a:pPr>
            <a:r>
              <a:rPr kumimoji="0" lang="en-US" altLang="ko-KR" sz="1100" b="0" dirty="0">
                <a:solidFill>
                  <a:schemeClr val="tx1"/>
                </a:solidFill>
                <a:latin typeface="Arial Narrow" panose="020B0606020202030204" pitchFamily="34" charset="0"/>
                <a:ea typeface="LG스마트체 Regular" panose="020B0600000101010101" pitchFamily="50" charset="-127"/>
                <a:cs typeface="Arial" panose="020B0604020202020204" pitchFamily="34" charset="0"/>
              </a:rPr>
              <a:t>Sample Selection: </a:t>
            </a:r>
          </a:p>
          <a:p>
            <a:pPr marL="85725" indent="0" latinLnBrk="1"/>
            <a:r>
              <a:rPr kumimoji="0" lang="en-US" altLang="ko-KR" sz="1100" b="0" dirty="0">
                <a:solidFill>
                  <a:schemeClr val="tx1"/>
                </a:solidFill>
                <a:latin typeface="Arial Narrow" panose="020B0606020202030204" pitchFamily="34" charset="0"/>
                <a:ea typeface="LG스마트체 Regular" panose="020B0600000101010101" pitchFamily="50" charset="-127"/>
                <a:cs typeface="Arial" panose="020B0604020202020204" pitchFamily="34" charset="0"/>
              </a:rPr>
              <a:t>Type 1: 1 people measure a sample, measure repeat 30 times</a:t>
            </a:r>
          </a:p>
          <a:p>
            <a:pPr marL="85725" indent="0" latinLnBrk="1"/>
            <a:r>
              <a:rPr kumimoji="0" lang="en-US" altLang="ko-KR" sz="1100" b="0" dirty="0">
                <a:solidFill>
                  <a:schemeClr val="tx1"/>
                </a:solidFill>
                <a:latin typeface="Arial Narrow" panose="020B0606020202030204" pitchFamily="34" charset="0"/>
                <a:ea typeface="LG스마트체 Regular" panose="020B0600000101010101" pitchFamily="50" charset="-127"/>
                <a:cs typeface="Arial" panose="020B0604020202020204" pitchFamily="34" charset="0"/>
              </a:rPr>
              <a:t>Type 2: </a:t>
            </a:r>
            <a:r>
              <a:rPr kumimoji="0" lang="en-US" altLang="ko-KR" sz="1100" b="0" dirty="0">
                <a:solidFill>
                  <a:schemeClr val="tx1"/>
                </a:solidFill>
                <a:latin typeface="Arial Narrow" panose="020B0606020202030204" pitchFamily="34" charset="0"/>
                <a:ea typeface="LG스마트체 Regular" panose="020B0600000101010101" pitchFamily="50" charset="-127"/>
              </a:rPr>
              <a:t>3 operators measure 10 samples, measure repeat 3 times (Blind and random)</a:t>
            </a:r>
            <a:endParaRPr kumimoji="0" lang="en-US" altLang="ko-KR" sz="1100" b="0" dirty="0">
              <a:solidFill>
                <a:schemeClr val="tx1"/>
              </a:solidFill>
              <a:latin typeface="Arial Narrow" panose="020B0606020202030204" pitchFamily="34" charset="0"/>
              <a:ea typeface="LG스마트체 Regular" panose="020B0600000101010101" pitchFamily="50" charset="-127"/>
              <a:cs typeface="Arial" panose="020B0604020202020204" pitchFamily="34" charset="0"/>
            </a:endParaRPr>
          </a:p>
        </p:txBody>
      </p:sp>
      <p:sp>
        <p:nvSpPr>
          <p:cNvPr id="10" name="제목 1"/>
          <p:cNvSpPr>
            <a:spLocks noGrp="1"/>
          </p:cNvSpPr>
          <p:nvPr>
            <p:ph type="title"/>
          </p:nvPr>
        </p:nvSpPr>
        <p:spPr>
          <a:xfrm>
            <a:off x="56456" y="116632"/>
            <a:ext cx="3091858" cy="418058"/>
          </a:xfrm>
        </p:spPr>
        <p:txBody>
          <a:bodyPr>
            <a:noAutofit/>
          </a:bodyPr>
          <a:lstStyle/>
          <a:p>
            <a:r>
              <a:rPr lang="en-US" altLang="ko-KR" sz="2000" b="1" dirty="0">
                <a:latin typeface="Arial Narrow" panose="020B0606020202030204" pitchFamily="34" charset="0"/>
                <a:ea typeface="LG Smart_H Regular" pitchFamily="34" charset="-127"/>
              </a:rPr>
              <a:t>1.</a:t>
            </a:r>
            <a:r>
              <a:rPr lang="vi-VN" altLang="ko-KR" sz="2000" b="1" dirty="0">
                <a:latin typeface="+mj-lt"/>
                <a:ea typeface="LG Smart_H Regular" pitchFamily="34" charset="-127"/>
              </a:rPr>
              <a:t> </a:t>
            </a:r>
            <a:r>
              <a:rPr lang="en-US" altLang="ko-KR" sz="2000" b="1" dirty="0">
                <a:latin typeface="Arial Narrow" panose="020B0606020202030204" pitchFamily="34" charset="0"/>
                <a:ea typeface="LG Smart_H Regular" pitchFamily="34" charset="-127"/>
              </a:rPr>
              <a:t>Preparation of Gage R&amp;R</a:t>
            </a:r>
          </a:p>
        </p:txBody>
      </p:sp>
      <p:cxnSp>
        <p:nvCxnSpPr>
          <p:cNvPr id="13" name="Straight Connector 12"/>
          <p:cNvCxnSpPr/>
          <p:nvPr/>
        </p:nvCxnSpPr>
        <p:spPr>
          <a:xfrm>
            <a:off x="-12488" y="561513"/>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2" name="TextBox 74">
            <a:extLst>
              <a:ext uri="{FF2B5EF4-FFF2-40B4-BE49-F238E27FC236}">
                <a16:creationId xmlns:a16="http://schemas.microsoft.com/office/drawing/2014/main" id="{1E1F4DCD-3CCD-4846-93CD-A18254EE3283}"/>
              </a:ext>
            </a:extLst>
          </p:cNvPr>
          <p:cNvSpPr txBox="1">
            <a:spLocks noChangeArrowheads="1"/>
          </p:cNvSpPr>
          <p:nvPr/>
        </p:nvSpPr>
        <p:spPr bwMode="auto">
          <a:xfrm>
            <a:off x="100786" y="4179006"/>
            <a:ext cx="4820872"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68288" indent="-182563">
              <a:defRPr kumimoji="1" sz="1300" b="1">
                <a:solidFill>
                  <a:schemeClr val="bg1"/>
                </a:solidFill>
                <a:latin typeface="Arial" panose="020B0604020202020204" pitchFamily="34" charset="0"/>
                <a:ea typeface="돋움" panose="020B0600000101010101" pitchFamily="50" charset="-127"/>
              </a:defRPr>
            </a:lvl1pPr>
            <a:lvl2pPr marL="742950" indent="-285750">
              <a:defRPr kumimoji="1" sz="1300" b="1">
                <a:solidFill>
                  <a:schemeClr val="bg1"/>
                </a:solidFill>
                <a:latin typeface="Arial" panose="020B0604020202020204" pitchFamily="34" charset="0"/>
                <a:ea typeface="돋움" panose="020B0600000101010101" pitchFamily="50" charset="-127"/>
              </a:defRPr>
            </a:lvl2pPr>
            <a:lvl3pPr marL="1143000" indent="-228600">
              <a:defRPr kumimoji="1" sz="1300" b="1">
                <a:solidFill>
                  <a:schemeClr val="bg1"/>
                </a:solidFill>
                <a:latin typeface="Arial" panose="020B0604020202020204" pitchFamily="34" charset="0"/>
                <a:ea typeface="돋움" panose="020B0600000101010101" pitchFamily="50" charset="-127"/>
              </a:defRPr>
            </a:lvl3pPr>
            <a:lvl4pPr marL="1600200" indent="-228600">
              <a:defRPr kumimoji="1" sz="1300" b="1">
                <a:solidFill>
                  <a:schemeClr val="bg1"/>
                </a:solidFill>
                <a:latin typeface="Arial" panose="020B0604020202020204" pitchFamily="34" charset="0"/>
                <a:ea typeface="돋움" panose="020B0600000101010101" pitchFamily="50" charset="-127"/>
              </a:defRPr>
            </a:lvl4pPr>
            <a:lvl5pPr marL="2057400" indent="-228600">
              <a:defRPr kumimoji="1" sz="1300" b="1">
                <a:solidFill>
                  <a:schemeClr val="bg1"/>
                </a:solidFill>
                <a:latin typeface="Arial" panose="020B0604020202020204" pitchFamily="34" charset="0"/>
                <a:ea typeface="돋움" panose="020B0600000101010101" pitchFamily="50" charset="-127"/>
              </a:defRPr>
            </a:lvl5pPr>
            <a:lvl6pPr marL="25146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marL="85725" indent="0"/>
            <a:r>
              <a:rPr kumimoji="0" lang="en-US" altLang="ko-KR" sz="1100" b="0" dirty="0">
                <a:solidFill>
                  <a:schemeClr val="tx1"/>
                </a:solidFill>
                <a:latin typeface="Arial Narrow" panose="020B0606020202030204" pitchFamily="34" charset="0"/>
                <a:ea typeface="LG스마트체 Regular" panose="020B0600000101010101" pitchFamily="50" charset="-127"/>
                <a:cs typeface="Arial" panose="020B0604020202020204" pitchFamily="34" charset="0"/>
              </a:rPr>
              <a:t>4. Blind test: </a:t>
            </a:r>
            <a:r>
              <a:rPr lang="en-US" altLang="ko-KR" sz="1100" b="0" dirty="0">
                <a:solidFill>
                  <a:schemeClr val="tx1"/>
                </a:solidFill>
                <a:latin typeface="Arial Narrow" panose="020B0606020202030204" pitchFamily="34" charset="0"/>
                <a:ea typeface="맑은 고딕" pitchFamily="50" charset="-127"/>
                <a:cs typeface="Arial" panose="020B0604020202020204" pitchFamily="34" charset="0"/>
              </a:rPr>
              <a:t>The measurer should not know the information of the   </a:t>
            </a:r>
          </a:p>
          <a:p>
            <a:pPr marL="85725" indent="0"/>
            <a:r>
              <a:rPr lang="en-US" altLang="ko-KR" sz="1100" b="0" dirty="0">
                <a:solidFill>
                  <a:schemeClr val="tx1"/>
                </a:solidFill>
                <a:latin typeface="Arial Narrow" panose="020B0606020202030204" pitchFamily="34" charset="0"/>
                <a:ea typeface="맑은 고딕" pitchFamily="50" charset="-127"/>
                <a:cs typeface="Arial" panose="020B0604020202020204" pitchFamily="34" charset="0"/>
              </a:rPr>
              <a:t>    sample to be measured, including the specifications.</a:t>
            </a:r>
          </a:p>
          <a:p>
            <a:pPr marL="85725" indent="0"/>
            <a:r>
              <a:rPr kumimoji="0" lang="en-US" altLang="ko-KR" sz="1100" b="0" dirty="0">
                <a:solidFill>
                  <a:schemeClr val="tx1"/>
                </a:solidFill>
                <a:latin typeface="Arial Narrow" panose="020B0606020202030204" pitchFamily="34" charset="0"/>
                <a:ea typeface="LG스마트체 Regular" panose="020B0600000101010101" pitchFamily="50" charset="-127"/>
                <a:cs typeface="Arial" panose="020B0604020202020204" pitchFamily="34" charset="0"/>
              </a:rPr>
              <a:t>5. Random: </a:t>
            </a:r>
            <a:r>
              <a:rPr lang="en-US" altLang="ko-KR" sz="1100" b="0" dirty="0">
                <a:solidFill>
                  <a:schemeClr val="tx1"/>
                </a:solidFill>
                <a:latin typeface="Arial Narrow" panose="020B0606020202030204" pitchFamily="34" charset="0"/>
                <a:ea typeface="맑은 고딕" pitchFamily="50" charset="-127"/>
                <a:cs typeface="Arial" panose="020B0604020202020204" pitchFamily="34" charset="0"/>
              </a:rPr>
              <a:t>The measuring sequence of the measurer and the sample to be measured and the repetition are determined randomly</a:t>
            </a:r>
            <a:endParaRPr lang="en-US" sz="1100" b="0" dirty="0">
              <a:solidFill>
                <a:schemeClr val="tx1"/>
              </a:solidFill>
              <a:latin typeface="Arial Narrow" panose="020B0606020202030204" pitchFamily="34" charset="0"/>
              <a:ea typeface="맑은 고딕" pitchFamily="50" charset="-127"/>
              <a:cs typeface="Arial" panose="020B0604020202020204" pitchFamily="34" charset="0"/>
            </a:endParaRPr>
          </a:p>
        </p:txBody>
      </p:sp>
      <p:sp>
        <p:nvSpPr>
          <p:cNvPr id="34" name="TextBox 33">
            <a:extLst>
              <a:ext uri="{FF2B5EF4-FFF2-40B4-BE49-F238E27FC236}">
                <a16:creationId xmlns:a16="http://schemas.microsoft.com/office/drawing/2014/main" id="{3350D879-356E-4F31-B8F9-217C5A758337}"/>
              </a:ext>
            </a:extLst>
          </p:cNvPr>
          <p:cNvSpPr txBox="1">
            <a:spLocks noChangeArrowheads="1"/>
          </p:cNvSpPr>
          <p:nvPr/>
        </p:nvSpPr>
        <p:spPr bwMode="auto">
          <a:xfrm>
            <a:off x="20639" y="1135063"/>
            <a:ext cx="273685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82563" indent="-182563">
              <a:defRPr kumimoji="1" sz="1300" b="1">
                <a:solidFill>
                  <a:schemeClr val="bg1"/>
                </a:solidFill>
                <a:latin typeface="Arial" panose="020B0604020202020204" pitchFamily="34" charset="0"/>
                <a:ea typeface="돋움" panose="020B0600000101010101" pitchFamily="50" charset="-127"/>
              </a:defRPr>
            </a:lvl1pPr>
            <a:lvl2pPr marL="742950" indent="-285750">
              <a:defRPr kumimoji="1" sz="1300" b="1">
                <a:solidFill>
                  <a:schemeClr val="bg1"/>
                </a:solidFill>
                <a:latin typeface="Arial" panose="020B0604020202020204" pitchFamily="34" charset="0"/>
                <a:ea typeface="돋움" panose="020B0600000101010101" pitchFamily="50" charset="-127"/>
              </a:defRPr>
            </a:lvl2pPr>
            <a:lvl3pPr marL="1143000" indent="-228600">
              <a:defRPr kumimoji="1" sz="1300" b="1">
                <a:solidFill>
                  <a:schemeClr val="bg1"/>
                </a:solidFill>
                <a:latin typeface="Arial" panose="020B0604020202020204" pitchFamily="34" charset="0"/>
                <a:ea typeface="돋움" panose="020B0600000101010101" pitchFamily="50" charset="-127"/>
              </a:defRPr>
            </a:lvl3pPr>
            <a:lvl4pPr marL="1600200" indent="-228600">
              <a:defRPr kumimoji="1" sz="1300" b="1">
                <a:solidFill>
                  <a:schemeClr val="bg1"/>
                </a:solidFill>
                <a:latin typeface="Arial" panose="020B0604020202020204" pitchFamily="34" charset="0"/>
                <a:ea typeface="돋움" panose="020B0600000101010101" pitchFamily="50" charset="-127"/>
              </a:defRPr>
            </a:lvl4pPr>
            <a:lvl5pPr marL="2057400" indent="-228600">
              <a:defRPr kumimoji="1" sz="1300" b="1">
                <a:solidFill>
                  <a:schemeClr val="bg1"/>
                </a:solidFill>
                <a:latin typeface="Arial" panose="020B0604020202020204" pitchFamily="34" charset="0"/>
                <a:ea typeface="돋움" panose="020B0600000101010101" pitchFamily="50" charset="-127"/>
              </a:defRPr>
            </a:lvl5pPr>
            <a:lvl6pPr marL="25146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eaLnBrk="1" latinLnBrk="1" hangingPunct="1">
              <a:buFont typeface="Wingdings" panose="05000000000000000000" pitchFamily="2" charset="2"/>
              <a:buChar char="q"/>
            </a:pPr>
            <a:r>
              <a:rPr lang="en-US" altLang="ko-KR" sz="1100"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rPr>
              <a:t>Measure System</a:t>
            </a:r>
            <a:endParaRPr lang="ko-KR" altLang="en-US" sz="1100"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endParaRPr>
          </a:p>
        </p:txBody>
      </p:sp>
      <p:cxnSp>
        <p:nvCxnSpPr>
          <p:cNvPr id="35" name="직선 연결선 135">
            <a:extLst>
              <a:ext uri="{FF2B5EF4-FFF2-40B4-BE49-F238E27FC236}">
                <a16:creationId xmlns:a16="http://schemas.microsoft.com/office/drawing/2014/main" id="{A915E7B1-5B69-43DA-A0DF-BDDC050D4DE4}"/>
              </a:ext>
            </a:extLst>
          </p:cNvPr>
          <p:cNvCxnSpPr/>
          <p:nvPr/>
        </p:nvCxnSpPr>
        <p:spPr>
          <a:xfrm>
            <a:off x="5025008" y="703213"/>
            <a:ext cx="0" cy="5148262"/>
          </a:xfrm>
          <a:prstGeom prst="line">
            <a:avLst/>
          </a:prstGeom>
          <a:ln w="222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6" name="TextBox 33">
            <a:extLst>
              <a:ext uri="{FF2B5EF4-FFF2-40B4-BE49-F238E27FC236}">
                <a16:creationId xmlns:a16="http://schemas.microsoft.com/office/drawing/2014/main" id="{B06093BB-830B-459E-B00D-A625FA58D657}"/>
              </a:ext>
            </a:extLst>
          </p:cNvPr>
          <p:cNvSpPr txBox="1">
            <a:spLocks noChangeArrowheads="1"/>
          </p:cNvSpPr>
          <p:nvPr/>
        </p:nvSpPr>
        <p:spPr bwMode="auto">
          <a:xfrm>
            <a:off x="5095441" y="1135098"/>
            <a:ext cx="273685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82563" indent="-182563">
              <a:defRPr kumimoji="1" sz="1300" b="1">
                <a:solidFill>
                  <a:schemeClr val="bg1"/>
                </a:solidFill>
                <a:latin typeface="Arial" panose="020B0604020202020204" pitchFamily="34" charset="0"/>
                <a:ea typeface="돋움" panose="020B0600000101010101" pitchFamily="50" charset="-127"/>
              </a:defRPr>
            </a:lvl1pPr>
            <a:lvl2pPr marL="742950" indent="-285750">
              <a:defRPr kumimoji="1" sz="1300" b="1">
                <a:solidFill>
                  <a:schemeClr val="bg1"/>
                </a:solidFill>
                <a:latin typeface="Arial" panose="020B0604020202020204" pitchFamily="34" charset="0"/>
                <a:ea typeface="돋움" panose="020B0600000101010101" pitchFamily="50" charset="-127"/>
              </a:defRPr>
            </a:lvl2pPr>
            <a:lvl3pPr marL="1143000" indent="-228600">
              <a:defRPr kumimoji="1" sz="1300" b="1">
                <a:solidFill>
                  <a:schemeClr val="bg1"/>
                </a:solidFill>
                <a:latin typeface="Arial" panose="020B0604020202020204" pitchFamily="34" charset="0"/>
                <a:ea typeface="돋움" panose="020B0600000101010101" pitchFamily="50" charset="-127"/>
              </a:defRPr>
            </a:lvl3pPr>
            <a:lvl4pPr marL="1600200" indent="-228600">
              <a:defRPr kumimoji="1" sz="1300" b="1">
                <a:solidFill>
                  <a:schemeClr val="bg1"/>
                </a:solidFill>
                <a:latin typeface="Arial" panose="020B0604020202020204" pitchFamily="34" charset="0"/>
                <a:ea typeface="돋움" panose="020B0600000101010101" pitchFamily="50" charset="-127"/>
              </a:defRPr>
            </a:lvl4pPr>
            <a:lvl5pPr marL="2057400" indent="-228600">
              <a:defRPr kumimoji="1" sz="1300" b="1">
                <a:solidFill>
                  <a:schemeClr val="bg1"/>
                </a:solidFill>
                <a:latin typeface="Arial" panose="020B0604020202020204" pitchFamily="34" charset="0"/>
                <a:ea typeface="돋움" panose="020B0600000101010101" pitchFamily="50" charset="-127"/>
              </a:defRPr>
            </a:lvl5pPr>
            <a:lvl6pPr marL="25146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eaLnBrk="1" latinLnBrk="1" hangingPunct="1">
              <a:buFont typeface="Wingdings" panose="05000000000000000000" pitchFamily="2" charset="2"/>
              <a:buChar char="q"/>
            </a:pPr>
            <a:r>
              <a:rPr lang="en-US" altLang="ko-KR" sz="1100"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rPr>
              <a:t>How to get sample (sampling)</a:t>
            </a:r>
            <a:endParaRPr lang="ko-KR" altLang="en-US" sz="1100"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endParaRPr>
          </a:p>
        </p:txBody>
      </p:sp>
      <p:sp>
        <p:nvSpPr>
          <p:cNvPr id="30" name="Text Box 14">
            <a:extLst>
              <a:ext uri="{FF2B5EF4-FFF2-40B4-BE49-F238E27FC236}">
                <a16:creationId xmlns:a16="http://schemas.microsoft.com/office/drawing/2014/main" id="{4B253ADA-8AF7-4F42-A5DC-B00555BD6DFD}"/>
              </a:ext>
            </a:extLst>
          </p:cNvPr>
          <p:cNvSpPr txBox="1">
            <a:spLocks noChangeArrowheads="1"/>
          </p:cNvSpPr>
          <p:nvPr/>
        </p:nvSpPr>
        <p:spPr bwMode="auto">
          <a:xfrm>
            <a:off x="60115" y="542789"/>
            <a:ext cx="8304213" cy="584391"/>
          </a:xfrm>
          <a:prstGeom prst="rect">
            <a:avLst/>
          </a:prstGeom>
          <a:noFill/>
          <a:ln w="9525" algn="ctr">
            <a:noFill/>
            <a:miter lim="800000"/>
            <a:headEnd/>
            <a:tailEnd/>
          </a:ln>
        </p:spPr>
        <p:txBody>
          <a:bodyPr>
            <a:spAutoFit/>
          </a:bodyPr>
          <a:lstStyle/>
          <a:p>
            <a:pPr defTabSz="912807">
              <a:lnSpc>
                <a:spcPct val="120000"/>
              </a:lnSpc>
              <a:buFont typeface="Wingdings" panose="05000000000000000000" pitchFamily="2" charset="2"/>
              <a:buChar char="§"/>
            </a:pPr>
            <a:r>
              <a:rPr lang="en-US" altLang="ko-KR" sz="1400" b="1" dirty="0">
                <a:latin typeface="Arial Narrow" panose="020B0606020202030204" pitchFamily="34" charset="0"/>
                <a:ea typeface="LG스마트체 Regular" panose="020B0600000101010101" pitchFamily="50" charset="-127"/>
                <a:cs typeface="Arial" panose="020B0604020202020204" pitchFamily="34" charset="0"/>
              </a:rPr>
              <a:t> Model: RENAULT AIVI2</a:t>
            </a:r>
          </a:p>
          <a:p>
            <a:pPr defTabSz="912807">
              <a:lnSpc>
                <a:spcPct val="120000"/>
              </a:lnSpc>
              <a:buFont typeface="Wingdings" panose="05000000000000000000" pitchFamily="2" charset="2"/>
              <a:buChar char="§"/>
            </a:pPr>
            <a:r>
              <a:rPr lang="en-US" altLang="ko-KR" sz="1400" b="1" dirty="0">
                <a:latin typeface="Arial Narrow" panose="020B0606020202030204" pitchFamily="34" charset="0"/>
                <a:ea typeface="LG스마트체 Regular" panose="020B0600000101010101" pitchFamily="50" charset="-127"/>
                <a:cs typeface="Arial" panose="020B0604020202020204" pitchFamily="34" charset="0"/>
              </a:rPr>
              <a:t> Part name:</a:t>
            </a:r>
            <a:endParaRPr lang="ko-KR" altLang="en-US" sz="1400" b="1" dirty="0">
              <a:latin typeface="Arial Narrow" panose="020B0606020202030204" pitchFamily="34" charset="0"/>
              <a:ea typeface="LG스마트체 Regular" panose="020B0600000101010101" pitchFamily="50" charset="-127"/>
              <a:cs typeface="Arial" panose="020B0604020202020204" pitchFamily="34" charset="0"/>
            </a:endParaRPr>
          </a:p>
        </p:txBody>
      </p:sp>
      <p:sp>
        <p:nvSpPr>
          <p:cNvPr id="47" name="Rectangle 46">
            <a:extLst>
              <a:ext uri="{FF2B5EF4-FFF2-40B4-BE49-F238E27FC236}">
                <a16:creationId xmlns:a16="http://schemas.microsoft.com/office/drawing/2014/main" id="{2407AFD9-28A7-482C-9829-041A5F3E549B}"/>
              </a:ext>
            </a:extLst>
          </p:cNvPr>
          <p:cNvSpPr/>
          <p:nvPr/>
        </p:nvSpPr>
        <p:spPr>
          <a:xfrm>
            <a:off x="5248648" y="1395916"/>
            <a:ext cx="4301752" cy="1107996"/>
          </a:xfrm>
          <a:prstGeom prst="rect">
            <a:avLst/>
          </a:prstGeom>
        </p:spPr>
        <p:txBody>
          <a:bodyPr wrap="square">
            <a:spAutoFit/>
          </a:bodyPr>
          <a:lstStyle/>
          <a:p>
            <a:r>
              <a:rPr lang="en-US" altLang="ko-KR" sz="1100" b="1" dirty="0">
                <a:latin typeface="Arial Narrow" panose="020B0606020202030204" pitchFamily="34" charset="0"/>
                <a:ea typeface="맑은 고딕" pitchFamily="50" charset="-127"/>
              </a:rPr>
              <a:t>A sample which contains the entire spec or the dispersion of the process should be selected</a:t>
            </a:r>
          </a:p>
          <a:p>
            <a:pPr marL="228598" indent="-228598">
              <a:defRPr/>
            </a:pPr>
            <a:r>
              <a:rPr lang="en-US" altLang="ko-KR" sz="1100" b="1" kern="0" dirty="0">
                <a:latin typeface="Arial Narrow" panose="020B0606020202030204" pitchFamily="34" charset="0"/>
                <a:ea typeface="맑은 고딕" pitchFamily="50" charset="-127"/>
              </a:rPr>
              <a:t>   </a:t>
            </a:r>
            <a:r>
              <a:rPr lang="ko-KR" altLang="en-US" sz="1100" kern="0" dirty="0">
                <a:solidFill>
                  <a:sysClr val="windowText" lastClr="000000"/>
                </a:solidFill>
                <a:latin typeface="Arial Narrow" panose="020B0606020202030204" pitchFamily="34" charset="0"/>
                <a:ea typeface="맑은 고딕" pitchFamily="50" charset="-127"/>
              </a:rPr>
              <a:t> </a:t>
            </a:r>
            <a:r>
              <a:rPr lang="en-US" altLang="ko-KR" sz="1100" kern="0" dirty="0">
                <a:solidFill>
                  <a:sysClr val="windowText" lastClr="000000"/>
                </a:solidFill>
                <a:latin typeface="Arial Narrow" panose="020B0606020202030204" pitchFamily="34" charset="0"/>
                <a:ea typeface="맑은 고딕" pitchFamily="50" charset="-127"/>
              </a:rPr>
              <a:t>- Normally ± 10 to 20% is recommended, but it should be selected considering the current state of the goods in stock!</a:t>
            </a:r>
          </a:p>
          <a:p>
            <a:pPr marL="228598" indent="-228598"/>
            <a:r>
              <a:rPr lang="en-US" altLang="ko-KR" sz="1100" kern="0" dirty="0">
                <a:solidFill>
                  <a:sysClr val="windowText" lastClr="000000"/>
                </a:solidFill>
                <a:latin typeface="Arial Narrow" panose="020B0606020202030204" pitchFamily="34" charset="0"/>
                <a:ea typeface="맑은 고딕" pitchFamily="50" charset="-127"/>
              </a:rPr>
              <a:t>   - </a:t>
            </a:r>
            <a:r>
              <a:rPr lang="en-US" sz="1100" dirty="0">
                <a:latin typeface="Arial Narrow" panose="020B0606020202030204" pitchFamily="34" charset="0"/>
              </a:rPr>
              <a:t>The choice of sample should reflect the state of the process</a:t>
            </a:r>
          </a:p>
          <a:p>
            <a:pPr marL="228598" indent="-228598"/>
            <a:r>
              <a:rPr lang="en-US" sz="1100" dirty="0">
                <a:latin typeface="Arial Narrow" panose="020B0606020202030204" pitchFamily="34" charset="0"/>
              </a:rPr>
              <a:t>   -  Pick NG/OK samples, including sample near spec.</a:t>
            </a:r>
          </a:p>
        </p:txBody>
      </p:sp>
      <p:pic>
        <p:nvPicPr>
          <p:cNvPr id="4" name="Picture 2" descr="https://f20-zpg.zdn.vn/7281681093360869002/4f990aa57e94b6caef85.jpg">
            <a:extLst>
              <a:ext uri="{FF2B5EF4-FFF2-40B4-BE49-F238E27FC236}">
                <a16:creationId xmlns:a16="http://schemas.microsoft.com/office/drawing/2014/main" id="{D5F55597-4C14-755C-2839-A6AA03C8AB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969" y="2511849"/>
            <a:ext cx="4267200" cy="1457668"/>
          </a:xfrm>
          <a:prstGeom prst="rect">
            <a:avLst/>
          </a:prstGeom>
          <a:noFill/>
          <a:extLst>
            <a:ext uri="{909E8E84-426E-40DD-AFC4-6F175D3DCCD1}">
              <a14:hiddenFill xmlns:a14="http://schemas.microsoft.com/office/drawing/2010/main">
                <a:solidFill>
                  <a:srgbClr val="FFFFFF"/>
                </a:solidFill>
              </a14:hiddenFill>
            </a:ext>
          </a:extLst>
        </p:spPr>
      </p:pic>
      <p:sp>
        <p:nvSpPr>
          <p:cNvPr id="2" name="AutoShape 55">
            <a:extLst>
              <a:ext uri="{FF2B5EF4-FFF2-40B4-BE49-F238E27FC236}">
                <a16:creationId xmlns:a16="http://schemas.microsoft.com/office/drawing/2014/main" id="{EA4143E4-F89B-F07B-3D2C-D6E677BB9FCD}"/>
              </a:ext>
            </a:extLst>
          </p:cNvPr>
          <p:cNvSpPr>
            <a:spLocks noChangeArrowheads="1"/>
          </p:cNvSpPr>
          <p:nvPr/>
        </p:nvSpPr>
        <p:spPr bwMode="auto">
          <a:xfrm>
            <a:off x="9137654" y="22542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cs typeface="Arial" panose="020B0604020202020204" pitchFamily="34" charset="0"/>
              </a:rPr>
              <a:t>Control</a:t>
            </a:r>
          </a:p>
        </p:txBody>
      </p:sp>
      <p:sp>
        <p:nvSpPr>
          <p:cNvPr id="3" name="AutoShape 56">
            <a:extLst>
              <a:ext uri="{FF2B5EF4-FFF2-40B4-BE49-F238E27FC236}">
                <a16:creationId xmlns:a16="http://schemas.microsoft.com/office/drawing/2014/main" id="{737A4C11-6C75-94CA-7B80-298F12507566}"/>
              </a:ext>
            </a:extLst>
          </p:cNvPr>
          <p:cNvSpPr>
            <a:spLocks noChangeArrowheads="1"/>
          </p:cNvSpPr>
          <p:nvPr/>
        </p:nvSpPr>
        <p:spPr bwMode="auto">
          <a:xfrm>
            <a:off x="8448678" y="22542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cs typeface="Arial" panose="020B0604020202020204" pitchFamily="34" charset="0"/>
              </a:rPr>
              <a:t>Improve</a:t>
            </a:r>
          </a:p>
        </p:txBody>
      </p:sp>
      <p:sp>
        <p:nvSpPr>
          <p:cNvPr id="5" name="AutoShape 57">
            <a:extLst>
              <a:ext uri="{FF2B5EF4-FFF2-40B4-BE49-F238E27FC236}">
                <a16:creationId xmlns:a16="http://schemas.microsoft.com/office/drawing/2014/main" id="{4C2205FD-9E71-BBB2-55C7-463436246BAA}"/>
              </a:ext>
            </a:extLst>
          </p:cNvPr>
          <p:cNvSpPr>
            <a:spLocks noChangeArrowheads="1"/>
          </p:cNvSpPr>
          <p:nvPr/>
        </p:nvSpPr>
        <p:spPr bwMode="auto">
          <a:xfrm>
            <a:off x="7756525" y="225425"/>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cs typeface="Arial" panose="020B0604020202020204" pitchFamily="34" charset="0"/>
              </a:rPr>
              <a:t>Analyze</a:t>
            </a:r>
          </a:p>
        </p:txBody>
      </p:sp>
      <p:sp>
        <p:nvSpPr>
          <p:cNvPr id="6" name="AutoShape 59">
            <a:extLst>
              <a:ext uri="{FF2B5EF4-FFF2-40B4-BE49-F238E27FC236}">
                <a16:creationId xmlns:a16="http://schemas.microsoft.com/office/drawing/2014/main" id="{0816A58E-E20F-C297-DB93-B79A17A1646C}"/>
              </a:ext>
            </a:extLst>
          </p:cNvPr>
          <p:cNvSpPr>
            <a:spLocks noChangeArrowheads="1"/>
          </p:cNvSpPr>
          <p:nvPr/>
        </p:nvSpPr>
        <p:spPr bwMode="auto">
          <a:xfrm>
            <a:off x="6388101" y="22542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cs typeface="Arial" panose="020B0604020202020204" pitchFamily="34" charset="0"/>
              </a:rPr>
              <a:t>Define</a:t>
            </a:r>
          </a:p>
        </p:txBody>
      </p:sp>
      <p:sp>
        <p:nvSpPr>
          <p:cNvPr id="7" name="AutoShape 58">
            <a:extLst>
              <a:ext uri="{FF2B5EF4-FFF2-40B4-BE49-F238E27FC236}">
                <a16:creationId xmlns:a16="http://schemas.microsoft.com/office/drawing/2014/main" id="{8DAC50B3-16D7-FB0F-138E-CCEC4D5A4DA5}"/>
              </a:ext>
            </a:extLst>
          </p:cNvPr>
          <p:cNvSpPr>
            <a:spLocks noChangeArrowheads="1"/>
          </p:cNvSpPr>
          <p:nvPr/>
        </p:nvSpPr>
        <p:spPr bwMode="auto">
          <a:xfrm>
            <a:off x="7085014" y="80967"/>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latin typeface="Arial Narrow" panose="020B0606020202030204" pitchFamily="34" charset="0"/>
                <a:ea typeface="맑은 고딕" panose="020B0503020000020004" pitchFamily="50" charset="-127"/>
                <a:cs typeface="Arial" panose="020B0604020202020204" pitchFamily="34" charset="0"/>
              </a:rPr>
              <a:t>Measure </a:t>
            </a:r>
          </a:p>
        </p:txBody>
      </p:sp>
    </p:spTree>
    <p:extLst>
      <p:ext uri="{BB962C8B-B14F-4D97-AF65-F5344CB8AC3E}">
        <p14:creationId xmlns:p14="http://schemas.microsoft.com/office/powerpoint/2010/main" val="2103318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1"/>
          <p:cNvSpPr txBox="1">
            <a:spLocks/>
          </p:cNvSpPr>
          <p:nvPr/>
        </p:nvSpPr>
        <p:spPr>
          <a:xfrm>
            <a:off x="161494" y="547552"/>
            <a:ext cx="1900391" cy="418058"/>
          </a:xfrm>
          <a:prstGeom prst="rect">
            <a:avLst/>
          </a:prstGeom>
        </p:spPr>
        <p:txBody>
          <a:bodyPr vert="horz" lIns="91440" tIns="45720" rIns="91440" bIns="45720" rtlCol="0" anchor="ctr">
            <a:normAutofit/>
          </a:bodyPr>
          <a:lstStyle/>
          <a:p>
            <a:pPr eaLnBrk="0" hangingPunct="0">
              <a:defRPr/>
            </a:pPr>
            <a:r>
              <a:rPr lang="en-US" altLang="ko-KR" sz="1600" b="1" kern="0" dirty="0">
                <a:solidFill>
                  <a:srgbClr val="000000"/>
                </a:solidFill>
                <a:latin typeface="Arial Narrow" panose="020B0606020202030204" pitchFamily="34" charset="0"/>
                <a:ea typeface="LG스마트체 Regular" panose="020B0600000101010101" pitchFamily="50" charset="-127"/>
                <a:cs typeface="+mj-cs"/>
              </a:rPr>
              <a:t>2.</a:t>
            </a:r>
            <a:r>
              <a:rPr lang="vi-VN" altLang="ko-KR" sz="1600" b="1" kern="0" dirty="0">
                <a:solidFill>
                  <a:srgbClr val="000000"/>
                </a:solidFill>
                <a:latin typeface="Arial"/>
                <a:ea typeface="LG스마트체 Regular" panose="020B0600000101010101" pitchFamily="50" charset="-127"/>
                <a:cs typeface="+mj-cs"/>
              </a:rPr>
              <a:t>1</a:t>
            </a:r>
            <a:r>
              <a:rPr lang="en-US" altLang="ko-KR" sz="1600" b="1" kern="0" dirty="0">
                <a:solidFill>
                  <a:srgbClr val="000000"/>
                </a:solidFill>
                <a:latin typeface="Arial"/>
                <a:ea typeface="LG스마트체 Regular" panose="020B0600000101010101" pitchFamily="50" charset="-127"/>
                <a:cs typeface="+mj-cs"/>
              </a:rPr>
              <a:t>.</a:t>
            </a:r>
            <a:r>
              <a:rPr lang="en-US" altLang="ko-KR" sz="1600" b="1" kern="0" dirty="0">
                <a:solidFill>
                  <a:srgbClr val="000000"/>
                </a:solidFill>
                <a:latin typeface="Arial Narrow" panose="020B0606020202030204" pitchFamily="34" charset="0"/>
                <a:ea typeface="LG스마트체 Regular" panose="020B0600000101010101" pitchFamily="50" charset="-127"/>
                <a:cs typeface="+mj-cs"/>
              </a:rPr>
              <a:t> Type 1 Study</a:t>
            </a:r>
            <a:endParaRPr lang="ko-KR" altLang="en-US" sz="1600" b="1" kern="0" dirty="0">
              <a:solidFill>
                <a:srgbClr val="000000"/>
              </a:solidFill>
              <a:latin typeface="Arial Narrow" panose="020B0606020202030204" pitchFamily="34" charset="0"/>
              <a:ea typeface="LG스마트체 Regular" panose="020B0600000101010101" pitchFamily="50" charset="-127"/>
              <a:cs typeface="+mj-cs"/>
            </a:endParaRPr>
          </a:p>
        </p:txBody>
      </p:sp>
      <p:sp>
        <p:nvSpPr>
          <p:cNvPr id="15" name="제목 1">
            <a:extLst>
              <a:ext uri="{FF2B5EF4-FFF2-40B4-BE49-F238E27FC236}">
                <a16:creationId xmlns:a16="http://schemas.microsoft.com/office/drawing/2014/main" id="{3E8C0CE1-B90F-4CA4-A6FC-E2B4032F93A9}"/>
              </a:ext>
            </a:extLst>
          </p:cNvPr>
          <p:cNvSpPr>
            <a:spLocks noGrp="1"/>
          </p:cNvSpPr>
          <p:nvPr>
            <p:ph type="title"/>
          </p:nvPr>
        </p:nvSpPr>
        <p:spPr>
          <a:xfrm>
            <a:off x="56458" y="116632"/>
            <a:ext cx="2588357" cy="418058"/>
          </a:xfrm>
        </p:spPr>
        <p:txBody>
          <a:bodyPr>
            <a:noAutofit/>
          </a:bodyPr>
          <a:lstStyle/>
          <a:p>
            <a:r>
              <a:rPr lang="en-US" altLang="ko-KR" sz="2000" b="1" dirty="0">
                <a:latin typeface="Arial Narrow" panose="020B0606020202030204" pitchFamily="34" charset="0"/>
                <a:ea typeface="LG스마트체 Regular" panose="020B0600000101010101" pitchFamily="50" charset="-127"/>
              </a:rPr>
              <a:t>2. Result of Gage Study</a:t>
            </a:r>
            <a:endParaRPr lang="ko-KR" altLang="en-US" sz="2000" b="1" dirty="0">
              <a:latin typeface="Arial Narrow" panose="020B0606020202030204" pitchFamily="34" charset="0"/>
              <a:ea typeface="LG스마트체 Regular" panose="020B0600000101010101" pitchFamily="50" charset="-127"/>
            </a:endParaRPr>
          </a:p>
        </p:txBody>
      </p:sp>
      <p:cxnSp>
        <p:nvCxnSpPr>
          <p:cNvPr id="19" name="Straight Connector 18">
            <a:extLst>
              <a:ext uri="{FF2B5EF4-FFF2-40B4-BE49-F238E27FC236}">
                <a16:creationId xmlns:a16="http://schemas.microsoft.com/office/drawing/2014/main" id="{6FA3D55D-7EC9-427F-BAED-59A398563D64}"/>
              </a:ext>
            </a:extLst>
          </p:cNvPr>
          <p:cNvCxnSpPr/>
          <p:nvPr/>
        </p:nvCxnSpPr>
        <p:spPr>
          <a:xfrm>
            <a:off x="-12488" y="561513"/>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8" name="AutoShape 55">
            <a:extLst>
              <a:ext uri="{FF2B5EF4-FFF2-40B4-BE49-F238E27FC236}">
                <a16:creationId xmlns:a16="http://schemas.microsoft.com/office/drawing/2014/main" id="{75F57CB2-CFD6-4CFA-A765-D2C9D76B7DD4}"/>
              </a:ext>
            </a:extLst>
          </p:cNvPr>
          <p:cNvSpPr>
            <a:spLocks noChangeArrowheads="1"/>
          </p:cNvSpPr>
          <p:nvPr/>
        </p:nvSpPr>
        <p:spPr bwMode="auto">
          <a:xfrm>
            <a:off x="9137654" y="22542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cs typeface="Arial" panose="020B0604020202020204" pitchFamily="34" charset="0"/>
              </a:rPr>
              <a:t>Control</a:t>
            </a:r>
          </a:p>
        </p:txBody>
      </p:sp>
      <p:sp>
        <p:nvSpPr>
          <p:cNvPr id="20" name="AutoShape 56">
            <a:extLst>
              <a:ext uri="{FF2B5EF4-FFF2-40B4-BE49-F238E27FC236}">
                <a16:creationId xmlns:a16="http://schemas.microsoft.com/office/drawing/2014/main" id="{A6141158-D516-4CD8-BAB3-AF70A597B876}"/>
              </a:ext>
            </a:extLst>
          </p:cNvPr>
          <p:cNvSpPr>
            <a:spLocks noChangeArrowheads="1"/>
          </p:cNvSpPr>
          <p:nvPr/>
        </p:nvSpPr>
        <p:spPr bwMode="auto">
          <a:xfrm>
            <a:off x="8448678" y="22542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cs typeface="Arial" panose="020B0604020202020204" pitchFamily="34" charset="0"/>
              </a:rPr>
              <a:t>Improve</a:t>
            </a:r>
          </a:p>
        </p:txBody>
      </p:sp>
      <p:sp>
        <p:nvSpPr>
          <p:cNvPr id="21" name="AutoShape 57">
            <a:extLst>
              <a:ext uri="{FF2B5EF4-FFF2-40B4-BE49-F238E27FC236}">
                <a16:creationId xmlns:a16="http://schemas.microsoft.com/office/drawing/2014/main" id="{AEAF99E9-0F96-4A76-835B-7872B23F3358}"/>
              </a:ext>
            </a:extLst>
          </p:cNvPr>
          <p:cNvSpPr>
            <a:spLocks noChangeArrowheads="1"/>
          </p:cNvSpPr>
          <p:nvPr/>
        </p:nvSpPr>
        <p:spPr bwMode="auto">
          <a:xfrm>
            <a:off x="7756525" y="225425"/>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cs typeface="Arial" panose="020B0604020202020204" pitchFamily="34" charset="0"/>
              </a:rPr>
              <a:t>Analyze</a:t>
            </a:r>
          </a:p>
        </p:txBody>
      </p:sp>
      <p:sp>
        <p:nvSpPr>
          <p:cNvPr id="22" name="AutoShape 59">
            <a:extLst>
              <a:ext uri="{FF2B5EF4-FFF2-40B4-BE49-F238E27FC236}">
                <a16:creationId xmlns:a16="http://schemas.microsoft.com/office/drawing/2014/main" id="{E7A9A795-A3B4-43B7-AFF6-C9B627970315}"/>
              </a:ext>
            </a:extLst>
          </p:cNvPr>
          <p:cNvSpPr>
            <a:spLocks noChangeArrowheads="1"/>
          </p:cNvSpPr>
          <p:nvPr/>
        </p:nvSpPr>
        <p:spPr bwMode="auto">
          <a:xfrm>
            <a:off x="6388101" y="22542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cs typeface="Arial" panose="020B0604020202020204" pitchFamily="34" charset="0"/>
              </a:rPr>
              <a:t>Define</a:t>
            </a:r>
          </a:p>
        </p:txBody>
      </p:sp>
      <p:sp>
        <p:nvSpPr>
          <p:cNvPr id="23" name="AutoShape 58">
            <a:extLst>
              <a:ext uri="{FF2B5EF4-FFF2-40B4-BE49-F238E27FC236}">
                <a16:creationId xmlns:a16="http://schemas.microsoft.com/office/drawing/2014/main" id="{BD83A7E0-0117-4C9A-9322-FB26087CCF5A}"/>
              </a:ext>
            </a:extLst>
          </p:cNvPr>
          <p:cNvSpPr>
            <a:spLocks noChangeArrowheads="1"/>
          </p:cNvSpPr>
          <p:nvPr/>
        </p:nvSpPr>
        <p:spPr bwMode="auto">
          <a:xfrm>
            <a:off x="7085014" y="80967"/>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latin typeface="Arial Narrow" panose="020B0606020202030204" pitchFamily="34" charset="0"/>
                <a:ea typeface="맑은 고딕" panose="020B0503020000020004" pitchFamily="50" charset="-127"/>
                <a:cs typeface="Arial" panose="020B0604020202020204" pitchFamily="34" charset="0"/>
              </a:rPr>
              <a:t>Measure </a:t>
            </a:r>
          </a:p>
        </p:txBody>
      </p:sp>
      <p:sp>
        <p:nvSpPr>
          <p:cNvPr id="17" name="TextBox 16">
            <a:extLst>
              <a:ext uri="{FF2B5EF4-FFF2-40B4-BE49-F238E27FC236}">
                <a16:creationId xmlns:a16="http://schemas.microsoft.com/office/drawing/2014/main" id="{0423EB17-AB0A-40EF-BE1C-1C8393306A67}"/>
              </a:ext>
            </a:extLst>
          </p:cNvPr>
          <p:cNvSpPr txBox="1"/>
          <p:nvPr/>
        </p:nvSpPr>
        <p:spPr>
          <a:xfrm>
            <a:off x="2741436" y="5561688"/>
            <a:ext cx="6454955" cy="769441"/>
          </a:xfrm>
          <a:prstGeom prst="rect">
            <a:avLst/>
          </a:prstGeom>
          <a:noFill/>
        </p:spPr>
        <p:txBody>
          <a:bodyPr wrap="square" rtlCol="0">
            <a:spAutoFit/>
          </a:bodyPr>
          <a:lstStyle/>
          <a:p>
            <a:r>
              <a:rPr lang="en-US" sz="1100" b="1" dirty="0">
                <a:latin typeface="Arial Narrow" panose="020B0606020202030204" pitchFamily="34" charset="0"/>
                <a:cs typeface="Arial" pitchFamily="34" charset="0"/>
              </a:rPr>
              <a:t>- Method</a:t>
            </a:r>
            <a:r>
              <a:rPr lang="en-US" sz="1100" dirty="0">
                <a:latin typeface="Arial Narrow" panose="020B0606020202030204" pitchFamily="34" charset="0"/>
                <a:cs typeface="Arial" pitchFamily="34" charset="0"/>
              </a:rPr>
              <a:t>: Choose 1 QC member who skill well, measure 1 part 30 times same measure method to verify the measurement system, look at chart, we see “Resolution: 0.001&lt;5% of Tol” </a:t>
            </a:r>
            <a:r>
              <a:rPr lang="en-US" sz="1100" dirty="0">
                <a:latin typeface="Arial Narrow" panose="020B0606020202030204" pitchFamily="34" charset="0"/>
                <a:cs typeface="Arial" pitchFamily="34" charset="0"/>
                <a:sym typeface="Wingdings" pitchFamily="2" charset="2"/>
              </a:rPr>
              <a:t></a:t>
            </a:r>
            <a:r>
              <a:rPr lang="en-US" sz="1100" dirty="0">
                <a:latin typeface="Arial Narrow" panose="020B0606020202030204" pitchFamily="34" charset="0"/>
                <a:cs typeface="Arial" pitchFamily="34" charset="0"/>
              </a:rPr>
              <a:t> Resolution of equipment is OK and Cg, </a:t>
            </a:r>
            <a:r>
              <a:rPr lang="en-US" sz="1100" dirty="0" err="1">
                <a:latin typeface="Arial Narrow" panose="020B0606020202030204" pitchFamily="34" charset="0"/>
                <a:cs typeface="Arial" pitchFamily="34" charset="0"/>
              </a:rPr>
              <a:t>Cgk</a:t>
            </a:r>
            <a:r>
              <a:rPr lang="en-US" sz="1100" dirty="0">
                <a:latin typeface="Arial Narrow" panose="020B0606020202030204" pitchFamily="34" charset="0"/>
                <a:cs typeface="Arial" pitchFamily="34" charset="0"/>
              </a:rPr>
              <a:t> &gt;1.33 </a:t>
            </a:r>
            <a:r>
              <a:rPr lang="en-US" sz="1100" b="1" dirty="0">
                <a:solidFill>
                  <a:srgbClr val="92D050"/>
                </a:solidFill>
                <a:latin typeface="Arial Narrow" panose="020B0606020202030204" pitchFamily="34" charset="0"/>
                <a:cs typeface="Arial" pitchFamily="34" charset="0"/>
              </a:rPr>
              <a:t>(OK)</a:t>
            </a:r>
            <a:endParaRPr lang="en-US" sz="1100" b="1" dirty="0">
              <a:solidFill>
                <a:srgbClr val="92D050"/>
              </a:solidFill>
              <a:latin typeface="Arial Narrow" panose="020B0606020202030204" pitchFamily="34" charset="0"/>
              <a:cs typeface="Arial" pitchFamily="34" charset="0"/>
              <a:sym typeface="Wingdings" pitchFamily="2" charset="2"/>
            </a:endParaRPr>
          </a:p>
          <a:p>
            <a:r>
              <a:rPr lang="en-US" sz="1100" b="1" dirty="0">
                <a:latin typeface="Arial Narrow" panose="020B0606020202030204" pitchFamily="34" charset="0"/>
                <a:cs typeface="Arial" pitchFamily="34" charset="0"/>
              </a:rPr>
              <a:t>- Conclusion</a:t>
            </a:r>
            <a:r>
              <a:rPr lang="en-US" sz="1100" dirty="0">
                <a:latin typeface="Arial Narrow" panose="020B0606020202030204" pitchFamily="34" charset="0"/>
                <a:cs typeface="Arial" pitchFamily="34" charset="0"/>
              </a:rPr>
              <a:t>: Equipment is OK and can use to measure and analysis.</a:t>
            </a:r>
            <a:endParaRPr lang="en-US" sz="1100" dirty="0">
              <a:latin typeface="Arial Narrow" panose="020B0606020202030204" pitchFamily="34" charset="0"/>
              <a:cs typeface="Arial" pitchFamily="34" charset="0"/>
              <a:sym typeface="Wingdings" pitchFamily="2" charset="2"/>
            </a:endParaRPr>
          </a:p>
          <a:p>
            <a:r>
              <a:rPr lang="en-US" sz="1100" dirty="0">
                <a:latin typeface="Arial Narrow" panose="020B0606020202030204" pitchFamily="34" charset="0"/>
              </a:rPr>
              <a:t> </a:t>
            </a:r>
          </a:p>
        </p:txBody>
      </p:sp>
      <p:sp>
        <p:nvSpPr>
          <p:cNvPr id="28" name="TextBox 27">
            <a:extLst>
              <a:ext uri="{FF2B5EF4-FFF2-40B4-BE49-F238E27FC236}">
                <a16:creationId xmlns:a16="http://schemas.microsoft.com/office/drawing/2014/main" id="{0C03052E-422A-4249-9AB9-02DB46A52D58}"/>
              </a:ext>
            </a:extLst>
          </p:cNvPr>
          <p:cNvSpPr txBox="1"/>
          <p:nvPr/>
        </p:nvSpPr>
        <p:spPr>
          <a:xfrm>
            <a:off x="4401999" y="4690813"/>
            <a:ext cx="1435008" cy="769441"/>
          </a:xfrm>
          <a:prstGeom prst="rect">
            <a:avLst/>
          </a:prstGeom>
          <a:noFill/>
        </p:spPr>
        <p:txBody>
          <a:bodyPr wrap="none" rtlCol="0">
            <a:spAutoFit/>
          </a:bodyPr>
          <a:lstStyle/>
          <a:p>
            <a:r>
              <a:rPr lang="en-US" sz="1100" b="1" u="sng" dirty="0">
                <a:solidFill>
                  <a:srgbClr val="000000"/>
                </a:solidFill>
                <a:latin typeface="Arial Narrow" panose="020B0606020202030204" pitchFamily="34" charset="0"/>
                <a:ea typeface="LG Smart_H Regular" pitchFamily="34" charset="-127"/>
                <a:cs typeface="Arial" pitchFamily="34" charset="0"/>
              </a:rPr>
              <a:t>Result:</a:t>
            </a:r>
          </a:p>
          <a:p>
            <a:r>
              <a:rPr lang="en-US" sz="1100" dirty="0">
                <a:solidFill>
                  <a:srgbClr val="000000"/>
                </a:solidFill>
                <a:latin typeface="Arial Narrow" panose="020B0606020202030204" pitchFamily="34" charset="0"/>
                <a:ea typeface="LG Smart_H Regular" pitchFamily="34" charset="-127"/>
                <a:cs typeface="Arial" pitchFamily="34" charset="0"/>
              </a:rPr>
              <a:t>- </a:t>
            </a:r>
            <a:r>
              <a:rPr lang="en-US" sz="1100" dirty="0" err="1">
                <a:solidFill>
                  <a:srgbClr val="000000"/>
                </a:solidFill>
                <a:latin typeface="Arial Narrow" panose="020B0606020202030204" pitchFamily="34" charset="0"/>
                <a:ea typeface="LG Smart_H Regular" pitchFamily="34" charset="-127"/>
                <a:cs typeface="Arial" pitchFamily="34" charset="0"/>
              </a:rPr>
              <a:t>StDev</a:t>
            </a:r>
            <a:r>
              <a:rPr lang="en-US" sz="1100" dirty="0">
                <a:solidFill>
                  <a:srgbClr val="000000"/>
                </a:solidFill>
                <a:latin typeface="Arial Narrow" panose="020B0606020202030204" pitchFamily="34" charset="0"/>
                <a:ea typeface="LG Smart_H Regular" pitchFamily="34" charset="-127"/>
                <a:cs typeface="Arial" pitchFamily="34" charset="0"/>
              </a:rPr>
              <a:t>: 0.02459</a:t>
            </a:r>
          </a:p>
          <a:p>
            <a:r>
              <a:rPr lang="en-US" sz="1100" dirty="0">
                <a:latin typeface="Arial Narrow" panose="020B0606020202030204" pitchFamily="34" charset="0"/>
                <a:ea typeface="LG Smart_H Regular" pitchFamily="34" charset="-127"/>
                <a:cs typeface="Arial" pitchFamily="34" charset="0"/>
              </a:rPr>
              <a:t>- Tolerance: 1.2</a:t>
            </a:r>
            <a:endParaRPr lang="en-US" sz="1100" dirty="0">
              <a:solidFill>
                <a:srgbClr val="000000"/>
              </a:solidFill>
              <a:latin typeface="Arial Narrow" panose="020B0606020202030204" pitchFamily="34" charset="0"/>
              <a:ea typeface="LG Smart_H Regular" pitchFamily="34" charset="-127"/>
              <a:cs typeface="Arial" pitchFamily="34" charset="0"/>
            </a:endParaRPr>
          </a:p>
          <a:p>
            <a:pPr>
              <a:buFontTx/>
              <a:buChar char="-"/>
            </a:pPr>
            <a:r>
              <a:rPr lang="en-US" sz="1100" dirty="0">
                <a:solidFill>
                  <a:srgbClr val="000000"/>
                </a:solidFill>
                <a:latin typeface="Arial Narrow" panose="020B0606020202030204" pitchFamily="34" charset="0"/>
                <a:ea typeface="LG Smart_H Regular" pitchFamily="34" charset="-127"/>
                <a:cs typeface="Arial" pitchFamily="34" charset="0"/>
              </a:rPr>
              <a:t> 6xStDev (SV): 0.14755</a:t>
            </a:r>
          </a:p>
        </p:txBody>
      </p:sp>
      <p:sp>
        <p:nvSpPr>
          <p:cNvPr id="29" name="TextBox 28">
            <a:extLst>
              <a:ext uri="{FF2B5EF4-FFF2-40B4-BE49-F238E27FC236}">
                <a16:creationId xmlns:a16="http://schemas.microsoft.com/office/drawing/2014/main" id="{4FE2013D-0253-4332-B08C-C2A84A4083D7}"/>
              </a:ext>
            </a:extLst>
          </p:cNvPr>
          <p:cNvSpPr txBox="1"/>
          <p:nvPr/>
        </p:nvSpPr>
        <p:spPr>
          <a:xfrm>
            <a:off x="6142617" y="4666137"/>
            <a:ext cx="1613908" cy="600164"/>
          </a:xfrm>
          <a:prstGeom prst="rect">
            <a:avLst/>
          </a:prstGeom>
          <a:noFill/>
        </p:spPr>
        <p:txBody>
          <a:bodyPr wrap="square" rtlCol="0">
            <a:spAutoFit/>
          </a:bodyPr>
          <a:lstStyle/>
          <a:p>
            <a:r>
              <a:rPr lang="en-US" sz="1100" b="1" u="sng" dirty="0">
                <a:latin typeface="Arial Narrow" panose="020B0606020202030204" pitchFamily="34" charset="0"/>
                <a:cs typeface="Arial" pitchFamily="34" charset="0"/>
              </a:rPr>
              <a:t>Capability</a:t>
            </a:r>
          </a:p>
          <a:p>
            <a:r>
              <a:rPr lang="en-US" sz="1100" dirty="0">
                <a:latin typeface="Arial Narrow" panose="020B0606020202030204" pitchFamily="34" charset="0"/>
                <a:cs typeface="Arial" pitchFamily="34" charset="0"/>
              </a:rPr>
              <a:t>- Cg: 1.63 &gt; 1.33</a:t>
            </a:r>
          </a:p>
          <a:p>
            <a:pPr>
              <a:buFontTx/>
              <a:buChar char="-"/>
            </a:pPr>
            <a:r>
              <a:rPr lang="en-US" sz="1100" dirty="0">
                <a:latin typeface="Arial Narrow" panose="020B0606020202030204" pitchFamily="34" charset="0"/>
                <a:cs typeface="Arial" pitchFamily="34" charset="0"/>
              </a:rPr>
              <a:t> </a:t>
            </a:r>
            <a:r>
              <a:rPr lang="en-US" sz="1100" dirty="0" err="1">
                <a:latin typeface="Arial Narrow" panose="020B0606020202030204" pitchFamily="34" charset="0"/>
                <a:cs typeface="Arial" pitchFamily="34" charset="0"/>
              </a:rPr>
              <a:t>Cgk</a:t>
            </a:r>
            <a:r>
              <a:rPr lang="en-US" sz="1100" dirty="0">
                <a:latin typeface="Arial Narrow" panose="020B0606020202030204" pitchFamily="34" charset="0"/>
                <a:cs typeface="Arial" pitchFamily="34" charset="0"/>
              </a:rPr>
              <a:t>: 1.59 &gt; 1.33</a:t>
            </a:r>
          </a:p>
        </p:txBody>
      </p:sp>
      <p:graphicFrame>
        <p:nvGraphicFramePr>
          <p:cNvPr id="5" name="Table 4">
            <a:extLst>
              <a:ext uri="{FF2B5EF4-FFF2-40B4-BE49-F238E27FC236}">
                <a16:creationId xmlns:a16="http://schemas.microsoft.com/office/drawing/2014/main" id="{4E13E7E1-9011-486C-B964-305E7A526EAD}"/>
              </a:ext>
            </a:extLst>
          </p:cNvPr>
          <p:cNvGraphicFramePr>
            <a:graphicFrameLocks noGrp="1"/>
          </p:cNvGraphicFramePr>
          <p:nvPr>
            <p:extLst>
              <p:ext uri="{D42A27DB-BD31-4B8C-83A1-F6EECF244321}">
                <p14:modId xmlns:p14="http://schemas.microsoft.com/office/powerpoint/2010/main" val="3659121128"/>
              </p:ext>
            </p:extLst>
          </p:nvPr>
        </p:nvGraphicFramePr>
        <p:xfrm>
          <a:off x="758180" y="1074369"/>
          <a:ext cx="1184912" cy="5274715"/>
        </p:xfrm>
        <a:graphic>
          <a:graphicData uri="http://schemas.openxmlformats.org/drawingml/2006/table">
            <a:tbl>
              <a:tblPr/>
              <a:tblGrid>
                <a:gridCol w="540097">
                  <a:extLst>
                    <a:ext uri="{9D8B030D-6E8A-4147-A177-3AD203B41FA5}">
                      <a16:colId xmlns:a16="http://schemas.microsoft.com/office/drawing/2014/main" val="3896911482"/>
                    </a:ext>
                  </a:extLst>
                </a:gridCol>
                <a:gridCol w="644815">
                  <a:extLst>
                    <a:ext uri="{9D8B030D-6E8A-4147-A177-3AD203B41FA5}">
                      <a16:colId xmlns:a16="http://schemas.microsoft.com/office/drawing/2014/main" val="1162232725"/>
                    </a:ext>
                  </a:extLst>
                </a:gridCol>
              </a:tblGrid>
              <a:tr h="201065">
                <a:tc>
                  <a:txBody>
                    <a:bodyPr/>
                    <a:lstStyle/>
                    <a:p>
                      <a:pPr algn="ctr" rtl="0" fontAlgn="b"/>
                      <a:r>
                        <a:rPr lang="en-US" sz="1000" b="1" i="0" u="none" strike="noStrike" dirty="0">
                          <a:solidFill>
                            <a:srgbClr val="000000"/>
                          </a:solidFill>
                          <a:effectLst/>
                          <a:latin typeface="Arial Narrow" panose="020B0606020202030204" pitchFamily="34" charset="0"/>
                        </a:rPr>
                        <a:t>Reference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b"/>
                      <a:r>
                        <a:rPr lang="en-US" sz="1000" b="1" i="0" u="none" strike="noStrike" dirty="0">
                          <a:solidFill>
                            <a:srgbClr val="000000"/>
                          </a:solidFill>
                          <a:effectLst/>
                          <a:latin typeface="Arial Narrow" panose="020B0606020202030204" pitchFamily="34" charset="0"/>
                        </a:rPr>
                        <a:t>0.18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3786948110"/>
                  </a:ext>
                </a:extLst>
              </a:tr>
              <a:tr h="140677">
                <a:tc>
                  <a:txBody>
                    <a:bodyPr/>
                    <a:lstStyle/>
                    <a:p>
                      <a:pPr algn="ctr" rtl="0" fontAlgn="b"/>
                      <a:r>
                        <a:rPr lang="en-US" sz="1000" b="1" i="0" u="none" strike="noStrike">
                          <a:solidFill>
                            <a:srgbClr val="000000"/>
                          </a:solidFill>
                          <a:effectLst/>
                          <a:latin typeface="Arial Narrow" panose="020B0606020202030204" pitchFamily="34" charset="0"/>
                        </a:rPr>
                        <a:t>Operator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b"/>
                      <a:r>
                        <a:rPr lang="en-US" sz="1000" b="1" i="0" u="none" strike="noStrike" dirty="0">
                          <a:solidFill>
                            <a:srgbClr val="000000"/>
                          </a:solidFill>
                          <a:effectLst/>
                          <a:latin typeface="Arial Narrow" panose="020B0606020202030204" pitchFamily="34" charset="0"/>
                        </a:rPr>
                        <a:t>QC member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3188016707"/>
                  </a:ext>
                </a:extLst>
              </a:tr>
              <a:tr h="140677">
                <a:tc>
                  <a:txBody>
                    <a:bodyPr/>
                    <a:lstStyle/>
                    <a:p>
                      <a:pPr algn="ctr" fontAlgn="b">
                        <a:buNone/>
                      </a:pPr>
                      <a:r>
                        <a:rPr lang="en-US" sz="1000" b="1" i="0" u="none" strike="noStrike" dirty="0">
                          <a:solidFill>
                            <a:srgbClr val="000000"/>
                          </a:solidFill>
                          <a:effectLst/>
                          <a:latin typeface="Arial Narrow" panose="020B0606020202030204" pitchFamily="34" charset="0"/>
                        </a:rPr>
                        <a:t>Time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b">
                        <a:buNone/>
                      </a:pPr>
                      <a:r>
                        <a:rPr lang="en-US" sz="1000" b="1" i="0" u="none" strike="noStrike" dirty="0">
                          <a:solidFill>
                            <a:srgbClr val="000000"/>
                          </a:solidFill>
                          <a:effectLst/>
                          <a:latin typeface="Arial Narrow" panose="020B0606020202030204" pitchFamily="34" charset="0"/>
                        </a:rPr>
                        <a:t>Data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3507520914"/>
                  </a:ext>
                </a:extLst>
              </a:tr>
              <a:tr h="147191">
                <a:tc>
                  <a:txBody>
                    <a:bodyPr/>
                    <a:lstStyle/>
                    <a:p>
                      <a:pPr algn="ctr" fontAlgn="b">
                        <a:buNone/>
                      </a:pPr>
                      <a:r>
                        <a:rPr lang="en-US" sz="1000" b="0" i="0" u="none" strike="noStrike">
                          <a:solidFill>
                            <a:srgbClr val="000000"/>
                          </a:solidFill>
                          <a:effectLst/>
                          <a:latin typeface="Arial Narrow" panose="020B0606020202030204" pitchFamily="34" charset="0"/>
                        </a:rPr>
                        <a:t>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1000" b="0" i="0" u="none" strike="noStrike">
                          <a:effectLst/>
                          <a:latin typeface="Arial Narrow" panose="020B0606020202030204" pitchFamily="34" charset="0"/>
                        </a:rPr>
                        <a:t>0.14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41727548"/>
                  </a:ext>
                </a:extLst>
              </a:tr>
              <a:tr h="147191">
                <a:tc>
                  <a:txBody>
                    <a:bodyPr/>
                    <a:lstStyle/>
                    <a:p>
                      <a:pPr algn="ctr" fontAlgn="b">
                        <a:buNone/>
                      </a:pPr>
                      <a:r>
                        <a:rPr lang="en-US" sz="1000" b="0" i="0" u="none" strike="noStrike">
                          <a:solidFill>
                            <a:srgbClr val="000000"/>
                          </a:solidFill>
                          <a:effectLst/>
                          <a:latin typeface="Arial Narrow" panose="020B0606020202030204" pitchFamily="34" charset="0"/>
                        </a:rPr>
                        <a:t>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1000" b="0" i="0" u="none" strike="noStrike">
                          <a:effectLst/>
                          <a:latin typeface="Arial Narrow" panose="020B0606020202030204" pitchFamily="34" charset="0"/>
                        </a:rPr>
                        <a:t>0.18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40289228"/>
                  </a:ext>
                </a:extLst>
              </a:tr>
              <a:tr h="147191">
                <a:tc>
                  <a:txBody>
                    <a:bodyPr/>
                    <a:lstStyle/>
                    <a:p>
                      <a:pPr algn="ctr" fontAlgn="b">
                        <a:buNone/>
                      </a:pPr>
                      <a:r>
                        <a:rPr lang="en-US" sz="1000" b="0" i="0" u="none" strike="noStrike" dirty="0">
                          <a:solidFill>
                            <a:srgbClr val="000000"/>
                          </a:solidFill>
                          <a:effectLst/>
                          <a:latin typeface="Arial Narrow" panose="020B0606020202030204" pitchFamily="34" charset="0"/>
                        </a:rPr>
                        <a:t>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1000" b="0" i="0" u="none" strike="noStrike">
                          <a:effectLst/>
                          <a:latin typeface="Arial Narrow" panose="020B0606020202030204" pitchFamily="34" charset="0"/>
                        </a:rPr>
                        <a:t>0.21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21413259"/>
                  </a:ext>
                </a:extLst>
              </a:tr>
              <a:tr h="147191">
                <a:tc>
                  <a:txBody>
                    <a:bodyPr/>
                    <a:lstStyle/>
                    <a:p>
                      <a:pPr algn="ctr" fontAlgn="b">
                        <a:buNone/>
                      </a:pPr>
                      <a:r>
                        <a:rPr lang="en-US" sz="1000" b="0" i="0" u="none" strike="noStrike">
                          <a:solidFill>
                            <a:srgbClr val="000000"/>
                          </a:solidFill>
                          <a:effectLst/>
                          <a:latin typeface="Arial Narrow" panose="020B0606020202030204" pitchFamily="34" charset="0"/>
                        </a:rPr>
                        <a:t>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1000" b="0" i="0" u="none" strike="noStrike">
                          <a:effectLst/>
                          <a:latin typeface="Arial Narrow" panose="020B0606020202030204" pitchFamily="34" charset="0"/>
                        </a:rPr>
                        <a:t>0.16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11559690"/>
                  </a:ext>
                </a:extLst>
              </a:tr>
              <a:tr h="147191">
                <a:tc>
                  <a:txBody>
                    <a:bodyPr/>
                    <a:lstStyle/>
                    <a:p>
                      <a:pPr algn="ctr" fontAlgn="b">
                        <a:buNone/>
                      </a:pPr>
                      <a:r>
                        <a:rPr lang="en-US" sz="1000" b="0" i="0" u="none" strike="noStrike">
                          <a:solidFill>
                            <a:srgbClr val="000000"/>
                          </a:solidFill>
                          <a:effectLst/>
                          <a:latin typeface="Arial Narrow" panose="020B0606020202030204" pitchFamily="34" charset="0"/>
                        </a:rPr>
                        <a:t>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1000" b="0" i="0" u="none" strike="noStrike">
                          <a:effectLst/>
                          <a:latin typeface="Arial Narrow" panose="020B0606020202030204" pitchFamily="34" charset="0"/>
                        </a:rPr>
                        <a:t>0.20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96639635"/>
                  </a:ext>
                </a:extLst>
              </a:tr>
              <a:tr h="147191">
                <a:tc>
                  <a:txBody>
                    <a:bodyPr/>
                    <a:lstStyle/>
                    <a:p>
                      <a:pPr algn="ctr" fontAlgn="b">
                        <a:buNone/>
                      </a:pPr>
                      <a:r>
                        <a:rPr lang="en-US" sz="1000" b="0" i="0" u="none" strike="noStrike">
                          <a:solidFill>
                            <a:srgbClr val="000000"/>
                          </a:solidFill>
                          <a:effectLst/>
                          <a:latin typeface="Arial Narrow" panose="020B0606020202030204" pitchFamily="34" charset="0"/>
                        </a:rPr>
                        <a:t>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1000" b="0" i="0" u="none" strike="noStrike">
                          <a:effectLst/>
                          <a:latin typeface="Arial Narrow" panose="020B0606020202030204" pitchFamily="34" charset="0"/>
                        </a:rPr>
                        <a:t>0.15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0764416"/>
                  </a:ext>
                </a:extLst>
              </a:tr>
              <a:tr h="147191">
                <a:tc>
                  <a:txBody>
                    <a:bodyPr/>
                    <a:lstStyle/>
                    <a:p>
                      <a:pPr algn="ctr" fontAlgn="b">
                        <a:buNone/>
                      </a:pPr>
                      <a:r>
                        <a:rPr lang="en-US" sz="1000" b="0" i="0" u="none" strike="noStrike">
                          <a:solidFill>
                            <a:srgbClr val="000000"/>
                          </a:solidFill>
                          <a:effectLst/>
                          <a:latin typeface="Arial Narrow" panose="020B0606020202030204" pitchFamily="34" charset="0"/>
                        </a:rPr>
                        <a:t>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1000" b="0" i="0" u="none" strike="noStrike">
                          <a:effectLst/>
                          <a:latin typeface="Arial Narrow" panose="020B0606020202030204" pitchFamily="34" charset="0"/>
                        </a:rPr>
                        <a:t>0.19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95689673"/>
                  </a:ext>
                </a:extLst>
              </a:tr>
              <a:tr h="147191">
                <a:tc>
                  <a:txBody>
                    <a:bodyPr/>
                    <a:lstStyle/>
                    <a:p>
                      <a:pPr algn="ctr" fontAlgn="b">
                        <a:buNone/>
                      </a:pPr>
                      <a:r>
                        <a:rPr lang="en-US" sz="1000" b="0" i="0" u="none" strike="noStrike">
                          <a:solidFill>
                            <a:srgbClr val="000000"/>
                          </a:solidFill>
                          <a:effectLst/>
                          <a:latin typeface="Arial Narrow" panose="020B0606020202030204" pitchFamily="34" charset="0"/>
                        </a:rPr>
                        <a:t>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1000" b="0" i="0" u="none" strike="noStrike">
                          <a:effectLst/>
                          <a:latin typeface="Arial Narrow" panose="020B0606020202030204" pitchFamily="34" charset="0"/>
                        </a:rPr>
                        <a:t>0.17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75949334"/>
                  </a:ext>
                </a:extLst>
              </a:tr>
              <a:tr h="147191">
                <a:tc>
                  <a:txBody>
                    <a:bodyPr/>
                    <a:lstStyle/>
                    <a:p>
                      <a:pPr algn="ctr" fontAlgn="b">
                        <a:buNone/>
                      </a:pPr>
                      <a:r>
                        <a:rPr lang="en-US" sz="1000" b="0" i="0" u="none" strike="noStrike">
                          <a:solidFill>
                            <a:srgbClr val="000000"/>
                          </a:solidFill>
                          <a:effectLst/>
                          <a:latin typeface="Arial Narrow" panose="020B0606020202030204" pitchFamily="34" charset="0"/>
                        </a:rPr>
                        <a:t>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1000" b="0" i="0" u="none" strike="noStrike">
                          <a:effectLst/>
                          <a:latin typeface="Arial Narrow" panose="020B0606020202030204" pitchFamily="34" charset="0"/>
                        </a:rPr>
                        <a:t>0.22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1308438"/>
                  </a:ext>
                </a:extLst>
              </a:tr>
              <a:tr h="147191">
                <a:tc>
                  <a:txBody>
                    <a:bodyPr/>
                    <a:lstStyle/>
                    <a:p>
                      <a:pPr algn="ctr" fontAlgn="b">
                        <a:buNone/>
                      </a:pPr>
                      <a:r>
                        <a:rPr lang="en-US" sz="1000" b="0" i="0" u="none" strike="noStrike">
                          <a:solidFill>
                            <a:srgbClr val="000000"/>
                          </a:solidFill>
                          <a:effectLst/>
                          <a:latin typeface="Arial Narrow" panose="020B0606020202030204" pitchFamily="34" charset="0"/>
                        </a:rPr>
                        <a:t>10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1000" b="0" i="0" u="none" strike="noStrike">
                          <a:effectLst/>
                          <a:latin typeface="Arial Narrow" panose="020B0606020202030204" pitchFamily="34" charset="0"/>
                        </a:rPr>
                        <a:t>0.16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65682959"/>
                  </a:ext>
                </a:extLst>
              </a:tr>
              <a:tr h="147191">
                <a:tc>
                  <a:txBody>
                    <a:bodyPr/>
                    <a:lstStyle/>
                    <a:p>
                      <a:pPr algn="ctr" fontAlgn="b">
                        <a:buNone/>
                      </a:pPr>
                      <a:r>
                        <a:rPr lang="en-US" sz="1000" b="0" i="0" u="none" strike="noStrike">
                          <a:solidFill>
                            <a:srgbClr val="000000"/>
                          </a:solidFill>
                          <a:effectLst/>
                          <a:latin typeface="Arial Narrow" panose="020B0606020202030204" pitchFamily="34" charset="0"/>
                        </a:rPr>
                        <a:t>11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1000" b="0" i="0" u="none" strike="noStrike">
                          <a:effectLst/>
                          <a:latin typeface="Arial Narrow" panose="020B0606020202030204" pitchFamily="34" charset="0"/>
                        </a:rPr>
                        <a:t>0.18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7289294"/>
                  </a:ext>
                </a:extLst>
              </a:tr>
              <a:tr h="147191">
                <a:tc>
                  <a:txBody>
                    <a:bodyPr/>
                    <a:lstStyle/>
                    <a:p>
                      <a:pPr algn="ctr" fontAlgn="b">
                        <a:buNone/>
                      </a:pPr>
                      <a:r>
                        <a:rPr lang="en-US" sz="1000" b="0" i="0" u="none" strike="noStrike">
                          <a:solidFill>
                            <a:srgbClr val="000000"/>
                          </a:solidFill>
                          <a:effectLst/>
                          <a:latin typeface="Arial Narrow" panose="020B0606020202030204" pitchFamily="34" charset="0"/>
                        </a:rPr>
                        <a:t>12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1000" b="0" i="0" u="none" strike="noStrike">
                          <a:effectLst/>
                          <a:latin typeface="Arial Narrow" panose="020B0606020202030204" pitchFamily="34" charset="0"/>
                        </a:rPr>
                        <a:t>0.20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99278706"/>
                  </a:ext>
                </a:extLst>
              </a:tr>
              <a:tr h="147191">
                <a:tc>
                  <a:txBody>
                    <a:bodyPr/>
                    <a:lstStyle/>
                    <a:p>
                      <a:pPr algn="ctr" fontAlgn="b">
                        <a:buNone/>
                      </a:pPr>
                      <a:r>
                        <a:rPr lang="en-US" sz="1000" b="0" i="0" u="none" strike="noStrike">
                          <a:solidFill>
                            <a:srgbClr val="000000"/>
                          </a:solidFill>
                          <a:effectLst/>
                          <a:latin typeface="Arial Narrow" panose="020B0606020202030204" pitchFamily="34" charset="0"/>
                        </a:rPr>
                        <a:t>13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1000" b="0" i="0" u="none" strike="noStrike">
                          <a:effectLst/>
                          <a:latin typeface="Arial Narrow" panose="020B0606020202030204" pitchFamily="34" charset="0"/>
                        </a:rPr>
                        <a:t>0.15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39897331"/>
                  </a:ext>
                </a:extLst>
              </a:tr>
              <a:tr h="147191">
                <a:tc>
                  <a:txBody>
                    <a:bodyPr/>
                    <a:lstStyle/>
                    <a:p>
                      <a:pPr algn="ctr" fontAlgn="b">
                        <a:buNone/>
                      </a:pPr>
                      <a:r>
                        <a:rPr lang="en-US" sz="1000" b="0" i="0" u="none" strike="noStrike">
                          <a:solidFill>
                            <a:srgbClr val="000000"/>
                          </a:solidFill>
                          <a:effectLst/>
                          <a:latin typeface="Arial Narrow" panose="020B0606020202030204" pitchFamily="34" charset="0"/>
                        </a:rPr>
                        <a:t>14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1000" b="0" i="0" u="none" strike="noStrike">
                          <a:effectLst/>
                          <a:latin typeface="Arial Narrow" panose="020B0606020202030204" pitchFamily="34" charset="0"/>
                        </a:rPr>
                        <a:t>0.19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66289327"/>
                  </a:ext>
                </a:extLst>
              </a:tr>
              <a:tr h="147191">
                <a:tc>
                  <a:txBody>
                    <a:bodyPr/>
                    <a:lstStyle/>
                    <a:p>
                      <a:pPr algn="ctr" fontAlgn="b">
                        <a:buNone/>
                      </a:pPr>
                      <a:r>
                        <a:rPr lang="en-US" sz="1000" b="0" i="0" u="none" strike="noStrike">
                          <a:solidFill>
                            <a:srgbClr val="000000"/>
                          </a:solidFill>
                          <a:effectLst/>
                          <a:latin typeface="Arial Narrow" panose="020B0606020202030204" pitchFamily="34" charset="0"/>
                        </a:rPr>
                        <a:t>15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1000" b="0" i="0" u="none" strike="noStrike">
                          <a:effectLst/>
                          <a:latin typeface="Arial Narrow" panose="020B0606020202030204" pitchFamily="34" charset="0"/>
                        </a:rPr>
                        <a:t>0.14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24013627"/>
                  </a:ext>
                </a:extLst>
              </a:tr>
              <a:tr h="147191">
                <a:tc>
                  <a:txBody>
                    <a:bodyPr/>
                    <a:lstStyle/>
                    <a:p>
                      <a:pPr algn="ctr" fontAlgn="b">
                        <a:buNone/>
                      </a:pPr>
                      <a:r>
                        <a:rPr lang="en-US" sz="1000" b="0" i="0" u="none" strike="noStrike">
                          <a:solidFill>
                            <a:srgbClr val="000000"/>
                          </a:solidFill>
                          <a:effectLst/>
                          <a:latin typeface="Arial Narrow" panose="020B0606020202030204" pitchFamily="34" charset="0"/>
                        </a:rPr>
                        <a:t>16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1000" b="0" i="0" u="none" strike="noStrike">
                          <a:effectLst/>
                          <a:latin typeface="Arial Narrow" panose="020B0606020202030204" pitchFamily="34" charset="0"/>
                        </a:rPr>
                        <a:t>0.21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6913010"/>
                  </a:ext>
                </a:extLst>
              </a:tr>
              <a:tr h="147191">
                <a:tc>
                  <a:txBody>
                    <a:bodyPr/>
                    <a:lstStyle/>
                    <a:p>
                      <a:pPr algn="ctr" fontAlgn="b">
                        <a:buNone/>
                      </a:pPr>
                      <a:r>
                        <a:rPr lang="en-US" sz="1000" b="0" i="0" u="none" strike="noStrike">
                          <a:solidFill>
                            <a:srgbClr val="000000"/>
                          </a:solidFill>
                          <a:effectLst/>
                          <a:latin typeface="Arial Narrow" panose="020B0606020202030204" pitchFamily="34" charset="0"/>
                        </a:rPr>
                        <a:t>17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1000" b="0" i="0" u="none" strike="noStrike">
                          <a:effectLst/>
                          <a:latin typeface="Arial Narrow" panose="020B0606020202030204" pitchFamily="34" charset="0"/>
                        </a:rPr>
                        <a:t>0.17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66841775"/>
                  </a:ext>
                </a:extLst>
              </a:tr>
              <a:tr h="147191">
                <a:tc>
                  <a:txBody>
                    <a:bodyPr/>
                    <a:lstStyle/>
                    <a:p>
                      <a:pPr algn="ctr" fontAlgn="b">
                        <a:buNone/>
                      </a:pPr>
                      <a:r>
                        <a:rPr lang="en-US" sz="1000" b="0" i="0" u="none" strike="noStrike">
                          <a:solidFill>
                            <a:srgbClr val="000000"/>
                          </a:solidFill>
                          <a:effectLst/>
                          <a:latin typeface="Arial Narrow" panose="020B0606020202030204" pitchFamily="34" charset="0"/>
                        </a:rPr>
                        <a:t>18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1000" b="0" i="0" u="none" strike="noStrike">
                          <a:effectLst/>
                          <a:latin typeface="Arial Narrow" panose="020B0606020202030204" pitchFamily="34" charset="0"/>
                        </a:rPr>
                        <a:t>0.18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91689332"/>
                  </a:ext>
                </a:extLst>
              </a:tr>
              <a:tr h="147191">
                <a:tc>
                  <a:txBody>
                    <a:bodyPr/>
                    <a:lstStyle/>
                    <a:p>
                      <a:pPr algn="ctr" fontAlgn="b">
                        <a:buNone/>
                      </a:pPr>
                      <a:r>
                        <a:rPr lang="en-US" sz="1000" b="0" i="0" u="none" strike="noStrike">
                          <a:solidFill>
                            <a:srgbClr val="000000"/>
                          </a:solidFill>
                          <a:effectLst/>
                          <a:latin typeface="Arial Narrow" panose="020B0606020202030204" pitchFamily="34" charset="0"/>
                        </a:rPr>
                        <a:t>19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1000" b="0" i="0" u="none" strike="noStrike">
                          <a:effectLst/>
                          <a:latin typeface="Arial Narrow" panose="020B0606020202030204" pitchFamily="34" charset="0"/>
                        </a:rPr>
                        <a:t>0.20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26552791"/>
                  </a:ext>
                </a:extLst>
              </a:tr>
              <a:tr h="147191">
                <a:tc>
                  <a:txBody>
                    <a:bodyPr/>
                    <a:lstStyle/>
                    <a:p>
                      <a:pPr algn="ctr" fontAlgn="b">
                        <a:buNone/>
                      </a:pPr>
                      <a:r>
                        <a:rPr lang="en-US" sz="1000" b="0" i="0" u="none" strike="noStrike">
                          <a:solidFill>
                            <a:srgbClr val="000000"/>
                          </a:solidFill>
                          <a:effectLst/>
                          <a:latin typeface="Arial Narrow" panose="020B0606020202030204" pitchFamily="34" charset="0"/>
                        </a:rPr>
                        <a:t>20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1000" b="0" i="0" u="none" strike="noStrike">
                          <a:effectLst/>
                          <a:latin typeface="Arial Narrow" panose="020B0606020202030204" pitchFamily="34" charset="0"/>
                        </a:rPr>
                        <a:t>0.16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53320065"/>
                  </a:ext>
                </a:extLst>
              </a:tr>
              <a:tr h="147191">
                <a:tc>
                  <a:txBody>
                    <a:bodyPr/>
                    <a:lstStyle/>
                    <a:p>
                      <a:pPr algn="ctr" fontAlgn="b">
                        <a:buNone/>
                      </a:pPr>
                      <a:r>
                        <a:rPr lang="en-US" sz="1000" b="0" i="0" u="none" strike="noStrike">
                          <a:solidFill>
                            <a:srgbClr val="000000"/>
                          </a:solidFill>
                          <a:effectLst/>
                          <a:latin typeface="Arial Narrow" panose="020B0606020202030204" pitchFamily="34" charset="0"/>
                        </a:rPr>
                        <a:t>21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1000" b="0" i="0" u="none" strike="noStrike">
                          <a:effectLst/>
                          <a:latin typeface="Arial Narrow" panose="020B0606020202030204" pitchFamily="34" charset="0"/>
                        </a:rPr>
                        <a:t>0.16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4217099"/>
                  </a:ext>
                </a:extLst>
              </a:tr>
              <a:tr h="147191">
                <a:tc>
                  <a:txBody>
                    <a:bodyPr/>
                    <a:lstStyle/>
                    <a:p>
                      <a:pPr algn="ctr" fontAlgn="b">
                        <a:buNone/>
                      </a:pPr>
                      <a:r>
                        <a:rPr lang="en-US" sz="1000" b="0" i="0" u="none" strike="noStrike">
                          <a:solidFill>
                            <a:srgbClr val="000000"/>
                          </a:solidFill>
                          <a:effectLst/>
                          <a:latin typeface="Arial Narrow" panose="020B0606020202030204" pitchFamily="34" charset="0"/>
                        </a:rPr>
                        <a:t>22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1000" b="0" i="0" u="none" strike="noStrike">
                          <a:effectLst/>
                          <a:latin typeface="Arial Narrow" panose="020B0606020202030204" pitchFamily="34" charset="0"/>
                        </a:rPr>
                        <a:t>0.20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50391023"/>
                  </a:ext>
                </a:extLst>
              </a:tr>
              <a:tr h="147191">
                <a:tc>
                  <a:txBody>
                    <a:bodyPr/>
                    <a:lstStyle/>
                    <a:p>
                      <a:pPr algn="ctr" fontAlgn="b">
                        <a:buNone/>
                      </a:pPr>
                      <a:r>
                        <a:rPr lang="en-US" sz="1000" b="0" i="0" u="none" strike="noStrike">
                          <a:solidFill>
                            <a:srgbClr val="000000"/>
                          </a:solidFill>
                          <a:effectLst/>
                          <a:latin typeface="Arial Narrow" panose="020B0606020202030204" pitchFamily="34" charset="0"/>
                        </a:rPr>
                        <a:t>23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1000" b="0" i="0" u="none" strike="noStrike">
                          <a:effectLst/>
                          <a:latin typeface="Arial Narrow" panose="020B0606020202030204" pitchFamily="34" charset="0"/>
                        </a:rPr>
                        <a:t>0.15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45906575"/>
                  </a:ext>
                </a:extLst>
              </a:tr>
              <a:tr h="147191">
                <a:tc>
                  <a:txBody>
                    <a:bodyPr/>
                    <a:lstStyle/>
                    <a:p>
                      <a:pPr algn="ctr" fontAlgn="b">
                        <a:buNone/>
                      </a:pPr>
                      <a:r>
                        <a:rPr lang="en-US" sz="1000" b="0" i="0" u="none" strike="noStrike">
                          <a:solidFill>
                            <a:srgbClr val="000000"/>
                          </a:solidFill>
                          <a:effectLst/>
                          <a:latin typeface="Arial Narrow" panose="020B0606020202030204" pitchFamily="34" charset="0"/>
                        </a:rPr>
                        <a:t>24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1000" b="0" i="0" u="none" strike="noStrike">
                          <a:effectLst/>
                          <a:latin typeface="Arial Narrow" panose="020B0606020202030204" pitchFamily="34" charset="0"/>
                        </a:rPr>
                        <a:t>0.19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78455799"/>
                  </a:ext>
                </a:extLst>
              </a:tr>
              <a:tr h="147191">
                <a:tc>
                  <a:txBody>
                    <a:bodyPr/>
                    <a:lstStyle/>
                    <a:p>
                      <a:pPr algn="ctr" fontAlgn="b">
                        <a:buNone/>
                      </a:pPr>
                      <a:r>
                        <a:rPr lang="en-US" sz="1000" b="0" i="0" u="none" strike="noStrike">
                          <a:solidFill>
                            <a:srgbClr val="000000"/>
                          </a:solidFill>
                          <a:effectLst/>
                          <a:latin typeface="Arial Narrow" panose="020B0606020202030204" pitchFamily="34" charset="0"/>
                        </a:rPr>
                        <a:t>25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1000" b="0" i="0" u="none" strike="noStrike">
                          <a:effectLst/>
                          <a:latin typeface="Arial Narrow" panose="020B0606020202030204" pitchFamily="34" charset="0"/>
                        </a:rPr>
                        <a:t>0.17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6754392"/>
                  </a:ext>
                </a:extLst>
              </a:tr>
              <a:tr h="147191">
                <a:tc>
                  <a:txBody>
                    <a:bodyPr/>
                    <a:lstStyle/>
                    <a:p>
                      <a:pPr algn="ctr" fontAlgn="b">
                        <a:buNone/>
                      </a:pPr>
                      <a:r>
                        <a:rPr lang="en-US" sz="1000" b="0" i="0" u="none" strike="noStrike">
                          <a:solidFill>
                            <a:srgbClr val="000000"/>
                          </a:solidFill>
                          <a:effectLst/>
                          <a:latin typeface="Arial Narrow" panose="020B0606020202030204" pitchFamily="34" charset="0"/>
                        </a:rPr>
                        <a:t>26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1000" b="0" i="0" u="none" strike="noStrike">
                          <a:effectLst/>
                          <a:latin typeface="Arial Narrow" panose="020B0606020202030204" pitchFamily="34" charset="0"/>
                        </a:rPr>
                        <a:t>0.22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66324259"/>
                  </a:ext>
                </a:extLst>
              </a:tr>
              <a:tr h="147191">
                <a:tc>
                  <a:txBody>
                    <a:bodyPr/>
                    <a:lstStyle/>
                    <a:p>
                      <a:pPr algn="ctr" fontAlgn="b">
                        <a:buNone/>
                      </a:pPr>
                      <a:r>
                        <a:rPr lang="en-US" sz="1000" b="0" i="0" u="none" strike="noStrike">
                          <a:solidFill>
                            <a:srgbClr val="000000"/>
                          </a:solidFill>
                          <a:effectLst/>
                          <a:latin typeface="Arial Narrow" panose="020B0606020202030204" pitchFamily="34" charset="0"/>
                        </a:rPr>
                        <a:t>27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1000" b="0" i="0" u="none" strike="noStrike">
                          <a:effectLst/>
                          <a:latin typeface="Arial Narrow" panose="020B0606020202030204" pitchFamily="34" charset="0"/>
                        </a:rPr>
                        <a:t>0.20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28435711"/>
                  </a:ext>
                </a:extLst>
              </a:tr>
              <a:tr h="147191">
                <a:tc>
                  <a:txBody>
                    <a:bodyPr/>
                    <a:lstStyle/>
                    <a:p>
                      <a:pPr algn="ctr" fontAlgn="b">
                        <a:buNone/>
                      </a:pPr>
                      <a:r>
                        <a:rPr lang="en-US" sz="1000" b="0" i="0" u="none" strike="noStrike">
                          <a:solidFill>
                            <a:srgbClr val="000000"/>
                          </a:solidFill>
                          <a:effectLst/>
                          <a:latin typeface="Arial Narrow" panose="020B0606020202030204" pitchFamily="34" charset="0"/>
                        </a:rPr>
                        <a:t>28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1000" b="0" i="0" u="none" strike="noStrike">
                          <a:effectLst/>
                          <a:latin typeface="Arial Narrow" panose="020B0606020202030204" pitchFamily="34" charset="0"/>
                        </a:rPr>
                        <a:t>0.15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88263496"/>
                  </a:ext>
                </a:extLst>
              </a:tr>
              <a:tr h="147191">
                <a:tc>
                  <a:txBody>
                    <a:bodyPr/>
                    <a:lstStyle/>
                    <a:p>
                      <a:pPr algn="ctr" fontAlgn="b">
                        <a:buNone/>
                      </a:pPr>
                      <a:r>
                        <a:rPr lang="en-US" sz="1000" b="0" i="0" u="none" strike="noStrike">
                          <a:solidFill>
                            <a:srgbClr val="000000"/>
                          </a:solidFill>
                          <a:effectLst/>
                          <a:latin typeface="Arial Narrow" panose="020B0606020202030204" pitchFamily="34" charset="0"/>
                        </a:rPr>
                        <a:t>29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1000" b="0" i="0" u="none" strike="noStrike">
                          <a:effectLst/>
                          <a:latin typeface="Arial Narrow" panose="020B0606020202030204" pitchFamily="34" charset="0"/>
                        </a:rPr>
                        <a:t>0.19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73826601"/>
                  </a:ext>
                </a:extLst>
              </a:tr>
              <a:tr h="147191">
                <a:tc>
                  <a:txBody>
                    <a:bodyPr/>
                    <a:lstStyle/>
                    <a:p>
                      <a:pPr algn="ctr" fontAlgn="b">
                        <a:buNone/>
                      </a:pPr>
                      <a:r>
                        <a:rPr lang="en-US" sz="1000" b="0" i="0" u="none" strike="noStrike" dirty="0">
                          <a:solidFill>
                            <a:srgbClr val="000000"/>
                          </a:solidFill>
                          <a:effectLst/>
                          <a:latin typeface="Arial Narrow" panose="020B0606020202030204" pitchFamily="34" charset="0"/>
                        </a:rPr>
                        <a:t>30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1000" b="0" i="0" u="none" strike="noStrike" dirty="0">
                          <a:effectLst/>
                          <a:latin typeface="Arial Narrow" panose="020B0606020202030204" pitchFamily="34" charset="0"/>
                        </a:rPr>
                        <a:t>0.14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47731352"/>
                  </a:ext>
                </a:extLst>
              </a:tr>
            </a:tbl>
          </a:graphicData>
        </a:graphic>
      </p:graphicFrame>
      <p:pic>
        <p:nvPicPr>
          <p:cNvPr id="3" name="Picture 2">
            <a:extLst>
              <a:ext uri="{FF2B5EF4-FFF2-40B4-BE49-F238E27FC236}">
                <a16:creationId xmlns:a16="http://schemas.microsoft.com/office/drawing/2014/main" id="{FD71738C-F445-667F-76FF-9234A7244474}"/>
              </a:ext>
            </a:extLst>
          </p:cNvPr>
          <p:cNvPicPr>
            <a:picLocks noChangeAspect="1"/>
          </p:cNvPicPr>
          <p:nvPr/>
        </p:nvPicPr>
        <p:blipFill>
          <a:blip r:embed="rId3"/>
          <a:stretch>
            <a:fillRect/>
          </a:stretch>
        </p:blipFill>
        <p:spPr>
          <a:xfrm>
            <a:off x="3194771" y="1048677"/>
            <a:ext cx="5311054" cy="3540702"/>
          </a:xfrm>
          <a:prstGeom prst="rect">
            <a:avLst/>
          </a:prstGeom>
        </p:spPr>
      </p:pic>
    </p:spTree>
    <p:extLst>
      <p:ext uri="{BB962C8B-B14F-4D97-AF65-F5344CB8AC3E}">
        <p14:creationId xmlns:p14="http://schemas.microsoft.com/office/powerpoint/2010/main" val="7361614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p:nvPr/>
        </p:nvCxnSpPr>
        <p:spPr>
          <a:xfrm>
            <a:off x="-12488" y="561513"/>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4" name="제목 1">
            <a:extLst>
              <a:ext uri="{FF2B5EF4-FFF2-40B4-BE49-F238E27FC236}">
                <a16:creationId xmlns:a16="http://schemas.microsoft.com/office/drawing/2014/main" id="{A021C556-1BAD-408B-BD71-14F833FE5B5B}"/>
              </a:ext>
            </a:extLst>
          </p:cNvPr>
          <p:cNvSpPr txBox="1">
            <a:spLocks/>
          </p:cNvSpPr>
          <p:nvPr/>
        </p:nvSpPr>
        <p:spPr>
          <a:xfrm>
            <a:off x="161493" y="574669"/>
            <a:ext cx="2209927" cy="418058"/>
          </a:xfrm>
          <a:prstGeom prst="rect">
            <a:avLst/>
          </a:prstGeom>
        </p:spPr>
        <p:txBody>
          <a:bodyPr vert="horz" lIns="91440" tIns="45720" rIns="91440" bIns="45720" rtlCol="0" anchor="ctr">
            <a:normAutofit/>
          </a:bodyPr>
          <a:lstStyle/>
          <a:p>
            <a:pPr eaLnBrk="0" hangingPunct="0">
              <a:defRPr/>
            </a:pPr>
            <a:r>
              <a:rPr lang="en-US" altLang="ko-KR" sz="1600" b="1" kern="0" dirty="0">
                <a:solidFill>
                  <a:srgbClr val="000000"/>
                </a:solidFill>
                <a:latin typeface="Arial Narrow" panose="020B0606020202030204" pitchFamily="34" charset="0"/>
                <a:ea typeface="LG스마트체 Regular" panose="020B0600000101010101" pitchFamily="50" charset="-127"/>
                <a:cs typeface="+mj-cs"/>
              </a:rPr>
              <a:t>2.2. Type 2 study</a:t>
            </a:r>
            <a:endParaRPr lang="ko-KR" altLang="en-US" sz="1600" b="1" kern="0" dirty="0">
              <a:solidFill>
                <a:srgbClr val="000000"/>
              </a:solidFill>
              <a:latin typeface="Arial Narrow" panose="020B0606020202030204" pitchFamily="34" charset="0"/>
              <a:ea typeface="LG스마트체 Regular" panose="020B0600000101010101" pitchFamily="50" charset="-127"/>
              <a:cs typeface="+mj-cs"/>
            </a:endParaRPr>
          </a:p>
        </p:txBody>
      </p:sp>
      <p:sp>
        <p:nvSpPr>
          <p:cNvPr id="11" name="AutoShape 55">
            <a:extLst>
              <a:ext uri="{FF2B5EF4-FFF2-40B4-BE49-F238E27FC236}">
                <a16:creationId xmlns:a16="http://schemas.microsoft.com/office/drawing/2014/main" id="{CEE901F8-7033-41D7-839C-6FF73C4D8670}"/>
              </a:ext>
            </a:extLst>
          </p:cNvPr>
          <p:cNvSpPr>
            <a:spLocks noChangeArrowheads="1"/>
          </p:cNvSpPr>
          <p:nvPr/>
        </p:nvSpPr>
        <p:spPr bwMode="auto">
          <a:xfrm>
            <a:off x="9137654" y="22542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cs typeface="Arial" panose="020B0604020202020204" pitchFamily="34" charset="0"/>
              </a:rPr>
              <a:t>Control</a:t>
            </a:r>
          </a:p>
        </p:txBody>
      </p:sp>
      <p:sp>
        <p:nvSpPr>
          <p:cNvPr id="12" name="AutoShape 56">
            <a:extLst>
              <a:ext uri="{FF2B5EF4-FFF2-40B4-BE49-F238E27FC236}">
                <a16:creationId xmlns:a16="http://schemas.microsoft.com/office/drawing/2014/main" id="{7EF44B9E-43EF-4D0A-A310-5AB0015091DA}"/>
              </a:ext>
            </a:extLst>
          </p:cNvPr>
          <p:cNvSpPr>
            <a:spLocks noChangeArrowheads="1"/>
          </p:cNvSpPr>
          <p:nvPr/>
        </p:nvSpPr>
        <p:spPr bwMode="auto">
          <a:xfrm>
            <a:off x="8448678" y="22542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cs typeface="Arial" panose="020B0604020202020204" pitchFamily="34" charset="0"/>
              </a:rPr>
              <a:t>Improve</a:t>
            </a:r>
          </a:p>
        </p:txBody>
      </p:sp>
      <p:sp>
        <p:nvSpPr>
          <p:cNvPr id="13" name="AutoShape 57">
            <a:extLst>
              <a:ext uri="{FF2B5EF4-FFF2-40B4-BE49-F238E27FC236}">
                <a16:creationId xmlns:a16="http://schemas.microsoft.com/office/drawing/2014/main" id="{202D91CA-BD82-47CE-A2FC-258CC1382148}"/>
              </a:ext>
            </a:extLst>
          </p:cNvPr>
          <p:cNvSpPr>
            <a:spLocks noChangeArrowheads="1"/>
          </p:cNvSpPr>
          <p:nvPr/>
        </p:nvSpPr>
        <p:spPr bwMode="auto">
          <a:xfrm>
            <a:off x="7756525" y="225425"/>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cs typeface="Arial" panose="020B0604020202020204" pitchFamily="34" charset="0"/>
              </a:rPr>
              <a:t>Analyze</a:t>
            </a:r>
          </a:p>
        </p:txBody>
      </p:sp>
      <p:sp>
        <p:nvSpPr>
          <p:cNvPr id="17" name="AutoShape 59">
            <a:extLst>
              <a:ext uri="{FF2B5EF4-FFF2-40B4-BE49-F238E27FC236}">
                <a16:creationId xmlns:a16="http://schemas.microsoft.com/office/drawing/2014/main" id="{0C5082C8-8079-41C3-8527-AACC8844240B}"/>
              </a:ext>
            </a:extLst>
          </p:cNvPr>
          <p:cNvSpPr>
            <a:spLocks noChangeArrowheads="1"/>
          </p:cNvSpPr>
          <p:nvPr/>
        </p:nvSpPr>
        <p:spPr bwMode="auto">
          <a:xfrm>
            <a:off x="6388101" y="22542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cs typeface="Arial" panose="020B0604020202020204" pitchFamily="34" charset="0"/>
              </a:rPr>
              <a:t>Define</a:t>
            </a:r>
          </a:p>
        </p:txBody>
      </p:sp>
      <p:sp>
        <p:nvSpPr>
          <p:cNvPr id="18" name="AutoShape 58">
            <a:extLst>
              <a:ext uri="{FF2B5EF4-FFF2-40B4-BE49-F238E27FC236}">
                <a16:creationId xmlns:a16="http://schemas.microsoft.com/office/drawing/2014/main" id="{D8D9C582-7608-4926-96E1-2A1D978A0C53}"/>
              </a:ext>
            </a:extLst>
          </p:cNvPr>
          <p:cNvSpPr>
            <a:spLocks noChangeArrowheads="1"/>
          </p:cNvSpPr>
          <p:nvPr/>
        </p:nvSpPr>
        <p:spPr bwMode="auto">
          <a:xfrm>
            <a:off x="7085014" y="80967"/>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latin typeface="Arial Narrow" panose="020B0606020202030204" pitchFamily="34" charset="0"/>
                <a:ea typeface="맑은 고딕" panose="020B0503020000020004" pitchFamily="50" charset="-127"/>
                <a:cs typeface="Arial" panose="020B0604020202020204" pitchFamily="34" charset="0"/>
              </a:rPr>
              <a:t>Measure </a:t>
            </a:r>
          </a:p>
        </p:txBody>
      </p:sp>
      <p:sp>
        <p:nvSpPr>
          <p:cNvPr id="29" name="TextBox 28">
            <a:extLst>
              <a:ext uri="{FF2B5EF4-FFF2-40B4-BE49-F238E27FC236}">
                <a16:creationId xmlns:a16="http://schemas.microsoft.com/office/drawing/2014/main" id="{EC045FA1-9F4C-46E4-8573-CC82CEE1118C}"/>
              </a:ext>
            </a:extLst>
          </p:cNvPr>
          <p:cNvSpPr txBox="1"/>
          <p:nvPr/>
        </p:nvSpPr>
        <p:spPr>
          <a:xfrm>
            <a:off x="203494" y="3269804"/>
            <a:ext cx="4342426" cy="2462213"/>
          </a:xfrm>
          <a:prstGeom prst="rect">
            <a:avLst/>
          </a:prstGeom>
          <a:noFill/>
        </p:spPr>
        <p:txBody>
          <a:bodyPr wrap="square" rtlCol="0">
            <a:spAutoFit/>
          </a:bodyPr>
          <a:lstStyle/>
          <a:p>
            <a:pPr>
              <a:buFont typeface="Wingdings" pitchFamily="2" charset="2"/>
              <a:buChar char="§"/>
            </a:pPr>
            <a:r>
              <a:rPr lang="en-US" sz="1100" dirty="0">
                <a:latin typeface="Arial Narrow" panose="020B0606020202030204" pitchFamily="34" charset="0"/>
                <a:ea typeface="LG스마트체 Regular" pitchFamily="34" charset="-127"/>
              </a:rPr>
              <a:t> P part = 0.000 &lt; 0.05 - </a:t>
            </a:r>
            <a:r>
              <a:rPr lang="en-US" sz="1100" dirty="0">
                <a:latin typeface="Arial Narrow" panose="020B0606020202030204" pitchFamily="34" charset="0"/>
                <a:ea typeface="LG Smart_H Regular" panose="020B0600000101010101" pitchFamily="34" charset="-127"/>
                <a:sym typeface="Wingdings" pitchFamily="2" charset="2"/>
              </a:rPr>
              <a:t>OK</a:t>
            </a:r>
            <a:r>
              <a:rPr lang="en-US" sz="1100" dirty="0">
                <a:latin typeface="Arial Narrow" panose="020B0606020202030204" pitchFamily="34" charset="0"/>
                <a:ea typeface="LG스마트체 Regular" pitchFamily="34" charset="-127"/>
              </a:rPr>
              <a:t> </a:t>
            </a:r>
            <a:r>
              <a:rPr lang="en-US" sz="1100" dirty="0">
                <a:latin typeface="Arial Narrow" panose="020B0606020202030204" pitchFamily="34" charset="0"/>
                <a:ea typeface="LG스마트체 Regular" pitchFamily="34" charset="-127"/>
                <a:sym typeface="Wingdings" pitchFamily="2" charset="2"/>
              </a:rPr>
              <a:t></a:t>
            </a:r>
            <a:r>
              <a:rPr lang="en-US" sz="1100" dirty="0">
                <a:latin typeface="Arial Narrow" panose="020B0606020202030204" pitchFamily="34" charset="0"/>
                <a:ea typeface="LG스마트체 Regular" pitchFamily="34" charset="-127"/>
                <a:cs typeface="Arial"/>
                <a:sym typeface="Wingdings" pitchFamily="2" charset="2"/>
              </a:rPr>
              <a:t> The different between parts is significant</a:t>
            </a:r>
          </a:p>
          <a:p>
            <a:r>
              <a:rPr lang="en-US" altLang="ko-KR" sz="1100" dirty="0">
                <a:solidFill>
                  <a:srgbClr val="000000"/>
                </a:solidFill>
                <a:latin typeface="Arial Narrow" panose="020B0606020202030204" pitchFamily="34" charset="0"/>
                <a:ea typeface="맑은 고딕" pitchFamily="50" charset="-127"/>
                <a:sym typeface="Wingdings" pitchFamily="2" charset="2"/>
              </a:rPr>
              <a:t>   </a:t>
            </a:r>
            <a:r>
              <a:rPr lang="en-US" sz="1100" dirty="0">
                <a:latin typeface="Arial Narrow" panose="020B0606020202030204" pitchFamily="34" charset="0"/>
                <a:ea typeface="LG스마트체 Regular" pitchFamily="34" charset="-127"/>
                <a:cs typeface="Arial"/>
                <a:sym typeface="Wingdings" pitchFamily="2" charset="2"/>
              </a:rPr>
              <a:t>Since we selected 10 different parts, each part should be different</a:t>
            </a:r>
            <a:endParaRPr lang="en-US" sz="1100" dirty="0">
              <a:latin typeface="Arial Narrow" panose="020B0606020202030204" pitchFamily="34" charset="0"/>
              <a:ea typeface="LG스마트체 Regular" pitchFamily="34" charset="-127"/>
              <a:cs typeface="Arial"/>
            </a:endParaRPr>
          </a:p>
          <a:p>
            <a:pPr>
              <a:buFont typeface="Wingdings" pitchFamily="2" charset="2"/>
              <a:buChar char="§"/>
            </a:pPr>
            <a:r>
              <a:rPr lang="en-US" sz="1100" dirty="0">
                <a:latin typeface="Arial Narrow" panose="020B0606020202030204" pitchFamily="34" charset="0"/>
                <a:ea typeface="LG스마트체 Regular" pitchFamily="34" charset="-127"/>
                <a:cs typeface="Arial"/>
              </a:rPr>
              <a:t> P operator = 0.539 &gt; 0.05      </a:t>
            </a:r>
          </a:p>
          <a:p>
            <a:r>
              <a:rPr lang="en-US" sz="1100" dirty="0">
                <a:latin typeface="Arial Narrow" panose="020B0606020202030204" pitchFamily="34" charset="0"/>
                <a:ea typeface="LG스마트체 Regular" pitchFamily="34" charset="-127"/>
                <a:cs typeface="Arial"/>
                <a:sym typeface="Wingdings" pitchFamily="2" charset="2"/>
              </a:rPr>
              <a:t>   It is normal that measurements should not be measured differently</a:t>
            </a:r>
            <a:r>
              <a:rPr lang="en-US" altLang="ko-KR" sz="1100" dirty="0">
                <a:solidFill>
                  <a:srgbClr val="000000"/>
                </a:solidFill>
                <a:latin typeface="Arial Narrow" panose="020B0606020202030204" pitchFamily="34" charset="0"/>
                <a:ea typeface="맑은 고딕" pitchFamily="50" charset="-127"/>
              </a:rPr>
              <a:t>.</a:t>
            </a:r>
          </a:p>
          <a:p>
            <a:pPr>
              <a:buFont typeface="Wingdings" pitchFamily="2" charset="2"/>
              <a:buChar char="§"/>
            </a:pPr>
            <a:r>
              <a:rPr lang="en-US" sz="1100" dirty="0">
                <a:solidFill>
                  <a:srgbClr val="000000"/>
                </a:solidFill>
                <a:latin typeface="Arial Narrow" panose="020B0606020202030204" pitchFamily="34" charset="0"/>
                <a:ea typeface="맑은 고딕" pitchFamily="50" charset="-127"/>
                <a:cs typeface="Arial"/>
                <a:sym typeface="Wingdings" pitchFamily="2" charset="2"/>
              </a:rPr>
              <a:t> </a:t>
            </a:r>
            <a:r>
              <a:rPr lang="en-US" sz="1100" dirty="0">
                <a:latin typeface="Arial Narrow" panose="020B0606020202030204" pitchFamily="34" charset="0"/>
                <a:ea typeface="LG스마트체 Regular" pitchFamily="34" charset="-127"/>
                <a:cs typeface="Arial"/>
                <a:sym typeface="Wingdings" pitchFamily="2" charset="2"/>
              </a:rPr>
              <a:t>P part * operator = 0.636 &gt; </a:t>
            </a:r>
            <a:r>
              <a:rPr lang="en-US" sz="1100" dirty="0">
                <a:latin typeface="Arial Narrow" panose="020B0606020202030204" pitchFamily="34" charset="0"/>
                <a:ea typeface="LG스마트체 Regular" pitchFamily="34" charset="-127"/>
                <a:cs typeface="Arial"/>
              </a:rPr>
              <a:t>0.05 </a:t>
            </a:r>
          </a:p>
          <a:p>
            <a:r>
              <a:rPr lang="en-US" sz="1100" dirty="0">
                <a:latin typeface="Arial Narrow" panose="020B0606020202030204" pitchFamily="34" charset="0"/>
                <a:ea typeface="LG스마트체 Regular" pitchFamily="34" charset="-127"/>
              </a:rPr>
              <a:t>  </a:t>
            </a:r>
            <a:r>
              <a:rPr lang="en-US" sz="1100" dirty="0">
                <a:latin typeface="Arial Narrow" panose="020B0606020202030204" pitchFamily="34" charset="0"/>
                <a:ea typeface="LG스마트체 Regular" pitchFamily="34" charset="-127"/>
                <a:sym typeface="Wingdings" pitchFamily="2" charset="2"/>
              </a:rPr>
              <a:t></a:t>
            </a:r>
            <a:r>
              <a:rPr lang="en-US" sz="1100" dirty="0">
                <a:latin typeface="Arial Narrow" panose="020B0606020202030204" pitchFamily="34" charset="0"/>
                <a:ea typeface="LG스마트체 Regular" pitchFamily="34" charset="-127"/>
              </a:rPr>
              <a:t> </a:t>
            </a:r>
            <a:r>
              <a:rPr lang="en-US" sz="1100" dirty="0">
                <a:latin typeface="Arial Narrow" panose="020B0606020202030204" pitchFamily="34" charset="0"/>
                <a:ea typeface="LG스마트체 Regular" pitchFamily="34" charset="-127"/>
                <a:cs typeface="Arial"/>
                <a:sym typeface="Wingdings" pitchFamily="2" charset="2"/>
              </a:rPr>
              <a:t>It is normal that Interaction between Part and Operator not occur   </a:t>
            </a:r>
          </a:p>
          <a:p>
            <a:r>
              <a:rPr lang="en-US" sz="1100" dirty="0">
                <a:latin typeface="Arial Narrow" panose="020B0606020202030204" pitchFamily="34" charset="0"/>
                <a:ea typeface="LG스마트체 Regular" pitchFamily="34" charset="-127"/>
                <a:cs typeface="Arial"/>
                <a:sym typeface="Wingdings" pitchFamily="2" charset="2"/>
              </a:rPr>
              <a:t>       which means that the measurement is not different between part &amp; operator</a:t>
            </a:r>
          </a:p>
          <a:p>
            <a:r>
              <a:rPr lang="en-US" sz="1100" b="1" u="sng" dirty="0">
                <a:latin typeface="Arial Narrow" panose="020B0606020202030204" pitchFamily="34" charset="0"/>
                <a:ea typeface="LG Smart_H Regular" panose="020B0600000101010101" pitchFamily="34" charset="-127"/>
              </a:rPr>
              <a:t>Conclusion:</a:t>
            </a:r>
          </a:p>
          <a:p>
            <a:r>
              <a:rPr lang="en-US" sz="1100" dirty="0">
                <a:latin typeface="Arial Narrow" panose="020B0606020202030204" pitchFamily="34" charset="0"/>
                <a:ea typeface="LG Smart_H Regular" panose="020B0600000101010101" pitchFamily="34" charset="-127"/>
              </a:rPr>
              <a:t>*3 people measure 10 samples, measure repeat 3 times (Blind and random)</a:t>
            </a:r>
          </a:p>
          <a:p>
            <a:pPr>
              <a:buFont typeface="Wingdings" pitchFamily="2" charset="2"/>
              <a:buChar char="§"/>
            </a:pPr>
            <a:r>
              <a:rPr lang="en-US" sz="1100" dirty="0">
                <a:latin typeface="Arial Narrow" panose="020B0606020202030204" pitchFamily="34" charset="0"/>
                <a:ea typeface="LG Smart_H Regular" panose="020B0600000101010101" pitchFamily="34" charset="-127"/>
              </a:rPr>
              <a:t>  % Study Var (SV) :</a:t>
            </a:r>
            <a:r>
              <a:rPr lang="vi-VN" sz="1100" dirty="0">
                <a:latin typeface="Arial Narrow" panose="020B0606020202030204" pitchFamily="34" charset="0"/>
                <a:ea typeface="LG Smart_H Regular" panose="020B0600000101010101" pitchFamily="34" charset="-127"/>
              </a:rPr>
              <a:t> </a:t>
            </a:r>
            <a:r>
              <a:rPr lang="en-US" sz="1100" dirty="0">
                <a:latin typeface="Arial Narrow" panose="020B0606020202030204" pitchFamily="34" charset="0"/>
                <a:ea typeface="LG Smart_H Regular" panose="020B0600000101010101" pitchFamily="34" charset="-127"/>
              </a:rPr>
              <a:t>9.48 &lt;</a:t>
            </a:r>
            <a:r>
              <a:rPr lang="vi-VN" sz="1100" dirty="0">
                <a:latin typeface="Arial Narrow" panose="020B0606020202030204" pitchFamily="34" charset="0"/>
                <a:ea typeface="LG Smart_H Regular" panose="020B0600000101010101" pitchFamily="34" charset="-127"/>
              </a:rPr>
              <a:t> </a:t>
            </a:r>
            <a:r>
              <a:rPr lang="en-US" sz="1100" dirty="0">
                <a:latin typeface="Arial Narrow" panose="020B0606020202030204" pitchFamily="34" charset="0"/>
                <a:ea typeface="LG Smart_H Regular" panose="020B0600000101010101" pitchFamily="34" charset="-127"/>
              </a:rPr>
              <a:t>10 (%) </a:t>
            </a:r>
            <a:r>
              <a:rPr lang="en-US" sz="1100" dirty="0">
                <a:latin typeface="Arial Narrow" panose="020B0606020202030204" pitchFamily="34" charset="0"/>
                <a:ea typeface="LG Smart_H Regular" panose="020B0600000101010101" pitchFamily="34" charset="-127"/>
                <a:sym typeface="Wingdings" pitchFamily="2" charset="2"/>
              </a:rPr>
              <a:t> </a:t>
            </a:r>
            <a:r>
              <a:rPr lang="en-US" sz="1100" b="1" dirty="0">
                <a:solidFill>
                  <a:srgbClr val="006600"/>
                </a:solidFill>
                <a:latin typeface="Arial Narrow" panose="020B0606020202030204" pitchFamily="34" charset="0"/>
                <a:ea typeface="LG Smart_H Regular" panose="020B0600000101010101" pitchFamily="34" charset="-127"/>
                <a:sym typeface="Wingdings" pitchFamily="2" charset="2"/>
              </a:rPr>
              <a:t>OK</a:t>
            </a:r>
          </a:p>
          <a:p>
            <a:r>
              <a:rPr lang="en-US" sz="1100" dirty="0">
                <a:solidFill>
                  <a:srgbClr val="006600"/>
                </a:solidFill>
                <a:latin typeface="Arial Narrow" panose="020B0606020202030204" pitchFamily="34" charset="0"/>
                <a:ea typeface="LG Smart_H Regular" panose="020B0600000101010101" pitchFamily="34" charset="-127"/>
                <a:sym typeface="Wingdings" pitchFamily="2" charset="2"/>
              </a:rPr>
              <a:t>      Can use to check process variation.</a:t>
            </a:r>
          </a:p>
          <a:p>
            <a:pPr>
              <a:buFont typeface="Wingdings" pitchFamily="2" charset="2"/>
              <a:buChar char="§"/>
            </a:pPr>
            <a:r>
              <a:rPr lang="en-US" sz="1100" dirty="0">
                <a:latin typeface="Arial Narrow" panose="020B0606020202030204" pitchFamily="34" charset="0"/>
                <a:ea typeface="LG Smart_H Regular" panose="020B0600000101010101" pitchFamily="34" charset="-127"/>
              </a:rPr>
              <a:t> % Tolerance</a:t>
            </a:r>
            <a:r>
              <a:rPr lang="vi-VN" sz="1100" dirty="0">
                <a:latin typeface="Arial Narrow" panose="020B0606020202030204" pitchFamily="34" charset="0"/>
                <a:ea typeface="LG Smart_H Regular" panose="020B0600000101010101" pitchFamily="34" charset="-127"/>
              </a:rPr>
              <a:t> </a:t>
            </a:r>
            <a:r>
              <a:rPr lang="en-US" sz="1100" dirty="0">
                <a:latin typeface="Arial Narrow" panose="020B0606020202030204" pitchFamily="34" charset="0"/>
                <a:ea typeface="LG Smart_H Regular" panose="020B0600000101010101" pitchFamily="34" charset="-127"/>
              </a:rPr>
              <a:t>(SV </a:t>
            </a:r>
            <a:r>
              <a:rPr lang="vi-VN" sz="1100" dirty="0">
                <a:latin typeface="Arial Narrow" panose="020B0606020202030204" pitchFamily="34" charset="0"/>
                <a:ea typeface="LG Smart_H Regular" panose="020B0600000101010101" pitchFamily="34" charset="-127"/>
              </a:rPr>
              <a:t>/ </a:t>
            </a:r>
            <a:r>
              <a:rPr lang="en-US" sz="1100" dirty="0">
                <a:latin typeface="Arial Narrow" panose="020B0606020202030204" pitchFamily="34" charset="0"/>
                <a:ea typeface="LG Smart_H Regular" panose="020B0600000101010101" pitchFamily="34" charset="-127"/>
              </a:rPr>
              <a:t>Toler) : 6.69 &lt;</a:t>
            </a:r>
            <a:r>
              <a:rPr lang="vi-VN" sz="1100" dirty="0">
                <a:latin typeface="Arial Narrow" panose="020B0606020202030204" pitchFamily="34" charset="0"/>
                <a:ea typeface="LG Smart_H Regular" panose="020B0600000101010101" pitchFamily="34" charset="-127"/>
              </a:rPr>
              <a:t> </a:t>
            </a:r>
            <a:r>
              <a:rPr lang="en-US" sz="1100" dirty="0">
                <a:latin typeface="Arial Narrow" panose="020B0606020202030204" pitchFamily="34" charset="0"/>
                <a:ea typeface="LG Smart_H Regular" panose="020B0600000101010101" pitchFamily="34" charset="-127"/>
              </a:rPr>
              <a:t>10 (%) </a:t>
            </a:r>
            <a:r>
              <a:rPr lang="en-US" sz="1100" dirty="0">
                <a:latin typeface="Arial Narrow" panose="020B0606020202030204" pitchFamily="34" charset="0"/>
                <a:ea typeface="LG Smart_H Regular" panose="020B0600000101010101" pitchFamily="34" charset="-127"/>
                <a:sym typeface="Wingdings" pitchFamily="2" charset="2"/>
              </a:rPr>
              <a:t> </a:t>
            </a:r>
            <a:r>
              <a:rPr lang="en-US" sz="1100" b="1" dirty="0">
                <a:solidFill>
                  <a:srgbClr val="006600"/>
                </a:solidFill>
                <a:latin typeface="Arial Narrow" panose="020B0606020202030204" pitchFamily="34" charset="0"/>
                <a:ea typeface="LG Smart_H Regular" panose="020B0600000101010101" pitchFamily="34" charset="-127"/>
                <a:sym typeface="Wingdings" pitchFamily="2" charset="2"/>
              </a:rPr>
              <a:t>OK</a:t>
            </a:r>
          </a:p>
          <a:p>
            <a:r>
              <a:rPr lang="en-US" sz="1100" dirty="0">
                <a:solidFill>
                  <a:srgbClr val="006600"/>
                </a:solidFill>
                <a:latin typeface="Arial Narrow" panose="020B0606020202030204" pitchFamily="34" charset="0"/>
                <a:ea typeface="LG Smart_H Regular" panose="020B0600000101010101" pitchFamily="34" charset="-127"/>
                <a:sym typeface="Wingdings" pitchFamily="2" charset="2"/>
              </a:rPr>
              <a:t>      Can use to judge OK/NG</a:t>
            </a:r>
          </a:p>
          <a:p>
            <a:pPr>
              <a:buFont typeface="Wingdings" pitchFamily="2" charset="2"/>
              <a:buChar char="§"/>
            </a:pPr>
            <a:r>
              <a:rPr lang="en-US" sz="1100" dirty="0">
                <a:latin typeface="Arial Narrow" panose="020B0606020202030204" pitchFamily="34" charset="0"/>
                <a:ea typeface="LG Smart_H Regular" panose="020B0600000101010101" pitchFamily="34" charset="-127"/>
                <a:sym typeface="Wingdings" pitchFamily="2" charset="2"/>
              </a:rPr>
              <a:t> NDC:</a:t>
            </a:r>
            <a:r>
              <a:rPr lang="vi-VN" sz="1100" dirty="0">
                <a:latin typeface="Arial Narrow" panose="020B0606020202030204" pitchFamily="34" charset="0"/>
                <a:ea typeface="LG Smart_H Regular" panose="020B0600000101010101" pitchFamily="34" charset="-127"/>
                <a:sym typeface="Wingdings" pitchFamily="2" charset="2"/>
              </a:rPr>
              <a:t> </a:t>
            </a:r>
            <a:r>
              <a:rPr lang="en-US" sz="1100" dirty="0">
                <a:latin typeface="Arial Narrow" panose="020B0606020202030204" pitchFamily="34" charset="0"/>
                <a:ea typeface="LG Smart_H Regular" panose="020B0600000101010101" pitchFamily="34" charset="-127"/>
                <a:sym typeface="Wingdings" pitchFamily="2" charset="2"/>
              </a:rPr>
              <a:t>14 &gt;</a:t>
            </a:r>
            <a:r>
              <a:rPr lang="vi-VN" sz="1100" dirty="0">
                <a:latin typeface="Arial Narrow" panose="020B0606020202030204" pitchFamily="34" charset="0"/>
                <a:ea typeface="LG Smart_H Regular" panose="020B0600000101010101" pitchFamily="34" charset="-127"/>
                <a:sym typeface="Wingdings" pitchFamily="2" charset="2"/>
              </a:rPr>
              <a:t> </a:t>
            </a:r>
            <a:r>
              <a:rPr lang="en-US" sz="1100" dirty="0">
                <a:latin typeface="Arial Narrow" panose="020B0606020202030204" pitchFamily="34" charset="0"/>
                <a:ea typeface="LG Smart_H Regular" panose="020B0600000101010101" pitchFamily="34" charset="-127"/>
                <a:sym typeface="Wingdings" pitchFamily="2" charset="2"/>
              </a:rPr>
              <a:t>5 </a:t>
            </a:r>
            <a:r>
              <a:rPr lang="en-US" sz="1100" dirty="0">
                <a:solidFill>
                  <a:srgbClr val="006600"/>
                </a:solidFill>
                <a:latin typeface="Arial Narrow" panose="020B0606020202030204" pitchFamily="34" charset="0"/>
                <a:ea typeface="LG Smart_H Regular" panose="020B0600000101010101" pitchFamily="34" charset="-127"/>
                <a:sym typeface="Wingdings" pitchFamily="2" charset="2"/>
              </a:rPr>
              <a:t> </a:t>
            </a:r>
            <a:r>
              <a:rPr lang="en-US" sz="1100" b="1" dirty="0">
                <a:solidFill>
                  <a:srgbClr val="006600"/>
                </a:solidFill>
                <a:latin typeface="Arial Narrow" panose="020B0606020202030204" pitchFamily="34" charset="0"/>
                <a:ea typeface="LG Smart_H Regular" panose="020B0600000101010101" pitchFamily="34" charset="-127"/>
                <a:sym typeface="Wingdings" pitchFamily="2" charset="2"/>
              </a:rPr>
              <a:t>OK</a:t>
            </a:r>
          </a:p>
        </p:txBody>
      </p:sp>
      <p:sp>
        <p:nvSpPr>
          <p:cNvPr id="24" name="제목 1">
            <a:extLst>
              <a:ext uri="{FF2B5EF4-FFF2-40B4-BE49-F238E27FC236}">
                <a16:creationId xmlns:a16="http://schemas.microsoft.com/office/drawing/2014/main" id="{315325B2-5A31-4DA9-8183-41DD2DCCF5C3}"/>
              </a:ext>
            </a:extLst>
          </p:cNvPr>
          <p:cNvSpPr>
            <a:spLocks noGrp="1"/>
          </p:cNvSpPr>
          <p:nvPr>
            <p:ph type="title"/>
          </p:nvPr>
        </p:nvSpPr>
        <p:spPr>
          <a:xfrm>
            <a:off x="56459" y="116632"/>
            <a:ext cx="3645211" cy="418058"/>
          </a:xfrm>
        </p:spPr>
        <p:txBody>
          <a:bodyPr>
            <a:normAutofit/>
          </a:bodyPr>
          <a:lstStyle/>
          <a:p>
            <a:r>
              <a:rPr lang="en-US" altLang="ko-KR" sz="2000" b="1" dirty="0">
                <a:latin typeface="Arial Narrow" panose="020B0606020202030204" pitchFamily="34" charset="0"/>
                <a:ea typeface="LG스마트체 Regular" panose="020B0600000101010101" pitchFamily="50" charset="-127"/>
              </a:rPr>
              <a:t>2. Result of Gage Study</a:t>
            </a:r>
            <a:endParaRPr lang="ko-KR" altLang="en-US" sz="2000" b="1" dirty="0">
              <a:latin typeface="Arial Narrow" panose="020B0606020202030204" pitchFamily="34" charset="0"/>
              <a:ea typeface="LG스마트체 Regular" panose="020B0600000101010101" pitchFamily="50" charset="-127"/>
            </a:endParaRPr>
          </a:p>
        </p:txBody>
      </p:sp>
      <p:graphicFrame>
        <p:nvGraphicFramePr>
          <p:cNvPr id="16" name="Table 15">
            <a:extLst>
              <a:ext uri="{FF2B5EF4-FFF2-40B4-BE49-F238E27FC236}">
                <a16:creationId xmlns:a16="http://schemas.microsoft.com/office/drawing/2014/main" id="{A5702848-0E56-4C15-9519-5F083DFBEB42}"/>
              </a:ext>
            </a:extLst>
          </p:cNvPr>
          <p:cNvGraphicFramePr>
            <a:graphicFrameLocks noGrp="1"/>
          </p:cNvGraphicFramePr>
          <p:nvPr>
            <p:extLst>
              <p:ext uri="{D42A27DB-BD31-4B8C-83A1-F6EECF244321}">
                <p14:modId xmlns:p14="http://schemas.microsoft.com/office/powerpoint/2010/main" val="2334452178"/>
              </p:ext>
            </p:extLst>
          </p:nvPr>
        </p:nvGraphicFramePr>
        <p:xfrm>
          <a:off x="215980" y="1125989"/>
          <a:ext cx="4737020" cy="1878893"/>
        </p:xfrm>
        <a:graphic>
          <a:graphicData uri="http://schemas.openxmlformats.org/drawingml/2006/table">
            <a:tbl>
              <a:tblPr/>
              <a:tblGrid>
                <a:gridCol w="473702">
                  <a:extLst>
                    <a:ext uri="{9D8B030D-6E8A-4147-A177-3AD203B41FA5}">
                      <a16:colId xmlns:a16="http://schemas.microsoft.com/office/drawing/2014/main" val="3263309948"/>
                    </a:ext>
                  </a:extLst>
                </a:gridCol>
                <a:gridCol w="473702">
                  <a:extLst>
                    <a:ext uri="{9D8B030D-6E8A-4147-A177-3AD203B41FA5}">
                      <a16:colId xmlns:a16="http://schemas.microsoft.com/office/drawing/2014/main" val="2703788228"/>
                    </a:ext>
                  </a:extLst>
                </a:gridCol>
                <a:gridCol w="473702">
                  <a:extLst>
                    <a:ext uri="{9D8B030D-6E8A-4147-A177-3AD203B41FA5}">
                      <a16:colId xmlns:a16="http://schemas.microsoft.com/office/drawing/2014/main" val="4137489031"/>
                    </a:ext>
                  </a:extLst>
                </a:gridCol>
                <a:gridCol w="473702">
                  <a:extLst>
                    <a:ext uri="{9D8B030D-6E8A-4147-A177-3AD203B41FA5}">
                      <a16:colId xmlns:a16="http://schemas.microsoft.com/office/drawing/2014/main" val="2378499388"/>
                    </a:ext>
                  </a:extLst>
                </a:gridCol>
                <a:gridCol w="473702">
                  <a:extLst>
                    <a:ext uri="{9D8B030D-6E8A-4147-A177-3AD203B41FA5}">
                      <a16:colId xmlns:a16="http://schemas.microsoft.com/office/drawing/2014/main" val="2051812191"/>
                    </a:ext>
                  </a:extLst>
                </a:gridCol>
                <a:gridCol w="473702">
                  <a:extLst>
                    <a:ext uri="{9D8B030D-6E8A-4147-A177-3AD203B41FA5}">
                      <a16:colId xmlns:a16="http://schemas.microsoft.com/office/drawing/2014/main" val="917533864"/>
                    </a:ext>
                  </a:extLst>
                </a:gridCol>
                <a:gridCol w="473702">
                  <a:extLst>
                    <a:ext uri="{9D8B030D-6E8A-4147-A177-3AD203B41FA5}">
                      <a16:colId xmlns:a16="http://schemas.microsoft.com/office/drawing/2014/main" val="3860865246"/>
                    </a:ext>
                  </a:extLst>
                </a:gridCol>
                <a:gridCol w="473702">
                  <a:extLst>
                    <a:ext uri="{9D8B030D-6E8A-4147-A177-3AD203B41FA5}">
                      <a16:colId xmlns:a16="http://schemas.microsoft.com/office/drawing/2014/main" val="577470680"/>
                    </a:ext>
                  </a:extLst>
                </a:gridCol>
                <a:gridCol w="473702">
                  <a:extLst>
                    <a:ext uri="{9D8B030D-6E8A-4147-A177-3AD203B41FA5}">
                      <a16:colId xmlns:a16="http://schemas.microsoft.com/office/drawing/2014/main" val="259095409"/>
                    </a:ext>
                  </a:extLst>
                </a:gridCol>
                <a:gridCol w="473702">
                  <a:extLst>
                    <a:ext uri="{9D8B030D-6E8A-4147-A177-3AD203B41FA5}">
                      <a16:colId xmlns:a16="http://schemas.microsoft.com/office/drawing/2014/main" val="1439777608"/>
                    </a:ext>
                  </a:extLst>
                </a:gridCol>
              </a:tblGrid>
              <a:tr h="158878">
                <a:tc>
                  <a:txBody>
                    <a:bodyPr/>
                    <a:lstStyle/>
                    <a:p>
                      <a:pPr algn="ctr" rtl="0" fontAlgn="ctr"/>
                      <a:r>
                        <a:rPr lang="en-US" sz="900" b="0" i="0" u="none" strike="noStrike" dirty="0">
                          <a:solidFill>
                            <a:srgbClr val="000000"/>
                          </a:solidFill>
                          <a:effectLst/>
                          <a:latin typeface="Arial Narrow" panose="020B0606020202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gridSpan="3">
                  <a:txBody>
                    <a:bodyPr/>
                    <a:lstStyle/>
                    <a:p>
                      <a:pPr algn="ctr" rtl="0" fontAlgn="ctr"/>
                      <a:r>
                        <a:rPr lang="en-US" sz="900" b="1" i="0" u="none" strike="noStrike" dirty="0">
                          <a:solidFill>
                            <a:srgbClr val="000000"/>
                          </a:solidFill>
                          <a:effectLst/>
                          <a:latin typeface="Arial Narrow" panose="020B0606020202030204" pitchFamily="34" charset="0"/>
                        </a:rPr>
                        <a:t>Hoang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tc hMerge="1">
                  <a:txBody>
                    <a:bodyPr/>
                    <a:lstStyle/>
                    <a:p>
                      <a:endParaRPr lang="en-US"/>
                    </a:p>
                  </a:txBody>
                  <a:tcPr/>
                </a:tc>
                <a:tc gridSpan="3">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1" i="0" u="none" strike="noStrike" dirty="0">
                          <a:solidFill>
                            <a:srgbClr val="000000"/>
                          </a:solidFill>
                          <a:effectLst/>
                          <a:latin typeface="Arial Narrow" panose="020B0606020202030204" pitchFamily="34" charset="0"/>
                        </a:rPr>
                        <a:t>Long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tc hMerge="1">
                  <a:txBody>
                    <a:bodyPr/>
                    <a:lstStyle/>
                    <a:p>
                      <a:endParaRPr lang="en-US"/>
                    </a:p>
                  </a:txBody>
                  <a:tcPr/>
                </a:tc>
                <a:tc gridSpan="3">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1" i="0" u="none" strike="noStrike" dirty="0">
                          <a:solidFill>
                            <a:srgbClr val="000000"/>
                          </a:solidFill>
                          <a:effectLst/>
                          <a:latin typeface="Arial Narrow" panose="020B0606020202030204" pitchFamily="34" charset="0"/>
                        </a:rPr>
                        <a:t>Duc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67490384"/>
                  </a:ext>
                </a:extLst>
              </a:tr>
              <a:tr h="156365">
                <a:tc>
                  <a:txBody>
                    <a:bodyPr/>
                    <a:lstStyle/>
                    <a:p>
                      <a:pPr algn="ctr" rtl="0" fontAlgn="ctr"/>
                      <a:r>
                        <a:rPr lang="en-US" sz="900" b="0" i="0" u="none" strike="noStrike" dirty="0">
                          <a:solidFill>
                            <a:srgbClr val="000000"/>
                          </a:solidFill>
                          <a:effectLst/>
                          <a:latin typeface="Arial Narrow" panose="020B0606020202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900" b="1" i="0" u="none" strike="noStrike" dirty="0">
                          <a:solidFill>
                            <a:srgbClr val="000000"/>
                          </a:solidFill>
                          <a:effectLst/>
                          <a:latin typeface="Arial Narrow" panose="020B0606020202030204" pitchFamily="34" charset="0"/>
                        </a:rPr>
                        <a:t>Time 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900" b="1" i="0" u="none" strike="noStrike">
                          <a:solidFill>
                            <a:srgbClr val="000000"/>
                          </a:solidFill>
                          <a:effectLst/>
                          <a:latin typeface="Arial Narrow" panose="020B0606020202030204" pitchFamily="34" charset="0"/>
                        </a:rPr>
                        <a:t>Time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900" b="1" i="0" u="none" strike="noStrike" dirty="0">
                          <a:solidFill>
                            <a:srgbClr val="000000"/>
                          </a:solidFill>
                          <a:effectLst/>
                          <a:latin typeface="Arial Narrow" panose="020B0606020202030204" pitchFamily="34" charset="0"/>
                        </a:rPr>
                        <a:t>Time 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900" b="1" i="0" u="none" strike="noStrike" dirty="0">
                          <a:solidFill>
                            <a:srgbClr val="000000"/>
                          </a:solidFill>
                          <a:effectLst/>
                          <a:latin typeface="Arial Narrow" panose="020B0606020202030204" pitchFamily="34" charset="0"/>
                        </a:rPr>
                        <a:t>Time 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900" b="1" i="0" u="none" strike="noStrike">
                          <a:solidFill>
                            <a:srgbClr val="000000"/>
                          </a:solidFill>
                          <a:effectLst/>
                          <a:latin typeface="Arial Narrow" panose="020B0606020202030204" pitchFamily="34" charset="0"/>
                        </a:rPr>
                        <a:t>Time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900" b="1" i="0" u="none" strike="noStrike">
                          <a:solidFill>
                            <a:srgbClr val="000000"/>
                          </a:solidFill>
                          <a:effectLst/>
                          <a:latin typeface="Arial Narrow" panose="020B0606020202030204" pitchFamily="34" charset="0"/>
                        </a:rPr>
                        <a:t>Time 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900" b="1" i="0" u="none" strike="noStrike">
                          <a:solidFill>
                            <a:srgbClr val="000000"/>
                          </a:solidFill>
                          <a:effectLst/>
                          <a:latin typeface="Arial Narrow" panose="020B0606020202030204" pitchFamily="34" charset="0"/>
                        </a:rPr>
                        <a:t>Time 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900" b="1" i="0" u="none" strike="noStrike">
                          <a:solidFill>
                            <a:srgbClr val="000000"/>
                          </a:solidFill>
                          <a:effectLst/>
                          <a:latin typeface="Arial Narrow" panose="020B0606020202030204" pitchFamily="34" charset="0"/>
                        </a:rPr>
                        <a:t>Time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900" b="1" i="0" u="none" strike="noStrike">
                          <a:solidFill>
                            <a:srgbClr val="000000"/>
                          </a:solidFill>
                          <a:effectLst/>
                          <a:latin typeface="Arial Narrow" panose="020B0606020202030204" pitchFamily="34" charset="0"/>
                        </a:rPr>
                        <a:t>Time 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472263063"/>
                  </a:ext>
                </a:extLst>
              </a:tr>
              <a:tr h="156365">
                <a:tc>
                  <a:txBody>
                    <a:bodyPr/>
                    <a:lstStyle/>
                    <a:p>
                      <a:pPr algn="ctr" fontAlgn="b">
                        <a:buNone/>
                      </a:pPr>
                      <a:r>
                        <a:rPr lang="en-US" sz="900" b="0" i="0" u="none" strike="noStrike" dirty="0">
                          <a:solidFill>
                            <a:srgbClr val="000000"/>
                          </a:solidFill>
                          <a:effectLst/>
                          <a:latin typeface="Arial Narrow" panose="020B0606020202030204" pitchFamily="34" charset="0"/>
                        </a:rPr>
                        <a:t>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dirty="0">
                          <a:solidFill>
                            <a:srgbClr val="000000"/>
                          </a:solidFill>
                          <a:effectLst/>
                          <a:latin typeface="Arial Narrow" panose="020B0606020202030204" pitchFamily="34" charset="0"/>
                        </a:rPr>
                        <a:t>0.24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0.26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0.25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0.23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0.23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0.24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0.26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0.24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0.23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41863025"/>
                  </a:ext>
                </a:extLst>
              </a:tr>
              <a:tr h="156365">
                <a:tc>
                  <a:txBody>
                    <a:bodyPr/>
                    <a:lstStyle/>
                    <a:p>
                      <a:pPr algn="ctr" fontAlgn="b">
                        <a:buNone/>
                      </a:pPr>
                      <a:r>
                        <a:rPr lang="en-US" sz="900" b="0" i="0" u="none" strike="noStrike">
                          <a:solidFill>
                            <a:srgbClr val="000000"/>
                          </a:solidFill>
                          <a:effectLst/>
                          <a:latin typeface="Arial Narrow" panose="020B0606020202030204" pitchFamily="34" charset="0"/>
                        </a:rPr>
                        <a:t>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0.05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0.04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0.05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0.04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0.05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0.05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0.06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0.05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0.05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86790754"/>
                  </a:ext>
                </a:extLst>
              </a:tr>
              <a:tr h="156365">
                <a:tc>
                  <a:txBody>
                    <a:bodyPr/>
                    <a:lstStyle/>
                    <a:p>
                      <a:pPr algn="ctr" fontAlgn="b">
                        <a:buNone/>
                      </a:pPr>
                      <a:r>
                        <a:rPr lang="en-US" sz="900" b="0" i="0" u="none" strike="noStrike">
                          <a:solidFill>
                            <a:srgbClr val="000000"/>
                          </a:solidFill>
                          <a:effectLst/>
                          <a:latin typeface="Arial Narrow" panose="020B0606020202030204" pitchFamily="34"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0.33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0.35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0.32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0.32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0.33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0.36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0.34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0.35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0.33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88975452"/>
                  </a:ext>
                </a:extLst>
              </a:tr>
              <a:tr h="156365">
                <a:tc>
                  <a:txBody>
                    <a:bodyPr/>
                    <a:lstStyle/>
                    <a:p>
                      <a:pPr algn="ctr" fontAlgn="b">
                        <a:buNone/>
                      </a:pPr>
                      <a:r>
                        <a:rPr lang="en-US" sz="900" b="0" i="0" u="none" strike="noStrike" dirty="0">
                          <a:solidFill>
                            <a:srgbClr val="000000"/>
                          </a:solidFill>
                          <a:effectLst/>
                          <a:latin typeface="Arial Narrow" panose="020B0606020202030204" pitchFamily="34" charset="0"/>
                        </a:rPr>
                        <a:t>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0.03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0.02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0.01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0.02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0.01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0.05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0.02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0.06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0.04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61172629"/>
                  </a:ext>
                </a:extLst>
              </a:tr>
              <a:tr h="156365">
                <a:tc>
                  <a:txBody>
                    <a:bodyPr/>
                    <a:lstStyle/>
                    <a:p>
                      <a:pPr algn="ctr" fontAlgn="b">
                        <a:buNone/>
                      </a:pPr>
                      <a:r>
                        <a:rPr lang="en-US" sz="900" b="0" i="0" u="none" strike="noStrike">
                          <a:solidFill>
                            <a:srgbClr val="000000"/>
                          </a:solidFill>
                          <a:effectLst/>
                          <a:latin typeface="Arial Narrow" panose="020B0606020202030204" pitchFamily="34" charset="0"/>
                        </a:rPr>
                        <a:t>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0.15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0.18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0.17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0.16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0.17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0.15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0.18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0.17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0.16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5227887"/>
                  </a:ext>
                </a:extLst>
              </a:tr>
              <a:tr h="156365">
                <a:tc>
                  <a:txBody>
                    <a:bodyPr/>
                    <a:lstStyle/>
                    <a:p>
                      <a:pPr algn="ctr" fontAlgn="b">
                        <a:buNone/>
                      </a:pPr>
                      <a:r>
                        <a:rPr lang="en-US" sz="900" b="0" i="0" u="none" strike="noStrike">
                          <a:solidFill>
                            <a:srgbClr val="000000"/>
                          </a:solidFill>
                          <a:effectLst/>
                          <a:latin typeface="Arial Narrow" panose="020B0606020202030204" pitchFamily="34" charset="0"/>
                        </a:rPr>
                        <a:t>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0.43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0.44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0.45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0.43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0.46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0.48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0.45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0.43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0.44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5264957"/>
                  </a:ext>
                </a:extLst>
              </a:tr>
              <a:tr h="156365">
                <a:tc>
                  <a:txBody>
                    <a:bodyPr/>
                    <a:lstStyle/>
                    <a:p>
                      <a:pPr algn="ctr" fontAlgn="b">
                        <a:buNone/>
                      </a:pPr>
                      <a:r>
                        <a:rPr lang="en-US" sz="900" b="0" i="0" u="none" strike="noStrike">
                          <a:solidFill>
                            <a:srgbClr val="000000"/>
                          </a:solidFill>
                          <a:effectLst/>
                          <a:latin typeface="Arial Narrow" panose="020B0606020202030204" pitchFamily="34"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0.08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0.09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0.07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0.07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0.08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0.06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0.09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0.06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0.08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98852608"/>
                  </a:ext>
                </a:extLst>
              </a:tr>
              <a:tr h="156365">
                <a:tc>
                  <a:txBody>
                    <a:bodyPr/>
                    <a:lstStyle/>
                    <a:p>
                      <a:pPr algn="ctr" fontAlgn="b">
                        <a:buNone/>
                      </a:pPr>
                      <a:r>
                        <a:rPr lang="en-US" sz="900" b="0" i="0" u="none" strike="noStrike">
                          <a:solidFill>
                            <a:srgbClr val="000000"/>
                          </a:solidFill>
                          <a:effectLst/>
                          <a:latin typeface="Arial Narrow" panose="020B0606020202030204" pitchFamily="34"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0.13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0.15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0.14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0.12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0.13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0.13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0.14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0.16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0.13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14917842"/>
                  </a:ext>
                </a:extLst>
              </a:tr>
              <a:tr h="156365">
                <a:tc>
                  <a:txBody>
                    <a:bodyPr/>
                    <a:lstStyle/>
                    <a:p>
                      <a:pPr algn="ctr" fontAlgn="b">
                        <a:buNone/>
                      </a:pPr>
                      <a:r>
                        <a:rPr lang="en-US" sz="900" b="0" i="0" u="none" strike="noStrike">
                          <a:solidFill>
                            <a:srgbClr val="000000"/>
                          </a:solidFill>
                          <a:effectLst/>
                          <a:latin typeface="Arial Narrow" panose="020B0606020202030204" pitchFamily="34" charset="0"/>
                        </a:rPr>
                        <a:t>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0.05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0.04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0.03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0.03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0.07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0.06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0.05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0.03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0.04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03329447"/>
                  </a:ext>
                </a:extLst>
              </a:tr>
              <a:tr h="156365">
                <a:tc>
                  <a:txBody>
                    <a:bodyPr/>
                    <a:lstStyle/>
                    <a:p>
                      <a:pPr algn="ctr" fontAlgn="b">
                        <a:buNone/>
                      </a:pPr>
                      <a:r>
                        <a:rPr lang="en-US" sz="900" b="0" i="0" u="none" strike="noStrike">
                          <a:solidFill>
                            <a:srgbClr val="000000"/>
                          </a:solidFill>
                          <a:effectLst/>
                          <a:latin typeface="Arial Narrow" panose="020B0606020202030204" pitchFamily="34" charset="0"/>
                        </a:rPr>
                        <a:t>10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0.26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0.28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0.25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0.26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0.27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0.29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0.28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a:solidFill>
                            <a:srgbClr val="000000"/>
                          </a:solidFill>
                          <a:effectLst/>
                          <a:latin typeface="Arial Narrow" panose="020B0606020202030204" pitchFamily="34" charset="0"/>
                        </a:rPr>
                        <a:t>0.25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buNone/>
                      </a:pPr>
                      <a:r>
                        <a:rPr lang="en-US" sz="900" b="0" i="0" u="none" strike="noStrike" dirty="0">
                          <a:solidFill>
                            <a:srgbClr val="000000"/>
                          </a:solidFill>
                          <a:effectLst/>
                          <a:latin typeface="Arial Narrow" panose="020B0606020202030204" pitchFamily="34" charset="0"/>
                        </a:rPr>
                        <a:t>0.27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33567591"/>
                  </a:ext>
                </a:extLst>
              </a:tr>
            </a:tbl>
          </a:graphicData>
        </a:graphic>
      </p:graphicFrame>
      <p:pic>
        <p:nvPicPr>
          <p:cNvPr id="25" name="Picture 24" descr="A screenshot of a document&#10;&#10;AI-generated content may be incorrect.">
            <a:extLst>
              <a:ext uri="{FF2B5EF4-FFF2-40B4-BE49-F238E27FC236}">
                <a16:creationId xmlns:a16="http://schemas.microsoft.com/office/drawing/2014/main" id="{613C4B18-BFF4-1D7D-4C48-F92AE29EC2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7589" y="992727"/>
            <a:ext cx="2815498" cy="5512788"/>
          </a:xfrm>
          <a:prstGeom prst="rect">
            <a:avLst/>
          </a:prstGeom>
        </p:spPr>
      </p:pic>
    </p:spTree>
    <p:extLst>
      <p:ext uri="{BB962C8B-B14F-4D97-AF65-F5344CB8AC3E}">
        <p14:creationId xmlns:p14="http://schemas.microsoft.com/office/powerpoint/2010/main" val="3698616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제목 1">
            <a:extLst>
              <a:ext uri="{FF2B5EF4-FFF2-40B4-BE49-F238E27FC236}">
                <a16:creationId xmlns:a16="http://schemas.microsoft.com/office/drawing/2014/main" id="{D053652F-952D-4227-8853-4A8D5BE87964}"/>
              </a:ext>
            </a:extLst>
          </p:cNvPr>
          <p:cNvSpPr txBox="1">
            <a:spLocks/>
          </p:cNvSpPr>
          <p:nvPr/>
        </p:nvSpPr>
        <p:spPr>
          <a:xfrm>
            <a:off x="161493" y="574669"/>
            <a:ext cx="2209927" cy="418058"/>
          </a:xfrm>
          <a:prstGeom prst="rect">
            <a:avLst/>
          </a:prstGeom>
        </p:spPr>
        <p:txBody>
          <a:bodyPr vert="horz" lIns="91440" tIns="45720" rIns="91440" bIns="45720" rtlCol="0" anchor="ctr">
            <a:normAutofit/>
          </a:bodyPr>
          <a:lstStyle/>
          <a:p>
            <a:pPr eaLnBrk="0" hangingPunct="0">
              <a:defRPr/>
            </a:pPr>
            <a:r>
              <a:rPr lang="en-US" altLang="ko-KR" sz="1600" b="1" kern="0" dirty="0">
                <a:solidFill>
                  <a:srgbClr val="000000"/>
                </a:solidFill>
                <a:latin typeface="Arial Narrow" panose="020B0606020202030204" pitchFamily="34" charset="0"/>
                <a:ea typeface="LG스마트체 Regular" panose="020B0600000101010101" pitchFamily="50" charset="-127"/>
                <a:cs typeface="+mj-cs"/>
              </a:rPr>
              <a:t>2.2. Type 2 study</a:t>
            </a:r>
            <a:endParaRPr lang="ko-KR" altLang="en-US" sz="1600" b="1" kern="0" dirty="0">
              <a:solidFill>
                <a:srgbClr val="000000"/>
              </a:solidFill>
              <a:latin typeface="Arial Narrow" panose="020B0606020202030204" pitchFamily="34" charset="0"/>
              <a:ea typeface="LG스마트체 Regular" panose="020B0600000101010101" pitchFamily="50" charset="-127"/>
              <a:cs typeface="+mj-cs"/>
            </a:endParaRPr>
          </a:p>
        </p:txBody>
      </p:sp>
      <p:cxnSp>
        <p:nvCxnSpPr>
          <p:cNvPr id="9" name="Straight Connector 8">
            <a:extLst>
              <a:ext uri="{FF2B5EF4-FFF2-40B4-BE49-F238E27FC236}">
                <a16:creationId xmlns:a16="http://schemas.microsoft.com/office/drawing/2014/main" id="{F7046F70-6FCF-4A90-B9BF-3CF16D401361}"/>
              </a:ext>
            </a:extLst>
          </p:cNvPr>
          <p:cNvCxnSpPr/>
          <p:nvPr/>
        </p:nvCxnSpPr>
        <p:spPr>
          <a:xfrm>
            <a:off x="-12488" y="561513"/>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AutoShape 55">
            <a:extLst>
              <a:ext uri="{FF2B5EF4-FFF2-40B4-BE49-F238E27FC236}">
                <a16:creationId xmlns:a16="http://schemas.microsoft.com/office/drawing/2014/main" id="{1FBC2BDD-2573-40AF-A2FD-AA2F90B6860D}"/>
              </a:ext>
            </a:extLst>
          </p:cNvPr>
          <p:cNvSpPr>
            <a:spLocks noChangeArrowheads="1"/>
          </p:cNvSpPr>
          <p:nvPr/>
        </p:nvSpPr>
        <p:spPr bwMode="auto">
          <a:xfrm>
            <a:off x="9137654" y="22542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cs typeface="Arial" panose="020B0604020202020204" pitchFamily="34" charset="0"/>
              </a:rPr>
              <a:t>Control</a:t>
            </a:r>
          </a:p>
        </p:txBody>
      </p:sp>
      <p:sp>
        <p:nvSpPr>
          <p:cNvPr id="12" name="AutoShape 56">
            <a:extLst>
              <a:ext uri="{FF2B5EF4-FFF2-40B4-BE49-F238E27FC236}">
                <a16:creationId xmlns:a16="http://schemas.microsoft.com/office/drawing/2014/main" id="{0416B919-A739-4E70-B30C-B4C4E227C0C0}"/>
              </a:ext>
            </a:extLst>
          </p:cNvPr>
          <p:cNvSpPr>
            <a:spLocks noChangeArrowheads="1"/>
          </p:cNvSpPr>
          <p:nvPr/>
        </p:nvSpPr>
        <p:spPr bwMode="auto">
          <a:xfrm>
            <a:off x="8448678" y="22542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cs typeface="Arial" panose="020B0604020202020204" pitchFamily="34" charset="0"/>
              </a:rPr>
              <a:t>Improve</a:t>
            </a:r>
          </a:p>
        </p:txBody>
      </p:sp>
      <p:sp>
        <p:nvSpPr>
          <p:cNvPr id="13" name="AutoShape 57">
            <a:extLst>
              <a:ext uri="{FF2B5EF4-FFF2-40B4-BE49-F238E27FC236}">
                <a16:creationId xmlns:a16="http://schemas.microsoft.com/office/drawing/2014/main" id="{D477655B-8B96-44FA-9010-51F143900F5E}"/>
              </a:ext>
            </a:extLst>
          </p:cNvPr>
          <p:cNvSpPr>
            <a:spLocks noChangeArrowheads="1"/>
          </p:cNvSpPr>
          <p:nvPr/>
        </p:nvSpPr>
        <p:spPr bwMode="auto">
          <a:xfrm>
            <a:off x="7756525" y="225425"/>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cs typeface="Arial" panose="020B0604020202020204" pitchFamily="34" charset="0"/>
              </a:rPr>
              <a:t>Analyze</a:t>
            </a:r>
          </a:p>
        </p:txBody>
      </p:sp>
      <p:sp>
        <p:nvSpPr>
          <p:cNvPr id="14" name="AutoShape 59">
            <a:extLst>
              <a:ext uri="{FF2B5EF4-FFF2-40B4-BE49-F238E27FC236}">
                <a16:creationId xmlns:a16="http://schemas.microsoft.com/office/drawing/2014/main" id="{C641F492-CC4B-41CD-8431-EEACE18BD5DF}"/>
              </a:ext>
            </a:extLst>
          </p:cNvPr>
          <p:cNvSpPr>
            <a:spLocks noChangeArrowheads="1"/>
          </p:cNvSpPr>
          <p:nvPr/>
        </p:nvSpPr>
        <p:spPr bwMode="auto">
          <a:xfrm>
            <a:off x="6388101" y="22542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cs typeface="Arial" panose="020B0604020202020204" pitchFamily="34" charset="0"/>
              </a:rPr>
              <a:t>Define</a:t>
            </a:r>
          </a:p>
        </p:txBody>
      </p:sp>
      <p:sp>
        <p:nvSpPr>
          <p:cNvPr id="15" name="AutoShape 58">
            <a:extLst>
              <a:ext uri="{FF2B5EF4-FFF2-40B4-BE49-F238E27FC236}">
                <a16:creationId xmlns:a16="http://schemas.microsoft.com/office/drawing/2014/main" id="{848F6389-C384-4601-91E9-CE4DBAD45C1E}"/>
              </a:ext>
            </a:extLst>
          </p:cNvPr>
          <p:cNvSpPr>
            <a:spLocks noChangeArrowheads="1"/>
          </p:cNvSpPr>
          <p:nvPr/>
        </p:nvSpPr>
        <p:spPr bwMode="auto">
          <a:xfrm>
            <a:off x="7085014" y="80967"/>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latin typeface="Arial Narrow" panose="020B0606020202030204" pitchFamily="34" charset="0"/>
                <a:ea typeface="맑은 고딕" panose="020B0503020000020004" pitchFamily="50" charset="-127"/>
                <a:cs typeface="Arial" panose="020B0604020202020204" pitchFamily="34" charset="0"/>
              </a:rPr>
              <a:t>Measure </a:t>
            </a:r>
          </a:p>
        </p:txBody>
      </p:sp>
      <p:sp>
        <p:nvSpPr>
          <p:cNvPr id="16" name="TextBox 15">
            <a:extLst>
              <a:ext uri="{FF2B5EF4-FFF2-40B4-BE49-F238E27FC236}">
                <a16:creationId xmlns:a16="http://schemas.microsoft.com/office/drawing/2014/main" id="{93A22656-9F83-4EDC-80D1-F4FA79A64016}"/>
              </a:ext>
            </a:extLst>
          </p:cNvPr>
          <p:cNvSpPr txBox="1"/>
          <p:nvPr/>
        </p:nvSpPr>
        <p:spPr>
          <a:xfrm>
            <a:off x="1667739" y="5425492"/>
            <a:ext cx="6263253" cy="600164"/>
          </a:xfrm>
          <a:prstGeom prst="rect">
            <a:avLst/>
          </a:prstGeom>
          <a:noFill/>
        </p:spPr>
        <p:txBody>
          <a:bodyPr wrap="none" rtlCol="0">
            <a:spAutoFit/>
          </a:bodyPr>
          <a:lstStyle/>
          <a:p>
            <a:r>
              <a:rPr lang="en-US" sz="1100" b="1" u="sng" dirty="0">
                <a:latin typeface="Arial Narrow" panose="020B0606020202030204" pitchFamily="34" charset="0"/>
                <a:ea typeface="LG Smart_H Regular" panose="020B0600000101010101" pitchFamily="34" charset="-127"/>
              </a:rPr>
              <a:t>Conclusion:</a:t>
            </a:r>
          </a:p>
          <a:p>
            <a:pPr>
              <a:buFontTx/>
              <a:buChar char="-"/>
            </a:pPr>
            <a:r>
              <a:rPr lang="en-US" sz="1100" dirty="0">
                <a:latin typeface="Arial Narrow" panose="020B0606020202030204" pitchFamily="34" charset="0"/>
                <a:ea typeface="LG Smart_H Regular" panose="020B0600000101010101" pitchFamily="34" charset="-127"/>
              </a:rPr>
              <a:t> Based on interaction between samples and inspector, </a:t>
            </a:r>
            <a:r>
              <a:rPr lang="en-GB" sz="1100" dirty="0">
                <a:latin typeface="Arial Narrow" panose="020B0606020202030204" pitchFamily="34" charset="0"/>
                <a:ea typeface="LG Smart_H Regular" panose="020B0600000101010101" pitchFamily="34" charset="-127"/>
              </a:rPr>
              <a:t>we cannot see significant differences between 10 samples.</a:t>
            </a:r>
          </a:p>
          <a:p>
            <a:pPr>
              <a:buFontTx/>
              <a:buChar char="-"/>
            </a:pPr>
            <a:r>
              <a:rPr lang="en-US" sz="1100" dirty="0">
                <a:latin typeface="Arial Narrow" panose="020B0606020202030204" pitchFamily="34" charset="0"/>
                <a:ea typeface="LG Smart_H Regular" panose="020B0600000101010101" pitchFamily="34" charset="-127"/>
              </a:rPr>
              <a:t> Inspector’s skill is acceptable. There is no significant differences between 3 operators during each measurement time.</a:t>
            </a:r>
            <a:endParaRPr lang="en-US" sz="1100" b="1" dirty="0">
              <a:latin typeface="Arial Narrow" panose="020B0606020202030204" pitchFamily="34" charset="0"/>
              <a:ea typeface="LG Smart_H Regular" panose="020B0600000101010101" pitchFamily="34" charset="-127"/>
            </a:endParaRPr>
          </a:p>
        </p:txBody>
      </p:sp>
      <p:sp>
        <p:nvSpPr>
          <p:cNvPr id="17" name="제목 1">
            <a:extLst>
              <a:ext uri="{FF2B5EF4-FFF2-40B4-BE49-F238E27FC236}">
                <a16:creationId xmlns:a16="http://schemas.microsoft.com/office/drawing/2014/main" id="{90FB43D8-C6BC-494F-AAE8-0F8B4A3EB8E3}"/>
              </a:ext>
            </a:extLst>
          </p:cNvPr>
          <p:cNvSpPr txBox="1">
            <a:spLocks/>
          </p:cNvSpPr>
          <p:nvPr/>
        </p:nvSpPr>
        <p:spPr>
          <a:xfrm>
            <a:off x="56459" y="116632"/>
            <a:ext cx="3645211" cy="418058"/>
          </a:xfrm>
          <a:prstGeom prst="rect">
            <a:avLst/>
          </a:prstGeom>
        </p:spPr>
        <p:txBody>
          <a:bodyPr vert="horz" lIns="91440" tIns="45720" rIns="91440" bIns="45720" rtlCol="0" anchor="ctr">
            <a:normAutofit/>
          </a:bodyPr>
          <a:lstStyle>
            <a:lvl1pPr algn="l" rtl="0" eaLnBrk="0" fontAlgn="base" latinLnBrk="1" hangingPunct="0">
              <a:spcBef>
                <a:spcPct val="0"/>
              </a:spcBef>
              <a:spcAft>
                <a:spcPct val="0"/>
              </a:spcAft>
              <a:defRPr kumimoji="1" sz="2000" b="1">
                <a:solidFill>
                  <a:schemeClr val="tx1"/>
                </a:solidFill>
                <a:latin typeface="맑은 고딕" panose="020B0503020000020004" pitchFamily="50" charset="-127"/>
                <a:ea typeface="맑은 고딕" panose="020B0503020000020004" pitchFamily="50" charset="-127"/>
                <a:cs typeface="+mj-cs"/>
              </a:defRPr>
            </a:lvl1pPr>
            <a:lvl2pPr algn="l" rtl="0" eaLnBrk="0" fontAlgn="base" latinLnBrk="1" hangingPunct="0">
              <a:spcBef>
                <a:spcPct val="0"/>
              </a:spcBef>
              <a:spcAft>
                <a:spcPct val="0"/>
              </a:spcAft>
              <a:defRPr kumimoji="1" sz="2000" b="1">
                <a:solidFill>
                  <a:schemeClr val="tx1"/>
                </a:solidFill>
                <a:latin typeface="Arial" charset="0"/>
                <a:ea typeface="돋움" pitchFamily="50" charset="-127"/>
              </a:defRPr>
            </a:lvl2pPr>
            <a:lvl3pPr algn="l" rtl="0" eaLnBrk="0" fontAlgn="base" latinLnBrk="1" hangingPunct="0">
              <a:spcBef>
                <a:spcPct val="0"/>
              </a:spcBef>
              <a:spcAft>
                <a:spcPct val="0"/>
              </a:spcAft>
              <a:defRPr kumimoji="1" sz="2000" b="1">
                <a:solidFill>
                  <a:schemeClr val="tx1"/>
                </a:solidFill>
                <a:latin typeface="Arial" charset="0"/>
                <a:ea typeface="돋움" pitchFamily="50" charset="-127"/>
              </a:defRPr>
            </a:lvl3pPr>
            <a:lvl4pPr algn="l" rtl="0" eaLnBrk="0" fontAlgn="base" latinLnBrk="1" hangingPunct="0">
              <a:spcBef>
                <a:spcPct val="0"/>
              </a:spcBef>
              <a:spcAft>
                <a:spcPct val="0"/>
              </a:spcAft>
              <a:defRPr kumimoji="1" sz="2000" b="1">
                <a:solidFill>
                  <a:schemeClr val="tx1"/>
                </a:solidFill>
                <a:latin typeface="Arial" charset="0"/>
                <a:ea typeface="돋움" pitchFamily="50" charset="-127"/>
              </a:defRPr>
            </a:lvl4pPr>
            <a:lvl5pPr algn="l" rtl="0" eaLnBrk="0" fontAlgn="base" latinLnBrk="1" hangingPunct="0">
              <a:spcBef>
                <a:spcPct val="0"/>
              </a:spcBef>
              <a:spcAft>
                <a:spcPct val="0"/>
              </a:spcAft>
              <a:defRPr kumimoji="1" sz="2000" b="1">
                <a:solidFill>
                  <a:schemeClr val="tx1"/>
                </a:solidFill>
                <a:latin typeface="Arial" charset="0"/>
                <a:ea typeface="돋움" pitchFamily="50" charset="-127"/>
              </a:defRPr>
            </a:lvl5pPr>
            <a:lvl6pPr marL="457200" algn="l" rtl="0" fontAlgn="base" latinLnBrk="1">
              <a:spcBef>
                <a:spcPct val="0"/>
              </a:spcBef>
              <a:spcAft>
                <a:spcPct val="0"/>
              </a:spcAft>
              <a:defRPr kumimoji="1" sz="2000" b="1">
                <a:solidFill>
                  <a:schemeClr val="tx1"/>
                </a:solidFill>
                <a:latin typeface="Arial" charset="0"/>
                <a:ea typeface="돋움" pitchFamily="50" charset="-127"/>
              </a:defRPr>
            </a:lvl6pPr>
            <a:lvl7pPr marL="914400" algn="l" rtl="0" fontAlgn="base" latinLnBrk="1">
              <a:spcBef>
                <a:spcPct val="0"/>
              </a:spcBef>
              <a:spcAft>
                <a:spcPct val="0"/>
              </a:spcAft>
              <a:defRPr kumimoji="1" sz="2000" b="1">
                <a:solidFill>
                  <a:schemeClr val="tx1"/>
                </a:solidFill>
                <a:latin typeface="Arial" charset="0"/>
                <a:ea typeface="돋움" pitchFamily="50" charset="-127"/>
              </a:defRPr>
            </a:lvl7pPr>
            <a:lvl8pPr marL="1371600" algn="l" rtl="0" fontAlgn="base" latinLnBrk="1">
              <a:spcBef>
                <a:spcPct val="0"/>
              </a:spcBef>
              <a:spcAft>
                <a:spcPct val="0"/>
              </a:spcAft>
              <a:defRPr kumimoji="1" sz="2000" b="1">
                <a:solidFill>
                  <a:schemeClr val="tx1"/>
                </a:solidFill>
                <a:latin typeface="Arial" charset="0"/>
                <a:ea typeface="돋움" pitchFamily="50" charset="-127"/>
              </a:defRPr>
            </a:lvl8pPr>
            <a:lvl9pPr marL="1828800" algn="l" rtl="0" fontAlgn="base" latinLnBrk="1">
              <a:spcBef>
                <a:spcPct val="0"/>
              </a:spcBef>
              <a:spcAft>
                <a:spcPct val="0"/>
              </a:spcAft>
              <a:defRPr kumimoji="1" sz="2000" b="1">
                <a:solidFill>
                  <a:schemeClr val="tx1"/>
                </a:solidFill>
                <a:latin typeface="Arial" charset="0"/>
                <a:ea typeface="돋움" pitchFamily="50" charset="-127"/>
              </a:defRPr>
            </a:lvl9pPr>
          </a:lstStyle>
          <a:p>
            <a:r>
              <a:rPr lang="en-US" altLang="ko-KR" kern="0" dirty="0">
                <a:latin typeface="Arial Narrow" panose="020B0606020202030204" pitchFamily="34" charset="0"/>
                <a:ea typeface="LG스마트체 Regular" panose="020B0600000101010101" pitchFamily="50" charset="-127"/>
              </a:rPr>
              <a:t>2. Result of Gage Study</a:t>
            </a:r>
            <a:endParaRPr lang="ko-KR" altLang="en-US" kern="0" dirty="0">
              <a:latin typeface="Arial Narrow" panose="020B0606020202030204" pitchFamily="34" charset="0"/>
              <a:ea typeface="LG스마트체 Regular" panose="020B0600000101010101" pitchFamily="50" charset="-127"/>
            </a:endParaRPr>
          </a:p>
        </p:txBody>
      </p:sp>
      <p:pic>
        <p:nvPicPr>
          <p:cNvPr id="3" name="Picture 2">
            <a:extLst>
              <a:ext uri="{FF2B5EF4-FFF2-40B4-BE49-F238E27FC236}">
                <a16:creationId xmlns:a16="http://schemas.microsoft.com/office/drawing/2014/main" id="{21FD8F87-D4C5-7952-603E-F2E9C8243AAD}"/>
              </a:ext>
            </a:extLst>
          </p:cNvPr>
          <p:cNvPicPr>
            <a:picLocks noChangeAspect="1"/>
          </p:cNvPicPr>
          <p:nvPr/>
        </p:nvPicPr>
        <p:blipFill>
          <a:blip r:embed="rId2"/>
          <a:stretch>
            <a:fillRect/>
          </a:stretch>
        </p:blipFill>
        <p:spPr>
          <a:xfrm>
            <a:off x="466391" y="1240210"/>
            <a:ext cx="4145790" cy="3110663"/>
          </a:xfrm>
          <a:prstGeom prst="rect">
            <a:avLst/>
          </a:prstGeom>
        </p:spPr>
      </p:pic>
      <p:pic>
        <p:nvPicPr>
          <p:cNvPr id="6" name="Picture 5">
            <a:extLst>
              <a:ext uri="{FF2B5EF4-FFF2-40B4-BE49-F238E27FC236}">
                <a16:creationId xmlns:a16="http://schemas.microsoft.com/office/drawing/2014/main" id="{FBEDC496-1BF7-C822-CE4D-DB47000461F6}"/>
              </a:ext>
            </a:extLst>
          </p:cNvPr>
          <p:cNvPicPr>
            <a:picLocks noChangeAspect="1"/>
          </p:cNvPicPr>
          <p:nvPr/>
        </p:nvPicPr>
        <p:blipFill>
          <a:blip r:embed="rId3"/>
          <a:stretch>
            <a:fillRect/>
          </a:stretch>
        </p:blipFill>
        <p:spPr>
          <a:xfrm>
            <a:off x="4780528" y="1223895"/>
            <a:ext cx="4659081" cy="3106053"/>
          </a:xfrm>
          <a:prstGeom prst="rect">
            <a:avLst/>
          </a:prstGeom>
        </p:spPr>
      </p:pic>
    </p:spTree>
    <p:extLst>
      <p:ext uri="{BB962C8B-B14F-4D97-AF65-F5344CB8AC3E}">
        <p14:creationId xmlns:p14="http://schemas.microsoft.com/office/powerpoint/2010/main" val="24907124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extBox 42"/>
          <p:cNvSpPr txBox="1"/>
          <p:nvPr/>
        </p:nvSpPr>
        <p:spPr>
          <a:xfrm>
            <a:off x="268104" y="991244"/>
            <a:ext cx="4222582" cy="600164"/>
          </a:xfrm>
          <a:prstGeom prst="rect">
            <a:avLst/>
          </a:prstGeom>
          <a:noFill/>
        </p:spPr>
        <p:txBody>
          <a:bodyPr wrap="square" rtlCol="0">
            <a:spAutoFit/>
          </a:bodyPr>
          <a:lstStyle/>
          <a:p>
            <a:pPr fontAlgn="base" latinLnBrk="1">
              <a:spcBef>
                <a:spcPct val="0"/>
              </a:spcBef>
              <a:spcAft>
                <a:spcPct val="0"/>
              </a:spcAft>
              <a:tabLst>
                <a:tab pos="1097273" algn="l"/>
              </a:tabLst>
            </a:pPr>
            <a:r>
              <a:rPr lang="en-US" altLang="ko-KR" sz="1100" dirty="0">
                <a:solidFill>
                  <a:srgbClr val="000000"/>
                </a:solidFill>
                <a:latin typeface="Arial Narrow" panose="020B0606020202030204" pitchFamily="34" charset="0"/>
                <a:ea typeface="LG Smart_H Regular" pitchFamily="34" charset="-127"/>
                <a:cs typeface="Arial" panose="020B0604020202020204" pitchFamily="34" charset="0"/>
              </a:rPr>
              <a:t> Issue Name: </a:t>
            </a:r>
            <a:r>
              <a:rPr lang="en-US" sz="1100" dirty="0">
                <a:latin typeface="Arial Narrow" panose="020B0606020202030204" pitchFamily="34" charset="0"/>
              </a:rPr>
              <a:t>Reduce distortion of USB audio signal on Renault AIVI2</a:t>
            </a:r>
            <a:endParaRPr lang="en-US" sz="1100" dirty="0">
              <a:latin typeface="Arial Narrow" panose="020B0606020202030204" pitchFamily="34" charset="0"/>
              <a:ea typeface="LG Smart_H Regular" panose="020B0600000101010101" pitchFamily="34" charset="-127"/>
              <a:cs typeface="Arial" panose="020B0604020202020204" pitchFamily="34" charset="0"/>
            </a:endParaRPr>
          </a:p>
          <a:p>
            <a:pPr marL="171449" indent="-171449">
              <a:buFontTx/>
              <a:buChar char="-"/>
            </a:pPr>
            <a:r>
              <a:rPr lang="en-US" altLang="ko-KR" sz="1100" dirty="0">
                <a:solidFill>
                  <a:srgbClr val="000000"/>
                </a:solidFill>
                <a:latin typeface="Arial Narrow" panose="020B0606020202030204" pitchFamily="34" charset="0"/>
                <a:cs typeface="Arial" panose="020B0604020202020204" pitchFamily="34" charset="0"/>
              </a:rPr>
              <a:t>Spec: </a:t>
            </a:r>
            <a:r>
              <a:rPr lang="en-US" altLang="ko-KR" sz="1100" dirty="0">
                <a:solidFill>
                  <a:srgbClr val="000000"/>
                </a:solidFill>
                <a:latin typeface="Arial Narrow" panose="020B0606020202030204" pitchFamily="34" charset="0"/>
                <a:ea typeface="LG Smart_H Regular" pitchFamily="34" charset="-127"/>
                <a:cs typeface="Arial" panose="020B0604020202020204" pitchFamily="34" charset="0"/>
              </a:rPr>
              <a:t>0 ~ 1.2</a:t>
            </a:r>
            <a:endParaRPr lang="en-US" sz="1100" dirty="0">
              <a:solidFill>
                <a:srgbClr val="000000"/>
              </a:solidFill>
              <a:latin typeface="Arial Narrow" panose="020B0606020202030204" pitchFamily="34" charset="0"/>
              <a:ea typeface="LG Smart_H Regular" pitchFamily="34" charset="-127"/>
              <a:cs typeface="Arial" panose="020B0604020202020204" pitchFamily="34" charset="0"/>
            </a:endParaRPr>
          </a:p>
          <a:p>
            <a:pPr marL="171449" indent="-171449">
              <a:buFontTx/>
              <a:buChar char="-"/>
            </a:pPr>
            <a:r>
              <a:rPr lang="en-US" altLang="ko-KR" sz="1100" dirty="0">
                <a:solidFill>
                  <a:srgbClr val="000000"/>
                </a:solidFill>
                <a:latin typeface="Arial Narrow" panose="020B0606020202030204" pitchFamily="34" charset="0"/>
                <a:ea typeface="LG Smart_H Regular" pitchFamily="34" charset="-127"/>
                <a:cs typeface="Arial" panose="020B0604020202020204" pitchFamily="34" charset="0"/>
              </a:rPr>
              <a:t>Inspection Period: </a:t>
            </a:r>
            <a:r>
              <a:rPr kumimoji="1" lang="en-US" altLang="ko-KR" sz="1100" kern="0" dirty="0">
                <a:solidFill>
                  <a:srgbClr val="000000"/>
                </a:solidFill>
                <a:latin typeface="Arial Narrow" panose="020B0606020202030204" pitchFamily="34" charset="0"/>
                <a:ea typeface="LG Smart_H Regular" pitchFamily="34" charset="-127"/>
                <a:cs typeface="Arial" panose="020B0604020202020204" pitchFamily="34" charset="0"/>
              </a:rPr>
              <a:t>14</a:t>
            </a:r>
            <a:r>
              <a:rPr kumimoji="1" lang="en-US" altLang="ko-KR" sz="1100" kern="0" dirty="0">
                <a:latin typeface="Arial Narrow" panose="020B0606020202030204" pitchFamily="34" charset="0"/>
                <a:ea typeface="LG Smart_H Regular" pitchFamily="34" charset="-127"/>
                <a:cs typeface="Arial" panose="020B0604020202020204" pitchFamily="34" charset="0"/>
              </a:rPr>
              <a:t>-08-2026 ~ 23-08-2026</a:t>
            </a:r>
          </a:p>
        </p:txBody>
      </p:sp>
      <p:sp>
        <p:nvSpPr>
          <p:cNvPr id="12" name="Rectangle 11"/>
          <p:cNvSpPr/>
          <p:nvPr/>
        </p:nvSpPr>
        <p:spPr>
          <a:xfrm>
            <a:off x="274689" y="4907385"/>
            <a:ext cx="1679337" cy="600164"/>
          </a:xfrm>
          <a:prstGeom prst="rect">
            <a:avLst/>
          </a:prstGeom>
        </p:spPr>
        <p:txBody>
          <a:bodyPr wrap="square">
            <a:spAutoFit/>
          </a:bodyPr>
          <a:lstStyle/>
          <a:p>
            <a:pPr marL="171449" indent="-171449">
              <a:buFont typeface="Wingdings" panose="05000000000000000000" pitchFamily="2" charset="2"/>
              <a:buChar char="§"/>
            </a:pPr>
            <a:r>
              <a:rPr lang="en-US" sz="1100" b="1" dirty="0">
                <a:solidFill>
                  <a:srgbClr val="000000"/>
                </a:solidFill>
                <a:latin typeface="Arial Narrow" panose="020B0606020202030204" pitchFamily="34" charset="0"/>
                <a:ea typeface="LG Smart_H Regular" pitchFamily="34" charset="-127"/>
              </a:rPr>
              <a:t>Sampling method :</a:t>
            </a:r>
          </a:p>
          <a:p>
            <a:pPr marL="171449" indent="-171449"/>
            <a:r>
              <a:rPr lang="en-US" sz="1100" dirty="0">
                <a:solidFill>
                  <a:srgbClr val="000000"/>
                </a:solidFill>
                <a:latin typeface="Arial Narrow" panose="020B0606020202030204" pitchFamily="34" charset="0"/>
                <a:ea typeface="LG Smart_H Regular" pitchFamily="34" charset="-127"/>
              </a:rPr>
              <a:t> Rational subgroup sampling</a:t>
            </a:r>
          </a:p>
          <a:p>
            <a:r>
              <a:rPr lang="en-US" sz="1100" dirty="0">
                <a:solidFill>
                  <a:srgbClr val="000000"/>
                </a:solidFill>
                <a:latin typeface="Arial Narrow" panose="020B0606020202030204" pitchFamily="34" charset="0"/>
                <a:ea typeface="LG Smart_H Regular" pitchFamily="34" charset="-127"/>
              </a:rPr>
              <a:t> 5ea/line /day/at LG line </a:t>
            </a:r>
          </a:p>
        </p:txBody>
      </p:sp>
      <p:cxnSp>
        <p:nvCxnSpPr>
          <p:cNvPr id="14" name="Straight Connector 13"/>
          <p:cNvCxnSpPr/>
          <p:nvPr/>
        </p:nvCxnSpPr>
        <p:spPr>
          <a:xfrm>
            <a:off x="-12488" y="561513"/>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Table 4"/>
          <p:cNvGraphicFramePr>
            <a:graphicFrameLocks noGrp="1"/>
          </p:cNvGraphicFramePr>
          <p:nvPr>
            <p:extLst>
              <p:ext uri="{D42A27DB-BD31-4B8C-83A1-F6EECF244321}">
                <p14:modId xmlns:p14="http://schemas.microsoft.com/office/powerpoint/2010/main" val="1069984054"/>
              </p:ext>
            </p:extLst>
          </p:nvPr>
        </p:nvGraphicFramePr>
        <p:xfrm>
          <a:off x="273501" y="1708764"/>
          <a:ext cx="4267200" cy="3014154"/>
        </p:xfrm>
        <a:graphic>
          <a:graphicData uri="http://schemas.openxmlformats.org/drawingml/2006/table">
            <a:tbl>
              <a:tblPr/>
              <a:tblGrid>
                <a:gridCol w="711200">
                  <a:extLst>
                    <a:ext uri="{9D8B030D-6E8A-4147-A177-3AD203B41FA5}">
                      <a16:colId xmlns:a16="http://schemas.microsoft.com/office/drawing/2014/main" val="20000"/>
                    </a:ext>
                  </a:extLst>
                </a:gridCol>
                <a:gridCol w="711200">
                  <a:extLst>
                    <a:ext uri="{9D8B030D-6E8A-4147-A177-3AD203B41FA5}">
                      <a16:colId xmlns:a16="http://schemas.microsoft.com/office/drawing/2014/main" val="20001"/>
                    </a:ext>
                  </a:extLst>
                </a:gridCol>
                <a:gridCol w="711200">
                  <a:extLst>
                    <a:ext uri="{9D8B030D-6E8A-4147-A177-3AD203B41FA5}">
                      <a16:colId xmlns:a16="http://schemas.microsoft.com/office/drawing/2014/main" val="20002"/>
                    </a:ext>
                  </a:extLst>
                </a:gridCol>
                <a:gridCol w="711200">
                  <a:extLst>
                    <a:ext uri="{9D8B030D-6E8A-4147-A177-3AD203B41FA5}">
                      <a16:colId xmlns:a16="http://schemas.microsoft.com/office/drawing/2014/main" val="20003"/>
                    </a:ext>
                  </a:extLst>
                </a:gridCol>
                <a:gridCol w="711200">
                  <a:extLst>
                    <a:ext uri="{9D8B030D-6E8A-4147-A177-3AD203B41FA5}">
                      <a16:colId xmlns:a16="http://schemas.microsoft.com/office/drawing/2014/main" val="20004"/>
                    </a:ext>
                  </a:extLst>
                </a:gridCol>
                <a:gridCol w="711200">
                  <a:extLst>
                    <a:ext uri="{9D8B030D-6E8A-4147-A177-3AD203B41FA5}">
                      <a16:colId xmlns:a16="http://schemas.microsoft.com/office/drawing/2014/main" val="20005"/>
                    </a:ext>
                  </a:extLst>
                </a:gridCol>
              </a:tblGrid>
              <a:tr h="274014">
                <a:tc>
                  <a:txBody>
                    <a:bodyPr/>
                    <a:lstStyle/>
                    <a:p>
                      <a:pPr algn="ctr" fontAlgn="b">
                        <a:buNone/>
                      </a:pPr>
                      <a:r>
                        <a:rPr lang="en-US" sz="1100" b="1" i="0" u="none" strike="noStrike" dirty="0">
                          <a:effectLst/>
                          <a:latin typeface="Arial Narrow" panose="020B0606020202030204" pitchFamily="34" charset="0"/>
                        </a:rPr>
                        <a:t>Date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fontAlgn="b">
                        <a:buNone/>
                      </a:pPr>
                      <a:r>
                        <a:rPr lang="en-US" sz="1100" b="1" i="0" u="none" strike="noStrike" dirty="0">
                          <a:effectLst/>
                          <a:latin typeface="Arial Narrow" panose="020B0606020202030204" pitchFamily="34" charset="0"/>
                        </a:rPr>
                        <a:t>Sample_1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fontAlgn="b">
                        <a:buNone/>
                      </a:pPr>
                      <a:r>
                        <a:rPr lang="en-US" sz="1100" b="1" i="0" u="none" strike="noStrike" dirty="0">
                          <a:effectLst/>
                          <a:latin typeface="Arial Narrow" panose="020B0606020202030204" pitchFamily="34" charset="0"/>
                        </a:rPr>
                        <a:t>Sample_2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fontAlgn="b">
                        <a:buNone/>
                      </a:pPr>
                      <a:r>
                        <a:rPr lang="en-US" sz="1100" b="1" i="0" u="none" strike="noStrike" dirty="0">
                          <a:effectLst/>
                          <a:latin typeface="Arial Narrow" panose="020B0606020202030204" pitchFamily="34" charset="0"/>
                        </a:rPr>
                        <a:t>Sample_3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fontAlgn="b">
                        <a:buNone/>
                      </a:pPr>
                      <a:r>
                        <a:rPr lang="en-US" sz="1100" b="1" i="0" u="none" strike="noStrike" dirty="0">
                          <a:effectLst/>
                          <a:latin typeface="Arial Narrow" panose="020B0606020202030204" pitchFamily="34" charset="0"/>
                        </a:rPr>
                        <a:t>Sample_4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tc>
                  <a:txBody>
                    <a:bodyPr/>
                    <a:lstStyle/>
                    <a:p>
                      <a:pPr algn="ctr" fontAlgn="b">
                        <a:buNone/>
                      </a:pPr>
                      <a:r>
                        <a:rPr lang="en-US" sz="1100" b="1" i="0" u="none" strike="noStrike" dirty="0">
                          <a:effectLst/>
                          <a:latin typeface="Arial Narrow" panose="020B0606020202030204" pitchFamily="34" charset="0"/>
                        </a:rPr>
                        <a:t>Sample_5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274014">
                <a:tc>
                  <a:txBody>
                    <a:bodyPr/>
                    <a:lstStyle/>
                    <a:p>
                      <a:pPr algn="ctr" fontAlgn="b">
                        <a:buNone/>
                      </a:pPr>
                      <a:r>
                        <a:rPr lang="en-US" sz="1100" b="0" i="0" u="none" strike="noStrike">
                          <a:effectLst/>
                          <a:latin typeface="Arial Narrow" panose="020B0606020202030204" pitchFamily="34" charset="0"/>
                        </a:rPr>
                        <a:t>14-Aug</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en-US" sz="1100" b="0" i="0" u="none" strike="noStrike" dirty="0">
                          <a:effectLst/>
                          <a:latin typeface="Arial Narrow" panose="020B0606020202030204" pitchFamily="34" charset="0"/>
                        </a:rPr>
                        <a:t>0.68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en-US" sz="1100" b="0" i="0" u="none" strike="noStrike">
                          <a:effectLst/>
                          <a:latin typeface="Arial Narrow" panose="020B0606020202030204" pitchFamily="34" charset="0"/>
                        </a:rPr>
                        <a:t>0.74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en-US" sz="1100" b="0" i="0" u="none" strike="noStrike" dirty="0">
                          <a:effectLst/>
                          <a:latin typeface="Arial Narrow" panose="020B0606020202030204" pitchFamily="34" charset="0"/>
                        </a:rPr>
                        <a:t>0.83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en-US" sz="1100" b="0" i="0" u="none" strike="noStrike" dirty="0">
                          <a:effectLst/>
                          <a:latin typeface="Arial Narrow" panose="020B0606020202030204" pitchFamily="34" charset="0"/>
                        </a:rPr>
                        <a:t>0.71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en-US" sz="1100" b="0" i="0" u="none" strike="noStrike" dirty="0">
                          <a:effectLst/>
                          <a:latin typeface="Arial Narrow" panose="020B0606020202030204" pitchFamily="34" charset="0"/>
                        </a:rPr>
                        <a:t>0.79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74014">
                <a:tc>
                  <a:txBody>
                    <a:bodyPr/>
                    <a:lstStyle/>
                    <a:p>
                      <a:pPr algn="ctr" fontAlgn="b">
                        <a:buNone/>
                      </a:pPr>
                      <a:r>
                        <a:rPr lang="en-US" sz="1100" b="0" i="0" u="none" strike="noStrike">
                          <a:effectLst/>
                          <a:latin typeface="Arial Narrow" panose="020B0606020202030204" pitchFamily="34" charset="0"/>
                        </a:rPr>
                        <a:t>15-Aug</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en-US" sz="1100" b="0" i="0" u="none" strike="noStrike" dirty="0">
                          <a:effectLst/>
                          <a:latin typeface="Arial Narrow" panose="020B0606020202030204" pitchFamily="34" charset="0"/>
                        </a:rPr>
                        <a:t>0.86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en-US" sz="1100" b="0" i="0" u="none" strike="noStrike">
                          <a:effectLst/>
                          <a:latin typeface="Arial Narrow" panose="020B0606020202030204" pitchFamily="34" charset="0"/>
                        </a:rPr>
                        <a:t>0.95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en-US" sz="1100" b="0" i="0" u="none" strike="noStrike">
                          <a:effectLst/>
                          <a:latin typeface="Arial Narrow" panose="020B0606020202030204" pitchFamily="34" charset="0"/>
                        </a:rPr>
                        <a:t>1.04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en-US" sz="1100" b="0" i="0" u="none" strike="noStrike">
                          <a:effectLst/>
                          <a:latin typeface="Arial Narrow" panose="020B0606020202030204" pitchFamily="34" charset="0"/>
                        </a:rPr>
                        <a:t>0.77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en-US" sz="1100" b="0" i="0" u="none" strike="noStrike">
                          <a:effectLst/>
                          <a:latin typeface="Arial Narrow" panose="020B0606020202030204" pitchFamily="34" charset="0"/>
                        </a:rPr>
                        <a:t>0.69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74014">
                <a:tc>
                  <a:txBody>
                    <a:bodyPr/>
                    <a:lstStyle/>
                    <a:p>
                      <a:pPr algn="ctr" fontAlgn="b">
                        <a:buNone/>
                      </a:pPr>
                      <a:r>
                        <a:rPr lang="en-US" sz="1100" b="0" i="0" u="none" strike="noStrike">
                          <a:effectLst/>
                          <a:latin typeface="Arial Narrow" panose="020B0606020202030204" pitchFamily="34" charset="0"/>
                        </a:rPr>
                        <a:t>16-Aug</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en-US" sz="1100" b="0" i="0" u="none" strike="noStrike">
                          <a:effectLst/>
                          <a:latin typeface="Arial Narrow" panose="020B0606020202030204" pitchFamily="34" charset="0"/>
                        </a:rPr>
                        <a:t>0.73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en-US" sz="1100" b="1" i="0" u="none" strike="noStrike" dirty="0">
                          <a:solidFill>
                            <a:srgbClr val="FF0000"/>
                          </a:solidFill>
                          <a:effectLst/>
                          <a:latin typeface="Arial Narrow" panose="020B0606020202030204" pitchFamily="34" charset="0"/>
                        </a:rPr>
                        <a:t>1.31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en-US" sz="1100" b="0" i="0" u="none" strike="noStrike">
                          <a:effectLst/>
                          <a:latin typeface="Arial Narrow" panose="020B0606020202030204" pitchFamily="34" charset="0"/>
                        </a:rPr>
                        <a:t>0.81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en-US" sz="1100" b="0" i="0" u="none" strike="noStrike">
                          <a:effectLst/>
                          <a:latin typeface="Arial Narrow" panose="020B0606020202030204" pitchFamily="34" charset="0"/>
                        </a:rPr>
                        <a:t>0.91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en-US" sz="1100" b="0" i="0" u="none" strike="noStrike">
                          <a:effectLst/>
                          <a:latin typeface="Arial Narrow" panose="020B0606020202030204" pitchFamily="34" charset="0"/>
                        </a:rPr>
                        <a:t>0.7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60187748"/>
                  </a:ext>
                </a:extLst>
              </a:tr>
              <a:tr h="274014">
                <a:tc>
                  <a:txBody>
                    <a:bodyPr/>
                    <a:lstStyle/>
                    <a:p>
                      <a:pPr algn="ctr" fontAlgn="b">
                        <a:buNone/>
                      </a:pPr>
                      <a:r>
                        <a:rPr lang="en-US" sz="1100" b="0" i="0" u="none" strike="noStrike">
                          <a:effectLst/>
                          <a:latin typeface="Arial Narrow" panose="020B0606020202030204" pitchFamily="34" charset="0"/>
                        </a:rPr>
                        <a:t>17-Aug</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en-US" sz="1100" b="0" i="0" u="none" strike="noStrike">
                          <a:effectLst/>
                          <a:latin typeface="Arial Narrow" panose="020B0606020202030204" pitchFamily="34" charset="0"/>
                        </a:rPr>
                        <a:t>0.76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en-US" sz="1100" b="0" i="0" u="none" strike="noStrike">
                          <a:effectLst/>
                          <a:latin typeface="Arial Narrow" panose="020B0606020202030204" pitchFamily="34" charset="0"/>
                        </a:rPr>
                        <a:t>0.89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en-US" sz="1100" b="0" i="0" u="none" strike="noStrike">
                          <a:effectLst/>
                          <a:latin typeface="Arial Narrow" panose="020B0606020202030204" pitchFamily="34" charset="0"/>
                        </a:rPr>
                        <a:t>0.72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en-US" sz="1100" b="0" i="0" u="none" strike="noStrike">
                          <a:effectLst/>
                          <a:latin typeface="Arial Narrow" panose="020B0606020202030204" pitchFamily="34" charset="0"/>
                        </a:rPr>
                        <a:t>1.08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en-US" sz="1100" b="0" i="0" u="none" strike="noStrike">
                          <a:effectLst/>
                          <a:latin typeface="Arial Narrow" panose="020B0606020202030204" pitchFamily="34" charset="0"/>
                        </a:rPr>
                        <a:t>0.8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8350271"/>
                  </a:ext>
                </a:extLst>
              </a:tr>
              <a:tr h="274014">
                <a:tc>
                  <a:txBody>
                    <a:bodyPr/>
                    <a:lstStyle/>
                    <a:p>
                      <a:pPr algn="ctr" fontAlgn="b">
                        <a:buNone/>
                      </a:pPr>
                      <a:r>
                        <a:rPr lang="en-US" sz="1100" b="0" i="0" u="none" strike="noStrike">
                          <a:effectLst/>
                          <a:latin typeface="Arial Narrow" panose="020B0606020202030204" pitchFamily="34" charset="0"/>
                        </a:rPr>
                        <a:t>18-Aug</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en-US" sz="1100" b="0" i="0" u="none" strike="noStrike">
                          <a:effectLst/>
                          <a:latin typeface="Arial Narrow" panose="020B0606020202030204" pitchFamily="34" charset="0"/>
                        </a:rPr>
                        <a:t>0.94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en-US" sz="1100" b="0" i="0" u="none" strike="noStrike">
                          <a:effectLst/>
                          <a:latin typeface="Arial Narrow" panose="020B0606020202030204" pitchFamily="34" charset="0"/>
                        </a:rPr>
                        <a:t>0.75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en-US" sz="1100" b="0" i="0" u="none" strike="noStrike" dirty="0">
                          <a:effectLst/>
                          <a:latin typeface="Arial Narrow" panose="020B0606020202030204" pitchFamily="34" charset="0"/>
                        </a:rPr>
                        <a:t>1.11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en-US" sz="1100" b="0" i="0" u="none" strike="noStrike">
                          <a:effectLst/>
                          <a:latin typeface="Arial Narrow" panose="020B0606020202030204" pitchFamily="34" charset="0"/>
                        </a:rPr>
                        <a:t>0.82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en-US" sz="1100" b="0" i="0" u="none" strike="noStrike">
                          <a:effectLst/>
                          <a:latin typeface="Arial Narrow" panose="020B0606020202030204" pitchFamily="34" charset="0"/>
                        </a:rPr>
                        <a:t>0.88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74014">
                <a:tc>
                  <a:txBody>
                    <a:bodyPr/>
                    <a:lstStyle/>
                    <a:p>
                      <a:pPr algn="ctr" fontAlgn="b">
                        <a:buNone/>
                      </a:pPr>
                      <a:r>
                        <a:rPr lang="en-US" sz="1100" b="0" i="0" u="none" strike="noStrike">
                          <a:effectLst/>
                          <a:latin typeface="Arial Narrow" panose="020B0606020202030204" pitchFamily="34" charset="0"/>
                        </a:rPr>
                        <a:t>19-Aug</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en-US" sz="1100" b="0" i="0" u="none" strike="noStrike">
                          <a:effectLst/>
                          <a:latin typeface="Arial Narrow" panose="020B0606020202030204" pitchFamily="34" charset="0"/>
                        </a:rPr>
                        <a:t>0.71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en-US" sz="1100" b="0" i="0" u="none" strike="noStrike">
                          <a:effectLst/>
                          <a:latin typeface="Arial Narrow" panose="020B0606020202030204" pitchFamily="34" charset="0"/>
                        </a:rPr>
                        <a:t>1.06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en-US" sz="1100" b="0" i="0" u="none" strike="noStrike">
                          <a:effectLst/>
                          <a:latin typeface="Arial Narrow" panose="020B0606020202030204" pitchFamily="34" charset="0"/>
                        </a:rPr>
                        <a:t>0.84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en-US" sz="1100" b="0" i="0" u="none" strike="noStrike">
                          <a:effectLst/>
                          <a:latin typeface="Arial Narrow" panose="020B0606020202030204" pitchFamily="34" charset="0"/>
                        </a:rPr>
                        <a:t>0.97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en-US" sz="1100" b="0" i="0" u="none" strike="noStrike">
                          <a:effectLst/>
                          <a:latin typeface="Arial Narrow" panose="020B0606020202030204" pitchFamily="34" charset="0"/>
                        </a:rPr>
                        <a:t>0.74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74014">
                <a:tc>
                  <a:txBody>
                    <a:bodyPr/>
                    <a:lstStyle/>
                    <a:p>
                      <a:pPr algn="ctr" fontAlgn="b">
                        <a:buNone/>
                      </a:pPr>
                      <a:r>
                        <a:rPr lang="en-US" sz="1100" b="0" i="0" u="none" strike="noStrike">
                          <a:effectLst/>
                          <a:latin typeface="Arial Narrow" panose="020B0606020202030204" pitchFamily="34" charset="0"/>
                        </a:rPr>
                        <a:t>20-Aug</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en-US" sz="1100" b="0" i="0" u="none" strike="noStrike">
                          <a:effectLst/>
                          <a:latin typeface="Arial Narrow" panose="020B0606020202030204" pitchFamily="34" charset="0"/>
                        </a:rPr>
                        <a:t>0.79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en-US" sz="1100" b="0" i="0" u="none" strike="noStrike">
                          <a:effectLst/>
                          <a:latin typeface="Arial Narrow" panose="020B0606020202030204" pitchFamily="34" charset="0"/>
                        </a:rPr>
                        <a:t>0.92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en-US" sz="1100" b="0" i="0" u="none" strike="noStrike">
                          <a:effectLst/>
                          <a:latin typeface="Arial Narrow" panose="020B0606020202030204" pitchFamily="34" charset="0"/>
                        </a:rPr>
                        <a:t>1.14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en-US" sz="1100" b="0" i="0" u="none" strike="noStrike" dirty="0">
                          <a:effectLst/>
                          <a:latin typeface="Arial Narrow" panose="020B0606020202030204" pitchFamily="34" charset="0"/>
                        </a:rPr>
                        <a:t>0.72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en-US" sz="1100" b="0" i="0" u="none" strike="noStrike">
                          <a:effectLst/>
                          <a:latin typeface="Arial Narrow" panose="020B0606020202030204" pitchFamily="34" charset="0"/>
                        </a:rPr>
                        <a:t>0.85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74014">
                <a:tc>
                  <a:txBody>
                    <a:bodyPr/>
                    <a:lstStyle/>
                    <a:p>
                      <a:pPr algn="ctr" fontAlgn="b">
                        <a:buNone/>
                      </a:pPr>
                      <a:r>
                        <a:rPr lang="en-US" sz="1100" b="0" i="0" u="none" strike="noStrike">
                          <a:effectLst/>
                          <a:latin typeface="Arial Narrow" panose="020B0606020202030204" pitchFamily="34" charset="0"/>
                        </a:rPr>
                        <a:t>21-Aug</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en-US" sz="1100" b="0" i="0" u="none" strike="noStrike">
                          <a:effectLst/>
                          <a:latin typeface="Arial Narrow" panose="020B0606020202030204" pitchFamily="34" charset="0"/>
                        </a:rPr>
                        <a:t>1.03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en-US" sz="1100" b="0" i="0" u="none" strike="noStrike">
                          <a:effectLst/>
                          <a:latin typeface="Arial Narrow" panose="020B0606020202030204" pitchFamily="34" charset="0"/>
                        </a:rPr>
                        <a:t>0.77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en-US" sz="1100" b="0" i="0" u="none" strike="noStrike">
                          <a:effectLst/>
                          <a:latin typeface="Arial Narrow" panose="020B0606020202030204" pitchFamily="34" charset="0"/>
                        </a:rPr>
                        <a:t>0.9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en-US" sz="1100" b="0" i="0" u="none" strike="noStrike" dirty="0">
                          <a:effectLst/>
                          <a:latin typeface="Arial Narrow" panose="020B0606020202030204" pitchFamily="34" charset="0"/>
                        </a:rPr>
                        <a:t>1.12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en-US" sz="1100" b="0" i="0" u="none" strike="noStrike">
                          <a:effectLst/>
                          <a:latin typeface="Arial Narrow" panose="020B0606020202030204" pitchFamily="34" charset="0"/>
                        </a:rPr>
                        <a:t>0.83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274014">
                <a:tc>
                  <a:txBody>
                    <a:bodyPr/>
                    <a:lstStyle/>
                    <a:p>
                      <a:pPr algn="ctr" fontAlgn="b">
                        <a:buNone/>
                      </a:pPr>
                      <a:r>
                        <a:rPr lang="en-US" sz="1100" b="0" i="0" u="none" strike="noStrike">
                          <a:effectLst/>
                          <a:latin typeface="Arial Narrow" panose="020B0606020202030204" pitchFamily="34" charset="0"/>
                        </a:rPr>
                        <a:t>22-Aug</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en-US" sz="1100" b="0" i="0" u="none" strike="noStrike">
                          <a:effectLst/>
                          <a:latin typeface="Arial Narrow" panose="020B0606020202030204" pitchFamily="34" charset="0"/>
                        </a:rPr>
                        <a:t>0.78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en-US" sz="1100" b="0" i="0" u="none" strike="noStrike">
                          <a:effectLst/>
                          <a:latin typeface="Arial Narrow" panose="020B0606020202030204" pitchFamily="34" charset="0"/>
                        </a:rPr>
                        <a:t>1.01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en-US" sz="1100" b="0" i="0" u="none" strike="noStrike">
                          <a:effectLst/>
                          <a:latin typeface="Arial Narrow" panose="020B0606020202030204" pitchFamily="34" charset="0"/>
                        </a:rPr>
                        <a:t>0.86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en-US" sz="1100" b="1" i="0" u="none" strike="noStrike" dirty="0">
                          <a:solidFill>
                            <a:srgbClr val="FF0000"/>
                          </a:solidFill>
                          <a:effectLst/>
                          <a:latin typeface="Arial Narrow" panose="020B0606020202030204" pitchFamily="34" charset="0"/>
                        </a:rPr>
                        <a:t>1.22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en-US" sz="1100" b="0" i="0" u="none" strike="noStrike" dirty="0">
                          <a:effectLst/>
                          <a:latin typeface="Arial Narrow" panose="020B0606020202030204" pitchFamily="34" charset="0"/>
                        </a:rPr>
                        <a:t>0.73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274014">
                <a:tc>
                  <a:txBody>
                    <a:bodyPr/>
                    <a:lstStyle/>
                    <a:p>
                      <a:pPr algn="ctr" fontAlgn="b">
                        <a:buNone/>
                      </a:pPr>
                      <a:r>
                        <a:rPr lang="en-US" sz="1100" b="0" i="0" u="none" strike="noStrike">
                          <a:effectLst/>
                          <a:latin typeface="Arial Narrow" panose="020B0606020202030204" pitchFamily="34" charset="0"/>
                        </a:rPr>
                        <a:t>23-Aug</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en-US" sz="1100" b="0" i="0" u="none" strike="noStrike">
                          <a:effectLst/>
                          <a:latin typeface="Arial Narrow" panose="020B0606020202030204" pitchFamily="34" charset="0"/>
                        </a:rPr>
                        <a:t>0.91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en-US" sz="1100" b="0" i="0" u="none" strike="noStrike">
                          <a:effectLst/>
                          <a:latin typeface="Arial Narrow" panose="020B0606020202030204" pitchFamily="34" charset="0"/>
                        </a:rPr>
                        <a:t>0.82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en-US" sz="1100" b="0" i="0" u="none" strike="noStrike">
                          <a:effectLst/>
                          <a:latin typeface="Arial Narrow" panose="020B0606020202030204" pitchFamily="34" charset="0"/>
                        </a:rPr>
                        <a:t>1.07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en-US" sz="1100" b="0" i="0" u="none" strike="noStrike">
                          <a:effectLst/>
                          <a:latin typeface="Arial Narrow" panose="020B0606020202030204" pitchFamily="34" charset="0"/>
                        </a:rPr>
                        <a:t>0.7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buNone/>
                      </a:pPr>
                      <a:r>
                        <a:rPr lang="en-US" sz="1100" b="0" i="0" u="none" strike="noStrike" dirty="0">
                          <a:effectLst/>
                          <a:latin typeface="Arial Narrow" panose="020B0606020202030204" pitchFamily="34" charset="0"/>
                        </a:rPr>
                        <a:t>0.96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18" name="제목 1">
            <a:extLst>
              <a:ext uri="{FF2B5EF4-FFF2-40B4-BE49-F238E27FC236}">
                <a16:creationId xmlns:a16="http://schemas.microsoft.com/office/drawing/2014/main" id="{F3CC3122-6897-40CB-BB83-2484C5DC29C8}"/>
              </a:ext>
            </a:extLst>
          </p:cNvPr>
          <p:cNvSpPr txBox="1">
            <a:spLocks/>
          </p:cNvSpPr>
          <p:nvPr/>
        </p:nvSpPr>
        <p:spPr>
          <a:xfrm>
            <a:off x="161494" y="574669"/>
            <a:ext cx="2757979" cy="418058"/>
          </a:xfrm>
          <a:prstGeom prst="rect">
            <a:avLst/>
          </a:prstGeom>
        </p:spPr>
        <p:txBody>
          <a:bodyPr vert="horz" lIns="91440" tIns="45720" rIns="91440" bIns="45720" rtlCol="0" anchor="ctr">
            <a:normAutofit/>
          </a:bodyPr>
          <a:lstStyle/>
          <a:p>
            <a:pPr eaLnBrk="0" hangingPunct="0">
              <a:defRPr/>
            </a:pPr>
            <a:r>
              <a:rPr lang="en-US" altLang="ko-KR" sz="1600" b="1" kern="0" dirty="0">
                <a:solidFill>
                  <a:srgbClr val="000000"/>
                </a:solidFill>
                <a:latin typeface="Arial Narrow" panose="020B0606020202030204" pitchFamily="34" charset="0"/>
                <a:ea typeface="LG스마트체 Regular" panose="020B0600000101010101" pitchFamily="50" charset="-127"/>
                <a:cs typeface="+mj-cs"/>
              </a:rPr>
              <a:t>2.3. </a:t>
            </a:r>
            <a:r>
              <a:rPr lang="en-US" altLang="ko-KR" sz="1600" b="1" kern="0" dirty="0" err="1">
                <a:solidFill>
                  <a:srgbClr val="000000"/>
                </a:solidFill>
                <a:latin typeface="Arial Narrow" panose="020B0606020202030204" pitchFamily="34" charset="0"/>
                <a:ea typeface="LG스마트체 Regular" panose="020B0600000101010101" pitchFamily="50" charset="-127"/>
                <a:cs typeface="+mj-cs"/>
              </a:rPr>
              <a:t>Xbar</a:t>
            </a:r>
            <a:r>
              <a:rPr lang="en-US" altLang="ko-KR" sz="1600" b="1" kern="0" dirty="0">
                <a:solidFill>
                  <a:srgbClr val="000000"/>
                </a:solidFill>
                <a:latin typeface="Arial Narrow" panose="020B0606020202030204" pitchFamily="34" charset="0"/>
                <a:ea typeface="LG스마트체 Regular" panose="020B0600000101010101" pitchFamily="50" charset="-127"/>
                <a:cs typeface="+mj-cs"/>
              </a:rPr>
              <a:t>-R Chart Review</a:t>
            </a:r>
            <a:endParaRPr lang="ko-KR" altLang="en-US" sz="1600" b="1" kern="0" dirty="0">
              <a:solidFill>
                <a:srgbClr val="000000"/>
              </a:solidFill>
              <a:latin typeface="Arial Narrow" panose="020B0606020202030204" pitchFamily="34" charset="0"/>
              <a:ea typeface="LG스마트체 Regular" panose="020B0600000101010101" pitchFamily="50" charset="-127"/>
              <a:cs typeface="+mj-cs"/>
            </a:endParaRPr>
          </a:p>
        </p:txBody>
      </p:sp>
      <p:sp>
        <p:nvSpPr>
          <p:cNvPr id="19" name="제목 1">
            <a:extLst>
              <a:ext uri="{FF2B5EF4-FFF2-40B4-BE49-F238E27FC236}">
                <a16:creationId xmlns:a16="http://schemas.microsoft.com/office/drawing/2014/main" id="{4BFFDE85-D091-481B-9C0C-D3B706B71CDD}"/>
              </a:ext>
            </a:extLst>
          </p:cNvPr>
          <p:cNvSpPr>
            <a:spLocks noGrp="1"/>
          </p:cNvSpPr>
          <p:nvPr>
            <p:ph type="title"/>
          </p:nvPr>
        </p:nvSpPr>
        <p:spPr>
          <a:xfrm>
            <a:off x="56459" y="116632"/>
            <a:ext cx="3645211" cy="418058"/>
          </a:xfrm>
        </p:spPr>
        <p:txBody>
          <a:bodyPr>
            <a:normAutofit/>
          </a:bodyPr>
          <a:lstStyle/>
          <a:p>
            <a:r>
              <a:rPr lang="en-US" altLang="ko-KR" sz="2000" b="1" kern="0" dirty="0">
                <a:latin typeface="Arial Narrow" panose="020B0606020202030204" pitchFamily="34" charset="0"/>
                <a:ea typeface="LG스마트체 Regular" panose="020B0600000101010101" pitchFamily="50" charset="-127"/>
              </a:rPr>
              <a:t>2. Result of Gage Study</a:t>
            </a:r>
            <a:endParaRPr lang="ko-KR" altLang="en-US" sz="2000" b="1" kern="0" dirty="0">
              <a:latin typeface="Arial Narrow" panose="020B0606020202030204" pitchFamily="34" charset="0"/>
              <a:ea typeface="LG스마트체 Regular" panose="020B0600000101010101" pitchFamily="50" charset="-127"/>
            </a:endParaRPr>
          </a:p>
        </p:txBody>
      </p:sp>
      <p:sp>
        <p:nvSpPr>
          <p:cNvPr id="13" name="AutoShape 55">
            <a:extLst>
              <a:ext uri="{FF2B5EF4-FFF2-40B4-BE49-F238E27FC236}">
                <a16:creationId xmlns:a16="http://schemas.microsoft.com/office/drawing/2014/main" id="{14271227-5260-4FA3-9269-BBA7C86959A2}"/>
              </a:ext>
            </a:extLst>
          </p:cNvPr>
          <p:cNvSpPr>
            <a:spLocks noChangeArrowheads="1"/>
          </p:cNvSpPr>
          <p:nvPr/>
        </p:nvSpPr>
        <p:spPr bwMode="auto">
          <a:xfrm>
            <a:off x="9137654" y="22542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cs typeface="Arial" panose="020B0604020202020204" pitchFamily="34" charset="0"/>
              </a:rPr>
              <a:t>Control</a:t>
            </a:r>
          </a:p>
        </p:txBody>
      </p:sp>
      <p:sp>
        <p:nvSpPr>
          <p:cNvPr id="16" name="AutoShape 56">
            <a:extLst>
              <a:ext uri="{FF2B5EF4-FFF2-40B4-BE49-F238E27FC236}">
                <a16:creationId xmlns:a16="http://schemas.microsoft.com/office/drawing/2014/main" id="{1A728347-509A-4548-8351-1AFF72328D4B}"/>
              </a:ext>
            </a:extLst>
          </p:cNvPr>
          <p:cNvSpPr>
            <a:spLocks noChangeArrowheads="1"/>
          </p:cNvSpPr>
          <p:nvPr/>
        </p:nvSpPr>
        <p:spPr bwMode="auto">
          <a:xfrm>
            <a:off x="8448678" y="22542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cs typeface="Arial" panose="020B0604020202020204" pitchFamily="34" charset="0"/>
              </a:rPr>
              <a:t>Improve</a:t>
            </a:r>
          </a:p>
        </p:txBody>
      </p:sp>
      <p:sp>
        <p:nvSpPr>
          <p:cNvPr id="17" name="AutoShape 57">
            <a:extLst>
              <a:ext uri="{FF2B5EF4-FFF2-40B4-BE49-F238E27FC236}">
                <a16:creationId xmlns:a16="http://schemas.microsoft.com/office/drawing/2014/main" id="{BCA935FB-587F-4070-915F-EBB0346579CC}"/>
              </a:ext>
            </a:extLst>
          </p:cNvPr>
          <p:cNvSpPr>
            <a:spLocks noChangeArrowheads="1"/>
          </p:cNvSpPr>
          <p:nvPr/>
        </p:nvSpPr>
        <p:spPr bwMode="auto">
          <a:xfrm>
            <a:off x="7756525" y="225425"/>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cs typeface="Arial" panose="020B0604020202020204" pitchFamily="34" charset="0"/>
              </a:rPr>
              <a:t>Analyze</a:t>
            </a:r>
          </a:p>
        </p:txBody>
      </p:sp>
      <p:sp>
        <p:nvSpPr>
          <p:cNvPr id="21" name="AutoShape 59">
            <a:extLst>
              <a:ext uri="{FF2B5EF4-FFF2-40B4-BE49-F238E27FC236}">
                <a16:creationId xmlns:a16="http://schemas.microsoft.com/office/drawing/2014/main" id="{DFDB722F-FA6B-40DF-8E17-7248348C6488}"/>
              </a:ext>
            </a:extLst>
          </p:cNvPr>
          <p:cNvSpPr>
            <a:spLocks noChangeArrowheads="1"/>
          </p:cNvSpPr>
          <p:nvPr/>
        </p:nvSpPr>
        <p:spPr bwMode="auto">
          <a:xfrm>
            <a:off x="6388101" y="22542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cs typeface="Arial" panose="020B0604020202020204" pitchFamily="34" charset="0"/>
              </a:rPr>
              <a:t>Define</a:t>
            </a:r>
          </a:p>
        </p:txBody>
      </p:sp>
      <p:sp>
        <p:nvSpPr>
          <p:cNvPr id="22" name="AutoShape 58">
            <a:extLst>
              <a:ext uri="{FF2B5EF4-FFF2-40B4-BE49-F238E27FC236}">
                <a16:creationId xmlns:a16="http://schemas.microsoft.com/office/drawing/2014/main" id="{955BA091-E0EB-4F16-AE0C-AA6F89B4FD77}"/>
              </a:ext>
            </a:extLst>
          </p:cNvPr>
          <p:cNvSpPr>
            <a:spLocks noChangeArrowheads="1"/>
          </p:cNvSpPr>
          <p:nvPr/>
        </p:nvSpPr>
        <p:spPr bwMode="auto">
          <a:xfrm>
            <a:off x="7085014" y="80967"/>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latin typeface="Arial Narrow" panose="020B0606020202030204" pitchFamily="34" charset="0"/>
                <a:ea typeface="맑은 고딕" panose="020B0503020000020004" pitchFamily="50" charset="-127"/>
                <a:cs typeface="Arial" panose="020B0604020202020204" pitchFamily="34" charset="0"/>
              </a:rPr>
              <a:t>Measure </a:t>
            </a:r>
          </a:p>
        </p:txBody>
      </p:sp>
      <p:sp>
        <p:nvSpPr>
          <p:cNvPr id="23" name="Rectangle 22">
            <a:extLst>
              <a:ext uri="{FF2B5EF4-FFF2-40B4-BE49-F238E27FC236}">
                <a16:creationId xmlns:a16="http://schemas.microsoft.com/office/drawing/2014/main" id="{5999AE8B-3D77-43AA-8CE8-9409022163A7}"/>
              </a:ext>
            </a:extLst>
          </p:cNvPr>
          <p:cNvSpPr/>
          <p:nvPr/>
        </p:nvSpPr>
        <p:spPr bwMode="auto">
          <a:xfrm>
            <a:off x="4574902" y="6900122"/>
            <a:ext cx="709792" cy="221651"/>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fontAlgn="base">
              <a:spcBef>
                <a:spcPct val="0"/>
              </a:spcBef>
              <a:spcAft>
                <a:spcPct val="0"/>
              </a:spcAft>
            </a:pPr>
            <a:r>
              <a:rPr lang="en-US" sz="1000" dirty="0">
                <a:solidFill>
                  <a:srgbClr val="000000"/>
                </a:solidFill>
                <a:latin typeface="Arial Narrow" panose="020B0606020202030204" pitchFamily="34" charset="0"/>
                <a:cs typeface="Arial" panose="020B0604020202020204" pitchFamily="34" charset="0"/>
              </a:rPr>
              <a:t>11/38</a:t>
            </a:r>
          </a:p>
        </p:txBody>
      </p:sp>
      <p:pic>
        <p:nvPicPr>
          <p:cNvPr id="3" name="Picture 2">
            <a:extLst>
              <a:ext uri="{FF2B5EF4-FFF2-40B4-BE49-F238E27FC236}">
                <a16:creationId xmlns:a16="http://schemas.microsoft.com/office/drawing/2014/main" id="{A0F9E31E-3543-E4CA-42D5-08A2BB09E602}"/>
              </a:ext>
            </a:extLst>
          </p:cNvPr>
          <p:cNvPicPr>
            <a:picLocks noChangeAspect="1"/>
          </p:cNvPicPr>
          <p:nvPr/>
        </p:nvPicPr>
        <p:blipFill>
          <a:blip r:embed="rId3"/>
          <a:stretch>
            <a:fillRect/>
          </a:stretch>
        </p:blipFill>
        <p:spPr>
          <a:xfrm>
            <a:off x="4722906" y="1698604"/>
            <a:ext cx="4605324" cy="3070216"/>
          </a:xfrm>
          <a:prstGeom prst="rect">
            <a:avLst/>
          </a:prstGeom>
        </p:spPr>
      </p:pic>
      <p:sp>
        <p:nvSpPr>
          <p:cNvPr id="4" name="TextBox 3">
            <a:extLst>
              <a:ext uri="{FF2B5EF4-FFF2-40B4-BE49-F238E27FC236}">
                <a16:creationId xmlns:a16="http://schemas.microsoft.com/office/drawing/2014/main" id="{51BEB804-8DE3-CDBD-C2D9-8A47DA7AB36D}"/>
              </a:ext>
            </a:extLst>
          </p:cNvPr>
          <p:cNvSpPr txBox="1"/>
          <p:nvPr/>
        </p:nvSpPr>
        <p:spPr>
          <a:xfrm>
            <a:off x="4788463" y="4907385"/>
            <a:ext cx="4723047" cy="784830"/>
          </a:xfrm>
          <a:prstGeom prst="rect">
            <a:avLst/>
          </a:prstGeom>
          <a:noFill/>
        </p:spPr>
        <p:txBody>
          <a:bodyPr wrap="square" rtlCol="0" anchor="ctr">
            <a:spAutoFit/>
          </a:bodyPr>
          <a:lstStyle/>
          <a:p>
            <a:pPr marL="171450" indent="-171450">
              <a:buFont typeface="Wingdings" panose="05000000000000000000" pitchFamily="2" charset="2"/>
              <a:buChar char="§"/>
            </a:pPr>
            <a:r>
              <a:rPr lang="en-US" altLang="ko-KR" sz="1200" b="1" dirty="0">
                <a:solidFill>
                  <a:srgbClr val="000000"/>
                </a:solidFill>
                <a:latin typeface="Arial Narrow" panose="020B0606020202030204" pitchFamily="34" charset="0"/>
                <a:cs typeface="Arial" panose="020B0604020202020204" pitchFamily="34" charset="0"/>
              </a:rPr>
              <a:t>Conclusion:</a:t>
            </a:r>
          </a:p>
          <a:p>
            <a:pPr marL="171450" indent="-171450">
              <a:buFontTx/>
              <a:buChar char="-"/>
            </a:pPr>
            <a:r>
              <a:rPr lang="en-US" altLang="ko-KR" sz="1100" dirty="0">
                <a:solidFill>
                  <a:srgbClr val="000000"/>
                </a:solidFill>
                <a:latin typeface="Arial Narrow" panose="020B0606020202030204" pitchFamily="34" charset="0"/>
                <a:cs typeface="Arial" panose="020B0604020202020204" pitchFamily="34" charset="0"/>
              </a:rPr>
              <a:t>No out-of-control signal. However, AVMT Distortion remains high and NG samples still exceed the USL of 1.20.</a:t>
            </a:r>
          </a:p>
          <a:p>
            <a:r>
              <a:rPr lang="en-US" altLang="ko-KR" sz="1100" dirty="0">
                <a:solidFill>
                  <a:srgbClr val="000000"/>
                </a:solidFill>
                <a:latin typeface="Arial Narrow" panose="020B0606020202030204" pitchFamily="34" charset="0"/>
                <a:cs typeface="Arial" panose="020B0604020202020204" pitchFamily="34" charset="0"/>
              </a:rPr>
              <a:t>→ Process is stable but not capable.</a:t>
            </a:r>
            <a:endParaRPr lang="en-US" altLang="ko-KR" sz="1100" dirty="0">
              <a:latin typeface="Arial Narrow" panose="020B0606020202030204" pitchFamily="34" charset="0"/>
              <a:cs typeface="Arial" panose="020B0604020202020204" pitchFamily="34" charset="0"/>
            </a:endParaRPr>
          </a:p>
        </p:txBody>
      </p:sp>
    </p:spTree>
    <p:extLst>
      <p:ext uri="{BB962C8B-B14F-4D97-AF65-F5344CB8AC3E}">
        <p14:creationId xmlns:p14="http://schemas.microsoft.com/office/powerpoint/2010/main" val="33022659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제목 1"/>
          <p:cNvSpPr txBox="1">
            <a:spLocks/>
          </p:cNvSpPr>
          <p:nvPr/>
        </p:nvSpPr>
        <p:spPr bwMode="auto">
          <a:xfrm>
            <a:off x="107978" y="553278"/>
            <a:ext cx="7496175" cy="431800"/>
          </a:xfrm>
          <a:prstGeom prst="rect">
            <a:avLst/>
          </a:prstGeom>
          <a:noFill/>
          <a:ln w="9525">
            <a:noFill/>
            <a:miter lim="800000"/>
            <a:headEnd/>
            <a:tailEnd/>
          </a:ln>
        </p:spPr>
        <p:txBody>
          <a:bodyPr anchor="ctr"/>
          <a:lstStyle/>
          <a:p>
            <a:pPr eaLnBrk="0" hangingPunct="0">
              <a:defRPr/>
            </a:pPr>
            <a:r>
              <a:rPr lang="en-US" altLang="ko-KR" sz="1600" b="1" kern="0" dirty="0">
                <a:solidFill>
                  <a:prstClr val="black"/>
                </a:solidFill>
                <a:latin typeface="Arial Narrow" panose="020B0606020202030204" pitchFamily="34" charset="0"/>
                <a:ea typeface="LG스마트체 Regular" panose="020B0600000101010101" pitchFamily="50" charset="-127"/>
              </a:rPr>
              <a:t>2.4. Result of current Cpk</a:t>
            </a:r>
            <a:endParaRPr lang="ko-KR" altLang="en-US" b="1" kern="0" dirty="0">
              <a:solidFill>
                <a:prstClr val="black"/>
              </a:solidFill>
              <a:latin typeface="Arial Narrow" panose="020B0606020202030204" pitchFamily="34" charset="0"/>
              <a:ea typeface="LG스마트체 Regular" panose="020B0600000101010101" pitchFamily="50" charset="-127"/>
            </a:endParaRPr>
          </a:p>
        </p:txBody>
      </p:sp>
      <p:sp>
        <p:nvSpPr>
          <p:cNvPr id="52" name="AutoShape 55"/>
          <p:cNvSpPr>
            <a:spLocks noChangeArrowheads="1"/>
          </p:cNvSpPr>
          <p:nvPr/>
        </p:nvSpPr>
        <p:spPr bwMode="auto">
          <a:xfrm>
            <a:off x="9137654" y="22542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100">
                <a:solidFill>
                  <a:schemeClr val="tx1"/>
                </a:solidFill>
                <a:latin typeface="Arial Narrow" panose="020B0606020202030204" pitchFamily="34" charset="0"/>
                <a:ea typeface="맑은 고딕" panose="020B0503020000020004" pitchFamily="50" charset="-127"/>
              </a:rPr>
              <a:t>Control</a:t>
            </a:r>
          </a:p>
        </p:txBody>
      </p:sp>
      <p:sp>
        <p:nvSpPr>
          <p:cNvPr id="53" name="AutoShape 56"/>
          <p:cNvSpPr>
            <a:spLocks noChangeArrowheads="1"/>
          </p:cNvSpPr>
          <p:nvPr/>
        </p:nvSpPr>
        <p:spPr bwMode="auto">
          <a:xfrm>
            <a:off x="8448678" y="22542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100">
                <a:solidFill>
                  <a:schemeClr val="tx1"/>
                </a:solidFill>
                <a:latin typeface="Arial Narrow" panose="020B0606020202030204" pitchFamily="34" charset="0"/>
                <a:ea typeface="맑은 고딕" panose="020B0503020000020004" pitchFamily="50" charset="-127"/>
              </a:rPr>
              <a:t>Improve</a:t>
            </a:r>
          </a:p>
        </p:txBody>
      </p:sp>
      <p:sp>
        <p:nvSpPr>
          <p:cNvPr id="54" name="AutoShape 57"/>
          <p:cNvSpPr>
            <a:spLocks noChangeArrowheads="1"/>
          </p:cNvSpPr>
          <p:nvPr/>
        </p:nvSpPr>
        <p:spPr bwMode="auto">
          <a:xfrm>
            <a:off x="7756525" y="225425"/>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100">
                <a:solidFill>
                  <a:schemeClr val="tx1"/>
                </a:solidFill>
                <a:latin typeface="Arial Narrow" panose="020B0606020202030204" pitchFamily="34" charset="0"/>
                <a:ea typeface="맑은 고딕" panose="020B0503020000020004" pitchFamily="50" charset="-127"/>
              </a:rPr>
              <a:t>Analyze</a:t>
            </a:r>
          </a:p>
        </p:txBody>
      </p:sp>
      <p:sp>
        <p:nvSpPr>
          <p:cNvPr id="55" name="AutoShape 59"/>
          <p:cNvSpPr>
            <a:spLocks noChangeArrowheads="1"/>
          </p:cNvSpPr>
          <p:nvPr/>
        </p:nvSpPr>
        <p:spPr bwMode="auto">
          <a:xfrm>
            <a:off x="6388101" y="22542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100">
                <a:solidFill>
                  <a:schemeClr val="tx1"/>
                </a:solidFill>
                <a:latin typeface="Arial Narrow" panose="020B0606020202030204" pitchFamily="34" charset="0"/>
                <a:ea typeface="맑은 고딕" panose="020B0503020000020004" pitchFamily="50" charset="-127"/>
              </a:rPr>
              <a:t>Define</a:t>
            </a:r>
          </a:p>
        </p:txBody>
      </p:sp>
      <p:sp>
        <p:nvSpPr>
          <p:cNvPr id="56" name="AutoShape 58"/>
          <p:cNvSpPr>
            <a:spLocks noChangeArrowheads="1"/>
          </p:cNvSpPr>
          <p:nvPr/>
        </p:nvSpPr>
        <p:spPr bwMode="auto">
          <a:xfrm>
            <a:off x="7085014" y="80967"/>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100">
                <a:latin typeface="Arial Narrow" panose="020B0606020202030204" pitchFamily="34" charset="0"/>
                <a:ea typeface="맑은 고딕" panose="020B0503020000020004" pitchFamily="50" charset="-127"/>
              </a:rPr>
              <a:t>Measure </a:t>
            </a:r>
          </a:p>
        </p:txBody>
      </p:sp>
      <p:sp>
        <p:nvSpPr>
          <p:cNvPr id="137" name="TextBox 33"/>
          <p:cNvSpPr txBox="1">
            <a:spLocks noChangeArrowheads="1"/>
          </p:cNvSpPr>
          <p:nvPr/>
        </p:nvSpPr>
        <p:spPr bwMode="auto">
          <a:xfrm>
            <a:off x="379830" y="988159"/>
            <a:ext cx="27368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82563" indent="-182563">
              <a:defRPr kumimoji="1" sz="1300" b="1">
                <a:solidFill>
                  <a:schemeClr val="bg1"/>
                </a:solidFill>
                <a:latin typeface="Arial" panose="020B0604020202020204" pitchFamily="34" charset="0"/>
                <a:ea typeface="돋움" panose="020B0600000101010101" pitchFamily="50" charset="-127"/>
              </a:defRPr>
            </a:lvl1pPr>
            <a:lvl2pPr marL="742950" indent="-285750">
              <a:defRPr kumimoji="1" sz="1300" b="1">
                <a:solidFill>
                  <a:schemeClr val="bg1"/>
                </a:solidFill>
                <a:latin typeface="Arial" panose="020B0604020202020204" pitchFamily="34" charset="0"/>
                <a:ea typeface="돋움" panose="020B0600000101010101" pitchFamily="50" charset="-127"/>
              </a:defRPr>
            </a:lvl2pPr>
            <a:lvl3pPr marL="1143000" indent="-228600">
              <a:defRPr kumimoji="1" sz="1300" b="1">
                <a:solidFill>
                  <a:schemeClr val="bg1"/>
                </a:solidFill>
                <a:latin typeface="Arial" panose="020B0604020202020204" pitchFamily="34" charset="0"/>
                <a:ea typeface="돋움" panose="020B0600000101010101" pitchFamily="50" charset="-127"/>
              </a:defRPr>
            </a:lvl3pPr>
            <a:lvl4pPr marL="1600200" indent="-228600">
              <a:defRPr kumimoji="1" sz="1300" b="1">
                <a:solidFill>
                  <a:schemeClr val="bg1"/>
                </a:solidFill>
                <a:latin typeface="Arial" panose="020B0604020202020204" pitchFamily="34" charset="0"/>
                <a:ea typeface="돋움" panose="020B0600000101010101" pitchFamily="50" charset="-127"/>
              </a:defRPr>
            </a:lvl4pPr>
            <a:lvl5pPr marL="2057400" indent="-228600">
              <a:defRPr kumimoji="1" sz="1300" b="1">
                <a:solidFill>
                  <a:schemeClr val="bg1"/>
                </a:solidFill>
                <a:latin typeface="Arial" panose="020B0604020202020204" pitchFamily="34" charset="0"/>
                <a:ea typeface="돋움" panose="020B0600000101010101" pitchFamily="50" charset="-127"/>
              </a:defRPr>
            </a:lvl5pPr>
            <a:lvl6pPr marL="25146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eaLnBrk="1" latinLnBrk="1" hangingPunct="1">
              <a:buFont typeface="Wingdings" panose="05000000000000000000" pitchFamily="2" charset="2"/>
              <a:buChar char="q"/>
            </a:pPr>
            <a:r>
              <a:rPr lang="en-US" altLang="ko-KR" sz="1200"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rPr>
              <a:t>Current Cpk</a:t>
            </a:r>
            <a:endParaRPr lang="ko-KR" altLang="en-US" sz="1200" dirty="0">
              <a:solidFill>
                <a:srgbClr val="000000"/>
              </a:solidFill>
              <a:latin typeface="Arial Narrow" panose="020B0606020202030204" pitchFamily="34" charset="0"/>
              <a:ea typeface="LG스마트체 Regular" panose="020B0600000101010101" pitchFamily="50" charset="-127"/>
              <a:cs typeface="Arial" panose="020B0604020202020204" pitchFamily="34" charset="0"/>
            </a:endParaRPr>
          </a:p>
        </p:txBody>
      </p:sp>
      <p:sp>
        <p:nvSpPr>
          <p:cNvPr id="46" name="제목 1">
            <a:extLst>
              <a:ext uri="{FF2B5EF4-FFF2-40B4-BE49-F238E27FC236}">
                <a16:creationId xmlns:a16="http://schemas.microsoft.com/office/drawing/2014/main" id="{447CDEDB-4F96-475F-9795-A5DC3F8FCB0D}"/>
              </a:ext>
            </a:extLst>
          </p:cNvPr>
          <p:cNvSpPr txBox="1">
            <a:spLocks/>
          </p:cNvSpPr>
          <p:nvPr/>
        </p:nvSpPr>
        <p:spPr>
          <a:xfrm>
            <a:off x="56459" y="116632"/>
            <a:ext cx="3645211" cy="418058"/>
          </a:xfrm>
          <a:prstGeom prst="rect">
            <a:avLst/>
          </a:prstGeom>
        </p:spPr>
        <p:txBody>
          <a:bodyPr>
            <a:normAutofit/>
          </a:bodyPr>
          <a:lstStyle>
            <a:lvl1pPr algn="l" rtl="0" eaLnBrk="0" fontAlgn="base" latinLnBrk="1" hangingPunct="0">
              <a:spcBef>
                <a:spcPct val="0"/>
              </a:spcBef>
              <a:spcAft>
                <a:spcPct val="0"/>
              </a:spcAft>
              <a:defRPr kumimoji="1" sz="2000" b="1">
                <a:solidFill>
                  <a:schemeClr val="tx1"/>
                </a:solidFill>
                <a:latin typeface="맑은 고딕" panose="020B0503020000020004" pitchFamily="50" charset="-127"/>
                <a:ea typeface="맑은 고딕" panose="020B0503020000020004" pitchFamily="50" charset="-127"/>
                <a:cs typeface="+mj-cs"/>
              </a:defRPr>
            </a:lvl1pPr>
            <a:lvl2pPr algn="l" rtl="0" eaLnBrk="0" fontAlgn="base" latinLnBrk="1" hangingPunct="0">
              <a:spcBef>
                <a:spcPct val="0"/>
              </a:spcBef>
              <a:spcAft>
                <a:spcPct val="0"/>
              </a:spcAft>
              <a:defRPr kumimoji="1" sz="2000" b="1">
                <a:solidFill>
                  <a:schemeClr val="tx1"/>
                </a:solidFill>
                <a:latin typeface="Arial" charset="0"/>
                <a:ea typeface="돋움" pitchFamily="50" charset="-127"/>
              </a:defRPr>
            </a:lvl2pPr>
            <a:lvl3pPr algn="l" rtl="0" eaLnBrk="0" fontAlgn="base" latinLnBrk="1" hangingPunct="0">
              <a:spcBef>
                <a:spcPct val="0"/>
              </a:spcBef>
              <a:spcAft>
                <a:spcPct val="0"/>
              </a:spcAft>
              <a:defRPr kumimoji="1" sz="2000" b="1">
                <a:solidFill>
                  <a:schemeClr val="tx1"/>
                </a:solidFill>
                <a:latin typeface="Arial" charset="0"/>
                <a:ea typeface="돋움" pitchFamily="50" charset="-127"/>
              </a:defRPr>
            </a:lvl3pPr>
            <a:lvl4pPr algn="l" rtl="0" eaLnBrk="0" fontAlgn="base" latinLnBrk="1" hangingPunct="0">
              <a:spcBef>
                <a:spcPct val="0"/>
              </a:spcBef>
              <a:spcAft>
                <a:spcPct val="0"/>
              </a:spcAft>
              <a:defRPr kumimoji="1" sz="2000" b="1">
                <a:solidFill>
                  <a:schemeClr val="tx1"/>
                </a:solidFill>
                <a:latin typeface="Arial" charset="0"/>
                <a:ea typeface="돋움" pitchFamily="50" charset="-127"/>
              </a:defRPr>
            </a:lvl4pPr>
            <a:lvl5pPr algn="l" rtl="0" eaLnBrk="0" fontAlgn="base" latinLnBrk="1" hangingPunct="0">
              <a:spcBef>
                <a:spcPct val="0"/>
              </a:spcBef>
              <a:spcAft>
                <a:spcPct val="0"/>
              </a:spcAft>
              <a:defRPr kumimoji="1" sz="2000" b="1">
                <a:solidFill>
                  <a:schemeClr val="tx1"/>
                </a:solidFill>
                <a:latin typeface="Arial" charset="0"/>
                <a:ea typeface="돋움" pitchFamily="50" charset="-127"/>
              </a:defRPr>
            </a:lvl5pPr>
            <a:lvl6pPr marL="457200" algn="l" rtl="0" fontAlgn="base" latinLnBrk="1">
              <a:spcBef>
                <a:spcPct val="0"/>
              </a:spcBef>
              <a:spcAft>
                <a:spcPct val="0"/>
              </a:spcAft>
              <a:defRPr kumimoji="1" sz="2000" b="1">
                <a:solidFill>
                  <a:schemeClr val="tx1"/>
                </a:solidFill>
                <a:latin typeface="Arial" charset="0"/>
                <a:ea typeface="돋움" pitchFamily="50" charset="-127"/>
              </a:defRPr>
            </a:lvl6pPr>
            <a:lvl7pPr marL="914400" algn="l" rtl="0" fontAlgn="base" latinLnBrk="1">
              <a:spcBef>
                <a:spcPct val="0"/>
              </a:spcBef>
              <a:spcAft>
                <a:spcPct val="0"/>
              </a:spcAft>
              <a:defRPr kumimoji="1" sz="2000" b="1">
                <a:solidFill>
                  <a:schemeClr val="tx1"/>
                </a:solidFill>
                <a:latin typeface="Arial" charset="0"/>
                <a:ea typeface="돋움" pitchFamily="50" charset="-127"/>
              </a:defRPr>
            </a:lvl7pPr>
            <a:lvl8pPr marL="1371600" algn="l" rtl="0" fontAlgn="base" latinLnBrk="1">
              <a:spcBef>
                <a:spcPct val="0"/>
              </a:spcBef>
              <a:spcAft>
                <a:spcPct val="0"/>
              </a:spcAft>
              <a:defRPr kumimoji="1" sz="2000" b="1">
                <a:solidFill>
                  <a:schemeClr val="tx1"/>
                </a:solidFill>
                <a:latin typeface="Arial" charset="0"/>
                <a:ea typeface="돋움" pitchFamily="50" charset="-127"/>
              </a:defRPr>
            </a:lvl8pPr>
            <a:lvl9pPr marL="1828800" algn="l" rtl="0" fontAlgn="base" latinLnBrk="1">
              <a:spcBef>
                <a:spcPct val="0"/>
              </a:spcBef>
              <a:spcAft>
                <a:spcPct val="0"/>
              </a:spcAft>
              <a:defRPr kumimoji="1" sz="2000" b="1">
                <a:solidFill>
                  <a:schemeClr val="tx1"/>
                </a:solidFill>
                <a:latin typeface="Arial" charset="0"/>
                <a:ea typeface="돋움" pitchFamily="50" charset="-127"/>
              </a:defRPr>
            </a:lvl9pPr>
          </a:lstStyle>
          <a:p>
            <a:r>
              <a:rPr lang="en-US" altLang="ko-KR" kern="0" dirty="0">
                <a:latin typeface="Arial Narrow" panose="020B0606020202030204" pitchFamily="34" charset="0"/>
                <a:ea typeface="LG스마트체 Regular" panose="020B0600000101010101" pitchFamily="50" charset="-127"/>
              </a:rPr>
              <a:t>2. Result of Gage Study</a:t>
            </a:r>
            <a:endParaRPr lang="ko-KR" altLang="en-US" kern="0" dirty="0">
              <a:latin typeface="Arial Narrow" panose="020B0606020202030204" pitchFamily="34" charset="0"/>
              <a:ea typeface="LG스마트체 Regular" panose="020B0600000101010101" pitchFamily="50" charset="-127"/>
            </a:endParaRPr>
          </a:p>
        </p:txBody>
      </p:sp>
      <p:cxnSp>
        <p:nvCxnSpPr>
          <p:cNvPr id="64" name="Straight Connector 63">
            <a:extLst>
              <a:ext uri="{FF2B5EF4-FFF2-40B4-BE49-F238E27FC236}">
                <a16:creationId xmlns:a16="http://schemas.microsoft.com/office/drawing/2014/main" id="{95D2321D-30A1-C96B-DCAA-37FD07AF7593}"/>
              </a:ext>
            </a:extLst>
          </p:cNvPr>
          <p:cNvCxnSpPr/>
          <p:nvPr/>
        </p:nvCxnSpPr>
        <p:spPr>
          <a:xfrm>
            <a:off x="-12488" y="561513"/>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25" name="Picture 24">
            <a:extLst>
              <a:ext uri="{FF2B5EF4-FFF2-40B4-BE49-F238E27FC236}">
                <a16:creationId xmlns:a16="http://schemas.microsoft.com/office/drawing/2014/main" id="{034F3364-E4D5-F20F-4B41-CD6EBEB1C111}"/>
              </a:ext>
            </a:extLst>
          </p:cNvPr>
          <p:cNvPicPr>
            <a:picLocks noChangeAspect="1"/>
          </p:cNvPicPr>
          <p:nvPr/>
        </p:nvPicPr>
        <p:blipFill>
          <a:blip r:embed="rId3"/>
          <a:stretch>
            <a:fillRect/>
          </a:stretch>
        </p:blipFill>
        <p:spPr>
          <a:xfrm>
            <a:off x="379830" y="1304550"/>
            <a:ext cx="3991373" cy="2991751"/>
          </a:xfrm>
          <a:prstGeom prst="rect">
            <a:avLst/>
          </a:prstGeom>
        </p:spPr>
      </p:pic>
      <p:pic>
        <p:nvPicPr>
          <p:cNvPr id="27" name="Picture 26">
            <a:extLst>
              <a:ext uri="{FF2B5EF4-FFF2-40B4-BE49-F238E27FC236}">
                <a16:creationId xmlns:a16="http://schemas.microsoft.com/office/drawing/2014/main" id="{0133D375-7BCE-3AC8-71A9-76CB5BF0B8FD}"/>
              </a:ext>
            </a:extLst>
          </p:cNvPr>
          <p:cNvPicPr>
            <a:picLocks noChangeAspect="1"/>
          </p:cNvPicPr>
          <p:nvPr/>
        </p:nvPicPr>
        <p:blipFill>
          <a:blip r:embed="rId4"/>
          <a:stretch>
            <a:fillRect/>
          </a:stretch>
        </p:blipFill>
        <p:spPr>
          <a:xfrm>
            <a:off x="5088556" y="1304551"/>
            <a:ext cx="4000569" cy="2998644"/>
          </a:xfrm>
          <a:prstGeom prst="rect">
            <a:avLst/>
          </a:prstGeom>
        </p:spPr>
      </p:pic>
      <p:sp>
        <p:nvSpPr>
          <p:cNvPr id="31" name="TextBox 30">
            <a:extLst>
              <a:ext uri="{FF2B5EF4-FFF2-40B4-BE49-F238E27FC236}">
                <a16:creationId xmlns:a16="http://schemas.microsoft.com/office/drawing/2014/main" id="{25D02A2C-2C8F-16E9-11FF-C7233D430C4E}"/>
              </a:ext>
            </a:extLst>
          </p:cNvPr>
          <p:cNvSpPr txBox="1"/>
          <p:nvPr/>
        </p:nvSpPr>
        <p:spPr>
          <a:xfrm>
            <a:off x="1554659" y="4615773"/>
            <a:ext cx="3885441" cy="1446550"/>
          </a:xfrm>
          <a:prstGeom prst="rect">
            <a:avLst/>
          </a:prstGeom>
          <a:noFill/>
        </p:spPr>
        <p:txBody>
          <a:bodyPr wrap="square">
            <a:spAutoFit/>
          </a:bodyPr>
          <a:lstStyle/>
          <a:p>
            <a:r>
              <a:rPr lang="en-US" sz="1100" dirty="0">
                <a:latin typeface="Arial Narrow" panose="020B0606020202030204" pitchFamily="34" charset="0"/>
              </a:rPr>
              <a:t>• Current process capability: </a:t>
            </a:r>
            <a:r>
              <a:rPr lang="en-US" sz="1100" dirty="0" err="1">
                <a:latin typeface="Arial Narrow" panose="020B0606020202030204" pitchFamily="34" charset="0"/>
              </a:rPr>
              <a:t>Cpk</a:t>
            </a:r>
            <a:r>
              <a:rPr lang="en-US" sz="1100" dirty="0">
                <a:latin typeface="Arial Narrow" panose="020B0606020202030204" pitchFamily="34" charset="0"/>
              </a:rPr>
              <a:t> = 0.68 &lt; 1.33  </a:t>
            </a:r>
          </a:p>
          <a:p>
            <a:r>
              <a:rPr lang="en-US" sz="1100" dirty="0">
                <a:latin typeface="Arial Narrow" panose="020B0606020202030204" pitchFamily="34" charset="0"/>
              </a:rPr>
              <a:t>→ The current process is not capable of consistently meeting the specification.</a:t>
            </a:r>
          </a:p>
          <a:p>
            <a:r>
              <a:rPr lang="en-US" sz="1100" dirty="0">
                <a:latin typeface="Arial Narrow" panose="020B0606020202030204" pitchFamily="34" charset="0"/>
              </a:rPr>
              <a:t>• The process mean is 0.8744, which is shifted toward the USL (1.20). </a:t>
            </a:r>
          </a:p>
          <a:p>
            <a:r>
              <a:rPr lang="en-US" sz="1100" dirty="0">
                <a:latin typeface="Arial Narrow" panose="020B0606020202030204" pitchFamily="34" charset="0"/>
              </a:rPr>
              <a:t> → Approximately 4.0% of the observed results exceed the USL.</a:t>
            </a:r>
          </a:p>
          <a:p>
            <a:r>
              <a:rPr lang="en-US" sz="1100" dirty="0">
                <a:latin typeface="Arial Narrow" panose="020B0606020202030204" pitchFamily="34" charset="0"/>
              </a:rPr>
              <a:t>• Process centering and variation reduction are required.  </a:t>
            </a:r>
          </a:p>
          <a:p>
            <a:r>
              <a:rPr lang="en-US" sz="1100" dirty="0">
                <a:latin typeface="Arial Narrow" panose="020B0606020202030204" pitchFamily="34" charset="0"/>
              </a:rPr>
              <a:t>→ Improvement actions should focus on reducing Distortion and shifting the process mean toward the target.</a:t>
            </a:r>
            <a:endParaRPr lang="en-US" sz="1100" dirty="0">
              <a:solidFill>
                <a:srgbClr val="FF0000"/>
              </a:solidFill>
              <a:latin typeface="Arial Narrow" panose="020B0606020202030204" pitchFamily="34" charset="0"/>
            </a:endParaRPr>
          </a:p>
        </p:txBody>
      </p:sp>
      <p:sp>
        <p:nvSpPr>
          <p:cNvPr id="34" name="Arrow: Right 33">
            <a:extLst>
              <a:ext uri="{FF2B5EF4-FFF2-40B4-BE49-F238E27FC236}">
                <a16:creationId xmlns:a16="http://schemas.microsoft.com/office/drawing/2014/main" id="{BF5BA6A3-D458-864F-A5D8-3E6F0CF36D8B}"/>
              </a:ext>
            </a:extLst>
          </p:cNvPr>
          <p:cNvSpPr/>
          <p:nvPr/>
        </p:nvSpPr>
        <p:spPr>
          <a:xfrm>
            <a:off x="984498" y="5136435"/>
            <a:ext cx="454414" cy="358815"/>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35" name="Rectangle 34">
            <a:extLst>
              <a:ext uri="{FF2B5EF4-FFF2-40B4-BE49-F238E27FC236}">
                <a16:creationId xmlns:a16="http://schemas.microsoft.com/office/drawing/2014/main" id="{308BFA5E-06EC-79B3-2D92-6156EC3CDF2C}"/>
              </a:ext>
            </a:extLst>
          </p:cNvPr>
          <p:cNvSpPr/>
          <p:nvPr/>
        </p:nvSpPr>
        <p:spPr>
          <a:xfrm>
            <a:off x="8298203" y="2523280"/>
            <a:ext cx="556426" cy="9259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213D3B86-9A11-07C6-A6F3-4059F9C6EBE2}"/>
              </a:ext>
            </a:extLst>
          </p:cNvPr>
          <p:cNvSpPr/>
          <p:nvPr/>
        </p:nvSpPr>
        <p:spPr>
          <a:xfrm>
            <a:off x="3583639" y="2037146"/>
            <a:ext cx="556426" cy="9259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753072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5CB8A-0C90-B6D6-F370-31D795479652}"/>
            </a:ext>
          </a:extLst>
        </p:cNvPr>
        <p:cNvGrpSpPr/>
        <p:nvPr/>
      </p:nvGrpSpPr>
      <p:grpSpPr>
        <a:xfrm>
          <a:off x="0" y="0"/>
          <a:ext cx="0" cy="0"/>
          <a:chOff x="0" y="0"/>
          <a:chExt cx="0" cy="0"/>
        </a:xfrm>
      </p:grpSpPr>
      <p:sp>
        <p:nvSpPr>
          <p:cNvPr id="105" name="제목 1">
            <a:extLst>
              <a:ext uri="{FF2B5EF4-FFF2-40B4-BE49-F238E27FC236}">
                <a16:creationId xmlns:a16="http://schemas.microsoft.com/office/drawing/2014/main" id="{9001C8D2-4509-43BC-FE7E-F4BB964EDDA5}"/>
              </a:ext>
            </a:extLst>
          </p:cNvPr>
          <p:cNvSpPr txBox="1">
            <a:spLocks/>
          </p:cNvSpPr>
          <p:nvPr/>
        </p:nvSpPr>
        <p:spPr bwMode="auto">
          <a:xfrm>
            <a:off x="107978" y="553278"/>
            <a:ext cx="7496175" cy="431800"/>
          </a:xfrm>
          <a:prstGeom prst="rect">
            <a:avLst/>
          </a:prstGeom>
          <a:noFill/>
          <a:ln w="9525">
            <a:noFill/>
            <a:miter lim="800000"/>
            <a:headEnd/>
            <a:tailEnd/>
          </a:ln>
        </p:spPr>
        <p:txBody>
          <a:bodyPr anchor="ctr"/>
          <a:lstStyle/>
          <a:p>
            <a:pPr eaLnBrk="0" hangingPunct="0">
              <a:defRPr/>
            </a:pPr>
            <a:r>
              <a:rPr lang="en-US" altLang="ko-KR" sz="1600" b="1" kern="0" dirty="0">
                <a:solidFill>
                  <a:prstClr val="black"/>
                </a:solidFill>
                <a:latin typeface="Arial Narrow" panose="020B0606020202030204" pitchFamily="34" charset="0"/>
                <a:ea typeface="LG스마트체 Regular" panose="020B0600000101010101" pitchFamily="50" charset="-127"/>
              </a:rPr>
              <a:t>2.5. Process Capability review &amp; Normality test</a:t>
            </a:r>
            <a:endParaRPr lang="ko-KR" altLang="en-US" b="1" kern="0" dirty="0">
              <a:solidFill>
                <a:prstClr val="black"/>
              </a:solidFill>
              <a:latin typeface="Arial Narrow" panose="020B0606020202030204" pitchFamily="34" charset="0"/>
              <a:ea typeface="LG스마트체 Regular" panose="020B0600000101010101" pitchFamily="50" charset="-127"/>
            </a:endParaRPr>
          </a:p>
        </p:txBody>
      </p:sp>
      <p:sp>
        <p:nvSpPr>
          <p:cNvPr id="52" name="AutoShape 55">
            <a:extLst>
              <a:ext uri="{FF2B5EF4-FFF2-40B4-BE49-F238E27FC236}">
                <a16:creationId xmlns:a16="http://schemas.microsoft.com/office/drawing/2014/main" id="{9F0BD209-3B2E-4F35-DB1D-2FD406A00E62}"/>
              </a:ext>
            </a:extLst>
          </p:cNvPr>
          <p:cNvSpPr>
            <a:spLocks noChangeArrowheads="1"/>
          </p:cNvSpPr>
          <p:nvPr/>
        </p:nvSpPr>
        <p:spPr bwMode="auto">
          <a:xfrm>
            <a:off x="9137654" y="22542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100">
                <a:solidFill>
                  <a:schemeClr val="tx1"/>
                </a:solidFill>
                <a:latin typeface="Arial Narrow" panose="020B0606020202030204" pitchFamily="34" charset="0"/>
                <a:ea typeface="맑은 고딕" panose="020B0503020000020004" pitchFamily="50" charset="-127"/>
              </a:rPr>
              <a:t>Control</a:t>
            </a:r>
          </a:p>
        </p:txBody>
      </p:sp>
      <p:sp>
        <p:nvSpPr>
          <p:cNvPr id="53" name="AutoShape 56">
            <a:extLst>
              <a:ext uri="{FF2B5EF4-FFF2-40B4-BE49-F238E27FC236}">
                <a16:creationId xmlns:a16="http://schemas.microsoft.com/office/drawing/2014/main" id="{00E080FD-2042-02EB-0E5A-274CC80C10EE}"/>
              </a:ext>
            </a:extLst>
          </p:cNvPr>
          <p:cNvSpPr>
            <a:spLocks noChangeArrowheads="1"/>
          </p:cNvSpPr>
          <p:nvPr/>
        </p:nvSpPr>
        <p:spPr bwMode="auto">
          <a:xfrm>
            <a:off x="8448678" y="22542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100">
                <a:solidFill>
                  <a:schemeClr val="tx1"/>
                </a:solidFill>
                <a:latin typeface="Arial Narrow" panose="020B0606020202030204" pitchFamily="34" charset="0"/>
                <a:ea typeface="맑은 고딕" panose="020B0503020000020004" pitchFamily="50" charset="-127"/>
              </a:rPr>
              <a:t>Improve</a:t>
            </a:r>
          </a:p>
        </p:txBody>
      </p:sp>
      <p:sp>
        <p:nvSpPr>
          <p:cNvPr id="54" name="AutoShape 57">
            <a:extLst>
              <a:ext uri="{FF2B5EF4-FFF2-40B4-BE49-F238E27FC236}">
                <a16:creationId xmlns:a16="http://schemas.microsoft.com/office/drawing/2014/main" id="{7B8449EE-6045-FE69-E221-3FFF434ED58F}"/>
              </a:ext>
            </a:extLst>
          </p:cNvPr>
          <p:cNvSpPr>
            <a:spLocks noChangeArrowheads="1"/>
          </p:cNvSpPr>
          <p:nvPr/>
        </p:nvSpPr>
        <p:spPr bwMode="auto">
          <a:xfrm>
            <a:off x="7756525" y="225425"/>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100">
                <a:solidFill>
                  <a:schemeClr val="tx1"/>
                </a:solidFill>
                <a:latin typeface="Arial Narrow" panose="020B0606020202030204" pitchFamily="34" charset="0"/>
                <a:ea typeface="맑은 고딕" panose="020B0503020000020004" pitchFamily="50" charset="-127"/>
              </a:rPr>
              <a:t>Analyze</a:t>
            </a:r>
          </a:p>
        </p:txBody>
      </p:sp>
      <p:sp>
        <p:nvSpPr>
          <p:cNvPr id="55" name="AutoShape 59">
            <a:extLst>
              <a:ext uri="{FF2B5EF4-FFF2-40B4-BE49-F238E27FC236}">
                <a16:creationId xmlns:a16="http://schemas.microsoft.com/office/drawing/2014/main" id="{B811BEE0-973A-F993-B27C-02FEF82475E8}"/>
              </a:ext>
            </a:extLst>
          </p:cNvPr>
          <p:cNvSpPr>
            <a:spLocks noChangeArrowheads="1"/>
          </p:cNvSpPr>
          <p:nvPr/>
        </p:nvSpPr>
        <p:spPr bwMode="auto">
          <a:xfrm>
            <a:off x="6388101" y="22542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100">
                <a:solidFill>
                  <a:schemeClr val="tx1"/>
                </a:solidFill>
                <a:latin typeface="Arial Narrow" panose="020B0606020202030204" pitchFamily="34" charset="0"/>
                <a:ea typeface="맑은 고딕" panose="020B0503020000020004" pitchFamily="50" charset="-127"/>
              </a:rPr>
              <a:t>Define</a:t>
            </a:r>
          </a:p>
        </p:txBody>
      </p:sp>
      <p:sp>
        <p:nvSpPr>
          <p:cNvPr id="56" name="AutoShape 58">
            <a:extLst>
              <a:ext uri="{FF2B5EF4-FFF2-40B4-BE49-F238E27FC236}">
                <a16:creationId xmlns:a16="http://schemas.microsoft.com/office/drawing/2014/main" id="{0A3E9EE0-D825-5FDE-EEB7-21B287F10825}"/>
              </a:ext>
            </a:extLst>
          </p:cNvPr>
          <p:cNvSpPr>
            <a:spLocks noChangeArrowheads="1"/>
          </p:cNvSpPr>
          <p:nvPr/>
        </p:nvSpPr>
        <p:spPr bwMode="auto">
          <a:xfrm>
            <a:off x="7085014" y="80967"/>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100">
                <a:latin typeface="Arial Narrow" panose="020B0606020202030204" pitchFamily="34" charset="0"/>
                <a:ea typeface="맑은 고딕" panose="020B0503020000020004" pitchFamily="50" charset="-127"/>
              </a:rPr>
              <a:t>Measure </a:t>
            </a:r>
          </a:p>
        </p:txBody>
      </p:sp>
      <p:sp>
        <p:nvSpPr>
          <p:cNvPr id="46" name="제목 1">
            <a:extLst>
              <a:ext uri="{FF2B5EF4-FFF2-40B4-BE49-F238E27FC236}">
                <a16:creationId xmlns:a16="http://schemas.microsoft.com/office/drawing/2014/main" id="{865DE743-A769-80CE-0D49-6056AC55BF35}"/>
              </a:ext>
            </a:extLst>
          </p:cNvPr>
          <p:cNvSpPr txBox="1">
            <a:spLocks/>
          </p:cNvSpPr>
          <p:nvPr/>
        </p:nvSpPr>
        <p:spPr>
          <a:xfrm>
            <a:off x="56459" y="116632"/>
            <a:ext cx="3645211" cy="418058"/>
          </a:xfrm>
          <a:prstGeom prst="rect">
            <a:avLst/>
          </a:prstGeom>
        </p:spPr>
        <p:txBody>
          <a:bodyPr>
            <a:normAutofit/>
          </a:bodyPr>
          <a:lstStyle>
            <a:lvl1pPr algn="l" rtl="0" eaLnBrk="0" fontAlgn="base" latinLnBrk="1" hangingPunct="0">
              <a:spcBef>
                <a:spcPct val="0"/>
              </a:spcBef>
              <a:spcAft>
                <a:spcPct val="0"/>
              </a:spcAft>
              <a:defRPr kumimoji="1" sz="2000" b="1">
                <a:solidFill>
                  <a:schemeClr val="tx1"/>
                </a:solidFill>
                <a:latin typeface="맑은 고딕" panose="020B0503020000020004" pitchFamily="50" charset="-127"/>
                <a:ea typeface="맑은 고딕" panose="020B0503020000020004" pitchFamily="50" charset="-127"/>
                <a:cs typeface="+mj-cs"/>
              </a:defRPr>
            </a:lvl1pPr>
            <a:lvl2pPr algn="l" rtl="0" eaLnBrk="0" fontAlgn="base" latinLnBrk="1" hangingPunct="0">
              <a:spcBef>
                <a:spcPct val="0"/>
              </a:spcBef>
              <a:spcAft>
                <a:spcPct val="0"/>
              </a:spcAft>
              <a:defRPr kumimoji="1" sz="2000" b="1">
                <a:solidFill>
                  <a:schemeClr val="tx1"/>
                </a:solidFill>
                <a:latin typeface="Arial" charset="0"/>
                <a:ea typeface="돋움" pitchFamily="50" charset="-127"/>
              </a:defRPr>
            </a:lvl2pPr>
            <a:lvl3pPr algn="l" rtl="0" eaLnBrk="0" fontAlgn="base" latinLnBrk="1" hangingPunct="0">
              <a:spcBef>
                <a:spcPct val="0"/>
              </a:spcBef>
              <a:spcAft>
                <a:spcPct val="0"/>
              </a:spcAft>
              <a:defRPr kumimoji="1" sz="2000" b="1">
                <a:solidFill>
                  <a:schemeClr val="tx1"/>
                </a:solidFill>
                <a:latin typeface="Arial" charset="0"/>
                <a:ea typeface="돋움" pitchFamily="50" charset="-127"/>
              </a:defRPr>
            </a:lvl3pPr>
            <a:lvl4pPr algn="l" rtl="0" eaLnBrk="0" fontAlgn="base" latinLnBrk="1" hangingPunct="0">
              <a:spcBef>
                <a:spcPct val="0"/>
              </a:spcBef>
              <a:spcAft>
                <a:spcPct val="0"/>
              </a:spcAft>
              <a:defRPr kumimoji="1" sz="2000" b="1">
                <a:solidFill>
                  <a:schemeClr val="tx1"/>
                </a:solidFill>
                <a:latin typeface="Arial" charset="0"/>
                <a:ea typeface="돋움" pitchFamily="50" charset="-127"/>
              </a:defRPr>
            </a:lvl4pPr>
            <a:lvl5pPr algn="l" rtl="0" eaLnBrk="0" fontAlgn="base" latinLnBrk="1" hangingPunct="0">
              <a:spcBef>
                <a:spcPct val="0"/>
              </a:spcBef>
              <a:spcAft>
                <a:spcPct val="0"/>
              </a:spcAft>
              <a:defRPr kumimoji="1" sz="2000" b="1">
                <a:solidFill>
                  <a:schemeClr val="tx1"/>
                </a:solidFill>
                <a:latin typeface="Arial" charset="0"/>
                <a:ea typeface="돋움" pitchFamily="50" charset="-127"/>
              </a:defRPr>
            </a:lvl5pPr>
            <a:lvl6pPr marL="457200" algn="l" rtl="0" fontAlgn="base" latinLnBrk="1">
              <a:spcBef>
                <a:spcPct val="0"/>
              </a:spcBef>
              <a:spcAft>
                <a:spcPct val="0"/>
              </a:spcAft>
              <a:defRPr kumimoji="1" sz="2000" b="1">
                <a:solidFill>
                  <a:schemeClr val="tx1"/>
                </a:solidFill>
                <a:latin typeface="Arial" charset="0"/>
                <a:ea typeface="돋움" pitchFamily="50" charset="-127"/>
              </a:defRPr>
            </a:lvl6pPr>
            <a:lvl7pPr marL="914400" algn="l" rtl="0" fontAlgn="base" latinLnBrk="1">
              <a:spcBef>
                <a:spcPct val="0"/>
              </a:spcBef>
              <a:spcAft>
                <a:spcPct val="0"/>
              </a:spcAft>
              <a:defRPr kumimoji="1" sz="2000" b="1">
                <a:solidFill>
                  <a:schemeClr val="tx1"/>
                </a:solidFill>
                <a:latin typeface="Arial" charset="0"/>
                <a:ea typeface="돋움" pitchFamily="50" charset="-127"/>
              </a:defRPr>
            </a:lvl7pPr>
            <a:lvl8pPr marL="1371600" algn="l" rtl="0" fontAlgn="base" latinLnBrk="1">
              <a:spcBef>
                <a:spcPct val="0"/>
              </a:spcBef>
              <a:spcAft>
                <a:spcPct val="0"/>
              </a:spcAft>
              <a:defRPr kumimoji="1" sz="2000" b="1">
                <a:solidFill>
                  <a:schemeClr val="tx1"/>
                </a:solidFill>
                <a:latin typeface="Arial" charset="0"/>
                <a:ea typeface="돋움" pitchFamily="50" charset="-127"/>
              </a:defRPr>
            </a:lvl8pPr>
            <a:lvl9pPr marL="1828800" algn="l" rtl="0" fontAlgn="base" latinLnBrk="1">
              <a:spcBef>
                <a:spcPct val="0"/>
              </a:spcBef>
              <a:spcAft>
                <a:spcPct val="0"/>
              </a:spcAft>
              <a:defRPr kumimoji="1" sz="2000" b="1">
                <a:solidFill>
                  <a:schemeClr val="tx1"/>
                </a:solidFill>
                <a:latin typeface="Arial" charset="0"/>
                <a:ea typeface="돋움" pitchFamily="50" charset="-127"/>
              </a:defRPr>
            </a:lvl9pPr>
          </a:lstStyle>
          <a:p>
            <a:r>
              <a:rPr lang="en-US" altLang="ko-KR" kern="0" dirty="0">
                <a:latin typeface="Arial Narrow" panose="020B0606020202030204" pitchFamily="34" charset="0"/>
                <a:ea typeface="LG스마트체 Regular" panose="020B0600000101010101" pitchFamily="50" charset="-127"/>
              </a:rPr>
              <a:t>2. Result of Gage Study</a:t>
            </a:r>
            <a:endParaRPr lang="ko-KR" altLang="en-US" kern="0" dirty="0">
              <a:latin typeface="Arial Narrow" panose="020B0606020202030204" pitchFamily="34" charset="0"/>
              <a:ea typeface="LG스마트체 Regular" panose="020B0600000101010101" pitchFamily="50" charset="-127"/>
            </a:endParaRPr>
          </a:p>
        </p:txBody>
      </p:sp>
      <p:cxnSp>
        <p:nvCxnSpPr>
          <p:cNvPr id="64" name="Straight Connector 63">
            <a:extLst>
              <a:ext uri="{FF2B5EF4-FFF2-40B4-BE49-F238E27FC236}">
                <a16:creationId xmlns:a16="http://schemas.microsoft.com/office/drawing/2014/main" id="{B6A322F2-7166-0619-09C2-CF7D9752DE8E}"/>
              </a:ext>
            </a:extLst>
          </p:cNvPr>
          <p:cNvCxnSpPr/>
          <p:nvPr/>
        </p:nvCxnSpPr>
        <p:spPr>
          <a:xfrm>
            <a:off x="-12488" y="561513"/>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970113C7-BB77-FE51-FB73-88FE928D7DD1}"/>
              </a:ext>
            </a:extLst>
          </p:cNvPr>
          <p:cNvPicPr>
            <a:picLocks noChangeAspect="1"/>
          </p:cNvPicPr>
          <p:nvPr/>
        </p:nvPicPr>
        <p:blipFill>
          <a:blip r:embed="rId3"/>
          <a:stretch>
            <a:fillRect/>
          </a:stretch>
        </p:blipFill>
        <p:spPr>
          <a:xfrm>
            <a:off x="5235614" y="1034820"/>
            <a:ext cx="4029917" cy="3020642"/>
          </a:xfrm>
          <a:prstGeom prst="rect">
            <a:avLst/>
          </a:prstGeom>
        </p:spPr>
      </p:pic>
      <p:pic>
        <p:nvPicPr>
          <p:cNvPr id="4" name="Picture 3">
            <a:extLst>
              <a:ext uri="{FF2B5EF4-FFF2-40B4-BE49-F238E27FC236}">
                <a16:creationId xmlns:a16="http://schemas.microsoft.com/office/drawing/2014/main" id="{B0F3C1D3-3327-8E40-5DDE-6E068D0638E7}"/>
              </a:ext>
            </a:extLst>
          </p:cNvPr>
          <p:cNvPicPr>
            <a:picLocks noChangeAspect="1"/>
          </p:cNvPicPr>
          <p:nvPr/>
        </p:nvPicPr>
        <p:blipFill>
          <a:blip r:embed="rId4"/>
          <a:stretch>
            <a:fillRect/>
          </a:stretch>
        </p:blipFill>
        <p:spPr>
          <a:xfrm>
            <a:off x="456236" y="1034820"/>
            <a:ext cx="4532453" cy="3021635"/>
          </a:xfrm>
          <a:prstGeom prst="rect">
            <a:avLst/>
          </a:prstGeom>
        </p:spPr>
      </p:pic>
      <p:sp>
        <p:nvSpPr>
          <p:cNvPr id="6" name="TextBox 5">
            <a:extLst>
              <a:ext uri="{FF2B5EF4-FFF2-40B4-BE49-F238E27FC236}">
                <a16:creationId xmlns:a16="http://schemas.microsoft.com/office/drawing/2014/main" id="{BB3FBF05-4BB6-8172-609D-CE771A9602CE}"/>
              </a:ext>
            </a:extLst>
          </p:cNvPr>
          <p:cNvSpPr txBox="1"/>
          <p:nvPr/>
        </p:nvSpPr>
        <p:spPr>
          <a:xfrm>
            <a:off x="801547" y="4390625"/>
            <a:ext cx="2312043" cy="430887"/>
          </a:xfrm>
          <a:prstGeom prst="rect">
            <a:avLst/>
          </a:prstGeom>
          <a:noFill/>
        </p:spPr>
        <p:txBody>
          <a:bodyPr wrap="square">
            <a:spAutoFit/>
          </a:bodyPr>
          <a:lstStyle/>
          <a:p>
            <a:r>
              <a:rPr lang="en-US" sz="1100" dirty="0">
                <a:latin typeface="Arial Narrow" panose="020B0606020202030204" pitchFamily="34" charset="0"/>
              </a:rPr>
              <a:t>P value = 0.0005 ≤ 0.05 → </a:t>
            </a:r>
            <a:r>
              <a:rPr lang="en-US" sz="1100" dirty="0">
                <a:solidFill>
                  <a:srgbClr val="FF0000"/>
                </a:solidFill>
                <a:latin typeface="Arial Narrow" panose="020B0606020202030204" pitchFamily="34" charset="0"/>
              </a:rPr>
              <a:t>NG</a:t>
            </a:r>
          </a:p>
          <a:p>
            <a:r>
              <a:rPr lang="en-US" sz="1100" dirty="0">
                <a:latin typeface="Arial Narrow" panose="020B0606020202030204" pitchFamily="34" charset="0"/>
              </a:rPr>
              <a:t>(Data not follow a normal distribution)</a:t>
            </a:r>
          </a:p>
        </p:txBody>
      </p:sp>
      <p:sp>
        <p:nvSpPr>
          <p:cNvPr id="8" name="TextBox 7">
            <a:extLst>
              <a:ext uri="{FF2B5EF4-FFF2-40B4-BE49-F238E27FC236}">
                <a16:creationId xmlns:a16="http://schemas.microsoft.com/office/drawing/2014/main" id="{77B0FA8F-60D8-5712-1DE7-8ED65CAAC10E}"/>
              </a:ext>
            </a:extLst>
          </p:cNvPr>
          <p:cNvSpPr txBox="1"/>
          <p:nvPr/>
        </p:nvSpPr>
        <p:spPr>
          <a:xfrm>
            <a:off x="5989317" y="4390625"/>
            <a:ext cx="2312043" cy="430887"/>
          </a:xfrm>
          <a:prstGeom prst="rect">
            <a:avLst/>
          </a:prstGeom>
          <a:noFill/>
        </p:spPr>
        <p:txBody>
          <a:bodyPr wrap="square">
            <a:spAutoFit/>
          </a:bodyPr>
          <a:lstStyle/>
          <a:p>
            <a:r>
              <a:rPr lang="en-US" sz="1100" dirty="0" err="1">
                <a:latin typeface="Arial Narrow" panose="020B0606020202030204" pitchFamily="34" charset="0"/>
              </a:rPr>
              <a:t>Cpk</a:t>
            </a:r>
            <a:r>
              <a:rPr lang="en-US" sz="1100" dirty="0">
                <a:latin typeface="Arial Narrow" panose="020B0606020202030204" pitchFamily="34" charset="0"/>
              </a:rPr>
              <a:t> = 0.68 → Standard ≥ 1.33 → </a:t>
            </a:r>
            <a:r>
              <a:rPr lang="en-US" sz="1100" dirty="0">
                <a:solidFill>
                  <a:srgbClr val="FF0000"/>
                </a:solidFill>
                <a:latin typeface="Arial Narrow" panose="020B0606020202030204" pitchFamily="34" charset="0"/>
              </a:rPr>
              <a:t>NG </a:t>
            </a:r>
          </a:p>
          <a:p>
            <a:r>
              <a:rPr lang="en-US" sz="1100" dirty="0">
                <a:latin typeface="Arial Narrow" panose="020B0606020202030204" pitchFamily="34" charset="0"/>
              </a:rPr>
              <a:t>→ Lack of process capability</a:t>
            </a:r>
          </a:p>
        </p:txBody>
      </p:sp>
      <p:sp>
        <p:nvSpPr>
          <p:cNvPr id="9" name="Rectangle 8">
            <a:extLst>
              <a:ext uri="{FF2B5EF4-FFF2-40B4-BE49-F238E27FC236}">
                <a16:creationId xmlns:a16="http://schemas.microsoft.com/office/drawing/2014/main" id="{0F7D0CE1-B7FC-2D71-45EF-6057B2B3B199}"/>
              </a:ext>
            </a:extLst>
          </p:cNvPr>
          <p:cNvSpPr/>
          <p:nvPr/>
        </p:nvSpPr>
        <p:spPr>
          <a:xfrm>
            <a:off x="8466039" y="2500132"/>
            <a:ext cx="556426" cy="9259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036009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a:extLst>
              <a:ext uri="{FF2B5EF4-FFF2-40B4-BE49-F238E27FC236}">
                <a16:creationId xmlns:a16="http://schemas.microsoft.com/office/drawing/2014/main" id="{80DE9002-4DFD-B361-C1D6-EBAFE52DA1D1}"/>
              </a:ext>
            </a:extLst>
          </p:cNvPr>
          <p:cNvSpPr txBox="1">
            <a:spLocks noChangeArrowheads="1"/>
          </p:cNvSpPr>
          <p:nvPr/>
        </p:nvSpPr>
        <p:spPr bwMode="auto">
          <a:xfrm>
            <a:off x="27541" y="612194"/>
            <a:ext cx="2087301" cy="304800"/>
          </a:xfrm>
          <a:prstGeom prst="rect">
            <a:avLst/>
          </a:prstGeom>
          <a:noFill/>
          <a:ln w="9525" algn="ctr">
            <a:noFill/>
            <a:miter lim="800000"/>
            <a:headEnd/>
            <a:tailEnd/>
          </a:ln>
        </p:spPr>
        <p:txBody>
          <a:bodyPr lIns="84374" tIns="42187" rIns="84374" bIns="42187" anchor="ctr"/>
          <a:lstStyle/>
          <a:p>
            <a:pPr defTabSz="844083" fontAlgn="base" latinLnBrk="1">
              <a:spcBef>
                <a:spcPct val="0"/>
              </a:spcBef>
              <a:spcAft>
                <a:spcPct val="0"/>
              </a:spcAft>
              <a:defRPr/>
            </a:pPr>
            <a:r>
              <a:rPr lang="en-US" altLang="ko-KR" sz="1600" b="1" dirty="0">
                <a:solidFill>
                  <a:srgbClr val="000000"/>
                </a:solidFill>
                <a:latin typeface="Arial Narrow" panose="020B0606020202030204" pitchFamily="34" charset="0"/>
                <a:ea typeface="LG Smart_H Regular" panose="020B0600000101010101" pitchFamily="34" charset="-127"/>
                <a:cs typeface="Arial" panose="020B0604020202020204" pitchFamily="34" charset="0"/>
              </a:rPr>
              <a:t>3.1. Logic tree analysis</a:t>
            </a:r>
            <a:endParaRPr lang="ko-KR" altLang="en-US" sz="1600" b="1" dirty="0">
              <a:solidFill>
                <a:srgbClr val="000000"/>
              </a:solidFill>
              <a:latin typeface="Arial Narrow" panose="020B0606020202030204" pitchFamily="34" charset="0"/>
              <a:ea typeface="LG Smart_H Regular" panose="020B0600000101010101" pitchFamily="34" charset="-127"/>
              <a:cs typeface="Arial" panose="020B0604020202020204" pitchFamily="34" charset="0"/>
            </a:endParaRPr>
          </a:p>
        </p:txBody>
      </p:sp>
      <p:sp>
        <p:nvSpPr>
          <p:cNvPr id="3" name="Rectangle 2">
            <a:extLst>
              <a:ext uri="{FF2B5EF4-FFF2-40B4-BE49-F238E27FC236}">
                <a16:creationId xmlns:a16="http://schemas.microsoft.com/office/drawing/2014/main" id="{6EAC74BD-5FED-8D11-F2A1-8911DEA726BA}"/>
              </a:ext>
            </a:extLst>
          </p:cNvPr>
          <p:cNvSpPr/>
          <p:nvPr/>
        </p:nvSpPr>
        <p:spPr>
          <a:xfrm>
            <a:off x="654387" y="3429000"/>
            <a:ext cx="1165225" cy="539750"/>
          </a:xfrm>
          <a:prstGeom prst="rect">
            <a:avLst/>
          </a:prstGeom>
          <a:solidFill>
            <a:schemeClr val="bg1">
              <a:lumMod val="95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Narrow" panose="020B0606020202030204" pitchFamily="34" charset="0"/>
                <a:ea typeface="LG Smart_H Regular" panose="020B0600000101010101" pitchFamily="34" charset="-127"/>
                <a:cs typeface="Arial" pitchFamily="34" charset="0"/>
              </a:rPr>
              <a:t>Audio distortion</a:t>
            </a:r>
          </a:p>
        </p:txBody>
      </p:sp>
      <p:sp>
        <p:nvSpPr>
          <p:cNvPr id="4" name="Rectangle 3">
            <a:extLst>
              <a:ext uri="{FF2B5EF4-FFF2-40B4-BE49-F238E27FC236}">
                <a16:creationId xmlns:a16="http://schemas.microsoft.com/office/drawing/2014/main" id="{8DC8400D-AA63-2041-4BD5-4E46348E1309}"/>
              </a:ext>
            </a:extLst>
          </p:cNvPr>
          <p:cNvSpPr/>
          <p:nvPr/>
        </p:nvSpPr>
        <p:spPr>
          <a:xfrm>
            <a:off x="2137937" y="5609136"/>
            <a:ext cx="1165225"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Narrow" panose="020B0606020202030204" pitchFamily="34" charset="0"/>
                <a:ea typeface="LG Smart_H Regular" panose="020B0600000101010101" pitchFamily="34" charset="-127"/>
                <a:cs typeface="Arial" pitchFamily="34" charset="0"/>
              </a:rPr>
              <a:t>Man</a:t>
            </a:r>
          </a:p>
        </p:txBody>
      </p:sp>
      <p:sp>
        <p:nvSpPr>
          <p:cNvPr id="5" name="Rectangle 4">
            <a:extLst>
              <a:ext uri="{FF2B5EF4-FFF2-40B4-BE49-F238E27FC236}">
                <a16:creationId xmlns:a16="http://schemas.microsoft.com/office/drawing/2014/main" id="{407D8F89-FAA2-6DD0-0A16-A1E09A4E64B1}"/>
              </a:ext>
            </a:extLst>
          </p:cNvPr>
          <p:cNvSpPr/>
          <p:nvPr/>
        </p:nvSpPr>
        <p:spPr>
          <a:xfrm>
            <a:off x="5206028" y="5990136"/>
            <a:ext cx="1371600"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Narrow" panose="020B0606020202030204" pitchFamily="34" charset="0"/>
                <a:ea typeface="LG Smart_H Regular" panose="020B0600000101010101" pitchFamily="34" charset="-127"/>
                <a:cs typeface="Arial" pitchFamily="34" charset="0"/>
              </a:rPr>
              <a:t>Automatic process</a:t>
            </a:r>
          </a:p>
        </p:txBody>
      </p:sp>
      <p:sp>
        <p:nvSpPr>
          <p:cNvPr id="6" name="Rectangle 5">
            <a:extLst>
              <a:ext uri="{FF2B5EF4-FFF2-40B4-BE49-F238E27FC236}">
                <a16:creationId xmlns:a16="http://schemas.microsoft.com/office/drawing/2014/main" id="{3D20755F-8D8B-C00B-970A-CC5F659E159F}"/>
              </a:ext>
            </a:extLst>
          </p:cNvPr>
          <p:cNvSpPr/>
          <p:nvPr/>
        </p:nvSpPr>
        <p:spPr>
          <a:xfrm>
            <a:off x="2137937" y="1685169"/>
            <a:ext cx="1165225" cy="539750"/>
          </a:xfrm>
          <a:prstGeom prst="rect">
            <a:avLst/>
          </a:prstGeom>
          <a:solidFill>
            <a:schemeClr val="bg1">
              <a:lumMod val="95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Narrow" panose="020B0606020202030204" pitchFamily="34" charset="0"/>
                <a:ea typeface="LG Smart_H Regular" panose="020B0600000101010101" pitchFamily="34" charset="-127"/>
                <a:cs typeface="Arial" pitchFamily="34" charset="0"/>
              </a:rPr>
              <a:t>Machine</a:t>
            </a:r>
          </a:p>
        </p:txBody>
      </p:sp>
      <p:sp>
        <p:nvSpPr>
          <p:cNvPr id="7" name="Rectangle 6">
            <a:extLst>
              <a:ext uri="{FF2B5EF4-FFF2-40B4-BE49-F238E27FC236}">
                <a16:creationId xmlns:a16="http://schemas.microsoft.com/office/drawing/2014/main" id="{573CD3C7-AB16-75DC-9F88-D76AD2D31290}"/>
              </a:ext>
            </a:extLst>
          </p:cNvPr>
          <p:cNvSpPr/>
          <p:nvPr/>
        </p:nvSpPr>
        <p:spPr>
          <a:xfrm>
            <a:off x="3604655" y="1685169"/>
            <a:ext cx="1296573" cy="539750"/>
          </a:xfrm>
          <a:prstGeom prst="rect">
            <a:avLst/>
          </a:prstGeom>
          <a:solidFill>
            <a:schemeClr val="bg1">
              <a:lumMod val="95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Narrow" panose="020B0606020202030204" pitchFamily="34" charset="0"/>
                <a:ea typeface="LG Smart_H Regular" panose="020B0600000101010101" pitchFamily="34" charset="-127"/>
                <a:cs typeface="Arial" pitchFamily="34" charset="0"/>
              </a:rPr>
              <a:t>Conveyor and Pallet Contact</a:t>
            </a:r>
          </a:p>
        </p:txBody>
      </p:sp>
      <p:sp>
        <p:nvSpPr>
          <p:cNvPr id="8" name="Rectangle 7">
            <a:extLst>
              <a:ext uri="{FF2B5EF4-FFF2-40B4-BE49-F238E27FC236}">
                <a16:creationId xmlns:a16="http://schemas.microsoft.com/office/drawing/2014/main" id="{DFEB9D9E-8027-1CC0-6188-6A89F3E64599}"/>
              </a:ext>
            </a:extLst>
          </p:cNvPr>
          <p:cNvSpPr/>
          <p:nvPr/>
        </p:nvSpPr>
        <p:spPr>
          <a:xfrm>
            <a:off x="3604655" y="967992"/>
            <a:ext cx="1296573" cy="540000"/>
          </a:xfrm>
          <a:prstGeom prst="rect">
            <a:avLst/>
          </a:prstGeom>
          <a:solidFill>
            <a:schemeClr val="bg1">
              <a:lumMod val="95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Narrow" panose="020B0606020202030204" pitchFamily="34" charset="0"/>
                <a:ea typeface="LG Smart_H Regular" panose="020B0600000101010101" pitchFamily="34" charset="-127"/>
                <a:cs typeface="Arial" pitchFamily="34" charset="0"/>
              </a:rPr>
              <a:t>Power supply</a:t>
            </a:r>
          </a:p>
        </p:txBody>
      </p:sp>
      <p:sp>
        <p:nvSpPr>
          <p:cNvPr id="9" name="Rectangle 8">
            <a:extLst>
              <a:ext uri="{FF2B5EF4-FFF2-40B4-BE49-F238E27FC236}">
                <a16:creationId xmlns:a16="http://schemas.microsoft.com/office/drawing/2014/main" id="{C14F710B-29A9-77EF-F0AB-1F72B36058CD}"/>
              </a:ext>
            </a:extLst>
          </p:cNvPr>
          <p:cNvSpPr/>
          <p:nvPr/>
        </p:nvSpPr>
        <p:spPr>
          <a:xfrm>
            <a:off x="5212244" y="967675"/>
            <a:ext cx="1371600" cy="539750"/>
          </a:xfrm>
          <a:prstGeom prst="rect">
            <a:avLst/>
          </a:prstGeom>
          <a:solidFill>
            <a:schemeClr val="bg1">
              <a:lumMod val="95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Narrow" panose="020B0606020202030204" pitchFamily="34" charset="0"/>
                <a:ea typeface="LG Smart_H Regular" panose="020B0600000101010101" pitchFamily="34" charset="-127"/>
                <a:cs typeface="Arial" pitchFamily="34" charset="0"/>
              </a:rPr>
              <a:t>Power supply is unstable</a:t>
            </a:r>
          </a:p>
        </p:txBody>
      </p:sp>
      <p:sp>
        <p:nvSpPr>
          <p:cNvPr id="10" name="Rectangle 9">
            <a:extLst>
              <a:ext uri="{FF2B5EF4-FFF2-40B4-BE49-F238E27FC236}">
                <a16:creationId xmlns:a16="http://schemas.microsoft.com/office/drawing/2014/main" id="{E34C2046-14AD-D449-01BB-B84E8FEE33D0}"/>
              </a:ext>
            </a:extLst>
          </p:cNvPr>
          <p:cNvSpPr/>
          <p:nvPr/>
        </p:nvSpPr>
        <p:spPr>
          <a:xfrm>
            <a:off x="3604655" y="5990136"/>
            <a:ext cx="1296573"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Narrow" panose="020B0606020202030204" pitchFamily="34" charset="0"/>
                <a:ea typeface="LG Smart_H Regular" panose="020B0600000101010101" pitchFamily="34" charset="-127"/>
                <a:cs typeface="Arial" pitchFamily="34" charset="0"/>
              </a:rPr>
              <a:t>Working skill</a:t>
            </a:r>
          </a:p>
        </p:txBody>
      </p:sp>
      <p:sp>
        <p:nvSpPr>
          <p:cNvPr id="11" name="Rectangle 10">
            <a:extLst>
              <a:ext uri="{FF2B5EF4-FFF2-40B4-BE49-F238E27FC236}">
                <a16:creationId xmlns:a16="http://schemas.microsoft.com/office/drawing/2014/main" id="{EB722CE3-5E6C-78B3-7ABE-B97E409B39F6}"/>
              </a:ext>
            </a:extLst>
          </p:cNvPr>
          <p:cNvSpPr/>
          <p:nvPr/>
        </p:nvSpPr>
        <p:spPr>
          <a:xfrm>
            <a:off x="5206028" y="1685169"/>
            <a:ext cx="1371600" cy="539750"/>
          </a:xfrm>
          <a:prstGeom prst="rect">
            <a:avLst/>
          </a:prstGeom>
          <a:solidFill>
            <a:schemeClr val="bg1">
              <a:lumMod val="95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Narrow" panose="020B0606020202030204" pitchFamily="34" charset="0"/>
                <a:ea typeface="LG Smart_H Regular" panose="020B0600000101010101" pitchFamily="34" charset="-127"/>
                <a:cs typeface="Arial" pitchFamily="34" charset="0"/>
              </a:rPr>
              <a:t>Unstable contact between Pogo Pins and Pogo Plates</a:t>
            </a:r>
          </a:p>
        </p:txBody>
      </p:sp>
      <p:sp>
        <p:nvSpPr>
          <p:cNvPr id="12" name="Rectangle 11">
            <a:extLst>
              <a:ext uri="{FF2B5EF4-FFF2-40B4-BE49-F238E27FC236}">
                <a16:creationId xmlns:a16="http://schemas.microsoft.com/office/drawing/2014/main" id="{08C0BB35-7EBE-B289-04E3-6D4567FB162A}"/>
              </a:ext>
            </a:extLst>
          </p:cNvPr>
          <p:cNvSpPr/>
          <p:nvPr/>
        </p:nvSpPr>
        <p:spPr>
          <a:xfrm>
            <a:off x="3604655" y="2789736"/>
            <a:ext cx="1296573"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Narrow" panose="020B0606020202030204" pitchFamily="34" charset="0"/>
                <a:ea typeface="LG Smart_H Regular" panose="020B0600000101010101" pitchFamily="34" charset="-127"/>
                <a:cs typeface="Arial" pitchFamily="34" charset="0"/>
              </a:rPr>
              <a:t>Audio Video Multi Tester </a:t>
            </a:r>
          </a:p>
        </p:txBody>
      </p:sp>
      <p:cxnSp>
        <p:nvCxnSpPr>
          <p:cNvPr id="13" name="Elbow Connector 11">
            <a:extLst>
              <a:ext uri="{FF2B5EF4-FFF2-40B4-BE49-F238E27FC236}">
                <a16:creationId xmlns:a16="http://schemas.microsoft.com/office/drawing/2014/main" id="{78E58621-11E4-51E3-F87C-A844EE3E5C06}"/>
              </a:ext>
            </a:extLst>
          </p:cNvPr>
          <p:cNvCxnSpPr>
            <a:stCxn id="3" idx="3"/>
            <a:endCxn id="6" idx="1"/>
          </p:cNvCxnSpPr>
          <p:nvPr/>
        </p:nvCxnSpPr>
        <p:spPr>
          <a:xfrm flipV="1">
            <a:off x="1819612" y="1955044"/>
            <a:ext cx="318325" cy="1743831"/>
          </a:xfrm>
          <a:prstGeom prst="bentConnector3">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Elbow Connector 14">
            <a:extLst>
              <a:ext uri="{FF2B5EF4-FFF2-40B4-BE49-F238E27FC236}">
                <a16:creationId xmlns:a16="http://schemas.microsoft.com/office/drawing/2014/main" id="{A1BB623F-0E4A-CE46-45D2-21C45DF8ABEB}"/>
              </a:ext>
            </a:extLst>
          </p:cNvPr>
          <p:cNvCxnSpPr>
            <a:stCxn id="3" idx="3"/>
            <a:endCxn id="4" idx="1"/>
          </p:cNvCxnSpPr>
          <p:nvPr/>
        </p:nvCxnSpPr>
        <p:spPr>
          <a:xfrm>
            <a:off x="1819612" y="3698875"/>
            <a:ext cx="318325" cy="2180136"/>
          </a:xfrm>
          <a:prstGeom prst="bentConnector3">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Elbow Connector 98">
            <a:extLst>
              <a:ext uri="{FF2B5EF4-FFF2-40B4-BE49-F238E27FC236}">
                <a16:creationId xmlns:a16="http://schemas.microsoft.com/office/drawing/2014/main" id="{0C254782-9390-42EB-0525-CF452102F4CD}"/>
              </a:ext>
            </a:extLst>
          </p:cNvPr>
          <p:cNvCxnSpPr>
            <a:stCxn id="6" idx="3"/>
            <a:endCxn id="8" idx="1"/>
          </p:cNvCxnSpPr>
          <p:nvPr/>
        </p:nvCxnSpPr>
        <p:spPr>
          <a:xfrm flipV="1">
            <a:off x="3303162" y="1237992"/>
            <a:ext cx="301493" cy="717052"/>
          </a:xfrm>
          <a:prstGeom prst="bentConnector3">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Elbow Connector 100">
            <a:extLst>
              <a:ext uri="{FF2B5EF4-FFF2-40B4-BE49-F238E27FC236}">
                <a16:creationId xmlns:a16="http://schemas.microsoft.com/office/drawing/2014/main" id="{E580D456-E28F-BB54-B35C-F5E4E4296400}"/>
              </a:ext>
            </a:extLst>
          </p:cNvPr>
          <p:cNvCxnSpPr>
            <a:stCxn id="6" idx="3"/>
            <a:endCxn id="12" idx="1"/>
          </p:cNvCxnSpPr>
          <p:nvPr/>
        </p:nvCxnSpPr>
        <p:spPr>
          <a:xfrm>
            <a:off x="3303162" y="1955044"/>
            <a:ext cx="301493" cy="1104567"/>
          </a:xfrm>
          <a:prstGeom prst="bentConnector3">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60B07061-58EC-C804-C252-A43438582B16}"/>
              </a:ext>
            </a:extLst>
          </p:cNvPr>
          <p:cNvSpPr/>
          <p:nvPr/>
        </p:nvSpPr>
        <p:spPr>
          <a:xfrm>
            <a:off x="5206028" y="2402663"/>
            <a:ext cx="1371600"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Narrow" panose="020B0606020202030204" pitchFamily="34" charset="0"/>
                <a:ea typeface="LG Smart_H Regular" panose="020B0600000101010101" pitchFamily="34" charset="-127"/>
                <a:cs typeface="Arial" pitchFamily="34" charset="0"/>
              </a:rPr>
              <a:t>Measure incorrectly due to noise</a:t>
            </a:r>
          </a:p>
        </p:txBody>
      </p:sp>
      <p:cxnSp>
        <p:nvCxnSpPr>
          <p:cNvPr id="18" name="Straight Arrow Connector 17">
            <a:extLst>
              <a:ext uri="{FF2B5EF4-FFF2-40B4-BE49-F238E27FC236}">
                <a16:creationId xmlns:a16="http://schemas.microsoft.com/office/drawing/2014/main" id="{A1919A20-2B76-4B97-4601-FBADC9DD1A41}"/>
              </a:ext>
            </a:extLst>
          </p:cNvPr>
          <p:cNvCxnSpPr>
            <a:stCxn id="8" idx="3"/>
            <a:endCxn id="9" idx="1"/>
          </p:cNvCxnSpPr>
          <p:nvPr/>
        </p:nvCxnSpPr>
        <p:spPr>
          <a:xfrm flipV="1">
            <a:off x="4901228" y="1237550"/>
            <a:ext cx="311016" cy="442"/>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D3F783CB-A78B-7158-A239-C22D43944E8E}"/>
              </a:ext>
            </a:extLst>
          </p:cNvPr>
          <p:cNvCxnSpPr>
            <a:stCxn id="7" idx="3"/>
            <a:endCxn id="11" idx="1"/>
          </p:cNvCxnSpPr>
          <p:nvPr/>
        </p:nvCxnSpPr>
        <p:spPr>
          <a:xfrm>
            <a:off x="4901228" y="1955044"/>
            <a:ext cx="304800"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D798F6D-6F36-EF29-9F91-93ACED08840A}"/>
              </a:ext>
            </a:extLst>
          </p:cNvPr>
          <p:cNvCxnSpPr>
            <a:stCxn id="10" idx="3"/>
            <a:endCxn id="5" idx="1"/>
          </p:cNvCxnSpPr>
          <p:nvPr/>
        </p:nvCxnSpPr>
        <p:spPr>
          <a:xfrm>
            <a:off x="4901228" y="6260011"/>
            <a:ext cx="304800"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7038903F-1D5B-9C47-7E02-9251075A983C}"/>
              </a:ext>
            </a:extLst>
          </p:cNvPr>
          <p:cNvSpPr/>
          <p:nvPr/>
        </p:nvSpPr>
        <p:spPr>
          <a:xfrm>
            <a:off x="6895953" y="967675"/>
            <a:ext cx="1510641" cy="539750"/>
          </a:xfrm>
          <a:prstGeom prst="rect">
            <a:avLst/>
          </a:prstGeom>
          <a:solidFill>
            <a:schemeClr val="bg1">
              <a:lumMod val="95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Narrow" panose="020B0606020202030204" pitchFamily="34" charset="0"/>
                <a:ea typeface="LG Smart_H Regular" panose="020B0600000101010101" pitchFamily="34" charset="-127"/>
                <a:cs typeface="Arial" pitchFamily="34" charset="0"/>
              </a:rPr>
              <a:t>Separate DC power from test bench</a:t>
            </a:r>
          </a:p>
        </p:txBody>
      </p:sp>
      <p:sp>
        <p:nvSpPr>
          <p:cNvPr id="22" name="Rectangle 21">
            <a:extLst>
              <a:ext uri="{FF2B5EF4-FFF2-40B4-BE49-F238E27FC236}">
                <a16:creationId xmlns:a16="http://schemas.microsoft.com/office/drawing/2014/main" id="{E825B94B-D7F4-1CB8-A52B-D40C5CEB24AD}"/>
              </a:ext>
            </a:extLst>
          </p:cNvPr>
          <p:cNvSpPr/>
          <p:nvPr/>
        </p:nvSpPr>
        <p:spPr>
          <a:xfrm>
            <a:off x="6895953" y="1685169"/>
            <a:ext cx="1510641" cy="539750"/>
          </a:xfrm>
          <a:prstGeom prst="rect">
            <a:avLst/>
          </a:prstGeom>
          <a:solidFill>
            <a:schemeClr val="bg1">
              <a:lumMod val="95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Narrow" panose="020B0606020202030204" pitchFamily="34" charset="0"/>
                <a:ea typeface="LG Smart_H Regular" panose="020B0600000101010101" pitchFamily="34" charset="-127"/>
                <a:cs typeface="Arial" pitchFamily="34" charset="0"/>
              </a:rPr>
              <a:t>Adjust Pogo Pin and pallet contact position</a:t>
            </a:r>
          </a:p>
        </p:txBody>
      </p:sp>
      <p:sp>
        <p:nvSpPr>
          <p:cNvPr id="23" name="Rectangle 22">
            <a:extLst>
              <a:ext uri="{FF2B5EF4-FFF2-40B4-BE49-F238E27FC236}">
                <a16:creationId xmlns:a16="http://schemas.microsoft.com/office/drawing/2014/main" id="{6DA220FC-B195-1CBC-D196-F8B5C8E4825F}"/>
              </a:ext>
            </a:extLst>
          </p:cNvPr>
          <p:cNvSpPr/>
          <p:nvPr/>
        </p:nvSpPr>
        <p:spPr>
          <a:xfrm>
            <a:off x="6895953" y="2402663"/>
            <a:ext cx="1510641"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Narrow" panose="020B0606020202030204" pitchFamily="34" charset="0"/>
                <a:ea typeface="LG Smart_H Regular" panose="020B0600000101010101" pitchFamily="34" charset="-127"/>
                <a:cs typeface="Arial" pitchFamily="34" charset="0"/>
              </a:rPr>
              <a:t>Separate ground for each equipment</a:t>
            </a:r>
          </a:p>
        </p:txBody>
      </p:sp>
      <p:sp>
        <p:nvSpPr>
          <p:cNvPr id="24" name="Rectangle 23">
            <a:extLst>
              <a:ext uri="{FF2B5EF4-FFF2-40B4-BE49-F238E27FC236}">
                <a16:creationId xmlns:a16="http://schemas.microsoft.com/office/drawing/2014/main" id="{5636BB2D-D1D0-3D5A-2622-56C935189E4F}"/>
              </a:ext>
            </a:extLst>
          </p:cNvPr>
          <p:cNvSpPr/>
          <p:nvPr/>
        </p:nvSpPr>
        <p:spPr>
          <a:xfrm>
            <a:off x="6895953" y="5990136"/>
            <a:ext cx="1510641"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Narrow" panose="020B0606020202030204" pitchFamily="34" charset="0"/>
                <a:ea typeface="LG Smart_H Regular" panose="020B0600000101010101" pitchFamily="34" charset="-127"/>
                <a:cs typeface="Arial" pitchFamily="34" charset="0"/>
              </a:rPr>
              <a:t>Man is not related</a:t>
            </a:r>
          </a:p>
        </p:txBody>
      </p:sp>
      <p:cxnSp>
        <p:nvCxnSpPr>
          <p:cNvPr id="25" name="Straight Arrow Connector 24">
            <a:extLst>
              <a:ext uri="{FF2B5EF4-FFF2-40B4-BE49-F238E27FC236}">
                <a16:creationId xmlns:a16="http://schemas.microsoft.com/office/drawing/2014/main" id="{0E40014A-4955-41C8-D9C7-0EC9A6802ACE}"/>
              </a:ext>
            </a:extLst>
          </p:cNvPr>
          <p:cNvCxnSpPr>
            <a:stCxn id="9" idx="3"/>
            <a:endCxn id="21" idx="1"/>
          </p:cNvCxnSpPr>
          <p:nvPr/>
        </p:nvCxnSpPr>
        <p:spPr>
          <a:xfrm>
            <a:off x="6583844" y="1237550"/>
            <a:ext cx="312109"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B01F43E-8508-79C8-C763-B1FC16A52C18}"/>
              </a:ext>
            </a:extLst>
          </p:cNvPr>
          <p:cNvCxnSpPr>
            <a:stCxn id="11" idx="3"/>
            <a:endCxn id="22" idx="1"/>
          </p:cNvCxnSpPr>
          <p:nvPr/>
        </p:nvCxnSpPr>
        <p:spPr>
          <a:xfrm>
            <a:off x="6577628" y="1955044"/>
            <a:ext cx="318325"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FF9EE8CD-47E6-E9E1-F947-B1458D9F4E9B}"/>
              </a:ext>
            </a:extLst>
          </p:cNvPr>
          <p:cNvCxnSpPr>
            <a:stCxn id="17" idx="3"/>
            <a:endCxn id="23" idx="1"/>
          </p:cNvCxnSpPr>
          <p:nvPr/>
        </p:nvCxnSpPr>
        <p:spPr>
          <a:xfrm>
            <a:off x="6577628" y="2672538"/>
            <a:ext cx="318325"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715B080F-7E4C-1B07-8B36-AE641CDA257F}"/>
              </a:ext>
            </a:extLst>
          </p:cNvPr>
          <p:cNvCxnSpPr>
            <a:stCxn id="5" idx="3"/>
            <a:endCxn id="24" idx="1"/>
          </p:cNvCxnSpPr>
          <p:nvPr/>
        </p:nvCxnSpPr>
        <p:spPr>
          <a:xfrm>
            <a:off x="6577628" y="6260011"/>
            <a:ext cx="318325"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 name="Elbow Connector 98">
            <a:extLst>
              <a:ext uri="{FF2B5EF4-FFF2-40B4-BE49-F238E27FC236}">
                <a16:creationId xmlns:a16="http://schemas.microsoft.com/office/drawing/2014/main" id="{CC9E8ADB-B080-5B06-D695-28FA12176378}"/>
              </a:ext>
            </a:extLst>
          </p:cNvPr>
          <p:cNvCxnSpPr>
            <a:stCxn id="6" idx="3"/>
            <a:endCxn id="7" idx="1"/>
          </p:cNvCxnSpPr>
          <p:nvPr/>
        </p:nvCxnSpPr>
        <p:spPr>
          <a:xfrm>
            <a:off x="3303162" y="1955044"/>
            <a:ext cx="301493" cy="12700"/>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A238256B-15B0-79A7-6D65-00C101FDDF16}"/>
              </a:ext>
            </a:extLst>
          </p:cNvPr>
          <p:cNvSpPr/>
          <p:nvPr/>
        </p:nvSpPr>
        <p:spPr>
          <a:xfrm>
            <a:off x="2137937" y="3837651"/>
            <a:ext cx="1168303" cy="539750"/>
          </a:xfrm>
          <a:prstGeom prst="rect">
            <a:avLst/>
          </a:prstGeom>
          <a:solidFill>
            <a:schemeClr val="bg1">
              <a:lumMod val="95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Narrow" panose="020B0606020202030204" pitchFamily="34" charset="0"/>
                <a:ea typeface="LG Smart_H Regular" panose="020B0600000101010101" pitchFamily="34" charset="-127"/>
                <a:cs typeface="Arial" pitchFamily="34" charset="0"/>
              </a:rPr>
              <a:t>Method</a:t>
            </a:r>
          </a:p>
        </p:txBody>
      </p:sp>
      <p:sp>
        <p:nvSpPr>
          <p:cNvPr id="34" name="Rectangle 33">
            <a:extLst>
              <a:ext uri="{FF2B5EF4-FFF2-40B4-BE49-F238E27FC236}">
                <a16:creationId xmlns:a16="http://schemas.microsoft.com/office/drawing/2014/main" id="{C092DA70-976E-3558-3394-C8882B94B7A2}"/>
              </a:ext>
            </a:extLst>
          </p:cNvPr>
          <p:cNvSpPr/>
          <p:nvPr/>
        </p:nvSpPr>
        <p:spPr>
          <a:xfrm>
            <a:off x="2137937" y="4555145"/>
            <a:ext cx="1165225"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Narrow" panose="020B0606020202030204" pitchFamily="34" charset="0"/>
                <a:ea typeface="LG Smart_H Regular" panose="020B0600000101010101" pitchFamily="34" charset="-127"/>
                <a:cs typeface="Arial" pitchFamily="34" charset="0"/>
              </a:rPr>
              <a:t>Material</a:t>
            </a:r>
          </a:p>
        </p:txBody>
      </p:sp>
      <p:sp>
        <p:nvSpPr>
          <p:cNvPr id="35" name="Rectangle 34">
            <a:extLst>
              <a:ext uri="{FF2B5EF4-FFF2-40B4-BE49-F238E27FC236}">
                <a16:creationId xmlns:a16="http://schemas.microsoft.com/office/drawing/2014/main" id="{6B9EB309-E3EC-9929-5750-C33327BE7361}"/>
              </a:ext>
            </a:extLst>
          </p:cNvPr>
          <p:cNvSpPr/>
          <p:nvPr/>
        </p:nvSpPr>
        <p:spPr>
          <a:xfrm>
            <a:off x="5206028" y="3837651"/>
            <a:ext cx="1371600" cy="539750"/>
          </a:xfrm>
          <a:prstGeom prst="rect">
            <a:avLst/>
          </a:prstGeom>
          <a:solidFill>
            <a:schemeClr val="bg1">
              <a:lumMod val="95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altLang="ko-KR" sz="1100" dirty="0">
                <a:solidFill>
                  <a:schemeClr val="tx1"/>
                </a:solidFill>
                <a:latin typeface="Arial Narrow" panose="020B0606020202030204" pitchFamily="34" charset="0"/>
                <a:ea typeface="LG Smart_H Regular" panose="020B0600000101010101" pitchFamily="34" charset="-127"/>
                <a:sym typeface="Wingdings" panose="05000000000000000000" pitchFamily="2" charset="2"/>
              </a:rPr>
              <a:t>Test AUX before USB test lead to temporary distortion</a:t>
            </a:r>
            <a:endParaRPr lang="en-US" sz="1100" dirty="0">
              <a:solidFill>
                <a:schemeClr val="tx1"/>
              </a:solidFill>
              <a:latin typeface="Arial Narrow" panose="020B0606020202030204" pitchFamily="34" charset="0"/>
              <a:ea typeface="LG Smart_H Regular" panose="020B0600000101010101" pitchFamily="34" charset="-127"/>
              <a:cs typeface="Arial" pitchFamily="34" charset="0"/>
            </a:endParaRPr>
          </a:p>
        </p:txBody>
      </p:sp>
      <p:sp>
        <p:nvSpPr>
          <p:cNvPr id="36" name="Rectangle 35">
            <a:extLst>
              <a:ext uri="{FF2B5EF4-FFF2-40B4-BE49-F238E27FC236}">
                <a16:creationId xmlns:a16="http://schemas.microsoft.com/office/drawing/2014/main" id="{29C450D7-5FA1-29F9-A8A8-DE3277A12D23}"/>
              </a:ext>
            </a:extLst>
          </p:cNvPr>
          <p:cNvSpPr/>
          <p:nvPr/>
        </p:nvSpPr>
        <p:spPr>
          <a:xfrm>
            <a:off x="3604655" y="3837651"/>
            <a:ext cx="1296573" cy="539750"/>
          </a:xfrm>
          <a:prstGeom prst="rect">
            <a:avLst/>
          </a:prstGeom>
          <a:solidFill>
            <a:schemeClr val="bg1">
              <a:lumMod val="95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Narrow" panose="020B0606020202030204" pitchFamily="34" charset="0"/>
                <a:ea typeface="LG Smart_H Regular" panose="020B0600000101010101" pitchFamily="34" charset="-127"/>
                <a:cs typeface="Arial" pitchFamily="34" charset="0"/>
              </a:rPr>
              <a:t>Job file sequence</a:t>
            </a:r>
          </a:p>
        </p:txBody>
      </p:sp>
      <p:cxnSp>
        <p:nvCxnSpPr>
          <p:cNvPr id="37" name="Straight Arrow Connector 36">
            <a:extLst>
              <a:ext uri="{FF2B5EF4-FFF2-40B4-BE49-F238E27FC236}">
                <a16:creationId xmlns:a16="http://schemas.microsoft.com/office/drawing/2014/main" id="{4A9F70FD-FD7F-1308-32C7-6CC96EC8E1C4}"/>
              </a:ext>
            </a:extLst>
          </p:cNvPr>
          <p:cNvCxnSpPr>
            <a:stCxn id="36" idx="3"/>
            <a:endCxn id="35" idx="1"/>
          </p:cNvCxnSpPr>
          <p:nvPr/>
        </p:nvCxnSpPr>
        <p:spPr>
          <a:xfrm>
            <a:off x="4901228" y="4107526"/>
            <a:ext cx="304800"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A3796C23-433D-1DA7-0F8C-CE8200CC12F1}"/>
              </a:ext>
            </a:extLst>
          </p:cNvPr>
          <p:cNvSpPr/>
          <p:nvPr/>
        </p:nvSpPr>
        <p:spPr>
          <a:xfrm>
            <a:off x="6895953" y="3837651"/>
            <a:ext cx="1510641" cy="539750"/>
          </a:xfrm>
          <a:prstGeom prst="rect">
            <a:avLst/>
          </a:prstGeom>
          <a:solidFill>
            <a:schemeClr val="bg1">
              <a:lumMod val="95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schemeClr val="tx1"/>
                </a:solidFill>
                <a:latin typeface="Arial Narrow" panose="020B0606020202030204" pitchFamily="34" charset="0"/>
                <a:ea typeface="LG Smart_H Regular" panose="020B0600000101010101" pitchFamily="34" charset="-127"/>
                <a:sym typeface="Wingdings" panose="05000000000000000000" pitchFamily="2" charset="2"/>
              </a:rPr>
              <a:t>Change the sequence test between USB test &amp; AUX test</a:t>
            </a:r>
            <a:endParaRPr lang="en-US" sz="1100" dirty="0">
              <a:solidFill>
                <a:schemeClr val="tx1"/>
              </a:solidFill>
              <a:latin typeface="Arial Narrow" panose="020B0606020202030204" pitchFamily="34" charset="0"/>
              <a:ea typeface="LG Smart_H Regular" panose="020B0600000101010101" pitchFamily="34" charset="-127"/>
              <a:cs typeface="Arial" pitchFamily="34" charset="0"/>
            </a:endParaRPr>
          </a:p>
        </p:txBody>
      </p:sp>
      <p:cxnSp>
        <p:nvCxnSpPr>
          <p:cNvPr id="39" name="Straight Arrow Connector 38">
            <a:extLst>
              <a:ext uri="{FF2B5EF4-FFF2-40B4-BE49-F238E27FC236}">
                <a16:creationId xmlns:a16="http://schemas.microsoft.com/office/drawing/2014/main" id="{7E252D15-2E92-78F0-99B2-69BB2379BE2D}"/>
              </a:ext>
            </a:extLst>
          </p:cNvPr>
          <p:cNvCxnSpPr>
            <a:stCxn id="35" idx="3"/>
            <a:endCxn id="38" idx="1"/>
          </p:cNvCxnSpPr>
          <p:nvPr/>
        </p:nvCxnSpPr>
        <p:spPr>
          <a:xfrm>
            <a:off x="6577628" y="4107526"/>
            <a:ext cx="318325"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79DC9ABA-9E0D-97D1-9E53-2C874D54BAA6}"/>
              </a:ext>
            </a:extLst>
          </p:cNvPr>
          <p:cNvCxnSpPr>
            <a:stCxn id="33" idx="3"/>
            <a:endCxn id="36" idx="1"/>
          </p:cNvCxnSpPr>
          <p:nvPr/>
        </p:nvCxnSpPr>
        <p:spPr>
          <a:xfrm>
            <a:off x="3306240" y="4107526"/>
            <a:ext cx="298415"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Elbow Connector 11">
            <a:extLst>
              <a:ext uri="{FF2B5EF4-FFF2-40B4-BE49-F238E27FC236}">
                <a16:creationId xmlns:a16="http://schemas.microsoft.com/office/drawing/2014/main" id="{0A4FF5F3-69A9-5B34-8B81-8BD964A2869A}"/>
              </a:ext>
            </a:extLst>
          </p:cNvPr>
          <p:cNvCxnSpPr>
            <a:stCxn id="3" idx="3"/>
            <a:endCxn id="33" idx="1"/>
          </p:cNvCxnSpPr>
          <p:nvPr/>
        </p:nvCxnSpPr>
        <p:spPr>
          <a:xfrm>
            <a:off x="1819612" y="3698875"/>
            <a:ext cx="318325" cy="408651"/>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3" name="Elbow Connector 11">
            <a:extLst>
              <a:ext uri="{FF2B5EF4-FFF2-40B4-BE49-F238E27FC236}">
                <a16:creationId xmlns:a16="http://schemas.microsoft.com/office/drawing/2014/main" id="{E357D4BA-69D4-FDDE-F455-7D97CF6C21F4}"/>
              </a:ext>
            </a:extLst>
          </p:cNvPr>
          <p:cNvCxnSpPr>
            <a:stCxn id="3" idx="3"/>
            <a:endCxn id="34" idx="1"/>
          </p:cNvCxnSpPr>
          <p:nvPr/>
        </p:nvCxnSpPr>
        <p:spPr>
          <a:xfrm>
            <a:off x="1819612" y="3698875"/>
            <a:ext cx="318325" cy="1126145"/>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11BC6A08-92AF-02BB-D4FE-97F54386A41E}"/>
              </a:ext>
            </a:extLst>
          </p:cNvPr>
          <p:cNvSpPr/>
          <p:nvPr/>
        </p:nvSpPr>
        <p:spPr>
          <a:xfrm>
            <a:off x="3604655" y="4555145"/>
            <a:ext cx="1296573"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Narrow" panose="020B0606020202030204" pitchFamily="34" charset="0"/>
                <a:ea typeface="LG Smart_H Regular" panose="020B0600000101010101" pitchFamily="34" charset="-127"/>
                <a:cs typeface="Arial" pitchFamily="34" charset="0"/>
              </a:rPr>
              <a:t>Set</a:t>
            </a:r>
          </a:p>
        </p:txBody>
      </p:sp>
      <p:cxnSp>
        <p:nvCxnSpPr>
          <p:cNvPr id="45" name="Straight Arrow Connector 44">
            <a:extLst>
              <a:ext uri="{FF2B5EF4-FFF2-40B4-BE49-F238E27FC236}">
                <a16:creationId xmlns:a16="http://schemas.microsoft.com/office/drawing/2014/main" id="{D9B8E3B4-8EBE-8CCB-6F65-7B43312AC58B}"/>
              </a:ext>
            </a:extLst>
          </p:cNvPr>
          <p:cNvCxnSpPr>
            <a:stCxn id="34" idx="3"/>
            <a:endCxn id="44" idx="1"/>
          </p:cNvCxnSpPr>
          <p:nvPr/>
        </p:nvCxnSpPr>
        <p:spPr>
          <a:xfrm>
            <a:off x="3303162" y="4825020"/>
            <a:ext cx="301493"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2A274D99-9763-4EAC-3932-DD59B4FA2FD6}"/>
              </a:ext>
            </a:extLst>
          </p:cNvPr>
          <p:cNvSpPr/>
          <p:nvPr/>
        </p:nvSpPr>
        <p:spPr>
          <a:xfrm>
            <a:off x="5206028" y="4555145"/>
            <a:ext cx="1371600"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Narrow" panose="020B0606020202030204" pitchFamily="34" charset="0"/>
                <a:ea typeface="LG Smart_H Regular" panose="020B0600000101010101" pitchFamily="34" charset="-127"/>
                <a:cs typeface="Arial" pitchFamily="34" charset="0"/>
              </a:rPr>
              <a:t>Set is no problem</a:t>
            </a:r>
          </a:p>
        </p:txBody>
      </p:sp>
      <p:cxnSp>
        <p:nvCxnSpPr>
          <p:cNvPr id="47" name="Straight Arrow Connector 46">
            <a:extLst>
              <a:ext uri="{FF2B5EF4-FFF2-40B4-BE49-F238E27FC236}">
                <a16:creationId xmlns:a16="http://schemas.microsoft.com/office/drawing/2014/main" id="{AA9BEEA0-ACC7-B2E0-F2C7-778425FB0B49}"/>
              </a:ext>
            </a:extLst>
          </p:cNvPr>
          <p:cNvCxnSpPr>
            <a:stCxn id="44" idx="3"/>
            <a:endCxn id="46" idx="1"/>
          </p:cNvCxnSpPr>
          <p:nvPr/>
        </p:nvCxnSpPr>
        <p:spPr>
          <a:xfrm>
            <a:off x="4901228" y="4825020"/>
            <a:ext cx="304800"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86C041AB-1B21-F5F6-B8E7-8A6CC8697058}"/>
              </a:ext>
            </a:extLst>
          </p:cNvPr>
          <p:cNvSpPr/>
          <p:nvPr/>
        </p:nvSpPr>
        <p:spPr>
          <a:xfrm>
            <a:off x="5206028" y="5272639"/>
            <a:ext cx="1371600"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Narrow" panose="020B0606020202030204" pitchFamily="34" charset="0"/>
                <a:ea typeface="LG Smart_H Regular" panose="020B0600000101010101" pitchFamily="34" charset="-127"/>
                <a:cs typeface="Arial" pitchFamily="34" charset="0"/>
              </a:rPr>
              <a:t>If not plug in set fully, previous inspection will be fail</a:t>
            </a:r>
          </a:p>
        </p:txBody>
      </p:sp>
      <p:sp>
        <p:nvSpPr>
          <p:cNvPr id="49" name="Rectangle 48">
            <a:extLst>
              <a:ext uri="{FF2B5EF4-FFF2-40B4-BE49-F238E27FC236}">
                <a16:creationId xmlns:a16="http://schemas.microsoft.com/office/drawing/2014/main" id="{72549B55-3BDE-B6E7-7669-03CCB60A7983}"/>
              </a:ext>
            </a:extLst>
          </p:cNvPr>
          <p:cNvSpPr/>
          <p:nvPr/>
        </p:nvSpPr>
        <p:spPr>
          <a:xfrm>
            <a:off x="3604655" y="5272639"/>
            <a:ext cx="1296573"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Narrow" panose="020B0606020202030204" pitchFamily="34" charset="0"/>
                <a:ea typeface="LG Smart_H Regular" panose="020B0600000101010101" pitchFamily="34" charset="-127"/>
                <a:cs typeface="Arial" pitchFamily="34" charset="0"/>
              </a:rPr>
              <a:t>Plug in set to pallet not fully</a:t>
            </a:r>
          </a:p>
        </p:txBody>
      </p:sp>
      <p:cxnSp>
        <p:nvCxnSpPr>
          <p:cNvPr id="50" name="Straight Arrow Connector 49">
            <a:extLst>
              <a:ext uri="{FF2B5EF4-FFF2-40B4-BE49-F238E27FC236}">
                <a16:creationId xmlns:a16="http://schemas.microsoft.com/office/drawing/2014/main" id="{93A5F2DD-FF0C-AC3F-D815-A640BA94EA2C}"/>
              </a:ext>
            </a:extLst>
          </p:cNvPr>
          <p:cNvCxnSpPr>
            <a:stCxn id="49" idx="3"/>
            <a:endCxn id="48" idx="1"/>
          </p:cNvCxnSpPr>
          <p:nvPr/>
        </p:nvCxnSpPr>
        <p:spPr>
          <a:xfrm>
            <a:off x="4901228" y="5542514"/>
            <a:ext cx="304800"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D6EDA001-54B5-0AF1-5351-8BBF5FAC1A3A}"/>
              </a:ext>
            </a:extLst>
          </p:cNvPr>
          <p:cNvSpPr/>
          <p:nvPr/>
        </p:nvSpPr>
        <p:spPr>
          <a:xfrm>
            <a:off x="6895953" y="5272639"/>
            <a:ext cx="1510641"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Narrow" panose="020B0606020202030204" pitchFamily="34" charset="0"/>
                <a:ea typeface="LG Smart_H Regular" panose="020B0600000101010101" pitchFamily="34" charset="-127"/>
                <a:cs typeface="Arial" pitchFamily="34" charset="0"/>
              </a:rPr>
              <a:t>Not relate to set plugging in</a:t>
            </a:r>
          </a:p>
        </p:txBody>
      </p:sp>
      <p:cxnSp>
        <p:nvCxnSpPr>
          <p:cNvPr id="52" name="Straight Arrow Connector 51">
            <a:extLst>
              <a:ext uri="{FF2B5EF4-FFF2-40B4-BE49-F238E27FC236}">
                <a16:creationId xmlns:a16="http://schemas.microsoft.com/office/drawing/2014/main" id="{34679FA4-CAE9-C4C5-9A78-AEA29AA96FD9}"/>
              </a:ext>
            </a:extLst>
          </p:cNvPr>
          <p:cNvCxnSpPr>
            <a:stCxn id="48" idx="3"/>
            <a:endCxn id="51" idx="1"/>
          </p:cNvCxnSpPr>
          <p:nvPr/>
        </p:nvCxnSpPr>
        <p:spPr>
          <a:xfrm>
            <a:off x="6577628" y="5542514"/>
            <a:ext cx="318325"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3" name="Elbow Connector 98">
            <a:extLst>
              <a:ext uri="{FF2B5EF4-FFF2-40B4-BE49-F238E27FC236}">
                <a16:creationId xmlns:a16="http://schemas.microsoft.com/office/drawing/2014/main" id="{C1A641A4-C3A9-8C95-55AF-157D25F486BA}"/>
              </a:ext>
            </a:extLst>
          </p:cNvPr>
          <p:cNvCxnSpPr>
            <a:stCxn id="4" idx="3"/>
            <a:endCxn id="10" idx="1"/>
          </p:cNvCxnSpPr>
          <p:nvPr/>
        </p:nvCxnSpPr>
        <p:spPr>
          <a:xfrm>
            <a:off x="3303162" y="5879011"/>
            <a:ext cx="301493" cy="381000"/>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4" name="Elbow Connector 98">
            <a:extLst>
              <a:ext uri="{FF2B5EF4-FFF2-40B4-BE49-F238E27FC236}">
                <a16:creationId xmlns:a16="http://schemas.microsoft.com/office/drawing/2014/main" id="{B8767567-DFCD-FBCA-525C-61E8AEE6F93F}"/>
              </a:ext>
            </a:extLst>
          </p:cNvPr>
          <p:cNvCxnSpPr>
            <a:stCxn id="4" idx="3"/>
            <a:endCxn id="49" idx="1"/>
          </p:cNvCxnSpPr>
          <p:nvPr/>
        </p:nvCxnSpPr>
        <p:spPr>
          <a:xfrm flipV="1">
            <a:off x="3303162" y="5542514"/>
            <a:ext cx="301493" cy="336497"/>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98B3781D-317B-6E54-AB30-DFC6843327F4}"/>
              </a:ext>
            </a:extLst>
          </p:cNvPr>
          <p:cNvSpPr/>
          <p:nvPr/>
        </p:nvSpPr>
        <p:spPr>
          <a:xfrm>
            <a:off x="5206028" y="3120157"/>
            <a:ext cx="1371600"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Narrow" panose="020B0606020202030204" pitchFamily="34" charset="0"/>
                <a:ea typeface="LG Smart_H Regular" panose="020B0600000101010101" pitchFamily="34" charset="-127"/>
                <a:cs typeface="Arial" pitchFamily="34" charset="0"/>
              </a:rPr>
              <a:t>Accuracy is bad</a:t>
            </a:r>
          </a:p>
        </p:txBody>
      </p:sp>
      <p:sp>
        <p:nvSpPr>
          <p:cNvPr id="56" name="Rectangle 55">
            <a:extLst>
              <a:ext uri="{FF2B5EF4-FFF2-40B4-BE49-F238E27FC236}">
                <a16:creationId xmlns:a16="http://schemas.microsoft.com/office/drawing/2014/main" id="{6C3C23AB-2C95-7189-BEEB-6CD216379659}"/>
              </a:ext>
            </a:extLst>
          </p:cNvPr>
          <p:cNvSpPr/>
          <p:nvPr/>
        </p:nvSpPr>
        <p:spPr>
          <a:xfrm>
            <a:off x="6895953" y="3120157"/>
            <a:ext cx="1510641"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Narrow" panose="020B0606020202030204" pitchFamily="34" charset="0"/>
                <a:ea typeface="LG Smart_H Regular" panose="020B0600000101010101" pitchFamily="34" charset="-127"/>
                <a:cs typeface="Arial" pitchFamily="34" charset="0"/>
              </a:rPr>
              <a:t>Audio Video Multi Tester is calibrated frequently </a:t>
            </a:r>
            <a:r>
              <a:rPr lang="en-US" sz="1100" dirty="0">
                <a:solidFill>
                  <a:prstClr val="black"/>
                </a:solidFill>
                <a:latin typeface="Arial Narrow" panose="020B0606020202030204" pitchFamily="34" charset="0"/>
                <a:ea typeface="LG Smart_H Regular" panose="020B0600000101010101" pitchFamily="34" charset="-127"/>
                <a:cs typeface="Arial" pitchFamily="34" charset="0"/>
                <a:sym typeface="Wingdings" panose="05000000000000000000" pitchFamily="2" charset="2"/>
              </a:rPr>
              <a:t> OK</a:t>
            </a:r>
            <a:endParaRPr lang="en-US" sz="1100" dirty="0">
              <a:solidFill>
                <a:prstClr val="black"/>
              </a:solidFill>
              <a:latin typeface="Arial Narrow" panose="020B0606020202030204" pitchFamily="34" charset="0"/>
              <a:ea typeface="LG Smart_H Regular" panose="020B0600000101010101" pitchFamily="34" charset="-127"/>
              <a:cs typeface="Arial" pitchFamily="34" charset="0"/>
            </a:endParaRPr>
          </a:p>
        </p:txBody>
      </p:sp>
      <p:cxnSp>
        <p:nvCxnSpPr>
          <p:cNvPr id="57" name="Straight Arrow Connector 56">
            <a:extLst>
              <a:ext uri="{FF2B5EF4-FFF2-40B4-BE49-F238E27FC236}">
                <a16:creationId xmlns:a16="http://schemas.microsoft.com/office/drawing/2014/main" id="{7DC4ED65-E228-E1CE-6FE2-0B32C5995057}"/>
              </a:ext>
            </a:extLst>
          </p:cNvPr>
          <p:cNvCxnSpPr>
            <a:stCxn id="55" idx="3"/>
            <a:endCxn id="56" idx="1"/>
          </p:cNvCxnSpPr>
          <p:nvPr/>
        </p:nvCxnSpPr>
        <p:spPr>
          <a:xfrm>
            <a:off x="6577628" y="3390032"/>
            <a:ext cx="318325"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8" name="Elbow Connector 100">
            <a:extLst>
              <a:ext uri="{FF2B5EF4-FFF2-40B4-BE49-F238E27FC236}">
                <a16:creationId xmlns:a16="http://schemas.microsoft.com/office/drawing/2014/main" id="{4188C84D-08A3-6465-6ED6-5098220D9EBE}"/>
              </a:ext>
            </a:extLst>
          </p:cNvPr>
          <p:cNvCxnSpPr>
            <a:stCxn id="12" idx="3"/>
            <a:endCxn id="55" idx="1"/>
          </p:cNvCxnSpPr>
          <p:nvPr/>
        </p:nvCxnSpPr>
        <p:spPr>
          <a:xfrm>
            <a:off x="4901228" y="3059611"/>
            <a:ext cx="304800" cy="330421"/>
          </a:xfrm>
          <a:prstGeom prst="bentConnector3">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9" name="Elbow Connector 100">
            <a:extLst>
              <a:ext uri="{FF2B5EF4-FFF2-40B4-BE49-F238E27FC236}">
                <a16:creationId xmlns:a16="http://schemas.microsoft.com/office/drawing/2014/main" id="{5A5F648D-692B-8001-6CEB-4DBE04CEFD73}"/>
              </a:ext>
            </a:extLst>
          </p:cNvPr>
          <p:cNvCxnSpPr>
            <a:stCxn id="12" idx="3"/>
            <a:endCxn id="17" idx="1"/>
          </p:cNvCxnSpPr>
          <p:nvPr/>
        </p:nvCxnSpPr>
        <p:spPr>
          <a:xfrm flipV="1">
            <a:off x="4901228" y="2672538"/>
            <a:ext cx="304800" cy="387073"/>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A3FD3774-3BF1-A1D8-4F0B-1382E263814E}"/>
              </a:ext>
            </a:extLst>
          </p:cNvPr>
          <p:cNvSpPr txBox="1"/>
          <p:nvPr/>
        </p:nvSpPr>
        <p:spPr>
          <a:xfrm>
            <a:off x="8148286" y="3705304"/>
            <a:ext cx="318326" cy="400110"/>
          </a:xfrm>
          <a:prstGeom prst="rect">
            <a:avLst/>
          </a:prstGeom>
          <a:noFill/>
        </p:spPr>
        <p:txBody>
          <a:bodyPr wrap="square" rtlCol="0">
            <a:spAutoFit/>
          </a:bodyPr>
          <a:lstStyle/>
          <a:p>
            <a:r>
              <a:rPr lang="en-US" sz="2000" b="1" dirty="0">
                <a:solidFill>
                  <a:srgbClr val="FF0000"/>
                </a:solidFill>
                <a:latin typeface="Arial Narrow" panose="020B0606020202030204" pitchFamily="34" charset="0"/>
                <a:ea typeface="LG Smart_H Regular" panose="020B0600000101010101" pitchFamily="34" charset="-127"/>
                <a:sym typeface="Wingdings 2" panose="05020102010507070707" pitchFamily="18" charset="2"/>
              </a:rPr>
              <a:t></a:t>
            </a:r>
            <a:endParaRPr lang="en-US" sz="2000" b="1" dirty="0">
              <a:solidFill>
                <a:srgbClr val="FF0000"/>
              </a:solidFill>
              <a:latin typeface="Arial Narrow" panose="020B0606020202030204" pitchFamily="34" charset="0"/>
              <a:ea typeface="LG Smart_H Regular" panose="020B0600000101010101" pitchFamily="34" charset="-127"/>
            </a:endParaRPr>
          </a:p>
        </p:txBody>
      </p:sp>
      <p:sp>
        <p:nvSpPr>
          <p:cNvPr id="64" name="제목 1">
            <a:extLst>
              <a:ext uri="{FF2B5EF4-FFF2-40B4-BE49-F238E27FC236}">
                <a16:creationId xmlns:a16="http://schemas.microsoft.com/office/drawing/2014/main" id="{9383C1C8-E7EA-2592-2198-21C4E1FCDB15}"/>
              </a:ext>
            </a:extLst>
          </p:cNvPr>
          <p:cNvSpPr txBox="1">
            <a:spLocks/>
          </p:cNvSpPr>
          <p:nvPr/>
        </p:nvSpPr>
        <p:spPr>
          <a:xfrm>
            <a:off x="27541" y="64338"/>
            <a:ext cx="6525659" cy="418058"/>
          </a:xfrm>
          <a:prstGeom prst="rect">
            <a:avLst/>
          </a:prstGeom>
        </p:spPr>
        <p:txBody>
          <a:bodyPr vert="horz" lIns="91440" tIns="45720" rIns="91440" bIns="45720" rtlCol="0" anchor="ctr">
            <a:noAutofit/>
          </a:bodyPr>
          <a:lstStyle/>
          <a:p>
            <a:pPr eaLnBrk="0" hangingPunct="0">
              <a:defRPr/>
            </a:pPr>
            <a:r>
              <a:rPr lang="en-US" altLang="ko-KR" sz="2000" b="1" kern="0" dirty="0">
                <a:solidFill>
                  <a:srgbClr val="000000"/>
                </a:solidFill>
                <a:latin typeface="Arial Narrow" panose="020B0606020202030204" pitchFamily="34" charset="0"/>
                <a:ea typeface="LG Smart_H Regular" pitchFamily="34" charset="-127"/>
              </a:rPr>
              <a:t>3. Find the Root Cause that making distortion issue</a:t>
            </a:r>
            <a:endParaRPr lang="ko-KR" altLang="en-US" sz="2000" b="1" kern="0" dirty="0">
              <a:solidFill>
                <a:srgbClr val="000000"/>
              </a:solidFill>
              <a:latin typeface="Arial Narrow" panose="020B0606020202030204" pitchFamily="34" charset="0"/>
              <a:ea typeface="LG Smart_H Regular" pitchFamily="34" charset="-127"/>
            </a:endParaRPr>
          </a:p>
        </p:txBody>
      </p:sp>
      <p:sp>
        <p:nvSpPr>
          <p:cNvPr id="65" name="AutoShape 55">
            <a:extLst>
              <a:ext uri="{FF2B5EF4-FFF2-40B4-BE49-F238E27FC236}">
                <a16:creationId xmlns:a16="http://schemas.microsoft.com/office/drawing/2014/main" id="{BCAA2FD9-E224-4281-3151-FA32DF63FD49}"/>
              </a:ext>
            </a:extLst>
          </p:cNvPr>
          <p:cNvSpPr>
            <a:spLocks noChangeArrowheads="1"/>
          </p:cNvSpPr>
          <p:nvPr/>
        </p:nvSpPr>
        <p:spPr bwMode="auto">
          <a:xfrm>
            <a:off x="9069039" y="2252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Control</a:t>
            </a:r>
          </a:p>
        </p:txBody>
      </p:sp>
      <p:sp>
        <p:nvSpPr>
          <p:cNvPr id="66" name="AutoShape 56">
            <a:extLst>
              <a:ext uri="{FF2B5EF4-FFF2-40B4-BE49-F238E27FC236}">
                <a16:creationId xmlns:a16="http://schemas.microsoft.com/office/drawing/2014/main" id="{D3B88DFA-3B1E-B9CB-C836-CD41EF8A1BEE}"/>
              </a:ext>
            </a:extLst>
          </p:cNvPr>
          <p:cNvSpPr>
            <a:spLocks noChangeArrowheads="1"/>
          </p:cNvSpPr>
          <p:nvPr/>
        </p:nvSpPr>
        <p:spPr bwMode="auto">
          <a:xfrm>
            <a:off x="8380064" y="2252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rPr>
              <a:t>Improve</a:t>
            </a:r>
          </a:p>
        </p:txBody>
      </p:sp>
      <p:sp>
        <p:nvSpPr>
          <p:cNvPr id="67" name="AutoShape 59">
            <a:extLst>
              <a:ext uri="{FF2B5EF4-FFF2-40B4-BE49-F238E27FC236}">
                <a16:creationId xmlns:a16="http://schemas.microsoft.com/office/drawing/2014/main" id="{85F887E4-1BE4-76FB-1C2C-73B38628B8BE}"/>
              </a:ext>
            </a:extLst>
          </p:cNvPr>
          <p:cNvSpPr>
            <a:spLocks noChangeArrowheads="1"/>
          </p:cNvSpPr>
          <p:nvPr/>
        </p:nvSpPr>
        <p:spPr bwMode="auto">
          <a:xfrm>
            <a:off x="6319489" y="22528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Define</a:t>
            </a:r>
          </a:p>
        </p:txBody>
      </p:sp>
      <p:sp>
        <p:nvSpPr>
          <p:cNvPr id="68" name="AutoShape 58">
            <a:extLst>
              <a:ext uri="{FF2B5EF4-FFF2-40B4-BE49-F238E27FC236}">
                <a16:creationId xmlns:a16="http://schemas.microsoft.com/office/drawing/2014/main" id="{05277A8D-43A5-DADB-3369-35D326928589}"/>
              </a:ext>
            </a:extLst>
          </p:cNvPr>
          <p:cNvSpPr>
            <a:spLocks noChangeArrowheads="1"/>
          </p:cNvSpPr>
          <p:nvPr/>
        </p:nvSpPr>
        <p:spPr bwMode="auto">
          <a:xfrm>
            <a:off x="7078109" y="212881"/>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Measure </a:t>
            </a:r>
          </a:p>
        </p:txBody>
      </p:sp>
      <p:sp>
        <p:nvSpPr>
          <p:cNvPr id="69" name="AutoShape 57">
            <a:extLst>
              <a:ext uri="{FF2B5EF4-FFF2-40B4-BE49-F238E27FC236}">
                <a16:creationId xmlns:a16="http://schemas.microsoft.com/office/drawing/2014/main" id="{041FB7EB-B680-BF3B-645A-AB4C9262C6B1}"/>
              </a:ext>
            </a:extLst>
          </p:cNvPr>
          <p:cNvSpPr>
            <a:spLocks noChangeArrowheads="1"/>
          </p:cNvSpPr>
          <p:nvPr/>
        </p:nvSpPr>
        <p:spPr bwMode="auto">
          <a:xfrm>
            <a:off x="7749621" y="68419"/>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latin typeface="Arial Narrow" panose="020B0606020202030204" pitchFamily="34" charset="0"/>
                <a:ea typeface="맑은 고딕" panose="020B0503020000020004" pitchFamily="50" charset="-127"/>
              </a:rPr>
              <a:t>Analyze</a:t>
            </a:r>
          </a:p>
        </p:txBody>
      </p:sp>
      <p:cxnSp>
        <p:nvCxnSpPr>
          <p:cNvPr id="71" name="Straight Connector 70">
            <a:extLst>
              <a:ext uri="{FF2B5EF4-FFF2-40B4-BE49-F238E27FC236}">
                <a16:creationId xmlns:a16="http://schemas.microsoft.com/office/drawing/2014/main" id="{FD5952C2-F9F3-1ECE-86DD-A44A97B2E503}"/>
              </a:ext>
            </a:extLst>
          </p:cNvPr>
          <p:cNvCxnSpPr/>
          <p:nvPr/>
        </p:nvCxnSpPr>
        <p:spPr>
          <a:xfrm>
            <a:off x="-12488" y="561513"/>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C32CE779-4C0A-E93E-3873-942D330F9DB9}"/>
              </a:ext>
            </a:extLst>
          </p:cNvPr>
          <p:cNvSpPr txBox="1"/>
          <p:nvPr/>
        </p:nvSpPr>
        <p:spPr>
          <a:xfrm>
            <a:off x="8148286" y="1548303"/>
            <a:ext cx="318326" cy="400110"/>
          </a:xfrm>
          <a:prstGeom prst="rect">
            <a:avLst/>
          </a:prstGeom>
          <a:noFill/>
        </p:spPr>
        <p:txBody>
          <a:bodyPr wrap="square" rtlCol="0">
            <a:spAutoFit/>
          </a:bodyPr>
          <a:lstStyle/>
          <a:p>
            <a:r>
              <a:rPr lang="en-US" sz="2000" b="1" dirty="0">
                <a:solidFill>
                  <a:srgbClr val="FF0000"/>
                </a:solidFill>
                <a:latin typeface="Arial Narrow" panose="020B0606020202030204" pitchFamily="34" charset="0"/>
                <a:ea typeface="LG Smart_H Regular" panose="020B0600000101010101" pitchFamily="34" charset="-127"/>
                <a:sym typeface="Wingdings 2" panose="05020102010507070707" pitchFamily="18" charset="2"/>
              </a:rPr>
              <a:t></a:t>
            </a:r>
            <a:endParaRPr lang="en-US" sz="2000" b="1" dirty="0">
              <a:solidFill>
                <a:srgbClr val="FF0000"/>
              </a:solidFill>
              <a:latin typeface="Arial Narrow" panose="020B0606020202030204" pitchFamily="34" charset="0"/>
              <a:ea typeface="LG Smart_H Regular" panose="020B0600000101010101" pitchFamily="34" charset="-127"/>
            </a:endParaRPr>
          </a:p>
        </p:txBody>
      </p:sp>
      <p:sp>
        <p:nvSpPr>
          <p:cNvPr id="81" name="TextBox 80">
            <a:extLst>
              <a:ext uri="{FF2B5EF4-FFF2-40B4-BE49-F238E27FC236}">
                <a16:creationId xmlns:a16="http://schemas.microsoft.com/office/drawing/2014/main" id="{ADC85368-9417-47BE-EE64-30A20E6CFDA8}"/>
              </a:ext>
            </a:extLst>
          </p:cNvPr>
          <p:cNvSpPr txBox="1"/>
          <p:nvPr/>
        </p:nvSpPr>
        <p:spPr>
          <a:xfrm>
            <a:off x="8148286" y="834065"/>
            <a:ext cx="318326" cy="400110"/>
          </a:xfrm>
          <a:prstGeom prst="rect">
            <a:avLst/>
          </a:prstGeom>
          <a:noFill/>
        </p:spPr>
        <p:txBody>
          <a:bodyPr wrap="square" rtlCol="0">
            <a:spAutoFit/>
          </a:bodyPr>
          <a:lstStyle/>
          <a:p>
            <a:r>
              <a:rPr lang="en-US" sz="2000" b="1" dirty="0">
                <a:solidFill>
                  <a:srgbClr val="FF0000"/>
                </a:solidFill>
                <a:latin typeface="Arial Narrow" panose="020B0606020202030204" pitchFamily="34" charset="0"/>
                <a:ea typeface="LG Smart_H Regular" panose="020B0600000101010101" pitchFamily="34" charset="-127"/>
                <a:sym typeface="Wingdings 2" panose="05020102010507070707" pitchFamily="18" charset="2"/>
              </a:rPr>
              <a:t></a:t>
            </a:r>
            <a:endParaRPr lang="en-US" sz="2000" b="1" dirty="0">
              <a:solidFill>
                <a:srgbClr val="FF0000"/>
              </a:solidFill>
              <a:latin typeface="Arial Narrow" panose="020B0606020202030204" pitchFamily="34" charset="0"/>
              <a:ea typeface="LG Smart_H Regular" panose="020B0600000101010101" pitchFamily="34" charset="-127"/>
            </a:endParaRPr>
          </a:p>
        </p:txBody>
      </p:sp>
      <p:sp>
        <p:nvSpPr>
          <p:cNvPr id="29" name="TextBox 28">
            <a:extLst>
              <a:ext uri="{FF2B5EF4-FFF2-40B4-BE49-F238E27FC236}">
                <a16:creationId xmlns:a16="http://schemas.microsoft.com/office/drawing/2014/main" id="{F8093E95-CEF9-199A-F0B2-571226C3C523}"/>
              </a:ext>
            </a:extLst>
          </p:cNvPr>
          <p:cNvSpPr txBox="1"/>
          <p:nvPr/>
        </p:nvSpPr>
        <p:spPr>
          <a:xfrm>
            <a:off x="244673" y="6496049"/>
            <a:ext cx="1234633" cy="261610"/>
          </a:xfrm>
          <a:prstGeom prst="rect">
            <a:avLst/>
          </a:prstGeom>
          <a:noFill/>
        </p:spPr>
        <p:txBody>
          <a:bodyPr wrap="none" rtlCol="0">
            <a:spAutoFit/>
          </a:bodyPr>
          <a:lstStyle/>
          <a:p>
            <a:r>
              <a:rPr lang="en-US" sz="1100" dirty="0">
                <a:solidFill>
                  <a:srgbClr val="000000"/>
                </a:solidFill>
                <a:latin typeface="LG Smart_H Regular" panose="020B0600000101010101" pitchFamily="34" charset="-127"/>
                <a:ea typeface="LG Smart_H Regular" panose="020B0600000101010101" pitchFamily="34" charset="-127"/>
              </a:rPr>
              <a:t>: Potential factor</a:t>
            </a:r>
            <a:endParaRPr lang="en-US" sz="1400" dirty="0">
              <a:latin typeface="LG Smart_H Regular" panose="020B0600000101010101" pitchFamily="34" charset="-127"/>
              <a:ea typeface="LG Smart_H Regular" panose="020B0600000101010101" pitchFamily="34" charset="-127"/>
            </a:endParaRPr>
          </a:p>
        </p:txBody>
      </p:sp>
      <p:sp>
        <p:nvSpPr>
          <p:cNvPr id="30" name="TextBox 29">
            <a:extLst>
              <a:ext uri="{FF2B5EF4-FFF2-40B4-BE49-F238E27FC236}">
                <a16:creationId xmlns:a16="http://schemas.microsoft.com/office/drawing/2014/main" id="{DAA1236B-BB44-CD2F-6AB4-CF804110B1D9}"/>
              </a:ext>
            </a:extLst>
          </p:cNvPr>
          <p:cNvSpPr txBox="1"/>
          <p:nvPr/>
        </p:nvSpPr>
        <p:spPr>
          <a:xfrm>
            <a:off x="39997" y="6477386"/>
            <a:ext cx="391772" cy="374589"/>
          </a:xfrm>
          <a:prstGeom prst="rect">
            <a:avLst/>
          </a:prstGeom>
          <a:noFill/>
        </p:spPr>
        <p:txBody>
          <a:bodyPr wrap="square" rtlCol="0">
            <a:spAutoFit/>
          </a:bodyPr>
          <a:lstStyle/>
          <a:p>
            <a:r>
              <a:rPr lang="en-US" b="1" dirty="0">
                <a:solidFill>
                  <a:srgbClr val="FF0000"/>
                </a:solidFill>
                <a:latin typeface="LG Smart_H Regular" panose="020B0600000101010101" pitchFamily="34" charset="-127"/>
                <a:ea typeface="LG Smart_H Regular"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spTree>
    <p:extLst>
      <p:ext uri="{BB962C8B-B14F-4D97-AF65-F5344CB8AC3E}">
        <p14:creationId xmlns:p14="http://schemas.microsoft.com/office/powerpoint/2010/main" val="19702179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Text Box 2">
            <a:extLst>
              <a:ext uri="{FF2B5EF4-FFF2-40B4-BE49-F238E27FC236}">
                <a16:creationId xmlns:a16="http://schemas.microsoft.com/office/drawing/2014/main" id="{F885FEA8-2650-4BAE-BD30-177BEEB89DF5}"/>
              </a:ext>
            </a:extLst>
          </p:cNvPr>
          <p:cNvSpPr txBox="1">
            <a:spLocks noChangeArrowheads="1"/>
          </p:cNvSpPr>
          <p:nvPr/>
        </p:nvSpPr>
        <p:spPr bwMode="auto">
          <a:xfrm>
            <a:off x="27541" y="618466"/>
            <a:ext cx="1621851" cy="304800"/>
          </a:xfrm>
          <a:prstGeom prst="rect">
            <a:avLst/>
          </a:prstGeom>
          <a:noFill/>
          <a:ln w="9525" algn="ctr">
            <a:noFill/>
            <a:miter lim="800000"/>
            <a:headEnd/>
            <a:tailEnd/>
          </a:ln>
        </p:spPr>
        <p:txBody>
          <a:bodyPr lIns="84374" tIns="42187" rIns="84374" bIns="42187" anchor="ctr"/>
          <a:lstStyle/>
          <a:p>
            <a:pPr marL="171450" indent="-171450" defTabSz="844083" fontAlgn="base" latinLnBrk="1">
              <a:spcBef>
                <a:spcPct val="0"/>
              </a:spcBef>
              <a:spcAft>
                <a:spcPct val="0"/>
              </a:spcAft>
              <a:buFont typeface="Wingdings" panose="05000000000000000000" pitchFamily="2" charset="2"/>
              <a:buChar char="q"/>
              <a:defRPr/>
            </a:pPr>
            <a:r>
              <a:rPr lang="en-US" altLang="ko-KR" sz="1200" b="1" dirty="0">
                <a:solidFill>
                  <a:srgbClr val="000000"/>
                </a:solidFill>
                <a:latin typeface="Arial Narrow" panose="020B0606020202030204" pitchFamily="34" charset="0"/>
                <a:ea typeface="LG Smart_H Regular" panose="020B0600000101010101" pitchFamily="34" charset="-127"/>
                <a:cs typeface="Arial" panose="020B0604020202020204" pitchFamily="34" charset="0"/>
              </a:rPr>
              <a:t>2 Samples T test </a:t>
            </a:r>
            <a:endParaRPr lang="ko-KR" altLang="en-US" sz="1200" b="1" dirty="0">
              <a:solidFill>
                <a:srgbClr val="000000"/>
              </a:solidFill>
              <a:latin typeface="Arial Narrow" panose="020B0606020202030204" pitchFamily="34" charset="0"/>
              <a:ea typeface="LG Smart_H Regular" panose="020B0600000101010101" pitchFamily="34" charset="-127"/>
              <a:cs typeface="Arial" panose="020B0604020202020204" pitchFamily="34" charset="0"/>
            </a:endParaRPr>
          </a:p>
        </p:txBody>
      </p:sp>
      <p:sp>
        <p:nvSpPr>
          <p:cNvPr id="100" name="AutoShape 55">
            <a:extLst>
              <a:ext uri="{FF2B5EF4-FFF2-40B4-BE49-F238E27FC236}">
                <a16:creationId xmlns:a16="http://schemas.microsoft.com/office/drawing/2014/main" id="{EED46192-4ED1-4158-8F3E-AA2D8BB90551}"/>
              </a:ext>
            </a:extLst>
          </p:cNvPr>
          <p:cNvSpPr>
            <a:spLocks noChangeArrowheads="1"/>
          </p:cNvSpPr>
          <p:nvPr/>
        </p:nvSpPr>
        <p:spPr bwMode="auto">
          <a:xfrm>
            <a:off x="9130746"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Control</a:t>
            </a:r>
          </a:p>
        </p:txBody>
      </p:sp>
      <p:sp>
        <p:nvSpPr>
          <p:cNvPr id="101" name="AutoShape 56">
            <a:extLst>
              <a:ext uri="{FF2B5EF4-FFF2-40B4-BE49-F238E27FC236}">
                <a16:creationId xmlns:a16="http://schemas.microsoft.com/office/drawing/2014/main" id="{7459209F-12BD-4723-B248-E7E3EC691992}"/>
              </a:ext>
            </a:extLst>
          </p:cNvPr>
          <p:cNvSpPr>
            <a:spLocks noChangeArrowheads="1"/>
          </p:cNvSpPr>
          <p:nvPr/>
        </p:nvSpPr>
        <p:spPr bwMode="auto">
          <a:xfrm>
            <a:off x="8441771"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rPr>
              <a:t>Improve</a:t>
            </a:r>
          </a:p>
        </p:txBody>
      </p:sp>
      <p:sp>
        <p:nvSpPr>
          <p:cNvPr id="114" name="AutoShape 58">
            <a:extLst>
              <a:ext uri="{FF2B5EF4-FFF2-40B4-BE49-F238E27FC236}">
                <a16:creationId xmlns:a16="http://schemas.microsoft.com/office/drawing/2014/main" id="{427C720A-861D-4934-858A-D651CA1E3F01}"/>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Measure </a:t>
            </a:r>
          </a:p>
        </p:txBody>
      </p:sp>
      <p:sp>
        <p:nvSpPr>
          <p:cNvPr id="115" name="AutoShape 59">
            <a:extLst>
              <a:ext uri="{FF2B5EF4-FFF2-40B4-BE49-F238E27FC236}">
                <a16:creationId xmlns:a16="http://schemas.microsoft.com/office/drawing/2014/main" id="{05E66742-DE0E-48EA-8AA8-4CD0C5704A27}"/>
              </a:ext>
            </a:extLst>
          </p:cNvPr>
          <p:cNvSpPr>
            <a:spLocks noChangeArrowheads="1"/>
          </p:cNvSpPr>
          <p:nvPr/>
        </p:nvSpPr>
        <p:spPr bwMode="auto">
          <a:xfrm>
            <a:off x="6381196" y="16658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Define</a:t>
            </a:r>
          </a:p>
        </p:txBody>
      </p:sp>
      <p:sp>
        <p:nvSpPr>
          <p:cNvPr id="116" name="AutoShape 57">
            <a:extLst>
              <a:ext uri="{FF2B5EF4-FFF2-40B4-BE49-F238E27FC236}">
                <a16:creationId xmlns:a16="http://schemas.microsoft.com/office/drawing/2014/main" id="{DFFBFEFF-78C8-4850-A9A2-2EB6B7D4D071}"/>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latin typeface="Arial Narrow" panose="020B0606020202030204" pitchFamily="34" charset="0"/>
                <a:ea typeface="맑은 고딕" panose="020B0503020000020004" pitchFamily="50" charset="-127"/>
              </a:rPr>
              <a:t>Analyze</a:t>
            </a:r>
          </a:p>
        </p:txBody>
      </p:sp>
      <p:graphicFrame>
        <p:nvGraphicFramePr>
          <p:cNvPr id="3" name="Table 2">
            <a:extLst>
              <a:ext uri="{FF2B5EF4-FFF2-40B4-BE49-F238E27FC236}">
                <a16:creationId xmlns:a16="http://schemas.microsoft.com/office/drawing/2014/main" id="{FEB4F0AC-5783-4227-97F5-8187EC65FDFE}"/>
              </a:ext>
            </a:extLst>
          </p:cNvPr>
          <p:cNvGraphicFramePr>
            <a:graphicFrameLocks noGrp="1"/>
          </p:cNvGraphicFramePr>
          <p:nvPr>
            <p:extLst>
              <p:ext uri="{D42A27DB-BD31-4B8C-83A1-F6EECF244321}">
                <p14:modId xmlns:p14="http://schemas.microsoft.com/office/powerpoint/2010/main" val="3234042820"/>
              </p:ext>
            </p:extLst>
          </p:nvPr>
        </p:nvGraphicFramePr>
        <p:xfrm>
          <a:off x="595353" y="1100443"/>
          <a:ext cx="8646301" cy="2130540"/>
        </p:xfrm>
        <a:graphic>
          <a:graphicData uri="http://schemas.openxmlformats.org/drawingml/2006/table">
            <a:tbl>
              <a:tblPr/>
              <a:tblGrid>
                <a:gridCol w="558298">
                  <a:extLst>
                    <a:ext uri="{9D8B030D-6E8A-4147-A177-3AD203B41FA5}">
                      <a16:colId xmlns:a16="http://schemas.microsoft.com/office/drawing/2014/main" val="675507370"/>
                    </a:ext>
                  </a:extLst>
                </a:gridCol>
                <a:gridCol w="2628653">
                  <a:extLst>
                    <a:ext uri="{9D8B030D-6E8A-4147-A177-3AD203B41FA5}">
                      <a16:colId xmlns:a16="http://schemas.microsoft.com/office/drawing/2014/main" val="851657989"/>
                    </a:ext>
                  </a:extLst>
                </a:gridCol>
                <a:gridCol w="4094186">
                  <a:extLst>
                    <a:ext uri="{9D8B030D-6E8A-4147-A177-3AD203B41FA5}">
                      <a16:colId xmlns:a16="http://schemas.microsoft.com/office/drawing/2014/main" val="4121057302"/>
                    </a:ext>
                  </a:extLst>
                </a:gridCol>
                <a:gridCol w="1365164">
                  <a:extLst>
                    <a:ext uri="{9D8B030D-6E8A-4147-A177-3AD203B41FA5}">
                      <a16:colId xmlns:a16="http://schemas.microsoft.com/office/drawing/2014/main" val="6004670"/>
                    </a:ext>
                  </a:extLst>
                </a:gridCol>
              </a:tblGrid>
              <a:tr h="532635">
                <a:tc>
                  <a:txBody>
                    <a:bodyPr/>
                    <a:lstStyle/>
                    <a:p>
                      <a:pPr algn="ctr" rtl="0" fontAlgn="ctr"/>
                      <a:r>
                        <a:rPr lang="en-US" sz="1100" b="1" i="0" u="none" strike="noStrike">
                          <a:solidFill>
                            <a:srgbClr val="000000"/>
                          </a:solidFill>
                          <a:effectLst/>
                          <a:latin typeface="Arial Narrow" panose="020B0606020202030204" pitchFamily="34" charset="0"/>
                        </a:rPr>
                        <a:t>No</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fontAlgn="ctr"/>
                      <a:r>
                        <a:rPr lang="en-US" sz="1100" b="1" i="0" u="none" strike="noStrike">
                          <a:solidFill>
                            <a:srgbClr val="000000"/>
                          </a:solidFill>
                          <a:effectLst/>
                          <a:latin typeface="Arial Narrow" panose="020B0606020202030204" pitchFamily="34" charset="0"/>
                        </a:rPr>
                        <a:t>Potential Factors</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fontAlgn="ctr"/>
                      <a:r>
                        <a:rPr lang="en-US" sz="1100" b="1" i="0" u="none" strike="noStrike">
                          <a:solidFill>
                            <a:srgbClr val="000000"/>
                          </a:solidFill>
                          <a:effectLst/>
                          <a:latin typeface="Arial Narrow" panose="020B0606020202030204" pitchFamily="34" charset="0"/>
                        </a:rPr>
                        <a:t>What is looking for ?</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fontAlgn="ctr"/>
                      <a:r>
                        <a:rPr lang="en-US" sz="1100" b="1" i="0" u="none" strike="noStrike" dirty="0">
                          <a:solidFill>
                            <a:srgbClr val="000000"/>
                          </a:solidFill>
                          <a:effectLst/>
                          <a:latin typeface="Arial Narrow" panose="020B0606020202030204" pitchFamily="34" charset="0"/>
                        </a:rPr>
                        <a:t>Tool to identify</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extLst>
                  <a:ext uri="{0D108BD9-81ED-4DB2-BD59-A6C34878D82A}">
                    <a16:rowId xmlns:a16="http://schemas.microsoft.com/office/drawing/2014/main" val="2406186259"/>
                  </a:ext>
                </a:extLst>
              </a:tr>
              <a:tr h="532635">
                <a:tc>
                  <a:txBody>
                    <a:bodyPr/>
                    <a:lstStyle/>
                    <a:p>
                      <a:pPr algn="ctr" fontAlgn="ctr"/>
                      <a:r>
                        <a:rPr lang="en-US" sz="1100" b="0" i="0" u="none" strike="noStrike">
                          <a:solidFill>
                            <a:srgbClr val="000000"/>
                          </a:solidFill>
                          <a:effectLst/>
                          <a:latin typeface="Arial Narrow" panose="020B0606020202030204" pitchFamily="34" charset="0"/>
                        </a:rPr>
                        <a:t>1</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1" algn="l" fontAlgn="auto">
                        <a:spcBef>
                          <a:spcPts val="0"/>
                        </a:spcBef>
                        <a:spcAft>
                          <a:spcPts val="0"/>
                        </a:spcAft>
                        <a:defRPr/>
                      </a:pPr>
                      <a:r>
                        <a:rPr lang="en-US" sz="1100" dirty="0">
                          <a:solidFill>
                            <a:prstClr val="black"/>
                          </a:solidFill>
                          <a:latin typeface="Arial Narrow" panose="020B0606020202030204" pitchFamily="34" charset="0"/>
                          <a:ea typeface="LG Smart_H Regular" panose="020B0600000101010101" pitchFamily="34" charset="-127"/>
                          <a:cs typeface="Arial" pitchFamily="34" charset="0"/>
                        </a:rPr>
                        <a:t>Power supply</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1" algn="l" fontAlgn="ctr"/>
                      <a:r>
                        <a:rPr lang="en-US" sz="1100" dirty="0">
                          <a:latin typeface="Arial Narrow" panose="020B0606020202030204" pitchFamily="34" charset="0"/>
                          <a:ea typeface="LG Smart_H Regular" panose="020B0600000101010101" pitchFamily="34" charset="-127"/>
                          <a:cs typeface="Arial" panose="020B0604020202020204" pitchFamily="34" charset="0"/>
                        </a:rPr>
                        <a:t>Separate power supply from test bench to improve power quality</a:t>
                      </a:r>
                      <a:endParaRPr lang="en-US" sz="1100" b="0" i="0" u="none" strike="noStrike" dirty="0">
                        <a:solidFill>
                          <a:srgbClr val="000000"/>
                        </a:solidFill>
                        <a:effectLst/>
                        <a:latin typeface="Arial Narrow" panose="020B0606020202030204" pitchFamily="34" charset="0"/>
                      </a:endParaRP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Narrow" panose="020B0606020202030204" pitchFamily="34" charset="0"/>
                        </a:rPr>
                        <a:t>2 sample T test</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21720531"/>
                  </a:ext>
                </a:extLst>
              </a:tr>
              <a:tr h="532635">
                <a:tc>
                  <a:txBody>
                    <a:bodyPr/>
                    <a:lstStyle/>
                    <a:p>
                      <a:pPr algn="ctr" fontAlgn="ctr"/>
                      <a:r>
                        <a:rPr lang="en-US" sz="1100" b="0" i="0" u="none" strike="noStrike">
                          <a:solidFill>
                            <a:srgbClr val="000000"/>
                          </a:solidFill>
                          <a:effectLst/>
                          <a:latin typeface="Arial Narrow" panose="020B0606020202030204" pitchFamily="34" charset="0"/>
                        </a:rPr>
                        <a:t>2</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1" algn="l" fontAlgn="auto">
                        <a:spcBef>
                          <a:spcPts val="0"/>
                        </a:spcBef>
                        <a:spcAft>
                          <a:spcPts val="0"/>
                        </a:spcAft>
                        <a:defRPr/>
                      </a:pPr>
                      <a:r>
                        <a:rPr lang="en-US" sz="1100" dirty="0">
                          <a:solidFill>
                            <a:prstClr val="black"/>
                          </a:solidFill>
                          <a:latin typeface="Arial Narrow" panose="020B0606020202030204" pitchFamily="34" charset="0"/>
                          <a:ea typeface="LG Smart_H Regular" panose="020B0600000101010101" pitchFamily="34" charset="-127"/>
                          <a:cs typeface="Arial" pitchFamily="34" charset="0"/>
                        </a:rPr>
                        <a:t>Conveyor and Pallet Contact</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1" algn="l" fontAlgn="ctr"/>
                      <a:r>
                        <a:rPr lang="en-US" sz="1100" dirty="0">
                          <a:latin typeface="Arial Narrow" panose="020B0606020202030204" pitchFamily="34" charset="0"/>
                          <a:ea typeface="LG Smart_H Regular" panose="020B0600000101010101" pitchFamily="34" charset="-127"/>
                          <a:sym typeface="Wingdings" panose="05000000000000000000" pitchFamily="2" charset="2"/>
                        </a:rPr>
                        <a:t>Alignment &amp; fix the contact level of Pogo pin with Pallet </a:t>
                      </a:r>
                      <a:endParaRPr lang="en-US" sz="1100" b="0" i="0" u="none" strike="noStrike" dirty="0">
                        <a:solidFill>
                          <a:srgbClr val="000000"/>
                        </a:solidFill>
                        <a:effectLst/>
                        <a:latin typeface="Arial Narrow" panose="020B0606020202030204" pitchFamily="34" charset="0"/>
                      </a:endParaRP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Narrow" panose="020B0606020202030204" pitchFamily="34" charset="0"/>
                        </a:rPr>
                        <a:t>2 sample T test</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73305671"/>
                  </a:ext>
                </a:extLst>
              </a:tr>
              <a:tr h="532635">
                <a:tc>
                  <a:txBody>
                    <a:bodyPr/>
                    <a:lstStyle/>
                    <a:p>
                      <a:pPr algn="ctr" fontAlgn="ctr"/>
                      <a:r>
                        <a:rPr lang="en-US" sz="1100" b="0" i="0" u="none" strike="noStrike">
                          <a:solidFill>
                            <a:srgbClr val="000000"/>
                          </a:solidFill>
                          <a:effectLst/>
                          <a:latin typeface="Arial Narrow" panose="020B0606020202030204" pitchFamily="34" charset="0"/>
                        </a:rPr>
                        <a:t>3</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1" algn="l" fontAlgn="auto">
                        <a:spcBef>
                          <a:spcPts val="0"/>
                        </a:spcBef>
                        <a:spcAft>
                          <a:spcPts val="0"/>
                        </a:spcAft>
                        <a:defRPr/>
                      </a:pPr>
                      <a:r>
                        <a:rPr lang="en-US" sz="1100" dirty="0">
                          <a:solidFill>
                            <a:prstClr val="black"/>
                          </a:solidFill>
                          <a:latin typeface="Arial Narrow" panose="020B0606020202030204" pitchFamily="34" charset="0"/>
                          <a:ea typeface="LG Smart_H Regular" panose="020B0600000101010101" pitchFamily="34" charset="-127"/>
                          <a:cs typeface="Arial" pitchFamily="34" charset="0"/>
                        </a:rPr>
                        <a:t>Job file sequence</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1" algn="l" fontAlgn="ctr"/>
                      <a:r>
                        <a:rPr lang="en-US" sz="1100" dirty="0">
                          <a:latin typeface="Arial Narrow" panose="020B0606020202030204" pitchFamily="34" charset="0"/>
                          <a:ea typeface="LG Smart_H Regular" panose="020B0600000101010101" pitchFamily="34" charset="-127"/>
                          <a:sym typeface="Wingdings" panose="05000000000000000000" pitchFamily="2" charset="2"/>
                        </a:rPr>
                        <a:t>Change the sequence of job file – move USB test before AUX test</a:t>
                      </a:r>
                      <a:endParaRPr lang="en-US" sz="1100" b="0" i="0" u="none" strike="noStrike" dirty="0">
                        <a:solidFill>
                          <a:srgbClr val="000000"/>
                        </a:solidFill>
                        <a:effectLst/>
                        <a:latin typeface="Arial Narrow" panose="020B0606020202030204" pitchFamily="34" charset="0"/>
                      </a:endParaRP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Arial Narrow" panose="020B0606020202030204" pitchFamily="34" charset="0"/>
                        </a:rPr>
                        <a:t>2 sample T test</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23502622"/>
                  </a:ext>
                </a:extLst>
              </a:tr>
            </a:tbl>
          </a:graphicData>
        </a:graphic>
      </p:graphicFrame>
      <p:cxnSp>
        <p:nvCxnSpPr>
          <p:cNvPr id="2" name="Straight Connector 1">
            <a:extLst>
              <a:ext uri="{FF2B5EF4-FFF2-40B4-BE49-F238E27FC236}">
                <a16:creationId xmlns:a16="http://schemas.microsoft.com/office/drawing/2014/main" id="{34ADD84E-2DA6-3053-F814-D4581CCD9BA7}"/>
              </a:ext>
            </a:extLst>
          </p:cNvPr>
          <p:cNvCxnSpPr/>
          <p:nvPr/>
        </p:nvCxnSpPr>
        <p:spPr>
          <a:xfrm>
            <a:off x="-12488" y="561513"/>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 name="제목 1">
            <a:extLst>
              <a:ext uri="{FF2B5EF4-FFF2-40B4-BE49-F238E27FC236}">
                <a16:creationId xmlns:a16="http://schemas.microsoft.com/office/drawing/2014/main" id="{467BC90E-D807-A1CB-711C-46E6DE5E8377}"/>
              </a:ext>
            </a:extLst>
          </p:cNvPr>
          <p:cNvSpPr txBox="1">
            <a:spLocks/>
          </p:cNvSpPr>
          <p:nvPr/>
        </p:nvSpPr>
        <p:spPr>
          <a:xfrm>
            <a:off x="27541" y="64338"/>
            <a:ext cx="6525659" cy="418058"/>
          </a:xfrm>
          <a:prstGeom prst="rect">
            <a:avLst/>
          </a:prstGeom>
        </p:spPr>
        <p:txBody>
          <a:bodyPr vert="horz" lIns="91440" tIns="45720" rIns="91440" bIns="45720" rtlCol="0" anchor="ctr">
            <a:noAutofit/>
          </a:bodyPr>
          <a:lstStyle/>
          <a:p>
            <a:pPr eaLnBrk="0" hangingPunct="0">
              <a:defRPr/>
            </a:pPr>
            <a:r>
              <a:rPr lang="en-US" altLang="ko-KR" sz="2000" b="1" kern="0" dirty="0">
                <a:solidFill>
                  <a:srgbClr val="000000"/>
                </a:solidFill>
                <a:latin typeface="Arial Narrow" panose="020B0606020202030204" pitchFamily="34" charset="0"/>
                <a:ea typeface="LG Smart_H Regular" pitchFamily="34" charset="-127"/>
              </a:rPr>
              <a:t>3. Find the Root Cause that making distortion issue</a:t>
            </a:r>
            <a:endParaRPr lang="ko-KR" altLang="en-US" sz="2000" b="1" kern="0" dirty="0">
              <a:solidFill>
                <a:srgbClr val="000000"/>
              </a:solidFill>
              <a:latin typeface="Arial Narrow" panose="020B0606020202030204" pitchFamily="34" charset="0"/>
              <a:ea typeface="LG Smart_H Regular" pitchFamily="34" charset="-127"/>
            </a:endParaRPr>
          </a:p>
        </p:txBody>
      </p:sp>
    </p:spTree>
    <p:extLst>
      <p:ext uri="{BB962C8B-B14F-4D97-AF65-F5344CB8AC3E}">
        <p14:creationId xmlns:p14="http://schemas.microsoft.com/office/powerpoint/2010/main" val="14248299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8C026-20F1-FB28-7218-6BC06A0D2C42}"/>
            </a:ext>
          </a:extLst>
        </p:cNvPr>
        <p:cNvGrpSpPr/>
        <p:nvPr/>
      </p:nvGrpSpPr>
      <p:grpSpPr>
        <a:xfrm>
          <a:off x="0" y="0"/>
          <a:ext cx="0" cy="0"/>
          <a:chOff x="0" y="0"/>
          <a:chExt cx="0" cy="0"/>
        </a:xfrm>
      </p:grpSpPr>
      <p:sp>
        <p:nvSpPr>
          <p:cNvPr id="100" name="AutoShape 55">
            <a:extLst>
              <a:ext uri="{FF2B5EF4-FFF2-40B4-BE49-F238E27FC236}">
                <a16:creationId xmlns:a16="http://schemas.microsoft.com/office/drawing/2014/main" id="{44108691-6081-AC6C-E65A-F1A783132036}"/>
              </a:ext>
            </a:extLst>
          </p:cNvPr>
          <p:cNvSpPr>
            <a:spLocks noChangeArrowheads="1"/>
          </p:cNvSpPr>
          <p:nvPr/>
        </p:nvSpPr>
        <p:spPr bwMode="auto">
          <a:xfrm>
            <a:off x="9130746"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Control</a:t>
            </a:r>
          </a:p>
        </p:txBody>
      </p:sp>
      <p:sp>
        <p:nvSpPr>
          <p:cNvPr id="101" name="AutoShape 56">
            <a:extLst>
              <a:ext uri="{FF2B5EF4-FFF2-40B4-BE49-F238E27FC236}">
                <a16:creationId xmlns:a16="http://schemas.microsoft.com/office/drawing/2014/main" id="{B0F0715C-67C0-1164-5739-6F7295241C0C}"/>
              </a:ext>
            </a:extLst>
          </p:cNvPr>
          <p:cNvSpPr>
            <a:spLocks noChangeArrowheads="1"/>
          </p:cNvSpPr>
          <p:nvPr/>
        </p:nvSpPr>
        <p:spPr bwMode="auto">
          <a:xfrm>
            <a:off x="8441771"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rPr>
              <a:t>Improve</a:t>
            </a:r>
          </a:p>
        </p:txBody>
      </p:sp>
      <p:sp>
        <p:nvSpPr>
          <p:cNvPr id="114" name="AutoShape 58">
            <a:extLst>
              <a:ext uri="{FF2B5EF4-FFF2-40B4-BE49-F238E27FC236}">
                <a16:creationId xmlns:a16="http://schemas.microsoft.com/office/drawing/2014/main" id="{6FAB051F-FF4E-DC3B-D137-64EF6CD94B09}"/>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Measure </a:t>
            </a:r>
          </a:p>
        </p:txBody>
      </p:sp>
      <p:sp>
        <p:nvSpPr>
          <p:cNvPr id="115" name="AutoShape 59">
            <a:extLst>
              <a:ext uri="{FF2B5EF4-FFF2-40B4-BE49-F238E27FC236}">
                <a16:creationId xmlns:a16="http://schemas.microsoft.com/office/drawing/2014/main" id="{E187637F-7B4B-8D70-E0D2-497C2B8C1A66}"/>
              </a:ext>
            </a:extLst>
          </p:cNvPr>
          <p:cNvSpPr>
            <a:spLocks noChangeArrowheads="1"/>
          </p:cNvSpPr>
          <p:nvPr/>
        </p:nvSpPr>
        <p:spPr bwMode="auto">
          <a:xfrm>
            <a:off x="6381196" y="16658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Define</a:t>
            </a:r>
          </a:p>
        </p:txBody>
      </p:sp>
      <p:sp>
        <p:nvSpPr>
          <p:cNvPr id="116" name="AutoShape 57">
            <a:extLst>
              <a:ext uri="{FF2B5EF4-FFF2-40B4-BE49-F238E27FC236}">
                <a16:creationId xmlns:a16="http://schemas.microsoft.com/office/drawing/2014/main" id="{8DE50CDA-F312-EF7C-8565-97C996A6B24F}"/>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latin typeface="Arial Narrow" panose="020B0606020202030204" pitchFamily="34" charset="0"/>
                <a:ea typeface="맑은 고딕" panose="020B0503020000020004" pitchFamily="50" charset="-127"/>
              </a:rPr>
              <a:t>Analyze</a:t>
            </a:r>
          </a:p>
        </p:txBody>
      </p:sp>
      <p:sp>
        <p:nvSpPr>
          <p:cNvPr id="14" name="Text Box 2">
            <a:extLst>
              <a:ext uri="{FF2B5EF4-FFF2-40B4-BE49-F238E27FC236}">
                <a16:creationId xmlns:a16="http://schemas.microsoft.com/office/drawing/2014/main" id="{4BF601B9-1DE9-97E0-5024-DCF7B42DF87E}"/>
              </a:ext>
            </a:extLst>
          </p:cNvPr>
          <p:cNvSpPr txBox="1">
            <a:spLocks noChangeArrowheads="1"/>
          </p:cNvSpPr>
          <p:nvPr/>
        </p:nvSpPr>
        <p:spPr bwMode="auto">
          <a:xfrm>
            <a:off x="39997" y="520412"/>
            <a:ext cx="2518007" cy="304800"/>
          </a:xfrm>
          <a:prstGeom prst="rect">
            <a:avLst/>
          </a:prstGeom>
          <a:noFill/>
          <a:ln w="9525" algn="ctr">
            <a:noFill/>
            <a:miter lim="800000"/>
            <a:headEnd/>
            <a:tailEnd/>
          </a:ln>
        </p:spPr>
        <p:txBody>
          <a:bodyPr lIns="84374" tIns="42187" rIns="84374" bIns="42187" anchor="ctr"/>
          <a:lstStyle/>
          <a:p>
            <a:pPr marL="171450" indent="-171450" defTabSz="844083" fontAlgn="base" latinLnBrk="1">
              <a:spcBef>
                <a:spcPct val="0"/>
              </a:spcBef>
              <a:spcAft>
                <a:spcPct val="0"/>
              </a:spcAft>
              <a:buFont typeface="Wingdings" panose="05000000000000000000" pitchFamily="2" charset="2"/>
              <a:buChar char="q"/>
              <a:defRPr/>
            </a:pPr>
            <a:r>
              <a:rPr lang="en-US" altLang="ko-KR" sz="1200" b="1" dirty="0">
                <a:solidFill>
                  <a:srgbClr val="000000"/>
                </a:solidFill>
                <a:latin typeface="Arial Narrow" panose="020B0606020202030204" pitchFamily="34" charset="0"/>
                <a:ea typeface="LG Smart_H Regular" panose="020B0600000101010101" pitchFamily="34" charset="-127"/>
                <a:cs typeface="Arial" panose="020B0604020202020204" pitchFamily="34" charset="0"/>
              </a:rPr>
              <a:t>2 Samples T _ Analysis for 2 case </a:t>
            </a:r>
            <a:endParaRPr lang="ko-KR" altLang="en-US" sz="1200" b="1" dirty="0">
              <a:solidFill>
                <a:srgbClr val="000000"/>
              </a:solidFill>
              <a:latin typeface="Arial Narrow" panose="020B0606020202030204" pitchFamily="34" charset="0"/>
              <a:ea typeface="LG Smart_H Regular" panose="020B0600000101010101" pitchFamily="34" charset="-127"/>
              <a:cs typeface="Arial" panose="020B0604020202020204" pitchFamily="34" charset="0"/>
            </a:endParaRPr>
          </a:p>
        </p:txBody>
      </p:sp>
      <p:sp>
        <p:nvSpPr>
          <p:cNvPr id="26" name="Rectangle 25">
            <a:extLst>
              <a:ext uri="{FF2B5EF4-FFF2-40B4-BE49-F238E27FC236}">
                <a16:creationId xmlns:a16="http://schemas.microsoft.com/office/drawing/2014/main" id="{4768BEED-EDFC-AF76-A896-A126D88C6515}"/>
              </a:ext>
            </a:extLst>
          </p:cNvPr>
          <p:cNvSpPr/>
          <p:nvPr/>
        </p:nvSpPr>
        <p:spPr>
          <a:xfrm>
            <a:off x="131701" y="5053377"/>
            <a:ext cx="5800323" cy="948092"/>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defRPr/>
            </a:pPr>
            <a:r>
              <a:rPr lang="en-US" sz="1100" b="1" dirty="0">
                <a:solidFill>
                  <a:schemeClr val="tx1"/>
                </a:solidFill>
                <a:latin typeface="Arial Narrow" panose="020B0606020202030204" pitchFamily="34" charset="0"/>
                <a:ea typeface="LG Smart_H Regular" panose="020B0600000101010101" pitchFamily="34" charset="-127"/>
                <a:cs typeface="Arial" panose="020B0604020202020204" pitchFamily="34" charset="0"/>
              </a:rPr>
              <a:t>Conclusion : </a:t>
            </a:r>
            <a:r>
              <a:rPr lang="en-US" sz="1100" dirty="0">
                <a:solidFill>
                  <a:schemeClr val="tx1"/>
                </a:solidFill>
                <a:latin typeface="Arial Narrow" panose="020B0606020202030204" pitchFamily="34" charset="0"/>
                <a:ea typeface="LG Smart_H Regular" panose="020B0600000101010101" pitchFamily="34" charset="-127"/>
                <a:cs typeface="Arial" panose="020B0604020202020204" pitchFamily="34" charset="0"/>
              </a:rPr>
              <a:t>we chose 20 samples before improving and 20 samples after improving</a:t>
            </a:r>
          </a:p>
          <a:p>
            <a:pPr fontAlgn="auto">
              <a:spcBef>
                <a:spcPts val="0"/>
              </a:spcBef>
              <a:spcAft>
                <a:spcPts val="0"/>
              </a:spcAft>
              <a:defRPr/>
            </a:pPr>
            <a:r>
              <a:rPr lang="en-US" sz="1100" dirty="0">
                <a:solidFill>
                  <a:schemeClr val="tx1"/>
                </a:solidFill>
                <a:latin typeface="Arial Narrow" panose="020B0606020202030204" pitchFamily="34" charset="0"/>
                <a:ea typeface="LG Smart_H Regular" panose="020B0600000101010101" pitchFamily="34" charset="-127"/>
                <a:cs typeface="Arial" panose="020B0604020202020204" pitchFamily="34" charset="0"/>
              </a:rPr>
              <a:t>H0: Separate power supply from test bench action not effect to distortion</a:t>
            </a:r>
          </a:p>
          <a:p>
            <a:pPr>
              <a:defRPr/>
            </a:pPr>
            <a:r>
              <a:rPr lang="en-US" sz="1100" dirty="0">
                <a:solidFill>
                  <a:schemeClr val="tx1"/>
                </a:solidFill>
                <a:latin typeface="Arial Narrow" panose="020B0606020202030204" pitchFamily="34" charset="0"/>
                <a:ea typeface="LG Smart_H Regular" panose="020B0600000101010101" pitchFamily="34" charset="-127"/>
                <a:cs typeface="Arial" panose="020B0604020202020204" pitchFamily="34" charset="0"/>
              </a:rPr>
              <a:t>H1: Separate power supply from test bench action effect to distortion</a:t>
            </a:r>
          </a:p>
          <a:p>
            <a:pPr>
              <a:defRPr/>
            </a:pPr>
            <a:r>
              <a:rPr lang="en-US" sz="1100" dirty="0">
                <a:solidFill>
                  <a:schemeClr val="tx1"/>
                </a:solidFill>
                <a:latin typeface="Arial Narrow" panose="020B0606020202030204" pitchFamily="34" charset="0"/>
                <a:ea typeface="LG Smart_H Regular" panose="020B0600000101010101" pitchFamily="34" charset="-127"/>
                <a:cs typeface="Arial" panose="020B0604020202020204" pitchFamily="34" charset="0"/>
              </a:rPr>
              <a:t>P value = 0.956 ≥ 0.05 → Fail to reject H0</a:t>
            </a:r>
          </a:p>
          <a:p>
            <a:pPr>
              <a:defRPr/>
            </a:pPr>
            <a:r>
              <a:rPr lang="en-US" sz="1100" dirty="0">
                <a:solidFill>
                  <a:schemeClr val="tx1"/>
                </a:solidFill>
                <a:latin typeface="Arial Narrow" panose="020B0606020202030204" pitchFamily="34" charset="0"/>
                <a:ea typeface="LG Smart_H Regular" panose="020B0600000101010101" pitchFamily="34" charset="-127"/>
                <a:cs typeface="Arial" panose="020B0604020202020204" pitchFamily="34" charset="0"/>
              </a:rPr>
              <a:t>→ The charts showed that measurement values have no different between before samples and after samples</a:t>
            </a:r>
          </a:p>
        </p:txBody>
      </p:sp>
      <p:cxnSp>
        <p:nvCxnSpPr>
          <p:cNvPr id="8" name="Straight Connector 7">
            <a:extLst>
              <a:ext uri="{FF2B5EF4-FFF2-40B4-BE49-F238E27FC236}">
                <a16:creationId xmlns:a16="http://schemas.microsoft.com/office/drawing/2014/main" id="{C209293D-2B0D-0D0D-7716-11F9869ACA4E}"/>
              </a:ext>
            </a:extLst>
          </p:cNvPr>
          <p:cNvCxnSpPr/>
          <p:nvPr/>
        </p:nvCxnSpPr>
        <p:spPr>
          <a:xfrm>
            <a:off x="-12488" y="561513"/>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9" name="제목 1">
            <a:extLst>
              <a:ext uri="{FF2B5EF4-FFF2-40B4-BE49-F238E27FC236}">
                <a16:creationId xmlns:a16="http://schemas.microsoft.com/office/drawing/2014/main" id="{0335D0FB-5F4A-0FBD-736A-E9DFE87E3631}"/>
              </a:ext>
            </a:extLst>
          </p:cNvPr>
          <p:cNvSpPr txBox="1">
            <a:spLocks/>
          </p:cNvSpPr>
          <p:nvPr/>
        </p:nvSpPr>
        <p:spPr>
          <a:xfrm>
            <a:off x="27541" y="64338"/>
            <a:ext cx="6525659" cy="418058"/>
          </a:xfrm>
          <a:prstGeom prst="rect">
            <a:avLst/>
          </a:prstGeom>
        </p:spPr>
        <p:txBody>
          <a:bodyPr vert="horz" lIns="91440" tIns="45720" rIns="91440" bIns="45720" rtlCol="0" anchor="ctr">
            <a:noAutofit/>
          </a:bodyPr>
          <a:lstStyle/>
          <a:p>
            <a:pPr eaLnBrk="0" hangingPunct="0">
              <a:defRPr/>
            </a:pPr>
            <a:r>
              <a:rPr lang="en-US" altLang="ko-KR" sz="2000" b="1" kern="0" dirty="0">
                <a:solidFill>
                  <a:srgbClr val="000000"/>
                </a:solidFill>
                <a:latin typeface="Arial Narrow" panose="020B0606020202030204" pitchFamily="34" charset="0"/>
                <a:ea typeface="LG Smart_H Regular" pitchFamily="34" charset="-127"/>
              </a:rPr>
              <a:t>3. Find the Root Cause that making distortion issue</a:t>
            </a:r>
            <a:endParaRPr lang="ko-KR" altLang="en-US" sz="2000" b="1" kern="0" dirty="0">
              <a:solidFill>
                <a:srgbClr val="000000"/>
              </a:solidFill>
              <a:latin typeface="Arial Narrow" panose="020B0606020202030204" pitchFamily="34" charset="0"/>
              <a:ea typeface="LG Smart_H Regular" pitchFamily="34" charset="-127"/>
            </a:endParaRPr>
          </a:p>
        </p:txBody>
      </p:sp>
      <p:sp>
        <p:nvSpPr>
          <p:cNvPr id="7" name="TextBox 6">
            <a:extLst>
              <a:ext uri="{FF2B5EF4-FFF2-40B4-BE49-F238E27FC236}">
                <a16:creationId xmlns:a16="http://schemas.microsoft.com/office/drawing/2014/main" id="{17C8419D-0643-B474-7A17-72EAB0721770}"/>
              </a:ext>
            </a:extLst>
          </p:cNvPr>
          <p:cNvSpPr txBox="1"/>
          <p:nvPr/>
        </p:nvSpPr>
        <p:spPr>
          <a:xfrm>
            <a:off x="205450" y="804081"/>
            <a:ext cx="3874626" cy="261610"/>
          </a:xfrm>
          <a:prstGeom prst="rect">
            <a:avLst/>
          </a:prstGeom>
          <a:noFill/>
        </p:spPr>
        <p:txBody>
          <a:bodyPr wrap="square">
            <a:spAutoFit/>
          </a:bodyPr>
          <a:lstStyle/>
          <a:p>
            <a:pPr fontAlgn="ctr"/>
            <a:r>
              <a:rPr lang="en-US" sz="1100" b="1" dirty="0">
                <a:latin typeface="Arial Narrow" panose="020B0606020202030204" pitchFamily="34" charset="0"/>
                <a:ea typeface="LG Smart_H Regular" panose="020B0600000101010101" pitchFamily="34" charset="-127"/>
                <a:cs typeface="Arial" panose="020B0604020202020204" pitchFamily="34" charset="0"/>
              </a:rPr>
              <a:t>Separate power supply from test bench to improve power quality</a:t>
            </a:r>
            <a:endParaRPr lang="en-US" sz="1100" b="1" dirty="0">
              <a:solidFill>
                <a:srgbClr val="000000"/>
              </a:solidFill>
              <a:latin typeface="Arial Narrow" panose="020B0606020202030204" pitchFamily="34" charset="0"/>
            </a:endParaRPr>
          </a:p>
        </p:txBody>
      </p:sp>
      <p:graphicFrame>
        <p:nvGraphicFramePr>
          <p:cNvPr id="12" name="Table 11">
            <a:extLst>
              <a:ext uri="{FF2B5EF4-FFF2-40B4-BE49-F238E27FC236}">
                <a16:creationId xmlns:a16="http://schemas.microsoft.com/office/drawing/2014/main" id="{7EA5473A-D01C-A5BC-312E-B743F0F59B49}"/>
              </a:ext>
            </a:extLst>
          </p:cNvPr>
          <p:cNvGraphicFramePr>
            <a:graphicFrameLocks noGrp="1"/>
          </p:cNvGraphicFramePr>
          <p:nvPr>
            <p:extLst>
              <p:ext uri="{D42A27DB-BD31-4B8C-83A1-F6EECF244321}">
                <p14:modId xmlns:p14="http://schemas.microsoft.com/office/powerpoint/2010/main" val="60757381"/>
              </p:ext>
            </p:extLst>
          </p:nvPr>
        </p:nvGraphicFramePr>
        <p:xfrm>
          <a:off x="298129" y="1101827"/>
          <a:ext cx="2654300" cy="3733800"/>
        </p:xfrm>
        <a:graphic>
          <a:graphicData uri="http://schemas.openxmlformats.org/drawingml/2006/table">
            <a:tbl>
              <a:tblPr>
                <a:tableStyleId>{2D5ABB26-0587-4C30-8999-92F81FD0307C}</a:tableStyleId>
              </a:tblPr>
              <a:tblGrid>
                <a:gridCol w="254000">
                  <a:extLst>
                    <a:ext uri="{9D8B030D-6E8A-4147-A177-3AD203B41FA5}">
                      <a16:colId xmlns:a16="http://schemas.microsoft.com/office/drawing/2014/main" val="1905661555"/>
                    </a:ext>
                  </a:extLst>
                </a:gridCol>
                <a:gridCol w="1270000">
                  <a:extLst>
                    <a:ext uri="{9D8B030D-6E8A-4147-A177-3AD203B41FA5}">
                      <a16:colId xmlns:a16="http://schemas.microsoft.com/office/drawing/2014/main" val="1150105319"/>
                    </a:ext>
                  </a:extLst>
                </a:gridCol>
                <a:gridCol w="1130300">
                  <a:extLst>
                    <a:ext uri="{9D8B030D-6E8A-4147-A177-3AD203B41FA5}">
                      <a16:colId xmlns:a16="http://schemas.microsoft.com/office/drawing/2014/main" val="3750473024"/>
                    </a:ext>
                  </a:extLst>
                </a:gridCol>
              </a:tblGrid>
              <a:tr h="177800">
                <a:tc>
                  <a:txBody>
                    <a:bodyPr/>
                    <a:lstStyle/>
                    <a:p>
                      <a:pPr algn="ctr" fontAlgn="ctr">
                        <a:buNone/>
                      </a:pPr>
                      <a:r>
                        <a:rPr lang="en-US" sz="1100" b="1" i="0" u="none" strike="noStrike" dirty="0">
                          <a:solidFill>
                            <a:schemeClr val="tx1"/>
                          </a:solidFill>
                          <a:effectLst/>
                          <a:latin typeface="Arial Narrow" panose="020B0606020202030204" pitchFamily="34" charset="0"/>
                        </a:rPr>
                        <a:t>No</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ctr">
                        <a:buNone/>
                      </a:pPr>
                      <a:r>
                        <a:rPr lang="en-US" sz="1100" b="1" i="0" u="none" strike="noStrike">
                          <a:solidFill>
                            <a:schemeClr val="tx1"/>
                          </a:solidFill>
                          <a:effectLst/>
                          <a:latin typeface="Arial Narrow" panose="020B0606020202030204" pitchFamily="34" charset="0"/>
                        </a:rPr>
                        <a:t>Before_Power</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ctr">
                        <a:buNone/>
                      </a:pPr>
                      <a:r>
                        <a:rPr lang="en-US" sz="1100" b="1" i="0" u="none" strike="noStrike">
                          <a:solidFill>
                            <a:schemeClr val="tx1"/>
                          </a:solidFill>
                          <a:effectLst/>
                          <a:latin typeface="Arial Narrow" panose="020B0606020202030204" pitchFamily="34" charset="0"/>
                        </a:rPr>
                        <a:t>After_Power</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390148847"/>
                  </a:ext>
                </a:extLst>
              </a:tr>
              <a:tr h="177800">
                <a:tc>
                  <a:txBody>
                    <a:bodyPr/>
                    <a:lstStyle/>
                    <a:p>
                      <a:pPr algn="ctr" fontAlgn="ctr">
                        <a:buNone/>
                      </a:pPr>
                      <a:r>
                        <a:rPr lang="en-US" sz="1100" b="0" i="0" u="none" strike="noStrike">
                          <a:solidFill>
                            <a:schemeClr val="tx1"/>
                          </a:solidFill>
                          <a:effectLst/>
                          <a:latin typeface="Arial Narrow" panose="020B0606020202030204" pitchFamily="34" charset="0"/>
                        </a:rPr>
                        <a:t>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0.69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0.70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16537084"/>
                  </a:ext>
                </a:extLst>
              </a:tr>
              <a:tr h="177800">
                <a:tc>
                  <a:txBody>
                    <a:bodyPr/>
                    <a:lstStyle/>
                    <a:p>
                      <a:pPr algn="ctr" fontAlgn="ctr">
                        <a:buNone/>
                      </a:pPr>
                      <a:r>
                        <a:rPr lang="en-US" sz="1100" b="0" i="0" u="none" strike="noStrike">
                          <a:solidFill>
                            <a:schemeClr val="tx1"/>
                          </a:solidFill>
                          <a:effectLst/>
                          <a:latin typeface="Arial Narrow" panose="020B0606020202030204" pitchFamily="34" charset="0"/>
                        </a:rPr>
                        <a:t>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0.95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0.93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4153935"/>
                  </a:ext>
                </a:extLst>
              </a:tr>
              <a:tr h="177800">
                <a:tc>
                  <a:txBody>
                    <a:bodyPr/>
                    <a:lstStyle/>
                    <a:p>
                      <a:pPr algn="ctr" fontAlgn="ctr">
                        <a:buNone/>
                      </a:pPr>
                      <a:r>
                        <a:rPr lang="en-US" sz="1100" b="0" i="0" u="none" strike="noStrike">
                          <a:solidFill>
                            <a:schemeClr val="tx1"/>
                          </a:solidFill>
                          <a:effectLst/>
                          <a:latin typeface="Arial Narrow" panose="020B0606020202030204" pitchFamily="34" charset="0"/>
                        </a:rPr>
                        <a:t>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0.84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0.82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7426389"/>
                  </a:ext>
                </a:extLst>
              </a:tr>
              <a:tr h="177800">
                <a:tc>
                  <a:txBody>
                    <a:bodyPr/>
                    <a:lstStyle/>
                    <a:p>
                      <a:pPr algn="ctr" fontAlgn="ctr">
                        <a:buNone/>
                      </a:pPr>
                      <a:r>
                        <a:rPr lang="en-US" sz="1100" b="0" i="0" u="none" strike="noStrike">
                          <a:solidFill>
                            <a:schemeClr val="tx1"/>
                          </a:solidFill>
                          <a:effectLst/>
                          <a:latin typeface="Arial Narrow" panose="020B0606020202030204" pitchFamily="34" charset="0"/>
                        </a:rPr>
                        <a:t>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1.04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1.06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768460"/>
                  </a:ext>
                </a:extLst>
              </a:tr>
              <a:tr h="177800">
                <a:tc>
                  <a:txBody>
                    <a:bodyPr/>
                    <a:lstStyle/>
                    <a:p>
                      <a:pPr algn="ctr" fontAlgn="ctr">
                        <a:buNone/>
                      </a:pPr>
                      <a:r>
                        <a:rPr lang="en-US" sz="1100" b="0" i="0" u="none" strike="noStrike">
                          <a:solidFill>
                            <a:schemeClr val="tx1"/>
                          </a:solidFill>
                          <a:effectLst/>
                          <a:latin typeface="Arial Narrow" panose="020B0606020202030204" pitchFamily="34" charset="0"/>
                        </a:rPr>
                        <a:t>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0.76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0.78</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4318839"/>
                  </a:ext>
                </a:extLst>
              </a:tr>
              <a:tr h="177800">
                <a:tc>
                  <a:txBody>
                    <a:bodyPr/>
                    <a:lstStyle/>
                    <a:p>
                      <a:pPr algn="ctr" fontAlgn="ctr">
                        <a:buNone/>
                      </a:pPr>
                      <a:r>
                        <a:rPr lang="en-US" sz="1100" b="0" i="0" u="none" strike="noStrike">
                          <a:solidFill>
                            <a:schemeClr val="tx1"/>
                          </a:solidFill>
                          <a:effectLst/>
                          <a:latin typeface="Arial Narrow" panose="020B0606020202030204" pitchFamily="34" charset="0"/>
                        </a:rPr>
                        <a:t>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1.19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1.18</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7564463"/>
                  </a:ext>
                </a:extLst>
              </a:tr>
              <a:tr h="177800">
                <a:tc>
                  <a:txBody>
                    <a:bodyPr/>
                    <a:lstStyle/>
                    <a:p>
                      <a:pPr algn="ctr" fontAlgn="ctr">
                        <a:buNone/>
                      </a:pPr>
                      <a:r>
                        <a:rPr lang="en-US" sz="1100" b="0" i="0" u="none" strike="noStrike">
                          <a:solidFill>
                            <a:schemeClr val="tx1"/>
                          </a:solidFill>
                          <a:effectLst/>
                          <a:latin typeface="Arial Narrow" panose="020B0606020202030204" pitchFamily="34" charset="0"/>
                        </a:rPr>
                        <a:t>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0.90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0.88</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5357360"/>
                  </a:ext>
                </a:extLst>
              </a:tr>
              <a:tr h="177800">
                <a:tc>
                  <a:txBody>
                    <a:bodyPr/>
                    <a:lstStyle/>
                    <a:p>
                      <a:pPr algn="ctr" fontAlgn="ctr">
                        <a:buNone/>
                      </a:pPr>
                      <a:r>
                        <a:rPr lang="en-US" sz="1100" b="0" i="0" u="none" strike="noStrike">
                          <a:solidFill>
                            <a:schemeClr val="tx1"/>
                          </a:solidFill>
                          <a:effectLst/>
                          <a:latin typeface="Arial Narrow" panose="020B0606020202030204" pitchFamily="34" charset="0"/>
                        </a:rPr>
                        <a:t>8</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dirty="0">
                          <a:solidFill>
                            <a:schemeClr val="tx1"/>
                          </a:solidFill>
                          <a:effectLst/>
                          <a:latin typeface="Arial Narrow" panose="020B0606020202030204" pitchFamily="34" charset="0"/>
                        </a:rPr>
                        <a:t>1.11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1.09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27800228"/>
                  </a:ext>
                </a:extLst>
              </a:tr>
              <a:tr h="177800">
                <a:tc>
                  <a:txBody>
                    <a:bodyPr/>
                    <a:lstStyle/>
                    <a:p>
                      <a:pPr algn="ctr" fontAlgn="ctr">
                        <a:buNone/>
                      </a:pPr>
                      <a:r>
                        <a:rPr lang="en-US" sz="1100" b="0" i="0" u="none" strike="noStrike">
                          <a:solidFill>
                            <a:schemeClr val="tx1"/>
                          </a:solidFill>
                          <a:effectLst/>
                          <a:latin typeface="Arial Narrow" panose="020B0606020202030204" pitchFamily="34" charset="0"/>
                        </a:rPr>
                        <a:t>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0.77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0.79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1186534"/>
                  </a:ext>
                </a:extLst>
              </a:tr>
              <a:tr h="177800">
                <a:tc>
                  <a:txBody>
                    <a:bodyPr/>
                    <a:lstStyle/>
                    <a:p>
                      <a:pPr algn="ctr" fontAlgn="ctr">
                        <a:buNone/>
                      </a:pPr>
                      <a:r>
                        <a:rPr lang="en-US" sz="1100" b="0" i="0" u="none" strike="noStrike">
                          <a:solidFill>
                            <a:schemeClr val="tx1"/>
                          </a:solidFill>
                          <a:effectLst/>
                          <a:latin typeface="Arial Narrow" panose="020B0606020202030204" pitchFamily="34" charset="0"/>
                        </a:rPr>
                        <a:t>10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0.99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1.01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8487917"/>
                  </a:ext>
                </a:extLst>
              </a:tr>
              <a:tr h="177800">
                <a:tc>
                  <a:txBody>
                    <a:bodyPr/>
                    <a:lstStyle/>
                    <a:p>
                      <a:pPr algn="ctr" fontAlgn="ctr">
                        <a:buNone/>
                      </a:pPr>
                      <a:r>
                        <a:rPr lang="en-US" sz="1100" b="0" i="0" u="none" strike="noStrike">
                          <a:solidFill>
                            <a:schemeClr val="tx1"/>
                          </a:solidFill>
                          <a:effectLst/>
                          <a:latin typeface="Arial Narrow" panose="020B0606020202030204" pitchFamily="34" charset="0"/>
                        </a:rPr>
                        <a:t>11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0.74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0.72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0718656"/>
                  </a:ext>
                </a:extLst>
              </a:tr>
              <a:tr h="177800">
                <a:tc>
                  <a:txBody>
                    <a:bodyPr/>
                    <a:lstStyle/>
                    <a:p>
                      <a:pPr algn="ctr" fontAlgn="ctr">
                        <a:buNone/>
                      </a:pPr>
                      <a:r>
                        <a:rPr lang="en-US" sz="1100" b="0" i="0" u="none" strike="noStrike">
                          <a:solidFill>
                            <a:schemeClr val="tx1"/>
                          </a:solidFill>
                          <a:effectLst/>
                          <a:latin typeface="Arial Narrow" panose="020B0606020202030204" pitchFamily="34" charset="0"/>
                        </a:rPr>
                        <a:t>12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dirty="0">
                          <a:solidFill>
                            <a:srgbClr val="FF0000"/>
                          </a:solidFill>
                          <a:effectLst/>
                          <a:latin typeface="Arial Narrow" panose="020B0606020202030204" pitchFamily="34" charset="0"/>
                        </a:rPr>
                        <a:t>1.30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dirty="0">
                          <a:solidFill>
                            <a:srgbClr val="FF0000"/>
                          </a:solidFill>
                          <a:effectLst/>
                          <a:latin typeface="Arial Narrow" panose="020B0606020202030204" pitchFamily="34" charset="0"/>
                        </a:rPr>
                        <a:t>1.28</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9105288"/>
                  </a:ext>
                </a:extLst>
              </a:tr>
              <a:tr h="177800">
                <a:tc>
                  <a:txBody>
                    <a:bodyPr/>
                    <a:lstStyle/>
                    <a:p>
                      <a:pPr algn="ctr" fontAlgn="ctr">
                        <a:buNone/>
                      </a:pPr>
                      <a:r>
                        <a:rPr lang="en-US" sz="1100" b="0" i="0" u="none" strike="noStrike">
                          <a:solidFill>
                            <a:schemeClr val="tx1"/>
                          </a:solidFill>
                          <a:effectLst/>
                          <a:latin typeface="Arial Narrow" panose="020B0606020202030204" pitchFamily="34" charset="0"/>
                        </a:rPr>
                        <a:t>13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0.86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0.87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11400068"/>
                  </a:ext>
                </a:extLst>
              </a:tr>
              <a:tr h="177800">
                <a:tc>
                  <a:txBody>
                    <a:bodyPr/>
                    <a:lstStyle/>
                    <a:p>
                      <a:pPr algn="ctr" fontAlgn="ctr">
                        <a:buNone/>
                      </a:pPr>
                      <a:r>
                        <a:rPr lang="en-US" sz="1100" b="0" i="0" u="none" strike="noStrike">
                          <a:solidFill>
                            <a:schemeClr val="tx1"/>
                          </a:solidFill>
                          <a:effectLst/>
                          <a:latin typeface="Arial Narrow" panose="020B0606020202030204" pitchFamily="34" charset="0"/>
                        </a:rPr>
                        <a:t>14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1.06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1.04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77961131"/>
                  </a:ext>
                </a:extLst>
              </a:tr>
              <a:tr h="177800">
                <a:tc>
                  <a:txBody>
                    <a:bodyPr/>
                    <a:lstStyle/>
                    <a:p>
                      <a:pPr algn="ctr" fontAlgn="ctr">
                        <a:buNone/>
                      </a:pPr>
                      <a:r>
                        <a:rPr lang="en-US" sz="1100" b="0" i="0" u="none" strike="noStrike">
                          <a:solidFill>
                            <a:schemeClr val="tx1"/>
                          </a:solidFill>
                          <a:effectLst/>
                          <a:latin typeface="Arial Narrow" panose="020B0606020202030204" pitchFamily="34" charset="0"/>
                        </a:rPr>
                        <a:t>15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0.75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0.77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8510106"/>
                  </a:ext>
                </a:extLst>
              </a:tr>
              <a:tr h="177800">
                <a:tc>
                  <a:txBody>
                    <a:bodyPr/>
                    <a:lstStyle/>
                    <a:p>
                      <a:pPr algn="ctr" fontAlgn="ctr">
                        <a:buNone/>
                      </a:pPr>
                      <a:r>
                        <a:rPr lang="en-US" sz="1100" b="0" i="0" u="none" strike="noStrike">
                          <a:solidFill>
                            <a:schemeClr val="tx1"/>
                          </a:solidFill>
                          <a:effectLst/>
                          <a:latin typeface="Arial Narrow" panose="020B0606020202030204" pitchFamily="34" charset="0"/>
                        </a:rPr>
                        <a:t>16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1.02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1.00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4125229"/>
                  </a:ext>
                </a:extLst>
              </a:tr>
              <a:tr h="177800">
                <a:tc>
                  <a:txBody>
                    <a:bodyPr/>
                    <a:lstStyle/>
                    <a:p>
                      <a:pPr algn="ctr" fontAlgn="ctr">
                        <a:buNone/>
                      </a:pPr>
                      <a:r>
                        <a:rPr lang="en-US" sz="1100" b="0" i="0" u="none" strike="noStrike">
                          <a:solidFill>
                            <a:schemeClr val="tx1"/>
                          </a:solidFill>
                          <a:effectLst/>
                          <a:latin typeface="Arial Narrow" panose="020B0606020202030204" pitchFamily="34" charset="0"/>
                        </a:rPr>
                        <a:t>17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0.81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0.83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9069796"/>
                  </a:ext>
                </a:extLst>
              </a:tr>
              <a:tr h="177800">
                <a:tc>
                  <a:txBody>
                    <a:bodyPr/>
                    <a:lstStyle/>
                    <a:p>
                      <a:pPr algn="ctr" fontAlgn="ctr">
                        <a:buNone/>
                      </a:pPr>
                      <a:r>
                        <a:rPr lang="en-US" sz="1100" b="0" i="0" u="none" strike="noStrike">
                          <a:solidFill>
                            <a:schemeClr val="tx1"/>
                          </a:solidFill>
                          <a:effectLst/>
                          <a:latin typeface="Arial Narrow" panose="020B0606020202030204" pitchFamily="34" charset="0"/>
                        </a:rPr>
                        <a:t>18</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1.16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1.14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3628679"/>
                  </a:ext>
                </a:extLst>
              </a:tr>
              <a:tr h="177800">
                <a:tc>
                  <a:txBody>
                    <a:bodyPr/>
                    <a:lstStyle/>
                    <a:p>
                      <a:pPr algn="ctr" fontAlgn="ctr">
                        <a:buNone/>
                      </a:pPr>
                      <a:r>
                        <a:rPr lang="en-US" sz="1100" b="0" i="0" u="none" strike="noStrike">
                          <a:solidFill>
                            <a:schemeClr val="tx1"/>
                          </a:solidFill>
                          <a:effectLst/>
                          <a:latin typeface="Arial Narrow" panose="020B0606020202030204" pitchFamily="34" charset="0"/>
                        </a:rPr>
                        <a:t>19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0.93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0.91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1469980"/>
                  </a:ext>
                </a:extLst>
              </a:tr>
              <a:tr h="177800">
                <a:tc>
                  <a:txBody>
                    <a:bodyPr/>
                    <a:lstStyle/>
                    <a:p>
                      <a:pPr algn="ctr" fontAlgn="ctr">
                        <a:buNone/>
                      </a:pPr>
                      <a:r>
                        <a:rPr lang="en-US" sz="1100" b="0" i="0" u="none" strike="noStrike">
                          <a:solidFill>
                            <a:schemeClr val="tx1"/>
                          </a:solidFill>
                          <a:effectLst/>
                          <a:latin typeface="Arial Narrow" panose="020B0606020202030204" pitchFamily="34" charset="0"/>
                        </a:rPr>
                        <a:t>20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0.70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dirty="0">
                          <a:solidFill>
                            <a:schemeClr val="tx1"/>
                          </a:solidFill>
                          <a:effectLst/>
                          <a:latin typeface="Arial Narrow" panose="020B0606020202030204" pitchFamily="34" charset="0"/>
                        </a:rPr>
                        <a:t>0.71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7747399"/>
                  </a:ext>
                </a:extLst>
              </a:tr>
            </a:tbl>
          </a:graphicData>
        </a:graphic>
      </p:graphicFrame>
      <p:pic>
        <p:nvPicPr>
          <p:cNvPr id="3" name="Picture 2">
            <a:extLst>
              <a:ext uri="{FF2B5EF4-FFF2-40B4-BE49-F238E27FC236}">
                <a16:creationId xmlns:a16="http://schemas.microsoft.com/office/drawing/2014/main" id="{D1346C95-D6F4-BAE0-2886-C07E7A19387B}"/>
              </a:ext>
            </a:extLst>
          </p:cNvPr>
          <p:cNvPicPr>
            <a:picLocks noChangeAspect="1"/>
          </p:cNvPicPr>
          <p:nvPr/>
        </p:nvPicPr>
        <p:blipFill>
          <a:blip r:embed="rId3"/>
          <a:stretch>
            <a:fillRect/>
          </a:stretch>
        </p:blipFill>
        <p:spPr>
          <a:xfrm>
            <a:off x="5650565" y="1083052"/>
            <a:ext cx="4105520" cy="2737013"/>
          </a:xfrm>
          <a:prstGeom prst="rect">
            <a:avLst/>
          </a:prstGeom>
        </p:spPr>
      </p:pic>
      <p:pic>
        <p:nvPicPr>
          <p:cNvPr id="6" name="Picture 5" descr="A screenshot of a test&#10;&#10;AI-generated content may be incorrect.">
            <a:extLst>
              <a:ext uri="{FF2B5EF4-FFF2-40B4-BE49-F238E27FC236}">
                <a16:creationId xmlns:a16="http://schemas.microsoft.com/office/drawing/2014/main" id="{643CB87C-CCFA-173D-8686-CC651D49357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96130" y="1049744"/>
            <a:ext cx="2278689" cy="3774996"/>
          </a:xfrm>
          <a:prstGeom prst="rect">
            <a:avLst/>
          </a:prstGeom>
        </p:spPr>
      </p:pic>
    </p:spTree>
    <p:extLst>
      <p:ext uri="{BB962C8B-B14F-4D97-AF65-F5344CB8AC3E}">
        <p14:creationId xmlns:p14="http://schemas.microsoft.com/office/powerpoint/2010/main" val="30218525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2E5BF-DB7F-FF76-80BA-D13499FCFAA5}"/>
            </a:ext>
          </a:extLst>
        </p:cNvPr>
        <p:cNvGrpSpPr/>
        <p:nvPr/>
      </p:nvGrpSpPr>
      <p:grpSpPr>
        <a:xfrm>
          <a:off x="0" y="0"/>
          <a:ext cx="0" cy="0"/>
          <a:chOff x="0" y="0"/>
          <a:chExt cx="0" cy="0"/>
        </a:xfrm>
      </p:grpSpPr>
      <p:sp>
        <p:nvSpPr>
          <p:cNvPr id="100" name="AutoShape 55">
            <a:extLst>
              <a:ext uri="{FF2B5EF4-FFF2-40B4-BE49-F238E27FC236}">
                <a16:creationId xmlns:a16="http://schemas.microsoft.com/office/drawing/2014/main" id="{88F7A49C-FB7E-27D9-E301-0BDD8C0EB152}"/>
              </a:ext>
            </a:extLst>
          </p:cNvPr>
          <p:cNvSpPr>
            <a:spLocks noChangeArrowheads="1"/>
          </p:cNvSpPr>
          <p:nvPr/>
        </p:nvSpPr>
        <p:spPr bwMode="auto">
          <a:xfrm>
            <a:off x="9130746"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Control</a:t>
            </a:r>
          </a:p>
        </p:txBody>
      </p:sp>
      <p:sp>
        <p:nvSpPr>
          <p:cNvPr id="101" name="AutoShape 56">
            <a:extLst>
              <a:ext uri="{FF2B5EF4-FFF2-40B4-BE49-F238E27FC236}">
                <a16:creationId xmlns:a16="http://schemas.microsoft.com/office/drawing/2014/main" id="{B7BC4F82-60AF-190B-16F3-DE0255849CC7}"/>
              </a:ext>
            </a:extLst>
          </p:cNvPr>
          <p:cNvSpPr>
            <a:spLocks noChangeArrowheads="1"/>
          </p:cNvSpPr>
          <p:nvPr/>
        </p:nvSpPr>
        <p:spPr bwMode="auto">
          <a:xfrm>
            <a:off x="8441771"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rPr>
              <a:t>Improve</a:t>
            </a:r>
          </a:p>
        </p:txBody>
      </p:sp>
      <p:sp>
        <p:nvSpPr>
          <p:cNvPr id="114" name="AutoShape 58">
            <a:extLst>
              <a:ext uri="{FF2B5EF4-FFF2-40B4-BE49-F238E27FC236}">
                <a16:creationId xmlns:a16="http://schemas.microsoft.com/office/drawing/2014/main" id="{18030301-2225-FA13-F304-6C057E6AB879}"/>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Measure </a:t>
            </a:r>
          </a:p>
        </p:txBody>
      </p:sp>
      <p:sp>
        <p:nvSpPr>
          <p:cNvPr id="115" name="AutoShape 59">
            <a:extLst>
              <a:ext uri="{FF2B5EF4-FFF2-40B4-BE49-F238E27FC236}">
                <a16:creationId xmlns:a16="http://schemas.microsoft.com/office/drawing/2014/main" id="{BEB64FFF-CFDA-6B29-5BCD-EF748FC79F6B}"/>
              </a:ext>
            </a:extLst>
          </p:cNvPr>
          <p:cNvSpPr>
            <a:spLocks noChangeArrowheads="1"/>
          </p:cNvSpPr>
          <p:nvPr/>
        </p:nvSpPr>
        <p:spPr bwMode="auto">
          <a:xfrm>
            <a:off x="6381196" y="16658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Define</a:t>
            </a:r>
          </a:p>
        </p:txBody>
      </p:sp>
      <p:sp>
        <p:nvSpPr>
          <p:cNvPr id="116" name="AutoShape 57">
            <a:extLst>
              <a:ext uri="{FF2B5EF4-FFF2-40B4-BE49-F238E27FC236}">
                <a16:creationId xmlns:a16="http://schemas.microsoft.com/office/drawing/2014/main" id="{2B1F9727-756A-0E00-8918-2773880D8A62}"/>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latin typeface="Arial Narrow" panose="020B0606020202030204" pitchFamily="34" charset="0"/>
                <a:ea typeface="맑은 고딕" panose="020B0503020000020004" pitchFamily="50" charset="-127"/>
              </a:rPr>
              <a:t>Analyze</a:t>
            </a:r>
          </a:p>
        </p:txBody>
      </p:sp>
      <p:sp>
        <p:nvSpPr>
          <p:cNvPr id="14" name="Text Box 2">
            <a:extLst>
              <a:ext uri="{FF2B5EF4-FFF2-40B4-BE49-F238E27FC236}">
                <a16:creationId xmlns:a16="http://schemas.microsoft.com/office/drawing/2014/main" id="{15BE940A-83C9-2DB1-FB3D-43F4C833E7D5}"/>
              </a:ext>
            </a:extLst>
          </p:cNvPr>
          <p:cNvSpPr txBox="1">
            <a:spLocks noChangeArrowheads="1"/>
          </p:cNvSpPr>
          <p:nvPr/>
        </p:nvSpPr>
        <p:spPr bwMode="auto">
          <a:xfrm>
            <a:off x="39997" y="520412"/>
            <a:ext cx="2518007" cy="304800"/>
          </a:xfrm>
          <a:prstGeom prst="rect">
            <a:avLst/>
          </a:prstGeom>
          <a:noFill/>
          <a:ln w="9525" algn="ctr">
            <a:noFill/>
            <a:miter lim="800000"/>
            <a:headEnd/>
            <a:tailEnd/>
          </a:ln>
        </p:spPr>
        <p:txBody>
          <a:bodyPr lIns="84374" tIns="42187" rIns="84374" bIns="42187" anchor="ctr"/>
          <a:lstStyle/>
          <a:p>
            <a:pPr marL="171450" indent="-171450" defTabSz="844083" fontAlgn="base" latinLnBrk="1">
              <a:spcBef>
                <a:spcPct val="0"/>
              </a:spcBef>
              <a:spcAft>
                <a:spcPct val="0"/>
              </a:spcAft>
              <a:buFont typeface="Wingdings" panose="05000000000000000000" pitchFamily="2" charset="2"/>
              <a:buChar char="q"/>
              <a:defRPr/>
            </a:pPr>
            <a:r>
              <a:rPr lang="en-US" altLang="ko-KR" sz="1200" b="1" dirty="0">
                <a:solidFill>
                  <a:srgbClr val="000000"/>
                </a:solidFill>
                <a:latin typeface="Arial Narrow" panose="020B0606020202030204" pitchFamily="34" charset="0"/>
                <a:ea typeface="LG Smart_H Regular" panose="020B0600000101010101" pitchFamily="34" charset="-127"/>
                <a:cs typeface="Arial" panose="020B0604020202020204" pitchFamily="34" charset="0"/>
              </a:rPr>
              <a:t>2 Samples T _ Analysis for 2 case </a:t>
            </a:r>
            <a:endParaRPr lang="ko-KR" altLang="en-US" sz="1200" b="1" dirty="0">
              <a:solidFill>
                <a:srgbClr val="000000"/>
              </a:solidFill>
              <a:latin typeface="Arial Narrow" panose="020B0606020202030204" pitchFamily="34" charset="0"/>
              <a:ea typeface="LG Smart_H Regular" panose="020B0600000101010101" pitchFamily="34" charset="-127"/>
              <a:cs typeface="Arial" panose="020B0604020202020204" pitchFamily="34" charset="0"/>
            </a:endParaRPr>
          </a:p>
        </p:txBody>
      </p:sp>
      <p:sp>
        <p:nvSpPr>
          <p:cNvPr id="26" name="Rectangle 25">
            <a:extLst>
              <a:ext uri="{FF2B5EF4-FFF2-40B4-BE49-F238E27FC236}">
                <a16:creationId xmlns:a16="http://schemas.microsoft.com/office/drawing/2014/main" id="{E1CA8B54-1818-997F-C3EF-C775CA81D496}"/>
              </a:ext>
            </a:extLst>
          </p:cNvPr>
          <p:cNvSpPr/>
          <p:nvPr/>
        </p:nvSpPr>
        <p:spPr>
          <a:xfrm>
            <a:off x="131701" y="5053377"/>
            <a:ext cx="5800323" cy="948092"/>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defRPr/>
            </a:pPr>
            <a:r>
              <a:rPr lang="en-US" sz="1100" b="1" dirty="0">
                <a:solidFill>
                  <a:schemeClr val="tx1"/>
                </a:solidFill>
                <a:latin typeface="Arial Narrow" panose="020B0606020202030204" pitchFamily="34" charset="0"/>
                <a:ea typeface="LG Smart_H Regular" panose="020B0600000101010101" pitchFamily="34" charset="-127"/>
                <a:cs typeface="Arial" panose="020B0604020202020204" pitchFamily="34" charset="0"/>
              </a:rPr>
              <a:t>Conclusion : </a:t>
            </a:r>
            <a:r>
              <a:rPr lang="en-US" sz="1100" dirty="0">
                <a:solidFill>
                  <a:schemeClr val="tx1"/>
                </a:solidFill>
                <a:latin typeface="Arial Narrow" panose="020B0606020202030204" pitchFamily="34" charset="0"/>
                <a:ea typeface="LG Smart_H Regular" panose="020B0600000101010101" pitchFamily="34" charset="-127"/>
                <a:cs typeface="Arial" panose="020B0604020202020204" pitchFamily="34" charset="0"/>
              </a:rPr>
              <a:t>we chose 20 samples before improving and 20 samples after improving</a:t>
            </a:r>
          </a:p>
          <a:p>
            <a:pPr>
              <a:defRPr/>
            </a:pPr>
            <a:r>
              <a:rPr lang="en-US" sz="1100" dirty="0">
                <a:solidFill>
                  <a:schemeClr val="tx1"/>
                </a:solidFill>
                <a:latin typeface="Arial Narrow" panose="020B0606020202030204" pitchFamily="34" charset="0"/>
                <a:ea typeface="LG Smart_H Regular" panose="020B0600000101010101" pitchFamily="34" charset="-127"/>
                <a:cs typeface="Arial" panose="020B0604020202020204" pitchFamily="34" charset="0"/>
              </a:rPr>
              <a:t>H0: </a:t>
            </a:r>
            <a:r>
              <a:rPr lang="en-US" sz="1100" dirty="0">
                <a:solidFill>
                  <a:schemeClr val="tx1"/>
                </a:solidFill>
                <a:latin typeface="Arial Narrow" panose="020B0606020202030204" pitchFamily="34" charset="0"/>
                <a:ea typeface="LG Smart_H Regular" panose="020B0600000101010101" pitchFamily="34" charset="-127"/>
                <a:sym typeface="Wingdings" panose="05000000000000000000" pitchFamily="2" charset="2"/>
              </a:rPr>
              <a:t>Alignment &amp; fix the contact level of Pogo pin with Pallet </a:t>
            </a:r>
            <a:r>
              <a:rPr lang="en-US" sz="1100" dirty="0">
                <a:solidFill>
                  <a:schemeClr val="tx1"/>
                </a:solidFill>
                <a:latin typeface="Arial Narrow" panose="020B0606020202030204" pitchFamily="34" charset="0"/>
                <a:ea typeface="LG Smart_H Regular" panose="020B0600000101010101" pitchFamily="34" charset="-127"/>
                <a:cs typeface="Arial" panose="020B0604020202020204" pitchFamily="34" charset="0"/>
              </a:rPr>
              <a:t>not effect to distortion</a:t>
            </a:r>
          </a:p>
          <a:p>
            <a:pPr>
              <a:defRPr/>
            </a:pPr>
            <a:r>
              <a:rPr lang="en-US" sz="1100" dirty="0">
                <a:solidFill>
                  <a:schemeClr val="tx1"/>
                </a:solidFill>
                <a:latin typeface="Arial Narrow" panose="020B0606020202030204" pitchFamily="34" charset="0"/>
                <a:ea typeface="LG Smart_H Regular" panose="020B0600000101010101" pitchFamily="34" charset="-127"/>
                <a:cs typeface="Arial" panose="020B0604020202020204" pitchFamily="34" charset="0"/>
              </a:rPr>
              <a:t>H1: </a:t>
            </a:r>
            <a:r>
              <a:rPr lang="en-US" sz="1100" dirty="0">
                <a:solidFill>
                  <a:schemeClr val="tx1"/>
                </a:solidFill>
                <a:latin typeface="Arial Narrow" panose="020B0606020202030204" pitchFamily="34" charset="0"/>
                <a:ea typeface="LG Smart_H Regular" panose="020B0600000101010101" pitchFamily="34" charset="-127"/>
                <a:sym typeface="Wingdings" panose="05000000000000000000" pitchFamily="2" charset="2"/>
              </a:rPr>
              <a:t>Alignment &amp; fix the contact level of Pogo pin with Pallet </a:t>
            </a:r>
            <a:r>
              <a:rPr lang="en-US" sz="1100" dirty="0">
                <a:solidFill>
                  <a:schemeClr val="tx1"/>
                </a:solidFill>
                <a:latin typeface="Arial Narrow" panose="020B0606020202030204" pitchFamily="34" charset="0"/>
                <a:ea typeface="LG Smart_H Regular" panose="020B0600000101010101" pitchFamily="34" charset="-127"/>
                <a:cs typeface="Arial" panose="020B0604020202020204" pitchFamily="34" charset="0"/>
              </a:rPr>
              <a:t>effect to distortion</a:t>
            </a:r>
          </a:p>
          <a:p>
            <a:pPr>
              <a:defRPr/>
            </a:pPr>
            <a:r>
              <a:rPr lang="en-US" sz="1100" dirty="0">
                <a:solidFill>
                  <a:schemeClr val="tx1"/>
                </a:solidFill>
                <a:latin typeface="Arial Narrow" panose="020B0606020202030204" pitchFamily="34" charset="0"/>
                <a:ea typeface="LG Smart_H Regular" panose="020B0600000101010101" pitchFamily="34" charset="-127"/>
                <a:cs typeface="Arial" panose="020B0604020202020204" pitchFamily="34" charset="0"/>
              </a:rPr>
              <a:t>P value = 0.963 ≥ 0.05 → Fail to reject H0</a:t>
            </a:r>
          </a:p>
          <a:p>
            <a:pPr>
              <a:defRPr/>
            </a:pPr>
            <a:r>
              <a:rPr lang="en-US" sz="1100" dirty="0">
                <a:solidFill>
                  <a:schemeClr val="tx1"/>
                </a:solidFill>
                <a:latin typeface="Arial Narrow" panose="020B0606020202030204" pitchFamily="34" charset="0"/>
                <a:ea typeface="LG Smart_H Regular" panose="020B0600000101010101" pitchFamily="34" charset="-127"/>
                <a:cs typeface="Arial" panose="020B0604020202020204" pitchFamily="34" charset="0"/>
              </a:rPr>
              <a:t>→ The charts showed that measurement values have no different between before samples and after samples</a:t>
            </a:r>
          </a:p>
        </p:txBody>
      </p:sp>
      <p:cxnSp>
        <p:nvCxnSpPr>
          <p:cNvPr id="8" name="Straight Connector 7">
            <a:extLst>
              <a:ext uri="{FF2B5EF4-FFF2-40B4-BE49-F238E27FC236}">
                <a16:creationId xmlns:a16="http://schemas.microsoft.com/office/drawing/2014/main" id="{B79FAF68-713B-ACEC-661B-3EC09AEA8766}"/>
              </a:ext>
            </a:extLst>
          </p:cNvPr>
          <p:cNvCxnSpPr/>
          <p:nvPr/>
        </p:nvCxnSpPr>
        <p:spPr>
          <a:xfrm>
            <a:off x="-12488" y="561513"/>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9" name="제목 1">
            <a:extLst>
              <a:ext uri="{FF2B5EF4-FFF2-40B4-BE49-F238E27FC236}">
                <a16:creationId xmlns:a16="http://schemas.microsoft.com/office/drawing/2014/main" id="{43B58151-71D3-0C23-5CAE-383302DAC285}"/>
              </a:ext>
            </a:extLst>
          </p:cNvPr>
          <p:cNvSpPr txBox="1">
            <a:spLocks/>
          </p:cNvSpPr>
          <p:nvPr/>
        </p:nvSpPr>
        <p:spPr>
          <a:xfrm>
            <a:off x="27541" y="64338"/>
            <a:ext cx="6525659" cy="418058"/>
          </a:xfrm>
          <a:prstGeom prst="rect">
            <a:avLst/>
          </a:prstGeom>
        </p:spPr>
        <p:txBody>
          <a:bodyPr vert="horz" lIns="91440" tIns="45720" rIns="91440" bIns="45720" rtlCol="0" anchor="ctr">
            <a:noAutofit/>
          </a:bodyPr>
          <a:lstStyle/>
          <a:p>
            <a:pPr eaLnBrk="0" hangingPunct="0">
              <a:defRPr/>
            </a:pPr>
            <a:r>
              <a:rPr lang="en-US" altLang="ko-KR" sz="2000" b="1" kern="0" dirty="0">
                <a:solidFill>
                  <a:srgbClr val="000000"/>
                </a:solidFill>
                <a:latin typeface="Arial Narrow" panose="020B0606020202030204" pitchFamily="34" charset="0"/>
                <a:ea typeface="LG Smart_H Regular" pitchFamily="34" charset="-127"/>
              </a:rPr>
              <a:t>3. Find the Root Cause that making distortion issue</a:t>
            </a:r>
            <a:endParaRPr lang="ko-KR" altLang="en-US" sz="2000" b="1" kern="0" dirty="0">
              <a:solidFill>
                <a:srgbClr val="000000"/>
              </a:solidFill>
              <a:latin typeface="Arial Narrow" panose="020B0606020202030204" pitchFamily="34" charset="0"/>
              <a:ea typeface="LG Smart_H Regular" pitchFamily="34" charset="-127"/>
            </a:endParaRPr>
          </a:p>
        </p:txBody>
      </p:sp>
      <p:pic>
        <p:nvPicPr>
          <p:cNvPr id="4" name="Picture 3" descr="A screenshot of a test&#10;&#10;AI-generated content may be incorrect.">
            <a:extLst>
              <a:ext uri="{FF2B5EF4-FFF2-40B4-BE49-F238E27FC236}">
                <a16:creationId xmlns:a16="http://schemas.microsoft.com/office/drawing/2014/main" id="{7D91FEE8-6F45-4E21-0E5A-E1021F9669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08145" y="1043957"/>
            <a:ext cx="2360465" cy="3833276"/>
          </a:xfrm>
          <a:prstGeom prst="rect">
            <a:avLst/>
          </a:prstGeom>
        </p:spPr>
      </p:pic>
      <p:sp>
        <p:nvSpPr>
          <p:cNvPr id="7" name="TextBox 6">
            <a:extLst>
              <a:ext uri="{FF2B5EF4-FFF2-40B4-BE49-F238E27FC236}">
                <a16:creationId xmlns:a16="http://schemas.microsoft.com/office/drawing/2014/main" id="{BC7A0884-3575-8A68-9E91-222185D6EFF7}"/>
              </a:ext>
            </a:extLst>
          </p:cNvPr>
          <p:cNvSpPr txBox="1"/>
          <p:nvPr/>
        </p:nvSpPr>
        <p:spPr>
          <a:xfrm>
            <a:off x="205450" y="804081"/>
            <a:ext cx="3255380" cy="261610"/>
          </a:xfrm>
          <a:prstGeom prst="rect">
            <a:avLst/>
          </a:prstGeom>
          <a:noFill/>
        </p:spPr>
        <p:txBody>
          <a:bodyPr wrap="square">
            <a:spAutoFit/>
          </a:bodyPr>
          <a:lstStyle/>
          <a:p>
            <a:pPr fontAlgn="ctr"/>
            <a:r>
              <a:rPr lang="en-US" sz="1100" b="1" dirty="0">
                <a:latin typeface="Arial Narrow" panose="020B0606020202030204" pitchFamily="34" charset="0"/>
                <a:ea typeface="LG Smart_H Regular" panose="020B0600000101010101" pitchFamily="34" charset="-127"/>
                <a:sym typeface="Wingdings" panose="05000000000000000000" pitchFamily="2" charset="2"/>
              </a:rPr>
              <a:t>Alignment &amp; fix the contact level of Pogo pin with Pallet </a:t>
            </a:r>
            <a:endParaRPr lang="en-US" sz="1100" b="1" dirty="0">
              <a:solidFill>
                <a:srgbClr val="000000"/>
              </a:solidFill>
              <a:latin typeface="Arial Narrow" panose="020B0606020202030204" pitchFamily="34" charset="0"/>
            </a:endParaRPr>
          </a:p>
        </p:txBody>
      </p:sp>
      <p:pic>
        <p:nvPicPr>
          <p:cNvPr id="11" name="Picture 10">
            <a:extLst>
              <a:ext uri="{FF2B5EF4-FFF2-40B4-BE49-F238E27FC236}">
                <a16:creationId xmlns:a16="http://schemas.microsoft.com/office/drawing/2014/main" id="{C3DCD414-7285-FD3E-E90E-9B589964EF40}"/>
              </a:ext>
            </a:extLst>
          </p:cNvPr>
          <p:cNvPicPr>
            <a:picLocks noChangeAspect="1"/>
          </p:cNvPicPr>
          <p:nvPr/>
        </p:nvPicPr>
        <p:blipFill>
          <a:blip r:embed="rId4"/>
          <a:stretch>
            <a:fillRect/>
          </a:stretch>
        </p:blipFill>
        <p:spPr>
          <a:xfrm>
            <a:off x="5606969" y="1101827"/>
            <a:ext cx="4098403" cy="2732268"/>
          </a:xfrm>
          <a:prstGeom prst="rect">
            <a:avLst/>
          </a:prstGeom>
        </p:spPr>
      </p:pic>
      <p:graphicFrame>
        <p:nvGraphicFramePr>
          <p:cNvPr id="12" name="Table 11">
            <a:extLst>
              <a:ext uri="{FF2B5EF4-FFF2-40B4-BE49-F238E27FC236}">
                <a16:creationId xmlns:a16="http://schemas.microsoft.com/office/drawing/2014/main" id="{7C834432-EEC3-4A23-3E0E-AFDD7B82E8E2}"/>
              </a:ext>
            </a:extLst>
          </p:cNvPr>
          <p:cNvGraphicFramePr>
            <a:graphicFrameLocks noGrp="1"/>
          </p:cNvGraphicFramePr>
          <p:nvPr>
            <p:extLst>
              <p:ext uri="{D42A27DB-BD31-4B8C-83A1-F6EECF244321}">
                <p14:modId xmlns:p14="http://schemas.microsoft.com/office/powerpoint/2010/main" val="3098659303"/>
              </p:ext>
            </p:extLst>
          </p:nvPr>
        </p:nvGraphicFramePr>
        <p:xfrm>
          <a:off x="298129" y="1101827"/>
          <a:ext cx="2654300" cy="3733800"/>
        </p:xfrm>
        <a:graphic>
          <a:graphicData uri="http://schemas.openxmlformats.org/drawingml/2006/table">
            <a:tbl>
              <a:tblPr>
                <a:tableStyleId>{2D5ABB26-0587-4C30-8999-92F81FD0307C}</a:tableStyleId>
              </a:tblPr>
              <a:tblGrid>
                <a:gridCol w="254000">
                  <a:extLst>
                    <a:ext uri="{9D8B030D-6E8A-4147-A177-3AD203B41FA5}">
                      <a16:colId xmlns:a16="http://schemas.microsoft.com/office/drawing/2014/main" val="1905661555"/>
                    </a:ext>
                  </a:extLst>
                </a:gridCol>
                <a:gridCol w="1270000">
                  <a:extLst>
                    <a:ext uri="{9D8B030D-6E8A-4147-A177-3AD203B41FA5}">
                      <a16:colId xmlns:a16="http://schemas.microsoft.com/office/drawing/2014/main" val="1150105319"/>
                    </a:ext>
                  </a:extLst>
                </a:gridCol>
                <a:gridCol w="1130300">
                  <a:extLst>
                    <a:ext uri="{9D8B030D-6E8A-4147-A177-3AD203B41FA5}">
                      <a16:colId xmlns:a16="http://schemas.microsoft.com/office/drawing/2014/main" val="3750473024"/>
                    </a:ext>
                  </a:extLst>
                </a:gridCol>
              </a:tblGrid>
              <a:tr h="177800">
                <a:tc>
                  <a:txBody>
                    <a:bodyPr/>
                    <a:lstStyle/>
                    <a:p>
                      <a:pPr algn="ctr" fontAlgn="b">
                        <a:buNone/>
                      </a:pPr>
                      <a:r>
                        <a:rPr lang="en-US" sz="1100" b="1" u="none" strike="noStrike" dirty="0">
                          <a:effectLst/>
                          <a:latin typeface="Arial Narrow" panose="020B0606020202030204" pitchFamily="34" charset="0"/>
                        </a:rPr>
                        <a:t>No</a:t>
                      </a:r>
                      <a:endParaRPr lang="en-US" sz="1100" b="1" i="0" u="none" strike="noStrike" dirty="0">
                        <a:solidFill>
                          <a:srgbClr val="FFFFFF"/>
                        </a:solidFill>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buNone/>
                      </a:pPr>
                      <a:r>
                        <a:rPr lang="en-US" sz="1100" b="1" u="none" strike="noStrike" dirty="0" err="1">
                          <a:effectLst/>
                          <a:latin typeface="Arial Narrow" panose="020B0606020202030204" pitchFamily="34" charset="0"/>
                        </a:rPr>
                        <a:t>BeforeContactFix</a:t>
                      </a:r>
                      <a:endParaRPr lang="en-US" sz="1100" b="1" i="0" u="none" strike="noStrike" dirty="0">
                        <a:solidFill>
                          <a:srgbClr val="FFFFFF"/>
                        </a:solidFill>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b">
                        <a:buNone/>
                      </a:pPr>
                      <a:r>
                        <a:rPr lang="en-US" sz="1100" b="1" u="none" strike="noStrike" dirty="0" err="1">
                          <a:effectLst/>
                          <a:latin typeface="Arial Narrow" panose="020B0606020202030204" pitchFamily="34" charset="0"/>
                        </a:rPr>
                        <a:t>AfterContactFix</a:t>
                      </a:r>
                      <a:endParaRPr lang="en-US" sz="1100" b="1" i="0" u="none" strike="noStrike" dirty="0">
                        <a:solidFill>
                          <a:srgbClr val="FFFFFF"/>
                        </a:solidFill>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390148847"/>
                  </a:ext>
                </a:extLst>
              </a:tr>
              <a:tr h="177800">
                <a:tc>
                  <a:txBody>
                    <a:bodyPr/>
                    <a:lstStyle/>
                    <a:p>
                      <a:pPr algn="ctr" fontAlgn="b">
                        <a:buNone/>
                      </a:pPr>
                      <a:r>
                        <a:rPr lang="en-US" sz="1100" u="none" strike="noStrike">
                          <a:effectLst/>
                          <a:latin typeface="Arial Narrow" panose="020B0606020202030204" pitchFamily="34" charset="0"/>
                        </a:rPr>
                        <a:t>1</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00" u="none" strike="noStrike">
                          <a:effectLst/>
                          <a:latin typeface="Arial Narrow" panose="020B0606020202030204" pitchFamily="34" charset="0"/>
                        </a:rPr>
                        <a:t>0.71</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00" u="none" strike="noStrike">
                          <a:effectLst/>
                          <a:latin typeface="Arial Narrow" panose="020B0606020202030204" pitchFamily="34" charset="0"/>
                        </a:rPr>
                        <a:t>0.73</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16537084"/>
                  </a:ext>
                </a:extLst>
              </a:tr>
              <a:tr h="177800">
                <a:tc>
                  <a:txBody>
                    <a:bodyPr/>
                    <a:lstStyle/>
                    <a:p>
                      <a:pPr algn="ctr" fontAlgn="b">
                        <a:buNone/>
                      </a:pPr>
                      <a:r>
                        <a:rPr lang="en-US" sz="1100" u="none" strike="noStrike">
                          <a:effectLst/>
                          <a:latin typeface="Arial Narrow" panose="020B0606020202030204" pitchFamily="34" charset="0"/>
                        </a:rPr>
                        <a:t>2</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00" u="none" strike="noStrike">
                          <a:effectLst/>
                          <a:latin typeface="Arial Narrow" panose="020B0606020202030204" pitchFamily="34" charset="0"/>
                        </a:rPr>
                        <a:t>0.96</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00" u="none" strike="noStrike">
                          <a:effectLst/>
                          <a:latin typeface="Arial Narrow" panose="020B0606020202030204" pitchFamily="34" charset="0"/>
                        </a:rPr>
                        <a:t>0.94</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4153935"/>
                  </a:ext>
                </a:extLst>
              </a:tr>
              <a:tr h="177800">
                <a:tc>
                  <a:txBody>
                    <a:bodyPr/>
                    <a:lstStyle/>
                    <a:p>
                      <a:pPr algn="ctr" fontAlgn="b">
                        <a:buNone/>
                      </a:pPr>
                      <a:r>
                        <a:rPr lang="en-US" sz="1100" u="none" strike="noStrike">
                          <a:effectLst/>
                          <a:latin typeface="Arial Narrow" panose="020B0606020202030204" pitchFamily="34" charset="0"/>
                        </a:rPr>
                        <a:t>3</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00" u="none" strike="noStrike">
                          <a:effectLst/>
                          <a:latin typeface="Arial Narrow" panose="020B0606020202030204" pitchFamily="34" charset="0"/>
                        </a:rPr>
                        <a:t>0.82</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00" u="none" strike="noStrike">
                          <a:effectLst/>
                          <a:latin typeface="Arial Narrow" panose="020B0606020202030204" pitchFamily="34" charset="0"/>
                        </a:rPr>
                        <a:t>0.84</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7426389"/>
                  </a:ext>
                </a:extLst>
              </a:tr>
              <a:tr h="177800">
                <a:tc>
                  <a:txBody>
                    <a:bodyPr/>
                    <a:lstStyle/>
                    <a:p>
                      <a:pPr algn="ctr" fontAlgn="b">
                        <a:buNone/>
                      </a:pPr>
                      <a:r>
                        <a:rPr lang="en-US" sz="1100" u="none" strike="noStrike">
                          <a:effectLst/>
                          <a:latin typeface="Arial Narrow" panose="020B0606020202030204" pitchFamily="34" charset="0"/>
                        </a:rPr>
                        <a:t>4</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00" u="none" strike="noStrike">
                          <a:effectLst/>
                          <a:latin typeface="Arial Narrow" panose="020B0606020202030204" pitchFamily="34" charset="0"/>
                        </a:rPr>
                        <a:t>1.07</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00" u="none" strike="noStrike">
                          <a:effectLst/>
                          <a:latin typeface="Arial Narrow" panose="020B0606020202030204" pitchFamily="34" charset="0"/>
                        </a:rPr>
                        <a:t>1.05</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768460"/>
                  </a:ext>
                </a:extLst>
              </a:tr>
              <a:tr h="177800">
                <a:tc>
                  <a:txBody>
                    <a:bodyPr/>
                    <a:lstStyle/>
                    <a:p>
                      <a:pPr algn="ctr" fontAlgn="b">
                        <a:buNone/>
                      </a:pPr>
                      <a:r>
                        <a:rPr lang="en-US" sz="1100" u="none" strike="noStrike">
                          <a:effectLst/>
                          <a:latin typeface="Arial Narrow" panose="020B0606020202030204" pitchFamily="34" charset="0"/>
                        </a:rPr>
                        <a:t>5</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00" u="none" strike="noStrike">
                          <a:effectLst/>
                          <a:latin typeface="Arial Narrow" panose="020B0606020202030204" pitchFamily="34" charset="0"/>
                        </a:rPr>
                        <a:t>0.75</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00" u="none" strike="noStrike">
                          <a:effectLst/>
                          <a:latin typeface="Arial Narrow" panose="020B0606020202030204" pitchFamily="34" charset="0"/>
                        </a:rPr>
                        <a:t>0.76</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4318839"/>
                  </a:ext>
                </a:extLst>
              </a:tr>
              <a:tr h="177800">
                <a:tc>
                  <a:txBody>
                    <a:bodyPr/>
                    <a:lstStyle/>
                    <a:p>
                      <a:pPr algn="ctr" fontAlgn="b">
                        <a:buNone/>
                      </a:pPr>
                      <a:r>
                        <a:rPr lang="en-US" sz="1100" u="none" strike="noStrike" dirty="0">
                          <a:effectLst/>
                          <a:latin typeface="Arial Narrow" panose="020B0606020202030204" pitchFamily="34" charset="0"/>
                        </a:rPr>
                        <a:t>6</a:t>
                      </a:r>
                      <a:endParaRPr lang="en-US" sz="1100" b="0" i="0" u="none" strike="noStrike" dirty="0">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00" u="none" strike="noStrike">
                          <a:effectLst/>
                          <a:latin typeface="Arial Narrow" panose="020B0606020202030204" pitchFamily="34" charset="0"/>
                        </a:rPr>
                        <a:t>1.18</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00" u="none" strike="noStrike">
                          <a:effectLst/>
                          <a:latin typeface="Arial Narrow" panose="020B0606020202030204" pitchFamily="34" charset="0"/>
                        </a:rPr>
                        <a:t>1.17</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7564463"/>
                  </a:ext>
                </a:extLst>
              </a:tr>
              <a:tr h="177800">
                <a:tc>
                  <a:txBody>
                    <a:bodyPr/>
                    <a:lstStyle/>
                    <a:p>
                      <a:pPr algn="ctr" fontAlgn="b">
                        <a:buNone/>
                      </a:pPr>
                      <a:r>
                        <a:rPr lang="en-US" sz="1100" u="none" strike="noStrike">
                          <a:effectLst/>
                          <a:latin typeface="Arial Narrow" panose="020B0606020202030204" pitchFamily="34" charset="0"/>
                        </a:rPr>
                        <a:t>7</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00" u="none" strike="noStrike">
                          <a:effectLst/>
                          <a:latin typeface="Arial Narrow" panose="020B0606020202030204" pitchFamily="34" charset="0"/>
                        </a:rPr>
                        <a:t>0.89</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00" u="none" strike="noStrike">
                          <a:effectLst/>
                          <a:latin typeface="Arial Narrow" panose="020B0606020202030204" pitchFamily="34" charset="0"/>
                        </a:rPr>
                        <a:t>0.87</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5357360"/>
                  </a:ext>
                </a:extLst>
              </a:tr>
              <a:tr h="177800">
                <a:tc>
                  <a:txBody>
                    <a:bodyPr/>
                    <a:lstStyle/>
                    <a:p>
                      <a:pPr algn="ctr" fontAlgn="b">
                        <a:buNone/>
                      </a:pPr>
                      <a:r>
                        <a:rPr lang="en-US" sz="1100" u="none" strike="noStrike">
                          <a:effectLst/>
                          <a:latin typeface="Arial Narrow" panose="020B0606020202030204" pitchFamily="34" charset="0"/>
                        </a:rPr>
                        <a:t>8</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00" u="none" strike="noStrike">
                          <a:effectLst/>
                          <a:latin typeface="Arial Narrow" panose="020B0606020202030204" pitchFamily="34" charset="0"/>
                        </a:rPr>
                        <a:t>1.10</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00" u="none" strike="noStrike">
                          <a:effectLst/>
                          <a:latin typeface="Arial Narrow" panose="020B0606020202030204" pitchFamily="34" charset="0"/>
                        </a:rPr>
                        <a:t>1.12</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27800228"/>
                  </a:ext>
                </a:extLst>
              </a:tr>
              <a:tr h="177800">
                <a:tc>
                  <a:txBody>
                    <a:bodyPr/>
                    <a:lstStyle/>
                    <a:p>
                      <a:pPr algn="ctr" fontAlgn="b">
                        <a:buNone/>
                      </a:pPr>
                      <a:r>
                        <a:rPr lang="en-US" sz="1100" u="none" strike="noStrike">
                          <a:effectLst/>
                          <a:latin typeface="Arial Narrow" panose="020B0606020202030204" pitchFamily="34" charset="0"/>
                        </a:rPr>
                        <a:t>9</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00" u="none" strike="noStrike">
                          <a:effectLst/>
                          <a:latin typeface="Arial Narrow" panose="020B0606020202030204" pitchFamily="34" charset="0"/>
                        </a:rPr>
                        <a:t>0.78</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00" u="none" strike="noStrike">
                          <a:effectLst/>
                          <a:latin typeface="Arial Narrow" panose="020B0606020202030204" pitchFamily="34" charset="0"/>
                        </a:rPr>
                        <a:t>0.79</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1186534"/>
                  </a:ext>
                </a:extLst>
              </a:tr>
              <a:tr h="177800">
                <a:tc>
                  <a:txBody>
                    <a:bodyPr/>
                    <a:lstStyle/>
                    <a:p>
                      <a:pPr algn="ctr" fontAlgn="b">
                        <a:buNone/>
                      </a:pPr>
                      <a:r>
                        <a:rPr lang="en-US" sz="1100" u="none" strike="noStrike">
                          <a:effectLst/>
                          <a:latin typeface="Arial Narrow" panose="020B0606020202030204" pitchFamily="34" charset="0"/>
                        </a:rPr>
                        <a:t>10</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00" u="none" strike="noStrike">
                          <a:effectLst/>
                          <a:latin typeface="Arial Narrow" panose="020B0606020202030204" pitchFamily="34" charset="0"/>
                        </a:rPr>
                        <a:t>0.98</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00" u="none" strike="noStrike">
                          <a:effectLst/>
                          <a:latin typeface="Arial Narrow" panose="020B0606020202030204" pitchFamily="34" charset="0"/>
                        </a:rPr>
                        <a:t>0.96</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8487917"/>
                  </a:ext>
                </a:extLst>
              </a:tr>
              <a:tr h="177800">
                <a:tc>
                  <a:txBody>
                    <a:bodyPr/>
                    <a:lstStyle/>
                    <a:p>
                      <a:pPr algn="ctr" fontAlgn="b">
                        <a:buNone/>
                      </a:pPr>
                      <a:r>
                        <a:rPr lang="en-US" sz="1100" u="none" strike="noStrike">
                          <a:effectLst/>
                          <a:latin typeface="Arial Narrow" panose="020B0606020202030204" pitchFamily="34" charset="0"/>
                        </a:rPr>
                        <a:t>11</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00" u="none" strike="noStrike">
                          <a:effectLst/>
                          <a:latin typeface="Arial Narrow" panose="020B0606020202030204" pitchFamily="34" charset="0"/>
                        </a:rPr>
                        <a:t>0.73</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00" u="none" strike="noStrike">
                          <a:effectLst/>
                          <a:latin typeface="Arial Narrow" panose="020B0606020202030204" pitchFamily="34" charset="0"/>
                        </a:rPr>
                        <a:t>0.72</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0718656"/>
                  </a:ext>
                </a:extLst>
              </a:tr>
              <a:tr h="177800">
                <a:tc>
                  <a:txBody>
                    <a:bodyPr/>
                    <a:lstStyle/>
                    <a:p>
                      <a:pPr algn="ctr" fontAlgn="b">
                        <a:buNone/>
                      </a:pPr>
                      <a:r>
                        <a:rPr lang="en-US" sz="1100" u="none" strike="noStrike">
                          <a:effectLst/>
                          <a:latin typeface="Arial Narrow" panose="020B0606020202030204" pitchFamily="34" charset="0"/>
                        </a:rPr>
                        <a:t>12</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00" u="none" strike="noStrike" dirty="0">
                          <a:solidFill>
                            <a:srgbClr val="FF0000"/>
                          </a:solidFill>
                          <a:effectLst/>
                          <a:latin typeface="Arial Narrow" panose="020B0606020202030204" pitchFamily="34" charset="0"/>
                        </a:rPr>
                        <a:t>1.29</a:t>
                      </a:r>
                      <a:endParaRPr lang="en-US" sz="1100" b="1" i="0" u="none" strike="noStrike" dirty="0">
                        <a:solidFill>
                          <a:srgbClr val="FF0000"/>
                        </a:solidFill>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00" u="none" strike="noStrike" dirty="0">
                          <a:solidFill>
                            <a:srgbClr val="FF0000"/>
                          </a:solidFill>
                          <a:effectLst/>
                          <a:latin typeface="Arial Narrow" panose="020B0606020202030204" pitchFamily="34" charset="0"/>
                        </a:rPr>
                        <a:t>1.26</a:t>
                      </a:r>
                      <a:endParaRPr lang="en-US" sz="1100" b="1" i="0" u="none" strike="noStrike" dirty="0">
                        <a:solidFill>
                          <a:srgbClr val="FF0000"/>
                        </a:solidFill>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9105288"/>
                  </a:ext>
                </a:extLst>
              </a:tr>
              <a:tr h="177800">
                <a:tc>
                  <a:txBody>
                    <a:bodyPr/>
                    <a:lstStyle/>
                    <a:p>
                      <a:pPr algn="ctr" fontAlgn="b">
                        <a:buNone/>
                      </a:pPr>
                      <a:r>
                        <a:rPr lang="en-US" sz="1100" u="none" strike="noStrike">
                          <a:effectLst/>
                          <a:latin typeface="Arial Narrow" panose="020B0606020202030204" pitchFamily="34" charset="0"/>
                        </a:rPr>
                        <a:t>13</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00" u="none" strike="noStrike">
                          <a:effectLst/>
                          <a:latin typeface="Arial Narrow" panose="020B0606020202030204" pitchFamily="34" charset="0"/>
                        </a:rPr>
                        <a:t>0.85</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00" u="none" strike="noStrike">
                          <a:effectLst/>
                          <a:latin typeface="Arial Narrow" panose="020B0606020202030204" pitchFamily="34" charset="0"/>
                        </a:rPr>
                        <a:t>0.86</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11400068"/>
                  </a:ext>
                </a:extLst>
              </a:tr>
              <a:tr h="177800">
                <a:tc>
                  <a:txBody>
                    <a:bodyPr/>
                    <a:lstStyle/>
                    <a:p>
                      <a:pPr algn="ctr" fontAlgn="b">
                        <a:buNone/>
                      </a:pPr>
                      <a:r>
                        <a:rPr lang="en-US" sz="1100" u="none" strike="noStrike">
                          <a:effectLst/>
                          <a:latin typeface="Arial Narrow" panose="020B0606020202030204" pitchFamily="34" charset="0"/>
                        </a:rPr>
                        <a:t>14</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00" u="none" strike="noStrike">
                          <a:effectLst/>
                          <a:latin typeface="Arial Narrow" panose="020B0606020202030204" pitchFamily="34" charset="0"/>
                        </a:rPr>
                        <a:t>1.05</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00" u="none" strike="noStrike">
                          <a:effectLst/>
                          <a:latin typeface="Arial Narrow" panose="020B0606020202030204" pitchFamily="34" charset="0"/>
                        </a:rPr>
                        <a:t>1.08</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77961131"/>
                  </a:ext>
                </a:extLst>
              </a:tr>
              <a:tr h="177800">
                <a:tc>
                  <a:txBody>
                    <a:bodyPr/>
                    <a:lstStyle/>
                    <a:p>
                      <a:pPr algn="ctr" fontAlgn="b">
                        <a:buNone/>
                      </a:pPr>
                      <a:r>
                        <a:rPr lang="en-US" sz="1100" u="none" strike="noStrike">
                          <a:effectLst/>
                          <a:latin typeface="Arial Narrow" panose="020B0606020202030204" pitchFamily="34" charset="0"/>
                        </a:rPr>
                        <a:t>15</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00" u="none" strike="noStrike">
                          <a:effectLst/>
                          <a:latin typeface="Arial Narrow" panose="020B0606020202030204" pitchFamily="34" charset="0"/>
                        </a:rPr>
                        <a:t>0.77</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00" u="none" strike="noStrike">
                          <a:effectLst/>
                          <a:latin typeface="Arial Narrow" panose="020B0606020202030204" pitchFamily="34" charset="0"/>
                        </a:rPr>
                        <a:t>0.75</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8510106"/>
                  </a:ext>
                </a:extLst>
              </a:tr>
              <a:tr h="177800">
                <a:tc>
                  <a:txBody>
                    <a:bodyPr/>
                    <a:lstStyle/>
                    <a:p>
                      <a:pPr algn="ctr" fontAlgn="b">
                        <a:buNone/>
                      </a:pPr>
                      <a:r>
                        <a:rPr lang="en-US" sz="1100" u="none" strike="noStrike">
                          <a:effectLst/>
                          <a:latin typeface="Arial Narrow" panose="020B0606020202030204" pitchFamily="34" charset="0"/>
                        </a:rPr>
                        <a:t>16</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00" u="none" strike="noStrike">
                          <a:effectLst/>
                          <a:latin typeface="Arial Narrow" panose="020B0606020202030204" pitchFamily="34" charset="0"/>
                        </a:rPr>
                        <a:t>1.01</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00" u="none" strike="noStrike">
                          <a:effectLst/>
                          <a:latin typeface="Arial Narrow" panose="020B0606020202030204" pitchFamily="34" charset="0"/>
                        </a:rPr>
                        <a:t>1.00</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4125229"/>
                  </a:ext>
                </a:extLst>
              </a:tr>
              <a:tr h="177800">
                <a:tc>
                  <a:txBody>
                    <a:bodyPr/>
                    <a:lstStyle/>
                    <a:p>
                      <a:pPr algn="ctr" fontAlgn="b">
                        <a:buNone/>
                      </a:pPr>
                      <a:r>
                        <a:rPr lang="en-US" sz="1100" u="none" strike="noStrike">
                          <a:effectLst/>
                          <a:latin typeface="Arial Narrow" panose="020B0606020202030204" pitchFamily="34" charset="0"/>
                        </a:rPr>
                        <a:t>17</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00" u="none" strike="noStrike">
                          <a:effectLst/>
                          <a:latin typeface="Arial Narrow" panose="020B0606020202030204" pitchFamily="34" charset="0"/>
                        </a:rPr>
                        <a:t>0.80</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00" u="none" strike="noStrike">
                          <a:effectLst/>
                          <a:latin typeface="Arial Narrow" panose="020B0606020202030204" pitchFamily="34" charset="0"/>
                        </a:rPr>
                        <a:t>0.82</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9069796"/>
                  </a:ext>
                </a:extLst>
              </a:tr>
              <a:tr h="177800">
                <a:tc>
                  <a:txBody>
                    <a:bodyPr/>
                    <a:lstStyle/>
                    <a:p>
                      <a:pPr algn="ctr" fontAlgn="b">
                        <a:buNone/>
                      </a:pPr>
                      <a:r>
                        <a:rPr lang="en-US" sz="1100" u="none" strike="noStrike">
                          <a:effectLst/>
                          <a:latin typeface="Arial Narrow" panose="020B0606020202030204" pitchFamily="34" charset="0"/>
                        </a:rPr>
                        <a:t>18</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00" u="none" strike="noStrike">
                          <a:effectLst/>
                          <a:latin typeface="Arial Narrow" panose="020B0606020202030204" pitchFamily="34" charset="0"/>
                        </a:rPr>
                        <a:t>1.15</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00" u="none" strike="noStrike">
                          <a:effectLst/>
                          <a:latin typeface="Arial Narrow" panose="020B0606020202030204" pitchFamily="34" charset="0"/>
                        </a:rPr>
                        <a:t>1.13</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3628679"/>
                  </a:ext>
                </a:extLst>
              </a:tr>
              <a:tr h="177800">
                <a:tc>
                  <a:txBody>
                    <a:bodyPr/>
                    <a:lstStyle/>
                    <a:p>
                      <a:pPr algn="ctr" fontAlgn="b">
                        <a:buNone/>
                      </a:pPr>
                      <a:r>
                        <a:rPr lang="en-US" sz="1100" u="none" strike="noStrike">
                          <a:effectLst/>
                          <a:latin typeface="Arial Narrow" panose="020B0606020202030204" pitchFamily="34" charset="0"/>
                        </a:rPr>
                        <a:t>19</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00" u="none" strike="noStrike">
                          <a:effectLst/>
                          <a:latin typeface="Arial Narrow" panose="020B0606020202030204" pitchFamily="34" charset="0"/>
                        </a:rPr>
                        <a:t>0.92</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00" u="none" strike="noStrike">
                          <a:effectLst/>
                          <a:latin typeface="Arial Narrow" panose="020B0606020202030204" pitchFamily="34" charset="0"/>
                        </a:rPr>
                        <a:t>0.90</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1469980"/>
                  </a:ext>
                </a:extLst>
              </a:tr>
              <a:tr h="177800">
                <a:tc>
                  <a:txBody>
                    <a:bodyPr/>
                    <a:lstStyle/>
                    <a:p>
                      <a:pPr algn="ctr" fontAlgn="b">
                        <a:buNone/>
                      </a:pPr>
                      <a:r>
                        <a:rPr lang="en-US" sz="1100" u="none" strike="noStrike">
                          <a:effectLst/>
                          <a:latin typeface="Arial Narrow" panose="020B0606020202030204" pitchFamily="34" charset="0"/>
                        </a:rPr>
                        <a:t>20</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00" u="none" strike="noStrike">
                          <a:effectLst/>
                          <a:latin typeface="Arial Narrow" panose="020B0606020202030204" pitchFamily="34" charset="0"/>
                        </a:rPr>
                        <a:t>0.69</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1100" u="none" strike="noStrike" dirty="0">
                          <a:effectLst/>
                          <a:latin typeface="Arial Narrow" panose="020B0606020202030204" pitchFamily="34" charset="0"/>
                        </a:rPr>
                        <a:t>0.70</a:t>
                      </a:r>
                      <a:endParaRPr lang="en-US" sz="1100" b="0" i="0" u="none" strike="noStrike" dirty="0">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7747399"/>
                  </a:ext>
                </a:extLst>
              </a:tr>
            </a:tbl>
          </a:graphicData>
        </a:graphic>
      </p:graphicFrame>
    </p:spTree>
    <p:extLst>
      <p:ext uri="{BB962C8B-B14F-4D97-AF65-F5344CB8AC3E}">
        <p14:creationId xmlns:p14="http://schemas.microsoft.com/office/powerpoint/2010/main" val="42214689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FEA68-8480-23B2-9D02-86190FB6562B}"/>
            </a:ext>
          </a:extLst>
        </p:cNvPr>
        <p:cNvGrpSpPr/>
        <p:nvPr/>
      </p:nvGrpSpPr>
      <p:grpSpPr>
        <a:xfrm>
          <a:off x="0" y="0"/>
          <a:ext cx="0" cy="0"/>
          <a:chOff x="0" y="0"/>
          <a:chExt cx="0" cy="0"/>
        </a:xfrm>
      </p:grpSpPr>
      <p:sp>
        <p:nvSpPr>
          <p:cNvPr id="100" name="AutoShape 55">
            <a:extLst>
              <a:ext uri="{FF2B5EF4-FFF2-40B4-BE49-F238E27FC236}">
                <a16:creationId xmlns:a16="http://schemas.microsoft.com/office/drawing/2014/main" id="{B88511F8-A0E7-AC2F-BFE1-2E0F0C83E374}"/>
              </a:ext>
            </a:extLst>
          </p:cNvPr>
          <p:cNvSpPr>
            <a:spLocks noChangeArrowheads="1"/>
          </p:cNvSpPr>
          <p:nvPr/>
        </p:nvSpPr>
        <p:spPr bwMode="auto">
          <a:xfrm>
            <a:off x="9130746"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Control</a:t>
            </a:r>
          </a:p>
        </p:txBody>
      </p:sp>
      <p:sp>
        <p:nvSpPr>
          <p:cNvPr id="101" name="AutoShape 56">
            <a:extLst>
              <a:ext uri="{FF2B5EF4-FFF2-40B4-BE49-F238E27FC236}">
                <a16:creationId xmlns:a16="http://schemas.microsoft.com/office/drawing/2014/main" id="{E3B7F6EF-B48F-6BB9-CCDB-7AC8AFE92B10}"/>
              </a:ext>
            </a:extLst>
          </p:cNvPr>
          <p:cNvSpPr>
            <a:spLocks noChangeArrowheads="1"/>
          </p:cNvSpPr>
          <p:nvPr/>
        </p:nvSpPr>
        <p:spPr bwMode="auto">
          <a:xfrm>
            <a:off x="8441771"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rPr>
              <a:t>Improve</a:t>
            </a:r>
          </a:p>
        </p:txBody>
      </p:sp>
      <p:sp>
        <p:nvSpPr>
          <p:cNvPr id="114" name="AutoShape 58">
            <a:extLst>
              <a:ext uri="{FF2B5EF4-FFF2-40B4-BE49-F238E27FC236}">
                <a16:creationId xmlns:a16="http://schemas.microsoft.com/office/drawing/2014/main" id="{7E1A2289-B1BF-6A87-4B25-2F67CE960A69}"/>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Measure </a:t>
            </a:r>
          </a:p>
        </p:txBody>
      </p:sp>
      <p:sp>
        <p:nvSpPr>
          <p:cNvPr id="115" name="AutoShape 59">
            <a:extLst>
              <a:ext uri="{FF2B5EF4-FFF2-40B4-BE49-F238E27FC236}">
                <a16:creationId xmlns:a16="http://schemas.microsoft.com/office/drawing/2014/main" id="{6FA4BE97-F37A-80DE-A7C0-B8FFF1B7A060}"/>
              </a:ext>
            </a:extLst>
          </p:cNvPr>
          <p:cNvSpPr>
            <a:spLocks noChangeArrowheads="1"/>
          </p:cNvSpPr>
          <p:nvPr/>
        </p:nvSpPr>
        <p:spPr bwMode="auto">
          <a:xfrm>
            <a:off x="6381196" y="16658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Define</a:t>
            </a:r>
          </a:p>
        </p:txBody>
      </p:sp>
      <p:sp>
        <p:nvSpPr>
          <p:cNvPr id="116" name="AutoShape 57">
            <a:extLst>
              <a:ext uri="{FF2B5EF4-FFF2-40B4-BE49-F238E27FC236}">
                <a16:creationId xmlns:a16="http://schemas.microsoft.com/office/drawing/2014/main" id="{EED7B642-D937-7852-6D72-788FFE45E386}"/>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latin typeface="Arial Narrow" panose="020B0606020202030204" pitchFamily="34" charset="0"/>
                <a:ea typeface="맑은 고딕" panose="020B0503020000020004" pitchFamily="50" charset="-127"/>
              </a:rPr>
              <a:t>Analyze</a:t>
            </a:r>
          </a:p>
        </p:txBody>
      </p:sp>
      <p:sp>
        <p:nvSpPr>
          <p:cNvPr id="14" name="Text Box 2">
            <a:extLst>
              <a:ext uri="{FF2B5EF4-FFF2-40B4-BE49-F238E27FC236}">
                <a16:creationId xmlns:a16="http://schemas.microsoft.com/office/drawing/2014/main" id="{EAC1A7BD-AB59-42E8-0520-220B5C8A8965}"/>
              </a:ext>
            </a:extLst>
          </p:cNvPr>
          <p:cNvSpPr txBox="1">
            <a:spLocks noChangeArrowheads="1"/>
          </p:cNvSpPr>
          <p:nvPr/>
        </p:nvSpPr>
        <p:spPr bwMode="auto">
          <a:xfrm>
            <a:off x="39997" y="520412"/>
            <a:ext cx="2518007" cy="304800"/>
          </a:xfrm>
          <a:prstGeom prst="rect">
            <a:avLst/>
          </a:prstGeom>
          <a:noFill/>
          <a:ln w="9525" algn="ctr">
            <a:noFill/>
            <a:miter lim="800000"/>
            <a:headEnd/>
            <a:tailEnd/>
          </a:ln>
        </p:spPr>
        <p:txBody>
          <a:bodyPr lIns="84374" tIns="42187" rIns="84374" bIns="42187" anchor="ctr"/>
          <a:lstStyle/>
          <a:p>
            <a:pPr marL="171450" indent="-171450" defTabSz="844083" fontAlgn="base" latinLnBrk="1">
              <a:spcBef>
                <a:spcPct val="0"/>
              </a:spcBef>
              <a:spcAft>
                <a:spcPct val="0"/>
              </a:spcAft>
              <a:buFont typeface="Wingdings" panose="05000000000000000000" pitchFamily="2" charset="2"/>
              <a:buChar char="q"/>
              <a:defRPr/>
            </a:pPr>
            <a:r>
              <a:rPr lang="en-US" altLang="ko-KR" sz="1200" b="1" dirty="0">
                <a:solidFill>
                  <a:srgbClr val="000000"/>
                </a:solidFill>
                <a:latin typeface="Arial Narrow" panose="020B0606020202030204" pitchFamily="34" charset="0"/>
                <a:ea typeface="LG Smart_H Regular" panose="020B0600000101010101" pitchFamily="34" charset="-127"/>
                <a:cs typeface="Arial" panose="020B0604020202020204" pitchFamily="34" charset="0"/>
              </a:rPr>
              <a:t>2 Samples T _ Analysis for 2 case </a:t>
            </a:r>
            <a:endParaRPr lang="ko-KR" altLang="en-US" sz="1200" b="1" dirty="0">
              <a:solidFill>
                <a:srgbClr val="000000"/>
              </a:solidFill>
              <a:latin typeface="Arial Narrow" panose="020B0606020202030204" pitchFamily="34" charset="0"/>
              <a:ea typeface="LG Smart_H Regular" panose="020B0600000101010101" pitchFamily="34" charset="-127"/>
              <a:cs typeface="Arial" panose="020B0604020202020204" pitchFamily="34" charset="0"/>
            </a:endParaRPr>
          </a:p>
        </p:txBody>
      </p:sp>
      <p:sp>
        <p:nvSpPr>
          <p:cNvPr id="26" name="Rectangle 25">
            <a:extLst>
              <a:ext uri="{FF2B5EF4-FFF2-40B4-BE49-F238E27FC236}">
                <a16:creationId xmlns:a16="http://schemas.microsoft.com/office/drawing/2014/main" id="{21F2A7F4-BD34-284B-287A-11812E8E58EA}"/>
              </a:ext>
            </a:extLst>
          </p:cNvPr>
          <p:cNvSpPr/>
          <p:nvPr/>
        </p:nvSpPr>
        <p:spPr>
          <a:xfrm>
            <a:off x="131701" y="5053377"/>
            <a:ext cx="5800323" cy="948092"/>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defRPr/>
            </a:pPr>
            <a:r>
              <a:rPr lang="en-US" sz="1100" b="1" dirty="0">
                <a:solidFill>
                  <a:schemeClr val="tx1"/>
                </a:solidFill>
                <a:latin typeface="Arial Narrow" panose="020B0606020202030204" pitchFamily="34" charset="0"/>
                <a:ea typeface="LG Smart_H Regular" panose="020B0600000101010101" pitchFamily="34" charset="-127"/>
                <a:cs typeface="Arial" panose="020B0604020202020204" pitchFamily="34" charset="0"/>
              </a:rPr>
              <a:t>Conclusion : </a:t>
            </a:r>
            <a:r>
              <a:rPr lang="en-US" sz="1100" dirty="0">
                <a:solidFill>
                  <a:schemeClr val="tx1"/>
                </a:solidFill>
                <a:latin typeface="Arial Narrow" panose="020B0606020202030204" pitchFamily="34" charset="0"/>
                <a:ea typeface="LG Smart_H Regular" panose="020B0600000101010101" pitchFamily="34" charset="-127"/>
                <a:cs typeface="Arial" panose="020B0604020202020204" pitchFamily="34" charset="0"/>
              </a:rPr>
              <a:t>we chose 20 samples before improving and 20 samples after improving</a:t>
            </a:r>
          </a:p>
          <a:p>
            <a:pPr fontAlgn="auto">
              <a:spcBef>
                <a:spcPts val="0"/>
              </a:spcBef>
              <a:spcAft>
                <a:spcPts val="0"/>
              </a:spcAft>
              <a:defRPr/>
            </a:pPr>
            <a:r>
              <a:rPr lang="en-US" sz="1100" dirty="0">
                <a:solidFill>
                  <a:schemeClr val="tx1"/>
                </a:solidFill>
                <a:latin typeface="Arial Narrow" panose="020B0606020202030204" pitchFamily="34" charset="0"/>
                <a:ea typeface="LG Smart_H Regular" panose="020B0600000101010101" pitchFamily="34" charset="-127"/>
                <a:cs typeface="Arial" panose="020B0604020202020204" pitchFamily="34" charset="0"/>
              </a:rPr>
              <a:t>H0: Change the sequence in </a:t>
            </a:r>
            <a:r>
              <a:rPr lang="en-US" sz="1100" dirty="0" err="1">
                <a:solidFill>
                  <a:schemeClr val="tx1"/>
                </a:solidFill>
                <a:latin typeface="Arial Narrow" panose="020B0606020202030204" pitchFamily="34" charset="0"/>
                <a:ea typeface="LG Smart_H Regular" panose="020B0600000101010101" pitchFamily="34" charset="-127"/>
                <a:cs typeface="Arial" panose="020B0604020202020204" pitchFamily="34" charset="0"/>
              </a:rPr>
              <a:t>jobfile</a:t>
            </a:r>
            <a:r>
              <a:rPr lang="en-US" sz="1100" dirty="0">
                <a:solidFill>
                  <a:schemeClr val="tx1"/>
                </a:solidFill>
                <a:latin typeface="Arial Narrow" panose="020B0606020202030204" pitchFamily="34" charset="0"/>
                <a:ea typeface="LG Smart_H Regular" panose="020B0600000101010101" pitchFamily="34" charset="-127"/>
                <a:cs typeface="Arial" panose="020B0604020202020204" pitchFamily="34" charset="0"/>
              </a:rPr>
              <a:t> not effect to distortion</a:t>
            </a:r>
          </a:p>
          <a:p>
            <a:pPr>
              <a:defRPr/>
            </a:pPr>
            <a:r>
              <a:rPr lang="en-US" sz="1100" dirty="0">
                <a:solidFill>
                  <a:schemeClr val="tx1"/>
                </a:solidFill>
                <a:latin typeface="Arial Narrow" panose="020B0606020202030204" pitchFamily="34" charset="0"/>
                <a:ea typeface="LG Smart_H Regular" panose="020B0600000101010101" pitchFamily="34" charset="-127"/>
                <a:cs typeface="Arial" panose="020B0604020202020204" pitchFamily="34" charset="0"/>
              </a:rPr>
              <a:t>H1: Change the sequence in </a:t>
            </a:r>
            <a:r>
              <a:rPr lang="en-US" sz="1100" dirty="0" err="1">
                <a:solidFill>
                  <a:schemeClr val="tx1"/>
                </a:solidFill>
                <a:latin typeface="Arial Narrow" panose="020B0606020202030204" pitchFamily="34" charset="0"/>
                <a:ea typeface="LG Smart_H Regular" panose="020B0600000101010101" pitchFamily="34" charset="-127"/>
                <a:cs typeface="Arial" panose="020B0604020202020204" pitchFamily="34" charset="0"/>
              </a:rPr>
              <a:t>jobfile</a:t>
            </a:r>
            <a:r>
              <a:rPr lang="en-US" sz="1100" dirty="0">
                <a:solidFill>
                  <a:schemeClr val="tx1"/>
                </a:solidFill>
                <a:latin typeface="Arial Narrow" panose="020B0606020202030204" pitchFamily="34" charset="0"/>
                <a:ea typeface="LG Smart_H Regular" panose="020B0600000101010101" pitchFamily="34" charset="-127"/>
                <a:cs typeface="Arial" panose="020B0604020202020204" pitchFamily="34" charset="0"/>
              </a:rPr>
              <a:t> effect to distortion</a:t>
            </a:r>
          </a:p>
          <a:p>
            <a:pPr>
              <a:defRPr/>
            </a:pPr>
            <a:r>
              <a:rPr lang="en-US" sz="1100" dirty="0">
                <a:solidFill>
                  <a:schemeClr val="tx1"/>
                </a:solidFill>
                <a:latin typeface="Arial Narrow" panose="020B0606020202030204" pitchFamily="34" charset="0"/>
                <a:ea typeface="LG Smart_H Regular" panose="020B0600000101010101" pitchFamily="34" charset="-127"/>
                <a:cs typeface="Arial" panose="020B0604020202020204" pitchFamily="34" charset="0"/>
              </a:rPr>
              <a:t>P value = 0.000 ≤ 0.05 </a:t>
            </a:r>
            <a:r>
              <a:rPr lang="en-US" sz="1100">
                <a:solidFill>
                  <a:schemeClr val="tx1"/>
                </a:solidFill>
                <a:latin typeface="Arial Narrow" panose="020B0606020202030204" pitchFamily="34" charset="0"/>
                <a:ea typeface="LG Smart_H Regular" panose="020B0600000101010101" pitchFamily="34" charset="-127"/>
                <a:cs typeface="Arial" panose="020B0604020202020204" pitchFamily="34" charset="0"/>
              </a:rPr>
              <a:t>→ reject H0</a:t>
            </a:r>
            <a:endParaRPr lang="en-US" sz="1100" dirty="0">
              <a:solidFill>
                <a:schemeClr val="tx1"/>
              </a:solidFill>
              <a:latin typeface="Arial Narrow" panose="020B0606020202030204" pitchFamily="34" charset="0"/>
              <a:ea typeface="LG Smart_H Regular" panose="020B0600000101010101" pitchFamily="34" charset="-127"/>
              <a:cs typeface="Arial" panose="020B0604020202020204" pitchFamily="34" charset="0"/>
            </a:endParaRPr>
          </a:p>
          <a:p>
            <a:pPr>
              <a:defRPr/>
            </a:pPr>
            <a:r>
              <a:rPr lang="en-US" sz="1100" dirty="0">
                <a:solidFill>
                  <a:schemeClr val="tx1"/>
                </a:solidFill>
                <a:latin typeface="Arial Narrow" panose="020B0606020202030204" pitchFamily="34" charset="0"/>
                <a:ea typeface="LG Smart_H Regular" panose="020B0600000101010101" pitchFamily="34" charset="-127"/>
                <a:cs typeface="Arial" panose="020B0604020202020204" pitchFamily="34" charset="0"/>
              </a:rPr>
              <a:t>→ The charts showed that measurement values have different between before samples and after samples</a:t>
            </a:r>
          </a:p>
        </p:txBody>
      </p:sp>
      <p:cxnSp>
        <p:nvCxnSpPr>
          <p:cNvPr id="8" name="Straight Connector 7">
            <a:extLst>
              <a:ext uri="{FF2B5EF4-FFF2-40B4-BE49-F238E27FC236}">
                <a16:creationId xmlns:a16="http://schemas.microsoft.com/office/drawing/2014/main" id="{C59BBF38-485D-F42B-D96F-03EB2F6943A2}"/>
              </a:ext>
            </a:extLst>
          </p:cNvPr>
          <p:cNvCxnSpPr/>
          <p:nvPr/>
        </p:nvCxnSpPr>
        <p:spPr>
          <a:xfrm>
            <a:off x="-12488" y="561513"/>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9" name="제목 1">
            <a:extLst>
              <a:ext uri="{FF2B5EF4-FFF2-40B4-BE49-F238E27FC236}">
                <a16:creationId xmlns:a16="http://schemas.microsoft.com/office/drawing/2014/main" id="{008B7D3E-10F4-BB00-614D-B2337C4415D5}"/>
              </a:ext>
            </a:extLst>
          </p:cNvPr>
          <p:cNvSpPr txBox="1">
            <a:spLocks/>
          </p:cNvSpPr>
          <p:nvPr/>
        </p:nvSpPr>
        <p:spPr>
          <a:xfrm>
            <a:off x="27541" y="64338"/>
            <a:ext cx="6525659" cy="418058"/>
          </a:xfrm>
          <a:prstGeom prst="rect">
            <a:avLst/>
          </a:prstGeom>
        </p:spPr>
        <p:txBody>
          <a:bodyPr vert="horz" lIns="91440" tIns="45720" rIns="91440" bIns="45720" rtlCol="0" anchor="ctr">
            <a:noAutofit/>
          </a:bodyPr>
          <a:lstStyle/>
          <a:p>
            <a:pPr eaLnBrk="0" hangingPunct="0">
              <a:defRPr/>
            </a:pPr>
            <a:r>
              <a:rPr lang="en-US" altLang="ko-KR" sz="2000" b="1" kern="0" dirty="0">
                <a:solidFill>
                  <a:srgbClr val="000000"/>
                </a:solidFill>
                <a:latin typeface="Arial Narrow" panose="020B0606020202030204" pitchFamily="34" charset="0"/>
                <a:ea typeface="LG Smart_H Regular" pitchFamily="34" charset="-127"/>
              </a:rPr>
              <a:t>3. Find the Root Cause that making distortion issue</a:t>
            </a:r>
            <a:endParaRPr lang="ko-KR" altLang="en-US" sz="2000" b="1" kern="0" dirty="0">
              <a:solidFill>
                <a:srgbClr val="000000"/>
              </a:solidFill>
              <a:latin typeface="Arial Narrow" panose="020B0606020202030204" pitchFamily="34" charset="0"/>
              <a:ea typeface="LG Smart_H Regular" pitchFamily="34" charset="-127"/>
            </a:endParaRPr>
          </a:p>
        </p:txBody>
      </p:sp>
      <p:sp>
        <p:nvSpPr>
          <p:cNvPr id="7" name="TextBox 6">
            <a:extLst>
              <a:ext uri="{FF2B5EF4-FFF2-40B4-BE49-F238E27FC236}">
                <a16:creationId xmlns:a16="http://schemas.microsoft.com/office/drawing/2014/main" id="{0D5BCAD5-A228-16B4-4801-C569551D8F85}"/>
              </a:ext>
            </a:extLst>
          </p:cNvPr>
          <p:cNvSpPr txBox="1"/>
          <p:nvPr/>
        </p:nvSpPr>
        <p:spPr>
          <a:xfrm>
            <a:off x="205449" y="804081"/>
            <a:ext cx="3834116" cy="261610"/>
          </a:xfrm>
          <a:prstGeom prst="rect">
            <a:avLst/>
          </a:prstGeom>
          <a:noFill/>
        </p:spPr>
        <p:txBody>
          <a:bodyPr wrap="square">
            <a:spAutoFit/>
          </a:bodyPr>
          <a:lstStyle/>
          <a:p>
            <a:pPr fontAlgn="ctr"/>
            <a:r>
              <a:rPr lang="en-US" sz="1100" b="1" dirty="0">
                <a:latin typeface="Arial Narrow" panose="020B0606020202030204" pitchFamily="34" charset="0"/>
                <a:ea typeface="LG Smart_H Regular" panose="020B0600000101010101" pitchFamily="34" charset="-127"/>
                <a:sym typeface="Wingdings" panose="05000000000000000000" pitchFamily="2" charset="2"/>
              </a:rPr>
              <a:t>Change the sequence of job file – move USB test before AUX test</a:t>
            </a:r>
            <a:endParaRPr lang="en-US" sz="1100" b="1" dirty="0">
              <a:solidFill>
                <a:srgbClr val="000000"/>
              </a:solidFill>
              <a:latin typeface="Arial Narrow" panose="020B0606020202030204" pitchFamily="34" charset="0"/>
            </a:endParaRPr>
          </a:p>
        </p:txBody>
      </p:sp>
      <p:graphicFrame>
        <p:nvGraphicFramePr>
          <p:cNvPr id="12" name="Table 11">
            <a:extLst>
              <a:ext uri="{FF2B5EF4-FFF2-40B4-BE49-F238E27FC236}">
                <a16:creationId xmlns:a16="http://schemas.microsoft.com/office/drawing/2014/main" id="{444C4362-E400-DA32-5763-1A064A847BF0}"/>
              </a:ext>
            </a:extLst>
          </p:cNvPr>
          <p:cNvGraphicFramePr>
            <a:graphicFrameLocks noGrp="1"/>
          </p:cNvGraphicFramePr>
          <p:nvPr>
            <p:extLst>
              <p:ext uri="{D42A27DB-BD31-4B8C-83A1-F6EECF244321}">
                <p14:modId xmlns:p14="http://schemas.microsoft.com/office/powerpoint/2010/main" val="1578362976"/>
              </p:ext>
            </p:extLst>
          </p:nvPr>
        </p:nvGraphicFramePr>
        <p:xfrm>
          <a:off x="298129" y="1101827"/>
          <a:ext cx="2654300" cy="3733800"/>
        </p:xfrm>
        <a:graphic>
          <a:graphicData uri="http://schemas.openxmlformats.org/drawingml/2006/table">
            <a:tbl>
              <a:tblPr>
                <a:tableStyleId>{2D5ABB26-0587-4C30-8999-92F81FD0307C}</a:tableStyleId>
              </a:tblPr>
              <a:tblGrid>
                <a:gridCol w="254000">
                  <a:extLst>
                    <a:ext uri="{9D8B030D-6E8A-4147-A177-3AD203B41FA5}">
                      <a16:colId xmlns:a16="http://schemas.microsoft.com/office/drawing/2014/main" val="1905661555"/>
                    </a:ext>
                  </a:extLst>
                </a:gridCol>
                <a:gridCol w="1270000">
                  <a:extLst>
                    <a:ext uri="{9D8B030D-6E8A-4147-A177-3AD203B41FA5}">
                      <a16:colId xmlns:a16="http://schemas.microsoft.com/office/drawing/2014/main" val="1150105319"/>
                    </a:ext>
                  </a:extLst>
                </a:gridCol>
                <a:gridCol w="1130300">
                  <a:extLst>
                    <a:ext uri="{9D8B030D-6E8A-4147-A177-3AD203B41FA5}">
                      <a16:colId xmlns:a16="http://schemas.microsoft.com/office/drawing/2014/main" val="3750473024"/>
                    </a:ext>
                  </a:extLst>
                </a:gridCol>
              </a:tblGrid>
              <a:tr h="177800">
                <a:tc>
                  <a:txBody>
                    <a:bodyPr/>
                    <a:lstStyle/>
                    <a:p>
                      <a:pPr algn="ctr" fontAlgn="ctr">
                        <a:buNone/>
                      </a:pPr>
                      <a:r>
                        <a:rPr lang="en-US" sz="1100" b="1" i="0" u="none" strike="noStrike" dirty="0">
                          <a:solidFill>
                            <a:schemeClr val="tx1"/>
                          </a:solidFill>
                          <a:effectLst/>
                          <a:latin typeface="Arial Narrow" panose="020B0606020202030204" pitchFamily="34" charset="0"/>
                        </a:rPr>
                        <a:t>No</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ctr">
                        <a:buNone/>
                      </a:pPr>
                      <a:r>
                        <a:rPr lang="en-US" sz="1100" b="1" i="0" u="none" strike="noStrike">
                          <a:solidFill>
                            <a:schemeClr val="tx1"/>
                          </a:solidFill>
                          <a:effectLst/>
                          <a:latin typeface="Arial Narrow" panose="020B0606020202030204" pitchFamily="34" charset="0"/>
                        </a:rPr>
                        <a:t>Before_Sequence</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ctr">
                        <a:buNone/>
                      </a:pPr>
                      <a:r>
                        <a:rPr lang="en-US" sz="1100" b="1" i="0" u="none" strike="noStrike">
                          <a:solidFill>
                            <a:schemeClr val="tx1"/>
                          </a:solidFill>
                          <a:effectLst/>
                          <a:latin typeface="Arial Narrow" panose="020B0606020202030204" pitchFamily="34" charset="0"/>
                        </a:rPr>
                        <a:t>After_Sequence</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390148847"/>
                  </a:ext>
                </a:extLst>
              </a:tr>
              <a:tr h="177800">
                <a:tc>
                  <a:txBody>
                    <a:bodyPr/>
                    <a:lstStyle/>
                    <a:p>
                      <a:pPr algn="ctr" fontAlgn="ctr">
                        <a:buNone/>
                      </a:pPr>
                      <a:r>
                        <a:rPr lang="en-US" sz="1100" b="0" i="0" u="none" strike="noStrike">
                          <a:solidFill>
                            <a:schemeClr val="tx1"/>
                          </a:solidFill>
                          <a:effectLst/>
                          <a:latin typeface="Arial Narrow" panose="020B0606020202030204" pitchFamily="34" charset="0"/>
                        </a:rPr>
                        <a:t>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dirty="0">
                          <a:solidFill>
                            <a:schemeClr val="tx1"/>
                          </a:solidFill>
                          <a:effectLst/>
                          <a:latin typeface="Arial Narrow" panose="020B0606020202030204" pitchFamily="34" charset="0"/>
                        </a:rPr>
                        <a:t>0.68</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0.14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16537084"/>
                  </a:ext>
                </a:extLst>
              </a:tr>
              <a:tr h="177800">
                <a:tc>
                  <a:txBody>
                    <a:bodyPr/>
                    <a:lstStyle/>
                    <a:p>
                      <a:pPr algn="ctr" fontAlgn="ctr">
                        <a:buNone/>
                      </a:pPr>
                      <a:r>
                        <a:rPr lang="en-US" sz="1100" b="0" i="0" u="none" strike="noStrike">
                          <a:solidFill>
                            <a:schemeClr val="tx1"/>
                          </a:solidFill>
                          <a:effectLst/>
                          <a:latin typeface="Arial Narrow" panose="020B0606020202030204" pitchFamily="34" charset="0"/>
                        </a:rPr>
                        <a:t>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0.94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0.18</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4153935"/>
                  </a:ext>
                </a:extLst>
              </a:tr>
              <a:tr h="177800">
                <a:tc>
                  <a:txBody>
                    <a:bodyPr/>
                    <a:lstStyle/>
                    <a:p>
                      <a:pPr algn="ctr" fontAlgn="ctr">
                        <a:buNone/>
                      </a:pPr>
                      <a:r>
                        <a:rPr lang="en-US" sz="1100" b="0" i="0" u="none" strike="noStrike">
                          <a:solidFill>
                            <a:schemeClr val="tx1"/>
                          </a:solidFill>
                          <a:effectLst/>
                          <a:latin typeface="Arial Narrow" panose="020B0606020202030204" pitchFamily="34" charset="0"/>
                        </a:rPr>
                        <a:t>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0.83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0.21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7426389"/>
                  </a:ext>
                </a:extLst>
              </a:tr>
              <a:tr h="177800">
                <a:tc>
                  <a:txBody>
                    <a:bodyPr/>
                    <a:lstStyle/>
                    <a:p>
                      <a:pPr algn="ctr" fontAlgn="ctr">
                        <a:buNone/>
                      </a:pPr>
                      <a:r>
                        <a:rPr lang="en-US" sz="1100" b="0" i="0" u="none" strike="noStrike">
                          <a:solidFill>
                            <a:schemeClr val="tx1"/>
                          </a:solidFill>
                          <a:effectLst/>
                          <a:latin typeface="Arial Narrow" panose="020B0606020202030204" pitchFamily="34" charset="0"/>
                        </a:rPr>
                        <a:t>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1.05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0.16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768460"/>
                  </a:ext>
                </a:extLst>
              </a:tr>
              <a:tr h="177800">
                <a:tc>
                  <a:txBody>
                    <a:bodyPr/>
                    <a:lstStyle/>
                    <a:p>
                      <a:pPr algn="ctr" fontAlgn="ctr">
                        <a:buNone/>
                      </a:pPr>
                      <a:r>
                        <a:rPr lang="en-US" sz="1100" b="0" i="0" u="none" strike="noStrike">
                          <a:solidFill>
                            <a:schemeClr val="tx1"/>
                          </a:solidFill>
                          <a:effectLst/>
                          <a:latin typeface="Arial Narrow" panose="020B0606020202030204" pitchFamily="34" charset="0"/>
                        </a:rPr>
                        <a:t>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0.74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0.20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4318839"/>
                  </a:ext>
                </a:extLst>
              </a:tr>
              <a:tr h="177800">
                <a:tc>
                  <a:txBody>
                    <a:bodyPr/>
                    <a:lstStyle/>
                    <a:p>
                      <a:pPr algn="ctr" fontAlgn="ctr">
                        <a:buNone/>
                      </a:pPr>
                      <a:r>
                        <a:rPr lang="en-US" sz="1100" b="0" i="0" u="none" strike="noStrike">
                          <a:solidFill>
                            <a:schemeClr val="tx1"/>
                          </a:solidFill>
                          <a:effectLst/>
                          <a:latin typeface="Arial Narrow" panose="020B0606020202030204" pitchFamily="34" charset="0"/>
                        </a:rPr>
                        <a:t>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1.18</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0.15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7564463"/>
                  </a:ext>
                </a:extLst>
              </a:tr>
              <a:tr h="177800">
                <a:tc>
                  <a:txBody>
                    <a:bodyPr/>
                    <a:lstStyle/>
                    <a:p>
                      <a:pPr algn="ctr" fontAlgn="ctr">
                        <a:buNone/>
                      </a:pPr>
                      <a:r>
                        <a:rPr lang="en-US" sz="1100" b="0" i="0" u="none" strike="noStrike">
                          <a:solidFill>
                            <a:schemeClr val="tx1"/>
                          </a:solidFill>
                          <a:effectLst/>
                          <a:latin typeface="Arial Narrow" panose="020B0606020202030204" pitchFamily="34" charset="0"/>
                        </a:rPr>
                        <a:t>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0.88</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0.19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5357360"/>
                  </a:ext>
                </a:extLst>
              </a:tr>
              <a:tr h="177800">
                <a:tc>
                  <a:txBody>
                    <a:bodyPr/>
                    <a:lstStyle/>
                    <a:p>
                      <a:pPr algn="ctr" fontAlgn="ctr">
                        <a:buNone/>
                      </a:pPr>
                      <a:r>
                        <a:rPr lang="en-US" sz="1100" b="0" i="0" u="none" strike="noStrike">
                          <a:solidFill>
                            <a:schemeClr val="tx1"/>
                          </a:solidFill>
                          <a:effectLst/>
                          <a:latin typeface="Arial Narrow" panose="020B0606020202030204" pitchFamily="34" charset="0"/>
                        </a:rPr>
                        <a:t>8</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1.12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0.17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27800228"/>
                  </a:ext>
                </a:extLst>
              </a:tr>
              <a:tr h="177800">
                <a:tc>
                  <a:txBody>
                    <a:bodyPr/>
                    <a:lstStyle/>
                    <a:p>
                      <a:pPr algn="ctr" fontAlgn="ctr">
                        <a:buNone/>
                      </a:pPr>
                      <a:r>
                        <a:rPr lang="en-US" sz="1100" b="0" i="0" u="none" strike="noStrike">
                          <a:solidFill>
                            <a:schemeClr val="tx1"/>
                          </a:solidFill>
                          <a:effectLst/>
                          <a:latin typeface="Arial Narrow" panose="020B0606020202030204" pitchFamily="34" charset="0"/>
                        </a:rPr>
                        <a:t>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0.79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0.22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1186534"/>
                  </a:ext>
                </a:extLst>
              </a:tr>
              <a:tr h="177800">
                <a:tc>
                  <a:txBody>
                    <a:bodyPr/>
                    <a:lstStyle/>
                    <a:p>
                      <a:pPr algn="ctr" fontAlgn="ctr">
                        <a:buNone/>
                      </a:pPr>
                      <a:r>
                        <a:rPr lang="en-US" sz="1100" b="0" i="0" u="none" strike="noStrike">
                          <a:solidFill>
                            <a:schemeClr val="tx1"/>
                          </a:solidFill>
                          <a:effectLst/>
                          <a:latin typeface="Arial Narrow" panose="020B0606020202030204" pitchFamily="34" charset="0"/>
                        </a:rPr>
                        <a:t>10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0.97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0.16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8487917"/>
                  </a:ext>
                </a:extLst>
              </a:tr>
              <a:tr h="177800">
                <a:tc>
                  <a:txBody>
                    <a:bodyPr/>
                    <a:lstStyle/>
                    <a:p>
                      <a:pPr algn="ctr" fontAlgn="ctr">
                        <a:buNone/>
                      </a:pPr>
                      <a:r>
                        <a:rPr lang="en-US" sz="1100" b="0" i="0" u="none" strike="noStrike">
                          <a:solidFill>
                            <a:schemeClr val="tx1"/>
                          </a:solidFill>
                          <a:effectLst/>
                          <a:latin typeface="Arial Narrow" panose="020B0606020202030204" pitchFamily="34" charset="0"/>
                        </a:rPr>
                        <a:t>11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0.72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0.18</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0718656"/>
                  </a:ext>
                </a:extLst>
              </a:tr>
              <a:tr h="177800">
                <a:tc>
                  <a:txBody>
                    <a:bodyPr/>
                    <a:lstStyle/>
                    <a:p>
                      <a:pPr algn="ctr" fontAlgn="ctr">
                        <a:buNone/>
                      </a:pPr>
                      <a:r>
                        <a:rPr lang="en-US" sz="1100" b="0" i="0" u="none" strike="noStrike">
                          <a:solidFill>
                            <a:schemeClr val="tx1"/>
                          </a:solidFill>
                          <a:effectLst/>
                          <a:latin typeface="Arial Narrow" panose="020B0606020202030204" pitchFamily="34" charset="0"/>
                        </a:rPr>
                        <a:t>12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dirty="0">
                          <a:solidFill>
                            <a:srgbClr val="FF0000"/>
                          </a:solidFill>
                          <a:effectLst/>
                          <a:latin typeface="Arial Narrow" panose="020B0606020202030204" pitchFamily="34" charset="0"/>
                        </a:rPr>
                        <a:t>1.31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0.20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9105288"/>
                  </a:ext>
                </a:extLst>
              </a:tr>
              <a:tr h="177800">
                <a:tc>
                  <a:txBody>
                    <a:bodyPr/>
                    <a:lstStyle/>
                    <a:p>
                      <a:pPr algn="ctr" fontAlgn="ctr">
                        <a:buNone/>
                      </a:pPr>
                      <a:r>
                        <a:rPr lang="en-US" sz="1100" b="0" i="0" u="none" strike="noStrike">
                          <a:solidFill>
                            <a:schemeClr val="tx1"/>
                          </a:solidFill>
                          <a:effectLst/>
                          <a:latin typeface="Arial Narrow" panose="020B0606020202030204" pitchFamily="34" charset="0"/>
                        </a:rPr>
                        <a:t>13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0.86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0.15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11400068"/>
                  </a:ext>
                </a:extLst>
              </a:tr>
              <a:tr h="177800">
                <a:tc>
                  <a:txBody>
                    <a:bodyPr/>
                    <a:lstStyle/>
                    <a:p>
                      <a:pPr algn="ctr" fontAlgn="ctr">
                        <a:buNone/>
                      </a:pPr>
                      <a:r>
                        <a:rPr lang="en-US" sz="1100" b="0" i="0" u="none" strike="noStrike">
                          <a:solidFill>
                            <a:schemeClr val="tx1"/>
                          </a:solidFill>
                          <a:effectLst/>
                          <a:latin typeface="Arial Narrow" panose="020B0606020202030204" pitchFamily="34" charset="0"/>
                        </a:rPr>
                        <a:t>14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1.08</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0.19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77961131"/>
                  </a:ext>
                </a:extLst>
              </a:tr>
              <a:tr h="177800">
                <a:tc>
                  <a:txBody>
                    <a:bodyPr/>
                    <a:lstStyle/>
                    <a:p>
                      <a:pPr algn="ctr" fontAlgn="ctr">
                        <a:buNone/>
                      </a:pPr>
                      <a:r>
                        <a:rPr lang="en-US" sz="1100" b="0" i="0" u="none" strike="noStrike">
                          <a:solidFill>
                            <a:schemeClr val="tx1"/>
                          </a:solidFill>
                          <a:effectLst/>
                          <a:latin typeface="Arial Narrow" panose="020B0606020202030204" pitchFamily="34" charset="0"/>
                        </a:rPr>
                        <a:t>15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0.76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0.14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8510106"/>
                  </a:ext>
                </a:extLst>
              </a:tr>
              <a:tr h="177800">
                <a:tc>
                  <a:txBody>
                    <a:bodyPr/>
                    <a:lstStyle/>
                    <a:p>
                      <a:pPr algn="ctr" fontAlgn="ctr">
                        <a:buNone/>
                      </a:pPr>
                      <a:r>
                        <a:rPr lang="en-US" sz="1100" b="0" i="0" u="none" strike="noStrike">
                          <a:solidFill>
                            <a:schemeClr val="tx1"/>
                          </a:solidFill>
                          <a:effectLst/>
                          <a:latin typeface="Arial Narrow" panose="020B0606020202030204" pitchFamily="34" charset="0"/>
                        </a:rPr>
                        <a:t>16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0.99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0.21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4125229"/>
                  </a:ext>
                </a:extLst>
              </a:tr>
              <a:tr h="177800">
                <a:tc>
                  <a:txBody>
                    <a:bodyPr/>
                    <a:lstStyle/>
                    <a:p>
                      <a:pPr algn="ctr" fontAlgn="ctr">
                        <a:buNone/>
                      </a:pPr>
                      <a:r>
                        <a:rPr lang="en-US" sz="1100" b="0" i="0" u="none" strike="noStrike">
                          <a:solidFill>
                            <a:schemeClr val="tx1"/>
                          </a:solidFill>
                          <a:effectLst/>
                          <a:latin typeface="Arial Narrow" panose="020B0606020202030204" pitchFamily="34" charset="0"/>
                        </a:rPr>
                        <a:t>17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0.81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0.17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9069796"/>
                  </a:ext>
                </a:extLst>
              </a:tr>
              <a:tr h="177800">
                <a:tc>
                  <a:txBody>
                    <a:bodyPr/>
                    <a:lstStyle/>
                    <a:p>
                      <a:pPr algn="ctr" fontAlgn="ctr">
                        <a:buNone/>
                      </a:pPr>
                      <a:r>
                        <a:rPr lang="en-US" sz="1100" b="0" i="0" u="none" strike="noStrike">
                          <a:solidFill>
                            <a:schemeClr val="tx1"/>
                          </a:solidFill>
                          <a:effectLst/>
                          <a:latin typeface="Arial Narrow" panose="020B0606020202030204" pitchFamily="34" charset="0"/>
                        </a:rPr>
                        <a:t>18</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1.17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0.18</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3628679"/>
                  </a:ext>
                </a:extLst>
              </a:tr>
              <a:tr h="177800">
                <a:tc>
                  <a:txBody>
                    <a:bodyPr/>
                    <a:lstStyle/>
                    <a:p>
                      <a:pPr algn="ctr" fontAlgn="ctr">
                        <a:buNone/>
                      </a:pPr>
                      <a:r>
                        <a:rPr lang="en-US" sz="1100" b="0" i="0" u="none" strike="noStrike">
                          <a:solidFill>
                            <a:schemeClr val="tx1"/>
                          </a:solidFill>
                          <a:effectLst/>
                          <a:latin typeface="Arial Narrow" panose="020B0606020202030204" pitchFamily="34" charset="0"/>
                        </a:rPr>
                        <a:t>19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0.91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a:solidFill>
                            <a:schemeClr val="tx1"/>
                          </a:solidFill>
                          <a:effectLst/>
                          <a:latin typeface="Arial Narrow" panose="020B0606020202030204" pitchFamily="34" charset="0"/>
                        </a:rPr>
                        <a:t>0.20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1469980"/>
                  </a:ext>
                </a:extLst>
              </a:tr>
              <a:tr h="177800">
                <a:tc>
                  <a:txBody>
                    <a:bodyPr/>
                    <a:lstStyle/>
                    <a:p>
                      <a:pPr algn="ctr" fontAlgn="ctr">
                        <a:buNone/>
                      </a:pPr>
                      <a:r>
                        <a:rPr lang="en-US" sz="1100" b="0" i="0" u="none" strike="noStrike">
                          <a:solidFill>
                            <a:schemeClr val="tx1"/>
                          </a:solidFill>
                          <a:effectLst/>
                          <a:latin typeface="Arial Narrow" panose="020B0606020202030204" pitchFamily="34" charset="0"/>
                        </a:rPr>
                        <a:t>20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dirty="0">
                          <a:solidFill>
                            <a:schemeClr val="tx1"/>
                          </a:solidFill>
                          <a:effectLst/>
                          <a:latin typeface="Arial Narrow" panose="020B0606020202030204" pitchFamily="34" charset="0"/>
                        </a:rPr>
                        <a:t>0.70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b="0" i="0" u="none" strike="noStrike" dirty="0">
                          <a:solidFill>
                            <a:schemeClr val="tx1"/>
                          </a:solidFill>
                          <a:effectLst/>
                          <a:latin typeface="Arial Narrow" panose="020B0606020202030204" pitchFamily="34" charset="0"/>
                        </a:rPr>
                        <a:t>0.16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7747399"/>
                  </a:ext>
                </a:extLst>
              </a:tr>
            </a:tbl>
          </a:graphicData>
        </a:graphic>
      </p:graphicFrame>
      <p:pic>
        <p:nvPicPr>
          <p:cNvPr id="3" name="Picture 2" descr="A screenshot of a test&#10;&#10;AI-generated content may be incorrect.">
            <a:extLst>
              <a:ext uri="{FF2B5EF4-FFF2-40B4-BE49-F238E27FC236}">
                <a16:creationId xmlns:a16="http://schemas.microsoft.com/office/drawing/2014/main" id="{DC3ECC12-1742-82E0-9F90-3824C5509C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69820" y="1101828"/>
            <a:ext cx="2275514" cy="3733800"/>
          </a:xfrm>
          <a:prstGeom prst="rect">
            <a:avLst/>
          </a:prstGeom>
        </p:spPr>
      </p:pic>
      <p:pic>
        <p:nvPicPr>
          <p:cNvPr id="6" name="Picture 5">
            <a:extLst>
              <a:ext uri="{FF2B5EF4-FFF2-40B4-BE49-F238E27FC236}">
                <a16:creationId xmlns:a16="http://schemas.microsoft.com/office/drawing/2014/main" id="{51E1FCF9-402A-CE25-729C-DD1C16EED7BF}"/>
              </a:ext>
            </a:extLst>
          </p:cNvPr>
          <p:cNvPicPr>
            <a:picLocks noChangeAspect="1"/>
          </p:cNvPicPr>
          <p:nvPr/>
        </p:nvPicPr>
        <p:blipFill>
          <a:blip r:embed="rId4"/>
          <a:stretch>
            <a:fillRect/>
          </a:stretch>
        </p:blipFill>
        <p:spPr>
          <a:xfrm>
            <a:off x="5714807" y="1101826"/>
            <a:ext cx="4054225" cy="2702817"/>
          </a:xfrm>
          <a:prstGeom prst="rect">
            <a:avLst/>
          </a:prstGeom>
        </p:spPr>
      </p:pic>
    </p:spTree>
    <p:extLst>
      <p:ext uri="{BB962C8B-B14F-4D97-AF65-F5344CB8AC3E}">
        <p14:creationId xmlns:p14="http://schemas.microsoft.com/office/powerpoint/2010/main" val="20890357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643113EA-D468-3B8E-AC54-7B0BDFBFD03F}"/>
              </a:ext>
            </a:extLst>
          </p:cNvPr>
          <p:cNvGraphicFramePr>
            <a:graphicFrameLocks noGrp="1"/>
          </p:cNvGraphicFramePr>
          <p:nvPr>
            <p:extLst>
              <p:ext uri="{D42A27DB-BD31-4B8C-83A1-F6EECF244321}">
                <p14:modId xmlns:p14="http://schemas.microsoft.com/office/powerpoint/2010/main" val="566168398"/>
              </p:ext>
            </p:extLst>
          </p:nvPr>
        </p:nvGraphicFramePr>
        <p:xfrm>
          <a:off x="484445" y="1100443"/>
          <a:ext cx="8646301" cy="2130540"/>
        </p:xfrm>
        <a:graphic>
          <a:graphicData uri="http://schemas.openxmlformats.org/drawingml/2006/table">
            <a:tbl>
              <a:tblPr/>
              <a:tblGrid>
                <a:gridCol w="558298">
                  <a:extLst>
                    <a:ext uri="{9D8B030D-6E8A-4147-A177-3AD203B41FA5}">
                      <a16:colId xmlns:a16="http://schemas.microsoft.com/office/drawing/2014/main" val="675507370"/>
                    </a:ext>
                  </a:extLst>
                </a:gridCol>
                <a:gridCol w="2628653">
                  <a:extLst>
                    <a:ext uri="{9D8B030D-6E8A-4147-A177-3AD203B41FA5}">
                      <a16:colId xmlns:a16="http://schemas.microsoft.com/office/drawing/2014/main" val="851657989"/>
                    </a:ext>
                  </a:extLst>
                </a:gridCol>
                <a:gridCol w="4094186">
                  <a:extLst>
                    <a:ext uri="{9D8B030D-6E8A-4147-A177-3AD203B41FA5}">
                      <a16:colId xmlns:a16="http://schemas.microsoft.com/office/drawing/2014/main" val="4121057302"/>
                    </a:ext>
                  </a:extLst>
                </a:gridCol>
                <a:gridCol w="1365164">
                  <a:extLst>
                    <a:ext uri="{9D8B030D-6E8A-4147-A177-3AD203B41FA5}">
                      <a16:colId xmlns:a16="http://schemas.microsoft.com/office/drawing/2014/main" val="6004670"/>
                    </a:ext>
                  </a:extLst>
                </a:gridCol>
              </a:tblGrid>
              <a:tr h="532635">
                <a:tc>
                  <a:txBody>
                    <a:bodyPr/>
                    <a:lstStyle/>
                    <a:p>
                      <a:pPr algn="ctr" rtl="0" fontAlgn="ctr"/>
                      <a:r>
                        <a:rPr lang="en-US" sz="1100" b="1" i="0" u="none" strike="noStrike">
                          <a:solidFill>
                            <a:srgbClr val="000000"/>
                          </a:solidFill>
                          <a:effectLst/>
                          <a:latin typeface="Arial Narrow" panose="020B0606020202030204" pitchFamily="34" charset="0"/>
                        </a:rPr>
                        <a:t>No</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fontAlgn="ctr"/>
                      <a:r>
                        <a:rPr lang="en-US" sz="1100" b="1" i="0" u="none" strike="noStrike">
                          <a:solidFill>
                            <a:srgbClr val="000000"/>
                          </a:solidFill>
                          <a:effectLst/>
                          <a:latin typeface="Arial Narrow" panose="020B0606020202030204" pitchFamily="34" charset="0"/>
                        </a:rPr>
                        <a:t>Potential Factors</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fontAlgn="ctr"/>
                      <a:r>
                        <a:rPr lang="en-US" sz="1100" b="1" i="0" u="none" strike="noStrike">
                          <a:solidFill>
                            <a:srgbClr val="000000"/>
                          </a:solidFill>
                          <a:effectLst/>
                          <a:latin typeface="Arial Narrow" panose="020B0606020202030204" pitchFamily="34" charset="0"/>
                        </a:rPr>
                        <a:t>What is looking for ?</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fontAlgn="ctr"/>
                      <a:r>
                        <a:rPr lang="en-US" sz="1100" b="1" i="0" u="none" strike="noStrike">
                          <a:solidFill>
                            <a:srgbClr val="000000"/>
                          </a:solidFill>
                          <a:effectLst/>
                          <a:latin typeface="Arial Narrow" panose="020B0606020202030204" pitchFamily="34" charset="0"/>
                        </a:rPr>
                        <a:t>Tool to identify</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extLst>
                  <a:ext uri="{0D108BD9-81ED-4DB2-BD59-A6C34878D82A}">
                    <a16:rowId xmlns:a16="http://schemas.microsoft.com/office/drawing/2014/main" val="2406186259"/>
                  </a:ext>
                </a:extLst>
              </a:tr>
              <a:tr h="532635">
                <a:tc>
                  <a:txBody>
                    <a:bodyPr/>
                    <a:lstStyle/>
                    <a:p>
                      <a:pPr algn="ctr" fontAlgn="ctr"/>
                      <a:r>
                        <a:rPr lang="en-US" sz="1100" b="0" i="0" u="none" strike="noStrike">
                          <a:solidFill>
                            <a:srgbClr val="000000"/>
                          </a:solidFill>
                          <a:effectLst/>
                          <a:latin typeface="Arial Narrow" panose="020B0606020202030204" pitchFamily="34" charset="0"/>
                        </a:rPr>
                        <a:t>1</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1" algn="l" fontAlgn="auto">
                        <a:spcBef>
                          <a:spcPts val="0"/>
                        </a:spcBef>
                        <a:spcAft>
                          <a:spcPts val="0"/>
                        </a:spcAft>
                        <a:defRPr/>
                      </a:pPr>
                      <a:r>
                        <a:rPr lang="en-US" sz="1100" dirty="0">
                          <a:solidFill>
                            <a:prstClr val="black"/>
                          </a:solidFill>
                          <a:latin typeface="Arial Narrow" panose="020B0606020202030204" pitchFamily="34" charset="0"/>
                          <a:ea typeface="LG Smart_H Regular" panose="020B0600000101010101" pitchFamily="34" charset="-127"/>
                          <a:cs typeface="Arial" pitchFamily="34" charset="0"/>
                        </a:rPr>
                        <a:t>Power supply</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1" algn="l" fontAlgn="ctr"/>
                      <a:r>
                        <a:rPr lang="en-US" sz="1100" dirty="0">
                          <a:latin typeface="Arial Narrow" panose="020B0606020202030204" pitchFamily="34" charset="0"/>
                          <a:ea typeface="LG Smart_H Regular" panose="020B0600000101010101" pitchFamily="34" charset="-127"/>
                          <a:cs typeface="Arial" panose="020B0604020202020204" pitchFamily="34" charset="0"/>
                        </a:rPr>
                        <a:t>Separate power supply from test bench to improve power quality</a:t>
                      </a:r>
                      <a:endParaRPr lang="en-US" sz="1100" b="0" i="0" u="none" strike="noStrike" dirty="0">
                        <a:solidFill>
                          <a:srgbClr val="000000"/>
                        </a:solidFill>
                        <a:effectLst/>
                        <a:latin typeface="Arial Narrow" panose="020B0606020202030204" pitchFamily="34" charset="0"/>
                      </a:endParaRP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Narrow" panose="020B0606020202030204" pitchFamily="34" charset="0"/>
                        </a:rPr>
                        <a:t>2 sample T test</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21720531"/>
                  </a:ext>
                </a:extLst>
              </a:tr>
              <a:tr h="532635">
                <a:tc>
                  <a:txBody>
                    <a:bodyPr/>
                    <a:lstStyle/>
                    <a:p>
                      <a:pPr algn="ctr" fontAlgn="ctr"/>
                      <a:r>
                        <a:rPr lang="en-US" sz="1100" b="0" i="0" u="none" strike="noStrike">
                          <a:solidFill>
                            <a:srgbClr val="000000"/>
                          </a:solidFill>
                          <a:effectLst/>
                          <a:latin typeface="Arial Narrow" panose="020B0606020202030204" pitchFamily="34" charset="0"/>
                        </a:rPr>
                        <a:t>2</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1" algn="l" fontAlgn="auto">
                        <a:spcBef>
                          <a:spcPts val="0"/>
                        </a:spcBef>
                        <a:spcAft>
                          <a:spcPts val="0"/>
                        </a:spcAft>
                        <a:defRPr/>
                      </a:pPr>
                      <a:r>
                        <a:rPr lang="en-US" sz="1100" dirty="0">
                          <a:solidFill>
                            <a:prstClr val="black"/>
                          </a:solidFill>
                          <a:latin typeface="Arial Narrow" panose="020B0606020202030204" pitchFamily="34" charset="0"/>
                          <a:ea typeface="LG Smart_H Regular" panose="020B0600000101010101" pitchFamily="34" charset="-127"/>
                          <a:cs typeface="Arial" pitchFamily="34" charset="0"/>
                        </a:rPr>
                        <a:t>Conveyor and Pallet Contact</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1" algn="l" fontAlgn="ctr"/>
                      <a:r>
                        <a:rPr lang="en-US" sz="1100" dirty="0">
                          <a:latin typeface="Arial Narrow" panose="020B0606020202030204" pitchFamily="34" charset="0"/>
                          <a:ea typeface="LG Smart_H Regular" panose="020B0600000101010101" pitchFamily="34" charset="-127"/>
                          <a:sym typeface="Wingdings" panose="05000000000000000000" pitchFamily="2" charset="2"/>
                        </a:rPr>
                        <a:t>Alignment &amp; fix the contact level of Pogo pin with Pallet </a:t>
                      </a:r>
                      <a:endParaRPr lang="en-US" sz="1100" b="0" i="0" u="none" strike="noStrike" dirty="0">
                        <a:solidFill>
                          <a:srgbClr val="000000"/>
                        </a:solidFill>
                        <a:effectLst/>
                        <a:latin typeface="Arial Narrow" panose="020B0606020202030204" pitchFamily="34" charset="0"/>
                      </a:endParaRP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Narrow" panose="020B0606020202030204" pitchFamily="34" charset="0"/>
                        </a:rPr>
                        <a:t>2 sample T test</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73305671"/>
                  </a:ext>
                </a:extLst>
              </a:tr>
              <a:tr h="532635">
                <a:tc>
                  <a:txBody>
                    <a:bodyPr/>
                    <a:lstStyle/>
                    <a:p>
                      <a:pPr algn="ctr" fontAlgn="ctr"/>
                      <a:r>
                        <a:rPr lang="en-US" sz="1100" b="0" i="0" u="none" strike="noStrike">
                          <a:solidFill>
                            <a:srgbClr val="000000"/>
                          </a:solidFill>
                          <a:effectLst/>
                          <a:latin typeface="Arial Narrow" panose="020B0606020202030204" pitchFamily="34" charset="0"/>
                        </a:rPr>
                        <a:t>3</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1" algn="l" fontAlgn="auto">
                        <a:spcBef>
                          <a:spcPts val="0"/>
                        </a:spcBef>
                        <a:spcAft>
                          <a:spcPts val="0"/>
                        </a:spcAft>
                        <a:defRPr/>
                      </a:pPr>
                      <a:r>
                        <a:rPr lang="en-US" sz="1100" dirty="0">
                          <a:solidFill>
                            <a:prstClr val="black"/>
                          </a:solidFill>
                          <a:latin typeface="Arial Narrow" panose="020B0606020202030204" pitchFamily="34" charset="0"/>
                          <a:ea typeface="LG Smart_H Regular" panose="020B0600000101010101" pitchFamily="34" charset="-127"/>
                          <a:cs typeface="Arial" pitchFamily="34" charset="0"/>
                        </a:rPr>
                        <a:t>Job file sequence</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1" algn="l" fontAlgn="ctr"/>
                      <a:r>
                        <a:rPr lang="en-US" sz="1100" dirty="0">
                          <a:latin typeface="Arial Narrow" panose="020B0606020202030204" pitchFamily="34" charset="0"/>
                          <a:ea typeface="LG Smart_H Regular" panose="020B0600000101010101" pitchFamily="34" charset="-127"/>
                          <a:sym typeface="Wingdings" panose="05000000000000000000" pitchFamily="2" charset="2"/>
                        </a:rPr>
                        <a:t>Change the sequence of job file – move USB test before AUX test</a:t>
                      </a:r>
                      <a:endParaRPr lang="en-US" sz="1100" b="0" i="0" u="none" strike="noStrike" dirty="0">
                        <a:solidFill>
                          <a:srgbClr val="000000"/>
                        </a:solidFill>
                        <a:effectLst/>
                        <a:latin typeface="Arial Narrow" panose="020B0606020202030204" pitchFamily="34" charset="0"/>
                      </a:endParaRP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Arial Narrow" panose="020B0606020202030204" pitchFamily="34" charset="0"/>
                        </a:rPr>
                        <a:t>2 sample T test</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23502622"/>
                  </a:ext>
                </a:extLst>
              </a:tr>
            </a:tbl>
          </a:graphicData>
        </a:graphic>
      </p:graphicFrame>
      <p:sp>
        <p:nvSpPr>
          <p:cNvPr id="100" name="AutoShape 55">
            <a:extLst>
              <a:ext uri="{FF2B5EF4-FFF2-40B4-BE49-F238E27FC236}">
                <a16:creationId xmlns:a16="http://schemas.microsoft.com/office/drawing/2014/main" id="{EED46192-4ED1-4158-8F3E-AA2D8BB90551}"/>
              </a:ext>
            </a:extLst>
          </p:cNvPr>
          <p:cNvSpPr>
            <a:spLocks noChangeArrowheads="1"/>
          </p:cNvSpPr>
          <p:nvPr/>
        </p:nvSpPr>
        <p:spPr bwMode="auto">
          <a:xfrm>
            <a:off x="9130746"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Control</a:t>
            </a:r>
          </a:p>
        </p:txBody>
      </p:sp>
      <p:sp>
        <p:nvSpPr>
          <p:cNvPr id="101" name="AutoShape 56">
            <a:extLst>
              <a:ext uri="{FF2B5EF4-FFF2-40B4-BE49-F238E27FC236}">
                <a16:creationId xmlns:a16="http://schemas.microsoft.com/office/drawing/2014/main" id="{7459209F-12BD-4723-B248-E7E3EC691992}"/>
              </a:ext>
            </a:extLst>
          </p:cNvPr>
          <p:cNvSpPr>
            <a:spLocks noChangeArrowheads="1"/>
          </p:cNvSpPr>
          <p:nvPr/>
        </p:nvSpPr>
        <p:spPr bwMode="auto">
          <a:xfrm>
            <a:off x="8441771"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rPr>
              <a:t>Improve</a:t>
            </a:r>
          </a:p>
        </p:txBody>
      </p:sp>
      <p:sp>
        <p:nvSpPr>
          <p:cNvPr id="114" name="AutoShape 58">
            <a:extLst>
              <a:ext uri="{FF2B5EF4-FFF2-40B4-BE49-F238E27FC236}">
                <a16:creationId xmlns:a16="http://schemas.microsoft.com/office/drawing/2014/main" id="{427C720A-861D-4934-858A-D651CA1E3F01}"/>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Measure </a:t>
            </a:r>
          </a:p>
        </p:txBody>
      </p:sp>
      <p:sp>
        <p:nvSpPr>
          <p:cNvPr id="115" name="AutoShape 59">
            <a:extLst>
              <a:ext uri="{FF2B5EF4-FFF2-40B4-BE49-F238E27FC236}">
                <a16:creationId xmlns:a16="http://schemas.microsoft.com/office/drawing/2014/main" id="{05E66742-DE0E-48EA-8AA8-4CD0C5704A27}"/>
              </a:ext>
            </a:extLst>
          </p:cNvPr>
          <p:cNvSpPr>
            <a:spLocks noChangeArrowheads="1"/>
          </p:cNvSpPr>
          <p:nvPr/>
        </p:nvSpPr>
        <p:spPr bwMode="auto">
          <a:xfrm>
            <a:off x="6381196" y="16658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Define</a:t>
            </a:r>
          </a:p>
        </p:txBody>
      </p:sp>
      <p:sp>
        <p:nvSpPr>
          <p:cNvPr id="116" name="AutoShape 57">
            <a:extLst>
              <a:ext uri="{FF2B5EF4-FFF2-40B4-BE49-F238E27FC236}">
                <a16:creationId xmlns:a16="http://schemas.microsoft.com/office/drawing/2014/main" id="{DFFBFEFF-78C8-4850-A9A2-2EB6B7D4D071}"/>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latin typeface="Arial Narrow" panose="020B0606020202030204" pitchFamily="34" charset="0"/>
                <a:ea typeface="맑은 고딕" panose="020B0503020000020004" pitchFamily="50" charset="-127"/>
              </a:rPr>
              <a:t>Analyze</a:t>
            </a:r>
          </a:p>
        </p:txBody>
      </p:sp>
      <p:sp>
        <p:nvSpPr>
          <p:cNvPr id="14" name="TextBox 13">
            <a:extLst>
              <a:ext uri="{FF2B5EF4-FFF2-40B4-BE49-F238E27FC236}">
                <a16:creationId xmlns:a16="http://schemas.microsoft.com/office/drawing/2014/main" id="{21B25506-8552-4D32-B0CF-3EA1057DB97B}"/>
              </a:ext>
            </a:extLst>
          </p:cNvPr>
          <p:cNvSpPr txBox="1"/>
          <p:nvPr/>
        </p:nvSpPr>
        <p:spPr>
          <a:xfrm>
            <a:off x="7451965" y="2666273"/>
            <a:ext cx="391772" cy="374589"/>
          </a:xfrm>
          <a:prstGeom prst="rect">
            <a:avLst/>
          </a:prstGeom>
          <a:noFill/>
        </p:spPr>
        <p:txBody>
          <a:bodyPr wrap="square" rtlCol="0">
            <a:spAutoFit/>
          </a:bodyPr>
          <a:lstStyle/>
          <a:p>
            <a:r>
              <a:rPr lang="en-US" b="1" dirty="0">
                <a:solidFill>
                  <a:srgbClr val="FF0000"/>
                </a:solidFill>
                <a:latin typeface="LG Smart_H Regular" panose="020B0600000101010101" pitchFamily="34" charset="-127"/>
                <a:ea typeface="LG Smart_H Regular"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sp>
        <p:nvSpPr>
          <p:cNvPr id="15" name="Text Box 2">
            <a:extLst>
              <a:ext uri="{FF2B5EF4-FFF2-40B4-BE49-F238E27FC236}">
                <a16:creationId xmlns:a16="http://schemas.microsoft.com/office/drawing/2014/main" id="{0C99DECD-3124-462F-80A2-F767FA7E1614}"/>
              </a:ext>
            </a:extLst>
          </p:cNvPr>
          <p:cNvSpPr txBox="1">
            <a:spLocks noChangeArrowheads="1"/>
          </p:cNvSpPr>
          <p:nvPr/>
        </p:nvSpPr>
        <p:spPr bwMode="auto">
          <a:xfrm>
            <a:off x="27541" y="618466"/>
            <a:ext cx="5645539" cy="304800"/>
          </a:xfrm>
          <a:prstGeom prst="rect">
            <a:avLst/>
          </a:prstGeom>
          <a:noFill/>
          <a:ln w="9525" algn="ctr">
            <a:noFill/>
            <a:miter lim="800000"/>
            <a:headEnd/>
            <a:tailEnd/>
          </a:ln>
        </p:spPr>
        <p:txBody>
          <a:bodyPr lIns="84374" tIns="42187" rIns="84374" bIns="42187" anchor="ctr"/>
          <a:lstStyle/>
          <a:p>
            <a:pPr marL="171450" indent="-171450" defTabSz="844083" fontAlgn="base" latinLnBrk="1">
              <a:spcBef>
                <a:spcPct val="0"/>
              </a:spcBef>
              <a:spcAft>
                <a:spcPct val="0"/>
              </a:spcAft>
              <a:buFont typeface="Wingdings" panose="05000000000000000000" pitchFamily="2" charset="2"/>
              <a:buChar char="q"/>
              <a:defRPr/>
            </a:pPr>
            <a:r>
              <a:rPr lang="en-US" altLang="ko-KR" sz="1200" b="1" dirty="0">
                <a:solidFill>
                  <a:srgbClr val="000000"/>
                </a:solidFill>
                <a:latin typeface="Arial Narrow" panose="020B0606020202030204" pitchFamily="34" charset="0"/>
                <a:ea typeface="LG Smart_H Regular" panose="020B0600000101010101" pitchFamily="34" charset="-127"/>
                <a:cs typeface="Arial" panose="020B0604020202020204" pitchFamily="34" charset="0"/>
              </a:rPr>
              <a:t>2 </a:t>
            </a:r>
            <a:r>
              <a:rPr lang="en-US" altLang="ko-KR" sz="1200" b="1">
                <a:solidFill>
                  <a:srgbClr val="000000"/>
                </a:solidFill>
                <a:latin typeface="Arial Narrow" panose="020B0606020202030204" pitchFamily="34" charset="0"/>
                <a:ea typeface="LG Smart_H Regular" panose="020B0600000101010101" pitchFamily="34" charset="-127"/>
                <a:cs typeface="Arial" panose="020B0604020202020204" pitchFamily="34" charset="0"/>
              </a:rPr>
              <a:t>Samples T test </a:t>
            </a:r>
            <a:endParaRPr lang="ko-KR" altLang="en-US" sz="1200" b="1" dirty="0">
              <a:solidFill>
                <a:srgbClr val="000000"/>
              </a:solidFill>
              <a:latin typeface="Arial Narrow" panose="020B0606020202030204" pitchFamily="34" charset="0"/>
              <a:ea typeface="LG Smart_H Regular" panose="020B0600000101010101" pitchFamily="34" charset="-127"/>
              <a:cs typeface="Arial" panose="020B0604020202020204" pitchFamily="34" charset="0"/>
            </a:endParaRPr>
          </a:p>
        </p:txBody>
      </p:sp>
      <p:sp>
        <p:nvSpPr>
          <p:cNvPr id="13" name="TextBox 12">
            <a:extLst>
              <a:ext uri="{FF2B5EF4-FFF2-40B4-BE49-F238E27FC236}">
                <a16:creationId xmlns:a16="http://schemas.microsoft.com/office/drawing/2014/main" id="{48ABD26D-0F40-475C-98FD-F2E7BE1B102B}"/>
              </a:ext>
            </a:extLst>
          </p:cNvPr>
          <p:cNvSpPr txBox="1"/>
          <p:nvPr/>
        </p:nvSpPr>
        <p:spPr>
          <a:xfrm>
            <a:off x="484445" y="3505483"/>
            <a:ext cx="5470730" cy="646331"/>
          </a:xfrm>
          <a:prstGeom prst="rect">
            <a:avLst/>
          </a:prstGeom>
          <a:noFill/>
        </p:spPr>
        <p:txBody>
          <a:bodyPr wrap="square" rtlCol="0" anchor="ctr">
            <a:spAutoFit/>
          </a:bodyPr>
          <a:lstStyle/>
          <a:p>
            <a:pPr marL="171450" indent="-171450">
              <a:buFont typeface="Wingdings" panose="05000000000000000000" pitchFamily="2" charset="2"/>
              <a:buChar char="§"/>
            </a:pPr>
            <a:r>
              <a:rPr lang="en-US" altLang="ko-KR" sz="1200" b="1" dirty="0">
                <a:solidFill>
                  <a:srgbClr val="000000"/>
                </a:solidFill>
                <a:latin typeface="Arial Narrow" panose="020B0606020202030204" pitchFamily="34" charset="0"/>
                <a:cs typeface="Arial" panose="020B0604020202020204" pitchFamily="34" charset="0"/>
              </a:rPr>
              <a:t>Conclusion: </a:t>
            </a:r>
            <a:r>
              <a:rPr lang="en-US" sz="1200" dirty="0">
                <a:solidFill>
                  <a:prstClr val="black"/>
                </a:solidFill>
                <a:latin typeface="Arial Narrow" panose="020B0606020202030204" pitchFamily="34" charset="0"/>
                <a:ea typeface="LG Smart_H Regular" panose="020B0600000101010101" pitchFamily="34" charset="-127"/>
                <a:cs typeface="Arial" panose="020B0604020202020204" pitchFamily="34" charset="0"/>
              </a:rPr>
              <a:t>After </a:t>
            </a:r>
            <a:r>
              <a:rPr lang="en-US" sz="1100" dirty="0">
                <a:solidFill>
                  <a:prstClr val="black"/>
                </a:solidFill>
                <a:latin typeface="Arial Narrow" panose="020B0606020202030204" pitchFamily="34" charset="0"/>
                <a:ea typeface="LG Smart_H Regular" panose="020B0600000101010101" pitchFamily="34" charset="-127"/>
                <a:cs typeface="Arial" panose="020B0604020202020204" pitchFamily="34" charset="0"/>
                <a:sym typeface="Wingdings" panose="05000000000000000000" pitchFamily="2" charset="2"/>
              </a:rPr>
              <a:t>c</a:t>
            </a:r>
            <a:r>
              <a:rPr lang="en-US" sz="1100" dirty="0">
                <a:latin typeface="Arial Narrow" panose="020B0606020202030204" pitchFamily="34" charset="0"/>
                <a:ea typeface="LG Smart_H Regular" panose="020B0600000101010101" pitchFamily="34" charset="-127"/>
                <a:sym typeface="Wingdings" panose="05000000000000000000" pitchFamily="2" charset="2"/>
              </a:rPr>
              <a:t>hange the sequence of job file, move USB test before AUX test</a:t>
            </a:r>
            <a:endParaRPr lang="en-US" sz="1100" dirty="0">
              <a:solidFill>
                <a:srgbClr val="000000"/>
              </a:solidFill>
              <a:latin typeface="Arial Narrow" panose="020B0606020202030204" pitchFamily="34" charset="0"/>
            </a:endParaRPr>
          </a:p>
          <a:p>
            <a:pPr>
              <a:defRPr/>
            </a:pPr>
            <a:r>
              <a:rPr lang="en-US" sz="1200" dirty="0">
                <a:solidFill>
                  <a:prstClr val="black"/>
                </a:solidFill>
                <a:latin typeface="Arial Narrow" panose="020B0606020202030204" pitchFamily="34" charset="0"/>
                <a:ea typeface="LG Smart_H Regular" panose="020B0600000101010101" pitchFamily="34" charset="-127"/>
                <a:cs typeface="Arial" panose="020B0604020202020204" pitchFamily="34" charset="0"/>
              </a:rPr>
              <a:t>→ This factor effect to issue</a:t>
            </a:r>
          </a:p>
          <a:p>
            <a:endParaRPr lang="en-US" altLang="ko-KR" sz="1200" dirty="0">
              <a:latin typeface="Arial Narrow" panose="020B0606020202030204" pitchFamily="34" charset="0"/>
              <a:cs typeface="Arial" panose="020B0604020202020204" pitchFamily="34" charset="0"/>
            </a:endParaRPr>
          </a:p>
        </p:txBody>
      </p:sp>
      <p:cxnSp>
        <p:nvCxnSpPr>
          <p:cNvPr id="4" name="Straight Connector 3">
            <a:extLst>
              <a:ext uri="{FF2B5EF4-FFF2-40B4-BE49-F238E27FC236}">
                <a16:creationId xmlns:a16="http://schemas.microsoft.com/office/drawing/2014/main" id="{0040714A-9DAB-31B0-969C-BA3E421B8B29}"/>
              </a:ext>
            </a:extLst>
          </p:cNvPr>
          <p:cNvCxnSpPr/>
          <p:nvPr/>
        </p:nvCxnSpPr>
        <p:spPr>
          <a:xfrm>
            <a:off x="-12488" y="561513"/>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 name="제목 1">
            <a:extLst>
              <a:ext uri="{FF2B5EF4-FFF2-40B4-BE49-F238E27FC236}">
                <a16:creationId xmlns:a16="http://schemas.microsoft.com/office/drawing/2014/main" id="{BB2297CE-74AD-1E8C-F0A0-95C288455E10}"/>
              </a:ext>
            </a:extLst>
          </p:cNvPr>
          <p:cNvSpPr txBox="1">
            <a:spLocks/>
          </p:cNvSpPr>
          <p:nvPr/>
        </p:nvSpPr>
        <p:spPr>
          <a:xfrm>
            <a:off x="27541" y="64338"/>
            <a:ext cx="6525659" cy="418058"/>
          </a:xfrm>
          <a:prstGeom prst="rect">
            <a:avLst/>
          </a:prstGeom>
        </p:spPr>
        <p:txBody>
          <a:bodyPr vert="horz" lIns="91440" tIns="45720" rIns="91440" bIns="45720" rtlCol="0" anchor="ctr">
            <a:noAutofit/>
          </a:bodyPr>
          <a:lstStyle/>
          <a:p>
            <a:pPr eaLnBrk="0" hangingPunct="0">
              <a:defRPr/>
            </a:pPr>
            <a:r>
              <a:rPr lang="en-US" altLang="ko-KR" sz="2000" b="1" kern="0" dirty="0">
                <a:solidFill>
                  <a:srgbClr val="000000"/>
                </a:solidFill>
                <a:latin typeface="Arial Narrow" panose="020B0606020202030204" pitchFamily="34" charset="0"/>
                <a:ea typeface="LG Smart_H Regular" pitchFamily="34" charset="-127"/>
              </a:rPr>
              <a:t>3. Find the Root Cause that making distortion issue</a:t>
            </a:r>
            <a:endParaRPr lang="ko-KR" altLang="en-US" sz="2000" b="1" kern="0" dirty="0">
              <a:solidFill>
                <a:srgbClr val="000000"/>
              </a:solidFill>
              <a:latin typeface="Arial Narrow" panose="020B0606020202030204" pitchFamily="34" charset="0"/>
              <a:ea typeface="LG Smart_H Regular" pitchFamily="34" charset="-127"/>
            </a:endParaRPr>
          </a:p>
        </p:txBody>
      </p:sp>
    </p:spTree>
    <p:extLst>
      <p:ext uri="{BB962C8B-B14F-4D97-AF65-F5344CB8AC3E}">
        <p14:creationId xmlns:p14="http://schemas.microsoft.com/office/powerpoint/2010/main" val="21441332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C2FFD-C028-64E1-D1D6-40F61CEA99BB}"/>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87A181B1-9D79-100B-2E37-7D89FC257D71}"/>
              </a:ext>
            </a:extLst>
          </p:cNvPr>
          <p:cNvCxnSpPr/>
          <p:nvPr/>
        </p:nvCxnSpPr>
        <p:spPr>
          <a:xfrm>
            <a:off x="-12488" y="561513"/>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 name="제목 1">
            <a:extLst>
              <a:ext uri="{FF2B5EF4-FFF2-40B4-BE49-F238E27FC236}">
                <a16:creationId xmlns:a16="http://schemas.microsoft.com/office/drawing/2014/main" id="{8C9BFBCF-464B-81C1-944B-0A975ABCBB68}"/>
              </a:ext>
            </a:extLst>
          </p:cNvPr>
          <p:cNvSpPr txBox="1">
            <a:spLocks/>
          </p:cNvSpPr>
          <p:nvPr/>
        </p:nvSpPr>
        <p:spPr>
          <a:xfrm>
            <a:off x="27541" y="64338"/>
            <a:ext cx="6525659" cy="418058"/>
          </a:xfrm>
          <a:prstGeom prst="rect">
            <a:avLst/>
          </a:prstGeom>
        </p:spPr>
        <p:txBody>
          <a:bodyPr vert="horz" lIns="91440" tIns="45720" rIns="91440" bIns="45720" rtlCol="0" anchor="ctr">
            <a:noAutofit/>
          </a:bodyPr>
          <a:lstStyle/>
          <a:p>
            <a:pPr eaLnBrk="0" hangingPunct="0">
              <a:defRPr/>
            </a:pPr>
            <a:r>
              <a:rPr lang="en-US" altLang="ko-KR" sz="2000" b="1" kern="0" dirty="0">
                <a:solidFill>
                  <a:srgbClr val="000000"/>
                </a:solidFill>
                <a:latin typeface="Arial Narrow" panose="020B0606020202030204" pitchFamily="34" charset="0"/>
                <a:ea typeface="LG Smart_H Regular" pitchFamily="34" charset="-127"/>
              </a:rPr>
              <a:t>4. Improvement</a:t>
            </a:r>
            <a:endParaRPr lang="ko-KR" altLang="en-US" sz="2000" b="1" kern="0" dirty="0">
              <a:solidFill>
                <a:srgbClr val="000000"/>
              </a:solidFill>
              <a:latin typeface="Arial Narrow" panose="020B0606020202030204" pitchFamily="34" charset="0"/>
              <a:ea typeface="LG Smart_H Regular" pitchFamily="34" charset="-127"/>
            </a:endParaRPr>
          </a:p>
        </p:txBody>
      </p:sp>
      <p:sp>
        <p:nvSpPr>
          <p:cNvPr id="3" name="AutoShape 55">
            <a:extLst>
              <a:ext uri="{FF2B5EF4-FFF2-40B4-BE49-F238E27FC236}">
                <a16:creationId xmlns:a16="http://schemas.microsoft.com/office/drawing/2014/main" id="{F18ED0DD-04DB-7357-EC5E-6AA9A0336A9B}"/>
              </a:ext>
            </a:extLst>
          </p:cNvPr>
          <p:cNvSpPr>
            <a:spLocks noChangeArrowheads="1"/>
          </p:cNvSpPr>
          <p:nvPr/>
        </p:nvSpPr>
        <p:spPr bwMode="auto">
          <a:xfrm>
            <a:off x="9136626" y="202277"/>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cs typeface="Arial" panose="020B0604020202020204" pitchFamily="34" charset="0"/>
              </a:rPr>
              <a:t>Control</a:t>
            </a:r>
          </a:p>
        </p:txBody>
      </p:sp>
      <p:sp>
        <p:nvSpPr>
          <p:cNvPr id="6" name="AutoShape 57">
            <a:extLst>
              <a:ext uri="{FF2B5EF4-FFF2-40B4-BE49-F238E27FC236}">
                <a16:creationId xmlns:a16="http://schemas.microsoft.com/office/drawing/2014/main" id="{1DE0916B-4190-5EDE-C1BD-5DDCDAFD614B}"/>
              </a:ext>
            </a:extLst>
          </p:cNvPr>
          <p:cNvSpPr>
            <a:spLocks noChangeArrowheads="1"/>
          </p:cNvSpPr>
          <p:nvPr/>
        </p:nvSpPr>
        <p:spPr bwMode="auto">
          <a:xfrm>
            <a:off x="7755501" y="202277"/>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cs typeface="Arial" panose="020B0604020202020204" pitchFamily="34" charset="0"/>
              </a:rPr>
              <a:t>Analyze</a:t>
            </a:r>
          </a:p>
        </p:txBody>
      </p:sp>
      <p:sp>
        <p:nvSpPr>
          <p:cNvPr id="7" name="AutoShape 58">
            <a:extLst>
              <a:ext uri="{FF2B5EF4-FFF2-40B4-BE49-F238E27FC236}">
                <a16:creationId xmlns:a16="http://schemas.microsoft.com/office/drawing/2014/main" id="{92116F0B-D4F1-E838-99F4-61CCDA4CB6B9}"/>
              </a:ext>
            </a:extLst>
          </p:cNvPr>
          <p:cNvSpPr>
            <a:spLocks noChangeArrowheads="1"/>
          </p:cNvSpPr>
          <p:nvPr/>
        </p:nvSpPr>
        <p:spPr bwMode="auto">
          <a:xfrm>
            <a:off x="7083988" y="202277"/>
            <a:ext cx="747713" cy="287338"/>
          </a:xfrm>
          <a:prstGeom prst="homePlate">
            <a:avLst>
              <a:gd name="adj" fmla="val 46599"/>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cs typeface="Arial" panose="020B0604020202020204" pitchFamily="34" charset="0"/>
              </a:rPr>
              <a:t>Measure </a:t>
            </a:r>
          </a:p>
        </p:txBody>
      </p:sp>
      <p:sp>
        <p:nvSpPr>
          <p:cNvPr id="8" name="AutoShape 59">
            <a:extLst>
              <a:ext uri="{FF2B5EF4-FFF2-40B4-BE49-F238E27FC236}">
                <a16:creationId xmlns:a16="http://schemas.microsoft.com/office/drawing/2014/main" id="{88CAE655-785C-1541-D0F1-20C39170AD87}"/>
              </a:ext>
            </a:extLst>
          </p:cNvPr>
          <p:cNvSpPr>
            <a:spLocks noChangeArrowheads="1"/>
          </p:cNvSpPr>
          <p:nvPr/>
        </p:nvSpPr>
        <p:spPr bwMode="auto">
          <a:xfrm>
            <a:off x="6387076" y="202277"/>
            <a:ext cx="757237" cy="287338"/>
          </a:xfrm>
          <a:prstGeom prst="homePlate">
            <a:avLst>
              <a:gd name="adj" fmla="val 47192"/>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cs typeface="Arial" panose="020B0604020202020204" pitchFamily="34" charset="0"/>
              </a:rPr>
              <a:t>Define</a:t>
            </a:r>
          </a:p>
        </p:txBody>
      </p:sp>
      <p:sp>
        <p:nvSpPr>
          <p:cNvPr id="9" name="AutoShape 56">
            <a:extLst>
              <a:ext uri="{FF2B5EF4-FFF2-40B4-BE49-F238E27FC236}">
                <a16:creationId xmlns:a16="http://schemas.microsoft.com/office/drawing/2014/main" id="{EE64A59C-3C41-A8EB-1CDE-11CEC5E8C0A4}"/>
              </a:ext>
            </a:extLst>
          </p:cNvPr>
          <p:cNvSpPr>
            <a:spLocks noChangeArrowheads="1"/>
          </p:cNvSpPr>
          <p:nvPr/>
        </p:nvSpPr>
        <p:spPr bwMode="auto">
          <a:xfrm>
            <a:off x="8447651" y="76865"/>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latin typeface="Arial Narrow" panose="020B0606020202030204" pitchFamily="34" charset="0"/>
                <a:ea typeface="맑은 고딕" panose="020B0503020000020004" pitchFamily="50" charset="-127"/>
                <a:cs typeface="Arial" panose="020B0604020202020204" pitchFamily="34" charset="0"/>
              </a:rPr>
              <a:t>Improve</a:t>
            </a:r>
          </a:p>
        </p:txBody>
      </p:sp>
      <p:sp>
        <p:nvSpPr>
          <p:cNvPr id="28" name="제목 1">
            <a:extLst>
              <a:ext uri="{FF2B5EF4-FFF2-40B4-BE49-F238E27FC236}">
                <a16:creationId xmlns:a16="http://schemas.microsoft.com/office/drawing/2014/main" id="{5B521EFB-01F3-CEB6-83AC-4553A7C3BC92}"/>
              </a:ext>
            </a:extLst>
          </p:cNvPr>
          <p:cNvSpPr txBox="1">
            <a:spLocks/>
          </p:cNvSpPr>
          <p:nvPr/>
        </p:nvSpPr>
        <p:spPr>
          <a:xfrm>
            <a:off x="152400" y="565786"/>
            <a:ext cx="5634942" cy="418058"/>
          </a:xfrm>
          <a:prstGeom prst="rect">
            <a:avLst/>
          </a:prstGeom>
        </p:spPr>
        <p:txBody>
          <a:bodyPr vert="horz" lIns="91440" tIns="45720" rIns="91440" bIns="45720" rtlCol="0" anchor="ctr">
            <a:noAutofit/>
          </a:bodyPr>
          <a:lstStyle/>
          <a:p>
            <a:pPr eaLnBrk="0" hangingPunct="0">
              <a:defRPr/>
            </a:pPr>
            <a:r>
              <a:rPr lang="vi-VN" altLang="ko-KR" sz="1400" b="1" kern="0" dirty="0">
                <a:latin typeface="Arial Narrow" panose="020B0606020202030204" pitchFamily="34" charset="0"/>
                <a:ea typeface="Arial Unicode MS" panose="020B0604020202020204" pitchFamily="34" charset="-128"/>
                <a:cs typeface="Arial" panose="020B0604020202020204" pitchFamily="34" charset="0"/>
              </a:rPr>
              <a:t>4.</a:t>
            </a:r>
            <a:r>
              <a:rPr lang="en-US" altLang="ko-KR" sz="1400" b="1" kern="0" dirty="0">
                <a:latin typeface="Arial Narrow" panose="020B0606020202030204" pitchFamily="34" charset="0"/>
                <a:ea typeface="Arial Unicode MS" panose="020B0604020202020204" pitchFamily="34" charset="-128"/>
                <a:cs typeface="Arial" panose="020B0604020202020204" pitchFamily="34" charset="0"/>
              </a:rPr>
              <a:t>1.</a:t>
            </a:r>
            <a:r>
              <a:rPr kumimoji="1" lang="en-US" altLang="ko-KR" sz="14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 </a:t>
            </a:r>
            <a:r>
              <a:rPr lang="en-US" sz="1400" b="1" dirty="0">
                <a:latin typeface="Arial Narrow" panose="020B0606020202030204" pitchFamily="34" charset="0"/>
                <a:ea typeface="LG Smart_H Regular" panose="020B0600000101010101" pitchFamily="34" charset="-127"/>
                <a:sym typeface="Wingdings" panose="05000000000000000000" pitchFamily="2" charset="2"/>
              </a:rPr>
              <a:t>Short term</a:t>
            </a:r>
            <a:endParaRPr lang="en-US" sz="1400" b="1" dirty="0">
              <a:solidFill>
                <a:srgbClr val="000000"/>
              </a:solidFill>
              <a:latin typeface="Arial Narrow" panose="020B0606020202030204" pitchFamily="34" charset="0"/>
            </a:endParaRPr>
          </a:p>
        </p:txBody>
      </p:sp>
      <p:sp>
        <p:nvSpPr>
          <p:cNvPr id="2" name="Rectangle 1">
            <a:extLst>
              <a:ext uri="{FF2B5EF4-FFF2-40B4-BE49-F238E27FC236}">
                <a16:creationId xmlns:a16="http://schemas.microsoft.com/office/drawing/2014/main" id="{53D77447-6A18-5D67-BBDE-FC40CB4E6671}"/>
              </a:ext>
            </a:extLst>
          </p:cNvPr>
          <p:cNvSpPr/>
          <p:nvPr/>
        </p:nvSpPr>
        <p:spPr>
          <a:xfrm>
            <a:off x="229979" y="893218"/>
            <a:ext cx="5895914" cy="318677"/>
          </a:xfrm>
          <a:prstGeom prst="rect">
            <a:avLst/>
          </a:prstGeom>
        </p:spPr>
        <p:txBody>
          <a:bodyPr wrap="square">
            <a:spAutoFit/>
          </a:bodyPr>
          <a:lstStyle/>
          <a:p>
            <a:pPr>
              <a:lnSpc>
                <a:spcPct val="150000"/>
              </a:lnSpc>
              <a:defRPr/>
            </a:pPr>
            <a:r>
              <a:rPr lang="en-US" altLang="ko-KR" sz="1100" dirty="0">
                <a:latin typeface="Arial Narrow" panose="020B0606020202030204" pitchFamily="34" charset="0"/>
                <a:ea typeface="LG Smart_H Regular" panose="020B0600000101010101" pitchFamily="34" charset="-127"/>
                <a:sym typeface="Wingdings" panose="05000000000000000000" pitchFamily="2" charset="2"/>
              </a:rPr>
              <a:t>- USB quality was affect by the AUX test before which could lead to low value of sound quality &amp; high distortion.</a:t>
            </a:r>
          </a:p>
        </p:txBody>
      </p:sp>
      <p:pic>
        <p:nvPicPr>
          <p:cNvPr id="11" name="Picture 10">
            <a:extLst>
              <a:ext uri="{FF2B5EF4-FFF2-40B4-BE49-F238E27FC236}">
                <a16:creationId xmlns:a16="http://schemas.microsoft.com/office/drawing/2014/main" id="{C10559E3-4F5F-04E0-4B0B-EF7364729A86}"/>
              </a:ext>
            </a:extLst>
          </p:cNvPr>
          <p:cNvPicPr>
            <a:picLocks noChangeAspect="1"/>
          </p:cNvPicPr>
          <p:nvPr/>
        </p:nvPicPr>
        <p:blipFill>
          <a:blip r:embed="rId3"/>
          <a:srcRect r="29384"/>
          <a:stretch>
            <a:fillRect/>
          </a:stretch>
        </p:blipFill>
        <p:spPr>
          <a:xfrm>
            <a:off x="226221" y="4131187"/>
            <a:ext cx="4840907" cy="2376464"/>
          </a:xfrm>
          <a:prstGeom prst="rect">
            <a:avLst/>
          </a:prstGeom>
        </p:spPr>
      </p:pic>
      <p:sp>
        <p:nvSpPr>
          <p:cNvPr id="12" name="Rectangle 11">
            <a:extLst>
              <a:ext uri="{FF2B5EF4-FFF2-40B4-BE49-F238E27FC236}">
                <a16:creationId xmlns:a16="http://schemas.microsoft.com/office/drawing/2014/main" id="{5A884979-6773-B942-2400-2AB50847EF85}"/>
              </a:ext>
            </a:extLst>
          </p:cNvPr>
          <p:cNvSpPr/>
          <p:nvPr/>
        </p:nvSpPr>
        <p:spPr>
          <a:xfrm>
            <a:off x="213053" y="4708067"/>
            <a:ext cx="2215662" cy="14532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B451A48-E687-84A4-A96D-23A162D5E7EC}"/>
              </a:ext>
            </a:extLst>
          </p:cNvPr>
          <p:cNvSpPr/>
          <p:nvPr/>
        </p:nvSpPr>
        <p:spPr>
          <a:xfrm>
            <a:off x="5344653" y="4420044"/>
            <a:ext cx="4158162" cy="1452257"/>
          </a:xfrm>
          <a:prstGeom prst="rect">
            <a:avLst/>
          </a:prstGeom>
        </p:spPr>
        <p:txBody>
          <a:bodyPr wrap="square">
            <a:spAutoFit/>
          </a:bodyPr>
          <a:lstStyle/>
          <a:p>
            <a:pPr>
              <a:lnSpc>
                <a:spcPct val="150000"/>
              </a:lnSpc>
              <a:defRPr/>
            </a:pPr>
            <a:r>
              <a:rPr lang="en-US" altLang="ko-KR" sz="1000" b="1" dirty="0">
                <a:solidFill>
                  <a:srgbClr val="FF0000"/>
                </a:solidFill>
                <a:latin typeface="LG Smart_H Regular" panose="020B0600000101010101" pitchFamily="34" charset="-127"/>
                <a:ea typeface="LG Smart_H Regular" panose="020B0600000101010101" pitchFamily="34" charset="-127"/>
                <a:sym typeface="Wingdings" panose="05000000000000000000" pitchFamily="2" charset="2"/>
              </a:rPr>
              <a:t>AUX </a:t>
            </a:r>
            <a:r>
              <a:rPr lang="en-US" altLang="ko-KR" sz="1000" b="1" dirty="0">
                <a:latin typeface="LG Smart_H Regular" panose="020B0600000101010101" pitchFamily="34" charset="-127"/>
                <a:ea typeface="LG Smart_H Regular" panose="020B0600000101010101" pitchFamily="34" charset="-127"/>
                <a:sym typeface="Wingdings" panose="05000000000000000000" pitchFamily="2" charset="2"/>
              </a:rPr>
              <a:t>typically uses an analog signal, which means it directly transmits electrical waveforms corresponding to the audio</a:t>
            </a:r>
            <a:r>
              <a:rPr lang="en-US" altLang="ko-KR" sz="1000" b="1" dirty="0">
                <a:solidFill>
                  <a:srgbClr val="FF0000"/>
                </a:solidFill>
                <a:latin typeface="LG Smart_H Regular" panose="020B0600000101010101" pitchFamily="34" charset="-127"/>
                <a:ea typeface="LG Smart_H Regular" panose="020B0600000101010101" pitchFamily="34" charset="-127"/>
                <a:sym typeface="Wingdings" panose="05000000000000000000" pitchFamily="2" charset="2"/>
              </a:rPr>
              <a:t>. USB, </a:t>
            </a:r>
            <a:r>
              <a:rPr lang="en-US" altLang="ko-KR" sz="1000" b="1" dirty="0">
                <a:latin typeface="LG Smart_H Regular" panose="020B0600000101010101" pitchFamily="34" charset="-127"/>
                <a:ea typeface="LG Smart_H Regular" panose="020B0600000101010101" pitchFamily="34" charset="-127"/>
                <a:sym typeface="Wingdings" panose="05000000000000000000" pitchFamily="2" charset="2"/>
              </a:rPr>
              <a:t>on the other hand, transmits a digital signal where audio is encoded in data packets.</a:t>
            </a:r>
          </a:p>
          <a:p>
            <a:pPr>
              <a:lnSpc>
                <a:spcPct val="150000"/>
              </a:lnSpc>
              <a:defRPr/>
            </a:pPr>
            <a:r>
              <a:rPr lang="en-US" altLang="ko-KR" sz="1000" b="1" dirty="0">
                <a:latin typeface="LG Smart_H Regular" panose="020B0600000101010101" pitchFamily="34" charset="-127"/>
                <a:ea typeface="LG Smart_H Regular" panose="020B0600000101010101" pitchFamily="34" charset="-127"/>
                <a:sym typeface="Wingdings" panose="05000000000000000000" pitchFamily="2" charset="2"/>
              </a:rPr>
              <a:t>Switching from </a:t>
            </a:r>
            <a:r>
              <a:rPr lang="en-US" altLang="ko-KR" sz="1000" b="1" dirty="0">
                <a:solidFill>
                  <a:srgbClr val="FF0000"/>
                </a:solidFill>
                <a:latin typeface="LG Smart_H Regular" panose="020B0600000101010101" pitchFamily="34" charset="-127"/>
                <a:ea typeface="LG Smart_H Regular" panose="020B0600000101010101" pitchFamily="34" charset="-127"/>
                <a:sym typeface="Wingdings" panose="05000000000000000000" pitchFamily="2" charset="2"/>
              </a:rPr>
              <a:t>AUX</a:t>
            </a:r>
            <a:r>
              <a:rPr lang="en-US" altLang="ko-KR" sz="1000" b="1" dirty="0">
                <a:latin typeface="LG Smart_H Regular" panose="020B0600000101010101" pitchFamily="34" charset="-127"/>
                <a:ea typeface="LG Smart_H Regular" panose="020B0600000101010101" pitchFamily="34" charset="-127"/>
                <a:sym typeface="Wingdings" panose="05000000000000000000" pitchFamily="2" charset="2"/>
              </a:rPr>
              <a:t> to </a:t>
            </a:r>
            <a:r>
              <a:rPr lang="en-US" altLang="ko-KR" sz="1000" b="1" dirty="0">
                <a:solidFill>
                  <a:srgbClr val="FF0000"/>
                </a:solidFill>
                <a:latin typeface="LG Smart_H Regular" panose="020B0600000101010101" pitchFamily="34" charset="-127"/>
                <a:ea typeface="LG Smart_H Regular" panose="020B0600000101010101" pitchFamily="34" charset="-127"/>
                <a:sym typeface="Wingdings" panose="05000000000000000000" pitchFamily="2" charset="2"/>
              </a:rPr>
              <a:t>USB</a:t>
            </a:r>
            <a:r>
              <a:rPr lang="en-US" altLang="ko-KR" sz="1000" b="1" dirty="0">
                <a:latin typeface="LG Smart_H Regular" panose="020B0600000101010101" pitchFamily="34" charset="-127"/>
                <a:ea typeface="LG Smart_H Regular" panose="020B0600000101010101" pitchFamily="34" charset="-127"/>
                <a:sym typeface="Wingdings" panose="05000000000000000000" pitchFamily="2" charset="2"/>
              </a:rPr>
              <a:t> might require the system to reconfigure its signal paths and reset certain components, which could lead to temporary distortion if not done properly.</a:t>
            </a:r>
          </a:p>
        </p:txBody>
      </p:sp>
      <p:sp>
        <p:nvSpPr>
          <p:cNvPr id="14" name="Rectangle 13">
            <a:extLst>
              <a:ext uri="{FF2B5EF4-FFF2-40B4-BE49-F238E27FC236}">
                <a16:creationId xmlns:a16="http://schemas.microsoft.com/office/drawing/2014/main" id="{4801E374-3749-0907-0795-D5BBBE73ADBE}"/>
              </a:ext>
            </a:extLst>
          </p:cNvPr>
          <p:cNvSpPr/>
          <p:nvPr/>
        </p:nvSpPr>
        <p:spPr>
          <a:xfrm>
            <a:off x="186677" y="4841476"/>
            <a:ext cx="1195753" cy="159860"/>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직사각형 107">
            <a:extLst>
              <a:ext uri="{FF2B5EF4-FFF2-40B4-BE49-F238E27FC236}">
                <a16:creationId xmlns:a16="http://schemas.microsoft.com/office/drawing/2014/main" id="{EA868855-B8B7-93A1-AB3F-479163892E12}"/>
              </a:ext>
            </a:extLst>
          </p:cNvPr>
          <p:cNvSpPr/>
          <p:nvPr/>
        </p:nvSpPr>
        <p:spPr>
          <a:xfrm>
            <a:off x="7335281" y="1528286"/>
            <a:ext cx="752128" cy="432197"/>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ko-KR" sz="1000" b="1" dirty="0">
                <a:solidFill>
                  <a:schemeClr val="tx1"/>
                </a:solidFill>
                <a:latin typeface="LG Smart_H Regular" panose="020B0600000101010101" pitchFamily="34" charset="-127"/>
                <a:ea typeface="LG Smart_H Regular" panose="020B0600000101010101" pitchFamily="34" charset="-127"/>
              </a:rPr>
              <a:t>Test PC</a:t>
            </a:r>
            <a:endParaRPr lang="ko-KR" altLang="en-US" sz="1000" b="1" dirty="0">
              <a:solidFill>
                <a:schemeClr val="tx1"/>
              </a:solidFill>
              <a:latin typeface="LG Smart_H Regular" panose="020B0600000101010101" pitchFamily="34" charset="-127"/>
              <a:ea typeface="LG Smart_H Regular" panose="020B0600000101010101" pitchFamily="34" charset="-127"/>
            </a:endParaRPr>
          </a:p>
        </p:txBody>
      </p:sp>
      <p:sp>
        <p:nvSpPr>
          <p:cNvPr id="16" name="직사각형 108">
            <a:extLst>
              <a:ext uri="{FF2B5EF4-FFF2-40B4-BE49-F238E27FC236}">
                <a16:creationId xmlns:a16="http://schemas.microsoft.com/office/drawing/2014/main" id="{D5E3BF60-8269-8795-ADE0-48B0E021CA89}"/>
              </a:ext>
            </a:extLst>
          </p:cNvPr>
          <p:cNvSpPr/>
          <p:nvPr/>
        </p:nvSpPr>
        <p:spPr>
          <a:xfrm>
            <a:off x="6113190" y="3147360"/>
            <a:ext cx="942727" cy="348747"/>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ko-KR" sz="1000" b="1" dirty="0">
                <a:solidFill>
                  <a:schemeClr val="tx1"/>
                </a:solidFill>
                <a:latin typeface="LG Smart_H Regular" panose="020B0600000101010101" pitchFamily="34" charset="-127"/>
                <a:ea typeface="LG Smart_H Regular" panose="020B0600000101010101" pitchFamily="34" charset="-127"/>
              </a:rPr>
              <a:t>AVN BENCH</a:t>
            </a:r>
            <a:endParaRPr lang="ko-KR" altLang="en-US" sz="1000" b="1" dirty="0">
              <a:solidFill>
                <a:schemeClr val="tx1"/>
              </a:solidFill>
              <a:latin typeface="LG Smart_H Regular" panose="020B0600000101010101" pitchFamily="34" charset="-127"/>
              <a:ea typeface="LG Smart_H Regular" panose="020B0600000101010101" pitchFamily="34" charset="-127"/>
            </a:endParaRPr>
          </a:p>
        </p:txBody>
      </p:sp>
      <p:cxnSp>
        <p:nvCxnSpPr>
          <p:cNvPr id="17" name="꺾인 연결선 110">
            <a:extLst>
              <a:ext uri="{FF2B5EF4-FFF2-40B4-BE49-F238E27FC236}">
                <a16:creationId xmlns:a16="http://schemas.microsoft.com/office/drawing/2014/main" id="{64C97A17-570E-CB5D-333F-A3448C7BB3BC}"/>
              </a:ext>
            </a:extLst>
          </p:cNvPr>
          <p:cNvCxnSpPr>
            <a:stCxn id="26" idx="2"/>
            <a:endCxn id="16" idx="3"/>
          </p:cNvCxnSpPr>
          <p:nvPr/>
        </p:nvCxnSpPr>
        <p:spPr>
          <a:xfrm rot="5400000">
            <a:off x="6857585" y="2278541"/>
            <a:ext cx="1241525" cy="844860"/>
          </a:xfrm>
          <a:prstGeom prst="bentConnector2">
            <a:avLst/>
          </a:prstGeom>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8" name="직사각형 111">
            <a:extLst>
              <a:ext uri="{FF2B5EF4-FFF2-40B4-BE49-F238E27FC236}">
                <a16:creationId xmlns:a16="http://schemas.microsoft.com/office/drawing/2014/main" id="{FCB2C283-1745-039C-162B-D94D411695A8}"/>
              </a:ext>
            </a:extLst>
          </p:cNvPr>
          <p:cNvSpPr/>
          <p:nvPr/>
        </p:nvSpPr>
        <p:spPr>
          <a:xfrm>
            <a:off x="3585076" y="2945086"/>
            <a:ext cx="1125255" cy="538108"/>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ko-KR" sz="1200" b="1" dirty="0">
                <a:solidFill>
                  <a:schemeClr val="tx1"/>
                </a:solidFill>
                <a:latin typeface="LG Smart_H Regular" panose="020B0600000101010101" pitchFamily="34" charset="-127"/>
                <a:ea typeface="LG Smart_H Regular" panose="020B0600000101010101" pitchFamily="34" charset="-127"/>
              </a:rPr>
              <a:t>AIVI2 SET</a:t>
            </a:r>
            <a:endParaRPr lang="ko-KR" altLang="en-US" sz="1200" b="1" dirty="0">
              <a:solidFill>
                <a:schemeClr val="tx1"/>
              </a:solidFill>
              <a:latin typeface="LG Smart_H Regular" panose="020B0600000101010101" pitchFamily="34" charset="-127"/>
              <a:ea typeface="LG Smart_H Regular" panose="020B0600000101010101" pitchFamily="34" charset="-127"/>
            </a:endParaRPr>
          </a:p>
        </p:txBody>
      </p:sp>
      <p:cxnSp>
        <p:nvCxnSpPr>
          <p:cNvPr id="19" name="꺾인 연결선 115">
            <a:extLst>
              <a:ext uri="{FF2B5EF4-FFF2-40B4-BE49-F238E27FC236}">
                <a16:creationId xmlns:a16="http://schemas.microsoft.com/office/drawing/2014/main" id="{0969A487-DAF8-E957-D0A4-09F8BBFA0124}"/>
              </a:ext>
            </a:extLst>
          </p:cNvPr>
          <p:cNvCxnSpPr>
            <a:stCxn id="20" idx="0"/>
            <a:endCxn id="16" idx="1"/>
          </p:cNvCxnSpPr>
          <p:nvPr/>
        </p:nvCxnSpPr>
        <p:spPr>
          <a:xfrm rot="16200000" flipH="1">
            <a:off x="4958230" y="2166774"/>
            <a:ext cx="410977" cy="1898942"/>
          </a:xfrm>
          <a:prstGeom prst="bentConnector4">
            <a:avLst>
              <a:gd name="adj1" fmla="val -55624"/>
              <a:gd name="adj2" fmla="val 53318"/>
            </a:avLst>
          </a:prstGeom>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0" name="모서리가 둥근 직사각형 119">
            <a:extLst>
              <a:ext uri="{FF2B5EF4-FFF2-40B4-BE49-F238E27FC236}">
                <a16:creationId xmlns:a16="http://schemas.microsoft.com/office/drawing/2014/main" id="{58FB42CA-6E72-FBE0-DF54-CA347A97FB84}"/>
              </a:ext>
            </a:extLst>
          </p:cNvPr>
          <p:cNvSpPr/>
          <p:nvPr/>
        </p:nvSpPr>
        <p:spPr>
          <a:xfrm>
            <a:off x="4088248" y="2910757"/>
            <a:ext cx="252000" cy="135242"/>
          </a:xfrm>
          <a:prstGeom prst="roundRect">
            <a:avLst/>
          </a:prstGeom>
          <a:solidFill>
            <a:schemeClr val="bg1">
              <a:lumMod val="85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ko-KR" altLang="en-US" dirty="0">
              <a:latin typeface="LG Smart_H Regular" panose="020B0600000101010101" pitchFamily="34" charset="-127"/>
              <a:ea typeface="LG Smart_H Regular" panose="020B0600000101010101" pitchFamily="34" charset="-127"/>
            </a:endParaRPr>
          </a:p>
        </p:txBody>
      </p:sp>
      <p:sp>
        <p:nvSpPr>
          <p:cNvPr id="21" name="직사각형 179">
            <a:extLst>
              <a:ext uri="{FF2B5EF4-FFF2-40B4-BE49-F238E27FC236}">
                <a16:creationId xmlns:a16="http://schemas.microsoft.com/office/drawing/2014/main" id="{5A1A39F8-BBDF-BB56-45A3-15DB79A421F4}"/>
              </a:ext>
            </a:extLst>
          </p:cNvPr>
          <p:cNvSpPr/>
          <p:nvPr/>
        </p:nvSpPr>
        <p:spPr>
          <a:xfrm>
            <a:off x="6039367" y="2209623"/>
            <a:ext cx="1097641" cy="445316"/>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ko-KR" sz="1000" b="1" dirty="0">
                <a:solidFill>
                  <a:schemeClr val="tx1"/>
                </a:solidFill>
                <a:latin typeface="LG Smart_H Regular" panose="020B0600000101010101" pitchFamily="34" charset="-127"/>
                <a:ea typeface="LG Smart_H Regular" panose="020B0600000101010101" pitchFamily="34" charset="-127"/>
              </a:rPr>
              <a:t>AddOn BENCH</a:t>
            </a:r>
            <a:endParaRPr lang="ko-KR" altLang="en-US" sz="1000" b="1" dirty="0">
              <a:solidFill>
                <a:schemeClr val="tx1"/>
              </a:solidFill>
              <a:latin typeface="LG Smart_H Regular" panose="020B0600000101010101" pitchFamily="34" charset="-127"/>
              <a:ea typeface="LG Smart_H Regular" panose="020B0600000101010101" pitchFamily="34" charset="-127"/>
            </a:endParaRPr>
          </a:p>
        </p:txBody>
      </p:sp>
      <p:cxnSp>
        <p:nvCxnSpPr>
          <p:cNvPr id="22" name="꺾인 연결선 181">
            <a:extLst>
              <a:ext uri="{FF2B5EF4-FFF2-40B4-BE49-F238E27FC236}">
                <a16:creationId xmlns:a16="http://schemas.microsoft.com/office/drawing/2014/main" id="{E04153DA-146F-F563-8187-A479376E3108}"/>
              </a:ext>
            </a:extLst>
          </p:cNvPr>
          <p:cNvCxnSpPr>
            <a:stCxn id="25" idx="2"/>
            <a:endCxn id="21" idx="0"/>
          </p:cNvCxnSpPr>
          <p:nvPr/>
        </p:nvCxnSpPr>
        <p:spPr>
          <a:xfrm rot="5400000">
            <a:off x="6895868" y="1746071"/>
            <a:ext cx="155872" cy="771232"/>
          </a:xfrm>
          <a:prstGeom prst="bentConnector3">
            <a:avLst>
              <a:gd name="adj1" fmla="val 50000"/>
            </a:avLst>
          </a:prstGeom>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3" name="꺾인 연결선 184">
            <a:extLst>
              <a:ext uri="{FF2B5EF4-FFF2-40B4-BE49-F238E27FC236}">
                <a16:creationId xmlns:a16="http://schemas.microsoft.com/office/drawing/2014/main" id="{487B7DA9-05A4-E0FC-B495-7A433131D384}"/>
              </a:ext>
            </a:extLst>
          </p:cNvPr>
          <p:cNvCxnSpPr>
            <a:stCxn id="21" idx="2"/>
            <a:endCxn id="16" idx="0"/>
          </p:cNvCxnSpPr>
          <p:nvPr/>
        </p:nvCxnSpPr>
        <p:spPr>
          <a:xfrm rot="5400000">
            <a:off x="6340161" y="2899332"/>
            <a:ext cx="492421" cy="3634"/>
          </a:xfrm>
          <a:prstGeom prst="bentConnector3">
            <a:avLst>
              <a:gd name="adj1" fmla="val 50000"/>
            </a:avLst>
          </a:prstGeom>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4" name="모서리가 둥근 직사각형 189">
            <a:extLst>
              <a:ext uri="{FF2B5EF4-FFF2-40B4-BE49-F238E27FC236}">
                <a16:creationId xmlns:a16="http://schemas.microsoft.com/office/drawing/2014/main" id="{C350A6AD-23AD-1A07-B9F0-1B566750640B}"/>
              </a:ext>
            </a:extLst>
          </p:cNvPr>
          <p:cNvSpPr/>
          <p:nvPr/>
        </p:nvSpPr>
        <p:spPr>
          <a:xfrm>
            <a:off x="7250237" y="1590954"/>
            <a:ext cx="183198" cy="180752"/>
          </a:xfrm>
          <a:prstGeom prst="roundRect">
            <a:avLst/>
          </a:prstGeom>
          <a:solidFill>
            <a:schemeClr val="bg1">
              <a:lumMod val="85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ko-KR" altLang="en-US" dirty="0">
              <a:latin typeface="LG Smart_H Regular" panose="020B0600000101010101" pitchFamily="34" charset="-127"/>
              <a:ea typeface="LG Smart_H Regular" panose="020B0600000101010101" pitchFamily="34" charset="-127"/>
            </a:endParaRPr>
          </a:p>
        </p:txBody>
      </p:sp>
      <p:sp>
        <p:nvSpPr>
          <p:cNvPr id="25" name="모서리가 둥근 직사각형 190">
            <a:extLst>
              <a:ext uri="{FF2B5EF4-FFF2-40B4-BE49-F238E27FC236}">
                <a16:creationId xmlns:a16="http://schemas.microsoft.com/office/drawing/2014/main" id="{9872E635-5115-B8C8-CB3D-E0D6B1CCFC41}"/>
              </a:ext>
            </a:extLst>
          </p:cNvPr>
          <p:cNvSpPr/>
          <p:nvPr/>
        </p:nvSpPr>
        <p:spPr>
          <a:xfrm>
            <a:off x="7267821" y="1872999"/>
            <a:ext cx="183198" cy="180752"/>
          </a:xfrm>
          <a:prstGeom prst="roundRect">
            <a:avLst/>
          </a:prstGeom>
          <a:solidFill>
            <a:schemeClr val="bg1">
              <a:lumMod val="85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ko-KR" altLang="en-US" dirty="0">
              <a:latin typeface="LG Smart_H Regular" panose="020B0600000101010101" pitchFamily="34" charset="-127"/>
              <a:ea typeface="LG Smart_H Regular" panose="020B0600000101010101" pitchFamily="34" charset="-127"/>
            </a:endParaRPr>
          </a:p>
        </p:txBody>
      </p:sp>
      <p:sp>
        <p:nvSpPr>
          <p:cNvPr id="26" name="모서리가 둥근 직사각형 191">
            <a:extLst>
              <a:ext uri="{FF2B5EF4-FFF2-40B4-BE49-F238E27FC236}">
                <a16:creationId xmlns:a16="http://schemas.microsoft.com/office/drawing/2014/main" id="{8C7CB07E-AB38-7D65-4FBD-04426DBFD641}"/>
              </a:ext>
            </a:extLst>
          </p:cNvPr>
          <p:cNvSpPr/>
          <p:nvPr/>
        </p:nvSpPr>
        <p:spPr>
          <a:xfrm>
            <a:off x="7809178" y="1899457"/>
            <a:ext cx="183198" cy="180752"/>
          </a:xfrm>
          <a:prstGeom prst="roundRect">
            <a:avLst/>
          </a:prstGeom>
          <a:solidFill>
            <a:schemeClr val="bg1">
              <a:lumMod val="85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ko-KR" altLang="en-US" dirty="0">
              <a:latin typeface="LG Smart_H Regular" panose="020B0600000101010101" pitchFamily="34" charset="-127"/>
              <a:ea typeface="LG Smart_H Regular" panose="020B0600000101010101" pitchFamily="34" charset="-127"/>
            </a:endParaRPr>
          </a:p>
        </p:txBody>
      </p:sp>
      <p:sp>
        <p:nvSpPr>
          <p:cNvPr id="27" name="직사각형 194">
            <a:extLst>
              <a:ext uri="{FF2B5EF4-FFF2-40B4-BE49-F238E27FC236}">
                <a16:creationId xmlns:a16="http://schemas.microsoft.com/office/drawing/2014/main" id="{5B29EF98-07C2-456B-F9D6-E3248EFFD64C}"/>
              </a:ext>
            </a:extLst>
          </p:cNvPr>
          <p:cNvSpPr/>
          <p:nvPr/>
        </p:nvSpPr>
        <p:spPr>
          <a:xfrm>
            <a:off x="4050909" y="1779551"/>
            <a:ext cx="1119516" cy="453358"/>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ko-KR" sz="1000" b="1" dirty="0">
                <a:solidFill>
                  <a:schemeClr val="tx1"/>
                </a:solidFill>
                <a:latin typeface="LG Smart_H Regular" panose="020B0600000101010101" pitchFamily="34" charset="-127"/>
                <a:ea typeface="LG Smart_H Regular" panose="020B0600000101010101" pitchFamily="34" charset="-127"/>
              </a:rPr>
              <a:t>AVMT</a:t>
            </a:r>
            <a:endParaRPr lang="ko-KR" altLang="en-US" sz="1000" b="1" dirty="0">
              <a:solidFill>
                <a:schemeClr val="tx1"/>
              </a:solidFill>
              <a:latin typeface="LG Smart_H Regular" panose="020B0600000101010101" pitchFamily="34" charset="-127"/>
              <a:ea typeface="LG Smart_H Regular" panose="020B0600000101010101" pitchFamily="34" charset="-127"/>
            </a:endParaRPr>
          </a:p>
        </p:txBody>
      </p:sp>
      <p:cxnSp>
        <p:nvCxnSpPr>
          <p:cNvPr id="29" name="꺾인 연결선 205">
            <a:extLst>
              <a:ext uri="{FF2B5EF4-FFF2-40B4-BE49-F238E27FC236}">
                <a16:creationId xmlns:a16="http://schemas.microsoft.com/office/drawing/2014/main" id="{81BF5205-E234-F1F9-DE10-36C57C48B71D}"/>
              </a:ext>
            </a:extLst>
          </p:cNvPr>
          <p:cNvCxnSpPr>
            <a:stCxn id="24" idx="1"/>
            <a:endCxn id="27" idx="3"/>
          </p:cNvCxnSpPr>
          <p:nvPr/>
        </p:nvCxnSpPr>
        <p:spPr>
          <a:xfrm rot="10800000" flipV="1">
            <a:off x="5170425" y="1681330"/>
            <a:ext cx="2079812" cy="324900"/>
          </a:xfrm>
          <a:prstGeom prst="bentConnector3">
            <a:avLst>
              <a:gd name="adj1" fmla="val 50000"/>
            </a:avLst>
          </a:prstGeom>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30" name="그림 28">
            <a:extLst>
              <a:ext uri="{FF2B5EF4-FFF2-40B4-BE49-F238E27FC236}">
                <a16:creationId xmlns:a16="http://schemas.microsoft.com/office/drawing/2014/main" id="{55075C69-64E5-1878-C74A-8222E8065A46}"/>
              </a:ext>
            </a:extLst>
          </p:cNvPr>
          <p:cNvPicPr>
            <a:picLocks noChangeAspect="1"/>
          </p:cNvPicPr>
          <p:nvPr/>
        </p:nvPicPr>
        <p:blipFill>
          <a:blip r:embed="rId4"/>
          <a:stretch>
            <a:fillRect/>
          </a:stretch>
        </p:blipFill>
        <p:spPr>
          <a:xfrm>
            <a:off x="4026362" y="3340210"/>
            <a:ext cx="227536" cy="299934"/>
          </a:xfrm>
          <a:prstGeom prst="rect">
            <a:avLst/>
          </a:prstGeom>
        </p:spPr>
      </p:pic>
      <p:sp>
        <p:nvSpPr>
          <p:cNvPr id="32" name="직사각형 125">
            <a:extLst>
              <a:ext uri="{FF2B5EF4-FFF2-40B4-BE49-F238E27FC236}">
                <a16:creationId xmlns:a16="http://schemas.microsoft.com/office/drawing/2014/main" id="{1B8E01FB-4AC3-87BB-8BC1-6C378A2A2617}"/>
              </a:ext>
            </a:extLst>
          </p:cNvPr>
          <p:cNvSpPr/>
          <p:nvPr/>
        </p:nvSpPr>
        <p:spPr>
          <a:xfrm>
            <a:off x="5824331" y="3664093"/>
            <a:ext cx="477408" cy="283315"/>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ko-KR" sz="1000" b="1" dirty="0">
                <a:solidFill>
                  <a:schemeClr val="tx1"/>
                </a:solidFill>
                <a:latin typeface="LG Smart_H Regular" panose="020B0600000101010101" pitchFamily="34" charset="-127"/>
                <a:ea typeface="LG Smart_H Regular" panose="020B0600000101010101" pitchFamily="34" charset="-127"/>
              </a:rPr>
              <a:t>USB</a:t>
            </a:r>
            <a:endParaRPr lang="ko-KR" altLang="en-US" sz="1000" b="1" dirty="0">
              <a:solidFill>
                <a:schemeClr val="tx1"/>
              </a:solidFill>
              <a:latin typeface="LG Smart_H Regular" panose="020B0600000101010101" pitchFamily="34" charset="-127"/>
              <a:ea typeface="LG Smart_H Regular" panose="020B0600000101010101" pitchFamily="34" charset="-127"/>
            </a:endParaRPr>
          </a:p>
        </p:txBody>
      </p:sp>
      <p:cxnSp>
        <p:nvCxnSpPr>
          <p:cNvPr id="33" name="꺾인 연결선 131">
            <a:extLst>
              <a:ext uri="{FF2B5EF4-FFF2-40B4-BE49-F238E27FC236}">
                <a16:creationId xmlns:a16="http://schemas.microsoft.com/office/drawing/2014/main" id="{D4AF8F30-C451-6972-B53A-9596A149BEEB}"/>
              </a:ext>
            </a:extLst>
          </p:cNvPr>
          <p:cNvCxnSpPr>
            <a:stCxn id="30" idx="2"/>
            <a:endCxn id="32" idx="1"/>
          </p:cNvCxnSpPr>
          <p:nvPr/>
        </p:nvCxnSpPr>
        <p:spPr>
          <a:xfrm rot="16200000" flipH="1">
            <a:off x="4899427" y="2880846"/>
            <a:ext cx="165607" cy="1684201"/>
          </a:xfrm>
          <a:prstGeom prst="bentConnector2">
            <a:avLst/>
          </a:prstGeom>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44" name="Elbow Connector 66">
            <a:extLst>
              <a:ext uri="{FF2B5EF4-FFF2-40B4-BE49-F238E27FC236}">
                <a16:creationId xmlns:a16="http://schemas.microsoft.com/office/drawing/2014/main" id="{A043D282-9B40-E2A8-E7A5-62BAA5A94563}"/>
              </a:ext>
            </a:extLst>
          </p:cNvPr>
          <p:cNvCxnSpPr>
            <a:stCxn id="27" idx="0"/>
            <a:endCxn id="16" idx="2"/>
          </p:cNvCxnSpPr>
          <p:nvPr/>
        </p:nvCxnSpPr>
        <p:spPr>
          <a:xfrm rot="16200000" flipH="1">
            <a:off x="4739332" y="1650886"/>
            <a:ext cx="1716556" cy="1973887"/>
          </a:xfrm>
          <a:prstGeom prst="bentConnector5">
            <a:avLst>
              <a:gd name="adj1" fmla="val -22025"/>
              <a:gd name="adj2" fmla="val 203240"/>
              <a:gd name="adj3" fmla="val 113317"/>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5" name="Rounded Rectangle 70">
            <a:extLst>
              <a:ext uri="{FF2B5EF4-FFF2-40B4-BE49-F238E27FC236}">
                <a16:creationId xmlns:a16="http://schemas.microsoft.com/office/drawing/2014/main" id="{D86D283A-F3EE-0E33-4E81-1BEEFE58E01D}"/>
              </a:ext>
            </a:extLst>
          </p:cNvPr>
          <p:cNvSpPr/>
          <p:nvPr/>
        </p:nvSpPr>
        <p:spPr>
          <a:xfrm>
            <a:off x="6512754" y="3419871"/>
            <a:ext cx="149469" cy="131884"/>
          </a:xfrm>
          <a:prstGeom prst="roundRect">
            <a:avLst/>
          </a:prstGeom>
          <a:solidFill>
            <a:schemeClr val="bg1">
              <a:lumMod val="85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US">
              <a:latin typeface="LG Smart_H Regular" panose="020B0600000101010101" pitchFamily="34" charset="-127"/>
              <a:ea typeface="LG Smart_H Regular" panose="020B0600000101010101" pitchFamily="34" charset="-127"/>
            </a:endParaRPr>
          </a:p>
        </p:txBody>
      </p:sp>
      <p:sp>
        <p:nvSpPr>
          <p:cNvPr id="48" name="TextBox 47">
            <a:extLst>
              <a:ext uri="{FF2B5EF4-FFF2-40B4-BE49-F238E27FC236}">
                <a16:creationId xmlns:a16="http://schemas.microsoft.com/office/drawing/2014/main" id="{CD032016-3389-15D1-1BB7-62DFA68E604A}"/>
              </a:ext>
            </a:extLst>
          </p:cNvPr>
          <p:cNvSpPr txBox="1"/>
          <p:nvPr/>
        </p:nvSpPr>
        <p:spPr>
          <a:xfrm>
            <a:off x="6653432" y="1371262"/>
            <a:ext cx="712177" cy="215444"/>
          </a:xfrm>
          <a:prstGeom prst="rect">
            <a:avLst/>
          </a:prstGeom>
          <a:noFill/>
        </p:spPr>
        <p:txBody>
          <a:bodyPr wrap="square" rtlCol="0">
            <a:spAutoFit/>
          </a:bodyPr>
          <a:lstStyle/>
          <a:p>
            <a:r>
              <a:rPr lang="en-US" sz="800">
                <a:latin typeface="LG Smart_H Regular" panose="020B0600000101010101" pitchFamily="34" charset="-127"/>
                <a:ea typeface="LG Smart_H Regular" panose="020B0600000101010101" pitchFamily="34" charset="-127"/>
              </a:rPr>
              <a:t>AV cable</a:t>
            </a:r>
          </a:p>
        </p:txBody>
      </p:sp>
      <p:sp>
        <p:nvSpPr>
          <p:cNvPr id="49" name="TextBox 48">
            <a:extLst>
              <a:ext uri="{FF2B5EF4-FFF2-40B4-BE49-F238E27FC236}">
                <a16:creationId xmlns:a16="http://schemas.microsoft.com/office/drawing/2014/main" id="{529C889B-DCFB-A8FE-249B-CFC56C464365}"/>
              </a:ext>
            </a:extLst>
          </p:cNvPr>
          <p:cNvSpPr txBox="1"/>
          <p:nvPr/>
        </p:nvSpPr>
        <p:spPr>
          <a:xfrm>
            <a:off x="5240801" y="1734680"/>
            <a:ext cx="885092" cy="215444"/>
          </a:xfrm>
          <a:prstGeom prst="rect">
            <a:avLst/>
          </a:prstGeom>
          <a:noFill/>
        </p:spPr>
        <p:txBody>
          <a:bodyPr wrap="square" rtlCol="0">
            <a:spAutoFit/>
          </a:bodyPr>
          <a:lstStyle/>
          <a:p>
            <a:r>
              <a:rPr lang="en-US" sz="800">
                <a:latin typeface="LG Smart_H Regular" panose="020B0600000101010101" pitchFamily="34" charset="-127"/>
                <a:ea typeface="LG Smart_H Regular" panose="020B0600000101010101" pitchFamily="34" charset="-127"/>
              </a:rPr>
              <a:t>LAN Cable</a:t>
            </a:r>
          </a:p>
        </p:txBody>
      </p:sp>
      <p:sp>
        <p:nvSpPr>
          <p:cNvPr id="50" name="TextBox 49">
            <a:extLst>
              <a:ext uri="{FF2B5EF4-FFF2-40B4-BE49-F238E27FC236}">
                <a16:creationId xmlns:a16="http://schemas.microsoft.com/office/drawing/2014/main" id="{82E6AC73-B909-9AB2-00CB-1DB286454D4C}"/>
              </a:ext>
            </a:extLst>
          </p:cNvPr>
          <p:cNvSpPr txBox="1"/>
          <p:nvPr/>
        </p:nvSpPr>
        <p:spPr>
          <a:xfrm>
            <a:off x="4639992" y="3455040"/>
            <a:ext cx="1292474" cy="338554"/>
          </a:xfrm>
          <a:prstGeom prst="rect">
            <a:avLst/>
          </a:prstGeom>
          <a:noFill/>
        </p:spPr>
        <p:txBody>
          <a:bodyPr wrap="square" rtlCol="0">
            <a:spAutoFit/>
          </a:bodyPr>
          <a:lstStyle/>
          <a:p>
            <a:r>
              <a:rPr lang="en-US" sz="800">
                <a:latin typeface="LG Smart_H Regular" panose="020B0600000101010101" pitchFamily="34" charset="-127"/>
                <a:ea typeface="LG Smart_H Regular" panose="020B0600000101010101" pitchFamily="34" charset="-127"/>
              </a:rPr>
              <a:t>USB contain 1khz file will be played</a:t>
            </a:r>
          </a:p>
        </p:txBody>
      </p:sp>
      <p:sp>
        <p:nvSpPr>
          <p:cNvPr id="51" name="TextBox 50">
            <a:extLst>
              <a:ext uri="{FF2B5EF4-FFF2-40B4-BE49-F238E27FC236}">
                <a16:creationId xmlns:a16="http://schemas.microsoft.com/office/drawing/2014/main" id="{39B405ED-41CB-1104-A124-4202F22C4306}"/>
              </a:ext>
            </a:extLst>
          </p:cNvPr>
          <p:cNvSpPr txBox="1"/>
          <p:nvPr/>
        </p:nvSpPr>
        <p:spPr>
          <a:xfrm>
            <a:off x="3702146" y="2244633"/>
            <a:ext cx="2186358" cy="461665"/>
          </a:xfrm>
          <a:prstGeom prst="rect">
            <a:avLst/>
          </a:prstGeom>
          <a:noFill/>
        </p:spPr>
        <p:txBody>
          <a:bodyPr wrap="square" rtlCol="0">
            <a:spAutoFit/>
          </a:bodyPr>
          <a:lstStyle/>
          <a:p>
            <a:r>
              <a:rPr lang="en-US" sz="800">
                <a:solidFill>
                  <a:srgbClr val="FF0000"/>
                </a:solidFill>
                <a:latin typeface="LG Smart_H Regular" panose="020B0600000101010101" pitchFamily="34" charset="-127"/>
                <a:ea typeface="LG Smart_H Regular" panose="020B0600000101010101" pitchFamily="34" charset="-127"/>
              </a:rPr>
              <a:t>AVMT proceed measure the level each channel (RL, RR) and return result to Bench</a:t>
            </a:r>
          </a:p>
          <a:p>
            <a:r>
              <a:rPr lang="en-US" sz="800" i="1">
                <a:solidFill>
                  <a:srgbClr val="FF0000"/>
                </a:solidFill>
                <a:latin typeface="LG Smart_H Regular" panose="020B0600000101010101" pitchFamily="34" charset="-127"/>
                <a:ea typeface="LG Smart_H Regular" panose="020B0600000101010101" pitchFamily="34" charset="-127"/>
              </a:rPr>
              <a:t>  </a:t>
            </a:r>
          </a:p>
        </p:txBody>
      </p:sp>
      <p:pic>
        <p:nvPicPr>
          <p:cNvPr id="52" name="Picture 5">
            <a:extLst>
              <a:ext uri="{FF2B5EF4-FFF2-40B4-BE49-F238E27FC236}">
                <a16:creationId xmlns:a16="http://schemas.microsoft.com/office/drawing/2014/main" id="{ECB6ED56-F425-EB7C-0C34-C6664450340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7278" y="1606335"/>
            <a:ext cx="2677116" cy="10290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3" name="직사각형 125">
            <a:extLst>
              <a:ext uri="{FF2B5EF4-FFF2-40B4-BE49-F238E27FC236}">
                <a16:creationId xmlns:a16="http://schemas.microsoft.com/office/drawing/2014/main" id="{C5324546-B775-01D6-6BB3-D0563ED18648}"/>
              </a:ext>
            </a:extLst>
          </p:cNvPr>
          <p:cNvSpPr/>
          <p:nvPr/>
        </p:nvSpPr>
        <p:spPr>
          <a:xfrm>
            <a:off x="1668503" y="2998807"/>
            <a:ext cx="477408" cy="283315"/>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ko-KR" sz="1000" b="1" dirty="0">
                <a:solidFill>
                  <a:schemeClr val="tx1"/>
                </a:solidFill>
                <a:latin typeface="LG Smart_H Regular" panose="020B0600000101010101" pitchFamily="34" charset="-127"/>
                <a:ea typeface="LG Smart_H Regular" panose="020B0600000101010101" pitchFamily="34" charset="-127"/>
              </a:rPr>
              <a:t>USB</a:t>
            </a:r>
            <a:endParaRPr lang="ko-KR" altLang="en-US" sz="1000" b="1" dirty="0">
              <a:solidFill>
                <a:schemeClr val="tx1"/>
              </a:solidFill>
              <a:latin typeface="LG Smart_H Regular" panose="020B0600000101010101" pitchFamily="34" charset="-127"/>
              <a:ea typeface="LG Smart_H Regular" panose="020B0600000101010101" pitchFamily="34" charset="-127"/>
            </a:endParaRPr>
          </a:p>
        </p:txBody>
      </p:sp>
      <p:sp>
        <p:nvSpPr>
          <p:cNvPr id="54" name="Oval 53">
            <a:extLst>
              <a:ext uri="{FF2B5EF4-FFF2-40B4-BE49-F238E27FC236}">
                <a16:creationId xmlns:a16="http://schemas.microsoft.com/office/drawing/2014/main" id="{7312285E-2738-F461-C33C-0DC333CF8A57}"/>
              </a:ext>
            </a:extLst>
          </p:cNvPr>
          <p:cNvSpPr/>
          <p:nvPr/>
        </p:nvSpPr>
        <p:spPr>
          <a:xfrm>
            <a:off x="2204529" y="2162569"/>
            <a:ext cx="342900" cy="43961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Arrow Connector 54">
            <a:extLst>
              <a:ext uri="{FF2B5EF4-FFF2-40B4-BE49-F238E27FC236}">
                <a16:creationId xmlns:a16="http://schemas.microsoft.com/office/drawing/2014/main" id="{739EEDEB-3E24-E042-0FB2-B9A2BC1422B7}"/>
              </a:ext>
            </a:extLst>
          </p:cNvPr>
          <p:cNvCxnSpPr>
            <a:stCxn id="53" idx="0"/>
          </p:cNvCxnSpPr>
          <p:nvPr/>
        </p:nvCxnSpPr>
        <p:spPr>
          <a:xfrm flipV="1">
            <a:off x="1907207" y="2637353"/>
            <a:ext cx="420414" cy="36145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1A61BD83-F8BD-2106-13C3-C055F32A6B9C}"/>
              </a:ext>
            </a:extLst>
          </p:cNvPr>
          <p:cNvSpPr/>
          <p:nvPr/>
        </p:nvSpPr>
        <p:spPr>
          <a:xfrm>
            <a:off x="7054951" y="2745014"/>
            <a:ext cx="882161" cy="584775"/>
          </a:xfrm>
          <a:prstGeom prst="rect">
            <a:avLst/>
          </a:prstGeom>
        </p:spPr>
        <p:txBody>
          <a:bodyPr wrap="square">
            <a:spAutoFit/>
          </a:bodyPr>
          <a:lstStyle/>
          <a:p>
            <a:r>
              <a:rPr lang="en-US" sz="800">
                <a:latin typeface="LG Smart_H Regular" panose="020B0600000101010101" pitchFamily="34" charset="-127"/>
                <a:ea typeface="LG Smart_H Regular" panose="020B0600000101010101" pitchFamily="34" charset="-127"/>
              </a:rPr>
              <a:t>The measured level result was sent back to program </a:t>
            </a:r>
          </a:p>
        </p:txBody>
      </p:sp>
      <p:sp>
        <p:nvSpPr>
          <p:cNvPr id="57" name="Rectangle 56">
            <a:extLst>
              <a:ext uri="{FF2B5EF4-FFF2-40B4-BE49-F238E27FC236}">
                <a16:creationId xmlns:a16="http://schemas.microsoft.com/office/drawing/2014/main" id="{FFBCA271-9608-6821-B9D0-BF4D253EB3BE}"/>
              </a:ext>
            </a:extLst>
          </p:cNvPr>
          <p:cNvSpPr/>
          <p:nvPr/>
        </p:nvSpPr>
        <p:spPr>
          <a:xfrm>
            <a:off x="1808859" y="4442618"/>
            <a:ext cx="829407" cy="323165"/>
          </a:xfrm>
          <a:prstGeom prst="rect">
            <a:avLst/>
          </a:prstGeom>
        </p:spPr>
        <p:txBody>
          <a:bodyPr wrap="square">
            <a:spAutoFit/>
          </a:bodyPr>
          <a:lstStyle/>
          <a:p>
            <a:pPr>
              <a:lnSpc>
                <a:spcPct val="150000"/>
              </a:lnSpc>
              <a:defRPr/>
            </a:pPr>
            <a:r>
              <a:rPr lang="en-US" altLang="ko-KR" sz="1000" b="1" dirty="0">
                <a:solidFill>
                  <a:srgbClr val="FF0000"/>
                </a:solidFill>
                <a:latin typeface="LG Smart_H Regular" panose="020B0600000101010101" pitchFamily="34" charset="-127"/>
                <a:ea typeface="LG Smart_H Regular" panose="020B0600000101010101" pitchFamily="34" charset="-127"/>
                <a:sym typeface="Wingdings" panose="05000000000000000000" pitchFamily="2" charset="2"/>
              </a:rPr>
              <a:t>AUX Off</a:t>
            </a:r>
          </a:p>
        </p:txBody>
      </p:sp>
      <p:sp>
        <p:nvSpPr>
          <p:cNvPr id="58" name="Rectangle 57">
            <a:extLst>
              <a:ext uri="{FF2B5EF4-FFF2-40B4-BE49-F238E27FC236}">
                <a16:creationId xmlns:a16="http://schemas.microsoft.com/office/drawing/2014/main" id="{AC47E0BE-92B7-E82C-21C8-7FBCC01311AA}"/>
              </a:ext>
            </a:extLst>
          </p:cNvPr>
          <p:cNvSpPr/>
          <p:nvPr/>
        </p:nvSpPr>
        <p:spPr>
          <a:xfrm>
            <a:off x="1394156" y="4790332"/>
            <a:ext cx="829407" cy="298095"/>
          </a:xfrm>
          <a:prstGeom prst="rect">
            <a:avLst/>
          </a:prstGeom>
        </p:spPr>
        <p:txBody>
          <a:bodyPr wrap="square">
            <a:spAutoFit/>
          </a:bodyPr>
          <a:lstStyle/>
          <a:p>
            <a:pPr>
              <a:lnSpc>
                <a:spcPct val="150000"/>
              </a:lnSpc>
              <a:defRPr/>
            </a:pPr>
            <a:r>
              <a:rPr lang="en-US" altLang="ko-KR" sz="1000" b="1" dirty="0">
                <a:solidFill>
                  <a:srgbClr val="00B050"/>
                </a:solidFill>
                <a:latin typeface="LG Smart_H Regular" panose="020B0600000101010101" pitchFamily="34" charset="-127"/>
                <a:ea typeface="LG Smart_H Regular" panose="020B0600000101010101" pitchFamily="34" charset="-127"/>
                <a:sym typeface="Wingdings" panose="05000000000000000000" pitchFamily="2" charset="2"/>
              </a:rPr>
              <a:t>USB Play</a:t>
            </a:r>
          </a:p>
        </p:txBody>
      </p:sp>
    </p:spTree>
    <p:extLst>
      <p:ext uri="{BB962C8B-B14F-4D97-AF65-F5344CB8AC3E}">
        <p14:creationId xmlns:p14="http://schemas.microsoft.com/office/powerpoint/2010/main" val="41628717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7457C-9785-D8FD-2DEC-9163DDC72DC6}"/>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6F1B718C-6D1C-F761-022B-1B496A68E76B}"/>
              </a:ext>
            </a:extLst>
          </p:cNvPr>
          <p:cNvCxnSpPr/>
          <p:nvPr/>
        </p:nvCxnSpPr>
        <p:spPr>
          <a:xfrm>
            <a:off x="-12488" y="561513"/>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 name="제목 1">
            <a:extLst>
              <a:ext uri="{FF2B5EF4-FFF2-40B4-BE49-F238E27FC236}">
                <a16:creationId xmlns:a16="http://schemas.microsoft.com/office/drawing/2014/main" id="{D2876D7C-2DF5-26A5-1D4C-5C5DD3F751AF}"/>
              </a:ext>
            </a:extLst>
          </p:cNvPr>
          <p:cNvSpPr txBox="1">
            <a:spLocks/>
          </p:cNvSpPr>
          <p:nvPr/>
        </p:nvSpPr>
        <p:spPr>
          <a:xfrm>
            <a:off x="27541" y="64338"/>
            <a:ext cx="6525659" cy="418058"/>
          </a:xfrm>
          <a:prstGeom prst="rect">
            <a:avLst/>
          </a:prstGeom>
        </p:spPr>
        <p:txBody>
          <a:bodyPr vert="horz" lIns="91440" tIns="45720" rIns="91440" bIns="45720" rtlCol="0" anchor="ctr">
            <a:noAutofit/>
          </a:bodyPr>
          <a:lstStyle/>
          <a:p>
            <a:pPr eaLnBrk="0" hangingPunct="0">
              <a:defRPr/>
            </a:pPr>
            <a:r>
              <a:rPr lang="en-US" altLang="ko-KR" sz="2000" b="1" kern="0" dirty="0">
                <a:solidFill>
                  <a:srgbClr val="000000"/>
                </a:solidFill>
                <a:latin typeface="Arial Narrow" panose="020B0606020202030204" pitchFamily="34" charset="0"/>
                <a:ea typeface="LG Smart_H Regular" pitchFamily="34" charset="-127"/>
              </a:rPr>
              <a:t>4. Improvement</a:t>
            </a:r>
            <a:endParaRPr lang="ko-KR" altLang="en-US" sz="2000" b="1" kern="0" dirty="0">
              <a:solidFill>
                <a:srgbClr val="000000"/>
              </a:solidFill>
              <a:latin typeface="Arial Narrow" panose="020B0606020202030204" pitchFamily="34" charset="0"/>
              <a:ea typeface="LG Smart_H Regular" pitchFamily="34" charset="-127"/>
            </a:endParaRPr>
          </a:p>
        </p:txBody>
      </p:sp>
      <p:sp>
        <p:nvSpPr>
          <p:cNvPr id="3" name="AutoShape 55">
            <a:extLst>
              <a:ext uri="{FF2B5EF4-FFF2-40B4-BE49-F238E27FC236}">
                <a16:creationId xmlns:a16="http://schemas.microsoft.com/office/drawing/2014/main" id="{F7E699D0-2155-3B79-338E-87C938A9B263}"/>
              </a:ext>
            </a:extLst>
          </p:cNvPr>
          <p:cNvSpPr>
            <a:spLocks noChangeArrowheads="1"/>
          </p:cNvSpPr>
          <p:nvPr/>
        </p:nvSpPr>
        <p:spPr bwMode="auto">
          <a:xfrm>
            <a:off x="9136626" y="202277"/>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cs typeface="Arial" panose="020B0604020202020204" pitchFamily="34" charset="0"/>
              </a:rPr>
              <a:t>Control</a:t>
            </a:r>
          </a:p>
        </p:txBody>
      </p:sp>
      <p:sp>
        <p:nvSpPr>
          <p:cNvPr id="6" name="AutoShape 57">
            <a:extLst>
              <a:ext uri="{FF2B5EF4-FFF2-40B4-BE49-F238E27FC236}">
                <a16:creationId xmlns:a16="http://schemas.microsoft.com/office/drawing/2014/main" id="{7EC43BB6-79D1-7C8F-F8DC-4E471E1CB103}"/>
              </a:ext>
            </a:extLst>
          </p:cNvPr>
          <p:cNvSpPr>
            <a:spLocks noChangeArrowheads="1"/>
          </p:cNvSpPr>
          <p:nvPr/>
        </p:nvSpPr>
        <p:spPr bwMode="auto">
          <a:xfrm>
            <a:off x="7755501" y="202277"/>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cs typeface="Arial" panose="020B0604020202020204" pitchFamily="34" charset="0"/>
              </a:rPr>
              <a:t>Analyze</a:t>
            </a:r>
          </a:p>
        </p:txBody>
      </p:sp>
      <p:sp>
        <p:nvSpPr>
          <p:cNvPr id="7" name="AutoShape 58">
            <a:extLst>
              <a:ext uri="{FF2B5EF4-FFF2-40B4-BE49-F238E27FC236}">
                <a16:creationId xmlns:a16="http://schemas.microsoft.com/office/drawing/2014/main" id="{B23A461D-1B37-A5A0-A308-1CE77A3F56FB}"/>
              </a:ext>
            </a:extLst>
          </p:cNvPr>
          <p:cNvSpPr>
            <a:spLocks noChangeArrowheads="1"/>
          </p:cNvSpPr>
          <p:nvPr/>
        </p:nvSpPr>
        <p:spPr bwMode="auto">
          <a:xfrm>
            <a:off x="7083988" y="202277"/>
            <a:ext cx="747713" cy="287338"/>
          </a:xfrm>
          <a:prstGeom prst="homePlate">
            <a:avLst>
              <a:gd name="adj" fmla="val 46599"/>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cs typeface="Arial" panose="020B0604020202020204" pitchFamily="34" charset="0"/>
              </a:rPr>
              <a:t>Measure </a:t>
            </a:r>
          </a:p>
        </p:txBody>
      </p:sp>
      <p:sp>
        <p:nvSpPr>
          <p:cNvPr id="8" name="AutoShape 59">
            <a:extLst>
              <a:ext uri="{FF2B5EF4-FFF2-40B4-BE49-F238E27FC236}">
                <a16:creationId xmlns:a16="http://schemas.microsoft.com/office/drawing/2014/main" id="{5B6609F4-B23F-7B2A-0B6D-F2D9BF4979FE}"/>
              </a:ext>
            </a:extLst>
          </p:cNvPr>
          <p:cNvSpPr>
            <a:spLocks noChangeArrowheads="1"/>
          </p:cNvSpPr>
          <p:nvPr/>
        </p:nvSpPr>
        <p:spPr bwMode="auto">
          <a:xfrm>
            <a:off x="6387076" y="202277"/>
            <a:ext cx="757237" cy="287338"/>
          </a:xfrm>
          <a:prstGeom prst="homePlate">
            <a:avLst>
              <a:gd name="adj" fmla="val 47192"/>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cs typeface="Arial" panose="020B0604020202020204" pitchFamily="34" charset="0"/>
              </a:rPr>
              <a:t>Define</a:t>
            </a:r>
          </a:p>
        </p:txBody>
      </p:sp>
      <p:sp>
        <p:nvSpPr>
          <p:cNvPr id="9" name="AutoShape 56">
            <a:extLst>
              <a:ext uri="{FF2B5EF4-FFF2-40B4-BE49-F238E27FC236}">
                <a16:creationId xmlns:a16="http://schemas.microsoft.com/office/drawing/2014/main" id="{A3D76788-0AF0-73D7-8F08-B6B3F8112429}"/>
              </a:ext>
            </a:extLst>
          </p:cNvPr>
          <p:cNvSpPr>
            <a:spLocks noChangeArrowheads="1"/>
          </p:cNvSpPr>
          <p:nvPr/>
        </p:nvSpPr>
        <p:spPr bwMode="auto">
          <a:xfrm>
            <a:off x="8447651" y="76865"/>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latin typeface="Arial Narrow" panose="020B0606020202030204" pitchFamily="34" charset="0"/>
                <a:ea typeface="맑은 고딕" panose="020B0503020000020004" pitchFamily="50" charset="-127"/>
                <a:cs typeface="Arial" panose="020B0604020202020204" pitchFamily="34" charset="0"/>
              </a:rPr>
              <a:t>Improve</a:t>
            </a:r>
          </a:p>
        </p:txBody>
      </p:sp>
      <p:sp>
        <p:nvSpPr>
          <p:cNvPr id="10" name="Rectangle 9">
            <a:extLst>
              <a:ext uri="{FF2B5EF4-FFF2-40B4-BE49-F238E27FC236}">
                <a16:creationId xmlns:a16="http://schemas.microsoft.com/office/drawing/2014/main" id="{33757B86-9024-40DE-0D33-8CC793FA3FA6}"/>
              </a:ext>
            </a:extLst>
          </p:cNvPr>
          <p:cNvSpPr/>
          <p:nvPr/>
        </p:nvSpPr>
        <p:spPr>
          <a:xfrm>
            <a:off x="314446" y="910615"/>
            <a:ext cx="4767508" cy="572593"/>
          </a:xfrm>
          <a:prstGeom prst="rect">
            <a:avLst/>
          </a:prstGeom>
        </p:spPr>
        <p:txBody>
          <a:bodyPr wrap="square">
            <a:spAutoFit/>
          </a:bodyPr>
          <a:lstStyle/>
          <a:p>
            <a:pPr>
              <a:lnSpc>
                <a:spcPct val="150000"/>
              </a:lnSpc>
              <a:defRPr/>
            </a:pPr>
            <a:r>
              <a:rPr lang="en-US" altLang="ko-KR" sz="1100" b="1" u="sng" dirty="0">
                <a:latin typeface="Arial Narrow" panose="020B0606020202030204" pitchFamily="34" charset="0"/>
                <a:ea typeface="LG Smart_H Regular" panose="020B0600000101010101" pitchFamily="34" charset="-127"/>
                <a:sym typeface="Wingdings" panose="05000000000000000000" pitchFamily="2" charset="2"/>
              </a:rPr>
              <a:t>Action</a:t>
            </a:r>
            <a:r>
              <a:rPr lang="en-US" altLang="ko-KR" sz="1100" dirty="0">
                <a:latin typeface="Arial Narrow" panose="020B0606020202030204" pitchFamily="34" charset="0"/>
                <a:ea typeface="LG Smart_H Regular" panose="020B0600000101010101" pitchFamily="34" charset="-127"/>
                <a:sym typeface="Wingdings" panose="05000000000000000000" pitchFamily="2" charset="2"/>
              </a:rPr>
              <a:t>: </a:t>
            </a:r>
            <a:r>
              <a:rPr lang="en-US" sz="1100" dirty="0">
                <a:latin typeface="Arial Narrow" panose="020B0606020202030204" pitchFamily="34" charset="0"/>
                <a:ea typeface="LG Smart_H Regular" panose="020B0600000101010101" pitchFamily="34" charset="-127"/>
                <a:sym typeface="Wingdings" panose="05000000000000000000" pitchFamily="2" charset="2"/>
              </a:rPr>
              <a:t>Modify job file – change the sequence test between USB test &amp; AUX test. </a:t>
            </a:r>
          </a:p>
          <a:p>
            <a:pPr>
              <a:lnSpc>
                <a:spcPct val="150000"/>
              </a:lnSpc>
              <a:defRPr/>
            </a:pPr>
            <a:r>
              <a:rPr lang="en-US" sz="1100" dirty="0">
                <a:latin typeface="Arial Narrow" panose="020B0606020202030204" pitchFamily="34" charset="0"/>
                <a:ea typeface="LG Smart_H Regular" panose="020B0600000101010101" pitchFamily="34" charset="-127"/>
              </a:rPr>
              <a:t>All the USB test function will be test first, and then AUX will be test after it.</a:t>
            </a:r>
          </a:p>
        </p:txBody>
      </p:sp>
      <p:sp>
        <p:nvSpPr>
          <p:cNvPr id="28" name="제목 1">
            <a:extLst>
              <a:ext uri="{FF2B5EF4-FFF2-40B4-BE49-F238E27FC236}">
                <a16:creationId xmlns:a16="http://schemas.microsoft.com/office/drawing/2014/main" id="{8B437B7C-9DFF-3D38-043A-DBFA1AA5B8B4}"/>
              </a:ext>
            </a:extLst>
          </p:cNvPr>
          <p:cNvSpPr txBox="1">
            <a:spLocks/>
          </p:cNvSpPr>
          <p:nvPr/>
        </p:nvSpPr>
        <p:spPr>
          <a:xfrm>
            <a:off x="152400" y="565786"/>
            <a:ext cx="5634942" cy="418058"/>
          </a:xfrm>
          <a:prstGeom prst="rect">
            <a:avLst/>
          </a:prstGeom>
        </p:spPr>
        <p:txBody>
          <a:bodyPr vert="horz" lIns="91440" tIns="45720" rIns="91440" bIns="45720" rtlCol="0" anchor="ctr">
            <a:noAutofit/>
          </a:bodyPr>
          <a:lstStyle/>
          <a:p>
            <a:pPr eaLnBrk="0" hangingPunct="0">
              <a:defRPr/>
            </a:pPr>
            <a:r>
              <a:rPr lang="vi-VN" altLang="ko-KR" sz="1400" b="1" kern="0" dirty="0">
                <a:latin typeface="Arial Narrow" panose="020B0606020202030204" pitchFamily="34" charset="0"/>
                <a:ea typeface="Arial Unicode MS" panose="020B0604020202020204" pitchFamily="34" charset="-128"/>
                <a:cs typeface="Arial" panose="020B0604020202020204" pitchFamily="34" charset="0"/>
              </a:rPr>
              <a:t>4.</a:t>
            </a:r>
            <a:r>
              <a:rPr lang="en-US" altLang="ko-KR" sz="1400" b="1" kern="0" dirty="0">
                <a:latin typeface="Arial Narrow" panose="020B0606020202030204" pitchFamily="34" charset="0"/>
                <a:ea typeface="Arial Unicode MS" panose="020B0604020202020204" pitchFamily="34" charset="-128"/>
                <a:cs typeface="Arial" panose="020B0604020202020204" pitchFamily="34" charset="0"/>
              </a:rPr>
              <a:t>1.</a:t>
            </a:r>
            <a:r>
              <a:rPr kumimoji="1" lang="en-US" altLang="ko-KR" sz="14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 </a:t>
            </a:r>
            <a:r>
              <a:rPr lang="en-US" sz="1400" b="1" dirty="0">
                <a:latin typeface="Arial Narrow" panose="020B0606020202030204" pitchFamily="34" charset="0"/>
                <a:ea typeface="LG Smart_H Regular" panose="020B0600000101010101" pitchFamily="34" charset="-127"/>
                <a:sym typeface="Wingdings" panose="05000000000000000000" pitchFamily="2" charset="2"/>
              </a:rPr>
              <a:t>Short term</a:t>
            </a:r>
            <a:endParaRPr lang="en-US" sz="1400" b="1" dirty="0">
              <a:solidFill>
                <a:srgbClr val="000000"/>
              </a:solidFill>
              <a:latin typeface="Arial Narrow" panose="020B0606020202030204" pitchFamily="34" charset="0"/>
            </a:endParaRPr>
          </a:p>
        </p:txBody>
      </p:sp>
      <p:graphicFrame>
        <p:nvGraphicFramePr>
          <p:cNvPr id="31" name="Table 30">
            <a:extLst>
              <a:ext uri="{FF2B5EF4-FFF2-40B4-BE49-F238E27FC236}">
                <a16:creationId xmlns:a16="http://schemas.microsoft.com/office/drawing/2014/main" id="{19EFC54D-7F0C-C479-EDCE-F2338A1826A8}"/>
              </a:ext>
            </a:extLst>
          </p:cNvPr>
          <p:cNvGraphicFramePr>
            <a:graphicFrameLocks noGrp="1"/>
          </p:cNvGraphicFramePr>
          <p:nvPr/>
        </p:nvGraphicFramePr>
        <p:xfrm>
          <a:off x="398584" y="1601459"/>
          <a:ext cx="9108832" cy="4486825"/>
        </p:xfrm>
        <a:graphic>
          <a:graphicData uri="http://schemas.openxmlformats.org/drawingml/2006/table">
            <a:tbl>
              <a:tblPr firstRow="1" bandRow="1">
                <a:tableStyleId>{5C22544A-7EE6-4342-B048-85BDC9FD1C3A}</a:tableStyleId>
              </a:tblPr>
              <a:tblGrid>
                <a:gridCol w="4492870">
                  <a:extLst>
                    <a:ext uri="{9D8B030D-6E8A-4147-A177-3AD203B41FA5}">
                      <a16:colId xmlns:a16="http://schemas.microsoft.com/office/drawing/2014/main" val="20000"/>
                    </a:ext>
                  </a:extLst>
                </a:gridCol>
                <a:gridCol w="4615962">
                  <a:extLst>
                    <a:ext uri="{9D8B030D-6E8A-4147-A177-3AD203B41FA5}">
                      <a16:colId xmlns:a16="http://schemas.microsoft.com/office/drawing/2014/main" val="20001"/>
                    </a:ext>
                  </a:extLst>
                </a:gridCol>
              </a:tblGrid>
              <a:tr h="620468">
                <a:tc>
                  <a:txBody>
                    <a:bodyPr/>
                    <a:lstStyle/>
                    <a:p>
                      <a:endParaRPr lang="en-US" dirty="0"/>
                    </a:p>
                  </a:txBody>
                  <a:tcPr>
                    <a:solidFill>
                      <a:schemeClr val="bg2">
                        <a:lumMod val="50000"/>
                      </a:schemeClr>
                    </a:solidFill>
                  </a:tcPr>
                </a:tc>
                <a:tc>
                  <a:txBody>
                    <a:bodyPr/>
                    <a:lstStyle/>
                    <a:p>
                      <a:endParaRPr lang="en-US" dirty="0"/>
                    </a:p>
                  </a:txBody>
                  <a:tcPr>
                    <a:solidFill>
                      <a:schemeClr val="bg2">
                        <a:lumMod val="50000"/>
                      </a:schemeClr>
                    </a:solidFill>
                  </a:tcPr>
                </a:tc>
                <a:extLst>
                  <a:ext uri="{0D108BD9-81ED-4DB2-BD59-A6C34878D82A}">
                    <a16:rowId xmlns:a16="http://schemas.microsoft.com/office/drawing/2014/main" val="10000"/>
                  </a:ext>
                </a:extLst>
              </a:tr>
              <a:tr h="3866357">
                <a:tc>
                  <a:txBody>
                    <a:bodyPr/>
                    <a:lstStyle/>
                    <a:p>
                      <a:endParaRPr lang="en-US" dirty="0">
                        <a:latin typeface="Arial Narrow" panose="020B0606020202030204" pitchFamily="34" charset="0"/>
                      </a:endParaRPr>
                    </a:p>
                  </a:txBody>
                  <a:tcPr>
                    <a:solidFill>
                      <a:schemeClr val="bg2"/>
                    </a:solidFill>
                  </a:tcPr>
                </a:tc>
                <a:tc>
                  <a:txBody>
                    <a:bodyPr/>
                    <a:lstStyle/>
                    <a:p>
                      <a:endParaRPr lang="en-US" dirty="0"/>
                    </a:p>
                  </a:txBody>
                  <a:tcPr>
                    <a:solidFill>
                      <a:schemeClr val="bg2"/>
                    </a:solidFill>
                  </a:tcPr>
                </a:tc>
                <a:extLst>
                  <a:ext uri="{0D108BD9-81ED-4DB2-BD59-A6C34878D82A}">
                    <a16:rowId xmlns:a16="http://schemas.microsoft.com/office/drawing/2014/main" val="10001"/>
                  </a:ext>
                </a:extLst>
              </a:tr>
            </a:tbl>
          </a:graphicData>
        </a:graphic>
      </p:graphicFrame>
      <p:pic>
        <p:nvPicPr>
          <p:cNvPr id="34" name="Picture 33">
            <a:extLst>
              <a:ext uri="{FF2B5EF4-FFF2-40B4-BE49-F238E27FC236}">
                <a16:creationId xmlns:a16="http://schemas.microsoft.com/office/drawing/2014/main" id="{899883A7-4BC7-5100-DE22-542DD78620A2}"/>
              </a:ext>
            </a:extLst>
          </p:cNvPr>
          <p:cNvPicPr>
            <a:picLocks noChangeAspect="1"/>
          </p:cNvPicPr>
          <p:nvPr/>
        </p:nvPicPr>
        <p:blipFill>
          <a:blip r:embed="rId3"/>
          <a:stretch>
            <a:fillRect/>
          </a:stretch>
        </p:blipFill>
        <p:spPr>
          <a:xfrm>
            <a:off x="5023339" y="2584100"/>
            <a:ext cx="4387362" cy="2326014"/>
          </a:xfrm>
          <a:prstGeom prst="rect">
            <a:avLst/>
          </a:prstGeom>
        </p:spPr>
      </p:pic>
      <p:pic>
        <p:nvPicPr>
          <p:cNvPr id="35" name="Picture 34">
            <a:extLst>
              <a:ext uri="{FF2B5EF4-FFF2-40B4-BE49-F238E27FC236}">
                <a16:creationId xmlns:a16="http://schemas.microsoft.com/office/drawing/2014/main" id="{729BBED7-B6E7-FCB8-50D2-3E2F625554ED}"/>
              </a:ext>
            </a:extLst>
          </p:cNvPr>
          <p:cNvPicPr>
            <a:picLocks noChangeAspect="1"/>
          </p:cNvPicPr>
          <p:nvPr/>
        </p:nvPicPr>
        <p:blipFill>
          <a:blip r:embed="rId4"/>
          <a:stretch>
            <a:fillRect/>
          </a:stretch>
        </p:blipFill>
        <p:spPr>
          <a:xfrm>
            <a:off x="486508" y="2575886"/>
            <a:ext cx="4264070" cy="2325436"/>
          </a:xfrm>
          <a:prstGeom prst="rect">
            <a:avLst/>
          </a:prstGeom>
        </p:spPr>
      </p:pic>
      <p:sp>
        <p:nvSpPr>
          <p:cNvPr id="36" name="Rounded Rectangle 6">
            <a:extLst>
              <a:ext uri="{FF2B5EF4-FFF2-40B4-BE49-F238E27FC236}">
                <a16:creationId xmlns:a16="http://schemas.microsoft.com/office/drawing/2014/main" id="{0E7F8A1E-DE13-2C43-2D5E-5860ED7365E0}"/>
              </a:ext>
            </a:extLst>
          </p:cNvPr>
          <p:cNvSpPr/>
          <p:nvPr/>
        </p:nvSpPr>
        <p:spPr>
          <a:xfrm>
            <a:off x="437207" y="2571361"/>
            <a:ext cx="1424354" cy="817685"/>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ounded Rectangle 16">
            <a:extLst>
              <a:ext uri="{FF2B5EF4-FFF2-40B4-BE49-F238E27FC236}">
                <a16:creationId xmlns:a16="http://schemas.microsoft.com/office/drawing/2014/main" id="{D416DA03-27EA-5EE3-D336-04F374E7210A}"/>
              </a:ext>
            </a:extLst>
          </p:cNvPr>
          <p:cNvSpPr/>
          <p:nvPr/>
        </p:nvSpPr>
        <p:spPr>
          <a:xfrm>
            <a:off x="448930" y="3418353"/>
            <a:ext cx="1424354" cy="1175239"/>
          </a:xfrm>
          <a:prstGeom prst="round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FD140967-FBB3-B8A1-4AB5-2C456F0BE204}"/>
              </a:ext>
            </a:extLst>
          </p:cNvPr>
          <p:cNvSpPr txBox="1"/>
          <p:nvPr/>
        </p:nvSpPr>
        <p:spPr>
          <a:xfrm>
            <a:off x="1928443" y="2747207"/>
            <a:ext cx="712177" cy="215444"/>
          </a:xfrm>
          <a:prstGeom prst="rect">
            <a:avLst/>
          </a:prstGeom>
          <a:noFill/>
        </p:spPr>
        <p:txBody>
          <a:bodyPr wrap="square" rtlCol="0">
            <a:spAutoFit/>
          </a:bodyPr>
          <a:lstStyle/>
          <a:p>
            <a:r>
              <a:rPr lang="en-US" sz="800" b="1">
                <a:solidFill>
                  <a:srgbClr val="FF0000"/>
                </a:solidFill>
                <a:latin typeface="LG Smart_H Regular" panose="020B0600000101010101" pitchFamily="34" charset="-127"/>
                <a:ea typeface="LG Smart_H Regular" panose="020B0600000101010101" pitchFamily="34" charset="-127"/>
              </a:rPr>
              <a:t>AUX Test</a:t>
            </a:r>
          </a:p>
        </p:txBody>
      </p:sp>
      <p:sp>
        <p:nvSpPr>
          <p:cNvPr id="39" name="TextBox 38">
            <a:extLst>
              <a:ext uri="{FF2B5EF4-FFF2-40B4-BE49-F238E27FC236}">
                <a16:creationId xmlns:a16="http://schemas.microsoft.com/office/drawing/2014/main" id="{04ACA3D9-2332-3484-BEF4-45314A5BDEE3}"/>
              </a:ext>
            </a:extLst>
          </p:cNvPr>
          <p:cNvSpPr txBox="1"/>
          <p:nvPr/>
        </p:nvSpPr>
        <p:spPr>
          <a:xfrm>
            <a:off x="1948958" y="3884345"/>
            <a:ext cx="712177" cy="215444"/>
          </a:xfrm>
          <a:prstGeom prst="rect">
            <a:avLst/>
          </a:prstGeom>
          <a:noFill/>
        </p:spPr>
        <p:txBody>
          <a:bodyPr wrap="square" rtlCol="0">
            <a:spAutoFit/>
          </a:bodyPr>
          <a:lstStyle/>
          <a:p>
            <a:r>
              <a:rPr lang="en-US" sz="800" b="1">
                <a:solidFill>
                  <a:srgbClr val="00B050"/>
                </a:solidFill>
                <a:latin typeface="LG Smart_H Regular" panose="020B0600000101010101" pitchFamily="34" charset="-127"/>
                <a:ea typeface="LG Smart_H Regular" panose="020B0600000101010101" pitchFamily="34" charset="-127"/>
              </a:rPr>
              <a:t>USB Test</a:t>
            </a:r>
          </a:p>
        </p:txBody>
      </p:sp>
      <p:sp>
        <p:nvSpPr>
          <p:cNvPr id="40" name="Rounded Rectangle 19">
            <a:extLst>
              <a:ext uri="{FF2B5EF4-FFF2-40B4-BE49-F238E27FC236}">
                <a16:creationId xmlns:a16="http://schemas.microsoft.com/office/drawing/2014/main" id="{8B8C3AFE-DC98-A01C-4D5B-DD6B19CC9CFB}"/>
              </a:ext>
            </a:extLst>
          </p:cNvPr>
          <p:cNvSpPr/>
          <p:nvPr/>
        </p:nvSpPr>
        <p:spPr>
          <a:xfrm>
            <a:off x="4967655" y="2586014"/>
            <a:ext cx="1424354" cy="1233855"/>
          </a:xfrm>
          <a:prstGeom prst="round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ounded Rectangle 20">
            <a:extLst>
              <a:ext uri="{FF2B5EF4-FFF2-40B4-BE49-F238E27FC236}">
                <a16:creationId xmlns:a16="http://schemas.microsoft.com/office/drawing/2014/main" id="{FAC26C37-19C2-3DDB-3318-F7C70E336E22}"/>
              </a:ext>
            </a:extLst>
          </p:cNvPr>
          <p:cNvSpPr/>
          <p:nvPr/>
        </p:nvSpPr>
        <p:spPr>
          <a:xfrm>
            <a:off x="5008685" y="3840384"/>
            <a:ext cx="1424354" cy="1043354"/>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F0E5EDF5-1234-4D1A-FD5F-579C1DA64F5E}"/>
              </a:ext>
            </a:extLst>
          </p:cNvPr>
          <p:cNvSpPr txBox="1"/>
          <p:nvPr/>
        </p:nvSpPr>
        <p:spPr>
          <a:xfrm>
            <a:off x="6462343" y="3025630"/>
            <a:ext cx="712177" cy="215444"/>
          </a:xfrm>
          <a:prstGeom prst="rect">
            <a:avLst/>
          </a:prstGeom>
          <a:noFill/>
        </p:spPr>
        <p:txBody>
          <a:bodyPr wrap="square" rtlCol="0">
            <a:spAutoFit/>
          </a:bodyPr>
          <a:lstStyle/>
          <a:p>
            <a:r>
              <a:rPr lang="en-US" sz="800" b="1">
                <a:solidFill>
                  <a:srgbClr val="00B050"/>
                </a:solidFill>
                <a:latin typeface="LG Smart_H Regular" panose="020B0600000101010101" pitchFamily="34" charset="-127"/>
                <a:ea typeface="LG Smart_H Regular" panose="020B0600000101010101" pitchFamily="34" charset="-127"/>
              </a:rPr>
              <a:t>USB Test</a:t>
            </a:r>
          </a:p>
        </p:txBody>
      </p:sp>
      <p:sp>
        <p:nvSpPr>
          <p:cNvPr id="43" name="TextBox 42">
            <a:extLst>
              <a:ext uri="{FF2B5EF4-FFF2-40B4-BE49-F238E27FC236}">
                <a16:creationId xmlns:a16="http://schemas.microsoft.com/office/drawing/2014/main" id="{18B9B880-74BD-C730-93DA-F7B25741B663}"/>
              </a:ext>
            </a:extLst>
          </p:cNvPr>
          <p:cNvSpPr txBox="1"/>
          <p:nvPr/>
        </p:nvSpPr>
        <p:spPr>
          <a:xfrm>
            <a:off x="6459412" y="4244830"/>
            <a:ext cx="712177" cy="215444"/>
          </a:xfrm>
          <a:prstGeom prst="rect">
            <a:avLst/>
          </a:prstGeom>
          <a:noFill/>
        </p:spPr>
        <p:txBody>
          <a:bodyPr wrap="square" rtlCol="0">
            <a:spAutoFit/>
          </a:bodyPr>
          <a:lstStyle/>
          <a:p>
            <a:r>
              <a:rPr lang="en-US" sz="800" b="1">
                <a:solidFill>
                  <a:srgbClr val="FF0000"/>
                </a:solidFill>
                <a:latin typeface="LG Smart_H Regular" panose="020B0600000101010101" pitchFamily="34" charset="-127"/>
                <a:ea typeface="LG Smart_H Regular" panose="020B0600000101010101" pitchFamily="34" charset="-127"/>
              </a:rPr>
              <a:t>AUX Test</a:t>
            </a:r>
          </a:p>
        </p:txBody>
      </p:sp>
      <p:sp>
        <p:nvSpPr>
          <p:cNvPr id="46" name="직사각형 179">
            <a:extLst>
              <a:ext uri="{FF2B5EF4-FFF2-40B4-BE49-F238E27FC236}">
                <a16:creationId xmlns:a16="http://schemas.microsoft.com/office/drawing/2014/main" id="{68D4845E-6F24-543C-AE7F-0B155A7FC3FA}"/>
              </a:ext>
            </a:extLst>
          </p:cNvPr>
          <p:cNvSpPr/>
          <p:nvPr/>
        </p:nvSpPr>
        <p:spPr>
          <a:xfrm>
            <a:off x="2069722" y="1677093"/>
            <a:ext cx="1097641" cy="445316"/>
          </a:xfrm>
          <a:prstGeom prst="rect">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ko-KR" sz="1000" b="1" dirty="0">
                <a:solidFill>
                  <a:schemeClr val="tx1"/>
                </a:solidFill>
                <a:latin typeface="LG Smart_H Regular" panose="020B0600000101010101" pitchFamily="34" charset="-127"/>
                <a:ea typeface="LG Smart_H Regular" panose="020B0600000101010101" pitchFamily="34" charset="-127"/>
              </a:rPr>
              <a:t>Before</a:t>
            </a:r>
            <a:endParaRPr lang="ko-KR" altLang="en-US" sz="1000" b="1" dirty="0">
              <a:solidFill>
                <a:schemeClr val="tx1"/>
              </a:solidFill>
              <a:latin typeface="LG Smart_H Regular" panose="020B0600000101010101" pitchFamily="34" charset="-127"/>
              <a:ea typeface="LG Smart_H Regular" panose="020B0600000101010101" pitchFamily="34" charset="-127"/>
            </a:endParaRPr>
          </a:p>
        </p:txBody>
      </p:sp>
      <p:sp>
        <p:nvSpPr>
          <p:cNvPr id="47" name="직사각형 179">
            <a:extLst>
              <a:ext uri="{FF2B5EF4-FFF2-40B4-BE49-F238E27FC236}">
                <a16:creationId xmlns:a16="http://schemas.microsoft.com/office/drawing/2014/main" id="{32C58EA4-264A-4C15-24C4-A9133598741F}"/>
              </a:ext>
            </a:extLst>
          </p:cNvPr>
          <p:cNvSpPr/>
          <p:nvPr/>
        </p:nvSpPr>
        <p:spPr>
          <a:xfrm>
            <a:off x="6668199" y="1677370"/>
            <a:ext cx="1097641" cy="445316"/>
          </a:xfrm>
          <a:prstGeom prst="rect">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ko-KR" sz="1000" b="1" dirty="0">
                <a:solidFill>
                  <a:schemeClr val="tx1"/>
                </a:solidFill>
                <a:latin typeface="LG Smart_H Regular" panose="020B0600000101010101" pitchFamily="34" charset="-127"/>
                <a:ea typeface="LG Smart_H Regular" panose="020B0600000101010101" pitchFamily="34" charset="-127"/>
              </a:rPr>
              <a:t>After</a:t>
            </a:r>
            <a:endParaRPr lang="ko-KR" altLang="en-US" sz="1000" b="1" dirty="0">
              <a:solidFill>
                <a:schemeClr val="tx1"/>
              </a:solidFill>
              <a:latin typeface="LG Smart_H Regular" panose="020B0600000101010101" pitchFamily="34" charset="-127"/>
              <a:ea typeface="LG Smart_H Regular" panose="020B0600000101010101" pitchFamily="34" charset="-127"/>
            </a:endParaRPr>
          </a:p>
        </p:txBody>
      </p:sp>
    </p:spTree>
    <p:extLst>
      <p:ext uri="{BB962C8B-B14F-4D97-AF65-F5344CB8AC3E}">
        <p14:creationId xmlns:p14="http://schemas.microsoft.com/office/powerpoint/2010/main" val="14435800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072431-4FFB-3532-FE00-9125D28696A9}"/>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7273604C-4148-2ED2-4522-6C8D3C9E4F1B}"/>
              </a:ext>
            </a:extLst>
          </p:cNvPr>
          <p:cNvCxnSpPr/>
          <p:nvPr/>
        </p:nvCxnSpPr>
        <p:spPr>
          <a:xfrm>
            <a:off x="-12488" y="561513"/>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 name="제목 1">
            <a:extLst>
              <a:ext uri="{FF2B5EF4-FFF2-40B4-BE49-F238E27FC236}">
                <a16:creationId xmlns:a16="http://schemas.microsoft.com/office/drawing/2014/main" id="{83F00CBE-6928-ABA3-D62B-633046E1963F}"/>
              </a:ext>
            </a:extLst>
          </p:cNvPr>
          <p:cNvSpPr txBox="1">
            <a:spLocks/>
          </p:cNvSpPr>
          <p:nvPr/>
        </p:nvSpPr>
        <p:spPr>
          <a:xfrm>
            <a:off x="27541" y="64338"/>
            <a:ext cx="6525659" cy="418058"/>
          </a:xfrm>
          <a:prstGeom prst="rect">
            <a:avLst/>
          </a:prstGeom>
        </p:spPr>
        <p:txBody>
          <a:bodyPr vert="horz" lIns="91440" tIns="45720" rIns="91440" bIns="45720" rtlCol="0" anchor="ctr">
            <a:noAutofit/>
          </a:bodyPr>
          <a:lstStyle/>
          <a:p>
            <a:pPr eaLnBrk="0" hangingPunct="0">
              <a:defRPr/>
            </a:pPr>
            <a:r>
              <a:rPr lang="en-US" altLang="ko-KR" sz="2000" b="1" kern="0" dirty="0">
                <a:solidFill>
                  <a:srgbClr val="000000"/>
                </a:solidFill>
                <a:latin typeface="Arial Narrow" panose="020B0606020202030204" pitchFamily="34" charset="0"/>
                <a:ea typeface="LG Smart_H Regular" pitchFamily="34" charset="-127"/>
              </a:rPr>
              <a:t>4. Improvement (long term)</a:t>
            </a:r>
            <a:endParaRPr lang="ko-KR" altLang="en-US" sz="2000" b="1" kern="0" dirty="0">
              <a:solidFill>
                <a:srgbClr val="000000"/>
              </a:solidFill>
              <a:latin typeface="Arial Narrow" panose="020B0606020202030204" pitchFamily="34" charset="0"/>
              <a:ea typeface="LG Smart_H Regular" pitchFamily="34" charset="-127"/>
            </a:endParaRPr>
          </a:p>
        </p:txBody>
      </p:sp>
      <p:sp>
        <p:nvSpPr>
          <p:cNvPr id="3" name="AutoShape 55">
            <a:extLst>
              <a:ext uri="{FF2B5EF4-FFF2-40B4-BE49-F238E27FC236}">
                <a16:creationId xmlns:a16="http://schemas.microsoft.com/office/drawing/2014/main" id="{14035315-1C5E-5F0B-B549-A013F08546E8}"/>
              </a:ext>
            </a:extLst>
          </p:cNvPr>
          <p:cNvSpPr>
            <a:spLocks noChangeArrowheads="1"/>
          </p:cNvSpPr>
          <p:nvPr/>
        </p:nvSpPr>
        <p:spPr bwMode="auto">
          <a:xfrm>
            <a:off x="9136626" y="202277"/>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cs typeface="Arial" panose="020B0604020202020204" pitchFamily="34" charset="0"/>
              </a:rPr>
              <a:t>Control</a:t>
            </a:r>
          </a:p>
        </p:txBody>
      </p:sp>
      <p:sp>
        <p:nvSpPr>
          <p:cNvPr id="6" name="AutoShape 57">
            <a:extLst>
              <a:ext uri="{FF2B5EF4-FFF2-40B4-BE49-F238E27FC236}">
                <a16:creationId xmlns:a16="http://schemas.microsoft.com/office/drawing/2014/main" id="{B1C5E7DD-FB50-76A6-DE2D-A764457FA840}"/>
              </a:ext>
            </a:extLst>
          </p:cNvPr>
          <p:cNvSpPr>
            <a:spLocks noChangeArrowheads="1"/>
          </p:cNvSpPr>
          <p:nvPr/>
        </p:nvSpPr>
        <p:spPr bwMode="auto">
          <a:xfrm>
            <a:off x="7755501" y="202277"/>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cs typeface="Arial" panose="020B0604020202020204" pitchFamily="34" charset="0"/>
              </a:rPr>
              <a:t>Analyze</a:t>
            </a:r>
          </a:p>
        </p:txBody>
      </p:sp>
      <p:sp>
        <p:nvSpPr>
          <p:cNvPr id="7" name="AutoShape 58">
            <a:extLst>
              <a:ext uri="{FF2B5EF4-FFF2-40B4-BE49-F238E27FC236}">
                <a16:creationId xmlns:a16="http://schemas.microsoft.com/office/drawing/2014/main" id="{35BDBA7C-AB69-161C-8EAF-0AD0D8814345}"/>
              </a:ext>
            </a:extLst>
          </p:cNvPr>
          <p:cNvSpPr>
            <a:spLocks noChangeArrowheads="1"/>
          </p:cNvSpPr>
          <p:nvPr/>
        </p:nvSpPr>
        <p:spPr bwMode="auto">
          <a:xfrm>
            <a:off x="7083988" y="202277"/>
            <a:ext cx="747713" cy="287338"/>
          </a:xfrm>
          <a:prstGeom prst="homePlate">
            <a:avLst>
              <a:gd name="adj" fmla="val 46599"/>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cs typeface="Arial" panose="020B0604020202020204" pitchFamily="34" charset="0"/>
              </a:rPr>
              <a:t>Measure </a:t>
            </a:r>
          </a:p>
        </p:txBody>
      </p:sp>
      <p:sp>
        <p:nvSpPr>
          <p:cNvPr id="8" name="AutoShape 59">
            <a:extLst>
              <a:ext uri="{FF2B5EF4-FFF2-40B4-BE49-F238E27FC236}">
                <a16:creationId xmlns:a16="http://schemas.microsoft.com/office/drawing/2014/main" id="{207995B5-7365-8423-FB6D-D03426B34923}"/>
              </a:ext>
            </a:extLst>
          </p:cNvPr>
          <p:cNvSpPr>
            <a:spLocks noChangeArrowheads="1"/>
          </p:cNvSpPr>
          <p:nvPr/>
        </p:nvSpPr>
        <p:spPr bwMode="auto">
          <a:xfrm>
            <a:off x="6387076" y="202277"/>
            <a:ext cx="757237" cy="287338"/>
          </a:xfrm>
          <a:prstGeom prst="homePlate">
            <a:avLst>
              <a:gd name="adj" fmla="val 47192"/>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cs typeface="Arial" panose="020B0604020202020204" pitchFamily="34" charset="0"/>
              </a:rPr>
              <a:t>Define</a:t>
            </a:r>
          </a:p>
        </p:txBody>
      </p:sp>
      <p:sp>
        <p:nvSpPr>
          <p:cNvPr id="9" name="AutoShape 56">
            <a:extLst>
              <a:ext uri="{FF2B5EF4-FFF2-40B4-BE49-F238E27FC236}">
                <a16:creationId xmlns:a16="http://schemas.microsoft.com/office/drawing/2014/main" id="{B5284732-7008-0931-3DB5-D31EC8AD07AB}"/>
              </a:ext>
            </a:extLst>
          </p:cNvPr>
          <p:cNvSpPr>
            <a:spLocks noChangeArrowheads="1"/>
          </p:cNvSpPr>
          <p:nvPr/>
        </p:nvSpPr>
        <p:spPr bwMode="auto">
          <a:xfrm>
            <a:off x="8447651" y="76865"/>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latin typeface="Arial Narrow" panose="020B0606020202030204" pitchFamily="34" charset="0"/>
                <a:ea typeface="맑은 고딕" panose="020B0503020000020004" pitchFamily="50" charset="-127"/>
                <a:cs typeface="Arial" panose="020B0604020202020204" pitchFamily="34" charset="0"/>
              </a:rPr>
              <a:t>Improve</a:t>
            </a:r>
          </a:p>
        </p:txBody>
      </p:sp>
      <p:pic>
        <p:nvPicPr>
          <p:cNvPr id="29" name="그림 26">
            <a:extLst>
              <a:ext uri="{FF2B5EF4-FFF2-40B4-BE49-F238E27FC236}">
                <a16:creationId xmlns:a16="http://schemas.microsoft.com/office/drawing/2014/main" id="{A490AB27-1898-26EA-910A-9F9AB554ED3B}"/>
              </a:ext>
            </a:extLst>
          </p:cNvPr>
          <p:cNvPicPr>
            <a:picLocks noChangeAspect="1"/>
          </p:cNvPicPr>
          <p:nvPr/>
        </p:nvPicPr>
        <p:blipFill>
          <a:blip r:embed="rId3"/>
          <a:stretch>
            <a:fillRect/>
          </a:stretch>
        </p:blipFill>
        <p:spPr>
          <a:xfrm>
            <a:off x="607120" y="1480210"/>
            <a:ext cx="3682072" cy="1455311"/>
          </a:xfrm>
          <a:prstGeom prst="rect">
            <a:avLst/>
          </a:prstGeom>
        </p:spPr>
      </p:pic>
      <p:sp>
        <p:nvSpPr>
          <p:cNvPr id="30" name="직사각형 22">
            <a:extLst>
              <a:ext uri="{FF2B5EF4-FFF2-40B4-BE49-F238E27FC236}">
                <a16:creationId xmlns:a16="http://schemas.microsoft.com/office/drawing/2014/main" id="{BE1CAFB0-524E-B3D1-3529-B4F0598EE134}"/>
              </a:ext>
            </a:extLst>
          </p:cNvPr>
          <p:cNvSpPr/>
          <p:nvPr/>
        </p:nvSpPr>
        <p:spPr>
          <a:xfrm>
            <a:off x="1931572" y="2935521"/>
            <a:ext cx="904143" cy="230832"/>
          </a:xfrm>
          <a:prstGeom prst="rect">
            <a:avLst/>
          </a:prstGeom>
          <a:solidFill>
            <a:srgbClr val="FFFF00"/>
          </a:solidFill>
          <a:ln>
            <a:solidFill>
              <a:srgbClr val="FF0000"/>
            </a:solidFill>
          </a:ln>
        </p:spPr>
        <p:txBody>
          <a:bodyPr wrap="square">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ltLang="ko-KR" sz="900" dirty="0">
                <a:latin typeface="LG스마트체 Regular" panose="020B0600000101010101" pitchFamily="50" charset="-127"/>
                <a:ea typeface="LG스마트체 Regular" panose="020B0600000101010101" pitchFamily="50" charset="-127"/>
                <a:cs typeface="Arial" pitchFamily="34" charset="0"/>
                <a:sym typeface="Wingdings" pitchFamily="2" charset="2"/>
              </a:rPr>
              <a:t>Bad contact</a:t>
            </a:r>
          </a:p>
        </p:txBody>
      </p:sp>
      <p:pic>
        <p:nvPicPr>
          <p:cNvPr id="31" name="그림 27">
            <a:extLst>
              <a:ext uri="{FF2B5EF4-FFF2-40B4-BE49-F238E27FC236}">
                <a16:creationId xmlns:a16="http://schemas.microsoft.com/office/drawing/2014/main" id="{AE029BC0-292C-F534-72C0-1ADA5998E888}"/>
              </a:ext>
            </a:extLst>
          </p:cNvPr>
          <p:cNvPicPr>
            <a:picLocks noChangeAspect="1"/>
          </p:cNvPicPr>
          <p:nvPr/>
        </p:nvPicPr>
        <p:blipFill>
          <a:blip r:embed="rId4"/>
          <a:stretch>
            <a:fillRect/>
          </a:stretch>
        </p:blipFill>
        <p:spPr>
          <a:xfrm>
            <a:off x="5964132" y="1402921"/>
            <a:ext cx="2167753" cy="1526042"/>
          </a:xfrm>
          <a:prstGeom prst="rect">
            <a:avLst/>
          </a:prstGeom>
        </p:spPr>
      </p:pic>
      <p:sp>
        <p:nvSpPr>
          <p:cNvPr id="32" name="아래쪽 화살표 20">
            <a:extLst>
              <a:ext uri="{FF2B5EF4-FFF2-40B4-BE49-F238E27FC236}">
                <a16:creationId xmlns:a16="http://schemas.microsoft.com/office/drawing/2014/main" id="{DAF06A58-ADE5-AC99-9981-452B12E3DF34}"/>
              </a:ext>
            </a:extLst>
          </p:cNvPr>
          <p:cNvSpPr/>
          <p:nvPr/>
        </p:nvSpPr>
        <p:spPr>
          <a:xfrm rot="16200000">
            <a:off x="4969029" y="1769390"/>
            <a:ext cx="419100" cy="939312"/>
          </a:xfrm>
          <a:prstGeom prst="downArrow">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
        <p:nvSpPr>
          <p:cNvPr id="33" name="직사각형 22">
            <a:extLst>
              <a:ext uri="{FF2B5EF4-FFF2-40B4-BE49-F238E27FC236}">
                <a16:creationId xmlns:a16="http://schemas.microsoft.com/office/drawing/2014/main" id="{94128E5E-1312-60BF-F73E-A53F47B8B83A}"/>
              </a:ext>
            </a:extLst>
          </p:cNvPr>
          <p:cNvSpPr/>
          <p:nvPr/>
        </p:nvSpPr>
        <p:spPr>
          <a:xfrm>
            <a:off x="6392489" y="2935521"/>
            <a:ext cx="1340828" cy="230832"/>
          </a:xfrm>
          <a:prstGeom prst="rect">
            <a:avLst/>
          </a:prstGeom>
          <a:solidFill>
            <a:srgbClr val="FFFF00"/>
          </a:solidFill>
          <a:ln>
            <a:solidFill>
              <a:srgbClr val="FF0000"/>
            </a:solidFill>
          </a:ln>
        </p:spPr>
        <p:txBody>
          <a:bodyPr wrap="square">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ltLang="ko-KR" sz="900" dirty="0">
                <a:latin typeface="LG스마트체 Regular" panose="020B0600000101010101" pitchFamily="50" charset="-127"/>
                <a:ea typeface="LG스마트체 Regular" panose="020B0600000101010101" pitchFamily="50" charset="-127"/>
                <a:cs typeface="Arial" pitchFamily="34" charset="0"/>
                <a:sym typeface="Wingdings" pitchFamily="2" charset="2"/>
              </a:rPr>
              <a:t>Better contact</a:t>
            </a:r>
          </a:p>
        </p:txBody>
      </p:sp>
      <p:sp>
        <p:nvSpPr>
          <p:cNvPr id="34" name="제목 1">
            <a:extLst>
              <a:ext uri="{FF2B5EF4-FFF2-40B4-BE49-F238E27FC236}">
                <a16:creationId xmlns:a16="http://schemas.microsoft.com/office/drawing/2014/main" id="{BD05357C-44DC-39D7-EABA-F283B8D835A4}"/>
              </a:ext>
            </a:extLst>
          </p:cNvPr>
          <p:cNvSpPr txBox="1">
            <a:spLocks/>
          </p:cNvSpPr>
          <p:nvPr/>
        </p:nvSpPr>
        <p:spPr>
          <a:xfrm>
            <a:off x="212380" y="944969"/>
            <a:ext cx="7264459" cy="280184"/>
          </a:xfrm>
          <a:prstGeom prst="rect">
            <a:avLst/>
          </a:prstGeom>
        </p:spPr>
        <p:txBody>
          <a:bodyPr vert="horz" lIns="91440" tIns="45720" rIns="91440" bIns="45720" rtlCol="0" anchor="t">
            <a:noAutofit/>
          </a:bodyPr>
          <a:lstStyle/>
          <a:p>
            <a:pPr eaLnBrk="0" hangingPunct="0">
              <a:defRPr/>
            </a:pPr>
            <a:r>
              <a:rPr lang="en-US" altLang="ko-KR" sz="1100" b="1" u="sng" dirty="0">
                <a:latin typeface="Arial Narrow" panose="020B0606020202030204" pitchFamily="34" charset="0"/>
                <a:ea typeface="LG Smart_H Regular" panose="020B0600000101010101" pitchFamily="34" charset="-127"/>
                <a:sym typeface="Wingdings" panose="05000000000000000000" pitchFamily="2" charset="2"/>
              </a:rPr>
              <a:t>Action</a:t>
            </a:r>
            <a:r>
              <a:rPr lang="en-US" altLang="ko-KR" sz="1100" b="1" dirty="0">
                <a:latin typeface="Arial Narrow" panose="020B0606020202030204" pitchFamily="34" charset="0"/>
                <a:ea typeface="LG Smart_H Regular" panose="020B0600000101010101" pitchFamily="34" charset="-127"/>
                <a:sym typeface="Wingdings" panose="05000000000000000000" pitchFamily="2" charset="2"/>
              </a:rPr>
              <a:t>: </a:t>
            </a:r>
            <a:r>
              <a:rPr lang="en-US" altLang="ko-KR" sz="1100" dirty="0">
                <a:latin typeface="Arial Narrow" panose="020B0606020202030204" pitchFamily="34" charset="0"/>
                <a:ea typeface="LG Smart_H Regular" panose="020B0600000101010101" pitchFamily="34" charset="-127"/>
                <a:sym typeface="Wingdings" panose="05000000000000000000" pitchFamily="2" charset="2"/>
              </a:rPr>
              <a:t>Replace the old type of plate with new type for better contact point</a:t>
            </a:r>
          </a:p>
        </p:txBody>
      </p:sp>
      <p:sp>
        <p:nvSpPr>
          <p:cNvPr id="35" name="제목 1">
            <a:extLst>
              <a:ext uri="{FF2B5EF4-FFF2-40B4-BE49-F238E27FC236}">
                <a16:creationId xmlns:a16="http://schemas.microsoft.com/office/drawing/2014/main" id="{5B44E4F4-9BFE-CA4B-E356-57AC44C0F1A7}"/>
              </a:ext>
            </a:extLst>
          </p:cNvPr>
          <p:cNvSpPr txBox="1">
            <a:spLocks/>
          </p:cNvSpPr>
          <p:nvPr/>
        </p:nvSpPr>
        <p:spPr>
          <a:xfrm>
            <a:off x="212380" y="3549322"/>
            <a:ext cx="7787359" cy="280184"/>
          </a:xfrm>
          <a:prstGeom prst="rect">
            <a:avLst/>
          </a:prstGeom>
        </p:spPr>
        <p:txBody>
          <a:bodyPr vert="horz" lIns="91440" tIns="45720" rIns="91440" bIns="45720" rtlCol="0" anchor="t">
            <a:noAutofit/>
          </a:bodyPr>
          <a:lstStyle/>
          <a:p>
            <a:pPr eaLnBrk="0" hangingPunct="0">
              <a:defRPr/>
            </a:pPr>
            <a:r>
              <a:rPr lang="en-US" altLang="ko-KR" sz="1100" b="1" u="sng" dirty="0">
                <a:latin typeface="Arial Narrow" panose="020B0606020202030204" pitchFamily="34" charset="0"/>
                <a:ea typeface="LG Smart_H Regular" panose="020B0600000101010101" pitchFamily="34" charset="-127"/>
                <a:sym typeface="Wingdings" panose="05000000000000000000" pitchFamily="2" charset="2"/>
              </a:rPr>
              <a:t>Action</a:t>
            </a:r>
            <a:r>
              <a:rPr lang="en-US" altLang="ko-KR" sz="1100" b="1" dirty="0">
                <a:latin typeface="Arial Narrow" panose="020B0606020202030204" pitchFamily="34" charset="0"/>
                <a:ea typeface="LG Smart_H Regular" panose="020B0600000101010101" pitchFamily="34" charset="-127"/>
                <a:sym typeface="Wingdings" panose="05000000000000000000" pitchFamily="2" charset="2"/>
              </a:rPr>
              <a:t>: </a:t>
            </a:r>
            <a:r>
              <a:rPr lang="en-US" sz="1100" dirty="0">
                <a:latin typeface="Arial Narrow" panose="020B0606020202030204" pitchFamily="34" charset="0"/>
              </a:rPr>
              <a:t>Change connector type of audio signal from pogo pin block  to PCB and connection direction (vertical to horizontal)  to reduce force stress</a:t>
            </a:r>
            <a:endParaRPr lang="en-US" altLang="ko-KR" sz="1100" dirty="0">
              <a:latin typeface="Arial Narrow" panose="020B0606020202030204" pitchFamily="34" charset="0"/>
              <a:ea typeface="LG Smart_H Regular" panose="020B0600000101010101" pitchFamily="34" charset="-127"/>
              <a:sym typeface="Wingdings" panose="05000000000000000000" pitchFamily="2" charset="2"/>
            </a:endParaRPr>
          </a:p>
        </p:txBody>
      </p:sp>
      <p:sp>
        <p:nvSpPr>
          <p:cNvPr id="36" name="제목 1">
            <a:extLst>
              <a:ext uri="{FF2B5EF4-FFF2-40B4-BE49-F238E27FC236}">
                <a16:creationId xmlns:a16="http://schemas.microsoft.com/office/drawing/2014/main" id="{FC0BB737-EFF9-AD14-25B6-17D167ED358C}"/>
              </a:ext>
            </a:extLst>
          </p:cNvPr>
          <p:cNvSpPr txBox="1">
            <a:spLocks/>
          </p:cNvSpPr>
          <p:nvPr/>
        </p:nvSpPr>
        <p:spPr>
          <a:xfrm>
            <a:off x="152400" y="565786"/>
            <a:ext cx="1595377" cy="418058"/>
          </a:xfrm>
          <a:prstGeom prst="rect">
            <a:avLst/>
          </a:prstGeom>
        </p:spPr>
        <p:txBody>
          <a:bodyPr vert="horz" lIns="91440" tIns="45720" rIns="91440" bIns="45720" rtlCol="0" anchor="ctr">
            <a:noAutofit/>
          </a:bodyPr>
          <a:lstStyle/>
          <a:p>
            <a:pPr eaLnBrk="0" hangingPunct="0">
              <a:defRPr/>
            </a:pPr>
            <a:r>
              <a:rPr lang="vi-VN" altLang="ko-KR" sz="1400" b="1" kern="0" dirty="0">
                <a:latin typeface="Arial Narrow" panose="020B0606020202030204" pitchFamily="34" charset="0"/>
                <a:ea typeface="Arial Unicode MS" panose="020B0604020202020204" pitchFamily="34" charset="-128"/>
                <a:cs typeface="Arial" panose="020B0604020202020204" pitchFamily="34" charset="0"/>
              </a:rPr>
              <a:t>4.</a:t>
            </a:r>
            <a:r>
              <a:rPr lang="en-US" altLang="ko-KR" sz="1400" b="1" kern="0" dirty="0">
                <a:latin typeface="Arial Narrow" panose="020B0606020202030204" pitchFamily="34" charset="0"/>
                <a:ea typeface="Arial Unicode MS" panose="020B0604020202020204" pitchFamily="34" charset="-128"/>
                <a:cs typeface="Arial" panose="020B0604020202020204" pitchFamily="34" charset="0"/>
              </a:rPr>
              <a:t>2.</a:t>
            </a:r>
            <a:r>
              <a:rPr kumimoji="1" lang="en-US" altLang="ko-KR" sz="14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 </a:t>
            </a:r>
            <a:r>
              <a:rPr lang="en-US" sz="1400" b="1" dirty="0">
                <a:latin typeface="Arial Narrow" panose="020B0606020202030204" pitchFamily="34" charset="0"/>
                <a:ea typeface="LG Smart_H Regular" panose="020B0600000101010101" pitchFamily="34" charset="-127"/>
                <a:sym typeface="Wingdings" panose="05000000000000000000" pitchFamily="2" charset="2"/>
              </a:rPr>
              <a:t>Long term</a:t>
            </a:r>
            <a:endParaRPr lang="en-US" sz="1400" b="1" dirty="0">
              <a:solidFill>
                <a:srgbClr val="000000"/>
              </a:solidFill>
              <a:latin typeface="Arial Narrow" panose="020B0606020202030204" pitchFamily="34" charset="0"/>
            </a:endParaRPr>
          </a:p>
        </p:txBody>
      </p:sp>
      <p:grpSp>
        <p:nvGrpSpPr>
          <p:cNvPr id="37" name="Group 36">
            <a:extLst>
              <a:ext uri="{FF2B5EF4-FFF2-40B4-BE49-F238E27FC236}">
                <a16:creationId xmlns:a16="http://schemas.microsoft.com/office/drawing/2014/main" id="{1B818016-00B9-C4A8-B697-946AC9E07834}"/>
              </a:ext>
            </a:extLst>
          </p:cNvPr>
          <p:cNvGrpSpPr/>
          <p:nvPr/>
        </p:nvGrpSpPr>
        <p:grpSpPr>
          <a:xfrm>
            <a:off x="5157861" y="4008196"/>
            <a:ext cx="4476949" cy="1328968"/>
            <a:chOff x="5481738" y="4607221"/>
            <a:chExt cx="4183154" cy="1026373"/>
          </a:xfrm>
        </p:grpSpPr>
        <p:pic>
          <p:nvPicPr>
            <p:cNvPr id="38" name="Picture 37">
              <a:extLst>
                <a:ext uri="{FF2B5EF4-FFF2-40B4-BE49-F238E27FC236}">
                  <a16:creationId xmlns:a16="http://schemas.microsoft.com/office/drawing/2014/main" id="{91C0F0C5-26E2-E645-13C9-C5C439153DCA}"/>
                </a:ext>
              </a:extLst>
            </p:cNvPr>
            <p:cNvPicPr>
              <a:picLocks noChangeAspect="1"/>
            </p:cNvPicPr>
            <p:nvPr/>
          </p:nvPicPr>
          <p:blipFill>
            <a:blip r:embed="rId5"/>
            <a:stretch>
              <a:fillRect/>
            </a:stretch>
          </p:blipFill>
          <p:spPr>
            <a:xfrm>
              <a:off x="5481738" y="4607222"/>
              <a:ext cx="2067489" cy="1026372"/>
            </a:xfrm>
            <a:prstGeom prst="rect">
              <a:avLst/>
            </a:prstGeom>
          </p:spPr>
        </p:pic>
        <p:sp>
          <p:nvSpPr>
            <p:cNvPr id="39" name="Rectangle 38">
              <a:extLst>
                <a:ext uri="{FF2B5EF4-FFF2-40B4-BE49-F238E27FC236}">
                  <a16:creationId xmlns:a16="http://schemas.microsoft.com/office/drawing/2014/main" id="{845A4414-1E66-5803-CB2E-B640A7360A7D}"/>
                </a:ext>
              </a:extLst>
            </p:cNvPr>
            <p:cNvSpPr/>
            <p:nvPr/>
          </p:nvSpPr>
          <p:spPr bwMode="auto">
            <a:xfrm>
              <a:off x="6161373" y="4911711"/>
              <a:ext cx="855973" cy="403377"/>
            </a:xfrm>
            <a:prstGeom prst="rect">
              <a:avLst/>
            </a:prstGeom>
            <a:noFill/>
            <a:ln w="9525" cap="flat" cmpd="sng" algn="ctr">
              <a:solidFill>
                <a:srgbClr val="00B050"/>
              </a:solidFill>
              <a:prstDash val="solid"/>
              <a:round/>
              <a:headEnd type="none" w="med" len="med"/>
              <a:tailEnd type="none" w="med" len="med"/>
            </a:ln>
            <a:effectLst/>
          </p:spPr>
          <p:txBody>
            <a:bodyPr rtlCol="0" anchor="ctr"/>
            <a:lstStyle/>
            <a:p>
              <a:pPr algn="ctr"/>
              <a:endParaRPr lang="en-US" sz="1662">
                <a:latin typeface="Arial Narrow" panose="020B0606020202030204" pitchFamily="34" charset="0"/>
              </a:endParaRPr>
            </a:p>
          </p:txBody>
        </p:sp>
        <p:pic>
          <p:nvPicPr>
            <p:cNvPr id="40" name="Picture 39">
              <a:extLst>
                <a:ext uri="{FF2B5EF4-FFF2-40B4-BE49-F238E27FC236}">
                  <a16:creationId xmlns:a16="http://schemas.microsoft.com/office/drawing/2014/main" id="{8BC42EA5-30EE-EC2A-6784-CA325A1EE148}"/>
                </a:ext>
              </a:extLst>
            </p:cNvPr>
            <p:cNvPicPr>
              <a:picLocks noChangeAspect="1"/>
            </p:cNvPicPr>
            <p:nvPr/>
          </p:nvPicPr>
          <p:blipFill>
            <a:blip r:embed="rId6"/>
            <a:stretch>
              <a:fillRect/>
            </a:stretch>
          </p:blipFill>
          <p:spPr>
            <a:xfrm>
              <a:off x="7623377" y="4612286"/>
              <a:ext cx="1103892" cy="1021084"/>
            </a:xfrm>
            <a:prstGeom prst="rect">
              <a:avLst/>
            </a:prstGeom>
            <a:ln>
              <a:solidFill>
                <a:srgbClr val="00B050"/>
              </a:solidFill>
            </a:ln>
          </p:spPr>
        </p:pic>
        <p:cxnSp>
          <p:nvCxnSpPr>
            <p:cNvPr id="41" name="Straight Arrow Connector 40">
              <a:extLst>
                <a:ext uri="{FF2B5EF4-FFF2-40B4-BE49-F238E27FC236}">
                  <a16:creationId xmlns:a16="http://schemas.microsoft.com/office/drawing/2014/main" id="{86664B40-9094-8309-14AB-A72A7B17647A}"/>
                </a:ext>
              </a:extLst>
            </p:cNvPr>
            <p:cNvCxnSpPr/>
            <p:nvPr/>
          </p:nvCxnSpPr>
          <p:spPr bwMode="auto">
            <a:xfrm flipV="1">
              <a:off x="7017346" y="4607221"/>
              <a:ext cx="572361" cy="312306"/>
            </a:xfrm>
            <a:prstGeom prst="straightConnector1">
              <a:avLst/>
            </a:prstGeom>
            <a:solidFill>
              <a:schemeClr val="accent1"/>
            </a:solidFill>
            <a:ln w="9525" cap="flat" cmpd="sng" algn="ctr">
              <a:solidFill>
                <a:srgbClr val="00B050"/>
              </a:solidFill>
              <a:prstDash val="solid"/>
              <a:round/>
              <a:headEnd type="none" w="med" len="med"/>
              <a:tailEnd type="triangle"/>
            </a:ln>
            <a:effectLst/>
          </p:spPr>
        </p:cxnSp>
        <p:cxnSp>
          <p:nvCxnSpPr>
            <p:cNvPr id="42" name="Straight Arrow Connector 41">
              <a:extLst>
                <a:ext uri="{FF2B5EF4-FFF2-40B4-BE49-F238E27FC236}">
                  <a16:creationId xmlns:a16="http://schemas.microsoft.com/office/drawing/2014/main" id="{84C70AB4-2BAE-2FD5-0F94-6655E2392FC1}"/>
                </a:ext>
              </a:extLst>
            </p:cNvPr>
            <p:cNvCxnSpPr/>
            <p:nvPr/>
          </p:nvCxnSpPr>
          <p:spPr bwMode="auto">
            <a:xfrm>
              <a:off x="7017346" y="5315089"/>
              <a:ext cx="623250" cy="318281"/>
            </a:xfrm>
            <a:prstGeom prst="straightConnector1">
              <a:avLst/>
            </a:prstGeom>
            <a:solidFill>
              <a:schemeClr val="accent1"/>
            </a:solidFill>
            <a:ln w="9525" cap="flat" cmpd="sng" algn="ctr">
              <a:solidFill>
                <a:srgbClr val="00B050"/>
              </a:solidFill>
              <a:prstDash val="solid"/>
              <a:round/>
              <a:headEnd type="none" w="med" len="med"/>
              <a:tailEnd type="triangle"/>
            </a:ln>
            <a:effectLst/>
          </p:spPr>
        </p:cxnSp>
        <p:sp>
          <p:nvSpPr>
            <p:cNvPr id="43" name="TextBox 42">
              <a:extLst>
                <a:ext uri="{FF2B5EF4-FFF2-40B4-BE49-F238E27FC236}">
                  <a16:creationId xmlns:a16="http://schemas.microsoft.com/office/drawing/2014/main" id="{1C1CE62E-401A-41D2-1780-AD7ED8B1BC69}"/>
                </a:ext>
              </a:extLst>
            </p:cNvPr>
            <p:cNvSpPr txBox="1"/>
            <p:nvPr/>
          </p:nvSpPr>
          <p:spPr>
            <a:xfrm>
              <a:off x="8635900" y="5050920"/>
              <a:ext cx="200125" cy="495072"/>
            </a:xfrm>
            <a:prstGeom prst="rect">
              <a:avLst/>
            </a:prstGeom>
            <a:noFill/>
          </p:spPr>
          <p:txBody>
            <a:bodyPr wrap="none" rtlCol="0">
              <a:spAutoFit/>
            </a:bodyPr>
            <a:lstStyle/>
            <a:p>
              <a:endParaRPr lang="en-US" sz="1662" dirty="0">
                <a:latin typeface="Arial Narrow" panose="020B0606020202030204" pitchFamily="34" charset="0"/>
              </a:endParaRPr>
            </a:p>
          </p:txBody>
        </p:sp>
        <p:pic>
          <p:nvPicPr>
            <p:cNvPr id="44" name="Picture 43">
              <a:extLst>
                <a:ext uri="{FF2B5EF4-FFF2-40B4-BE49-F238E27FC236}">
                  <a16:creationId xmlns:a16="http://schemas.microsoft.com/office/drawing/2014/main" id="{CA03A151-0054-0001-96A0-5F96D0723653}"/>
                </a:ext>
              </a:extLst>
            </p:cNvPr>
            <p:cNvPicPr>
              <a:picLocks noChangeAspect="1"/>
            </p:cNvPicPr>
            <p:nvPr/>
          </p:nvPicPr>
          <p:blipFill>
            <a:blip r:embed="rId7"/>
            <a:stretch>
              <a:fillRect/>
            </a:stretch>
          </p:blipFill>
          <p:spPr>
            <a:xfrm>
              <a:off x="8728264" y="4607221"/>
              <a:ext cx="936628" cy="1026149"/>
            </a:xfrm>
            <a:prstGeom prst="rect">
              <a:avLst/>
            </a:prstGeom>
            <a:ln>
              <a:solidFill>
                <a:srgbClr val="00B050"/>
              </a:solidFill>
            </a:ln>
          </p:spPr>
        </p:pic>
      </p:grpSp>
      <p:sp>
        <p:nvSpPr>
          <p:cNvPr id="45" name="직사각형 22">
            <a:extLst>
              <a:ext uri="{FF2B5EF4-FFF2-40B4-BE49-F238E27FC236}">
                <a16:creationId xmlns:a16="http://schemas.microsoft.com/office/drawing/2014/main" id="{636DFDDF-F2FD-3CAD-C142-F38150689227}"/>
              </a:ext>
            </a:extLst>
          </p:cNvPr>
          <p:cNvSpPr/>
          <p:nvPr/>
        </p:nvSpPr>
        <p:spPr>
          <a:xfrm>
            <a:off x="6775844" y="5343725"/>
            <a:ext cx="1340828" cy="230832"/>
          </a:xfrm>
          <a:prstGeom prst="rect">
            <a:avLst/>
          </a:prstGeom>
          <a:solidFill>
            <a:srgbClr val="FFFF00"/>
          </a:solidFill>
          <a:ln>
            <a:solidFill>
              <a:srgbClr val="FF0000"/>
            </a:solidFill>
          </a:ln>
        </p:spPr>
        <p:txBody>
          <a:bodyPr wrap="square">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ltLang="ko-KR" sz="900">
                <a:latin typeface="LG스마트체 Regular" panose="020B0600000101010101" pitchFamily="50" charset="-127"/>
                <a:ea typeface="LG스마트체 Regular" panose="020B0600000101010101" pitchFamily="50" charset="-127"/>
                <a:cs typeface="Arial" pitchFamily="34" charset="0"/>
                <a:sym typeface="Wingdings" pitchFamily="2" charset="2"/>
              </a:rPr>
              <a:t>Direct contact</a:t>
            </a:r>
          </a:p>
        </p:txBody>
      </p:sp>
      <p:pic>
        <p:nvPicPr>
          <p:cNvPr id="46" name="Picture 45">
            <a:extLst>
              <a:ext uri="{FF2B5EF4-FFF2-40B4-BE49-F238E27FC236}">
                <a16:creationId xmlns:a16="http://schemas.microsoft.com/office/drawing/2014/main" id="{20D8C714-6475-639C-1973-D93D87F7D9B0}"/>
              </a:ext>
            </a:extLst>
          </p:cNvPr>
          <p:cNvPicPr>
            <a:picLocks noChangeAspect="1"/>
          </p:cNvPicPr>
          <p:nvPr/>
        </p:nvPicPr>
        <p:blipFill>
          <a:blip r:embed="rId8"/>
          <a:stretch>
            <a:fillRect/>
          </a:stretch>
        </p:blipFill>
        <p:spPr>
          <a:xfrm>
            <a:off x="408749" y="4041430"/>
            <a:ext cx="3810000" cy="1330904"/>
          </a:xfrm>
          <a:prstGeom prst="rect">
            <a:avLst/>
          </a:prstGeom>
        </p:spPr>
      </p:pic>
      <p:sp>
        <p:nvSpPr>
          <p:cNvPr id="47" name="직사각형 22">
            <a:extLst>
              <a:ext uri="{FF2B5EF4-FFF2-40B4-BE49-F238E27FC236}">
                <a16:creationId xmlns:a16="http://schemas.microsoft.com/office/drawing/2014/main" id="{CA0F1E69-884F-A98F-274A-24C99C885D15}"/>
              </a:ext>
            </a:extLst>
          </p:cNvPr>
          <p:cNvSpPr/>
          <p:nvPr/>
        </p:nvSpPr>
        <p:spPr>
          <a:xfrm>
            <a:off x="1503389" y="5343725"/>
            <a:ext cx="1625113" cy="230832"/>
          </a:xfrm>
          <a:prstGeom prst="rect">
            <a:avLst/>
          </a:prstGeom>
          <a:solidFill>
            <a:srgbClr val="FFFF00"/>
          </a:solidFill>
          <a:ln>
            <a:solidFill>
              <a:srgbClr val="FF0000"/>
            </a:solidFill>
          </a:ln>
        </p:spPr>
        <p:txBody>
          <a:bodyPr wrap="square">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ltLang="ko-KR" sz="900">
                <a:latin typeface="LG스마트체 Regular" panose="020B0600000101010101" pitchFamily="50" charset="-127"/>
                <a:ea typeface="LG스마트체 Regular" panose="020B0600000101010101" pitchFamily="50" charset="-127"/>
                <a:cs typeface="Arial" pitchFamily="34" charset="0"/>
                <a:sym typeface="Wingdings" pitchFamily="2" charset="2"/>
              </a:rPr>
              <a:t>Contact through pogo pin</a:t>
            </a:r>
          </a:p>
        </p:txBody>
      </p:sp>
      <p:sp>
        <p:nvSpPr>
          <p:cNvPr id="48" name="아래쪽 화살표 20">
            <a:extLst>
              <a:ext uri="{FF2B5EF4-FFF2-40B4-BE49-F238E27FC236}">
                <a16:creationId xmlns:a16="http://schemas.microsoft.com/office/drawing/2014/main" id="{A01ACABA-4DCA-17DA-7B00-9434B0FBD602}"/>
              </a:ext>
            </a:extLst>
          </p:cNvPr>
          <p:cNvSpPr/>
          <p:nvPr/>
        </p:nvSpPr>
        <p:spPr>
          <a:xfrm rot="16200000">
            <a:off x="4499373" y="4364893"/>
            <a:ext cx="419100" cy="655025"/>
          </a:xfrm>
          <a:prstGeom prst="downArrow">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ko-KR" altLang="en-US" sz="1100"/>
          </a:p>
        </p:txBody>
      </p:sp>
    </p:spTree>
    <p:extLst>
      <p:ext uri="{BB962C8B-B14F-4D97-AF65-F5344CB8AC3E}">
        <p14:creationId xmlns:p14="http://schemas.microsoft.com/office/powerpoint/2010/main" val="25479505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제목 1"/>
          <p:cNvSpPr txBox="1">
            <a:spLocks/>
          </p:cNvSpPr>
          <p:nvPr/>
        </p:nvSpPr>
        <p:spPr>
          <a:xfrm>
            <a:off x="56456" y="116632"/>
            <a:ext cx="8915400" cy="418058"/>
          </a:xfrm>
          <a:prstGeom prst="rect">
            <a:avLst/>
          </a:prstGeom>
        </p:spPr>
        <p:txBody>
          <a:bodyPr vert="horz" lIns="91440" tIns="45720" rIns="91440" bIns="45720" rtlCol="0" anchor="ctr">
            <a:normAutofit/>
          </a:bodyPr>
          <a:lstStyle>
            <a:lvl1pPr algn="l" rtl="0" eaLnBrk="0" fontAlgn="base" latinLnBrk="1" hangingPunct="0">
              <a:spcBef>
                <a:spcPct val="0"/>
              </a:spcBef>
              <a:spcAft>
                <a:spcPct val="0"/>
              </a:spcAft>
              <a:defRPr kumimoji="1" sz="2000" b="1">
                <a:solidFill>
                  <a:schemeClr val="tx1"/>
                </a:solidFill>
                <a:latin typeface="맑은 고딕" panose="020B0503020000020004" pitchFamily="50" charset="-127"/>
                <a:ea typeface="맑은 고딕" panose="020B0503020000020004" pitchFamily="50" charset="-127"/>
                <a:cs typeface="+mj-cs"/>
              </a:defRPr>
            </a:lvl1pPr>
            <a:lvl2pPr algn="l" rtl="0" eaLnBrk="0" fontAlgn="base" latinLnBrk="1" hangingPunct="0">
              <a:spcBef>
                <a:spcPct val="0"/>
              </a:spcBef>
              <a:spcAft>
                <a:spcPct val="0"/>
              </a:spcAft>
              <a:defRPr kumimoji="1" sz="2000" b="1">
                <a:solidFill>
                  <a:schemeClr val="tx1"/>
                </a:solidFill>
                <a:latin typeface="Arial" charset="0"/>
                <a:ea typeface="돋움" pitchFamily="50" charset="-127"/>
              </a:defRPr>
            </a:lvl2pPr>
            <a:lvl3pPr algn="l" rtl="0" eaLnBrk="0" fontAlgn="base" latinLnBrk="1" hangingPunct="0">
              <a:spcBef>
                <a:spcPct val="0"/>
              </a:spcBef>
              <a:spcAft>
                <a:spcPct val="0"/>
              </a:spcAft>
              <a:defRPr kumimoji="1" sz="2000" b="1">
                <a:solidFill>
                  <a:schemeClr val="tx1"/>
                </a:solidFill>
                <a:latin typeface="Arial" charset="0"/>
                <a:ea typeface="돋움" pitchFamily="50" charset="-127"/>
              </a:defRPr>
            </a:lvl3pPr>
            <a:lvl4pPr algn="l" rtl="0" eaLnBrk="0" fontAlgn="base" latinLnBrk="1" hangingPunct="0">
              <a:spcBef>
                <a:spcPct val="0"/>
              </a:spcBef>
              <a:spcAft>
                <a:spcPct val="0"/>
              </a:spcAft>
              <a:defRPr kumimoji="1" sz="2000" b="1">
                <a:solidFill>
                  <a:schemeClr val="tx1"/>
                </a:solidFill>
                <a:latin typeface="Arial" charset="0"/>
                <a:ea typeface="돋움" pitchFamily="50" charset="-127"/>
              </a:defRPr>
            </a:lvl4pPr>
            <a:lvl5pPr algn="l" rtl="0" eaLnBrk="0" fontAlgn="base" latinLnBrk="1" hangingPunct="0">
              <a:spcBef>
                <a:spcPct val="0"/>
              </a:spcBef>
              <a:spcAft>
                <a:spcPct val="0"/>
              </a:spcAft>
              <a:defRPr kumimoji="1" sz="2000" b="1">
                <a:solidFill>
                  <a:schemeClr val="tx1"/>
                </a:solidFill>
                <a:latin typeface="Arial" charset="0"/>
                <a:ea typeface="돋움" pitchFamily="50" charset="-127"/>
              </a:defRPr>
            </a:lvl5pPr>
            <a:lvl6pPr marL="457200" algn="l" rtl="0" fontAlgn="base" latinLnBrk="1">
              <a:spcBef>
                <a:spcPct val="0"/>
              </a:spcBef>
              <a:spcAft>
                <a:spcPct val="0"/>
              </a:spcAft>
              <a:defRPr kumimoji="1" sz="2000" b="1">
                <a:solidFill>
                  <a:schemeClr val="tx1"/>
                </a:solidFill>
                <a:latin typeface="Arial" charset="0"/>
                <a:ea typeface="돋움" pitchFamily="50" charset="-127"/>
              </a:defRPr>
            </a:lvl6pPr>
            <a:lvl7pPr marL="914400" algn="l" rtl="0" fontAlgn="base" latinLnBrk="1">
              <a:spcBef>
                <a:spcPct val="0"/>
              </a:spcBef>
              <a:spcAft>
                <a:spcPct val="0"/>
              </a:spcAft>
              <a:defRPr kumimoji="1" sz="2000" b="1">
                <a:solidFill>
                  <a:schemeClr val="tx1"/>
                </a:solidFill>
                <a:latin typeface="Arial" charset="0"/>
                <a:ea typeface="돋움" pitchFamily="50" charset="-127"/>
              </a:defRPr>
            </a:lvl7pPr>
            <a:lvl8pPr marL="1371600" algn="l" rtl="0" fontAlgn="base" latinLnBrk="1">
              <a:spcBef>
                <a:spcPct val="0"/>
              </a:spcBef>
              <a:spcAft>
                <a:spcPct val="0"/>
              </a:spcAft>
              <a:defRPr kumimoji="1" sz="2000" b="1">
                <a:solidFill>
                  <a:schemeClr val="tx1"/>
                </a:solidFill>
                <a:latin typeface="Arial" charset="0"/>
                <a:ea typeface="돋움" pitchFamily="50" charset="-127"/>
              </a:defRPr>
            </a:lvl8pPr>
            <a:lvl9pPr marL="1828800" algn="l" rtl="0" fontAlgn="base" latinLnBrk="1">
              <a:spcBef>
                <a:spcPct val="0"/>
              </a:spcBef>
              <a:spcAft>
                <a:spcPct val="0"/>
              </a:spcAft>
              <a:defRPr kumimoji="1" sz="2000" b="1">
                <a:solidFill>
                  <a:schemeClr val="tx1"/>
                </a:solidFill>
                <a:latin typeface="Arial" charset="0"/>
                <a:ea typeface="돋움" pitchFamily="50" charset="-127"/>
              </a:defRPr>
            </a:lvl9pPr>
          </a:lstStyle>
          <a:p>
            <a:r>
              <a:rPr lang="en-US" altLang="ko-KR" kern="0" dirty="0">
                <a:latin typeface="Arial Narrow" panose="020B0606020202030204" pitchFamily="34" charset="0"/>
                <a:ea typeface="LG Smart_H Regular" pitchFamily="34" charset="-127"/>
              </a:rPr>
              <a:t>4. Improvement</a:t>
            </a:r>
          </a:p>
        </p:txBody>
      </p:sp>
      <p:cxnSp>
        <p:nvCxnSpPr>
          <p:cNvPr id="15" name="Straight Connector 14"/>
          <p:cNvCxnSpPr/>
          <p:nvPr/>
        </p:nvCxnSpPr>
        <p:spPr>
          <a:xfrm>
            <a:off x="-12488" y="561513"/>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2" name="AutoShape 55">
            <a:extLst>
              <a:ext uri="{FF2B5EF4-FFF2-40B4-BE49-F238E27FC236}">
                <a16:creationId xmlns:a16="http://schemas.microsoft.com/office/drawing/2014/main" id="{857F9C77-C688-464A-97E2-542BDED9E2BF}"/>
              </a:ext>
            </a:extLst>
          </p:cNvPr>
          <p:cNvSpPr>
            <a:spLocks noChangeArrowheads="1"/>
          </p:cNvSpPr>
          <p:nvPr/>
        </p:nvSpPr>
        <p:spPr bwMode="auto">
          <a:xfrm>
            <a:off x="9142413" y="22542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cs typeface="Arial" panose="020B0604020202020204" pitchFamily="34" charset="0"/>
              </a:rPr>
              <a:t>Control</a:t>
            </a:r>
          </a:p>
        </p:txBody>
      </p:sp>
      <p:sp>
        <p:nvSpPr>
          <p:cNvPr id="43" name="AutoShape 57">
            <a:extLst>
              <a:ext uri="{FF2B5EF4-FFF2-40B4-BE49-F238E27FC236}">
                <a16:creationId xmlns:a16="http://schemas.microsoft.com/office/drawing/2014/main" id="{9EE90D15-753A-4859-AA6D-580EC396B3A2}"/>
              </a:ext>
            </a:extLst>
          </p:cNvPr>
          <p:cNvSpPr>
            <a:spLocks noChangeArrowheads="1"/>
          </p:cNvSpPr>
          <p:nvPr/>
        </p:nvSpPr>
        <p:spPr bwMode="auto">
          <a:xfrm>
            <a:off x="7761288" y="225425"/>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cs typeface="Arial" panose="020B0604020202020204" pitchFamily="34" charset="0"/>
              </a:rPr>
              <a:t>Analyze</a:t>
            </a:r>
          </a:p>
        </p:txBody>
      </p:sp>
      <p:sp>
        <p:nvSpPr>
          <p:cNvPr id="44" name="AutoShape 58">
            <a:extLst>
              <a:ext uri="{FF2B5EF4-FFF2-40B4-BE49-F238E27FC236}">
                <a16:creationId xmlns:a16="http://schemas.microsoft.com/office/drawing/2014/main" id="{9AE70768-5C64-44F1-AE77-592107F577AE}"/>
              </a:ext>
            </a:extLst>
          </p:cNvPr>
          <p:cNvSpPr>
            <a:spLocks noChangeArrowheads="1"/>
          </p:cNvSpPr>
          <p:nvPr/>
        </p:nvSpPr>
        <p:spPr bwMode="auto">
          <a:xfrm>
            <a:off x="7089775" y="225425"/>
            <a:ext cx="747713" cy="287338"/>
          </a:xfrm>
          <a:prstGeom prst="homePlate">
            <a:avLst>
              <a:gd name="adj" fmla="val 46599"/>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cs typeface="Arial" panose="020B0604020202020204" pitchFamily="34" charset="0"/>
              </a:rPr>
              <a:t>Measure </a:t>
            </a:r>
          </a:p>
        </p:txBody>
      </p:sp>
      <p:sp>
        <p:nvSpPr>
          <p:cNvPr id="45" name="AutoShape 59">
            <a:extLst>
              <a:ext uri="{FF2B5EF4-FFF2-40B4-BE49-F238E27FC236}">
                <a16:creationId xmlns:a16="http://schemas.microsoft.com/office/drawing/2014/main" id="{7B1D8D77-BE5F-460F-9CEB-8460B286C49F}"/>
              </a:ext>
            </a:extLst>
          </p:cNvPr>
          <p:cNvSpPr>
            <a:spLocks noChangeArrowheads="1"/>
          </p:cNvSpPr>
          <p:nvPr/>
        </p:nvSpPr>
        <p:spPr bwMode="auto">
          <a:xfrm>
            <a:off x="6392863" y="225425"/>
            <a:ext cx="757237" cy="287338"/>
          </a:xfrm>
          <a:prstGeom prst="homePlate">
            <a:avLst>
              <a:gd name="adj" fmla="val 47192"/>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cs typeface="Arial" panose="020B0604020202020204" pitchFamily="34" charset="0"/>
              </a:rPr>
              <a:t>Define</a:t>
            </a:r>
          </a:p>
        </p:txBody>
      </p:sp>
      <p:sp>
        <p:nvSpPr>
          <p:cNvPr id="46" name="AutoShape 56">
            <a:extLst>
              <a:ext uri="{FF2B5EF4-FFF2-40B4-BE49-F238E27FC236}">
                <a16:creationId xmlns:a16="http://schemas.microsoft.com/office/drawing/2014/main" id="{37C783BE-50B3-498E-87E9-826E935ECD2E}"/>
              </a:ext>
            </a:extLst>
          </p:cNvPr>
          <p:cNvSpPr>
            <a:spLocks noChangeArrowheads="1"/>
          </p:cNvSpPr>
          <p:nvPr/>
        </p:nvSpPr>
        <p:spPr bwMode="auto">
          <a:xfrm>
            <a:off x="8453438" y="100013"/>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latin typeface="Arial Narrow" panose="020B0606020202030204" pitchFamily="34" charset="0"/>
                <a:ea typeface="맑은 고딕" panose="020B0503020000020004" pitchFamily="50" charset="-127"/>
                <a:cs typeface="Arial" panose="020B0604020202020204" pitchFamily="34" charset="0"/>
              </a:rPr>
              <a:t>Improve</a:t>
            </a:r>
          </a:p>
        </p:txBody>
      </p:sp>
      <p:sp>
        <p:nvSpPr>
          <p:cNvPr id="2" name="제목 1">
            <a:extLst>
              <a:ext uri="{FF2B5EF4-FFF2-40B4-BE49-F238E27FC236}">
                <a16:creationId xmlns:a16="http://schemas.microsoft.com/office/drawing/2014/main" id="{682C99E4-9EBA-8005-F2AF-692BD6762C9B}"/>
              </a:ext>
            </a:extLst>
          </p:cNvPr>
          <p:cNvSpPr txBox="1">
            <a:spLocks/>
          </p:cNvSpPr>
          <p:nvPr/>
        </p:nvSpPr>
        <p:spPr>
          <a:xfrm>
            <a:off x="152400" y="565786"/>
            <a:ext cx="2058365" cy="418058"/>
          </a:xfrm>
          <a:prstGeom prst="rect">
            <a:avLst/>
          </a:prstGeom>
        </p:spPr>
        <p:txBody>
          <a:bodyPr vert="horz" lIns="91440" tIns="45720" rIns="91440" bIns="45720" rtlCol="0" anchor="ctr">
            <a:noAutofit/>
          </a:bodyPr>
          <a:lstStyle/>
          <a:p>
            <a:pPr eaLnBrk="0" hangingPunct="0">
              <a:defRPr/>
            </a:pPr>
            <a:r>
              <a:rPr lang="vi-VN" altLang="ko-KR" sz="1400" b="1" kern="0" dirty="0">
                <a:latin typeface="Arial Narrow" panose="020B0606020202030204" pitchFamily="34" charset="0"/>
                <a:ea typeface="Arial Unicode MS" panose="020B0604020202020204" pitchFamily="34" charset="-128"/>
                <a:cs typeface="Arial" panose="020B0604020202020204" pitchFamily="34" charset="0"/>
              </a:rPr>
              <a:t>4.</a:t>
            </a:r>
            <a:r>
              <a:rPr lang="en-US" altLang="ko-KR" sz="1400" b="1" kern="0" dirty="0">
                <a:latin typeface="Arial Narrow" panose="020B0606020202030204" pitchFamily="34" charset="0"/>
                <a:ea typeface="Arial Unicode MS" panose="020B0604020202020204" pitchFamily="34" charset="-128"/>
                <a:cs typeface="Arial" panose="020B0604020202020204" pitchFamily="34" charset="0"/>
              </a:rPr>
              <a:t>3. </a:t>
            </a:r>
            <a:r>
              <a:rPr lang="en-US" altLang="ko-KR" sz="1400" b="1" kern="0" dirty="0" err="1">
                <a:latin typeface="Arial Narrow" panose="020B0606020202030204" pitchFamily="34" charset="0"/>
                <a:ea typeface="Arial Unicode MS" panose="020B0604020202020204" pitchFamily="34" charset="-128"/>
                <a:cs typeface="Arial" panose="020B0604020202020204" pitchFamily="34" charset="0"/>
              </a:rPr>
              <a:t>Xbar</a:t>
            </a:r>
            <a:r>
              <a:rPr lang="en-US" altLang="ko-KR" sz="1400" b="1" kern="0" dirty="0">
                <a:latin typeface="Arial Narrow" panose="020B0606020202030204" pitchFamily="34" charset="0"/>
                <a:ea typeface="Arial Unicode MS" panose="020B0604020202020204" pitchFamily="34" charset="-128"/>
                <a:cs typeface="Arial" panose="020B0604020202020204" pitchFamily="34" charset="0"/>
              </a:rPr>
              <a:t>-R Chart Review</a:t>
            </a:r>
            <a:endParaRPr lang="en-US" sz="1400" b="1" dirty="0">
              <a:solidFill>
                <a:srgbClr val="000000"/>
              </a:solidFill>
              <a:latin typeface="Arial Narrow" panose="020B0606020202030204" pitchFamily="34" charset="0"/>
            </a:endParaRPr>
          </a:p>
        </p:txBody>
      </p:sp>
      <p:sp>
        <p:nvSpPr>
          <p:cNvPr id="23" name="TextBox 22">
            <a:extLst>
              <a:ext uri="{FF2B5EF4-FFF2-40B4-BE49-F238E27FC236}">
                <a16:creationId xmlns:a16="http://schemas.microsoft.com/office/drawing/2014/main" id="{FFEE6D49-212B-BCE9-E116-8709E83046D0}"/>
              </a:ext>
            </a:extLst>
          </p:cNvPr>
          <p:cNvSpPr txBox="1"/>
          <p:nvPr/>
        </p:nvSpPr>
        <p:spPr>
          <a:xfrm>
            <a:off x="338708" y="4895480"/>
            <a:ext cx="9228584" cy="461665"/>
          </a:xfrm>
          <a:prstGeom prst="rect">
            <a:avLst/>
          </a:prstGeom>
          <a:noFill/>
        </p:spPr>
        <p:txBody>
          <a:bodyPr wrap="square" rtlCol="0">
            <a:spAutoFit/>
          </a:bodyPr>
          <a:lstStyle/>
          <a:p>
            <a:pPr marL="171450" indent="-171450">
              <a:buFont typeface="Wingdings" panose="05000000000000000000" pitchFamily="2" charset="2"/>
              <a:buChar char="Ø"/>
            </a:pPr>
            <a:r>
              <a:rPr lang="en-US" altLang="ko-KR" sz="1200" b="1" u="sng" dirty="0">
                <a:latin typeface="Arial Narrow" panose="020B0606020202030204" pitchFamily="34" charset="0"/>
                <a:ea typeface="LG Smart_H Regular" panose="020B0600000101010101" pitchFamily="34" charset="-127"/>
                <a:cs typeface="Arial" panose="020B0604020202020204" pitchFamily="34" charset="0"/>
              </a:rPr>
              <a:t>Conclusion:</a:t>
            </a:r>
            <a:r>
              <a:rPr lang="vi-VN" altLang="ko-KR" sz="1200" b="1" u="sng" dirty="0">
                <a:latin typeface="Arial" panose="020B0604020202020204" pitchFamily="34" charset="0"/>
                <a:ea typeface="LG Smart_H Regular" panose="020B0600000101010101" pitchFamily="34" charset="-127"/>
                <a:cs typeface="Arial" panose="020B0604020202020204" pitchFamily="34" charset="0"/>
              </a:rPr>
              <a:t> </a:t>
            </a:r>
          </a:p>
          <a:p>
            <a:pPr marL="171450" indent="-171450">
              <a:buFont typeface="Arial" panose="020B0604020202020204" pitchFamily="34" charset="0"/>
              <a:buChar char="•"/>
            </a:pPr>
            <a:r>
              <a:rPr lang="en-US" altLang="en-US" sz="1200" dirty="0">
                <a:latin typeface="Arial Narrow" panose="020B0606020202030204" pitchFamily="34" charset="0"/>
                <a:ea typeface="LG Smart_H Regular" panose="020B0600000101010101" pitchFamily="34" charset="-127"/>
              </a:rPr>
              <a:t>No abnormality can be found in the Xbar control chart and the R control chart. Therefore, stability is acceptable, the performance of process over time is Good</a:t>
            </a:r>
            <a:endParaRPr lang="en-US" altLang="ko-KR" sz="1200" dirty="0">
              <a:latin typeface="Arial Narrow" panose="020B0606020202030204" pitchFamily="34" charset="0"/>
              <a:ea typeface="LG Smart_H Regular" panose="020B0600000101010101" pitchFamily="34" charset="-127"/>
              <a:cs typeface="Arial" panose="020B0604020202020204" pitchFamily="34" charset="0"/>
            </a:endParaRPr>
          </a:p>
        </p:txBody>
      </p:sp>
      <p:sp>
        <p:nvSpPr>
          <p:cNvPr id="24" name="TextBox 23">
            <a:extLst>
              <a:ext uri="{FF2B5EF4-FFF2-40B4-BE49-F238E27FC236}">
                <a16:creationId xmlns:a16="http://schemas.microsoft.com/office/drawing/2014/main" id="{8372F039-5063-22F4-5847-00F9DC63FA36}"/>
              </a:ext>
            </a:extLst>
          </p:cNvPr>
          <p:cNvSpPr txBox="1"/>
          <p:nvPr/>
        </p:nvSpPr>
        <p:spPr>
          <a:xfrm>
            <a:off x="100765" y="968761"/>
            <a:ext cx="9457894" cy="461665"/>
          </a:xfrm>
          <a:prstGeom prst="rect">
            <a:avLst/>
          </a:prstGeom>
          <a:noFill/>
        </p:spPr>
        <p:txBody>
          <a:bodyPr wrap="square" rtlCol="0">
            <a:spAutoFit/>
          </a:bodyPr>
          <a:lstStyle/>
          <a:p>
            <a:r>
              <a:rPr lang="en-US" altLang="ko-KR" sz="1200" dirty="0">
                <a:latin typeface="Arial Narrow" panose="020B0606020202030204" pitchFamily="34" charset="0"/>
                <a:ea typeface="Arial Unicode MS" panose="020B0604020202020204" pitchFamily="34" charset="-128"/>
                <a:cs typeface="Arial" panose="020B0604020202020204" pitchFamily="34" charset="0"/>
              </a:rPr>
              <a:t>To monitor the mean and the variation of process after applying improvement and use control chart to monitor process stability over time.</a:t>
            </a:r>
          </a:p>
          <a:p>
            <a:r>
              <a:rPr lang="en-US" altLang="ko-KR" sz="1200" dirty="0">
                <a:latin typeface="Arial Narrow" panose="020B0606020202030204" pitchFamily="34" charset="0"/>
                <a:ea typeface="Arial Unicode MS" panose="020B0604020202020204" pitchFamily="34" charset="-128"/>
                <a:cs typeface="Arial" panose="020B0604020202020204" pitchFamily="34" charset="0"/>
              </a:rPr>
              <a:t>- Sampling method: Rational sub group sampling</a:t>
            </a:r>
            <a:r>
              <a:rPr lang="vi-VN" altLang="ko-KR" sz="1200" dirty="0">
                <a:latin typeface="Arial" panose="020B0604020202020204" pitchFamily="34" charset="0"/>
                <a:ea typeface="Arial Unicode MS" panose="020B0604020202020204" pitchFamily="34" charset="-128"/>
                <a:cs typeface="Arial" panose="020B0604020202020204" pitchFamily="34" charset="0"/>
              </a:rPr>
              <a:t> </a:t>
            </a:r>
            <a:r>
              <a:rPr lang="en-US" altLang="ko-KR" sz="1200" dirty="0">
                <a:latin typeface="Arial Narrow" panose="020B0606020202030204" pitchFamily="34" charset="0"/>
                <a:ea typeface="Arial Unicode MS" panose="020B0604020202020204" pitchFamily="34" charset="-128"/>
                <a:cs typeface="Arial" panose="020B0604020202020204" pitchFamily="34" charset="0"/>
              </a:rPr>
              <a:t>firsts 5ea/day at production line for 10 days to analyze:</a:t>
            </a:r>
          </a:p>
        </p:txBody>
      </p:sp>
      <p:pic>
        <p:nvPicPr>
          <p:cNvPr id="26" name="Picture 25">
            <a:extLst>
              <a:ext uri="{FF2B5EF4-FFF2-40B4-BE49-F238E27FC236}">
                <a16:creationId xmlns:a16="http://schemas.microsoft.com/office/drawing/2014/main" id="{AA78F213-5586-7839-E8F0-C8B2299B55B8}"/>
              </a:ext>
            </a:extLst>
          </p:cNvPr>
          <p:cNvPicPr>
            <a:picLocks noChangeAspect="1"/>
          </p:cNvPicPr>
          <p:nvPr/>
        </p:nvPicPr>
        <p:blipFill>
          <a:blip r:embed="rId3"/>
          <a:stretch>
            <a:fillRect/>
          </a:stretch>
        </p:blipFill>
        <p:spPr>
          <a:xfrm>
            <a:off x="4829711" y="1626669"/>
            <a:ext cx="4233265" cy="2822177"/>
          </a:xfrm>
          <a:prstGeom prst="rect">
            <a:avLst/>
          </a:prstGeom>
        </p:spPr>
      </p:pic>
      <p:graphicFrame>
        <p:nvGraphicFramePr>
          <p:cNvPr id="6" name="Table 5">
            <a:extLst>
              <a:ext uri="{FF2B5EF4-FFF2-40B4-BE49-F238E27FC236}">
                <a16:creationId xmlns:a16="http://schemas.microsoft.com/office/drawing/2014/main" id="{A60F3E54-1911-0963-EAE2-7E4457E7508F}"/>
              </a:ext>
            </a:extLst>
          </p:cNvPr>
          <p:cNvGraphicFramePr>
            <a:graphicFrameLocks noGrp="1"/>
          </p:cNvGraphicFramePr>
          <p:nvPr>
            <p:extLst>
              <p:ext uri="{D42A27DB-BD31-4B8C-83A1-F6EECF244321}">
                <p14:modId xmlns:p14="http://schemas.microsoft.com/office/powerpoint/2010/main" val="1774662288"/>
              </p:ext>
            </p:extLst>
          </p:nvPr>
        </p:nvGraphicFramePr>
        <p:xfrm>
          <a:off x="436880" y="1877060"/>
          <a:ext cx="3962400" cy="2293621"/>
        </p:xfrm>
        <a:graphic>
          <a:graphicData uri="http://schemas.openxmlformats.org/drawingml/2006/table">
            <a:tbl>
              <a:tblPr>
                <a:tableStyleId>{2D5ABB26-0587-4C30-8999-92F81FD0307C}</a:tableStyleId>
              </a:tblPr>
              <a:tblGrid>
                <a:gridCol w="660400">
                  <a:extLst>
                    <a:ext uri="{9D8B030D-6E8A-4147-A177-3AD203B41FA5}">
                      <a16:colId xmlns:a16="http://schemas.microsoft.com/office/drawing/2014/main" val="631270918"/>
                    </a:ext>
                  </a:extLst>
                </a:gridCol>
                <a:gridCol w="660400">
                  <a:extLst>
                    <a:ext uri="{9D8B030D-6E8A-4147-A177-3AD203B41FA5}">
                      <a16:colId xmlns:a16="http://schemas.microsoft.com/office/drawing/2014/main" val="1478129056"/>
                    </a:ext>
                  </a:extLst>
                </a:gridCol>
                <a:gridCol w="660400">
                  <a:extLst>
                    <a:ext uri="{9D8B030D-6E8A-4147-A177-3AD203B41FA5}">
                      <a16:colId xmlns:a16="http://schemas.microsoft.com/office/drawing/2014/main" val="1282797866"/>
                    </a:ext>
                  </a:extLst>
                </a:gridCol>
                <a:gridCol w="660400">
                  <a:extLst>
                    <a:ext uri="{9D8B030D-6E8A-4147-A177-3AD203B41FA5}">
                      <a16:colId xmlns:a16="http://schemas.microsoft.com/office/drawing/2014/main" val="253328732"/>
                    </a:ext>
                  </a:extLst>
                </a:gridCol>
                <a:gridCol w="660400">
                  <a:extLst>
                    <a:ext uri="{9D8B030D-6E8A-4147-A177-3AD203B41FA5}">
                      <a16:colId xmlns:a16="http://schemas.microsoft.com/office/drawing/2014/main" val="1523089737"/>
                    </a:ext>
                  </a:extLst>
                </a:gridCol>
                <a:gridCol w="660400">
                  <a:extLst>
                    <a:ext uri="{9D8B030D-6E8A-4147-A177-3AD203B41FA5}">
                      <a16:colId xmlns:a16="http://schemas.microsoft.com/office/drawing/2014/main" val="417547270"/>
                    </a:ext>
                  </a:extLst>
                </a:gridCol>
              </a:tblGrid>
              <a:tr h="208511">
                <a:tc>
                  <a:txBody>
                    <a:bodyPr/>
                    <a:lstStyle/>
                    <a:p>
                      <a:pPr algn="ctr" fontAlgn="ctr">
                        <a:buNone/>
                      </a:pPr>
                      <a:r>
                        <a:rPr lang="en-US" sz="1100" b="1" u="none" strike="noStrike" dirty="0">
                          <a:effectLst/>
                          <a:latin typeface="Arial Narrow" panose="020B0606020202030204" pitchFamily="34" charset="0"/>
                        </a:rPr>
                        <a:t>Date</a:t>
                      </a:r>
                      <a:endParaRPr lang="en-US" sz="1100" b="1" i="0" u="none" strike="noStrike" dirty="0">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ctr">
                        <a:buNone/>
                      </a:pPr>
                      <a:r>
                        <a:rPr lang="en-US" sz="1100" b="1" u="none" strike="noStrike" dirty="0">
                          <a:effectLst/>
                          <a:latin typeface="Arial Narrow" panose="020B0606020202030204" pitchFamily="34" charset="0"/>
                        </a:rPr>
                        <a:t>Sample_1</a:t>
                      </a:r>
                      <a:endParaRPr lang="en-US" sz="1100" b="1" i="0" u="none" strike="noStrike" dirty="0">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ctr">
                        <a:buNone/>
                      </a:pPr>
                      <a:r>
                        <a:rPr lang="en-US" sz="1100" b="1" u="none" strike="noStrike" dirty="0">
                          <a:effectLst/>
                          <a:latin typeface="Arial Narrow" panose="020B0606020202030204" pitchFamily="34" charset="0"/>
                        </a:rPr>
                        <a:t>Sample_2</a:t>
                      </a:r>
                      <a:endParaRPr lang="en-US" sz="1100" b="1" i="0" u="none" strike="noStrike" dirty="0">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ctr">
                        <a:buNone/>
                      </a:pPr>
                      <a:r>
                        <a:rPr lang="en-US" sz="1100" b="1" u="none" strike="noStrike" dirty="0">
                          <a:effectLst/>
                          <a:latin typeface="Arial Narrow" panose="020B0606020202030204" pitchFamily="34" charset="0"/>
                        </a:rPr>
                        <a:t>Sample_3</a:t>
                      </a:r>
                      <a:endParaRPr lang="en-US" sz="1100" b="1" i="0" u="none" strike="noStrike" dirty="0">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ctr">
                        <a:buNone/>
                      </a:pPr>
                      <a:r>
                        <a:rPr lang="en-US" sz="1100" b="1" u="none" strike="noStrike" dirty="0">
                          <a:effectLst/>
                          <a:latin typeface="Arial Narrow" panose="020B0606020202030204" pitchFamily="34" charset="0"/>
                        </a:rPr>
                        <a:t>Sample_4</a:t>
                      </a:r>
                      <a:endParaRPr lang="en-US" sz="1100" b="1" i="0" u="none" strike="noStrike" dirty="0">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fontAlgn="ctr">
                        <a:buNone/>
                      </a:pPr>
                      <a:r>
                        <a:rPr lang="en-US" sz="1100" b="1" u="none" strike="noStrike" dirty="0">
                          <a:effectLst/>
                          <a:latin typeface="Arial Narrow" panose="020B0606020202030204" pitchFamily="34" charset="0"/>
                        </a:rPr>
                        <a:t>Sample_5</a:t>
                      </a:r>
                      <a:endParaRPr lang="en-US" sz="1100" b="1" i="0" u="none" strike="noStrike" dirty="0">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865603970"/>
                  </a:ext>
                </a:extLst>
              </a:tr>
              <a:tr h="208511">
                <a:tc>
                  <a:txBody>
                    <a:bodyPr/>
                    <a:lstStyle/>
                    <a:p>
                      <a:pPr algn="ctr" fontAlgn="ctr">
                        <a:buNone/>
                      </a:pPr>
                      <a:r>
                        <a:rPr lang="en-US" sz="1100" u="none" strike="noStrike">
                          <a:effectLst/>
                          <a:latin typeface="Arial Narrow" panose="020B0606020202030204" pitchFamily="34" charset="0"/>
                        </a:rPr>
                        <a:t>24-Aug</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latin typeface="Arial Narrow" panose="020B0606020202030204" pitchFamily="34" charset="0"/>
                        </a:rPr>
                        <a:t>0.19</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latin typeface="Arial Narrow" panose="020B0606020202030204" pitchFamily="34" charset="0"/>
                        </a:rPr>
                        <a:t>0.2</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latin typeface="Arial Narrow" panose="020B0606020202030204" pitchFamily="34" charset="0"/>
                        </a:rPr>
                        <a:t>0.17</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latin typeface="Arial Narrow" panose="020B0606020202030204" pitchFamily="34" charset="0"/>
                        </a:rPr>
                        <a:t>0.21</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latin typeface="Arial Narrow" panose="020B0606020202030204" pitchFamily="34" charset="0"/>
                        </a:rPr>
                        <a:t>0.2</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82291199"/>
                  </a:ext>
                </a:extLst>
              </a:tr>
              <a:tr h="208511">
                <a:tc>
                  <a:txBody>
                    <a:bodyPr/>
                    <a:lstStyle/>
                    <a:p>
                      <a:pPr algn="ctr" fontAlgn="ctr">
                        <a:buNone/>
                      </a:pPr>
                      <a:r>
                        <a:rPr lang="en-US" sz="1100" u="none" strike="noStrike">
                          <a:effectLst/>
                          <a:latin typeface="Arial Narrow" panose="020B0606020202030204" pitchFamily="34" charset="0"/>
                        </a:rPr>
                        <a:t>25-Aug</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latin typeface="Arial Narrow" panose="020B0606020202030204" pitchFamily="34" charset="0"/>
                        </a:rPr>
                        <a:t>0.17</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latin typeface="Arial Narrow" panose="020B0606020202030204" pitchFamily="34" charset="0"/>
                        </a:rPr>
                        <a:t>0.2</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latin typeface="Arial Narrow" panose="020B0606020202030204" pitchFamily="34" charset="0"/>
                        </a:rPr>
                        <a:t>0.22</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latin typeface="Arial Narrow" panose="020B0606020202030204" pitchFamily="34" charset="0"/>
                        </a:rPr>
                        <a:t>0.15</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latin typeface="Arial Narrow" panose="020B0606020202030204" pitchFamily="34" charset="0"/>
                        </a:rPr>
                        <a:t>0.2</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2806985"/>
                  </a:ext>
                </a:extLst>
              </a:tr>
              <a:tr h="208511">
                <a:tc>
                  <a:txBody>
                    <a:bodyPr/>
                    <a:lstStyle/>
                    <a:p>
                      <a:pPr algn="ctr" fontAlgn="ctr">
                        <a:buNone/>
                      </a:pPr>
                      <a:r>
                        <a:rPr lang="en-US" sz="1100" u="none" strike="noStrike">
                          <a:effectLst/>
                          <a:latin typeface="Arial Narrow" panose="020B0606020202030204" pitchFamily="34" charset="0"/>
                        </a:rPr>
                        <a:t>26-Aug</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latin typeface="Arial Narrow" panose="020B0606020202030204" pitchFamily="34" charset="0"/>
                        </a:rPr>
                        <a:t>0.16</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dirty="0">
                          <a:effectLst/>
                          <a:latin typeface="Arial Narrow" panose="020B0606020202030204" pitchFamily="34" charset="0"/>
                        </a:rPr>
                        <a:t>0.21</a:t>
                      </a:r>
                      <a:endParaRPr lang="en-US" sz="1100" b="0" i="0" u="none" strike="noStrike" dirty="0">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latin typeface="Arial Narrow" panose="020B0606020202030204" pitchFamily="34" charset="0"/>
                        </a:rPr>
                        <a:t>0.18</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latin typeface="Arial Narrow" panose="020B0606020202030204" pitchFamily="34" charset="0"/>
                        </a:rPr>
                        <a:t>0.22</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latin typeface="Arial Narrow" panose="020B0606020202030204" pitchFamily="34" charset="0"/>
                        </a:rPr>
                        <a:t>0.16</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52204952"/>
                  </a:ext>
                </a:extLst>
              </a:tr>
              <a:tr h="208511">
                <a:tc>
                  <a:txBody>
                    <a:bodyPr/>
                    <a:lstStyle/>
                    <a:p>
                      <a:pPr algn="ctr" fontAlgn="ctr">
                        <a:buNone/>
                      </a:pPr>
                      <a:r>
                        <a:rPr lang="en-US" sz="1100" u="none" strike="noStrike">
                          <a:effectLst/>
                          <a:latin typeface="Arial Narrow" panose="020B0606020202030204" pitchFamily="34" charset="0"/>
                        </a:rPr>
                        <a:t>27-Aug</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latin typeface="Arial Narrow" panose="020B0606020202030204" pitchFamily="34" charset="0"/>
                        </a:rPr>
                        <a:t>0.13</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latin typeface="Arial Narrow" panose="020B0606020202030204" pitchFamily="34" charset="0"/>
                        </a:rPr>
                        <a:t>0.19</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latin typeface="Arial Narrow" panose="020B0606020202030204" pitchFamily="34" charset="0"/>
                        </a:rPr>
                        <a:t>0.15</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latin typeface="Arial Narrow" panose="020B0606020202030204" pitchFamily="34" charset="0"/>
                        </a:rPr>
                        <a:t>0.12</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latin typeface="Arial Narrow" panose="020B0606020202030204" pitchFamily="34" charset="0"/>
                        </a:rPr>
                        <a:t>0.16</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409962"/>
                  </a:ext>
                </a:extLst>
              </a:tr>
              <a:tr h="208511">
                <a:tc>
                  <a:txBody>
                    <a:bodyPr/>
                    <a:lstStyle/>
                    <a:p>
                      <a:pPr algn="ctr" fontAlgn="ctr">
                        <a:buNone/>
                      </a:pPr>
                      <a:r>
                        <a:rPr lang="en-US" sz="1100" u="none" strike="noStrike">
                          <a:effectLst/>
                          <a:latin typeface="Arial Narrow" panose="020B0606020202030204" pitchFamily="34" charset="0"/>
                        </a:rPr>
                        <a:t>28-Aug</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latin typeface="Arial Narrow" panose="020B0606020202030204" pitchFamily="34" charset="0"/>
                        </a:rPr>
                        <a:t>0.22</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dirty="0">
                          <a:effectLst/>
                          <a:latin typeface="Arial Narrow" panose="020B0606020202030204" pitchFamily="34" charset="0"/>
                        </a:rPr>
                        <a:t>0.15</a:t>
                      </a:r>
                      <a:endParaRPr lang="en-US" sz="1100" b="0" i="0" u="none" strike="noStrike" dirty="0">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latin typeface="Arial Narrow" panose="020B0606020202030204" pitchFamily="34" charset="0"/>
                        </a:rPr>
                        <a:t>0.19</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latin typeface="Arial Narrow" panose="020B0606020202030204" pitchFamily="34" charset="0"/>
                        </a:rPr>
                        <a:t>0.18</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latin typeface="Arial Narrow" panose="020B0606020202030204" pitchFamily="34" charset="0"/>
                        </a:rPr>
                        <a:t>0.2</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81367385"/>
                  </a:ext>
                </a:extLst>
              </a:tr>
              <a:tr h="208511">
                <a:tc>
                  <a:txBody>
                    <a:bodyPr/>
                    <a:lstStyle/>
                    <a:p>
                      <a:pPr algn="ctr" fontAlgn="ctr">
                        <a:buNone/>
                      </a:pPr>
                      <a:r>
                        <a:rPr lang="en-US" sz="1100" u="none" strike="noStrike">
                          <a:effectLst/>
                          <a:latin typeface="Arial Narrow" panose="020B0606020202030204" pitchFamily="34" charset="0"/>
                        </a:rPr>
                        <a:t>29-Aug</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latin typeface="Arial Narrow" panose="020B0606020202030204" pitchFamily="34" charset="0"/>
                        </a:rPr>
                        <a:t>0.14</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latin typeface="Arial Narrow" panose="020B0606020202030204" pitchFamily="34" charset="0"/>
                        </a:rPr>
                        <a:t>0.18</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latin typeface="Arial Narrow" panose="020B0606020202030204" pitchFamily="34" charset="0"/>
                        </a:rPr>
                        <a:t>0.17</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latin typeface="Arial Narrow" panose="020B0606020202030204" pitchFamily="34" charset="0"/>
                        </a:rPr>
                        <a:t>0.19</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latin typeface="Arial Narrow" panose="020B0606020202030204" pitchFamily="34" charset="0"/>
                        </a:rPr>
                        <a:t>0.17</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6680522"/>
                  </a:ext>
                </a:extLst>
              </a:tr>
              <a:tr h="208511">
                <a:tc>
                  <a:txBody>
                    <a:bodyPr/>
                    <a:lstStyle/>
                    <a:p>
                      <a:pPr algn="ctr" fontAlgn="ctr">
                        <a:buNone/>
                      </a:pPr>
                      <a:r>
                        <a:rPr lang="en-US" sz="1100" u="none" strike="noStrike">
                          <a:effectLst/>
                          <a:latin typeface="Arial Narrow" panose="020B0606020202030204" pitchFamily="34" charset="0"/>
                        </a:rPr>
                        <a:t>30-Aug</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latin typeface="Arial Narrow" panose="020B0606020202030204" pitchFamily="34" charset="0"/>
                        </a:rPr>
                        <a:t>0.17</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latin typeface="Arial Narrow" panose="020B0606020202030204" pitchFamily="34" charset="0"/>
                        </a:rPr>
                        <a:t>0.23</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latin typeface="Arial Narrow" panose="020B0606020202030204" pitchFamily="34" charset="0"/>
                        </a:rPr>
                        <a:t>0.19</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latin typeface="Arial Narrow" panose="020B0606020202030204" pitchFamily="34" charset="0"/>
                        </a:rPr>
                        <a:t>0.17</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latin typeface="Arial Narrow" panose="020B0606020202030204" pitchFamily="34" charset="0"/>
                        </a:rPr>
                        <a:t>0.2</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16749326"/>
                  </a:ext>
                </a:extLst>
              </a:tr>
              <a:tr h="208511">
                <a:tc>
                  <a:txBody>
                    <a:bodyPr/>
                    <a:lstStyle/>
                    <a:p>
                      <a:pPr algn="ctr" fontAlgn="ctr">
                        <a:buNone/>
                      </a:pPr>
                      <a:r>
                        <a:rPr lang="en-US" sz="1100" u="none" strike="noStrike">
                          <a:effectLst/>
                          <a:latin typeface="Arial Narrow" panose="020B0606020202030204" pitchFamily="34" charset="0"/>
                        </a:rPr>
                        <a:t>31-Aug</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latin typeface="Arial Narrow" panose="020B0606020202030204" pitchFamily="34" charset="0"/>
                        </a:rPr>
                        <a:t>0.19</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latin typeface="Arial Narrow" panose="020B0606020202030204" pitchFamily="34" charset="0"/>
                        </a:rPr>
                        <a:t>0.21</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latin typeface="Arial Narrow" panose="020B0606020202030204" pitchFamily="34" charset="0"/>
                        </a:rPr>
                        <a:t>0.21</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latin typeface="Arial Narrow" panose="020B0606020202030204" pitchFamily="34" charset="0"/>
                        </a:rPr>
                        <a:t>0.18</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latin typeface="Arial Narrow" panose="020B0606020202030204" pitchFamily="34" charset="0"/>
                        </a:rPr>
                        <a:t>0.17</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033442"/>
                  </a:ext>
                </a:extLst>
              </a:tr>
              <a:tr h="208511">
                <a:tc>
                  <a:txBody>
                    <a:bodyPr/>
                    <a:lstStyle/>
                    <a:p>
                      <a:pPr algn="ctr" fontAlgn="ctr">
                        <a:buNone/>
                      </a:pPr>
                      <a:r>
                        <a:rPr lang="en-US" sz="1100" u="none" strike="noStrike">
                          <a:effectLst/>
                          <a:latin typeface="Arial Narrow" panose="020B0606020202030204" pitchFamily="34" charset="0"/>
                        </a:rPr>
                        <a:t>1-Sep</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latin typeface="Arial Narrow" panose="020B0606020202030204" pitchFamily="34" charset="0"/>
                        </a:rPr>
                        <a:t>0.17</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latin typeface="Arial Narrow" panose="020B0606020202030204" pitchFamily="34" charset="0"/>
                        </a:rPr>
                        <a:t>0.21</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latin typeface="Arial Narrow" panose="020B0606020202030204" pitchFamily="34" charset="0"/>
                        </a:rPr>
                        <a:t>0.14</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latin typeface="Arial Narrow" panose="020B0606020202030204" pitchFamily="34" charset="0"/>
                        </a:rPr>
                        <a:t>0.18</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latin typeface="Arial Narrow" panose="020B0606020202030204" pitchFamily="34" charset="0"/>
                        </a:rPr>
                        <a:t>0.13</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9407282"/>
                  </a:ext>
                </a:extLst>
              </a:tr>
              <a:tr h="208511">
                <a:tc>
                  <a:txBody>
                    <a:bodyPr/>
                    <a:lstStyle/>
                    <a:p>
                      <a:pPr algn="ctr" fontAlgn="ctr">
                        <a:buNone/>
                      </a:pPr>
                      <a:r>
                        <a:rPr lang="en-US" sz="1100" u="none" strike="noStrike">
                          <a:effectLst/>
                          <a:latin typeface="Arial Narrow" panose="020B0606020202030204" pitchFamily="34" charset="0"/>
                        </a:rPr>
                        <a:t>2-Sep</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latin typeface="Arial Narrow" panose="020B0606020202030204" pitchFamily="34" charset="0"/>
                        </a:rPr>
                        <a:t>0.17</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latin typeface="Arial Narrow" panose="020B0606020202030204" pitchFamily="34" charset="0"/>
                        </a:rPr>
                        <a:t>0.2</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latin typeface="Arial Narrow" panose="020B0606020202030204" pitchFamily="34" charset="0"/>
                        </a:rPr>
                        <a:t>0.17</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a:effectLst/>
                          <a:latin typeface="Arial Narrow" panose="020B0606020202030204" pitchFamily="34" charset="0"/>
                        </a:rPr>
                        <a:t>0.2</a:t>
                      </a:r>
                      <a:endParaRPr lang="en-US" sz="1100" b="0" i="0" u="none" strike="noStrike">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100" u="none" strike="noStrike" dirty="0">
                          <a:effectLst/>
                          <a:latin typeface="Arial Narrow" panose="020B0606020202030204" pitchFamily="34" charset="0"/>
                        </a:rPr>
                        <a:t>0.17</a:t>
                      </a:r>
                      <a:endParaRPr lang="en-US" sz="1100" b="0" i="0" u="none" strike="noStrike" dirty="0">
                        <a:effectLst/>
                        <a:latin typeface="Arial Narrow" panose="020B060602020203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5381133"/>
                  </a:ext>
                </a:extLst>
              </a:tr>
            </a:tbl>
          </a:graphicData>
        </a:graphic>
      </p:graphicFrame>
    </p:spTree>
    <p:extLst>
      <p:ext uri="{BB962C8B-B14F-4D97-AF65-F5344CB8AC3E}">
        <p14:creationId xmlns:p14="http://schemas.microsoft.com/office/powerpoint/2010/main" val="14264144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7904F-81E3-2482-D07C-20ED6F39B906}"/>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A8CD978E-B000-28B7-4861-98C634536574}"/>
              </a:ext>
            </a:extLst>
          </p:cNvPr>
          <p:cNvSpPr txBox="1"/>
          <p:nvPr/>
        </p:nvSpPr>
        <p:spPr>
          <a:xfrm>
            <a:off x="6194573" y="3259059"/>
            <a:ext cx="2129053" cy="461665"/>
          </a:xfrm>
          <a:prstGeom prst="rect">
            <a:avLst/>
          </a:prstGeom>
          <a:solidFill>
            <a:schemeClr val="bg1"/>
          </a:solidFill>
          <a:ln>
            <a:noFill/>
          </a:ln>
        </p:spPr>
        <p:txBody>
          <a:bodyPr wrap="square" lIns="91440" rIns="0" rtlCol="0">
            <a:spAutoFit/>
          </a:bodyPr>
          <a:lstStyle/>
          <a:p>
            <a:pPr>
              <a:buFont typeface="Wingdings" pitchFamily="2" charset="2"/>
              <a:buChar char="§"/>
            </a:pPr>
            <a:r>
              <a:rPr lang="en-US" altLang="ko-KR" sz="1200" dirty="0">
                <a:solidFill>
                  <a:srgbClr val="00B050"/>
                </a:solidFill>
                <a:latin typeface="Arial Narrow" panose="020B0606020202030204" pitchFamily="34" charset="0"/>
                <a:ea typeface="LG Smart_H Regular" pitchFamily="34" charset="-127"/>
                <a:cs typeface="Arial" panose="020B0604020202020204" pitchFamily="34" charset="0"/>
              </a:rPr>
              <a:t> P-value = 0.117 &gt; 0.05 </a:t>
            </a:r>
            <a:r>
              <a:rPr lang="en-US" altLang="ko-KR" sz="1200" dirty="0">
                <a:solidFill>
                  <a:srgbClr val="00B050"/>
                </a:solidFill>
                <a:latin typeface="Arial Narrow" panose="020B0606020202030204" pitchFamily="34" charset="0"/>
                <a:ea typeface="LG Smart_H Regular" pitchFamily="34" charset="-127"/>
                <a:cs typeface="Arial" panose="020B0604020202020204" pitchFamily="34" charset="0"/>
                <a:sym typeface="Wingdings" pitchFamily="2" charset="2"/>
              </a:rPr>
              <a:t> OK</a:t>
            </a:r>
          </a:p>
          <a:p>
            <a:r>
              <a:rPr lang="en-US" altLang="ko-KR" sz="1200" dirty="0">
                <a:solidFill>
                  <a:srgbClr val="00B050"/>
                </a:solidFill>
                <a:latin typeface="Arial Narrow" panose="020B0606020202030204" pitchFamily="34" charset="0"/>
                <a:ea typeface="LG Smart_H Regular" pitchFamily="34" charset="-127"/>
                <a:cs typeface="Arial" panose="020B0604020202020204" pitchFamily="34" charset="0"/>
                <a:sym typeface="Wingdings" pitchFamily="2" charset="2"/>
              </a:rPr>
              <a:t>  (Data follow a normal distribution)</a:t>
            </a:r>
            <a:endParaRPr lang="en-US" altLang="ko-KR" sz="1200" dirty="0">
              <a:solidFill>
                <a:srgbClr val="00B050"/>
              </a:solidFill>
              <a:latin typeface="Arial Narrow" panose="020B0606020202030204" pitchFamily="34" charset="0"/>
              <a:ea typeface="LG Smart_H Regular" pitchFamily="34" charset="-127"/>
              <a:cs typeface="Arial" panose="020B0604020202020204" pitchFamily="34" charset="0"/>
            </a:endParaRPr>
          </a:p>
        </p:txBody>
      </p:sp>
      <p:sp>
        <p:nvSpPr>
          <p:cNvPr id="21" name="TextBox 20">
            <a:extLst>
              <a:ext uri="{FF2B5EF4-FFF2-40B4-BE49-F238E27FC236}">
                <a16:creationId xmlns:a16="http://schemas.microsoft.com/office/drawing/2014/main" id="{3EFE0D44-6F1D-178E-88D3-1EC5D49E2F98}"/>
              </a:ext>
            </a:extLst>
          </p:cNvPr>
          <p:cNvSpPr txBox="1"/>
          <p:nvPr/>
        </p:nvSpPr>
        <p:spPr>
          <a:xfrm>
            <a:off x="6171424" y="6280522"/>
            <a:ext cx="2550101" cy="498598"/>
          </a:xfrm>
          <a:prstGeom prst="rect">
            <a:avLst/>
          </a:prstGeom>
          <a:noFill/>
        </p:spPr>
        <p:txBody>
          <a:bodyPr wrap="square" rtlCol="0">
            <a:spAutoFit/>
          </a:bodyPr>
          <a:lstStyle/>
          <a:p>
            <a:pPr algn="just" fontAlgn="base" latinLnBrk="1">
              <a:spcBef>
                <a:spcPct val="20000"/>
              </a:spcBef>
              <a:spcAft>
                <a:spcPct val="0"/>
              </a:spcAft>
            </a:pPr>
            <a:r>
              <a:rPr lang="en-US" altLang="ko-KR" sz="1200" dirty="0" err="1">
                <a:latin typeface="Arial Narrow" panose="020B0606020202030204" pitchFamily="34" charset="0"/>
                <a:ea typeface="LG Smart_H Regular" pitchFamily="34" charset="-127"/>
                <a:cs typeface="Arial" panose="020B0604020202020204" pitchFamily="34" charset="0"/>
              </a:rPr>
              <a:t>Cpk</a:t>
            </a:r>
            <a:r>
              <a:rPr lang="en-US" altLang="ko-KR" sz="1200" dirty="0">
                <a:latin typeface="Arial Narrow" panose="020B0606020202030204" pitchFamily="34" charset="0"/>
                <a:ea typeface="LG Smart_H Regular" pitchFamily="34" charset="-127"/>
                <a:cs typeface="Arial" panose="020B0604020202020204" pitchFamily="34" charset="0"/>
              </a:rPr>
              <a:t> = 2.49 → Standard: ≥ 1.33 → </a:t>
            </a:r>
            <a:r>
              <a:rPr lang="en-US" altLang="ko-KR" sz="1200" dirty="0">
                <a:solidFill>
                  <a:srgbClr val="00B050"/>
                </a:solidFill>
                <a:latin typeface="Arial Narrow" panose="020B0606020202030204" pitchFamily="34" charset="0"/>
                <a:ea typeface="LG Smart_H Regular" pitchFamily="34" charset="-127"/>
                <a:cs typeface="Arial" panose="020B0604020202020204" pitchFamily="34" charset="0"/>
              </a:rPr>
              <a:t>OK</a:t>
            </a:r>
          </a:p>
          <a:p>
            <a:pPr algn="just" fontAlgn="base" latinLnBrk="1">
              <a:spcBef>
                <a:spcPct val="20000"/>
              </a:spcBef>
              <a:spcAft>
                <a:spcPct val="0"/>
              </a:spcAft>
              <a:buFont typeface="Wingdings"/>
              <a:buChar char="à"/>
            </a:pPr>
            <a:r>
              <a:rPr lang="en-US" altLang="ko-KR" sz="1200" dirty="0">
                <a:latin typeface="Arial Narrow" panose="020B0606020202030204" pitchFamily="34" charset="0"/>
                <a:ea typeface="LG Smart_H Regular" pitchFamily="34" charset="-127"/>
                <a:cs typeface="Arial" panose="020B0604020202020204" pitchFamily="34" charset="0"/>
              </a:rPr>
              <a:t> Good process capability</a:t>
            </a:r>
            <a:endParaRPr lang="en-US" altLang="ko-KR" sz="1200" dirty="0">
              <a:solidFill>
                <a:srgbClr val="FF0000"/>
              </a:solidFill>
              <a:latin typeface="Arial Narrow" panose="020B0606020202030204" pitchFamily="34" charset="0"/>
              <a:ea typeface="LG Smart_H Regular" pitchFamily="34" charset="-127"/>
              <a:cs typeface="Arial" panose="020B0604020202020204" pitchFamily="34" charset="0"/>
            </a:endParaRPr>
          </a:p>
        </p:txBody>
      </p:sp>
      <p:sp>
        <p:nvSpPr>
          <p:cNvPr id="13" name="제목 1">
            <a:extLst>
              <a:ext uri="{FF2B5EF4-FFF2-40B4-BE49-F238E27FC236}">
                <a16:creationId xmlns:a16="http://schemas.microsoft.com/office/drawing/2014/main" id="{6D4338F9-55ED-8537-0D51-4B10B293AD1A}"/>
              </a:ext>
            </a:extLst>
          </p:cNvPr>
          <p:cNvSpPr txBox="1">
            <a:spLocks/>
          </p:cNvSpPr>
          <p:nvPr/>
        </p:nvSpPr>
        <p:spPr>
          <a:xfrm>
            <a:off x="56456" y="116632"/>
            <a:ext cx="8915400" cy="418058"/>
          </a:xfrm>
          <a:prstGeom prst="rect">
            <a:avLst/>
          </a:prstGeom>
        </p:spPr>
        <p:txBody>
          <a:bodyPr vert="horz" lIns="91440" tIns="45720" rIns="91440" bIns="45720" rtlCol="0" anchor="ctr">
            <a:normAutofit/>
          </a:bodyPr>
          <a:lstStyle>
            <a:lvl1pPr algn="l" rtl="0" eaLnBrk="0" fontAlgn="base" latinLnBrk="1" hangingPunct="0">
              <a:spcBef>
                <a:spcPct val="0"/>
              </a:spcBef>
              <a:spcAft>
                <a:spcPct val="0"/>
              </a:spcAft>
              <a:defRPr kumimoji="1" sz="2000" b="1">
                <a:solidFill>
                  <a:schemeClr val="tx1"/>
                </a:solidFill>
                <a:latin typeface="맑은 고딕" panose="020B0503020000020004" pitchFamily="50" charset="-127"/>
                <a:ea typeface="맑은 고딕" panose="020B0503020000020004" pitchFamily="50" charset="-127"/>
                <a:cs typeface="+mj-cs"/>
              </a:defRPr>
            </a:lvl1pPr>
            <a:lvl2pPr algn="l" rtl="0" eaLnBrk="0" fontAlgn="base" latinLnBrk="1" hangingPunct="0">
              <a:spcBef>
                <a:spcPct val="0"/>
              </a:spcBef>
              <a:spcAft>
                <a:spcPct val="0"/>
              </a:spcAft>
              <a:defRPr kumimoji="1" sz="2000" b="1">
                <a:solidFill>
                  <a:schemeClr val="tx1"/>
                </a:solidFill>
                <a:latin typeface="Arial" charset="0"/>
                <a:ea typeface="돋움" pitchFamily="50" charset="-127"/>
              </a:defRPr>
            </a:lvl2pPr>
            <a:lvl3pPr algn="l" rtl="0" eaLnBrk="0" fontAlgn="base" latinLnBrk="1" hangingPunct="0">
              <a:spcBef>
                <a:spcPct val="0"/>
              </a:spcBef>
              <a:spcAft>
                <a:spcPct val="0"/>
              </a:spcAft>
              <a:defRPr kumimoji="1" sz="2000" b="1">
                <a:solidFill>
                  <a:schemeClr val="tx1"/>
                </a:solidFill>
                <a:latin typeface="Arial" charset="0"/>
                <a:ea typeface="돋움" pitchFamily="50" charset="-127"/>
              </a:defRPr>
            </a:lvl3pPr>
            <a:lvl4pPr algn="l" rtl="0" eaLnBrk="0" fontAlgn="base" latinLnBrk="1" hangingPunct="0">
              <a:spcBef>
                <a:spcPct val="0"/>
              </a:spcBef>
              <a:spcAft>
                <a:spcPct val="0"/>
              </a:spcAft>
              <a:defRPr kumimoji="1" sz="2000" b="1">
                <a:solidFill>
                  <a:schemeClr val="tx1"/>
                </a:solidFill>
                <a:latin typeface="Arial" charset="0"/>
                <a:ea typeface="돋움" pitchFamily="50" charset="-127"/>
              </a:defRPr>
            </a:lvl4pPr>
            <a:lvl5pPr algn="l" rtl="0" eaLnBrk="0" fontAlgn="base" latinLnBrk="1" hangingPunct="0">
              <a:spcBef>
                <a:spcPct val="0"/>
              </a:spcBef>
              <a:spcAft>
                <a:spcPct val="0"/>
              </a:spcAft>
              <a:defRPr kumimoji="1" sz="2000" b="1">
                <a:solidFill>
                  <a:schemeClr val="tx1"/>
                </a:solidFill>
                <a:latin typeface="Arial" charset="0"/>
                <a:ea typeface="돋움" pitchFamily="50" charset="-127"/>
              </a:defRPr>
            </a:lvl5pPr>
            <a:lvl6pPr marL="457200" algn="l" rtl="0" fontAlgn="base" latinLnBrk="1">
              <a:spcBef>
                <a:spcPct val="0"/>
              </a:spcBef>
              <a:spcAft>
                <a:spcPct val="0"/>
              </a:spcAft>
              <a:defRPr kumimoji="1" sz="2000" b="1">
                <a:solidFill>
                  <a:schemeClr val="tx1"/>
                </a:solidFill>
                <a:latin typeface="Arial" charset="0"/>
                <a:ea typeface="돋움" pitchFamily="50" charset="-127"/>
              </a:defRPr>
            </a:lvl6pPr>
            <a:lvl7pPr marL="914400" algn="l" rtl="0" fontAlgn="base" latinLnBrk="1">
              <a:spcBef>
                <a:spcPct val="0"/>
              </a:spcBef>
              <a:spcAft>
                <a:spcPct val="0"/>
              </a:spcAft>
              <a:defRPr kumimoji="1" sz="2000" b="1">
                <a:solidFill>
                  <a:schemeClr val="tx1"/>
                </a:solidFill>
                <a:latin typeface="Arial" charset="0"/>
                <a:ea typeface="돋움" pitchFamily="50" charset="-127"/>
              </a:defRPr>
            </a:lvl7pPr>
            <a:lvl8pPr marL="1371600" algn="l" rtl="0" fontAlgn="base" latinLnBrk="1">
              <a:spcBef>
                <a:spcPct val="0"/>
              </a:spcBef>
              <a:spcAft>
                <a:spcPct val="0"/>
              </a:spcAft>
              <a:defRPr kumimoji="1" sz="2000" b="1">
                <a:solidFill>
                  <a:schemeClr val="tx1"/>
                </a:solidFill>
                <a:latin typeface="Arial" charset="0"/>
                <a:ea typeface="돋움" pitchFamily="50" charset="-127"/>
              </a:defRPr>
            </a:lvl8pPr>
            <a:lvl9pPr marL="1828800" algn="l" rtl="0" fontAlgn="base" latinLnBrk="1">
              <a:spcBef>
                <a:spcPct val="0"/>
              </a:spcBef>
              <a:spcAft>
                <a:spcPct val="0"/>
              </a:spcAft>
              <a:defRPr kumimoji="1" sz="2000" b="1">
                <a:solidFill>
                  <a:schemeClr val="tx1"/>
                </a:solidFill>
                <a:latin typeface="Arial" charset="0"/>
                <a:ea typeface="돋움" pitchFamily="50" charset="-127"/>
              </a:defRPr>
            </a:lvl9pPr>
          </a:lstStyle>
          <a:p>
            <a:r>
              <a:rPr lang="en-US" altLang="ko-KR" kern="0" dirty="0">
                <a:latin typeface="Arial Narrow" panose="020B0606020202030204" pitchFamily="34" charset="0"/>
                <a:ea typeface="LG Smart_H Regular" pitchFamily="34" charset="-127"/>
              </a:rPr>
              <a:t>4. Improvement</a:t>
            </a:r>
          </a:p>
        </p:txBody>
      </p:sp>
      <p:cxnSp>
        <p:nvCxnSpPr>
          <p:cNvPr id="15" name="Straight Connector 14">
            <a:extLst>
              <a:ext uri="{FF2B5EF4-FFF2-40B4-BE49-F238E27FC236}">
                <a16:creationId xmlns:a16="http://schemas.microsoft.com/office/drawing/2014/main" id="{D3565C81-6E00-892D-F58C-FC446585DB4A}"/>
              </a:ext>
            </a:extLst>
          </p:cNvPr>
          <p:cNvCxnSpPr/>
          <p:nvPr/>
        </p:nvCxnSpPr>
        <p:spPr>
          <a:xfrm>
            <a:off x="-12488" y="561513"/>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2" name="AutoShape 55">
            <a:extLst>
              <a:ext uri="{FF2B5EF4-FFF2-40B4-BE49-F238E27FC236}">
                <a16:creationId xmlns:a16="http://schemas.microsoft.com/office/drawing/2014/main" id="{0F99C677-6218-2FFE-C9B6-16197CF62585}"/>
              </a:ext>
            </a:extLst>
          </p:cNvPr>
          <p:cNvSpPr>
            <a:spLocks noChangeArrowheads="1"/>
          </p:cNvSpPr>
          <p:nvPr/>
        </p:nvSpPr>
        <p:spPr bwMode="auto">
          <a:xfrm>
            <a:off x="9142413" y="22542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cs typeface="Arial" panose="020B0604020202020204" pitchFamily="34" charset="0"/>
              </a:rPr>
              <a:t>Control</a:t>
            </a:r>
          </a:p>
        </p:txBody>
      </p:sp>
      <p:sp>
        <p:nvSpPr>
          <p:cNvPr id="43" name="AutoShape 57">
            <a:extLst>
              <a:ext uri="{FF2B5EF4-FFF2-40B4-BE49-F238E27FC236}">
                <a16:creationId xmlns:a16="http://schemas.microsoft.com/office/drawing/2014/main" id="{CEE70060-13DA-9C62-A567-6867CDCF9845}"/>
              </a:ext>
            </a:extLst>
          </p:cNvPr>
          <p:cNvSpPr>
            <a:spLocks noChangeArrowheads="1"/>
          </p:cNvSpPr>
          <p:nvPr/>
        </p:nvSpPr>
        <p:spPr bwMode="auto">
          <a:xfrm>
            <a:off x="7761288" y="225425"/>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cs typeface="Arial" panose="020B0604020202020204" pitchFamily="34" charset="0"/>
              </a:rPr>
              <a:t>Analyze</a:t>
            </a:r>
          </a:p>
        </p:txBody>
      </p:sp>
      <p:sp>
        <p:nvSpPr>
          <p:cNvPr id="44" name="AutoShape 58">
            <a:extLst>
              <a:ext uri="{FF2B5EF4-FFF2-40B4-BE49-F238E27FC236}">
                <a16:creationId xmlns:a16="http://schemas.microsoft.com/office/drawing/2014/main" id="{6350AF00-ECB9-D4B0-DBF4-C267B2A7AAC9}"/>
              </a:ext>
            </a:extLst>
          </p:cNvPr>
          <p:cNvSpPr>
            <a:spLocks noChangeArrowheads="1"/>
          </p:cNvSpPr>
          <p:nvPr/>
        </p:nvSpPr>
        <p:spPr bwMode="auto">
          <a:xfrm>
            <a:off x="7089775" y="225425"/>
            <a:ext cx="747713" cy="287338"/>
          </a:xfrm>
          <a:prstGeom prst="homePlate">
            <a:avLst>
              <a:gd name="adj" fmla="val 46599"/>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cs typeface="Arial" panose="020B0604020202020204" pitchFamily="34" charset="0"/>
              </a:rPr>
              <a:t>Measure </a:t>
            </a:r>
          </a:p>
        </p:txBody>
      </p:sp>
      <p:sp>
        <p:nvSpPr>
          <p:cNvPr id="45" name="AutoShape 59">
            <a:extLst>
              <a:ext uri="{FF2B5EF4-FFF2-40B4-BE49-F238E27FC236}">
                <a16:creationId xmlns:a16="http://schemas.microsoft.com/office/drawing/2014/main" id="{1390B621-2D5F-0BE3-D464-5C62FE64C02A}"/>
              </a:ext>
            </a:extLst>
          </p:cNvPr>
          <p:cNvSpPr>
            <a:spLocks noChangeArrowheads="1"/>
          </p:cNvSpPr>
          <p:nvPr/>
        </p:nvSpPr>
        <p:spPr bwMode="auto">
          <a:xfrm>
            <a:off x="6392863" y="225425"/>
            <a:ext cx="757237" cy="287338"/>
          </a:xfrm>
          <a:prstGeom prst="homePlate">
            <a:avLst>
              <a:gd name="adj" fmla="val 47192"/>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cs typeface="Arial" panose="020B0604020202020204" pitchFamily="34" charset="0"/>
              </a:rPr>
              <a:t>Define</a:t>
            </a:r>
          </a:p>
        </p:txBody>
      </p:sp>
      <p:sp>
        <p:nvSpPr>
          <p:cNvPr id="46" name="AutoShape 56">
            <a:extLst>
              <a:ext uri="{FF2B5EF4-FFF2-40B4-BE49-F238E27FC236}">
                <a16:creationId xmlns:a16="http://schemas.microsoft.com/office/drawing/2014/main" id="{7F0497D8-2EDD-ABAC-E3BC-46FD54F8FD64}"/>
              </a:ext>
            </a:extLst>
          </p:cNvPr>
          <p:cNvSpPr>
            <a:spLocks noChangeArrowheads="1"/>
          </p:cNvSpPr>
          <p:nvPr/>
        </p:nvSpPr>
        <p:spPr bwMode="auto">
          <a:xfrm>
            <a:off x="8453438" y="100013"/>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latin typeface="Arial Narrow" panose="020B0606020202030204" pitchFamily="34" charset="0"/>
                <a:ea typeface="맑은 고딕" panose="020B0503020000020004" pitchFamily="50" charset="-127"/>
                <a:cs typeface="Arial" panose="020B0604020202020204" pitchFamily="34" charset="0"/>
              </a:rPr>
              <a:t>Improve</a:t>
            </a:r>
          </a:p>
        </p:txBody>
      </p:sp>
      <p:sp>
        <p:nvSpPr>
          <p:cNvPr id="49" name="TextBox 48">
            <a:extLst>
              <a:ext uri="{FF2B5EF4-FFF2-40B4-BE49-F238E27FC236}">
                <a16:creationId xmlns:a16="http://schemas.microsoft.com/office/drawing/2014/main" id="{1663C90B-E0F8-AD61-262C-74223CAD9162}"/>
              </a:ext>
            </a:extLst>
          </p:cNvPr>
          <p:cNvSpPr txBox="1"/>
          <p:nvPr/>
        </p:nvSpPr>
        <p:spPr>
          <a:xfrm>
            <a:off x="1615287" y="3244859"/>
            <a:ext cx="2988332" cy="461665"/>
          </a:xfrm>
          <a:prstGeom prst="rect">
            <a:avLst/>
          </a:prstGeom>
          <a:solidFill>
            <a:schemeClr val="bg1"/>
          </a:solidFill>
          <a:ln>
            <a:noFill/>
          </a:ln>
        </p:spPr>
        <p:txBody>
          <a:bodyPr wrap="square" lIns="91440" rIns="0" rtlCol="0">
            <a:spAutoFit/>
          </a:bodyPr>
          <a:lstStyle/>
          <a:p>
            <a:pPr marL="0" marR="0" lvl="0" indent="0" algn="l" defTabSz="914400" rtl="0" eaLnBrk="1" fontAlgn="auto" latinLnBrk="0" hangingPunct="1">
              <a:lnSpc>
                <a:spcPct val="100000"/>
              </a:lnSpc>
              <a:spcBef>
                <a:spcPts val="0"/>
              </a:spcBef>
              <a:spcAft>
                <a:spcPts val="0"/>
              </a:spcAft>
              <a:buClrTx/>
              <a:buSzTx/>
              <a:buFont typeface="Wingdings" pitchFamily="2" charset="2"/>
              <a:buChar char="§"/>
              <a:tabLst/>
              <a:defRPr/>
            </a:pPr>
            <a:r>
              <a:rPr kumimoji="0" lang="en-US" altLang="ko-KR" sz="1200" b="0" i="0" u="none" strike="noStrike" kern="1200" cap="none" spc="0" normalizeH="0" baseline="0" noProof="0" dirty="0">
                <a:ln>
                  <a:noFill/>
                </a:ln>
                <a:solidFill>
                  <a:srgbClr val="FF0000"/>
                </a:solidFill>
                <a:effectLst/>
                <a:uLnTx/>
                <a:uFillTx/>
                <a:latin typeface="Arial Narrow" panose="020B0606020202030204" pitchFamily="34" charset="0"/>
                <a:ea typeface="LG Smart_H Regular" pitchFamily="34" charset="-127"/>
                <a:cs typeface="Arial" panose="020B0604020202020204" pitchFamily="34" charset="0"/>
              </a:rPr>
              <a:t> P-value = 0.005 &lt; 0.05 </a:t>
            </a:r>
            <a:r>
              <a:rPr kumimoji="0" lang="en-US" altLang="ko-KR" sz="1200" b="0" i="0" u="none" strike="noStrike" kern="1200" cap="none" spc="0" normalizeH="0" baseline="0" noProof="0" dirty="0">
                <a:ln>
                  <a:noFill/>
                </a:ln>
                <a:solidFill>
                  <a:srgbClr val="FF0000"/>
                </a:solidFill>
                <a:effectLst/>
                <a:uLnTx/>
                <a:uFillTx/>
                <a:latin typeface="Arial Narrow" panose="020B0606020202030204" pitchFamily="34" charset="0"/>
                <a:ea typeface="LG Smart_H Regular" pitchFamily="34" charset="-127"/>
                <a:cs typeface="Arial" panose="020B0604020202020204" pitchFamily="34" charset="0"/>
                <a:sym typeface="Wingdings" pitchFamily="2" charset="2"/>
              </a:rPr>
              <a:t> </a:t>
            </a:r>
            <a:r>
              <a:rPr lang="en-US" altLang="ko-KR" sz="1200" dirty="0">
                <a:solidFill>
                  <a:srgbClr val="FF0000"/>
                </a:solidFill>
                <a:latin typeface="Arial Narrow" panose="020B0606020202030204" pitchFamily="34" charset="0"/>
                <a:ea typeface="LG Smart_H Regular" pitchFamily="34" charset="-127"/>
                <a:cs typeface="Arial" panose="020B0604020202020204" pitchFamily="34" charset="0"/>
                <a:sym typeface="Wingdings" pitchFamily="2" charset="2"/>
              </a:rPr>
              <a:t>NG</a:t>
            </a:r>
            <a:endParaRPr kumimoji="0" lang="en-US" altLang="ko-KR" sz="1200" b="0" i="0" u="none" strike="noStrike" kern="1200" cap="none" spc="0" normalizeH="0" baseline="0" noProof="0" dirty="0">
              <a:ln>
                <a:noFill/>
              </a:ln>
              <a:solidFill>
                <a:srgbClr val="FF0000"/>
              </a:solidFill>
              <a:effectLst/>
              <a:uLnTx/>
              <a:uFillTx/>
              <a:latin typeface="Arial Narrow" panose="020B0606020202030204" pitchFamily="34" charset="0"/>
              <a:ea typeface="LG Smart_H Regular" pitchFamily="34" charset="-127"/>
              <a:cs typeface="Arial" panose="020B0604020202020204" pitchFamily="34" charset="0"/>
              <a:sym typeface="Wingdings"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srgbClr val="FF0000"/>
                </a:solidFill>
                <a:effectLst/>
                <a:uLnTx/>
                <a:uFillTx/>
                <a:latin typeface="Arial Narrow" panose="020B0606020202030204" pitchFamily="34" charset="0"/>
                <a:ea typeface="LG Smart_H Regular" pitchFamily="34" charset="-127"/>
                <a:cs typeface="Arial" panose="020B0604020202020204" pitchFamily="34" charset="0"/>
                <a:sym typeface="Wingdings" pitchFamily="2" charset="2"/>
              </a:rPr>
              <a:t>  (Data not follow a normal distribution)</a:t>
            </a:r>
            <a:endParaRPr kumimoji="0" lang="en-US" altLang="ko-KR" sz="1200" b="0" i="0" u="none" strike="noStrike" kern="1200" cap="none" spc="0" normalizeH="0" baseline="0" noProof="0" dirty="0">
              <a:ln>
                <a:noFill/>
              </a:ln>
              <a:solidFill>
                <a:srgbClr val="FF0000"/>
              </a:solidFill>
              <a:effectLst/>
              <a:uLnTx/>
              <a:uFillTx/>
              <a:latin typeface="Arial Narrow" panose="020B0606020202030204" pitchFamily="34" charset="0"/>
              <a:ea typeface="LG Smart_H Regular" pitchFamily="34" charset="-127"/>
              <a:cs typeface="Arial" panose="020B0604020202020204" pitchFamily="34" charset="0"/>
            </a:endParaRPr>
          </a:p>
        </p:txBody>
      </p:sp>
      <p:sp>
        <p:nvSpPr>
          <p:cNvPr id="52" name="TextBox 51">
            <a:extLst>
              <a:ext uri="{FF2B5EF4-FFF2-40B4-BE49-F238E27FC236}">
                <a16:creationId xmlns:a16="http://schemas.microsoft.com/office/drawing/2014/main" id="{B2C70D9E-C19F-F5DF-1F97-A8042FFD7079}"/>
              </a:ext>
            </a:extLst>
          </p:cNvPr>
          <p:cNvSpPr txBox="1"/>
          <p:nvPr/>
        </p:nvSpPr>
        <p:spPr>
          <a:xfrm>
            <a:off x="1609493" y="6277002"/>
            <a:ext cx="2971800" cy="498598"/>
          </a:xfrm>
          <a:prstGeom prst="rect">
            <a:avLst/>
          </a:prstGeom>
          <a:noFill/>
        </p:spPr>
        <p:txBody>
          <a:bodyPr wrap="square" rtlCol="0">
            <a:spAutoFit/>
          </a:bodyPr>
          <a:lstStyle/>
          <a:p>
            <a:pPr marL="0" marR="0" lvl="0" indent="0" algn="just" defTabSz="914400" rtl="0" eaLnBrk="1" fontAlgn="base" latinLnBrk="1" hangingPunct="1">
              <a:lnSpc>
                <a:spcPct val="100000"/>
              </a:lnSpc>
              <a:spcBef>
                <a:spcPct val="20000"/>
              </a:spcBef>
              <a:spcAft>
                <a:spcPct val="0"/>
              </a:spcAft>
              <a:buClrTx/>
              <a:buSzTx/>
              <a:buFontTx/>
              <a:buNone/>
              <a:tabLst/>
              <a:defRPr/>
            </a:pPr>
            <a:r>
              <a:rPr kumimoji="0" lang="en-US" altLang="ko-KR" sz="1200" b="0" i="0" u="none" strike="noStrike" kern="1200" cap="none" spc="0" normalizeH="0" baseline="0" noProof="0" dirty="0" err="1">
                <a:ln>
                  <a:noFill/>
                </a:ln>
                <a:solidFill>
                  <a:srgbClr val="000000"/>
                </a:solidFill>
                <a:effectLst/>
                <a:uLnTx/>
                <a:uFillTx/>
                <a:latin typeface="Arial Narrow" panose="020B0606020202030204" pitchFamily="34" charset="0"/>
                <a:ea typeface="LG Smart_H Regular" pitchFamily="34" charset="-127"/>
                <a:cs typeface="Arial" panose="020B0604020202020204" pitchFamily="34" charset="0"/>
              </a:rPr>
              <a:t>Cpk</a:t>
            </a:r>
            <a:r>
              <a:rPr kumimoji="0" lang="en-US" altLang="ko-KR" sz="1200" b="0" i="0" u="none" strike="noStrike" kern="1200" cap="none" spc="0" normalizeH="0" baseline="0" noProof="0" dirty="0">
                <a:ln>
                  <a:noFill/>
                </a:ln>
                <a:solidFill>
                  <a:srgbClr val="000000"/>
                </a:solidFill>
                <a:effectLst/>
                <a:uLnTx/>
                <a:uFillTx/>
                <a:latin typeface="Arial Narrow" panose="020B0606020202030204" pitchFamily="34" charset="0"/>
                <a:ea typeface="LG Smart_H Regular" pitchFamily="34" charset="-127"/>
                <a:cs typeface="Arial" panose="020B0604020202020204" pitchFamily="34" charset="0"/>
              </a:rPr>
              <a:t> = 0.68 → Standard: ≥ 1.33 → </a:t>
            </a:r>
            <a:r>
              <a:rPr kumimoji="0" lang="en-US" altLang="ko-KR" sz="1200" b="0" i="0" u="none" strike="noStrike" kern="1200" cap="none" spc="0" normalizeH="0" baseline="0" noProof="0" dirty="0">
                <a:ln>
                  <a:noFill/>
                </a:ln>
                <a:solidFill>
                  <a:srgbClr val="FF0000"/>
                </a:solidFill>
                <a:effectLst/>
                <a:uLnTx/>
                <a:uFillTx/>
                <a:latin typeface="Arial Narrow" panose="020B0606020202030204" pitchFamily="34" charset="0"/>
                <a:ea typeface="LG Smart_H Regular" pitchFamily="34" charset="-127"/>
                <a:cs typeface="Arial" panose="020B0604020202020204" pitchFamily="34" charset="0"/>
              </a:rPr>
              <a:t>NG</a:t>
            </a:r>
          </a:p>
          <a:p>
            <a:pPr marL="0" marR="0" lvl="0" indent="0" algn="just" defTabSz="914400" rtl="0" eaLnBrk="1" fontAlgn="base" latinLnBrk="1" hangingPunct="1">
              <a:lnSpc>
                <a:spcPct val="100000"/>
              </a:lnSpc>
              <a:spcBef>
                <a:spcPct val="20000"/>
              </a:spcBef>
              <a:spcAft>
                <a:spcPct val="0"/>
              </a:spcAft>
              <a:buClrTx/>
              <a:buSzTx/>
              <a:buFont typeface="Wingdings"/>
              <a:buChar char="à"/>
              <a:tabLst/>
              <a:defRPr/>
            </a:pPr>
            <a:r>
              <a:rPr kumimoji="0" lang="en-US" altLang="ko-KR" sz="1200" b="0" i="0" u="none" strike="noStrike" kern="1200" cap="none" spc="0" normalizeH="0" baseline="0" noProof="0" dirty="0">
                <a:ln>
                  <a:noFill/>
                </a:ln>
                <a:solidFill>
                  <a:srgbClr val="000000"/>
                </a:solidFill>
                <a:effectLst/>
                <a:uLnTx/>
                <a:uFillTx/>
                <a:latin typeface="Arial Narrow" panose="020B0606020202030204" pitchFamily="34" charset="0"/>
                <a:ea typeface="LG Smart_H Regular" pitchFamily="34" charset="-127"/>
                <a:cs typeface="Arial" panose="020B0604020202020204" pitchFamily="34" charset="0"/>
              </a:rPr>
              <a:t> Lack of process capability</a:t>
            </a:r>
            <a:endParaRPr kumimoji="0" lang="en-US" altLang="ko-KR" sz="1200" b="0" i="0" u="none" strike="noStrike" kern="1200" cap="none" spc="0" normalizeH="0" baseline="0" noProof="0" dirty="0">
              <a:ln>
                <a:noFill/>
              </a:ln>
              <a:solidFill>
                <a:srgbClr val="FF0000"/>
              </a:solidFill>
              <a:effectLst/>
              <a:uLnTx/>
              <a:uFillTx/>
              <a:latin typeface="Arial Narrow" panose="020B0606020202030204" pitchFamily="34" charset="0"/>
              <a:ea typeface="LG Smart_H Regular" pitchFamily="34" charset="-127"/>
              <a:cs typeface="Arial" panose="020B0604020202020204" pitchFamily="34" charset="0"/>
            </a:endParaRPr>
          </a:p>
        </p:txBody>
      </p:sp>
      <p:sp>
        <p:nvSpPr>
          <p:cNvPr id="53" name="TextBox 33">
            <a:extLst>
              <a:ext uri="{FF2B5EF4-FFF2-40B4-BE49-F238E27FC236}">
                <a16:creationId xmlns:a16="http://schemas.microsoft.com/office/drawing/2014/main" id="{5608A474-8B59-EDAD-12E0-99C0173FDCE8}"/>
              </a:ext>
            </a:extLst>
          </p:cNvPr>
          <p:cNvSpPr txBox="1">
            <a:spLocks noChangeArrowheads="1"/>
          </p:cNvSpPr>
          <p:nvPr/>
        </p:nvSpPr>
        <p:spPr bwMode="auto">
          <a:xfrm>
            <a:off x="2480135" y="899655"/>
            <a:ext cx="78220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82563" indent="-182563">
              <a:defRPr kumimoji="1" sz="1300" b="1">
                <a:solidFill>
                  <a:schemeClr val="bg1"/>
                </a:solidFill>
                <a:latin typeface="Arial" panose="020B0604020202020204" pitchFamily="34" charset="0"/>
                <a:ea typeface="돋움" panose="020B0600000101010101" pitchFamily="50" charset="-127"/>
              </a:defRPr>
            </a:lvl1pPr>
            <a:lvl2pPr marL="742950" indent="-285750">
              <a:defRPr kumimoji="1" sz="1300" b="1">
                <a:solidFill>
                  <a:schemeClr val="bg1"/>
                </a:solidFill>
                <a:latin typeface="Arial" panose="020B0604020202020204" pitchFamily="34" charset="0"/>
                <a:ea typeface="돋움" panose="020B0600000101010101" pitchFamily="50" charset="-127"/>
              </a:defRPr>
            </a:lvl2pPr>
            <a:lvl3pPr marL="1143000" indent="-228600">
              <a:defRPr kumimoji="1" sz="1300" b="1">
                <a:solidFill>
                  <a:schemeClr val="bg1"/>
                </a:solidFill>
                <a:latin typeface="Arial" panose="020B0604020202020204" pitchFamily="34" charset="0"/>
                <a:ea typeface="돋움" panose="020B0600000101010101" pitchFamily="50" charset="-127"/>
              </a:defRPr>
            </a:lvl3pPr>
            <a:lvl4pPr marL="1600200" indent="-228600">
              <a:defRPr kumimoji="1" sz="1300" b="1">
                <a:solidFill>
                  <a:schemeClr val="bg1"/>
                </a:solidFill>
                <a:latin typeface="Arial" panose="020B0604020202020204" pitchFamily="34" charset="0"/>
                <a:ea typeface="돋움" panose="020B0600000101010101" pitchFamily="50" charset="-127"/>
              </a:defRPr>
            </a:lvl4pPr>
            <a:lvl5pPr marL="2057400" indent="-228600">
              <a:defRPr kumimoji="1" sz="1300" b="1">
                <a:solidFill>
                  <a:schemeClr val="bg1"/>
                </a:solidFill>
                <a:latin typeface="Arial" panose="020B0604020202020204" pitchFamily="34" charset="0"/>
                <a:ea typeface="돋움" panose="020B0600000101010101" pitchFamily="50" charset="-127"/>
              </a:defRPr>
            </a:lvl5pPr>
            <a:lvl6pPr marL="25146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eaLnBrk="1" latinLnBrk="1" hangingPunct="1">
              <a:buFont typeface="Wingdings" panose="05000000000000000000" pitchFamily="2" charset="2"/>
              <a:buChar char="q"/>
            </a:pPr>
            <a:r>
              <a:rPr lang="en-US" altLang="ko-KR" sz="1000" dirty="0">
                <a:solidFill>
                  <a:srgbClr val="000000"/>
                </a:solidFill>
                <a:latin typeface="LG스마트체 Regular" panose="020B0600000101010101" pitchFamily="50" charset="-127"/>
                <a:ea typeface="LG스마트체 Regular" panose="020B0600000101010101" pitchFamily="50" charset="-127"/>
                <a:cs typeface="Arial" panose="020B0604020202020204" pitchFamily="34" charset="0"/>
              </a:rPr>
              <a:t>Before</a:t>
            </a:r>
            <a:endParaRPr lang="ko-KR" altLang="en-US" sz="1000" dirty="0">
              <a:solidFill>
                <a:srgbClr val="000000"/>
              </a:solidFill>
              <a:latin typeface="LG스마트체 Regular" panose="020B0600000101010101" pitchFamily="50" charset="-127"/>
              <a:ea typeface="LG스마트체 Regular" panose="020B0600000101010101" pitchFamily="50" charset="-127"/>
              <a:cs typeface="Arial" panose="020B0604020202020204" pitchFamily="34" charset="0"/>
            </a:endParaRPr>
          </a:p>
        </p:txBody>
      </p:sp>
      <p:sp>
        <p:nvSpPr>
          <p:cNvPr id="54" name="TextBox 33">
            <a:extLst>
              <a:ext uri="{FF2B5EF4-FFF2-40B4-BE49-F238E27FC236}">
                <a16:creationId xmlns:a16="http://schemas.microsoft.com/office/drawing/2014/main" id="{C4554858-DD82-2C57-1EEA-A7A046CB4C63}"/>
              </a:ext>
            </a:extLst>
          </p:cNvPr>
          <p:cNvSpPr txBox="1">
            <a:spLocks noChangeArrowheads="1"/>
          </p:cNvSpPr>
          <p:nvPr/>
        </p:nvSpPr>
        <p:spPr bwMode="auto">
          <a:xfrm>
            <a:off x="6724932" y="899654"/>
            <a:ext cx="89285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82563" indent="-182563">
              <a:defRPr kumimoji="1" sz="1300" b="1">
                <a:solidFill>
                  <a:schemeClr val="bg1"/>
                </a:solidFill>
                <a:latin typeface="Arial" panose="020B0604020202020204" pitchFamily="34" charset="0"/>
                <a:ea typeface="돋움" panose="020B0600000101010101" pitchFamily="50" charset="-127"/>
              </a:defRPr>
            </a:lvl1pPr>
            <a:lvl2pPr marL="742950" indent="-285750">
              <a:defRPr kumimoji="1" sz="1300" b="1">
                <a:solidFill>
                  <a:schemeClr val="bg1"/>
                </a:solidFill>
                <a:latin typeface="Arial" panose="020B0604020202020204" pitchFamily="34" charset="0"/>
                <a:ea typeface="돋움" panose="020B0600000101010101" pitchFamily="50" charset="-127"/>
              </a:defRPr>
            </a:lvl2pPr>
            <a:lvl3pPr marL="1143000" indent="-228600">
              <a:defRPr kumimoji="1" sz="1300" b="1">
                <a:solidFill>
                  <a:schemeClr val="bg1"/>
                </a:solidFill>
                <a:latin typeface="Arial" panose="020B0604020202020204" pitchFamily="34" charset="0"/>
                <a:ea typeface="돋움" panose="020B0600000101010101" pitchFamily="50" charset="-127"/>
              </a:defRPr>
            </a:lvl3pPr>
            <a:lvl4pPr marL="1600200" indent="-228600">
              <a:defRPr kumimoji="1" sz="1300" b="1">
                <a:solidFill>
                  <a:schemeClr val="bg1"/>
                </a:solidFill>
                <a:latin typeface="Arial" panose="020B0604020202020204" pitchFamily="34" charset="0"/>
                <a:ea typeface="돋움" panose="020B0600000101010101" pitchFamily="50" charset="-127"/>
              </a:defRPr>
            </a:lvl4pPr>
            <a:lvl5pPr marL="2057400" indent="-228600">
              <a:defRPr kumimoji="1" sz="1300" b="1">
                <a:solidFill>
                  <a:schemeClr val="bg1"/>
                </a:solidFill>
                <a:latin typeface="Arial" panose="020B0604020202020204" pitchFamily="34" charset="0"/>
                <a:ea typeface="돋움" panose="020B0600000101010101" pitchFamily="50" charset="-127"/>
              </a:defRPr>
            </a:lvl5pPr>
            <a:lvl6pPr marL="25146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eaLnBrk="1" latinLnBrk="1" hangingPunct="1">
              <a:buFont typeface="Wingdings" panose="05000000000000000000" pitchFamily="2" charset="2"/>
              <a:buChar char="q"/>
            </a:pPr>
            <a:r>
              <a:rPr lang="en-US" altLang="ko-KR" sz="1000" dirty="0">
                <a:solidFill>
                  <a:srgbClr val="000000"/>
                </a:solidFill>
                <a:latin typeface="LG스마트체 Regular" panose="020B0600000101010101" pitchFamily="50" charset="-127"/>
                <a:ea typeface="LG스마트체 Regular" panose="020B0600000101010101" pitchFamily="50" charset="-127"/>
                <a:cs typeface="Arial" panose="020B0604020202020204" pitchFamily="34" charset="0"/>
              </a:rPr>
              <a:t>After</a:t>
            </a:r>
            <a:endParaRPr lang="ko-KR" altLang="en-US" sz="1000" dirty="0">
              <a:solidFill>
                <a:srgbClr val="000000"/>
              </a:solidFill>
              <a:latin typeface="LG스마트체 Regular" panose="020B0600000101010101" pitchFamily="50" charset="-127"/>
              <a:ea typeface="LG스마트체 Regular" panose="020B0600000101010101" pitchFamily="50" charset="-127"/>
              <a:cs typeface="Arial" panose="020B0604020202020204" pitchFamily="34" charset="0"/>
            </a:endParaRPr>
          </a:p>
        </p:txBody>
      </p:sp>
      <p:sp>
        <p:nvSpPr>
          <p:cNvPr id="2" name="제목 1">
            <a:extLst>
              <a:ext uri="{FF2B5EF4-FFF2-40B4-BE49-F238E27FC236}">
                <a16:creationId xmlns:a16="http://schemas.microsoft.com/office/drawing/2014/main" id="{9318D0CC-2060-C398-F416-7D39D76052BB}"/>
              </a:ext>
            </a:extLst>
          </p:cNvPr>
          <p:cNvSpPr txBox="1">
            <a:spLocks/>
          </p:cNvSpPr>
          <p:nvPr/>
        </p:nvSpPr>
        <p:spPr>
          <a:xfrm>
            <a:off x="152400" y="565786"/>
            <a:ext cx="2642886" cy="418058"/>
          </a:xfrm>
          <a:prstGeom prst="rect">
            <a:avLst/>
          </a:prstGeom>
        </p:spPr>
        <p:txBody>
          <a:bodyPr vert="horz" lIns="91440" tIns="45720" rIns="91440" bIns="45720" rtlCol="0" anchor="ctr">
            <a:noAutofit/>
          </a:bodyPr>
          <a:lstStyle/>
          <a:p>
            <a:pPr eaLnBrk="0" hangingPunct="0">
              <a:defRPr/>
            </a:pPr>
            <a:r>
              <a:rPr lang="vi-VN" altLang="ko-KR" sz="1400" b="1" kern="0" dirty="0">
                <a:latin typeface="Arial Narrow" panose="020B0606020202030204" pitchFamily="34" charset="0"/>
                <a:ea typeface="Arial Unicode MS" panose="020B0604020202020204" pitchFamily="34" charset="-128"/>
                <a:cs typeface="Arial" panose="020B0604020202020204" pitchFamily="34" charset="0"/>
              </a:rPr>
              <a:t>4.</a:t>
            </a:r>
            <a:r>
              <a:rPr lang="en-US" altLang="ko-KR" sz="1400" b="1" kern="0" dirty="0">
                <a:latin typeface="Arial Narrow" panose="020B0606020202030204" pitchFamily="34" charset="0"/>
                <a:ea typeface="Arial Unicode MS" panose="020B0604020202020204" pitchFamily="34" charset="-128"/>
                <a:cs typeface="Arial" panose="020B0604020202020204" pitchFamily="34" charset="0"/>
              </a:rPr>
              <a:t>4. Process Capability review</a:t>
            </a:r>
            <a:endParaRPr lang="en-US" sz="1400" b="1" dirty="0">
              <a:solidFill>
                <a:srgbClr val="000000"/>
              </a:solidFill>
              <a:latin typeface="Arial Narrow" panose="020B0606020202030204" pitchFamily="34" charset="0"/>
            </a:endParaRPr>
          </a:p>
        </p:txBody>
      </p:sp>
      <p:pic>
        <p:nvPicPr>
          <p:cNvPr id="3" name="Picture 2">
            <a:extLst>
              <a:ext uri="{FF2B5EF4-FFF2-40B4-BE49-F238E27FC236}">
                <a16:creationId xmlns:a16="http://schemas.microsoft.com/office/drawing/2014/main" id="{08411F96-5D93-89C8-EBA1-0E5D08564DD7}"/>
              </a:ext>
            </a:extLst>
          </p:cNvPr>
          <p:cNvPicPr>
            <a:picLocks noChangeAspect="1"/>
          </p:cNvPicPr>
          <p:nvPr/>
        </p:nvPicPr>
        <p:blipFill>
          <a:blip r:embed="rId3"/>
          <a:stretch>
            <a:fillRect/>
          </a:stretch>
        </p:blipFill>
        <p:spPr>
          <a:xfrm>
            <a:off x="1202853" y="1224736"/>
            <a:ext cx="2971801" cy="1981200"/>
          </a:xfrm>
          <a:prstGeom prst="rect">
            <a:avLst/>
          </a:prstGeom>
        </p:spPr>
      </p:pic>
      <p:sp>
        <p:nvSpPr>
          <p:cNvPr id="41" name="Rectangle 40">
            <a:extLst>
              <a:ext uri="{FF2B5EF4-FFF2-40B4-BE49-F238E27FC236}">
                <a16:creationId xmlns:a16="http://schemas.microsoft.com/office/drawing/2014/main" id="{CC662BF7-94FF-E070-2138-DA3BF560C39E}"/>
              </a:ext>
            </a:extLst>
          </p:cNvPr>
          <p:cNvSpPr/>
          <p:nvPr/>
        </p:nvSpPr>
        <p:spPr bwMode="auto">
          <a:xfrm flipV="1">
            <a:off x="3677641" y="1777181"/>
            <a:ext cx="440698" cy="71939"/>
          </a:xfrm>
          <a:prstGeom prst="rect">
            <a:avLst/>
          </a:prstGeom>
          <a:no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1" hangingPunct="1">
              <a:lnSpc>
                <a:spcPct val="100000"/>
              </a:lnSpc>
              <a:spcBef>
                <a:spcPct val="0"/>
              </a:spcBef>
              <a:spcAft>
                <a:spcPct val="0"/>
              </a:spcAft>
              <a:buClrTx/>
              <a:buSzTx/>
              <a:buFontTx/>
              <a:buNone/>
              <a:tabLst/>
            </a:pPr>
            <a:endParaRPr kumimoji="1" lang="en-US" sz="18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endParaRPr>
          </a:p>
        </p:txBody>
      </p:sp>
      <p:pic>
        <p:nvPicPr>
          <p:cNvPr id="5" name="Picture 4">
            <a:extLst>
              <a:ext uri="{FF2B5EF4-FFF2-40B4-BE49-F238E27FC236}">
                <a16:creationId xmlns:a16="http://schemas.microsoft.com/office/drawing/2014/main" id="{48CFBC80-F704-FBE7-87EC-993B9E771EC7}"/>
              </a:ext>
            </a:extLst>
          </p:cNvPr>
          <p:cNvPicPr>
            <a:picLocks noChangeAspect="1"/>
          </p:cNvPicPr>
          <p:nvPr/>
        </p:nvPicPr>
        <p:blipFill>
          <a:blip r:embed="rId4"/>
          <a:stretch>
            <a:fillRect/>
          </a:stretch>
        </p:blipFill>
        <p:spPr>
          <a:xfrm>
            <a:off x="5685459" y="1224736"/>
            <a:ext cx="2971799" cy="1981199"/>
          </a:xfrm>
          <a:prstGeom prst="rect">
            <a:avLst/>
          </a:prstGeom>
        </p:spPr>
      </p:pic>
      <p:sp>
        <p:nvSpPr>
          <p:cNvPr id="8" name="Rectangle 7">
            <a:extLst>
              <a:ext uri="{FF2B5EF4-FFF2-40B4-BE49-F238E27FC236}">
                <a16:creationId xmlns:a16="http://schemas.microsoft.com/office/drawing/2014/main" id="{43766388-9F8E-E370-509A-1803265E0943}"/>
              </a:ext>
            </a:extLst>
          </p:cNvPr>
          <p:cNvSpPr/>
          <p:nvPr/>
        </p:nvSpPr>
        <p:spPr bwMode="auto">
          <a:xfrm flipV="1">
            <a:off x="8154077" y="1772101"/>
            <a:ext cx="440698" cy="71939"/>
          </a:xfrm>
          <a:prstGeom prst="rect">
            <a:avLst/>
          </a:prstGeom>
          <a:no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1" hangingPunct="1">
              <a:lnSpc>
                <a:spcPct val="100000"/>
              </a:lnSpc>
              <a:spcBef>
                <a:spcPct val="0"/>
              </a:spcBef>
              <a:spcAft>
                <a:spcPct val="0"/>
              </a:spcAft>
              <a:buClrTx/>
              <a:buSzTx/>
              <a:buFontTx/>
              <a:buNone/>
              <a:tabLst/>
            </a:pPr>
            <a:endParaRPr kumimoji="1" lang="en-US" sz="18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endParaRPr>
          </a:p>
        </p:txBody>
      </p:sp>
      <p:pic>
        <p:nvPicPr>
          <p:cNvPr id="10" name="Picture 9">
            <a:extLst>
              <a:ext uri="{FF2B5EF4-FFF2-40B4-BE49-F238E27FC236}">
                <a16:creationId xmlns:a16="http://schemas.microsoft.com/office/drawing/2014/main" id="{379BDE21-DAA8-4FE6-06F9-C4546A5DD2A4}"/>
              </a:ext>
            </a:extLst>
          </p:cNvPr>
          <p:cNvPicPr>
            <a:picLocks noChangeAspect="1"/>
          </p:cNvPicPr>
          <p:nvPr/>
        </p:nvPicPr>
        <p:blipFill>
          <a:blip r:embed="rId5"/>
          <a:stretch>
            <a:fillRect/>
          </a:stretch>
        </p:blipFill>
        <p:spPr>
          <a:xfrm>
            <a:off x="1182533" y="3745446"/>
            <a:ext cx="3377413" cy="2531555"/>
          </a:xfrm>
          <a:prstGeom prst="rect">
            <a:avLst/>
          </a:prstGeom>
        </p:spPr>
      </p:pic>
      <p:pic>
        <p:nvPicPr>
          <p:cNvPr id="14" name="Picture 13">
            <a:extLst>
              <a:ext uri="{FF2B5EF4-FFF2-40B4-BE49-F238E27FC236}">
                <a16:creationId xmlns:a16="http://schemas.microsoft.com/office/drawing/2014/main" id="{E2AD5A5C-A8BC-7C10-715A-2FB55033171F}"/>
              </a:ext>
            </a:extLst>
          </p:cNvPr>
          <p:cNvPicPr>
            <a:picLocks noChangeAspect="1"/>
          </p:cNvPicPr>
          <p:nvPr/>
        </p:nvPicPr>
        <p:blipFill>
          <a:blip r:embed="rId6"/>
          <a:stretch>
            <a:fillRect/>
          </a:stretch>
        </p:blipFill>
        <p:spPr>
          <a:xfrm>
            <a:off x="5524048" y="3745446"/>
            <a:ext cx="3377413" cy="2531554"/>
          </a:xfrm>
          <a:prstGeom prst="rect">
            <a:avLst/>
          </a:prstGeom>
        </p:spPr>
      </p:pic>
      <p:sp>
        <p:nvSpPr>
          <p:cNvPr id="18" name="Rectangle 17">
            <a:extLst>
              <a:ext uri="{FF2B5EF4-FFF2-40B4-BE49-F238E27FC236}">
                <a16:creationId xmlns:a16="http://schemas.microsoft.com/office/drawing/2014/main" id="{0A048130-FB3D-1851-7E85-D4B8DB326E40}"/>
              </a:ext>
            </a:extLst>
          </p:cNvPr>
          <p:cNvSpPr/>
          <p:nvPr/>
        </p:nvSpPr>
        <p:spPr bwMode="auto">
          <a:xfrm flipV="1">
            <a:off x="3902390" y="4979486"/>
            <a:ext cx="440698" cy="71939"/>
          </a:xfrm>
          <a:prstGeom prst="rect">
            <a:avLst/>
          </a:prstGeom>
          <a:no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1" hangingPunct="1">
              <a:lnSpc>
                <a:spcPct val="100000"/>
              </a:lnSpc>
              <a:spcBef>
                <a:spcPct val="0"/>
              </a:spcBef>
              <a:spcAft>
                <a:spcPct val="0"/>
              </a:spcAft>
              <a:buClrTx/>
              <a:buSzTx/>
              <a:buFontTx/>
              <a:buNone/>
              <a:tabLst/>
            </a:pPr>
            <a:endParaRPr kumimoji="1" lang="en-US" sz="18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endParaRPr>
          </a:p>
        </p:txBody>
      </p:sp>
      <p:sp>
        <p:nvSpPr>
          <p:cNvPr id="19" name="Rectangle 18">
            <a:extLst>
              <a:ext uri="{FF2B5EF4-FFF2-40B4-BE49-F238E27FC236}">
                <a16:creationId xmlns:a16="http://schemas.microsoft.com/office/drawing/2014/main" id="{914C41FA-1DBB-E54E-3F7B-FB32DD3ADF9A}"/>
              </a:ext>
            </a:extLst>
          </p:cNvPr>
          <p:cNvSpPr/>
          <p:nvPr/>
        </p:nvSpPr>
        <p:spPr bwMode="auto">
          <a:xfrm flipV="1">
            <a:off x="8247426" y="4979486"/>
            <a:ext cx="440698" cy="71939"/>
          </a:xfrm>
          <a:prstGeom prst="rect">
            <a:avLst/>
          </a:prstGeom>
          <a:no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1" hangingPunct="1">
              <a:lnSpc>
                <a:spcPct val="100000"/>
              </a:lnSpc>
              <a:spcBef>
                <a:spcPct val="0"/>
              </a:spcBef>
              <a:spcAft>
                <a:spcPct val="0"/>
              </a:spcAft>
              <a:buClrTx/>
              <a:buSzTx/>
              <a:buFontTx/>
              <a:buNone/>
              <a:tabLst/>
            </a:pPr>
            <a:endParaRPr kumimoji="1" lang="en-US" sz="18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endParaRPr>
          </a:p>
        </p:txBody>
      </p:sp>
    </p:spTree>
    <p:extLst>
      <p:ext uri="{BB962C8B-B14F-4D97-AF65-F5344CB8AC3E}">
        <p14:creationId xmlns:p14="http://schemas.microsoft.com/office/powerpoint/2010/main" val="35753264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제목 1"/>
          <p:cNvSpPr txBox="1">
            <a:spLocks/>
          </p:cNvSpPr>
          <p:nvPr/>
        </p:nvSpPr>
        <p:spPr>
          <a:xfrm>
            <a:off x="56456" y="116632"/>
            <a:ext cx="8915400" cy="418058"/>
          </a:xfrm>
          <a:prstGeom prst="rect">
            <a:avLst/>
          </a:prstGeom>
        </p:spPr>
        <p:txBody>
          <a:bodyPr vert="horz" lIns="91440" tIns="45720" rIns="91440" bIns="45720" rtlCol="0" anchor="ctr">
            <a:normAutofit/>
          </a:bodyPr>
          <a:lstStyle>
            <a:lvl1pPr algn="l" rtl="0" eaLnBrk="0" fontAlgn="base" latinLnBrk="1" hangingPunct="0">
              <a:spcBef>
                <a:spcPct val="0"/>
              </a:spcBef>
              <a:spcAft>
                <a:spcPct val="0"/>
              </a:spcAft>
              <a:defRPr kumimoji="1" sz="2000" b="1">
                <a:solidFill>
                  <a:schemeClr val="tx1"/>
                </a:solidFill>
                <a:latin typeface="맑은 고딕" panose="020B0503020000020004" pitchFamily="50" charset="-127"/>
                <a:ea typeface="맑은 고딕" panose="020B0503020000020004" pitchFamily="50" charset="-127"/>
                <a:cs typeface="+mj-cs"/>
              </a:defRPr>
            </a:lvl1pPr>
            <a:lvl2pPr algn="l" rtl="0" eaLnBrk="0" fontAlgn="base" latinLnBrk="1" hangingPunct="0">
              <a:spcBef>
                <a:spcPct val="0"/>
              </a:spcBef>
              <a:spcAft>
                <a:spcPct val="0"/>
              </a:spcAft>
              <a:defRPr kumimoji="1" sz="2000" b="1">
                <a:solidFill>
                  <a:schemeClr val="tx1"/>
                </a:solidFill>
                <a:latin typeface="Arial" charset="0"/>
                <a:ea typeface="돋움" pitchFamily="50" charset="-127"/>
              </a:defRPr>
            </a:lvl2pPr>
            <a:lvl3pPr algn="l" rtl="0" eaLnBrk="0" fontAlgn="base" latinLnBrk="1" hangingPunct="0">
              <a:spcBef>
                <a:spcPct val="0"/>
              </a:spcBef>
              <a:spcAft>
                <a:spcPct val="0"/>
              </a:spcAft>
              <a:defRPr kumimoji="1" sz="2000" b="1">
                <a:solidFill>
                  <a:schemeClr val="tx1"/>
                </a:solidFill>
                <a:latin typeface="Arial" charset="0"/>
                <a:ea typeface="돋움" pitchFamily="50" charset="-127"/>
              </a:defRPr>
            </a:lvl3pPr>
            <a:lvl4pPr algn="l" rtl="0" eaLnBrk="0" fontAlgn="base" latinLnBrk="1" hangingPunct="0">
              <a:spcBef>
                <a:spcPct val="0"/>
              </a:spcBef>
              <a:spcAft>
                <a:spcPct val="0"/>
              </a:spcAft>
              <a:defRPr kumimoji="1" sz="2000" b="1">
                <a:solidFill>
                  <a:schemeClr val="tx1"/>
                </a:solidFill>
                <a:latin typeface="Arial" charset="0"/>
                <a:ea typeface="돋움" pitchFamily="50" charset="-127"/>
              </a:defRPr>
            </a:lvl4pPr>
            <a:lvl5pPr algn="l" rtl="0" eaLnBrk="0" fontAlgn="base" latinLnBrk="1" hangingPunct="0">
              <a:spcBef>
                <a:spcPct val="0"/>
              </a:spcBef>
              <a:spcAft>
                <a:spcPct val="0"/>
              </a:spcAft>
              <a:defRPr kumimoji="1" sz="2000" b="1">
                <a:solidFill>
                  <a:schemeClr val="tx1"/>
                </a:solidFill>
                <a:latin typeface="Arial" charset="0"/>
                <a:ea typeface="돋움" pitchFamily="50" charset="-127"/>
              </a:defRPr>
            </a:lvl5pPr>
            <a:lvl6pPr marL="457200" algn="l" rtl="0" fontAlgn="base" latinLnBrk="1">
              <a:spcBef>
                <a:spcPct val="0"/>
              </a:spcBef>
              <a:spcAft>
                <a:spcPct val="0"/>
              </a:spcAft>
              <a:defRPr kumimoji="1" sz="2000" b="1">
                <a:solidFill>
                  <a:schemeClr val="tx1"/>
                </a:solidFill>
                <a:latin typeface="Arial" charset="0"/>
                <a:ea typeface="돋움" pitchFamily="50" charset="-127"/>
              </a:defRPr>
            </a:lvl6pPr>
            <a:lvl7pPr marL="914400" algn="l" rtl="0" fontAlgn="base" latinLnBrk="1">
              <a:spcBef>
                <a:spcPct val="0"/>
              </a:spcBef>
              <a:spcAft>
                <a:spcPct val="0"/>
              </a:spcAft>
              <a:defRPr kumimoji="1" sz="2000" b="1">
                <a:solidFill>
                  <a:schemeClr val="tx1"/>
                </a:solidFill>
                <a:latin typeface="Arial" charset="0"/>
                <a:ea typeface="돋움" pitchFamily="50" charset="-127"/>
              </a:defRPr>
            </a:lvl7pPr>
            <a:lvl8pPr marL="1371600" algn="l" rtl="0" fontAlgn="base" latinLnBrk="1">
              <a:spcBef>
                <a:spcPct val="0"/>
              </a:spcBef>
              <a:spcAft>
                <a:spcPct val="0"/>
              </a:spcAft>
              <a:defRPr kumimoji="1" sz="2000" b="1">
                <a:solidFill>
                  <a:schemeClr val="tx1"/>
                </a:solidFill>
                <a:latin typeface="Arial" charset="0"/>
                <a:ea typeface="돋움" pitchFamily="50" charset="-127"/>
              </a:defRPr>
            </a:lvl8pPr>
            <a:lvl9pPr marL="1828800" algn="l" rtl="0" fontAlgn="base" latinLnBrk="1">
              <a:spcBef>
                <a:spcPct val="0"/>
              </a:spcBef>
              <a:spcAft>
                <a:spcPct val="0"/>
              </a:spcAft>
              <a:defRPr kumimoji="1" sz="2000" b="1">
                <a:solidFill>
                  <a:schemeClr val="tx1"/>
                </a:solidFill>
                <a:latin typeface="Arial" charset="0"/>
                <a:ea typeface="돋움" pitchFamily="50" charset="-127"/>
              </a:defRPr>
            </a:lvl9pPr>
          </a:lstStyle>
          <a:p>
            <a:r>
              <a:rPr lang="en-US" altLang="ko-KR" kern="0" dirty="0">
                <a:latin typeface="Arial Narrow" panose="020B0606020202030204" pitchFamily="34" charset="0"/>
                <a:ea typeface="LG Smart_H Regular" pitchFamily="34" charset="-127"/>
              </a:rPr>
              <a:t>4. Improvement</a:t>
            </a:r>
          </a:p>
        </p:txBody>
      </p:sp>
      <p:cxnSp>
        <p:nvCxnSpPr>
          <p:cNvPr id="40" name="Straight Connector 39"/>
          <p:cNvCxnSpPr/>
          <p:nvPr/>
        </p:nvCxnSpPr>
        <p:spPr>
          <a:xfrm>
            <a:off x="-12488" y="561513"/>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7" name="AutoShape 55">
            <a:extLst>
              <a:ext uri="{FF2B5EF4-FFF2-40B4-BE49-F238E27FC236}">
                <a16:creationId xmlns:a16="http://schemas.microsoft.com/office/drawing/2014/main" id="{7105E837-36C5-4A3A-A3B1-66AAAC240376}"/>
              </a:ext>
            </a:extLst>
          </p:cNvPr>
          <p:cNvSpPr>
            <a:spLocks noChangeArrowheads="1"/>
          </p:cNvSpPr>
          <p:nvPr/>
        </p:nvSpPr>
        <p:spPr bwMode="auto">
          <a:xfrm>
            <a:off x="9142413" y="22542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cs typeface="Arial" panose="020B0604020202020204" pitchFamily="34" charset="0"/>
              </a:rPr>
              <a:t>Control</a:t>
            </a:r>
          </a:p>
        </p:txBody>
      </p:sp>
      <p:sp>
        <p:nvSpPr>
          <p:cNvPr id="42" name="AutoShape 57">
            <a:extLst>
              <a:ext uri="{FF2B5EF4-FFF2-40B4-BE49-F238E27FC236}">
                <a16:creationId xmlns:a16="http://schemas.microsoft.com/office/drawing/2014/main" id="{A61B3999-4B55-4AAE-AFDD-F9C4C2F7DBB9}"/>
              </a:ext>
            </a:extLst>
          </p:cNvPr>
          <p:cNvSpPr>
            <a:spLocks noChangeArrowheads="1"/>
          </p:cNvSpPr>
          <p:nvPr/>
        </p:nvSpPr>
        <p:spPr bwMode="auto">
          <a:xfrm>
            <a:off x="7761288" y="225425"/>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cs typeface="Arial" panose="020B0604020202020204" pitchFamily="34" charset="0"/>
              </a:rPr>
              <a:t>Analyze</a:t>
            </a:r>
          </a:p>
        </p:txBody>
      </p:sp>
      <p:sp>
        <p:nvSpPr>
          <p:cNvPr id="43" name="AutoShape 58">
            <a:extLst>
              <a:ext uri="{FF2B5EF4-FFF2-40B4-BE49-F238E27FC236}">
                <a16:creationId xmlns:a16="http://schemas.microsoft.com/office/drawing/2014/main" id="{F4C0393A-6952-457A-9305-F5B690BF89C9}"/>
              </a:ext>
            </a:extLst>
          </p:cNvPr>
          <p:cNvSpPr>
            <a:spLocks noChangeArrowheads="1"/>
          </p:cNvSpPr>
          <p:nvPr/>
        </p:nvSpPr>
        <p:spPr bwMode="auto">
          <a:xfrm>
            <a:off x="7089775" y="225425"/>
            <a:ext cx="747713" cy="287338"/>
          </a:xfrm>
          <a:prstGeom prst="homePlate">
            <a:avLst>
              <a:gd name="adj" fmla="val 46599"/>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cs typeface="Arial" panose="020B0604020202020204" pitchFamily="34" charset="0"/>
              </a:rPr>
              <a:t>Measure </a:t>
            </a:r>
          </a:p>
        </p:txBody>
      </p:sp>
      <p:sp>
        <p:nvSpPr>
          <p:cNvPr id="44" name="AutoShape 59">
            <a:extLst>
              <a:ext uri="{FF2B5EF4-FFF2-40B4-BE49-F238E27FC236}">
                <a16:creationId xmlns:a16="http://schemas.microsoft.com/office/drawing/2014/main" id="{B8175F25-7640-49BC-A809-88A5DBC4BF4D}"/>
              </a:ext>
            </a:extLst>
          </p:cNvPr>
          <p:cNvSpPr>
            <a:spLocks noChangeArrowheads="1"/>
          </p:cNvSpPr>
          <p:nvPr/>
        </p:nvSpPr>
        <p:spPr bwMode="auto">
          <a:xfrm>
            <a:off x="6392863" y="225425"/>
            <a:ext cx="757237" cy="287338"/>
          </a:xfrm>
          <a:prstGeom prst="homePlate">
            <a:avLst>
              <a:gd name="adj" fmla="val 47192"/>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cs typeface="Arial" panose="020B0604020202020204" pitchFamily="34" charset="0"/>
              </a:rPr>
              <a:t>Define</a:t>
            </a:r>
          </a:p>
        </p:txBody>
      </p:sp>
      <p:sp>
        <p:nvSpPr>
          <p:cNvPr id="45" name="AutoShape 56">
            <a:extLst>
              <a:ext uri="{FF2B5EF4-FFF2-40B4-BE49-F238E27FC236}">
                <a16:creationId xmlns:a16="http://schemas.microsoft.com/office/drawing/2014/main" id="{782957C0-66CE-4067-A357-80B69342B571}"/>
              </a:ext>
            </a:extLst>
          </p:cNvPr>
          <p:cNvSpPr>
            <a:spLocks noChangeArrowheads="1"/>
          </p:cNvSpPr>
          <p:nvPr/>
        </p:nvSpPr>
        <p:spPr bwMode="auto">
          <a:xfrm>
            <a:off x="8453438" y="100013"/>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latin typeface="Arial Narrow" panose="020B0606020202030204" pitchFamily="34" charset="0"/>
                <a:ea typeface="맑은 고딕" panose="020B0503020000020004" pitchFamily="50" charset="-127"/>
                <a:cs typeface="Arial" panose="020B0604020202020204" pitchFamily="34" charset="0"/>
              </a:rPr>
              <a:t>Improve</a:t>
            </a:r>
          </a:p>
        </p:txBody>
      </p:sp>
      <p:sp>
        <p:nvSpPr>
          <p:cNvPr id="100" name="TextBox 99">
            <a:extLst>
              <a:ext uri="{FF2B5EF4-FFF2-40B4-BE49-F238E27FC236}">
                <a16:creationId xmlns:a16="http://schemas.microsoft.com/office/drawing/2014/main" id="{C8B57771-C783-477F-B3C1-CCFB54E1FF88}"/>
              </a:ext>
            </a:extLst>
          </p:cNvPr>
          <p:cNvSpPr txBox="1"/>
          <p:nvPr/>
        </p:nvSpPr>
        <p:spPr>
          <a:xfrm>
            <a:off x="525277" y="4342129"/>
            <a:ext cx="4344755" cy="1200329"/>
          </a:xfrm>
          <a:prstGeom prst="rect">
            <a:avLst/>
          </a:prstGeom>
          <a:solidFill>
            <a:schemeClr val="bg1"/>
          </a:solidFill>
        </p:spPr>
        <p:txBody>
          <a:bodyPr wrap="square" rtlCol="0">
            <a:spAutoFit/>
          </a:bodyPr>
          <a:lstStyle/>
          <a:p>
            <a:pPr>
              <a:buFont typeface="Wingdings" pitchFamily="2" charset="2"/>
              <a:buChar char="§"/>
            </a:pPr>
            <a:r>
              <a:rPr lang="en-US" altLang="ko-KR" sz="1200" noProof="1">
                <a:latin typeface="Arial Narrow" panose="020B0606020202030204" pitchFamily="34" charset="0"/>
                <a:ea typeface="LG Smart_H Regular" panose="020B0600000101010101" pitchFamily="34" charset="-127"/>
              </a:rPr>
              <a:t>  Check the Z short term (best capability of process) and the Z long term (customer’s perspective):</a:t>
            </a:r>
          </a:p>
          <a:p>
            <a:pPr>
              <a:buFont typeface="Wingdings" pitchFamily="2" charset="2"/>
              <a:buChar char="§"/>
            </a:pPr>
            <a:r>
              <a:rPr lang="en-US" altLang="ko-KR" sz="1200" noProof="1">
                <a:latin typeface="Arial Narrow" panose="020B0606020202030204" pitchFamily="34" charset="0"/>
                <a:ea typeface="LG Smart_H Regular" panose="020B0600000101010101" pitchFamily="34" charset="-127"/>
              </a:rPr>
              <a:t>Zshift = Zst – Zlt = 7.43 – 7.03 </a:t>
            </a:r>
            <a:r>
              <a:rPr lang="en-US" altLang="ko-KR" sz="1200" dirty="0">
                <a:latin typeface="Arial Narrow" panose="020B0606020202030204" pitchFamily="34" charset="0"/>
                <a:ea typeface="LG스마트체 Regular" pitchFamily="34" charset="-127"/>
              </a:rPr>
              <a:t>= 0.4 </a:t>
            </a:r>
            <a:r>
              <a:rPr lang="en-US" altLang="ko-KR" sz="1200" noProof="1">
                <a:latin typeface="Arial Narrow" panose="020B0606020202030204" pitchFamily="34" charset="0"/>
                <a:ea typeface="LG Smart_H Regular" panose="020B0600000101010101" pitchFamily="34" charset="-127"/>
                <a:sym typeface="Wingdings" pitchFamily="2" charset="2"/>
              </a:rPr>
              <a:t> Z shift &lt; 1.5 </a:t>
            </a:r>
          </a:p>
          <a:p>
            <a:r>
              <a:rPr lang="en-US" altLang="ko-KR" sz="1200" noProof="1">
                <a:latin typeface="Arial Narrow" panose="020B0606020202030204" pitchFamily="34" charset="0"/>
                <a:ea typeface="LG Smart_H Regular" panose="020B0600000101010101" pitchFamily="34" charset="-127"/>
                <a:sym typeface="Wingdings" pitchFamily="2" charset="2"/>
              </a:rPr>
              <a:t> Proper process control </a:t>
            </a:r>
            <a:r>
              <a:rPr lang="en-US" altLang="ko-KR" sz="1200" noProof="1">
                <a:latin typeface="Arial Narrow" panose="020B0606020202030204" pitchFamily="34" charset="0"/>
                <a:ea typeface="LG Smart_H Regular" panose="020B0600000101010101" pitchFamily="34" charset="-127"/>
              </a:rPr>
              <a:t>management</a:t>
            </a:r>
            <a:endParaRPr lang="en-US" altLang="ko-KR" sz="1200" noProof="1">
              <a:latin typeface="Arial Narrow" panose="020B0606020202030204" pitchFamily="34" charset="0"/>
              <a:ea typeface="LG Smart_H Regular" panose="020B0600000101010101" pitchFamily="34" charset="-127"/>
              <a:sym typeface="Wingdings" pitchFamily="2" charset="2"/>
            </a:endParaRPr>
          </a:p>
          <a:p>
            <a:pPr>
              <a:buFont typeface="Wingdings" pitchFamily="2" charset="2"/>
              <a:buChar char="§"/>
            </a:pPr>
            <a:r>
              <a:rPr lang="en-US" altLang="ko-KR" sz="1200" noProof="1">
                <a:latin typeface="Arial Narrow" panose="020B0606020202030204" pitchFamily="34" charset="0"/>
                <a:ea typeface="LG Smart_H Regular" panose="020B0600000101010101" pitchFamily="34" charset="-127"/>
                <a:sym typeface="Wingdings" pitchFamily="2" charset="2"/>
              </a:rPr>
              <a:t>  Z long term : 4.60</a:t>
            </a:r>
            <a:r>
              <a:rPr lang="en-US" altLang="ko-KR" sz="1200" dirty="0">
                <a:latin typeface="Arial Narrow" panose="020B0606020202030204" pitchFamily="34" charset="0"/>
                <a:ea typeface="LG Smart_H Regular" panose="020B0600000101010101" pitchFamily="34" charset="-127"/>
                <a:cs typeface="Arial" panose="020B0604020202020204" pitchFamily="34" charset="0"/>
              </a:rPr>
              <a:t> ≥</a:t>
            </a:r>
            <a:r>
              <a:rPr lang="en-US" altLang="ko-KR" sz="1200" noProof="1">
                <a:latin typeface="Arial Narrow" panose="020B0606020202030204" pitchFamily="34" charset="0"/>
                <a:ea typeface="LG Smart_H Regular" panose="020B0600000101010101" pitchFamily="34" charset="-127"/>
                <a:sym typeface="Wingdings" pitchFamily="2" charset="2"/>
              </a:rPr>
              <a:t> 4.5, Z short term: 4.67 </a:t>
            </a:r>
            <a:r>
              <a:rPr lang="en-US" altLang="ko-KR" sz="1200" dirty="0">
                <a:latin typeface="Arial Narrow" panose="020B0606020202030204" pitchFamily="34" charset="0"/>
                <a:ea typeface="LG Smart_H Regular" panose="020B0600000101010101" pitchFamily="34" charset="-127"/>
                <a:cs typeface="Arial" panose="020B0604020202020204" pitchFamily="34" charset="0"/>
              </a:rPr>
              <a:t>≥</a:t>
            </a:r>
            <a:r>
              <a:rPr lang="en-US" altLang="ko-KR" sz="1200" noProof="1">
                <a:latin typeface="Arial Narrow" panose="020B0606020202030204" pitchFamily="34" charset="0"/>
                <a:ea typeface="LG Smart_H Regular" panose="020B0600000101010101" pitchFamily="34" charset="-127"/>
                <a:sym typeface="Wingdings" pitchFamily="2" charset="2"/>
              </a:rPr>
              <a:t> 4.5  </a:t>
            </a:r>
          </a:p>
          <a:p>
            <a:r>
              <a:rPr lang="en-US" altLang="ko-KR" sz="1200" noProof="1">
                <a:latin typeface="Arial Narrow" panose="020B0606020202030204" pitchFamily="34" charset="0"/>
                <a:ea typeface="LG Smart_H Regular" panose="020B0600000101010101" pitchFamily="34" charset="-127"/>
                <a:sym typeface="Wingdings" pitchFamily="2" charset="2"/>
              </a:rPr>
              <a:t> Technology is OK</a:t>
            </a:r>
            <a:endParaRPr lang="en-US" altLang="ko-KR" sz="1200" noProof="1">
              <a:latin typeface="Arial Narrow" panose="020B0606020202030204" pitchFamily="34" charset="0"/>
              <a:ea typeface="LG Smart_H Regular" panose="020B0600000101010101" pitchFamily="34" charset="-127"/>
            </a:endParaRPr>
          </a:p>
        </p:txBody>
      </p:sp>
      <p:sp>
        <p:nvSpPr>
          <p:cNvPr id="3" name="제목 1">
            <a:extLst>
              <a:ext uri="{FF2B5EF4-FFF2-40B4-BE49-F238E27FC236}">
                <a16:creationId xmlns:a16="http://schemas.microsoft.com/office/drawing/2014/main" id="{BDA58F9C-F646-40EA-DFB4-69C784436081}"/>
              </a:ext>
            </a:extLst>
          </p:cNvPr>
          <p:cNvSpPr txBox="1">
            <a:spLocks/>
          </p:cNvSpPr>
          <p:nvPr/>
        </p:nvSpPr>
        <p:spPr>
          <a:xfrm>
            <a:off x="152400" y="565786"/>
            <a:ext cx="2642886" cy="418058"/>
          </a:xfrm>
          <a:prstGeom prst="rect">
            <a:avLst/>
          </a:prstGeom>
        </p:spPr>
        <p:txBody>
          <a:bodyPr vert="horz" lIns="91440" tIns="45720" rIns="91440" bIns="45720" rtlCol="0" anchor="ctr">
            <a:noAutofit/>
          </a:bodyPr>
          <a:lstStyle/>
          <a:p>
            <a:pPr eaLnBrk="0" hangingPunct="0">
              <a:defRPr/>
            </a:pPr>
            <a:r>
              <a:rPr lang="vi-VN" altLang="ko-KR" sz="1400" b="1" kern="0" dirty="0">
                <a:latin typeface="Arial Narrow" panose="020B0606020202030204" pitchFamily="34" charset="0"/>
                <a:ea typeface="Arial Unicode MS" panose="020B0604020202020204" pitchFamily="34" charset="-128"/>
                <a:cs typeface="Arial" panose="020B0604020202020204" pitchFamily="34" charset="0"/>
              </a:rPr>
              <a:t>4.</a:t>
            </a:r>
            <a:r>
              <a:rPr lang="en-US" altLang="ko-KR" sz="1400" b="1" kern="0" dirty="0">
                <a:latin typeface="Arial Narrow" panose="020B0606020202030204" pitchFamily="34" charset="0"/>
                <a:ea typeface="Arial Unicode MS" panose="020B0604020202020204" pitchFamily="34" charset="-128"/>
                <a:cs typeface="Arial" panose="020B0604020202020204" pitchFamily="34" charset="0"/>
              </a:rPr>
              <a:t>4. Process Capability review</a:t>
            </a:r>
            <a:endParaRPr lang="en-US" sz="1400" b="1" dirty="0">
              <a:solidFill>
                <a:srgbClr val="000000"/>
              </a:solidFill>
              <a:latin typeface="Arial Narrow" panose="020B0606020202030204" pitchFamily="34" charset="0"/>
            </a:endParaRPr>
          </a:p>
        </p:txBody>
      </p:sp>
      <p:pic>
        <p:nvPicPr>
          <p:cNvPr id="5" name="Picture 4">
            <a:extLst>
              <a:ext uri="{FF2B5EF4-FFF2-40B4-BE49-F238E27FC236}">
                <a16:creationId xmlns:a16="http://schemas.microsoft.com/office/drawing/2014/main" id="{E537A0B4-9E73-366C-E5F4-C03C47912E39}"/>
              </a:ext>
            </a:extLst>
          </p:cNvPr>
          <p:cNvPicPr>
            <a:picLocks noChangeAspect="1"/>
          </p:cNvPicPr>
          <p:nvPr/>
        </p:nvPicPr>
        <p:blipFill>
          <a:blip r:embed="rId3"/>
          <a:stretch>
            <a:fillRect/>
          </a:stretch>
        </p:blipFill>
        <p:spPr>
          <a:xfrm>
            <a:off x="525277" y="996319"/>
            <a:ext cx="4135874" cy="3100063"/>
          </a:xfrm>
          <a:prstGeom prst="rect">
            <a:avLst/>
          </a:prstGeom>
        </p:spPr>
      </p:pic>
      <p:pic>
        <p:nvPicPr>
          <p:cNvPr id="8" name="Picture 7">
            <a:extLst>
              <a:ext uri="{FF2B5EF4-FFF2-40B4-BE49-F238E27FC236}">
                <a16:creationId xmlns:a16="http://schemas.microsoft.com/office/drawing/2014/main" id="{7D1403E7-1FD5-4F7E-5EA0-79FE7D49DB25}"/>
              </a:ext>
            </a:extLst>
          </p:cNvPr>
          <p:cNvPicPr>
            <a:picLocks noChangeAspect="1"/>
          </p:cNvPicPr>
          <p:nvPr/>
        </p:nvPicPr>
        <p:blipFill>
          <a:blip r:embed="rId4"/>
          <a:stretch>
            <a:fillRect/>
          </a:stretch>
        </p:blipFill>
        <p:spPr>
          <a:xfrm>
            <a:off x="5244850" y="983844"/>
            <a:ext cx="4135874" cy="3100062"/>
          </a:xfrm>
          <a:prstGeom prst="rect">
            <a:avLst/>
          </a:prstGeom>
        </p:spPr>
      </p:pic>
      <p:sp>
        <p:nvSpPr>
          <p:cNvPr id="9" name="Rectangle 8">
            <a:extLst>
              <a:ext uri="{FF2B5EF4-FFF2-40B4-BE49-F238E27FC236}">
                <a16:creationId xmlns:a16="http://schemas.microsoft.com/office/drawing/2014/main" id="{011AD1D6-F1A0-7512-B6C7-7F93D19BA83E}"/>
              </a:ext>
            </a:extLst>
          </p:cNvPr>
          <p:cNvSpPr/>
          <p:nvPr/>
        </p:nvSpPr>
        <p:spPr bwMode="auto">
          <a:xfrm flipV="1">
            <a:off x="3846510" y="1768925"/>
            <a:ext cx="527370" cy="85274"/>
          </a:xfrm>
          <a:prstGeom prst="rect">
            <a:avLst/>
          </a:prstGeom>
          <a:no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1" hangingPunct="1">
              <a:lnSpc>
                <a:spcPct val="100000"/>
              </a:lnSpc>
              <a:spcBef>
                <a:spcPct val="0"/>
              </a:spcBef>
              <a:spcAft>
                <a:spcPct val="0"/>
              </a:spcAft>
              <a:buClrTx/>
              <a:buSzTx/>
              <a:buFontTx/>
              <a:buNone/>
              <a:tabLst/>
            </a:pPr>
            <a:endParaRPr kumimoji="1" lang="en-US" sz="18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endParaRPr>
          </a:p>
        </p:txBody>
      </p:sp>
      <p:sp>
        <p:nvSpPr>
          <p:cNvPr id="10" name="Rectangle 9">
            <a:extLst>
              <a:ext uri="{FF2B5EF4-FFF2-40B4-BE49-F238E27FC236}">
                <a16:creationId xmlns:a16="http://schemas.microsoft.com/office/drawing/2014/main" id="{68F63472-BFD0-618F-CA1D-C338294DFA84}"/>
              </a:ext>
            </a:extLst>
          </p:cNvPr>
          <p:cNvSpPr/>
          <p:nvPr/>
        </p:nvSpPr>
        <p:spPr bwMode="auto">
          <a:xfrm flipV="1">
            <a:off x="8563609" y="2255340"/>
            <a:ext cx="527370" cy="85274"/>
          </a:xfrm>
          <a:prstGeom prst="rect">
            <a:avLst/>
          </a:prstGeom>
          <a:no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1" hangingPunct="1">
              <a:lnSpc>
                <a:spcPct val="100000"/>
              </a:lnSpc>
              <a:spcBef>
                <a:spcPct val="0"/>
              </a:spcBef>
              <a:spcAft>
                <a:spcPct val="0"/>
              </a:spcAft>
              <a:buClrTx/>
              <a:buSzTx/>
              <a:buFontTx/>
              <a:buNone/>
              <a:tabLst/>
            </a:pPr>
            <a:endParaRPr kumimoji="1" lang="en-US" sz="18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endParaRPr>
          </a:p>
        </p:txBody>
      </p:sp>
    </p:spTree>
    <p:extLst>
      <p:ext uri="{BB962C8B-B14F-4D97-AF65-F5344CB8AC3E}">
        <p14:creationId xmlns:p14="http://schemas.microsoft.com/office/powerpoint/2010/main" val="25532703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F87E0-F9DD-3414-9853-CDC4919030B9}"/>
            </a:ext>
          </a:extLst>
        </p:cNvPr>
        <p:cNvGrpSpPr/>
        <p:nvPr/>
      </p:nvGrpSpPr>
      <p:grpSpPr>
        <a:xfrm>
          <a:off x="0" y="0"/>
          <a:ext cx="0" cy="0"/>
          <a:chOff x="0" y="0"/>
          <a:chExt cx="0" cy="0"/>
        </a:xfrm>
      </p:grpSpPr>
      <p:sp>
        <p:nvSpPr>
          <p:cNvPr id="38" name="제목 1">
            <a:extLst>
              <a:ext uri="{FF2B5EF4-FFF2-40B4-BE49-F238E27FC236}">
                <a16:creationId xmlns:a16="http://schemas.microsoft.com/office/drawing/2014/main" id="{C7E27477-4489-27AF-B66E-1B99D4C2EEB7}"/>
              </a:ext>
            </a:extLst>
          </p:cNvPr>
          <p:cNvSpPr txBox="1">
            <a:spLocks/>
          </p:cNvSpPr>
          <p:nvPr/>
        </p:nvSpPr>
        <p:spPr>
          <a:xfrm>
            <a:off x="56456" y="116632"/>
            <a:ext cx="8915400" cy="418058"/>
          </a:xfrm>
          <a:prstGeom prst="rect">
            <a:avLst/>
          </a:prstGeom>
        </p:spPr>
        <p:txBody>
          <a:bodyPr vert="horz" lIns="91440" tIns="45720" rIns="91440" bIns="45720" rtlCol="0" anchor="ctr">
            <a:normAutofit/>
          </a:bodyPr>
          <a:lstStyle>
            <a:lvl1pPr algn="l" rtl="0" eaLnBrk="0" fontAlgn="base" latinLnBrk="1" hangingPunct="0">
              <a:spcBef>
                <a:spcPct val="0"/>
              </a:spcBef>
              <a:spcAft>
                <a:spcPct val="0"/>
              </a:spcAft>
              <a:defRPr kumimoji="1" sz="2000" b="1">
                <a:solidFill>
                  <a:schemeClr val="tx1"/>
                </a:solidFill>
                <a:latin typeface="맑은 고딕" panose="020B0503020000020004" pitchFamily="50" charset="-127"/>
                <a:ea typeface="맑은 고딕" panose="020B0503020000020004" pitchFamily="50" charset="-127"/>
                <a:cs typeface="+mj-cs"/>
              </a:defRPr>
            </a:lvl1pPr>
            <a:lvl2pPr algn="l" rtl="0" eaLnBrk="0" fontAlgn="base" latinLnBrk="1" hangingPunct="0">
              <a:spcBef>
                <a:spcPct val="0"/>
              </a:spcBef>
              <a:spcAft>
                <a:spcPct val="0"/>
              </a:spcAft>
              <a:defRPr kumimoji="1" sz="2000" b="1">
                <a:solidFill>
                  <a:schemeClr val="tx1"/>
                </a:solidFill>
                <a:latin typeface="Arial" charset="0"/>
                <a:ea typeface="돋움" pitchFamily="50" charset="-127"/>
              </a:defRPr>
            </a:lvl2pPr>
            <a:lvl3pPr algn="l" rtl="0" eaLnBrk="0" fontAlgn="base" latinLnBrk="1" hangingPunct="0">
              <a:spcBef>
                <a:spcPct val="0"/>
              </a:spcBef>
              <a:spcAft>
                <a:spcPct val="0"/>
              </a:spcAft>
              <a:defRPr kumimoji="1" sz="2000" b="1">
                <a:solidFill>
                  <a:schemeClr val="tx1"/>
                </a:solidFill>
                <a:latin typeface="Arial" charset="0"/>
                <a:ea typeface="돋움" pitchFamily="50" charset="-127"/>
              </a:defRPr>
            </a:lvl3pPr>
            <a:lvl4pPr algn="l" rtl="0" eaLnBrk="0" fontAlgn="base" latinLnBrk="1" hangingPunct="0">
              <a:spcBef>
                <a:spcPct val="0"/>
              </a:spcBef>
              <a:spcAft>
                <a:spcPct val="0"/>
              </a:spcAft>
              <a:defRPr kumimoji="1" sz="2000" b="1">
                <a:solidFill>
                  <a:schemeClr val="tx1"/>
                </a:solidFill>
                <a:latin typeface="Arial" charset="0"/>
                <a:ea typeface="돋움" pitchFamily="50" charset="-127"/>
              </a:defRPr>
            </a:lvl4pPr>
            <a:lvl5pPr algn="l" rtl="0" eaLnBrk="0" fontAlgn="base" latinLnBrk="1" hangingPunct="0">
              <a:spcBef>
                <a:spcPct val="0"/>
              </a:spcBef>
              <a:spcAft>
                <a:spcPct val="0"/>
              </a:spcAft>
              <a:defRPr kumimoji="1" sz="2000" b="1">
                <a:solidFill>
                  <a:schemeClr val="tx1"/>
                </a:solidFill>
                <a:latin typeface="Arial" charset="0"/>
                <a:ea typeface="돋움" pitchFamily="50" charset="-127"/>
              </a:defRPr>
            </a:lvl5pPr>
            <a:lvl6pPr marL="457200" algn="l" rtl="0" fontAlgn="base" latinLnBrk="1">
              <a:spcBef>
                <a:spcPct val="0"/>
              </a:spcBef>
              <a:spcAft>
                <a:spcPct val="0"/>
              </a:spcAft>
              <a:defRPr kumimoji="1" sz="2000" b="1">
                <a:solidFill>
                  <a:schemeClr val="tx1"/>
                </a:solidFill>
                <a:latin typeface="Arial" charset="0"/>
                <a:ea typeface="돋움" pitchFamily="50" charset="-127"/>
              </a:defRPr>
            </a:lvl6pPr>
            <a:lvl7pPr marL="914400" algn="l" rtl="0" fontAlgn="base" latinLnBrk="1">
              <a:spcBef>
                <a:spcPct val="0"/>
              </a:spcBef>
              <a:spcAft>
                <a:spcPct val="0"/>
              </a:spcAft>
              <a:defRPr kumimoji="1" sz="2000" b="1">
                <a:solidFill>
                  <a:schemeClr val="tx1"/>
                </a:solidFill>
                <a:latin typeface="Arial" charset="0"/>
                <a:ea typeface="돋움" pitchFamily="50" charset="-127"/>
              </a:defRPr>
            </a:lvl7pPr>
            <a:lvl8pPr marL="1371600" algn="l" rtl="0" fontAlgn="base" latinLnBrk="1">
              <a:spcBef>
                <a:spcPct val="0"/>
              </a:spcBef>
              <a:spcAft>
                <a:spcPct val="0"/>
              </a:spcAft>
              <a:defRPr kumimoji="1" sz="2000" b="1">
                <a:solidFill>
                  <a:schemeClr val="tx1"/>
                </a:solidFill>
                <a:latin typeface="Arial" charset="0"/>
                <a:ea typeface="돋움" pitchFamily="50" charset="-127"/>
              </a:defRPr>
            </a:lvl8pPr>
            <a:lvl9pPr marL="1828800" algn="l" rtl="0" fontAlgn="base" latinLnBrk="1">
              <a:spcBef>
                <a:spcPct val="0"/>
              </a:spcBef>
              <a:spcAft>
                <a:spcPct val="0"/>
              </a:spcAft>
              <a:defRPr kumimoji="1" sz="2000" b="1">
                <a:solidFill>
                  <a:schemeClr val="tx1"/>
                </a:solidFill>
                <a:latin typeface="Arial" charset="0"/>
                <a:ea typeface="돋움" pitchFamily="50" charset="-127"/>
              </a:defRPr>
            </a:lvl9pPr>
          </a:lstStyle>
          <a:p>
            <a:r>
              <a:rPr lang="en-US" altLang="ko-KR" kern="0" dirty="0">
                <a:latin typeface="Arial Narrow" panose="020B0606020202030204" pitchFamily="34" charset="0"/>
                <a:ea typeface="LG Smart_H Regular" pitchFamily="34" charset="-127"/>
              </a:rPr>
              <a:t>4. Improvement</a:t>
            </a:r>
          </a:p>
        </p:txBody>
      </p:sp>
      <p:cxnSp>
        <p:nvCxnSpPr>
          <p:cNvPr id="40" name="Straight Connector 39">
            <a:extLst>
              <a:ext uri="{FF2B5EF4-FFF2-40B4-BE49-F238E27FC236}">
                <a16:creationId xmlns:a16="http://schemas.microsoft.com/office/drawing/2014/main" id="{78FAB2DF-CB14-030B-08FD-80F57815C678}"/>
              </a:ext>
            </a:extLst>
          </p:cNvPr>
          <p:cNvCxnSpPr/>
          <p:nvPr/>
        </p:nvCxnSpPr>
        <p:spPr>
          <a:xfrm>
            <a:off x="-12488" y="567300"/>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7" name="AutoShape 55">
            <a:extLst>
              <a:ext uri="{FF2B5EF4-FFF2-40B4-BE49-F238E27FC236}">
                <a16:creationId xmlns:a16="http://schemas.microsoft.com/office/drawing/2014/main" id="{403FC0B2-8DCD-618D-303C-47EEEEDF2D68}"/>
              </a:ext>
            </a:extLst>
          </p:cNvPr>
          <p:cNvSpPr>
            <a:spLocks noChangeArrowheads="1"/>
          </p:cNvSpPr>
          <p:nvPr/>
        </p:nvSpPr>
        <p:spPr bwMode="auto">
          <a:xfrm>
            <a:off x="9142413" y="22542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cs typeface="Arial" panose="020B0604020202020204" pitchFamily="34" charset="0"/>
              </a:rPr>
              <a:t>Control</a:t>
            </a:r>
          </a:p>
        </p:txBody>
      </p:sp>
      <p:sp>
        <p:nvSpPr>
          <p:cNvPr id="42" name="AutoShape 57">
            <a:extLst>
              <a:ext uri="{FF2B5EF4-FFF2-40B4-BE49-F238E27FC236}">
                <a16:creationId xmlns:a16="http://schemas.microsoft.com/office/drawing/2014/main" id="{7ABB3D48-FC72-B953-A015-3383B9D4D70C}"/>
              </a:ext>
            </a:extLst>
          </p:cNvPr>
          <p:cNvSpPr>
            <a:spLocks noChangeArrowheads="1"/>
          </p:cNvSpPr>
          <p:nvPr/>
        </p:nvSpPr>
        <p:spPr bwMode="auto">
          <a:xfrm>
            <a:off x="7761288" y="225425"/>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cs typeface="Arial" panose="020B0604020202020204" pitchFamily="34" charset="0"/>
              </a:rPr>
              <a:t>Analyze</a:t>
            </a:r>
          </a:p>
        </p:txBody>
      </p:sp>
      <p:sp>
        <p:nvSpPr>
          <p:cNvPr id="43" name="AutoShape 58">
            <a:extLst>
              <a:ext uri="{FF2B5EF4-FFF2-40B4-BE49-F238E27FC236}">
                <a16:creationId xmlns:a16="http://schemas.microsoft.com/office/drawing/2014/main" id="{B16CE599-634A-B3DF-2C8E-015F352AD04A}"/>
              </a:ext>
            </a:extLst>
          </p:cNvPr>
          <p:cNvSpPr>
            <a:spLocks noChangeArrowheads="1"/>
          </p:cNvSpPr>
          <p:nvPr/>
        </p:nvSpPr>
        <p:spPr bwMode="auto">
          <a:xfrm>
            <a:off x="7089775" y="225425"/>
            <a:ext cx="747713" cy="287338"/>
          </a:xfrm>
          <a:prstGeom prst="homePlate">
            <a:avLst>
              <a:gd name="adj" fmla="val 46599"/>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cs typeface="Arial" panose="020B0604020202020204" pitchFamily="34" charset="0"/>
              </a:rPr>
              <a:t>Measure </a:t>
            </a:r>
          </a:p>
        </p:txBody>
      </p:sp>
      <p:sp>
        <p:nvSpPr>
          <p:cNvPr id="44" name="AutoShape 59">
            <a:extLst>
              <a:ext uri="{FF2B5EF4-FFF2-40B4-BE49-F238E27FC236}">
                <a16:creationId xmlns:a16="http://schemas.microsoft.com/office/drawing/2014/main" id="{430B3D16-D4D2-24B0-2E4A-C7787F743FDE}"/>
              </a:ext>
            </a:extLst>
          </p:cNvPr>
          <p:cNvSpPr>
            <a:spLocks noChangeArrowheads="1"/>
          </p:cNvSpPr>
          <p:nvPr/>
        </p:nvSpPr>
        <p:spPr bwMode="auto">
          <a:xfrm>
            <a:off x="6392863" y="225425"/>
            <a:ext cx="757237" cy="287338"/>
          </a:xfrm>
          <a:prstGeom prst="homePlate">
            <a:avLst>
              <a:gd name="adj" fmla="val 47192"/>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cs typeface="Arial" panose="020B0604020202020204" pitchFamily="34" charset="0"/>
              </a:rPr>
              <a:t>Define</a:t>
            </a:r>
          </a:p>
        </p:txBody>
      </p:sp>
      <p:sp>
        <p:nvSpPr>
          <p:cNvPr id="45" name="AutoShape 56">
            <a:extLst>
              <a:ext uri="{FF2B5EF4-FFF2-40B4-BE49-F238E27FC236}">
                <a16:creationId xmlns:a16="http://schemas.microsoft.com/office/drawing/2014/main" id="{C53A1842-500F-811B-DDDB-CEBA66A0BC3C}"/>
              </a:ext>
            </a:extLst>
          </p:cNvPr>
          <p:cNvSpPr>
            <a:spLocks noChangeArrowheads="1"/>
          </p:cNvSpPr>
          <p:nvPr/>
        </p:nvSpPr>
        <p:spPr bwMode="auto">
          <a:xfrm>
            <a:off x="8453438" y="100013"/>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latin typeface="Arial Narrow" panose="020B0606020202030204" pitchFamily="34" charset="0"/>
                <a:ea typeface="맑은 고딕" panose="020B0503020000020004" pitchFamily="50" charset="-127"/>
                <a:cs typeface="Arial" panose="020B0604020202020204" pitchFamily="34" charset="0"/>
              </a:rPr>
              <a:t>Improve</a:t>
            </a:r>
          </a:p>
        </p:txBody>
      </p:sp>
      <p:sp>
        <p:nvSpPr>
          <p:cNvPr id="5" name="TextBox 4">
            <a:extLst>
              <a:ext uri="{FF2B5EF4-FFF2-40B4-BE49-F238E27FC236}">
                <a16:creationId xmlns:a16="http://schemas.microsoft.com/office/drawing/2014/main" id="{31A079AD-1640-D6EC-67F2-6B628100ED30}"/>
              </a:ext>
            </a:extLst>
          </p:cNvPr>
          <p:cNvSpPr txBox="1"/>
          <p:nvPr/>
        </p:nvSpPr>
        <p:spPr>
          <a:xfrm>
            <a:off x="512314" y="1024484"/>
            <a:ext cx="8314980" cy="1905458"/>
          </a:xfrm>
          <a:prstGeom prst="rect">
            <a:avLst/>
          </a:prstGeom>
          <a:noFill/>
        </p:spPr>
        <p:txBody>
          <a:bodyPr wrap="square" rtlCol="0">
            <a:spAutoFit/>
          </a:bodyPr>
          <a:lstStyle/>
          <a:p>
            <a:pPr marL="171450" indent="-171450" algn="just">
              <a:lnSpc>
                <a:spcPct val="150000"/>
              </a:lnSpc>
              <a:spcBef>
                <a:spcPct val="20000"/>
              </a:spcBef>
              <a:buFontTx/>
              <a:buChar char="-"/>
            </a:pPr>
            <a:r>
              <a:rPr lang="en-US" altLang="ko-KR" sz="1100" dirty="0">
                <a:latin typeface="Arial Narrow" panose="020B0606020202030204" pitchFamily="34" charset="0"/>
                <a:cs typeface="Arial" panose="020B0604020202020204" pitchFamily="34" charset="0"/>
              </a:rPr>
              <a:t>After checking the current process, we found that the AVMT distortion values were widely dispersed and the process capability did not meet the requirement. Therefore, the identified process factor was suspected to be the main cause of the AVMT Distortion NG issue.</a:t>
            </a:r>
          </a:p>
          <a:p>
            <a:pPr marL="171450" indent="-171450" algn="just">
              <a:lnSpc>
                <a:spcPct val="150000"/>
              </a:lnSpc>
              <a:spcBef>
                <a:spcPct val="20000"/>
              </a:spcBef>
              <a:buFontTx/>
              <a:buChar char="-"/>
            </a:pPr>
            <a:r>
              <a:rPr lang="en-US" altLang="ko-KR" sz="1100" dirty="0">
                <a:latin typeface="Arial Narrow" panose="020B0606020202030204" pitchFamily="34" charset="0"/>
                <a:cs typeface="Arial" panose="020B0604020202020204" pitchFamily="34" charset="0"/>
              </a:rPr>
              <a:t>We implemented corrective actions on the identified factor. After improvement, the AVMT distortion data were collected again and evaluated using the Normality Test, </a:t>
            </a:r>
            <a:r>
              <a:rPr lang="en-US" altLang="ko-KR" sz="1100" dirty="0" err="1">
                <a:latin typeface="Arial Narrow" panose="020B0606020202030204" pitchFamily="34" charset="0"/>
                <a:cs typeface="Arial" panose="020B0604020202020204" pitchFamily="34" charset="0"/>
              </a:rPr>
              <a:t>Xbar</a:t>
            </a:r>
            <a:r>
              <a:rPr lang="en-US" altLang="ko-KR" sz="1100" dirty="0">
                <a:latin typeface="Arial Narrow" panose="020B0606020202030204" pitchFamily="34" charset="0"/>
                <a:cs typeface="Arial" panose="020B0604020202020204" pitchFamily="34" charset="0"/>
              </a:rPr>
              <a:t>-R Chart, and Process Capability Analysis.</a:t>
            </a:r>
          </a:p>
          <a:p>
            <a:pPr marL="171450" indent="-171450" algn="just">
              <a:lnSpc>
                <a:spcPct val="150000"/>
              </a:lnSpc>
              <a:spcBef>
                <a:spcPct val="20000"/>
              </a:spcBef>
              <a:buFontTx/>
              <a:buChar char="-"/>
            </a:pPr>
            <a:r>
              <a:rPr lang="en-US" altLang="ko-KR" sz="1100" dirty="0">
                <a:latin typeface="Arial Narrow" panose="020B0606020202030204" pitchFamily="34" charset="0"/>
                <a:cs typeface="Arial" panose="020B0604020202020204" pitchFamily="34" charset="0"/>
              </a:rPr>
              <a:t>The results show that the process mean decreased from 0.8744 to 0.1808, closely aligning with the target of 0.18. </a:t>
            </a:r>
            <a:r>
              <a:rPr lang="en-US" altLang="ko-KR" sz="1100" dirty="0" err="1">
                <a:latin typeface="Arial Narrow" panose="020B0606020202030204" pitchFamily="34" charset="0"/>
                <a:cs typeface="Arial" panose="020B0604020202020204" pitchFamily="34" charset="0"/>
              </a:rPr>
              <a:t>Cpk</a:t>
            </a:r>
            <a:r>
              <a:rPr lang="en-US" altLang="ko-KR" sz="1100" dirty="0">
                <a:latin typeface="Arial Narrow" panose="020B0606020202030204" pitchFamily="34" charset="0"/>
                <a:cs typeface="Arial" panose="020B0604020202020204" pitchFamily="34" charset="0"/>
              </a:rPr>
              <a:t> improved from 0.68 to 2.49, and no out-of-specification results were observed. Therefore, the improvement was confirmed to be effective, and the AVMT distortion process achieved stable and capable performance.</a:t>
            </a:r>
          </a:p>
        </p:txBody>
      </p:sp>
      <p:sp>
        <p:nvSpPr>
          <p:cNvPr id="7" name="제목 1">
            <a:extLst>
              <a:ext uri="{FF2B5EF4-FFF2-40B4-BE49-F238E27FC236}">
                <a16:creationId xmlns:a16="http://schemas.microsoft.com/office/drawing/2014/main" id="{0AE1651C-9532-0C38-13C2-F58069961EED}"/>
              </a:ext>
            </a:extLst>
          </p:cNvPr>
          <p:cNvSpPr txBox="1">
            <a:spLocks/>
          </p:cNvSpPr>
          <p:nvPr/>
        </p:nvSpPr>
        <p:spPr>
          <a:xfrm>
            <a:off x="152400" y="565786"/>
            <a:ext cx="2642886" cy="418058"/>
          </a:xfrm>
          <a:prstGeom prst="rect">
            <a:avLst/>
          </a:prstGeom>
        </p:spPr>
        <p:txBody>
          <a:bodyPr vert="horz" lIns="91440" tIns="45720" rIns="91440" bIns="45720" rtlCol="0" anchor="ctr">
            <a:noAutofit/>
          </a:bodyPr>
          <a:lstStyle/>
          <a:p>
            <a:pPr eaLnBrk="0" hangingPunct="0">
              <a:defRPr/>
            </a:pPr>
            <a:r>
              <a:rPr lang="vi-VN" altLang="ko-KR" sz="1400" b="1" kern="0" dirty="0">
                <a:latin typeface="Arial Narrow" panose="020B0606020202030204" pitchFamily="34" charset="0"/>
                <a:ea typeface="Arial Unicode MS" panose="020B0604020202020204" pitchFamily="34" charset="-128"/>
                <a:cs typeface="Arial" panose="020B0604020202020204" pitchFamily="34" charset="0"/>
              </a:rPr>
              <a:t>4.</a:t>
            </a:r>
            <a:r>
              <a:rPr lang="en-US" altLang="ko-KR" sz="1400" b="1" kern="0" dirty="0">
                <a:latin typeface="Arial Narrow" panose="020B0606020202030204" pitchFamily="34" charset="0"/>
                <a:ea typeface="Arial Unicode MS" panose="020B0604020202020204" pitchFamily="34" charset="-128"/>
                <a:cs typeface="Arial" panose="020B0604020202020204" pitchFamily="34" charset="0"/>
              </a:rPr>
              <a:t>5. Conclusion</a:t>
            </a:r>
            <a:endParaRPr lang="en-US" sz="1400" b="1" dirty="0">
              <a:solidFill>
                <a:srgbClr val="000000"/>
              </a:solidFill>
              <a:latin typeface="Arial Narrow" panose="020B0606020202030204" pitchFamily="34" charset="0"/>
            </a:endParaRPr>
          </a:p>
        </p:txBody>
      </p:sp>
    </p:spTree>
    <p:extLst>
      <p:ext uri="{BB962C8B-B14F-4D97-AF65-F5344CB8AC3E}">
        <p14:creationId xmlns:p14="http://schemas.microsoft.com/office/powerpoint/2010/main" val="9067114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AutoShape 57">
            <a:extLst>
              <a:ext uri="{FF2B5EF4-FFF2-40B4-BE49-F238E27FC236}">
                <a16:creationId xmlns:a16="http://schemas.microsoft.com/office/drawing/2014/main" id="{F7C0E09A-DB4D-43E6-B3CE-37B23F71A907}"/>
              </a:ext>
            </a:extLst>
          </p:cNvPr>
          <p:cNvSpPr>
            <a:spLocks noChangeArrowheads="1"/>
          </p:cNvSpPr>
          <p:nvPr/>
        </p:nvSpPr>
        <p:spPr bwMode="auto">
          <a:xfrm>
            <a:off x="7701606" y="173344"/>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rPr>
              <a:t>Analyze</a:t>
            </a:r>
          </a:p>
        </p:txBody>
      </p:sp>
      <p:sp>
        <p:nvSpPr>
          <p:cNvPr id="20" name="AutoShape 58">
            <a:extLst>
              <a:ext uri="{FF2B5EF4-FFF2-40B4-BE49-F238E27FC236}">
                <a16:creationId xmlns:a16="http://schemas.microsoft.com/office/drawing/2014/main" id="{1CB20489-F538-4606-ADFB-86DC16482793}"/>
              </a:ext>
            </a:extLst>
          </p:cNvPr>
          <p:cNvSpPr>
            <a:spLocks noChangeArrowheads="1"/>
          </p:cNvSpPr>
          <p:nvPr/>
        </p:nvSpPr>
        <p:spPr bwMode="auto">
          <a:xfrm>
            <a:off x="7030094" y="173344"/>
            <a:ext cx="747712" cy="287338"/>
          </a:xfrm>
          <a:prstGeom prst="homePlate">
            <a:avLst>
              <a:gd name="adj" fmla="val 46599"/>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rPr>
              <a:t>Measure </a:t>
            </a:r>
          </a:p>
        </p:txBody>
      </p:sp>
      <p:sp>
        <p:nvSpPr>
          <p:cNvPr id="21" name="AutoShape 59">
            <a:extLst>
              <a:ext uri="{FF2B5EF4-FFF2-40B4-BE49-F238E27FC236}">
                <a16:creationId xmlns:a16="http://schemas.microsoft.com/office/drawing/2014/main" id="{34CE5EF4-26DB-49D7-BEFE-A27DCC6983E7}"/>
              </a:ext>
            </a:extLst>
          </p:cNvPr>
          <p:cNvSpPr>
            <a:spLocks noChangeArrowheads="1"/>
          </p:cNvSpPr>
          <p:nvPr/>
        </p:nvSpPr>
        <p:spPr bwMode="auto">
          <a:xfrm>
            <a:off x="6333181" y="173344"/>
            <a:ext cx="757238" cy="287338"/>
          </a:xfrm>
          <a:prstGeom prst="homePlate">
            <a:avLst>
              <a:gd name="adj" fmla="val 47192"/>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rPr>
              <a:t>Define</a:t>
            </a:r>
          </a:p>
        </p:txBody>
      </p:sp>
      <p:sp>
        <p:nvSpPr>
          <p:cNvPr id="22" name="AutoShape 56">
            <a:extLst>
              <a:ext uri="{FF2B5EF4-FFF2-40B4-BE49-F238E27FC236}">
                <a16:creationId xmlns:a16="http://schemas.microsoft.com/office/drawing/2014/main" id="{25B21E42-9EA3-4D7E-8A2E-55F983581A16}"/>
              </a:ext>
            </a:extLst>
          </p:cNvPr>
          <p:cNvSpPr>
            <a:spLocks noChangeArrowheads="1"/>
          </p:cNvSpPr>
          <p:nvPr/>
        </p:nvSpPr>
        <p:spPr bwMode="auto">
          <a:xfrm>
            <a:off x="8393756" y="173344"/>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rPr>
              <a:t>Improve</a:t>
            </a:r>
          </a:p>
        </p:txBody>
      </p:sp>
      <p:sp>
        <p:nvSpPr>
          <p:cNvPr id="23" name="AutoShape 55">
            <a:extLst>
              <a:ext uri="{FF2B5EF4-FFF2-40B4-BE49-F238E27FC236}">
                <a16:creationId xmlns:a16="http://schemas.microsoft.com/office/drawing/2014/main" id="{D709B8E8-5B31-4366-ACEB-109393355B82}"/>
              </a:ext>
            </a:extLst>
          </p:cNvPr>
          <p:cNvSpPr>
            <a:spLocks noChangeArrowheads="1"/>
          </p:cNvSpPr>
          <p:nvPr/>
        </p:nvSpPr>
        <p:spPr bwMode="auto">
          <a:xfrm>
            <a:off x="9082731" y="57457"/>
            <a:ext cx="747713"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latin typeface="Arial Narrow" panose="020B0606020202030204" pitchFamily="34" charset="0"/>
                <a:ea typeface="맑은 고딕" panose="020B0503020000020004" pitchFamily="50" charset="-127"/>
              </a:rPr>
              <a:t>Control</a:t>
            </a:r>
          </a:p>
        </p:txBody>
      </p:sp>
      <p:sp>
        <p:nvSpPr>
          <p:cNvPr id="9" name="TextBox 8">
            <a:extLst>
              <a:ext uri="{FF2B5EF4-FFF2-40B4-BE49-F238E27FC236}">
                <a16:creationId xmlns:a16="http://schemas.microsoft.com/office/drawing/2014/main" id="{B93B0FBA-9900-427C-A2C3-53ABF38E2FB5}"/>
              </a:ext>
            </a:extLst>
          </p:cNvPr>
          <p:cNvSpPr txBox="1"/>
          <p:nvPr/>
        </p:nvSpPr>
        <p:spPr>
          <a:xfrm>
            <a:off x="70509" y="117554"/>
            <a:ext cx="5170524" cy="400110"/>
          </a:xfrm>
          <a:prstGeom prst="rect">
            <a:avLst/>
          </a:prstGeom>
          <a:noFill/>
        </p:spPr>
        <p:txBody>
          <a:bodyPr wrap="square" rtlCol="0">
            <a:spAutoFit/>
          </a:bodyPr>
          <a:lstStyle/>
          <a:p>
            <a:r>
              <a:rPr lang="en-US" altLang="ko-KR" sz="2000" b="1" dirty="0">
                <a:latin typeface="Arial Narrow" panose="020B0606020202030204" pitchFamily="34" charset="0"/>
                <a:ea typeface="LG Smart_H Regular" pitchFamily="34" charset="-127"/>
              </a:rPr>
              <a:t>5. Control</a:t>
            </a:r>
            <a:endParaRPr lang="vi-VN" altLang="ko-KR" sz="2000" b="1" dirty="0">
              <a:ea typeface="LG Smart_H Regular" pitchFamily="34" charset="-127"/>
            </a:endParaRPr>
          </a:p>
        </p:txBody>
      </p:sp>
      <p:sp>
        <p:nvSpPr>
          <p:cNvPr id="13" name="TextBox 12">
            <a:extLst>
              <a:ext uri="{FF2B5EF4-FFF2-40B4-BE49-F238E27FC236}">
                <a16:creationId xmlns:a16="http://schemas.microsoft.com/office/drawing/2014/main" id="{F2D63CB9-F03A-4B55-82AC-AAB2E2DAE0B5}"/>
              </a:ext>
            </a:extLst>
          </p:cNvPr>
          <p:cNvSpPr txBox="1"/>
          <p:nvPr/>
        </p:nvSpPr>
        <p:spPr>
          <a:xfrm>
            <a:off x="70509" y="651485"/>
            <a:ext cx="5034891" cy="307777"/>
          </a:xfrm>
          <a:prstGeom prst="rect">
            <a:avLst/>
          </a:prstGeom>
          <a:noFill/>
        </p:spPr>
        <p:txBody>
          <a:bodyPr wrap="square" rtlCol="0">
            <a:spAutoFit/>
          </a:bodyPr>
          <a:lstStyle/>
          <a:p>
            <a:r>
              <a:rPr lang="en-US" sz="1400" b="1" dirty="0">
                <a:latin typeface="Arial Narrow" panose="020B0606020202030204" pitchFamily="34" charset="0"/>
                <a:ea typeface="Arial Unicode MS" panose="020B0604020202020204" pitchFamily="34" charset="-128"/>
                <a:cs typeface="Arial" panose="020B0604020202020204" pitchFamily="34" charset="0"/>
              </a:rPr>
              <a:t>5.1. DMM equipment</a:t>
            </a:r>
          </a:p>
        </p:txBody>
      </p:sp>
      <p:cxnSp>
        <p:nvCxnSpPr>
          <p:cNvPr id="3" name="Straight Connector 2">
            <a:extLst>
              <a:ext uri="{FF2B5EF4-FFF2-40B4-BE49-F238E27FC236}">
                <a16:creationId xmlns:a16="http://schemas.microsoft.com/office/drawing/2014/main" id="{8943DF30-E9E2-0B37-8422-2F24032C3787}"/>
              </a:ext>
            </a:extLst>
          </p:cNvPr>
          <p:cNvCxnSpPr/>
          <p:nvPr/>
        </p:nvCxnSpPr>
        <p:spPr>
          <a:xfrm>
            <a:off x="-12488" y="561513"/>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AD2817E-59A1-9E27-4C02-C614C4D658EC}"/>
              </a:ext>
            </a:extLst>
          </p:cNvPr>
          <p:cNvSpPr txBox="1"/>
          <p:nvPr/>
        </p:nvSpPr>
        <p:spPr>
          <a:xfrm>
            <a:off x="7324946" y="2105796"/>
            <a:ext cx="1816523" cy="314445"/>
          </a:xfrm>
          <a:prstGeom prst="rect">
            <a:avLst/>
          </a:prstGeom>
          <a:noFill/>
        </p:spPr>
        <p:txBody>
          <a:bodyPr wrap="square" rtlCol="0">
            <a:spAutoFit/>
          </a:bodyPr>
          <a:lstStyle/>
          <a:p>
            <a:pPr algn="ctr">
              <a:lnSpc>
                <a:spcPct val="150000"/>
              </a:lnSpc>
            </a:pPr>
            <a:r>
              <a:rPr lang="en-US" sz="1100" i="1" dirty="0">
                <a:latin typeface="Arial Narrow" panose="020B0606020202030204" pitchFamily="34" charset="0"/>
                <a:ea typeface="LG Smart_H Regular" panose="020B0600000101010101" pitchFamily="34" charset="-127"/>
                <a:cs typeface="Arial" pitchFamily="34" charset="0"/>
              </a:rPr>
              <a:t>AVMT calibration label</a:t>
            </a:r>
          </a:p>
        </p:txBody>
      </p:sp>
      <p:graphicFrame>
        <p:nvGraphicFramePr>
          <p:cNvPr id="5" name="Table 4">
            <a:extLst>
              <a:ext uri="{FF2B5EF4-FFF2-40B4-BE49-F238E27FC236}">
                <a16:creationId xmlns:a16="http://schemas.microsoft.com/office/drawing/2014/main" id="{3198E7DA-0723-967A-1397-2138F37813BB}"/>
              </a:ext>
            </a:extLst>
          </p:cNvPr>
          <p:cNvGraphicFramePr>
            <a:graphicFrameLocks noGrp="1"/>
          </p:cNvGraphicFramePr>
          <p:nvPr>
            <p:extLst>
              <p:ext uri="{D42A27DB-BD31-4B8C-83A1-F6EECF244321}">
                <p14:modId xmlns:p14="http://schemas.microsoft.com/office/powerpoint/2010/main" val="1025921450"/>
              </p:ext>
            </p:extLst>
          </p:nvPr>
        </p:nvGraphicFramePr>
        <p:xfrm>
          <a:off x="3855335" y="1049233"/>
          <a:ext cx="2514600" cy="981075"/>
        </p:xfrm>
        <a:graphic>
          <a:graphicData uri="http://schemas.openxmlformats.org/drawingml/2006/table">
            <a:tbl>
              <a:tblPr/>
              <a:tblGrid>
                <a:gridCol w="1210733">
                  <a:extLst>
                    <a:ext uri="{9D8B030D-6E8A-4147-A177-3AD203B41FA5}">
                      <a16:colId xmlns:a16="http://schemas.microsoft.com/office/drawing/2014/main" val="20000"/>
                    </a:ext>
                  </a:extLst>
                </a:gridCol>
                <a:gridCol w="1303867">
                  <a:extLst>
                    <a:ext uri="{9D8B030D-6E8A-4147-A177-3AD203B41FA5}">
                      <a16:colId xmlns:a16="http://schemas.microsoft.com/office/drawing/2014/main" val="20001"/>
                    </a:ext>
                  </a:extLst>
                </a:gridCol>
              </a:tblGrid>
              <a:tr h="381000">
                <a:tc>
                  <a:txBody>
                    <a:bodyPr/>
                    <a:lstStyle/>
                    <a:p>
                      <a:pPr algn="ctr" fontAlgn="b"/>
                      <a:r>
                        <a:rPr lang="en-US" sz="1100" b="0" i="0" u="none" strike="noStrike" dirty="0">
                          <a:solidFill>
                            <a:srgbClr val="000000"/>
                          </a:solidFill>
                          <a:effectLst/>
                          <a:latin typeface="Arial Narrow" panose="020B0606020202030204" pitchFamily="34" charset="0"/>
                        </a:rPr>
                        <a:t>Main PIC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dirty="0">
                          <a:latin typeface="Arial Narrow" panose="020B0606020202030204" pitchFamily="34" charset="0"/>
                          <a:ea typeface="LG Smart_H Regular" panose="020B0600000101010101" pitchFamily="34" charset="-127"/>
                        </a:rPr>
                        <a:t>Nguyen Dang </a:t>
                      </a:r>
                      <a:r>
                        <a:rPr lang="en-US" sz="1100" dirty="0" err="1">
                          <a:latin typeface="Arial Narrow" panose="020B0606020202030204" pitchFamily="34" charset="0"/>
                          <a:ea typeface="LG Smart_H Regular" panose="020B0600000101010101" pitchFamily="34" charset="-127"/>
                        </a:rPr>
                        <a:t>Quang</a:t>
                      </a:r>
                      <a:r>
                        <a:rPr lang="en-US" sz="1100" dirty="0">
                          <a:latin typeface="Arial Narrow" panose="020B0606020202030204" pitchFamily="34" charset="0"/>
                          <a:ea typeface="LG Smart_H Regular" panose="020B0600000101010101" pitchFamily="34" charset="-127"/>
                        </a:rPr>
                        <a:t> </a:t>
                      </a:r>
                      <a:br>
                        <a:rPr lang="en-US" sz="1100" b="0" i="0" u="none" strike="noStrike" dirty="0">
                          <a:solidFill>
                            <a:srgbClr val="000000"/>
                          </a:solidFill>
                          <a:effectLst/>
                          <a:latin typeface="Arial Narrow" panose="020B0606020202030204" pitchFamily="34" charset="0"/>
                        </a:rPr>
                      </a:br>
                      <a:r>
                        <a:rPr lang="en-US" sz="1100" b="0" i="0" u="none" strike="noStrike" dirty="0">
                          <a:solidFill>
                            <a:srgbClr val="000000"/>
                          </a:solidFill>
                          <a:effectLst/>
                          <a:latin typeface="Arial Narrow" panose="020B0606020202030204" pitchFamily="34" charset="0"/>
                        </a:rPr>
                        <a:t>(PM member)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00025">
                <a:tc>
                  <a:txBody>
                    <a:bodyPr/>
                    <a:lstStyle/>
                    <a:p>
                      <a:pPr algn="ctr" fontAlgn="b"/>
                      <a:r>
                        <a:rPr lang="en-US" sz="1100" b="0" i="0" u="none" strike="noStrike">
                          <a:solidFill>
                            <a:srgbClr val="000000"/>
                          </a:solidFill>
                          <a:effectLst/>
                          <a:latin typeface="Arial Narrow" panose="020B0606020202030204" pitchFamily="34" charset="0"/>
                        </a:rPr>
                        <a:t>Time calibration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Arial Narrow" panose="020B0606020202030204" pitchFamily="34" charset="0"/>
                        </a:rPr>
                        <a:t>Yearly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00025">
                <a:tc>
                  <a:txBody>
                    <a:bodyPr/>
                    <a:lstStyle/>
                    <a:p>
                      <a:pPr algn="ctr" fontAlgn="b"/>
                      <a:r>
                        <a:rPr lang="en-US" sz="1100" b="0" i="0" u="none" strike="noStrike">
                          <a:solidFill>
                            <a:srgbClr val="000000"/>
                          </a:solidFill>
                          <a:effectLst/>
                          <a:latin typeface="Arial Narrow" panose="020B0606020202030204" pitchFamily="34" charset="0"/>
                        </a:rPr>
                        <a:t>Equipment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Arial Narrow" panose="020B0606020202030204" pitchFamily="34" charset="0"/>
                        </a:rPr>
                        <a:t>DMM</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00025">
                <a:tc>
                  <a:txBody>
                    <a:bodyPr/>
                    <a:lstStyle/>
                    <a:p>
                      <a:pPr algn="ctr" fontAlgn="b"/>
                      <a:r>
                        <a:rPr lang="en-US" sz="1100" b="0" i="0" u="none" strike="noStrike">
                          <a:solidFill>
                            <a:srgbClr val="000000"/>
                          </a:solidFill>
                          <a:effectLst/>
                          <a:latin typeface="Arial Narrow" panose="020B0606020202030204" pitchFamily="34" charset="0"/>
                        </a:rPr>
                        <a:t>Quantity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Arial Narrow" panose="020B0606020202030204" pitchFamily="34"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TextBox 5">
            <a:extLst>
              <a:ext uri="{FF2B5EF4-FFF2-40B4-BE49-F238E27FC236}">
                <a16:creationId xmlns:a16="http://schemas.microsoft.com/office/drawing/2014/main" id="{97FBBDC9-F6C9-A4B6-9F8E-54E56F8923E5}"/>
              </a:ext>
            </a:extLst>
          </p:cNvPr>
          <p:cNvSpPr txBox="1"/>
          <p:nvPr/>
        </p:nvSpPr>
        <p:spPr>
          <a:xfrm>
            <a:off x="123613" y="982704"/>
            <a:ext cx="3412454" cy="461665"/>
          </a:xfrm>
          <a:prstGeom prst="rect">
            <a:avLst/>
          </a:prstGeom>
          <a:noFill/>
        </p:spPr>
        <p:txBody>
          <a:bodyPr wrap="square" rtlCol="0">
            <a:spAutoFit/>
          </a:bodyPr>
          <a:lstStyle/>
          <a:p>
            <a:r>
              <a:rPr lang="en-US" sz="1200" dirty="0">
                <a:latin typeface="Arial Narrow" panose="020B0606020202030204" pitchFamily="34" charset="0"/>
                <a:ea typeface="LG Smart_H Regular" panose="020B0600000101010101" pitchFamily="34" charset="-127"/>
              </a:rPr>
              <a:t>Control by Nguyen Dang Quang (PM member) calibrated time is yearly</a:t>
            </a:r>
          </a:p>
        </p:txBody>
      </p:sp>
      <p:sp>
        <p:nvSpPr>
          <p:cNvPr id="7" name="TextBox 6">
            <a:extLst>
              <a:ext uri="{FF2B5EF4-FFF2-40B4-BE49-F238E27FC236}">
                <a16:creationId xmlns:a16="http://schemas.microsoft.com/office/drawing/2014/main" id="{8B1E5DFC-FD39-BC46-E705-6C6AE7E81437}"/>
              </a:ext>
            </a:extLst>
          </p:cNvPr>
          <p:cNvSpPr txBox="1"/>
          <p:nvPr/>
        </p:nvSpPr>
        <p:spPr>
          <a:xfrm>
            <a:off x="106679" y="2221244"/>
            <a:ext cx="798617" cy="307777"/>
          </a:xfrm>
          <a:prstGeom prst="rect">
            <a:avLst/>
          </a:prstGeom>
          <a:noFill/>
        </p:spPr>
        <p:txBody>
          <a:bodyPr wrap="none" rtlCol="0">
            <a:spAutoFit/>
          </a:bodyPr>
          <a:lstStyle/>
          <a:p>
            <a:r>
              <a:rPr lang="en-US" sz="1400">
                <a:latin typeface="Arial Narrow" panose="020B0606020202030204" pitchFamily="34" charset="0"/>
                <a:ea typeface="LG Smart_H Regular" panose="020B0600000101010101" pitchFamily="34" charset="-127"/>
              </a:rPr>
              <a:t>5.2 Pallet</a:t>
            </a:r>
          </a:p>
        </p:txBody>
      </p:sp>
      <p:pic>
        <p:nvPicPr>
          <p:cNvPr id="8" name="Picture 7">
            <a:extLst>
              <a:ext uri="{FF2B5EF4-FFF2-40B4-BE49-F238E27FC236}">
                <a16:creationId xmlns:a16="http://schemas.microsoft.com/office/drawing/2014/main" id="{0A82DA0D-82B8-A991-936F-EBCA71D0A5A9}"/>
              </a:ext>
            </a:extLst>
          </p:cNvPr>
          <p:cNvPicPr>
            <a:picLocks noChangeAspect="1"/>
          </p:cNvPicPr>
          <p:nvPr/>
        </p:nvPicPr>
        <p:blipFill>
          <a:blip r:embed="rId2"/>
          <a:stretch>
            <a:fillRect/>
          </a:stretch>
        </p:blipFill>
        <p:spPr>
          <a:xfrm>
            <a:off x="6966210" y="807695"/>
            <a:ext cx="2410110" cy="1385952"/>
          </a:xfrm>
          <a:prstGeom prst="rect">
            <a:avLst/>
          </a:prstGeom>
        </p:spPr>
      </p:pic>
    </p:spTree>
    <p:extLst>
      <p:ext uri="{BB962C8B-B14F-4D97-AF65-F5344CB8AC3E}">
        <p14:creationId xmlns:p14="http://schemas.microsoft.com/office/powerpoint/2010/main" val="363793143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ESIZE" val="Yes"/>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p2DBPMRbQEK4PwqppxHtX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gNe9y31qx0OExXY5K1tKhA"/>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cc6ed9fc-fefc-4a0c-a6d6-10cf236c0d4f}" enabled="1" method="Standard" siteId="{5069cde4-642a-45c0-8094-d0c2dec10be3}" contentBits="1" removed="0"/>
</clbl:labelList>
</file>

<file path=docProps/app.xml><?xml version="1.0" encoding="utf-8"?>
<Properties xmlns="http://schemas.openxmlformats.org/officeDocument/2006/extended-properties" xmlns:vt="http://schemas.openxmlformats.org/officeDocument/2006/docPropsVTypes">
  <TotalTime>9057</TotalTime>
  <Words>4020</Words>
  <Application>Microsoft Office PowerPoint</Application>
  <PresentationFormat>A4 Paper (210x297 mm)</PresentationFormat>
  <Paragraphs>1085</Paragraphs>
  <Slides>25</Slides>
  <Notes>22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LG Smart_H Regular</vt:lpstr>
      <vt:lpstr>LG Smart_H Regular</vt:lpstr>
      <vt:lpstr>맑은 고딕</vt:lpstr>
      <vt:lpstr>Aptos</vt:lpstr>
      <vt:lpstr>Aptos Display</vt:lpstr>
      <vt:lpstr>Arial</vt:lpstr>
      <vt:lpstr>Arial Narrow</vt:lpstr>
      <vt:lpstr>현대하모니 L</vt:lpstr>
      <vt:lpstr>Wingdings</vt:lpstr>
      <vt:lpstr>Office Theme</vt:lpstr>
      <vt:lpstr>PowerPoint Presentation</vt:lpstr>
      <vt:lpstr>PowerPoint Presentation</vt:lpstr>
      <vt:lpstr>1. Pareto</vt:lpstr>
      <vt:lpstr>PowerPoint Presentation</vt:lpstr>
      <vt:lpstr>1. Preparation of Gage R&amp;R</vt:lpstr>
      <vt:lpstr>2. Result of Gage Study</vt:lpstr>
      <vt:lpstr>2. Result of Gage Study</vt:lpstr>
      <vt:lpstr>PowerPoint Presentation</vt:lpstr>
      <vt:lpstr>2. Result of Gage Study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ANH DINH HOANG NGUYEN/LGEVH IVI LD Cyber Security Part</dc:creator>
  <cp:lastModifiedBy>ANH DINH HOANG NGUYEN/LGEVH IVI LD Cyber Security Part</cp:lastModifiedBy>
  <cp:revision>22</cp:revision>
  <dcterms:created xsi:type="dcterms:W3CDTF">2026-09-24T10:51:23Z</dcterms:created>
  <dcterms:modified xsi:type="dcterms:W3CDTF">2026-10-12T11:45:49Z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HeaderLocations">
    <vt:lpwstr>Office Theme:8</vt:lpwstr>
  </property>
  <property fmtid="{D5CDD505-2E9C-101B-9397-08002B2CF9AE}" pid="3" name="ClassificationContentMarkingHeaderText">
    <vt:lpwstr>LGE Internal Use Only</vt:lpwstr>
  </property>
</Properties>
</file>