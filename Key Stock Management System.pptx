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Inter"/>
      <ns0:bold ns1:id="rIdFont17"/>
      <ns0:regular ns1:id="rIdFont18"/>
    </ns0:embeddedFont>
    <ns0:embeddedFont>
      <ns0:font typeface="Plus Jakarta Sans"/>
      <ns0:bold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e409b500-c403-4ba9-9525-48c6ed4db41a.fntdata" /><ns0:Relationship Id="rIdFont18" Type="http://schemas.openxmlformats.org/officeDocument/2006/relationships/font" Target="fonts/090b7bda-dafb-4f85-b8f4-282414bf1b5d.fntdata" /><ns0:Relationship Id="rIdFont19" Type="http://schemas.openxmlformats.org/officeDocument/2006/relationships/font" Target="fonts/feb7d235-5130-4f29-a392-2cd68631c8d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242345"/>
            <a:ext cx="1066800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948755"/>
            <a:ext cx="2900362" cy="295275"/>
          </a:xfrm>
          <a:prstGeom prst="roundRect">
            <a:avLst>
              <a:gd name="adj" fmla="val 50000"/>
            </a:avLst>
          </a:prstGeom>
          <a:solidFill>
            <a:srgbClr val="132651"/>
          </a:solidFill>
          <a:ln w="9525">
            <a:solidFill>
              <a:srgbClr val="27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24234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71875" y="4556670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034480"/>
            <a:ext cx="138112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518570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632870"/>
            <a:ext cx="1905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2472630"/>
            <a:ext cx="11251406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Key Stock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232695"/>
            <a:ext cx="7334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Automated inventory tracking, real-time threshold alerting, and controlled key allocation system.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05905"/>
            <a:ext cx="26908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Inter"/>
              </a:rPr>
              <a:t>SYSTEM DEVELOPMENT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4532858"/>
            <a:ext cx="2964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4694783"/>
            <a:ext cx="29646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100% Automated Key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7300" y="4532858"/>
            <a:ext cx="25122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Presented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7300" y="4694783"/>
            <a:ext cx="2512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Product &amp; Operations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29300"/>
            <a:ext cx="10972800" cy="4953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829300"/>
            <a:ext cx="38100" cy="495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333625"/>
            <a:ext cx="3505200" cy="2314575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2333625"/>
            <a:ext cx="3505200" cy="2314575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2333625"/>
            <a:ext cx="3505200" cy="2314575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00750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64795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525" y="264795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325" y="264795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2781300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1062" y="2781300"/>
            <a:ext cx="2381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8675" y="2781300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CURRENT STATUS &amp; 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Bottlenecks in Manual Key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5981700"/>
            <a:ext cx="11353800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Inter"/>
              </a:rPr>
              <a:t>Required: A centralized key repository system featuring automated real-time sync and smart alerts.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295650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Loss &amp; Duplicate Issuance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648075"/>
            <a:ext cx="3124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Excel-based tracking easily leads to human error, key duplication, and unallocated key leakage.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525" y="3295650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No Stock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525" y="3648075"/>
            <a:ext cx="3124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Lack of automated threshold warnings when key stock hits critical minimums, causing downtime.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325" y="3295650"/>
            <a:ext cx="38766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Missing Audit 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325" y="3648075"/>
            <a:ext cx="3124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Difficult to trace which system or engineer retrieved specific keys and at what timestamp.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00275"/>
            <a:ext cx="5195441" cy="3076575"/>
          </a:xfrm>
          <a:prstGeom prst="roundRect">
            <a:avLst>
              <a:gd name="adj" fmla="val 495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0600" y="4210050"/>
            <a:ext cx="4433441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0600" y="4210050"/>
            <a:ext cx="443344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241" y="2800350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241" y="3429000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241" y="4057650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016" y="2895600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016" y="3524250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016" y="4152900"/>
            <a:ext cx="1333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SYSTEM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End-to-End Key Inventory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2581275"/>
            <a:ext cx="554180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EFFICIENCY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2819400"/>
            <a:ext cx="5541801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FFFFFF"/>
                </a:solidFill>
                <a:latin typeface="Inter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3543300"/>
            <a:ext cx="4528691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Automated stock tracking and total elimination of duplicate key issuance risks.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4410075"/>
            <a:ext cx="1295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4ADE80"/>
                </a:solidFill>
                <a:latin typeface="Inter"/>
              </a:rPr>
              <a:t>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733925"/>
            <a:ext cx="1295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Update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8850" y="4410075"/>
            <a:ext cx="13906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60A5FA"/>
                </a:solidFill>
                <a:latin typeface="Inter"/>
              </a:rPr>
              <a:t>24/7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8850" y="4733925"/>
            <a:ext cx="13906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Real-time 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7541" y="2800350"/>
            <a:ext cx="543445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Absolute Precision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7541" y="3057525"/>
            <a:ext cx="543445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Instant stock count updates upon every key allocation transaction.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7541" y="3429000"/>
            <a:ext cx="543445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Proactive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7541" y="3686175"/>
            <a:ext cx="543445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Automatic Email/Slack notifications when stock reaches safety limits.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7541" y="4057650"/>
            <a:ext cx="543445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Seamless API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7541" y="4314825"/>
            <a:ext cx="4920108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Provides RESTful APIs for third-party systems to pull keys programmatically.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0350"/>
            <a:ext cx="2600325" cy="1876425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800350"/>
            <a:ext cx="2600325" cy="1876425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800350"/>
            <a:ext cx="2600325" cy="1876425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800350"/>
            <a:ext cx="2600325" cy="1876425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3095625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3095625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3095625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100" y="3095625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4 Core Pillars of the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505200"/>
            <a:ext cx="28878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Stock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800475"/>
            <a:ext cx="22955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Track available, consumed, and expired keys categorized by type.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505200"/>
            <a:ext cx="28878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Threshold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3800475"/>
            <a:ext cx="22955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Configure minimum threshold per key type to trigger auto-replenishment.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505200"/>
            <a:ext cx="28878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Auto Allocation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3800475"/>
            <a:ext cx="22955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Dispatch keys automatically using FIFO (First-In, First-Out) logic.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2100" y="3505200"/>
            <a:ext cx="28878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Audit &amp;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2100" y="3800475"/>
            <a:ext cx="22955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Comprehensive audit logs and database encryption for key secrets.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3237"/>
            <a:ext cx="2436018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55193" y="3043237"/>
            <a:ext cx="2436018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00787" y="3043237"/>
            <a:ext cx="2436018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6381" y="3043237"/>
            <a:ext cx="2436018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0575" y="3281362"/>
            <a:ext cx="561975" cy="21907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36168" y="3281362"/>
            <a:ext cx="590550" cy="21907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81762" y="3281362"/>
            <a:ext cx="590550" cy="21907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7356" y="3281362"/>
            <a:ext cx="590550" cy="21907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018" y="3657600"/>
            <a:ext cx="104775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612" y="3657600"/>
            <a:ext cx="104775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9206" y="3657600"/>
            <a:ext cx="1047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2243" y="3314700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7837" y="3314700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431" y="3314700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9025" y="3314700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Automated Key Lifecycle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" y="3614737"/>
            <a:ext cx="27222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Key Import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" y="3871912"/>
            <a:ext cx="2169318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Batch import key batches via CSV/Excel or API integration.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6168" y="3614737"/>
            <a:ext cx="27222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Set Thresholds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6168" y="3871912"/>
            <a:ext cx="2169318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Configure minimum safety stock limits per key type.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1762" y="3614737"/>
            <a:ext cx="27222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Auto Allocation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1762" y="3871912"/>
            <a:ext cx="2169318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Dispatch keys to consumers and instantly update stock.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7356" y="3614737"/>
            <a:ext cx="27222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Alert &amp; Restock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7356" y="3871912"/>
            <a:ext cx="2169318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Send notifications to ops team to replenish low key stock.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825" y="3319462"/>
            <a:ext cx="4667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STEP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1418" y="3319462"/>
            <a:ext cx="495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STEP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7012" y="3319462"/>
            <a:ext cx="495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2606" y="3319462"/>
            <a:ext cx="495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STEP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62200"/>
            <a:ext cx="10972800" cy="2752725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5825" y="2638425"/>
            <a:ext cx="3314700" cy="1152525"/>
          </a:xfrm>
          <a:prstGeom prst="roundRect">
            <a:avLst>
              <a:gd name="adj" fmla="val 661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29125" y="2638425"/>
            <a:ext cx="3314700" cy="1152525"/>
          </a:xfrm>
          <a:prstGeom prst="roundRect">
            <a:avLst>
              <a:gd name="adj" fmla="val 661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972425" y="2638425"/>
            <a:ext cx="3333750" cy="1152525"/>
          </a:xfrm>
          <a:prstGeom prst="roundRect">
            <a:avLst>
              <a:gd name="adj" fmla="val 6611"/>
            </a:avLst>
          </a:prstGeom>
          <a:solidFill>
            <a:srgbClr val="FFFBE8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4276725"/>
            <a:ext cx="1042035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4743450"/>
            <a:ext cx="1042035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5825" y="4276725"/>
            <a:ext cx="9690794" cy="952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5825" y="4743450"/>
            <a:ext cx="1250305" cy="952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448050"/>
            <a:ext cx="85725" cy="1143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450" y="3457575"/>
            <a:ext cx="114300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UI &amp;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Real-Time Stock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2828925"/>
            <a:ext cx="30289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Inter"/>
              </a:rPr>
              <a:t> +120 this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2828925"/>
            <a:ext cx="30289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73% Utilization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2925" y="2828925"/>
            <a:ext cx="3048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97706"/>
                </a:solidFill>
                <a:latin typeface="Inter"/>
              </a:rPr>
              <a:t> Immediate restock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2828925"/>
            <a:ext cx="3667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TOTAL KEYS IN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3019425"/>
            <a:ext cx="3667125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1,420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625" y="2828925"/>
            <a:ext cx="3667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ALLOCATED 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9625" y="3019425"/>
            <a:ext cx="3667125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2563EB"/>
                </a:solidFill>
                <a:latin typeface="Inter"/>
              </a:rPr>
              <a:t>1,040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2450" y="2838450"/>
            <a:ext cx="3667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45309"/>
                </a:solidFill>
                <a:latin typeface="Inter"/>
              </a:rPr>
              <a:t>LOW STOCK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2450" y="3028950"/>
            <a:ext cx="3667125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D97706"/>
                </a:solidFill>
                <a:latin typeface="Inter"/>
              </a:rPr>
              <a:t>02 Types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4057650"/>
            <a:ext cx="4143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Windows 11 Enterprise Licenses (Safe Stock Level)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0" y="4057650"/>
            <a:ext cx="22264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Inter"/>
              </a:rPr>
              <a:t>280 / 300 remaining (93%)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825" y="4524375"/>
            <a:ext cx="3952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Office 365 E5 Licenses (Critical Threshold Alert)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6450" y="4524375"/>
            <a:ext cx="20121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12 / 100 remaining (12%)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52725"/>
            <a:ext cx="5334000" cy="1971675"/>
          </a:xfrm>
          <a:prstGeom prst="roundRect">
            <a:avLst>
              <a:gd name="adj" fmla="val 579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52725"/>
            <a:ext cx="5334000" cy="1971675"/>
          </a:xfrm>
          <a:prstGeom prst="roundRect">
            <a:avLst>
              <a:gd name="adj" fmla="val 579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67050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067050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887" y="3171825"/>
            <a:ext cx="219075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687" y="3171825"/>
            <a:ext cx="219075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3657600"/>
            <a:ext cx="1238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3952875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4248150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3657600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3952875"/>
            <a:ext cx="1238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4248150"/>
            <a:ext cx="12382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SECURITY &amp; ACCESS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Access Control &amp; Encryption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9225" y="3138487"/>
            <a:ext cx="363795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System Administrator (Admin)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38550"/>
            <a:ext cx="5662612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Permissions: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Full rights to import, issue, and revoke 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933825"/>
            <a:ext cx="5662612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Configuration: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Set inventory warning thresholds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229100"/>
            <a:ext cx="5662612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Audit: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Full visibility into system transaction 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8025" y="3138487"/>
            <a:ext cx="283785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System / API Consumer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800" y="3638550"/>
            <a:ext cx="541020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Authentication: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Dedicated API Key &amp; Token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800" y="3933825"/>
            <a:ext cx="541020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Scope Limits: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Restricted to authorized key categories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1800" y="4229100"/>
            <a:ext cx="541020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Encryption: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Data in transit secured via HTTPS / TLS 1.3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3225"/>
            <a:ext cx="3270200" cy="1590675"/>
          </a:xfrm>
          <a:prstGeom prst="roundRect">
            <a:avLst>
              <a:gd name="adj" fmla="val 7185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60825" y="2943225"/>
            <a:ext cx="3270200" cy="1590675"/>
          </a:xfrm>
          <a:prstGeom prst="roundRect">
            <a:avLst>
              <a:gd name="adj" fmla="val 7185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12050" y="2943225"/>
            <a:ext cx="3270200" cy="1590675"/>
          </a:xfrm>
          <a:prstGeom prst="roundRect">
            <a:avLst>
              <a:gd name="adj" fmla="val 7185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175" y="3228975"/>
            <a:ext cx="3429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300" y="3619500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351" y="3228975"/>
            <a:ext cx="3810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1525" y="3619500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3726" y="3228975"/>
            <a:ext cx="2667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TECHNICAL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System Integration &amp; Processing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665" y="364807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Web / App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62" y="3924300"/>
            <a:ext cx="35638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Admin interface for tracking inventory and uploading key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890" y="364807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Backend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3987" y="3924300"/>
            <a:ext cx="35638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Manages stock logic, lock transactions, and notification dispatch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6116" y="364807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Encrypted Key Vault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213" y="3924300"/>
            <a:ext cx="35638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AES-256 encrypted database storing raw key credentials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7050"/>
            <a:ext cx="2628900" cy="1343025"/>
          </a:xfrm>
          <a:prstGeom prst="roundRect">
            <a:avLst>
              <a:gd name="adj" fmla="val 5673"/>
            </a:avLst>
          </a:prstGeom>
          <a:solidFill>
            <a:srgbClr val="F8FAFC"/>
          </a:solidFill>
          <a:ln w="381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067050"/>
            <a:ext cx="2628900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0900" y="3067050"/>
            <a:ext cx="2628900" cy="1343025"/>
          </a:xfrm>
          <a:prstGeom prst="roundRect">
            <a:avLst>
              <a:gd name="adj" fmla="val 5673"/>
            </a:avLst>
          </a:prstGeom>
          <a:solidFill>
            <a:srgbClr val="F8FAFC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90900" y="3067050"/>
            <a:ext cx="26289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3067050"/>
            <a:ext cx="2628900" cy="1343025"/>
          </a:xfrm>
          <a:prstGeom prst="roundRect">
            <a:avLst>
              <a:gd name="adj" fmla="val 5673"/>
            </a:avLst>
          </a:prstGeom>
          <a:solidFill>
            <a:srgbClr val="F8FAFC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3067050"/>
            <a:ext cx="26289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53500" y="3067050"/>
            <a:ext cx="2628900" cy="1343025"/>
          </a:xfrm>
          <a:prstGeom prst="roundRect">
            <a:avLst>
              <a:gd name="adj" fmla="val 5673"/>
            </a:avLst>
          </a:prstGeom>
          <a:solidFill>
            <a:srgbClr val="F8FAFC"/>
          </a:solidFill>
          <a:ln w="381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53500" y="3067050"/>
            <a:ext cx="26289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EXECUTION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4-Phase Implementation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295650"/>
            <a:ext cx="241935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WEEK 1 - 2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3300" y="3295650"/>
            <a:ext cx="241935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WEEK 3 - 5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3295650"/>
            <a:ext cx="241935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97706"/>
                </a:solidFill>
                <a:latin typeface="Inter"/>
              </a:rPr>
              <a:t>WEEK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5900" y="3295650"/>
            <a:ext cx="241935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Inter"/>
              </a:rPr>
              <a:t>WEEK 7+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600450"/>
            <a:ext cx="30503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Discovery &amp;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857625"/>
            <a:ext cx="24193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Finalize key types, business rules, and API specifications.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3300" y="3600450"/>
            <a:ext cx="30503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Core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300" y="3857625"/>
            <a:ext cx="24193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Build database, stock management modules, and alert system.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600" y="3600450"/>
            <a:ext cx="30503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UAT &amp;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600" y="3857625"/>
            <a:ext cx="24193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Conduct trial key allocations and resolve edge-case issues.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5900" y="3600450"/>
            <a:ext cx="30503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Go-Live &amp;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5900" y="3857625"/>
            <a:ext cx="24193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Deploy to production for company-wide operational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48237" y="4303365"/>
            <a:ext cx="2295525" cy="419100"/>
          </a:xfrm>
          <a:prstGeom prst="roundRect">
            <a:avLst>
              <a:gd name="adj" fmla="val 1818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135534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306984"/>
            <a:ext cx="2667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9429" y="2973734"/>
            <a:ext cx="1179314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Plus Jakarta Sans"/>
              </a:rPr>
              <a:t>Ready to Optimize Key Stock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9312" y="3674715"/>
            <a:ext cx="79533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Thank you for your time. We welcome your questions and discussion!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27996" y="4417665"/>
            <a:ext cx="233600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Q&amp;A &amp; Open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