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35"/>
  </p:notesMasterIdLst>
  <p:handoutMasterIdLst>
    <p:handoutMasterId r:id="rId36"/>
  </p:handoutMasterIdLst>
  <p:sldIdLst>
    <p:sldId id="510" r:id="rId2"/>
    <p:sldId id="543" r:id="rId3"/>
    <p:sldId id="536" r:id="rId4"/>
    <p:sldId id="537" r:id="rId5"/>
    <p:sldId id="576" r:id="rId6"/>
    <p:sldId id="464" r:id="rId7"/>
    <p:sldId id="583" r:id="rId8"/>
    <p:sldId id="521" r:id="rId9"/>
    <p:sldId id="535" r:id="rId10"/>
    <p:sldId id="524" r:id="rId11"/>
    <p:sldId id="490" r:id="rId12"/>
    <p:sldId id="538" r:id="rId13"/>
    <p:sldId id="541" r:id="rId14"/>
    <p:sldId id="540" r:id="rId15"/>
    <p:sldId id="542" r:id="rId16"/>
    <p:sldId id="539" r:id="rId17"/>
    <p:sldId id="263" r:id="rId18"/>
    <p:sldId id="533" r:id="rId19"/>
    <p:sldId id="257" r:id="rId20"/>
    <p:sldId id="259" r:id="rId21"/>
    <p:sldId id="578" r:id="rId22"/>
    <p:sldId id="475" r:id="rId23"/>
    <p:sldId id="532" r:id="rId24"/>
    <p:sldId id="452" r:id="rId25"/>
    <p:sldId id="526" r:id="rId26"/>
    <p:sldId id="527" r:id="rId27"/>
    <p:sldId id="528" r:id="rId28"/>
    <p:sldId id="530" r:id="rId29"/>
    <p:sldId id="529" r:id="rId30"/>
    <p:sldId id="531" r:id="rId31"/>
    <p:sldId id="581" r:id="rId32"/>
    <p:sldId id="473" r:id="rId33"/>
    <p:sldId id="580" r:id="rId34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pos="126">
          <p15:clr>
            <a:srgbClr val="A4A3A4"/>
          </p15:clr>
        </p15:guide>
        <p15:guide id="10" pos="172" userDrawn="1">
          <p15:clr>
            <a:srgbClr val="A4A3A4"/>
          </p15:clr>
        </p15:guide>
        <p15:guide id="12" orient="horz" pos="391">
          <p15:clr>
            <a:srgbClr val="A4A3A4"/>
          </p15:clr>
        </p15:guide>
        <p15:guide id="13" orient="horz" pos="4110">
          <p15:clr>
            <a:srgbClr val="A4A3A4"/>
          </p15:clr>
        </p15:guide>
        <p15:guide id="14" pos="60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UONG NGOC VU/LGEVH IVI IE Tele/AVN/HUD Part" initials="VNVIITP" lastIdx="0" clrIdx="0">
    <p:extLst>
      <p:ext uri="{19B8F6BF-5375-455C-9EA6-DF929625EA0E}">
        <p15:presenceInfo xmlns:p15="http://schemas.microsoft.com/office/powerpoint/2012/main" userId="S-1-5-21-2543426832-1914326140-3112152631-27985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8D621"/>
    <a:srgbClr val="00CC66"/>
    <a:srgbClr val="FFFFCC"/>
    <a:srgbClr val="FF9933"/>
    <a:srgbClr val="0000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77250" autoAdjust="0"/>
  </p:normalViewPr>
  <p:slideViewPr>
    <p:cSldViewPr>
      <p:cViewPr varScale="1">
        <p:scale>
          <a:sx n="85" d="100"/>
          <a:sy n="85" d="100"/>
        </p:scale>
        <p:origin x="2064" y="44"/>
      </p:cViewPr>
      <p:guideLst>
        <p:guide pos="126"/>
        <p:guide pos="172"/>
        <p:guide orient="horz" pos="391"/>
        <p:guide orient="horz" pos="4110"/>
        <p:guide pos="60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88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3269" y="-72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vuong.vu\AppData\Local\Temp\_AZTMP1_\all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Luminance defect</a:t>
            </a:r>
            <a:r>
              <a:rPr lang="en-US" baseline="0" dirty="0"/>
              <a:t> rate of J1 Dual model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Sheet1!$D$7</c:f>
              <c:strCache>
                <c:ptCount val="1"/>
                <c:pt idx="0">
                  <c:v>Total NG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Sheet1!$E$6:$K$6</c:f>
              <c:strCache>
                <c:ptCount val="7"/>
                <c:pt idx="0">
                  <c:v>16.Nov.2025</c:v>
                </c:pt>
                <c:pt idx="1">
                  <c:v>2.Jan.2026</c:v>
                </c:pt>
                <c:pt idx="2">
                  <c:v>23.Feb.2026</c:v>
                </c:pt>
                <c:pt idx="3">
                  <c:v>1.Mar.2026</c:v>
                </c:pt>
                <c:pt idx="4">
                  <c:v>15.Jul.2026</c:v>
                </c:pt>
                <c:pt idx="5">
                  <c:v>21.Aug.2026</c:v>
                </c:pt>
                <c:pt idx="6">
                  <c:v>20.Sep.2026</c:v>
                </c:pt>
              </c:strCache>
            </c:strRef>
          </c:cat>
          <c:val>
            <c:numRef>
              <c:f>Sheet1!$E$7:$K$7</c:f>
              <c:numCache>
                <c:formatCode>General</c:formatCode>
                <c:ptCount val="7"/>
                <c:pt idx="0">
                  <c:v>13</c:v>
                </c:pt>
                <c:pt idx="1">
                  <c:v>8</c:v>
                </c:pt>
                <c:pt idx="2">
                  <c:v>92</c:v>
                </c:pt>
                <c:pt idx="3">
                  <c:v>30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1-4E88-B6AB-4C7FE8828860}"/>
            </c:ext>
          </c:extLst>
        </c:ser>
        <c:ser>
          <c:idx val="1"/>
          <c:order val="1"/>
          <c:tx>
            <c:strRef>
              <c:f>Sheet1!$D$8</c:f>
              <c:strCache>
                <c:ptCount val="1"/>
                <c:pt idx="0">
                  <c:v>Prod Q'ty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Sheet1!$E$6:$K$6</c:f>
              <c:strCache>
                <c:ptCount val="7"/>
                <c:pt idx="0">
                  <c:v>16.Nov.2025</c:v>
                </c:pt>
                <c:pt idx="1">
                  <c:v>2.Jan.2026</c:v>
                </c:pt>
                <c:pt idx="2">
                  <c:v>23.Feb.2026</c:v>
                </c:pt>
                <c:pt idx="3">
                  <c:v>1.Mar.2026</c:v>
                </c:pt>
                <c:pt idx="4">
                  <c:v>15.Jul.2026</c:v>
                </c:pt>
                <c:pt idx="5">
                  <c:v>21.Aug.2026</c:v>
                </c:pt>
                <c:pt idx="6">
                  <c:v>20.Sep.2026</c:v>
                </c:pt>
              </c:strCache>
            </c:strRef>
          </c:cat>
          <c:val>
            <c:numRef>
              <c:f>Sheet1!$E$8:$K$8</c:f>
              <c:numCache>
                <c:formatCode>General</c:formatCode>
                <c:ptCount val="7"/>
                <c:pt idx="0">
                  <c:v>200</c:v>
                </c:pt>
                <c:pt idx="1">
                  <c:v>120</c:v>
                </c:pt>
                <c:pt idx="2">
                  <c:v>240</c:v>
                </c:pt>
                <c:pt idx="3">
                  <c:v>71</c:v>
                </c:pt>
                <c:pt idx="4">
                  <c:v>240</c:v>
                </c:pt>
                <c:pt idx="5">
                  <c:v>120</c:v>
                </c:pt>
                <c:pt idx="6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1-4E88-B6AB-4C7FE88288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7649919"/>
        <c:axId val="294917759"/>
      </c:barChart>
      <c:lineChart>
        <c:grouping val="standard"/>
        <c:varyColors val="0"/>
        <c:ser>
          <c:idx val="2"/>
          <c:order val="2"/>
          <c:tx>
            <c:strRef>
              <c:f>Sheet1!$D$9</c:f>
              <c:strCache>
                <c:ptCount val="1"/>
                <c:pt idx="0">
                  <c:v>Defect rate (ppm)</c:v>
                </c:pt>
              </c:strCache>
            </c:strRef>
          </c:tx>
          <c:spPr>
            <a:ln w="28575" cap="rnd">
              <a:solidFill>
                <a:srgbClr val="FF0000">
                  <a:alpha val="83000"/>
                </a:srgbClr>
              </a:solidFill>
              <a:round/>
            </a:ln>
            <a:effectLst>
              <a:softEdge rad="0"/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6.9630276639563615E-2"/>
                  <c:y val="-7.5998353676227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41-4E88-B6AB-4C7FE8828860}"/>
                </c:ext>
              </c:extLst>
            </c:dLbl>
            <c:dLbl>
              <c:idx val="1"/>
              <c:layout>
                <c:manualLayout>
                  <c:x val="-7.0184840271801302E-2"/>
                  <c:y val="-0.127412235424299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241-4E88-B6AB-4C7FE8828860}"/>
                </c:ext>
              </c:extLst>
            </c:dLbl>
            <c:dLbl>
              <c:idx val="2"/>
              <c:layout>
                <c:manualLayout>
                  <c:x val="-6.9102773246329532E-2"/>
                  <c:y val="-7.94259457927656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41-4E88-B6AB-4C7FE8828860}"/>
                </c:ext>
              </c:extLst>
            </c:dLbl>
            <c:dLbl>
              <c:idx val="3"/>
              <c:layout>
                <c:manualLayout>
                  <c:x val="-5.3877107123436734E-2"/>
                  <c:y val="-7.25707615596893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41-4E88-B6AB-4C7FE8828860}"/>
                </c:ext>
              </c:extLst>
            </c:dLbl>
            <c:dLbl>
              <c:idx val="4"/>
              <c:layout>
                <c:manualLayout>
                  <c:x val="6.5198049265049046E-3"/>
                  <c:y val="-4.85776167439224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241-4E88-B6AB-4C7FE8828860}"/>
                </c:ext>
              </c:extLst>
            </c:dLbl>
            <c:dLbl>
              <c:idx val="5"/>
              <c:layout>
                <c:manualLayout>
                  <c:x val="-2.1805757151481678E-3"/>
                  <c:y val="-4.85776167439224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41-4E88-B6AB-4C7FE8828860}"/>
                </c:ext>
              </c:extLst>
            </c:dLbl>
            <c:dLbl>
              <c:idx val="6"/>
              <c:layout>
                <c:manualLayout>
                  <c:x val="8.6949000869181725E-3"/>
                  <c:y val="-4.85776167439224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241-4E88-B6AB-4C7FE882886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Sheet1!$E$6:$K$6</c:f>
              <c:strCache>
                <c:ptCount val="7"/>
                <c:pt idx="0">
                  <c:v>16.Nov.2025</c:v>
                </c:pt>
                <c:pt idx="1">
                  <c:v>2.Jan.2026</c:v>
                </c:pt>
                <c:pt idx="2">
                  <c:v>23.Feb.2026</c:v>
                </c:pt>
                <c:pt idx="3">
                  <c:v>1.Mar.2026</c:v>
                </c:pt>
                <c:pt idx="4">
                  <c:v>15.Jul.2026</c:v>
                </c:pt>
                <c:pt idx="5">
                  <c:v>21.Aug.2026</c:v>
                </c:pt>
                <c:pt idx="6">
                  <c:v>20.Sep.2026</c:v>
                </c:pt>
              </c:strCache>
            </c:strRef>
          </c:cat>
          <c:val>
            <c:numRef>
              <c:f>Sheet1!$E$9:$K$9</c:f>
              <c:numCache>
                <c:formatCode>0.00</c:formatCode>
                <c:ptCount val="7"/>
                <c:pt idx="0" formatCode="General">
                  <c:v>65000</c:v>
                </c:pt>
                <c:pt idx="1">
                  <c:v>66666.666666666672</c:v>
                </c:pt>
                <c:pt idx="2">
                  <c:v>383333.33333333337</c:v>
                </c:pt>
                <c:pt idx="3">
                  <c:v>422535.2112676056</c:v>
                </c:pt>
                <c:pt idx="4" formatCode="General">
                  <c:v>0</c:v>
                </c:pt>
                <c:pt idx="5" formatCode="General">
                  <c:v>0</c:v>
                </c:pt>
                <c:pt idx="6" formatCode="General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41-4E88-B6AB-4C7FE88288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407247"/>
        <c:axId val="294901951"/>
      </c:lineChart>
      <c:catAx>
        <c:axId val="144407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4901951"/>
        <c:crosses val="autoZero"/>
        <c:auto val="1"/>
        <c:lblAlgn val="ctr"/>
        <c:lblOffset val="100"/>
        <c:noMultiLvlLbl val="0"/>
      </c:catAx>
      <c:valAx>
        <c:axId val="294901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407247"/>
        <c:crosses val="autoZero"/>
        <c:crossBetween val="between"/>
      </c:valAx>
      <c:valAx>
        <c:axId val="29491775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49919"/>
        <c:crosses val="max"/>
        <c:crossBetween val="between"/>
      </c:valAx>
      <c:catAx>
        <c:axId val="1376499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949177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F313511-A882-4FD8-8CD7-EE07DA30632F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7B4EC45C-D9FC-4E59-AFF9-71DFEAD14C6D}" type="presOf" srcId="{BAC7D273-E5EE-4038-A5C1-6C6F5ACB0D03}" destId="{6A0ADE0C-E6D1-4D81-9931-771EEA7AFED4}" srcOrd="0" destOrd="0" presId="urn:microsoft.com/office/officeart/2005/8/layout/chevron1"/>
    <dgm:cxn modelId="{8B420D4D-CBD4-4EB4-9952-BF3598BE3FBA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A2B948B-2BC4-4303-A3C4-9910C8AAFD74}" type="presOf" srcId="{18D87F5F-42AD-4E9F-A6E6-7FE3973FD35E}" destId="{D3AB7C3D-A810-418A-9680-2D5C0886B87C}" srcOrd="0" destOrd="0" presId="urn:microsoft.com/office/officeart/2005/8/layout/chevron1"/>
    <dgm:cxn modelId="{83A5F7A2-4AD2-4F5F-88F2-B60C4622A9DD}" type="presOf" srcId="{7AD4F92C-78BA-4F6E-810D-84BEE50C8241}" destId="{75D48B9B-99C3-4C15-8EAC-E9BA0DD14686}" srcOrd="0" destOrd="0" presId="urn:microsoft.com/office/officeart/2005/8/layout/chevron1"/>
    <dgm:cxn modelId="{662E96BB-DD21-47F8-A269-B169BB80E5B3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B2DB9EE0-144B-4596-80C7-382C82E59D5D}" type="presParOf" srcId="{75D48B9B-99C3-4C15-8EAC-E9BA0DD14686}" destId="{6A0ADE0C-E6D1-4D81-9931-771EEA7AFED4}" srcOrd="0" destOrd="0" presId="urn:microsoft.com/office/officeart/2005/8/layout/chevron1"/>
    <dgm:cxn modelId="{5D2DCFDB-C928-460D-9D0D-B368AAF744F8}" type="presParOf" srcId="{75D48B9B-99C3-4C15-8EAC-E9BA0DD14686}" destId="{065F6587-BE7F-4D0E-98E2-44771C09D7ED}" srcOrd="1" destOrd="0" presId="urn:microsoft.com/office/officeart/2005/8/layout/chevron1"/>
    <dgm:cxn modelId="{24ADDB57-7299-472E-9A3D-B6358B2FD793}" type="presParOf" srcId="{75D48B9B-99C3-4C15-8EAC-E9BA0DD14686}" destId="{D3AB7C3D-A810-418A-9680-2D5C0886B87C}" srcOrd="2" destOrd="0" presId="urn:microsoft.com/office/officeart/2005/8/layout/chevron1"/>
    <dgm:cxn modelId="{0B3F037C-5245-4431-93A5-D0DFCD4991BF}" type="presParOf" srcId="{75D48B9B-99C3-4C15-8EAC-E9BA0DD14686}" destId="{45F0D139-CE00-4B67-92DF-948F9E3DF760}" srcOrd="3" destOrd="0" presId="urn:microsoft.com/office/officeart/2005/8/layout/chevron1"/>
    <dgm:cxn modelId="{0185A9D8-DD5D-4F38-865F-386324CAE524}" type="presParOf" srcId="{75D48B9B-99C3-4C15-8EAC-E9BA0DD14686}" destId="{85F4B451-0FD0-42C8-80A0-3D70971ED446}" srcOrd="4" destOrd="0" presId="urn:microsoft.com/office/officeart/2005/8/layout/chevron1"/>
    <dgm:cxn modelId="{906F7AA6-6CEB-4F8A-A388-478AC32AEEB3}" type="presParOf" srcId="{75D48B9B-99C3-4C15-8EAC-E9BA0DD14686}" destId="{0CEB3E5A-3F2D-44D0-8A0A-14BD5AE928A8}" srcOrd="5" destOrd="0" presId="urn:microsoft.com/office/officeart/2005/8/layout/chevron1"/>
    <dgm:cxn modelId="{2629E3FC-9EA2-4F19-8CCA-15EF45E90840}" type="presParOf" srcId="{75D48B9B-99C3-4C15-8EAC-E9BA0DD14686}" destId="{679CE53B-3AB7-4DE6-AD51-84FD8C46EB46}" srcOrd="6" destOrd="0" presId="urn:microsoft.com/office/officeart/2005/8/layout/chevron1"/>
    <dgm:cxn modelId="{923912C4-436C-47B6-AB99-859F8AB53EF7}" type="presParOf" srcId="{75D48B9B-99C3-4C15-8EAC-E9BA0DD14686}" destId="{05FDF251-92B6-480C-82BC-68646E838DF3}" srcOrd="7" destOrd="0" presId="urn:microsoft.com/office/officeart/2005/8/layout/chevron1"/>
    <dgm:cxn modelId="{2594B841-6A00-4E01-8239-C7762029CA0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F313511-A882-4FD8-8CD7-EE07DA30632F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7B4EC45C-D9FC-4E59-AFF9-71DFEAD14C6D}" type="presOf" srcId="{BAC7D273-E5EE-4038-A5C1-6C6F5ACB0D03}" destId="{6A0ADE0C-E6D1-4D81-9931-771EEA7AFED4}" srcOrd="0" destOrd="0" presId="urn:microsoft.com/office/officeart/2005/8/layout/chevron1"/>
    <dgm:cxn modelId="{8B420D4D-CBD4-4EB4-9952-BF3598BE3FBA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A2B948B-2BC4-4303-A3C4-9910C8AAFD74}" type="presOf" srcId="{18D87F5F-42AD-4E9F-A6E6-7FE3973FD35E}" destId="{D3AB7C3D-A810-418A-9680-2D5C0886B87C}" srcOrd="0" destOrd="0" presId="urn:microsoft.com/office/officeart/2005/8/layout/chevron1"/>
    <dgm:cxn modelId="{83A5F7A2-4AD2-4F5F-88F2-B60C4622A9DD}" type="presOf" srcId="{7AD4F92C-78BA-4F6E-810D-84BEE50C8241}" destId="{75D48B9B-99C3-4C15-8EAC-E9BA0DD14686}" srcOrd="0" destOrd="0" presId="urn:microsoft.com/office/officeart/2005/8/layout/chevron1"/>
    <dgm:cxn modelId="{662E96BB-DD21-47F8-A269-B169BB80E5B3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B2DB9EE0-144B-4596-80C7-382C82E59D5D}" type="presParOf" srcId="{75D48B9B-99C3-4C15-8EAC-E9BA0DD14686}" destId="{6A0ADE0C-E6D1-4D81-9931-771EEA7AFED4}" srcOrd="0" destOrd="0" presId="urn:microsoft.com/office/officeart/2005/8/layout/chevron1"/>
    <dgm:cxn modelId="{5D2DCFDB-C928-460D-9D0D-B368AAF744F8}" type="presParOf" srcId="{75D48B9B-99C3-4C15-8EAC-E9BA0DD14686}" destId="{065F6587-BE7F-4D0E-98E2-44771C09D7ED}" srcOrd="1" destOrd="0" presId="urn:microsoft.com/office/officeart/2005/8/layout/chevron1"/>
    <dgm:cxn modelId="{24ADDB57-7299-472E-9A3D-B6358B2FD793}" type="presParOf" srcId="{75D48B9B-99C3-4C15-8EAC-E9BA0DD14686}" destId="{D3AB7C3D-A810-418A-9680-2D5C0886B87C}" srcOrd="2" destOrd="0" presId="urn:microsoft.com/office/officeart/2005/8/layout/chevron1"/>
    <dgm:cxn modelId="{0B3F037C-5245-4431-93A5-D0DFCD4991BF}" type="presParOf" srcId="{75D48B9B-99C3-4C15-8EAC-E9BA0DD14686}" destId="{45F0D139-CE00-4B67-92DF-948F9E3DF760}" srcOrd="3" destOrd="0" presId="urn:microsoft.com/office/officeart/2005/8/layout/chevron1"/>
    <dgm:cxn modelId="{0185A9D8-DD5D-4F38-865F-386324CAE524}" type="presParOf" srcId="{75D48B9B-99C3-4C15-8EAC-E9BA0DD14686}" destId="{85F4B451-0FD0-42C8-80A0-3D70971ED446}" srcOrd="4" destOrd="0" presId="urn:microsoft.com/office/officeart/2005/8/layout/chevron1"/>
    <dgm:cxn modelId="{906F7AA6-6CEB-4F8A-A388-478AC32AEEB3}" type="presParOf" srcId="{75D48B9B-99C3-4C15-8EAC-E9BA0DD14686}" destId="{0CEB3E5A-3F2D-44D0-8A0A-14BD5AE928A8}" srcOrd="5" destOrd="0" presId="urn:microsoft.com/office/officeart/2005/8/layout/chevron1"/>
    <dgm:cxn modelId="{2629E3FC-9EA2-4F19-8CCA-15EF45E90840}" type="presParOf" srcId="{75D48B9B-99C3-4C15-8EAC-E9BA0DD14686}" destId="{679CE53B-3AB7-4DE6-AD51-84FD8C46EB46}" srcOrd="6" destOrd="0" presId="urn:microsoft.com/office/officeart/2005/8/layout/chevron1"/>
    <dgm:cxn modelId="{923912C4-436C-47B6-AB99-859F8AB53EF7}" type="presParOf" srcId="{75D48B9B-99C3-4C15-8EAC-E9BA0DD14686}" destId="{05FDF251-92B6-480C-82BC-68646E838DF3}" srcOrd="7" destOrd="0" presId="urn:microsoft.com/office/officeart/2005/8/layout/chevron1"/>
    <dgm:cxn modelId="{2594B841-6A00-4E01-8239-C7762029CA0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F313511-A882-4FD8-8CD7-EE07DA30632F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7B4EC45C-D9FC-4E59-AFF9-71DFEAD14C6D}" type="presOf" srcId="{BAC7D273-E5EE-4038-A5C1-6C6F5ACB0D03}" destId="{6A0ADE0C-E6D1-4D81-9931-771EEA7AFED4}" srcOrd="0" destOrd="0" presId="urn:microsoft.com/office/officeart/2005/8/layout/chevron1"/>
    <dgm:cxn modelId="{8B420D4D-CBD4-4EB4-9952-BF3598BE3FBA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A2B948B-2BC4-4303-A3C4-9910C8AAFD74}" type="presOf" srcId="{18D87F5F-42AD-4E9F-A6E6-7FE3973FD35E}" destId="{D3AB7C3D-A810-418A-9680-2D5C0886B87C}" srcOrd="0" destOrd="0" presId="urn:microsoft.com/office/officeart/2005/8/layout/chevron1"/>
    <dgm:cxn modelId="{83A5F7A2-4AD2-4F5F-88F2-B60C4622A9DD}" type="presOf" srcId="{7AD4F92C-78BA-4F6E-810D-84BEE50C8241}" destId="{75D48B9B-99C3-4C15-8EAC-E9BA0DD14686}" srcOrd="0" destOrd="0" presId="urn:microsoft.com/office/officeart/2005/8/layout/chevron1"/>
    <dgm:cxn modelId="{662E96BB-DD21-47F8-A269-B169BB80E5B3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B2DB9EE0-144B-4596-80C7-382C82E59D5D}" type="presParOf" srcId="{75D48B9B-99C3-4C15-8EAC-E9BA0DD14686}" destId="{6A0ADE0C-E6D1-4D81-9931-771EEA7AFED4}" srcOrd="0" destOrd="0" presId="urn:microsoft.com/office/officeart/2005/8/layout/chevron1"/>
    <dgm:cxn modelId="{5D2DCFDB-C928-460D-9D0D-B368AAF744F8}" type="presParOf" srcId="{75D48B9B-99C3-4C15-8EAC-E9BA0DD14686}" destId="{065F6587-BE7F-4D0E-98E2-44771C09D7ED}" srcOrd="1" destOrd="0" presId="urn:microsoft.com/office/officeart/2005/8/layout/chevron1"/>
    <dgm:cxn modelId="{24ADDB57-7299-472E-9A3D-B6358B2FD793}" type="presParOf" srcId="{75D48B9B-99C3-4C15-8EAC-E9BA0DD14686}" destId="{D3AB7C3D-A810-418A-9680-2D5C0886B87C}" srcOrd="2" destOrd="0" presId="urn:microsoft.com/office/officeart/2005/8/layout/chevron1"/>
    <dgm:cxn modelId="{0B3F037C-5245-4431-93A5-D0DFCD4991BF}" type="presParOf" srcId="{75D48B9B-99C3-4C15-8EAC-E9BA0DD14686}" destId="{45F0D139-CE00-4B67-92DF-948F9E3DF760}" srcOrd="3" destOrd="0" presId="urn:microsoft.com/office/officeart/2005/8/layout/chevron1"/>
    <dgm:cxn modelId="{0185A9D8-DD5D-4F38-865F-386324CAE524}" type="presParOf" srcId="{75D48B9B-99C3-4C15-8EAC-E9BA0DD14686}" destId="{85F4B451-0FD0-42C8-80A0-3D70971ED446}" srcOrd="4" destOrd="0" presId="urn:microsoft.com/office/officeart/2005/8/layout/chevron1"/>
    <dgm:cxn modelId="{906F7AA6-6CEB-4F8A-A388-478AC32AEEB3}" type="presParOf" srcId="{75D48B9B-99C3-4C15-8EAC-E9BA0DD14686}" destId="{0CEB3E5A-3F2D-44D0-8A0A-14BD5AE928A8}" srcOrd="5" destOrd="0" presId="urn:microsoft.com/office/officeart/2005/8/layout/chevron1"/>
    <dgm:cxn modelId="{2629E3FC-9EA2-4F19-8CCA-15EF45E90840}" type="presParOf" srcId="{75D48B9B-99C3-4C15-8EAC-E9BA0DD14686}" destId="{679CE53B-3AB7-4DE6-AD51-84FD8C46EB46}" srcOrd="6" destOrd="0" presId="urn:microsoft.com/office/officeart/2005/8/layout/chevron1"/>
    <dgm:cxn modelId="{923912C4-436C-47B6-AB99-859F8AB53EF7}" type="presParOf" srcId="{75D48B9B-99C3-4C15-8EAC-E9BA0DD14686}" destId="{05FDF251-92B6-480C-82BC-68646E838DF3}" srcOrd="7" destOrd="0" presId="urn:microsoft.com/office/officeart/2005/8/layout/chevron1"/>
    <dgm:cxn modelId="{2594B841-6A00-4E01-8239-C7762029CA0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F313511-A882-4FD8-8CD7-EE07DA30632F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7B4EC45C-D9FC-4E59-AFF9-71DFEAD14C6D}" type="presOf" srcId="{BAC7D273-E5EE-4038-A5C1-6C6F5ACB0D03}" destId="{6A0ADE0C-E6D1-4D81-9931-771EEA7AFED4}" srcOrd="0" destOrd="0" presId="urn:microsoft.com/office/officeart/2005/8/layout/chevron1"/>
    <dgm:cxn modelId="{8B420D4D-CBD4-4EB4-9952-BF3598BE3FBA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A2B948B-2BC4-4303-A3C4-9910C8AAFD74}" type="presOf" srcId="{18D87F5F-42AD-4E9F-A6E6-7FE3973FD35E}" destId="{D3AB7C3D-A810-418A-9680-2D5C0886B87C}" srcOrd="0" destOrd="0" presId="urn:microsoft.com/office/officeart/2005/8/layout/chevron1"/>
    <dgm:cxn modelId="{83A5F7A2-4AD2-4F5F-88F2-B60C4622A9DD}" type="presOf" srcId="{7AD4F92C-78BA-4F6E-810D-84BEE50C8241}" destId="{75D48B9B-99C3-4C15-8EAC-E9BA0DD14686}" srcOrd="0" destOrd="0" presId="urn:microsoft.com/office/officeart/2005/8/layout/chevron1"/>
    <dgm:cxn modelId="{662E96BB-DD21-47F8-A269-B169BB80E5B3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B2DB9EE0-144B-4596-80C7-382C82E59D5D}" type="presParOf" srcId="{75D48B9B-99C3-4C15-8EAC-E9BA0DD14686}" destId="{6A0ADE0C-E6D1-4D81-9931-771EEA7AFED4}" srcOrd="0" destOrd="0" presId="urn:microsoft.com/office/officeart/2005/8/layout/chevron1"/>
    <dgm:cxn modelId="{5D2DCFDB-C928-460D-9D0D-B368AAF744F8}" type="presParOf" srcId="{75D48B9B-99C3-4C15-8EAC-E9BA0DD14686}" destId="{065F6587-BE7F-4D0E-98E2-44771C09D7ED}" srcOrd="1" destOrd="0" presId="urn:microsoft.com/office/officeart/2005/8/layout/chevron1"/>
    <dgm:cxn modelId="{24ADDB57-7299-472E-9A3D-B6358B2FD793}" type="presParOf" srcId="{75D48B9B-99C3-4C15-8EAC-E9BA0DD14686}" destId="{D3AB7C3D-A810-418A-9680-2D5C0886B87C}" srcOrd="2" destOrd="0" presId="urn:microsoft.com/office/officeart/2005/8/layout/chevron1"/>
    <dgm:cxn modelId="{0B3F037C-5245-4431-93A5-D0DFCD4991BF}" type="presParOf" srcId="{75D48B9B-99C3-4C15-8EAC-E9BA0DD14686}" destId="{45F0D139-CE00-4B67-92DF-948F9E3DF760}" srcOrd="3" destOrd="0" presId="urn:microsoft.com/office/officeart/2005/8/layout/chevron1"/>
    <dgm:cxn modelId="{0185A9D8-DD5D-4F38-865F-386324CAE524}" type="presParOf" srcId="{75D48B9B-99C3-4C15-8EAC-E9BA0DD14686}" destId="{85F4B451-0FD0-42C8-80A0-3D70971ED446}" srcOrd="4" destOrd="0" presId="urn:microsoft.com/office/officeart/2005/8/layout/chevron1"/>
    <dgm:cxn modelId="{906F7AA6-6CEB-4F8A-A388-478AC32AEEB3}" type="presParOf" srcId="{75D48B9B-99C3-4C15-8EAC-E9BA0DD14686}" destId="{0CEB3E5A-3F2D-44D0-8A0A-14BD5AE928A8}" srcOrd="5" destOrd="0" presId="urn:microsoft.com/office/officeart/2005/8/layout/chevron1"/>
    <dgm:cxn modelId="{2629E3FC-9EA2-4F19-8CCA-15EF45E90840}" type="presParOf" srcId="{75D48B9B-99C3-4C15-8EAC-E9BA0DD14686}" destId="{679CE53B-3AB7-4DE6-AD51-84FD8C46EB46}" srcOrd="6" destOrd="0" presId="urn:microsoft.com/office/officeart/2005/8/layout/chevron1"/>
    <dgm:cxn modelId="{923912C4-436C-47B6-AB99-859F8AB53EF7}" type="presParOf" srcId="{75D48B9B-99C3-4C15-8EAC-E9BA0DD14686}" destId="{05FDF251-92B6-480C-82BC-68646E838DF3}" srcOrd="7" destOrd="0" presId="urn:microsoft.com/office/officeart/2005/8/layout/chevron1"/>
    <dgm:cxn modelId="{2594B841-6A00-4E01-8239-C7762029CA0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D</a:t>
          </a: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/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/>
        </a:p>
      </dgm:t>
    </dgm:pt>
    <dgm:pt modelId="{A2AEA16E-49B1-4DC9-8223-ADFEC1D6E88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I</a:t>
          </a: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/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/>
        </a:p>
      </dgm:t>
    </dgm:pt>
    <dgm:pt modelId="{8A0BB1E1-EFC2-4F85-98F9-1806732424F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C</a:t>
          </a: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/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/>
        </a:p>
      </dgm:t>
    </dgm:pt>
    <dgm:pt modelId="{18D87F5F-42AD-4E9F-A6E6-7FE3973FD35E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M</a:t>
          </a: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/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/>
        </a:p>
      </dgm:t>
    </dgm:pt>
    <dgm:pt modelId="{9E4E745E-2470-477B-9DC0-E82B38E47448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>
          <a:solidFill>
            <a:schemeClr val="tx1"/>
          </a:solidFill>
        </a:ln>
      </dgm:spPr>
      <dgm:t>
        <a:bodyPr/>
        <a:lstStyle/>
        <a:p>
          <a:r>
            <a:rPr lang="en-US" dirty="0"/>
            <a:t>A</a:t>
          </a: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/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/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F313511-A882-4FD8-8CD7-EE07DA30632F}" type="presOf" srcId="{9E4E745E-2470-477B-9DC0-E82B38E47448}" destId="{85F4B451-0FD0-42C8-80A0-3D70971ED4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7B4EC45C-D9FC-4E59-AFF9-71DFEAD14C6D}" type="presOf" srcId="{BAC7D273-E5EE-4038-A5C1-6C6F5ACB0D03}" destId="{6A0ADE0C-E6D1-4D81-9931-771EEA7AFED4}" srcOrd="0" destOrd="0" presId="urn:microsoft.com/office/officeart/2005/8/layout/chevron1"/>
    <dgm:cxn modelId="{8B420D4D-CBD4-4EB4-9952-BF3598BE3FBA}" type="presOf" srcId="{8A0BB1E1-EFC2-4F85-98F9-1806732424FD}" destId="{8B532F1F-7985-410D-8F23-17546AA96819}" srcOrd="0" destOrd="0" presId="urn:microsoft.com/office/officeart/2005/8/layout/chevron1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CA2B948B-2BC4-4303-A3C4-9910C8AAFD74}" type="presOf" srcId="{18D87F5F-42AD-4E9F-A6E6-7FE3973FD35E}" destId="{D3AB7C3D-A810-418A-9680-2D5C0886B87C}" srcOrd="0" destOrd="0" presId="urn:microsoft.com/office/officeart/2005/8/layout/chevron1"/>
    <dgm:cxn modelId="{83A5F7A2-4AD2-4F5F-88F2-B60C4622A9DD}" type="presOf" srcId="{7AD4F92C-78BA-4F6E-810D-84BEE50C8241}" destId="{75D48B9B-99C3-4C15-8EAC-E9BA0DD14686}" srcOrd="0" destOrd="0" presId="urn:microsoft.com/office/officeart/2005/8/layout/chevron1"/>
    <dgm:cxn modelId="{662E96BB-DD21-47F8-A269-B169BB80E5B3}" type="presOf" srcId="{A2AEA16E-49B1-4DC9-8223-ADFEC1D6E88A}" destId="{679CE53B-3AB7-4DE6-AD51-84FD8C46EB46}" srcOrd="0" destOrd="0" presId="urn:microsoft.com/office/officeart/2005/8/layout/chevron1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B2DB9EE0-144B-4596-80C7-382C82E59D5D}" type="presParOf" srcId="{75D48B9B-99C3-4C15-8EAC-E9BA0DD14686}" destId="{6A0ADE0C-E6D1-4D81-9931-771EEA7AFED4}" srcOrd="0" destOrd="0" presId="urn:microsoft.com/office/officeart/2005/8/layout/chevron1"/>
    <dgm:cxn modelId="{5D2DCFDB-C928-460D-9D0D-B368AAF744F8}" type="presParOf" srcId="{75D48B9B-99C3-4C15-8EAC-E9BA0DD14686}" destId="{065F6587-BE7F-4D0E-98E2-44771C09D7ED}" srcOrd="1" destOrd="0" presId="urn:microsoft.com/office/officeart/2005/8/layout/chevron1"/>
    <dgm:cxn modelId="{24ADDB57-7299-472E-9A3D-B6358B2FD793}" type="presParOf" srcId="{75D48B9B-99C3-4C15-8EAC-E9BA0DD14686}" destId="{D3AB7C3D-A810-418A-9680-2D5C0886B87C}" srcOrd="2" destOrd="0" presId="urn:microsoft.com/office/officeart/2005/8/layout/chevron1"/>
    <dgm:cxn modelId="{0B3F037C-5245-4431-93A5-D0DFCD4991BF}" type="presParOf" srcId="{75D48B9B-99C3-4C15-8EAC-E9BA0DD14686}" destId="{45F0D139-CE00-4B67-92DF-948F9E3DF760}" srcOrd="3" destOrd="0" presId="urn:microsoft.com/office/officeart/2005/8/layout/chevron1"/>
    <dgm:cxn modelId="{0185A9D8-DD5D-4F38-865F-386324CAE524}" type="presParOf" srcId="{75D48B9B-99C3-4C15-8EAC-E9BA0DD14686}" destId="{85F4B451-0FD0-42C8-80A0-3D70971ED446}" srcOrd="4" destOrd="0" presId="urn:microsoft.com/office/officeart/2005/8/layout/chevron1"/>
    <dgm:cxn modelId="{906F7AA6-6CEB-4F8A-A388-478AC32AEEB3}" type="presParOf" srcId="{75D48B9B-99C3-4C15-8EAC-E9BA0DD14686}" destId="{0CEB3E5A-3F2D-44D0-8A0A-14BD5AE928A8}" srcOrd="5" destOrd="0" presId="urn:microsoft.com/office/officeart/2005/8/layout/chevron1"/>
    <dgm:cxn modelId="{2629E3FC-9EA2-4F19-8CCA-15EF45E90840}" type="presParOf" srcId="{75D48B9B-99C3-4C15-8EAC-E9BA0DD14686}" destId="{679CE53B-3AB7-4DE6-AD51-84FD8C46EB46}" srcOrd="6" destOrd="0" presId="urn:microsoft.com/office/officeart/2005/8/layout/chevron1"/>
    <dgm:cxn modelId="{923912C4-436C-47B6-AB99-859F8AB53EF7}" type="presParOf" srcId="{75D48B9B-99C3-4C15-8EAC-E9BA0DD14686}" destId="{05FDF251-92B6-480C-82BC-68646E838DF3}" srcOrd="7" destOrd="0" presId="urn:microsoft.com/office/officeart/2005/8/layout/chevron1"/>
    <dgm:cxn modelId="{2594B841-6A00-4E01-8239-C7762029CA0B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911" y="146297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</a:t>
          </a:r>
        </a:p>
      </dsp:txBody>
      <dsp:txXfrm>
        <a:off x="163192" y="146297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</a:t>
          </a: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</a:t>
          </a: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</a:t>
          </a: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</a:t>
          </a:r>
        </a:p>
      </dsp:txBody>
      <dsp:txXfrm>
        <a:off x="3084254" y="146297"/>
        <a:ext cx="486844" cy="324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2330A-8D0C-445B-8B20-23313C7DE24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B48F-E3FC-40BF-BD3F-3260D120A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3965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5588429-511D-4A72-A1D4-C32335397616}" type="datetimeFigureOut">
              <a:rPr lang="ko-KR" altLang="en-US"/>
              <a:pPr>
                <a:defRPr/>
              </a:pPr>
              <a:t>2026-10-07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7375BCD-8584-40B1-BC96-764EEABFA73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337756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12788" y="746125"/>
            <a:ext cx="5380037" cy="3725863"/>
          </a:xfrm>
          <a:ln/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038" y="4722813"/>
            <a:ext cx="5445125" cy="4470400"/>
          </a:xfrm>
          <a:noFill/>
          <a:ln/>
        </p:spPr>
        <p:txBody>
          <a:bodyPr lIns="91742" tIns="45871" rIns="91742" bIns="45871"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Tôi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Nguyen Duc Long, team IVI LD.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Six Sigma Green Belt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tôi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Luminance value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Porsche CID J1 Dual,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DMAIC.</a:t>
            </a:r>
            <a:endParaRPr lang="ko-KR" altLang="en-US" dirty="0"/>
          </a:p>
        </p:txBody>
      </p:sp>
      <p:sp>
        <p:nvSpPr>
          <p:cNvPr id="19460" name="슬라이드 번호 개체 틀 3"/>
          <p:cNvSpPr txBox="1">
            <a:spLocks noGrp="1"/>
          </p:cNvSpPr>
          <p:nvPr/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742" tIns="45871" rIns="91742" bIns="45871" anchor="b"/>
          <a:lstStyle/>
          <a:p>
            <a:pPr algn="r" defTabSz="917575"/>
            <a:fld id="{507ACCBB-C431-42CE-B77B-8DA086166DDE}" type="slidenum">
              <a:rPr lang="ko-KR" altLang="en-US">
                <a:latin typeface="굴림" pitchFamily="50" charset="-127"/>
              </a:rPr>
              <a:pPr algn="r" defTabSz="917575"/>
              <a:t>1</a:t>
            </a:fld>
            <a:endParaRPr lang="en-US" altLang="ko-KR" dirty="0">
              <a:latin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871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24200" y="511175"/>
            <a:ext cx="3686175" cy="25511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993775" y="3235325"/>
            <a:ext cx="7951788" cy="3060700"/>
          </a:xfrm>
          <a:noFill/>
        </p:spPr>
        <p:txBody>
          <a:bodyPr wrap="square" lIns="90471" tIns="45234" rIns="90471" bIns="45234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 là tóm tắt dự án: mục tiêu giảm lỗi Luminance của J1 Dual từ 226.624 ppm xuống 0 ppm, Project Y là Luminance value với spec 800–2000, nhóm 4 người, thực hiện tại LGEVH.</a:t>
            </a:r>
            <a:endParaRPr lang="ko-KR" altLang="en-US" dirty="0"/>
          </a:p>
        </p:txBody>
      </p:sp>
      <p:sp>
        <p:nvSpPr>
          <p:cNvPr id="28676" name="슬라이드 번호 개체 틀 3"/>
          <p:cNvSpPr txBox="1">
            <a:spLocks noGrp="1"/>
          </p:cNvSpPr>
          <p:nvPr/>
        </p:nvSpPr>
        <p:spPr bwMode="auto">
          <a:xfrm>
            <a:off x="5634038" y="6465888"/>
            <a:ext cx="43037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71" tIns="45234" rIns="90471" bIns="45234" anchor="b"/>
          <a:lstStyle/>
          <a:p>
            <a:pPr algn="r" defTabSz="903288" eaLnBrk="0" latinLnBrk="0" hangingPunct="0"/>
            <a:fld id="{39B64D8B-A44D-4D7E-93C9-3A4A87537696}" type="slidenum">
              <a:rPr kumimoji="0" lang="ko-KR" altLang="en-US" sz="1200" b="1" smtClean="0">
                <a:solidFill>
                  <a:srgbClr val="000000"/>
                </a:solidFill>
                <a:latin typeface="Arial" panose="020B0604020202020204" pitchFamily="34" charset="0"/>
                <a:ea typeface="돋움" panose="020B0600000101010101" pitchFamily="50" charset="-127"/>
              </a:rPr>
              <a:pPr algn="r" defTabSz="903288" eaLnBrk="0" latinLnBrk="0" hangingPunct="0"/>
              <a:t>2</a:t>
            </a:fld>
            <a:endParaRPr kumimoji="0" lang="en-US" altLang="ko-KR" sz="1200" b="1">
              <a:solidFill>
                <a:srgbClr val="000000"/>
              </a:solidFill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465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22,7%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J1 Dual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Luminance,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Luminance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mềm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083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260.000 ppm lỗi, nhóm Machine chiếm 90,5% và riêng Luminance value chiếm 87,2%. Tôi chọn Luminance value làm Project Y vì lớn nhất và đo được. Nếu xử lý hết lỗi này thì tổng lỗi giảm còn 33.376 ppm.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909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 J1 Dual PPR RHD set gồm PID và CID; camera CS2000 nằm dưới PID, mũi tên đỏ hướng vào tâm màn PID; mũi tên hai đầu cho thấy camera di chuyển ngang giữa hai màn.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Issue (vấn đề): luminance đo ở màn PID thấp hơn trung bình các giá trị so sánh, nên kết quả test rơi dưới spec.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Luminance là độ sáng màn hình, đo bằng cd/m², spec 800 đến 2000. Camera CS2000 đo ở tâm màn PID. Project Y của tôi là chính giá trị luminance đo được.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829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b="0" i="0" u="none" strike="noStrike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Output level resolution: 0.01 Cd/m²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Trạm đo gồm máy tính chạy chương trình, bench điều khiển set, CANSIM mô phỏng tín hiệu xe và camera CS2000 đo luminance. Kết quả được gửi lên GMES.</a:t>
            </a:r>
            <a:endParaRPr lang="en-US" sz="105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4263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 đích.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Kiểm tra Station 1 có đo đúng (bias) và đo lặp lại tốt (repeatability) trên cùng một mẫu chuẩn hay không.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 dung trên slide.</a:t>
            </a:r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 làm: chọn Type 1, dùng 1 mẫu (golden sample, giá trị tham chiếu 910 Cd/m²) đo lặp 30 lần. H0: Bias = 0; H1: Bias ≠ 0.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 30 giá trị đo (No 1–30). Spec 800–2000; Reference 910; Resolution 0,01.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Probability Plot: Mean 911,1; SD 12,51; N 30; AD 0,404; p = 0,335 &gt; 0,05 nên dữ liệu xấp xỉ phân phối chuẩn (điều kiện của t-test).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 cáo Type 1 Gage Study: Run Chart cùng các đường Ref (910) và Ref ± 0,10 × Tol (790 và 1030); bảng thống kê: Mean 911,09; StDev 12,507; 6 × StDev = 75,044; Tolerance 1200; Bias 1,09; T 0,478; p 0,636; Cg 3,20; Cgk 3,17; %Var (Repeatability) 6,25%; %Var (Repeatability and Bias) 6,31%.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 p = 0,636 &gt; 0,05, không bác bỏ H0, tức là không có bias đáng kể (PASS); Cg 3,20 và Cgk 3,17 lớn hơn 1,33 (PASS); %Var 6,25% và 6,31% nhỏ hơn 10% (PASS); resolution 0,01 nhỏ hơn 5% tolerance. Kết luận: Station 1 đo được Luminance.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Tôi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chuẩn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910. Trung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911,09, bias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1,09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kê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 0,636). Cg 3,20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3,17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1,33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Station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 = 911,09 − 910 = 1,09. T = 1,09 / (12,507 / √30) = 0,478.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 = 0,2 × 1200 / (6 × 12,507) = 240 / 75,04 = 3,20.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(0,1 × 1200 − 1,09) / (3 × 12,507) = 118,91 / 37,52 = 3,17.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%Var (Repeatability) = 6 × 12,507 / 1200 = 6,25%. %Var (Repeatability and Bias) = 20 / 3,17 = 6,31%.</a:t>
            </a:r>
          </a:p>
          <a:p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2587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 p &lt; 0,05 bác bỏ H0, tức là có bias (FAIL); Cg 0,91 và Cgk 0,49 nhỏ hơn 1,33 (FAIL); %Var 21,99% và 40,63% lớn hơn 10% (FAIL). Thiết bị có vấn đề, đo không nhất quán (lặp lại kém và lệch thấp), cần cải tiến hệ thống đo.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 tính.</a:t>
            </a:r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 = 854,96 − 910 = −55,04, tức đọc thấp hơn thật khoảng 6%.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 = 240 / (6 × 43,982) = 0,91. Cgk = (120 − 55,04) / (3 × 43,982) = 0,49.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với Station 1: SD của Station 2 (43,98) lớn gấp khoảng 3,5 lần (12,51), tức là cùng một mẫu mà đọc dao động rất lớn.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 nói.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Cùng mẫu chuẩn 910 nhưng Station 2 đọc trung bình 855, thấp hơn 55, và dao động lớn (SD 44). Cg 0,91 và Cgk 0,49 đều dưới 1,33 nên hệ thống đo Station 2 không đạt. Vì vậy phải tìm nguyên nhân ở thiết bị đo chứ chưa vội kết luận sản phẩm lỗi.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4249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 đích.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sánh hai trạm trên cùng 30 mẫu để xem chúng có đo giống nhau không.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 dung trên slide.</a:t>
            </a:r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 30 cặp giá trị (cột Station 1, cột Station 2); spec 800–2000.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 quả Two-Sample T-Test 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(Minitab): Station 1 N 30, Mean 917,6, SD 22,3, SE 4,1; Station 2 N 30, Mean 897,2, SD 26,5, SE 4,8. Chênh lệch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μ1 − μ2 = 20,38; 95% 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(7,70; 33,05). H0: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μ1 − μ2 = 0; 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H1: khác 0. T = 3,22; DF = 56; p = 0,002. Phương pháp Welch (không giả định hai phương sai bằng nhau).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 hình: Individual Value Plot và Boxplot cho thấy Station 2 thấp hơn và rộng hơn.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 p = 0,002 nhỏ hơn 0,05 nên bác bỏ H0: hai trạm đo khác nhau. Kiểm tra bằng paired t (cùng 30 mẫu đo ở cả hai trạm): chênh trung bình 20,38; SD chênh 19,21; SE 3,51; t = 5,81; DF = 29; p &lt; 0,001, cùng kết luận.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 tính.</a:t>
            </a:r>
            <a:endParaRPr lang="vi-V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Welch: T = 20,38 / √(22,3² / 30 + 26,5² / 30) = 20,38 / 6,33 = 3,22.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Paired: t = 20,38 / (19,21 / √30) = 5,81. Hai cột có tương quan khoảng 0,70, nên paired t nhạy hơn vì loại bỏ được sự khác nhau giữa các mẫu.</a:t>
            </a:r>
          </a:p>
          <a:p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 trạm lệch nhau 20,4 Cd/m² (khoảng 2,2%).</a:t>
            </a:r>
          </a:p>
          <a:p>
            <a:r>
              <a:rPr lang="vi-V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 nói.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Cùng 30 mẫu nhưng Station 2 đọc thấp hơn Station 1 trung bình 20,4 Cd/m², khác biệt có ý nghĩa thống kê (p 0,002; paired t p dưới 0,001). Điều này khớp với kết quả Type 1 và cho thấy cần tìm nguyên nhân làm Station 2 đo sai.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algn="l"/>
            <a:endParaRPr lang="en-US" altLang="ja-JP" sz="600" dirty="0"/>
          </a:p>
          <a:p>
            <a:endParaRPr kumimoji="1" lang="ja-JP" altLang="en-US" sz="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044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H0 (ANOVA, part effect): all part means are equal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H1: at least one part mean is different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Follow AIAG guidelines: %Study Var and %Tolerance &lt; 10% = acceptable, 10-30% = conditionally acceptable, &gt; 30% = unacceptable; %Contribution &lt; 1% = acceptable, &gt; 9% = unacceptable. Here %Contribution (71.56%) and %Study Var (84.59%) are far above the limits and NDC = 1 &lt; 5, so the measurement system is NOT acceptable (only %Tolerance = 8.33% is below 10%). The ANOVA p-value (0.077 &gt; 0.05) also shows that the 25 selected parts cannot be distinguished from the repeatability error.</a:t>
            </a:r>
          </a:p>
          <a:p>
            <a:pPr algn="l"/>
            <a:endParaRPr lang="en-US" altLang="ja-JP" sz="100" dirty="0"/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돋움" pitchFamily="50" charset="-127"/>
              </a:rPr>
              <a:t>NDC (number of distinct categories): the number of groups of parts the measurement system can reliably distinguish; NDC ≥ 5 is required.</a:t>
            </a:r>
            <a:endParaRPr kumimoji="1" lang="en-US" altLang="ja-JP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algn="l"/>
            <a:endParaRPr lang="en-US" altLang="ja-JP" sz="600" dirty="0"/>
          </a:p>
          <a:p>
            <a:endParaRPr kumimoji="1" lang="ja-JP" altLang="en-US" sz="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0854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706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49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6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6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218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78F89C-25FB-47FE-9A04-A7BE919D459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091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819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Assess the variation of each source and of any additional factor that affects the measurement system.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H0 (ANOVA, part effect): all part means are equal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H1: at least one part mean is different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VarComp %Contribution: almost all of the variation comes from part-to-part, so the measurement system can reliably distinguish between parts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%Study var: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 the measurement system variation to the total variation</a:t>
            </a:r>
            <a:endParaRPr kumimoji="1" lang="en-US" altLang="ja-JP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Follow AIAG guidelines: if %Study Var and %Tolerance are below 10% (and %Contribution below 1%), the measurement system is acceptable. Here all three are below the limits and NDC ≥ 5, so the measurement system is Good.</a:t>
            </a:r>
          </a:p>
          <a:p>
            <a:pPr algn="l"/>
            <a:endParaRPr lang="en-US" altLang="ja-JP" sz="600" dirty="0"/>
          </a:p>
          <a:p>
            <a:endParaRPr kumimoji="1" lang="ja-JP" altLang="en-US" sz="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0442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Assess the variation of each source and of any additional factor that affects the measurement system.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H0 (ANOVA, part effect): all part means are equal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H1: at least one part mean is different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VarComp %Contribution: almost all of the variation comes from part-to-part, so the measurement system can reliably distinguish between parts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%Study var: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 the measurement system variation to the total variation</a:t>
            </a:r>
            <a:endParaRPr kumimoji="1" lang="en-US" altLang="ja-JP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Follow AIAG guidelines: if %Study Var and %Tolerance are below 10% (and %Contribution below 1%), the measurement system is acceptable. Here all three are below the limits and NDC ≥ 5, so the measurement system is Good.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3729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Examine the R chart to determine whether the process variation is in control</a:t>
                </a:r>
              </a:p>
              <a:p>
                <a:r>
                  <a:rPr kumimoji="1" lang="en-US" altLang="ja-JP" dirty="0"/>
                  <a:t>Examine the Xbar chart to determine whether the process mean is in control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altLang="ja-JP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altLang="ja-JP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altLang="ja-JP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 những sample được lấy là giống hệt nhau, chỉ tồn tại chance cause (nguyên nhân ngẫu nhiên) trong mỗi nhóm.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altLang="ja-JP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dirty="0" smtClean="0"/>
                  <a:t>How to choose samples for process capability? Take n consecutive units from each lot (n ≤ 5) at fixed time intervals, e.g. every 2 hours over several consecutive days. Purpose: the conditions of the units in one subgroup are the same, so only common-cause (chance) variation exists within the subgroup. Why n ≤ 5? From the 6th unit onwards the conditions are no longer the same as for the first unit.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3. Why use a control chart? A control chart is used to detect abnormal behavior of the process at an early stage.</a:t>
                </a:r>
                <a:endParaRPr lang="en-US" altLang="ja-JP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4101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altLang="ja-JP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altLang="ja-JP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altLang="ja-JP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 những sample được lấy là giống hệt nhau, chỉ tồn tại chance cause (nguyên nhân ngẫu nhiên) trong mỗi nhóm.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altLang="ja-JP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dirty="0" smtClean="0"/>
                  <a:t>How to choose samples for process capability? Take n consecutive units from each lot (n ≤ 5) at fixed time intervals, e.g. every 2 hours over several consecutive days. Purpose: the conditions of the units in one subgroup are the same, so only common-cause (chance) variation exists within the subgroup. Why n ≤ 5? From the 6th unit onwards the conditions are no longer the same as for the first unit.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3. Why use a control chart? A control chart is used to detect abnormal behavior of the process at an early stage.</a:t>
                </a:r>
                <a:endParaRPr lang="en-US" altLang="ja-JP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972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dirty="0"/>
                  <a:t>To evaluate process capability:</a:t>
                </a:r>
              </a:p>
              <a:p>
                <a:r>
                  <a:rPr kumimoji="1" lang="en-US" altLang="ja-JP" dirty="0"/>
                  <a:t>Check that the data fit the (normal) distribution.</a:t>
                </a:r>
              </a:p>
              <a:p>
                <a:r>
                  <a:rPr kumimoji="1" lang="en-US" altLang="ja-JP" dirty="0"/>
                  <a:t>Check whether the solid (overall) curve fits closely with the dashed (within) curve.</a:t>
                </a:r>
              </a:p>
              <a:p>
                <a:r>
                  <a:rPr kumimoji="1" lang="en-US" altLang="ja-JP" dirty="0"/>
                  <a:t>Evaluate the capability from the performance indices (Pp, Ppk) and the potential capability indices (Cp, Cpk); compare Cpk with a benchmark value that is acceptable for the process.</a:t>
                </a:r>
              </a:p>
              <a:p>
                <a:r>
                  <a:rPr kumimoji="1" lang="en-US" altLang="ja-JP" dirty="0"/>
                  <a:t>Dash: within curve</a:t>
                </a:r>
              </a:p>
              <a:p>
                <a:r>
                  <a:rPr kumimoji="1" lang="en-US" altLang="ja-JP" dirty="0"/>
                  <a:t>Solid: overall curve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altLang="ja-JP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altLang="ja-JP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altLang="ja-JP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 những sample được lấy là giống hệt nhau, chỉ tồn tại chance cause (nguyên nhân ngẫu nhiên) trong mỗi nhóm.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altLang="ja-JP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dirty="0" smtClean="0"/>
                  <a:t>How to choose samples for process capability? Take n consecutive units from each lot (n ≤ 5) at fixed time intervals, e.g. every 2 hours over several consecutive days. Purpose: the conditions of the units in one subgroup are the same, so only common-cause (chance) variation exists within the subgroup. Why n ≤ 5? From the 6th unit onwards the conditions are no longer the same as for the first unit.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3. Why use a control chart? A control chart is used to detect abnormal behavior of the process at an early stage.</a:t>
                </a:r>
                <a:endParaRPr lang="en-US" altLang="ja-JP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9089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b="0" dirty="0" err="1"/>
                  <a:t>Zst: within (short-term), Zlt: overall (long-term). The short-term process capability (Zst) represents the best capability of the current process. Zlt represents the process capability from the customer’s perspective.</a:t>
                </a:r>
              </a:p>
              <a:p>
                <a:r>
                  <a:rPr kumimoji="1" lang="en-US" altLang="ja-JP" b="0" dirty="0"/>
                  <a:t>Over time the quality deteriorates because of tool and equipment wear, variation between workers and changes of environment. Zshift = Zst − Zlt indicates the degree of deterioration; a shift of about 1.0 to 1.5 is typical. If Zshift is greater than 1.5, management (control) is judged not good; if Zshift is less than 1.5, management is judged good.</a:t>
                </a:r>
              </a:p>
              <a:p>
                <a:r>
                  <a:rPr kumimoji="1" lang="en-US" altLang="ja-JP" b="0" dirty="0" err="1"/>
                  <a:t>Cpk</a:t>
                </a:r>
                <a:r>
                  <a:rPr kumimoji="1" lang="en-US" altLang="ja-JP" b="0" dirty="0"/>
                  <a:t> is a measure of the potential capability of the process and equals the minimum of CPU and CPL. </a:t>
                </a:r>
                <a:r>
                  <a:rPr kumimoji="1" lang="en-US" altLang="ja-JP" b="0" dirty="0" err="1"/>
                  <a:t>Cpk</a:t>
                </a:r>
                <a:r>
                  <a:rPr kumimoji="1" lang="en-US" altLang="ja-JP" b="0" dirty="0"/>
                  <a:t> is a ratio that compares two values:</a:t>
                </a:r>
              </a:p>
              <a:p>
                <a:r>
                  <a:rPr kumimoji="1" lang="en-US" altLang="ja-JP" b="0" dirty="0"/>
                  <a:t>The distance from the process mean to the closest specification limit (USL or LSL)</a:t>
                </a:r>
              </a:p>
              <a:p>
                <a:r>
                  <a:rPr kumimoji="1" lang="en-US" altLang="ja-JP" b="0" dirty="0"/>
                  <a:t>The one-sided spread of the process (the 3-σ variation) based on the within-subgroup standard deviation</a:t>
                </a:r>
              </a:p>
              <a:p>
                <a:r>
                  <a:rPr kumimoji="1" lang="en-US" altLang="ja-JP" b="0" dirty="0" err="1"/>
                  <a:t>Cpk</a:t>
                </a:r>
                <a:r>
                  <a:rPr kumimoji="1" lang="en-US" altLang="ja-JP" b="0" dirty="0"/>
                  <a:t> considers both the location and the variation (within subgroups) of the process.</a:t>
                </a:r>
                <a:endParaRPr kumimoji="1" lang="ja-JP" altLang="en-US" b="0" dirty="0"/>
              </a:p>
              <a:p>
                <a:endParaRPr kumimoji="1" lang="ja-JP" altLang="en-US" b="0" dirty="0"/>
              </a:p>
              <a:p>
                <a:endParaRPr kumimoji="1" lang="ja-JP" altLang="en-US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altLang="ja-JP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altLang="ja-JP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altLang="ja-JP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 những sample được lấy là giống hệt nhau, chỉ tồn tại chance cause (nguyên nhân ngẫu nhiên) trong mỗi nhóm.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altLang="ja-JP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dirty="0" smtClean="0"/>
                  <a:t>How to choose samples for process capability? Take n consecutive units from each lot (n ≤ 5) at fixed time intervals, e.g. every 2 hours over several consecutive days. Purpose: the conditions of the units in one subgroup are the same, so only common-cause (chance) variation exists within the subgroup. Why n ≤ 5? From the 6th unit onwards the conditions are no longer the same as for the first unit.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3. Why use a control chart? A control chart is used to detect abnormal behavior of the process at an early stage.</a:t>
                </a:r>
                <a:endParaRPr lang="en-US" altLang="ja-JP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7089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altLang="ja-JP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altLang="ja-JP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altLang="ja-JP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 những sample được lấy là giống hệt nhau, chỉ tồn tại chance cause (nguyên nhân ngẫu nhiên) trong mỗi nhóm.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altLang="ja-JP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dirty="0" smtClean="0"/>
                  <a:t>How to choose samples for process capability? Take n consecutive units from each lot (n ≤ 5) at fixed time intervals, e.g. every 2 hours over several consecutive days. Purpose: the conditions of the units in one subgroup are the same, so only common-cause (chance) variation exists within the subgroup. Why n ≤ 5? From the 6th unit onwards the conditions are no longer the same as for the first unit.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3. Why use a control chart? A control chart is used to detect abnormal behavior of the process at an early stage.</a:t>
                </a:r>
                <a:endParaRPr lang="en-US" altLang="ja-JP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62332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b="1" dirty="0" err="1"/>
                  <a:t>Zst: within (short-term), Zlt: overall (long-term). The short-term process capability (Zst) represents the best capability of the current process. Zlt represents the process capability from the customer’s perspective.</a:t>
                </a:r>
              </a:p>
              <a:p>
                <a:r>
                  <a:rPr kumimoji="1" lang="en-US" altLang="ja-JP" b="1" dirty="0"/>
                  <a:t>Over time the quality deteriorates because of tool and equipment wear, variation between workers and changes of environment. Zshift = Zst − Zlt indicates the degree of deterioration; a shift of about 1.0 to 1.5 is typical. If Zshift is greater than 1.5, management (control) is judged not good; if Zshift is less than 1.5, management is judged good.</a:t>
                </a:r>
              </a:p>
              <a:p>
                <a:r>
                  <a:rPr kumimoji="1" lang="en-US" altLang="ja-JP" dirty="0" err="1"/>
                  <a:t>Cpk</a:t>
                </a:r>
                <a:r>
                  <a:rPr kumimoji="1" lang="en-US" altLang="ja-JP" dirty="0"/>
                  <a:t> is a measure of the potential capability of the process and equals the minimum of CPU and CPL. </a:t>
                </a:r>
                <a:r>
                  <a:rPr kumimoji="1" lang="en-US" altLang="ja-JP" dirty="0" err="1"/>
                  <a:t>Cpk</a:t>
                </a:r>
                <a:r>
                  <a:rPr kumimoji="1" lang="en-US" altLang="ja-JP" dirty="0"/>
                  <a:t> is a ratio that compares two values:</a:t>
                </a:r>
              </a:p>
              <a:p>
                <a:r>
                  <a:rPr kumimoji="1" lang="en-US" altLang="ja-JP" dirty="0"/>
                  <a:t>The distance from the process mean to the closest specification limit (USL or LSL)</a:t>
                </a:r>
              </a:p>
              <a:p>
                <a:r>
                  <a:rPr kumimoji="1" lang="en-US" altLang="ja-JP" dirty="0"/>
                  <a:t>The one-sided spread of the process (the 3-σ variation) based on the within-subgroup standard deviation</a:t>
                </a:r>
              </a:p>
              <a:p>
                <a:r>
                  <a:rPr kumimoji="1" lang="en-US" altLang="ja-JP" dirty="0" err="1"/>
                  <a:t>Cpk</a:t>
                </a:r>
                <a:r>
                  <a:rPr kumimoji="1" lang="en-US" altLang="ja-JP" dirty="0"/>
                  <a:t> considers both the location and the variation (within subgroups) of the process.</a:t>
                </a:r>
                <a:endParaRPr kumimoji="1" lang="ja-JP" altLang="en-US" dirty="0"/>
              </a:p>
              <a:p>
                <a:endParaRPr kumimoji="1" lang="ja-JP" altLang="en-US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1. How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to </a:t>
                </a:r>
                <a:r>
                  <a:rPr kumimoji="1" lang="en-US" altLang="ja-JP" sz="1200" b="1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select sample for Process Capability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?</a:t>
                </a:r>
                <a:r>
                  <a:rPr kumimoji="1" lang="en-US" altLang="ja-JP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Select by </a:t>
                </a:r>
                <a:r>
                  <a:rPr lang="en-US" altLang="ja-JP" sz="1200" b="1" dirty="0" smtClean="0">
                    <a:latin typeface="Arial" charset="0"/>
                    <a:ea typeface="돋움" pitchFamily="50" charset="-127"/>
                  </a:rPr>
                  <a:t>Rational subgroup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–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Lấy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theo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lot, n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liền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nhau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của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mỗi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lot (n&lt;=5),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khoảng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thời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gian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cố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định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Vd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: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cách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2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một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lần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trong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ngày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liên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tiếp</a:t>
                </a:r>
                <a:endParaRPr lang="en-US" altLang="ja-JP" sz="1200" dirty="0" smtClean="0">
                  <a:latin typeface="Arial" charset="0"/>
                  <a:ea typeface="돋움" pitchFamily="50" charset="-127"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Mục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đích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: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để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đảm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bảo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điều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kiện</a:t>
                </a:r>
                <a:r>
                  <a:rPr kumimoji="1" lang="en-US" altLang="ja-JP" sz="1200" b="0" i="0" u="none" strike="noStrike" cap="none" normalizeH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1" lang="en-US" altLang="ja-JP" sz="1200" b="0" i="0" u="none" strike="noStrike" cap="none" normalizeH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돋움" pitchFamily="50" charset="-127"/>
                  </a:rPr>
                  <a:t>của những sample được lấy là giống hệt nhau, chỉ tồn tại chance cause (nguyên nhân ngẫu nhiên) trong mỗi nhóm.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Tại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sao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n &lt;= 5?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Vì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từ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thứ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6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trở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không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đảm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bảo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điều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kiện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giống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như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con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đầu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tiên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 </a:t>
                </a:r>
                <a:r>
                  <a:rPr lang="en-US" altLang="ja-JP" sz="1200" dirty="0" err="1" smtClean="0">
                    <a:latin typeface="Arial" charset="0"/>
                    <a:ea typeface="돋움" pitchFamily="50" charset="-127"/>
                  </a:rPr>
                  <a:t>nữa</a:t>
                </a: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.</a:t>
                </a:r>
                <a:endParaRPr kumimoji="1" lang="en-US" altLang="ja-JP" sz="1200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342900" marR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dirty="0" smtClean="0"/>
                  <a:t>How to choose samples for process capability? Take n consecutive units from each lot (n ≤ 5) at fixed time intervals, e.g. every 2 hours over several consecutive days. Purpose: the conditions of the units in one subgroup are the same, so only common-cause (chance) variation exists within the subgroup. Why n ≤ 5? From the 6th unit onwards the conditions are no longer the same as for the first unit.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en-US" altLang="ja-JP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돋움" pitchFamily="50" charset="-127"/>
                </a:endParaRPr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ja-JP" sz="1200" dirty="0" smtClean="0">
                    <a:latin typeface="Arial" charset="0"/>
                    <a:ea typeface="돋움" pitchFamily="50" charset="-127"/>
                  </a:rPr>
                  <a:t>3. Why use a control chart? A control chart is used to detect abnormal behavior of the process at an early stage.</a:t>
                </a:r>
                <a:endParaRPr lang="en-US" altLang="ja-JP" sz="1200" baseline="0" dirty="0" smtClean="0">
                  <a:latin typeface="Arial" charset="0"/>
                  <a:ea typeface="돋움" pitchFamily="50" charset="-127"/>
                </a:endParaRP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375BCD-8584-40B1-BC96-764EEABFA733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53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제목을 입력 하세요</a:t>
            </a:r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28864" y="6542599"/>
            <a:ext cx="2133600" cy="293117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CCB65402-AEF5-4D26-A49C-7368E264DDA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47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4F093-85E3-4077-80AF-B10359088A98}" type="slidenum">
              <a:rPr lang="ko-KR" altLang="en-US" sz="1200">
                <a:solidFill>
                  <a:srgbClr val="000000"/>
                </a:solidFill>
                <a:latin typeface="Arial" charset="0"/>
                <a:ea typeface="돋움" pitchFamily="50" charset="-127"/>
              </a:rPr>
              <a:pPr>
                <a:defRPr/>
              </a:pPr>
              <a:t>‹#›</a:t>
            </a:fld>
            <a:endParaRPr lang="ko-KR" altLang="en-US" sz="120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539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0E64B-9113-4BE4-BEDA-1D3C752AD11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AF9C5-787B-4812-8641-4E431B513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253413" y="187325"/>
            <a:ext cx="914400" cy="91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49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C1232D1-D26A-4B9E-9F74-30AF75FEA22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7EEBFAC-7688-42D7-A474-447757C12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7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94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fld id="{9BFF983A-EC0A-4770-8E0B-A2C9B8B7F425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65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 하세요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D3A4A-DBC2-B460-D6E3-B6C54F1734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81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F0502020204030204" pitchFamily="34" charset="0"/>
                <a:ea typeface="Arial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94" r:id="rId1"/>
    <p:sldLayoutId id="2147485197" r:id="rId2"/>
    <p:sldLayoutId id="2147485201" r:id="rId3"/>
    <p:sldLayoutId id="2147485203" r:id="rId4"/>
    <p:sldLayoutId id="2147485204" r:id="rId5"/>
    <p:sldLayoutId id="2147485205" r:id="rId6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b="1">
          <a:solidFill>
            <a:schemeClr val="tx1"/>
          </a:solidFill>
          <a:latin typeface="+mn-lt"/>
          <a:ea typeface="돋움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charset="-127"/>
          <a:ea typeface="굴림" charset="-127"/>
        </a:defRPr>
      </a:lvl2pPr>
      <a:lvl3pPr marL="1147763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charset="-127"/>
          <a:ea typeface="굴림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charset="-127"/>
          <a:ea typeface="굴림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Worksheet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Presentation.pptx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PowerPoint_Presentation1.pptx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w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package" Target="../embeddings/Microsoft_Excel_Worksheet2.xlsx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61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62.png"/><Relationship Id="rId9" Type="http://schemas.microsoft.com/office/2007/relationships/diagramDrawing" Target="../diagrams/drawing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984375" y="764704"/>
            <a:ext cx="5992813" cy="1116012"/>
          </a:xfrm>
          <a:prstGeom prst="rect">
            <a:avLst/>
          </a:prstGeom>
          <a:solidFill>
            <a:srgbClr val="EAEAEA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2600" b="1" kern="0" dirty="0">
                <a:solidFill>
                  <a:sysClr val="windowText" lastClr="000000"/>
                </a:solidFill>
                <a:latin typeface="Arial" pitchFamily="50" charset="-127"/>
                <a:ea typeface="Arial" pitchFamily="50" charset="-127"/>
              </a:rPr>
              <a:t>6 Sigma Assignment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3B0D02-5891-4E36-BF6C-DBA735A890E7}"/>
              </a:ext>
            </a:extLst>
          </p:cNvPr>
          <p:cNvGrpSpPr/>
          <p:nvPr/>
        </p:nvGrpSpPr>
        <p:grpSpPr>
          <a:xfrm>
            <a:off x="3057475" y="2149003"/>
            <a:ext cx="3846611" cy="2700338"/>
            <a:chOff x="3122613" y="2564905"/>
            <a:chExt cx="3603625" cy="2519858"/>
          </a:xfrm>
        </p:grpSpPr>
        <p:sp>
          <p:nvSpPr>
            <p:cNvPr id="33" name="Rectangle 7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122613" y="2564905"/>
              <a:ext cx="3603625" cy="436842"/>
            </a:xfrm>
            <a:prstGeom prst="rect">
              <a:avLst/>
            </a:prstGeom>
            <a:solidFill>
              <a:srgbClr val="7B9A9F"/>
            </a:solidFill>
            <a:ln w="9525">
              <a:noFill/>
              <a:miter lim="800000"/>
              <a:headEnd/>
              <a:tailEnd/>
            </a:ln>
          </p:spPr>
          <p:txBody>
            <a:bodyPr lIns="89978" tIns="45709" rIns="89978" bIns="45709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800" b="1" kern="0">
                  <a:solidFill>
                    <a:srgbClr val="FFFFFF"/>
                  </a:solidFill>
                  <a:latin typeface="Arial" pitchFamily="50" charset="-127"/>
                  <a:ea typeface="Arial" pitchFamily="50" charset="-127"/>
                </a:rPr>
                <a:t>Contents</a:t>
              </a:r>
              <a:endParaRPr kumimoji="0" lang="ko-KR" altLang="en-US" sz="18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Rectangle 8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122613" y="3009900"/>
              <a:ext cx="3603625" cy="2074863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808080"/>
              </a:solidFill>
              <a:miter lim="800000"/>
              <a:headEnd/>
              <a:tailEnd/>
            </a:ln>
          </p:spPr>
          <p:txBody>
            <a:bodyPr lIns="91417" tIns="45709" rIns="91417" bIns="45709" anchor="ctr"/>
            <a:lstStyle/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" pitchFamily="50" charset="-127"/>
                  <a:ea typeface="Arial" pitchFamily="50" charset="-127"/>
                </a:rPr>
                <a:t>1. Define</a:t>
              </a:r>
              <a:endParaRPr kumimoji="0" lang="ko-KR" altLang="en-US" sz="15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" pitchFamily="50" charset="-127"/>
                  <a:ea typeface="Arial" pitchFamily="50" charset="-127"/>
                </a:rPr>
                <a:t>2. Measure</a:t>
              </a:r>
              <a:endParaRPr kumimoji="0" lang="en-US" altLang="ko-KR" sz="1500" b="1" kern="0" dirty="0">
                <a:solidFill>
                  <a:srgbClr val="FFFFFF">
                    <a:lumMod val="65000"/>
                  </a:srgb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" pitchFamily="50" charset="-127"/>
                  <a:ea typeface="Arial" pitchFamily="50" charset="-127"/>
                </a:rPr>
                <a:t>3. Analyze</a:t>
              </a: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" pitchFamily="50" charset="-127"/>
                  <a:ea typeface="Arial" pitchFamily="50" charset="-127"/>
                </a:rPr>
                <a:t>4. Improve</a:t>
              </a:r>
            </a:p>
            <a:p>
              <a:pPr marL="984250" indent="184150" fontAlgn="auto" latinLnBrk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tabLst>
                  <a:tab pos="984250" algn="l"/>
                </a:tabLst>
                <a:defRPr/>
              </a:pPr>
              <a:r>
                <a:rPr kumimoji="0" lang="en-US" altLang="ko-KR" sz="1500" b="1" kern="0" dirty="0">
                  <a:solidFill>
                    <a:sysClr val="windowText" lastClr="000000"/>
                  </a:solidFill>
                  <a:latin typeface="Arial" pitchFamily="50" charset="-127"/>
                  <a:ea typeface="Arial" pitchFamily="50" charset="-127"/>
                </a:rPr>
                <a:t>5. Control</a:t>
              </a:r>
            </a:p>
          </p:txBody>
        </p:sp>
      </p:grpSp>
      <p:sp>
        <p:nvSpPr>
          <p:cNvPr id="10246" name="Text Box 9"/>
          <p:cNvSpPr txBox="1">
            <a:spLocks noChangeArrowheads="1"/>
          </p:cNvSpPr>
          <p:nvPr/>
        </p:nvSpPr>
        <p:spPr bwMode="auto">
          <a:xfrm>
            <a:off x="3325813" y="5117629"/>
            <a:ext cx="3197225" cy="830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/>
          <a:p>
            <a:pPr algn="ctr" eaLnBrk="1" latinLnBrk="0">
              <a:defRPr/>
            </a:pPr>
            <a:r>
              <a:rPr sz="1600" b="1" dirty="0">
                <a:latin typeface="Arial"/>
              </a:rPr>
              <a:t>202</a:t>
            </a:r>
            <a:r>
              <a:rPr lang="en-US" sz="1600" b="1" dirty="0">
                <a:latin typeface="Arial"/>
              </a:rPr>
              <a:t>6</a:t>
            </a:r>
            <a:r>
              <a:rPr sz="1600" b="1" dirty="0">
                <a:latin typeface="Arial"/>
              </a:rPr>
              <a:t>.</a:t>
            </a:r>
            <a:r>
              <a:rPr lang="en-US" sz="1600" b="1" dirty="0">
                <a:latin typeface="Arial"/>
              </a:rPr>
              <a:t>Sep</a:t>
            </a:r>
            <a:r>
              <a:rPr sz="1600" b="1" dirty="0">
                <a:latin typeface="Arial"/>
              </a:rPr>
              <a:t>.</a:t>
            </a:r>
            <a:r>
              <a:rPr lang="en-US" sz="1600" b="1" dirty="0">
                <a:latin typeface="Arial"/>
              </a:rPr>
              <a:t>23</a:t>
            </a:r>
            <a:endParaRPr sz="1600" b="1" dirty="0">
              <a:latin typeface="Arial Narrow"/>
            </a:endParaRPr>
          </a:p>
          <a:p>
            <a:pPr algn="ctr" eaLnBrk="1" latinLnBrk="0">
              <a:defRPr/>
            </a:pPr>
            <a:r>
              <a:rPr kumimoji="0" lang="en-US" altLang="ko-KR" sz="1600" b="1" kern="0" dirty="0">
                <a:solidFill>
                  <a:srgbClr val="333333"/>
                </a:solidFill>
                <a:latin typeface="Arial" panose="020B0606020202030204" pitchFamily="34" charset="0"/>
                <a:ea typeface="Arial" panose="020B0600000101010101" pitchFamily="50" charset="-127"/>
                <a:cs typeface="Arial" panose="020B0604020202020204" pitchFamily="34" charset="0"/>
              </a:rPr>
              <a:t>6 Sigma GB assignment</a:t>
            </a:r>
          </a:p>
          <a:p>
            <a:pPr algn="ctr" eaLnBrk="1" latinLnBrk="0">
              <a:defRPr/>
            </a:pPr>
            <a:r>
              <a:rPr sz="1600" b="1" dirty="0">
                <a:latin typeface="Arial"/>
              </a:rPr>
              <a:t>IVI LD – Nguyen Duc Long</a:t>
            </a:r>
          </a:p>
        </p:txBody>
      </p:sp>
    </p:spTree>
    <p:extLst>
      <p:ext uri="{BB962C8B-B14F-4D97-AF65-F5344CB8AC3E}">
        <p14:creationId xmlns:p14="http://schemas.microsoft.com/office/powerpoint/2010/main" val="278717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61212" y="76200"/>
            <a:ext cx="2935356" cy="3693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09" tIns="45705" rIns="91409" bIns="45705" anchor="ctr">
            <a:spAutoFit/>
          </a:bodyPr>
          <a:lstStyle/>
          <a:p>
            <a:pPr algn="ctr" eaLnBrk="1" latinLnBrk="0" hangingPunct="0">
              <a:buFont typeface="Wingdings" pitchFamily="2" charset="2"/>
              <a:buNone/>
            </a:pPr>
            <a:r>
              <a:rPr kumimoji="0" lang="en-US" altLang="ko-KR" sz="1000" u="sng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Six Sigma Project Register </a:t>
            </a:r>
            <a:endParaRPr kumimoji="0" lang="ko-KR" altLang="en-US" u="sng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75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76015"/>
              </p:ext>
            </p:extLst>
          </p:nvPr>
        </p:nvGraphicFramePr>
        <p:xfrm>
          <a:off x="7221832" y="106389"/>
          <a:ext cx="2557087" cy="657225"/>
        </p:xfrm>
        <a:graphic>
          <a:graphicData uri="http://schemas.openxmlformats.org/drawingml/2006/table">
            <a:tbl>
              <a:tblPr/>
              <a:tblGrid>
                <a:gridCol w="675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1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Team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IVI LD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Leader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Nguyen Dinh Huong TL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Owner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sz="1000" b="0" dirty="0">
                          <a:latin typeface="Arial"/>
                        </a:rPr>
                        <a:t>Nguyen Duc Long</a:t>
                      </a: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roup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57716"/>
              </p:ext>
            </p:extLst>
          </p:nvPr>
        </p:nvGraphicFramePr>
        <p:xfrm>
          <a:off x="120650" y="984162"/>
          <a:ext cx="9669509" cy="5797639"/>
        </p:xfrm>
        <a:graphic>
          <a:graphicData uri="http://schemas.openxmlformats.org/drawingml/2006/table">
            <a:tbl>
              <a:tblPr/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4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911">
                  <a:extLst>
                    <a:ext uri="{9D8B030D-6E8A-4147-A177-3AD203B41FA5}">
                      <a16:colId xmlns:a16="http://schemas.microsoft.com/office/drawing/2014/main" val="37779110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67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455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6833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Theme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  <a:sym typeface="Wingdings" pitchFamily="2" charset="2"/>
                        </a:rPr>
                        <a:t>Reduce defect rate </a:t>
                      </a:r>
                      <a:r>
                        <a:rPr kumimoji="1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</a:rPr>
                        <a:t>of </a:t>
                      </a:r>
                      <a:r>
                        <a:rPr kumimoji="1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  <a:sym typeface="Wingdings" pitchFamily="2" charset="2"/>
                        </a:rPr>
                        <a:t>Model Porsche CID J1 Dual </a:t>
                      </a:r>
                      <a:r>
                        <a:rPr kumimoji="1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</a:rPr>
                        <a:t>Luminance 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Period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</a:rPr>
                        <a:t>2026.Mar.0</a:t>
                      </a:r>
                      <a:r>
                        <a:rPr kumimoji="1" lang="en-US" altLang="ko-KR" sz="10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LG Smart_H Regular" pitchFamily="34" charset="-127"/>
                          <a:cs typeface="+mn-cs"/>
                        </a:rPr>
                        <a:t>9</a:t>
                      </a:r>
                      <a:r>
                        <a:rPr kumimoji="1" lang="en-US" altLang="ko-KR" sz="10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</a:rPr>
                        <a:t> ~ 2026.Sep.20</a:t>
                      </a:r>
                    </a:p>
                  </a:txBody>
                  <a:tcPr marL="90001" marR="90001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Task team name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Inspection Engineering Project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836"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Six Sigma Project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Improvement Goal (Stretch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Goal)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Idea of breaking the limit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055">
                <a:tc gridSpan="2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Improvement index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Current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World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Best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World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Best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Goal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810">
                <a:tc rowSpan="2" gridSpan="2">
                  <a:txBody>
                    <a:bodyPr/>
                    <a:lstStyle/>
                    <a:p>
                      <a:pPr algn="ctr" eaLnBrk="1" latinLnBrk="0"/>
                      <a:r>
                        <a:rPr lang="en-US" altLang="en-US" sz="1000" dirty="0"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Improve Luminance value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KPI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pitchFamily="34" charset="0"/>
                        </a:rPr>
                        <a:t>Defect rate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pitchFamily="34" charset="0"/>
                        </a:rPr>
                        <a:t>(ppm) 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dirty="0">
                          <a:solidFill>
                            <a:schemeClr val="tx1"/>
                          </a:solidFill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panose="020B0604020202020204" pitchFamily="34" charset="0"/>
                        </a:rPr>
                        <a:t>226,624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ppm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N/A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N/A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pitchFamily="34" charset="0"/>
                        </a:rPr>
                        <a:t>0 ppm</a:t>
                      </a: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0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</a:rPr>
                        <a:t>Teaching robot and change camera angle for detecting the central of PID</a:t>
                      </a:r>
                    </a:p>
                    <a:p>
                      <a:pPr marL="171450" marR="0" lvl="0" indent="-17145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0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0000101010101" pitchFamily="34" charset="-127"/>
                          <a:ea typeface="Arial" panose="020B0600000101010101" pitchFamily="34" charset="-127"/>
                          <a:cs typeface="+mn-cs"/>
                        </a:rPr>
                        <a:t>Make check sheet to control camera equipment</a:t>
                      </a:r>
                    </a:p>
                    <a:p>
                      <a:pPr marL="171450" marR="0" lvl="0" indent="-171450" algn="l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1" lang="en-US" altLang="ko-KR" sz="10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+mn-cs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62">
                <a:tc gridSpan="2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ProjectY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Luminance </a:t>
                      </a:r>
                    </a:p>
                    <a:p>
                      <a:pPr algn="ctr" eaLnBrk="1" latinLnBrk="0"/>
                      <a:r>
                        <a:rPr kumimoji="0" lang="en-US" altLang="ko-KR" sz="10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(800-2000Cd/m</a:t>
                      </a:r>
                      <a:r>
                        <a:rPr kumimoji="0" lang="en-US" altLang="ko-KR" sz="1000" b="0" i="1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2</a:t>
                      </a:r>
                      <a:r>
                        <a:rPr kumimoji="0" lang="en-US" altLang="ko-KR" sz="10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)</a:t>
                      </a:r>
                      <a:endParaRPr kumimoji="0" lang="ko-KR" altLang="en-US" sz="10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Cpk ≈ 0.25</a:t>
                      </a:r>
                    </a:p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(Z ≈ 0.75)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N/A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N/A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Cpk ≥ 1.33</a:t>
                      </a:r>
                    </a:p>
                    <a:p>
                      <a:pPr algn="ctr" eaLnBrk="1" latinLnBrk="0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(Z ≥ 4.0)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36000" marR="36000" marT="46801" marB="468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821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Management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Issue (Biz. Issue)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Implement Plan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(Fast &amp; Strong)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Task Member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045">
                <a:tc rowSpan="3" gridSpan="2">
                  <a:txBody>
                    <a:bodyPr/>
                    <a:lstStyle/>
                    <a:p>
                      <a:pPr marL="114300" indent="0" algn="l" eaLnBrk="1" fontAlgn="b" latinLnBrk="0">
                        <a:lnSpc>
                          <a:spcPct val="150000"/>
                        </a:lnSpc>
                        <a:buNone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-127"/>
                          <a:ea typeface="Arial" pitchFamily="34" charset="-127"/>
                          <a:cs typeface="Arial" pitchFamily="34" charset="0"/>
                          <a:sym typeface="Wingdings" pitchFamily="2" charset="2"/>
                        </a:rPr>
                        <a:t>- The Luminance issue affects the line UPH and causes loss time.</a:t>
                      </a:r>
                    </a:p>
                    <a:p>
                      <a:pPr marL="114300" indent="0" algn="l" eaLnBrk="1" fontAlgn="b" latinLnBrk="0">
                        <a:lnSpc>
                          <a:spcPct val="150000"/>
                        </a:lnSpc>
                        <a:buNone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-127"/>
                          <a:ea typeface="Arial" pitchFamily="34" charset="-127"/>
                          <a:cs typeface="Arial" pitchFamily="34" charset="0"/>
                          <a:sym typeface="Wingdings" pitchFamily="2" charset="2"/>
                        </a:rPr>
                        <a:t>- NG LCDs after retest are returned to the supplier (HEESUNG) for scrap, leading to IF cost, so an action is needed to eliminate this issue and improve factory performance.</a:t>
                      </a:r>
                    </a:p>
                    <a:p>
                      <a:pPr marL="114300" indent="0" algn="l" eaLnBrk="1" fontAlgn="b" latinLnBrk="0">
                        <a:lnSpc>
                          <a:spcPct val="150000"/>
                        </a:lnSpc>
                        <a:buNone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itchFamily="34" charset="-127"/>
                        <a:ea typeface="LG Smart_H Regular" pitchFamily="34" charset="-127"/>
                        <a:cs typeface="Arial" pitchFamily="34" charset="0"/>
                        <a:sym typeface="Wingdings" pitchFamily="2" charset="2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rowSpan="3" gridSpan="7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 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821">
                <a:tc gridSpan="2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Location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121">
                <a:tc gridSpan="2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LG Smart_H Regular" pitchFamily="34" charset="-127"/>
                          <a:cs typeface="Arial" panose="020B0604020202020204" pitchFamily="34" charset="0"/>
                        </a:rPr>
                        <a:t>LG Electronics Viet Nam-Hai Phong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821"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Qualitative Performance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Quantitative Performance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  <a:cs typeface="Arial" charset="0"/>
                        </a:rPr>
                        <a:t>Neck Point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20614">
                <a:tc gridSpan="2"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Improving smoothly testing process for sets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Reducing cost </a:t>
                      </a: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" panose="020B0600000101010101" pitchFamily="50" charset="-127"/>
                          <a:ea typeface="Arial" panose="020B0600000101010101" pitchFamily="50" charset="-127"/>
                          <a:cs typeface="Arial" charset="0"/>
                        </a:rPr>
                        <a:t>1 LCD part =118.72$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" panose="020B0600000101010101" pitchFamily="50" charset="-127"/>
                          <a:ea typeface="Arial" panose="020B0600000101010101" pitchFamily="50" charset="-127"/>
                          <a:cs typeface="Arial" charset="0"/>
                        </a:rPr>
                        <a:t>The scrap cost of Luminance issue on March: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" panose="020B0600000101010101" pitchFamily="50" charset="-127"/>
                          <a:ea typeface="Arial" panose="020B0600000101010101" pitchFamily="50" charset="-127"/>
                          <a:cs typeface="Arial" charset="0"/>
                        </a:rPr>
                        <a:t>19*118.72 = 2255.68$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Arial" panose="020B0600000101010101" pitchFamily="50" charset="-127"/>
                          <a:ea typeface="Arial" panose="020B0600000101010101" pitchFamily="50" charset="-127"/>
                          <a:cs typeface="Arial" charset="0"/>
                          <a:sym typeface="Wingdings" panose="05000000000000000000" pitchFamily="2" charset="2"/>
                        </a:rPr>
                        <a:t> Result: 0 NG / 420 sets after improvement</a:t>
                      </a:r>
                      <a:endParaRPr lang="en-US" altLang="ko-KR" sz="1000" b="0" dirty="0">
                        <a:solidFill>
                          <a:srgbClr val="00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0000101010101" pitchFamily="50" charset="-127"/>
                          <a:ea typeface="Arial" panose="020B0600000101010101" pitchFamily="50" charset="-127"/>
                          <a:cs typeface="Arial" charset="0"/>
                        </a:rPr>
                        <a:t>Because improvement action related to equipment, So need support from PE team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G Smart_H Regular" panose="020B0600000101010101" pitchFamily="34" charset="-127"/>
                        <a:ea typeface="LG Smart_H Regular" panose="020B0600000101010101" pitchFamily="34" charset="-127"/>
                        <a:cs typeface="Arial" charset="0"/>
                      </a:endParaRPr>
                    </a:p>
                  </a:txBody>
                  <a:tcPr marL="91421" marR="91421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552" name="직사각형 39"/>
          <p:cNvSpPr>
            <a:spLocks noChangeArrowheads="1"/>
          </p:cNvSpPr>
          <p:nvPr/>
        </p:nvSpPr>
        <p:spPr bwMode="auto">
          <a:xfrm>
            <a:off x="2714516" y="3335179"/>
            <a:ext cx="84350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0" hangingPunct="0"/>
            <a:r>
              <a:rPr kumimoji="0" lang="ko-KR" altLang="en-US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  <a:sym typeface="Wingdings" pitchFamily="2" charset="2"/>
              </a:rPr>
              <a:t> </a:t>
            </a: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Schedule</a:t>
            </a:r>
            <a:endParaRPr kumimoji="0" lang="ko-KR" altLang="en-US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9553" name="직사각형 40"/>
          <p:cNvSpPr>
            <a:spLocks noChangeArrowheads="1"/>
          </p:cNvSpPr>
          <p:nvPr/>
        </p:nvSpPr>
        <p:spPr bwMode="auto">
          <a:xfrm>
            <a:off x="2732062" y="3886200"/>
            <a:ext cx="4078288" cy="1804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0" hangingPunct="0">
              <a:lnSpc>
                <a:spcPts val="1500"/>
              </a:lnSpc>
              <a:buFont typeface="Wingdings" pitchFamily="2" charset="2"/>
              <a:buChar char="q"/>
            </a:pPr>
            <a:r>
              <a:rPr kumimoji="0" lang="ko-KR" alt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  <a:sym typeface="Wingdings" pitchFamily="2" charset="2"/>
              </a:rPr>
              <a:t> </a:t>
            </a: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  <a:sym typeface="Wingdings" pitchFamily="2" charset="2"/>
              </a:rPr>
              <a:t>Key activity / Output</a:t>
            </a:r>
          </a:p>
          <a:p>
            <a:pPr eaLnBrk="1" latinLnBrk="0" hangingPunct="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kumimoji="0" lang="ko-KR" alt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</a:t>
            </a: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D :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Define issue, </a:t>
            </a:r>
            <a:r>
              <a:rPr lang="en-US" sz="1000" kern="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d</a:t>
            </a:r>
            <a:r>
              <a:rPr lang="en-US" altLang="ko-KR" sz="1000" kern="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efine defect rate, collect defective sample and issue information</a:t>
            </a:r>
          </a:p>
          <a:p>
            <a:pPr eaLnBrk="1" latin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M :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Gage R&amp;R (Type 1, Type 3) to evaluate equipment</a:t>
            </a:r>
            <a:endParaRPr lang="en-US" sz="1000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latin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A :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Use logic tree and 5 Why to find root cause. </a:t>
            </a:r>
            <a:r>
              <a:rPr lang="en-GB" altLang="ko-KR" sz="1000" kern="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Test samples with different CANSIM, camera and camera angle</a:t>
            </a:r>
          </a:p>
          <a:p>
            <a:pPr eaLnBrk="1" latin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I :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Meeting with HQ IE to discuss improvement action. </a:t>
            </a:r>
            <a:r>
              <a:rPr lang="en-US" altLang="ko-KR" sz="1000" kern="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Correct camera angle to 90° and verify the result</a:t>
            </a:r>
            <a:endParaRPr kumimoji="0" lang="ko-KR" altLang="en-US" sz="1000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latinLnBrk="0" hangingPunct="0">
              <a:lnSpc>
                <a:spcPts val="1500"/>
              </a:lnSpc>
              <a:buFont typeface="Arial" charset="0"/>
              <a:buChar char="•"/>
            </a:pPr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C :</a:t>
            </a:r>
            <a:r>
              <a:rPr kumimoji="0" lang="ko-KR" alt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</a:t>
            </a:r>
            <a:r>
              <a:rPr lang="en-GB" altLang="ko-KR" sz="1000" kern="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Control by daily Master sample check; defect rate via GMES</a:t>
            </a:r>
          </a:p>
        </p:txBody>
      </p:sp>
      <p:sp>
        <p:nvSpPr>
          <p:cNvPr id="19554" name="AutoShape 110"/>
          <p:cNvSpPr>
            <a:spLocks noChangeArrowheads="1"/>
          </p:cNvSpPr>
          <p:nvPr/>
        </p:nvSpPr>
        <p:spPr bwMode="auto">
          <a:xfrm>
            <a:off x="2999259" y="3644131"/>
            <a:ext cx="576262" cy="288925"/>
          </a:xfrm>
          <a:prstGeom prst="homePlate">
            <a:avLst>
              <a:gd name="adj" fmla="val 4602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0" hangingPunct="0"/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D</a:t>
            </a:r>
          </a:p>
        </p:txBody>
      </p:sp>
      <p:sp>
        <p:nvSpPr>
          <p:cNvPr id="19555" name="AutoShape 111"/>
          <p:cNvSpPr>
            <a:spLocks noChangeArrowheads="1"/>
          </p:cNvSpPr>
          <p:nvPr/>
        </p:nvSpPr>
        <p:spPr bwMode="auto">
          <a:xfrm>
            <a:off x="3575521" y="3644131"/>
            <a:ext cx="577850" cy="288925"/>
          </a:xfrm>
          <a:prstGeom prst="homePlate">
            <a:avLst>
              <a:gd name="adj" fmla="val 4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0" hangingPunct="0"/>
            <a:r>
              <a:rPr kumimoji="0"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M</a:t>
            </a:r>
          </a:p>
        </p:txBody>
      </p:sp>
      <p:sp>
        <p:nvSpPr>
          <p:cNvPr id="19556" name="AutoShape 112"/>
          <p:cNvSpPr>
            <a:spLocks noChangeArrowheads="1"/>
          </p:cNvSpPr>
          <p:nvPr/>
        </p:nvSpPr>
        <p:spPr bwMode="auto">
          <a:xfrm>
            <a:off x="4151784" y="3644131"/>
            <a:ext cx="577850" cy="288925"/>
          </a:xfrm>
          <a:prstGeom prst="homePlate">
            <a:avLst>
              <a:gd name="adj" fmla="val 4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0" hangingPunct="0"/>
            <a:r>
              <a:rPr kumimoji="0"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A</a:t>
            </a:r>
          </a:p>
        </p:txBody>
      </p:sp>
      <p:sp>
        <p:nvSpPr>
          <p:cNvPr id="19557" name="AutoShape 117"/>
          <p:cNvSpPr>
            <a:spLocks noChangeArrowheads="1"/>
          </p:cNvSpPr>
          <p:nvPr/>
        </p:nvSpPr>
        <p:spPr bwMode="auto">
          <a:xfrm>
            <a:off x="4729634" y="3644131"/>
            <a:ext cx="577850" cy="288925"/>
          </a:xfrm>
          <a:prstGeom prst="homePlate">
            <a:avLst>
              <a:gd name="adj" fmla="val 4614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0" hangingPunct="0"/>
            <a:r>
              <a:rPr kumimoji="0"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I</a:t>
            </a:r>
          </a:p>
        </p:txBody>
      </p:sp>
      <p:sp>
        <p:nvSpPr>
          <p:cNvPr id="19558" name="AutoShape 118"/>
          <p:cNvSpPr>
            <a:spLocks noChangeArrowheads="1"/>
          </p:cNvSpPr>
          <p:nvPr/>
        </p:nvSpPr>
        <p:spPr bwMode="auto">
          <a:xfrm>
            <a:off x="5305896" y="3644131"/>
            <a:ext cx="576263" cy="288925"/>
          </a:xfrm>
          <a:prstGeom prst="homePlate">
            <a:avLst>
              <a:gd name="adj" fmla="val 4602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0" hangingPunct="0"/>
            <a:r>
              <a:rPr kumimoji="0"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C</a:t>
            </a:r>
          </a:p>
        </p:txBody>
      </p:sp>
      <p:sp>
        <p:nvSpPr>
          <p:cNvPr id="19559" name="Text Box 115"/>
          <p:cNvSpPr txBox="1">
            <a:spLocks noChangeArrowheads="1"/>
          </p:cNvSpPr>
          <p:nvPr/>
        </p:nvSpPr>
        <p:spPr bwMode="auto">
          <a:xfrm>
            <a:off x="3346990" y="3415531"/>
            <a:ext cx="3946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0" hangingPunct="0"/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3/9</a:t>
            </a:r>
          </a:p>
        </p:txBody>
      </p:sp>
      <p:sp>
        <p:nvSpPr>
          <p:cNvPr id="19560" name="Text Box 115"/>
          <p:cNvSpPr txBox="1">
            <a:spLocks noChangeArrowheads="1"/>
          </p:cNvSpPr>
          <p:nvPr/>
        </p:nvSpPr>
        <p:spPr bwMode="auto">
          <a:xfrm>
            <a:off x="3868590" y="3415531"/>
            <a:ext cx="3946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0" hangingPunct="0"/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4/1</a:t>
            </a:r>
          </a:p>
        </p:txBody>
      </p:sp>
      <p:sp>
        <p:nvSpPr>
          <p:cNvPr id="19561" name="Text Box 113"/>
          <p:cNvSpPr txBox="1">
            <a:spLocks noChangeArrowheads="1"/>
          </p:cNvSpPr>
          <p:nvPr/>
        </p:nvSpPr>
        <p:spPr bwMode="auto">
          <a:xfrm>
            <a:off x="4495800" y="3417119"/>
            <a:ext cx="3946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0" hangingPunct="0"/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5/1</a:t>
            </a:r>
          </a:p>
        </p:txBody>
      </p:sp>
      <p:sp>
        <p:nvSpPr>
          <p:cNvPr id="19562" name="Text Box 114"/>
          <p:cNvSpPr txBox="1">
            <a:spLocks noChangeArrowheads="1"/>
          </p:cNvSpPr>
          <p:nvPr/>
        </p:nvSpPr>
        <p:spPr bwMode="auto">
          <a:xfrm>
            <a:off x="5074121" y="3417119"/>
            <a:ext cx="47481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0" hangingPunct="0"/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5/19</a:t>
            </a:r>
          </a:p>
        </p:txBody>
      </p:sp>
      <p:sp>
        <p:nvSpPr>
          <p:cNvPr id="19563" name="Text Box 115"/>
          <p:cNvSpPr txBox="1">
            <a:spLocks noChangeArrowheads="1"/>
          </p:cNvSpPr>
          <p:nvPr/>
        </p:nvSpPr>
        <p:spPr bwMode="auto">
          <a:xfrm>
            <a:off x="5638800" y="3417119"/>
            <a:ext cx="47481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0" hangingPunct="0"/>
            <a:r>
              <a:rPr kumimoji="0"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itchFamily="34" charset="0"/>
              </a:rPr>
              <a:t>6/15</a:t>
            </a:r>
          </a:p>
        </p:txBody>
      </p:sp>
      <p:sp>
        <p:nvSpPr>
          <p:cNvPr id="24" name="직사각형 20"/>
          <p:cNvSpPr>
            <a:spLocks noChangeArrowheads="1"/>
          </p:cNvSpPr>
          <p:nvPr/>
        </p:nvSpPr>
        <p:spPr bwMode="auto">
          <a:xfrm>
            <a:off x="5600530" y="325775"/>
            <a:ext cx="2131846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defTabSz="912813" eaLnBrk="1" latinLnBrk="0" hangingPunct="0"/>
            <a:r>
              <a:rPr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Task category</a:t>
            </a:r>
            <a:endParaRPr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charset="0"/>
            </a:endParaRPr>
          </a:p>
          <a:p>
            <a:pPr algn="just" defTabSz="912813" eaLnBrk="1" latinLnBrk="0" hangingPunct="0"/>
            <a:r>
              <a:rPr lang="ko-KR" altLang="en-US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□ </a:t>
            </a:r>
            <a:r>
              <a:rPr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HW      </a:t>
            </a:r>
            <a:r>
              <a:rPr lang="ko-KR" altLang="en-US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□ </a:t>
            </a:r>
            <a:r>
              <a:rPr lang="en-US" altLang="ko-KR" sz="1000" dirty="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SW</a:t>
            </a:r>
          </a:p>
          <a:p>
            <a:pPr algn="just" defTabSz="912813" eaLnBrk="1" latinLnBrk="0" hangingPunct="0"/>
            <a:r>
              <a:rPr lang="ko-KR" altLang="en-US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□ </a:t>
            </a:r>
            <a:r>
              <a:rPr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Mecha  </a:t>
            </a:r>
            <a:r>
              <a:rPr lang="ko-KR" altLang="en-US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■ </a:t>
            </a:r>
            <a:r>
              <a:rPr lang="en-US" altLang="ko-KR" sz="1000">
                <a:solidFill>
                  <a:srgbClr val="00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charset="0"/>
              </a:rPr>
              <a:t>Current job</a:t>
            </a:r>
            <a:endParaRPr lang="en-US" altLang="ko-KR" sz="10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charset="0"/>
            </a:endParaRPr>
          </a:p>
        </p:txBody>
      </p:sp>
      <p:graphicFrame>
        <p:nvGraphicFramePr>
          <p:cNvPr id="21" name="Group 133">
            <a:extLst>
              <a:ext uri="{FF2B5EF4-FFF2-40B4-BE49-F238E27FC236}">
                <a16:creationId xmlns:a16="http://schemas.microsoft.com/office/drawing/2014/main" id="{871447DD-1D73-49D5-866D-9AC4D91C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983478"/>
              </p:ext>
            </p:extLst>
          </p:nvPr>
        </p:nvGraphicFramePr>
        <p:xfrm>
          <a:off x="6847563" y="3429000"/>
          <a:ext cx="2931523" cy="1526608"/>
        </p:xfrm>
        <a:graphic>
          <a:graphicData uri="http://schemas.openxmlformats.org/drawingml/2006/table">
            <a:tbl>
              <a:tblPr/>
              <a:tblGrid>
                <a:gridCol w="54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9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Team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36000" marR="36000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Role</a:t>
                      </a:r>
                    </a:p>
                  </a:txBody>
                  <a:tcPr marL="36000" marR="36000" marT="18001" marB="180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16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IVI LD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sz="1000" b="0" dirty="0">
                          <a:latin typeface="Arial"/>
                        </a:rPr>
                        <a:t>Nguyen Duc Long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Task leader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15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Hoang Nhan Quoc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vi-VN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IVI PE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Pham Van Hung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vi-VN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292548"/>
                  </a:ext>
                </a:extLst>
              </a:tr>
              <a:tr h="250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IVI PM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Ta Van Cong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vi-VN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0000101010101" pitchFamily="50" charset="-127"/>
                          <a:cs typeface="Arial" panose="020B0604020202020204" pitchFamily="34" charset="0"/>
                        </a:rPr>
                        <a:t>Member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803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6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1">
            <a:extLst>
              <a:ext uri="{FF2B5EF4-FFF2-40B4-BE49-F238E27FC236}">
                <a16:creationId xmlns:a16="http://schemas.microsoft.com/office/drawing/2014/main" id="{3BB4269D-C4B5-4018-8DB1-D3AE9D1D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17" y="89801"/>
            <a:ext cx="3501891" cy="444992"/>
          </a:xfrm>
          <a:prstGeom prst="rect">
            <a:avLst/>
          </a:prstGeom>
        </p:spPr>
      </p:pic>
      <p:sp>
        <p:nvSpPr>
          <p:cNvPr id="64" name="제목 1">
            <a:extLst>
              <a:ext uri="{FF2B5EF4-FFF2-40B4-BE49-F238E27FC236}">
                <a16:creationId xmlns:a16="http://schemas.microsoft.com/office/drawing/2014/main" id="{9047FC76-DD99-4806-9048-DFF9426B47AE}"/>
              </a:ext>
            </a:extLst>
          </p:cNvPr>
          <p:cNvSpPr txBox="1">
            <a:spLocks/>
          </p:cNvSpPr>
          <p:nvPr/>
        </p:nvSpPr>
        <p:spPr bwMode="auto">
          <a:xfrm>
            <a:off x="1609" y="100364"/>
            <a:ext cx="74961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" panose="020B0600000101010101" pitchFamily="50" charset="-127"/>
              </a:rPr>
              <a:t>1.1 Define issue</a:t>
            </a:r>
            <a:endParaRPr lang="ko-KR" altLang="en-US" sz="18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F0FF8F-362D-491A-8F52-0E1B0A8C2FE8}"/>
              </a:ext>
            </a:extLst>
          </p:cNvPr>
          <p:cNvCxnSpPr/>
          <p:nvPr/>
        </p:nvCxnSpPr>
        <p:spPr>
          <a:xfrm>
            <a:off x="-592" y="532164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9FBE9D8E-4B25-4138-A998-98CA80DFC0D8}"/>
              </a:ext>
            </a:extLst>
          </p:cNvPr>
          <p:cNvSpPr txBox="1"/>
          <p:nvPr/>
        </p:nvSpPr>
        <p:spPr>
          <a:xfrm>
            <a:off x="63733" y="856800"/>
            <a:ext cx="3305091" cy="2462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alt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- Improve Luminance value</a:t>
            </a:r>
          </a:p>
        </p:txBody>
      </p:sp>
      <p:sp>
        <p:nvSpPr>
          <p:cNvPr id="228" name="Slide Number Placeholder 4">
            <a:extLst>
              <a:ext uri="{FF2B5EF4-FFF2-40B4-BE49-F238E27FC236}">
                <a16:creationId xmlns:a16="http://schemas.microsoft.com/office/drawing/2014/main" id="{8BEED19C-E20A-4522-AB67-2EFCA270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03 / 33</a:t>
            </a:r>
          </a:p>
          <a:p>
            <a:pPr algn="ctr" eaLnBrk="1" latinLnBrk="0"/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A10347-881C-49A1-8C74-C34608E19682}"/>
              </a:ext>
            </a:extLst>
          </p:cNvPr>
          <p:cNvSpPr txBox="1"/>
          <p:nvPr/>
        </p:nvSpPr>
        <p:spPr>
          <a:xfrm>
            <a:off x="63733" y="600385"/>
            <a:ext cx="1584176" cy="23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Project name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297210-A509-431E-8EC6-5008A74AEF62}"/>
              </a:ext>
            </a:extLst>
          </p:cNvPr>
          <p:cNvSpPr txBox="1"/>
          <p:nvPr/>
        </p:nvSpPr>
        <p:spPr>
          <a:xfrm>
            <a:off x="80857" y="1336681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Purpose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2CCB2E-06CF-4ED8-B0F3-BD65641F9F6C}"/>
              </a:ext>
            </a:extLst>
          </p:cNvPr>
          <p:cNvSpPr txBox="1"/>
          <p:nvPr/>
        </p:nvSpPr>
        <p:spPr>
          <a:xfrm>
            <a:off x="87735" y="1613680"/>
            <a:ext cx="7906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alt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- Reduce the Luminance NG rate of Porsche CID J1 Dual from 226,624 ppm to 0 ppm (stretch goal) by making the Luminance measurement reliable: Luminance value inside spec 800-2000 Cd/m² with Cpk ≥ 1.33.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44CB0D-9539-4103-A2E2-F229C96A5C26}"/>
              </a:ext>
            </a:extLst>
          </p:cNvPr>
          <p:cNvSpPr txBox="1"/>
          <p:nvPr/>
        </p:nvSpPr>
        <p:spPr>
          <a:xfrm>
            <a:off x="63733" y="2077577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CDD59F-EB79-4D2B-849B-B6645F4A5717}"/>
              </a:ext>
            </a:extLst>
          </p:cNvPr>
          <p:cNvSpPr txBox="1"/>
          <p:nvPr/>
        </p:nvSpPr>
        <p:spPr>
          <a:xfrm>
            <a:off x="63733" y="2354576"/>
            <a:ext cx="9613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sz="1000" b="0" dirty="0">
                <a:latin typeface="Arial"/>
              </a:rPr>
              <a:t>- If the Luminance measurement problem keeps happening, sets are held and retested at the Luminance station, which leads to line loss time and failure to meet the line UPH.</a:t>
            </a:r>
          </a:p>
          <a:p>
            <a:pPr eaLnBrk="1" latinLnBrk="0"/>
            <a:r>
              <a:rPr sz="1000" b="0" dirty="0">
                <a:latin typeface="Arial"/>
              </a:rPr>
              <a:t>- Delayed checking leaves unfinished production on line IVI5. NG LCDs are also sent back to the supplier (HEESUNG) for retest and scrap, which leads to extra scrap cost (1 LCD = 118.72$; March: 19 pcs = 2,255.68$).</a:t>
            </a:r>
          </a:p>
          <a:p>
            <a:pPr eaLnBrk="1" latinLnBrk="0"/>
            <a:r>
              <a:rPr lang="en-US" alt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 To prevent this in advance, we selected this topic as a Six Sigma GB task: improve the luminance measurement performance from the mass production stage and reduce the cost for the factory to the minimum.</a:t>
            </a:r>
          </a:p>
        </p:txBody>
      </p:sp>
      <p:sp>
        <p:nvSpPr>
          <p:cNvPr id="229" name="Header Problem statement"/>
          <p:cNvSpPr txBox="1"/>
          <p:nvPr/>
        </p:nvSpPr>
        <p:spPr>
          <a:xfrm>
            <a:off x="63733" y="3543300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230" name="Added text 230"/>
          <p:cNvSpPr txBox="1"/>
          <p:nvPr/>
        </p:nvSpPr>
        <p:spPr>
          <a:xfrm>
            <a:off x="66675" y="3819525"/>
            <a:ext cx="9610725" cy="571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- From Nov.2025 to Mar.2026, 143 of 631 J1 Dual sets failed the Luminance test (226,624 ppm = 22.7%), i.e. 87.2% of all Porsche CID defects (164 / 631 sets = 260,000 ppm).</a:t>
            </a:r>
          </a:p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- The luminance measured on the PID screen was lower than the average of the other measurements, so many sets fell below the lower spec limit of 800 Cd/m² (spec 800-2000 Cd/m²).</a:t>
            </a:r>
          </a:p>
        </p:txBody>
      </p:sp>
      <p:sp>
        <p:nvSpPr>
          <p:cNvPr id="231" name="Header Scope"/>
          <p:cNvSpPr txBox="1"/>
          <p:nvPr/>
        </p:nvSpPr>
        <p:spPr>
          <a:xfrm>
            <a:off x="63733" y="4495800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Scope</a:t>
            </a:r>
          </a:p>
        </p:txBody>
      </p:sp>
      <p:sp>
        <p:nvSpPr>
          <p:cNvPr id="232" name="Added text 232"/>
          <p:cNvSpPr txBox="1"/>
          <p:nvPr/>
        </p:nvSpPr>
        <p:spPr>
          <a:xfrm>
            <a:off x="66675" y="4772025"/>
            <a:ext cx="9610725" cy="571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- In scope: Porsche CID J1 Dual, Luminance station 1 &amp; 2 (camera CS2000), IVI 5 line, LG Electronics Vietnam Hai Phong.</a:t>
            </a:r>
          </a:p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- Out of scope: the other defect items in 1.2 (Contrast value, Haptic/Touch, Hardware 6.0%, Software 3.5%), handled by HW members and HQ R&amp;D.</a:t>
            </a:r>
          </a:p>
        </p:txBody>
      </p:sp>
    </p:spTree>
    <p:extLst>
      <p:ext uri="{BB962C8B-B14F-4D97-AF65-F5344CB8AC3E}">
        <p14:creationId xmlns:p14="http://schemas.microsoft.com/office/powerpoint/2010/main" val="359446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1">
            <a:extLst>
              <a:ext uri="{FF2B5EF4-FFF2-40B4-BE49-F238E27FC236}">
                <a16:creationId xmlns:a16="http://schemas.microsoft.com/office/drawing/2014/main" id="{3BB4269D-C4B5-4018-8DB1-D3AE9D1D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17" y="89801"/>
            <a:ext cx="3501891" cy="444992"/>
          </a:xfrm>
          <a:prstGeom prst="rect">
            <a:avLst/>
          </a:prstGeom>
        </p:spPr>
      </p:pic>
      <p:sp>
        <p:nvSpPr>
          <p:cNvPr id="64" name="제목 1">
            <a:extLst>
              <a:ext uri="{FF2B5EF4-FFF2-40B4-BE49-F238E27FC236}">
                <a16:creationId xmlns:a16="http://schemas.microsoft.com/office/drawing/2014/main" id="{9047FC76-DD99-4806-9048-DFF9426B47AE}"/>
              </a:ext>
            </a:extLst>
          </p:cNvPr>
          <p:cNvSpPr txBox="1">
            <a:spLocks/>
          </p:cNvSpPr>
          <p:nvPr/>
        </p:nvSpPr>
        <p:spPr bwMode="auto">
          <a:xfrm>
            <a:off x="1609" y="100364"/>
            <a:ext cx="74961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" panose="020B0600000101010101" pitchFamily="50" charset="-127"/>
              </a:rPr>
              <a:t>1.2 Y-y breakdown</a:t>
            </a:r>
            <a:endParaRPr lang="ko-KR" altLang="en-US" sz="1800" b="1" kern="0" dirty="0"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graphicFrame>
        <p:nvGraphicFramePr>
          <p:cNvPr id="75" name="표 44">
            <a:extLst>
              <a:ext uri="{FF2B5EF4-FFF2-40B4-BE49-F238E27FC236}">
                <a16:creationId xmlns:a16="http://schemas.microsoft.com/office/drawing/2014/main" id="{62E95B8F-07A4-4620-864C-2FBBFA255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659898"/>
              </p:ext>
            </p:extLst>
          </p:nvPr>
        </p:nvGraphicFramePr>
        <p:xfrm>
          <a:off x="260401" y="703388"/>
          <a:ext cx="888407" cy="276631"/>
        </p:xfrm>
        <a:graphic>
          <a:graphicData uri="http://schemas.openxmlformats.org/drawingml/2006/table">
            <a:tbl>
              <a:tblPr/>
              <a:tblGrid>
                <a:gridCol w="88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 eaLnBrk="1" latinLnBrk="0">
                        <a:defRPr/>
                      </a:pPr>
                      <a:r>
                        <a:rPr lang="en-US" altLang="ko-KR" sz="1000" b="1" dirty="0"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Big Y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표 45">
            <a:extLst>
              <a:ext uri="{FF2B5EF4-FFF2-40B4-BE49-F238E27FC236}">
                <a16:creationId xmlns:a16="http://schemas.microsoft.com/office/drawing/2014/main" id="{499556D8-5147-4323-B83A-8E52DFD16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578847"/>
              </p:ext>
            </p:extLst>
          </p:nvPr>
        </p:nvGraphicFramePr>
        <p:xfrm>
          <a:off x="3633320" y="715698"/>
          <a:ext cx="1189966" cy="276631"/>
        </p:xfrm>
        <a:graphic>
          <a:graphicData uri="http://schemas.openxmlformats.org/drawingml/2006/table">
            <a:tbl>
              <a:tblPr/>
              <a:tblGrid>
                <a:gridCol w="118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 eaLnBrk="1" latinLnBrk="0">
                        <a:defRPr/>
                      </a:pPr>
                      <a:r>
                        <a:rPr lang="en-US" altLang="ko-KR" sz="1000" b="1" dirty="0"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Little y2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F0FF8F-362D-491A-8F52-0E1B0A8C2FE8}"/>
              </a:ext>
            </a:extLst>
          </p:cNvPr>
          <p:cNvCxnSpPr/>
          <p:nvPr/>
        </p:nvCxnSpPr>
        <p:spPr>
          <a:xfrm>
            <a:off x="-592" y="532164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Arrow Connector 347"/>
          <p:cNvCxnSpPr>
            <a:cxnSpLocks/>
            <a:stCxn id="68" idx="3"/>
            <a:endCxn id="104" idx="1"/>
          </p:cNvCxnSpPr>
          <p:nvPr/>
        </p:nvCxnSpPr>
        <p:spPr>
          <a:xfrm>
            <a:off x="2867767" y="1437809"/>
            <a:ext cx="771729" cy="16254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9" name="직사각형 124">
            <a:extLst>
              <a:ext uri="{FF2B5EF4-FFF2-40B4-BE49-F238E27FC236}">
                <a16:creationId xmlns:a16="http://schemas.microsoft.com/office/drawing/2014/main" id="{34502E28-C1BD-478D-B067-6D24CDCCF17A}"/>
              </a:ext>
            </a:extLst>
          </p:cNvPr>
          <p:cNvSpPr/>
          <p:nvPr/>
        </p:nvSpPr>
        <p:spPr>
          <a:xfrm>
            <a:off x="5442125" y="1260273"/>
            <a:ext cx="1427220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Luminance value</a:t>
            </a:r>
          </a:p>
        </p:txBody>
      </p:sp>
      <p:sp>
        <p:nvSpPr>
          <p:cNvPr id="130" name="직사각형 124">
            <a:extLst>
              <a:ext uri="{FF2B5EF4-FFF2-40B4-BE49-F238E27FC236}">
                <a16:creationId xmlns:a16="http://schemas.microsoft.com/office/drawing/2014/main" id="{13446F57-EBDE-4ECD-B078-B6D3C3C38C44}"/>
              </a:ext>
            </a:extLst>
          </p:cNvPr>
          <p:cNvSpPr/>
          <p:nvPr/>
        </p:nvSpPr>
        <p:spPr>
          <a:xfrm>
            <a:off x="5466839" y="2084721"/>
            <a:ext cx="1427220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Calculate contrast value</a:t>
            </a:r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6349E0A9-07EC-47F5-B8C4-ED8B16151483}"/>
              </a:ext>
            </a:extLst>
          </p:cNvPr>
          <p:cNvCxnSpPr>
            <a:cxnSpLocks/>
            <a:stCxn id="104" idx="3"/>
            <a:endCxn id="129" idx="1"/>
          </p:cNvCxnSpPr>
          <p:nvPr/>
        </p:nvCxnSpPr>
        <p:spPr>
          <a:xfrm>
            <a:off x="4822973" y="1454063"/>
            <a:ext cx="619152" cy="4167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4" name="직사각형 124">
            <a:extLst>
              <a:ext uri="{FF2B5EF4-FFF2-40B4-BE49-F238E27FC236}">
                <a16:creationId xmlns:a16="http://schemas.microsoft.com/office/drawing/2014/main" id="{9B9F9D1B-2EF7-453F-A467-28A0282E9129}"/>
              </a:ext>
            </a:extLst>
          </p:cNvPr>
          <p:cNvSpPr/>
          <p:nvPr/>
        </p:nvSpPr>
        <p:spPr>
          <a:xfrm>
            <a:off x="3639496" y="1232831"/>
            <a:ext cx="1183477" cy="44246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Luminance Function</a:t>
            </a:r>
          </a:p>
        </p:txBody>
      </p:sp>
      <p:sp>
        <p:nvSpPr>
          <p:cNvPr id="228" name="Slide Number Placeholder 4">
            <a:extLst>
              <a:ext uri="{FF2B5EF4-FFF2-40B4-BE49-F238E27FC236}">
                <a16:creationId xmlns:a16="http://schemas.microsoft.com/office/drawing/2014/main" id="{8BEED19C-E20A-4522-AB67-2EFCA270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04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51" name="표 45">
            <a:extLst>
              <a:ext uri="{FF2B5EF4-FFF2-40B4-BE49-F238E27FC236}">
                <a16:creationId xmlns:a16="http://schemas.microsoft.com/office/drawing/2014/main" id="{E5BD5886-F8BF-4C7D-977D-717364C24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529664"/>
              </p:ext>
            </p:extLst>
          </p:nvPr>
        </p:nvGraphicFramePr>
        <p:xfrm>
          <a:off x="1634164" y="715698"/>
          <a:ext cx="1233603" cy="276631"/>
        </p:xfrm>
        <a:graphic>
          <a:graphicData uri="http://schemas.openxmlformats.org/drawingml/2006/table">
            <a:tbl>
              <a:tblPr/>
              <a:tblGrid>
                <a:gridCol w="123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 eaLnBrk="1" latinLnBrk="0">
                        <a:defRPr/>
                      </a:pPr>
                      <a:r>
                        <a:rPr lang="en-US" altLang="ko-KR" sz="1000" b="1" dirty="0"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Little y1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직사각형 124">
            <a:extLst>
              <a:ext uri="{FF2B5EF4-FFF2-40B4-BE49-F238E27FC236}">
                <a16:creationId xmlns:a16="http://schemas.microsoft.com/office/drawing/2014/main" id="{839B0C23-7FDA-49E6-9061-B2E15E0B38F3}"/>
              </a:ext>
            </a:extLst>
          </p:cNvPr>
          <p:cNvSpPr/>
          <p:nvPr/>
        </p:nvSpPr>
        <p:spPr>
          <a:xfrm>
            <a:off x="1651508" y="1228923"/>
            <a:ext cx="1216259" cy="41777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Machine defect</a:t>
            </a:r>
          </a:p>
        </p:txBody>
      </p:sp>
      <p:sp>
        <p:nvSpPr>
          <p:cNvPr id="52" name="직사각형 124">
            <a:extLst>
              <a:ext uri="{FF2B5EF4-FFF2-40B4-BE49-F238E27FC236}">
                <a16:creationId xmlns:a16="http://schemas.microsoft.com/office/drawing/2014/main" id="{4415074A-29BC-4A5B-9687-F14C61349A2C}"/>
              </a:ext>
            </a:extLst>
          </p:cNvPr>
          <p:cNvSpPr/>
          <p:nvPr/>
        </p:nvSpPr>
        <p:spPr>
          <a:xfrm>
            <a:off x="0" y="1247253"/>
            <a:ext cx="1257197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Reduce Porsche CID Defect rate</a:t>
            </a:r>
          </a:p>
        </p:txBody>
      </p:sp>
      <p:sp>
        <p:nvSpPr>
          <p:cNvPr id="83" name="직사각형 124">
            <a:extLst>
              <a:ext uri="{FF2B5EF4-FFF2-40B4-BE49-F238E27FC236}">
                <a16:creationId xmlns:a16="http://schemas.microsoft.com/office/drawing/2014/main" id="{CA83E05B-BD5C-4D19-937D-8440D1E97727}"/>
              </a:ext>
            </a:extLst>
          </p:cNvPr>
          <p:cNvSpPr/>
          <p:nvPr/>
        </p:nvSpPr>
        <p:spPr>
          <a:xfrm>
            <a:off x="1647314" y="2840939"/>
            <a:ext cx="1216259" cy="3797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Hardware defect</a:t>
            </a:r>
            <a:endParaRPr lang="vi-VN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9F9BF4D-AD41-4475-A659-3F1176F386EB}"/>
              </a:ext>
            </a:extLst>
          </p:cNvPr>
          <p:cNvCxnSpPr>
            <a:cxnSpLocks/>
            <a:stCxn id="52" idx="3"/>
            <a:endCxn id="68" idx="1"/>
          </p:cNvCxnSpPr>
          <p:nvPr/>
        </p:nvCxnSpPr>
        <p:spPr>
          <a:xfrm flipV="1">
            <a:off x="1257197" y="1437809"/>
            <a:ext cx="394311" cy="7401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직사각형 124">
            <a:extLst>
              <a:ext uri="{FF2B5EF4-FFF2-40B4-BE49-F238E27FC236}">
                <a16:creationId xmlns:a16="http://schemas.microsoft.com/office/drawing/2014/main" id="{84C613EF-B7C1-4EE7-B1DE-F6F54BF90DC1}"/>
              </a:ext>
            </a:extLst>
          </p:cNvPr>
          <p:cNvSpPr/>
          <p:nvPr/>
        </p:nvSpPr>
        <p:spPr>
          <a:xfrm>
            <a:off x="1689870" y="3706771"/>
            <a:ext cx="1216259" cy="3797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Software defect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82F0B5-FE2A-44F8-A778-4490D033265A}"/>
              </a:ext>
            </a:extLst>
          </p:cNvPr>
          <p:cNvCxnSpPr>
            <a:cxnSpLocks/>
          </p:cNvCxnSpPr>
          <p:nvPr/>
        </p:nvCxnSpPr>
        <p:spPr>
          <a:xfrm>
            <a:off x="656431" y="5436406"/>
            <a:ext cx="17904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E5D3784-A161-4E39-ABFC-E9884EBC2613}"/>
              </a:ext>
            </a:extLst>
          </p:cNvPr>
          <p:cNvSpPr/>
          <p:nvPr/>
        </p:nvSpPr>
        <p:spPr>
          <a:xfrm>
            <a:off x="1913425" y="4896997"/>
            <a:ext cx="829775" cy="533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latinLnBrk="0"/>
            <a:r>
              <a:rPr sz="1000" b="1" dirty="0">
                <a:solidFill>
                  <a:schemeClr val="tx1"/>
                </a:solidFill>
                <a:latin typeface="Arial"/>
              </a:rPr>
              <a:t>33,376 PPM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ABC82-A55A-4E3D-9824-C9ABB364FBE1}"/>
              </a:ext>
            </a:extLst>
          </p:cNvPr>
          <p:cNvSpPr/>
          <p:nvPr/>
        </p:nvSpPr>
        <p:spPr>
          <a:xfrm>
            <a:off x="552966" y="4386015"/>
            <a:ext cx="818860" cy="1047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latinLnBrk="0"/>
            <a:r>
              <a:rPr sz="1000" b="1" dirty="0">
                <a:solidFill>
                  <a:schemeClr val="tx1"/>
                </a:solidFill>
                <a:latin typeface="Arial"/>
              </a:rPr>
              <a:t>260,000 PPM</a:t>
            </a: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직사각형 124">
            <a:extLst>
              <a:ext uri="{FF2B5EF4-FFF2-40B4-BE49-F238E27FC236}">
                <a16:creationId xmlns:a16="http://schemas.microsoft.com/office/drawing/2014/main" id="{6488CD88-09C5-4039-9404-8FA529031D59}"/>
              </a:ext>
            </a:extLst>
          </p:cNvPr>
          <p:cNvSpPr/>
          <p:nvPr/>
        </p:nvSpPr>
        <p:spPr>
          <a:xfrm>
            <a:off x="637872" y="5436406"/>
            <a:ext cx="1786889" cy="4035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Decrease defect rate of Porsche CID</a:t>
            </a:r>
            <a:endParaRPr lang="vi-VN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61" name="직사각형 124">
            <a:extLst>
              <a:ext uri="{FF2B5EF4-FFF2-40B4-BE49-F238E27FC236}">
                <a16:creationId xmlns:a16="http://schemas.microsoft.com/office/drawing/2014/main" id="{85F4DA65-E4DC-4E8D-9E8A-592DB1E42CC9}"/>
              </a:ext>
            </a:extLst>
          </p:cNvPr>
          <p:cNvSpPr/>
          <p:nvPr/>
        </p:nvSpPr>
        <p:spPr>
          <a:xfrm>
            <a:off x="581222" y="4191000"/>
            <a:ext cx="762348" cy="216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Before</a:t>
            </a:r>
            <a:endParaRPr lang="vi-VN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62" name="직사각형 124">
            <a:extLst>
              <a:ext uri="{FF2B5EF4-FFF2-40B4-BE49-F238E27FC236}">
                <a16:creationId xmlns:a16="http://schemas.microsoft.com/office/drawing/2014/main" id="{C64B288A-C4DC-4C32-8350-28B1FD1A5C8C}"/>
              </a:ext>
            </a:extLst>
          </p:cNvPr>
          <p:cNvSpPr/>
          <p:nvPr/>
        </p:nvSpPr>
        <p:spPr>
          <a:xfrm>
            <a:off x="2003461" y="4688813"/>
            <a:ext cx="649702" cy="2164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After</a:t>
            </a:r>
            <a:endParaRPr lang="vi-VN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69" name="직사각형 124">
            <a:extLst>
              <a:ext uri="{FF2B5EF4-FFF2-40B4-BE49-F238E27FC236}">
                <a16:creationId xmlns:a16="http://schemas.microsoft.com/office/drawing/2014/main" id="{5A1ACA1F-B7FE-4D14-98DB-0463FDB3B045}"/>
              </a:ext>
            </a:extLst>
          </p:cNvPr>
          <p:cNvSpPr/>
          <p:nvPr/>
        </p:nvSpPr>
        <p:spPr>
          <a:xfrm>
            <a:off x="7322594" y="1260024"/>
            <a:ext cx="1586819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6 Sigma assignment</a:t>
            </a:r>
          </a:p>
        </p:txBody>
      </p:sp>
      <p:sp>
        <p:nvSpPr>
          <p:cNvPr id="70" name="직사각형 124">
            <a:extLst>
              <a:ext uri="{FF2B5EF4-FFF2-40B4-BE49-F238E27FC236}">
                <a16:creationId xmlns:a16="http://schemas.microsoft.com/office/drawing/2014/main" id="{08E76798-9784-458B-85C4-0CA820956B8D}"/>
              </a:ext>
            </a:extLst>
          </p:cNvPr>
          <p:cNvSpPr/>
          <p:nvPr/>
        </p:nvSpPr>
        <p:spPr>
          <a:xfrm>
            <a:off x="7347308" y="2084472"/>
            <a:ext cx="1586819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Real defect _ Material</a:t>
            </a:r>
          </a:p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Return to supplier</a:t>
            </a:r>
          </a:p>
        </p:txBody>
      </p:sp>
      <p:graphicFrame>
        <p:nvGraphicFramePr>
          <p:cNvPr id="74" name="표 46">
            <a:extLst>
              <a:ext uri="{FF2B5EF4-FFF2-40B4-BE49-F238E27FC236}">
                <a16:creationId xmlns:a16="http://schemas.microsoft.com/office/drawing/2014/main" id="{E5BFD7BA-52E1-4DEB-8CC0-42C339E19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07595"/>
              </p:ext>
            </p:extLst>
          </p:nvPr>
        </p:nvGraphicFramePr>
        <p:xfrm>
          <a:off x="7322594" y="720833"/>
          <a:ext cx="1586819" cy="282190"/>
        </p:xfrm>
        <a:graphic>
          <a:graphicData uri="http://schemas.openxmlformats.org/drawingml/2006/table">
            <a:tbl>
              <a:tblPr/>
              <a:tblGrid>
                <a:gridCol w="158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1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" panose="020B0600000101010101" pitchFamily="50" charset="-127"/>
                          <a:ea typeface="Arial" panose="020B0600000101010101" pitchFamily="50" charset="-127"/>
                          <a:cs typeface="+mn-cs"/>
                        </a:rPr>
                        <a:t>Activity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" name="표 45">
            <a:extLst>
              <a:ext uri="{FF2B5EF4-FFF2-40B4-BE49-F238E27FC236}">
                <a16:creationId xmlns:a16="http://schemas.microsoft.com/office/drawing/2014/main" id="{340A01BA-E649-4A07-BE4C-FE4BD7441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317186"/>
              </p:ext>
            </p:extLst>
          </p:nvPr>
        </p:nvGraphicFramePr>
        <p:xfrm>
          <a:off x="5442125" y="726392"/>
          <a:ext cx="1427220" cy="276631"/>
        </p:xfrm>
        <a:graphic>
          <a:graphicData uri="http://schemas.openxmlformats.org/drawingml/2006/table">
            <a:tbl>
              <a:tblPr/>
              <a:tblGrid>
                <a:gridCol w="142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631">
                <a:tc>
                  <a:txBody>
                    <a:bodyPr/>
                    <a:lstStyle/>
                    <a:p>
                      <a:pPr algn="ctr" eaLnBrk="1" latinLnBrk="0">
                        <a:defRPr/>
                      </a:pPr>
                      <a:r>
                        <a:rPr lang="en-US" altLang="ko-KR" sz="1000" b="1" dirty="0">
                          <a:latin typeface="Arial" panose="020B0600000101010101" pitchFamily="50" charset="-127"/>
                          <a:ea typeface="Arial" panose="020B0600000101010101" pitchFamily="50" charset="-127"/>
                        </a:rPr>
                        <a:t>Little y3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3DB9B81-6E8A-4C8A-9C14-CAA405A93511}"/>
              </a:ext>
            </a:extLst>
          </p:cNvPr>
          <p:cNvCxnSpPr>
            <a:cxnSpLocks/>
            <a:stCxn id="129" idx="3"/>
            <a:endCxn id="69" idx="1"/>
          </p:cNvCxnSpPr>
          <p:nvPr/>
        </p:nvCxnSpPr>
        <p:spPr>
          <a:xfrm flipV="1">
            <a:off x="6869345" y="1457981"/>
            <a:ext cx="453249" cy="249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42DC42A-02BC-4314-AFEF-5343F6F313A8}"/>
              </a:ext>
            </a:extLst>
          </p:cNvPr>
          <p:cNvCxnSpPr>
            <a:cxnSpLocks/>
            <a:stCxn id="130" idx="3"/>
            <a:endCxn id="70" idx="1"/>
          </p:cNvCxnSpPr>
          <p:nvPr/>
        </p:nvCxnSpPr>
        <p:spPr>
          <a:xfrm flipV="1">
            <a:off x="6894059" y="2282429"/>
            <a:ext cx="453249" cy="2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2294C19-F708-49EE-A527-FA9394A10AA7}"/>
              </a:ext>
            </a:extLst>
          </p:cNvPr>
          <p:cNvSpPr txBox="1"/>
          <p:nvPr/>
        </p:nvSpPr>
        <p:spPr>
          <a:xfrm>
            <a:off x="57849" y="5921514"/>
            <a:ext cx="9577064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lvl="0" indent="-171450" eaLnBrk="1" latinLnBrk="0">
              <a:buFontTx/>
              <a:buChar char="-"/>
            </a:pPr>
            <a:r>
              <a:rPr sz="1000" b="0">
                <a:latin typeface="Arial"/>
              </a:rPr>
              <a:t>Hardware issues (6.0%, 15,600 PPM) are mainly broken pin connector (check PCBA), foreign material inside the set after assembly, SQA circuit and LCD from supplier; they will be improved by HW members.</a:t>
            </a:r>
            <a:br/>
            <a:r>
              <a:rPr sz="1000" b="0">
                <a:latin typeface="Arial"/>
              </a:rPr>
              <a:t>Software issues (3.5%, 9,100 PPM) will be solved by HQ software members.</a:t>
            </a:r>
            <a:br/>
            <a:r>
              <a:rPr sz="1000" b="0">
                <a:latin typeface="Arial"/>
              </a:rPr>
              <a:t>Machine defect accounts for 90.5% (235,300 PPM), where Luminance value is the overwhelming root issue causing 226,624 PPM (87.2% of all defects), causing severe UPH loss and scrap cost. That is why Luminance value is selected as Project Y for this Six Sigma assignment.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641D5FF9-8E48-4313-BA6F-2F3C8DCE9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615864"/>
              </p:ext>
            </p:extLst>
          </p:nvPr>
        </p:nvGraphicFramePr>
        <p:xfrm>
          <a:off x="304468" y="2246935"/>
          <a:ext cx="467633" cy="39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792" progId="Excel.Sheet.12">
                  <p:embed/>
                </p:oleObj>
              </mc:Choice>
              <mc:Fallback>
                <p:oleObj name="Worksheet" showAsIcon="1" r:id="rId4" imgW="914400" imgH="77179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468" y="2246935"/>
                        <a:ext cx="467633" cy="3945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883DEA73-C594-43D5-86DD-20AFA7CB55DE}"/>
              </a:ext>
            </a:extLst>
          </p:cNvPr>
          <p:cNvSpPr/>
          <p:nvPr/>
        </p:nvSpPr>
        <p:spPr bwMode="auto">
          <a:xfrm rot="1145973">
            <a:off x="1406635" y="4896997"/>
            <a:ext cx="471981" cy="17324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0" name="직사각형 124">
            <a:extLst>
              <a:ext uri="{FF2B5EF4-FFF2-40B4-BE49-F238E27FC236}">
                <a16:creationId xmlns:a16="http://schemas.microsoft.com/office/drawing/2014/main" id="{90A54F67-C922-4481-83DE-35020CA82089}"/>
              </a:ext>
            </a:extLst>
          </p:cNvPr>
          <p:cNvSpPr/>
          <p:nvPr/>
        </p:nvSpPr>
        <p:spPr>
          <a:xfrm>
            <a:off x="9111999" y="1263867"/>
            <a:ext cx="717728" cy="39591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b="0" dirty="0">
                <a:solidFill>
                  <a:schemeClr val="tx1"/>
                </a:solidFill>
                <a:latin typeface="Arial"/>
              </a:rPr>
              <a:t>IVI LD</a:t>
            </a:r>
            <a:r>
              <a:rPr sz="1000" b="0" dirty="0">
                <a:latin typeface="Arial"/>
              </a:rPr>
              <a:t> IE</a:t>
            </a:r>
          </a:p>
        </p:txBody>
      </p:sp>
      <p:sp>
        <p:nvSpPr>
          <p:cNvPr id="53" name="직사각형 124">
            <a:extLst>
              <a:ext uri="{FF2B5EF4-FFF2-40B4-BE49-F238E27FC236}">
                <a16:creationId xmlns:a16="http://schemas.microsoft.com/office/drawing/2014/main" id="{1045D11C-94C8-40D5-BC41-24537629FD31}"/>
              </a:ext>
            </a:extLst>
          </p:cNvPr>
          <p:cNvSpPr/>
          <p:nvPr/>
        </p:nvSpPr>
        <p:spPr>
          <a:xfrm>
            <a:off x="9136713" y="2078607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HEESUNG vendor</a:t>
            </a:r>
          </a:p>
        </p:txBody>
      </p:sp>
      <p:graphicFrame>
        <p:nvGraphicFramePr>
          <p:cNvPr id="56" name="표 46">
            <a:extLst>
              <a:ext uri="{FF2B5EF4-FFF2-40B4-BE49-F238E27FC236}">
                <a16:creationId xmlns:a16="http://schemas.microsoft.com/office/drawing/2014/main" id="{389174B0-4A7E-4DAC-B76B-156987A7E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634826"/>
              </p:ext>
            </p:extLst>
          </p:nvPr>
        </p:nvGraphicFramePr>
        <p:xfrm>
          <a:off x="9112590" y="735156"/>
          <a:ext cx="717137" cy="282190"/>
        </p:xfrm>
        <a:graphic>
          <a:graphicData uri="http://schemas.openxmlformats.org/drawingml/2006/table">
            <a:tbl>
              <a:tblPr/>
              <a:tblGrid>
                <a:gridCol w="71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1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" panose="020B0600000101010101" pitchFamily="50" charset="-127"/>
                          <a:ea typeface="Arial" panose="020B0600000101010101" pitchFamily="50" charset="-127"/>
                          <a:cs typeface="+mn-cs"/>
                        </a:rPr>
                        <a:t>PIC</a:t>
                      </a:r>
                    </a:p>
                  </a:txBody>
                  <a:tcPr marL="91439" marR="9143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AF0C5BD-1F30-4E1B-B64B-6F14E8B4E4DA}"/>
              </a:ext>
            </a:extLst>
          </p:cNvPr>
          <p:cNvSpPr/>
          <p:nvPr/>
        </p:nvSpPr>
        <p:spPr>
          <a:xfrm>
            <a:off x="51601" y="1670837"/>
            <a:ext cx="1261884" cy="6001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00" b="1" dirty="0">
                <a:latin typeface="Arial"/>
              </a:rPr>
              <a:t>260,000 PPM</a:t>
            </a:r>
            <a:br>
              <a:rPr dirty="0"/>
            </a:br>
            <a:r>
              <a:rPr sz="900" b="1" dirty="0">
                <a:latin typeface="Arial"/>
              </a:rPr>
              <a:t>(164/631EA</a:t>
            </a:r>
            <a:br>
              <a:rPr dirty="0"/>
            </a:br>
            <a:r>
              <a:rPr sz="900" b="1" dirty="0" err="1">
                <a:latin typeface="Arial"/>
              </a:rPr>
              <a:t>Nov.2025~Mar.2026</a:t>
            </a:r>
            <a:r>
              <a:rPr sz="900" b="1" dirty="0">
                <a:latin typeface="Arial"/>
              </a:rPr>
              <a:t>)</a:t>
            </a:r>
            <a:endParaRPr lang="en-US" sz="11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4D52F-1976-4C98-B1BC-20259337E454}"/>
              </a:ext>
            </a:extLst>
          </p:cNvPr>
          <p:cNvSpPr/>
          <p:nvPr/>
        </p:nvSpPr>
        <p:spPr>
          <a:xfrm>
            <a:off x="1677199" y="1639657"/>
            <a:ext cx="1224000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90.5% 235,300 PPM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36D77-47D1-4939-B27C-3B292C8F8F4D}"/>
              </a:ext>
            </a:extLst>
          </p:cNvPr>
          <p:cNvSpPr/>
          <p:nvPr/>
        </p:nvSpPr>
        <p:spPr>
          <a:xfrm>
            <a:off x="1713759" y="4148648"/>
            <a:ext cx="1152000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3.5% 9,100 PPM</a:t>
            </a: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0BD9FF-BA40-45C8-B5BF-7471B03E5658}"/>
              </a:ext>
            </a:extLst>
          </p:cNvPr>
          <p:cNvSpPr/>
          <p:nvPr/>
        </p:nvSpPr>
        <p:spPr>
          <a:xfrm>
            <a:off x="1710838" y="3210563"/>
            <a:ext cx="1152000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6.0% 15,600 PPM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68EBAD9-AB13-4234-82B1-F3C26DD02447}"/>
              </a:ext>
            </a:extLst>
          </p:cNvPr>
          <p:cNvCxnSpPr>
            <a:stCxn id="104" idx="3"/>
            <a:endCxn id="130" idx="1"/>
          </p:cNvCxnSpPr>
          <p:nvPr/>
        </p:nvCxnSpPr>
        <p:spPr bwMode="auto">
          <a:xfrm>
            <a:off x="4822973" y="1454063"/>
            <a:ext cx="643866" cy="828615"/>
          </a:xfrm>
          <a:prstGeom prst="bentConnector3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56C0AA8-FC66-4C21-B31D-56F322604C13}"/>
              </a:ext>
            </a:extLst>
          </p:cNvPr>
          <p:cNvCxnSpPr>
            <a:stCxn id="52" idx="3"/>
            <a:endCxn id="71" idx="1"/>
          </p:cNvCxnSpPr>
          <p:nvPr/>
        </p:nvCxnSpPr>
        <p:spPr bwMode="auto">
          <a:xfrm>
            <a:off x="1257197" y="1445210"/>
            <a:ext cx="432673" cy="245144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B7FD541-B9AE-4E0D-A3AE-AC9AA5B1A5C8}"/>
              </a:ext>
            </a:extLst>
          </p:cNvPr>
          <p:cNvCxnSpPr>
            <a:cxnSpLocks/>
            <a:stCxn id="52" idx="3"/>
            <a:endCxn id="83" idx="1"/>
          </p:cNvCxnSpPr>
          <p:nvPr/>
        </p:nvCxnSpPr>
        <p:spPr bwMode="auto">
          <a:xfrm>
            <a:off x="1257197" y="1445210"/>
            <a:ext cx="390117" cy="158561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" name="직사각형 124">
            <a:extLst>
              <a:ext uri="{FF2B5EF4-FFF2-40B4-BE49-F238E27FC236}">
                <a16:creationId xmlns:a16="http://schemas.microsoft.com/office/drawing/2014/main" id="{DCFE7B6D-E84B-4231-8DAF-21ACE678009D}"/>
              </a:ext>
            </a:extLst>
          </p:cNvPr>
          <p:cNvSpPr/>
          <p:nvPr/>
        </p:nvSpPr>
        <p:spPr>
          <a:xfrm>
            <a:off x="3600726" y="2057400"/>
            <a:ext cx="1183477" cy="4424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Haptic/Touch </a:t>
            </a:r>
          </a:p>
          <a:p>
            <a:pPr algn="ctr" eaLnBrk="1" latinLnBrk="0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Function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8E1CE7-F4BC-4EBD-90F5-3CFE8E35BDA1}"/>
              </a:ext>
            </a:extLst>
          </p:cNvPr>
          <p:cNvSpPr/>
          <p:nvPr/>
        </p:nvSpPr>
        <p:spPr>
          <a:xfrm>
            <a:off x="3678910" y="2514600"/>
            <a:ext cx="1152000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1.0% 2,600 PPM</a:t>
            </a: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36DF7-163A-478C-958C-BB6F9A456983}"/>
              </a:ext>
            </a:extLst>
          </p:cNvPr>
          <p:cNvSpPr/>
          <p:nvPr/>
        </p:nvSpPr>
        <p:spPr>
          <a:xfrm>
            <a:off x="3671058" y="1639402"/>
            <a:ext cx="1224000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89.5% 232,700 PPM</a:t>
            </a: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9C44D0-3B3F-416F-A77E-B52AFB15C63C}"/>
              </a:ext>
            </a:extLst>
          </p:cNvPr>
          <p:cNvSpPr/>
          <p:nvPr/>
        </p:nvSpPr>
        <p:spPr>
          <a:xfrm>
            <a:off x="5603342" y="1670836"/>
            <a:ext cx="1260000" cy="27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87.2% 226,624 PPM</a:t>
            </a: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10AA58-682F-4FB2-9E51-FF3CD21FFCAB}"/>
              </a:ext>
            </a:extLst>
          </p:cNvPr>
          <p:cNvSpPr/>
          <p:nvPr/>
        </p:nvSpPr>
        <p:spPr>
          <a:xfrm>
            <a:off x="5663322" y="2502569"/>
            <a:ext cx="1152000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eaLnBrk="1" latinLnBrk="0"/>
            <a:r>
              <a:rPr sz="950" b="1">
                <a:latin typeface="Arial"/>
              </a:rPr>
              <a:t>2.3% 6,076 PPM</a:t>
            </a:r>
            <a:endParaRPr lang="en-US" sz="1000" dirty="0">
              <a:solidFill>
                <a:srgbClr val="000000"/>
              </a:solidFill>
              <a:latin typeface="Arial" panose="020B0604020202020204" pitchFamily="34" charset="0"/>
              <a:ea typeface="LG Smart_H Regular" panose="020B0600000101010101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6C054B-5829-4BE0-A31D-2CA7A59F1F41}"/>
              </a:ext>
            </a:extLst>
          </p:cNvPr>
          <p:cNvCxnSpPr>
            <a:stCxn id="69" idx="3"/>
            <a:endCxn id="50" idx="1"/>
          </p:cNvCxnSpPr>
          <p:nvPr/>
        </p:nvCxnSpPr>
        <p:spPr bwMode="auto">
          <a:xfrm>
            <a:off x="8909413" y="1457981"/>
            <a:ext cx="202586" cy="3843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8BE62C-07D6-473A-B50C-1AC28254AF33}"/>
              </a:ext>
            </a:extLst>
          </p:cNvPr>
          <p:cNvCxnSpPr>
            <a:stCxn id="70" idx="3"/>
            <a:endCxn id="53" idx="1"/>
          </p:cNvCxnSpPr>
          <p:nvPr/>
        </p:nvCxnSpPr>
        <p:spPr bwMode="auto">
          <a:xfrm flipV="1">
            <a:off x="8934127" y="2276564"/>
            <a:ext cx="202586" cy="586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4D5C481-9F97-4082-8B72-7206183B9A86}"/>
              </a:ext>
            </a:extLst>
          </p:cNvPr>
          <p:cNvCxnSpPr>
            <a:stCxn id="68" idx="3"/>
            <a:endCxn id="65" idx="1"/>
          </p:cNvCxnSpPr>
          <p:nvPr/>
        </p:nvCxnSpPr>
        <p:spPr bwMode="auto">
          <a:xfrm>
            <a:off x="2867767" y="1437809"/>
            <a:ext cx="732959" cy="840823"/>
          </a:xfrm>
          <a:prstGeom prst="bentConnector3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직사각형 124">
            <a:extLst>
              <a:ext uri="{FF2B5EF4-FFF2-40B4-BE49-F238E27FC236}">
                <a16:creationId xmlns:a16="http://schemas.microsoft.com/office/drawing/2014/main" id="{6E4609AA-34B6-4679-A537-F7B40309CB26}"/>
              </a:ext>
            </a:extLst>
          </p:cNvPr>
          <p:cNvSpPr/>
          <p:nvPr/>
        </p:nvSpPr>
        <p:spPr>
          <a:xfrm>
            <a:off x="3611236" y="2840939"/>
            <a:ext cx="1183477" cy="3720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 Function</a:t>
            </a:r>
          </a:p>
        </p:txBody>
      </p:sp>
      <p:sp>
        <p:nvSpPr>
          <p:cNvPr id="58" name="직사각형 124">
            <a:extLst>
              <a:ext uri="{FF2B5EF4-FFF2-40B4-BE49-F238E27FC236}">
                <a16:creationId xmlns:a16="http://schemas.microsoft.com/office/drawing/2014/main" id="{219D5C33-0AD8-4A59-AFDB-684F26C6C4AF}"/>
              </a:ext>
            </a:extLst>
          </p:cNvPr>
          <p:cNvSpPr/>
          <p:nvPr/>
        </p:nvSpPr>
        <p:spPr>
          <a:xfrm>
            <a:off x="5423821" y="2842534"/>
            <a:ext cx="1427220" cy="3774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Initial/ Booting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6FA9F6-1715-4F4C-B7AF-5D0BE96AEC3A}"/>
              </a:ext>
            </a:extLst>
          </p:cNvPr>
          <p:cNvCxnSpPr>
            <a:cxnSpLocks/>
            <a:stCxn id="83" idx="3"/>
            <a:endCxn id="54" idx="1"/>
          </p:cNvCxnSpPr>
          <p:nvPr/>
        </p:nvCxnSpPr>
        <p:spPr bwMode="auto">
          <a:xfrm flipV="1">
            <a:off x="2863573" y="3026979"/>
            <a:ext cx="747663" cy="3846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0F0BDF-CB60-46E4-9AA0-1B74E29B6406}"/>
              </a:ext>
            </a:extLst>
          </p:cNvPr>
          <p:cNvCxnSpPr>
            <a:stCxn id="54" idx="3"/>
            <a:endCxn id="58" idx="1"/>
          </p:cNvCxnSpPr>
          <p:nvPr/>
        </p:nvCxnSpPr>
        <p:spPr bwMode="auto">
          <a:xfrm>
            <a:off x="4794713" y="3026979"/>
            <a:ext cx="629108" cy="4285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직사각형 124">
            <a:extLst>
              <a:ext uri="{FF2B5EF4-FFF2-40B4-BE49-F238E27FC236}">
                <a16:creationId xmlns:a16="http://schemas.microsoft.com/office/drawing/2014/main" id="{6AA2B0E5-EC42-4C84-994A-778FC6501B06}"/>
              </a:ext>
            </a:extLst>
          </p:cNvPr>
          <p:cNvSpPr/>
          <p:nvPr/>
        </p:nvSpPr>
        <p:spPr>
          <a:xfrm>
            <a:off x="7322593" y="2819400"/>
            <a:ext cx="1586819" cy="4164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Broken pin connector _ check PCBA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4EA2C0-7A57-4607-B4AC-BFF85E4612BC}"/>
              </a:ext>
            </a:extLst>
          </p:cNvPr>
          <p:cNvCxnSpPr>
            <a:stCxn id="58" idx="3"/>
            <a:endCxn id="66" idx="1"/>
          </p:cNvCxnSpPr>
          <p:nvPr/>
        </p:nvCxnSpPr>
        <p:spPr bwMode="auto">
          <a:xfrm flipV="1">
            <a:off x="6851041" y="3027616"/>
            <a:ext cx="471552" cy="3648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직사각형 124">
            <a:extLst>
              <a:ext uri="{FF2B5EF4-FFF2-40B4-BE49-F238E27FC236}">
                <a16:creationId xmlns:a16="http://schemas.microsoft.com/office/drawing/2014/main" id="{A6CBACB8-857B-400B-873A-143B2C375E95}"/>
              </a:ext>
            </a:extLst>
          </p:cNvPr>
          <p:cNvSpPr/>
          <p:nvPr/>
        </p:nvSpPr>
        <p:spPr>
          <a:xfrm>
            <a:off x="9103367" y="2829021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Mr. Hai HW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629D11-E31F-42F2-886F-2ACA099FB128}"/>
              </a:ext>
            </a:extLst>
          </p:cNvPr>
          <p:cNvCxnSpPr>
            <a:stCxn id="66" idx="3"/>
            <a:endCxn id="72" idx="1"/>
          </p:cNvCxnSpPr>
          <p:nvPr/>
        </p:nvCxnSpPr>
        <p:spPr bwMode="auto">
          <a:xfrm flipV="1">
            <a:off x="8909412" y="3026978"/>
            <a:ext cx="193955" cy="638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3" name="직사각형 124">
            <a:extLst>
              <a:ext uri="{FF2B5EF4-FFF2-40B4-BE49-F238E27FC236}">
                <a16:creationId xmlns:a16="http://schemas.microsoft.com/office/drawing/2014/main" id="{02F03E4C-6B25-4594-A904-49A6F7A6D5AB}"/>
              </a:ext>
            </a:extLst>
          </p:cNvPr>
          <p:cNvSpPr/>
          <p:nvPr/>
        </p:nvSpPr>
        <p:spPr>
          <a:xfrm>
            <a:off x="3611236" y="3710617"/>
            <a:ext cx="1183477" cy="37207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Uniformity Function</a:t>
            </a:r>
          </a:p>
        </p:txBody>
      </p:sp>
      <p:sp>
        <p:nvSpPr>
          <p:cNvPr id="78" name="직사각형 124">
            <a:extLst>
              <a:ext uri="{FF2B5EF4-FFF2-40B4-BE49-F238E27FC236}">
                <a16:creationId xmlns:a16="http://schemas.microsoft.com/office/drawing/2014/main" id="{AF1F87F1-6034-411B-A915-807D211A396D}"/>
              </a:ext>
            </a:extLst>
          </p:cNvPr>
          <p:cNvSpPr/>
          <p:nvPr/>
        </p:nvSpPr>
        <p:spPr>
          <a:xfrm>
            <a:off x="5415782" y="3707926"/>
            <a:ext cx="1427220" cy="3774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Black Uniformity value</a:t>
            </a:r>
          </a:p>
        </p:txBody>
      </p:sp>
      <p:sp>
        <p:nvSpPr>
          <p:cNvPr id="81" name="직사각형 124">
            <a:extLst>
              <a:ext uri="{FF2B5EF4-FFF2-40B4-BE49-F238E27FC236}">
                <a16:creationId xmlns:a16="http://schemas.microsoft.com/office/drawing/2014/main" id="{8420CAE5-18AF-453C-961B-E2C9C8CEA2EA}"/>
              </a:ext>
            </a:extLst>
          </p:cNvPr>
          <p:cNvSpPr/>
          <p:nvPr/>
        </p:nvSpPr>
        <p:spPr>
          <a:xfrm>
            <a:off x="7314554" y="3688441"/>
            <a:ext cx="1586819" cy="4164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Improve software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AF4C39A-6C4C-4507-8D8E-700E8114055E}"/>
              </a:ext>
            </a:extLst>
          </p:cNvPr>
          <p:cNvCxnSpPr>
            <a:stCxn id="78" idx="3"/>
            <a:endCxn id="81" idx="1"/>
          </p:cNvCxnSpPr>
          <p:nvPr/>
        </p:nvCxnSpPr>
        <p:spPr bwMode="auto">
          <a:xfrm>
            <a:off x="6843002" y="3896656"/>
            <a:ext cx="471552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7" name="직사각형 124">
            <a:extLst>
              <a:ext uri="{FF2B5EF4-FFF2-40B4-BE49-F238E27FC236}">
                <a16:creationId xmlns:a16="http://schemas.microsoft.com/office/drawing/2014/main" id="{67F1B8FE-E275-4B4F-8EC5-A272AA3A0D0E}"/>
              </a:ext>
            </a:extLst>
          </p:cNvPr>
          <p:cNvSpPr/>
          <p:nvPr/>
        </p:nvSpPr>
        <p:spPr>
          <a:xfrm>
            <a:off x="9095328" y="3698700"/>
            <a:ext cx="717728" cy="3959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18" rIns="0" bIns="45718" anchor="ctr"/>
          <a:lstStyle/>
          <a:p>
            <a:pPr algn="ctr" eaLnBrk="1" latinLnBrk="0"/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LG Smart_H Regular" panose="020B0600000101010101"/>
                <a:cs typeface="Arial" panose="020B0604020202020204" pitchFamily="34" charset="0"/>
              </a:rPr>
              <a:t>HQ R&amp;D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938498C-816F-4E61-9CA7-375B5168EFF2}"/>
              </a:ext>
            </a:extLst>
          </p:cNvPr>
          <p:cNvCxnSpPr>
            <a:stCxn id="81" idx="3"/>
            <a:endCxn id="87" idx="1"/>
          </p:cNvCxnSpPr>
          <p:nvPr/>
        </p:nvCxnSpPr>
        <p:spPr bwMode="auto">
          <a:xfrm>
            <a:off x="8901373" y="3896657"/>
            <a:ext cx="193955" cy="0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14912F-ED54-4E11-8172-5D2E5AECB661}"/>
              </a:ext>
            </a:extLst>
          </p:cNvPr>
          <p:cNvCxnSpPr>
            <a:stCxn id="71" idx="3"/>
            <a:endCxn id="73" idx="1"/>
          </p:cNvCxnSpPr>
          <p:nvPr/>
        </p:nvCxnSpPr>
        <p:spPr bwMode="auto">
          <a:xfrm>
            <a:off x="2906129" y="3896657"/>
            <a:ext cx="705107" cy="0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651EDC-BC53-4F29-A438-9CCB88853252}"/>
              </a:ext>
            </a:extLst>
          </p:cNvPr>
          <p:cNvCxnSpPr>
            <a:stCxn id="73" idx="3"/>
            <a:endCxn id="78" idx="1"/>
          </p:cNvCxnSpPr>
          <p:nvPr/>
        </p:nvCxnSpPr>
        <p:spPr bwMode="auto">
          <a:xfrm flipV="1">
            <a:off x="4794713" y="3896656"/>
            <a:ext cx="621069" cy="1"/>
          </a:xfrm>
          <a:prstGeom prst="straightConnector1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3838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58C813-0DB8-4A39-A4D8-BBFF0639D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886" y="1969261"/>
            <a:ext cx="2257810" cy="150976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F9D283-0BE3-4211-9C24-96F49A398B87}"/>
              </a:ext>
            </a:extLst>
          </p:cNvPr>
          <p:cNvCxnSpPr>
            <a:cxnSpLocks/>
          </p:cNvCxnSpPr>
          <p:nvPr/>
        </p:nvCxnSpPr>
        <p:spPr bwMode="auto">
          <a:xfrm>
            <a:off x="461814" y="3962400"/>
            <a:ext cx="278804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pic>
        <p:nvPicPr>
          <p:cNvPr id="63" name="그림 1">
            <a:extLst>
              <a:ext uri="{FF2B5EF4-FFF2-40B4-BE49-F238E27FC236}">
                <a16:creationId xmlns:a16="http://schemas.microsoft.com/office/drawing/2014/main" id="{3BB4269D-C4B5-4018-8DB1-D3AE9D1DD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517" y="89801"/>
            <a:ext cx="3501891" cy="444992"/>
          </a:xfrm>
          <a:prstGeom prst="rect">
            <a:avLst/>
          </a:prstGeom>
        </p:spPr>
      </p:pic>
      <p:sp>
        <p:nvSpPr>
          <p:cNvPr id="64" name="제목 1">
            <a:extLst>
              <a:ext uri="{FF2B5EF4-FFF2-40B4-BE49-F238E27FC236}">
                <a16:creationId xmlns:a16="http://schemas.microsoft.com/office/drawing/2014/main" id="{9047FC76-DD99-4806-9048-DFF9426B47AE}"/>
              </a:ext>
            </a:extLst>
          </p:cNvPr>
          <p:cNvSpPr txBox="1">
            <a:spLocks/>
          </p:cNvSpPr>
          <p:nvPr/>
        </p:nvSpPr>
        <p:spPr bwMode="auto">
          <a:xfrm>
            <a:off x="1609" y="100364"/>
            <a:ext cx="74961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" panose="020B0600000101010101" pitchFamily="50" charset="-127"/>
              </a:rPr>
              <a:t>1.3 Define Project Y</a:t>
            </a:r>
            <a:endParaRPr lang="ko-KR" altLang="en-US" sz="1600" b="1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EF0FF8F-362D-491A-8F52-0E1B0A8C2FE8}"/>
              </a:ext>
            </a:extLst>
          </p:cNvPr>
          <p:cNvCxnSpPr/>
          <p:nvPr/>
        </p:nvCxnSpPr>
        <p:spPr>
          <a:xfrm>
            <a:off x="0" y="532164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Slide Number Placeholder 4">
            <a:extLst>
              <a:ext uri="{FF2B5EF4-FFF2-40B4-BE49-F238E27FC236}">
                <a16:creationId xmlns:a16="http://schemas.microsoft.com/office/drawing/2014/main" id="{8BEED19C-E20A-4522-AB67-2EFCA270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05 / 33</a:t>
            </a:r>
          </a:p>
          <a:p>
            <a:pPr algn="ctr" eaLnBrk="1" latinLnBrk="0"/>
            <a:endParaRPr lang="ko-KR" altLang="en-US" sz="1200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35B87B-F8D3-4412-A631-FE92C5556A7C}"/>
              </a:ext>
            </a:extLst>
          </p:cNvPr>
          <p:cNvSpPr/>
          <p:nvPr/>
        </p:nvSpPr>
        <p:spPr>
          <a:xfrm>
            <a:off x="207432" y="686965"/>
            <a:ext cx="82846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/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To reduce the Luminance test NG, Project Y is defined as “Luminance value”.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2EAB6C-D76B-40D5-8D75-24A6F062710A}"/>
              </a:ext>
            </a:extLst>
          </p:cNvPr>
          <p:cNvSpPr/>
          <p:nvPr/>
        </p:nvSpPr>
        <p:spPr>
          <a:xfrm>
            <a:off x="1828804" y="1179270"/>
            <a:ext cx="1654229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 eaLnBrk="1" latinLnBrk="0"/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What is Luminance 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05AB4F-F26F-45A9-8F7F-C5783CC870BF}"/>
              </a:ext>
            </a:extLst>
          </p:cNvPr>
          <p:cNvSpPr/>
          <p:nvPr/>
        </p:nvSpPr>
        <p:spPr>
          <a:xfrm>
            <a:off x="7095071" y="1179270"/>
            <a:ext cx="982125" cy="2769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 eaLnBrk="1" latinLnBrk="0"/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Project 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F16C62-F577-40B3-8AB6-3B7E6758EDA6}"/>
              </a:ext>
            </a:extLst>
          </p:cNvPr>
          <p:cNvSpPr/>
          <p:nvPr/>
        </p:nvSpPr>
        <p:spPr>
          <a:xfrm>
            <a:off x="283394" y="1665339"/>
            <a:ext cx="4606191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Luminance is a photometric quantity used for light sources and displays such as LCDs.</a:t>
            </a:r>
          </a:p>
          <a:p>
            <a:pPr eaLnBrk="1" latinLnBrk="0"/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Luminance is the luminous intensity per unit area emitted by a surface in a given direction (unit: cd/m², also called nit) </a:t>
            </a:r>
          </a:p>
          <a:p>
            <a:pPr eaLnBrk="1" latinLnBrk="0"/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   It quantifies the brightness level of the display.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96E2486-3128-4120-9217-9F837F3982C6}"/>
              </a:ext>
            </a:extLst>
          </p:cNvPr>
          <p:cNvSpPr/>
          <p:nvPr/>
        </p:nvSpPr>
        <p:spPr>
          <a:xfrm>
            <a:off x="5169435" y="1660181"/>
            <a:ext cx="44723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Project Y: “Luminance value” of the Porsche CID J1 Dual model.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91C40F2-5603-4149-B4BA-529994C06C94}"/>
              </a:ext>
            </a:extLst>
          </p:cNvPr>
          <p:cNvSpPr/>
          <p:nvPr/>
        </p:nvSpPr>
        <p:spPr bwMode="auto">
          <a:xfrm>
            <a:off x="63500" y="1557871"/>
            <a:ext cx="4889415" cy="508562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00A0EA0-F5A9-436D-9D0E-8A7F23604522}"/>
              </a:ext>
            </a:extLst>
          </p:cNvPr>
          <p:cNvSpPr/>
          <p:nvPr/>
        </p:nvSpPr>
        <p:spPr bwMode="auto">
          <a:xfrm>
            <a:off x="4953085" y="1557866"/>
            <a:ext cx="4889415" cy="508562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510BD3-45E9-4C25-A573-941E65C8BB4E}"/>
              </a:ext>
            </a:extLst>
          </p:cNvPr>
          <p:cNvGrpSpPr/>
          <p:nvPr/>
        </p:nvGrpSpPr>
        <p:grpSpPr>
          <a:xfrm>
            <a:off x="461814" y="2760869"/>
            <a:ext cx="4092785" cy="1430131"/>
            <a:chOff x="2874491" y="438296"/>
            <a:chExt cx="6320086" cy="316499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9F5129-BAF6-46F3-A235-D0CF5CD6BD42}"/>
                </a:ext>
              </a:extLst>
            </p:cNvPr>
            <p:cNvSpPr/>
            <p:nvPr/>
          </p:nvSpPr>
          <p:spPr>
            <a:xfrm>
              <a:off x="2874491" y="828247"/>
              <a:ext cx="4305300" cy="11176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G Smart_H Regular" panose="020B0600000101010101" pitchFamily="34" charset="-127"/>
                <a:ea typeface="LG Smart_H Regular" panose="020B0600000101010101" pitchFamily="34" charset="-127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7C9F4A3-9565-4093-84E6-8D3A1DD83121}"/>
                </a:ext>
              </a:extLst>
            </p:cNvPr>
            <p:cNvSpPr/>
            <p:nvPr/>
          </p:nvSpPr>
          <p:spPr>
            <a:xfrm>
              <a:off x="2992395" y="918098"/>
              <a:ext cx="4069492" cy="9378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Arial" panose="020B0600000101010101" pitchFamily="34" charset="-127"/>
                  <a:ea typeface="Arial" panose="020B0600000101010101" pitchFamily="34" charset="-127"/>
                </a:rPr>
                <a:t>+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828F0AD-5A19-4D73-BB8A-65B8CDAD978F}"/>
                </a:ext>
              </a:extLst>
            </p:cNvPr>
            <p:cNvCxnSpPr>
              <a:stCxn id="33" idx="0"/>
              <a:endCxn id="32" idx="2"/>
            </p:cNvCxnSpPr>
            <p:nvPr/>
          </p:nvCxnSpPr>
          <p:spPr>
            <a:xfrm>
              <a:off x="5027141" y="918098"/>
              <a:ext cx="0" cy="10277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F564BEA-F1BC-4357-9354-0C15C28CF1A0}"/>
                </a:ext>
              </a:extLst>
            </p:cNvPr>
            <p:cNvCxnSpPr>
              <a:stCxn id="37" idx="0"/>
            </p:cNvCxnSpPr>
            <p:nvPr/>
          </p:nvCxnSpPr>
          <p:spPr>
            <a:xfrm flipV="1">
              <a:off x="4011299" y="1397902"/>
              <a:ext cx="1" cy="937897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4767A0C-8332-4F58-BE3F-9B731132E6BA}"/>
                </a:ext>
              </a:extLst>
            </p:cNvPr>
            <p:cNvSpPr/>
            <p:nvPr/>
          </p:nvSpPr>
          <p:spPr>
            <a:xfrm>
              <a:off x="3625537" y="2526963"/>
              <a:ext cx="771525" cy="10763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G Smart_H Regular" panose="020B0600000101010101" pitchFamily="34" charset="-127"/>
                <a:ea typeface="LG Smart_H Regular" panose="020B0600000101010101" pitchFamily="34" charset="-127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6B4BDCF-6360-4CDC-B5A9-CF549A2654F6}"/>
                </a:ext>
              </a:extLst>
            </p:cNvPr>
            <p:cNvSpPr/>
            <p:nvPr/>
          </p:nvSpPr>
          <p:spPr>
            <a:xfrm>
              <a:off x="3874270" y="2335799"/>
              <a:ext cx="274058" cy="19116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G Smart_H Regular" panose="020B0600000101010101" pitchFamily="34" charset="-127"/>
                <a:ea typeface="LG Smart_H Regular" panose="020B0600000101010101" pitchFamily="34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1EA06A3-30E7-4165-AE11-51957BBD9466}"/>
                </a:ext>
              </a:extLst>
            </p:cNvPr>
            <p:cNvSpPr txBox="1"/>
            <p:nvPr/>
          </p:nvSpPr>
          <p:spPr>
            <a:xfrm>
              <a:off x="3592976" y="2795782"/>
              <a:ext cx="831445" cy="613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0000101010101" pitchFamily="34" charset="-127"/>
                  <a:ea typeface="Arial" panose="020B0600000101010101" pitchFamily="34" charset="-127"/>
                </a:rPr>
                <a:t>Camera</a:t>
              </a:r>
            </a:p>
            <a:p>
              <a:pPr algn="ctr"/>
              <a:r>
                <a:rPr lang="en-US" sz="600" dirty="0">
                  <a:latin typeface="Arial" panose="020B0600000101010101" pitchFamily="34" charset="-127"/>
                  <a:ea typeface="Arial" panose="020B0600000101010101" pitchFamily="34" charset="-127"/>
                </a:rPr>
                <a:t>CS2000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C1C1BAD-EBC5-4492-96B1-BDA3AF775ABC}"/>
                </a:ext>
              </a:extLst>
            </p:cNvPr>
            <p:cNvSpPr txBox="1"/>
            <p:nvPr/>
          </p:nvSpPr>
          <p:spPr>
            <a:xfrm>
              <a:off x="3742627" y="438296"/>
              <a:ext cx="559928" cy="5108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0000101010101" pitchFamily="34" charset="-127"/>
                  <a:ea typeface="Arial" panose="020B0600000101010101" pitchFamily="34" charset="-127"/>
                </a:rPr>
                <a:t>PID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2AE40D-F801-4C4A-9EF9-F9D2A39F3647}"/>
                </a:ext>
              </a:extLst>
            </p:cNvPr>
            <p:cNvSpPr txBox="1"/>
            <p:nvPr/>
          </p:nvSpPr>
          <p:spPr>
            <a:xfrm>
              <a:off x="5819778" y="438296"/>
              <a:ext cx="564878" cy="5108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0000101010101" pitchFamily="34" charset="-127"/>
                  <a:ea typeface="Arial" panose="020B0600000101010101" pitchFamily="34" charset="-127"/>
                </a:rPr>
                <a:t>CID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BE85C0-15EE-41DE-B564-360A2B3B0D71}"/>
                </a:ext>
              </a:extLst>
            </p:cNvPr>
            <p:cNvSpPr txBox="1"/>
            <p:nvPr/>
          </p:nvSpPr>
          <p:spPr>
            <a:xfrm>
              <a:off x="7250924" y="1094159"/>
              <a:ext cx="1943653" cy="5108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0000101010101" pitchFamily="34" charset="-127"/>
                  <a:ea typeface="Arial" panose="020B0600000101010101" pitchFamily="34" charset="-127"/>
                </a:rPr>
                <a:t>J1 Dual PPR RHD set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6F77CA24-93D9-4FB1-B981-DD60FB4D2381}"/>
              </a:ext>
            </a:extLst>
          </p:cNvPr>
          <p:cNvSpPr/>
          <p:nvPr/>
        </p:nvSpPr>
        <p:spPr>
          <a:xfrm>
            <a:off x="256209" y="4508325"/>
            <a:ext cx="458046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The sensor inside the detector receives the light from the center of the LCD, calculates the luminance value and returns the measurement result to the program.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E5C9F6-7913-475A-85E1-43C17ABA4F1D}"/>
              </a:ext>
            </a:extLst>
          </p:cNvPr>
          <p:cNvSpPr/>
          <p:nvPr/>
        </p:nvSpPr>
        <p:spPr>
          <a:xfrm>
            <a:off x="256208" y="5267236"/>
            <a:ext cx="472015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Issue: The luminance measured on the PID screen is lower than the average of the compared values, so the luminance test result falls below the spec.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0DAEF3-BCAB-4209-A697-FA691623BE35}"/>
              </a:ext>
            </a:extLst>
          </p:cNvPr>
          <p:cNvGrpSpPr/>
          <p:nvPr/>
        </p:nvGrpSpPr>
        <p:grpSpPr>
          <a:xfrm>
            <a:off x="5059910" y="4454756"/>
            <a:ext cx="4845498" cy="2026116"/>
            <a:chOff x="5057775" y="4374684"/>
            <a:chExt cx="4673065" cy="20261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DBA1ED-3148-49D7-A167-BF35898176B1}"/>
                </a:ext>
              </a:extLst>
            </p:cNvPr>
            <p:cNvSpPr/>
            <p:nvPr/>
          </p:nvSpPr>
          <p:spPr>
            <a:xfrm>
              <a:off x="5057775" y="6139190"/>
              <a:ext cx="4472313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Project Y= Luminance value = f(x1, x2, …, xn) + ε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E2864A1-6435-4223-BFD7-661C15F6E3E5}"/>
                </a:ext>
              </a:extLst>
            </p:cNvPr>
            <p:cNvSpPr/>
            <p:nvPr/>
          </p:nvSpPr>
          <p:spPr>
            <a:xfrm>
              <a:off x="5057775" y="4374684"/>
              <a:ext cx="4673065" cy="17851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Measurement method: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The set is connected to the test bench; when the program sends the request, the display shows the highest brightness level.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The J1 display shows a white screen at maximum brightness.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The CS2000 detector moves to the center of the PID LCD, recognizes the center of the display and measures the luminance.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Because the center always has higher brightness than the corner and edges, the detector must be placed exactly at the center.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0000101010101" pitchFamily="34" charset="-127"/>
                  <a:ea typeface="Arial" panose="020B0600000101010101" pitchFamily="34" charset="-127"/>
                  <a:cs typeface="Arial" panose="020B0604020202020204" pitchFamily="34" charset="0"/>
                </a:rPr>
                <a:t>The result is recorded and sent back to the program.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5DF5708-2DFB-4E65-8558-59C7418E7751}"/>
              </a:ext>
            </a:extLst>
          </p:cNvPr>
          <p:cNvSpPr/>
          <p:nvPr/>
        </p:nvSpPr>
        <p:spPr>
          <a:xfrm>
            <a:off x="5161251" y="2277557"/>
            <a:ext cx="4673065" cy="2177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Luminance formula:</a:t>
            </a:r>
          </a:p>
          <a:p>
            <a:r>
              <a:rPr lang="fr-F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L = d²Φ / (dA · dω · cos θ)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Spec: 800-2000 (</a:t>
            </a:r>
            <a:r>
              <a:rPr lang="en-US" sz="1100" i="1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cd/m</a:t>
            </a:r>
            <a:r>
              <a:rPr lang="en-US" sz="1100" i="1" baseline="300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2</a:t>
            </a:r>
            <a:r>
              <a:rPr lang="en-US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)</a:t>
            </a:r>
          </a:p>
          <a:p>
            <a:pPr marL="171450" indent="-1714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fr-F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d²Φ stands for the luminous flux in lumens (lm)</a:t>
            </a: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θ stands for the angle between the surface normal of the display and the sight line of the detector, in this case θ = 0°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dA stands for the differential area in square meters (m²)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>
                <a:latin typeface="LG Smart_H Regular" panose="020B0600000101010101" pitchFamily="34" charset="-127"/>
                <a:ea typeface="LG Smart_H Regular" panose="020B0600000101010101" pitchFamily="34" charset="-127"/>
                <a:cs typeface="Arial" panose="020B0604020202020204" pitchFamily="34" charset="0"/>
              </a:rPr>
              <a:t>dω stands for the differential solid angle in steradians (sr)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4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28464" y="1031890"/>
            <a:ext cx="36122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altLang="ko-KR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Equipment information:</a:t>
            </a:r>
          </a:p>
          <a:p>
            <a:pPr eaLnBrk="1" latinLnBrk="0"/>
            <a:endParaRPr lang="en-US" altLang="ko-KR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285750" indent="-285750" eaLnBrk="1" latinLnBrk="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Equipment: 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	- Power supply, Pallet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	- CID bench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	- CANSIM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	- Camera CS2000 (spectroradiometer)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	- Resolution: 0.01 Cd/m</a:t>
            </a:r>
            <a:r>
              <a:rPr lang="en-US" altLang="ko-KR" sz="1000" baseline="30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		</a:t>
            </a:r>
          </a:p>
          <a:p>
            <a:pPr marL="285750" indent="-2857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Program: LG Moohantech</a:t>
            </a:r>
          </a:p>
          <a:p>
            <a:pPr eaLnBrk="1" latinLnBrk="0"/>
            <a:endParaRPr lang="en-US" sz="1200" dirty="0">
              <a:solidFill>
                <a:srgbClr val="0000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23E752-56C7-4841-8742-6226DE8F5A23}"/>
              </a:ext>
            </a:extLst>
          </p:cNvPr>
          <p:cNvSpPr txBox="1"/>
          <p:nvPr/>
        </p:nvSpPr>
        <p:spPr>
          <a:xfrm>
            <a:off x="128464" y="3473398"/>
            <a:ext cx="3671999" cy="2031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altLang="ko-KR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Function test Luminance station</a:t>
            </a:r>
            <a:endParaRPr lang="en-US" altLang="ko-KR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171450" indent="-171450" algn="just" eaLnBrk="1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Checking brightness level</a:t>
            </a:r>
          </a:p>
          <a:p>
            <a:pPr marL="171450" indent="-171450" algn="just" eaLnBrk="1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Detect and measure Luminance value</a:t>
            </a:r>
          </a:p>
          <a:p>
            <a:pPr marL="171450" indent="-171450" algn="just" eaLnBrk="1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Test set without CAN mode</a:t>
            </a:r>
          </a:p>
          <a:p>
            <a:pPr marL="171450" indent="-171450" algn="just" eaLnBrk="1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Checking CID black / white patterns</a:t>
            </a:r>
          </a:p>
          <a:p>
            <a:pPr marL="171450" indent="-171450" algn="just" eaLnBrk="1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Calculate contrast ratio</a:t>
            </a:r>
          </a:p>
          <a:p>
            <a:pPr marL="285750" indent="-285750" eaLnBrk="1" latinLnBrk="0">
              <a:buFont typeface="Arial" panose="020B0604020202020204" pitchFamily="34" charset="0"/>
              <a:buChar char="•"/>
            </a:pPr>
            <a:endParaRPr kumimoji="0" lang="ja-JP" altLang="ja-JP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eaLnBrk="1" latinLnBrk="0"/>
            <a:endParaRPr lang="ko-KR" alt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C889702-57C5-4178-B462-2E3106F5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06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5" name="AutoShape 55">
            <a:extLst>
              <a:ext uri="{FF2B5EF4-FFF2-40B4-BE49-F238E27FC236}">
                <a16:creationId xmlns:a16="http://schemas.microsoft.com/office/drawing/2014/main" id="{72F5C699-BB82-4EC1-AB3C-FC3532615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77766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6" name="AutoShape 56">
            <a:extLst>
              <a:ext uri="{FF2B5EF4-FFF2-40B4-BE49-F238E27FC236}">
                <a16:creationId xmlns:a16="http://schemas.microsoft.com/office/drawing/2014/main" id="{3F7F874F-52C3-414A-81B9-A03A708C3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3022" y="177766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9" name="AutoShape 57">
            <a:extLst>
              <a:ext uri="{FF2B5EF4-FFF2-40B4-BE49-F238E27FC236}">
                <a16:creationId xmlns:a16="http://schemas.microsoft.com/office/drawing/2014/main" id="{304107E6-0AD0-4838-953F-7653F1445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872" y="177766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1" name="AutoShape 59">
            <a:extLst>
              <a:ext uri="{FF2B5EF4-FFF2-40B4-BE49-F238E27FC236}">
                <a16:creationId xmlns:a16="http://schemas.microsoft.com/office/drawing/2014/main" id="{BC0BEDAF-463F-4A5C-88A0-276D21275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77766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2" name="AutoShape 58">
            <a:extLst>
              <a:ext uri="{FF2B5EF4-FFF2-40B4-BE49-F238E27FC236}">
                <a16:creationId xmlns:a16="http://schemas.microsoft.com/office/drawing/2014/main" id="{B0317FA2-6AED-403D-B6EA-51C7D84B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360" y="33304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6FC1DF0A-5B10-4BE6-85CD-B2B54F1E8280}"/>
              </a:ext>
            </a:extLst>
          </p:cNvPr>
          <p:cNvSpPr txBox="1">
            <a:spLocks/>
          </p:cNvSpPr>
          <p:nvPr/>
        </p:nvSpPr>
        <p:spPr>
          <a:xfrm>
            <a:off x="80531" y="60281"/>
            <a:ext cx="3823701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.1 Gage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R&amp;R outline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7318AFB-3E4E-4F2D-9F27-68979D22E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430" y="4354954"/>
            <a:ext cx="1694969" cy="169496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F23290D-FFCC-4467-B33A-7BFD68762FF8}"/>
              </a:ext>
            </a:extLst>
          </p:cNvPr>
          <p:cNvSpPr txBox="1"/>
          <p:nvPr/>
        </p:nvSpPr>
        <p:spPr>
          <a:xfrm>
            <a:off x="6104699" y="6049923"/>
            <a:ext cx="1887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/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Camera CS2000 (spectroradiometer)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DA2A8A-8142-4788-BCA7-5A9926BF1C45}"/>
              </a:ext>
            </a:extLst>
          </p:cNvPr>
          <p:cNvSpPr txBox="1"/>
          <p:nvPr/>
        </p:nvSpPr>
        <p:spPr>
          <a:xfrm>
            <a:off x="3863179" y="3656060"/>
            <a:ext cx="2020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/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Luminance station diagram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0F06E4-0F81-4918-87F9-CB372E4F5864}"/>
              </a:ext>
            </a:extLst>
          </p:cNvPr>
          <p:cNvGrpSpPr/>
          <p:nvPr/>
        </p:nvGrpSpPr>
        <p:grpSpPr>
          <a:xfrm>
            <a:off x="4024176" y="1580371"/>
            <a:ext cx="5845556" cy="2034838"/>
            <a:chOff x="4024176" y="1580371"/>
            <a:chExt cx="5845556" cy="203483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B6C22B7-D86A-457E-97D6-DC13E71AE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4176" y="1580371"/>
              <a:ext cx="5819775" cy="203483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F84F16-1BE4-4851-BE3B-8C427D42D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4243" y="2362201"/>
              <a:ext cx="1025489" cy="609599"/>
            </a:xfrm>
            <a:prstGeom prst="rect">
              <a:avLst/>
            </a:prstGeom>
          </p:spPr>
        </p:pic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EFFC24-7EB8-4BF2-8848-23404B7E3518}"/>
              </a:ext>
            </a:extLst>
          </p:cNvPr>
          <p:cNvCxnSpPr>
            <a:cxnSpLocks/>
          </p:cNvCxnSpPr>
          <p:nvPr/>
        </p:nvCxnSpPr>
        <p:spPr bwMode="auto">
          <a:xfrm>
            <a:off x="6934063" y="3656060"/>
            <a:ext cx="0" cy="698894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6941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3972BB8-0723-4658-8EFE-46045E1E10A0}"/>
              </a:ext>
            </a:extLst>
          </p:cNvPr>
          <p:cNvSpPr txBox="1"/>
          <p:nvPr/>
        </p:nvSpPr>
        <p:spPr>
          <a:xfrm>
            <a:off x="72000" y="6120000"/>
            <a:ext cx="5112000" cy="46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sz="1000">
                <a:latin typeface="Arial"/>
              </a:rPr>
              <a:t>✔ Equipment is OK. Camera CS2000 of Station 1 can be used to measure Luminance value.</a:t>
            </a:r>
            <a:endParaRPr 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82D0EC-51C2-4351-8B9B-1F085627F8A3}"/>
              </a:ext>
            </a:extLst>
          </p:cNvPr>
          <p:cNvSpPr txBox="1"/>
          <p:nvPr/>
        </p:nvSpPr>
        <p:spPr>
          <a:xfrm>
            <a:off x="72000" y="5094000"/>
            <a:ext cx="5112000" cy="97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sz="1000" b="1">
                <a:latin typeface="Arial"/>
              </a:rPr>
              <a:t>Conclusion</a:t>
            </a:r>
            <a:endParaRPr 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eaLnBrk="1" latinLnBrk="0"/>
            <a:r>
              <a:rPr sz="1000" b="0">
                <a:latin typeface="Arial"/>
              </a:rPr>
              <a:t>• P value = 0.636 &gt; 0.05  Fail to reject H0 -&gt; No significant bias (PASS)</a:t>
            </a:r>
          </a:p>
          <a:p>
            <a:pPr eaLnBrk="1" latinLnBrk="0"/>
            <a:r>
              <a:rPr sz="1000" b="0">
                <a:latin typeface="Arial"/>
              </a:rPr>
              <a:t>• Cg = 3.20 (Std ≥ 1.33) PASS | Cgk = 3.17 (Std ≥ 1.33) PASS</a:t>
            </a:r>
          </a:p>
          <a:p>
            <a:pPr eaLnBrk="1" latinLnBrk="0"/>
            <a:r>
              <a:rPr sz="1000" b="0">
                <a:latin typeface="Arial"/>
              </a:rPr>
              <a:t>• %Var(Repeatability) = 6.25% (&lt; 10%) PASS</a:t>
            </a:r>
          </a:p>
          <a:p>
            <a:pPr eaLnBrk="1" latinLnBrk="0"/>
            <a:r>
              <a:rPr sz="1000" b="0">
                <a:latin typeface="Arial"/>
              </a:rPr>
              <a:t>• %Var(Repeatability &amp; Bias) = 6.31% (&lt; 10%) PASS</a:t>
            </a:r>
          </a:p>
          <a:p>
            <a:pPr eaLnBrk="1" latinLnBrk="0"/>
            <a:r>
              <a:rPr sz="1000" b="0">
                <a:latin typeface="Arial"/>
              </a:rPr>
              <a:t>• Resolution = 0.01 &lt; 5% of Tolerance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16442" y="96965"/>
            <a:ext cx="2599565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.2 Type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1 Study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9" name="AutoShape 55">
            <a:extLst>
              <a:ext uri="{FF2B5EF4-FFF2-40B4-BE49-F238E27FC236}">
                <a16:creationId xmlns:a16="http://schemas.microsoft.com/office/drawing/2014/main" id="{48A61023-CDBC-4C6D-9BB1-EFBB3E5D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600" y="186782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20" name="AutoShape 56">
            <a:extLst>
              <a:ext uri="{FF2B5EF4-FFF2-40B4-BE49-F238E27FC236}">
                <a16:creationId xmlns:a16="http://schemas.microsoft.com/office/drawing/2014/main" id="{BACA622A-2FAA-4B1D-8427-F75634CC5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625" y="186782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1" name="AutoShape 57">
            <a:extLst>
              <a:ext uri="{FF2B5EF4-FFF2-40B4-BE49-F238E27FC236}">
                <a16:creationId xmlns:a16="http://schemas.microsoft.com/office/drawing/2014/main" id="{75A7294A-CC51-4608-A86C-6EFFB224E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475" y="186782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2" name="AutoShape 59">
            <a:extLst>
              <a:ext uri="{FF2B5EF4-FFF2-40B4-BE49-F238E27FC236}">
                <a16:creationId xmlns:a16="http://schemas.microsoft.com/office/drawing/2014/main" id="{9DB1964C-2D8B-4B4E-9C14-7211818B6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050" y="186782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3" name="AutoShape 58">
            <a:extLst>
              <a:ext uri="{FF2B5EF4-FFF2-40B4-BE49-F238E27FC236}">
                <a16:creationId xmlns:a16="http://schemas.microsoft.com/office/drawing/2014/main" id="{734B0F39-A31B-4819-A185-C7981959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8963" y="42320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0E05E3-9DC9-430D-9803-A1CD329A8191}"/>
              </a:ext>
            </a:extLst>
          </p:cNvPr>
          <p:cNvSpPr txBox="1"/>
          <p:nvPr/>
        </p:nvSpPr>
        <p:spPr>
          <a:xfrm>
            <a:off x="5299553" y="3075057"/>
            <a:ext cx="2355668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>
              <a:spcBef>
                <a:spcPts val="600"/>
              </a:spcBef>
            </a:pPr>
            <a:r>
              <a:rPr lang="en-GB" sz="1000" dirty="0">
                <a:latin typeface="Arial" panose="020B0600000101010101" pitchFamily="34" charset="-127"/>
                <a:ea typeface="Arial" panose="020B0600000101010101" pitchFamily="34" charset="-127"/>
              </a:rPr>
              <a:t>Spec: </a:t>
            </a:r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800.00 ~ 2000.00</a:t>
            </a:r>
          </a:p>
          <a:p>
            <a:pPr eaLnBrk="1" latinLnBrk="0">
              <a:spcBef>
                <a:spcPts val="600"/>
              </a:spcBef>
            </a:pPr>
            <a:r>
              <a:rPr lang="en-GB" sz="1000" dirty="0">
                <a:latin typeface="Arial" panose="020B0600000101010101" pitchFamily="34" charset="-127"/>
                <a:ea typeface="Arial" panose="020B0600000101010101" pitchFamily="34" charset="-127"/>
              </a:rPr>
              <a:t>Reference value: 910 (golden sample)</a:t>
            </a:r>
          </a:p>
          <a:p>
            <a:pPr eaLnBrk="1" latinLnBrk="0">
              <a:spcBef>
                <a:spcPts val="600"/>
              </a:spcBef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Resolution of Instrument: 0.01 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3A97A1D6-8318-4AE8-ABA4-3E86A345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13680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07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5E36D-EEFF-4453-A88A-CDA04A433E1C}"/>
              </a:ext>
            </a:extLst>
          </p:cNvPr>
          <p:cNvSpPr txBox="1"/>
          <p:nvPr/>
        </p:nvSpPr>
        <p:spPr>
          <a:xfrm>
            <a:off x="63248" y="535377"/>
            <a:ext cx="2070352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 Luminance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AFABC0-A57C-485A-81F0-216C152D8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516726"/>
              </p:ext>
            </p:extLst>
          </p:nvPr>
        </p:nvGraphicFramePr>
        <p:xfrm>
          <a:off x="239979" y="2021872"/>
          <a:ext cx="3670300" cy="3076575"/>
        </p:xfrm>
        <a:graphic>
          <a:graphicData uri="http://schemas.openxmlformats.org/drawingml/2006/table">
            <a:tbl>
              <a:tblPr/>
              <a:tblGrid>
                <a:gridCol w="369621">
                  <a:extLst>
                    <a:ext uri="{9D8B030D-6E8A-4147-A177-3AD203B41FA5}">
                      <a16:colId xmlns:a16="http://schemas.microsoft.com/office/drawing/2014/main" val="186962403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9738715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77533893"/>
                    </a:ext>
                  </a:extLst>
                </a:gridCol>
                <a:gridCol w="1395679">
                  <a:extLst>
                    <a:ext uri="{9D8B030D-6E8A-4147-A177-3AD203B41FA5}">
                      <a16:colId xmlns:a16="http://schemas.microsoft.com/office/drawing/2014/main" val="483160888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682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908.00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911.46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0701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917.93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890.79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0002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915.27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908.47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0161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896.15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926.02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0778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924.05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65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924.00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928.50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926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917.44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906.05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3398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894.39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924.20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5519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888.30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865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912.50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588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930.70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0687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911.27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891.90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2581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927.62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908.25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7318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900.60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188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899.24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42240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E1B24B7-1F77-4AD9-8A9B-D0EF17730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93" y="535377"/>
            <a:ext cx="3670299" cy="248431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E5E6CD-4811-4F25-876B-8510C61287CE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905DE67-B74C-4227-ABF6-E60CDFA1E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330" y="3747840"/>
            <a:ext cx="4558670" cy="30765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BDCA5C5-3828-49E1-AF1F-F35A3BFEEDC1}"/>
              </a:ext>
            </a:extLst>
          </p:cNvPr>
          <p:cNvSpPr txBox="1"/>
          <p:nvPr/>
        </p:nvSpPr>
        <p:spPr>
          <a:xfrm>
            <a:off x="247821" y="838200"/>
            <a:ext cx="5354074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 chose the Type 1 gage study to assess the measurement capability of the gage, based on its repeatability and bias.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In this case, one sample (golden sample, 910 Cd/m²) is measured 30 times.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H0: Bias = 0 in measurement system.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H1: Bias ≠ 0 in measurement system.</a:t>
            </a:r>
          </a:p>
        </p:txBody>
      </p:sp>
    </p:spTree>
    <p:extLst>
      <p:ext uri="{BB962C8B-B14F-4D97-AF65-F5344CB8AC3E}">
        <p14:creationId xmlns:p14="http://schemas.microsoft.com/office/powerpoint/2010/main" val="321096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16442" y="96965"/>
            <a:ext cx="2599565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.2 Type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1 Study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9" name="AutoShape 55">
            <a:extLst>
              <a:ext uri="{FF2B5EF4-FFF2-40B4-BE49-F238E27FC236}">
                <a16:creationId xmlns:a16="http://schemas.microsoft.com/office/drawing/2014/main" id="{48A61023-CDBC-4C6D-9BB1-EFBB3E5D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600" y="186782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20" name="AutoShape 56">
            <a:extLst>
              <a:ext uri="{FF2B5EF4-FFF2-40B4-BE49-F238E27FC236}">
                <a16:creationId xmlns:a16="http://schemas.microsoft.com/office/drawing/2014/main" id="{BACA622A-2FAA-4B1D-8427-F75634CC5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625" y="186782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1" name="AutoShape 57">
            <a:extLst>
              <a:ext uri="{FF2B5EF4-FFF2-40B4-BE49-F238E27FC236}">
                <a16:creationId xmlns:a16="http://schemas.microsoft.com/office/drawing/2014/main" id="{75A7294A-CC51-4608-A86C-6EFFB224E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475" y="186782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2" name="AutoShape 59">
            <a:extLst>
              <a:ext uri="{FF2B5EF4-FFF2-40B4-BE49-F238E27FC236}">
                <a16:creationId xmlns:a16="http://schemas.microsoft.com/office/drawing/2014/main" id="{9DB1964C-2D8B-4B4E-9C14-7211818B6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050" y="186782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3" name="AutoShape 58">
            <a:extLst>
              <a:ext uri="{FF2B5EF4-FFF2-40B4-BE49-F238E27FC236}">
                <a16:creationId xmlns:a16="http://schemas.microsoft.com/office/drawing/2014/main" id="{734B0F39-A31B-4819-A185-C7981959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8963" y="42320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9338DD2E-759B-4BBC-A8EF-8DA487CAE85E}"/>
              </a:ext>
            </a:extLst>
          </p:cNvPr>
          <p:cNvSpPr txBox="1">
            <a:spLocks/>
          </p:cNvSpPr>
          <p:nvPr/>
        </p:nvSpPr>
        <p:spPr>
          <a:xfrm>
            <a:off x="3728864" y="6542599"/>
            <a:ext cx="1368000" cy="29311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latinLnBrk="0"/>
            <a:r>
              <a:rPr sz="1000" b="0">
                <a:latin typeface="Arial"/>
              </a:rPr>
              <a:t>08 / 33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AFF54-087B-4DB0-9D22-8021B64E17B1}"/>
              </a:ext>
            </a:extLst>
          </p:cNvPr>
          <p:cNvSpPr txBox="1"/>
          <p:nvPr/>
        </p:nvSpPr>
        <p:spPr>
          <a:xfrm>
            <a:off x="63248" y="522000"/>
            <a:ext cx="2070352" cy="23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0369EA-41CF-4BB7-95EE-33A74A74A411}"/>
              </a:ext>
            </a:extLst>
          </p:cNvPr>
          <p:cNvSpPr txBox="1"/>
          <p:nvPr/>
        </p:nvSpPr>
        <p:spPr>
          <a:xfrm>
            <a:off x="72000" y="5094000"/>
            <a:ext cx="5112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sz="1000" b="1">
                <a:latin typeface="Arial"/>
              </a:rPr>
              <a:t>Conclusion</a:t>
            </a:r>
          </a:p>
          <a:p>
            <a:pPr eaLnBrk="1" latinLnBrk="0"/>
            <a:r>
              <a:rPr sz="1000" b="0">
                <a:latin typeface="Arial"/>
              </a:rPr>
              <a:t>• P value &lt; 0.001 (≤ 0.05)  Reject H0 -&gt; Bias ≠ 0 (FAIL)</a:t>
            </a:r>
          </a:p>
          <a:p>
            <a:pPr eaLnBrk="1" latinLnBrk="0"/>
            <a:r>
              <a:rPr sz="1000" b="0">
                <a:latin typeface="Arial"/>
              </a:rPr>
              <a:t>• Cg = 0.91 (Std ≥ 1.33) FAIL | Cgk = 0.49 (Std ≥ 1.33) FAIL</a:t>
            </a:r>
          </a:p>
          <a:p>
            <a:pPr eaLnBrk="1" latinLnBrk="0"/>
            <a:r>
              <a:rPr sz="1000" b="0">
                <a:latin typeface="Arial"/>
              </a:rPr>
              <a:t>• %Var(Repeatability) = 21.99% (&gt; 10%) FAIL</a:t>
            </a:r>
          </a:p>
          <a:p>
            <a:pPr eaLnBrk="1" latinLnBrk="0"/>
            <a:r>
              <a:rPr sz="1000" b="0">
                <a:latin typeface="Arial"/>
              </a:rPr>
              <a:t>• %Var(Repeatability &amp; Bias) = 40.63% (&gt; 10%) FAIL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F548D-3A7A-4D5B-91E6-696720BAE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737" y="508838"/>
            <a:ext cx="3670300" cy="251552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62E103-568D-44B2-B836-06647021E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392145"/>
              </p:ext>
            </p:extLst>
          </p:nvPr>
        </p:nvGraphicFramePr>
        <p:xfrm>
          <a:off x="153963" y="1957420"/>
          <a:ext cx="3670300" cy="3152775"/>
        </p:xfrm>
        <a:graphic>
          <a:graphicData uri="http://schemas.openxmlformats.org/drawingml/2006/table">
            <a:tbl>
              <a:tblPr/>
              <a:tblGrid>
                <a:gridCol w="379437">
                  <a:extLst>
                    <a:ext uri="{9D8B030D-6E8A-4147-A177-3AD203B41FA5}">
                      <a16:colId xmlns:a16="http://schemas.microsoft.com/office/drawing/2014/main" val="2928826695"/>
                    </a:ext>
                  </a:extLst>
                </a:gridCol>
                <a:gridCol w="1485321">
                  <a:extLst>
                    <a:ext uri="{9D8B030D-6E8A-4147-A177-3AD203B41FA5}">
                      <a16:colId xmlns:a16="http://schemas.microsoft.com/office/drawing/2014/main" val="3225775588"/>
                    </a:ext>
                  </a:extLst>
                </a:gridCol>
                <a:gridCol w="419679">
                  <a:extLst>
                    <a:ext uri="{9D8B030D-6E8A-4147-A177-3AD203B41FA5}">
                      <a16:colId xmlns:a16="http://schemas.microsoft.com/office/drawing/2014/main" val="1137933355"/>
                    </a:ext>
                  </a:extLst>
                </a:gridCol>
                <a:gridCol w="1385863">
                  <a:extLst>
                    <a:ext uri="{9D8B030D-6E8A-4147-A177-3AD203B41FA5}">
                      <a16:colId xmlns:a16="http://schemas.microsoft.com/office/drawing/2014/main" val="2284661630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10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14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779.90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872.50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8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811.25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881.38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844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794.00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820.60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0872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829.24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905.68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110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887.44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897.04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1781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844.39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833.60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522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851.46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885.70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0592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799.79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838.27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8779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837.62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1787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876.02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863.52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9748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904.05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892.00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777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918.50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847.93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676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890.05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885.27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1041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904.20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786.15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8332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748.30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859.40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796975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501724-7158-4FE8-ACBA-6688A19E2B86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C9BD94B-49AB-4069-9056-4246765E0D3B}"/>
              </a:ext>
            </a:extLst>
          </p:cNvPr>
          <p:cNvSpPr txBox="1"/>
          <p:nvPr/>
        </p:nvSpPr>
        <p:spPr>
          <a:xfrm>
            <a:off x="5482309" y="3107127"/>
            <a:ext cx="2355668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>
              <a:spcBef>
                <a:spcPts val="600"/>
              </a:spcBef>
            </a:pPr>
            <a:r>
              <a:rPr lang="en-GB" sz="1000" dirty="0">
                <a:latin typeface="Arial" panose="020B0600000101010101" pitchFamily="34" charset="-127"/>
                <a:ea typeface="Arial" panose="020B0600000101010101" pitchFamily="34" charset="-127"/>
              </a:rPr>
              <a:t>Spec: </a:t>
            </a:r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800.00 ~ 2000.00</a:t>
            </a:r>
          </a:p>
          <a:p>
            <a:pPr eaLnBrk="1" latinLnBrk="0">
              <a:spcBef>
                <a:spcPts val="600"/>
              </a:spcBef>
            </a:pPr>
            <a:r>
              <a:rPr lang="en-GB" sz="1000" dirty="0">
                <a:latin typeface="Arial" panose="020B0600000101010101" pitchFamily="34" charset="-127"/>
                <a:ea typeface="Arial" panose="020B0600000101010101" pitchFamily="34" charset="-127"/>
              </a:rPr>
              <a:t>Reference value: 910 (golden sample)</a:t>
            </a:r>
          </a:p>
          <a:p>
            <a:pPr eaLnBrk="1" latinLnBrk="0">
              <a:spcBef>
                <a:spcPts val="600"/>
              </a:spcBef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Resolution of Instrument: 0.01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B3597-6FB3-429B-AD6A-0BC49F816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865" y="3811302"/>
            <a:ext cx="4256925" cy="285991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C130328-DF82-4F66-919E-E17B44353E09}"/>
              </a:ext>
            </a:extLst>
          </p:cNvPr>
          <p:cNvSpPr txBox="1"/>
          <p:nvPr/>
        </p:nvSpPr>
        <p:spPr>
          <a:xfrm>
            <a:off x="95421" y="792716"/>
            <a:ext cx="5354074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 chose the Type 1 gage study to assess the measurement capability of the gage, based on its repeatability and bias.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In this case, one sample (golden sample, 910 Cd/m²) is measured 30 times.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H0: Bias = 0 in measurement system.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H1: Bias ≠ 0 in measurement system.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6D4B9C-38B5-48CE-89A8-155AFE43FEA6}"/>
              </a:ext>
            </a:extLst>
          </p:cNvPr>
          <p:cNvSpPr txBox="1"/>
          <p:nvPr/>
        </p:nvSpPr>
        <p:spPr>
          <a:xfrm>
            <a:off x="72000" y="6048000"/>
            <a:ext cx="5112000" cy="46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à"/>
            </a:pPr>
            <a:r>
              <a:rPr sz="1000">
                <a:latin typeface="Arial"/>
              </a:rPr>
              <a:t>✖ Equipment has problem. Cannot measure consistently (large repeatability error and significant bias). Need to improve measurement system.</a:t>
            </a:r>
          </a:p>
        </p:txBody>
      </p:sp>
    </p:spTree>
    <p:extLst>
      <p:ext uri="{BB962C8B-B14F-4D97-AF65-F5344CB8AC3E}">
        <p14:creationId xmlns:p14="http://schemas.microsoft.com/office/powerpoint/2010/main" val="4026112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67838" y="109779"/>
            <a:ext cx="448381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2.3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sample T-test for station 1 and 2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E1439F5B-C230-4AA8-8439-28EEED66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09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0" name="AutoShape 55">
            <a:extLst>
              <a:ext uri="{FF2B5EF4-FFF2-40B4-BE49-F238E27FC236}">
                <a16:creationId xmlns:a16="http://schemas.microsoft.com/office/drawing/2014/main" id="{E3DAE121-5AD2-49F1-8C9B-011C4117C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21" name="AutoShape 56">
            <a:extLst>
              <a:ext uri="{FF2B5EF4-FFF2-40B4-BE49-F238E27FC236}">
                <a16:creationId xmlns:a16="http://schemas.microsoft.com/office/drawing/2014/main" id="{9D6E827F-BC62-4468-AC57-473EDAD1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064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4" name="AutoShape 57">
            <a:extLst>
              <a:ext uri="{FF2B5EF4-FFF2-40B4-BE49-F238E27FC236}">
                <a16:creationId xmlns:a16="http://schemas.microsoft.com/office/drawing/2014/main" id="{CDE404C8-5FE3-476D-883D-70260B05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5" name="AutoShape 59">
            <a:extLst>
              <a:ext uri="{FF2B5EF4-FFF2-40B4-BE49-F238E27FC236}">
                <a16:creationId xmlns:a16="http://schemas.microsoft.com/office/drawing/2014/main" id="{2E017168-4B5F-472C-9136-DA4C365BB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6" name="AutoShape 58">
            <a:extLst>
              <a:ext uri="{FF2B5EF4-FFF2-40B4-BE49-F238E27FC236}">
                <a16:creationId xmlns:a16="http://schemas.microsoft.com/office/drawing/2014/main" id="{FFE55166-9E75-45B0-AF8E-9D9225BE0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402" y="34527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E5C935-A679-448F-A219-59149360E3B9}"/>
              </a:ext>
            </a:extLst>
          </p:cNvPr>
          <p:cNvSpPr txBox="1"/>
          <p:nvPr/>
        </p:nvSpPr>
        <p:spPr>
          <a:xfrm>
            <a:off x="-1" y="927882"/>
            <a:ext cx="2095403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Spec: 80</a:t>
            </a:r>
            <a:r>
              <a:rPr lang="vi-VN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0-</a:t>
            </a: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2000 Cd/m</a:t>
            </a:r>
            <a:r>
              <a:rPr lang="en-US" altLang="ko-KR" sz="1000" baseline="30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endParaRPr lang="vi-VN" altLang="ko-KR" sz="1050" baseline="300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7385E5-B0FF-48A1-8457-CA79A2D0544B}"/>
              </a:ext>
            </a:extLst>
          </p:cNvPr>
          <p:cNvSpPr txBox="1"/>
          <p:nvPr/>
        </p:nvSpPr>
        <p:spPr>
          <a:xfrm>
            <a:off x="34730" y="5599971"/>
            <a:ext cx="9782021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Conclusion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: we chose 30 samples and tested at 2 stations.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H0: there is no significant difference between station 1 and station 2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H1: there is a significant difference between station 1 and station 2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P value = 0.002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≤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 0.05  reject H0,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 The charts also show that the measured values differ between station 1 and station 2. The same 30 samples were tested at both stations, so a paired t-test is also appropriate: mean difference = 20.38, t = 5.81, DF = 29, p &lt; 0.001 (same conclusion). So we need to check why there is a difference.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78B3B8-2924-481E-8842-ADE05DED80C1}"/>
              </a:ext>
            </a:extLst>
          </p:cNvPr>
          <p:cNvSpPr txBox="1"/>
          <p:nvPr/>
        </p:nvSpPr>
        <p:spPr>
          <a:xfrm>
            <a:off x="0" y="626425"/>
            <a:ext cx="7687914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After the Type 1 study, compare the 2 Luminance stations.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87904E-49C2-44F0-A842-54AB4869F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688" y="960965"/>
            <a:ext cx="3342417" cy="432548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5F8E66-B999-4B16-A397-ECFBB8B2E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688474"/>
              </p:ext>
            </p:extLst>
          </p:nvPr>
        </p:nvGraphicFramePr>
        <p:xfrm>
          <a:off x="198288" y="1246625"/>
          <a:ext cx="2438400" cy="4272722"/>
        </p:xfrm>
        <a:graphic>
          <a:graphicData uri="http://schemas.openxmlformats.org/drawingml/2006/table">
            <a:tbl>
              <a:tblPr/>
              <a:tblGrid>
                <a:gridCol w="1210301">
                  <a:extLst>
                    <a:ext uri="{9D8B030D-6E8A-4147-A177-3AD203B41FA5}">
                      <a16:colId xmlns:a16="http://schemas.microsoft.com/office/drawing/2014/main" val="307898533"/>
                    </a:ext>
                  </a:extLst>
                </a:gridCol>
                <a:gridCol w="1228099">
                  <a:extLst>
                    <a:ext uri="{9D8B030D-6E8A-4147-A177-3AD203B41FA5}">
                      <a16:colId xmlns:a16="http://schemas.microsoft.com/office/drawing/2014/main" val="655736119"/>
                    </a:ext>
                  </a:extLst>
                </a:gridCol>
              </a:tblGrid>
              <a:tr h="231602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700" b="1" i="0" u="none" strike="noStrike">
                          <a:effectLst/>
                          <a:latin typeface="Arial" panose="020B0604020202020204" pitchFamily="34" charset="0"/>
                        </a:rPr>
                        <a:t>Station 1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700" b="1" i="0" u="none" strike="noStrike">
                          <a:effectLst/>
                          <a:latin typeface="Arial" panose="020B0604020202020204" pitchFamily="34" charset="0"/>
                        </a:rPr>
                        <a:t>Station 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297216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891.90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864.43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73086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908.25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902.75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019459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940.60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924.61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483114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910.68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893.10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080495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921.04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910.28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556284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893.60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885.34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336398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935.70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896.79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417878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951.27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911.49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854873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937.62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930.12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497659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883.52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873.72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452785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908.00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933.11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4068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937.93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899.03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755293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935.27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929.61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286760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886.15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857.73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104057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929.40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919.88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224395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934.00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913.82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64568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899.24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871.07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756269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917.44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903.96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884834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874.39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851.55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935398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911.46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883.16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803295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890.79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860.89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027192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948.47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903.74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537219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926.02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896.62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257526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944.05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932.64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0843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928.50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933.35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560542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906.05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901.82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125240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924.20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838.91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217688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878.30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869.70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031932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932.50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903.21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890717"/>
                  </a:ext>
                </a:extLst>
              </a:tr>
              <a:tr h="134704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941.38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919.98</a:t>
                      </a:r>
                    </a:p>
                  </a:txBody>
                  <a:tcPr marL="6788" marR="6788" marT="6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8507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2634A20-0F4B-48F7-A961-2452DB4CD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827" y="1077174"/>
            <a:ext cx="3182589" cy="2162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50542D-191C-4C67-9DBF-9C0B275A9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248" y="3289525"/>
            <a:ext cx="3084791" cy="209118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C20D42-CB99-42D8-B193-D16FD5EB9FCB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14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67838" y="109779"/>
            <a:ext cx="448381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2.4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Type 3 Study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E1439F5B-C230-4AA8-8439-28EEED66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10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0" name="AutoShape 55">
            <a:extLst>
              <a:ext uri="{FF2B5EF4-FFF2-40B4-BE49-F238E27FC236}">
                <a16:creationId xmlns:a16="http://schemas.microsoft.com/office/drawing/2014/main" id="{E3DAE121-5AD2-49F1-8C9B-011C4117C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21" name="AutoShape 56">
            <a:extLst>
              <a:ext uri="{FF2B5EF4-FFF2-40B4-BE49-F238E27FC236}">
                <a16:creationId xmlns:a16="http://schemas.microsoft.com/office/drawing/2014/main" id="{9D6E827F-BC62-4468-AC57-473EDAD1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064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4" name="AutoShape 57">
            <a:extLst>
              <a:ext uri="{FF2B5EF4-FFF2-40B4-BE49-F238E27FC236}">
                <a16:creationId xmlns:a16="http://schemas.microsoft.com/office/drawing/2014/main" id="{CDE404C8-5FE3-476D-883D-70260B05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5" name="AutoShape 59">
            <a:extLst>
              <a:ext uri="{FF2B5EF4-FFF2-40B4-BE49-F238E27FC236}">
                <a16:creationId xmlns:a16="http://schemas.microsoft.com/office/drawing/2014/main" id="{2E017168-4B5F-472C-9136-DA4C365BB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6" name="AutoShape 58">
            <a:extLst>
              <a:ext uri="{FF2B5EF4-FFF2-40B4-BE49-F238E27FC236}">
                <a16:creationId xmlns:a16="http://schemas.microsoft.com/office/drawing/2014/main" id="{FFE55166-9E75-45B0-AF8E-9D9225BE0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402" y="34527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934BF3-CC0B-450B-ACCE-8B259B73DAE4}"/>
              </a:ext>
            </a:extLst>
          </p:cNvPr>
          <p:cNvSpPr/>
          <p:nvPr/>
        </p:nvSpPr>
        <p:spPr>
          <a:xfrm>
            <a:off x="179294" y="1429017"/>
            <a:ext cx="1765227" cy="26161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Spec: 800- 2000 (Cd/m2)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0BCEBF-7305-42B3-B115-08C7954FB69C}"/>
              </a:ext>
            </a:extLst>
          </p:cNvPr>
          <p:cNvSpPr txBox="1"/>
          <p:nvPr/>
        </p:nvSpPr>
        <p:spPr>
          <a:xfrm>
            <a:off x="49365" y="554971"/>
            <a:ext cx="2070352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CE4AD-BCCA-49E0-A50B-E95635AC090C}"/>
              </a:ext>
            </a:extLst>
          </p:cNvPr>
          <p:cNvSpPr txBox="1"/>
          <p:nvPr/>
        </p:nvSpPr>
        <p:spPr>
          <a:xfrm>
            <a:off x="67838" y="867970"/>
            <a:ext cx="9281571" cy="5250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Need to evaluate the repeatability of the measurement system. </a:t>
            </a:r>
          </a:p>
          <a:p>
            <a:pPr eaLnBrk="1" latinLnBrk="0"/>
            <a:r>
              <a:rPr sz="1000" b="0">
                <a:latin typeface="Arial"/>
              </a:rPr>
              <a:t>Because the Luminance station is fully automated with no operator influence, Type 3 Gage Study is used to evaluate equipment repeatability.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In type 3 study, use 25 samples to verify station, each sample is measured repeat 2 times.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77F281-A5EB-4A9B-8F2B-81AE0B6ED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18604"/>
              </p:ext>
            </p:extLst>
          </p:nvPr>
        </p:nvGraphicFramePr>
        <p:xfrm>
          <a:off x="169589" y="1655916"/>
          <a:ext cx="2330040" cy="4516281"/>
        </p:xfrm>
        <a:graphic>
          <a:graphicData uri="http://schemas.openxmlformats.org/drawingml/2006/table">
            <a:tbl>
              <a:tblPr/>
              <a:tblGrid>
                <a:gridCol w="582510">
                  <a:extLst>
                    <a:ext uri="{9D8B030D-6E8A-4147-A177-3AD203B41FA5}">
                      <a16:colId xmlns:a16="http://schemas.microsoft.com/office/drawing/2014/main" val="2099896177"/>
                    </a:ext>
                  </a:extLst>
                </a:gridCol>
                <a:gridCol w="582510">
                  <a:extLst>
                    <a:ext uri="{9D8B030D-6E8A-4147-A177-3AD203B41FA5}">
                      <a16:colId xmlns:a16="http://schemas.microsoft.com/office/drawing/2014/main" val="1074729442"/>
                    </a:ext>
                  </a:extLst>
                </a:gridCol>
                <a:gridCol w="582510">
                  <a:extLst>
                    <a:ext uri="{9D8B030D-6E8A-4147-A177-3AD203B41FA5}">
                      <a16:colId xmlns:a16="http://schemas.microsoft.com/office/drawing/2014/main" val="3326624257"/>
                    </a:ext>
                  </a:extLst>
                </a:gridCol>
                <a:gridCol w="582510">
                  <a:extLst>
                    <a:ext uri="{9D8B030D-6E8A-4147-A177-3AD203B41FA5}">
                      <a16:colId xmlns:a16="http://schemas.microsoft.com/office/drawing/2014/main" val="2970423013"/>
                    </a:ext>
                  </a:extLst>
                </a:gridCol>
              </a:tblGrid>
              <a:tr h="148506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25296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796.95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837.73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54035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786.61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811.78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343685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794.73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833.46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857023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796.58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836.42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114638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838.61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837.85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496341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839.58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817.70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333353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810.76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857.90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066934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830.05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837.17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478065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815.12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838.29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816260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835.75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828.88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845378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823.98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826.94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7241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834.57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840.14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381478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827.40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839.72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102378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827.69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830.75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10026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839.12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830.78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586263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835.42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823.24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476966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839.73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826.32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27971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842.06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825.35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129022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834.01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827.79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630667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834.48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838.87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080362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834.67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837.29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228352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836.61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850.33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533224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786.15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819.42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743622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780.77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755.89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111923"/>
                  </a:ext>
                </a:extLst>
              </a:tr>
              <a:tr h="174711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827.29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853.94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12527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CF4679F-CC6C-45D5-90C5-B2C94D3F932D}"/>
              </a:ext>
            </a:extLst>
          </p:cNvPr>
          <p:cNvSpPr txBox="1"/>
          <p:nvPr/>
        </p:nvSpPr>
        <p:spPr>
          <a:xfrm>
            <a:off x="5875171" y="4953000"/>
            <a:ext cx="4030829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% Contribution of Gage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R&amp;R = 7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.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56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% &gt; 9% (std &lt; 1%)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NG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% Study Var = 8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4.59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%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 &gt;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10%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  NG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% Tolerance = 8.33% &lt; 10%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 OK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NDC: 1 &lt; 5 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NG </a:t>
            </a:r>
            <a:endParaRPr 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D7C2E-0446-4D3E-B01F-0F913AFAFE04}"/>
              </a:ext>
            </a:extLst>
          </p:cNvPr>
          <p:cNvSpPr txBox="1"/>
          <p:nvPr/>
        </p:nvSpPr>
        <p:spPr>
          <a:xfrm>
            <a:off x="59902" y="6296220"/>
            <a:ext cx="9369942" cy="3112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Conclusion: %Contribution = 71.56% (&gt; 9% NG), %Study Var = 84.59% (NG), %Tolerance = 8.33% (OK), NDC = 1 (&lt; 5 NG). The repeatability error (SD ≈ 16.7) is large vs. the part variation (SD ≈ 10.5) and Type 1 also failed, so the system is NOT acceptable: improve.</a:t>
            </a:r>
            <a:endParaRPr 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C0D461-7724-4A16-8B0F-A1D501ACB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009" y="1579993"/>
            <a:ext cx="2700224" cy="3757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5E6EA-E652-449C-9F8A-5EFC5269E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981" y="1579992"/>
            <a:ext cx="4264219" cy="32206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241C5D-C65E-467C-9A84-DDA1FEE8E500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74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525659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64" name="Slide Number Placeholder 4">
            <a:extLst>
              <a:ext uri="{FF2B5EF4-FFF2-40B4-BE49-F238E27FC236}">
                <a16:creationId xmlns:a16="http://schemas.microsoft.com/office/drawing/2014/main" id="{24735193-EBAE-47F7-AE08-C4E051B6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89185" y="6642000"/>
            <a:ext cx="2133600" cy="198000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11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54D2356-34D8-4A47-AE3E-15659243D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84839"/>
            <a:ext cx="18000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>
            <a:noAutofit/>
          </a:bodyPr>
          <a:lstStyle/>
          <a:p>
            <a:pPr defTabSz="844083" eaLnBrk="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Logic tree analysis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BB49C0-2391-4488-9636-39BB014241CF}"/>
              </a:ext>
            </a:extLst>
          </p:cNvPr>
          <p:cNvSpPr/>
          <p:nvPr/>
        </p:nvSpPr>
        <p:spPr>
          <a:xfrm>
            <a:off x="159774" y="3156008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Luminance at Station 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A7F75B1-1676-4838-AC23-A6F29218D318}"/>
              </a:ext>
            </a:extLst>
          </p:cNvPr>
          <p:cNvSpPr/>
          <p:nvPr/>
        </p:nvSpPr>
        <p:spPr>
          <a:xfrm>
            <a:off x="1651384" y="5944884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Man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A95EC89-2D59-457C-9D51-482F9FF272A8}"/>
              </a:ext>
            </a:extLst>
          </p:cNvPr>
          <p:cNvSpPr/>
          <p:nvPr/>
        </p:nvSpPr>
        <p:spPr>
          <a:xfrm>
            <a:off x="4719475" y="6271041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Automatic process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1A52889-10F4-4654-BF9E-1C234D11F6E6}"/>
              </a:ext>
            </a:extLst>
          </p:cNvPr>
          <p:cNvSpPr/>
          <p:nvPr/>
        </p:nvSpPr>
        <p:spPr>
          <a:xfrm>
            <a:off x="1618209" y="1427357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Machine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2EA42F-BBCA-476E-A6D2-DCED7477DD94}"/>
              </a:ext>
            </a:extLst>
          </p:cNvPr>
          <p:cNvSpPr/>
          <p:nvPr/>
        </p:nvSpPr>
        <p:spPr>
          <a:xfrm>
            <a:off x="3132282" y="1603784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Pallet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B14BB72-DACF-49D8-B9E7-7795EBE9B6A4}"/>
              </a:ext>
            </a:extLst>
          </p:cNvPr>
          <p:cNvSpPr/>
          <p:nvPr/>
        </p:nvSpPr>
        <p:spPr>
          <a:xfrm>
            <a:off x="3123027" y="967992"/>
            <a:ext cx="129657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Power supply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EDD2645-0EFA-436C-A6E7-C8D003106F1B}"/>
              </a:ext>
            </a:extLst>
          </p:cNvPr>
          <p:cNvSpPr/>
          <p:nvPr/>
        </p:nvSpPr>
        <p:spPr>
          <a:xfrm>
            <a:off x="4730616" y="967675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Power supply is stable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DF543DF-7565-40EB-9D0A-0B63AA26DE3B}"/>
              </a:ext>
            </a:extLst>
          </p:cNvPr>
          <p:cNvSpPr/>
          <p:nvPr/>
        </p:nvSpPr>
        <p:spPr>
          <a:xfrm>
            <a:off x="3118102" y="6271041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Working skill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21A6137-4C2A-4CAD-B245-15DBCEC5BE1C}"/>
              </a:ext>
            </a:extLst>
          </p:cNvPr>
          <p:cNvSpPr/>
          <p:nvPr/>
        </p:nvSpPr>
        <p:spPr>
          <a:xfrm>
            <a:off x="4733655" y="1603784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All model used same kind of pallet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690E334-C0F6-498D-B406-B7676F0A33E0}"/>
              </a:ext>
            </a:extLst>
          </p:cNvPr>
          <p:cNvSpPr/>
          <p:nvPr/>
        </p:nvSpPr>
        <p:spPr>
          <a:xfrm>
            <a:off x="3130401" y="2334979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Camera equipment (CS2000)</a:t>
            </a:r>
          </a:p>
        </p:txBody>
      </p:sp>
      <p:cxnSp>
        <p:nvCxnSpPr>
          <p:cNvPr id="85" name="Elbow Connector 11">
            <a:extLst>
              <a:ext uri="{FF2B5EF4-FFF2-40B4-BE49-F238E27FC236}">
                <a16:creationId xmlns:a16="http://schemas.microsoft.com/office/drawing/2014/main" id="{A0900B0B-88B7-436C-8708-BACE50220958}"/>
              </a:ext>
            </a:extLst>
          </p:cNvPr>
          <p:cNvCxnSpPr>
            <a:stCxn id="73" idx="3"/>
            <a:endCxn id="76" idx="1"/>
          </p:cNvCxnSpPr>
          <p:nvPr/>
        </p:nvCxnSpPr>
        <p:spPr>
          <a:xfrm flipV="1">
            <a:off x="1324999" y="1697232"/>
            <a:ext cx="293210" cy="172865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14">
            <a:extLst>
              <a:ext uri="{FF2B5EF4-FFF2-40B4-BE49-F238E27FC236}">
                <a16:creationId xmlns:a16="http://schemas.microsoft.com/office/drawing/2014/main" id="{7C3D603A-2E8C-4A1D-8161-53008CE24C0D}"/>
              </a:ext>
            </a:extLst>
          </p:cNvPr>
          <p:cNvCxnSpPr>
            <a:stCxn id="73" idx="3"/>
            <a:endCxn id="74" idx="1"/>
          </p:cNvCxnSpPr>
          <p:nvPr/>
        </p:nvCxnSpPr>
        <p:spPr>
          <a:xfrm>
            <a:off x="1324999" y="3425883"/>
            <a:ext cx="326385" cy="278887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3DFF0DF6-D5B0-453E-A753-5B5ED81A50F4}"/>
              </a:ext>
            </a:extLst>
          </p:cNvPr>
          <p:cNvSpPr/>
          <p:nvPr/>
        </p:nvSpPr>
        <p:spPr>
          <a:xfrm>
            <a:off x="4748132" y="2334979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Measure incorrectly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840A584-72DD-4DDF-A457-81F5E3DDA5CE}"/>
              </a:ext>
            </a:extLst>
          </p:cNvPr>
          <p:cNvCxnSpPr>
            <a:stCxn id="80" idx="3"/>
            <a:endCxn id="75" idx="1"/>
          </p:cNvCxnSpPr>
          <p:nvPr/>
        </p:nvCxnSpPr>
        <p:spPr>
          <a:xfrm>
            <a:off x="4414675" y="6540916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DF8E102-D994-4E57-A889-210E1C85B4EE}"/>
              </a:ext>
            </a:extLst>
          </p:cNvPr>
          <p:cNvSpPr/>
          <p:nvPr/>
        </p:nvSpPr>
        <p:spPr>
          <a:xfrm>
            <a:off x="6414325" y="967675"/>
            <a:ext cx="1965738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Power supply is not affected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93E51A7-2F56-473A-BCFB-084759CC0310}"/>
              </a:ext>
            </a:extLst>
          </p:cNvPr>
          <p:cNvSpPr/>
          <p:nvPr/>
        </p:nvSpPr>
        <p:spPr>
          <a:xfrm>
            <a:off x="6394839" y="1603784"/>
            <a:ext cx="198522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Changing pallet no different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26365BE-C1C2-40A3-AA3C-F648D3A85333}"/>
              </a:ext>
            </a:extLst>
          </p:cNvPr>
          <p:cNvSpPr/>
          <p:nvPr/>
        </p:nvSpPr>
        <p:spPr>
          <a:xfrm>
            <a:off x="6421698" y="2339739"/>
            <a:ext cx="195836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Change new camera 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CC36094-8B79-406C-AD09-9862013612E5}"/>
              </a:ext>
            </a:extLst>
          </p:cNvPr>
          <p:cNvSpPr/>
          <p:nvPr/>
        </p:nvSpPr>
        <p:spPr>
          <a:xfrm>
            <a:off x="6409400" y="6271041"/>
            <a:ext cx="197066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Man is not related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6348AC4-7CC7-4562-A5F4-3D08FCFA7F86}"/>
              </a:ext>
            </a:extLst>
          </p:cNvPr>
          <p:cNvCxnSpPr>
            <a:cxnSpLocks/>
            <a:stCxn id="75" idx="3"/>
            <a:endCxn id="107" idx="1"/>
          </p:cNvCxnSpPr>
          <p:nvPr/>
        </p:nvCxnSpPr>
        <p:spPr>
          <a:xfrm>
            <a:off x="6091075" y="6540916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460B8F4-80BE-49C8-89CB-A5C7E9A567C0}"/>
              </a:ext>
            </a:extLst>
          </p:cNvPr>
          <p:cNvSpPr/>
          <p:nvPr/>
        </p:nvSpPr>
        <p:spPr>
          <a:xfrm>
            <a:off x="1651384" y="4355386"/>
            <a:ext cx="1138837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Material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103916A-A389-4D0B-82E8-4E5DD92F975F}"/>
              </a:ext>
            </a:extLst>
          </p:cNvPr>
          <p:cNvSpPr/>
          <p:nvPr/>
        </p:nvSpPr>
        <p:spPr>
          <a:xfrm>
            <a:off x="1636823" y="5002816"/>
            <a:ext cx="116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Method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DDBBEBB-5CA9-48F3-8807-40C42BCDD09A}"/>
              </a:ext>
            </a:extLst>
          </p:cNvPr>
          <p:cNvSpPr/>
          <p:nvPr/>
        </p:nvSpPr>
        <p:spPr>
          <a:xfrm>
            <a:off x="4684883" y="4355386"/>
            <a:ext cx="1430006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  <a:sym typeface="Wingdings" panose="05000000000000000000" pitchFamily="2" charset="2"/>
              </a:rPr>
              <a:t>Return LCD and check on vendor </a:t>
            </a: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result is OK</a:t>
            </a:r>
            <a:endParaRPr 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AD0F078-8893-47B3-AAA2-B875B6B049B4}"/>
              </a:ext>
            </a:extLst>
          </p:cNvPr>
          <p:cNvSpPr/>
          <p:nvPr/>
        </p:nvSpPr>
        <p:spPr>
          <a:xfrm>
            <a:off x="3118103" y="4355386"/>
            <a:ext cx="1263872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Set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EF4C1BB-E769-49BE-82E8-09AC2E114D3D}"/>
              </a:ext>
            </a:extLst>
          </p:cNvPr>
          <p:cNvCxnSpPr>
            <a:cxnSpLocks/>
            <a:stCxn id="152" idx="3"/>
            <a:endCxn id="151" idx="1"/>
          </p:cNvCxnSpPr>
          <p:nvPr/>
        </p:nvCxnSpPr>
        <p:spPr>
          <a:xfrm>
            <a:off x="4381975" y="4625261"/>
            <a:ext cx="3029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7D61E8F-3848-40A1-938A-C00B0BD74350}"/>
              </a:ext>
            </a:extLst>
          </p:cNvPr>
          <p:cNvSpPr/>
          <p:nvPr/>
        </p:nvSpPr>
        <p:spPr>
          <a:xfrm>
            <a:off x="6409400" y="4355386"/>
            <a:ext cx="197066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LCD is not affected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0099F56D-264D-4C71-87E1-E36D5E5023CF}"/>
              </a:ext>
            </a:extLst>
          </p:cNvPr>
          <p:cNvCxnSpPr>
            <a:cxnSpLocks/>
            <a:stCxn id="151" idx="3"/>
            <a:endCxn id="155" idx="1"/>
          </p:cNvCxnSpPr>
          <p:nvPr/>
        </p:nvCxnSpPr>
        <p:spPr>
          <a:xfrm>
            <a:off x="6114889" y="4625261"/>
            <a:ext cx="29451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467BE26-3B27-40D6-82FD-EC081804E80A}"/>
              </a:ext>
            </a:extLst>
          </p:cNvPr>
          <p:cNvCxnSpPr>
            <a:stCxn id="149" idx="3"/>
            <a:endCxn id="152" idx="1"/>
          </p:cNvCxnSpPr>
          <p:nvPr/>
        </p:nvCxnSpPr>
        <p:spPr>
          <a:xfrm>
            <a:off x="2790221" y="4625261"/>
            <a:ext cx="32788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1">
            <a:extLst>
              <a:ext uri="{FF2B5EF4-FFF2-40B4-BE49-F238E27FC236}">
                <a16:creationId xmlns:a16="http://schemas.microsoft.com/office/drawing/2014/main" id="{2108C2DB-4457-487E-B74E-832776759959}"/>
              </a:ext>
            </a:extLst>
          </p:cNvPr>
          <p:cNvCxnSpPr>
            <a:cxnSpLocks/>
            <a:stCxn id="73" idx="3"/>
            <a:endCxn id="149" idx="1"/>
          </p:cNvCxnSpPr>
          <p:nvPr/>
        </p:nvCxnSpPr>
        <p:spPr>
          <a:xfrm>
            <a:off x="1324999" y="3425883"/>
            <a:ext cx="326385" cy="119937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1">
            <a:extLst>
              <a:ext uri="{FF2B5EF4-FFF2-40B4-BE49-F238E27FC236}">
                <a16:creationId xmlns:a16="http://schemas.microsoft.com/office/drawing/2014/main" id="{A8539414-FDD4-4ED4-AF7D-6DD857B0A62B}"/>
              </a:ext>
            </a:extLst>
          </p:cNvPr>
          <p:cNvCxnSpPr>
            <a:stCxn id="73" idx="3"/>
            <a:endCxn id="150" idx="1"/>
          </p:cNvCxnSpPr>
          <p:nvPr/>
        </p:nvCxnSpPr>
        <p:spPr>
          <a:xfrm>
            <a:off x="1324999" y="3425883"/>
            <a:ext cx="311824" cy="184680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4C87628-BF12-40D4-9A9A-68CDD2BF67F1}"/>
              </a:ext>
            </a:extLst>
          </p:cNvPr>
          <p:cNvSpPr/>
          <p:nvPr/>
        </p:nvSpPr>
        <p:spPr>
          <a:xfrm>
            <a:off x="3103541" y="5002816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Sequence test, timing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D50A4B6-DF5E-4323-9BED-2E5C23A78571}"/>
              </a:ext>
            </a:extLst>
          </p:cNvPr>
          <p:cNvCxnSpPr>
            <a:stCxn id="150" idx="3"/>
            <a:endCxn id="164" idx="1"/>
          </p:cNvCxnSpPr>
          <p:nvPr/>
        </p:nvCxnSpPr>
        <p:spPr>
          <a:xfrm>
            <a:off x="2802048" y="5272691"/>
            <a:ext cx="30149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076F5FA-D971-4E47-82BE-E8A1D3F94816}"/>
              </a:ext>
            </a:extLst>
          </p:cNvPr>
          <p:cNvSpPr/>
          <p:nvPr/>
        </p:nvSpPr>
        <p:spPr>
          <a:xfrm>
            <a:off x="4704913" y="5002816"/>
            <a:ext cx="143000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Sequence is used for all model, but only this model have issue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5DC3AAF-635D-41C2-8877-A829B844A728}"/>
              </a:ext>
            </a:extLst>
          </p:cNvPr>
          <p:cNvCxnSpPr>
            <a:cxnSpLocks/>
            <a:stCxn id="164" idx="3"/>
            <a:endCxn id="166" idx="1"/>
          </p:cNvCxnSpPr>
          <p:nvPr/>
        </p:nvCxnSpPr>
        <p:spPr>
          <a:xfrm>
            <a:off x="4400114" y="5272691"/>
            <a:ext cx="30479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E6039A6-3D38-448A-8C19-55ADC48F64FD}"/>
              </a:ext>
            </a:extLst>
          </p:cNvPr>
          <p:cNvSpPr/>
          <p:nvPr/>
        </p:nvSpPr>
        <p:spPr>
          <a:xfrm>
            <a:off x="6394839" y="5002816"/>
            <a:ext cx="1985225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Sequence is not affected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F555F9C6-D9E2-4FF4-B104-ECEC3D3E2660}"/>
              </a:ext>
            </a:extLst>
          </p:cNvPr>
          <p:cNvCxnSpPr>
            <a:cxnSpLocks/>
            <a:stCxn id="166" idx="3"/>
            <a:endCxn id="170" idx="1"/>
          </p:cNvCxnSpPr>
          <p:nvPr/>
        </p:nvCxnSpPr>
        <p:spPr>
          <a:xfrm>
            <a:off x="6134918" y="5272691"/>
            <a:ext cx="25992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F08C70E-C661-4A4A-A32D-07D838FE4A52}"/>
              </a:ext>
            </a:extLst>
          </p:cNvPr>
          <p:cNvSpPr/>
          <p:nvPr/>
        </p:nvSpPr>
        <p:spPr>
          <a:xfrm>
            <a:off x="4711158" y="5646868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Other function is OK, only Luminance is NG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895C442-E39F-4F78-9F50-F0A2DC18C153}"/>
              </a:ext>
            </a:extLst>
          </p:cNvPr>
          <p:cNvSpPr/>
          <p:nvPr/>
        </p:nvSpPr>
        <p:spPr>
          <a:xfrm>
            <a:off x="3109785" y="5646868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Plug in set to pallet not fully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530E187-51B7-4142-AC22-C60B4DBD0D5C}"/>
              </a:ext>
            </a:extLst>
          </p:cNvPr>
          <p:cNvCxnSpPr>
            <a:stCxn id="175" idx="3"/>
            <a:endCxn id="174" idx="1"/>
          </p:cNvCxnSpPr>
          <p:nvPr/>
        </p:nvCxnSpPr>
        <p:spPr>
          <a:xfrm>
            <a:off x="4406358" y="5916743"/>
            <a:ext cx="3048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3F39FC5-DB21-4BF0-B0ED-09C2FE172F84}"/>
              </a:ext>
            </a:extLst>
          </p:cNvPr>
          <p:cNvSpPr/>
          <p:nvPr/>
        </p:nvSpPr>
        <p:spPr>
          <a:xfrm>
            <a:off x="6401083" y="5646868"/>
            <a:ext cx="1978981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Not relate to set plugging in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BB10B07-3DA1-42EA-859D-3CF7A3708297}"/>
              </a:ext>
            </a:extLst>
          </p:cNvPr>
          <p:cNvCxnSpPr>
            <a:cxnSpLocks/>
            <a:stCxn id="174" idx="3"/>
            <a:endCxn id="177" idx="1"/>
          </p:cNvCxnSpPr>
          <p:nvPr/>
        </p:nvCxnSpPr>
        <p:spPr>
          <a:xfrm>
            <a:off x="6082758" y="5916743"/>
            <a:ext cx="3183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Elbow Connector 98">
            <a:extLst>
              <a:ext uri="{FF2B5EF4-FFF2-40B4-BE49-F238E27FC236}">
                <a16:creationId xmlns:a16="http://schemas.microsoft.com/office/drawing/2014/main" id="{E6BD7F65-64F4-4BC6-8A09-AA53ECEE1177}"/>
              </a:ext>
            </a:extLst>
          </p:cNvPr>
          <p:cNvCxnSpPr>
            <a:stCxn id="74" idx="3"/>
            <a:endCxn id="80" idx="1"/>
          </p:cNvCxnSpPr>
          <p:nvPr/>
        </p:nvCxnSpPr>
        <p:spPr>
          <a:xfrm>
            <a:off x="2816609" y="6214759"/>
            <a:ext cx="301493" cy="32615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98">
            <a:extLst>
              <a:ext uri="{FF2B5EF4-FFF2-40B4-BE49-F238E27FC236}">
                <a16:creationId xmlns:a16="http://schemas.microsoft.com/office/drawing/2014/main" id="{1ADB74E5-B249-445C-B177-17CEE8F659B2}"/>
              </a:ext>
            </a:extLst>
          </p:cNvPr>
          <p:cNvCxnSpPr>
            <a:stCxn id="74" idx="3"/>
            <a:endCxn id="175" idx="1"/>
          </p:cNvCxnSpPr>
          <p:nvPr/>
        </p:nvCxnSpPr>
        <p:spPr>
          <a:xfrm flipV="1">
            <a:off x="2816609" y="5916743"/>
            <a:ext cx="293176" cy="29801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9F3DF8AA-61E9-45AC-A326-EEC96FD43AA4}"/>
              </a:ext>
            </a:extLst>
          </p:cNvPr>
          <p:cNvSpPr txBox="1"/>
          <p:nvPr/>
        </p:nvSpPr>
        <p:spPr>
          <a:xfrm>
            <a:off x="8192469" y="2232808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00AD42B-DE28-44C1-9F87-EC6EEC4098F1}"/>
              </a:ext>
            </a:extLst>
          </p:cNvPr>
          <p:cNvSpPr txBox="1"/>
          <p:nvPr/>
        </p:nvSpPr>
        <p:spPr>
          <a:xfrm>
            <a:off x="8441892" y="6504761"/>
            <a:ext cx="18000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9206562-A479-4925-9BC1-FF6A9BBDE250}"/>
              </a:ext>
            </a:extLst>
          </p:cNvPr>
          <p:cNvSpPr txBox="1"/>
          <p:nvPr/>
        </p:nvSpPr>
        <p:spPr>
          <a:xfrm>
            <a:off x="8694077" y="6560610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0"/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8AD3491-CD21-48CA-ADF9-A64AE6C8A009}"/>
              </a:ext>
            </a:extLst>
          </p:cNvPr>
          <p:cNvSpPr/>
          <p:nvPr/>
        </p:nvSpPr>
        <p:spPr>
          <a:xfrm>
            <a:off x="4743289" y="3016995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Camera Angle is changed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189A6C18-A8FA-4996-8E52-61C097CBED86}"/>
              </a:ext>
            </a:extLst>
          </p:cNvPr>
          <p:cNvSpPr/>
          <p:nvPr/>
        </p:nvSpPr>
        <p:spPr>
          <a:xfrm>
            <a:off x="6416856" y="3021755"/>
            <a:ext cx="1963208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Change angle of camera</a:t>
            </a:r>
          </a:p>
        </p:txBody>
      </p:sp>
      <p:sp>
        <p:nvSpPr>
          <p:cNvPr id="190" name="Text Box 2">
            <a:extLst>
              <a:ext uri="{FF2B5EF4-FFF2-40B4-BE49-F238E27FC236}">
                <a16:creationId xmlns:a16="http://schemas.microsoft.com/office/drawing/2014/main" id="{388E17BD-8641-4FEC-A5A8-2A21B1B0C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384" y="552932"/>
            <a:ext cx="982537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defTabSz="844083" eaLnBrk="1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After the Type 1 study, we see that the measurement system of Station 2 has problems, so a logic tree is used to find the root cause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91" name="AutoShape 55">
            <a:extLst>
              <a:ext uri="{FF2B5EF4-FFF2-40B4-BE49-F238E27FC236}">
                <a16:creationId xmlns:a16="http://schemas.microsoft.com/office/drawing/2014/main" id="{CBB9EF69-BB7B-4362-AF27-5EC61A249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2" name="AutoShape 56">
            <a:extLst>
              <a:ext uri="{FF2B5EF4-FFF2-40B4-BE49-F238E27FC236}">
                <a16:creationId xmlns:a16="http://schemas.microsoft.com/office/drawing/2014/main" id="{899114A1-A363-4B04-A11E-ECA42BBFA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064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94" name="AutoShape 59">
            <a:extLst>
              <a:ext uri="{FF2B5EF4-FFF2-40B4-BE49-F238E27FC236}">
                <a16:creationId xmlns:a16="http://schemas.microsoft.com/office/drawing/2014/main" id="{189FE38E-6AAE-4AC6-A89D-C8987F0B0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graphicFrame>
        <p:nvGraphicFramePr>
          <p:cNvPr id="4" name="Object 3">
            <a:hlinkClick r:id="" action="ppaction://ole?verb=0"/>
            <a:extLst>
              <a:ext uri="{FF2B5EF4-FFF2-40B4-BE49-F238E27FC236}">
                <a16:creationId xmlns:a16="http://schemas.microsoft.com/office/drawing/2014/main" id="{CE5C7E09-1A6D-40CA-984C-4350A69E00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077575"/>
              </p:ext>
            </p:extLst>
          </p:nvPr>
        </p:nvGraphicFramePr>
        <p:xfrm>
          <a:off x="9291889" y="2477855"/>
          <a:ext cx="495105" cy="41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3" imgW="914400" imgH="771792" progId="PowerPoint.Show.12">
                  <p:embed/>
                </p:oleObj>
              </mc:Choice>
              <mc:Fallback>
                <p:oleObj name="Presentation" showAsIcon="1" r:id="rId3" imgW="914400" imgH="771792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91889" y="2477855"/>
                        <a:ext cx="495105" cy="41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hlinkClick r:id="" action="ppaction://ole?verb=0"/>
            <a:extLst>
              <a:ext uri="{FF2B5EF4-FFF2-40B4-BE49-F238E27FC236}">
                <a16:creationId xmlns:a16="http://schemas.microsoft.com/office/drawing/2014/main" id="{C929FD74-D7E2-40CF-AC12-F07CA7B9DE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059760"/>
              </p:ext>
            </p:extLst>
          </p:nvPr>
        </p:nvGraphicFramePr>
        <p:xfrm>
          <a:off x="9291888" y="4469007"/>
          <a:ext cx="495105" cy="41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400" imgH="771792" progId="PowerPoint.Show.12">
                  <p:embed/>
                </p:oleObj>
              </mc:Choice>
              <mc:Fallback>
                <p:oleObj name="Presentation" showAsIcon="1" r:id="rId5" imgW="914400" imgH="771792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91888" y="4469007"/>
                        <a:ext cx="495105" cy="41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" name="TextBox 181">
            <a:extLst>
              <a:ext uri="{FF2B5EF4-FFF2-40B4-BE49-F238E27FC236}">
                <a16:creationId xmlns:a16="http://schemas.microsoft.com/office/drawing/2014/main" id="{131D16A1-B68B-4A32-87D0-AB885CC09560}"/>
              </a:ext>
            </a:extLst>
          </p:cNvPr>
          <p:cNvSpPr txBox="1"/>
          <p:nvPr/>
        </p:nvSpPr>
        <p:spPr>
          <a:xfrm>
            <a:off x="8229086" y="2975692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4C9CF36-A57D-4285-8408-0B6B8AEFD0E4}"/>
              </a:ext>
            </a:extLst>
          </p:cNvPr>
          <p:cNvSpPr/>
          <p:nvPr/>
        </p:nvSpPr>
        <p:spPr>
          <a:xfrm>
            <a:off x="3118102" y="3625915"/>
            <a:ext cx="1296573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CANSIM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5994054-C7FA-4934-9ED4-D403523FBE00}"/>
              </a:ext>
            </a:extLst>
          </p:cNvPr>
          <p:cNvSpPr/>
          <p:nvPr/>
        </p:nvSpPr>
        <p:spPr>
          <a:xfrm>
            <a:off x="4735833" y="3625915"/>
            <a:ext cx="1371600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CANSIM send weak signal for LCD recognize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A1F7A52-226E-4A78-A0F9-0D9A9A23EAB8}"/>
              </a:ext>
            </a:extLst>
          </p:cNvPr>
          <p:cNvSpPr/>
          <p:nvPr/>
        </p:nvSpPr>
        <p:spPr>
          <a:xfrm>
            <a:off x="6409400" y="3630675"/>
            <a:ext cx="1970664" cy="5397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Change new CANSIM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140B348-EE79-468D-ACA4-7D910D6C585A}"/>
              </a:ext>
            </a:extLst>
          </p:cNvPr>
          <p:cNvSpPr txBox="1"/>
          <p:nvPr/>
        </p:nvSpPr>
        <p:spPr>
          <a:xfrm>
            <a:off x="8245705" y="3559095"/>
            <a:ext cx="35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A1AC0BE-D61B-4DF5-A5B3-7E662E9388EC}"/>
              </a:ext>
            </a:extLst>
          </p:cNvPr>
          <p:cNvCxnSpPr>
            <a:stCxn id="76" idx="3"/>
            <a:endCxn id="78" idx="1"/>
          </p:cNvCxnSpPr>
          <p:nvPr/>
        </p:nvCxnSpPr>
        <p:spPr bwMode="auto">
          <a:xfrm flipV="1">
            <a:off x="2783434" y="1237992"/>
            <a:ext cx="339593" cy="459240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15AC848-5978-4A92-9CE9-375F6E7FDBD4}"/>
              </a:ext>
            </a:extLst>
          </p:cNvPr>
          <p:cNvCxnSpPr>
            <a:stCxn id="76" idx="3"/>
            <a:endCxn id="77" idx="1"/>
          </p:cNvCxnSpPr>
          <p:nvPr/>
        </p:nvCxnSpPr>
        <p:spPr bwMode="auto">
          <a:xfrm>
            <a:off x="2783434" y="1697232"/>
            <a:ext cx="348848" cy="176427"/>
          </a:xfrm>
          <a:prstGeom prst="bentConnector3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C42D187-FF46-4A63-9E9D-A025BC7CC663}"/>
              </a:ext>
            </a:extLst>
          </p:cNvPr>
          <p:cNvCxnSpPr>
            <a:stCxn id="76" idx="3"/>
            <a:endCxn id="84" idx="1"/>
          </p:cNvCxnSpPr>
          <p:nvPr/>
        </p:nvCxnSpPr>
        <p:spPr bwMode="auto">
          <a:xfrm>
            <a:off x="2783434" y="1697232"/>
            <a:ext cx="346967" cy="907622"/>
          </a:xfrm>
          <a:prstGeom prst="bentConnector3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03C918B-97A1-4B86-8F1E-F6CE142A657B}"/>
              </a:ext>
            </a:extLst>
          </p:cNvPr>
          <p:cNvCxnSpPr>
            <a:stCxn id="76" idx="3"/>
            <a:endCxn id="97" idx="1"/>
          </p:cNvCxnSpPr>
          <p:nvPr/>
        </p:nvCxnSpPr>
        <p:spPr bwMode="auto">
          <a:xfrm>
            <a:off x="2783434" y="1697232"/>
            <a:ext cx="334668" cy="2198558"/>
          </a:xfrm>
          <a:prstGeom prst="bentConnector3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65241C-0538-4EDA-9433-9F69261C4D85}"/>
              </a:ext>
            </a:extLst>
          </p:cNvPr>
          <p:cNvCxnSpPr>
            <a:stCxn id="97" idx="3"/>
            <a:endCxn id="98" idx="1"/>
          </p:cNvCxnSpPr>
          <p:nvPr/>
        </p:nvCxnSpPr>
        <p:spPr bwMode="auto">
          <a:xfrm>
            <a:off x="4414675" y="3895790"/>
            <a:ext cx="321158" cy="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4527899-A765-458F-8A78-A363E20CA815}"/>
              </a:ext>
            </a:extLst>
          </p:cNvPr>
          <p:cNvCxnSpPr>
            <a:stCxn id="84" idx="3"/>
            <a:endCxn id="89" idx="1"/>
          </p:cNvCxnSpPr>
          <p:nvPr/>
        </p:nvCxnSpPr>
        <p:spPr bwMode="auto">
          <a:xfrm>
            <a:off x="4426974" y="2604854"/>
            <a:ext cx="321158" cy="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AFC0009-2914-4210-BA1F-C7185110F42E}"/>
              </a:ext>
            </a:extLst>
          </p:cNvPr>
          <p:cNvCxnSpPr>
            <a:stCxn id="77" idx="3"/>
            <a:endCxn id="81" idx="1"/>
          </p:cNvCxnSpPr>
          <p:nvPr/>
        </p:nvCxnSpPr>
        <p:spPr bwMode="auto">
          <a:xfrm>
            <a:off x="4428855" y="1873659"/>
            <a:ext cx="3048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AF0FBA5-C2E8-41FC-94EA-78655BBAEBCA}"/>
              </a:ext>
            </a:extLst>
          </p:cNvPr>
          <p:cNvCxnSpPr>
            <a:stCxn id="78" idx="3"/>
            <a:endCxn id="79" idx="1"/>
          </p:cNvCxnSpPr>
          <p:nvPr/>
        </p:nvCxnSpPr>
        <p:spPr bwMode="auto">
          <a:xfrm flipV="1">
            <a:off x="4419600" y="1237550"/>
            <a:ext cx="311016" cy="44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F3F4B1A-206F-4764-AB45-1B97FEE192AC}"/>
              </a:ext>
            </a:extLst>
          </p:cNvPr>
          <p:cNvCxnSpPr>
            <a:stCxn id="79" idx="3"/>
            <a:endCxn id="103" idx="1"/>
          </p:cNvCxnSpPr>
          <p:nvPr/>
        </p:nvCxnSpPr>
        <p:spPr bwMode="auto">
          <a:xfrm>
            <a:off x="6102216" y="1237550"/>
            <a:ext cx="312109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ED58CB8-EB39-4ECB-BB3D-DF765EEF23C6}"/>
              </a:ext>
            </a:extLst>
          </p:cNvPr>
          <p:cNvCxnSpPr>
            <a:stCxn id="81" idx="3"/>
            <a:endCxn id="104" idx="1"/>
          </p:cNvCxnSpPr>
          <p:nvPr/>
        </p:nvCxnSpPr>
        <p:spPr bwMode="auto">
          <a:xfrm>
            <a:off x="6105255" y="1873659"/>
            <a:ext cx="28958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40C8031-D0CB-4EA3-B672-41A2BAA53A8B}"/>
              </a:ext>
            </a:extLst>
          </p:cNvPr>
          <p:cNvCxnSpPr>
            <a:stCxn id="89" idx="3"/>
            <a:endCxn id="106" idx="1"/>
          </p:cNvCxnSpPr>
          <p:nvPr/>
        </p:nvCxnSpPr>
        <p:spPr bwMode="auto">
          <a:xfrm>
            <a:off x="6119732" y="2604854"/>
            <a:ext cx="301966" cy="476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70F0DBF-836A-475B-A067-ABA424571F49}"/>
              </a:ext>
            </a:extLst>
          </p:cNvPr>
          <p:cNvCxnSpPr>
            <a:cxnSpLocks/>
            <a:stCxn id="188" idx="3"/>
            <a:endCxn id="189" idx="1"/>
          </p:cNvCxnSpPr>
          <p:nvPr/>
        </p:nvCxnSpPr>
        <p:spPr bwMode="auto">
          <a:xfrm>
            <a:off x="6114889" y="3286870"/>
            <a:ext cx="301967" cy="476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0B380A6-82B8-4C3E-A43A-E1768E54CA4B}"/>
              </a:ext>
            </a:extLst>
          </p:cNvPr>
          <p:cNvCxnSpPr>
            <a:stCxn id="98" idx="3"/>
            <a:endCxn id="99" idx="1"/>
          </p:cNvCxnSpPr>
          <p:nvPr/>
        </p:nvCxnSpPr>
        <p:spPr bwMode="auto">
          <a:xfrm>
            <a:off x="6107433" y="3895790"/>
            <a:ext cx="301967" cy="476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2" name="AutoShape 58">
            <a:extLst>
              <a:ext uri="{FF2B5EF4-FFF2-40B4-BE49-F238E27FC236}">
                <a16:creationId xmlns:a16="http://schemas.microsoft.com/office/drawing/2014/main" id="{B62677B9-888A-4840-899E-E32D64306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83" name="AutoShape 57">
            <a:extLst>
              <a:ext uri="{FF2B5EF4-FFF2-40B4-BE49-F238E27FC236}">
                <a16:creationId xmlns:a16="http://schemas.microsoft.com/office/drawing/2014/main" id="{23C9CAEE-59A1-46EB-8940-8C7223841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CF99099-F0BF-42B7-BA7E-6881BC669740}"/>
              </a:ext>
            </a:extLst>
          </p:cNvPr>
          <p:cNvCxnSpPr>
            <a:cxnSpLocks/>
            <a:stCxn id="84" idx="3"/>
            <a:endCxn id="188" idx="1"/>
          </p:cNvCxnSpPr>
          <p:nvPr/>
        </p:nvCxnSpPr>
        <p:spPr bwMode="auto">
          <a:xfrm>
            <a:off x="4426974" y="2604854"/>
            <a:ext cx="316315" cy="682016"/>
          </a:xfrm>
          <a:prstGeom prst="bentConnector3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65D5E96-02F4-4B54-9857-CC1D4C995313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241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64" name="Slide Number Placeholder 4">
            <a:extLst>
              <a:ext uri="{FF2B5EF4-FFF2-40B4-BE49-F238E27FC236}">
                <a16:creationId xmlns:a16="http://schemas.microsoft.com/office/drawing/2014/main" id="{24735193-EBAE-47F7-AE08-C4E051B6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025" y="6631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12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0BA61B-B65C-41A9-8B27-50F93589B063}"/>
              </a:ext>
            </a:extLst>
          </p:cNvPr>
          <p:cNvSpPr txBox="1"/>
          <p:nvPr/>
        </p:nvSpPr>
        <p:spPr>
          <a:xfrm>
            <a:off x="244673" y="6496049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0"/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5646B-6776-41B4-BBD7-13F91A6E3313}"/>
              </a:ext>
            </a:extLst>
          </p:cNvPr>
          <p:cNvSpPr txBox="1"/>
          <p:nvPr/>
        </p:nvSpPr>
        <p:spPr>
          <a:xfrm>
            <a:off x="39997" y="6477386"/>
            <a:ext cx="180000" cy="374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05" name="Text Box 2">
            <a:extLst>
              <a:ext uri="{FF2B5EF4-FFF2-40B4-BE49-F238E27FC236}">
                <a16:creationId xmlns:a16="http://schemas.microsoft.com/office/drawing/2014/main" id="{F885FEA8-2650-4BAE-BD30-177BEEB8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2 Samples T 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B4F0AC-5783-4227-97F5-8187EC65F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506491"/>
              </p:ext>
            </p:extLst>
          </p:nvPr>
        </p:nvGraphicFramePr>
        <p:xfrm>
          <a:off x="328027" y="1087809"/>
          <a:ext cx="8793194" cy="2130540"/>
        </p:xfrm>
        <a:graphic>
          <a:graphicData uri="http://schemas.openxmlformats.org/drawingml/2006/table">
            <a:tbl>
              <a:tblPr/>
              <a:tblGrid>
                <a:gridCol w="558298">
                  <a:extLst>
                    <a:ext uri="{9D8B030D-6E8A-4147-A177-3AD203B41FA5}">
                      <a16:colId xmlns:a16="http://schemas.microsoft.com/office/drawing/2014/main" val="675507370"/>
                    </a:ext>
                  </a:extLst>
                </a:gridCol>
                <a:gridCol w="2628653">
                  <a:extLst>
                    <a:ext uri="{9D8B030D-6E8A-4147-A177-3AD203B41FA5}">
                      <a16:colId xmlns:a16="http://schemas.microsoft.com/office/drawing/2014/main" val="851657989"/>
                    </a:ext>
                  </a:extLst>
                </a:gridCol>
                <a:gridCol w="4094186">
                  <a:extLst>
                    <a:ext uri="{9D8B030D-6E8A-4147-A177-3AD203B41FA5}">
                      <a16:colId xmlns:a16="http://schemas.microsoft.com/office/drawing/2014/main" val="4121057302"/>
                    </a:ext>
                  </a:extLst>
                </a:gridCol>
                <a:gridCol w="569929">
                  <a:extLst>
                    <a:ext uri="{9D8B030D-6E8A-4147-A177-3AD203B41FA5}">
                      <a16:colId xmlns:a16="http://schemas.microsoft.com/office/drawing/2014/main" val="1649521796"/>
                    </a:ext>
                  </a:extLst>
                </a:gridCol>
                <a:gridCol w="942128">
                  <a:extLst>
                    <a:ext uri="{9D8B030D-6E8A-4147-A177-3AD203B41FA5}">
                      <a16:colId xmlns:a16="http://schemas.microsoft.com/office/drawing/2014/main" val="6004670"/>
                    </a:ext>
                  </a:extLst>
                </a:gridCol>
              </a:tblGrid>
              <a:tr h="53263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No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Potential Factors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List checking 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Tool to identify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186259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CANSIM send weak signal to LCD recognized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Checking luminance value before /after change to new CANSIM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 2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 sample T 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720531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Measure incorrectly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Checking luminance value before /after change to new camera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 2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 sample T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305671"/>
                  </a:ext>
                </a:extLst>
              </a:tr>
              <a:tr h="53263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Camera angle changed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Checking luminance value before /after changing angle of detector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 2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 sample T</a:t>
                      </a:r>
                    </a:p>
                  </a:txBody>
                  <a:tcPr marL="8476" marR="8476" marT="84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502622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BD119D-483F-4B62-A423-BE8480B87DC8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829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BE53BB-8EA3-4A02-8B07-C1241536D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967" y="1459562"/>
            <a:ext cx="2554377" cy="4328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0435D6-C429-45C3-B6B1-35C46158E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951" y="1487678"/>
            <a:ext cx="2850569" cy="4224337"/>
          </a:xfrm>
          <a:prstGeom prst="rect">
            <a:avLst/>
          </a:prstGeom>
        </p:spPr>
      </p:pic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64" name="Slide Number Placeholder 4">
            <a:extLst>
              <a:ext uri="{FF2B5EF4-FFF2-40B4-BE49-F238E27FC236}">
                <a16:creationId xmlns:a16="http://schemas.microsoft.com/office/drawing/2014/main" id="{24735193-EBAE-47F7-AE08-C4E051B6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4952" y="6628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13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B4B956C-5807-4333-8355-4C41DF1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2 Samples T _ Analysis 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7CC25F09-2F24-46D3-A9C1-3FD4420B1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4" y="799200"/>
            <a:ext cx="8581114" cy="18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>
            <a:noAutofit/>
          </a:bodyPr>
          <a:lstStyle/>
          <a:p>
            <a:pPr marL="228600" indent="-22860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Detection Luminance from CANSIM of Station 2_Change to the new CANSIM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21FB5F-6A89-4542-9E1C-21FB7959A5B4}"/>
              </a:ext>
            </a:extLst>
          </p:cNvPr>
          <p:cNvSpPr/>
          <p:nvPr/>
        </p:nvSpPr>
        <p:spPr>
          <a:xfrm>
            <a:off x="272480" y="1008515"/>
            <a:ext cx="6920382" cy="38869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H0: The changing CANSIM does not affect in the luminance in station 2</a:t>
            </a:r>
          </a:p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H1: Changing the CANSIM affects the luminance in station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1B64C-3D0C-4AFC-9A02-6A7E183572E6}"/>
              </a:ext>
            </a:extLst>
          </p:cNvPr>
          <p:cNvSpPr/>
          <p:nvPr/>
        </p:nvSpPr>
        <p:spPr>
          <a:xfrm>
            <a:off x="98866" y="1363842"/>
            <a:ext cx="34174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8140ED-C729-467D-AEC9-86F71656C87D}"/>
              </a:ext>
            </a:extLst>
          </p:cNvPr>
          <p:cNvSpPr/>
          <p:nvPr/>
        </p:nvSpPr>
        <p:spPr>
          <a:xfrm>
            <a:off x="3551643" y="1363842"/>
            <a:ext cx="31295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00427-54B6-45B9-ABA2-0D94A30B42D1}"/>
              </a:ext>
            </a:extLst>
          </p:cNvPr>
          <p:cNvSpPr/>
          <p:nvPr/>
        </p:nvSpPr>
        <p:spPr>
          <a:xfrm>
            <a:off x="6759815" y="1363841"/>
            <a:ext cx="3047319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E05F07-6192-43D2-BDDA-820ED5A6D7C8}"/>
              </a:ext>
            </a:extLst>
          </p:cNvPr>
          <p:cNvSpPr/>
          <p:nvPr/>
        </p:nvSpPr>
        <p:spPr>
          <a:xfrm>
            <a:off x="3622945" y="5540147"/>
            <a:ext cx="2994615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P-value = 0.695 &gt; 0.05 -&gt; Fail to reject H0 (No significant difference before/after changing CANSIM).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6AC9E33-5B26-4D42-8AD9-8C8F452EA347}"/>
              </a:ext>
            </a:extLst>
          </p:cNvPr>
          <p:cNvSpPr/>
          <p:nvPr/>
        </p:nvSpPr>
        <p:spPr>
          <a:xfrm>
            <a:off x="7005666" y="5568722"/>
            <a:ext cx="2125080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Changing CANSIM has no significant effect on luminance (Factor eliminated).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83014D-3F1B-4CCF-854B-576FA6A74A3A}"/>
              </a:ext>
            </a:extLst>
          </p:cNvPr>
          <p:cNvSpPr/>
          <p:nvPr/>
        </p:nvSpPr>
        <p:spPr>
          <a:xfrm>
            <a:off x="152438" y="4574457"/>
            <a:ext cx="2933393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Both samples fail the normality test (Anderson-Darling P &lt; 0.005); with n = 30 per group the 2-sample t-test (Welch) is robust.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8DA734-5217-4015-98F6-80B3FBB26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3" y="2127473"/>
            <a:ext cx="3183204" cy="216821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2BAC12-9112-4963-B6B7-476061BB0D94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48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7F0C3D-A52B-4FFE-B84A-79BA69F43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84" y="1592725"/>
            <a:ext cx="2234166" cy="4047856"/>
          </a:xfrm>
          <a:prstGeom prst="rect">
            <a:avLst/>
          </a:prstGeom>
        </p:spPr>
      </p:pic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64" name="Slide Number Placeholder 4">
            <a:extLst>
              <a:ext uri="{FF2B5EF4-FFF2-40B4-BE49-F238E27FC236}">
                <a16:creationId xmlns:a16="http://schemas.microsoft.com/office/drawing/2014/main" id="{24735193-EBAE-47F7-AE08-C4E051B6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4952" y="6628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14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B4B956C-5807-4333-8355-4C41DF1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2 Samples T _ Analysis 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7CC25F09-2F24-46D3-A9C1-3FD4420B1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4" y="799200"/>
            <a:ext cx="8581114" cy="18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>
            <a:noAutofit/>
          </a:bodyPr>
          <a:lstStyle/>
          <a:p>
            <a:pPr marL="228600" indent="-22860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Detection Luminance from Camera of Station 2_Change to the new camera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21FB5F-6A89-4542-9E1C-21FB7959A5B4}"/>
              </a:ext>
            </a:extLst>
          </p:cNvPr>
          <p:cNvSpPr/>
          <p:nvPr/>
        </p:nvSpPr>
        <p:spPr>
          <a:xfrm>
            <a:off x="272480" y="1008515"/>
            <a:ext cx="6920382" cy="38869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H0: The changing new camera does not affect in the luminance in station 2</a:t>
            </a:r>
          </a:p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H1: Changing the new camera affects luminance in station 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04C03C-D103-4228-8164-DAC001218135}"/>
              </a:ext>
            </a:extLst>
          </p:cNvPr>
          <p:cNvGrpSpPr/>
          <p:nvPr/>
        </p:nvGrpSpPr>
        <p:grpSpPr>
          <a:xfrm>
            <a:off x="98866" y="1363842"/>
            <a:ext cx="3417450" cy="4985319"/>
            <a:chOff x="27541" y="1363842"/>
            <a:chExt cx="3488775" cy="498531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DCD8DDD-848A-4DD4-8977-795C2A45FAA7}"/>
                </a:ext>
              </a:extLst>
            </p:cNvPr>
            <p:cNvSpPr/>
            <p:nvPr/>
          </p:nvSpPr>
          <p:spPr>
            <a:xfrm>
              <a:off x="82231" y="4574457"/>
              <a:ext cx="2994615" cy="61867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prstClr val="black"/>
                  </a:solidFill>
                  <a:latin typeface="Arial" panose="020B0604020202020204" pitchFamily="34" charset="0"/>
                  <a:ea typeface="Arial" panose="020B0600000101010101" pitchFamily="34" charset="-127"/>
                  <a:cs typeface="Arial" panose="020B0604020202020204" pitchFamily="34" charset="0"/>
                </a:rPr>
                <a:t>Both samples fail the normality test (Anderson-Darling P &lt; 0.005). With n = 30 per group the 2-sample t-test (Welch) is robust: P = 0.950 &gt; 0.05, so changing the camera has no significant effect.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91B64C-3D0C-4AFC-9A02-6A7E183572E6}"/>
                </a:ext>
              </a:extLst>
            </p:cNvPr>
            <p:cNvSpPr/>
            <p:nvPr/>
          </p:nvSpPr>
          <p:spPr>
            <a:xfrm>
              <a:off x="27541" y="1363842"/>
              <a:ext cx="3488775" cy="49853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25E2A72-A1A7-475D-B240-E52042B39D12}"/>
              </a:ext>
            </a:extLst>
          </p:cNvPr>
          <p:cNvSpPr/>
          <p:nvPr/>
        </p:nvSpPr>
        <p:spPr>
          <a:xfrm>
            <a:off x="3616861" y="5650106"/>
            <a:ext cx="2994615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P-value = 0.950 &gt; 0.05 -&gt; Fail to reject H0 (No significant difference before/after changing camera).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F22A1-2A24-4A0B-8A57-21B51CCA2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759" y="1787863"/>
            <a:ext cx="2606993" cy="372427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A8140ED-C729-467D-AEC9-86F71656C87D}"/>
              </a:ext>
            </a:extLst>
          </p:cNvPr>
          <p:cNvSpPr/>
          <p:nvPr/>
        </p:nvSpPr>
        <p:spPr>
          <a:xfrm>
            <a:off x="3551643" y="1363842"/>
            <a:ext cx="31295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7185BE-8036-4784-9456-394E8FE0CE4B}"/>
              </a:ext>
            </a:extLst>
          </p:cNvPr>
          <p:cNvSpPr/>
          <p:nvPr/>
        </p:nvSpPr>
        <p:spPr>
          <a:xfrm>
            <a:off x="6890602" y="5528419"/>
            <a:ext cx="2125080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Changing camera has no significant effect on luminance (Factor eliminated).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00427-54B6-45B9-ABA2-0D94A30B42D1}"/>
              </a:ext>
            </a:extLst>
          </p:cNvPr>
          <p:cNvSpPr/>
          <p:nvPr/>
        </p:nvSpPr>
        <p:spPr>
          <a:xfrm>
            <a:off x="6759815" y="1363841"/>
            <a:ext cx="3047319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CD0B0C-4467-4222-A67F-45926F343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69" y="2162694"/>
            <a:ext cx="3253640" cy="216295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1D8C7D-05B6-4D3D-9ABB-71119BC488A9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7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F81463-D00C-42E3-B8C4-F13E6DF99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913" y="1463388"/>
            <a:ext cx="2830034" cy="423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2A1F05-CB59-4ED6-9475-01BA35AED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471" y="1821584"/>
            <a:ext cx="2794242" cy="3819383"/>
          </a:xfrm>
          <a:prstGeom prst="rect">
            <a:avLst/>
          </a:prstGeom>
        </p:spPr>
      </p:pic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64" name="Slide Number Placeholder 4">
            <a:extLst>
              <a:ext uri="{FF2B5EF4-FFF2-40B4-BE49-F238E27FC236}">
                <a16:creationId xmlns:a16="http://schemas.microsoft.com/office/drawing/2014/main" id="{24735193-EBAE-47F7-AE08-C4E051B6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4952" y="6628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15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0BA61B-B65C-41A9-8B27-50F93589B063}"/>
              </a:ext>
            </a:extLst>
          </p:cNvPr>
          <p:cNvSpPr txBox="1"/>
          <p:nvPr/>
        </p:nvSpPr>
        <p:spPr>
          <a:xfrm>
            <a:off x="235883" y="6564853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0"/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5646B-6776-41B4-BBD7-13F91A6E3313}"/>
              </a:ext>
            </a:extLst>
          </p:cNvPr>
          <p:cNvSpPr txBox="1"/>
          <p:nvPr/>
        </p:nvSpPr>
        <p:spPr>
          <a:xfrm>
            <a:off x="39997" y="6477386"/>
            <a:ext cx="180000" cy="374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4B4B956C-5807-4333-8355-4C41DF1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2 Samples T _ Analysis 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7CC25F09-2F24-46D3-A9C1-3FD4420B1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4" y="799200"/>
            <a:ext cx="8581114" cy="18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>
            <a:noAutofit/>
          </a:bodyPr>
          <a:lstStyle/>
          <a:p>
            <a:pPr marL="228600" indent="-228600" defTabSz="844083" eaLnBrk="1" latinLnBrk="0">
              <a:buFont typeface="Wingdings" panose="05000000000000000000" pitchFamily="2" charset="2"/>
              <a:buChar char="§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Detection Luminance from Camera of Station 2_Change to the angle of Camera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21FB5F-6A89-4542-9E1C-21FB7959A5B4}"/>
              </a:ext>
            </a:extLst>
          </p:cNvPr>
          <p:cNvSpPr/>
          <p:nvPr/>
        </p:nvSpPr>
        <p:spPr>
          <a:xfrm>
            <a:off x="272480" y="1008515"/>
            <a:ext cx="6920382" cy="38869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H0: The changing angle does not affect in the luminance in station 2</a:t>
            </a:r>
          </a:p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H1: Changing angle affects the luminance in station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1B64C-3D0C-4AFC-9A02-6A7E183572E6}"/>
              </a:ext>
            </a:extLst>
          </p:cNvPr>
          <p:cNvSpPr/>
          <p:nvPr/>
        </p:nvSpPr>
        <p:spPr>
          <a:xfrm>
            <a:off x="98866" y="1363842"/>
            <a:ext cx="34174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8140ED-C729-467D-AEC9-86F71656C87D}"/>
              </a:ext>
            </a:extLst>
          </p:cNvPr>
          <p:cNvSpPr/>
          <p:nvPr/>
        </p:nvSpPr>
        <p:spPr>
          <a:xfrm>
            <a:off x="3551643" y="1363842"/>
            <a:ext cx="3129550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E00427-54B6-45B9-ABA2-0D94A30B42D1}"/>
              </a:ext>
            </a:extLst>
          </p:cNvPr>
          <p:cNvSpPr/>
          <p:nvPr/>
        </p:nvSpPr>
        <p:spPr>
          <a:xfrm>
            <a:off x="6759815" y="1363841"/>
            <a:ext cx="3047319" cy="4985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D18562-BCC3-4013-82DD-F4D405717BC8}"/>
              </a:ext>
            </a:extLst>
          </p:cNvPr>
          <p:cNvSpPr/>
          <p:nvPr/>
        </p:nvSpPr>
        <p:spPr>
          <a:xfrm>
            <a:off x="7078109" y="5640967"/>
            <a:ext cx="2125080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1">
                <a:solidFill>
                  <a:prstClr val="black"/>
                </a:solidFill>
                <a:latin typeface="Arial"/>
              </a:rPr>
              <a:t>Changing camera angle significantly affects luminance → Root Cause verified!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C9282F-7684-42EC-8ACA-B2F7764FEB40}"/>
              </a:ext>
            </a:extLst>
          </p:cNvPr>
          <p:cNvSpPr/>
          <p:nvPr/>
        </p:nvSpPr>
        <p:spPr>
          <a:xfrm>
            <a:off x="3608582" y="5694299"/>
            <a:ext cx="2994615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P-value &lt; 0.001 (&lt; 0.05) -&gt; Reject H0 (Significant difference before/after angle adjustment).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D04D18-793F-4BB5-941D-DBC9777DF9A3}"/>
              </a:ext>
            </a:extLst>
          </p:cNvPr>
          <p:cNvSpPr/>
          <p:nvPr/>
        </p:nvSpPr>
        <p:spPr>
          <a:xfrm>
            <a:off x="98866" y="5564534"/>
            <a:ext cx="2933393" cy="61867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sz="1000" b="0">
                <a:solidFill>
                  <a:prstClr val="black"/>
                </a:solidFill>
                <a:latin typeface="Arial"/>
              </a:rPr>
              <a:t>The before-fix sample (C1) fails the normality test (Anderson-Darling P &lt; 0.005); with n = 30 per group the 2-sample t-test (Welch) is robust. After the angle correction the mean is 48.99 Cd/m² higher (95% CI 32.93 to 65.05).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D2CE55-1666-4BA2-8F5D-76D7AD09E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58" y="2514600"/>
            <a:ext cx="3160523" cy="2113294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493B99-CBD5-4FF7-890F-B765055A2C91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824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제목 1">
            <a:extLst>
              <a:ext uri="{FF2B5EF4-FFF2-40B4-BE49-F238E27FC236}">
                <a16:creationId xmlns:a16="http://schemas.microsoft.com/office/drawing/2014/main" id="{A33C1AE4-DB4A-4748-A4CE-56DE3154E7D9}"/>
              </a:ext>
            </a:extLst>
          </p:cNvPr>
          <p:cNvSpPr txBox="1">
            <a:spLocks/>
          </p:cNvSpPr>
          <p:nvPr/>
        </p:nvSpPr>
        <p:spPr>
          <a:xfrm>
            <a:off x="27541" y="64338"/>
            <a:ext cx="6085642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vi-VN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600" b="1" kern="0" dirty="0">
                <a:solidFill>
                  <a:srgbClr val="000000"/>
                </a:solidFill>
                <a:latin typeface="Arial Narrow" panose="020B0606020202030204" pitchFamily="34" charset="0"/>
                <a:ea typeface="LG Smart_H Regular" pitchFamily="34" charset="-127"/>
              </a:rPr>
              <a:t>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sp>
        <p:nvSpPr>
          <p:cNvPr id="64" name="Slide Number Placeholder 4">
            <a:extLst>
              <a:ext uri="{FF2B5EF4-FFF2-40B4-BE49-F238E27FC236}">
                <a16:creationId xmlns:a16="http://schemas.microsoft.com/office/drawing/2014/main" id="{24735193-EBAE-47F7-AE08-C4E051B6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025" y="6631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16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0BA61B-B65C-41A9-8B27-50F93589B063}"/>
              </a:ext>
            </a:extLst>
          </p:cNvPr>
          <p:cNvSpPr txBox="1"/>
          <p:nvPr/>
        </p:nvSpPr>
        <p:spPr>
          <a:xfrm>
            <a:off x="244673" y="6496049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0"/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</a:rPr>
              <a:t>: Potential factor</a:t>
            </a:r>
            <a:endParaRPr lang="en-US" sz="14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0C5646B-6776-41B4-BBD7-13F91A6E3313}"/>
              </a:ext>
            </a:extLst>
          </p:cNvPr>
          <p:cNvSpPr txBox="1"/>
          <p:nvPr/>
        </p:nvSpPr>
        <p:spPr>
          <a:xfrm>
            <a:off x="39997" y="6477386"/>
            <a:ext cx="180000" cy="374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05" name="Text Box 2">
            <a:extLst>
              <a:ext uri="{FF2B5EF4-FFF2-40B4-BE49-F238E27FC236}">
                <a16:creationId xmlns:a16="http://schemas.microsoft.com/office/drawing/2014/main" id="{F885FEA8-2650-4BAE-BD30-177BEEB89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97" y="508838"/>
            <a:ext cx="564553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marL="171450" indent="-171450" defTabSz="844083" eaLnBrk="1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en-US" altLang="ko-KR" sz="1000" b="1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2 Samples T 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00" name="AutoShape 55">
            <a:extLst>
              <a:ext uri="{FF2B5EF4-FFF2-40B4-BE49-F238E27FC236}">
                <a16:creationId xmlns:a16="http://schemas.microsoft.com/office/drawing/2014/main" id="{EED46192-4ED1-4158-8F3E-AA2D8BB9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746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01" name="AutoShape 56">
            <a:extLst>
              <a:ext uri="{FF2B5EF4-FFF2-40B4-BE49-F238E27FC236}">
                <a16:creationId xmlns:a16="http://schemas.microsoft.com/office/drawing/2014/main" id="{7459209F-12BD-4723-B248-E7E3EC69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771" y="166585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14" name="AutoShape 58">
            <a:extLst>
              <a:ext uri="{FF2B5EF4-FFF2-40B4-BE49-F238E27FC236}">
                <a16:creationId xmlns:a16="http://schemas.microsoft.com/office/drawing/2014/main" id="{427C720A-861D-4934-858A-D651CA1E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15" name="AutoShape 59">
            <a:extLst>
              <a:ext uri="{FF2B5EF4-FFF2-40B4-BE49-F238E27FC236}">
                <a16:creationId xmlns:a16="http://schemas.microsoft.com/office/drawing/2014/main" id="{05E66742-DE0E-48EA-8AA8-4CD0C570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196" y="166585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116" name="AutoShape 57">
            <a:extLst>
              <a:ext uri="{FF2B5EF4-FFF2-40B4-BE49-F238E27FC236}">
                <a16:creationId xmlns:a16="http://schemas.microsoft.com/office/drawing/2014/main" id="{DFFBFEFF-78C8-4850-A9A2-2EB6B7D4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19FFA-3B9B-430E-9F64-271EFD67D4AA}"/>
              </a:ext>
            </a:extLst>
          </p:cNvPr>
          <p:cNvSpPr txBox="1"/>
          <p:nvPr/>
        </p:nvSpPr>
        <p:spPr>
          <a:xfrm>
            <a:off x="6008474" y="2262358"/>
            <a:ext cx="391772" cy="37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sz="1000" b="1" dirty="0">
                <a:solidFill>
                  <a:srgbClr val="FF00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 2" panose="05020102010507070707" pitchFamily="18" charset="2"/>
              </a:rPr>
              <a:t></a:t>
            </a:r>
            <a:endParaRPr lang="en-US" b="1" dirty="0">
              <a:solidFill>
                <a:srgbClr val="FF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03B95D-B4D0-4970-B381-592923B52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845359"/>
              </p:ext>
            </p:extLst>
          </p:nvPr>
        </p:nvGraphicFramePr>
        <p:xfrm>
          <a:off x="281227" y="976320"/>
          <a:ext cx="9243773" cy="1518595"/>
        </p:xfrm>
        <a:graphic>
          <a:graphicData uri="http://schemas.openxmlformats.org/drawingml/2006/table">
            <a:tbl>
              <a:tblPr/>
              <a:tblGrid>
                <a:gridCol w="467054">
                  <a:extLst>
                    <a:ext uri="{9D8B030D-6E8A-4147-A177-3AD203B41FA5}">
                      <a16:colId xmlns:a16="http://schemas.microsoft.com/office/drawing/2014/main" val="2109521739"/>
                    </a:ext>
                  </a:extLst>
                </a:gridCol>
                <a:gridCol w="2199045">
                  <a:extLst>
                    <a:ext uri="{9D8B030D-6E8A-4147-A177-3AD203B41FA5}">
                      <a16:colId xmlns:a16="http://schemas.microsoft.com/office/drawing/2014/main" val="3424737538"/>
                    </a:ext>
                  </a:extLst>
                </a:gridCol>
                <a:gridCol w="3425061">
                  <a:extLst>
                    <a:ext uri="{9D8B030D-6E8A-4147-A177-3AD203B41FA5}">
                      <a16:colId xmlns:a16="http://schemas.microsoft.com/office/drawing/2014/main" val="2242494846"/>
                    </a:ext>
                  </a:extLst>
                </a:gridCol>
                <a:gridCol w="476784">
                  <a:extLst>
                    <a:ext uri="{9D8B030D-6E8A-4147-A177-3AD203B41FA5}">
                      <a16:colId xmlns:a16="http://schemas.microsoft.com/office/drawing/2014/main" val="1351166837"/>
                    </a:ext>
                  </a:extLst>
                </a:gridCol>
                <a:gridCol w="788153">
                  <a:extLst>
                    <a:ext uri="{9D8B030D-6E8A-4147-A177-3AD203B41FA5}">
                      <a16:colId xmlns:a16="http://schemas.microsoft.com/office/drawing/2014/main" val="1537678072"/>
                    </a:ext>
                  </a:extLst>
                </a:gridCol>
                <a:gridCol w="467054">
                  <a:extLst>
                    <a:ext uri="{9D8B030D-6E8A-4147-A177-3AD203B41FA5}">
                      <a16:colId xmlns:a16="http://schemas.microsoft.com/office/drawing/2014/main" val="2323986976"/>
                    </a:ext>
                  </a:extLst>
                </a:gridCol>
                <a:gridCol w="1420622">
                  <a:extLst>
                    <a:ext uri="{9D8B030D-6E8A-4147-A177-3AD203B41FA5}">
                      <a16:colId xmlns:a16="http://schemas.microsoft.com/office/drawing/2014/main" val="1603859258"/>
                    </a:ext>
                  </a:extLst>
                </a:gridCol>
              </a:tblGrid>
              <a:tr h="42267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No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Potential Factors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List checking 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Tool to identify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P value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Conclusion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287274"/>
                  </a:ext>
                </a:extLst>
              </a:tr>
              <a:tr h="422670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CANSIM send weak signal to LCD recognized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Checking luminance value before /after change to new CANSIM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 2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 sample T 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0.695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 </a:t>
                      </a:r>
                      <a:r>
                        <a:rPr sz="800" b="0" dirty="0">
                          <a:latin typeface="Arial"/>
                        </a:rPr>
                        <a:t>Not root cause (P &gt; 0.05)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196543"/>
                  </a:ext>
                </a:extLst>
              </a:tr>
              <a:tr h="422670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Measure incorrectly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Checking luminance value before /after change to new camera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 2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 sample T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0.950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 </a:t>
                      </a:r>
                      <a:r>
                        <a:rPr sz="800" b="0" dirty="0">
                          <a:latin typeface="Arial"/>
                        </a:rPr>
                        <a:t>Not root cause (P &gt; 0.05)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25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Camera angle changed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Checking luminance value before /after changing angle of detector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Station 2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 sample T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&lt; 0.001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800" b="0" dirty="0">
                          <a:latin typeface="Arial"/>
                        </a:rPr>
                        <a:t>Root Cause (Significant effect, P &lt; 0.05)</a:t>
                      </a:r>
                    </a:p>
                  </a:txBody>
                  <a:tcPr marL="6745" marR="6745" marT="67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136179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DE82FB-9C04-4132-BDB3-42EC338047A6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826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12718" y="692150"/>
            <a:ext cx="9598025" cy="379413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311" tIns="45659" rIns="91311" bIns="45659" anchor="ctr"/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zh-CN" b="1" kern="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1" name="Rectangle 21"/>
          <p:cNvSpPr>
            <a:spLocks noChangeArrowheads="1"/>
          </p:cNvSpPr>
          <p:nvPr/>
        </p:nvSpPr>
        <p:spPr bwMode="auto">
          <a:xfrm>
            <a:off x="112719" y="686988"/>
            <a:ext cx="9602749" cy="6094792"/>
          </a:xfrm>
          <a:prstGeom prst="rect">
            <a:avLst/>
          </a:prstGeom>
          <a:noFill/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91311" tIns="45659" rIns="91311" bIns="45659" anchor="ctr"/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</a:pPr>
            <a:endParaRPr kumimoji="0" lang="zh-CN" altLang="zh-CN" sz="17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2" name="TextBox 466"/>
          <p:cNvSpPr txBox="1">
            <a:spLocks noChangeArrowheads="1"/>
          </p:cNvSpPr>
          <p:nvPr/>
        </p:nvSpPr>
        <p:spPr bwMode="auto">
          <a:xfrm>
            <a:off x="3232600" y="5721501"/>
            <a:ext cx="3448592" cy="86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 anchor="ctr">
            <a:spAutoFit/>
          </a:bodyPr>
          <a:lstStyle/>
          <a:p>
            <a:pPr eaLnBrk="1" fontAlgn="auto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Easy Working: ✔ (automatic test, no operator action)</a:t>
            </a:r>
            <a:endParaRPr kumimoji="0" lang="en-US" altLang="zh-CN" sz="1000" u="sng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fontAlgn="auto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Difficulty Working: –</a:t>
            </a:r>
          </a:p>
          <a:p>
            <a:pPr eaLnBrk="1" fontAlgn="auto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Impossible Working: –</a:t>
            </a:r>
            <a:endParaRPr kumimoji="0" lang="en-US" altLang="zh-CN" sz="1000" u="sng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fontAlgn="auto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Working Feeling</a:t>
            </a:r>
            <a:r>
              <a:rPr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: Can detect by program</a:t>
            </a:r>
            <a:endParaRPr kumimoji="0" lang="zh-CN" alt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3" name="TextBox 468"/>
          <p:cNvSpPr txBox="1">
            <a:spLocks noChangeArrowheads="1"/>
          </p:cNvSpPr>
          <p:nvPr/>
        </p:nvSpPr>
        <p:spPr bwMode="auto">
          <a:xfrm>
            <a:off x="6743704" y="5721501"/>
            <a:ext cx="2942776" cy="82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>
            <a:noAutofit/>
          </a:bodyPr>
          <a:lstStyle/>
          <a:p>
            <a:pPr eaLnBrk="1" fontAlgn="auto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zh-CN" alt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</a:t>
            </a: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With who</a:t>
            </a:r>
            <a:r>
              <a:rPr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:</a:t>
            </a:r>
            <a:r>
              <a:rPr kumimoji="0" lang="zh-CN" altLang="en-US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</a:t>
            </a:r>
            <a:r>
              <a:rPr kumimoji="0" lang="vi-VN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</a:t>
            </a: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r. </a:t>
            </a:r>
            <a:r>
              <a:rPr kumimoji="0" lang="en-US" altLang="zh-CN" sz="1000" dirty="0" err="1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Chien</a:t>
            </a: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LQC</a:t>
            </a:r>
          </a:p>
          <a:p>
            <a:pPr eaLnBrk="1" fontAlgn="auto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Field request</a:t>
            </a:r>
            <a:r>
              <a:rPr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: when issues happen, the repair member uses repair station to check if NTF, PE member check the camera status.</a:t>
            </a: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124866" y="5414954"/>
            <a:ext cx="9593151" cy="11420"/>
          </a:xfrm>
          <a:prstGeom prst="line">
            <a:avLst/>
          </a:prstGeom>
          <a:noFill/>
          <a:ln w="9525">
            <a:solidFill>
              <a:srgbClr val="5F5F5F"/>
            </a:solidFill>
            <a:round/>
            <a:headEnd/>
            <a:tailEnd/>
          </a:ln>
        </p:spPr>
        <p:txBody>
          <a:bodyPr lIns="91345" tIns="45677" rIns="91345" bIns="45677"/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9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>
            <a:off x="120763" y="5680830"/>
            <a:ext cx="9593151" cy="0"/>
          </a:xfrm>
          <a:prstGeom prst="line">
            <a:avLst/>
          </a:prstGeom>
          <a:noFill/>
          <a:ln w="9525">
            <a:solidFill>
              <a:srgbClr val="5F5F5F"/>
            </a:solidFill>
            <a:round/>
            <a:headEnd/>
            <a:tailEnd/>
          </a:ln>
        </p:spPr>
        <p:txBody>
          <a:bodyPr lIns="91345" tIns="45677" rIns="91345" bIns="45677"/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grpSp>
        <p:nvGrpSpPr>
          <p:cNvPr id="2" name="그룹 296"/>
          <p:cNvGrpSpPr/>
          <p:nvPr/>
        </p:nvGrpSpPr>
        <p:grpSpPr>
          <a:xfrm>
            <a:off x="3216233" y="5429265"/>
            <a:ext cx="3524294" cy="1216014"/>
            <a:chOff x="3055327" y="5143503"/>
            <a:chExt cx="3166698" cy="1501775"/>
          </a:xfrm>
        </p:grpSpPr>
        <p:cxnSp>
          <p:nvCxnSpPr>
            <p:cNvPr id="18" name="直接连接符 92"/>
            <p:cNvCxnSpPr/>
            <p:nvPr/>
          </p:nvCxnSpPr>
          <p:spPr>
            <a:xfrm rot="5400000">
              <a:off x="5471199" y="5894452"/>
              <a:ext cx="1500187" cy="146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22"/>
            <p:cNvCxnSpPr/>
            <p:nvPr/>
          </p:nvCxnSpPr>
          <p:spPr>
            <a:xfrm rot="5400000">
              <a:off x="2305966" y="5892864"/>
              <a:ext cx="1500188" cy="146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462"/>
          <p:cNvSpPr txBox="1">
            <a:spLocks noChangeArrowheads="1"/>
          </p:cNvSpPr>
          <p:nvPr/>
        </p:nvSpPr>
        <p:spPr bwMode="auto">
          <a:xfrm>
            <a:off x="111126" y="5706181"/>
            <a:ext cx="3113682" cy="1118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 anchor="ctr">
            <a:spAutoFit/>
          </a:bodyPr>
          <a:lstStyle/>
          <a:p>
            <a:pPr eaLnBrk="1" fontAlgn="auto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sz="1000" dirty="0">
                <a:latin typeface="Arial"/>
              </a:rPr>
              <a:t> Date: Feb-2026</a:t>
            </a:r>
            <a:endParaRPr kumimoji="0" lang="en-US" altLang="zh-CN" sz="10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fontAlgn="auto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Line: IVI 5</a:t>
            </a:r>
          </a:p>
          <a:p>
            <a:pPr eaLnBrk="1" fontAlgn="auto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kumimoji="0" lang="en-US" altLang="zh-CN" sz="10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Area: FA production line</a:t>
            </a:r>
            <a:endParaRPr kumimoji="0" lang="en-US" altLang="zh-CN" sz="1000" u="sng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fontAlgn="auto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p"/>
            </a:pPr>
            <a:r>
              <a:rPr sz="1000" b="0" dirty="0">
                <a:latin typeface="Arial"/>
              </a:rPr>
              <a:t> Detail Checking: Visual check the cable of LCD with PCBA to check set OK or not</a:t>
            </a:r>
            <a:endParaRPr kumimoji="0" lang="zh-CN" altLang="en-US" sz="1000" u="sng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 rot="5400000">
            <a:off x="2878015" y="3059093"/>
            <a:ext cx="4722431" cy="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rot="5400000">
            <a:off x="4759190" y="3055344"/>
            <a:ext cx="4722431" cy="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124634" y="694919"/>
            <a:ext cx="2445468" cy="373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494" tIns="47750" rIns="95494" bIns="47750">
            <a:spAutoFit/>
          </a:bodyPr>
          <a:lstStyle/>
          <a:p>
            <a:pPr algn="ctr" defTabSz="957147" eaLnBrk="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Problem</a:t>
            </a:r>
          </a:p>
        </p:txBody>
      </p:sp>
      <p:sp>
        <p:nvSpPr>
          <p:cNvPr id="34" name="TextBox 423"/>
          <p:cNvSpPr txBox="1">
            <a:spLocks noChangeArrowheads="1"/>
          </p:cNvSpPr>
          <p:nvPr/>
        </p:nvSpPr>
        <p:spPr bwMode="auto">
          <a:xfrm>
            <a:off x="1050274" y="5441972"/>
            <a:ext cx="1652587" cy="246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>
            <a:spAutoFit/>
          </a:bodyPr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kumimoji="0" lang="en-US" altLang="zh-CN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Field Checking</a:t>
            </a:r>
            <a:endParaRPr kumimoji="0" lang="zh-CN" altLang="en-US" sz="1000" b="1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35" name="TextBox 424"/>
          <p:cNvSpPr txBox="1">
            <a:spLocks noChangeArrowheads="1"/>
          </p:cNvSpPr>
          <p:nvPr/>
        </p:nvSpPr>
        <p:spPr bwMode="auto">
          <a:xfrm>
            <a:off x="3216235" y="5468792"/>
            <a:ext cx="3546518" cy="246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>
            <a:spAutoFit/>
          </a:bodyPr>
          <a:lstStyle/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kumimoji="0" lang="en-US" altLang="zh-CN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Field Workability  </a:t>
            </a:r>
            <a:endParaRPr kumimoji="0" lang="zh-CN" altLang="en-US" sz="1000" b="1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36" name="TextBox 425"/>
          <p:cNvSpPr txBox="1">
            <a:spLocks noChangeArrowheads="1"/>
          </p:cNvSpPr>
          <p:nvPr/>
        </p:nvSpPr>
        <p:spPr bwMode="auto">
          <a:xfrm>
            <a:off x="6762753" y="5441972"/>
            <a:ext cx="2942775" cy="246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>
            <a:spAutoFit/>
          </a:bodyPr>
          <a:lstStyle/>
          <a:p>
            <a:pPr algn="ctr" eaLnBrk="1" fontAlgn="auto" latinLnBrk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kumimoji="0" lang="en-US" altLang="zh-CN" sz="1000" b="1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Field Interview</a:t>
            </a:r>
            <a:endParaRPr kumimoji="0" lang="zh-CN" altLang="en-US" sz="1000" b="1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37" name="Text Box 16"/>
          <p:cNvSpPr txBox="1">
            <a:spLocks noChangeArrowheads="1"/>
          </p:cNvSpPr>
          <p:nvPr/>
        </p:nvSpPr>
        <p:spPr bwMode="auto">
          <a:xfrm>
            <a:off x="5230883" y="702924"/>
            <a:ext cx="1889092" cy="373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494" tIns="47750" rIns="95494" bIns="47750">
            <a:spAutoFit/>
          </a:bodyPr>
          <a:lstStyle/>
          <a:p>
            <a:pPr algn="ctr" defTabSz="957147" eaLnBrk="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Improvement</a:t>
            </a:r>
          </a:p>
        </p:txBody>
      </p:sp>
      <p:sp>
        <p:nvSpPr>
          <p:cNvPr id="38" name="Text Box 13"/>
          <p:cNvSpPr txBox="1">
            <a:spLocks noChangeArrowheads="1"/>
          </p:cNvSpPr>
          <p:nvPr/>
        </p:nvSpPr>
        <p:spPr bwMode="auto">
          <a:xfrm>
            <a:off x="2566230" y="714307"/>
            <a:ext cx="2672570" cy="373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494" tIns="47750" rIns="95494" bIns="47750">
            <a:spAutoFit/>
          </a:bodyPr>
          <a:lstStyle/>
          <a:p>
            <a:pPr algn="ctr" defTabSz="957147" eaLnBrk="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Cause</a:t>
            </a:r>
          </a:p>
        </p:txBody>
      </p:sp>
      <p:sp>
        <p:nvSpPr>
          <p:cNvPr id="40" name="TextBox 128"/>
          <p:cNvSpPr txBox="1">
            <a:spLocks noChangeArrowheads="1"/>
          </p:cNvSpPr>
          <p:nvPr/>
        </p:nvSpPr>
        <p:spPr bwMode="auto">
          <a:xfrm>
            <a:off x="7295558" y="1083346"/>
            <a:ext cx="1250472" cy="261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345" tIns="45677" rIns="91345" bIns="45677">
            <a:spAutoFit/>
          </a:bodyPr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kumimoji="0" lang="en-US" altLang="ko-KR" sz="1000" b="1" u="sng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Progress</a:t>
            </a:r>
            <a:r>
              <a:rPr kumimoji="0" lang="ko-KR" altLang="en-US" sz="1000" b="1" u="sng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</a:t>
            </a:r>
            <a:r>
              <a:rPr kumimoji="0" lang="en-US" altLang="ko-KR" sz="1000" b="1" u="sng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Status</a:t>
            </a: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7119975" y="702937"/>
            <a:ext cx="2600591" cy="373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494" tIns="47750" rIns="95494" bIns="47750">
            <a:spAutoFit/>
          </a:bodyPr>
          <a:lstStyle/>
          <a:p>
            <a:pPr algn="ctr" defTabSz="957147" eaLnBrk="1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0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Progress  Monitoring</a:t>
            </a: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8748000" y="1428105"/>
            <a:ext cx="540000" cy="19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8000" rIns="18000" bIns="18000">
            <a:spAutoFit/>
          </a:bodyPr>
          <a:lstStyle/>
          <a:p>
            <a:pPr algn="ctr" defTabSz="750403" eaLnBrk="1" latinLnBrk="0"/>
            <a:r>
              <a:rPr lang="en-US" altLang="ko-KR" sz="9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Owner</a:t>
            </a:r>
            <a:endParaRPr lang="en-US" altLang="zh-CN" sz="800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9270000" y="1436695"/>
            <a:ext cx="503999" cy="19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8000" rIns="18000" bIns="18000">
            <a:spAutoFit/>
          </a:bodyPr>
          <a:lstStyle/>
          <a:p>
            <a:pPr algn="ctr" defTabSz="750403" eaLnBrk="1" latinLnBrk="0"/>
            <a:r>
              <a:rPr lang="en-US" altLang="zh-CN" sz="9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Verify</a:t>
            </a:r>
          </a:p>
        </p:txBody>
      </p:sp>
      <p:sp>
        <p:nvSpPr>
          <p:cNvPr id="44" name="TextBox 474"/>
          <p:cNvSpPr txBox="1">
            <a:spLocks noChangeArrowheads="1"/>
          </p:cNvSpPr>
          <p:nvPr/>
        </p:nvSpPr>
        <p:spPr bwMode="auto">
          <a:xfrm>
            <a:off x="7150116" y="1417423"/>
            <a:ext cx="612000" cy="195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8000" rIns="18000" bIns="18000">
            <a:spAutoFit/>
          </a:bodyPr>
          <a:lstStyle/>
          <a:p>
            <a:pPr algn="ctr" eaLnBrk="1" latinLnBrk="0"/>
            <a:r>
              <a:rPr lang="en-US" altLang="zh-CN" sz="9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Remark</a:t>
            </a:r>
            <a:endParaRPr lang="zh-CN" altLang="en-US" sz="800" b="1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45" name="TextBox 476"/>
          <p:cNvSpPr txBox="1">
            <a:spLocks noChangeArrowheads="1"/>
          </p:cNvSpPr>
          <p:nvPr/>
        </p:nvSpPr>
        <p:spPr bwMode="auto">
          <a:xfrm>
            <a:off x="7740000" y="1346549"/>
            <a:ext cx="972000" cy="195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8000" rIns="18000" bIns="18000">
            <a:spAutoFit/>
          </a:bodyPr>
          <a:lstStyle/>
          <a:p>
            <a:pPr algn="ctr" eaLnBrk="1" latinLnBrk="0"/>
            <a:r>
              <a:rPr lang="en-US" altLang="zh-CN" sz="900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  </a:t>
            </a:r>
            <a:r>
              <a:rPr lang="en-US" altLang="zh-CN" sz="900" b="1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Schedule</a:t>
            </a:r>
            <a:endParaRPr lang="zh-CN" altLang="en-US" sz="800" b="1" dirty="0">
              <a:solidFill>
                <a:prstClr val="black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grpSp>
        <p:nvGrpSpPr>
          <p:cNvPr id="3" name="Group 121"/>
          <p:cNvGrpSpPr/>
          <p:nvPr/>
        </p:nvGrpSpPr>
        <p:grpSpPr>
          <a:xfrm>
            <a:off x="7151567" y="1362407"/>
            <a:ext cx="2533170" cy="1892995"/>
            <a:chOff x="5120821" y="1060197"/>
            <a:chExt cx="1877538" cy="1362964"/>
          </a:xfrm>
        </p:grpSpPr>
        <p:cxnSp>
          <p:nvCxnSpPr>
            <p:cNvPr id="47" name="直接连接符 118"/>
            <p:cNvCxnSpPr/>
            <p:nvPr/>
          </p:nvCxnSpPr>
          <p:spPr>
            <a:xfrm>
              <a:off x="5123679" y="1303136"/>
              <a:ext cx="187156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" name="Group 93"/>
            <p:cNvGrpSpPr/>
            <p:nvPr/>
          </p:nvGrpSpPr>
          <p:grpSpPr>
            <a:xfrm>
              <a:off x="5120821" y="1060197"/>
              <a:ext cx="1877538" cy="1362964"/>
              <a:chOff x="5120821" y="1060197"/>
              <a:chExt cx="1877538" cy="1362964"/>
            </a:xfrm>
          </p:grpSpPr>
          <p:sp>
            <p:nvSpPr>
              <p:cNvPr id="50" name="矩形 115"/>
              <p:cNvSpPr/>
              <p:nvPr/>
            </p:nvSpPr>
            <p:spPr>
              <a:xfrm>
                <a:off x="5120821" y="1060197"/>
                <a:ext cx="1877538" cy="1362964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3645" tIns="26822" rIns="53645" bIns="26822" anchor="ctr"/>
              <a:lstStyle/>
              <a:p>
                <a:pPr algn="ctr" latinLnBrk="0">
                  <a:defRPr/>
                </a:pPr>
                <a:endParaRPr lang="zh-CN" altLang="en-US" sz="1700" dirty="0">
                  <a:solidFill>
                    <a:prstClr val="black"/>
                  </a:solidFill>
                  <a:latin typeface="LG Smart_H Regular" panose="020B0600000101010101" pitchFamily="34" charset="-127"/>
                  <a:ea typeface="LG Smart_H Regular" panose="020B0600000101010101" pitchFamily="34" charset="-127"/>
                  <a:cs typeface="Arial" pitchFamily="34" charset="0"/>
                </a:endParaRPr>
              </a:p>
            </p:txBody>
          </p:sp>
          <p:cxnSp>
            <p:nvCxnSpPr>
              <p:cNvPr id="51" name="直接连接符 121"/>
              <p:cNvCxnSpPr/>
              <p:nvPr/>
            </p:nvCxnSpPr>
            <p:spPr>
              <a:xfrm rot="16200000" flipH="1">
                <a:off x="4865021" y="1741263"/>
                <a:ext cx="1353312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126"/>
              <p:cNvCxnSpPr/>
              <p:nvPr/>
            </p:nvCxnSpPr>
            <p:spPr>
              <a:xfrm rot="16200000" flipH="1">
                <a:off x="5655761" y="1741444"/>
                <a:ext cx="1362456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127"/>
              <p:cNvCxnSpPr>
                <a:cxnSpLocks/>
              </p:cNvCxnSpPr>
              <p:nvPr/>
            </p:nvCxnSpPr>
            <p:spPr>
              <a:xfrm>
                <a:off x="6718491" y="1066568"/>
                <a:ext cx="22403" cy="1356103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130"/>
              <p:cNvCxnSpPr/>
              <p:nvPr/>
            </p:nvCxnSpPr>
            <p:spPr>
              <a:xfrm rot="5400000">
                <a:off x="5324829" y="1798251"/>
                <a:ext cx="1232039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直接连接符 129"/>
            <p:cNvCxnSpPr>
              <a:cxnSpLocks/>
            </p:cNvCxnSpPr>
            <p:nvPr/>
          </p:nvCxnSpPr>
          <p:spPr>
            <a:xfrm>
              <a:off x="5546192" y="1178144"/>
              <a:ext cx="78842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7" name="직선 연결선 26"/>
          <p:cNvCxnSpPr/>
          <p:nvPr/>
        </p:nvCxnSpPr>
        <p:spPr>
          <a:xfrm rot="5400000">
            <a:off x="197403" y="3053483"/>
            <a:ext cx="4722431" cy="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72"/>
          <p:cNvSpPr>
            <a:spLocks noChangeArrowheads="1"/>
          </p:cNvSpPr>
          <p:nvPr/>
        </p:nvSpPr>
        <p:spPr bwMode="auto">
          <a:xfrm>
            <a:off x="125999" y="1036800"/>
            <a:ext cx="2340000" cy="82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171450" indent="-171450" eaLnBrk="1" latinLnBrk="0">
              <a:lnSpc>
                <a:spcPts val="1600"/>
              </a:lnSpc>
              <a:buFont typeface="Wingdings" pitchFamily="2" charset="2"/>
              <a:buChar char="q"/>
            </a:pPr>
            <a:r>
              <a:rPr sz="950" b="1">
                <a:latin typeface="Arial"/>
              </a:rPr>
              <a:t>• Issue: Luminance NG ppm (Model: J1 Dual)</a:t>
            </a:r>
            <a:endParaRPr lang="vi-VN" altLang="ko-KR" sz="11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  <a:p>
            <a:pPr eaLnBrk="1" latinLnBrk="0"/>
            <a:r>
              <a:rPr sz="950" b="0">
                <a:latin typeface="Arial"/>
              </a:rPr>
              <a:t>• Defect date: Feb-2026 | Station: Luminance</a:t>
            </a:r>
          </a:p>
          <a:p>
            <a:pPr eaLnBrk="1" latinLnBrk="0"/>
            <a:r>
              <a:rPr sz="950" b="0">
                <a:latin typeface="Arial"/>
              </a:rPr>
              <a:t>• Q’ty: 92 ea / 383,333 ppm (Total before: 143 ea / 631 = 226,624 ppm)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7145" y="1560040"/>
            <a:ext cx="795298" cy="21544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ctr" eaLnBrk="1" latinLnBrk="0"/>
            <a:r>
              <a:rPr lang="vi-VN" sz="100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Jun</a:t>
            </a:r>
            <a:endParaRPr lang="en-US" sz="8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72" name="Text Box 60"/>
          <p:cNvSpPr txBox="1">
            <a:spLocks noChangeArrowheads="1"/>
          </p:cNvSpPr>
          <p:nvPr/>
        </p:nvSpPr>
        <p:spPr bwMode="auto">
          <a:xfrm>
            <a:off x="2556000" y="1036800"/>
            <a:ext cx="2592000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07" tIns="45654" rIns="91307" bIns="45654">
            <a:noAutofit/>
          </a:bodyPr>
          <a:lstStyle/>
          <a:p>
            <a:pPr marL="171450" indent="-171450" eaLnBrk="1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sz="1000" b="1" dirty="0">
                <a:latin typeface="Arial"/>
              </a:rPr>
              <a:t>Root Cause: 5-Why Analysis</a:t>
            </a:r>
          </a:p>
          <a:p>
            <a:pPr eaLnBrk="1" latinLnBrk="0"/>
            <a:r>
              <a:rPr sz="900" b="0" dirty="0">
                <a:latin typeface="Arial"/>
              </a:rPr>
              <a:t>1. Why occur? Luminance value measured under spec (800~2000 Cd/m²).</a:t>
            </a:r>
          </a:p>
          <a:p>
            <a:pPr eaLnBrk="1" latinLnBrk="0"/>
            <a:r>
              <a:rPr sz="900" b="0" dirty="0">
                <a:latin typeface="Arial"/>
              </a:rPr>
              <a:t>2. Why under spec? Camera axis not perpendicular (90°) to the LCD surface.</a:t>
            </a:r>
          </a:p>
          <a:p>
            <a:pPr eaLnBrk="1" latinLnBrk="0"/>
            <a:r>
              <a:rPr sz="900" b="0" dirty="0">
                <a:latin typeface="Arial"/>
              </a:rPr>
              <a:t>3. Why angle changed? Long production time caused angle drift from 90° standard.</a:t>
            </a:r>
          </a:p>
          <a:p>
            <a:pPr eaLnBrk="1" latinLnBrk="0"/>
            <a:r>
              <a:rPr sz="900" b="0" dirty="0">
                <a:latin typeface="Arial"/>
              </a:rPr>
              <a:t>4. Why did angle drift? Dual display (PID/CID) requires camera motion; vibration loosened fixture.</a:t>
            </a:r>
          </a:p>
          <a:p>
            <a:pPr eaLnBrk="1" latinLnBrk="0"/>
            <a:r>
              <a:rPr sz="900" b="0" dirty="0">
                <a:latin typeface="Arial"/>
              </a:rPr>
              <a:t>5. Why no prevention? No daily Master sample check sheet to verify angle before production.</a:t>
            </a:r>
          </a:p>
        </p:txBody>
      </p:sp>
      <p:sp>
        <p:nvSpPr>
          <p:cNvPr id="77" name="Oval 76"/>
          <p:cNvSpPr/>
          <p:nvPr/>
        </p:nvSpPr>
        <p:spPr>
          <a:xfrm>
            <a:off x="9403135" y="1926797"/>
            <a:ext cx="237744" cy="237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 eaLnBrk="1" latinLnBrk="0"/>
            <a:endParaRPr 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37D2F0-6B90-41E4-9032-0E95A98516C0}"/>
              </a:ext>
            </a:extLst>
          </p:cNvPr>
          <p:cNvSpPr txBox="1"/>
          <p:nvPr/>
        </p:nvSpPr>
        <p:spPr>
          <a:xfrm>
            <a:off x="540000" y="3330000"/>
            <a:ext cx="1568113" cy="18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</a:rPr>
              <a:t>[Luminance NG]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602090-E50C-4F49-B857-754EE553DF4D}"/>
              </a:ext>
            </a:extLst>
          </p:cNvPr>
          <p:cNvSpPr txBox="1"/>
          <p:nvPr/>
        </p:nvSpPr>
        <p:spPr>
          <a:xfrm>
            <a:off x="8155635" y="1499387"/>
            <a:ext cx="795298" cy="21544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ctr" eaLnBrk="1" latinLnBrk="0"/>
            <a:endParaRPr lang="en-US" sz="8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1CBDE20-C90F-4404-974B-0FCE7E1DC650}"/>
              </a:ext>
            </a:extLst>
          </p:cNvPr>
          <p:cNvCxnSpPr>
            <a:cxnSpLocks/>
          </p:cNvCxnSpPr>
          <p:nvPr/>
        </p:nvCxnSpPr>
        <p:spPr>
          <a:xfrm flipV="1">
            <a:off x="8073091" y="2049910"/>
            <a:ext cx="291298" cy="323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128">
            <a:extLst>
              <a:ext uri="{FF2B5EF4-FFF2-40B4-BE49-F238E27FC236}">
                <a16:creationId xmlns:a16="http://schemas.microsoft.com/office/drawing/2014/main" id="{983CA82C-C735-4016-BE24-6F82F94F4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00" y="1296000"/>
            <a:ext cx="1800000" cy="30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5" tIns="45677" rIns="91345" bIns="45677">
            <a:noAutofit/>
          </a:bodyPr>
          <a:lstStyle/>
          <a:p>
            <a:pPr marL="171450" indent="-171450" eaLnBrk="1" latinLnBrk="0">
              <a:buFontTx/>
              <a:buChar char="-"/>
            </a:pPr>
            <a:r>
              <a:rPr sz="950" b="1">
                <a:latin typeface="Arial"/>
              </a:rPr>
              <a:t>1. Teaching robot &amp; adjust angle of CS2000 Camera (Std: 90.0°)</a:t>
            </a:r>
          </a:p>
        </p:txBody>
      </p:sp>
      <p:sp>
        <p:nvSpPr>
          <p:cNvPr id="64" name="TextBox 93">
            <a:extLst>
              <a:ext uri="{FF2B5EF4-FFF2-40B4-BE49-F238E27FC236}">
                <a16:creationId xmlns:a16="http://schemas.microsoft.com/office/drawing/2014/main" id="{EE94C9A6-714C-4DF8-A112-382381776DDE}"/>
              </a:ext>
            </a:extLst>
          </p:cNvPr>
          <p:cNvSpPr txBox="1"/>
          <p:nvPr/>
        </p:nvSpPr>
        <p:spPr>
          <a:xfrm>
            <a:off x="7782327" y="1801251"/>
            <a:ext cx="706509" cy="21544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0"/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14- Jun</a:t>
            </a:r>
          </a:p>
        </p:txBody>
      </p:sp>
      <p:sp>
        <p:nvSpPr>
          <p:cNvPr id="66" name="TextBox 93">
            <a:extLst>
              <a:ext uri="{FF2B5EF4-FFF2-40B4-BE49-F238E27FC236}">
                <a16:creationId xmlns:a16="http://schemas.microsoft.com/office/drawing/2014/main" id="{8D337C30-8194-4ADE-93BE-89A00C68871C}"/>
              </a:ext>
            </a:extLst>
          </p:cNvPr>
          <p:cNvSpPr txBox="1"/>
          <p:nvPr/>
        </p:nvSpPr>
        <p:spPr>
          <a:xfrm>
            <a:off x="8712000" y="1930439"/>
            <a:ext cx="576000" cy="20005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0"/>
            <a:r>
              <a:rPr lang="vi-VN" sz="85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Mr. </a:t>
            </a:r>
            <a:r>
              <a:rPr lang="en-US" sz="85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Hung</a:t>
            </a:r>
            <a:r>
              <a:rPr lang="vi-VN" sz="85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 PE</a:t>
            </a:r>
            <a:endParaRPr lang="en-US" sz="7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60" name="TextBox 128">
            <a:extLst>
              <a:ext uri="{FF2B5EF4-FFF2-40B4-BE49-F238E27FC236}">
                <a16:creationId xmlns:a16="http://schemas.microsoft.com/office/drawing/2014/main" id="{5666655F-1E01-4994-850E-5E6166294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954" y="1063268"/>
            <a:ext cx="2207754" cy="27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45" tIns="45677" rIns="91345" bIns="45677">
            <a:spAutoFit/>
          </a:bodyPr>
          <a:lstStyle/>
          <a:p>
            <a:pPr eaLnBrk="1" fontAlgn="auto" latinLnBrk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kumimoji="0" lang="en-US" altLang="ko-KR" sz="1000" b="1" u="sng" dirty="0">
                <a:solidFill>
                  <a:prstClr val="black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Improvement</a:t>
            </a:r>
          </a:p>
        </p:txBody>
      </p:sp>
      <p:sp>
        <p:nvSpPr>
          <p:cNvPr id="62" name="TextBox 128">
            <a:extLst>
              <a:ext uri="{FF2B5EF4-FFF2-40B4-BE49-F238E27FC236}">
                <a16:creationId xmlns:a16="http://schemas.microsoft.com/office/drawing/2014/main" id="{C66630D7-5675-4F9F-B957-7BEA31EDB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8000" y="1842413"/>
            <a:ext cx="630000" cy="492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8000" rIns="18000" bIns="18000">
            <a:spAutoFit/>
          </a:bodyPr>
          <a:lstStyle/>
          <a:p>
            <a:pPr eaLnBrk="1" latinLnBrk="0"/>
            <a:r>
              <a:rPr sz="850">
                <a:latin typeface="Arial"/>
              </a:rPr>
              <a:t>1. Adjust angle</a:t>
            </a:r>
          </a:p>
          <a:p>
            <a:pPr eaLnBrk="1" latinLnBrk="0"/>
            <a:r>
              <a:rPr sz="850">
                <a:latin typeface="Arial"/>
              </a:rPr>
              <a:t>of CS2000</a:t>
            </a:r>
          </a:p>
          <a:p>
            <a:pPr eaLnBrk="1" latinLnBrk="0"/>
            <a:r>
              <a:rPr sz="850">
                <a:latin typeface="Arial"/>
              </a:rPr>
              <a:t>Camera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C0D2E81-B641-4A00-AC8D-397DF12660C0}"/>
              </a:ext>
            </a:extLst>
          </p:cNvPr>
          <p:cNvCxnSpPr>
            <a:cxnSpLocks/>
          </p:cNvCxnSpPr>
          <p:nvPr/>
        </p:nvCxnSpPr>
        <p:spPr>
          <a:xfrm flipV="1">
            <a:off x="8074192" y="2521219"/>
            <a:ext cx="291298" cy="323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34AC5C43-25D8-45D4-B158-4429C0460685}"/>
              </a:ext>
            </a:extLst>
          </p:cNvPr>
          <p:cNvSpPr/>
          <p:nvPr/>
        </p:nvSpPr>
        <p:spPr>
          <a:xfrm>
            <a:off x="9403135" y="2389989"/>
            <a:ext cx="237744" cy="237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 eaLnBrk="1" latinLnBrk="0"/>
            <a:endParaRPr lang="en-US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73" name="TextBox 93">
            <a:extLst>
              <a:ext uri="{FF2B5EF4-FFF2-40B4-BE49-F238E27FC236}">
                <a16:creationId xmlns:a16="http://schemas.microsoft.com/office/drawing/2014/main" id="{40D0226D-DEC2-4D06-9639-C07205FDEEC5}"/>
              </a:ext>
            </a:extLst>
          </p:cNvPr>
          <p:cNvSpPr txBox="1"/>
          <p:nvPr/>
        </p:nvSpPr>
        <p:spPr>
          <a:xfrm>
            <a:off x="7809419" y="2311324"/>
            <a:ext cx="706509" cy="21544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0"/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14- Jun</a:t>
            </a:r>
          </a:p>
        </p:txBody>
      </p:sp>
      <p:sp>
        <p:nvSpPr>
          <p:cNvPr id="82" name="TextBox 128">
            <a:extLst>
              <a:ext uri="{FF2B5EF4-FFF2-40B4-BE49-F238E27FC236}">
                <a16:creationId xmlns:a16="http://schemas.microsoft.com/office/drawing/2014/main" id="{313E9328-5552-484F-A3B2-16E4CFD45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8000" y="2392728"/>
            <a:ext cx="630000" cy="27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8000" rIns="18000" bIns="18000">
            <a:spAutoFit/>
          </a:bodyPr>
          <a:lstStyle/>
          <a:p>
            <a:pPr eaLnBrk="1" latinLnBrk="0"/>
            <a:r>
              <a:rPr sz="850">
                <a:latin typeface="Arial"/>
              </a:rPr>
              <a:t>2. Monitoring</a:t>
            </a:r>
          </a:p>
          <a:p>
            <a:pPr eaLnBrk="1" latinLnBrk="0"/>
            <a:r>
              <a:rPr sz="850">
                <a:latin typeface="Arial"/>
              </a:rPr>
              <a:t>result</a:t>
            </a:r>
          </a:p>
        </p:txBody>
      </p:sp>
      <p:sp>
        <p:nvSpPr>
          <p:cNvPr id="89" name="TextBox 93">
            <a:extLst>
              <a:ext uri="{FF2B5EF4-FFF2-40B4-BE49-F238E27FC236}">
                <a16:creationId xmlns:a16="http://schemas.microsoft.com/office/drawing/2014/main" id="{754F827D-7B4C-4967-985B-F20B89D9F272}"/>
              </a:ext>
            </a:extLst>
          </p:cNvPr>
          <p:cNvSpPr txBox="1"/>
          <p:nvPr/>
        </p:nvSpPr>
        <p:spPr>
          <a:xfrm>
            <a:off x="8712000" y="2413420"/>
            <a:ext cx="576000" cy="20005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0"/>
            <a:r>
              <a:rPr lang="vi-VN" sz="85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Mr. </a:t>
            </a:r>
            <a:r>
              <a:rPr lang="en-US" sz="85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Hung </a:t>
            </a:r>
            <a:r>
              <a:rPr lang="vi-VN" sz="850" dirty="0">
                <a:latin typeface="Arial" panose="020B0600000101010101" pitchFamily="34" charset="-127"/>
                <a:ea typeface="Arial" panose="020B0600000101010101" pitchFamily="34" charset="-127"/>
                <a:cs typeface="Arial" pitchFamily="34" charset="0"/>
              </a:rPr>
              <a:t>PE</a:t>
            </a:r>
            <a:endParaRPr lang="en-US" sz="7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96" name="Slide Number Placeholder 4">
            <a:extLst>
              <a:ext uri="{FF2B5EF4-FFF2-40B4-BE49-F238E27FC236}">
                <a16:creationId xmlns:a16="http://schemas.microsoft.com/office/drawing/2014/main" id="{14609694-DD49-4E0A-9942-EE39A659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025" y="6631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17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83" name="AutoShape 55">
            <a:extLst>
              <a:ext uri="{FF2B5EF4-FFF2-40B4-BE49-F238E27FC236}">
                <a16:creationId xmlns:a16="http://schemas.microsoft.com/office/drawing/2014/main" id="{5FF6A60A-3B00-49E1-A8A5-82E4EB233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98" name="AutoShape 56">
            <a:extLst>
              <a:ext uri="{FF2B5EF4-FFF2-40B4-BE49-F238E27FC236}">
                <a16:creationId xmlns:a16="http://schemas.microsoft.com/office/drawing/2014/main" id="{BE828803-685E-4F72-BA18-05549CE77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064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00" name="AutoShape 59">
            <a:extLst>
              <a:ext uri="{FF2B5EF4-FFF2-40B4-BE49-F238E27FC236}">
                <a16:creationId xmlns:a16="http://schemas.microsoft.com/office/drawing/2014/main" id="{A2335E91-637C-41F5-8FF2-3999615C3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CCCD43-E2C8-4475-B7AC-985605111E3B}"/>
              </a:ext>
            </a:extLst>
          </p:cNvPr>
          <p:cNvGrpSpPr/>
          <p:nvPr/>
        </p:nvGrpSpPr>
        <p:grpSpPr>
          <a:xfrm>
            <a:off x="159196" y="2090051"/>
            <a:ext cx="2340000" cy="1321200"/>
            <a:chOff x="151863" y="2084210"/>
            <a:chExt cx="3735245" cy="202710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F7EBDA6-5181-4B85-984A-6B5EEF3565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728" r="13608" b="9278"/>
            <a:stretch/>
          </p:blipFill>
          <p:spPr>
            <a:xfrm>
              <a:off x="169923" y="2084210"/>
              <a:ext cx="3699125" cy="1728031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472B5B2A-7AF0-481A-9348-20F0F4533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181"/>
            <a:stretch/>
          </p:blipFill>
          <p:spPr>
            <a:xfrm>
              <a:off x="151863" y="3812241"/>
              <a:ext cx="3735245" cy="299074"/>
            </a:xfrm>
            <a:prstGeom prst="rect">
              <a:avLst/>
            </a:prstGeom>
          </p:spPr>
        </p:pic>
      </p:grpSp>
      <p:sp>
        <p:nvSpPr>
          <p:cNvPr id="68" name="AutoShape 58">
            <a:extLst>
              <a:ext uri="{FF2B5EF4-FFF2-40B4-BE49-F238E27FC236}">
                <a16:creationId xmlns:a16="http://schemas.microsoft.com/office/drawing/2014/main" id="{8439CF7A-E4A4-48F9-BB8E-8C6D35963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109" y="166585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70" name="AutoShape 57">
            <a:extLst>
              <a:ext uri="{FF2B5EF4-FFF2-40B4-BE49-F238E27FC236}">
                <a16:creationId xmlns:a16="http://schemas.microsoft.com/office/drawing/2014/main" id="{56AAA23E-69A7-4A40-B391-03F1B1B42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621" y="22123"/>
            <a:ext cx="749300" cy="287337"/>
          </a:xfrm>
          <a:prstGeom prst="homePlate">
            <a:avLst>
              <a:gd name="adj" fmla="val 46698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63" name="제목 1">
            <a:extLst>
              <a:ext uri="{FF2B5EF4-FFF2-40B4-BE49-F238E27FC236}">
                <a16:creationId xmlns:a16="http://schemas.microsoft.com/office/drawing/2014/main" id="{88D77FF8-1554-4412-B6B1-066B61688658}"/>
              </a:ext>
            </a:extLst>
          </p:cNvPr>
          <p:cNvSpPr txBox="1">
            <a:spLocks/>
          </p:cNvSpPr>
          <p:nvPr/>
        </p:nvSpPr>
        <p:spPr>
          <a:xfrm>
            <a:off x="28800" y="64800"/>
            <a:ext cx="59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eaLnBrk="1" latinLnBrk="0" hangingPunct="0">
              <a:defRPr/>
            </a:pPr>
            <a:r>
              <a:rPr lang="vi-VN" altLang="ko-KR" sz="1300" b="1" kern="0" dirty="0">
                <a:solidFill>
                  <a:srgbClr val="000000"/>
                </a:solidFill>
                <a:latin typeface="Arial" panose="020B0606020202030204" pitchFamily="34" charset="0"/>
                <a:ea typeface="LG Smart_H Regular" pitchFamily="34" charset="-127"/>
              </a:rPr>
              <a:t>3.1</a:t>
            </a:r>
            <a:r>
              <a:rPr lang="en-US" altLang="ko-KR" sz="1300" b="1" kern="0" dirty="0">
                <a:solidFill>
                  <a:srgbClr val="000000"/>
                </a:solidFill>
                <a:latin typeface="Arial" panose="020B0606020202030204" pitchFamily="34" charset="0"/>
                <a:ea typeface="LG Smart_H Regular" pitchFamily="34" charset="-127"/>
              </a:rPr>
              <a:t> Root cause of measurement system problem</a:t>
            </a:r>
            <a:endParaRPr lang="ko-KR" altLang="en-US" sz="1600" b="1" kern="0" dirty="0">
              <a:solidFill>
                <a:srgbClr val="000000"/>
              </a:solidFill>
              <a:latin typeface="Arial Narrow" panose="020B0606020202030204" pitchFamily="34" charset="0"/>
              <a:ea typeface="LG Smart_H Regular" pitchFamily="34" charset="-127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B59170F-BA1F-4852-BC1D-995D04CFD14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328000" y="1638000"/>
            <a:ext cx="1512000" cy="900000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C4C4646-645C-4749-997E-6E7BC56E3BFC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B8976FD-D84B-4631-B28C-087AEA346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000" y="3024000"/>
            <a:ext cx="1368000" cy="90000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5220000" y="2592000"/>
            <a:ext cx="1800000" cy="39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latinLnBrk="0"/>
            <a:r>
              <a:rPr sz="950" b="1">
                <a:latin typeface="Arial"/>
              </a:rPr>
              <a:t>2. Add check sheet to measure Master sample and verify Camera angle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20000" y="3996000"/>
            <a:ext cx="1800000" cy="32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latinLnBrk="0"/>
            <a:r>
              <a:rPr sz="950" b="1">
                <a:latin typeface="Arial"/>
              </a:rPr>
              <a:t>3. Inform supplier (Heesung): LCD is not a cause (returned LCD OK at vendor), no process change needed</a:t>
            </a:r>
          </a:p>
        </p:txBody>
      </p:sp>
    </p:spTree>
    <p:extLst>
      <p:ext uri="{BB962C8B-B14F-4D97-AF65-F5344CB8AC3E}">
        <p14:creationId xmlns:p14="http://schemas.microsoft.com/office/powerpoint/2010/main" val="291441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57">
            <a:extLst>
              <a:ext uri="{FF2B5EF4-FFF2-40B4-BE49-F238E27FC236}">
                <a16:creationId xmlns:a16="http://schemas.microsoft.com/office/drawing/2014/main" id="{070DE589-DDD5-47D1-A503-62ED9BC3A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32" name="AutoShape 55">
            <a:extLst>
              <a:ext uri="{FF2B5EF4-FFF2-40B4-BE49-F238E27FC236}">
                <a16:creationId xmlns:a16="http://schemas.microsoft.com/office/drawing/2014/main" id="{192872DD-0F6D-41C2-83BA-E80AF9901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33" name="AutoShape 56">
            <a:extLst>
              <a:ext uri="{FF2B5EF4-FFF2-40B4-BE49-F238E27FC236}">
                <a16:creationId xmlns:a16="http://schemas.microsoft.com/office/drawing/2014/main" id="{23631B7D-C17E-41E8-9D6B-B9B3F6893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35" name="AutoShape 59">
            <a:extLst>
              <a:ext uri="{FF2B5EF4-FFF2-40B4-BE49-F238E27FC236}">
                <a16:creationId xmlns:a16="http://schemas.microsoft.com/office/drawing/2014/main" id="{89F6BFB0-96B2-4FA3-ABFE-85257141B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36" name="AutoShape 58">
            <a:extLst>
              <a:ext uri="{FF2B5EF4-FFF2-40B4-BE49-F238E27FC236}">
                <a16:creationId xmlns:a16="http://schemas.microsoft.com/office/drawing/2014/main" id="{44574530-997A-46EB-A83C-40E10BC12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082D17-34B4-449C-8443-54621443924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685274" y="3598209"/>
            <a:ext cx="1972979" cy="13200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3ED96F-C0E0-4D2F-95EC-E23F350DE80A}"/>
              </a:ext>
            </a:extLst>
          </p:cNvPr>
          <p:cNvSpPr txBox="1"/>
          <p:nvPr/>
        </p:nvSpPr>
        <p:spPr>
          <a:xfrm>
            <a:off x="173009" y="1007491"/>
            <a:ext cx="4611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/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Before measurement</a:t>
            </a:r>
            <a:br>
              <a:rPr lang="en-US" sz="1200" dirty="0">
                <a:latin typeface="Arial Narrow" panose="020B0606020202030204" pitchFamily="34" charset="0"/>
                <a:sym typeface="Wingdings" panose="05000000000000000000" pitchFamily="2" charset="2"/>
              </a:rPr>
            </a:br>
            <a:r>
              <a:rPr lang="en-US" sz="1000" dirty="0">
                <a:solidFill>
                  <a:srgbClr val="FF0000"/>
                </a:solidFill>
                <a:latin typeface="Arial" panose="020B0606020202030204" pitchFamily="34" charset="0"/>
                <a:sym typeface="Wingdings" panose="05000000000000000000" pitchFamily="2" charset="2"/>
              </a:rPr>
              <a:t> </a:t>
            </a:r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XZ: 89.075</a:t>
            </a:r>
            <a:r>
              <a:rPr lang="en-US" sz="1000" dirty="0">
                <a:latin typeface="Arial" panose="020B0604020202020204" pitchFamily="34" charset="0"/>
              </a:rPr>
              <a:t>º</a:t>
            </a:r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 ; YZ: 88.806</a:t>
            </a:r>
            <a:r>
              <a:rPr lang="en-US" sz="1000" dirty="0">
                <a:latin typeface="Arial" panose="020B0604020202020204" pitchFamily="34" charset="0"/>
              </a:rPr>
              <a:t>º</a:t>
            </a:r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5D5869-11BE-479D-9E74-3B8C469DF7D2}"/>
              </a:ext>
            </a:extLst>
          </p:cNvPr>
          <p:cNvSpPr txBox="1"/>
          <p:nvPr/>
        </p:nvSpPr>
        <p:spPr>
          <a:xfrm>
            <a:off x="5194180" y="1077373"/>
            <a:ext cx="4606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/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After measurement </a:t>
            </a:r>
          </a:p>
          <a:p>
            <a:pPr algn="ctr" eaLnBrk="1" latinLnBrk="0"/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 XZ: 89.889</a:t>
            </a:r>
            <a:r>
              <a:rPr lang="en-US" sz="1000" dirty="0">
                <a:latin typeface="Arial" panose="020B0604020202020204" pitchFamily="34" charset="0"/>
              </a:rPr>
              <a:t>º</a:t>
            </a:r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 ; YZ: 89.889</a:t>
            </a:r>
            <a:r>
              <a:rPr lang="en-US" sz="1000" dirty="0">
                <a:latin typeface="Arial" panose="020B0604020202020204" pitchFamily="34" charset="0"/>
              </a:rPr>
              <a:t>º</a:t>
            </a:r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DFEB6B-6C38-4E13-8FF2-58968AF811CE}"/>
              </a:ext>
            </a:extLst>
          </p:cNvPr>
          <p:cNvGrpSpPr/>
          <p:nvPr/>
        </p:nvGrpSpPr>
        <p:grpSpPr>
          <a:xfrm>
            <a:off x="5483506" y="1633963"/>
            <a:ext cx="3081098" cy="1555753"/>
            <a:chOff x="5019235" y="2239786"/>
            <a:chExt cx="1856981" cy="120700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8E1BD45-198B-47D2-BCE1-A451860F970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0063" y="2239786"/>
              <a:ext cx="1634235" cy="120700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C54F66-68DD-4487-AA96-B48B87AFD744}"/>
                </a:ext>
              </a:extLst>
            </p:cNvPr>
            <p:cNvSpPr txBox="1"/>
            <p:nvPr/>
          </p:nvSpPr>
          <p:spPr>
            <a:xfrm>
              <a:off x="6343865" y="2614650"/>
              <a:ext cx="532351" cy="202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rial Narrow" panose="020B0606020202030204" pitchFamily="34" charset="0"/>
                </a:rPr>
                <a:t>CID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6A216C-48E7-4F57-8343-10A50ACA411B}"/>
                </a:ext>
              </a:extLst>
            </p:cNvPr>
            <p:cNvSpPr txBox="1"/>
            <p:nvPr/>
          </p:nvSpPr>
          <p:spPr>
            <a:xfrm>
              <a:off x="5019235" y="2614650"/>
              <a:ext cx="532351" cy="202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rial Narrow" panose="020B0606020202030204" pitchFamily="34" charset="0"/>
                </a:rPr>
                <a:t>PID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5BAE43-8118-4D06-8250-847B5596110A}"/>
              </a:ext>
            </a:extLst>
          </p:cNvPr>
          <p:cNvGrpSpPr/>
          <p:nvPr/>
        </p:nvGrpSpPr>
        <p:grpSpPr>
          <a:xfrm>
            <a:off x="7853491" y="3724867"/>
            <a:ext cx="1540078" cy="1219751"/>
            <a:chOff x="8468343" y="2246708"/>
            <a:chExt cx="1313079" cy="120008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2373177-7176-4DE4-9D57-B26FE528C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00201" y="2246708"/>
              <a:ext cx="1236653" cy="1200086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5A6C82-02E0-42B6-8729-7702DD4F2023}"/>
                </a:ext>
              </a:extLst>
            </p:cNvPr>
            <p:cNvSpPr txBox="1"/>
            <p:nvPr/>
          </p:nvSpPr>
          <p:spPr>
            <a:xfrm>
              <a:off x="9199140" y="3082704"/>
              <a:ext cx="2568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Z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3EED04-DFC9-4D87-A6E4-ED4C59855162}"/>
                </a:ext>
              </a:extLst>
            </p:cNvPr>
            <p:cNvSpPr txBox="1"/>
            <p:nvPr/>
          </p:nvSpPr>
          <p:spPr>
            <a:xfrm>
              <a:off x="9516606" y="2807458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X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DBFDFA-1BE8-4248-8725-ED73D8793DC1}"/>
                </a:ext>
              </a:extLst>
            </p:cNvPr>
            <p:cNvSpPr txBox="1"/>
            <p:nvPr/>
          </p:nvSpPr>
          <p:spPr>
            <a:xfrm>
              <a:off x="8468343" y="2773834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Y</a:t>
              </a:r>
            </a:p>
          </p:txBody>
        </p:sp>
      </p:grpSp>
      <p:sp>
        <p:nvSpPr>
          <p:cNvPr id="28" name="Rectangular Callout 58">
            <a:extLst>
              <a:ext uri="{FF2B5EF4-FFF2-40B4-BE49-F238E27FC236}">
                <a16:creationId xmlns:a16="http://schemas.microsoft.com/office/drawing/2014/main" id="{7BB701AD-2FCE-4A96-942A-E2D723992B75}"/>
              </a:ext>
            </a:extLst>
          </p:cNvPr>
          <p:cNvSpPr/>
          <p:nvPr/>
        </p:nvSpPr>
        <p:spPr>
          <a:xfrm>
            <a:off x="7743717" y="3478021"/>
            <a:ext cx="1540078" cy="1453639"/>
          </a:xfrm>
          <a:prstGeom prst="wedgeRectCallout">
            <a:avLst>
              <a:gd name="adj1" fmla="val -108972"/>
              <a:gd name="adj2" fmla="val 208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11C2AAA-739A-4938-AF5C-0A55CBA5F2ED}"/>
              </a:ext>
            </a:extLst>
          </p:cNvPr>
          <p:cNvGrpSpPr/>
          <p:nvPr/>
        </p:nvGrpSpPr>
        <p:grpSpPr>
          <a:xfrm>
            <a:off x="77425" y="1485896"/>
            <a:ext cx="3247628" cy="1987179"/>
            <a:chOff x="125050" y="2038370"/>
            <a:chExt cx="1856981" cy="1207008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4950509-DC7B-4818-A7D7-E807C7E0A5DC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439" y="2038370"/>
              <a:ext cx="1636776" cy="120700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F06AF7-217B-44D6-945D-FFBFA7CB8934}"/>
                </a:ext>
              </a:extLst>
            </p:cNvPr>
            <p:cNvSpPr txBox="1"/>
            <p:nvPr/>
          </p:nvSpPr>
          <p:spPr>
            <a:xfrm>
              <a:off x="1449680" y="2458026"/>
              <a:ext cx="532351" cy="158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rial Narrow" panose="020B0606020202030204" pitchFamily="34" charset="0"/>
                </a:rPr>
                <a:t>CID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ED274E5-CC64-4277-B9DB-F4375B0150CC}"/>
                </a:ext>
              </a:extLst>
            </p:cNvPr>
            <p:cNvSpPr txBox="1"/>
            <p:nvPr/>
          </p:nvSpPr>
          <p:spPr>
            <a:xfrm>
              <a:off x="125050" y="2458026"/>
              <a:ext cx="532351" cy="158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rial Narrow" panose="020B0606020202030204" pitchFamily="34" charset="0"/>
                </a:rPr>
                <a:t>PID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4305FBD-0C39-44B7-B79B-29D3AAE06EE3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23313" y="3560167"/>
            <a:ext cx="2171589" cy="1364786"/>
          </a:xfrm>
          <a:prstGeom prst="rect">
            <a:avLst/>
          </a:prstGeom>
        </p:spPr>
      </p:pic>
      <p:sp>
        <p:nvSpPr>
          <p:cNvPr id="41" name="Rectangular Callout 69">
            <a:extLst>
              <a:ext uri="{FF2B5EF4-FFF2-40B4-BE49-F238E27FC236}">
                <a16:creationId xmlns:a16="http://schemas.microsoft.com/office/drawing/2014/main" id="{53971F0F-89D2-4566-976C-0BD679EE98A1}"/>
              </a:ext>
            </a:extLst>
          </p:cNvPr>
          <p:cNvSpPr/>
          <p:nvPr/>
        </p:nvSpPr>
        <p:spPr>
          <a:xfrm>
            <a:off x="2494902" y="3579832"/>
            <a:ext cx="1637790" cy="1364786"/>
          </a:xfrm>
          <a:prstGeom prst="wedgeRectCallout">
            <a:avLst>
              <a:gd name="adj1" fmla="val -108503"/>
              <a:gd name="adj2" fmla="val 496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F5A8FAC-056C-4EAD-BC06-72A7BCE984E4}"/>
              </a:ext>
            </a:extLst>
          </p:cNvPr>
          <p:cNvGrpSpPr/>
          <p:nvPr/>
        </p:nvGrpSpPr>
        <p:grpSpPr>
          <a:xfrm>
            <a:off x="2462031" y="3583156"/>
            <a:ext cx="1750686" cy="1354447"/>
            <a:chOff x="3566770" y="2034773"/>
            <a:chExt cx="1319532" cy="1197864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BC10210-DD2E-45B5-A344-F6E8B945F174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98747" y="2034773"/>
              <a:ext cx="1234440" cy="119786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4C464D-B3C2-4407-BDB6-0DA3DB59F201}"/>
                </a:ext>
              </a:extLst>
            </p:cNvPr>
            <p:cNvSpPr txBox="1"/>
            <p:nvPr/>
          </p:nvSpPr>
          <p:spPr>
            <a:xfrm>
              <a:off x="3923225" y="2662157"/>
              <a:ext cx="2568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045DC7-CFDA-41F6-A023-413FC7614317}"/>
                </a:ext>
              </a:extLst>
            </p:cNvPr>
            <p:cNvSpPr txBox="1"/>
            <p:nvPr/>
          </p:nvSpPr>
          <p:spPr>
            <a:xfrm>
              <a:off x="4621486" y="2385158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X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28BCC1F-A169-4DA7-9F4E-D8DB22F9D13A}"/>
                </a:ext>
              </a:extLst>
            </p:cNvPr>
            <p:cNvSpPr txBox="1"/>
            <p:nvPr/>
          </p:nvSpPr>
          <p:spPr>
            <a:xfrm>
              <a:off x="3566770" y="2532540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Y</a:t>
              </a:r>
            </a:p>
          </p:txBody>
        </p:sp>
      </p:grp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A14AF0D6-0157-4A37-8465-7003C201F12B}"/>
              </a:ext>
            </a:extLst>
          </p:cNvPr>
          <p:cNvSpPr/>
          <p:nvPr/>
        </p:nvSpPr>
        <p:spPr>
          <a:xfrm>
            <a:off x="100067" y="997045"/>
            <a:ext cx="4991276" cy="4053093"/>
          </a:xfrm>
          <a:prstGeom prst="homePlate">
            <a:avLst>
              <a:gd name="adj" fmla="val 8496"/>
            </a:avLst>
          </a:prstGeom>
          <a:noFill/>
          <a:ln>
            <a:solidFill>
              <a:srgbClr val="FF57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01F703-7AED-49D9-BA5F-ED2257D3FBA0}"/>
              </a:ext>
            </a:extLst>
          </p:cNvPr>
          <p:cNvSpPr/>
          <p:nvPr/>
        </p:nvSpPr>
        <p:spPr>
          <a:xfrm>
            <a:off x="5195367" y="990600"/>
            <a:ext cx="4453247" cy="405953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4ADFE1-6D46-4FDB-B3C8-F8FE8E05C7E4}"/>
              </a:ext>
            </a:extLst>
          </p:cNvPr>
          <p:cNvSpPr txBox="1"/>
          <p:nvPr/>
        </p:nvSpPr>
        <p:spPr>
          <a:xfrm>
            <a:off x="63248" y="535377"/>
            <a:ext cx="280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Changing Camera angle</a:t>
            </a:r>
            <a:endParaRPr lang="en-US" sz="1200" b="1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96D67F-121E-4991-B95F-AD4E2D8F1606}"/>
              </a:ext>
            </a:extLst>
          </p:cNvPr>
          <p:cNvSpPr txBox="1"/>
          <p:nvPr/>
        </p:nvSpPr>
        <p:spPr>
          <a:xfrm>
            <a:off x="87912" y="5250882"/>
            <a:ext cx="616048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 eaLnBrk="1" latinLnBrk="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sz="1000" b="0">
                <a:latin typeface="Arial"/>
              </a:rPr>
              <a:t>After adjusting the detector camera angle to the 90.0° target (measured 89.889°) and re-testing samples, no Luminance NG was observed in the re-test. Correcting CS2000 camera angle is confirmed as the effective solution.</a:t>
            </a:r>
            <a:endParaRPr lang="ko-KR" altLang="en-US" sz="1050" dirty="0">
              <a:solidFill>
                <a:prstClr val="black"/>
              </a:solidFill>
              <a:latin typeface="Arial" panose="020B060402020202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C490346-BFF1-42EE-9917-D7CC93E7D79D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654452" y="5267813"/>
            <a:ext cx="2267434" cy="1163112"/>
          </a:xfrm>
          <a:prstGeom prst="rect">
            <a:avLst/>
          </a:prstGeom>
        </p:spPr>
      </p:pic>
      <p:sp>
        <p:nvSpPr>
          <p:cNvPr id="52" name="제목 1">
            <a:extLst>
              <a:ext uri="{FF2B5EF4-FFF2-40B4-BE49-F238E27FC236}">
                <a16:creationId xmlns:a16="http://schemas.microsoft.com/office/drawing/2014/main" id="{5DEA8993-5816-41E5-B83D-7C241142F792}"/>
              </a:ext>
            </a:extLst>
          </p:cNvPr>
          <p:cNvSpPr txBox="1">
            <a:spLocks/>
          </p:cNvSpPr>
          <p:nvPr/>
        </p:nvSpPr>
        <p:spPr>
          <a:xfrm>
            <a:off x="127002" y="85711"/>
            <a:ext cx="424993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1" latinLnBrk="0" hangingPunct="0">
              <a:defRPr/>
            </a:pPr>
            <a:r>
              <a:rPr lang="vi-VN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4.1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Improvement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activity of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0623CFD-7D50-4755-9BC8-5BB2B026E5EB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581025" y="6631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18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2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0328D7-4F88-4E3F-906D-CDB9E15A1C4F}"/>
              </a:ext>
            </a:extLst>
          </p:cNvPr>
          <p:cNvCxnSpPr/>
          <p:nvPr/>
        </p:nvCxnSpPr>
        <p:spPr bwMode="auto">
          <a:xfrm>
            <a:off x="3810000" y="6349162"/>
            <a:ext cx="1094487" cy="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43B9057-F582-4381-91D8-097F77C1B3CF}"/>
              </a:ext>
            </a:extLst>
          </p:cNvPr>
          <p:cNvCxnSpPr/>
          <p:nvPr/>
        </p:nvCxnSpPr>
        <p:spPr bwMode="auto">
          <a:xfrm flipH="1">
            <a:off x="426181" y="6349162"/>
            <a:ext cx="1371600" cy="0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7" name="Group 26"/>
          <p:cNvGrpSpPr/>
          <p:nvPr/>
        </p:nvGrpSpPr>
        <p:grpSpPr>
          <a:xfrm>
            <a:off x="1984978" y="947234"/>
            <a:ext cx="5204525" cy="2862385"/>
            <a:chOff x="1196275" y="805422"/>
            <a:chExt cx="5889416" cy="3554856"/>
          </a:xfrm>
        </p:grpSpPr>
        <p:grpSp>
          <p:nvGrpSpPr>
            <p:cNvPr id="28" name="Group 27"/>
            <p:cNvGrpSpPr/>
            <p:nvPr/>
          </p:nvGrpSpPr>
          <p:grpSpPr>
            <a:xfrm>
              <a:off x="2780391" y="805422"/>
              <a:ext cx="4305300" cy="2712480"/>
              <a:chOff x="2874491" y="438296"/>
              <a:chExt cx="4305300" cy="3164992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2874491" y="828247"/>
                <a:ext cx="4305300" cy="11176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992395" y="918098"/>
                <a:ext cx="4069492" cy="9378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+</a:t>
                </a:r>
              </a:p>
            </p:txBody>
          </p:sp>
          <p:cxnSp>
            <p:nvCxnSpPr>
              <p:cNvPr id="45" name="Straight Connector 44"/>
              <p:cNvCxnSpPr>
                <a:stCxn id="39" idx="0"/>
                <a:endCxn id="38" idx="2"/>
              </p:cNvCxnSpPr>
              <p:nvPr/>
            </p:nvCxnSpPr>
            <p:spPr>
              <a:xfrm>
                <a:off x="5027141" y="918098"/>
                <a:ext cx="0" cy="10277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52" idx="0"/>
              </p:cNvCxnSpPr>
              <p:nvPr/>
            </p:nvCxnSpPr>
            <p:spPr>
              <a:xfrm flipV="1">
                <a:off x="4011299" y="1397902"/>
                <a:ext cx="1" cy="937897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/>
              <p:cNvSpPr/>
              <p:nvPr/>
            </p:nvSpPr>
            <p:spPr>
              <a:xfrm>
                <a:off x="3625537" y="2526963"/>
                <a:ext cx="771525" cy="10763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3874270" y="2335799"/>
                <a:ext cx="274058" cy="19116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3592975" y="2795783"/>
                <a:ext cx="831444" cy="538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>
                    <a:latin typeface="Arial Narrow" panose="020B0606020202030204" pitchFamily="34" charset="0"/>
                  </a:rPr>
                  <a:t>Camera</a:t>
                </a:r>
              </a:p>
              <a:p>
                <a:pPr algn="ctr"/>
                <a:r>
                  <a:rPr lang="en-US" sz="1200">
                    <a:latin typeface="Arial Narrow" panose="020B0606020202030204" pitchFamily="34" charset="0"/>
                  </a:rPr>
                  <a:t>CS2000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3742628" y="438296"/>
                <a:ext cx="526409" cy="490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rial Narrow" panose="020B0606020202030204" pitchFamily="34" charset="0"/>
                  </a:rPr>
                  <a:t>PID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819779" y="438296"/>
                <a:ext cx="537293" cy="490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rial Narrow" panose="020B0606020202030204" pitchFamily="34" charset="0"/>
                  </a:rPr>
                  <a:t>CID</a:t>
                </a:r>
              </a:p>
            </p:txBody>
          </p:sp>
          <p:cxnSp>
            <p:nvCxnSpPr>
              <p:cNvPr id="17" name="Straight Connector 16"/>
              <p:cNvCxnSpPr>
                <a:endCxn id="39" idx="2"/>
              </p:cNvCxnSpPr>
              <p:nvPr/>
            </p:nvCxnSpPr>
            <p:spPr>
              <a:xfrm>
                <a:off x="2992395" y="918098"/>
                <a:ext cx="2034746" cy="9378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>
                <a:stCxn id="39" idx="0"/>
              </p:cNvCxnSpPr>
              <p:nvPr/>
            </p:nvCxnSpPr>
            <p:spPr>
              <a:xfrm flipH="1">
                <a:off x="2992395" y="918098"/>
                <a:ext cx="2034746" cy="9378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5028943" y="918098"/>
                <a:ext cx="2034746" cy="9378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 flipH="1">
                <a:off x="5028943" y="918098"/>
                <a:ext cx="2034746" cy="9378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/>
              <p:cNvSpPr txBox="1"/>
              <p:nvPr/>
            </p:nvSpPr>
            <p:spPr>
              <a:xfrm>
                <a:off x="4261339" y="1967733"/>
                <a:ext cx="155844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latin typeface="Arial Narrow" panose="020B0606020202030204" pitchFamily="34" charset="0"/>
                  </a:rPr>
                  <a:t>J1 Dual PPR RHD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4407816" y="1209084"/>
                <a:ext cx="470000" cy="314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>
                    <a:latin typeface="Arial Narrow" panose="020B0606020202030204" pitchFamily="34" charset="0"/>
                  </a:rPr>
                  <a:t>Center</a:t>
                </a:r>
              </a:p>
            </p:txBody>
          </p:sp>
        </p:grpSp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6275" y="2700544"/>
              <a:ext cx="1702020" cy="1659734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3753070" y="1466007"/>
              <a:ext cx="323055" cy="31984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H="1">
              <a:off x="4105275" y="1613358"/>
              <a:ext cx="267247" cy="73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196275" y="2700544"/>
              <a:ext cx="1702020" cy="16597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>
              <a:stCxn id="5" idx="3"/>
            </p:cNvCxnSpPr>
            <p:nvPr/>
          </p:nvCxnSpPr>
          <p:spPr>
            <a:xfrm flipH="1">
              <a:off x="1196275" y="1739010"/>
              <a:ext cx="2604105" cy="9615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5" idx="3"/>
            </p:cNvCxnSpPr>
            <p:nvPr/>
          </p:nvCxnSpPr>
          <p:spPr>
            <a:xfrm flipH="1">
              <a:off x="2896154" y="1739010"/>
              <a:ext cx="904226" cy="96153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/>
          <p:cNvSpPr txBox="1"/>
          <p:nvPr/>
        </p:nvSpPr>
        <p:spPr>
          <a:xfrm>
            <a:off x="142491" y="877319"/>
            <a:ext cx="3139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sz="1000" dirty="0">
                <a:latin typeface="Arial" panose="020B0606020202030204" pitchFamily="34" charset="0"/>
              </a:rPr>
              <a:t>1. Camera position is correct after checking.</a:t>
            </a:r>
          </a:p>
          <a:p>
            <a:pPr eaLnBrk="1" latinLnBrk="0"/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 Camera center coincides with the SET center</a:t>
            </a:r>
            <a:r>
              <a:rPr lang="en-US" sz="1000" dirty="0">
                <a:latin typeface="Arial" panose="020B0606020202030204" pitchFamily="34" charset="0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7172" y="3868129"/>
            <a:ext cx="8313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sz="1000" dirty="0">
                <a:latin typeface="Arial" panose="020B0606020202030204" pitchFamily="34" charset="0"/>
              </a:rPr>
              <a:t>2. LHD and RHD use the same servo positions (48, 49) but mirrored screens. </a:t>
            </a:r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 If the position is not correct, J1 PPR LHD will be NG. </a:t>
            </a:r>
            <a:endParaRPr lang="en-US" sz="1200" dirty="0">
              <a:latin typeface="Arial Narrow" panose="020B0606020202030204" pitchFamily="34" charset="0"/>
            </a:endParaRPr>
          </a:p>
          <a:p>
            <a:pPr eaLnBrk="1" latinLnBrk="0"/>
            <a:r>
              <a:rPr lang="en-US" sz="1000" dirty="0">
                <a:latin typeface="Arial" panose="020B0606020202030204" pitchFamily="34" charset="0"/>
                <a:sym typeface="Wingdings" panose="05000000000000000000" pitchFamily="2" charset="2"/>
              </a:rPr>
              <a:t>(Servo positions 48 and 49: see the diagrams below)</a:t>
            </a:r>
            <a:endParaRPr lang="en-US" sz="1200" dirty="0">
              <a:latin typeface="Arial Narrow" panose="020B060602020203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81" y="5144816"/>
            <a:ext cx="4478306" cy="1552310"/>
          </a:xfrm>
          <a:prstGeom prst="rect">
            <a:avLst/>
          </a:prstGeom>
        </p:spPr>
      </p:pic>
      <p:pic>
        <p:nvPicPr>
          <p:cNvPr id="34" name="Picture 33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287188" y="5144816"/>
            <a:ext cx="4479533" cy="1554480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>
            <a:off x="5095837" y="5144816"/>
            <a:ext cx="0" cy="1554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5"/>
          <a:srcRect t="2551"/>
          <a:stretch/>
        </p:blipFill>
        <p:spPr>
          <a:xfrm>
            <a:off x="2423836" y="4340760"/>
            <a:ext cx="5106113" cy="668702"/>
          </a:xfrm>
          <a:prstGeom prst="rect">
            <a:avLst/>
          </a:prstGeom>
        </p:spPr>
      </p:pic>
      <p:sp>
        <p:nvSpPr>
          <p:cNvPr id="37" name="AutoShape 57">
            <a:extLst>
              <a:ext uri="{FF2B5EF4-FFF2-40B4-BE49-F238E27FC236}">
                <a16:creationId xmlns:a16="http://schemas.microsoft.com/office/drawing/2014/main" id="{68DDE1B3-3D28-43A2-9A04-83B6A91CE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43" name="AutoShape 55">
            <a:extLst>
              <a:ext uri="{FF2B5EF4-FFF2-40B4-BE49-F238E27FC236}">
                <a16:creationId xmlns:a16="http://schemas.microsoft.com/office/drawing/2014/main" id="{79FEF9DE-91F2-466D-8D5A-77EA15C54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44" name="AutoShape 56">
            <a:extLst>
              <a:ext uri="{FF2B5EF4-FFF2-40B4-BE49-F238E27FC236}">
                <a16:creationId xmlns:a16="http://schemas.microsoft.com/office/drawing/2014/main" id="{090CE2DB-80F1-4E32-BAFD-64B2789C9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46" name="AutoShape 59">
            <a:extLst>
              <a:ext uri="{FF2B5EF4-FFF2-40B4-BE49-F238E27FC236}">
                <a16:creationId xmlns:a16="http://schemas.microsoft.com/office/drawing/2014/main" id="{3264D4EE-B2E7-41C4-B5D1-4BC9AD3C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47" name="AutoShape 58">
            <a:extLst>
              <a:ext uri="{FF2B5EF4-FFF2-40B4-BE49-F238E27FC236}">
                <a16:creationId xmlns:a16="http://schemas.microsoft.com/office/drawing/2014/main" id="{42D6958D-B1E2-4DD9-96D1-51C0AB9FB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98F2BE-084D-42A1-A858-95A723788943}"/>
              </a:ext>
            </a:extLst>
          </p:cNvPr>
          <p:cNvSpPr txBox="1"/>
          <p:nvPr/>
        </p:nvSpPr>
        <p:spPr>
          <a:xfrm>
            <a:off x="63248" y="535377"/>
            <a:ext cx="280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Changing Camera angle</a:t>
            </a:r>
            <a:endParaRPr lang="en-US" sz="1200" b="1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54" name="제목 1">
            <a:extLst>
              <a:ext uri="{FF2B5EF4-FFF2-40B4-BE49-F238E27FC236}">
                <a16:creationId xmlns:a16="http://schemas.microsoft.com/office/drawing/2014/main" id="{CCCE3919-55FD-41DA-B3C1-6C5CCEBCC1BF}"/>
              </a:ext>
            </a:extLst>
          </p:cNvPr>
          <p:cNvSpPr txBox="1">
            <a:spLocks/>
          </p:cNvSpPr>
          <p:nvPr/>
        </p:nvSpPr>
        <p:spPr>
          <a:xfrm>
            <a:off x="127002" y="85711"/>
            <a:ext cx="424993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1" latinLnBrk="0" hangingPunct="0">
              <a:defRPr/>
            </a:pPr>
            <a:r>
              <a:rPr lang="vi-VN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4.1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Improvement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activity of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891B0EE-1FBE-46BF-A1A2-CA4A34E5075A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581025" y="6631416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19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306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35"/>
          <p:cNvGraphicFramePr>
            <a:graphicFrameLocks noGrp="1"/>
          </p:cNvGraphicFramePr>
          <p:nvPr/>
        </p:nvGraphicFramePr>
        <p:xfrm>
          <a:off x="425381" y="820753"/>
          <a:ext cx="3765983" cy="5560572"/>
        </p:xfrm>
        <a:graphic>
          <a:graphicData uri="http://schemas.openxmlformats.org/drawingml/2006/table">
            <a:tbl>
              <a:tblPr/>
              <a:tblGrid>
                <a:gridCol w="38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4469"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IVI</a:t>
                      </a:r>
                      <a:r>
                        <a:rPr lang="en-US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 LINE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eaLnBrk="1" fontAlgn="ctr" latinLnBrk="0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CS2000</a:t>
                      </a:r>
                    </a:p>
                    <a:p>
                      <a:pPr algn="ctr" eaLnBrk="1" fontAlgn="ctr" latinLnBrk="0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Apply luminance compensation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39">
                <a:tc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BLU Type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eaLnBrk="1" latinLnBrk="0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Bentayga (Bentley)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Macan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LZV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992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J1 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G3 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E3PA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CID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198">
                <a:tc rowSpan="4">
                  <a:txBody>
                    <a:bodyPr/>
                    <a:lstStyle/>
                    <a:p>
                      <a:pPr algn="ctr" eaLnBrk="1" latinLnBrk="0"/>
                      <a:r>
                        <a:rPr sz="1000" b="0">
                          <a:latin typeface="Arial"/>
                        </a:rPr>
                        <a:t>7*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J1 Dual LHD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J1 Dual RHD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Lamborghini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198">
                <a:tc rowSpan="4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E3PA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Dual LHD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Privacy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E3PA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Dual RHD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Privacy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13%↑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198">
                <a:tc rowSpan="4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G3 Dual LHD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Privacy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G3 Dual RHD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Privacy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13%↑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0198">
                <a:tc rowSpan="4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J1 Dual PPR LHD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Privacy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J1 Dual PPR RHD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Privacy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/>
                      <a:r>
                        <a:rPr lang="en-US" altLang="ko-KR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13%↑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0198"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eaLnBrk="1" fontAlgn="ctr" latinLnBrk="0"/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G2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0198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E3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Public(Normal)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809" marR="6809" marT="6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272" y="5053264"/>
            <a:ext cx="1713598" cy="1285199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071" y="5076792"/>
            <a:ext cx="1650858" cy="1238144"/>
          </a:xfrm>
          <a:prstGeom prst="rect">
            <a:avLst/>
          </a:prstGeom>
        </p:spPr>
      </p:pic>
      <p:sp>
        <p:nvSpPr>
          <p:cNvPr id="29" name="TextBox 37"/>
          <p:cNvSpPr txBox="1">
            <a:spLocks noChangeArrowheads="1"/>
          </p:cNvSpPr>
          <p:nvPr/>
        </p:nvSpPr>
        <p:spPr bwMode="auto">
          <a:xfrm>
            <a:off x="4702628" y="4600800"/>
            <a:ext cx="175240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>
              <a:buFont typeface="Wingdings" panose="05000000000000000000" pitchFamily="2" charset="2"/>
              <a:buChar char="§"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Privacy View Angle (PID)</a:t>
            </a:r>
          </a:p>
          <a:p>
            <a:pPr marL="0" indent="0" eaLnBrk="1" latinLnBrk="0">
              <a:defRPr/>
            </a:pPr>
            <a:endParaRPr lang="en-US" altLang="ko-KR" sz="1100" b="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TextBox 37"/>
          <p:cNvSpPr txBox="1">
            <a:spLocks noChangeArrowheads="1"/>
          </p:cNvSpPr>
          <p:nvPr/>
        </p:nvSpPr>
        <p:spPr bwMode="auto">
          <a:xfrm>
            <a:off x="7280550" y="4600800"/>
            <a:ext cx="16914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>
              <a:buFont typeface="Wingdings" panose="05000000000000000000" pitchFamily="2" charset="2"/>
              <a:buChar char="§"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Public View Angle (CID)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l="52980" t="20433" r="20933" b="68609"/>
          <a:stretch/>
        </p:blipFill>
        <p:spPr>
          <a:xfrm>
            <a:off x="4550818" y="3845476"/>
            <a:ext cx="4723003" cy="557966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4766088" y="1806629"/>
            <a:ext cx="4137556" cy="2023142"/>
            <a:chOff x="4889570" y="1204240"/>
            <a:chExt cx="4137556" cy="202314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5"/>
            <a:srcRect l="21954" t="30233" r="63077" b="43273"/>
            <a:stretch/>
          </p:blipFill>
          <p:spPr>
            <a:xfrm>
              <a:off x="4889570" y="1353650"/>
              <a:ext cx="3242600" cy="1873732"/>
            </a:xfrm>
            <a:prstGeom prst="rect">
              <a:avLst/>
            </a:prstGeom>
          </p:spPr>
        </p:pic>
        <p:cxnSp>
          <p:nvCxnSpPr>
            <p:cNvPr id="5" name="직선 연결선 4"/>
            <p:cNvCxnSpPr/>
            <p:nvPr/>
          </p:nvCxnSpPr>
          <p:spPr>
            <a:xfrm>
              <a:off x="8126500" y="1812324"/>
              <a:ext cx="255373" cy="0"/>
            </a:xfrm>
            <a:prstGeom prst="line">
              <a:avLst/>
            </a:prstGeom>
            <a:ln w="25400">
              <a:solidFill>
                <a:srgbClr val="EE89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8126500" y="2001794"/>
              <a:ext cx="25537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7"/>
            <p:cNvSpPr txBox="1">
              <a:spLocks noChangeArrowheads="1"/>
            </p:cNvSpPr>
            <p:nvPr/>
          </p:nvSpPr>
          <p:spPr bwMode="auto">
            <a:xfrm>
              <a:off x="8358353" y="1690872"/>
              <a:ext cx="66877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71450" indent="-171450"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8654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33226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7798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42370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marL="0" indent="0">
                <a:defRPr/>
              </a:pPr>
              <a:r>
                <a:rPr lang="en-US" altLang="ko-KR" sz="1100" b="0" dirty="0">
                  <a:solidFill>
                    <a:schemeClr val="tx1"/>
                  </a:solidFill>
                  <a:latin typeface="Arial" panose="020B0600000101010101" pitchFamily="50" charset="-127"/>
                  <a:ea typeface="Arial" panose="020B0600000101010101" pitchFamily="50" charset="-127"/>
                  <a:cs typeface="Arial" panose="020B0604020202020204" pitchFamily="34" charset="0"/>
                  <a:sym typeface="Arial" panose="020B0604020202020204" pitchFamily="34" charset="0"/>
                </a:rPr>
                <a:t>Public</a:t>
              </a:r>
            </a:p>
            <a:p>
              <a:pPr marL="0" indent="0">
                <a:defRPr/>
              </a:pPr>
              <a:r>
                <a:rPr lang="en-US" altLang="ko-KR" sz="1100" b="0" dirty="0">
                  <a:solidFill>
                    <a:schemeClr val="tx1"/>
                  </a:solidFill>
                  <a:latin typeface="Arial" panose="020B0600000101010101" pitchFamily="50" charset="-127"/>
                  <a:ea typeface="Arial" panose="020B0600000101010101" pitchFamily="50" charset="-127"/>
                  <a:cs typeface="Arial" panose="020B0604020202020204" pitchFamily="34" charset="0"/>
                  <a:sym typeface="Arial" panose="020B0604020202020204" pitchFamily="34" charset="0"/>
                </a:rPr>
                <a:t>Privacy</a:t>
              </a:r>
            </a:p>
          </p:txBody>
        </p:sp>
        <p:cxnSp>
          <p:nvCxnSpPr>
            <p:cNvPr id="36" name="직선 연결선 35"/>
            <p:cNvCxnSpPr/>
            <p:nvPr/>
          </p:nvCxnSpPr>
          <p:spPr>
            <a:xfrm flipV="1">
              <a:off x="6605478" y="1437146"/>
              <a:ext cx="0" cy="1585753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 flipV="1">
              <a:off x="6535584" y="1437146"/>
              <a:ext cx="0" cy="1585753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7"/>
            <p:cNvSpPr txBox="1">
              <a:spLocks noChangeArrowheads="1"/>
            </p:cNvSpPr>
            <p:nvPr/>
          </p:nvSpPr>
          <p:spPr bwMode="auto">
            <a:xfrm>
              <a:off x="6403698" y="1480352"/>
              <a:ext cx="32092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b="0" dirty="0">
                  <a:solidFill>
                    <a:srgbClr val="FF0000"/>
                  </a:solidFill>
                  <a:latin typeface="Arial" panose="020B0600000101010101" pitchFamily="50" charset="-127"/>
                  <a:ea typeface="Arial" panose="020B0600000101010101" pitchFamily="50" charset="-127"/>
                  <a:cs typeface="Arial" panose="020B0604020202020204" pitchFamily="34" charset="0"/>
                  <a:sym typeface="Wingdings" panose="05000000000000000000" pitchFamily="2" charset="2"/>
                </a:rPr>
                <a:t></a:t>
              </a:r>
            </a:p>
          </p:txBody>
        </p:sp>
        <p:sp>
          <p:nvSpPr>
            <p:cNvPr id="41" name="TextBox 37"/>
            <p:cNvSpPr txBox="1">
              <a:spLocks noChangeArrowheads="1"/>
            </p:cNvSpPr>
            <p:nvPr/>
          </p:nvSpPr>
          <p:spPr bwMode="auto">
            <a:xfrm>
              <a:off x="6189378" y="1204240"/>
              <a:ext cx="3513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71450" indent="-171450"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8654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33226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7798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42370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marL="0" indent="0">
                <a:defRPr/>
              </a:pPr>
              <a:r>
                <a:rPr lang="en-US" altLang="ko-KR" sz="800" b="0" dirty="0">
                  <a:solidFill>
                    <a:schemeClr val="tx1"/>
                  </a:solidFill>
                  <a:latin typeface="Arial" panose="020B0600000101010101" pitchFamily="50" charset="-127"/>
                  <a:ea typeface="Arial" panose="020B0600000101010101" pitchFamily="50" charset="-127"/>
                  <a:cs typeface="Arial" panose="020B0604020202020204" pitchFamily="34" charset="0"/>
                  <a:sym typeface="Arial" panose="020B0604020202020204" pitchFamily="34" charset="0"/>
                </a:rPr>
                <a:t>89°</a:t>
              </a:r>
            </a:p>
          </p:txBody>
        </p:sp>
        <p:sp>
          <p:nvSpPr>
            <p:cNvPr id="43" name="TextBox 37"/>
            <p:cNvSpPr txBox="1">
              <a:spLocks noChangeArrowheads="1"/>
            </p:cNvSpPr>
            <p:nvPr/>
          </p:nvSpPr>
          <p:spPr bwMode="auto">
            <a:xfrm>
              <a:off x="6582101" y="1204240"/>
              <a:ext cx="3513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71450" indent="-171450"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8654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33226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7798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4237038" indent="-584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marL="0" indent="0">
                <a:defRPr/>
              </a:pPr>
              <a:r>
                <a:rPr lang="en-US" altLang="ko-KR" sz="800" b="0" dirty="0">
                  <a:solidFill>
                    <a:schemeClr val="tx1"/>
                  </a:solidFill>
                  <a:latin typeface="Arial" panose="020B0600000101010101" pitchFamily="50" charset="-127"/>
                  <a:ea typeface="Arial" panose="020B0600000101010101" pitchFamily="50" charset="-127"/>
                  <a:cs typeface="Arial" panose="020B0604020202020204" pitchFamily="34" charset="0"/>
                  <a:sym typeface="Arial" panose="020B0604020202020204" pitchFamily="34" charset="0"/>
                </a:rPr>
                <a:t>90°</a:t>
              </a:r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6971579" y="4047013"/>
            <a:ext cx="330783" cy="339783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ko-KR" altLang="en-US"/>
          </a:p>
        </p:txBody>
      </p:sp>
      <p:sp>
        <p:nvSpPr>
          <p:cNvPr id="45" name="TextBox 37"/>
          <p:cNvSpPr txBox="1">
            <a:spLocks noChangeArrowheads="1"/>
          </p:cNvSpPr>
          <p:nvPr/>
        </p:nvSpPr>
        <p:spPr bwMode="auto">
          <a:xfrm>
            <a:off x="6822000" y="4384328"/>
            <a:ext cx="2340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eaLnBrk="1" latinLnBrk="0"/>
            <a:r>
              <a:rPr lang="en-US" altLang="ko-KR" sz="1000" b="0" dirty="0">
                <a:solidFill>
                  <a:srgbClr val="FF000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</a:p>
        </p:txBody>
      </p:sp>
      <p:sp>
        <p:nvSpPr>
          <p:cNvPr id="46" name="TextBox 37"/>
          <p:cNvSpPr txBox="1">
            <a:spLocks noChangeArrowheads="1"/>
          </p:cNvSpPr>
          <p:nvPr/>
        </p:nvSpPr>
        <p:spPr bwMode="auto">
          <a:xfrm>
            <a:off x="6533999" y="4402118"/>
            <a:ext cx="3060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no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 eaLnBrk="1" latinLnBrk="0"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89°</a:t>
            </a:r>
          </a:p>
        </p:txBody>
      </p:sp>
      <p:sp>
        <p:nvSpPr>
          <p:cNvPr id="55" name="TextBox 37"/>
          <p:cNvSpPr txBox="1">
            <a:spLocks noChangeArrowheads="1"/>
          </p:cNvSpPr>
          <p:nvPr/>
        </p:nvSpPr>
        <p:spPr bwMode="auto">
          <a:xfrm>
            <a:off x="7073999" y="4402118"/>
            <a:ext cx="3060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8000" rIns="18000" bIns="18000">
            <a:no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 eaLnBrk="1" latinLnBrk="0"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90°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6630498" y="4047013"/>
            <a:ext cx="330783" cy="339783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/>
            <a:endParaRPr lang="ko-KR" altLang="en-US"/>
          </a:p>
        </p:txBody>
      </p:sp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972648"/>
              </p:ext>
            </p:extLst>
          </p:nvPr>
        </p:nvGraphicFramePr>
        <p:xfrm>
          <a:off x="8235539" y="3017987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400" imgH="771480" progId="Excel.Sheet.12">
                  <p:embed/>
                </p:oleObj>
              </mc:Choice>
              <mc:Fallback>
                <p:oleObj name="Worksheet" showAsIcon="1" r:id="rId6" imgW="914400" imgH="771480" progId="Excel.Sheet.12">
                  <p:embed/>
                  <p:pic>
                    <p:nvPicPr>
                      <p:cNvPr id="9" name="개체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35539" y="3017987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Box 37"/>
          <p:cNvSpPr txBox="1">
            <a:spLocks noChangeArrowheads="1"/>
          </p:cNvSpPr>
          <p:nvPr/>
        </p:nvSpPr>
        <p:spPr bwMode="auto">
          <a:xfrm>
            <a:off x="4818857" y="6413741"/>
            <a:ext cx="40382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>
              <a:buFont typeface="Wingdings" panose="05000000000000000000" pitchFamily="2" charset="2"/>
              <a:buChar char="§"/>
              <a:defRPr/>
            </a:pPr>
            <a:r>
              <a:rPr lang="en-US" altLang="ko-KR" sz="1000" b="0" dirty="0">
                <a:solidFill>
                  <a:srgbClr val="00B05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Difference between Privacy and Public: whether or not an LCF (louver) film is applied </a:t>
            </a:r>
          </a:p>
          <a:p>
            <a:pPr marL="0" indent="0" eaLnBrk="1" latinLnBrk="0">
              <a:defRPr/>
            </a:pPr>
            <a:r>
              <a:rPr lang="en-US" altLang="ko-KR" sz="1000" b="0" dirty="0">
                <a:solidFill>
                  <a:srgbClr val="00B050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for the privacy display function within the BLU module</a:t>
            </a:r>
          </a:p>
        </p:txBody>
      </p:sp>
      <p:sp>
        <p:nvSpPr>
          <p:cNvPr id="67" name="TextBox 37"/>
          <p:cNvSpPr txBox="1">
            <a:spLocks noChangeArrowheads="1"/>
          </p:cNvSpPr>
          <p:nvPr/>
        </p:nvSpPr>
        <p:spPr bwMode="auto">
          <a:xfrm>
            <a:off x="4485214" y="638277"/>
            <a:ext cx="5420785" cy="74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 eaLnBrk="1" latinLnBrk="0">
              <a:spcBef>
                <a:spcPts val="300"/>
              </a:spcBef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Correcting the CS2000 camera angle from the existing 89° to 90° raises the measured luminance of the RHD Privacy (PID) displays by about 13%, whereas Public (CID) models change by less than 0.5%, so only the RHD Privacy models need luminance compensation (13%).</a:t>
            </a:r>
          </a:p>
        </p:txBody>
      </p:sp>
      <p:cxnSp>
        <p:nvCxnSpPr>
          <p:cNvPr id="71" name="직선 화살표 연결선 161"/>
          <p:cNvCxnSpPr>
            <a:cxnSpLocks noChangeShapeType="1"/>
          </p:cNvCxnSpPr>
          <p:nvPr/>
        </p:nvCxnSpPr>
        <p:spPr bwMode="auto">
          <a:xfrm flipV="1">
            <a:off x="6519753" y="2484503"/>
            <a:ext cx="85725" cy="131762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직선 화살표 연결선 161"/>
          <p:cNvCxnSpPr>
            <a:cxnSpLocks noChangeShapeType="1"/>
          </p:cNvCxnSpPr>
          <p:nvPr/>
        </p:nvCxnSpPr>
        <p:spPr bwMode="auto">
          <a:xfrm>
            <a:off x="6517013" y="1740587"/>
            <a:ext cx="103188" cy="0"/>
          </a:xfrm>
          <a:prstGeom prst="straightConnector1">
            <a:avLst/>
          </a:prstGeom>
          <a:noFill/>
          <a:ln w="25400" algn="ctr">
            <a:solidFill>
              <a:srgbClr val="0000FF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TextBox 37"/>
          <p:cNvSpPr txBox="1">
            <a:spLocks noChangeArrowheads="1"/>
          </p:cNvSpPr>
          <p:nvPr/>
        </p:nvSpPr>
        <p:spPr bwMode="auto">
          <a:xfrm>
            <a:off x="4797272" y="1433640"/>
            <a:ext cx="38186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8654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33226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7798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4237038" indent="-5842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 eaLnBrk="1" latinLnBrk="0">
              <a:defRPr/>
            </a:pPr>
            <a:r>
              <a:rPr lang="en-US" altLang="ko-KR" sz="1000" b="0" u="sng" dirty="0">
                <a:solidFill>
                  <a:schemeClr val="tx1"/>
                </a:solidFill>
                <a:latin typeface="Arial" panose="020B0600000101010101" pitchFamily="50" charset="-127"/>
                <a:ea typeface="Arial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Privacy &amp; Public Brightness changes depending on viewing angle</a:t>
            </a:r>
            <a:endParaRPr lang="en-US" altLang="ko-KR" sz="1100" b="0" u="sng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AutoShape 57">
            <a:extLst>
              <a:ext uri="{FF2B5EF4-FFF2-40B4-BE49-F238E27FC236}">
                <a16:creationId xmlns:a16="http://schemas.microsoft.com/office/drawing/2014/main" id="{D123ED7D-1627-4425-8E1C-E07699476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32" name="AutoShape 55">
            <a:extLst>
              <a:ext uri="{FF2B5EF4-FFF2-40B4-BE49-F238E27FC236}">
                <a16:creationId xmlns:a16="http://schemas.microsoft.com/office/drawing/2014/main" id="{710F07CB-AD46-4102-9196-B391B0CE3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33" name="AutoShape 56">
            <a:extLst>
              <a:ext uri="{FF2B5EF4-FFF2-40B4-BE49-F238E27FC236}">
                <a16:creationId xmlns:a16="http://schemas.microsoft.com/office/drawing/2014/main" id="{668E3865-DB76-45D5-9F6D-A72984A44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37" name="AutoShape 59">
            <a:extLst>
              <a:ext uri="{FF2B5EF4-FFF2-40B4-BE49-F238E27FC236}">
                <a16:creationId xmlns:a16="http://schemas.microsoft.com/office/drawing/2014/main" id="{0CCDE314-7273-49D5-A38E-FA39075D2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38" name="AutoShape 58">
            <a:extLst>
              <a:ext uri="{FF2B5EF4-FFF2-40B4-BE49-F238E27FC236}">
                <a16:creationId xmlns:a16="http://schemas.microsoft.com/office/drawing/2014/main" id="{88E7A157-1CAC-4DAB-921E-EB94CA3CD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E657DE-328C-4EAB-A06D-1CB735961433}"/>
              </a:ext>
            </a:extLst>
          </p:cNvPr>
          <p:cNvSpPr txBox="1"/>
          <p:nvPr/>
        </p:nvSpPr>
        <p:spPr>
          <a:xfrm>
            <a:off x="63248" y="535377"/>
            <a:ext cx="280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Changing Camera angle</a:t>
            </a:r>
            <a:endParaRPr lang="en-US" sz="1200" b="1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47" name="제목 1">
            <a:extLst>
              <a:ext uri="{FF2B5EF4-FFF2-40B4-BE49-F238E27FC236}">
                <a16:creationId xmlns:a16="http://schemas.microsoft.com/office/drawing/2014/main" id="{2C8BFCFC-70E5-4DFC-8FC2-47983BF73131}"/>
              </a:ext>
            </a:extLst>
          </p:cNvPr>
          <p:cNvSpPr txBox="1">
            <a:spLocks/>
          </p:cNvSpPr>
          <p:nvPr/>
        </p:nvSpPr>
        <p:spPr>
          <a:xfrm>
            <a:off x="127002" y="85711"/>
            <a:ext cx="4249934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1" latinLnBrk="0" hangingPunct="0">
              <a:defRPr/>
            </a:pPr>
            <a:r>
              <a:rPr lang="vi-VN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4.1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Improvement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activity of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C016ABE-1AFD-4D27-91EC-F67F090244C4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00000" y="6631416"/>
            <a:ext cx="13000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20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81" name="Added text 81"/>
          <p:cNvSpPr txBox="1"/>
          <p:nvPr/>
        </p:nvSpPr>
        <p:spPr>
          <a:xfrm>
            <a:off x="428625" y="6572250"/>
            <a:ext cx="3762375" cy="15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0" dirty="0">
                <a:solidFill>
                  <a:srgbClr val="000000"/>
                </a:solidFill>
                <a:latin typeface="Arial"/>
                <a:cs typeface="Arial"/>
              </a:rPr>
              <a:t>* Discontinued model (J1 Dual LHD / RHD)</a:t>
            </a:r>
          </a:p>
        </p:txBody>
      </p:sp>
    </p:spTree>
    <p:extLst>
      <p:ext uri="{BB962C8B-B14F-4D97-AF65-F5344CB8AC3E}">
        <p14:creationId xmlns:p14="http://schemas.microsoft.com/office/powerpoint/2010/main" val="183008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16442" y="96965"/>
            <a:ext cx="5369958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4.2 Type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1 Study again after improvement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9338DD2E-759B-4BBC-A8EF-8DA487CAE85E}"/>
              </a:ext>
            </a:extLst>
          </p:cNvPr>
          <p:cNvSpPr txBox="1">
            <a:spLocks/>
          </p:cNvSpPr>
          <p:nvPr/>
        </p:nvSpPr>
        <p:spPr>
          <a:xfrm>
            <a:off x="3728864" y="6542599"/>
            <a:ext cx="1368000" cy="293117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latinLnBrk="0"/>
            <a:r>
              <a:rPr sz="1000" b="0">
                <a:latin typeface="Arial"/>
              </a:rPr>
              <a:t>21 / 33 </a:t>
            </a:r>
            <a:endParaRPr lang="ko-KR" altLang="en-US" dirty="0">
              <a:solidFill>
                <a:prstClr val="black">
                  <a:tint val="75000"/>
                </a:prstClr>
              </a:solidFill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343AEE-326F-4166-A091-AF8F5A490D4A}"/>
              </a:ext>
            </a:extLst>
          </p:cNvPr>
          <p:cNvSpPr txBox="1"/>
          <p:nvPr/>
        </p:nvSpPr>
        <p:spPr>
          <a:xfrm>
            <a:off x="5188636" y="3236635"/>
            <a:ext cx="2362200" cy="477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>
              <a:spcBef>
                <a:spcPts val="600"/>
              </a:spcBef>
            </a:pPr>
            <a:r>
              <a:rPr lang="en-GB" sz="1000" dirty="0">
                <a:latin typeface="Arial" panose="020B0600000101010101" pitchFamily="34" charset="-127"/>
                <a:ea typeface="Arial" panose="020B0600000101010101" pitchFamily="34" charset="-127"/>
              </a:rPr>
              <a:t>Spec: </a:t>
            </a:r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800.00 ~ 2000.00</a:t>
            </a:r>
          </a:p>
          <a:p>
            <a:pPr eaLnBrk="1" latinLnBrk="0">
              <a:spcBef>
                <a:spcPts val="600"/>
              </a:spcBef>
            </a:pPr>
            <a:r>
              <a:rPr lang="en-GB" sz="1000" dirty="0">
                <a:latin typeface="Arial" panose="020B0600000101010101" pitchFamily="34" charset="-127"/>
                <a:ea typeface="Arial" panose="020B0600000101010101" pitchFamily="34" charset="-127"/>
              </a:rPr>
              <a:t>Reference value: </a:t>
            </a:r>
            <a:r>
              <a:rPr lang="en-US" sz="1000" dirty="0">
                <a:solidFill>
                  <a:srgbClr val="000000"/>
                </a:solidFill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910 (golden sample)</a:t>
            </a:r>
            <a:endParaRPr lang="en-US" sz="10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AFF54-087B-4DB0-9D22-8021B64E17B1}"/>
              </a:ext>
            </a:extLst>
          </p:cNvPr>
          <p:cNvSpPr txBox="1"/>
          <p:nvPr/>
        </p:nvSpPr>
        <p:spPr>
          <a:xfrm>
            <a:off x="63248" y="522000"/>
            <a:ext cx="2070352" cy="19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0369EA-41CF-4BB7-95EE-33A74A74A411}"/>
              </a:ext>
            </a:extLst>
          </p:cNvPr>
          <p:cNvSpPr txBox="1"/>
          <p:nvPr/>
        </p:nvSpPr>
        <p:spPr>
          <a:xfrm>
            <a:off x="72000" y="5094000"/>
            <a:ext cx="5112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sz="1000" b="1">
                <a:latin typeface="Arial"/>
              </a:rPr>
              <a:t>Conclusion</a:t>
            </a:r>
          </a:p>
          <a:p>
            <a:pPr eaLnBrk="1" latinLnBrk="0"/>
            <a:r>
              <a:rPr sz="1000" b="0">
                <a:latin typeface="Arial"/>
              </a:rPr>
              <a:t>• P value = 0.926 &gt; 0.05  Fail to reject H0 -&gt; No significant bias (PASS)</a:t>
            </a:r>
          </a:p>
          <a:p>
            <a:pPr eaLnBrk="1" latinLnBrk="0"/>
            <a:r>
              <a:rPr sz="1000" b="0">
                <a:latin typeface="Arial"/>
              </a:rPr>
              <a:t>• Cg = 2.51 (Std ≥ 1.33) PASS | Cgk = 2.50 (Std ≥ 1.33) PASS</a:t>
            </a:r>
          </a:p>
          <a:p>
            <a:pPr eaLnBrk="1" latinLnBrk="0"/>
            <a:r>
              <a:rPr sz="1000" b="0">
                <a:latin typeface="Arial"/>
              </a:rPr>
              <a:t>• %Var(Repeatability) = 7.98% (&lt; 10%) PASS</a:t>
            </a:r>
          </a:p>
          <a:p>
            <a:pPr eaLnBrk="1" latinLnBrk="0"/>
            <a:r>
              <a:rPr sz="1000" b="0">
                <a:latin typeface="Arial"/>
              </a:rPr>
              <a:t>• %Var(Repeatability &amp; Bias) = 8.00% (&lt; 10%) PASS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4BAE4-7011-4E5A-AC6B-231C9D00D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241" y="624615"/>
            <a:ext cx="3858817" cy="25834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4A6D4C-07A1-4D69-BEAA-6C2D30E87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211" y="3649940"/>
            <a:ext cx="4641164" cy="31442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6C57C6-8F91-41B9-BC8E-38F5C99A38B5}"/>
              </a:ext>
            </a:extLst>
          </p:cNvPr>
          <p:cNvSpPr txBox="1"/>
          <p:nvPr/>
        </p:nvSpPr>
        <p:spPr>
          <a:xfrm>
            <a:off x="72000" y="6048000"/>
            <a:ext cx="5112000" cy="46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à"/>
            </a:pPr>
            <a:r>
              <a:rPr sz="1000">
                <a:latin typeface="Arial"/>
              </a:rPr>
              <a:t>✔ Equipment is OK. Camera CS2000 of Station 2 can be used to measure Luminance value.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794835-D2AA-4427-9577-00F62D392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53924"/>
              </p:ext>
            </p:extLst>
          </p:nvPr>
        </p:nvGraphicFramePr>
        <p:xfrm>
          <a:off x="119760" y="1858281"/>
          <a:ext cx="3810000" cy="3267075"/>
        </p:xfrm>
        <a:graphic>
          <a:graphicData uri="http://schemas.openxmlformats.org/drawingml/2006/table">
            <a:tbl>
              <a:tblPr/>
              <a:tblGrid>
                <a:gridCol w="608547">
                  <a:extLst>
                    <a:ext uri="{9D8B030D-6E8A-4147-A177-3AD203B41FA5}">
                      <a16:colId xmlns:a16="http://schemas.microsoft.com/office/drawing/2014/main" val="1750809248"/>
                    </a:ext>
                  </a:extLst>
                </a:gridCol>
                <a:gridCol w="1372653">
                  <a:extLst>
                    <a:ext uri="{9D8B030D-6E8A-4147-A177-3AD203B41FA5}">
                      <a16:colId xmlns:a16="http://schemas.microsoft.com/office/drawing/2014/main" val="507090747"/>
                    </a:ext>
                  </a:extLst>
                </a:gridCol>
                <a:gridCol w="443480">
                  <a:extLst>
                    <a:ext uri="{9D8B030D-6E8A-4147-A177-3AD203B41FA5}">
                      <a16:colId xmlns:a16="http://schemas.microsoft.com/office/drawing/2014/main" val="2319962046"/>
                    </a:ext>
                  </a:extLst>
                </a:gridCol>
                <a:gridCol w="1385320">
                  <a:extLst>
                    <a:ext uri="{9D8B030D-6E8A-4147-A177-3AD203B41FA5}">
                      <a16:colId xmlns:a16="http://schemas.microsoft.com/office/drawing/2014/main" val="2794394947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10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882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913.97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9068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909.74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7093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934.62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906.54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115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926.63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915.48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081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837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927.84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3548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931.37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930.79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274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872.12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884.59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401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909.81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940.66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3657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916.63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73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898.65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0725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898.47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0008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895.41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8218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8284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883.01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001934"/>
                  </a:ext>
                </a:extLst>
              </a:tr>
            </a:tbl>
          </a:graphicData>
        </a:graphic>
      </p:graphicFrame>
      <p:sp>
        <p:nvSpPr>
          <p:cNvPr id="16" name="AutoShape 57">
            <a:extLst>
              <a:ext uri="{FF2B5EF4-FFF2-40B4-BE49-F238E27FC236}">
                <a16:creationId xmlns:a16="http://schemas.microsoft.com/office/drawing/2014/main" id="{E56DB63D-2D01-4DBC-A986-26AC25D62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5" name="AutoShape 55">
            <a:extLst>
              <a:ext uri="{FF2B5EF4-FFF2-40B4-BE49-F238E27FC236}">
                <a16:creationId xmlns:a16="http://schemas.microsoft.com/office/drawing/2014/main" id="{DE503F63-9490-4916-B9A6-B6442FD6B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26" name="AutoShape 56">
            <a:extLst>
              <a:ext uri="{FF2B5EF4-FFF2-40B4-BE49-F238E27FC236}">
                <a16:creationId xmlns:a16="http://schemas.microsoft.com/office/drawing/2014/main" id="{D2E20A55-BE65-4BAD-8A38-75FD26911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28" name="AutoShape 59">
            <a:extLst>
              <a:ext uri="{FF2B5EF4-FFF2-40B4-BE49-F238E27FC236}">
                <a16:creationId xmlns:a16="http://schemas.microsoft.com/office/drawing/2014/main" id="{9C494BAF-7E5D-498F-A235-2F6AB64EE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30" name="AutoShape 58">
            <a:extLst>
              <a:ext uri="{FF2B5EF4-FFF2-40B4-BE49-F238E27FC236}">
                <a16:creationId xmlns:a16="http://schemas.microsoft.com/office/drawing/2014/main" id="{91402361-DAA8-4064-A8C7-952CFA000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1CB60C-262D-436D-81A8-3D72B6B48111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8CD868-16BA-46A5-AECC-0273074C5396}"/>
              </a:ext>
            </a:extLst>
          </p:cNvPr>
          <p:cNvSpPr txBox="1"/>
          <p:nvPr/>
        </p:nvSpPr>
        <p:spPr>
          <a:xfrm>
            <a:off x="63248" y="737999"/>
            <a:ext cx="5354074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Use the Type 1 gage study to assess the measurement capability of the gage, based on its repeatability and bias after improvement.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In this case, one sample (golden sample, 910 Cd/m²) is measured 30 times.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H0: Bias = 0 in measurement system.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H1: Bias ≠ 0 in measurement system.</a:t>
            </a:r>
          </a:p>
        </p:txBody>
      </p:sp>
    </p:spTree>
    <p:extLst>
      <p:ext uri="{BB962C8B-B14F-4D97-AF65-F5344CB8AC3E}">
        <p14:creationId xmlns:p14="http://schemas.microsoft.com/office/powerpoint/2010/main" val="2126649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67838" y="109779"/>
            <a:ext cx="448381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4.2 Check type 3 study again after improvement</a:t>
            </a:r>
            <a:endParaRPr lang="ko-KR" altLang="en-US" sz="1600" b="1" kern="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780F4B-5672-40A9-A54C-41F7670782F4}"/>
              </a:ext>
            </a:extLst>
          </p:cNvPr>
          <p:cNvSpPr txBox="1"/>
          <p:nvPr/>
        </p:nvSpPr>
        <p:spPr>
          <a:xfrm>
            <a:off x="126340" y="831597"/>
            <a:ext cx="9281571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Only the Type 1 study has been done so far; the Gage R&amp;R (repeatability on 25 parts) still has to be evaluated at both stations.</a:t>
            </a:r>
          </a:p>
          <a:p>
            <a:pPr eaLnBrk="1" latinLnBrk="0"/>
            <a:r>
              <a:rPr sz="1000" b="0">
                <a:latin typeface="Arial"/>
              </a:rPr>
              <a:t>Because Luminance stations are fully automated with no operator variation, Type 3 Gage Study is conducted (25 samples measured twice per station).</a:t>
            </a:r>
          </a:p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Each station: 25 samples x 2 repeats = 50 measurements (reproducibility does not apply: no operator influence).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E1439F5B-C230-4AA8-8439-28EEED66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22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934BF3-CC0B-450B-ACCE-8B259B73DAE4}"/>
              </a:ext>
            </a:extLst>
          </p:cNvPr>
          <p:cNvSpPr/>
          <p:nvPr/>
        </p:nvSpPr>
        <p:spPr>
          <a:xfrm>
            <a:off x="2971800" y="5957694"/>
            <a:ext cx="1765227" cy="26161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eaLnBrk="1" latinLnBrk="0"/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Spec: 800- 2000 (Cd/m</a:t>
            </a:r>
            <a:r>
              <a:rPr lang="en-US" sz="1000" baseline="30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)</a:t>
            </a:r>
            <a:endParaRPr lang="en-US" sz="11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CD21B4-9085-48D2-BDDD-DFAD010B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795596"/>
              </p:ext>
            </p:extLst>
          </p:nvPr>
        </p:nvGraphicFramePr>
        <p:xfrm>
          <a:off x="251820" y="1683120"/>
          <a:ext cx="2719980" cy="4641480"/>
        </p:xfrm>
        <a:graphic>
          <a:graphicData uri="http://schemas.openxmlformats.org/drawingml/2006/table">
            <a:tbl>
              <a:tblPr/>
              <a:tblGrid>
                <a:gridCol w="281580">
                  <a:extLst>
                    <a:ext uri="{9D8B030D-6E8A-4147-A177-3AD203B41FA5}">
                      <a16:colId xmlns:a16="http://schemas.microsoft.com/office/drawing/2014/main" val="232009506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07806071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6782659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704243827"/>
                    </a:ext>
                  </a:extLst>
                </a:gridCol>
              </a:tblGrid>
              <a:tr h="155003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8073" marR="8073" marT="807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8073" marR="8073" marT="807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8073" marR="8073" marT="807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Luminance(Cd/m</a:t>
                      </a:r>
                      <a:r>
                        <a:rPr lang="en-US" sz="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8073" marR="8073" marT="807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676853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867.90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839.46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386091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865.27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901.79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861849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944.79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898.47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76868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946.33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936.63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069964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843.90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936.27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423515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845.25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890.28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910737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920.68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887.88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461390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921.04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845.39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694466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859.34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848.02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700972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861.23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862.92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19298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963.60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859.34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462213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965.47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838.59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174214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866.30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842.81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086670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867.55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932.33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148766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941.27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931.95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804902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938.62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847.79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667530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873.52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851.88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926631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872.70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886.95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373319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937.93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883.41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282064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935.27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910.18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72813"/>
                  </a:ext>
                </a:extLst>
              </a:tr>
              <a:tr h="180837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853.15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912.26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117694"/>
                  </a:ext>
                </a:extLst>
              </a:tr>
              <a:tr h="17222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854.44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901.24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532500"/>
                  </a:ext>
                </a:extLst>
              </a:tr>
              <a:tr h="17222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921.24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899.79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783059"/>
                  </a:ext>
                </a:extLst>
              </a:tr>
              <a:tr h="17222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924.31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903.05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273900"/>
                  </a:ext>
                </a:extLst>
              </a:tr>
              <a:tr h="172225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845.39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8073" marR="8073" marT="80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896.84</a:t>
                      </a:r>
                    </a:p>
                  </a:txBody>
                  <a:tcPr marL="8073" marR="8073" marT="80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392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CEE611CC-43DE-4F63-94E1-F430738FAB0D}"/>
              </a:ext>
            </a:extLst>
          </p:cNvPr>
          <p:cNvSpPr txBox="1"/>
          <p:nvPr/>
        </p:nvSpPr>
        <p:spPr>
          <a:xfrm>
            <a:off x="51362" y="557313"/>
            <a:ext cx="2070352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 Luminance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C1A86B-E1F6-43DD-86C2-969578BFB53A}"/>
              </a:ext>
            </a:extLst>
          </p:cNvPr>
          <p:cNvSpPr/>
          <p:nvPr/>
        </p:nvSpPr>
        <p:spPr>
          <a:xfrm>
            <a:off x="219480" y="6267844"/>
            <a:ext cx="5190720" cy="3392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eaLnBrk="1" latinLnBrk="0">
              <a:lnSpc>
                <a:spcPct val="150000"/>
              </a:lnSpc>
            </a:pPr>
            <a:r>
              <a:rPr lang="en-US" sz="1000" b="1" dirty="0">
                <a:latin typeface="Arial" panose="020B0600000101010101" pitchFamily="34" charset="-127"/>
                <a:ea typeface="Arial" panose="020B0600000101010101" pitchFamily="34" charset="-127"/>
              </a:rPr>
              <a:t>Gage R&amp;R conclusion: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The measurement system in station 1 is Good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540360-258F-46E8-8DEE-474F710DF22D}"/>
              </a:ext>
            </a:extLst>
          </p:cNvPr>
          <p:cNvSpPr txBox="1"/>
          <p:nvPr/>
        </p:nvSpPr>
        <p:spPr>
          <a:xfrm>
            <a:off x="5698444" y="5119661"/>
            <a:ext cx="4104000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% Contribution of Gage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R&amp;R =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0.29% &lt;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1%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000" dirty="0">
                <a:solidFill>
                  <a:srgbClr val="0066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OK</a:t>
            </a:r>
            <a:endParaRPr lang="vi-VN" sz="1200" dirty="0">
              <a:solidFill>
                <a:srgbClr val="0066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% Study Var =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5.39%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&lt;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10%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000" dirty="0">
                <a:solidFill>
                  <a:srgbClr val="0066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OK</a:t>
            </a:r>
            <a:endParaRPr lang="en-US" sz="1200" dirty="0">
              <a:solidFill>
                <a:srgbClr val="0066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sym typeface="Wingdings" pitchFamily="2" charset="2"/>
            </a:endParaRP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noProof="1">
                <a:latin typeface="Arial" panose="020B0600000101010101" pitchFamily="34" charset="-127"/>
                <a:ea typeface="Arial" panose="020B0600000101010101" pitchFamily="34" charset="-127"/>
              </a:rPr>
              <a:t>% Tolerance = 1.02%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&lt;</a:t>
            </a:r>
            <a:r>
              <a:rPr lang="en-US" sz="1000" noProof="1">
                <a:latin typeface="Arial" panose="020B0600000101010101" pitchFamily="34" charset="-127"/>
                <a:ea typeface="Arial" panose="020B0600000101010101" pitchFamily="34" charset="-127"/>
              </a:rPr>
              <a:t> 10%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</a:t>
            </a:r>
            <a:r>
              <a:rPr lang="en-US" sz="1000" dirty="0">
                <a:solidFill>
                  <a:srgbClr val="0066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Can use to judge OK/NG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NDC: 26 &gt; 5  OK</a:t>
            </a:r>
          </a:p>
          <a:p>
            <a:pPr eaLnBrk="1" latinLnBrk="0"/>
            <a:endParaRPr 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86E974-04D9-4003-953F-1624E2972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1822801"/>
            <a:ext cx="2569021" cy="3645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9DB64-10E5-4BE0-9E68-AB5550A52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789" y="1755421"/>
            <a:ext cx="4005973" cy="3008418"/>
          </a:xfrm>
          <a:prstGeom prst="rect">
            <a:avLst/>
          </a:prstGeom>
        </p:spPr>
      </p:pic>
      <p:sp>
        <p:nvSpPr>
          <p:cNvPr id="17" name="AutoShape 57">
            <a:extLst>
              <a:ext uri="{FF2B5EF4-FFF2-40B4-BE49-F238E27FC236}">
                <a16:creationId xmlns:a16="http://schemas.microsoft.com/office/drawing/2014/main" id="{A8A20566-6A11-4281-B6A6-4827686D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8" name="AutoShape 55">
            <a:extLst>
              <a:ext uri="{FF2B5EF4-FFF2-40B4-BE49-F238E27FC236}">
                <a16:creationId xmlns:a16="http://schemas.microsoft.com/office/drawing/2014/main" id="{0AAAAE11-962F-4905-A704-79C99CD62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6">
            <a:extLst>
              <a:ext uri="{FF2B5EF4-FFF2-40B4-BE49-F238E27FC236}">
                <a16:creationId xmlns:a16="http://schemas.microsoft.com/office/drawing/2014/main" id="{65C4F444-965B-4E90-AAB3-86012AF21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22" name="AutoShape 59">
            <a:extLst>
              <a:ext uri="{FF2B5EF4-FFF2-40B4-BE49-F238E27FC236}">
                <a16:creationId xmlns:a16="http://schemas.microsoft.com/office/drawing/2014/main" id="{B53444EE-0D82-41A0-9F29-932D6877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8" name="AutoShape 58">
            <a:extLst>
              <a:ext uri="{FF2B5EF4-FFF2-40B4-BE49-F238E27FC236}">
                <a16:creationId xmlns:a16="http://schemas.microsoft.com/office/drawing/2014/main" id="{1F71CA43-BD44-40DA-A6CC-F39D9CDDF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5EF069-A357-49D4-BCF3-59C570CAC0D4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649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59">
            <a:extLst>
              <a:ext uri="{FF2B5EF4-FFF2-40B4-BE49-F238E27FC236}">
                <a16:creationId xmlns:a16="http://schemas.microsoft.com/office/drawing/2014/main" id="{42E250E9-7B6D-4CB6-9D59-474D4A6C6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18" name="AutoShape 56">
            <a:extLst>
              <a:ext uri="{FF2B5EF4-FFF2-40B4-BE49-F238E27FC236}">
                <a16:creationId xmlns:a16="http://schemas.microsoft.com/office/drawing/2014/main" id="{C0C944A4-101E-42D6-81BA-0D952D7C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7638E1-3883-4927-AC6D-92EA20AB9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36" y="1261535"/>
            <a:ext cx="3197364" cy="4488279"/>
          </a:xfrm>
          <a:prstGeom prst="rect">
            <a:avLst/>
          </a:prstGeom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63248" y="59759"/>
            <a:ext cx="61560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1" latinLnBrk="0" hangingPunct="0"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Check type 3 study again after improvement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F116EDF-8FB8-49D4-9D95-4106566CA48E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8B7C0E50-731F-45CB-B95B-47B094B1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23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7A0E4A-FE65-4EFE-9AAA-D95F0FD47D39}"/>
              </a:ext>
            </a:extLst>
          </p:cNvPr>
          <p:cNvSpPr txBox="1"/>
          <p:nvPr/>
        </p:nvSpPr>
        <p:spPr>
          <a:xfrm>
            <a:off x="63248" y="535377"/>
            <a:ext cx="2679952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66E839-E464-44A6-B3A7-069EFFB3BB53}"/>
              </a:ext>
            </a:extLst>
          </p:cNvPr>
          <p:cNvSpPr txBox="1"/>
          <p:nvPr/>
        </p:nvSpPr>
        <p:spPr>
          <a:xfrm>
            <a:off x="6027146" y="4781800"/>
            <a:ext cx="3780000" cy="10156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% Contribution of Gage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R&amp;R =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0.22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%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&lt;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1%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000" dirty="0">
                <a:solidFill>
                  <a:srgbClr val="0066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OK</a:t>
            </a:r>
            <a:endParaRPr lang="vi-VN" sz="1200" dirty="0">
              <a:solidFill>
                <a:srgbClr val="0066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% Study Var =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4.64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%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&lt;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10% 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000" dirty="0">
                <a:solidFill>
                  <a:srgbClr val="0066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anose="05000000000000000000" pitchFamily="2" charset="2"/>
              </a:rPr>
              <a:t>OK</a:t>
            </a:r>
            <a:endParaRPr lang="vi-VN" sz="1200" dirty="0">
              <a:solidFill>
                <a:srgbClr val="0066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noProof="1">
                <a:latin typeface="Arial" panose="020B0600000101010101" pitchFamily="34" charset="-127"/>
                <a:ea typeface="Arial" panose="020B0600000101010101" pitchFamily="34" charset="-127"/>
              </a:rPr>
              <a:t>% Tolerance = 0.86% &lt; 10%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</a:t>
            </a:r>
            <a:r>
              <a:rPr lang="en-US" sz="1000" dirty="0">
                <a:solidFill>
                  <a:srgbClr val="006600"/>
                </a:solidFill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Can use to judge OK/NG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NDC: 30 &gt; 5  OK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 </a:t>
            </a:r>
            <a:endParaRPr lang="en-US" sz="1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4EA2E-54FC-4AFE-90F2-2B41EEBF1447}"/>
              </a:ext>
            </a:extLst>
          </p:cNvPr>
          <p:cNvSpPr txBox="1"/>
          <p:nvPr/>
        </p:nvSpPr>
        <p:spPr>
          <a:xfrm>
            <a:off x="59902" y="6296220"/>
            <a:ext cx="6765306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Conclusion</a:t>
            </a: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: Measurement system of station 2 is Good after improving measurement system</a:t>
            </a:r>
          </a:p>
        </p:txBody>
      </p:sp>
      <p:sp>
        <p:nvSpPr>
          <p:cNvPr id="23" name="Text Box 2">
            <a:extLst>
              <a:ext uri="{FF2B5EF4-FFF2-40B4-BE49-F238E27FC236}">
                <a16:creationId xmlns:a16="http://schemas.microsoft.com/office/drawing/2014/main" id="{18AB2045-A1D9-4F7C-ABE5-0EE724EF6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11" y="786484"/>
            <a:ext cx="9332289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4374" tIns="42187" rIns="84374" bIns="42187" anchor="ctr"/>
          <a:lstStyle/>
          <a:p>
            <a:pPr defTabSz="844083" eaLnBrk="1" latinLnBrk="0">
              <a:defRPr/>
            </a:pPr>
            <a:r>
              <a:rPr sz="1000" b="0">
                <a:latin typeface="Arial"/>
              </a:rPr>
              <a:t>After adjusting camera angle to 90.0°, Type 3 Gage Study was repeated for Station 2 to verify measurement repeatability.</a:t>
            </a:r>
            <a:endParaRPr lang="ko-KR" altLang="en-US" sz="1200" b="1" dirty="0">
              <a:solidFill>
                <a:srgbClr val="000000"/>
              </a:solidFill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4" name="AutoShape 55">
            <a:extLst>
              <a:ext uri="{FF2B5EF4-FFF2-40B4-BE49-F238E27FC236}">
                <a16:creationId xmlns:a16="http://schemas.microsoft.com/office/drawing/2014/main" id="{D17A6884-A0A7-406C-A731-813E957B5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D78909-2208-48C8-9FE8-B1C822F4B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451455"/>
              </p:ext>
            </p:extLst>
          </p:nvPr>
        </p:nvGraphicFramePr>
        <p:xfrm>
          <a:off x="107420" y="1247455"/>
          <a:ext cx="2711980" cy="4769863"/>
        </p:xfrm>
        <a:graphic>
          <a:graphicData uri="http://schemas.openxmlformats.org/drawingml/2006/table">
            <a:tbl>
              <a:tblPr/>
              <a:tblGrid>
                <a:gridCol w="677995">
                  <a:extLst>
                    <a:ext uri="{9D8B030D-6E8A-4147-A177-3AD203B41FA5}">
                      <a16:colId xmlns:a16="http://schemas.microsoft.com/office/drawing/2014/main" val="2454351302"/>
                    </a:ext>
                  </a:extLst>
                </a:gridCol>
                <a:gridCol w="677995">
                  <a:extLst>
                    <a:ext uri="{9D8B030D-6E8A-4147-A177-3AD203B41FA5}">
                      <a16:colId xmlns:a16="http://schemas.microsoft.com/office/drawing/2014/main" val="1364988761"/>
                    </a:ext>
                  </a:extLst>
                </a:gridCol>
                <a:gridCol w="677995">
                  <a:extLst>
                    <a:ext uri="{9D8B030D-6E8A-4147-A177-3AD203B41FA5}">
                      <a16:colId xmlns:a16="http://schemas.microsoft.com/office/drawing/2014/main" val="540453528"/>
                    </a:ext>
                  </a:extLst>
                </a:gridCol>
                <a:gridCol w="677995">
                  <a:extLst>
                    <a:ext uri="{9D8B030D-6E8A-4147-A177-3AD203B41FA5}">
                      <a16:colId xmlns:a16="http://schemas.microsoft.com/office/drawing/2014/main" val="1565661320"/>
                    </a:ext>
                  </a:extLst>
                </a:gridCol>
              </a:tblGrid>
              <a:tr h="159488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77896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946.86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928.45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092601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949.24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919.77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307722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871.49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918.29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701855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871.89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919.34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195219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846.49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918.22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260361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847.85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903.63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897662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901.35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900.43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897988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898.05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847.94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657016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951.03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850.22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572026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950.78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872.57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261525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890.56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869.91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758953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892.16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948.43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07352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855.23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950.59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333202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851.36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918.35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630780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889.44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920.88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073922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886.99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846.80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930923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882.94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847.89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780344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882.16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870.83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366353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933.20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871.74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745787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937.61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961.99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611454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861.69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963.88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7802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11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859.00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931.05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179688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854.84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936.46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1374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856.49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877.87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20300"/>
                  </a:ext>
                </a:extLst>
              </a:tr>
              <a:tr h="184415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926.83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25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877.12</a:t>
                      </a:r>
                    </a:p>
                  </a:txBody>
                  <a:tcPr marL="8417" marR="8417" marT="84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66048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B0F8718-B35E-4C23-BD06-E9D07E027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316" y="1508265"/>
            <a:ext cx="3931436" cy="2957124"/>
          </a:xfrm>
          <a:prstGeom prst="rect">
            <a:avLst/>
          </a:prstGeom>
        </p:spPr>
      </p:pic>
      <p:sp>
        <p:nvSpPr>
          <p:cNvPr id="17" name="AutoShape 57">
            <a:extLst>
              <a:ext uri="{FF2B5EF4-FFF2-40B4-BE49-F238E27FC236}">
                <a16:creationId xmlns:a16="http://schemas.microsoft.com/office/drawing/2014/main" id="{7AC55846-A8AC-4576-9929-69CC7DB8A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9" name="AutoShape 58">
            <a:extLst>
              <a:ext uri="{FF2B5EF4-FFF2-40B4-BE49-F238E27FC236}">
                <a16:creationId xmlns:a16="http://schemas.microsoft.com/office/drawing/2014/main" id="{C1BD87E1-CF39-4ACA-8A8B-E73D4CC9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</p:spTree>
    <p:extLst>
      <p:ext uri="{BB962C8B-B14F-4D97-AF65-F5344CB8AC3E}">
        <p14:creationId xmlns:p14="http://schemas.microsoft.com/office/powerpoint/2010/main" val="381964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67107" y="86115"/>
            <a:ext cx="6181293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1" latinLnBrk="0" hangingPunct="0">
              <a:defRPr/>
            </a:pP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4.3 Xbar-R Chart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Review </a:t>
            </a: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after improving the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106" y="842041"/>
            <a:ext cx="945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To monitor the mean and the variation of process after applying improvement and use control chart to monitor process stability over time.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 Sampling method: rational subgroups of the first 5 sets per day at the production line, for 10 days (1-Jul to 10-Jul-2026).</a:t>
            </a:r>
          </a:p>
        </p:txBody>
      </p:sp>
      <p:graphicFrame>
        <p:nvGraphicFramePr>
          <p:cNvPr id="12" name="Diagram 11"/>
          <p:cNvGraphicFramePr/>
          <p:nvPr/>
        </p:nvGraphicFramePr>
        <p:xfrm>
          <a:off x="5689764" y="-1221095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0" y="457200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4016" y="5823484"/>
            <a:ext cx="922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lang="en-US" altLang="ko-KR" sz="1000" b="1" u="sng" dirty="0"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Conclusion:</a:t>
            </a:r>
            <a:r>
              <a:rPr lang="vi-VN" altLang="ko-KR" sz="1000" b="1" u="sng" dirty="0"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alt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No out-of-control point and no abnormal pattern (run tests) was found in the Xbar and R control charts. Therefore the process is stable over time.</a:t>
            </a:r>
            <a:endParaRPr lang="en-US" altLang="ko-KR" sz="1200" dirty="0">
              <a:latin typeface="Arial" panose="020B060402020202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43E9E2D-07E0-4BDA-8E12-269E0FA0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24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8D969275-7FCE-4DA4-896B-5F6B33E6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55670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BCF43FF0-638F-4D22-9E24-50CD9446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55670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1" name="AutoShape 57">
            <a:extLst>
              <a:ext uri="{FF2B5EF4-FFF2-40B4-BE49-F238E27FC236}">
                <a16:creationId xmlns:a16="http://schemas.microsoft.com/office/drawing/2014/main" id="{FC2AADA2-7ABC-4D8D-BE22-7EF0DFC84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2" name="AutoShape 56">
            <a:extLst>
              <a:ext uri="{FF2B5EF4-FFF2-40B4-BE49-F238E27FC236}">
                <a16:creationId xmlns:a16="http://schemas.microsoft.com/office/drawing/2014/main" id="{5E74889D-BC3B-4CC2-A97B-0F77D2495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23" name="AutoShape 58">
            <a:extLst>
              <a:ext uri="{FF2B5EF4-FFF2-40B4-BE49-F238E27FC236}">
                <a16:creationId xmlns:a16="http://schemas.microsoft.com/office/drawing/2014/main" id="{91238B10-8FED-4C48-BDE2-4FBBF1E22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E2590F-A62F-4944-934D-B57B4522B109}"/>
              </a:ext>
            </a:extLst>
          </p:cNvPr>
          <p:cNvSpPr txBox="1"/>
          <p:nvPr/>
        </p:nvSpPr>
        <p:spPr>
          <a:xfrm>
            <a:off x="63248" y="535377"/>
            <a:ext cx="351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1 Luminance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BA1A7A-0E76-45AC-82EE-E65F89C7B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98051"/>
              </p:ext>
            </p:extLst>
          </p:nvPr>
        </p:nvGraphicFramePr>
        <p:xfrm>
          <a:off x="163797" y="1821588"/>
          <a:ext cx="4038600" cy="3282168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34010033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16758301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406690164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96015346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36887770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989563177"/>
                    </a:ext>
                  </a:extLst>
                </a:gridCol>
              </a:tblGrid>
              <a:tr h="257128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820387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1-Jul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879.90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878.25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891.17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911.97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336354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2-Jul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918.79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908.47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897.79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906.27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208290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3-Jul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920.61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929.42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914.50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930.37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902.39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767888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4-Jul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913.69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922.89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502995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5-Jul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916.63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898.68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916.27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151649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6-Jul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920.08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880.62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929.37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912.76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871683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7-Jul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911.27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914.57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897.62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077226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8-Jul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892.92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896.84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890.74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909.34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744127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9-Jul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915.27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905.33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23075"/>
                  </a:ext>
                </a:extLst>
              </a:tr>
              <a:tr h="302504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10-Jul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888.02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875.39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926.85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335670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6823C64-CC70-4821-82AF-F464E87BEC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5779" y="1709532"/>
            <a:ext cx="5106818" cy="343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96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67107" y="86115"/>
            <a:ext cx="61560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eaLnBrk="1" latinLnBrk="0" hangingPunct="0">
              <a:defRPr/>
            </a:pPr>
            <a:r>
              <a:rPr lang="en-US" altLang="ko-KR" sz="1600" b="1" kern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4.3 Xbar-R Chart Review after improving the measurement system</a:t>
            </a:r>
            <a:endParaRPr lang="ko-KR" altLang="en-US" sz="1600" b="1" kern="0" dirty="0"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2" name="Diagram 11"/>
          <p:cNvGraphicFramePr/>
          <p:nvPr/>
        </p:nvGraphicFramePr>
        <p:xfrm>
          <a:off x="5689764" y="-1221095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0" y="457200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43E9E2D-07E0-4BDA-8E12-269E0FA0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25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8D969275-7FCE-4DA4-896B-5F6B33E6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55670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BCF43FF0-638F-4D22-9E24-50CD9446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55670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1" name="AutoShape 57">
            <a:extLst>
              <a:ext uri="{FF2B5EF4-FFF2-40B4-BE49-F238E27FC236}">
                <a16:creationId xmlns:a16="http://schemas.microsoft.com/office/drawing/2014/main" id="{78C39ED3-565A-4056-8BB5-76E484D6F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2" name="AutoShape 56">
            <a:extLst>
              <a:ext uri="{FF2B5EF4-FFF2-40B4-BE49-F238E27FC236}">
                <a16:creationId xmlns:a16="http://schemas.microsoft.com/office/drawing/2014/main" id="{374B8463-85EB-4D78-8390-CE3FE100B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23" name="AutoShape 58">
            <a:extLst>
              <a:ext uri="{FF2B5EF4-FFF2-40B4-BE49-F238E27FC236}">
                <a16:creationId xmlns:a16="http://schemas.microsoft.com/office/drawing/2014/main" id="{1618D9F1-F2DD-4E3F-92E3-2BB7598EB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9201B-E4DF-490F-839D-DE3B930B4CCB}"/>
              </a:ext>
            </a:extLst>
          </p:cNvPr>
          <p:cNvSpPr txBox="1"/>
          <p:nvPr/>
        </p:nvSpPr>
        <p:spPr>
          <a:xfrm>
            <a:off x="63248" y="535377"/>
            <a:ext cx="3441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0E5E-6DDF-4CAB-BC6D-54F0BC4AB452}"/>
              </a:ext>
            </a:extLst>
          </p:cNvPr>
          <p:cNvSpPr txBox="1"/>
          <p:nvPr/>
        </p:nvSpPr>
        <p:spPr>
          <a:xfrm>
            <a:off x="144016" y="5823484"/>
            <a:ext cx="922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Ø"/>
            </a:pPr>
            <a:r>
              <a:rPr lang="en-US" altLang="ko-KR" sz="1000" b="1" u="sng" dirty="0"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Conclusion:</a:t>
            </a:r>
            <a:r>
              <a:rPr lang="vi-VN" altLang="ko-KR" sz="1000" b="1" u="sng" dirty="0">
                <a:latin typeface="Arial" panose="020B0604020202020204" pitchFamily="34" charset="0"/>
                <a:ea typeface="LG Smart_H Regular" panose="020B0600000101010101" pitchFamily="34" charset="-127"/>
                <a:cs typeface="Arial" panose="020B0604020202020204" pitchFamily="34" charset="0"/>
              </a:rPr>
              <a:t> </a:t>
            </a:r>
          </a:p>
          <a:p>
            <a:pPr marL="171450" indent="-171450" eaLnBrk="1" latinLnBrk="0">
              <a:buFont typeface="Arial" panose="020B0604020202020204" pitchFamily="34" charset="0"/>
              <a:buChar char="•"/>
            </a:pPr>
            <a:r>
              <a:rPr lang="en-US" alt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No out-of-control point and no abnormal pattern (run tests) was found in the Xbar and R control charts. Therefore the process is stable over time.</a:t>
            </a:r>
            <a:endParaRPr lang="en-US" altLang="ko-KR" sz="1200" dirty="0">
              <a:latin typeface="Arial" panose="020B060402020202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AE7440-4A49-4884-9338-70840B8D6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34505"/>
              </p:ext>
            </p:extLst>
          </p:nvPr>
        </p:nvGraphicFramePr>
        <p:xfrm>
          <a:off x="144016" y="1730969"/>
          <a:ext cx="3962400" cy="329549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1668832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56876591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51027955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29481627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6702565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27515326"/>
                    </a:ext>
                  </a:extLst>
                </a:gridCol>
              </a:tblGrid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Sample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885912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1-Jul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903.99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888.65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927.84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930103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2-Jul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898.47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930.79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906.56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165055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3-Jul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934.62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905.74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884.21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897.52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15110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4-Jul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926.69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897.88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940.66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917.92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932.89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842911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5-Jul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901.07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916.63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920.68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896.27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840345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6-Jul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919.07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910.92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929.27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912.16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943853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7-Jul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931.37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899.74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957.93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4588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8-Jul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902.12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906.54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907.01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670741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9-Jul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909.81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925.48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937.52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920.73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918.64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527454"/>
                  </a:ext>
                </a:extLst>
              </a:tr>
              <a:tr h="299590">
                <a:tc>
                  <a:txBody>
                    <a:bodyPr/>
                    <a:lstStyle/>
                    <a:p>
                      <a:pPr algn="ctr" rtl="0" eaLnBrk="1" fontAlgn="ctr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0000101010101" pitchFamily="34" charset="-127"/>
                          <a:ea typeface="Arial" panose="020B0600000101010101" pitchFamily="34" charset="-127"/>
                        </a:rPr>
                        <a:t>10-Jul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893.27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904.75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873.01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914.26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932.42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25107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FF8E901-80C9-4272-8121-A4E818956B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987" y="1728466"/>
            <a:ext cx="4860425" cy="32954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80CBA3-AF38-4F86-A93F-C2965B6E0F40}"/>
              </a:ext>
            </a:extLst>
          </p:cNvPr>
          <p:cNvSpPr txBox="1"/>
          <p:nvPr/>
        </p:nvSpPr>
        <p:spPr>
          <a:xfrm>
            <a:off x="67106" y="842041"/>
            <a:ext cx="945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To monitor the mean and the variation of process after applying improvement and use control chart to monitor process stability over time.</a:t>
            </a:r>
          </a:p>
          <a:p>
            <a:pPr eaLnBrk="1" latinLnBrk="0"/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- Sampling method: rational subgroups of the first 5 sets per day at the production line, for 10 days (1-Jul to 10-Jul-2026).</a:t>
            </a:r>
          </a:p>
        </p:txBody>
      </p:sp>
    </p:spTree>
    <p:extLst>
      <p:ext uri="{BB962C8B-B14F-4D97-AF65-F5344CB8AC3E}">
        <p14:creationId xmlns:p14="http://schemas.microsoft.com/office/powerpoint/2010/main" val="1308763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/>
          <p:cNvGraphicFramePr/>
          <p:nvPr/>
        </p:nvGraphicFramePr>
        <p:xfrm>
          <a:off x="5689764" y="-1221095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43E9E2D-07E0-4BDA-8E12-269E0FA0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26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8D969275-7FCE-4DA4-896B-5F6B33E6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55670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BCF43FF0-638F-4D22-9E24-50CD9446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55670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3DF1E9-4F4B-4537-85CB-35E50A4338F4}"/>
              </a:ext>
            </a:extLst>
          </p:cNvPr>
          <p:cNvSpPr txBox="1"/>
          <p:nvPr/>
        </p:nvSpPr>
        <p:spPr>
          <a:xfrm>
            <a:off x="4969699" y="5930887"/>
            <a:ext cx="4682798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>
              <a:lnSpc>
                <a:spcPct val="150000"/>
              </a:lnSpc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Cpk = 2.76 (= CPL; USL 2000 is far from the process) (Goal ≥ 1.33; target ≥ 1.67)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Process capability is sufficient.</a:t>
            </a:r>
          </a:p>
          <a:p>
            <a:pPr eaLnBrk="1" latinLnBrk="0">
              <a:lnSpc>
                <a:spcPct val="150000"/>
              </a:lnSpc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Focus effort on maintenance and shared management measures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A13D46-5B91-4121-A651-FD19FF223FEC}"/>
              </a:ext>
            </a:extLst>
          </p:cNvPr>
          <p:cNvSpPr txBox="1"/>
          <p:nvPr/>
        </p:nvSpPr>
        <p:spPr>
          <a:xfrm>
            <a:off x="361030" y="6050271"/>
            <a:ext cx="4320000" cy="54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latinLnBrk="0">
              <a:lnSpc>
                <a:spcPct val="150000"/>
              </a:lnSpc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P-Value = 0.446 &gt; 0.05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Pass</a:t>
            </a:r>
          </a:p>
          <a:p>
            <a:pPr eaLnBrk="1" latinLnBrk="0">
              <a:lnSpc>
                <a:spcPct val="150000"/>
              </a:lnSpc>
            </a:pP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/>
                <a:sym typeface="Wingdings" pitchFamily="2" charset="2"/>
              </a:rPr>
              <a:t>Data can be treated as normally distributed</a:t>
            </a: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)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DDE9B228-729B-47C3-9105-92CCCB7E7710}"/>
              </a:ext>
            </a:extLst>
          </p:cNvPr>
          <p:cNvSpPr txBox="1">
            <a:spLocks/>
          </p:cNvSpPr>
          <p:nvPr/>
        </p:nvSpPr>
        <p:spPr>
          <a:xfrm>
            <a:off x="85125" y="89839"/>
            <a:ext cx="61560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4.4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Check Process Capability after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improving the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E32947-3AE0-4F5F-A54D-B86A1B5F090E}"/>
              </a:ext>
            </a:extLst>
          </p:cNvPr>
          <p:cNvSpPr txBox="1"/>
          <p:nvPr/>
        </p:nvSpPr>
        <p:spPr>
          <a:xfrm>
            <a:off x="4626" y="612442"/>
            <a:ext cx="235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1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Luminance</a:t>
            </a:r>
          </a:p>
        </p:txBody>
      </p:sp>
      <p:sp>
        <p:nvSpPr>
          <p:cNvPr id="24" name="AutoShape 57">
            <a:extLst>
              <a:ext uri="{FF2B5EF4-FFF2-40B4-BE49-F238E27FC236}">
                <a16:creationId xmlns:a16="http://schemas.microsoft.com/office/drawing/2014/main" id="{28BD15D5-6D32-408C-A6FB-4836EF1DA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5" name="AutoShape 56">
            <a:extLst>
              <a:ext uri="{FF2B5EF4-FFF2-40B4-BE49-F238E27FC236}">
                <a16:creationId xmlns:a16="http://schemas.microsoft.com/office/drawing/2014/main" id="{20A84D37-79F0-405E-A5EB-1C489E8F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29" name="AutoShape 58">
            <a:extLst>
              <a:ext uri="{FF2B5EF4-FFF2-40B4-BE49-F238E27FC236}">
                <a16:creationId xmlns:a16="http://schemas.microsoft.com/office/drawing/2014/main" id="{1DDFF762-6353-4C56-9B3C-905A3BA39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C64297-EACD-4185-924B-57DD27FA9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4" y="2498575"/>
            <a:ext cx="4876801" cy="33089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FD0020-07EF-4656-A85C-FB6D7D09DC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3015" y="2498575"/>
            <a:ext cx="4421059" cy="33100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BE6231-032D-4837-A7A5-B062D9E6BA76}"/>
              </a:ext>
            </a:extLst>
          </p:cNvPr>
          <p:cNvSpPr/>
          <p:nvPr/>
        </p:nvSpPr>
        <p:spPr>
          <a:xfrm>
            <a:off x="155974" y="927113"/>
            <a:ext cx="95214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latinLnBrk="0" hangingPunct="0">
              <a:defRPr/>
            </a:pPr>
            <a:r>
              <a:rPr lang="en-US" altLang="ja-JP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Use the normality test (Anderson-Darling) to determine whether the data follow a normal distribution</a:t>
            </a:r>
          </a:p>
          <a:p>
            <a:pPr eaLnBrk="1" latinLnBrk="0"/>
            <a:r>
              <a:rPr sz="1000" b="0">
                <a:latin typeface="Arial"/>
              </a:rPr>
              <a:t>H0: Data follows Normal Distribution</a:t>
            </a:r>
          </a:p>
          <a:p>
            <a:pPr eaLnBrk="1" latinLnBrk="0"/>
            <a:r>
              <a:rPr sz="1000" b="0">
                <a:latin typeface="Arial"/>
              </a:rPr>
              <a:t>H1: Data does NOT follow Normal Distribution</a:t>
            </a:r>
          </a:p>
          <a:p>
            <a:pPr eaLnBrk="1" latinLnBrk="0"/>
            <a:r>
              <a:rPr sz="1000" b="0">
                <a:latin typeface="Arial"/>
              </a:rPr>
              <a:t>P-value = 0.446 &gt; 0.05 -&gt; Fail to reject H0 -&gt; No evidence against normality (PASS)</a:t>
            </a:r>
          </a:p>
          <a:p>
            <a:pPr eaLnBrk="1" latinLnBrk="0"/>
            <a:r>
              <a:rPr lang="en-US" altLang="ja-JP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Then check the probability plot: the closer the points are to the fitted line, the better the normal fit.</a:t>
            </a:r>
          </a:p>
          <a:p>
            <a:pPr eaLnBrk="1" latinLnBrk="0"/>
            <a:r>
              <a:rPr lang="en-US" altLang="ja-JP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After that, evaluate process capability:</a:t>
            </a:r>
          </a:p>
        </p:txBody>
      </p:sp>
    </p:spTree>
    <p:extLst>
      <p:ext uri="{BB962C8B-B14F-4D97-AF65-F5344CB8AC3E}">
        <p14:creationId xmlns:p14="http://schemas.microsoft.com/office/powerpoint/2010/main" val="2019222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F89E8-DDD7-4177-BCAE-BFDA432D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574" y="877357"/>
            <a:ext cx="4483152" cy="33696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49D9FF-2F12-4865-9342-A32699A2F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23" y="878537"/>
            <a:ext cx="4416591" cy="3331207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43E9E2D-07E0-4BDA-8E12-269E0FA0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27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8D969275-7FCE-4DA4-896B-5F6B33E6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55670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BCF43FF0-638F-4D22-9E24-50CD9446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55670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4DEE4-CDEB-4C16-817D-6B1C512B108F}"/>
              </a:ext>
            </a:extLst>
          </p:cNvPr>
          <p:cNvSpPr txBox="1"/>
          <p:nvPr/>
        </p:nvSpPr>
        <p:spPr>
          <a:xfrm>
            <a:off x="3268221" y="3248848"/>
            <a:ext cx="1241743" cy="507831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txBody>
          <a:bodyPr wrap="square" rtlCol="0">
            <a:noAutofit/>
          </a:bodyPr>
          <a:lstStyle/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Z Long term = 7.65 Standard ≥  4.5</a:t>
            </a:r>
          </a:p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B63C0-BDB9-4BB1-B7CE-47513CEA8001}"/>
              </a:ext>
            </a:extLst>
          </p:cNvPr>
          <p:cNvSpPr txBox="1"/>
          <p:nvPr/>
        </p:nvSpPr>
        <p:spPr>
          <a:xfrm>
            <a:off x="8017399" y="3248847"/>
            <a:ext cx="1241743" cy="507831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txBody>
          <a:bodyPr wrap="square" rtlCol="0">
            <a:noAutofit/>
          </a:bodyPr>
          <a:lstStyle/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Z Short term = 8.29   Standard ≥  6</a:t>
            </a:r>
          </a:p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03CC85-78FB-49D7-B96C-52B4B103B707}"/>
              </a:ext>
            </a:extLst>
          </p:cNvPr>
          <p:cNvSpPr txBox="1"/>
          <p:nvPr/>
        </p:nvSpPr>
        <p:spPr>
          <a:xfrm>
            <a:off x="159127" y="4448547"/>
            <a:ext cx="4344755" cy="20004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eaLnBrk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</a:rPr>
              <a:t>  Check the Z short term (best capability of process) and the Z long term (customer’s perspective):</a:t>
            </a:r>
          </a:p>
          <a:p>
            <a:pPr eaLnBrk="1" latinLnBrk="0">
              <a:lnSpc>
                <a:spcPct val="150000"/>
              </a:lnSpc>
            </a:pPr>
            <a:endParaRPr lang="en-US" altLang="ko-KR" sz="1200" noProof="1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  <a:p>
            <a:pPr eaLnBrk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</a:rPr>
              <a:t>Zshift = Zst – Zlt = 8.29 – 7.65= 0.64 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Z shift &lt; 1.5 </a:t>
            </a:r>
          </a:p>
          <a:p>
            <a:pPr eaLnBrk="1" latinLnBrk="0">
              <a:lnSpc>
                <a:spcPct val="150000"/>
              </a:lnSpc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Proper process control 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</a:rPr>
              <a:t>management</a:t>
            </a:r>
            <a:endParaRPr lang="en-US" altLang="ko-KR" sz="1200" noProof="1">
              <a:latin typeface="LG Smart_H Regular" panose="020B0600000101010101" pitchFamily="34" charset="-127"/>
              <a:ea typeface="LG Smart_H Regular" panose="020B0600000101010101" pitchFamily="34" charset="-127"/>
              <a:sym typeface="Wingdings" pitchFamily="2" charset="2"/>
            </a:endParaRPr>
          </a:p>
          <a:p>
            <a:pPr eaLnBrk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  Z long term : 7.65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≥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 4.5, Z short term: 8.29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≥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6  </a:t>
            </a:r>
          </a:p>
          <a:p>
            <a:pPr eaLnBrk="1" latinLnBrk="0">
              <a:lnSpc>
                <a:spcPct val="150000"/>
              </a:lnSpc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Technology is OK</a:t>
            </a:r>
            <a:endParaRPr lang="en-US" altLang="ko-KR" sz="1200" noProof="1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1AC523-C770-45D1-BAAD-CA31C2D5A8E8}"/>
              </a:ext>
            </a:extLst>
          </p:cNvPr>
          <p:cNvGrpSpPr/>
          <p:nvPr/>
        </p:nvGrpSpPr>
        <p:grpSpPr>
          <a:xfrm>
            <a:off x="5277611" y="4038601"/>
            <a:ext cx="4500000" cy="2710762"/>
            <a:chOff x="5383160" y="3319792"/>
            <a:chExt cx="5061928" cy="3189588"/>
          </a:xfrm>
        </p:grpSpPr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DF669F23-0AC3-4F56-9A0B-2411DEF38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20" y="3708392"/>
              <a:ext cx="3423745" cy="213628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7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E325E004-4EBD-46E8-A128-4006A2003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72" y="3708391"/>
              <a:ext cx="8082" cy="2136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 sz="12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29F7C8D4-F09C-4737-8A79-22659B843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6455" y="4689438"/>
              <a:ext cx="3412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 sz="12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134442CB-1980-4352-98E7-E128F12A9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904" y="4528497"/>
              <a:ext cx="395745" cy="308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latinLnBrk="0">
                <a:lnSpc>
                  <a:spcPct val="11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1.5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6A8D9248-A26E-4915-8262-E9F9172EB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15" y="3319792"/>
              <a:ext cx="509306" cy="299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latinLnBrk="0"/>
              <a:r>
                <a:rPr lang="en-US" altLang="ko-KR" sz="105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Z </a:t>
              </a:r>
              <a:r>
                <a:rPr lang="en-US" altLang="ko-KR" sz="1050" b="1" baseline="-25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shift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0A57F4-3B93-43B5-9D53-5CCBFA12E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6610" y="5884462"/>
              <a:ext cx="395745" cy="308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latinLnBrk="0">
                <a:lnSpc>
                  <a:spcPct val="11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4.5</a:t>
              </a:r>
            </a:p>
          </p:txBody>
        </p:sp>
        <p:sp>
          <p:nvSpPr>
            <p:cNvPr id="37" name="Text Box 16">
              <a:extLst>
                <a:ext uri="{FF2B5EF4-FFF2-40B4-BE49-F238E27FC236}">
                  <a16:creationId xmlns:a16="http://schemas.microsoft.com/office/drawing/2014/main" id="{72B57459-49DE-460E-94B7-BCAE72DBB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3354" y="4758357"/>
              <a:ext cx="278502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C</a:t>
              </a:r>
            </a:p>
          </p:txBody>
        </p:sp>
        <p:sp>
          <p:nvSpPr>
            <p:cNvPr id="38" name="Text Box 17">
              <a:extLst>
                <a:ext uri="{FF2B5EF4-FFF2-40B4-BE49-F238E27FC236}">
                  <a16:creationId xmlns:a16="http://schemas.microsoft.com/office/drawing/2014/main" id="{3D4C8AE9-341D-470A-AB1F-69BE23C6B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3061" y="4037091"/>
              <a:ext cx="278502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A</a:t>
              </a:r>
            </a:p>
          </p:txBody>
        </p:sp>
        <p:sp>
          <p:nvSpPr>
            <p:cNvPr id="39" name="Text Box 18">
              <a:extLst>
                <a:ext uri="{FF2B5EF4-FFF2-40B4-BE49-F238E27FC236}">
                  <a16:creationId xmlns:a16="http://schemas.microsoft.com/office/drawing/2014/main" id="{104C2049-1F2F-4C40-8732-C908DC242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6767" y="4035612"/>
              <a:ext cx="280170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B</a:t>
              </a:r>
            </a:p>
          </p:txBody>
        </p:sp>
        <p:sp>
          <p:nvSpPr>
            <p:cNvPr id="40" name="Text Box 19">
              <a:extLst>
                <a:ext uri="{FF2B5EF4-FFF2-40B4-BE49-F238E27FC236}">
                  <a16:creationId xmlns:a16="http://schemas.microsoft.com/office/drawing/2014/main" id="{D55D9F2E-8DB9-49AB-9859-A655FC742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3035" y="4758357"/>
              <a:ext cx="280170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D</a:t>
              </a:r>
            </a:p>
          </p:txBody>
        </p:sp>
        <p:sp>
          <p:nvSpPr>
            <p:cNvPr id="41" name="Text Box 20">
              <a:extLst>
                <a:ext uri="{FF2B5EF4-FFF2-40B4-BE49-F238E27FC236}">
                  <a16:creationId xmlns:a16="http://schemas.microsoft.com/office/drawing/2014/main" id="{FBA9863E-9869-4537-84DF-E5058BB9D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562" y="3827720"/>
              <a:ext cx="1303327" cy="651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</a:t>
              </a:r>
              <a:r>
                <a:rPr lang="en-US" altLang="ko-KR" sz="100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of management</a:t>
              </a:r>
            </a:p>
            <a:p>
              <a:r>
                <a:rPr lang="en-US" altLang="ko-KR" sz="100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of skill</a:t>
              </a:r>
              <a:endParaRPr lang="en-US" altLang="ko-KR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2" name="Text Box 21">
              <a:extLst>
                <a:ext uri="{FF2B5EF4-FFF2-40B4-BE49-F238E27FC236}">
                  <a16:creationId xmlns:a16="http://schemas.microsoft.com/office/drawing/2014/main" id="{4E6A85B0-10C3-4A76-ADAD-E2C95236D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8444" y="5020070"/>
              <a:ext cx="1117346" cy="651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management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of skills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3" name="Text Box 22">
              <a:extLst>
                <a:ext uri="{FF2B5EF4-FFF2-40B4-BE49-F238E27FC236}">
                  <a16:creationId xmlns:a16="http://schemas.microsoft.com/office/drawing/2014/main" id="{B3A76730-7D39-4250-BA71-BD4D5C006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4079" y="3867733"/>
              <a:ext cx="1213911" cy="651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of management</a:t>
              </a:r>
            </a:p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skills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4" name="Text Box 23">
              <a:extLst>
                <a:ext uri="{FF2B5EF4-FFF2-40B4-BE49-F238E27FC236}">
                  <a16:creationId xmlns:a16="http://schemas.microsoft.com/office/drawing/2014/main" id="{05BD512F-67DF-4736-80E2-CEA1B470C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3991" y="4965073"/>
              <a:ext cx="1220446" cy="651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management</a:t>
              </a:r>
            </a:p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skills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5" name="Line 30">
              <a:extLst>
                <a:ext uri="{FF2B5EF4-FFF2-40B4-BE49-F238E27FC236}">
                  <a16:creationId xmlns:a16="http://schemas.microsoft.com/office/drawing/2014/main" id="{25B2880B-8280-4D1B-9DDF-8314019EA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6255" y="3615323"/>
              <a:ext cx="0" cy="23808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ko-KR" altLang="en-US" sz="12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6" name="Text Box 36">
              <a:extLst>
                <a:ext uri="{FF2B5EF4-FFF2-40B4-BE49-F238E27FC236}">
                  <a16:creationId xmlns:a16="http://schemas.microsoft.com/office/drawing/2014/main" id="{6DB980A6-8D3E-4595-A095-0CD813709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80282" y="4564292"/>
              <a:ext cx="1270044" cy="264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Control</a:t>
              </a:r>
            </a:p>
          </p:txBody>
        </p:sp>
        <p:sp>
          <p:nvSpPr>
            <p:cNvPr id="47" name="Rectangle 55">
              <a:extLst>
                <a:ext uri="{FF2B5EF4-FFF2-40B4-BE49-F238E27FC236}">
                  <a16:creationId xmlns:a16="http://schemas.microsoft.com/office/drawing/2014/main" id="{420C2EB9-5F53-479C-9447-39BFD0FCD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865" y="5884461"/>
              <a:ext cx="988223" cy="235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Z</a:t>
              </a:r>
              <a:r>
                <a:rPr lang="en-US" altLang="ko-KR" sz="700" b="1" baseline="-25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ST </a:t>
              </a:r>
              <a:r>
                <a:rPr lang="ko-KR" altLang="en-US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 </a:t>
              </a:r>
              <a:r>
                <a:rPr lang="en-US" altLang="ko-KR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Or Z</a:t>
              </a:r>
              <a:r>
                <a:rPr lang="en-US" altLang="ko-KR" sz="700" b="1" baseline="-25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ST</a:t>
              </a:r>
              <a:r>
                <a:rPr lang="en-US" altLang="ko-KR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(Bench)</a:t>
              </a:r>
            </a:p>
          </p:txBody>
        </p:sp>
        <p:sp>
          <p:nvSpPr>
            <p:cNvPr id="48" name="Line 31">
              <a:extLst>
                <a:ext uri="{FF2B5EF4-FFF2-40B4-BE49-F238E27FC236}">
                  <a16:creationId xmlns:a16="http://schemas.microsoft.com/office/drawing/2014/main" id="{D4DA5518-7C01-4BE4-8ABF-562CA7555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0635" y="6162459"/>
              <a:ext cx="340373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ko-KR" altLang="en-US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9" name="Text Box 34">
              <a:extLst>
                <a:ext uri="{FF2B5EF4-FFF2-40B4-BE49-F238E27FC236}">
                  <a16:creationId xmlns:a16="http://schemas.microsoft.com/office/drawing/2014/main" id="{EBDA23CD-C680-41C0-9552-B6A4B7F2B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9150" y="6183452"/>
              <a:ext cx="734112" cy="3259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Good</a:t>
              </a:r>
            </a:p>
          </p:txBody>
        </p:sp>
        <p:sp>
          <p:nvSpPr>
            <p:cNvPr id="50" name="Text Box 35">
              <a:extLst>
                <a:ext uri="{FF2B5EF4-FFF2-40B4-BE49-F238E27FC236}">
                  <a16:creationId xmlns:a16="http://schemas.microsoft.com/office/drawing/2014/main" id="{E48E283C-7CC9-426A-84F4-62FAD6411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3830" y="6146714"/>
              <a:ext cx="605367" cy="3259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Poor</a:t>
              </a:r>
            </a:p>
          </p:txBody>
        </p:sp>
        <p:sp>
          <p:nvSpPr>
            <p:cNvPr id="51" name="Text Box 37">
              <a:extLst>
                <a:ext uri="{FF2B5EF4-FFF2-40B4-BE49-F238E27FC236}">
                  <a16:creationId xmlns:a16="http://schemas.microsoft.com/office/drawing/2014/main" id="{6ACB3CF9-F1A5-40FF-94B5-AC5A9AA50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9702" y="6134470"/>
              <a:ext cx="1210735" cy="3259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Technology</a:t>
              </a:r>
            </a:p>
          </p:txBody>
        </p:sp>
      </p:grpSp>
      <p:sp>
        <p:nvSpPr>
          <p:cNvPr id="52" name="제목 1">
            <a:extLst>
              <a:ext uri="{FF2B5EF4-FFF2-40B4-BE49-F238E27FC236}">
                <a16:creationId xmlns:a16="http://schemas.microsoft.com/office/drawing/2014/main" id="{E98C66C1-2F0F-45A6-8353-A1DF3D59C563}"/>
              </a:ext>
            </a:extLst>
          </p:cNvPr>
          <p:cNvSpPr txBox="1">
            <a:spLocks/>
          </p:cNvSpPr>
          <p:nvPr/>
        </p:nvSpPr>
        <p:spPr>
          <a:xfrm>
            <a:off x="110170" y="71674"/>
            <a:ext cx="61560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4.4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Check Process Capability after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improving the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5FF74F-BA63-469A-A32E-C5426DBE5C14}"/>
              </a:ext>
            </a:extLst>
          </p:cNvPr>
          <p:cNvSpPr txBox="1"/>
          <p:nvPr/>
        </p:nvSpPr>
        <p:spPr>
          <a:xfrm>
            <a:off x="29671" y="594277"/>
            <a:ext cx="2561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1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Luminance</a:t>
            </a:r>
          </a:p>
        </p:txBody>
      </p:sp>
      <p:sp>
        <p:nvSpPr>
          <p:cNvPr id="54" name="AutoShape 57">
            <a:extLst>
              <a:ext uri="{FF2B5EF4-FFF2-40B4-BE49-F238E27FC236}">
                <a16:creationId xmlns:a16="http://schemas.microsoft.com/office/drawing/2014/main" id="{28EE689D-EE5C-4815-8EA0-F4D2FAE4A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55" name="AutoShape 56">
            <a:extLst>
              <a:ext uri="{FF2B5EF4-FFF2-40B4-BE49-F238E27FC236}">
                <a16:creationId xmlns:a16="http://schemas.microsoft.com/office/drawing/2014/main" id="{D43199DA-1E14-4253-B216-05907E75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56" name="AutoShape 58">
            <a:extLst>
              <a:ext uri="{FF2B5EF4-FFF2-40B4-BE49-F238E27FC236}">
                <a16:creationId xmlns:a16="http://schemas.microsoft.com/office/drawing/2014/main" id="{D554B8F1-71A1-49DB-BE92-80A12AEE5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B6EF7D-CDBF-45E6-A01F-F314BBB01FA9}"/>
              </a:ext>
            </a:extLst>
          </p:cNvPr>
          <p:cNvSpPr/>
          <p:nvPr/>
        </p:nvSpPr>
        <p:spPr bwMode="auto">
          <a:xfrm>
            <a:off x="8017399" y="5248557"/>
            <a:ext cx="130509" cy="137281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7" name="Added text 57"/>
          <p:cNvSpPr txBox="1"/>
          <p:nvPr/>
        </p:nvSpPr>
        <p:spPr>
          <a:xfrm>
            <a:off x="228600" y="632460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0" dirty="0">
                <a:solidFill>
                  <a:srgbClr val="000000"/>
                </a:solidFill>
                <a:latin typeface="Arial"/>
                <a:cs typeface="Arial"/>
              </a:rPr>
              <a:t>(The matrix boundary Zst = 4.5 is the minimum for good technology; the Six Sigma level Zst ≥ 6 / Zlt ≥ 4.5 is also reached.)</a:t>
            </a:r>
          </a:p>
        </p:txBody>
      </p:sp>
    </p:spTree>
    <p:extLst>
      <p:ext uri="{BB962C8B-B14F-4D97-AF65-F5344CB8AC3E}">
        <p14:creationId xmlns:p14="http://schemas.microsoft.com/office/powerpoint/2010/main" val="2828906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/>
          <p:cNvGraphicFramePr/>
          <p:nvPr/>
        </p:nvGraphicFramePr>
        <p:xfrm>
          <a:off x="5689764" y="-1221095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43E9E2D-07E0-4BDA-8E12-269E0FA0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28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8D969275-7FCE-4DA4-896B-5F6B33E6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55670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BCF43FF0-638F-4D22-9E24-50CD9446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55670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3DF1E9-4F4B-4537-85CB-35E50A4338F4}"/>
              </a:ext>
            </a:extLst>
          </p:cNvPr>
          <p:cNvSpPr txBox="1"/>
          <p:nvPr/>
        </p:nvSpPr>
        <p:spPr>
          <a:xfrm>
            <a:off x="5572865" y="5360459"/>
            <a:ext cx="3429000" cy="33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>
              <a:lnSpc>
                <a:spcPct val="150000"/>
              </a:lnSpc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Cpk = 2.39 (= CPL; USL 2000 is far from the process) (Goal ≥ 1.33; target ≥ 1.67) 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anose="05000000000000000000" pitchFamily="2" charset="2"/>
              </a:rPr>
              <a:t> Pass</a:t>
            </a:r>
            <a:endParaRPr lang="en-US" sz="1200" dirty="0">
              <a:latin typeface="LG Smart_H Regular" panose="020B0600000101010101" pitchFamily="34" charset="-127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A13D46-5B91-4121-A651-FD19FF223FEC}"/>
              </a:ext>
            </a:extLst>
          </p:cNvPr>
          <p:cNvSpPr txBox="1"/>
          <p:nvPr/>
        </p:nvSpPr>
        <p:spPr>
          <a:xfrm>
            <a:off x="307691" y="5360459"/>
            <a:ext cx="4876800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>
              <a:lnSpc>
                <a:spcPct val="150000"/>
              </a:lnSpc>
            </a:pPr>
            <a:r>
              <a:rPr sz="1000" b="0">
                <a:latin typeface="Arial"/>
              </a:rPr>
              <a:t>P-value = 0.503 &gt; 0.05 -&gt; Fail to reject H0 -&gt; No evidence against normality (PASS)</a:t>
            </a:r>
          </a:p>
          <a:p>
            <a:pPr eaLnBrk="1" latinLnBrk="0">
              <a:lnSpc>
                <a:spcPct val="150000"/>
              </a:lnSpc>
            </a:pP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/>
                <a:sym typeface="Wingdings" pitchFamily="2" charset="2"/>
              </a:rPr>
              <a:t>Data can be treated as normally distributed</a:t>
            </a:r>
            <a:r>
              <a:rPr lang="en-US" altLang="ko-KR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sym typeface="Wingdings" pitchFamily="2" charset="2"/>
              </a:rPr>
              <a:t>)</a:t>
            </a: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031A6440-6634-4103-92B8-49C3ED90C4C8}"/>
              </a:ext>
            </a:extLst>
          </p:cNvPr>
          <p:cNvSpPr txBox="1">
            <a:spLocks/>
          </p:cNvSpPr>
          <p:nvPr/>
        </p:nvSpPr>
        <p:spPr>
          <a:xfrm>
            <a:off x="110170" y="71674"/>
            <a:ext cx="61560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4.4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Check Process Capability after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improving the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674296-F9ED-4CBE-BD6B-2C6DA8CD6EBE}"/>
              </a:ext>
            </a:extLst>
          </p:cNvPr>
          <p:cNvSpPr txBox="1"/>
          <p:nvPr/>
        </p:nvSpPr>
        <p:spPr>
          <a:xfrm>
            <a:off x="29671" y="594277"/>
            <a:ext cx="2942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23" name="AutoShape 57">
            <a:extLst>
              <a:ext uri="{FF2B5EF4-FFF2-40B4-BE49-F238E27FC236}">
                <a16:creationId xmlns:a16="http://schemas.microsoft.com/office/drawing/2014/main" id="{73911B39-23F6-4CF1-B590-3BF4AF2D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6" name="AutoShape 56">
            <a:extLst>
              <a:ext uri="{FF2B5EF4-FFF2-40B4-BE49-F238E27FC236}">
                <a16:creationId xmlns:a16="http://schemas.microsoft.com/office/drawing/2014/main" id="{293DCF7A-2413-46F4-BD40-0B6E07C06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27" name="AutoShape 58">
            <a:extLst>
              <a:ext uri="{FF2B5EF4-FFF2-40B4-BE49-F238E27FC236}">
                <a16:creationId xmlns:a16="http://schemas.microsoft.com/office/drawing/2014/main" id="{DE0B4DB6-3714-4D76-943B-90338DEBD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FE2BA-22EC-4E68-8012-8DD2082BFA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781554"/>
            <a:ext cx="4937235" cy="3357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41727C-0180-47BE-980A-7240A14089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1808" y="1811242"/>
            <a:ext cx="4453192" cy="33282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DD4380-CC7A-4120-9471-60982EE3B35F}"/>
              </a:ext>
            </a:extLst>
          </p:cNvPr>
          <p:cNvSpPr/>
          <p:nvPr/>
        </p:nvSpPr>
        <p:spPr>
          <a:xfrm>
            <a:off x="83021" y="942979"/>
            <a:ext cx="30690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latinLnBrk="0" hangingPunct="0">
              <a:defRPr/>
            </a:pPr>
            <a:r>
              <a:rPr lang="en-US" altLang="ja-JP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To evaluate process capability of station 2:</a:t>
            </a:r>
          </a:p>
        </p:txBody>
      </p:sp>
      <p:sp>
        <p:nvSpPr>
          <p:cNvPr id="28" name="Added text 28"/>
          <p:cNvSpPr txBox="1"/>
          <p:nvPr/>
        </p:nvSpPr>
        <p:spPr>
          <a:xfrm>
            <a:off x="571500" y="1295400"/>
            <a:ext cx="5905500" cy="3238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Normality test (Anderson-Darling): H0: data follow a normal distribution; H1: data do NOT follow a normal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301881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66E45-431A-4EF3-A2E5-33060C66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601" y="803973"/>
            <a:ext cx="4376380" cy="326807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D6D6AB-CED2-4959-B087-729054AAA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69" y="839100"/>
            <a:ext cx="4140698" cy="3128528"/>
          </a:xfrm>
          <a:prstGeom prst="rect">
            <a:avLst/>
          </a:prstGeom>
        </p:spPr>
      </p:pic>
      <p:graphicFrame>
        <p:nvGraphicFramePr>
          <p:cNvPr id="12" name="Diagram 11"/>
          <p:cNvGraphicFramePr/>
          <p:nvPr/>
        </p:nvGraphicFramePr>
        <p:xfrm>
          <a:off x="5689764" y="-1221095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43E9E2D-07E0-4BDA-8E12-269E0FA0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29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AutoShape 55">
            <a:extLst>
              <a:ext uri="{FF2B5EF4-FFF2-40B4-BE49-F238E27FC236}">
                <a16:creationId xmlns:a16="http://schemas.microsoft.com/office/drawing/2014/main" id="{8D969275-7FCE-4DA4-896B-5F6B33E6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1997" y="155670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19" name="AutoShape 59">
            <a:extLst>
              <a:ext uri="{FF2B5EF4-FFF2-40B4-BE49-F238E27FC236}">
                <a16:creationId xmlns:a16="http://schemas.microsoft.com/office/drawing/2014/main" id="{BCF43FF0-638F-4D22-9E24-50CD9446C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447" y="155670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4DEE4-CDEB-4C16-817D-6B1C512B108F}"/>
              </a:ext>
            </a:extLst>
          </p:cNvPr>
          <p:cNvSpPr txBox="1"/>
          <p:nvPr/>
        </p:nvSpPr>
        <p:spPr>
          <a:xfrm>
            <a:off x="3276600" y="3161026"/>
            <a:ext cx="1241743" cy="507831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txBody>
          <a:bodyPr wrap="square" rtlCol="0">
            <a:noAutofit/>
          </a:bodyPr>
          <a:lstStyle/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Z Long term = 6.89</a:t>
            </a:r>
          </a:p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Standard ≥  4.5</a:t>
            </a:r>
          </a:p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B63C0-BDB9-4BB1-B7CE-47513CEA8001}"/>
              </a:ext>
            </a:extLst>
          </p:cNvPr>
          <p:cNvSpPr txBox="1"/>
          <p:nvPr/>
        </p:nvSpPr>
        <p:spPr>
          <a:xfrm>
            <a:off x="8093510" y="3044271"/>
            <a:ext cx="1241743" cy="507831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txBody>
          <a:bodyPr wrap="square" rtlCol="0">
            <a:noAutofit/>
          </a:bodyPr>
          <a:lstStyle/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Z Short term = 7.18   Standard ≥  6</a:t>
            </a:r>
          </a:p>
          <a:p>
            <a:pPr eaLnBrk="1" latinLnBrk="0"/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  <a:sym typeface="Wingdings" pitchFamily="2" charset="2"/>
              </a:rPr>
              <a:t> OK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03CC85-78FB-49D7-B96C-52B4B103B707}"/>
              </a:ext>
            </a:extLst>
          </p:cNvPr>
          <p:cNvSpPr txBox="1"/>
          <p:nvPr/>
        </p:nvSpPr>
        <p:spPr>
          <a:xfrm>
            <a:off x="222124" y="4752877"/>
            <a:ext cx="4376380" cy="11694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eaLnBrk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</a:rPr>
              <a:t>  Zshift = Zst – Zlt = 7.18 – 6.89 = 0.29 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Z shift &lt; 1.5 </a:t>
            </a:r>
          </a:p>
          <a:p>
            <a:pPr eaLnBrk="1" latinLnBrk="0">
              <a:lnSpc>
                <a:spcPct val="150000"/>
              </a:lnSpc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Proper process control 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</a:rPr>
              <a:t>management</a:t>
            </a:r>
            <a:endParaRPr lang="en-US" altLang="ko-KR" sz="1200" noProof="1">
              <a:latin typeface="LG Smart_H Regular" panose="020B0600000101010101" pitchFamily="34" charset="-127"/>
              <a:ea typeface="LG Smart_H Regular" panose="020B0600000101010101" pitchFamily="34" charset="-127"/>
              <a:sym typeface="Wingdings" pitchFamily="2" charset="2"/>
            </a:endParaRPr>
          </a:p>
          <a:p>
            <a:pPr eaLnBrk="1" latinLnBrk="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  Z short term: 7.18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≥  6</a:t>
            </a: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 , Z long term: 6.89 </a:t>
            </a:r>
            <a:r>
              <a:rPr lang="en-US" altLang="ko-KR" sz="1000" dirty="0">
                <a:latin typeface="Arial" panose="020B0600000101010101" pitchFamily="34" charset="-127"/>
                <a:ea typeface="Arial" panose="020B0600000101010101" pitchFamily="34" charset="-127"/>
                <a:cs typeface="Arial" panose="020B0604020202020204" pitchFamily="34" charset="0"/>
              </a:rPr>
              <a:t>≥ 4.5</a:t>
            </a:r>
            <a:endParaRPr lang="en-US" altLang="ko-KR" sz="1200" noProof="1">
              <a:latin typeface="LG Smart_H Regular" panose="020B0600000101010101" pitchFamily="34" charset="-127"/>
              <a:ea typeface="LG Smart_H Regular" panose="020B0600000101010101" pitchFamily="34" charset="-127"/>
              <a:sym typeface="Wingdings" pitchFamily="2" charset="2"/>
            </a:endParaRPr>
          </a:p>
          <a:p>
            <a:pPr eaLnBrk="1" latinLnBrk="0">
              <a:lnSpc>
                <a:spcPct val="150000"/>
              </a:lnSpc>
            </a:pPr>
            <a:r>
              <a:rPr lang="en-US" altLang="ko-KR" sz="1000" noProof="1">
                <a:latin typeface="Arial" panose="020B0600000101010101" pitchFamily="34" charset="-127"/>
                <a:ea typeface="Arial" panose="020B0600000101010101" pitchFamily="34" charset="-127"/>
                <a:sym typeface="Wingdings" pitchFamily="2" charset="2"/>
              </a:rPr>
              <a:t> Technology is OK</a:t>
            </a:r>
            <a:endParaRPr lang="en-US" altLang="ko-KR" sz="1200" noProof="1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1AC523-C770-45D1-BAAD-CA31C2D5A8E8}"/>
              </a:ext>
            </a:extLst>
          </p:cNvPr>
          <p:cNvGrpSpPr/>
          <p:nvPr/>
        </p:nvGrpSpPr>
        <p:grpSpPr>
          <a:xfrm>
            <a:off x="5277611" y="4038601"/>
            <a:ext cx="4500000" cy="2710762"/>
            <a:chOff x="5383160" y="3319792"/>
            <a:chExt cx="5061928" cy="3189588"/>
          </a:xfrm>
        </p:grpSpPr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DF669F23-0AC3-4F56-9A0B-2411DEF38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20" y="3708392"/>
              <a:ext cx="3423745" cy="213628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ko-KR" altLang="en-US" sz="7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E325E004-4EBD-46E8-A128-4006A2003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72" y="3708391"/>
              <a:ext cx="8082" cy="2136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 sz="12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29F7C8D4-F09C-4737-8A79-22659B843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6455" y="4689438"/>
              <a:ext cx="3412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 sz="12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134442CB-1980-4352-98E7-E128F12A9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904" y="4528497"/>
              <a:ext cx="395745" cy="308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latinLnBrk="0">
                <a:lnSpc>
                  <a:spcPct val="11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1.5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6A8D9248-A26E-4915-8262-E9F9172EB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15" y="3319792"/>
              <a:ext cx="509306" cy="299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latinLnBrk="0"/>
              <a:r>
                <a:rPr lang="en-US" altLang="ko-KR" sz="105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Z </a:t>
              </a:r>
              <a:r>
                <a:rPr lang="en-US" altLang="ko-KR" sz="1050" b="1" baseline="-25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shift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0A57F4-3B93-43B5-9D53-5CCBFA12E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6610" y="5884462"/>
              <a:ext cx="395745" cy="308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latinLnBrk="0">
                <a:lnSpc>
                  <a:spcPct val="11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4.5</a:t>
              </a:r>
            </a:p>
          </p:txBody>
        </p:sp>
        <p:sp>
          <p:nvSpPr>
            <p:cNvPr id="37" name="Text Box 16">
              <a:extLst>
                <a:ext uri="{FF2B5EF4-FFF2-40B4-BE49-F238E27FC236}">
                  <a16:creationId xmlns:a16="http://schemas.microsoft.com/office/drawing/2014/main" id="{72B57459-49DE-460E-94B7-BCAE72DBB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3354" y="4758357"/>
              <a:ext cx="278502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C</a:t>
              </a:r>
            </a:p>
          </p:txBody>
        </p:sp>
        <p:sp>
          <p:nvSpPr>
            <p:cNvPr id="38" name="Text Box 17">
              <a:extLst>
                <a:ext uri="{FF2B5EF4-FFF2-40B4-BE49-F238E27FC236}">
                  <a16:creationId xmlns:a16="http://schemas.microsoft.com/office/drawing/2014/main" id="{3D4C8AE9-341D-470A-AB1F-69BE23C6B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3061" y="4037091"/>
              <a:ext cx="278502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A</a:t>
              </a:r>
            </a:p>
          </p:txBody>
        </p:sp>
        <p:sp>
          <p:nvSpPr>
            <p:cNvPr id="39" name="Text Box 18">
              <a:extLst>
                <a:ext uri="{FF2B5EF4-FFF2-40B4-BE49-F238E27FC236}">
                  <a16:creationId xmlns:a16="http://schemas.microsoft.com/office/drawing/2014/main" id="{104C2049-1F2F-4C40-8732-C908DC242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6767" y="4035612"/>
              <a:ext cx="280170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B</a:t>
              </a:r>
            </a:p>
          </p:txBody>
        </p:sp>
        <p:sp>
          <p:nvSpPr>
            <p:cNvPr id="40" name="Text Box 19">
              <a:extLst>
                <a:ext uri="{FF2B5EF4-FFF2-40B4-BE49-F238E27FC236}">
                  <a16:creationId xmlns:a16="http://schemas.microsoft.com/office/drawing/2014/main" id="{D55D9F2E-8DB9-49AB-9859-A655FC7420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3035" y="4758357"/>
              <a:ext cx="280170" cy="325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D</a:t>
              </a:r>
            </a:p>
          </p:txBody>
        </p:sp>
        <p:sp>
          <p:nvSpPr>
            <p:cNvPr id="41" name="Text Box 20">
              <a:extLst>
                <a:ext uri="{FF2B5EF4-FFF2-40B4-BE49-F238E27FC236}">
                  <a16:creationId xmlns:a16="http://schemas.microsoft.com/office/drawing/2014/main" id="{FBA9863E-9869-4537-84DF-E5058BB9D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562" y="3827720"/>
              <a:ext cx="1303327" cy="651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</a:t>
              </a:r>
              <a:r>
                <a:rPr lang="en-US" altLang="ko-KR" sz="100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of management</a:t>
              </a:r>
            </a:p>
            <a:p>
              <a:r>
                <a:rPr lang="en-US" altLang="ko-KR" sz="100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of skill</a:t>
              </a:r>
              <a:endParaRPr lang="en-US" altLang="ko-KR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2" name="Text Box 21">
              <a:extLst>
                <a:ext uri="{FF2B5EF4-FFF2-40B4-BE49-F238E27FC236}">
                  <a16:creationId xmlns:a16="http://schemas.microsoft.com/office/drawing/2014/main" id="{4E6A85B0-10C3-4A76-ADAD-E2C95236D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8444" y="5020070"/>
              <a:ext cx="1117346" cy="651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management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of skills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3" name="Text Box 22">
              <a:extLst>
                <a:ext uri="{FF2B5EF4-FFF2-40B4-BE49-F238E27FC236}">
                  <a16:creationId xmlns:a16="http://schemas.microsoft.com/office/drawing/2014/main" id="{B3A76730-7D39-4250-BA71-BD4D5C006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4079" y="3867733"/>
              <a:ext cx="1213911" cy="651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Lack of management</a:t>
              </a:r>
            </a:p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skills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4" name="Text Box 23">
              <a:extLst>
                <a:ext uri="{FF2B5EF4-FFF2-40B4-BE49-F238E27FC236}">
                  <a16:creationId xmlns:a16="http://schemas.microsoft.com/office/drawing/2014/main" id="{05BD512F-67DF-4736-80E2-CEA1B470C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3991" y="4965073"/>
              <a:ext cx="1220446" cy="6518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management</a:t>
              </a:r>
            </a:p>
            <a:p>
              <a:r>
                <a:rPr lang="en-US" altLang="ko-KR" sz="1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Proper skills</a:t>
              </a:r>
              <a:endParaRPr lang="ko-KR" altLang="en-US" sz="1000" dirty="0">
                <a:solidFill>
                  <a:srgbClr val="000000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5" name="Line 30">
              <a:extLst>
                <a:ext uri="{FF2B5EF4-FFF2-40B4-BE49-F238E27FC236}">
                  <a16:creationId xmlns:a16="http://schemas.microsoft.com/office/drawing/2014/main" id="{25B2880B-8280-4D1B-9DDF-8314019EA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6255" y="3615323"/>
              <a:ext cx="0" cy="23808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ko-KR" altLang="en-US" sz="1200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6" name="Text Box 36">
              <a:extLst>
                <a:ext uri="{FF2B5EF4-FFF2-40B4-BE49-F238E27FC236}">
                  <a16:creationId xmlns:a16="http://schemas.microsoft.com/office/drawing/2014/main" id="{6DB980A6-8D3E-4595-A095-0CD813709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880282" y="4564292"/>
              <a:ext cx="1270044" cy="264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Control</a:t>
              </a:r>
            </a:p>
          </p:txBody>
        </p:sp>
        <p:sp>
          <p:nvSpPr>
            <p:cNvPr id="47" name="Rectangle 55">
              <a:extLst>
                <a:ext uri="{FF2B5EF4-FFF2-40B4-BE49-F238E27FC236}">
                  <a16:creationId xmlns:a16="http://schemas.microsoft.com/office/drawing/2014/main" id="{420C2EB9-5F53-479C-9447-39BFD0FCD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865" y="5884461"/>
              <a:ext cx="988223" cy="235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Z</a:t>
              </a:r>
              <a:r>
                <a:rPr lang="en-US" altLang="ko-KR" sz="700" b="1" baseline="-25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ST </a:t>
              </a:r>
              <a:r>
                <a:rPr lang="ko-KR" altLang="en-US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 </a:t>
              </a:r>
              <a:r>
                <a:rPr lang="en-US" altLang="ko-KR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Or Z</a:t>
              </a:r>
              <a:r>
                <a:rPr lang="en-US" altLang="ko-KR" sz="700" b="1" baseline="-250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ST</a:t>
              </a:r>
              <a:r>
                <a:rPr lang="en-US" altLang="ko-KR" sz="7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(Bench)</a:t>
              </a:r>
            </a:p>
          </p:txBody>
        </p:sp>
        <p:sp>
          <p:nvSpPr>
            <p:cNvPr id="48" name="Line 31">
              <a:extLst>
                <a:ext uri="{FF2B5EF4-FFF2-40B4-BE49-F238E27FC236}">
                  <a16:creationId xmlns:a16="http://schemas.microsoft.com/office/drawing/2014/main" id="{D4DA5518-7C01-4BE4-8ABF-562CA7555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0635" y="6162459"/>
              <a:ext cx="340373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ko-KR" altLang="en-US" dirty="0">
                <a:solidFill>
                  <a:prstClr val="black"/>
                </a:solidFill>
                <a:latin typeface="LG Smart_H Regular" panose="020B0600000101010101" pitchFamily="34" charset="-127"/>
                <a:ea typeface="LG Smart_H Regular" panose="020B0600000101010101" pitchFamily="34" charset="-127"/>
                <a:cs typeface="Arial Unicode MS" panose="020B0604020202020204" pitchFamily="34" charset="-128"/>
              </a:endParaRPr>
            </a:p>
          </p:txBody>
        </p:sp>
        <p:sp>
          <p:nvSpPr>
            <p:cNvPr id="49" name="Text Box 34">
              <a:extLst>
                <a:ext uri="{FF2B5EF4-FFF2-40B4-BE49-F238E27FC236}">
                  <a16:creationId xmlns:a16="http://schemas.microsoft.com/office/drawing/2014/main" id="{EBDA23CD-C680-41C0-9552-B6A4B7F2B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9150" y="6183452"/>
              <a:ext cx="734112" cy="3259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Good</a:t>
              </a:r>
            </a:p>
          </p:txBody>
        </p:sp>
        <p:sp>
          <p:nvSpPr>
            <p:cNvPr id="50" name="Text Box 35">
              <a:extLst>
                <a:ext uri="{FF2B5EF4-FFF2-40B4-BE49-F238E27FC236}">
                  <a16:creationId xmlns:a16="http://schemas.microsoft.com/office/drawing/2014/main" id="{E48E283C-7CC9-426A-84F4-62FAD6411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3830" y="6146714"/>
              <a:ext cx="605367" cy="3259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Poor</a:t>
              </a:r>
            </a:p>
          </p:txBody>
        </p:sp>
        <p:sp>
          <p:nvSpPr>
            <p:cNvPr id="51" name="Text Box 37">
              <a:extLst>
                <a:ext uri="{FF2B5EF4-FFF2-40B4-BE49-F238E27FC236}">
                  <a16:creationId xmlns:a16="http://schemas.microsoft.com/office/drawing/2014/main" id="{6ACB3CF9-F1A5-40FF-94B5-AC5A9AA50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9702" y="6134470"/>
              <a:ext cx="1210735" cy="3259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0000101010101" pitchFamily="34" charset="-127"/>
                  <a:ea typeface="Arial" panose="020B0600000101010101" pitchFamily="34" charset="-127"/>
                  <a:cs typeface="Arial Unicode MS" panose="020B0604020202020204" pitchFamily="34" charset="-128"/>
                </a:rPr>
                <a:t>Technology</a:t>
              </a:r>
            </a:p>
          </p:txBody>
        </p:sp>
      </p:grpSp>
      <p:sp>
        <p:nvSpPr>
          <p:cNvPr id="54" name="제목 1">
            <a:extLst>
              <a:ext uri="{FF2B5EF4-FFF2-40B4-BE49-F238E27FC236}">
                <a16:creationId xmlns:a16="http://schemas.microsoft.com/office/drawing/2014/main" id="{C1E39F43-4212-4D85-A402-9DA4EED98FCF}"/>
              </a:ext>
            </a:extLst>
          </p:cNvPr>
          <p:cNvSpPr txBox="1">
            <a:spLocks/>
          </p:cNvSpPr>
          <p:nvPr/>
        </p:nvSpPr>
        <p:spPr>
          <a:xfrm>
            <a:off x="110170" y="71674"/>
            <a:ext cx="61560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4.4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Check Process Capability after</a:t>
            </a:r>
            <a:r>
              <a:rPr kumimoji="1" lang="en-US" altLang="ko-KR" sz="16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improving the measurement system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D96AB4-12A2-4255-A061-D35744AE3B8D}"/>
              </a:ext>
            </a:extLst>
          </p:cNvPr>
          <p:cNvSpPr txBox="1"/>
          <p:nvPr/>
        </p:nvSpPr>
        <p:spPr>
          <a:xfrm>
            <a:off x="29671" y="594277"/>
            <a:ext cx="2637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vi-VN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Station </a:t>
            </a: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2 Luminance</a:t>
            </a:r>
          </a:p>
        </p:txBody>
      </p:sp>
      <p:sp>
        <p:nvSpPr>
          <p:cNvPr id="52" name="AutoShape 57">
            <a:extLst>
              <a:ext uri="{FF2B5EF4-FFF2-40B4-BE49-F238E27FC236}">
                <a16:creationId xmlns:a16="http://schemas.microsoft.com/office/drawing/2014/main" id="{508EC12D-F11B-4FFB-88DA-39948A1A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914" y="178989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53" name="AutoShape 56">
            <a:extLst>
              <a:ext uri="{FF2B5EF4-FFF2-40B4-BE49-F238E27FC236}">
                <a16:creationId xmlns:a16="http://schemas.microsoft.com/office/drawing/2014/main" id="{F95FD074-5AF2-4416-AFCF-7A5073F4B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783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</a:t>
            </a:r>
          </a:p>
        </p:txBody>
      </p:sp>
      <p:sp>
        <p:nvSpPr>
          <p:cNvPr id="56" name="AutoShape 58">
            <a:extLst>
              <a:ext uri="{FF2B5EF4-FFF2-40B4-BE49-F238E27FC236}">
                <a16:creationId xmlns:a16="http://schemas.microsoft.com/office/drawing/2014/main" id="{F6CA6BFA-4510-4DAD-83FD-90AD22316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852" y="51592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E8DCBC3-A95D-4092-B08D-A31121EC3FF1}"/>
              </a:ext>
            </a:extLst>
          </p:cNvPr>
          <p:cNvSpPr/>
          <p:nvPr/>
        </p:nvSpPr>
        <p:spPr bwMode="auto">
          <a:xfrm>
            <a:off x="7997309" y="5292918"/>
            <a:ext cx="130509" cy="137281"/>
          </a:xfrm>
          <a:prstGeom prst="ellipse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58" name="Added text 58"/>
          <p:cNvSpPr txBox="1"/>
          <p:nvPr/>
        </p:nvSpPr>
        <p:spPr>
          <a:xfrm>
            <a:off x="228600" y="632460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0" dirty="0">
                <a:solidFill>
                  <a:srgbClr val="000000"/>
                </a:solidFill>
                <a:latin typeface="Arial"/>
                <a:cs typeface="Arial"/>
              </a:rPr>
              <a:t>(The matrix boundary Zst = 4.5 is the minimum for good technology; the Six Sigma level Zst ≥ 6 / Zlt ≥ 4.5 is also reached.)</a:t>
            </a:r>
          </a:p>
        </p:txBody>
      </p:sp>
    </p:spTree>
    <p:extLst>
      <p:ext uri="{BB962C8B-B14F-4D97-AF65-F5344CB8AC3E}">
        <p14:creationId xmlns:p14="http://schemas.microsoft.com/office/powerpoint/2010/main" val="3788297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B8DA67-8CAF-45C2-B88E-D3D992BF9940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AAF66B0A-7BB0-4BF6-8480-63191185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30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32" name="AutoShape 55">
            <a:extLst>
              <a:ext uri="{FF2B5EF4-FFF2-40B4-BE49-F238E27FC236}">
                <a16:creationId xmlns:a16="http://schemas.microsoft.com/office/drawing/2014/main" id="{192872DD-0F6D-41C2-83BA-E80AF9901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039" y="178989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35" name="AutoShape 59">
            <a:extLst>
              <a:ext uri="{FF2B5EF4-FFF2-40B4-BE49-F238E27FC236}">
                <a16:creationId xmlns:a16="http://schemas.microsoft.com/office/drawing/2014/main" id="{89F6BFB0-96B2-4FA3-ABFE-85257141B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489" y="178989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 dirty="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3E2CD205-658C-4605-9774-0129D43DEF0F}"/>
              </a:ext>
            </a:extLst>
          </p:cNvPr>
          <p:cNvSpPr txBox="1">
            <a:spLocks/>
          </p:cNvSpPr>
          <p:nvPr/>
        </p:nvSpPr>
        <p:spPr>
          <a:xfrm>
            <a:off x="110170" y="71674"/>
            <a:ext cx="3114638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 noProof="0" dirty="0"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4.5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Conclusion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B45B73-A320-43DB-85F3-C32E2B96BB81}"/>
              </a:ext>
            </a:extLst>
          </p:cNvPr>
          <p:cNvSpPr txBox="1"/>
          <p:nvPr/>
        </p:nvSpPr>
        <p:spPr>
          <a:xfrm>
            <a:off x="94266" y="836712"/>
            <a:ext cx="9717468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 eaLnBrk="1" latinLnBrk="0">
              <a:spcBef>
                <a:spcPct val="20000"/>
              </a:spcBef>
              <a:buFontTx/>
              <a:buChar char="-"/>
            </a:pPr>
            <a:r>
              <a:rPr sz="1000" b="0">
                <a:latin typeface="Arial"/>
              </a:rPr>
              <a:t>After evaluation, we confirmed that the measurement system at Station 2 had significant problems during testing (while Station 1 was normal). We proved that camera angle misalignment was the root cause of the Luminance NG defect.</a:t>
            </a:r>
          </a:p>
          <a:p>
            <a:pPr algn="just" eaLnBrk="1" latinLnBrk="0">
              <a:spcBef>
                <a:spcPct val="20000"/>
              </a:spcBef>
            </a:pP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 eaLnBrk="1" latinLnBrk="0">
              <a:spcBef>
                <a:spcPct val="20000"/>
              </a:spcBef>
              <a:buFont typeface="Wingdings" panose="05000000000000000000" pitchFamily="2" charset="2"/>
              <a:buChar char="à"/>
            </a:pPr>
            <a:r>
              <a:rPr sz="1000" b="0">
                <a:latin typeface="Arial"/>
              </a:rPr>
              <a:t>We improved the measurement system by correcting the camera angle to 90.0°. We then verified stability and capability using Type 1 Study, Type 3 Gage R&amp;R, Xbar-R control charts, and Process Capability analysis for both stations.</a:t>
            </a:r>
          </a:p>
          <a:p>
            <a:pPr algn="just" eaLnBrk="1" latinLnBrk="0">
              <a:spcBef>
                <a:spcPct val="20000"/>
              </a:spcBef>
            </a:pPr>
            <a:endParaRPr lang="en-US" altLang="ko-K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 eaLnBrk="1" latinLnBrk="0">
              <a:spcBef>
                <a:spcPct val="20000"/>
              </a:spcBef>
              <a:buFont typeface="Wingdings" panose="05000000000000000000" pitchFamily="2" charset="2"/>
              <a:buChar char="à"/>
            </a:pPr>
            <a:r>
              <a:rPr sz="1000" b="1">
                <a:latin typeface="Arial"/>
              </a:rPr>
              <a:t>The results demonstrate that both measurement systems achieve high repeatability and no significant bias (Type 1: Cg/Cgk ≥ 1.33; Type 3: %Study Var &lt; 10% and %Contribution &lt; 1%), and the process measured at both stations shows excellent capability (Cpk &gt; 2.0). Result vs goal: Luminance defect rate 226,624 ppm → 0 ppm (0 NG / 420 units after improvement; 95% upper confidence bound ≈ 7,100 ppm, still &gt; 96% below the baseline).</a:t>
            </a:r>
          </a:p>
        </p:txBody>
      </p:sp>
      <p:sp>
        <p:nvSpPr>
          <p:cNvPr id="11" name="AutoShape 57">
            <a:extLst>
              <a:ext uri="{FF2B5EF4-FFF2-40B4-BE49-F238E27FC236}">
                <a16:creationId xmlns:a16="http://schemas.microsoft.com/office/drawing/2014/main" id="{48FAC05E-800B-4E1A-9771-36BFD9957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7634" y="172287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" panose="020B0503020000020004" pitchFamily="50" charset="-127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12" name="AutoShape 58">
            <a:extLst>
              <a:ext uri="{FF2B5EF4-FFF2-40B4-BE49-F238E27FC236}">
                <a16:creationId xmlns:a16="http://schemas.microsoft.com/office/drawing/2014/main" id="{39ACC0DB-2BA4-4515-9475-B37010C8E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121" y="172287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" panose="020B0503020000020004" pitchFamily="50" charset="-127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13" name="AutoShape 56">
            <a:extLst>
              <a:ext uri="{FF2B5EF4-FFF2-40B4-BE49-F238E27FC236}">
                <a16:creationId xmlns:a16="http://schemas.microsoft.com/office/drawing/2014/main" id="{841C5A25-FB18-4642-856C-7D543A29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9784" y="46875"/>
            <a:ext cx="747712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" panose="020B0503020000020004" pitchFamily="50" charset="-127"/>
                <a:ea typeface="Arial" panose="020B0503020000020004" pitchFamily="50" charset="-127"/>
              </a:rPr>
              <a:t>Improve</a:t>
            </a:r>
          </a:p>
        </p:txBody>
      </p:sp>
    </p:spTree>
    <p:extLst>
      <p:ext uri="{BB962C8B-B14F-4D97-AF65-F5344CB8AC3E}">
        <p14:creationId xmlns:p14="http://schemas.microsoft.com/office/powerpoint/2010/main" val="4119998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95669-0061-481C-8A59-6F10B434F1A6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C0924D8-04C2-4968-8836-DD278588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31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9" name="AutoShape 57">
            <a:extLst>
              <a:ext uri="{FF2B5EF4-FFF2-40B4-BE49-F238E27FC236}">
                <a16:creationId xmlns:a16="http://schemas.microsoft.com/office/drawing/2014/main" id="{F7C0E09A-DB4D-43E6-B3CE-37B23F71A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606" y="173344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0" name="AutoShape 58">
            <a:extLst>
              <a:ext uri="{FF2B5EF4-FFF2-40B4-BE49-F238E27FC236}">
                <a16:creationId xmlns:a16="http://schemas.microsoft.com/office/drawing/2014/main" id="{1CB20489-F538-4606-ADFB-86DC1648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094" y="173344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21" name="AutoShape 59">
            <a:extLst>
              <a:ext uri="{FF2B5EF4-FFF2-40B4-BE49-F238E27FC236}">
                <a16:creationId xmlns:a16="http://schemas.microsoft.com/office/drawing/2014/main" id="{34CE5EF4-26DB-49D7-BEFE-A27DCC69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81" y="173344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2" name="AutoShape 56">
            <a:extLst>
              <a:ext uri="{FF2B5EF4-FFF2-40B4-BE49-F238E27FC236}">
                <a16:creationId xmlns:a16="http://schemas.microsoft.com/office/drawing/2014/main" id="{25B21E42-9EA3-4D7E-8A2E-55F98358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756" y="173344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3" name="AutoShape 55">
            <a:extLst>
              <a:ext uri="{FF2B5EF4-FFF2-40B4-BE49-F238E27FC236}">
                <a16:creationId xmlns:a16="http://schemas.microsoft.com/office/drawing/2014/main" id="{D709B8E8-5B31-4366-ACEB-10939335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731" y="57457"/>
            <a:ext cx="747713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B0FBA-9900-427C-A2C3-53ABF38E2FB5}"/>
              </a:ext>
            </a:extLst>
          </p:cNvPr>
          <p:cNvSpPr txBox="1"/>
          <p:nvPr/>
        </p:nvSpPr>
        <p:spPr>
          <a:xfrm>
            <a:off x="70509" y="117554"/>
            <a:ext cx="5170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5</a:t>
            </a:r>
            <a:r>
              <a:rPr lang="vi-VN" altLang="ko-KR" sz="1600" b="1" dirty="0">
                <a:latin typeface="Arial" panose="020B0606020202030204" pitchFamily="34" charset="0"/>
                <a:ea typeface="LG Smart_H Regular" pitchFamily="34" charset="-127"/>
              </a:rPr>
              <a:t>.</a:t>
            </a:r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1</a:t>
            </a:r>
            <a:r>
              <a:rPr lang="vi-VN" altLang="ko-KR" sz="1600" b="1" dirty="0">
                <a:latin typeface="Arial" panose="020B0606020202030204" pitchFamily="34" charset="0"/>
                <a:ea typeface="LG Smart_H Regular" pitchFamily="34" charset="-127"/>
              </a:rPr>
              <a:t> </a:t>
            </a:r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Result of project</a:t>
            </a:r>
            <a:endParaRPr lang="vi-VN" altLang="ko-KR" sz="1600" b="1" dirty="0">
              <a:ea typeface="LG Smart_H Regular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63CB9-F03A-4B55-82AC-AAB2E2DAE0B5}"/>
              </a:ext>
            </a:extLst>
          </p:cNvPr>
          <p:cNvSpPr txBox="1"/>
          <p:nvPr/>
        </p:nvSpPr>
        <p:spPr>
          <a:xfrm>
            <a:off x="70509" y="651485"/>
            <a:ext cx="583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Summary: Luminance defect rate of J1 Dual model before / after improvement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D0EBF9-1057-4CB9-9589-B88CACBE8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55247"/>
              </p:ext>
            </p:extLst>
          </p:nvPr>
        </p:nvGraphicFramePr>
        <p:xfrm>
          <a:off x="1219199" y="5271354"/>
          <a:ext cx="6629401" cy="952500"/>
        </p:xfrm>
        <a:graphic>
          <a:graphicData uri="http://schemas.openxmlformats.org/drawingml/2006/table">
            <a:tbl>
              <a:tblPr/>
              <a:tblGrid>
                <a:gridCol w="1132469">
                  <a:extLst>
                    <a:ext uri="{9D8B030D-6E8A-4147-A177-3AD203B41FA5}">
                      <a16:colId xmlns:a16="http://schemas.microsoft.com/office/drawing/2014/main" val="2004553203"/>
                    </a:ext>
                  </a:extLst>
                </a:gridCol>
                <a:gridCol w="782549">
                  <a:extLst>
                    <a:ext uri="{9D8B030D-6E8A-4147-A177-3AD203B41FA5}">
                      <a16:colId xmlns:a16="http://schemas.microsoft.com/office/drawing/2014/main" val="4232704115"/>
                    </a:ext>
                  </a:extLst>
                </a:gridCol>
                <a:gridCol w="801636">
                  <a:extLst>
                    <a:ext uri="{9D8B030D-6E8A-4147-A177-3AD203B41FA5}">
                      <a16:colId xmlns:a16="http://schemas.microsoft.com/office/drawing/2014/main" val="654927867"/>
                    </a:ext>
                  </a:extLst>
                </a:gridCol>
                <a:gridCol w="801636">
                  <a:extLst>
                    <a:ext uri="{9D8B030D-6E8A-4147-A177-3AD203B41FA5}">
                      <a16:colId xmlns:a16="http://schemas.microsoft.com/office/drawing/2014/main" val="3292068108"/>
                    </a:ext>
                  </a:extLst>
                </a:gridCol>
                <a:gridCol w="801636">
                  <a:extLst>
                    <a:ext uri="{9D8B030D-6E8A-4147-A177-3AD203B41FA5}">
                      <a16:colId xmlns:a16="http://schemas.microsoft.com/office/drawing/2014/main" val="741631198"/>
                    </a:ext>
                  </a:extLst>
                </a:gridCol>
                <a:gridCol w="763463">
                  <a:extLst>
                    <a:ext uri="{9D8B030D-6E8A-4147-A177-3AD203B41FA5}">
                      <a16:colId xmlns:a16="http://schemas.microsoft.com/office/drawing/2014/main" val="3339929106"/>
                    </a:ext>
                  </a:extLst>
                </a:gridCol>
                <a:gridCol w="782549">
                  <a:extLst>
                    <a:ext uri="{9D8B030D-6E8A-4147-A177-3AD203B41FA5}">
                      <a16:colId xmlns:a16="http://schemas.microsoft.com/office/drawing/2014/main" val="648464248"/>
                    </a:ext>
                  </a:extLst>
                </a:gridCol>
                <a:gridCol w="763463">
                  <a:extLst>
                    <a:ext uri="{9D8B030D-6E8A-4147-A177-3AD203B41FA5}">
                      <a16:colId xmlns:a16="http://schemas.microsoft.com/office/drawing/2014/main" val="424936667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eaLnBrk="1" fontAlgn="b" latinLnBrk="0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Before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eaLnBrk="1" fontAlgn="b" latinLnBrk="0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After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eaLnBrk="1" latinLnBrk="0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4857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16.Nov.2025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2.Jan.2026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23.Feb.2026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1.Mar.2026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15.Jul.2026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21.Aug.2026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eaLnBrk="1" latinLnBrk="0"/>
                      <a:r>
                        <a:rPr sz="1000">
                          <a:latin typeface="Arial"/>
                        </a:rPr>
                        <a:t>20.Sep.2026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898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Total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2995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Prod Q'ty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3534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Defect rate (ppm)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65000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66666.67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383333.33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422535.21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F0502020204030204" pitchFamily="34" charset="0"/>
                          <a:ea typeface="Arial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24561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0EEBF16-A037-4D15-A91C-137FDDA65F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871288"/>
              </p:ext>
            </p:extLst>
          </p:nvPr>
        </p:nvGraphicFramePr>
        <p:xfrm>
          <a:off x="1847713" y="1228913"/>
          <a:ext cx="5838825" cy="370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Added text 24"/>
          <p:cNvSpPr txBox="1"/>
          <p:nvPr/>
        </p:nvSpPr>
        <p:spPr>
          <a:xfrm>
            <a:off x="1219200" y="6305550"/>
            <a:ext cx="6629400" cy="285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0" dirty="0">
                <a:solidFill>
                  <a:srgbClr val="000000"/>
                </a:solidFill>
                <a:latin typeface="Arial"/>
                <a:cs typeface="Arial"/>
              </a:rPr>
              <a:t>After improvement: 0 NG / 420 sets → 95% upper confidence bound ≈ 7,100 ppm (3/420), still &gt; 96% below the 226,624 ppm baseline. Fisher's exact test, 143/631 before vs 0/420 after: p &lt; 0.001.</a:t>
            </a:r>
          </a:p>
        </p:txBody>
      </p:sp>
    </p:spTree>
    <p:extLst>
      <p:ext uri="{BB962C8B-B14F-4D97-AF65-F5344CB8AC3E}">
        <p14:creationId xmlns:p14="http://schemas.microsoft.com/office/powerpoint/2010/main" val="3223371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95669-0061-481C-8A59-6F10B434F1A6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C0924D8-04C2-4968-8836-DD278588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32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9" name="AutoShape 57">
            <a:extLst>
              <a:ext uri="{FF2B5EF4-FFF2-40B4-BE49-F238E27FC236}">
                <a16:creationId xmlns:a16="http://schemas.microsoft.com/office/drawing/2014/main" id="{F7C0E09A-DB4D-43E6-B3CE-37B23F71A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606" y="173344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0" name="AutoShape 58">
            <a:extLst>
              <a:ext uri="{FF2B5EF4-FFF2-40B4-BE49-F238E27FC236}">
                <a16:creationId xmlns:a16="http://schemas.microsoft.com/office/drawing/2014/main" id="{1CB20489-F538-4606-ADFB-86DC1648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094" y="173344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21" name="AutoShape 59">
            <a:extLst>
              <a:ext uri="{FF2B5EF4-FFF2-40B4-BE49-F238E27FC236}">
                <a16:creationId xmlns:a16="http://schemas.microsoft.com/office/drawing/2014/main" id="{34CE5EF4-26DB-49D7-BEFE-A27DCC69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81" y="173344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2" name="AutoShape 56">
            <a:extLst>
              <a:ext uri="{FF2B5EF4-FFF2-40B4-BE49-F238E27FC236}">
                <a16:creationId xmlns:a16="http://schemas.microsoft.com/office/drawing/2014/main" id="{25B21E42-9EA3-4D7E-8A2E-55F98358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756" y="173344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3" name="AutoShape 55">
            <a:extLst>
              <a:ext uri="{FF2B5EF4-FFF2-40B4-BE49-F238E27FC236}">
                <a16:creationId xmlns:a16="http://schemas.microsoft.com/office/drawing/2014/main" id="{D709B8E8-5B31-4366-ACEB-10939335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731" y="57457"/>
            <a:ext cx="747713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B0FBA-9900-427C-A2C3-53ABF38E2FB5}"/>
              </a:ext>
            </a:extLst>
          </p:cNvPr>
          <p:cNvSpPr txBox="1"/>
          <p:nvPr/>
        </p:nvSpPr>
        <p:spPr>
          <a:xfrm>
            <a:off x="70509" y="117554"/>
            <a:ext cx="5170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5</a:t>
            </a:r>
            <a:r>
              <a:rPr lang="vi-VN" altLang="ko-KR" sz="1600" b="1" dirty="0">
                <a:latin typeface="Arial" panose="020B0606020202030204" pitchFamily="34" charset="0"/>
                <a:ea typeface="LG Smart_H Regular" pitchFamily="34" charset="-127"/>
              </a:rPr>
              <a:t>.</a:t>
            </a:r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2</a:t>
            </a:r>
            <a:r>
              <a:rPr lang="vi-VN" altLang="ko-KR" sz="1600" b="1" dirty="0">
                <a:latin typeface="Arial" panose="020B0606020202030204" pitchFamily="34" charset="0"/>
                <a:ea typeface="LG Smart_H Regular" pitchFamily="34" charset="-127"/>
              </a:rPr>
              <a:t> </a:t>
            </a:r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Control plan (Future plan)</a:t>
            </a:r>
            <a:endParaRPr lang="vi-VN" altLang="ko-KR" sz="1600" b="1" dirty="0">
              <a:ea typeface="LG Smart_H Regular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63CB9-F03A-4B55-82AC-AAB2E2DAE0B5}"/>
              </a:ext>
            </a:extLst>
          </p:cNvPr>
          <p:cNvSpPr txBox="1"/>
          <p:nvPr/>
        </p:nvSpPr>
        <p:spPr>
          <a:xfrm>
            <a:off x="70509" y="651485"/>
            <a:ext cx="503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Management plan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938115-D6E4-4142-920C-CD47680F7AF5}"/>
              </a:ext>
            </a:extLst>
          </p:cNvPr>
          <p:cNvSpPr txBox="1"/>
          <p:nvPr/>
        </p:nvSpPr>
        <p:spPr>
          <a:xfrm>
            <a:off x="34159" y="5782179"/>
            <a:ext cx="8382000" cy="825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1" latinLnBrk="0">
              <a:spcBef>
                <a:spcPct val="20000"/>
              </a:spcBef>
            </a:pPr>
            <a:r>
              <a:rPr sz="1000" b="0">
                <a:latin typeface="Arial"/>
              </a:rPr>
              <a:t>A daily check sheet is established to monitor equipment status using a Master sample. Because the J1 Dual model features dual displays requiring camera movement, camera angle status must be verified during pre-production setup to prevent angle deviation.</a:t>
            </a:r>
          </a:p>
          <a:p>
            <a:pPr algn="just" eaLnBrk="1" latinLnBrk="0">
              <a:spcBef>
                <a:spcPct val="20000"/>
              </a:spcBef>
            </a:pPr>
            <a:endParaRPr sz="1100" b="0">
              <a:latin typeface="Arial"/>
            </a:endParaRPr>
          </a:p>
          <a:p>
            <a:pPr algn="just" eaLnBrk="1" latinLnBrk="0">
              <a:spcBef>
                <a:spcPct val="20000"/>
              </a:spcBef>
            </a:pPr>
            <a:endParaRPr sz="1100" b="0"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3F5A17-8E19-4E92-AFD5-3A6969AF5F7F}"/>
              </a:ext>
            </a:extLst>
          </p:cNvPr>
          <p:cNvSpPr txBox="1"/>
          <p:nvPr/>
        </p:nvSpPr>
        <p:spPr>
          <a:xfrm>
            <a:off x="123613" y="982704"/>
            <a:ext cx="60485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>
              <a:spcBef>
                <a:spcPts val="600"/>
              </a:spcBef>
            </a:pPr>
            <a:r>
              <a:rPr lang="vi-VN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Make checksheet to </a:t>
            </a:r>
            <a:r>
              <a:rPr lang="en-US" sz="10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control equipment with master sample</a:t>
            </a:r>
          </a:p>
          <a:p>
            <a:pPr eaLnBrk="1" latinLnBrk="0">
              <a:spcBef>
                <a:spcPts val="600"/>
              </a:spcBef>
            </a:pPr>
            <a:r>
              <a:rPr lang="en-US" sz="1000" dirty="0">
                <a:latin typeface="Arial" panose="020B0600000101010101" pitchFamily="34" charset="-127"/>
                <a:ea typeface="Arial" panose="020B0600000101010101" pitchFamily="34" charset="-127"/>
              </a:rPr>
              <a:t>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707B042-44B2-4C31-B6D1-DF9E136E9F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855402"/>
              </p:ext>
            </p:extLst>
          </p:nvPr>
        </p:nvGraphicFramePr>
        <p:xfrm>
          <a:off x="8542187" y="527759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792" progId="Excel.Sheet.12">
                  <p:embed/>
                </p:oleObj>
              </mc:Choice>
              <mc:Fallback>
                <p:oleObj name="Worksheet" showAsIcon="1" r:id="rId2" imgW="914400" imgH="77179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42187" y="527759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3A1F7D6-78B6-4903-8B08-17F7BF227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41" y="1482932"/>
            <a:ext cx="4477700" cy="33547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CA5DC4-72B4-4AE7-850D-6E6718474DCD}"/>
              </a:ext>
            </a:extLst>
          </p:cNvPr>
          <p:cNvSpPr txBox="1"/>
          <p:nvPr/>
        </p:nvSpPr>
        <p:spPr>
          <a:xfrm>
            <a:off x="1004337" y="4922426"/>
            <a:ext cx="2981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eaLnBrk="1" latinLnBrk="0">
              <a:spcBef>
                <a:spcPct val="20000"/>
              </a:spcBef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Actual DID check sheet in production 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F08EC4-155B-456F-B519-D2C962C8D1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00"/>
          <a:stretch/>
        </p:blipFill>
        <p:spPr>
          <a:xfrm>
            <a:off x="4861689" y="1482932"/>
            <a:ext cx="4848959" cy="29925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1591882-9305-4E72-8150-888EA1F3C22B}"/>
              </a:ext>
            </a:extLst>
          </p:cNvPr>
          <p:cNvSpPr txBox="1"/>
          <p:nvPr/>
        </p:nvSpPr>
        <p:spPr>
          <a:xfrm>
            <a:off x="6460326" y="4944935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eaLnBrk="1" latinLnBrk="0">
              <a:spcBef>
                <a:spcPct val="20000"/>
              </a:spcBef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DID check sheet format</a:t>
            </a:r>
          </a:p>
        </p:txBody>
      </p:sp>
    </p:spTree>
    <p:extLst>
      <p:ext uri="{BB962C8B-B14F-4D97-AF65-F5344CB8AC3E}">
        <p14:creationId xmlns:p14="http://schemas.microsoft.com/office/powerpoint/2010/main" val="3637931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95669-0061-481C-8A59-6F10B434F1A6}"/>
              </a:ext>
            </a:extLst>
          </p:cNvPr>
          <p:cNvCxnSpPr/>
          <p:nvPr/>
        </p:nvCxnSpPr>
        <p:spPr>
          <a:xfrm>
            <a:off x="0" y="508838"/>
            <a:ext cx="990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C0924D8-04C2-4968-8836-DD278588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0326" y="6643499"/>
            <a:ext cx="2133600" cy="198047"/>
          </a:xfrm>
        </p:spPr>
        <p:txBody>
          <a:bodyPr/>
          <a:lstStyle/>
          <a:p>
            <a:pPr algn="ctr" eaLnBrk="1" latinLnBrk="0"/>
            <a:r>
              <a:rPr sz="1000" b="0">
                <a:latin typeface="Arial"/>
              </a:rPr>
              <a:t>33 / 33</a:t>
            </a:r>
            <a:endParaRPr lang="ko-KR" altLang="en-US" sz="1200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9" name="AutoShape 57">
            <a:extLst>
              <a:ext uri="{FF2B5EF4-FFF2-40B4-BE49-F238E27FC236}">
                <a16:creationId xmlns:a16="http://schemas.microsoft.com/office/drawing/2014/main" id="{F7C0E09A-DB4D-43E6-B3CE-37B23F71A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606" y="173344"/>
            <a:ext cx="749300" cy="287338"/>
          </a:xfrm>
          <a:prstGeom prst="homePlate">
            <a:avLst>
              <a:gd name="adj" fmla="val 46698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Analyze</a:t>
            </a:r>
          </a:p>
        </p:txBody>
      </p:sp>
      <p:sp>
        <p:nvSpPr>
          <p:cNvPr id="20" name="AutoShape 58">
            <a:extLst>
              <a:ext uri="{FF2B5EF4-FFF2-40B4-BE49-F238E27FC236}">
                <a16:creationId xmlns:a16="http://schemas.microsoft.com/office/drawing/2014/main" id="{1CB20489-F538-4606-ADFB-86DC1648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094" y="173344"/>
            <a:ext cx="747712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Measure </a:t>
            </a:r>
          </a:p>
        </p:txBody>
      </p:sp>
      <p:sp>
        <p:nvSpPr>
          <p:cNvPr id="21" name="AutoShape 59">
            <a:extLst>
              <a:ext uri="{FF2B5EF4-FFF2-40B4-BE49-F238E27FC236}">
                <a16:creationId xmlns:a16="http://schemas.microsoft.com/office/drawing/2014/main" id="{34CE5EF4-26DB-49D7-BEFE-A27DCC69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181" y="173344"/>
            <a:ext cx="757238" cy="287338"/>
          </a:xfrm>
          <a:prstGeom prst="homePlate">
            <a:avLst>
              <a:gd name="adj" fmla="val 47192"/>
            </a:avLst>
          </a:prstGeom>
          <a:solidFill>
            <a:schemeClr val="bg1"/>
          </a:solidFill>
          <a:ln w="317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Define</a:t>
            </a:r>
          </a:p>
        </p:txBody>
      </p:sp>
      <p:sp>
        <p:nvSpPr>
          <p:cNvPr id="22" name="AutoShape 56">
            <a:extLst>
              <a:ext uri="{FF2B5EF4-FFF2-40B4-BE49-F238E27FC236}">
                <a16:creationId xmlns:a16="http://schemas.microsoft.com/office/drawing/2014/main" id="{25B21E42-9EA3-4D7E-8A2E-55F98358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756" y="173344"/>
            <a:ext cx="747713" cy="287338"/>
          </a:xfrm>
          <a:prstGeom prst="homePlate">
            <a:avLst>
              <a:gd name="adj" fmla="val 46599"/>
            </a:avLst>
          </a:prstGeom>
          <a:solidFill>
            <a:schemeClr val="bg1"/>
          </a:solidFill>
          <a:ln w="31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solidFill>
                  <a:schemeClr val="tx1"/>
                </a:solidFill>
                <a:latin typeface="Arial Narrow" panose="020B0606020202030204" pitchFamily="34" charset="0"/>
                <a:ea typeface="Arial" panose="020B0503020000020004" pitchFamily="50" charset="-127"/>
              </a:rPr>
              <a:t>Improve</a:t>
            </a:r>
          </a:p>
        </p:txBody>
      </p:sp>
      <p:sp>
        <p:nvSpPr>
          <p:cNvPr id="23" name="AutoShape 55">
            <a:extLst>
              <a:ext uri="{FF2B5EF4-FFF2-40B4-BE49-F238E27FC236}">
                <a16:creationId xmlns:a16="http://schemas.microsoft.com/office/drawing/2014/main" id="{D709B8E8-5B31-4366-ACEB-109393355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731" y="57457"/>
            <a:ext cx="747713" cy="287337"/>
          </a:xfrm>
          <a:prstGeom prst="homePlate">
            <a:avLst>
              <a:gd name="adj" fmla="val 46599"/>
            </a:avLst>
          </a:prstGeom>
          <a:gradFill rotWithShape="1">
            <a:gsLst>
              <a:gs pos="0">
                <a:srgbClr val="494900"/>
              </a:gs>
              <a:gs pos="100000">
                <a:srgbClr val="808000"/>
              </a:gs>
            </a:gsLst>
            <a:lin ang="0" scaled="1"/>
          </a:gra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defTabSz="762000"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bg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 Narrow" panose="020B0606020202030204" pitchFamily="34" charset="0"/>
                <a:ea typeface="Arial" panose="020B0503020000020004" pitchFamily="50" charset="-127"/>
              </a:rPr>
              <a:t>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B0FBA-9900-427C-A2C3-53ABF38E2FB5}"/>
              </a:ext>
            </a:extLst>
          </p:cNvPr>
          <p:cNvSpPr txBox="1"/>
          <p:nvPr/>
        </p:nvSpPr>
        <p:spPr>
          <a:xfrm>
            <a:off x="70509" y="117554"/>
            <a:ext cx="5170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/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5</a:t>
            </a:r>
            <a:r>
              <a:rPr lang="vi-VN" altLang="ko-KR" sz="1600" b="1" dirty="0">
                <a:latin typeface="Arial" panose="020B0606020202030204" pitchFamily="34" charset="0"/>
                <a:ea typeface="LG Smart_H Regular" pitchFamily="34" charset="-127"/>
              </a:rPr>
              <a:t>.</a:t>
            </a:r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2</a:t>
            </a:r>
            <a:r>
              <a:rPr lang="vi-VN" altLang="ko-KR" sz="1600" b="1" dirty="0">
                <a:latin typeface="Arial" panose="020B0606020202030204" pitchFamily="34" charset="0"/>
                <a:ea typeface="LG Smart_H Regular" pitchFamily="34" charset="-127"/>
              </a:rPr>
              <a:t> </a:t>
            </a:r>
            <a:r>
              <a:rPr lang="en-US" altLang="ko-KR" sz="1600" b="1" dirty="0">
                <a:latin typeface="Arial" panose="020B0606020202030204" pitchFamily="34" charset="0"/>
                <a:ea typeface="LG Smart_H Regular" pitchFamily="34" charset="-127"/>
              </a:rPr>
              <a:t>Control plan (Future plan)</a:t>
            </a:r>
            <a:endParaRPr lang="vi-VN" altLang="ko-KR" sz="1600" b="1" dirty="0">
              <a:ea typeface="LG Smart_H Regular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63CB9-F03A-4B55-82AC-AAB2E2DAE0B5}"/>
              </a:ext>
            </a:extLst>
          </p:cNvPr>
          <p:cNvSpPr txBox="1"/>
          <p:nvPr/>
        </p:nvSpPr>
        <p:spPr>
          <a:xfrm>
            <a:off x="70509" y="651485"/>
            <a:ext cx="5263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eaLnBrk="1" latinLnBrk="0">
              <a:buFont typeface="Wingdings" panose="05000000000000000000" pitchFamily="2" charset="2"/>
              <a:buChar char="q"/>
            </a:pPr>
            <a:r>
              <a:rPr lang="en-US" sz="1000" b="1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Management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E59E6-9BB3-42ED-8FCB-1F488C986E37}"/>
              </a:ext>
            </a:extLst>
          </p:cNvPr>
          <p:cNvSpPr/>
          <p:nvPr/>
        </p:nvSpPr>
        <p:spPr>
          <a:xfrm>
            <a:off x="102040" y="1124809"/>
            <a:ext cx="93802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/>
            <a:r>
              <a:rPr sz="1000" b="0">
                <a:latin typeface="Arial"/>
              </a:rPr>
              <a:t>Master Sample Management Procedure:</a:t>
            </a:r>
            <a:br/>
            <a:r>
              <a:rPr sz="1000" b="0">
                <a:latin typeface="Arial"/>
              </a:rPr>
              <a:t>• Inspection Timing: Daily at shift start (08:00~10:00 for day shift, 20:00~22:00 for night shift).</a:t>
            </a:r>
            <a:br/>
            <a:r>
              <a:rPr sz="1000" b="0">
                <a:latin typeface="Arial"/>
              </a:rPr>
              <a:t>• Responsible: PM Technician &amp; Line Leader.</a:t>
            </a:r>
            <a:br/>
            <a:r>
              <a:rPr sz="1000" b="0">
                <a:latin typeface="Arial"/>
              </a:rPr>
              <a:t>• Procedure:</a:t>
            </a:r>
            <a:br/>
            <a:r>
              <a:rPr sz="1000" b="0">
                <a:latin typeface="Arial"/>
              </a:rPr>
              <a:t>  1. Test the Master Sample (reference 910 Cd/m²) at the Luminance station; the reading must be inside the control limits 910 ± 48 Cd/m² (±3s of the Type 1 study after improvement, s = 15.96) and inside spec (800~2000 Cd/m²).</a:t>
            </a:r>
            <a:br/>
            <a:r>
              <a:rPr sz="1000" b="0">
                <a:latin typeface="Arial"/>
              </a:rPr>
              <a:t>  2. If a reading is out of the limits, stop judging OK/NG and report immediately to Line Leader; PE &amp; PM teams will inspect the camera angle (target 90.0°) and confirm with the Master Sample again before restarting.</a:t>
            </a:r>
            <a:br/>
            <a:r>
              <a:rPr sz="1000" b="0">
                <a:latin typeface="Arial"/>
              </a:rPr>
              <a:t>  3. GMES version checking (SW/HW) is skipped during Master Sample testing to focus strictly on hardware measurement stability.</a:t>
            </a:r>
          </a:p>
          <a:p>
            <a:pPr eaLnBrk="1" latinLnBrk="0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Added text 24"/>
          <p:cNvSpPr txBox="1"/>
          <p:nvPr/>
        </p:nvSpPr>
        <p:spPr>
          <a:xfrm>
            <a:off x="123825" y="2857500"/>
            <a:ext cx="9525000" cy="1238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Standardization &amp; horizontal deployment (planned):</a:t>
            </a:r>
          </a:p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• Add the camera-angle check (target 90.0°) to the pre-production setup standard (SOP) of the Luminance station.</a:t>
            </a:r>
          </a:p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• Apply the same Master sample check to the other dual-display models measured with the CS2000 (E3PA Dual, G3 Dual, J1 Dual PPR); the RHD Privacy models also need the 13% luminance compensation (slide 20).</a:t>
            </a:r>
          </a:p>
          <a:p>
            <a:r>
              <a:rPr lang="en-US" sz="1000" b="0" dirty="0">
                <a:solidFill>
                  <a:srgbClr val="000000"/>
                </a:solidFill>
                <a:latin typeface="Arial"/>
                <a:cs typeface="Arial"/>
              </a:rPr>
              <a:t>• Keep monitoring with the Xbar-R chart; if a point goes out of control, apply the reaction plan above (step 2).</a:t>
            </a:r>
          </a:p>
        </p:txBody>
      </p:sp>
    </p:spTree>
    <p:extLst>
      <p:ext uri="{BB962C8B-B14F-4D97-AF65-F5344CB8AC3E}">
        <p14:creationId xmlns:p14="http://schemas.microsoft.com/office/powerpoint/2010/main" val="1379288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2DBPMRbQEK4PwqppxHtX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Ne9y31qx0OExXY5K1tKhA"/>
</p:tagLst>
</file>

<file path=ppt/theme/theme1.xml><?xml version="1.0" encoding="utf-8"?>
<a:theme xmlns:a="http://schemas.openxmlformats.org/drawingml/2006/main" name="3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90027</TotalTime>
  <Words>8692</Words>
  <Application>Microsoft Office PowerPoint</Application>
  <PresentationFormat>A4 Paper (210x297 mm)</PresentationFormat>
  <Paragraphs>1773</Paragraphs>
  <Slides>33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Arial Unicode MS</vt:lpstr>
      <vt:lpstr>굴림</vt:lpstr>
      <vt:lpstr>현대하모니 L</vt:lpstr>
      <vt:lpstr>LG Smart_H Regular</vt:lpstr>
      <vt:lpstr>LG Smart_H Regular</vt:lpstr>
      <vt:lpstr>맑은 고딕</vt:lpstr>
      <vt:lpstr>Arial</vt:lpstr>
      <vt:lpstr>Arial Narrow</vt:lpstr>
      <vt:lpstr>Calibri</vt:lpstr>
      <vt:lpstr>Wingdings</vt:lpstr>
      <vt:lpstr>3_디자인 사용자 지정</vt:lpstr>
      <vt:lpstr>Worksheet</vt:lpstr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Bery</dc:creator>
  <cp:lastModifiedBy>LONG DUC NGUYEN/LGEVH IVI LD Cyber Security Part</cp:lastModifiedBy>
  <cp:revision>3234</cp:revision>
  <cp:lastPrinted>2017-04-20T00:57:17Z</cp:lastPrinted>
  <dcterms:created xsi:type="dcterms:W3CDTF">2013-07-05T02:04:59Z</dcterms:created>
  <dcterms:modified xsi:type="dcterms:W3CDTF">2026-10-07T07:53:33Z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3_디자인 사용자 지정:4</vt:lpwstr>
  </property>
  <property fmtid="{D5CDD505-2E9C-101B-9397-08002B2CF9AE}" pid="3" name="ClassificationContentMarkingHeaderText">
    <vt:lpwstr>LGE Internal Use Only</vt:lpwstr>
  </property>
</Properties>
</file>