
<file path=[Content_Types].xml><?xml version="1.0" encoding="utf-8"?>
<Types xmlns="http://schemas.openxmlformats.org/package/2006/content-types">
  <Default Extension="emf" ContentType="image/x-emf"/>
  <Default Extension="jpeg" ContentType="image/jpeg"/>
  <Default Extension="png" ContentType="image/png"/>
  <Default Extension="pptx" ContentType="application/vnd.openxmlformats-officedocument.presentationml.presentation"/>
  <Default Extension="rels" ContentType="application/vnd.openxmlformats-package.relationships+xml"/>
  <Default Extension="wmf" ContentType="image/x-wmf"/>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ags/tag1.xml" ContentType="application/vnd.openxmlformats-officedocument.presentationml.tags+xml"/>
  <Override PartName="/ppt/tags/tag2.xml" ContentType="application/vnd.openxmlformats-officedocument.presentationml.tags+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2.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23.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26.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charts/chart1.xml" ContentType="application/vnd.openxmlformats-officedocument.drawingml.char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817" r:id="rId1"/>
  </p:sldMasterIdLst>
  <p:notesMasterIdLst>
    <p:notesMasterId r:id="rId35"/>
  </p:notesMasterIdLst>
  <p:handoutMasterIdLst>
    <p:handoutMasterId r:id="rId36"/>
  </p:handoutMasterIdLst>
  <p:sldIdLst>
    <p:sldId id="510" r:id="rId2"/>
    <p:sldId id="543" r:id="rId3"/>
    <p:sldId id="536" r:id="rId4"/>
    <p:sldId id="537" r:id="rId5"/>
    <p:sldId id="576" r:id="rId6"/>
    <p:sldId id="464" r:id="rId7"/>
    <p:sldId id="583" r:id="rId8"/>
    <p:sldId id="521" r:id="rId9"/>
    <p:sldId id="535" r:id="rId10"/>
    <p:sldId id="524" r:id="rId11"/>
    <p:sldId id="490" r:id="rId12"/>
    <p:sldId id="538" r:id="rId13"/>
    <p:sldId id="541" r:id="rId14"/>
    <p:sldId id="540" r:id="rId15"/>
    <p:sldId id="542" r:id="rId16"/>
    <p:sldId id="539" r:id="rId17"/>
    <p:sldId id="263" r:id="rId18"/>
    <p:sldId id="533" r:id="rId19"/>
    <p:sldId id="257" r:id="rId20"/>
    <p:sldId id="259" r:id="rId21"/>
    <p:sldId id="578" r:id="rId22"/>
    <p:sldId id="475" r:id="rId23"/>
    <p:sldId id="532" r:id="rId24"/>
    <p:sldId id="452" r:id="rId25"/>
    <p:sldId id="526" r:id="rId26"/>
    <p:sldId id="527" r:id="rId27"/>
    <p:sldId id="528" r:id="rId28"/>
    <p:sldId id="530" r:id="rId29"/>
    <p:sldId id="529" r:id="rId30"/>
    <p:sldId id="531" r:id="rId31"/>
    <p:sldId id="581" r:id="rId32"/>
    <p:sldId id="473" r:id="rId33"/>
    <p:sldId id="580" r:id="rId34"/>
  </p:sldIdLst>
  <p:sldSz cx="9906000" cy="6858000" type="A4"/>
  <p:notesSz cx="6807200" cy="9939338"/>
  <p:defaultTextStyle>
    <a:defPPr>
      <a:defRPr lang="ko-KR"/>
    </a:defPPr>
    <a:lvl1pPr algn="l" rtl="0" fontAlgn="base" latinLnBrk="1">
      <a:spcBef>
        <a:spcPct val="0"/>
      </a:spcBef>
      <a:spcAft>
        <a:spcPct val="0"/>
      </a:spcAft>
      <a:defRPr kumimoji="1" kern="1200">
        <a:solidFill>
          <a:schemeClr val="tx1"/>
        </a:solidFill>
        <a:latin typeface="굴림" pitchFamily="50" charset="-127"/>
        <a:ea typeface="굴림" pitchFamily="50" charset="-127"/>
        <a:cs typeface="+mn-cs"/>
      </a:defRPr>
    </a:lvl1pPr>
    <a:lvl2pPr marL="457200" algn="l" rtl="0" fontAlgn="base" latinLnBrk="1">
      <a:spcBef>
        <a:spcPct val="0"/>
      </a:spcBef>
      <a:spcAft>
        <a:spcPct val="0"/>
      </a:spcAft>
      <a:defRPr kumimoji="1" kern="1200">
        <a:solidFill>
          <a:schemeClr val="tx1"/>
        </a:solidFill>
        <a:latin typeface="굴림" pitchFamily="50" charset="-127"/>
        <a:ea typeface="굴림" pitchFamily="50" charset="-127"/>
        <a:cs typeface="+mn-cs"/>
      </a:defRPr>
    </a:lvl2pPr>
    <a:lvl3pPr marL="914400" algn="l" rtl="0" fontAlgn="base" latinLnBrk="1">
      <a:spcBef>
        <a:spcPct val="0"/>
      </a:spcBef>
      <a:spcAft>
        <a:spcPct val="0"/>
      </a:spcAft>
      <a:defRPr kumimoji="1" kern="1200">
        <a:solidFill>
          <a:schemeClr val="tx1"/>
        </a:solidFill>
        <a:latin typeface="굴림" pitchFamily="50" charset="-127"/>
        <a:ea typeface="굴림" pitchFamily="50" charset="-127"/>
        <a:cs typeface="+mn-cs"/>
      </a:defRPr>
    </a:lvl3pPr>
    <a:lvl4pPr marL="1371600" algn="l" rtl="0" fontAlgn="base" latinLnBrk="1">
      <a:spcBef>
        <a:spcPct val="0"/>
      </a:spcBef>
      <a:spcAft>
        <a:spcPct val="0"/>
      </a:spcAft>
      <a:defRPr kumimoji="1" kern="1200">
        <a:solidFill>
          <a:schemeClr val="tx1"/>
        </a:solidFill>
        <a:latin typeface="굴림" pitchFamily="50" charset="-127"/>
        <a:ea typeface="굴림" pitchFamily="50" charset="-127"/>
        <a:cs typeface="+mn-cs"/>
      </a:defRPr>
    </a:lvl4pPr>
    <a:lvl5pPr marL="1828800" algn="l" rtl="0" fontAlgn="base" latinLnBrk="1">
      <a:spcBef>
        <a:spcPct val="0"/>
      </a:spcBef>
      <a:spcAft>
        <a:spcPct val="0"/>
      </a:spcAft>
      <a:defRPr kumimoji="1" kern="1200">
        <a:solidFill>
          <a:schemeClr val="tx1"/>
        </a:solidFill>
        <a:latin typeface="굴림" pitchFamily="50" charset="-127"/>
        <a:ea typeface="굴림" pitchFamily="50" charset="-127"/>
        <a:cs typeface="+mn-cs"/>
      </a:defRPr>
    </a:lvl5pPr>
    <a:lvl6pPr marL="2286000" algn="l" defTabSz="914400" rtl="0" eaLnBrk="1" latinLnBrk="1" hangingPunct="1">
      <a:defRPr kumimoji="1" kern="1200">
        <a:solidFill>
          <a:schemeClr val="tx1"/>
        </a:solidFill>
        <a:latin typeface="굴림" pitchFamily="50" charset="-127"/>
        <a:ea typeface="굴림" pitchFamily="50" charset="-127"/>
        <a:cs typeface="+mn-cs"/>
      </a:defRPr>
    </a:lvl6pPr>
    <a:lvl7pPr marL="2743200" algn="l" defTabSz="914400" rtl="0" eaLnBrk="1" latinLnBrk="1" hangingPunct="1">
      <a:defRPr kumimoji="1" kern="1200">
        <a:solidFill>
          <a:schemeClr val="tx1"/>
        </a:solidFill>
        <a:latin typeface="굴림" pitchFamily="50" charset="-127"/>
        <a:ea typeface="굴림" pitchFamily="50" charset="-127"/>
        <a:cs typeface="+mn-cs"/>
      </a:defRPr>
    </a:lvl7pPr>
    <a:lvl8pPr marL="3200400" algn="l" defTabSz="914400" rtl="0" eaLnBrk="1" latinLnBrk="1" hangingPunct="1">
      <a:defRPr kumimoji="1" kern="1200">
        <a:solidFill>
          <a:schemeClr val="tx1"/>
        </a:solidFill>
        <a:latin typeface="굴림" pitchFamily="50" charset="-127"/>
        <a:ea typeface="굴림" pitchFamily="50" charset="-127"/>
        <a:cs typeface="+mn-cs"/>
      </a:defRPr>
    </a:lvl8pPr>
    <a:lvl9pPr marL="3657600" algn="l" defTabSz="914400" rtl="0" eaLnBrk="1" latinLnBrk="1" hangingPunct="1">
      <a:defRPr kumimoji="1" kern="1200">
        <a:solidFill>
          <a:schemeClr val="tx1"/>
        </a:solidFill>
        <a:latin typeface="굴림" pitchFamily="50" charset="-127"/>
        <a:ea typeface="굴림" pitchFamily="50" charset="-127"/>
        <a:cs typeface="+mn-cs"/>
      </a:defRPr>
    </a:lvl9pPr>
  </p:defaultTextStyle>
  <p:extLst>
    <p:ext uri="{EFAFB233-063F-42B5-8137-9DF3F51BA10A}">
      <p15:sldGuideLst xmlns:p15="http://schemas.microsoft.com/office/powerpoint/2012/main">
        <p15:guide id="8" pos="126">
          <p15:clr>
            <a:srgbClr val="A4A3A4"/>
          </p15:clr>
        </p15:guide>
        <p15:guide id="10" pos="172" userDrawn="1">
          <p15:clr>
            <a:srgbClr val="A4A3A4"/>
          </p15:clr>
        </p15:guide>
        <p15:guide id="12" orient="horz" pos="391">
          <p15:clr>
            <a:srgbClr val="A4A3A4"/>
          </p15:clr>
        </p15:guide>
        <p15:guide id="13" orient="horz" pos="4110">
          <p15:clr>
            <a:srgbClr val="A4A3A4"/>
          </p15:clr>
        </p15:guide>
        <p15:guide id="14" pos="6023">
          <p15:clr>
            <a:srgbClr val="A4A3A4"/>
          </p15:clr>
        </p15:guide>
      </p15:sldGuideLst>
    </p:ext>
    <p:ext uri="{2D200454-40CA-4A62-9FC3-DE9A4176ACB9}">
      <p15:notesGuideLst xmlns:p15="http://schemas.microsoft.com/office/powerpoint/2012/main">
        <p15:guide id="1" orient="horz" pos="3130">
          <p15:clr>
            <a:srgbClr val="A4A3A4"/>
          </p15:clr>
        </p15:guide>
        <p15:guide id="2" pos="2144">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VUONG NGOC VU/LGEVH IVI IE Tele/AVN/HUD Part" initials="VNVIITP" lastIdx="0" clrIdx="0">
    <p:extLst>
      <p:ext uri="{19B8F6BF-5375-455C-9EA6-DF929625EA0E}">
        <p15:presenceInfo xmlns:p15="http://schemas.microsoft.com/office/powerpoint/2012/main" userId="S-1-5-21-2543426832-1914326140-3112152631-2798584"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6600"/>
    <a:srgbClr val="08D621"/>
    <a:srgbClr val="00CC66"/>
    <a:srgbClr val="FFFFCC"/>
    <a:srgbClr val="FF9933"/>
    <a:srgbClr val="0000FF"/>
    <a:srgbClr val="FFFF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보통 스타일 2 - 강조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6844" autoAdjust="0"/>
    <p:restoredTop sz="79133" autoAdjust="0"/>
  </p:normalViewPr>
  <p:slideViewPr>
    <p:cSldViewPr>
      <p:cViewPr varScale="1">
        <p:scale>
          <a:sx n="87" d="100"/>
          <a:sy n="87" d="100"/>
        </p:scale>
        <p:origin x="2000" y="60"/>
      </p:cViewPr>
      <p:guideLst>
        <p:guide pos="126"/>
        <p:guide pos="172"/>
        <p:guide orient="horz" pos="391"/>
        <p:guide orient="horz" pos="4110"/>
        <p:guide pos="6023"/>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90" d="100"/>
        <a:sy n="90" d="100"/>
      </p:scale>
      <p:origin x="0" y="0"/>
    </p:cViewPr>
  </p:sorterViewPr>
  <p:notesViewPr>
    <p:cSldViewPr>
      <p:cViewPr varScale="1">
        <p:scale>
          <a:sx n="58" d="100"/>
          <a:sy n="58" d="100"/>
        </p:scale>
        <p:origin x="-3269" y="-72"/>
      </p:cViewPr>
      <p:guideLst>
        <p:guide orient="horz" pos="3130"/>
        <p:guide pos="2144"/>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commentAuthors" Target="commentAuthors.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charts/_rels/chart1.xml.rels><?xml version="1.0" encoding="UTF-8" standalone="yes"?>
<Relationships xmlns="http://schemas.openxmlformats.org/package/2006/relationships"><Relationship Id="rId1" Type="http://schemas.openxmlformats.org/officeDocument/2006/relationships/oleObject" Target="file:///C:\Users\vuong.vu\AppData\Local\Temp\_AZTMP1_\all.csv"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dirty="0"/>
              <a:t>Luminance defect</a:t>
            </a:r>
            <a:r>
              <a:rPr lang="en-US" baseline="0" dirty="0"/>
              <a:t> rate of J1 Dual model</a:t>
            </a:r>
            <a:endParaRPr lang="en-US" dirty="0"/>
          </a:p>
        </c:rich>
      </c:tx>
      <c:overlay val="0"/>
      <c:spPr>
        <a:noFill/>
        <a:ln>
          <a:noFill/>
        </a:ln>
        <a:effectLst/>
      </c:spPr>
    </c:title>
    <c:autoTitleDeleted val="0"/>
    <c:plotArea>
      <c:layout/>
      <c:barChart>
        <c:barDir val="col"/>
        <c:grouping val="clustered"/>
        <c:varyColors val="0"/>
        <c:ser>
          <c:idx val="0"/>
          <c:order val="0"/>
          <c:tx>
            <c:strRef>
              <c:f>Sheet1!$D$7</c:f>
              <c:strCache>
                <c:ptCount val="1"/>
                <c:pt idx="0">
                  <c:v>Total NG</c:v>
                </c:pt>
              </c:strCache>
            </c:strRef>
          </c:tx>
          <c:spPr>
            <a:solidFill>
              <a:srgbClr val="4472C4"/>
            </a:solidFill>
            <a:ln>
              <a:noFill/>
            </a:ln>
            <a:effectLst/>
          </c:spPr>
          <c:invertIfNegative val="0"/>
          <c:dLbls>
            <c:numFmt formatCode="0" sourceLinked="0"/>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Sheet1!$E$6:$K$6</c:f>
              <c:strCache>
                <c:ptCount val="7"/>
                <c:pt idx="0">
                  <c:v>16.Nov.2025</c:v>
                </c:pt>
                <c:pt idx="1">
                  <c:v>2.Jan.2026</c:v>
                </c:pt>
                <c:pt idx="2">
                  <c:v>23.Feb.2026</c:v>
                </c:pt>
                <c:pt idx="3">
                  <c:v>1.Mar.2026</c:v>
                </c:pt>
                <c:pt idx="4">
                  <c:v>15.Jul.2026</c:v>
                </c:pt>
                <c:pt idx="5">
                  <c:v>21.Aug.2026</c:v>
                </c:pt>
                <c:pt idx="6">
                  <c:v>20.Sep.2026</c:v>
                </c:pt>
              </c:strCache>
            </c:strRef>
          </c:cat>
          <c:val>
            <c:numRef>
              <c:f>Sheet1!$E$7:$K$7</c:f>
              <c:numCache>
                <c:formatCode>General</c:formatCode>
                <c:ptCount val="7"/>
                <c:pt idx="0">
                  <c:v>13</c:v>
                </c:pt>
                <c:pt idx="1">
                  <c:v>8</c:v>
                </c:pt>
                <c:pt idx="2">
                  <c:v>92</c:v>
                </c:pt>
                <c:pt idx="3">
                  <c:v>30</c:v>
                </c:pt>
                <c:pt idx="4">
                  <c:v>0</c:v>
                </c:pt>
                <c:pt idx="5">
                  <c:v>0</c:v>
                </c:pt>
                <c:pt idx="6">
                  <c:v>0</c:v>
                </c:pt>
              </c:numCache>
            </c:numRef>
          </c:val>
          <c:extLst>
            <c:ext xmlns:c16="http://schemas.microsoft.com/office/drawing/2014/chart" uri="{C3380CC4-5D6E-409C-BE32-E72D297353CC}">
              <c16:uniqueId val="{00000000-8241-4E88-B6AB-4C7FE8828860}"/>
            </c:ext>
          </c:extLst>
        </c:ser>
        <c:ser>
          <c:idx val="1"/>
          <c:order val="1"/>
          <c:tx>
            <c:strRef>
              <c:f>Sheet1!$D$8</c:f>
              <c:strCache>
                <c:ptCount val="1"/>
                <c:pt idx="0">
                  <c:v>Prod Q'ty</c:v>
                </c:pt>
              </c:strCache>
            </c:strRef>
          </c:tx>
          <c:spPr>
            <a:solidFill>
              <a:schemeClr val="bg1">
                <a:lumMod val="75000"/>
              </a:schemeClr>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Sheet1!$E$6:$K$6</c:f>
              <c:strCache>
                <c:ptCount val="7"/>
                <c:pt idx="0">
                  <c:v>16.Nov.2025</c:v>
                </c:pt>
                <c:pt idx="1">
                  <c:v>2.Jan.2026</c:v>
                </c:pt>
                <c:pt idx="2">
                  <c:v>23.Feb.2026</c:v>
                </c:pt>
                <c:pt idx="3">
                  <c:v>1.Mar.2026</c:v>
                </c:pt>
                <c:pt idx="4">
                  <c:v>15.Jul.2026</c:v>
                </c:pt>
                <c:pt idx="5">
                  <c:v>21.Aug.2026</c:v>
                </c:pt>
                <c:pt idx="6">
                  <c:v>20.Sep.2026</c:v>
                </c:pt>
              </c:strCache>
            </c:strRef>
          </c:cat>
          <c:val>
            <c:numRef>
              <c:f>Sheet1!$E$8:$K$8</c:f>
              <c:numCache>
                <c:formatCode>General</c:formatCode>
                <c:ptCount val="7"/>
                <c:pt idx="0">
                  <c:v>200</c:v>
                </c:pt>
                <c:pt idx="1">
                  <c:v>120</c:v>
                </c:pt>
                <c:pt idx="2">
                  <c:v>240</c:v>
                </c:pt>
                <c:pt idx="3">
                  <c:v>71</c:v>
                </c:pt>
                <c:pt idx="4">
                  <c:v>240</c:v>
                </c:pt>
                <c:pt idx="5">
                  <c:v>120</c:v>
                </c:pt>
                <c:pt idx="6">
                  <c:v>60</c:v>
                </c:pt>
              </c:numCache>
            </c:numRef>
          </c:val>
          <c:extLst>
            <c:ext xmlns:c16="http://schemas.microsoft.com/office/drawing/2014/chart" uri="{C3380CC4-5D6E-409C-BE32-E72D297353CC}">
              <c16:uniqueId val="{00000001-8241-4E88-B6AB-4C7FE8828860}"/>
            </c:ext>
          </c:extLst>
        </c:ser>
        <c:dLbls>
          <c:showLegendKey val="0"/>
          <c:showVal val="1"/>
          <c:showCatName val="0"/>
          <c:showSerName val="0"/>
          <c:showPercent val="0"/>
          <c:showBubbleSize val="0"/>
        </c:dLbls>
        <c:gapWidth val="219"/>
        <c:overlap val="-27"/>
        <c:axId val="137649919"/>
        <c:axId val="294917759"/>
      </c:barChart>
      <c:lineChart>
        <c:grouping val="standard"/>
        <c:varyColors val="0"/>
        <c:ser>
          <c:idx val="2"/>
          <c:order val="2"/>
          <c:tx>
            <c:strRef>
              <c:f>Sheet1!$D$9</c:f>
              <c:strCache>
                <c:ptCount val="1"/>
                <c:pt idx="0">
                  <c:v>Defect rate (ppm)</c:v>
                </c:pt>
              </c:strCache>
            </c:strRef>
          </c:tx>
          <c:spPr>
            <a:ln w="28575" cap="rnd">
              <a:solidFill>
                <a:srgbClr val="FF0000">
                  <a:alpha val="83000"/>
                </a:srgbClr>
              </a:solidFill>
              <a:round/>
            </a:ln>
            <a:effectLst>
              <a:softEdge rad="0"/>
            </a:effectLst>
          </c:spPr>
          <c:marker>
            <c:symbol val="none"/>
          </c:marker>
          <c:dLbls>
            <c:dLbl>
              <c:idx val="0"/>
              <c:layout>
                <c:manualLayout>
                  <c:x val="-6.9630276639563615E-2"/>
                  <c:y val="-7.599835367622762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8241-4E88-B6AB-4C7FE8828860}"/>
                </c:ext>
              </c:extLst>
            </c:dLbl>
            <c:dLbl>
              <c:idx val="1"/>
              <c:layout>
                <c:manualLayout>
                  <c:x val="-7.0184840271801302E-2"/>
                  <c:y val="-0.1274122354242995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8241-4E88-B6AB-4C7FE8828860}"/>
                </c:ext>
              </c:extLst>
            </c:dLbl>
            <c:dLbl>
              <c:idx val="2"/>
              <c:layout>
                <c:manualLayout>
                  <c:x val="-6.9102773246329532E-2"/>
                  <c:y val="-7.9425945792765615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8241-4E88-B6AB-4C7FE8828860}"/>
                </c:ext>
              </c:extLst>
            </c:dLbl>
            <c:dLbl>
              <c:idx val="3"/>
              <c:layout>
                <c:manualLayout>
                  <c:x val="-5.3877107123436734E-2"/>
                  <c:y val="-7.2570761559689362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8241-4E88-B6AB-4C7FE8828860}"/>
                </c:ext>
              </c:extLst>
            </c:dLbl>
            <c:dLbl>
              <c:idx val="4"/>
              <c:layout>
                <c:manualLayout>
                  <c:x val="6.5198049265049046E-3"/>
                  <c:y val="-4.8577616743922435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8241-4E88-B6AB-4C7FE8828860}"/>
                </c:ext>
              </c:extLst>
            </c:dLbl>
            <c:dLbl>
              <c:idx val="5"/>
              <c:layout>
                <c:manualLayout>
                  <c:x val="-2.1805757151481678E-3"/>
                  <c:y val="-4.8577616743922435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8241-4E88-B6AB-4C7FE8828860}"/>
                </c:ext>
              </c:extLst>
            </c:dLbl>
            <c:dLbl>
              <c:idx val="6"/>
              <c:layout>
                <c:manualLayout>
                  <c:x val="8.6949000869181725E-3"/>
                  <c:y val="-4.8577616743922435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A-8241-4E88-B6AB-4C7FE8828860}"/>
                </c:ext>
              </c:extLst>
            </c:dLbl>
            <c:numFmt formatCode="#,##0" sourceLinked="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Sheet1!$E$6:$K$6</c:f>
              <c:strCache>
                <c:ptCount val="7"/>
                <c:pt idx="0">
                  <c:v>16.Nov.2025</c:v>
                </c:pt>
                <c:pt idx="1">
                  <c:v>2.Jan.2026</c:v>
                </c:pt>
                <c:pt idx="2">
                  <c:v>23.Feb.2026</c:v>
                </c:pt>
                <c:pt idx="3">
                  <c:v>1.Mar.2026</c:v>
                </c:pt>
                <c:pt idx="4">
                  <c:v>15.Jul.2026</c:v>
                </c:pt>
                <c:pt idx="5">
                  <c:v>21.Aug.2026</c:v>
                </c:pt>
                <c:pt idx="6">
                  <c:v>20.Sep.2026</c:v>
                </c:pt>
              </c:strCache>
            </c:strRef>
          </c:cat>
          <c:val>
            <c:numRef>
              <c:f>Sheet1!$E$9:$K$9</c:f>
              <c:numCache>
                <c:formatCode>0.00</c:formatCode>
                <c:ptCount val="7"/>
                <c:pt idx="0" formatCode="General">
                  <c:v>65000</c:v>
                </c:pt>
                <c:pt idx="1">
                  <c:v>66666.666666666672</c:v>
                </c:pt>
                <c:pt idx="2">
                  <c:v>383333.33333333337</c:v>
                </c:pt>
                <c:pt idx="3">
                  <c:v>422535.2112676056</c:v>
                </c:pt>
                <c:pt idx="4" formatCode="General">
                  <c:v>0</c:v>
                </c:pt>
                <c:pt idx="5" formatCode="General">
                  <c:v>0</c:v>
                </c:pt>
                <c:pt idx="6" formatCode="General">
                  <c:v>0</c:v>
                </c:pt>
              </c:numCache>
            </c:numRef>
          </c:val>
          <c:smooth val="0"/>
          <c:extLst>
            <c:ext xmlns:c16="http://schemas.microsoft.com/office/drawing/2014/chart" uri="{C3380CC4-5D6E-409C-BE32-E72D297353CC}">
              <c16:uniqueId val="{00000003-8241-4E88-B6AB-4C7FE8828860}"/>
            </c:ext>
          </c:extLst>
        </c:ser>
        <c:dLbls>
          <c:showLegendKey val="0"/>
          <c:showVal val="1"/>
          <c:showCatName val="0"/>
          <c:showSerName val="0"/>
          <c:showPercent val="0"/>
          <c:showBubbleSize val="0"/>
        </c:dLbls>
        <c:marker val="1"/>
        <c:smooth val="0"/>
        <c:axId val="144407247"/>
        <c:axId val="294901951"/>
      </c:lineChart>
      <c:catAx>
        <c:axId val="144407247"/>
        <c:scaling>
          <c:orientation val="minMax"/>
        </c:scaling>
        <c:delete val="0"/>
        <c:axPos val="b"/>
        <c:numFmt formatCode="General" sourceLinked="1"/>
        <c:majorTickMark val="none"/>
        <c:minorTickMark val="none"/>
        <c:tickLblPos val="low"/>
        <c:spPr>
          <a:noFill/>
          <a:ln w="9525" cap="flat" cmpd="sng" algn="ctr">
            <a:solidFill>
              <a:schemeClr val="tx1">
                <a:lumMod val="15000"/>
                <a:lumOff val="85000"/>
              </a:schemeClr>
            </a:solidFill>
            <a:round/>
          </a:ln>
          <a:effectLst/>
        </c:spPr>
        <c:txPr>
          <a:bodyPr rot="-60000000" spcFirstLastPara="1" vertOverflow="ellipsis" vert="horz" wrap="square" anchor="b"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94901951"/>
        <c:crosses val="autoZero"/>
        <c:auto val="1"/>
        <c:lblAlgn val="ctr"/>
        <c:lblOffset val="100"/>
        <c:noMultiLvlLbl val="0"/>
      </c:catAx>
      <c:valAx>
        <c:axId val="294901951"/>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44407247"/>
        <c:crosses val="autoZero"/>
        <c:crossBetween val="between"/>
      </c:valAx>
      <c:valAx>
        <c:axId val="294917759"/>
        <c:scaling>
          <c:orientation val="minMax"/>
        </c:scaling>
        <c:delete val="0"/>
        <c:axPos val="r"/>
        <c:numFmt formatCode="General" sourceLinked="1"/>
        <c:majorTickMark val="out"/>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37649919"/>
        <c:crosses val="max"/>
        <c:crossBetween val="between"/>
      </c:valAx>
      <c:catAx>
        <c:axId val="137649919"/>
        <c:scaling>
          <c:orientation val="minMax"/>
        </c:scaling>
        <c:delete val="1"/>
        <c:axPos val="b"/>
        <c:numFmt formatCode="General" sourceLinked="1"/>
        <c:majorTickMark val="out"/>
        <c:minorTickMark val="none"/>
        <c:tickLblPos val="nextTo"/>
        <c:crossAx val="294917759"/>
        <c:crosses val="autoZero"/>
        <c:auto val="1"/>
        <c:lblAlgn val="ctr"/>
        <c:lblOffset val="100"/>
        <c:noMultiLvlLbl val="0"/>
      </c:cat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1">
    <c:autoUpdate val="0"/>
  </c:externalData>
</c:chartSpace>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7AD4F92C-78BA-4F6E-810D-84BEE50C8241}" type="doc">
      <dgm:prSet loTypeId="urn:microsoft.com/office/officeart/2005/8/layout/chevron1" loCatId="process" qsTypeId="urn:microsoft.com/office/officeart/2005/8/quickstyle/simple1" qsCatId="simple" csTypeId="urn:microsoft.com/office/officeart/2005/8/colors/accent1_2" csCatId="accent1" phldr="1"/>
      <dgm:spPr/>
    </dgm:pt>
    <dgm:pt modelId="{BAC7D273-E5EE-4038-A5C1-6C6F5ACB0D03}">
      <dgm:prSet phldrT="[Text]">
        <dgm:style>
          <a:lnRef idx="2">
            <a:schemeClr val="accent4"/>
          </a:lnRef>
          <a:fillRef idx="1">
            <a:schemeClr val="lt1"/>
          </a:fillRef>
          <a:effectRef idx="0">
            <a:schemeClr val="accent4"/>
          </a:effectRef>
          <a:fontRef idx="minor">
            <a:schemeClr val="dk1"/>
          </a:fontRef>
        </dgm:style>
      </dgm:prSet>
      <dgm:spPr>
        <a:solidFill>
          <a:schemeClr val="bg1"/>
        </a:solidFill>
        <a:ln w="12700">
          <a:solidFill>
            <a:schemeClr val="tx1"/>
          </a:solidFill>
        </a:ln>
      </dgm:spPr>
      <dgm:t>
        <a:bodyPr/>
        <a:lstStyle/>
        <a:p>
          <a:r>
            <a:rPr lang="en-US" dirty="0"/>
            <a:t>D</a:t>
          </a:r>
        </a:p>
      </dgm:t>
    </dgm:pt>
    <dgm:pt modelId="{5E3CA2F6-A4DF-4AD7-8F49-7697828C860A}" type="parTrans" cxnId="{92013A32-1BAA-4E8B-8E59-0C5F86BA36E4}">
      <dgm:prSet/>
      <dgm:spPr/>
      <dgm:t>
        <a:bodyPr/>
        <a:lstStyle/>
        <a:p>
          <a:endParaRPr lang="en-US"/>
        </a:p>
      </dgm:t>
    </dgm:pt>
    <dgm:pt modelId="{0FC8017D-9F5C-40DB-87BE-B1E73747A07D}" type="sibTrans" cxnId="{92013A32-1BAA-4E8B-8E59-0C5F86BA36E4}">
      <dgm:prSet/>
      <dgm:spPr/>
      <dgm:t>
        <a:bodyPr/>
        <a:lstStyle/>
        <a:p>
          <a:endParaRPr lang="en-US"/>
        </a:p>
      </dgm:t>
    </dgm:pt>
    <dgm:pt modelId="{A2AEA16E-49B1-4DC9-8223-ADFEC1D6E88A}">
      <dgm:prSet phldrT="[Text]">
        <dgm:style>
          <a:lnRef idx="2">
            <a:schemeClr val="accent4"/>
          </a:lnRef>
          <a:fillRef idx="1">
            <a:schemeClr val="lt1"/>
          </a:fillRef>
          <a:effectRef idx="0">
            <a:schemeClr val="accent4"/>
          </a:effectRef>
          <a:fontRef idx="minor">
            <a:schemeClr val="dk1"/>
          </a:fontRef>
        </dgm:style>
      </dgm:prSet>
      <dgm:spPr>
        <a:ln w="12700">
          <a:solidFill>
            <a:schemeClr val="tx1"/>
          </a:solidFill>
        </a:ln>
      </dgm:spPr>
      <dgm:t>
        <a:bodyPr/>
        <a:lstStyle/>
        <a:p>
          <a:r>
            <a:rPr lang="en-US" dirty="0"/>
            <a:t>I</a:t>
          </a:r>
        </a:p>
      </dgm:t>
    </dgm:pt>
    <dgm:pt modelId="{6574A5A5-6F71-4B75-A854-A060CC71A955}" type="parTrans" cxnId="{A56B2080-E485-427C-847B-64ECC90F6D6B}">
      <dgm:prSet/>
      <dgm:spPr/>
      <dgm:t>
        <a:bodyPr/>
        <a:lstStyle/>
        <a:p>
          <a:endParaRPr lang="en-US"/>
        </a:p>
      </dgm:t>
    </dgm:pt>
    <dgm:pt modelId="{3B239F42-1E56-414C-BAEA-38C3C8910F82}" type="sibTrans" cxnId="{A56B2080-E485-427C-847B-64ECC90F6D6B}">
      <dgm:prSet/>
      <dgm:spPr/>
      <dgm:t>
        <a:bodyPr/>
        <a:lstStyle/>
        <a:p>
          <a:endParaRPr lang="en-US"/>
        </a:p>
      </dgm:t>
    </dgm:pt>
    <dgm:pt modelId="{8A0BB1E1-EFC2-4F85-98F9-1806732424FD}">
      <dgm:prSet phldrT="[Text]">
        <dgm:style>
          <a:lnRef idx="2">
            <a:schemeClr val="accent4"/>
          </a:lnRef>
          <a:fillRef idx="1">
            <a:schemeClr val="lt1"/>
          </a:fillRef>
          <a:effectRef idx="0">
            <a:schemeClr val="accent4"/>
          </a:effectRef>
          <a:fontRef idx="minor">
            <a:schemeClr val="dk1"/>
          </a:fontRef>
        </dgm:style>
      </dgm:prSet>
      <dgm:spPr>
        <a:ln w="12700">
          <a:solidFill>
            <a:schemeClr val="tx1"/>
          </a:solidFill>
        </a:ln>
      </dgm:spPr>
      <dgm:t>
        <a:bodyPr/>
        <a:lstStyle/>
        <a:p>
          <a:r>
            <a:rPr lang="en-US" dirty="0"/>
            <a:t>C</a:t>
          </a:r>
        </a:p>
      </dgm:t>
    </dgm:pt>
    <dgm:pt modelId="{C0700ADA-59A9-474B-9D9B-E313AFB0A1A6}" type="parTrans" cxnId="{2BB08F79-3FCE-4C15-987F-1F9742296D45}">
      <dgm:prSet/>
      <dgm:spPr/>
      <dgm:t>
        <a:bodyPr/>
        <a:lstStyle/>
        <a:p>
          <a:endParaRPr lang="en-US"/>
        </a:p>
      </dgm:t>
    </dgm:pt>
    <dgm:pt modelId="{D4AB77BE-457C-476E-9CF5-12FF5ACC77B8}" type="sibTrans" cxnId="{2BB08F79-3FCE-4C15-987F-1F9742296D45}">
      <dgm:prSet/>
      <dgm:spPr/>
      <dgm:t>
        <a:bodyPr/>
        <a:lstStyle/>
        <a:p>
          <a:endParaRPr lang="en-US"/>
        </a:p>
      </dgm:t>
    </dgm:pt>
    <dgm:pt modelId="{18D87F5F-42AD-4E9F-A6E6-7FE3973FD35E}">
      <dgm:prSet phldrT="[Text]">
        <dgm:style>
          <a:lnRef idx="2">
            <a:schemeClr val="accent4"/>
          </a:lnRef>
          <a:fillRef idx="1">
            <a:schemeClr val="lt1"/>
          </a:fillRef>
          <a:effectRef idx="0">
            <a:schemeClr val="accent4"/>
          </a:effectRef>
          <a:fontRef idx="minor">
            <a:schemeClr val="dk1"/>
          </a:fontRef>
        </dgm:style>
      </dgm:prSet>
      <dgm:spPr>
        <a:solidFill>
          <a:schemeClr val="bg1">
            <a:lumMod val="85000"/>
          </a:schemeClr>
        </a:solidFill>
        <a:ln w="12700">
          <a:solidFill>
            <a:schemeClr val="tx1"/>
          </a:solidFill>
        </a:ln>
      </dgm:spPr>
      <dgm:t>
        <a:bodyPr/>
        <a:lstStyle/>
        <a:p>
          <a:r>
            <a:rPr lang="en-US" dirty="0"/>
            <a:t>M</a:t>
          </a:r>
        </a:p>
      </dgm:t>
    </dgm:pt>
    <dgm:pt modelId="{E8E81D99-A7F5-4310-A3FC-1C942562E35F}" type="parTrans" cxnId="{3E7E1F28-8BD1-48C3-8A95-5E67D2F2900F}">
      <dgm:prSet/>
      <dgm:spPr/>
      <dgm:t>
        <a:bodyPr/>
        <a:lstStyle/>
        <a:p>
          <a:endParaRPr lang="en-US"/>
        </a:p>
      </dgm:t>
    </dgm:pt>
    <dgm:pt modelId="{5B565DB8-B340-4150-BC5D-2740C9E7405A}" type="sibTrans" cxnId="{3E7E1F28-8BD1-48C3-8A95-5E67D2F2900F}">
      <dgm:prSet/>
      <dgm:spPr/>
      <dgm:t>
        <a:bodyPr/>
        <a:lstStyle/>
        <a:p>
          <a:endParaRPr lang="en-US"/>
        </a:p>
      </dgm:t>
    </dgm:pt>
    <dgm:pt modelId="{9E4E745E-2470-477B-9DC0-E82B38E47448}">
      <dgm:prSet phldrT="[Text]">
        <dgm:style>
          <a:lnRef idx="2">
            <a:schemeClr val="accent4"/>
          </a:lnRef>
          <a:fillRef idx="1">
            <a:schemeClr val="lt1"/>
          </a:fillRef>
          <a:effectRef idx="0">
            <a:schemeClr val="accent4"/>
          </a:effectRef>
          <a:fontRef idx="minor">
            <a:schemeClr val="dk1"/>
          </a:fontRef>
        </dgm:style>
      </dgm:prSet>
      <dgm:spPr>
        <a:ln w="12700">
          <a:solidFill>
            <a:schemeClr val="tx1"/>
          </a:solidFill>
        </a:ln>
      </dgm:spPr>
      <dgm:t>
        <a:bodyPr/>
        <a:lstStyle/>
        <a:p>
          <a:r>
            <a:rPr lang="en-US" dirty="0"/>
            <a:t>A</a:t>
          </a:r>
        </a:p>
      </dgm:t>
    </dgm:pt>
    <dgm:pt modelId="{78EDF3EB-861A-47DB-8ACA-3E0750718571}" type="parTrans" cxnId="{E29D67D5-D04F-44F5-944C-6085F68D9788}">
      <dgm:prSet/>
      <dgm:spPr/>
      <dgm:t>
        <a:bodyPr/>
        <a:lstStyle/>
        <a:p>
          <a:endParaRPr lang="en-US"/>
        </a:p>
      </dgm:t>
    </dgm:pt>
    <dgm:pt modelId="{F02D2992-5C75-4F39-B4FA-6BE725FF6B3D}" type="sibTrans" cxnId="{E29D67D5-D04F-44F5-944C-6085F68D9788}">
      <dgm:prSet/>
      <dgm:spPr/>
      <dgm:t>
        <a:bodyPr/>
        <a:lstStyle/>
        <a:p>
          <a:endParaRPr lang="en-US"/>
        </a:p>
      </dgm:t>
    </dgm:pt>
    <dgm:pt modelId="{75D48B9B-99C3-4C15-8EAC-E9BA0DD14686}" type="pres">
      <dgm:prSet presAssocID="{7AD4F92C-78BA-4F6E-810D-84BEE50C8241}" presName="Name0" presStyleCnt="0">
        <dgm:presLayoutVars>
          <dgm:dir/>
          <dgm:animLvl val="lvl"/>
          <dgm:resizeHandles val="exact"/>
        </dgm:presLayoutVars>
      </dgm:prSet>
      <dgm:spPr/>
    </dgm:pt>
    <dgm:pt modelId="{6A0ADE0C-E6D1-4D81-9931-771EEA7AFED4}" type="pres">
      <dgm:prSet presAssocID="{BAC7D273-E5EE-4038-A5C1-6C6F5ACB0D03}" presName="parTxOnly" presStyleLbl="node1" presStyleIdx="0" presStyleCnt="5">
        <dgm:presLayoutVars>
          <dgm:chMax val="0"/>
          <dgm:chPref val="0"/>
          <dgm:bulletEnabled val="1"/>
        </dgm:presLayoutVars>
      </dgm:prSet>
      <dgm:spPr/>
    </dgm:pt>
    <dgm:pt modelId="{065F6587-BE7F-4D0E-98E2-44771C09D7ED}" type="pres">
      <dgm:prSet presAssocID="{0FC8017D-9F5C-40DB-87BE-B1E73747A07D}" presName="parTxOnlySpace" presStyleCnt="0"/>
      <dgm:spPr/>
    </dgm:pt>
    <dgm:pt modelId="{D3AB7C3D-A810-418A-9680-2D5C0886B87C}" type="pres">
      <dgm:prSet presAssocID="{18D87F5F-42AD-4E9F-A6E6-7FE3973FD35E}" presName="parTxOnly" presStyleLbl="node1" presStyleIdx="1" presStyleCnt="5">
        <dgm:presLayoutVars>
          <dgm:chMax val="0"/>
          <dgm:chPref val="0"/>
          <dgm:bulletEnabled val="1"/>
        </dgm:presLayoutVars>
      </dgm:prSet>
      <dgm:spPr/>
    </dgm:pt>
    <dgm:pt modelId="{45F0D139-CE00-4B67-92DF-948F9E3DF760}" type="pres">
      <dgm:prSet presAssocID="{5B565DB8-B340-4150-BC5D-2740C9E7405A}" presName="parTxOnlySpace" presStyleCnt="0"/>
      <dgm:spPr/>
    </dgm:pt>
    <dgm:pt modelId="{85F4B451-0FD0-42C8-80A0-3D70971ED446}" type="pres">
      <dgm:prSet presAssocID="{9E4E745E-2470-477B-9DC0-E82B38E47448}" presName="parTxOnly" presStyleLbl="node1" presStyleIdx="2" presStyleCnt="5">
        <dgm:presLayoutVars>
          <dgm:chMax val="0"/>
          <dgm:chPref val="0"/>
          <dgm:bulletEnabled val="1"/>
        </dgm:presLayoutVars>
      </dgm:prSet>
      <dgm:spPr/>
    </dgm:pt>
    <dgm:pt modelId="{0CEB3E5A-3F2D-44D0-8A0A-14BD5AE928A8}" type="pres">
      <dgm:prSet presAssocID="{F02D2992-5C75-4F39-B4FA-6BE725FF6B3D}" presName="parTxOnlySpace" presStyleCnt="0"/>
      <dgm:spPr/>
    </dgm:pt>
    <dgm:pt modelId="{679CE53B-3AB7-4DE6-AD51-84FD8C46EB46}" type="pres">
      <dgm:prSet presAssocID="{A2AEA16E-49B1-4DC9-8223-ADFEC1D6E88A}" presName="parTxOnly" presStyleLbl="node1" presStyleIdx="3" presStyleCnt="5">
        <dgm:presLayoutVars>
          <dgm:chMax val="0"/>
          <dgm:chPref val="0"/>
          <dgm:bulletEnabled val="1"/>
        </dgm:presLayoutVars>
      </dgm:prSet>
      <dgm:spPr/>
    </dgm:pt>
    <dgm:pt modelId="{05FDF251-92B6-480C-82BC-68646E838DF3}" type="pres">
      <dgm:prSet presAssocID="{3B239F42-1E56-414C-BAEA-38C3C8910F82}" presName="parTxOnlySpace" presStyleCnt="0"/>
      <dgm:spPr/>
    </dgm:pt>
    <dgm:pt modelId="{8B532F1F-7985-410D-8F23-17546AA96819}" type="pres">
      <dgm:prSet presAssocID="{8A0BB1E1-EFC2-4F85-98F9-1806732424FD}" presName="parTxOnly" presStyleLbl="node1" presStyleIdx="4" presStyleCnt="5">
        <dgm:presLayoutVars>
          <dgm:chMax val="0"/>
          <dgm:chPref val="0"/>
          <dgm:bulletEnabled val="1"/>
        </dgm:presLayoutVars>
      </dgm:prSet>
      <dgm:spPr/>
    </dgm:pt>
  </dgm:ptLst>
  <dgm:cxnLst>
    <dgm:cxn modelId="{BF313511-A882-4FD8-8CD7-EE07DA30632F}" type="presOf" srcId="{9E4E745E-2470-477B-9DC0-E82B38E47448}" destId="{85F4B451-0FD0-42C8-80A0-3D70971ED446}" srcOrd="0" destOrd="0" presId="urn:microsoft.com/office/officeart/2005/8/layout/chevron1"/>
    <dgm:cxn modelId="{3E7E1F28-8BD1-48C3-8A95-5E67D2F2900F}" srcId="{7AD4F92C-78BA-4F6E-810D-84BEE50C8241}" destId="{18D87F5F-42AD-4E9F-A6E6-7FE3973FD35E}" srcOrd="1" destOrd="0" parTransId="{E8E81D99-A7F5-4310-A3FC-1C942562E35F}" sibTransId="{5B565DB8-B340-4150-BC5D-2740C9E7405A}"/>
    <dgm:cxn modelId="{92013A32-1BAA-4E8B-8E59-0C5F86BA36E4}" srcId="{7AD4F92C-78BA-4F6E-810D-84BEE50C8241}" destId="{BAC7D273-E5EE-4038-A5C1-6C6F5ACB0D03}" srcOrd="0" destOrd="0" parTransId="{5E3CA2F6-A4DF-4AD7-8F49-7697828C860A}" sibTransId="{0FC8017D-9F5C-40DB-87BE-B1E73747A07D}"/>
    <dgm:cxn modelId="{7B4EC45C-D9FC-4E59-AFF9-71DFEAD14C6D}" type="presOf" srcId="{BAC7D273-E5EE-4038-A5C1-6C6F5ACB0D03}" destId="{6A0ADE0C-E6D1-4D81-9931-771EEA7AFED4}" srcOrd="0" destOrd="0" presId="urn:microsoft.com/office/officeart/2005/8/layout/chevron1"/>
    <dgm:cxn modelId="{8B420D4D-CBD4-4EB4-9952-BF3598BE3FBA}" type="presOf" srcId="{8A0BB1E1-EFC2-4F85-98F9-1806732424FD}" destId="{8B532F1F-7985-410D-8F23-17546AA96819}" srcOrd="0" destOrd="0" presId="urn:microsoft.com/office/officeart/2005/8/layout/chevron1"/>
    <dgm:cxn modelId="{2BB08F79-3FCE-4C15-987F-1F9742296D45}" srcId="{7AD4F92C-78BA-4F6E-810D-84BEE50C8241}" destId="{8A0BB1E1-EFC2-4F85-98F9-1806732424FD}" srcOrd="4" destOrd="0" parTransId="{C0700ADA-59A9-474B-9D9B-E313AFB0A1A6}" sibTransId="{D4AB77BE-457C-476E-9CF5-12FF5ACC77B8}"/>
    <dgm:cxn modelId="{A56B2080-E485-427C-847B-64ECC90F6D6B}" srcId="{7AD4F92C-78BA-4F6E-810D-84BEE50C8241}" destId="{A2AEA16E-49B1-4DC9-8223-ADFEC1D6E88A}" srcOrd="3" destOrd="0" parTransId="{6574A5A5-6F71-4B75-A854-A060CC71A955}" sibTransId="{3B239F42-1E56-414C-BAEA-38C3C8910F82}"/>
    <dgm:cxn modelId="{CA2B948B-2BC4-4303-A3C4-9910C8AAFD74}" type="presOf" srcId="{18D87F5F-42AD-4E9F-A6E6-7FE3973FD35E}" destId="{D3AB7C3D-A810-418A-9680-2D5C0886B87C}" srcOrd="0" destOrd="0" presId="urn:microsoft.com/office/officeart/2005/8/layout/chevron1"/>
    <dgm:cxn modelId="{83A5F7A2-4AD2-4F5F-88F2-B60C4622A9DD}" type="presOf" srcId="{7AD4F92C-78BA-4F6E-810D-84BEE50C8241}" destId="{75D48B9B-99C3-4C15-8EAC-E9BA0DD14686}" srcOrd="0" destOrd="0" presId="urn:microsoft.com/office/officeart/2005/8/layout/chevron1"/>
    <dgm:cxn modelId="{662E96BB-DD21-47F8-A269-B169BB80E5B3}" type="presOf" srcId="{A2AEA16E-49B1-4DC9-8223-ADFEC1D6E88A}" destId="{679CE53B-3AB7-4DE6-AD51-84FD8C46EB46}" srcOrd="0" destOrd="0" presId="urn:microsoft.com/office/officeart/2005/8/layout/chevron1"/>
    <dgm:cxn modelId="{E29D67D5-D04F-44F5-944C-6085F68D9788}" srcId="{7AD4F92C-78BA-4F6E-810D-84BEE50C8241}" destId="{9E4E745E-2470-477B-9DC0-E82B38E47448}" srcOrd="2" destOrd="0" parTransId="{78EDF3EB-861A-47DB-8ACA-3E0750718571}" sibTransId="{F02D2992-5C75-4F39-B4FA-6BE725FF6B3D}"/>
    <dgm:cxn modelId="{B2DB9EE0-144B-4596-80C7-382C82E59D5D}" type="presParOf" srcId="{75D48B9B-99C3-4C15-8EAC-E9BA0DD14686}" destId="{6A0ADE0C-E6D1-4D81-9931-771EEA7AFED4}" srcOrd="0" destOrd="0" presId="urn:microsoft.com/office/officeart/2005/8/layout/chevron1"/>
    <dgm:cxn modelId="{5D2DCFDB-C928-460D-9D0D-B368AAF744F8}" type="presParOf" srcId="{75D48B9B-99C3-4C15-8EAC-E9BA0DD14686}" destId="{065F6587-BE7F-4D0E-98E2-44771C09D7ED}" srcOrd="1" destOrd="0" presId="urn:microsoft.com/office/officeart/2005/8/layout/chevron1"/>
    <dgm:cxn modelId="{24ADDB57-7299-472E-9A3D-B6358B2FD793}" type="presParOf" srcId="{75D48B9B-99C3-4C15-8EAC-E9BA0DD14686}" destId="{D3AB7C3D-A810-418A-9680-2D5C0886B87C}" srcOrd="2" destOrd="0" presId="urn:microsoft.com/office/officeart/2005/8/layout/chevron1"/>
    <dgm:cxn modelId="{0B3F037C-5245-4431-93A5-D0DFCD4991BF}" type="presParOf" srcId="{75D48B9B-99C3-4C15-8EAC-E9BA0DD14686}" destId="{45F0D139-CE00-4B67-92DF-948F9E3DF760}" srcOrd="3" destOrd="0" presId="urn:microsoft.com/office/officeart/2005/8/layout/chevron1"/>
    <dgm:cxn modelId="{0185A9D8-DD5D-4F38-865F-386324CAE524}" type="presParOf" srcId="{75D48B9B-99C3-4C15-8EAC-E9BA0DD14686}" destId="{85F4B451-0FD0-42C8-80A0-3D70971ED446}" srcOrd="4" destOrd="0" presId="urn:microsoft.com/office/officeart/2005/8/layout/chevron1"/>
    <dgm:cxn modelId="{906F7AA6-6CEB-4F8A-A388-478AC32AEEB3}" type="presParOf" srcId="{75D48B9B-99C3-4C15-8EAC-E9BA0DD14686}" destId="{0CEB3E5A-3F2D-44D0-8A0A-14BD5AE928A8}" srcOrd="5" destOrd="0" presId="urn:microsoft.com/office/officeart/2005/8/layout/chevron1"/>
    <dgm:cxn modelId="{2629E3FC-9EA2-4F19-8CCA-15EF45E90840}" type="presParOf" srcId="{75D48B9B-99C3-4C15-8EAC-E9BA0DD14686}" destId="{679CE53B-3AB7-4DE6-AD51-84FD8C46EB46}" srcOrd="6" destOrd="0" presId="urn:microsoft.com/office/officeart/2005/8/layout/chevron1"/>
    <dgm:cxn modelId="{923912C4-436C-47B6-AB99-859F8AB53EF7}" type="presParOf" srcId="{75D48B9B-99C3-4C15-8EAC-E9BA0DD14686}" destId="{05FDF251-92B6-480C-82BC-68646E838DF3}" srcOrd="7" destOrd="0" presId="urn:microsoft.com/office/officeart/2005/8/layout/chevron1"/>
    <dgm:cxn modelId="{2594B841-6A00-4E01-8239-C7762029CA0B}" type="presParOf" srcId="{75D48B9B-99C3-4C15-8EAC-E9BA0DD14686}" destId="{8B532F1F-7985-410D-8F23-17546AA96819}" srcOrd="8" destOrd="0" presId="urn:microsoft.com/office/officeart/2005/8/layout/chevron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7AD4F92C-78BA-4F6E-810D-84BEE50C8241}" type="doc">
      <dgm:prSet loTypeId="urn:microsoft.com/office/officeart/2005/8/layout/chevron1" loCatId="process" qsTypeId="urn:microsoft.com/office/officeart/2005/8/quickstyle/simple1" qsCatId="simple" csTypeId="urn:microsoft.com/office/officeart/2005/8/colors/accent1_2" csCatId="accent1" phldr="1"/>
      <dgm:spPr/>
    </dgm:pt>
    <dgm:pt modelId="{BAC7D273-E5EE-4038-A5C1-6C6F5ACB0D03}">
      <dgm:prSet phldrT="[Text]">
        <dgm:style>
          <a:lnRef idx="2">
            <a:schemeClr val="accent4"/>
          </a:lnRef>
          <a:fillRef idx="1">
            <a:schemeClr val="lt1"/>
          </a:fillRef>
          <a:effectRef idx="0">
            <a:schemeClr val="accent4"/>
          </a:effectRef>
          <a:fontRef idx="minor">
            <a:schemeClr val="dk1"/>
          </a:fontRef>
        </dgm:style>
      </dgm:prSet>
      <dgm:spPr>
        <a:solidFill>
          <a:schemeClr val="bg1"/>
        </a:solidFill>
        <a:ln w="12700">
          <a:solidFill>
            <a:schemeClr val="tx1"/>
          </a:solidFill>
        </a:ln>
      </dgm:spPr>
      <dgm:t>
        <a:bodyPr/>
        <a:lstStyle/>
        <a:p>
          <a:r>
            <a:rPr lang="en-US" dirty="0"/>
            <a:t>D</a:t>
          </a:r>
        </a:p>
      </dgm:t>
    </dgm:pt>
    <dgm:pt modelId="{5E3CA2F6-A4DF-4AD7-8F49-7697828C860A}" type="parTrans" cxnId="{92013A32-1BAA-4E8B-8E59-0C5F86BA36E4}">
      <dgm:prSet/>
      <dgm:spPr/>
      <dgm:t>
        <a:bodyPr/>
        <a:lstStyle/>
        <a:p>
          <a:endParaRPr lang="en-US"/>
        </a:p>
      </dgm:t>
    </dgm:pt>
    <dgm:pt modelId="{0FC8017D-9F5C-40DB-87BE-B1E73747A07D}" type="sibTrans" cxnId="{92013A32-1BAA-4E8B-8E59-0C5F86BA36E4}">
      <dgm:prSet/>
      <dgm:spPr/>
      <dgm:t>
        <a:bodyPr/>
        <a:lstStyle/>
        <a:p>
          <a:endParaRPr lang="en-US"/>
        </a:p>
      </dgm:t>
    </dgm:pt>
    <dgm:pt modelId="{A2AEA16E-49B1-4DC9-8223-ADFEC1D6E88A}">
      <dgm:prSet phldrT="[Text]">
        <dgm:style>
          <a:lnRef idx="2">
            <a:schemeClr val="accent4"/>
          </a:lnRef>
          <a:fillRef idx="1">
            <a:schemeClr val="lt1"/>
          </a:fillRef>
          <a:effectRef idx="0">
            <a:schemeClr val="accent4"/>
          </a:effectRef>
          <a:fontRef idx="minor">
            <a:schemeClr val="dk1"/>
          </a:fontRef>
        </dgm:style>
      </dgm:prSet>
      <dgm:spPr>
        <a:ln w="12700">
          <a:solidFill>
            <a:schemeClr val="tx1"/>
          </a:solidFill>
        </a:ln>
      </dgm:spPr>
      <dgm:t>
        <a:bodyPr/>
        <a:lstStyle/>
        <a:p>
          <a:r>
            <a:rPr lang="en-US" dirty="0"/>
            <a:t>I</a:t>
          </a:r>
        </a:p>
      </dgm:t>
    </dgm:pt>
    <dgm:pt modelId="{6574A5A5-6F71-4B75-A854-A060CC71A955}" type="parTrans" cxnId="{A56B2080-E485-427C-847B-64ECC90F6D6B}">
      <dgm:prSet/>
      <dgm:spPr/>
      <dgm:t>
        <a:bodyPr/>
        <a:lstStyle/>
        <a:p>
          <a:endParaRPr lang="en-US"/>
        </a:p>
      </dgm:t>
    </dgm:pt>
    <dgm:pt modelId="{3B239F42-1E56-414C-BAEA-38C3C8910F82}" type="sibTrans" cxnId="{A56B2080-E485-427C-847B-64ECC90F6D6B}">
      <dgm:prSet/>
      <dgm:spPr/>
      <dgm:t>
        <a:bodyPr/>
        <a:lstStyle/>
        <a:p>
          <a:endParaRPr lang="en-US"/>
        </a:p>
      </dgm:t>
    </dgm:pt>
    <dgm:pt modelId="{8A0BB1E1-EFC2-4F85-98F9-1806732424FD}">
      <dgm:prSet phldrT="[Text]">
        <dgm:style>
          <a:lnRef idx="2">
            <a:schemeClr val="accent4"/>
          </a:lnRef>
          <a:fillRef idx="1">
            <a:schemeClr val="lt1"/>
          </a:fillRef>
          <a:effectRef idx="0">
            <a:schemeClr val="accent4"/>
          </a:effectRef>
          <a:fontRef idx="minor">
            <a:schemeClr val="dk1"/>
          </a:fontRef>
        </dgm:style>
      </dgm:prSet>
      <dgm:spPr>
        <a:ln w="12700">
          <a:solidFill>
            <a:schemeClr val="tx1"/>
          </a:solidFill>
        </a:ln>
      </dgm:spPr>
      <dgm:t>
        <a:bodyPr/>
        <a:lstStyle/>
        <a:p>
          <a:r>
            <a:rPr lang="en-US" dirty="0"/>
            <a:t>C</a:t>
          </a:r>
        </a:p>
      </dgm:t>
    </dgm:pt>
    <dgm:pt modelId="{C0700ADA-59A9-474B-9D9B-E313AFB0A1A6}" type="parTrans" cxnId="{2BB08F79-3FCE-4C15-987F-1F9742296D45}">
      <dgm:prSet/>
      <dgm:spPr/>
      <dgm:t>
        <a:bodyPr/>
        <a:lstStyle/>
        <a:p>
          <a:endParaRPr lang="en-US"/>
        </a:p>
      </dgm:t>
    </dgm:pt>
    <dgm:pt modelId="{D4AB77BE-457C-476E-9CF5-12FF5ACC77B8}" type="sibTrans" cxnId="{2BB08F79-3FCE-4C15-987F-1F9742296D45}">
      <dgm:prSet/>
      <dgm:spPr/>
      <dgm:t>
        <a:bodyPr/>
        <a:lstStyle/>
        <a:p>
          <a:endParaRPr lang="en-US"/>
        </a:p>
      </dgm:t>
    </dgm:pt>
    <dgm:pt modelId="{18D87F5F-42AD-4E9F-A6E6-7FE3973FD35E}">
      <dgm:prSet phldrT="[Text]">
        <dgm:style>
          <a:lnRef idx="2">
            <a:schemeClr val="accent4"/>
          </a:lnRef>
          <a:fillRef idx="1">
            <a:schemeClr val="lt1"/>
          </a:fillRef>
          <a:effectRef idx="0">
            <a:schemeClr val="accent4"/>
          </a:effectRef>
          <a:fontRef idx="minor">
            <a:schemeClr val="dk1"/>
          </a:fontRef>
        </dgm:style>
      </dgm:prSet>
      <dgm:spPr>
        <a:solidFill>
          <a:schemeClr val="bg1">
            <a:lumMod val="85000"/>
          </a:schemeClr>
        </a:solidFill>
        <a:ln w="12700">
          <a:solidFill>
            <a:schemeClr val="tx1"/>
          </a:solidFill>
        </a:ln>
      </dgm:spPr>
      <dgm:t>
        <a:bodyPr/>
        <a:lstStyle/>
        <a:p>
          <a:r>
            <a:rPr lang="en-US" dirty="0"/>
            <a:t>M</a:t>
          </a:r>
        </a:p>
      </dgm:t>
    </dgm:pt>
    <dgm:pt modelId="{E8E81D99-A7F5-4310-A3FC-1C942562E35F}" type="parTrans" cxnId="{3E7E1F28-8BD1-48C3-8A95-5E67D2F2900F}">
      <dgm:prSet/>
      <dgm:spPr/>
      <dgm:t>
        <a:bodyPr/>
        <a:lstStyle/>
        <a:p>
          <a:endParaRPr lang="en-US"/>
        </a:p>
      </dgm:t>
    </dgm:pt>
    <dgm:pt modelId="{5B565DB8-B340-4150-BC5D-2740C9E7405A}" type="sibTrans" cxnId="{3E7E1F28-8BD1-48C3-8A95-5E67D2F2900F}">
      <dgm:prSet/>
      <dgm:spPr/>
      <dgm:t>
        <a:bodyPr/>
        <a:lstStyle/>
        <a:p>
          <a:endParaRPr lang="en-US"/>
        </a:p>
      </dgm:t>
    </dgm:pt>
    <dgm:pt modelId="{9E4E745E-2470-477B-9DC0-E82B38E47448}">
      <dgm:prSet phldrT="[Text]">
        <dgm:style>
          <a:lnRef idx="2">
            <a:schemeClr val="accent4"/>
          </a:lnRef>
          <a:fillRef idx="1">
            <a:schemeClr val="lt1"/>
          </a:fillRef>
          <a:effectRef idx="0">
            <a:schemeClr val="accent4"/>
          </a:effectRef>
          <a:fontRef idx="minor">
            <a:schemeClr val="dk1"/>
          </a:fontRef>
        </dgm:style>
      </dgm:prSet>
      <dgm:spPr>
        <a:ln w="12700">
          <a:solidFill>
            <a:schemeClr val="tx1"/>
          </a:solidFill>
        </a:ln>
      </dgm:spPr>
      <dgm:t>
        <a:bodyPr/>
        <a:lstStyle/>
        <a:p>
          <a:r>
            <a:rPr lang="en-US" dirty="0"/>
            <a:t>A</a:t>
          </a:r>
        </a:p>
      </dgm:t>
    </dgm:pt>
    <dgm:pt modelId="{78EDF3EB-861A-47DB-8ACA-3E0750718571}" type="parTrans" cxnId="{E29D67D5-D04F-44F5-944C-6085F68D9788}">
      <dgm:prSet/>
      <dgm:spPr/>
      <dgm:t>
        <a:bodyPr/>
        <a:lstStyle/>
        <a:p>
          <a:endParaRPr lang="en-US"/>
        </a:p>
      </dgm:t>
    </dgm:pt>
    <dgm:pt modelId="{F02D2992-5C75-4F39-B4FA-6BE725FF6B3D}" type="sibTrans" cxnId="{E29D67D5-D04F-44F5-944C-6085F68D9788}">
      <dgm:prSet/>
      <dgm:spPr/>
      <dgm:t>
        <a:bodyPr/>
        <a:lstStyle/>
        <a:p>
          <a:endParaRPr lang="en-US"/>
        </a:p>
      </dgm:t>
    </dgm:pt>
    <dgm:pt modelId="{75D48B9B-99C3-4C15-8EAC-E9BA0DD14686}" type="pres">
      <dgm:prSet presAssocID="{7AD4F92C-78BA-4F6E-810D-84BEE50C8241}" presName="Name0" presStyleCnt="0">
        <dgm:presLayoutVars>
          <dgm:dir/>
          <dgm:animLvl val="lvl"/>
          <dgm:resizeHandles val="exact"/>
        </dgm:presLayoutVars>
      </dgm:prSet>
      <dgm:spPr/>
    </dgm:pt>
    <dgm:pt modelId="{6A0ADE0C-E6D1-4D81-9931-771EEA7AFED4}" type="pres">
      <dgm:prSet presAssocID="{BAC7D273-E5EE-4038-A5C1-6C6F5ACB0D03}" presName="parTxOnly" presStyleLbl="node1" presStyleIdx="0" presStyleCnt="5">
        <dgm:presLayoutVars>
          <dgm:chMax val="0"/>
          <dgm:chPref val="0"/>
          <dgm:bulletEnabled val="1"/>
        </dgm:presLayoutVars>
      </dgm:prSet>
      <dgm:spPr/>
    </dgm:pt>
    <dgm:pt modelId="{065F6587-BE7F-4D0E-98E2-44771C09D7ED}" type="pres">
      <dgm:prSet presAssocID="{0FC8017D-9F5C-40DB-87BE-B1E73747A07D}" presName="parTxOnlySpace" presStyleCnt="0"/>
      <dgm:spPr/>
    </dgm:pt>
    <dgm:pt modelId="{D3AB7C3D-A810-418A-9680-2D5C0886B87C}" type="pres">
      <dgm:prSet presAssocID="{18D87F5F-42AD-4E9F-A6E6-7FE3973FD35E}" presName="parTxOnly" presStyleLbl="node1" presStyleIdx="1" presStyleCnt="5">
        <dgm:presLayoutVars>
          <dgm:chMax val="0"/>
          <dgm:chPref val="0"/>
          <dgm:bulletEnabled val="1"/>
        </dgm:presLayoutVars>
      </dgm:prSet>
      <dgm:spPr/>
    </dgm:pt>
    <dgm:pt modelId="{45F0D139-CE00-4B67-92DF-948F9E3DF760}" type="pres">
      <dgm:prSet presAssocID="{5B565DB8-B340-4150-BC5D-2740C9E7405A}" presName="parTxOnlySpace" presStyleCnt="0"/>
      <dgm:spPr/>
    </dgm:pt>
    <dgm:pt modelId="{85F4B451-0FD0-42C8-80A0-3D70971ED446}" type="pres">
      <dgm:prSet presAssocID="{9E4E745E-2470-477B-9DC0-E82B38E47448}" presName="parTxOnly" presStyleLbl="node1" presStyleIdx="2" presStyleCnt="5">
        <dgm:presLayoutVars>
          <dgm:chMax val="0"/>
          <dgm:chPref val="0"/>
          <dgm:bulletEnabled val="1"/>
        </dgm:presLayoutVars>
      </dgm:prSet>
      <dgm:spPr/>
    </dgm:pt>
    <dgm:pt modelId="{0CEB3E5A-3F2D-44D0-8A0A-14BD5AE928A8}" type="pres">
      <dgm:prSet presAssocID="{F02D2992-5C75-4F39-B4FA-6BE725FF6B3D}" presName="parTxOnlySpace" presStyleCnt="0"/>
      <dgm:spPr/>
    </dgm:pt>
    <dgm:pt modelId="{679CE53B-3AB7-4DE6-AD51-84FD8C46EB46}" type="pres">
      <dgm:prSet presAssocID="{A2AEA16E-49B1-4DC9-8223-ADFEC1D6E88A}" presName="parTxOnly" presStyleLbl="node1" presStyleIdx="3" presStyleCnt="5">
        <dgm:presLayoutVars>
          <dgm:chMax val="0"/>
          <dgm:chPref val="0"/>
          <dgm:bulletEnabled val="1"/>
        </dgm:presLayoutVars>
      </dgm:prSet>
      <dgm:spPr/>
    </dgm:pt>
    <dgm:pt modelId="{05FDF251-92B6-480C-82BC-68646E838DF3}" type="pres">
      <dgm:prSet presAssocID="{3B239F42-1E56-414C-BAEA-38C3C8910F82}" presName="parTxOnlySpace" presStyleCnt="0"/>
      <dgm:spPr/>
    </dgm:pt>
    <dgm:pt modelId="{8B532F1F-7985-410D-8F23-17546AA96819}" type="pres">
      <dgm:prSet presAssocID="{8A0BB1E1-EFC2-4F85-98F9-1806732424FD}" presName="parTxOnly" presStyleLbl="node1" presStyleIdx="4" presStyleCnt="5">
        <dgm:presLayoutVars>
          <dgm:chMax val="0"/>
          <dgm:chPref val="0"/>
          <dgm:bulletEnabled val="1"/>
        </dgm:presLayoutVars>
      </dgm:prSet>
      <dgm:spPr/>
    </dgm:pt>
  </dgm:ptLst>
  <dgm:cxnLst>
    <dgm:cxn modelId="{BF313511-A882-4FD8-8CD7-EE07DA30632F}" type="presOf" srcId="{9E4E745E-2470-477B-9DC0-E82B38E47448}" destId="{85F4B451-0FD0-42C8-80A0-3D70971ED446}" srcOrd="0" destOrd="0" presId="urn:microsoft.com/office/officeart/2005/8/layout/chevron1"/>
    <dgm:cxn modelId="{3E7E1F28-8BD1-48C3-8A95-5E67D2F2900F}" srcId="{7AD4F92C-78BA-4F6E-810D-84BEE50C8241}" destId="{18D87F5F-42AD-4E9F-A6E6-7FE3973FD35E}" srcOrd="1" destOrd="0" parTransId="{E8E81D99-A7F5-4310-A3FC-1C942562E35F}" sibTransId="{5B565DB8-B340-4150-BC5D-2740C9E7405A}"/>
    <dgm:cxn modelId="{92013A32-1BAA-4E8B-8E59-0C5F86BA36E4}" srcId="{7AD4F92C-78BA-4F6E-810D-84BEE50C8241}" destId="{BAC7D273-E5EE-4038-A5C1-6C6F5ACB0D03}" srcOrd="0" destOrd="0" parTransId="{5E3CA2F6-A4DF-4AD7-8F49-7697828C860A}" sibTransId="{0FC8017D-9F5C-40DB-87BE-B1E73747A07D}"/>
    <dgm:cxn modelId="{7B4EC45C-D9FC-4E59-AFF9-71DFEAD14C6D}" type="presOf" srcId="{BAC7D273-E5EE-4038-A5C1-6C6F5ACB0D03}" destId="{6A0ADE0C-E6D1-4D81-9931-771EEA7AFED4}" srcOrd="0" destOrd="0" presId="urn:microsoft.com/office/officeart/2005/8/layout/chevron1"/>
    <dgm:cxn modelId="{8B420D4D-CBD4-4EB4-9952-BF3598BE3FBA}" type="presOf" srcId="{8A0BB1E1-EFC2-4F85-98F9-1806732424FD}" destId="{8B532F1F-7985-410D-8F23-17546AA96819}" srcOrd="0" destOrd="0" presId="urn:microsoft.com/office/officeart/2005/8/layout/chevron1"/>
    <dgm:cxn modelId="{2BB08F79-3FCE-4C15-987F-1F9742296D45}" srcId="{7AD4F92C-78BA-4F6E-810D-84BEE50C8241}" destId="{8A0BB1E1-EFC2-4F85-98F9-1806732424FD}" srcOrd="4" destOrd="0" parTransId="{C0700ADA-59A9-474B-9D9B-E313AFB0A1A6}" sibTransId="{D4AB77BE-457C-476E-9CF5-12FF5ACC77B8}"/>
    <dgm:cxn modelId="{A56B2080-E485-427C-847B-64ECC90F6D6B}" srcId="{7AD4F92C-78BA-4F6E-810D-84BEE50C8241}" destId="{A2AEA16E-49B1-4DC9-8223-ADFEC1D6E88A}" srcOrd="3" destOrd="0" parTransId="{6574A5A5-6F71-4B75-A854-A060CC71A955}" sibTransId="{3B239F42-1E56-414C-BAEA-38C3C8910F82}"/>
    <dgm:cxn modelId="{CA2B948B-2BC4-4303-A3C4-9910C8AAFD74}" type="presOf" srcId="{18D87F5F-42AD-4E9F-A6E6-7FE3973FD35E}" destId="{D3AB7C3D-A810-418A-9680-2D5C0886B87C}" srcOrd="0" destOrd="0" presId="urn:microsoft.com/office/officeart/2005/8/layout/chevron1"/>
    <dgm:cxn modelId="{83A5F7A2-4AD2-4F5F-88F2-B60C4622A9DD}" type="presOf" srcId="{7AD4F92C-78BA-4F6E-810D-84BEE50C8241}" destId="{75D48B9B-99C3-4C15-8EAC-E9BA0DD14686}" srcOrd="0" destOrd="0" presId="urn:microsoft.com/office/officeart/2005/8/layout/chevron1"/>
    <dgm:cxn modelId="{662E96BB-DD21-47F8-A269-B169BB80E5B3}" type="presOf" srcId="{A2AEA16E-49B1-4DC9-8223-ADFEC1D6E88A}" destId="{679CE53B-3AB7-4DE6-AD51-84FD8C46EB46}" srcOrd="0" destOrd="0" presId="urn:microsoft.com/office/officeart/2005/8/layout/chevron1"/>
    <dgm:cxn modelId="{E29D67D5-D04F-44F5-944C-6085F68D9788}" srcId="{7AD4F92C-78BA-4F6E-810D-84BEE50C8241}" destId="{9E4E745E-2470-477B-9DC0-E82B38E47448}" srcOrd="2" destOrd="0" parTransId="{78EDF3EB-861A-47DB-8ACA-3E0750718571}" sibTransId="{F02D2992-5C75-4F39-B4FA-6BE725FF6B3D}"/>
    <dgm:cxn modelId="{B2DB9EE0-144B-4596-80C7-382C82E59D5D}" type="presParOf" srcId="{75D48B9B-99C3-4C15-8EAC-E9BA0DD14686}" destId="{6A0ADE0C-E6D1-4D81-9931-771EEA7AFED4}" srcOrd="0" destOrd="0" presId="urn:microsoft.com/office/officeart/2005/8/layout/chevron1"/>
    <dgm:cxn modelId="{5D2DCFDB-C928-460D-9D0D-B368AAF744F8}" type="presParOf" srcId="{75D48B9B-99C3-4C15-8EAC-E9BA0DD14686}" destId="{065F6587-BE7F-4D0E-98E2-44771C09D7ED}" srcOrd="1" destOrd="0" presId="urn:microsoft.com/office/officeart/2005/8/layout/chevron1"/>
    <dgm:cxn modelId="{24ADDB57-7299-472E-9A3D-B6358B2FD793}" type="presParOf" srcId="{75D48B9B-99C3-4C15-8EAC-E9BA0DD14686}" destId="{D3AB7C3D-A810-418A-9680-2D5C0886B87C}" srcOrd="2" destOrd="0" presId="urn:microsoft.com/office/officeart/2005/8/layout/chevron1"/>
    <dgm:cxn modelId="{0B3F037C-5245-4431-93A5-D0DFCD4991BF}" type="presParOf" srcId="{75D48B9B-99C3-4C15-8EAC-E9BA0DD14686}" destId="{45F0D139-CE00-4B67-92DF-948F9E3DF760}" srcOrd="3" destOrd="0" presId="urn:microsoft.com/office/officeart/2005/8/layout/chevron1"/>
    <dgm:cxn modelId="{0185A9D8-DD5D-4F38-865F-386324CAE524}" type="presParOf" srcId="{75D48B9B-99C3-4C15-8EAC-E9BA0DD14686}" destId="{85F4B451-0FD0-42C8-80A0-3D70971ED446}" srcOrd="4" destOrd="0" presId="urn:microsoft.com/office/officeart/2005/8/layout/chevron1"/>
    <dgm:cxn modelId="{906F7AA6-6CEB-4F8A-A388-478AC32AEEB3}" type="presParOf" srcId="{75D48B9B-99C3-4C15-8EAC-E9BA0DD14686}" destId="{0CEB3E5A-3F2D-44D0-8A0A-14BD5AE928A8}" srcOrd="5" destOrd="0" presId="urn:microsoft.com/office/officeart/2005/8/layout/chevron1"/>
    <dgm:cxn modelId="{2629E3FC-9EA2-4F19-8CCA-15EF45E90840}" type="presParOf" srcId="{75D48B9B-99C3-4C15-8EAC-E9BA0DD14686}" destId="{679CE53B-3AB7-4DE6-AD51-84FD8C46EB46}" srcOrd="6" destOrd="0" presId="urn:microsoft.com/office/officeart/2005/8/layout/chevron1"/>
    <dgm:cxn modelId="{923912C4-436C-47B6-AB99-859F8AB53EF7}" type="presParOf" srcId="{75D48B9B-99C3-4C15-8EAC-E9BA0DD14686}" destId="{05FDF251-92B6-480C-82BC-68646E838DF3}" srcOrd="7" destOrd="0" presId="urn:microsoft.com/office/officeart/2005/8/layout/chevron1"/>
    <dgm:cxn modelId="{2594B841-6A00-4E01-8239-C7762029CA0B}" type="presParOf" srcId="{75D48B9B-99C3-4C15-8EAC-E9BA0DD14686}" destId="{8B532F1F-7985-410D-8F23-17546AA96819}" srcOrd="8" destOrd="0" presId="urn:microsoft.com/office/officeart/2005/8/layout/chevron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7AD4F92C-78BA-4F6E-810D-84BEE50C8241}" type="doc">
      <dgm:prSet loTypeId="urn:microsoft.com/office/officeart/2005/8/layout/chevron1" loCatId="process" qsTypeId="urn:microsoft.com/office/officeart/2005/8/quickstyle/simple1" qsCatId="simple" csTypeId="urn:microsoft.com/office/officeart/2005/8/colors/accent1_2" csCatId="accent1" phldr="1"/>
      <dgm:spPr/>
    </dgm:pt>
    <dgm:pt modelId="{BAC7D273-E5EE-4038-A5C1-6C6F5ACB0D03}">
      <dgm:prSet phldrT="[Text]">
        <dgm:style>
          <a:lnRef idx="2">
            <a:schemeClr val="accent4"/>
          </a:lnRef>
          <a:fillRef idx="1">
            <a:schemeClr val="lt1"/>
          </a:fillRef>
          <a:effectRef idx="0">
            <a:schemeClr val="accent4"/>
          </a:effectRef>
          <a:fontRef idx="minor">
            <a:schemeClr val="dk1"/>
          </a:fontRef>
        </dgm:style>
      </dgm:prSet>
      <dgm:spPr>
        <a:solidFill>
          <a:schemeClr val="bg1"/>
        </a:solidFill>
        <a:ln w="12700">
          <a:solidFill>
            <a:schemeClr val="tx1"/>
          </a:solidFill>
        </a:ln>
      </dgm:spPr>
      <dgm:t>
        <a:bodyPr/>
        <a:lstStyle/>
        <a:p>
          <a:r>
            <a:rPr lang="en-US" dirty="0"/>
            <a:t>D</a:t>
          </a:r>
        </a:p>
      </dgm:t>
    </dgm:pt>
    <dgm:pt modelId="{5E3CA2F6-A4DF-4AD7-8F49-7697828C860A}" type="parTrans" cxnId="{92013A32-1BAA-4E8B-8E59-0C5F86BA36E4}">
      <dgm:prSet/>
      <dgm:spPr/>
      <dgm:t>
        <a:bodyPr/>
        <a:lstStyle/>
        <a:p>
          <a:endParaRPr lang="en-US"/>
        </a:p>
      </dgm:t>
    </dgm:pt>
    <dgm:pt modelId="{0FC8017D-9F5C-40DB-87BE-B1E73747A07D}" type="sibTrans" cxnId="{92013A32-1BAA-4E8B-8E59-0C5F86BA36E4}">
      <dgm:prSet/>
      <dgm:spPr/>
      <dgm:t>
        <a:bodyPr/>
        <a:lstStyle/>
        <a:p>
          <a:endParaRPr lang="en-US"/>
        </a:p>
      </dgm:t>
    </dgm:pt>
    <dgm:pt modelId="{A2AEA16E-49B1-4DC9-8223-ADFEC1D6E88A}">
      <dgm:prSet phldrT="[Text]">
        <dgm:style>
          <a:lnRef idx="2">
            <a:schemeClr val="accent4"/>
          </a:lnRef>
          <a:fillRef idx="1">
            <a:schemeClr val="lt1"/>
          </a:fillRef>
          <a:effectRef idx="0">
            <a:schemeClr val="accent4"/>
          </a:effectRef>
          <a:fontRef idx="minor">
            <a:schemeClr val="dk1"/>
          </a:fontRef>
        </dgm:style>
      </dgm:prSet>
      <dgm:spPr>
        <a:ln w="12700">
          <a:solidFill>
            <a:schemeClr val="tx1"/>
          </a:solidFill>
        </a:ln>
      </dgm:spPr>
      <dgm:t>
        <a:bodyPr/>
        <a:lstStyle/>
        <a:p>
          <a:r>
            <a:rPr lang="en-US" dirty="0"/>
            <a:t>I</a:t>
          </a:r>
        </a:p>
      </dgm:t>
    </dgm:pt>
    <dgm:pt modelId="{6574A5A5-6F71-4B75-A854-A060CC71A955}" type="parTrans" cxnId="{A56B2080-E485-427C-847B-64ECC90F6D6B}">
      <dgm:prSet/>
      <dgm:spPr/>
      <dgm:t>
        <a:bodyPr/>
        <a:lstStyle/>
        <a:p>
          <a:endParaRPr lang="en-US"/>
        </a:p>
      </dgm:t>
    </dgm:pt>
    <dgm:pt modelId="{3B239F42-1E56-414C-BAEA-38C3C8910F82}" type="sibTrans" cxnId="{A56B2080-E485-427C-847B-64ECC90F6D6B}">
      <dgm:prSet/>
      <dgm:spPr/>
      <dgm:t>
        <a:bodyPr/>
        <a:lstStyle/>
        <a:p>
          <a:endParaRPr lang="en-US"/>
        </a:p>
      </dgm:t>
    </dgm:pt>
    <dgm:pt modelId="{8A0BB1E1-EFC2-4F85-98F9-1806732424FD}">
      <dgm:prSet phldrT="[Text]">
        <dgm:style>
          <a:lnRef idx="2">
            <a:schemeClr val="accent4"/>
          </a:lnRef>
          <a:fillRef idx="1">
            <a:schemeClr val="lt1"/>
          </a:fillRef>
          <a:effectRef idx="0">
            <a:schemeClr val="accent4"/>
          </a:effectRef>
          <a:fontRef idx="minor">
            <a:schemeClr val="dk1"/>
          </a:fontRef>
        </dgm:style>
      </dgm:prSet>
      <dgm:spPr>
        <a:ln w="12700">
          <a:solidFill>
            <a:schemeClr val="tx1"/>
          </a:solidFill>
        </a:ln>
      </dgm:spPr>
      <dgm:t>
        <a:bodyPr/>
        <a:lstStyle/>
        <a:p>
          <a:r>
            <a:rPr lang="en-US" dirty="0"/>
            <a:t>C</a:t>
          </a:r>
        </a:p>
      </dgm:t>
    </dgm:pt>
    <dgm:pt modelId="{C0700ADA-59A9-474B-9D9B-E313AFB0A1A6}" type="parTrans" cxnId="{2BB08F79-3FCE-4C15-987F-1F9742296D45}">
      <dgm:prSet/>
      <dgm:spPr/>
      <dgm:t>
        <a:bodyPr/>
        <a:lstStyle/>
        <a:p>
          <a:endParaRPr lang="en-US"/>
        </a:p>
      </dgm:t>
    </dgm:pt>
    <dgm:pt modelId="{D4AB77BE-457C-476E-9CF5-12FF5ACC77B8}" type="sibTrans" cxnId="{2BB08F79-3FCE-4C15-987F-1F9742296D45}">
      <dgm:prSet/>
      <dgm:spPr/>
      <dgm:t>
        <a:bodyPr/>
        <a:lstStyle/>
        <a:p>
          <a:endParaRPr lang="en-US"/>
        </a:p>
      </dgm:t>
    </dgm:pt>
    <dgm:pt modelId="{18D87F5F-42AD-4E9F-A6E6-7FE3973FD35E}">
      <dgm:prSet phldrT="[Text]">
        <dgm:style>
          <a:lnRef idx="2">
            <a:schemeClr val="accent4"/>
          </a:lnRef>
          <a:fillRef idx="1">
            <a:schemeClr val="lt1"/>
          </a:fillRef>
          <a:effectRef idx="0">
            <a:schemeClr val="accent4"/>
          </a:effectRef>
          <a:fontRef idx="minor">
            <a:schemeClr val="dk1"/>
          </a:fontRef>
        </dgm:style>
      </dgm:prSet>
      <dgm:spPr>
        <a:solidFill>
          <a:schemeClr val="bg1">
            <a:lumMod val="85000"/>
          </a:schemeClr>
        </a:solidFill>
        <a:ln w="12700">
          <a:solidFill>
            <a:schemeClr val="tx1"/>
          </a:solidFill>
        </a:ln>
      </dgm:spPr>
      <dgm:t>
        <a:bodyPr/>
        <a:lstStyle/>
        <a:p>
          <a:r>
            <a:rPr lang="en-US" dirty="0"/>
            <a:t>M</a:t>
          </a:r>
        </a:p>
      </dgm:t>
    </dgm:pt>
    <dgm:pt modelId="{E8E81D99-A7F5-4310-A3FC-1C942562E35F}" type="parTrans" cxnId="{3E7E1F28-8BD1-48C3-8A95-5E67D2F2900F}">
      <dgm:prSet/>
      <dgm:spPr/>
      <dgm:t>
        <a:bodyPr/>
        <a:lstStyle/>
        <a:p>
          <a:endParaRPr lang="en-US"/>
        </a:p>
      </dgm:t>
    </dgm:pt>
    <dgm:pt modelId="{5B565DB8-B340-4150-BC5D-2740C9E7405A}" type="sibTrans" cxnId="{3E7E1F28-8BD1-48C3-8A95-5E67D2F2900F}">
      <dgm:prSet/>
      <dgm:spPr/>
      <dgm:t>
        <a:bodyPr/>
        <a:lstStyle/>
        <a:p>
          <a:endParaRPr lang="en-US"/>
        </a:p>
      </dgm:t>
    </dgm:pt>
    <dgm:pt modelId="{9E4E745E-2470-477B-9DC0-E82B38E47448}">
      <dgm:prSet phldrT="[Text]">
        <dgm:style>
          <a:lnRef idx="2">
            <a:schemeClr val="accent4"/>
          </a:lnRef>
          <a:fillRef idx="1">
            <a:schemeClr val="lt1"/>
          </a:fillRef>
          <a:effectRef idx="0">
            <a:schemeClr val="accent4"/>
          </a:effectRef>
          <a:fontRef idx="minor">
            <a:schemeClr val="dk1"/>
          </a:fontRef>
        </dgm:style>
      </dgm:prSet>
      <dgm:spPr>
        <a:ln w="12700">
          <a:solidFill>
            <a:schemeClr val="tx1"/>
          </a:solidFill>
        </a:ln>
      </dgm:spPr>
      <dgm:t>
        <a:bodyPr/>
        <a:lstStyle/>
        <a:p>
          <a:r>
            <a:rPr lang="en-US" dirty="0"/>
            <a:t>A</a:t>
          </a:r>
        </a:p>
      </dgm:t>
    </dgm:pt>
    <dgm:pt modelId="{78EDF3EB-861A-47DB-8ACA-3E0750718571}" type="parTrans" cxnId="{E29D67D5-D04F-44F5-944C-6085F68D9788}">
      <dgm:prSet/>
      <dgm:spPr/>
      <dgm:t>
        <a:bodyPr/>
        <a:lstStyle/>
        <a:p>
          <a:endParaRPr lang="en-US"/>
        </a:p>
      </dgm:t>
    </dgm:pt>
    <dgm:pt modelId="{F02D2992-5C75-4F39-B4FA-6BE725FF6B3D}" type="sibTrans" cxnId="{E29D67D5-D04F-44F5-944C-6085F68D9788}">
      <dgm:prSet/>
      <dgm:spPr/>
      <dgm:t>
        <a:bodyPr/>
        <a:lstStyle/>
        <a:p>
          <a:endParaRPr lang="en-US"/>
        </a:p>
      </dgm:t>
    </dgm:pt>
    <dgm:pt modelId="{75D48B9B-99C3-4C15-8EAC-E9BA0DD14686}" type="pres">
      <dgm:prSet presAssocID="{7AD4F92C-78BA-4F6E-810D-84BEE50C8241}" presName="Name0" presStyleCnt="0">
        <dgm:presLayoutVars>
          <dgm:dir/>
          <dgm:animLvl val="lvl"/>
          <dgm:resizeHandles val="exact"/>
        </dgm:presLayoutVars>
      </dgm:prSet>
      <dgm:spPr/>
    </dgm:pt>
    <dgm:pt modelId="{6A0ADE0C-E6D1-4D81-9931-771EEA7AFED4}" type="pres">
      <dgm:prSet presAssocID="{BAC7D273-E5EE-4038-A5C1-6C6F5ACB0D03}" presName="parTxOnly" presStyleLbl="node1" presStyleIdx="0" presStyleCnt="5">
        <dgm:presLayoutVars>
          <dgm:chMax val="0"/>
          <dgm:chPref val="0"/>
          <dgm:bulletEnabled val="1"/>
        </dgm:presLayoutVars>
      </dgm:prSet>
      <dgm:spPr/>
    </dgm:pt>
    <dgm:pt modelId="{065F6587-BE7F-4D0E-98E2-44771C09D7ED}" type="pres">
      <dgm:prSet presAssocID="{0FC8017D-9F5C-40DB-87BE-B1E73747A07D}" presName="parTxOnlySpace" presStyleCnt="0"/>
      <dgm:spPr/>
    </dgm:pt>
    <dgm:pt modelId="{D3AB7C3D-A810-418A-9680-2D5C0886B87C}" type="pres">
      <dgm:prSet presAssocID="{18D87F5F-42AD-4E9F-A6E6-7FE3973FD35E}" presName="parTxOnly" presStyleLbl="node1" presStyleIdx="1" presStyleCnt="5">
        <dgm:presLayoutVars>
          <dgm:chMax val="0"/>
          <dgm:chPref val="0"/>
          <dgm:bulletEnabled val="1"/>
        </dgm:presLayoutVars>
      </dgm:prSet>
      <dgm:spPr/>
    </dgm:pt>
    <dgm:pt modelId="{45F0D139-CE00-4B67-92DF-948F9E3DF760}" type="pres">
      <dgm:prSet presAssocID="{5B565DB8-B340-4150-BC5D-2740C9E7405A}" presName="parTxOnlySpace" presStyleCnt="0"/>
      <dgm:spPr/>
    </dgm:pt>
    <dgm:pt modelId="{85F4B451-0FD0-42C8-80A0-3D70971ED446}" type="pres">
      <dgm:prSet presAssocID="{9E4E745E-2470-477B-9DC0-E82B38E47448}" presName="parTxOnly" presStyleLbl="node1" presStyleIdx="2" presStyleCnt="5">
        <dgm:presLayoutVars>
          <dgm:chMax val="0"/>
          <dgm:chPref val="0"/>
          <dgm:bulletEnabled val="1"/>
        </dgm:presLayoutVars>
      </dgm:prSet>
      <dgm:spPr/>
    </dgm:pt>
    <dgm:pt modelId="{0CEB3E5A-3F2D-44D0-8A0A-14BD5AE928A8}" type="pres">
      <dgm:prSet presAssocID="{F02D2992-5C75-4F39-B4FA-6BE725FF6B3D}" presName="parTxOnlySpace" presStyleCnt="0"/>
      <dgm:spPr/>
    </dgm:pt>
    <dgm:pt modelId="{679CE53B-3AB7-4DE6-AD51-84FD8C46EB46}" type="pres">
      <dgm:prSet presAssocID="{A2AEA16E-49B1-4DC9-8223-ADFEC1D6E88A}" presName="parTxOnly" presStyleLbl="node1" presStyleIdx="3" presStyleCnt="5">
        <dgm:presLayoutVars>
          <dgm:chMax val="0"/>
          <dgm:chPref val="0"/>
          <dgm:bulletEnabled val="1"/>
        </dgm:presLayoutVars>
      </dgm:prSet>
      <dgm:spPr/>
    </dgm:pt>
    <dgm:pt modelId="{05FDF251-92B6-480C-82BC-68646E838DF3}" type="pres">
      <dgm:prSet presAssocID="{3B239F42-1E56-414C-BAEA-38C3C8910F82}" presName="parTxOnlySpace" presStyleCnt="0"/>
      <dgm:spPr/>
    </dgm:pt>
    <dgm:pt modelId="{8B532F1F-7985-410D-8F23-17546AA96819}" type="pres">
      <dgm:prSet presAssocID="{8A0BB1E1-EFC2-4F85-98F9-1806732424FD}" presName="parTxOnly" presStyleLbl="node1" presStyleIdx="4" presStyleCnt="5">
        <dgm:presLayoutVars>
          <dgm:chMax val="0"/>
          <dgm:chPref val="0"/>
          <dgm:bulletEnabled val="1"/>
        </dgm:presLayoutVars>
      </dgm:prSet>
      <dgm:spPr/>
    </dgm:pt>
  </dgm:ptLst>
  <dgm:cxnLst>
    <dgm:cxn modelId="{BF313511-A882-4FD8-8CD7-EE07DA30632F}" type="presOf" srcId="{9E4E745E-2470-477B-9DC0-E82B38E47448}" destId="{85F4B451-0FD0-42C8-80A0-3D70971ED446}" srcOrd="0" destOrd="0" presId="urn:microsoft.com/office/officeart/2005/8/layout/chevron1"/>
    <dgm:cxn modelId="{3E7E1F28-8BD1-48C3-8A95-5E67D2F2900F}" srcId="{7AD4F92C-78BA-4F6E-810D-84BEE50C8241}" destId="{18D87F5F-42AD-4E9F-A6E6-7FE3973FD35E}" srcOrd="1" destOrd="0" parTransId="{E8E81D99-A7F5-4310-A3FC-1C942562E35F}" sibTransId="{5B565DB8-B340-4150-BC5D-2740C9E7405A}"/>
    <dgm:cxn modelId="{92013A32-1BAA-4E8B-8E59-0C5F86BA36E4}" srcId="{7AD4F92C-78BA-4F6E-810D-84BEE50C8241}" destId="{BAC7D273-E5EE-4038-A5C1-6C6F5ACB0D03}" srcOrd="0" destOrd="0" parTransId="{5E3CA2F6-A4DF-4AD7-8F49-7697828C860A}" sibTransId="{0FC8017D-9F5C-40DB-87BE-B1E73747A07D}"/>
    <dgm:cxn modelId="{7B4EC45C-D9FC-4E59-AFF9-71DFEAD14C6D}" type="presOf" srcId="{BAC7D273-E5EE-4038-A5C1-6C6F5ACB0D03}" destId="{6A0ADE0C-E6D1-4D81-9931-771EEA7AFED4}" srcOrd="0" destOrd="0" presId="urn:microsoft.com/office/officeart/2005/8/layout/chevron1"/>
    <dgm:cxn modelId="{8B420D4D-CBD4-4EB4-9952-BF3598BE3FBA}" type="presOf" srcId="{8A0BB1E1-EFC2-4F85-98F9-1806732424FD}" destId="{8B532F1F-7985-410D-8F23-17546AA96819}" srcOrd="0" destOrd="0" presId="urn:microsoft.com/office/officeart/2005/8/layout/chevron1"/>
    <dgm:cxn modelId="{2BB08F79-3FCE-4C15-987F-1F9742296D45}" srcId="{7AD4F92C-78BA-4F6E-810D-84BEE50C8241}" destId="{8A0BB1E1-EFC2-4F85-98F9-1806732424FD}" srcOrd="4" destOrd="0" parTransId="{C0700ADA-59A9-474B-9D9B-E313AFB0A1A6}" sibTransId="{D4AB77BE-457C-476E-9CF5-12FF5ACC77B8}"/>
    <dgm:cxn modelId="{A56B2080-E485-427C-847B-64ECC90F6D6B}" srcId="{7AD4F92C-78BA-4F6E-810D-84BEE50C8241}" destId="{A2AEA16E-49B1-4DC9-8223-ADFEC1D6E88A}" srcOrd="3" destOrd="0" parTransId="{6574A5A5-6F71-4B75-A854-A060CC71A955}" sibTransId="{3B239F42-1E56-414C-BAEA-38C3C8910F82}"/>
    <dgm:cxn modelId="{CA2B948B-2BC4-4303-A3C4-9910C8AAFD74}" type="presOf" srcId="{18D87F5F-42AD-4E9F-A6E6-7FE3973FD35E}" destId="{D3AB7C3D-A810-418A-9680-2D5C0886B87C}" srcOrd="0" destOrd="0" presId="urn:microsoft.com/office/officeart/2005/8/layout/chevron1"/>
    <dgm:cxn modelId="{83A5F7A2-4AD2-4F5F-88F2-B60C4622A9DD}" type="presOf" srcId="{7AD4F92C-78BA-4F6E-810D-84BEE50C8241}" destId="{75D48B9B-99C3-4C15-8EAC-E9BA0DD14686}" srcOrd="0" destOrd="0" presId="urn:microsoft.com/office/officeart/2005/8/layout/chevron1"/>
    <dgm:cxn modelId="{662E96BB-DD21-47F8-A269-B169BB80E5B3}" type="presOf" srcId="{A2AEA16E-49B1-4DC9-8223-ADFEC1D6E88A}" destId="{679CE53B-3AB7-4DE6-AD51-84FD8C46EB46}" srcOrd="0" destOrd="0" presId="urn:microsoft.com/office/officeart/2005/8/layout/chevron1"/>
    <dgm:cxn modelId="{E29D67D5-D04F-44F5-944C-6085F68D9788}" srcId="{7AD4F92C-78BA-4F6E-810D-84BEE50C8241}" destId="{9E4E745E-2470-477B-9DC0-E82B38E47448}" srcOrd="2" destOrd="0" parTransId="{78EDF3EB-861A-47DB-8ACA-3E0750718571}" sibTransId="{F02D2992-5C75-4F39-B4FA-6BE725FF6B3D}"/>
    <dgm:cxn modelId="{B2DB9EE0-144B-4596-80C7-382C82E59D5D}" type="presParOf" srcId="{75D48B9B-99C3-4C15-8EAC-E9BA0DD14686}" destId="{6A0ADE0C-E6D1-4D81-9931-771EEA7AFED4}" srcOrd="0" destOrd="0" presId="urn:microsoft.com/office/officeart/2005/8/layout/chevron1"/>
    <dgm:cxn modelId="{5D2DCFDB-C928-460D-9D0D-B368AAF744F8}" type="presParOf" srcId="{75D48B9B-99C3-4C15-8EAC-E9BA0DD14686}" destId="{065F6587-BE7F-4D0E-98E2-44771C09D7ED}" srcOrd="1" destOrd="0" presId="urn:microsoft.com/office/officeart/2005/8/layout/chevron1"/>
    <dgm:cxn modelId="{24ADDB57-7299-472E-9A3D-B6358B2FD793}" type="presParOf" srcId="{75D48B9B-99C3-4C15-8EAC-E9BA0DD14686}" destId="{D3AB7C3D-A810-418A-9680-2D5C0886B87C}" srcOrd="2" destOrd="0" presId="urn:microsoft.com/office/officeart/2005/8/layout/chevron1"/>
    <dgm:cxn modelId="{0B3F037C-5245-4431-93A5-D0DFCD4991BF}" type="presParOf" srcId="{75D48B9B-99C3-4C15-8EAC-E9BA0DD14686}" destId="{45F0D139-CE00-4B67-92DF-948F9E3DF760}" srcOrd="3" destOrd="0" presId="urn:microsoft.com/office/officeart/2005/8/layout/chevron1"/>
    <dgm:cxn modelId="{0185A9D8-DD5D-4F38-865F-386324CAE524}" type="presParOf" srcId="{75D48B9B-99C3-4C15-8EAC-E9BA0DD14686}" destId="{85F4B451-0FD0-42C8-80A0-3D70971ED446}" srcOrd="4" destOrd="0" presId="urn:microsoft.com/office/officeart/2005/8/layout/chevron1"/>
    <dgm:cxn modelId="{906F7AA6-6CEB-4F8A-A388-478AC32AEEB3}" type="presParOf" srcId="{75D48B9B-99C3-4C15-8EAC-E9BA0DD14686}" destId="{0CEB3E5A-3F2D-44D0-8A0A-14BD5AE928A8}" srcOrd="5" destOrd="0" presId="urn:microsoft.com/office/officeart/2005/8/layout/chevron1"/>
    <dgm:cxn modelId="{2629E3FC-9EA2-4F19-8CCA-15EF45E90840}" type="presParOf" srcId="{75D48B9B-99C3-4C15-8EAC-E9BA0DD14686}" destId="{679CE53B-3AB7-4DE6-AD51-84FD8C46EB46}" srcOrd="6" destOrd="0" presId="urn:microsoft.com/office/officeart/2005/8/layout/chevron1"/>
    <dgm:cxn modelId="{923912C4-436C-47B6-AB99-859F8AB53EF7}" type="presParOf" srcId="{75D48B9B-99C3-4C15-8EAC-E9BA0DD14686}" destId="{05FDF251-92B6-480C-82BC-68646E838DF3}" srcOrd="7" destOrd="0" presId="urn:microsoft.com/office/officeart/2005/8/layout/chevron1"/>
    <dgm:cxn modelId="{2594B841-6A00-4E01-8239-C7762029CA0B}" type="presParOf" srcId="{75D48B9B-99C3-4C15-8EAC-E9BA0DD14686}" destId="{8B532F1F-7985-410D-8F23-17546AA96819}" srcOrd="8" destOrd="0" presId="urn:microsoft.com/office/officeart/2005/8/layout/chevron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7AD4F92C-78BA-4F6E-810D-84BEE50C8241}" type="doc">
      <dgm:prSet loTypeId="urn:microsoft.com/office/officeart/2005/8/layout/chevron1" loCatId="process" qsTypeId="urn:microsoft.com/office/officeart/2005/8/quickstyle/simple1" qsCatId="simple" csTypeId="urn:microsoft.com/office/officeart/2005/8/colors/accent1_2" csCatId="accent1" phldr="1"/>
      <dgm:spPr/>
    </dgm:pt>
    <dgm:pt modelId="{BAC7D273-E5EE-4038-A5C1-6C6F5ACB0D03}">
      <dgm:prSet phldrT="[Text]">
        <dgm:style>
          <a:lnRef idx="2">
            <a:schemeClr val="accent4"/>
          </a:lnRef>
          <a:fillRef idx="1">
            <a:schemeClr val="lt1"/>
          </a:fillRef>
          <a:effectRef idx="0">
            <a:schemeClr val="accent4"/>
          </a:effectRef>
          <a:fontRef idx="minor">
            <a:schemeClr val="dk1"/>
          </a:fontRef>
        </dgm:style>
      </dgm:prSet>
      <dgm:spPr>
        <a:solidFill>
          <a:schemeClr val="bg1"/>
        </a:solidFill>
        <a:ln w="12700">
          <a:solidFill>
            <a:schemeClr val="tx1"/>
          </a:solidFill>
        </a:ln>
      </dgm:spPr>
      <dgm:t>
        <a:bodyPr/>
        <a:lstStyle/>
        <a:p>
          <a:r>
            <a:rPr lang="en-US" dirty="0"/>
            <a:t>D</a:t>
          </a:r>
        </a:p>
      </dgm:t>
    </dgm:pt>
    <dgm:pt modelId="{5E3CA2F6-A4DF-4AD7-8F49-7697828C860A}" type="parTrans" cxnId="{92013A32-1BAA-4E8B-8E59-0C5F86BA36E4}">
      <dgm:prSet/>
      <dgm:spPr/>
      <dgm:t>
        <a:bodyPr/>
        <a:lstStyle/>
        <a:p>
          <a:endParaRPr lang="en-US"/>
        </a:p>
      </dgm:t>
    </dgm:pt>
    <dgm:pt modelId="{0FC8017D-9F5C-40DB-87BE-B1E73747A07D}" type="sibTrans" cxnId="{92013A32-1BAA-4E8B-8E59-0C5F86BA36E4}">
      <dgm:prSet/>
      <dgm:spPr/>
      <dgm:t>
        <a:bodyPr/>
        <a:lstStyle/>
        <a:p>
          <a:endParaRPr lang="en-US"/>
        </a:p>
      </dgm:t>
    </dgm:pt>
    <dgm:pt modelId="{A2AEA16E-49B1-4DC9-8223-ADFEC1D6E88A}">
      <dgm:prSet phldrT="[Text]">
        <dgm:style>
          <a:lnRef idx="2">
            <a:schemeClr val="accent4"/>
          </a:lnRef>
          <a:fillRef idx="1">
            <a:schemeClr val="lt1"/>
          </a:fillRef>
          <a:effectRef idx="0">
            <a:schemeClr val="accent4"/>
          </a:effectRef>
          <a:fontRef idx="minor">
            <a:schemeClr val="dk1"/>
          </a:fontRef>
        </dgm:style>
      </dgm:prSet>
      <dgm:spPr>
        <a:ln w="12700">
          <a:solidFill>
            <a:schemeClr val="tx1"/>
          </a:solidFill>
        </a:ln>
      </dgm:spPr>
      <dgm:t>
        <a:bodyPr/>
        <a:lstStyle/>
        <a:p>
          <a:r>
            <a:rPr lang="en-US" dirty="0"/>
            <a:t>I</a:t>
          </a:r>
        </a:p>
      </dgm:t>
    </dgm:pt>
    <dgm:pt modelId="{6574A5A5-6F71-4B75-A854-A060CC71A955}" type="parTrans" cxnId="{A56B2080-E485-427C-847B-64ECC90F6D6B}">
      <dgm:prSet/>
      <dgm:spPr/>
      <dgm:t>
        <a:bodyPr/>
        <a:lstStyle/>
        <a:p>
          <a:endParaRPr lang="en-US"/>
        </a:p>
      </dgm:t>
    </dgm:pt>
    <dgm:pt modelId="{3B239F42-1E56-414C-BAEA-38C3C8910F82}" type="sibTrans" cxnId="{A56B2080-E485-427C-847B-64ECC90F6D6B}">
      <dgm:prSet/>
      <dgm:spPr/>
      <dgm:t>
        <a:bodyPr/>
        <a:lstStyle/>
        <a:p>
          <a:endParaRPr lang="en-US"/>
        </a:p>
      </dgm:t>
    </dgm:pt>
    <dgm:pt modelId="{8A0BB1E1-EFC2-4F85-98F9-1806732424FD}">
      <dgm:prSet phldrT="[Text]">
        <dgm:style>
          <a:lnRef idx="2">
            <a:schemeClr val="accent4"/>
          </a:lnRef>
          <a:fillRef idx="1">
            <a:schemeClr val="lt1"/>
          </a:fillRef>
          <a:effectRef idx="0">
            <a:schemeClr val="accent4"/>
          </a:effectRef>
          <a:fontRef idx="minor">
            <a:schemeClr val="dk1"/>
          </a:fontRef>
        </dgm:style>
      </dgm:prSet>
      <dgm:spPr>
        <a:ln w="12700">
          <a:solidFill>
            <a:schemeClr val="tx1"/>
          </a:solidFill>
        </a:ln>
      </dgm:spPr>
      <dgm:t>
        <a:bodyPr/>
        <a:lstStyle/>
        <a:p>
          <a:r>
            <a:rPr lang="en-US" dirty="0"/>
            <a:t>C</a:t>
          </a:r>
        </a:p>
      </dgm:t>
    </dgm:pt>
    <dgm:pt modelId="{C0700ADA-59A9-474B-9D9B-E313AFB0A1A6}" type="parTrans" cxnId="{2BB08F79-3FCE-4C15-987F-1F9742296D45}">
      <dgm:prSet/>
      <dgm:spPr/>
      <dgm:t>
        <a:bodyPr/>
        <a:lstStyle/>
        <a:p>
          <a:endParaRPr lang="en-US"/>
        </a:p>
      </dgm:t>
    </dgm:pt>
    <dgm:pt modelId="{D4AB77BE-457C-476E-9CF5-12FF5ACC77B8}" type="sibTrans" cxnId="{2BB08F79-3FCE-4C15-987F-1F9742296D45}">
      <dgm:prSet/>
      <dgm:spPr/>
      <dgm:t>
        <a:bodyPr/>
        <a:lstStyle/>
        <a:p>
          <a:endParaRPr lang="en-US"/>
        </a:p>
      </dgm:t>
    </dgm:pt>
    <dgm:pt modelId="{18D87F5F-42AD-4E9F-A6E6-7FE3973FD35E}">
      <dgm:prSet phldrT="[Text]">
        <dgm:style>
          <a:lnRef idx="2">
            <a:schemeClr val="accent4"/>
          </a:lnRef>
          <a:fillRef idx="1">
            <a:schemeClr val="lt1"/>
          </a:fillRef>
          <a:effectRef idx="0">
            <a:schemeClr val="accent4"/>
          </a:effectRef>
          <a:fontRef idx="minor">
            <a:schemeClr val="dk1"/>
          </a:fontRef>
        </dgm:style>
      </dgm:prSet>
      <dgm:spPr>
        <a:solidFill>
          <a:schemeClr val="bg1">
            <a:lumMod val="85000"/>
          </a:schemeClr>
        </a:solidFill>
        <a:ln w="12700">
          <a:solidFill>
            <a:schemeClr val="tx1"/>
          </a:solidFill>
        </a:ln>
      </dgm:spPr>
      <dgm:t>
        <a:bodyPr/>
        <a:lstStyle/>
        <a:p>
          <a:r>
            <a:rPr lang="en-US" dirty="0"/>
            <a:t>M</a:t>
          </a:r>
        </a:p>
      </dgm:t>
    </dgm:pt>
    <dgm:pt modelId="{E8E81D99-A7F5-4310-A3FC-1C942562E35F}" type="parTrans" cxnId="{3E7E1F28-8BD1-48C3-8A95-5E67D2F2900F}">
      <dgm:prSet/>
      <dgm:spPr/>
      <dgm:t>
        <a:bodyPr/>
        <a:lstStyle/>
        <a:p>
          <a:endParaRPr lang="en-US"/>
        </a:p>
      </dgm:t>
    </dgm:pt>
    <dgm:pt modelId="{5B565DB8-B340-4150-BC5D-2740C9E7405A}" type="sibTrans" cxnId="{3E7E1F28-8BD1-48C3-8A95-5E67D2F2900F}">
      <dgm:prSet/>
      <dgm:spPr/>
      <dgm:t>
        <a:bodyPr/>
        <a:lstStyle/>
        <a:p>
          <a:endParaRPr lang="en-US"/>
        </a:p>
      </dgm:t>
    </dgm:pt>
    <dgm:pt modelId="{9E4E745E-2470-477B-9DC0-E82B38E47448}">
      <dgm:prSet phldrT="[Text]">
        <dgm:style>
          <a:lnRef idx="2">
            <a:schemeClr val="accent4"/>
          </a:lnRef>
          <a:fillRef idx="1">
            <a:schemeClr val="lt1"/>
          </a:fillRef>
          <a:effectRef idx="0">
            <a:schemeClr val="accent4"/>
          </a:effectRef>
          <a:fontRef idx="minor">
            <a:schemeClr val="dk1"/>
          </a:fontRef>
        </dgm:style>
      </dgm:prSet>
      <dgm:spPr>
        <a:ln w="12700">
          <a:solidFill>
            <a:schemeClr val="tx1"/>
          </a:solidFill>
        </a:ln>
      </dgm:spPr>
      <dgm:t>
        <a:bodyPr/>
        <a:lstStyle/>
        <a:p>
          <a:r>
            <a:rPr lang="en-US" dirty="0"/>
            <a:t>A</a:t>
          </a:r>
        </a:p>
      </dgm:t>
    </dgm:pt>
    <dgm:pt modelId="{78EDF3EB-861A-47DB-8ACA-3E0750718571}" type="parTrans" cxnId="{E29D67D5-D04F-44F5-944C-6085F68D9788}">
      <dgm:prSet/>
      <dgm:spPr/>
      <dgm:t>
        <a:bodyPr/>
        <a:lstStyle/>
        <a:p>
          <a:endParaRPr lang="en-US"/>
        </a:p>
      </dgm:t>
    </dgm:pt>
    <dgm:pt modelId="{F02D2992-5C75-4F39-B4FA-6BE725FF6B3D}" type="sibTrans" cxnId="{E29D67D5-D04F-44F5-944C-6085F68D9788}">
      <dgm:prSet/>
      <dgm:spPr/>
      <dgm:t>
        <a:bodyPr/>
        <a:lstStyle/>
        <a:p>
          <a:endParaRPr lang="en-US"/>
        </a:p>
      </dgm:t>
    </dgm:pt>
    <dgm:pt modelId="{75D48B9B-99C3-4C15-8EAC-E9BA0DD14686}" type="pres">
      <dgm:prSet presAssocID="{7AD4F92C-78BA-4F6E-810D-84BEE50C8241}" presName="Name0" presStyleCnt="0">
        <dgm:presLayoutVars>
          <dgm:dir/>
          <dgm:animLvl val="lvl"/>
          <dgm:resizeHandles val="exact"/>
        </dgm:presLayoutVars>
      </dgm:prSet>
      <dgm:spPr/>
    </dgm:pt>
    <dgm:pt modelId="{6A0ADE0C-E6D1-4D81-9931-771EEA7AFED4}" type="pres">
      <dgm:prSet presAssocID="{BAC7D273-E5EE-4038-A5C1-6C6F5ACB0D03}" presName="parTxOnly" presStyleLbl="node1" presStyleIdx="0" presStyleCnt="5">
        <dgm:presLayoutVars>
          <dgm:chMax val="0"/>
          <dgm:chPref val="0"/>
          <dgm:bulletEnabled val="1"/>
        </dgm:presLayoutVars>
      </dgm:prSet>
      <dgm:spPr/>
    </dgm:pt>
    <dgm:pt modelId="{065F6587-BE7F-4D0E-98E2-44771C09D7ED}" type="pres">
      <dgm:prSet presAssocID="{0FC8017D-9F5C-40DB-87BE-B1E73747A07D}" presName="parTxOnlySpace" presStyleCnt="0"/>
      <dgm:spPr/>
    </dgm:pt>
    <dgm:pt modelId="{D3AB7C3D-A810-418A-9680-2D5C0886B87C}" type="pres">
      <dgm:prSet presAssocID="{18D87F5F-42AD-4E9F-A6E6-7FE3973FD35E}" presName="parTxOnly" presStyleLbl="node1" presStyleIdx="1" presStyleCnt="5">
        <dgm:presLayoutVars>
          <dgm:chMax val="0"/>
          <dgm:chPref val="0"/>
          <dgm:bulletEnabled val="1"/>
        </dgm:presLayoutVars>
      </dgm:prSet>
      <dgm:spPr/>
    </dgm:pt>
    <dgm:pt modelId="{45F0D139-CE00-4B67-92DF-948F9E3DF760}" type="pres">
      <dgm:prSet presAssocID="{5B565DB8-B340-4150-BC5D-2740C9E7405A}" presName="parTxOnlySpace" presStyleCnt="0"/>
      <dgm:spPr/>
    </dgm:pt>
    <dgm:pt modelId="{85F4B451-0FD0-42C8-80A0-3D70971ED446}" type="pres">
      <dgm:prSet presAssocID="{9E4E745E-2470-477B-9DC0-E82B38E47448}" presName="parTxOnly" presStyleLbl="node1" presStyleIdx="2" presStyleCnt="5">
        <dgm:presLayoutVars>
          <dgm:chMax val="0"/>
          <dgm:chPref val="0"/>
          <dgm:bulletEnabled val="1"/>
        </dgm:presLayoutVars>
      </dgm:prSet>
      <dgm:spPr/>
    </dgm:pt>
    <dgm:pt modelId="{0CEB3E5A-3F2D-44D0-8A0A-14BD5AE928A8}" type="pres">
      <dgm:prSet presAssocID="{F02D2992-5C75-4F39-B4FA-6BE725FF6B3D}" presName="parTxOnlySpace" presStyleCnt="0"/>
      <dgm:spPr/>
    </dgm:pt>
    <dgm:pt modelId="{679CE53B-3AB7-4DE6-AD51-84FD8C46EB46}" type="pres">
      <dgm:prSet presAssocID="{A2AEA16E-49B1-4DC9-8223-ADFEC1D6E88A}" presName="parTxOnly" presStyleLbl="node1" presStyleIdx="3" presStyleCnt="5">
        <dgm:presLayoutVars>
          <dgm:chMax val="0"/>
          <dgm:chPref val="0"/>
          <dgm:bulletEnabled val="1"/>
        </dgm:presLayoutVars>
      </dgm:prSet>
      <dgm:spPr/>
    </dgm:pt>
    <dgm:pt modelId="{05FDF251-92B6-480C-82BC-68646E838DF3}" type="pres">
      <dgm:prSet presAssocID="{3B239F42-1E56-414C-BAEA-38C3C8910F82}" presName="parTxOnlySpace" presStyleCnt="0"/>
      <dgm:spPr/>
    </dgm:pt>
    <dgm:pt modelId="{8B532F1F-7985-410D-8F23-17546AA96819}" type="pres">
      <dgm:prSet presAssocID="{8A0BB1E1-EFC2-4F85-98F9-1806732424FD}" presName="parTxOnly" presStyleLbl="node1" presStyleIdx="4" presStyleCnt="5">
        <dgm:presLayoutVars>
          <dgm:chMax val="0"/>
          <dgm:chPref val="0"/>
          <dgm:bulletEnabled val="1"/>
        </dgm:presLayoutVars>
      </dgm:prSet>
      <dgm:spPr/>
    </dgm:pt>
  </dgm:ptLst>
  <dgm:cxnLst>
    <dgm:cxn modelId="{BF313511-A882-4FD8-8CD7-EE07DA30632F}" type="presOf" srcId="{9E4E745E-2470-477B-9DC0-E82B38E47448}" destId="{85F4B451-0FD0-42C8-80A0-3D70971ED446}" srcOrd="0" destOrd="0" presId="urn:microsoft.com/office/officeart/2005/8/layout/chevron1"/>
    <dgm:cxn modelId="{3E7E1F28-8BD1-48C3-8A95-5E67D2F2900F}" srcId="{7AD4F92C-78BA-4F6E-810D-84BEE50C8241}" destId="{18D87F5F-42AD-4E9F-A6E6-7FE3973FD35E}" srcOrd="1" destOrd="0" parTransId="{E8E81D99-A7F5-4310-A3FC-1C942562E35F}" sibTransId="{5B565DB8-B340-4150-BC5D-2740C9E7405A}"/>
    <dgm:cxn modelId="{92013A32-1BAA-4E8B-8E59-0C5F86BA36E4}" srcId="{7AD4F92C-78BA-4F6E-810D-84BEE50C8241}" destId="{BAC7D273-E5EE-4038-A5C1-6C6F5ACB0D03}" srcOrd="0" destOrd="0" parTransId="{5E3CA2F6-A4DF-4AD7-8F49-7697828C860A}" sibTransId="{0FC8017D-9F5C-40DB-87BE-B1E73747A07D}"/>
    <dgm:cxn modelId="{7B4EC45C-D9FC-4E59-AFF9-71DFEAD14C6D}" type="presOf" srcId="{BAC7D273-E5EE-4038-A5C1-6C6F5ACB0D03}" destId="{6A0ADE0C-E6D1-4D81-9931-771EEA7AFED4}" srcOrd="0" destOrd="0" presId="urn:microsoft.com/office/officeart/2005/8/layout/chevron1"/>
    <dgm:cxn modelId="{8B420D4D-CBD4-4EB4-9952-BF3598BE3FBA}" type="presOf" srcId="{8A0BB1E1-EFC2-4F85-98F9-1806732424FD}" destId="{8B532F1F-7985-410D-8F23-17546AA96819}" srcOrd="0" destOrd="0" presId="urn:microsoft.com/office/officeart/2005/8/layout/chevron1"/>
    <dgm:cxn modelId="{2BB08F79-3FCE-4C15-987F-1F9742296D45}" srcId="{7AD4F92C-78BA-4F6E-810D-84BEE50C8241}" destId="{8A0BB1E1-EFC2-4F85-98F9-1806732424FD}" srcOrd="4" destOrd="0" parTransId="{C0700ADA-59A9-474B-9D9B-E313AFB0A1A6}" sibTransId="{D4AB77BE-457C-476E-9CF5-12FF5ACC77B8}"/>
    <dgm:cxn modelId="{A56B2080-E485-427C-847B-64ECC90F6D6B}" srcId="{7AD4F92C-78BA-4F6E-810D-84BEE50C8241}" destId="{A2AEA16E-49B1-4DC9-8223-ADFEC1D6E88A}" srcOrd="3" destOrd="0" parTransId="{6574A5A5-6F71-4B75-A854-A060CC71A955}" sibTransId="{3B239F42-1E56-414C-BAEA-38C3C8910F82}"/>
    <dgm:cxn modelId="{CA2B948B-2BC4-4303-A3C4-9910C8AAFD74}" type="presOf" srcId="{18D87F5F-42AD-4E9F-A6E6-7FE3973FD35E}" destId="{D3AB7C3D-A810-418A-9680-2D5C0886B87C}" srcOrd="0" destOrd="0" presId="urn:microsoft.com/office/officeart/2005/8/layout/chevron1"/>
    <dgm:cxn modelId="{83A5F7A2-4AD2-4F5F-88F2-B60C4622A9DD}" type="presOf" srcId="{7AD4F92C-78BA-4F6E-810D-84BEE50C8241}" destId="{75D48B9B-99C3-4C15-8EAC-E9BA0DD14686}" srcOrd="0" destOrd="0" presId="urn:microsoft.com/office/officeart/2005/8/layout/chevron1"/>
    <dgm:cxn modelId="{662E96BB-DD21-47F8-A269-B169BB80E5B3}" type="presOf" srcId="{A2AEA16E-49B1-4DC9-8223-ADFEC1D6E88A}" destId="{679CE53B-3AB7-4DE6-AD51-84FD8C46EB46}" srcOrd="0" destOrd="0" presId="urn:microsoft.com/office/officeart/2005/8/layout/chevron1"/>
    <dgm:cxn modelId="{E29D67D5-D04F-44F5-944C-6085F68D9788}" srcId="{7AD4F92C-78BA-4F6E-810D-84BEE50C8241}" destId="{9E4E745E-2470-477B-9DC0-E82B38E47448}" srcOrd="2" destOrd="0" parTransId="{78EDF3EB-861A-47DB-8ACA-3E0750718571}" sibTransId="{F02D2992-5C75-4F39-B4FA-6BE725FF6B3D}"/>
    <dgm:cxn modelId="{B2DB9EE0-144B-4596-80C7-382C82E59D5D}" type="presParOf" srcId="{75D48B9B-99C3-4C15-8EAC-E9BA0DD14686}" destId="{6A0ADE0C-E6D1-4D81-9931-771EEA7AFED4}" srcOrd="0" destOrd="0" presId="urn:microsoft.com/office/officeart/2005/8/layout/chevron1"/>
    <dgm:cxn modelId="{5D2DCFDB-C928-460D-9D0D-B368AAF744F8}" type="presParOf" srcId="{75D48B9B-99C3-4C15-8EAC-E9BA0DD14686}" destId="{065F6587-BE7F-4D0E-98E2-44771C09D7ED}" srcOrd="1" destOrd="0" presId="urn:microsoft.com/office/officeart/2005/8/layout/chevron1"/>
    <dgm:cxn modelId="{24ADDB57-7299-472E-9A3D-B6358B2FD793}" type="presParOf" srcId="{75D48B9B-99C3-4C15-8EAC-E9BA0DD14686}" destId="{D3AB7C3D-A810-418A-9680-2D5C0886B87C}" srcOrd="2" destOrd="0" presId="urn:microsoft.com/office/officeart/2005/8/layout/chevron1"/>
    <dgm:cxn modelId="{0B3F037C-5245-4431-93A5-D0DFCD4991BF}" type="presParOf" srcId="{75D48B9B-99C3-4C15-8EAC-E9BA0DD14686}" destId="{45F0D139-CE00-4B67-92DF-948F9E3DF760}" srcOrd="3" destOrd="0" presId="urn:microsoft.com/office/officeart/2005/8/layout/chevron1"/>
    <dgm:cxn modelId="{0185A9D8-DD5D-4F38-865F-386324CAE524}" type="presParOf" srcId="{75D48B9B-99C3-4C15-8EAC-E9BA0DD14686}" destId="{85F4B451-0FD0-42C8-80A0-3D70971ED446}" srcOrd="4" destOrd="0" presId="urn:microsoft.com/office/officeart/2005/8/layout/chevron1"/>
    <dgm:cxn modelId="{906F7AA6-6CEB-4F8A-A388-478AC32AEEB3}" type="presParOf" srcId="{75D48B9B-99C3-4C15-8EAC-E9BA0DD14686}" destId="{0CEB3E5A-3F2D-44D0-8A0A-14BD5AE928A8}" srcOrd="5" destOrd="0" presId="urn:microsoft.com/office/officeart/2005/8/layout/chevron1"/>
    <dgm:cxn modelId="{2629E3FC-9EA2-4F19-8CCA-15EF45E90840}" type="presParOf" srcId="{75D48B9B-99C3-4C15-8EAC-E9BA0DD14686}" destId="{679CE53B-3AB7-4DE6-AD51-84FD8C46EB46}" srcOrd="6" destOrd="0" presId="urn:microsoft.com/office/officeart/2005/8/layout/chevron1"/>
    <dgm:cxn modelId="{923912C4-436C-47B6-AB99-859F8AB53EF7}" type="presParOf" srcId="{75D48B9B-99C3-4C15-8EAC-E9BA0DD14686}" destId="{05FDF251-92B6-480C-82BC-68646E838DF3}" srcOrd="7" destOrd="0" presId="urn:microsoft.com/office/officeart/2005/8/layout/chevron1"/>
    <dgm:cxn modelId="{2594B841-6A00-4E01-8239-C7762029CA0B}" type="presParOf" srcId="{75D48B9B-99C3-4C15-8EAC-E9BA0DD14686}" destId="{8B532F1F-7985-410D-8F23-17546AA96819}" srcOrd="8" destOrd="0" presId="urn:microsoft.com/office/officeart/2005/8/layout/chevron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7AD4F92C-78BA-4F6E-810D-84BEE50C8241}" type="doc">
      <dgm:prSet loTypeId="urn:microsoft.com/office/officeart/2005/8/layout/chevron1" loCatId="process" qsTypeId="urn:microsoft.com/office/officeart/2005/8/quickstyle/simple1" qsCatId="simple" csTypeId="urn:microsoft.com/office/officeart/2005/8/colors/accent1_2" csCatId="accent1" phldr="1"/>
      <dgm:spPr/>
    </dgm:pt>
    <dgm:pt modelId="{BAC7D273-E5EE-4038-A5C1-6C6F5ACB0D03}">
      <dgm:prSet phldrT="[Text]">
        <dgm:style>
          <a:lnRef idx="2">
            <a:schemeClr val="accent4"/>
          </a:lnRef>
          <a:fillRef idx="1">
            <a:schemeClr val="lt1"/>
          </a:fillRef>
          <a:effectRef idx="0">
            <a:schemeClr val="accent4"/>
          </a:effectRef>
          <a:fontRef idx="minor">
            <a:schemeClr val="dk1"/>
          </a:fontRef>
        </dgm:style>
      </dgm:prSet>
      <dgm:spPr>
        <a:solidFill>
          <a:schemeClr val="bg1"/>
        </a:solidFill>
        <a:ln w="12700">
          <a:solidFill>
            <a:schemeClr val="tx1"/>
          </a:solidFill>
        </a:ln>
      </dgm:spPr>
      <dgm:t>
        <a:bodyPr/>
        <a:lstStyle/>
        <a:p>
          <a:r>
            <a:rPr lang="en-US" dirty="0"/>
            <a:t>D</a:t>
          </a:r>
        </a:p>
      </dgm:t>
    </dgm:pt>
    <dgm:pt modelId="{5E3CA2F6-A4DF-4AD7-8F49-7697828C860A}" type="parTrans" cxnId="{92013A32-1BAA-4E8B-8E59-0C5F86BA36E4}">
      <dgm:prSet/>
      <dgm:spPr/>
      <dgm:t>
        <a:bodyPr/>
        <a:lstStyle/>
        <a:p>
          <a:endParaRPr lang="en-US"/>
        </a:p>
      </dgm:t>
    </dgm:pt>
    <dgm:pt modelId="{0FC8017D-9F5C-40DB-87BE-B1E73747A07D}" type="sibTrans" cxnId="{92013A32-1BAA-4E8B-8E59-0C5F86BA36E4}">
      <dgm:prSet/>
      <dgm:spPr/>
      <dgm:t>
        <a:bodyPr/>
        <a:lstStyle/>
        <a:p>
          <a:endParaRPr lang="en-US"/>
        </a:p>
      </dgm:t>
    </dgm:pt>
    <dgm:pt modelId="{A2AEA16E-49B1-4DC9-8223-ADFEC1D6E88A}">
      <dgm:prSet phldrT="[Text]">
        <dgm:style>
          <a:lnRef idx="2">
            <a:schemeClr val="accent4"/>
          </a:lnRef>
          <a:fillRef idx="1">
            <a:schemeClr val="lt1"/>
          </a:fillRef>
          <a:effectRef idx="0">
            <a:schemeClr val="accent4"/>
          </a:effectRef>
          <a:fontRef idx="minor">
            <a:schemeClr val="dk1"/>
          </a:fontRef>
        </dgm:style>
      </dgm:prSet>
      <dgm:spPr>
        <a:ln w="12700">
          <a:solidFill>
            <a:schemeClr val="tx1"/>
          </a:solidFill>
        </a:ln>
      </dgm:spPr>
      <dgm:t>
        <a:bodyPr/>
        <a:lstStyle/>
        <a:p>
          <a:r>
            <a:rPr lang="en-US" dirty="0"/>
            <a:t>I</a:t>
          </a:r>
        </a:p>
      </dgm:t>
    </dgm:pt>
    <dgm:pt modelId="{6574A5A5-6F71-4B75-A854-A060CC71A955}" type="parTrans" cxnId="{A56B2080-E485-427C-847B-64ECC90F6D6B}">
      <dgm:prSet/>
      <dgm:spPr/>
      <dgm:t>
        <a:bodyPr/>
        <a:lstStyle/>
        <a:p>
          <a:endParaRPr lang="en-US"/>
        </a:p>
      </dgm:t>
    </dgm:pt>
    <dgm:pt modelId="{3B239F42-1E56-414C-BAEA-38C3C8910F82}" type="sibTrans" cxnId="{A56B2080-E485-427C-847B-64ECC90F6D6B}">
      <dgm:prSet/>
      <dgm:spPr/>
      <dgm:t>
        <a:bodyPr/>
        <a:lstStyle/>
        <a:p>
          <a:endParaRPr lang="en-US"/>
        </a:p>
      </dgm:t>
    </dgm:pt>
    <dgm:pt modelId="{8A0BB1E1-EFC2-4F85-98F9-1806732424FD}">
      <dgm:prSet phldrT="[Text]">
        <dgm:style>
          <a:lnRef idx="2">
            <a:schemeClr val="accent4"/>
          </a:lnRef>
          <a:fillRef idx="1">
            <a:schemeClr val="lt1"/>
          </a:fillRef>
          <a:effectRef idx="0">
            <a:schemeClr val="accent4"/>
          </a:effectRef>
          <a:fontRef idx="minor">
            <a:schemeClr val="dk1"/>
          </a:fontRef>
        </dgm:style>
      </dgm:prSet>
      <dgm:spPr>
        <a:ln w="12700">
          <a:solidFill>
            <a:schemeClr val="tx1"/>
          </a:solidFill>
        </a:ln>
      </dgm:spPr>
      <dgm:t>
        <a:bodyPr/>
        <a:lstStyle/>
        <a:p>
          <a:r>
            <a:rPr lang="en-US" dirty="0"/>
            <a:t>C</a:t>
          </a:r>
        </a:p>
      </dgm:t>
    </dgm:pt>
    <dgm:pt modelId="{C0700ADA-59A9-474B-9D9B-E313AFB0A1A6}" type="parTrans" cxnId="{2BB08F79-3FCE-4C15-987F-1F9742296D45}">
      <dgm:prSet/>
      <dgm:spPr/>
      <dgm:t>
        <a:bodyPr/>
        <a:lstStyle/>
        <a:p>
          <a:endParaRPr lang="en-US"/>
        </a:p>
      </dgm:t>
    </dgm:pt>
    <dgm:pt modelId="{D4AB77BE-457C-476E-9CF5-12FF5ACC77B8}" type="sibTrans" cxnId="{2BB08F79-3FCE-4C15-987F-1F9742296D45}">
      <dgm:prSet/>
      <dgm:spPr/>
      <dgm:t>
        <a:bodyPr/>
        <a:lstStyle/>
        <a:p>
          <a:endParaRPr lang="en-US"/>
        </a:p>
      </dgm:t>
    </dgm:pt>
    <dgm:pt modelId="{18D87F5F-42AD-4E9F-A6E6-7FE3973FD35E}">
      <dgm:prSet phldrT="[Text]">
        <dgm:style>
          <a:lnRef idx="2">
            <a:schemeClr val="accent4"/>
          </a:lnRef>
          <a:fillRef idx="1">
            <a:schemeClr val="lt1"/>
          </a:fillRef>
          <a:effectRef idx="0">
            <a:schemeClr val="accent4"/>
          </a:effectRef>
          <a:fontRef idx="minor">
            <a:schemeClr val="dk1"/>
          </a:fontRef>
        </dgm:style>
      </dgm:prSet>
      <dgm:spPr>
        <a:solidFill>
          <a:schemeClr val="bg1">
            <a:lumMod val="85000"/>
          </a:schemeClr>
        </a:solidFill>
        <a:ln w="12700">
          <a:solidFill>
            <a:schemeClr val="tx1"/>
          </a:solidFill>
        </a:ln>
      </dgm:spPr>
      <dgm:t>
        <a:bodyPr/>
        <a:lstStyle/>
        <a:p>
          <a:r>
            <a:rPr lang="en-US" dirty="0"/>
            <a:t>M</a:t>
          </a:r>
        </a:p>
      </dgm:t>
    </dgm:pt>
    <dgm:pt modelId="{E8E81D99-A7F5-4310-A3FC-1C942562E35F}" type="parTrans" cxnId="{3E7E1F28-8BD1-48C3-8A95-5E67D2F2900F}">
      <dgm:prSet/>
      <dgm:spPr/>
      <dgm:t>
        <a:bodyPr/>
        <a:lstStyle/>
        <a:p>
          <a:endParaRPr lang="en-US"/>
        </a:p>
      </dgm:t>
    </dgm:pt>
    <dgm:pt modelId="{5B565DB8-B340-4150-BC5D-2740C9E7405A}" type="sibTrans" cxnId="{3E7E1F28-8BD1-48C3-8A95-5E67D2F2900F}">
      <dgm:prSet/>
      <dgm:spPr/>
      <dgm:t>
        <a:bodyPr/>
        <a:lstStyle/>
        <a:p>
          <a:endParaRPr lang="en-US"/>
        </a:p>
      </dgm:t>
    </dgm:pt>
    <dgm:pt modelId="{9E4E745E-2470-477B-9DC0-E82B38E47448}">
      <dgm:prSet phldrT="[Text]">
        <dgm:style>
          <a:lnRef idx="2">
            <a:schemeClr val="accent4"/>
          </a:lnRef>
          <a:fillRef idx="1">
            <a:schemeClr val="lt1"/>
          </a:fillRef>
          <a:effectRef idx="0">
            <a:schemeClr val="accent4"/>
          </a:effectRef>
          <a:fontRef idx="minor">
            <a:schemeClr val="dk1"/>
          </a:fontRef>
        </dgm:style>
      </dgm:prSet>
      <dgm:spPr>
        <a:ln w="12700">
          <a:solidFill>
            <a:schemeClr val="tx1"/>
          </a:solidFill>
        </a:ln>
      </dgm:spPr>
      <dgm:t>
        <a:bodyPr/>
        <a:lstStyle/>
        <a:p>
          <a:r>
            <a:rPr lang="en-US" dirty="0"/>
            <a:t>A</a:t>
          </a:r>
        </a:p>
      </dgm:t>
    </dgm:pt>
    <dgm:pt modelId="{78EDF3EB-861A-47DB-8ACA-3E0750718571}" type="parTrans" cxnId="{E29D67D5-D04F-44F5-944C-6085F68D9788}">
      <dgm:prSet/>
      <dgm:spPr/>
      <dgm:t>
        <a:bodyPr/>
        <a:lstStyle/>
        <a:p>
          <a:endParaRPr lang="en-US"/>
        </a:p>
      </dgm:t>
    </dgm:pt>
    <dgm:pt modelId="{F02D2992-5C75-4F39-B4FA-6BE725FF6B3D}" type="sibTrans" cxnId="{E29D67D5-D04F-44F5-944C-6085F68D9788}">
      <dgm:prSet/>
      <dgm:spPr/>
      <dgm:t>
        <a:bodyPr/>
        <a:lstStyle/>
        <a:p>
          <a:endParaRPr lang="en-US"/>
        </a:p>
      </dgm:t>
    </dgm:pt>
    <dgm:pt modelId="{75D48B9B-99C3-4C15-8EAC-E9BA0DD14686}" type="pres">
      <dgm:prSet presAssocID="{7AD4F92C-78BA-4F6E-810D-84BEE50C8241}" presName="Name0" presStyleCnt="0">
        <dgm:presLayoutVars>
          <dgm:dir/>
          <dgm:animLvl val="lvl"/>
          <dgm:resizeHandles val="exact"/>
        </dgm:presLayoutVars>
      </dgm:prSet>
      <dgm:spPr/>
    </dgm:pt>
    <dgm:pt modelId="{6A0ADE0C-E6D1-4D81-9931-771EEA7AFED4}" type="pres">
      <dgm:prSet presAssocID="{BAC7D273-E5EE-4038-A5C1-6C6F5ACB0D03}" presName="parTxOnly" presStyleLbl="node1" presStyleIdx="0" presStyleCnt="5">
        <dgm:presLayoutVars>
          <dgm:chMax val="0"/>
          <dgm:chPref val="0"/>
          <dgm:bulletEnabled val="1"/>
        </dgm:presLayoutVars>
      </dgm:prSet>
      <dgm:spPr/>
    </dgm:pt>
    <dgm:pt modelId="{065F6587-BE7F-4D0E-98E2-44771C09D7ED}" type="pres">
      <dgm:prSet presAssocID="{0FC8017D-9F5C-40DB-87BE-B1E73747A07D}" presName="parTxOnlySpace" presStyleCnt="0"/>
      <dgm:spPr/>
    </dgm:pt>
    <dgm:pt modelId="{D3AB7C3D-A810-418A-9680-2D5C0886B87C}" type="pres">
      <dgm:prSet presAssocID="{18D87F5F-42AD-4E9F-A6E6-7FE3973FD35E}" presName="parTxOnly" presStyleLbl="node1" presStyleIdx="1" presStyleCnt="5">
        <dgm:presLayoutVars>
          <dgm:chMax val="0"/>
          <dgm:chPref val="0"/>
          <dgm:bulletEnabled val="1"/>
        </dgm:presLayoutVars>
      </dgm:prSet>
      <dgm:spPr/>
    </dgm:pt>
    <dgm:pt modelId="{45F0D139-CE00-4B67-92DF-948F9E3DF760}" type="pres">
      <dgm:prSet presAssocID="{5B565DB8-B340-4150-BC5D-2740C9E7405A}" presName="parTxOnlySpace" presStyleCnt="0"/>
      <dgm:spPr/>
    </dgm:pt>
    <dgm:pt modelId="{85F4B451-0FD0-42C8-80A0-3D70971ED446}" type="pres">
      <dgm:prSet presAssocID="{9E4E745E-2470-477B-9DC0-E82B38E47448}" presName="parTxOnly" presStyleLbl="node1" presStyleIdx="2" presStyleCnt="5">
        <dgm:presLayoutVars>
          <dgm:chMax val="0"/>
          <dgm:chPref val="0"/>
          <dgm:bulletEnabled val="1"/>
        </dgm:presLayoutVars>
      </dgm:prSet>
      <dgm:spPr/>
    </dgm:pt>
    <dgm:pt modelId="{0CEB3E5A-3F2D-44D0-8A0A-14BD5AE928A8}" type="pres">
      <dgm:prSet presAssocID="{F02D2992-5C75-4F39-B4FA-6BE725FF6B3D}" presName="parTxOnlySpace" presStyleCnt="0"/>
      <dgm:spPr/>
    </dgm:pt>
    <dgm:pt modelId="{679CE53B-3AB7-4DE6-AD51-84FD8C46EB46}" type="pres">
      <dgm:prSet presAssocID="{A2AEA16E-49B1-4DC9-8223-ADFEC1D6E88A}" presName="parTxOnly" presStyleLbl="node1" presStyleIdx="3" presStyleCnt="5">
        <dgm:presLayoutVars>
          <dgm:chMax val="0"/>
          <dgm:chPref val="0"/>
          <dgm:bulletEnabled val="1"/>
        </dgm:presLayoutVars>
      </dgm:prSet>
      <dgm:spPr/>
    </dgm:pt>
    <dgm:pt modelId="{05FDF251-92B6-480C-82BC-68646E838DF3}" type="pres">
      <dgm:prSet presAssocID="{3B239F42-1E56-414C-BAEA-38C3C8910F82}" presName="parTxOnlySpace" presStyleCnt="0"/>
      <dgm:spPr/>
    </dgm:pt>
    <dgm:pt modelId="{8B532F1F-7985-410D-8F23-17546AA96819}" type="pres">
      <dgm:prSet presAssocID="{8A0BB1E1-EFC2-4F85-98F9-1806732424FD}" presName="parTxOnly" presStyleLbl="node1" presStyleIdx="4" presStyleCnt="5">
        <dgm:presLayoutVars>
          <dgm:chMax val="0"/>
          <dgm:chPref val="0"/>
          <dgm:bulletEnabled val="1"/>
        </dgm:presLayoutVars>
      </dgm:prSet>
      <dgm:spPr/>
    </dgm:pt>
  </dgm:ptLst>
  <dgm:cxnLst>
    <dgm:cxn modelId="{BF313511-A882-4FD8-8CD7-EE07DA30632F}" type="presOf" srcId="{9E4E745E-2470-477B-9DC0-E82B38E47448}" destId="{85F4B451-0FD0-42C8-80A0-3D70971ED446}" srcOrd="0" destOrd="0" presId="urn:microsoft.com/office/officeart/2005/8/layout/chevron1"/>
    <dgm:cxn modelId="{3E7E1F28-8BD1-48C3-8A95-5E67D2F2900F}" srcId="{7AD4F92C-78BA-4F6E-810D-84BEE50C8241}" destId="{18D87F5F-42AD-4E9F-A6E6-7FE3973FD35E}" srcOrd="1" destOrd="0" parTransId="{E8E81D99-A7F5-4310-A3FC-1C942562E35F}" sibTransId="{5B565DB8-B340-4150-BC5D-2740C9E7405A}"/>
    <dgm:cxn modelId="{92013A32-1BAA-4E8B-8E59-0C5F86BA36E4}" srcId="{7AD4F92C-78BA-4F6E-810D-84BEE50C8241}" destId="{BAC7D273-E5EE-4038-A5C1-6C6F5ACB0D03}" srcOrd="0" destOrd="0" parTransId="{5E3CA2F6-A4DF-4AD7-8F49-7697828C860A}" sibTransId="{0FC8017D-9F5C-40DB-87BE-B1E73747A07D}"/>
    <dgm:cxn modelId="{7B4EC45C-D9FC-4E59-AFF9-71DFEAD14C6D}" type="presOf" srcId="{BAC7D273-E5EE-4038-A5C1-6C6F5ACB0D03}" destId="{6A0ADE0C-E6D1-4D81-9931-771EEA7AFED4}" srcOrd="0" destOrd="0" presId="urn:microsoft.com/office/officeart/2005/8/layout/chevron1"/>
    <dgm:cxn modelId="{8B420D4D-CBD4-4EB4-9952-BF3598BE3FBA}" type="presOf" srcId="{8A0BB1E1-EFC2-4F85-98F9-1806732424FD}" destId="{8B532F1F-7985-410D-8F23-17546AA96819}" srcOrd="0" destOrd="0" presId="urn:microsoft.com/office/officeart/2005/8/layout/chevron1"/>
    <dgm:cxn modelId="{2BB08F79-3FCE-4C15-987F-1F9742296D45}" srcId="{7AD4F92C-78BA-4F6E-810D-84BEE50C8241}" destId="{8A0BB1E1-EFC2-4F85-98F9-1806732424FD}" srcOrd="4" destOrd="0" parTransId="{C0700ADA-59A9-474B-9D9B-E313AFB0A1A6}" sibTransId="{D4AB77BE-457C-476E-9CF5-12FF5ACC77B8}"/>
    <dgm:cxn modelId="{A56B2080-E485-427C-847B-64ECC90F6D6B}" srcId="{7AD4F92C-78BA-4F6E-810D-84BEE50C8241}" destId="{A2AEA16E-49B1-4DC9-8223-ADFEC1D6E88A}" srcOrd="3" destOrd="0" parTransId="{6574A5A5-6F71-4B75-A854-A060CC71A955}" sibTransId="{3B239F42-1E56-414C-BAEA-38C3C8910F82}"/>
    <dgm:cxn modelId="{CA2B948B-2BC4-4303-A3C4-9910C8AAFD74}" type="presOf" srcId="{18D87F5F-42AD-4E9F-A6E6-7FE3973FD35E}" destId="{D3AB7C3D-A810-418A-9680-2D5C0886B87C}" srcOrd="0" destOrd="0" presId="urn:microsoft.com/office/officeart/2005/8/layout/chevron1"/>
    <dgm:cxn modelId="{83A5F7A2-4AD2-4F5F-88F2-B60C4622A9DD}" type="presOf" srcId="{7AD4F92C-78BA-4F6E-810D-84BEE50C8241}" destId="{75D48B9B-99C3-4C15-8EAC-E9BA0DD14686}" srcOrd="0" destOrd="0" presId="urn:microsoft.com/office/officeart/2005/8/layout/chevron1"/>
    <dgm:cxn modelId="{662E96BB-DD21-47F8-A269-B169BB80E5B3}" type="presOf" srcId="{A2AEA16E-49B1-4DC9-8223-ADFEC1D6E88A}" destId="{679CE53B-3AB7-4DE6-AD51-84FD8C46EB46}" srcOrd="0" destOrd="0" presId="urn:microsoft.com/office/officeart/2005/8/layout/chevron1"/>
    <dgm:cxn modelId="{E29D67D5-D04F-44F5-944C-6085F68D9788}" srcId="{7AD4F92C-78BA-4F6E-810D-84BEE50C8241}" destId="{9E4E745E-2470-477B-9DC0-E82B38E47448}" srcOrd="2" destOrd="0" parTransId="{78EDF3EB-861A-47DB-8ACA-3E0750718571}" sibTransId="{F02D2992-5C75-4F39-B4FA-6BE725FF6B3D}"/>
    <dgm:cxn modelId="{B2DB9EE0-144B-4596-80C7-382C82E59D5D}" type="presParOf" srcId="{75D48B9B-99C3-4C15-8EAC-E9BA0DD14686}" destId="{6A0ADE0C-E6D1-4D81-9931-771EEA7AFED4}" srcOrd="0" destOrd="0" presId="urn:microsoft.com/office/officeart/2005/8/layout/chevron1"/>
    <dgm:cxn modelId="{5D2DCFDB-C928-460D-9D0D-B368AAF744F8}" type="presParOf" srcId="{75D48B9B-99C3-4C15-8EAC-E9BA0DD14686}" destId="{065F6587-BE7F-4D0E-98E2-44771C09D7ED}" srcOrd="1" destOrd="0" presId="urn:microsoft.com/office/officeart/2005/8/layout/chevron1"/>
    <dgm:cxn modelId="{24ADDB57-7299-472E-9A3D-B6358B2FD793}" type="presParOf" srcId="{75D48B9B-99C3-4C15-8EAC-E9BA0DD14686}" destId="{D3AB7C3D-A810-418A-9680-2D5C0886B87C}" srcOrd="2" destOrd="0" presId="urn:microsoft.com/office/officeart/2005/8/layout/chevron1"/>
    <dgm:cxn modelId="{0B3F037C-5245-4431-93A5-D0DFCD4991BF}" type="presParOf" srcId="{75D48B9B-99C3-4C15-8EAC-E9BA0DD14686}" destId="{45F0D139-CE00-4B67-92DF-948F9E3DF760}" srcOrd="3" destOrd="0" presId="urn:microsoft.com/office/officeart/2005/8/layout/chevron1"/>
    <dgm:cxn modelId="{0185A9D8-DD5D-4F38-865F-386324CAE524}" type="presParOf" srcId="{75D48B9B-99C3-4C15-8EAC-E9BA0DD14686}" destId="{85F4B451-0FD0-42C8-80A0-3D70971ED446}" srcOrd="4" destOrd="0" presId="urn:microsoft.com/office/officeart/2005/8/layout/chevron1"/>
    <dgm:cxn modelId="{906F7AA6-6CEB-4F8A-A388-478AC32AEEB3}" type="presParOf" srcId="{75D48B9B-99C3-4C15-8EAC-E9BA0DD14686}" destId="{0CEB3E5A-3F2D-44D0-8A0A-14BD5AE928A8}" srcOrd="5" destOrd="0" presId="urn:microsoft.com/office/officeart/2005/8/layout/chevron1"/>
    <dgm:cxn modelId="{2629E3FC-9EA2-4F19-8CCA-15EF45E90840}" type="presParOf" srcId="{75D48B9B-99C3-4C15-8EAC-E9BA0DD14686}" destId="{679CE53B-3AB7-4DE6-AD51-84FD8C46EB46}" srcOrd="6" destOrd="0" presId="urn:microsoft.com/office/officeart/2005/8/layout/chevron1"/>
    <dgm:cxn modelId="{923912C4-436C-47B6-AB99-859F8AB53EF7}" type="presParOf" srcId="{75D48B9B-99C3-4C15-8EAC-E9BA0DD14686}" destId="{05FDF251-92B6-480C-82BC-68646E838DF3}" srcOrd="7" destOrd="0" presId="urn:microsoft.com/office/officeart/2005/8/layout/chevron1"/>
    <dgm:cxn modelId="{2594B841-6A00-4E01-8239-C7762029CA0B}" type="presParOf" srcId="{75D48B9B-99C3-4C15-8EAC-E9BA0DD14686}" destId="{8B532F1F-7985-410D-8F23-17546AA96819}" srcOrd="8" destOrd="0" presId="urn:microsoft.com/office/officeart/2005/8/layout/chevron1"/>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A0ADE0C-E6D1-4D81-9931-771EEA7AFED4}">
      <dsp:nvSpPr>
        <dsp:cNvPr id="0" name=""/>
        <dsp:cNvSpPr/>
      </dsp:nvSpPr>
      <dsp:spPr>
        <a:xfrm>
          <a:off x="911" y="146297"/>
          <a:ext cx="811406" cy="324562"/>
        </a:xfrm>
        <a:prstGeom prst="chevron">
          <a:avLst/>
        </a:prstGeom>
        <a:solidFill>
          <a:schemeClr val="bg1"/>
        </a:solidFill>
        <a:ln w="12700" cap="flat" cmpd="sng" algn="ctr">
          <a:solidFill>
            <a:schemeClr val="tx1"/>
          </a:solidFill>
          <a:prstDash val="solid"/>
        </a:ln>
        <a:effectLst/>
      </dsp:spPr>
      <dsp:style>
        <a:lnRef idx="2">
          <a:schemeClr val="accent4"/>
        </a:lnRef>
        <a:fillRef idx="1">
          <a:schemeClr val="lt1"/>
        </a:fillRef>
        <a:effectRef idx="0">
          <a:schemeClr val="accent4"/>
        </a:effectRef>
        <a:fontRef idx="minor">
          <a:schemeClr val="dk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en-US" sz="2000" kern="1200" dirty="0"/>
            <a:t>D</a:t>
          </a:r>
        </a:p>
      </dsp:txBody>
      <dsp:txXfrm>
        <a:off x="163192" y="146297"/>
        <a:ext cx="486844" cy="324562"/>
      </dsp:txXfrm>
    </dsp:sp>
    <dsp:sp modelId="{D3AB7C3D-A810-418A-9680-2D5C0886B87C}">
      <dsp:nvSpPr>
        <dsp:cNvPr id="0" name=""/>
        <dsp:cNvSpPr/>
      </dsp:nvSpPr>
      <dsp:spPr>
        <a:xfrm>
          <a:off x="731177" y="146297"/>
          <a:ext cx="811406" cy="324562"/>
        </a:xfrm>
        <a:prstGeom prst="chevron">
          <a:avLst/>
        </a:prstGeom>
        <a:solidFill>
          <a:schemeClr val="bg1">
            <a:lumMod val="85000"/>
          </a:schemeClr>
        </a:solidFill>
        <a:ln w="12700" cap="flat" cmpd="sng" algn="ctr">
          <a:solidFill>
            <a:schemeClr val="tx1"/>
          </a:solidFill>
          <a:prstDash val="solid"/>
        </a:ln>
        <a:effectLst/>
      </dsp:spPr>
      <dsp:style>
        <a:lnRef idx="2">
          <a:schemeClr val="accent4"/>
        </a:lnRef>
        <a:fillRef idx="1">
          <a:schemeClr val="lt1"/>
        </a:fillRef>
        <a:effectRef idx="0">
          <a:schemeClr val="accent4"/>
        </a:effectRef>
        <a:fontRef idx="minor">
          <a:schemeClr val="dk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en-US" sz="2000" kern="1200" dirty="0"/>
            <a:t>M</a:t>
          </a:r>
        </a:p>
      </dsp:txBody>
      <dsp:txXfrm>
        <a:off x="893458" y="146297"/>
        <a:ext cx="486844" cy="324562"/>
      </dsp:txXfrm>
    </dsp:sp>
    <dsp:sp modelId="{85F4B451-0FD0-42C8-80A0-3D70971ED446}">
      <dsp:nvSpPr>
        <dsp:cNvPr id="0" name=""/>
        <dsp:cNvSpPr/>
      </dsp:nvSpPr>
      <dsp:spPr>
        <a:xfrm>
          <a:off x="1461442" y="146297"/>
          <a:ext cx="811406" cy="324562"/>
        </a:xfrm>
        <a:prstGeom prst="chevron">
          <a:avLst/>
        </a:prstGeom>
        <a:solidFill>
          <a:schemeClr val="lt1"/>
        </a:solidFill>
        <a:ln w="12700" cap="flat" cmpd="sng" algn="ctr">
          <a:solidFill>
            <a:schemeClr val="tx1"/>
          </a:solidFill>
          <a:prstDash val="solid"/>
        </a:ln>
        <a:effectLst/>
      </dsp:spPr>
      <dsp:style>
        <a:lnRef idx="2">
          <a:schemeClr val="accent4"/>
        </a:lnRef>
        <a:fillRef idx="1">
          <a:schemeClr val="lt1"/>
        </a:fillRef>
        <a:effectRef idx="0">
          <a:schemeClr val="accent4"/>
        </a:effectRef>
        <a:fontRef idx="minor">
          <a:schemeClr val="dk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en-US" sz="2000" kern="1200" dirty="0"/>
            <a:t>A</a:t>
          </a:r>
        </a:p>
      </dsp:txBody>
      <dsp:txXfrm>
        <a:off x="1623723" y="146297"/>
        <a:ext cx="486844" cy="324562"/>
      </dsp:txXfrm>
    </dsp:sp>
    <dsp:sp modelId="{679CE53B-3AB7-4DE6-AD51-84FD8C46EB46}">
      <dsp:nvSpPr>
        <dsp:cNvPr id="0" name=""/>
        <dsp:cNvSpPr/>
      </dsp:nvSpPr>
      <dsp:spPr>
        <a:xfrm>
          <a:off x="2191707" y="146297"/>
          <a:ext cx="811406" cy="324562"/>
        </a:xfrm>
        <a:prstGeom prst="chevron">
          <a:avLst/>
        </a:prstGeom>
        <a:solidFill>
          <a:schemeClr val="lt1"/>
        </a:solidFill>
        <a:ln w="12700" cap="flat" cmpd="sng" algn="ctr">
          <a:solidFill>
            <a:schemeClr val="tx1"/>
          </a:solidFill>
          <a:prstDash val="solid"/>
        </a:ln>
        <a:effectLst/>
      </dsp:spPr>
      <dsp:style>
        <a:lnRef idx="2">
          <a:schemeClr val="accent4"/>
        </a:lnRef>
        <a:fillRef idx="1">
          <a:schemeClr val="lt1"/>
        </a:fillRef>
        <a:effectRef idx="0">
          <a:schemeClr val="accent4"/>
        </a:effectRef>
        <a:fontRef idx="minor">
          <a:schemeClr val="dk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en-US" sz="2000" kern="1200" dirty="0"/>
            <a:t>I</a:t>
          </a:r>
        </a:p>
      </dsp:txBody>
      <dsp:txXfrm>
        <a:off x="2353988" y="146297"/>
        <a:ext cx="486844" cy="324562"/>
      </dsp:txXfrm>
    </dsp:sp>
    <dsp:sp modelId="{8B532F1F-7985-410D-8F23-17546AA96819}">
      <dsp:nvSpPr>
        <dsp:cNvPr id="0" name=""/>
        <dsp:cNvSpPr/>
      </dsp:nvSpPr>
      <dsp:spPr>
        <a:xfrm>
          <a:off x="2921973" y="146297"/>
          <a:ext cx="811406" cy="324562"/>
        </a:xfrm>
        <a:prstGeom prst="chevron">
          <a:avLst/>
        </a:prstGeom>
        <a:solidFill>
          <a:schemeClr val="lt1"/>
        </a:solidFill>
        <a:ln w="12700" cap="flat" cmpd="sng" algn="ctr">
          <a:solidFill>
            <a:schemeClr val="tx1"/>
          </a:solidFill>
          <a:prstDash val="solid"/>
        </a:ln>
        <a:effectLst/>
      </dsp:spPr>
      <dsp:style>
        <a:lnRef idx="2">
          <a:schemeClr val="accent4"/>
        </a:lnRef>
        <a:fillRef idx="1">
          <a:schemeClr val="lt1"/>
        </a:fillRef>
        <a:effectRef idx="0">
          <a:schemeClr val="accent4"/>
        </a:effectRef>
        <a:fontRef idx="minor">
          <a:schemeClr val="dk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en-US" sz="2000" kern="1200" dirty="0"/>
            <a:t>C</a:t>
          </a:r>
        </a:p>
      </dsp:txBody>
      <dsp:txXfrm>
        <a:off x="3084254" y="146297"/>
        <a:ext cx="486844" cy="32456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A0ADE0C-E6D1-4D81-9931-771EEA7AFED4}">
      <dsp:nvSpPr>
        <dsp:cNvPr id="0" name=""/>
        <dsp:cNvSpPr/>
      </dsp:nvSpPr>
      <dsp:spPr>
        <a:xfrm>
          <a:off x="911" y="146297"/>
          <a:ext cx="811406" cy="324562"/>
        </a:xfrm>
        <a:prstGeom prst="chevron">
          <a:avLst/>
        </a:prstGeom>
        <a:solidFill>
          <a:schemeClr val="bg1"/>
        </a:solidFill>
        <a:ln w="12700" cap="flat" cmpd="sng" algn="ctr">
          <a:solidFill>
            <a:schemeClr val="tx1"/>
          </a:solidFill>
          <a:prstDash val="solid"/>
        </a:ln>
        <a:effectLst/>
      </dsp:spPr>
      <dsp:style>
        <a:lnRef idx="2">
          <a:schemeClr val="accent4"/>
        </a:lnRef>
        <a:fillRef idx="1">
          <a:schemeClr val="lt1"/>
        </a:fillRef>
        <a:effectRef idx="0">
          <a:schemeClr val="accent4"/>
        </a:effectRef>
        <a:fontRef idx="minor">
          <a:schemeClr val="dk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en-US" sz="2000" kern="1200" dirty="0"/>
            <a:t>D</a:t>
          </a:r>
        </a:p>
      </dsp:txBody>
      <dsp:txXfrm>
        <a:off x="163192" y="146297"/>
        <a:ext cx="486844" cy="324562"/>
      </dsp:txXfrm>
    </dsp:sp>
    <dsp:sp modelId="{D3AB7C3D-A810-418A-9680-2D5C0886B87C}">
      <dsp:nvSpPr>
        <dsp:cNvPr id="0" name=""/>
        <dsp:cNvSpPr/>
      </dsp:nvSpPr>
      <dsp:spPr>
        <a:xfrm>
          <a:off x="731177" y="146297"/>
          <a:ext cx="811406" cy="324562"/>
        </a:xfrm>
        <a:prstGeom prst="chevron">
          <a:avLst/>
        </a:prstGeom>
        <a:solidFill>
          <a:schemeClr val="bg1">
            <a:lumMod val="85000"/>
          </a:schemeClr>
        </a:solidFill>
        <a:ln w="12700" cap="flat" cmpd="sng" algn="ctr">
          <a:solidFill>
            <a:schemeClr val="tx1"/>
          </a:solidFill>
          <a:prstDash val="solid"/>
        </a:ln>
        <a:effectLst/>
      </dsp:spPr>
      <dsp:style>
        <a:lnRef idx="2">
          <a:schemeClr val="accent4"/>
        </a:lnRef>
        <a:fillRef idx="1">
          <a:schemeClr val="lt1"/>
        </a:fillRef>
        <a:effectRef idx="0">
          <a:schemeClr val="accent4"/>
        </a:effectRef>
        <a:fontRef idx="minor">
          <a:schemeClr val="dk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en-US" sz="2000" kern="1200" dirty="0"/>
            <a:t>M</a:t>
          </a:r>
        </a:p>
      </dsp:txBody>
      <dsp:txXfrm>
        <a:off x="893458" y="146297"/>
        <a:ext cx="486844" cy="324562"/>
      </dsp:txXfrm>
    </dsp:sp>
    <dsp:sp modelId="{85F4B451-0FD0-42C8-80A0-3D70971ED446}">
      <dsp:nvSpPr>
        <dsp:cNvPr id="0" name=""/>
        <dsp:cNvSpPr/>
      </dsp:nvSpPr>
      <dsp:spPr>
        <a:xfrm>
          <a:off x="1461442" y="146297"/>
          <a:ext cx="811406" cy="324562"/>
        </a:xfrm>
        <a:prstGeom prst="chevron">
          <a:avLst/>
        </a:prstGeom>
        <a:solidFill>
          <a:schemeClr val="lt1"/>
        </a:solidFill>
        <a:ln w="12700" cap="flat" cmpd="sng" algn="ctr">
          <a:solidFill>
            <a:schemeClr val="tx1"/>
          </a:solidFill>
          <a:prstDash val="solid"/>
        </a:ln>
        <a:effectLst/>
      </dsp:spPr>
      <dsp:style>
        <a:lnRef idx="2">
          <a:schemeClr val="accent4"/>
        </a:lnRef>
        <a:fillRef idx="1">
          <a:schemeClr val="lt1"/>
        </a:fillRef>
        <a:effectRef idx="0">
          <a:schemeClr val="accent4"/>
        </a:effectRef>
        <a:fontRef idx="minor">
          <a:schemeClr val="dk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en-US" sz="2000" kern="1200" dirty="0"/>
            <a:t>A</a:t>
          </a:r>
        </a:p>
      </dsp:txBody>
      <dsp:txXfrm>
        <a:off x="1623723" y="146297"/>
        <a:ext cx="486844" cy="324562"/>
      </dsp:txXfrm>
    </dsp:sp>
    <dsp:sp modelId="{679CE53B-3AB7-4DE6-AD51-84FD8C46EB46}">
      <dsp:nvSpPr>
        <dsp:cNvPr id="0" name=""/>
        <dsp:cNvSpPr/>
      </dsp:nvSpPr>
      <dsp:spPr>
        <a:xfrm>
          <a:off x="2191707" y="146297"/>
          <a:ext cx="811406" cy="324562"/>
        </a:xfrm>
        <a:prstGeom prst="chevron">
          <a:avLst/>
        </a:prstGeom>
        <a:solidFill>
          <a:schemeClr val="lt1"/>
        </a:solidFill>
        <a:ln w="12700" cap="flat" cmpd="sng" algn="ctr">
          <a:solidFill>
            <a:schemeClr val="tx1"/>
          </a:solidFill>
          <a:prstDash val="solid"/>
        </a:ln>
        <a:effectLst/>
      </dsp:spPr>
      <dsp:style>
        <a:lnRef idx="2">
          <a:schemeClr val="accent4"/>
        </a:lnRef>
        <a:fillRef idx="1">
          <a:schemeClr val="lt1"/>
        </a:fillRef>
        <a:effectRef idx="0">
          <a:schemeClr val="accent4"/>
        </a:effectRef>
        <a:fontRef idx="minor">
          <a:schemeClr val="dk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en-US" sz="2000" kern="1200" dirty="0"/>
            <a:t>I</a:t>
          </a:r>
        </a:p>
      </dsp:txBody>
      <dsp:txXfrm>
        <a:off x="2353988" y="146297"/>
        <a:ext cx="486844" cy="324562"/>
      </dsp:txXfrm>
    </dsp:sp>
    <dsp:sp modelId="{8B532F1F-7985-410D-8F23-17546AA96819}">
      <dsp:nvSpPr>
        <dsp:cNvPr id="0" name=""/>
        <dsp:cNvSpPr/>
      </dsp:nvSpPr>
      <dsp:spPr>
        <a:xfrm>
          <a:off x="2921973" y="146297"/>
          <a:ext cx="811406" cy="324562"/>
        </a:xfrm>
        <a:prstGeom prst="chevron">
          <a:avLst/>
        </a:prstGeom>
        <a:solidFill>
          <a:schemeClr val="lt1"/>
        </a:solidFill>
        <a:ln w="12700" cap="flat" cmpd="sng" algn="ctr">
          <a:solidFill>
            <a:schemeClr val="tx1"/>
          </a:solidFill>
          <a:prstDash val="solid"/>
        </a:ln>
        <a:effectLst/>
      </dsp:spPr>
      <dsp:style>
        <a:lnRef idx="2">
          <a:schemeClr val="accent4"/>
        </a:lnRef>
        <a:fillRef idx="1">
          <a:schemeClr val="lt1"/>
        </a:fillRef>
        <a:effectRef idx="0">
          <a:schemeClr val="accent4"/>
        </a:effectRef>
        <a:fontRef idx="minor">
          <a:schemeClr val="dk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en-US" sz="2000" kern="1200" dirty="0"/>
            <a:t>C</a:t>
          </a:r>
        </a:p>
      </dsp:txBody>
      <dsp:txXfrm>
        <a:off x="3084254" y="146297"/>
        <a:ext cx="486844" cy="324562"/>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A0ADE0C-E6D1-4D81-9931-771EEA7AFED4}">
      <dsp:nvSpPr>
        <dsp:cNvPr id="0" name=""/>
        <dsp:cNvSpPr/>
      </dsp:nvSpPr>
      <dsp:spPr>
        <a:xfrm>
          <a:off x="911" y="146297"/>
          <a:ext cx="811406" cy="324562"/>
        </a:xfrm>
        <a:prstGeom prst="chevron">
          <a:avLst/>
        </a:prstGeom>
        <a:solidFill>
          <a:schemeClr val="bg1"/>
        </a:solidFill>
        <a:ln w="12700" cap="flat" cmpd="sng" algn="ctr">
          <a:solidFill>
            <a:schemeClr val="tx1"/>
          </a:solidFill>
          <a:prstDash val="solid"/>
        </a:ln>
        <a:effectLst/>
      </dsp:spPr>
      <dsp:style>
        <a:lnRef idx="2">
          <a:schemeClr val="accent4"/>
        </a:lnRef>
        <a:fillRef idx="1">
          <a:schemeClr val="lt1"/>
        </a:fillRef>
        <a:effectRef idx="0">
          <a:schemeClr val="accent4"/>
        </a:effectRef>
        <a:fontRef idx="minor">
          <a:schemeClr val="dk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en-US" sz="2000" kern="1200" dirty="0"/>
            <a:t>D</a:t>
          </a:r>
        </a:p>
      </dsp:txBody>
      <dsp:txXfrm>
        <a:off x="163192" y="146297"/>
        <a:ext cx="486844" cy="324562"/>
      </dsp:txXfrm>
    </dsp:sp>
    <dsp:sp modelId="{D3AB7C3D-A810-418A-9680-2D5C0886B87C}">
      <dsp:nvSpPr>
        <dsp:cNvPr id="0" name=""/>
        <dsp:cNvSpPr/>
      </dsp:nvSpPr>
      <dsp:spPr>
        <a:xfrm>
          <a:off x="731177" y="146297"/>
          <a:ext cx="811406" cy="324562"/>
        </a:xfrm>
        <a:prstGeom prst="chevron">
          <a:avLst/>
        </a:prstGeom>
        <a:solidFill>
          <a:schemeClr val="bg1">
            <a:lumMod val="85000"/>
          </a:schemeClr>
        </a:solidFill>
        <a:ln w="12700" cap="flat" cmpd="sng" algn="ctr">
          <a:solidFill>
            <a:schemeClr val="tx1"/>
          </a:solidFill>
          <a:prstDash val="solid"/>
        </a:ln>
        <a:effectLst/>
      </dsp:spPr>
      <dsp:style>
        <a:lnRef idx="2">
          <a:schemeClr val="accent4"/>
        </a:lnRef>
        <a:fillRef idx="1">
          <a:schemeClr val="lt1"/>
        </a:fillRef>
        <a:effectRef idx="0">
          <a:schemeClr val="accent4"/>
        </a:effectRef>
        <a:fontRef idx="minor">
          <a:schemeClr val="dk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en-US" sz="2000" kern="1200" dirty="0"/>
            <a:t>M</a:t>
          </a:r>
        </a:p>
      </dsp:txBody>
      <dsp:txXfrm>
        <a:off x="893458" y="146297"/>
        <a:ext cx="486844" cy="324562"/>
      </dsp:txXfrm>
    </dsp:sp>
    <dsp:sp modelId="{85F4B451-0FD0-42C8-80A0-3D70971ED446}">
      <dsp:nvSpPr>
        <dsp:cNvPr id="0" name=""/>
        <dsp:cNvSpPr/>
      </dsp:nvSpPr>
      <dsp:spPr>
        <a:xfrm>
          <a:off x="1461442" y="146297"/>
          <a:ext cx="811406" cy="324562"/>
        </a:xfrm>
        <a:prstGeom prst="chevron">
          <a:avLst/>
        </a:prstGeom>
        <a:solidFill>
          <a:schemeClr val="lt1"/>
        </a:solidFill>
        <a:ln w="12700" cap="flat" cmpd="sng" algn="ctr">
          <a:solidFill>
            <a:schemeClr val="tx1"/>
          </a:solidFill>
          <a:prstDash val="solid"/>
        </a:ln>
        <a:effectLst/>
      </dsp:spPr>
      <dsp:style>
        <a:lnRef idx="2">
          <a:schemeClr val="accent4"/>
        </a:lnRef>
        <a:fillRef idx="1">
          <a:schemeClr val="lt1"/>
        </a:fillRef>
        <a:effectRef idx="0">
          <a:schemeClr val="accent4"/>
        </a:effectRef>
        <a:fontRef idx="minor">
          <a:schemeClr val="dk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en-US" sz="2000" kern="1200" dirty="0"/>
            <a:t>A</a:t>
          </a:r>
        </a:p>
      </dsp:txBody>
      <dsp:txXfrm>
        <a:off x="1623723" y="146297"/>
        <a:ext cx="486844" cy="324562"/>
      </dsp:txXfrm>
    </dsp:sp>
    <dsp:sp modelId="{679CE53B-3AB7-4DE6-AD51-84FD8C46EB46}">
      <dsp:nvSpPr>
        <dsp:cNvPr id="0" name=""/>
        <dsp:cNvSpPr/>
      </dsp:nvSpPr>
      <dsp:spPr>
        <a:xfrm>
          <a:off x="2191707" y="146297"/>
          <a:ext cx="811406" cy="324562"/>
        </a:xfrm>
        <a:prstGeom prst="chevron">
          <a:avLst/>
        </a:prstGeom>
        <a:solidFill>
          <a:schemeClr val="lt1"/>
        </a:solidFill>
        <a:ln w="12700" cap="flat" cmpd="sng" algn="ctr">
          <a:solidFill>
            <a:schemeClr val="tx1"/>
          </a:solidFill>
          <a:prstDash val="solid"/>
        </a:ln>
        <a:effectLst/>
      </dsp:spPr>
      <dsp:style>
        <a:lnRef idx="2">
          <a:schemeClr val="accent4"/>
        </a:lnRef>
        <a:fillRef idx="1">
          <a:schemeClr val="lt1"/>
        </a:fillRef>
        <a:effectRef idx="0">
          <a:schemeClr val="accent4"/>
        </a:effectRef>
        <a:fontRef idx="minor">
          <a:schemeClr val="dk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en-US" sz="2000" kern="1200" dirty="0"/>
            <a:t>I</a:t>
          </a:r>
        </a:p>
      </dsp:txBody>
      <dsp:txXfrm>
        <a:off x="2353988" y="146297"/>
        <a:ext cx="486844" cy="324562"/>
      </dsp:txXfrm>
    </dsp:sp>
    <dsp:sp modelId="{8B532F1F-7985-410D-8F23-17546AA96819}">
      <dsp:nvSpPr>
        <dsp:cNvPr id="0" name=""/>
        <dsp:cNvSpPr/>
      </dsp:nvSpPr>
      <dsp:spPr>
        <a:xfrm>
          <a:off x="2921973" y="146297"/>
          <a:ext cx="811406" cy="324562"/>
        </a:xfrm>
        <a:prstGeom prst="chevron">
          <a:avLst/>
        </a:prstGeom>
        <a:solidFill>
          <a:schemeClr val="lt1"/>
        </a:solidFill>
        <a:ln w="12700" cap="flat" cmpd="sng" algn="ctr">
          <a:solidFill>
            <a:schemeClr val="tx1"/>
          </a:solidFill>
          <a:prstDash val="solid"/>
        </a:ln>
        <a:effectLst/>
      </dsp:spPr>
      <dsp:style>
        <a:lnRef idx="2">
          <a:schemeClr val="accent4"/>
        </a:lnRef>
        <a:fillRef idx="1">
          <a:schemeClr val="lt1"/>
        </a:fillRef>
        <a:effectRef idx="0">
          <a:schemeClr val="accent4"/>
        </a:effectRef>
        <a:fontRef idx="minor">
          <a:schemeClr val="dk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en-US" sz="2000" kern="1200" dirty="0"/>
            <a:t>C</a:t>
          </a:r>
        </a:p>
      </dsp:txBody>
      <dsp:txXfrm>
        <a:off x="3084254" y="146297"/>
        <a:ext cx="486844" cy="324562"/>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A0ADE0C-E6D1-4D81-9931-771EEA7AFED4}">
      <dsp:nvSpPr>
        <dsp:cNvPr id="0" name=""/>
        <dsp:cNvSpPr/>
      </dsp:nvSpPr>
      <dsp:spPr>
        <a:xfrm>
          <a:off x="911" y="146297"/>
          <a:ext cx="811406" cy="324562"/>
        </a:xfrm>
        <a:prstGeom prst="chevron">
          <a:avLst/>
        </a:prstGeom>
        <a:solidFill>
          <a:schemeClr val="bg1"/>
        </a:solidFill>
        <a:ln w="12700" cap="flat" cmpd="sng" algn="ctr">
          <a:solidFill>
            <a:schemeClr val="tx1"/>
          </a:solidFill>
          <a:prstDash val="solid"/>
        </a:ln>
        <a:effectLst/>
      </dsp:spPr>
      <dsp:style>
        <a:lnRef idx="2">
          <a:schemeClr val="accent4"/>
        </a:lnRef>
        <a:fillRef idx="1">
          <a:schemeClr val="lt1"/>
        </a:fillRef>
        <a:effectRef idx="0">
          <a:schemeClr val="accent4"/>
        </a:effectRef>
        <a:fontRef idx="minor">
          <a:schemeClr val="dk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en-US" sz="2000" kern="1200" dirty="0"/>
            <a:t>D</a:t>
          </a:r>
        </a:p>
      </dsp:txBody>
      <dsp:txXfrm>
        <a:off x="163192" y="146297"/>
        <a:ext cx="486844" cy="324562"/>
      </dsp:txXfrm>
    </dsp:sp>
    <dsp:sp modelId="{D3AB7C3D-A810-418A-9680-2D5C0886B87C}">
      <dsp:nvSpPr>
        <dsp:cNvPr id="0" name=""/>
        <dsp:cNvSpPr/>
      </dsp:nvSpPr>
      <dsp:spPr>
        <a:xfrm>
          <a:off x="731177" y="146297"/>
          <a:ext cx="811406" cy="324562"/>
        </a:xfrm>
        <a:prstGeom prst="chevron">
          <a:avLst/>
        </a:prstGeom>
        <a:solidFill>
          <a:schemeClr val="bg1">
            <a:lumMod val="85000"/>
          </a:schemeClr>
        </a:solidFill>
        <a:ln w="12700" cap="flat" cmpd="sng" algn="ctr">
          <a:solidFill>
            <a:schemeClr val="tx1"/>
          </a:solidFill>
          <a:prstDash val="solid"/>
        </a:ln>
        <a:effectLst/>
      </dsp:spPr>
      <dsp:style>
        <a:lnRef idx="2">
          <a:schemeClr val="accent4"/>
        </a:lnRef>
        <a:fillRef idx="1">
          <a:schemeClr val="lt1"/>
        </a:fillRef>
        <a:effectRef idx="0">
          <a:schemeClr val="accent4"/>
        </a:effectRef>
        <a:fontRef idx="minor">
          <a:schemeClr val="dk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en-US" sz="2000" kern="1200" dirty="0"/>
            <a:t>M</a:t>
          </a:r>
        </a:p>
      </dsp:txBody>
      <dsp:txXfrm>
        <a:off x="893458" y="146297"/>
        <a:ext cx="486844" cy="324562"/>
      </dsp:txXfrm>
    </dsp:sp>
    <dsp:sp modelId="{85F4B451-0FD0-42C8-80A0-3D70971ED446}">
      <dsp:nvSpPr>
        <dsp:cNvPr id="0" name=""/>
        <dsp:cNvSpPr/>
      </dsp:nvSpPr>
      <dsp:spPr>
        <a:xfrm>
          <a:off x="1461442" y="146297"/>
          <a:ext cx="811406" cy="324562"/>
        </a:xfrm>
        <a:prstGeom prst="chevron">
          <a:avLst/>
        </a:prstGeom>
        <a:solidFill>
          <a:schemeClr val="lt1"/>
        </a:solidFill>
        <a:ln w="12700" cap="flat" cmpd="sng" algn="ctr">
          <a:solidFill>
            <a:schemeClr val="tx1"/>
          </a:solidFill>
          <a:prstDash val="solid"/>
        </a:ln>
        <a:effectLst/>
      </dsp:spPr>
      <dsp:style>
        <a:lnRef idx="2">
          <a:schemeClr val="accent4"/>
        </a:lnRef>
        <a:fillRef idx="1">
          <a:schemeClr val="lt1"/>
        </a:fillRef>
        <a:effectRef idx="0">
          <a:schemeClr val="accent4"/>
        </a:effectRef>
        <a:fontRef idx="minor">
          <a:schemeClr val="dk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en-US" sz="2000" kern="1200" dirty="0"/>
            <a:t>A</a:t>
          </a:r>
        </a:p>
      </dsp:txBody>
      <dsp:txXfrm>
        <a:off x="1623723" y="146297"/>
        <a:ext cx="486844" cy="324562"/>
      </dsp:txXfrm>
    </dsp:sp>
    <dsp:sp modelId="{679CE53B-3AB7-4DE6-AD51-84FD8C46EB46}">
      <dsp:nvSpPr>
        <dsp:cNvPr id="0" name=""/>
        <dsp:cNvSpPr/>
      </dsp:nvSpPr>
      <dsp:spPr>
        <a:xfrm>
          <a:off x="2191707" y="146297"/>
          <a:ext cx="811406" cy="324562"/>
        </a:xfrm>
        <a:prstGeom prst="chevron">
          <a:avLst/>
        </a:prstGeom>
        <a:solidFill>
          <a:schemeClr val="lt1"/>
        </a:solidFill>
        <a:ln w="12700" cap="flat" cmpd="sng" algn="ctr">
          <a:solidFill>
            <a:schemeClr val="tx1"/>
          </a:solidFill>
          <a:prstDash val="solid"/>
        </a:ln>
        <a:effectLst/>
      </dsp:spPr>
      <dsp:style>
        <a:lnRef idx="2">
          <a:schemeClr val="accent4"/>
        </a:lnRef>
        <a:fillRef idx="1">
          <a:schemeClr val="lt1"/>
        </a:fillRef>
        <a:effectRef idx="0">
          <a:schemeClr val="accent4"/>
        </a:effectRef>
        <a:fontRef idx="minor">
          <a:schemeClr val="dk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en-US" sz="2000" kern="1200" dirty="0"/>
            <a:t>I</a:t>
          </a:r>
        </a:p>
      </dsp:txBody>
      <dsp:txXfrm>
        <a:off x="2353988" y="146297"/>
        <a:ext cx="486844" cy="324562"/>
      </dsp:txXfrm>
    </dsp:sp>
    <dsp:sp modelId="{8B532F1F-7985-410D-8F23-17546AA96819}">
      <dsp:nvSpPr>
        <dsp:cNvPr id="0" name=""/>
        <dsp:cNvSpPr/>
      </dsp:nvSpPr>
      <dsp:spPr>
        <a:xfrm>
          <a:off x="2921973" y="146297"/>
          <a:ext cx="811406" cy="324562"/>
        </a:xfrm>
        <a:prstGeom prst="chevron">
          <a:avLst/>
        </a:prstGeom>
        <a:solidFill>
          <a:schemeClr val="lt1"/>
        </a:solidFill>
        <a:ln w="12700" cap="flat" cmpd="sng" algn="ctr">
          <a:solidFill>
            <a:schemeClr val="tx1"/>
          </a:solidFill>
          <a:prstDash val="solid"/>
        </a:ln>
        <a:effectLst/>
      </dsp:spPr>
      <dsp:style>
        <a:lnRef idx="2">
          <a:schemeClr val="accent4"/>
        </a:lnRef>
        <a:fillRef idx="1">
          <a:schemeClr val="lt1"/>
        </a:fillRef>
        <a:effectRef idx="0">
          <a:schemeClr val="accent4"/>
        </a:effectRef>
        <a:fontRef idx="minor">
          <a:schemeClr val="dk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en-US" sz="2000" kern="1200" dirty="0"/>
            <a:t>C</a:t>
          </a:r>
        </a:p>
      </dsp:txBody>
      <dsp:txXfrm>
        <a:off x="3084254" y="146297"/>
        <a:ext cx="486844" cy="324562"/>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A0ADE0C-E6D1-4D81-9931-771EEA7AFED4}">
      <dsp:nvSpPr>
        <dsp:cNvPr id="0" name=""/>
        <dsp:cNvSpPr/>
      </dsp:nvSpPr>
      <dsp:spPr>
        <a:xfrm>
          <a:off x="911" y="146297"/>
          <a:ext cx="811406" cy="324562"/>
        </a:xfrm>
        <a:prstGeom prst="chevron">
          <a:avLst/>
        </a:prstGeom>
        <a:solidFill>
          <a:schemeClr val="bg1"/>
        </a:solidFill>
        <a:ln w="12700" cap="flat" cmpd="sng" algn="ctr">
          <a:solidFill>
            <a:schemeClr val="tx1"/>
          </a:solidFill>
          <a:prstDash val="solid"/>
        </a:ln>
        <a:effectLst/>
      </dsp:spPr>
      <dsp:style>
        <a:lnRef idx="2">
          <a:schemeClr val="accent4"/>
        </a:lnRef>
        <a:fillRef idx="1">
          <a:schemeClr val="lt1"/>
        </a:fillRef>
        <a:effectRef idx="0">
          <a:schemeClr val="accent4"/>
        </a:effectRef>
        <a:fontRef idx="minor">
          <a:schemeClr val="dk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en-US" sz="2000" kern="1200" dirty="0"/>
            <a:t>D</a:t>
          </a:r>
        </a:p>
      </dsp:txBody>
      <dsp:txXfrm>
        <a:off x="163192" y="146297"/>
        <a:ext cx="486844" cy="324562"/>
      </dsp:txXfrm>
    </dsp:sp>
    <dsp:sp modelId="{D3AB7C3D-A810-418A-9680-2D5C0886B87C}">
      <dsp:nvSpPr>
        <dsp:cNvPr id="0" name=""/>
        <dsp:cNvSpPr/>
      </dsp:nvSpPr>
      <dsp:spPr>
        <a:xfrm>
          <a:off x="731177" y="146297"/>
          <a:ext cx="811406" cy="324562"/>
        </a:xfrm>
        <a:prstGeom prst="chevron">
          <a:avLst/>
        </a:prstGeom>
        <a:solidFill>
          <a:schemeClr val="bg1">
            <a:lumMod val="85000"/>
          </a:schemeClr>
        </a:solidFill>
        <a:ln w="12700" cap="flat" cmpd="sng" algn="ctr">
          <a:solidFill>
            <a:schemeClr val="tx1"/>
          </a:solidFill>
          <a:prstDash val="solid"/>
        </a:ln>
        <a:effectLst/>
      </dsp:spPr>
      <dsp:style>
        <a:lnRef idx="2">
          <a:schemeClr val="accent4"/>
        </a:lnRef>
        <a:fillRef idx="1">
          <a:schemeClr val="lt1"/>
        </a:fillRef>
        <a:effectRef idx="0">
          <a:schemeClr val="accent4"/>
        </a:effectRef>
        <a:fontRef idx="minor">
          <a:schemeClr val="dk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en-US" sz="2000" kern="1200" dirty="0"/>
            <a:t>M</a:t>
          </a:r>
        </a:p>
      </dsp:txBody>
      <dsp:txXfrm>
        <a:off x="893458" y="146297"/>
        <a:ext cx="486844" cy="324562"/>
      </dsp:txXfrm>
    </dsp:sp>
    <dsp:sp modelId="{85F4B451-0FD0-42C8-80A0-3D70971ED446}">
      <dsp:nvSpPr>
        <dsp:cNvPr id="0" name=""/>
        <dsp:cNvSpPr/>
      </dsp:nvSpPr>
      <dsp:spPr>
        <a:xfrm>
          <a:off x="1461442" y="146297"/>
          <a:ext cx="811406" cy="324562"/>
        </a:xfrm>
        <a:prstGeom prst="chevron">
          <a:avLst/>
        </a:prstGeom>
        <a:solidFill>
          <a:schemeClr val="lt1"/>
        </a:solidFill>
        <a:ln w="12700" cap="flat" cmpd="sng" algn="ctr">
          <a:solidFill>
            <a:schemeClr val="tx1"/>
          </a:solidFill>
          <a:prstDash val="solid"/>
        </a:ln>
        <a:effectLst/>
      </dsp:spPr>
      <dsp:style>
        <a:lnRef idx="2">
          <a:schemeClr val="accent4"/>
        </a:lnRef>
        <a:fillRef idx="1">
          <a:schemeClr val="lt1"/>
        </a:fillRef>
        <a:effectRef idx="0">
          <a:schemeClr val="accent4"/>
        </a:effectRef>
        <a:fontRef idx="minor">
          <a:schemeClr val="dk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en-US" sz="2000" kern="1200" dirty="0"/>
            <a:t>A</a:t>
          </a:r>
        </a:p>
      </dsp:txBody>
      <dsp:txXfrm>
        <a:off x="1623723" y="146297"/>
        <a:ext cx="486844" cy="324562"/>
      </dsp:txXfrm>
    </dsp:sp>
    <dsp:sp modelId="{679CE53B-3AB7-4DE6-AD51-84FD8C46EB46}">
      <dsp:nvSpPr>
        <dsp:cNvPr id="0" name=""/>
        <dsp:cNvSpPr/>
      </dsp:nvSpPr>
      <dsp:spPr>
        <a:xfrm>
          <a:off x="2191707" y="146297"/>
          <a:ext cx="811406" cy="324562"/>
        </a:xfrm>
        <a:prstGeom prst="chevron">
          <a:avLst/>
        </a:prstGeom>
        <a:solidFill>
          <a:schemeClr val="lt1"/>
        </a:solidFill>
        <a:ln w="12700" cap="flat" cmpd="sng" algn="ctr">
          <a:solidFill>
            <a:schemeClr val="tx1"/>
          </a:solidFill>
          <a:prstDash val="solid"/>
        </a:ln>
        <a:effectLst/>
      </dsp:spPr>
      <dsp:style>
        <a:lnRef idx="2">
          <a:schemeClr val="accent4"/>
        </a:lnRef>
        <a:fillRef idx="1">
          <a:schemeClr val="lt1"/>
        </a:fillRef>
        <a:effectRef idx="0">
          <a:schemeClr val="accent4"/>
        </a:effectRef>
        <a:fontRef idx="minor">
          <a:schemeClr val="dk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en-US" sz="2000" kern="1200" dirty="0"/>
            <a:t>I</a:t>
          </a:r>
        </a:p>
      </dsp:txBody>
      <dsp:txXfrm>
        <a:off x="2353988" y="146297"/>
        <a:ext cx="486844" cy="324562"/>
      </dsp:txXfrm>
    </dsp:sp>
    <dsp:sp modelId="{8B532F1F-7985-410D-8F23-17546AA96819}">
      <dsp:nvSpPr>
        <dsp:cNvPr id="0" name=""/>
        <dsp:cNvSpPr/>
      </dsp:nvSpPr>
      <dsp:spPr>
        <a:xfrm>
          <a:off x="2921973" y="146297"/>
          <a:ext cx="811406" cy="324562"/>
        </a:xfrm>
        <a:prstGeom prst="chevron">
          <a:avLst/>
        </a:prstGeom>
        <a:solidFill>
          <a:schemeClr val="lt1"/>
        </a:solidFill>
        <a:ln w="12700" cap="flat" cmpd="sng" algn="ctr">
          <a:solidFill>
            <a:schemeClr val="tx1"/>
          </a:solidFill>
          <a:prstDash val="solid"/>
        </a:ln>
        <a:effectLst/>
      </dsp:spPr>
      <dsp:style>
        <a:lnRef idx="2">
          <a:schemeClr val="accent4"/>
        </a:lnRef>
        <a:fillRef idx="1">
          <a:schemeClr val="lt1"/>
        </a:fillRef>
        <a:effectRef idx="0">
          <a:schemeClr val="accent4"/>
        </a:effectRef>
        <a:fontRef idx="minor">
          <a:schemeClr val="dk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en-US" sz="2000" kern="1200" dirty="0"/>
            <a:t>C</a:t>
          </a:r>
        </a:p>
      </dsp:txBody>
      <dsp:txXfrm>
        <a:off x="3084254" y="146297"/>
        <a:ext cx="486844" cy="324562"/>
      </dsp:txXfrm>
    </dsp:sp>
  </dsp:spTree>
</dsp:drawing>
</file>

<file path=ppt/diagrams/layout1.xml><?xml version="1.0" encoding="utf-8"?>
<dgm:layoutDef xmlns:dgm="http://schemas.openxmlformats.org/drawingml/2006/diagram" xmlns:a="http://schemas.openxmlformats.org/drawingml/2006/main" uniqueId="urn:microsoft.com/office/officeart/2005/8/layout/chevron1">
  <dgm:title val=""/>
  <dgm:desc val=""/>
  <dgm:catLst>
    <dgm:cat type="process" pri="9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des" func="maxDepth" op="gte" val="2">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1.5"/>
          <dgm:constr type="h" for="des" forName="desTx" refType="primFontSz" refFor="des" refForName="parTx" fact="0.5"/>
          <dgm:constr type="w" for="ch" forName="space" op="equ" val="-6"/>
        </dgm:constrLst>
        <dgm:ruleLst>
          <dgm:rule type="w" for="ch" forName="composite" val="0" fact="NaN" max="NaN"/>
          <dgm:rule type="primFontSz" for="des" forName="parTx" val="5" fact="NaN" max="NaN"/>
        </dgm:ruleLst>
        <dgm:forEach name="Name6" axis="ch" ptType="node">
          <dgm:layoutNode name="composite">
            <dgm:alg type="composite"/>
            <dgm:shape xmlns:r="http://schemas.openxmlformats.org/officeDocument/2006/relationships" r:blip="">
              <dgm:adjLst/>
            </dgm:shape>
            <dgm:presOf/>
            <dgm:choose name="Name7">
              <dgm:if name="Name8" func="var" arg="dir" op="equ" val="norm">
                <dgm:constrLst>
                  <dgm:constr type="l" for="ch" forName="parTx"/>
                  <dgm:constr type="w" for="ch" forName="parTx" refType="w"/>
                  <dgm:constr type="t" for="ch" forName="parTx"/>
                  <dgm:constr type="l" for="ch" forName="desTx"/>
                  <dgm:constr type="w" for="ch" forName="desTx" refType="w" refFor="ch" refForName="parTx" fact="0.8"/>
                  <dgm:constr type="t" for="ch" forName="desTx" refType="h" refFor="ch" refForName="parTx" fact="1.125"/>
                </dgm:constrLst>
              </dgm:if>
              <dgm:else name="Name9">
                <dgm:constrLst>
                  <dgm:constr type="l" for="ch" forName="parTx"/>
                  <dgm:constr type="w" for="ch" forName="parTx" refType="w"/>
                  <dgm:constr type="t" for="ch" forName="parTx"/>
                  <dgm:constr type="l" for="ch" forName="desTx" refType="w" fact="0.2"/>
                  <dgm:constr type="w" for="ch" forName="desTx" refType="w" refFor="ch" refForName="parTx" fact="0.8"/>
                  <dgm:constr type="t" for="ch" forName="desTx" refType="h" refFor="ch" refForName="parTx" fact="1.125"/>
                </dgm:constrLst>
              </dgm:else>
            </dgm:choose>
            <dgm:ruleLst>
              <dgm:rule type="h" val="INF" fact="NaN" max="NaN"/>
            </dgm:ruleLst>
            <dgm:layoutNode name="parTx">
              <dgm:varLst>
                <dgm:chMax val="0"/>
                <dgm:chPref val="0"/>
                <dgm:bulletEnabled val="1"/>
              </dgm:varLst>
              <dgm:alg type="tx"/>
              <dgm:choose name="Name10">
                <dgm:if name="Name11" func="var" arg="dir" op="equ" val="norm">
                  <dgm:shape xmlns:r="http://schemas.openxmlformats.org/officeDocument/2006/relationships" type="chevron" r:blip="">
                    <dgm:adjLst/>
                  </dgm:shape>
                </dgm:if>
                <dgm:else name="Name12">
                  <dgm:shape xmlns:r="http://schemas.openxmlformats.org/officeDocument/2006/relationships" rot="180" type="chevron" r:blip="">
                    <dgm:adjLst/>
                  </dgm:shape>
                </dgm:else>
              </dgm:choose>
              <dgm:presOf axis="self" ptType="node"/>
              <dgm:choose name="Name13">
                <dgm:if name="Name14" func="var" arg="dir" op="equ" val="norm">
                  <dgm:constrLst>
                    <dgm:constr type="h" refType="w" op="lte" fact="0.4"/>
                    <dgm:constr type="h"/>
                    <dgm:constr type="tMarg" refType="primFontSz" fact="0.105"/>
                    <dgm:constr type="bMarg" refType="primFontSz" fact="0.105"/>
                    <dgm:constr type="lMarg" refType="primFontSz" fact="0.315"/>
                    <dgm:constr type="rMarg" refType="primFontSz" fact="0.105"/>
                  </dgm:constrLst>
                </dgm:if>
                <dgm:else name="Name15">
                  <dgm:constrLst>
                    <dgm:constr type="h" refType="w" op="lte" fact="0.4"/>
                    <dgm:constr type="h"/>
                    <dgm:constr type="tMarg" refType="primFontSz" fact="0.105"/>
                    <dgm:constr type="bMarg" refType="primFontSz" fact="0.105"/>
                    <dgm:constr type="lMarg" refType="primFontSz" fact="0.105"/>
                    <dgm:constr type="rMarg" refType="primFontSz" fact="0.315"/>
                  </dgm:constrLst>
                </dgm:else>
              </dgm:choose>
              <dgm:ruleLst>
                <dgm:rule type="h" val="INF" fact="NaN" max="NaN"/>
              </dgm:ruleLst>
            </dgm:layoutNode>
            <dgm:layoutNode name="desTx" styleLbl="revTx">
              <dgm:varLst>
                <dgm:bulletEnabled val="1"/>
              </dgm:varLst>
              <dgm:alg type="tx">
                <dgm:param type="stBulletLvl" val="1"/>
              </dgm:alg>
              <dgm:choose name="Name16">
                <dgm:if name="Name17" axis="ch" ptType="node" func="cnt" op="gte" val="1">
                  <dgm:shape xmlns:r="http://schemas.openxmlformats.org/officeDocument/2006/relationships" type="rect" r:blip="">
                    <dgm:adjLst/>
                  </dgm:shape>
                </dgm:if>
                <dgm:else name="Name18">
                  <dgm:shape xmlns:r="http://schemas.openxmlformats.org/officeDocument/2006/relationships" type="rect" r:blip="" hideGeom="1">
                    <dgm:adjLst/>
                  </dgm:shape>
                </dgm:else>
              </dgm:choose>
              <dgm:presOf axis="des" ptType="node"/>
              <dgm:constrLst>
                <dgm:constr type="secFontSz" val="65"/>
                <dgm:constr type="primFontSz" refType="secFontSz"/>
                <dgm:constr type="h"/>
                <dgm:constr type="tMarg"/>
                <dgm:constr type="bMarg"/>
                <dgm:constr type="rMarg"/>
                <dgm:constr type="lMarg"/>
              </dgm:constrLst>
              <dgm:ruleLst>
                <dgm:rule type="h" val="INF"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if>
      <dgm:else name="Name20">
        <dgm:constrLst>
          <dgm:constr type="w" for="ch" forName="parTxOnly" refType="w"/>
          <dgm:constr type="h" for="des" forName="parTxOnly" op="equ"/>
          <dgm:constr type="primFontSz" for="des" forName="parTxOnly" op="equ" val="65"/>
          <dgm:constr type="w" for="ch" forName="parTxOnlySpace" refType="w" refFor="ch" refForName="parTxOnly" fact="-0.1"/>
        </dgm:constrLst>
        <dgm:ruleLst/>
        <dgm:forEach name="Name21" axis="ch" ptType="node">
          <dgm:layoutNode name="parTxOnly">
            <dgm:varLst>
              <dgm:chMax val="0"/>
              <dgm:chPref val="0"/>
              <dgm:bulletEnabled val="1"/>
            </dgm:varLst>
            <dgm:alg type="tx"/>
            <dgm:choose name="Name22">
              <dgm:if name="Name23" func="var" arg="dir" op="equ" val="norm">
                <dgm:shape xmlns:r="http://schemas.openxmlformats.org/officeDocument/2006/relationships" type="chevron" r:blip="">
                  <dgm:adjLst/>
                </dgm:shape>
              </dgm:if>
              <dgm:else name="Name24">
                <dgm:shape xmlns:r="http://schemas.openxmlformats.org/officeDocument/2006/relationships" rot="180" type="chevron" r:blip="">
                  <dgm:adjLst/>
                </dgm:shape>
              </dgm:else>
            </dgm:choose>
            <dgm:presOf axis="self" ptType="node"/>
            <dgm:choose name="Name25">
              <dgm:if name="Name26" func="var" arg="dir" op="equ" val="norm">
                <dgm:constrLst>
                  <dgm:constr type="h" refType="w" op="equ" fact="0.4"/>
                  <dgm:constr type="tMarg" refType="primFontSz" fact="0.105"/>
                  <dgm:constr type="bMarg" refType="primFontSz" fact="0.105"/>
                  <dgm:constr type="lMarg" refType="primFontSz" fact="0.315"/>
                  <dgm:constr type="rMarg" refType="primFontSz" fact="0.105"/>
                </dgm:constrLst>
              </dgm:if>
              <dgm:else name="Name27">
                <dgm:constrLst>
                  <dgm:constr type="h" refType="w" op="equ" fact="0.4"/>
                  <dgm:constr type="tMarg" refType="primFontSz" fact="0.105"/>
                  <dgm:constr type="bMarg" refType="primFontSz" fact="0.105"/>
                  <dgm:constr type="lMarg" refType="primFontSz" fact="0.105"/>
                  <dgm:constr type="rMarg" refType="primFontSz" fact="0.315"/>
                </dgm:constrLst>
              </dgm:else>
            </dgm:choose>
            <dgm:ruleLst>
              <dgm:rule type="primFontSz" val="5" fact="NaN" max="NaN"/>
            </dgm:ruleLst>
          </dgm:layoutNode>
          <dgm:forEach name="Name28" axis="followSib" ptType="sibTrans" cnt="1">
            <dgm:layoutNode name="parTxOnlySpace">
              <dgm:alg type="sp"/>
              <dgm:shape xmlns:r="http://schemas.openxmlformats.org/officeDocument/2006/relationships" r:blip="">
                <dgm:adjLst/>
              </dgm:shape>
              <dgm:presOf/>
              <dgm:constrLst/>
              <dgm:ruleLst/>
            </dgm:layoutNode>
          </dgm:forEach>
        </dgm:forEach>
      </dgm:else>
    </dgm:choose>
  </dgm:layoutNode>
</dgm:layoutDef>
</file>

<file path=ppt/diagrams/layout2.xml><?xml version="1.0" encoding="utf-8"?>
<dgm:layoutDef xmlns:dgm="http://schemas.openxmlformats.org/drawingml/2006/diagram" xmlns:a="http://schemas.openxmlformats.org/drawingml/2006/main" uniqueId="urn:microsoft.com/office/officeart/2005/8/layout/chevron1">
  <dgm:title val=""/>
  <dgm:desc val=""/>
  <dgm:catLst>
    <dgm:cat type="process" pri="9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des" func="maxDepth" op="gte" val="2">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1.5"/>
          <dgm:constr type="h" for="des" forName="desTx" refType="primFontSz" refFor="des" refForName="parTx" fact="0.5"/>
          <dgm:constr type="w" for="ch" forName="space" op="equ" val="-6"/>
        </dgm:constrLst>
        <dgm:ruleLst>
          <dgm:rule type="w" for="ch" forName="composite" val="0" fact="NaN" max="NaN"/>
          <dgm:rule type="primFontSz" for="des" forName="parTx" val="5" fact="NaN" max="NaN"/>
        </dgm:ruleLst>
        <dgm:forEach name="Name6" axis="ch" ptType="node">
          <dgm:layoutNode name="composite">
            <dgm:alg type="composite"/>
            <dgm:shape xmlns:r="http://schemas.openxmlformats.org/officeDocument/2006/relationships" r:blip="">
              <dgm:adjLst/>
            </dgm:shape>
            <dgm:presOf/>
            <dgm:choose name="Name7">
              <dgm:if name="Name8" func="var" arg="dir" op="equ" val="norm">
                <dgm:constrLst>
                  <dgm:constr type="l" for="ch" forName="parTx"/>
                  <dgm:constr type="w" for="ch" forName="parTx" refType="w"/>
                  <dgm:constr type="t" for="ch" forName="parTx"/>
                  <dgm:constr type="l" for="ch" forName="desTx"/>
                  <dgm:constr type="w" for="ch" forName="desTx" refType="w" refFor="ch" refForName="parTx" fact="0.8"/>
                  <dgm:constr type="t" for="ch" forName="desTx" refType="h" refFor="ch" refForName="parTx" fact="1.125"/>
                </dgm:constrLst>
              </dgm:if>
              <dgm:else name="Name9">
                <dgm:constrLst>
                  <dgm:constr type="l" for="ch" forName="parTx"/>
                  <dgm:constr type="w" for="ch" forName="parTx" refType="w"/>
                  <dgm:constr type="t" for="ch" forName="parTx"/>
                  <dgm:constr type="l" for="ch" forName="desTx" refType="w" fact="0.2"/>
                  <dgm:constr type="w" for="ch" forName="desTx" refType="w" refFor="ch" refForName="parTx" fact="0.8"/>
                  <dgm:constr type="t" for="ch" forName="desTx" refType="h" refFor="ch" refForName="parTx" fact="1.125"/>
                </dgm:constrLst>
              </dgm:else>
            </dgm:choose>
            <dgm:ruleLst>
              <dgm:rule type="h" val="INF" fact="NaN" max="NaN"/>
            </dgm:ruleLst>
            <dgm:layoutNode name="parTx">
              <dgm:varLst>
                <dgm:chMax val="0"/>
                <dgm:chPref val="0"/>
                <dgm:bulletEnabled val="1"/>
              </dgm:varLst>
              <dgm:alg type="tx"/>
              <dgm:choose name="Name10">
                <dgm:if name="Name11" func="var" arg="dir" op="equ" val="norm">
                  <dgm:shape xmlns:r="http://schemas.openxmlformats.org/officeDocument/2006/relationships" type="chevron" r:blip="">
                    <dgm:adjLst/>
                  </dgm:shape>
                </dgm:if>
                <dgm:else name="Name12">
                  <dgm:shape xmlns:r="http://schemas.openxmlformats.org/officeDocument/2006/relationships" rot="180" type="chevron" r:blip="">
                    <dgm:adjLst/>
                  </dgm:shape>
                </dgm:else>
              </dgm:choose>
              <dgm:presOf axis="self" ptType="node"/>
              <dgm:choose name="Name13">
                <dgm:if name="Name14" func="var" arg="dir" op="equ" val="norm">
                  <dgm:constrLst>
                    <dgm:constr type="h" refType="w" op="lte" fact="0.4"/>
                    <dgm:constr type="h"/>
                    <dgm:constr type="tMarg" refType="primFontSz" fact="0.105"/>
                    <dgm:constr type="bMarg" refType="primFontSz" fact="0.105"/>
                    <dgm:constr type="lMarg" refType="primFontSz" fact="0.315"/>
                    <dgm:constr type="rMarg" refType="primFontSz" fact="0.105"/>
                  </dgm:constrLst>
                </dgm:if>
                <dgm:else name="Name15">
                  <dgm:constrLst>
                    <dgm:constr type="h" refType="w" op="lte" fact="0.4"/>
                    <dgm:constr type="h"/>
                    <dgm:constr type="tMarg" refType="primFontSz" fact="0.105"/>
                    <dgm:constr type="bMarg" refType="primFontSz" fact="0.105"/>
                    <dgm:constr type="lMarg" refType="primFontSz" fact="0.105"/>
                    <dgm:constr type="rMarg" refType="primFontSz" fact="0.315"/>
                  </dgm:constrLst>
                </dgm:else>
              </dgm:choose>
              <dgm:ruleLst>
                <dgm:rule type="h" val="INF" fact="NaN" max="NaN"/>
              </dgm:ruleLst>
            </dgm:layoutNode>
            <dgm:layoutNode name="desTx" styleLbl="revTx">
              <dgm:varLst>
                <dgm:bulletEnabled val="1"/>
              </dgm:varLst>
              <dgm:alg type="tx">
                <dgm:param type="stBulletLvl" val="1"/>
              </dgm:alg>
              <dgm:choose name="Name16">
                <dgm:if name="Name17" axis="ch" ptType="node" func="cnt" op="gte" val="1">
                  <dgm:shape xmlns:r="http://schemas.openxmlformats.org/officeDocument/2006/relationships" type="rect" r:blip="">
                    <dgm:adjLst/>
                  </dgm:shape>
                </dgm:if>
                <dgm:else name="Name18">
                  <dgm:shape xmlns:r="http://schemas.openxmlformats.org/officeDocument/2006/relationships" type="rect" r:blip="" hideGeom="1">
                    <dgm:adjLst/>
                  </dgm:shape>
                </dgm:else>
              </dgm:choose>
              <dgm:presOf axis="des" ptType="node"/>
              <dgm:constrLst>
                <dgm:constr type="secFontSz" val="65"/>
                <dgm:constr type="primFontSz" refType="secFontSz"/>
                <dgm:constr type="h"/>
                <dgm:constr type="tMarg"/>
                <dgm:constr type="bMarg"/>
                <dgm:constr type="rMarg"/>
                <dgm:constr type="lMarg"/>
              </dgm:constrLst>
              <dgm:ruleLst>
                <dgm:rule type="h" val="INF"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if>
      <dgm:else name="Name20">
        <dgm:constrLst>
          <dgm:constr type="w" for="ch" forName="parTxOnly" refType="w"/>
          <dgm:constr type="h" for="des" forName="parTxOnly" op="equ"/>
          <dgm:constr type="primFontSz" for="des" forName="parTxOnly" op="equ" val="65"/>
          <dgm:constr type="w" for="ch" forName="parTxOnlySpace" refType="w" refFor="ch" refForName="parTxOnly" fact="-0.1"/>
        </dgm:constrLst>
        <dgm:ruleLst/>
        <dgm:forEach name="Name21" axis="ch" ptType="node">
          <dgm:layoutNode name="parTxOnly">
            <dgm:varLst>
              <dgm:chMax val="0"/>
              <dgm:chPref val="0"/>
              <dgm:bulletEnabled val="1"/>
            </dgm:varLst>
            <dgm:alg type="tx"/>
            <dgm:choose name="Name22">
              <dgm:if name="Name23" func="var" arg="dir" op="equ" val="norm">
                <dgm:shape xmlns:r="http://schemas.openxmlformats.org/officeDocument/2006/relationships" type="chevron" r:blip="">
                  <dgm:adjLst/>
                </dgm:shape>
              </dgm:if>
              <dgm:else name="Name24">
                <dgm:shape xmlns:r="http://schemas.openxmlformats.org/officeDocument/2006/relationships" rot="180" type="chevron" r:blip="">
                  <dgm:adjLst/>
                </dgm:shape>
              </dgm:else>
            </dgm:choose>
            <dgm:presOf axis="self" ptType="node"/>
            <dgm:choose name="Name25">
              <dgm:if name="Name26" func="var" arg="dir" op="equ" val="norm">
                <dgm:constrLst>
                  <dgm:constr type="h" refType="w" op="equ" fact="0.4"/>
                  <dgm:constr type="tMarg" refType="primFontSz" fact="0.105"/>
                  <dgm:constr type="bMarg" refType="primFontSz" fact="0.105"/>
                  <dgm:constr type="lMarg" refType="primFontSz" fact="0.315"/>
                  <dgm:constr type="rMarg" refType="primFontSz" fact="0.105"/>
                </dgm:constrLst>
              </dgm:if>
              <dgm:else name="Name27">
                <dgm:constrLst>
                  <dgm:constr type="h" refType="w" op="equ" fact="0.4"/>
                  <dgm:constr type="tMarg" refType="primFontSz" fact="0.105"/>
                  <dgm:constr type="bMarg" refType="primFontSz" fact="0.105"/>
                  <dgm:constr type="lMarg" refType="primFontSz" fact="0.105"/>
                  <dgm:constr type="rMarg" refType="primFontSz" fact="0.315"/>
                </dgm:constrLst>
              </dgm:else>
            </dgm:choose>
            <dgm:ruleLst>
              <dgm:rule type="primFontSz" val="5" fact="NaN" max="NaN"/>
            </dgm:ruleLst>
          </dgm:layoutNode>
          <dgm:forEach name="Name28" axis="followSib" ptType="sibTrans" cnt="1">
            <dgm:layoutNode name="parTxOnlySpace">
              <dgm:alg type="sp"/>
              <dgm:shape xmlns:r="http://schemas.openxmlformats.org/officeDocument/2006/relationships" r:blip="">
                <dgm:adjLst/>
              </dgm:shape>
              <dgm:presOf/>
              <dgm:constrLst/>
              <dgm:ruleLst/>
            </dgm:layoutNode>
          </dgm:forEach>
        </dgm:forEach>
      </dgm:else>
    </dgm:choose>
  </dgm:layoutNode>
</dgm:layoutDef>
</file>

<file path=ppt/diagrams/layout3.xml><?xml version="1.0" encoding="utf-8"?>
<dgm:layoutDef xmlns:dgm="http://schemas.openxmlformats.org/drawingml/2006/diagram" xmlns:a="http://schemas.openxmlformats.org/drawingml/2006/main" uniqueId="urn:microsoft.com/office/officeart/2005/8/layout/chevron1">
  <dgm:title val=""/>
  <dgm:desc val=""/>
  <dgm:catLst>
    <dgm:cat type="process" pri="9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des" func="maxDepth" op="gte" val="2">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1.5"/>
          <dgm:constr type="h" for="des" forName="desTx" refType="primFontSz" refFor="des" refForName="parTx" fact="0.5"/>
          <dgm:constr type="w" for="ch" forName="space" op="equ" val="-6"/>
        </dgm:constrLst>
        <dgm:ruleLst>
          <dgm:rule type="w" for="ch" forName="composite" val="0" fact="NaN" max="NaN"/>
          <dgm:rule type="primFontSz" for="des" forName="parTx" val="5" fact="NaN" max="NaN"/>
        </dgm:ruleLst>
        <dgm:forEach name="Name6" axis="ch" ptType="node">
          <dgm:layoutNode name="composite">
            <dgm:alg type="composite"/>
            <dgm:shape xmlns:r="http://schemas.openxmlformats.org/officeDocument/2006/relationships" r:blip="">
              <dgm:adjLst/>
            </dgm:shape>
            <dgm:presOf/>
            <dgm:choose name="Name7">
              <dgm:if name="Name8" func="var" arg="dir" op="equ" val="norm">
                <dgm:constrLst>
                  <dgm:constr type="l" for="ch" forName="parTx"/>
                  <dgm:constr type="w" for="ch" forName="parTx" refType="w"/>
                  <dgm:constr type="t" for="ch" forName="parTx"/>
                  <dgm:constr type="l" for="ch" forName="desTx"/>
                  <dgm:constr type="w" for="ch" forName="desTx" refType="w" refFor="ch" refForName="parTx" fact="0.8"/>
                  <dgm:constr type="t" for="ch" forName="desTx" refType="h" refFor="ch" refForName="parTx" fact="1.125"/>
                </dgm:constrLst>
              </dgm:if>
              <dgm:else name="Name9">
                <dgm:constrLst>
                  <dgm:constr type="l" for="ch" forName="parTx"/>
                  <dgm:constr type="w" for="ch" forName="parTx" refType="w"/>
                  <dgm:constr type="t" for="ch" forName="parTx"/>
                  <dgm:constr type="l" for="ch" forName="desTx" refType="w" fact="0.2"/>
                  <dgm:constr type="w" for="ch" forName="desTx" refType="w" refFor="ch" refForName="parTx" fact="0.8"/>
                  <dgm:constr type="t" for="ch" forName="desTx" refType="h" refFor="ch" refForName="parTx" fact="1.125"/>
                </dgm:constrLst>
              </dgm:else>
            </dgm:choose>
            <dgm:ruleLst>
              <dgm:rule type="h" val="INF" fact="NaN" max="NaN"/>
            </dgm:ruleLst>
            <dgm:layoutNode name="parTx">
              <dgm:varLst>
                <dgm:chMax val="0"/>
                <dgm:chPref val="0"/>
                <dgm:bulletEnabled val="1"/>
              </dgm:varLst>
              <dgm:alg type="tx"/>
              <dgm:choose name="Name10">
                <dgm:if name="Name11" func="var" arg="dir" op="equ" val="norm">
                  <dgm:shape xmlns:r="http://schemas.openxmlformats.org/officeDocument/2006/relationships" type="chevron" r:blip="">
                    <dgm:adjLst/>
                  </dgm:shape>
                </dgm:if>
                <dgm:else name="Name12">
                  <dgm:shape xmlns:r="http://schemas.openxmlformats.org/officeDocument/2006/relationships" rot="180" type="chevron" r:blip="">
                    <dgm:adjLst/>
                  </dgm:shape>
                </dgm:else>
              </dgm:choose>
              <dgm:presOf axis="self" ptType="node"/>
              <dgm:choose name="Name13">
                <dgm:if name="Name14" func="var" arg="dir" op="equ" val="norm">
                  <dgm:constrLst>
                    <dgm:constr type="h" refType="w" op="lte" fact="0.4"/>
                    <dgm:constr type="h"/>
                    <dgm:constr type="tMarg" refType="primFontSz" fact="0.105"/>
                    <dgm:constr type="bMarg" refType="primFontSz" fact="0.105"/>
                    <dgm:constr type="lMarg" refType="primFontSz" fact="0.315"/>
                    <dgm:constr type="rMarg" refType="primFontSz" fact="0.105"/>
                  </dgm:constrLst>
                </dgm:if>
                <dgm:else name="Name15">
                  <dgm:constrLst>
                    <dgm:constr type="h" refType="w" op="lte" fact="0.4"/>
                    <dgm:constr type="h"/>
                    <dgm:constr type="tMarg" refType="primFontSz" fact="0.105"/>
                    <dgm:constr type="bMarg" refType="primFontSz" fact="0.105"/>
                    <dgm:constr type="lMarg" refType="primFontSz" fact="0.105"/>
                    <dgm:constr type="rMarg" refType="primFontSz" fact="0.315"/>
                  </dgm:constrLst>
                </dgm:else>
              </dgm:choose>
              <dgm:ruleLst>
                <dgm:rule type="h" val="INF" fact="NaN" max="NaN"/>
              </dgm:ruleLst>
            </dgm:layoutNode>
            <dgm:layoutNode name="desTx" styleLbl="revTx">
              <dgm:varLst>
                <dgm:bulletEnabled val="1"/>
              </dgm:varLst>
              <dgm:alg type="tx">
                <dgm:param type="stBulletLvl" val="1"/>
              </dgm:alg>
              <dgm:choose name="Name16">
                <dgm:if name="Name17" axis="ch" ptType="node" func="cnt" op="gte" val="1">
                  <dgm:shape xmlns:r="http://schemas.openxmlformats.org/officeDocument/2006/relationships" type="rect" r:blip="">
                    <dgm:adjLst/>
                  </dgm:shape>
                </dgm:if>
                <dgm:else name="Name18">
                  <dgm:shape xmlns:r="http://schemas.openxmlformats.org/officeDocument/2006/relationships" type="rect" r:blip="" hideGeom="1">
                    <dgm:adjLst/>
                  </dgm:shape>
                </dgm:else>
              </dgm:choose>
              <dgm:presOf axis="des" ptType="node"/>
              <dgm:constrLst>
                <dgm:constr type="secFontSz" val="65"/>
                <dgm:constr type="primFontSz" refType="secFontSz"/>
                <dgm:constr type="h"/>
                <dgm:constr type="tMarg"/>
                <dgm:constr type="bMarg"/>
                <dgm:constr type="rMarg"/>
                <dgm:constr type="lMarg"/>
              </dgm:constrLst>
              <dgm:ruleLst>
                <dgm:rule type="h" val="INF"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if>
      <dgm:else name="Name20">
        <dgm:constrLst>
          <dgm:constr type="w" for="ch" forName="parTxOnly" refType="w"/>
          <dgm:constr type="h" for="des" forName="parTxOnly" op="equ"/>
          <dgm:constr type="primFontSz" for="des" forName="parTxOnly" op="equ" val="65"/>
          <dgm:constr type="w" for="ch" forName="parTxOnlySpace" refType="w" refFor="ch" refForName="parTxOnly" fact="-0.1"/>
        </dgm:constrLst>
        <dgm:ruleLst/>
        <dgm:forEach name="Name21" axis="ch" ptType="node">
          <dgm:layoutNode name="parTxOnly">
            <dgm:varLst>
              <dgm:chMax val="0"/>
              <dgm:chPref val="0"/>
              <dgm:bulletEnabled val="1"/>
            </dgm:varLst>
            <dgm:alg type="tx"/>
            <dgm:choose name="Name22">
              <dgm:if name="Name23" func="var" arg="dir" op="equ" val="norm">
                <dgm:shape xmlns:r="http://schemas.openxmlformats.org/officeDocument/2006/relationships" type="chevron" r:blip="">
                  <dgm:adjLst/>
                </dgm:shape>
              </dgm:if>
              <dgm:else name="Name24">
                <dgm:shape xmlns:r="http://schemas.openxmlformats.org/officeDocument/2006/relationships" rot="180" type="chevron" r:blip="">
                  <dgm:adjLst/>
                </dgm:shape>
              </dgm:else>
            </dgm:choose>
            <dgm:presOf axis="self" ptType="node"/>
            <dgm:choose name="Name25">
              <dgm:if name="Name26" func="var" arg="dir" op="equ" val="norm">
                <dgm:constrLst>
                  <dgm:constr type="h" refType="w" op="equ" fact="0.4"/>
                  <dgm:constr type="tMarg" refType="primFontSz" fact="0.105"/>
                  <dgm:constr type="bMarg" refType="primFontSz" fact="0.105"/>
                  <dgm:constr type="lMarg" refType="primFontSz" fact="0.315"/>
                  <dgm:constr type="rMarg" refType="primFontSz" fact="0.105"/>
                </dgm:constrLst>
              </dgm:if>
              <dgm:else name="Name27">
                <dgm:constrLst>
                  <dgm:constr type="h" refType="w" op="equ" fact="0.4"/>
                  <dgm:constr type="tMarg" refType="primFontSz" fact="0.105"/>
                  <dgm:constr type="bMarg" refType="primFontSz" fact="0.105"/>
                  <dgm:constr type="lMarg" refType="primFontSz" fact="0.105"/>
                  <dgm:constr type="rMarg" refType="primFontSz" fact="0.315"/>
                </dgm:constrLst>
              </dgm:else>
            </dgm:choose>
            <dgm:ruleLst>
              <dgm:rule type="primFontSz" val="5" fact="NaN" max="NaN"/>
            </dgm:ruleLst>
          </dgm:layoutNode>
          <dgm:forEach name="Name28" axis="followSib" ptType="sibTrans" cnt="1">
            <dgm:layoutNode name="parTxOnlySpace">
              <dgm:alg type="sp"/>
              <dgm:shape xmlns:r="http://schemas.openxmlformats.org/officeDocument/2006/relationships" r:blip="">
                <dgm:adjLst/>
              </dgm:shape>
              <dgm:presOf/>
              <dgm:constrLst/>
              <dgm:ruleLst/>
            </dgm:layoutNode>
          </dgm:forEach>
        </dgm:forEach>
      </dgm:else>
    </dgm:choose>
  </dgm:layoutNode>
</dgm:layoutDef>
</file>

<file path=ppt/diagrams/layout4.xml><?xml version="1.0" encoding="utf-8"?>
<dgm:layoutDef xmlns:dgm="http://schemas.openxmlformats.org/drawingml/2006/diagram" xmlns:a="http://schemas.openxmlformats.org/drawingml/2006/main" uniqueId="urn:microsoft.com/office/officeart/2005/8/layout/chevron1">
  <dgm:title val=""/>
  <dgm:desc val=""/>
  <dgm:catLst>
    <dgm:cat type="process" pri="9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des" func="maxDepth" op="gte" val="2">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1.5"/>
          <dgm:constr type="h" for="des" forName="desTx" refType="primFontSz" refFor="des" refForName="parTx" fact="0.5"/>
          <dgm:constr type="w" for="ch" forName="space" op="equ" val="-6"/>
        </dgm:constrLst>
        <dgm:ruleLst>
          <dgm:rule type="w" for="ch" forName="composite" val="0" fact="NaN" max="NaN"/>
          <dgm:rule type="primFontSz" for="des" forName="parTx" val="5" fact="NaN" max="NaN"/>
        </dgm:ruleLst>
        <dgm:forEach name="Name6" axis="ch" ptType="node">
          <dgm:layoutNode name="composite">
            <dgm:alg type="composite"/>
            <dgm:shape xmlns:r="http://schemas.openxmlformats.org/officeDocument/2006/relationships" r:blip="">
              <dgm:adjLst/>
            </dgm:shape>
            <dgm:presOf/>
            <dgm:choose name="Name7">
              <dgm:if name="Name8" func="var" arg="dir" op="equ" val="norm">
                <dgm:constrLst>
                  <dgm:constr type="l" for="ch" forName="parTx"/>
                  <dgm:constr type="w" for="ch" forName="parTx" refType="w"/>
                  <dgm:constr type="t" for="ch" forName="parTx"/>
                  <dgm:constr type="l" for="ch" forName="desTx"/>
                  <dgm:constr type="w" for="ch" forName="desTx" refType="w" refFor="ch" refForName="parTx" fact="0.8"/>
                  <dgm:constr type="t" for="ch" forName="desTx" refType="h" refFor="ch" refForName="parTx" fact="1.125"/>
                </dgm:constrLst>
              </dgm:if>
              <dgm:else name="Name9">
                <dgm:constrLst>
                  <dgm:constr type="l" for="ch" forName="parTx"/>
                  <dgm:constr type="w" for="ch" forName="parTx" refType="w"/>
                  <dgm:constr type="t" for="ch" forName="parTx"/>
                  <dgm:constr type="l" for="ch" forName="desTx" refType="w" fact="0.2"/>
                  <dgm:constr type="w" for="ch" forName="desTx" refType="w" refFor="ch" refForName="parTx" fact="0.8"/>
                  <dgm:constr type="t" for="ch" forName="desTx" refType="h" refFor="ch" refForName="parTx" fact="1.125"/>
                </dgm:constrLst>
              </dgm:else>
            </dgm:choose>
            <dgm:ruleLst>
              <dgm:rule type="h" val="INF" fact="NaN" max="NaN"/>
            </dgm:ruleLst>
            <dgm:layoutNode name="parTx">
              <dgm:varLst>
                <dgm:chMax val="0"/>
                <dgm:chPref val="0"/>
                <dgm:bulletEnabled val="1"/>
              </dgm:varLst>
              <dgm:alg type="tx"/>
              <dgm:choose name="Name10">
                <dgm:if name="Name11" func="var" arg="dir" op="equ" val="norm">
                  <dgm:shape xmlns:r="http://schemas.openxmlformats.org/officeDocument/2006/relationships" type="chevron" r:blip="">
                    <dgm:adjLst/>
                  </dgm:shape>
                </dgm:if>
                <dgm:else name="Name12">
                  <dgm:shape xmlns:r="http://schemas.openxmlformats.org/officeDocument/2006/relationships" rot="180" type="chevron" r:blip="">
                    <dgm:adjLst/>
                  </dgm:shape>
                </dgm:else>
              </dgm:choose>
              <dgm:presOf axis="self" ptType="node"/>
              <dgm:choose name="Name13">
                <dgm:if name="Name14" func="var" arg="dir" op="equ" val="norm">
                  <dgm:constrLst>
                    <dgm:constr type="h" refType="w" op="lte" fact="0.4"/>
                    <dgm:constr type="h"/>
                    <dgm:constr type="tMarg" refType="primFontSz" fact="0.105"/>
                    <dgm:constr type="bMarg" refType="primFontSz" fact="0.105"/>
                    <dgm:constr type="lMarg" refType="primFontSz" fact="0.315"/>
                    <dgm:constr type="rMarg" refType="primFontSz" fact="0.105"/>
                  </dgm:constrLst>
                </dgm:if>
                <dgm:else name="Name15">
                  <dgm:constrLst>
                    <dgm:constr type="h" refType="w" op="lte" fact="0.4"/>
                    <dgm:constr type="h"/>
                    <dgm:constr type="tMarg" refType="primFontSz" fact="0.105"/>
                    <dgm:constr type="bMarg" refType="primFontSz" fact="0.105"/>
                    <dgm:constr type="lMarg" refType="primFontSz" fact="0.105"/>
                    <dgm:constr type="rMarg" refType="primFontSz" fact="0.315"/>
                  </dgm:constrLst>
                </dgm:else>
              </dgm:choose>
              <dgm:ruleLst>
                <dgm:rule type="h" val="INF" fact="NaN" max="NaN"/>
              </dgm:ruleLst>
            </dgm:layoutNode>
            <dgm:layoutNode name="desTx" styleLbl="revTx">
              <dgm:varLst>
                <dgm:bulletEnabled val="1"/>
              </dgm:varLst>
              <dgm:alg type="tx">
                <dgm:param type="stBulletLvl" val="1"/>
              </dgm:alg>
              <dgm:choose name="Name16">
                <dgm:if name="Name17" axis="ch" ptType="node" func="cnt" op="gte" val="1">
                  <dgm:shape xmlns:r="http://schemas.openxmlformats.org/officeDocument/2006/relationships" type="rect" r:blip="">
                    <dgm:adjLst/>
                  </dgm:shape>
                </dgm:if>
                <dgm:else name="Name18">
                  <dgm:shape xmlns:r="http://schemas.openxmlformats.org/officeDocument/2006/relationships" type="rect" r:blip="" hideGeom="1">
                    <dgm:adjLst/>
                  </dgm:shape>
                </dgm:else>
              </dgm:choose>
              <dgm:presOf axis="des" ptType="node"/>
              <dgm:constrLst>
                <dgm:constr type="secFontSz" val="65"/>
                <dgm:constr type="primFontSz" refType="secFontSz"/>
                <dgm:constr type="h"/>
                <dgm:constr type="tMarg"/>
                <dgm:constr type="bMarg"/>
                <dgm:constr type="rMarg"/>
                <dgm:constr type="lMarg"/>
              </dgm:constrLst>
              <dgm:ruleLst>
                <dgm:rule type="h" val="INF"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if>
      <dgm:else name="Name20">
        <dgm:constrLst>
          <dgm:constr type="w" for="ch" forName="parTxOnly" refType="w"/>
          <dgm:constr type="h" for="des" forName="parTxOnly" op="equ"/>
          <dgm:constr type="primFontSz" for="des" forName="parTxOnly" op="equ" val="65"/>
          <dgm:constr type="w" for="ch" forName="parTxOnlySpace" refType="w" refFor="ch" refForName="parTxOnly" fact="-0.1"/>
        </dgm:constrLst>
        <dgm:ruleLst/>
        <dgm:forEach name="Name21" axis="ch" ptType="node">
          <dgm:layoutNode name="parTxOnly">
            <dgm:varLst>
              <dgm:chMax val="0"/>
              <dgm:chPref val="0"/>
              <dgm:bulletEnabled val="1"/>
            </dgm:varLst>
            <dgm:alg type="tx"/>
            <dgm:choose name="Name22">
              <dgm:if name="Name23" func="var" arg="dir" op="equ" val="norm">
                <dgm:shape xmlns:r="http://schemas.openxmlformats.org/officeDocument/2006/relationships" type="chevron" r:blip="">
                  <dgm:adjLst/>
                </dgm:shape>
              </dgm:if>
              <dgm:else name="Name24">
                <dgm:shape xmlns:r="http://schemas.openxmlformats.org/officeDocument/2006/relationships" rot="180" type="chevron" r:blip="">
                  <dgm:adjLst/>
                </dgm:shape>
              </dgm:else>
            </dgm:choose>
            <dgm:presOf axis="self" ptType="node"/>
            <dgm:choose name="Name25">
              <dgm:if name="Name26" func="var" arg="dir" op="equ" val="norm">
                <dgm:constrLst>
                  <dgm:constr type="h" refType="w" op="equ" fact="0.4"/>
                  <dgm:constr type="tMarg" refType="primFontSz" fact="0.105"/>
                  <dgm:constr type="bMarg" refType="primFontSz" fact="0.105"/>
                  <dgm:constr type="lMarg" refType="primFontSz" fact="0.315"/>
                  <dgm:constr type="rMarg" refType="primFontSz" fact="0.105"/>
                </dgm:constrLst>
              </dgm:if>
              <dgm:else name="Name27">
                <dgm:constrLst>
                  <dgm:constr type="h" refType="w" op="equ" fact="0.4"/>
                  <dgm:constr type="tMarg" refType="primFontSz" fact="0.105"/>
                  <dgm:constr type="bMarg" refType="primFontSz" fact="0.105"/>
                  <dgm:constr type="lMarg" refType="primFontSz" fact="0.105"/>
                  <dgm:constr type="rMarg" refType="primFontSz" fact="0.315"/>
                </dgm:constrLst>
              </dgm:else>
            </dgm:choose>
            <dgm:ruleLst>
              <dgm:rule type="primFontSz" val="5" fact="NaN" max="NaN"/>
            </dgm:ruleLst>
          </dgm:layoutNode>
          <dgm:forEach name="Name28" axis="followSib" ptType="sibTrans" cnt="1">
            <dgm:layoutNode name="parTxOnlySpace">
              <dgm:alg type="sp"/>
              <dgm:shape xmlns:r="http://schemas.openxmlformats.org/officeDocument/2006/relationships" r:blip="">
                <dgm:adjLst/>
              </dgm:shape>
              <dgm:presOf/>
              <dgm:constrLst/>
              <dgm:ruleLst/>
            </dgm:layoutNode>
          </dgm:forEach>
        </dgm:forEach>
      </dgm:else>
    </dgm:choose>
  </dgm:layoutNode>
</dgm:layoutDef>
</file>

<file path=ppt/diagrams/layout5.xml><?xml version="1.0" encoding="utf-8"?>
<dgm:layoutDef xmlns:dgm="http://schemas.openxmlformats.org/drawingml/2006/diagram" xmlns:a="http://schemas.openxmlformats.org/drawingml/2006/main" uniqueId="urn:microsoft.com/office/officeart/2005/8/layout/chevron1">
  <dgm:title val=""/>
  <dgm:desc val=""/>
  <dgm:catLst>
    <dgm:cat type="process" pri="9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des" func="maxDepth" op="gte" val="2">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1.5"/>
          <dgm:constr type="h" for="des" forName="desTx" refType="primFontSz" refFor="des" refForName="parTx" fact="0.5"/>
          <dgm:constr type="w" for="ch" forName="space" op="equ" val="-6"/>
        </dgm:constrLst>
        <dgm:ruleLst>
          <dgm:rule type="w" for="ch" forName="composite" val="0" fact="NaN" max="NaN"/>
          <dgm:rule type="primFontSz" for="des" forName="parTx" val="5" fact="NaN" max="NaN"/>
        </dgm:ruleLst>
        <dgm:forEach name="Name6" axis="ch" ptType="node">
          <dgm:layoutNode name="composite">
            <dgm:alg type="composite"/>
            <dgm:shape xmlns:r="http://schemas.openxmlformats.org/officeDocument/2006/relationships" r:blip="">
              <dgm:adjLst/>
            </dgm:shape>
            <dgm:presOf/>
            <dgm:choose name="Name7">
              <dgm:if name="Name8" func="var" arg="dir" op="equ" val="norm">
                <dgm:constrLst>
                  <dgm:constr type="l" for="ch" forName="parTx"/>
                  <dgm:constr type="w" for="ch" forName="parTx" refType="w"/>
                  <dgm:constr type="t" for="ch" forName="parTx"/>
                  <dgm:constr type="l" for="ch" forName="desTx"/>
                  <dgm:constr type="w" for="ch" forName="desTx" refType="w" refFor="ch" refForName="parTx" fact="0.8"/>
                  <dgm:constr type="t" for="ch" forName="desTx" refType="h" refFor="ch" refForName="parTx" fact="1.125"/>
                </dgm:constrLst>
              </dgm:if>
              <dgm:else name="Name9">
                <dgm:constrLst>
                  <dgm:constr type="l" for="ch" forName="parTx"/>
                  <dgm:constr type="w" for="ch" forName="parTx" refType="w"/>
                  <dgm:constr type="t" for="ch" forName="parTx"/>
                  <dgm:constr type="l" for="ch" forName="desTx" refType="w" fact="0.2"/>
                  <dgm:constr type="w" for="ch" forName="desTx" refType="w" refFor="ch" refForName="parTx" fact="0.8"/>
                  <dgm:constr type="t" for="ch" forName="desTx" refType="h" refFor="ch" refForName="parTx" fact="1.125"/>
                </dgm:constrLst>
              </dgm:else>
            </dgm:choose>
            <dgm:ruleLst>
              <dgm:rule type="h" val="INF" fact="NaN" max="NaN"/>
            </dgm:ruleLst>
            <dgm:layoutNode name="parTx">
              <dgm:varLst>
                <dgm:chMax val="0"/>
                <dgm:chPref val="0"/>
                <dgm:bulletEnabled val="1"/>
              </dgm:varLst>
              <dgm:alg type="tx"/>
              <dgm:choose name="Name10">
                <dgm:if name="Name11" func="var" arg="dir" op="equ" val="norm">
                  <dgm:shape xmlns:r="http://schemas.openxmlformats.org/officeDocument/2006/relationships" type="chevron" r:blip="">
                    <dgm:adjLst/>
                  </dgm:shape>
                </dgm:if>
                <dgm:else name="Name12">
                  <dgm:shape xmlns:r="http://schemas.openxmlformats.org/officeDocument/2006/relationships" rot="180" type="chevron" r:blip="">
                    <dgm:adjLst/>
                  </dgm:shape>
                </dgm:else>
              </dgm:choose>
              <dgm:presOf axis="self" ptType="node"/>
              <dgm:choose name="Name13">
                <dgm:if name="Name14" func="var" arg="dir" op="equ" val="norm">
                  <dgm:constrLst>
                    <dgm:constr type="h" refType="w" op="lte" fact="0.4"/>
                    <dgm:constr type="h"/>
                    <dgm:constr type="tMarg" refType="primFontSz" fact="0.105"/>
                    <dgm:constr type="bMarg" refType="primFontSz" fact="0.105"/>
                    <dgm:constr type="lMarg" refType="primFontSz" fact="0.315"/>
                    <dgm:constr type="rMarg" refType="primFontSz" fact="0.105"/>
                  </dgm:constrLst>
                </dgm:if>
                <dgm:else name="Name15">
                  <dgm:constrLst>
                    <dgm:constr type="h" refType="w" op="lte" fact="0.4"/>
                    <dgm:constr type="h"/>
                    <dgm:constr type="tMarg" refType="primFontSz" fact="0.105"/>
                    <dgm:constr type="bMarg" refType="primFontSz" fact="0.105"/>
                    <dgm:constr type="lMarg" refType="primFontSz" fact="0.105"/>
                    <dgm:constr type="rMarg" refType="primFontSz" fact="0.315"/>
                  </dgm:constrLst>
                </dgm:else>
              </dgm:choose>
              <dgm:ruleLst>
                <dgm:rule type="h" val="INF" fact="NaN" max="NaN"/>
              </dgm:ruleLst>
            </dgm:layoutNode>
            <dgm:layoutNode name="desTx" styleLbl="revTx">
              <dgm:varLst>
                <dgm:bulletEnabled val="1"/>
              </dgm:varLst>
              <dgm:alg type="tx">
                <dgm:param type="stBulletLvl" val="1"/>
              </dgm:alg>
              <dgm:choose name="Name16">
                <dgm:if name="Name17" axis="ch" ptType="node" func="cnt" op="gte" val="1">
                  <dgm:shape xmlns:r="http://schemas.openxmlformats.org/officeDocument/2006/relationships" type="rect" r:blip="">
                    <dgm:adjLst/>
                  </dgm:shape>
                </dgm:if>
                <dgm:else name="Name18">
                  <dgm:shape xmlns:r="http://schemas.openxmlformats.org/officeDocument/2006/relationships" type="rect" r:blip="" hideGeom="1">
                    <dgm:adjLst/>
                  </dgm:shape>
                </dgm:else>
              </dgm:choose>
              <dgm:presOf axis="des" ptType="node"/>
              <dgm:constrLst>
                <dgm:constr type="secFontSz" val="65"/>
                <dgm:constr type="primFontSz" refType="secFontSz"/>
                <dgm:constr type="h"/>
                <dgm:constr type="tMarg"/>
                <dgm:constr type="bMarg"/>
                <dgm:constr type="rMarg"/>
                <dgm:constr type="lMarg"/>
              </dgm:constrLst>
              <dgm:ruleLst>
                <dgm:rule type="h" val="INF"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if>
      <dgm:else name="Name20">
        <dgm:constrLst>
          <dgm:constr type="w" for="ch" forName="parTxOnly" refType="w"/>
          <dgm:constr type="h" for="des" forName="parTxOnly" op="equ"/>
          <dgm:constr type="primFontSz" for="des" forName="parTxOnly" op="equ" val="65"/>
          <dgm:constr type="w" for="ch" forName="parTxOnlySpace" refType="w" refFor="ch" refForName="parTxOnly" fact="-0.1"/>
        </dgm:constrLst>
        <dgm:ruleLst/>
        <dgm:forEach name="Name21" axis="ch" ptType="node">
          <dgm:layoutNode name="parTxOnly">
            <dgm:varLst>
              <dgm:chMax val="0"/>
              <dgm:chPref val="0"/>
              <dgm:bulletEnabled val="1"/>
            </dgm:varLst>
            <dgm:alg type="tx"/>
            <dgm:choose name="Name22">
              <dgm:if name="Name23" func="var" arg="dir" op="equ" val="norm">
                <dgm:shape xmlns:r="http://schemas.openxmlformats.org/officeDocument/2006/relationships" type="chevron" r:blip="">
                  <dgm:adjLst/>
                </dgm:shape>
              </dgm:if>
              <dgm:else name="Name24">
                <dgm:shape xmlns:r="http://schemas.openxmlformats.org/officeDocument/2006/relationships" rot="180" type="chevron" r:blip="">
                  <dgm:adjLst/>
                </dgm:shape>
              </dgm:else>
            </dgm:choose>
            <dgm:presOf axis="self" ptType="node"/>
            <dgm:choose name="Name25">
              <dgm:if name="Name26" func="var" arg="dir" op="equ" val="norm">
                <dgm:constrLst>
                  <dgm:constr type="h" refType="w" op="equ" fact="0.4"/>
                  <dgm:constr type="tMarg" refType="primFontSz" fact="0.105"/>
                  <dgm:constr type="bMarg" refType="primFontSz" fact="0.105"/>
                  <dgm:constr type="lMarg" refType="primFontSz" fact="0.315"/>
                  <dgm:constr type="rMarg" refType="primFontSz" fact="0.105"/>
                </dgm:constrLst>
              </dgm:if>
              <dgm:else name="Name27">
                <dgm:constrLst>
                  <dgm:constr type="h" refType="w" op="equ" fact="0.4"/>
                  <dgm:constr type="tMarg" refType="primFontSz" fact="0.105"/>
                  <dgm:constr type="bMarg" refType="primFontSz" fact="0.105"/>
                  <dgm:constr type="lMarg" refType="primFontSz" fact="0.105"/>
                  <dgm:constr type="rMarg" refType="primFontSz" fact="0.315"/>
                </dgm:constrLst>
              </dgm:else>
            </dgm:choose>
            <dgm:ruleLst>
              <dgm:rule type="primFontSz" val="5" fact="NaN" max="NaN"/>
            </dgm:ruleLst>
          </dgm:layoutNode>
          <dgm:forEach name="Name28" axis="followSib" ptType="sibTrans" cnt="1">
            <dgm:layoutNode name="parTxOnlySpace">
              <dgm:alg type="sp"/>
              <dgm:shape xmlns:r="http://schemas.openxmlformats.org/officeDocument/2006/relationships" r:blip="">
                <dgm:adjLst/>
              </dgm:shape>
              <dgm:presOf/>
              <dgm:constrLst/>
              <dgm:ruleLst/>
            </dgm:layoutNode>
          </dgm:forEach>
        </dgm:forEach>
      </dgm:else>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49575" cy="498475"/>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56038" y="0"/>
            <a:ext cx="2949575" cy="498475"/>
          </a:xfrm>
          <a:prstGeom prst="rect">
            <a:avLst/>
          </a:prstGeom>
        </p:spPr>
        <p:txBody>
          <a:bodyPr vert="horz" lIns="91440" tIns="45720" rIns="91440" bIns="45720" rtlCol="0"/>
          <a:lstStyle>
            <a:lvl1pPr algn="r">
              <a:defRPr sz="1200"/>
            </a:lvl1pPr>
          </a:lstStyle>
          <a:p>
            <a:fld id="{C6E2330A-8D0C-445B-8B20-23313C7DE240}" type="datetimeFigureOut">
              <a:rPr lang="en-US" smtClean="0"/>
              <a:t>10/7/2026</a:t>
            </a:fld>
            <a:endParaRPr lang="en-US"/>
          </a:p>
        </p:txBody>
      </p:sp>
      <p:sp>
        <p:nvSpPr>
          <p:cNvPr id="4" name="Footer Placeholder 3"/>
          <p:cNvSpPr>
            <a:spLocks noGrp="1"/>
          </p:cNvSpPr>
          <p:nvPr>
            <p:ph type="ftr" sz="quarter" idx="2"/>
          </p:nvPr>
        </p:nvSpPr>
        <p:spPr>
          <a:xfrm>
            <a:off x="0" y="9440863"/>
            <a:ext cx="2949575" cy="498475"/>
          </a:xfrm>
          <a:prstGeom prst="rect">
            <a:avLst/>
          </a:prstGeom>
        </p:spPr>
        <p:txBody>
          <a:bodyPr vert="horz" lIns="91440" tIns="45720" rIns="91440" bIns="45720" rtlCol="0" anchor="b"/>
          <a:lstStyle>
            <a:lvl1pPr algn="l">
              <a:defRPr sz="1200"/>
            </a:lvl1pPr>
          </a:lstStyle>
          <a:p>
            <a:r>
              <a:rPr lang="en-US"/>
              <a:t>1</a:t>
            </a:r>
          </a:p>
        </p:txBody>
      </p:sp>
      <p:sp>
        <p:nvSpPr>
          <p:cNvPr id="5" name="Slide Number Placeholder 4"/>
          <p:cNvSpPr>
            <a:spLocks noGrp="1"/>
          </p:cNvSpPr>
          <p:nvPr>
            <p:ph type="sldNum" sz="quarter" idx="3"/>
          </p:nvPr>
        </p:nvSpPr>
        <p:spPr>
          <a:xfrm>
            <a:off x="3856038" y="9440863"/>
            <a:ext cx="2949575" cy="498475"/>
          </a:xfrm>
          <a:prstGeom prst="rect">
            <a:avLst/>
          </a:prstGeom>
        </p:spPr>
        <p:txBody>
          <a:bodyPr vert="horz" lIns="91440" tIns="45720" rIns="91440" bIns="45720" rtlCol="0" anchor="b"/>
          <a:lstStyle>
            <a:lvl1pPr algn="r">
              <a:defRPr sz="1200"/>
            </a:lvl1pPr>
          </a:lstStyle>
          <a:p>
            <a:fld id="{E4EAB48F-E3FC-40BF-BD3F-3260D120AEE0}" type="slidenum">
              <a:rPr lang="en-US" smtClean="0"/>
              <a:t>‹#›</a:t>
            </a:fld>
            <a:endParaRPr lang="en-US"/>
          </a:p>
        </p:txBody>
      </p:sp>
    </p:spTree>
    <p:extLst>
      <p:ext uri="{BB962C8B-B14F-4D97-AF65-F5344CB8AC3E}">
        <p14:creationId xmlns:p14="http://schemas.microsoft.com/office/powerpoint/2010/main" val="1902839657"/>
      </p:ext>
    </p:extLst>
  </p:cSld>
  <p:clrMap bg1="lt1" tx1="dk1" bg2="lt2" tx2="dk2" accent1="accent1" accent2="accent2" accent3="accent3" accent4="accent4" accent5="accent5" accent6="accent6" hlink="hlink" folHlink="folHlink"/>
  <p:hf hd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49575" cy="496888"/>
          </a:xfrm>
          <a:prstGeom prst="rect">
            <a:avLst/>
          </a:prstGeom>
        </p:spPr>
        <p:txBody>
          <a:bodyPr vert="horz" lIns="91440" tIns="45720" rIns="91440" bIns="45720" rtlCol="0"/>
          <a:lstStyle>
            <a:lvl1pPr algn="l" fontAlgn="auto">
              <a:spcBef>
                <a:spcPts val="0"/>
              </a:spcBef>
              <a:spcAft>
                <a:spcPts val="0"/>
              </a:spcAft>
              <a:defRPr kumimoji="0" sz="1200">
                <a:latin typeface="+mn-lt"/>
                <a:ea typeface="+mn-ea"/>
              </a:defRPr>
            </a:lvl1pPr>
          </a:lstStyle>
          <a:p>
            <a:pPr>
              <a:defRPr/>
            </a:pPr>
            <a:endParaRPr lang="ko-KR" altLang="en-US" dirty="0"/>
          </a:p>
        </p:txBody>
      </p:sp>
      <p:sp>
        <p:nvSpPr>
          <p:cNvPr id="3" name="날짜 개체 틀 2"/>
          <p:cNvSpPr>
            <a:spLocks noGrp="1"/>
          </p:cNvSpPr>
          <p:nvPr>
            <p:ph type="dt" idx="1"/>
          </p:nvPr>
        </p:nvSpPr>
        <p:spPr>
          <a:xfrm>
            <a:off x="3856038" y="0"/>
            <a:ext cx="2949575" cy="496888"/>
          </a:xfrm>
          <a:prstGeom prst="rect">
            <a:avLst/>
          </a:prstGeom>
        </p:spPr>
        <p:txBody>
          <a:bodyPr vert="horz" lIns="91440" tIns="45720" rIns="91440" bIns="45720" rtlCol="0"/>
          <a:lstStyle>
            <a:lvl1pPr algn="r" fontAlgn="auto">
              <a:spcBef>
                <a:spcPts val="0"/>
              </a:spcBef>
              <a:spcAft>
                <a:spcPts val="0"/>
              </a:spcAft>
              <a:defRPr kumimoji="0" sz="1200">
                <a:latin typeface="+mn-lt"/>
                <a:ea typeface="+mn-ea"/>
              </a:defRPr>
            </a:lvl1pPr>
          </a:lstStyle>
          <a:p>
            <a:pPr>
              <a:defRPr/>
            </a:pPr>
            <a:fld id="{A5588429-511D-4A72-A1D4-C32335397616}" type="datetimeFigureOut">
              <a:rPr lang="ko-KR" altLang="en-US"/>
              <a:pPr>
                <a:defRPr/>
              </a:pPr>
              <a:t>2026-10-07</a:t>
            </a:fld>
            <a:endParaRPr lang="ko-KR" altLang="en-US" dirty="0"/>
          </a:p>
        </p:txBody>
      </p:sp>
      <p:sp>
        <p:nvSpPr>
          <p:cNvPr id="4" name="슬라이드 이미지 개체 틀 3"/>
          <p:cNvSpPr>
            <a:spLocks noGrp="1" noRot="1" noChangeAspect="1"/>
          </p:cNvSpPr>
          <p:nvPr>
            <p:ph type="sldImg" idx="2"/>
          </p:nvPr>
        </p:nvSpPr>
        <p:spPr>
          <a:xfrm>
            <a:off x="712788" y="746125"/>
            <a:ext cx="5381625" cy="3725863"/>
          </a:xfrm>
          <a:prstGeom prst="rect">
            <a:avLst/>
          </a:prstGeom>
          <a:noFill/>
          <a:ln w="12700">
            <a:solidFill>
              <a:prstClr val="black"/>
            </a:solidFill>
          </a:ln>
        </p:spPr>
        <p:txBody>
          <a:bodyPr vert="horz" lIns="91440" tIns="45720" rIns="91440" bIns="45720" rtlCol="0" anchor="ctr"/>
          <a:lstStyle/>
          <a:p>
            <a:pPr lvl="0"/>
            <a:endParaRPr lang="ko-KR" altLang="en-US" noProof="0" dirty="0"/>
          </a:p>
        </p:txBody>
      </p:sp>
      <p:sp>
        <p:nvSpPr>
          <p:cNvPr id="5" name="슬라이드 노트 개체 틀 4"/>
          <p:cNvSpPr>
            <a:spLocks noGrp="1"/>
          </p:cNvSpPr>
          <p:nvPr>
            <p:ph type="body" sz="quarter" idx="3"/>
          </p:nvPr>
        </p:nvSpPr>
        <p:spPr>
          <a:xfrm>
            <a:off x="681038" y="4721225"/>
            <a:ext cx="5445125" cy="4471988"/>
          </a:xfrm>
          <a:prstGeom prst="rect">
            <a:avLst/>
          </a:prstGeom>
        </p:spPr>
        <p:txBody>
          <a:bodyPr vert="horz" lIns="91440" tIns="45720" rIns="91440" bIns="45720" rtlCol="0">
            <a:normAutofit/>
          </a:bodyPr>
          <a:lstStyle/>
          <a:p>
            <a:pPr lvl="0"/>
            <a:r>
              <a:rPr lang="ko-KR" altLang="en-US" noProof="0"/>
              <a:t>마스터 텍스트 스타일을 편집합니다</a:t>
            </a:r>
          </a:p>
          <a:p>
            <a:pPr lvl="1"/>
            <a:r>
              <a:rPr lang="ko-KR" altLang="en-US" noProof="0"/>
              <a:t>둘째 수준</a:t>
            </a:r>
          </a:p>
          <a:p>
            <a:pPr lvl="2"/>
            <a:r>
              <a:rPr lang="ko-KR" altLang="en-US" noProof="0"/>
              <a:t>셋째 수준</a:t>
            </a:r>
          </a:p>
          <a:p>
            <a:pPr lvl="3"/>
            <a:r>
              <a:rPr lang="ko-KR" altLang="en-US" noProof="0"/>
              <a:t>넷째 수준</a:t>
            </a:r>
          </a:p>
          <a:p>
            <a:pPr lvl="4"/>
            <a:r>
              <a:rPr lang="ko-KR" altLang="en-US" noProof="0"/>
              <a:t>다섯째 수준</a:t>
            </a:r>
          </a:p>
        </p:txBody>
      </p:sp>
      <p:sp>
        <p:nvSpPr>
          <p:cNvPr id="6" name="바닥글 개체 틀 5"/>
          <p:cNvSpPr>
            <a:spLocks noGrp="1"/>
          </p:cNvSpPr>
          <p:nvPr>
            <p:ph type="ftr" sz="quarter" idx="4"/>
          </p:nvPr>
        </p:nvSpPr>
        <p:spPr>
          <a:xfrm>
            <a:off x="0" y="9440863"/>
            <a:ext cx="2949575" cy="496887"/>
          </a:xfrm>
          <a:prstGeom prst="rect">
            <a:avLst/>
          </a:prstGeom>
        </p:spPr>
        <p:txBody>
          <a:bodyPr vert="horz" lIns="91440" tIns="45720" rIns="91440" bIns="45720" rtlCol="0" anchor="b"/>
          <a:lstStyle>
            <a:lvl1pPr algn="l" fontAlgn="auto">
              <a:spcBef>
                <a:spcPts val="0"/>
              </a:spcBef>
              <a:spcAft>
                <a:spcPts val="0"/>
              </a:spcAft>
              <a:defRPr kumimoji="0" sz="1200">
                <a:latin typeface="+mn-lt"/>
                <a:ea typeface="+mn-ea"/>
              </a:defRPr>
            </a:lvl1pPr>
          </a:lstStyle>
          <a:p>
            <a:pPr>
              <a:defRPr/>
            </a:pPr>
            <a:r>
              <a:rPr lang="en-US" altLang="ko-KR"/>
              <a:t>1</a:t>
            </a:r>
            <a:endParaRPr lang="ko-KR" altLang="en-US" dirty="0"/>
          </a:p>
        </p:txBody>
      </p:sp>
      <p:sp>
        <p:nvSpPr>
          <p:cNvPr id="7" name="슬라이드 번호 개체 틀 6"/>
          <p:cNvSpPr>
            <a:spLocks noGrp="1"/>
          </p:cNvSpPr>
          <p:nvPr>
            <p:ph type="sldNum" sz="quarter" idx="5"/>
          </p:nvPr>
        </p:nvSpPr>
        <p:spPr>
          <a:xfrm>
            <a:off x="3856038" y="9440863"/>
            <a:ext cx="2949575" cy="496887"/>
          </a:xfrm>
          <a:prstGeom prst="rect">
            <a:avLst/>
          </a:prstGeom>
        </p:spPr>
        <p:txBody>
          <a:bodyPr vert="horz" lIns="91440" tIns="45720" rIns="91440" bIns="45720" rtlCol="0" anchor="b"/>
          <a:lstStyle>
            <a:lvl1pPr algn="r" fontAlgn="auto">
              <a:spcBef>
                <a:spcPts val="0"/>
              </a:spcBef>
              <a:spcAft>
                <a:spcPts val="0"/>
              </a:spcAft>
              <a:defRPr kumimoji="0" sz="1200">
                <a:latin typeface="+mn-lt"/>
                <a:ea typeface="+mn-ea"/>
              </a:defRPr>
            </a:lvl1pPr>
          </a:lstStyle>
          <a:p>
            <a:pPr>
              <a:defRPr/>
            </a:pPr>
            <a:fld id="{97375BCD-8584-40B1-BC96-764EEABFA733}" type="slidenum">
              <a:rPr lang="ko-KR" altLang="en-US"/>
              <a:pPr>
                <a:defRPr/>
              </a:pPr>
              <a:t>‹#›</a:t>
            </a:fld>
            <a:endParaRPr lang="ko-KR" altLang="en-US" dirty="0"/>
          </a:p>
        </p:txBody>
      </p:sp>
    </p:spTree>
    <p:extLst>
      <p:ext uri="{BB962C8B-B14F-4D97-AF65-F5344CB8AC3E}">
        <p14:creationId xmlns:p14="http://schemas.microsoft.com/office/powerpoint/2010/main" val="1233377560"/>
      </p:ext>
    </p:extLst>
  </p:cSld>
  <p:clrMap bg1="lt1" tx1="dk1" bg2="lt2" tx2="dk2" accent1="accent1" accent2="accent2" accent3="accent3" accent4="accent4" accent5="accent5" accent6="accent6" hlink="hlink" folHlink="folHlink"/>
  <p:hf hdr="0" dt="0"/>
  <p:notesStyle>
    <a:lvl1pPr algn="l" rtl="0" eaLnBrk="0" fontAlgn="base" latinLnBrk="1" hangingPunct="0">
      <a:spcBef>
        <a:spcPct val="30000"/>
      </a:spcBef>
      <a:spcAft>
        <a:spcPct val="0"/>
      </a:spcAft>
      <a:defRPr sz="1200" kern="1200">
        <a:solidFill>
          <a:schemeClr val="tx1"/>
        </a:solidFill>
        <a:latin typeface="+mn-lt"/>
        <a:ea typeface="+mn-ea"/>
        <a:cs typeface="+mn-cs"/>
      </a:defRPr>
    </a:lvl1pPr>
    <a:lvl2pPr marL="457200" algn="l" rtl="0" eaLnBrk="0" fontAlgn="base" latinLnBrk="1" hangingPunct="0">
      <a:spcBef>
        <a:spcPct val="30000"/>
      </a:spcBef>
      <a:spcAft>
        <a:spcPct val="0"/>
      </a:spcAft>
      <a:defRPr sz="1200" kern="1200">
        <a:solidFill>
          <a:schemeClr val="tx1"/>
        </a:solidFill>
        <a:latin typeface="+mn-lt"/>
        <a:ea typeface="+mn-ea"/>
        <a:cs typeface="+mn-cs"/>
      </a:defRPr>
    </a:lvl2pPr>
    <a:lvl3pPr marL="914400" algn="l" rtl="0" eaLnBrk="0" fontAlgn="base" latinLnBrk="1" hangingPunct="0">
      <a:spcBef>
        <a:spcPct val="30000"/>
      </a:spcBef>
      <a:spcAft>
        <a:spcPct val="0"/>
      </a:spcAft>
      <a:defRPr sz="1200" kern="1200">
        <a:solidFill>
          <a:schemeClr val="tx1"/>
        </a:solidFill>
        <a:latin typeface="+mn-lt"/>
        <a:ea typeface="+mn-ea"/>
        <a:cs typeface="+mn-cs"/>
      </a:defRPr>
    </a:lvl3pPr>
    <a:lvl4pPr marL="1371600" algn="l" rtl="0" eaLnBrk="0" fontAlgn="base" latinLnBrk="1" hangingPunct="0">
      <a:spcBef>
        <a:spcPct val="30000"/>
      </a:spcBef>
      <a:spcAft>
        <a:spcPct val="0"/>
      </a:spcAft>
      <a:defRPr sz="1200" kern="1200">
        <a:solidFill>
          <a:schemeClr val="tx1"/>
        </a:solidFill>
        <a:latin typeface="+mn-lt"/>
        <a:ea typeface="+mn-ea"/>
        <a:cs typeface="+mn-cs"/>
      </a:defRPr>
    </a:lvl4pPr>
    <a:lvl5pPr marL="1828800" algn="l" rtl="0" eaLnBrk="0" fontAlgn="base" latinLnBrk="1" hangingPunct="0">
      <a:spcBef>
        <a:spcPct val="30000"/>
      </a:spcBef>
      <a:spcAft>
        <a:spcPct val="0"/>
      </a:spcAft>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슬라이드 이미지 개체 틀 1"/>
          <p:cNvSpPr>
            <a:spLocks noGrp="1" noRot="1" noChangeAspect="1" noTextEdit="1"/>
          </p:cNvSpPr>
          <p:nvPr>
            <p:ph type="sldImg"/>
          </p:nvPr>
        </p:nvSpPr>
        <p:spPr>
          <a:xfrm>
            <a:off x="712788" y="746125"/>
            <a:ext cx="5380037" cy="3725863"/>
          </a:xfrm>
          <a:ln/>
        </p:spPr>
      </p:sp>
      <p:sp>
        <p:nvSpPr>
          <p:cNvPr id="19459" name="슬라이드 노트 개체 틀 2"/>
          <p:cNvSpPr>
            <a:spLocks noGrp="1"/>
          </p:cNvSpPr>
          <p:nvPr>
            <p:ph type="body" idx="1"/>
          </p:nvPr>
        </p:nvSpPr>
        <p:spPr>
          <a:xfrm>
            <a:off x="681038" y="4722813"/>
            <a:ext cx="5445125" cy="4470400"/>
          </a:xfrm>
          <a:noFill/>
          <a:ln/>
        </p:spPr>
        <p:txBody>
          <a:bodyPr lIns="91742" tIns="45871" rIns="91742" bIns="45871"/>
          <a:lstStyle/>
          <a:p>
            <a:endParaRPr lang="ko-KR" altLang="en-US" dirty="0"/>
          </a:p>
        </p:txBody>
      </p:sp>
      <p:sp>
        <p:nvSpPr>
          <p:cNvPr id="19460" name="슬라이드 번호 개체 틀 3"/>
          <p:cNvSpPr txBox="1">
            <a:spLocks noGrp="1"/>
          </p:cNvSpPr>
          <p:nvPr/>
        </p:nvSpPr>
        <p:spPr bwMode="auto">
          <a:xfrm>
            <a:off x="3856038" y="9440863"/>
            <a:ext cx="2949575" cy="496887"/>
          </a:xfrm>
          <a:prstGeom prst="rect">
            <a:avLst/>
          </a:prstGeom>
          <a:noFill/>
          <a:ln w="9525">
            <a:noFill/>
            <a:miter lim="800000"/>
            <a:headEnd/>
            <a:tailEnd/>
          </a:ln>
        </p:spPr>
        <p:txBody>
          <a:bodyPr lIns="91742" tIns="45871" rIns="91742" bIns="45871" anchor="b"/>
          <a:lstStyle/>
          <a:p>
            <a:pPr algn="r" defTabSz="917575"/>
            <a:fld id="{507ACCBB-C431-42CE-B77B-8DA086166DDE}" type="slidenum">
              <a:rPr lang="ko-KR" altLang="en-US">
                <a:latin typeface="굴림" pitchFamily="50" charset="-127"/>
              </a:rPr>
              <a:pPr algn="r" defTabSz="917575"/>
              <a:t>1</a:t>
            </a:fld>
            <a:endParaRPr lang="en-US" altLang="ko-KR" dirty="0">
              <a:latin typeface="굴림" pitchFamily="50" charset="-127"/>
            </a:endParaRPr>
          </a:p>
        </p:txBody>
      </p:sp>
    </p:spTree>
    <p:extLst>
      <p:ext uri="{BB962C8B-B14F-4D97-AF65-F5344CB8AC3E}">
        <p14:creationId xmlns:p14="http://schemas.microsoft.com/office/powerpoint/2010/main" val="97871392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슬라이드 이미지 개체 틀 1"/>
          <p:cNvSpPr>
            <a:spLocks noGrp="1" noRot="1" noChangeAspect="1" noTextEdit="1"/>
          </p:cNvSpPr>
          <p:nvPr>
            <p:ph type="sldImg"/>
          </p:nvPr>
        </p:nvSpPr>
        <p:spPr bwMode="auto">
          <a:xfrm>
            <a:off x="3124200" y="511175"/>
            <a:ext cx="3686175" cy="2551113"/>
          </a:xfrm>
          <a:noFill/>
          <a:ln>
            <a:solidFill>
              <a:srgbClr val="000000"/>
            </a:solidFill>
            <a:miter lim="800000"/>
            <a:headEnd/>
            <a:tailEnd/>
          </a:ln>
        </p:spPr>
      </p:sp>
      <p:sp>
        <p:nvSpPr>
          <p:cNvPr id="28675" name="슬라이드 노트 개체 틀 2"/>
          <p:cNvSpPr>
            <a:spLocks noGrp="1"/>
          </p:cNvSpPr>
          <p:nvPr>
            <p:ph type="body" idx="1"/>
          </p:nvPr>
        </p:nvSpPr>
        <p:spPr bwMode="auto">
          <a:xfrm>
            <a:off x="993775" y="3235325"/>
            <a:ext cx="7951788" cy="3060700"/>
          </a:xfrm>
          <a:noFill/>
        </p:spPr>
        <p:txBody>
          <a:bodyPr wrap="square" lIns="90471" tIns="45234" rIns="90471" bIns="45234" numCol="1" anchor="t" anchorCtr="0" compatLnSpc="1">
            <a:prstTxWarp prst="textNoShape">
              <a:avLst/>
            </a:prstTxWarp>
          </a:bodyPr>
          <a:lstStyle/>
          <a:p>
            <a:pPr eaLnBrk="1" hangingPunct="1">
              <a:spcBef>
                <a:spcPct val="0"/>
              </a:spcBef>
            </a:pPr>
            <a:r>
              <a:rPr lang="vi-VN" sz="1200" b="0" i="0" kern="1200" dirty="0">
                <a:solidFill>
                  <a:schemeClr val="tx1"/>
                </a:solidFill>
                <a:effectLst/>
                <a:latin typeface="+mn-lt"/>
                <a:ea typeface="+mn-ea"/>
                <a:cs typeface="+mn-cs"/>
              </a:rPr>
              <a:t>Đây là tóm tắt dự án: mục tiêu giảm lỗi Luminance của J1 Dual từ 226.624 ppm xuống 0 ppm, Project Y là Luminance value với spec 800–2000</a:t>
            </a:r>
            <a:endParaRPr lang="ko-KR" altLang="en-US" dirty="0"/>
          </a:p>
        </p:txBody>
      </p:sp>
      <p:sp>
        <p:nvSpPr>
          <p:cNvPr id="28676" name="슬라이드 번호 개체 틀 3"/>
          <p:cNvSpPr txBox="1">
            <a:spLocks noGrp="1"/>
          </p:cNvSpPr>
          <p:nvPr/>
        </p:nvSpPr>
        <p:spPr bwMode="auto">
          <a:xfrm>
            <a:off x="5634038" y="6465888"/>
            <a:ext cx="4303712" cy="339725"/>
          </a:xfrm>
          <a:prstGeom prst="rect">
            <a:avLst/>
          </a:prstGeom>
          <a:noFill/>
          <a:ln w="9525">
            <a:noFill/>
            <a:miter lim="800000"/>
            <a:headEnd/>
            <a:tailEnd/>
          </a:ln>
        </p:spPr>
        <p:txBody>
          <a:bodyPr lIns="90471" tIns="45234" rIns="90471" bIns="45234" anchor="b"/>
          <a:lstStyle/>
          <a:p>
            <a:pPr algn="r" defTabSz="903288" eaLnBrk="0" latinLnBrk="0" hangingPunct="0"/>
            <a:fld id="{39B64D8B-A44D-4D7E-93C9-3A4A87537696}" type="slidenum">
              <a:rPr kumimoji="0" lang="ko-KR" altLang="en-US" sz="1200" b="1" smtClean="0">
                <a:solidFill>
                  <a:srgbClr val="000000"/>
                </a:solidFill>
                <a:latin typeface="Arial" panose="020B0604020202020204" pitchFamily="34" charset="0"/>
                <a:ea typeface="돋움" panose="020B0600000101010101" pitchFamily="50" charset="-127"/>
              </a:rPr>
              <a:pPr algn="r" defTabSz="903288" eaLnBrk="0" latinLnBrk="0" hangingPunct="0"/>
              <a:t>2</a:t>
            </a:fld>
            <a:endParaRPr kumimoji="0" lang="en-US" altLang="ko-KR" sz="1200" b="1">
              <a:solidFill>
                <a:srgbClr val="000000"/>
              </a:solidFill>
              <a:latin typeface="Arial" panose="020B0604020202020204" pitchFamily="34" charset="0"/>
              <a:ea typeface="돋움" panose="020B0600000101010101" pitchFamily="50" charset="-127"/>
            </a:endParaRPr>
          </a:p>
        </p:txBody>
      </p:sp>
    </p:spTree>
    <p:extLst>
      <p:ext uri="{BB962C8B-B14F-4D97-AF65-F5344CB8AC3E}">
        <p14:creationId xmlns:p14="http://schemas.microsoft.com/office/powerpoint/2010/main" val="343146530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r>
              <a:rPr lang="vi-VN" sz="1200" b="0" i="0" kern="1200" dirty="0">
                <a:solidFill>
                  <a:schemeClr val="tx1"/>
                </a:solidFill>
                <a:effectLst/>
                <a:latin typeface="+mn-lt"/>
                <a:ea typeface="+mn-ea"/>
                <a:cs typeface="+mn-cs"/>
              </a:rPr>
              <a:t>Project name: Improve Luminance value.</a:t>
            </a:r>
          </a:p>
          <a:p>
            <a:r>
              <a:rPr lang="vi-VN" sz="1200" b="0" i="0" kern="1200" dirty="0">
                <a:solidFill>
                  <a:schemeClr val="tx1"/>
                </a:solidFill>
                <a:effectLst/>
                <a:latin typeface="+mn-lt"/>
                <a:ea typeface="+mn-ea"/>
                <a:cs typeface="+mn-cs"/>
              </a:rPr>
              <a:t>Purpose (mục tiêu): giảm tỷ lệ NG Luminance của Porsche CID J1 Dual từ 226.624 ppm xuống 0 ppm (stretch goal) bằng cách làm cho phép đo Luminance đáng tin cậy; Luminance nằm trong spec 800–2000 Cd/m² với Cpk ≥ 1,33.</a:t>
            </a:r>
          </a:p>
          <a:p>
            <a:r>
              <a:rPr lang="vi-VN" sz="1200" b="0" i="0" kern="1200" dirty="0">
                <a:solidFill>
                  <a:schemeClr val="tx1"/>
                </a:solidFill>
                <a:effectLst/>
                <a:latin typeface="+mn-lt"/>
                <a:ea typeface="+mn-ea"/>
                <a:cs typeface="+mn-cs"/>
              </a:rPr>
              <a:t>Outline (tác động kinh doanh): nếu vấn đề đo Luminance còn xảy ra, set bị giữ lại và retest ở trạm Luminance nên mất thời gian, không đạt UPH; chậm kiểm tra còn làm dở dang sản xuất trên line IVI5; LCD NG được gửi lại HEESUNG để retest và scrap nên tăng chi phí (1 LCD = 118,72 USD; tháng 3 scrap 19 LCD = 2.255,68 USD). Vì vậy chọn đề tài này làm bài GB.</a:t>
            </a:r>
          </a:p>
          <a:p>
            <a:r>
              <a:rPr lang="vi-VN" sz="1200" b="0" i="0" kern="1200" dirty="0">
                <a:solidFill>
                  <a:schemeClr val="tx1"/>
                </a:solidFill>
                <a:effectLst/>
                <a:latin typeface="+mn-lt"/>
                <a:ea typeface="+mn-ea"/>
                <a:cs typeface="+mn-cs"/>
              </a:rPr>
              <a:t>Problem statement: từ Nov.2025 đến Mar.2026, 143/631 bộ J1 Dual NG Luminance (226.624 ppm = 22,7%), chiếm 87,2% lỗi của Porsche CID (164/631 = 260.000 ppm). Luminance đo ở màn PID thấp hơn trung bình các lần đo khác nên nhiều bộ rơi dưới LSL 800.</a:t>
            </a:r>
          </a:p>
          <a:p>
            <a:r>
              <a:rPr lang="vi-VN" sz="1200" b="0" i="0" kern="1200" dirty="0">
                <a:solidFill>
                  <a:schemeClr val="tx1"/>
                </a:solidFill>
                <a:effectLst/>
                <a:latin typeface="+mn-lt"/>
                <a:ea typeface="+mn-ea"/>
                <a:cs typeface="+mn-cs"/>
              </a:rPr>
              <a:t>Scope: trong phạm vi là Porsche CID J1 Dual, trạm Luminance 1 và 2 (camera CS2000), line IVI 5, LGEVH. Ngoài phạm vi là các lỗi khác ở slide 4 (Contrast, Haptic/Touch, Hardware 6,0%, Software 3,5%) do HW team và HQ R&amp;D xử lý.</a:t>
            </a:r>
          </a:p>
          <a:p>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err="1">
                <a:solidFill>
                  <a:schemeClr val="tx1"/>
                </a:solidFill>
                <a:effectLst/>
                <a:latin typeface="+mn-lt"/>
                <a:ea typeface="+mn-ea"/>
                <a:cs typeface="+mn-cs"/>
              </a:rPr>
              <a:t>Vấn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đề</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là</a:t>
            </a:r>
            <a:r>
              <a:rPr lang="en-US" sz="1200" b="0" i="0" kern="1200" dirty="0">
                <a:solidFill>
                  <a:schemeClr val="tx1"/>
                </a:solidFill>
                <a:effectLst/>
                <a:latin typeface="+mn-lt"/>
                <a:ea typeface="+mn-ea"/>
                <a:cs typeface="+mn-cs"/>
              </a:rPr>
              <a:t> 22,7% </a:t>
            </a:r>
            <a:r>
              <a:rPr lang="en-US" sz="1200" b="0" i="0" kern="1200" dirty="0" err="1">
                <a:solidFill>
                  <a:schemeClr val="tx1"/>
                </a:solidFill>
                <a:effectLst/>
                <a:latin typeface="+mn-lt"/>
                <a:ea typeface="+mn-ea"/>
                <a:cs typeface="+mn-cs"/>
              </a:rPr>
              <a:t>bộ</a:t>
            </a:r>
            <a:r>
              <a:rPr lang="en-US" sz="1200" b="0" i="0" kern="1200" dirty="0">
                <a:solidFill>
                  <a:schemeClr val="tx1"/>
                </a:solidFill>
                <a:effectLst/>
                <a:latin typeface="+mn-lt"/>
                <a:ea typeface="+mn-ea"/>
                <a:cs typeface="+mn-cs"/>
              </a:rPr>
              <a:t> J1 Dual </a:t>
            </a:r>
            <a:r>
              <a:rPr lang="en-US" sz="1200" b="0" i="0" kern="1200" dirty="0" err="1">
                <a:solidFill>
                  <a:schemeClr val="tx1"/>
                </a:solidFill>
                <a:effectLst/>
                <a:latin typeface="+mn-lt"/>
                <a:ea typeface="+mn-ea"/>
                <a:cs typeface="+mn-cs"/>
              </a:rPr>
              <a:t>bị</a:t>
            </a:r>
            <a:r>
              <a:rPr lang="en-US" sz="1200" b="0" i="0" kern="1200" dirty="0">
                <a:solidFill>
                  <a:schemeClr val="tx1"/>
                </a:solidFill>
                <a:effectLst/>
                <a:latin typeface="+mn-lt"/>
                <a:ea typeface="+mn-ea"/>
                <a:cs typeface="+mn-cs"/>
              </a:rPr>
              <a:t> NG Luminance, </a:t>
            </a:r>
            <a:r>
              <a:rPr lang="en-US" sz="1200" b="0" i="0" kern="1200" dirty="0" err="1">
                <a:solidFill>
                  <a:schemeClr val="tx1"/>
                </a:solidFill>
                <a:effectLst/>
                <a:latin typeface="+mn-lt"/>
                <a:ea typeface="+mn-ea"/>
                <a:cs typeface="+mn-cs"/>
              </a:rPr>
              <a:t>gây</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mất</a:t>
            </a:r>
            <a:r>
              <a:rPr lang="en-US" sz="1200" b="0" i="0" kern="1200" dirty="0">
                <a:solidFill>
                  <a:schemeClr val="tx1"/>
                </a:solidFill>
                <a:effectLst/>
                <a:latin typeface="+mn-lt"/>
                <a:ea typeface="+mn-ea"/>
                <a:cs typeface="+mn-cs"/>
              </a:rPr>
              <a:t> UPH </a:t>
            </a:r>
            <a:r>
              <a:rPr lang="en-US" sz="1200" b="0" i="0" kern="1200" dirty="0" err="1">
                <a:solidFill>
                  <a:schemeClr val="tx1"/>
                </a:solidFill>
                <a:effectLst/>
                <a:latin typeface="+mn-lt"/>
                <a:ea typeface="+mn-ea"/>
                <a:cs typeface="+mn-cs"/>
              </a:rPr>
              <a:t>và</a:t>
            </a:r>
            <a:r>
              <a:rPr lang="en-US" sz="1200" b="0" i="0" kern="1200" dirty="0">
                <a:solidFill>
                  <a:schemeClr val="tx1"/>
                </a:solidFill>
                <a:effectLst/>
                <a:latin typeface="+mn-lt"/>
                <a:ea typeface="+mn-ea"/>
                <a:cs typeface="+mn-cs"/>
              </a:rPr>
              <a:t> scrap. </a:t>
            </a:r>
            <a:r>
              <a:rPr lang="en-US" sz="1200" b="0" i="0" kern="1200" dirty="0" err="1">
                <a:solidFill>
                  <a:schemeClr val="tx1"/>
                </a:solidFill>
                <a:effectLst/>
                <a:latin typeface="+mn-lt"/>
                <a:ea typeface="+mn-ea"/>
                <a:cs typeface="+mn-cs"/>
              </a:rPr>
              <a:t>Bài</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này</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chỉ</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tập</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trung</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vào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lỗi</a:t>
            </a:r>
            <a:r>
              <a:rPr lang="en-US" sz="1200" b="0" i="0" kern="1200" dirty="0">
                <a:solidFill>
                  <a:schemeClr val="tx1"/>
                </a:solidFill>
                <a:effectLst/>
                <a:latin typeface="+mn-lt"/>
                <a:ea typeface="+mn-ea"/>
                <a:cs typeface="+mn-cs"/>
              </a:rPr>
              <a:t> Luminance </a:t>
            </a:r>
            <a:r>
              <a:rPr lang="en-US" sz="1200" b="0" i="0" kern="1200" dirty="0" err="1">
                <a:solidFill>
                  <a:schemeClr val="tx1"/>
                </a:solidFill>
                <a:effectLst/>
                <a:latin typeface="+mn-lt"/>
                <a:ea typeface="+mn-ea"/>
                <a:cs typeface="+mn-cs"/>
              </a:rPr>
              <a:t>của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trạm</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đo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lỗi</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phần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cứng</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và</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phần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mềm</a:t>
            </a:r>
            <a:r>
              <a:rPr lang="en-US" sz="1200" b="0" i="0" kern="1200" dirty="0">
                <a:solidFill>
                  <a:schemeClr val="tx1"/>
                </a:solidFill>
                <a:effectLst/>
                <a:latin typeface="+mn-lt"/>
                <a:ea typeface="+mn-ea"/>
                <a:cs typeface="+mn-cs"/>
              </a:rPr>
              <a:t> do </a:t>
            </a:r>
            <a:r>
              <a:rPr lang="en-US" sz="1200" b="0" i="0" kern="1200" dirty="0" err="1">
                <a:solidFill>
                  <a:schemeClr val="tx1"/>
                </a:solidFill>
                <a:effectLst/>
                <a:latin typeface="+mn-lt"/>
                <a:ea typeface="+mn-ea"/>
                <a:cs typeface="+mn-cs"/>
              </a:rPr>
              <a:t>bộ</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phận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khác</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xử</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lý</a:t>
            </a:r>
            <a:r>
              <a:rPr lang="en-US" sz="1200" b="0" i="0" kern="1200" dirty="0">
                <a:solidFill>
                  <a:schemeClr val="tx1"/>
                </a:solidFill>
                <a:effectLst/>
                <a:latin typeface="+mn-lt"/>
                <a:ea typeface="+mn-ea"/>
                <a:cs typeface="+mn-cs"/>
              </a:rPr>
              <a:t>.</a:t>
            </a:r>
            <a:endParaRPr lang="en-US" dirty="0"/>
          </a:p>
        </p:txBody>
      </p:sp>
    </p:spTree>
    <p:extLst>
      <p:ext uri="{BB962C8B-B14F-4D97-AF65-F5344CB8AC3E}">
        <p14:creationId xmlns:p14="http://schemas.microsoft.com/office/powerpoint/2010/main" val="369008358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vi-VN" sz="1200" b="0" i="0" kern="1200" dirty="0">
                <a:solidFill>
                  <a:schemeClr val="tx1"/>
                </a:solidFill>
                <a:effectLst/>
                <a:latin typeface="+mn-lt"/>
                <a:ea typeface="+mn-ea"/>
                <a:cs typeface="+mn-cs"/>
              </a:rPr>
              <a:t>Trong 260.000 ppm lỗi, nhóm Machine chiếm 90,5% và riêng Luminance value chiếm 87,2%</a:t>
            </a:r>
            <a:r>
              <a:rPr lang="en-US" sz="1200" b="0" i="0" kern="1200" dirty="0">
                <a:solidFill>
                  <a:schemeClr val="tx1"/>
                </a:solidFill>
                <a:effectLst/>
                <a:latin typeface="+mn-lt"/>
                <a:ea typeface="+mn-ea"/>
                <a:cs typeface="+mn-cs"/>
              </a:rPr>
              <a:t>, </a:t>
            </a:r>
            <a:r>
              <a:rPr lang="vi-VN" sz="1200" b="0" i="0" kern="1200" dirty="0">
                <a:solidFill>
                  <a:schemeClr val="tx1"/>
                </a:solidFill>
                <a:effectLst/>
                <a:latin typeface="+mn-lt"/>
                <a:ea typeface="+mn-ea"/>
                <a:cs typeface="+mn-cs"/>
              </a:rPr>
              <a:t>chọn Luminance value làm Project Y vì lớn nhất và đo được. Nếu xử lý hết lỗi này thì tổng lỗi giảm còn 33.376 ppm.</a:t>
            </a:r>
            <a:endParaRPr lang="en-US" dirty="0"/>
          </a:p>
        </p:txBody>
      </p:sp>
    </p:spTree>
    <p:extLst>
      <p:ext uri="{BB962C8B-B14F-4D97-AF65-F5344CB8AC3E}">
        <p14:creationId xmlns:p14="http://schemas.microsoft.com/office/powerpoint/2010/main" val="118190927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77500" lnSpcReduction="20000"/>
          </a:bodyPr>
          <a:lstStyle/>
          <a:p>
            <a:pPr marL="0" marR="0" lvl="0" indent="0" algn="l" defTabSz="914400" rtl="0" eaLnBrk="0" fontAlgn="base" latinLnBrk="1" hangingPunct="0">
              <a:lnSpc>
                <a:spcPct val="100000"/>
              </a:lnSpc>
              <a:spcBef>
                <a:spcPct val="30000"/>
              </a:spcBef>
              <a:spcAft>
                <a:spcPct val="0"/>
              </a:spcAft>
              <a:buClrTx/>
              <a:buSzTx/>
              <a:buFontTx/>
              <a:buNone/>
              <a:tabLst/>
              <a:defRPr/>
            </a:pPr>
            <a:r>
              <a:rPr lang="vi-VN" sz="1200" b="0" i="0" kern="1200" dirty="0">
                <a:solidFill>
                  <a:schemeClr val="tx1"/>
                </a:solidFill>
                <a:effectLst/>
                <a:latin typeface="+mn-lt"/>
                <a:ea typeface="+mn-ea"/>
                <a:cs typeface="+mn-cs"/>
              </a:rPr>
              <a:t>bộ J1 Dual PPR RHD set gồm PID và CID; camera CS2000 nằm dưới PID, mũi tên đỏ hướng vào tâm màn PID; mũi tên hai đầu cho thấy camera di chuyển ngang giữa hai màn.</a:t>
            </a:r>
            <a:endParaRPr lang="en-US" sz="1200" b="0" i="0" kern="1200" dirty="0">
              <a:solidFill>
                <a:schemeClr val="tx1"/>
              </a:solidFill>
              <a:effectLst/>
              <a:latin typeface="+mn-lt"/>
              <a:ea typeface="+mn-ea"/>
              <a:cs typeface="+mn-cs"/>
            </a:endParaRPr>
          </a:p>
          <a:p>
            <a:pPr marL="0" marR="0" lvl="0" indent="0" algn="l" defTabSz="914400" rtl="0" eaLnBrk="0" fontAlgn="base" latinLnBrk="1" hangingPunct="0">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mn-ea"/>
              <a:cs typeface="+mn-cs"/>
            </a:endParaRPr>
          </a:p>
          <a:p>
            <a:pPr marL="0" marR="0" lvl="0" indent="0" algn="l" defTabSz="914400" rtl="0" eaLnBrk="0" fontAlgn="base" latinLnBrk="1" hangingPunct="0">
              <a:lnSpc>
                <a:spcPct val="100000"/>
              </a:lnSpc>
              <a:spcBef>
                <a:spcPct val="30000"/>
              </a:spcBef>
              <a:spcAft>
                <a:spcPct val="0"/>
              </a:spcAft>
              <a:buClrTx/>
              <a:buSzTx/>
              <a:buFontTx/>
              <a:buNone/>
              <a:tabLst/>
              <a:defRPr/>
            </a:pPr>
            <a:r>
              <a:rPr lang="vi-VN" sz="1200" b="0" i="0" kern="1200" dirty="0">
                <a:solidFill>
                  <a:schemeClr val="tx1"/>
                </a:solidFill>
                <a:effectLst/>
                <a:latin typeface="+mn-lt"/>
                <a:ea typeface="+mn-ea"/>
                <a:cs typeface="+mn-cs"/>
              </a:rPr>
              <a:t>Issue (vấn đề): luminance đo ở màn PID thấp hơn trung bình các giá trị so sánh, nên kết quả test rơi dưới spec.</a:t>
            </a:r>
          </a:p>
          <a:p>
            <a:endParaRPr lang="en-US" sz="1200" b="0" i="0" kern="1200" dirty="0">
              <a:solidFill>
                <a:schemeClr val="tx1"/>
              </a:solidFill>
              <a:effectLst/>
              <a:latin typeface="+mn-lt"/>
              <a:ea typeface="+mn-ea"/>
              <a:cs typeface="+mn-cs"/>
            </a:endParaRPr>
          </a:p>
          <a:p>
            <a:r>
              <a:rPr lang="vi-VN" sz="1200" b="0" i="0" kern="1200" dirty="0">
                <a:solidFill>
                  <a:schemeClr val="tx1"/>
                </a:solidFill>
                <a:effectLst/>
                <a:latin typeface="+mn-lt"/>
                <a:ea typeface="+mn-ea"/>
                <a:cs typeface="+mn-cs"/>
              </a:rPr>
              <a:t>Luminance là độ sáng màn hình, đo bằng cd/m², spec 800 đến 2000. Camera CS2000 đo ở tâm màn PID. Project Y của tôi là chính giá trị luminance đo được.</a:t>
            </a: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vi-VN" sz="1200" b="1" i="0" kern="1200" dirty="0">
                <a:solidFill>
                  <a:schemeClr val="tx1"/>
                </a:solidFill>
                <a:effectLst/>
                <a:latin typeface="+mn-lt"/>
                <a:ea typeface="+mn-ea"/>
                <a:cs typeface="+mn-cs"/>
              </a:rPr>
              <a:t>Cột trái – What is Luminance?</a:t>
            </a:r>
            <a:endParaRPr lang="vi-VN" sz="1200" b="0" i="0" kern="1200" dirty="0">
              <a:solidFill>
                <a:schemeClr val="tx1"/>
              </a:solidFill>
              <a:effectLst/>
              <a:latin typeface="+mn-lt"/>
              <a:ea typeface="+mn-ea"/>
              <a:cs typeface="+mn-cs"/>
            </a:endParaRPr>
          </a:p>
          <a:p>
            <a:r>
              <a:rPr lang="vi-VN" sz="1200" b="0" i="0" kern="1200" dirty="0">
                <a:solidFill>
                  <a:schemeClr val="tx1"/>
                </a:solidFill>
                <a:effectLst/>
                <a:latin typeface="+mn-lt"/>
                <a:ea typeface="+mn-ea"/>
                <a:cs typeface="+mn-cs"/>
              </a:rPr>
              <a:t>Luminance (độ chói) là đại lượng quang học dùng cho nguồn sáng và màn hình như LCD: cường độ sáng phát ra trên một đơn vị diện tích bề mặt theo một hướng nhìn. Đơn vị cd/m² (còn gọi nit). Nó cho biết mức sáng của màn hình.</a:t>
            </a:r>
          </a:p>
          <a:p>
            <a:r>
              <a:rPr lang="vi-VN" sz="1200" b="0" i="0" kern="1200" dirty="0">
                <a:solidFill>
                  <a:schemeClr val="tx1"/>
                </a:solidFill>
                <a:effectLst/>
                <a:latin typeface="+mn-lt"/>
                <a:ea typeface="+mn-ea"/>
                <a:cs typeface="+mn-cs"/>
              </a:rPr>
              <a:t>Hình minh họa: bộ J1 Dual PPR RHD set gồm PID và CID; camera CS2000 nằm dưới PID, mũi tên đỏ hướng vào tâm màn PID; mũi tên hai đầu cho thấy camera di chuyển ngang giữa hai màn.</a:t>
            </a:r>
          </a:p>
          <a:p>
            <a:r>
              <a:rPr lang="vi-VN" sz="1200" b="0" i="0" kern="1200" dirty="0">
                <a:solidFill>
                  <a:schemeClr val="tx1"/>
                </a:solidFill>
                <a:effectLst/>
                <a:latin typeface="+mn-lt"/>
                <a:ea typeface="+mn-ea"/>
                <a:cs typeface="+mn-cs"/>
              </a:rPr>
              <a:t>Cảm biến trong detector nhận ánh sáng ở tâm LCD, tính giá trị luminance rồi trả kết quả cho chương trình.</a:t>
            </a:r>
          </a:p>
          <a:p>
            <a:r>
              <a:rPr lang="vi-VN" sz="1200" b="0" i="0" kern="1200" dirty="0">
                <a:solidFill>
                  <a:schemeClr val="tx1"/>
                </a:solidFill>
                <a:effectLst/>
                <a:latin typeface="+mn-lt"/>
                <a:ea typeface="+mn-ea"/>
                <a:cs typeface="+mn-cs"/>
              </a:rPr>
              <a:t>Issue (vấn đề): luminance đo ở màn PID thấp hơn trung bình các giá trị so sánh, nên kết quả test rơi dưới spec.</a:t>
            </a:r>
          </a:p>
          <a:p>
            <a:r>
              <a:rPr lang="vi-VN" sz="1200" b="1" i="0" kern="1200" dirty="0">
                <a:solidFill>
                  <a:schemeClr val="tx1"/>
                </a:solidFill>
                <a:effectLst/>
                <a:latin typeface="+mn-lt"/>
                <a:ea typeface="+mn-ea"/>
                <a:cs typeface="+mn-cs"/>
              </a:rPr>
              <a:t>Cột phải – Project Y</a:t>
            </a:r>
            <a:endParaRPr lang="vi-VN" sz="1200" b="0" i="0" kern="1200" dirty="0">
              <a:solidFill>
                <a:schemeClr val="tx1"/>
              </a:solidFill>
              <a:effectLst/>
              <a:latin typeface="+mn-lt"/>
              <a:ea typeface="+mn-ea"/>
              <a:cs typeface="+mn-cs"/>
            </a:endParaRPr>
          </a:p>
          <a:p>
            <a:r>
              <a:rPr lang="vi-VN" sz="1200" b="0" i="0" kern="1200" dirty="0">
                <a:solidFill>
                  <a:schemeClr val="tx1"/>
                </a:solidFill>
                <a:effectLst/>
                <a:latin typeface="+mn-lt"/>
                <a:ea typeface="+mn-ea"/>
                <a:cs typeface="+mn-cs"/>
              </a:rPr>
              <a:t>Project Y: Luminance value của model Porsche CID J1 Dual. Spec 800–2000 cd/m².</a:t>
            </a:r>
          </a:p>
          <a:p>
            <a:r>
              <a:rPr lang="vi-VN" sz="1200" b="0" i="0" kern="1200" dirty="0">
                <a:solidFill>
                  <a:schemeClr val="tx1"/>
                </a:solidFill>
                <a:effectLst/>
                <a:latin typeface="+mn-lt"/>
                <a:ea typeface="+mn-ea"/>
                <a:cs typeface="+mn-cs"/>
              </a:rPr>
              <a:t>Công thức L = d²</a:t>
            </a:r>
            <a:r>
              <a:rPr lang="el-GR" sz="1200" b="0" i="0" kern="1200" dirty="0">
                <a:solidFill>
                  <a:schemeClr val="tx1"/>
                </a:solidFill>
                <a:effectLst/>
                <a:latin typeface="+mn-lt"/>
                <a:ea typeface="+mn-ea"/>
                <a:cs typeface="+mn-cs"/>
              </a:rPr>
              <a:t>Φ / (</a:t>
            </a:r>
            <a:r>
              <a:rPr lang="vi-VN" sz="1200" b="0" i="0" kern="1200" dirty="0">
                <a:solidFill>
                  <a:schemeClr val="tx1"/>
                </a:solidFill>
                <a:effectLst/>
                <a:latin typeface="+mn-lt"/>
                <a:ea typeface="+mn-ea"/>
                <a:cs typeface="+mn-cs"/>
              </a:rPr>
              <a:t>dA · d</a:t>
            </a:r>
            <a:r>
              <a:rPr lang="el-GR" sz="1200" b="0" i="0" kern="1200" dirty="0">
                <a:solidFill>
                  <a:schemeClr val="tx1"/>
                </a:solidFill>
                <a:effectLst/>
                <a:latin typeface="+mn-lt"/>
                <a:ea typeface="+mn-ea"/>
                <a:cs typeface="+mn-cs"/>
              </a:rPr>
              <a:t>ω · </a:t>
            </a:r>
            <a:r>
              <a:rPr lang="vi-VN" sz="1200" b="0" i="0" kern="1200" dirty="0">
                <a:solidFill>
                  <a:schemeClr val="tx1"/>
                </a:solidFill>
                <a:effectLst/>
                <a:latin typeface="+mn-lt"/>
                <a:ea typeface="+mn-ea"/>
                <a:cs typeface="+mn-cs"/>
              </a:rPr>
              <a:t>cos </a:t>
            </a:r>
            <a:r>
              <a:rPr lang="el-GR" sz="1200" b="0" i="0" kern="1200" dirty="0">
                <a:solidFill>
                  <a:schemeClr val="tx1"/>
                </a:solidFill>
                <a:effectLst/>
                <a:latin typeface="+mn-lt"/>
                <a:ea typeface="+mn-ea"/>
                <a:cs typeface="+mn-cs"/>
              </a:rPr>
              <a:t>θ). </a:t>
            </a:r>
            <a:r>
              <a:rPr lang="vi-VN" sz="1200" b="0" i="0" kern="1200" dirty="0">
                <a:solidFill>
                  <a:schemeClr val="tx1"/>
                </a:solidFill>
                <a:effectLst/>
                <a:latin typeface="+mn-lt"/>
                <a:ea typeface="+mn-ea"/>
                <a:cs typeface="+mn-cs"/>
              </a:rPr>
              <a:t>d²</a:t>
            </a:r>
            <a:r>
              <a:rPr lang="el-GR" sz="1200" b="0" i="0" kern="1200" dirty="0">
                <a:solidFill>
                  <a:schemeClr val="tx1"/>
                </a:solidFill>
                <a:effectLst/>
                <a:latin typeface="+mn-lt"/>
                <a:ea typeface="+mn-ea"/>
                <a:cs typeface="+mn-cs"/>
              </a:rPr>
              <a:t>Φ </a:t>
            </a:r>
            <a:r>
              <a:rPr lang="vi-VN" sz="1200" b="0" i="0" kern="1200" dirty="0">
                <a:solidFill>
                  <a:schemeClr val="tx1"/>
                </a:solidFill>
                <a:effectLst/>
                <a:latin typeface="+mn-lt"/>
                <a:ea typeface="+mn-ea"/>
                <a:cs typeface="+mn-cs"/>
              </a:rPr>
              <a:t>là quang thông (lumen, lm); dA là diện tích vi phân của bề mặt (m²); d</a:t>
            </a:r>
            <a:r>
              <a:rPr lang="el-GR" sz="1200" b="0" i="0" kern="1200" dirty="0">
                <a:solidFill>
                  <a:schemeClr val="tx1"/>
                </a:solidFill>
                <a:effectLst/>
                <a:latin typeface="+mn-lt"/>
                <a:ea typeface="+mn-ea"/>
                <a:cs typeface="+mn-cs"/>
              </a:rPr>
              <a:t>ω </a:t>
            </a:r>
            <a:r>
              <a:rPr lang="vi-VN" sz="1200" b="0" i="0" kern="1200" dirty="0">
                <a:solidFill>
                  <a:schemeClr val="tx1"/>
                </a:solidFill>
                <a:effectLst/>
                <a:latin typeface="+mn-lt"/>
                <a:ea typeface="+mn-ea"/>
                <a:cs typeface="+mn-cs"/>
              </a:rPr>
              <a:t>là góc khối vi phân (steradian, sr); </a:t>
            </a:r>
            <a:r>
              <a:rPr lang="el-GR" sz="1200" b="0" i="0" kern="1200" dirty="0">
                <a:solidFill>
                  <a:schemeClr val="tx1"/>
                </a:solidFill>
                <a:effectLst/>
                <a:latin typeface="+mn-lt"/>
                <a:ea typeface="+mn-ea"/>
                <a:cs typeface="+mn-cs"/>
              </a:rPr>
              <a:t>θ </a:t>
            </a:r>
            <a:r>
              <a:rPr lang="vi-VN" sz="1200" b="0" i="0" kern="1200" dirty="0">
                <a:solidFill>
                  <a:schemeClr val="tx1"/>
                </a:solidFill>
                <a:effectLst/>
                <a:latin typeface="+mn-lt"/>
                <a:ea typeface="+mn-ea"/>
                <a:cs typeface="+mn-cs"/>
              </a:rPr>
              <a:t>là góc giữa pháp tuyến bề mặt màn hình và hướng nhìn của detector (trong bài </a:t>
            </a:r>
            <a:r>
              <a:rPr lang="el-GR" sz="1200" b="0" i="0" kern="1200" dirty="0">
                <a:solidFill>
                  <a:schemeClr val="tx1"/>
                </a:solidFill>
                <a:effectLst/>
                <a:latin typeface="+mn-lt"/>
                <a:ea typeface="+mn-ea"/>
                <a:cs typeface="+mn-cs"/>
              </a:rPr>
              <a:t>θ = 0°). </a:t>
            </a:r>
            <a:r>
              <a:rPr lang="vi-VN" sz="1200" b="0" i="0" kern="1200" dirty="0">
                <a:solidFill>
                  <a:schemeClr val="tx1"/>
                </a:solidFill>
                <a:effectLst/>
                <a:latin typeface="+mn-lt"/>
                <a:ea typeface="+mn-ea"/>
                <a:cs typeface="+mn-cs"/>
              </a:rPr>
              <a:t>Mẫu số có cos </a:t>
            </a:r>
            <a:r>
              <a:rPr lang="el-GR" sz="1200" b="0" i="0" kern="1200" dirty="0">
                <a:solidFill>
                  <a:schemeClr val="tx1"/>
                </a:solidFill>
                <a:effectLst/>
                <a:latin typeface="+mn-lt"/>
                <a:ea typeface="+mn-ea"/>
                <a:cs typeface="+mn-cs"/>
              </a:rPr>
              <a:t>θ </a:t>
            </a:r>
            <a:r>
              <a:rPr lang="vi-VN" sz="1200" b="0" i="0" kern="1200" dirty="0">
                <a:solidFill>
                  <a:schemeClr val="tx1"/>
                </a:solidFill>
                <a:effectLst/>
                <a:latin typeface="+mn-lt"/>
                <a:ea typeface="+mn-ea"/>
                <a:cs typeface="+mn-cs"/>
              </a:rPr>
              <a:t>vì chỉ tính diện tích hình chiếu vuông góc với hướng nhìn.</a:t>
            </a:r>
          </a:p>
          <a:p>
            <a:r>
              <a:rPr lang="vi-VN" sz="1200" b="0" i="0" kern="1200" dirty="0">
                <a:solidFill>
                  <a:schemeClr val="tx1"/>
                </a:solidFill>
                <a:effectLst/>
                <a:latin typeface="+mn-lt"/>
                <a:ea typeface="+mn-ea"/>
                <a:cs typeface="+mn-cs"/>
              </a:rPr>
              <a:t>Phương pháp đo: set nối với bench; khi chương trình gửi yêu cầu, màn hình hiển thị màu trắng với độ sáng cao nhất; CS2000 di chuyển tới tâm màn PID, nhận diện tâm màn hình và đo; vì tâm luôn sáng hơn góc và cạnh nên detector phải đặt đúng tâm; kết quả được ghi lại và gửi về chương trình.</a:t>
            </a:r>
          </a:p>
          <a:p>
            <a:r>
              <a:rPr lang="vi-VN" sz="1200" b="0" i="0" kern="1200" dirty="0">
                <a:solidFill>
                  <a:schemeClr val="tx1"/>
                </a:solidFill>
                <a:effectLst/>
                <a:latin typeface="+mn-lt"/>
                <a:ea typeface="+mn-ea"/>
                <a:cs typeface="+mn-cs"/>
              </a:rPr>
              <a:t>Project Y = f(x1, x2, …, xn) + </a:t>
            </a:r>
            <a:r>
              <a:rPr lang="el-GR" sz="1200" b="0" i="0" kern="1200" dirty="0">
                <a:solidFill>
                  <a:schemeClr val="tx1"/>
                </a:solidFill>
                <a:effectLst/>
                <a:latin typeface="+mn-lt"/>
                <a:ea typeface="+mn-ea"/>
                <a:cs typeface="+mn-cs"/>
              </a:rPr>
              <a:t>ε: </a:t>
            </a:r>
            <a:r>
              <a:rPr lang="vi-VN" sz="1200" b="0" i="0" kern="1200" dirty="0">
                <a:solidFill>
                  <a:schemeClr val="tx1"/>
                </a:solidFill>
                <a:effectLst/>
                <a:latin typeface="+mn-lt"/>
                <a:ea typeface="+mn-ea"/>
                <a:cs typeface="+mn-cs"/>
              </a:rPr>
              <a:t>luminance đo được là hàm của các yếu tố đầu vào X cộng sai số ngẫu nhiên </a:t>
            </a:r>
            <a:r>
              <a:rPr lang="el-GR" sz="1200" b="0" i="0" kern="1200" dirty="0">
                <a:solidFill>
                  <a:schemeClr val="tx1"/>
                </a:solidFill>
                <a:effectLst/>
                <a:latin typeface="+mn-lt"/>
                <a:ea typeface="+mn-ea"/>
                <a:cs typeface="+mn-cs"/>
              </a:rPr>
              <a:t>ε.</a:t>
            </a:r>
          </a:p>
          <a:p>
            <a:endParaRPr lang="en-US" dirty="0"/>
          </a:p>
        </p:txBody>
      </p:sp>
    </p:spTree>
    <p:extLst>
      <p:ext uri="{BB962C8B-B14F-4D97-AF65-F5344CB8AC3E}">
        <p14:creationId xmlns:p14="http://schemas.microsoft.com/office/powerpoint/2010/main" val="268382996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200" b="1" i="0" kern="1200" dirty="0">
                <a:solidFill>
                  <a:schemeClr val="tx1"/>
                </a:solidFill>
                <a:effectLst/>
                <a:latin typeface="+mn-lt"/>
                <a:ea typeface="+mn-ea"/>
                <a:cs typeface="+mn-cs"/>
              </a:rPr>
              <a:t>Mục đích.</a:t>
            </a:r>
            <a:r>
              <a:rPr lang="vi-VN" sz="1200" b="0" i="0" kern="1200" dirty="0">
                <a:solidFill>
                  <a:schemeClr val="tx1"/>
                </a:solidFill>
                <a:effectLst/>
                <a:latin typeface="+mn-lt"/>
                <a:ea typeface="+mn-ea"/>
                <a:cs typeface="+mn-cs"/>
              </a:rPr>
              <a:t> Mô tả hệ thống đo Luminance (thiết bị, chương trình, chức năng test) trước khi đánh giá nó trong pha Measure (MSA).</a:t>
            </a:r>
            <a:endParaRPr lang="en-US" sz="1050" b="0" i="0" u="none" strike="noStrike" kern="1200" baseline="0" dirty="0">
              <a:solidFill>
                <a:schemeClr val="tx1"/>
              </a:solidFill>
              <a:latin typeface="Arial" panose="020B0604020202020204" pitchFamily="34" charset="0"/>
              <a:ea typeface="+mn-ea"/>
              <a:cs typeface="Arial" panose="020B0604020202020204" pitchFamily="34" charset="0"/>
            </a:endParaRPr>
          </a:p>
          <a:p>
            <a:endParaRPr lang="en-US" sz="1050" b="0" i="0" u="none" strike="noStrike" kern="1200" baseline="0" dirty="0">
              <a:solidFill>
                <a:schemeClr val="tx1"/>
              </a:solidFill>
              <a:latin typeface="Arial" panose="020B0604020202020204" pitchFamily="34" charset="0"/>
              <a:ea typeface="+mn-ea"/>
              <a:cs typeface="Arial" panose="020B0604020202020204" pitchFamily="34" charset="0"/>
            </a:endParaRPr>
          </a:p>
          <a:p>
            <a:r>
              <a:rPr lang="en-US" sz="1050" b="0" i="0" u="none" strike="noStrike" kern="1200" baseline="0" dirty="0">
                <a:solidFill>
                  <a:schemeClr val="tx1"/>
                </a:solidFill>
                <a:latin typeface="Arial" panose="020B0604020202020204" pitchFamily="34" charset="0"/>
                <a:ea typeface="+mn-ea"/>
                <a:cs typeface="Arial" panose="020B0604020202020204" pitchFamily="34" charset="0"/>
              </a:rPr>
              <a:t>Output level resolution: 0.01 Cd/m²</a:t>
            </a:r>
          </a:p>
          <a:p>
            <a:r>
              <a:rPr lang="vi-VN" sz="1200" b="0" i="0" kern="1200" dirty="0">
                <a:solidFill>
                  <a:schemeClr val="tx1"/>
                </a:solidFill>
                <a:effectLst/>
                <a:latin typeface="+mn-lt"/>
                <a:ea typeface="+mn-ea"/>
                <a:cs typeface="+mn-cs"/>
              </a:rPr>
              <a:t>Trạm đo gồm máy tính chạy chương trình, bench điều khiển set, CANSIM mô phỏng tín hiệu xe và camera CS2000 đo luminance. Kết quả được gửi lên GMES.</a:t>
            </a: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vi-VN" sz="1200" b="0" i="0" kern="1200" dirty="0">
                <a:solidFill>
                  <a:schemeClr val="tx1"/>
                </a:solidFill>
                <a:effectLst/>
                <a:latin typeface="+mn-lt"/>
                <a:ea typeface="+mn-ea"/>
                <a:cs typeface="+mn-cs"/>
              </a:rPr>
              <a:t>Equipment: Power supply (nguồn); Pallet (khay đồ gá); CID bench (bộ test cho CID); CANSIM (mô phỏng tín hiệu CAN); Camera CS2000 (spectroradiometer); Resolution 0,01 Cd/m². Program: LG Moohantech.</a:t>
            </a:r>
          </a:p>
          <a:p>
            <a:r>
              <a:rPr lang="vi-VN" sz="1200" b="0" i="0" kern="1200" dirty="0">
                <a:solidFill>
                  <a:schemeClr val="tx1"/>
                </a:solidFill>
                <a:effectLst/>
                <a:latin typeface="+mn-lt"/>
                <a:ea typeface="+mn-ea"/>
                <a:cs typeface="+mn-cs"/>
              </a:rPr>
              <a:t>Function test Luminance station: kiểm tra độ sáng; phát hiện và đo luminance; test set không cần CAN thật (nhờ CANSIM); kiểm tra mẫu đen và trắng của CID; tính độ tương phản (contrast ratio = luminance trắng / luminance đen).</a:t>
            </a:r>
          </a:p>
          <a:p>
            <a:r>
              <a:rPr lang="vi-VN" sz="1200" b="0" i="0" kern="1200" dirty="0">
                <a:solidFill>
                  <a:schemeClr val="tx1"/>
                </a:solidFill>
                <a:effectLst/>
                <a:latin typeface="+mn-lt"/>
                <a:ea typeface="+mn-ea"/>
                <a:cs typeface="+mn-cs"/>
              </a:rPr>
              <a:t>Sơ đồ Luminance station diagram: Computer chạy chương trình, gửi Information và nhận Result với GMES; Computer gửi Command cho Test bench và nhận Feedback; Test bench điều khiển CANSIM (Simulating) và giao tiếp với CID (Communicating / controlling), đọc WIP ID của set; Spectroradiometer đo màn hình (Measuring), do Computer điều khiển (Controlling) và trả Feedback.</a:t>
            </a:r>
          </a:p>
          <a:p>
            <a:r>
              <a:rPr lang="vi-VN" sz="1200" b="0" i="0" kern="1200" dirty="0">
                <a:solidFill>
                  <a:schemeClr val="tx1"/>
                </a:solidFill>
                <a:effectLst/>
                <a:latin typeface="+mn-lt"/>
                <a:ea typeface="+mn-ea"/>
                <a:cs typeface="+mn-cs"/>
              </a:rPr>
              <a:t>Ảnh Camera CS2000 (spectroradiometer).</a:t>
            </a:r>
          </a:p>
          <a:p>
            <a:endParaRPr lang="en-US" sz="1050" b="0" dirty="0">
              <a:latin typeface="Arial" panose="020B0604020202020204" pitchFamily="34" charset="0"/>
              <a:cs typeface="Arial" panose="020B0604020202020204" pitchFamily="34" charset="0"/>
            </a:endParaRPr>
          </a:p>
        </p:txBody>
      </p:sp>
      <p:sp>
        <p:nvSpPr>
          <p:cNvPr id="4" name="Slide Number Placeholder 3"/>
          <p:cNvSpPr>
            <a:spLocks noGrp="1"/>
          </p:cNvSpPr>
          <p:nvPr>
            <p:ph type="sldNum" sz="quarter" idx="10"/>
          </p:nvPr>
        </p:nvSpPr>
        <p:spPr/>
        <p:txBody>
          <a:bodyPr/>
          <a:lstStyle/>
          <a:p>
            <a:pPr>
              <a:defRPr/>
            </a:pPr>
            <a:fld id="{97375BCD-8584-40B1-BC96-764EEABFA733}" type="slidenum">
              <a:rPr lang="ko-KR" altLang="en-US" smtClean="0"/>
              <a:pPr>
                <a:defRPr/>
              </a:pPr>
              <a:t>6</a:t>
            </a:fld>
            <a:endParaRPr lang="ko-KR" altLang="en-US" dirty="0"/>
          </a:p>
        </p:txBody>
      </p:sp>
    </p:spTree>
    <p:extLst>
      <p:ext uri="{BB962C8B-B14F-4D97-AF65-F5344CB8AC3E}">
        <p14:creationId xmlns:p14="http://schemas.microsoft.com/office/powerpoint/2010/main" val="214426367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92500" lnSpcReduction="20000"/>
          </a:bodyPr>
          <a:lstStyle/>
          <a:p>
            <a:r>
              <a:rPr lang="vi-VN" sz="1200" b="1" i="0" kern="1200" dirty="0">
                <a:solidFill>
                  <a:schemeClr val="tx1"/>
                </a:solidFill>
                <a:effectLst/>
                <a:latin typeface="+mn-lt"/>
                <a:ea typeface="+mn-ea"/>
                <a:cs typeface="+mn-cs"/>
              </a:rPr>
              <a:t>Mục đích.</a:t>
            </a:r>
            <a:r>
              <a:rPr lang="vi-VN" sz="1200" b="0" i="0" kern="1200" dirty="0">
                <a:solidFill>
                  <a:schemeClr val="tx1"/>
                </a:solidFill>
                <a:effectLst/>
                <a:latin typeface="+mn-lt"/>
                <a:ea typeface="+mn-ea"/>
                <a:cs typeface="+mn-cs"/>
              </a:rPr>
              <a:t> Kiểm tra Station 1 có đo đúng (bias) và đo lặp lại tốt (repeatability) trên cùng một mẫu chuẩn hay không.</a:t>
            </a:r>
          </a:p>
          <a:p>
            <a:r>
              <a:rPr lang="vi-VN" sz="1200" b="1" i="0" kern="1200" dirty="0">
                <a:solidFill>
                  <a:schemeClr val="tx1"/>
                </a:solidFill>
                <a:effectLst/>
                <a:latin typeface="+mn-lt"/>
                <a:ea typeface="+mn-ea"/>
                <a:cs typeface="+mn-cs"/>
              </a:rPr>
              <a:t>Nội dung trên slide.</a:t>
            </a:r>
            <a:endParaRPr lang="vi-VN" sz="1200" b="0" i="0" kern="1200" dirty="0">
              <a:solidFill>
                <a:schemeClr val="tx1"/>
              </a:solidFill>
              <a:effectLst/>
              <a:latin typeface="+mn-lt"/>
              <a:ea typeface="+mn-ea"/>
              <a:cs typeface="+mn-cs"/>
            </a:endParaRPr>
          </a:p>
          <a:p>
            <a:r>
              <a:rPr lang="vi-VN" sz="1200" b="0" i="0" kern="1200" dirty="0">
                <a:solidFill>
                  <a:schemeClr val="tx1"/>
                </a:solidFill>
                <a:effectLst/>
                <a:latin typeface="+mn-lt"/>
                <a:ea typeface="+mn-ea"/>
                <a:cs typeface="+mn-cs"/>
              </a:rPr>
              <a:t>Cách làm: chọn Type 1, dùng 1 mẫu (golden sample, giá trị tham chiếu 910 Cd/m²) đo lặp 30 lần. H0: Bias = 0; H1: Bias ≠ 0.</a:t>
            </a:r>
          </a:p>
          <a:p>
            <a:r>
              <a:rPr lang="vi-VN" sz="1200" b="0" i="0" kern="1200" dirty="0">
                <a:solidFill>
                  <a:schemeClr val="tx1"/>
                </a:solidFill>
                <a:effectLst/>
                <a:latin typeface="+mn-lt"/>
                <a:ea typeface="+mn-ea"/>
                <a:cs typeface="+mn-cs"/>
              </a:rPr>
              <a:t>Bảng 30 giá trị đo (No 1–30). Spec 800–2000; Reference 910; Resolution 0,01.</a:t>
            </a:r>
          </a:p>
          <a:p>
            <a:r>
              <a:rPr lang="vi-VN" sz="1200" b="0" i="0" kern="1200" dirty="0">
                <a:solidFill>
                  <a:schemeClr val="tx1"/>
                </a:solidFill>
                <a:effectLst/>
                <a:latin typeface="+mn-lt"/>
                <a:ea typeface="+mn-ea"/>
                <a:cs typeface="+mn-cs"/>
              </a:rPr>
              <a:t>Probability Plot: Mean 911,1; SD 12,51; N 30; AD 0,404; p = 0,335 &gt; 0,05 nên dữ liệu xấp xỉ phân phối chuẩn (điều kiện của t-test).</a:t>
            </a:r>
          </a:p>
          <a:p>
            <a:r>
              <a:rPr lang="vi-VN" sz="1200" b="0" i="0" kern="1200" dirty="0">
                <a:solidFill>
                  <a:schemeClr val="tx1"/>
                </a:solidFill>
                <a:effectLst/>
                <a:latin typeface="+mn-lt"/>
                <a:ea typeface="+mn-ea"/>
                <a:cs typeface="+mn-cs"/>
              </a:rPr>
              <a:t>Báo cáo Type 1 Gage Study: Run Chart cùng các đường Ref (910) và Ref ± 0,10 × Tol (790 và 1030); bảng thống kê: Mean 911,09; StDev 12,507; 6 × StDev = 75,044; Tolerance 1200; Bias 1,09; T 0,478; p 0,636; Cg 3,20; Cgk 3,17; %Var (Repeatability) 6,25%; %Var (Repeatability and Bias) 6,31%.</a:t>
            </a:r>
          </a:p>
          <a:p>
            <a:r>
              <a:rPr lang="vi-VN" sz="1200" b="0" i="0" kern="1200" dirty="0">
                <a:solidFill>
                  <a:schemeClr val="tx1"/>
                </a:solidFill>
                <a:effectLst/>
                <a:latin typeface="+mn-lt"/>
                <a:ea typeface="+mn-ea"/>
                <a:cs typeface="+mn-cs"/>
              </a:rPr>
              <a:t>Conclusion: p = 0,636 &gt; 0,05, không bác bỏ H0, tức là không có bias đáng kể (PASS); Cg 3,20 và Cgk 3,17 lớn hơn 1,33 (PASS); %Var 6,25% và 6,31% nhỏ hơn 10% (PASS); resolution 0,01 nhỏ hơn 5% tolerance. Kết luận: Station 1 đo được Luminance.</a:t>
            </a:r>
            <a:endParaRPr lang="en-US" sz="1200" b="0" i="0" kern="1200" dirty="0">
              <a:solidFill>
                <a:schemeClr val="tx1"/>
              </a:solidFill>
              <a:effectLst/>
              <a:latin typeface="+mn-lt"/>
              <a:ea typeface="+mn-ea"/>
              <a:cs typeface="+mn-cs"/>
            </a:endParaRPr>
          </a:p>
          <a:p>
            <a:endParaRPr lang="vi-VN" sz="1200" b="0" i="0" kern="1200" dirty="0">
              <a:solidFill>
                <a:schemeClr val="tx1"/>
              </a:solidFill>
              <a:effectLst/>
              <a:latin typeface="+mn-lt"/>
              <a:ea typeface="+mn-ea"/>
              <a:cs typeface="+mn-cs"/>
            </a:endParaRPr>
          </a:p>
          <a:p>
            <a:r>
              <a:rPr lang="en-US" sz="1200" b="1" i="0" kern="1200" dirty="0" err="1">
                <a:solidFill>
                  <a:schemeClr val="tx1"/>
                </a:solidFill>
                <a:effectLst/>
                <a:latin typeface="+mn-lt"/>
                <a:ea typeface="+mn-ea"/>
                <a:cs typeface="+mn-cs"/>
              </a:rPr>
              <a:t>Nên</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nói</a:t>
            </a:r>
            <a:r>
              <a:rPr lang="en-US" sz="1200" b="1" i="0" kern="1200" dirty="0">
                <a:solidFill>
                  <a:schemeClr val="tx1"/>
                </a:solidFill>
                <a:effectLst/>
                <a:latin typeface="+mn-lt"/>
                <a:ea typeface="+mn-ea"/>
                <a:cs typeface="+mn-cs"/>
              </a:rPr>
              <a:t>.</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Tôi</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đo</a:t>
            </a:r>
            <a:r>
              <a:rPr lang="en-US" sz="1200" b="0" i="0" kern="1200" dirty="0">
                <a:solidFill>
                  <a:schemeClr val="tx1"/>
                </a:solidFill>
                <a:effectLst/>
                <a:latin typeface="+mn-lt"/>
                <a:ea typeface="+mn-ea"/>
                <a:cs typeface="+mn-cs"/>
              </a:rPr>
              <a:t> 30 </a:t>
            </a:r>
            <a:r>
              <a:rPr lang="en-US" sz="1200" b="0" i="0" kern="1200" dirty="0" err="1">
                <a:solidFill>
                  <a:schemeClr val="tx1"/>
                </a:solidFill>
                <a:effectLst/>
                <a:latin typeface="+mn-lt"/>
                <a:ea typeface="+mn-ea"/>
                <a:cs typeface="+mn-cs"/>
              </a:rPr>
              <a:t>lần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trên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mẫu</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chuẩn</a:t>
            </a:r>
            <a:r>
              <a:rPr lang="en-US" sz="1200" b="0" i="0" kern="1200" dirty="0">
                <a:solidFill>
                  <a:schemeClr val="tx1"/>
                </a:solidFill>
                <a:effectLst/>
                <a:latin typeface="+mn-lt"/>
                <a:ea typeface="+mn-ea"/>
                <a:cs typeface="+mn-cs"/>
              </a:rPr>
              <a:t> 910. Trung </a:t>
            </a:r>
            <a:r>
              <a:rPr lang="en-US" sz="1200" b="0" i="0" kern="1200" dirty="0" err="1">
                <a:solidFill>
                  <a:schemeClr val="tx1"/>
                </a:solidFill>
                <a:effectLst/>
                <a:latin typeface="+mn-lt"/>
                <a:ea typeface="+mn-ea"/>
                <a:cs typeface="+mn-cs"/>
              </a:rPr>
              <a:t>bình</a:t>
            </a:r>
            <a:r>
              <a:rPr lang="en-US" sz="1200" b="0" i="0" kern="1200" dirty="0">
                <a:solidFill>
                  <a:schemeClr val="tx1"/>
                </a:solidFill>
                <a:effectLst/>
                <a:latin typeface="+mn-lt"/>
                <a:ea typeface="+mn-ea"/>
                <a:cs typeface="+mn-cs"/>
              </a:rPr>
              <a:t> 911,09, bias </a:t>
            </a:r>
            <a:r>
              <a:rPr lang="en-US" sz="1200" b="0" i="0" kern="1200" dirty="0" err="1">
                <a:solidFill>
                  <a:schemeClr val="tx1"/>
                </a:solidFill>
                <a:effectLst/>
                <a:latin typeface="+mn-lt"/>
                <a:ea typeface="+mn-ea"/>
                <a:cs typeface="+mn-cs"/>
              </a:rPr>
              <a:t>chỉ</a:t>
            </a:r>
            <a:r>
              <a:rPr lang="en-US" sz="1200" b="0" i="0" kern="1200" dirty="0">
                <a:solidFill>
                  <a:schemeClr val="tx1"/>
                </a:solidFill>
                <a:effectLst/>
                <a:latin typeface="+mn-lt"/>
                <a:ea typeface="+mn-ea"/>
                <a:cs typeface="+mn-cs"/>
              </a:rPr>
              <a:t> 1,09 </a:t>
            </a:r>
            <a:r>
              <a:rPr lang="en-US" sz="1200" b="0" i="0" kern="1200" dirty="0" err="1">
                <a:solidFill>
                  <a:schemeClr val="tx1"/>
                </a:solidFill>
                <a:effectLst/>
                <a:latin typeface="+mn-lt"/>
                <a:ea typeface="+mn-ea"/>
                <a:cs typeface="+mn-cs"/>
              </a:rPr>
              <a:t>và</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không</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có</a:t>
            </a:r>
            <a:r>
              <a:rPr lang="en-US" sz="1200" b="0" i="0" kern="1200" dirty="0">
                <a:solidFill>
                  <a:schemeClr val="tx1"/>
                </a:solidFill>
                <a:effectLst/>
                <a:latin typeface="+mn-lt"/>
                <a:ea typeface="+mn-ea"/>
                <a:cs typeface="+mn-cs"/>
              </a:rPr>
              <a:t> ý </a:t>
            </a:r>
            <a:r>
              <a:rPr lang="en-US" sz="1200" b="0" i="0" kern="1200" dirty="0" err="1">
                <a:solidFill>
                  <a:schemeClr val="tx1"/>
                </a:solidFill>
                <a:effectLst/>
                <a:latin typeface="+mn-lt"/>
                <a:ea typeface="+mn-ea"/>
                <a:cs typeface="+mn-cs"/>
              </a:rPr>
              <a:t>nghĩa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thống</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kê</a:t>
            </a:r>
            <a:r>
              <a:rPr lang="en-US" sz="1200" b="0" i="0" kern="1200" dirty="0">
                <a:solidFill>
                  <a:schemeClr val="tx1"/>
                </a:solidFill>
                <a:effectLst/>
                <a:latin typeface="+mn-lt"/>
                <a:ea typeface="+mn-ea"/>
                <a:cs typeface="+mn-cs"/>
              </a:rPr>
              <a:t> (p 0,636). Cg 3,20 </a:t>
            </a:r>
            <a:r>
              <a:rPr lang="en-US" sz="1200" b="0" i="0" kern="1200" dirty="0" err="1">
                <a:solidFill>
                  <a:schemeClr val="tx1"/>
                </a:solidFill>
                <a:effectLst/>
                <a:latin typeface="+mn-lt"/>
                <a:ea typeface="+mn-ea"/>
                <a:cs typeface="+mn-cs"/>
              </a:rPr>
              <a:t>và</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Cgk</a:t>
            </a:r>
            <a:r>
              <a:rPr lang="en-US" sz="1200" b="0" i="0" kern="1200" dirty="0">
                <a:solidFill>
                  <a:schemeClr val="tx1"/>
                </a:solidFill>
                <a:effectLst/>
                <a:latin typeface="+mn-lt"/>
                <a:ea typeface="+mn-ea"/>
                <a:cs typeface="+mn-cs"/>
              </a:rPr>
              <a:t> 3,17 </a:t>
            </a:r>
            <a:r>
              <a:rPr lang="en-US" sz="1200" b="0" i="0" kern="1200" dirty="0" err="1">
                <a:solidFill>
                  <a:schemeClr val="tx1"/>
                </a:solidFill>
                <a:effectLst/>
                <a:latin typeface="+mn-lt"/>
                <a:ea typeface="+mn-ea"/>
                <a:cs typeface="+mn-cs"/>
              </a:rPr>
              <a:t>đều</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trên</a:t>
            </a:r>
            <a:r>
              <a:rPr lang="en-US" sz="1200" b="0" i="0" kern="1200" dirty="0">
                <a:solidFill>
                  <a:schemeClr val="tx1"/>
                </a:solidFill>
                <a:effectLst/>
                <a:latin typeface="+mn-lt"/>
                <a:ea typeface="+mn-ea"/>
                <a:cs typeface="+mn-cs"/>
              </a:rPr>
              <a:t> 1,33 </a:t>
            </a:r>
            <a:r>
              <a:rPr lang="en-US" sz="1200" b="0" i="0" kern="1200" dirty="0" err="1">
                <a:solidFill>
                  <a:schemeClr val="tx1"/>
                </a:solidFill>
                <a:effectLst/>
                <a:latin typeface="+mn-lt"/>
                <a:ea typeface="+mn-ea"/>
                <a:cs typeface="+mn-cs"/>
              </a:rPr>
              <a:t>nên</a:t>
            </a:r>
            <a:r>
              <a:rPr lang="en-US" sz="1200" b="0" i="0" kern="1200" dirty="0">
                <a:solidFill>
                  <a:schemeClr val="tx1"/>
                </a:solidFill>
                <a:effectLst/>
                <a:latin typeface="+mn-lt"/>
                <a:ea typeface="+mn-ea"/>
                <a:cs typeface="+mn-cs"/>
              </a:rPr>
              <a:t> Station 1 </a:t>
            </a:r>
            <a:r>
              <a:rPr lang="en-US" sz="1200" b="0" i="0" kern="1200" dirty="0" err="1">
                <a:solidFill>
                  <a:schemeClr val="tx1"/>
                </a:solidFill>
                <a:effectLst/>
                <a:latin typeface="+mn-lt"/>
                <a:ea typeface="+mn-ea"/>
                <a:cs typeface="+mn-cs"/>
              </a:rPr>
              <a:t>đạt</a:t>
            </a:r>
            <a:r>
              <a:rPr lang="en-US" sz="1200" b="0" i="0" kern="1200" dirty="0">
                <a:solidFill>
                  <a:schemeClr val="tx1"/>
                </a:solidFill>
                <a:effectLst/>
                <a:latin typeface="+mn-lt"/>
                <a:ea typeface="+mn-ea"/>
                <a:cs typeface="+mn-cs"/>
              </a:rPr>
              <a:t>.</a:t>
            </a:r>
          </a:p>
          <a:p>
            <a:endParaRPr lang="en-US" sz="1200" b="0" i="0" kern="1200" dirty="0">
              <a:solidFill>
                <a:schemeClr val="tx1"/>
              </a:solidFill>
              <a:effectLst/>
              <a:latin typeface="+mn-lt"/>
              <a:ea typeface="+mn-ea"/>
              <a:cs typeface="+mn-cs"/>
            </a:endParaRPr>
          </a:p>
          <a:p>
            <a:r>
              <a:rPr lang="en-US" sz="1200" b="1" i="0" kern="1200" dirty="0" err="1">
                <a:solidFill>
                  <a:schemeClr val="tx1"/>
                </a:solidFill>
                <a:effectLst/>
                <a:latin typeface="+mn-lt"/>
                <a:ea typeface="+mn-ea"/>
                <a:cs typeface="+mn-cs"/>
              </a:rPr>
              <a:t>Cách</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tính</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kiểm</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chứng</a:t>
            </a:r>
            <a:r>
              <a:rPr lang="en-US" sz="1200" b="1" i="0" kern="1200" dirty="0">
                <a:solidFill>
                  <a:schemeClr val="tx1"/>
                </a:solidFill>
                <a:effectLst/>
                <a:latin typeface="+mn-lt"/>
                <a:ea typeface="+mn-ea"/>
                <a:cs typeface="+mn-cs"/>
              </a:rPr>
              <a:t>).</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Bias = 911,09 − 910 = 1,09. T = 1,09 / (12,507 / √30) = 0,478.</a:t>
            </a:r>
          </a:p>
          <a:p>
            <a:r>
              <a:rPr lang="en-US" sz="1200" b="0" i="0" kern="1200" dirty="0">
                <a:solidFill>
                  <a:schemeClr val="tx1"/>
                </a:solidFill>
                <a:effectLst/>
                <a:latin typeface="+mn-lt"/>
                <a:ea typeface="+mn-ea"/>
                <a:cs typeface="+mn-cs"/>
              </a:rPr>
              <a:t>Cg = 0,2 × 1200 / (6 × 12,507) = 240 / 75,04 = 3,20.</a:t>
            </a:r>
          </a:p>
          <a:p>
            <a:r>
              <a:rPr lang="en-US" sz="1200" b="0" i="0" kern="1200" dirty="0" err="1">
                <a:solidFill>
                  <a:schemeClr val="tx1"/>
                </a:solidFill>
                <a:effectLst/>
                <a:latin typeface="+mn-lt"/>
                <a:ea typeface="+mn-ea"/>
                <a:cs typeface="+mn-cs"/>
              </a:rPr>
              <a:t>Cgk</a:t>
            </a:r>
            <a:r>
              <a:rPr lang="en-US" sz="1200" b="0" i="0" kern="1200" dirty="0">
                <a:solidFill>
                  <a:schemeClr val="tx1"/>
                </a:solidFill>
                <a:effectLst/>
                <a:latin typeface="+mn-lt"/>
                <a:ea typeface="+mn-ea"/>
                <a:cs typeface="+mn-cs"/>
              </a:rPr>
              <a:t> = (0,1 × 1200 − 1,09) / (3 × 12,507) = 118,91 / 37,52 = 3,17.</a:t>
            </a:r>
          </a:p>
          <a:p>
            <a:r>
              <a:rPr lang="en-US" sz="1200" b="0" i="0" kern="1200" dirty="0">
                <a:solidFill>
                  <a:schemeClr val="tx1"/>
                </a:solidFill>
                <a:effectLst/>
                <a:latin typeface="+mn-lt"/>
                <a:ea typeface="+mn-ea"/>
                <a:cs typeface="+mn-cs"/>
              </a:rPr>
              <a:t>%Var (Repeatability) = 6 × 12,507 / 1200 = 6,25%. %Var (Repeatability and Bias) = 20 / 3,17 = 6,31%.</a:t>
            </a:r>
          </a:p>
          <a:p>
            <a:endParaRPr lang="vi-VN" sz="1200" b="0" i="0"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pPr>
              <a:defRPr/>
            </a:pPr>
            <a:fld id="{97375BCD-8584-40B1-BC96-764EEABFA733}" type="slidenum">
              <a:rPr lang="ko-KR" altLang="en-US" smtClean="0"/>
              <a:pPr>
                <a:defRPr/>
              </a:pPr>
              <a:t>7</a:t>
            </a:fld>
            <a:endParaRPr lang="ko-KR" altLang="en-US" dirty="0"/>
          </a:p>
        </p:txBody>
      </p:sp>
    </p:spTree>
    <p:extLst>
      <p:ext uri="{BB962C8B-B14F-4D97-AF65-F5344CB8AC3E}">
        <p14:creationId xmlns:p14="http://schemas.microsoft.com/office/powerpoint/2010/main" val="339258705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vi-VN" sz="1200" b="1" i="0" kern="1200" dirty="0">
                <a:solidFill>
                  <a:schemeClr val="tx1"/>
                </a:solidFill>
                <a:effectLst/>
                <a:latin typeface="+mn-lt"/>
                <a:ea typeface="+mn-ea"/>
                <a:cs typeface="+mn-cs"/>
              </a:rPr>
              <a:t>Mục đích.</a:t>
            </a:r>
            <a:r>
              <a:rPr lang="vi-VN" sz="1200" b="0" i="0" kern="1200" dirty="0">
                <a:solidFill>
                  <a:schemeClr val="tx1"/>
                </a:solidFill>
                <a:effectLst/>
                <a:latin typeface="+mn-lt"/>
                <a:ea typeface="+mn-ea"/>
                <a:cs typeface="+mn-cs"/>
              </a:rPr>
              <a:t> Làm cùng nghiên cứu Type 1 cho Station 2 để xem trạm này đo có đúng và ổn định không.</a:t>
            </a:r>
          </a:p>
          <a:p>
            <a:r>
              <a:rPr lang="vi-VN" sz="1200" b="1" i="0" kern="1200" dirty="0">
                <a:solidFill>
                  <a:schemeClr val="tx1"/>
                </a:solidFill>
                <a:effectLst/>
                <a:latin typeface="+mn-lt"/>
                <a:ea typeface="+mn-ea"/>
                <a:cs typeface="+mn-cs"/>
              </a:rPr>
              <a:t>Nội dung trên slide.</a:t>
            </a:r>
            <a:r>
              <a:rPr lang="vi-VN" sz="1200" b="0" i="0" kern="1200" dirty="0">
                <a:solidFill>
                  <a:schemeClr val="tx1"/>
                </a:solidFill>
                <a:effectLst/>
                <a:latin typeface="+mn-lt"/>
                <a:ea typeface="+mn-ea"/>
                <a:cs typeface="+mn-cs"/>
              </a:rPr>
              <a:t> Cùng cấu trúc như slide 7 (30 lần đo mẫu chuẩn 910, H0: Bias = 0).</a:t>
            </a:r>
          </a:p>
          <a:p>
            <a:r>
              <a:rPr lang="vi-VN" sz="1200" b="0" i="0" kern="1200" dirty="0">
                <a:solidFill>
                  <a:schemeClr val="tx1"/>
                </a:solidFill>
                <a:effectLst/>
                <a:latin typeface="+mn-lt"/>
                <a:ea typeface="+mn-ea"/>
                <a:cs typeface="+mn-cs"/>
              </a:rPr>
              <a:t>Probability Plot: Mean 855,0; SD 43,98; AD 0,549; p = 0,144 nên vẫn xấp xỉ chuẩn.</a:t>
            </a:r>
          </a:p>
          <a:p>
            <a:r>
              <a:rPr lang="vi-VN" sz="1200" b="0" i="0" kern="1200" dirty="0">
                <a:solidFill>
                  <a:schemeClr val="tx1"/>
                </a:solidFill>
                <a:effectLst/>
                <a:latin typeface="+mn-lt"/>
                <a:ea typeface="+mn-ea"/>
                <a:cs typeface="+mn-cs"/>
              </a:rPr>
              <a:t>Báo cáo Type 1: Mean 854,96; StDev 43,982; 6 × StDev = 263,894; Bias −55,04; |T| = 6,855; p = 0,000; Cg 0,91; Cgk 0,49; %Var (Repeatability) 21,99%; %Var (Repeatability and Bias) 40,63%.</a:t>
            </a:r>
          </a:p>
          <a:p>
            <a:r>
              <a:rPr lang="vi-VN" sz="1200" b="0" i="0" kern="1200" dirty="0">
                <a:solidFill>
                  <a:schemeClr val="tx1"/>
                </a:solidFill>
                <a:effectLst/>
                <a:latin typeface="+mn-lt"/>
                <a:ea typeface="+mn-ea"/>
                <a:cs typeface="+mn-cs"/>
              </a:rPr>
              <a:t>Run chart: các giá trị dao động rất mạnh (từ khoảng 748 đến 918), nhiều điểm rơi dưới đường Ref − 10% tolerance (790).</a:t>
            </a:r>
          </a:p>
          <a:p>
            <a:r>
              <a:rPr lang="vi-VN" sz="1200" b="0" i="0" kern="1200" dirty="0">
                <a:solidFill>
                  <a:schemeClr val="tx1"/>
                </a:solidFill>
                <a:effectLst/>
                <a:latin typeface="+mn-lt"/>
                <a:ea typeface="+mn-ea"/>
                <a:cs typeface="+mn-cs"/>
              </a:rPr>
              <a:t>Conclusion: p &lt; 0,05 bác bỏ H0, tức là có bias (FAIL); Cg 0,91 và Cgk 0,49 nhỏ hơn 1,33 (FAIL); %Var 21,99% và 40,63% lớn hơn 10% (FAIL). Thiết bị có vấn đề, đo không nhất quán (lặp lại kém và lệch thấp), cần cải tiến hệ thống đo.</a:t>
            </a: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vi-VN" sz="1200" b="0" i="0" kern="1200" dirty="0">
                <a:solidFill>
                  <a:schemeClr val="tx1"/>
                </a:solidFill>
                <a:effectLst/>
                <a:latin typeface="+mn-lt"/>
                <a:ea typeface="+mn-ea"/>
                <a:cs typeface="+mn-cs"/>
              </a:rPr>
              <a:t>Cùng mẫu chuẩn 910 nhưng Station 2 đọc trung bình 855, thấp hơn 55, và dao động lớn (SD 44). Cg 0,91 và Cgk 0,49 đều dưới 1,33 nên hệ thống đo Station 2 không đạt. Vì vậy phải tìm nguyên nhân ở thiết bị đo chứ chưa vội kết luận sản phẩm lỗi.</a:t>
            </a:r>
          </a:p>
        </p:txBody>
      </p:sp>
      <p:sp>
        <p:nvSpPr>
          <p:cNvPr id="4" name="Slide Number Placeholder 3"/>
          <p:cNvSpPr>
            <a:spLocks noGrp="1"/>
          </p:cNvSpPr>
          <p:nvPr>
            <p:ph type="sldNum" sz="quarter" idx="10"/>
          </p:nvPr>
        </p:nvSpPr>
        <p:spPr/>
        <p:txBody>
          <a:bodyPr/>
          <a:lstStyle/>
          <a:p>
            <a:pPr>
              <a:defRPr/>
            </a:pPr>
            <a:fld id="{97375BCD-8584-40B1-BC96-764EEABFA733}" type="slidenum">
              <a:rPr lang="ko-KR" altLang="en-US" smtClean="0"/>
              <a:pPr>
                <a:defRPr/>
              </a:pPr>
              <a:t>8</a:t>
            </a:fld>
            <a:endParaRPr lang="ko-KR" altLang="en-US" dirty="0"/>
          </a:p>
        </p:txBody>
      </p:sp>
    </p:spTree>
    <p:extLst>
      <p:ext uri="{BB962C8B-B14F-4D97-AF65-F5344CB8AC3E}">
        <p14:creationId xmlns:p14="http://schemas.microsoft.com/office/powerpoint/2010/main" val="240424949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r>
              <a:rPr lang="vi-VN" sz="1200" b="1" i="0" kern="1200" dirty="0">
                <a:solidFill>
                  <a:schemeClr val="tx1"/>
                </a:solidFill>
                <a:effectLst/>
                <a:latin typeface="+mn-lt"/>
                <a:ea typeface="+mn-ea"/>
                <a:cs typeface="+mn-cs"/>
              </a:rPr>
              <a:t>Mục đích.</a:t>
            </a:r>
            <a:r>
              <a:rPr lang="vi-VN" sz="1200" b="0" i="0" kern="1200" dirty="0">
                <a:solidFill>
                  <a:schemeClr val="tx1"/>
                </a:solidFill>
                <a:effectLst/>
                <a:latin typeface="+mn-lt"/>
                <a:ea typeface="+mn-ea"/>
                <a:cs typeface="+mn-cs"/>
              </a:rPr>
              <a:t> So sánh hai trạm trên cùng 30 mẫu để xem chúng có đo giống nhau không.</a:t>
            </a:r>
          </a:p>
          <a:p>
            <a:r>
              <a:rPr lang="vi-VN" sz="1200" b="1" i="0" kern="1200" dirty="0">
                <a:solidFill>
                  <a:schemeClr val="tx1"/>
                </a:solidFill>
                <a:effectLst/>
                <a:latin typeface="+mn-lt"/>
                <a:ea typeface="+mn-ea"/>
                <a:cs typeface="+mn-cs"/>
              </a:rPr>
              <a:t>Nội dung trên slide.</a:t>
            </a:r>
            <a:endParaRPr lang="vi-VN" sz="1200" b="0" i="0" kern="1200" dirty="0">
              <a:solidFill>
                <a:schemeClr val="tx1"/>
              </a:solidFill>
              <a:effectLst/>
              <a:latin typeface="+mn-lt"/>
              <a:ea typeface="+mn-ea"/>
              <a:cs typeface="+mn-cs"/>
            </a:endParaRPr>
          </a:p>
          <a:p>
            <a:r>
              <a:rPr lang="vi-VN" sz="1200" b="0" i="0" kern="1200" dirty="0">
                <a:solidFill>
                  <a:schemeClr val="tx1"/>
                </a:solidFill>
                <a:effectLst/>
                <a:latin typeface="+mn-lt"/>
                <a:ea typeface="+mn-ea"/>
                <a:cs typeface="+mn-cs"/>
              </a:rPr>
              <a:t>Bảng 30 cặp giá trị (cột Station 1, cột Station 2); spec 800–2000.</a:t>
            </a:r>
          </a:p>
          <a:p>
            <a:r>
              <a:rPr lang="vi-VN" sz="1200" b="1" i="0" kern="1200" dirty="0">
                <a:solidFill>
                  <a:schemeClr val="tx1"/>
                </a:solidFill>
                <a:effectLst/>
                <a:latin typeface="+mn-lt"/>
                <a:ea typeface="+mn-ea"/>
                <a:cs typeface="+mn-cs"/>
              </a:rPr>
              <a:t>Kết quả Two-Sample T-Test </a:t>
            </a:r>
            <a:r>
              <a:rPr lang="vi-VN" sz="1200" b="0" i="0" kern="1200" dirty="0">
                <a:solidFill>
                  <a:schemeClr val="tx1"/>
                </a:solidFill>
                <a:effectLst/>
                <a:latin typeface="+mn-lt"/>
                <a:ea typeface="+mn-ea"/>
                <a:cs typeface="+mn-cs"/>
              </a:rPr>
              <a:t>(Minitab): Station 1 N 30, Mean 917,6, SD 22,3, SE 4,1; Station 2 N 30, Mean 897,2, SD 26,5, SE 4,8. Chênh lệch </a:t>
            </a:r>
            <a:r>
              <a:rPr lang="el-GR" sz="1200" b="0" i="0" kern="1200" dirty="0">
                <a:solidFill>
                  <a:schemeClr val="tx1"/>
                </a:solidFill>
                <a:effectLst/>
                <a:latin typeface="+mn-lt"/>
                <a:ea typeface="+mn-ea"/>
                <a:cs typeface="+mn-cs"/>
              </a:rPr>
              <a:t>μ1 − μ2 = 20,38; 95% </a:t>
            </a:r>
            <a:r>
              <a:rPr lang="vi-VN" sz="1200" b="0" i="0" kern="1200" dirty="0">
                <a:solidFill>
                  <a:schemeClr val="tx1"/>
                </a:solidFill>
                <a:effectLst/>
                <a:latin typeface="+mn-lt"/>
                <a:ea typeface="+mn-ea"/>
                <a:cs typeface="+mn-cs"/>
              </a:rPr>
              <a:t>CI (7,70; 33,05). H0: </a:t>
            </a:r>
            <a:r>
              <a:rPr lang="el-GR" sz="1200" b="0" i="0" kern="1200" dirty="0">
                <a:solidFill>
                  <a:schemeClr val="tx1"/>
                </a:solidFill>
                <a:effectLst/>
                <a:latin typeface="+mn-lt"/>
                <a:ea typeface="+mn-ea"/>
                <a:cs typeface="+mn-cs"/>
              </a:rPr>
              <a:t>μ1 − μ2 = 0; </a:t>
            </a:r>
            <a:r>
              <a:rPr lang="vi-VN" sz="1200" b="0" i="0" kern="1200" dirty="0">
                <a:solidFill>
                  <a:schemeClr val="tx1"/>
                </a:solidFill>
                <a:effectLst/>
                <a:latin typeface="+mn-lt"/>
                <a:ea typeface="+mn-ea"/>
                <a:cs typeface="+mn-cs"/>
              </a:rPr>
              <a:t>H1: khác 0. T = 3,22; DF = 56; p = 0,002. Phương pháp Welch (không giả định hai phương sai bằng nhau).</a:t>
            </a:r>
          </a:p>
          <a:p>
            <a:r>
              <a:rPr lang="vi-VN" sz="1200" b="0" i="0" kern="1200" dirty="0">
                <a:solidFill>
                  <a:schemeClr val="tx1"/>
                </a:solidFill>
                <a:effectLst/>
                <a:latin typeface="+mn-lt"/>
                <a:ea typeface="+mn-ea"/>
                <a:cs typeface="+mn-cs"/>
              </a:rPr>
              <a:t>Hai hình: Individual Value Plot và Boxplot cho thấy Station 2 thấp hơn và rộng hơn.</a:t>
            </a:r>
          </a:p>
          <a:p>
            <a:r>
              <a:rPr lang="vi-VN" sz="1200" b="0" i="0" kern="1200" dirty="0">
                <a:solidFill>
                  <a:schemeClr val="tx1"/>
                </a:solidFill>
                <a:effectLst/>
                <a:latin typeface="+mn-lt"/>
                <a:ea typeface="+mn-ea"/>
                <a:cs typeface="+mn-cs"/>
              </a:rPr>
              <a:t>Conclusion: p = 0,002 nhỏ hơn 0,05 nên bác bỏ H0: hai trạm đo khác nhau. Kiểm tra bằng paired t (cùng 30 mẫu đo ở cả hai trạm): chênh trung bình 20,38; SD chênh 19,21; SE 3,51; t = 5,81; DF = 29; p &lt; 0,001, cùng kết luận.</a:t>
            </a:r>
          </a:p>
          <a:p>
            <a:r>
              <a:rPr lang="vi-VN" sz="1200" b="1" i="0" kern="1200" dirty="0">
                <a:solidFill>
                  <a:schemeClr val="tx1"/>
                </a:solidFill>
                <a:effectLst/>
                <a:latin typeface="+mn-lt"/>
                <a:ea typeface="+mn-ea"/>
                <a:cs typeface="+mn-cs"/>
              </a:rPr>
              <a:t>Cách tính.</a:t>
            </a:r>
            <a:endParaRPr lang="vi-VN" sz="1200" b="0" i="0" kern="1200" dirty="0">
              <a:solidFill>
                <a:schemeClr val="tx1"/>
              </a:solidFill>
              <a:effectLst/>
              <a:latin typeface="+mn-lt"/>
              <a:ea typeface="+mn-ea"/>
              <a:cs typeface="+mn-cs"/>
            </a:endParaRPr>
          </a:p>
          <a:p>
            <a:r>
              <a:rPr lang="vi-VN" sz="1200" b="0" i="0" kern="1200" dirty="0">
                <a:solidFill>
                  <a:schemeClr val="tx1"/>
                </a:solidFill>
                <a:effectLst/>
                <a:latin typeface="+mn-lt"/>
                <a:ea typeface="+mn-ea"/>
                <a:cs typeface="+mn-cs"/>
              </a:rPr>
              <a:t>Welch: T = 20,38 / √(22,3² / 30 + 26,5² / 30) = 20,38 / 6,33 = 3,22.</a:t>
            </a:r>
          </a:p>
          <a:p>
            <a:r>
              <a:rPr lang="vi-VN" sz="1200" b="0" i="0" kern="1200" dirty="0">
                <a:solidFill>
                  <a:schemeClr val="tx1"/>
                </a:solidFill>
                <a:effectLst/>
                <a:latin typeface="+mn-lt"/>
                <a:ea typeface="+mn-ea"/>
                <a:cs typeface="+mn-cs"/>
              </a:rPr>
              <a:t>Paired: t = 20,38 / (19,21 / √30) = 5,81. Hai cột có tương quan khoảng 0,70, nên paired t nhạy hơn vì loại bỏ được sự khác nhau giữa các mẫu.</a:t>
            </a:r>
          </a:p>
          <a:p>
            <a:r>
              <a:rPr lang="vi-VN" sz="1200" b="0" i="0" kern="1200" dirty="0">
                <a:solidFill>
                  <a:schemeClr val="tx1"/>
                </a:solidFill>
                <a:effectLst/>
                <a:latin typeface="+mn-lt"/>
                <a:ea typeface="+mn-ea"/>
                <a:cs typeface="+mn-cs"/>
              </a:rPr>
              <a:t>Hai trạm lệch nhau 20,4 Cd/m² (khoảng 2,2%).</a:t>
            </a:r>
          </a:p>
          <a:p>
            <a:r>
              <a:rPr lang="vi-VN" sz="1200" b="1" i="0" kern="1200" dirty="0">
                <a:solidFill>
                  <a:schemeClr val="tx1"/>
                </a:solidFill>
                <a:effectLst/>
                <a:latin typeface="+mn-lt"/>
                <a:ea typeface="+mn-ea"/>
                <a:cs typeface="+mn-cs"/>
              </a:rPr>
              <a:t>Nên nói.</a:t>
            </a:r>
            <a:r>
              <a:rPr lang="vi-VN" sz="1200" b="0" i="0" kern="1200" dirty="0">
                <a:solidFill>
                  <a:schemeClr val="tx1"/>
                </a:solidFill>
                <a:effectLst/>
                <a:latin typeface="+mn-lt"/>
                <a:ea typeface="+mn-ea"/>
                <a:cs typeface="+mn-cs"/>
              </a:rPr>
              <a:t> Cùng 30 mẫu nhưng Station 2 đọc thấp hơn Station 1 trung bình 20,4 Cd/m², khác biệt có ý nghĩa thống kê (p 0,002; paired t p dưới 0,001). Điều này khớp với kết quả Type 1 và cho thấy cần tìm nguyên nhân làm Station 2 đo sai.</a:t>
            </a:r>
          </a:p>
          <a:p>
            <a:pPr marL="0" marR="0" indent="0" defTabSz="914400" rtl="0" eaLnBrk="1" fontAlgn="base" latinLnBrk="0" hangingPunct="1">
              <a:lnSpc>
                <a:spcPct val="100000"/>
              </a:lnSpc>
              <a:spcBef>
                <a:spcPct val="0"/>
              </a:spcBef>
              <a:spcAft>
                <a:spcPct val="0"/>
              </a:spcAft>
              <a:buClrTx/>
              <a:buSzTx/>
              <a:buFontTx/>
              <a:buNone/>
              <a:tabLst/>
            </a:pPr>
            <a:endParaRPr kumimoji="1" lang="en-US" altLang="ja-JP" sz="600" b="0" i="0" u="none" strike="noStrike" cap="none" normalizeH="0" baseline="0" dirty="0">
              <a:ln>
                <a:noFill/>
              </a:ln>
              <a:solidFill>
                <a:schemeClr val="tx1"/>
              </a:solidFill>
              <a:effectLst/>
              <a:latin typeface="Arial" charset="0"/>
              <a:ea typeface="돋움" pitchFamily="50" charset="-127"/>
            </a:endParaRPr>
          </a:p>
          <a:p>
            <a:pPr marL="0" marR="0" indent="0" algn="l" defTabSz="914400" rtl="0" eaLnBrk="1" fontAlgn="base" latinLnBrk="0" hangingPunct="1">
              <a:lnSpc>
                <a:spcPct val="100000"/>
              </a:lnSpc>
              <a:spcBef>
                <a:spcPct val="0"/>
              </a:spcBef>
              <a:spcAft>
                <a:spcPct val="0"/>
              </a:spcAft>
              <a:buClrTx/>
              <a:buSzTx/>
              <a:buFontTx/>
              <a:buNone/>
              <a:tabLst/>
              <a:defRPr/>
            </a:pPr>
            <a:endParaRPr kumimoji="1" lang="en-US" altLang="ja-JP" sz="600" b="0" i="0" u="none" strike="noStrike" cap="none" normalizeH="0" baseline="0" dirty="0">
              <a:ln>
                <a:noFill/>
              </a:ln>
              <a:solidFill>
                <a:schemeClr val="tx1"/>
              </a:solidFill>
              <a:effectLst/>
              <a:latin typeface="Arial" charset="0"/>
              <a:ea typeface="돋움" pitchFamily="50" charset="-127"/>
            </a:endParaRPr>
          </a:p>
          <a:p>
            <a:pPr algn="l"/>
            <a:endParaRPr lang="en-US" altLang="ja-JP" sz="600" dirty="0"/>
          </a:p>
          <a:p>
            <a:endParaRPr kumimoji="1" lang="ja-JP" altLang="en-US" sz="600" dirty="0"/>
          </a:p>
        </p:txBody>
      </p:sp>
      <p:sp>
        <p:nvSpPr>
          <p:cNvPr id="4" name="Slide Number Placeholder 3"/>
          <p:cNvSpPr>
            <a:spLocks noGrp="1"/>
          </p:cNvSpPr>
          <p:nvPr>
            <p:ph type="sldNum" sz="quarter" idx="10"/>
          </p:nvPr>
        </p:nvSpPr>
        <p:spPr/>
        <p:txBody>
          <a:bodyPr/>
          <a:lstStyle/>
          <a:p>
            <a:pPr>
              <a:defRPr/>
            </a:pPr>
            <a:fld id="{97375BCD-8584-40B1-BC96-764EEABFA733}" type="slidenum">
              <a:rPr lang="ko-KR" altLang="en-US" smtClean="0"/>
              <a:pPr>
                <a:defRPr/>
              </a:pPr>
              <a:t>9</a:t>
            </a:fld>
            <a:endParaRPr lang="ko-KR" altLang="en-US" dirty="0"/>
          </a:p>
        </p:txBody>
      </p:sp>
    </p:spTree>
    <p:extLst>
      <p:ext uri="{BB962C8B-B14F-4D97-AF65-F5344CB8AC3E}">
        <p14:creationId xmlns:p14="http://schemas.microsoft.com/office/powerpoint/2010/main" val="419204424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92500"/>
          </a:bodyPr>
          <a:lstStyle/>
          <a:p>
            <a:r>
              <a:rPr lang="vi-VN" sz="1200" b="1" i="0" kern="1200" dirty="0">
                <a:solidFill>
                  <a:schemeClr val="tx1"/>
                </a:solidFill>
                <a:effectLst/>
                <a:latin typeface="+mn-lt"/>
                <a:ea typeface="+mn-ea"/>
                <a:cs typeface="+mn-cs"/>
              </a:rPr>
              <a:t>Mục đích.</a:t>
            </a:r>
            <a:r>
              <a:rPr lang="vi-VN" sz="1200" b="0" i="0" kern="1200" dirty="0">
                <a:solidFill>
                  <a:schemeClr val="tx1"/>
                </a:solidFill>
                <a:effectLst/>
                <a:latin typeface="+mn-lt"/>
                <a:ea typeface="+mn-ea"/>
                <a:cs typeface="+mn-cs"/>
              </a:rPr>
              <a:t> Đánh giá độ lặp lại của Station 2 trên nhiều mẫu khác nhau (Type 1 chỉ dùng một mẫu), để biết hệ thống đo có phân biệt được các mẫu hay không.</a:t>
            </a:r>
          </a:p>
          <a:p>
            <a:r>
              <a:rPr lang="vi-VN" sz="1200" b="1" i="0" kern="1200" dirty="0">
                <a:solidFill>
                  <a:schemeClr val="tx1"/>
                </a:solidFill>
                <a:effectLst/>
                <a:latin typeface="+mn-lt"/>
                <a:ea typeface="+mn-ea"/>
                <a:cs typeface="+mn-cs"/>
              </a:rPr>
              <a:t>Nội dung trên slide.</a:t>
            </a:r>
            <a:endParaRPr lang="vi-VN" sz="1200" b="0" i="0" kern="1200" dirty="0">
              <a:solidFill>
                <a:schemeClr val="tx1"/>
              </a:solidFill>
              <a:effectLst/>
              <a:latin typeface="+mn-lt"/>
              <a:ea typeface="+mn-ea"/>
              <a:cs typeface="+mn-cs"/>
            </a:endParaRPr>
          </a:p>
          <a:p>
            <a:r>
              <a:rPr lang="vi-VN" sz="1200" b="0" i="0" kern="1200" dirty="0">
                <a:solidFill>
                  <a:schemeClr val="tx1"/>
                </a:solidFill>
                <a:effectLst/>
                <a:latin typeface="+mn-lt"/>
                <a:ea typeface="+mn-ea"/>
                <a:cs typeface="+mn-cs"/>
              </a:rPr>
              <a:t>Vì trạm đo hoàn toàn tự động, không có ảnh hưởng của người vận hành, nên dùng Type 3 (Gage R&amp;R không có operator): 25 mẫu, mỗi mẫu đo 2 lần = 50 phép đo. Spec 800–2000.</a:t>
            </a:r>
          </a:p>
          <a:p>
            <a:r>
              <a:rPr lang="vi-VN" sz="1200" b="0" i="0" kern="1200" dirty="0">
                <a:solidFill>
                  <a:schemeClr val="tx1"/>
                </a:solidFill>
                <a:effectLst/>
                <a:latin typeface="+mn-lt"/>
                <a:ea typeface="+mn-ea"/>
                <a:cs typeface="+mn-cs"/>
              </a:rPr>
              <a:t>One-Way ANOVA: Part DF 24, SS 11944,0, MS 497,666, F 1,79498, p 0,077; Repeatability DF 25, SS 6931,4, MS 277,254; Total DF 49, SS 18875,3.</a:t>
            </a:r>
          </a:p>
          <a:p>
            <a:r>
              <a:rPr lang="vi-VN" sz="1200" b="0" i="0" kern="1200" dirty="0">
                <a:solidFill>
                  <a:schemeClr val="tx1"/>
                </a:solidFill>
                <a:effectLst/>
                <a:latin typeface="+mn-lt"/>
                <a:ea typeface="+mn-ea"/>
                <a:cs typeface="+mn-cs"/>
              </a:rPr>
              <a:t>Variance Components: Total Gage R&amp;R = Repeatability = 277,254 (71,56%); Part-to-Part 110,206 (28,44%); Total 387,460.</a:t>
            </a:r>
          </a:p>
          <a:p>
            <a:r>
              <a:rPr lang="vi-VN" sz="1200" b="0" i="0" kern="1200" dirty="0">
                <a:solidFill>
                  <a:schemeClr val="tx1"/>
                </a:solidFill>
                <a:effectLst/>
                <a:latin typeface="+mn-lt"/>
                <a:ea typeface="+mn-ea"/>
                <a:cs typeface="+mn-cs"/>
              </a:rPr>
              <a:t>Gage Evaluation: Gage R&amp;R SD 16,6510, Study Var 99,906, %SV 84,59, %Tolerance 8,33; Part-to-Part SD 10,4979, %SV 53,33, %Tol 5,25; Total SD 19,6840, Study Var 118,104, %Tol 9,84. Process tolerance = 1200. NDC = 1.</a:t>
            </a:r>
          </a:p>
          <a:p>
            <a:r>
              <a:rPr lang="vi-VN" sz="1200" b="0" i="0" kern="1200" dirty="0">
                <a:solidFill>
                  <a:schemeClr val="tx1"/>
                </a:solidFill>
                <a:effectLst/>
                <a:latin typeface="+mn-lt"/>
                <a:ea typeface="+mn-ea"/>
                <a:cs typeface="+mn-cs"/>
              </a:rPr>
              <a:t>Báo cáo ANOVA: Components of Variation, R Chart (UCL 38,0, R̄ 11,6), XBar Chart.</a:t>
            </a:r>
          </a:p>
          <a:p>
            <a:r>
              <a:rPr lang="vi-VN" sz="1200" b="0" i="0" kern="1200" dirty="0">
                <a:solidFill>
                  <a:schemeClr val="tx1"/>
                </a:solidFill>
                <a:effectLst/>
                <a:latin typeface="+mn-lt"/>
                <a:ea typeface="+mn-ea"/>
                <a:cs typeface="+mn-cs"/>
              </a:rPr>
              <a:t>Các gạch đầu dòng kết luận: %Contribution 71,56% lớn hơn 9% (tiêu chuẩn dưới 1%) nên NG; %Study Var 84,59% lớn hơn 10% nên NG; %Tolerance 8,33% nhỏ hơn 10% nên OK; NDC = 1 nhỏ hơn 5 nên NG. Kết luận: hệ thống KHÔNG đạt, cần cải tiến ngay.</a:t>
            </a:r>
            <a:endParaRPr lang="en-US" sz="1200" b="0" i="0" kern="1200" dirty="0">
              <a:solidFill>
                <a:schemeClr val="tx1"/>
              </a:solidFill>
              <a:effectLst/>
              <a:latin typeface="+mn-lt"/>
              <a:ea typeface="+mn-ea"/>
              <a:cs typeface="+mn-cs"/>
            </a:endParaRPr>
          </a:p>
          <a:p>
            <a:r>
              <a:rPr lang="en-US" sz="1200" b="1" i="0" kern="1200" dirty="0" err="1">
                <a:solidFill>
                  <a:schemeClr val="tx1"/>
                </a:solidFill>
                <a:effectLst/>
                <a:latin typeface="+mn-lt"/>
                <a:ea typeface="+mn-ea"/>
                <a:cs typeface="+mn-cs"/>
              </a:rPr>
              <a:t>Cách</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tính</a:t>
            </a:r>
            <a:r>
              <a:rPr lang="en-US" sz="1200" b="1" i="0" kern="1200" dirty="0">
                <a:solidFill>
                  <a:schemeClr val="tx1"/>
                </a:solidFill>
                <a:effectLst/>
                <a:latin typeface="+mn-lt"/>
                <a:ea typeface="+mn-ea"/>
                <a:cs typeface="+mn-cs"/>
              </a:rPr>
              <a:t>.</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SD Gage R&amp;R = √277,254 = 16,651. </a:t>
            </a:r>
            <a:r>
              <a:rPr lang="en-US" sz="1200" b="0" i="0" kern="1200" dirty="0" err="1">
                <a:solidFill>
                  <a:schemeClr val="tx1"/>
                </a:solidFill>
                <a:effectLst/>
                <a:latin typeface="+mn-lt"/>
                <a:ea typeface="+mn-ea"/>
                <a:cs typeface="+mn-cs"/>
              </a:rPr>
              <a:t>VarComp</a:t>
            </a:r>
            <a:r>
              <a:rPr lang="en-US" sz="1200" b="0" i="0" kern="1200" dirty="0">
                <a:solidFill>
                  <a:schemeClr val="tx1"/>
                </a:solidFill>
                <a:effectLst/>
                <a:latin typeface="+mn-lt"/>
                <a:ea typeface="+mn-ea"/>
                <a:cs typeface="+mn-cs"/>
              </a:rPr>
              <a:t> Part = (497,666 − 277,254) / 2 = 110,206; SD Part = 10,498. </a:t>
            </a:r>
            <a:r>
              <a:rPr lang="en-US" sz="1200" b="0" i="0" kern="1200" dirty="0" err="1">
                <a:solidFill>
                  <a:schemeClr val="tx1"/>
                </a:solidFill>
                <a:effectLst/>
                <a:latin typeface="+mn-lt"/>
                <a:ea typeface="+mn-ea"/>
                <a:cs typeface="+mn-cs"/>
              </a:rPr>
              <a:t>Tổng</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VarComp</a:t>
            </a:r>
            <a:r>
              <a:rPr lang="en-US" sz="1200" b="0" i="0" kern="1200" dirty="0">
                <a:solidFill>
                  <a:schemeClr val="tx1"/>
                </a:solidFill>
                <a:effectLst/>
                <a:latin typeface="+mn-lt"/>
                <a:ea typeface="+mn-ea"/>
                <a:cs typeface="+mn-cs"/>
              </a:rPr>
              <a:t> = 387,460.</a:t>
            </a:r>
          </a:p>
          <a:p>
            <a:r>
              <a:rPr lang="en-US" sz="1200" b="0" i="0" kern="1200" dirty="0">
                <a:solidFill>
                  <a:schemeClr val="tx1"/>
                </a:solidFill>
                <a:effectLst/>
                <a:latin typeface="+mn-lt"/>
                <a:ea typeface="+mn-ea"/>
                <a:cs typeface="+mn-cs"/>
              </a:rPr>
              <a:t>%Contribution = 277,254 / 387,460 = 71,56%. %SV = 16,651 / 19,684 = 84,59%. %Tolerance = 6 × 16,651 / 1200 = 8,33%.</a:t>
            </a:r>
          </a:p>
          <a:p>
            <a:r>
              <a:rPr lang="en-US" sz="1200" b="0" i="0" kern="1200" dirty="0">
                <a:solidFill>
                  <a:schemeClr val="tx1"/>
                </a:solidFill>
                <a:effectLst/>
                <a:latin typeface="+mn-lt"/>
                <a:ea typeface="+mn-ea"/>
                <a:cs typeface="+mn-cs"/>
              </a:rPr>
              <a:t>NDC = 1,41 × 10,498 / 16,651 = 0,89, Minitab </a:t>
            </a:r>
            <a:r>
              <a:rPr lang="en-US" sz="1200" b="0" i="0" kern="1200" dirty="0" err="1">
                <a:solidFill>
                  <a:schemeClr val="tx1"/>
                </a:solidFill>
                <a:effectLst/>
                <a:latin typeface="+mn-lt"/>
                <a:ea typeface="+mn-ea"/>
                <a:cs typeface="+mn-cs"/>
              </a:rPr>
              <a:t>báo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tối</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thiểu</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là</a:t>
            </a:r>
            <a:r>
              <a:rPr lang="en-US" sz="1200" b="0" i="0" kern="1200" dirty="0">
                <a:solidFill>
                  <a:schemeClr val="tx1"/>
                </a:solidFill>
                <a:effectLst/>
                <a:latin typeface="+mn-lt"/>
                <a:ea typeface="+mn-ea"/>
                <a:cs typeface="+mn-cs"/>
              </a:rPr>
              <a:t> 1.</a:t>
            </a:r>
          </a:p>
          <a:p>
            <a:r>
              <a:rPr lang="vi-VN" b="1" dirty="0"/>
              <a:t>Vì sao ngưỡng 10% và 30%:</a:t>
            </a:r>
            <a:r>
              <a:rPr lang="vi-VN" dirty="0"/>
              <a:t> dưới 10% tốt, 10–30% tạm chấp nhận, trên 30% không đạt (theo AIAG)</a:t>
            </a:r>
            <a:endParaRPr lang="en-US" sz="1200" b="0" i="0" kern="1200" dirty="0">
              <a:solidFill>
                <a:schemeClr val="tx1"/>
              </a:solidFill>
              <a:effectLst/>
              <a:latin typeface="+mn-lt"/>
              <a:ea typeface="+mn-ea"/>
              <a:cs typeface="+mn-cs"/>
            </a:endParaRPr>
          </a:p>
          <a:p>
            <a:r>
              <a:rPr lang="vi-VN" sz="1200" b="1" i="0" kern="1200" dirty="0">
                <a:solidFill>
                  <a:schemeClr val="tx1"/>
                </a:solidFill>
                <a:effectLst/>
                <a:latin typeface="+mn-lt"/>
                <a:ea typeface="+mn-ea"/>
                <a:cs typeface="+mn-cs"/>
              </a:rPr>
              <a:t>Cách hiểu.</a:t>
            </a:r>
            <a:endParaRPr lang="vi-VN" sz="1200" b="0" i="0" kern="1200" dirty="0">
              <a:solidFill>
                <a:schemeClr val="tx1"/>
              </a:solidFill>
              <a:effectLst/>
              <a:latin typeface="+mn-lt"/>
              <a:ea typeface="+mn-ea"/>
              <a:cs typeface="+mn-cs"/>
            </a:endParaRPr>
          </a:p>
          <a:p>
            <a:r>
              <a:rPr lang="vi-VN" sz="1200" b="0" i="0" kern="1200" dirty="0">
                <a:solidFill>
                  <a:schemeClr val="tx1"/>
                </a:solidFill>
                <a:effectLst/>
                <a:latin typeface="+mn-lt"/>
                <a:ea typeface="+mn-ea"/>
                <a:cs typeface="+mn-cs"/>
              </a:rPr>
              <a:t>Sai số đo (SD 16,65) lớn hơn nhiều so với độ khác nhau giữa các mẫu được chọn (SD 10,50), nên máy không phân biệt được mẫu này với mẫu khác. P của ANOVA là 0,077, lớn hơn 0,05, cũng nói điều đó.</a:t>
            </a:r>
          </a:p>
          <a:p>
            <a:r>
              <a:rPr lang="vi-VN" sz="1200" b="0" i="0" kern="1200" dirty="0">
                <a:solidFill>
                  <a:schemeClr val="tx1"/>
                </a:solidFill>
                <a:effectLst/>
                <a:latin typeface="+mn-lt"/>
                <a:ea typeface="+mn-ea"/>
                <a:cs typeface="+mn-cs"/>
              </a:rPr>
              <a:t>Vì sao %Tolerance vẫn OK? Vì %Tolerance chỉ so sai số với dải spec rộng 1200. Nhưng đây là máy dùng để phán OK/NG sát LSL, nên các chỉ số còn lại và kết quả Type 1 mới quyết định.</a:t>
            </a:r>
          </a:p>
          <a:p>
            <a:r>
              <a:rPr lang="vi-VN" sz="1200" b="0" i="0" kern="1200" dirty="0">
                <a:solidFill>
                  <a:schemeClr val="tx1"/>
                </a:solidFill>
                <a:effectLst/>
                <a:latin typeface="+mn-lt"/>
                <a:ea typeface="+mn-ea"/>
                <a:cs typeface="+mn-cs"/>
              </a:rPr>
              <a:t>Lưu ý: 25 mẫu được chọn trong khoảng hẹp (trung bình từng mẫu 783,5 đến 840,9) nên Part-to-Part nhỏ và %SV bị đẩy cao. Kết luận không đạt vẫn vững vì Type 1 cũng trượt và R chart có điểm bất thường.</a:t>
            </a:r>
          </a:p>
          <a:p>
            <a:r>
              <a:rPr lang="vi-VN" sz="1200" b="0" i="0" kern="1200" dirty="0">
                <a:solidFill>
                  <a:schemeClr val="tx1"/>
                </a:solidFill>
                <a:effectLst/>
                <a:latin typeface="+mn-lt"/>
                <a:ea typeface="+mn-ea"/>
                <a:cs typeface="+mn-cs"/>
              </a:rPr>
              <a:t>R chart: mẫu số 25 có hai lần đo 755,89 và 853,94 (chênh 98,05), vượt xa UCL = 38,04: bằng chứng thiết bị đo không ổn định.</a:t>
            </a:r>
          </a:p>
          <a:p>
            <a:endParaRPr lang="en-US" sz="1200" b="0" i="0" kern="1200" dirty="0">
              <a:solidFill>
                <a:schemeClr val="tx1"/>
              </a:solidFill>
              <a:effectLst/>
              <a:latin typeface="+mn-lt"/>
              <a:ea typeface="+mn-ea"/>
              <a:cs typeface="+mn-cs"/>
            </a:endParaRPr>
          </a:p>
          <a:p>
            <a:r>
              <a:rPr lang="vi-VN" sz="1200" b="1" i="0" kern="1200" dirty="0">
                <a:solidFill>
                  <a:schemeClr val="tx1"/>
                </a:solidFill>
                <a:effectLst/>
                <a:latin typeface="+mn-lt"/>
                <a:ea typeface="+mn-ea"/>
                <a:cs typeface="+mn-cs"/>
              </a:rPr>
              <a:t>Nên nói.</a:t>
            </a:r>
            <a:r>
              <a:rPr lang="vi-VN" sz="1200" b="0" i="0" kern="1200" dirty="0">
                <a:solidFill>
                  <a:schemeClr val="tx1"/>
                </a:solidFill>
                <a:effectLst/>
                <a:latin typeface="+mn-lt"/>
                <a:ea typeface="+mn-ea"/>
                <a:cs typeface="+mn-cs"/>
              </a:rPr>
              <a:t> Với 25 mẫu đo 2 lần, sai số lặp lại của Station 2 chiếm 71,56% tổng biến thiên, %Study Var 84,6%, NDC chỉ 1. Hệ thống đo không phân biệt được các mẫu nên không đạt, cần cải tiến.</a:t>
            </a:r>
          </a:p>
        </p:txBody>
      </p:sp>
      <p:sp>
        <p:nvSpPr>
          <p:cNvPr id="4" name="Slide Number Placeholder 3"/>
          <p:cNvSpPr>
            <a:spLocks noGrp="1"/>
          </p:cNvSpPr>
          <p:nvPr>
            <p:ph type="sldNum" sz="quarter" idx="10"/>
          </p:nvPr>
        </p:nvSpPr>
        <p:spPr/>
        <p:txBody>
          <a:bodyPr/>
          <a:lstStyle/>
          <a:p>
            <a:pPr>
              <a:defRPr/>
            </a:pPr>
            <a:fld id="{97375BCD-8584-40B1-BC96-764EEABFA733}" type="slidenum">
              <a:rPr lang="ko-KR" altLang="en-US" smtClean="0"/>
              <a:pPr>
                <a:defRPr/>
              </a:pPr>
              <a:t>10</a:t>
            </a:fld>
            <a:endParaRPr lang="ko-KR" altLang="en-US" dirty="0"/>
          </a:p>
        </p:txBody>
      </p:sp>
    </p:spTree>
    <p:extLst>
      <p:ext uri="{BB962C8B-B14F-4D97-AF65-F5344CB8AC3E}">
        <p14:creationId xmlns:p14="http://schemas.microsoft.com/office/powerpoint/2010/main" val="307085419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Tree>
    <p:extLst>
      <p:ext uri="{BB962C8B-B14F-4D97-AF65-F5344CB8AC3E}">
        <p14:creationId xmlns:p14="http://schemas.microsoft.com/office/powerpoint/2010/main" val="86370668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Tree>
    <p:extLst>
      <p:ext uri="{BB962C8B-B14F-4D97-AF65-F5344CB8AC3E}">
        <p14:creationId xmlns:p14="http://schemas.microsoft.com/office/powerpoint/2010/main" val="13255490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Tree>
    <p:extLst>
      <p:ext uri="{BB962C8B-B14F-4D97-AF65-F5344CB8AC3E}">
        <p14:creationId xmlns:p14="http://schemas.microsoft.com/office/powerpoint/2010/main" val="86474680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Tree>
    <p:extLst>
      <p:ext uri="{BB962C8B-B14F-4D97-AF65-F5344CB8AC3E}">
        <p14:creationId xmlns:p14="http://schemas.microsoft.com/office/powerpoint/2010/main" val="86474680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Tree>
    <p:extLst>
      <p:ext uri="{BB962C8B-B14F-4D97-AF65-F5344CB8AC3E}">
        <p14:creationId xmlns:p14="http://schemas.microsoft.com/office/powerpoint/2010/main" val="86474680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Tree>
    <p:extLst>
      <p:ext uri="{BB962C8B-B14F-4D97-AF65-F5344CB8AC3E}">
        <p14:creationId xmlns:p14="http://schemas.microsoft.com/office/powerpoint/2010/main" val="119021853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52500" y="685800"/>
            <a:ext cx="4953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3278F89C-25FB-47FE-9A04-A7BE919D4590}" type="slidenum">
              <a:rPr lang="en-US" smtClean="0"/>
              <a:pPr/>
              <a:t>17</a:t>
            </a:fld>
            <a:endParaRPr lang="en-US"/>
          </a:p>
        </p:txBody>
      </p:sp>
    </p:spTree>
    <p:extLst>
      <p:ext uri="{BB962C8B-B14F-4D97-AF65-F5344CB8AC3E}">
        <p14:creationId xmlns:p14="http://schemas.microsoft.com/office/powerpoint/2010/main" val="354110915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kumimoji="1" lang="ja-JP" altLang="en-US" sz="1000" dirty="0">
              <a:latin typeface="Arial Unicode MS" panose="020B0604020202020204" pitchFamily="34" charset="-128"/>
              <a:ea typeface="Arial Unicode MS" panose="020B0604020202020204" pitchFamily="34" charset="-128"/>
              <a:cs typeface="Arial Unicode MS" panose="020B0604020202020204" pitchFamily="34" charset="-128"/>
            </a:endParaRPr>
          </a:p>
        </p:txBody>
      </p:sp>
      <p:sp>
        <p:nvSpPr>
          <p:cNvPr id="4" name="Slide Number Placeholder 3"/>
          <p:cNvSpPr>
            <a:spLocks noGrp="1"/>
          </p:cNvSpPr>
          <p:nvPr>
            <p:ph type="sldNum" sz="quarter" idx="10"/>
          </p:nvPr>
        </p:nvSpPr>
        <p:spPr/>
        <p:txBody>
          <a:bodyPr/>
          <a:lstStyle/>
          <a:p>
            <a:pPr>
              <a:defRPr/>
            </a:pPr>
            <a:fld id="{97375BCD-8584-40B1-BC96-764EEABFA733}" type="slidenum">
              <a:rPr lang="ko-KR" altLang="en-US" smtClean="0"/>
              <a:pPr>
                <a:defRPr/>
              </a:pPr>
              <a:t>21</a:t>
            </a:fld>
            <a:endParaRPr lang="ko-KR" altLang="en-US" dirty="0"/>
          </a:p>
        </p:txBody>
      </p:sp>
    </p:spTree>
    <p:extLst>
      <p:ext uri="{BB962C8B-B14F-4D97-AF65-F5344CB8AC3E}">
        <p14:creationId xmlns:p14="http://schemas.microsoft.com/office/powerpoint/2010/main" val="122081903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600" b="0" i="0" u="none" strike="noStrike" cap="none" normalizeH="0" baseline="0" dirty="0">
                <a:ln>
                  <a:noFill/>
                </a:ln>
                <a:solidFill>
                  <a:schemeClr val="tx1"/>
                </a:solidFill>
                <a:effectLst/>
                <a:latin typeface="Arial" charset="0"/>
                <a:ea typeface="돋움" pitchFamily="50" charset="-127"/>
              </a:rPr>
              <a:t>Assess the variation of each source and of any additional factor that affects the measurement system.</a:t>
            </a:r>
          </a:p>
          <a:p>
            <a:pPr marL="0" marR="0" indent="0" defTabSz="914400" rtl="0" eaLnBrk="1" fontAlgn="base" latinLnBrk="0" hangingPunct="1">
              <a:lnSpc>
                <a:spcPct val="100000"/>
              </a:lnSpc>
              <a:spcBef>
                <a:spcPct val="0"/>
              </a:spcBef>
              <a:spcAft>
                <a:spcPct val="0"/>
              </a:spcAft>
              <a:buClrTx/>
              <a:buSzTx/>
              <a:buFontTx/>
              <a:buNone/>
              <a:tabLst/>
            </a:pPr>
            <a:r>
              <a:rPr kumimoji="1" lang="en-US" altLang="ja-JP" sz="600" b="0" i="0" u="none" strike="noStrike" cap="none" normalizeH="0" baseline="0" dirty="0">
                <a:ln>
                  <a:noFill/>
                </a:ln>
                <a:solidFill>
                  <a:schemeClr val="tx1"/>
                </a:solidFill>
                <a:effectLst/>
                <a:latin typeface="Arial" charset="0"/>
                <a:ea typeface="돋움" pitchFamily="50" charset="-127"/>
              </a:rPr>
              <a:t>H0 (ANOVA, part effect): all part means are equal</a:t>
            </a:r>
          </a:p>
          <a:p>
            <a:pPr marL="0" marR="0" indent="0" defTabSz="914400" rtl="0" eaLnBrk="1" fontAlgn="base" latinLnBrk="0" hangingPunct="1">
              <a:lnSpc>
                <a:spcPct val="100000"/>
              </a:lnSpc>
              <a:spcBef>
                <a:spcPct val="0"/>
              </a:spcBef>
              <a:spcAft>
                <a:spcPct val="0"/>
              </a:spcAft>
              <a:buClrTx/>
              <a:buSzTx/>
              <a:buFontTx/>
              <a:buNone/>
              <a:tabLst/>
            </a:pPr>
            <a:r>
              <a:rPr kumimoji="1" lang="en-US" altLang="ja-JP" sz="600" b="0" i="0" u="none" strike="noStrike" cap="none" normalizeH="0" baseline="0" dirty="0">
                <a:ln>
                  <a:noFill/>
                </a:ln>
                <a:solidFill>
                  <a:schemeClr val="tx1"/>
                </a:solidFill>
                <a:effectLst/>
                <a:latin typeface="Arial" charset="0"/>
                <a:ea typeface="돋움" pitchFamily="50" charset="-127"/>
              </a:rPr>
              <a:t>H1: at least one part mean is different</a:t>
            </a:r>
          </a:p>
          <a:p>
            <a:pPr marL="0" marR="0" lvl="0" indent="0" algn="l" defTabSz="914400" rtl="0" eaLnBrk="1" fontAlgn="base" latinLnBrk="0" hangingPunct="1">
              <a:lnSpc>
                <a:spcPct val="100000"/>
              </a:lnSpc>
              <a:spcBef>
                <a:spcPct val="0"/>
              </a:spcBef>
              <a:spcAft>
                <a:spcPct val="0"/>
              </a:spcAft>
              <a:buClrTx/>
              <a:buSzTx/>
              <a:buFontTx/>
              <a:buNone/>
              <a:tabLst/>
              <a:defRPr/>
            </a:pPr>
            <a:r>
              <a:rPr kumimoji="1" lang="en-US" altLang="ja-JP" sz="600" b="0" i="0" u="none" strike="noStrike" cap="none" normalizeH="0" baseline="0" dirty="0" err="1">
                <a:ln>
                  <a:noFill/>
                </a:ln>
                <a:solidFill>
                  <a:schemeClr val="tx1"/>
                </a:solidFill>
                <a:effectLst/>
                <a:latin typeface="Arial" charset="0"/>
                <a:ea typeface="돋움" pitchFamily="50" charset="-127"/>
              </a:rPr>
              <a:t>VarComp %Contribution: almost all of the variation comes from part-to-part, so the measurement system can reliably distinguish between parts</a:t>
            </a:r>
          </a:p>
          <a:p>
            <a:pPr marL="0" marR="0" lvl="0" indent="0" algn="l" defTabSz="914400" rtl="0" eaLnBrk="1" fontAlgn="base" latinLnBrk="0" hangingPunct="1">
              <a:lnSpc>
                <a:spcPct val="100000"/>
              </a:lnSpc>
              <a:spcBef>
                <a:spcPct val="0"/>
              </a:spcBef>
              <a:spcAft>
                <a:spcPct val="0"/>
              </a:spcAft>
              <a:buClrTx/>
              <a:buSzTx/>
              <a:buFontTx/>
              <a:buNone/>
              <a:tabLst/>
              <a:defRPr/>
            </a:pPr>
            <a:r>
              <a:rPr kumimoji="1" lang="en-US" altLang="ja-JP" sz="600" b="0" i="0" u="none" strike="noStrike" cap="none" normalizeH="0" baseline="0" dirty="0">
                <a:ln>
                  <a:noFill/>
                </a:ln>
                <a:solidFill>
                  <a:schemeClr val="tx1"/>
                </a:solidFill>
                <a:effectLst/>
                <a:latin typeface="Arial" charset="0"/>
                <a:ea typeface="돋움" pitchFamily="50" charset="-127"/>
              </a:rPr>
              <a:t>%Study var: </a:t>
            </a:r>
            <a:r>
              <a:rPr lang="en-US" sz="1200" b="0" i="0" kern="1200" dirty="0">
                <a:solidFill>
                  <a:schemeClr val="tx1"/>
                </a:solidFill>
                <a:effectLst/>
                <a:latin typeface="+mn-lt"/>
                <a:ea typeface="+mn-ea"/>
                <a:cs typeface="+mn-cs"/>
              </a:rPr>
              <a:t>compare the measurement system variation to the total variation</a:t>
            </a:r>
            <a:endParaRPr kumimoji="1" lang="en-US" altLang="ja-JP" sz="600" b="0" i="0" u="none" strike="noStrike" cap="none" normalizeH="0" baseline="0" dirty="0">
              <a:ln>
                <a:noFill/>
              </a:ln>
              <a:solidFill>
                <a:schemeClr val="tx1"/>
              </a:solidFill>
              <a:effectLst/>
              <a:latin typeface="Arial" charset="0"/>
              <a:ea typeface="돋움" pitchFamily="50" charset="-127"/>
            </a:endParaRPr>
          </a:p>
          <a:p>
            <a:pPr marL="0" marR="0" indent="0" defTabSz="914400" rtl="0" eaLnBrk="1" fontAlgn="base" latinLnBrk="0" hangingPunct="1">
              <a:lnSpc>
                <a:spcPct val="100000"/>
              </a:lnSpc>
              <a:spcBef>
                <a:spcPct val="0"/>
              </a:spcBef>
              <a:spcAft>
                <a:spcPct val="0"/>
              </a:spcAft>
              <a:buClrTx/>
              <a:buSzTx/>
              <a:buFontTx/>
              <a:buNone/>
              <a:tabLst/>
            </a:pPr>
            <a:r>
              <a:rPr kumimoji="1" lang="en-US" altLang="ja-JP" sz="600" b="0" i="0" u="none" strike="noStrike" cap="none" normalizeH="0" baseline="0" dirty="0">
                <a:ln>
                  <a:noFill/>
                </a:ln>
                <a:solidFill>
                  <a:schemeClr val="tx1"/>
                </a:solidFill>
                <a:effectLst/>
                <a:latin typeface="Arial" charset="0"/>
                <a:ea typeface="돋움" pitchFamily="50" charset="-127"/>
              </a:rPr>
              <a:t>Follow AIAG guidelines: if %Study Var and %Tolerance are below 10% (and %Contribution below 1%), the measurement system is acceptable. Here all three are below the limits and NDC ≥ 5, so the measurement system is Good.</a:t>
            </a:r>
          </a:p>
          <a:p>
            <a:pPr algn="l"/>
            <a:endParaRPr lang="en-US" altLang="ja-JP" sz="600" dirty="0"/>
          </a:p>
          <a:p>
            <a:endParaRPr kumimoji="1" lang="ja-JP" altLang="en-US" sz="600" dirty="0"/>
          </a:p>
        </p:txBody>
      </p:sp>
      <p:sp>
        <p:nvSpPr>
          <p:cNvPr id="4" name="Slide Number Placeholder 3"/>
          <p:cNvSpPr>
            <a:spLocks noGrp="1"/>
          </p:cNvSpPr>
          <p:nvPr>
            <p:ph type="sldNum" sz="quarter" idx="10"/>
          </p:nvPr>
        </p:nvSpPr>
        <p:spPr/>
        <p:txBody>
          <a:bodyPr/>
          <a:lstStyle/>
          <a:p>
            <a:pPr>
              <a:defRPr/>
            </a:pPr>
            <a:fld id="{97375BCD-8584-40B1-BC96-764EEABFA733}" type="slidenum">
              <a:rPr lang="ko-KR" altLang="en-US" smtClean="0"/>
              <a:pPr>
                <a:defRPr/>
              </a:pPr>
              <a:t>22</a:t>
            </a:fld>
            <a:endParaRPr lang="ko-KR" altLang="en-US" dirty="0"/>
          </a:p>
        </p:txBody>
      </p:sp>
    </p:spTree>
    <p:extLst>
      <p:ext uri="{BB962C8B-B14F-4D97-AF65-F5344CB8AC3E}">
        <p14:creationId xmlns:p14="http://schemas.microsoft.com/office/powerpoint/2010/main" val="419204424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600" b="0" i="0" u="none" strike="noStrike" cap="none" normalizeH="0" baseline="0" dirty="0">
                <a:ln>
                  <a:noFill/>
                </a:ln>
                <a:solidFill>
                  <a:schemeClr val="tx1"/>
                </a:solidFill>
                <a:effectLst/>
                <a:latin typeface="Arial" charset="0"/>
                <a:ea typeface="돋움" pitchFamily="50" charset="-127"/>
              </a:rPr>
              <a:t>Assess the variation of each source and of any additional factor that affects the measurement system.</a:t>
            </a:r>
          </a:p>
          <a:p>
            <a:pPr marL="0" marR="0" indent="0" defTabSz="914400" rtl="0" eaLnBrk="1" fontAlgn="base" latinLnBrk="0" hangingPunct="1">
              <a:lnSpc>
                <a:spcPct val="100000"/>
              </a:lnSpc>
              <a:spcBef>
                <a:spcPct val="0"/>
              </a:spcBef>
              <a:spcAft>
                <a:spcPct val="0"/>
              </a:spcAft>
              <a:buClrTx/>
              <a:buSzTx/>
              <a:buFontTx/>
              <a:buNone/>
              <a:tabLst/>
            </a:pPr>
            <a:r>
              <a:rPr kumimoji="1" lang="en-US" altLang="ja-JP" sz="600" b="0" i="0" u="none" strike="noStrike" cap="none" normalizeH="0" baseline="0" dirty="0">
                <a:ln>
                  <a:noFill/>
                </a:ln>
                <a:solidFill>
                  <a:schemeClr val="tx1"/>
                </a:solidFill>
                <a:effectLst/>
                <a:latin typeface="Arial" charset="0"/>
                <a:ea typeface="돋움" pitchFamily="50" charset="-127"/>
              </a:rPr>
              <a:t>H0 (ANOVA, part effect): all part means are equal</a:t>
            </a:r>
          </a:p>
          <a:p>
            <a:pPr marL="0" marR="0" indent="0" defTabSz="914400" rtl="0" eaLnBrk="1" fontAlgn="base" latinLnBrk="0" hangingPunct="1">
              <a:lnSpc>
                <a:spcPct val="100000"/>
              </a:lnSpc>
              <a:spcBef>
                <a:spcPct val="0"/>
              </a:spcBef>
              <a:spcAft>
                <a:spcPct val="0"/>
              </a:spcAft>
              <a:buClrTx/>
              <a:buSzTx/>
              <a:buFontTx/>
              <a:buNone/>
              <a:tabLst/>
            </a:pPr>
            <a:r>
              <a:rPr kumimoji="1" lang="en-US" altLang="ja-JP" sz="600" b="0" i="0" u="none" strike="noStrike" cap="none" normalizeH="0" baseline="0" dirty="0">
                <a:ln>
                  <a:noFill/>
                </a:ln>
                <a:solidFill>
                  <a:schemeClr val="tx1"/>
                </a:solidFill>
                <a:effectLst/>
                <a:latin typeface="Arial" charset="0"/>
                <a:ea typeface="돋움" pitchFamily="50" charset="-127"/>
              </a:rPr>
              <a:t>H1: at least one part mean is different</a:t>
            </a:r>
          </a:p>
          <a:p>
            <a:pPr marL="0" marR="0" lvl="0" indent="0" algn="l" defTabSz="914400" rtl="0" eaLnBrk="1" fontAlgn="base" latinLnBrk="0" hangingPunct="1">
              <a:lnSpc>
                <a:spcPct val="100000"/>
              </a:lnSpc>
              <a:spcBef>
                <a:spcPct val="0"/>
              </a:spcBef>
              <a:spcAft>
                <a:spcPct val="0"/>
              </a:spcAft>
              <a:buClrTx/>
              <a:buSzTx/>
              <a:buFontTx/>
              <a:buNone/>
              <a:tabLst/>
              <a:defRPr/>
            </a:pPr>
            <a:r>
              <a:rPr kumimoji="1" lang="en-US" altLang="ja-JP" sz="600" b="0" i="0" u="none" strike="noStrike" cap="none" normalizeH="0" baseline="0" dirty="0" err="1">
                <a:ln>
                  <a:noFill/>
                </a:ln>
                <a:solidFill>
                  <a:schemeClr val="tx1"/>
                </a:solidFill>
                <a:effectLst/>
                <a:latin typeface="Arial" charset="0"/>
                <a:ea typeface="돋움" pitchFamily="50" charset="-127"/>
              </a:rPr>
              <a:t>VarComp %Contribution: almost all of the variation comes from part-to-part, so the measurement system can reliably distinguish between parts</a:t>
            </a:r>
          </a:p>
          <a:p>
            <a:pPr marL="0" marR="0" lvl="0" indent="0" algn="l" defTabSz="914400" rtl="0" eaLnBrk="1" fontAlgn="base" latinLnBrk="0" hangingPunct="1">
              <a:lnSpc>
                <a:spcPct val="100000"/>
              </a:lnSpc>
              <a:spcBef>
                <a:spcPct val="0"/>
              </a:spcBef>
              <a:spcAft>
                <a:spcPct val="0"/>
              </a:spcAft>
              <a:buClrTx/>
              <a:buSzTx/>
              <a:buFontTx/>
              <a:buNone/>
              <a:tabLst/>
              <a:defRPr/>
            </a:pPr>
            <a:r>
              <a:rPr kumimoji="1" lang="en-US" altLang="ja-JP" sz="600" b="0" i="0" u="none" strike="noStrike" cap="none" normalizeH="0" baseline="0" dirty="0">
                <a:ln>
                  <a:noFill/>
                </a:ln>
                <a:solidFill>
                  <a:schemeClr val="tx1"/>
                </a:solidFill>
                <a:effectLst/>
                <a:latin typeface="Arial" charset="0"/>
                <a:ea typeface="돋움" pitchFamily="50" charset="-127"/>
              </a:rPr>
              <a:t>%Study var: </a:t>
            </a:r>
            <a:r>
              <a:rPr lang="en-US" sz="1200" b="0" i="0" kern="1200" dirty="0">
                <a:solidFill>
                  <a:schemeClr val="tx1"/>
                </a:solidFill>
                <a:effectLst/>
                <a:latin typeface="+mn-lt"/>
                <a:ea typeface="+mn-ea"/>
                <a:cs typeface="+mn-cs"/>
              </a:rPr>
              <a:t>compare the measurement system variation to the total variation</a:t>
            </a:r>
            <a:endParaRPr kumimoji="1" lang="en-US" altLang="ja-JP" sz="600" b="0" i="0" u="none" strike="noStrike" cap="none" normalizeH="0" baseline="0" dirty="0">
              <a:ln>
                <a:noFill/>
              </a:ln>
              <a:solidFill>
                <a:schemeClr val="tx1"/>
              </a:solidFill>
              <a:effectLst/>
              <a:latin typeface="Arial" charset="0"/>
              <a:ea typeface="돋움" pitchFamily="50" charset="-127"/>
            </a:endParaRPr>
          </a:p>
          <a:p>
            <a:pPr marL="0" marR="0" indent="0" defTabSz="914400" rtl="0" eaLnBrk="1" fontAlgn="base" latinLnBrk="0" hangingPunct="1">
              <a:lnSpc>
                <a:spcPct val="100000"/>
              </a:lnSpc>
              <a:spcBef>
                <a:spcPct val="0"/>
              </a:spcBef>
              <a:spcAft>
                <a:spcPct val="0"/>
              </a:spcAft>
              <a:buClrTx/>
              <a:buSzTx/>
              <a:buFontTx/>
              <a:buNone/>
              <a:tabLst/>
            </a:pPr>
            <a:r>
              <a:rPr kumimoji="1" lang="en-US" altLang="ja-JP" sz="600" b="0" i="0" u="none" strike="noStrike" cap="none" normalizeH="0" baseline="0" dirty="0">
                <a:ln>
                  <a:noFill/>
                </a:ln>
                <a:solidFill>
                  <a:schemeClr val="tx1"/>
                </a:solidFill>
                <a:effectLst/>
                <a:latin typeface="Arial" charset="0"/>
                <a:ea typeface="돋움" pitchFamily="50" charset="-127"/>
              </a:rPr>
              <a:t>Follow AIAG guidelines: if %Study Var and %Tolerance are below 10% (and %Contribution below 1%), the measurement system is acceptable. Here all three are below the limits and NDC ≥ 5, so the measurement system is Good.</a:t>
            </a:r>
          </a:p>
        </p:txBody>
      </p:sp>
      <p:sp>
        <p:nvSpPr>
          <p:cNvPr id="4" name="Footer Placeholder 3"/>
          <p:cNvSpPr>
            <a:spLocks noGrp="1"/>
          </p:cNvSpPr>
          <p:nvPr>
            <p:ph type="ftr" sz="quarter" idx="4"/>
          </p:nvPr>
        </p:nvSpPr>
        <p:spPr/>
        <p:txBody>
          <a:bodyPr/>
          <a:lstStyle/>
          <a:p>
            <a:pPr>
              <a:defRPr/>
            </a:pPr>
            <a:r>
              <a:rPr lang="en-US" altLang="ko-KR"/>
              <a:t>1</a:t>
            </a:r>
            <a:endParaRPr lang="ko-KR" altLang="en-US" dirty="0"/>
          </a:p>
        </p:txBody>
      </p:sp>
      <p:sp>
        <p:nvSpPr>
          <p:cNvPr id="5" name="Slide Number Placeholder 4"/>
          <p:cNvSpPr>
            <a:spLocks noGrp="1"/>
          </p:cNvSpPr>
          <p:nvPr>
            <p:ph type="sldNum" sz="quarter" idx="5"/>
          </p:nvPr>
        </p:nvSpPr>
        <p:spPr/>
        <p:txBody>
          <a:bodyPr/>
          <a:lstStyle/>
          <a:p>
            <a:pPr>
              <a:defRPr/>
            </a:pPr>
            <a:fld id="{97375BCD-8584-40B1-BC96-764EEABFA733}" type="slidenum">
              <a:rPr lang="ko-KR" altLang="en-US" smtClean="0"/>
              <a:pPr>
                <a:defRPr/>
              </a:pPr>
              <a:t>23</a:t>
            </a:fld>
            <a:endParaRPr lang="ko-KR" altLang="en-US" dirty="0"/>
          </a:p>
        </p:txBody>
      </p:sp>
    </p:spTree>
    <p:extLst>
      <p:ext uri="{BB962C8B-B14F-4D97-AF65-F5344CB8AC3E}">
        <p14:creationId xmlns:p14="http://schemas.microsoft.com/office/powerpoint/2010/main" val="399372971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kumimoji="1" lang="en-US" altLang="ja-JP" dirty="0"/>
                  <a:t>Examine the R chart to determine whether the process variation is in control</a:t>
                </a:r>
              </a:p>
              <a:p>
                <a:r>
                  <a:rPr kumimoji="1" lang="en-US" altLang="ja-JP" dirty="0"/>
                  <a:t>Examine the Xbar chart to determine whether the process mean is in control</a:t>
                </a:r>
              </a:p>
            </p:txBody>
          </p:sp>
        </mc:Choice>
        <mc:Fallback xmlns="">
          <p:sp>
            <p:nvSpPr>
              <p:cNvPr id="3" name="Notes Placeholder 2"/>
              <p:cNvSpPr>
                <a:spLocks noGrp="1"/>
              </p:cNvSpPr>
              <p:nvPr>
                <p:ph type="body" idx="1"/>
              </p:nvPr>
            </p:nvSpPr>
            <p:spPr/>
            <p:txBody>
              <a:bodyPr/>
              <a:lstStyle/>
              <a:p>
                <a:pPr marL="0" marR="0" indent="0" algn="l" defTabSz="914400" rtl="0" eaLnBrk="1" fontAlgn="base" latinLnBrk="0" hangingPunct="1">
                  <a:lnSpc>
                    <a:spcPct val="100000"/>
                  </a:lnSpc>
                  <a:spcBef>
                    <a:spcPct val="0"/>
                  </a:spcBef>
                  <a:spcAft>
                    <a:spcPct val="0"/>
                  </a:spcAft>
                  <a:buClrTx/>
                  <a:buSzTx/>
                  <a:buFontTx/>
                  <a:buNone/>
                  <a:tabLst/>
                </a:pPr>
                <a:r>
                  <a:rPr kumimoji="1" lang="en-US" altLang="ja-JP" sz="1200" b="0" i="0" u="none" strike="noStrike" cap="none" normalizeH="0" baseline="0" dirty="0" smtClean="0">
                    <a:ln>
                      <a:noFill/>
                    </a:ln>
                    <a:solidFill>
                      <a:schemeClr val="tx1"/>
                    </a:solidFill>
                    <a:effectLst/>
                    <a:latin typeface="Arial" charset="0"/>
                    <a:ea typeface="돋움" pitchFamily="50" charset="-127"/>
                  </a:rPr>
                  <a:t>1. How</a:t>
                </a:r>
                <a:r>
                  <a:rPr kumimoji="1" lang="en-US" altLang="ja-JP" sz="1200" b="0" i="0" u="none" strike="noStrike" cap="none" normalizeH="0" dirty="0" smtClean="0">
                    <a:ln>
                      <a:noFill/>
                    </a:ln>
                    <a:solidFill>
                      <a:schemeClr val="tx1"/>
                    </a:solidFill>
                    <a:effectLst/>
                    <a:latin typeface="Arial" charset="0"/>
                    <a:ea typeface="돋움" pitchFamily="50" charset="-127"/>
                  </a:rPr>
                  <a:t> to </a:t>
                </a:r>
                <a:r>
                  <a:rPr kumimoji="1" lang="en-US" altLang="ja-JP" sz="1200" b="1" i="0" u="none" strike="noStrike" cap="none" normalizeH="0" dirty="0" smtClean="0">
                    <a:ln>
                      <a:noFill/>
                    </a:ln>
                    <a:solidFill>
                      <a:schemeClr val="tx1"/>
                    </a:solidFill>
                    <a:effectLst/>
                    <a:latin typeface="Arial" charset="0"/>
                    <a:ea typeface="돋움" pitchFamily="50" charset="-127"/>
                  </a:rPr>
                  <a:t>select sample for Process Capability</a:t>
                </a:r>
                <a:r>
                  <a:rPr kumimoji="1" lang="en-US" altLang="ja-JP" sz="1200" b="0" i="0" u="none" strike="noStrike" cap="none" normalizeH="0" dirty="0" smtClean="0">
                    <a:ln>
                      <a:noFill/>
                    </a:ln>
                    <a:solidFill>
                      <a:schemeClr val="tx1"/>
                    </a:solidFill>
                    <a:effectLst/>
                    <a:latin typeface="Arial" charset="0"/>
                    <a:ea typeface="돋움" pitchFamily="50" charset="-127"/>
                  </a:rPr>
                  <a:t>?</a:t>
                </a:r>
                <a:r>
                  <a:rPr kumimoji="1" lang="en-US" altLang="ja-JP" sz="1200" b="0" i="0" u="none" strike="noStrike" cap="none" normalizeH="0" baseline="0" dirty="0" smtClean="0">
                    <a:ln>
                      <a:noFill/>
                    </a:ln>
                    <a:solidFill>
                      <a:schemeClr val="tx1"/>
                    </a:solidFill>
                    <a:effectLst/>
                    <a:latin typeface="Arial" charset="0"/>
                    <a:ea typeface="돋움" pitchFamily="50" charset="-127"/>
                  </a:rPr>
                  <a:t> </a:t>
                </a:r>
                <a:r>
                  <a:rPr kumimoji="1" lang="en-US" altLang="ja-JP" sz="1200" b="0" i="0" u="none" strike="noStrike" cap="none" normalizeH="0" baseline="0" smtClean="0">
                    <a:ln>
                      <a:noFill/>
                    </a:ln>
                    <a:solidFill>
                      <a:schemeClr val="tx1"/>
                    </a:solidFill>
                    <a:effectLst/>
                    <a:latin typeface="Cambria Math" panose="02040503050406030204" pitchFamily="18" charset="0"/>
                    <a:ea typeface="Cambria Math" panose="02040503050406030204" pitchFamily="18" charset="0"/>
                  </a:rPr>
                  <a:t>→</a:t>
                </a:r>
                <a:r>
                  <a:rPr lang="en-US" altLang="ja-JP" sz="1200" dirty="0" smtClean="0">
                    <a:latin typeface="Arial" charset="0"/>
                    <a:ea typeface="돋움" pitchFamily="50" charset="-127"/>
                  </a:rPr>
                  <a:t>Select by </a:t>
                </a:r>
                <a:r>
                  <a:rPr lang="en-US" altLang="ja-JP" sz="1200" b="1" dirty="0" smtClean="0">
                    <a:latin typeface="Arial" charset="0"/>
                    <a:ea typeface="돋움" pitchFamily="50" charset="-127"/>
                  </a:rPr>
                  <a:t>Rational subgroup</a:t>
                </a:r>
              </a:p>
              <a:p>
                <a:pPr marR="0" algn="l" defTabSz="914400" rtl="0" eaLnBrk="1" fontAlgn="base" latinLnBrk="0" hangingPunct="1">
                  <a:lnSpc>
                    <a:spcPct val="100000"/>
                  </a:lnSpc>
                  <a:spcBef>
                    <a:spcPct val="0"/>
                  </a:spcBef>
                  <a:spcAft>
                    <a:spcPct val="0"/>
                  </a:spcAft>
                  <a:buClrTx/>
                  <a:buSzTx/>
                  <a:tabLst/>
                </a:pPr>
                <a:r>
                  <a:rPr lang="en-US" altLang="ja-JP" sz="1200" dirty="0" smtClean="0">
                    <a:latin typeface="Arial" charset="0"/>
                    <a:ea typeface="돋움" pitchFamily="50" charset="-127"/>
                  </a:rPr>
                  <a:t> – </a:t>
                </a:r>
                <a:r>
                  <a:rPr lang="en-US" altLang="ja-JP" sz="1200" dirty="0" err="1" smtClean="0">
                    <a:latin typeface="Arial" charset="0"/>
                    <a:ea typeface="돋움" pitchFamily="50" charset="-127"/>
                  </a:rPr>
                  <a:t>Lấy</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theo</a:t>
                </a:r>
                <a:r>
                  <a:rPr lang="en-US" altLang="ja-JP" sz="1200" dirty="0" smtClean="0">
                    <a:latin typeface="Arial" charset="0"/>
                    <a:ea typeface="돋움" pitchFamily="50" charset="-127"/>
                  </a:rPr>
                  <a:t> lot, n con </a:t>
                </a:r>
                <a:r>
                  <a:rPr lang="en-US" altLang="ja-JP" sz="1200" dirty="0" err="1" smtClean="0">
                    <a:latin typeface="Arial" charset="0"/>
                    <a:ea typeface="돋움" pitchFamily="50" charset="-127"/>
                  </a:rPr>
                  <a:t>liền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nhau</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của</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mỗi</a:t>
                </a:r>
                <a:r>
                  <a:rPr lang="en-US" altLang="ja-JP" sz="1200" dirty="0" smtClean="0">
                    <a:latin typeface="Arial" charset="0"/>
                    <a:ea typeface="돋움" pitchFamily="50" charset="-127"/>
                  </a:rPr>
                  <a:t> lot (n&lt;=5), </a:t>
                </a:r>
                <a:r>
                  <a:rPr lang="en-US" altLang="ja-JP" sz="1200" dirty="0" err="1" smtClean="0">
                    <a:latin typeface="Arial" charset="0"/>
                    <a:ea typeface="돋움" pitchFamily="50" charset="-127"/>
                  </a:rPr>
                  <a:t>tại</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các</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khoảng</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thời</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gian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cố</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định</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Vd</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cách</a:t>
                </a:r>
                <a:r>
                  <a:rPr lang="en-US" altLang="ja-JP" sz="1200" dirty="0" smtClean="0">
                    <a:latin typeface="Arial" charset="0"/>
                    <a:ea typeface="돋움" pitchFamily="50" charset="-127"/>
                  </a:rPr>
                  <a:t> 2 </a:t>
                </a:r>
                <a:r>
                  <a:rPr lang="en-US" altLang="ja-JP" sz="1200" dirty="0" err="1" smtClean="0">
                    <a:latin typeface="Arial" charset="0"/>
                    <a:ea typeface="돋움" pitchFamily="50" charset="-127"/>
                  </a:rPr>
                  <a:t>tiếng</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một</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lần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trong</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nhiều</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ngày</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liên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tiếp</a:t>
                </a:r>
                <a:endParaRPr lang="en-US" altLang="ja-JP" sz="1200" dirty="0" smtClean="0">
                  <a:latin typeface="Arial" charset="0"/>
                  <a:ea typeface="돋움" pitchFamily="50" charset="-127"/>
                </a:endParaRPr>
              </a:p>
              <a:p>
                <a:pPr marR="0" algn="l" defTabSz="914400" rtl="0" eaLnBrk="1" fontAlgn="base" latinLnBrk="0" hangingPunct="1">
                  <a:lnSpc>
                    <a:spcPct val="100000"/>
                  </a:lnSpc>
                  <a:spcBef>
                    <a:spcPct val="0"/>
                  </a:spcBef>
                  <a:spcAft>
                    <a:spcPct val="0"/>
                  </a:spcAft>
                  <a:buClrTx/>
                  <a:buSzTx/>
                  <a:tabLst/>
                </a:pPr>
                <a:r>
                  <a:rPr kumimoji="1" lang="en-US" altLang="ja-JP" sz="1200" b="0" i="0" u="none" strike="noStrike" cap="none" normalizeH="0" dirty="0" err="1" smtClean="0">
                    <a:ln>
                      <a:noFill/>
                    </a:ln>
                    <a:solidFill>
                      <a:schemeClr val="tx1"/>
                    </a:solidFill>
                    <a:effectLst/>
                    <a:latin typeface="Arial" charset="0"/>
                    <a:ea typeface="돋움" pitchFamily="50" charset="-127"/>
                  </a:rPr>
                  <a:t>Mục</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đích</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để</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đảm</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bảo</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điều</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kiện</a:t>
                </a:r>
                <a:r>
                  <a:rPr kumimoji="1" lang="en-US" altLang="ja-JP" sz="1200" b="0" i="0" u="none" strike="noStrike" cap="none" normalizeH="0" dirty="0" smtClean="0">
                    <a:ln>
                      <a:noFill/>
                    </a:ln>
                    <a:solidFill>
                      <a:schemeClr val="tx1"/>
                    </a:solidFill>
                    <a:effectLst/>
                    <a:latin typeface="Arial" charset="0"/>
                    <a:ea typeface="돋움" pitchFamily="50" charset="-127"/>
                  </a:rPr>
                  <a:t> </a:t>
                </a:r>
              </a:p>
              <a:p>
                <a:pPr marR="0" algn="l" defTabSz="914400" rtl="0" eaLnBrk="1" fontAlgn="base" latinLnBrk="0" hangingPunct="1">
                  <a:lnSpc>
                    <a:spcPct val="100000"/>
                  </a:lnSpc>
                  <a:spcBef>
                    <a:spcPct val="0"/>
                  </a:spcBef>
                  <a:spcAft>
                    <a:spcPct val="0"/>
                  </a:spcAft>
                  <a:buClrTx/>
                  <a:buSzTx/>
                  <a:tabLst/>
                </a:pPr>
                <a:r>
                  <a:rPr kumimoji="1" lang="en-US" altLang="ja-JP" sz="1200" b="0" i="0" u="none" strike="noStrike" cap="none" normalizeH="0" dirty="0" err="1" smtClean="0">
                    <a:ln>
                      <a:noFill/>
                    </a:ln>
                    <a:solidFill>
                      <a:schemeClr val="tx1"/>
                    </a:solidFill>
                    <a:effectLst/>
                    <a:latin typeface="Arial" charset="0"/>
                    <a:ea typeface="돋움" pitchFamily="50" charset="-127"/>
                  </a:rPr>
                  <a:t>của những sample được lấy là giống hệt nhau, chỉ tồn tại chance cause (nguyên nhân ngẫu nhiên) trong mỗi nhóm.</a:t>
                </a:r>
              </a:p>
              <a:p>
                <a:pPr marR="0" algn="l" defTabSz="914400" rtl="0" eaLnBrk="1" fontAlgn="base" latinLnBrk="0" hangingPunct="1">
                  <a:lnSpc>
                    <a:spcPct val="100000"/>
                  </a:lnSpc>
                  <a:spcBef>
                    <a:spcPct val="0"/>
                  </a:spcBef>
                  <a:spcAft>
                    <a:spcPct val="0"/>
                  </a:spcAft>
                  <a:buClrTx/>
                  <a:buSzTx/>
                  <a:tabLst/>
                </a:pPr>
                <a:r>
                  <a:rPr lang="en-US" altLang="ja-JP" sz="1200" dirty="0" err="1" smtClean="0">
                    <a:latin typeface="Arial" charset="0"/>
                    <a:ea typeface="돋움" pitchFamily="50" charset="-127"/>
                  </a:rPr>
                  <a:t>Tại</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sao</a:t>
                </a:r>
                <a:r>
                  <a:rPr lang="en-US" altLang="ja-JP" sz="1200" dirty="0" smtClean="0">
                    <a:latin typeface="Arial" charset="0"/>
                    <a:ea typeface="돋움" pitchFamily="50" charset="-127"/>
                  </a:rPr>
                  <a:t> n &lt;= 5? </a:t>
                </a:r>
                <a:r>
                  <a:rPr lang="en-US" altLang="ja-JP" sz="1200" dirty="0" err="1" smtClean="0">
                    <a:latin typeface="Arial" charset="0"/>
                    <a:ea typeface="돋움" pitchFamily="50" charset="-127"/>
                  </a:rPr>
                  <a:t>Vì</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từ</a:t>
                </a:r>
                <a:r>
                  <a:rPr lang="en-US" altLang="ja-JP" sz="1200" dirty="0" smtClean="0">
                    <a:latin typeface="Arial" charset="0"/>
                    <a:ea typeface="돋움" pitchFamily="50" charset="-127"/>
                  </a:rPr>
                  <a:t> con </a:t>
                </a:r>
                <a:r>
                  <a:rPr lang="en-US" altLang="ja-JP" sz="1200" dirty="0" err="1" smtClean="0">
                    <a:latin typeface="Arial" charset="0"/>
                    <a:ea typeface="돋움" pitchFamily="50" charset="-127"/>
                  </a:rPr>
                  <a:t>thứ</a:t>
                </a:r>
                <a:r>
                  <a:rPr lang="en-US" altLang="ja-JP" sz="1200" dirty="0" smtClean="0">
                    <a:latin typeface="Arial" charset="0"/>
                    <a:ea typeface="돋움" pitchFamily="50" charset="-127"/>
                  </a:rPr>
                  <a:t> 6 </a:t>
                </a:r>
                <a:r>
                  <a:rPr lang="en-US" altLang="ja-JP" sz="1200" dirty="0" err="1" smtClean="0">
                    <a:latin typeface="Arial" charset="0"/>
                    <a:ea typeface="돋움" pitchFamily="50" charset="-127"/>
                  </a:rPr>
                  <a:t>trở</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đi</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không</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đảm</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bảo</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điều</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kiện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giống</a:t>
                </a:r>
                <a:r>
                  <a:rPr lang="en-US" altLang="ja-JP" sz="1200" dirty="0" smtClean="0">
                    <a:latin typeface="Arial" charset="0"/>
                    <a:ea typeface="돋움" pitchFamily="50" charset="-127"/>
                  </a:rPr>
                  <a:t> </a:t>
                </a:r>
              </a:p>
              <a:p>
                <a:pPr marR="0" algn="l" defTabSz="914400" rtl="0" eaLnBrk="1" fontAlgn="base" latinLnBrk="0" hangingPunct="1">
                  <a:lnSpc>
                    <a:spcPct val="100000"/>
                  </a:lnSpc>
                  <a:spcBef>
                    <a:spcPct val="0"/>
                  </a:spcBef>
                  <a:spcAft>
                    <a:spcPct val="0"/>
                  </a:spcAft>
                  <a:buClrTx/>
                  <a:buSzTx/>
                  <a:tabLst/>
                </a:pPr>
                <a:r>
                  <a:rPr lang="en-US" altLang="ja-JP" sz="1200" dirty="0" err="1" smtClean="0">
                    <a:latin typeface="Arial" charset="0"/>
                    <a:ea typeface="돋움" pitchFamily="50" charset="-127"/>
                  </a:rPr>
                  <a:t>như</a:t>
                </a:r>
                <a:r>
                  <a:rPr lang="en-US" altLang="ja-JP" sz="1200" dirty="0" smtClean="0">
                    <a:latin typeface="Arial" charset="0"/>
                    <a:ea typeface="돋움" pitchFamily="50" charset="-127"/>
                  </a:rPr>
                  <a:t> con </a:t>
                </a:r>
                <a:r>
                  <a:rPr lang="en-US" altLang="ja-JP" sz="1200" dirty="0" err="1" smtClean="0">
                    <a:latin typeface="Arial" charset="0"/>
                    <a:ea typeface="돋움" pitchFamily="50" charset="-127"/>
                  </a:rPr>
                  <a:t>đầu</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tiên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nữa</a:t>
                </a:r>
                <a:r>
                  <a:rPr lang="en-US" altLang="ja-JP" sz="1200" dirty="0" smtClean="0">
                    <a:latin typeface="Arial" charset="0"/>
                    <a:ea typeface="돋움" pitchFamily="50" charset="-127"/>
                  </a:rPr>
                  <a:t>.</a:t>
                </a:r>
                <a:endParaRPr kumimoji="1" lang="en-US" altLang="ja-JP" sz="1200" b="0" i="0" u="none" strike="noStrike" cap="none" normalizeH="0" dirty="0" smtClean="0">
                  <a:ln>
                    <a:noFill/>
                  </a:ln>
                  <a:solidFill>
                    <a:schemeClr val="tx1"/>
                  </a:solidFill>
                  <a:effectLst/>
                  <a:latin typeface="Arial" charset="0"/>
                  <a:ea typeface="돋움" pitchFamily="50" charset="-127"/>
                </a:endParaRPr>
              </a:p>
              <a:p>
                <a:pPr marL="342900" marR="0" indent="-342900" algn="l" defTabSz="914400" rtl="0" eaLnBrk="1" fontAlgn="base" latinLnBrk="0" hangingPunct="1">
                  <a:lnSpc>
                    <a:spcPct val="100000"/>
                  </a:lnSpc>
                  <a:spcBef>
                    <a:spcPct val="0"/>
                  </a:spcBef>
                  <a:spcAft>
                    <a:spcPct val="0"/>
                  </a:spcAft>
                  <a:buClrTx/>
                  <a:buSzTx/>
                  <a:buFontTx/>
                  <a:buAutoNum type="arabicPeriod"/>
                  <a:tabLst/>
                </a:pPr>
                <a:endParaRPr kumimoji="1" lang="en-US" altLang="ja-JP" sz="1200" b="0" i="0" u="none" strike="noStrike" cap="none" normalizeH="0" baseline="0" dirty="0" smtClean="0">
                  <a:ln>
                    <a:noFill/>
                  </a:ln>
                  <a:solidFill>
                    <a:schemeClr val="tx1"/>
                  </a:solidFill>
                  <a:effectLst/>
                  <a:latin typeface="Arial" charset="0"/>
                  <a:ea typeface="돋움" pitchFamily="50" charset="-127"/>
                </a:endParaRPr>
              </a:p>
              <a:p>
                <a:pPr marL="0" marR="0" indent="0" algn="l" defTabSz="914400" rtl="0" eaLnBrk="1" fontAlgn="base" latinLnBrk="0" hangingPunct="1">
                  <a:lnSpc>
                    <a:spcPct val="100000"/>
                  </a:lnSpc>
                  <a:spcBef>
                    <a:spcPct val="0"/>
                  </a:spcBef>
                  <a:spcAft>
                    <a:spcPct val="0"/>
                  </a:spcAft>
                  <a:buClrTx/>
                  <a:buSzTx/>
                  <a:buFontTx/>
                  <a:buNone/>
                  <a:tabLst/>
                  <a:defRPr/>
                </a:pPr>
                <a:r>
                  <a:rPr lang="en-US" altLang="ja-JP" dirty="0" smtClean="0"/>
                  <a:t>How to choose samples for process capability? Take n consecutive units from each lot (n ≤ 5) at fixed time intervals, e.g. every 2 hours over several consecutive days. Purpose: the conditions of the units in one subgroup are the same, so only common-cause (chance) variation exists within the subgroup. Why n ≤ 5? From the 6th unit onwards the conditions are no longer the same as for the first unit.</a:t>
                </a:r>
              </a:p>
              <a:p>
                <a:pPr marL="0" marR="0" indent="0" algn="l" defTabSz="914400" rtl="0" eaLnBrk="1" fontAlgn="base" latinLnBrk="0" hangingPunct="1">
                  <a:lnSpc>
                    <a:spcPct val="100000"/>
                  </a:lnSpc>
                  <a:spcBef>
                    <a:spcPct val="0"/>
                  </a:spcBef>
                  <a:spcAft>
                    <a:spcPct val="0"/>
                  </a:spcAft>
                  <a:buClrTx/>
                  <a:buSzTx/>
                  <a:buFontTx/>
                  <a:buNone/>
                  <a:tabLst/>
                </a:pPr>
                <a:endParaRPr kumimoji="1" lang="en-US" altLang="ja-JP" sz="1200" b="0" i="0" u="none" strike="noStrike" cap="none" normalizeH="0" baseline="0" dirty="0" smtClean="0">
                  <a:ln>
                    <a:noFill/>
                  </a:ln>
                  <a:solidFill>
                    <a:schemeClr val="tx1"/>
                  </a:solidFill>
                  <a:effectLst/>
                  <a:latin typeface="Arial" charset="0"/>
                  <a:ea typeface="돋움" pitchFamily="50" charset="-127"/>
                </a:endParaRPr>
              </a:p>
              <a:p>
                <a:pPr marL="0" marR="0" indent="0" algn="l" defTabSz="914400" rtl="0" eaLnBrk="1" fontAlgn="base" latinLnBrk="0" hangingPunct="1">
                  <a:lnSpc>
                    <a:spcPct val="100000"/>
                  </a:lnSpc>
                  <a:spcBef>
                    <a:spcPct val="0"/>
                  </a:spcBef>
                  <a:spcAft>
                    <a:spcPct val="0"/>
                  </a:spcAft>
                  <a:buClrTx/>
                  <a:buSzTx/>
                  <a:buFontTx/>
                  <a:buNone/>
                  <a:tabLst/>
                </a:pPr>
                <a:r>
                  <a:rPr lang="en-US" altLang="ja-JP" sz="1200" dirty="0" smtClean="0">
                    <a:latin typeface="Arial" charset="0"/>
                    <a:ea typeface="돋움" pitchFamily="50" charset="-127"/>
                  </a:rPr>
                  <a:t>3. Why use a control chart? A control chart is used to detect abnormal behavior of the process at an early stage.</a:t>
                </a:r>
                <a:endParaRPr lang="en-US" altLang="ja-JP" sz="1200" baseline="0" dirty="0" smtClean="0">
                  <a:latin typeface="Arial" charset="0"/>
                  <a:ea typeface="돋움" pitchFamily="50" charset="-127"/>
                </a:endParaRPr>
              </a:p>
              <a:p>
                <a:endParaRPr kumimoji="1" lang="ja-JP" altLang="en-US" dirty="0"/>
              </a:p>
            </p:txBody>
          </p:sp>
        </mc:Fallback>
      </mc:AlternateContent>
      <p:sp>
        <p:nvSpPr>
          <p:cNvPr id="4" name="Slide Number Placeholder 3"/>
          <p:cNvSpPr>
            <a:spLocks noGrp="1"/>
          </p:cNvSpPr>
          <p:nvPr>
            <p:ph type="sldNum" sz="quarter" idx="10"/>
          </p:nvPr>
        </p:nvSpPr>
        <p:spPr/>
        <p:txBody>
          <a:bodyPr/>
          <a:lstStyle/>
          <a:p>
            <a:pPr>
              <a:defRPr/>
            </a:pPr>
            <a:fld id="{97375BCD-8584-40B1-BC96-764EEABFA733}" type="slidenum">
              <a:rPr lang="ko-KR" altLang="en-US" smtClean="0"/>
              <a:pPr>
                <a:defRPr/>
              </a:pPr>
              <a:t>24</a:t>
            </a:fld>
            <a:endParaRPr lang="ko-KR" altLang="en-US" dirty="0"/>
          </a:p>
        </p:txBody>
      </p:sp>
    </p:spTree>
    <p:extLst>
      <p:ext uri="{BB962C8B-B14F-4D97-AF65-F5344CB8AC3E}">
        <p14:creationId xmlns:p14="http://schemas.microsoft.com/office/powerpoint/2010/main" val="407241013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endParaRPr kumimoji="1" lang="ja-JP" altLang="en-US" dirty="0"/>
              </a:p>
            </p:txBody>
          </p:sp>
        </mc:Choice>
        <mc:Fallback xmlns="">
          <p:sp>
            <p:nvSpPr>
              <p:cNvPr id="3" name="Notes Placeholder 2"/>
              <p:cNvSpPr>
                <a:spLocks noGrp="1"/>
              </p:cNvSpPr>
              <p:nvPr>
                <p:ph type="body" idx="1"/>
              </p:nvPr>
            </p:nvSpPr>
            <p:spPr/>
            <p:txBody>
              <a:bodyPr/>
              <a:lstStyle/>
              <a:p>
                <a:pPr marL="0" marR="0" indent="0" algn="l" defTabSz="914400" rtl="0" eaLnBrk="1" fontAlgn="base" latinLnBrk="0" hangingPunct="1">
                  <a:lnSpc>
                    <a:spcPct val="100000"/>
                  </a:lnSpc>
                  <a:spcBef>
                    <a:spcPct val="0"/>
                  </a:spcBef>
                  <a:spcAft>
                    <a:spcPct val="0"/>
                  </a:spcAft>
                  <a:buClrTx/>
                  <a:buSzTx/>
                  <a:buFontTx/>
                  <a:buNone/>
                  <a:tabLst/>
                </a:pPr>
                <a:r>
                  <a:rPr kumimoji="1" lang="en-US" altLang="ja-JP" sz="1200" b="0" i="0" u="none" strike="noStrike" cap="none" normalizeH="0" baseline="0" dirty="0" smtClean="0">
                    <a:ln>
                      <a:noFill/>
                    </a:ln>
                    <a:solidFill>
                      <a:schemeClr val="tx1"/>
                    </a:solidFill>
                    <a:effectLst/>
                    <a:latin typeface="Arial" charset="0"/>
                    <a:ea typeface="돋움" pitchFamily="50" charset="-127"/>
                  </a:rPr>
                  <a:t>1. How</a:t>
                </a:r>
                <a:r>
                  <a:rPr kumimoji="1" lang="en-US" altLang="ja-JP" sz="1200" b="0" i="0" u="none" strike="noStrike" cap="none" normalizeH="0" dirty="0" smtClean="0">
                    <a:ln>
                      <a:noFill/>
                    </a:ln>
                    <a:solidFill>
                      <a:schemeClr val="tx1"/>
                    </a:solidFill>
                    <a:effectLst/>
                    <a:latin typeface="Arial" charset="0"/>
                    <a:ea typeface="돋움" pitchFamily="50" charset="-127"/>
                  </a:rPr>
                  <a:t> to </a:t>
                </a:r>
                <a:r>
                  <a:rPr kumimoji="1" lang="en-US" altLang="ja-JP" sz="1200" b="1" i="0" u="none" strike="noStrike" cap="none" normalizeH="0" dirty="0" smtClean="0">
                    <a:ln>
                      <a:noFill/>
                    </a:ln>
                    <a:solidFill>
                      <a:schemeClr val="tx1"/>
                    </a:solidFill>
                    <a:effectLst/>
                    <a:latin typeface="Arial" charset="0"/>
                    <a:ea typeface="돋움" pitchFamily="50" charset="-127"/>
                  </a:rPr>
                  <a:t>select sample for Process Capability</a:t>
                </a:r>
                <a:r>
                  <a:rPr kumimoji="1" lang="en-US" altLang="ja-JP" sz="1200" b="0" i="0" u="none" strike="noStrike" cap="none" normalizeH="0" dirty="0" smtClean="0">
                    <a:ln>
                      <a:noFill/>
                    </a:ln>
                    <a:solidFill>
                      <a:schemeClr val="tx1"/>
                    </a:solidFill>
                    <a:effectLst/>
                    <a:latin typeface="Arial" charset="0"/>
                    <a:ea typeface="돋움" pitchFamily="50" charset="-127"/>
                  </a:rPr>
                  <a:t>?</a:t>
                </a:r>
                <a:r>
                  <a:rPr kumimoji="1" lang="en-US" altLang="ja-JP" sz="1200" b="0" i="0" u="none" strike="noStrike" cap="none" normalizeH="0" baseline="0" dirty="0" smtClean="0">
                    <a:ln>
                      <a:noFill/>
                    </a:ln>
                    <a:solidFill>
                      <a:schemeClr val="tx1"/>
                    </a:solidFill>
                    <a:effectLst/>
                    <a:latin typeface="Arial" charset="0"/>
                    <a:ea typeface="돋움" pitchFamily="50" charset="-127"/>
                  </a:rPr>
                  <a:t> </a:t>
                </a:r>
                <a:r>
                  <a:rPr kumimoji="1" lang="en-US" altLang="ja-JP" sz="1200" b="0" i="0" u="none" strike="noStrike" cap="none" normalizeH="0" baseline="0" smtClean="0">
                    <a:ln>
                      <a:noFill/>
                    </a:ln>
                    <a:solidFill>
                      <a:schemeClr val="tx1"/>
                    </a:solidFill>
                    <a:effectLst/>
                    <a:latin typeface="Cambria Math" panose="02040503050406030204" pitchFamily="18" charset="0"/>
                    <a:ea typeface="Cambria Math" panose="02040503050406030204" pitchFamily="18" charset="0"/>
                  </a:rPr>
                  <a:t>→</a:t>
                </a:r>
                <a:r>
                  <a:rPr lang="en-US" altLang="ja-JP" sz="1200" dirty="0" smtClean="0">
                    <a:latin typeface="Arial" charset="0"/>
                    <a:ea typeface="돋움" pitchFamily="50" charset="-127"/>
                  </a:rPr>
                  <a:t>Select by </a:t>
                </a:r>
                <a:r>
                  <a:rPr lang="en-US" altLang="ja-JP" sz="1200" b="1" dirty="0" smtClean="0">
                    <a:latin typeface="Arial" charset="0"/>
                    <a:ea typeface="돋움" pitchFamily="50" charset="-127"/>
                  </a:rPr>
                  <a:t>Rational subgroup</a:t>
                </a:r>
              </a:p>
              <a:p>
                <a:pPr marR="0" algn="l" defTabSz="914400" rtl="0" eaLnBrk="1" fontAlgn="base" latinLnBrk="0" hangingPunct="1">
                  <a:lnSpc>
                    <a:spcPct val="100000"/>
                  </a:lnSpc>
                  <a:spcBef>
                    <a:spcPct val="0"/>
                  </a:spcBef>
                  <a:spcAft>
                    <a:spcPct val="0"/>
                  </a:spcAft>
                  <a:buClrTx/>
                  <a:buSzTx/>
                  <a:tabLst/>
                </a:pPr>
                <a:r>
                  <a:rPr lang="en-US" altLang="ja-JP" sz="1200" dirty="0" smtClean="0">
                    <a:latin typeface="Arial" charset="0"/>
                    <a:ea typeface="돋움" pitchFamily="50" charset="-127"/>
                  </a:rPr>
                  <a:t> – </a:t>
                </a:r>
                <a:r>
                  <a:rPr lang="en-US" altLang="ja-JP" sz="1200" dirty="0" err="1" smtClean="0">
                    <a:latin typeface="Arial" charset="0"/>
                    <a:ea typeface="돋움" pitchFamily="50" charset="-127"/>
                  </a:rPr>
                  <a:t>Lấy</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theo</a:t>
                </a:r>
                <a:r>
                  <a:rPr lang="en-US" altLang="ja-JP" sz="1200" dirty="0" smtClean="0">
                    <a:latin typeface="Arial" charset="0"/>
                    <a:ea typeface="돋움" pitchFamily="50" charset="-127"/>
                  </a:rPr>
                  <a:t> lot, n con </a:t>
                </a:r>
                <a:r>
                  <a:rPr lang="en-US" altLang="ja-JP" sz="1200" dirty="0" err="1" smtClean="0">
                    <a:latin typeface="Arial" charset="0"/>
                    <a:ea typeface="돋움" pitchFamily="50" charset="-127"/>
                  </a:rPr>
                  <a:t>liền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nhau</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của</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mỗi</a:t>
                </a:r>
                <a:r>
                  <a:rPr lang="en-US" altLang="ja-JP" sz="1200" dirty="0" smtClean="0">
                    <a:latin typeface="Arial" charset="0"/>
                    <a:ea typeface="돋움" pitchFamily="50" charset="-127"/>
                  </a:rPr>
                  <a:t> lot (n&lt;=5), </a:t>
                </a:r>
                <a:r>
                  <a:rPr lang="en-US" altLang="ja-JP" sz="1200" dirty="0" err="1" smtClean="0">
                    <a:latin typeface="Arial" charset="0"/>
                    <a:ea typeface="돋움" pitchFamily="50" charset="-127"/>
                  </a:rPr>
                  <a:t>tại</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các</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khoảng</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thời</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gian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cố</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định</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Vd</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cách</a:t>
                </a:r>
                <a:r>
                  <a:rPr lang="en-US" altLang="ja-JP" sz="1200" dirty="0" smtClean="0">
                    <a:latin typeface="Arial" charset="0"/>
                    <a:ea typeface="돋움" pitchFamily="50" charset="-127"/>
                  </a:rPr>
                  <a:t> 2 </a:t>
                </a:r>
                <a:r>
                  <a:rPr lang="en-US" altLang="ja-JP" sz="1200" dirty="0" err="1" smtClean="0">
                    <a:latin typeface="Arial" charset="0"/>
                    <a:ea typeface="돋움" pitchFamily="50" charset="-127"/>
                  </a:rPr>
                  <a:t>tiếng</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một</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lần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trong</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nhiều</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ngày</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liên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tiếp</a:t>
                </a:r>
                <a:endParaRPr lang="en-US" altLang="ja-JP" sz="1200" dirty="0" smtClean="0">
                  <a:latin typeface="Arial" charset="0"/>
                  <a:ea typeface="돋움" pitchFamily="50" charset="-127"/>
                </a:endParaRPr>
              </a:p>
              <a:p>
                <a:pPr marR="0" algn="l" defTabSz="914400" rtl="0" eaLnBrk="1" fontAlgn="base" latinLnBrk="0" hangingPunct="1">
                  <a:lnSpc>
                    <a:spcPct val="100000"/>
                  </a:lnSpc>
                  <a:spcBef>
                    <a:spcPct val="0"/>
                  </a:spcBef>
                  <a:spcAft>
                    <a:spcPct val="0"/>
                  </a:spcAft>
                  <a:buClrTx/>
                  <a:buSzTx/>
                  <a:tabLst/>
                </a:pPr>
                <a:r>
                  <a:rPr kumimoji="1" lang="en-US" altLang="ja-JP" sz="1200" b="0" i="0" u="none" strike="noStrike" cap="none" normalizeH="0" dirty="0" err="1" smtClean="0">
                    <a:ln>
                      <a:noFill/>
                    </a:ln>
                    <a:solidFill>
                      <a:schemeClr val="tx1"/>
                    </a:solidFill>
                    <a:effectLst/>
                    <a:latin typeface="Arial" charset="0"/>
                    <a:ea typeface="돋움" pitchFamily="50" charset="-127"/>
                  </a:rPr>
                  <a:t>Mục</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đích</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để</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đảm</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bảo</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điều</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kiện</a:t>
                </a:r>
                <a:r>
                  <a:rPr kumimoji="1" lang="en-US" altLang="ja-JP" sz="1200" b="0" i="0" u="none" strike="noStrike" cap="none" normalizeH="0" dirty="0" smtClean="0">
                    <a:ln>
                      <a:noFill/>
                    </a:ln>
                    <a:solidFill>
                      <a:schemeClr val="tx1"/>
                    </a:solidFill>
                    <a:effectLst/>
                    <a:latin typeface="Arial" charset="0"/>
                    <a:ea typeface="돋움" pitchFamily="50" charset="-127"/>
                  </a:rPr>
                  <a:t> </a:t>
                </a:r>
              </a:p>
              <a:p>
                <a:pPr marR="0" algn="l" defTabSz="914400" rtl="0" eaLnBrk="1" fontAlgn="base" latinLnBrk="0" hangingPunct="1">
                  <a:lnSpc>
                    <a:spcPct val="100000"/>
                  </a:lnSpc>
                  <a:spcBef>
                    <a:spcPct val="0"/>
                  </a:spcBef>
                  <a:spcAft>
                    <a:spcPct val="0"/>
                  </a:spcAft>
                  <a:buClrTx/>
                  <a:buSzTx/>
                  <a:tabLst/>
                </a:pPr>
                <a:r>
                  <a:rPr kumimoji="1" lang="en-US" altLang="ja-JP" sz="1200" b="0" i="0" u="none" strike="noStrike" cap="none" normalizeH="0" dirty="0" err="1" smtClean="0">
                    <a:ln>
                      <a:noFill/>
                    </a:ln>
                    <a:solidFill>
                      <a:schemeClr val="tx1"/>
                    </a:solidFill>
                    <a:effectLst/>
                    <a:latin typeface="Arial" charset="0"/>
                    <a:ea typeface="돋움" pitchFamily="50" charset="-127"/>
                  </a:rPr>
                  <a:t>của những sample được lấy là giống hệt nhau, chỉ tồn tại chance cause (nguyên nhân ngẫu nhiên) trong mỗi nhóm.</a:t>
                </a:r>
              </a:p>
              <a:p>
                <a:pPr marR="0" algn="l" defTabSz="914400" rtl="0" eaLnBrk="1" fontAlgn="base" latinLnBrk="0" hangingPunct="1">
                  <a:lnSpc>
                    <a:spcPct val="100000"/>
                  </a:lnSpc>
                  <a:spcBef>
                    <a:spcPct val="0"/>
                  </a:spcBef>
                  <a:spcAft>
                    <a:spcPct val="0"/>
                  </a:spcAft>
                  <a:buClrTx/>
                  <a:buSzTx/>
                  <a:tabLst/>
                </a:pPr>
                <a:r>
                  <a:rPr lang="en-US" altLang="ja-JP" sz="1200" dirty="0" err="1" smtClean="0">
                    <a:latin typeface="Arial" charset="0"/>
                    <a:ea typeface="돋움" pitchFamily="50" charset="-127"/>
                  </a:rPr>
                  <a:t>Tại</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sao</a:t>
                </a:r>
                <a:r>
                  <a:rPr lang="en-US" altLang="ja-JP" sz="1200" dirty="0" smtClean="0">
                    <a:latin typeface="Arial" charset="0"/>
                    <a:ea typeface="돋움" pitchFamily="50" charset="-127"/>
                  </a:rPr>
                  <a:t> n &lt;= 5? </a:t>
                </a:r>
                <a:r>
                  <a:rPr lang="en-US" altLang="ja-JP" sz="1200" dirty="0" err="1" smtClean="0">
                    <a:latin typeface="Arial" charset="0"/>
                    <a:ea typeface="돋움" pitchFamily="50" charset="-127"/>
                  </a:rPr>
                  <a:t>Vì</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từ</a:t>
                </a:r>
                <a:r>
                  <a:rPr lang="en-US" altLang="ja-JP" sz="1200" dirty="0" smtClean="0">
                    <a:latin typeface="Arial" charset="0"/>
                    <a:ea typeface="돋움" pitchFamily="50" charset="-127"/>
                  </a:rPr>
                  <a:t> con </a:t>
                </a:r>
                <a:r>
                  <a:rPr lang="en-US" altLang="ja-JP" sz="1200" dirty="0" err="1" smtClean="0">
                    <a:latin typeface="Arial" charset="0"/>
                    <a:ea typeface="돋움" pitchFamily="50" charset="-127"/>
                  </a:rPr>
                  <a:t>thứ</a:t>
                </a:r>
                <a:r>
                  <a:rPr lang="en-US" altLang="ja-JP" sz="1200" dirty="0" smtClean="0">
                    <a:latin typeface="Arial" charset="0"/>
                    <a:ea typeface="돋움" pitchFamily="50" charset="-127"/>
                  </a:rPr>
                  <a:t> 6 </a:t>
                </a:r>
                <a:r>
                  <a:rPr lang="en-US" altLang="ja-JP" sz="1200" dirty="0" err="1" smtClean="0">
                    <a:latin typeface="Arial" charset="0"/>
                    <a:ea typeface="돋움" pitchFamily="50" charset="-127"/>
                  </a:rPr>
                  <a:t>trở</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đi</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không</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đảm</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bảo</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điều</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kiện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giống</a:t>
                </a:r>
                <a:r>
                  <a:rPr lang="en-US" altLang="ja-JP" sz="1200" dirty="0" smtClean="0">
                    <a:latin typeface="Arial" charset="0"/>
                    <a:ea typeface="돋움" pitchFamily="50" charset="-127"/>
                  </a:rPr>
                  <a:t> </a:t>
                </a:r>
              </a:p>
              <a:p>
                <a:pPr marR="0" algn="l" defTabSz="914400" rtl="0" eaLnBrk="1" fontAlgn="base" latinLnBrk="0" hangingPunct="1">
                  <a:lnSpc>
                    <a:spcPct val="100000"/>
                  </a:lnSpc>
                  <a:spcBef>
                    <a:spcPct val="0"/>
                  </a:spcBef>
                  <a:spcAft>
                    <a:spcPct val="0"/>
                  </a:spcAft>
                  <a:buClrTx/>
                  <a:buSzTx/>
                  <a:tabLst/>
                </a:pPr>
                <a:r>
                  <a:rPr lang="en-US" altLang="ja-JP" sz="1200" dirty="0" err="1" smtClean="0">
                    <a:latin typeface="Arial" charset="0"/>
                    <a:ea typeface="돋움" pitchFamily="50" charset="-127"/>
                  </a:rPr>
                  <a:t>như</a:t>
                </a:r>
                <a:r>
                  <a:rPr lang="en-US" altLang="ja-JP" sz="1200" dirty="0" smtClean="0">
                    <a:latin typeface="Arial" charset="0"/>
                    <a:ea typeface="돋움" pitchFamily="50" charset="-127"/>
                  </a:rPr>
                  <a:t> con </a:t>
                </a:r>
                <a:r>
                  <a:rPr lang="en-US" altLang="ja-JP" sz="1200" dirty="0" err="1" smtClean="0">
                    <a:latin typeface="Arial" charset="0"/>
                    <a:ea typeface="돋움" pitchFamily="50" charset="-127"/>
                  </a:rPr>
                  <a:t>đầu</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tiên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nữa</a:t>
                </a:r>
                <a:r>
                  <a:rPr lang="en-US" altLang="ja-JP" sz="1200" dirty="0" smtClean="0">
                    <a:latin typeface="Arial" charset="0"/>
                    <a:ea typeface="돋움" pitchFamily="50" charset="-127"/>
                  </a:rPr>
                  <a:t>.</a:t>
                </a:r>
                <a:endParaRPr kumimoji="1" lang="en-US" altLang="ja-JP" sz="1200" b="0" i="0" u="none" strike="noStrike" cap="none" normalizeH="0" dirty="0" smtClean="0">
                  <a:ln>
                    <a:noFill/>
                  </a:ln>
                  <a:solidFill>
                    <a:schemeClr val="tx1"/>
                  </a:solidFill>
                  <a:effectLst/>
                  <a:latin typeface="Arial" charset="0"/>
                  <a:ea typeface="돋움" pitchFamily="50" charset="-127"/>
                </a:endParaRPr>
              </a:p>
              <a:p>
                <a:pPr marL="342900" marR="0" indent="-342900" algn="l" defTabSz="914400" rtl="0" eaLnBrk="1" fontAlgn="base" latinLnBrk="0" hangingPunct="1">
                  <a:lnSpc>
                    <a:spcPct val="100000"/>
                  </a:lnSpc>
                  <a:spcBef>
                    <a:spcPct val="0"/>
                  </a:spcBef>
                  <a:spcAft>
                    <a:spcPct val="0"/>
                  </a:spcAft>
                  <a:buClrTx/>
                  <a:buSzTx/>
                  <a:buFontTx/>
                  <a:buAutoNum type="arabicPeriod"/>
                  <a:tabLst/>
                </a:pPr>
                <a:endParaRPr kumimoji="1" lang="en-US" altLang="ja-JP" sz="1200" b="0" i="0" u="none" strike="noStrike" cap="none" normalizeH="0" baseline="0" dirty="0" smtClean="0">
                  <a:ln>
                    <a:noFill/>
                  </a:ln>
                  <a:solidFill>
                    <a:schemeClr val="tx1"/>
                  </a:solidFill>
                  <a:effectLst/>
                  <a:latin typeface="Arial" charset="0"/>
                  <a:ea typeface="돋움" pitchFamily="50" charset="-127"/>
                </a:endParaRPr>
              </a:p>
              <a:p>
                <a:pPr marL="0" marR="0" indent="0" algn="l" defTabSz="914400" rtl="0" eaLnBrk="1" fontAlgn="base" latinLnBrk="0" hangingPunct="1">
                  <a:lnSpc>
                    <a:spcPct val="100000"/>
                  </a:lnSpc>
                  <a:spcBef>
                    <a:spcPct val="0"/>
                  </a:spcBef>
                  <a:spcAft>
                    <a:spcPct val="0"/>
                  </a:spcAft>
                  <a:buClrTx/>
                  <a:buSzTx/>
                  <a:buFontTx/>
                  <a:buNone/>
                  <a:tabLst/>
                  <a:defRPr/>
                </a:pPr>
                <a:r>
                  <a:rPr lang="en-US" altLang="ja-JP" dirty="0" smtClean="0"/>
                  <a:t>How to choose samples for process capability? Take n consecutive units from each lot (n ≤ 5) at fixed time intervals, e.g. every 2 hours over several consecutive days. Purpose: the conditions of the units in one subgroup are the same, so only common-cause (chance) variation exists within the subgroup. Why n ≤ 5? From the 6th unit onwards the conditions are no longer the same as for the first unit.</a:t>
                </a:r>
              </a:p>
              <a:p>
                <a:pPr marL="0" marR="0" indent="0" algn="l" defTabSz="914400" rtl="0" eaLnBrk="1" fontAlgn="base" latinLnBrk="0" hangingPunct="1">
                  <a:lnSpc>
                    <a:spcPct val="100000"/>
                  </a:lnSpc>
                  <a:spcBef>
                    <a:spcPct val="0"/>
                  </a:spcBef>
                  <a:spcAft>
                    <a:spcPct val="0"/>
                  </a:spcAft>
                  <a:buClrTx/>
                  <a:buSzTx/>
                  <a:buFontTx/>
                  <a:buNone/>
                  <a:tabLst/>
                </a:pPr>
                <a:endParaRPr kumimoji="1" lang="en-US" altLang="ja-JP" sz="1200" b="0" i="0" u="none" strike="noStrike" cap="none" normalizeH="0" baseline="0" dirty="0" smtClean="0">
                  <a:ln>
                    <a:noFill/>
                  </a:ln>
                  <a:solidFill>
                    <a:schemeClr val="tx1"/>
                  </a:solidFill>
                  <a:effectLst/>
                  <a:latin typeface="Arial" charset="0"/>
                  <a:ea typeface="돋움" pitchFamily="50" charset="-127"/>
                </a:endParaRPr>
              </a:p>
              <a:p>
                <a:pPr marL="0" marR="0" indent="0" algn="l" defTabSz="914400" rtl="0" eaLnBrk="1" fontAlgn="base" latinLnBrk="0" hangingPunct="1">
                  <a:lnSpc>
                    <a:spcPct val="100000"/>
                  </a:lnSpc>
                  <a:spcBef>
                    <a:spcPct val="0"/>
                  </a:spcBef>
                  <a:spcAft>
                    <a:spcPct val="0"/>
                  </a:spcAft>
                  <a:buClrTx/>
                  <a:buSzTx/>
                  <a:buFontTx/>
                  <a:buNone/>
                  <a:tabLst/>
                </a:pPr>
                <a:r>
                  <a:rPr lang="en-US" altLang="ja-JP" sz="1200" dirty="0" smtClean="0">
                    <a:latin typeface="Arial" charset="0"/>
                    <a:ea typeface="돋움" pitchFamily="50" charset="-127"/>
                  </a:rPr>
                  <a:t>3. Why use a control chart? A control chart is used to detect abnormal behavior of the process at an early stage.</a:t>
                </a:r>
                <a:endParaRPr lang="en-US" altLang="ja-JP" sz="1200" baseline="0" dirty="0" smtClean="0">
                  <a:latin typeface="Arial" charset="0"/>
                  <a:ea typeface="돋움" pitchFamily="50" charset="-127"/>
                </a:endParaRPr>
              </a:p>
              <a:p>
                <a:endParaRPr kumimoji="1" lang="ja-JP" altLang="en-US" dirty="0"/>
              </a:p>
            </p:txBody>
          </p:sp>
        </mc:Fallback>
      </mc:AlternateContent>
      <p:sp>
        <p:nvSpPr>
          <p:cNvPr id="4" name="Slide Number Placeholder 3"/>
          <p:cNvSpPr>
            <a:spLocks noGrp="1"/>
          </p:cNvSpPr>
          <p:nvPr>
            <p:ph type="sldNum" sz="quarter" idx="10"/>
          </p:nvPr>
        </p:nvSpPr>
        <p:spPr/>
        <p:txBody>
          <a:bodyPr/>
          <a:lstStyle/>
          <a:p>
            <a:pPr>
              <a:defRPr/>
            </a:pPr>
            <a:fld id="{97375BCD-8584-40B1-BC96-764EEABFA733}" type="slidenum">
              <a:rPr lang="ko-KR" altLang="en-US" smtClean="0"/>
              <a:pPr>
                <a:defRPr/>
              </a:pPr>
              <a:t>25</a:t>
            </a:fld>
            <a:endParaRPr lang="ko-KR" altLang="en-US" dirty="0"/>
          </a:p>
        </p:txBody>
      </p:sp>
    </p:spTree>
    <p:extLst>
      <p:ext uri="{BB962C8B-B14F-4D97-AF65-F5344CB8AC3E}">
        <p14:creationId xmlns:p14="http://schemas.microsoft.com/office/powerpoint/2010/main" val="168797200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0" marR="0" lvl="0" indent="0" algn="l" defTabSz="914400" rtl="0" eaLnBrk="0" fontAlgn="base" latinLnBrk="1" hangingPunct="0">
                  <a:lnSpc>
                    <a:spcPct val="100000"/>
                  </a:lnSpc>
                  <a:spcBef>
                    <a:spcPct val="30000"/>
                  </a:spcBef>
                  <a:spcAft>
                    <a:spcPct val="0"/>
                  </a:spcAft>
                  <a:buClrTx/>
                  <a:buSzTx/>
                  <a:buFontTx/>
                  <a:buNone/>
                  <a:tabLst/>
                  <a:defRPr/>
                </a:pPr>
                <a:r>
                  <a:rPr kumimoji="1" lang="en-US" altLang="ja-JP" dirty="0"/>
                  <a:t>To evaluate process capability:</a:t>
                </a:r>
              </a:p>
              <a:p>
                <a:r>
                  <a:rPr kumimoji="1" lang="en-US" altLang="ja-JP" dirty="0"/>
                  <a:t>Check that the data fit the (normal) distribution.</a:t>
                </a:r>
              </a:p>
              <a:p>
                <a:r>
                  <a:rPr kumimoji="1" lang="en-US" altLang="ja-JP" dirty="0"/>
                  <a:t>Check whether the solid (overall) curve fits closely with the dashed (within) curve.</a:t>
                </a:r>
              </a:p>
              <a:p>
                <a:r>
                  <a:rPr kumimoji="1" lang="en-US" altLang="ja-JP" dirty="0"/>
                  <a:t>Evaluate the capability from the performance indices (Pp, Ppk) and the potential capability indices (Cp, Cpk); compare Cpk with a benchmark value that is acceptable for the process.</a:t>
                </a:r>
              </a:p>
              <a:p>
                <a:r>
                  <a:rPr kumimoji="1" lang="en-US" altLang="ja-JP" dirty="0"/>
                  <a:t>Dash: within curve</a:t>
                </a:r>
              </a:p>
              <a:p>
                <a:r>
                  <a:rPr kumimoji="1" lang="en-US" altLang="ja-JP" dirty="0"/>
                  <a:t>Solid: overall curve</a:t>
                </a:r>
              </a:p>
            </p:txBody>
          </p:sp>
        </mc:Choice>
        <mc:Fallback xmlns="">
          <p:sp>
            <p:nvSpPr>
              <p:cNvPr id="3" name="Notes Placeholder 2"/>
              <p:cNvSpPr>
                <a:spLocks noGrp="1"/>
              </p:cNvSpPr>
              <p:nvPr>
                <p:ph type="body" idx="1"/>
              </p:nvPr>
            </p:nvSpPr>
            <p:spPr/>
            <p:txBody>
              <a:bodyPr/>
              <a:lstStyle/>
              <a:p>
                <a:pPr marL="0" marR="0" indent="0" algn="l" defTabSz="914400" rtl="0" eaLnBrk="1" fontAlgn="base" latinLnBrk="0" hangingPunct="1">
                  <a:lnSpc>
                    <a:spcPct val="100000"/>
                  </a:lnSpc>
                  <a:spcBef>
                    <a:spcPct val="0"/>
                  </a:spcBef>
                  <a:spcAft>
                    <a:spcPct val="0"/>
                  </a:spcAft>
                  <a:buClrTx/>
                  <a:buSzTx/>
                  <a:buFontTx/>
                  <a:buNone/>
                  <a:tabLst/>
                </a:pPr>
                <a:r>
                  <a:rPr kumimoji="1" lang="en-US" altLang="ja-JP" sz="1200" b="0" i="0" u="none" strike="noStrike" cap="none" normalizeH="0" baseline="0" dirty="0" smtClean="0">
                    <a:ln>
                      <a:noFill/>
                    </a:ln>
                    <a:solidFill>
                      <a:schemeClr val="tx1"/>
                    </a:solidFill>
                    <a:effectLst/>
                    <a:latin typeface="Arial" charset="0"/>
                    <a:ea typeface="돋움" pitchFamily="50" charset="-127"/>
                  </a:rPr>
                  <a:t>1. How</a:t>
                </a:r>
                <a:r>
                  <a:rPr kumimoji="1" lang="en-US" altLang="ja-JP" sz="1200" b="0" i="0" u="none" strike="noStrike" cap="none" normalizeH="0" dirty="0" smtClean="0">
                    <a:ln>
                      <a:noFill/>
                    </a:ln>
                    <a:solidFill>
                      <a:schemeClr val="tx1"/>
                    </a:solidFill>
                    <a:effectLst/>
                    <a:latin typeface="Arial" charset="0"/>
                    <a:ea typeface="돋움" pitchFamily="50" charset="-127"/>
                  </a:rPr>
                  <a:t> to </a:t>
                </a:r>
                <a:r>
                  <a:rPr kumimoji="1" lang="en-US" altLang="ja-JP" sz="1200" b="1" i="0" u="none" strike="noStrike" cap="none" normalizeH="0" dirty="0" smtClean="0">
                    <a:ln>
                      <a:noFill/>
                    </a:ln>
                    <a:solidFill>
                      <a:schemeClr val="tx1"/>
                    </a:solidFill>
                    <a:effectLst/>
                    <a:latin typeface="Arial" charset="0"/>
                    <a:ea typeface="돋움" pitchFamily="50" charset="-127"/>
                  </a:rPr>
                  <a:t>select sample for Process Capability</a:t>
                </a:r>
                <a:r>
                  <a:rPr kumimoji="1" lang="en-US" altLang="ja-JP" sz="1200" b="0" i="0" u="none" strike="noStrike" cap="none" normalizeH="0" dirty="0" smtClean="0">
                    <a:ln>
                      <a:noFill/>
                    </a:ln>
                    <a:solidFill>
                      <a:schemeClr val="tx1"/>
                    </a:solidFill>
                    <a:effectLst/>
                    <a:latin typeface="Arial" charset="0"/>
                    <a:ea typeface="돋움" pitchFamily="50" charset="-127"/>
                  </a:rPr>
                  <a:t>?</a:t>
                </a:r>
                <a:r>
                  <a:rPr kumimoji="1" lang="en-US" altLang="ja-JP" sz="1200" b="0" i="0" u="none" strike="noStrike" cap="none" normalizeH="0" baseline="0" dirty="0" smtClean="0">
                    <a:ln>
                      <a:noFill/>
                    </a:ln>
                    <a:solidFill>
                      <a:schemeClr val="tx1"/>
                    </a:solidFill>
                    <a:effectLst/>
                    <a:latin typeface="Arial" charset="0"/>
                    <a:ea typeface="돋움" pitchFamily="50" charset="-127"/>
                  </a:rPr>
                  <a:t> </a:t>
                </a:r>
                <a:r>
                  <a:rPr kumimoji="1" lang="en-US" altLang="ja-JP" sz="1200" b="0" i="0" u="none" strike="noStrike" cap="none" normalizeH="0" baseline="0" smtClean="0">
                    <a:ln>
                      <a:noFill/>
                    </a:ln>
                    <a:solidFill>
                      <a:schemeClr val="tx1"/>
                    </a:solidFill>
                    <a:effectLst/>
                    <a:latin typeface="Cambria Math" panose="02040503050406030204" pitchFamily="18" charset="0"/>
                    <a:ea typeface="Cambria Math" panose="02040503050406030204" pitchFamily="18" charset="0"/>
                  </a:rPr>
                  <a:t>→</a:t>
                </a:r>
                <a:r>
                  <a:rPr lang="en-US" altLang="ja-JP" sz="1200" dirty="0" smtClean="0">
                    <a:latin typeface="Arial" charset="0"/>
                    <a:ea typeface="돋움" pitchFamily="50" charset="-127"/>
                  </a:rPr>
                  <a:t>Select by </a:t>
                </a:r>
                <a:r>
                  <a:rPr lang="en-US" altLang="ja-JP" sz="1200" b="1" dirty="0" smtClean="0">
                    <a:latin typeface="Arial" charset="0"/>
                    <a:ea typeface="돋움" pitchFamily="50" charset="-127"/>
                  </a:rPr>
                  <a:t>Rational subgroup</a:t>
                </a:r>
              </a:p>
              <a:p>
                <a:pPr marR="0" algn="l" defTabSz="914400" rtl="0" eaLnBrk="1" fontAlgn="base" latinLnBrk="0" hangingPunct="1">
                  <a:lnSpc>
                    <a:spcPct val="100000"/>
                  </a:lnSpc>
                  <a:spcBef>
                    <a:spcPct val="0"/>
                  </a:spcBef>
                  <a:spcAft>
                    <a:spcPct val="0"/>
                  </a:spcAft>
                  <a:buClrTx/>
                  <a:buSzTx/>
                  <a:tabLst/>
                </a:pPr>
                <a:r>
                  <a:rPr lang="en-US" altLang="ja-JP" sz="1200" dirty="0" smtClean="0">
                    <a:latin typeface="Arial" charset="0"/>
                    <a:ea typeface="돋움" pitchFamily="50" charset="-127"/>
                  </a:rPr>
                  <a:t> – </a:t>
                </a:r>
                <a:r>
                  <a:rPr lang="en-US" altLang="ja-JP" sz="1200" dirty="0" err="1" smtClean="0">
                    <a:latin typeface="Arial" charset="0"/>
                    <a:ea typeface="돋움" pitchFamily="50" charset="-127"/>
                  </a:rPr>
                  <a:t>Lấy</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theo</a:t>
                </a:r>
                <a:r>
                  <a:rPr lang="en-US" altLang="ja-JP" sz="1200" dirty="0" smtClean="0">
                    <a:latin typeface="Arial" charset="0"/>
                    <a:ea typeface="돋움" pitchFamily="50" charset="-127"/>
                  </a:rPr>
                  <a:t> lot, n con </a:t>
                </a:r>
                <a:r>
                  <a:rPr lang="en-US" altLang="ja-JP" sz="1200" dirty="0" err="1" smtClean="0">
                    <a:latin typeface="Arial" charset="0"/>
                    <a:ea typeface="돋움" pitchFamily="50" charset="-127"/>
                  </a:rPr>
                  <a:t>liền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nhau</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của</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mỗi</a:t>
                </a:r>
                <a:r>
                  <a:rPr lang="en-US" altLang="ja-JP" sz="1200" dirty="0" smtClean="0">
                    <a:latin typeface="Arial" charset="0"/>
                    <a:ea typeface="돋움" pitchFamily="50" charset="-127"/>
                  </a:rPr>
                  <a:t> lot (n&lt;=5), </a:t>
                </a:r>
                <a:r>
                  <a:rPr lang="en-US" altLang="ja-JP" sz="1200" dirty="0" err="1" smtClean="0">
                    <a:latin typeface="Arial" charset="0"/>
                    <a:ea typeface="돋움" pitchFamily="50" charset="-127"/>
                  </a:rPr>
                  <a:t>tại</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các</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khoảng</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thời</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gian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cố</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định</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Vd</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cách</a:t>
                </a:r>
                <a:r>
                  <a:rPr lang="en-US" altLang="ja-JP" sz="1200" dirty="0" smtClean="0">
                    <a:latin typeface="Arial" charset="0"/>
                    <a:ea typeface="돋움" pitchFamily="50" charset="-127"/>
                  </a:rPr>
                  <a:t> 2 </a:t>
                </a:r>
                <a:r>
                  <a:rPr lang="en-US" altLang="ja-JP" sz="1200" dirty="0" err="1" smtClean="0">
                    <a:latin typeface="Arial" charset="0"/>
                    <a:ea typeface="돋움" pitchFamily="50" charset="-127"/>
                  </a:rPr>
                  <a:t>tiếng</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một</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lần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trong</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nhiều</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ngày</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liên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tiếp</a:t>
                </a:r>
                <a:endParaRPr lang="en-US" altLang="ja-JP" sz="1200" dirty="0" smtClean="0">
                  <a:latin typeface="Arial" charset="0"/>
                  <a:ea typeface="돋움" pitchFamily="50" charset="-127"/>
                </a:endParaRPr>
              </a:p>
              <a:p>
                <a:pPr marR="0" algn="l" defTabSz="914400" rtl="0" eaLnBrk="1" fontAlgn="base" latinLnBrk="0" hangingPunct="1">
                  <a:lnSpc>
                    <a:spcPct val="100000"/>
                  </a:lnSpc>
                  <a:spcBef>
                    <a:spcPct val="0"/>
                  </a:spcBef>
                  <a:spcAft>
                    <a:spcPct val="0"/>
                  </a:spcAft>
                  <a:buClrTx/>
                  <a:buSzTx/>
                  <a:tabLst/>
                </a:pPr>
                <a:r>
                  <a:rPr kumimoji="1" lang="en-US" altLang="ja-JP" sz="1200" b="0" i="0" u="none" strike="noStrike" cap="none" normalizeH="0" dirty="0" err="1" smtClean="0">
                    <a:ln>
                      <a:noFill/>
                    </a:ln>
                    <a:solidFill>
                      <a:schemeClr val="tx1"/>
                    </a:solidFill>
                    <a:effectLst/>
                    <a:latin typeface="Arial" charset="0"/>
                    <a:ea typeface="돋움" pitchFamily="50" charset="-127"/>
                  </a:rPr>
                  <a:t>Mục</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đích</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để</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đảm</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bảo</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điều</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kiện</a:t>
                </a:r>
                <a:r>
                  <a:rPr kumimoji="1" lang="en-US" altLang="ja-JP" sz="1200" b="0" i="0" u="none" strike="noStrike" cap="none" normalizeH="0" dirty="0" smtClean="0">
                    <a:ln>
                      <a:noFill/>
                    </a:ln>
                    <a:solidFill>
                      <a:schemeClr val="tx1"/>
                    </a:solidFill>
                    <a:effectLst/>
                    <a:latin typeface="Arial" charset="0"/>
                    <a:ea typeface="돋움" pitchFamily="50" charset="-127"/>
                  </a:rPr>
                  <a:t> </a:t>
                </a:r>
              </a:p>
              <a:p>
                <a:pPr marR="0" algn="l" defTabSz="914400" rtl="0" eaLnBrk="1" fontAlgn="base" latinLnBrk="0" hangingPunct="1">
                  <a:lnSpc>
                    <a:spcPct val="100000"/>
                  </a:lnSpc>
                  <a:spcBef>
                    <a:spcPct val="0"/>
                  </a:spcBef>
                  <a:spcAft>
                    <a:spcPct val="0"/>
                  </a:spcAft>
                  <a:buClrTx/>
                  <a:buSzTx/>
                  <a:tabLst/>
                </a:pPr>
                <a:r>
                  <a:rPr kumimoji="1" lang="en-US" altLang="ja-JP" sz="1200" b="0" i="0" u="none" strike="noStrike" cap="none" normalizeH="0" dirty="0" err="1" smtClean="0">
                    <a:ln>
                      <a:noFill/>
                    </a:ln>
                    <a:solidFill>
                      <a:schemeClr val="tx1"/>
                    </a:solidFill>
                    <a:effectLst/>
                    <a:latin typeface="Arial" charset="0"/>
                    <a:ea typeface="돋움" pitchFamily="50" charset="-127"/>
                  </a:rPr>
                  <a:t>của những sample được lấy là giống hệt nhau, chỉ tồn tại chance cause (nguyên nhân ngẫu nhiên) trong mỗi nhóm.</a:t>
                </a:r>
              </a:p>
              <a:p>
                <a:pPr marR="0" algn="l" defTabSz="914400" rtl="0" eaLnBrk="1" fontAlgn="base" latinLnBrk="0" hangingPunct="1">
                  <a:lnSpc>
                    <a:spcPct val="100000"/>
                  </a:lnSpc>
                  <a:spcBef>
                    <a:spcPct val="0"/>
                  </a:spcBef>
                  <a:spcAft>
                    <a:spcPct val="0"/>
                  </a:spcAft>
                  <a:buClrTx/>
                  <a:buSzTx/>
                  <a:tabLst/>
                </a:pPr>
                <a:r>
                  <a:rPr lang="en-US" altLang="ja-JP" sz="1200" dirty="0" err="1" smtClean="0">
                    <a:latin typeface="Arial" charset="0"/>
                    <a:ea typeface="돋움" pitchFamily="50" charset="-127"/>
                  </a:rPr>
                  <a:t>Tại</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sao</a:t>
                </a:r>
                <a:r>
                  <a:rPr lang="en-US" altLang="ja-JP" sz="1200" dirty="0" smtClean="0">
                    <a:latin typeface="Arial" charset="0"/>
                    <a:ea typeface="돋움" pitchFamily="50" charset="-127"/>
                  </a:rPr>
                  <a:t> n &lt;= 5? </a:t>
                </a:r>
                <a:r>
                  <a:rPr lang="en-US" altLang="ja-JP" sz="1200" dirty="0" err="1" smtClean="0">
                    <a:latin typeface="Arial" charset="0"/>
                    <a:ea typeface="돋움" pitchFamily="50" charset="-127"/>
                  </a:rPr>
                  <a:t>Vì</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từ</a:t>
                </a:r>
                <a:r>
                  <a:rPr lang="en-US" altLang="ja-JP" sz="1200" dirty="0" smtClean="0">
                    <a:latin typeface="Arial" charset="0"/>
                    <a:ea typeface="돋움" pitchFamily="50" charset="-127"/>
                  </a:rPr>
                  <a:t> con </a:t>
                </a:r>
                <a:r>
                  <a:rPr lang="en-US" altLang="ja-JP" sz="1200" dirty="0" err="1" smtClean="0">
                    <a:latin typeface="Arial" charset="0"/>
                    <a:ea typeface="돋움" pitchFamily="50" charset="-127"/>
                  </a:rPr>
                  <a:t>thứ</a:t>
                </a:r>
                <a:r>
                  <a:rPr lang="en-US" altLang="ja-JP" sz="1200" dirty="0" smtClean="0">
                    <a:latin typeface="Arial" charset="0"/>
                    <a:ea typeface="돋움" pitchFamily="50" charset="-127"/>
                  </a:rPr>
                  <a:t> 6 </a:t>
                </a:r>
                <a:r>
                  <a:rPr lang="en-US" altLang="ja-JP" sz="1200" dirty="0" err="1" smtClean="0">
                    <a:latin typeface="Arial" charset="0"/>
                    <a:ea typeface="돋움" pitchFamily="50" charset="-127"/>
                  </a:rPr>
                  <a:t>trở</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đi</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không</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đảm</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bảo</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điều</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kiện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giống</a:t>
                </a:r>
                <a:r>
                  <a:rPr lang="en-US" altLang="ja-JP" sz="1200" dirty="0" smtClean="0">
                    <a:latin typeface="Arial" charset="0"/>
                    <a:ea typeface="돋움" pitchFamily="50" charset="-127"/>
                  </a:rPr>
                  <a:t> </a:t>
                </a:r>
              </a:p>
              <a:p>
                <a:pPr marR="0" algn="l" defTabSz="914400" rtl="0" eaLnBrk="1" fontAlgn="base" latinLnBrk="0" hangingPunct="1">
                  <a:lnSpc>
                    <a:spcPct val="100000"/>
                  </a:lnSpc>
                  <a:spcBef>
                    <a:spcPct val="0"/>
                  </a:spcBef>
                  <a:spcAft>
                    <a:spcPct val="0"/>
                  </a:spcAft>
                  <a:buClrTx/>
                  <a:buSzTx/>
                  <a:tabLst/>
                </a:pPr>
                <a:r>
                  <a:rPr lang="en-US" altLang="ja-JP" sz="1200" dirty="0" err="1" smtClean="0">
                    <a:latin typeface="Arial" charset="0"/>
                    <a:ea typeface="돋움" pitchFamily="50" charset="-127"/>
                  </a:rPr>
                  <a:t>như</a:t>
                </a:r>
                <a:r>
                  <a:rPr lang="en-US" altLang="ja-JP" sz="1200" dirty="0" smtClean="0">
                    <a:latin typeface="Arial" charset="0"/>
                    <a:ea typeface="돋움" pitchFamily="50" charset="-127"/>
                  </a:rPr>
                  <a:t> con </a:t>
                </a:r>
                <a:r>
                  <a:rPr lang="en-US" altLang="ja-JP" sz="1200" dirty="0" err="1" smtClean="0">
                    <a:latin typeface="Arial" charset="0"/>
                    <a:ea typeface="돋움" pitchFamily="50" charset="-127"/>
                  </a:rPr>
                  <a:t>đầu</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tiên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nữa</a:t>
                </a:r>
                <a:r>
                  <a:rPr lang="en-US" altLang="ja-JP" sz="1200" dirty="0" smtClean="0">
                    <a:latin typeface="Arial" charset="0"/>
                    <a:ea typeface="돋움" pitchFamily="50" charset="-127"/>
                  </a:rPr>
                  <a:t>.</a:t>
                </a:r>
                <a:endParaRPr kumimoji="1" lang="en-US" altLang="ja-JP" sz="1200" b="0" i="0" u="none" strike="noStrike" cap="none" normalizeH="0" dirty="0" smtClean="0">
                  <a:ln>
                    <a:noFill/>
                  </a:ln>
                  <a:solidFill>
                    <a:schemeClr val="tx1"/>
                  </a:solidFill>
                  <a:effectLst/>
                  <a:latin typeface="Arial" charset="0"/>
                  <a:ea typeface="돋움" pitchFamily="50" charset="-127"/>
                </a:endParaRPr>
              </a:p>
              <a:p>
                <a:pPr marL="342900" marR="0" indent="-342900" algn="l" defTabSz="914400" rtl="0" eaLnBrk="1" fontAlgn="base" latinLnBrk="0" hangingPunct="1">
                  <a:lnSpc>
                    <a:spcPct val="100000"/>
                  </a:lnSpc>
                  <a:spcBef>
                    <a:spcPct val="0"/>
                  </a:spcBef>
                  <a:spcAft>
                    <a:spcPct val="0"/>
                  </a:spcAft>
                  <a:buClrTx/>
                  <a:buSzTx/>
                  <a:buFontTx/>
                  <a:buAutoNum type="arabicPeriod"/>
                  <a:tabLst/>
                </a:pPr>
                <a:endParaRPr kumimoji="1" lang="en-US" altLang="ja-JP" sz="1200" b="0" i="0" u="none" strike="noStrike" cap="none" normalizeH="0" baseline="0" dirty="0" smtClean="0">
                  <a:ln>
                    <a:noFill/>
                  </a:ln>
                  <a:solidFill>
                    <a:schemeClr val="tx1"/>
                  </a:solidFill>
                  <a:effectLst/>
                  <a:latin typeface="Arial" charset="0"/>
                  <a:ea typeface="돋움" pitchFamily="50" charset="-127"/>
                </a:endParaRPr>
              </a:p>
              <a:p>
                <a:pPr marL="0" marR="0" indent="0" algn="l" defTabSz="914400" rtl="0" eaLnBrk="1" fontAlgn="base" latinLnBrk="0" hangingPunct="1">
                  <a:lnSpc>
                    <a:spcPct val="100000"/>
                  </a:lnSpc>
                  <a:spcBef>
                    <a:spcPct val="0"/>
                  </a:spcBef>
                  <a:spcAft>
                    <a:spcPct val="0"/>
                  </a:spcAft>
                  <a:buClrTx/>
                  <a:buSzTx/>
                  <a:buFontTx/>
                  <a:buNone/>
                  <a:tabLst/>
                  <a:defRPr/>
                </a:pPr>
                <a:r>
                  <a:rPr lang="en-US" altLang="ja-JP" dirty="0" smtClean="0"/>
                  <a:t>How to choose samples for process capability? Take n consecutive units from each lot (n ≤ 5) at fixed time intervals, e.g. every 2 hours over several consecutive days. Purpose: the conditions of the units in one subgroup are the same, so only common-cause (chance) variation exists within the subgroup. Why n ≤ 5? From the 6th unit onwards the conditions are no longer the same as for the first unit.</a:t>
                </a:r>
              </a:p>
              <a:p>
                <a:pPr marL="0" marR="0" indent="0" algn="l" defTabSz="914400" rtl="0" eaLnBrk="1" fontAlgn="base" latinLnBrk="0" hangingPunct="1">
                  <a:lnSpc>
                    <a:spcPct val="100000"/>
                  </a:lnSpc>
                  <a:spcBef>
                    <a:spcPct val="0"/>
                  </a:spcBef>
                  <a:spcAft>
                    <a:spcPct val="0"/>
                  </a:spcAft>
                  <a:buClrTx/>
                  <a:buSzTx/>
                  <a:buFontTx/>
                  <a:buNone/>
                  <a:tabLst/>
                </a:pPr>
                <a:endParaRPr kumimoji="1" lang="en-US" altLang="ja-JP" sz="1200" b="0" i="0" u="none" strike="noStrike" cap="none" normalizeH="0" baseline="0" dirty="0" smtClean="0">
                  <a:ln>
                    <a:noFill/>
                  </a:ln>
                  <a:solidFill>
                    <a:schemeClr val="tx1"/>
                  </a:solidFill>
                  <a:effectLst/>
                  <a:latin typeface="Arial" charset="0"/>
                  <a:ea typeface="돋움" pitchFamily="50" charset="-127"/>
                </a:endParaRPr>
              </a:p>
              <a:p>
                <a:pPr marL="0" marR="0" indent="0" algn="l" defTabSz="914400" rtl="0" eaLnBrk="1" fontAlgn="base" latinLnBrk="0" hangingPunct="1">
                  <a:lnSpc>
                    <a:spcPct val="100000"/>
                  </a:lnSpc>
                  <a:spcBef>
                    <a:spcPct val="0"/>
                  </a:spcBef>
                  <a:spcAft>
                    <a:spcPct val="0"/>
                  </a:spcAft>
                  <a:buClrTx/>
                  <a:buSzTx/>
                  <a:buFontTx/>
                  <a:buNone/>
                  <a:tabLst/>
                </a:pPr>
                <a:r>
                  <a:rPr lang="en-US" altLang="ja-JP" sz="1200" dirty="0" smtClean="0">
                    <a:latin typeface="Arial" charset="0"/>
                    <a:ea typeface="돋움" pitchFamily="50" charset="-127"/>
                  </a:rPr>
                  <a:t>3. Why use a control chart? A control chart is used to detect abnormal behavior of the process at an early stage.</a:t>
                </a:r>
                <a:endParaRPr lang="en-US" altLang="ja-JP" sz="1200" baseline="0" dirty="0" smtClean="0">
                  <a:latin typeface="Arial" charset="0"/>
                  <a:ea typeface="돋움" pitchFamily="50" charset="-127"/>
                </a:endParaRPr>
              </a:p>
              <a:p>
                <a:endParaRPr kumimoji="1" lang="ja-JP" altLang="en-US" dirty="0"/>
              </a:p>
            </p:txBody>
          </p:sp>
        </mc:Fallback>
      </mc:AlternateContent>
      <p:sp>
        <p:nvSpPr>
          <p:cNvPr id="4" name="Slide Number Placeholder 3"/>
          <p:cNvSpPr>
            <a:spLocks noGrp="1"/>
          </p:cNvSpPr>
          <p:nvPr>
            <p:ph type="sldNum" sz="quarter" idx="10"/>
          </p:nvPr>
        </p:nvSpPr>
        <p:spPr/>
        <p:txBody>
          <a:bodyPr/>
          <a:lstStyle/>
          <a:p>
            <a:pPr>
              <a:defRPr/>
            </a:pPr>
            <a:fld id="{97375BCD-8584-40B1-BC96-764EEABFA733}" type="slidenum">
              <a:rPr lang="ko-KR" altLang="en-US" smtClean="0"/>
              <a:pPr>
                <a:defRPr/>
              </a:pPr>
              <a:t>26</a:t>
            </a:fld>
            <a:endParaRPr lang="ko-KR" altLang="en-US" dirty="0"/>
          </a:p>
        </p:txBody>
      </p:sp>
    </p:spTree>
    <p:extLst>
      <p:ext uri="{BB962C8B-B14F-4D97-AF65-F5344CB8AC3E}">
        <p14:creationId xmlns:p14="http://schemas.microsoft.com/office/powerpoint/2010/main" val="137908993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kumimoji="1" lang="en-US" altLang="ja-JP" b="0" dirty="0" err="1"/>
                  <a:t>Zst: within (short-term), Zlt: overall (long-term). The short-term process capability (Zst) represents the best capability of the current process. Zlt represents the process capability from the customer’s perspective.</a:t>
                </a:r>
              </a:p>
              <a:p>
                <a:r>
                  <a:rPr kumimoji="1" lang="en-US" altLang="ja-JP" b="0" dirty="0"/>
                  <a:t>Over time the quality deteriorates because of tool and equipment wear, variation between workers and changes of environment. Zshift = Zst − Zlt indicates the degree of deterioration; a shift of about 1.0 to 1.5 is typical. If Zshift is greater than 1.5, management (control) is judged not good; if Zshift is less than 1.5, management is judged good.</a:t>
                </a:r>
              </a:p>
              <a:p>
                <a:r>
                  <a:rPr kumimoji="1" lang="en-US" altLang="ja-JP" b="0" dirty="0" err="1"/>
                  <a:t>Cpk</a:t>
                </a:r>
                <a:r>
                  <a:rPr kumimoji="1" lang="en-US" altLang="ja-JP" b="0" dirty="0"/>
                  <a:t> is a measure of the potential capability of the process and equals the minimum of CPU and CPL. </a:t>
                </a:r>
                <a:r>
                  <a:rPr kumimoji="1" lang="en-US" altLang="ja-JP" b="0" dirty="0" err="1"/>
                  <a:t>Cpk</a:t>
                </a:r>
                <a:r>
                  <a:rPr kumimoji="1" lang="en-US" altLang="ja-JP" b="0" dirty="0"/>
                  <a:t> is a ratio that compares two values:</a:t>
                </a:r>
              </a:p>
              <a:p>
                <a:r>
                  <a:rPr kumimoji="1" lang="en-US" altLang="ja-JP" b="0" dirty="0"/>
                  <a:t>The distance from the process mean to the closest specification limit (USL or LSL)</a:t>
                </a:r>
              </a:p>
              <a:p>
                <a:r>
                  <a:rPr kumimoji="1" lang="en-US" altLang="ja-JP" b="0" dirty="0"/>
                  <a:t>The one-sided spread of the process (the 3-σ variation) based on the within-subgroup standard deviation</a:t>
                </a:r>
              </a:p>
              <a:p>
                <a:r>
                  <a:rPr kumimoji="1" lang="en-US" altLang="ja-JP" b="0" dirty="0" err="1"/>
                  <a:t>Cpk</a:t>
                </a:r>
                <a:r>
                  <a:rPr kumimoji="1" lang="en-US" altLang="ja-JP" b="0" dirty="0"/>
                  <a:t> considers both the location and the variation (within subgroups) of the process.</a:t>
                </a:r>
                <a:endParaRPr kumimoji="1" lang="ja-JP" altLang="en-US" b="0" dirty="0"/>
              </a:p>
              <a:p>
                <a:endParaRPr kumimoji="1" lang="ja-JP" altLang="en-US" b="0" dirty="0"/>
              </a:p>
              <a:p>
                <a:endParaRPr kumimoji="1" lang="ja-JP" altLang="en-US" b="0" dirty="0"/>
              </a:p>
            </p:txBody>
          </p:sp>
        </mc:Choice>
        <mc:Fallback xmlns="">
          <p:sp>
            <p:nvSpPr>
              <p:cNvPr id="3" name="Notes Placeholder 2"/>
              <p:cNvSpPr>
                <a:spLocks noGrp="1"/>
              </p:cNvSpPr>
              <p:nvPr>
                <p:ph type="body" idx="1"/>
              </p:nvPr>
            </p:nvSpPr>
            <p:spPr/>
            <p:txBody>
              <a:bodyPr/>
              <a:lstStyle/>
              <a:p>
                <a:pPr marL="0" marR="0" indent="0" algn="l" defTabSz="914400" rtl="0" eaLnBrk="1" fontAlgn="base" latinLnBrk="0" hangingPunct="1">
                  <a:lnSpc>
                    <a:spcPct val="100000"/>
                  </a:lnSpc>
                  <a:spcBef>
                    <a:spcPct val="0"/>
                  </a:spcBef>
                  <a:spcAft>
                    <a:spcPct val="0"/>
                  </a:spcAft>
                  <a:buClrTx/>
                  <a:buSzTx/>
                  <a:buFontTx/>
                  <a:buNone/>
                  <a:tabLst/>
                </a:pPr>
                <a:r>
                  <a:rPr kumimoji="1" lang="en-US" altLang="ja-JP" sz="1200" b="0" i="0" u="none" strike="noStrike" cap="none" normalizeH="0" baseline="0" dirty="0" smtClean="0">
                    <a:ln>
                      <a:noFill/>
                    </a:ln>
                    <a:solidFill>
                      <a:schemeClr val="tx1"/>
                    </a:solidFill>
                    <a:effectLst/>
                    <a:latin typeface="Arial" charset="0"/>
                    <a:ea typeface="돋움" pitchFamily="50" charset="-127"/>
                  </a:rPr>
                  <a:t>1. How</a:t>
                </a:r>
                <a:r>
                  <a:rPr kumimoji="1" lang="en-US" altLang="ja-JP" sz="1200" b="0" i="0" u="none" strike="noStrike" cap="none" normalizeH="0" dirty="0" smtClean="0">
                    <a:ln>
                      <a:noFill/>
                    </a:ln>
                    <a:solidFill>
                      <a:schemeClr val="tx1"/>
                    </a:solidFill>
                    <a:effectLst/>
                    <a:latin typeface="Arial" charset="0"/>
                    <a:ea typeface="돋움" pitchFamily="50" charset="-127"/>
                  </a:rPr>
                  <a:t> to </a:t>
                </a:r>
                <a:r>
                  <a:rPr kumimoji="1" lang="en-US" altLang="ja-JP" sz="1200" b="1" i="0" u="none" strike="noStrike" cap="none" normalizeH="0" dirty="0" smtClean="0">
                    <a:ln>
                      <a:noFill/>
                    </a:ln>
                    <a:solidFill>
                      <a:schemeClr val="tx1"/>
                    </a:solidFill>
                    <a:effectLst/>
                    <a:latin typeface="Arial" charset="0"/>
                    <a:ea typeface="돋움" pitchFamily="50" charset="-127"/>
                  </a:rPr>
                  <a:t>select sample for Process Capability</a:t>
                </a:r>
                <a:r>
                  <a:rPr kumimoji="1" lang="en-US" altLang="ja-JP" sz="1200" b="0" i="0" u="none" strike="noStrike" cap="none" normalizeH="0" dirty="0" smtClean="0">
                    <a:ln>
                      <a:noFill/>
                    </a:ln>
                    <a:solidFill>
                      <a:schemeClr val="tx1"/>
                    </a:solidFill>
                    <a:effectLst/>
                    <a:latin typeface="Arial" charset="0"/>
                    <a:ea typeface="돋움" pitchFamily="50" charset="-127"/>
                  </a:rPr>
                  <a:t>?</a:t>
                </a:r>
                <a:r>
                  <a:rPr kumimoji="1" lang="en-US" altLang="ja-JP" sz="1200" b="0" i="0" u="none" strike="noStrike" cap="none" normalizeH="0" baseline="0" dirty="0" smtClean="0">
                    <a:ln>
                      <a:noFill/>
                    </a:ln>
                    <a:solidFill>
                      <a:schemeClr val="tx1"/>
                    </a:solidFill>
                    <a:effectLst/>
                    <a:latin typeface="Arial" charset="0"/>
                    <a:ea typeface="돋움" pitchFamily="50" charset="-127"/>
                  </a:rPr>
                  <a:t> </a:t>
                </a:r>
                <a:r>
                  <a:rPr kumimoji="1" lang="en-US" altLang="ja-JP" sz="1200" b="0" i="0" u="none" strike="noStrike" cap="none" normalizeH="0" baseline="0" smtClean="0">
                    <a:ln>
                      <a:noFill/>
                    </a:ln>
                    <a:solidFill>
                      <a:schemeClr val="tx1"/>
                    </a:solidFill>
                    <a:effectLst/>
                    <a:latin typeface="Cambria Math" panose="02040503050406030204" pitchFamily="18" charset="0"/>
                    <a:ea typeface="Cambria Math" panose="02040503050406030204" pitchFamily="18" charset="0"/>
                  </a:rPr>
                  <a:t>→</a:t>
                </a:r>
                <a:r>
                  <a:rPr lang="en-US" altLang="ja-JP" sz="1200" dirty="0" smtClean="0">
                    <a:latin typeface="Arial" charset="0"/>
                    <a:ea typeface="돋움" pitchFamily="50" charset="-127"/>
                  </a:rPr>
                  <a:t>Select by </a:t>
                </a:r>
                <a:r>
                  <a:rPr lang="en-US" altLang="ja-JP" sz="1200" b="1" dirty="0" smtClean="0">
                    <a:latin typeface="Arial" charset="0"/>
                    <a:ea typeface="돋움" pitchFamily="50" charset="-127"/>
                  </a:rPr>
                  <a:t>Rational subgroup</a:t>
                </a:r>
              </a:p>
              <a:p>
                <a:pPr marR="0" algn="l" defTabSz="914400" rtl="0" eaLnBrk="1" fontAlgn="base" latinLnBrk="0" hangingPunct="1">
                  <a:lnSpc>
                    <a:spcPct val="100000"/>
                  </a:lnSpc>
                  <a:spcBef>
                    <a:spcPct val="0"/>
                  </a:spcBef>
                  <a:spcAft>
                    <a:spcPct val="0"/>
                  </a:spcAft>
                  <a:buClrTx/>
                  <a:buSzTx/>
                  <a:tabLst/>
                </a:pPr>
                <a:r>
                  <a:rPr lang="en-US" altLang="ja-JP" sz="1200" dirty="0" smtClean="0">
                    <a:latin typeface="Arial" charset="0"/>
                    <a:ea typeface="돋움" pitchFamily="50" charset="-127"/>
                  </a:rPr>
                  <a:t> – </a:t>
                </a:r>
                <a:r>
                  <a:rPr lang="en-US" altLang="ja-JP" sz="1200" dirty="0" err="1" smtClean="0">
                    <a:latin typeface="Arial" charset="0"/>
                    <a:ea typeface="돋움" pitchFamily="50" charset="-127"/>
                  </a:rPr>
                  <a:t>Lấy</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theo</a:t>
                </a:r>
                <a:r>
                  <a:rPr lang="en-US" altLang="ja-JP" sz="1200" dirty="0" smtClean="0">
                    <a:latin typeface="Arial" charset="0"/>
                    <a:ea typeface="돋움" pitchFamily="50" charset="-127"/>
                  </a:rPr>
                  <a:t> lot, n con </a:t>
                </a:r>
                <a:r>
                  <a:rPr lang="en-US" altLang="ja-JP" sz="1200" dirty="0" err="1" smtClean="0">
                    <a:latin typeface="Arial" charset="0"/>
                    <a:ea typeface="돋움" pitchFamily="50" charset="-127"/>
                  </a:rPr>
                  <a:t>liền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nhau</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của</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mỗi</a:t>
                </a:r>
                <a:r>
                  <a:rPr lang="en-US" altLang="ja-JP" sz="1200" dirty="0" smtClean="0">
                    <a:latin typeface="Arial" charset="0"/>
                    <a:ea typeface="돋움" pitchFamily="50" charset="-127"/>
                  </a:rPr>
                  <a:t> lot (n&lt;=5), </a:t>
                </a:r>
                <a:r>
                  <a:rPr lang="en-US" altLang="ja-JP" sz="1200" dirty="0" err="1" smtClean="0">
                    <a:latin typeface="Arial" charset="0"/>
                    <a:ea typeface="돋움" pitchFamily="50" charset="-127"/>
                  </a:rPr>
                  <a:t>tại</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các</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khoảng</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thời</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gian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cố</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định</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Vd</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cách</a:t>
                </a:r>
                <a:r>
                  <a:rPr lang="en-US" altLang="ja-JP" sz="1200" dirty="0" smtClean="0">
                    <a:latin typeface="Arial" charset="0"/>
                    <a:ea typeface="돋움" pitchFamily="50" charset="-127"/>
                  </a:rPr>
                  <a:t> 2 </a:t>
                </a:r>
                <a:r>
                  <a:rPr lang="en-US" altLang="ja-JP" sz="1200" dirty="0" err="1" smtClean="0">
                    <a:latin typeface="Arial" charset="0"/>
                    <a:ea typeface="돋움" pitchFamily="50" charset="-127"/>
                  </a:rPr>
                  <a:t>tiếng</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một</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lần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trong</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nhiều</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ngày</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liên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tiếp</a:t>
                </a:r>
                <a:endParaRPr lang="en-US" altLang="ja-JP" sz="1200" dirty="0" smtClean="0">
                  <a:latin typeface="Arial" charset="0"/>
                  <a:ea typeface="돋움" pitchFamily="50" charset="-127"/>
                </a:endParaRPr>
              </a:p>
              <a:p>
                <a:pPr marR="0" algn="l" defTabSz="914400" rtl="0" eaLnBrk="1" fontAlgn="base" latinLnBrk="0" hangingPunct="1">
                  <a:lnSpc>
                    <a:spcPct val="100000"/>
                  </a:lnSpc>
                  <a:spcBef>
                    <a:spcPct val="0"/>
                  </a:spcBef>
                  <a:spcAft>
                    <a:spcPct val="0"/>
                  </a:spcAft>
                  <a:buClrTx/>
                  <a:buSzTx/>
                  <a:tabLst/>
                </a:pPr>
                <a:r>
                  <a:rPr kumimoji="1" lang="en-US" altLang="ja-JP" sz="1200" b="0" i="0" u="none" strike="noStrike" cap="none" normalizeH="0" dirty="0" err="1" smtClean="0">
                    <a:ln>
                      <a:noFill/>
                    </a:ln>
                    <a:solidFill>
                      <a:schemeClr val="tx1"/>
                    </a:solidFill>
                    <a:effectLst/>
                    <a:latin typeface="Arial" charset="0"/>
                    <a:ea typeface="돋움" pitchFamily="50" charset="-127"/>
                  </a:rPr>
                  <a:t>Mục</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đích</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để</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đảm</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bảo</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điều</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kiện</a:t>
                </a:r>
                <a:r>
                  <a:rPr kumimoji="1" lang="en-US" altLang="ja-JP" sz="1200" b="0" i="0" u="none" strike="noStrike" cap="none" normalizeH="0" dirty="0" smtClean="0">
                    <a:ln>
                      <a:noFill/>
                    </a:ln>
                    <a:solidFill>
                      <a:schemeClr val="tx1"/>
                    </a:solidFill>
                    <a:effectLst/>
                    <a:latin typeface="Arial" charset="0"/>
                    <a:ea typeface="돋움" pitchFamily="50" charset="-127"/>
                  </a:rPr>
                  <a:t> </a:t>
                </a:r>
              </a:p>
              <a:p>
                <a:pPr marR="0" algn="l" defTabSz="914400" rtl="0" eaLnBrk="1" fontAlgn="base" latinLnBrk="0" hangingPunct="1">
                  <a:lnSpc>
                    <a:spcPct val="100000"/>
                  </a:lnSpc>
                  <a:spcBef>
                    <a:spcPct val="0"/>
                  </a:spcBef>
                  <a:spcAft>
                    <a:spcPct val="0"/>
                  </a:spcAft>
                  <a:buClrTx/>
                  <a:buSzTx/>
                  <a:tabLst/>
                </a:pPr>
                <a:r>
                  <a:rPr kumimoji="1" lang="en-US" altLang="ja-JP" sz="1200" b="0" i="0" u="none" strike="noStrike" cap="none" normalizeH="0" dirty="0" err="1" smtClean="0">
                    <a:ln>
                      <a:noFill/>
                    </a:ln>
                    <a:solidFill>
                      <a:schemeClr val="tx1"/>
                    </a:solidFill>
                    <a:effectLst/>
                    <a:latin typeface="Arial" charset="0"/>
                    <a:ea typeface="돋움" pitchFamily="50" charset="-127"/>
                  </a:rPr>
                  <a:t>của những sample được lấy là giống hệt nhau, chỉ tồn tại chance cause (nguyên nhân ngẫu nhiên) trong mỗi nhóm.</a:t>
                </a:r>
              </a:p>
              <a:p>
                <a:pPr marR="0" algn="l" defTabSz="914400" rtl="0" eaLnBrk="1" fontAlgn="base" latinLnBrk="0" hangingPunct="1">
                  <a:lnSpc>
                    <a:spcPct val="100000"/>
                  </a:lnSpc>
                  <a:spcBef>
                    <a:spcPct val="0"/>
                  </a:spcBef>
                  <a:spcAft>
                    <a:spcPct val="0"/>
                  </a:spcAft>
                  <a:buClrTx/>
                  <a:buSzTx/>
                  <a:tabLst/>
                </a:pPr>
                <a:r>
                  <a:rPr lang="en-US" altLang="ja-JP" sz="1200" dirty="0" err="1" smtClean="0">
                    <a:latin typeface="Arial" charset="0"/>
                    <a:ea typeface="돋움" pitchFamily="50" charset="-127"/>
                  </a:rPr>
                  <a:t>Tại</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sao</a:t>
                </a:r>
                <a:r>
                  <a:rPr lang="en-US" altLang="ja-JP" sz="1200" dirty="0" smtClean="0">
                    <a:latin typeface="Arial" charset="0"/>
                    <a:ea typeface="돋움" pitchFamily="50" charset="-127"/>
                  </a:rPr>
                  <a:t> n &lt;= 5? </a:t>
                </a:r>
                <a:r>
                  <a:rPr lang="en-US" altLang="ja-JP" sz="1200" dirty="0" err="1" smtClean="0">
                    <a:latin typeface="Arial" charset="0"/>
                    <a:ea typeface="돋움" pitchFamily="50" charset="-127"/>
                  </a:rPr>
                  <a:t>Vì</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từ</a:t>
                </a:r>
                <a:r>
                  <a:rPr lang="en-US" altLang="ja-JP" sz="1200" dirty="0" smtClean="0">
                    <a:latin typeface="Arial" charset="0"/>
                    <a:ea typeface="돋움" pitchFamily="50" charset="-127"/>
                  </a:rPr>
                  <a:t> con </a:t>
                </a:r>
                <a:r>
                  <a:rPr lang="en-US" altLang="ja-JP" sz="1200" dirty="0" err="1" smtClean="0">
                    <a:latin typeface="Arial" charset="0"/>
                    <a:ea typeface="돋움" pitchFamily="50" charset="-127"/>
                  </a:rPr>
                  <a:t>thứ</a:t>
                </a:r>
                <a:r>
                  <a:rPr lang="en-US" altLang="ja-JP" sz="1200" dirty="0" smtClean="0">
                    <a:latin typeface="Arial" charset="0"/>
                    <a:ea typeface="돋움" pitchFamily="50" charset="-127"/>
                  </a:rPr>
                  <a:t> 6 </a:t>
                </a:r>
                <a:r>
                  <a:rPr lang="en-US" altLang="ja-JP" sz="1200" dirty="0" err="1" smtClean="0">
                    <a:latin typeface="Arial" charset="0"/>
                    <a:ea typeface="돋움" pitchFamily="50" charset="-127"/>
                  </a:rPr>
                  <a:t>trở</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đi</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không</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đảm</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bảo</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điều</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kiện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giống</a:t>
                </a:r>
                <a:r>
                  <a:rPr lang="en-US" altLang="ja-JP" sz="1200" dirty="0" smtClean="0">
                    <a:latin typeface="Arial" charset="0"/>
                    <a:ea typeface="돋움" pitchFamily="50" charset="-127"/>
                  </a:rPr>
                  <a:t> </a:t>
                </a:r>
              </a:p>
              <a:p>
                <a:pPr marR="0" algn="l" defTabSz="914400" rtl="0" eaLnBrk="1" fontAlgn="base" latinLnBrk="0" hangingPunct="1">
                  <a:lnSpc>
                    <a:spcPct val="100000"/>
                  </a:lnSpc>
                  <a:spcBef>
                    <a:spcPct val="0"/>
                  </a:spcBef>
                  <a:spcAft>
                    <a:spcPct val="0"/>
                  </a:spcAft>
                  <a:buClrTx/>
                  <a:buSzTx/>
                  <a:tabLst/>
                </a:pPr>
                <a:r>
                  <a:rPr lang="en-US" altLang="ja-JP" sz="1200" dirty="0" err="1" smtClean="0">
                    <a:latin typeface="Arial" charset="0"/>
                    <a:ea typeface="돋움" pitchFamily="50" charset="-127"/>
                  </a:rPr>
                  <a:t>như</a:t>
                </a:r>
                <a:r>
                  <a:rPr lang="en-US" altLang="ja-JP" sz="1200" dirty="0" smtClean="0">
                    <a:latin typeface="Arial" charset="0"/>
                    <a:ea typeface="돋움" pitchFamily="50" charset="-127"/>
                  </a:rPr>
                  <a:t> con </a:t>
                </a:r>
                <a:r>
                  <a:rPr lang="en-US" altLang="ja-JP" sz="1200" dirty="0" err="1" smtClean="0">
                    <a:latin typeface="Arial" charset="0"/>
                    <a:ea typeface="돋움" pitchFamily="50" charset="-127"/>
                  </a:rPr>
                  <a:t>đầu</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tiên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nữa</a:t>
                </a:r>
                <a:r>
                  <a:rPr lang="en-US" altLang="ja-JP" sz="1200" dirty="0" smtClean="0">
                    <a:latin typeface="Arial" charset="0"/>
                    <a:ea typeface="돋움" pitchFamily="50" charset="-127"/>
                  </a:rPr>
                  <a:t>.</a:t>
                </a:r>
                <a:endParaRPr kumimoji="1" lang="en-US" altLang="ja-JP" sz="1200" b="0" i="0" u="none" strike="noStrike" cap="none" normalizeH="0" dirty="0" smtClean="0">
                  <a:ln>
                    <a:noFill/>
                  </a:ln>
                  <a:solidFill>
                    <a:schemeClr val="tx1"/>
                  </a:solidFill>
                  <a:effectLst/>
                  <a:latin typeface="Arial" charset="0"/>
                  <a:ea typeface="돋움" pitchFamily="50" charset="-127"/>
                </a:endParaRPr>
              </a:p>
              <a:p>
                <a:pPr marL="342900" marR="0" indent="-342900" algn="l" defTabSz="914400" rtl="0" eaLnBrk="1" fontAlgn="base" latinLnBrk="0" hangingPunct="1">
                  <a:lnSpc>
                    <a:spcPct val="100000"/>
                  </a:lnSpc>
                  <a:spcBef>
                    <a:spcPct val="0"/>
                  </a:spcBef>
                  <a:spcAft>
                    <a:spcPct val="0"/>
                  </a:spcAft>
                  <a:buClrTx/>
                  <a:buSzTx/>
                  <a:buFontTx/>
                  <a:buAutoNum type="arabicPeriod"/>
                  <a:tabLst/>
                </a:pPr>
                <a:endParaRPr kumimoji="1" lang="en-US" altLang="ja-JP" sz="1200" b="0" i="0" u="none" strike="noStrike" cap="none" normalizeH="0" baseline="0" dirty="0" smtClean="0">
                  <a:ln>
                    <a:noFill/>
                  </a:ln>
                  <a:solidFill>
                    <a:schemeClr val="tx1"/>
                  </a:solidFill>
                  <a:effectLst/>
                  <a:latin typeface="Arial" charset="0"/>
                  <a:ea typeface="돋움" pitchFamily="50" charset="-127"/>
                </a:endParaRPr>
              </a:p>
              <a:p>
                <a:pPr marL="0" marR="0" indent="0" algn="l" defTabSz="914400" rtl="0" eaLnBrk="1" fontAlgn="base" latinLnBrk="0" hangingPunct="1">
                  <a:lnSpc>
                    <a:spcPct val="100000"/>
                  </a:lnSpc>
                  <a:spcBef>
                    <a:spcPct val="0"/>
                  </a:spcBef>
                  <a:spcAft>
                    <a:spcPct val="0"/>
                  </a:spcAft>
                  <a:buClrTx/>
                  <a:buSzTx/>
                  <a:buFontTx/>
                  <a:buNone/>
                  <a:tabLst/>
                  <a:defRPr/>
                </a:pPr>
                <a:r>
                  <a:rPr lang="en-US" altLang="ja-JP" dirty="0" smtClean="0"/>
                  <a:t>How to choose samples for process capability? Take n consecutive units from each lot (n ≤ 5) at fixed time intervals, e.g. every 2 hours over several consecutive days. Purpose: the conditions of the units in one subgroup are the same, so only common-cause (chance) variation exists within the subgroup. Why n ≤ 5? From the 6th unit onwards the conditions are no longer the same as for the first unit.</a:t>
                </a:r>
              </a:p>
              <a:p>
                <a:pPr marL="0" marR="0" indent="0" algn="l" defTabSz="914400" rtl="0" eaLnBrk="1" fontAlgn="base" latinLnBrk="0" hangingPunct="1">
                  <a:lnSpc>
                    <a:spcPct val="100000"/>
                  </a:lnSpc>
                  <a:spcBef>
                    <a:spcPct val="0"/>
                  </a:spcBef>
                  <a:spcAft>
                    <a:spcPct val="0"/>
                  </a:spcAft>
                  <a:buClrTx/>
                  <a:buSzTx/>
                  <a:buFontTx/>
                  <a:buNone/>
                  <a:tabLst/>
                </a:pPr>
                <a:endParaRPr kumimoji="1" lang="en-US" altLang="ja-JP" sz="1200" b="0" i="0" u="none" strike="noStrike" cap="none" normalizeH="0" baseline="0" dirty="0" smtClean="0">
                  <a:ln>
                    <a:noFill/>
                  </a:ln>
                  <a:solidFill>
                    <a:schemeClr val="tx1"/>
                  </a:solidFill>
                  <a:effectLst/>
                  <a:latin typeface="Arial" charset="0"/>
                  <a:ea typeface="돋움" pitchFamily="50" charset="-127"/>
                </a:endParaRPr>
              </a:p>
              <a:p>
                <a:pPr marL="0" marR="0" indent="0" algn="l" defTabSz="914400" rtl="0" eaLnBrk="1" fontAlgn="base" latinLnBrk="0" hangingPunct="1">
                  <a:lnSpc>
                    <a:spcPct val="100000"/>
                  </a:lnSpc>
                  <a:spcBef>
                    <a:spcPct val="0"/>
                  </a:spcBef>
                  <a:spcAft>
                    <a:spcPct val="0"/>
                  </a:spcAft>
                  <a:buClrTx/>
                  <a:buSzTx/>
                  <a:buFontTx/>
                  <a:buNone/>
                  <a:tabLst/>
                </a:pPr>
                <a:r>
                  <a:rPr lang="en-US" altLang="ja-JP" sz="1200" dirty="0" smtClean="0">
                    <a:latin typeface="Arial" charset="0"/>
                    <a:ea typeface="돋움" pitchFamily="50" charset="-127"/>
                  </a:rPr>
                  <a:t>3. Why use a control chart? A control chart is used to detect abnormal behavior of the process at an early stage.</a:t>
                </a:r>
                <a:endParaRPr lang="en-US" altLang="ja-JP" sz="1200" baseline="0" dirty="0" smtClean="0">
                  <a:latin typeface="Arial" charset="0"/>
                  <a:ea typeface="돋움" pitchFamily="50" charset="-127"/>
                </a:endParaRPr>
              </a:p>
              <a:p>
                <a:endParaRPr kumimoji="1" lang="ja-JP" altLang="en-US" dirty="0"/>
              </a:p>
            </p:txBody>
          </p:sp>
        </mc:Fallback>
      </mc:AlternateContent>
      <p:sp>
        <p:nvSpPr>
          <p:cNvPr id="4" name="Slide Number Placeholder 3"/>
          <p:cNvSpPr>
            <a:spLocks noGrp="1"/>
          </p:cNvSpPr>
          <p:nvPr>
            <p:ph type="sldNum" sz="quarter" idx="10"/>
          </p:nvPr>
        </p:nvSpPr>
        <p:spPr/>
        <p:txBody>
          <a:bodyPr/>
          <a:lstStyle/>
          <a:p>
            <a:pPr>
              <a:defRPr/>
            </a:pPr>
            <a:fld id="{97375BCD-8584-40B1-BC96-764EEABFA733}" type="slidenum">
              <a:rPr lang="ko-KR" altLang="en-US" smtClean="0"/>
              <a:pPr>
                <a:defRPr/>
              </a:pPr>
              <a:t>27</a:t>
            </a:fld>
            <a:endParaRPr lang="ko-KR" altLang="en-US" dirty="0"/>
          </a:p>
        </p:txBody>
      </p:sp>
    </p:spTree>
    <p:extLst>
      <p:ext uri="{BB962C8B-B14F-4D97-AF65-F5344CB8AC3E}">
        <p14:creationId xmlns:p14="http://schemas.microsoft.com/office/powerpoint/2010/main" val="330370893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endParaRPr kumimoji="1" lang="ja-JP" altLang="en-US" dirty="0"/>
              </a:p>
            </p:txBody>
          </p:sp>
        </mc:Choice>
        <mc:Fallback xmlns="">
          <p:sp>
            <p:nvSpPr>
              <p:cNvPr id="3" name="Notes Placeholder 2"/>
              <p:cNvSpPr>
                <a:spLocks noGrp="1"/>
              </p:cNvSpPr>
              <p:nvPr>
                <p:ph type="body" idx="1"/>
              </p:nvPr>
            </p:nvSpPr>
            <p:spPr/>
            <p:txBody>
              <a:bodyPr/>
              <a:lstStyle/>
              <a:p>
                <a:pPr marL="0" marR="0" indent="0" algn="l" defTabSz="914400" rtl="0" eaLnBrk="1" fontAlgn="base" latinLnBrk="0" hangingPunct="1">
                  <a:lnSpc>
                    <a:spcPct val="100000"/>
                  </a:lnSpc>
                  <a:spcBef>
                    <a:spcPct val="0"/>
                  </a:spcBef>
                  <a:spcAft>
                    <a:spcPct val="0"/>
                  </a:spcAft>
                  <a:buClrTx/>
                  <a:buSzTx/>
                  <a:buFontTx/>
                  <a:buNone/>
                  <a:tabLst/>
                </a:pPr>
                <a:r>
                  <a:rPr kumimoji="1" lang="en-US" altLang="ja-JP" sz="1200" b="0" i="0" u="none" strike="noStrike" cap="none" normalizeH="0" baseline="0" dirty="0" smtClean="0">
                    <a:ln>
                      <a:noFill/>
                    </a:ln>
                    <a:solidFill>
                      <a:schemeClr val="tx1"/>
                    </a:solidFill>
                    <a:effectLst/>
                    <a:latin typeface="Arial" charset="0"/>
                    <a:ea typeface="돋움" pitchFamily="50" charset="-127"/>
                  </a:rPr>
                  <a:t>1. How</a:t>
                </a:r>
                <a:r>
                  <a:rPr kumimoji="1" lang="en-US" altLang="ja-JP" sz="1200" b="0" i="0" u="none" strike="noStrike" cap="none" normalizeH="0" dirty="0" smtClean="0">
                    <a:ln>
                      <a:noFill/>
                    </a:ln>
                    <a:solidFill>
                      <a:schemeClr val="tx1"/>
                    </a:solidFill>
                    <a:effectLst/>
                    <a:latin typeface="Arial" charset="0"/>
                    <a:ea typeface="돋움" pitchFamily="50" charset="-127"/>
                  </a:rPr>
                  <a:t> to </a:t>
                </a:r>
                <a:r>
                  <a:rPr kumimoji="1" lang="en-US" altLang="ja-JP" sz="1200" b="1" i="0" u="none" strike="noStrike" cap="none" normalizeH="0" dirty="0" smtClean="0">
                    <a:ln>
                      <a:noFill/>
                    </a:ln>
                    <a:solidFill>
                      <a:schemeClr val="tx1"/>
                    </a:solidFill>
                    <a:effectLst/>
                    <a:latin typeface="Arial" charset="0"/>
                    <a:ea typeface="돋움" pitchFamily="50" charset="-127"/>
                  </a:rPr>
                  <a:t>select sample for Process Capability</a:t>
                </a:r>
                <a:r>
                  <a:rPr kumimoji="1" lang="en-US" altLang="ja-JP" sz="1200" b="0" i="0" u="none" strike="noStrike" cap="none" normalizeH="0" dirty="0" smtClean="0">
                    <a:ln>
                      <a:noFill/>
                    </a:ln>
                    <a:solidFill>
                      <a:schemeClr val="tx1"/>
                    </a:solidFill>
                    <a:effectLst/>
                    <a:latin typeface="Arial" charset="0"/>
                    <a:ea typeface="돋움" pitchFamily="50" charset="-127"/>
                  </a:rPr>
                  <a:t>?</a:t>
                </a:r>
                <a:r>
                  <a:rPr kumimoji="1" lang="en-US" altLang="ja-JP" sz="1200" b="0" i="0" u="none" strike="noStrike" cap="none" normalizeH="0" baseline="0" dirty="0" smtClean="0">
                    <a:ln>
                      <a:noFill/>
                    </a:ln>
                    <a:solidFill>
                      <a:schemeClr val="tx1"/>
                    </a:solidFill>
                    <a:effectLst/>
                    <a:latin typeface="Arial" charset="0"/>
                    <a:ea typeface="돋움" pitchFamily="50" charset="-127"/>
                  </a:rPr>
                  <a:t> </a:t>
                </a:r>
                <a:r>
                  <a:rPr kumimoji="1" lang="en-US" altLang="ja-JP" sz="1200" b="0" i="0" u="none" strike="noStrike" cap="none" normalizeH="0" baseline="0" smtClean="0">
                    <a:ln>
                      <a:noFill/>
                    </a:ln>
                    <a:solidFill>
                      <a:schemeClr val="tx1"/>
                    </a:solidFill>
                    <a:effectLst/>
                    <a:latin typeface="Cambria Math" panose="02040503050406030204" pitchFamily="18" charset="0"/>
                    <a:ea typeface="Cambria Math" panose="02040503050406030204" pitchFamily="18" charset="0"/>
                  </a:rPr>
                  <a:t>→</a:t>
                </a:r>
                <a:r>
                  <a:rPr lang="en-US" altLang="ja-JP" sz="1200" dirty="0" smtClean="0">
                    <a:latin typeface="Arial" charset="0"/>
                    <a:ea typeface="돋움" pitchFamily="50" charset="-127"/>
                  </a:rPr>
                  <a:t>Select by </a:t>
                </a:r>
                <a:r>
                  <a:rPr lang="en-US" altLang="ja-JP" sz="1200" b="1" dirty="0" smtClean="0">
                    <a:latin typeface="Arial" charset="0"/>
                    <a:ea typeface="돋움" pitchFamily="50" charset="-127"/>
                  </a:rPr>
                  <a:t>Rational subgroup</a:t>
                </a:r>
              </a:p>
              <a:p>
                <a:pPr marR="0" algn="l" defTabSz="914400" rtl="0" eaLnBrk="1" fontAlgn="base" latinLnBrk="0" hangingPunct="1">
                  <a:lnSpc>
                    <a:spcPct val="100000"/>
                  </a:lnSpc>
                  <a:spcBef>
                    <a:spcPct val="0"/>
                  </a:spcBef>
                  <a:spcAft>
                    <a:spcPct val="0"/>
                  </a:spcAft>
                  <a:buClrTx/>
                  <a:buSzTx/>
                  <a:tabLst/>
                </a:pPr>
                <a:r>
                  <a:rPr lang="en-US" altLang="ja-JP" sz="1200" dirty="0" smtClean="0">
                    <a:latin typeface="Arial" charset="0"/>
                    <a:ea typeface="돋움" pitchFamily="50" charset="-127"/>
                  </a:rPr>
                  <a:t> – </a:t>
                </a:r>
                <a:r>
                  <a:rPr lang="en-US" altLang="ja-JP" sz="1200" dirty="0" err="1" smtClean="0">
                    <a:latin typeface="Arial" charset="0"/>
                    <a:ea typeface="돋움" pitchFamily="50" charset="-127"/>
                  </a:rPr>
                  <a:t>Lấy</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theo</a:t>
                </a:r>
                <a:r>
                  <a:rPr lang="en-US" altLang="ja-JP" sz="1200" dirty="0" smtClean="0">
                    <a:latin typeface="Arial" charset="0"/>
                    <a:ea typeface="돋움" pitchFamily="50" charset="-127"/>
                  </a:rPr>
                  <a:t> lot, n con </a:t>
                </a:r>
                <a:r>
                  <a:rPr lang="en-US" altLang="ja-JP" sz="1200" dirty="0" err="1" smtClean="0">
                    <a:latin typeface="Arial" charset="0"/>
                    <a:ea typeface="돋움" pitchFamily="50" charset="-127"/>
                  </a:rPr>
                  <a:t>liền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nhau</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của</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mỗi</a:t>
                </a:r>
                <a:r>
                  <a:rPr lang="en-US" altLang="ja-JP" sz="1200" dirty="0" smtClean="0">
                    <a:latin typeface="Arial" charset="0"/>
                    <a:ea typeface="돋움" pitchFamily="50" charset="-127"/>
                  </a:rPr>
                  <a:t> lot (n&lt;=5), </a:t>
                </a:r>
                <a:r>
                  <a:rPr lang="en-US" altLang="ja-JP" sz="1200" dirty="0" err="1" smtClean="0">
                    <a:latin typeface="Arial" charset="0"/>
                    <a:ea typeface="돋움" pitchFamily="50" charset="-127"/>
                  </a:rPr>
                  <a:t>tại</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các</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khoảng</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thời</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gian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cố</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định</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Vd</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cách</a:t>
                </a:r>
                <a:r>
                  <a:rPr lang="en-US" altLang="ja-JP" sz="1200" dirty="0" smtClean="0">
                    <a:latin typeface="Arial" charset="0"/>
                    <a:ea typeface="돋움" pitchFamily="50" charset="-127"/>
                  </a:rPr>
                  <a:t> 2 </a:t>
                </a:r>
                <a:r>
                  <a:rPr lang="en-US" altLang="ja-JP" sz="1200" dirty="0" err="1" smtClean="0">
                    <a:latin typeface="Arial" charset="0"/>
                    <a:ea typeface="돋움" pitchFamily="50" charset="-127"/>
                  </a:rPr>
                  <a:t>tiếng</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một</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lần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trong</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nhiều</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ngày</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liên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tiếp</a:t>
                </a:r>
                <a:endParaRPr lang="en-US" altLang="ja-JP" sz="1200" dirty="0" smtClean="0">
                  <a:latin typeface="Arial" charset="0"/>
                  <a:ea typeface="돋움" pitchFamily="50" charset="-127"/>
                </a:endParaRPr>
              </a:p>
              <a:p>
                <a:pPr marR="0" algn="l" defTabSz="914400" rtl="0" eaLnBrk="1" fontAlgn="base" latinLnBrk="0" hangingPunct="1">
                  <a:lnSpc>
                    <a:spcPct val="100000"/>
                  </a:lnSpc>
                  <a:spcBef>
                    <a:spcPct val="0"/>
                  </a:spcBef>
                  <a:spcAft>
                    <a:spcPct val="0"/>
                  </a:spcAft>
                  <a:buClrTx/>
                  <a:buSzTx/>
                  <a:tabLst/>
                </a:pPr>
                <a:r>
                  <a:rPr kumimoji="1" lang="en-US" altLang="ja-JP" sz="1200" b="0" i="0" u="none" strike="noStrike" cap="none" normalizeH="0" dirty="0" err="1" smtClean="0">
                    <a:ln>
                      <a:noFill/>
                    </a:ln>
                    <a:solidFill>
                      <a:schemeClr val="tx1"/>
                    </a:solidFill>
                    <a:effectLst/>
                    <a:latin typeface="Arial" charset="0"/>
                    <a:ea typeface="돋움" pitchFamily="50" charset="-127"/>
                  </a:rPr>
                  <a:t>Mục</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đích</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để</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đảm</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bảo</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điều</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kiện</a:t>
                </a:r>
                <a:r>
                  <a:rPr kumimoji="1" lang="en-US" altLang="ja-JP" sz="1200" b="0" i="0" u="none" strike="noStrike" cap="none" normalizeH="0" dirty="0" smtClean="0">
                    <a:ln>
                      <a:noFill/>
                    </a:ln>
                    <a:solidFill>
                      <a:schemeClr val="tx1"/>
                    </a:solidFill>
                    <a:effectLst/>
                    <a:latin typeface="Arial" charset="0"/>
                    <a:ea typeface="돋움" pitchFamily="50" charset="-127"/>
                  </a:rPr>
                  <a:t> </a:t>
                </a:r>
              </a:p>
              <a:p>
                <a:pPr marR="0" algn="l" defTabSz="914400" rtl="0" eaLnBrk="1" fontAlgn="base" latinLnBrk="0" hangingPunct="1">
                  <a:lnSpc>
                    <a:spcPct val="100000"/>
                  </a:lnSpc>
                  <a:spcBef>
                    <a:spcPct val="0"/>
                  </a:spcBef>
                  <a:spcAft>
                    <a:spcPct val="0"/>
                  </a:spcAft>
                  <a:buClrTx/>
                  <a:buSzTx/>
                  <a:tabLst/>
                </a:pPr>
                <a:r>
                  <a:rPr kumimoji="1" lang="en-US" altLang="ja-JP" sz="1200" b="0" i="0" u="none" strike="noStrike" cap="none" normalizeH="0" dirty="0" err="1" smtClean="0">
                    <a:ln>
                      <a:noFill/>
                    </a:ln>
                    <a:solidFill>
                      <a:schemeClr val="tx1"/>
                    </a:solidFill>
                    <a:effectLst/>
                    <a:latin typeface="Arial" charset="0"/>
                    <a:ea typeface="돋움" pitchFamily="50" charset="-127"/>
                  </a:rPr>
                  <a:t>của những sample được lấy là giống hệt nhau, chỉ tồn tại chance cause (nguyên nhân ngẫu nhiên) trong mỗi nhóm.</a:t>
                </a:r>
              </a:p>
              <a:p>
                <a:pPr marR="0" algn="l" defTabSz="914400" rtl="0" eaLnBrk="1" fontAlgn="base" latinLnBrk="0" hangingPunct="1">
                  <a:lnSpc>
                    <a:spcPct val="100000"/>
                  </a:lnSpc>
                  <a:spcBef>
                    <a:spcPct val="0"/>
                  </a:spcBef>
                  <a:spcAft>
                    <a:spcPct val="0"/>
                  </a:spcAft>
                  <a:buClrTx/>
                  <a:buSzTx/>
                  <a:tabLst/>
                </a:pPr>
                <a:r>
                  <a:rPr lang="en-US" altLang="ja-JP" sz="1200" dirty="0" err="1" smtClean="0">
                    <a:latin typeface="Arial" charset="0"/>
                    <a:ea typeface="돋움" pitchFamily="50" charset="-127"/>
                  </a:rPr>
                  <a:t>Tại</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sao</a:t>
                </a:r>
                <a:r>
                  <a:rPr lang="en-US" altLang="ja-JP" sz="1200" dirty="0" smtClean="0">
                    <a:latin typeface="Arial" charset="0"/>
                    <a:ea typeface="돋움" pitchFamily="50" charset="-127"/>
                  </a:rPr>
                  <a:t> n &lt;= 5? </a:t>
                </a:r>
                <a:r>
                  <a:rPr lang="en-US" altLang="ja-JP" sz="1200" dirty="0" err="1" smtClean="0">
                    <a:latin typeface="Arial" charset="0"/>
                    <a:ea typeface="돋움" pitchFamily="50" charset="-127"/>
                  </a:rPr>
                  <a:t>Vì</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từ</a:t>
                </a:r>
                <a:r>
                  <a:rPr lang="en-US" altLang="ja-JP" sz="1200" dirty="0" smtClean="0">
                    <a:latin typeface="Arial" charset="0"/>
                    <a:ea typeface="돋움" pitchFamily="50" charset="-127"/>
                  </a:rPr>
                  <a:t> con </a:t>
                </a:r>
                <a:r>
                  <a:rPr lang="en-US" altLang="ja-JP" sz="1200" dirty="0" err="1" smtClean="0">
                    <a:latin typeface="Arial" charset="0"/>
                    <a:ea typeface="돋움" pitchFamily="50" charset="-127"/>
                  </a:rPr>
                  <a:t>thứ</a:t>
                </a:r>
                <a:r>
                  <a:rPr lang="en-US" altLang="ja-JP" sz="1200" dirty="0" smtClean="0">
                    <a:latin typeface="Arial" charset="0"/>
                    <a:ea typeface="돋움" pitchFamily="50" charset="-127"/>
                  </a:rPr>
                  <a:t> 6 </a:t>
                </a:r>
                <a:r>
                  <a:rPr lang="en-US" altLang="ja-JP" sz="1200" dirty="0" err="1" smtClean="0">
                    <a:latin typeface="Arial" charset="0"/>
                    <a:ea typeface="돋움" pitchFamily="50" charset="-127"/>
                  </a:rPr>
                  <a:t>trở</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đi</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không</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đảm</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bảo</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điều</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kiện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giống</a:t>
                </a:r>
                <a:r>
                  <a:rPr lang="en-US" altLang="ja-JP" sz="1200" dirty="0" smtClean="0">
                    <a:latin typeface="Arial" charset="0"/>
                    <a:ea typeface="돋움" pitchFamily="50" charset="-127"/>
                  </a:rPr>
                  <a:t> </a:t>
                </a:r>
              </a:p>
              <a:p>
                <a:pPr marR="0" algn="l" defTabSz="914400" rtl="0" eaLnBrk="1" fontAlgn="base" latinLnBrk="0" hangingPunct="1">
                  <a:lnSpc>
                    <a:spcPct val="100000"/>
                  </a:lnSpc>
                  <a:spcBef>
                    <a:spcPct val="0"/>
                  </a:spcBef>
                  <a:spcAft>
                    <a:spcPct val="0"/>
                  </a:spcAft>
                  <a:buClrTx/>
                  <a:buSzTx/>
                  <a:tabLst/>
                </a:pPr>
                <a:r>
                  <a:rPr lang="en-US" altLang="ja-JP" sz="1200" dirty="0" err="1" smtClean="0">
                    <a:latin typeface="Arial" charset="0"/>
                    <a:ea typeface="돋움" pitchFamily="50" charset="-127"/>
                  </a:rPr>
                  <a:t>như</a:t>
                </a:r>
                <a:r>
                  <a:rPr lang="en-US" altLang="ja-JP" sz="1200" dirty="0" smtClean="0">
                    <a:latin typeface="Arial" charset="0"/>
                    <a:ea typeface="돋움" pitchFamily="50" charset="-127"/>
                  </a:rPr>
                  <a:t> con </a:t>
                </a:r>
                <a:r>
                  <a:rPr lang="en-US" altLang="ja-JP" sz="1200" dirty="0" err="1" smtClean="0">
                    <a:latin typeface="Arial" charset="0"/>
                    <a:ea typeface="돋움" pitchFamily="50" charset="-127"/>
                  </a:rPr>
                  <a:t>đầu</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tiên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nữa</a:t>
                </a:r>
                <a:r>
                  <a:rPr lang="en-US" altLang="ja-JP" sz="1200" dirty="0" smtClean="0">
                    <a:latin typeface="Arial" charset="0"/>
                    <a:ea typeface="돋움" pitchFamily="50" charset="-127"/>
                  </a:rPr>
                  <a:t>.</a:t>
                </a:r>
                <a:endParaRPr kumimoji="1" lang="en-US" altLang="ja-JP" sz="1200" b="0" i="0" u="none" strike="noStrike" cap="none" normalizeH="0" dirty="0" smtClean="0">
                  <a:ln>
                    <a:noFill/>
                  </a:ln>
                  <a:solidFill>
                    <a:schemeClr val="tx1"/>
                  </a:solidFill>
                  <a:effectLst/>
                  <a:latin typeface="Arial" charset="0"/>
                  <a:ea typeface="돋움" pitchFamily="50" charset="-127"/>
                </a:endParaRPr>
              </a:p>
              <a:p>
                <a:pPr marL="342900" marR="0" indent="-342900" algn="l" defTabSz="914400" rtl="0" eaLnBrk="1" fontAlgn="base" latinLnBrk="0" hangingPunct="1">
                  <a:lnSpc>
                    <a:spcPct val="100000"/>
                  </a:lnSpc>
                  <a:spcBef>
                    <a:spcPct val="0"/>
                  </a:spcBef>
                  <a:spcAft>
                    <a:spcPct val="0"/>
                  </a:spcAft>
                  <a:buClrTx/>
                  <a:buSzTx/>
                  <a:buFontTx/>
                  <a:buAutoNum type="arabicPeriod"/>
                  <a:tabLst/>
                </a:pPr>
                <a:endParaRPr kumimoji="1" lang="en-US" altLang="ja-JP" sz="1200" b="0" i="0" u="none" strike="noStrike" cap="none" normalizeH="0" baseline="0" dirty="0" smtClean="0">
                  <a:ln>
                    <a:noFill/>
                  </a:ln>
                  <a:solidFill>
                    <a:schemeClr val="tx1"/>
                  </a:solidFill>
                  <a:effectLst/>
                  <a:latin typeface="Arial" charset="0"/>
                  <a:ea typeface="돋움" pitchFamily="50" charset="-127"/>
                </a:endParaRPr>
              </a:p>
              <a:p>
                <a:pPr marL="0" marR="0" indent="0" algn="l" defTabSz="914400" rtl="0" eaLnBrk="1" fontAlgn="base" latinLnBrk="0" hangingPunct="1">
                  <a:lnSpc>
                    <a:spcPct val="100000"/>
                  </a:lnSpc>
                  <a:spcBef>
                    <a:spcPct val="0"/>
                  </a:spcBef>
                  <a:spcAft>
                    <a:spcPct val="0"/>
                  </a:spcAft>
                  <a:buClrTx/>
                  <a:buSzTx/>
                  <a:buFontTx/>
                  <a:buNone/>
                  <a:tabLst/>
                  <a:defRPr/>
                </a:pPr>
                <a:r>
                  <a:rPr lang="en-US" altLang="ja-JP" dirty="0" smtClean="0"/>
                  <a:t>How to choose samples for process capability? Take n consecutive units from each lot (n ≤ 5) at fixed time intervals, e.g. every 2 hours over several consecutive days. Purpose: the conditions of the units in one subgroup are the same, so only common-cause (chance) variation exists within the subgroup. Why n ≤ 5? From the 6th unit onwards the conditions are no longer the same as for the first unit.</a:t>
                </a:r>
              </a:p>
              <a:p>
                <a:pPr marL="0" marR="0" indent="0" algn="l" defTabSz="914400" rtl="0" eaLnBrk="1" fontAlgn="base" latinLnBrk="0" hangingPunct="1">
                  <a:lnSpc>
                    <a:spcPct val="100000"/>
                  </a:lnSpc>
                  <a:spcBef>
                    <a:spcPct val="0"/>
                  </a:spcBef>
                  <a:spcAft>
                    <a:spcPct val="0"/>
                  </a:spcAft>
                  <a:buClrTx/>
                  <a:buSzTx/>
                  <a:buFontTx/>
                  <a:buNone/>
                  <a:tabLst/>
                </a:pPr>
                <a:endParaRPr kumimoji="1" lang="en-US" altLang="ja-JP" sz="1200" b="0" i="0" u="none" strike="noStrike" cap="none" normalizeH="0" baseline="0" dirty="0" smtClean="0">
                  <a:ln>
                    <a:noFill/>
                  </a:ln>
                  <a:solidFill>
                    <a:schemeClr val="tx1"/>
                  </a:solidFill>
                  <a:effectLst/>
                  <a:latin typeface="Arial" charset="0"/>
                  <a:ea typeface="돋움" pitchFamily="50" charset="-127"/>
                </a:endParaRPr>
              </a:p>
              <a:p>
                <a:pPr marL="0" marR="0" indent="0" algn="l" defTabSz="914400" rtl="0" eaLnBrk="1" fontAlgn="base" latinLnBrk="0" hangingPunct="1">
                  <a:lnSpc>
                    <a:spcPct val="100000"/>
                  </a:lnSpc>
                  <a:spcBef>
                    <a:spcPct val="0"/>
                  </a:spcBef>
                  <a:spcAft>
                    <a:spcPct val="0"/>
                  </a:spcAft>
                  <a:buClrTx/>
                  <a:buSzTx/>
                  <a:buFontTx/>
                  <a:buNone/>
                  <a:tabLst/>
                </a:pPr>
                <a:r>
                  <a:rPr lang="en-US" altLang="ja-JP" sz="1200" dirty="0" smtClean="0">
                    <a:latin typeface="Arial" charset="0"/>
                    <a:ea typeface="돋움" pitchFamily="50" charset="-127"/>
                  </a:rPr>
                  <a:t>3. Why use a control chart? A control chart is used to detect abnormal behavior of the process at an early stage.</a:t>
                </a:r>
                <a:endParaRPr lang="en-US" altLang="ja-JP" sz="1200" baseline="0" dirty="0" smtClean="0">
                  <a:latin typeface="Arial" charset="0"/>
                  <a:ea typeface="돋움" pitchFamily="50" charset="-127"/>
                </a:endParaRPr>
              </a:p>
              <a:p>
                <a:endParaRPr kumimoji="1" lang="ja-JP" altLang="en-US" dirty="0"/>
              </a:p>
            </p:txBody>
          </p:sp>
        </mc:Fallback>
      </mc:AlternateContent>
      <p:sp>
        <p:nvSpPr>
          <p:cNvPr id="4" name="Slide Number Placeholder 3"/>
          <p:cNvSpPr>
            <a:spLocks noGrp="1"/>
          </p:cNvSpPr>
          <p:nvPr>
            <p:ph type="sldNum" sz="quarter" idx="10"/>
          </p:nvPr>
        </p:nvSpPr>
        <p:spPr/>
        <p:txBody>
          <a:bodyPr/>
          <a:lstStyle/>
          <a:p>
            <a:pPr>
              <a:defRPr/>
            </a:pPr>
            <a:fld id="{97375BCD-8584-40B1-BC96-764EEABFA733}" type="slidenum">
              <a:rPr lang="ko-KR" altLang="en-US" smtClean="0"/>
              <a:pPr>
                <a:defRPr/>
              </a:pPr>
              <a:t>28</a:t>
            </a:fld>
            <a:endParaRPr lang="ko-KR" altLang="en-US" dirty="0"/>
          </a:p>
        </p:txBody>
      </p:sp>
    </p:spTree>
    <p:extLst>
      <p:ext uri="{BB962C8B-B14F-4D97-AF65-F5344CB8AC3E}">
        <p14:creationId xmlns:p14="http://schemas.microsoft.com/office/powerpoint/2010/main" val="340623327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kumimoji="1" lang="en-US" altLang="ja-JP" b="1" dirty="0" err="1"/>
                  <a:t>Zst: within (short-term), Zlt: overall (long-term). The short-term process capability (Zst) represents the best capability of the current process. Zlt represents the process capability from the customer’s perspective.</a:t>
                </a:r>
              </a:p>
              <a:p>
                <a:r>
                  <a:rPr kumimoji="1" lang="en-US" altLang="ja-JP" b="1" dirty="0"/>
                  <a:t>Over time the quality deteriorates because of tool and equipment wear, variation between workers and changes of environment. Zshift = Zst − Zlt indicates the degree of deterioration; a shift of about 1.0 to 1.5 is typical. If Zshift is greater than 1.5, management (control) is judged not good; if Zshift is less than 1.5, management is judged good.</a:t>
                </a:r>
              </a:p>
              <a:p>
                <a:r>
                  <a:rPr kumimoji="1" lang="en-US" altLang="ja-JP" dirty="0" err="1"/>
                  <a:t>Cpk</a:t>
                </a:r>
                <a:r>
                  <a:rPr kumimoji="1" lang="en-US" altLang="ja-JP" dirty="0"/>
                  <a:t> is a measure of the potential capability of the process and equals the minimum of CPU and CPL. </a:t>
                </a:r>
                <a:r>
                  <a:rPr kumimoji="1" lang="en-US" altLang="ja-JP" dirty="0" err="1"/>
                  <a:t>Cpk</a:t>
                </a:r>
                <a:r>
                  <a:rPr kumimoji="1" lang="en-US" altLang="ja-JP" dirty="0"/>
                  <a:t> is a ratio that compares two values:</a:t>
                </a:r>
              </a:p>
              <a:p>
                <a:r>
                  <a:rPr kumimoji="1" lang="en-US" altLang="ja-JP" dirty="0"/>
                  <a:t>The distance from the process mean to the closest specification limit (USL or LSL)</a:t>
                </a:r>
              </a:p>
              <a:p>
                <a:r>
                  <a:rPr kumimoji="1" lang="en-US" altLang="ja-JP" dirty="0"/>
                  <a:t>The one-sided spread of the process (the 3-σ variation) based on the within-subgroup standard deviation</a:t>
                </a:r>
              </a:p>
              <a:p>
                <a:r>
                  <a:rPr kumimoji="1" lang="en-US" altLang="ja-JP" dirty="0" err="1"/>
                  <a:t>Cpk</a:t>
                </a:r>
                <a:r>
                  <a:rPr kumimoji="1" lang="en-US" altLang="ja-JP" dirty="0"/>
                  <a:t> considers both the location and the variation (within subgroups) of the process.</a:t>
                </a:r>
                <a:endParaRPr kumimoji="1" lang="ja-JP" altLang="en-US" dirty="0"/>
              </a:p>
              <a:p>
                <a:endParaRPr kumimoji="1" lang="ja-JP" altLang="en-US" dirty="0"/>
              </a:p>
              <a:p>
                <a:endParaRPr kumimoji="1" lang="ja-JP" altLang="en-US" dirty="0"/>
              </a:p>
            </p:txBody>
          </p:sp>
        </mc:Choice>
        <mc:Fallback xmlns="">
          <p:sp>
            <p:nvSpPr>
              <p:cNvPr id="3" name="Notes Placeholder 2"/>
              <p:cNvSpPr>
                <a:spLocks noGrp="1"/>
              </p:cNvSpPr>
              <p:nvPr>
                <p:ph type="body" idx="1"/>
              </p:nvPr>
            </p:nvSpPr>
            <p:spPr/>
            <p:txBody>
              <a:bodyPr/>
              <a:lstStyle/>
              <a:p>
                <a:pPr marL="0" marR="0" indent="0" algn="l" defTabSz="914400" rtl="0" eaLnBrk="1" fontAlgn="base" latinLnBrk="0" hangingPunct="1">
                  <a:lnSpc>
                    <a:spcPct val="100000"/>
                  </a:lnSpc>
                  <a:spcBef>
                    <a:spcPct val="0"/>
                  </a:spcBef>
                  <a:spcAft>
                    <a:spcPct val="0"/>
                  </a:spcAft>
                  <a:buClrTx/>
                  <a:buSzTx/>
                  <a:buFontTx/>
                  <a:buNone/>
                  <a:tabLst/>
                </a:pPr>
                <a:r>
                  <a:rPr kumimoji="1" lang="en-US" altLang="ja-JP" sz="1200" b="0" i="0" u="none" strike="noStrike" cap="none" normalizeH="0" baseline="0" dirty="0" smtClean="0">
                    <a:ln>
                      <a:noFill/>
                    </a:ln>
                    <a:solidFill>
                      <a:schemeClr val="tx1"/>
                    </a:solidFill>
                    <a:effectLst/>
                    <a:latin typeface="Arial" charset="0"/>
                    <a:ea typeface="돋움" pitchFamily="50" charset="-127"/>
                  </a:rPr>
                  <a:t>1. How</a:t>
                </a:r>
                <a:r>
                  <a:rPr kumimoji="1" lang="en-US" altLang="ja-JP" sz="1200" b="0" i="0" u="none" strike="noStrike" cap="none" normalizeH="0" dirty="0" smtClean="0">
                    <a:ln>
                      <a:noFill/>
                    </a:ln>
                    <a:solidFill>
                      <a:schemeClr val="tx1"/>
                    </a:solidFill>
                    <a:effectLst/>
                    <a:latin typeface="Arial" charset="0"/>
                    <a:ea typeface="돋움" pitchFamily="50" charset="-127"/>
                  </a:rPr>
                  <a:t> to </a:t>
                </a:r>
                <a:r>
                  <a:rPr kumimoji="1" lang="en-US" altLang="ja-JP" sz="1200" b="1" i="0" u="none" strike="noStrike" cap="none" normalizeH="0" dirty="0" smtClean="0">
                    <a:ln>
                      <a:noFill/>
                    </a:ln>
                    <a:solidFill>
                      <a:schemeClr val="tx1"/>
                    </a:solidFill>
                    <a:effectLst/>
                    <a:latin typeface="Arial" charset="0"/>
                    <a:ea typeface="돋움" pitchFamily="50" charset="-127"/>
                  </a:rPr>
                  <a:t>select sample for Process Capability</a:t>
                </a:r>
                <a:r>
                  <a:rPr kumimoji="1" lang="en-US" altLang="ja-JP" sz="1200" b="0" i="0" u="none" strike="noStrike" cap="none" normalizeH="0" dirty="0" smtClean="0">
                    <a:ln>
                      <a:noFill/>
                    </a:ln>
                    <a:solidFill>
                      <a:schemeClr val="tx1"/>
                    </a:solidFill>
                    <a:effectLst/>
                    <a:latin typeface="Arial" charset="0"/>
                    <a:ea typeface="돋움" pitchFamily="50" charset="-127"/>
                  </a:rPr>
                  <a:t>?</a:t>
                </a:r>
                <a:r>
                  <a:rPr kumimoji="1" lang="en-US" altLang="ja-JP" sz="1200" b="0" i="0" u="none" strike="noStrike" cap="none" normalizeH="0" baseline="0" dirty="0" smtClean="0">
                    <a:ln>
                      <a:noFill/>
                    </a:ln>
                    <a:solidFill>
                      <a:schemeClr val="tx1"/>
                    </a:solidFill>
                    <a:effectLst/>
                    <a:latin typeface="Arial" charset="0"/>
                    <a:ea typeface="돋움" pitchFamily="50" charset="-127"/>
                  </a:rPr>
                  <a:t> </a:t>
                </a:r>
                <a:r>
                  <a:rPr kumimoji="1" lang="en-US" altLang="ja-JP" sz="1200" b="0" i="0" u="none" strike="noStrike" cap="none" normalizeH="0" baseline="0" smtClean="0">
                    <a:ln>
                      <a:noFill/>
                    </a:ln>
                    <a:solidFill>
                      <a:schemeClr val="tx1"/>
                    </a:solidFill>
                    <a:effectLst/>
                    <a:latin typeface="Cambria Math" panose="02040503050406030204" pitchFamily="18" charset="0"/>
                    <a:ea typeface="Cambria Math" panose="02040503050406030204" pitchFamily="18" charset="0"/>
                  </a:rPr>
                  <a:t>→</a:t>
                </a:r>
                <a:r>
                  <a:rPr lang="en-US" altLang="ja-JP" sz="1200" dirty="0" smtClean="0">
                    <a:latin typeface="Arial" charset="0"/>
                    <a:ea typeface="돋움" pitchFamily="50" charset="-127"/>
                  </a:rPr>
                  <a:t>Select by </a:t>
                </a:r>
                <a:r>
                  <a:rPr lang="en-US" altLang="ja-JP" sz="1200" b="1" dirty="0" smtClean="0">
                    <a:latin typeface="Arial" charset="0"/>
                    <a:ea typeface="돋움" pitchFamily="50" charset="-127"/>
                  </a:rPr>
                  <a:t>Rational subgroup</a:t>
                </a:r>
              </a:p>
              <a:p>
                <a:pPr marR="0" algn="l" defTabSz="914400" rtl="0" eaLnBrk="1" fontAlgn="base" latinLnBrk="0" hangingPunct="1">
                  <a:lnSpc>
                    <a:spcPct val="100000"/>
                  </a:lnSpc>
                  <a:spcBef>
                    <a:spcPct val="0"/>
                  </a:spcBef>
                  <a:spcAft>
                    <a:spcPct val="0"/>
                  </a:spcAft>
                  <a:buClrTx/>
                  <a:buSzTx/>
                  <a:tabLst/>
                </a:pPr>
                <a:r>
                  <a:rPr lang="en-US" altLang="ja-JP" sz="1200" dirty="0" smtClean="0">
                    <a:latin typeface="Arial" charset="0"/>
                    <a:ea typeface="돋움" pitchFamily="50" charset="-127"/>
                  </a:rPr>
                  <a:t> – </a:t>
                </a:r>
                <a:r>
                  <a:rPr lang="en-US" altLang="ja-JP" sz="1200" dirty="0" err="1" smtClean="0">
                    <a:latin typeface="Arial" charset="0"/>
                    <a:ea typeface="돋움" pitchFamily="50" charset="-127"/>
                  </a:rPr>
                  <a:t>Lấy</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theo</a:t>
                </a:r>
                <a:r>
                  <a:rPr lang="en-US" altLang="ja-JP" sz="1200" dirty="0" smtClean="0">
                    <a:latin typeface="Arial" charset="0"/>
                    <a:ea typeface="돋움" pitchFamily="50" charset="-127"/>
                  </a:rPr>
                  <a:t> lot, n con </a:t>
                </a:r>
                <a:r>
                  <a:rPr lang="en-US" altLang="ja-JP" sz="1200" dirty="0" err="1" smtClean="0">
                    <a:latin typeface="Arial" charset="0"/>
                    <a:ea typeface="돋움" pitchFamily="50" charset="-127"/>
                  </a:rPr>
                  <a:t>liền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nhau</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của</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mỗi</a:t>
                </a:r>
                <a:r>
                  <a:rPr lang="en-US" altLang="ja-JP" sz="1200" dirty="0" smtClean="0">
                    <a:latin typeface="Arial" charset="0"/>
                    <a:ea typeface="돋움" pitchFamily="50" charset="-127"/>
                  </a:rPr>
                  <a:t> lot (n&lt;=5), </a:t>
                </a:r>
                <a:r>
                  <a:rPr lang="en-US" altLang="ja-JP" sz="1200" dirty="0" err="1" smtClean="0">
                    <a:latin typeface="Arial" charset="0"/>
                    <a:ea typeface="돋움" pitchFamily="50" charset="-127"/>
                  </a:rPr>
                  <a:t>tại</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các</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khoảng</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thời</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gian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cố</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định</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Vd</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cách</a:t>
                </a:r>
                <a:r>
                  <a:rPr lang="en-US" altLang="ja-JP" sz="1200" dirty="0" smtClean="0">
                    <a:latin typeface="Arial" charset="0"/>
                    <a:ea typeface="돋움" pitchFamily="50" charset="-127"/>
                  </a:rPr>
                  <a:t> 2 </a:t>
                </a:r>
                <a:r>
                  <a:rPr lang="en-US" altLang="ja-JP" sz="1200" dirty="0" err="1" smtClean="0">
                    <a:latin typeface="Arial" charset="0"/>
                    <a:ea typeface="돋움" pitchFamily="50" charset="-127"/>
                  </a:rPr>
                  <a:t>tiếng</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một</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lần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trong</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nhiều</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ngày</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liên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tiếp</a:t>
                </a:r>
                <a:endParaRPr lang="en-US" altLang="ja-JP" sz="1200" dirty="0" smtClean="0">
                  <a:latin typeface="Arial" charset="0"/>
                  <a:ea typeface="돋움" pitchFamily="50" charset="-127"/>
                </a:endParaRPr>
              </a:p>
              <a:p>
                <a:pPr marR="0" algn="l" defTabSz="914400" rtl="0" eaLnBrk="1" fontAlgn="base" latinLnBrk="0" hangingPunct="1">
                  <a:lnSpc>
                    <a:spcPct val="100000"/>
                  </a:lnSpc>
                  <a:spcBef>
                    <a:spcPct val="0"/>
                  </a:spcBef>
                  <a:spcAft>
                    <a:spcPct val="0"/>
                  </a:spcAft>
                  <a:buClrTx/>
                  <a:buSzTx/>
                  <a:tabLst/>
                </a:pPr>
                <a:r>
                  <a:rPr kumimoji="1" lang="en-US" altLang="ja-JP" sz="1200" b="0" i="0" u="none" strike="noStrike" cap="none" normalizeH="0" dirty="0" err="1" smtClean="0">
                    <a:ln>
                      <a:noFill/>
                    </a:ln>
                    <a:solidFill>
                      <a:schemeClr val="tx1"/>
                    </a:solidFill>
                    <a:effectLst/>
                    <a:latin typeface="Arial" charset="0"/>
                    <a:ea typeface="돋움" pitchFamily="50" charset="-127"/>
                  </a:rPr>
                  <a:t>Mục</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đích</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để</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đảm</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bảo</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điều</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kiện</a:t>
                </a:r>
                <a:r>
                  <a:rPr kumimoji="1" lang="en-US" altLang="ja-JP" sz="1200" b="0" i="0" u="none" strike="noStrike" cap="none" normalizeH="0" dirty="0" smtClean="0">
                    <a:ln>
                      <a:noFill/>
                    </a:ln>
                    <a:solidFill>
                      <a:schemeClr val="tx1"/>
                    </a:solidFill>
                    <a:effectLst/>
                    <a:latin typeface="Arial" charset="0"/>
                    <a:ea typeface="돋움" pitchFamily="50" charset="-127"/>
                  </a:rPr>
                  <a:t> </a:t>
                </a:r>
              </a:p>
              <a:p>
                <a:pPr marR="0" algn="l" defTabSz="914400" rtl="0" eaLnBrk="1" fontAlgn="base" latinLnBrk="0" hangingPunct="1">
                  <a:lnSpc>
                    <a:spcPct val="100000"/>
                  </a:lnSpc>
                  <a:spcBef>
                    <a:spcPct val="0"/>
                  </a:spcBef>
                  <a:spcAft>
                    <a:spcPct val="0"/>
                  </a:spcAft>
                  <a:buClrTx/>
                  <a:buSzTx/>
                  <a:tabLst/>
                </a:pPr>
                <a:r>
                  <a:rPr kumimoji="1" lang="en-US" altLang="ja-JP" sz="1200" b="0" i="0" u="none" strike="noStrike" cap="none" normalizeH="0" dirty="0" err="1" smtClean="0">
                    <a:ln>
                      <a:noFill/>
                    </a:ln>
                    <a:solidFill>
                      <a:schemeClr val="tx1"/>
                    </a:solidFill>
                    <a:effectLst/>
                    <a:latin typeface="Arial" charset="0"/>
                    <a:ea typeface="돋움" pitchFamily="50" charset="-127"/>
                  </a:rPr>
                  <a:t>của những sample được lấy là giống hệt nhau, chỉ tồn tại chance cause (nguyên nhân ngẫu nhiên) trong mỗi nhóm.</a:t>
                </a:r>
              </a:p>
              <a:p>
                <a:pPr marR="0" algn="l" defTabSz="914400" rtl="0" eaLnBrk="1" fontAlgn="base" latinLnBrk="0" hangingPunct="1">
                  <a:lnSpc>
                    <a:spcPct val="100000"/>
                  </a:lnSpc>
                  <a:spcBef>
                    <a:spcPct val="0"/>
                  </a:spcBef>
                  <a:spcAft>
                    <a:spcPct val="0"/>
                  </a:spcAft>
                  <a:buClrTx/>
                  <a:buSzTx/>
                  <a:tabLst/>
                </a:pPr>
                <a:r>
                  <a:rPr lang="en-US" altLang="ja-JP" sz="1200" dirty="0" err="1" smtClean="0">
                    <a:latin typeface="Arial" charset="0"/>
                    <a:ea typeface="돋움" pitchFamily="50" charset="-127"/>
                  </a:rPr>
                  <a:t>Tại</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sao</a:t>
                </a:r>
                <a:r>
                  <a:rPr lang="en-US" altLang="ja-JP" sz="1200" dirty="0" smtClean="0">
                    <a:latin typeface="Arial" charset="0"/>
                    <a:ea typeface="돋움" pitchFamily="50" charset="-127"/>
                  </a:rPr>
                  <a:t> n &lt;= 5? </a:t>
                </a:r>
                <a:r>
                  <a:rPr lang="en-US" altLang="ja-JP" sz="1200" dirty="0" err="1" smtClean="0">
                    <a:latin typeface="Arial" charset="0"/>
                    <a:ea typeface="돋움" pitchFamily="50" charset="-127"/>
                  </a:rPr>
                  <a:t>Vì</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từ</a:t>
                </a:r>
                <a:r>
                  <a:rPr lang="en-US" altLang="ja-JP" sz="1200" dirty="0" smtClean="0">
                    <a:latin typeface="Arial" charset="0"/>
                    <a:ea typeface="돋움" pitchFamily="50" charset="-127"/>
                  </a:rPr>
                  <a:t> con </a:t>
                </a:r>
                <a:r>
                  <a:rPr lang="en-US" altLang="ja-JP" sz="1200" dirty="0" err="1" smtClean="0">
                    <a:latin typeface="Arial" charset="0"/>
                    <a:ea typeface="돋움" pitchFamily="50" charset="-127"/>
                  </a:rPr>
                  <a:t>thứ</a:t>
                </a:r>
                <a:r>
                  <a:rPr lang="en-US" altLang="ja-JP" sz="1200" dirty="0" smtClean="0">
                    <a:latin typeface="Arial" charset="0"/>
                    <a:ea typeface="돋움" pitchFamily="50" charset="-127"/>
                  </a:rPr>
                  <a:t> 6 </a:t>
                </a:r>
                <a:r>
                  <a:rPr lang="en-US" altLang="ja-JP" sz="1200" dirty="0" err="1" smtClean="0">
                    <a:latin typeface="Arial" charset="0"/>
                    <a:ea typeface="돋움" pitchFamily="50" charset="-127"/>
                  </a:rPr>
                  <a:t>trở</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đi</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không</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đảm</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bảo</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điều</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kiện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giống</a:t>
                </a:r>
                <a:r>
                  <a:rPr lang="en-US" altLang="ja-JP" sz="1200" dirty="0" smtClean="0">
                    <a:latin typeface="Arial" charset="0"/>
                    <a:ea typeface="돋움" pitchFamily="50" charset="-127"/>
                  </a:rPr>
                  <a:t> </a:t>
                </a:r>
              </a:p>
              <a:p>
                <a:pPr marR="0" algn="l" defTabSz="914400" rtl="0" eaLnBrk="1" fontAlgn="base" latinLnBrk="0" hangingPunct="1">
                  <a:lnSpc>
                    <a:spcPct val="100000"/>
                  </a:lnSpc>
                  <a:spcBef>
                    <a:spcPct val="0"/>
                  </a:spcBef>
                  <a:spcAft>
                    <a:spcPct val="0"/>
                  </a:spcAft>
                  <a:buClrTx/>
                  <a:buSzTx/>
                  <a:tabLst/>
                </a:pPr>
                <a:r>
                  <a:rPr lang="en-US" altLang="ja-JP" sz="1200" dirty="0" err="1" smtClean="0">
                    <a:latin typeface="Arial" charset="0"/>
                    <a:ea typeface="돋움" pitchFamily="50" charset="-127"/>
                  </a:rPr>
                  <a:t>như</a:t>
                </a:r>
                <a:r>
                  <a:rPr lang="en-US" altLang="ja-JP" sz="1200" dirty="0" smtClean="0">
                    <a:latin typeface="Arial" charset="0"/>
                    <a:ea typeface="돋움" pitchFamily="50" charset="-127"/>
                  </a:rPr>
                  <a:t> con </a:t>
                </a:r>
                <a:r>
                  <a:rPr lang="en-US" altLang="ja-JP" sz="1200" dirty="0" err="1" smtClean="0">
                    <a:latin typeface="Arial" charset="0"/>
                    <a:ea typeface="돋움" pitchFamily="50" charset="-127"/>
                  </a:rPr>
                  <a:t>đầu</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tiên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nữa</a:t>
                </a:r>
                <a:r>
                  <a:rPr lang="en-US" altLang="ja-JP" sz="1200" dirty="0" smtClean="0">
                    <a:latin typeface="Arial" charset="0"/>
                    <a:ea typeface="돋움" pitchFamily="50" charset="-127"/>
                  </a:rPr>
                  <a:t>.</a:t>
                </a:r>
                <a:endParaRPr kumimoji="1" lang="en-US" altLang="ja-JP" sz="1200" b="0" i="0" u="none" strike="noStrike" cap="none" normalizeH="0" dirty="0" smtClean="0">
                  <a:ln>
                    <a:noFill/>
                  </a:ln>
                  <a:solidFill>
                    <a:schemeClr val="tx1"/>
                  </a:solidFill>
                  <a:effectLst/>
                  <a:latin typeface="Arial" charset="0"/>
                  <a:ea typeface="돋움" pitchFamily="50" charset="-127"/>
                </a:endParaRPr>
              </a:p>
              <a:p>
                <a:pPr marL="342900" marR="0" indent="-342900" algn="l" defTabSz="914400" rtl="0" eaLnBrk="1" fontAlgn="base" latinLnBrk="0" hangingPunct="1">
                  <a:lnSpc>
                    <a:spcPct val="100000"/>
                  </a:lnSpc>
                  <a:spcBef>
                    <a:spcPct val="0"/>
                  </a:spcBef>
                  <a:spcAft>
                    <a:spcPct val="0"/>
                  </a:spcAft>
                  <a:buClrTx/>
                  <a:buSzTx/>
                  <a:buFontTx/>
                  <a:buAutoNum type="arabicPeriod"/>
                  <a:tabLst/>
                </a:pPr>
                <a:endParaRPr kumimoji="1" lang="en-US" altLang="ja-JP" sz="1200" b="0" i="0" u="none" strike="noStrike" cap="none" normalizeH="0" baseline="0" dirty="0" smtClean="0">
                  <a:ln>
                    <a:noFill/>
                  </a:ln>
                  <a:solidFill>
                    <a:schemeClr val="tx1"/>
                  </a:solidFill>
                  <a:effectLst/>
                  <a:latin typeface="Arial" charset="0"/>
                  <a:ea typeface="돋움" pitchFamily="50" charset="-127"/>
                </a:endParaRPr>
              </a:p>
              <a:p>
                <a:pPr marL="0" marR="0" indent="0" algn="l" defTabSz="914400" rtl="0" eaLnBrk="1" fontAlgn="base" latinLnBrk="0" hangingPunct="1">
                  <a:lnSpc>
                    <a:spcPct val="100000"/>
                  </a:lnSpc>
                  <a:spcBef>
                    <a:spcPct val="0"/>
                  </a:spcBef>
                  <a:spcAft>
                    <a:spcPct val="0"/>
                  </a:spcAft>
                  <a:buClrTx/>
                  <a:buSzTx/>
                  <a:buFontTx/>
                  <a:buNone/>
                  <a:tabLst/>
                  <a:defRPr/>
                </a:pPr>
                <a:r>
                  <a:rPr lang="en-US" altLang="ja-JP" dirty="0" smtClean="0"/>
                  <a:t>How to choose samples for process capability? Take n consecutive units from each lot (n ≤ 5) at fixed time intervals, e.g. every 2 hours over several consecutive days. Purpose: the conditions of the units in one subgroup are the same, so only common-cause (chance) variation exists within the subgroup. Why n ≤ 5? From the 6th unit onwards the conditions are no longer the same as for the first unit.</a:t>
                </a:r>
              </a:p>
              <a:p>
                <a:pPr marL="0" marR="0" indent="0" algn="l" defTabSz="914400" rtl="0" eaLnBrk="1" fontAlgn="base" latinLnBrk="0" hangingPunct="1">
                  <a:lnSpc>
                    <a:spcPct val="100000"/>
                  </a:lnSpc>
                  <a:spcBef>
                    <a:spcPct val="0"/>
                  </a:spcBef>
                  <a:spcAft>
                    <a:spcPct val="0"/>
                  </a:spcAft>
                  <a:buClrTx/>
                  <a:buSzTx/>
                  <a:buFontTx/>
                  <a:buNone/>
                  <a:tabLst/>
                </a:pPr>
                <a:endParaRPr kumimoji="1" lang="en-US" altLang="ja-JP" sz="1200" b="0" i="0" u="none" strike="noStrike" cap="none" normalizeH="0" baseline="0" dirty="0" smtClean="0">
                  <a:ln>
                    <a:noFill/>
                  </a:ln>
                  <a:solidFill>
                    <a:schemeClr val="tx1"/>
                  </a:solidFill>
                  <a:effectLst/>
                  <a:latin typeface="Arial" charset="0"/>
                  <a:ea typeface="돋움" pitchFamily="50" charset="-127"/>
                </a:endParaRPr>
              </a:p>
              <a:p>
                <a:pPr marL="0" marR="0" indent="0" algn="l" defTabSz="914400" rtl="0" eaLnBrk="1" fontAlgn="base" latinLnBrk="0" hangingPunct="1">
                  <a:lnSpc>
                    <a:spcPct val="100000"/>
                  </a:lnSpc>
                  <a:spcBef>
                    <a:spcPct val="0"/>
                  </a:spcBef>
                  <a:spcAft>
                    <a:spcPct val="0"/>
                  </a:spcAft>
                  <a:buClrTx/>
                  <a:buSzTx/>
                  <a:buFontTx/>
                  <a:buNone/>
                  <a:tabLst/>
                </a:pPr>
                <a:r>
                  <a:rPr lang="en-US" altLang="ja-JP" sz="1200" dirty="0" smtClean="0">
                    <a:latin typeface="Arial" charset="0"/>
                    <a:ea typeface="돋움" pitchFamily="50" charset="-127"/>
                  </a:rPr>
                  <a:t>3. Why use a control chart? A control chart is used to detect abnormal behavior of the process at an early stage.</a:t>
                </a:r>
                <a:endParaRPr lang="en-US" altLang="ja-JP" sz="1200" baseline="0" dirty="0" smtClean="0">
                  <a:latin typeface="Arial" charset="0"/>
                  <a:ea typeface="돋움" pitchFamily="50" charset="-127"/>
                </a:endParaRPr>
              </a:p>
              <a:p>
                <a:endParaRPr kumimoji="1" lang="ja-JP" altLang="en-US" dirty="0"/>
              </a:p>
            </p:txBody>
          </p:sp>
        </mc:Fallback>
      </mc:AlternateContent>
      <p:sp>
        <p:nvSpPr>
          <p:cNvPr id="4" name="Slide Number Placeholder 3"/>
          <p:cNvSpPr>
            <a:spLocks noGrp="1"/>
          </p:cNvSpPr>
          <p:nvPr>
            <p:ph type="sldNum" sz="quarter" idx="10"/>
          </p:nvPr>
        </p:nvSpPr>
        <p:spPr/>
        <p:txBody>
          <a:bodyPr/>
          <a:lstStyle/>
          <a:p>
            <a:pPr>
              <a:defRPr/>
            </a:pPr>
            <a:fld id="{97375BCD-8584-40B1-BC96-764EEABFA733}" type="slidenum">
              <a:rPr lang="ko-KR" altLang="en-US" smtClean="0"/>
              <a:pPr>
                <a:defRPr/>
              </a:pPr>
              <a:t>29</a:t>
            </a:fld>
            <a:endParaRPr lang="ko-KR" altLang="en-US" dirty="0"/>
          </a:p>
        </p:txBody>
      </p:sp>
    </p:spTree>
    <p:extLst>
      <p:ext uri="{BB962C8B-B14F-4D97-AF65-F5344CB8AC3E}">
        <p14:creationId xmlns:p14="http://schemas.microsoft.com/office/powerpoint/2010/main" val="333753334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1_빈 화면">
    <p:spTree>
      <p:nvGrpSpPr>
        <p:cNvPr id="1" name=""/>
        <p:cNvGrpSpPr/>
        <p:nvPr/>
      </p:nvGrpSpPr>
      <p:grpSpPr>
        <a:xfrm>
          <a:off x="0" y="0"/>
          <a:ext cx="0" cy="0"/>
          <a:chOff x="0" y="0"/>
          <a:chExt cx="0" cy="0"/>
        </a:xfrm>
      </p:grpSpPr>
      <p:sp>
        <p:nvSpPr>
          <p:cNvPr id="2" name="제목 개체 틀 2"/>
          <p:cNvSpPr>
            <a:spLocks noGrp="1"/>
          </p:cNvSpPr>
          <p:nvPr>
            <p:ph type="title"/>
          </p:nvPr>
        </p:nvSpPr>
        <p:spPr>
          <a:xfrm>
            <a:off x="200472" y="116632"/>
            <a:ext cx="8915400" cy="418058"/>
          </a:xfrm>
          <a:prstGeom prst="rect">
            <a:avLst/>
          </a:prstGeom>
        </p:spPr>
        <p:txBody>
          <a:bodyPr vert="horz" lIns="91440" tIns="45720" rIns="91440" bIns="45720" rtlCol="0" anchor="ctr">
            <a:normAutofit/>
          </a:bodyPr>
          <a:lstStyle>
            <a:lvl1pPr>
              <a:defRPr>
                <a:latin typeface="맑은 고딕" panose="020B0503020000020004" pitchFamily="50" charset="-127"/>
                <a:ea typeface="맑은 고딕" panose="020B0503020000020004" pitchFamily="50" charset="-127"/>
              </a:defRPr>
            </a:lvl1pPr>
          </a:lstStyle>
          <a:p>
            <a:r>
              <a:rPr lang="ko-KR" altLang="en-US" dirty="0"/>
              <a:t>제목을 입력 하세요</a:t>
            </a:r>
          </a:p>
        </p:txBody>
      </p:sp>
      <p:sp>
        <p:nvSpPr>
          <p:cNvPr id="3" name="슬라이드 번호 개체 틀 5"/>
          <p:cNvSpPr>
            <a:spLocks noGrp="1"/>
          </p:cNvSpPr>
          <p:nvPr>
            <p:ph type="sldNum" sz="quarter" idx="12"/>
          </p:nvPr>
        </p:nvSpPr>
        <p:spPr>
          <a:xfrm>
            <a:off x="3728864" y="6542599"/>
            <a:ext cx="2133600" cy="293117"/>
          </a:xfrm>
          <a:prstGeom prst="rect">
            <a:avLst/>
          </a:prstGeom>
        </p:spPr>
        <p:txBody>
          <a:bodyPr/>
          <a:lstStyle>
            <a:lvl1pPr algn="ctr">
              <a:defRPr sz="1000">
                <a:latin typeface="현대하모니 L" panose="02020603020101020101" pitchFamily="18" charset="-127"/>
                <a:ea typeface="현대하모니 L" panose="02020603020101020101" pitchFamily="18" charset="-127"/>
              </a:defRPr>
            </a:lvl1pPr>
          </a:lstStyle>
          <a:p>
            <a:fld id="{CCB65402-AEF5-4D26-A49C-7368E264DDAC}" type="slidenum">
              <a:rPr lang="ko-KR" altLang="en-US" smtClean="0">
                <a:solidFill>
                  <a:prstClr val="black">
                    <a:tint val="75000"/>
                  </a:prstClr>
                </a:solidFill>
              </a:rPr>
              <a:pPr/>
              <a:t>‹#›</a:t>
            </a:fld>
            <a:r>
              <a:rPr lang="ko-KR" altLang="en-US" dirty="0">
                <a:solidFill>
                  <a:prstClr val="black">
                    <a:tint val="75000"/>
                  </a:prstClr>
                </a:solidFill>
              </a:rPr>
              <a:t> </a:t>
            </a:r>
            <a:r>
              <a:rPr lang="en-US" altLang="ko-KR" dirty="0">
                <a:solidFill>
                  <a:prstClr val="black">
                    <a:tint val="75000"/>
                  </a:prstClr>
                </a:solidFill>
              </a:rPr>
              <a:t>/  </a:t>
            </a:r>
            <a:endParaRPr lang="ko-KR" altLang="en-US" dirty="0">
              <a:solidFill>
                <a:prstClr val="black">
                  <a:tint val="75000"/>
                </a:prstClr>
              </a:solidFill>
            </a:endParaRPr>
          </a:p>
        </p:txBody>
      </p:sp>
    </p:spTree>
    <p:extLst>
      <p:ext uri="{BB962C8B-B14F-4D97-AF65-F5344CB8AC3E}">
        <p14:creationId xmlns:p14="http://schemas.microsoft.com/office/powerpoint/2010/main" val="26244797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빈 화면">
    <p:spTree>
      <p:nvGrpSpPr>
        <p:cNvPr id="1" name=""/>
        <p:cNvGrpSpPr/>
        <p:nvPr/>
      </p:nvGrpSpPr>
      <p:grpSpPr>
        <a:xfrm>
          <a:off x="0" y="0"/>
          <a:ext cx="0" cy="0"/>
          <a:chOff x="0" y="0"/>
          <a:chExt cx="0" cy="0"/>
        </a:xfrm>
      </p:grpSpPr>
      <p:sp>
        <p:nvSpPr>
          <p:cNvPr id="2" name="날짜 개체 틀 1"/>
          <p:cNvSpPr>
            <a:spLocks noGrp="1"/>
          </p:cNvSpPr>
          <p:nvPr>
            <p:ph type="dt" sz="half" idx="10"/>
          </p:nvPr>
        </p:nvSpPr>
        <p:spPr>
          <a:xfrm>
            <a:off x="742950" y="6248400"/>
            <a:ext cx="2063750" cy="457200"/>
          </a:xfrm>
          <a:prstGeom prst="rect">
            <a:avLst/>
          </a:prstGeom>
        </p:spPr>
        <p:txBody>
          <a:bodyPr/>
          <a:lstStyle>
            <a:lvl1pPr>
              <a:defRPr/>
            </a:lvl1pPr>
          </a:lstStyle>
          <a:p>
            <a:pPr>
              <a:defRPr/>
            </a:pPr>
            <a:endParaRPr lang="ko-KR" altLang="en-US" dirty="0">
              <a:solidFill>
                <a:srgbClr val="000000"/>
              </a:solidFill>
            </a:endParaRPr>
          </a:p>
        </p:txBody>
      </p:sp>
      <p:sp>
        <p:nvSpPr>
          <p:cNvPr id="3" name="바닥글 개체 틀 2"/>
          <p:cNvSpPr>
            <a:spLocks noGrp="1"/>
          </p:cNvSpPr>
          <p:nvPr>
            <p:ph type="ftr" sz="quarter" idx="11"/>
          </p:nvPr>
        </p:nvSpPr>
        <p:spPr>
          <a:xfrm>
            <a:off x="3384550" y="6248400"/>
            <a:ext cx="3136900" cy="457200"/>
          </a:xfrm>
          <a:prstGeom prst="rect">
            <a:avLst/>
          </a:prstGeom>
        </p:spPr>
        <p:txBody>
          <a:bodyPr/>
          <a:lstStyle>
            <a:lvl1pPr>
              <a:defRPr/>
            </a:lvl1pPr>
          </a:lstStyle>
          <a:p>
            <a:pPr>
              <a:defRPr/>
            </a:pPr>
            <a:endParaRPr lang="ko-KR" altLang="en-US">
              <a:solidFill>
                <a:srgbClr val="000000"/>
              </a:solidFill>
            </a:endParaRPr>
          </a:p>
        </p:txBody>
      </p:sp>
      <p:sp>
        <p:nvSpPr>
          <p:cNvPr id="4" name="슬라이드 번호 개체 틀 3"/>
          <p:cNvSpPr>
            <a:spLocks noGrp="1"/>
          </p:cNvSpPr>
          <p:nvPr>
            <p:ph type="sldNum" sz="quarter" idx="12"/>
          </p:nvPr>
        </p:nvSpPr>
        <p:spPr>
          <a:xfrm>
            <a:off x="7099300" y="6356350"/>
            <a:ext cx="2311400" cy="365125"/>
          </a:xfrm>
          <a:prstGeom prst="rect">
            <a:avLst/>
          </a:prstGeom>
        </p:spPr>
        <p:txBody>
          <a:bodyPr/>
          <a:lstStyle>
            <a:lvl1pPr>
              <a:defRPr/>
            </a:lvl1pPr>
          </a:lstStyle>
          <a:p>
            <a:pPr>
              <a:defRPr/>
            </a:pPr>
            <a:fld id="{0674F093-85E3-4077-80AF-B10359088A98}" type="slidenum">
              <a:rPr lang="ko-KR" altLang="en-US" sz="1200">
                <a:solidFill>
                  <a:srgbClr val="000000"/>
                </a:solidFill>
                <a:latin typeface="Arial" charset="0"/>
                <a:ea typeface="돋움" pitchFamily="50" charset="-127"/>
              </a:rPr>
              <a:pPr>
                <a:defRPr/>
              </a:pPr>
              <a:t>‹#›</a:t>
            </a:fld>
            <a:endParaRPr lang="ko-KR" altLang="en-US" sz="1200" dirty="0">
              <a:solidFill>
                <a:srgbClr val="000000"/>
              </a:solidFill>
              <a:latin typeface="Arial" charset="0"/>
              <a:ea typeface="돋움" pitchFamily="50" charset="-127"/>
            </a:endParaRPr>
          </a:p>
        </p:txBody>
      </p:sp>
    </p:spTree>
    <p:extLst>
      <p:ext uri="{BB962C8B-B14F-4D97-AF65-F5344CB8AC3E}">
        <p14:creationId xmlns:p14="http://schemas.microsoft.com/office/powerpoint/2010/main" val="27155397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238250" y="1122363"/>
            <a:ext cx="7429500" cy="2387600"/>
          </a:xfrm>
          <a:prstGeom prst="rect">
            <a:avLst/>
          </a:prstGeo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238250" y="3602038"/>
            <a:ext cx="7429500" cy="1655762"/>
          </a:xfrm>
        </p:spPr>
        <p:txBody>
          <a:bodyPr/>
          <a:lstStyle>
            <a:lvl1pPr marL="0" indent="0" algn="ctr">
              <a:buNone/>
              <a:defRPr sz="2400"/>
            </a:lvl1pPr>
            <a:lvl2pPr marL="457211" indent="0" algn="ctr">
              <a:buNone/>
              <a:defRPr sz="2000"/>
            </a:lvl2pPr>
            <a:lvl3pPr marL="914423" indent="0" algn="ctr">
              <a:buNone/>
              <a:defRPr sz="1801"/>
            </a:lvl3pPr>
            <a:lvl4pPr marL="1371634" indent="0" algn="ctr">
              <a:buNone/>
              <a:defRPr sz="1600"/>
            </a:lvl4pPr>
            <a:lvl5pPr marL="1828846" indent="0" algn="ctr">
              <a:buNone/>
              <a:defRPr sz="1600"/>
            </a:lvl5pPr>
            <a:lvl6pPr marL="2286057" indent="0" algn="ctr">
              <a:buNone/>
              <a:defRPr sz="1600"/>
            </a:lvl6pPr>
            <a:lvl7pPr marL="2743269" indent="0" algn="ctr">
              <a:buNone/>
              <a:defRPr sz="1600"/>
            </a:lvl7pPr>
            <a:lvl8pPr marL="3200480" indent="0" algn="ctr">
              <a:buNone/>
              <a:defRPr sz="1600"/>
            </a:lvl8pPr>
            <a:lvl9pPr marL="3657691"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55D0E64B-9113-4BE4-BEDA-1D3C752AD119}" type="datetimeFigureOut">
              <a:rPr lang="en-US" smtClean="0"/>
              <a:pPr/>
              <a:t>10/7/2026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01AF9C5-787B-4812-8641-4E431B5130D1}" type="slidenum">
              <a:rPr lang="en-US" smtClean="0"/>
              <a:pPr/>
              <a:t>‹#›</a:t>
            </a:fld>
            <a:endParaRPr lang="en-US"/>
          </a:p>
        </p:txBody>
      </p:sp>
      <p:sp>
        <p:nvSpPr>
          <p:cNvPr id="8" name="Content Placeholder 7"/>
          <p:cNvSpPr>
            <a:spLocks noGrp="1"/>
          </p:cNvSpPr>
          <p:nvPr>
            <p:ph sz="quarter" idx="13"/>
          </p:nvPr>
        </p:nvSpPr>
        <p:spPr>
          <a:xfrm>
            <a:off x="8253413" y="187325"/>
            <a:ext cx="914400" cy="9144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2949764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81038" y="365127"/>
            <a:ext cx="8543925" cy="1325563"/>
          </a:xfrm>
          <a:prstGeom prst="rect">
            <a:avLst/>
          </a:prstGeom>
        </p:spPr>
        <p:txBody>
          <a:bodyPr/>
          <a:lstStyle/>
          <a:p>
            <a:r>
              <a:rPr lang="en-US"/>
              <a:t>Click to edit Master title style</a:t>
            </a:r>
            <a:endParaRPr lang="en-US" dirty="0"/>
          </a:p>
        </p:txBody>
      </p:sp>
      <p:sp>
        <p:nvSpPr>
          <p:cNvPr id="3" name="Content Placeholder 2"/>
          <p:cNvSpPr>
            <a:spLocks noGrp="1"/>
          </p:cNvSpPr>
          <p:nvPr>
            <p:ph idx="1"/>
          </p:nvPr>
        </p:nvSpPr>
        <p:spPr>
          <a:xfrm>
            <a:off x="681038" y="1825625"/>
            <a:ext cx="8543925" cy="4351338"/>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681038" y="6356352"/>
            <a:ext cx="2228850" cy="365125"/>
          </a:xfrm>
          <a:prstGeom prst="rect">
            <a:avLst/>
          </a:prstGeom>
        </p:spPr>
        <p:txBody>
          <a:bodyPr/>
          <a:lstStyle/>
          <a:p>
            <a:fld id="{0C1232D1-D26A-4B9E-9F74-30AF75FEA22D}" type="datetimeFigureOut">
              <a:rPr lang="en-US" smtClean="0"/>
              <a:t>10/7/2026</a:t>
            </a:fld>
            <a:endParaRPr lang="en-US"/>
          </a:p>
        </p:txBody>
      </p:sp>
      <p:sp>
        <p:nvSpPr>
          <p:cNvPr id="5" name="Footer Placeholder 4"/>
          <p:cNvSpPr>
            <a:spLocks noGrp="1"/>
          </p:cNvSpPr>
          <p:nvPr>
            <p:ph type="ftr" sz="quarter" idx="11"/>
          </p:nvPr>
        </p:nvSpPr>
        <p:spPr>
          <a:xfrm>
            <a:off x="3281363" y="6356352"/>
            <a:ext cx="3343275"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6996113" y="6356352"/>
            <a:ext cx="2228850" cy="365125"/>
          </a:xfrm>
          <a:prstGeom prst="rect">
            <a:avLst/>
          </a:prstGeom>
        </p:spPr>
        <p:txBody>
          <a:bodyPr/>
          <a:lstStyle/>
          <a:p>
            <a:fld id="{A7EEBFAC-7688-42D7-A474-447757C1272C}" type="slidenum">
              <a:rPr lang="en-US" smtClean="0"/>
              <a:t>‹#›</a:t>
            </a:fld>
            <a:endParaRPr lang="en-US"/>
          </a:p>
        </p:txBody>
      </p:sp>
    </p:spTree>
    <p:extLst>
      <p:ext uri="{BB962C8B-B14F-4D97-AF65-F5344CB8AC3E}">
        <p14:creationId xmlns:p14="http://schemas.microsoft.com/office/powerpoint/2010/main" val="40659754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사용자 지정 레이아웃">
    <p:spTree>
      <p:nvGrpSpPr>
        <p:cNvPr id="1" name=""/>
        <p:cNvGrpSpPr/>
        <p:nvPr/>
      </p:nvGrpSpPr>
      <p:grpSpPr>
        <a:xfrm>
          <a:off x="0" y="0"/>
          <a:ext cx="0" cy="0"/>
          <a:chOff x="0" y="0"/>
          <a:chExt cx="0" cy="0"/>
        </a:xfrm>
      </p:grpSpPr>
    </p:spTree>
    <p:extLst>
      <p:ext uri="{BB962C8B-B14F-4D97-AF65-F5344CB8AC3E}">
        <p14:creationId xmlns:p14="http://schemas.microsoft.com/office/powerpoint/2010/main" val="237694586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742950" y="2130428"/>
            <a:ext cx="8420100" cy="1470025"/>
          </a:xfrm>
        </p:spPr>
        <p:txBody>
          <a:bodyPr/>
          <a:lstStyle/>
          <a:p>
            <a:r>
              <a:rPr lang="ko-KR" altLang="en-US"/>
              <a:t>마스터 제목 스타일 편집</a:t>
            </a:r>
          </a:p>
        </p:txBody>
      </p:sp>
      <p:sp>
        <p:nvSpPr>
          <p:cNvPr id="3" name="부제목 2"/>
          <p:cNvSpPr>
            <a:spLocks noGrp="1"/>
          </p:cNvSpPr>
          <p:nvPr>
            <p:ph type="subTitle" idx="1"/>
          </p:nvPr>
        </p:nvSpPr>
        <p:spPr>
          <a:xfrm>
            <a:off x="1485900" y="3886200"/>
            <a:ext cx="6934200" cy="1752600"/>
          </a:xfrm>
          <a:prstGeom prst="rect">
            <a:avLst/>
          </a:prstGeo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ko-KR" altLang="en-US"/>
              <a:t>마스터 부제목 스타일 편집</a:t>
            </a:r>
          </a:p>
        </p:txBody>
      </p:sp>
      <p:sp>
        <p:nvSpPr>
          <p:cNvPr id="4" name="날짜 개체 틀 3"/>
          <p:cNvSpPr>
            <a:spLocks noGrp="1"/>
          </p:cNvSpPr>
          <p:nvPr>
            <p:ph type="dt" sz="half" idx="10"/>
          </p:nvPr>
        </p:nvSpPr>
        <p:spPr>
          <a:xfrm>
            <a:off x="495300" y="6356353"/>
            <a:ext cx="2311400" cy="365125"/>
          </a:xfrm>
          <a:prstGeom prst="rect">
            <a:avLst/>
          </a:prstGeom>
        </p:spPr>
        <p:txBody>
          <a:bodyPr/>
          <a:lstStyle/>
          <a:p>
            <a:endParaRPr lang="ko-KR" altLang="en-US">
              <a:solidFill>
                <a:prstClr val="black">
                  <a:tint val="75000"/>
                </a:prstClr>
              </a:solidFill>
            </a:endParaRPr>
          </a:p>
        </p:txBody>
      </p:sp>
      <p:sp>
        <p:nvSpPr>
          <p:cNvPr id="6" name="슬라이드 번호 개체 틀 5"/>
          <p:cNvSpPr>
            <a:spLocks noGrp="1"/>
          </p:cNvSpPr>
          <p:nvPr>
            <p:ph type="sldNum" sz="quarter" idx="12"/>
          </p:nvPr>
        </p:nvSpPr>
        <p:spPr>
          <a:xfrm>
            <a:off x="7099300" y="6356353"/>
            <a:ext cx="2311400" cy="365125"/>
          </a:xfrm>
          <a:prstGeom prst="rect">
            <a:avLst/>
          </a:prstGeom>
        </p:spPr>
        <p:txBody>
          <a:bodyPr/>
          <a:lstStyle/>
          <a:p>
            <a:fld id="{9BFF983A-EC0A-4770-8E0B-A2C9B8B7F425}" type="slidenum">
              <a:rPr lang="ko-KR" altLang="en-US">
                <a:solidFill>
                  <a:prstClr val="black">
                    <a:tint val="75000"/>
                  </a:prstClr>
                </a:solidFill>
              </a:rPr>
              <a:pPr/>
              <a:t>‹#›</a:t>
            </a:fld>
            <a:endParaRPr lang="ko-KR" altLang="en-US">
              <a:solidFill>
                <a:prstClr val="black">
                  <a:tint val="75000"/>
                </a:prstClr>
              </a:solidFill>
            </a:endParaRPr>
          </a:p>
        </p:txBody>
      </p:sp>
    </p:spTree>
    <p:extLst>
      <p:ext uri="{BB962C8B-B14F-4D97-AF65-F5344CB8AC3E}">
        <p14:creationId xmlns:p14="http://schemas.microsoft.com/office/powerpoint/2010/main" val="890650331"/>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제목 개체 틀 2"/>
          <p:cNvSpPr>
            <a:spLocks noGrp="1"/>
          </p:cNvSpPr>
          <p:nvPr>
            <p:ph type="title"/>
          </p:nvPr>
        </p:nvSpPr>
        <p:spPr>
          <a:xfrm>
            <a:off x="200472" y="116632"/>
            <a:ext cx="8915400" cy="418058"/>
          </a:xfrm>
          <a:prstGeom prst="rect">
            <a:avLst/>
          </a:prstGeom>
        </p:spPr>
        <p:txBody>
          <a:bodyPr vert="horz" lIns="91440" tIns="45720" rIns="91440" bIns="45720" rtlCol="0" anchor="ctr">
            <a:normAutofit/>
          </a:bodyPr>
          <a:lstStyle/>
          <a:p>
            <a:r>
              <a:rPr lang="ko-KR" altLang="en-US" dirty="0"/>
              <a:t>제목을 입력 하세요</a:t>
            </a:r>
          </a:p>
        </p:txBody>
      </p:sp>
      <p:sp>
        <p:nvSpPr>
          <p:cNvPr id="4" name="TextBox 3">
            <a:extLst>
              <a:ext uri="{FF2B5EF4-FFF2-40B4-BE49-F238E27FC236}">
                <a16:creationId xmlns:a16="http://schemas.microsoft.com/office/drawing/2014/main" id="{9DAD3A4A-DBC2-B460-D6E3-B6C54F17340C}"/>
              </a:ext>
            </a:extLst>
          </p:cNvPr>
          <p:cNvSpPr txBox="1"/>
          <p:nvPr userDrawn="1">
            <p:extLst>
              <p:ext uri="{1162E1C5-73C7-4A58-AE30-91384D911F3F}">
                <p184:classification xmlns:p184="http://schemas.microsoft.com/office/powerpoint/2018/4/main" val="hdr"/>
              </p:ext>
            </p:extLst>
          </p:nvPr>
        </p:nvSpPr>
        <p:spPr>
          <a:xfrm>
            <a:off x="4281488" y="63500"/>
            <a:ext cx="1377950" cy="182880"/>
          </a:xfrm>
          <a:prstGeom prst="rect">
            <a:avLst/>
          </a:prstGeom>
        </p:spPr>
        <p:txBody>
          <a:bodyPr horzOverflow="overflow" lIns="0" tIns="0" rIns="0" bIns="0">
            <a:spAutoFit/>
          </a:bodyPr>
          <a:lstStyle/>
          <a:p>
            <a:pPr algn="l"/>
            <a:r>
              <a:rPr lang="en-US" sz="1200">
                <a:solidFill>
                  <a:srgbClr val="000000">
                    <a:alpha val="50000"/>
                  </a:srgbClr>
                </a:solidFill>
                <a:latin typeface="Arial" panose="020F0502020204030204" pitchFamily="34" charset="0"/>
                <a:ea typeface="Arial" panose="020F0502020204030204" pitchFamily="34" charset="0"/>
                <a:cs typeface="Calibri" panose="020F0502020204030204" pitchFamily="34" charset="0"/>
              </a:rPr>
              <a:t>LGE Internal Use Only</a:t>
            </a:r>
          </a:p>
        </p:txBody>
      </p:sp>
    </p:spTree>
  </p:cSld>
  <p:clrMap bg1="lt1" tx1="dk1" bg2="lt2" tx2="dk2" accent1="accent1" accent2="accent2" accent3="accent3" accent4="accent4" accent5="accent5" accent6="accent6" hlink="hlink" folHlink="folHlink"/>
  <p:sldLayoutIdLst>
    <p:sldLayoutId id="2147485194" r:id="rId1"/>
    <p:sldLayoutId id="2147485197" r:id="rId2"/>
    <p:sldLayoutId id="2147485201" r:id="rId3"/>
    <p:sldLayoutId id="2147485203" r:id="rId4"/>
    <p:sldLayoutId id="2147485204" r:id="rId5"/>
    <p:sldLayoutId id="2147485205" r:id="rId6"/>
  </p:sldLayoutIdLst>
  <p:hf hdr="0" dt="0"/>
  <p:txStyles>
    <p:titleStyle>
      <a:lvl1pPr algn="l" rtl="0" eaLnBrk="0" fontAlgn="base" latinLnBrk="1" hangingPunct="0">
        <a:spcBef>
          <a:spcPct val="0"/>
        </a:spcBef>
        <a:spcAft>
          <a:spcPct val="0"/>
        </a:spcAft>
        <a:defRPr kumimoji="1" sz="2000" b="1">
          <a:solidFill>
            <a:schemeClr val="tx1"/>
          </a:solidFill>
          <a:latin typeface="맑은 고딕" panose="020B0503020000020004" pitchFamily="50" charset="-127"/>
          <a:ea typeface="맑은 고딕" panose="020B0503020000020004" pitchFamily="50" charset="-127"/>
          <a:cs typeface="+mj-cs"/>
        </a:defRPr>
      </a:lvl1pPr>
      <a:lvl2pPr algn="l" rtl="0" eaLnBrk="0" fontAlgn="base" latinLnBrk="1" hangingPunct="0">
        <a:spcBef>
          <a:spcPct val="0"/>
        </a:spcBef>
        <a:spcAft>
          <a:spcPct val="0"/>
        </a:spcAft>
        <a:defRPr kumimoji="1" sz="2000" b="1">
          <a:solidFill>
            <a:schemeClr val="tx1"/>
          </a:solidFill>
          <a:latin typeface="Arial" charset="0"/>
          <a:ea typeface="돋움" pitchFamily="50" charset="-127"/>
        </a:defRPr>
      </a:lvl2pPr>
      <a:lvl3pPr algn="l" rtl="0" eaLnBrk="0" fontAlgn="base" latinLnBrk="1" hangingPunct="0">
        <a:spcBef>
          <a:spcPct val="0"/>
        </a:spcBef>
        <a:spcAft>
          <a:spcPct val="0"/>
        </a:spcAft>
        <a:defRPr kumimoji="1" sz="2000" b="1">
          <a:solidFill>
            <a:schemeClr val="tx1"/>
          </a:solidFill>
          <a:latin typeface="Arial" charset="0"/>
          <a:ea typeface="돋움" pitchFamily="50" charset="-127"/>
        </a:defRPr>
      </a:lvl3pPr>
      <a:lvl4pPr algn="l" rtl="0" eaLnBrk="0" fontAlgn="base" latinLnBrk="1" hangingPunct="0">
        <a:spcBef>
          <a:spcPct val="0"/>
        </a:spcBef>
        <a:spcAft>
          <a:spcPct val="0"/>
        </a:spcAft>
        <a:defRPr kumimoji="1" sz="2000" b="1">
          <a:solidFill>
            <a:schemeClr val="tx1"/>
          </a:solidFill>
          <a:latin typeface="Arial" charset="0"/>
          <a:ea typeface="돋움" pitchFamily="50" charset="-127"/>
        </a:defRPr>
      </a:lvl4pPr>
      <a:lvl5pPr algn="l" rtl="0" eaLnBrk="0" fontAlgn="base" latinLnBrk="1" hangingPunct="0">
        <a:spcBef>
          <a:spcPct val="0"/>
        </a:spcBef>
        <a:spcAft>
          <a:spcPct val="0"/>
        </a:spcAft>
        <a:defRPr kumimoji="1" sz="2000" b="1">
          <a:solidFill>
            <a:schemeClr val="tx1"/>
          </a:solidFill>
          <a:latin typeface="Arial" charset="0"/>
          <a:ea typeface="돋움" pitchFamily="50" charset="-127"/>
        </a:defRPr>
      </a:lvl5pPr>
      <a:lvl6pPr marL="457200" algn="l" rtl="0" fontAlgn="base" latinLnBrk="1">
        <a:spcBef>
          <a:spcPct val="0"/>
        </a:spcBef>
        <a:spcAft>
          <a:spcPct val="0"/>
        </a:spcAft>
        <a:defRPr kumimoji="1" sz="2000" b="1">
          <a:solidFill>
            <a:schemeClr val="tx1"/>
          </a:solidFill>
          <a:latin typeface="Arial" charset="0"/>
          <a:ea typeface="돋움" pitchFamily="50" charset="-127"/>
        </a:defRPr>
      </a:lvl6pPr>
      <a:lvl7pPr marL="914400" algn="l" rtl="0" fontAlgn="base" latinLnBrk="1">
        <a:spcBef>
          <a:spcPct val="0"/>
        </a:spcBef>
        <a:spcAft>
          <a:spcPct val="0"/>
        </a:spcAft>
        <a:defRPr kumimoji="1" sz="2000" b="1">
          <a:solidFill>
            <a:schemeClr val="tx1"/>
          </a:solidFill>
          <a:latin typeface="Arial" charset="0"/>
          <a:ea typeface="돋움" pitchFamily="50" charset="-127"/>
        </a:defRPr>
      </a:lvl7pPr>
      <a:lvl8pPr marL="1371600" algn="l" rtl="0" fontAlgn="base" latinLnBrk="1">
        <a:spcBef>
          <a:spcPct val="0"/>
        </a:spcBef>
        <a:spcAft>
          <a:spcPct val="0"/>
        </a:spcAft>
        <a:defRPr kumimoji="1" sz="2000" b="1">
          <a:solidFill>
            <a:schemeClr val="tx1"/>
          </a:solidFill>
          <a:latin typeface="Arial" charset="0"/>
          <a:ea typeface="돋움" pitchFamily="50" charset="-127"/>
        </a:defRPr>
      </a:lvl8pPr>
      <a:lvl9pPr marL="1828800" algn="l" rtl="0" fontAlgn="base" latinLnBrk="1">
        <a:spcBef>
          <a:spcPct val="0"/>
        </a:spcBef>
        <a:spcAft>
          <a:spcPct val="0"/>
        </a:spcAft>
        <a:defRPr kumimoji="1" sz="2000" b="1">
          <a:solidFill>
            <a:schemeClr val="tx1"/>
          </a:solidFill>
          <a:latin typeface="Arial" charset="0"/>
          <a:ea typeface="돋움" pitchFamily="50" charset="-127"/>
        </a:defRPr>
      </a:lvl9pPr>
    </p:titleStyle>
    <p:bodyStyle>
      <a:lvl1pPr marL="342900" indent="-342900" algn="l" rtl="0" eaLnBrk="0" fontAlgn="base" latinLnBrk="1" hangingPunct="0">
        <a:spcBef>
          <a:spcPct val="20000"/>
        </a:spcBef>
        <a:spcAft>
          <a:spcPct val="0"/>
        </a:spcAft>
        <a:defRPr kumimoji="1" b="1">
          <a:solidFill>
            <a:schemeClr val="tx1"/>
          </a:solidFill>
          <a:latin typeface="+mn-lt"/>
          <a:ea typeface="돋움" pitchFamily="50" charset="-127"/>
          <a:cs typeface="+mn-cs"/>
        </a:defRPr>
      </a:lvl1pPr>
      <a:lvl2pPr marL="742950" indent="-285750" algn="l" rtl="0" eaLnBrk="0" fontAlgn="base" latinLnBrk="1" hangingPunct="0">
        <a:spcBef>
          <a:spcPct val="20000"/>
        </a:spcBef>
        <a:spcAft>
          <a:spcPct val="0"/>
        </a:spcAft>
        <a:buChar char="–"/>
        <a:defRPr kumimoji="1" sz="2800">
          <a:solidFill>
            <a:schemeClr val="tx1"/>
          </a:solidFill>
          <a:latin typeface="굴림" charset="-127"/>
          <a:ea typeface="굴림" charset="-127"/>
        </a:defRPr>
      </a:lvl2pPr>
      <a:lvl3pPr marL="1147763" indent="-228600" algn="l" rtl="0" eaLnBrk="0" fontAlgn="base" latinLnBrk="1" hangingPunct="0">
        <a:spcBef>
          <a:spcPct val="20000"/>
        </a:spcBef>
        <a:spcAft>
          <a:spcPct val="0"/>
        </a:spcAft>
        <a:buChar char="•"/>
        <a:defRPr kumimoji="1" sz="2400">
          <a:solidFill>
            <a:schemeClr val="tx1"/>
          </a:solidFill>
          <a:latin typeface="굴림" charset="-127"/>
          <a:ea typeface="굴림" charset="-127"/>
        </a:defRPr>
      </a:lvl3pPr>
      <a:lvl4pPr marL="1600200" indent="-228600" algn="l" rtl="0" eaLnBrk="0" fontAlgn="base" latinLnBrk="1" hangingPunct="0">
        <a:spcBef>
          <a:spcPct val="20000"/>
        </a:spcBef>
        <a:spcAft>
          <a:spcPct val="0"/>
        </a:spcAft>
        <a:buChar char="–"/>
        <a:defRPr kumimoji="1" sz="2000">
          <a:solidFill>
            <a:schemeClr val="tx1"/>
          </a:solidFill>
          <a:latin typeface="굴림" charset="-127"/>
          <a:ea typeface="굴림" charset="-127"/>
        </a:defRPr>
      </a:lvl4pPr>
      <a:lvl5pPr marL="2057400" indent="-228600" algn="l" rtl="0" eaLnBrk="0" fontAlgn="base" latinLnBrk="1" hangingPunct="0">
        <a:spcBef>
          <a:spcPct val="20000"/>
        </a:spcBef>
        <a:spcAft>
          <a:spcPct val="0"/>
        </a:spcAft>
        <a:buChar char="»"/>
        <a:defRPr kumimoji="1" sz="2000">
          <a:solidFill>
            <a:schemeClr val="tx1"/>
          </a:solidFill>
          <a:latin typeface="굴림" charset="-127"/>
          <a:ea typeface="굴림" charset="-127"/>
        </a:defRPr>
      </a:lvl5pPr>
      <a:lvl6pPr marL="2514600" indent="-228600" algn="l" rtl="0" fontAlgn="base" latinLnBrk="1">
        <a:spcBef>
          <a:spcPct val="20000"/>
        </a:spcBef>
        <a:spcAft>
          <a:spcPct val="0"/>
        </a:spcAft>
        <a:buChar char="»"/>
        <a:defRPr kumimoji="1" sz="2000">
          <a:solidFill>
            <a:schemeClr val="tx1"/>
          </a:solidFill>
          <a:latin typeface="굴림" charset="-127"/>
          <a:ea typeface="굴림" charset="-127"/>
        </a:defRPr>
      </a:lvl6pPr>
      <a:lvl7pPr marL="2971800" indent="-228600" algn="l" rtl="0" fontAlgn="base" latinLnBrk="1">
        <a:spcBef>
          <a:spcPct val="20000"/>
        </a:spcBef>
        <a:spcAft>
          <a:spcPct val="0"/>
        </a:spcAft>
        <a:buChar char="»"/>
        <a:defRPr kumimoji="1" sz="2000">
          <a:solidFill>
            <a:schemeClr val="tx1"/>
          </a:solidFill>
          <a:latin typeface="굴림" charset="-127"/>
          <a:ea typeface="굴림" charset="-127"/>
        </a:defRPr>
      </a:lvl7pPr>
      <a:lvl8pPr marL="3429000" indent="-228600" algn="l" rtl="0" fontAlgn="base" latinLnBrk="1">
        <a:spcBef>
          <a:spcPct val="20000"/>
        </a:spcBef>
        <a:spcAft>
          <a:spcPct val="0"/>
        </a:spcAft>
        <a:buChar char="»"/>
        <a:defRPr kumimoji="1" sz="2000">
          <a:solidFill>
            <a:schemeClr val="tx1"/>
          </a:solidFill>
          <a:latin typeface="굴림" charset="-127"/>
          <a:ea typeface="굴림" charset="-127"/>
        </a:defRPr>
      </a:lvl8pPr>
      <a:lvl9pPr marL="3886200" indent="-228600" algn="l" rtl="0" fontAlgn="base" latinLnBrk="1">
        <a:spcBef>
          <a:spcPct val="20000"/>
        </a:spcBef>
        <a:spcAft>
          <a:spcPct val="0"/>
        </a:spcAft>
        <a:buChar char="»"/>
        <a:defRPr kumimoji="1" sz="2000">
          <a:solidFill>
            <a:schemeClr val="tx1"/>
          </a:solidFill>
          <a:latin typeface="굴림" charset="-127"/>
          <a:ea typeface="굴림" charset="-127"/>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5.xml"/><Relationship Id="rId2" Type="http://schemas.openxmlformats.org/officeDocument/2006/relationships/tags" Target="../tags/tag2.xml"/><Relationship Id="rId1" Type="http://schemas.openxmlformats.org/officeDocument/2006/relationships/tags" Target="../tags/tag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image" Target="../media/image2.emf"/><Relationship Id="rId4" Type="http://schemas.openxmlformats.org/officeDocument/2006/relationships/package" Target="../embeddings/Microsoft_Excel_Worksheet.xlsx"/></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1.emf"/></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6.pn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image" Target="../media/image13.png"/><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3" Type="http://schemas.openxmlformats.org/officeDocument/2006/relationships/package" Target="../embeddings/Microsoft_PowerPoint_Presentation.pptx"/><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17.emf"/><Relationship Id="rId5" Type="http://schemas.openxmlformats.org/officeDocument/2006/relationships/package" Target="../embeddings/Microsoft_PowerPoint_Presentation1.pptx"/><Relationship Id="rId4" Type="http://schemas.openxmlformats.org/officeDocument/2006/relationships/image" Target="../media/image16.emf"/></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3.xml"/><Relationship Id="rId1" Type="http://schemas.openxmlformats.org/officeDocument/2006/relationships/slideLayout" Target="../slideLayouts/slideLayout1.xml"/><Relationship Id="rId5" Type="http://schemas.openxmlformats.org/officeDocument/2006/relationships/image" Target="../media/image20.png"/><Relationship Id="rId4" Type="http://schemas.openxmlformats.org/officeDocument/2006/relationships/image" Target="../media/image19.png"/></Relationships>
</file>

<file path=ppt/slides/_rels/slide1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23.png"/><Relationship Id="rId4" Type="http://schemas.openxmlformats.org/officeDocument/2006/relationships/image" Target="../media/image22.png"/></Relationships>
</file>

<file path=ppt/slides/_rels/slide1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5.xml"/><Relationship Id="rId1" Type="http://schemas.openxmlformats.org/officeDocument/2006/relationships/slideLayout" Target="../slideLayouts/slideLayout1.xml"/><Relationship Id="rId5" Type="http://schemas.openxmlformats.org/officeDocument/2006/relationships/image" Target="../media/image26.png"/><Relationship Id="rId4" Type="http://schemas.openxmlformats.org/officeDocument/2006/relationships/image" Target="../media/image25.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notesSlide" Target="../notesSlides/notesSlide17.xml"/><Relationship Id="rId1" Type="http://schemas.openxmlformats.org/officeDocument/2006/relationships/slideLayout" Target="../slideLayouts/slideLayout3.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28.png"/></Relationships>
</file>

<file path=ppt/slides/_rels/slide18.xml.rels><?xml version="1.0" encoding="UTF-8" standalone="yes"?>
<Relationships xmlns="http://schemas.openxmlformats.org/package/2006/relationships"><Relationship Id="rId8" Type="http://schemas.openxmlformats.org/officeDocument/2006/relationships/image" Target="../media/image37.png"/><Relationship Id="rId3" Type="http://schemas.openxmlformats.org/officeDocument/2006/relationships/image" Target="../media/image32.png"/><Relationship Id="rId7" Type="http://schemas.openxmlformats.org/officeDocument/2006/relationships/image" Target="../media/image36.png"/><Relationship Id="rId2" Type="http://schemas.openxmlformats.org/officeDocument/2006/relationships/image" Target="../media/image31.png"/><Relationship Id="rId1" Type="http://schemas.openxmlformats.org/officeDocument/2006/relationships/slideLayout" Target="../slideLayouts/slideLayout1.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png"/></Relationships>
</file>

<file path=ppt/slides/_rels/slide19.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6.xml"/><Relationship Id="rId5" Type="http://schemas.openxmlformats.org/officeDocument/2006/relationships/image" Target="../media/image41.png"/><Relationship Id="rId4" Type="http://schemas.openxmlformats.org/officeDocument/2006/relationships/image" Target="../media/image40.png"/></Relationships>
</file>

<file path=ppt/slides/_rels/slide20.xml.rels><?xml version="1.0" encoding="UTF-8" standalone="yes"?>
<Relationships xmlns="http://schemas.openxmlformats.org/package/2006/relationships"><Relationship Id="rId3" Type="http://schemas.openxmlformats.org/officeDocument/2006/relationships/image" Target="../media/image43.png"/><Relationship Id="rId7" Type="http://schemas.openxmlformats.org/officeDocument/2006/relationships/image" Target="../media/image46.wmf"/><Relationship Id="rId2" Type="http://schemas.openxmlformats.org/officeDocument/2006/relationships/image" Target="../media/image42.png"/><Relationship Id="rId1" Type="http://schemas.openxmlformats.org/officeDocument/2006/relationships/slideLayout" Target="../slideLayouts/slideLayout4.xml"/><Relationship Id="rId6" Type="http://schemas.openxmlformats.org/officeDocument/2006/relationships/package" Target="../embeddings/Microsoft_Excel_Worksheet2.xlsx"/><Relationship Id="rId5" Type="http://schemas.openxmlformats.org/officeDocument/2006/relationships/image" Target="../media/image45.png"/><Relationship Id="rId4" Type="http://schemas.openxmlformats.org/officeDocument/2006/relationships/image" Target="../media/image44.png"/></Relationships>
</file>

<file path=ppt/slides/_rels/slide21.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48.png"/></Relationships>
</file>

<file path=ppt/slides/_rels/slide22.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50.png"/></Relationships>
</file>

<file path=ppt/slides/_rels/slide23.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52.png"/></Relationships>
</file>

<file path=ppt/slides/_rels/slide24.xml.rels><?xml version="1.0" encoding="UTF-8" standalone="yes"?>
<Relationships xmlns="http://schemas.openxmlformats.org/package/2006/relationships"><Relationship Id="rId8" Type="http://schemas.openxmlformats.org/officeDocument/2006/relationships/image" Target="../media/image53.png"/><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25.xml.rels><?xml version="1.0" encoding="UTF-8" standalone="yes"?>
<Relationships xmlns="http://schemas.openxmlformats.org/package/2006/relationships"><Relationship Id="rId8" Type="http://schemas.openxmlformats.org/officeDocument/2006/relationships/image" Target="../media/image54.png"/><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26.xml.rels><?xml version="1.0" encoding="UTF-8" standalone="yes"?>
<Relationships xmlns="http://schemas.openxmlformats.org/package/2006/relationships"><Relationship Id="rId8" Type="http://schemas.openxmlformats.org/officeDocument/2006/relationships/image" Target="../media/image55.png"/><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 Id="rId9" Type="http://schemas.openxmlformats.org/officeDocument/2006/relationships/image" Target="../media/image56.png"/></Relationships>
</file>

<file path=ppt/slides/_rels/slide27.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58.png"/></Relationships>
</file>

<file path=ppt/slides/_rels/slide28.xml.rels><?xml version="1.0" encoding="UTF-8" standalone="yes"?>
<Relationships xmlns="http://schemas.openxmlformats.org/package/2006/relationships"><Relationship Id="rId8" Type="http://schemas.openxmlformats.org/officeDocument/2006/relationships/image" Target="../media/image59.png"/><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 Id="rId9" Type="http://schemas.openxmlformats.org/officeDocument/2006/relationships/image" Target="../media/image60.png"/></Relationships>
</file>

<file path=ppt/slides/_rels/slide29.xml.rels><?xml version="1.0" encoding="UTF-8" standalone="yes"?>
<Relationships xmlns="http://schemas.openxmlformats.org/package/2006/relationships"><Relationship Id="rId8" Type="http://schemas.openxmlformats.org/officeDocument/2006/relationships/diagramColors" Target="../diagrams/colors5.xml"/><Relationship Id="rId3" Type="http://schemas.openxmlformats.org/officeDocument/2006/relationships/image" Target="../media/image61.png"/><Relationship Id="rId7" Type="http://schemas.openxmlformats.org/officeDocument/2006/relationships/diagramQuickStyle" Target="../diagrams/quickStyle5.xml"/><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diagramLayout" Target="../diagrams/layout5.xml"/><Relationship Id="rId5" Type="http://schemas.openxmlformats.org/officeDocument/2006/relationships/diagramData" Target="../diagrams/data5.xml"/><Relationship Id="rId4" Type="http://schemas.openxmlformats.org/officeDocument/2006/relationships/image" Target="../media/image62.png"/><Relationship Id="rId9" Type="http://schemas.microsoft.com/office/2007/relationships/diagramDrawing" Target="../diagrams/drawing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63.emf"/><Relationship Id="rId2" Type="http://schemas.openxmlformats.org/officeDocument/2006/relationships/package" Target="../embeddings/Microsoft_Excel_Worksheet3.xlsx"/><Relationship Id="rId1" Type="http://schemas.openxmlformats.org/officeDocument/2006/relationships/slideLayout" Target="../slideLayouts/slideLayout1.xml"/><Relationship Id="rId5" Type="http://schemas.openxmlformats.org/officeDocument/2006/relationships/image" Target="../media/image65.png"/><Relationship Id="rId4" Type="http://schemas.openxmlformats.org/officeDocument/2006/relationships/image" Target="../media/image6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Rectangle 2"/>
          <p:cNvSpPr>
            <a:spLocks noChangeArrowheads="1"/>
          </p:cNvSpPr>
          <p:nvPr/>
        </p:nvSpPr>
        <p:spPr bwMode="auto">
          <a:xfrm>
            <a:off x="1984375" y="764704"/>
            <a:ext cx="5992813" cy="1116012"/>
          </a:xfrm>
          <a:prstGeom prst="rect">
            <a:avLst/>
          </a:prstGeom>
          <a:solidFill>
            <a:srgbClr val="EAEAEA"/>
          </a:solidFill>
          <a:ln w="9525">
            <a:solidFill>
              <a:srgbClr val="C0C0C0"/>
            </a:solidFill>
            <a:miter lim="800000"/>
            <a:headEnd/>
            <a:tailEnd/>
          </a:ln>
        </p:spPr>
        <p:txBody>
          <a:bodyPr wrap="none" anchor="ctr"/>
          <a:lstStyle/>
          <a:p>
            <a:pPr algn="ctr" eaLnBrk="1" fontAlgn="auto" latinLnBrk="0">
              <a:spcBef>
                <a:spcPts val="0"/>
              </a:spcBef>
              <a:spcAft>
                <a:spcPts val="0"/>
              </a:spcAft>
              <a:defRPr/>
            </a:pPr>
            <a:r>
              <a:rPr kumimoji="0" lang="en-US" altLang="en-US" sz="2600" b="1" kern="0" dirty="0">
                <a:solidFill>
                  <a:sysClr val="windowText" lastClr="000000"/>
                </a:solidFill>
                <a:latin typeface="Arial" pitchFamily="50" charset="-127"/>
                <a:ea typeface="Arial" pitchFamily="50" charset="-127"/>
              </a:rPr>
              <a:t>6 Sigma Assignment</a:t>
            </a:r>
          </a:p>
        </p:txBody>
      </p:sp>
      <p:grpSp>
        <p:nvGrpSpPr>
          <p:cNvPr id="2" name="Group 1">
            <a:extLst>
              <a:ext uri="{FF2B5EF4-FFF2-40B4-BE49-F238E27FC236}">
                <a16:creationId xmlns:a16="http://schemas.microsoft.com/office/drawing/2014/main" id="{C73B0D02-5891-4E36-BF6C-DBA735A890E7}"/>
              </a:ext>
            </a:extLst>
          </p:cNvPr>
          <p:cNvGrpSpPr/>
          <p:nvPr/>
        </p:nvGrpSpPr>
        <p:grpSpPr>
          <a:xfrm>
            <a:off x="3057475" y="2149003"/>
            <a:ext cx="3846611" cy="2700338"/>
            <a:chOff x="3122613" y="2564905"/>
            <a:chExt cx="3603625" cy="2519858"/>
          </a:xfrm>
        </p:grpSpPr>
        <p:sp>
          <p:nvSpPr>
            <p:cNvPr id="33" name="Rectangle 7"/>
            <p:cNvSpPr>
              <a:spLocks noChangeArrowheads="1"/>
            </p:cNvSpPr>
            <p:nvPr>
              <p:custDataLst>
                <p:tags r:id="rId1"/>
              </p:custDataLst>
            </p:nvPr>
          </p:nvSpPr>
          <p:spPr bwMode="auto">
            <a:xfrm>
              <a:off x="3122613" y="2564905"/>
              <a:ext cx="3603625" cy="436842"/>
            </a:xfrm>
            <a:prstGeom prst="rect">
              <a:avLst/>
            </a:prstGeom>
            <a:solidFill>
              <a:srgbClr val="7B9A9F"/>
            </a:solidFill>
            <a:ln w="9525">
              <a:noFill/>
              <a:miter lim="800000"/>
              <a:headEnd/>
              <a:tailEnd/>
            </a:ln>
          </p:spPr>
          <p:txBody>
            <a:bodyPr lIns="89978" tIns="45709" rIns="89978" bIns="45709" anchor="ctr"/>
            <a:lstStyle/>
            <a:p>
              <a:pPr algn="ctr" fontAlgn="auto" latinLnBrk="0">
                <a:spcBef>
                  <a:spcPts val="0"/>
                </a:spcBef>
                <a:spcAft>
                  <a:spcPts val="0"/>
                </a:spcAft>
                <a:defRPr/>
              </a:pPr>
              <a:r>
                <a:rPr kumimoji="0" lang="en-US" altLang="ko-KR" sz="1800" b="1" kern="0">
                  <a:solidFill>
                    <a:srgbClr val="FFFFFF"/>
                  </a:solidFill>
                  <a:latin typeface="Arial" pitchFamily="50" charset="-127"/>
                  <a:ea typeface="Arial" pitchFamily="50" charset="-127"/>
                </a:rPr>
                <a:t>Contents</a:t>
              </a:r>
              <a:endParaRPr kumimoji="0" lang="ko-KR" altLang="en-US" sz="1800" b="1" kern="0" dirty="0">
                <a:solidFill>
                  <a:srgbClr val="FFFFFF"/>
                </a:solidFill>
                <a:latin typeface="맑은 고딕" pitchFamily="50" charset="-127"/>
                <a:ea typeface="맑은 고딕" pitchFamily="50" charset="-127"/>
              </a:endParaRPr>
            </a:p>
          </p:txBody>
        </p:sp>
        <p:sp>
          <p:nvSpPr>
            <p:cNvPr id="34" name="Rectangle 8"/>
            <p:cNvSpPr>
              <a:spLocks noChangeArrowheads="1"/>
            </p:cNvSpPr>
            <p:nvPr>
              <p:custDataLst>
                <p:tags r:id="rId2"/>
              </p:custDataLst>
            </p:nvPr>
          </p:nvSpPr>
          <p:spPr bwMode="auto">
            <a:xfrm>
              <a:off x="3122613" y="3009900"/>
              <a:ext cx="3603625" cy="2074863"/>
            </a:xfrm>
            <a:prstGeom prst="rect">
              <a:avLst/>
            </a:prstGeom>
            <a:solidFill>
              <a:srgbClr val="FFFFFF"/>
            </a:solidFill>
            <a:ln w="3175">
              <a:solidFill>
                <a:srgbClr val="808080"/>
              </a:solidFill>
              <a:miter lim="800000"/>
              <a:headEnd/>
              <a:tailEnd/>
            </a:ln>
          </p:spPr>
          <p:txBody>
            <a:bodyPr lIns="91417" tIns="45709" rIns="91417" bIns="45709" anchor="ctr"/>
            <a:lstStyle/>
            <a:p>
              <a:pPr marL="984250" indent="184150" fontAlgn="auto" latinLnBrk="0">
                <a:lnSpc>
                  <a:spcPct val="130000"/>
                </a:lnSpc>
                <a:spcBef>
                  <a:spcPts val="0"/>
                </a:spcBef>
                <a:spcAft>
                  <a:spcPts val="0"/>
                </a:spcAft>
                <a:tabLst>
                  <a:tab pos="984250" algn="l"/>
                </a:tabLst>
                <a:defRPr/>
              </a:pPr>
              <a:r>
                <a:rPr kumimoji="0" lang="en-US" altLang="ko-KR" sz="1500" b="1" kern="0" dirty="0">
                  <a:solidFill>
                    <a:sysClr val="windowText" lastClr="000000"/>
                  </a:solidFill>
                  <a:latin typeface="Arial" pitchFamily="50" charset="-127"/>
                  <a:ea typeface="Arial" pitchFamily="50" charset="-127"/>
                </a:rPr>
                <a:t>1. Define</a:t>
              </a:r>
              <a:endParaRPr kumimoji="0" lang="ko-KR" altLang="en-US" sz="1500" b="1" kern="0" dirty="0">
                <a:solidFill>
                  <a:sysClr val="windowText" lastClr="000000"/>
                </a:solidFill>
                <a:latin typeface="맑은 고딕" pitchFamily="50" charset="-127"/>
                <a:ea typeface="맑은 고딕" pitchFamily="50" charset="-127"/>
              </a:endParaRPr>
            </a:p>
            <a:p>
              <a:pPr marL="984250" indent="184150" fontAlgn="auto" latinLnBrk="0">
                <a:lnSpc>
                  <a:spcPct val="130000"/>
                </a:lnSpc>
                <a:spcBef>
                  <a:spcPts val="0"/>
                </a:spcBef>
                <a:spcAft>
                  <a:spcPts val="0"/>
                </a:spcAft>
                <a:tabLst>
                  <a:tab pos="984250" algn="l"/>
                </a:tabLst>
                <a:defRPr/>
              </a:pPr>
              <a:r>
                <a:rPr kumimoji="0" lang="en-US" altLang="ko-KR" sz="1500" b="1" kern="0" dirty="0">
                  <a:solidFill>
                    <a:sysClr val="windowText" lastClr="000000"/>
                  </a:solidFill>
                  <a:latin typeface="Arial" pitchFamily="50" charset="-127"/>
                  <a:ea typeface="Arial" pitchFamily="50" charset="-127"/>
                </a:rPr>
                <a:t>2. Measure</a:t>
              </a:r>
              <a:endParaRPr kumimoji="0" lang="en-US" altLang="ko-KR" sz="1500" b="1" kern="0" dirty="0">
                <a:solidFill>
                  <a:srgbClr val="FFFFFF">
                    <a:lumMod val="65000"/>
                  </a:srgbClr>
                </a:solidFill>
                <a:latin typeface="맑은 고딕" pitchFamily="50" charset="-127"/>
                <a:ea typeface="맑은 고딕" pitchFamily="50" charset="-127"/>
              </a:endParaRPr>
            </a:p>
            <a:p>
              <a:pPr marL="984250" indent="184150" fontAlgn="auto" latinLnBrk="0">
                <a:lnSpc>
                  <a:spcPct val="130000"/>
                </a:lnSpc>
                <a:spcBef>
                  <a:spcPts val="0"/>
                </a:spcBef>
                <a:spcAft>
                  <a:spcPts val="0"/>
                </a:spcAft>
                <a:tabLst>
                  <a:tab pos="984250" algn="l"/>
                </a:tabLst>
                <a:defRPr/>
              </a:pPr>
              <a:r>
                <a:rPr kumimoji="0" lang="en-US" altLang="ko-KR" sz="1500" b="1" kern="0" dirty="0">
                  <a:solidFill>
                    <a:sysClr val="windowText" lastClr="000000"/>
                  </a:solidFill>
                  <a:latin typeface="Arial" pitchFamily="50" charset="-127"/>
                  <a:ea typeface="Arial" pitchFamily="50" charset="-127"/>
                </a:rPr>
                <a:t>3. Analyze</a:t>
              </a:r>
            </a:p>
            <a:p>
              <a:pPr marL="984250" indent="184150" fontAlgn="auto" latinLnBrk="0">
                <a:lnSpc>
                  <a:spcPct val="130000"/>
                </a:lnSpc>
                <a:spcBef>
                  <a:spcPts val="0"/>
                </a:spcBef>
                <a:spcAft>
                  <a:spcPts val="0"/>
                </a:spcAft>
                <a:tabLst>
                  <a:tab pos="984250" algn="l"/>
                </a:tabLst>
                <a:defRPr/>
              </a:pPr>
              <a:r>
                <a:rPr kumimoji="0" lang="en-US" altLang="ko-KR" sz="1500" b="1" kern="0" dirty="0">
                  <a:solidFill>
                    <a:sysClr val="windowText" lastClr="000000"/>
                  </a:solidFill>
                  <a:latin typeface="Arial" pitchFamily="50" charset="-127"/>
                  <a:ea typeface="Arial" pitchFamily="50" charset="-127"/>
                </a:rPr>
                <a:t>4. Improve</a:t>
              </a:r>
            </a:p>
            <a:p>
              <a:pPr marL="984250" indent="184150" fontAlgn="auto" latinLnBrk="0">
                <a:lnSpc>
                  <a:spcPct val="130000"/>
                </a:lnSpc>
                <a:spcBef>
                  <a:spcPts val="0"/>
                </a:spcBef>
                <a:spcAft>
                  <a:spcPts val="0"/>
                </a:spcAft>
                <a:tabLst>
                  <a:tab pos="984250" algn="l"/>
                </a:tabLst>
                <a:defRPr/>
              </a:pPr>
              <a:r>
                <a:rPr kumimoji="0" lang="en-US" altLang="ko-KR" sz="1500" b="1" kern="0" dirty="0">
                  <a:solidFill>
                    <a:sysClr val="windowText" lastClr="000000"/>
                  </a:solidFill>
                  <a:latin typeface="Arial" pitchFamily="50" charset="-127"/>
                  <a:ea typeface="Arial" pitchFamily="50" charset="-127"/>
                </a:rPr>
                <a:t>5. Control</a:t>
              </a:r>
            </a:p>
          </p:txBody>
        </p:sp>
      </p:grpSp>
      <p:sp>
        <p:nvSpPr>
          <p:cNvPr id="10246" name="Text Box 9"/>
          <p:cNvSpPr txBox="1">
            <a:spLocks noChangeArrowheads="1"/>
          </p:cNvSpPr>
          <p:nvPr/>
        </p:nvSpPr>
        <p:spPr bwMode="auto">
          <a:xfrm>
            <a:off x="3325813" y="5117629"/>
            <a:ext cx="3197225" cy="830985"/>
          </a:xfrm>
          <a:prstGeom prst="rect">
            <a:avLst/>
          </a:prstGeom>
          <a:noFill/>
          <a:ln w="9525">
            <a:noFill/>
            <a:miter lim="800000"/>
            <a:headEnd/>
            <a:tailEnd/>
          </a:ln>
        </p:spPr>
        <p:txBody>
          <a:bodyPr lIns="91429" tIns="45714" rIns="91429" bIns="45714">
            <a:spAutoFit/>
          </a:bodyPr>
          <a:lstStyle/>
          <a:p>
            <a:pPr algn="ctr" eaLnBrk="1" latinLnBrk="0">
              <a:defRPr/>
            </a:pPr>
            <a:r>
              <a:rPr sz="1600" b="1" dirty="0">
                <a:latin typeface="Arial"/>
              </a:rPr>
              <a:t>202</a:t>
            </a:r>
            <a:r>
              <a:rPr lang="en-US" sz="1600" b="1" dirty="0">
                <a:latin typeface="Arial"/>
              </a:rPr>
              <a:t>6</a:t>
            </a:r>
            <a:r>
              <a:rPr sz="1600" b="1" dirty="0">
                <a:latin typeface="Arial"/>
              </a:rPr>
              <a:t>.</a:t>
            </a:r>
            <a:r>
              <a:rPr lang="en-US" sz="1600" b="1" dirty="0">
                <a:latin typeface="Arial"/>
              </a:rPr>
              <a:t>Sep</a:t>
            </a:r>
            <a:r>
              <a:rPr sz="1600" b="1" dirty="0">
                <a:latin typeface="Arial"/>
              </a:rPr>
              <a:t>.</a:t>
            </a:r>
            <a:r>
              <a:rPr lang="en-US" sz="1600" b="1" dirty="0">
                <a:latin typeface="Arial"/>
              </a:rPr>
              <a:t>23</a:t>
            </a:r>
            <a:endParaRPr sz="1600" b="1" dirty="0">
              <a:latin typeface="Arial Narrow"/>
            </a:endParaRPr>
          </a:p>
          <a:p>
            <a:pPr algn="ctr" eaLnBrk="1" latinLnBrk="0">
              <a:defRPr/>
            </a:pPr>
            <a:r>
              <a:rPr kumimoji="0" lang="en-US" altLang="ko-KR" sz="1600" b="1" kern="0" dirty="0">
                <a:solidFill>
                  <a:srgbClr val="333333"/>
                </a:solidFill>
                <a:latin typeface="Arial" panose="020B0606020202030204" pitchFamily="34" charset="0"/>
                <a:ea typeface="Arial" panose="020B0600000101010101" pitchFamily="50" charset="-127"/>
                <a:cs typeface="Arial" panose="020B0604020202020204" pitchFamily="34" charset="0"/>
              </a:rPr>
              <a:t>6 Sigma GB assignment</a:t>
            </a:r>
          </a:p>
          <a:p>
            <a:pPr algn="ctr" eaLnBrk="1" latinLnBrk="0">
              <a:defRPr/>
            </a:pPr>
            <a:r>
              <a:rPr sz="1600" b="1" dirty="0">
                <a:latin typeface="Arial"/>
              </a:rPr>
              <a:t>IVI LD – Nguyen Duc Long</a:t>
            </a:r>
          </a:p>
        </p:txBody>
      </p:sp>
    </p:spTree>
    <p:extLst>
      <p:ext uri="{BB962C8B-B14F-4D97-AF65-F5344CB8AC3E}">
        <p14:creationId xmlns:p14="http://schemas.microsoft.com/office/powerpoint/2010/main" val="27871701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ChangeArrowheads="1"/>
          </p:cNvSpPr>
          <p:nvPr/>
        </p:nvSpPr>
        <p:spPr bwMode="auto">
          <a:xfrm>
            <a:off x="161212" y="76200"/>
            <a:ext cx="2935356" cy="369302"/>
          </a:xfrm>
          <a:prstGeom prst="rect">
            <a:avLst/>
          </a:prstGeom>
          <a:noFill/>
          <a:ln w="9525" algn="ctr">
            <a:noFill/>
            <a:miter lim="800000"/>
            <a:headEnd/>
            <a:tailEnd/>
          </a:ln>
        </p:spPr>
        <p:txBody>
          <a:bodyPr wrap="none" lIns="91409" tIns="45705" rIns="91409" bIns="45705" anchor="ctr">
            <a:spAutoFit/>
          </a:bodyPr>
          <a:lstStyle/>
          <a:p>
            <a:pPr algn="ctr" eaLnBrk="1" latinLnBrk="0" hangingPunct="0">
              <a:buFont typeface="Wingdings" pitchFamily="2" charset="2"/>
              <a:buNone/>
            </a:pPr>
            <a:r>
              <a:rPr kumimoji="0" lang="en-US" altLang="ko-KR" sz="1000" u="sng" dirty="0">
                <a:solidFill>
                  <a:srgbClr val="000000"/>
                </a:solidFill>
                <a:latin typeface="Arial" panose="020B0600000101010101" pitchFamily="50" charset="-127"/>
                <a:ea typeface="Arial" panose="020B0600000101010101" pitchFamily="50" charset="-127"/>
                <a:cs typeface="Arial" pitchFamily="34" charset="0"/>
              </a:rPr>
              <a:t>Six Sigma Project Register </a:t>
            </a:r>
            <a:endParaRPr kumimoji="0" lang="ko-KR" altLang="en-US" u="sng" dirty="0">
              <a:solidFill>
                <a:srgbClr val="000000"/>
              </a:solidFill>
              <a:latin typeface="LG스마트체 Regular" panose="020B0600000101010101" pitchFamily="50" charset="-127"/>
              <a:ea typeface="LG스마트체 Regular" panose="020B0600000101010101" pitchFamily="50" charset="-127"/>
              <a:cs typeface="Arial" pitchFamily="34" charset="0"/>
            </a:endParaRPr>
          </a:p>
        </p:txBody>
      </p:sp>
      <p:graphicFrame>
        <p:nvGraphicFramePr>
          <p:cNvPr id="75" name="Group 68"/>
          <p:cNvGraphicFramePr>
            <a:graphicFrameLocks noGrp="1"/>
          </p:cNvGraphicFramePr>
          <p:nvPr>
            <p:extLst>
              <p:ext uri="{D42A27DB-BD31-4B8C-83A1-F6EECF244321}">
                <p14:modId xmlns:p14="http://schemas.microsoft.com/office/powerpoint/2010/main" val="2189576015"/>
              </p:ext>
            </p:extLst>
          </p:nvPr>
        </p:nvGraphicFramePr>
        <p:xfrm>
          <a:off x="7221832" y="106389"/>
          <a:ext cx="2557087" cy="657225"/>
        </p:xfrm>
        <a:graphic>
          <a:graphicData uri="http://schemas.openxmlformats.org/drawingml/2006/table">
            <a:tbl>
              <a:tblPr/>
              <a:tblGrid>
                <a:gridCol w="675354">
                  <a:extLst>
                    <a:ext uri="{9D8B030D-6E8A-4147-A177-3AD203B41FA5}">
                      <a16:colId xmlns:a16="http://schemas.microsoft.com/office/drawing/2014/main" val="20000"/>
                    </a:ext>
                  </a:extLst>
                </a:gridCol>
                <a:gridCol w="1881733">
                  <a:extLst>
                    <a:ext uri="{9D8B030D-6E8A-4147-A177-3AD203B41FA5}">
                      <a16:colId xmlns:a16="http://schemas.microsoft.com/office/drawing/2014/main" val="20001"/>
                    </a:ext>
                  </a:extLst>
                </a:gridCol>
              </a:tblGrid>
              <a:tr h="219075">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1" lang="en-US" altLang="ko-KR" sz="1000" b="0" i="0" u="none" strike="noStrike" cap="none" normalizeH="0" baseline="0" dirty="0">
                          <a:ln>
                            <a:noFill/>
                          </a:ln>
                          <a:solidFill>
                            <a:schemeClr val="tx1"/>
                          </a:solidFill>
                          <a:effectLst/>
                          <a:latin typeface="Arial" panose="020B0600000101010101" pitchFamily="50" charset="-127"/>
                          <a:ea typeface="Arial" panose="020B0600000101010101" pitchFamily="50" charset="-127"/>
                        </a:rPr>
                        <a:t>Team</a:t>
                      </a:r>
                      <a:endParaRPr kumimoji="0" lang="ko-KR" altLang="en-US" sz="1000" b="0" i="0" u="none" strike="noStrike" cap="none" normalizeH="0" baseline="0" dirty="0">
                        <a:ln>
                          <a:noFill/>
                        </a:ln>
                        <a:solidFill>
                          <a:schemeClr val="tx1"/>
                        </a:solidFill>
                        <a:effectLst/>
                        <a:latin typeface="LG스마트체 Regular" panose="020B0600000101010101" pitchFamily="50" charset="-127"/>
                        <a:ea typeface="LG스마트체 Regular" panose="020B0600000101010101" pitchFamily="50" charset="-127"/>
                      </a:endParaRPr>
                    </a:p>
                  </a:txBody>
                  <a:tcPr marL="90001" marR="90001" marT="18001" marB="1800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ko-KR" sz="1000" b="0" i="0" u="none" strike="noStrike" cap="none" normalizeH="0" baseline="0">
                          <a:ln>
                            <a:noFill/>
                          </a:ln>
                          <a:solidFill>
                            <a:schemeClr val="tx1"/>
                          </a:solidFill>
                          <a:effectLst/>
                          <a:latin typeface="Arial" panose="020B0600000101010101" pitchFamily="50" charset="-127"/>
                          <a:ea typeface="Arial" panose="020B0600000101010101" pitchFamily="50" charset="-127"/>
                        </a:rPr>
                        <a:t>IVI LD</a:t>
                      </a:r>
                      <a:endParaRPr kumimoji="0" lang="ko-KR" altLang="en-US" sz="1000" b="0" i="0" u="none" strike="noStrike" cap="none" normalizeH="0" baseline="0" dirty="0">
                        <a:ln>
                          <a:noFill/>
                        </a:ln>
                        <a:solidFill>
                          <a:schemeClr val="tx1"/>
                        </a:solidFill>
                        <a:effectLst/>
                        <a:latin typeface="LG스마트체 Regular" panose="020B0600000101010101" pitchFamily="50" charset="-127"/>
                        <a:ea typeface="LG스마트체 Regular" panose="020B0600000101010101" pitchFamily="50" charset="-127"/>
                      </a:endParaRPr>
                    </a:p>
                  </a:txBody>
                  <a:tcPr marL="90001" marR="90001" marT="18001" marB="1800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219075">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ko-KR" sz="1000" b="0" i="0" u="none" strike="noStrike" cap="none" normalizeH="0" baseline="0" dirty="0">
                          <a:ln>
                            <a:noFill/>
                          </a:ln>
                          <a:solidFill>
                            <a:schemeClr val="tx1"/>
                          </a:solidFill>
                          <a:effectLst/>
                          <a:latin typeface="Arial" panose="020B0600000101010101" pitchFamily="50" charset="-127"/>
                          <a:ea typeface="Arial" panose="020B0600000101010101" pitchFamily="50" charset="-127"/>
                        </a:rPr>
                        <a:t>Leader</a:t>
                      </a:r>
                      <a:endParaRPr kumimoji="0" lang="ko-KR" altLang="en-US" sz="1000" b="0" i="0" u="none" strike="noStrike" cap="none" normalizeH="0" baseline="0" dirty="0">
                        <a:ln>
                          <a:noFill/>
                        </a:ln>
                        <a:solidFill>
                          <a:schemeClr val="tx1"/>
                        </a:solidFill>
                        <a:effectLst/>
                        <a:latin typeface="LG스마트체 Regular" panose="020B0600000101010101" pitchFamily="50" charset="-127"/>
                        <a:ea typeface="LG스마트체 Regular" panose="020B0600000101010101" pitchFamily="50" charset="-127"/>
                      </a:endParaRPr>
                    </a:p>
                  </a:txBody>
                  <a:tcPr marL="90001" marR="90001" marT="18001" marB="1800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ko-KR" sz="1000" b="0" i="0" u="none" strike="noStrike" cap="none" normalizeH="0" baseline="0" dirty="0">
                          <a:ln>
                            <a:noFill/>
                          </a:ln>
                          <a:solidFill>
                            <a:schemeClr val="tx1"/>
                          </a:solidFill>
                          <a:effectLst/>
                          <a:latin typeface="Arial" panose="020B0600000101010101" pitchFamily="50" charset="-127"/>
                          <a:ea typeface="Arial" panose="020B0600000101010101" pitchFamily="50" charset="-127"/>
                        </a:rPr>
                        <a:t>Nguyen Dinh Huong TL</a:t>
                      </a:r>
                      <a:endParaRPr kumimoji="0" lang="ko-KR" altLang="en-US" sz="1000" b="0" i="0" u="none" strike="noStrike" cap="none" normalizeH="0" baseline="0" dirty="0">
                        <a:ln>
                          <a:noFill/>
                        </a:ln>
                        <a:solidFill>
                          <a:schemeClr val="tx1"/>
                        </a:solidFill>
                        <a:effectLst/>
                        <a:latin typeface="LG스마트체 Regular" panose="020B0600000101010101" pitchFamily="50" charset="-127"/>
                        <a:ea typeface="LG스마트체 Regular" panose="020B0600000101010101" pitchFamily="50" charset="-127"/>
                      </a:endParaRPr>
                    </a:p>
                  </a:txBody>
                  <a:tcPr marL="90001" marR="90001" marT="18001" marB="1800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219075">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1" lang="en-US" altLang="ko-KR" sz="1000" b="0" i="0" u="none" strike="noStrike" cap="none" normalizeH="0" baseline="0" dirty="0">
                          <a:ln>
                            <a:noFill/>
                          </a:ln>
                          <a:solidFill>
                            <a:schemeClr val="tx1"/>
                          </a:solidFill>
                          <a:effectLst/>
                          <a:latin typeface="Arial" panose="020B0600000101010101" pitchFamily="50" charset="-127"/>
                          <a:ea typeface="Arial" panose="020B0600000101010101" pitchFamily="50" charset="-127"/>
                        </a:rPr>
                        <a:t>Owner</a:t>
                      </a:r>
                      <a:endParaRPr kumimoji="0" lang="en-US" altLang="ko-KR" sz="1000" b="0" i="0" u="none" strike="noStrike" cap="none" normalizeH="0" baseline="0" dirty="0">
                        <a:ln>
                          <a:noFill/>
                        </a:ln>
                        <a:solidFill>
                          <a:schemeClr val="tx1"/>
                        </a:solidFill>
                        <a:effectLst/>
                        <a:latin typeface="LG스마트체 Regular" panose="020B0600000101010101" pitchFamily="50" charset="-127"/>
                        <a:ea typeface="LG스마트체 Regular" panose="020B0600000101010101" pitchFamily="50" charset="-127"/>
                      </a:endParaRPr>
                    </a:p>
                  </a:txBody>
                  <a:tcPr marL="90001" marR="90001" marT="18001" marB="1800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tc>
                  <a:txBody>
                    <a:bodyPr/>
                    <a:lstStyle/>
                    <a:p>
                      <a:pPr algn="ctr" eaLnBrk="1" latinLnBrk="0"/>
                      <a:r>
                        <a:rPr sz="1000" b="0" dirty="0">
                          <a:latin typeface="Arial"/>
                        </a:rPr>
                        <a:t>Nguyen Duc Long</a:t>
                      </a:r>
                    </a:p>
                  </a:txBody>
                  <a:tcPr marL="90001" marR="90001" marT="18001" marB="1800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bl>
          </a:graphicData>
        </a:graphic>
      </p:graphicFrame>
      <p:graphicFrame>
        <p:nvGraphicFramePr>
          <p:cNvPr id="18" name="Group 133"/>
          <p:cNvGraphicFramePr>
            <a:graphicFrameLocks noGrp="1"/>
          </p:cNvGraphicFramePr>
          <p:nvPr>
            <p:extLst>
              <p:ext uri="{D42A27DB-BD31-4B8C-83A1-F6EECF244321}">
                <p14:modId xmlns:p14="http://schemas.microsoft.com/office/powerpoint/2010/main" val="2316957716"/>
              </p:ext>
            </p:extLst>
          </p:nvPr>
        </p:nvGraphicFramePr>
        <p:xfrm>
          <a:off x="120650" y="984162"/>
          <a:ext cx="9669509" cy="5797639"/>
        </p:xfrm>
        <a:graphic>
          <a:graphicData uri="http://schemas.openxmlformats.org/drawingml/2006/table">
            <a:tbl>
              <a:tblPr/>
              <a:tblGrid>
                <a:gridCol w="717550">
                  <a:extLst>
                    <a:ext uri="{9D8B030D-6E8A-4147-A177-3AD203B41FA5}">
                      <a16:colId xmlns:a16="http://schemas.microsoft.com/office/drawing/2014/main" val="20000"/>
                    </a:ext>
                  </a:extLst>
                </a:gridCol>
                <a:gridCol w="1954560">
                  <a:extLst>
                    <a:ext uri="{9D8B030D-6E8A-4147-A177-3AD203B41FA5}">
                      <a16:colId xmlns:a16="http://schemas.microsoft.com/office/drawing/2014/main" val="20001"/>
                    </a:ext>
                  </a:extLst>
                </a:gridCol>
                <a:gridCol w="720080">
                  <a:extLst>
                    <a:ext uri="{9D8B030D-6E8A-4147-A177-3AD203B41FA5}">
                      <a16:colId xmlns:a16="http://schemas.microsoft.com/office/drawing/2014/main" val="20002"/>
                    </a:ext>
                  </a:extLst>
                </a:gridCol>
                <a:gridCol w="1152128">
                  <a:extLst>
                    <a:ext uri="{9D8B030D-6E8A-4147-A177-3AD203B41FA5}">
                      <a16:colId xmlns:a16="http://schemas.microsoft.com/office/drawing/2014/main" val="20003"/>
                    </a:ext>
                  </a:extLst>
                </a:gridCol>
                <a:gridCol w="144016">
                  <a:extLst>
                    <a:ext uri="{9D8B030D-6E8A-4147-A177-3AD203B41FA5}">
                      <a16:colId xmlns:a16="http://schemas.microsoft.com/office/drawing/2014/main" val="20004"/>
                    </a:ext>
                  </a:extLst>
                </a:gridCol>
                <a:gridCol w="649455">
                  <a:extLst>
                    <a:ext uri="{9D8B030D-6E8A-4147-A177-3AD203B41FA5}">
                      <a16:colId xmlns:a16="http://schemas.microsoft.com/office/drawing/2014/main" val="20005"/>
                    </a:ext>
                  </a:extLst>
                </a:gridCol>
                <a:gridCol w="115401">
                  <a:extLst>
                    <a:ext uri="{9D8B030D-6E8A-4147-A177-3AD203B41FA5}">
                      <a16:colId xmlns:a16="http://schemas.microsoft.com/office/drawing/2014/main" val="20006"/>
                    </a:ext>
                  </a:extLst>
                </a:gridCol>
                <a:gridCol w="543911">
                  <a:extLst>
                    <a:ext uri="{9D8B030D-6E8A-4147-A177-3AD203B41FA5}">
                      <a16:colId xmlns:a16="http://schemas.microsoft.com/office/drawing/2014/main" val="377791108"/>
                    </a:ext>
                  </a:extLst>
                </a:gridCol>
                <a:gridCol w="720080">
                  <a:extLst>
                    <a:ext uri="{9D8B030D-6E8A-4147-A177-3AD203B41FA5}">
                      <a16:colId xmlns:a16="http://schemas.microsoft.com/office/drawing/2014/main" val="20007"/>
                    </a:ext>
                  </a:extLst>
                </a:gridCol>
                <a:gridCol w="1006729">
                  <a:extLst>
                    <a:ext uri="{9D8B030D-6E8A-4147-A177-3AD203B41FA5}">
                      <a16:colId xmlns:a16="http://schemas.microsoft.com/office/drawing/2014/main" val="20008"/>
                    </a:ext>
                  </a:extLst>
                </a:gridCol>
                <a:gridCol w="1945599">
                  <a:extLst>
                    <a:ext uri="{9D8B030D-6E8A-4147-A177-3AD203B41FA5}">
                      <a16:colId xmlns:a16="http://schemas.microsoft.com/office/drawing/2014/main" val="20009"/>
                    </a:ext>
                  </a:extLst>
                </a:gridCol>
              </a:tblGrid>
              <a:tr h="536833">
                <a:tc>
                  <a:txBody>
                    <a:bodyPr/>
                    <a:lstStyle/>
                    <a:p>
                      <a:pPr marL="0" marR="0" lvl="0" indent="0" algn="ctr" defTabSz="912813" rtl="0" eaLnBrk="1" fontAlgn="base" latinLnBrk="0" hangingPunct="1">
                        <a:lnSpc>
                          <a:spcPct val="100000"/>
                        </a:lnSpc>
                        <a:spcBef>
                          <a:spcPct val="0"/>
                        </a:spcBef>
                        <a:spcAft>
                          <a:spcPct val="0"/>
                        </a:spcAft>
                        <a:buClrTx/>
                        <a:buSzTx/>
                        <a:buFontTx/>
                        <a:buNone/>
                        <a:tabLst/>
                      </a:pPr>
                      <a:r>
                        <a:rPr kumimoji="0" lang="en-US" altLang="ko-KR" sz="1000" b="0" i="0" u="none" strike="noStrike"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Theme</a:t>
                      </a:r>
                      <a:endParaRPr kumimoji="0" lang="ko-KR" altLang="en-US" sz="1000" b="0" i="0" u="none" strike="noStrike" cap="none" normalizeH="0" baseline="0" dirty="0">
                        <a:ln>
                          <a:noFill/>
                        </a:ln>
                        <a:solidFill>
                          <a:schemeClr val="tx1"/>
                        </a:solidFill>
                        <a:effectLst/>
                        <a:latin typeface="LG Smart_H Regular" panose="020B0600000101010101" pitchFamily="34" charset="-127"/>
                        <a:ea typeface="LG Smart_H Regular" panose="020B0600000101010101" pitchFamily="34" charset="-127"/>
                        <a:cs typeface="Arial" charset="0"/>
                      </a:endParaRPr>
                    </a:p>
                  </a:txBody>
                  <a:tcPr marL="91421" marR="91421" marT="45710" marB="4571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tc gridSpan="4">
                  <a:txBody>
                    <a:bodyPr/>
                    <a:lstStyle/>
                    <a:p>
                      <a:pPr marL="0" marR="0" lvl="0" indent="0" algn="ctr" defTabSz="914400" rtl="0" eaLnBrk="1" fontAlgn="auto" latinLnBrk="0" hangingPunct="1">
                        <a:lnSpc>
                          <a:spcPct val="100000"/>
                        </a:lnSpc>
                        <a:spcBef>
                          <a:spcPts val="0"/>
                        </a:spcBef>
                        <a:spcAft>
                          <a:spcPts val="0"/>
                        </a:spcAft>
                        <a:buClrTx/>
                        <a:buSzTx/>
                        <a:buFont typeface="Wingdings" pitchFamily="2" charset="2"/>
                        <a:buNone/>
                        <a:tabLst/>
                        <a:defRPr/>
                      </a:pPr>
                      <a:r>
                        <a:rPr kumimoji="1" lang="en-US" altLang="ko-KR" sz="1000" b="1" i="0" u="none" strike="noStrike" kern="0" cap="none" spc="0" normalizeH="0" baseline="0" noProof="0" dirty="0">
                          <a:ln>
                            <a:noFill/>
                          </a:ln>
                          <a:solidFill>
                            <a:schemeClr val="tx1"/>
                          </a:solidFill>
                          <a:effectLst/>
                          <a:uLnTx/>
                          <a:uFillTx/>
                          <a:latin typeface="Arial" panose="020B0600000101010101" pitchFamily="34" charset="-127"/>
                          <a:ea typeface="Arial" panose="020B0600000101010101" pitchFamily="34" charset="-127"/>
                          <a:cs typeface="+mn-cs"/>
                          <a:sym typeface="Wingdings" pitchFamily="2" charset="2"/>
                        </a:rPr>
                        <a:t>Reduce defect rate </a:t>
                      </a:r>
                      <a:r>
                        <a:rPr kumimoji="1" lang="en-US" altLang="ko-KR" sz="1000" b="1" i="0" u="none" strike="noStrike" kern="0" cap="none" spc="0" normalizeH="0" baseline="0" noProof="0" dirty="0">
                          <a:ln>
                            <a:noFill/>
                          </a:ln>
                          <a:solidFill>
                            <a:schemeClr val="tx1"/>
                          </a:solidFill>
                          <a:effectLst/>
                          <a:uLnTx/>
                          <a:uFillTx/>
                          <a:latin typeface="Arial" panose="020B0600000101010101" pitchFamily="34" charset="-127"/>
                          <a:ea typeface="Arial" panose="020B0600000101010101" pitchFamily="34" charset="-127"/>
                          <a:cs typeface="+mn-cs"/>
                        </a:rPr>
                        <a:t>of </a:t>
                      </a:r>
                      <a:r>
                        <a:rPr kumimoji="1" lang="en-US" altLang="ko-KR" sz="1000" b="1" i="0" u="none" strike="noStrike" kern="0" cap="none" spc="0" normalizeH="0" baseline="0" noProof="0" dirty="0">
                          <a:ln>
                            <a:noFill/>
                          </a:ln>
                          <a:solidFill>
                            <a:schemeClr val="tx1"/>
                          </a:solidFill>
                          <a:effectLst/>
                          <a:uLnTx/>
                          <a:uFillTx/>
                          <a:latin typeface="Arial" panose="020B0600000101010101" pitchFamily="34" charset="-127"/>
                          <a:ea typeface="Arial" panose="020B0600000101010101" pitchFamily="34" charset="-127"/>
                          <a:cs typeface="+mn-cs"/>
                          <a:sym typeface="Wingdings" pitchFamily="2" charset="2"/>
                        </a:rPr>
                        <a:t>Model Porsche CID J1 Dual </a:t>
                      </a:r>
                      <a:r>
                        <a:rPr kumimoji="1" lang="en-US" altLang="ko-KR" sz="1000" b="1" i="0" u="none" strike="noStrike" kern="0" cap="none" spc="0" normalizeH="0" baseline="0" noProof="0" dirty="0">
                          <a:ln>
                            <a:noFill/>
                          </a:ln>
                          <a:solidFill>
                            <a:schemeClr val="tx1"/>
                          </a:solidFill>
                          <a:effectLst/>
                          <a:uLnTx/>
                          <a:uFillTx/>
                          <a:latin typeface="Arial" panose="020B0600000101010101" pitchFamily="34" charset="-127"/>
                          <a:ea typeface="Arial" panose="020B0600000101010101" pitchFamily="34" charset="-127"/>
                          <a:cs typeface="+mn-cs"/>
                        </a:rPr>
                        <a:t>Luminance </a:t>
                      </a:r>
                    </a:p>
                  </a:txBody>
                  <a:tcPr marL="91421" marR="91421" marT="45710" marB="4571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hMerge="1">
                  <a:txBody>
                    <a:bodyPr/>
                    <a:lstStyle/>
                    <a:p>
                      <a:pPr eaLnBrk="1" latinLnBrk="0"/>
                      <a:endParaRPr lang="ko-KR" altLang="en-US"/>
                    </a:p>
                  </a:txBody>
                  <a:tcPr/>
                </a:tc>
                <a:tc hMerge="1">
                  <a:txBody>
                    <a:bodyPr/>
                    <a:lstStyle/>
                    <a:p>
                      <a:pPr eaLnBrk="1" latinLnBrk="0"/>
                      <a:endParaRPr lang="ko-KR" altLang="en-US"/>
                    </a:p>
                  </a:txBody>
                  <a:tcPr/>
                </a:tc>
                <a:tc hMerge="1">
                  <a:txBody>
                    <a:bodyPr/>
                    <a:lstStyle/>
                    <a:p>
                      <a:pPr eaLnBrk="1" latinLnBrk="0"/>
                      <a:endParaRPr lang="ko-KR" altLang="en-US"/>
                    </a:p>
                  </a:txBody>
                  <a:tcPr/>
                </a:tc>
                <a:tc>
                  <a:txBody>
                    <a:bodyPr/>
                    <a:lstStyle/>
                    <a:p>
                      <a:pPr marL="0" marR="0" lvl="0" indent="0" algn="ctr" defTabSz="912813" rtl="0" eaLnBrk="1" fontAlgn="base" latinLnBrk="0" hangingPunct="1">
                        <a:lnSpc>
                          <a:spcPct val="100000"/>
                        </a:lnSpc>
                        <a:spcBef>
                          <a:spcPct val="0"/>
                        </a:spcBef>
                        <a:spcAft>
                          <a:spcPct val="0"/>
                        </a:spcAft>
                        <a:buClrTx/>
                        <a:buSzTx/>
                        <a:buFontTx/>
                        <a:buNone/>
                        <a:tabLst/>
                      </a:pPr>
                      <a:r>
                        <a:rPr kumimoji="0" lang="en-US" altLang="ko-KR" sz="1000" b="0" i="0" u="none" strike="noStrike"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Period</a:t>
                      </a:r>
                      <a:endParaRPr kumimoji="0" lang="ko-KR" altLang="en-US" sz="1000" b="0" i="0" u="none" strike="noStrike" cap="none" normalizeH="0" baseline="0" dirty="0">
                        <a:ln>
                          <a:noFill/>
                        </a:ln>
                        <a:solidFill>
                          <a:schemeClr val="tx1"/>
                        </a:solidFill>
                        <a:effectLst/>
                        <a:latin typeface="LG Smart_H Regular" panose="020B0600000101010101" pitchFamily="34" charset="-127"/>
                        <a:ea typeface="LG Smart_H Regular" panose="020B0600000101010101" pitchFamily="34" charset="-127"/>
                        <a:cs typeface="Arial" charset="0"/>
                      </a:endParaRPr>
                    </a:p>
                  </a:txBody>
                  <a:tcPr marL="91421" marR="91421" marT="45710" marB="4571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tc gridSpan="3">
                  <a:txBody>
                    <a:bodyPr/>
                    <a:lstStyle/>
                    <a:p>
                      <a:pPr marL="0" marR="0" lvl="0" indent="0" algn="ctr" defTabSz="912813" rtl="0" eaLnBrk="1" fontAlgn="base" latinLnBrk="0" hangingPunct="1">
                        <a:lnSpc>
                          <a:spcPct val="100000"/>
                        </a:lnSpc>
                        <a:spcBef>
                          <a:spcPct val="0"/>
                        </a:spcBef>
                        <a:spcAft>
                          <a:spcPct val="0"/>
                        </a:spcAft>
                        <a:buClrTx/>
                        <a:buSzTx/>
                        <a:buFontTx/>
                        <a:buNone/>
                        <a:tabLst/>
                        <a:defRPr/>
                      </a:pPr>
                      <a:r>
                        <a:rPr kumimoji="1" lang="en-US" altLang="ko-KR" sz="1000" i="0" u="none" strike="noStrike" kern="0" cap="none" spc="0" normalizeH="0" baseline="0" noProof="0" dirty="0">
                          <a:ln>
                            <a:noFill/>
                          </a:ln>
                          <a:solidFill>
                            <a:schemeClr val="tx1"/>
                          </a:solidFill>
                          <a:effectLst/>
                          <a:uLnTx/>
                          <a:uFillTx/>
                          <a:latin typeface="Arial" panose="020B0600000101010101" pitchFamily="34" charset="-127"/>
                          <a:ea typeface="Arial" panose="020B0600000101010101" pitchFamily="34" charset="-127"/>
                          <a:cs typeface="+mn-cs"/>
                        </a:rPr>
                        <a:t>2026.Mar.0</a:t>
                      </a:r>
                      <a:r>
                        <a:rPr kumimoji="1" lang="en-US" altLang="ko-KR" sz="1000" i="0" u="none" strike="noStrike" kern="0" cap="none" spc="0" normalizeH="0" baseline="0" noProof="0" dirty="0">
                          <a:ln>
                            <a:noFill/>
                          </a:ln>
                          <a:solidFill>
                            <a:schemeClr val="tx1"/>
                          </a:solidFill>
                          <a:effectLst/>
                          <a:uLnTx/>
                          <a:uFillTx/>
                          <a:latin typeface="+mn-lt"/>
                          <a:ea typeface="LG Smart_H Regular" pitchFamily="34" charset="-127"/>
                          <a:cs typeface="+mn-cs"/>
                        </a:rPr>
                        <a:t>9</a:t>
                      </a:r>
                      <a:r>
                        <a:rPr kumimoji="1" lang="en-US" altLang="ko-KR" sz="1000" i="0" u="none" strike="noStrike" kern="0" cap="none" spc="0" normalizeH="0" baseline="0" noProof="0" dirty="0">
                          <a:ln>
                            <a:noFill/>
                          </a:ln>
                          <a:solidFill>
                            <a:schemeClr val="tx1"/>
                          </a:solidFill>
                          <a:effectLst/>
                          <a:uLnTx/>
                          <a:uFillTx/>
                          <a:latin typeface="Arial" panose="020B0600000101010101" pitchFamily="34" charset="-127"/>
                          <a:ea typeface="Arial" panose="020B0600000101010101" pitchFamily="34" charset="-127"/>
                          <a:cs typeface="+mn-cs"/>
                        </a:rPr>
                        <a:t> ~ 2026.Sep.20</a:t>
                      </a:r>
                    </a:p>
                  </a:txBody>
                  <a:tcPr marL="90001" marR="90001" marT="18001" marB="1800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hMerge="1">
                  <a:txBody>
                    <a:bodyPr/>
                    <a:lstStyle/>
                    <a:p>
                      <a:pPr eaLnBrk="1" latinLnBrk="0"/>
                      <a:endParaRPr lang="en-US"/>
                    </a:p>
                  </a:txBody>
                  <a:tcPr/>
                </a:tc>
                <a:tc hMerge="1">
                  <a:txBody>
                    <a:bodyPr/>
                    <a:lstStyle/>
                    <a:p>
                      <a:pPr eaLnBrk="1" latinLnBrk="0"/>
                      <a:endParaRPr lang="ko-KR" altLang="en-US"/>
                    </a:p>
                  </a:txBody>
                  <a:tcPr/>
                </a:tc>
                <a:tc>
                  <a:txBody>
                    <a:bodyPr/>
                    <a:lstStyle/>
                    <a:p>
                      <a:pPr marL="0" marR="0" lvl="0" indent="0" algn="ctr" defTabSz="912813" rtl="0" eaLnBrk="1" fontAlgn="base" latinLnBrk="0" hangingPunct="1">
                        <a:lnSpc>
                          <a:spcPct val="100000"/>
                        </a:lnSpc>
                        <a:spcBef>
                          <a:spcPct val="0"/>
                        </a:spcBef>
                        <a:spcAft>
                          <a:spcPct val="0"/>
                        </a:spcAft>
                        <a:buClrTx/>
                        <a:buSzTx/>
                        <a:buFontTx/>
                        <a:buNone/>
                        <a:tabLst/>
                      </a:pPr>
                      <a:r>
                        <a:rPr kumimoji="0" lang="en-US" altLang="ko-KR" sz="1000" b="0" i="0" u="none" strike="noStrike" cap="none" normalizeH="0" baseline="0">
                          <a:ln>
                            <a:noFill/>
                          </a:ln>
                          <a:solidFill>
                            <a:schemeClr val="tx1"/>
                          </a:solidFill>
                          <a:effectLst/>
                          <a:latin typeface="Arial" panose="020B0600000101010101" pitchFamily="34" charset="-127"/>
                          <a:ea typeface="Arial" panose="020B0600000101010101" pitchFamily="34" charset="-127"/>
                          <a:cs typeface="Arial" charset="0"/>
                        </a:rPr>
                        <a:t>Task team name</a:t>
                      </a:r>
                    </a:p>
                  </a:txBody>
                  <a:tcPr marL="91421" marR="91421" marT="45710" marB="4571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tc>
                  <a:txBody>
                    <a:bodyPr/>
                    <a:lstStyle/>
                    <a:p>
                      <a:pPr marL="0" marR="0" lvl="0" indent="0" algn="ctr" defTabSz="912813" rtl="0" eaLnBrk="1" fontAlgn="base" latinLnBrk="0" hangingPunct="1">
                        <a:lnSpc>
                          <a:spcPct val="100000"/>
                        </a:lnSpc>
                        <a:spcBef>
                          <a:spcPct val="0"/>
                        </a:spcBef>
                        <a:spcAft>
                          <a:spcPct val="0"/>
                        </a:spcAft>
                        <a:buClrTx/>
                        <a:buSzTx/>
                        <a:buFontTx/>
                        <a:buNone/>
                        <a:tabLst/>
                      </a:pPr>
                      <a:r>
                        <a:rPr kumimoji="0" lang="en-US" altLang="ko-KR" sz="1000" b="0" i="0" u="none" strike="noStrike" cap="none" normalizeH="0" baseline="0" dirty="0">
                          <a:ln>
                            <a:noFill/>
                          </a:ln>
                          <a:solidFill>
                            <a:srgbClr val="000000"/>
                          </a:solidFill>
                          <a:effectLst/>
                          <a:latin typeface="Arial" panose="020B0600000101010101" pitchFamily="34" charset="-127"/>
                          <a:ea typeface="Arial" panose="020B0600000101010101" pitchFamily="34" charset="-127"/>
                          <a:cs typeface="Arial" charset="0"/>
                        </a:rPr>
                        <a:t>Inspection Engineering Project</a:t>
                      </a:r>
                    </a:p>
                  </a:txBody>
                  <a:tcPr marL="91421" marR="91421" marT="45710" marB="4571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324836">
                <a:tc rowSpan="2" gridSpan="2">
                  <a:txBody>
                    <a:bodyPr/>
                    <a:lstStyle/>
                    <a:p>
                      <a:pPr marL="0" marR="0" lvl="0" indent="0" algn="ctr" defTabSz="912813" rtl="0" eaLnBrk="1" fontAlgn="base" latinLnBrk="0" hangingPunct="1">
                        <a:lnSpc>
                          <a:spcPct val="100000"/>
                        </a:lnSpc>
                        <a:spcBef>
                          <a:spcPct val="0"/>
                        </a:spcBef>
                        <a:spcAft>
                          <a:spcPct val="0"/>
                        </a:spcAft>
                        <a:buClrTx/>
                        <a:buSzTx/>
                        <a:buFontTx/>
                        <a:buNone/>
                        <a:tabLst/>
                      </a:pPr>
                      <a:r>
                        <a:rPr kumimoji="0" lang="en-US" altLang="ko-KR" sz="1000" b="0" i="0" u="none" strike="noStrike"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Six Sigma Project</a:t>
                      </a:r>
                      <a:endParaRPr kumimoji="0" lang="ko-KR" altLang="en-US" sz="1000" b="0" i="0" u="none" strike="noStrike" cap="none" normalizeH="0" baseline="0" dirty="0">
                        <a:ln>
                          <a:noFill/>
                        </a:ln>
                        <a:solidFill>
                          <a:schemeClr val="tx1"/>
                        </a:solidFill>
                        <a:effectLst/>
                        <a:latin typeface="LG Smart_H Regular" panose="020B0600000101010101" pitchFamily="34" charset="-127"/>
                        <a:ea typeface="LG Smart_H Regular" panose="020B0600000101010101" pitchFamily="34" charset="-127"/>
                        <a:cs typeface="Arial" charset="0"/>
                      </a:endParaRPr>
                    </a:p>
                  </a:txBody>
                  <a:tcPr marL="91421" marR="91421" marT="45710" marB="4571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tc rowSpan="2" hMerge="1">
                  <a:txBody>
                    <a:bodyPr/>
                    <a:lstStyle/>
                    <a:p>
                      <a:pPr eaLnBrk="1" latinLnBrk="0"/>
                      <a:endParaRPr lang="ko-KR" altLang="en-US"/>
                    </a:p>
                  </a:txBody>
                  <a:tcPr/>
                </a:tc>
                <a:tc gridSpan="7">
                  <a:txBody>
                    <a:bodyPr/>
                    <a:lstStyle/>
                    <a:p>
                      <a:pPr marL="0" marR="0" lvl="0" indent="0" algn="ctr" defTabSz="912813" rtl="0" eaLnBrk="1" fontAlgn="base" latinLnBrk="0" hangingPunct="1">
                        <a:lnSpc>
                          <a:spcPct val="100000"/>
                        </a:lnSpc>
                        <a:spcBef>
                          <a:spcPct val="0"/>
                        </a:spcBef>
                        <a:spcAft>
                          <a:spcPct val="0"/>
                        </a:spcAft>
                        <a:buClrTx/>
                        <a:buSzTx/>
                        <a:buFontTx/>
                        <a:buNone/>
                        <a:tabLst/>
                      </a:pPr>
                      <a:r>
                        <a:rPr kumimoji="0" lang="en-US" altLang="ko-KR" sz="1000" b="0" i="0" u="none" strike="noStrike" cap="none" normalizeH="0" baseline="0">
                          <a:ln>
                            <a:noFill/>
                          </a:ln>
                          <a:solidFill>
                            <a:schemeClr val="tx1"/>
                          </a:solidFill>
                          <a:effectLst/>
                          <a:latin typeface="Arial" panose="020B0600000101010101" pitchFamily="34" charset="-127"/>
                          <a:ea typeface="Arial" panose="020B0600000101010101" pitchFamily="34" charset="-127"/>
                          <a:cs typeface="Arial" charset="0"/>
                        </a:rPr>
                        <a:t>Improvement Goal (Stretch </a:t>
                      </a:r>
                      <a:r>
                        <a:rPr kumimoji="0" lang="en-US" altLang="ko-KR" sz="1000" b="0" i="0" u="none" strike="noStrike"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Goal)</a:t>
                      </a:r>
                    </a:p>
                  </a:txBody>
                  <a:tcPr marL="91421" marR="91421" marT="45710" marB="4571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tc hMerge="1">
                  <a:txBody>
                    <a:bodyPr/>
                    <a:lstStyle/>
                    <a:p>
                      <a:pPr eaLnBrk="1" latinLnBrk="0"/>
                      <a:endParaRPr lang="ko-KR" altLang="en-US"/>
                    </a:p>
                  </a:txBody>
                  <a:tcPr/>
                </a:tc>
                <a:tc hMerge="1">
                  <a:txBody>
                    <a:bodyPr/>
                    <a:lstStyle/>
                    <a:p>
                      <a:pPr eaLnBrk="1" latinLnBrk="0"/>
                      <a:endParaRPr lang="ko-KR" altLang="en-US"/>
                    </a:p>
                  </a:txBody>
                  <a:tcPr/>
                </a:tc>
                <a:tc hMerge="1">
                  <a:txBody>
                    <a:bodyPr/>
                    <a:lstStyle/>
                    <a:p>
                      <a:pPr eaLnBrk="1" latinLnBrk="0"/>
                      <a:endParaRPr lang="ko-KR" altLang="en-US"/>
                    </a:p>
                  </a:txBody>
                  <a:tcPr/>
                </a:tc>
                <a:tc hMerge="1">
                  <a:txBody>
                    <a:bodyPr/>
                    <a:lstStyle/>
                    <a:p>
                      <a:pPr eaLnBrk="1" latinLnBrk="0"/>
                      <a:endParaRPr lang="ko-KR" altLang="en-US"/>
                    </a:p>
                  </a:txBody>
                  <a:tcPr/>
                </a:tc>
                <a:tc hMerge="1">
                  <a:txBody>
                    <a:bodyPr/>
                    <a:lstStyle/>
                    <a:p>
                      <a:pPr eaLnBrk="1" latinLnBrk="0"/>
                      <a:endParaRPr lang="en-US"/>
                    </a:p>
                  </a:txBody>
                  <a:tcPr/>
                </a:tc>
                <a:tc hMerge="1">
                  <a:txBody>
                    <a:bodyPr/>
                    <a:lstStyle/>
                    <a:p>
                      <a:pPr eaLnBrk="1" latinLnBrk="0"/>
                      <a:endParaRPr lang="ko-KR" altLang="en-US"/>
                    </a:p>
                  </a:txBody>
                  <a:tcPr/>
                </a:tc>
                <a:tc rowSpan="2" gridSpan="2">
                  <a:txBody>
                    <a:bodyPr/>
                    <a:lstStyle/>
                    <a:p>
                      <a:pPr marL="0" marR="0" lvl="0" indent="0" algn="ctr" defTabSz="912813" rtl="0" eaLnBrk="1" fontAlgn="base" latinLnBrk="0" hangingPunct="1">
                        <a:lnSpc>
                          <a:spcPct val="100000"/>
                        </a:lnSpc>
                        <a:spcBef>
                          <a:spcPct val="0"/>
                        </a:spcBef>
                        <a:spcAft>
                          <a:spcPct val="0"/>
                        </a:spcAft>
                        <a:buClrTx/>
                        <a:buSzTx/>
                        <a:buFontTx/>
                        <a:buNone/>
                        <a:tabLst/>
                      </a:pPr>
                      <a:r>
                        <a:rPr kumimoji="0" lang="en-US" altLang="ko-KR" sz="1000" b="0" i="0" u="none" strike="noStrike" cap="none" normalizeH="0" baseline="0">
                          <a:ln>
                            <a:noFill/>
                          </a:ln>
                          <a:solidFill>
                            <a:schemeClr val="tx1"/>
                          </a:solidFill>
                          <a:effectLst/>
                          <a:latin typeface="Arial" panose="020B0600000101010101" pitchFamily="34" charset="-127"/>
                          <a:ea typeface="Arial" panose="020B0600000101010101" pitchFamily="34" charset="-127"/>
                          <a:cs typeface="Arial" charset="0"/>
                        </a:rPr>
                        <a:t>Idea of breaking the limit</a:t>
                      </a:r>
                      <a:endParaRPr kumimoji="0" lang="en-US" altLang="ko-KR" sz="1000" b="0" i="0" u="none" strike="noStrike" cap="none" normalizeH="0" baseline="0" dirty="0">
                        <a:ln>
                          <a:noFill/>
                        </a:ln>
                        <a:solidFill>
                          <a:schemeClr val="tx1"/>
                        </a:solidFill>
                        <a:effectLst/>
                        <a:latin typeface="LG Smart_H Regular" panose="020B0600000101010101" pitchFamily="34" charset="-127"/>
                        <a:ea typeface="LG Smart_H Regular" panose="020B0600000101010101" pitchFamily="34" charset="-127"/>
                        <a:cs typeface="Arial" charset="0"/>
                      </a:endParaRPr>
                    </a:p>
                  </a:txBody>
                  <a:tcPr marL="91421" marR="91421" marT="45710" marB="4571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tc rowSpan="2" hMerge="1">
                  <a:txBody>
                    <a:bodyPr/>
                    <a:lstStyle/>
                    <a:p>
                      <a:pPr eaLnBrk="1" latinLnBrk="0"/>
                      <a:endParaRPr lang="ko-KR" altLang="en-US"/>
                    </a:p>
                  </a:txBody>
                  <a:tcPr/>
                </a:tc>
                <a:extLst>
                  <a:ext uri="{0D108BD9-81ED-4DB2-BD59-A6C34878D82A}">
                    <a16:rowId xmlns:a16="http://schemas.microsoft.com/office/drawing/2014/main" val="10001"/>
                  </a:ext>
                </a:extLst>
              </a:tr>
              <a:tr h="405055">
                <a:tc gridSpan="2" vMerge="1">
                  <a:txBody>
                    <a:bodyPr/>
                    <a:lstStyle/>
                    <a:p>
                      <a:pPr eaLnBrk="1" latinLnBrk="0"/>
                      <a:endParaRPr lang="ko-KR" altLang="en-US"/>
                    </a:p>
                  </a:txBody>
                  <a:tcPr/>
                </a:tc>
                <a:tc hMerge="1" vMerge="1">
                  <a:txBody>
                    <a:bodyPr/>
                    <a:lstStyle/>
                    <a:p>
                      <a:pPr eaLnBrk="1" latinLnBrk="0"/>
                      <a:endParaRPr lang="ko-KR" altLang="en-US"/>
                    </a:p>
                  </a:txBody>
                  <a:tcPr/>
                </a:tc>
                <a:tc gridSpan="2">
                  <a:txBody>
                    <a:bodyPr/>
                    <a:lstStyle/>
                    <a:p>
                      <a:pPr marL="0" marR="0" lvl="0" indent="0" algn="ctr" defTabSz="912813" rtl="0" eaLnBrk="1" fontAlgn="base" latinLnBrk="0" hangingPunct="1">
                        <a:lnSpc>
                          <a:spcPct val="100000"/>
                        </a:lnSpc>
                        <a:spcBef>
                          <a:spcPct val="0"/>
                        </a:spcBef>
                        <a:spcAft>
                          <a:spcPct val="0"/>
                        </a:spcAft>
                        <a:buClrTx/>
                        <a:buSzTx/>
                        <a:buFontTx/>
                        <a:buNone/>
                        <a:tabLst/>
                      </a:pPr>
                      <a:r>
                        <a:rPr kumimoji="0" lang="en-US" altLang="ko-KR" sz="1000" b="0" i="0" u="none" strike="noStrike" cap="none" normalizeH="0" baseline="0">
                          <a:ln>
                            <a:noFill/>
                          </a:ln>
                          <a:solidFill>
                            <a:schemeClr val="tx1"/>
                          </a:solidFill>
                          <a:effectLst/>
                          <a:latin typeface="Arial" panose="020B0600000101010101" pitchFamily="34" charset="-127"/>
                          <a:ea typeface="Arial" panose="020B0600000101010101" pitchFamily="34" charset="-127"/>
                          <a:cs typeface="Arial" charset="0"/>
                        </a:rPr>
                        <a:t>Improvement index</a:t>
                      </a:r>
                      <a:endParaRPr kumimoji="0" lang="en-US" altLang="ko-KR" sz="1000" b="0" i="0" u="none" strike="noStrike" cap="none" normalizeH="0" baseline="0" dirty="0">
                        <a:ln>
                          <a:noFill/>
                        </a:ln>
                        <a:solidFill>
                          <a:schemeClr val="tx1"/>
                        </a:solidFill>
                        <a:effectLst/>
                        <a:latin typeface="LG Smart_H Regular" panose="020B0600000101010101" pitchFamily="34" charset="-127"/>
                        <a:ea typeface="LG Smart_H Regular" panose="020B0600000101010101" pitchFamily="34" charset="-127"/>
                        <a:cs typeface="Arial" charset="0"/>
                      </a:endParaRPr>
                    </a:p>
                  </a:txBody>
                  <a:tcPr marL="36000" marR="36000" marT="46801" marB="4680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tc hMerge="1">
                  <a:txBody>
                    <a:bodyPr/>
                    <a:lstStyle/>
                    <a:p>
                      <a:pPr eaLnBrk="1" latinLnBrk="0"/>
                      <a:endParaRPr lang="ko-KR" altLang="en-US"/>
                    </a:p>
                  </a:txBody>
                  <a:tcPr/>
                </a:tc>
                <a:tc gridSpan="3">
                  <a:txBody>
                    <a:bodyPr/>
                    <a:lstStyle/>
                    <a:p>
                      <a:pPr marL="0" marR="0" lvl="0" indent="0" algn="ctr" defTabSz="912813" rtl="0" eaLnBrk="1" fontAlgn="base" latinLnBrk="0" hangingPunct="1">
                        <a:lnSpc>
                          <a:spcPct val="100000"/>
                        </a:lnSpc>
                        <a:spcBef>
                          <a:spcPct val="0"/>
                        </a:spcBef>
                        <a:spcAft>
                          <a:spcPct val="0"/>
                        </a:spcAft>
                        <a:buClrTx/>
                        <a:buSzTx/>
                        <a:buFontTx/>
                        <a:buNone/>
                        <a:tabLst/>
                      </a:pPr>
                      <a:r>
                        <a:rPr kumimoji="0" lang="en-US" altLang="ko-KR" sz="1000" b="0" i="0" u="none" strike="noStrike" cap="none" normalizeH="0" baseline="0">
                          <a:ln>
                            <a:noFill/>
                          </a:ln>
                          <a:solidFill>
                            <a:schemeClr val="tx1"/>
                          </a:solidFill>
                          <a:effectLst/>
                          <a:latin typeface="Arial" panose="020B0600000101010101" pitchFamily="34" charset="-127"/>
                          <a:ea typeface="Arial" panose="020B0600000101010101" pitchFamily="34" charset="-127"/>
                          <a:cs typeface="Arial" charset="0"/>
                        </a:rPr>
                        <a:t>Current</a:t>
                      </a:r>
                      <a:endParaRPr kumimoji="0" lang="ko-KR" altLang="en-US" sz="1000" b="0" i="0" u="none" strike="noStrike" cap="none" normalizeH="0" baseline="0" dirty="0">
                        <a:ln>
                          <a:noFill/>
                        </a:ln>
                        <a:solidFill>
                          <a:schemeClr val="tx1"/>
                        </a:solidFill>
                        <a:effectLst/>
                        <a:latin typeface="LG Smart_H Regular" panose="020B0600000101010101" pitchFamily="34" charset="-127"/>
                        <a:ea typeface="LG Smart_H Regular" panose="020B0600000101010101" pitchFamily="34" charset="-127"/>
                        <a:cs typeface="Arial" charset="0"/>
                      </a:endParaRPr>
                    </a:p>
                  </a:txBody>
                  <a:tcPr marL="36000" marR="36000" marT="46801" marB="4680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tc hMerge="1">
                  <a:txBody>
                    <a:bodyPr/>
                    <a:lstStyle/>
                    <a:p>
                      <a:pPr eaLnBrk="1" latinLnBrk="0"/>
                      <a:endParaRPr lang="ko-KR" altLang="en-US"/>
                    </a:p>
                  </a:txBody>
                  <a:tcPr/>
                </a:tc>
                <a:tc hMerge="1">
                  <a:txBody>
                    <a:bodyPr/>
                    <a:lstStyle/>
                    <a:p>
                      <a:pPr marL="0" marR="0" lvl="0" indent="0" algn="ctr" defTabSz="912813" rtl="0" eaLnBrk="1" fontAlgn="base" latinLnBrk="0" hangingPunct="1">
                        <a:lnSpc>
                          <a:spcPct val="100000"/>
                        </a:lnSpc>
                        <a:spcBef>
                          <a:spcPct val="0"/>
                        </a:spcBef>
                        <a:spcAft>
                          <a:spcPct val="0"/>
                        </a:spcAft>
                        <a:buClrTx/>
                        <a:buSzTx/>
                        <a:buFontTx/>
                        <a:buNone/>
                        <a:tabLst/>
                        <a:defRPr/>
                      </a:pPr>
                      <a:r>
                        <a:rPr kumimoji="0" lang="en-US" altLang="ko-KR" sz="1000" b="0" i="0" u="none" strike="noStrike"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World</a:t>
                      </a:r>
                    </a:p>
                    <a:p>
                      <a:pPr marL="0" marR="0" lvl="0" indent="0" algn="ctr" defTabSz="912813" rtl="0" eaLnBrk="1" fontAlgn="base" latinLnBrk="0" hangingPunct="1">
                        <a:lnSpc>
                          <a:spcPct val="100000"/>
                        </a:lnSpc>
                        <a:spcBef>
                          <a:spcPct val="0"/>
                        </a:spcBef>
                        <a:spcAft>
                          <a:spcPct val="0"/>
                        </a:spcAft>
                        <a:buClrTx/>
                        <a:buSzTx/>
                        <a:buFontTx/>
                        <a:buNone/>
                        <a:tabLst/>
                        <a:defRPr/>
                      </a:pPr>
                      <a:r>
                        <a:rPr kumimoji="0" lang="en-US" altLang="ko-KR" sz="1000" b="0" i="0" u="none" strike="noStrike"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Best</a:t>
                      </a:r>
                    </a:p>
                  </a:txBody>
                  <a:tcPr marL="36000" marR="36000" marT="46801" marB="4680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tc>
                  <a:txBody>
                    <a:bodyPr/>
                    <a:lstStyle/>
                    <a:p>
                      <a:pPr marL="0" marR="0" lvl="0" indent="0" algn="ctr" defTabSz="912813" rtl="0" eaLnBrk="1" fontAlgn="base" latinLnBrk="0" hangingPunct="1">
                        <a:lnSpc>
                          <a:spcPct val="100000"/>
                        </a:lnSpc>
                        <a:spcBef>
                          <a:spcPct val="0"/>
                        </a:spcBef>
                        <a:spcAft>
                          <a:spcPct val="0"/>
                        </a:spcAft>
                        <a:buClrTx/>
                        <a:buSzTx/>
                        <a:buFontTx/>
                        <a:buNone/>
                        <a:tabLst/>
                        <a:defRPr/>
                      </a:pPr>
                      <a:r>
                        <a:rPr kumimoji="0" lang="en-US" altLang="ko-KR" sz="1000" b="0" i="0" u="none" strike="noStrike" cap="none" normalizeH="0" baseline="0">
                          <a:ln>
                            <a:noFill/>
                          </a:ln>
                          <a:solidFill>
                            <a:schemeClr val="tx1"/>
                          </a:solidFill>
                          <a:effectLst/>
                          <a:latin typeface="Arial" panose="020B0600000101010101" pitchFamily="34" charset="-127"/>
                          <a:ea typeface="Arial" panose="020B0600000101010101" pitchFamily="34" charset="-127"/>
                          <a:cs typeface="Arial" charset="0"/>
                        </a:rPr>
                        <a:t>World</a:t>
                      </a:r>
                    </a:p>
                    <a:p>
                      <a:pPr marL="0" marR="0" lvl="0" indent="0" algn="ctr" defTabSz="912813" rtl="0" eaLnBrk="1" fontAlgn="base" latinLnBrk="0" hangingPunct="1">
                        <a:lnSpc>
                          <a:spcPct val="100000"/>
                        </a:lnSpc>
                        <a:spcBef>
                          <a:spcPct val="0"/>
                        </a:spcBef>
                        <a:spcAft>
                          <a:spcPct val="0"/>
                        </a:spcAft>
                        <a:buClrTx/>
                        <a:buSzTx/>
                        <a:buFontTx/>
                        <a:buNone/>
                        <a:tabLst/>
                        <a:defRPr/>
                      </a:pPr>
                      <a:r>
                        <a:rPr kumimoji="0" lang="en-US" altLang="ko-KR" sz="1000" b="0" i="0" u="none" strike="noStrike" cap="none" normalizeH="0" baseline="0">
                          <a:ln>
                            <a:noFill/>
                          </a:ln>
                          <a:solidFill>
                            <a:schemeClr val="tx1"/>
                          </a:solidFill>
                          <a:effectLst/>
                          <a:latin typeface="Arial" panose="020B0600000101010101" pitchFamily="34" charset="-127"/>
                          <a:ea typeface="Arial" panose="020B0600000101010101" pitchFamily="34" charset="-127"/>
                          <a:cs typeface="Arial" charset="0"/>
                        </a:rPr>
                        <a:t>Best</a:t>
                      </a:r>
                      <a:endParaRPr kumimoji="0" lang="en-US" altLang="ko-KR" sz="1000" b="0" i="0" u="none" strike="noStrike" cap="none" normalizeH="0" baseline="0" dirty="0">
                        <a:ln>
                          <a:noFill/>
                        </a:ln>
                        <a:solidFill>
                          <a:schemeClr val="tx1"/>
                        </a:solidFill>
                        <a:effectLst/>
                        <a:latin typeface="LG Smart_H Regular" panose="020B0600000101010101" pitchFamily="34" charset="-127"/>
                        <a:ea typeface="LG Smart_H Regular" panose="020B0600000101010101" pitchFamily="34" charset="-127"/>
                        <a:cs typeface="Arial" charset="0"/>
                      </a:endParaRPr>
                    </a:p>
                  </a:txBody>
                  <a:tcPr marL="36000" marR="36000" marT="46801" marB="4680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tc>
                  <a:txBody>
                    <a:bodyPr/>
                    <a:lstStyle/>
                    <a:p>
                      <a:pPr marL="0" marR="0" lvl="0" indent="0" algn="ctr" defTabSz="912813" rtl="0" eaLnBrk="1" fontAlgn="base" latinLnBrk="0" hangingPunct="1">
                        <a:lnSpc>
                          <a:spcPct val="100000"/>
                        </a:lnSpc>
                        <a:spcBef>
                          <a:spcPct val="0"/>
                        </a:spcBef>
                        <a:spcAft>
                          <a:spcPct val="0"/>
                        </a:spcAft>
                        <a:buClrTx/>
                        <a:buSzTx/>
                        <a:buFontTx/>
                        <a:buNone/>
                        <a:tabLst/>
                      </a:pPr>
                      <a:r>
                        <a:rPr kumimoji="0" lang="en-US" altLang="ko-KR" sz="1000" b="0" i="0" u="none" strike="noStrike" cap="none" normalizeH="0" baseline="0">
                          <a:ln>
                            <a:noFill/>
                          </a:ln>
                          <a:solidFill>
                            <a:schemeClr val="tx1"/>
                          </a:solidFill>
                          <a:effectLst/>
                          <a:latin typeface="Arial" panose="020B0600000101010101" pitchFamily="34" charset="-127"/>
                          <a:ea typeface="Arial" panose="020B0600000101010101" pitchFamily="34" charset="-127"/>
                          <a:cs typeface="Arial" charset="0"/>
                        </a:rPr>
                        <a:t>Goal</a:t>
                      </a:r>
                      <a:endParaRPr kumimoji="0" lang="ko-KR" altLang="en-US" sz="1000" b="0" i="0" u="none" strike="noStrike" cap="none" normalizeH="0" baseline="0" dirty="0">
                        <a:ln>
                          <a:noFill/>
                        </a:ln>
                        <a:solidFill>
                          <a:schemeClr val="tx1"/>
                        </a:solidFill>
                        <a:effectLst/>
                        <a:latin typeface="LG Smart_H Regular" panose="020B0600000101010101" pitchFamily="34" charset="-127"/>
                        <a:ea typeface="LG Smart_H Regular" panose="020B0600000101010101" pitchFamily="34" charset="-127"/>
                        <a:cs typeface="Arial" charset="0"/>
                      </a:endParaRPr>
                    </a:p>
                  </a:txBody>
                  <a:tcPr marL="36000" marR="36000" marT="46801" marB="4680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tc gridSpan="2" vMerge="1">
                  <a:txBody>
                    <a:bodyPr/>
                    <a:lstStyle/>
                    <a:p>
                      <a:pPr eaLnBrk="1" latinLnBrk="0"/>
                      <a:endParaRPr lang="ko-KR" altLang="en-US"/>
                    </a:p>
                  </a:txBody>
                  <a:tcPr/>
                </a:tc>
                <a:tc hMerge="1" vMerge="1">
                  <a:txBody>
                    <a:bodyPr/>
                    <a:lstStyle/>
                    <a:p>
                      <a:pPr eaLnBrk="1" latinLnBrk="0"/>
                      <a:endParaRPr lang="ko-KR" altLang="en-US"/>
                    </a:p>
                  </a:txBody>
                  <a:tcPr/>
                </a:tc>
                <a:extLst>
                  <a:ext uri="{0D108BD9-81ED-4DB2-BD59-A6C34878D82A}">
                    <a16:rowId xmlns:a16="http://schemas.microsoft.com/office/drawing/2014/main" val="10002"/>
                  </a:ext>
                </a:extLst>
              </a:tr>
              <a:tr h="422810">
                <a:tc rowSpan="2" gridSpan="2">
                  <a:txBody>
                    <a:bodyPr/>
                    <a:lstStyle/>
                    <a:p>
                      <a:pPr algn="ctr" eaLnBrk="1" latinLnBrk="0"/>
                      <a:r>
                        <a:rPr lang="en-US" altLang="en-US" sz="1000" dirty="0">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rPr>
                        <a:t>Improve Luminance value</a:t>
                      </a:r>
                    </a:p>
                  </a:txBody>
                  <a:tcPr marL="91421" marR="91421" marT="45710" marB="4571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rowSpan="2" hMerge="1">
                  <a:txBody>
                    <a:bodyPr/>
                    <a:lstStyle/>
                    <a:p>
                      <a:pPr eaLnBrk="1" latinLnBrk="0"/>
                      <a:endParaRPr lang="ko-KR" altLang="en-US"/>
                    </a:p>
                  </a:txBody>
                  <a:tcPr/>
                </a:tc>
                <a:tc>
                  <a:txBody>
                    <a:bodyPr/>
                    <a:lstStyle/>
                    <a:p>
                      <a:pPr algn="ctr" eaLnBrk="1" latinLnBrk="0"/>
                      <a:r>
                        <a:rPr kumimoji="0" lang="en-US" altLang="ko-KR" sz="1000" b="0" i="0" u="none" strike="noStrike" kern="1200"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KPI</a:t>
                      </a:r>
                      <a:endParaRPr kumimoji="0" lang="ko-KR" altLang="en-US" sz="1000" b="0" i="0" u="none" strike="noStrike" kern="1200" cap="none" normalizeH="0" baseline="0" dirty="0">
                        <a:ln>
                          <a:noFill/>
                        </a:ln>
                        <a:solidFill>
                          <a:schemeClr val="tx1"/>
                        </a:solidFill>
                        <a:effectLst/>
                        <a:latin typeface="LG Smart_H Regular" panose="020B0600000101010101" pitchFamily="34" charset="-127"/>
                        <a:ea typeface="LG Smart_H Regular" panose="020B0600000101010101" pitchFamily="34" charset="-127"/>
                        <a:cs typeface="Arial" charset="0"/>
                      </a:endParaRPr>
                    </a:p>
                  </a:txBody>
                  <a:tcPr marL="36000" marR="36000" marT="46801" marB="4680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2813" rtl="0" eaLnBrk="1" fontAlgn="base" latinLnBrk="0" hangingPunct="1">
                        <a:lnSpc>
                          <a:spcPct val="110000"/>
                        </a:lnSpc>
                        <a:spcBef>
                          <a:spcPct val="0"/>
                        </a:spcBef>
                        <a:spcAft>
                          <a:spcPct val="0"/>
                        </a:spcAft>
                        <a:buClrTx/>
                        <a:buSzTx/>
                        <a:buFontTx/>
                        <a:buNone/>
                        <a:tabLst/>
                      </a:pPr>
                      <a:r>
                        <a:rPr kumimoji="0" lang="en-US" altLang="ko-KR" sz="1000" b="0" i="0" u="none" strike="noStrike" cap="none" normalizeH="0" baseline="0" dirty="0">
                          <a:ln>
                            <a:noFill/>
                          </a:ln>
                          <a:solidFill>
                            <a:schemeClr val="tx1"/>
                          </a:solidFill>
                          <a:effectLst/>
                          <a:latin typeface="Arial" panose="020B0600000101010101" pitchFamily="34" charset="-127"/>
                          <a:ea typeface="Arial" panose="020B0600000101010101" pitchFamily="34" charset="-127"/>
                          <a:cs typeface="Arial" pitchFamily="34" charset="0"/>
                        </a:rPr>
                        <a:t>Defect rate</a:t>
                      </a:r>
                    </a:p>
                    <a:p>
                      <a:pPr marL="0" marR="0" lvl="0" indent="0" algn="ctr" defTabSz="912813" rtl="0" eaLnBrk="1" fontAlgn="base" latinLnBrk="0" hangingPunct="1">
                        <a:lnSpc>
                          <a:spcPct val="110000"/>
                        </a:lnSpc>
                        <a:spcBef>
                          <a:spcPct val="0"/>
                        </a:spcBef>
                        <a:spcAft>
                          <a:spcPct val="0"/>
                        </a:spcAft>
                        <a:buClrTx/>
                        <a:buSzTx/>
                        <a:buFontTx/>
                        <a:buNone/>
                        <a:tabLst/>
                      </a:pPr>
                      <a:r>
                        <a:rPr kumimoji="0" lang="en-US" altLang="ko-KR" sz="1000" b="0" i="0" u="none" strike="noStrike" cap="none" normalizeH="0" baseline="0" dirty="0">
                          <a:ln>
                            <a:noFill/>
                          </a:ln>
                          <a:solidFill>
                            <a:schemeClr val="tx1"/>
                          </a:solidFill>
                          <a:effectLst/>
                          <a:latin typeface="Arial" panose="020B0600000101010101" pitchFamily="34" charset="-127"/>
                          <a:ea typeface="Arial" panose="020B0600000101010101" pitchFamily="34" charset="-127"/>
                          <a:cs typeface="Arial" pitchFamily="34" charset="0"/>
                        </a:rPr>
                        <a:t>(ppm) </a:t>
                      </a:r>
                    </a:p>
                  </a:txBody>
                  <a:tcPr marL="36000" marR="36000" marT="46801" marB="4680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a:noFill/>
                    </a:lnTlToBr>
                    <a:lnBlToTr>
                      <a:noFill/>
                    </a:lnBlToTr>
                    <a:no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ko-KR" sz="1000" dirty="0">
                          <a:solidFill>
                            <a:schemeClr val="tx1"/>
                          </a:solidFill>
                          <a:latin typeface="Arial" panose="020B0600000101010101" pitchFamily="34" charset="-127"/>
                          <a:ea typeface="Arial" panose="020B0600000101010101" pitchFamily="34" charset="-127"/>
                          <a:cs typeface="Arial" panose="020B0604020202020204" pitchFamily="34" charset="0"/>
                        </a:rPr>
                        <a:t>226,624</a:t>
                      </a:r>
                      <a:r>
                        <a:rPr kumimoji="0" lang="en-US" altLang="ko-KR" sz="1000" b="0" i="0" u="none" strike="noStrike" kern="1200"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ppm</a:t>
                      </a:r>
                      <a:endParaRPr kumimoji="0" lang="ko-KR" altLang="en-US" sz="1000" b="0" i="0" u="none" strike="noStrike" kern="1200" cap="none" normalizeH="0" baseline="0" dirty="0">
                        <a:ln>
                          <a:noFill/>
                        </a:ln>
                        <a:solidFill>
                          <a:schemeClr val="tx1"/>
                        </a:solidFill>
                        <a:effectLst/>
                        <a:latin typeface="LG Smart_H Regular" panose="020B0600000101010101" pitchFamily="34" charset="-127"/>
                        <a:ea typeface="LG Smart_H Regular" panose="020B0600000101010101" pitchFamily="34" charset="-127"/>
                        <a:cs typeface="Arial" charset="0"/>
                      </a:endParaRPr>
                    </a:p>
                  </a:txBody>
                  <a:tcPr marL="36000" marR="36000" marT="46801" marB="4680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a:noFill/>
                    </a:lnTlToBr>
                    <a:lnBlToTr>
                      <a:noFill/>
                    </a:lnBlToTr>
                    <a:noFill/>
                  </a:tcPr>
                </a:tc>
                <a:tc hMerge="1">
                  <a:txBody>
                    <a:bodyPr/>
                    <a:lstStyle/>
                    <a:p>
                      <a:pPr eaLnBrk="1" latinLnBrk="0"/>
                      <a:endParaRPr lang="ko-KR" altLang="en-US"/>
                    </a:p>
                  </a:txBody>
                  <a:tcPr/>
                </a:tc>
                <a:tc hMerge="1">
                  <a:txBody>
                    <a:bodyPr/>
                    <a:lstStyle/>
                    <a:p>
                      <a:pPr algn="ctr" eaLnBrk="1" latinLnBrk="0"/>
                      <a:r>
                        <a:rPr kumimoji="0" lang="en-US" altLang="ko-KR" sz="1000" b="0" i="0" u="none" strike="noStrike" kern="1200"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N/A</a:t>
                      </a:r>
                      <a:endParaRPr kumimoji="0" lang="ko-KR" altLang="en-US" sz="1000" b="0" i="0" u="none" strike="noStrike" kern="1200" cap="none" normalizeH="0" baseline="0" dirty="0">
                        <a:ln>
                          <a:noFill/>
                        </a:ln>
                        <a:solidFill>
                          <a:schemeClr val="tx1"/>
                        </a:solidFill>
                        <a:effectLst/>
                        <a:latin typeface="LG Smart_H Regular" panose="020B0600000101010101" pitchFamily="34" charset="-127"/>
                        <a:ea typeface="LG Smart_H Regular" panose="020B0600000101010101" pitchFamily="34" charset="-127"/>
                        <a:cs typeface="Arial" charset="0"/>
                      </a:endParaRPr>
                    </a:p>
                  </a:txBody>
                  <a:tcPr marL="36000" marR="36000" marT="46801" marB="4680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a:noFill/>
                    </a:lnTlToBr>
                    <a:lnBlToTr>
                      <a:noFill/>
                    </a:lnBlToTr>
                    <a:noFill/>
                  </a:tcPr>
                </a:tc>
                <a:tc>
                  <a:txBody>
                    <a:bodyPr/>
                    <a:lstStyle/>
                    <a:p>
                      <a:pPr algn="ctr" eaLnBrk="1" latinLnBrk="0"/>
                      <a:r>
                        <a:rPr kumimoji="0" lang="en-US" altLang="ko-KR" sz="1000" b="0" i="0" u="none" strike="noStrike" kern="1200" cap="none" normalizeH="0" baseline="0">
                          <a:ln>
                            <a:noFill/>
                          </a:ln>
                          <a:solidFill>
                            <a:schemeClr val="tx1"/>
                          </a:solidFill>
                          <a:effectLst/>
                          <a:latin typeface="Arial" panose="020B0600000101010101" pitchFamily="34" charset="-127"/>
                          <a:ea typeface="Arial" panose="020B0600000101010101" pitchFamily="34" charset="-127"/>
                          <a:cs typeface="Arial" charset="0"/>
                        </a:rPr>
                        <a:t>N/A</a:t>
                      </a:r>
                      <a:endParaRPr kumimoji="0" lang="ko-KR" altLang="en-US" sz="1000" b="0" i="0" u="none" strike="noStrike" kern="1200" cap="none" normalizeH="0" baseline="0" dirty="0">
                        <a:ln>
                          <a:noFill/>
                        </a:ln>
                        <a:solidFill>
                          <a:schemeClr val="tx1"/>
                        </a:solidFill>
                        <a:effectLst/>
                        <a:latin typeface="LG Smart_H Regular" panose="020B0600000101010101" pitchFamily="34" charset="-127"/>
                        <a:ea typeface="LG Smart_H Regular" panose="020B0600000101010101" pitchFamily="34" charset="-127"/>
                        <a:cs typeface="Arial" charset="0"/>
                      </a:endParaRPr>
                    </a:p>
                  </a:txBody>
                  <a:tcPr marL="36000" marR="36000" marT="46801" marB="4680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2813" rtl="0" eaLnBrk="1" fontAlgn="base" latinLnBrk="0" hangingPunct="1">
                        <a:lnSpc>
                          <a:spcPct val="110000"/>
                        </a:lnSpc>
                        <a:spcBef>
                          <a:spcPct val="0"/>
                        </a:spcBef>
                        <a:spcAft>
                          <a:spcPct val="0"/>
                        </a:spcAft>
                        <a:buClrTx/>
                        <a:buSzTx/>
                        <a:buFontTx/>
                        <a:buNone/>
                        <a:tabLst/>
                        <a:defRPr/>
                      </a:pPr>
                      <a:r>
                        <a:rPr kumimoji="1" lang="en-US" altLang="ko-KR" sz="1000" b="0" i="0" u="none" strike="noStrike" cap="none" normalizeH="0" baseline="0" dirty="0">
                          <a:ln>
                            <a:noFill/>
                          </a:ln>
                          <a:solidFill>
                            <a:schemeClr val="tx1"/>
                          </a:solidFill>
                          <a:effectLst/>
                          <a:latin typeface="Arial" panose="020B0600000101010101" pitchFamily="34" charset="-127"/>
                          <a:ea typeface="Arial" panose="020B0600000101010101" pitchFamily="34" charset="-127"/>
                          <a:cs typeface="Arial" pitchFamily="34" charset="0"/>
                        </a:rPr>
                        <a:t>0 ppm</a:t>
                      </a:r>
                    </a:p>
                  </a:txBody>
                  <a:tcPr marL="36000" marR="36000" marT="46801" marB="4680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a:noFill/>
                    </a:lnTlToBr>
                    <a:lnBlToTr>
                      <a:noFill/>
                    </a:lnBlToTr>
                    <a:noFill/>
                  </a:tcPr>
                </a:tc>
                <a:tc rowSpan="2" gridSpan="2">
                  <a:txBody>
                    <a:bodyPr/>
                    <a:lstStyle/>
                    <a:p>
                      <a:pPr marL="171450" marR="0" lvl="0" indent="-171450" algn="l" defTabSz="914400" rtl="0" eaLnBrk="1" fontAlgn="base" latinLnBrk="0" hangingPunct="0">
                        <a:lnSpc>
                          <a:spcPct val="100000"/>
                        </a:lnSpc>
                        <a:spcBef>
                          <a:spcPct val="0"/>
                        </a:spcBef>
                        <a:spcAft>
                          <a:spcPct val="0"/>
                        </a:spcAft>
                        <a:buClrTx/>
                        <a:buSzTx/>
                        <a:buFontTx/>
                        <a:buChar char="-"/>
                        <a:tabLst/>
                        <a:defRPr/>
                      </a:pPr>
                      <a:r>
                        <a:rPr kumimoji="1" lang="en-US" altLang="ko-KR" sz="1000" i="0" u="none" strike="noStrike" kern="0" cap="none" spc="0" normalizeH="0" baseline="0" noProof="0" dirty="0">
                          <a:ln>
                            <a:noFill/>
                          </a:ln>
                          <a:solidFill>
                            <a:schemeClr val="tx1"/>
                          </a:solidFill>
                          <a:effectLst/>
                          <a:uLnTx/>
                          <a:uFillTx/>
                          <a:latin typeface="Arial" panose="020B0600000101010101" pitchFamily="34" charset="-127"/>
                          <a:ea typeface="Arial" panose="020B0600000101010101" pitchFamily="34" charset="-127"/>
                          <a:cs typeface="+mn-cs"/>
                        </a:rPr>
                        <a:t>Teaching robot and change camera angle for detecting the central of PID</a:t>
                      </a:r>
                    </a:p>
                    <a:p>
                      <a:pPr marL="171450" marR="0" lvl="0" indent="-171450" algn="l" defTabSz="914400" rtl="0" eaLnBrk="1" fontAlgn="base" latinLnBrk="0" hangingPunct="0">
                        <a:lnSpc>
                          <a:spcPct val="100000"/>
                        </a:lnSpc>
                        <a:spcBef>
                          <a:spcPct val="0"/>
                        </a:spcBef>
                        <a:spcAft>
                          <a:spcPct val="0"/>
                        </a:spcAft>
                        <a:buClrTx/>
                        <a:buSzTx/>
                        <a:buFontTx/>
                        <a:buChar char="-"/>
                        <a:tabLst/>
                        <a:defRPr/>
                      </a:pPr>
                      <a:r>
                        <a:rPr kumimoji="1" lang="en-US" altLang="ko-KR" sz="1000" i="0" u="none" strike="noStrike" kern="0" cap="none" spc="0" normalizeH="0" baseline="0" noProof="0" dirty="0">
                          <a:ln>
                            <a:noFill/>
                          </a:ln>
                          <a:solidFill>
                            <a:schemeClr val="tx1"/>
                          </a:solidFill>
                          <a:effectLst/>
                          <a:uLnTx/>
                          <a:uFillTx/>
                          <a:latin typeface="Arial" panose="020B0600000101010101" pitchFamily="34" charset="-127"/>
                          <a:ea typeface="Arial" panose="020B0600000101010101" pitchFamily="34" charset="-127"/>
                          <a:cs typeface="+mn-cs"/>
                        </a:rPr>
                        <a:t>Make check sheet to control camera equipment</a:t>
                      </a:r>
                    </a:p>
                    <a:p>
                      <a:pPr marL="171450" marR="0" lvl="0" indent="-171450" algn="l" defTabSz="914400" rtl="0" eaLnBrk="1" fontAlgn="base" latinLnBrk="0" hangingPunct="0">
                        <a:lnSpc>
                          <a:spcPct val="100000"/>
                        </a:lnSpc>
                        <a:spcBef>
                          <a:spcPct val="0"/>
                        </a:spcBef>
                        <a:spcAft>
                          <a:spcPct val="0"/>
                        </a:spcAft>
                        <a:buClrTx/>
                        <a:buSzTx/>
                        <a:buFontTx/>
                        <a:buChar char="-"/>
                        <a:tabLst/>
                        <a:defRPr/>
                      </a:pPr>
                      <a:endParaRPr kumimoji="1" lang="en-US" altLang="ko-KR" sz="1000" i="0" u="none" strike="noStrike" kern="0" cap="none" spc="0" normalizeH="0" baseline="0" noProof="0" dirty="0">
                        <a:ln>
                          <a:noFill/>
                        </a:ln>
                        <a:solidFill>
                          <a:schemeClr val="tx1"/>
                        </a:solidFill>
                        <a:effectLst/>
                        <a:uLnTx/>
                        <a:uFillTx/>
                        <a:latin typeface="LG Smart_H Regular" panose="020B0600000101010101" pitchFamily="34" charset="-127"/>
                        <a:ea typeface="LG Smart_H Regular" panose="020B0600000101010101" pitchFamily="34" charset="-127"/>
                        <a:cs typeface="+mn-cs"/>
                      </a:endParaRPr>
                    </a:p>
                  </a:txBody>
                  <a:tcPr marL="91421" marR="91421" marT="45710" marB="4571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rowSpan="2" hMerge="1">
                  <a:txBody>
                    <a:bodyPr/>
                    <a:lstStyle/>
                    <a:p>
                      <a:pPr eaLnBrk="1" latinLnBrk="0"/>
                      <a:endParaRPr lang="ko-KR" altLang="en-US"/>
                    </a:p>
                  </a:txBody>
                  <a:tcPr/>
                </a:tc>
                <a:extLst>
                  <a:ext uri="{0D108BD9-81ED-4DB2-BD59-A6C34878D82A}">
                    <a16:rowId xmlns:a16="http://schemas.microsoft.com/office/drawing/2014/main" val="10003"/>
                  </a:ext>
                </a:extLst>
              </a:tr>
              <a:tr h="444862">
                <a:tc gridSpan="2" vMerge="1">
                  <a:txBody>
                    <a:bodyPr/>
                    <a:lstStyle/>
                    <a:p>
                      <a:pPr eaLnBrk="1" latinLnBrk="0"/>
                      <a:endParaRPr lang="ko-KR" altLang="en-US"/>
                    </a:p>
                  </a:txBody>
                  <a:tcPr/>
                </a:tc>
                <a:tc hMerge="1" vMerge="1">
                  <a:txBody>
                    <a:bodyPr/>
                    <a:lstStyle/>
                    <a:p>
                      <a:pPr eaLnBrk="1" latinLnBrk="0"/>
                      <a:endParaRPr lang="ko-KR" altLang="en-US"/>
                    </a:p>
                  </a:txBody>
                  <a:tcPr/>
                </a:tc>
                <a:tc>
                  <a:txBody>
                    <a:bodyPr/>
                    <a:lstStyle/>
                    <a:p>
                      <a:pPr algn="ctr" eaLnBrk="1" latinLnBrk="0"/>
                      <a:r>
                        <a:rPr kumimoji="0" lang="en-US" altLang="ko-KR" sz="1000" b="0" i="0" u="none" strike="noStrike" kern="1200"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ProjectY</a:t>
                      </a:r>
                      <a:endParaRPr kumimoji="0" lang="ko-KR" altLang="en-US" sz="1000" b="0" i="0" u="none" strike="noStrike" kern="1200" cap="none" normalizeH="0" baseline="0" dirty="0">
                        <a:ln>
                          <a:noFill/>
                        </a:ln>
                        <a:solidFill>
                          <a:schemeClr val="tx1"/>
                        </a:solidFill>
                        <a:effectLst/>
                        <a:latin typeface="LG Smart_H Regular" panose="020B0600000101010101" pitchFamily="34" charset="-127"/>
                        <a:ea typeface="LG Smart_H Regular" panose="020B0600000101010101" pitchFamily="34" charset="-127"/>
                        <a:cs typeface="Arial" charset="0"/>
                      </a:endParaRPr>
                    </a:p>
                  </a:txBody>
                  <a:tcPr marL="36000" marR="36000" marT="46801" marB="4680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a:noFill/>
                    </a:lnTlToBr>
                    <a:lnBlToTr>
                      <a:noFill/>
                    </a:lnBlToTr>
                    <a:noFill/>
                  </a:tcPr>
                </a:tc>
                <a:tc>
                  <a:txBody>
                    <a:bodyPr/>
                    <a:lstStyle/>
                    <a:p>
                      <a:pPr algn="ctr" eaLnBrk="1" latinLnBrk="0"/>
                      <a:r>
                        <a:rPr kumimoji="0" lang="en-US" altLang="ko-KR" sz="1000" b="0" i="0" u="none" strike="noStrike" kern="1200"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Luminance </a:t>
                      </a:r>
                    </a:p>
                    <a:p>
                      <a:pPr algn="ctr" eaLnBrk="1" latinLnBrk="0"/>
                      <a:r>
                        <a:rPr kumimoji="0" lang="en-US" altLang="ko-KR" sz="1000" b="0" i="1" u="none" strike="noStrike" kern="1200"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(800-2000Cd/m</a:t>
                      </a:r>
                      <a:r>
                        <a:rPr kumimoji="0" lang="en-US" altLang="ko-KR" sz="1000" b="0" i="1" u="none" strike="noStrike" kern="1200" cap="none" normalizeH="0" baseline="30000" dirty="0">
                          <a:ln>
                            <a:noFill/>
                          </a:ln>
                          <a:solidFill>
                            <a:schemeClr val="tx1"/>
                          </a:solidFill>
                          <a:effectLst/>
                          <a:latin typeface="Arial" panose="020B0600000101010101" pitchFamily="34" charset="-127"/>
                          <a:ea typeface="Arial" panose="020B0600000101010101" pitchFamily="34" charset="-127"/>
                          <a:cs typeface="Arial" charset="0"/>
                        </a:rPr>
                        <a:t>2</a:t>
                      </a:r>
                      <a:r>
                        <a:rPr kumimoji="0" lang="en-US" altLang="ko-KR" sz="1000" b="0" i="1" u="none" strike="noStrike" kern="1200"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a:t>
                      </a:r>
                      <a:endParaRPr kumimoji="0" lang="ko-KR" altLang="en-US" sz="1000" b="0" i="1" u="none" strike="noStrike" kern="1200" cap="none" normalizeH="0" baseline="0" dirty="0">
                        <a:ln>
                          <a:noFill/>
                        </a:ln>
                        <a:solidFill>
                          <a:schemeClr val="tx1"/>
                        </a:solidFill>
                        <a:effectLst/>
                        <a:latin typeface="LG Smart_H Regular" panose="020B0600000101010101" pitchFamily="34" charset="-127"/>
                        <a:ea typeface="LG Smart_H Regular" panose="020B0600000101010101" pitchFamily="34" charset="-127"/>
                        <a:cs typeface="Arial" charset="0"/>
                      </a:endParaRPr>
                    </a:p>
                  </a:txBody>
                  <a:tcPr marL="36000" marR="36000" marT="46801" marB="4680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a:noFill/>
                    </a:lnTlToBr>
                    <a:lnBlToTr>
                      <a:noFill/>
                    </a:lnBlToTr>
                    <a:noFill/>
                  </a:tcPr>
                </a:tc>
                <a:tc gridSpan="3">
                  <a:txBody>
                    <a:bodyPr/>
                    <a:lstStyle/>
                    <a:p>
                      <a:pPr algn="ctr" eaLnBrk="1" latinLnBrk="0"/>
                      <a:r>
                        <a:rPr kumimoji="0" lang="en-US" altLang="ko-KR" sz="1000" b="0" i="0" u="none" strike="noStrike" kern="1200"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Cpk ≈ 0.25</a:t>
                      </a:r>
                    </a:p>
                    <a:p>
                      <a:pPr algn="ctr" eaLnBrk="1" latinLnBrk="0"/>
                      <a:r>
                        <a:rPr kumimoji="0" lang="en-US" altLang="ko-KR" sz="1000" b="0" i="0" u="none" strike="noStrike" kern="1200"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(Z ≈ 0.75)</a:t>
                      </a:r>
                      <a:endParaRPr kumimoji="0" lang="ko-KR" altLang="en-US" sz="1000" b="0" i="0" u="none" strike="noStrike" kern="1200" cap="none" normalizeH="0" baseline="0" dirty="0">
                        <a:ln>
                          <a:noFill/>
                        </a:ln>
                        <a:solidFill>
                          <a:schemeClr val="tx1"/>
                        </a:solidFill>
                        <a:effectLst/>
                        <a:latin typeface="LG Smart_H Regular" panose="020B0600000101010101" pitchFamily="34" charset="-127"/>
                        <a:ea typeface="LG Smart_H Regular" panose="020B0600000101010101" pitchFamily="34" charset="-127"/>
                        <a:cs typeface="Arial" charset="0"/>
                      </a:endParaRPr>
                    </a:p>
                  </a:txBody>
                  <a:tcPr marL="36000" marR="36000" marT="46801" marB="4680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a:noFill/>
                    </a:lnTlToBr>
                    <a:lnBlToTr>
                      <a:noFill/>
                    </a:lnBlToTr>
                    <a:noFill/>
                  </a:tcPr>
                </a:tc>
                <a:tc hMerge="1">
                  <a:txBody>
                    <a:bodyPr/>
                    <a:lstStyle/>
                    <a:p>
                      <a:pPr eaLnBrk="1" latinLnBrk="0"/>
                      <a:endParaRPr lang="ko-KR"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ko-KR" sz="1000" b="0" i="0" u="none" strike="noStrike" kern="1200"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N/A</a:t>
                      </a:r>
                      <a:endParaRPr kumimoji="0" lang="ko-KR" altLang="en-US" sz="1000" b="0" i="0" u="none" strike="noStrike" kern="1200" cap="none" normalizeH="0" baseline="0" dirty="0">
                        <a:ln>
                          <a:noFill/>
                        </a:ln>
                        <a:solidFill>
                          <a:schemeClr val="tx1"/>
                        </a:solidFill>
                        <a:effectLst/>
                        <a:latin typeface="LG Smart_H Regular" panose="020B0600000101010101" pitchFamily="34" charset="-127"/>
                        <a:ea typeface="LG Smart_H Regular" panose="020B0600000101010101" pitchFamily="34" charset="-127"/>
                        <a:cs typeface="Arial" charset="0"/>
                      </a:endParaRPr>
                    </a:p>
                  </a:txBody>
                  <a:tcPr marL="36000" marR="36000" marT="46801" marB="4680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ko-KR" sz="1000" b="0" i="0" u="none" strike="noStrike" kern="1200"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N/A</a:t>
                      </a:r>
                      <a:endParaRPr kumimoji="0" lang="ko-KR" altLang="en-US" sz="1000" b="0" i="0" u="none" strike="noStrike" kern="1200" cap="none" normalizeH="0" baseline="0" dirty="0">
                        <a:ln>
                          <a:noFill/>
                        </a:ln>
                        <a:solidFill>
                          <a:schemeClr val="tx1"/>
                        </a:solidFill>
                        <a:effectLst/>
                        <a:latin typeface="LG Smart_H Regular" panose="020B0600000101010101" pitchFamily="34" charset="-127"/>
                        <a:ea typeface="LG Smart_H Regular" panose="020B0600000101010101" pitchFamily="34" charset="-127"/>
                        <a:cs typeface="Arial" charset="0"/>
                      </a:endParaRPr>
                    </a:p>
                  </a:txBody>
                  <a:tcPr marL="36000" marR="36000" marT="46801" marB="4680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a:noFill/>
                    </a:lnTlToBr>
                    <a:lnBlToTr>
                      <a:noFill/>
                    </a:lnBlToTr>
                    <a:noFill/>
                  </a:tcPr>
                </a:tc>
                <a:tc>
                  <a:txBody>
                    <a:bodyPr/>
                    <a:lstStyle/>
                    <a:p>
                      <a:pPr algn="ctr" eaLnBrk="1" latinLnBrk="0"/>
                      <a:r>
                        <a:rPr kumimoji="0" lang="en-US" altLang="ko-KR" sz="1000" b="0" i="0" u="none" strike="noStrike" kern="1200"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Cpk ≥ 1.33</a:t>
                      </a:r>
                    </a:p>
                    <a:p>
                      <a:pPr algn="ctr" eaLnBrk="1" latinLnBrk="0"/>
                      <a:r>
                        <a:rPr kumimoji="0" lang="en-US" altLang="ko-KR" sz="1000" b="0" i="0" u="none" strike="noStrike" kern="1200"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(Z ≥ 4.0)</a:t>
                      </a:r>
                      <a:endParaRPr kumimoji="0" lang="ko-KR" altLang="en-US" sz="1000" b="0" i="0" u="none" strike="noStrike" kern="1200" cap="none" normalizeH="0" baseline="0" dirty="0">
                        <a:ln>
                          <a:noFill/>
                        </a:ln>
                        <a:solidFill>
                          <a:schemeClr val="tx1"/>
                        </a:solidFill>
                        <a:effectLst/>
                        <a:latin typeface="LG Smart_H Regular" panose="020B0600000101010101" pitchFamily="34" charset="-127"/>
                        <a:ea typeface="LG Smart_H Regular" panose="020B0600000101010101" pitchFamily="34" charset="-127"/>
                        <a:cs typeface="Arial" charset="0"/>
                      </a:endParaRPr>
                    </a:p>
                  </a:txBody>
                  <a:tcPr marL="36000" marR="36000" marT="46801" marB="4680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a:noFill/>
                    </a:lnTlToBr>
                    <a:lnBlToTr>
                      <a:noFill/>
                    </a:lnBlToTr>
                    <a:noFill/>
                  </a:tcPr>
                </a:tc>
                <a:tc gridSpan="2" vMerge="1">
                  <a:txBody>
                    <a:bodyPr/>
                    <a:lstStyle/>
                    <a:p>
                      <a:pPr eaLnBrk="1" latinLnBrk="0"/>
                      <a:endParaRPr lang="ko-KR" altLang="en-US"/>
                    </a:p>
                  </a:txBody>
                  <a:tcPr/>
                </a:tc>
                <a:tc hMerge="1" vMerge="1">
                  <a:txBody>
                    <a:bodyPr/>
                    <a:lstStyle/>
                    <a:p>
                      <a:pPr eaLnBrk="1" latinLnBrk="0"/>
                      <a:endParaRPr lang="ko-KR" altLang="en-US"/>
                    </a:p>
                  </a:txBody>
                  <a:tcPr/>
                </a:tc>
                <a:extLst>
                  <a:ext uri="{0D108BD9-81ED-4DB2-BD59-A6C34878D82A}">
                    <a16:rowId xmlns:a16="http://schemas.microsoft.com/office/drawing/2014/main" val="10004"/>
                  </a:ext>
                </a:extLst>
              </a:tr>
              <a:tr h="311821">
                <a:tc gridSpan="2">
                  <a:txBody>
                    <a:bodyPr/>
                    <a:lstStyle/>
                    <a:p>
                      <a:pPr marL="0" marR="0" lvl="0" indent="0" algn="ctr" defTabSz="912813" rtl="0" eaLnBrk="1" fontAlgn="base" latinLnBrk="0" hangingPunct="1">
                        <a:lnSpc>
                          <a:spcPct val="100000"/>
                        </a:lnSpc>
                        <a:spcBef>
                          <a:spcPct val="0"/>
                        </a:spcBef>
                        <a:spcAft>
                          <a:spcPct val="0"/>
                        </a:spcAft>
                        <a:buClrTx/>
                        <a:buSzTx/>
                        <a:buFontTx/>
                        <a:buNone/>
                        <a:tabLst/>
                      </a:pPr>
                      <a:r>
                        <a:rPr kumimoji="0" lang="en-US" altLang="ko-KR" sz="1000" b="0" i="0" u="none" strike="noStrike"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Management</a:t>
                      </a:r>
                      <a:r>
                        <a:rPr kumimoji="0" lang="ko-KR" altLang="en-US" sz="1000" b="0" i="0" u="none" strike="noStrike"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 </a:t>
                      </a:r>
                      <a:r>
                        <a:rPr kumimoji="0" lang="en-US" altLang="ko-KR" sz="1000" b="0" i="0" u="none" strike="noStrike"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Issue (Biz. Issue)</a:t>
                      </a:r>
                    </a:p>
                  </a:txBody>
                  <a:tcPr marL="91421" marR="91421" marT="45710" marB="4571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tc hMerge="1">
                  <a:txBody>
                    <a:bodyPr/>
                    <a:lstStyle/>
                    <a:p>
                      <a:pPr eaLnBrk="1" latinLnBrk="0"/>
                      <a:endParaRPr lang="ko-KR" altLang="en-US"/>
                    </a:p>
                  </a:txBody>
                  <a:tcPr/>
                </a:tc>
                <a:tc gridSpan="7">
                  <a:txBody>
                    <a:bodyPr/>
                    <a:lstStyle/>
                    <a:p>
                      <a:pPr marL="0" marR="0" lvl="0" indent="0" algn="ctr" defTabSz="912813" rtl="0" eaLnBrk="1" fontAlgn="base" latinLnBrk="0" hangingPunct="1">
                        <a:lnSpc>
                          <a:spcPct val="100000"/>
                        </a:lnSpc>
                        <a:spcBef>
                          <a:spcPct val="0"/>
                        </a:spcBef>
                        <a:spcAft>
                          <a:spcPct val="0"/>
                        </a:spcAft>
                        <a:buClrTx/>
                        <a:buSzTx/>
                        <a:buFontTx/>
                        <a:buNone/>
                        <a:tabLst/>
                      </a:pPr>
                      <a:r>
                        <a:rPr kumimoji="0" lang="en-US" altLang="ko-KR" sz="1000" b="0" i="0" u="none" strike="noStrike"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Implement Plan</a:t>
                      </a:r>
                      <a:r>
                        <a:rPr kumimoji="0" lang="ko-KR" altLang="en-US" sz="1000" b="0" i="0" u="none" strike="noStrike"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 </a:t>
                      </a:r>
                      <a:r>
                        <a:rPr kumimoji="0" lang="en-US" altLang="ko-KR" sz="1000" b="0" i="0" u="none" strike="noStrike"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(Fast &amp; Strong)</a:t>
                      </a:r>
                    </a:p>
                  </a:txBody>
                  <a:tcPr marL="91421" marR="91421" marT="45710" marB="4571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tc hMerge="1">
                  <a:txBody>
                    <a:bodyPr/>
                    <a:lstStyle/>
                    <a:p>
                      <a:pPr eaLnBrk="1" latinLnBrk="0"/>
                      <a:endParaRPr lang="ko-KR" altLang="en-US"/>
                    </a:p>
                  </a:txBody>
                  <a:tcPr/>
                </a:tc>
                <a:tc hMerge="1">
                  <a:txBody>
                    <a:bodyPr/>
                    <a:lstStyle/>
                    <a:p>
                      <a:pPr eaLnBrk="1" latinLnBrk="0"/>
                      <a:endParaRPr lang="ko-KR" altLang="en-US"/>
                    </a:p>
                  </a:txBody>
                  <a:tcPr/>
                </a:tc>
                <a:tc hMerge="1">
                  <a:txBody>
                    <a:bodyPr/>
                    <a:lstStyle/>
                    <a:p>
                      <a:pPr eaLnBrk="1" latinLnBrk="0"/>
                      <a:endParaRPr lang="ko-KR" altLang="en-US"/>
                    </a:p>
                  </a:txBody>
                  <a:tcPr/>
                </a:tc>
                <a:tc hMerge="1">
                  <a:txBody>
                    <a:bodyPr/>
                    <a:lstStyle/>
                    <a:p>
                      <a:pPr eaLnBrk="1" latinLnBrk="0"/>
                      <a:endParaRPr lang="ko-KR" altLang="en-US"/>
                    </a:p>
                  </a:txBody>
                  <a:tcPr/>
                </a:tc>
                <a:tc hMerge="1">
                  <a:txBody>
                    <a:bodyPr/>
                    <a:lstStyle/>
                    <a:p>
                      <a:pPr eaLnBrk="1" latinLnBrk="0"/>
                      <a:endParaRPr lang="en-US"/>
                    </a:p>
                  </a:txBody>
                  <a:tcPr/>
                </a:tc>
                <a:tc hMerge="1">
                  <a:txBody>
                    <a:bodyPr/>
                    <a:lstStyle/>
                    <a:p>
                      <a:pPr eaLnBrk="1" latinLnBrk="0"/>
                      <a:endParaRPr lang="ko-KR" altLang="en-US"/>
                    </a:p>
                  </a:txBody>
                  <a:tcPr/>
                </a:tc>
                <a:tc gridSpan="2">
                  <a:txBody>
                    <a:bodyPr/>
                    <a:lstStyle/>
                    <a:p>
                      <a:pPr marL="0" marR="0" lvl="0" indent="0" algn="ctr" defTabSz="912813" rtl="0" eaLnBrk="1" fontAlgn="base" latinLnBrk="0" hangingPunct="1">
                        <a:lnSpc>
                          <a:spcPct val="100000"/>
                        </a:lnSpc>
                        <a:spcBef>
                          <a:spcPct val="0"/>
                        </a:spcBef>
                        <a:spcAft>
                          <a:spcPct val="0"/>
                        </a:spcAft>
                        <a:buClrTx/>
                        <a:buSzTx/>
                        <a:buFontTx/>
                        <a:buNone/>
                        <a:tabLst/>
                      </a:pPr>
                      <a:r>
                        <a:rPr kumimoji="0" lang="en-US" altLang="ko-KR" sz="1000" b="0" i="0" u="none" strike="noStrike"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Task Member</a:t>
                      </a:r>
                    </a:p>
                  </a:txBody>
                  <a:tcPr marL="91421" marR="91421" marT="45710" marB="4571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tc hMerge="1">
                  <a:txBody>
                    <a:bodyPr/>
                    <a:lstStyle/>
                    <a:p>
                      <a:pPr eaLnBrk="1" latinLnBrk="0"/>
                      <a:endParaRPr lang="ko-KR" altLang="en-US"/>
                    </a:p>
                  </a:txBody>
                  <a:tcPr/>
                </a:tc>
                <a:extLst>
                  <a:ext uri="{0D108BD9-81ED-4DB2-BD59-A6C34878D82A}">
                    <a16:rowId xmlns:a16="http://schemas.microsoft.com/office/drawing/2014/main" val="10005"/>
                  </a:ext>
                </a:extLst>
              </a:tr>
              <a:tr h="1619045">
                <a:tc rowSpan="3" gridSpan="2">
                  <a:txBody>
                    <a:bodyPr/>
                    <a:lstStyle/>
                    <a:p>
                      <a:pPr marL="114300" indent="0" algn="l" eaLnBrk="1" fontAlgn="b" latinLnBrk="0">
                        <a:lnSpc>
                          <a:spcPct val="150000"/>
                        </a:lnSpc>
                        <a:buNone/>
                      </a:pPr>
                      <a:r>
                        <a:rPr kumimoji="0" lang="en-US" altLang="ko-KR" sz="1000" b="0" i="0" u="none" strike="noStrike" cap="none" normalizeH="0" baseline="0" dirty="0">
                          <a:ln>
                            <a:noFill/>
                          </a:ln>
                          <a:solidFill>
                            <a:schemeClr val="tx1"/>
                          </a:solidFill>
                          <a:effectLst/>
                          <a:latin typeface="Arial" pitchFamily="34" charset="-127"/>
                          <a:ea typeface="Arial" pitchFamily="34" charset="-127"/>
                          <a:cs typeface="Arial" pitchFamily="34" charset="0"/>
                          <a:sym typeface="Wingdings" pitchFamily="2" charset="2"/>
                        </a:rPr>
                        <a:t>- The Luminance issue affects the line UPH and causes loss time.</a:t>
                      </a:r>
                    </a:p>
                    <a:p>
                      <a:pPr marL="114300" indent="0" algn="l" eaLnBrk="1" fontAlgn="b" latinLnBrk="0">
                        <a:lnSpc>
                          <a:spcPct val="150000"/>
                        </a:lnSpc>
                        <a:buNone/>
                      </a:pPr>
                      <a:r>
                        <a:rPr kumimoji="0" lang="en-US" altLang="ko-KR" sz="1000" b="0" i="0" u="none" strike="noStrike" cap="none" normalizeH="0" baseline="0" dirty="0">
                          <a:ln>
                            <a:noFill/>
                          </a:ln>
                          <a:solidFill>
                            <a:schemeClr val="tx1"/>
                          </a:solidFill>
                          <a:effectLst/>
                          <a:latin typeface="Arial" pitchFamily="34" charset="-127"/>
                          <a:ea typeface="Arial" pitchFamily="34" charset="-127"/>
                          <a:cs typeface="Arial" pitchFamily="34" charset="0"/>
                          <a:sym typeface="Wingdings" pitchFamily="2" charset="2"/>
                        </a:rPr>
                        <a:t>- NG LCDs after retest are returned to the supplier (HEESUNG) for scrap, leading to IF cost, so an action is needed to eliminate this issue and improve factory performance.</a:t>
                      </a:r>
                    </a:p>
                    <a:p>
                      <a:pPr marL="114300" indent="0" algn="l" eaLnBrk="1" fontAlgn="b" latinLnBrk="0">
                        <a:lnSpc>
                          <a:spcPct val="150000"/>
                        </a:lnSpc>
                        <a:buNone/>
                      </a:pPr>
                      <a:endParaRPr kumimoji="0" lang="en-US" altLang="ko-KR" sz="1000" b="0" i="0" u="none" strike="noStrike" cap="none" normalizeH="0" baseline="0" dirty="0">
                        <a:ln>
                          <a:noFill/>
                        </a:ln>
                        <a:solidFill>
                          <a:schemeClr val="tx1"/>
                        </a:solidFill>
                        <a:effectLst/>
                        <a:latin typeface="LG Smart_H Regular" pitchFamily="34" charset="-127"/>
                        <a:ea typeface="LG Smart_H Regular" pitchFamily="34" charset="-127"/>
                        <a:cs typeface="Arial" pitchFamily="34" charset="0"/>
                        <a:sym typeface="Wingdings" pitchFamily="2" charset="2"/>
                      </a:endParaRPr>
                    </a:p>
                  </a:txBody>
                  <a:tcPr marL="91421" marR="91421" marT="45710" marB="4571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rowSpan="3" hMerge="1">
                  <a:txBody>
                    <a:bodyPr/>
                    <a:lstStyle/>
                    <a:p>
                      <a:pPr eaLnBrk="1" latinLnBrk="0"/>
                      <a:endParaRPr lang="ko-KR" altLang="en-US"/>
                    </a:p>
                  </a:txBody>
                  <a:tcPr/>
                </a:tc>
                <a:tc rowSpan="3" gridSpan="7">
                  <a:txBody>
                    <a:bodyPr/>
                    <a:lstStyle/>
                    <a:p>
                      <a:pPr marL="0" marR="0" lvl="0" indent="0" algn="ctr" defTabSz="912813" rtl="0" eaLnBrk="1" fontAlgn="base" latinLnBrk="0" hangingPunct="1">
                        <a:lnSpc>
                          <a:spcPct val="100000"/>
                        </a:lnSpc>
                        <a:spcBef>
                          <a:spcPct val="0"/>
                        </a:spcBef>
                        <a:spcAft>
                          <a:spcPct val="0"/>
                        </a:spcAft>
                        <a:buClrTx/>
                        <a:buSzTx/>
                        <a:buFontTx/>
                        <a:buNone/>
                        <a:tabLst/>
                      </a:pPr>
                      <a:endParaRPr kumimoji="0" lang="ko-KR" altLang="ko-KR" sz="1000" b="0" i="0" u="none" strike="noStrike" cap="none" normalizeH="0" baseline="0" dirty="0">
                        <a:ln>
                          <a:noFill/>
                        </a:ln>
                        <a:solidFill>
                          <a:schemeClr val="tx1"/>
                        </a:solidFill>
                        <a:effectLst/>
                        <a:latin typeface="LG Smart_H Regular" panose="020B0600000101010101" pitchFamily="34" charset="-127"/>
                        <a:ea typeface="LG Smart_H Regular" panose="020B0600000101010101" pitchFamily="34" charset="-127"/>
                        <a:cs typeface="Arial" charset="0"/>
                      </a:endParaRPr>
                    </a:p>
                  </a:txBody>
                  <a:tcPr marL="91421" marR="91421" marT="45710" marB="4571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rowSpan="3" hMerge="1">
                  <a:txBody>
                    <a:bodyPr/>
                    <a:lstStyle/>
                    <a:p>
                      <a:pPr eaLnBrk="1" latinLnBrk="0"/>
                      <a:endParaRPr lang="ko-KR" altLang="en-US"/>
                    </a:p>
                  </a:txBody>
                  <a:tcPr/>
                </a:tc>
                <a:tc rowSpan="3" hMerge="1">
                  <a:txBody>
                    <a:bodyPr/>
                    <a:lstStyle/>
                    <a:p>
                      <a:pPr eaLnBrk="1" latinLnBrk="0"/>
                      <a:endParaRPr lang="ko-KR" altLang="en-US"/>
                    </a:p>
                  </a:txBody>
                  <a:tcPr/>
                </a:tc>
                <a:tc rowSpan="3" hMerge="1">
                  <a:txBody>
                    <a:bodyPr/>
                    <a:lstStyle/>
                    <a:p>
                      <a:pPr eaLnBrk="1" latinLnBrk="0"/>
                      <a:endParaRPr lang="ko-KR" altLang="en-US"/>
                    </a:p>
                  </a:txBody>
                  <a:tcPr/>
                </a:tc>
                <a:tc rowSpan="3" hMerge="1">
                  <a:txBody>
                    <a:bodyPr/>
                    <a:lstStyle/>
                    <a:p>
                      <a:pPr eaLnBrk="1" latinLnBrk="0"/>
                      <a:endParaRPr lang="ko-KR" altLang="en-US"/>
                    </a:p>
                  </a:txBody>
                  <a:tcPr/>
                </a:tc>
                <a:tc rowSpan="3" hMerge="1">
                  <a:txBody>
                    <a:bodyPr/>
                    <a:lstStyle/>
                    <a:p>
                      <a:pPr eaLnBrk="1" latinLnBrk="0"/>
                      <a:endParaRPr lang="en-US"/>
                    </a:p>
                  </a:txBody>
                  <a:tcPr/>
                </a:tc>
                <a:tc rowSpan="3" hMerge="1">
                  <a:txBody>
                    <a:bodyPr/>
                    <a:lstStyle/>
                    <a:p>
                      <a:pPr eaLnBrk="1" latinLnBrk="0"/>
                      <a:endParaRPr lang="ko-KR" altLang="en-US"/>
                    </a:p>
                  </a:txBody>
                  <a:tcPr/>
                </a:tc>
                <a:tc gridSpan="2">
                  <a:txBody>
                    <a:bodyPr/>
                    <a:lstStyle/>
                    <a:p>
                      <a:pPr marL="0" marR="0" lvl="0" indent="0" algn="l" defTabSz="912813" rtl="0" eaLnBrk="1" fontAlgn="base" latinLnBrk="0" hangingPunct="1">
                        <a:lnSpc>
                          <a:spcPct val="100000"/>
                        </a:lnSpc>
                        <a:spcBef>
                          <a:spcPct val="0"/>
                        </a:spcBef>
                        <a:spcAft>
                          <a:spcPct val="0"/>
                        </a:spcAft>
                        <a:buClrTx/>
                        <a:buSzTx/>
                        <a:buFontTx/>
                        <a:buNone/>
                        <a:tabLst/>
                      </a:pPr>
                      <a:r>
                        <a:rPr kumimoji="0" lang="en-US" altLang="ko-KR" sz="1000" b="0" i="0" u="none" strike="noStrike"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 </a:t>
                      </a:r>
                    </a:p>
                  </a:txBody>
                  <a:tcPr marL="91421" marR="91421" marT="45710" marB="4571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hMerge="1">
                  <a:txBody>
                    <a:bodyPr/>
                    <a:lstStyle/>
                    <a:p>
                      <a:pPr eaLnBrk="1" latinLnBrk="0"/>
                      <a:endParaRPr lang="ko-KR" altLang="en-US"/>
                    </a:p>
                  </a:txBody>
                  <a:tcPr/>
                </a:tc>
                <a:extLst>
                  <a:ext uri="{0D108BD9-81ED-4DB2-BD59-A6C34878D82A}">
                    <a16:rowId xmlns:a16="http://schemas.microsoft.com/office/drawing/2014/main" val="10006"/>
                  </a:ext>
                </a:extLst>
              </a:tr>
              <a:tr h="311821">
                <a:tc gridSpan="2" vMerge="1">
                  <a:txBody>
                    <a:bodyPr/>
                    <a:lstStyle/>
                    <a:p>
                      <a:pPr eaLnBrk="1" latinLnBrk="0"/>
                      <a:endParaRPr lang="ko-KR" altLang="en-US"/>
                    </a:p>
                  </a:txBody>
                  <a:tcPr/>
                </a:tc>
                <a:tc hMerge="1" vMerge="1">
                  <a:txBody>
                    <a:bodyPr/>
                    <a:lstStyle/>
                    <a:p>
                      <a:pPr eaLnBrk="1" latinLnBrk="0"/>
                      <a:endParaRPr lang="ko-KR" altLang="en-US"/>
                    </a:p>
                  </a:txBody>
                  <a:tcPr/>
                </a:tc>
                <a:tc gridSpan="7" vMerge="1">
                  <a:txBody>
                    <a:bodyPr/>
                    <a:lstStyle/>
                    <a:p>
                      <a:pPr eaLnBrk="1" latinLnBrk="0"/>
                      <a:endParaRPr lang="ko-KR" altLang="en-US"/>
                    </a:p>
                  </a:txBody>
                  <a:tcPr/>
                </a:tc>
                <a:tc hMerge="1" vMerge="1">
                  <a:txBody>
                    <a:bodyPr/>
                    <a:lstStyle/>
                    <a:p>
                      <a:pPr eaLnBrk="1" latinLnBrk="0"/>
                      <a:endParaRPr lang="ko-KR" altLang="en-US"/>
                    </a:p>
                  </a:txBody>
                  <a:tcPr/>
                </a:tc>
                <a:tc hMerge="1" vMerge="1">
                  <a:txBody>
                    <a:bodyPr/>
                    <a:lstStyle/>
                    <a:p>
                      <a:pPr eaLnBrk="1" latinLnBrk="0"/>
                      <a:endParaRPr lang="ko-KR" altLang="en-US"/>
                    </a:p>
                  </a:txBody>
                  <a:tcPr/>
                </a:tc>
                <a:tc hMerge="1" vMerge="1">
                  <a:txBody>
                    <a:bodyPr/>
                    <a:lstStyle/>
                    <a:p>
                      <a:pPr eaLnBrk="1" latinLnBrk="0"/>
                      <a:endParaRPr lang="ko-KR" altLang="en-US"/>
                    </a:p>
                  </a:txBody>
                  <a:tcPr/>
                </a:tc>
                <a:tc hMerge="1" vMerge="1">
                  <a:txBody>
                    <a:bodyPr/>
                    <a:lstStyle/>
                    <a:p>
                      <a:pPr eaLnBrk="1" latinLnBrk="0"/>
                      <a:endParaRPr lang="ko-KR" altLang="en-US"/>
                    </a:p>
                  </a:txBody>
                  <a:tcPr/>
                </a:tc>
                <a:tc hMerge="1" vMerge="1">
                  <a:txBody>
                    <a:bodyPr/>
                    <a:lstStyle/>
                    <a:p>
                      <a:pPr eaLnBrk="1" latinLnBrk="0"/>
                      <a:endParaRPr lang="en-US"/>
                    </a:p>
                  </a:txBody>
                  <a:tcPr/>
                </a:tc>
                <a:tc hMerge="1" vMerge="1">
                  <a:txBody>
                    <a:bodyPr/>
                    <a:lstStyle/>
                    <a:p>
                      <a:pPr eaLnBrk="1" latinLnBrk="0"/>
                      <a:endParaRPr lang="ko-KR" altLang="en-US"/>
                    </a:p>
                  </a:txBody>
                  <a:tcPr/>
                </a:tc>
                <a:tc gridSpan="2">
                  <a:txBody>
                    <a:bodyPr/>
                    <a:lstStyle/>
                    <a:p>
                      <a:pPr marL="0" marR="0" lvl="0" indent="0" algn="ctr" defTabSz="912813" rtl="0" eaLnBrk="1" fontAlgn="base" latinLnBrk="0" hangingPunct="1">
                        <a:lnSpc>
                          <a:spcPct val="100000"/>
                        </a:lnSpc>
                        <a:spcBef>
                          <a:spcPct val="0"/>
                        </a:spcBef>
                        <a:spcAft>
                          <a:spcPct val="0"/>
                        </a:spcAft>
                        <a:buClrTx/>
                        <a:buSzTx/>
                        <a:buFontTx/>
                        <a:buNone/>
                        <a:tabLst/>
                      </a:pPr>
                      <a:r>
                        <a:rPr kumimoji="0" lang="en-US" altLang="ko-KR" sz="1000" b="0" i="0" u="none" strike="noStrike"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Location</a:t>
                      </a:r>
                    </a:p>
                  </a:txBody>
                  <a:tcPr marL="91421" marR="91421" marT="45710" marB="4571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tc hMerge="1">
                  <a:txBody>
                    <a:bodyPr/>
                    <a:lstStyle/>
                    <a:p>
                      <a:pPr eaLnBrk="1" latinLnBrk="0"/>
                      <a:endParaRPr lang="ko-KR" altLang="en-US"/>
                    </a:p>
                  </a:txBody>
                  <a:tcPr/>
                </a:tc>
                <a:extLst>
                  <a:ext uri="{0D108BD9-81ED-4DB2-BD59-A6C34878D82A}">
                    <a16:rowId xmlns:a16="http://schemas.microsoft.com/office/drawing/2014/main" val="10007"/>
                  </a:ext>
                </a:extLst>
              </a:tr>
              <a:tr h="288121">
                <a:tc gridSpan="2" vMerge="1">
                  <a:txBody>
                    <a:bodyPr/>
                    <a:lstStyle/>
                    <a:p>
                      <a:pPr eaLnBrk="1" latinLnBrk="0"/>
                      <a:endParaRPr lang="ko-KR" altLang="en-US"/>
                    </a:p>
                  </a:txBody>
                  <a:tcPr/>
                </a:tc>
                <a:tc hMerge="1" vMerge="1">
                  <a:txBody>
                    <a:bodyPr/>
                    <a:lstStyle/>
                    <a:p>
                      <a:pPr eaLnBrk="1" latinLnBrk="0"/>
                      <a:endParaRPr lang="ko-KR" altLang="en-US"/>
                    </a:p>
                  </a:txBody>
                  <a:tcPr/>
                </a:tc>
                <a:tc gridSpan="7" vMerge="1">
                  <a:txBody>
                    <a:bodyPr/>
                    <a:lstStyle/>
                    <a:p>
                      <a:pPr eaLnBrk="1" latinLnBrk="0"/>
                      <a:endParaRPr lang="ko-KR" altLang="en-US"/>
                    </a:p>
                  </a:txBody>
                  <a:tcPr/>
                </a:tc>
                <a:tc hMerge="1" vMerge="1">
                  <a:txBody>
                    <a:bodyPr/>
                    <a:lstStyle/>
                    <a:p>
                      <a:pPr eaLnBrk="1" latinLnBrk="0"/>
                      <a:endParaRPr lang="ko-KR" altLang="en-US"/>
                    </a:p>
                  </a:txBody>
                  <a:tcPr/>
                </a:tc>
                <a:tc hMerge="1" vMerge="1">
                  <a:txBody>
                    <a:bodyPr/>
                    <a:lstStyle/>
                    <a:p>
                      <a:pPr eaLnBrk="1" latinLnBrk="0"/>
                      <a:endParaRPr lang="ko-KR" altLang="en-US"/>
                    </a:p>
                  </a:txBody>
                  <a:tcPr/>
                </a:tc>
                <a:tc hMerge="1" vMerge="1">
                  <a:txBody>
                    <a:bodyPr/>
                    <a:lstStyle/>
                    <a:p>
                      <a:pPr eaLnBrk="1" latinLnBrk="0"/>
                      <a:endParaRPr lang="ko-KR" altLang="en-US"/>
                    </a:p>
                  </a:txBody>
                  <a:tcPr/>
                </a:tc>
                <a:tc hMerge="1" vMerge="1">
                  <a:txBody>
                    <a:bodyPr/>
                    <a:lstStyle/>
                    <a:p>
                      <a:pPr eaLnBrk="1" latinLnBrk="0"/>
                      <a:endParaRPr lang="ko-KR" altLang="en-US"/>
                    </a:p>
                  </a:txBody>
                  <a:tcPr/>
                </a:tc>
                <a:tc hMerge="1" vMerge="1">
                  <a:txBody>
                    <a:bodyPr/>
                    <a:lstStyle/>
                    <a:p>
                      <a:pPr eaLnBrk="1" latinLnBrk="0"/>
                      <a:endParaRPr lang="en-US"/>
                    </a:p>
                  </a:txBody>
                  <a:tcPr/>
                </a:tc>
                <a:tc hMerge="1" vMerge="1">
                  <a:txBody>
                    <a:bodyPr/>
                    <a:lstStyle/>
                    <a:p>
                      <a:pPr eaLnBrk="1" latinLnBrk="0"/>
                      <a:endParaRPr lang="ko-KR" altLang="en-US"/>
                    </a:p>
                  </a:txBody>
                  <a:tcPr/>
                </a:tc>
                <a:tc gridSpan="2">
                  <a:txBody>
                    <a:bodyPr/>
                    <a:lstStyle/>
                    <a:p>
                      <a:pPr marL="0" marR="0" lvl="0" indent="0" algn="ctr" defTabSz="912813" rtl="0" eaLnBrk="1" fontAlgn="base" latinLnBrk="0" hangingPunct="1">
                        <a:lnSpc>
                          <a:spcPct val="100000"/>
                        </a:lnSpc>
                        <a:spcBef>
                          <a:spcPct val="0"/>
                        </a:spcBef>
                        <a:spcAft>
                          <a:spcPct val="0"/>
                        </a:spcAft>
                        <a:buClrTx/>
                        <a:buSzTx/>
                        <a:buFontTx/>
                        <a:buNone/>
                        <a:tabLst/>
                        <a:defRPr/>
                      </a:pPr>
                      <a:r>
                        <a:rPr kumimoji="0" lang="en-US" altLang="ko-KR" sz="1000" b="0" i="0" u="none" strike="noStrike" cap="none" normalizeH="0" baseline="0" dirty="0">
                          <a:ln>
                            <a:noFill/>
                          </a:ln>
                          <a:solidFill>
                            <a:schemeClr val="tx1"/>
                          </a:solidFill>
                          <a:effectLst/>
                          <a:latin typeface="Arial" panose="020B0604020202020204" pitchFamily="34" charset="0"/>
                          <a:ea typeface="LG Smart_H Regular" pitchFamily="34" charset="-127"/>
                          <a:cs typeface="Arial" panose="020B0604020202020204" pitchFamily="34" charset="0"/>
                        </a:rPr>
                        <a:t>LG Electronics Viet Nam-Hai Phong</a:t>
                      </a:r>
                    </a:p>
                  </a:txBody>
                  <a:tcPr marL="91421" marR="91421" marT="45710" marB="4571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hMerge="1">
                  <a:txBody>
                    <a:bodyPr/>
                    <a:lstStyle/>
                    <a:p>
                      <a:pPr eaLnBrk="1" latinLnBrk="0"/>
                      <a:endParaRPr lang="ko-KR" altLang="en-US"/>
                    </a:p>
                  </a:txBody>
                  <a:tcPr/>
                </a:tc>
                <a:extLst>
                  <a:ext uri="{0D108BD9-81ED-4DB2-BD59-A6C34878D82A}">
                    <a16:rowId xmlns:a16="http://schemas.microsoft.com/office/drawing/2014/main" val="10008"/>
                  </a:ext>
                </a:extLst>
              </a:tr>
              <a:tr h="311821">
                <a:tc gridSpan="2">
                  <a:txBody>
                    <a:bodyPr/>
                    <a:lstStyle/>
                    <a:p>
                      <a:pPr marL="0" marR="0" lvl="0" indent="0" algn="ctr" defTabSz="912813" rtl="0" eaLnBrk="1" fontAlgn="base" latinLnBrk="0" hangingPunct="1">
                        <a:lnSpc>
                          <a:spcPct val="100000"/>
                        </a:lnSpc>
                        <a:spcBef>
                          <a:spcPct val="0"/>
                        </a:spcBef>
                        <a:spcAft>
                          <a:spcPct val="0"/>
                        </a:spcAft>
                        <a:buClrTx/>
                        <a:buSzTx/>
                        <a:buFontTx/>
                        <a:buNone/>
                        <a:tabLst/>
                      </a:pPr>
                      <a:r>
                        <a:rPr kumimoji="0" lang="en-US" altLang="ko-KR" sz="1000" b="0" i="0" u="none" strike="noStrike"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Qualitative Performance</a:t>
                      </a:r>
                      <a:endParaRPr kumimoji="0" lang="ko-KR" altLang="en-US" sz="1000" b="0" i="0" u="none" strike="noStrike" cap="none" normalizeH="0" baseline="0" dirty="0">
                        <a:ln>
                          <a:noFill/>
                        </a:ln>
                        <a:solidFill>
                          <a:schemeClr val="tx1"/>
                        </a:solidFill>
                        <a:effectLst/>
                        <a:latin typeface="LG Smart_H Regular" panose="020B0600000101010101" pitchFamily="34" charset="-127"/>
                        <a:ea typeface="LG Smart_H Regular" panose="020B0600000101010101" pitchFamily="34" charset="-127"/>
                        <a:cs typeface="Arial" charset="0"/>
                      </a:endParaRPr>
                    </a:p>
                  </a:txBody>
                  <a:tcPr marL="91421" marR="91421" marT="45710" marB="4571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tc hMerge="1">
                  <a:txBody>
                    <a:bodyPr/>
                    <a:lstStyle/>
                    <a:p>
                      <a:pPr eaLnBrk="1" latinLnBrk="0"/>
                      <a:endParaRPr lang="ko-KR" altLang="en-US"/>
                    </a:p>
                  </a:txBody>
                  <a:tcPr/>
                </a:tc>
                <a:tc gridSpan="7">
                  <a:txBody>
                    <a:bodyPr/>
                    <a:lstStyle/>
                    <a:p>
                      <a:pPr marL="0" marR="0" lvl="0" indent="0" algn="ctr" defTabSz="912813" rtl="0" eaLnBrk="1" fontAlgn="base" latinLnBrk="0" hangingPunct="1">
                        <a:lnSpc>
                          <a:spcPct val="100000"/>
                        </a:lnSpc>
                        <a:spcBef>
                          <a:spcPct val="0"/>
                        </a:spcBef>
                        <a:spcAft>
                          <a:spcPct val="0"/>
                        </a:spcAft>
                        <a:buClrTx/>
                        <a:buSzTx/>
                        <a:buFontTx/>
                        <a:buNone/>
                        <a:tabLst/>
                      </a:pPr>
                      <a:r>
                        <a:rPr kumimoji="0" lang="en-US" altLang="ko-KR" sz="1000" b="0" i="0" u="none" strike="noStrike" cap="none" normalizeH="0" baseline="0">
                          <a:ln>
                            <a:noFill/>
                          </a:ln>
                          <a:solidFill>
                            <a:schemeClr val="tx1"/>
                          </a:solidFill>
                          <a:effectLst/>
                          <a:latin typeface="Arial" panose="020B0600000101010101" pitchFamily="34" charset="-127"/>
                          <a:ea typeface="Arial" panose="020B0600000101010101" pitchFamily="34" charset="-127"/>
                          <a:cs typeface="Arial" charset="0"/>
                        </a:rPr>
                        <a:t>Quantitative Performance</a:t>
                      </a:r>
                      <a:endParaRPr kumimoji="0" lang="ko-KR" altLang="en-US" sz="1000" b="0" i="0" u="none" strike="noStrike" cap="none" normalizeH="0" baseline="0" dirty="0">
                        <a:ln>
                          <a:noFill/>
                        </a:ln>
                        <a:solidFill>
                          <a:schemeClr val="tx1"/>
                        </a:solidFill>
                        <a:effectLst/>
                        <a:latin typeface="LG Smart_H Regular" panose="020B0600000101010101" pitchFamily="34" charset="-127"/>
                        <a:ea typeface="LG Smart_H Regular" panose="020B0600000101010101" pitchFamily="34" charset="-127"/>
                        <a:cs typeface="Arial" charset="0"/>
                      </a:endParaRPr>
                    </a:p>
                  </a:txBody>
                  <a:tcPr marL="91421" marR="91421" marT="45710" marB="4571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tc hMerge="1">
                  <a:txBody>
                    <a:bodyPr/>
                    <a:lstStyle/>
                    <a:p>
                      <a:pPr eaLnBrk="1" latinLnBrk="0"/>
                      <a:endParaRPr lang="ko-KR" altLang="en-US"/>
                    </a:p>
                  </a:txBody>
                  <a:tcPr/>
                </a:tc>
                <a:tc hMerge="1">
                  <a:txBody>
                    <a:bodyPr/>
                    <a:lstStyle/>
                    <a:p>
                      <a:pPr eaLnBrk="1" latinLnBrk="0"/>
                      <a:endParaRPr lang="ko-KR" altLang="en-US"/>
                    </a:p>
                  </a:txBody>
                  <a:tcPr/>
                </a:tc>
                <a:tc hMerge="1">
                  <a:txBody>
                    <a:bodyPr/>
                    <a:lstStyle/>
                    <a:p>
                      <a:pPr eaLnBrk="1" latinLnBrk="0"/>
                      <a:endParaRPr lang="ko-KR" altLang="en-US"/>
                    </a:p>
                  </a:txBody>
                  <a:tcPr/>
                </a:tc>
                <a:tc hMerge="1">
                  <a:txBody>
                    <a:bodyPr/>
                    <a:lstStyle/>
                    <a:p>
                      <a:pPr eaLnBrk="1" latinLnBrk="0"/>
                      <a:endParaRPr lang="ko-KR" altLang="en-US"/>
                    </a:p>
                  </a:txBody>
                  <a:tcPr/>
                </a:tc>
                <a:tc hMerge="1">
                  <a:txBody>
                    <a:bodyPr/>
                    <a:lstStyle/>
                    <a:p>
                      <a:pPr eaLnBrk="1" latinLnBrk="0"/>
                      <a:endParaRPr lang="en-US"/>
                    </a:p>
                  </a:txBody>
                  <a:tcPr/>
                </a:tc>
                <a:tc hMerge="1">
                  <a:txBody>
                    <a:bodyPr/>
                    <a:lstStyle/>
                    <a:p>
                      <a:pPr eaLnBrk="1" latinLnBrk="0"/>
                      <a:endParaRPr lang="ko-KR" altLang="en-US"/>
                    </a:p>
                  </a:txBody>
                  <a:tcPr/>
                </a:tc>
                <a:tc gridSpan="2">
                  <a:txBody>
                    <a:bodyPr/>
                    <a:lstStyle/>
                    <a:p>
                      <a:pPr marL="0" marR="0" lvl="0" indent="0" algn="ctr" defTabSz="912813" rtl="0" eaLnBrk="1" fontAlgn="base" latinLnBrk="0" hangingPunct="1">
                        <a:lnSpc>
                          <a:spcPct val="100000"/>
                        </a:lnSpc>
                        <a:spcBef>
                          <a:spcPct val="0"/>
                        </a:spcBef>
                        <a:spcAft>
                          <a:spcPct val="0"/>
                        </a:spcAft>
                        <a:buClrTx/>
                        <a:buSzTx/>
                        <a:buFontTx/>
                        <a:buNone/>
                        <a:tabLst/>
                      </a:pPr>
                      <a:r>
                        <a:rPr kumimoji="0" lang="en-US" altLang="ko-KR" sz="1000" b="0" i="0" u="none" strike="noStrike"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Neck Point</a:t>
                      </a:r>
                    </a:p>
                  </a:txBody>
                  <a:tcPr marL="91421" marR="91421" marT="45710" marB="4571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tc hMerge="1">
                  <a:txBody>
                    <a:bodyPr/>
                    <a:lstStyle/>
                    <a:p>
                      <a:pPr eaLnBrk="1" latinLnBrk="0"/>
                      <a:endParaRPr lang="ko-KR" altLang="en-US"/>
                    </a:p>
                  </a:txBody>
                  <a:tcPr/>
                </a:tc>
                <a:extLst>
                  <a:ext uri="{0D108BD9-81ED-4DB2-BD59-A6C34878D82A}">
                    <a16:rowId xmlns:a16="http://schemas.microsoft.com/office/drawing/2014/main" val="10009"/>
                  </a:ext>
                </a:extLst>
              </a:tr>
              <a:tr h="820614">
                <a:tc gridSpan="2">
                  <a:txBody>
                    <a:bodyPr/>
                    <a:lstStyle/>
                    <a:p>
                      <a:pPr marL="0" marR="0" lvl="0" indent="0" algn="l" defTabSz="912813" rtl="0" eaLnBrk="1" fontAlgn="base" latinLnBrk="0" hangingPunct="1">
                        <a:lnSpc>
                          <a:spcPct val="100000"/>
                        </a:lnSpc>
                        <a:spcBef>
                          <a:spcPct val="0"/>
                        </a:spcBef>
                        <a:spcAft>
                          <a:spcPct val="0"/>
                        </a:spcAft>
                        <a:buClrTx/>
                        <a:buSzTx/>
                        <a:buFont typeface="Arial" charset="0"/>
                        <a:buNone/>
                        <a:tabLst/>
                        <a:defRPr/>
                      </a:pPr>
                      <a:r>
                        <a:rPr kumimoji="0" lang="en-US" altLang="ko-KR" sz="1000" b="0" i="0" u="none" strike="noStrike" cap="none" normalizeH="0" baseline="0" dirty="0">
                          <a:ln>
                            <a:noFill/>
                          </a:ln>
                          <a:solidFill>
                            <a:schemeClr val="tx1"/>
                          </a:solidFill>
                          <a:effectLst/>
                          <a:latin typeface="Arial" panose="020B0604020202020204" pitchFamily="34" charset="0"/>
                          <a:ea typeface="Arial" panose="020B0600000101010101" pitchFamily="50" charset="-127"/>
                          <a:cs typeface="Arial" panose="020B0604020202020204" pitchFamily="34" charset="0"/>
                          <a:sym typeface="Wingdings" pitchFamily="2" charset="2"/>
                        </a:rPr>
                        <a:t>Improving smoothly testing process for sets</a:t>
                      </a:r>
                    </a:p>
                    <a:p>
                      <a:pPr marL="0" marR="0" lvl="0" indent="0" algn="l" defTabSz="912813" rtl="0" eaLnBrk="1" fontAlgn="base" latinLnBrk="0" hangingPunct="1">
                        <a:lnSpc>
                          <a:spcPct val="100000"/>
                        </a:lnSpc>
                        <a:spcBef>
                          <a:spcPct val="0"/>
                        </a:spcBef>
                        <a:spcAft>
                          <a:spcPct val="0"/>
                        </a:spcAft>
                        <a:buClrTx/>
                        <a:buSzTx/>
                        <a:buFont typeface="Arial" charset="0"/>
                        <a:buNone/>
                        <a:tabLst/>
                        <a:defRPr/>
                      </a:pPr>
                      <a:r>
                        <a:rPr kumimoji="0" lang="en-US" altLang="ko-KR" sz="1000" b="0" i="0" u="none" strike="noStrike" cap="none" normalizeH="0" baseline="0" dirty="0">
                          <a:ln>
                            <a:noFill/>
                          </a:ln>
                          <a:solidFill>
                            <a:schemeClr val="tx1"/>
                          </a:solidFill>
                          <a:effectLst/>
                          <a:latin typeface="Arial" panose="020B0604020202020204" pitchFamily="34" charset="0"/>
                          <a:ea typeface="Arial" panose="020B0600000101010101" pitchFamily="50" charset="-127"/>
                          <a:cs typeface="Arial" panose="020B0604020202020204" pitchFamily="34" charset="0"/>
                          <a:sym typeface="Wingdings" pitchFamily="2" charset="2"/>
                        </a:rPr>
                        <a:t>Reducing cost </a:t>
                      </a:r>
                    </a:p>
                  </a:txBody>
                  <a:tcPr marL="91421" marR="91421" marT="45710" marB="4571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hMerge="1">
                  <a:txBody>
                    <a:bodyPr/>
                    <a:lstStyle/>
                    <a:p>
                      <a:pPr eaLnBrk="1" latinLnBrk="0"/>
                      <a:endParaRPr lang="ko-KR" altLang="en-US"/>
                    </a:p>
                  </a:txBody>
                  <a:tcPr/>
                </a:tc>
                <a:tc gridSpan="7">
                  <a:txBody>
                    <a:bodyPr/>
                    <a:lstStyle/>
                    <a:p>
                      <a:pPr marL="0" marR="0" lvl="0" indent="0" algn="l" defTabSz="912813" rtl="0" eaLnBrk="1" fontAlgn="base" latinLnBrk="0" hangingPunct="1">
                        <a:lnSpc>
                          <a:spcPct val="100000"/>
                        </a:lnSpc>
                        <a:spcBef>
                          <a:spcPct val="0"/>
                        </a:spcBef>
                        <a:spcAft>
                          <a:spcPct val="0"/>
                        </a:spcAft>
                        <a:buClrTx/>
                        <a:buSzTx/>
                        <a:buFontTx/>
                        <a:buNone/>
                        <a:tabLst/>
                        <a:defRPr/>
                      </a:pPr>
                      <a:r>
                        <a:rPr lang="en-US" altLang="ko-KR" sz="1000" b="0" dirty="0">
                          <a:solidFill>
                            <a:srgbClr val="000000"/>
                          </a:solidFill>
                          <a:latin typeface="Arial" panose="020B0600000101010101" pitchFamily="50" charset="-127"/>
                          <a:ea typeface="Arial" panose="020B0600000101010101" pitchFamily="50" charset="-127"/>
                          <a:cs typeface="Arial" charset="0"/>
                        </a:rPr>
                        <a:t>1 LCD part =118.72$</a:t>
                      </a:r>
                    </a:p>
                    <a:p>
                      <a:pPr marL="0" marR="0" lvl="0" indent="0" algn="l" defTabSz="912813" rtl="0" eaLnBrk="1" fontAlgn="base" latinLnBrk="0" hangingPunct="1">
                        <a:lnSpc>
                          <a:spcPct val="100000"/>
                        </a:lnSpc>
                        <a:spcBef>
                          <a:spcPct val="0"/>
                        </a:spcBef>
                        <a:spcAft>
                          <a:spcPct val="0"/>
                        </a:spcAft>
                        <a:buClrTx/>
                        <a:buSzTx/>
                        <a:buFontTx/>
                        <a:buNone/>
                        <a:tabLst/>
                        <a:defRPr/>
                      </a:pPr>
                      <a:r>
                        <a:rPr lang="en-US" altLang="ko-KR" sz="1000" b="0" dirty="0">
                          <a:solidFill>
                            <a:srgbClr val="000000"/>
                          </a:solidFill>
                          <a:latin typeface="Arial" panose="020B0600000101010101" pitchFamily="50" charset="-127"/>
                          <a:ea typeface="Arial" panose="020B0600000101010101" pitchFamily="50" charset="-127"/>
                          <a:cs typeface="Arial" charset="0"/>
                        </a:rPr>
                        <a:t>The scrap cost of Luminance issue on March:</a:t>
                      </a:r>
                    </a:p>
                    <a:p>
                      <a:pPr marL="0" marR="0" lvl="0" indent="0" algn="l" defTabSz="912813" rtl="0" eaLnBrk="1" fontAlgn="base" latinLnBrk="0" hangingPunct="1">
                        <a:lnSpc>
                          <a:spcPct val="100000"/>
                        </a:lnSpc>
                        <a:spcBef>
                          <a:spcPct val="0"/>
                        </a:spcBef>
                        <a:spcAft>
                          <a:spcPct val="0"/>
                        </a:spcAft>
                        <a:buClrTx/>
                        <a:buSzTx/>
                        <a:buFontTx/>
                        <a:buNone/>
                        <a:tabLst/>
                        <a:defRPr/>
                      </a:pPr>
                      <a:r>
                        <a:rPr lang="en-US" altLang="ko-KR" sz="1000" b="0" dirty="0">
                          <a:solidFill>
                            <a:srgbClr val="000000"/>
                          </a:solidFill>
                          <a:latin typeface="Arial" panose="020B0600000101010101" pitchFamily="50" charset="-127"/>
                          <a:ea typeface="Arial" panose="020B0600000101010101" pitchFamily="50" charset="-127"/>
                          <a:cs typeface="Arial" charset="0"/>
                        </a:rPr>
                        <a:t>19*118.72 = 2255.68$</a:t>
                      </a:r>
                    </a:p>
                    <a:p>
                      <a:pPr marL="0" marR="0" lvl="0" indent="0" algn="l" defTabSz="912813" rtl="0" eaLnBrk="1" fontAlgn="base" latinLnBrk="0" hangingPunct="1">
                        <a:lnSpc>
                          <a:spcPct val="100000"/>
                        </a:lnSpc>
                        <a:spcBef>
                          <a:spcPct val="0"/>
                        </a:spcBef>
                        <a:spcAft>
                          <a:spcPct val="0"/>
                        </a:spcAft>
                        <a:buClrTx/>
                        <a:buSzTx/>
                        <a:buFontTx/>
                        <a:buNone/>
                        <a:tabLst/>
                        <a:defRPr/>
                      </a:pPr>
                      <a:r>
                        <a:rPr lang="en-US" altLang="ko-KR" sz="1000" b="0" dirty="0">
                          <a:solidFill>
                            <a:srgbClr val="000000"/>
                          </a:solidFill>
                          <a:latin typeface="Arial" panose="020B0600000101010101" pitchFamily="50" charset="-127"/>
                          <a:ea typeface="Arial" panose="020B0600000101010101" pitchFamily="50" charset="-127"/>
                          <a:cs typeface="Arial" charset="0"/>
                          <a:sym typeface="Wingdings" panose="05000000000000000000" pitchFamily="2" charset="2"/>
                        </a:rPr>
                        <a:t> Result: 0 NG / 420 sets after improvement</a:t>
                      </a:r>
                      <a:endParaRPr lang="en-US" altLang="ko-KR" sz="1000" b="0" dirty="0">
                        <a:solidFill>
                          <a:srgbClr val="000000"/>
                        </a:solidFill>
                        <a:latin typeface="LG스마트체 Regular" panose="020B0600000101010101" pitchFamily="50" charset="-127"/>
                        <a:ea typeface="LG스마트체 Regular" panose="020B0600000101010101" pitchFamily="50" charset="-127"/>
                        <a:cs typeface="Arial" charset="0"/>
                      </a:endParaRPr>
                    </a:p>
                  </a:txBody>
                  <a:tcPr marL="91421" marR="91421" marT="45710" marB="4571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hMerge="1">
                  <a:txBody>
                    <a:bodyPr/>
                    <a:lstStyle/>
                    <a:p>
                      <a:pPr eaLnBrk="1" latinLnBrk="0"/>
                      <a:endParaRPr lang="ko-KR" altLang="en-US"/>
                    </a:p>
                  </a:txBody>
                  <a:tcPr/>
                </a:tc>
                <a:tc hMerge="1">
                  <a:txBody>
                    <a:bodyPr/>
                    <a:lstStyle/>
                    <a:p>
                      <a:pPr eaLnBrk="1" latinLnBrk="0"/>
                      <a:endParaRPr lang="ko-KR" altLang="en-US"/>
                    </a:p>
                  </a:txBody>
                  <a:tcPr/>
                </a:tc>
                <a:tc hMerge="1">
                  <a:txBody>
                    <a:bodyPr/>
                    <a:lstStyle/>
                    <a:p>
                      <a:pPr eaLnBrk="1" latinLnBrk="0"/>
                      <a:endParaRPr lang="ko-KR" altLang="en-US"/>
                    </a:p>
                  </a:txBody>
                  <a:tcPr/>
                </a:tc>
                <a:tc hMerge="1">
                  <a:txBody>
                    <a:bodyPr/>
                    <a:lstStyle/>
                    <a:p>
                      <a:pPr eaLnBrk="1" latinLnBrk="0"/>
                      <a:endParaRPr lang="ko-KR" altLang="en-US"/>
                    </a:p>
                  </a:txBody>
                  <a:tcPr/>
                </a:tc>
                <a:tc hMerge="1">
                  <a:txBody>
                    <a:bodyPr/>
                    <a:lstStyle/>
                    <a:p>
                      <a:pPr eaLnBrk="1" latinLnBrk="0"/>
                      <a:endParaRPr lang="en-US"/>
                    </a:p>
                  </a:txBody>
                  <a:tcPr/>
                </a:tc>
                <a:tc hMerge="1">
                  <a:txBody>
                    <a:bodyPr/>
                    <a:lstStyle/>
                    <a:p>
                      <a:pPr eaLnBrk="1" latinLnBrk="0"/>
                      <a:endParaRPr lang="ko-KR" altLang="en-US"/>
                    </a:p>
                  </a:txBody>
                  <a:tcPr/>
                </a:tc>
                <a:tc gridSpan="2">
                  <a:txBody>
                    <a:bodyPr/>
                    <a:lstStyle/>
                    <a:p>
                      <a:pPr marL="0" marR="0" lvl="0" indent="0" algn="ctr" defTabSz="912813" rtl="0" eaLnBrk="1" fontAlgn="base" latinLnBrk="0" hangingPunct="1">
                        <a:lnSpc>
                          <a:spcPct val="100000"/>
                        </a:lnSpc>
                        <a:spcBef>
                          <a:spcPct val="0"/>
                        </a:spcBef>
                        <a:spcAft>
                          <a:spcPct val="0"/>
                        </a:spcAft>
                        <a:buClrTx/>
                        <a:buSzTx/>
                        <a:buFontTx/>
                        <a:buNone/>
                        <a:tabLst/>
                        <a:defRPr/>
                      </a:pPr>
                      <a:r>
                        <a:rPr kumimoji="0" lang="en-US" altLang="ko-KR" sz="1000" b="0" i="0" u="none" strike="noStrike" cap="none" normalizeH="0" baseline="0" dirty="0">
                          <a:ln>
                            <a:noFill/>
                          </a:ln>
                          <a:solidFill>
                            <a:srgbClr val="000000"/>
                          </a:solidFill>
                          <a:effectLst/>
                          <a:latin typeface="Arial" panose="020B0600000101010101" pitchFamily="50" charset="-127"/>
                          <a:ea typeface="Arial" panose="020B0600000101010101" pitchFamily="50" charset="-127"/>
                          <a:cs typeface="Arial" charset="0"/>
                        </a:rPr>
                        <a:t>Because improvement action related to equipment, So need support from PE team</a:t>
                      </a:r>
                    </a:p>
                    <a:p>
                      <a:pPr marL="0" marR="0" lvl="0" indent="0" algn="l" defTabSz="912813" rtl="0" eaLnBrk="1" fontAlgn="base" latinLnBrk="0" hangingPunct="1">
                        <a:lnSpc>
                          <a:spcPct val="100000"/>
                        </a:lnSpc>
                        <a:spcBef>
                          <a:spcPct val="0"/>
                        </a:spcBef>
                        <a:spcAft>
                          <a:spcPct val="0"/>
                        </a:spcAft>
                        <a:buClrTx/>
                        <a:buSzTx/>
                        <a:buFontTx/>
                        <a:buNone/>
                        <a:tabLst/>
                      </a:pPr>
                      <a:endParaRPr kumimoji="0" lang="en-US" altLang="ko-KR" sz="1000" b="0" i="0" u="none" strike="noStrike" cap="none" normalizeH="0" baseline="0" dirty="0">
                        <a:ln>
                          <a:noFill/>
                        </a:ln>
                        <a:solidFill>
                          <a:srgbClr val="000000"/>
                        </a:solidFill>
                        <a:effectLst/>
                        <a:latin typeface="LG Smart_H Regular" panose="020B0600000101010101" pitchFamily="34" charset="-127"/>
                        <a:ea typeface="LG Smart_H Regular" panose="020B0600000101010101" pitchFamily="34" charset="-127"/>
                        <a:cs typeface="Arial" charset="0"/>
                      </a:endParaRPr>
                    </a:p>
                  </a:txBody>
                  <a:tcPr marL="91421" marR="91421" marT="45710" marB="4571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hMerge="1">
                  <a:txBody>
                    <a:bodyPr/>
                    <a:lstStyle/>
                    <a:p>
                      <a:pPr eaLnBrk="1" latinLnBrk="0"/>
                      <a:endParaRPr lang="ko-KR" altLang="en-US"/>
                    </a:p>
                  </a:txBody>
                  <a:tcPr/>
                </a:tc>
                <a:extLst>
                  <a:ext uri="{0D108BD9-81ED-4DB2-BD59-A6C34878D82A}">
                    <a16:rowId xmlns:a16="http://schemas.microsoft.com/office/drawing/2014/main" val="10010"/>
                  </a:ext>
                </a:extLst>
              </a:tr>
            </a:tbl>
          </a:graphicData>
        </a:graphic>
      </p:graphicFrame>
      <p:sp>
        <p:nvSpPr>
          <p:cNvPr id="19552" name="직사각형 39"/>
          <p:cNvSpPr>
            <a:spLocks noChangeArrowheads="1"/>
          </p:cNvSpPr>
          <p:nvPr/>
        </p:nvSpPr>
        <p:spPr bwMode="auto">
          <a:xfrm>
            <a:off x="2714516" y="3335179"/>
            <a:ext cx="843501" cy="246221"/>
          </a:xfrm>
          <a:prstGeom prst="rect">
            <a:avLst/>
          </a:prstGeom>
          <a:noFill/>
          <a:ln w="9525">
            <a:noFill/>
            <a:miter lim="800000"/>
            <a:headEnd/>
            <a:tailEnd/>
          </a:ln>
        </p:spPr>
        <p:txBody>
          <a:bodyPr wrap="none">
            <a:spAutoFit/>
          </a:bodyPr>
          <a:lstStyle/>
          <a:p>
            <a:pPr eaLnBrk="1" latinLnBrk="0" hangingPunct="0"/>
            <a:r>
              <a:rPr kumimoji="0" lang="ko-KR" altLang="en-US" sz="1000" dirty="0">
                <a:solidFill>
                  <a:srgbClr val="000000"/>
                </a:solidFill>
                <a:latin typeface="Arial" panose="020B0600000101010101" pitchFamily="50" charset="-127"/>
                <a:ea typeface="Arial" panose="020B0600000101010101" pitchFamily="50" charset="-127"/>
                <a:cs typeface="Arial" pitchFamily="34" charset="0"/>
                <a:sym typeface="Wingdings" pitchFamily="2" charset="2"/>
              </a:rPr>
              <a:t> </a:t>
            </a:r>
            <a:r>
              <a:rPr kumimoji="0" lang="en-US" altLang="ko-KR" sz="1000" dirty="0">
                <a:solidFill>
                  <a:srgbClr val="000000"/>
                </a:solidFill>
                <a:latin typeface="Arial" panose="020B0600000101010101" pitchFamily="50" charset="-127"/>
                <a:ea typeface="Arial" panose="020B0600000101010101" pitchFamily="50" charset="-127"/>
                <a:cs typeface="Arial" pitchFamily="34" charset="0"/>
              </a:rPr>
              <a:t>Schedule</a:t>
            </a:r>
            <a:endParaRPr kumimoji="0" lang="ko-KR" altLang="en-US" sz="1000" dirty="0">
              <a:solidFill>
                <a:srgbClr val="000000"/>
              </a:solidFill>
              <a:latin typeface="LG스마트체 Regular" panose="020B0600000101010101" pitchFamily="50" charset="-127"/>
              <a:ea typeface="LG스마트체 Regular" panose="020B0600000101010101" pitchFamily="50" charset="-127"/>
              <a:cs typeface="Arial" pitchFamily="34" charset="0"/>
            </a:endParaRPr>
          </a:p>
        </p:txBody>
      </p:sp>
      <p:sp>
        <p:nvSpPr>
          <p:cNvPr id="19553" name="직사각형 40"/>
          <p:cNvSpPr>
            <a:spLocks noChangeArrowheads="1"/>
          </p:cNvSpPr>
          <p:nvPr/>
        </p:nvSpPr>
        <p:spPr bwMode="auto">
          <a:xfrm>
            <a:off x="2732062" y="3886200"/>
            <a:ext cx="4078288" cy="1804661"/>
          </a:xfrm>
          <a:prstGeom prst="rect">
            <a:avLst/>
          </a:prstGeom>
          <a:noFill/>
          <a:ln w="9525">
            <a:noFill/>
            <a:miter lim="800000"/>
            <a:headEnd/>
            <a:tailEnd/>
          </a:ln>
        </p:spPr>
        <p:txBody>
          <a:bodyPr>
            <a:spAutoFit/>
          </a:bodyPr>
          <a:lstStyle/>
          <a:p>
            <a:pPr eaLnBrk="1" latinLnBrk="0" hangingPunct="0">
              <a:lnSpc>
                <a:spcPts val="1500"/>
              </a:lnSpc>
              <a:buFont typeface="Wingdings" pitchFamily="2" charset="2"/>
              <a:buChar char="q"/>
            </a:pPr>
            <a:r>
              <a:rPr kumimoji="0" lang="ko-KR" altLang="en-US" sz="1000" dirty="0">
                <a:solidFill>
                  <a:srgbClr val="000000"/>
                </a:solidFill>
                <a:latin typeface="Arial" panose="020B0600000101010101" pitchFamily="34" charset="-127"/>
                <a:ea typeface="Arial" panose="020B0600000101010101" pitchFamily="34" charset="-127"/>
                <a:cs typeface="Arial" pitchFamily="34" charset="0"/>
                <a:sym typeface="Wingdings" pitchFamily="2" charset="2"/>
              </a:rPr>
              <a:t> </a:t>
            </a:r>
            <a:r>
              <a:rPr kumimoji="0" lang="en-US" altLang="ko-KR" sz="1000" dirty="0">
                <a:solidFill>
                  <a:srgbClr val="000000"/>
                </a:solidFill>
                <a:latin typeface="Arial" panose="020B0600000101010101" pitchFamily="34" charset="-127"/>
                <a:ea typeface="Arial" panose="020B0600000101010101" pitchFamily="34" charset="-127"/>
                <a:cs typeface="Arial" pitchFamily="34" charset="0"/>
                <a:sym typeface="Wingdings" pitchFamily="2" charset="2"/>
              </a:rPr>
              <a:t>Key activity / Output</a:t>
            </a:r>
          </a:p>
          <a:p>
            <a:pPr eaLnBrk="1" latinLnBrk="0" hangingPunct="0">
              <a:lnSpc>
                <a:spcPts val="1500"/>
              </a:lnSpc>
              <a:buFont typeface="Arial" panose="020B0604020202020204" pitchFamily="34" charset="0"/>
              <a:buChar char="•"/>
            </a:pPr>
            <a:r>
              <a:rPr kumimoji="0" lang="ko-KR" altLang="en-US" sz="1000" dirty="0">
                <a:solidFill>
                  <a:srgbClr val="000000"/>
                </a:solidFill>
                <a:latin typeface="Arial" panose="020B0600000101010101" pitchFamily="34" charset="-127"/>
                <a:ea typeface="Arial" panose="020B0600000101010101" pitchFamily="34" charset="-127"/>
                <a:cs typeface="Arial" pitchFamily="34" charset="0"/>
              </a:rPr>
              <a:t> </a:t>
            </a:r>
            <a:r>
              <a:rPr kumimoji="0" lang="en-US" altLang="ko-KR" sz="1000" dirty="0">
                <a:solidFill>
                  <a:srgbClr val="000000"/>
                </a:solidFill>
                <a:latin typeface="Arial" panose="020B0600000101010101" pitchFamily="34" charset="-127"/>
                <a:ea typeface="Arial" panose="020B0600000101010101" pitchFamily="34" charset="-127"/>
                <a:cs typeface="Arial" pitchFamily="34" charset="0"/>
              </a:rPr>
              <a:t>D : </a:t>
            </a:r>
            <a:r>
              <a:rPr lang="en-US" sz="1000" dirty="0">
                <a:latin typeface="Arial" panose="020B0600000101010101" pitchFamily="34" charset="-127"/>
                <a:ea typeface="Arial" panose="020B0600000101010101" pitchFamily="34" charset="-127"/>
                <a:cs typeface="Arial" panose="020B0604020202020204" pitchFamily="34" charset="0"/>
              </a:rPr>
              <a:t>Define issue, </a:t>
            </a:r>
            <a:r>
              <a:rPr lang="en-US" sz="1000" kern="0" dirty="0">
                <a:solidFill>
                  <a:srgbClr val="000000"/>
                </a:solidFill>
                <a:latin typeface="Arial" panose="020B0600000101010101" pitchFamily="34" charset="-127"/>
                <a:ea typeface="Arial" panose="020B0600000101010101" pitchFamily="34" charset="-127"/>
                <a:cs typeface="Arial" panose="020B0604020202020204" pitchFamily="34" charset="0"/>
              </a:rPr>
              <a:t>d</a:t>
            </a:r>
            <a:r>
              <a:rPr lang="en-US" altLang="ko-KR" sz="1000" kern="0" dirty="0">
                <a:solidFill>
                  <a:srgbClr val="000000"/>
                </a:solidFill>
                <a:latin typeface="Arial" panose="020B0600000101010101" pitchFamily="34" charset="-127"/>
                <a:ea typeface="Arial" panose="020B0600000101010101" pitchFamily="34" charset="-127"/>
                <a:cs typeface="Arial" panose="020B0604020202020204" pitchFamily="34" charset="0"/>
              </a:rPr>
              <a:t>efine defect rate, collect defective sample and issue information</a:t>
            </a:r>
          </a:p>
          <a:p>
            <a:pPr eaLnBrk="1" latinLnBrk="0" hangingPunct="0">
              <a:lnSpc>
                <a:spcPts val="1500"/>
              </a:lnSpc>
              <a:buFont typeface="Arial" charset="0"/>
              <a:buChar char="•"/>
            </a:pPr>
            <a:r>
              <a:rPr kumimoji="0" lang="en-US" altLang="ko-KR" sz="1000" dirty="0">
                <a:solidFill>
                  <a:srgbClr val="000000"/>
                </a:solidFill>
                <a:latin typeface="Arial" panose="020B0600000101010101" pitchFamily="34" charset="-127"/>
                <a:ea typeface="Arial" panose="020B0600000101010101" pitchFamily="34" charset="-127"/>
                <a:cs typeface="Arial" pitchFamily="34" charset="0"/>
              </a:rPr>
              <a:t> M : </a:t>
            </a:r>
            <a:r>
              <a:rPr lang="en-US" sz="1000" dirty="0">
                <a:latin typeface="Arial" panose="020B0600000101010101" pitchFamily="34" charset="-127"/>
                <a:ea typeface="Arial" panose="020B0600000101010101" pitchFamily="34" charset="-127"/>
              </a:rPr>
              <a:t>Gage R&amp;R (Type 1, Type 3) to evaluate equipment</a:t>
            </a:r>
            <a:endParaRPr lang="en-US" sz="1000" dirty="0">
              <a:solidFill>
                <a:srgbClr val="000000"/>
              </a:solidFill>
              <a:latin typeface="LG Smart_H Regular" panose="020B0600000101010101" pitchFamily="34" charset="-127"/>
              <a:ea typeface="LG Smart_H Regular" panose="020B0600000101010101" pitchFamily="34" charset="-127"/>
              <a:cs typeface="Arial" pitchFamily="34" charset="0"/>
            </a:endParaRPr>
          </a:p>
          <a:p>
            <a:pPr eaLnBrk="1" latinLnBrk="0" hangingPunct="0">
              <a:lnSpc>
                <a:spcPts val="1500"/>
              </a:lnSpc>
              <a:buFont typeface="Arial" charset="0"/>
              <a:buChar char="•"/>
            </a:pPr>
            <a:r>
              <a:rPr kumimoji="0" lang="en-US" altLang="ko-KR" sz="1000" dirty="0">
                <a:solidFill>
                  <a:srgbClr val="000000"/>
                </a:solidFill>
                <a:latin typeface="Arial" panose="020B0600000101010101" pitchFamily="34" charset="-127"/>
                <a:ea typeface="Arial" panose="020B0600000101010101" pitchFamily="34" charset="-127"/>
                <a:cs typeface="Arial" pitchFamily="34" charset="0"/>
              </a:rPr>
              <a:t> A : </a:t>
            </a:r>
            <a:r>
              <a:rPr lang="en-US" sz="1000" dirty="0">
                <a:latin typeface="Arial" panose="020B0600000101010101" pitchFamily="34" charset="-127"/>
                <a:ea typeface="Arial" panose="020B0600000101010101" pitchFamily="34" charset="-127"/>
              </a:rPr>
              <a:t>Use logic tree and 5 Why to find root cause. </a:t>
            </a:r>
            <a:r>
              <a:rPr lang="en-GB" altLang="ko-KR" sz="1000" kern="0" dirty="0">
                <a:solidFill>
                  <a:srgbClr val="000000"/>
                </a:solidFill>
                <a:latin typeface="Arial" panose="020B0600000101010101" pitchFamily="34" charset="-127"/>
                <a:ea typeface="Arial" panose="020B0600000101010101" pitchFamily="34" charset="-127"/>
                <a:cs typeface="Arial" pitchFamily="34" charset="0"/>
              </a:rPr>
              <a:t>Test samples with different CANSIM, camera and camera angle</a:t>
            </a:r>
          </a:p>
          <a:p>
            <a:pPr eaLnBrk="1" latinLnBrk="0" hangingPunct="0">
              <a:lnSpc>
                <a:spcPts val="1500"/>
              </a:lnSpc>
              <a:buFont typeface="Arial" charset="0"/>
              <a:buChar char="•"/>
            </a:pPr>
            <a:r>
              <a:rPr kumimoji="0" lang="en-US" altLang="ko-KR" sz="1000" dirty="0">
                <a:solidFill>
                  <a:srgbClr val="000000"/>
                </a:solidFill>
                <a:latin typeface="Arial" panose="020B0600000101010101" pitchFamily="34" charset="-127"/>
                <a:ea typeface="Arial" panose="020B0600000101010101" pitchFamily="34" charset="-127"/>
                <a:cs typeface="Arial" pitchFamily="34" charset="0"/>
              </a:rPr>
              <a:t> I : </a:t>
            </a:r>
            <a:r>
              <a:rPr lang="en-US" sz="1000" dirty="0">
                <a:latin typeface="Arial" panose="020B0600000101010101" pitchFamily="34" charset="-127"/>
                <a:ea typeface="Arial" panose="020B0600000101010101" pitchFamily="34" charset="-127"/>
              </a:rPr>
              <a:t>Meeting with HQ IE to discuss improvement action. </a:t>
            </a:r>
            <a:r>
              <a:rPr lang="en-US" altLang="ko-KR" sz="1000" kern="0" dirty="0">
                <a:solidFill>
                  <a:srgbClr val="000000"/>
                </a:solidFill>
                <a:latin typeface="Arial" panose="020B0600000101010101" pitchFamily="34" charset="-127"/>
                <a:ea typeface="Arial" panose="020B0600000101010101" pitchFamily="34" charset="-127"/>
                <a:cs typeface="Arial" pitchFamily="34" charset="0"/>
              </a:rPr>
              <a:t>Correct camera angle to 90° and verify the result</a:t>
            </a:r>
            <a:endParaRPr kumimoji="0" lang="ko-KR" altLang="en-US" sz="1000" dirty="0">
              <a:solidFill>
                <a:srgbClr val="000000"/>
              </a:solidFill>
              <a:latin typeface="LG Smart_H Regular" panose="020B0600000101010101" pitchFamily="34" charset="-127"/>
              <a:ea typeface="LG Smart_H Regular" panose="020B0600000101010101" pitchFamily="34" charset="-127"/>
              <a:cs typeface="Arial" pitchFamily="34" charset="0"/>
            </a:endParaRPr>
          </a:p>
          <a:p>
            <a:pPr eaLnBrk="1" latinLnBrk="0" hangingPunct="0">
              <a:lnSpc>
                <a:spcPts val="1500"/>
              </a:lnSpc>
              <a:buFont typeface="Arial" charset="0"/>
              <a:buChar char="•"/>
            </a:pPr>
            <a:r>
              <a:rPr kumimoji="0" lang="en-US" altLang="ko-KR" sz="1000" dirty="0">
                <a:solidFill>
                  <a:srgbClr val="000000"/>
                </a:solidFill>
                <a:latin typeface="Arial" panose="020B0600000101010101" pitchFamily="34" charset="-127"/>
                <a:ea typeface="Arial" panose="020B0600000101010101" pitchFamily="34" charset="-127"/>
                <a:cs typeface="Arial" pitchFamily="34" charset="0"/>
              </a:rPr>
              <a:t> C :</a:t>
            </a:r>
            <a:r>
              <a:rPr kumimoji="0" lang="ko-KR" altLang="en-US" sz="1000" dirty="0">
                <a:solidFill>
                  <a:srgbClr val="000000"/>
                </a:solidFill>
                <a:latin typeface="Arial" panose="020B0600000101010101" pitchFamily="34" charset="-127"/>
                <a:ea typeface="Arial" panose="020B0600000101010101" pitchFamily="34" charset="-127"/>
                <a:cs typeface="Arial" pitchFamily="34" charset="0"/>
              </a:rPr>
              <a:t> </a:t>
            </a:r>
            <a:r>
              <a:rPr lang="en-GB" altLang="ko-KR" sz="1000" kern="0" dirty="0">
                <a:solidFill>
                  <a:srgbClr val="000000"/>
                </a:solidFill>
                <a:latin typeface="Arial" panose="020B0600000101010101" pitchFamily="34" charset="-127"/>
                <a:ea typeface="Arial" panose="020B0600000101010101" pitchFamily="34" charset="-127"/>
                <a:cs typeface="Arial" pitchFamily="34" charset="0"/>
              </a:rPr>
              <a:t>Control by daily Master sample check; defect rate via GMES</a:t>
            </a:r>
          </a:p>
        </p:txBody>
      </p:sp>
      <p:sp>
        <p:nvSpPr>
          <p:cNvPr id="19554" name="AutoShape 110"/>
          <p:cNvSpPr>
            <a:spLocks noChangeArrowheads="1"/>
          </p:cNvSpPr>
          <p:nvPr/>
        </p:nvSpPr>
        <p:spPr bwMode="auto">
          <a:xfrm>
            <a:off x="2999259" y="3644131"/>
            <a:ext cx="576262" cy="288925"/>
          </a:xfrm>
          <a:prstGeom prst="homePlate">
            <a:avLst>
              <a:gd name="adj" fmla="val 46021"/>
            </a:avLst>
          </a:prstGeom>
          <a:solidFill>
            <a:schemeClr val="bg1"/>
          </a:solidFill>
          <a:ln w="9525">
            <a:solidFill>
              <a:schemeClr val="tx1"/>
            </a:solidFill>
            <a:miter lim="800000"/>
            <a:headEnd/>
            <a:tailEnd/>
          </a:ln>
        </p:spPr>
        <p:txBody>
          <a:bodyPr wrap="none" anchor="ctr"/>
          <a:lstStyle/>
          <a:p>
            <a:pPr algn="ctr" eaLnBrk="1" latinLnBrk="0" hangingPunct="0"/>
            <a:r>
              <a:rPr kumimoji="0" lang="en-US" altLang="ko-KR" sz="1000" dirty="0">
                <a:solidFill>
                  <a:srgbClr val="000000"/>
                </a:solidFill>
                <a:latin typeface="Arial" panose="020B0600000101010101" pitchFamily="50" charset="-127"/>
                <a:ea typeface="Arial" panose="020B0600000101010101" pitchFamily="50" charset="-127"/>
                <a:cs typeface="Arial" pitchFamily="34" charset="0"/>
              </a:rPr>
              <a:t>D</a:t>
            </a:r>
          </a:p>
        </p:txBody>
      </p:sp>
      <p:sp>
        <p:nvSpPr>
          <p:cNvPr id="19555" name="AutoShape 111"/>
          <p:cNvSpPr>
            <a:spLocks noChangeArrowheads="1"/>
          </p:cNvSpPr>
          <p:nvPr/>
        </p:nvSpPr>
        <p:spPr bwMode="auto">
          <a:xfrm>
            <a:off x="3575521" y="3644131"/>
            <a:ext cx="577850" cy="288925"/>
          </a:xfrm>
          <a:prstGeom prst="homePlate">
            <a:avLst>
              <a:gd name="adj" fmla="val 46148"/>
            </a:avLst>
          </a:prstGeom>
          <a:solidFill>
            <a:schemeClr val="bg1"/>
          </a:solidFill>
          <a:ln w="9525">
            <a:solidFill>
              <a:schemeClr val="tx1"/>
            </a:solidFill>
            <a:miter lim="800000"/>
            <a:headEnd/>
            <a:tailEnd/>
          </a:ln>
        </p:spPr>
        <p:txBody>
          <a:bodyPr wrap="none" anchor="ctr"/>
          <a:lstStyle/>
          <a:p>
            <a:pPr algn="ctr" eaLnBrk="1" latinLnBrk="0" hangingPunct="0"/>
            <a:r>
              <a:rPr kumimoji="0" lang="en-US" altLang="ko-KR" sz="1000">
                <a:solidFill>
                  <a:srgbClr val="000000"/>
                </a:solidFill>
                <a:latin typeface="Arial" panose="020B0600000101010101" pitchFamily="50" charset="-127"/>
                <a:ea typeface="Arial" panose="020B0600000101010101" pitchFamily="50" charset="-127"/>
                <a:cs typeface="Arial" pitchFamily="34" charset="0"/>
              </a:rPr>
              <a:t>M</a:t>
            </a:r>
          </a:p>
        </p:txBody>
      </p:sp>
      <p:sp>
        <p:nvSpPr>
          <p:cNvPr id="19556" name="AutoShape 112"/>
          <p:cNvSpPr>
            <a:spLocks noChangeArrowheads="1"/>
          </p:cNvSpPr>
          <p:nvPr/>
        </p:nvSpPr>
        <p:spPr bwMode="auto">
          <a:xfrm>
            <a:off x="4151784" y="3644131"/>
            <a:ext cx="577850" cy="288925"/>
          </a:xfrm>
          <a:prstGeom prst="homePlate">
            <a:avLst>
              <a:gd name="adj" fmla="val 46148"/>
            </a:avLst>
          </a:prstGeom>
          <a:solidFill>
            <a:schemeClr val="bg1"/>
          </a:solidFill>
          <a:ln w="9525">
            <a:solidFill>
              <a:schemeClr val="tx1"/>
            </a:solidFill>
            <a:miter lim="800000"/>
            <a:headEnd/>
            <a:tailEnd/>
          </a:ln>
        </p:spPr>
        <p:txBody>
          <a:bodyPr wrap="none" anchor="ctr"/>
          <a:lstStyle/>
          <a:p>
            <a:pPr algn="ctr" eaLnBrk="1" latinLnBrk="0" hangingPunct="0"/>
            <a:r>
              <a:rPr kumimoji="0" lang="en-US" altLang="ko-KR" sz="1000">
                <a:solidFill>
                  <a:srgbClr val="000000"/>
                </a:solidFill>
                <a:latin typeface="Arial" panose="020B0600000101010101" pitchFamily="50" charset="-127"/>
                <a:ea typeface="Arial" panose="020B0600000101010101" pitchFamily="50" charset="-127"/>
                <a:cs typeface="Arial" pitchFamily="34" charset="0"/>
              </a:rPr>
              <a:t>A</a:t>
            </a:r>
          </a:p>
        </p:txBody>
      </p:sp>
      <p:sp>
        <p:nvSpPr>
          <p:cNvPr id="19557" name="AutoShape 117"/>
          <p:cNvSpPr>
            <a:spLocks noChangeArrowheads="1"/>
          </p:cNvSpPr>
          <p:nvPr/>
        </p:nvSpPr>
        <p:spPr bwMode="auto">
          <a:xfrm>
            <a:off x="4729634" y="3644131"/>
            <a:ext cx="577850" cy="288925"/>
          </a:xfrm>
          <a:prstGeom prst="homePlate">
            <a:avLst>
              <a:gd name="adj" fmla="val 46148"/>
            </a:avLst>
          </a:prstGeom>
          <a:solidFill>
            <a:schemeClr val="bg1"/>
          </a:solidFill>
          <a:ln w="9525">
            <a:solidFill>
              <a:schemeClr val="tx1"/>
            </a:solidFill>
            <a:miter lim="800000"/>
            <a:headEnd/>
            <a:tailEnd/>
          </a:ln>
        </p:spPr>
        <p:txBody>
          <a:bodyPr wrap="none" anchor="ctr"/>
          <a:lstStyle/>
          <a:p>
            <a:pPr algn="ctr" eaLnBrk="1" latinLnBrk="0" hangingPunct="0"/>
            <a:r>
              <a:rPr kumimoji="0" lang="en-US" altLang="ko-KR" sz="1000">
                <a:solidFill>
                  <a:srgbClr val="000000"/>
                </a:solidFill>
                <a:latin typeface="Arial" panose="020B0600000101010101" pitchFamily="50" charset="-127"/>
                <a:ea typeface="Arial" panose="020B0600000101010101" pitchFamily="50" charset="-127"/>
                <a:cs typeface="Arial" pitchFamily="34" charset="0"/>
              </a:rPr>
              <a:t>I</a:t>
            </a:r>
          </a:p>
        </p:txBody>
      </p:sp>
      <p:sp>
        <p:nvSpPr>
          <p:cNvPr id="19558" name="AutoShape 118"/>
          <p:cNvSpPr>
            <a:spLocks noChangeArrowheads="1"/>
          </p:cNvSpPr>
          <p:nvPr/>
        </p:nvSpPr>
        <p:spPr bwMode="auto">
          <a:xfrm>
            <a:off x="5305896" y="3644131"/>
            <a:ext cx="576263" cy="288925"/>
          </a:xfrm>
          <a:prstGeom prst="homePlate">
            <a:avLst>
              <a:gd name="adj" fmla="val 46021"/>
            </a:avLst>
          </a:prstGeom>
          <a:solidFill>
            <a:schemeClr val="bg1"/>
          </a:solidFill>
          <a:ln w="9525">
            <a:solidFill>
              <a:schemeClr val="tx1"/>
            </a:solidFill>
            <a:miter lim="800000"/>
            <a:headEnd/>
            <a:tailEnd/>
          </a:ln>
        </p:spPr>
        <p:txBody>
          <a:bodyPr wrap="none" anchor="ctr"/>
          <a:lstStyle/>
          <a:p>
            <a:pPr algn="ctr" eaLnBrk="1" latinLnBrk="0" hangingPunct="0"/>
            <a:r>
              <a:rPr kumimoji="0" lang="en-US" altLang="ko-KR" sz="1000">
                <a:solidFill>
                  <a:srgbClr val="000000"/>
                </a:solidFill>
                <a:latin typeface="Arial" panose="020B0600000101010101" pitchFamily="50" charset="-127"/>
                <a:ea typeface="Arial" panose="020B0600000101010101" pitchFamily="50" charset="-127"/>
                <a:cs typeface="Arial" pitchFamily="34" charset="0"/>
              </a:rPr>
              <a:t>C</a:t>
            </a:r>
          </a:p>
        </p:txBody>
      </p:sp>
      <p:sp>
        <p:nvSpPr>
          <p:cNvPr id="19559" name="Text Box 115"/>
          <p:cNvSpPr txBox="1">
            <a:spLocks noChangeArrowheads="1"/>
          </p:cNvSpPr>
          <p:nvPr/>
        </p:nvSpPr>
        <p:spPr bwMode="auto">
          <a:xfrm>
            <a:off x="3346990" y="3415531"/>
            <a:ext cx="394660" cy="246221"/>
          </a:xfrm>
          <a:prstGeom prst="rect">
            <a:avLst/>
          </a:prstGeom>
          <a:noFill/>
          <a:ln w="9525">
            <a:noFill/>
            <a:miter lim="800000"/>
            <a:headEnd/>
            <a:tailEnd/>
          </a:ln>
        </p:spPr>
        <p:txBody>
          <a:bodyPr wrap="none">
            <a:spAutoFit/>
          </a:bodyPr>
          <a:lstStyle/>
          <a:p>
            <a:pPr eaLnBrk="1" latinLnBrk="0" hangingPunct="0"/>
            <a:r>
              <a:rPr kumimoji="0" lang="en-US" altLang="ko-KR" sz="1000" dirty="0">
                <a:solidFill>
                  <a:srgbClr val="000000"/>
                </a:solidFill>
                <a:latin typeface="Arial" panose="020B0600000101010101" pitchFamily="50" charset="-127"/>
                <a:ea typeface="Arial" panose="020B0600000101010101" pitchFamily="50" charset="-127"/>
                <a:cs typeface="Arial" pitchFamily="34" charset="0"/>
              </a:rPr>
              <a:t>3/9</a:t>
            </a:r>
          </a:p>
        </p:txBody>
      </p:sp>
      <p:sp>
        <p:nvSpPr>
          <p:cNvPr id="19560" name="Text Box 115"/>
          <p:cNvSpPr txBox="1">
            <a:spLocks noChangeArrowheads="1"/>
          </p:cNvSpPr>
          <p:nvPr/>
        </p:nvSpPr>
        <p:spPr bwMode="auto">
          <a:xfrm>
            <a:off x="3868590" y="3415531"/>
            <a:ext cx="394660" cy="246221"/>
          </a:xfrm>
          <a:prstGeom prst="rect">
            <a:avLst/>
          </a:prstGeom>
          <a:noFill/>
          <a:ln w="9525">
            <a:noFill/>
            <a:miter lim="800000"/>
            <a:headEnd/>
            <a:tailEnd/>
          </a:ln>
        </p:spPr>
        <p:txBody>
          <a:bodyPr wrap="none">
            <a:spAutoFit/>
          </a:bodyPr>
          <a:lstStyle/>
          <a:p>
            <a:pPr eaLnBrk="1" latinLnBrk="0" hangingPunct="0"/>
            <a:r>
              <a:rPr kumimoji="0" lang="en-US" altLang="ko-KR" sz="1000" dirty="0">
                <a:solidFill>
                  <a:srgbClr val="000000"/>
                </a:solidFill>
                <a:latin typeface="Arial" panose="020B0600000101010101" pitchFamily="50" charset="-127"/>
                <a:ea typeface="Arial" panose="020B0600000101010101" pitchFamily="50" charset="-127"/>
                <a:cs typeface="Arial" pitchFamily="34" charset="0"/>
              </a:rPr>
              <a:t>4/1</a:t>
            </a:r>
          </a:p>
        </p:txBody>
      </p:sp>
      <p:sp>
        <p:nvSpPr>
          <p:cNvPr id="19561" name="Text Box 113"/>
          <p:cNvSpPr txBox="1">
            <a:spLocks noChangeArrowheads="1"/>
          </p:cNvSpPr>
          <p:nvPr/>
        </p:nvSpPr>
        <p:spPr bwMode="auto">
          <a:xfrm>
            <a:off x="4495800" y="3417119"/>
            <a:ext cx="394660" cy="246221"/>
          </a:xfrm>
          <a:prstGeom prst="rect">
            <a:avLst/>
          </a:prstGeom>
          <a:noFill/>
          <a:ln w="9525">
            <a:noFill/>
            <a:miter lim="800000"/>
            <a:headEnd/>
            <a:tailEnd/>
          </a:ln>
        </p:spPr>
        <p:txBody>
          <a:bodyPr wrap="none">
            <a:spAutoFit/>
          </a:bodyPr>
          <a:lstStyle/>
          <a:p>
            <a:pPr eaLnBrk="1" latinLnBrk="0" hangingPunct="0"/>
            <a:r>
              <a:rPr kumimoji="0" lang="en-US" altLang="ko-KR" sz="1000" dirty="0">
                <a:solidFill>
                  <a:srgbClr val="000000"/>
                </a:solidFill>
                <a:latin typeface="Arial" panose="020B0600000101010101" pitchFamily="50" charset="-127"/>
                <a:ea typeface="Arial" panose="020B0600000101010101" pitchFamily="50" charset="-127"/>
                <a:cs typeface="Arial" pitchFamily="34" charset="0"/>
              </a:rPr>
              <a:t>5/1</a:t>
            </a:r>
          </a:p>
        </p:txBody>
      </p:sp>
      <p:sp>
        <p:nvSpPr>
          <p:cNvPr id="19562" name="Text Box 114"/>
          <p:cNvSpPr txBox="1">
            <a:spLocks noChangeArrowheads="1"/>
          </p:cNvSpPr>
          <p:nvPr/>
        </p:nvSpPr>
        <p:spPr bwMode="auto">
          <a:xfrm>
            <a:off x="5074121" y="3417119"/>
            <a:ext cx="474810" cy="246221"/>
          </a:xfrm>
          <a:prstGeom prst="rect">
            <a:avLst/>
          </a:prstGeom>
          <a:noFill/>
          <a:ln w="9525">
            <a:noFill/>
            <a:miter lim="800000"/>
            <a:headEnd/>
            <a:tailEnd/>
          </a:ln>
        </p:spPr>
        <p:txBody>
          <a:bodyPr wrap="none">
            <a:spAutoFit/>
          </a:bodyPr>
          <a:lstStyle/>
          <a:p>
            <a:pPr eaLnBrk="1" latinLnBrk="0" hangingPunct="0"/>
            <a:r>
              <a:rPr kumimoji="0" lang="en-US" altLang="ko-KR" sz="1000" dirty="0">
                <a:solidFill>
                  <a:srgbClr val="000000"/>
                </a:solidFill>
                <a:latin typeface="Arial" panose="020B0600000101010101" pitchFamily="50" charset="-127"/>
                <a:ea typeface="Arial" panose="020B0600000101010101" pitchFamily="50" charset="-127"/>
                <a:cs typeface="Arial" pitchFamily="34" charset="0"/>
              </a:rPr>
              <a:t>5/19</a:t>
            </a:r>
          </a:p>
        </p:txBody>
      </p:sp>
      <p:sp>
        <p:nvSpPr>
          <p:cNvPr id="19563" name="Text Box 115"/>
          <p:cNvSpPr txBox="1">
            <a:spLocks noChangeArrowheads="1"/>
          </p:cNvSpPr>
          <p:nvPr/>
        </p:nvSpPr>
        <p:spPr bwMode="auto">
          <a:xfrm>
            <a:off x="5638800" y="3417119"/>
            <a:ext cx="474810" cy="246221"/>
          </a:xfrm>
          <a:prstGeom prst="rect">
            <a:avLst/>
          </a:prstGeom>
          <a:noFill/>
          <a:ln w="9525">
            <a:noFill/>
            <a:miter lim="800000"/>
            <a:headEnd/>
            <a:tailEnd/>
          </a:ln>
        </p:spPr>
        <p:txBody>
          <a:bodyPr wrap="none">
            <a:spAutoFit/>
          </a:bodyPr>
          <a:lstStyle/>
          <a:p>
            <a:pPr eaLnBrk="1" latinLnBrk="0" hangingPunct="0"/>
            <a:r>
              <a:rPr kumimoji="0" lang="en-US" altLang="ko-KR" sz="1000" dirty="0">
                <a:solidFill>
                  <a:srgbClr val="000000"/>
                </a:solidFill>
                <a:latin typeface="Arial" panose="020B0600000101010101" pitchFamily="50" charset="-127"/>
                <a:ea typeface="Arial" panose="020B0600000101010101" pitchFamily="50" charset="-127"/>
                <a:cs typeface="Arial" pitchFamily="34" charset="0"/>
              </a:rPr>
              <a:t>6/15</a:t>
            </a:r>
          </a:p>
        </p:txBody>
      </p:sp>
      <p:sp>
        <p:nvSpPr>
          <p:cNvPr id="24" name="직사각형 20"/>
          <p:cNvSpPr>
            <a:spLocks noChangeArrowheads="1"/>
          </p:cNvSpPr>
          <p:nvPr/>
        </p:nvSpPr>
        <p:spPr bwMode="auto">
          <a:xfrm>
            <a:off x="5600530" y="325775"/>
            <a:ext cx="2131846" cy="553998"/>
          </a:xfrm>
          <a:prstGeom prst="rect">
            <a:avLst/>
          </a:prstGeom>
          <a:noFill/>
          <a:ln w="9525">
            <a:noFill/>
            <a:miter lim="800000"/>
            <a:headEnd/>
            <a:tailEnd/>
          </a:ln>
        </p:spPr>
        <p:txBody>
          <a:bodyPr wrap="square">
            <a:spAutoFit/>
          </a:bodyPr>
          <a:lstStyle/>
          <a:p>
            <a:pPr algn="just" defTabSz="912813" eaLnBrk="1" latinLnBrk="0" hangingPunct="0"/>
            <a:r>
              <a:rPr lang="en-US" altLang="ko-KR" sz="1000">
                <a:solidFill>
                  <a:srgbClr val="000000"/>
                </a:solidFill>
                <a:latin typeface="Arial" panose="020B0600000101010101" pitchFamily="50" charset="-127"/>
                <a:ea typeface="Arial" panose="020B0600000101010101" pitchFamily="50" charset="-127"/>
                <a:cs typeface="Arial" charset="0"/>
              </a:rPr>
              <a:t>Task category</a:t>
            </a:r>
            <a:endParaRPr lang="en-US" altLang="ko-KR" sz="1000" dirty="0">
              <a:solidFill>
                <a:srgbClr val="000000"/>
              </a:solidFill>
              <a:latin typeface="LG스마트체 Regular" panose="020B0600000101010101" pitchFamily="50" charset="-127"/>
              <a:ea typeface="LG스마트체 Regular" panose="020B0600000101010101" pitchFamily="50" charset="-127"/>
              <a:cs typeface="Arial" charset="0"/>
            </a:endParaRPr>
          </a:p>
          <a:p>
            <a:pPr algn="just" defTabSz="912813" eaLnBrk="1" latinLnBrk="0" hangingPunct="0"/>
            <a:r>
              <a:rPr lang="ko-KR" altLang="en-US" sz="1000" dirty="0">
                <a:solidFill>
                  <a:srgbClr val="000000"/>
                </a:solidFill>
                <a:latin typeface="Arial" panose="020B0600000101010101" pitchFamily="50" charset="-127"/>
                <a:ea typeface="Arial" panose="020B0600000101010101" pitchFamily="50" charset="-127"/>
                <a:cs typeface="Arial" charset="0"/>
              </a:rPr>
              <a:t>□ </a:t>
            </a:r>
            <a:r>
              <a:rPr lang="en-US" altLang="ko-KR" sz="1000">
                <a:solidFill>
                  <a:srgbClr val="000000"/>
                </a:solidFill>
                <a:latin typeface="Arial" panose="020B0600000101010101" pitchFamily="50" charset="-127"/>
                <a:ea typeface="Arial" panose="020B0600000101010101" pitchFamily="50" charset="-127"/>
                <a:cs typeface="Arial" charset="0"/>
              </a:rPr>
              <a:t>HW      </a:t>
            </a:r>
            <a:r>
              <a:rPr lang="ko-KR" altLang="en-US" sz="1000">
                <a:solidFill>
                  <a:srgbClr val="000000"/>
                </a:solidFill>
                <a:latin typeface="Arial" panose="020B0600000101010101" pitchFamily="50" charset="-127"/>
                <a:ea typeface="Arial" panose="020B0600000101010101" pitchFamily="50" charset="-127"/>
                <a:cs typeface="Arial" charset="0"/>
              </a:rPr>
              <a:t>□ </a:t>
            </a:r>
            <a:r>
              <a:rPr lang="en-US" altLang="ko-KR" sz="1000" dirty="0">
                <a:solidFill>
                  <a:srgbClr val="000000"/>
                </a:solidFill>
                <a:latin typeface="Arial" panose="020B0600000101010101" pitchFamily="50" charset="-127"/>
                <a:ea typeface="Arial" panose="020B0600000101010101" pitchFamily="50" charset="-127"/>
                <a:cs typeface="Arial" charset="0"/>
              </a:rPr>
              <a:t>SW</a:t>
            </a:r>
          </a:p>
          <a:p>
            <a:pPr algn="just" defTabSz="912813" eaLnBrk="1" latinLnBrk="0" hangingPunct="0"/>
            <a:r>
              <a:rPr lang="ko-KR" altLang="en-US" sz="1000">
                <a:solidFill>
                  <a:srgbClr val="000000"/>
                </a:solidFill>
                <a:latin typeface="Arial" panose="020B0600000101010101" pitchFamily="50" charset="-127"/>
                <a:ea typeface="Arial" panose="020B0600000101010101" pitchFamily="50" charset="-127"/>
                <a:cs typeface="Arial" charset="0"/>
              </a:rPr>
              <a:t>□ </a:t>
            </a:r>
            <a:r>
              <a:rPr lang="en-US" altLang="ko-KR" sz="1000">
                <a:solidFill>
                  <a:srgbClr val="000000"/>
                </a:solidFill>
                <a:latin typeface="Arial" panose="020B0600000101010101" pitchFamily="50" charset="-127"/>
                <a:ea typeface="Arial" panose="020B0600000101010101" pitchFamily="50" charset="-127"/>
                <a:cs typeface="Arial" charset="0"/>
              </a:rPr>
              <a:t>Mecha  </a:t>
            </a:r>
            <a:r>
              <a:rPr lang="ko-KR" altLang="en-US" sz="1000">
                <a:solidFill>
                  <a:srgbClr val="000000"/>
                </a:solidFill>
                <a:latin typeface="Arial" panose="020B0600000101010101" pitchFamily="50" charset="-127"/>
                <a:ea typeface="Arial" panose="020B0600000101010101" pitchFamily="50" charset="-127"/>
                <a:cs typeface="Arial" charset="0"/>
              </a:rPr>
              <a:t>■ </a:t>
            </a:r>
            <a:r>
              <a:rPr lang="en-US" altLang="ko-KR" sz="1000">
                <a:solidFill>
                  <a:srgbClr val="000000"/>
                </a:solidFill>
                <a:latin typeface="Arial" panose="020B0600000101010101" pitchFamily="50" charset="-127"/>
                <a:ea typeface="Arial" panose="020B0600000101010101" pitchFamily="50" charset="-127"/>
                <a:cs typeface="Arial" charset="0"/>
              </a:rPr>
              <a:t>Current job</a:t>
            </a:r>
            <a:endParaRPr lang="en-US" altLang="ko-KR" sz="1000" dirty="0">
              <a:solidFill>
                <a:srgbClr val="000000"/>
              </a:solidFill>
              <a:latin typeface="LG스마트체 Regular" panose="020B0600000101010101" pitchFamily="50" charset="-127"/>
              <a:ea typeface="LG스마트체 Regular" panose="020B0600000101010101" pitchFamily="50" charset="-127"/>
              <a:cs typeface="Arial" charset="0"/>
            </a:endParaRPr>
          </a:p>
        </p:txBody>
      </p:sp>
      <p:graphicFrame>
        <p:nvGraphicFramePr>
          <p:cNvPr id="21" name="Group 133">
            <a:extLst>
              <a:ext uri="{FF2B5EF4-FFF2-40B4-BE49-F238E27FC236}">
                <a16:creationId xmlns:a16="http://schemas.microsoft.com/office/drawing/2014/main" id="{871447DD-1D73-49D5-866D-9AC4D91C41AE}"/>
              </a:ext>
            </a:extLst>
          </p:cNvPr>
          <p:cNvGraphicFramePr>
            <a:graphicFrameLocks noGrp="1"/>
          </p:cNvGraphicFramePr>
          <p:nvPr>
            <p:extLst>
              <p:ext uri="{D42A27DB-BD31-4B8C-83A1-F6EECF244321}">
                <p14:modId xmlns:p14="http://schemas.microsoft.com/office/powerpoint/2010/main" val="3793983478"/>
              </p:ext>
            </p:extLst>
          </p:nvPr>
        </p:nvGraphicFramePr>
        <p:xfrm>
          <a:off x="6847563" y="3429000"/>
          <a:ext cx="2931523" cy="1526608"/>
        </p:xfrm>
        <a:graphic>
          <a:graphicData uri="http://schemas.openxmlformats.org/drawingml/2006/table">
            <a:tbl>
              <a:tblPr/>
              <a:tblGrid>
                <a:gridCol w="541685">
                  <a:extLst>
                    <a:ext uri="{9D8B030D-6E8A-4147-A177-3AD203B41FA5}">
                      <a16:colId xmlns:a16="http://schemas.microsoft.com/office/drawing/2014/main" val="20000"/>
                    </a:ext>
                  </a:extLst>
                </a:gridCol>
                <a:gridCol w="1511977">
                  <a:extLst>
                    <a:ext uri="{9D8B030D-6E8A-4147-A177-3AD203B41FA5}">
                      <a16:colId xmlns:a16="http://schemas.microsoft.com/office/drawing/2014/main" val="20001"/>
                    </a:ext>
                  </a:extLst>
                </a:gridCol>
                <a:gridCol w="877861">
                  <a:extLst>
                    <a:ext uri="{9D8B030D-6E8A-4147-A177-3AD203B41FA5}">
                      <a16:colId xmlns:a16="http://schemas.microsoft.com/office/drawing/2014/main" val="20002"/>
                    </a:ext>
                  </a:extLst>
                </a:gridCol>
              </a:tblGrid>
              <a:tr h="296971">
                <a:tc>
                  <a:txBody>
                    <a:bodyPr/>
                    <a:lstStyle/>
                    <a:p>
                      <a:pPr marL="0" marR="0" lvl="0" indent="0" algn="ctr" defTabSz="914400" rtl="0" eaLnBrk="1" fontAlgn="base" latinLnBrk="0" hangingPunct="1">
                        <a:lnSpc>
                          <a:spcPct val="110000"/>
                        </a:lnSpc>
                        <a:spcBef>
                          <a:spcPct val="20000"/>
                        </a:spcBef>
                        <a:spcAft>
                          <a:spcPct val="0"/>
                        </a:spcAft>
                        <a:buClrTx/>
                        <a:buSzTx/>
                        <a:buFontTx/>
                        <a:buNone/>
                        <a:tabLst/>
                      </a:pPr>
                      <a:r>
                        <a:rPr kumimoji="1" lang="en-US" altLang="ko-KR" sz="1000" b="1" i="0" u="none" strike="noStrike" cap="none" normalizeH="0" baseline="0" dirty="0">
                          <a:ln>
                            <a:noFill/>
                          </a:ln>
                          <a:solidFill>
                            <a:schemeClr val="tx1"/>
                          </a:solidFill>
                          <a:effectLst/>
                          <a:latin typeface="Arial" panose="020B0604020202020204" pitchFamily="34" charset="0"/>
                          <a:ea typeface="Arial" panose="020B0600000101010101" pitchFamily="50" charset="-127"/>
                          <a:cs typeface="Arial" panose="020B0604020202020204" pitchFamily="34" charset="0"/>
                        </a:rPr>
                        <a:t>Team</a:t>
                      </a:r>
                      <a:endParaRPr kumimoji="1" lang="ko-KR" altLang="en-US" sz="1000" b="1" i="0" u="none" strike="noStrike" cap="none" normalizeH="0" baseline="0" dirty="0">
                        <a:ln>
                          <a:noFill/>
                        </a:ln>
                        <a:solidFill>
                          <a:schemeClr val="tx1"/>
                        </a:solidFill>
                        <a:effectLst/>
                        <a:latin typeface="Arial" panose="020B0604020202020204" pitchFamily="34" charset="0"/>
                        <a:ea typeface="LG스마트체 Regular" panose="020B0600000101010101" pitchFamily="50" charset="-127"/>
                        <a:cs typeface="Arial" panose="020B0604020202020204" pitchFamily="34" charset="0"/>
                      </a:endParaRPr>
                    </a:p>
                  </a:txBody>
                  <a:tcPr marL="36000" marR="36000" marT="18001" marB="1800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AEAEA"/>
                    </a:solidFill>
                  </a:tcPr>
                </a:tc>
                <a:tc>
                  <a:txBody>
                    <a:bodyPr/>
                    <a:lstStyle/>
                    <a:p>
                      <a:pPr marL="0" marR="0" lvl="0" indent="0" algn="ctr" defTabSz="914400" rtl="0" eaLnBrk="1" fontAlgn="base" latinLnBrk="0" hangingPunct="1">
                        <a:lnSpc>
                          <a:spcPct val="110000"/>
                        </a:lnSpc>
                        <a:spcBef>
                          <a:spcPct val="20000"/>
                        </a:spcBef>
                        <a:spcAft>
                          <a:spcPct val="0"/>
                        </a:spcAft>
                        <a:buClrTx/>
                        <a:buSzTx/>
                        <a:buFontTx/>
                        <a:buNone/>
                        <a:tabLst/>
                      </a:pPr>
                      <a:r>
                        <a:rPr kumimoji="1" lang="en-US" altLang="ko-KR" sz="1000" b="1" i="0" u="none" strike="noStrike" cap="none" normalizeH="0" baseline="0" dirty="0">
                          <a:ln>
                            <a:noFill/>
                          </a:ln>
                          <a:solidFill>
                            <a:schemeClr val="tx1"/>
                          </a:solidFill>
                          <a:effectLst/>
                          <a:latin typeface="Arial" panose="020B0604020202020204" pitchFamily="34" charset="0"/>
                          <a:ea typeface="Arial" panose="020B0600000101010101" pitchFamily="50" charset="-127"/>
                          <a:cs typeface="Arial" panose="020B0604020202020204" pitchFamily="34" charset="0"/>
                        </a:rPr>
                        <a:t>Name</a:t>
                      </a:r>
                    </a:p>
                  </a:txBody>
                  <a:tcPr marL="36000" marR="36000" marT="18001" marB="1800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AEAEA"/>
                    </a:solidFill>
                  </a:tcPr>
                </a:tc>
                <a:tc>
                  <a:txBody>
                    <a:bodyPr/>
                    <a:lstStyle/>
                    <a:p>
                      <a:pPr marL="0" marR="0" lvl="0" indent="0" algn="ctr" defTabSz="914400" rtl="0" eaLnBrk="1" fontAlgn="base" latinLnBrk="0" hangingPunct="1">
                        <a:lnSpc>
                          <a:spcPct val="110000"/>
                        </a:lnSpc>
                        <a:spcBef>
                          <a:spcPct val="20000"/>
                        </a:spcBef>
                        <a:spcAft>
                          <a:spcPct val="0"/>
                        </a:spcAft>
                        <a:buClrTx/>
                        <a:buSzTx/>
                        <a:buFontTx/>
                        <a:buNone/>
                        <a:tabLst/>
                      </a:pPr>
                      <a:r>
                        <a:rPr kumimoji="1" lang="en-US" altLang="ko-KR" sz="1000" b="1" i="0" u="none" strike="noStrike" cap="none" normalizeH="0" baseline="0" dirty="0">
                          <a:ln>
                            <a:noFill/>
                          </a:ln>
                          <a:solidFill>
                            <a:schemeClr val="tx1"/>
                          </a:solidFill>
                          <a:effectLst/>
                          <a:latin typeface="Arial" panose="020B0604020202020204" pitchFamily="34" charset="0"/>
                          <a:ea typeface="Arial" panose="020B0600000101010101" pitchFamily="50" charset="-127"/>
                          <a:cs typeface="Arial" panose="020B0604020202020204" pitchFamily="34" charset="0"/>
                        </a:rPr>
                        <a:t>Role</a:t>
                      </a:r>
                    </a:p>
                  </a:txBody>
                  <a:tcPr marL="36000" marR="36000" marT="18001" marB="1800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AEAEA"/>
                    </a:solidFill>
                  </a:tcPr>
                </a:tc>
                <a:extLst>
                  <a:ext uri="{0D108BD9-81ED-4DB2-BD59-A6C34878D82A}">
                    <a16:rowId xmlns:a16="http://schemas.microsoft.com/office/drawing/2014/main" val="10000"/>
                  </a:ext>
                </a:extLst>
              </a:tr>
              <a:tr h="479160">
                <a:tc rowSpan="2">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1" lang="en-US" altLang="ko-KR" sz="1000" b="0" i="0" u="none" strike="noStrike" cap="none" normalizeH="0" baseline="0" dirty="0">
                          <a:ln>
                            <a:noFill/>
                          </a:ln>
                          <a:solidFill>
                            <a:schemeClr val="tx1"/>
                          </a:solidFill>
                          <a:effectLst/>
                          <a:latin typeface="Arial" panose="020B0604020202020204" pitchFamily="34" charset="0"/>
                          <a:ea typeface="Arial" panose="020B0600000101010101" pitchFamily="50" charset="-127"/>
                          <a:cs typeface="Arial" panose="020B0604020202020204" pitchFamily="34" charset="0"/>
                        </a:rPr>
                        <a:t>IVI LD</a:t>
                      </a:r>
                    </a:p>
                    <a:p>
                      <a:pPr marL="0" marR="0" lvl="0" indent="0" algn="ctr" defTabSz="914400" rtl="0" eaLnBrk="1" fontAlgn="base" latinLnBrk="0" hangingPunct="1">
                        <a:lnSpc>
                          <a:spcPct val="100000"/>
                        </a:lnSpc>
                        <a:spcBef>
                          <a:spcPct val="0"/>
                        </a:spcBef>
                        <a:spcAft>
                          <a:spcPct val="0"/>
                        </a:spcAft>
                        <a:buClrTx/>
                        <a:buSzTx/>
                        <a:buFontTx/>
                        <a:buNone/>
                        <a:tabLst/>
                      </a:pPr>
                      <a:endParaRPr kumimoji="1" lang="en-US" altLang="ko-KR" sz="1000" b="0" i="0" u="none" strike="noStrike" cap="none" normalizeH="0" baseline="0" dirty="0">
                        <a:ln>
                          <a:noFill/>
                        </a:ln>
                        <a:solidFill>
                          <a:schemeClr val="tx1"/>
                        </a:solidFill>
                        <a:effectLst/>
                        <a:latin typeface="Arial" panose="020B0604020202020204" pitchFamily="34" charset="0"/>
                        <a:ea typeface="LG스마트체 Regular" panose="020B0600000101010101" pitchFamily="50" charset="-127"/>
                        <a:cs typeface="Arial" panose="020B0604020202020204" pitchFamily="34" charset="0"/>
                      </a:endParaRPr>
                    </a:p>
                  </a:txBody>
                  <a:tcPr marL="36000" marR="36000" marT="18000" marB="1800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eaLnBrk="1" latinLnBrk="0"/>
                      <a:r>
                        <a:rPr sz="1000" b="0" dirty="0">
                          <a:latin typeface="Arial"/>
                        </a:rPr>
                        <a:t>Nguyen Duc Long</a:t>
                      </a:r>
                    </a:p>
                  </a:txBody>
                  <a:tcPr marL="36000" marR="36000" marT="36000" marB="3600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80000"/>
                        </a:lnSpc>
                        <a:spcBef>
                          <a:spcPct val="20000"/>
                        </a:spcBef>
                        <a:spcAft>
                          <a:spcPct val="0"/>
                        </a:spcAft>
                        <a:buClrTx/>
                        <a:buSzTx/>
                        <a:buFontTx/>
                        <a:buNone/>
                        <a:tabLst/>
                      </a:pPr>
                      <a:r>
                        <a:rPr kumimoji="1" lang="en-US" altLang="ko-KR" sz="1000" b="0" i="0" u="none" strike="noStrike" cap="none" normalizeH="0" baseline="0" dirty="0">
                          <a:ln>
                            <a:noFill/>
                          </a:ln>
                          <a:solidFill>
                            <a:schemeClr val="tx1"/>
                          </a:solidFill>
                          <a:effectLst/>
                          <a:latin typeface="Arial" panose="020B0604020202020204" pitchFamily="34" charset="0"/>
                          <a:ea typeface="Arial" panose="020B0600000101010101" pitchFamily="50" charset="-127"/>
                          <a:cs typeface="Arial" panose="020B0604020202020204" pitchFamily="34" charset="0"/>
                        </a:rPr>
                        <a:t>Task leader</a:t>
                      </a:r>
                    </a:p>
                  </a:txBody>
                  <a:tcPr marL="36000" marR="36000" marT="36000" marB="3600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250159">
                <a:tc vMerge="1">
                  <a:txBody>
                    <a:bodyPr/>
                    <a:lstStyle/>
                    <a:p>
                      <a:pPr marL="0" marR="0" lvl="0" indent="0" algn="ctr" defTabSz="914400" rtl="0" eaLnBrk="1" fontAlgn="base" latinLnBrk="0" hangingPunct="1">
                        <a:lnSpc>
                          <a:spcPct val="100000"/>
                        </a:lnSpc>
                        <a:spcBef>
                          <a:spcPct val="0"/>
                        </a:spcBef>
                        <a:spcAft>
                          <a:spcPct val="0"/>
                        </a:spcAft>
                        <a:buClrTx/>
                        <a:buSzTx/>
                        <a:buFontTx/>
                        <a:buNone/>
                        <a:tabLst/>
                      </a:pPr>
                      <a:endParaRPr kumimoji="1" lang="en-US" altLang="ko-KR" sz="1000" b="0" i="0" u="none" strike="noStrike" cap="none" normalizeH="0" baseline="0" dirty="0">
                        <a:ln>
                          <a:noFill/>
                        </a:ln>
                        <a:solidFill>
                          <a:schemeClr val="tx1"/>
                        </a:solidFill>
                        <a:effectLst/>
                        <a:latin typeface="LG스마트체 Regular" panose="020B0600000101010101" pitchFamily="50" charset="-127"/>
                        <a:ea typeface="LG스마트체 Regular" panose="020B0600000101010101" pitchFamily="50" charset="-127"/>
                      </a:endParaRPr>
                    </a:p>
                  </a:txBody>
                  <a:tcPr marL="36000" marR="36000" marT="18000" marB="1800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80000"/>
                        </a:lnSpc>
                        <a:spcBef>
                          <a:spcPct val="20000"/>
                        </a:spcBef>
                        <a:spcAft>
                          <a:spcPct val="0"/>
                        </a:spcAft>
                        <a:buClrTx/>
                        <a:buSzTx/>
                        <a:buFontTx/>
                        <a:buNone/>
                        <a:tabLst/>
                      </a:pPr>
                      <a:r>
                        <a:rPr kumimoji="1" lang="en-US" altLang="ko-KR" sz="1000" b="0" i="0" u="none" strike="noStrike" cap="none" normalizeH="0" baseline="0" dirty="0">
                          <a:ln>
                            <a:noFill/>
                          </a:ln>
                          <a:solidFill>
                            <a:schemeClr val="tx1"/>
                          </a:solidFill>
                          <a:effectLst/>
                          <a:latin typeface="Arial" panose="020B0604020202020204" pitchFamily="34" charset="0"/>
                          <a:ea typeface="Arial" panose="020B0600000101010101" pitchFamily="50" charset="-127"/>
                          <a:cs typeface="Arial" panose="020B0604020202020204" pitchFamily="34" charset="0"/>
                        </a:rPr>
                        <a:t>Hoang Nhan Quoc</a:t>
                      </a:r>
                    </a:p>
                  </a:txBody>
                  <a:tcPr marL="36000" marR="36000" marT="36000" marB="3600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80000"/>
                        </a:lnSpc>
                        <a:spcBef>
                          <a:spcPct val="20000"/>
                        </a:spcBef>
                        <a:spcAft>
                          <a:spcPct val="0"/>
                        </a:spcAft>
                        <a:buClrTx/>
                        <a:buSzTx/>
                        <a:buFontTx/>
                        <a:buNone/>
                        <a:tabLst/>
                        <a:defRPr/>
                      </a:pPr>
                      <a:r>
                        <a:rPr kumimoji="1" lang="vi-VN" altLang="ko-KR" sz="1000" b="0" i="0" u="none" strike="noStrike" cap="none" normalizeH="0" baseline="0" dirty="0">
                          <a:ln>
                            <a:noFill/>
                          </a:ln>
                          <a:solidFill>
                            <a:schemeClr val="tx1"/>
                          </a:solidFill>
                          <a:effectLst/>
                          <a:latin typeface="Arial" panose="020B0604020202020204" pitchFamily="34" charset="0"/>
                          <a:ea typeface="Arial" panose="020B0600000101010101" pitchFamily="50" charset="-127"/>
                          <a:cs typeface="Arial" panose="020B0604020202020204" pitchFamily="34" charset="0"/>
                        </a:rPr>
                        <a:t>Member</a:t>
                      </a:r>
                      <a:endParaRPr kumimoji="1" lang="en-US" altLang="ko-KR" sz="1000" b="0" i="0" u="none" strike="noStrike" cap="none" normalizeH="0" baseline="0" dirty="0">
                        <a:ln>
                          <a:noFill/>
                        </a:ln>
                        <a:solidFill>
                          <a:schemeClr val="tx1"/>
                        </a:solidFill>
                        <a:effectLst/>
                        <a:latin typeface="Arial" panose="020B0604020202020204" pitchFamily="34" charset="0"/>
                        <a:ea typeface="LG스마트체 Regular" panose="020B0600000101010101" pitchFamily="50" charset="-127"/>
                        <a:cs typeface="Arial" panose="020B0604020202020204" pitchFamily="34" charset="0"/>
                      </a:endParaRPr>
                    </a:p>
                  </a:txBody>
                  <a:tcPr marL="36000" marR="36000" marT="36000" marB="3600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250159">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1" lang="en-US" altLang="ko-KR" sz="1000" b="0" i="0" u="none" strike="noStrike" cap="none" normalizeH="0" baseline="0" dirty="0">
                          <a:ln>
                            <a:noFill/>
                          </a:ln>
                          <a:solidFill>
                            <a:schemeClr val="tx1"/>
                          </a:solidFill>
                          <a:effectLst/>
                          <a:latin typeface="Arial" panose="020B0604020202020204" pitchFamily="34" charset="0"/>
                          <a:ea typeface="Arial" panose="020B0600000101010101" pitchFamily="50" charset="-127"/>
                          <a:cs typeface="Arial" panose="020B0604020202020204" pitchFamily="34" charset="0"/>
                        </a:rPr>
                        <a:t>IVI PE</a:t>
                      </a:r>
                    </a:p>
                  </a:txBody>
                  <a:tcPr marL="36000" marR="36000" marT="18000" marB="1800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80000"/>
                        </a:lnSpc>
                        <a:spcBef>
                          <a:spcPct val="20000"/>
                        </a:spcBef>
                        <a:spcAft>
                          <a:spcPct val="0"/>
                        </a:spcAft>
                        <a:buClrTx/>
                        <a:buSzTx/>
                        <a:buFontTx/>
                        <a:buNone/>
                        <a:tabLst/>
                      </a:pPr>
                      <a:r>
                        <a:rPr kumimoji="1" lang="en-US" altLang="ko-KR" sz="1000" b="0" i="0" u="none" strike="noStrike" cap="none" normalizeH="0" baseline="0" dirty="0">
                          <a:ln>
                            <a:noFill/>
                          </a:ln>
                          <a:solidFill>
                            <a:schemeClr val="tx1"/>
                          </a:solidFill>
                          <a:effectLst/>
                          <a:latin typeface="Arial" panose="020B0604020202020204" pitchFamily="34" charset="0"/>
                          <a:ea typeface="Arial" panose="020B0600000101010101" pitchFamily="50" charset="-127"/>
                          <a:cs typeface="Arial" panose="020B0604020202020204" pitchFamily="34" charset="0"/>
                        </a:rPr>
                        <a:t>Pham Van Hung</a:t>
                      </a:r>
                    </a:p>
                  </a:txBody>
                  <a:tcPr marL="36000" marR="36000" marT="36000" marB="3600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80000"/>
                        </a:lnSpc>
                        <a:spcBef>
                          <a:spcPct val="20000"/>
                        </a:spcBef>
                        <a:spcAft>
                          <a:spcPct val="0"/>
                        </a:spcAft>
                        <a:buClrTx/>
                        <a:buSzTx/>
                        <a:buFontTx/>
                        <a:buNone/>
                        <a:tabLst/>
                        <a:defRPr/>
                      </a:pPr>
                      <a:r>
                        <a:rPr kumimoji="1" lang="vi-VN" altLang="ko-KR" sz="1000" b="0" i="0" u="none" strike="noStrike" cap="none" normalizeH="0" baseline="0" dirty="0">
                          <a:ln>
                            <a:noFill/>
                          </a:ln>
                          <a:solidFill>
                            <a:schemeClr val="tx1"/>
                          </a:solidFill>
                          <a:effectLst/>
                          <a:latin typeface="Arial" panose="020B0604020202020204" pitchFamily="34" charset="0"/>
                          <a:ea typeface="Arial" panose="020B0600000101010101" pitchFamily="50" charset="-127"/>
                          <a:cs typeface="Arial" panose="020B0604020202020204" pitchFamily="34" charset="0"/>
                        </a:rPr>
                        <a:t>Member</a:t>
                      </a:r>
                      <a:endParaRPr kumimoji="1" lang="en-US" altLang="ko-KR" sz="1000" b="0" i="0" u="none" strike="noStrike" cap="none" normalizeH="0" baseline="0" dirty="0">
                        <a:ln>
                          <a:noFill/>
                        </a:ln>
                        <a:solidFill>
                          <a:schemeClr val="tx1"/>
                        </a:solidFill>
                        <a:effectLst/>
                        <a:latin typeface="Arial" panose="020B0604020202020204" pitchFamily="34" charset="0"/>
                        <a:ea typeface="LG스마트체 Regular" panose="020B0600000101010101" pitchFamily="50" charset="-127"/>
                        <a:cs typeface="Arial" panose="020B0604020202020204" pitchFamily="34" charset="0"/>
                      </a:endParaRPr>
                    </a:p>
                  </a:txBody>
                  <a:tcPr marL="36000" marR="36000" marT="36000" marB="3600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954292548"/>
                  </a:ext>
                </a:extLst>
              </a:tr>
              <a:tr h="250159">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1" lang="en-US" altLang="ko-KR" sz="1000" b="0" i="0" u="none" strike="noStrike" cap="none" normalizeH="0" baseline="0" dirty="0">
                          <a:ln>
                            <a:noFill/>
                          </a:ln>
                          <a:solidFill>
                            <a:schemeClr val="tx1"/>
                          </a:solidFill>
                          <a:effectLst/>
                          <a:latin typeface="Arial" panose="020B0604020202020204" pitchFamily="34" charset="0"/>
                          <a:ea typeface="Arial" panose="020B0600000101010101" pitchFamily="50" charset="-127"/>
                          <a:cs typeface="Arial" panose="020B0604020202020204" pitchFamily="34" charset="0"/>
                        </a:rPr>
                        <a:t>IVI PM</a:t>
                      </a:r>
                    </a:p>
                  </a:txBody>
                  <a:tcPr marL="36000" marR="36000" marT="18000" marB="1800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80000"/>
                        </a:lnSpc>
                        <a:spcBef>
                          <a:spcPct val="20000"/>
                        </a:spcBef>
                        <a:spcAft>
                          <a:spcPct val="0"/>
                        </a:spcAft>
                        <a:buClrTx/>
                        <a:buSzTx/>
                        <a:buFontTx/>
                        <a:buNone/>
                        <a:tabLst/>
                      </a:pPr>
                      <a:r>
                        <a:rPr kumimoji="1" lang="en-US" altLang="ko-KR" sz="1000" b="0" i="0" u="none" strike="noStrike" cap="none" normalizeH="0" baseline="0" dirty="0">
                          <a:ln>
                            <a:noFill/>
                          </a:ln>
                          <a:solidFill>
                            <a:schemeClr val="tx1"/>
                          </a:solidFill>
                          <a:effectLst/>
                          <a:latin typeface="Arial" panose="020B0604020202020204" pitchFamily="34" charset="0"/>
                          <a:ea typeface="Arial" panose="020B0600000101010101" pitchFamily="50" charset="-127"/>
                          <a:cs typeface="Arial" panose="020B0604020202020204" pitchFamily="34" charset="0"/>
                        </a:rPr>
                        <a:t>Ta Van Cong</a:t>
                      </a:r>
                    </a:p>
                  </a:txBody>
                  <a:tcPr marL="36000" marR="36000" marT="36000" marB="3600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80000"/>
                        </a:lnSpc>
                        <a:spcBef>
                          <a:spcPct val="20000"/>
                        </a:spcBef>
                        <a:spcAft>
                          <a:spcPct val="0"/>
                        </a:spcAft>
                        <a:buClrTx/>
                        <a:buSzTx/>
                        <a:buFontTx/>
                        <a:buNone/>
                        <a:tabLst/>
                        <a:defRPr/>
                      </a:pPr>
                      <a:r>
                        <a:rPr kumimoji="1" lang="vi-VN" altLang="ko-KR" sz="1000" b="0" i="0" u="none" strike="noStrike" cap="none" normalizeH="0" baseline="0" dirty="0">
                          <a:ln>
                            <a:noFill/>
                          </a:ln>
                          <a:solidFill>
                            <a:schemeClr val="tx1"/>
                          </a:solidFill>
                          <a:effectLst/>
                          <a:latin typeface="Arial" panose="020B0604020202020204" pitchFamily="34" charset="0"/>
                          <a:ea typeface="Arial" panose="020B0600000101010101" pitchFamily="50" charset="-127"/>
                          <a:cs typeface="Arial" panose="020B0604020202020204" pitchFamily="34" charset="0"/>
                        </a:rPr>
                        <a:t>Member</a:t>
                      </a:r>
                      <a:endParaRPr kumimoji="1" lang="en-US" altLang="ko-KR" sz="1000" b="0" i="0" u="none" strike="noStrike" cap="none" normalizeH="0" baseline="0" dirty="0">
                        <a:ln>
                          <a:noFill/>
                        </a:ln>
                        <a:solidFill>
                          <a:schemeClr val="tx1"/>
                        </a:solidFill>
                        <a:effectLst/>
                        <a:latin typeface="Arial" panose="020B0604020202020204" pitchFamily="34" charset="0"/>
                        <a:ea typeface="LG스마트체 Regular" panose="020B0600000101010101" pitchFamily="50" charset="-127"/>
                        <a:cs typeface="Arial" panose="020B0604020202020204" pitchFamily="34" charset="0"/>
                      </a:endParaRPr>
                    </a:p>
                  </a:txBody>
                  <a:tcPr marL="36000" marR="36000" marT="36000" marB="3600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4056803826"/>
                  </a:ext>
                </a:extLst>
              </a:tr>
            </a:tbl>
          </a:graphicData>
        </a:graphic>
      </p:graphicFrame>
    </p:spTree>
    <p:extLst>
      <p:ext uri="{BB962C8B-B14F-4D97-AF65-F5344CB8AC3E}">
        <p14:creationId xmlns:p14="http://schemas.microsoft.com/office/powerpoint/2010/main" val="359365400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3" name="그림 1">
            <a:extLst>
              <a:ext uri="{FF2B5EF4-FFF2-40B4-BE49-F238E27FC236}">
                <a16:creationId xmlns:a16="http://schemas.microsoft.com/office/drawing/2014/main" id="{3BB4269D-C4B5-4018-8DB1-D3AE9D1DDFD9}"/>
              </a:ext>
            </a:extLst>
          </p:cNvPr>
          <p:cNvPicPr>
            <a:picLocks noChangeAspect="1"/>
          </p:cNvPicPr>
          <p:nvPr/>
        </p:nvPicPr>
        <p:blipFill>
          <a:blip r:embed="rId3"/>
          <a:stretch>
            <a:fillRect/>
          </a:stretch>
        </p:blipFill>
        <p:spPr>
          <a:xfrm>
            <a:off x="6403517" y="89801"/>
            <a:ext cx="3501891" cy="444992"/>
          </a:xfrm>
          <a:prstGeom prst="rect">
            <a:avLst/>
          </a:prstGeom>
        </p:spPr>
      </p:pic>
      <p:sp>
        <p:nvSpPr>
          <p:cNvPr id="64" name="제목 1">
            <a:extLst>
              <a:ext uri="{FF2B5EF4-FFF2-40B4-BE49-F238E27FC236}">
                <a16:creationId xmlns:a16="http://schemas.microsoft.com/office/drawing/2014/main" id="{9047FC76-DD99-4806-9048-DFF9426B47AE}"/>
              </a:ext>
            </a:extLst>
          </p:cNvPr>
          <p:cNvSpPr txBox="1">
            <a:spLocks/>
          </p:cNvSpPr>
          <p:nvPr/>
        </p:nvSpPr>
        <p:spPr bwMode="auto">
          <a:xfrm>
            <a:off x="1609" y="100364"/>
            <a:ext cx="7496175" cy="431800"/>
          </a:xfrm>
          <a:prstGeom prst="rect">
            <a:avLst/>
          </a:prstGeom>
          <a:noFill/>
          <a:ln w="9525">
            <a:noFill/>
            <a:miter lim="800000"/>
            <a:headEnd/>
            <a:tailEnd/>
          </a:ln>
        </p:spPr>
        <p:txBody>
          <a:bodyPr anchor="ctr"/>
          <a:lstStyle/>
          <a:p>
            <a:pPr eaLnBrk="1" latinLnBrk="0" hangingPunct="0">
              <a:defRPr/>
            </a:pPr>
            <a:r>
              <a:rPr lang="en-US" altLang="ko-KR" sz="1600" b="1" kern="0" dirty="0">
                <a:latin typeface="Arial Narrow" panose="020B0606020202030204" pitchFamily="34" charset="0"/>
                <a:ea typeface="Arial" panose="020B0600000101010101" pitchFamily="50" charset="-127"/>
              </a:rPr>
              <a:t>1.1 Define issue</a:t>
            </a:r>
            <a:endParaRPr lang="ko-KR" altLang="en-US" sz="1800" b="1" kern="0" dirty="0">
              <a:latin typeface="Arial Narrow" panose="020B0606020202030204" pitchFamily="34" charset="0"/>
              <a:ea typeface="LG스마트체 Regular" panose="020B0600000101010101" pitchFamily="50" charset="-127"/>
              <a:cs typeface="+mj-cs"/>
            </a:endParaRPr>
          </a:p>
        </p:txBody>
      </p:sp>
      <p:cxnSp>
        <p:nvCxnSpPr>
          <p:cNvPr id="85" name="Straight Connector 84">
            <a:extLst>
              <a:ext uri="{FF2B5EF4-FFF2-40B4-BE49-F238E27FC236}">
                <a16:creationId xmlns:a16="http://schemas.microsoft.com/office/drawing/2014/main" id="{5EF0FF8F-362D-491A-8F52-0E1B0A8C2FE8}"/>
              </a:ext>
            </a:extLst>
          </p:cNvPr>
          <p:cNvCxnSpPr/>
          <p:nvPr/>
        </p:nvCxnSpPr>
        <p:spPr>
          <a:xfrm>
            <a:off x="-592" y="532164"/>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227" name="TextBox 226">
            <a:extLst>
              <a:ext uri="{FF2B5EF4-FFF2-40B4-BE49-F238E27FC236}">
                <a16:creationId xmlns:a16="http://schemas.microsoft.com/office/drawing/2014/main" id="{9FBE9D8E-4B25-4138-A998-98CA80DFC0D8}"/>
              </a:ext>
            </a:extLst>
          </p:cNvPr>
          <p:cNvSpPr txBox="1"/>
          <p:nvPr/>
        </p:nvSpPr>
        <p:spPr>
          <a:xfrm>
            <a:off x="63733" y="856800"/>
            <a:ext cx="3305091" cy="246221"/>
          </a:xfrm>
          <a:prstGeom prst="rect">
            <a:avLst/>
          </a:prstGeom>
          <a:noFill/>
        </p:spPr>
        <p:txBody>
          <a:bodyPr wrap="square" rtlCol="0">
            <a:noAutofit/>
          </a:bodyPr>
          <a:lstStyle/>
          <a:p>
            <a:pPr eaLnBrk="1" latinLnBrk="0"/>
            <a:r>
              <a:rPr lang="en-US" altLang="en-US" sz="1000" dirty="0">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rPr>
              <a:t>- Improve Luminance value</a:t>
            </a:r>
          </a:p>
        </p:txBody>
      </p:sp>
      <p:sp>
        <p:nvSpPr>
          <p:cNvPr id="228" name="Slide Number Placeholder 4">
            <a:extLst>
              <a:ext uri="{FF2B5EF4-FFF2-40B4-BE49-F238E27FC236}">
                <a16:creationId xmlns:a16="http://schemas.microsoft.com/office/drawing/2014/main" id="{8BEED19C-E20A-4522-AB67-2EFCA2708530}"/>
              </a:ext>
            </a:extLst>
          </p:cNvPr>
          <p:cNvSpPr>
            <a:spLocks noGrp="1"/>
          </p:cNvSpPr>
          <p:nvPr>
            <p:ph type="sldNum" sz="quarter" idx="12"/>
          </p:nvPr>
        </p:nvSpPr>
        <p:spPr>
          <a:xfrm>
            <a:off x="3700326" y="6643499"/>
            <a:ext cx="2133600" cy="198047"/>
          </a:xfrm>
        </p:spPr>
        <p:txBody>
          <a:bodyPr/>
          <a:lstStyle/>
          <a:p>
            <a:pPr algn="ctr" eaLnBrk="1" latinLnBrk="0"/>
            <a:r>
              <a:rPr sz="1000" b="0">
                <a:latin typeface="Arial"/>
              </a:rPr>
              <a:t>03 / 33</a:t>
            </a:r>
          </a:p>
          <a:p>
            <a:pPr algn="ctr" eaLnBrk="1" latinLnBrk="0"/>
            <a:endParaRPr lang="ko-KR" altLang="en-US" sz="1200" dirty="0">
              <a:solidFill>
                <a:prstClr val="black">
                  <a:tint val="75000"/>
                </a:prstClr>
              </a:solidFill>
              <a:latin typeface="Arial" panose="020B0604020202020204" pitchFamily="34" charset="0"/>
              <a:ea typeface="Arial Unicode MS" panose="020B0604020202020204" pitchFamily="34" charset="-128"/>
              <a:cs typeface="Arial" panose="020B0604020202020204" pitchFamily="34" charset="0"/>
            </a:endParaRPr>
          </a:p>
        </p:txBody>
      </p:sp>
      <p:sp>
        <p:nvSpPr>
          <p:cNvPr id="54" name="TextBox 53">
            <a:extLst>
              <a:ext uri="{FF2B5EF4-FFF2-40B4-BE49-F238E27FC236}">
                <a16:creationId xmlns:a16="http://schemas.microsoft.com/office/drawing/2014/main" id="{C7A10347-881C-49A1-8C74-C34608E19682}"/>
              </a:ext>
            </a:extLst>
          </p:cNvPr>
          <p:cNvSpPr txBox="1"/>
          <p:nvPr/>
        </p:nvSpPr>
        <p:spPr>
          <a:xfrm>
            <a:off x="63733" y="600385"/>
            <a:ext cx="1584176" cy="234000"/>
          </a:xfrm>
          <a:prstGeom prst="rect">
            <a:avLst/>
          </a:prstGeom>
          <a:noFill/>
        </p:spPr>
        <p:txBody>
          <a:bodyPr wrap="square" rtlCol="0">
            <a:noAutofit/>
          </a:bodyPr>
          <a:lstStyle/>
          <a:p>
            <a:pPr marL="171450" indent="-171450" eaLnBrk="1" latinLnBrk="0">
              <a:buFont typeface="Wingdings" panose="05000000000000000000" pitchFamily="2" charset="2"/>
              <a:buChar char="q"/>
            </a:pPr>
            <a:r>
              <a:rPr lang="en-US" sz="1000" b="1" dirty="0">
                <a:latin typeface="Arial" panose="020B0604020202020204" pitchFamily="34" charset="0"/>
                <a:ea typeface="Arial Unicode MS" panose="020B0604020202020204" pitchFamily="34" charset="-128"/>
                <a:cs typeface="Arial" panose="020B0604020202020204" pitchFamily="34" charset="0"/>
              </a:rPr>
              <a:t>Project name</a:t>
            </a:r>
          </a:p>
        </p:txBody>
      </p:sp>
      <p:sp>
        <p:nvSpPr>
          <p:cNvPr id="55" name="TextBox 54">
            <a:extLst>
              <a:ext uri="{FF2B5EF4-FFF2-40B4-BE49-F238E27FC236}">
                <a16:creationId xmlns:a16="http://schemas.microsoft.com/office/drawing/2014/main" id="{D6297210-A509-431E-8EC6-5008A74AEF62}"/>
              </a:ext>
            </a:extLst>
          </p:cNvPr>
          <p:cNvSpPr txBox="1"/>
          <p:nvPr/>
        </p:nvSpPr>
        <p:spPr>
          <a:xfrm>
            <a:off x="80857" y="1336681"/>
            <a:ext cx="1584176" cy="276999"/>
          </a:xfrm>
          <a:prstGeom prst="rect">
            <a:avLst/>
          </a:prstGeom>
          <a:noFill/>
        </p:spPr>
        <p:txBody>
          <a:bodyPr wrap="square" rtlCol="0">
            <a:spAutoFit/>
          </a:bodyPr>
          <a:lstStyle/>
          <a:p>
            <a:pPr marL="171450" indent="-171450" eaLnBrk="1" latinLnBrk="0">
              <a:buFont typeface="Wingdings" panose="05000000000000000000" pitchFamily="2" charset="2"/>
              <a:buChar char="q"/>
            </a:pPr>
            <a:r>
              <a:rPr lang="en-US" sz="1000" b="1" dirty="0">
                <a:latin typeface="Arial" panose="020B0604020202020204" pitchFamily="34" charset="0"/>
                <a:ea typeface="Arial Unicode MS" panose="020B0604020202020204" pitchFamily="34" charset="-128"/>
                <a:cs typeface="Arial" panose="020B0604020202020204" pitchFamily="34" charset="0"/>
              </a:rPr>
              <a:t>Purpose</a:t>
            </a:r>
          </a:p>
        </p:txBody>
      </p:sp>
      <p:sp>
        <p:nvSpPr>
          <p:cNvPr id="56" name="TextBox 55">
            <a:extLst>
              <a:ext uri="{FF2B5EF4-FFF2-40B4-BE49-F238E27FC236}">
                <a16:creationId xmlns:a16="http://schemas.microsoft.com/office/drawing/2014/main" id="{322CCB2E-06CF-4ED8-B0F3-BD65641F9F6C}"/>
              </a:ext>
            </a:extLst>
          </p:cNvPr>
          <p:cNvSpPr txBox="1"/>
          <p:nvPr/>
        </p:nvSpPr>
        <p:spPr>
          <a:xfrm>
            <a:off x="87735" y="1613680"/>
            <a:ext cx="7906725" cy="246221"/>
          </a:xfrm>
          <a:prstGeom prst="rect">
            <a:avLst/>
          </a:prstGeom>
          <a:noFill/>
        </p:spPr>
        <p:txBody>
          <a:bodyPr wrap="square" rtlCol="0">
            <a:spAutoFit/>
          </a:bodyPr>
          <a:lstStyle/>
          <a:p>
            <a:pPr eaLnBrk="1" latinLnBrk="0"/>
            <a:r>
              <a:rPr lang="en-US" altLang="en-US" sz="1000" dirty="0">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rPr>
              <a:t>- Reduce the Luminance NG rate of Porsche CID J1 Dual from 226,624 ppm to 0 ppm (stretch goal) by making the Luminance measurement reliable: Luminance value inside spec 800-2000 Cd/m² with Cpk ≥ 1.33.</a:t>
            </a:r>
          </a:p>
        </p:txBody>
      </p:sp>
      <p:sp>
        <p:nvSpPr>
          <p:cNvPr id="57" name="TextBox 56">
            <a:extLst>
              <a:ext uri="{FF2B5EF4-FFF2-40B4-BE49-F238E27FC236}">
                <a16:creationId xmlns:a16="http://schemas.microsoft.com/office/drawing/2014/main" id="{F444CB0D-9539-4103-A2E2-F229C96A5C26}"/>
              </a:ext>
            </a:extLst>
          </p:cNvPr>
          <p:cNvSpPr txBox="1"/>
          <p:nvPr/>
        </p:nvSpPr>
        <p:spPr>
          <a:xfrm>
            <a:off x="63733" y="2077577"/>
            <a:ext cx="1584176" cy="276999"/>
          </a:xfrm>
          <a:prstGeom prst="rect">
            <a:avLst/>
          </a:prstGeom>
          <a:noFill/>
        </p:spPr>
        <p:txBody>
          <a:bodyPr wrap="square" rtlCol="0">
            <a:spAutoFit/>
          </a:bodyPr>
          <a:lstStyle/>
          <a:p>
            <a:pPr marL="171450" indent="-171450" eaLnBrk="1" latinLnBrk="0">
              <a:buFont typeface="Wingdings" panose="05000000000000000000" pitchFamily="2" charset="2"/>
              <a:buChar char="q"/>
            </a:pPr>
            <a:r>
              <a:rPr lang="en-US" sz="1000" b="1" dirty="0">
                <a:latin typeface="Arial" panose="020B0604020202020204" pitchFamily="34" charset="0"/>
                <a:ea typeface="Arial Unicode MS" panose="020B0604020202020204" pitchFamily="34" charset="-128"/>
                <a:cs typeface="Arial" panose="020B0604020202020204" pitchFamily="34" charset="0"/>
              </a:rPr>
              <a:t>Outline</a:t>
            </a:r>
          </a:p>
        </p:txBody>
      </p:sp>
      <p:sp>
        <p:nvSpPr>
          <p:cNvPr id="58" name="TextBox 57">
            <a:extLst>
              <a:ext uri="{FF2B5EF4-FFF2-40B4-BE49-F238E27FC236}">
                <a16:creationId xmlns:a16="http://schemas.microsoft.com/office/drawing/2014/main" id="{D0CDD59F-EB79-4D2B-849B-B6645F4A5717}"/>
              </a:ext>
            </a:extLst>
          </p:cNvPr>
          <p:cNvSpPr txBox="1"/>
          <p:nvPr/>
        </p:nvSpPr>
        <p:spPr>
          <a:xfrm>
            <a:off x="63733" y="2354576"/>
            <a:ext cx="9613667" cy="707886"/>
          </a:xfrm>
          <a:prstGeom prst="rect">
            <a:avLst/>
          </a:prstGeom>
          <a:noFill/>
        </p:spPr>
        <p:txBody>
          <a:bodyPr wrap="square" rtlCol="0">
            <a:spAutoFit/>
          </a:bodyPr>
          <a:lstStyle/>
          <a:p>
            <a:pPr eaLnBrk="1" latinLnBrk="0"/>
            <a:r>
              <a:rPr sz="1000" b="0" dirty="0">
                <a:latin typeface="Arial"/>
              </a:rPr>
              <a:t>- If the Luminance measurement problem keeps happening, sets are held and retested at the Luminance station, which leads to line loss time and failure to meet the line UPH.</a:t>
            </a:r>
          </a:p>
          <a:p>
            <a:pPr eaLnBrk="1" latinLnBrk="0"/>
            <a:r>
              <a:rPr sz="1000" b="0" dirty="0">
                <a:latin typeface="Arial"/>
              </a:rPr>
              <a:t>- Delayed checking leaves unfinished production on line IVI5. NG LCDs are also sent back to the supplier (HEESUNG) for retest and scrap, which leads to extra scrap cost (1 LCD = 118.72$; March: 19 pcs = 2,255.68$).</a:t>
            </a:r>
          </a:p>
          <a:p>
            <a:pPr eaLnBrk="1" latinLnBrk="0"/>
            <a:r>
              <a:rPr lang="en-US" altLang="en-US" sz="1000" dirty="0">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rPr>
              <a:t> To prevent this in advance, we selected this topic as a Six Sigma GB task: improve the luminance measurement performance from the mass production stage and reduce the cost for the factory to the minimum.</a:t>
            </a:r>
          </a:p>
        </p:txBody>
      </p:sp>
      <p:sp>
        <p:nvSpPr>
          <p:cNvPr id="229" name="Header Problem statement"/>
          <p:cNvSpPr txBox="1"/>
          <p:nvPr/>
        </p:nvSpPr>
        <p:spPr>
          <a:xfrm>
            <a:off x="63733" y="3543300"/>
            <a:ext cx="1584176" cy="276999"/>
          </a:xfrm>
          <a:prstGeom prst="rect">
            <a:avLst/>
          </a:prstGeom>
          <a:noFill/>
        </p:spPr>
        <p:txBody>
          <a:bodyPr wrap="square" rtlCol="0">
            <a:spAutoFit/>
          </a:bodyPr>
          <a:lstStyle/>
          <a:p>
            <a:pPr marL="171450" indent="-171450" eaLnBrk="1" latinLnBrk="0">
              <a:buFont typeface="Wingdings" panose="05000000000000000000" pitchFamily="2" charset="2"/>
              <a:buChar char="q"/>
            </a:pPr>
            <a:r>
              <a:rPr lang="en-US" sz="1000" b="1" dirty="0">
                <a:latin typeface="Arial" panose="020B0604020202020204" pitchFamily="34" charset="0"/>
                <a:ea typeface="Arial Unicode MS" panose="020B0604020202020204" pitchFamily="34" charset="-128"/>
                <a:cs typeface="Arial" panose="020B0604020202020204" pitchFamily="34" charset="0"/>
              </a:rPr>
              <a:t>Problem statement</a:t>
            </a:r>
          </a:p>
        </p:txBody>
      </p:sp>
      <p:sp>
        <p:nvSpPr>
          <p:cNvPr id="230" name="Added text 230"/>
          <p:cNvSpPr txBox="1"/>
          <p:nvPr/>
        </p:nvSpPr>
        <p:spPr>
          <a:xfrm>
            <a:off x="66675" y="3819525"/>
            <a:ext cx="9610725" cy="571500"/>
          </a:xfrm>
          <a:prstGeom prst="rect">
            <a:avLst/>
          </a:prstGeom>
          <a:noFill/>
        </p:spPr>
        <p:txBody>
          <a:bodyPr wrap="square" rtlCol="0">
            <a:noAutofit/>
          </a:bodyPr>
          <a:lstStyle/>
          <a:p>
            <a:r>
              <a:rPr lang="en-US" sz="1000" b="0" dirty="0">
                <a:solidFill>
                  <a:srgbClr val="000000"/>
                </a:solidFill>
                <a:latin typeface="Arial"/>
                <a:cs typeface="Arial"/>
              </a:rPr>
              <a:t>- From Nov.2025 to Mar.2026, 143 of 631 J1 Dual sets failed the Luminance test (226,624 ppm = 22.7%), i.e. 87.2% of all Porsche CID defects (164 / 631 sets = 260,000 ppm).</a:t>
            </a:r>
          </a:p>
          <a:p>
            <a:r>
              <a:rPr lang="en-US" sz="1000" b="0" dirty="0">
                <a:solidFill>
                  <a:srgbClr val="000000"/>
                </a:solidFill>
                <a:latin typeface="Arial"/>
                <a:cs typeface="Arial"/>
              </a:rPr>
              <a:t>- The luminance measured on the PID screen was lower than the average of the other measurements, so many sets fell below the lower spec limit of 800 Cd/m² (spec 800-2000 Cd/m²).</a:t>
            </a:r>
          </a:p>
        </p:txBody>
      </p:sp>
      <p:sp>
        <p:nvSpPr>
          <p:cNvPr id="231" name="Header Scope"/>
          <p:cNvSpPr txBox="1"/>
          <p:nvPr/>
        </p:nvSpPr>
        <p:spPr>
          <a:xfrm>
            <a:off x="63733" y="4495800"/>
            <a:ext cx="1584176" cy="276999"/>
          </a:xfrm>
          <a:prstGeom prst="rect">
            <a:avLst/>
          </a:prstGeom>
          <a:noFill/>
        </p:spPr>
        <p:txBody>
          <a:bodyPr wrap="square" rtlCol="0">
            <a:spAutoFit/>
          </a:bodyPr>
          <a:lstStyle/>
          <a:p>
            <a:pPr marL="171450" indent="-171450" eaLnBrk="1" latinLnBrk="0">
              <a:buFont typeface="Wingdings" panose="05000000000000000000" pitchFamily="2" charset="2"/>
              <a:buChar char="q"/>
            </a:pPr>
            <a:r>
              <a:rPr lang="en-US" sz="1000" b="1" dirty="0">
                <a:latin typeface="Arial" panose="020B0604020202020204" pitchFamily="34" charset="0"/>
                <a:ea typeface="Arial Unicode MS" panose="020B0604020202020204" pitchFamily="34" charset="-128"/>
                <a:cs typeface="Arial" panose="020B0604020202020204" pitchFamily="34" charset="0"/>
              </a:rPr>
              <a:t>Scope</a:t>
            </a:r>
          </a:p>
        </p:txBody>
      </p:sp>
      <p:sp>
        <p:nvSpPr>
          <p:cNvPr id="232" name="Added text 232"/>
          <p:cNvSpPr txBox="1"/>
          <p:nvPr/>
        </p:nvSpPr>
        <p:spPr>
          <a:xfrm>
            <a:off x="66675" y="4772025"/>
            <a:ext cx="9610725" cy="571500"/>
          </a:xfrm>
          <a:prstGeom prst="rect">
            <a:avLst/>
          </a:prstGeom>
          <a:noFill/>
        </p:spPr>
        <p:txBody>
          <a:bodyPr wrap="square" rtlCol="0">
            <a:noAutofit/>
          </a:bodyPr>
          <a:lstStyle/>
          <a:p>
            <a:r>
              <a:rPr lang="en-US" sz="1000" b="0" dirty="0">
                <a:solidFill>
                  <a:srgbClr val="000000"/>
                </a:solidFill>
                <a:latin typeface="Arial"/>
                <a:cs typeface="Arial"/>
              </a:rPr>
              <a:t>- In scope: Porsche CID J1 Dual, Luminance station 1 &amp; 2 (camera CS2000), IVI 5 line, LG Electronics Vietnam Hai Phong.</a:t>
            </a:r>
          </a:p>
          <a:p>
            <a:r>
              <a:rPr lang="en-US" sz="1000" b="0" dirty="0">
                <a:solidFill>
                  <a:srgbClr val="000000"/>
                </a:solidFill>
                <a:latin typeface="Arial"/>
                <a:cs typeface="Arial"/>
              </a:rPr>
              <a:t>- Out of scope: the other defect items in 1.2 (Contrast value, Haptic/Touch, Hardware 6.0%, Software 3.5%), handled by HW members and HQ R&amp;D.</a:t>
            </a:r>
          </a:p>
        </p:txBody>
      </p:sp>
    </p:spTree>
    <p:extLst>
      <p:ext uri="{BB962C8B-B14F-4D97-AF65-F5344CB8AC3E}">
        <p14:creationId xmlns:p14="http://schemas.microsoft.com/office/powerpoint/2010/main" val="35944637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3" name="그림 1">
            <a:extLst>
              <a:ext uri="{FF2B5EF4-FFF2-40B4-BE49-F238E27FC236}">
                <a16:creationId xmlns:a16="http://schemas.microsoft.com/office/drawing/2014/main" id="{3BB4269D-C4B5-4018-8DB1-D3AE9D1DDFD9}"/>
              </a:ext>
            </a:extLst>
          </p:cNvPr>
          <p:cNvPicPr>
            <a:picLocks noChangeAspect="1"/>
          </p:cNvPicPr>
          <p:nvPr/>
        </p:nvPicPr>
        <p:blipFill>
          <a:blip r:embed="rId3"/>
          <a:stretch>
            <a:fillRect/>
          </a:stretch>
        </p:blipFill>
        <p:spPr>
          <a:xfrm>
            <a:off x="6403517" y="89801"/>
            <a:ext cx="3501891" cy="444992"/>
          </a:xfrm>
          <a:prstGeom prst="rect">
            <a:avLst/>
          </a:prstGeom>
        </p:spPr>
      </p:pic>
      <p:sp>
        <p:nvSpPr>
          <p:cNvPr id="64" name="제목 1">
            <a:extLst>
              <a:ext uri="{FF2B5EF4-FFF2-40B4-BE49-F238E27FC236}">
                <a16:creationId xmlns:a16="http://schemas.microsoft.com/office/drawing/2014/main" id="{9047FC76-DD99-4806-9048-DFF9426B47AE}"/>
              </a:ext>
            </a:extLst>
          </p:cNvPr>
          <p:cNvSpPr txBox="1">
            <a:spLocks/>
          </p:cNvSpPr>
          <p:nvPr/>
        </p:nvSpPr>
        <p:spPr bwMode="auto">
          <a:xfrm>
            <a:off x="1609" y="100364"/>
            <a:ext cx="7496175" cy="431800"/>
          </a:xfrm>
          <a:prstGeom prst="rect">
            <a:avLst/>
          </a:prstGeom>
          <a:noFill/>
          <a:ln w="9525">
            <a:noFill/>
            <a:miter lim="800000"/>
            <a:headEnd/>
            <a:tailEnd/>
          </a:ln>
        </p:spPr>
        <p:txBody>
          <a:bodyPr anchor="ctr"/>
          <a:lstStyle/>
          <a:p>
            <a:pPr eaLnBrk="1" latinLnBrk="0" hangingPunct="0">
              <a:defRPr/>
            </a:pPr>
            <a:r>
              <a:rPr lang="en-US" altLang="ko-KR" sz="1600" b="1" kern="0" dirty="0">
                <a:latin typeface="Arial Narrow" panose="020B0606020202030204" pitchFamily="34" charset="0"/>
                <a:ea typeface="Arial" panose="020B0600000101010101" pitchFamily="50" charset="-127"/>
              </a:rPr>
              <a:t>1.2 Y-y breakdown</a:t>
            </a:r>
            <a:endParaRPr lang="ko-KR" altLang="en-US" sz="1800" b="1" kern="0" dirty="0">
              <a:latin typeface="Arial Narrow" panose="020B0606020202030204" pitchFamily="34" charset="0"/>
              <a:ea typeface="LG스마트체 Regular" panose="020B0600000101010101" pitchFamily="50" charset="-127"/>
              <a:cs typeface="+mj-cs"/>
            </a:endParaRPr>
          </a:p>
        </p:txBody>
      </p:sp>
      <p:graphicFrame>
        <p:nvGraphicFramePr>
          <p:cNvPr id="75" name="표 44">
            <a:extLst>
              <a:ext uri="{FF2B5EF4-FFF2-40B4-BE49-F238E27FC236}">
                <a16:creationId xmlns:a16="http://schemas.microsoft.com/office/drawing/2014/main" id="{62E95B8F-07A4-4620-864C-2FBBFA255844}"/>
              </a:ext>
            </a:extLst>
          </p:cNvPr>
          <p:cNvGraphicFramePr>
            <a:graphicFrameLocks noGrp="1"/>
          </p:cNvGraphicFramePr>
          <p:nvPr>
            <p:extLst>
              <p:ext uri="{D42A27DB-BD31-4B8C-83A1-F6EECF244321}">
                <p14:modId xmlns:p14="http://schemas.microsoft.com/office/powerpoint/2010/main" val="2929659898"/>
              </p:ext>
            </p:extLst>
          </p:nvPr>
        </p:nvGraphicFramePr>
        <p:xfrm>
          <a:off x="260401" y="703388"/>
          <a:ext cx="888407" cy="276631"/>
        </p:xfrm>
        <a:graphic>
          <a:graphicData uri="http://schemas.openxmlformats.org/drawingml/2006/table">
            <a:tbl>
              <a:tblPr/>
              <a:tblGrid>
                <a:gridCol w="888407">
                  <a:extLst>
                    <a:ext uri="{9D8B030D-6E8A-4147-A177-3AD203B41FA5}">
                      <a16:colId xmlns:a16="http://schemas.microsoft.com/office/drawing/2014/main" val="20000"/>
                    </a:ext>
                  </a:extLst>
                </a:gridCol>
              </a:tblGrid>
              <a:tr h="276631">
                <a:tc>
                  <a:txBody>
                    <a:bodyPr/>
                    <a:lstStyle/>
                    <a:p>
                      <a:pPr algn="ctr" eaLnBrk="1" latinLnBrk="0">
                        <a:defRPr/>
                      </a:pPr>
                      <a:r>
                        <a:rPr lang="en-US" altLang="ko-KR" sz="1000" b="1" dirty="0">
                          <a:latin typeface="Arial" panose="020B0600000101010101" pitchFamily="50" charset="-127"/>
                          <a:ea typeface="Arial" panose="020B0600000101010101" pitchFamily="50" charset="-127"/>
                        </a:rPr>
                        <a:t>Big Y</a:t>
                      </a:r>
                    </a:p>
                  </a:txBody>
                  <a:tcPr marL="91439" marR="91439"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lumMod val="85000"/>
                      </a:schemeClr>
                    </a:solidFill>
                  </a:tcPr>
                </a:tc>
                <a:extLst>
                  <a:ext uri="{0D108BD9-81ED-4DB2-BD59-A6C34878D82A}">
                    <a16:rowId xmlns:a16="http://schemas.microsoft.com/office/drawing/2014/main" val="10000"/>
                  </a:ext>
                </a:extLst>
              </a:tr>
            </a:tbl>
          </a:graphicData>
        </a:graphic>
      </p:graphicFrame>
      <p:graphicFrame>
        <p:nvGraphicFramePr>
          <p:cNvPr id="77" name="표 45">
            <a:extLst>
              <a:ext uri="{FF2B5EF4-FFF2-40B4-BE49-F238E27FC236}">
                <a16:creationId xmlns:a16="http://schemas.microsoft.com/office/drawing/2014/main" id="{499556D8-5147-4323-B83A-8E52DFD161DA}"/>
              </a:ext>
            </a:extLst>
          </p:cNvPr>
          <p:cNvGraphicFramePr>
            <a:graphicFrameLocks noGrp="1"/>
          </p:cNvGraphicFramePr>
          <p:nvPr>
            <p:extLst>
              <p:ext uri="{D42A27DB-BD31-4B8C-83A1-F6EECF244321}">
                <p14:modId xmlns:p14="http://schemas.microsoft.com/office/powerpoint/2010/main" val="2626578847"/>
              </p:ext>
            </p:extLst>
          </p:nvPr>
        </p:nvGraphicFramePr>
        <p:xfrm>
          <a:off x="3633320" y="715698"/>
          <a:ext cx="1189966" cy="276631"/>
        </p:xfrm>
        <a:graphic>
          <a:graphicData uri="http://schemas.openxmlformats.org/drawingml/2006/table">
            <a:tbl>
              <a:tblPr/>
              <a:tblGrid>
                <a:gridCol w="1189966">
                  <a:extLst>
                    <a:ext uri="{9D8B030D-6E8A-4147-A177-3AD203B41FA5}">
                      <a16:colId xmlns:a16="http://schemas.microsoft.com/office/drawing/2014/main" val="20000"/>
                    </a:ext>
                  </a:extLst>
                </a:gridCol>
              </a:tblGrid>
              <a:tr h="276631">
                <a:tc>
                  <a:txBody>
                    <a:bodyPr/>
                    <a:lstStyle/>
                    <a:p>
                      <a:pPr algn="ctr" eaLnBrk="1" latinLnBrk="0">
                        <a:defRPr/>
                      </a:pPr>
                      <a:r>
                        <a:rPr lang="en-US" altLang="ko-KR" sz="1000" b="1" dirty="0">
                          <a:latin typeface="Arial" panose="020B0600000101010101" pitchFamily="50" charset="-127"/>
                          <a:ea typeface="Arial" panose="020B0600000101010101" pitchFamily="50" charset="-127"/>
                        </a:rPr>
                        <a:t>Little y2</a:t>
                      </a:r>
                    </a:p>
                  </a:txBody>
                  <a:tcPr marL="91439" marR="91439"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lumMod val="85000"/>
                      </a:schemeClr>
                    </a:solidFill>
                  </a:tcPr>
                </a:tc>
                <a:extLst>
                  <a:ext uri="{0D108BD9-81ED-4DB2-BD59-A6C34878D82A}">
                    <a16:rowId xmlns:a16="http://schemas.microsoft.com/office/drawing/2014/main" val="10000"/>
                  </a:ext>
                </a:extLst>
              </a:tr>
            </a:tbl>
          </a:graphicData>
        </a:graphic>
      </p:graphicFrame>
      <p:cxnSp>
        <p:nvCxnSpPr>
          <p:cNvPr id="85" name="Straight Connector 84">
            <a:extLst>
              <a:ext uri="{FF2B5EF4-FFF2-40B4-BE49-F238E27FC236}">
                <a16:creationId xmlns:a16="http://schemas.microsoft.com/office/drawing/2014/main" id="{5EF0FF8F-362D-491A-8F52-0E1B0A8C2FE8}"/>
              </a:ext>
            </a:extLst>
          </p:cNvPr>
          <p:cNvCxnSpPr/>
          <p:nvPr/>
        </p:nvCxnSpPr>
        <p:spPr>
          <a:xfrm>
            <a:off x="-592" y="532164"/>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348" name="Straight Arrow Connector 347"/>
          <p:cNvCxnSpPr>
            <a:cxnSpLocks/>
            <a:stCxn id="68" idx="3"/>
            <a:endCxn id="104" idx="1"/>
          </p:cNvCxnSpPr>
          <p:nvPr/>
        </p:nvCxnSpPr>
        <p:spPr>
          <a:xfrm>
            <a:off x="2867767" y="1437809"/>
            <a:ext cx="771729" cy="16254"/>
          </a:xfrm>
          <a:prstGeom prst="straightConnector1">
            <a:avLst/>
          </a:prstGeom>
          <a:noFill/>
          <a:ln w="9525" cap="flat" cmpd="sng" algn="ctr">
            <a:solidFill>
              <a:srgbClr val="C00000"/>
            </a:solidFill>
            <a:prstDash val="solid"/>
            <a:round/>
            <a:headEnd type="none" w="med" len="med"/>
            <a:tailEnd type="triangle"/>
          </a:ln>
          <a:effectLst/>
        </p:spPr>
      </p:cxnSp>
      <p:sp>
        <p:nvSpPr>
          <p:cNvPr id="129" name="직사각형 124">
            <a:extLst>
              <a:ext uri="{FF2B5EF4-FFF2-40B4-BE49-F238E27FC236}">
                <a16:creationId xmlns:a16="http://schemas.microsoft.com/office/drawing/2014/main" id="{34502E28-C1BD-478D-B067-6D24CDCCF17A}"/>
              </a:ext>
            </a:extLst>
          </p:cNvPr>
          <p:cNvSpPr/>
          <p:nvPr/>
        </p:nvSpPr>
        <p:spPr>
          <a:xfrm>
            <a:off x="5442125" y="1260273"/>
            <a:ext cx="1427220" cy="395913"/>
          </a:xfrm>
          <a:prstGeom prst="rect">
            <a:avLst/>
          </a:prstGeom>
          <a:noFill/>
          <a:ln w="31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45718" rIns="0" bIns="45718" anchor="ctr"/>
          <a:lstStyle/>
          <a:p>
            <a:pPr algn="ctr" eaLnBrk="1" latinLnBrk="0"/>
            <a:r>
              <a:rPr lang="en-US" sz="1000" dirty="0">
                <a:solidFill>
                  <a:srgbClr val="000000"/>
                </a:solidFill>
                <a:latin typeface="Arial" panose="020B0604020202020204" pitchFamily="34" charset="0"/>
                <a:ea typeface="LG Smart_H Regular" panose="020B0600000101010101"/>
                <a:cs typeface="Arial" panose="020B0604020202020204" pitchFamily="34" charset="0"/>
              </a:rPr>
              <a:t>Luminance value</a:t>
            </a:r>
          </a:p>
        </p:txBody>
      </p:sp>
      <p:sp>
        <p:nvSpPr>
          <p:cNvPr id="130" name="직사각형 124">
            <a:extLst>
              <a:ext uri="{FF2B5EF4-FFF2-40B4-BE49-F238E27FC236}">
                <a16:creationId xmlns:a16="http://schemas.microsoft.com/office/drawing/2014/main" id="{13446F57-EBDE-4ECD-B078-B6D3C3C38C44}"/>
              </a:ext>
            </a:extLst>
          </p:cNvPr>
          <p:cNvSpPr/>
          <p:nvPr/>
        </p:nvSpPr>
        <p:spPr>
          <a:xfrm>
            <a:off x="5466839" y="2084721"/>
            <a:ext cx="1427220" cy="395913"/>
          </a:xfrm>
          <a:prstGeom prst="rect">
            <a:avLst/>
          </a:prstGeom>
          <a:solidFill>
            <a:schemeClr val="bg1">
              <a:lumMod val="95000"/>
            </a:schemeClr>
          </a:solidFill>
          <a:ln w="3175">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45718" rIns="0" bIns="45718" anchor="ctr"/>
          <a:lstStyle/>
          <a:p>
            <a:pPr algn="ctr" eaLnBrk="1" latinLnBrk="0"/>
            <a:r>
              <a:rPr lang="en-US" sz="1000" dirty="0">
                <a:solidFill>
                  <a:srgbClr val="000000"/>
                </a:solidFill>
                <a:latin typeface="Arial" panose="020B0604020202020204" pitchFamily="34" charset="0"/>
                <a:ea typeface="LG Smart_H Regular" panose="020B0600000101010101"/>
                <a:cs typeface="Arial" panose="020B0604020202020204" pitchFamily="34" charset="0"/>
              </a:rPr>
              <a:t>Calculate contrast value</a:t>
            </a:r>
          </a:p>
        </p:txBody>
      </p:sp>
      <p:cxnSp>
        <p:nvCxnSpPr>
          <p:cNvPr id="220" name="Straight Arrow Connector 219">
            <a:extLst>
              <a:ext uri="{FF2B5EF4-FFF2-40B4-BE49-F238E27FC236}">
                <a16:creationId xmlns:a16="http://schemas.microsoft.com/office/drawing/2014/main" id="{6349E0A9-07EC-47F5-B8C4-ED8B16151483}"/>
              </a:ext>
            </a:extLst>
          </p:cNvPr>
          <p:cNvCxnSpPr>
            <a:cxnSpLocks/>
            <a:stCxn id="104" idx="3"/>
            <a:endCxn id="129" idx="1"/>
          </p:cNvCxnSpPr>
          <p:nvPr/>
        </p:nvCxnSpPr>
        <p:spPr>
          <a:xfrm>
            <a:off x="4822973" y="1454063"/>
            <a:ext cx="619152" cy="4167"/>
          </a:xfrm>
          <a:prstGeom prst="straightConnector1">
            <a:avLst/>
          </a:prstGeom>
          <a:noFill/>
          <a:ln w="9525" cap="flat" cmpd="sng" algn="ctr">
            <a:solidFill>
              <a:srgbClr val="C00000"/>
            </a:solidFill>
            <a:prstDash val="solid"/>
            <a:round/>
            <a:headEnd type="none" w="med" len="med"/>
            <a:tailEnd type="triangle"/>
          </a:ln>
          <a:effectLst/>
        </p:spPr>
      </p:cxnSp>
      <p:sp>
        <p:nvSpPr>
          <p:cNvPr id="104" name="직사각형 124">
            <a:extLst>
              <a:ext uri="{FF2B5EF4-FFF2-40B4-BE49-F238E27FC236}">
                <a16:creationId xmlns:a16="http://schemas.microsoft.com/office/drawing/2014/main" id="{9B9F9D1B-2EF7-453F-A467-28A0282E9129}"/>
              </a:ext>
            </a:extLst>
          </p:cNvPr>
          <p:cNvSpPr/>
          <p:nvPr/>
        </p:nvSpPr>
        <p:spPr>
          <a:xfrm>
            <a:off x="3639496" y="1232831"/>
            <a:ext cx="1183477" cy="442463"/>
          </a:xfrm>
          <a:prstGeom prst="rect">
            <a:avLst/>
          </a:prstGeom>
          <a:noFill/>
          <a:ln w="31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45718" rIns="0" bIns="45718" anchor="ctr"/>
          <a:lstStyle/>
          <a:p>
            <a:pPr algn="ctr" eaLnBrk="1" latinLnBrk="0"/>
            <a:r>
              <a:rPr lang="en-US" sz="1000" dirty="0">
                <a:solidFill>
                  <a:schemeClr val="tx1"/>
                </a:solidFill>
                <a:latin typeface="Arial" panose="020B0604020202020204" pitchFamily="34" charset="0"/>
                <a:ea typeface="Arial Unicode MS" panose="020B0604020202020204" pitchFamily="34" charset="-128"/>
                <a:cs typeface="Arial" panose="020B0604020202020204" pitchFamily="34" charset="0"/>
              </a:rPr>
              <a:t>Luminance Function</a:t>
            </a:r>
          </a:p>
        </p:txBody>
      </p:sp>
      <p:sp>
        <p:nvSpPr>
          <p:cNvPr id="228" name="Slide Number Placeholder 4">
            <a:extLst>
              <a:ext uri="{FF2B5EF4-FFF2-40B4-BE49-F238E27FC236}">
                <a16:creationId xmlns:a16="http://schemas.microsoft.com/office/drawing/2014/main" id="{8BEED19C-E20A-4522-AB67-2EFCA2708530}"/>
              </a:ext>
            </a:extLst>
          </p:cNvPr>
          <p:cNvSpPr>
            <a:spLocks noGrp="1"/>
          </p:cNvSpPr>
          <p:nvPr>
            <p:ph type="sldNum" sz="quarter" idx="12"/>
          </p:nvPr>
        </p:nvSpPr>
        <p:spPr>
          <a:xfrm>
            <a:off x="3700326" y="6643499"/>
            <a:ext cx="2133600" cy="198047"/>
          </a:xfrm>
        </p:spPr>
        <p:txBody>
          <a:bodyPr/>
          <a:lstStyle/>
          <a:p>
            <a:pPr algn="ctr" eaLnBrk="1" latinLnBrk="0"/>
            <a:r>
              <a:rPr sz="1000" b="0">
                <a:latin typeface="Arial"/>
              </a:rPr>
              <a:t>04 / 33</a:t>
            </a:r>
            <a:endParaRPr lang="ko-KR" altLang="en-US" sz="1200" dirty="0">
              <a:solidFill>
                <a:prstClr val="black">
                  <a:tint val="75000"/>
                </a:prstClr>
              </a:solidFill>
              <a:latin typeface="Arial" panose="020B0604020202020204" pitchFamily="34" charset="0"/>
              <a:ea typeface="Arial Unicode MS" panose="020B0604020202020204" pitchFamily="34" charset="-128"/>
              <a:cs typeface="Arial" panose="020B0604020202020204" pitchFamily="34" charset="0"/>
            </a:endParaRPr>
          </a:p>
        </p:txBody>
      </p:sp>
      <p:graphicFrame>
        <p:nvGraphicFramePr>
          <p:cNvPr id="51" name="표 45">
            <a:extLst>
              <a:ext uri="{FF2B5EF4-FFF2-40B4-BE49-F238E27FC236}">
                <a16:creationId xmlns:a16="http://schemas.microsoft.com/office/drawing/2014/main" id="{E5BD5886-F8BF-4C7D-977D-717364C24859}"/>
              </a:ext>
            </a:extLst>
          </p:cNvPr>
          <p:cNvGraphicFramePr>
            <a:graphicFrameLocks noGrp="1"/>
          </p:cNvGraphicFramePr>
          <p:nvPr>
            <p:extLst>
              <p:ext uri="{D42A27DB-BD31-4B8C-83A1-F6EECF244321}">
                <p14:modId xmlns:p14="http://schemas.microsoft.com/office/powerpoint/2010/main" val="3356529664"/>
              </p:ext>
            </p:extLst>
          </p:nvPr>
        </p:nvGraphicFramePr>
        <p:xfrm>
          <a:off x="1634164" y="715698"/>
          <a:ext cx="1233603" cy="276631"/>
        </p:xfrm>
        <a:graphic>
          <a:graphicData uri="http://schemas.openxmlformats.org/drawingml/2006/table">
            <a:tbl>
              <a:tblPr/>
              <a:tblGrid>
                <a:gridCol w="1233603">
                  <a:extLst>
                    <a:ext uri="{9D8B030D-6E8A-4147-A177-3AD203B41FA5}">
                      <a16:colId xmlns:a16="http://schemas.microsoft.com/office/drawing/2014/main" val="20000"/>
                    </a:ext>
                  </a:extLst>
                </a:gridCol>
              </a:tblGrid>
              <a:tr h="276631">
                <a:tc>
                  <a:txBody>
                    <a:bodyPr/>
                    <a:lstStyle/>
                    <a:p>
                      <a:pPr algn="ctr" eaLnBrk="1" latinLnBrk="0">
                        <a:defRPr/>
                      </a:pPr>
                      <a:r>
                        <a:rPr lang="en-US" altLang="ko-KR" sz="1000" b="1" dirty="0">
                          <a:latin typeface="Arial" panose="020B0600000101010101" pitchFamily="50" charset="-127"/>
                          <a:ea typeface="Arial" panose="020B0600000101010101" pitchFamily="50" charset="-127"/>
                        </a:rPr>
                        <a:t>Little y1</a:t>
                      </a:r>
                    </a:p>
                  </a:txBody>
                  <a:tcPr marL="91439" marR="91439"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lumMod val="85000"/>
                      </a:schemeClr>
                    </a:solidFill>
                  </a:tcPr>
                </a:tc>
                <a:extLst>
                  <a:ext uri="{0D108BD9-81ED-4DB2-BD59-A6C34878D82A}">
                    <a16:rowId xmlns:a16="http://schemas.microsoft.com/office/drawing/2014/main" val="10000"/>
                  </a:ext>
                </a:extLst>
              </a:tr>
            </a:tbl>
          </a:graphicData>
        </a:graphic>
      </p:graphicFrame>
      <p:sp>
        <p:nvSpPr>
          <p:cNvPr id="68" name="직사각형 124">
            <a:extLst>
              <a:ext uri="{FF2B5EF4-FFF2-40B4-BE49-F238E27FC236}">
                <a16:creationId xmlns:a16="http://schemas.microsoft.com/office/drawing/2014/main" id="{839B0C23-7FDA-49E6-9061-B2E15E0B38F3}"/>
              </a:ext>
            </a:extLst>
          </p:cNvPr>
          <p:cNvSpPr/>
          <p:nvPr/>
        </p:nvSpPr>
        <p:spPr>
          <a:xfrm>
            <a:off x="1651508" y="1228923"/>
            <a:ext cx="1216259" cy="417772"/>
          </a:xfrm>
          <a:prstGeom prst="rect">
            <a:avLst/>
          </a:prstGeom>
          <a:noFill/>
          <a:ln w="31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45718" rIns="0" bIns="45718" anchor="ctr"/>
          <a:lstStyle/>
          <a:p>
            <a:pPr algn="ctr" eaLnBrk="1" latinLnBrk="0"/>
            <a:r>
              <a:rPr lang="en-US" sz="1000" dirty="0">
                <a:solidFill>
                  <a:srgbClr val="000000"/>
                </a:solidFill>
                <a:latin typeface="Arial" panose="020B0604020202020204" pitchFamily="34" charset="0"/>
                <a:ea typeface="LG Smart_H Regular" panose="020B0600000101010101"/>
                <a:cs typeface="Arial" panose="020B0604020202020204" pitchFamily="34" charset="0"/>
              </a:rPr>
              <a:t>Machine defect</a:t>
            </a:r>
          </a:p>
        </p:txBody>
      </p:sp>
      <p:sp>
        <p:nvSpPr>
          <p:cNvPr id="52" name="직사각형 124">
            <a:extLst>
              <a:ext uri="{FF2B5EF4-FFF2-40B4-BE49-F238E27FC236}">
                <a16:creationId xmlns:a16="http://schemas.microsoft.com/office/drawing/2014/main" id="{4415074A-29BC-4A5B-9687-F14C61349A2C}"/>
              </a:ext>
            </a:extLst>
          </p:cNvPr>
          <p:cNvSpPr/>
          <p:nvPr/>
        </p:nvSpPr>
        <p:spPr>
          <a:xfrm>
            <a:off x="0" y="1247253"/>
            <a:ext cx="1257197" cy="395913"/>
          </a:xfrm>
          <a:prstGeom prst="rect">
            <a:avLst/>
          </a:prstGeom>
          <a:noFill/>
          <a:ln w="31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45718" rIns="0" bIns="45718" anchor="ctr"/>
          <a:lstStyle/>
          <a:p>
            <a:pPr algn="ctr" eaLnBrk="1" latinLnBrk="0"/>
            <a:r>
              <a:rPr lang="en-US" sz="1000" dirty="0">
                <a:solidFill>
                  <a:srgbClr val="000000"/>
                </a:solidFill>
                <a:latin typeface="Arial" panose="020B0604020202020204" pitchFamily="34" charset="0"/>
                <a:ea typeface="LG Smart_H Regular" panose="020B0600000101010101"/>
                <a:cs typeface="Arial" panose="020B0604020202020204" pitchFamily="34" charset="0"/>
              </a:rPr>
              <a:t>Reduce Porsche CID Defect rate</a:t>
            </a:r>
          </a:p>
        </p:txBody>
      </p:sp>
      <p:sp>
        <p:nvSpPr>
          <p:cNvPr id="83" name="직사각형 124">
            <a:extLst>
              <a:ext uri="{FF2B5EF4-FFF2-40B4-BE49-F238E27FC236}">
                <a16:creationId xmlns:a16="http://schemas.microsoft.com/office/drawing/2014/main" id="{CA83E05B-BD5C-4D19-937D-8440D1E97727}"/>
              </a:ext>
            </a:extLst>
          </p:cNvPr>
          <p:cNvSpPr/>
          <p:nvPr/>
        </p:nvSpPr>
        <p:spPr>
          <a:xfrm>
            <a:off x="1647314" y="2840939"/>
            <a:ext cx="1216259" cy="379771"/>
          </a:xfrm>
          <a:prstGeom prst="rect">
            <a:avLst/>
          </a:prstGeom>
          <a:solidFill>
            <a:schemeClr val="bg1">
              <a:lumMod val="95000"/>
            </a:schemeClr>
          </a:solidFill>
          <a:ln w="3175">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45718" rIns="0" bIns="45718" anchor="ctr"/>
          <a:lstStyle/>
          <a:p>
            <a:pPr algn="ctr" eaLnBrk="1" latinLnBrk="0"/>
            <a:r>
              <a:rPr lang="en-US" sz="1000" dirty="0">
                <a:solidFill>
                  <a:srgbClr val="000000"/>
                </a:solidFill>
                <a:latin typeface="Arial" panose="020B0604020202020204" pitchFamily="34" charset="0"/>
                <a:ea typeface="LG Smart_H Regular" panose="020B0600000101010101"/>
                <a:cs typeface="Arial" panose="020B0604020202020204" pitchFamily="34" charset="0"/>
              </a:rPr>
              <a:t>Hardware defect</a:t>
            </a:r>
            <a:endParaRPr lang="vi-VN" sz="1000" dirty="0">
              <a:solidFill>
                <a:srgbClr val="000000"/>
              </a:solidFill>
              <a:latin typeface="Arial" panose="020B0604020202020204" pitchFamily="34" charset="0"/>
              <a:ea typeface="LG Smart_H Regular" panose="020B0600000101010101"/>
              <a:cs typeface="Arial" panose="020B0604020202020204" pitchFamily="34" charset="0"/>
            </a:endParaRPr>
          </a:p>
        </p:txBody>
      </p:sp>
      <p:cxnSp>
        <p:nvCxnSpPr>
          <p:cNvPr id="84" name="Straight Arrow Connector 83">
            <a:extLst>
              <a:ext uri="{FF2B5EF4-FFF2-40B4-BE49-F238E27FC236}">
                <a16:creationId xmlns:a16="http://schemas.microsoft.com/office/drawing/2014/main" id="{79F9BF4D-AD41-4475-A659-3F1176F386EB}"/>
              </a:ext>
            </a:extLst>
          </p:cNvPr>
          <p:cNvCxnSpPr>
            <a:cxnSpLocks/>
            <a:stCxn id="52" idx="3"/>
            <a:endCxn id="68" idx="1"/>
          </p:cNvCxnSpPr>
          <p:nvPr/>
        </p:nvCxnSpPr>
        <p:spPr>
          <a:xfrm flipV="1">
            <a:off x="1257197" y="1437809"/>
            <a:ext cx="394311" cy="7401"/>
          </a:xfrm>
          <a:prstGeom prst="straightConnector1">
            <a:avLst/>
          </a:prstGeom>
          <a:noFill/>
          <a:ln w="9525" cap="flat" cmpd="sng" algn="ctr">
            <a:solidFill>
              <a:srgbClr val="C00000"/>
            </a:solidFill>
            <a:prstDash val="solid"/>
            <a:round/>
            <a:headEnd type="none" w="med" len="med"/>
            <a:tailEnd type="triangle"/>
          </a:ln>
          <a:effectLst/>
        </p:spPr>
      </p:cxnSp>
      <p:sp>
        <p:nvSpPr>
          <p:cNvPr id="71" name="직사각형 124">
            <a:extLst>
              <a:ext uri="{FF2B5EF4-FFF2-40B4-BE49-F238E27FC236}">
                <a16:creationId xmlns:a16="http://schemas.microsoft.com/office/drawing/2014/main" id="{84C613EF-B7C1-4EE7-B1DE-F6F54BF90DC1}"/>
              </a:ext>
            </a:extLst>
          </p:cNvPr>
          <p:cNvSpPr/>
          <p:nvPr/>
        </p:nvSpPr>
        <p:spPr>
          <a:xfrm>
            <a:off x="1689870" y="3706771"/>
            <a:ext cx="1216259" cy="379771"/>
          </a:xfrm>
          <a:prstGeom prst="rect">
            <a:avLst/>
          </a:prstGeom>
          <a:solidFill>
            <a:schemeClr val="bg1">
              <a:lumMod val="95000"/>
            </a:schemeClr>
          </a:solidFill>
          <a:ln w="3175">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45718" rIns="0" bIns="45718" anchor="ctr"/>
          <a:lstStyle/>
          <a:p>
            <a:pPr algn="ctr" eaLnBrk="1" latinLnBrk="0"/>
            <a:r>
              <a:rPr lang="en-US" sz="1000" dirty="0">
                <a:solidFill>
                  <a:srgbClr val="000000"/>
                </a:solidFill>
                <a:latin typeface="Arial" panose="020B0604020202020204" pitchFamily="34" charset="0"/>
                <a:ea typeface="LG Smart_H Regular" panose="020B0600000101010101"/>
                <a:cs typeface="Arial" panose="020B0604020202020204" pitchFamily="34" charset="0"/>
              </a:rPr>
              <a:t>Software defect</a:t>
            </a:r>
          </a:p>
        </p:txBody>
      </p:sp>
      <p:cxnSp>
        <p:nvCxnSpPr>
          <p:cNvPr id="3" name="Straight Connector 2">
            <a:extLst>
              <a:ext uri="{FF2B5EF4-FFF2-40B4-BE49-F238E27FC236}">
                <a16:creationId xmlns:a16="http://schemas.microsoft.com/office/drawing/2014/main" id="{C382F0B5-FE2A-44F8-A778-4490D033265A}"/>
              </a:ext>
            </a:extLst>
          </p:cNvPr>
          <p:cNvCxnSpPr>
            <a:cxnSpLocks/>
          </p:cNvCxnSpPr>
          <p:nvPr/>
        </p:nvCxnSpPr>
        <p:spPr>
          <a:xfrm>
            <a:off x="656431" y="5436406"/>
            <a:ext cx="1790464" cy="0"/>
          </a:xfrm>
          <a:prstGeom prst="line">
            <a:avLst/>
          </a:prstGeom>
        </p:spPr>
        <p:style>
          <a:lnRef idx="1">
            <a:schemeClr val="accent1"/>
          </a:lnRef>
          <a:fillRef idx="0">
            <a:schemeClr val="accent1"/>
          </a:fillRef>
          <a:effectRef idx="0">
            <a:schemeClr val="accent1"/>
          </a:effectRef>
          <a:fontRef idx="minor">
            <a:schemeClr val="tx1"/>
          </a:fontRef>
        </p:style>
      </p:cxnSp>
      <p:sp>
        <p:nvSpPr>
          <p:cNvPr id="55" name="Rectangle 54">
            <a:extLst>
              <a:ext uri="{FF2B5EF4-FFF2-40B4-BE49-F238E27FC236}">
                <a16:creationId xmlns:a16="http://schemas.microsoft.com/office/drawing/2014/main" id="{9E5D3784-A161-4E39-ABFC-E9884EBC2613}"/>
              </a:ext>
            </a:extLst>
          </p:cNvPr>
          <p:cNvSpPr/>
          <p:nvPr/>
        </p:nvSpPr>
        <p:spPr>
          <a:xfrm>
            <a:off x="1913425" y="4896997"/>
            <a:ext cx="829775" cy="53367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eaLnBrk="1" latinLnBrk="0"/>
            <a:r>
              <a:rPr sz="1000" b="1" dirty="0">
                <a:solidFill>
                  <a:schemeClr val="tx1"/>
                </a:solidFill>
                <a:latin typeface="Arial"/>
              </a:rPr>
              <a:t>33,376 PPM</a:t>
            </a:r>
            <a:endParaRPr lang="en-US" sz="1000" b="1" dirty="0">
              <a:solidFill>
                <a:schemeClr val="tx1"/>
              </a:solidFill>
              <a:latin typeface="Arial" panose="020B0604020202020204" pitchFamily="34" charset="0"/>
              <a:cs typeface="Arial" panose="020B0604020202020204" pitchFamily="34" charset="0"/>
            </a:endParaRPr>
          </a:p>
        </p:txBody>
      </p:sp>
      <p:sp>
        <p:nvSpPr>
          <p:cNvPr id="4" name="Rectangle 3">
            <a:extLst>
              <a:ext uri="{FF2B5EF4-FFF2-40B4-BE49-F238E27FC236}">
                <a16:creationId xmlns:a16="http://schemas.microsoft.com/office/drawing/2014/main" id="{FD6ABC82-A55A-4E3D-9824-C9ABB364FBE1}"/>
              </a:ext>
            </a:extLst>
          </p:cNvPr>
          <p:cNvSpPr/>
          <p:nvPr/>
        </p:nvSpPr>
        <p:spPr>
          <a:xfrm>
            <a:off x="552966" y="4386015"/>
            <a:ext cx="818860" cy="104724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eaLnBrk="1" latinLnBrk="0"/>
            <a:r>
              <a:rPr sz="1000" b="1" dirty="0">
                <a:solidFill>
                  <a:schemeClr val="tx1"/>
                </a:solidFill>
                <a:latin typeface="Arial"/>
              </a:rPr>
              <a:t>260,000 PPM</a:t>
            </a:r>
            <a:endParaRPr lang="en-US" sz="1050" dirty="0">
              <a:solidFill>
                <a:schemeClr val="tx1"/>
              </a:solidFill>
              <a:latin typeface="Arial" panose="020B0604020202020204" pitchFamily="34" charset="0"/>
              <a:cs typeface="Arial" panose="020B0604020202020204" pitchFamily="34" charset="0"/>
            </a:endParaRPr>
          </a:p>
        </p:txBody>
      </p:sp>
      <p:sp>
        <p:nvSpPr>
          <p:cNvPr id="59" name="직사각형 124">
            <a:extLst>
              <a:ext uri="{FF2B5EF4-FFF2-40B4-BE49-F238E27FC236}">
                <a16:creationId xmlns:a16="http://schemas.microsoft.com/office/drawing/2014/main" id="{6488CD88-09C5-4039-9404-8FA529031D59}"/>
              </a:ext>
            </a:extLst>
          </p:cNvPr>
          <p:cNvSpPr/>
          <p:nvPr/>
        </p:nvSpPr>
        <p:spPr>
          <a:xfrm>
            <a:off x="637872" y="5436406"/>
            <a:ext cx="1786889" cy="403580"/>
          </a:xfrm>
          <a:prstGeom prst="rect">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lIns="0" tIns="45718" rIns="0" bIns="45718" anchor="ctr"/>
          <a:lstStyle/>
          <a:p>
            <a:pPr algn="ctr" eaLnBrk="1" latinLnBrk="0"/>
            <a:r>
              <a:rPr lang="en-US" sz="1000" dirty="0">
                <a:solidFill>
                  <a:srgbClr val="000000"/>
                </a:solidFill>
                <a:latin typeface="Arial" panose="020B0604020202020204" pitchFamily="34" charset="0"/>
                <a:ea typeface="LG Smart_H Regular" panose="020B0600000101010101"/>
                <a:cs typeface="Arial" panose="020B0604020202020204" pitchFamily="34" charset="0"/>
              </a:rPr>
              <a:t>Decrease defect rate of Porsche CID</a:t>
            </a:r>
            <a:endParaRPr lang="vi-VN" sz="1000" dirty="0">
              <a:solidFill>
                <a:srgbClr val="000000"/>
              </a:solidFill>
              <a:latin typeface="Arial" panose="020B0604020202020204" pitchFamily="34" charset="0"/>
              <a:ea typeface="LG Smart_H Regular" panose="020B0600000101010101"/>
              <a:cs typeface="Arial" panose="020B0604020202020204" pitchFamily="34" charset="0"/>
            </a:endParaRPr>
          </a:p>
        </p:txBody>
      </p:sp>
      <p:sp>
        <p:nvSpPr>
          <p:cNvPr id="61" name="직사각형 124">
            <a:extLst>
              <a:ext uri="{FF2B5EF4-FFF2-40B4-BE49-F238E27FC236}">
                <a16:creationId xmlns:a16="http://schemas.microsoft.com/office/drawing/2014/main" id="{85F4DA65-E4DC-4E8D-9E8A-592DB1E42CC9}"/>
              </a:ext>
            </a:extLst>
          </p:cNvPr>
          <p:cNvSpPr/>
          <p:nvPr/>
        </p:nvSpPr>
        <p:spPr>
          <a:xfrm>
            <a:off x="581222" y="4191000"/>
            <a:ext cx="762348" cy="216465"/>
          </a:xfrm>
          <a:prstGeom prst="rect">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lIns="0" tIns="45718" rIns="0" bIns="45718" anchor="ctr"/>
          <a:lstStyle/>
          <a:p>
            <a:pPr algn="ctr" eaLnBrk="1" latinLnBrk="0"/>
            <a:r>
              <a:rPr lang="en-US" sz="1000" dirty="0">
                <a:solidFill>
                  <a:srgbClr val="000000"/>
                </a:solidFill>
                <a:latin typeface="Arial" panose="020B0604020202020204" pitchFamily="34" charset="0"/>
                <a:ea typeface="LG Smart_H Regular" panose="020B0600000101010101"/>
                <a:cs typeface="Arial" panose="020B0604020202020204" pitchFamily="34" charset="0"/>
              </a:rPr>
              <a:t>Before</a:t>
            </a:r>
            <a:endParaRPr lang="vi-VN" sz="1000" dirty="0">
              <a:solidFill>
                <a:srgbClr val="000000"/>
              </a:solidFill>
              <a:latin typeface="Arial" panose="020B0604020202020204" pitchFamily="34" charset="0"/>
              <a:ea typeface="LG Smart_H Regular" panose="020B0600000101010101"/>
              <a:cs typeface="Arial" panose="020B0604020202020204" pitchFamily="34" charset="0"/>
            </a:endParaRPr>
          </a:p>
        </p:txBody>
      </p:sp>
      <p:sp>
        <p:nvSpPr>
          <p:cNvPr id="62" name="직사각형 124">
            <a:extLst>
              <a:ext uri="{FF2B5EF4-FFF2-40B4-BE49-F238E27FC236}">
                <a16:creationId xmlns:a16="http://schemas.microsoft.com/office/drawing/2014/main" id="{C64B288A-C4DC-4C32-8350-28B1FD1A5C8C}"/>
              </a:ext>
            </a:extLst>
          </p:cNvPr>
          <p:cNvSpPr/>
          <p:nvPr/>
        </p:nvSpPr>
        <p:spPr>
          <a:xfrm>
            <a:off x="2003461" y="4688813"/>
            <a:ext cx="649702" cy="216465"/>
          </a:xfrm>
          <a:prstGeom prst="rect">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lIns="0" tIns="45718" rIns="0" bIns="45718" anchor="ctr"/>
          <a:lstStyle/>
          <a:p>
            <a:pPr algn="ctr" eaLnBrk="1" latinLnBrk="0"/>
            <a:r>
              <a:rPr lang="en-US" sz="1000" dirty="0">
                <a:solidFill>
                  <a:srgbClr val="000000"/>
                </a:solidFill>
                <a:latin typeface="Arial" panose="020B0604020202020204" pitchFamily="34" charset="0"/>
                <a:ea typeface="LG Smart_H Regular" panose="020B0600000101010101"/>
                <a:cs typeface="Arial" panose="020B0604020202020204" pitchFamily="34" charset="0"/>
              </a:rPr>
              <a:t>After</a:t>
            </a:r>
            <a:endParaRPr lang="vi-VN" sz="1000" dirty="0">
              <a:solidFill>
                <a:srgbClr val="000000"/>
              </a:solidFill>
              <a:latin typeface="Arial" panose="020B0604020202020204" pitchFamily="34" charset="0"/>
              <a:ea typeface="LG Smart_H Regular" panose="020B0600000101010101"/>
              <a:cs typeface="Arial" panose="020B0604020202020204" pitchFamily="34" charset="0"/>
            </a:endParaRPr>
          </a:p>
        </p:txBody>
      </p:sp>
      <p:sp>
        <p:nvSpPr>
          <p:cNvPr id="69" name="직사각형 124">
            <a:extLst>
              <a:ext uri="{FF2B5EF4-FFF2-40B4-BE49-F238E27FC236}">
                <a16:creationId xmlns:a16="http://schemas.microsoft.com/office/drawing/2014/main" id="{5A1ACA1F-B7FE-4D14-98DB-0463FDB3B045}"/>
              </a:ext>
            </a:extLst>
          </p:cNvPr>
          <p:cNvSpPr/>
          <p:nvPr/>
        </p:nvSpPr>
        <p:spPr>
          <a:xfrm>
            <a:off x="7322594" y="1260024"/>
            <a:ext cx="1586819" cy="395913"/>
          </a:xfrm>
          <a:prstGeom prst="rect">
            <a:avLst/>
          </a:prstGeom>
          <a:noFill/>
          <a:ln w="31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45718" rIns="0" bIns="45718" anchor="ctr"/>
          <a:lstStyle/>
          <a:p>
            <a:pPr algn="ctr" eaLnBrk="1" latinLnBrk="0"/>
            <a:r>
              <a:rPr lang="en-US" sz="1000" dirty="0">
                <a:solidFill>
                  <a:srgbClr val="000000"/>
                </a:solidFill>
                <a:latin typeface="Arial" panose="020B0604020202020204" pitchFamily="34" charset="0"/>
                <a:ea typeface="LG Smart_H Regular" panose="020B0600000101010101"/>
                <a:cs typeface="Arial" panose="020B0604020202020204" pitchFamily="34" charset="0"/>
              </a:rPr>
              <a:t>6 Sigma assignment</a:t>
            </a:r>
          </a:p>
        </p:txBody>
      </p:sp>
      <p:sp>
        <p:nvSpPr>
          <p:cNvPr id="70" name="직사각형 124">
            <a:extLst>
              <a:ext uri="{FF2B5EF4-FFF2-40B4-BE49-F238E27FC236}">
                <a16:creationId xmlns:a16="http://schemas.microsoft.com/office/drawing/2014/main" id="{08E76798-9784-458B-85C4-0CA820956B8D}"/>
              </a:ext>
            </a:extLst>
          </p:cNvPr>
          <p:cNvSpPr/>
          <p:nvPr/>
        </p:nvSpPr>
        <p:spPr>
          <a:xfrm>
            <a:off x="7347308" y="2084472"/>
            <a:ext cx="1586819" cy="395913"/>
          </a:xfrm>
          <a:prstGeom prst="rect">
            <a:avLst/>
          </a:prstGeom>
          <a:solidFill>
            <a:schemeClr val="bg1">
              <a:lumMod val="95000"/>
            </a:schemeClr>
          </a:solidFill>
          <a:ln w="3175">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45718" rIns="0" bIns="45718" anchor="ctr"/>
          <a:lstStyle/>
          <a:p>
            <a:pPr algn="ctr" eaLnBrk="1" latinLnBrk="0"/>
            <a:r>
              <a:rPr lang="en-US" sz="1000" dirty="0">
                <a:solidFill>
                  <a:srgbClr val="000000"/>
                </a:solidFill>
                <a:latin typeface="Arial" panose="020B0604020202020204" pitchFamily="34" charset="0"/>
                <a:ea typeface="LG Smart_H Regular" panose="020B0600000101010101"/>
                <a:cs typeface="Arial" panose="020B0604020202020204" pitchFamily="34" charset="0"/>
              </a:rPr>
              <a:t>Real defect _ Material</a:t>
            </a:r>
          </a:p>
          <a:p>
            <a:pPr algn="ctr" eaLnBrk="1" latinLnBrk="0"/>
            <a:r>
              <a:rPr lang="en-US" sz="1000" dirty="0">
                <a:solidFill>
                  <a:srgbClr val="000000"/>
                </a:solidFill>
                <a:latin typeface="Arial" panose="020B0604020202020204" pitchFamily="34" charset="0"/>
                <a:ea typeface="LG Smart_H Regular" panose="020B0600000101010101"/>
                <a:cs typeface="Arial" panose="020B0604020202020204" pitchFamily="34" charset="0"/>
              </a:rPr>
              <a:t>Return to supplier</a:t>
            </a:r>
          </a:p>
        </p:txBody>
      </p:sp>
      <p:graphicFrame>
        <p:nvGraphicFramePr>
          <p:cNvPr id="74" name="표 46">
            <a:extLst>
              <a:ext uri="{FF2B5EF4-FFF2-40B4-BE49-F238E27FC236}">
                <a16:creationId xmlns:a16="http://schemas.microsoft.com/office/drawing/2014/main" id="{E5BFD7BA-52E1-4DEB-8CC0-42C339E19764}"/>
              </a:ext>
            </a:extLst>
          </p:cNvPr>
          <p:cNvGraphicFramePr>
            <a:graphicFrameLocks noGrp="1"/>
          </p:cNvGraphicFramePr>
          <p:nvPr>
            <p:extLst>
              <p:ext uri="{D42A27DB-BD31-4B8C-83A1-F6EECF244321}">
                <p14:modId xmlns:p14="http://schemas.microsoft.com/office/powerpoint/2010/main" val="414107595"/>
              </p:ext>
            </p:extLst>
          </p:nvPr>
        </p:nvGraphicFramePr>
        <p:xfrm>
          <a:off x="7322594" y="720833"/>
          <a:ext cx="1586819" cy="282190"/>
        </p:xfrm>
        <a:graphic>
          <a:graphicData uri="http://schemas.openxmlformats.org/drawingml/2006/table">
            <a:tbl>
              <a:tblPr/>
              <a:tblGrid>
                <a:gridCol w="1586819">
                  <a:extLst>
                    <a:ext uri="{9D8B030D-6E8A-4147-A177-3AD203B41FA5}">
                      <a16:colId xmlns:a16="http://schemas.microsoft.com/office/drawing/2014/main" val="20000"/>
                    </a:ext>
                  </a:extLst>
                </a:gridCol>
              </a:tblGrid>
              <a:tr h="282190">
                <a:tc>
                  <a:txBody>
                    <a:bodyPr/>
                    <a:lstStyle/>
                    <a:p>
                      <a:pPr marL="0" algn="ctr" defTabSz="914400" rtl="0" eaLnBrk="1" latinLnBrk="0" hangingPunct="1">
                        <a:defRPr/>
                      </a:pPr>
                      <a:r>
                        <a:rPr lang="en-US" altLang="ko-KR" sz="1000" b="1" kern="1200" dirty="0">
                          <a:solidFill>
                            <a:schemeClr val="tx1"/>
                          </a:solidFill>
                          <a:latin typeface="Arial" panose="020B0600000101010101" pitchFamily="50" charset="-127"/>
                          <a:ea typeface="Arial" panose="020B0600000101010101" pitchFamily="50" charset="-127"/>
                          <a:cs typeface="+mn-cs"/>
                        </a:rPr>
                        <a:t>Activity</a:t>
                      </a:r>
                    </a:p>
                  </a:txBody>
                  <a:tcPr marL="91439" marR="91439"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lumMod val="85000"/>
                      </a:schemeClr>
                    </a:solidFill>
                  </a:tcPr>
                </a:tc>
                <a:extLst>
                  <a:ext uri="{0D108BD9-81ED-4DB2-BD59-A6C34878D82A}">
                    <a16:rowId xmlns:a16="http://schemas.microsoft.com/office/drawing/2014/main" val="10000"/>
                  </a:ext>
                </a:extLst>
              </a:tr>
            </a:tbl>
          </a:graphicData>
        </a:graphic>
      </p:graphicFrame>
      <p:graphicFrame>
        <p:nvGraphicFramePr>
          <p:cNvPr id="86" name="표 45">
            <a:extLst>
              <a:ext uri="{FF2B5EF4-FFF2-40B4-BE49-F238E27FC236}">
                <a16:creationId xmlns:a16="http://schemas.microsoft.com/office/drawing/2014/main" id="{340A01BA-E649-4A07-BE4C-FE4BD7441B73}"/>
              </a:ext>
            </a:extLst>
          </p:cNvPr>
          <p:cNvGraphicFramePr>
            <a:graphicFrameLocks noGrp="1"/>
          </p:cNvGraphicFramePr>
          <p:nvPr>
            <p:extLst>
              <p:ext uri="{D42A27DB-BD31-4B8C-83A1-F6EECF244321}">
                <p14:modId xmlns:p14="http://schemas.microsoft.com/office/powerpoint/2010/main" val="1695317186"/>
              </p:ext>
            </p:extLst>
          </p:nvPr>
        </p:nvGraphicFramePr>
        <p:xfrm>
          <a:off x="5442125" y="726392"/>
          <a:ext cx="1427220" cy="276631"/>
        </p:xfrm>
        <a:graphic>
          <a:graphicData uri="http://schemas.openxmlformats.org/drawingml/2006/table">
            <a:tbl>
              <a:tblPr/>
              <a:tblGrid>
                <a:gridCol w="1427220">
                  <a:extLst>
                    <a:ext uri="{9D8B030D-6E8A-4147-A177-3AD203B41FA5}">
                      <a16:colId xmlns:a16="http://schemas.microsoft.com/office/drawing/2014/main" val="20000"/>
                    </a:ext>
                  </a:extLst>
                </a:gridCol>
              </a:tblGrid>
              <a:tr h="276631">
                <a:tc>
                  <a:txBody>
                    <a:bodyPr/>
                    <a:lstStyle/>
                    <a:p>
                      <a:pPr algn="ctr" eaLnBrk="1" latinLnBrk="0">
                        <a:defRPr/>
                      </a:pPr>
                      <a:r>
                        <a:rPr lang="en-US" altLang="ko-KR" sz="1000" b="1" dirty="0">
                          <a:latin typeface="Arial" panose="020B0600000101010101" pitchFamily="50" charset="-127"/>
                          <a:ea typeface="Arial" panose="020B0600000101010101" pitchFamily="50" charset="-127"/>
                        </a:rPr>
                        <a:t>Little y3</a:t>
                      </a:r>
                    </a:p>
                  </a:txBody>
                  <a:tcPr marL="91439" marR="91439"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lumMod val="85000"/>
                      </a:schemeClr>
                    </a:solidFill>
                  </a:tcPr>
                </a:tc>
                <a:extLst>
                  <a:ext uri="{0D108BD9-81ED-4DB2-BD59-A6C34878D82A}">
                    <a16:rowId xmlns:a16="http://schemas.microsoft.com/office/drawing/2014/main" val="10000"/>
                  </a:ext>
                </a:extLst>
              </a:tr>
            </a:tbl>
          </a:graphicData>
        </a:graphic>
      </p:graphicFrame>
      <p:cxnSp>
        <p:nvCxnSpPr>
          <p:cNvPr id="89" name="Straight Arrow Connector 88">
            <a:extLst>
              <a:ext uri="{FF2B5EF4-FFF2-40B4-BE49-F238E27FC236}">
                <a16:creationId xmlns:a16="http://schemas.microsoft.com/office/drawing/2014/main" id="{93DB9B81-6E8A-4C8A-9C14-CAA405A93511}"/>
              </a:ext>
            </a:extLst>
          </p:cNvPr>
          <p:cNvCxnSpPr>
            <a:cxnSpLocks/>
            <a:stCxn id="129" idx="3"/>
            <a:endCxn id="69" idx="1"/>
          </p:cNvCxnSpPr>
          <p:nvPr/>
        </p:nvCxnSpPr>
        <p:spPr>
          <a:xfrm flipV="1">
            <a:off x="6869345" y="1457981"/>
            <a:ext cx="453249" cy="249"/>
          </a:xfrm>
          <a:prstGeom prst="straightConnector1">
            <a:avLst/>
          </a:prstGeom>
          <a:noFill/>
          <a:ln w="9525" cap="flat" cmpd="sng" algn="ctr">
            <a:solidFill>
              <a:srgbClr val="C00000"/>
            </a:solidFill>
            <a:prstDash val="solid"/>
            <a:round/>
            <a:headEnd type="none" w="med" len="med"/>
            <a:tailEnd type="triangle"/>
          </a:ln>
          <a:effectLst/>
        </p:spPr>
      </p:cxnSp>
      <p:cxnSp>
        <p:nvCxnSpPr>
          <p:cNvPr id="92" name="Straight Arrow Connector 91">
            <a:extLst>
              <a:ext uri="{FF2B5EF4-FFF2-40B4-BE49-F238E27FC236}">
                <a16:creationId xmlns:a16="http://schemas.microsoft.com/office/drawing/2014/main" id="{E42DC42A-02BC-4314-AFEF-5343F6F313A8}"/>
              </a:ext>
            </a:extLst>
          </p:cNvPr>
          <p:cNvCxnSpPr>
            <a:cxnSpLocks/>
            <a:stCxn id="130" idx="3"/>
            <a:endCxn id="70" idx="1"/>
          </p:cNvCxnSpPr>
          <p:nvPr/>
        </p:nvCxnSpPr>
        <p:spPr>
          <a:xfrm flipV="1">
            <a:off x="6894059" y="2282429"/>
            <a:ext cx="453249" cy="249"/>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80" name="TextBox 79">
            <a:extLst>
              <a:ext uri="{FF2B5EF4-FFF2-40B4-BE49-F238E27FC236}">
                <a16:creationId xmlns:a16="http://schemas.microsoft.com/office/drawing/2014/main" id="{12294C19-F708-49EE-A527-FA9394A10AA7}"/>
              </a:ext>
            </a:extLst>
          </p:cNvPr>
          <p:cNvSpPr txBox="1"/>
          <p:nvPr/>
        </p:nvSpPr>
        <p:spPr>
          <a:xfrm>
            <a:off x="57849" y="5921514"/>
            <a:ext cx="9577064" cy="707886"/>
          </a:xfrm>
          <a:prstGeom prst="rect">
            <a:avLst/>
          </a:prstGeom>
          <a:noFill/>
        </p:spPr>
        <p:txBody>
          <a:bodyPr wrap="square" rtlCol="0">
            <a:noAutofit/>
          </a:bodyPr>
          <a:lstStyle/>
          <a:p>
            <a:pPr marL="171450" lvl="0" indent="-171450" eaLnBrk="1" latinLnBrk="0">
              <a:buFontTx/>
              <a:buChar char="-"/>
            </a:pPr>
            <a:r>
              <a:rPr sz="1000" b="0">
                <a:latin typeface="Arial"/>
              </a:rPr>
              <a:t>Hardware issues (6.0%, 15,600 PPM) are mainly broken pin connector (check PCBA), foreign material inside the set after assembly, SQA circuit and LCD from supplier; they will be improved by HW members.</a:t>
            </a:r>
            <a:br/>
            <a:r>
              <a:rPr sz="1000" b="0">
                <a:latin typeface="Arial"/>
              </a:rPr>
              <a:t>Software issues (3.5%, 9,100 PPM) will be solved by HQ software members.</a:t>
            </a:r>
            <a:br/>
            <a:r>
              <a:rPr sz="1000" b="0">
                <a:latin typeface="Arial"/>
              </a:rPr>
              <a:t>Machine defect accounts for 90.5% (235,300 PPM), where Luminance value is the overwhelming root issue causing 226,624 PPM (87.2% of all defects), causing severe UPH loss and scrap cost. That is why Luminance value is selected as Project Y for this Six Sigma assignment.</a:t>
            </a:r>
          </a:p>
        </p:txBody>
      </p:sp>
      <p:graphicFrame>
        <p:nvGraphicFramePr>
          <p:cNvPr id="12" name="Object 11">
            <a:extLst>
              <a:ext uri="{FF2B5EF4-FFF2-40B4-BE49-F238E27FC236}">
                <a16:creationId xmlns:a16="http://schemas.microsoft.com/office/drawing/2014/main" id="{641D5FF9-8E48-4313-BA6F-2F3C8DCE93A7}"/>
              </a:ext>
            </a:extLst>
          </p:cNvPr>
          <p:cNvGraphicFramePr>
            <a:graphicFrameLocks noChangeAspect="1"/>
          </p:cNvGraphicFramePr>
          <p:nvPr>
            <p:extLst>
              <p:ext uri="{D42A27DB-BD31-4B8C-83A1-F6EECF244321}">
                <p14:modId xmlns:p14="http://schemas.microsoft.com/office/powerpoint/2010/main" val="561615864"/>
              </p:ext>
            </p:extLst>
          </p:nvPr>
        </p:nvGraphicFramePr>
        <p:xfrm>
          <a:off x="304468" y="2246935"/>
          <a:ext cx="467633" cy="394566"/>
        </p:xfrm>
        <a:graphic>
          <a:graphicData uri="http://schemas.openxmlformats.org/presentationml/2006/ole">
            <mc:AlternateContent xmlns:mc="http://schemas.openxmlformats.org/markup-compatibility/2006">
              <mc:Choice xmlns:v="urn:schemas-microsoft-com:vml" Requires="v">
                <p:oleObj name="Worksheet" showAsIcon="1" r:id="rId4" imgW="914400" imgH="771792" progId="Excel.Sheet.12">
                  <p:embed/>
                </p:oleObj>
              </mc:Choice>
              <mc:Fallback>
                <p:oleObj name="Worksheet" showAsIcon="1" r:id="rId4" imgW="914400" imgH="771792" progId="Excel.Sheet.12">
                  <p:embed/>
                  <p:pic>
                    <p:nvPicPr>
                      <p:cNvPr id="0" name=""/>
                      <p:cNvPicPr/>
                      <p:nvPr/>
                    </p:nvPicPr>
                    <p:blipFill>
                      <a:blip r:embed="rId5"/>
                      <a:stretch>
                        <a:fillRect/>
                      </a:stretch>
                    </p:blipFill>
                    <p:spPr>
                      <a:xfrm>
                        <a:off x="304468" y="2246935"/>
                        <a:ext cx="467633" cy="394566"/>
                      </a:xfrm>
                      <a:prstGeom prst="rect">
                        <a:avLst/>
                      </a:prstGeom>
                    </p:spPr>
                  </p:pic>
                </p:oleObj>
              </mc:Fallback>
            </mc:AlternateContent>
          </a:graphicData>
        </a:graphic>
      </p:graphicFrame>
      <p:sp>
        <p:nvSpPr>
          <p:cNvPr id="2" name="Arrow: Right 1">
            <a:extLst>
              <a:ext uri="{FF2B5EF4-FFF2-40B4-BE49-F238E27FC236}">
                <a16:creationId xmlns:a16="http://schemas.microsoft.com/office/drawing/2014/main" id="{883DEA73-C594-43D5-86DD-20AFA7CB55DE}"/>
              </a:ext>
            </a:extLst>
          </p:cNvPr>
          <p:cNvSpPr/>
          <p:nvPr/>
        </p:nvSpPr>
        <p:spPr bwMode="auto">
          <a:xfrm rot="1145973">
            <a:off x="1406635" y="4896997"/>
            <a:ext cx="471981" cy="173244"/>
          </a:xfrm>
          <a:prstGeom prst="rightArrow">
            <a:avLst/>
          </a:prstGeom>
          <a:noFill/>
          <a:ln w="9525" cap="flat" cmpd="sng" algn="ctr">
            <a:solidFill>
              <a:schemeClr val="tx1"/>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0" i="0" u="none" strike="noStrike" cap="none" normalizeH="0" baseline="0">
              <a:ln>
                <a:noFill/>
              </a:ln>
              <a:solidFill>
                <a:schemeClr val="tx1"/>
              </a:solidFill>
              <a:effectLst/>
              <a:latin typeface="Arial" charset="0"/>
              <a:ea typeface="돋움" pitchFamily="50" charset="-127"/>
            </a:endParaRPr>
          </a:p>
        </p:txBody>
      </p:sp>
      <p:sp>
        <p:nvSpPr>
          <p:cNvPr id="50" name="직사각형 124">
            <a:extLst>
              <a:ext uri="{FF2B5EF4-FFF2-40B4-BE49-F238E27FC236}">
                <a16:creationId xmlns:a16="http://schemas.microsoft.com/office/drawing/2014/main" id="{90A54F67-C922-4481-83DE-35020CA82089}"/>
              </a:ext>
            </a:extLst>
          </p:cNvPr>
          <p:cNvSpPr/>
          <p:nvPr/>
        </p:nvSpPr>
        <p:spPr>
          <a:xfrm>
            <a:off x="9111999" y="1263867"/>
            <a:ext cx="717728" cy="395913"/>
          </a:xfrm>
          <a:prstGeom prst="rect">
            <a:avLst/>
          </a:prstGeom>
          <a:noFill/>
          <a:ln w="31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45718" rIns="0" bIns="45718" anchor="ctr"/>
          <a:lstStyle/>
          <a:p>
            <a:pPr algn="ctr" eaLnBrk="1" latinLnBrk="0"/>
            <a:r>
              <a:rPr lang="en-US" sz="1000" b="0" dirty="0">
                <a:solidFill>
                  <a:schemeClr val="tx1"/>
                </a:solidFill>
                <a:latin typeface="Arial"/>
              </a:rPr>
              <a:t>IVI LD</a:t>
            </a:r>
            <a:r>
              <a:rPr sz="1000" b="0" dirty="0">
                <a:latin typeface="Arial"/>
              </a:rPr>
              <a:t> IE</a:t>
            </a:r>
          </a:p>
        </p:txBody>
      </p:sp>
      <p:sp>
        <p:nvSpPr>
          <p:cNvPr id="53" name="직사각형 124">
            <a:extLst>
              <a:ext uri="{FF2B5EF4-FFF2-40B4-BE49-F238E27FC236}">
                <a16:creationId xmlns:a16="http://schemas.microsoft.com/office/drawing/2014/main" id="{1045D11C-94C8-40D5-BC41-24537629FD31}"/>
              </a:ext>
            </a:extLst>
          </p:cNvPr>
          <p:cNvSpPr/>
          <p:nvPr/>
        </p:nvSpPr>
        <p:spPr>
          <a:xfrm>
            <a:off x="9136713" y="2078607"/>
            <a:ext cx="717728" cy="395913"/>
          </a:xfrm>
          <a:prstGeom prst="rect">
            <a:avLst/>
          </a:prstGeom>
          <a:solidFill>
            <a:schemeClr val="bg1">
              <a:lumMod val="95000"/>
            </a:schemeClr>
          </a:solidFill>
          <a:ln w="3175">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45718" rIns="0" bIns="45718" anchor="ctr"/>
          <a:lstStyle/>
          <a:p>
            <a:pPr algn="ctr" eaLnBrk="1" latinLnBrk="0"/>
            <a:r>
              <a:rPr lang="en-US" sz="1000" dirty="0">
                <a:solidFill>
                  <a:srgbClr val="000000"/>
                </a:solidFill>
                <a:latin typeface="Arial" panose="020B0604020202020204" pitchFamily="34" charset="0"/>
                <a:ea typeface="LG Smart_H Regular" panose="020B0600000101010101"/>
                <a:cs typeface="Arial" panose="020B0604020202020204" pitchFamily="34" charset="0"/>
              </a:rPr>
              <a:t>HEESUNG vendor</a:t>
            </a:r>
          </a:p>
        </p:txBody>
      </p:sp>
      <p:graphicFrame>
        <p:nvGraphicFramePr>
          <p:cNvPr id="56" name="표 46">
            <a:extLst>
              <a:ext uri="{FF2B5EF4-FFF2-40B4-BE49-F238E27FC236}">
                <a16:creationId xmlns:a16="http://schemas.microsoft.com/office/drawing/2014/main" id="{389174B0-4A7E-4DAC-B76B-156987A7EF90}"/>
              </a:ext>
            </a:extLst>
          </p:cNvPr>
          <p:cNvGraphicFramePr>
            <a:graphicFrameLocks noGrp="1"/>
          </p:cNvGraphicFramePr>
          <p:nvPr>
            <p:extLst>
              <p:ext uri="{D42A27DB-BD31-4B8C-83A1-F6EECF244321}">
                <p14:modId xmlns:p14="http://schemas.microsoft.com/office/powerpoint/2010/main" val="4294634826"/>
              </p:ext>
            </p:extLst>
          </p:nvPr>
        </p:nvGraphicFramePr>
        <p:xfrm>
          <a:off x="9112590" y="735156"/>
          <a:ext cx="717137" cy="282190"/>
        </p:xfrm>
        <a:graphic>
          <a:graphicData uri="http://schemas.openxmlformats.org/drawingml/2006/table">
            <a:tbl>
              <a:tblPr/>
              <a:tblGrid>
                <a:gridCol w="717137">
                  <a:extLst>
                    <a:ext uri="{9D8B030D-6E8A-4147-A177-3AD203B41FA5}">
                      <a16:colId xmlns:a16="http://schemas.microsoft.com/office/drawing/2014/main" val="20000"/>
                    </a:ext>
                  </a:extLst>
                </a:gridCol>
              </a:tblGrid>
              <a:tr h="282190">
                <a:tc>
                  <a:txBody>
                    <a:bodyPr/>
                    <a:lstStyle/>
                    <a:p>
                      <a:pPr marL="0" algn="ctr" defTabSz="914400" rtl="0" eaLnBrk="1" latinLnBrk="0" hangingPunct="1">
                        <a:defRPr/>
                      </a:pPr>
                      <a:r>
                        <a:rPr lang="en-US" altLang="ko-KR" sz="1000" b="1" kern="1200" dirty="0">
                          <a:solidFill>
                            <a:schemeClr val="tx1"/>
                          </a:solidFill>
                          <a:latin typeface="Arial" panose="020B0600000101010101" pitchFamily="50" charset="-127"/>
                          <a:ea typeface="Arial" panose="020B0600000101010101" pitchFamily="50" charset="-127"/>
                          <a:cs typeface="+mn-cs"/>
                        </a:rPr>
                        <a:t>PIC</a:t>
                      </a:r>
                    </a:p>
                  </a:txBody>
                  <a:tcPr marL="91439" marR="91439"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lumMod val="85000"/>
                      </a:schemeClr>
                    </a:solidFill>
                  </a:tcPr>
                </a:tc>
                <a:extLst>
                  <a:ext uri="{0D108BD9-81ED-4DB2-BD59-A6C34878D82A}">
                    <a16:rowId xmlns:a16="http://schemas.microsoft.com/office/drawing/2014/main" val="10000"/>
                  </a:ext>
                </a:extLst>
              </a:tr>
            </a:tbl>
          </a:graphicData>
        </a:graphic>
      </p:graphicFrame>
      <p:sp>
        <p:nvSpPr>
          <p:cNvPr id="5" name="Rectangle 4">
            <a:extLst>
              <a:ext uri="{FF2B5EF4-FFF2-40B4-BE49-F238E27FC236}">
                <a16:creationId xmlns:a16="http://schemas.microsoft.com/office/drawing/2014/main" id="{6AF0C5BD-1F30-4E1B-B64B-6F14E8B4E4DA}"/>
              </a:ext>
            </a:extLst>
          </p:cNvPr>
          <p:cNvSpPr/>
          <p:nvPr/>
        </p:nvSpPr>
        <p:spPr>
          <a:xfrm>
            <a:off x="51601" y="1670837"/>
            <a:ext cx="1261884" cy="600164"/>
          </a:xfrm>
          <a:prstGeom prst="rect">
            <a:avLst/>
          </a:prstGeom>
        </p:spPr>
        <p:txBody>
          <a:bodyPr wrap="square">
            <a:noAutofit/>
          </a:bodyPr>
          <a:lstStyle/>
          <a:p>
            <a:pPr algn="ctr" eaLnBrk="1" latinLnBrk="0"/>
            <a:r>
              <a:rPr sz="900" b="1" dirty="0">
                <a:latin typeface="Arial"/>
              </a:rPr>
              <a:t>260,000 PPM</a:t>
            </a:r>
            <a:br>
              <a:rPr dirty="0"/>
            </a:br>
            <a:r>
              <a:rPr sz="900" b="1" dirty="0">
                <a:latin typeface="Arial"/>
              </a:rPr>
              <a:t>(164/631EA</a:t>
            </a:r>
            <a:br>
              <a:rPr dirty="0"/>
            </a:br>
            <a:r>
              <a:rPr sz="900" b="1" dirty="0" err="1">
                <a:latin typeface="Arial"/>
              </a:rPr>
              <a:t>Nov.2025~Mar.2026</a:t>
            </a:r>
            <a:r>
              <a:rPr sz="900" b="1" dirty="0">
                <a:latin typeface="Arial"/>
              </a:rPr>
              <a:t>)</a:t>
            </a:r>
            <a:endParaRPr lang="en-US" sz="1100" dirty="0">
              <a:solidFill>
                <a:srgbClr val="000000"/>
              </a:solidFill>
              <a:latin typeface="Arial" panose="020B0604020202020204" pitchFamily="34" charset="0"/>
              <a:ea typeface="LG Smart_H Regular" panose="020B0600000101010101"/>
              <a:cs typeface="Arial" panose="020B0604020202020204" pitchFamily="34" charset="0"/>
            </a:endParaRPr>
          </a:p>
        </p:txBody>
      </p:sp>
      <p:sp>
        <p:nvSpPr>
          <p:cNvPr id="6" name="Rectangle 5">
            <a:extLst>
              <a:ext uri="{FF2B5EF4-FFF2-40B4-BE49-F238E27FC236}">
                <a16:creationId xmlns:a16="http://schemas.microsoft.com/office/drawing/2014/main" id="{05F4D52F-1976-4C98-B1BC-20259337E454}"/>
              </a:ext>
            </a:extLst>
          </p:cNvPr>
          <p:cNvSpPr/>
          <p:nvPr/>
        </p:nvSpPr>
        <p:spPr>
          <a:xfrm>
            <a:off x="1677199" y="1639657"/>
            <a:ext cx="1224000" cy="246221"/>
          </a:xfrm>
          <a:prstGeom prst="rect">
            <a:avLst/>
          </a:prstGeom>
        </p:spPr>
        <p:txBody>
          <a:bodyPr wrap="square">
            <a:noAutofit/>
          </a:bodyPr>
          <a:lstStyle/>
          <a:p>
            <a:pPr algn="ctr" eaLnBrk="1" latinLnBrk="0"/>
            <a:r>
              <a:rPr sz="950" b="1">
                <a:latin typeface="Arial"/>
              </a:rPr>
              <a:t>90.5% 235,300 PPM</a:t>
            </a:r>
          </a:p>
        </p:txBody>
      </p:sp>
      <p:sp>
        <p:nvSpPr>
          <p:cNvPr id="7" name="Rectangle 6">
            <a:extLst>
              <a:ext uri="{FF2B5EF4-FFF2-40B4-BE49-F238E27FC236}">
                <a16:creationId xmlns:a16="http://schemas.microsoft.com/office/drawing/2014/main" id="{30B36D77-47D1-4939-B27C-3B292C8F8F4D}"/>
              </a:ext>
            </a:extLst>
          </p:cNvPr>
          <p:cNvSpPr/>
          <p:nvPr/>
        </p:nvSpPr>
        <p:spPr>
          <a:xfrm>
            <a:off x="1713759" y="4148648"/>
            <a:ext cx="1152000" cy="246221"/>
          </a:xfrm>
          <a:prstGeom prst="rect">
            <a:avLst/>
          </a:prstGeom>
        </p:spPr>
        <p:txBody>
          <a:bodyPr wrap="square">
            <a:noAutofit/>
          </a:bodyPr>
          <a:lstStyle/>
          <a:p>
            <a:pPr algn="ctr" eaLnBrk="1" latinLnBrk="0"/>
            <a:r>
              <a:rPr sz="950" b="1">
                <a:latin typeface="Arial"/>
              </a:rPr>
              <a:t>3.5% 9,100 PPM</a:t>
            </a:r>
            <a:endParaRPr lang="en-US" sz="1000" dirty="0">
              <a:solidFill>
                <a:srgbClr val="000000"/>
              </a:solidFill>
              <a:latin typeface="Arial" panose="020B0604020202020204" pitchFamily="34" charset="0"/>
              <a:ea typeface="LG Smart_H Regular" panose="020B0600000101010101"/>
              <a:cs typeface="Arial" panose="020B0604020202020204" pitchFamily="34" charset="0"/>
            </a:endParaRPr>
          </a:p>
        </p:txBody>
      </p:sp>
      <p:sp>
        <p:nvSpPr>
          <p:cNvPr id="8" name="Rectangle 7">
            <a:extLst>
              <a:ext uri="{FF2B5EF4-FFF2-40B4-BE49-F238E27FC236}">
                <a16:creationId xmlns:a16="http://schemas.microsoft.com/office/drawing/2014/main" id="{760BD9FF-BA40-45C8-B5BF-7471B03E5658}"/>
              </a:ext>
            </a:extLst>
          </p:cNvPr>
          <p:cNvSpPr/>
          <p:nvPr/>
        </p:nvSpPr>
        <p:spPr>
          <a:xfrm>
            <a:off x="1710838" y="3210563"/>
            <a:ext cx="1152000" cy="246221"/>
          </a:xfrm>
          <a:prstGeom prst="rect">
            <a:avLst/>
          </a:prstGeom>
        </p:spPr>
        <p:txBody>
          <a:bodyPr wrap="square">
            <a:noAutofit/>
          </a:bodyPr>
          <a:lstStyle/>
          <a:p>
            <a:pPr algn="ctr" eaLnBrk="1" latinLnBrk="0"/>
            <a:r>
              <a:rPr sz="950" b="1">
                <a:latin typeface="Arial"/>
              </a:rPr>
              <a:t>6.0% 15,600 PPM</a:t>
            </a:r>
          </a:p>
        </p:txBody>
      </p:sp>
      <p:cxnSp>
        <p:nvCxnSpPr>
          <p:cNvPr id="10" name="Connector: Elbow 9">
            <a:extLst>
              <a:ext uri="{FF2B5EF4-FFF2-40B4-BE49-F238E27FC236}">
                <a16:creationId xmlns:a16="http://schemas.microsoft.com/office/drawing/2014/main" id="{368EBAD9-AB13-4234-82B1-F3C26DD02447}"/>
              </a:ext>
            </a:extLst>
          </p:cNvPr>
          <p:cNvCxnSpPr>
            <a:stCxn id="104" idx="3"/>
            <a:endCxn id="130" idx="1"/>
          </p:cNvCxnSpPr>
          <p:nvPr/>
        </p:nvCxnSpPr>
        <p:spPr bwMode="auto">
          <a:xfrm>
            <a:off x="4822973" y="1454063"/>
            <a:ext cx="643866" cy="828615"/>
          </a:xfrm>
          <a:prstGeom prst="bentConnector3">
            <a:avLst/>
          </a:prstGeom>
          <a:noFill/>
          <a:ln w="9525" cap="flat" cmpd="sng" algn="ctr">
            <a:solidFill>
              <a:schemeClr val="bg2"/>
            </a:solidFill>
            <a:prstDash val="solid"/>
            <a:round/>
            <a:headEnd type="none" w="med" len="med"/>
            <a:tailEnd type="triangle"/>
          </a:ln>
          <a:effectLst/>
        </p:spPr>
      </p:cxnSp>
      <p:cxnSp>
        <p:nvCxnSpPr>
          <p:cNvPr id="13" name="Connector: Elbow 12">
            <a:extLst>
              <a:ext uri="{FF2B5EF4-FFF2-40B4-BE49-F238E27FC236}">
                <a16:creationId xmlns:a16="http://schemas.microsoft.com/office/drawing/2014/main" id="{856C0AA8-FC66-4C21-B31D-56F322604C13}"/>
              </a:ext>
            </a:extLst>
          </p:cNvPr>
          <p:cNvCxnSpPr>
            <a:stCxn id="52" idx="3"/>
            <a:endCxn id="71" idx="1"/>
          </p:cNvCxnSpPr>
          <p:nvPr/>
        </p:nvCxnSpPr>
        <p:spPr bwMode="auto">
          <a:xfrm>
            <a:off x="1257197" y="1445210"/>
            <a:ext cx="432673" cy="2451447"/>
          </a:xfrm>
          <a:prstGeom prst="bentConnector3">
            <a:avLst>
              <a:gd name="adj1" fmla="val 50000"/>
            </a:avLst>
          </a:prstGeom>
          <a:noFill/>
          <a:ln w="9525" cap="flat" cmpd="sng" algn="ctr">
            <a:solidFill>
              <a:schemeClr val="bg2"/>
            </a:solidFill>
            <a:prstDash val="solid"/>
            <a:round/>
            <a:headEnd type="none" w="med" len="med"/>
            <a:tailEnd type="triangle"/>
          </a:ln>
          <a:effectLst/>
        </p:spPr>
      </p:cxnSp>
      <p:cxnSp>
        <p:nvCxnSpPr>
          <p:cNvPr id="15" name="Connector: Elbow 14">
            <a:extLst>
              <a:ext uri="{FF2B5EF4-FFF2-40B4-BE49-F238E27FC236}">
                <a16:creationId xmlns:a16="http://schemas.microsoft.com/office/drawing/2014/main" id="{DB7FD541-B9AE-4E0D-A3AE-AC9AA5B1A5C8}"/>
              </a:ext>
            </a:extLst>
          </p:cNvPr>
          <p:cNvCxnSpPr>
            <a:cxnSpLocks/>
            <a:stCxn id="52" idx="3"/>
            <a:endCxn id="83" idx="1"/>
          </p:cNvCxnSpPr>
          <p:nvPr/>
        </p:nvCxnSpPr>
        <p:spPr bwMode="auto">
          <a:xfrm>
            <a:off x="1257197" y="1445210"/>
            <a:ext cx="390117" cy="1585615"/>
          </a:xfrm>
          <a:prstGeom prst="bentConnector3">
            <a:avLst>
              <a:gd name="adj1" fmla="val 50000"/>
            </a:avLst>
          </a:prstGeom>
          <a:noFill/>
          <a:ln w="9525" cap="flat" cmpd="sng" algn="ctr">
            <a:solidFill>
              <a:schemeClr val="bg2"/>
            </a:solidFill>
            <a:prstDash val="solid"/>
            <a:round/>
            <a:headEnd type="none" w="med" len="med"/>
            <a:tailEnd type="triangle"/>
          </a:ln>
          <a:effectLst/>
        </p:spPr>
      </p:cxnSp>
      <p:sp>
        <p:nvSpPr>
          <p:cNvPr id="65" name="직사각형 124">
            <a:extLst>
              <a:ext uri="{FF2B5EF4-FFF2-40B4-BE49-F238E27FC236}">
                <a16:creationId xmlns:a16="http://schemas.microsoft.com/office/drawing/2014/main" id="{DCFE7B6D-E84B-4231-8DAF-21ACE678009D}"/>
              </a:ext>
            </a:extLst>
          </p:cNvPr>
          <p:cNvSpPr/>
          <p:nvPr/>
        </p:nvSpPr>
        <p:spPr>
          <a:xfrm>
            <a:off x="3600726" y="2057400"/>
            <a:ext cx="1183477" cy="442463"/>
          </a:xfrm>
          <a:prstGeom prst="rect">
            <a:avLst/>
          </a:prstGeom>
          <a:solidFill>
            <a:schemeClr val="bg1">
              <a:lumMod val="95000"/>
            </a:schemeClr>
          </a:solidFill>
          <a:ln w="3175">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45718" rIns="0" bIns="45718" anchor="ctr"/>
          <a:lstStyle/>
          <a:p>
            <a:pPr algn="ctr" eaLnBrk="1" latinLnBrk="0"/>
            <a:r>
              <a:rPr lang="en-US" sz="1000" dirty="0">
                <a:solidFill>
                  <a:schemeClr val="tx1"/>
                </a:solidFill>
                <a:latin typeface="Arial" panose="020B0604020202020204" pitchFamily="34" charset="0"/>
                <a:ea typeface="Arial Unicode MS" panose="020B0604020202020204" pitchFamily="34" charset="-128"/>
                <a:cs typeface="Arial" panose="020B0604020202020204" pitchFamily="34" charset="0"/>
              </a:rPr>
              <a:t>Haptic/Touch </a:t>
            </a:r>
          </a:p>
          <a:p>
            <a:pPr algn="ctr" eaLnBrk="1" latinLnBrk="0"/>
            <a:r>
              <a:rPr lang="en-US" sz="1000" dirty="0">
                <a:solidFill>
                  <a:schemeClr val="tx1"/>
                </a:solidFill>
                <a:latin typeface="Arial" panose="020B0604020202020204" pitchFamily="34" charset="0"/>
                <a:ea typeface="Arial Unicode MS" panose="020B0604020202020204" pitchFamily="34" charset="-128"/>
                <a:cs typeface="Arial" panose="020B0604020202020204" pitchFamily="34" charset="0"/>
              </a:rPr>
              <a:t>Function</a:t>
            </a:r>
          </a:p>
        </p:txBody>
      </p:sp>
      <p:sp>
        <p:nvSpPr>
          <p:cNvPr id="16" name="Rectangle 15">
            <a:extLst>
              <a:ext uri="{FF2B5EF4-FFF2-40B4-BE49-F238E27FC236}">
                <a16:creationId xmlns:a16="http://schemas.microsoft.com/office/drawing/2014/main" id="{288E1CE7-F4BC-4EBD-90F5-3CFE8E35BDA1}"/>
              </a:ext>
            </a:extLst>
          </p:cNvPr>
          <p:cNvSpPr/>
          <p:nvPr/>
        </p:nvSpPr>
        <p:spPr>
          <a:xfrm>
            <a:off x="3678910" y="2514600"/>
            <a:ext cx="1152000" cy="246221"/>
          </a:xfrm>
          <a:prstGeom prst="rect">
            <a:avLst/>
          </a:prstGeom>
        </p:spPr>
        <p:txBody>
          <a:bodyPr wrap="square">
            <a:noAutofit/>
          </a:bodyPr>
          <a:lstStyle/>
          <a:p>
            <a:pPr algn="ctr" eaLnBrk="1" latinLnBrk="0"/>
            <a:r>
              <a:rPr sz="950" b="1">
                <a:latin typeface="Arial"/>
              </a:rPr>
              <a:t>1.0% 2,600 PPM</a:t>
            </a:r>
            <a:endParaRPr lang="en-US" sz="1000" dirty="0">
              <a:solidFill>
                <a:srgbClr val="000000"/>
              </a:solidFill>
              <a:latin typeface="Arial" panose="020B0604020202020204" pitchFamily="34" charset="0"/>
              <a:ea typeface="LG Smart_H Regular" panose="020B0600000101010101"/>
              <a:cs typeface="Arial" panose="020B0604020202020204" pitchFamily="34" charset="0"/>
            </a:endParaRPr>
          </a:p>
        </p:txBody>
      </p:sp>
      <p:sp>
        <p:nvSpPr>
          <p:cNvPr id="17" name="Rectangle 16">
            <a:extLst>
              <a:ext uri="{FF2B5EF4-FFF2-40B4-BE49-F238E27FC236}">
                <a16:creationId xmlns:a16="http://schemas.microsoft.com/office/drawing/2014/main" id="{6B236DF7-163A-478C-958C-BB6F9A456983}"/>
              </a:ext>
            </a:extLst>
          </p:cNvPr>
          <p:cNvSpPr/>
          <p:nvPr/>
        </p:nvSpPr>
        <p:spPr>
          <a:xfrm>
            <a:off x="3671058" y="1639402"/>
            <a:ext cx="1224000" cy="246221"/>
          </a:xfrm>
          <a:prstGeom prst="rect">
            <a:avLst/>
          </a:prstGeom>
        </p:spPr>
        <p:txBody>
          <a:bodyPr wrap="square">
            <a:noAutofit/>
          </a:bodyPr>
          <a:lstStyle/>
          <a:p>
            <a:pPr algn="ctr" eaLnBrk="1" latinLnBrk="0"/>
            <a:r>
              <a:rPr sz="950" b="1">
                <a:latin typeface="Arial"/>
              </a:rPr>
              <a:t>89.5% 232,700 PPM</a:t>
            </a:r>
            <a:endParaRPr lang="en-US" sz="1000" dirty="0">
              <a:solidFill>
                <a:srgbClr val="000000"/>
              </a:solidFill>
              <a:latin typeface="Arial" panose="020B0604020202020204" pitchFamily="34" charset="0"/>
              <a:ea typeface="LG Smart_H Regular" panose="020B0600000101010101"/>
              <a:cs typeface="Arial" panose="020B0604020202020204" pitchFamily="34" charset="0"/>
            </a:endParaRPr>
          </a:p>
        </p:txBody>
      </p:sp>
      <p:sp>
        <p:nvSpPr>
          <p:cNvPr id="18" name="Rectangle 17">
            <a:extLst>
              <a:ext uri="{FF2B5EF4-FFF2-40B4-BE49-F238E27FC236}">
                <a16:creationId xmlns:a16="http://schemas.microsoft.com/office/drawing/2014/main" id="{3E9C44D0-3B3F-416F-A77E-B52AFB15C63C}"/>
              </a:ext>
            </a:extLst>
          </p:cNvPr>
          <p:cNvSpPr/>
          <p:nvPr/>
        </p:nvSpPr>
        <p:spPr>
          <a:xfrm>
            <a:off x="5603342" y="1670836"/>
            <a:ext cx="1260000" cy="270000"/>
          </a:xfrm>
          <a:prstGeom prst="rect">
            <a:avLst/>
          </a:prstGeom>
        </p:spPr>
        <p:txBody>
          <a:bodyPr wrap="square">
            <a:noAutofit/>
          </a:bodyPr>
          <a:lstStyle/>
          <a:p>
            <a:pPr algn="ctr" eaLnBrk="1" latinLnBrk="0"/>
            <a:r>
              <a:rPr sz="950" b="1">
                <a:latin typeface="Arial"/>
              </a:rPr>
              <a:t>87.2% 226,624 PPM</a:t>
            </a:r>
            <a:endParaRPr lang="en-US" sz="1000" dirty="0">
              <a:solidFill>
                <a:srgbClr val="000000"/>
              </a:solidFill>
              <a:latin typeface="Arial" panose="020B0604020202020204" pitchFamily="34" charset="0"/>
              <a:ea typeface="LG Smart_H Regular" panose="020B0600000101010101"/>
              <a:cs typeface="Arial" panose="020B0604020202020204" pitchFamily="34" charset="0"/>
            </a:endParaRPr>
          </a:p>
        </p:txBody>
      </p:sp>
      <p:sp>
        <p:nvSpPr>
          <p:cNvPr id="19" name="Rectangle 18">
            <a:extLst>
              <a:ext uri="{FF2B5EF4-FFF2-40B4-BE49-F238E27FC236}">
                <a16:creationId xmlns:a16="http://schemas.microsoft.com/office/drawing/2014/main" id="{9610AA58-682F-4FB2-9E51-FF3CD21FFCAB}"/>
              </a:ext>
            </a:extLst>
          </p:cNvPr>
          <p:cNvSpPr/>
          <p:nvPr/>
        </p:nvSpPr>
        <p:spPr>
          <a:xfrm>
            <a:off x="5663322" y="2502569"/>
            <a:ext cx="1152000" cy="246221"/>
          </a:xfrm>
          <a:prstGeom prst="rect">
            <a:avLst/>
          </a:prstGeom>
        </p:spPr>
        <p:txBody>
          <a:bodyPr wrap="square">
            <a:noAutofit/>
          </a:bodyPr>
          <a:lstStyle/>
          <a:p>
            <a:pPr algn="ctr" eaLnBrk="1" latinLnBrk="0"/>
            <a:r>
              <a:rPr sz="950" b="1">
                <a:latin typeface="Arial"/>
              </a:rPr>
              <a:t>2.3% 6,076 PPM</a:t>
            </a:r>
            <a:endParaRPr lang="en-US" sz="1000" dirty="0">
              <a:solidFill>
                <a:srgbClr val="000000"/>
              </a:solidFill>
              <a:latin typeface="Arial" panose="020B0604020202020204" pitchFamily="34" charset="0"/>
              <a:ea typeface="LG Smart_H Regular" panose="020B0600000101010101"/>
              <a:cs typeface="Arial" panose="020B0604020202020204" pitchFamily="34" charset="0"/>
            </a:endParaRPr>
          </a:p>
        </p:txBody>
      </p:sp>
      <p:cxnSp>
        <p:nvCxnSpPr>
          <p:cNvPr id="24" name="Straight Arrow Connector 23">
            <a:extLst>
              <a:ext uri="{FF2B5EF4-FFF2-40B4-BE49-F238E27FC236}">
                <a16:creationId xmlns:a16="http://schemas.microsoft.com/office/drawing/2014/main" id="{BC6C054B-5829-4BE0-A31D-2CA7A59F1F41}"/>
              </a:ext>
            </a:extLst>
          </p:cNvPr>
          <p:cNvCxnSpPr>
            <a:stCxn id="69" idx="3"/>
            <a:endCxn id="50" idx="1"/>
          </p:cNvCxnSpPr>
          <p:nvPr/>
        </p:nvCxnSpPr>
        <p:spPr bwMode="auto">
          <a:xfrm>
            <a:off x="8909413" y="1457981"/>
            <a:ext cx="202586" cy="3843"/>
          </a:xfrm>
          <a:prstGeom prst="straightConnector1">
            <a:avLst/>
          </a:prstGeom>
          <a:noFill/>
          <a:ln w="9525" cap="flat" cmpd="sng" algn="ctr">
            <a:solidFill>
              <a:srgbClr val="C00000"/>
            </a:solidFill>
            <a:prstDash val="solid"/>
            <a:round/>
            <a:headEnd type="none" w="med" len="med"/>
            <a:tailEnd type="triangle"/>
          </a:ln>
          <a:effectLst/>
        </p:spPr>
      </p:cxnSp>
      <p:cxnSp>
        <p:nvCxnSpPr>
          <p:cNvPr id="26" name="Straight Arrow Connector 25">
            <a:extLst>
              <a:ext uri="{FF2B5EF4-FFF2-40B4-BE49-F238E27FC236}">
                <a16:creationId xmlns:a16="http://schemas.microsoft.com/office/drawing/2014/main" id="{318BE62C-07D6-473A-B50C-1AC28254AF33}"/>
              </a:ext>
            </a:extLst>
          </p:cNvPr>
          <p:cNvCxnSpPr>
            <a:stCxn id="70" idx="3"/>
            <a:endCxn id="53" idx="1"/>
          </p:cNvCxnSpPr>
          <p:nvPr/>
        </p:nvCxnSpPr>
        <p:spPr bwMode="auto">
          <a:xfrm flipV="1">
            <a:off x="8934127" y="2276564"/>
            <a:ext cx="202586" cy="5865"/>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8" name="Connector: Elbow 27">
            <a:extLst>
              <a:ext uri="{FF2B5EF4-FFF2-40B4-BE49-F238E27FC236}">
                <a16:creationId xmlns:a16="http://schemas.microsoft.com/office/drawing/2014/main" id="{24D5C481-9F97-4082-8B72-7206183B9A86}"/>
              </a:ext>
            </a:extLst>
          </p:cNvPr>
          <p:cNvCxnSpPr>
            <a:stCxn id="68" idx="3"/>
            <a:endCxn id="65" idx="1"/>
          </p:cNvCxnSpPr>
          <p:nvPr/>
        </p:nvCxnSpPr>
        <p:spPr bwMode="auto">
          <a:xfrm>
            <a:off x="2867767" y="1437809"/>
            <a:ext cx="732959" cy="840823"/>
          </a:xfrm>
          <a:prstGeom prst="bentConnector3">
            <a:avLst/>
          </a:prstGeom>
          <a:noFill/>
          <a:ln w="9525" cap="flat" cmpd="sng" algn="ctr">
            <a:solidFill>
              <a:schemeClr val="bg2"/>
            </a:solidFill>
            <a:prstDash val="solid"/>
            <a:round/>
            <a:headEnd type="none" w="med" len="med"/>
            <a:tailEnd type="triangle"/>
          </a:ln>
          <a:effectLst/>
        </p:spPr>
      </p:cxnSp>
      <p:sp>
        <p:nvSpPr>
          <p:cNvPr id="54" name="직사각형 124">
            <a:extLst>
              <a:ext uri="{FF2B5EF4-FFF2-40B4-BE49-F238E27FC236}">
                <a16:creationId xmlns:a16="http://schemas.microsoft.com/office/drawing/2014/main" id="{6E4609AA-34B6-4679-A537-F7B40309CB26}"/>
              </a:ext>
            </a:extLst>
          </p:cNvPr>
          <p:cNvSpPr/>
          <p:nvPr/>
        </p:nvSpPr>
        <p:spPr>
          <a:xfrm>
            <a:off x="3611236" y="2840939"/>
            <a:ext cx="1183477" cy="372079"/>
          </a:xfrm>
          <a:prstGeom prst="rect">
            <a:avLst/>
          </a:prstGeom>
          <a:solidFill>
            <a:schemeClr val="bg1">
              <a:lumMod val="95000"/>
            </a:schemeClr>
          </a:solidFill>
          <a:ln w="3175">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45718" rIns="0" bIns="45718" anchor="ctr"/>
          <a:lstStyle/>
          <a:p>
            <a:pPr algn="ctr" eaLnBrk="1" latinLnBrk="0"/>
            <a:r>
              <a:rPr lang="en-US" sz="1000" dirty="0">
                <a:solidFill>
                  <a:schemeClr val="tx1"/>
                </a:solidFill>
                <a:latin typeface="Arial" panose="020B0604020202020204" pitchFamily="34" charset="0"/>
                <a:ea typeface="Arial Unicode MS" panose="020B0604020202020204" pitchFamily="34" charset="-128"/>
                <a:cs typeface="Arial" panose="020B0604020202020204" pitchFamily="34" charset="0"/>
              </a:rPr>
              <a:t>Power Function</a:t>
            </a:r>
          </a:p>
        </p:txBody>
      </p:sp>
      <p:sp>
        <p:nvSpPr>
          <p:cNvPr id="58" name="직사각형 124">
            <a:extLst>
              <a:ext uri="{FF2B5EF4-FFF2-40B4-BE49-F238E27FC236}">
                <a16:creationId xmlns:a16="http://schemas.microsoft.com/office/drawing/2014/main" id="{219D5C33-0AD8-4A59-AFDB-684F26C6C4AF}"/>
              </a:ext>
            </a:extLst>
          </p:cNvPr>
          <p:cNvSpPr/>
          <p:nvPr/>
        </p:nvSpPr>
        <p:spPr>
          <a:xfrm>
            <a:off x="5423821" y="2842534"/>
            <a:ext cx="1427220" cy="377460"/>
          </a:xfrm>
          <a:prstGeom prst="rect">
            <a:avLst/>
          </a:prstGeom>
          <a:solidFill>
            <a:schemeClr val="bg1">
              <a:lumMod val="95000"/>
            </a:schemeClr>
          </a:solidFill>
          <a:ln w="3175">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45718" rIns="0" bIns="45718" anchor="ctr"/>
          <a:lstStyle/>
          <a:p>
            <a:pPr algn="ctr" eaLnBrk="1" latinLnBrk="0"/>
            <a:r>
              <a:rPr lang="en-US" sz="1000" dirty="0">
                <a:solidFill>
                  <a:srgbClr val="000000"/>
                </a:solidFill>
                <a:latin typeface="Arial" panose="020B0604020202020204" pitchFamily="34" charset="0"/>
                <a:ea typeface="LG Smart_H Regular" panose="020B0600000101010101"/>
                <a:cs typeface="Arial" panose="020B0604020202020204" pitchFamily="34" charset="0"/>
              </a:rPr>
              <a:t>Initial/ Booting </a:t>
            </a:r>
          </a:p>
        </p:txBody>
      </p:sp>
      <p:cxnSp>
        <p:nvCxnSpPr>
          <p:cNvPr id="11" name="Straight Arrow Connector 10">
            <a:extLst>
              <a:ext uri="{FF2B5EF4-FFF2-40B4-BE49-F238E27FC236}">
                <a16:creationId xmlns:a16="http://schemas.microsoft.com/office/drawing/2014/main" id="{316FA9F6-1715-4F4C-B7AF-5D0BE96AEC3A}"/>
              </a:ext>
            </a:extLst>
          </p:cNvPr>
          <p:cNvCxnSpPr>
            <a:cxnSpLocks/>
            <a:stCxn id="83" idx="3"/>
            <a:endCxn id="54" idx="1"/>
          </p:cNvCxnSpPr>
          <p:nvPr/>
        </p:nvCxnSpPr>
        <p:spPr bwMode="auto">
          <a:xfrm flipV="1">
            <a:off x="2863573" y="3026979"/>
            <a:ext cx="747663" cy="3846"/>
          </a:xfrm>
          <a:prstGeom prst="straightConnector1">
            <a:avLst/>
          </a:prstGeom>
          <a:noFill/>
          <a:ln w="9525" cap="flat" cmpd="sng" algn="ctr">
            <a:solidFill>
              <a:schemeClr val="bg1">
                <a:lumMod val="50000"/>
              </a:schemeClr>
            </a:solidFill>
            <a:prstDash val="solid"/>
            <a:round/>
            <a:headEnd type="none" w="med" len="med"/>
            <a:tailEnd type="triangle"/>
          </a:ln>
          <a:effectLst/>
        </p:spPr>
      </p:cxnSp>
      <p:cxnSp>
        <p:nvCxnSpPr>
          <p:cNvPr id="23" name="Straight Arrow Connector 22">
            <a:extLst>
              <a:ext uri="{FF2B5EF4-FFF2-40B4-BE49-F238E27FC236}">
                <a16:creationId xmlns:a16="http://schemas.microsoft.com/office/drawing/2014/main" id="{A20F0BDF-CB60-46E4-9AA0-1B74E29B6406}"/>
              </a:ext>
            </a:extLst>
          </p:cNvPr>
          <p:cNvCxnSpPr>
            <a:stCxn id="54" idx="3"/>
            <a:endCxn id="58" idx="1"/>
          </p:cNvCxnSpPr>
          <p:nvPr/>
        </p:nvCxnSpPr>
        <p:spPr bwMode="auto">
          <a:xfrm>
            <a:off x="4794713" y="3026979"/>
            <a:ext cx="629108" cy="4285"/>
          </a:xfrm>
          <a:prstGeom prst="straightConnector1">
            <a:avLst/>
          </a:prstGeom>
          <a:noFill/>
          <a:ln w="9525" cap="flat" cmpd="sng" algn="ctr">
            <a:solidFill>
              <a:schemeClr val="bg1">
                <a:lumMod val="50000"/>
              </a:schemeClr>
            </a:solidFill>
            <a:prstDash val="solid"/>
            <a:round/>
            <a:headEnd type="none" w="med" len="med"/>
            <a:tailEnd type="triangle"/>
          </a:ln>
          <a:effectLst/>
        </p:spPr>
      </p:cxnSp>
      <p:sp>
        <p:nvSpPr>
          <p:cNvPr id="66" name="직사각형 124">
            <a:extLst>
              <a:ext uri="{FF2B5EF4-FFF2-40B4-BE49-F238E27FC236}">
                <a16:creationId xmlns:a16="http://schemas.microsoft.com/office/drawing/2014/main" id="{6AA2B0E5-EC42-4C84-994A-778FC6501B06}"/>
              </a:ext>
            </a:extLst>
          </p:cNvPr>
          <p:cNvSpPr/>
          <p:nvPr/>
        </p:nvSpPr>
        <p:spPr>
          <a:xfrm>
            <a:off x="7322593" y="2819400"/>
            <a:ext cx="1586819" cy="416431"/>
          </a:xfrm>
          <a:prstGeom prst="rect">
            <a:avLst/>
          </a:prstGeom>
          <a:solidFill>
            <a:schemeClr val="bg1">
              <a:lumMod val="95000"/>
            </a:schemeClr>
          </a:solidFill>
          <a:ln w="3175">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45718" rIns="0" bIns="45718" anchor="ctr"/>
          <a:lstStyle/>
          <a:p>
            <a:pPr algn="ctr" eaLnBrk="1" latinLnBrk="0"/>
            <a:r>
              <a:rPr lang="en-US" sz="1000" dirty="0">
                <a:solidFill>
                  <a:srgbClr val="000000"/>
                </a:solidFill>
                <a:latin typeface="Arial" panose="020B0604020202020204" pitchFamily="34" charset="0"/>
                <a:ea typeface="LG Smart_H Regular" panose="020B0600000101010101"/>
                <a:cs typeface="Arial" panose="020B0604020202020204" pitchFamily="34" charset="0"/>
              </a:rPr>
              <a:t>Broken pin connector _ check PCBA</a:t>
            </a:r>
          </a:p>
        </p:txBody>
      </p:sp>
      <p:cxnSp>
        <p:nvCxnSpPr>
          <p:cNvPr id="30" name="Straight Arrow Connector 29">
            <a:extLst>
              <a:ext uri="{FF2B5EF4-FFF2-40B4-BE49-F238E27FC236}">
                <a16:creationId xmlns:a16="http://schemas.microsoft.com/office/drawing/2014/main" id="{654EA2C0-7A57-4607-B4AC-BFF85E4612BC}"/>
              </a:ext>
            </a:extLst>
          </p:cNvPr>
          <p:cNvCxnSpPr>
            <a:stCxn id="58" idx="3"/>
            <a:endCxn id="66" idx="1"/>
          </p:cNvCxnSpPr>
          <p:nvPr/>
        </p:nvCxnSpPr>
        <p:spPr bwMode="auto">
          <a:xfrm flipV="1">
            <a:off x="6851041" y="3027616"/>
            <a:ext cx="471552" cy="3648"/>
          </a:xfrm>
          <a:prstGeom prst="straightConnector1">
            <a:avLst/>
          </a:prstGeom>
          <a:noFill/>
          <a:ln w="9525" cap="flat" cmpd="sng" algn="ctr">
            <a:solidFill>
              <a:schemeClr val="bg1">
                <a:lumMod val="50000"/>
              </a:schemeClr>
            </a:solidFill>
            <a:prstDash val="solid"/>
            <a:round/>
            <a:headEnd type="none" w="med" len="med"/>
            <a:tailEnd type="triangle"/>
          </a:ln>
          <a:effectLst/>
        </p:spPr>
      </p:cxnSp>
      <p:sp>
        <p:nvSpPr>
          <p:cNvPr id="72" name="직사각형 124">
            <a:extLst>
              <a:ext uri="{FF2B5EF4-FFF2-40B4-BE49-F238E27FC236}">
                <a16:creationId xmlns:a16="http://schemas.microsoft.com/office/drawing/2014/main" id="{A6CBACB8-857B-400B-873A-143B2C375E95}"/>
              </a:ext>
            </a:extLst>
          </p:cNvPr>
          <p:cNvSpPr/>
          <p:nvPr/>
        </p:nvSpPr>
        <p:spPr>
          <a:xfrm>
            <a:off x="9103367" y="2829021"/>
            <a:ext cx="717728" cy="395913"/>
          </a:xfrm>
          <a:prstGeom prst="rect">
            <a:avLst/>
          </a:prstGeom>
          <a:solidFill>
            <a:schemeClr val="bg1">
              <a:lumMod val="95000"/>
            </a:schemeClr>
          </a:solidFill>
          <a:ln w="3175">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45718" rIns="0" bIns="45718" anchor="ctr"/>
          <a:lstStyle/>
          <a:p>
            <a:pPr algn="ctr" eaLnBrk="1" latinLnBrk="0"/>
            <a:r>
              <a:rPr lang="en-US" sz="1000" dirty="0">
                <a:solidFill>
                  <a:srgbClr val="000000"/>
                </a:solidFill>
                <a:latin typeface="Arial" panose="020B0604020202020204" pitchFamily="34" charset="0"/>
                <a:ea typeface="LG Smart_H Regular" panose="020B0600000101010101"/>
                <a:cs typeface="Arial" panose="020B0604020202020204" pitchFamily="34" charset="0"/>
              </a:rPr>
              <a:t>Mr. Hai HW</a:t>
            </a:r>
          </a:p>
        </p:txBody>
      </p:sp>
      <p:cxnSp>
        <p:nvCxnSpPr>
          <p:cNvPr id="21" name="Straight Arrow Connector 20">
            <a:extLst>
              <a:ext uri="{FF2B5EF4-FFF2-40B4-BE49-F238E27FC236}">
                <a16:creationId xmlns:a16="http://schemas.microsoft.com/office/drawing/2014/main" id="{BD629D11-E31F-42F2-886F-2ACA099FB128}"/>
              </a:ext>
            </a:extLst>
          </p:cNvPr>
          <p:cNvCxnSpPr>
            <a:stCxn id="66" idx="3"/>
            <a:endCxn id="72" idx="1"/>
          </p:cNvCxnSpPr>
          <p:nvPr/>
        </p:nvCxnSpPr>
        <p:spPr bwMode="auto">
          <a:xfrm flipV="1">
            <a:off x="8909412" y="3026978"/>
            <a:ext cx="193955" cy="638"/>
          </a:xfrm>
          <a:prstGeom prst="straightConnector1">
            <a:avLst/>
          </a:prstGeom>
          <a:noFill/>
          <a:ln w="9525" cap="flat" cmpd="sng" algn="ctr">
            <a:solidFill>
              <a:schemeClr val="bg1">
                <a:lumMod val="50000"/>
              </a:schemeClr>
            </a:solidFill>
            <a:prstDash val="solid"/>
            <a:round/>
            <a:headEnd type="none" w="med" len="med"/>
            <a:tailEnd type="triangle"/>
          </a:ln>
          <a:effectLst/>
        </p:spPr>
      </p:cxnSp>
      <p:sp>
        <p:nvSpPr>
          <p:cNvPr id="73" name="직사각형 124">
            <a:extLst>
              <a:ext uri="{FF2B5EF4-FFF2-40B4-BE49-F238E27FC236}">
                <a16:creationId xmlns:a16="http://schemas.microsoft.com/office/drawing/2014/main" id="{02F03E4C-6B25-4594-A904-49A6F7A6D5AB}"/>
              </a:ext>
            </a:extLst>
          </p:cNvPr>
          <p:cNvSpPr/>
          <p:nvPr/>
        </p:nvSpPr>
        <p:spPr>
          <a:xfrm>
            <a:off x="3611236" y="3710617"/>
            <a:ext cx="1183477" cy="372079"/>
          </a:xfrm>
          <a:prstGeom prst="rect">
            <a:avLst/>
          </a:prstGeom>
          <a:solidFill>
            <a:schemeClr val="bg1">
              <a:lumMod val="95000"/>
            </a:schemeClr>
          </a:solidFill>
          <a:ln w="3175">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45718" rIns="0" bIns="45718" anchor="ctr"/>
          <a:lstStyle/>
          <a:p>
            <a:pPr algn="ctr" eaLnBrk="1" latinLnBrk="0"/>
            <a:r>
              <a:rPr lang="en-US" sz="1000" dirty="0">
                <a:solidFill>
                  <a:schemeClr val="tx1"/>
                </a:solidFill>
                <a:latin typeface="Arial" panose="020B0604020202020204" pitchFamily="34" charset="0"/>
                <a:ea typeface="Arial Unicode MS" panose="020B0604020202020204" pitchFamily="34" charset="-128"/>
                <a:cs typeface="Arial" panose="020B0604020202020204" pitchFamily="34" charset="0"/>
              </a:rPr>
              <a:t>Uniformity Function</a:t>
            </a:r>
          </a:p>
        </p:txBody>
      </p:sp>
      <p:sp>
        <p:nvSpPr>
          <p:cNvPr id="78" name="직사각형 124">
            <a:extLst>
              <a:ext uri="{FF2B5EF4-FFF2-40B4-BE49-F238E27FC236}">
                <a16:creationId xmlns:a16="http://schemas.microsoft.com/office/drawing/2014/main" id="{AF1F87F1-6034-411B-A915-807D211A396D}"/>
              </a:ext>
            </a:extLst>
          </p:cNvPr>
          <p:cNvSpPr/>
          <p:nvPr/>
        </p:nvSpPr>
        <p:spPr>
          <a:xfrm>
            <a:off x="5415782" y="3707926"/>
            <a:ext cx="1427220" cy="377460"/>
          </a:xfrm>
          <a:prstGeom prst="rect">
            <a:avLst/>
          </a:prstGeom>
          <a:solidFill>
            <a:schemeClr val="bg1">
              <a:lumMod val="95000"/>
            </a:schemeClr>
          </a:solidFill>
          <a:ln w="3175">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45718" rIns="0" bIns="45718" anchor="ctr"/>
          <a:lstStyle/>
          <a:p>
            <a:pPr algn="ctr" eaLnBrk="1" latinLnBrk="0"/>
            <a:r>
              <a:rPr lang="en-US" sz="1000" dirty="0">
                <a:solidFill>
                  <a:srgbClr val="000000"/>
                </a:solidFill>
                <a:latin typeface="Arial" panose="020B0604020202020204" pitchFamily="34" charset="0"/>
                <a:ea typeface="LG Smart_H Regular" panose="020B0600000101010101"/>
                <a:cs typeface="Arial" panose="020B0604020202020204" pitchFamily="34" charset="0"/>
              </a:rPr>
              <a:t>Black Uniformity value</a:t>
            </a:r>
          </a:p>
        </p:txBody>
      </p:sp>
      <p:sp>
        <p:nvSpPr>
          <p:cNvPr id="81" name="직사각형 124">
            <a:extLst>
              <a:ext uri="{FF2B5EF4-FFF2-40B4-BE49-F238E27FC236}">
                <a16:creationId xmlns:a16="http://schemas.microsoft.com/office/drawing/2014/main" id="{8420CAE5-18AF-453C-961B-E2C9C8CEA2EA}"/>
              </a:ext>
            </a:extLst>
          </p:cNvPr>
          <p:cNvSpPr/>
          <p:nvPr/>
        </p:nvSpPr>
        <p:spPr>
          <a:xfrm>
            <a:off x="7314554" y="3688441"/>
            <a:ext cx="1586819" cy="416431"/>
          </a:xfrm>
          <a:prstGeom prst="rect">
            <a:avLst/>
          </a:prstGeom>
          <a:solidFill>
            <a:schemeClr val="bg1">
              <a:lumMod val="95000"/>
            </a:schemeClr>
          </a:solidFill>
          <a:ln w="3175">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45718" rIns="0" bIns="45718" anchor="ctr"/>
          <a:lstStyle/>
          <a:p>
            <a:pPr algn="ctr" eaLnBrk="1" latinLnBrk="0"/>
            <a:r>
              <a:rPr lang="en-US" sz="1000" dirty="0">
                <a:solidFill>
                  <a:srgbClr val="000000"/>
                </a:solidFill>
                <a:latin typeface="Arial" panose="020B0604020202020204" pitchFamily="34" charset="0"/>
                <a:ea typeface="LG Smart_H Regular" panose="020B0600000101010101"/>
                <a:cs typeface="Arial" panose="020B0604020202020204" pitchFamily="34" charset="0"/>
              </a:rPr>
              <a:t>Improve software</a:t>
            </a:r>
          </a:p>
        </p:txBody>
      </p:sp>
      <p:cxnSp>
        <p:nvCxnSpPr>
          <p:cNvPr id="82" name="Straight Arrow Connector 81">
            <a:extLst>
              <a:ext uri="{FF2B5EF4-FFF2-40B4-BE49-F238E27FC236}">
                <a16:creationId xmlns:a16="http://schemas.microsoft.com/office/drawing/2014/main" id="{2AF4C39A-6C4C-4507-8D8E-700E8114055E}"/>
              </a:ext>
            </a:extLst>
          </p:cNvPr>
          <p:cNvCxnSpPr>
            <a:stCxn id="78" idx="3"/>
            <a:endCxn id="81" idx="1"/>
          </p:cNvCxnSpPr>
          <p:nvPr/>
        </p:nvCxnSpPr>
        <p:spPr bwMode="auto">
          <a:xfrm>
            <a:off x="6843002" y="3896656"/>
            <a:ext cx="471552" cy="1"/>
          </a:xfrm>
          <a:prstGeom prst="straightConnector1">
            <a:avLst/>
          </a:prstGeom>
          <a:noFill/>
          <a:ln w="9525" cap="flat" cmpd="sng" algn="ctr">
            <a:solidFill>
              <a:schemeClr val="bg1">
                <a:lumMod val="50000"/>
              </a:schemeClr>
            </a:solidFill>
            <a:prstDash val="solid"/>
            <a:round/>
            <a:headEnd type="none" w="med" len="med"/>
            <a:tailEnd type="triangle"/>
          </a:ln>
          <a:effectLst/>
        </p:spPr>
      </p:cxnSp>
      <p:sp>
        <p:nvSpPr>
          <p:cNvPr id="87" name="직사각형 124">
            <a:extLst>
              <a:ext uri="{FF2B5EF4-FFF2-40B4-BE49-F238E27FC236}">
                <a16:creationId xmlns:a16="http://schemas.microsoft.com/office/drawing/2014/main" id="{67F1B8FE-E275-4B4F-8EC5-A272AA3A0D0E}"/>
              </a:ext>
            </a:extLst>
          </p:cNvPr>
          <p:cNvSpPr/>
          <p:nvPr/>
        </p:nvSpPr>
        <p:spPr>
          <a:xfrm>
            <a:off x="9095328" y="3698700"/>
            <a:ext cx="717728" cy="395913"/>
          </a:xfrm>
          <a:prstGeom prst="rect">
            <a:avLst/>
          </a:prstGeom>
          <a:solidFill>
            <a:schemeClr val="bg1">
              <a:lumMod val="95000"/>
            </a:schemeClr>
          </a:solidFill>
          <a:ln w="3175">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45718" rIns="0" bIns="45718" anchor="ctr"/>
          <a:lstStyle/>
          <a:p>
            <a:pPr algn="ctr" eaLnBrk="1" latinLnBrk="0"/>
            <a:r>
              <a:rPr lang="en-US" sz="1000" dirty="0">
                <a:solidFill>
                  <a:srgbClr val="000000"/>
                </a:solidFill>
                <a:latin typeface="Arial" panose="020B0604020202020204" pitchFamily="34" charset="0"/>
                <a:ea typeface="LG Smart_H Regular" panose="020B0600000101010101"/>
                <a:cs typeface="Arial" panose="020B0604020202020204" pitchFamily="34" charset="0"/>
              </a:rPr>
              <a:t>HQ R&amp;D</a:t>
            </a:r>
          </a:p>
        </p:txBody>
      </p:sp>
      <p:cxnSp>
        <p:nvCxnSpPr>
          <p:cNvPr id="88" name="Straight Arrow Connector 87">
            <a:extLst>
              <a:ext uri="{FF2B5EF4-FFF2-40B4-BE49-F238E27FC236}">
                <a16:creationId xmlns:a16="http://schemas.microsoft.com/office/drawing/2014/main" id="{1938498C-816F-4E61-9CA7-375B5168EFF2}"/>
              </a:ext>
            </a:extLst>
          </p:cNvPr>
          <p:cNvCxnSpPr>
            <a:stCxn id="81" idx="3"/>
            <a:endCxn id="87" idx="1"/>
          </p:cNvCxnSpPr>
          <p:nvPr/>
        </p:nvCxnSpPr>
        <p:spPr bwMode="auto">
          <a:xfrm>
            <a:off x="8901373" y="3896657"/>
            <a:ext cx="193955" cy="0"/>
          </a:xfrm>
          <a:prstGeom prst="straightConnector1">
            <a:avLst/>
          </a:prstGeom>
          <a:noFill/>
          <a:ln w="9525" cap="flat" cmpd="sng" algn="ctr">
            <a:solidFill>
              <a:schemeClr val="bg1">
                <a:lumMod val="50000"/>
              </a:schemeClr>
            </a:solidFill>
            <a:prstDash val="solid"/>
            <a:round/>
            <a:headEnd type="none" w="med" len="med"/>
            <a:tailEnd type="triangle"/>
          </a:ln>
          <a:effectLst/>
        </p:spPr>
      </p:cxnSp>
      <p:cxnSp>
        <p:nvCxnSpPr>
          <p:cNvPr id="44" name="Straight Arrow Connector 43">
            <a:extLst>
              <a:ext uri="{FF2B5EF4-FFF2-40B4-BE49-F238E27FC236}">
                <a16:creationId xmlns:a16="http://schemas.microsoft.com/office/drawing/2014/main" id="{9614912F-ED54-4E11-8172-5D2E5AECB661}"/>
              </a:ext>
            </a:extLst>
          </p:cNvPr>
          <p:cNvCxnSpPr>
            <a:stCxn id="71" idx="3"/>
            <a:endCxn id="73" idx="1"/>
          </p:cNvCxnSpPr>
          <p:nvPr/>
        </p:nvCxnSpPr>
        <p:spPr bwMode="auto">
          <a:xfrm>
            <a:off x="2906129" y="3896657"/>
            <a:ext cx="705107" cy="0"/>
          </a:xfrm>
          <a:prstGeom prst="straightConnector1">
            <a:avLst/>
          </a:prstGeom>
          <a:noFill/>
          <a:ln w="9525" cap="flat" cmpd="sng" algn="ctr">
            <a:solidFill>
              <a:schemeClr val="bg1">
                <a:lumMod val="50000"/>
              </a:schemeClr>
            </a:solidFill>
            <a:prstDash val="solid"/>
            <a:round/>
            <a:headEnd type="none" w="med" len="med"/>
            <a:tailEnd type="triangle"/>
          </a:ln>
          <a:effectLst/>
        </p:spPr>
      </p:cxnSp>
      <p:cxnSp>
        <p:nvCxnSpPr>
          <p:cNvPr id="48" name="Straight Arrow Connector 47">
            <a:extLst>
              <a:ext uri="{FF2B5EF4-FFF2-40B4-BE49-F238E27FC236}">
                <a16:creationId xmlns:a16="http://schemas.microsoft.com/office/drawing/2014/main" id="{26651EDC-BC53-4F29-A438-9CCB88853252}"/>
              </a:ext>
            </a:extLst>
          </p:cNvPr>
          <p:cNvCxnSpPr>
            <a:stCxn id="73" idx="3"/>
            <a:endCxn id="78" idx="1"/>
          </p:cNvCxnSpPr>
          <p:nvPr/>
        </p:nvCxnSpPr>
        <p:spPr bwMode="auto">
          <a:xfrm flipV="1">
            <a:off x="4794713" y="3896656"/>
            <a:ext cx="621069" cy="1"/>
          </a:xfrm>
          <a:prstGeom prst="straightConnector1">
            <a:avLst/>
          </a:prstGeom>
          <a:noFill/>
          <a:ln w="9525" cap="flat" cmpd="sng" algn="ctr">
            <a:solidFill>
              <a:schemeClr val="bg1">
                <a:lumMod val="50000"/>
              </a:schemeClr>
            </a:solidFill>
            <a:prstDash val="solid"/>
            <a:round/>
            <a:headEnd type="none" w="med" len="med"/>
            <a:tailEnd type="triangle"/>
          </a:ln>
          <a:effectLst/>
        </p:spPr>
      </p:cxnSp>
    </p:spTree>
    <p:extLst>
      <p:ext uri="{BB962C8B-B14F-4D97-AF65-F5344CB8AC3E}">
        <p14:creationId xmlns:p14="http://schemas.microsoft.com/office/powerpoint/2010/main" val="173838378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3A58C813-0DB8-4A39-A4D8-BBFF0639DBF9}"/>
              </a:ext>
            </a:extLst>
          </p:cNvPr>
          <p:cNvPicPr>
            <a:picLocks noChangeAspect="1"/>
          </p:cNvPicPr>
          <p:nvPr/>
        </p:nvPicPr>
        <p:blipFill>
          <a:blip r:embed="rId3"/>
          <a:stretch>
            <a:fillRect/>
          </a:stretch>
        </p:blipFill>
        <p:spPr>
          <a:xfrm>
            <a:off x="7344886" y="1969261"/>
            <a:ext cx="2257810" cy="1509767"/>
          </a:xfrm>
          <a:prstGeom prst="rect">
            <a:avLst/>
          </a:prstGeom>
        </p:spPr>
      </p:pic>
      <p:cxnSp>
        <p:nvCxnSpPr>
          <p:cNvPr id="6" name="Straight Arrow Connector 5">
            <a:extLst>
              <a:ext uri="{FF2B5EF4-FFF2-40B4-BE49-F238E27FC236}">
                <a16:creationId xmlns:a16="http://schemas.microsoft.com/office/drawing/2014/main" id="{1CF9D283-0BE3-4211-9C24-96F49A398B87}"/>
              </a:ext>
            </a:extLst>
          </p:cNvPr>
          <p:cNvCxnSpPr>
            <a:cxnSpLocks/>
          </p:cNvCxnSpPr>
          <p:nvPr/>
        </p:nvCxnSpPr>
        <p:spPr bwMode="auto">
          <a:xfrm>
            <a:off x="461814" y="3962400"/>
            <a:ext cx="2788042" cy="0"/>
          </a:xfrm>
          <a:prstGeom prst="straightConnector1">
            <a:avLst/>
          </a:prstGeom>
          <a:noFill/>
          <a:ln w="9525" cap="flat" cmpd="sng" algn="ctr">
            <a:solidFill>
              <a:schemeClr val="tx1"/>
            </a:solidFill>
            <a:prstDash val="solid"/>
            <a:round/>
            <a:headEnd type="triangle"/>
            <a:tailEnd type="triangle"/>
          </a:ln>
          <a:effectLst/>
        </p:spPr>
      </p:cxnSp>
      <p:pic>
        <p:nvPicPr>
          <p:cNvPr id="63" name="그림 1">
            <a:extLst>
              <a:ext uri="{FF2B5EF4-FFF2-40B4-BE49-F238E27FC236}">
                <a16:creationId xmlns:a16="http://schemas.microsoft.com/office/drawing/2014/main" id="{3BB4269D-C4B5-4018-8DB1-D3AE9D1DDFD9}"/>
              </a:ext>
            </a:extLst>
          </p:cNvPr>
          <p:cNvPicPr>
            <a:picLocks noChangeAspect="1"/>
          </p:cNvPicPr>
          <p:nvPr/>
        </p:nvPicPr>
        <p:blipFill>
          <a:blip r:embed="rId4"/>
          <a:stretch>
            <a:fillRect/>
          </a:stretch>
        </p:blipFill>
        <p:spPr>
          <a:xfrm>
            <a:off x="6403517" y="89801"/>
            <a:ext cx="3501891" cy="444992"/>
          </a:xfrm>
          <a:prstGeom prst="rect">
            <a:avLst/>
          </a:prstGeom>
        </p:spPr>
      </p:pic>
      <p:sp>
        <p:nvSpPr>
          <p:cNvPr id="64" name="제목 1">
            <a:extLst>
              <a:ext uri="{FF2B5EF4-FFF2-40B4-BE49-F238E27FC236}">
                <a16:creationId xmlns:a16="http://schemas.microsoft.com/office/drawing/2014/main" id="{9047FC76-DD99-4806-9048-DFF9426B47AE}"/>
              </a:ext>
            </a:extLst>
          </p:cNvPr>
          <p:cNvSpPr txBox="1">
            <a:spLocks/>
          </p:cNvSpPr>
          <p:nvPr/>
        </p:nvSpPr>
        <p:spPr bwMode="auto">
          <a:xfrm>
            <a:off x="1609" y="100364"/>
            <a:ext cx="7496175" cy="431800"/>
          </a:xfrm>
          <a:prstGeom prst="rect">
            <a:avLst/>
          </a:prstGeom>
          <a:noFill/>
          <a:ln w="9525">
            <a:noFill/>
            <a:miter lim="800000"/>
            <a:headEnd/>
            <a:tailEnd/>
          </a:ln>
        </p:spPr>
        <p:txBody>
          <a:bodyPr anchor="ctr"/>
          <a:lstStyle/>
          <a:p>
            <a:pPr eaLnBrk="1" latinLnBrk="0" hangingPunct="0">
              <a:defRPr/>
            </a:pPr>
            <a:r>
              <a:rPr lang="en-US" altLang="ko-KR" sz="1600" b="1" kern="0" dirty="0">
                <a:latin typeface="Arial Narrow" panose="020B0606020202030204" pitchFamily="34" charset="0"/>
                <a:ea typeface="Arial" panose="020B0600000101010101" pitchFamily="50" charset="-127"/>
              </a:rPr>
              <a:t>1.3 Define Project Y</a:t>
            </a:r>
            <a:endParaRPr lang="ko-KR" altLang="en-US" sz="1600" b="1" kern="0" dirty="0">
              <a:latin typeface="Arial Narrow" panose="020B0606020202030204" pitchFamily="34" charset="0"/>
              <a:ea typeface="LG스마트체 Regular" panose="020B0600000101010101" pitchFamily="50" charset="-127"/>
            </a:endParaRPr>
          </a:p>
        </p:txBody>
      </p:sp>
      <p:cxnSp>
        <p:nvCxnSpPr>
          <p:cNvPr id="85" name="Straight Connector 84">
            <a:extLst>
              <a:ext uri="{FF2B5EF4-FFF2-40B4-BE49-F238E27FC236}">
                <a16:creationId xmlns:a16="http://schemas.microsoft.com/office/drawing/2014/main" id="{5EF0FF8F-362D-491A-8F52-0E1B0A8C2FE8}"/>
              </a:ext>
            </a:extLst>
          </p:cNvPr>
          <p:cNvCxnSpPr/>
          <p:nvPr/>
        </p:nvCxnSpPr>
        <p:spPr>
          <a:xfrm>
            <a:off x="0" y="532164"/>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228" name="Slide Number Placeholder 4">
            <a:extLst>
              <a:ext uri="{FF2B5EF4-FFF2-40B4-BE49-F238E27FC236}">
                <a16:creationId xmlns:a16="http://schemas.microsoft.com/office/drawing/2014/main" id="{8BEED19C-E20A-4522-AB67-2EFCA2708530}"/>
              </a:ext>
            </a:extLst>
          </p:cNvPr>
          <p:cNvSpPr>
            <a:spLocks noGrp="1"/>
          </p:cNvSpPr>
          <p:nvPr>
            <p:ph type="sldNum" sz="quarter" idx="12"/>
          </p:nvPr>
        </p:nvSpPr>
        <p:spPr>
          <a:xfrm>
            <a:off x="3700326" y="6643499"/>
            <a:ext cx="2133600" cy="198047"/>
          </a:xfrm>
        </p:spPr>
        <p:txBody>
          <a:bodyPr/>
          <a:lstStyle/>
          <a:p>
            <a:pPr algn="ctr" eaLnBrk="1" latinLnBrk="0"/>
            <a:r>
              <a:rPr sz="1000" b="0">
                <a:latin typeface="Arial"/>
              </a:rPr>
              <a:t>05 / 33</a:t>
            </a:r>
          </a:p>
          <a:p>
            <a:pPr algn="ctr" eaLnBrk="1" latinLnBrk="0"/>
            <a:endParaRPr lang="ko-KR" altLang="en-US" sz="1200" dirty="0">
              <a:solidFill>
                <a:prstClr val="black">
                  <a:tint val="75000"/>
                </a:prstClr>
              </a:solidFill>
              <a:latin typeface="LG Smart_H Regular" panose="020B0600000101010101" pitchFamily="34" charset="-127"/>
              <a:ea typeface="LG Smart_H Regular" panose="020B0600000101010101" pitchFamily="34" charset="-127"/>
              <a:cs typeface="Arial" panose="020B0604020202020204" pitchFamily="34" charset="0"/>
            </a:endParaRPr>
          </a:p>
        </p:txBody>
      </p:sp>
      <p:sp>
        <p:nvSpPr>
          <p:cNvPr id="2" name="Rectangle 1">
            <a:extLst>
              <a:ext uri="{FF2B5EF4-FFF2-40B4-BE49-F238E27FC236}">
                <a16:creationId xmlns:a16="http://schemas.microsoft.com/office/drawing/2014/main" id="{CB35B87B-F8D3-4412-A631-FE92C5556A7C}"/>
              </a:ext>
            </a:extLst>
          </p:cNvPr>
          <p:cNvSpPr/>
          <p:nvPr/>
        </p:nvSpPr>
        <p:spPr>
          <a:xfrm>
            <a:off x="207432" y="686965"/>
            <a:ext cx="8284633" cy="276999"/>
          </a:xfrm>
          <a:prstGeom prst="rect">
            <a:avLst/>
          </a:prstGeom>
        </p:spPr>
        <p:txBody>
          <a:bodyPr wrap="square">
            <a:spAutoFit/>
          </a:bodyPr>
          <a:lstStyle/>
          <a:p>
            <a:pPr eaLnBrk="1" latinLnBrk="0"/>
            <a:r>
              <a:rPr lang="en-US" sz="1000" dirty="0">
                <a:latin typeface="Arial" panose="020B0600000101010101" pitchFamily="34" charset="-127"/>
                <a:ea typeface="Arial" panose="020B0600000101010101" pitchFamily="34" charset="-127"/>
                <a:cs typeface="Arial" panose="020B0604020202020204" pitchFamily="34" charset="0"/>
              </a:rPr>
              <a:t>To reduce the Luminance test NG, Project Y is defined as “Luminance value”.</a:t>
            </a:r>
          </a:p>
        </p:txBody>
      </p:sp>
      <p:sp>
        <p:nvSpPr>
          <p:cNvPr id="19" name="Rectangle 18">
            <a:extLst>
              <a:ext uri="{FF2B5EF4-FFF2-40B4-BE49-F238E27FC236}">
                <a16:creationId xmlns:a16="http://schemas.microsoft.com/office/drawing/2014/main" id="{242EAB6C-D76B-40D5-8D75-24A6F062710A}"/>
              </a:ext>
            </a:extLst>
          </p:cNvPr>
          <p:cNvSpPr/>
          <p:nvPr/>
        </p:nvSpPr>
        <p:spPr>
          <a:xfrm>
            <a:off x="1828804" y="1179270"/>
            <a:ext cx="1654229" cy="276999"/>
          </a:xfrm>
          <a:prstGeom prst="rect">
            <a:avLst/>
          </a:prstGeom>
          <a:solidFill>
            <a:schemeClr val="bg1">
              <a:lumMod val="75000"/>
            </a:schemeClr>
          </a:solidFill>
        </p:spPr>
        <p:txBody>
          <a:bodyPr wrap="square">
            <a:spAutoFit/>
          </a:bodyPr>
          <a:lstStyle/>
          <a:p>
            <a:pPr algn="ctr" eaLnBrk="1" latinLnBrk="0"/>
            <a:r>
              <a:rPr lang="en-US" sz="1000" b="1" dirty="0">
                <a:latin typeface="Arial" panose="020B0600000101010101" pitchFamily="34" charset="-127"/>
                <a:ea typeface="Arial" panose="020B0600000101010101" pitchFamily="34" charset="-127"/>
                <a:cs typeface="Arial" panose="020B0604020202020204" pitchFamily="34" charset="0"/>
              </a:rPr>
              <a:t> What is Luminance ?</a:t>
            </a:r>
          </a:p>
        </p:txBody>
      </p:sp>
      <p:sp>
        <p:nvSpPr>
          <p:cNvPr id="20" name="Rectangle 19">
            <a:extLst>
              <a:ext uri="{FF2B5EF4-FFF2-40B4-BE49-F238E27FC236}">
                <a16:creationId xmlns:a16="http://schemas.microsoft.com/office/drawing/2014/main" id="{D405AB4F-F26F-45A9-8F7F-C5783CC870BF}"/>
              </a:ext>
            </a:extLst>
          </p:cNvPr>
          <p:cNvSpPr/>
          <p:nvPr/>
        </p:nvSpPr>
        <p:spPr>
          <a:xfrm>
            <a:off x="7095071" y="1179270"/>
            <a:ext cx="982125" cy="276998"/>
          </a:xfrm>
          <a:prstGeom prst="rect">
            <a:avLst/>
          </a:prstGeom>
          <a:solidFill>
            <a:schemeClr val="bg1">
              <a:lumMod val="75000"/>
            </a:schemeClr>
          </a:solidFill>
        </p:spPr>
        <p:txBody>
          <a:bodyPr wrap="square">
            <a:spAutoFit/>
          </a:bodyPr>
          <a:lstStyle/>
          <a:p>
            <a:pPr algn="ctr" eaLnBrk="1" latinLnBrk="0"/>
            <a:r>
              <a:rPr lang="en-US" sz="1000" b="1" dirty="0">
                <a:latin typeface="Arial" panose="020B0600000101010101" pitchFamily="34" charset="-127"/>
                <a:ea typeface="Arial" panose="020B0600000101010101" pitchFamily="34" charset="-127"/>
                <a:cs typeface="Arial" panose="020B0604020202020204" pitchFamily="34" charset="0"/>
              </a:rPr>
              <a:t>Project Y</a:t>
            </a:r>
          </a:p>
        </p:txBody>
      </p:sp>
      <p:sp>
        <p:nvSpPr>
          <p:cNvPr id="27" name="Rectangle 26">
            <a:extLst>
              <a:ext uri="{FF2B5EF4-FFF2-40B4-BE49-F238E27FC236}">
                <a16:creationId xmlns:a16="http://schemas.microsoft.com/office/drawing/2014/main" id="{E1F16C62-F577-40B3-8AB6-3B7E6758EDA6}"/>
              </a:ext>
            </a:extLst>
          </p:cNvPr>
          <p:cNvSpPr/>
          <p:nvPr/>
        </p:nvSpPr>
        <p:spPr>
          <a:xfrm>
            <a:off x="283394" y="1665339"/>
            <a:ext cx="4606191" cy="1277273"/>
          </a:xfrm>
          <a:prstGeom prst="rect">
            <a:avLst/>
          </a:prstGeom>
        </p:spPr>
        <p:txBody>
          <a:bodyPr wrap="square">
            <a:spAutoFit/>
          </a:bodyPr>
          <a:lstStyle/>
          <a:p>
            <a:pPr marL="171450" indent="-171450" eaLnBrk="1" latinLnBrk="0">
              <a:buFont typeface="Arial" panose="020B0604020202020204" pitchFamily="34" charset="0"/>
              <a:buChar char="•"/>
            </a:pPr>
            <a:endParaRPr lang="en-US" sz="1100" dirty="0">
              <a:latin typeface="LG Smart_H Regular" panose="020B0600000101010101" pitchFamily="34" charset="-127"/>
              <a:ea typeface="LG Smart_H Regular" panose="020B0600000101010101" pitchFamily="34" charset="-127"/>
              <a:cs typeface="Arial" panose="020B0604020202020204" pitchFamily="34" charset="0"/>
            </a:endParaRPr>
          </a:p>
          <a:p>
            <a:pPr marL="171450" indent="-171450" eaLnBrk="1" latinLnBrk="0">
              <a:buFont typeface="Arial" panose="020B0604020202020204" pitchFamily="34" charset="0"/>
              <a:buChar char="•"/>
            </a:pPr>
            <a:r>
              <a:rPr lang="en-US" sz="1000" dirty="0">
                <a:latin typeface="Arial" panose="020B0600000101010101" pitchFamily="34" charset="-127"/>
                <a:ea typeface="Arial" panose="020B0600000101010101" pitchFamily="34" charset="-127"/>
                <a:cs typeface="Arial" panose="020B0604020202020204" pitchFamily="34" charset="0"/>
              </a:rPr>
              <a:t>Luminance is a photometric quantity used for light sources and displays such as LCDs.</a:t>
            </a:r>
          </a:p>
          <a:p>
            <a:pPr eaLnBrk="1" latinLnBrk="0"/>
            <a:endParaRPr lang="en-US" sz="1100" dirty="0">
              <a:latin typeface="LG Smart_H Regular" panose="020B0600000101010101" pitchFamily="34" charset="-127"/>
              <a:ea typeface="LG Smart_H Regular" panose="020B0600000101010101" pitchFamily="34" charset="-127"/>
              <a:cs typeface="Arial" panose="020B0604020202020204" pitchFamily="34" charset="0"/>
            </a:endParaRPr>
          </a:p>
          <a:p>
            <a:pPr marL="171450" indent="-171450" eaLnBrk="1" latinLnBrk="0">
              <a:buFont typeface="Arial" panose="020B0604020202020204" pitchFamily="34" charset="0"/>
              <a:buChar char="•"/>
            </a:pPr>
            <a:r>
              <a:rPr lang="en-US" sz="1000" dirty="0">
                <a:latin typeface="Arial" panose="020B0600000101010101" pitchFamily="34" charset="-127"/>
                <a:ea typeface="Arial" panose="020B0600000101010101" pitchFamily="34" charset="-127"/>
                <a:cs typeface="Arial" panose="020B0604020202020204" pitchFamily="34" charset="0"/>
              </a:rPr>
              <a:t>Luminance is the luminous intensity per unit area emitted by a surface in a given direction (unit: cd/m², also called nit) </a:t>
            </a:r>
          </a:p>
          <a:p>
            <a:pPr eaLnBrk="1" latinLnBrk="0"/>
            <a:r>
              <a:rPr lang="en-US" sz="1000" dirty="0">
                <a:latin typeface="Arial" panose="020B0600000101010101" pitchFamily="34" charset="-127"/>
                <a:ea typeface="Arial" panose="020B0600000101010101" pitchFamily="34" charset="-127"/>
                <a:cs typeface="Arial" panose="020B0604020202020204" pitchFamily="34" charset="0"/>
              </a:rPr>
              <a:t>    It quantifies the brightness level of the display.</a:t>
            </a:r>
          </a:p>
          <a:p>
            <a:pPr marL="171450" indent="-171450" eaLnBrk="1" latinLnBrk="0">
              <a:buFont typeface="Arial" panose="020B0604020202020204" pitchFamily="34" charset="0"/>
              <a:buChar char="•"/>
            </a:pPr>
            <a:endParaRPr lang="en-US" sz="1100" dirty="0">
              <a:latin typeface="LG Smart_H Regular" panose="020B0600000101010101" pitchFamily="34" charset="-127"/>
              <a:ea typeface="LG Smart_H Regular" panose="020B0600000101010101" pitchFamily="34" charset="-127"/>
              <a:cs typeface="Arial" panose="020B0604020202020204" pitchFamily="34" charset="0"/>
            </a:endParaRPr>
          </a:p>
        </p:txBody>
      </p:sp>
      <p:sp>
        <p:nvSpPr>
          <p:cNvPr id="61" name="Rectangle 60">
            <a:extLst>
              <a:ext uri="{FF2B5EF4-FFF2-40B4-BE49-F238E27FC236}">
                <a16:creationId xmlns:a16="http://schemas.microsoft.com/office/drawing/2014/main" id="{D96E2486-3128-4120-9217-9F837F3982C6}"/>
              </a:ext>
            </a:extLst>
          </p:cNvPr>
          <p:cNvSpPr/>
          <p:nvPr/>
        </p:nvSpPr>
        <p:spPr>
          <a:xfrm>
            <a:off x="5169435" y="1660181"/>
            <a:ext cx="4472313" cy="430887"/>
          </a:xfrm>
          <a:prstGeom prst="rect">
            <a:avLst/>
          </a:prstGeom>
        </p:spPr>
        <p:txBody>
          <a:bodyPr wrap="square">
            <a:spAutoFit/>
          </a:bodyPr>
          <a:lstStyle/>
          <a:p>
            <a:pPr marL="171450" indent="-171450" eaLnBrk="1" latinLnBrk="0">
              <a:buFont typeface="Arial" panose="020B0604020202020204" pitchFamily="34" charset="0"/>
              <a:buChar char="•"/>
            </a:pPr>
            <a:r>
              <a:rPr lang="en-US" sz="1000" dirty="0">
                <a:latin typeface="Arial" panose="020B0600000101010101" pitchFamily="34" charset="-127"/>
                <a:ea typeface="Arial" panose="020B0600000101010101" pitchFamily="34" charset="-127"/>
                <a:cs typeface="Arial" panose="020B0604020202020204" pitchFamily="34" charset="0"/>
              </a:rPr>
              <a:t>Project Y: “Luminance value” of the Porsche CID J1 Dual model.</a:t>
            </a:r>
          </a:p>
        </p:txBody>
      </p:sp>
      <p:sp>
        <p:nvSpPr>
          <p:cNvPr id="118" name="Rectangle 117">
            <a:extLst>
              <a:ext uri="{FF2B5EF4-FFF2-40B4-BE49-F238E27FC236}">
                <a16:creationId xmlns:a16="http://schemas.microsoft.com/office/drawing/2014/main" id="{191C40F2-5603-4149-B4BA-529994C06C94}"/>
              </a:ext>
            </a:extLst>
          </p:cNvPr>
          <p:cNvSpPr/>
          <p:nvPr/>
        </p:nvSpPr>
        <p:spPr bwMode="auto">
          <a:xfrm>
            <a:off x="63500" y="1557871"/>
            <a:ext cx="4889415" cy="5085623"/>
          </a:xfrm>
          <a:prstGeom prst="rect">
            <a:avLst/>
          </a:prstGeom>
          <a:noFill/>
          <a:ln w="9525" cap="flat" cmpd="sng" algn="ctr">
            <a:solidFill>
              <a:schemeClr val="tx1"/>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0" i="0" u="none" strike="noStrike" cap="none" normalizeH="0" baseline="0">
              <a:ln>
                <a:noFill/>
              </a:ln>
              <a:solidFill>
                <a:schemeClr val="tx1"/>
              </a:solidFill>
              <a:effectLst/>
              <a:latin typeface="LG Smart_H Regular" panose="020B0600000101010101" pitchFamily="34" charset="-127"/>
              <a:ea typeface="LG Smart_H Regular" panose="020B0600000101010101" pitchFamily="34" charset="-127"/>
            </a:endParaRPr>
          </a:p>
        </p:txBody>
      </p:sp>
      <p:sp>
        <p:nvSpPr>
          <p:cNvPr id="120" name="Rectangle 119">
            <a:extLst>
              <a:ext uri="{FF2B5EF4-FFF2-40B4-BE49-F238E27FC236}">
                <a16:creationId xmlns:a16="http://schemas.microsoft.com/office/drawing/2014/main" id="{100A0EA0-F5A9-436D-9D0E-8A7F23604522}"/>
              </a:ext>
            </a:extLst>
          </p:cNvPr>
          <p:cNvSpPr/>
          <p:nvPr/>
        </p:nvSpPr>
        <p:spPr bwMode="auto">
          <a:xfrm>
            <a:off x="4953085" y="1557866"/>
            <a:ext cx="4889415" cy="5085623"/>
          </a:xfrm>
          <a:prstGeom prst="rect">
            <a:avLst/>
          </a:prstGeom>
          <a:noFill/>
          <a:ln w="9525" cap="flat" cmpd="sng" algn="ctr">
            <a:solidFill>
              <a:schemeClr val="tx1"/>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0" i="0" u="none" strike="noStrike" cap="none" normalizeH="0" baseline="0">
              <a:ln>
                <a:noFill/>
              </a:ln>
              <a:solidFill>
                <a:schemeClr val="tx1"/>
              </a:solidFill>
              <a:effectLst/>
              <a:latin typeface="LG Smart_H Regular" panose="020B0600000101010101" pitchFamily="34" charset="-127"/>
              <a:ea typeface="LG Smart_H Regular" panose="020B0600000101010101" pitchFamily="34" charset="-127"/>
            </a:endParaRPr>
          </a:p>
        </p:txBody>
      </p:sp>
      <p:grpSp>
        <p:nvGrpSpPr>
          <p:cNvPr id="23" name="Group 22">
            <a:extLst>
              <a:ext uri="{FF2B5EF4-FFF2-40B4-BE49-F238E27FC236}">
                <a16:creationId xmlns:a16="http://schemas.microsoft.com/office/drawing/2014/main" id="{B3510BD3-45E9-4C25-A573-941E65C8BB4E}"/>
              </a:ext>
            </a:extLst>
          </p:cNvPr>
          <p:cNvGrpSpPr/>
          <p:nvPr/>
        </p:nvGrpSpPr>
        <p:grpSpPr>
          <a:xfrm>
            <a:off x="461814" y="2760869"/>
            <a:ext cx="4092785" cy="1430131"/>
            <a:chOff x="2874491" y="438296"/>
            <a:chExt cx="6320086" cy="3164992"/>
          </a:xfrm>
        </p:grpSpPr>
        <p:sp>
          <p:nvSpPr>
            <p:cNvPr id="32" name="Rectangle 31">
              <a:extLst>
                <a:ext uri="{FF2B5EF4-FFF2-40B4-BE49-F238E27FC236}">
                  <a16:creationId xmlns:a16="http://schemas.microsoft.com/office/drawing/2014/main" id="{D39F5129-BAF6-46F3-A235-D0CF5CD6BD42}"/>
                </a:ext>
              </a:extLst>
            </p:cNvPr>
            <p:cNvSpPr/>
            <p:nvPr/>
          </p:nvSpPr>
          <p:spPr>
            <a:xfrm>
              <a:off x="2874491" y="828247"/>
              <a:ext cx="4305300" cy="1117600"/>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LG Smart_H Regular" panose="020B0600000101010101" pitchFamily="34" charset="-127"/>
                <a:ea typeface="LG Smart_H Regular" panose="020B0600000101010101" pitchFamily="34" charset="-127"/>
              </a:endParaRPr>
            </a:p>
          </p:txBody>
        </p:sp>
        <p:sp>
          <p:nvSpPr>
            <p:cNvPr id="33" name="Rectangle 32">
              <a:extLst>
                <a:ext uri="{FF2B5EF4-FFF2-40B4-BE49-F238E27FC236}">
                  <a16:creationId xmlns:a16="http://schemas.microsoft.com/office/drawing/2014/main" id="{67C9F4A3-9565-4093-84E6-8D3A1DD83121}"/>
                </a:ext>
              </a:extLst>
            </p:cNvPr>
            <p:cNvSpPr/>
            <p:nvPr/>
          </p:nvSpPr>
          <p:spPr>
            <a:xfrm>
              <a:off x="2992395" y="918098"/>
              <a:ext cx="4069492" cy="937897"/>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atin typeface="Arial" panose="020B0600000101010101" pitchFamily="34" charset="-127"/>
                  <a:ea typeface="Arial" panose="020B0600000101010101" pitchFamily="34" charset="-127"/>
                </a:rPr>
                <a:t>+</a:t>
              </a:r>
            </a:p>
          </p:txBody>
        </p:sp>
        <p:cxnSp>
          <p:nvCxnSpPr>
            <p:cNvPr id="34" name="Straight Connector 33">
              <a:extLst>
                <a:ext uri="{FF2B5EF4-FFF2-40B4-BE49-F238E27FC236}">
                  <a16:creationId xmlns:a16="http://schemas.microsoft.com/office/drawing/2014/main" id="{9828F0AD-5A19-4D73-BB8A-65B8CDAD978F}"/>
                </a:ext>
              </a:extLst>
            </p:cNvPr>
            <p:cNvCxnSpPr>
              <a:stCxn id="33" idx="0"/>
              <a:endCxn id="32" idx="2"/>
            </p:cNvCxnSpPr>
            <p:nvPr/>
          </p:nvCxnSpPr>
          <p:spPr>
            <a:xfrm>
              <a:off x="5027141" y="918098"/>
              <a:ext cx="0" cy="1027749"/>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8F564BEA-F1BC-4357-9354-0C15C28CF1A0}"/>
                </a:ext>
              </a:extLst>
            </p:cNvPr>
            <p:cNvCxnSpPr>
              <a:stCxn id="37" idx="0"/>
            </p:cNvCxnSpPr>
            <p:nvPr/>
          </p:nvCxnSpPr>
          <p:spPr>
            <a:xfrm flipV="1">
              <a:off x="4011299" y="1397902"/>
              <a:ext cx="1" cy="937897"/>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6" name="Rectangle 35">
              <a:extLst>
                <a:ext uri="{FF2B5EF4-FFF2-40B4-BE49-F238E27FC236}">
                  <a16:creationId xmlns:a16="http://schemas.microsoft.com/office/drawing/2014/main" id="{E4767A0C-8332-4F58-BE3F-9B731132E6BA}"/>
                </a:ext>
              </a:extLst>
            </p:cNvPr>
            <p:cNvSpPr/>
            <p:nvPr/>
          </p:nvSpPr>
          <p:spPr>
            <a:xfrm>
              <a:off x="3625537" y="2526963"/>
              <a:ext cx="771525" cy="1076325"/>
            </a:xfrm>
            <a:prstGeom prst="rect">
              <a:avLst/>
            </a:prstGeom>
            <a:solidFill>
              <a:schemeClr val="bg1">
                <a:lumMod val="75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LG Smart_H Regular" panose="020B0600000101010101" pitchFamily="34" charset="-127"/>
                <a:ea typeface="LG Smart_H Regular" panose="020B0600000101010101" pitchFamily="34" charset="-127"/>
              </a:endParaRPr>
            </a:p>
          </p:txBody>
        </p:sp>
        <p:sp>
          <p:nvSpPr>
            <p:cNvPr id="37" name="Rectangle 36">
              <a:extLst>
                <a:ext uri="{FF2B5EF4-FFF2-40B4-BE49-F238E27FC236}">
                  <a16:creationId xmlns:a16="http://schemas.microsoft.com/office/drawing/2014/main" id="{56B4BDCF-6360-4CDC-B5A9-CF549A2654F6}"/>
                </a:ext>
              </a:extLst>
            </p:cNvPr>
            <p:cNvSpPr/>
            <p:nvPr/>
          </p:nvSpPr>
          <p:spPr>
            <a:xfrm>
              <a:off x="3874270" y="2335799"/>
              <a:ext cx="274058" cy="191164"/>
            </a:xfrm>
            <a:prstGeom prst="rect">
              <a:avLst/>
            </a:prstGeom>
            <a:solidFill>
              <a:schemeClr val="bg1">
                <a:lumMod val="75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LG Smart_H Regular" panose="020B0600000101010101" pitchFamily="34" charset="-127"/>
                <a:ea typeface="LG Smart_H Regular" panose="020B0600000101010101" pitchFamily="34" charset="-127"/>
              </a:endParaRPr>
            </a:p>
          </p:txBody>
        </p:sp>
        <p:sp>
          <p:nvSpPr>
            <p:cNvPr id="38" name="TextBox 37">
              <a:extLst>
                <a:ext uri="{FF2B5EF4-FFF2-40B4-BE49-F238E27FC236}">
                  <a16:creationId xmlns:a16="http://schemas.microsoft.com/office/drawing/2014/main" id="{D1EA06A3-30E7-4165-AE11-51957BBD9466}"/>
                </a:ext>
              </a:extLst>
            </p:cNvPr>
            <p:cNvSpPr txBox="1"/>
            <p:nvPr/>
          </p:nvSpPr>
          <p:spPr>
            <a:xfrm>
              <a:off x="3592976" y="2795782"/>
              <a:ext cx="831445" cy="613020"/>
            </a:xfrm>
            <a:prstGeom prst="rect">
              <a:avLst/>
            </a:prstGeom>
            <a:noFill/>
          </p:spPr>
          <p:txBody>
            <a:bodyPr wrap="square" rtlCol="0">
              <a:spAutoFit/>
            </a:bodyPr>
            <a:lstStyle/>
            <a:p>
              <a:pPr algn="ctr"/>
              <a:r>
                <a:rPr lang="en-US" sz="600" dirty="0">
                  <a:latin typeface="Arial" panose="020B0600000101010101" pitchFamily="34" charset="-127"/>
                  <a:ea typeface="Arial" panose="020B0600000101010101" pitchFamily="34" charset="-127"/>
                </a:rPr>
                <a:t>Camera</a:t>
              </a:r>
            </a:p>
            <a:p>
              <a:pPr algn="ctr"/>
              <a:r>
                <a:rPr lang="en-US" sz="600" dirty="0">
                  <a:latin typeface="Arial" panose="020B0600000101010101" pitchFamily="34" charset="-127"/>
                  <a:ea typeface="Arial" panose="020B0600000101010101" pitchFamily="34" charset="-127"/>
                </a:rPr>
                <a:t>CS2000</a:t>
              </a:r>
            </a:p>
          </p:txBody>
        </p:sp>
        <p:sp>
          <p:nvSpPr>
            <p:cNvPr id="39" name="TextBox 38">
              <a:extLst>
                <a:ext uri="{FF2B5EF4-FFF2-40B4-BE49-F238E27FC236}">
                  <a16:creationId xmlns:a16="http://schemas.microsoft.com/office/drawing/2014/main" id="{9C1C1BAD-EBC5-4492-96B1-BDA3AF775ABC}"/>
                </a:ext>
              </a:extLst>
            </p:cNvPr>
            <p:cNvSpPr txBox="1"/>
            <p:nvPr/>
          </p:nvSpPr>
          <p:spPr>
            <a:xfrm>
              <a:off x="3742627" y="438296"/>
              <a:ext cx="559928" cy="510849"/>
            </a:xfrm>
            <a:prstGeom prst="rect">
              <a:avLst/>
            </a:prstGeom>
            <a:noFill/>
          </p:spPr>
          <p:txBody>
            <a:bodyPr wrap="none" rtlCol="0">
              <a:spAutoFit/>
            </a:bodyPr>
            <a:lstStyle/>
            <a:p>
              <a:r>
                <a:rPr lang="en-US" sz="900" b="1" dirty="0">
                  <a:latin typeface="Arial" panose="020B0600000101010101" pitchFamily="34" charset="-127"/>
                  <a:ea typeface="Arial" panose="020B0600000101010101" pitchFamily="34" charset="-127"/>
                </a:rPr>
                <a:t>PID</a:t>
              </a:r>
            </a:p>
          </p:txBody>
        </p:sp>
        <p:sp>
          <p:nvSpPr>
            <p:cNvPr id="40" name="TextBox 39">
              <a:extLst>
                <a:ext uri="{FF2B5EF4-FFF2-40B4-BE49-F238E27FC236}">
                  <a16:creationId xmlns:a16="http://schemas.microsoft.com/office/drawing/2014/main" id="{E22AE40D-F801-4C4A-9EF9-F9D2A39F3647}"/>
                </a:ext>
              </a:extLst>
            </p:cNvPr>
            <p:cNvSpPr txBox="1"/>
            <p:nvPr/>
          </p:nvSpPr>
          <p:spPr>
            <a:xfrm>
              <a:off x="5819778" y="438296"/>
              <a:ext cx="564878" cy="510849"/>
            </a:xfrm>
            <a:prstGeom prst="rect">
              <a:avLst/>
            </a:prstGeom>
            <a:noFill/>
          </p:spPr>
          <p:txBody>
            <a:bodyPr wrap="none" rtlCol="0">
              <a:spAutoFit/>
            </a:bodyPr>
            <a:lstStyle/>
            <a:p>
              <a:r>
                <a:rPr lang="en-US" sz="900" b="1" dirty="0">
                  <a:latin typeface="Arial" panose="020B0600000101010101" pitchFamily="34" charset="-127"/>
                  <a:ea typeface="Arial" panose="020B0600000101010101" pitchFamily="34" charset="-127"/>
                </a:rPr>
                <a:t>CID</a:t>
              </a:r>
            </a:p>
          </p:txBody>
        </p:sp>
        <p:sp>
          <p:nvSpPr>
            <p:cNvPr id="45" name="TextBox 44">
              <a:extLst>
                <a:ext uri="{FF2B5EF4-FFF2-40B4-BE49-F238E27FC236}">
                  <a16:creationId xmlns:a16="http://schemas.microsoft.com/office/drawing/2014/main" id="{12BE85C0-15EE-41DE-B564-360A2B3B0D71}"/>
                </a:ext>
              </a:extLst>
            </p:cNvPr>
            <p:cNvSpPr txBox="1"/>
            <p:nvPr/>
          </p:nvSpPr>
          <p:spPr>
            <a:xfrm>
              <a:off x="7250924" y="1094159"/>
              <a:ext cx="1943653" cy="510849"/>
            </a:xfrm>
            <a:prstGeom prst="rect">
              <a:avLst/>
            </a:prstGeom>
            <a:noFill/>
          </p:spPr>
          <p:txBody>
            <a:bodyPr wrap="none" rtlCol="0">
              <a:spAutoFit/>
            </a:bodyPr>
            <a:lstStyle/>
            <a:p>
              <a:r>
                <a:rPr lang="en-US" sz="900" b="1" dirty="0">
                  <a:latin typeface="Arial" panose="020B0600000101010101" pitchFamily="34" charset="-127"/>
                  <a:ea typeface="Arial" panose="020B0600000101010101" pitchFamily="34" charset="-127"/>
                </a:rPr>
                <a:t>J1 Dual PPR RHD set</a:t>
              </a:r>
            </a:p>
          </p:txBody>
        </p:sp>
      </p:grpSp>
      <p:sp>
        <p:nvSpPr>
          <p:cNvPr id="47" name="Rectangle 46">
            <a:extLst>
              <a:ext uri="{FF2B5EF4-FFF2-40B4-BE49-F238E27FC236}">
                <a16:creationId xmlns:a16="http://schemas.microsoft.com/office/drawing/2014/main" id="{6F77CA24-93D9-4FB1-B981-DD60FB4D2381}"/>
              </a:ext>
            </a:extLst>
          </p:cNvPr>
          <p:cNvSpPr/>
          <p:nvPr/>
        </p:nvSpPr>
        <p:spPr>
          <a:xfrm>
            <a:off x="256209" y="4508325"/>
            <a:ext cx="4580462" cy="600164"/>
          </a:xfrm>
          <a:prstGeom prst="rect">
            <a:avLst/>
          </a:prstGeom>
        </p:spPr>
        <p:txBody>
          <a:bodyPr wrap="square">
            <a:spAutoFit/>
          </a:bodyPr>
          <a:lstStyle/>
          <a:p>
            <a:pPr marL="171450" indent="-171450" eaLnBrk="1" latinLnBrk="0">
              <a:buFont typeface="Arial" panose="020B0604020202020204" pitchFamily="34" charset="0"/>
              <a:buChar char="•"/>
            </a:pPr>
            <a:r>
              <a:rPr lang="en-US" sz="1000" dirty="0">
                <a:latin typeface="Arial" panose="020B0600000101010101" pitchFamily="34" charset="-127"/>
                <a:ea typeface="Arial" panose="020B0600000101010101" pitchFamily="34" charset="-127"/>
                <a:cs typeface="Arial" panose="020B0604020202020204" pitchFamily="34" charset="0"/>
              </a:rPr>
              <a:t>The sensor inside the detector receives the light from the center of the LCD, calculates the luminance value and returns the measurement result to the program.</a:t>
            </a:r>
          </a:p>
        </p:txBody>
      </p:sp>
      <p:sp>
        <p:nvSpPr>
          <p:cNvPr id="48" name="Rectangle 47">
            <a:extLst>
              <a:ext uri="{FF2B5EF4-FFF2-40B4-BE49-F238E27FC236}">
                <a16:creationId xmlns:a16="http://schemas.microsoft.com/office/drawing/2014/main" id="{A6E5C9F6-7913-475A-85E1-43C17ABA4F1D}"/>
              </a:ext>
            </a:extLst>
          </p:cNvPr>
          <p:cNvSpPr/>
          <p:nvPr/>
        </p:nvSpPr>
        <p:spPr>
          <a:xfrm>
            <a:off x="256208" y="5267236"/>
            <a:ext cx="4720152" cy="600164"/>
          </a:xfrm>
          <a:prstGeom prst="rect">
            <a:avLst/>
          </a:prstGeom>
        </p:spPr>
        <p:txBody>
          <a:bodyPr wrap="square">
            <a:spAutoFit/>
          </a:bodyPr>
          <a:lstStyle/>
          <a:p>
            <a:pPr marL="171450" indent="-171450" eaLnBrk="1" latinLnBrk="0">
              <a:buFont typeface="Arial" panose="020B0604020202020204" pitchFamily="34" charset="0"/>
              <a:buChar char="•"/>
            </a:pPr>
            <a:r>
              <a:rPr lang="en-US" sz="1000" dirty="0">
                <a:latin typeface="Arial" panose="020B0600000101010101" pitchFamily="34" charset="-127"/>
                <a:ea typeface="Arial" panose="020B0600000101010101" pitchFamily="34" charset="-127"/>
                <a:cs typeface="Arial" panose="020B0604020202020204" pitchFamily="34" charset="0"/>
              </a:rPr>
              <a:t>Issue: The luminance measured on the PID screen is lower than the average of the compared values, so the luminance test result falls below the spec.</a:t>
            </a:r>
          </a:p>
        </p:txBody>
      </p:sp>
      <p:grpSp>
        <p:nvGrpSpPr>
          <p:cNvPr id="9" name="Group 8">
            <a:extLst>
              <a:ext uri="{FF2B5EF4-FFF2-40B4-BE49-F238E27FC236}">
                <a16:creationId xmlns:a16="http://schemas.microsoft.com/office/drawing/2014/main" id="{D70DAEF3-BCAB-4209-A697-FA691623BE35}"/>
              </a:ext>
            </a:extLst>
          </p:cNvPr>
          <p:cNvGrpSpPr/>
          <p:nvPr/>
        </p:nvGrpSpPr>
        <p:grpSpPr>
          <a:xfrm>
            <a:off x="5059910" y="4454756"/>
            <a:ext cx="4845498" cy="2026116"/>
            <a:chOff x="5057775" y="4374684"/>
            <a:chExt cx="4673065" cy="2026116"/>
          </a:xfrm>
        </p:grpSpPr>
        <p:sp>
          <p:nvSpPr>
            <p:cNvPr id="25" name="Rectangle 24">
              <a:extLst>
                <a:ext uri="{FF2B5EF4-FFF2-40B4-BE49-F238E27FC236}">
                  <a16:creationId xmlns:a16="http://schemas.microsoft.com/office/drawing/2014/main" id="{19DBA1ED-3148-49D7-A167-BF35898176B1}"/>
                </a:ext>
              </a:extLst>
            </p:cNvPr>
            <p:cNvSpPr/>
            <p:nvPr/>
          </p:nvSpPr>
          <p:spPr>
            <a:xfrm>
              <a:off x="5057775" y="6139190"/>
              <a:ext cx="4472313" cy="261610"/>
            </a:xfrm>
            <a:prstGeom prst="rect">
              <a:avLst/>
            </a:prstGeom>
          </p:spPr>
          <p:txBody>
            <a:bodyPr wrap="square">
              <a:spAutoFit/>
            </a:bodyPr>
            <a:lstStyle/>
            <a:p>
              <a:pPr marL="171450" indent="-171450">
                <a:buFont typeface="Arial" panose="020B0604020202020204" pitchFamily="34" charset="0"/>
                <a:buChar char="•"/>
              </a:pPr>
              <a:r>
                <a:rPr lang="en-US" sz="1100" b="1" dirty="0">
                  <a:latin typeface="Arial" panose="020B0600000101010101" pitchFamily="34" charset="-127"/>
                  <a:ea typeface="Arial" panose="020B0600000101010101" pitchFamily="34" charset="-127"/>
                  <a:cs typeface="Arial" panose="020B0604020202020204" pitchFamily="34" charset="0"/>
                </a:rPr>
                <a:t>Project Y= Luminance value = f(x1, x2, …, xn) + ε</a:t>
              </a:r>
            </a:p>
          </p:txBody>
        </p:sp>
        <p:sp>
          <p:nvSpPr>
            <p:cNvPr id="49" name="Rectangle 48">
              <a:extLst>
                <a:ext uri="{FF2B5EF4-FFF2-40B4-BE49-F238E27FC236}">
                  <a16:creationId xmlns:a16="http://schemas.microsoft.com/office/drawing/2014/main" id="{FE2864A1-6435-4223-BFD7-661C15F6E3E5}"/>
                </a:ext>
              </a:extLst>
            </p:cNvPr>
            <p:cNvSpPr/>
            <p:nvPr/>
          </p:nvSpPr>
          <p:spPr>
            <a:xfrm>
              <a:off x="5057775" y="4374684"/>
              <a:ext cx="4673065" cy="1785104"/>
            </a:xfrm>
            <a:prstGeom prst="rect">
              <a:avLst/>
            </a:prstGeom>
          </p:spPr>
          <p:txBody>
            <a:bodyPr wrap="square">
              <a:spAutoFit/>
            </a:bodyPr>
            <a:lstStyle/>
            <a:p>
              <a:r>
                <a:rPr lang="en-US" sz="1100" dirty="0">
                  <a:latin typeface="Arial" panose="020B0600000101010101" pitchFamily="34" charset="-127"/>
                  <a:ea typeface="Arial" panose="020B0600000101010101" pitchFamily="34" charset="-127"/>
                  <a:cs typeface="Arial" panose="020B0604020202020204" pitchFamily="34" charset="0"/>
                </a:rPr>
                <a:t>Measurement method:</a:t>
              </a:r>
            </a:p>
            <a:p>
              <a:pPr marL="171450" indent="-171450">
                <a:buFont typeface="Arial" panose="020B0604020202020204" pitchFamily="34" charset="0"/>
                <a:buChar char="•"/>
              </a:pPr>
              <a:r>
                <a:rPr lang="en-US" sz="1100" dirty="0">
                  <a:latin typeface="Arial" panose="020B0600000101010101" pitchFamily="34" charset="-127"/>
                  <a:ea typeface="Arial" panose="020B0600000101010101" pitchFamily="34" charset="-127"/>
                  <a:cs typeface="Arial" panose="020B0604020202020204" pitchFamily="34" charset="0"/>
                </a:rPr>
                <a:t>The set is connected to the test bench; when the program sends the request, the display shows the highest brightness level.</a:t>
              </a:r>
            </a:p>
            <a:p>
              <a:pPr marL="171450" indent="-171450">
                <a:buFont typeface="Arial" panose="020B0604020202020204" pitchFamily="34" charset="0"/>
                <a:buChar char="•"/>
              </a:pPr>
              <a:r>
                <a:rPr lang="en-US" sz="1100" dirty="0">
                  <a:latin typeface="Arial" panose="020B0600000101010101" pitchFamily="34" charset="-127"/>
                  <a:ea typeface="Arial" panose="020B0600000101010101" pitchFamily="34" charset="-127"/>
                  <a:cs typeface="Arial" panose="020B0604020202020204" pitchFamily="34" charset="0"/>
                </a:rPr>
                <a:t>The J1 display shows a white screen at maximum brightness.</a:t>
              </a:r>
            </a:p>
            <a:p>
              <a:pPr marL="171450" indent="-171450">
                <a:buFont typeface="Arial" panose="020B0604020202020204" pitchFamily="34" charset="0"/>
                <a:buChar char="•"/>
              </a:pPr>
              <a:endParaRPr lang="en-US" sz="1100" dirty="0">
                <a:latin typeface="LG Smart_H Regular" panose="020B0600000101010101" pitchFamily="34" charset="-127"/>
                <a:ea typeface="LG Smart_H Regular" panose="020B0600000101010101" pitchFamily="34" charset="-127"/>
                <a:cs typeface="Arial" panose="020B0604020202020204" pitchFamily="34" charset="0"/>
              </a:endParaRPr>
            </a:p>
            <a:p>
              <a:pPr marL="171450" indent="-171450">
                <a:buFont typeface="Arial" panose="020B0604020202020204" pitchFamily="34" charset="0"/>
                <a:buChar char="•"/>
              </a:pPr>
              <a:r>
                <a:rPr lang="en-US" sz="1100" dirty="0">
                  <a:latin typeface="Arial" panose="020B0600000101010101" pitchFamily="34" charset="-127"/>
                  <a:ea typeface="Arial" panose="020B0600000101010101" pitchFamily="34" charset="-127"/>
                  <a:cs typeface="Arial" panose="020B0604020202020204" pitchFamily="34" charset="0"/>
                </a:rPr>
                <a:t>The CS2000 detector moves to the center of the PID LCD, recognizes the center of the display and measures the luminance.</a:t>
              </a:r>
            </a:p>
            <a:p>
              <a:pPr marL="171450" indent="-171450">
                <a:buFont typeface="Arial" panose="020B0604020202020204" pitchFamily="34" charset="0"/>
                <a:buChar char="•"/>
              </a:pPr>
              <a:r>
                <a:rPr lang="en-US" sz="1100" dirty="0">
                  <a:latin typeface="Arial" panose="020B0600000101010101" pitchFamily="34" charset="-127"/>
                  <a:ea typeface="Arial" panose="020B0600000101010101" pitchFamily="34" charset="-127"/>
                  <a:cs typeface="Arial" panose="020B0604020202020204" pitchFamily="34" charset="0"/>
                </a:rPr>
                <a:t>Because the center always has higher brightness than the corner and edges, the detector must be placed exactly at the center.</a:t>
              </a:r>
            </a:p>
            <a:p>
              <a:pPr marL="171450" indent="-171450">
                <a:buFont typeface="Arial" panose="020B0604020202020204" pitchFamily="34" charset="0"/>
                <a:buChar char="•"/>
              </a:pPr>
              <a:r>
                <a:rPr lang="en-US" sz="1100" dirty="0">
                  <a:latin typeface="Arial" panose="020B0600000101010101" pitchFamily="34" charset="-127"/>
                  <a:ea typeface="Arial" panose="020B0600000101010101" pitchFamily="34" charset="-127"/>
                  <a:cs typeface="Arial" panose="020B0604020202020204" pitchFamily="34" charset="0"/>
                </a:rPr>
                <a:t>The result is recorded and sent back to the program.</a:t>
              </a:r>
            </a:p>
          </p:txBody>
        </p:sp>
      </p:grpSp>
      <p:sp>
        <p:nvSpPr>
          <p:cNvPr id="8" name="Rectangle 7">
            <a:extLst>
              <a:ext uri="{FF2B5EF4-FFF2-40B4-BE49-F238E27FC236}">
                <a16:creationId xmlns:a16="http://schemas.microsoft.com/office/drawing/2014/main" id="{F5DF5708-2DFB-4E65-8558-59C7418E7751}"/>
              </a:ext>
            </a:extLst>
          </p:cNvPr>
          <p:cNvSpPr/>
          <p:nvPr/>
        </p:nvSpPr>
        <p:spPr>
          <a:xfrm>
            <a:off x="5161251" y="2277557"/>
            <a:ext cx="4673065" cy="2177199"/>
          </a:xfrm>
          <a:prstGeom prst="rect">
            <a:avLst/>
          </a:prstGeom>
        </p:spPr>
        <p:txBody>
          <a:bodyPr wrap="square">
            <a:spAutoFit/>
          </a:bodyPr>
          <a:lstStyle/>
          <a:p>
            <a:r>
              <a:rPr lang="en-US" sz="1100" dirty="0">
                <a:latin typeface="LG Smart_H Regular" panose="020B0600000101010101" pitchFamily="34" charset="-127"/>
                <a:ea typeface="LG Smart_H Regular" panose="020B0600000101010101" pitchFamily="34" charset="-127"/>
                <a:cs typeface="Arial" panose="020B0604020202020204" pitchFamily="34" charset="0"/>
              </a:rPr>
              <a:t>Luminance formula:</a:t>
            </a:r>
          </a:p>
          <a:p>
            <a:r>
              <a:rPr lang="fr-FR" sz="1100" dirty="0">
                <a:latin typeface="LG Smart_H Regular" panose="020B0600000101010101" pitchFamily="34" charset="-127"/>
                <a:ea typeface="LG Smart_H Regular" panose="020B0600000101010101" pitchFamily="34" charset="-127"/>
                <a:cs typeface="Arial" panose="020B0604020202020204" pitchFamily="34" charset="0"/>
              </a:rPr>
              <a:t>L = d²Φ / (dA · dω · cos θ)</a:t>
            </a:r>
            <a:endParaRPr lang="en-US" sz="1100" dirty="0">
              <a:latin typeface="LG Smart_H Regular" panose="020B0600000101010101" pitchFamily="34" charset="-127"/>
              <a:ea typeface="LG Smart_H Regular" panose="020B0600000101010101" pitchFamily="34" charset="-127"/>
              <a:cs typeface="Arial" panose="020B0604020202020204" pitchFamily="34" charset="0"/>
            </a:endParaRPr>
          </a:p>
          <a:p>
            <a:pPr>
              <a:lnSpc>
                <a:spcPct val="107000"/>
              </a:lnSpc>
              <a:spcAft>
                <a:spcPts val="800"/>
              </a:spcAft>
            </a:pPr>
            <a:endParaRPr lang="en-US" sz="1100" dirty="0">
              <a:latin typeface="LG Smart_H Regular" panose="020B0600000101010101" pitchFamily="34" charset="-127"/>
              <a:ea typeface="LG Smart_H Regular" panose="020B0600000101010101" pitchFamily="34" charset="-127"/>
              <a:cs typeface="Arial" panose="020B0604020202020204" pitchFamily="34" charset="0"/>
            </a:endParaRPr>
          </a:p>
          <a:p>
            <a:pPr>
              <a:lnSpc>
                <a:spcPct val="107000"/>
              </a:lnSpc>
              <a:spcAft>
                <a:spcPts val="800"/>
              </a:spcAft>
            </a:pPr>
            <a:r>
              <a:rPr lang="en-US" sz="1100" dirty="0">
                <a:latin typeface="LG Smart_H Regular" panose="020B0600000101010101" pitchFamily="34" charset="-127"/>
                <a:ea typeface="LG Smart_H Regular" panose="020B0600000101010101" pitchFamily="34" charset="-127"/>
                <a:cs typeface="Arial" panose="020B0604020202020204" pitchFamily="34" charset="0"/>
              </a:rPr>
              <a:t>Spec: 800-2000 (</a:t>
            </a:r>
            <a:r>
              <a:rPr lang="en-US" sz="1100" i="1" dirty="0">
                <a:latin typeface="LG Smart_H Regular" panose="020B0600000101010101" pitchFamily="34" charset="-127"/>
                <a:ea typeface="LG Smart_H Regular" panose="020B0600000101010101" pitchFamily="34" charset="-127"/>
                <a:cs typeface="Arial" panose="020B0604020202020204" pitchFamily="34" charset="0"/>
              </a:rPr>
              <a:t>cd/m</a:t>
            </a:r>
            <a:r>
              <a:rPr lang="en-US" sz="1100" i="1" baseline="30000" dirty="0">
                <a:latin typeface="LG Smart_H Regular" panose="020B0600000101010101" pitchFamily="34" charset="-127"/>
                <a:ea typeface="LG Smart_H Regular" panose="020B0600000101010101" pitchFamily="34" charset="-127"/>
                <a:cs typeface="Arial" panose="020B0604020202020204" pitchFamily="34" charset="0"/>
              </a:rPr>
              <a:t>2</a:t>
            </a:r>
            <a:r>
              <a:rPr lang="en-US" sz="1100" dirty="0">
                <a:latin typeface="LG Smart_H Regular" panose="020B0600000101010101" pitchFamily="34" charset="-127"/>
                <a:ea typeface="LG Smart_H Regular" panose="020B0600000101010101" pitchFamily="34" charset="-127"/>
                <a:cs typeface="Arial" panose="020B0604020202020204" pitchFamily="34" charset="0"/>
              </a:rPr>
              <a:t>)</a:t>
            </a:r>
          </a:p>
          <a:p>
            <a:pPr marL="171450" indent="-171450">
              <a:spcBef>
                <a:spcPts val="1400"/>
              </a:spcBef>
              <a:buFont typeface="Arial" panose="020B0604020202020204" pitchFamily="34" charset="0"/>
              <a:buChar char="•"/>
            </a:pPr>
            <a:r>
              <a:rPr lang="fr-FR" sz="1100" dirty="0">
                <a:latin typeface="LG Smart_H Regular" panose="020B0600000101010101" pitchFamily="34" charset="-127"/>
                <a:ea typeface="LG Smart_H Regular" panose="020B0600000101010101" pitchFamily="34" charset="-127"/>
                <a:cs typeface="Arial" panose="020B0604020202020204" pitchFamily="34" charset="0"/>
              </a:rPr>
              <a:t>d²Φ stands for the luminous flux in lumens (lm)</a:t>
            </a:r>
            <a:endParaRPr lang="en-US" sz="1100" dirty="0">
              <a:latin typeface="LG Smart_H Regular" panose="020B0600000101010101" pitchFamily="34" charset="-127"/>
              <a:ea typeface="LG Smart_H Regular" panose="020B0600000101010101" pitchFamily="34" charset="-127"/>
              <a:cs typeface="Arial" panose="020B0604020202020204" pitchFamily="34" charset="0"/>
            </a:endParaRPr>
          </a:p>
          <a:p>
            <a:pPr marL="171450" indent="-171450">
              <a:buFont typeface="Arial" panose="020B0604020202020204" pitchFamily="34" charset="0"/>
              <a:buChar char="•"/>
            </a:pPr>
            <a:r>
              <a:rPr lang="fr-FR" sz="1100" dirty="0">
                <a:latin typeface="LG Smart_H Regular" panose="020B0600000101010101" pitchFamily="34" charset="-127"/>
                <a:ea typeface="LG Smart_H Regular" panose="020B0600000101010101" pitchFamily="34" charset="-127"/>
                <a:cs typeface="Arial" panose="020B0604020202020204" pitchFamily="34" charset="0"/>
              </a:rPr>
              <a:t>θ stands for the angle between the surface normal of the display and the sight line of the detector, in this case θ = 0°</a:t>
            </a:r>
          </a:p>
          <a:p>
            <a:pPr marL="171450" indent="-171450">
              <a:buFont typeface="Arial" panose="020B0604020202020204" pitchFamily="34" charset="0"/>
              <a:buChar char="•"/>
            </a:pPr>
            <a:r>
              <a:rPr lang="fr-FR" sz="1100" dirty="0">
                <a:latin typeface="LG Smart_H Regular" panose="020B0600000101010101" pitchFamily="34" charset="-127"/>
                <a:ea typeface="LG Smart_H Regular" panose="020B0600000101010101" pitchFamily="34" charset="-127"/>
                <a:cs typeface="Arial" panose="020B0604020202020204" pitchFamily="34" charset="0"/>
              </a:rPr>
              <a:t>dA stands for the differential area in square meters (m²)</a:t>
            </a:r>
          </a:p>
          <a:p>
            <a:pPr marL="171450" indent="-171450">
              <a:buFont typeface="Arial" panose="020B0604020202020204" pitchFamily="34" charset="0"/>
              <a:buChar char="•"/>
            </a:pPr>
            <a:r>
              <a:rPr lang="fr-FR" sz="1100" dirty="0">
                <a:latin typeface="LG Smart_H Regular" panose="020B0600000101010101" pitchFamily="34" charset="-127"/>
                <a:ea typeface="LG Smart_H Regular" panose="020B0600000101010101" pitchFamily="34" charset="-127"/>
                <a:cs typeface="Arial" panose="020B0604020202020204" pitchFamily="34" charset="0"/>
              </a:rPr>
              <a:t>dω stands for the differential solid angle in steradians (sr)</a:t>
            </a:r>
          </a:p>
          <a:p>
            <a:pPr marL="171450" indent="-171450">
              <a:buFont typeface="Arial" panose="020B0604020202020204" pitchFamily="34" charset="0"/>
              <a:buChar char="•"/>
            </a:pPr>
            <a:endParaRPr lang="en-US" sz="1100" dirty="0">
              <a:latin typeface="LG Smart_H Regular" panose="020B0600000101010101" pitchFamily="34" charset="-127"/>
              <a:ea typeface="LG Smart_H Regular" panose="020B0600000101010101" pitchFamily="34" charset="-127"/>
              <a:cs typeface="Arial" panose="020B0604020202020204" pitchFamily="34" charset="0"/>
            </a:endParaRPr>
          </a:p>
        </p:txBody>
      </p:sp>
    </p:spTree>
    <p:extLst>
      <p:ext uri="{BB962C8B-B14F-4D97-AF65-F5344CB8AC3E}">
        <p14:creationId xmlns:p14="http://schemas.microsoft.com/office/powerpoint/2010/main" val="31188436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extBox 10"/>
          <p:cNvSpPr txBox="1"/>
          <p:nvPr/>
        </p:nvSpPr>
        <p:spPr>
          <a:xfrm>
            <a:off x="128464" y="1031890"/>
            <a:ext cx="3612264" cy="2123658"/>
          </a:xfrm>
          <a:prstGeom prst="rect">
            <a:avLst/>
          </a:prstGeom>
          <a:noFill/>
        </p:spPr>
        <p:txBody>
          <a:bodyPr wrap="square" rtlCol="0">
            <a:spAutoFit/>
          </a:bodyPr>
          <a:lstStyle/>
          <a:p>
            <a:pPr marL="171450" indent="-171450" eaLnBrk="1" latinLnBrk="0">
              <a:buFont typeface="Wingdings" panose="05000000000000000000" pitchFamily="2" charset="2"/>
              <a:buChar char="q"/>
            </a:pPr>
            <a:r>
              <a:rPr lang="en-US" altLang="ko-KR" sz="1000" b="1" dirty="0">
                <a:latin typeface="Arial" panose="020B0604020202020204" pitchFamily="34" charset="0"/>
                <a:ea typeface="Arial Unicode MS" panose="020B0604020202020204" pitchFamily="34" charset="-128"/>
                <a:cs typeface="Arial" panose="020B0604020202020204" pitchFamily="34" charset="0"/>
              </a:rPr>
              <a:t>Equipment information:</a:t>
            </a:r>
          </a:p>
          <a:p>
            <a:pPr eaLnBrk="1" latinLnBrk="0"/>
            <a:endParaRPr lang="en-US" altLang="ko-KR" sz="1200" dirty="0">
              <a:latin typeface="Arial" panose="020B0604020202020204" pitchFamily="34" charset="0"/>
              <a:ea typeface="Arial Unicode MS" panose="020B0604020202020204" pitchFamily="34" charset="-128"/>
              <a:cs typeface="Arial" panose="020B0604020202020204" pitchFamily="34" charset="0"/>
            </a:endParaRPr>
          </a:p>
          <a:p>
            <a:pPr marL="285750" indent="-285750" eaLnBrk="1" latinLnBrk="0">
              <a:buFont typeface="Arial" panose="020B0604020202020204" pitchFamily="34" charset="0"/>
              <a:buChar char="•"/>
            </a:pPr>
            <a:r>
              <a:rPr lang="en-US" altLang="ko-KR" sz="1000" dirty="0">
                <a:latin typeface="Arial" panose="020B0604020202020204" pitchFamily="34" charset="0"/>
                <a:ea typeface="Arial Unicode MS" panose="020B0604020202020204" pitchFamily="34" charset="-128"/>
                <a:cs typeface="Arial" panose="020B0604020202020204" pitchFamily="34" charset="0"/>
              </a:rPr>
              <a:t>Equipment: </a:t>
            </a:r>
          </a:p>
          <a:p>
            <a:pPr eaLnBrk="1" latinLnBrk="0"/>
            <a:r>
              <a:rPr lang="en-US" altLang="ko-KR" sz="1000" dirty="0">
                <a:latin typeface="Arial" panose="020B0604020202020204" pitchFamily="34" charset="0"/>
                <a:ea typeface="Arial Unicode MS" panose="020B0604020202020204" pitchFamily="34" charset="-128"/>
                <a:cs typeface="Arial" panose="020B0604020202020204" pitchFamily="34" charset="0"/>
              </a:rPr>
              <a:t>	- Power supply, Pallet</a:t>
            </a:r>
          </a:p>
          <a:p>
            <a:pPr eaLnBrk="1" latinLnBrk="0"/>
            <a:r>
              <a:rPr lang="en-US" altLang="ko-KR" sz="1000" dirty="0">
                <a:latin typeface="Arial" panose="020B0604020202020204" pitchFamily="34" charset="0"/>
                <a:ea typeface="Arial Unicode MS" panose="020B0604020202020204" pitchFamily="34" charset="-128"/>
                <a:cs typeface="Arial" panose="020B0604020202020204" pitchFamily="34" charset="0"/>
              </a:rPr>
              <a:t>	- CID bench</a:t>
            </a:r>
          </a:p>
          <a:p>
            <a:pPr eaLnBrk="1" latinLnBrk="0"/>
            <a:r>
              <a:rPr lang="en-US" altLang="ko-KR" sz="1000" dirty="0">
                <a:latin typeface="Arial" panose="020B0604020202020204" pitchFamily="34" charset="0"/>
                <a:ea typeface="Arial Unicode MS" panose="020B0604020202020204" pitchFamily="34" charset="-128"/>
                <a:cs typeface="Arial" panose="020B0604020202020204" pitchFamily="34" charset="0"/>
              </a:rPr>
              <a:t>	- CANSIM</a:t>
            </a:r>
          </a:p>
          <a:p>
            <a:pPr eaLnBrk="1" latinLnBrk="0"/>
            <a:r>
              <a:rPr lang="en-US" altLang="ko-KR" sz="1000" dirty="0">
                <a:latin typeface="Arial" panose="020B0604020202020204" pitchFamily="34" charset="0"/>
                <a:ea typeface="Arial Unicode MS" panose="020B0604020202020204" pitchFamily="34" charset="-128"/>
                <a:cs typeface="Arial" panose="020B0604020202020204" pitchFamily="34" charset="0"/>
              </a:rPr>
              <a:t>	- Camera CS2000 (spectroradiometer)</a:t>
            </a:r>
          </a:p>
          <a:p>
            <a:pPr eaLnBrk="1" latinLnBrk="0"/>
            <a:r>
              <a:rPr lang="en-US" altLang="ko-KR" sz="1000" dirty="0">
                <a:latin typeface="Arial" panose="020B0604020202020204" pitchFamily="34" charset="0"/>
                <a:ea typeface="Arial Unicode MS" panose="020B0604020202020204" pitchFamily="34" charset="-128"/>
                <a:cs typeface="Arial" panose="020B0604020202020204" pitchFamily="34" charset="0"/>
              </a:rPr>
              <a:t>	- Resolution: 0.01 Cd/m</a:t>
            </a:r>
            <a:r>
              <a:rPr lang="en-US" altLang="ko-KR" sz="1000" baseline="30000" dirty="0">
                <a:latin typeface="Arial" panose="020B0604020202020204" pitchFamily="34" charset="0"/>
                <a:ea typeface="Arial Unicode MS" panose="020B0604020202020204" pitchFamily="34" charset="-128"/>
                <a:cs typeface="Arial" panose="020B0604020202020204" pitchFamily="34" charset="0"/>
              </a:rPr>
              <a:t>2</a:t>
            </a:r>
            <a:r>
              <a:rPr lang="en-US" altLang="ko-KR" sz="1000" dirty="0">
                <a:latin typeface="Arial" panose="020B0604020202020204" pitchFamily="34" charset="0"/>
                <a:ea typeface="Arial Unicode MS" panose="020B0604020202020204" pitchFamily="34" charset="-128"/>
                <a:cs typeface="Arial" panose="020B0604020202020204" pitchFamily="34" charset="0"/>
              </a:rPr>
              <a:t>		</a:t>
            </a:r>
          </a:p>
          <a:p>
            <a:pPr marL="285750" indent="-285750" eaLnBrk="1" latinLnBrk="0">
              <a:buFont typeface="Arial" panose="020B0604020202020204" pitchFamily="34" charset="0"/>
              <a:buChar char="•"/>
            </a:pPr>
            <a:r>
              <a:rPr lang="en-US" sz="1000" dirty="0">
                <a:solidFill>
                  <a:srgbClr val="000000"/>
                </a:solidFill>
                <a:latin typeface="Arial" panose="020B0604020202020204" pitchFamily="34" charset="0"/>
                <a:ea typeface="Arial Unicode MS" panose="020B0604020202020204" pitchFamily="34" charset="-128"/>
                <a:cs typeface="Arial" panose="020B0604020202020204" pitchFamily="34" charset="0"/>
              </a:rPr>
              <a:t>Program: LG Moohantech</a:t>
            </a:r>
          </a:p>
          <a:p>
            <a:pPr eaLnBrk="1" latinLnBrk="0"/>
            <a:endParaRPr lang="en-US" sz="1200" dirty="0">
              <a:solidFill>
                <a:srgbClr val="000000"/>
              </a:solidFill>
              <a:latin typeface="Arial" panose="020B0604020202020204" pitchFamily="34" charset="0"/>
              <a:ea typeface="Arial Unicode MS" panose="020B0604020202020204" pitchFamily="34" charset="-128"/>
              <a:cs typeface="Arial" panose="020B0604020202020204" pitchFamily="34" charset="0"/>
            </a:endParaRPr>
          </a:p>
        </p:txBody>
      </p:sp>
      <p:cxnSp>
        <p:nvCxnSpPr>
          <p:cNvPr id="12" name="Straight Connector 11"/>
          <p:cNvCxnSpPr/>
          <p:nvPr/>
        </p:nvCxnSpPr>
        <p:spPr>
          <a:xfrm>
            <a:off x="0" y="508838"/>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F023E752-56C7-4841-8742-6226DE8F5A23}"/>
              </a:ext>
            </a:extLst>
          </p:cNvPr>
          <p:cNvSpPr txBox="1"/>
          <p:nvPr/>
        </p:nvSpPr>
        <p:spPr>
          <a:xfrm>
            <a:off x="128464" y="3473398"/>
            <a:ext cx="3671999" cy="2031325"/>
          </a:xfrm>
          <a:prstGeom prst="rect">
            <a:avLst/>
          </a:prstGeom>
          <a:noFill/>
        </p:spPr>
        <p:txBody>
          <a:bodyPr wrap="square" rtlCol="0" anchor="t">
            <a:noAutofit/>
          </a:bodyPr>
          <a:lstStyle/>
          <a:p>
            <a:pPr marL="171450" indent="-171450" eaLnBrk="1" latinLnBrk="0">
              <a:buFont typeface="Wingdings" panose="05000000000000000000" pitchFamily="2" charset="2"/>
              <a:buChar char="q"/>
            </a:pPr>
            <a:r>
              <a:rPr lang="en-US" altLang="ko-KR" sz="1000" b="1" dirty="0">
                <a:latin typeface="Arial" panose="020B0604020202020204" pitchFamily="34" charset="0"/>
                <a:ea typeface="Arial Unicode MS" panose="020B0604020202020204" pitchFamily="34" charset="-128"/>
                <a:cs typeface="Arial" panose="020B0604020202020204" pitchFamily="34" charset="0"/>
              </a:rPr>
              <a:t>Function test Luminance station</a:t>
            </a:r>
            <a:endParaRPr lang="en-US" altLang="ko-KR" sz="1200" dirty="0">
              <a:latin typeface="Arial" panose="020B0604020202020204" pitchFamily="34" charset="0"/>
              <a:ea typeface="Arial Unicode MS" panose="020B0604020202020204" pitchFamily="34" charset="-128"/>
              <a:cs typeface="Arial" panose="020B0604020202020204" pitchFamily="34" charset="0"/>
            </a:endParaRPr>
          </a:p>
          <a:p>
            <a:pPr marL="171450" indent="-171450" algn="just" eaLnBrk="1" latinLnBrk="0">
              <a:lnSpc>
                <a:spcPct val="150000"/>
              </a:lnSpc>
              <a:buFont typeface="Arial" panose="020B0604020202020204" pitchFamily="34" charset="0"/>
              <a:buChar char="•"/>
            </a:pPr>
            <a:r>
              <a:rPr lang="en-US" sz="1000" dirty="0">
                <a:latin typeface="Arial" panose="020B0604020202020204" pitchFamily="34" charset="0"/>
                <a:cs typeface="Arial" panose="020B0604020202020204" pitchFamily="34" charset="0"/>
              </a:rPr>
              <a:t>Checking brightness level</a:t>
            </a:r>
          </a:p>
          <a:p>
            <a:pPr marL="171450" indent="-171450" algn="just" eaLnBrk="1" latinLnBrk="0">
              <a:lnSpc>
                <a:spcPct val="150000"/>
              </a:lnSpc>
              <a:buFont typeface="Arial" panose="020B0604020202020204" pitchFamily="34" charset="0"/>
              <a:buChar char="•"/>
            </a:pPr>
            <a:r>
              <a:rPr lang="en-US" sz="1000" dirty="0">
                <a:latin typeface="Arial" panose="020B0604020202020204" pitchFamily="34" charset="0"/>
                <a:cs typeface="Arial" panose="020B0604020202020204" pitchFamily="34" charset="0"/>
              </a:rPr>
              <a:t>Detect and measure Luminance value</a:t>
            </a:r>
          </a:p>
          <a:p>
            <a:pPr marL="171450" indent="-171450" algn="just" eaLnBrk="1" latinLnBrk="0">
              <a:lnSpc>
                <a:spcPct val="150000"/>
              </a:lnSpc>
              <a:buFont typeface="Arial" panose="020B0604020202020204" pitchFamily="34" charset="0"/>
              <a:buChar char="•"/>
            </a:pPr>
            <a:r>
              <a:rPr lang="en-US" sz="1000" dirty="0">
                <a:latin typeface="Arial" panose="020B0604020202020204" pitchFamily="34" charset="0"/>
                <a:cs typeface="Arial" panose="020B0604020202020204" pitchFamily="34" charset="0"/>
              </a:rPr>
              <a:t>Test set without CAN mode</a:t>
            </a:r>
          </a:p>
          <a:p>
            <a:pPr marL="171450" indent="-171450" algn="just" eaLnBrk="1" latinLnBrk="0">
              <a:lnSpc>
                <a:spcPct val="150000"/>
              </a:lnSpc>
              <a:buFont typeface="Arial" panose="020B0604020202020204" pitchFamily="34" charset="0"/>
              <a:buChar char="•"/>
            </a:pPr>
            <a:r>
              <a:rPr lang="en-US" sz="1000" dirty="0">
                <a:latin typeface="Arial" panose="020B0604020202020204" pitchFamily="34" charset="0"/>
                <a:cs typeface="Arial" panose="020B0604020202020204" pitchFamily="34" charset="0"/>
              </a:rPr>
              <a:t>Checking CID black / white patterns</a:t>
            </a:r>
          </a:p>
          <a:p>
            <a:pPr marL="171450" indent="-171450" algn="just" eaLnBrk="1" latinLnBrk="0">
              <a:lnSpc>
                <a:spcPct val="150000"/>
              </a:lnSpc>
              <a:buFont typeface="Arial" panose="020B0604020202020204" pitchFamily="34" charset="0"/>
              <a:buChar char="•"/>
            </a:pPr>
            <a:r>
              <a:rPr lang="en-US" sz="1000" dirty="0">
                <a:latin typeface="Arial" panose="020B0604020202020204" pitchFamily="34" charset="0"/>
                <a:cs typeface="Arial" panose="020B0604020202020204" pitchFamily="34" charset="0"/>
              </a:rPr>
              <a:t>Calculate contrast ratio</a:t>
            </a:r>
          </a:p>
          <a:p>
            <a:pPr marL="285750" indent="-285750" eaLnBrk="1" latinLnBrk="0">
              <a:buFont typeface="Arial" panose="020B0604020202020204" pitchFamily="34" charset="0"/>
              <a:buChar char="•"/>
            </a:pPr>
            <a:endParaRPr kumimoji="0" lang="ja-JP" altLang="ja-JP" sz="1200" dirty="0">
              <a:latin typeface="Arial" panose="020B0604020202020204" pitchFamily="34" charset="0"/>
              <a:ea typeface="Arial Unicode MS" panose="020B0604020202020204" pitchFamily="34" charset="-128"/>
              <a:cs typeface="Arial" panose="020B0604020202020204" pitchFamily="34" charset="0"/>
            </a:endParaRPr>
          </a:p>
          <a:p>
            <a:pPr eaLnBrk="1" latinLnBrk="0"/>
            <a:endParaRPr lang="ko-KR" altLang="en-US" sz="1200" dirty="0">
              <a:latin typeface="Arial" panose="020B0604020202020204" pitchFamily="34" charset="0"/>
              <a:ea typeface="Arial Unicode MS" panose="020B0604020202020204" pitchFamily="34" charset="-128"/>
              <a:cs typeface="Arial" panose="020B0604020202020204" pitchFamily="34" charset="0"/>
            </a:endParaRPr>
          </a:p>
        </p:txBody>
      </p:sp>
      <p:sp>
        <p:nvSpPr>
          <p:cNvPr id="14" name="Slide Number Placeholder 4">
            <a:extLst>
              <a:ext uri="{FF2B5EF4-FFF2-40B4-BE49-F238E27FC236}">
                <a16:creationId xmlns:a16="http://schemas.microsoft.com/office/drawing/2014/main" id="{DC889702-57C5-4178-B462-2E3106F53FD1}"/>
              </a:ext>
            </a:extLst>
          </p:cNvPr>
          <p:cNvSpPr>
            <a:spLocks noGrp="1"/>
          </p:cNvSpPr>
          <p:nvPr>
            <p:ph type="sldNum" sz="quarter" idx="12"/>
          </p:nvPr>
        </p:nvSpPr>
        <p:spPr>
          <a:xfrm>
            <a:off x="3700326" y="6643499"/>
            <a:ext cx="2133600" cy="198047"/>
          </a:xfrm>
        </p:spPr>
        <p:txBody>
          <a:bodyPr/>
          <a:lstStyle/>
          <a:p>
            <a:pPr algn="ctr" eaLnBrk="1" latinLnBrk="0"/>
            <a:r>
              <a:rPr sz="1000" b="0">
                <a:latin typeface="Arial"/>
              </a:rPr>
              <a:t>06 / 33</a:t>
            </a:r>
            <a:endParaRPr lang="ko-KR" altLang="en-US" sz="1200" dirty="0">
              <a:solidFill>
                <a:prstClr val="black">
                  <a:tint val="75000"/>
                </a:prstClr>
              </a:solidFill>
              <a:latin typeface="Arial" panose="020B0604020202020204" pitchFamily="34" charset="0"/>
              <a:ea typeface="Arial Unicode MS" panose="020B0604020202020204" pitchFamily="34" charset="-128"/>
              <a:cs typeface="Arial" panose="020B0604020202020204" pitchFamily="34" charset="0"/>
            </a:endParaRPr>
          </a:p>
        </p:txBody>
      </p:sp>
      <p:sp>
        <p:nvSpPr>
          <p:cNvPr id="15" name="AutoShape 55">
            <a:extLst>
              <a:ext uri="{FF2B5EF4-FFF2-40B4-BE49-F238E27FC236}">
                <a16:creationId xmlns:a16="http://schemas.microsoft.com/office/drawing/2014/main" id="{72F5C699-BB82-4EC1-AB3C-FC35326159A9}"/>
              </a:ext>
            </a:extLst>
          </p:cNvPr>
          <p:cNvSpPr>
            <a:spLocks noChangeArrowheads="1"/>
          </p:cNvSpPr>
          <p:nvPr/>
        </p:nvSpPr>
        <p:spPr bwMode="auto">
          <a:xfrm>
            <a:off x="9121997" y="177766"/>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Control</a:t>
            </a:r>
          </a:p>
        </p:txBody>
      </p:sp>
      <p:sp>
        <p:nvSpPr>
          <p:cNvPr id="16" name="AutoShape 56">
            <a:extLst>
              <a:ext uri="{FF2B5EF4-FFF2-40B4-BE49-F238E27FC236}">
                <a16:creationId xmlns:a16="http://schemas.microsoft.com/office/drawing/2014/main" id="{3F7F874F-52C3-414A-81B9-A03A708C305E}"/>
              </a:ext>
            </a:extLst>
          </p:cNvPr>
          <p:cNvSpPr>
            <a:spLocks noChangeArrowheads="1"/>
          </p:cNvSpPr>
          <p:nvPr/>
        </p:nvSpPr>
        <p:spPr bwMode="auto">
          <a:xfrm>
            <a:off x="8433022" y="177766"/>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solidFill>
                  <a:schemeClr val="tx1"/>
                </a:solidFill>
                <a:latin typeface="Arial Narrow" panose="020B0606020202030204" pitchFamily="34" charset="0"/>
                <a:ea typeface="Arial" panose="020B0503020000020004" pitchFamily="50" charset="-127"/>
              </a:rPr>
              <a:t>Improve</a:t>
            </a:r>
          </a:p>
        </p:txBody>
      </p:sp>
      <p:sp>
        <p:nvSpPr>
          <p:cNvPr id="19" name="AutoShape 57">
            <a:extLst>
              <a:ext uri="{FF2B5EF4-FFF2-40B4-BE49-F238E27FC236}">
                <a16:creationId xmlns:a16="http://schemas.microsoft.com/office/drawing/2014/main" id="{304107E6-0AD0-4838-953F-7653F14453A5}"/>
              </a:ext>
            </a:extLst>
          </p:cNvPr>
          <p:cNvSpPr>
            <a:spLocks noChangeArrowheads="1"/>
          </p:cNvSpPr>
          <p:nvPr/>
        </p:nvSpPr>
        <p:spPr bwMode="auto">
          <a:xfrm>
            <a:off x="7740872" y="177766"/>
            <a:ext cx="749300" cy="287338"/>
          </a:xfrm>
          <a:prstGeom prst="homePlate">
            <a:avLst>
              <a:gd name="adj" fmla="val 46698"/>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Analyze</a:t>
            </a:r>
          </a:p>
        </p:txBody>
      </p:sp>
      <p:sp>
        <p:nvSpPr>
          <p:cNvPr id="21" name="AutoShape 59">
            <a:extLst>
              <a:ext uri="{FF2B5EF4-FFF2-40B4-BE49-F238E27FC236}">
                <a16:creationId xmlns:a16="http://schemas.microsoft.com/office/drawing/2014/main" id="{BC0BEDAF-463F-4A5C-88A0-276D21275535}"/>
              </a:ext>
            </a:extLst>
          </p:cNvPr>
          <p:cNvSpPr>
            <a:spLocks noChangeArrowheads="1"/>
          </p:cNvSpPr>
          <p:nvPr/>
        </p:nvSpPr>
        <p:spPr bwMode="auto">
          <a:xfrm>
            <a:off x="6372447" y="177766"/>
            <a:ext cx="757238" cy="287338"/>
          </a:xfrm>
          <a:prstGeom prst="homePlate">
            <a:avLst>
              <a:gd name="adj" fmla="val 47192"/>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Define</a:t>
            </a:r>
          </a:p>
        </p:txBody>
      </p:sp>
      <p:sp>
        <p:nvSpPr>
          <p:cNvPr id="22" name="AutoShape 58">
            <a:extLst>
              <a:ext uri="{FF2B5EF4-FFF2-40B4-BE49-F238E27FC236}">
                <a16:creationId xmlns:a16="http://schemas.microsoft.com/office/drawing/2014/main" id="{B0317FA2-6AED-403D-B6EA-51C7D84BBA84}"/>
              </a:ext>
            </a:extLst>
          </p:cNvPr>
          <p:cNvSpPr>
            <a:spLocks noChangeArrowheads="1"/>
          </p:cNvSpPr>
          <p:nvPr/>
        </p:nvSpPr>
        <p:spPr bwMode="auto">
          <a:xfrm>
            <a:off x="7069360" y="33304"/>
            <a:ext cx="747712" cy="287337"/>
          </a:xfrm>
          <a:prstGeom prst="homePlate">
            <a:avLst>
              <a:gd name="adj" fmla="val 46599"/>
            </a:avLst>
          </a:prstGeom>
          <a:gradFill rotWithShape="1">
            <a:gsLst>
              <a:gs pos="0">
                <a:srgbClr val="494900"/>
              </a:gs>
              <a:gs pos="100000">
                <a:srgbClr val="808000"/>
              </a:gs>
            </a:gsLst>
            <a:lin ang="0" scaled="1"/>
          </a:gradFill>
          <a:ln w="6350" algn="ctr">
            <a:solidFill>
              <a:srgbClr val="808080"/>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latin typeface="Arial Narrow" panose="020B0606020202030204" pitchFamily="34" charset="0"/>
                <a:ea typeface="Arial" panose="020B0503020000020004" pitchFamily="50" charset="-127"/>
              </a:rPr>
              <a:t>Measure </a:t>
            </a:r>
          </a:p>
        </p:txBody>
      </p:sp>
      <p:sp>
        <p:nvSpPr>
          <p:cNvPr id="23" name="제목 1">
            <a:extLst>
              <a:ext uri="{FF2B5EF4-FFF2-40B4-BE49-F238E27FC236}">
                <a16:creationId xmlns:a16="http://schemas.microsoft.com/office/drawing/2014/main" id="{6FC1DF0A-5B10-4BE6-85CD-B2B54F1E8280}"/>
              </a:ext>
            </a:extLst>
          </p:cNvPr>
          <p:cNvSpPr txBox="1">
            <a:spLocks/>
          </p:cNvSpPr>
          <p:nvPr/>
        </p:nvSpPr>
        <p:spPr>
          <a:xfrm>
            <a:off x="80531" y="60281"/>
            <a:ext cx="3823701" cy="418058"/>
          </a:xfrm>
          <a:prstGeom prst="rect">
            <a:avLst/>
          </a:prstGeom>
        </p:spPr>
        <p:txBody>
          <a:bodyPr vert="horz" lIns="91440" tIns="45720" rIns="91440" bIns="45720" rtlCol="0" anchor="ctr">
            <a:normAutofit/>
          </a:bodyPr>
          <a:lstStyle/>
          <a:p>
            <a:pPr marL="0" marR="0" lvl="0" indent="0" algn="l" defTabSz="914400" rtl="0" eaLnBrk="1" fontAlgn="base" latinLnBrk="0" hangingPunct="0">
              <a:lnSpc>
                <a:spcPct val="100000"/>
              </a:lnSpc>
              <a:spcBef>
                <a:spcPct val="0"/>
              </a:spcBef>
              <a:spcAft>
                <a:spcPct val="0"/>
              </a:spcAft>
              <a:buClrTx/>
              <a:buSzTx/>
              <a:buFontTx/>
              <a:buNone/>
              <a:tabLst/>
              <a:defRPr/>
            </a:pPr>
            <a:r>
              <a:rPr lang="en-US" altLang="ko-KR" sz="1600" b="1" kern="0" dirty="0">
                <a:latin typeface="Arial Narrow" panose="020B0606020202030204" pitchFamily="34" charset="0"/>
                <a:ea typeface="Arial Unicode MS" panose="020B0604020202020204" pitchFamily="34" charset="-128"/>
                <a:cs typeface="Arial" panose="020B0604020202020204" pitchFamily="34" charset="0"/>
              </a:rPr>
              <a:t>2</a:t>
            </a:r>
            <a:r>
              <a:rPr kumimoji="1" lang="en-US" altLang="ko-KR" sz="1600" b="1" i="0" u="none" strike="noStrike" kern="0" cap="none" spc="0" normalizeH="0" baseline="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rPr>
              <a:t>.1 Gage</a:t>
            </a:r>
            <a:r>
              <a:rPr kumimoji="1" lang="en-US" altLang="ko-KR" sz="1600" b="1" i="0" u="none" strike="noStrike" kern="0" cap="none" spc="0" normalizeH="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rPr>
              <a:t> R&amp;R outline</a:t>
            </a:r>
            <a:endParaRPr kumimoji="1" lang="ko-KR" altLang="en-US" sz="1600" b="1" i="0" u="none" strike="noStrike" kern="0" cap="none" spc="0" normalizeH="0" baseline="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endParaRPr>
          </a:p>
        </p:txBody>
      </p:sp>
      <p:pic>
        <p:nvPicPr>
          <p:cNvPr id="26" name="Picture 25">
            <a:extLst>
              <a:ext uri="{FF2B5EF4-FFF2-40B4-BE49-F238E27FC236}">
                <a16:creationId xmlns:a16="http://schemas.microsoft.com/office/drawing/2014/main" id="{B7318AFB-3E4E-4F2D-9F27-68979D22E268}"/>
              </a:ext>
            </a:extLst>
          </p:cNvPr>
          <p:cNvPicPr>
            <a:picLocks noChangeAspect="1"/>
          </p:cNvPicPr>
          <p:nvPr/>
        </p:nvPicPr>
        <p:blipFill>
          <a:blip r:embed="rId3"/>
          <a:stretch>
            <a:fillRect/>
          </a:stretch>
        </p:blipFill>
        <p:spPr>
          <a:xfrm>
            <a:off x="6255430" y="4354954"/>
            <a:ext cx="1694969" cy="1694969"/>
          </a:xfrm>
          <a:prstGeom prst="rect">
            <a:avLst/>
          </a:prstGeom>
        </p:spPr>
      </p:pic>
      <p:sp>
        <p:nvSpPr>
          <p:cNvPr id="27" name="TextBox 26">
            <a:extLst>
              <a:ext uri="{FF2B5EF4-FFF2-40B4-BE49-F238E27FC236}">
                <a16:creationId xmlns:a16="http://schemas.microsoft.com/office/drawing/2014/main" id="{1F23290D-FFCC-4467-B33A-7BFD68762FF8}"/>
              </a:ext>
            </a:extLst>
          </p:cNvPr>
          <p:cNvSpPr txBox="1"/>
          <p:nvPr/>
        </p:nvSpPr>
        <p:spPr>
          <a:xfrm>
            <a:off x="6104699" y="6049923"/>
            <a:ext cx="1887658" cy="276999"/>
          </a:xfrm>
          <a:prstGeom prst="rect">
            <a:avLst/>
          </a:prstGeom>
          <a:noFill/>
        </p:spPr>
        <p:txBody>
          <a:bodyPr wrap="square" rtlCol="0">
            <a:spAutoFit/>
          </a:bodyPr>
          <a:lstStyle/>
          <a:p>
            <a:pPr algn="ctr" eaLnBrk="1" latinLnBrk="0"/>
            <a:r>
              <a:rPr lang="en-US" sz="1000" b="1" dirty="0">
                <a:latin typeface="Arial" panose="020B0600000101010101" pitchFamily="34" charset="-127"/>
                <a:ea typeface="Arial" panose="020B0600000101010101" pitchFamily="34" charset="-127"/>
                <a:cs typeface="Arial" panose="020B0604020202020204" pitchFamily="34" charset="0"/>
              </a:rPr>
              <a:t>Camera CS2000 (spectroradiometer)</a:t>
            </a:r>
          </a:p>
        </p:txBody>
      </p:sp>
      <p:sp>
        <p:nvSpPr>
          <p:cNvPr id="30" name="TextBox 29">
            <a:extLst>
              <a:ext uri="{FF2B5EF4-FFF2-40B4-BE49-F238E27FC236}">
                <a16:creationId xmlns:a16="http://schemas.microsoft.com/office/drawing/2014/main" id="{D6DA2A8A-8142-4788-BCA7-5A9926BF1C45}"/>
              </a:ext>
            </a:extLst>
          </p:cNvPr>
          <p:cNvSpPr txBox="1"/>
          <p:nvPr/>
        </p:nvSpPr>
        <p:spPr>
          <a:xfrm>
            <a:off x="3863179" y="3656060"/>
            <a:ext cx="2020348" cy="276999"/>
          </a:xfrm>
          <a:prstGeom prst="rect">
            <a:avLst/>
          </a:prstGeom>
          <a:noFill/>
        </p:spPr>
        <p:txBody>
          <a:bodyPr wrap="square" rtlCol="0">
            <a:spAutoFit/>
          </a:bodyPr>
          <a:lstStyle/>
          <a:p>
            <a:pPr algn="ctr" eaLnBrk="1" latinLnBrk="0"/>
            <a:r>
              <a:rPr lang="en-US" sz="1000" b="1" dirty="0">
                <a:latin typeface="Arial" panose="020B0600000101010101" pitchFamily="34" charset="-127"/>
                <a:ea typeface="Arial" panose="020B0600000101010101" pitchFamily="34" charset="-127"/>
                <a:cs typeface="Arial" panose="020B0604020202020204" pitchFamily="34" charset="0"/>
              </a:rPr>
              <a:t>Luminance station diagram</a:t>
            </a:r>
          </a:p>
        </p:txBody>
      </p:sp>
      <p:grpSp>
        <p:nvGrpSpPr>
          <p:cNvPr id="5" name="Group 4">
            <a:extLst>
              <a:ext uri="{FF2B5EF4-FFF2-40B4-BE49-F238E27FC236}">
                <a16:creationId xmlns:a16="http://schemas.microsoft.com/office/drawing/2014/main" id="{050F06E4-0F81-4918-87F9-CB372E4F5864}"/>
              </a:ext>
            </a:extLst>
          </p:cNvPr>
          <p:cNvGrpSpPr/>
          <p:nvPr/>
        </p:nvGrpSpPr>
        <p:grpSpPr>
          <a:xfrm>
            <a:off x="4024176" y="1580371"/>
            <a:ext cx="5845556" cy="2034838"/>
            <a:chOff x="4024176" y="1580371"/>
            <a:chExt cx="5845556" cy="2034838"/>
          </a:xfrm>
        </p:grpSpPr>
        <p:pic>
          <p:nvPicPr>
            <p:cNvPr id="2" name="Picture 1">
              <a:extLst>
                <a:ext uri="{FF2B5EF4-FFF2-40B4-BE49-F238E27FC236}">
                  <a16:creationId xmlns:a16="http://schemas.microsoft.com/office/drawing/2014/main" id="{FB6C22B7-D86A-457E-97D6-DC13E71AED19}"/>
                </a:ext>
              </a:extLst>
            </p:cNvPr>
            <p:cNvPicPr>
              <a:picLocks noChangeAspect="1"/>
            </p:cNvPicPr>
            <p:nvPr/>
          </p:nvPicPr>
          <p:blipFill>
            <a:blip r:embed="rId4"/>
            <a:stretch>
              <a:fillRect/>
            </a:stretch>
          </p:blipFill>
          <p:spPr>
            <a:xfrm>
              <a:off x="4024176" y="1580371"/>
              <a:ext cx="5819775" cy="2034838"/>
            </a:xfrm>
            <a:prstGeom prst="rect">
              <a:avLst/>
            </a:prstGeom>
          </p:spPr>
        </p:pic>
        <p:pic>
          <p:nvPicPr>
            <p:cNvPr id="3" name="Picture 2">
              <a:extLst>
                <a:ext uri="{FF2B5EF4-FFF2-40B4-BE49-F238E27FC236}">
                  <a16:creationId xmlns:a16="http://schemas.microsoft.com/office/drawing/2014/main" id="{9BF84F16-1BE4-4851-BE3B-8C427D42DF8C}"/>
                </a:ext>
              </a:extLst>
            </p:cNvPr>
            <p:cNvPicPr>
              <a:picLocks noChangeAspect="1"/>
            </p:cNvPicPr>
            <p:nvPr/>
          </p:nvPicPr>
          <p:blipFill>
            <a:blip r:embed="rId5"/>
            <a:stretch>
              <a:fillRect/>
            </a:stretch>
          </p:blipFill>
          <p:spPr>
            <a:xfrm>
              <a:off x="8844243" y="2362201"/>
              <a:ext cx="1025489" cy="609599"/>
            </a:xfrm>
            <a:prstGeom prst="rect">
              <a:avLst/>
            </a:prstGeom>
          </p:spPr>
        </p:pic>
      </p:grpSp>
      <p:cxnSp>
        <p:nvCxnSpPr>
          <p:cNvPr id="6" name="Straight Arrow Connector 5">
            <a:extLst>
              <a:ext uri="{FF2B5EF4-FFF2-40B4-BE49-F238E27FC236}">
                <a16:creationId xmlns:a16="http://schemas.microsoft.com/office/drawing/2014/main" id="{D5EFFC24-7EB8-4BF2-8848-23404B7E3518}"/>
              </a:ext>
            </a:extLst>
          </p:cNvPr>
          <p:cNvCxnSpPr>
            <a:cxnSpLocks/>
          </p:cNvCxnSpPr>
          <p:nvPr/>
        </p:nvCxnSpPr>
        <p:spPr bwMode="auto">
          <a:xfrm>
            <a:off x="6934063" y="3656060"/>
            <a:ext cx="0" cy="698894"/>
          </a:xfrm>
          <a:prstGeom prst="straightConnector1">
            <a:avLst/>
          </a:prstGeom>
          <a:noFill/>
          <a:ln w="9525" cap="flat" cmpd="sng" algn="ctr">
            <a:solidFill>
              <a:srgbClr val="C00000"/>
            </a:solidFill>
            <a:prstDash val="solid"/>
            <a:round/>
            <a:headEnd type="none" w="med" len="med"/>
            <a:tailEnd type="triangle"/>
          </a:ln>
          <a:effectLst/>
        </p:spPr>
      </p:cxnSp>
    </p:spTree>
    <p:extLst>
      <p:ext uri="{BB962C8B-B14F-4D97-AF65-F5344CB8AC3E}">
        <p14:creationId xmlns:p14="http://schemas.microsoft.com/office/powerpoint/2010/main" val="256941901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TextBox 17">
            <a:extLst>
              <a:ext uri="{FF2B5EF4-FFF2-40B4-BE49-F238E27FC236}">
                <a16:creationId xmlns:a16="http://schemas.microsoft.com/office/drawing/2014/main" id="{F3972BB8-0723-4658-8EFE-46045E1E10A0}"/>
              </a:ext>
            </a:extLst>
          </p:cNvPr>
          <p:cNvSpPr txBox="1"/>
          <p:nvPr/>
        </p:nvSpPr>
        <p:spPr>
          <a:xfrm>
            <a:off x="72000" y="6120000"/>
            <a:ext cx="5112000" cy="468000"/>
          </a:xfrm>
          <a:prstGeom prst="rect">
            <a:avLst/>
          </a:prstGeom>
          <a:noFill/>
        </p:spPr>
        <p:txBody>
          <a:bodyPr wrap="square" rtlCol="0">
            <a:noAutofit/>
          </a:bodyPr>
          <a:lstStyle/>
          <a:p>
            <a:pPr eaLnBrk="1" latinLnBrk="0"/>
            <a:r>
              <a:rPr sz="1000">
                <a:latin typeface="Arial"/>
              </a:rPr>
              <a:t>✔ Equipment is OK. Camera CS2000 of Station 1 can be used to measure Luminance value.</a:t>
            </a:r>
            <a:endParaRPr lang="en-US" sz="1200" dirty="0">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endParaRPr>
          </a:p>
        </p:txBody>
      </p:sp>
      <p:sp>
        <p:nvSpPr>
          <p:cNvPr id="17" name="TextBox 16">
            <a:extLst>
              <a:ext uri="{FF2B5EF4-FFF2-40B4-BE49-F238E27FC236}">
                <a16:creationId xmlns:a16="http://schemas.microsoft.com/office/drawing/2014/main" id="{C682D0EC-51C2-4351-8B9B-1F085627F8A3}"/>
              </a:ext>
            </a:extLst>
          </p:cNvPr>
          <p:cNvSpPr txBox="1"/>
          <p:nvPr/>
        </p:nvSpPr>
        <p:spPr>
          <a:xfrm>
            <a:off x="72000" y="5094000"/>
            <a:ext cx="5112000" cy="972000"/>
          </a:xfrm>
          <a:prstGeom prst="rect">
            <a:avLst/>
          </a:prstGeom>
          <a:noFill/>
          <a:ln>
            <a:noFill/>
          </a:ln>
        </p:spPr>
        <p:txBody>
          <a:bodyPr wrap="square" rtlCol="0">
            <a:noAutofit/>
          </a:bodyPr>
          <a:lstStyle/>
          <a:p>
            <a:pPr marL="171450" indent="-171450" eaLnBrk="1" latinLnBrk="0">
              <a:buFont typeface="Wingdings" panose="05000000000000000000" pitchFamily="2" charset="2"/>
              <a:buChar char="Ø"/>
            </a:pPr>
            <a:r>
              <a:rPr sz="1000" b="1">
                <a:latin typeface="Arial"/>
              </a:rPr>
              <a:t>Conclusion</a:t>
            </a:r>
            <a:endParaRPr lang="en-US" sz="1200" dirty="0">
              <a:latin typeface="Arial" panose="020B0604020202020204" pitchFamily="34" charset="0"/>
              <a:ea typeface="Arial Unicode MS" panose="020B0604020202020204" pitchFamily="34" charset="-128"/>
              <a:cs typeface="Arial" panose="020B0604020202020204" pitchFamily="34" charset="0"/>
            </a:endParaRPr>
          </a:p>
          <a:p>
            <a:pPr eaLnBrk="1" latinLnBrk="0"/>
            <a:r>
              <a:rPr sz="1000" b="0">
                <a:latin typeface="Arial"/>
              </a:rPr>
              <a:t>• P value = 0.636 &gt; 0.05  Fail to reject H0 -&gt; No significant bias (PASS)</a:t>
            </a:r>
          </a:p>
          <a:p>
            <a:pPr eaLnBrk="1" latinLnBrk="0"/>
            <a:r>
              <a:rPr sz="1000" b="0">
                <a:latin typeface="Arial"/>
              </a:rPr>
              <a:t>• Cg = 3.20 (Std ≥ 1.33) PASS | Cgk = 3.17 (Std ≥ 1.33) PASS</a:t>
            </a:r>
          </a:p>
          <a:p>
            <a:pPr eaLnBrk="1" latinLnBrk="0"/>
            <a:r>
              <a:rPr sz="1000" b="0">
                <a:latin typeface="Arial"/>
              </a:rPr>
              <a:t>• %Var(Repeatability) = 6.25% (&lt; 10%) PASS</a:t>
            </a:r>
          </a:p>
          <a:p>
            <a:pPr eaLnBrk="1" latinLnBrk="0"/>
            <a:r>
              <a:rPr sz="1000" b="0">
                <a:latin typeface="Arial"/>
              </a:rPr>
              <a:t>• %Var(Repeatability &amp; Bias) = 6.31% (&lt; 10%) PASS</a:t>
            </a:r>
          </a:p>
          <a:p>
            <a:pPr eaLnBrk="1" latinLnBrk="0"/>
            <a:r>
              <a:rPr sz="1000" b="0">
                <a:latin typeface="Arial"/>
              </a:rPr>
              <a:t>• Resolution = 0.01 &lt; 5% of Tolerance</a:t>
            </a:r>
          </a:p>
        </p:txBody>
      </p:sp>
      <p:sp>
        <p:nvSpPr>
          <p:cNvPr id="7" name="제목 1"/>
          <p:cNvSpPr txBox="1">
            <a:spLocks/>
          </p:cNvSpPr>
          <p:nvPr/>
        </p:nvSpPr>
        <p:spPr>
          <a:xfrm>
            <a:off x="116442" y="96965"/>
            <a:ext cx="2599565" cy="418058"/>
          </a:xfrm>
          <a:prstGeom prst="rect">
            <a:avLst/>
          </a:prstGeom>
        </p:spPr>
        <p:txBody>
          <a:bodyPr vert="horz" lIns="91440" tIns="45720" rIns="91440" bIns="45720" rtlCol="0" anchor="ctr">
            <a:normAutofit/>
          </a:bodyPr>
          <a:lstStyle/>
          <a:p>
            <a:pPr marL="0" marR="0" lvl="0" indent="0" algn="l" defTabSz="914400" rtl="0" eaLnBrk="1" fontAlgn="base" latinLnBrk="0" hangingPunct="0">
              <a:lnSpc>
                <a:spcPct val="100000"/>
              </a:lnSpc>
              <a:spcBef>
                <a:spcPct val="0"/>
              </a:spcBef>
              <a:spcAft>
                <a:spcPct val="0"/>
              </a:spcAft>
              <a:buClrTx/>
              <a:buSzTx/>
              <a:buFontTx/>
              <a:buNone/>
              <a:tabLst/>
              <a:defRPr/>
            </a:pPr>
            <a:r>
              <a:rPr lang="en-US" altLang="ko-KR" sz="1600" b="1" kern="0" dirty="0">
                <a:latin typeface="Arial Narrow" panose="020B0606020202030204" pitchFamily="34" charset="0"/>
                <a:ea typeface="Arial Unicode MS" panose="020B0604020202020204" pitchFamily="34" charset="-128"/>
                <a:cs typeface="Arial" panose="020B0604020202020204" pitchFamily="34" charset="0"/>
              </a:rPr>
              <a:t>2</a:t>
            </a:r>
            <a:r>
              <a:rPr kumimoji="1" lang="en-US" altLang="ko-KR" sz="1600" b="1" i="0" u="none" strike="noStrike" kern="0" cap="none" spc="0" normalizeH="0" baseline="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rPr>
              <a:t>.2 Type</a:t>
            </a:r>
            <a:r>
              <a:rPr kumimoji="1" lang="en-US" altLang="ko-KR" sz="1600" b="1" i="0" u="none" strike="noStrike" kern="0" cap="none" spc="0" normalizeH="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rPr>
              <a:t> 1 Study</a:t>
            </a:r>
            <a:endParaRPr kumimoji="1" lang="ko-KR" altLang="en-US" sz="1600" b="1" i="0" u="none" strike="noStrike" kern="0" cap="none" spc="0" normalizeH="0" baseline="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endParaRPr>
          </a:p>
        </p:txBody>
      </p:sp>
      <p:sp>
        <p:nvSpPr>
          <p:cNvPr id="19" name="AutoShape 55">
            <a:extLst>
              <a:ext uri="{FF2B5EF4-FFF2-40B4-BE49-F238E27FC236}">
                <a16:creationId xmlns:a16="http://schemas.microsoft.com/office/drawing/2014/main" id="{48A61023-CDBC-4C6D-9BB1-EFBB3E5DADD2}"/>
              </a:ext>
            </a:extLst>
          </p:cNvPr>
          <p:cNvSpPr>
            <a:spLocks noChangeArrowheads="1"/>
          </p:cNvSpPr>
          <p:nvPr/>
        </p:nvSpPr>
        <p:spPr bwMode="auto">
          <a:xfrm>
            <a:off x="9121600" y="186782"/>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Control</a:t>
            </a:r>
          </a:p>
        </p:txBody>
      </p:sp>
      <p:sp>
        <p:nvSpPr>
          <p:cNvPr id="20" name="AutoShape 56">
            <a:extLst>
              <a:ext uri="{FF2B5EF4-FFF2-40B4-BE49-F238E27FC236}">
                <a16:creationId xmlns:a16="http://schemas.microsoft.com/office/drawing/2014/main" id="{BACA622A-2FAA-4B1D-8427-F75634CC5D2B}"/>
              </a:ext>
            </a:extLst>
          </p:cNvPr>
          <p:cNvSpPr>
            <a:spLocks noChangeArrowheads="1"/>
          </p:cNvSpPr>
          <p:nvPr/>
        </p:nvSpPr>
        <p:spPr bwMode="auto">
          <a:xfrm>
            <a:off x="8432625" y="186782"/>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solidFill>
                  <a:schemeClr val="tx1"/>
                </a:solidFill>
                <a:latin typeface="Arial Narrow" panose="020B0606020202030204" pitchFamily="34" charset="0"/>
                <a:ea typeface="Arial" panose="020B0503020000020004" pitchFamily="50" charset="-127"/>
              </a:rPr>
              <a:t>Improve</a:t>
            </a:r>
          </a:p>
        </p:txBody>
      </p:sp>
      <p:sp>
        <p:nvSpPr>
          <p:cNvPr id="21" name="AutoShape 57">
            <a:extLst>
              <a:ext uri="{FF2B5EF4-FFF2-40B4-BE49-F238E27FC236}">
                <a16:creationId xmlns:a16="http://schemas.microsoft.com/office/drawing/2014/main" id="{75A7294A-CC51-4608-A86C-6EFFB224E38C}"/>
              </a:ext>
            </a:extLst>
          </p:cNvPr>
          <p:cNvSpPr>
            <a:spLocks noChangeArrowheads="1"/>
          </p:cNvSpPr>
          <p:nvPr/>
        </p:nvSpPr>
        <p:spPr bwMode="auto">
          <a:xfrm>
            <a:off x="7740475" y="186782"/>
            <a:ext cx="749300" cy="287338"/>
          </a:xfrm>
          <a:prstGeom prst="homePlate">
            <a:avLst>
              <a:gd name="adj" fmla="val 46698"/>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Analyze</a:t>
            </a:r>
          </a:p>
        </p:txBody>
      </p:sp>
      <p:sp>
        <p:nvSpPr>
          <p:cNvPr id="22" name="AutoShape 59">
            <a:extLst>
              <a:ext uri="{FF2B5EF4-FFF2-40B4-BE49-F238E27FC236}">
                <a16:creationId xmlns:a16="http://schemas.microsoft.com/office/drawing/2014/main" id="{9DB1964C-2D8B-4B4E-9C14-7211818B60A1}"/>
              </a:ext>
            </a:extLst>
          </p:cNvPr>
          <p:cNvSpPr>
            <a:spLocks noChangeArrowheads="1"/>
          </p:cNvSpPr>
          <p:nvPr/>
        </p:nvSpPr>
        <p:spPr bwMode="auto">
          <a:xfrm>
            <a:off x="6372050" y="186782"/>
            <a:ext cx="757238" cy="287338"/>
          </a:xfrm>
          <a:prstGeom prst="homePlate">
            <a:avLst>
              <a:gd name="adj" fmla="val 47192"/>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Define</a:t>
            </a:r>
          </a:p>
        </p:txBody>
      </p:sp>
      <p:sp>
        <p:nvSpPr>
          <p:cNvPr id="23" name="AutoShape 58">
            <a:extLst>
              <a:ext uri="{FF2B5EF4-FFF2-40B4-BE49-F238E27FC236}">
                <a16:creationId xmlns:a16="http://schemas.microsoft.com/office/drawing/2014/main" id="{734B0F39-A31B-4819-A185-C7981959C679}"/>
              </a:ext>
            </a:extLst>
          </p:cNvPr>
          <p:cNvSpPr>
            <a:spLocks noChangeArrowheads="1"/>
          </p:cNvSpPr>
          <p:nvPr/>
        </p:nvSpPr>
        <p:spPr bwMode="auto">
          <a:xfrm>
            <a:off x="7068963" y="42320"/>
            <a:ext cx="747712" cy="287337"/>
          </a:xfrm>
          <a:prstGeom prst="homePlate">
            <a:avLst>
              <a:gd name="adj" fmla="val 46599"/>
            </a:avLst>
          </a:prstGeom>
          <a:gradFill rotWithShape="1">
            <a:gsLst>
              <a:gs pos="0">
                <a:srgbClr val="494900"/>
              </a:gs>
              <a:gs pos="100000">
                <a:srgbClr val="808000"/>
              </a:gs>
            </a:gsLst>
            <a:lin ang="0" scaled="1"/>
          </a:gradFill>
          <a:ln w="6350" algn="ctr">
            <a:solidFill>
              <a:srgbClr val="808080"/>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latin typeface="Arial Narrow" panose="020B0606020202030204" pitchFamily="34" charset="0"/>
                <a:ea typeface="Arial" panose="020B0503020000020004" pitchFamily="50" charset="-127"/>
              </a:rPr>
              <a:t>Measure </a:t>
            </a:r>
          </a:p>
        </p:txBody>
      </p:sp>
      <p:sp>
        <p:nvSpPr>
          <p:cNvPr id="27" name="TextBox 26">
            <a:extLst>
              <a:ext uri="{FF2B5EF4-FFF2-40B4-BE49-F238E27FC236}">
                <a16:creationId xmlns:a16="http://schemas.microsoft.com/office/drawing/2014/main" id="{6F0E05E3-9DC9-430D-9803-A1CD329A8191}"/>
              </a:ext>
            </a:extLst>
          </p:cNvPr>
          <p:cNvSpPr txBox="1"/>
          <p:nvPr/>
        </p:nvSpPr>
        <p:spPr>
          <a:xfrm>
            <a:off x="5299553" y="3075057"/>
            <a:ext cx="2355668" cy="707886"/>
          </a:xfrm>
          <a:prstGeom prst="rect">
            <a:avLst/>
          </a:prstGeom>
          <a:noFill/>
        </p:spPr>
        <p:txBody>
          <a:bodyPr wrap="square" rtlCol="0">
            <a:noAutofit/>
          </a:bodyPr>
          <a:lstStyle/>
          <a:p>
            <a:pPr eaLnBrk="1" latinLnBrk="0">
              <a:spcBef>
                <a:spcPts val="600"/>
              </a:spcBef>
            </a:pPr>
            <a:r>
              <a:rPr lang="en-GB" sz="1000" dirty="0">
                <a:latin typeface="Arial" panose="020B0600000101010101" pitchFamily="34" charset="-127"/>
                <a:ea typeface="Arial" panose="020B0600000101010101" pitchFamily="34" charset="-127"/>
              </a:rPr>
              <a:t>Spec: </a:t>
            </a:r>
            <a:r>
              <a:rPr lang="en-US" sz="1000" dirty="0">
                <a:solidFill>
                  <a:srgbClr val="000000"/>
                </a:solidFill>
                <a:latin typeface="Arial" panose="020B0600000101010101" pitchFamily="34" charset="-127"/>
                <a:ea typeface="Arial" panose="020B0600000101010101" pitchFamily="34" charset="-127"/>
                <a:cs typeface="Arial" panose="020B0604020202020204" pitchFamily="34" charset="0"/>
              </a:rPr>
              <a:t>800.00 ~ 2000.00</a:t>
            </a:r>
          </a:p>
          <a:p>
            <a:pPr eaLnBrk="1" latinLnBrk="0">
              <a:spcBef>
                <a:spcPts val="600"/>
              </a:spcBef>
            </a:pPr>
            <a:r>
              <a:rPr lang="en-GB" sz="1000" dirty="0">
                <a:latin typeface="Arial" panose="020B0600000101010101" pitchFamily="34" charset="-127"/>
                <a:ea typeface="Arial" panose="020B0600000101010101" pitchFamily="34" charset="-127"/>
              </a:rPr>
              <a:t>Reference value: 910 (golden sample)</a:t>
            </a:r>
          </a:p>
          <a:p>
            <a:pPr eaLnBrk="1" latinLnBrk="0">
              <a:spcBef>
                <a:spcPts val="600"/>
              </a:spcBef>
            </a:pPr>
            <a:r>
              <a:rPr lang="en-US" sz="1000" dirty="0">
                <a:latin typeface="Arial" panose="020B0600000101010101" pitchFamily="34" charset="-127"/>
                <a:ea typeface="Arial" panose="020B0600000101010101" pitchFamily="34" charset="-127"/>
              </a:rPr>
              <a:t>Resolution of Instrument: 0.01 </a:t>
            </a:r>
          </a:p>
        </p:txBody>
      </p:sp>
      <p:sp>
        <p:nvSpPr>
          <p:cNvPr id="15" name="Slide Number Placeholder 4">
            <a:extLst>
              <a:ext uri="{FF2B5EF4-FFF2-40B4-BE49-F238E27FC236}">
                <a16:creationId xmlns:a16="http://schemas.microsoft.com/office/drawing/2014/main" id="{3A97A1D6-8318-4AE8-ABA4-3E86A3455159}"/>
              </a:ext>
            </a:extLst>
          </p:cNvPr>
          <p:cNvSpPr>
            <a:spLocks noGrp="1"/>
          </p:cNvSpPr>
          <p:nvPr>
            <p:ph type="sldNum" sz="quarter" idx="12"/>
          </p:nvPr>
        </p:nvSpPr>
        <p:spPr>
          <a:xfrm>
            <a:off x="3700326" y="6643499"/>
            <a:ext cx="1368000" cy="198047"/>
          </a:xfrm>
        </p:spPr>
        <p:txBody>
          <a:bodyPr/>
          <a:lstStyle/>
          <a:p>
            <a:pPr algn="ctr" eaLnBrk="1" latinLnBrk="0"/>
            <a:r>
              <a:rPr sz="1000" b="0">
                <a:latin typeface="Arial"/>
              </a:rPr>
              <a:t>07 / 33</a:t>
            </a:r>
            <a:endParaRPr lang="ko-KR" altLang="en-US" sz="1200" dirty="0">
              <a:solidFill>
                <a:prstClr val="black">
                  <a:tint val="75000"/>
                </a:prstClr>
              </a:solidFill>
              <a:latin typeface="Arial" panose="020B0604020202020204" pitchFamily="34" charset="0"/>
              <a:ea typeface="Arial Unicode MS" panose="020B0604020202020204" pitchFamily="34" charset="-128"/>
              <a:cs typeface="Arial" panose="020B0604020202020204" pitchFamily="34" charset="0"/>
            </a:endParaRPr>
          </a:p>
        </p:txBody>
      </p:sp>
      <p:sp>
        <p:nvSpPr>
          <p:cNvPr id="16" name="TextBox 15">
            <a:extLst>
              <a:ext uri="{FF2B5EF4-FFF2-40B4-BE49-F238E27FC236}">
                <a16:creationId xmlns:a16="http://schemas.microsoft.com/office/drawing/2014/main" id="{98C5E36D-EEFF-4453-A88A-CDA04A433E1C}"/>
              </a:ext>
            </a:extLst>
          </p:cNvPr>
          <p:cNvSpPr txBox="1"/>
          <p:nvPr/>
        </p:nvSpPr>
        <p:spPr>
          <a:xfrm>
            <a:off x="63248" y="535377"/>
            <a:ext cx="2070352" cy="276999"/>
          </a:xfrm>
          <a:prstGeom prst="rect">
            <a:avLst/>
          </a:prstGeom>
          <a:noFill/>
        </p:spPr>
        <p:txBody>
          <a:bodyPr wrap="square" rtlCol="0">
            <a:noAutofit/>
          </a:bodyPr>
          <a:lstStyle/>
          <a:p>
            <a:pPr marL="171450" indent="-171450" eaLnBrk="1" latinLnBrk="0">
              <a:buFont typeface="Wingdings" panose="05000000000000000000" pitchFamily="2" charset="2"/>
              <a:buChar char="q"/>
            </a:pPr>
            <a:r>
              <a:rPr lang="vi-VN" sz="1000" b="1" dirty="0">
                <a:latin typeface="Arial" panose="020B0604020202020204" pitchFamily="34" charset="0"/>
                <a:ea typeface="Arial Unicode MS" panose="020B0604020202020204" pitchFamily="34" charset="-128"/>
                <a:cs typeface="Arial" panose="020B0604020202020204" pitchFamily="34" charset="0"/>
              </a:rPr>
              <a:t>Station </a:t>
            </a:r>
            <a:r>
              <a:rPr lang="en-US" sz="1000" b="1" dirty="0">
                <a:latin typeface="Arial" panose="020B0604020202020204" pitchFamily="34" charset="0"/>
                <a:ea typeface="Arial Unicode MS" panose="020B0604020202020204" pitchFamily="34" charset="-128"/>
                <a:cs typeface="Arial" panose="020B0604020202020204" pitchFamily="34" charset="0"/>
              </a:rPr>
              <a:t>1 Luminance</a:t>
            </a:r>
          </a:p>
        </p:txBody>
      </p:sp>
      <p:graphicFrame>
        <p:nvGraphicFramePr>
          <p:cNvPr id="3" name="Table 2">
            <a:extLst>
              <a:ext uri="{FF2B5EF4-FFF2-40B4-BE49-F238E27FC236}">
                <a16:creationId xmlns:a16="http://schemas.microsoft.com/office/drawing/2014/main" id="{DCAFABC0-A57C-485A-81F0-216C152D8CD9}"/>
              </a:ext>
            </a:extLst>
          </p:cNvPr>
          <p:cNvGraphicFramePr>
            <a:graphicFrameLocks noGrp="1"/>
          </p:cNvGraphicFramePr>
          <p:nvPr>
            <p:extLst>
              <p:ext uri="{D42A27DB-BD31-4B8C-83A1-F6EECF244321}">
                <p14:modId xmlns:p14="http://schemas.microsoft.com/office/powerpoint/2010/main" val="3560516726"/>
              </p:ext>
            </p:extLst>
          </p:nvPr>
        </p:nvGraphicFramePr>
        <p:xfrm>
          <a:off x="239979" y="2021872"/>
          <a:ext cx="3670300" cy="3076575"/>
        </p:xfrm>
        <a:graphic>
          <a:graphicData uri="http://schemas.openxmlformats.org/drawingml/2006/table">
            <a:tbl>
              <a:tblPr/>
              <a:tblGrid>
                <a:gridCol w="369621">
                  <a:extLst>
                    <a:ext uri="{9D8B030D-6E8A-4147-A177-3AD203B41FA5}">
                      <a16:colId xmlns:a16="http://schemas.microsoft.com/office/drawing/2014/main" val="1869624035"/>
                    </a:ext>
                  </a:extLst>
                </a:gridCol>
                <a:gridCol w="1447800">
                  <a:extLst>
                    <a:ext uri="{9D8B030D-6E8A-4147-A177-3AD203B41FA5}">
                      <a16:colId xmlns:a16="http://schemas.microsoft.com/office/drawing/2014/main" val="1973871595"/>
                    </a:ext>
                  </a:extLst>
                </a:gridCol>
                <a:gridCol w="457200">
                  <a:extLst>
                    <a:ext uri="{9D8B030D-6E8A-4147-A177-3AD203B41FA5}">
                      <a16:colId xmlns:a16="http://schemas.microsoft.com/office/drawing/2014/main" val="3877533893"/>
                    </a:ext>
                  </a:extLst>
                </a:gridCol>
                <a:gridCol w="1395679">
                  <a:extLst>
                    <a:ext uri="{9D8B030D-6E8A-4147-A177-3AD203B41FA5}">
                      <a16:colId xmlns:a16="http://schemas.microsoft.com/office/drawing/2014/main" val="483160888"/>
                    </a:ext>
                  </a:extLst>
                </a:gridCol>
              </a:tblGrid>
              <a:tr h="219075">
                <a:tc>
                  <a:txBody>
                    <a:bodyPr/>
                    <a:lstStyle/>
                    <a:p>
                      <a:pPr algn="ctr" rtl="0" eaLnBrk="1" fontAlgn="ctr" latinLnBrk="0"/>
                      <a:r>
                        <a:rPr lang="en-US" sz="1000" b="1" i="0" u="none" strike="noStrike" dirty="0">
                          <a:solidFill>
                            <a:srgbClr val="000000"/>
                          </a:solidFill>
                          <a:effectLst/>
                          <a:latin typeface="Arial" panose="020B0604020202020204" pitchFamily="34" charset="0"/>
                        </a:rPr>
                        <a:t>No</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tc>
                  <a:txBody>
                    <a:bodyPr/>
                    <a:lstStyle/>
                    <a:p>
                      <a:pPr algn="ctr" rtl="0" eaLnBrk="1" fontAlgn="ctr" latinLnBrk="0"/>
                      <a:r>
                        <a:rPr lang="en-US" sz="1000" b="1" i="0" u="none" strike="noStrike" dirty="0">
                          <a:solidFill>
                            <a:srgbClr val="000000"/>
                          </a:solidFill>
                          <a:effectLst/>
                          <a:latin typeface="Arial" panose="020B0604020202020204" pitchFamily="34" charset="0"/>
                        </a:rPr>
                        <a:t>Luminance(Cd/m</a:t>
                      </a:r>
                      <a:r>
                        <a:rPr lang="en-US" sz="1000" b="1" i="0" u="none" strike="noStrike" baseline="30000" dirty="0">
                          <a:solidFill>
                            <a:srgbClr val="000000"/>
                          </a:solidFill>
                          <a:effectLst/>
                          <a:latin typeface="Arial" panose="020B0604020202020204" pitchFamily="34" charset="0"/>
                        </a:rPr>
                        <a:t>2</a:t>
                      </a:r>
                      <a:r>
                        <a:rPr lang="en-US" sz="1000" b="1" i="0" u="none" strike="noStrike" dirty="0">
                          <a:solidFill>
                            <a:srgbClr val="000000"/>
                          </a:solidFill>
                          <a:effectLst/>
                          <a:latin typeface="Arial" panose="020B0604020202020204" pitchFamily="34" charset="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tc>
                  <a:txBody>
                    <a:bodyPr/>
                    <a:lstStyle/>
                    <a:p>
                      <a:pPr algn="ctr" rtl="0" eaLnBrk="1" fontAlgn="ctr" latinLnBrk="0"/>
                      <a:r>
                        <a:rPr lang="en-US" sz="1000" b="1" i="0" u="none" strike="noStrike">
                          <a:solidFill>
                            <a:srgbClr val="000000"/>
                          </a:solidFill>
                          <a:effectLst/>
                          <a:latin typeface="Arial" panose="020B0604020202020204" pitchFamily="34" charset="0"/>
                        </a:rPr>
                        <a:t>No</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tc>
                  <a:txBody>
                    <a:bodyPr/>
                    <a:lstStyle/>
                    <a:p>
                      <a:pPr algn="ctr" rtl="0" eaLnBrk="1" fontAlgn="ctr" latinLnBrk="0"/>
                      <a:r>
                        <a:rPr lang="en-US" sz="1000" b="1" i="0" u="none" strike="noStrike" dirty="0">
                          <a:solidFill>
                            <a:srgbClr val="000000"/>
                          </a:solidFill>
                          <a:effectLst/>
                          <a:latin typeface="Arial" panose="020B0604020202020204" pitchFamily="34" charset="0"/>
                        </a:rPr>
                        <a:t>Luminance(Cd/m</a:t>
                      </a:r>
                      <a:r>
                        <a:rPr lang="en-US" sz="1000" b="1" i="0" u="none" strike="noStrike" baseline="30000" dirty="0">
                          <a:solidFill>
                            <a:srgbClr val="000000"/>
                          </a:solidFill>
                          <a:effectLst/>
                          <a:latin typeface="Arial" panose="020B0604020202020204" pitchFamily="34" charset="0"/>
                        </a:rPr>
                        <a:t>2</a:t>
                      </a:r>
                      <a:r>
                        <a:rPr lang="en-US" sz="1000" b="1" i="0" u="none" strike="noStrike" dirty="0">
                          <a:solidFill>
                            <a:srgbClr val="000000"/>
                          </a:solidFill>
                          <a:effectLst/>
                          <a:latin typeface="Arial" panose="020B0604020202020204" pitchFamily="34" charset="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extLst>
                  <a:ext uri="{0D108BD9-81ED-4DB2-BD59-A6C34878D82A}">
                    <a16:rowId xmlns:a16="http://schemas.microsoft.com/office/drawing/2014/main" val="3664682676"/>
                  </a:ext>
                </a:extLst>
              </a:tr>
              <a:tr h="190500">
                <a:tc>
                  <a:txBody>
                    <a:bodyPr/>
                    <a:lstStyle/>
                    <a:p>
                      <a:pPr algn="ctr" rtl="0" eaLnBrk="1" fontAlgn="ctr" latinLnBrk="0"/>
                      <a:r>
                        <a:rPr lang="en-US" sz="1000" b="0" i="0" u="none" strike="noStrike" dirty="0">
                          <a:solidFill>
                            <a:srgbClr val="000000"/>
                          </a:solidFill>
                          <a:effectLst/>
                          <a:latin typeface="Arial" panose="020B0604020202020204" pitchFamily="34" charset="0"/>
                        </a:rPr>
                        <a:t>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dirty="0">
                          <a:solidFill>
                            <a:srgbClr val="000000"/>
                          </a:solidFill>
                          <a:effectLst/>
                          <a:latin typeface="Arial" panose="020F0502020204030204" pitchFamily="34" charset="0"/>
                          <a:ea typeface="Arial"/>
                        </a:rPr>
                        <a:t>908.00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dirty="0">
                          <a:solidFill>
                            <a:srgbClr val="000000"/>
                          </a:solidFill>
                          <a:effectLst/>
                          <a:latin typeface="Arial" panose="020B0604020202020204" pitchFamily="34" charset="0"/>
                        </a:rPr>
                        <a:t>16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dirty="0">
                          <a:solidFill>
                            <a:srgbClr val="000000"/>
                          </a:solidFill>
                          <a:effectLst/>
                          <a:latin typeface="Arial" panose="020F0502020204030204" pitchFamily="34" charset="0"/>
                          <a:ea typeface="Arial"/>
                        </a:rPr>
                        <a:t>911.46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249070195"/>
                  </a:ext>
                </a:extLst>
              </a:tr>
              <a:tr h="190500">
                <a:tc>
                  <a:txBody>
                    <a:bodyPr/>
                    <a:lstStyle/>
                    <a:p>
                      <a:pPr algn="ctr" rtl="0" eaLnBrk="1" fontAlgn="ctr" latinLnBrk="0"/>
                      <a:r>
                        <a:rPr lang="en-US" sz="1000" b="0" i="0" u="none" strike="noStrike" dirty="0">
                          <a:solidFill>
                            <a:srgbClr val="000000"/>
                          </a:solidFill>
                          <a:effectLst/>
                          <a:latin typeface="Arial" panose="020B0604020202020204" pitchFamily="34" charset="0"/>
                        </a:rPr>
                        <a:t>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dirty="0">
                          <a:solidFill>
                            <a:srgbClr val="000000"/>
                          </a:solidFill>
                          <a:effectLst/>
                          <a:latin typeface="Arial" panose="020F0502020204030204" pitchFamily="34" charset="0"/>
                          <a:ea typeface="Arial"/>
                        </a:rPr>
                        <a:t>917.93</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dirty="0">
                          <a:solidFill>
                            <a:srgbClr val="000000"/>
                          </a:solidFill>
                          <a:effectLst/>
                          <a:latin typeface="Arial" panose="020B0604020202020204" pitchFamily="34" charset="0"/>
                        </a:rPr>
                        <a:t>17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890.79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986000230"/>
                  </a:ext>
                </a:extLst>
              </a:tr>
              <a:tr h="190500">
                <a:tc>
                  <a:txBody>
                    <a:bodyPr/>
                    <a:lstStyle/>
                    <a:p>
                      <a:pPr algn="ctr" rtl="0" eaLnBrk="1" fontAlgn="ctr" latinLnBrk="0"/>
                      <a:r>
                        <a:rPr lang="en-US" sz="1000" b="0" i="0" u="none" strike="noStrike" dirty="0">
                          <a:solidFill>
                            <a:srgbClr val="000000"/>
                          </a:solidFill>
                          <a:effectLst/>
                          <a:latin typeface="Arial" panose="020B0604020202020204" pitchFamily="34" charset="0"/>
                        </a:rPr>
                        <a:t>3</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915.27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dirty="0">
                          <a:solidFill>
                            <a:srgbClr val="000000"/>
                          </a:solidFill>
                          <a:effectLst/>
                          <a:latin typeface="Arial" panose="020B0604020202020204" pitchFamily="34" charset="0"/>
                        </a:rPr>
                        <a:t>18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908.47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595016158"/>
                  </a:ext>
                </a:extLst>
              </a:tr>
              <a:tr h="190500">
                <a:tc>
                  <a:txBody>
                    <a:bodyPr/>
                    <a:lstStyle/>
                    <a:p>
                      <a:pPr algn="ctr" rtl="0" eaLnBrk="1" fontAlgn="ctr" latinLnBrk="0"/>
                      <a:r>
                        <a:rPr lang="en-US" sz="1000" b="0" i="0" u="none" strike="noStrike" dirty="0">
                          <a:solidFill>
                            <a:srgbClr val="000000"/>
                          </a:solidFill>
                          <a:effectLst/>
                          <a:latin typeface="Arial" panose="020B0604020202020204" pitchFamily="34" charset="0"/>
                        </a:rPr>
                        <a:t>4</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896.15</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dirty="0">
                          <a:solidFill>
                            <a:srgbClr val="000000"/>
                          </a:solidFill>
                          <a:effectLst/>
                          <a:latin typeface="Arial" panose="020B0604020202020204" pitchFamily="34" charset="0"/>
                        </a:rPr>
                        <a:t>19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dirty="0">
                          <a:solidFill>
                            <a:srgbClr val="000000"/>
                          </a:solidFill>
                          <a:effectLst/>
                          <a:latin typeface="Arial" panose="020F0502020204030204" pitchFamily="34" charset="0"/>
                          <a:ea typeface="Arial"/>
                        </a:rPr>
                        <a:t>926.02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390077892"/>
                  </a:ext>
                </a:extLst>
              </a:tr>
              <a:tr h="190500">
                <a:tc>
                  <a:txBody>
                    <a:bodyPr/>
                    <a:lstStyle/>
                    <a:p>
                      <a:pPr algn="ctr" rtl="0" eaLnBrk="1" fontAlgn="ctr" latinLnBrk="0"/>
                      <a:r>
                        <a:rPr lang="en-US" sz="1000" b="0" i="0" u="none" strike="noStrike" dirty="0">
                          <a:solidFill>
                            <a:srgbClr val="000000"/>
                          </a:solidFill>
                          <a:effectLst/>
                          <a:latin typeface="Arial" panose="020B0604020202020204" pitchFamily="34" charset="0"/>
                        </a:rPr>
                        <a:t>5</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919.40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dirty="0">
                          <a:solidFill>
                            <a:srgbClr val="000000"/>
                          </a:solidFill>
                          <a:effectLst/>
                          <a:latin typeface="Arial" panose="020B0604020202020204" pitchFamily="34" charset="0"/>
                        </a:rPr>
                        <a:t>20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dirty="0">
                          <a:solidFill>
                            <a:srgbClr val="000000"/>
                          </a:solidFill>
                          <a:effectLst/>
                          <a:latin typeface="Arial" panose="020F0502020204030204" pitchFamily="34" charset="0"/>
                          <a:ea typeface="Arial"/>
                        </a:rPr>
                        <a:t>924.05</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5965847"/>
                  </a:ext>
                </a:extLst>
              </a:tr>
              <a:tr h="190500">
                <a:tc>
                  <a:txBody>
                    <a:bodyPr/>
                    <a:lstStyle/>
                    <a:p>
                      <a:pPr algn="ctr" rtl="0" eaLnBrk="1" fontAlgn="ctr" latinLnBrk="0"/>
                      <a:r>
                        <a:rPr lang="en-US" sz="1000" b="0" i="0" u="none" strike="noStrike" dirty="0">
                          <a:solidFill>
                            <a:srgbClr val="000000"/>
                          </a:solidFill>
                          <a:effectLst/>
                          <a:latin typeface="Arial" panose="020B0604020202020204" pitchFamily="34" charset="0"/>
                        </a:rPr>
                        <a:t>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dirty="0">
                          <a:solidFill>
                            <a:srgbClr val="000000"/>
                          </a:solidFill>
                          <a:effectLst/>
                          <a:latin typeface="Arial" panose="020F0502020204030204" pitchFamily="34" charset="0"/>
                          <a:ea typeface="Arial"/>
                        </a:rPr>
                        <a:t>924.00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dirty="0">
                          <a:solidFill>
                            <a:srgbClr val="000000"/>
                          </a:solidFill>
                          <a:effectLst/>
                          <a:latin typeface="Arial" panose="020B0604020202020204" pitchFamily="34" charset="0"/>
                        </a:rPr>
                        <a:t>21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dirty="0">
                          <a:solidFill>
                            <a:srgbClr val="000000"/>
                          </a:solidFill>
                          <a:effectLst/>
                          <a:latin typeface="Arial" panose="020F0502020204030204" pitchFamily="34" charset="0"/>
                          <a:ea typeface="Arial"/>
                        </a:rPr>
                        <a:t>928.50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77926171"/>
                  </a:ext>
                </a:extLst>
              </a:tr>
              <a:tr h="190500">
                <a:tc>
                  <a:txBody>
                    <a:bodyPr/>
                    <a:lstStyle/>
                    <a:p>
                      <a:pPr algn="ctr" rtl="0" eaLnBrk="1" fontAlgn="ctr" latinLnBrk="0"/>
                      <a:r>
                        <a:rPr lang="en-US" sz="1000" b="0" i="0" u="none" strike="noStrike" dirty="0">
                          <a:solidFill>
                            <a:srgbClr val="000000"/>
                          </a:solidFill>
                          <a:effectLst/>
                          <a:latin typeface="Arial" panose="020B0604020202020204" pitchFamily="34" charset="0"/>
                        </a:rPr>
                        <a:t>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917.44</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dirty="0">
                          <a:solidFill>
                            <a:srgbClr val="000000"/>
                          </a:solidFill>
                          <a:effectLst/>
                          <a:latin typeface="Arial" panose="020B0604020202020204" pitchFamily="34" charset="0"/>
                        </a:rPr>
                        <a:t>22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dirty="0">
                          <a:solidFill>
                            <a:srgbClr val="000000"/>
                          </a:solidFill>
                          <a:effectLst/>
                          <a:latin typeface="Arial" panose="020F0502020204030204" pitchFamily="34" charset="0"/>
                          <a:ea typeface="Arial"/>
                        </a:rPr>
                        <a:t>906.05</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137339895"/>
                  </a:ext>
                </a:extLst>
              </a:tr>
              <a:tr h="190500">
                <a:tc>
                  <a:txBody>
                    <a:bodyPr/>
                    <a:lstStyle/>
                    <a:p>
                      <a:pPr algn="ctr" rtl="0" eaLnBrk="1" fontAlgn="ctr" latinLnBrk="0"/>
                      <a:r>
                        <a:rPr lang="en-US" sz="1000" b="0" i="0" u="none" strike="noStrike" dirty="0">
                          <a:solidFill>
                            <a:srgbClr val="000000"/>
                          </a:solidFill>
                          <a:effectLst/>
                          <a:latin typeface="Arial" panose="020B0604020202020204" pitchFamily="34" charset="0"/>
                        </a:rPr>
                        <a:t>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894.39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dirty="0">
                          <a:solidFill>
                            <a:srgbClr val="000000"/>
                          </a:solidFill>
                          <a:effectLst/>
                          <a:latin typeface="Arial" panose="020B0604020202020204" pitchFamily="34" charset="0"/>
                        </a:rPr>
                        <a:t>23</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dirty="0">
                          <a:solidFill>
                            <a:srgbClr val="000000"/>
                          </a:solidFill>
                          <a:effectLst/>
                          <a:latin typeface="Arial" panose="020F0502020204030204" pitchFamily="34" charset="0"/>
                          <a:ea typeface="Arial"/>
                        </a:rPr>
                        <a:t>924.20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010551954"/>
                  </a:ext>
                </a:extLst>
              </a:tr>
              <a:tr h="190500">
                <a:tc>
                  <a:txBody>
                    <a:bodyPr/>
                    <a:lstStyle/>
                    <a:p>
                      <a:pPr algn="ctr" rtl="0" eaLnBrk="1" fontAlgn="ctr" latinLnBrk="0"/>
                      <a:r>
                        <a:rPr lang="en-US" sz="1000" b="0" i="0" u="none" strike="noStrike" dirty="0">
                          <a:solidFill>
                            <a:srgbClr val="000000"/>
                          </a:solidFill>
                          <a:effectLst/>
                          <a:latin typeface="Arial" panose="020B0604020202020204" pitchFamily="34" charset="0"/>
                        </a:rPr>
                        <a:t>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921.04</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dirty="0">
                          <a:solidFill>
                            <a:srgbClr val="000000"/>
                          </a:solidFill>
                          <a:effectLst/>
                          <a:latin typeface="Arial" panose="020B0604020202020204" pitchFamily="34" charset="0"/>
                        </a:rPr>
                        <a:t>24</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dirty="0">
                          <a:solidFill>
                            <a:srgbClr val="000000"/>
                          </a:solidFill>
                          <a:effectLst/>
                          <a:latin typeface="Arial" panose="020F0502020204030204" pitchFamily="34" charset="0"/>
                          <a:ea typeface="Arial"/>
                        </a:rPr>
                        <a:t>888.30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66786549"/>
                  </a:ext>
                </a:extLst>
              </a:tr>
              <a:tr h="190500">
                <a:tc>
                  <a:txBody>
                    <a:bodyPr/>
                    <a:lstStyle/>
                    <a:p>
                      <a:pPr algn="ctr" rtl="0" eaLnBrk="1" fontAlgn="ctr" latinLnBrk="0"/>
                      <a:r>
                        <a:rPr lang="en-US" sz="1000" b="0" i="0" u="none" strike="noStrike" dirty="0">
                          <a:solidFill>
                            <a:srgbClr val="000000"/>
                          </a:solidFill>
                          <a:effectLst/>
                          <a:latin typeface="Arial" panose="020B0604020202020204" pitchFamily="34" charset="0"/>
                        </a:rPr>
                        <a:t>10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893.60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dirty="0">
                          <a:solidFill>
                            <a:srgbClr val="000000"/>
                          </a:solidFill>
                          <a:effectLst/>
                          <a:latin typeface="Arial" panose="020B0604020202020204" pitchFamily="34" charset="0"/>
                        </a:rPr>
                        <a:t>25</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dirty="0">
                          <a:solidFill>
                            <a:srgbClr val="000000"/>
                          </a:solidFill>
                          <a:effectLst/>
                          <a:latin typeface="Arial" panose="020F0502020204030204" pitchFamily="34" charset="0"/>
                          <a:ea typeface="Arial"/>
                        </a:rPr>
                        <a:t>912.50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699588986"/>
                  </a:ext>
                </a:extLst>
              </a:tr>
              <a:tr h="190500">
                <a:tc>
                  <a:txBody>
                    <a:bodyPr/>
                    <a:lstStyle/>
                    <a:p>
                      <a:pPr algn="ctr" rtl="0" eaLnBrk="1" fontAlgn="ctr" latinLnBrk="0"/>
                      <a:r>
                        <a:rPr lang="en-US" sz="1000" b="0" i="0" u="none" strike="noStrike" dirty="0">
                          <a:solidFill>
                            <a:srgbClr val="000000"/>
                          </a:solidFill>
                          <a:effectLst/>
                          <a:latin typeface="Arial" panose="020B0604020202020204" pitchFamily="34" charset="0"/>
                        </a:rPr>
                        <a:t>11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930.70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dirty="0">
                          <a:solidFill>
                            <a:srgbClr val="000000"/>
                          </a:solidFill>
                          <a:effectLst/>
                          <a:latin typeface="Arial" panose="020B0604020202020204" pitchFamily="34" charset="0"/>
                        </a:rPr>
                        <a:t>26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dirty="0">
                          <a:solidFill>
                            <a:srgbClr val="000000"/>
                          </a:solidFill>
                          <a:effectLst/>
                          <a:latin typeface="Arial" panose="020F0502020204030204" pitchFamily="34" charset="0"/>
                          <a:ea typeface="Arial"/>
                        </a:rPr>
                        <a:t>921.38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805068799"/>
                  </a:ext>
                </a:extLst>
              </a:tr>
              <a:tr h="190500">
                <a:tc>
                  <a:txBody>
                    <a:bodyPr/>
                    <a:lstStyle/>
                    <a:p>
                      <a:pPr algn="ctr" rtl="0" eaLnBrk="1" fontAlgn="ctr" latinLnBrk="0"/>
                      <a:r>
                        <a:rPr lang="en-US" sz="1000" b="0" i="0" u="none" strike="noStrike" dirty="0">
                          <a:solidFill>
                            <a:srgbClr val="000000"/>
                          </a:solidFill>
                          <a:effectLst/>
                          <a:latin typeface="Arial" panose="020B0604020202020204" pitchFamily="34" charset="0"/>
                        </a:rPr>
                        <a:t>12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911.27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dirty="0">
                          <a:solidFill>
                            <a:srgbClr val="000000"/>
                          </a:solidFill>
                          <a:effectLst/>
                          <a:latin typeface="Arial" panose="020B0604020202020204" pitchFamily="34" charset="0"/>
                        </a:rPr>
                        <a:t>27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dirty="0">
                          <a:solidFill>
                            <a:srgbClr val="000000"/>
                          </a:solidFill>
                          <a:effectLst/>
                          <a:latin typeface="Arial" panose="020F0502020204030204" pitchFamily="34" charset="0"/>
                          <a:ea typeface="Arial"/>
                        </a:rPr>
                        <a:t>891.90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88258125"/>
                  </a:ext>
                </a:extLst>
              </a:tr>
              <a:tr h="190500">
                <a:tc>
                  <a:txBody>
                    <a:bodyPr/>
                    <a:lstStyle/>
                    <a:p>
                      <a:pPr algn="ctr" rtl="0" eaLnBrk="1" fontAlgn="ctr" latinLnBrk="0"/>
                      <a:r>
                        <a:rPr lang="en-US" sz="1000" b="0" i="0" u="none" strike="noStrike" dirty="0">
                          <a:solidFill>
                            <a:srgbClr val="000000"/>
                          </a:solidFill>
                          <a:effectLst/>
                          <a:latin typeface="Arial" panose="020B0604020202020204" pitchFamily="34" charset="0"/>
                        </a:rPr>
                        <a:t>13</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927.62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dirty="0">
                          <a:solidFill>
                            <a:srgbClr val="000000"/>
                          </a:solidFill>
                          <a:effectLst/>
                          <a:latin typeface="Arial" panose="020B0604020202020204" pitchFamily="34" charset="0"/>
                        </a:rPr>
                        <a:t>28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dirty="0">
                          <a:solidFill>
                            <a:srgbClr val="000000"/>
                          </a:solidFill>
                          <a:effectLst/>
                          <a:latin typeface="Arial" panose="020F0502020204030204" pitchFamily="34" charset="0"/>
                          <a:ea typeface="Arial"/>
                        </a:rPr>
                        <a:t>908.25</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616731877"/>
                  </a:ext>
                </a:extLst>
              </a:tr>
              <a:tr h="190500">
                <a:tc>
                  <a:txBody>
                    <a:bodyPr/>
                    <a:lstStyle/>
                    <a:p>
                      <a:pPr algn="ctr" rtl="0" eaLnBrk="1" fontAlgn="ctr" latinLnBrk="0"/>
                      <a:r>
                        <a:rPr lang="en-US" sz="1000" b="0" i="0" u="none" strike="noStrike" dirty="0">
                          <a:solidFill>
                            <a:srgbClr val="000000"/>
                          </a:solidFill>
                          <a:effectLst/>
                          <a:latin typeface="Arial" panose="020B0604020202020204" pitchFamily="34" charset="0"/>
                        </a:rPr>
                        <a:t>14</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903.52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dirty="0">
                          <a:solidFill>
                            <a:srgbClr val="000000"/>
                          </a:solidFill>
                          <a:effectLst/>
                          <a:latin typeface="Arial" panose="020B0604020202020204" pitchFamily="34" charset="0"/>
                        </a:rPr>
                        <a:t>29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dirty="0">
                          <a:solidFill>
                            <a:srgbClr val="000000"/>
                          </a:solidFill>
                          <a:effectLst/>
                          <a:latin typeface="Arial" panose="020F0502020204030204" pitchFamily="34" charset="0"/>
                          <a:ea typeface="Arial"/>
                        </a:rPr>
                        <a:t>900.60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703188169"/>
                  </a:ext>
                </a:extLst>
              </a:tr>
              <a:tr h="190500">
                <a:tc>
                  <a:txBody>
                    <a:bodyPr/>
                    <a:lstStyle/>
                    <a:p>
                      <a:pPr algn="ctr" rtl="0" eaLnBrk="1" fontAlgn="ctr" latinLnBrk="0"/>
                      <a:r>
                        <a:rPr lang="en-US" sz="1000" b="0" i="0" u="none" strike="noStrike" dirty="0">
                          <a:solidFill>
                            <a:srgbClr val="000000"/>
                          </a:solidFill>
                          <a:effectLst/>
                          <a:latin typeface="Arial" panose="020B0604020202020204" pitchFamily="34" charset="0"/>
                        </a:rPr>
                        <a:t>15</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899.24</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dirty="0">
                          <a:solidFill>
                            <a:srgbClr val="000000"/>
                          </a:solidFill>
                          <a:effectLst/>
                          <a:latin typeface="Arial" panose="020B0604020202020204" pitchFamily="34" charset="0"/>
                        </a:rPr>
                        <a:t>30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dirty="0">
                          <a:solidFill>
                            <a:srgbClr val="000000"/>
                          </a:solidFill>
                          <a:effectLst/>
                          <a:latin typeface="Arial" panose="020F0502020204030204" pitchFamily="34" charset="0"/>
                          <a:ea typeface="Arial"/>
                        </a:rPr>
                        <a:t>910.68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240422400"/>
                  </a:ext>
                </a:extLst>
              </a:tr>
            </a:tbl>
          </a:graphicData>
        </a:graphic>
      </p:graphicFrame>
      <p:pic>
        <p:nvPicPr>
          <p:cNvPr id="6" name="Picture 5">
            <a:extLst>
              <a:ext uri="{FF2B5EF4-FFF2-40B4-BE49-F238E27FC236}">
                <a16:creationId xmlns:a16="http://schemas.microsoft.com/office/drawing/2014/main" id="{1E1B24B7-1F77-4AD9-8A9B-D0EF1773079C}"/>
              </a:ext>
            </a:extLst>
          </p:cNvPr>
          <p:cNvPicPr>
            <a:picLocks noChangeAspect="1"/>
          </p:cNvPicPr>
          <p:nvPr/>
        </p:nvPicPr>
        <p:blipFill>
          <a:blip r:embed="rId3"/>
          <a:stretch>
            <a:fillRect/>
          </a:stretch>
        </p:blipFill>
        <p:spPr>
          <a:xfrm>
            <a:off x="6156393" y="535377"/>
            <a:ext cx="3670299" cy="2484318"/>
          </a:xfrm>
          <a:prstGeom prst="rect">
            <a:avLst/>
          </a:prstGeom>
        </p:spPr>
      </p:pic>
      <p:cxnSp>
        <p:nvCxnSpPr>
          <p:cNvPr id="24" name="Straight Connector 23">
            <a:extLst>
              <a:ext uri="{FF2B5EF4-FFF2-40B4-BE49-F238E27FC236}">
                <a16:creationId xmlns:a16="http://schemas.microsoft.com/office/drawing/2014/main" id="{7CE5E6CD-4811-4F25-876B-8510C61287CE}"/>
              </a:ext>
            </a:extLst>
          </p:cNvPr>
          <p:cNvCxnSpPr/>
          <p:nvPr/>
        </p:nvCxnSpPr>
        <p:spPr>
          <a:xfrm>
            <a:off x="0" y="508838"/>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pic>
        <p:nvPicPr>
          <p:cNvPr id="2" name="Picture 1">
            <a:extLst>
              <a:ext uri="{FF2B5EF4-FFF2-40B4-BE49-F238E27FC236}">
                <a16:creationId xmlns:a16="http://schemas.microsoft.com/office/drawing/2014/main" id="{5905DE67-B74C-4227-ABF6-E60CDFA1E5A3}"/>
              </a:ext>
            </a:extLst>
          </p:cNvPr>
          <p:cNvPicPr>
            <a:picLocks noChangeAspect="1"/>
          </p:cNvPicPr>
          <p:nvPr/>
        </p:nvPicPr>
        <p:blipFill>
          <a:blip r:embed="rId4"/>
          <a:stretch>
            <a:fillRect/>
          </a:stretch>
        </p:blipFill>
        <p:spPr>
          <a:xfrm>
            <a:off x="5347330" y="3747840"/>
            <a:ext cx="4558670" cy="3076575"/>
          </a:xfrm>
          <a:prstGeom prst="rect">
            <a:avLst/>
          </a:prstGeom>
        </p:spPr>
      </p:pic>
      <p:sp>
        <p:nvSpPr>
          <p:cNvPr id="26" name="TextBox 25">
            <a:extLst>
              <a:ext uri="{FF2B5EF4-FFF2-40B4-BE49-F238E27FC236}">
                <a16:creationId xmlns:a16="http://schemas.microsoft.com/office/drawing/2014/main" id="{9BDCA5C5-3828-49E1-AF1F-F35A3BFEEDC1}"/>
              </a:ext>
            </a:extLst>
          </p:cNvPr>
          <p:cNvSpPr txBox="1"/>
          <p:nvPr/>
        </p:nvSpPr>
        <p:spPr>
          <a:xfrm>
            <a:off x="247821" y="838200"/>
            <a:ext cx="5354074" cy="1015663"/>
          </a:xfrm>
          <a:prstGeom prst="rect">
            <a:avLst/>
          </a:prstGeom>
          <a:noFill/>
        </p:spPr>
        <p:txBody>
          <a:bodyPr wrap="square" rtlCol="0">
            <a:noAutofit/>
          </a:bodyPr>
          <a:lstStyle/>
          <a:p>
            <a:pPr eaLnBrk="1" latinLnBrk="0"/>
            <a:r>
              <a:rPr lang="en-US" sz="1000" dirty="0">
                <a:latin typeface="Arial" panose="020B0604020202020204" pitchFamily="34" charset="0"/>
                <a:ea typeface="Arial Unicode MS" panose="020B0604020202020204" pitchFamily="34" charset="-128"/>
                <a:cs typeface="Arial" panose="020B0604020202020204" pitchFamily="34" charset="0"/>
              </a:rPr>
              <a:t>I chose the Type 1 gage study to assess the measurement capability of the gage, based on its repeatability and bias.</a:t>
            </a:r>
          </a:p>
          <a:p>
            <a:pPr eaLnBrk="1" latinLnBrk="0"/>
            <a:r>
              <a:rPr lang="en-US" sz="1000" dirty="0">
                <a:latin typeface="Arial" panose="020B0604020202020204" pitchFamily="34" charset="0"/>
                <a:ea typeface="Arial Unicode MS" panose="020B0604020202020204" pitchFamily="34" charset="-128"/>
                <a:cs typeface="Arial" panose="020B0604020202020204" pitchFamily="34" charset="0"/>
              </a:rPr>
              <a:t>In this case, one sample (golden sample, 910 Cd/m²) is measured 30 times.</a:t>
            </a:r>
          </a:p>
          <a:p>
            <a:pPr eaLnBrk="1" latinLnBrk="0"/>
            <a:r>
              <a:rPr lang="en-US" sz="1000" dirty="0">
                <a:latin typeface="Arial" panose="020B0604020202020204" pitchFamily="34" charset="0"/>
                <a:ea typeface="Arial Unicode MS" panose="020B0604020202020204" pitchFamily="34" charset="-128"/>
                <a:cs typeface="Arial" panose="020B0604020202020204" pitchFamily="34" charset="0"/>
              </a:rPr>
              <a:t>H0: Bias = 0 in measurement system.</a:t>
            </a:r>
          </a:p>
          <a:p>
            <a:pPr eaLnBrk="1" latinLnBrk="0"/>
            <a:r>
              <a:rPr lang="en-US" sz="1000" dirty="0">
                <a:latin typeface="Arial" panose="020B0604020202020204" pitchFamily="34" charset="0"/>
                <a:ea typeface="Arial Unicode MS" panose="020B0604020202020204" pitchFamily="34" charset="-128"/>
                <a:cs typeface="Arial" panose="020B0604020202020204" pitchFamily="34" charset="0"/>
              </a:rPr>
              <a:t>H1: Bias ≠ 0 in measurement system.</a:t>
            </a:r>
          </a:p>
        </p:txBody>
      </p:sp>
    </p:spTree>
    <p:extLst>
      <p:ext uri="{BB962C8B-B14F-4D97-AF65-F5344CB8AC3E}">
        <p14:creationId xmlns:p14="http://schemas.microsoft.com/office/powerpoint/2010/main" val="32109682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제목 1"/>
          <p:cNvSpPr txBox="1">
            <a:spLocks/>
          </p:cNvSpPr>
          <p:nvPr/>
        </p:nvSpPr>
        <p:spPr>
          <a:xfrm>
            <a:off x="116442" y="96965"/>
            <a:ext cx="2599565" cy="418058"/>
          </a:xfrm>
          <a:prstGeom prst="rect">
            <a:avLst/>
          </a:prstGeom>
        </p:spPr>
        <p:txBody>
          <a:bodyPr vert="horz" lIns="91440" tIns="45720" rIns="91440" bIns="45720" rtlCol="0" anchor="ctr">
            <a:normAutofit/>
          </a:bodyPr>
          <a:lstStyle/>
          <a:p>
            <a:pPr marL="0" marR="0" lvl="0" indent="0" algn="l" defTabSz="914400" rtl="0" eaLnBrk="1" fontAlgn="base" latinLnBrk="0" hangingPunct="0">
              <a:lnSpc>
                <a:spcPct val="100000"/>
              </a:lnSpc>
              <a:spcBef>
                <a:spcPct val="0"/>
              </a:spcBef>
              <a:spcAft>
                <a:spcPct val="0"/>
              </a:spcAft>
              <a:buClrTx/>
              <a:buSzTx/>
              <a:buFontTx/>
              <a:buNone/>
              <a:tabLst/>
              <a:defRPr/>
            </a:pPr>
            <a:r>
              <a:rPr lang="en-US" altLang="ko-KR" sz="1600" b="1" kern="0" dirty="0">
                <a:latin typeface="Arial Narrow" panose="020B0606020202030204" pitchFamily="34" charset="0"/>
                <a:ea typeface="Arial Unicode MS" panose="020B0604020202020204" pitchFamily="34" charset="-128"/>
                <a:cs typeface="Arial" panose="020B0604020202020204" pitchFamily="34" charset="0"/>
              </a:rPr>
              <a:t>2</a:t>
            </a:r>
            <a:r>
              <a:rPr kumimoji="1" lang="en-US" altLang="ko-KR" sz="1600" b="1" i="0" u="none" strike="noStrike" kern="0" cap="none" spc="0" normalizeH="0" baseline="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rPr>
              <a:t>.2 Type</a:t>
            </a:r>
            <a:r>
              <a:rPr kumimoji="1" lang="en-US" altLang="ko-KR" sz="1600" b="1" i="0" u="none" strike="noStrike" kern="0" cap="none" spc="0" normalizeH="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rPr>
              <a:t> 1 Study</a:t>
            </a:r>
            <a:endParaRPr kumimoji="1" lang="ko-KR" altLang="en-US" sz="1600" b="1" i="0" u="none" strike="noStrike" kern="0" cap="none" spc="0" normalizeH="0" baseline="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endParaRPr>
          </a:p>
        </p:txBody>
      </p:sp>
      <p:sp>
        <p:nvSpPr>
          <p:cNvPr id="19" name="AutoShape 55">
            <a:extLst>
              <a:ext uri="{FF2B5EF4-FFF2-40B4-BE49-F238E27FC236}">
                <a16:creationId xmlns:a16="http://schemas.microsoft.com/office/drawing/2014/main" id="{48A61023-CDBC-4C6D-9BB1-EFBB3E5DADD2}"/>
              </a:ext>
            </a:extLst>
          </p:cNvPr>
          <p:cNvSpPr>
            <a:spLocks noChangeArrowheads="1"/>
          </p:cNvSpPr>
          <p:nvPr/>
        </p:nvSpPr>
        <p:spPr bwMode="auto">
          <a:xfrm>
            <a:off x="9121600" y="186782"/>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Control</a:t>
            </a:r>
          </a:p>
        </p:txBody>
      </p:sp>
      <p:sp>
        <p:nvSpPr>
          <p:cNvPr id="20" name="AutoShape 56">
            <a:extLst>
              <a:ext uri="{FF2B5EF4-FFF2-40B4-BE49-F238E27FC236}">
                <a16:creationId xmlns:a16="http://schemas.microsoft.com/office/drawing/2014/main" id="{BACA622A-2FAA-4B1D-8427-F75634CC5D2B}"/>
              </a:ext>
            </a:extLst>
          </p:cNvPr>
          <p:cNvSpPr>
            <a:spLocks noChangeArrowheads="1"/>
          </p:cNvSpPr>
          <p:nvPr/>
        </p:nvSpPr>
        <p:spPr bwMode="auto">
          <a:xfrm>
            <a:off x="8432625" y="186782"/>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solidFill>
                  <a:schemeClr val="tx1"/>
                </a:solidFill>
                <a:latin typeface="Arial Narrow" panose="020B0606020202030204" pitchFamily="34" charset="0"/>
                <a:ea typeface="Arial" panose="020B0503020000020004" pitchFamily="50" charset="-127"/>
              </a:rPr>
              <a:t>Improve</a:t>
            </a:r>
          </a:p>
        </p:txBody>
      </p:sp>
      <p:sp>
        <p:nvSpPr>
          <p:cNvPr id="21" name="AutoShape 57">
            <a:extLst>
              <a:ext uri="{FF2B5EF4-FFF2-40B4-BE49-F238E27FC236}">
                <a16:creationId xmlns:a16="http://schemas.microsoft.com/office/drawing/2014/main" id="{75A7294A-CC51-4608-A86C-6EFFB224E38C}"/>
              </a:ext>
            </a:extLst>
          </p:cNvPr>
          <p:cNvSpPr>
            <a:spLocks noChangeArrowheads="1"/>
          </p:cNvSpPr>
          <p:nvPr/>
        </p:nvSpPr>
        <p:spPr bwMode="auto">
          <a:xfrm>
            <a:off x="7740475" y="186782"/>
            <a:ext cx="749300" cy="287338"/>
          </a:xfrm>
          <a:prstGeom prst="homePlate">
            <a:avLst>
              <a:gd name="adj" fmla="val 46698"/>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Analyze</a:t>
            </a:r>
          </a:p>
        </p:txBody>
      </p:sp>
      <p:sp>
        <p:nvSpPr>
          <p:cNvPr id="22" name="AutoShape 59">
            <a:extLst>
              <a:ext uri="{FF2B5EF4-FFF2-40B4-BE49-F238E27FC236}">
                <a16:creationId xmlns:a16="http://schemas.microsoft.com/office/drawing/2014/main" id="{9DB1964C-2D8B-4B4E-9C14-7211818B60A1}"/>
              </a:ext>
            </a:extLst>
          </p:cNvPr>
          <p:cNvSpPr>
            <a:spLocks noChangeArrowheads="1"/>
          </p:cNvSpPr>
          <p:nvPr/>
        </p:nvSpPr>
        <p:spPr bwMode="auto">
          <a:xfrm>
            <a:off x="6372050" y="186782"/>
            <a:ext cx="757238" cy="287338"/>
          </a:xfrm>
          <a:prstGeom prst="homePlate">
            <a:avLst>
              <a:gd name="adj" fmla="val 47192"/>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Define</a:t>
            </a:r>
          </a:p>
        </p:txBody>
      </p:sp>
      <p:sp>
        <p:nvSpPr>
          <p:cNvPr id="23" name="AutoShape 58">
            <a:extLst>
              <a:ext uri="{FF2B5EF4-FFF2-40B4-BE49-F238E27FC236}">
                <a16:creationId xmlns:a16="http://schemas.microsoft.com/office/drawing/2014/main" id="{734B0F39-A31B-4819-A185-C7981959C679}"/>
              </a:ext>
            </a:extLst>
          </p:cNvPr>
          <p:cNvSpPr>
            <a:spLocks noChangeArrowheads="1"/>
          </p:cNvSpPr>
          <p:nvPr/>
        </p:nvSpPr>
        <p:spPr bwMode="auto">
          <a:xfrm>
            <a:off x="7068963" y="42320"/>
            <a:ext cx="747712" cy="287337"/>
          </a:xfrm>
          <a:prstGeom prst="homePlate">
            <a:avLst>
              <a:gd name="adj" fmla="val 46599"/>
            </a:avLst>
          </a:prstGeom>
          <a:gradFill rotWithShape="1">
            <a:gsLst>
              <a:gs pos="0">
                <a:srgbClr val="494900"/>
              </a:gs>
              <a:gs pos="100000">
                <a:srgbClr val="808000"/>
              </a:gs>
            </a:gsLst>
            <a:lin ang="0" scaled="1"/>
          </a:gradFill>
          <a:ln w="6350" algn="ctr">
            <a:solidFill>
              <a:srgbClr val="808080"/>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latin typeface="Arial Narrow" panose="020B0606020202030204" pitchFamily="34" charset="0"/>
                <a:ea typeface="Arial" panose="020B0503020000020004" pitchFamily="50" charset="-127"/>
              </a:rPr>
              <a:t>Measure </a:t>
            </a:r>
          </a:p>
        </p:txBody>
      </p:sp>
      <p:sp>
        <p:nvSpPr>
          <p:cNvPr id="27" name="Slide Number Placeholder 3">
            <a:extLst>
              <a:ext uri="{FF2B5EF4-FFF2-40B4-BE49-F238E27FC236}">
                <a16:creationId xmlns:a16="http://schemas.microsoft.com/office/drawing/2014/main" id="{9338DD2E-759B-4BBC-A8EF-8DA487CAE85E}"/>
              </a:ext>
            </a:extLst>
          </p:cNvPr>
          <p:cNvSpPr txBox="1">
            <a:spLocks/>
          </p:cNvSpPr>
          <p:nvPr/>
        </p:nvSpPr>
        <p:spPr>
          <a:xfrm>
            <a:off x="3728864" y="6542599"/>
            <a:ext cx="1368000" cy="293117"/>
          </a:xfrm>
          <a:prstGeom prst="rect">
            <a:avLst/>
          </a:prstGeom>
        </p:spPr>
        <p:txBody>
          <a:bodyPr/>
          <a:lstStyle>
            <a:defPPr>
              <a:defRPr lang="ko-KR"/>
            </a:defPPr>
            <a:lvl1pPr algn="ctr" rtl="0" fontAlgn="base" latinLnBrk="1">
              <a:spcBef>
                <a:spcPct val="0"/>
              </a:spcBef>
              <a:spcAft>
                <a:spcPct val="0"/>
              </a:spcAft>
              <a:defRPr kumimoji="1" sz="1000" kern="1200">
                <a:solidFill>
                  <a:schemeClr val="tx1"/>
                </a:solidFill>
                <a:latin typeface="현대하모니 L" panose="02020603020101020101" pitchFamily="18" charset="-127"/>
                <a:ea typeface="현대하모니 L" panose="02020603020101020101" pitchFamily="18" charset="-127"/>
                <a:cs typeface="+mn-cs"/>
              </a:defRPr>
            </a:lvl1pPr>
            <a:lvl2pPr marL="457200" algn="l" rtl="0" fontAlgn="base" latinLnBrk="1">
              <a:spcBef>
                <a:spcPct val="0"/>
              </a:spcBef>
              <a:spcAft>
                <a:spcPct val="0"/>
              </a:spcAft>
              <a:defRPr kumimoji="1" kern="1200">
                <a:solidFill>
                  <a:schemeClr val="tx1"/>
                </a:solidFill>
                <a:latin typeface="굴림" pitchFamily="50" charset="-127"/>
                <a:ea typeface="굴림" pitchFamily="50" charset="-127"/>
                <a:cs typeface="+mn-cs"/>
              </a:defRPr>
            </a:lvl2pPr>
            <a:lvl3pPr marL="914400" algn="l" rtl="0" fontAlgn="base" latinLnBrk="1">
              <a:spcBef>
                <a:spcPct val="0"/>
              </a:spcBef>
              <a:spcAft>
                <a:spcPct val="0"/>
              </a:spcAft>
              <a:defRPr kumimoji="1" kern="1200">
                <a:solidFill>
                  <a:schemeClr val="tx1"/>
                </a:solidFill>
                <a:latin typeface="굴림" pitchFamily="50" charset="-127"/>
                <a:ea typeface="굴림" pitchFamily="50" charset="-127"/>
                <a:cs typeface="+mn-cs"/>
              </a:defRPr>
            </a:lvl3pPr>
            <a:lvl4pPr marL="1371600" algn="l" rtl="0" fontAlgn="base" latinLnBrk="1">
              <a:spcBef>
                <a:spcPct val="0"/>
              </a:spcBef>
              <a:spcAft>
                <a:spcPct val="0"/>
              </a:spcAft>
              <a:defRPr kumimoji="1" kern="1200">
                <a:solidFill>
                  <a:schemeClr val="tx1"/>
                </a:solidFill>
                <a:latin typeface="굴림" pitchFamily="50" charset="-127"/>
                <a:ea typeface="굴림" pitchFamily="50" charset="-127"/>
                <a:cs typeface="+mn-cs"/>
              </a:defRPr>
            </a:lvl4pPr>
            <a:lvl5pPr marL="1828800" algn="l" rtl="0" fontAlgn="base" latinLnBrk="1">
              <a:spcBef>
                <a:spcPct val="0"/>
              </a:spcBef>
              <a:spcAft>
                <a:spcPct val="0"/>
              </a:spcAft>
              <a:defRPr kumimoji="1" kern="1200">
                <a:solidFill>
                  <a:schemeClr val="tx1"/>
                </a:solidFill>
                <a:latin typeface="굴림" pitchFamily="50" charset="-127"/>
                <a:ea typeface="굴림" pitchFamily="50" charset="-127"/>
                <a:cs typeface="+mn-cs"/>
              </a:defRPr>
            </a:lvl5pPr>
            <a:lvl6pPr marL="2286000" algn="l" defTabSz="914400" rtl="0" eaLnBrk="1" latinLnBrk="1" hangingPunct="1">
              <a:defRPr kumimoji="1" kern="1200">
                <a:solidFill>
                  <a:schemeClr val="tx1"/>
                </a:solidFill>
                <a:latin typeface="굴림" pitchFamily="50" charset="-127"/>
                <a:ea typeface="굴림" pitchFamily="50" charset="-127"/>
                <a:cs typeface="+mn-cs"/>
              </a:defRPr>
            </a:lvl6pPr>
            <a:lvl7pPr marL="2743200" algn="l" defTabSz="914400" rtl="0" eaLnBrk="1" latinLnBrk="1" hangingPunct="1">
              <a:defRPr kumimoji="1" kern="1200">
                <a:solidFill>
                  <a:schemeClr val="tx1"/>
                </a:solidFill>
                <a:latin typeface="굴림" pitchFamily="50" charset="-127"/>
                <a:ea typeface="굴림" pitchFamily="50" charset="-127"/>
                <a:cs typeface="+mn-cs"/>
              </a:defRPr>
            </a:lvl7pPr>
            <a:lvl8pPr marL="3200400" algn="l" defTabSz="914400" rtl="0" eaLnBrk="1" latinLnBrk="1" hangingPunct="1">
              <a:defRPr kumimoji="1" kern="1200">
                <a:solidFill>
                  <a:schemeClr val="tx1"/>
                </a:solidFill>
                <a:latin typeface="굴림" pitchFamily="50" charset="-127"/>
                <a:ea typeface="굴림" pitchFamily="50" charset="-127"/>
                <a:cs typeface="+mn-cs"/>
              </a:defRPr>
            </a:lvl8pPr>
            <a:lvl9pPr marL="3657600" algn="l" defTabSz="914400" rtl="0" eaLnBrk="1" latinLnBrk="1" hangingPunct="1">
              <a:defRPr kumimoji="1" kern="1200">
                <a:solidFill>
                  <a:schemeClr val="tx1"/>
                </a:solidFill>
                <a:latin typeface="굴림" pitchFamily="50" charset="-127"/>
                <a:ea typeface="굴림" pitchFamily="50" charset="-127"/>
                <a:cs typeface="+mn-cs"/>
              </a:defRPr>
            </a:lvl9pPr>
          </a:lstStyle>
          <a:p>
            <a:pPr eaLnBrk="1" latinLnBrk="0"/>
            <a:r>
              <a:rPr sz="1000" b="0">
                <a:latin typeface="Arial"/>
              </a:rPr>
              <a:t>08 / 33 </a:t>
            </a:r>
            <a:endParaRPr lang="ko-KR" altLang="en-US" dirty="0">
              <a:solidFill>
                <a:prstClr val="black">
                  <a:tint val="75000"/>
                </a:prstClr>
              </a:solidFill>
              <a:latin typeface="LG Smart_H Regular" panose="020B0600000101010101" pitchFamily="34" charset="-127"/>
              <a:ea typeface="LG Smart_H Regular" panose="020B0600000101010101" pitchFamily="34" charset="-127"/>
            </a:endParaRPr>
          </a:p>
        </p:txBody>
      </p:sp>
      <p:sp>
        <p:nvSpPr>
          <p:cNvPr id="17" name="TextBox 16">
            <a:extLst>
              <a:ext uri="{FF2B5EF4-FFF2-40B4-BE49-F238E27FC236}">
                <a16:creationId xmlns:a16="http://schemas.microsoft.com/office/drawing/2014/main" id="{92CAFF54-087B-4DB0-9D22-8021B64E17B1}"/>
              </a:ext>
            </a:extLst>
          </p:cNvPr>
          <p:cNvSpPr txBox="1"/>
          <p:nvPr/>
        </p:nvSpPr>
        <p:spPr>
          <a:xfrm>
            <a:off x="63248" y="522000"/>
            <a:ext cx="2070352" cy="234000"/>
          </a:xfrm>
          <a:prstGeom prst="rect">
            <a:avLst/>
          </a:prstGeom>
          <a:noFill/>
        </p:spPr>
        <p:txBody>
          <a:bodyPr wrap="square" rtlCol="0">
            <a:noAutofit/>
          </a:bodyPr>
          <a:lstStyle/>
          <a:p>
            <a:pPr marL="171450" indent="-171450" eaLnBrk="1" latinLnBrk="0">
              <a:buFont typeface="Wingdings" panose="05000000000000000000" pitchFamily="2" charset="2"/>
              <a:buChar char="q"/>
            </a:pPr>
            <a:r>
              <a:rPr lang="vi-VN" sz="1000" b="1" dirty="0">
                <a:latin typeface="Arial" panose="020B0604020202020204" pitchFamily="34" charset="0"/>
                <a:ea typeface="Arial Unicode MS" panose="020B0604020202020204" pitchFamily="34" charset="-128"/>
                <a:cs typeface="Arial" panose="020B0604020202020204" pitchFamily="34" charset="0"/>
              </a:rPr>
              <a:t>Station </a:t>
            </a:r>
            <a:r>
              <a:rPr lang="en-US" sz="1000" b="1" dirty="0">
                <a:latin typeface="Arial" panose="020B0604020202020204" pitchFamily="34" charset="0"/>
                <a:ea typeface="Arial Unicode MS" panose="020B0604020202020204" pitchFamily="34" charset="-128"/>
                <a:cs typeface="Arial" panose="020B0604020202020204" pitchFamily="34" charset="0"/>
              </a:rPr>
              <a:t>2 Luminance</a:t>
            </a:r>
          </a:p>
        </p:txBody>
      </p:sp>
      <p:sp>
        <p:nvSpPr>
          <p:cNvPr id="18" name="TextBox 17">
            <a:extLst>
              <a:ext uri="{FF2B5EF4-FFF2-40B4-BE49-F238E27FC236}">
                <a16:creationId xmlns:a16="http://schemas.microsoft.com/office/drawing/2014/main" id="{E90369EA-41CF-4BB7-95EE-33A74A74A411}"/>
              </a:ext>
            </a:extLst>
          </p:cNvPr>
          <p:cNvSpPr txBox="1"/>
          <p:nvPr/>
        </p:nvSpPr>
        <p:spPr>
          <a:xfrm>
            <a:off x="72000" y="5094000"/>
            <a:ext cx="5112000" cy="900000"/>
          </a:xfrm>
          <a:prstGeom prst="rect">
            <a:avLst/>
          </a:prstGeom>
          <a:noFill/>
          <a:ln>
            <a:noFill/>
          </a:ln>
        </p:spPr>
        <p:txBody>
          <a:bodyPr wrap="square" rtlCol="0">
            <a:noAutofit/>
          </a:bodyPr>
          <a:lstStyle/>
          <a:p>
            <a:pPr marL="171450" indent="-171450" eaLnBrk="1" latinLnBrk="0">
              <a:buFont typeface="Wingdings" panose="05000000000000000000" pitchFamily="2" charset="2"/>
              <a:buChar char="Ø"/>
            </a:pPr>
            <a:r>
              <a:rPr sz="1000" b="1" dirty="0">
                <a:latin typeface="Arial"/>
              </a:rPr>
              <a:t>Conclusion</a:t>
            </a:r>
          </a:p>
          <a:p>
            <a:pPr eaLnBrk="1" latinLnBrk="0"/>
            <a:r>
              <a:rPr sz="1000" b="0" dirty="0">
                <a:latin typeface="Arial"/>
              </a:rPr>
              <a:t>• P value </a:t>
            </a:r>
            <a:r>
              <a:rPr sz="1000" b="0">
                <a:latin typeface="Arial"/>
              </a:rPr>
              <a:t>&lt; 0.00</a:t>
            </a:r>
            <a:r>
              <a:rPr lang="en-US" sz="1000" dirty="0">
                <a:latin typeface="Arial"/>
              </a:rPr>
              <a:t>1</a:t>
            </a:r>
            <a:r>
              <a:rPr sz="1000" b="0">
                <a:latin typeface="Arial"/>
              </a:rPr>
              <a:t> </a:t>
            </a:r>
            <a:r>
              <a:rPr sz="1000" b="0" dirty="0">
                <a:latin typeface="Arial"/>
              </a:rPr>
              <a:t>(≤ 0.05)  Reject H0 -&gt; Bias ≠ 0 (FAIL)</a:t>
            </a:r>
          </a:p>
          <a:p>
            <a:pPr eaLnBrk="1" latinLnBrk="0"/>
            <a:r>
              <a:rPr sz="1000" b="0" dirty="0">
                <a:latin typeface="Arial"/>
              </a:rPr>
              <a:t>• Cg = 0.91 (Std ≥ 1.33) FAIL | </a:t>
            </a:r>
            <a:r>
              <a:rPr sz="1000" b="0" dirty="0" err="1">
                <a:latin typeface="Arial"/>
              </a:rPr>
              <a:t>Cgk</a:t>
            </a:r>
            <a:r>
              <a:rPr sz="1000" b="0" dirty="0">
                <a:latin typeface="Arial"/>
              </a:rPr>
              <a:t> = 0.49 (Std ≥ 1.33) FAIL</a:t>
            </a:r>
          </a:p>
          <a:p>
            <a:pPr eaLnBrk="1" latinLnBrk="0"/>
            <a:r>
              <a:rPr sz="1000" b="0" dirty="0">
                <a:latin typeface="Arial"/>
              </a:rPr>
              <a:t>• %Var(Repeatability) = 21.99% (&gt; 10%) FAIL</a:t>
            </a:r>
          </a:p>
          <a:p>
            <a:pPr eaLnBrk="1" latinLnBrk="0"/>
            <a:r>
              <a:rPr sz="1000" b="0" dirty="0">
                <a:latin typeface="Arial"/>
              </a:rPr>
              <a:t>• %Var(Repeatability &amp; Bias) = 40.63% (&gt; 10%) FAIL</a:t>
            </a:r>
          </a:p>
        </p:txBody>
      </p:sp>
      <p:pic>
        <p:nvPicPr>
          <p:cNvPr id="5" name="Picture 4">
            <a:extLst>
              <a:ext uri="{FF2B5EF4-FFF2-40B4-BE49-F238E27FC236}">
                <a16:creationId xmlns:a16="http://schemas.microsoft.com/office/drawing/2014/main" id="{622F548D-3A7A-4D5B-91E6-696720BAEDCD}"/>
              </a:ext>
            </a:extLst>
          </p:cNvPr>
          <p:cNvPicPr>
            <a:picLocks noChangeAspect="1"/>
          </p:cNvPicPr>
          <p:nvPr/>
        </p:nvPicPr>
        <p:blipFill>
          <a:blip r:embed="rId3"/>
          <a:stretch>
            <a:fillRect/>
          </a:stretch>
        </p:blipFill>
        <p:spPr>
          <a:xfrm>
            <a:off x="6081737" y="508838"/>
            <a:ext cx="3670300" cy="2515529"/>
          </a:xfrm>
          <a:prstGeom prst="rect">
            <a:avLst/>
          </a:prstGeom>
        </p:spPr>
      </p:pic>
      <p:graphicFrame>
        <p:nvGraphicFramePr>
          <p:cNvPr id="8" name="Table 7">
            <a:extLst>
              <a:ext uri="{FF2B5EF4-FFF2-40B4-BE49-F238E27FC236}">
                <a16:creationId xmlns:a16="http://schemas.microsoft.com/office/drawing/2014/main" id="{6762E103-568D-44B2-B836-06647021EE55}"/>
              </a:ext>
            </a:extLst>
          </p:cNvPr>
          <p:cNvGraphicFramePr>
            <a:graphicFrameLocks noGrp="1"/>
          </p:cNvGraphicFramePr>
          <p:nvPr>
            <p:extLst>
              <p:ext uri="{D42A27DB-BD31-4B8C-83A1-F6EECF244321}">
                <p14:modId xmlns:p14="http://schemas.microsoft.com/office/powerpoint/2010/main" val="1536392145"/>
              </p:ext>
            </p:extLst>
          </p:nvPr>
        </p:nvGraphicFramePr>
        <p:xfrm>
          <a:off x="153963" y="1957420"/>
          <a:ext cx="3670300" cy="3152775"/>
        </p:xfrm>
        <a:graphic>
          <a:graphicData uri="http://schemas.openxmlformats.org/drawingml/2006/table">
            <a:tbl>
              <a:tblPr/>
              <a:tblGrid>
                <a:gridCol w="379437">
                  <a:extLst>
                    <a:ext uri="{9D8B030D-6E8A-4147-A177-3AD203B41FA5}">
                      <a16:colId xmlns:a16="http://schemas.microsoft.com/office/drawing/2014/main" val="2928826695"/>
                    </a:ext>
                  </a:extLst>
                </a:gridCol>
                <a:gridCol w="1485321">
                  <a:extLst>
                    <a:ext uri="{9D8B030D-6E8A-4147-A177-3AD203B41FA5}">
                      <a16:colId xmlns:a16="http://schemas.microsoft.com/office/drawing/2014/main" val="3225775588"/>
                    </a:ext>
                  </a:extLst>
                </a:gridCol>
                <a:gridCol w="419679">
                  <a:extLst>
                    <a:ext uri="{9D8B030D-6E8A-4147-A177-3AD203B41FA5}">
                      <a16:colId xmlns:a16="http://schemas.microsoft.com/office/drawing/2014/main" val="1137933355"/>
                    </a:ext>
                  </a:extLst>
                </a:gridCol>
                <a:gridCol w="1385863">
                  <a:extLst>
                    <a:ext uri="{9D8B030D-6E8A-4147-A177-3AD203B41FA5}">
                      <a16:colId xmlns:a16="http://schemas.microsoft.com/office/drawing/2014/main" val="2284661630"/>
                    </a:ext>
                  </a:extLst>
                </a:gridCol>
              </a:tblGrid>
              <a:tr h="295275">
                <a:tc>
                  <a:txBody>
                    <a:bodyPr/>
                    <a:lstStyle/>
                    <a:p>
                      <a:pPr algn="ctr" rtl="0" eaLnBrk="1" fontAlgn="ctr" latinLnBrk="0"/>
                      <a:r>
                        <a:rPr lang="en-US" sz="1000" b="1" i="0" u="none" strike="noStrike">
                          <a:solidFill>
                            <a:srgbClr val="000000"/>
                          </a:solidFill>
                          <a:effectLst/>
                          <a:latin typeface="Arial" panose="020B0604020202020204" pitchFamily="34" charset="0"/>
                        </a:rPr>
                        <a:t>No</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tc>
                  <a:txBody>
                    <a:bodyPr/>
                    <a:lstStyle/>
                    <a:p>
                      <a:pPr algn="ctr" rtl="0" eaLnBrk="1" fontAlgn="ctr" latinLnBrk="0"/>
                      <a:r>
                        <a:rPr lang="en-US" sz="1000" b="1" i="0" u="none" strike="noStrike" dirty="0">
                          <a:solidFill>
                            <a:srgbClr val="000000"/>
                          </a:solidFill>
                          <a:effectLst/>
                          <a:latin typeface="Arial" panose="020B0604020202020204" pitchFamily="34" charset="0"/>
                        </a:rPr>
                        <a:t>Luminance(Cd/m</a:t>
                      </a:r>
                      <a:r>
                        <a:rPr lang="en-US" sz="1000" b="1" i="0" u="none" strike="noStrike" baseline="30000" dirty="0">
                          <a:solidFill>
                            <a:srgbClr val="000000"/>
                          </a:solidFill>
                          <a:effectLst/>
                          <a:latin typeface="Arial" panose="020B0604020202020204" pitchFamily="34" charset="0"/>
                        </a:rPr>
                        <a:t>2</a:t>
                      </a:r>
                      <a:r>
                        <a:rPr lang="en-US" sz="1000" b="1" i="0" u="none" strike="noStrike" dirty="0">
                          <a:solidFill>
                            <a:srgbClr val="000000"/>
                          </a:solidFill>
                          <a:effectLst/>
                          <a:latin typeface="Arial" panose="020B0604020202020204" pitchFamily="34" charset="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tc>
                  <a:txBody>
                    <a:bodyPr/>
                    <a:lstStyle/>
                    <a:p>
                      <a:pPr algn="ctr" rtl="0" eaLnBrk="1" fontAlgn="ctr" latinLnBrk="0"/>
                      <a:r>
                        <a:rPr lang="en-US" sz="1000" b="1" i="0" u="none" strike="noStrike">
                          <a:solidFill>
                            <a:srgbClr val="000000"/>
                          </a:solidFill>
                          <a:effectLst/>
                          <a:latin typeface="Arial" panose="020B0604020202020204" pitchFamily="34" charset="0"/>
                        </a:rPr>
                        <a:t>No</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tc>
                  <a:txBody>
                    <a:bodyPr/>
                    <a:lstStyle/>
                    <a:p>
                      <a:pPr algn="ctr" rtl="0" eaLnBrk="1" fontAlgn="ctr" latinLnBrk="0"/>
                      <a:r>
                        <a:rPr lang="en-US" sz="1000" b="1" i="0" u="none" strike="noStrike">
                          <a:solidFill>
                            <a:srgbClr val="000000"/>
                          </a:solidFill>
                          <a:effectLst/>
                          <a:latin typeface="Arial" panose="020B0604020202020204" pitchFamily="34" charset="0"/>
                        </a:rPr>
                        <a:t>Luminance(Cd/m</a:t>
                      </a:r>
                      <a:r>
                        <a:rPr lang="en-US" sz="1000" b="1" i="0" u="none" strike="noStrike" baseline="30000">
                          <a:solidFill>
                            <a:srgbClr val="000000"/>
                          </a:solidFill>
                          <a:effectLst/>
                          <a:latin typeface="Arial" panose="020B0604020202020204" pitchFamily="34" charset="0"/>
                        </a:rPr>
                        <a:t>2</a:t>
                      </a:r>
                      <a:r>
                        <a:rPr lang="en-US" sz="1000" b="1" i="0" u="none" strike="noStrike">
                          <a:solidFill>
                            <a:srgbClr val="000000"/>
                          </a:solidFill>
                          <a:effectLst/>
                          <a:latin typeface="Arial" panose="020B0604020202020204" pitchFamily="34" charset="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extLst>
                  <a:ext uri="{0D108BD9-81ED-4DB2-BD59-A6C34878D82A}">
                    <a16:rowId xmlns:a16="http://schemas.microsoft.com/office/drawing/2014/main" val="3533014747"/>
                  </a:ext>
                </a:extLst>
              </a:tr>
              <a:tr h="190500">
                <a:tc>
                  <a:txBody>
                    <a:bodyPr/>
                    <a:lstStyle/>
                    <a:p>
                      <a:pPr algn="ctr" rtl="0" eaLnBrk="1" fontAlgn="ctr" latinLnBrk="0"/>
                      <a:r>
                        <a:rPr lang="en-US" sz="1000" b="0" i="0" u="none" strike="noStrike" dirty="0">
                          <a:solidFill>
                            <a:srgbClr val="000000"/>
                          </a:solidFill>
                          <a:effectLst/>
                          <a:latin typeface="Arial" panose="020F0502020204030204" pitchFamily="34" charset="0"/>
                          <a:ea typeface="Arial"/>
                        </a:rPr>
                        <a:t>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dirty="0">
                          <a:solidFill>
                            <a:srgbClr val="000000"/>
                          </a:solidFill>
                          <a:effectLst/>
                          <a:latin typeface="Arial" panose="020F0502020204030204" pitchFamily="34" charset="0"/>
                          <a:ea typeface="Arial"/>
                        </a:rPr>
                        <a:t>779.90</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16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a:solidFill>
                            <a:srgbClr val="000000"/>
                          </a:solidFill>
                          <a:effectLst/>
                          <a:latin typeface="Arial" panose="020F0502020204030204" pitchFamily="34" charset="0"/>
                          <a:ea typeface="Arial"/>
                        </a:rPr>
                        <a:t>872.50</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9238083"/>
                  </a:ext>
                </a:extLst>
              </a:tr>
              <a:tr h="190500">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dirty="0">
                          <a:solidFill>
                            <a:srgbClr val="000000"/>
                          </a:solidFill>
                          <a:effectLst/>
                          <a:latin typeface="Arial" panose="020F0502020204030204" pitchFamily="34" charset="0"/>
                          <a:ea typeface="Arial"/>
                        </a:rPr>
                        <a:t>811.25</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17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a:solidFill>
                            <a:srgbClr val="000000"/>
                          </a:solidFill>
                          <a:effectLst/>
                          <a:latin typeface="Arial" panose="020F0502020204030204" pitchFamily="34" charset="0"/>
                          <a:ea typeface="Arial"/>
                        </a:rPr>
                        <a:t>881.38</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774844286"/>
                  </a:ext>
                </a:extLst>
              </a:tr>
              <a:tr h="190500">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3</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dirty="0">
                          <a:solidFill>
                            <a:srgbClr val="000000"/>
                          </a:solidFill>
                          <a:effectLst/>
                          <a:latin typeface="Arial" panose="020F0502020204030204" pitchFamily="34" charset="0"/>
                          <a:ea typeface="Arial"/>
                        </a:rPr>
                        <a:t>794.00</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dirty="0">
                          <a:solidFill>
                            <a:srgbClr val="000000"/>
                          </a:solidFill>
                          <a:effectLst/>
                          <a:latin typeface="Arial" panose="020F0502020204030204" pitchFamily="34" charset="0"/>
                          <a:ea typeface="Arial"/>
                        </a:rPr>
                        <a:t>18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a:solidFill>
                            <a:srgbClr val="000000"/>
                          </a:solidFill>
                          <a:effectLst/>
                          <a:latin typeface="Arial" panose="020F0502020204030204" pitchFamily="34" charset="0"/>
                          <a:ea typeface="Arial"/>
                        </a:rPr>
                        <a:t>820.60</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851087224"/>
                  </a:ext>
                </a:extLst>
              </a:tr>
              <a:tr h="190500">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4</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a:solidFill>
                            <a:srgbClr val="000000"/>
                          </a:solidFill>
                          <a:effectLst/>
                          <a:latin typeface="Arial" panose="020F0502020204030204" pitchFamily="34" charset="0"/>
                          <a:ea typeface="Arial"/>
                        </a:rPr>
                        <a:t>829.24</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dirty="0">
                          <a:solidFill>
                            <a:srgbClr val="000000"/>
                          </a:solidFill>
                          <a:effectLst/>
                          <a:latin typeface="Arial" panose="020F0502020204030204" pitchFamily="34" charset="0"/>
                          <a:ea typeface="Arial"/>
                        </a:rPr>
                        <a:t>19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a:solidFill>
                            <a:srgbClr val="000000"/>
                          </a:solidFill>
                          <a:effectLst/>
                          <a:latin typeface="Arial" panose="020F0502020204030204" pitchFamily="34" charset="0"/>
                          <a:ea typeface="Arial"/>
                        </a:rPr>
                        <a:t>905.68</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086110264"/>
                  </a:ext>
                </a:extLst>
              </a:tr>
              <a:tr h="190500">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5</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a:solidFill>
                            <a:srgbClr val="000000"/>
                          </a:solidFill>
                          <a:effectLst/>
                          <a:latin typeface="Arial" panose="020F0502020204030204" pitchFamily="34" charset="0"/>
                          <a:ea typeface="Arial"/>
                        </a:rPr>
                        <a:t>887.44</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dirty="0">
                          <a:solidFill>
                            <a:srgbClr val="000000"/>
                          </a:solidFill>
                          <a:effectLst/>
                          <a:latin typeface="Arial" panose="020F0502020204030204" pitchFamily="34" charset="0"/>
                          <a:ea typeface="Arial"/>
                        </a:rPr>
                        <a:t>20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a:solidFill>
                            <a:srgbClr val="000000"/>
                          </a:solidFill>
                          <a:effectLst/>
                          <a:latin typeface="Arial" panose="020F0502020204030204" pitchFamily="34" charset="0"/>
                          <a:ea typeface="Arial"/>
                        </a:rPr>
                        <a:t>897.04</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286178105"/>
                  </a:ext>
                </a:extLst>
              </a:tr>
              <a:tr h="190500">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dirty="0">
                          <a:solidFill>
                            <a:srgbClr val="000000"/>
                          </a:solidFill>
                          <a:effectLst/>
                          <a:latin typeface="Arial" panose="020F0502020204030204" pitchFamily="34" charset="0"/>
                          <a:ea typeface="Arial"/>
                        </a:rPr>
                        <a:t>844.39</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21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dirty="0">
                          <a:solidFill>
                            <a:srgbClr val="000000"/>
                          </a:solidFill>
                          <a:effectLst/>
                          <a:latin typeface="Arial" panose="020F0502020204030204" pitchFamily="34" charset="0"/>
                          <a:ea typeface="Arial"/>
                        </a:rPr>
                        <a:t>833.60</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208522016"/>
                  </a:ext>
                </a:extLst>
              </a:tr>
              <a:tr h="190500">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a:solidFill>
                            <a:srgbClr val="000000"/>
                          </a:solidFill>
                          <a:effectLst/>
                          <a:latin typeface="Arial" panose="020F0502020204030204" pitchFamily="34" charset="0"/>
                          <a:ea typeface="Arial"/>
                        </a:rPr>
                        <a:t>851.46</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22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a:solidFill>
                            <a:srgbClr val="000000"/>
                          </a:solidFill>
                          <a:effectLst/>
                          <a:latin typeface="Arial" panose="020F0502020204030204" pitchFamily="34" charset="0"/>
                          <a:ea typeface="Arial"/>
                        </a:rPr>
                        <a:t>885.70</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487059282"/>
                  </a:ext>
                </a:extLst>
              </a:tr>
              <a:tr h="190500">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a:solidFill>
                            <a:srgbClr val="000000"/>
                          </a:solidFill>
                          <a:effectLst/>
                          <a:latin typeface="Arial" panose="020F0502020204030204" pitchFamily="34" charset="0"/>
                          <a:ea typeface="Arial"/>
                        </a:rPr>
                        <a:t>799.79</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23</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dirty="0">
                          <a:solidFill>
                            <a:srgbClr val="000000"/>
                          </a:solidFill>
                          <a:effectLst/>
                          <a:latin typeface="Arial" panose="020F0502020204030204" pitchFamily="34" charset="0"/>
                          <a:ea typeface="Arial"/>
                        </a:rPr>
                        <a:t>838.27</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612877946"/>
                  </a:ext>
                </a:extLst>
              </a:tr>
              <a:tr h="190500">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a:solidFill>
                            <a:srgbClr val="000000"/>
                          </a:solidFill>
                          <a:effectLst/>
                          <a:latin typeface="Arial" panose="020F0502020204030204" pitchFamily="34" charset="0"/>
                          <a:ea typeface="Arial"/>
                        </a:rPr>
                        <a:t>903.47</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24</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dirty="0">
                          <a:solidFill>
                            <a:srgbClr val="000000"/>
                          </a:solidFill>
                          <a:effectLst/>
                          <a:latin typeface="Arial" panose="020F0502020204030204" pitchFamily="34" charset="0"/>
                          <a:ea typeface="Arial"/>
                        </a:rPr>
                        <a:t>837.62</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457178712"/>
                  </a:ext>
                </a:extLst>
              </a:tr>
              <a:tr h="190500">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10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a:solidFill>
                            <a:srgbClr val="000000"/>
                          </a:solidFill>
                          <a:effectLst/>
                          <a:latin typeface="Arial" panose="020F0502020204030204" pitchFamily="34" charset="0"/>
                          <a:ea typeface="Arial"/>
                        </a:rPr>
                        <a:t>876.02</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25</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dirty="0">
                          <a:solidFill>
                            <a:srgbClr val="000000"/>
                          </a:solidFill>
                          <a:effectLst/>
                          <a:latin typeface="Arial" panose="020F0502020204030204" pitchFamily="34" charset="0"/>
                          <a:ea typeface="Arial"/>
                        </a:rPr>
                        <a:t>863.52</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824974870"/>
                  </a:ext>
                </a:extLst>
              </a:tr>
              <a:tr h="190500">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11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a:solidFill>
                            <a:srgbClr val="000000"/>
                          </a:solidFill>
                          <a:effectLst/>
                          <a:latin typeface="Arial" panose="020F0502020204030204" pitchFamily="34" charset="0"/>
                          <a:ea typeface="Arial"/>
                        </a:rPr>
                        <a:t>904.05</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26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dirty="0">
                          <a:solidFill>
                            <a:srgbClr val="000000"/>
                          </a:solidFill>
                          <a:effectLst/>
                          <a:latin typeface="Arial" panose="020F0502020204030204" pitchFamily="34" charset="0"/>
                          <a:ea typeface="Arial"/>
                        </a:rPr>
                        <a:t>892.00</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785777479"/>
                  </a:ext>
                </a:extLst>
              </a:tr>
              <a:tr h="190500">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12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a:solidFill>
                            <a:srgbClr val="000000"/>
                          </a:solidFill>
                          <a:effectLst/>
                          <a:latin typeface="Arial" panose="020F0502020204030204" pitchFamily="34" charset="0"/>
                          <a:ea typeface="Arial"/>
                        </a:rPr>
                        <a:t>918.50</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27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dirty="0">
                          <a:solidFill>
                            <a:srgbClr val="000000"/>
                          </a:solidFill>
                          <a:effectLst/>
                          <a:latin typeface="Arial" panose="020F0502020204030204" pitchFamily="34" charset="0"/>
                          <a:ea typeface="Arial"/>
                        </a:rPr>
                        <a:t>847.93</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302676050"/>
                  </a:ext>
                </a:extLst>
              </a:tr>
              <a:tr h="190500">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13</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a:solidFill>
                            <a:srgbClr val="000000"/>
                          </a:solidFill>
                          <a:effectLst/>
                          <a:latin typeface="Arial" panose="020F0502020204030204" pitchFamily="34" charset="0"/>
                          <a:ea typeface="Arial"/>
                        </a:rPr>
                        <a:t>890.05</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28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dirty="0">
                          <a:solidFill>
                            <a:srgbClr val="000000"/>
                          </a:solidFill>
                          <a:effectLst/>
                          <a:latin typeface="Arial" panose="020F0502020204030204" pitchFamily="34" charset="0"/>
                          <a:ea typeface="Arial"/>
                        </a:rPr>
                        <a:t>885.27</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958104159"/>
                  </a:ext>
                </a:extLst>
              </a:tr>
              <a:tr h="190500">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14</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a:solidFill>
                            <a:srgbClr val="000000"/>
                          </a:solidFill>
                          <a:effectLst/>
                          <a:latin typeface="Arial" panose="020F0502020204030204" pitchFamily="34" charset="0"/>
                          <a:ea typeface="Arial"/>
                        </a:rPr>
                        <a:t>904.20</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29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dirty="0">
                          <a:solidFill>
                            <a:srgbClr val="000000"/>
                          </a:solidFill>
                          <a:effectLst/>
                          <a:latin typeface="Arial" panose="020F0502020204030204" pitchFamily="34" charset="0"/>
                          <a:ea typeface="Arial"/>
                        </a:rPr>
                        <a:t>786.15</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647833206"/>
                  </a:ext>
                </a:extLst>
              </a:tr>
              <a:tr h="190500">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15</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a:solidFill>
                            <a:srgbClr val="000000"/>
                          </a:solidFill>
                          <a:effectLst/>
                          <a:latin typeface="Arial" panose="020F0502020204030204" pitchFamily="34" charset="0"/>
                          <a:ea typeface="Arial"/>
                        </a:rPr>
                        <a:t>748.30</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dirty="0">
                          <a:solidFill>
                            <a:srgbClr val="000000"/>
                          </a:solidFill>
                          <a:effectLst/>
                          <a:latin typeface="Arial" panose="020F0502020204030204" pitchFamily="34" charset="0"/>
                          <a:ea typeface="Arial"/>
                        </a:rPr>
                        <a:t>30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dirty="0">
                          <a:solidFill>
                            <a:srgbClr val="000000"/>
                          </a:solidFill>
                          <a:effectLst/>
                          <a:latin typeface="Arial" panose="020F0502020204030204" pitchFamily="34" charset="0"/>
                          <a:ea typeface="Arial"/>
                        </a:rPr>
                        <a:t>859.40</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300796975"/>
                  </a:ext>
                </a:extLst>
              </a:tr>
            </a:tbl>
          </a:graphicData>
        </a:graphic>
      </p:graphicFrame>
      <p:cxnSp>
        <p:nvCxnSpPr>
          <p:cNvPr id="16" name="Straight Connector 15">
            <a:extLst>
              <a:ext uri="{FF2B5EF4-FFF2-40B4-BE49-F238E27FC236}">
                <a16:creationId xmlns:a16="http://schemas.microsoft.com/office/drawing/2014/main" id="{87501724-7158-4FE8-ACBA-6688A19E2B86}"/>
              </a:ext>
            </a:extLst>
          </p:cNvPr>
          <p:cNvCxnSpPr/>
          <p:nvPr/>
        </p:nvCxnSpPr>
        <p:spPr>
          <a:xfrm>
            <a:off x="0" y="508838"/>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9C9BD94B-49AB-4069-9056-4246765E0D3B}"/>
              </a:ext>
            </a:extLst>
          </p:cNvPr>
          <p:cNvSpPr txBox="1"/>
          <p:nvPr/>
        </p:nvSpPr>
        <p:spPr>
          <a:xfrm>
            <a:off x="5482309" y="3107127"/>
            <a:ext cx="2355668" cy="707886"/>
          </a:xfrm>
          <a:prstGeom prst="rect">
            <a:avLst/>
          </a:prstGeom>
          <a:noFill/>
        </p:spPr>
        <p:txBody>
          <a:bodyPr wrap="square" rtlCol="0">
            <a:noAutofit/>
          </a:bodyPr>
          <a:lstStyle/>
          <a:p>
            <a:pPr eaLnBrk="1" latinLnBrk="0">
              <a:spcBef>
                <a:spcPts val="600"/>
              </a:spcBef>
            </a:pPr>
            <a:r>
              <a:rPr lang="en-GB" sz="1000" dirty="0">
                <a:latin typeface="Arial" panose="020B0600000101010101" pitchFamily="34" charset="-127"/>
                <a:ea typeface="Arial" panose="020B0600000101010101" pitchFamily="34" charset="-127"/>
              </a:rPr>
              <a:t>Spec: </a:t>
            </a:r>
            <a:r>
              <a:rPr lang="en-US" sz="1000" dirty="0">
                <a:solidFill>
                  <a:srgbClr val="000000"/>
                </a:solidFill>
                <a:latin typeface="Arial" panose="020B0600000101010101" pitchFamily="34" charset="-127"/>
                <a:ea typeface="Arial" panose="020B0600000101010101" pitchFamily="34" charset="-127"/>
                <a:cs typeface="Arial" panose="020B0604020202020204" pitchFamily="34" charset="0"/>
              </a:rPr>
              <a:t>800.00 ~ 2000.00</a:t>
            </a:r>
          </a:p>
          <a:p>
            <a:pPr eaLnBrk="1" latinLnBrk="0">
              <a:spcBef>
                <a:spcPts val="600"/>
              </a:spcBef>
            </a:pPr>
            <a:r>
              <a:rPr lang="en-GB" sz="1000" dirty="0">
                <a:latin typeface="Arial" panose="020B0600000101010101" pitchFamily="34" charset="-127"/>
                <a:ea typeface="Arial" panose="020B0600000101010101" pitchFamily="34" charset="-127"/>
              </a:rPr>
              <a:t>Reference value: 910 (golden sample)</a:t>
            </a:r>
          </a:p>
          <a:p>
            <a:pPr eaLnBrk="1" latinLnBrk="0">
              <a:spcBef>
                <a:spcPts val="600"/>
              </a:spcBef>
            </a:pPr>
            <a:r>
              <a:rPr lang="en-US" sz="1000" dirty="0">
                <a:latin typeface="Arial" panose="020B0600000101010101" pitchFamily="34" charset="-127"/>
                <a:ea typeface="Arial" panose="020B0600000101010101" pitchFamily="34" charset="-127"/>
              </a:rPr>
              <a:t>Resolution of Instrument: 0.01 </a:t>
            </a:r>
          </a:p>
        </p:txBody>
      </p:sp>
      <p:pic>
        <p:nvPicPr>
          <p:cNvPr id="4" name="Picture 3">
            <a:extLst>
              <a:ext uri="{FF2B5EF4-FFF2-40B4-BE49-F238E27FC236}">
                <a16:creationId xmlns:a16="http://schemas.microsoft.com/office/drawing/2014/main" id="{B77B3597-6FB3-429B-AD6A-0BC49F816375}"/>
              </a:ext>
            </a:extLst>
          </p:cNvPr>
          <p:cNvPicPr>
            <a:picLocks noChangeAspect="1"/>
          </p:cNvPicPr>
          <p:nvPr/>
        </p:nvPicPr>
        <p:blipFill>
          <a:blip r:embed="rId4"/>
          <a:stretch>
            <a:fillRect/>
          </a:stretch>
        </p:blipFill>
        <p:spPr>
          <a:xfrm>
            <a:off x="5494865" y="3811302"/>
            <a:ext cx="4256925" cy="2859916"/>
          </a:xfrm>
          <a:prstGeom prst="rect">
            <a:avLst/>
          </a:prstGeom>
        </p:spPr>
      </p:pic>
      <p:sp>
        <p:nvSpPr>
          <p:cNvPr id="25" name="TextBox 24">
            <a:extLst>
              <a:ext uri="{FF2B5EF4-FFF2-40B4-BE49-F238E27FC236}">
                <a16:creationId xmlns:a16="http://schemas.microsoft.com/office/drawing/2014/main" id="{1C130328-DF82-4F66-919E-E17B44353E09}"/>
              </a:ext>
            </a:extLst>
          </p:cNvPr>
          <p:cNvSpPr txBox="1"/>
          <p:nvPr/>
        </p:nvSpPr>
        <p:spPr>
          <a:xfrm>
            <a:off x="95421" y="792716"/>
            <a:ext cx="5354074" cy="1015663"/>
          </a:xfrm>
          <a:prstGeom prst="rect">
            <a:avLst/>
          </a:prstGeom>
          <a:noFill/>
        </p:spPr>
        <p:txBody>
          <a:bodyPr wrap="square" rtlCol="0">
            <a:noAutofit/>
          </a:bodyPr>
          <a:lstStyle/>
          <a:p>
            <a:pPr eaLnBrk="1" latinLnBrk="0"/>
            <a:r>
              <a:rPr lang="en-US" sz="1000" dirty="0">
                <a:latin typeface="Arial" panose="020B0604020202020204" pitchFamily="34" charset="0"/>
                <a:ea typeface="Arial Unicode MS" panose="020B0604020202020204" pitchFamily="34" charset="-128"/>
                <a:cs typeface="Arial" panose="020B0604020202020204" pitchFamily="34" charset="0"/>
              </a:rPr>
              <a:t>I chose the Type 1 gage study to assess the measurement capability of the gage, based on its repeatability and bias.</a:t>
            </a:r>
          </a:p>
          <a:p>
            <a:pPr eaLnBrk="1" latinLnBrk="0"/>
            <a:r>
              <a:rPr lang="en-US" sz="1000" dirty="0">
                <a:latin typeface="Arial" panose="020B0604020202020204" pitchFamily="34" charset="0"/>
                <a:ea typeface="Arial Unicode MS" panose="020B0604020202020204" pitchFamily="34" charset="-128"/>
                <a:cs typeface="Arial" panose="020B0604020202020204" pitchFamily="34" charset="0"/>
              </a:rPr>
              <a:t>In this case, one sample (golden sample, 910 Cd/m²) is measured 30 times.</a:t>
            </a:r>
          </a:p>
          <a:p>
            <a:pPr eaLnBrk="1" latinLnBrk="0"/>
            <a:r>
              <a:rPr lang="en-US" sz="1000" dirty="0">
                <a:latin typeface="Arial" panose="020B0604020202020204" pitchFamily="34" charset="0"/>
                <a:ea typeface="Arial Unicode MS" panose="020B0604020202020204" pitchFamily="34" charset="-128"/>
                <a:cs typeface="Arial" panose="020B0604020202020204" pitchFamily="34" charset="0"/>
              </a:rPr>
              <a:t>H0: Bias = 0 in measurement system.</a:t>
            </a:r>
          </a:p>
          <a:p>
            <a:pPr eaLnBrk="1" latinLnBrk="0"/>
            <a:r>
              <a:rPr lang="en-US" sz="1000" dirty="0">
                <a:latin typeface="Arial" panose="020B0604020202020204" pitchFamily="34" charset="0"/>
                <a:ea typeface="Arial Unicode MS" panose="020B0604020202020204" pitchFamily="34" charset="-128"/>
                <a:cs typeface="Arial" panose="020B0604020202020204" pitchFamily="34" charset="0"/>
              </a:rPr>
              <a:t>H1: Bias ≠ 0 in measurement system.</a:t>
            </a:r>
          </a:p>
        </p:txBody>
      </p:sp>
      <p:sp>
        <p:nvSpPr>
          <p:cNvPr id="30" name="TextBox 29">
            <a:extLst>
              <a:ext uri="{FF2B5EF4-FFF2-40B4-BE49-F238E27FC236}">
                <a16:creationId xmlns:a16="http://schemas.microsoft.com/office/drawing/2014/main" id="{B96D4B9C-38B5-48CE-89A8-155AFE43FEA6}"/>
              </a:ext>
            </a:extLst>
          </p:cNvPr>
          <p:cNvSpPr txBox="1"/>
          <p:nvPr/>
        </p:nvSpPr>
        <p:spPr>
          <a:xfrm>
            <a:off x="72000" y="6048000"/>
            <a:ext cx="5112000" cy="468000"/>
          </a:xfrm>
          <a:prstGeom prst="rect">
            <a:avLst/>
          </a:prstGeom>
          <a:noFill/>
        </p:spPr>
        <p:txBody>
          <a:bodyPr wrap="square" rtlCol="0">
            <a:noAutofit/>
          </a:bodyPr>
          <a:lstStyle/>
          <a:p>
            <a:pPr marL="171450" indent="-171450" eaLnBrk="1" latinLnBrk="0">
              <a:buFont typeface="Wingdings" panose="05000000000000000000" pitchFamily="2" charset="2"/>
              <a:buChar char="à"/>
            </a:pPr>
            <a:r>
              <a:rPr sz="1000">
                <a:latin typeface="Arial"/>
              </a:rPr>
              <a:t>✖ Equipment has problem. Cannot measure consistently (large repeatability error and significant bias). Need to improve measurement system.</a:t>
            </a:r>
          </a:p>
        </p:txBody>
      </p:sp>
    </p:spTree>
    <p:extLst>
      <p:ext uri="{BB962C8B-B14F-4D97-AF65-F5344CB8AC3E}">
        <p14:creationId xmlns:p14="http://schemas.microsoft.com/office/powerpoint/2010/main" val="402611296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제목 1"/>
          <p:cNvSpPr txBox="1">
            <a:spLocks/>
          </p:cNvSpPr>
          <p:nvPr/>
        </p:nvSpPr>
        <p:spPr>
          <a:xfrm>
            <a:off x="67838" y="109779"/>
            <a:ext cx="4483810" cy="418058"/>
          </a:xfrm>
          <a:prstGeom prst="rect">
            <a:avLst/>
          </a:prstGeom>
        </p:spPr>
        <p:txBody>
          <a:bodyPr vert="horz" lIns="91440" tIns="45720" rIns="91440" bIns="45720" rtlCol="0" anchor="ctr">
            <a:normAutofit/>
          </a:bodyPr>
          <a:lstStyle/>
          <a:p>
            <a:pPr lvl="0" eaLnBrk="1" latinLnBrk="0" hangingPunct="0">
              <a:defRPr/>
            </a:pPr>
            <a:r>
              <a:rPr lang="en-US" altLang="ko-KR" sz="1600" b="1" kern="0" dirty="0">
                <a:latin typeface="Arial Narrow" panose="020B0606020202030204" pitchFamily="34" charset="0"/>
                <a:ea typeface="Arial Unicode MS" panose="020B0604020202020204" pitchFamily="34" charset="-128"/>
                <a:cs typeface="Arial" panose="020B0604020202020204" pitchFamily="34" charset="0"/>
              </a:rPr>
              <a:t>2.3</a:t>
            </a:r>
            <a:r>
              <a:rPr kumimoji="1" lang="en-US" altLang="ko-KR" sz="1600" b="1" i="0" u="none" strike="noStrike" kern="0" cap="none" spc="0" normalizeH="0" baseline="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rPr>
              <a:t> </a:t>
            </a:r>
            <a:r>
              <a:rPr lang="en-US" altLang="ko-KR" sz="1600" b="1" kern="0" dirty="0">
                <a:latin typeface="Arial Narrow" panose="020B0606020202030204" pitchFamily="34" charset="0"/>
                <a:ea typeface="Arial Unicode MS" panose="020B0604020202020204" pitchFamily="34" charset="-128"/>
                <a:cs typeface="Arial" panose="020B0604020202020204" pitchFamily="34" charset="0"/>
              </a:rPr>
              <a:t>2 sample T-test for station 1 and 2</a:t>
            </a:r>
            <a:endParaRPr kumimoji="1" lang="ko-KR" altLang="en-US" sz="1600" b="1" i="0" u="none" strike="noStrike" kern="0" cap="none" spc="0" normalizeH="0" baseline="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endParaRPr>
          </a:p>
        </p:txBody>
      </p:sp>
      <p:sp>
        <p:nvSpPr>
          <p:cNvPr id="35" name="Slide Number Placeholder 4">
            <a:extLst>
              <a:ext uri="{FF2B5EF4-FFF2-40B4-BE49-F238E27FC236}">
                <a16:creationId xmlns:a16="http://schemas.microsoft.com/office/drawing/2014/main" id="{E1439F5B-C230-4AA8-8439-28EEED666496}"/>
              </a:ext>
            </a:extLst>
          </p:cNvPr>
          <p:cNvSpPr>
            <a:spLocks noGrp="1"/>
          </p:cNvSpPr>
          <p:nvPr>
            <p:ph type="sldNum" sz="quarter" idx="12"/>
          </p:nvPr>
        </p:nvSpPr>
        <p:spPr>
          <a:xfrm>
            <a:off x="3700326" y="6643499"/>
            <a:ext cx="2133600" cy="198047"/>
          </a:xfrm>
        </p:spPr>
        <p:txBody>
          <a:bodyPr/>
          <a:lstStyle/>
          <a:p>
            <a:pPr algn="ctr" eaLnBrk="1" latinLnBrk="0"/>
            <a:r>
              <a:rPr sz="1000" b="0">
                <a:latin typeface="Arial"/>
              </a:rPr>
              <a:t>09 / 33</a:t>
            </a:r>
            <a:endParaRPr lang="ko-KR" altLang="en-US" sz="1200" dirty="0">
              <a:solidFill>
                <a:prstClr val="black">
                  <a:tint val="75000"/>
                </a:prstClr>
              </a:solidFill>
              <a:latin typeface="Arial" panose="020B0604020202020204" pitchFamily="34" charset="0"/>
              <a:ea typeface="Arial Unicode MS" panose="020B0604020202020204" pitchFamily="34" charset="-128"/>
              <a:cs typeface="Arial" panose="020B0604020202020204" pitchFamily="34" charset="0"/>
            </a:endParaRPr>
          </a:p>
        </p:txBody>
      </p:sp>
      <p:sp>
        <p:nvSpPr>
          <p:cNvPr id="20" name="AutoShape 55">
            <a:extLst>
              <a:ext uri="{FF2B5EF4-FFF2-40B4-BE49-F238E27FC236}">
                <a16:creationId xmlns:a16="http://schemas.microsoft.com/office/drawing/2014/main" id="{E3DAE121-5AD2-49F1-8C9B-011C4117CD97}"/>
              </a:ext>
            </a:extLst>
          </p:cNvPr>
          <p:cNvSpPr>
            <a:spLocks noChangeArrowheads="1"/>
          </p:cNvSpPr>
          <p:nvPr/>
        </p:nvSpPr>
        <p:spPr bwMode="auto">
          <a:xfrm>
            <a:off x="9069039" y="178989"/>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Control</a:t>
            </a:r>
          </a:p>
        </p:txBody>
      </p:sp>
      <p:sp>
        <p:nvSpPr>
          <p:cNvPr id="21" name="AutoShape 56">
            <a:extLst>
              <a:ext uri="{FF2B5EF4-FFF2-40B4-BE49-F238E27FC236}">
                <a16:creationId xmlns:a16="http://schemas.microsoft.com/office/drawing/2014/main" id="{9D6E827F-BC62-4468-AC57-473EDAD1789F}"/>
              </a:ext>
            </a:extLst>
          </p:cNvPr>
          <p:cNvSpPr>
            <a:spLocks noChangeArrowheads="1"/>
          </p:cNvSpPr>
          <p:nvPr/>
        </p:nvSpPr>
        <p:spPr bwMode="auto">
          <a:xfrm>
            <a:off x="8380064" y="178989"/>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solidFill>
                  <a:schemeClr val="tx1"/>
                </a:solidFill>
                <a:latin typeface="Arial Narrow" panose="020B0606020202030204" pitchFamily="34" charset="0"/>
                <a:ea typeface="Arial" panose="020B0503020000020004" pitchFamily="50" charset="-127"/>
              </a:rPr>
              <a:t>Improve</a:t>
            </a:r>
          </a:p>
        </p:txBody>
      </p:sp>
      <p:sp>
        <p:nvSpPr>
          <p:cNvPr id="24" name="AutoShape 57">
            <a:extLst>
              <a:ext uri="{FF2B5EF4-FFF2-40B4-BE49-F238E27FC236}">
                <a16:creationId xmlns:a16="http://schemas.microsoft.com/office/drawing/2014/main" id="{CDE404C8-5FE3-476D-883D-70260B05B14E}"/>
              </a:ext>
            </a:extLst>
          </p:cNvPr>
          <p:cNvSpPr>
            <a:spLocks noChangeArrowheads="1"/>
          </p:cNvSpPr>
          <p:nvPr/>
        </p:nvSpPr>
        <p:spPr bwMode="auto">
          <a:xfrm>
            <a:off x="7687914" y="178989"/>
            <a:ext cx="749300" cy="287338"/>
          </a:xfrm>
          <a:prstGeom prst="homePlate">
            <a:avLst>
              <a:gd name="adj" fmla="val 46698"/>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Analyze</a:t>
            </a:r>
          </a:p>
        </p:txBody>
      </p:sp>
      <p:sp>
        <p:nvSpPr>
          <p:cNvPr id="25" name="AutoShape 59">
            <a:extLst>
              <a:ext uri="{FF2B5EF4-FFF2-40B4-BE49-F238E27FC236}">
                <a16:creationId xmlns:a16="http://schemas.microsoft.com/office/drawing/2014/main" id="{2E017168-4B5F-472C-9136-DA4C365BB2EA}"/>
              </a:ext>
            </a:extLst>
          </p:cNvPr>
          <p:cNvSpPr>
            <a:spLocks noChangeArrowheads="1"/>
          </p:cNvSpPr>
          <p:nvPr/>
        </p:nvSpPr>
        <p:spPr bwMode="auto">
          <a:xfrm>
            <a:off x="6319489" y="178989"/>
            <a:ext cx="757238" cy="287338"/>
          </a:xfrm>
          <a:prstGeom prst="homePlate">
            <a:avLst>
              <a:gd name="adj" fmla="val 47192"/>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Define</a:t>
            </a:r>
          </a:p>
        </p:txBody>
      </p:sp>
      <p:sp>
        <p:nvSpPr>
          <p:cNvPr id="26" name="AutoShape 58">
            <a:extLst>
              <a:ext uri="{FF2B5EF4-FFF2-40B4-BE49-F238E27FC236}">
                <a16:creationId xmlns:a16="http://schemas.microsoft.com/office/drawing/2014/main" id="{FFE55166-9E75-45B0-AF8E-9D9225BE05E2}"/>
              </a:ext>
            </a:extLst>
          </p:cNvPr>
          <p:cNvSpPr>
            <a:spLocks noChangeArrowheads="1"/>
          </p:cNvSpPr>
          <p:nvPr/>
        </p:nvSpPr>
        <p:spPr bwMode="auto">
          <a:xfrm>
            <a:off x="7016402" y="34527"/>
            <a:ext cx="747712" cy="287337"/>
          </a:xfrm>
          <a:prstGeom prst="homePlate">
            <a:avLst>
              <a:gd name="adj" fmla="val 46599"/>
            </a:avLst>
          </a:prstGeom>
          <a:gradFill rotWithShape="1">
            <a:gsLst>
              <a:gs pos="0">
                <a:srgbClr val="494900"/>
              </a:gs>
              <a:gs pos="100000">
                <a:srgbClr val="808000"/>
              </a:gs>
            </a:gsLst>
            <a:lin ang="0" scaled="1"/>
          </a:gradFill>
          <a:ln w="6350" algn="ctr">
            <a:solidFill>
              <a:srgbClr val="808080"/>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latin typeface="Arial Narrow" panose="020B0606020202030204" pitchFamily="34" charset="0"/>
                <a:ea typeface="Arial" panose="020B0503020000020004" pitchFamily="50" charset="-127"/>
              </a:rPr>
              <a:t>Measure </a:t>
            </a:r>
          </a:p>
        </p:txBody>
      </p:sp>
      <p:sp>
        <p:nvSpPr>
          <p:cNvPr id="30" name="TextBox 29">
            <a:extLst>
              <a:ext uri="{FF2B5EF4-FFF2-40B4-BE49-F238E27FC236}">
                <a16:creationId xmlns:a16="http://schemas.microsoft.com/office/drawing/2014/main" id="{D9E5C935-A679-448F-A219-59149360E3B9}"/>
              </a:ext>
            </a:extLst>
          </p:cNvPr>
          <p:cNvSpPr txBox="1"/>
          <p:nvPr/>
        </p:nvSpPr>
        <p:spPr>
          <a:xfrm>
            <a:off x="-1" y="927882"/>
            <a:ext cx="2095403" cy="253916"/>
          </a:xfrm>
          <a:prstGeom prst="rect">
            <a:avLst/>
          </a:prstGeom>
          <a:noFill/>
        </p:spPr>
        <p:txBody>
          <a:bodyPr wrap="square" rtlCol="0">
            <a:noAutofit/>
          </a:bodyPr>
          <a:lstStyle/>
          <a:p>
            <a:pPr lvl="0" eaLnBrk="1" latinLnBrk="0"/>
            <a:r>
              <a:rPr lang="en-US" altLang="ko-KR" sz="1000" dirty="0">
                <a:latin typeface="Arial" panose="020B0604020202020204" pitchFamily="34" charset="0"/>
                <a:ea typeface="Arial Unicode MS" panose="020B0604020202020204" pitchFamily="34" charset="-128"/>
                <a:cs typeface="Arial" panose="020B0604020202020204" pitchFamily="34" charset="0"/>
              </a:rPr>
              <a:t>Spec: 80</a:t>
            </a:r>
            <a:r>
              <a:rPr lang="vi-VN" altLang="ko-KR" sz="1000" dirty="0">
                <a:latin typeface="Arial" panose="020B0604020202020204" pitchFamily="34" charset="0"/>
                <a:ea typeface="Arial Unicode MS" panose="020B0604020202020204" pitchFamily="34" charset="-128"/>
                <a:cs typeface="Arial" panose="020B0604020202020204" pitchFamily="34" charset="0"/>
              </a:rPr>
              <a:t>0-</a:t>
            </a:r>
            <a:r>
              <a:rPr lang="en-US" altLang="ko-KR" sz="1000" dirty="0">
                <a:latin typeface="Arial" panose="020B0604020202020204" pitchFamily="34" charset="0"/>
                <a:ea typeface="Arial Unicode MS" panose="020B0604020202020204" pitchFamily="34" charset="-128"/>
                <a:cs typeface="Arial" panose="020B0604020202020204" pitchFamily="34" charset="0"/>
              </a:rPr>
              <a:t> 2000 Cd/m</a:t>
            </a:r>
            <a:r>
              <a:rPr lang="en-US" altLang="ko-KR" sz="1000" baseline="30000" dirty="0">
                <a:latin typeface="Arial" panose="020B0604020202020204" pitchFamily="34" charset="0"/>
                <a:ea typeface="Arial Unicode MS" panose="020B0604020202020204" pitchFamily="34" charset="-128"/>
                <a:cs typeface="Arial" panose="020B0604020202020204" pitchFamily="34" charset="0"/>
              </a:rPr>
              <a:t>2</a:t>
            </a:r>
            <a:endParaRPr lang="vi-VN" altLang="ko-KR" sz="1050" baseline="30000" dirty="0">
              <a:latin typeface="Arial" panose="020B0604020202020204" pitchFamily="34" charset="0"/>
              <a:ea typeface="Arial Unicode MS" panose="020B0604020202020204" pitchFamily="34" charset="-128"/>
              <a:cs typeface="Arial" panose="020B0604020202020204" pitchFamily="34" charset="0"/>
            </a:endParaRPr>
          </a:p>
        </p:txBody>
      </p:sp>
      <p:sp>
        <p:nvSpPr>
          <p:cNvPr id="36" name="TextBox 35">
            <a:extLst>
              <a:ext uri="{FF2B5EF4-FFF2-40B4-BE49-F238E27FC236}">
                <a16:creationId xmlns:a16="http://schemas.microsoft.com/office/drawing/2014/main" id="{9E7385E5-B0FF-48A1-8457-CA79A2D0544B}"/>
              </a:ext>
            </a:extLst>
          </p:cNvPr>
          <p:cNvSpPr txBox="1"/>
          <p:nvPr/>
        </p:nvSpPr>
        <p:spPr>
          <a:xfrm>
            <a:off x="34730" y="5599971"/>
            <a:ext cx="9782021" cy="1015663"/>
          </a:xfrm>
          <a:prstGeom prst="rect">
            <a:avLst/>
          </a:prstGeom>
          <a:noFill/>
        </p:spPr>
        <p:txBody>
          <a:bodyPr wrap="square" rtlCol="0">
            <a:noAutofit/>
          </a:bodyPr>
          <a:lstStyle/>
          <a:p>
            <a:pPr marL="171450" indent="-171450" eaLnBrk="1" latinLnBrk="0">
              <a:buFont typeface="Wingdings" panose="05000000000000000000" pitchFamily="2" charset="2"/>
              <a:buChar char="Ø"/>
            </a:pPr>
            <a:r>
              <a:rPr lang="vi-VN" sz="1000" b="1" dirty="0">
                <a:latin typeface="Arial" panose="020B0604020202020204" pitchFamily="34" charset="0"/>
                <a:ea typeface="Arial Unicode MS" panose="020B0604020202020204" pitchFamily="34" charset="-128"/>
                <a:cs typeface="Arial" panose="020B0604020202020204" pitchFamily="34" charset="0"/>
                <a:sym typeface="Wingdings" pitchFamily="2" charset="2"/>
              </a:rPr>
              <a:t>Conclusion</a:t>
            </a:r>
            <a:r>
              <a:rPr lang="vi-VN" sz="1000" dirty="0">
                <a:latin typeface="Arial" panose="020B0604020202020204" pitchFamily="34" charset="0"/>
                <a:ea typeface="Arial Unicode MS" panose="020B0604020202020204" pitchFamily="34" charset="-128"/>
                <a:cs typeface="Arial" panose="020B0604020202020204" pitchFamily="34" charset="0"/>
                <a:sym typeface="Wingdings" pitchFamily="2" charset="2"/>
              </a:rPr>
              <a:t> </a:t>
            </a:r>
            <a:r>
              <a:rPr lang="en-US" sz="1000" dirty="0">
                <a:latin typeface="Arial" panose="020B0604020202020204" pitchFamily="34" charset="0"/>
                <a:ea typeface="Arial Unicode MS" panose="020B0604020202020204" pitchFamily="34" charset="-128"/>
                <a:cs typeface="Arial" panose="020B0604020202020204" pitchFamily="34" charset="0"/>
                <a:sym typeface="Wingdings" pitchFamily="2" charset="2"/>
              </a:rPr>
              <a:t>: we chose 30 samples and tested at 2 stations.</a:t>
            </a:r>
          </a:p>
          <a:p>
            <a:pPr eaLnBrk="1" latinLnBrk="0"/>
            <a:r>
              <a:rPr lang="en-US" sz="1000" dirty="0">
                <a:latin typeface="Arial" panose="020B0604020202020204" pitchFamily="34" charset="0"/>
                <a:ea typeface="Arial Unicode MS" panose="020B0604020202020204" pitchFamily="34" charset="-128"/>
                <a:cs typeface="Arial" panose="020B0604020202020204" pitchFamily="34" charset="0"/>
                <a:sym typeface="Wingdings" pitchFamily="2" charset="2"/>
              </a:rPr>
              <a:t>H0: there is no significant difference between station 1 and station 2</a:t>
            </a:r>
          </a:p>
          <a:p>
            <a:pPr eaLnBrk="1" latinLnBrk="0"/>
            <a:r>
              <a:rPr lang="en-US" sz="1000" dirty="0">
                <a:latin typeface="Arial" panose="020B0604020202020204" pitchFamily="34" charset="0"/>
                <a:ea typeface="Arial Unicode MS" panose="020B0604020202020204" pitchFamily="34" charset="-128"/>
                <a:cs typeface="Arial" panose="020B0604020202020204" pitchFamily="34" charset="0"/>
                <a:sym typeface="Wingdings" pitchFamily="2" charset="2"/>
              </a:rPr>
              <a:t>H1: there is a significant difference between station 1 and station 2</a:t>
            </a:r>
          </a:p>
          <a:p>
            <a:pPr eaLnBrk="1" latinLnBrk="0"/>
            <a:r>
              <a:rPr lang="en-US" sz="1000" dirty="0">
                <a:latin typeface="Arial" panose="020B0604020202020204" pitchFamily="34" charset="0"/>
                <a:ea typeface="Arial Unicode MS" panose="020B0604020202020204" pitchFamily="34" charset="-128"/>
                <a:cs typeface="Arial" panose="020B0604020202020204" pitchFamily="34" charset="0"/>
                <a:sym typeface="Wingdings" pitchFamily="2" charset="2"/>
              </a:rPr>
              <a:t>P value = 0.002 </a:t>
            </a:r>
            <a:r>
              <a:rPr lang="en-US" sz="1000" dirty="0">
                <a:latin typeface="Arial" panose="020B0604020202020204" pitchFamily="34" charset="0"/>
                <a:ea typeface="Arial Unicode MS" panose="020B0604020202020204" pitchFamily="34" charset="-128"/>
                <a:cs typeface="Arial" panose="020B0604020202020204" pitchFamily="34" charset="0"/>
              </a:rPr>
              <a:t>≤</a:t>
            </a:r>
            <a:r>
              <a:rPr lang="en-US" sz="1000" dirty="0">
                <a:latin typeface="Arial" panose="020B0604020202020204" pitchFamily="34" charset="0"/>
                <a:ea typeface="Arial Unicode MS" panose="020B0604020202020204" pitchFamily="34" charset="-128"/>
                <a:cs typeface="Arial" panose="020B0604020202020204" pitchFamily="34" charset="0"/>
                <a:sym typeface="Wingdings" pitchFamily="2" charset="2"/>
              </a:rPr>
              <a:t> 0.05  reject H0,</a:t>
            </a:r>
          </a:p>
          <a:p>
            <a:pPr eaLnBrk="1" latinLnBrk="0"/>
            <a:r>
              <a:rPr lang="en-US" sz="1000" dirty="0">
                <a:latin typeface="Arial" panose="020B0604020202020204" pitchFamily="34" charset="0"/>
                <a:ea typeface="Arial Unicode MS" panose="020B0604020202020204" pitchFamily="34" charset="-128"/>
                <a:cs typeface="Arial" panose="020B0604020202020204" pitchFamily="34" charset="0"/>
                <a:sym typeface="Wingdings" pitchFamily="2" charset="2"/>
              </a:rPr>
              <a:t> The charts also show that the measured values differ between station 1 and station 2. The same 30 samples were tested at both stations, so a paired t-test is also appropriate: mean difference = 20.38, t = 5.81, DF = 29, p &lt; 0.001 (same conclusion). So we need to check why there is a difference.</a:t>
            </a:r>
          </a:p>
        </p:txBody>
      </p:sp>
      <p:sp>
        <p:nvSpPr>
          <p:cNvPr id="27" name="TextBox 26">
            <a:extLst>
              <a:ext uri="{FF2B5EF4-FFF2-40B4-BE49-F238E27FC236}">
                <a16:creationId xmlns:a16="http://schemas.microsoft.com/office/drawing/2014/main" id="{FE78B3B8-2924-481E-8842-ADE05DED80C1}"/>
              </a:ext>
            </a:extLst>
          </p:cNvPr>
          <p:cNvSpPr txBox="1"/>
          <p:nvPr/>
        </p:nvSpPr>
        <p:spPr>
          <a:xfrm>
            <a:off x="0" y="626425"/>
            <a:ext cx="7687914" cy="253916"/>
          </a:xfrm>
          <a:prstGeom prst="rect">
            <a:avLst/>
          </a:prstGeom>
          <a:noFill/>
        </p:spPr>
        <p:txBody>
          <a:bodyPr wrap="square" rtlCol="0">
            <a:noAutofit/>
          </a:bodyPr>
          <a:lstStyle/>
          <a:p>
            <a:pPr eaLnBrk="1" latinLnBrk="0"/>
            <a:r>
              <a:rPr lang="en-US" sz="1000" dirty="0">
                <a:latin typeface="Arial" panose="020B0604020202020204" pitchFamily="34" charset="0"/>
                <a:ea typeface="Arial Unicode MS" panose="020B0604020202020204" pitchFamily="34" charset="-128"/>
                <a:cs typeface="Arial" panose="020B0604020202020204" pitchFamily="34" charset="0"/>
                <a:sym typeface="Wingdings" pitchFamily="2" charset="2"/>
              </a:rPr>
              <a:t>After the Type 1 study, compare the 2 Luminance stations. </a:t>
            </a:r>
          </a:p>
        </p:txBody>
      </p:sp>
      <p:pic>
        <p:nvPicPr>
          <p:cNvPr id="2" name="Picture 1">
            <a:extLst>
              <a:ext uri="{FF2B5EF4-FFF2-40B4-BE49-F238E27FC236}">
                <a16:creationId xmlns:a16="http://schemas.microsoft.com/office/drawing/2014/main" id="{3987904E-49C2-44F0-A842-54AB4869F41A}"/>
              </a:ext>
            </a:extLst>
          </p:cNvPr>
          <p:cNvPicPr>
            <a:picLocks noChangeAspect="1"/>
          </p:cNvPicPr>
          <p:nvPr/>
        </p:nvPicPr>
        <p:blipFill>
          <a:blip r:embed="rId3"/>
          <a:stretch>
            <a:fillRect/>
          </a:stretch>
        </p:blipFill>
        <p:spPr>
          <a:xfrm>
            <a:off x="2636688" y="960965"/>
            <a:ext cx="3342417" cy="4325482"/>
          </a:xfrm>
          <a:prstGeom prst="rect">
            <a:avLst/>
          </a:prstGeom>
        </p:spPr>
      </p:pic>
      <p:graphicFrame>
        <p:nvGraphicFramePr>
          <p:cNvPr id="4" name="Table 3">
            <a:extLst>
              <a:ext uri="{FF2B5EF4-FFF2-40B4-BE49-F238E27FC236}">
                <a16:creationId xmlns:a16="http://schemas.microsoft.com/office/drawing/2014/main" id="{A95F8E66-B999-4B16-A397-ECFBB8B2E313}"/>
              </a:ext>
            </a:extLst>
          </p:cNvPr>
          <p:cNvGraphicFramePr>
            <a:graphicFrameLocks noGrp="1"/>
          </p:cNvGraphicFramePr>
          <p:nvPr>
            <p:extLst>
              <p:ext uri="{D42A27DB-BD31-4B8C-83A1-F6EECF244321}">
                <p14:modId xmlns:p14="http://schemas.microsoft.com/office/powerpoint/2010/main" val="1792688474"/>
              </p:ext>
            </p:extLst>
          </p:nvPr>
        </p:nvGraphicFramePr>
        <p:xfrm>
          <a:off x="198288" y="1246625"/>
          <a:ext cx="2438400" cy="4272722"/>
        </p:xfrm>
        <a:graphic>
          <a:graphicData uri="http://schemas.openxmlformats.org/drawingml/2006/table">
            <a:tbl>
              <a:tblPr/>
              <a:tblGrid>
                <a:gridCol w="1210301">
                  <a:extLst>
                    <a:ext uri="{9D8B030D-6E8A-4147-A177-3AD203B41FA5}">
                      <a16:colId xmlns:a16="http://schemas.microsoft.com/office/drawing/2014/main" val="307898533"/>
                    </a:ext>
                  </a:extLst>
                </a:gridCol>
                <a:gridCol w="1228099">
                  <a:extLst>
                    <a:ext uri="{9D8B030D-6E8A-4147-A177-3AD203B41FA5}">
                      <a16:colId xmlns:a16="http://schemas.microsoft.com/office/drawing/2014/main" val="655736119"/>
                    </a:ext>
                  </a:extLst>
                </a:gridCol>
              </a:tblGrid>
              <a:tr h="231602">
                <a:tc>
                  <a:txBody>
                    <a:bodyPr/>
                    <a:lstStyle/>
                    <a:p>
                      <a:pPr algn="ctr" eaLnBrk="1" fontAlgn="ctr" latinLnBrk="0"/>
                      <a:r>
                        <a:rPr lang="en-US" sz="700" b="1" i="0" u="none" strike="noStrike">
                          <a:effectLst/>
                          <a:latin typeface="Arial" panose="020B0604020202020204" pitchFamily="34" charset="0"/>
                        </a:rPr>
                        <a:t>Station 1</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tc>
                  <a:txBody>
                    <a:bodyPr/>
                    <a:lstStyle/>
                    <a:p>
                      <a:pPr algn="ctr" eaLnBrk="1" fontAlgn="ctr" latinLnBrk="0"/>
                      <a:r>
                        <a:rPr lang="en-US" sz="700" b="1" i="0" u="none" strike="noStrike">
                          <a:effectLst/>
                          <a:latin typeface="Arial" panose="020B0604020202020204" pitchFamily="34" charset="0"/>
                        </a:rPr>
                        <a:t>Station 2</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extLst>
                  <a:ext uri="{0D108BD9-81ED-4DB2-BD59-A6C34878D82A}">
                    <a16:rowId xmlns:a16="http://schemas.microsoft.com/office/drawing/2014/main" val="2885297216"/>
                  </a:ext>
                </a:extLst>
              </a:tr>
              <a:tr h="134704">
                <a:tc>
                  <a:txBody>
                    <a:bodyPr/>
                    <a:lstStyle/>
                    <a:p>
                      <a:pPr algn="ctr" eaLnBrk="1" fontAlgn="ctr" latinLnBrk="0"/>
                      <a:r>
                        <a:rPr lang="en-US" sz="800" b="0" i="0" u="none" strike="noStrike">
                          <a:solidFill>
                            <a:srgbClr val="000000"/>
                          </a:solidFill>
                          <a:effectLst/>
                          <a:latin typeface="Arial" panose="020F0502020204030204" pitchFamily="34" charset="0"/>
                          <a:ea typeface="Arial"/>
                        </a:rPr>
                        <a:t>891.90</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864.43</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12673086"/>
                  </a:ext>
                </a:extLst>
              </a:tr>
              <a:tr h="134704">
                <a:tc>
                  <a:txBody>
                    <a:bodyPr/>
                    <a:lstStyle/>
                    <a:p>
                      <a:pPr algn="ctr" eaLnBrk="1" fontAlgn="ctr" latinLnBrk="0"/>
                      <a:r>
                        <a:rPr lang="en-US" sz="800" b="0" i="0" u="none" strike="noStrike">
                          <a:solidFill>
                            <a:srgbClr val="000000"/>
                          </a:solidFill>
                          <a:effectLst/>
                          <a:latin typeface="Arial" panose="020F0502020204030204" pitchFamily="34" charset="0"/>
                          <a:ea typeface="Arial"/>
                        </a:rPr>
                        <a:t>908.25</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902.75</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080019459"/>
                  </a:ext>
                </a:extLst>
              </a:tr>
              <a:tr h="134704">
                <a:tc>
                  <a:txBody>
                    <a:bodyPr/>
                    <a:lstStyle/>
                    <a:p>
                      <a:pPr algn="ctr" eaLnBrk="1" fontAlgn="ctr" latinLnBrk="0"/>
                      <a:r>
                        <a:rPr lang="en-US" sz="800" b="0" i="0" u="none" strike="noStrike">
                          <a:solidFill>
                            <a:srgbClr val="000000"/>
                          </a:solidFill>
                          <a:effectLst/>
                          <a:latin typeface="Arial" panose="020F0502020204030204" pitchFamily="34" charset="0"/>
                          <a:ea typeface="Arial"/>
                        </a:rPr>
                        <a:t>940.60</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924.61</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55483114"/>
                  </a:ext>
                </a:extLst>
              </a:tr>
              <a:tr h="134704">
                <a:tc>
                  <a:txBody>
                    <a:bodyPr/>
                    <a:lstStyle/>
                    <a:p>
                      <a:pPr algn="ctr" eaLnBrk="1" fontAlgn="ctr" latinLnBrk="0"/>
                      <a:r>
                        <a:rPr lang="en-US" sz="800" b="0" i="0" u="none" strike="noStrike">
                          <a:solidFill>
                            <a:srgbClr val="000000"/>
                          </a:solidFill>
                          <a:effectLst/>
                          <a:latin typeface="Arial" panose="020F0502020204030204" pitchFamily="34" charset="0"/>
                          <a:ea typeface="Arial"/>
                        </a:rPr>
                        <a:t>910.68</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893.10</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979080495"/>
                  </a:ext>
                </a:extLst>
              </a:tr>
              <a:tr h="134704">
                <a:tc>
                  <a:txBody>
                    <a:bodyPr/>
                    <a:lstStyle/>
                    <a:p>
                      <a:pPr algn="ctr" eaLnBrk="1" fontAlgn="ctr" latinLnBrk="0"/>
                      <a:r>
                        <a:rPr lang="en-US" sz="800" b="0" i="0" u="none" strike="noStrike">
                          <a:solidFill>
                            <a:srgbClr val="000000"/>
                          </a:solidFill>
                          <a:effectLst/>
                          <a:latin typeface="Arial" panose="020F0502020204030204" pitchFamily="34" charset="0"/>
                          <a:ea typeface="Arial"/>
                        </a:rPr>
                        <a:t>921.04</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910.28</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982556284"/>
                  </a:ext>
                </a:extLst>
              </a:tr>
              <a:tr h="134704">
                <a:tc>
                  <a:txBody>
                    <a:bodyPr/>
                    <a:lstStyle/>
                    <a:p>
                      <a:pPr algn="ctr" eaLnBrk="1" fontAlgn="ctr" latinLnBrk="0"/>
                      <a:r>
                        <a:rPr lang="en-US" sz="800" b="0" i="0" u="none" strike="noStrike">
                          <a:solidFill>
                            <a:srgbClr val="000000"/>
                          </a:solidFill>
                          <a:effectLst/>
                          <a:latin typeface="Arial" panose="020F0502020204030204" pitchFamily="34" charset="0"/>
                          <a:ea typeface="Arial"/>
                        </a:rPr>
                        <a:t>893.60</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885.34</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394336398"/>
                  </a:ext>
                </a:extLst>
              </a:tr>
              <a:tr h="134704">
                <a:tc>
                  <a:txBody>
                    <a:bodyPr/>
                    <a:lstStyle/>
                    <a:p>
                      <a:pPr algn="ctr" eaLnBrk="1" fontAlgn="ctr" latinLnBrk="0"/>
                      <a:r>
                        <a:rPr lang="en-US" sz="800" b="0" i="0" u="none" strike="noStrike">
                          <a:solidFill>
                            <a:srgbClr val="000000"/>
                          </a:solidFill>
                          <a:effectLst/>
                          <a:latin typeface="Arial" panose="020F0502020204030204" pitchFamily="34" charset="0"/>
                          <a:ea typeface="Arial"/>
                        </a:rPr>
                        <a:t>935.70</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896.79</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328417878"/>
                  </a:ext>
                </a:extLst>
              </a:tr>
              <a:tr h="134704">
                <a:tc>
                  <a:txBody>
                    <a:bodyPr/>
                    <a:lstStyle/>
                    <a:p>
                      <a:pPr algn="ctr" eaLnBrk="1" fontAlgn="ctr" latinLnBrk="0"/>
                      <a:r>
                        <a:rPr lang="en-US" sz="800" b="0" i="0" u="none" strike="noStrike">
                          <a:solidFill>
                            <a:srgbClr val="000000"/>
                          </a:solidFill>
                          <a:effectLst/>
                          <a:latin typeface="Arial" panose="020F0502020204030204" pitchFamily="34" charset="0"/>
                          <a:ea typeface="Arial"/>
                        </a:rPr>
                        <a:t>951.27</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911.49</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924854873"/>
                  </a:ext>
                </a:extLst>
              </a:tr>
              <a:tr h="134704">
                <a:tc>
                  <a:txBody>
                    <a:bodyPr/>
                    <a:lstStyle/>
                    <a:p>
                      <a:pPr algn="ctr" eaLnBrk="1" fontAlgn="ctr" latinLnBrk="0"/>
                      <a:r>
                        <a:rPr lang="en-US" sz="800" b="0" i="0" u="none" strike="noStrike">
                          <a:solidFill>
                            <a:srgbClr val="000000"/>
                          </a:solidFill>
                          <a:effectLst/>
                          <a:latin typeface="Arial" panose="020F0502020204030204" pitchFamily="34" charset="0"/>
                          <a:ea typeface="Arial"/>
                        </a:rPr>
                        <a:t>937.62</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930.12</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885497659"/>
                  </a:ext>
                </a:extLst>
              </a:tr>
              <a:tr h="134704">
                <a:tc>
                  <a:txBody>
                    <a:bodyPr/>
                    <a:lstStyle/>
                    <a:p>
                      <a:pPr algn="ctr" eaLnBrk="1" fontAlgn="ctr" latinLnBrk="0"/>
                      <a:r>
                        <a:rPr lang="en-US" sz="800" b="0" i="0" u="none" strike="noStrike">
                          <a:solidFill>
                            <a:srgbClr val="000000"/>
                          </a:solidFill>
                          <a:effectLst/>
                          <a:latin typeface="Arial" panose="020F0502020204030204" pitchFamily="34" charset="0"/>
                          <a:ea typeface="Arial"/>
                        </a:rPr>
                        <a:t>883.52</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873.72</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091452785"/>
                  </a:ext>
                </a:extLst>
              </a:tr>
              <a:tr h="134704">
                <a:tc>
                  <a:txBody>
                    <a:bodyPr/>
                    <a:lstStyle/>
                    <a:p>
                      <a:pPr algn="ctr" eaLnBrk="1" fontAlgn="ctr" latinLnBrk="0"/>
                      <a:r>
                        <a:rPr lang="en-US" sz="800" b="0" i="0" u="none" strike="noStrike">
                          <a:solidFill>
                            <a:srgbClr val="000000"/>
                          </a:solidFill>
                          <a:effectLst/>
                          <a:latin typeface="Arial" panose="020F0502020204030204" pitchFamily="34" charset="0"/>
                          <a:ea typeface="Arial"/>
                        </a:rPr>
                        <a:t>908.00</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933.11</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278644068"/>
                  </a:ext>
                </a:extLst>
              </a:tr>
              <a:tr h="134704">
                <a:tc>
                  <a:txBody>
                    <a:bodyPr/>
                    <a:lstStyle/>
                    <a:p>
                      <a:pPr algn="ctr" eaLnBrk="1" fontAlgn="ctr" latinLnBrk="0"/>
                      <a:r>
                        <a:rPr lang="en-US" sz="800" b="0" i="0" u="none" strike="noStrike">
                          <a:solidFill>
                            <a:srgbClr val="000000"/>
                          </a:solidFill>
                          <a:effectLst/>
                          <a:latin typeface="Arial" panose="020F0502020204030204" pitchFamily="34" charset="0"/>
                          <a:ea typeface="Arial"/>
                        </a:rPr>
                        <a:t>937.93</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899.03</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172755293"/>
                  </a:ext>
                </a:extLst>
              </a:tr>
              <a:tr h="134704">
                <a:tc>
                  <a:txBody>
                    <a:bodyPr/>
                    <a:lstStyle/>
                    <a:p>
                      <a:pPr algn="ctr" eaLnBrk="1" fontAlgn="ctr" latinLnBrk="0"/>
                      <a:r>
                        <a:rPr lang="en-US" sz="800" b="0" i="0" u="none" strike="noStrike">
                          <a:solidFill>
                            <a:srgbClr val="000000"/>
                          </a:solidFill>
                          <a:effectLst/>
                          <a:latin typeface="Arial" panose="020F0502020204030204" pitchFamily="34" charset="0"/>
                          <a:ea typeface="Arial"/>
                        </a:rPr>
                        <a:t>935.27</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929.61</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078286760"/>
                  </a:ext>
                </a:extLst>
              </a:tr>
              <a:tr h="134704">
                <a:tc>
                  <a:txBody>
                    <a:bodyPr/>
                    <a:lstStyle/>
                    <a:p>
                      <a:pPr algn="ctr" eaLnBrk="1" fontAlgn="ctr" latinLnBrk="0"/>
                      <a:r>
                        <a:rPr lang="en-US" sz="800" b="0" i="0" u="none" strike="noStrike">
                          <a:solidFill>
                            <a:srgbClr val="000000"/>
                          </a:solidFill>
                          <a:effectLst/>
                          <a:latin typeface="Arial" panose="020F0502020204030204" pitchFamily="34" charset="0"/>
                          <a:ea typeface="Arial"/>
                        </a:rPr>
                        <a:t>886.15</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857.73</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285104057"/>
                  </a:ext>
                </a:extLst>
              </a:tr>
              <a:tr h="134704">
                <a:tc>
                  <a:txBody>
                    <a:bodyPr/>
                    <a:lstStyle/>
                    <a:p>
                      <a:pPr algn="ctr" eaLnBrk="1" fontAlgn="ctr" latinLnBrk="0"/>
                      <a:r>
                        <a:rPr lang="en-US" sz="800" b="0" i="0" u="none" strike="noStrike">
                          <a:solidFill>
                            <a:srgbClr val="000000"/>
                          </a:solidFill>
                          <a:effectLst/>
                          <a:latin typeface="Arial" panose="020F0502020204030204" pitchFamily="34" charset="0"/>
                          <a:ea typeface="Arial"/>
                        </a:rPr>
                        <a:t>929.40</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919.88</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807224395"/>
                  </a:ext>
                </a:extLst>
              </a:tr>
              <a:tr h="134704">
                <a:tc>
                  <a:txBody>
                    <a:bodyPr/>
                    <a:lstStyle/>
                    <a:p>
                      <a:pPr algn="ctr" eaLnBrk="1" fontAlgn="ctr" latinLnBrk="0"/>
                      <a:r>
                        <a:rPr lang="en-US" sz="800" b="0" i="0" u="none" strike="noStrike">
                          <a:solidFill>
                            <a:srgbClr val="000000"/>
                          </a:solidFill>
                          <a:effectLst/>
                          <a:latin typeface="Arial" panose="020F0502020204030204" pitchFamily="34" charset="0"/>
                          <a:ea typeface="Arial"/>
                        </a:rPr>
                        <a:t>934.00</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913.82</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644364568"/>
                  </a:ext>
                </a:extLst>
              </a:tr>
              <a:tr h="134704">
                <a:tc>
                  <a:txBody>
                    <a:bodyPr/>
                    <a:lstStyle/>
                    <a:p>
                      <a:pPr algn="ctr" eaLnBrk="1" fontAlgn="ctr" latinLnBrk="0"/>
                      <a:r>
                        <a:rPr lang="en-US" sz="800" b="0" i="0" u="none" strike="noStrike">
                          <a:solidFill>
                            <a:srgbClr val="000000"/>
                          </a:solidFill>
                          <a:effectLst/>
                          <a:latin typeface="Arial" panose="020F0502020204030204" pitchFamily="34" charset="0"/>
                          <a:ea typeface="Arial"/>
                        </a:rPr>
                        <a:t>899.24</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871.07</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485756269"/>
                  </a:ext>
                </a:extLst>
              </a:tr>
              <a:tr h="134704">
                <a:tc>
                  <a:txBody>
                    <a:bodyPr/>
                    <a:lstStyle/>
                    <a:p>
                      <a:pPr algn="ctr" eaLnBrk="1" fontAlgn="ctr" latinLnBrk="0"/>
                      <a:r>
                        <a:rPr lang="en-US" sz="800" b="0" i="0" u="none" strike="noStrike">
                          <a:solidFill>
                            <a:srgbClr val="000000"/>
                          </a:solidFill>
                          <a:effectLst/>
                          <a:latin typeface="Arial" panose="020F0502020204030204" pitchFamily="34" charset="0"/>
                          <a:ea typeface="Arial"/>
                        </a:rPr>
                        <a:t>917.44</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903.96</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790884834"/>
                  </a:ext>
                </a:extLst>
              </a:tr>
              <a:tr h="134704">
                <a:tc>
                  <a:txBody>
                    <a:bodyPr/>
                    <a:lstStyle/>
                    <a:p>
                      <a:pPr algn="ctr" eaLnBrk="1" fontAlgn="ctr" latinLnBrk="0"/>
                      <a:r>
                        <a:rPr lang="en-US" sz="800" b="0" i="0" u="none" strike="noStrike">
                          <a:solidFill>
                            <a:srgbClr val="000000"/>
                          </a:solidFill>
                          <a:effectLst/>
                          <a:latin typeface="Arial" panose="020F0502020204030204" pitchFamily="34" charset="0"/>
                          <a:ea typeface="Arial"/>
                        </a:rPr>
                        <a:t>874.39</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851.55</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490935398"/>
                  </a:ext>
                </a:extLst>
              </a:tr>
              <a:tr h="134704">
                <a:tc>
                  <a:txBody>
                    <a:bodyPr/>
                    <a:lstStyle/>
                    <a:p>
                      <a:pPr algn="ctr" eaLnBrk="1" fontAlgn="ctr" latinLnBrk="0"/>
                      <a:r>
                        <a:rPr lang="en-US" sz="800" b="0" i="0" u="none" strike="noStrike">
                          <a:solidFill>
                            <a:srgbClr val="000000"/>
                          </a:solidFill>
                          <a:effectLst/>
                          <a:latin typeface="Arial" panose="020F0502020204030204" pitchFamily="34" charset="0"/>
                          <a:ea typeface="Arial"/>
                        </a:rPr>
                        <a:t>911.46</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883.16</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600803295"/>
                  </a:ext>
                </a:extLst>
              </a:tr>
              <a:tr h="134704">
                <a:tc>
                  <a:txBody>
                    <a:bodyPr/>
                    <a:lstStyle/>
                    <a:p>
                      <a:pPr algn="ctr" eaLnBrk="1" fontAlgn="ctr" latinLnBrk="0"/>
                      <a:r>
                        <a:rPr lang="en-US" sz="800" b="0" i="0" u="none" strike="noStrike">
                          <a:solidFill>
                            <a:srgbClr val="000000"/>
                          </a:solidFill>
                          <a:effectLst/>
                          <a:latin typeface="Arial" panose="020F0502020204030204" pitchFamily="34" charset="0"/>
                          <a:ea typeface="Arial"/>
                        </a:rPr>
                        <a:t>890.79</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860.89</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805027192"/>
                  </a:ext>
                </a:extLst>
              </a:tr>
              <a:tr h="134704">
                <a:tc>
                  <a:txBody>
                    <a:bodyPr/>
                    <a:lstStyle/>
                    <a:p>
                      <a:pPr algn="ctr" eaLnBrk="1" fontAlgn="ctr" latinLnBrk="0"/>
                      <a:r>
                        <a:rPr lang="en-US" sz="800" b="0" i="0" u="none" strike="noStrike">
                          <a:solidFill>
                            <a:srgbClr val="000000"/>
                          </a:solidFill>
                          <a:effectLst/>
                          <a:latin typeface="Arial" panose="020F0502020204030204" pitchFamily="34" charset="0"/>
                          <a:ea typeface="Arial"/>
                        </a:rPr>
                        <a:t>948.47</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903.74</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12537219"/>
                  </a:ext>
                </a:extLst>
              </a:tr>
              <a:tr h="134704">
                <a:tc>
                  <a:txBody>
                    <a:bodyPr/>
                    <a:lstStyle/>
                    <a:p>
                      <a:pPr algn="ctr" eaLnBrk="1" fontAlgn="ctr" latinLnBrk="0"/>
                      <a:r>
                        <a:rPr lang="en-US" sz="800" b="0" i="0" u="none" strike="noStrike">
                          <a:solidFill>
                            <a:srgbClr val="000000"/>
                          </a:solidFill>
                          <a:effectLst/>
                          <a:latin typeface="Arial" panose="020F0502020204030204" pitchFamily="34" charset="0"/>
                          <a:ea typeface="Arial"/>
                        </a:rPr>
                        <a:t>926.02</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896.62</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500257526"/>
                  </a:ext>
                </a:extLst>
              </a:tr>
              <a:tr h="134704">
                <a:tc>
                  <a:txBody>
                    <a:bodyPr/>
                    <a:lstStyle/>
                    <a:p>
                      <a:pPr algn="ctr" eaLnBrk="1" fontAlgn="ctr" latinLnBrk="0"/>
                      <a:r>
                        <a:rPr lang="en-US" sz="800" b="0" i="0" u="none" strike="noStrike">
                          <a:solidFill>
                            <a:srgbClr val="000000"/>
                          </a:solidFill>
                          <a:effectLst/>
                          <a:latin typeface="Arial" panose="020F0502020204030204" pitchFamily="34" charset="0"/>
                          <a:ea typeface="Arial"/>
                        </a:rPr>
                        <a:t>944.05</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932.64</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7800843"/>
                  </a:ext>
                </a:extLst>
              </a:tr>
              <a:tr h="134704">
                <a:tc>
                  <a:txBody>
                    <a:bodyPr/>
                    <a:lstStyle/>
                    <a:p>
                      <a:pPr algn="ctr" eaLnBrk="1" fontAlgn="ctr" latinLnBrk="0"/>
                      <a:r>
                        <a:rPr lang="en-US" sz="800" b="0" i="0" u="none" strike="noStrike">
                          <a:solidFill>
                            <a:srgbClr val="000000"/>
                          </a:solidFill>
                          <a:effectLst/>
                          <a:latin typeface="Arial" panose="020F0502020204030204" pitchFamily="34" charset="0"/>
                          <a:ea typeface="Arial"/>
                        </a:rPr>
                        <a:t>928.50</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933.35</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797560542"/>
                  </a:ext>
                </a:extLst>
              </a:tr>
              <a:tr h="134704">
                <a:tc>
                  <a:txBody>
                    <a:bodyPr/>
                    <a:lstStyle/>
                    <a:p>
                      <a:pPr algn="ctr" eaLnBrk="1" fontAlgn="ctr" latinLnBrk="0"/>
                      <a:r>
                        <a:rPr lang="en-US" sz="800" b="0" i="0" u="none" strike="noStrike" dirty="0">
                          <a:solidFill>
                            <a:srgbClr val="000000"/>
                          </a:solidFill>
                          <a:effectLst/>
                          <a:latin typeface="Arial" panose="020F0502020204030204" pitchFamily="34" charset="0"/>
                          <a:ea typeface="Arial"/>
                        </a:rPr>
                        <a:t>906.05</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901.82</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831125240"/>
                  </a:ext>
                </a:extLst>
              </a:tr>
              <a:tr h="134704">
                <a:tc>
                  <a:txBody>
                    <a:bodyPr/>
                    <a:lstStyle/>
                    <a:p>
                      <a:pPr algn="ctr" eaLnBrk="1" fontAlgn="ctr" latinLnBrk="0"/>
                      <a:r>
                        <a:rPr lang="en-US" sz="800" b="0" i="0" u="none" strike="noStrike">
                          <a:solidFill>
                            <a:srgbClr val="000000"/>
                          </a:solidFill>
                          <a:effectLst/>
                          <a:latin typeface="Arial" panose="020F0502020204030204" pitchFamily="34" charset="0"/>
                          <a:ea typeface="Arial"/>
                        </a:rPr>
                        <a:t>924.20</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838.91</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327217688"/>
                  </a:ext>
                </a:extLst>
              </a:tr>
              <a:tr h="134704">
                <a:tc>
                  <a:txBody>
                    <a:bodyPr/>
                    <a:lstStyle/>
                    <a:p>
                      <a:pPr algn="ctr" eaLnBrk="1" fontAlgn="ctr" latinLnBrk="0"/>
                      <a:r>
                        <a:rPr lang="en-US" sz="800" b="0" i="0" u="none" strike="noStrike">
                          <a:solidFill>
                            <a:srgbClr val="000000"/>
                          </a:solidFill>
                          <a:effectLst/>
                          <a:latin typeface="Arial" panose="020F0502020204030204" pitchFamily="34" charset="0"/>
                          <a:ea typeface="Arial"/>
                        </a:rPr>
                        <a:t>878.30</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869.70</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184031932"/>
                  </a:ext>
                </a:extLst>
              </a:tr>
              <a:tr h="134704">
                <a:tc>
                  <a:txBody>
                    <a:bodyPr/>
                    <a:lstStyle/>
                    <a:p>
                      <a:pPr algn="ctr" eaLnBrk="1" fontAlgn="ctr" latinLnBrk="0"/>
                      <a:r>
                        <a:rPr lang="en-US" sz="800" b="0" i="0" u="none" strike="noStrike">
                          <a:solidFill>
                            <a:srgbClr val="000000"/>
                          </a:solidFill>
                          <a:effectLst/>
                          <a:latin typeface="Arial" panose="020F0502020204030204" pitchFamily="34" charset="0"/>
                          <a:ea typeface="Arial"/>
                        </a:rPr>
                        <a:t>932.50</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903.21</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863890717"/>
                  </a:ext>
                </a:extLst>
              </a:tr>
              <a:tr h="134704">
                <a:tc>
                  <a:txBody>
                    <a:bodyPr/>
                    <a:lstStyle/>
                    <a:p>
                      <a:pPr algn="ctr" eaLnBrk="1" fontAlgn="ctr" latinLnBrk="0"/>
                      <a:r>
                        <a:rPr lang="en-US" sz="800" b="0" i="0" u="none" strike="noStrike">
                          <a:solidFill>
                            <a:srgbClr val="000000"/>
                          </a:solidFill>
                          <a:effectLst/>
                          <a:latin typeface="Arial" panose="020F0502020204030204" pitchFamily="34" charset="0"/>
                          <a:ea typeface="Arial"/>
                        </a:rPr>
                        <a:t>941.38</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dirty="0">
                          <a:solidFill>
                            <a:srgbClr val="000000"/>
                          </a:solidFill>
                          <a:effectLst/>
                          <a:latin typeface="Arial" panose="020F0502020204030204" pitchFamily="34" charset="0"/>
                          <a:ea typeface="Arial"/>
                        </a:rPr>
                        <a:t>919.98</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870850763"/>
                  </a:ext>
                </a:extLst>
              </a:tr>
            </a:tbl>
          </a:graphicData>
        </a:graphic>
      </p:graphicFrame>
      <p:pic>
        <p:nvPicPr>
          <p:cNvPr id="5" name="Picture 4">
            <a:extLst>
              <a:ext uri="{FF2B5EF4-FFF2-40B4-BE49-F238E27FC236}">
                <a16:creationId xmlns:a16="http://schemas.microsoft.com/office/drawing/2014/main" id="{32634A20-0F4B-48F7-A961-2452DB4CD82E}"/>
              </a:ext>
            </a:extLst>
          </p:cNvPr>
          <p:cNvPicPr>
            <a:picLocks noChangeAspect="1"/>
          </p:cNvPicPr>
          <p:nvPr/>
        </p:nvPicPr>
        <p:blipFill>
          <a:blip r:embed="rId4"/>
          <a:stretch>
            <a:fillRect/>
          </a:stretch>
        </p:blipFill>
        <p:spPr>
          <a:xfrm>
            <a:off x="5971827" y="1077174"/>
            <a:ext cx="3182589" cy="2162982"/>
          </a:xfrm>
          <a:prstGeom prst="rect">
            <a:avLst/>
          </a:prstGeom>
        </p:spPr>
      </p:pic>
      <p:pic>
        <p:nvPicPr>
          <p:cNvPr id="9" name="Picture 8">
            <a:extLst>
              <a:ext uri="{FF2B5EF4-FFF2-40B4-BE49-F238E27FC236}">
                <a16:creationId xmlns:a16="http://schemas.microsoft.com/office/drawing/2014/main" id="{E750542D-191C-4C67-9DBF-9C0B275A9FD3}"/>
              </a:ext>
            </a:extLst>
          </p:cNvPr>
          <p:cNvPicPr>
            <a:picLocks noChangeAspect="1"/>
          </p:cNvPicPr>
          <p:nvPr/>
        </p:nvPicPr>
        <p:blipFill>
          <a:blip r:embed="rId5"/>
          <a:stretch>
            <a:fillRect/>
          </a:stretch>
        </p:blipFill>
        <p:spPr>
          <a:xfrm>
            <a:off x="5984248" y="3289525"/>
            <a:ext cx="3084791" cy="2091188"/>
          </a:xfrm>
          <a:prstGeom prst="rect">
            <a:avLst/>
          </a:prstGeom>
        </p:spPr>
      </p:pic>
      <p:cxnSp>
        <p:nvCxnSpPr>
          <p:cNvPr id="16" name="Straight Connector 15">
            <a:extLst>
              <a:ext uri="{FF2B5EF4-FFF2-40B4-BE49-F238E27FC236}">
                <a16:creationId xmlns:a16="http://schemas.microsoft.com/office/drawing/2014/main" id="{E4C20D42-CB99-42D8-B193-D16FD5EB9FCB}"/>
              </a:ext>
            </a:extLst>
          </p:cNvPr>
          <p:cNvCxnSpPr/>
          <p:nvPr/>
        </p:nvCxnSpPr>
        <p:spPr>
          <a:xfrm>
            <a:off x="0" y="508838"/>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9614339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제목 1"/>
          <p:cNvSpPr txBox="1">
            <a:spLocks/>
          </p:cNvSpPr>
          <p:nvPr/>
        </p:nvSpPr>
        <p:spPr>
          <a:xfrm>
            <a:off x="67838" y="109779"/>
            <a:ext cx="4483810" cy="418058"/>
          </a:xfrm>
          <a:prstGeom prst="rect">
            <a:avLst/>
          </a:prstGeom>
        </p:spPr>
        <p:txBody>
          <a:bodyPr vert="horz" lIns="91440" tIns="45720" rIns="91440" bIns="45720" rtlCol="0" anchor="ctr">
            <a:normAutofit/>
          </a:bodyPr>
          <a:lstStyle/>
          <a:p>
            <a:pPr lvl="0" eaLnBrk="1" latinLnBrk="0" hangingPunct="0">
              <a:defRPr/>
            </a:pPr>
            <a:r>
              <a:rPr lang="en-US" altLang="ko-KR" sz="1600" b="1" kern="0" dirty="0">
                <a:latin typeface="Arial Narrow" panose="020B0606020202030204" pitchFamily="34" charset="0"/>
                <a:ea typeface="Arial Unicode MS" panose="020B0604020202020204" pitchFamily="34" charset="-128"/>
                <a:cs typeface="Arial" panose="020B0604020202020204" pitchFamily="34" charset="0"/>
              </a:rPr>
              <a:t>2.4</a:t>
            </a:r>
            <a:r>
              <a:rPr kumimoji="1" lang="en-US" altLang="ko-KR" sz="1600" b="1" i="0" u="none" strike="noStrike" kern="0" cap="none" spc="0" normalizeH="0" baseline="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rPr>
              <a:t> </a:t>
            </a:r>
            <a:r>
              <a:rPr lang="en-US" altLang="ko-KR" sz="1600" b="1" kern="0" dirty="0">
                <a:latin typeface="Arial Narrow" panose="020B0606020202030204" pitchFamily="34" charset="0"/>
                <a:ea typeface="Arial Unicode MS" panose="020B0604020202020204" pitchFamily="34" charset="-128"/>
                <a:cs typeface="Arial" panose="020B0604020202020204" pitchFamily="34" charset="0"/>
              </a:rPr>
              <a:t>Type 3 Study</a:t>
            </a:r>
            <a:endParaRPr kumimoji="1" lang="ko-KR" altLang="en-US" sz="1600" b="1" i="0" u="none" strike="noStrike" kern="0" cap="none" spc="0" normalizeH="0" baseline="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endParaRPr>
          </a:p>
        </p:txBody>
      </p:sp>
      <p:sp>
        <p:nvSpPr>
          <p:cNvPr id="35" name="Slide Number Placeholder 4">
            <a:extLst>
              <a:ext uri="{FF2B5EF4-FFF2-40B4-BE49-F238E27FC236}">
                <a16:creationId xmlns:a16="http://schemas.microsoft.com/office/drawing/2014/main" id="{E1439F5B-C230-4AA8-8439-28EEED666496}"/>
              </a:ext>
            </a:extLst>
          </p:cNvPr>
          <p:cNvSpPr>
            <a:spLocks noGrp="1"/>
          </p:cNvSpPr>
          <p:nvPr>
            <p:ph type="sldNum" sz="quarter" idx="12"/>
          </p:nvPr>
        </p:nvSpPr>
        <p:spPr>
          <a:xfrm>
            <a:off x="3700326" y="6643499"/>
            <a:ext cx="2133600" cy="198047"/>
          </a:xfrm>
        </p:spPr>
        <p:txBody>
          <a:bodyPr/>
          <a:lstStyle/>
          <a:p>
            <a:pPr algn="ctr" eaLnBrk="1" latinLnBrk="0"/>
            <a:r>
              <a:rPr sz="1000" b="0">
                <a:latin typeface="Arial"/>
              </a:rPr>
              <a:t>10 / 33</a:t>
            </a:r>
            <a:endParaRPr lang="ko-KR" altLang="en-US" sz="1200" dirty="0">
              <a:solidFill>
                <a:prstClr val="black">
                  <a:tint val="75000"/>
                </a:prstClr>
              </a:solidFill>
              <a:latin typeface="Arial" panose="020B0604020202020204" pitchFamily="34" charset="0"/>
              <a:ea typeface="Arial Unicode MS" panose="020B0604020202020204" pitchFamily="34" charset="-128"/>
              <a:cs typeface="Arial" panose="020B0604020202020204" pitchFamily="34" charset="0"/>
            </a:endParaRPr>
          </a:p>
        </p:txBody>
      </p:sp>
      <p:sp>
        <p:nvSpPr>
          <p:cNvPr id="20" name="AutoShape 55">
            <a:extLst>
              <a:ext uri="{FF2B5EF4-FFF2-40B4-BE49-F238E27FC236}">
                <a16:creationId xmlns:a16="http://schemas.microsoft.com/office/drawing/2014/main" id="{E3DAE121-5AD2-49F1-8C9B-011C4117CD97}"/>
              </a:ext>
            </a:extLst>
          </p:cNvPr>
          <p:cNvSpPr>
            <a:spLocks noChangeArrowheads="1"/>
          </p:cNvSpPr>
          <p:nvPr/>
        </p:nvSpPr>
        <p:spPr bwMode="auto">
          <a:xfrm>
            <a:off x="9069039" y="178989"/>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Control</a:t>
            </a:r>
          </a:p>
        </p:txBody>
      </p:sp>
      <p:sp>
        <p:nvSpPr>
          <p:cNvPr id="21" name="AutoShape 56">
            <a:extLst>
              <a:ext uri="{FF2B5EF4-FFF2-40B4-BE49-F238E27FC236}">
                <a16:creationId xmlns:a16="http://schemas.microsoft.com/office/drawing/2014/main" id="{9D6E827F-BC62-4468-AC57-473EDAD1789F}"/>
              </a:ext>
            </a:extLst>
          </p:cNvPr>
          <p:cNvSpPr>
            <a:spLocks noChangeArrowheads="1"/>
          </p:cNvSpPr>
          <p:nvPr/>
        </p:nvSpPr>
        <p:spPr bwMode="auto">
          <a:xfrm>
            <a:off x="8380064" y="178989"/>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solidFill>
                  <a:schemeClr val="tx1"/>
                </a:solidFill>
                <a:latin typeface="Arial Narrow" panose="020B0606020202030204" pitchFamily="34" charset="0"/>
                <a:ea typeface="Arial" panose="020B0503020000020004" pitchFamily="50" charset="-127"/>
              </a:rPr>
              <a:t>Improve</a:t>
            </a:r>
          </a:p>
        </p:txBody>
      </p:sp>
      <p:sp>
        <p:nvSpPr>
          <p:cNvPr id="24" name="AutoShape 57">
            <a:extLst>
              <a:ext uri="{FF2B5EF4-FFF2-40B4-BE49-F238E27FC236}">
                <a16:creationId xmlns:a16="http://schemas.microsoft.com/office/drawing/2014/main" id="{CDE404C8-5FE3-476D-883D-70260B05B14E}"/>
              </a:ext>
            </a:extLst>
          </p:cNvPr>
          <p:cNvSpPr>
            <a:spLocks noChangeArrowheads="1"/>
          </p:cNvSpPr>
          <p:nvPr/>
        </p:nvSpPr>
        <p:spPr bwMode="auto">
          <a:xfrm>
            <a:off x="7687914" y="178989"/>
            <a:ext cx="749300" cy="287338"/>
          </a:xfrm>
          <a:prstGeom prst="homePlate">
            <a:avLst>
              <a:gd name="adj" fmla="val 46698"/>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Analyze</a:t>
            </a:r>
          </a:p>
        </p:txBody>
      </p:sp>
      <p:sp>
        <p:nvSpPr>
          <p:cNvPr id="25" name="AutoShape 59">
            <a:extLst>
              <a:ext uri="{FF2B5EF4-FFF2-40B4-BE49-F238E27FC236}">
                <a16:creationId xmlns:a16="http://schemas.microsoft.com/office/drawing/2014/main" id="{2E017168-4B5F-472C-9136-DA4C365BB2EA}"/>
              </a:ext>
            </a:extLst>
          </p:cNvPr>
          <p:cNvSpPr>
            <a:spLocks noChangeArrowheads="1"/>
          </p:cNvSpPr>
          <p:nvPr/>
        </p:nvSpPr>
        <p:spPr bwMode="auto">
          <a:xfrm>
            <a:off x="6319489" y="178989"/>
            <a:ext cx="757238" cy="287338"/>
          </a:xfrm>
          <a:prstGeom prst="homePlate">
            <a:avLst>
              <a:gd name="adj" fmla="val 47192"/>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Define</a:t>
            </a:r>
          </a:p>
        </p:txBody>
      </p:sp>
      <p:sp>
        <p:nvSpPr>
          <p:cNvPr id="26" name="AutoShape 58">
            <a:extLst>
              <a:ext uri="{FF2B5EF4-FFF2-40B4-BE49-F238E27FC236}">
                <a16:creationId xmlns:a16="http://schemas.microsoft.com/office/drawing/2014/main" id="{FFE55166-9E75-45B0-AF8E-9D9225BE05E2}"/>
              </a:ext>
            </a:extLst>
          </p:cNvPr>
          <p:cNvSpPr>
            <a:spLocks noChangeArrowheads="1"/>
          </p:cNvSpPr>
          <p:nvPr/>
        </p:nvSpPr>
        <p:spPr bwMode="auto">
          <a:xfrm>
            <a:off x="7016402" y="34527"/>
            <a:ext cx="747712" cy="287337"/>
          </a:xfrm>
          <a:prstGeom prst="homePlate">
            <a:avLst>
              <a:gd name="adj" fmla="val 46599"/>
            </a:avLst>
          </a:prstGeom>
          <a:gradFill rotWithShape="1">
            <a:gsLst>
              <a:gs pos="0">
                <a:srgbClr val="494900"/>
              </a:gs>
              <a:gs pos="100000">
                <a:srgbClr val="808000"/>
              </a:gs>
            </a:gsLst>
            <a:lin ang="0" scaled="1"/>
          </a:gradFill>
          <a:ln w="6350" algn="ctr">
            <a:solidFill>
              <a:srgbClr val="808080"/>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latin typeface="Arial Narrow" panose="020B0606020202030204" pitchFamily="34" charset="0"/>
                <a:ea typeface="Arial" panose="020B0503020000020004" pitchFamily="50" charset="-127"/>
              </a:rPr>
              <a:t>Measure </a:t>
            </a:r>
          </a:p>
        </p:txBody>
      </p:sp>
      <p:sp>
        <p:nvSpPr>
          <p:cNvPr id="4" name="Rectangle 3">
            <a:extLst>
              <a:ext uri="{FF2B5EF4-FFF2-40B4-BE49-F238E27FC236}">
                <a16:creationId xmlns:a16="http://schemas.microsoft.com/office/drawing/2014/main" id="{48934BF3-CC0B-450B-ACCE-8B259B73DAE4}"/>
              </a:ext>
            </a:extLst>
          </p:cNvPr>
          <p:cNvSpPr/>
          <p:nvPr/>
        </p:nvSpPr>
        <p:spPr>
          <a:xfrm>
            <a:off x="179294" y="1429017"/>
            <a:ext cx="1765227" cy="261610"/>
          </a:xfrm>
          <a:prstGeom prst="rect">
            <a:avLst/>
          </a:prstGeom>
        </p:spPr>
        <p:txBody>
          <a:bodyPr wrap="none">
            <a:noAutofit/>
          </a:bodyPr>
          <a:lstStyle/>
          <a:p>
            <a:pPr eaLnBrk="1" latinLnBrk="0"/>
            <a:r>
              <a:rPr lang="en-US" sz="1000" dirty="0">
                <a:latin typeface="Arial" panose="020B0604020202020204" pitchFamily="34" charset="0"/>
                <a:ea typeface="Arial Unicode MS" panose="020B0604020202020204" pitchFamily="34" charset="-128"/>
                <a:cs typeface="Arial" panose="020B0604020202020204" pitchFamily="34" charset="0"/>
              </a:rPr>
              <a:t>Spec: 800- 2000 (Cd/m2)</a:t>
            </a:r>
            <a:endParaRPr lang="en-US" sz="1100" dirty="0"/>
          </a:p>
        </p:txBody>
      </p:sp>
      <p:sp>
        <p:nvSpPr>
          <p:cNvPr id="19" name="TextBox 18">
            <a:extLst>
              <a:ext uri="{FF2B5EF4-FFF2-40B4-BE49-F238E27FC236}">
                <a16:creationId xmlns:a16="http://schemas.microsoft.com/office/drawing/2014/main" id="{FE0BCEBF-7305-42B3-B115-08C7954FB69C}"/>
              </a:ext>
            </a:extLst>
          </p:cNvPr>
          <p:cNvSpPr txBox="1"/>
          <p:nvPr/>
        </p:nvSpPr>
        <p:spPr>
          <a:xfrm>
            <a:off x="49365" y="554971"/>
            <a:ext cx="2070352" cy="276999"/>
          </a:xfrm>
          <a:prstGeom prst="rect">
            <a:avLst/>
          </a:prstGeom>
          <a:noFill/>
        </p:spPr>
        <p:txBody>
          <a:bodyPr wrap="square" rtlCol="0">
            <a:noAutofit/>
          </a:bodyPr>
          <a:lstStyle/>
          <a:p>
            <a:pPr marL="171450" indent="-171450" eaLnBrk="1" latinLnBrk="0">
              <a:buFont typeface="Wingdings" panose="05000000000000000000" pitchFamily="2" charset="2"/>
              <a:buChar char="q"/>
            </a:pPr>
            <a:r>
              <a:rPr lang="vi-VN" sz="1000" b="1" dirty="0">
                <a:latin typeface="Arial" panose="020B0604020202020204" pitchFamily="34" charset="0"/>
                <a:ea typeface="Arial Unicode MS" panose="020B0604020202020204" pitchFamily="34" charset="-128"/>
                <a:cs typeface="Arial" panose="020B0604020202020204" pitchFamily="34" charset="0"/>
              </a:rPr>
              <a:t>Station </a:t>
            </a:r>
            <a:r>
              <a:rPr lang="en-US" sz="1000" b="1" dirty="0">
                <a:latin typeface="Arial" panose="020B0604020202020204" pitchFamily="34" charset="0"/>
                <a:ea typeface="Arial Unicode MS" panose="020B0604020202020204" pitchFamily="34" charset="-128"/>
                <a:cs typeface="Arial" panose="020B0604020202020204" pitchFamily="34" charset="0"/>
              </a:rPr>
              <a:t>2 Luminance</a:t>
            </a:r>
          </a:p>
        </p:txBody>
      </p:sp>
      <p:sp>
        <p:nvSpPr>
          <p:cNvPr id="16" name="TextBox 15">
            <a:extLst>
              <a:ext uri="{FF2B5EF4-FFF2-40B4-BE49-F238E27FC236}">
                <a16:creationId xmlns:a16="http://schemas.microsoft.com/office/drawing/2014/main" id="{424CE4AD-BCCA-49E0-A50B-E95635AC090C}"/>
              </a:ext>
            </a:extLst>
          </p:cNvPr>
          <p:cNvSpPr txBox="1"/>
          <p:nvPr/>
        </p:nvSpPr>
        <p:spPr>
          <a:xfrm>
            <a:off x="67838" y="867970"/>
            <a:ext cx="9281571" cy="525047"/>
          </a:xfrm>
          <a:prstGeom prst="rect">
            <a:avLst/>
          </a:prstGeom>
          <a:noFill/>
        </p:spPr>
        <p:txBody>
          <a:bodyPr wrap="square" rtlCol="0">
            <a:noAutofit/>
          </a:bodyPr>
          <a:lstStyle/>
          <a:p>
            <a:pPr eaLnBrk="1" latinLnBrk="0"/>
            <a:r>
              <a:rPr lang="en-US" sz="1000" dirty="0">
                <a:latin typeface="Arial" panose="020B0604020202020204" pitchFamily="34" charset="0"/>
                <a:ea typeface="Arial Unicode MS" panose="020B0604020202020204" pitchFamily="34" charset="-128"/>
                <a:cs typeface="Arial" panose="020B0604020202020204" pitchFamily="34" charset="0"/>
              </a:rPr>
              <a:t>Need to evaluate the repeatability of the measurement system. </a:t>
            </a:r>
          </a:p>
          <a:p>
            <a:pPr eaLnBrk="1" latinLnBrk="0"/>
            <a:r>
              <a:rPr sz="1000" b="0">
                <a:latin typeface="Arial"/>
              </a:rPr>
              <a:t>Because the Luminance station is fully automated with no operator influence, Type 3 Gage Study is used to evaluate equipment repeatability.</a:t>
            </a:r>
          </a:p>
          <a:p>
            <a:pPr eaLnBrk="1" latinLnBrk="0"/>
            <a:r>
              <a:rPr lang="en-US" sz="1000" dirty="0">
                <a:latin typeface="Arial" panose="020B0604020202020204" pitchFamily="34" charset="0"/>
                <a:ea typeface="Arial Unicode MS" panose="020B0604020202020204" pitchFamily="34" charset="-128"/>
                <a:cs typeface="Arial" panose="020B0604020202020204" pitchFamily="34" charset="0"/>
              </a:rPr>
              <a:t>In type 3 study, use 25 samples to verify station, each sample is measured repeat 2 times.</a:t>
            </a:r>
          </a:p>
        </p:txBody>
      </p:sp>
      <p:graphicFrame>
        <p:nvGraphicFramePr>
          <p:cNvPr id="5" name="Table 4">
            <a:extLst>
              <a:ext uri="{FF2B5EF4-FFF2-40B4-BE49-F238E27FC236}">
                <a16:creationId xmlns:a16="http://schemas.microsoft.com/office/drawing/2014/main" id="{B177F281-A5EB-4A9B-8F2B-81AE0B6EDB3C}"/>
              </a:ext>
            </a:extLst>
          </p:cNvPr>
          <p:cNvGraphicFramePr>
            <a:graphicFrameLocks noGrp="1"/>
          </p:cNvGraphicFramePr>
          <p:nvPr>
            <p:extLst>
              <p:ext uri="{D42A27DB-BD31-4B8C-83A1-F6EECF244321}">
                <p14:modId xmlns:p14="http://schemas.microsoft.com/office/powerpoint/2010/main" val="3322818604"/>
              </p:ext>
            </p:extLst>
          </p:nvPr>
        </p:nvGraphicFramePr>
        <p:xfrm>
          <a:off x="169589" y="1655916"/>
          <a:ext cx="2330040" cy="4516281"/>
        </p:xfrm>
        <a:graphic>
          <a:graphicData uri="http://schemas.openxmlformats.org/drawingml/2006/table">
            <a:tbl>
              <a:tblPr/>
              <a:tblGrid>
                <a:gridCol w="582510">
                  <a:extLst>
                    <a:ext uri="{9D8B030D-6E8A-4147-A177-3AD203B41FA5}">
                      <a16:colId xmlns:a16="http://schemas.microsoft.com/office/drawing/2014/main" val="2099896177"/>
                    </a:ext>
                  </a:extLst>
                </a:gridCol>
                <a:gridCol w="582510">
                  <a:extLst>
                    <a:ext uri="{9D8B030D-6E8A-4147-A177-3AD203B41FA5}">
                      <a16:colId xmlns:a16="http://schemas.microsoft.com/office/drawing/2014/main" val="1074729442"/>
                    </a:ext>
                  </a:extLst>
                </a:gridCol>
                <a:gridCol w="582510">
                  <a:extLst>
                    <a:ext uri="{9D8B030D-6E8A-4147-A177-3AD203B41FA5}">
                      <a16:colId xmlns:a16="http://schemas.microsoft.com/office/drawing/2014/main" val="3326624257"/>
                    </a:ext>
                  </a:extLst>
                </a:gridCol>
                <a:gridCol w="582510">
                  <a:extLst>
                    <a:ext uri="{9D8B030D-6E8A-4147-A177-3AD203B41FA5}">
                      <a16:colId xmlns:a16="http://schemas.microsoft.com/office/drawing/2014/main" val="2970423013"/>
                    </a:ext>
                  </a:extLst>
                </a:gridCol>
              </a:tblGrid>
              <a:tr h="148506">
                <a:tc>
                  <a:txBody>
                    <a:bodyPr/>
                    <a:lstStyle/>
                    <a:p>
                      <a:pPr algn="ctr" rtl="0" eaLnBrk="1" fontAlgn="ctr" latinLnBrk="0"/>
                      <a:r>
                        <a:rPr lang="en-US" sz="800" b="1" i="0" u="none" strike="noStrike">
                          <a:solidFill>
                            <a:srgbClr val="000000"/>
                          </a:solidFill>
                          <a:effectLst/>
                          <a:latin typeface="Arial" panose="020B0604020202020204" pitchFamily="34" charset="0"/>
                        </a:rPr>
                        <a:t>No</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tc>
                  <a:txBody>
                    <a:bodyPr/>
                    <a:lstStyle/>
                    <a:p>
                      <a:pPr algn="ctr" rtl="0" eaLnBrk="1" fontAlgn="ctr" latinLnBrk="0"/>
                      <a:r>
                        <a:rPr lang="en-US" sz="800" b="1" i="0" u="none" strike="noStrike">
                          <a:solidFill>
                            <a:srgbClr val="000000"/>
                          </a:solidFill>
                          <a:effectLst/>
                          <a:latin typeface="Arial" panose="020B0604020202020204" pitchFamily="34" charset="0"/>
                        </a:rPr>
                        <a:t>Data</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tc>
                  <a:txBody>
                    <a:bodyPr/>
                    <a:lstStyle/>
                    <a:p>
                      <a:pPr algn="ctr" rtl="0" eaLnBrk="1" fontAlgn="ctr" latinLnBrk="0"/>
                      <a:r>
                        <a:rPr lang="en-US" sz="800" b="1" i="0" u="none" strike="noStrike">
                          <a:solidFill>
                            <a:srgbClr val="000000"/>
                          </a:solidFill>
                          <a:effectLst/>
                          <a:latin typeface="Arial" panose="020B0604020202020204" pitchFamily="34" charset="0"/>
                        </a:rPr>
                        <a:t>No</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tc>
                  <a:txBody>
                    <a:bodyPr/>
                    <a:lstStyle/>
                    <a:p>
                      <a:pPr algn="ctr" rtl="0" eaLnBrk="1" fontAlgn="ctr" latinLnBrk="0"/>
                      <a:r>
                        <a:rPr lang="en-US" sz="800" b="1" i="0" u="none" strike="noStrike">
                          <a:solidFill>
                            <a:srgbClr val="000000"/>
                          </a:solidFill>
                          <a:effectLst/>
                          <a:latin typeface="Arial" panose="020B0604020202020204" pitchFamily="34" charset="0"/>
                        </a:rPr>
                        <a:t>Data</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extLst>
                  <a:ext uri="{0D108BD9-81ED-4DB2-BD59-A6C34878D82A}">
                    <a16:rowId xmlns:a16="http://schemas.microsoft.com/office/drawing/2014/main" val="1390625296"/>
                  </a:ext>
                </a:extLst>
              </a:tr>
              <a:tr h="174711">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1</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796.95</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13</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837.73</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89854035"/>
                  </a:ext>
                </a:extLst>
              </a:tr>
              <a:tr h="174711">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786.61</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14</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811.78</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931343685"/>
                  </a:ext>
                </a:extLst>
              </a:tr>
              <a:tr h="174711">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794.73</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14</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833.46</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059857023"/>
                  </a:ext>
                </a:extLst>
              </a:tr>
              <a:tr h="174711">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796.58</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15</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836.42</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436114638"/>
                  </a:ext>
                </a:extLst>
              </a:tr>
              <a:tr h="174711">
                <a:tc>
                  <a:txBody>
                    <a:bodyPr/>
                    <a:lstStyle/>
                    <a:p>
                      <a:pPr algn="ctr" eaLnBrk="1" fontAlgn="ctr" latinLnBrk="0"/>
                      <a:r>
                        <a:rPr lang="en-US" sz="1000" b="0" i="0" u="none" strike="noStrike">
                          <a:solidFill>
                            <a:srgbClr val="000000"/>
                          </a:solidFill>
                          <a:effectLst/>
                          <a:latin typeface="Arial" panose="020F0502020204030204" pitchFamily="34" charset="0"/>
                          <a:ea typeface="Arial"/>
                        </a:rPr>
                        <a:t>3</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838.61</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15</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837.85</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592496341"/>
                  </a:ext>
                </a:extLst>
              </a:tr>
              <a:tr h="174711">
                <a:tc>
                  <a:txBody>
                    <a:bodyPr/>
                    <a:lstStyle/>
                    <a:p>
                      <a:pPr algn="ctr" eaLnBrk="1" fontAlgn="ctr" latinLnBrk="0"/>
                      <a:r>
                        <a:rPr lang="en-US" sz="1000" b="0" i="0" u="none" strike="noStrike">
                          <a:solidFill>
                            <a:srgbClr val="000000"/>
                          </a:solidFill>
                          <a:effectLst/>
                          <a:latin typeface="Arial" panose="020F0502020204030204" pitchFamily="34" charset="0"/>
                          <a:ea typeface="Arial"/>
                        </a:rPr>
                        <a:t>3</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839.58</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16</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817.70</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775333353"/>
                  </a:ext>
                </a:extLst>
              </a:tr>
              <a:tr h="174711">
                <a:tc>
                  <a:txBody>
                    <a:bodyPr/>
                    <a:lstStyle/>
                    <a:p>
                      <a:pPr algn="ctr" eaLnBrk="1" fontAlgn="ctr" latinLnBrk="0"/>
                      <a:r>
                        <a:rPr lang="en-US" sz="1000" b="0" i="0" u="none" strike="noStrike">
                          <a:solidFill>
                            <a:srgbClr val="000000"/>
                          </a:solidFill>
                          <a:effectLst/>
                          <a:latin typeface="Arial" panose="020F0502020204030204" pitchFamily="34" charset="0"/>
                          <a:ea typeface="Arial"/>
                        </a:rPr>
                        <a:t>4</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810.76</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16</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857.90</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603066934"/>
                  </a:ext>
                </a:extLst>
              </a:tr>
              <a:tr h="174711">
                <a:tc>
                  <a:txBody>
                    <a:bodyPr/>
                    <a:lstStyle/>
                    <a:p>
                      <a:pPr algn="ctr" eaLnBrk="1" fontAlgn="ctr" latinLnBrk="0"/>
                      <a:r>
                        <a:rPr lang="en-US" sz="1000" b="0" i="0" u="none" strike="noStrike">
                          <a:solidFill>
                            <a:srgbClr val="000000"/>
                          </a:solidFill>
                          <a:effectLst/>
                          <a:latin typeface="Arial" panose="020F0502020204030204" pitchFamily="34" charset="0"/>
                          <a:ea typeface="Arial"/>
                        </a:rPr>
                        <a:t>4</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830.05</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17</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837.17</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231478065"/>
                  </a:ext>
                </a:extLst>
              </a:tr>
              <a:tr h="174711">
                <a:tc>
                  <a:txBody>
                    <a:bodyPr/>
                    <a:lstStyle/>
                    <a:p>
                      <a:pPr algn="ctr" eaLnBrk="1" fontAlgn="ctr" latinLnBrk="0"/>
                      <a:r>
                        <a:rPr lang="en-US" sz="1000" b="0" i="0" u="none" strike="noStrike">
                          <a:solidFill>
                            <a:srgbClr val="000000"/>
                          </a:solidFill>
                          <a:effectLst/>
                          <a:latin typeface="Arial" panose="020F0502020204030204" pitchFamily="34" charset="0"/>
                          <a:ea typeface="Arial"/>
                        </a:rPr>
                        <a:t>5</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815.12</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17</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838.29</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713816260"/>
                  </a:ext>
                </a:extLst>
              </a:tr>
              <a:tr h="174711">
                <a:tc>
                  <a:txBody>
                    <a:bodyPr/>
                    <a:lstStyle/>
                    <a:p>
                      <a:pPr algn="ctr" eaLnBrk="1" fontAlgn="ctr" latinLnBrk="0"/>
                      <a:r>
                        <a:rPr lang="en-US" sz="1000" b="0" i="0" u="none" strike="noStrike">
                          <a:solidFill>
                            <a:srgbClr val="000000"/>
                          </a:solidFill>
                          <a:effectLst/>
                          <a:latin typeface="Arial" panose="020F0502020204030204" pitchFamily="34" charset="0"/>
                          <a:ea typeface="Arial"/>
                        </a:rPr>
                        <a:t>5</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835.75</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18</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828.88</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918845378"/>
                  </a:ext>
                </a:extLst>
              </a:tr>
              <a:tr h="174711">
                <a:tc>
                  <a:txBody>
                    <a:bodyPr/>
                    <a:lstStyle/>
                    <a:p>
                      <a:pPr algn="ctr" eaLnBrk="1" fontAlgn="ctr" latinLnBrk="0"/>
                      <a:r>
                        <a:rPr lang="en-US" sz="1000" b="0" i="0" u="none" strike="noStrike">
                          <a:solidFill>
                            <a:srgbClr val="000000"/>
                          </a:solidFill>
                          <a:effectLst/>
                          <a:latin typeface="Arial" panose="020F0502020204030204" pitchFamily="34" charset="0"/>
                          <a:ea typeface="Arial"/>
                        </a:rPr>
                        <a:t>6</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823.98</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18</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826.94</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2617241"/>
                  </a:ext>
                </a:extLst>
              </a:tr>
              <a:tr h="174711">
                <a:tc>
                  <a:txBody>
                    <a:bodyPr/>
                    <a:lstStyle/>
                    <a:p>
                      <a:pPr algn="ctr" eaLnBrk="1" fontAlgn="ctr" latinLnBrk="0"/>
                      <a:r>
                        <a:rPr lang="en-US" sz="1000" b="0" i="0" u="none" strike="noStrike">
                          <a:solidFill>
                            <a:srgbClr val="000000"/>
                          </a:solidFill>
                          <a:effectLst/>
                          <a:latin typeface="Arial" panose="020F0502020204030204" pitchFamily="34" charset="0"/>
                          <a:ea typeface="Arial"/>
                        </a:rPr>
                        <a:t>6</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834.57</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19</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840.14</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687381478"/>
                  </a:ext>
                </a:extLst>
              </a:tr>
              <a:tr h="174711">
                <a:tc>
                  <a:txBody>
                    <a:bodyPr/>
                    <a:lstStyle/>
                    <a:p>
                      <a:pPr algn="ctr" eaLnBrk="1" fontAlgn="ctr" latinLnBrk="0"/>
                      <a:r>
                        <a:rPr lang="en-US" sz="1000" b="0" i="0" u="none" strike="noStrike">
                          <a:solidFill>
                            <a:srgbClr val="000000"/>
                          </a:solidFill>
                          <a:effectLst/>
                          <a:latin typeface="Arial" panose="020F0502020204030204" pitchFamily="34" charset="0"/>
                          <a:ea typeface="Arial"/>
                        </a:rPr>
                        <a:t>7</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827.40</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19</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839.72</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605102378"/>
                  </a:ext>
                </a:extLst>
              </a:tr>
              <a:tr h="174711">
                <a:tc>
                  <a:txBody>
                    <a:bodyPr/>
                    <a:lstStyle/>
                    <a:p>
                      <a:pPr algn="ctr" eaLnBrk="1" fontAlgn="ctr" latinLnBrk="0"/>
                      <a:r>
                        <a:rPr lang="en-US" sz="1000" b="0" i="0" u="none" strike="noStrike">
                          <a:solidFill>
                            <a:srgbClr val="000000"/>
                          </a:solidFill>
                          <a:effectLst/>
                          <a:latin typeface="Arial" panose="020F0502020204030204" pitchFamily="34" charset="0"/>
                          <a:ea typeface="Arial"/>
                        </a:rPr>
                        <a:t>7</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827.69</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20</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830.75</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61610026"/>
                  </a:ext>
                </a:extLst>
              </a:tr>
              <a:tr h="174711">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839.12</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20</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830.78</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221586263"/>
                  </a:ext>
                </a:extLst>
              </a:tr>
              <a:tr h="174711">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835.42</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21</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823.24</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921476966"/>
                  </a:ext>
                </a:extLst>
              </a:tr>
              <a:tr h="174711">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839.73</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21</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826.32</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845727971"/>
                  </a:ext>
                </a:extLst>
              </a:tr>
              <a:tr h="174711">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842.06</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22</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825.35</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255129022"/>
                  </a:ext>
                </a:extLst>
              </a:tr>
              <a:tr h="174711">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10</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834.01</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22</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827.79</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235630667"/>
                  </a:ext>
                </a:extLst>
              </a:tr>
              <a:tr h="174711">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10</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834.48</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23</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838.87</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613080362"/>
                  </a:ext>
                </a:extLst>
              </a:tr>
              <a:tr h="174711">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11</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834.67</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23</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837.29</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758228352"/>
                  </a:ext>
                </a:extLst>
              </a:tr>
              <a:tr h="174711">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11</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836.61</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24</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850.33</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275533224"/>
                  </a:ext>
                </a:extLst>
              </a:tr>
              <a:tr h="174711">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12</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786.15</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24</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819.42</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508743622"/>
                  </a:ext>
                </a:extLst>
              </a:tr>
              <a:tr h="174711">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12</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780.77</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25</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755.89</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319111923"/>
                  </a:ext>
                </a:extLst>
              </a:tr>
              <a:tr h="174711">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13</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827.29</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25</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853.94</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572125278"/>
                  </a:ext>
                </a:extLst>
              </a:tr>
            </a:tbl>
          </a:graphicData>
        </a:graphic>
      </p:graphicFrame>
      <p:sp>
        <p:nvSpPr>
          <p:cNvPr id="32" name="TextBox 31">
            <a:extLst>
              <a:ext uri="{FF2B5EF4-FFF2-40B4-BE49-F238E27FC236}">
                <a16:creationId xmlns:a16="http://schemas.microsoft.com/office/drawing/2014/main" id="{7CF4679F-CC6C-45D5-90C5-B2C94D3F932D}"/>
              </a:ext>
            </a:extLst>
          </p:cNvPr>
          <p:cNvSpPr txBox="1"/>
          <p:nvPr/>
        </p:nvSpPr>
        <p:spPr>
          <a:xfrm>
            <a:off x="5875171" y="4953000"/>
            <a:ext cx="4030829" cy="830997"/>
          </a:xfrm>
          <a:prstGeom prst="rect">
            <a:avLst/>
          </a:prstGeom>
          <a:noFill/>
        </p:spPr>
        <p:txBody>
          <a:bodyPr wrap="square" rtlCol="0">
            <a:noAutofit/>
          </a:bodyPr>
          <a:lstStyle/>
          <a:p>
            <a:pPr marL="171450" indent="-171450" eaLnBrk="1" latinLnBrk="0">
              <a:buFont typeface="Arial" panose="020B0604020202020204" pitchFamily="34" charset="0"/>
              <a:buChar char="•"/>
            </a:pPr>
            <a:r>
              <a:rPr lang="en-US" sz="1000" dirty="0">
                <a:latin typeface="Arial" panose="020B0604020202020204" pitchFamily="34" charset="0"/>
                <a:ea typeface="Arial Unicode MS" panose="020B0604020202020204" pitchFamily="34" charset="-128"/>
                <a:cs typeface="Arial" panose="020B0604020202020204" pitchFamily="34" charset="0"/>
              </a:rPr>
              <a:t>% Contribution of Gage </a:t>
            </a:r>
            <a:r>
              <a:rPr lang="vi-VN" sz="1000" dirty="0">
                <a:latin typeface="Arial" panose="020B0604020202020204" pitchFamily="34" charset="0"/>
                <a:ea typeface="Arial Unicode MS" panose="020B0604020202020204" pitchFamily="34" charset="-128"/>
                <a:cs typeface="Arial" panose="020B0604020202020204" pitchFamily="34" charset="0"/>
              </a:rPr>
              <a:t>R&amp;R = 7</a:t>
            </a:r>
            <a:r>
              <a:rPr lang="en-US" sz="1000" dirty="0">
                <a:latin typeface="Arial" panose="020B0604020202020204" pitchFamily="34" charset="0"/>
                <a:ea typeface="Arial Unicode MS" panose="020B0604020202020204" pitchFamily="34" charset="-128"/>
                <a:cs typeface="Arial" panose="020B0604020202020204" pitchFamily="34" charset="0"/>
              </a:rPr>
              <a:t>1</a:t>
            </a:r>
            <a:r>
              <a:rPr lang="vi-VN" sz="1000" dirty="0">
                <a:latin typeface="Arial" panose="020B0604020202020204" pitchFamily="34" charset="0"/>
                <a:ea typeface="Arial Unicode MS" panose="020B0604020202020204" pitchFamily="34" charset="-128"/>
                <a:cs typeface="Arial" panose="020B0604020202020204" pitchFamily="34" charset="0"/>
              </a:rPr>
              <a:t>.</a:t>
            </a:r>
            <a:r>
              <a:rPr lang="en-US" sz="1000" dirty="0">
                <a:latin typeface="Arial" panose="020B0604020202020204" pitchFamily="34" charset="0"/>
                <a:ea typeface="Arial Unicode MS" panose="020B0604020202020204" pitchFamily="34" charset="-128"/>
                <a:cs typeface="Arial" panose="020B0604020202020204" pitchFamily="34" charset="0"/>
              </a:rPr>
              <a:t>56</a:t>
            </a:r>
            <a:r>
              <a:rPr lang="vi-VN" sz="1000" dirty="0">
                <a:latin typeface="Arial" panose="020B0604020202020204" pitchFamily="34" charset="0"/>
                <a:ea typeface="Arial Unicode MS" panose="020B0604020202020204" pitchFamily="34" charset="-128"/>
                <a:cs typeface="Arial" panose="020B0604020202020204" pitchFamily="34" charset="0"/>
              </a:rPr>
              <a:t>% &gt; 9% (std &lt; 1%) </a:t>
            </a:r>
            <a:r>
              <a:rPr lang="vi-VN" sz="1000" dirty="0">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rPr>
              <a:t>NG</a:t>
            </a:r>
          </a:p>
          <a:p>
            <a:pPr marL="171450" indent="-171450" eaLnBrk="1" latinLnBrk="0">
              <a:buFont typeface="Arial" panose="020B0604020202020204" pitchFamily="34" charset="0"/>
              <a:buChar char="•"/>
            </a:pPr>
            <a:r>
              <a:rPr lang="vi-VN" sz="1000" dirty="0">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rPr>
              <a:t>% Study Var = 8</a:t>
            </a:r>
            <a:r>
              <a:rPr lang="en-US" sz="1000" dirty="0">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rPr>
              <a:t>4.59</a:t>
            </a:r>
            <a:r>
              <a:rPr lang="vi-VN" sz="1000" dirty="0">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rPr>
              <a:t>%</a:t>
            </a:r>
            <a:r>
              <a:rPr lang="en-US" sz="1000" dirty="0">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rPr>
              <a:t> &gt; </a:t>
            </a:r>
            <a:r>
              <a:rPr lang="vi-VN" sz="1000" dirty="0">
                <a:latin typeface="Arial" panose="020B0604020202020204" pitchFamily="34" charset="0"/>
                <a:ea typeface="Arial Unicode MS" panose="020B0604020202020204" pitchFamily="34" charset="-128"/>
                <a:cs typeface="Arial" panose="020B0604020202020204" pitchFamily="34" charset="0"/>
              </a:rPr>
              <a:t>10%</a:t>
            </a:r>
            <a:r>
              <a:rPr lang="vi-VN" sz="1000" dirty="0">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rPr>
              <a:t>  NG</a:t>
            </a:r>
          </a:p>
          <a:p>
            <a:pPr marL="171450" indent="-171450" eaLnBrk="1" latinLnBrk="0">
              <a:buFont typeface="Arial" panose="020B0604020202020204" pitchFamily="34" charset="0"/>
              <a:buChar char="•"/>
            </a:pPr>
            <a:r>
              <a:rPr lang="en-US" sz="1000" dirty="0">
                <a:latin typeface="Arial" panose="020B0604020202020204" pitchFamily="34" charset="0"/>
                <a:ea typeface="Arial Unicode MS" panose="020B0604020202020204" pitchFamily="34" charset="-128"/>
                <a:cs typeface="Arial" panose="020B0604020202020204" pitchFamily="34" charset="0"/>
                <a:sym typeface="Wingdings" pitchFamily="2" charset="2"/>
              </a:rPr>
              <a:t>% Tolerance = 8.33% &lt; 10% </a:t>
            </a:r>
            <a:r>
              <a:rPr lang="vi-VN" sz="1000" dirty="0">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rPr>
              <a:t></a:t>
            </a:r>
            <a:r>
              <a:rPr lang="en-US" sz="1000" dirty="0">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rPr>
              <a:t> OK</a:t>
            </a:r>
          </a:p>
          <a:p>
            <a:pPr marL="171450" indent="-171450" eaLnBrk="1" latinLnBrk="0">
              <a:buFont typeface="Arial" panose="020B0604020202020204" pitchFamily="34" charset="0"/>
              <a:buChar char="•"/>
            </a:pPr>
            <a:r>
              <a:rPr lang="en-US" sz="1000" dirty="0">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rPr>
              <a:t>NDC: 1 &lt; 5  </a:t>
            </a:r>
            <a:r>
              <a:rPr lang="vi-VN" sz="1000" dirty="0">
                <a:latin typeface="Arial" panose="020B0604020202020204" pitchFamily="34" charset="0"/>
                <a:ea typeface="Arial Unicode MS" panose="020B0604020202020204" pitchFamily="34" charset="-128"/>
                <a:cs typeface="Arial" panose="020B0604020202020204" pitchFamily="34" charset="0"/>
                <a:sym typeface="Wingdings" pitchFamily="2" charset="2"/>
              </a:rPr>
              <a:t>NG </a:t>
            </a:r>
            <a:endParaRPr lang="en-US" sz="1200" dirty="0">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endParaRPr>
          </a:p>
        </p:txBody>
      </p:sp>
      <p:sp>
        <p:nvSpPr>
          <p:cNvPr id="33" name="TextBox 32">
            <a:extLst>
              <a:ext uri="{FF2B5EF4-FFF2-40B4-BE49-F238E27FC236}">
                <a16:creationId xmlns:a16="http://schemas.microsoft.com/office/drawing/2014/main" id="{905D7C2E-0446-4D3E-B01F-0F913AFAFE04}"/>
              </a:ext>
            </a:extLst>
          </p:cNvPr>
          <p:cNvSpPr txBox="1"/>
          <p:nvPr/>
        </p:nvSpPr>
        <p:spPr>
          <a:xfrm>
            <a:off x="59902" y="6296220"/>
            <a:ext cx="9369942" cy="311279"/>
          </a:xfrm>
          <a:prstGeom prst="rect">
            <a:avLst/>
          </a:prstGeom>
          <a:noFill/>
        </p:spPr>
        <p:txBody>
          <a:bodyPr wrap="square" rtlCol="0">
            <a:noAutofit/>
          </a:bodyPr>
          <a:lstStyle/>
          <a:p>
            <a:pPr marL="171450" indent="-171450" eaLnBrk="1" latinLnBrk="0">
              <a:buFont typeface="Wingdings" panose="05000000000000000000" pitchFamily="2" charset="2"/>
              <a:buChar char="Ø"/>
            </a:pPr>
            <a:r>
              <a:rPr lang="vi-VN" sz="1000" b="1" dirty="0">
                <a:latin typeface="Arial" panose="020B0604020202020204" pitchFamily="34" charset="0"/>
                <a:ea typeface="Arial Unicode MS" panose="020B0604020202020204" pitchFamily="34" charset="-128"/>
                <a:cs typeface="Arial" panose="020B0604020202020204" pitchFamily="34" charset="0"/>
                <a:sym typeface="Wingdings" pitchFamily="2" charset="2"/>
              </a:rPr>
              <a:t>Conclusion: %Contribution = 71.56% (&gt; 9% NG), %Study Var = 84.59% (NG), %Tolerance = 8.33% (OK), NDC = 1 (&lt; 5 NG). The repeatability error (SD ≈ 16.7) is large vs. the part variation (SD ≈ 10.5) and Type 1 also failed, so the system is NOT acceptable: improve.</a:t>
            </a:r>
            <a:endParaRPr lang="en-US" sz="1200" dirty="0">
              <a:latin typeface="Arial" panose="020B0604020202020204" pitchFamily="34" charset="0"/>
              <a:ea typeface="Arial Unicode MS" panose="020B0604020202020204" pitchFamily="34" charset="-128"/>
              <a:cs typeface="Arial" panose="020B0604020202020204" pitchFamily="34" charset="0"/>
              <a:sym typeface="Wingdings" pitchFamily="2" charset="2"/>
            </a:endParaRPr>
          </a:p>
        </p:txBody>
      </p:sp>
      <p:pic>
        <p:nvPicPr>
          <p:cNvPr id="2" name="Picture 1">
            <a:extLst>
              <a:ext uri="{FF2B5EF4-FFF2-40B4-BE49-F238E27FC236}">
                <a16:creationId xmlns:a16="http://schemas.microsoft.com/office/drawing/2014/main" id="{9CC0D461-7724-4A16-8B0F-A1D501ACB4B3}"/>
              </a:ext>
            </a:extLst>
          </p:cNvPr>
          <p:cNvPicPr>
            <a:picLocks noChangeAspect="1"/>
          </p:cNvPicPr>
          <p:nvPr/>
        </p:nvPicPr>
        <p:blipFill>
          <a:blip r:embed="rId3"/>
          <a:stretch>
            <a:fillRect/>
          </a:stretch>
        </p:blipFill>
        <p:spPr>
          <a:xfrm>
            <a:off x="2588009" y="1579993"/>
            <a:ext cx="2700224" cy="3757612"/>
          </a:xfrm>
          <a:prstGeom prst="rect">
            <a:avLst/>
          </a:prstGeom>
        </p:spPr>
      </p:pic>
      <p:pic>
        <p:nvPicPr>
          <p:cNvPr id="3" name="Picture 2">
            <a:extLst>
              <a:ext uri="{FF2B5EF4-FFF2-40B4-BE49-F238E27FC236}">
                <a16:creationId xmlns:a16="http://schemas.microsoft.com/office/drawing/2014/main" id="{BA95E6EA-E652-449C-9F8A-5EFC5269E60F}"/>
              </a:ext>
            </a:extLst>
          </p:cNvPr>
          <p:cNvPicPr>
            <a:picLocks noChangeAspect="1"/>
          </p:cNvPicPr>
          <p:nvPr/>
        </p:nvPicPr>
        <p:blipFill>
          <a:blip r:embed="rId4"/>
          <a:stretch>
            <a:fillRect/>
          </a:stretch>
        </p:blipFill>
        <p:spPr>
          <a:xfrm>
            <a:off x="5482981" y="1579992"/>
            <a:ext cx="4264219" cy="3220607"/>
          </a:xfrm>
          <a:prstGeom prst="rect">
            <a:avLst/>
          </a:prstGeom>
        </p:spPr>
      </p:pic>
      <p:cxnSp>
        <p:nvCxnSpPr>
          <p:cNvPr id="18" name="Straight Connector 17">
            <a:extLst>
              <a:ext uri="{FF2B5EF4-FFF2-40B4-BE49-F238E27FC236}">
                <a16:creationId xmlns:a16="http://schemas.microsoft.com/office/drawing/2014/main" id="{C5241C5D-C65E-467C-9A84-DDA1FEE8E500}"/>
              </a:ext>
            </a:extLst>
          </p:cNvPr>
          <p:cNvCxnSpPr/>
          <p:nvPr/>
        </p:nvCxnSpPr>
        <p:spPr>
          <a:xfrm>
            <a:off x="0" y="508838"/>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9274902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 name="제목 1">
            <a:extLst>
              <a:ext uri="{FF2B5EF4-FFF2-40B4-BE49-F238E27FC236}">
                <a16:creationId xmlns:a16="http://schemas.microsoft.com/office/drawing/2014/main" id="{A33C1AE4-DB4A-4748-A4CE-56DE3154E7D9}"/>
              </a:ext>
            </a:extLst>
          </p:cNvPr>
          <p:cNvSpPr txBox="1">
            <a:spLocks/>
          </p:cNvSpPr>
          <p:nvPr/>
        </p:nvSpPr>
        <p:spPr>
          <a:xfrm>
            <a:off x="27541" y="64338"/>
            <a:ext cx="6525659" cy="418058"/>
          </a:xfrm>
          <a:prstGeom prst="rect">
            <a:avLst/>
          </a:prstGeom>
        </p:spPr>
        <p:txBody>
          <a:bodyPr vert="horz" lIns="91440" tIns="45720" rIns="91440" bIns="45720" rtlCol="0" anchor="ctr">
            <a:noAutofit/>
          </a:bodyPr>
          <a:lstStyle/>
          <a:p>
            <a:pPr eaLnBrk="1" latinLnBrk="0" hangingPunct="0">
              <a:defRPr/>
            </a:pPr>
            <a:r>
              <a:rPr lang="en-US" altLang="ko-KR" sz="1600" b="1" kern="0" dirty="0">
                <a:solidFill>
                  <a:srgbClr val="000000"/>
                </a:solidFill>
                <a:latin typeface="Arial Narrow" panose="020B0606020202030204" pitchFamily="34" charset="0"/>
                <a:ea typeface="LG Smart_H Regular" pitchFamily="34" charset="-127"/>
              </a:rPr>
              <a:t>3.1 Root cause of measurement system problem</a:t>
            </a:r>
            <a:endParaRPr lang="ko-KR" altLang="en-US" sz="1600" b="1" kern="0" dirty="0">
              <a:solidFill>
                <a:srgbClr val="000000"/>
              </a:solidFill>
              <a:latin typeface="Arial Narrow" panose="020B0606020202030204" pitchFamily="34" charset="0"/>
              <a:ea typeface="LG Smart_H Regular" pitchFamily="34" charset="-127"/>
            </a:endParaRPr>
          </a:p>
        </p:txBody>
      </p:sp>
      <p:sp>
        <p:nvSpPr>
          <p:cNvPr id="64" name="Slide Number Placeholder 4">
            <a:extLst>
              <a:ext uri="{FF2B5EF4-FFF2-40B4-BE49-F238E27FC236}">
                <a16:creationId xmlns:a16="http://schemas.microsoft.com/office/drawing/2014/main" id="{24735193-EBAE-47F7-AE08-C4E051B6506F}"/>
              </a:ext>
            </a:extLst>
          </p:cNvPr>
          <p:cNvSpPr>
            <a:spLocks noGrp="1"/>
          </p:cNvSpPr>
          <p:nvPr>
            <p:ph type="sldNum" sz="quarter" idx="12"/>
          </p:nvPr>
        </p:nvSpPr>
        <p:spPr>
          <a:xfrm>
            <a:off x="3689185" y="6642000"/>
            <a:ext cx="2133600" cy="198000"/>
          </a:xfrm>
        </p:spPr>
        <p:txBody>
          <a:bodyPr/>
          <a:lstStyle/>
          <a:p>
            <a:pPr algn="ctr" eaLnBrk="1" latinLnBrk="0"/>
            <a:r>
              <a:rPr sz="1000" b="0">
                <a:latin typeface="Arial"/>
              </a:rPr>
              <a:t>11 / 33</a:t>
            </a:r>
            <a:endParaRPr lang="ko-KR" altLang="en-US" sz="1200" dirty="0">
              <a:solidFill>
                <a:prstClr val="black">
                  <a:tint val="75000"/>
                </a:prstClr>
              </a:solidFill>
              <a:latin typeface="Arial" panose="020B0604020202020204" pitchFamily="34" charset="0"/>
              <a:ea typeface="Arial Unicode MS" panose="020B0604020202020204" pitchFamily="34" charset="-128"/>
              <a:cs typeface="Arial" panose="020B0604020202020204" pitchFamily="34" charset="0"/>
            </a:endParaRPr>
          </a:p>
        </p:txBody>
      </p:sp>
      <p:sp>
        <p:nvSpPr>
          <p:cNvPr id="72" name="Text Box 2">
            <a:extLst>
              <a:ext uri="{FF2B5EF4-FFF2-40B4-BE49-F238E27FC236}">
                <a16:creationId xmlns:a16="http://schemas.microsoft.com/office/drawing/2014/main" id="{154D2356-34D8-4A47-AE3E-15659243DDEF}"/>
              </a:ext>
            </a:extLst>
          </p:cNvPr>
          <p:cNvSpPr txBox="1">
            <a:spLocks noChangeArrowheads="1"/>
          </p:cNvSpPr>
          <p:nvPr/>
        </p:nvSpPr>
        <p:spPr bwMode="auto">
          <a:xfrm>
            <a:off x="0" y="2684839"/>
            <a:ext cx="1800000" cy="304800"/>
          </a:xfrm>
          <a:prstGeom prst="rect">
            <a:avLst/>
          </a:prstGeom>
          <a:noFill/>
          <a:ln w="9525" algn="ctr">
            <a:noFill/>
            <a:miter lim="800000"/>
            <a:headEnd/>
            <a:tailEnd/>
          </a:ln>
        </p:spPr>
        <p:txBody>
          <a:bodyPr lIns="84374" tIns="42187" rIns="84374" bIns="42187" anchor="ctr">
            <a:noAutofit/>
          </a:bodyPr>
          <a:lstStyle/>
          <a:p>
            <a:pPr defTabSz="844083" eaLnBrk="1" fontAlgn="base" latinLnBrk="0">
              <a:spcBef>
                <a:spcPct val="0"/>
              </a:spcBef>
              <a:spcAft>
                <a:spcPct val="0"/>
              </a:spcAft>
              <a:defRPr/>
            </a:pPr>
            <a:r>
              <a:rPr lang="en-US" altLang="ko-KR" sz="1000" b="1" dirty="0">
                <a:solidFill>
                  <a:srgbClr val="000000"/>
                </a:solidFill>
                <a:latin typeface="Arial" panose="020B0600000101010101" pitchFamily="34" charset="-127"/>
                <a:ea typeface="Arial" panose="020B0600000101010101" pitchFamily="34" charset="-127"/>
                <a:cs typeface="Arial" panose="020B0604020202020204" pitchFamily="34" charset="0"/>
              </a:rPr>
              <a:t>Logic tree analysis</a:t>
            </a:r>
            <a:endParaRPr lang="ko-KR" altLang="en-US" sz="1200" b="1" dirty="0">
              <a:solidFill>
                <a:srgbClr val="000000"/>
              </a:solidFill>
              <a:latin typeface="LG Smart_H Regular" panose="020B0600000101010101" pitchFamily="34" charset="-127"/>
              <a:ea typeface="LG Smart_H Regular" panose="020B0600000101010101" pitchFamily="34" charset="-127"/>
              <a:cs typeface="Arial" panose="020B0604020202020204" pitchFamily="34" charset="0"/>
            </a:endParaRPr>
          </a:p>
        </p:txBody>
      </p:sp>
      <p:sp>
        <p:nvSpPr>
          <p:cNvPr id="73" name="Rectangle 72">
            <a:extLst>
              <a:ext uri="{FF2B5EF4-FFF2-40B4-BE49-F238E27FC236}">
                <a16:creationId xmlns:a16="http://schemas.microsoft.com/office/drawing/2014/main" id="{98BB49C0-2391-4488-9636-39BB014241CF}"/>
              </a:ext>
            </a:extLst>
          </p:cNvPr>
          <p:cNvSpPr/>
          <p:nvPr/>
        </p:nvSpPr>
        <p:spPr>
          <a:xfrm>
            <a:off x="159774" y="3156008"/>
            <a:ext cx="1165225" cy="539750"/>
          </a:xfrm>
          <a:prstGeom prst="rect">
            <a:avLst/>
          </a:prstGeom>
          <a:solidFill>
            <a:schemeClr val="bg1">
              <a:lumMod val="95000"/>
            </a:schemeClr>
          </a:solidFill>
          <a:ln w="31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b="1" dirty="0">
                <a:solidFill>
                  <a:prstClr val="black"/>
                </a:solidFill>
                <a:latin typeface="Arial" panose="020B0600000101010101" pitchFamily="34" charset="-127"/>
                <a:ea typeface="Arial" panose="020B0600000101010101" pitchFamily="34" charset="-127"/>
                <a:cs typeface="Arial" pitchFamily="34" charset="0"/>
              </a:rPr>
              <a:t>Luminance at Station 2</a:t>
            </a:r>
          </a:p>
        </p:txBody>
      </p:sp>
      <p:sp>
        <p:nvSpPr>
          <p:cNvPr id="74" name="Rectangle 73">
            <a:extLst>
              <a:ext uri="{FF2B5EF4-FFF2-40B4-BE49-F238E27FC236}">
                <a16:creationId xmlns:a16="http://schemas.microsoft.com/office/drawing/2014/main" id="{8A7F75B1-1676-4838-AC23-A6F29218D318}"/>
              </a:ext>
            </a:extLst>
          </p:cNvPr>
          <p:cNvSpPr/>
          <p:nvPr/>
        </p:nvSpPr>
        <p:spPr>
          <a:xfrm>
            <a:off x="1651384" y="5944884"/>
            <a:ext cx="1165225" cy="539750"/>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rPr>
              <a:t>Man</a:t>
            </a:r>
          </a:p>
        </p:txBody>
      </p:sp>
      <p:sp>
        <p:nvSpPr>
          <p:cNvPr id="75" name="Rectangle 74">
            <a:extLst>
              <a:ext uri="{FF2B5EF4-FFF2-40B4-BE49-F238E27FC236}">
                <a16:creationId xmlns:a16="http://schemas.microsoft.com/office/drawing/2014/main" id="{AA95EC89-2D59-457C-9D51-482F9FF272A8}"/>
              </a:ext>
            </a:extLst>
          </p:cNvPr>
          <p:cNvSpPr/>
          <p:nvPr/>
        </p:nvSpPr>
        <p:spPr>
          <a:xfrm>
            <a:off x="4719475" y="6271041"/>
            <a:ext cx="1371600" cy="539750"/>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rPr>
              <a:t>Automatic process</a:t>
            </a:r>
          </a:p>
        </p:txBody>
      </p:sp>
      <p:sp>
        <p:nvSpPr>
          <p:cNvPr id="76" name="Rectangle 75">
            <a:extLst>
              <a:ext uri="{FF2B5EF4-FFF2-40B4-BE49-F238E27FC236}">
                <a16:creationId xmlns:a16="http://schemas.microsoft.com/office/drawing/2014/main" id="{D1A52889-10F4-4654-BF9E-1C234D11F6E6}"/>
              </a:ext>
            </a:extLst>
          </p:cNvPr>
          <p:cNvSpPr/>
          <p:nvPr/>
        </p:nvSpPr>
        <p:spPr>
          <a:xfrm>
            <a:off x="1618209" y="1427357"/>
            <a:ext cx="1165225" cy="539750"/>
          </a:xfrm>
          <a:prstGeom prst="rect">
            <a:avLst/>
          </a:prstGeom>
          <a:solidFill>
            <a:schemeClr val="bg1">
              <a:lumMod val="95000"/>
            </a:schemeClr>
          </a:solidFill>
          <a:ln w="31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rPr>
              <a:t>Machine</a:t>
            </a:r>
          </a:p>
        </p:txBody>
      </p:sp>
      <p:sp>
        <p:nvSpPr>
          <p:cNvPr id="77" name="Rectangle 76">
            <a:extLst>
              <a:ext uri="{FF2B5EF4-FFF2-40B4-BE49-F238E27FC236}">
                <a16:creationId xmlns:a16="http://schemas.microsoft.com/office/drawing/2014/main" id="{8B2EA42F-BBCA-476E-A6D2-DCED7477DD94}"/>
              </a:ext>
            </a:extLst>
          </p:cNvPr>
          <p:cNvSpPr/>
          <p:nvPr/>
        </p:nvSpPr>
        <p:spPr>
          <a:xfrm>
            <a:off x="3132282" y="1603784"/>
            <a:ext cx="1296573" cy="539750"/>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rPr>
              <a:t>Pallet</a:t>
            </a:r>
          </a:p>
        </p:txBody>
      </p:sp>
      <p:sp>
        <p:nvSpPr>
          <p:cNvPr id="78" name="Rectangle 77">
            <a:extLst>
              <a:ext uri="{FF2B5EF4-FFF2-40B4-BE49-F238E27FC236}">
                <a16:creationId xmlns:a16="http://schemas.microsoft.com/office/drawing/2014/main" id="{CB14BB72-DACF-49D8-B9E7-7795EBE9B6A4}"/>
              </a:ext>
            </a:extLst>
          </p:cNvPr>
          <p:cNvSpPr/>
          <p:nvPr/>
        </p:nvSpPr>
        <p:spPr>
          <a:xfrm>
            <a:off x="3123027" y="967992"/>
            <a:ext cx="1296573" cy="540000"/>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rPr>
              <a:t>Power supply</a:t>
            </a:r>
          </a:p>
        </p:txBody>
      </p:sp>
      <p:sp>
        <p:nvSpPr>
          <p:cNvPr id="79" name="Rectangle 78">
            <a:extLst>
              <a:ext uri="{FF2B5EF4-FFF2-40B4-BE49-F238E27FC236}">
                <a16:creationId xmlns:a16="http://schemas.microsoft.com/office/drawing/2014/main" id="{EEDD2645-0EFA-436C-A6E7-C8D003106F1B}"/>
              </a:ext>
            </a:extLst>
          </p:cNvPr>
          <p:cNvSpPr/>
          <p:nvPr/>
        </p:nvSpPr>
        <p:spPr>
          <a:xfrm>
            <a:off x="4730616" y="967675"/>
            <a:ext cx="1371600" cy="539750"/>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rPr>
              <a:t>Power supply is stable</a:t>
            </a:r>
          </a:p>
        </p:txBody>
      </p:sp>
      <p:sp>
        <p:nvSpPr>
          <p:cNvPr id="80" name="Rectangle 79">
            <a:extLst>
              <a:ext uri="{FF2B5EF4-FFF2-40B4-BE49-F238E27FC236}">
                <a16:creationId xmlns:a16="http://schemas.microsoft.com/office/drawing/2014/main" id="{6DF543DF-7565-40EB-9D0A-0B63AA26DE3B}"/>
              </a:ext>
            </a:extLst>
          </p:cNvPr>
          <p:cNvSpPr/>
          <p:nvPr/>
        </p:nvSpPr>
        <p:spPr>
          <a:xfrm>
            <a:off x="3118102" y="6271041"/>
            <a:ext cx="1296573" cy="539750"/>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rPr>
              <a:t>Working skill</a:t>
            </a:r>
          </a:p>
        </p:txBody>
      </p:sp>
      <p:sp>
        <p:nvSpPr>
          <p:cNvPr id="81" name="Rectangle 80">
            <a:extLst>
              <a:ext uri="{FF2B5EF4-FFF2-40B4-BE49-F238E27FC236}">
                <a16:creationId xmlns:a16="http://schemas.microsoft.com/office/drawing/2014/main" id="{221A6137-4C2A-4CAD-B245-15DBCEC5BE1C}"/>
              </a:ext>
            </a:extLst>
          </p:cNvPr>
          <p:cNvSpPr/>
          <p:nvPr/>
        </p:nvSpPr>
        <p:spPr>
          <a:xfrm>
            <a:off x="4733655" y="1603784"/>
            <a:ext cx="1371600" cy="539750"/>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rPr>
              <a:t>All model used same kind of pallet</a:t>
            </a:r>
          </a:p>
        </p:txBody>
      </p:sp>
      <p:sp>
        <p:nvSpPr>
          <p:cNvPr id="84" name="Rectangle 83">
            <a:extLst>
              <a:ext uri="{FF2B5EF4-FFF2-40B4-BE49-F238E27FC236}">
                <a16:creationId xmlns:a16="http://schemas.microsoft.com/office/drawing/2014/main" id="{1690E334-C0F6-498D-B406-B7676F0A33E0}"/>
              </a:ext>
            </a:extLst>
          </p:cNvPr>
          <p:cNvSpPr/>
          <p:nvPr/>
        </p:nvSpPr>
        <p:spPr>
          <a:xfrm>
            <a:off x="3130401" y="2334979"/>
            <a:ext cx="1296573" cy="539750"/>
          </a:xfrm>
          <a:prstGeom prst="rect">
            <a:avLst/>
          </a:prstGeom>
          <a:solidFill>
            <a:schemeClr val="bg1">
              <a:lumMod val="95000"/>
            </a:schemeClr>
          </a:solidFill>
          <a:ln w="31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rPr>
              <a:t>Camera equipment (CS2000)</a:t>
            </a:r>
          </a:p>
        </p:txBody>
      </p:sp>
      <p:cxnSp>
        <p:nvCxnSpPr>
          <p:cNvPr id="85" name="Elbow Connector 11">
            <a:extLst>
              <a:ext uri="{FF2B5EF4-FFF2-40B4-BE49-F238E27FC236}">
                <a16:creationId xmlns:a16="http://schemas.microsoft.com/office/drawing/2014/main" id="{A0900B0B-88B7-436C-8708-BACE50220958}"/>
              </a:ext>
            </a:extLst>
          </p:cNvPr>
          <p:cNvCxnSpPr>
            <a:stCxn id="73" idx="3"/>
            <a:endCxn id="76" idx="1"/>
          </p:cNvCxnSpPr>
          <p:nvPr/>
        </p:nvCxnSpPr>
        <p:spPr>
          <a:xfrm flipV="1">
            <a:off x="1324999" y="1697232"/>
            <a:ext cx="293210" cy="1728651"/>
          </a:xfrm>
          <a:prstGeom prst="bentConnector3">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86" name="Elbow Connector 14">
            <a:extLst>
              <a:ext uri="{FF2B5EF4-FFF2-40B4-BE49-F238E27FC236}">
                <a16:creationId xmlns:a16="http://schemas.microsoft.com/office/drawing/2014/main" id="{7C3D603A-2E8C-4A1D-8161-53008CE24C0D}"/>
              </a:ext>
            </a:extLst>
          </p:cNvPr>
          <p:cNvCxnSpPr>
            <a:stCxn id="73" idx="3"/>
            <a:endCxn id="74" idx="1"/>
          </p:cNvCxnSpPr>
          <p:nvPr/>
        </p:nvCxnSpPr>
        <p:spPr>
          <a:xfrm>
            <a:off x="1324999" y="3425883"/>
            <a:ext cx="326385" cy="2788876"/>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89" name="Rectangle 88">
            <a:extLst>
              <a:ext uri="{FF2B5EF4-FFF2-40B4-BE49-F238E27FC236}">
                <a16:creationId xmlns:a16="http://schemas.microsoft.com/office/drawing/2014/main" id="{3DFF0DF6-D5B0-453E-A753-5B5ED81A50F4}"/>
              </a:ext>
            </a:extLst>
          </p:cNvPr>
          <p:cNvSpPr/>
          <p:nvPr/>
        </p:nvSpPr>
        <p:spPr>
          <a:xfrm>
            <a:off x="4748132" y="2334979"/>
            <a:ext cx="1371600" cy="539750"/>
          </a:xfrm>
          <a:prstGeom prst="rect">
            <a:avLst/>
          </a:prstGeom>
          <a:solidFill>
            <a:schemeClr val="bg1">
              <a:lumMod val="95000"/>
            </a:schemeClr>
          </a:solidFill>
          <a:ln w="31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rPr>
              <a:t>Measure incorrectly</a:t>
            </a:r>
          </a:p>
        </p:txBody>
      </p:sp>
      <p:cxnSp>
        <p:nvCxnSpPr>
          <p:cNvPr id="102" name="Straight Arrow Connector 101">
            <a:extLst>
              <a:ext uri="{FF2B5EF4-FFF2-40B4-BE49-F238E27FC236}">
                <a16:creationId xmlns:a16="http://schemas.microsoft.com/office/drawing/2014/main" id="{7840A584-72DD-4DDF-A457-81F5E3DDA5CE}"/>
              </a:ext>
            </a:extLst>
          </p:cNvPr>
          <p:cNvCxnSpPr>
            <a:stCxn id="80" idx="3"/>
            <a:endCxn id="75" idx="1"/>
          </p:cNvCxnSpPr>
          <p:nvPr/>
        </p:nvCxnSpPr>
        <p:spPr>
          <a:xfrm>
            <a:off x="4414675" y="6540916"/>
            <a:ext cx="304800"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03" name="Rectangle 102">
            <a:extLst>
              <a:ext uri="{FF2B5EF4-FFF2-40B4-BE49-F238E27FC236}">
                <a16:creationId xmlns:a16="http://schemas.microsoft.com/office/drawing/2014/main" id="{9DF8E102-D994-4E57-A889-210E1C85B4EE}"/>
              </a:ext>
            </a:extLst>
          </p:cNvPr>
          <p:cNvSpPr/>
          <p:nvPr/>
        </p:nvSpPr>
        <p:spPr>
          <a:xfrm>
            <a:off x="6414325" y="967675"/>
            <a:ext cx="1965738" cy="539750"/>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rPr>
              <a:t>Power supply is not affected</a:t>
            </a:r>
          </a:p>
        </p:txBody>
      </p:sp>
      <p:sp>
        <p:nvSpPr>
          <p:cNvPr id="104" name="Rectangle 103">
            <a:extLst>
              <a:ext uri="{FF2B5EF4-FFF2-40B4-BE49-F238E27FC236}">
                <a16:creationId xmlns:a16="http://schemas.microsoft.com/office/drawing/2014/main" id="{293E51A7-2F56-473A-BCFB-084759CC0310}"/>
              </a:ext>
            </a:extLst>
          </p:cNvPr>
          <p:cNvSpPr/>
          <p:nvPr/>
        </p:nvSpPr>
        <p:spPr>
          <a:xfrm>
            <a:off x="6394839" y="1603784"/>
            <a:ext cx="1985224" cy="539750"/>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rPr>
              <a:t>Changing pallet no different</a:t>
            </a:r>
          </a:p>
        </p:txBody>
      </p:sp>
      <p:sp>
        <p:nvSpPr>
          <p:cNvPr id="106" name="Rectangle 105">
            <a:extLst>
              <a:ext uri="{FF2B5EF4-FFF2-40B4-BE49-F238E27FC236}">
                <a16:creationId xmlns:a16="http://schemas.microsoft.com/office/drawing/2014/main" id="{E26365BE-C1C2-40A3-AA3C-F648D3A85333}"/>
              </a:ext>
            </a:extLst>
          </p:cNvPr>
          <p:cNvSpPr/>
          <p:nvPr/>
        </p:nvSpPr>
        <p:spPr>
          <a:xfrm>
            <a:off x="6421698" y="2339739"/>
            <a:ext cx="1958365" cy="539750"/>
          </a:xfrm>
          <a:prstGeom prst="rect">
            <a:avLst/>
          </a:prstGeom>
          <a:solidFill>
            <a:schemeClr val="bg1">
              <a:lumMod val="95000"/>
            </a:schemeClr>
          </a:solidFill>
          <a:ln w="31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rPr>
              <a:t>Change new camera </a:t>
            </a:r>
          </a:p>
        </p:txBody>
      </p:sp>
      <p:sp>
        <p:nvSpPr>
          <p:cNvPr id="107" name="Rectangle 106">
            <a:extLst>
              <a:ext uri="{FF2B5EF4-FFF2-40B4-BE49-F238E27FC236}">
                <a16:creationId xmlns:a16="http://schemas.microsoft.com/office/drawing/2014/main" id="{ACC36094-8B79-406C-AD09-9862013612E5}"/>
              </a:ext>
            </a:extLst>
          </p:cNvPr>
          <p:cNvSpPr/>
          <p:nvPr/>
        </p:nvSpPr>
        <p:spPr>
          <a:xfrm>
            <a:off x="6409400" y="6271041"/>
            <a:ext cx="1970664" cy="539750"/>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rPr>
              <a:t>Man is not related</a:t>
            </a:r>
          </a:p>
        </p:txBody>
      </p:sp>
      <p:cxnSp>
        <p:nvCxnSpPr>
          <p:cNvPr id="144" name="Straight Arrow Connector 143">
            <a:extLst>
              <a:ext uri="{FF2B5EF4-FFF2-40B4-BE49-F238E27FC236}">
                <a16:creationId xmlns:a16="http://schemas.microsoft.com/office/drawing/2014/main" id="{F6348AC4-7CC7-4562-A5F4-3D08FCFA7F86}"/>
              </a:ext>
            </a:extLst>
          </p:cNvPr>
          <p:cNvCxnSpPr>
            <a:cxnSpLocks/>
            <a:stCxn id="75" idx="3"/>
            <a:endCxn id="107" idx="1"/>
          </p:cNvCxnSpPr>
          <p:nvPr/>
        </p:nvCxnSpPr>
        <p:spPr>
          <a:xfrm>
            <a:off x="6091075" y="6540916"/>
            <a:ext cx="318325"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49" name="Rectangle 148">
            <a:extLst>
              <a:ext uri="{FF2B5EF4-FFF2-40B4-BE49-F238E27FC236}">
                <a16:creationId xmlns:a16="http://schemas.microsoft.com/office/drawing/2014/main" id="{A460B8F4-80BE-49C8-89CB-A5C7E9A567C0}"/>
              </a:ext>
            </a:extLst>
          </p:cNvPr>
          <p:cNvSpPr/>
          <p:nvPr/>
        </p:nvSpPr>
        <p:spPr>
          <a:xfrm>
            <a:off x="1651384" y="4355386"/>
            <a:ext cx="1138837" cy="539750"/>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rPr>
              <a:t>Material</a:t>
            </a:r>
          </a:p>
        </p:txBody>
      </p:sp>
      <p:sp>
        <p:nvSpPr>
          <p:cNvPr id="150" name="Rectangle 149">
            <a:extLst>
              <a:ext uri="{FF2B5EF4-FFF2-40B4-BE49-F238E27FC236}">
                <a16:creationId xmlns:a16="http://schemas.microsoft.com/office/drawing/2014/main" id="{0103916A-A389-4D0B-82E8-4E5DD92F975F}"/>
              </a:ext>
            </a:extLst>
          </p:cNvPr>
          <p:cNvSpPr/>
          <p:nvPr/>
        </p:nvSpPr>
        <p:spPr>
          <a:xfrm>
            <a:off x="1636823" y="5002816"/>
            <a:ext cx="1165225" cy="539750"/>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rPr>
              <a:t>Method</a:t>
            </a:r>
          </a:p>
        </p:txBody>
      </p:sp>
      <p:sp>
        <p:nvSpPr>
          <p:cNvPr id="151" name="Rectangle 150">
            <a:extLst>
              <a:ext uri="{FF2B5EF4-FFF2-40B4-BE49-F238E27FC236}">
                <a16:creationId xmlns:a16="http://schemas.microsoft.com/office/drawing/2014/main" id="{6DDBBEBB-5CA9-48F3-8807-40C42BCDD09A}"/>
              </a:ext>
            </a:extLst>
          </p:cNvPr>
          <p:cNvSpPr/>
          <p:nvPr/>
        </p:nvSpPr>
        <p:spPr>
          <a:xfrm>
            <a:off x="4684883" y="4355386"/>
            <a:ext cx="1430006" cy="539750"/>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sym typeface="Wingdings" panose="05000000000000000000" pitchFamily="2" charset="2"/>
              </a:rPr>
              <a:t>Return LCD and check on vendor </a:t>
            </a:r>
            <a:r>
              <a:rPr lang="en-US" sz="1000" dirty="0">
                <a:solidFill>
                  <a:prstClr val="black"/>
                </a:solidFill>
                <a:latin typeface="Arial" panose="020B0604020202020204" pitchFamily="34" charset="0"/>
                <a:ea typeface="LG Smart_H Regular" panose="020B0600000101010101" pitchFamily="34" charset="-127"/>
                <a:cs typeface="Arial" panose="020B0604020202020204" pitchFamily="34" charset="0"/>
                <a:sym typeface="Wingdings" panose="05000000000000000000" pitchFamily="2" charset="2"/>
              </a:rPr>
              <a:t> result is OK</a:t>
            </a:r>
            <a:endParaRPr lang="en-US" sz="1000" dirty="0">
              <a:solidFill>
                <a:prstClr val="black"/>
              </a:solidFill>
              <a:latin typeface="LG Smart_H Regular" panose="020B0600000101010101" pitchFamily="34" charset="-127"/>
              <a:ea typeface="LG Smart_H Regular" panose="020B0600000101010101" pitchFamily="34" charset="-127"/>
              <a:cs typeface="Arial" pitchFamily="34" charset="0"/>
            </a:endParaRPr>
          </a:p>
        </p:txBody>
      </p:sp>
      <p:sp>
        <p:nvSpPr>
          <p:cNvPr id="152" name="Rectangle 151">
            <a:extLst>
              <a:ext uri="{FF2B5EF4-FFF2-40B4-BE49-F238E27FC236}">
                <a16:creationId xmlns:a16="http://schemas.microsoft.com/office/drawing/2014/main" id="{3AD0F078-8893-47B3-AAA2-B875B6B049B4}"/>
              </a:ext>
            </a:extLst>
          </p:cNvPr>
          <p:cNvSpPr/>
          <p:nvPr/>
        </p:nvSpPr>
        <p:spPr>
          <a:xfrm>
            <a:off x="3118103" y="4355386"/>
            <a:ext cx="1263872" cy="539750"/>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rPr>
              <a:t>Set</a:t>
            </a:r>
          </a:p>
        </p:txBody>
      </p:sp>
      <p:cxnSp>
        <p:nvCxnSpPr>
          <p:cNvPr id="154" name="Straight Arrow Connector 153">
            <a:extLst>
              <a:ext uri="{FF2B5EF4-FFF2-40B4-BE49-F238E27FC236}">
                <a16:creationId xmlns:a16="http://schemas.microsoft.com/office/drawing/2014/main" id="{2EF4C1BB-E769-49BE-82E8-09AC2E114D3D}"/>
              </a:ext>
            </a:extLst>
          </p:cNvPr>
          <p:cNvCxnSpPr>
            <a:cxnSpLocks/>
            <a:stCxn id="152" idx="3"/>
            <a:endCxn id="151" idx="1"/>
          </p:cNvCxnSpPr>
          <p:nvPr/>
        </p:nvCxnSpPr>
        <p:spPr>
          <a:xfrm>
            <a:off x="4381975" y="4625261"/>
            <a:ext cx="302908"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5" name="Rectangle 154">
            <a:extLst>
              <a:ext uri="{FF2B5EF4-FFF2-40B4-BE49-F238E27FC236}">
                <a16:creationId xmlns:a16="http://schemas.microsoft.com/office/drawing/2014/main" id="{C7D61E8F-3848-40A1-938A-C00B0BD74350}"/>
              </a:ext>
            </a:extLst>
          </p:cNvPr>
          <p:cNvSpPr/>
          <p:nvPr/>
        </p:nvSpPr>
        <p:spPr>
          <a:xfrm>
            <a:off x="6409400" y="4355386"/>
            <a:ext cx="1970664" cy="539750"/>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rPr>
              <a:t>LCD is not affected</a:t>
            </a:r>
          </a:p>
        </p:txBody>
      </p:sp>
      <p:cxnSp>
        <p:nvCxnSpPr>
          <p:cNvPr id="157" name="Straight Arrow Connector 156">
            <a:extLst>
              <a:ext uri="{FF2B5EF4-FFF2-40B4-BE49-F238E27FC236}">
                <a16:creationId xmlns:a16="http://schemas.microsoft.com/office/drawing/2014/main" id="{0099F56D-264D-4C71-87E1-E36D5E5023CF}"/>
              </a:ext>
            </a:extLst>
          </p:cNvPr>
          <p:cNvCxnSpPr>
            <a:cxnSpLocks/>
            <a:stCxn id="151" idx="3"/>
            <a:endCxn id="155" idx="1"/>
          </p:cNvCxnSpPr>
          <p:nvPr/>
        </p:nvCxnSpPr>
        <p:spPr>
          <a:xfrm>
            <a:off x="6114889" y="4625261"/>
            <a:ext cx="294511"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1" name="Straight Arrow Connector 160">
            <a:extLst>
              <a:ext uri="{FF2B5EF4-FFF2-40B4-BE49-F238E27FC236}">
                <a16:creationId xmlns:a16="http://schemas.microsoft.com/office/drawing/2014/main" id="{8467BE26-3B27-40D6-82FD-EC081804E80A}"/>
              </a:ext>
            </a:extLst>
          </p:cNvPr>
          <p:cNvCxnSpPr>
            <a:stCxn id="149" idx="3"/>
            <a:endCxn id="152" idx="1"/>
          </p:cNvCxnSpPr>
          <p:nvPr/>
        </p:nvCxnSpPr>
        <p:spPr>
          <a:xfrm>
            <a:off x="2790221" y="4625261"/>
            <a:ext cx="327882"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2" name="Elbow Connector 11">
            <a:extLst>
              <a:ext uri="{FF2B5EF4-FFF2-40B4-BE49-F238E27FC236}">
                <a16:creationId xmlns:a16="http://schemas.microsoft.com/office/drawing/2014/main" id="{2108C2DB-4457-487E-B74E-832776759959}"/>
              </a:ext>
            </a:extLst>
          </p:cNvPr>
          <p:cNvCxnSpPr>
            <a:cxnSpLocks/>
            <a:stCxn id="73" idx="3"/>
            <a:endCxn id="149" idx="1"/>
          </p:cNvCxnSpPr>
          <p:nvPr/>
        </p:nvCxnSpPr>
        <p:spPr>
          <a:xfrm>
            <a:off x="1324999" y="3425883"/>
            <a:ext cx="326385" cy="1199378"/>
          </a:xfrm>
          <a:prstGeom prst="bentConnector3">
            <a:avLst>
              <a:gd name="adj1" fmla="val 50000"/>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3" name="Elbow Connector 11">
            <a:extLst>
              <a:ext uri="{FF2B5EF4-FFF2-40B4-BE49-F238E27FC236}">
                <a16:creationId xmlns:a16="http://schemas.microsoft.com/office/drawing/2014/main" id="{A8539414-FDD4-4ED4-AF7D-6DD857B0A62B}"/>
              </a:ext>
            </a:extLst>
          </p:cNvPr>
          <p:cNvCxnSpPr>
            <a:stCxn id="73" idx="3"/>
            <a:endCxn id="150" idx="1"/>
          </p:cNvCxnSpPr>
          <p:nvPr/>
        </p:nvCxnSpPr>
        <p:spPr>
          <a:xfrm>
            <a:off x="1324999" y="3425883"/>
            <a:ext cx="311824" cy="1846808"/>
          </a:xfrm>
          <a:prstGeom prst="bentConnector3">
            <a:avLst>
              <a:gd name="adj1" fmla="val 50000"/>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64" name="Rectangle 163">
            <a:extLst>
              <a:ext uri="{FF2B5EF4-FFF2-40B4-BE49-F238E27FC236}">
                <a16:creationId xmlns:a16="http://schemas.microsoft.com/office/drawing/2014/main" id="{B4C87628-BF12-40D4-9A9A-68CDD2BF67F1}"/>
              </a:ext>
            </a:extLst>
          </p:cNvPr>
          <p:cNvSpPr/>
          <p:nvPr/>
        </p:nvSpPr>
        <p:spPr>
          <a:xfrm>
            <a:off x="3103541" y="5002816"/>
            <a:ext cx="1296573" cy="539750"/>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rPr>
              <a:t>Sequence test, timing</a:t>
            </a:r>
          </a:p>
        </p:txBody>
      </p:sp>
      <p:cxnSp>
        <p:nvCxnSpPr>
          <p:cNvPr id="165" name="Straight Arrow Connector 164">
            <a:extLst>
              <a:ext uri="{FF2B5EF4-FFF2-40B4-BE49-F238E27FC236}">
                <a16:creationId xmlns:a16="http://schemas.microsoft.com/office/drawing/2014/main" id="{1D50A4B6-DF5E-4323-9BED-2E5C23A78571}"/>
              </a:ext>
            </a:extLst>
          </p:cNvPr>
          <p:cNvCxnSpPr>
            <a:stCxn id="150" idx="3"/>
            <a:endCxn id="164" idx="1"/>
          </p:cNvCxnSpPr>
          <p:nvPr/>
        </p:nvCxnSpPr>
        <p:spPr>
          <a:xfrm>
            <a:off x="2802048" y="5272691"/>
            <a:ext cx="301493"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66" name="Rectangle 165">
            <a:extLst>
              <a:ext uri="{FF2B5EF4-FFF2-40B4-BE49-F238E27FC236}">
                <a16:creationId xmlns:a16="http://schemas.microsoft.com/office/drawing/2014/main" id="{2076F5FA-D971-4E47-82BE-E8A1D3F94816}"/>
              </a:ext>
            </a:extLst>
          </p:cNvPr>
          <p:cNvSpPr/>
          <p:nvPr/>
        </p:nvSpPr>
        <p:spPr>
          <a:xfrm>
            <a:off x="4704913" y="5002816"/>
            <a:ext cx="1430005" cy="539750"/>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rPr>
              <a:t>Sequence is used for all model, but only this model have issue</a:t>
            </a:r>
          </a:p>
        </p:txBody>
      </p:sp>
      <p:cxnSp>
        <p:nvCxnSpPr>
          <p:cNvPr id="168" name="Straight Arrow Connector 167">
            <a:extLst>
              <a:ext uri="{FF2B5EF4-FFF2-40B4-BE49-F238E27FC236}">
                <a16:creationId xmlns:a16="http://schemas.microsoft.com/office/drawing/2014/main" id="{55DC3AAF-635D-41C2-8877-A829B844A728}"/>
              </a:ext>
            </a:extLst>
          </p:cNvPr>
          <p:cNvCxnSpPr>
            <a:cxnSpLocks/>
            <a:stCxn id="164" idx="3"/>
            <a:endCxn id="166" idx="1"/>
          </p:cNvCxnSpPr>
          <p:nvPr/>
        </p:nvCxnSpPr>
        <p:spPr>
          <a:xfrm>
            <a:off x="4400114" y="5272691"/>
            <a:ext cx="304799"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70" name="Rectangle 169">
            <a:extLst>
              <a:ext uri="{FF2B5EF4-FFF2-40B4-BE49-F238E27FC236}">
                <a16:creationId xmlns:a16="http://schemas.microsoft.com/office/drawing/2014/main" id="{FE6039A6-3D38-448A-8C19-55ADC48F64FD}"/>
              </a:ext>
            </a:extLst>
          </p:cNvPr>
          <p:cNvSpPr/>
          <p:nvPr/>
        </p:nvSpPr>
        <p:spPr>
          <a:xfrm>
            <a:off x="6394839" y="5002816"/>
            <a:ext cx="1985225" cy="539750"/>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rPr>
              <a:t>Sequence is not affected</a:t>
            </a:r>
          </a:p>
        </p:txBody>
      </p:sp>
      <p:cxnSp>
        <p:nvCxnSpPr>
          <p:cNvPr id="173" name="Straight Arrow Connector 172">
            <a:extLst>
              <a:ext uri="{FF2B5EF4-FFF2-40B4-BE49-F238E27FC236}">
                <a16:creationId xmlns:a16="http://schemas.microsoft.com/office/drawing/2014/main" id="{F555F9C6-D9E2-4FF4-B104-ECEC3D3E2660}"/>
              </a:ext>
            </a:extLst>
          </p:cNvPr>
          <p:cNvCxnSpPr>
            <a:cxnSpLocks/>
            <a:stCxn id="166" idx="3"/>
            <a:endCxn id="170" idx="1"/>
          </p:cNvCxnSpPr>
          <p:nvPr/>
        </p:nvCxnSpPr>
        <p:spPr>
          <a:xfrm>
            <a:off x="6134918" y="5272691"/>
            <a:ext cx="259921"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74" name="Rectangle 173">
            <a:extLst>
              <a:ext uri="{FF2B5EF4-FFF2-40B4-BE49-F238E27FC236}">
                <a16:creationId xmlns:a16="http://schemas.microsoft.com/office/drawing/2014/main" id="{8F08C70E-C661-4A4A-A32D-07D838FE4A52}"/>
              </a:ext>
            </a:extLst>
          </p:cNvPr>
          <p:cNvSpPr/>
          <p:nvPr/>
        </p:nvSpPr>
        <p:spPr>
          <a:xfrm>
            <a:off x="4711158" y="5646868"/>
            <a:ext cx="1371600" cy="539750"/>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rPr>
              <a:t>Other function is OK, only Luminance is NG</a:t>
            </a:r>
          </a:p>
        </p:txBody>
      </p:sp>
      <p:sp>
        <p:nvSpPr>
          <p:cNvPr id="175" name="Rectangle 174">
            <a:extLst>
              <a:ext uri="{FF2B5EF4-FFF2-40B4-BE49-F238E27FC236}">
                <a16:creationId xmlns:a16="http://schemas.microsoft.com/office/drawing/2014/main" id="{B895C442-E39F-4F78-9F50-F0A2DC18C153}"/>
              </a:ext>
            </a:extLst>
          </p:cNvPr>
          <p:cNvSpPr/>
          <p:nvPr/>
        </p:nvSpPr>
        <p:spPr>
          <a:xfrm>
            <a:off x="3109785" y="5646868"/>
            <a:ext cx="1296573" cy="539750"/>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rPr>
              <a:t>Plug in set to pallet not fully</a:t>
            </a:r>
          </a:p>
        </p:txBody>
      </p:sp>
      <p:cxnSp>
        <p:nvCxnSpPr>
          <p:cNvPr id="176" name="Straight Arrow Connector 175">
            <a:extLst>
              <a:ext uri="{FF2B5EF4-FFF2-40B4-BE49-F238E27FC236}">
                <a16:creationId xmlns:a16="http://schemas.microsoft.com/office/drawing/2014/main" id="{C530E187-51B7-4142-AC22-C60B4DBD0D5C}"/>
              </a:ext>
            </a:extLst>
          </p:cNvPr>
          <p:cNvCxnSpPr>
            <a:stCxn id="175" idx="3"/>
            <a:endCxn id="174" idx="1"/>
          </p:cNvCxnSpPr>
          <p:nvPr/>
        </p:nvCxnSpPr>
        <p:spPr>
          <a:xfrm>
            <a:off x="4406358" y="5916743"/>
            <a:ext cx="304800"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77" name="Rectangle 176">
            <a:extLst>
              <a:ext uri="{FF2B5EF4-FFF2-40B4-BE49-F238E27FC236}">
                <a16:creationId xmlns:a16="http://schemas.microsoft.com/office/drawing/2014/main" id="{23F39FC5-DB21-4BF0-B0ED-09C2FE172F84}"/>
              </a:ext>
            </a:extLst>
          </p:cNvPr>
          <p:cNvSpPr/>
          <p:nvPr/>
        </p:nvSpPr>
        <p:spPr>
          <a:xfrm>
            <a:off x="6401083" y="5646868"/>
            <a:ext cx="1978981" cy="539750"/>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rPr>
              <a:t>Not relate to set plugging in</a:t>
            </a:r>
          </a:p>
        </p:txBody>
      </p:sp>
      <p:cxnSp>
        <p:nvCxnSpPr>
          <p:cNvPr id="178" name="Straight Arrow Connector 177">
            <a:extLst>
              <a:ext uri="{FF2B5EF4-FFF2-40B4-BE49-F238E27FC236}">
                <a16:creationId xmlns:a16="http://schemas.microsoft.com/office/drawing/2014/main" id="{ABB10B07-3DA1-42EA-859D-3CF7A3708297}"/>
              </a:ext>
            </a:extLst>
          </p:cNvPr>
          <p:cNvCxnSpPr>
            <a:cxnSpLocks/>
            <a:stCxn id="174" idx="3"/>
            <a:endCxn id="177" idx="1"/>
          </p:cNvCxnSpPr>
          <p:nvPr/>
        </p:nvCxnSpPr>
        <p:spPr>
          <a:xfrm>
            <a:off x="6082758" y="5916743"/>
            <a:ext cx="318325"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9" name="Elbow Connector 98">
            <a:extLst>
              <a:ext uri="{FF2B5EF4-FFF2-40B4-BE49-F238E27FC236}">
                <a16:creationId xmlns:a16="http://schemas.microsoft.com/office/drawing/2014/main" id="{E6BD7F65-64F4-4BC6-8A09-AA53ECEE1177}"/>
              </a:ext>
            </a:extLst>
          </p:cNvPr>
          <p:cNvCxnSpPr>
            <a:stCxn id="74" idx="3"/>
            <a:endCxn id="80" idx="1"/>
          </p:cNvCxnSpPr>
          <p:nvPr/>
        </p:nvCxnSpPr>
        <p:spPr>
          <a:xfrm>
            <a:off x="2816609" y="6214759"/>
            <a:ext cx="301493" cy="326157"/>
          </a:xfrm>
          <a:prstGeom prst="bentConnector3">
            <a:avLst>
              <a:gd name="adj1" fmla="val 50000"/>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0" name="Elbow Connector 98">
            <a:extLst>
              <a:ext uri="{FF2B5EF4-FFF2-40B4-BE49-F238E27FC236}">
                <a16:creationId xmlns:a16="http://schemas.microsoft.com/office/drawing/2014/main" id="{1ADB74E5-B249-445C-B177-17CEE8F659B2}"/>
              </a:ext>
            </a:extLst>
          </p:cNvPr>
          <p:cNvCxnSpPr>
            <a:stCxn id="74" idx="3"/>
            <a:endCxn id="175" idx="1"/>
          </p:cNvCxnSpPr>
          <p:nvPr/>
        </p:nvCxnSpPr>
        <p:spPr>
          <a:xfrm flipV="1">
            <a:off x="2816609" y="5916743"/>
            <a:ext cx="293176" cy="298016"/>
          </a:xfrm>
          <a:prstGeom prst="bentConnector3">
            <a:avLst>
              <a:gd name="adj1" fmla="val 50000"/>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81" name="TextBox 180">
            <a:extLst>
              <a:ext uri="{FF2B5EF4-FFF2-40B4-BE49-F238E27FC236}">
                <a16:creationId xmlns:a16="http://schemas.microsoft.com/office/drawing/2014/main" id="{9F3DF8AA-61E9-45AC-A326-EEC96FD43AA4}"/>
              </a:ext>
            </a:extLst>
          </p:cNvPr>
          <p:cNvSpPr txBox="1"/>
          <p:nvPr/>
        </p:nvSpPr>
        <p:spPr>
          <a:xfrm>
            <a:off x="8192469" y="2232808"/>
            <a:ext cx="357885" cy="369332"/>
          </a:xfrm>
          <a:prstGeom prst="rect">
            <a:avLst/>
          </a:prstGeom>
          <a:noFill/>
        </p:spPr>
        <p:txBody>
          <a:bodyPr wrap="square" rtlCol="0">
            <a:spAutoFit/>
          </a:bodyPr>
          <a:lstStyle/>
          <a:p>
            <a:pPr eaLnBrk="1" latinLnBrk="0"/>
            <a:r>
              <a:rPr lang="en-US" sz="1000" b="1" dirty="0">
                <a:solidFill>
                  <a:srgbClr val="FF0000"/>
                </a:solidFill>
                <a:latin typeface="Arial" panose="020B0600000101010101" pitchFamily="34" charset="-127"/>
                <a:ea typeface="Arial" panose="020B0600000101010101" pitchFamily="34" charset="-127"/>
                <a:sym typeface="Wingdings 2" panose="05020102010507070707" pitchFamily="18" charset="2"/>
              </a:rPr>
              <a:t></a:t>
            </a:r>
            <a:endParaRPr lang="en-US" b="1" dirty="0">
              <a:solidFill>
                <a:srgbClr val="FF0000"/>
              </a:solidFill>
              <a:latin typeface="LG Smart_H Regular" panose="020B0600000101010101" pitchFamily="34" charset="-127"/>
              <a:ea typeface="LG Smart_H Regular" panose="020B0600000101010101" pitchFamily="34" charset="-127"/>
            </a:endParaRPr>
          </a:p>
        </p:txBody>
      </p:sp>
      <p:sp>
        <p:nvSpPr>
          <p:cNvPr id="184" name="TextBox 183">
            <a:extLst>
              <a:ext uri="{FF2B5EF4-FFF2-40B4-BE49-F238E27FC236}">
                <a16:creationId xmlns:a16="http://schemas.microsoft.com/office/drawing/2014/main" id="{100AD42B-DE28-44C1-9F87-EC6EEC4098F1}"/>
              </a:ext>
            </a:extLst>
          </p:cNvPr>
          <p:cNvSpPr txBox="1"/>
          <p:nvPr/>
        </p:nvSpPr>
        <p:spPr>
          <a:xfrm>
            <a:off x="8441892" y="6504761"/>
            <a:ext cx="180000" cy="369332"/>
          </a:xfrm>
          <a:prstGeom prst="rect">
            <a:avLst/>
          </a:prstGeom>
          <a:noFill/>
        </p:spPr>
        <p:txBody>
          <a:bodyPr wrap="square" rtlCol="0">
            <a:noAutofit/>
          </a:bodyPr>
          <a:lstStyle/>
          <a:p>
            <a:pPr eaLnBrk="1" latinLnBrk="0"/>
            <a:r>
              <a:rPr lang="en-US" sz="1000" b="1" dirty="0">
                <a:solidFill>
                  <a:srgbClr val="FF0000"/>
                </a:solidFill>
                <a:latin typeface="Arial" panose="020B0600000101010101" pitchFamily="34" charset="-127"/>
                <a:ea typeface="Arial" panose="020B0600000101010101" pitchFamily="34" charset="-127"/>
                <a:sym typeface="Wingdings 2" panose="05020102010507070707" pitchFamily="18" charset="2"/>
              </a:rPr>
              <a:t></a:t>
            </a:r>
            <a:endParaRPr lang="en-US" b="1" dirty="0">
              <a:solidFill>
                <a:srgbClr val="FF0000"/>
              </a:solidFill>
              <a:latin typeface="LG Smart_H Regular" panose="020B0600000101010101" pitchFamily="34" charset="-127"/>
              <a:ea typeface="LG Smart_H Regular" panose="020B0600000101010101" pitchFamily="34" charset="-127"/>
            </a:endParaRPr>
          </a:p>
        </p:txBody>
      </p:sp>
      <p:sp>
        <p:nvSpPr>
          <p:cNvPr id="185" name="TextBox 184">
            <a:extLst>
              <a:ext uri="{FF2B5EF4-FFF2-40B4-BE49-F238E27FC236}">
                <a16:creationId xmlns:a16="http://schemas.microsoft.com/office/drawing/2014/main" id="{E9206562-A479-4925-9BC1-FF6A9BBDE250}"/>
              </a:ext>
            </a:extLst>
          </p:cNvPr>
          <p:cNvSpPr txBox="1"/>
          <p:nvPr/>
        </p:nvSpPr>
        <p:spPr>
          <a:xfrm>
            <a:off x="8694077" y="6560610"/>
            <a:ext cx="1234633" cy="261610"/>
          </a:xfrm>
          <a:prstGeom prst="rect">
            <a:avLst/>
          </a:prstGeom>
          <a:noFill/>
        </p:spPr>
        <p:txBody>
          <a:bodyPr wrap="none" rtlCol="0">
            <a:spAutoFit/>
          </a:bodyPr>
          <a:lstStyle/>
          <a:p>
            <a:pPr eaLnBrk="1" latinLnBrk="0"/>
            <a:r>
              <a:rPr lang="en-US" sz="1000" dirty="0">
                <a:solidFill>
                  <a:srgbClr val="000000"/>
                </a:solidFill>
                <a:latin typeface="Arial" panose="020B0600000101010101" pitchFamily="34" charset="-127"/>
                <a:ea typeface="Arial" panose="020B0600000101010101" pitchFamily="34" charset="-127"/>
              </a:rPr>
              <a:t>: Potential factor</a:t>
            </a:r>
            <a:endParaRPr lang="en-US" sz="1400" dirty="0">
              <a:latin typeface="LG Smart_H Regular" panose="020B0600000101010101" pitchFamily="34" charset="-127"/>
              <a:ea typeface="LG Smart_H Regular" panose="020B0600000101010101" pitchFamily="34" charset="-127"/>
            </a:endParaRPr>
          </a:p>
        </p:txBody>
      </p:sp>
      <p:sp>
        <p:nvSpPr>
          <p:cNvPr id="188" name="Rectangle 187">
            <a:extLst>
              <a:ext uri="{FF2B5EF4-FFF2-40B4-BE49-F238E27FC236}">
                <a16:creationId xmlns:a16="http://schemas.microsoft.com/office/drawing/2014/main" id="{78AD3491-CD21-48CA-ADF9-A64AE6C8A009}"/>
              </a:ext>
            </a:extLst>
          </p:cNvPr>
          <p:cNvSpPr/>
          <p:nvPr/>
        </p:nvSpPr>
        <p:spPr>
          <a:xfrm>
            <a:off x="4743289" y="3016995"/>
            <a:ext cx="1371600" cy="539750"/>
          </a:xfrm>
          <a:prstGeom prst="rect">
            <a:avLst/>
          </a:prstGeom>
          <a:solidFill>
            <a:schemeClr val="bg1">
              <a:lumMod val="95000"/>
            </a:schemeClr>
          </a:solidFill>
          <a:ln w="31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rPr>
              <a:t>Camera Angle is changed</a:t>
            </a:r>
          </a:p>
        </p:txBody>
      </p:sp>
      <p:sp>
        <p:nvSpPr>
          <p:cNvPr id="189" name="Rectangle 188">
            <a:extLst>
              <a:ext uri="{FF2B5EF4-FFF2-40B4-BE49-F238E27FC236}">
                <a16:creationId xmlns:a16="http://schemas.microsoft.com/office/drawing/2014/main" id="{189A6C18-A8FA-4996-8E52-61C097CBED86}"/>
              </a:ext>
            </a:extLst>
          </p:cNvPr>
          <p:cNvSpPr/>
          <p:nvPr/>
        </p:nvSpPr>
        <p:spPr>
          <a:xfrm>
            <a:off x="6416856" y="3021755"/>
            <a:ext cx="1963208" cy="539750"/>
          </a:xfrm>
          <a:prstGeom prst="rect">
            <a:avLst/>
          </a:prstGeom>
          <a:solidFill>
            <a:schemeClr val="bg1">
              <a:lumMod val="95000"/>
            </a:schemeClr>
          </a:solidFill>
          <a:ln w="31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rPr>
              <a:t>Change angle of camera</a:t>
            </a:r>
          </a:p>
        </p:txBody>
      </p:sp>
      <p:sp>
        <p:nvSpPr>
          <p:cNvPr id="190" name="Text Box 2">
            <a:extLst>
              <a:ext uri="{FF2B5EF4-FFF2-40B4-BE49-F238E27FC236}">
                <a16:creationId xmlns:a16="http://schemas.microsoft.com/office/drawing/2014/main" id="{388E17BD-8641-4FEC-A5A8-2A21B1B0CD89}"/>
              </a:ext>
            </a:extLst>
          </p:cNvPr>
          <p:cNvSpPr txBox="1">
            <a:spLocks noChangeArrowheads="1"/>
          </p:cNvSpPr>
          <p:nvPr/>
        </p:nvSpPr>
        <p:spPr bwMode="auto">
          <a:xfrm>
            <a:off x="-38384" y="552932"/>
            <a:ext cx="9825377" cy="304800"/>
          </a:xfrm>
          <a:prstGeom prst="rect">
            <a:avLst/>
          </a:prstGeom>
          <a:noFill/>
          <a:ln w="9525" algn="ctr">
            <a:noFill/>
            <a:miter lim="800000"/>
            <a:headEnd/>
            <a:tailEnd/>
          </a:ln>
        </p:spPr>
        <p:txBody>
          <a:bodyPr lIns="84374" tIns="42187" rIns="84374" bIns="42187" anchor="ctr"/>
          <a:lstStyle/>
          <a:p>
            <a:pPr defTabSz="844083" eaLnBrk="1" fontAlgn="base" latinLnBrk="0">
              <a:spcBef>
                <a:spcPct val="0"/>
              </a:spcBef>
              <a:spcAft>
                <a:spcPct val="0"/>
              </a:spcAft>
              <a:defRPr/>
            </a:pPr>
            <a:r>
              <a:rPr lang="en-US" altLang="ko-KR" sz="1000" b="1" dirty="0">
                <a:solidFill>
                  <a:srgbClr val="000000"/>
                </a:solidFill>
                <a:latin typeface="Arial" panose="020B0600000101010101" pitchFamily="34" charset="-127"/>
                <a:ea typeface="Arial" panose="020B0600000101010101" pitchFamily="34" charset="-127"/>
                <a:cs typeface="Arial" panose="020B0604020202020204" pitchFamily="34" charset="0"/>
              </a:rPr>
              <a:t>After the Type 1 study, we see that the measurement system of Station 2 has problems, so a logic tree is used to find the root cause</a:t>
            </a:r>
            <a:endParaRPr lang="ko-KR" altLang="en-US" sz="1200" b="1" dirty="0">
              <a:solidFill>
                <a:srgbClr val="000000"/>
              </a:solidFill>
              <a:latin typeface="LG Smart_H Regular" panose="020B0600000101010101" pitchFamily="34" charset="-127"/>
              <a:ea typeface="LG Smart_H Regular" panose="020B0600000101010101" pitchFamily="34" charset="-127"/>
              <a:cs typeface="Arial" panose="020B0604020202020204" pitchFamily="34" charset="0"/>
            </a:endParaRPr>
          </a:p>
        </p:txBody>
      </p:sp>
      <p:sp>
        <p:nvSpPr>
          <p:cNvPr id="191" name="AutoShape 55">
            <a:extLst>
              <a:ext uri="{FF2B5EF4-FFF2-40B4-BE49-F238E27FC236}">
                <a16:creationId xmlns:a16="http://schemas.microsoft.com/office/drawing/2014/main" id="{CBB9EF69-BB7B-4362-AF27-5EC61A24968A}"/>
              </a:ext>
            </a:extLst>
          </p:cNvPr>
          <p:cNvSpPr>
            <a:spLocks noChangeArrowheads="1"/>
          </p:cNvSpPr>
          <p:nvPr/>
        </p:nvSpPr>
        <p:spPr bwMode="auto">
          <a:xfrm>
            <a:off x="9069039" y="178989"/>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Control</a:t>
            </a:r>
          </a:p>
        </p:txBody>
      </p:sp>
      <p:sp>
        <p:nvSpPr>
          <p:cNvPr id="192" name="AutoShape 56">
            <a:extLst>
              <a:ext uri="{FF2B5EF4-FFF2-40B4-BE49-F238E27FC236}">
                <a16:creationId xmlns:a16="http://schemas.microsoft.com/office/drawing/2014/main" id="{899114A1-A363-4B04-A11E-ECA42BBFABBB}"/>
              </a:ext>
            </a:extLst>
          </p:cNvPr>
          <p:cNvSpPr>
            <a:spLocks noChangeArrowheads="1"/>
          </p:cNvSpPr>
          <p:nvPr/>
        </p:nvSpPr>
        <p:spPr bwMode="auto">
          <a:xfrm>
            <a:off x="8380064" y="178989"/>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solidFill>
                  <a:schemeClr val="tx1"/>
                </a:solidFill>
                <a:latin typeface="Arial Narrow" panose="020B0606020202030204" pitchFamily="34" charset="0"/>
                <a:ea typeface="Arial" panose="020B0503020000020004" pitchFamily="50" charset="-127"/>
              </a:rPr>
              <a:t>Improve</a:t>
            </a:r>
          </a:p>
        </p:txBody>
      </p:sp>
      <p:sp>
        <p:nvSpPr>
          <p:cNvPr id="194" name="AutoShape 59">
            <a:extLst>
              <a:ext uri="{FF2B5EF4-FFF2-40B4-BE49-F238E27FC236}">
                <a16:creationId xmlns:a16="http://schemas.microsoft.com/office/drawing/2014/main" id="{189FE38E-6AAE-4AC6-A89D-C8987F0B06F3}"/>
              </a:ext>
            </a:extLst>
          </p:cNvPr>
          <p:cNvSpPr>
            <a:spLocks noChangeArrowheads="1"/>
          </p:cNvSpPr>
          <p:nvPr/>
        </p:nvSpPr>
        <p:spPr bwMode="auto">
          <a:xfrm>
            <a:off x="6319489" y="178989"/>
            <a:ext cx="757238" cy="287338"/>
          </a:xfrm>
          <a:prstGeom prst="homePlate">
            <a:avLst>
              <a:gd name="adj" fmla="val 47192"/>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Define</a:t>
            </a:r>
          </a:p>
        </p:txBody>
      </p:sp>
      <p:graphicFrame>
        <p:nvGraphicFramePr>
          <p:cNvPr id="4" name="Object 3">
            <a:hlinkClick r:id="" action="ppaction://ole?verb=0"/>
            <a:extLst>
              <a:ext uri="{FF2B5EF4-FFF2-40B4-BE49-F238E27FC236}">
                <a16:creationId xmlns:a16="http://schemas.microsoft.com/office/drawing/2014/main" id="{CE5C7E09-1A6D-40CA-984C-4350A69E000C}"/>
              </a:ext>
            </a:extLst>
          </p:cNvPr>
          <p:cNvGraphicFramePr>
            <a:graphicFrameLocks noChangeAspect="1"/>
          </p:cNvGraphicFramePr>
          <p:nvPr>
            <p:extLst>
              <p:ext uri="{D42A27DB-BD31-4B8C-83A1-F6EECF244321}">
                <p14:modId xmlns:p14="http://schemas.microsoft.com/office/powerpoint/2010/main" val="1233077575"/>
              </p:ext>
            </p:extLst>
          </p:nvPr>
        </p:nvGraphicFramePr>
        <p:xfrm>
          <a:off x="9291889" y="2477855"/>
          <a:ext cx="495105" cy="417745"/>
        </p:xfrm>
        <a:graphic>
          <a:graphicData uri="http://schemas.openxmlformats.org/presentationml/2006/ole">
            <mc:AlternateContent xmlns:mc="http://schemas.openxmlformats.org/markup-compatibility/2006">
              <mc:Choice xmlns:v="urn:schemas-microsoft-com:vml" Requires="v">
                <p:oleObj name="Presentation" showAsIcon="1" r:id="rId3" imgW="914400" imgH="771792" progId="PowerPoint.Show.12">
                  <p:embed/>
                </p:oleObj>
              </mc:Choice>
              <mc:Fallback>
                <p:oleObj name="Presentation" showAsIcon="1" r:id="rId3" imgW="914400" imgH="771792" progId="PowerPoint.Show.12">
                  <p:embed/>
                  <p:pic>
                    <p:nvPicPr>
                      <p:cNvPr id="0" name=""/>
                      <p:cNvPicPr/>
                      <p:nvPr/>
                    </p:nvPicPr>
                    <p:blipFill>
                      <a:blip r:embed="rId4"/>
                      <a:stretch>
                        <a:fillRect/>
                      </a:stretch>
                    </p:blipFill>
                    <p:spPr>
                      <a:xfrm>
                        <a:off x="9291889" y="2477855"/>
                        <a:ext cx="495105" cy="417745"/>
                      </a:xfrm>
                      <a:prstGeom prst="rect">
                        <a:avLst/>
                      </a:prstGeom>
                    </p:spPr>
                  </p:pic>
                </p:oleObj>
              </mc:Fallback>
            </mc:AlternateContent>
          </a:graphicData>
        </a:graphic>
      </p:graphicFrame>
      <p:graphicFrame>
        <p:nvGraphicFramePr>
          <p:cNvPr id="5" name="Object 4">
            <a:hlinkClick r:id="" action="ppaction://ole?verb=0"/>
            <a:extLst>
              <a:ext uri="{FF2B5EF4-FFF2-40B4-BE49-F238E27FC236}">
                <a16:creationId xmlns:a16="http://schemas.microsoft.com/office/drawing/2014/main" id="{C929FD74-D7E2-40CF-AC12-F07CA7B9DE9E}"/>
              </a:ext>
            </a:extLst>
          </p:cNvPr>
          <p:cNvGraphicFramePr>
            <a:graphicFrameLocks noChangeAspect="1"/>
          </p:cNvGraphicFramePr>
          <p:nvPr>
            <p:extLst>
              <p:ext uri="{D42A27DB-BD31-4B8C-83A1-F6EECF244321}">
                <p14:modId xmlns:p14="http://schemas.microsoft.com/office/powerpoint/2010/main" val="1657059760"/>
              </p:ext>
            </p:extLst>
          </p:nvPr>
        </p:nvGraphicFramePr>
        <p:xfrm>
          <a:off x="9291888" y="4469007"/>
          <a:ext cx="495105" cy="417745"/>
        </p:xfrm>
        <a:graphic>
          <a:graphicData uri="http://schemas.openxmlformats.org/presentationml/2006/ole">
            <mc:AlternateContent xmlns:mc="http://schemas.openxmlformats.org/markup-compatibility/2006">
              <mc:Choice xmlns:v="urn:schemas-microsoft-com:vml" Requires="v">
                <p:oleObj name="Presentation" showAsIcon="1" r:id="rId5" imgW="914400" imgH="771792" progId="PowerPoint.Show.12">
                  <p:embed/>
                </p:oleObj>
              </mc:Choice>
              <mc:Fallback>
                <p:oleObj name="Presentation" showAsIcon="1" r:id="rId5" imgW="914400" imgH="771792" progId="PowerPoint.Show.12">
                  <p:embed/>
                  <p:pic>
                    <p:nvPicPr>
                      <p:cNvPr id="0" name=""/>
                      <p:cNvPicPr/>
                      <p:nvPr/>
                    </p:nvPicPr>
                    <p:blipFill>
                      <a:blip r:embed="rId6"/>
                      <a:stretch>
                        <a:fillRect/>
                      </a:stretch>
                    </p:blipFill>
                    <p:spPr>
                      <a:xfrm>
                        <a:off x="9291888" y="4469007"/>
                        <a:ext cx="495105" cy="417745"/>
                      </a:xfrm>
                      <a:prstGeom prst="rect">
                        <a:avLst/>
                      </a:prstGeom>
                    </p:spPr>
                  </p:pic>
                </p:oleObj>
              </mc:Fallback>
            </mc:AlternateContent>
          </a:graphicData>
        </a:graphic>
      </p:graphicFrame>
      <p:sp>
        <p:nvSpPr>
          <p:cNvPr id="182" name="TextBox 181">
            <a:extLst>
              <a:ext uri="{FF2B5EF4-FFF2-40B4-BE49-F238E27FC236}">
                <a16:creationId xmlns:a16="http://schemas.microsoft.com/office/drawing/2014/main" id="{131D16A1-B68B-4A32-87D0-AB885CC09560}"/>
              </a:ext>
            </a:extLst>
          </p:cNvPr>
          <p:cNvSpPr txBox="1"/>
          <p:nvPr/>
        </p:nvSpPr>
        <p:spPr>
          <a:xfrm>
            <a:off x="8229086" y="2975692"/>
            <a:ext cx="357885" cy="369332"/>
          </a:xfrm>
          <a:prstGeom prst="rect">
            <a:avLst/>
          </a:prstGeom>
          <a:noFill/>
        </p:spPr>
        <p:txBody>
          <a:bodyPr wrap="square" rtlCol="0">
            <a:spAutoFit/>
          </a:bodyPr>
          <a:lstStyle/>
          <a:p>
            <a:pPr eaLnBrk="1" latinLnBrk="0"/>
            <a:r>
              <a:rPr lang="en-US" sz="1000" b="1" dirty="0">
                <a:solidFill>
                  <a:srgbClr val="FF0000"/>
                </a:solidFill>
                <a:latin typeface="Arial" panose="020B0600000101010101" pitchFamily="34" charset="-127"/>
                <a:ea typeface="Arial" panose="020B0600000101010101" pitchFamily="34" charset="-127"/>
                <a:sym typeface="Wingdings 2" panose="05020102010507070707" pitchFamily="18" charset="2"/>
              </a:rPr>
              <a:t></a:t>
            </a:r>
            <a:endParaRPr lang="en-US" b="1" dirty="0">
              <a:solidFill>
                <a:srgbClr val="FF0000"/>
              </a:solidFill>
              <a:latin typeface="LG Smart_H Regular" panose="020B0600000101010101" pitchFamily="34" charset="-127"/>
              <a:ea typeface="LG Smart_H Regular" panose="020B0600000101010101" pitchFamily="34" charset="-127"/>
            </a:endParaRPr>
          </a:p>
        </p:txBody>
      </p:sp>
      <p:sp>
        <p:nvSpPr>
          <p:cNvPr id="97" name="Rectangle 96">
            <a:extLst>
              <a:ext uri="{FF2B5EF4-FFF2-40B4-BE49-F238E27FC236}">
                <a16:creationId xmlns:a16="http://schemas.microsoft.com/office/drawing/2014/main" id="{F4C9CF36-A57D-4285-8408-0B6B8AEFD0E4}"/>
              </a:ext>
            </a:extLst>
          </p:cNvPr>
          <p:cNvSpPr/>
          <p:nvPr/>
        </p:nvSpPr>
        <p:spPr>
          <a:xfrm>
            <a:off x="3118102" y="3625915"/>
            <a:ext cx="1296573" cy="539750"/>
          </a:xfrm>
          <a:prstGeom prst="rect">
            <a:avLst/>
          </a:prstGeom>
          <a:solidFill>
            <a:schemeClr val="bg1">
              <a:lumMod val="95000"/>
            </a:schemeClr>
          </a:solidFill>
          <a:ln w="31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rPr>
              <a:t>CANSIM</a:t>
            </a:r>
          </a:p>
        </p:txBody>
      </p:sp>
      <p:sp>
        <p:nvSpPr>
          <p:cNvPr id="98" name="Rectangle 97">
            <a:extLst>
              <a:ext uri="{FF2B5EF4-FFF2-40B4-BE49-F238E27FC236}">
                <a16:creationId xmlns:a16="http://schemas.microsoft.com/office/drawing/2014/main" id="{75994054-C7FA-4934-9ED4-D403523FBE00}"/>
              </a:ext>
            </a:extLst>
          </p:cNvPr>
          <p:cNvSpPr/>
          <p:nvPr/>
        </p:nvSpPr>
        <p:spPr>
          <a:xfrm>
            <a:off x="4735833" y="3625915"/>
            <a:ext cx="1371600" cy="539750"/>
          </a:xfrm>
          <a:prstGeom prst="rect">
            <a:avLst/>
          </a:prstGeom>
          <a:solidFill>
            <a:schemeClr val="bg1">
              <a:lumMod val="95000"/>
            </a:schemeClr>
          </a:solidFill>
          <a:ln w="127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rPr>
              <a:t>CANSIM send weak signal for LCD recognize</a:t>
            </a:r>
          </a:p>
        </p:txBody>
      </p:sp>
      <p:sp>
        <p:nvSpPr>
          <p:cNvPr id="99" name="Rectangle 98">
            <a:extLst>
              <a:ext uri="{FF2B5EF4-FFF2-40B4-BE49-F238E27FC236}">
                <a16:creationId xmlns:a16="http://schemas.microsoft.com/office/drawing/2014/main" id="{5A1F7A52-226E-4A78-A0F9-0D9A9A23EAB8}"/>
              </a:ext>
            </a:extLst>
          </p:cNvPr>
          <p:cNvSpPr/>
          <p:nvPr/>
        </p:nvSpPr>
        <p:spPr>
          <a:xfrm>
            <a:off x="6409400" y="3630675"/>
            <a:ext cx="1970664" cy="539750"/>
          </a:xfrm>
          <a:prstGeom prst="rect">
            <a:avLst/>
          </a:prstGeom>
          <a:solidFill>
            <a:schemeClr val="bg1">
              <a:lumMod val="95000"/>
            </a:schemeClr>
          </a:solidFill>
          <a:ln w="31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rPr>
              <a:t>Change new CANSIM</a:t>
            </a:r>
          </a:p>
        </p:txBody>
      </p:sp>
      <p:sp>
        <p:nvSpPr>
          <p:cNvPr id="100" name="TextBox 99">
            <a:extLst>
              <a:ext uri="{FF2B5EF4-FFF2-40B4-BE49-F238E27FC236}">
                <a16:creationId xmlns:a16="http://schemas.microsoft.com/office/drawing/2014/main" id="{B140B348-EE79-468D-ACA4-7D910D6C585A}"/>
              </a:ext>
            </a:extLst>
          </p:cNvPr>
          <p:cNvSpPr txBox="1"/>
          <p:nvPr/>
        </p:nvSpPr>
        <p:spPr>
          <a:xfrm>
            <a:off x="8245705" y="3559095"/>
            <a:ext cx="357885" cy="369332"/>
          </a:xfrm>
          <a:prstGeom prst="rect">
            <a:avLst/>
          </a:prstGeom>
          <a:noFill/>
        </p:spPr>
        <p:txBody>
          <a:bodyPr wrap="square" rtlCol="0">
            <a:spAutoFit/>
          </a:bodyPr>
          <a:lstStyle/>
          <a:p>
            <a:pPr eaLnBrk="1" latinLnBrk="0"/>
            <a:r>
              <a:rPr lang="en-US" sz="1000" b="1" dirty="0">
                <a:solidFill>
                  <a:srgbClr val="FF0000"/>
                </a:solidFill>
                <a:latin typeface="Arial" panose="020B0600000101010101" pitchFamily="34" charset="-127"/>
                <a:ea typeface="Arial" panose="020B0600000101010101" pitchFamily="34" charset="-127"/>
                <a:sym typeface="Wingdings 2" panose="05020102010507070707" pitchFamily="18" charset="2"/>
              </a:rPr>
              <a:t></a:t>
            </a:r>
            <a:endParaRPr lang="en-US" b="1" dirty="0">
              <a:solidFill>
                <a:srgbClr val="FF0000"/>
              </a:solidFill>
              <a:latin typeface="LG Smart_H Regular" panose="020B0600000101010101" pitchFamily="34" charset="-127"/>
              <a:ea typeface="LG Smart_H Regular" panose="020B0600000101010101" pitchFamily="34" charset="-127"/>
            </a:endParaRPr>
          </a:p>
        </p:txBody>
      </p:sp>
      <p:cxnSp>
        <p:nvCxnSpPr>
          <p:cNvPr id="37" name="Connector: Elbow 36">
            <a:extLst>
              <a:ext uri="{FF2B5EF4-FFF2-40B4-BE49-F238E27FC236}">
                <a16:creationId xmlns:a16="http://schemas.microsoft.com/office/drawing/2014/main" id="{7A1AC0BE-D61B-4DF5-A5B3-7E662E9388EC}"/>
              </a:ext>
            </a:extLst>
          </p:cNvPr>
          <p:cNvCxnSpPr>
            <a:stCxn id="76" idx="3"/>
            <a:endCxn id="78" idx="1"/>
          </p:cNvCxnSpPr>
          <p:nvPr/>
        </p:nvCxnSpPr>
        <p:spPr bwMode="auto">
          <a:xfrm flipV="1">
            <a:off x="2783434" y="1237992"/>
            <a:ext cx="339593" cy="459240"/>
          </a:xfrm>
          <a:prstGeom prst="bentConnector3">
            <a:avLst/>
          </a:prstGeom>
          <a:noFill/>
          <a:ln w="9525" cap="flat" cmpd="sng" algn="ctr">
            <a:solidFill>
              <a:schemeClr val="tx1"/>
            </a:solidFill>
            <a:prstDash val="solid"/>
            <a:round/>
            <a:headEnd type="none" w="med" len="med"/>
            <a:tailEnd type="triangle"/>
          </a:ln>
          <a:effectLst/>
        </p:spPr>
      </p:cxnSp>
      <p:cxnSp>
        <p:nvCxnSpPr>
          <p:cNvPr id="39" name="Connector: Elbow 38">
            <a:extLst>
              <a:ext uri="{FF2B5EF4-FFF2-40B4-BE49-F238E27FC236}">
                <a16:creationId xmlns:a16="http://schemas.microsoft.com/office/drawing/2014/main" id="{815AC848-5978-4A92-9CE9-375F6E7FDBD4}"/>
              </a:ext>
            </a:extLst>
          </p:cNvPr>
          <p:cNvCxnSpPr>
            <a:stCxn id="76" idx="3"/>
            <a:endCxn id="77" idx="1"/>
          </p:cNvCxnSpPr>
          <p:nvPr/>
        </p:nvCxnSpPr>
        <p:spPr bwMode="auto">
          <a:xfrm>
            <a:off x="2783434" y="1697232"/>
            <a:ext cx="348848" cy="176427"/>
          </a:xfrm>
          <a:prstGeom prst="bentConnector3">
            <a:avLst/>
          </a:prstGeom>
          <a:noFill/>
          <a:ln w="9525" cap="flat" cmpd="sng" algn="ctr">
            <a:solidFill>
              <a:schemeClr val="tx1"/>
            </a:solidFill>
            <a:prstDash val="solid"/>
            <a:round/>
            <a:headEnd type="none" w="med" len="med"/>
            <a:tailEnd type="triangle"/>
          </a:ln>
          <a:effectLst/>
        </p:spPr>
      </p:cxnSp>
      <p:cxnSp>
        <p:nvCxnSpPr>
          <p:cNvPr id="41" name="Connector: Elbow 40">
            <a:extLst>
              <a:ext uri="{FF2B5EF4-FFF2-40B4-BE49-F238E27FC236}">
                <a16:creationId xmlns:a16="http://schemas.microsoft.com/office/drawing/2014/main" id="{7C42D187-FF46-4A63-9E9D-A025BC7CC663}"/>
              </a:ext>
            </a:extLst>
          </p:cNvPr>
          <p:cNvCxnSpPr>
            <a:stCxn id="76" idx="3"/>
            <a:endCxn id="84" idx="1"/>
          </p:cNvCxnSpPr>
          <p:nvPr/>
        </p:nvCxnSpPr>
        <p:spPr bwMode="auto">
          <a:xfrm>
            <a:off x="2783434" y="1697232"/>
            <a:ext cx="346967" cy="907622"/>
          </a:xfrm>
          <a:prstGeom prst="bentConnector3">
            <a:avLst/>
          </a:prstGeom>
          <a:noFill/>
          <a:ln w="9525" cap="flat" cmpd="sng" algn="ctr">
            <a:solidFill>
              <a:srgbClr val="FF0000"/>
            </a:solidFill>
            <a:prstDash val="solid"/>
            <a:round/>
            <a:headEnd type="none" w="med" len="med"/>
            <a:tailEnd type="triangle"/>
          </a:ln>
          <a:effectLst/>
        </p:spPr>
      </p:cxnSp>
      <p:cxnSp>
        <p:nvCxnSpPr>
          <p:cNvPr id="45" name="Connector: Elbow 44">
            <a:extLst>
              <a:ext uri="{FF2B5EF4-FFF2-40B4-BE49-F238E27FC236}">
                <a16:creationId xmlns:a16="http://schemas.microsoft.com/office/drawing/2014/main" id="{303C918B-97A1-4B86-8F1E-F6CE142A657B}"/>
              </a:ext>
            </a:extLst>
          </p:cNvPr>
          <p:cNvCxnSpPr>
            <a:stCxn id="76" idx="3"/>
            <a:endCxn id="97" idx="1"/>
          </p:cNvCxnSpPr>
          <p:nvPr/>
        </p:nvCxnSpPr>
        <p:spPr bwMode="auto">
          <a:xfrm>
            <a:off x="2783434" y="1697232"/>
            <a:ext cx="334668" cy="2198558"/>
          </a:xfrm>
          <a:prstGeom prst="bentConnector3">
            <a:avLst/>
          </a:prstGeom>
          <a:noFill/>
          <a:ln w="9525" cap="flat" cmpd="sng" algn="ctr">
            <a:solidFill>
              <a:srgbClr val="FF0000"/>
            </a:solidFill>
            <a:prstDash val="solid"/>
            <a:round/>
            <a:headEnd type="none" w="med" len="med"/>
            <a:tailEnd type="triangle"/>
          </a:ln>
          <a:effectLst/>
        </p:spPr>
      </p:cxnSp>
      <p:cxnSp>
        <p:nvCxnSpPr>
          <p:cNvPr id="47" name="Straight Arrow Connector 46">
            <a:extLst>
              <a:ext uri="{FF2B5EF4-FFF2-40B4-BE49-F238E27FC236}">
                <a16:creationId xmlns:a16="http://schemas.microsoft.com/office/drawing/2014/main" id="{CD65241C-0538-4EDA-9433-9F69261C4D85}"/>
              </a:ext>
            </a:extLst>
          </p:cNvPr>
          <p:cNvCxnSpPr>
            <a:stCxn id="97" idx="3"/>
            <a:endCxn id="98" idx="1"/>
          </p:cNvCxnSpPr>
          <p:nvPr/>
        </p:nvCxnSpPr>
        <p:spPr bwMode="auto">
          <a:xfrm>
            <a:off x="4414675" y="3895790"/>
            <a:ext cx="321158" cy="0"/>
          </a:xfrm>
          <a:prstGeom prst="straightConnector1">
            <a:avLst/>
          </a:prstGeom>
          <a:noFill/>
          <a:ln w="9525" cap="flat" cmpd="sng" algn="ctr">
            <a:solidFill>
              <a:srgbClr val="C00000"/>
            </a:solidFill>
            <a:prstDash val="solid"/>
            <a:round/>
            <a:headEnd type="none" w="med" len="med"/>
            <a:tailEnd type="triangle"/>
          </a:ln>
          <a:effectLst/>
        </p:spPr>
      </p:cxnSp>
      <p:cxnSp>
        <p:nvCxnSpPr>
          <p:cNvPr id="51" name="Straight Arrow Connector 50">
            <a:extLst>
              <a:ext uri="{FF2B5EF4-FFF2-40B4-BE49-F238E27FC236}">
                <a16:creationId xmlns:a16="http://schemas.microsoft.com/office/drawing/2014/main" id="{E4527899-A765-458F-8A78-A363E20CA815}"/>
              </a:ext>
            </a:extLst>
          </p:cNvPr>
          <p:cNvCxnSpPr>
            <a:stCxn id="84" idx="3"/>
            <a:endCxn id="89" idx="1"/>
          </p:cNvCxnSpPr>
          <p:nvPr/>
        </p:nvCxnSpPr>
        <p:spPr bwMode="auto">
          <a:xfrm>
            <a:off x="4426974" y="2604854"/>
            <a:ext cx="321158" cy="0"/>
          </a:xfrm>
          <a:prstGeom prst="straightConnector1">
            <a:avLst/>
          </a:prstGeom>
          <a:noFill/>
          <a:ln w="9525" cap="flat" cmpd="sng" algn="ctr">
            <a:solidFill>
              <a:srgbClr val="C00000"/>
            </a:solidFill>
            <a:prstDash val="solid"/>
            <a:round/>
            <a:headEnd type="none" w="med" len="med"/>
            <a:tailEnd type="triangle"/>
          </a:ln>
          <a:effectLst/>
        </p:spPr>
      </p:cxnSp>
      <p:cxnSp>
        <p:nvCxnSpPr>
          <p:cNvPr id="53" name="Straight Arrow Connector 52">
            <a:extLst>
              <a:ext uri="{FF2B5EF4-FFF2-40B4-BE49-F238E27FC236}">
                <a16:creationId xmlns:a16="http://schemas.microsoft.com/office/drawing/2014/main" id="{9AFC0009-2914-4210-BA1F-C7185110F42E}"/>
              </a:ext>
            </a:extLst>
          </p:cNvPr>
          <p:cNvCxnSpPr>
            <a:stCxn id="77" idx="3"/>
            <a:endCxn id="81" idx="1"/>
          </p:cNvCxnSpPr>
          <p:nvPr/>
        </p:nvCxnSpPr>
        <p:spPr bwMode="auto">
          <a:xfrm>
            <a:off x="4428855" y="1873659"/>
            <a:ext cx="304800" cy="0"/>
          </a:xfrm>
          <a:prstGeom prst="straightConnector1">
            <a:avLst/>
          </a:prstGeom>
          <a:noFill/>
          <a:ln w="9525" cap="flat" cmpd="sng" algn="ctr">
            <a:solidFill>
              <a:schemeClr val="tx1"/>
            </a:solidFill>
            <a:prstDash val="solid"/>
            <a:round/>
            <a:headEnd type="none" w="med" len="med"/>
            <a:tailEnd type="triangle"/>
          </a:ln>
          <a:effectLst/>
        </p:spPr>
      </p:cxnSp>
      <p:cxnSp>
        <p:nvCxnSpPr>
          <p:cNvPr id="55" name="Straight Arrow Connector 54">
            <a:extLst>
              <a:ext uri="{FF2B5EF4-FFF2-40B4-BE49-F238E27FC236}">
                <a16:creationId xmlns:a16="http://schemas.microsoft.com/office/drawing/2014/main" id="{6AF0FBA5-C2E8-41FC-94EA-78655BBAEBCA}"/>
              </a:ext>
            </a:extLst>
          </p:cNvPr>
          <p:cNvCxnSpPr>
            <a:stCxn id="78" idx="3"/>
            <a:endCxn id="79" idx="1"/>
          </p:cNvCxnSpPr>
          <p:nvPr/>
        </p:nvCxnSpPr>
        <p:spPr bwMode="auto">
          <a:xfrm flipV="1">
            <a:off x="4419600" y="1237550"/>
            <a:ext cx="311016" cy="442"/>
          </a:xfrm>
          <a:prstGeom prst="straightConnector1">
            <a:avLst/>
          </a:prstGeom>
          <a:noFill/>
          <a:ln w="9525" cap="flat" cmpd="sng" algn="ctr">
            <a:solidFill>
              <a:schemeClr val="tx1"/>
            </a:solidFill>
            <a:prstDash val="solid"/>
            <a:round/>
            <a:headEnd type="none" w="med" len="med"/>
            <a:tailEnd type="triangle"/>
          </a:ln>
          <a:effectLst/>
        </p:spPr>
      </p:cxnSp>
      <p:cxnSp>
        <p:nvCxnSpPr>
          <p:cNvPr id="57" name="Straight Arrow Connector 56">
            <a:extLst>
              <a:ext uri="{FF2B5EF4-FFF2-40B4-BE49-F238E27FC236}">
                <a16:creationId xmlns:a16="http://schemas.microsoft.com/office/drawing/2014/main" id="{1F3F4B1A-206F-4764-AB45-1B97FEE192AC}"/>
              </a:ext>
            </a:extLst>
          </p:cNvPr>
          <p:cNvCxnSpPr>
            <a:stCxn id="79" idx="3"/>
            <a:endCxn id="103" idx="1"/>
          </p:cNvCxnSpPr>
          <p:nvPr/>
        </p:nvCxnSpPr>
        <p:spPr bwMode="auto">
          <a:xfrm>
            <a:off x="6102216" y="1237550"/>
            <a:ext cx="312109" cy="0"/>
          </a:xfrm>
          <a:prstGeom prst="straightConnector1">
            <a:avLst/>
          </a:prstGeom>
          <a:noFill/>
          <a:ln w="9525" cap="flat" cmpd="sng" algn="ctr">
            <a:solidFill>
              <a:schemeClr val="tx1"/>
            </a:solidFill>
            <a:prstDash val="solid"/>
            <a:round/>
            <a:headEnd type="none" w="med" len="med"/>
            <a:tailEnd type="triangle"/>
          </a:ln>
          <a:effectLst/>
        </p:spPr>
      </p:cxnSp>
      <p:cxnSp>
        <p:nvCxnSpPr>
          <p:cNvPr id="59" name="Straight Arrow Connector 58">
            <a:extLst>
              <a:ext uri="{FF2B5EF4-FFF2-40B4-BE49-F238E27FC236}">
                <a16:creationId xmlns:a16="http://schemas.microsoft.com/office/drawing/2014/main" id="{4ED58CB8-EB39-4ECB-BB3D-DF765EEF23C6}"/>
              </a:ext>
            </a:extLst>
          </p:cNvPr>
          <p:cNvCxnSpPr>
            <a:stCxn id="81" idx="3"/>
            <a:endCxn id="104" idx="1"/>
          </p:cNvCxnSpPr>
          <p:nvPr/>
        </p:nvCxnSpPr>
        <p:spPr bwMode="auto">
          <a:xfrm>
            <a:off x="6105255" y="1873659"/>
            <a:ext cx="289584" cy="0"/>
          </a:xfrm>
          <a:prstGeom prst="straightConnector1">
            <a:avLst/>
          </a:prstGeom>
          <a:noFill/>
          <a:ln w="9525" cap="flat" cmpd="sng" algn="ctr">
            <a:solidFill>
              <a:schemeClr val="tx1"/>
            </a:solidFill>
            <a:prstDash val="solid"/>
            <a:round/>
            <a:headEnd type="none" w="med" len="med"/>
            <a:tailEnd type="triangle"/>
          </a:ln>
          <a:effectLst/>
        </p:spPr>
      </p:cxnSp>
      <p:cxnSp>
        <p:nvCxnSpPr>
          <p:cNvPr id="62" name="Straight Arrow Connector 61">
            <a:extLst>
              <a:ext uri="{FF2B5EF4-FFF2-40B4-BE49-F238E27FC236}">
                <a16:creationId xmlns:a16="http://schemas.microsoft.com/office/drawing/2014/main" id="{F40C8031-D0CB-4EA3-B672-41A2BAA53A8B}"/>
              </a:ext>
            </a:extLst>
          </p:cNvPr>
          <p:cNvCxnSpPr>
            <a:stCxn id="89" idx="3"/>
            <a:endCxn id="106" idx="1"/>
          </p:cNvCxnSpPr>
          <p:nvPr/>
        </p:nvCxnSpPr>
        <p:spPr bwMode="auto">
          <a:xfrm>
            <a:off x="6119732" y="2604854"/>
            <a:ext cx="301966" cy="4760"/>
          </a:xfrm>
          <a:prstGeom prst="straightConnector1">
            <a:avLst/>
          </a:prstGeom>
          <a:noFill/>
          <a:ln w="9525" cap="flat" cmpd="sng" algn="ctr">
            <a:solidFill>
              <a:srgbClr val="C00000"/>
            </a:solidFill>
            <a:prstDash val="solid"/>
            <a:round/>
            <a:headEnd type="none" w="med" len="med"/>
            <a:tailEnd type="triangle"/>
          </a:ln>
          <a:effectLst/>
        </p:spPr>
      </p:cxnSp>
      <p:cxnSp>
        <p:nvCxnSpPr>
          <p:cNvPr id="65" name="Straight Arrow Connector 64">
            <a:extLst>
              <a:ext uri="{FF2B5EF4-FFF2-40B4-BE49-F238E27FC236}">
                <a16:creationId xmlns:a16="http://schemas.microsoft.com/office/drawing/2014/main" id="{170F0DBF-836A-475B-A067-ABA424571F49}"/>
              </a:ext>
            </a:extLst>
          </p:cNvPr>
          <p:cNvCxnSpPr>
            <a:cxnSpLocks/>
            <a:stCxn id="188" idx="3"/>
            <a:endCxn id="189" idx="1"/>
          </p:cNvCxnSpPr>
          <p:nvPr/>
        </p:nvCxnSpPr>
        <p:spPr bwMode="auto">
          <a:xfrm>
            <a:off x="6114889" y="3286870"/>
            <a:ext cx="301967" cy="4760"/>
          </a:xfrm>
          <a:prstGeom prst="straightConnector1">
            <a:avLst/>
          </a:prstGeom>
          <a:noFill/>
          <a:ln w="9525" cap="flat" cmpd="sng" algn="ctr">
            <a:solidFill>
              <a:srgbClr val="C00000"/>
            </a:solidFill>
            <a:prstDash val="solid"/>
            <a:round/>
            <a:headEnd type="none" w="med" len="med"/>
            <a:tailEnd type="triangle"/>
          </a:ln>
          <a:effectLst/>
        </p:spPr>
      </p:cxnSp>
      <p:cxnSp>
        <p:nvCxnSpPr>
          <p:cNvPr id="67" name="Straight Arrow Connector 66">
            <a:extLst>
              <a:ext uri="{FF2B5EF4-FFF2-40B4-BE49-F238E27FC236}">
                <a16:creationId xmlns:a16="http://schemas.microsoft.com/office/drawing/2014/main" id="{10B380A6-82B8-4C3E-A43A-E1768E54CA4B}"/>
              </a:ext>
            </a:extLst>
          </p:cNvPr>
          <p:cNvCxnSpPr>
            <a:stCxn id="98" idx="3"/>
            <a:endCxn id="99" idx="1"/>
          </p:cNvCxnSpPr>
          <p:nvPr/>
        </p:nvCxnSpPr>
        <p:spPr bwMode="auto">
          <a:xfrm>
            <a:off x="6107433" y="3895790"/>
            <a:ext cx="301967" cy="4760"/>
          </a:xfrm>
          <a:prstGeom prst="straightConnector1">
            <a:avLst/>
          </a:prstGeom>
          <a:noFill/>
          <a:ln w="9525" cap="flat" cmpd="sng" algn="ctr">
            <a:solidFill>
              <a:srgbClr val="C00000"/>
            </a:solidFill>
            <a:prstDash val="solid"/>
            <a:round/>
            <a:headEnd type="none" w="med" len="med"/>
            <a:tailEnd type="triangle"/>
          </a:ln>
          <a:effectLst/>
        </p:spPr>
      </p:cxnSp>
      <p:sp>
        <p:nvSpPr>
          <p:cNvPr id="172" name="AutoShape 58">
            <a:extLst>
              <a:ext uri="{FF2B5EF4-FFF2-40B4-BE49-F238E27FC236}">
                <a16:creationId xmlns:a16="http://schemas.microsoft.com/office/drawing/2014/main" id="{B62677B9-888A-4840-899E-E32D64306EB5}"/>
              </a:ext>
            </a:extLst>
          </p:cNvPr>
          <p:cNvSpPr>
            <a:spLocks noChangeArrowheads="1"/>
          </p:cNvSpPr>
          <p:nvPr/>
        </p:nvSpPr>
        <p:spPr bwMode="auto">
          <a:xfrm>
            <a:off x="7078109" y="166585"/>
            <a:ext cx="747712"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Measure </a:t>
            </a:r>
          </a:p>
        </p:txBody>
      </p:sp>
      <p:sp>
        <p:nvSpPr>
          <p:cNvPr id="183" name="AutoShape 57">
            <a:extLst>
              <a:ext uri="{FF2B5EF4-FFF2-40B4-BE49-F238E27FC236}">
                <a16:creationId xmlns:a16="http://schemas.microsoft.com/office/drawing/2014/main" id="{23C9CAEE-59A1-46EB-8940-8C7223841C65}"/>
              </a:ext>
            </a:extLst>
          </p:cNvPr>
          <p:cNvSpPr>
            <a:spLocks noChangeArrowheads="1"/>
          </p:cNvSpPr>
          <p:nvPr/>
        </p:nvSpPr>
        <p:spPr bwMode="auto">
          <a:xfrm>
            <a:off x="7749621" y="22123"/>
            <a:ext cx="749300" cy="287337"/>
          </a:xfrm>
          <a:prstGeom prst="homePlate">
            <a:avLst>
              <a:gd name="adj" fmla="val 46698"/>
            </a:avLst>
          </a:prstGeom>
          <a:gradFill rotWithShape="1">
            <a:gsLst>
              <a:gs pos="0">
                <a:srgbClr val="494900"/>
              </a:gs>
              <a:gs pos="100000">
                <a:srgbClr val="808000"/>
              </a:gs>
            </a:gsLst>
            <a:lin ang="0" scaled="1"/>
          </a:gradFill>
          <a:ln w="6350" algn="ctr">
            <a:solidFill>
              <a:srgbClr val="808080"/>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latin typeface="Arial Narrow" panose="020B0606020202030204" pitchFamily="34" charset="0"/>
                <a:ea typeface="Arial" panose="020B0503020000020004" pitchFamily="50" charset="-127"/>
              </a:rPr>
              <a:t>Analyze</a:t>
            </a:r>
          </a:p>
        </p:txBody>
      </p:sp>
      <p:cxnSp>
        <p:nvCxnSpPr>
          <p:cNvPr id="15" name="Connector: Elbow 14">
            <a:extLst>
              <a:ext uri="{FF2B5EF4-FFF2-40B4-BE49-F238E27FC236}">
                <a16:creationId xmlns:a16="http://schemas.microsoft.com/office/drawing/2014/main" id="{BCF99099-F0BF-42B7-BA7E-6881BC669740}"/>
              </a:ext>
            </a:extLst>
          </p:cNvPr>
          <p:cNvCxnSpPr>
            <a:cxnSpLocks/>
            <a:stCxn id="84" idx="3"/>
            <a:endCxn id="188" idx="1"/>
          </p:cNvCxnSpPr>
          <p:nvPr/>
        </p:nvCxnSpPr>
        <p:spPr bwMode="auto">
          <a:xfrm>
            <a:off x="4426974" y="2604854"/>
            <a:ext cx="316315" cy="682016"/>
          </a:xfrm>
          <a:prstGeom prst="bentConnector3">
            <a:avLst/>
          </a:prstGeom>
          <a:noFill/>
          <a:ln w="9525" cap="flat" cmpd="sng" algn="ctr">
            <a:solidFill>
              <a:srgbClr val="C00000"/>
            </a:solidFill>
            <a:prstDash val="solid"/>
            <a:round/>
            <a:headEnd type="none" w="med" len="med"/>
            <a:tailEnd type="triangle"/>
          </a:ln>
          <a:effectLst/>
        </p:spPr>
      </p:cxnSp>
      <p:cxnSp>
        <p:nvCxnSpPr>
          <p:cNvPr id="82" name="Straight Connector 81">
            <a:extLst>
              <a:ext uri="{FF2B5EF4-FFF2-40B4-BE49-F238E27FC236}">
                <a16:creationId xmlns:a16="http://schemas.microsoft.com/office/drawing/2014/main" id="{165D5E96-02F4-4B54-9857-CC1D4C995313}"/>
              </a:ext>
            </a:extLst>
          </p:cNvPr>
          <p:cNvCxnSpPr/>
          <p:nvPr/>
        </p:nvCxnSpPr>
        <p:spPr>
          <a:xfrm>
            <a:off x="0" y="508838"/>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3124138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 name="제목 1">
            <a:extLst>
              <a:ext uri="{FF2B5EF4-FFF2-40B4-BE49-F238E27FC236}">
                <a16:creationId xmlns:a16="http://schemas.microsoft.com/office/drawing/2014/main" id="{A33C1AE4-DB4A-4748-A4CE-56DE3154E7D9}"/>
              </a:ext>
            </a:extLst>
          </p:cNvPr>
          <p:cNvSpPr txBox="1">
            <a:spLocks/>
          </p:cNvSpPr>
          <p:nvPr/>
        </p:nvSpPr>
        <p:spPr>
          <a:xfrm>
            <a:off x="27541" y="64338"/>
            <a:ext cx="6085642" cy="418058"/>
          </a:xfrm>
          <a:prstGeom prst="rect">
            <a:avLst/>
          </a:prstGeom>
        </p:spPr>
        <p:txBody>
          <a:bodyPr vert="horz" lIns="91440" tIns="45720" rIns="91440" bIns="45720" rtlCol="0" anchor="ctr">
            <a:noAutofit/>
          </a:bodyPr>
          <a:lstStyle/>
          <a:p>
            <a:pPr eaLnBrk="1" latinLnBrk="0" hangingPunct="0">
              <a:defRPr/>
            </a:pPr>
            <a:r>
              <a:rPr lang="vi-VN" altLang="ko-KR" sz="1600" b="1" kern="0" dirty="0">
                <a:solidFill>
                  <a:srgbClr val="000000"/>
                </a:solidFill>
                <a:latin typeface="Arial Narrow" panose="020B0606020202030204" pitchFamily="34" charset="0"/>
                <a:ea typeface="LG Smart_H Regular" pitchFamily="34" charset="-127"/>
              </a:rPr>
              <a:t>3.1</a:t>
            </a:r>
            <a:r>
              <a:rPr lang="en-US" altLang="ko-KR" sz="1600" b="1" kern="0" dirty="0">
                <a:solidFill>
                  <a:srgbClr val="000000"/>
                </a:solidFill>
                <a:latin typeface="Arial Narrow" panose="020B0606020202030204" pitchFamily="34" charset="0"/>
                <a:ea typeface="LG Smart_H Regular" pitchFamily="34" charset="-127"/>
              </a:rPr>
              <a:t> Root cause of measurement system problem</a:t>
            </a:r>
            <a:endParaRPr lang="ko-KR" altLang="en-US" sz="1600" b="1" kern="0" dirty="0">
              <a:solidFill>
                <a:srgbClr val="000000"/>
              </a:solidFill>
              <a:latin typeface="Arial Narrow" panose="020B0606020202030204" pitchFamily="34" charset="0"/>
              <a:ea typeface="LG Smart_H Regular" pitchFamily="34" charset="-127"/>
            </a:endParaRPr>
          </a:p>
        </p:txBody>
      </p:sp>
      <p:sp>
        <p:nvSpPr>
          <p:cNvPr id="64" name="Slide Number Placeholder 4">
            <a:extLst>
              <a:ext uri="{FF2B5EF4-FFF2-40B4-BE49-F238E27FC236}">
                <a16:creationId xmlns:a16="http://schemas.microsoft.com/office/drawing/2014/main" id="{24735193-EBAE-47F7-AE08-C4E051B6506F}"/>
              </a:ext>
            </a:extLst>
          </p:cNvPr>
          <p:cNvSpPr>
            <a:spLocks noGrp="1"/>
          </p:cNvSpPr>
          <p:nvPr>
            <p:ph type="sldNum" sz="quarter" idx="12"/>
          </p:nvPr>
        </p:nvSpPr>
        <p:spPr>
          <a:xfrm>
            <a:off x="3581025" y="6631416"/>
            <a:ext cx="2133600" cy="198047"/>
          </a:xfrm>
        </p:spPr>
        <p:txBody>
          <a:bodyPr/>
          <a:lstStyle/>
          <a:p>
            <a:pPr algn="ctr" eaLnBrk="1" latinLnBrk="0"/>
            <a:r>
              <a:rPr sz="1000" b="0">
                <a:latin typeface="Arial"/>
              </a:rPr>
              <a:t>12 / 33</a:t>
            </a:r>
            <a:endParaRPr lang="ko-KR" altLang="en-US" sz="1200" dirty="0">
              <a:solidFill>
                <a:prstClr val="black">
                  <a:tint val="75000"/>
                </a:prstClr>
              </a:solidFill>
              <a:latin typeface="Arial" panose="020B0604020202020204" pitchFamily="34" charset="0"/>
              <a:ea typeface="Arial Unicode MS" panose="020B0604020202020204" pitchFamily="34" charset="-128"/>
              <a:cs typeface="Arial" panose="020B0604020202020204" pitchFamily="34" charset="0"/>
            </a:endParaRPr>
          </a:p>
        </p:txBody>
      </p:sp>
      <p:sp>
        <p:nvSpPr>
          <p:cNvPr id="121" name="TextBox 120">
            <a:extLst>
              <a:ext uri="{FF2B5EF4-FFF2-40B4-BE49-F238E27FC236}">
                <a16:creationId xmlns:a16="http://schemas.microsoft.com/office/drawing/2014/main" id="{730BA61B-B65C-41A9-8B27-50F93589B063}"/>
              </a:ext>
            </a:extLst>
          </p:cNvPr>
          <p:cNvSpPr txBox="1"/>
          <p:nvPr/>
        </p:nvSpPr>
        <p:spPr>
          <a:xfrm>
            <a:off x="244673" y="6496049"/>
            <a:ext cx="1234633" cy="261610"/>
          </a:xfrm>
          <a:prstGeom prst="rect">
            <a:avLst/>
          </a:prstGeom>
          <a:noFill/>
        </p:spPr>
        <p:txBody>
          <a:bodyPr wrap="none" rtlCol="0">
            <a:spAutoFit/>
          </a:bodyPr>
          <a:lstStyle/>
          <a:p>
            <a:pPr eaLnBrk="1" latinLnBrk="0"/>
            <a:r>
              <a:rPr lang="en-US" sz="1000" dirty="0">
                <a:solidFill>
                  <a:srgbClr val="000000"/>
                </a:solidFill>
                <a:latin typeface="Arial" panose="020B0600000101010101" pitchFamily="34" charset="-127"/>
                <a:ea typeface="Arial" panose="020B0600000101010101" pitchFamily="34" charset="-127"/>
              </a:rPr>
              <a:t>: Potential factor</a:t>
            </a:r>
            <a:endParaRPr lang="en-US" sz="1400" dirty="0">
              <a:latin typeface="LG Smart_H Regular" panose="020B0600000101010101" pitchFamily="34" charset="-127"/>
              <a:ea typeface="LG Smart_H Regular" panose="020B0600000101010101" pitchFamily="34" charset="-127"/>
            </a:endParaRPr>
          </a:p>
        </p:txBody>
      </p:sp>
      <p:sp>
        <p:nvSpPr>
          <p:cNvPr id="122" name="TextBox 121">
            <a:extLst>
              <a:ext uri="{FF2B5EF4-FFF2-40B4-BE49-F238E27FC236}">
                <a16:creationId xmlns:a16="http://schemas.microsoft.com/office/drawing/2014/main" id="{60C5646B-6776-41B4-BBD7-13F91A6E3313}"/>
              </a:ext>
            </a:extLst>
          </p:cNvPr>
          <p:cNvSpPr txBox="1"/>
          <p:nvPr/>
        </p:nvSpPr>
        <p:spPr>
          <a:xfrm>
            <a:off x="39997" y="6477386"/>
            <a:ext cx="180000" cy="374589"/>
          </a:xfrm>
          <a:prstGeom prst="rect">
            <a:avLst/>
          </a:prstGeom>
          <a:noFill/>
        </p:spPr>
        <p:txBody>
          <a:bodyPr wrap="square" rtlCol="0">
            <a:noAutofit/>
          </a:bodyPr>
          <a:lstStyle/>
          <a:p>
            <a:pPr eaLnBrk="1" latinLnBrk="0"/>
            <a:r>
              <a:rPr lang="en-US" sz="1000" b="1" dirty="0">
                <a:solidFill>
                  <a:srgbClr val="FF0000"/>
                </a:solidFill>
                <a:latin typeface="Arial" panose="020B0600000101010101" pitchFamily="34" charset="-127"/>
                <a:ea typeface="Arial" panose="020B0600000101010101" pitchFamily="34" charset="-127"/>
                <a:sym typeface="Wingdings 2" panose="05020102010507070707" pitchFamily="18" charset="2"/>
              </a:rPr>
              <a:t></a:t>
            </a:r>
            <a:endParaRPr lang="en-US" b="1" dirty="0">
              <a:solidFill>
                <a:srgbClr val="FF0000"/>
              </a:solidFill>
              <a:latin typeface="LG Smart_H Regular" panose="020B0600000101010101" pitchFamily="34" charset="-127"/>
              <a:ea typeface="LG Smart_H Regular" panose="020B0600000101010101" pitchFamily="34" charset="-127"/>
            </a:endParaRPr>
          </a:p>
        </p:txBody>
      </p:sp>
      <p:sp>
        <p:nvSpPr>
          <p:cNvPr id="105" name="Text Box 2">
            <a:extLst>
              <a:ext uri="{FF2B5EF4-FFF2-40B4-BE49-F238E27FC236}">
                <a16:creationId xmlns:a16="http://schemas.microsoft.com/office/drawing/2014/main" id="{F885FEA8-2650-4BAE-BD30-177BEEB89DF5}"/>
              </a:ext>
            </a:extLst>
          </p:cNvPr>
          <p:cNvSpPr txBox="1">
            <a:spLocks noChangeArrowheads="1"/>
          </p:cNvSpPr>
          <p:nvPr/>
        </p:nvSpPr>
        <p:spPr bwMode="auto">
          <a:xfrm>
            <a:off x="39997" y="508838"/>
            <a:ext cx="5645539" cy="304800"/>
          </a:xfrm>
          <a:prstGeom prst="rect">
            <a:avLst/>
          </a:prstGeom>
          <a:noFill/>
          <a:ln w="9525" algn="ctr">
            <a:noFill/>
            <a:miter lim="800000"/>
            <a:headEnd/>
            <a:tailEnd/>
          </a:ln>
        </p:spPr>
        <p:txBody>
          <a:bodyPr lIns="84374" tIns="42187" rIns="84374" bIns="42187" anchor="ctr"/>
          <a:lstStyle/>
          <a:p>
            <a:pPr marL="171450" indent="-171450" defTabSz="844083" eaLnBrk="1" fontAlgn="base" latinLnBrk="0">
              <a:spcBef>
                <a:spcPct val="0"/>
              </a:spcBef>
              <a:spcAft>
                <a:spcPct val="0"/>
              </a:spcAft>
              <a:buFont typeface="Wingdings" panose="05000000000000000000" pitchFamily="2" charset="2"/>
              <a:buChar char="q"/>
              <a:defRPr/>
            </a:pPr>
            <a:r>
              <a:rPr lang="en-US" altLang="ko-KR" sz="1000" b="1" dirty="0">
                <a:solidFill>
                  <a:srgbClr val="000000"/>
                </a:solidFill>
                <a:latin typeface="Arial" panose="020B0600000101010101" pitchFamily="34" charset="-127"/>
                <a:ea typeface="Arial" panose="020B0600000101010101" pitchFamily="34" charset="-127"/>
                <a:cs typeface="Arial" panose="020B0604020202020204" pitchFamily="34" charset="0"/>
              </a:rPr>
              <a:t>2 Samples T </a:t>
            </a:r>
            <a:endParaRPr lang="ko-KR" altLang="en-US" sz="1200" b="1" dirty="0">
              <a:solidFill>
                <a:srgbClr val="000000"/>
              </a:solidFill>
              <a:latin typeface="LG Smart_H Regular" panose="020B0600000101010101" pitchFamily="34" charset="-127"/>
              <a:ea typeface="LG Smart_H Regular" panose="020B0600000101010101" pitchFamily="34" charset="-127"/>
              <a:cs typeface="Arial" panose="020B0604020202020204" pitchFamily="34" charset="0"/>
            </a:endParaRPr>
          </a:p>
        </p:txBody>
      </p:sp>
      <p:sp>
        <p:nvSpPr>
          <p:cNvPr id="100" name="AutoShape 55">
            <a:extLst>
              <a:ext uri="{FF2B5EF4-FFF2-40B4-BE49-F238E27FC236}">
                <a16:creationId xmlns:a16="http://schemas.microsoft.com/office/drawing/2014/main" id="{EED46192-4ED1-4158-8F3E-AA2D8BB90551}"/>
              </a:ext>
            </a:extLst>
          </p:cNvPr>
          <p:cNvSpPr>
            <a:spLocks noChangeArrowheads="1"/>
          </p:cNvSpPr>
          <p:nvPr/>
        </p:nvSpPr>
        <p:spPr bwMode="auto">
          <a:xfrm>
            <a:off x="9130746" y="166585"/>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Control</a:t>
            </a:r>
          </a:p>
        </p:txBody>
      </p:sp>
      <p:sp>
        <p:nvSpPr>
          <p:cNvPr id="101" name="AutoShape 56">
            <a:extLst>
              <a:ext uri="{FF2B5EF4-FFF2-40B4-BE49-F238E27FC236}">
                <a16:creationId xmlns:a16="http://schemas.microsoft.com/office/drawing/2014/main" id="{7459209F-12BD-4723-B248-E7E3EC691992}"/>
              </a:ext>
            </a:extLst>
          </p:cNvPr>
          <p:cNvSpPr>
            <a:spLocks noChangeArrowheads="1"/>
          </p:cNvSpPr>
          <p:nvPr/>
        </p:nvSpPr>
        <p:spPr bwMode="auto">
          <a:xfrm>
            <a:off x="8441771" y="166585"/>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solidFill>
                  <a:schemeClr val="tx1"/>
                </a:solidFill>
                <a:latin typeface="Arial Narrow" panose="020B0606020202030204" pitchFamily="34" charset="0"/>
                <a:ea typeface="Arial" panose="020B0503020000020004" pitchFamily="50" charset="-127"/>
              </a:rPr>
              <a:t>Improve</a:t>
            </a:r>
          </a:p>
        </p:txBody>
      </p:sp>
      <p:sp>
        <p:nvSpPr>
          <p:cNvPr id="114" name="AutoShape 58">
            <a:extLst>
              <a:ext uri="{FF2B5EF4-FFF2-40B4-BE49-F238E27FC236}">
                <a16:creationId xmlns:a16="http://schemas.microsoft.com/office/drawing/2014/main" id="{427C720A-861D-4934-858A-D651CA1E3F01}"/>
              </a:ext>
            </a:extLst>
          </p:cNvPr>
          <p:cNvSpPr>
            <a:spLocks noChangeArrowheads="1"/>
          </p:cNvSpPr>
          <p:nvPr/>
        </p:nvSpPr>
        <p:spPr bwMode="auto">
          <a:xfrm>
            <a:off x="7078109" y="166585"/>
            <a:ext cx="747712"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Measure </a:t>
            </a:r>
          </a:p>
        </p:txBody>
      </p:sp>
      <p:sp>
        <p:nvSpPr>
          <p:cNvPr id="115" name="AutoShape 59">
            <a:extLst>
              <a:ext uri="{FF2B5EF4-FFF2-40B4-BE49-F238E27FC236}">
                <a16:creationId xmlns:a16="http://schemas.microsoft.com/office/drawing/2014/main" id="{05E66742-DE0E-48EA-8AA8-4CD0C5704A27}"/>
              </a:ext>
            </a:extLst>
          </p:cNvPr>
          <p:cNvSpPr>
            <a:spLocks noChangeArrowheads="1"/>
          </p:cNvSpPr>
          <p:nvPr/>
        </p:nvSpPr>
        <p:spPr bwMode="auto">
          <a:xfrm>
            <a:off x="6381196" y="166585"/>
            <a:ext cx="757238" cy="287338"/>
          </a:xfrm>
          <a:prstGeom prst="homePlate">
            <a:avLst>
              <a:gd name="adj" fmla="val 47192"/>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Define</a:t>
            </a:r>
          </a:p>
        </p:txBody>
      </p:sp>
      <p:sp>
        <p:nvSpPr>
          <p:cNvPr id="116" name="AutoShape 57">
            <a:extLst>
              <a:ext uri="{FF2B5EF4-FFF2-40B4-BE49-F238E27FC236}">
                <a16:creationId xmlns:a16="http://schemas.microsoft.com/office/drawing/2014/main" id="{DFFBFEFF-78C8-4850-A9A2-2EB6B7D4D071}"/>
              </a:ext>
            </a:extLst>
          </p:cNvPr>
          <p:cNvSpPr>
            <a:spLocks noChangeArrowheads="1"/>
          </p:cNvSpPr>
          <p:nvPr/>
        </p:nvSpPr>
        <p:spPr bwMode="auto">
          <a:xfrm>
            <a:off x="7749621" y="22123"/>
            <a:ext cx="749300" cy="287337"/>
          </a:xfrm>
          <a:prstGeom prst="homePlate">
            <a:avLst>
              <a:gd name="adj" fmla="val 46698"/>
            </a:avLst>
          </a:prstGeom>
          <a:gradFill rotWithShape="1">
            <a:gsLst>
              <a:gs pos="0">
                <a:srgbClr val="494900"/>
              </a:gs>
              <a:gs pos="100000">
                <a:srgbClr val="808000"/>
              </a:gs>
            </a:gsLst>
            <a:lin ang="0" scaled="1"/>
          </a:gradFill>
          <a:ln w="6350" algn="ctr">
            <a:solidFill>
              <a:srgbClr val="808080"/>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latin typeface="Arial Narrow" panose="020B0606020202030204" pitchFamily="34" charset="0"/>
                <a:ea typeface="Arial" panose="020B0503020000020004" pitchFamily="50" charset="-127"/>
              </a:rPr>
              <a:t>Analyze</a:t>
            </a:r>
          </a:p>
        </p:txBody>
      </p:sp>
      <p:graphicFrame>
        <p:nvGraphicFramePr>
          <p:cNvPr id="3" name="Table 2">
            <a:extLst>
              <a:ext uri="{FF2B5EF4-FFF2-40B4-BE49-F238E27FC236}">
                <a16:creationId xmlns:a16="http://schemas.microsoft.com/office/drawing/2014/main" id="{FEB4F0AC-5783-4227-97F5-8187EC65FDFE}"/>
              </a:ext>
            </a:extLst>
          </p:cNvPr>
          <p:cNvGraphicFramePr>
            <a:graphicFrameLocks noGrp="1"/>
          </p:cNvGraphicFramePr>
          <p:nvPr>
            <p:extLst>
              <p:ext uri="{D42A27DB-BD31-4B8C-83A1-F6EECF244321}">
                <p14:modId xmlns:p14="http://schemas.microsoft.com/office/powerpoint/2010/main" val="2536506491"/>
              </p:ext>
            </p:extLst>
          </p:nvPr>
        </p:nvGraphicFramePr>
        <p:xfrm>
          <a:off x="328027" y="1087809"/>
          <a:ext cx="8793194" cy="2130540"/>
        </p:xfrm>
        <a:graphic>
          <a:graphicData uri="http://schemas.openxmlformats.org/drawingml/2006/table">
            <a:tbl>
              <a:tblPr/>
              <a:tblGrid>
                <a:gridCol w="558298">
                  <a:extLst>
                    <a:ext uri="{9D8B030D-6E8A-4147-A177-3AD203B41FA5}">
                      <a16:colId xmlns:a16="http://schemas.microsoft.com/office/drawing/2014/main" val="675507370"/>
                    </a:ext>
                  </a:extLst>
                </a:gridCol>
                <a:gridCol w="2628653">
                  <a:extLst>
                    <a:ext uri="{9D8B030D-6E8A-4147-A177-3AD203B41FA5}">
                      <a16:colId xmlns:a16="http://schemas.microsoft.com/office/drawing/2014/main" val="851657989"/>
                    </a:ext>
                  </a:extLst>
                </a:gridCol>
                <a:gridCol w="4094186">
                  <a:extLst>
                    <a:ext uri="{9D8B030D-6E8A-4147-A177-3AD203B41FA5}">
                      <a16:colId xmlns:a16="http://schemas.microsoft.com/office/drawing/2014/main" val="4121057302"/>
                    </a:ext>
                  </a:extLst>
                </a:gridCol>
                <a:gridCol w="569929">
                  <a:extLst>
                    <a:ext uri="{9D8B030D-6E8A-4147-A177-3AD203B41FA5}">
                      <a16:colId xmlns:a16="http://schemas.microsoft.com/office/drawing/2014/main" val="1649521796"/>
                    </a:ext>
                  </a:extLst>
                </a:gridCol>
                <a:gridCol w="942128">
                  <a:extLst>
                    <a:ext uri="{9D8B030D-6E8A-4147-A177-3AD203B41FA5}">
                      <a16:colId xmlns:a16="http://schemas.microsoft.com/office/drawing/2014/main" val="6004670"/>
                    </a:ext>
                  </a:extLst>
                </a:gridCol>
              </a:tblGrid>
              <a:tr h="532635">
                <a:tc>
                  <a:txBody>
                    <a:bodyPr/>
                    <a:lstStyle/>
                    <a:p>
                      <a:pPr algn="ctr" rtl="0" eaLnBrk="1" fontAlgn="ctr" latinLnBrk="0"/>
                      <a:r>
                        <a:rPr lang="en-US" sz="800" b="1" i="0" u="none" strike="noStrike">
                          <a:solidFill>
                            <a:srgbClr val="000000"/>
                          </a:solidFill>
                          <a:effectLst/>
                          <a:latin typeface="Arial" panose="020F0502020204030204" pitchFamily="34" charset="0"/>
                          <a:ea typeface="Arial"/>
                        </a:rPr>
                        <a:t>No</a:t>
                      </a:r>
                    </a:p>
                  </a:txBody>
                  <a:tcPr marL="8476" marR="8476" marT="847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CECE"/>
                    </a:solidFill>
                  </a:tcPr>
                </a:tc>
                <a:tc>
                  <a:txBody>
                    <a:bodyPr/>
                    <a:lstStyle/>
                    <a:p>
                      <a:pPr algn="ctr" rtl="0" eaLnBrk="1" fontAlgn="ctr" latinLnBrk="0"/>
                      <a:r>
                        <a:rPr lang="en-US" sz="800" b="1" i="0" u="none" strike="noStrike">
                          <a:solidFill>
                            <a:srgbClr val="000000"/>
                          </a:solidFill>
                          <a:effectLst/>
                          <a:latin typeface="Arial" panose="020F0502020204030204" pitchFamily="34" charset="0"/>
                          <a:ea typeface="Arial"/>
                        </a:rPr>
                        <a:t>Potential Factors</a:t>
                      </a:r>
                    </a:p>
                  </a:txBody>
                  <a:tcPr marL="8476" marR="8476" marT="847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CECE"/>
                    </a:solidFill>
                  </a:tcPr>
                </a:tc>
                <a:tc>
                  <a:txBody>
                    <a:bodyPr/>
                    <a:lstStyle/>
                    <a:p>
                      <a:pPr algn="ctr" rtl="0" eaLnBrk="1" fontAlgn="ctr" latinLnBrk="0"/>
                      <a:r>
                        <a:rPr lang="en-US" sz="800" b="1" i="0" u="none" strike="noStrike">
                          <a:solidFill>
                            <a:srgbClr val="000000"/>
                          </a:solidFill>
                          <a:effectLst/>
                          <a:latin typeface="Arial" panose="020F0502020204030204" pitchFamily="34" charset="0"/>
                          <a:ea typeface="Arial"/>
                        </a:rPr>
                        <a:t>List checking </a:t>
                      </a:r>
                    </a:p>
                  </a:txBody>
                  <a:tcPr marL="8476" marR="8476" marT="847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CECE"/>
                    </a:solidFill>
                  </a:tcPr>
                </a:tc>
                <a:tc>
                  <a:txBody>
                    <a:bodyPr/>
                    <a:lstStyle/>
                    <a:p>
                      <a:pPr algn="ctr" rtl="0" eaLnBrk="1" fontAlgn="ctr" latinLnBrk="0"/>
                      <a:r>
                        <a:rPr lang="en-US" sz="800" b="1" i="0" u="none" strike="noStrike">
                          <a:solidFill>
                            <a:srgbClr val="000000"/>
                          </a:solidFill>
                          <a:effectLst/>
                          <a:latin typeface="Arial" panose="020F0502020204030204" pitchFamily="34" charset="0"/>
                          <a:ea typeface="Arial"/>
                        </a:rPr>
                        <a:t>Station</a:t>
                      </a:r>
                    </a:p>
                  </a:txBody>
                  <a:tcPr marL="8476" marR="8476" marT="847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CECE"/>
                    </a:solidFill>
                  </a:tcPr>
                </a:tc>
                <a:tc>
                  <a:txBody>
                    <a:bodyPr/>
                    <a:lstStyle/>
                    <a:p>
                      <a:pPr algn="ctr" rtl="0" eaLnBrk="1" fontAlgn="ctr" latinLnBrk="0"/>
                      <a:r>
                        <a:rPr lang="en-US" sz="800" b="1" i="0" u="none" strike="noStrike">
                          <a:solidFill>
                            <a:srgbClr val="000000"/>
                          </a:solidFill>
                          <a:effectLst/>
                          <a:latin typeface="Arial" panose="020F0502020204030204" pitchFamily="34" charset="0"/>
                          <a:ea typeface="Arial"/>
                        </a:rPr>
                        <a:t>Tool to identify</a:t>
                      </a:r>
                    </a:p>
                  </a:txBody>
                  <a:tcPr marL="8476" marR="8476" marT="847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CECE"/>
                    </a:solidFill>
                  </a:tcPr>
                </a:tc>
                <a:extLst>
                  <a:ext uri="{0D108BD9-81ED-4DB2-BD59-A6C34878D82A}">
                    <a16:rowId xmlns:a16="http://schemas.microsoft.com/office/drawing/2014/main" val="2406186259"/>
                  </a:ext>
                </a:extLst>
              </a:tr>
              <a:tr h="532635">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a:t>
                      </a:r>
                    </a:p>
                  </a:txBody>
                  <a:tcPr marL="8476" marR="8476" marT="847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CANSIM send weak signal to LCD recognized</a:t>
                      </a:r>
                    </a:p>
                  </a:txBody>
                  <a:tcPr marL="8476" marR="8476" marT="847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Checking luminance value before /after change to new CANSIM</a:t>
                      </a:r>
                    </a:p>
                  </a:txBody>
                  <a:tcPr marL="8476" marR="8476" marT="847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Station 2</a:t>
                      </a:r>
                    </a:p>
                  </a:txBody>
                  <a:tcPr marL="8476" marR="8476" marT="847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 sample T </a:t>
                      </a:r>
                    </a:p>
                  </a:txBody>
                  <a:tcPr marL="8476" marR="8476" marT="847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321720531"/>
                  </a:ext>
                </a:extLst>
              </a:tr>
              <a:tr h="532635">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a:t>
                      </a:r>
                    </a:p>
                  </a:txBody>
                  <a:tcPr marL="8476" marR="8476" marT="847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Measure incorrectly</a:t>
                      </a:r>
                    </a:p>
                  </a:txBody>
                  <a:tcPr marL="8476" marR="8476" marT="847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Checking luminance value before /after change to new camera</a:t>
                      </a:r>
                    </a:p>
                  </a:txBody>
                  <a:tcPr marL="8476" marR="8476" marT="847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Station 2</a:t>
                      </a:r>
                    </a:p>
                  </a:txBody>
                  <a:tcPr marL="8476" marR="8476" marT="847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 sample T</a:t>
                      </a:r>
                    </a:p>
                  </a:txBody>
                  <a:tcPr marL="8476" marR="8476" marT="847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73305671"/>
                  </a:ext>
                </a:extLst>
              </a:tr>
              <a:tr h="532635">
                <a:tc>
                  <a:txBody>
                    <a:bodyPr/>
                    <a:lstStyle/>
                    <a:p>
                      <a:pPr algn="ctr" eaLnBrk="1" fontAlgn="ctr" latinLnBrk="0"/>
                      <a:r>
                        <a:rPr lang="en-US" sz="1000" b="0" i="0" u="none" strike="noStrike">
                          <a:solidFill>
                            <a:srgbClr val="000000"/>
                          </a:solidFill>
                          <a:effectLst/>
                          <a:latin typeface="Arial" panose="020F0502020204030204" pitchFamily="34" charset="0"/>
                          <a:ea typeface="Arial"/>
                        </a:rPr>
                        <a:t>3</a:t>
                      </a:r>
                    </a:p>
                  </a:txBody>
                  <a:tcPr marL="8476" marR="8476" marT="847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Camera angle changed</a:t>
                      </a:r>
                    </a:p>
                  </a:txBody>
                  <a:tcPr marL="8476" marR="8476" marT="847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Checking luminance value before /after changing angle of detector</a:t>
                      </a:r>
                    </a:p>
                  </a:txBody>
                  <a:tcPr marL="8476" marR="8476" marT="847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Station 2</a:t>
                      </a:r>
                    </a:p>
                  </a:txBody>
                  <a:tcPr marL="8476" marR="8476" marT="847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2 sample T</a:t>
                      </a:r>
                    </a:p>
                  </a:txBody>
                  <a:tcPr marL="8476" marR="8476" marT="847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323502622"/>
                  </a:ext>
                </a:extLst>
              </a:tr>
            </a:tbl>
          </a:graphicData>
        </a:graphic>
      </p:graphicFrame>
      <p:cxnSp>
        <p:nvCxnSpPr>
          <p:cNvPr id="13" name="Straight Connector 12">
            <a:extLst>
              <a:ext uri="{FF2B5EF4-FFF2-40B4-BE49-F238E27FC236}">
                <a16:creationId xmlns:a16="http://schemas.microsoft.com/office/drawing/2014/main" id="{30BD119D-483F-4B62-A423-BE8480B87DC8}"/>
              </a:ext>
            </a:extLst>
          </p:cNvPr>
          <p:cNvCxnSpPr/>
          <p:nvPr/>
        </p:nvCxnSpPr>
        <p:spPr>
          <a:xfrm>
            <a:off x="0" y="508838"/>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2482995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ECBE53BB-8EA3-4A02-8B07-C1241536D4CC}"/>
              </a:ext>
            </a:extLst>
          </p:cNvPr>
          <p:cNvPicPr>
            <a:picLocks noChangeAspect="1"/>
          </p:cNvPicPr>
          <p:nvPr/>
        </p:nvPicPr>
        <p:blipFill>
          <a:blip r:embed="rId3"/>
          <a:stretch>
            <a:fillRect/>
          </a:stretch>
        </p:blipFill>
        <p:spPr>
          <a:xfrm>
            <a:off x="6929967" y="1459562"/>
            <a:ext cx="2554377" cy="4328997"/>
          </a:xfrm>
          <a:prstGeom prst="rect">
            <a:avLst/>
          </a:prstGeom>
        </p:spPr>
      </p:pic>
      <p:pic>
        <p:nvPicPr>
          <p:cNvPr id="8" name="Picture 7">
            <a:extLst>
              <a:ext uri="{FF2B5EF4-FFF2-40B4-BE49-F238E27FC236}">
                <a16:creationId xmlns:a16="http://schemas.microsoft.com/office/drawing/2014/main" id="{690435D6-C429-45C3-B6B1-35C46158EE86}"/>
              </a:ext>
            </a:extLst>
          </p:cNvPr>
          <p:cNvPicPr>
            <a:picLocks noChangeAspect="1"/>
          </p:cNvPicPr>
          <p:nvPr/>
        </p:nvPicPr>
        <p:blipFill>
          <a:blip r:embed="rId4"/>
          <a:stretch>
            <a:fillRect/>
          </a:stretch>
        </p:blipFill>
        <p:spPr>
          <a:xfrm>
            <a:off x="3639951" y="1487678"/>
            <a:ext cx="2850569" cy="4224337"/>
          </a:xfrm>
          <a:prstGeom prst="rect">
            <a:avLst/>
          </a:prstGeom>
        </p:spPr>
      </p:pic>
      <p:sp>
        <p:nvSpPr>
          <p:cNvPr id="83" name="제목 1">
            <a:extLst>
              <a:ext uri="{FF2B5EF4-FFF2-40B4-BE49-F238E27FC236}">
                <a16:creationId xmlns:a16="http://schemas.microsoft.com/office/drawing/2014/main" id="{A33C1AE4-DB4A-4748-A4CE-56DE3154E7D9}"/>
              </a:ext>
            </a:extLst>
          </p:cNvPr>
          <p:cNvSpPr txBox="1">
            <a:spLocks/>
          </p:cNvSpPr>
          <p:nvPr/>
        </p:nvSpPr>
        <p:spPr>
          <a:xfrm>
            <a:off x="27541" y="64338"/>
            <a:ext cx="6085642" cy="418058"/>
          </a:xfrm>
          <a:prstGeom prst="rect">
            <a:avLst/>
          </a:prstGeom>
        </p:spPr>
        <p:txBody>
          <a:bodyPr vert="horz" lIns="91440" tIns="45720" rIns="91440" bIns="45720" rtlCol="0" anchor="ctr">
            <a:noAutofit/>
          </a:bodyPr>
          <a:lstStyle/>
          <a:p>
            <a:pPr eaLnBrk="1" latinLnBrk="0" hangingPunct="0">
              <a:defRPr/>
            </a:pPr>
            <a:r>
              <a:rPr lang="vi-VN" altLang="ko-KR" sz="1600" b="1" kern="0" dirty="0">
                <a:solidFill>
                  <a:srgbClr val="000000"/>
                </a:solidFill>
                <a:latin typeface="Arial Narrow" panose="020B0606020202030204" pitchFamily="34" charset="0"/>
                <a:ea typeface="LG Smart_H Regular" pitchFamily="34" charset="-127"/>
              </a:rPr>
              <a:t>3.1</a:t>
            </a:r>
            <a:r>
              <a:rPr lang="en-US" altLang="ko-KR" sz="1600" b="1" kern="0" dirty="0">
                <a:solidFill>
                  <a:srgbClr val="000000"/>
                </a:solidFill>
                <a:latin typeface="Arial Narrow" panose="020B0606020202030204" pitchFamily="34" charset="0"/>
                <a:ea typeface="LG Smart_H Regular" pitchFamily="34" charset="-127"/>
              </a:rPr>
              <a:t> Root cause of measurement system problem</a:t>
            </a:r>
            <a:endParaRPr lang="ko-KR" altLang="en-US" sz="1600" b="1" kern="0" dirty="0">
              <a:solidFill>
                <a:srgbClr val="000000"/>
              </a:solidFill>
              <a:latin typeface="Arial Narrow" panose="020B0606020202030204" pitchFamily="34" charset="0"/>
              <a:ea typeface="LG Smart_H Regular" pitchFamily="34" charset="-127"/>
            </a:endParaRPr>
          </a:p>
        </p:txBody>
      </p:sp>
      <p:sp>
        <p:nvSpPr>
          <p:cNvPr id="64" name="Slide Number Placeholder 4">
            <a:extLst>
              <a:ext uri="{FF2B5EF4-FFF2-40B4-BE49-F238E27FC236}">
                <a16:creationId xmlns:a16="http://schemas.microsoft.com/office/drawing/2014/main" id="{24735193-EBAE-47F7-AE08-C4E051B6506F}"/>
              </a:ext>
            </a:extLst>
          </p:cNvPr>
          <p:cNvSpPr>
            <a:spLocks noGrp="1"/>
          </p:cNvSpPr>
          <p:nvPr>
            <p:ph type="sldNum" sz="quarter" idx="12"/>
          </p:nvPr>
        </p:nvSpPr>
        <p:spPr>
          <a:xfrm>
            <a:off x="3954952" y="6628416"/>
            <a:ext cx="2133600" cy="198047"/>
          </a:xfrm>
        </p:spPr>
        <p:txBody>
          <a:bodyPr/>
          <a:lstStyle/>
          <a:p>
            <a:pPr algn="ctr" eaLnBrk="1" latinLnBrk="0"/>
            <a:r>
              <a:rPr sz="1000" b="0">
                <a:latin typeface="Arial"/>
              </a:rPr>
              <a:t>13 / 33</a:t>
            </a:r>
            <a:endParaRPr lang="ko-KR" altLang="en-US" sz="1200" dirty="0">
              <a:solidFill>
                <a:prstClr val="black">
                  <a:tint val="75000"/>
                </a:prstClr>
              </a:solidFill>
              <a:latin typeface="Arial" panose="020B0604020202020204" pitchFamily="34" charset="0"/>
              <a:ea typeface="Arial Unicode MS" panose="020B0604020202020204" pitchFamily="34" charset="-128"/>
              <a:cs typeface="Arial" panose="020B0604020202020204" pitchFamily="34" charset="0"/>
            </a:endParaRPr>
          </a:p>
        </p:txBody>
      </p:sp>
      <p:sp>
        <p:nvSpPr>
          <p:cNvPr id="100" name="AutoShape 55">
            <a:extLst>
              <a:ext uri="{FF2B5EF4-FFF2-40B4-BE49-F238E27FC236}">
                <a16:creationId xmlns:a16="http://schemas.microsoft.com/office/drawing/2014/main" id="{EED46192-4ED1-4158-8F3E-AA2D8BB90551}"/>
              </a:ext>
            </a:extLst>
          </p:cNvPr>
          <p:cNvSpPr>
            <a:spLocks noChangeArrowheads="1"/>
          </p:cNvSpPr>
          <p:nvPr/>
        </p:nvSpPr>
        <p:spPr bwMode="auto">
          <a:xfrm>
            <a:off x="9130746" y="166585"/>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Control</a:t>
            </a:r>
          </a:p>
        </p:txBody>
      </p:sp>
      <p:sp>
        <p:nvSpPr>
          <p:cNvPr id="101" name="AutoShape 56">
            <a:extLst>
              <a:ext uri="{FF2B5EF4-FFF2-40B4-BE49-F238E27FC236}">
                <a16:creationId xmlns:a16="http://schemas.microsoft.com/office/drawing/2014/main" id="{7459209F-12BD-4723-B248-E7E3EC691992}"/>
              </a:ext>
            </a:extLst>
          </p:cNvPr>
          <p:cNvSpPr>
            <a:spLocks noChangeArrowheads="1"/>
          </p:cNvSpPr>
          <p:nvPr/>
        </p:nvSpPr>
        <p:spPr bwMode="auto">
          <a:xfrm>
            <a:off x="8441771" y="166585"/>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solidFill>
                  <a:schemeClr val="tx1"/>
                </a:solidFill>
                <a:latin typeface="Arial Narrow" panose="020B0606020202030204" pitchFamily="34" charset="0"/>
                <a:ea typeface="Arial" panose="020B0503020000020004" pitchFamily="50" charset="-127"/>
              </a:rPr>
              <a:t>Improve</a:t>
            </a:r>
          </a:p>
        </p:txBody>
      </p:sp>
      <p:sp>
        <p:nvSpPr>
          <p:cNvPr id="114" name="AutoShape 58">
            <a:extLst>
              <a:ext uri="{FF2B5EF4-FFF2-40B4-BE49-F238E27FC236}">
                <a16:creationId xmlns:a16="http://schemas.microsoft.com/office/drawing/2014/main" id="{427C720A-861D-4934-858A-D651CA1E3F01}"/>
              </a:ext>
            </a:extLst>
          </p:cNvPr>
          <p:cNvSpPr>
            <a:spLocks noChangeArrowheads="1"/>
          </p:cNvSpPr>
          <p:nvPr/>
        </p:nvSpPr>
        <p:spPr bwMode="auto">
          <a:xfrm>
            <a:off x="7078109" y="166585"/>
            <a:ext cx="747712"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Measure </a:t>
            </a:r>
          </a:p>
        </p:txBody>
      </p:sp>
      <p:sp>
        <p:nvSpPr>
          <p:cNvPr id="115" name="AutoShape 59">
            <a:extLst>
              <a:ext uri="{FF2B5EF4-FFF2-40B4-BE49-F238E27FC236}">
                <a16:creationId xmlns:a16="http://schemas.microsoft.com/office/drawing/2014/main" id="{05E66742-DE0E-48EA-8AA8-4CD0C5704A27}"/>
              </a:ext>
            </a:extLst>
          </p:cNvPr>
          <p:cNvSpPr>
            <a:spLocks noChangeArrowheads="1"/>
          </p:cNvSpPr>
          <p:nvPr/>
        </p:nvSpPr>
        <p:spPr bwMode="auto">
          <a:xfrm>
            <a:off x="6381196" y="166585"/>
            <a:ext cx="757238" cy="287338"/>
          </a:xfrm>
          <a:prstGeom prst="homePlate">
            <a:avLst>
              <a:gd name="adj" fmla="val 47192"/>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Define</a:t>
            </a:r>
          </a:p>
        </p:txBody>
      </p:sp>
      <p:sp>
        <p:nvSpPr>
          <p:cNvPr id="116" name="AutoShape 57">
            <a:extLst>
              <a:ext uri="{FF2B5EF4-FFF2-40B4-BE49-F238E27FC236}">
                <a16:creationId xmlns:a16="http://schemas.microsoft.com/office/drawing/2014/main" id="{DFFBFEFF-78C8-4850-A9A2-2EB6B7D4D071}"/>
              </a:ext>
            </a:extLst>
          </p:cNvPr>
          <p:cNvSpPr>
            <a:spLocks noChangeArrowheads="1"/>
          </p:cNvSpPr>
          <p:nvPr/>
        </p:nvSpPr>
        <p:spPr bwMode="auto">
          <a:xfrm>
            <a:off x="7749621" y="22123"/>
            <a:ext cx="749300" cy="287337"/>
          </a:xfrm>
          <a:prstGeom prst="homePlate">
            <a:avLst>
              <a:gd name="adj" fmla="val 46698"/>
            </a:avLst>
          </a:prstGeom>
          <a:gradFill rotWithShape="1">
            <a:gsLst>
              <a:gs pos="0">
                <a:srgbClr val="494900"/>
              </a:gs>
              <a:gs pos="100000">
                <a:srgbClr val="808000"/>
              </a:gs>
            </a:gsLst>
            <a:lin ang="0" scaled="1"/>
          </a:gradFill>
          <a:ln w="6350" algn="ctr">
            <a:solidFill>
              <a:srgbClr val="808080"/>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latin typeface="Arial Narrow" panose="020B0606020202030204" pitchFamily="34" charset="0"/>
                <a:ea typeface="Arial" panose="020B0503020000020004" pitchFamily="50" charset="-127"/>
              </a:rPr>
              <a:t>Analyze</a:t>
            </a:r>
          </a:p>
        </p:txBody>
      </p:sp>
      <p:sp>
        <p:nvSpPr>
          <p:cNvPr id="14" name="Text Box 2">
            <a:extLst>
              <a:ext uri="{FF2B5EF4-FFF2-40B4-BE49-F238E27FC236}">
                <a16:creationId xmlns:a16="http://schemas.microsoft.com/office/drawing/2014/main" id="{4B4B956C-5807-4333-8355-4C41DF1F4283}"/>
              </a:ext>
            </a:extLst>
          </p:cNvPr>
          <p:cNvSpPr txBox="1">
            <a:spLocks noChangeArrowheads="1"/>
          </p:cNvSpPr>
          <p:nvPr/>
        </p:nvSpPr>
        <p:spPr bwMode="auto">
          <a:xfrm>
            <a:off x="39997" y="508838"/>
            <a:ext cx="5645539" cy="304800"/>
          </a:xfrm>
          <a:prstGeom prst="rect">
            <a:avLst/>
          </a:prstGeom>
          <a:noFill/>
          <a:ln w="9525" algn="ctr">
            <a:noFill/>
            <a:miter lim="800000"/>
            <a:headEnd/>
            <a:tailEnd/>
          </a:ln>
        </p:spPr>
        <p:txBody>
          <a:bodyPr lIns="84374" tIns="42187" rIns="84374" bIns="42187" anchor="ctr"/>
          <a:lstStyle/>
          <a:p>
            <a:pPr marL="171450" indent="-171450" defTabSz="844083" eaLnBrk="1" fontAlgn="base" latinLnBrk="0">
              <a:spcBef>
                <a:spcPct val="0"/>
              </a:spcBef>
              <a:spcAft>
                <a:spcPct val="0"/>
              </a:spcAft>
              <a:buFont typeface="Wingdings" panose="05000000000000000000" pitchFamily="2" charset="2"/>
              <a:buChar char="q"/>
              <a:defRPr/>
            </a:pPr>
            <a:r>
              <a:rPr lang="en-US" altLang="ko-KR" sz="1000" b="1" dirty="0">
                <a:solidFill>
                  <a:srgbClr val="000000"/>
                </a:solidFill>
                <a:latin typeface="Arial" panose="020B0600000101010101" pitchFamily="34" charset="-127"/>
                <a:ea typeface="Arial" panose="020B0600000101010101" pitchFamily="34" charset="-127"/>
                <a:cs typeface="Arial" panose="020B0604020202020204" pitchFamily="34" charset="0"/>
              </a:rPr>
              <a:t>2 Samples T _ Analysis </a:t>
            </a:r>
            <a:endParaRPr lang="ko-KR" altLang="en-US" sz="1200" b="1" dirty="0">
              <a:solidFill>
                <a:srgbClr val="000000"/>
              </a:solidFill>
              <a:latin typeface="LG Smart_H Regular" panose="020B0600000101010101" pitchFamily="34" charset="-127"/>
              <a:ea typeface="LG Smart_H Regular" panose="020B0600000101010101" pitchFamily="34" charset="-127"/>
              <a:cs typeface="Arial" panose="020B0604020202020204" pitchFamily="34" charset="0"/>
            </a:endParaRPr>
          </a:p>
        </p:txBody>
      </p:sp>
      <p:sp>
        <p:nvSpPr>
          <p:cNvPr id="15" name="Text Box 2">
            <a:extLst>
              <a:ext uri="{FF2B5EF4-FFF2-40B4-BE49-F238E27FC236}">
                <a16:creationId xmlns:a16="http://schemas.microsoft.com/office/drawing/2014/main" id="{7CC25F09-2F24-46D3-A9C1-3FD4420B1A75}"/>
              </a:ext>
            </a:extLst>
          </p:cNvPr>
          <p:cNvSpPr txBox="1">
            <a:spLocks noChangeArrowheads="1"/>
          </p:cNvSpPr>
          <p:nvPr/>
        </p:nvSpPr>
        <p:spPr bwMode="auto">
          <a:xfrm>
            <a:off x="44294" y="799200"/>
            <a:ext cx="8581114" cy="180000"/>
          </a:xfrm>
          <a:prstGeom prst="rect">
            <a:avLst/>
          </a:prstGeom>
          <a:noFill/>
          <a:ln w="9525" algn="ctr">
            <a:noFill/>
            <a:miter lim="800000"/>
            <a:headEnd/>
            <a:tailEnd/>
          </a:ln>
        </p:spPr>
        <p:txBody>
          <a:bodyPr lIns="84374" tIns="42187" rIns="84374" bIns="42187" anchor="ctr">
            <a:noAutofit/>
          </a:bodyPr>
          <a:lstStyle/>
          <a:p>
            <a:pPr marL="228600" indent="-228600" defTabSz="844083" eaLnBrk="1" fontAlgn="base" latinLnBrk="0">
              <a:spcBef>
                <a:spcPct val="0"/>
              </a:spcBef>
              <a:spcAft>
                <a:spcPct val="0"/>
              </a:spcAft>
              <a:buFont typeface="Wingdings" panose="05000000000000000000" pitchFamily="2" charset="2"/>
              <a:buChar char="§"/>
              <a:defRPr/>
            </a:pPr>
            <a:r>
              <a:rPr lang="en-US" altLang="ko-KR" sz="1000" b="1" dirty="0">
                <a:solidFill>
                  <a:srgbClr val="000000"/>
                </a:solidFill>
                <a:latin typeface="Arial" panose="020B0600000101010101" pitchFamily="34" charset="-127"/>
                <a:ea typeface="Arial" panose="020B0600000101010101" pitchFamily="34" charset="-127"/>
                <a:cs typeface="Arial" panose="020B0604020202020204" pitchFamily="34" charset="0"/>
              </a:rPr>
              <a:t>Detection Luminance from CANSIM of Station 2_Change to the new CANSIM</a:t>
            </a:r>
            <a:endParaRPr lang="ko-KR" altLang="en-US" sz="1200" b="1" dirty="0">
              <a:solidFill>
                <a:srgbClr val="000000"/>
              </a:solidFill>
              <a:latin typeface="LG Smart_H Regular" panose="020B0600000101010101" pitchFamily="34" charset="-127"/>
              <a:ea typeface="LG Smart_H Regular" panose="020B0600000101010101" pitchFamily="34" charset="-127"/>
              <a:cs typeface="Arial" panose="020B0604020202020204" pitchFamily="34" charset="0"/>
            </a:endParaRPr>
          </a:p>
        </p:txBody>
      </p:sp>
      <p:sp>
        <p:nvSpPr>
          <p:cNvPr id="27" name="Rectangle 26">
            <a:extLst>
              <a:ext uri="{FF2B5EF4-FFF2-40B4-BE49-F238E27FC236}">
                <a16:creationId xmlns:a16="http://schemas.microsoft.com/office/drawing/2014/main" id="{4E21FB5F-6A89-4542-9E1C-21FB7959A5B4}"/>
              </a:ext>
            </a:extLst>
          </p:cNvPr>
          <p:cNvSpPr/>
          <p:nvPr/>
        </p:nvSpPr>
        <p:spPr>
          <a:xfrm>
            <a:off x="272480" y="1008515"/>
            <a:ext cx="6920382" cy="388695"/>
          </a:xfrm>
          <a:prstGeom prst="rect">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eaLnBrk="1" fontAlgn="auto" latinLnBrk="0">
              <a:spcBef>
                <a:spcPts val="0"/>
              </a:spcBef>
              <a:spcAft>
                <a:spcPts val="0"/>
              </a:spcAft>
              <a:defRPr/>
            </a:pPr>
            <a:r>
              <a:rPr lang="en-US" sz="1000" dirty="0">
                <a:solidFill>
                  <a:prstClr val="black"/>
                </a:solidFill>
                <a:latin typeface="Arial" panose="020B0604020202020204" pitchFamily="34" charset="0"/>
                <a:ea typeface="LG Smart_H Regular" panose="020B0600000101010101" pitchFamily="34" charset="-127"/>
                <a:cs typeface="Arial" panose="020B0604020202020204" pitchFamily="34" charset="0"/>
              </a:rPr>
              <a:t>H0: The changing CANSIM does not affect in the luminance in station 2</a:t>
            </a:r>
          </a:p>
          <a:p>
            <a:pPr eaLnBrk="1" fontAlgn="auto" latinLnBrk="0">
              <a:spcBef>
                <a:spcPts val="0"/>
              </a:spcBef>
              <a:spcAft>
                <a:spcPts val="0"/>
              </a:spcAft>
              <a:defRPr/>
            </a:pPr>
            <a:r>
              <a:rPr lang="en-US" sz="1000" dirty="0">
                <a:solidFill>
                  <a:prstClr val="black"/>
                </a:solidFill>
                <a:latin typeface="Arial" panose="020B0604020202020204" pitchFamily="34" charset="0"/>
                <a:ea typeface="LG Smart_H Regular" panose="020B0600000101010101" pitchFamily="34" charset="-127"/>
                <a:cs typeface="Arial" panose="020B0604020202020204" pitchFamily="34" charset="0"/>
              </a:rPr>
              <a:t>H1: Changing the CANSIM affects the luminance in station 2</a:t>
            </a:r>
          </a:p>
        </p:txBody>
      </p:sp>
      <p:sp>
        <p:nvSpPr>
          <p:cNvPr id="13" name="Rectangle 12">
            <a:extLst>
              <a:ext uri="{FF2B5EF4-FFF2-40B4-BE49-F238E27FC236}">
                <a16:creationId xmlns:a16="http://schemas.microsoft.com/office/drawing/2014/main" id="{6991B64C-3D0C-4AFC-9A02-6A7E183572E6}"/>
              </a:ext>
            </a:extLst>
          </p:cNvPr>
          <p:cNvSpPr/>
          <p:nvPr/>
        </p:nvSpPr>
        <p:spPr>
          <a:xfrm>
            <a:off x="98866" y="1363842"/>
            <a:ext cx="3417450" cy="4985319"/>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latinLnBrk="0"/>
            <a:endParaRPr lang="en-US"/>
          </a:p>
        </p:txBody>
      </p:sp>
      <p:sp>
        <p:nvSpPr>
          <p:cNvPr id="32" name="Rectangle 31">
            <a:extLst>
              <a:ext uri="{FF2B5EF4-FFF2-40B4-BE49-F238E27FC236}">
                <a16:creationId xmlns:a16="http://schemas.microsoft.com/office/drawing/2014/main" id="{6A8140ED-C729-467D-AEC9-86F71656C87D}"/>
              </a:ext>
            </a:extLst>
          </p:cNvPr>
          <p:cNvSpPr/>
          <p:nvPr/>
        </p:nvSpPr>
        <p:spPr>
          <a:xfrm>
            <a:off x="3551643" y="1363842"/>
            <a:ext cx="3129550" cy="4985319"/>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latinLnBrk="0"/>
            <a:endParaRPr lang="en-US"/>
          </a:p>
        </p:txBody>
      </p:sp>
      <p:sp>
        <p:nvSpPr>
          <p:cNvPr id="33" name="Rectangle 32">
            <a:extLst>
              <a:ext uri="{FF2B5EF4-FFF2-40B4-BE49-F238E27FC236}">
                <a16:creationId xmlns:a16="http://schemas.microsoft.com/office/drawing/2014/main" id="{61E00427-54B6-45B9-ABA2-0D94A30B42D1}"/>
              </a:ext>
            </a:extLst>
          </p:cNvPr>
          <p:cNvSpPr/>
          <p:nvPr/>
        </p:nvSpPr>
        <p:spPr>
          <a:xfrm>
            <a:off x="6759815" y="1363841"/>
            <a:ext cx="3047319" cy="4985319"/>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latinLnBrk="0"/>
            <a:endParaRPr lang="en-US"/>
          </a:p>
        </p:txBody>
      </p:sp>
      <p:sp>
        <p:nvSpPr>
          <p:cNvPr id="41" name="Rectangle 40">
            <a:extLst>
              <a:ext uri="{FF2B5EF4-FFF2-40B4-BE49-F238E27FC236}">
                <a16:creationId xmlns:a16="http://schemas.microsoft.com/office/drawing/2014/main" id="{B1E05F07-6192-43D2-BDDA-820ED5A6D7C8}"/>
              </a:ext>
            </a:extLst>
          </p:cNvPr>
          <p:cNvSpPr/>
          <p:nvPr/>
        </p:nvSpPr>
        <p:spPr>
          <a:xfrm>
            <a:off x="3622945" y="5540147"/>
            <a:ext cx="2994615" cy="618675"/>
          </a:xfrm>
          <a:prstGeom prst="rect">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eaLnBrk="1" fontAlgn="auto" latinLnBrk="0">
              <a:spcBef>
                <a:spcPts val="0"/>
              </a:spcBef>
              <a:spcAft>
                <a:spcPts val="0"/>
              </a:spcAft>
              <a:defRPr/>
            </a:pPr>
            <a:r>
              <a:rPr sz="1000" b="0">
                <a:solidFill>
                  <a:prstClr val="black"/>
                </a:solidFill>
                <a:latin typeface="Arial"/>
              </a:rPr>
              <a:t>P-value = 0.695 &gt; 0.05 -&gt; Fail to reject H0 (No significant difference before/after changing CANSIM).</a:t>
            </a:r>
          </a:p>
        </p:txBody>
      </p:sp>
      <p:sp>
        <p:nvSpPr>
          <p:cNvPr id="42" name="Rectangle 41">
            <a:extLst>
              <a:ext uri="{FF2B5EF4-FFF2-40B4-BE49-F238E27FC236}">
                <a16:creationId xmlns:a16="http://schemas.microsoft.com/office/drawing/2014/main" id="{56AC9E33-5B26-4D42-8AD9-8C8F452EA347}"/>
              </a:ext>
            </a:extLst>
          </p:cNvPr>
          <p:cNvSpPr/>
          <p:nvPr/>
        </p:nvSpPr>
        <p:spPr>
          <a:xfrm>
            <a:off x="7005666" y="5568722"/>
            <a:ext cx="2125080" cy="618675"/>
          </a:xfrm>
          <a:prstGeom prst="rect">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eaLnBrk="1" fontAlgn="auto" latinLnBrk="0">
              <a:spcBef>
                <a:spcPts val="0"/>
              </a:spcBef>
              <a:spcAft>
                <a:spcPts val="0"/>
              </a:spcAft>
              <a:defRPr/>
            </a:pPr>
            <a:r>
              <a:rPr sz="1000" b="0">
                <a:solidFill>
                  <a:prstClr val="black"/>
                </a:solidFill>
                <a:latin typeface="Arial"/>
              </a:rPr>
              <a:t>Changing CANSIM has no significant effect on luminance (Factor eliminated).</a:t>
            </a:r>
          </a:p>
        </p:txBody>
      </p:sp>
      <p:sp>
        <p:nvSpPr>
          <p:cNvPr id="43" name="Rectangle 42">
            <a:extLst>
              <a:ext uri="{FF2B5EF4-FFF2-40B4-BE49-F238E27FC236}">
                <a16:creationId xmlns:a16="http://schemas.microsoft.com/office/drawing/2014/main" id="{6E83014D-3F1B-4CCF-854B-576FA6A74A3A}"/>
              </a:ext>
            </a:extLst>
          </p:cNvPr>
          <p:cNvSpPr/>
          <p:nvPr/>
        </p:nvSpPr>
        <p:spPr>
          <a:xfrm>
            <a:off x="152438" y="4574457"/>
            <a:ext cx="2933393" cy="618675"/>
          </a:xfrm>
          <a:prstGeom prst="rect">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eaLnBrk="1" fontAlgn="auto" latinLnBrk="0">
              <a:spcBef>
                <a:spcPts val="0"/>
              </a:spcBef>
              <a:spcAft>
                <a:spcPts val="0"/>
              </a:spcAft>
              <a:defRPr/>
            </a:pPr>
            <a:r>
              <a:rPr sz="1000" b="0">
                <a:solidFill>
                  <a:prstClr val="black"/>
                </a:solidFill>
                <a:latin typeface="Arial"/>
              </a:rPr>
              <a:t>Both samples fail the normality test (Anderson-Darling P &lt; 0.005); with n = 30 per group the 2-sample t-test (Welch) is robust.</a:t>
            </a:r>
          </a:p>
        </p:txBody>
      </p:sp>
      <p:pic>
        <p:nvPicPr>
          <p:cNvPr id="10" name="Picture 9">
            <a:extLst>
              <a:ext uri="{FF2B5EF4-FFF2-40B4-BE49-F238E27FC236}">
                <a16:creationId xmlns:a16="http://schemas.microsoft.com/office/drawing/2014/main" id="{ED8DA734-5217-4015-98F6-80B3FBB26F85}"/>
              </a:ext>
            </a:extLst>
          </p:cNvPr>
          <p:cNvPicPr>
            <a:picLocks noChangeAspect="1"/>
          </p:cNvPicPr>
          <p:nvPr/>
        </p:nvPicPr>
        <p:blipFill>
          <a:blip r:embed="rId5"/>
          <a:stretch>
            <a:fillRect/>
          </a:stretch>
        </p:blipFill>
        <p:spPr>
          <a:xfrm>
            <a:off x="161963" y="2127473"/>
            <a:ext cx="3183204" cy="2168212"/>
          </a:xfrm>
          <a:prstGeom prst="rect">
            <a:avLst/>
          </a:prstGeom>
        </p:spPr>
      </p:pic>
      <p:cxnSp>
        <p:nvCxnSpPr>
          <p:cNvPr id="21" name="Straight Connector 20">
            <a:extLst>
              <a:ext uri="{FF2B5EF4-FFF2-40B4-BE49-F238E27FC236}">
                <a16:creationId xmlns:a16="http://schemas.microsoft.com/office/drawing/2014/main" id="{3B2BAC12-9112-4963-B6B7-476061BB0D94}"/>
              </a:ext>
            </a:extLst>
          </p:cNvPr>
          <p:cNvCxnSpPr/>
          <p:nvPr/>
        </p:nvCxnSpPr>
        <p:spPr>
          <a:xfrm>
            <a:off x="0" y="508838"/>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997487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E17F0C3D-A52B-4FFE-B84A-79BA69F43C4C}"/>
              </a:ext>
            </a:extLst>
          </p:cNvPr>
          <p:cNvPicPr>
            <a:picLocks noChangeAspect="1"/>
          </p:cNvPicPr>
          <p:nvPr/>
        </p:nvPicPr>
        <p:blipFill>
          <a:blip r:embed="rId3"/>
          <a:stretch>
            <a:fillRect/>
          </a:stretch>
        </p:blipFill>
        <p:spPr>
          <a:xfrm>
            <a:off x="7106684" y="1592725"/>
            <a:ext cx="2234166" cy="4047856"/>
          </a:xfrm>
          <a:prstGeom prst="rect">
            <a:avLst/>
          </a:prstGeom>
        </p:spPr>
      </p:pic>
      <p:sp>
        <p:nvSpPr>
          <p:cNvPr id="83" name="제목 1">
            <a:extLst>
              <a:ext uri="{FF2B5EF4-FFF2-40B4-BE49-F238E27FC236}">
                <a16:creationId xmlns:a16="http://schemas.microsoft.com/office/drawing/2014/main" id="{A33C1AE4-DB4A-4748-A4CE-56DE3154E7D9}"/>
              </a:ext>
            </a:extLst>
          </p:cNvPr>
          <p:cNvSpPr txBox="1">
            <a:spLocks/>
          </p:cNvSpPr>
          <p:nvPr/>
        </p:nvSpPr>
        <p:spPr>
          <a:xfrm>
            <a:off x="27541" y="64338"/>
            <a:ext cx="6085642" cy="418058"/>
          </a:xfrm>
          <a:prstGeom prst="rect">
            <a:avLst/>
          </a:prstGeom>
        </p:spPr>
        <p:txBody>
          <a:bodyPr vert="horz" lIns="91440" tIns="45720" rIns="91440" bIns="45720" rtlCol="0" anchor="ctr">
            <a:noAutofit/>
          </a:bodyPr>
          <a:lstStyle/>
          <a:p>
            <a:pPr eaLnBrk="1" latinLnBrk="0" hangingPunct="0">
              <a:defRPr/>
            </a:pPr>
            <a:r>
              <a:rPr lang="vi-VN" altLang="ko-KR" sz="1600" b="1" kern="0" dirty="0">
                <a:solidFill>
                  <a:srgbClr val="000000"/>
                </a:solidFill>
                <a:latin typeface="Arial Narrow" panose="020B0606020202030204" pitchFamily="34" charset="0"/>
                <a:ea typeface="LG Smart_H Regular" pitchFamily="34" charset="-127"/>
              </a:rPr>
              <a:t>3.1</a:t>
            </a:r>
            <a:r>
              <a:rPr lang="en-US" altLang="ko-KR" sz="1600" b="1" kern="0" dirty="0">
                <a:solidFill>
                  <a:srgbClr val="000000"/>
                </a:solidFill>
                <a:latin typeface="Arial Narrow" panose="020B0606020202030204" pitchFamily="34" charset="0"/>
                <a:ea typeface="LG Smart_H Regular" pitchFamily="34" charset="-127"/>
              </a:rPr>
              <a:t> Root cause of measurement system problem</a:t>
            </a:r>
            <a:endParaRPr lang="ko-KR" altLang="en-US" sz="1600" b="1" kern="0" dirty="0">
              <a:solidFill>
                <a:srgbClr val="000000"/>
              </a:solidFill>
              <a:latin typeface="Arial Narrow" panose="020B0606020202030204" pitchFamily="34" charset="0"/>
              <a:ea typeface="LG Smart_H Regular" pitchFamily="34" charset="-127"/>
            </a:endParaRPr>
          </a:p>
        </p:txBody>
      </p:sp>
      <p:sp>
        <p:nvSpPr>
          <p:cNvPr id="64" name="Slide Number Placeholder 4">
            <a:extLst>
              <a:ext uri="{FF2B5EF4-FFF2-40B4-BE49-F238E27FC236}">
                <a16:creationId xmlns:a16="http://schemas.microsoft.com/office/drawing/2014/main" id="{24735193-EBAE-47F7-AE08-C4E051B6506F}"/>
              </a:ext>
            </a:extLst>
          </p:cNvPr>
          <p:cNvSpPr>
            <a:spLocks noGrp="1"/>
          </p:cNvSpPr>
          <p:nvPr>
            <p:ph type="sldNum" sz="quarter" idx="12"/>
          </p:nvPr>
        </p:nvSpPr>
        <p:spPr>
          <a:xfrm>
            <a:off x="3954952" y="6628416"/>
            <a:ext cx="2133600" cy="198047"/>
          </a:xfrm>
        </p:spPr>
        <p:txBody>
          <a:bodyPr/>
          <a:lstStyle/>
          <a:p>
            <a:pPr algn="ctr" eaLnBrk="1" latinLnBrk="0"/>
            <a:r>
              <a:rPr sz="1000" b="0">
                <a:latin typeface="Arial"/>
              </a:rPr>
              <a:t>14 / 33</a:t>
            </a:r>
            <a:endParaRPr lang="ko-KR" altLang="en-US" sz="1200" dirty="0">
              <a:solidFill>
                <a:prstClr val="black">
                  <a:tint val="75000"/>
                </a:prstClr>
              </a:solidFill>
              <a:latin typeface="Arial" panose="020B0604020202020204" pitchFamily="34" charset="0"/>
              <a:ea typeface="Arial Unicode MS" panose="020B0604020202020204" pitchFamily="34" charset="-128"/>
              <a:cs typeface="Arial" panose="020B0604020202020204" pitchFamily="34" charset="0"/>
            </a:endParaRPr>
          </a:p>
        </p:txBody>
      </p:sp>
      <p:sp>
        <p:nvSpPr>
          <p:cNvPr id="100" name="AutoShape 55">
            <a:extLst>
              <a:ext uri="{FF2B5EF4-FFF2-40B4-BE49-F238E27FC236}">
                <a16:creationId xmlns:a16="http://schemas.microsoft.com/office/drawing/2014/main" id="{EED46192-4ED1-4158-8F3E-AA2D8BB90551}"/>
              </a:ext>
            </a:extLst>
          </p:cNvPr>
          <p:cNvSpPr>
            <a:spLocks noChangeArrowheads="1"/>
          </p:cNvSpPr>
          <p:nvPr/>
        </p:nvSpPr>
        <p:spPr bwMode="auto">
          <a:xfrm>
            <a:off x="9130746" y="166585"/>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Control</a:t>
            </a:r>
          </a:p>
        </p:txBody>
      </p:sp>
      <p:sp>
        <p:nvSpPr>
          <p:cNvPr id="101" name="AutoShape 56">
            <a:extLst>
              <a:ext uri="{FF2B5EF4-FFF2-40B4-BE49-F238E27FC236}">
                <a16:creationId xmlns:a16="http://schemas.microsoft.com/office/drawing/2014/main" id="{7459209F-12BD-4723-B248-E7E3EC691992}"/>
              </a:ext>
            </a:extLst>
          </p:cNvPr>
          <p:cNvSpPr>
            <a:spLocks noChangeArrowheads="1"/>
          </p:cNvSpPr>
          <p:nvPr/>
        </p:nvSpPr>
        <p:spPr bwMode="auto">
          <a:xfrm>
            <a:off x="8441771" y="166585"/>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solidFill>
                  <a:schemeClr val="tx1"/>
                </a:solidFill>
                <a:latin typeface="Arial Narrow" panose="020B0606020202030204" pitchFamily="34" charset="0"/>
                <a:ea typeface="Arial" panose="020B0503020000020004" pitchFamily="50" charset="-127"/>
              </a:rPr>
              <a:t>Improve</a:t>
            </a:r>
          </a:p>
        </p:txBody>
      </p:sp>
      <p:sp>
        <p:nvSpPr>
          <p:cNvPr id="114" name="AutoShape 58">
            <a:extLst>
              <a:ext uri="{FF2B5EF4-FFF2-40B4-BE49-F238E27FC236}">
                <a16:creationId xmlns:a16="http://schemas.microsoft.com/office/drawing/2014/main" id="{427C720A-861D-4934-858A-D651CA1E3F01}"/>
              </a:ext>
            </a:extLst>
          </p:cNvPr>
          <p:cNvSpPr>
            <a:spLocks noChangeArrowheads="1"/>
          </p:cNvSpPr>
          <p:nvPr/>
        </p:nvSpPr>
        <p:spPr bwMode="auto">
          <a:xfrm>
            <a:off x="7078109" y="166585"/>
            <a:ext cx="747712"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Measure </a:t>
            </a:r>
          </a:p>
        </p:txBody>
      </p:sp>
      <p:sp>
        <p:nvSpPr>
          <p:cNvPr id="115" name="AutoShape 59">
            <a:extLst>
              <a:ext uri="{FF2B5EF4-FFF2-40B4-BE49-F238E27FC236}">
                <a16:creationId xmlns:a16="http://schemas.microsoft.com/office/drawing/2014/main" id="{05E66742-DE0E-48EA-8AA8-4CD0C5704A27}"/>
              </a:ext>
            </a:extLst>
          </p:cNvPr>
          <p:cNvSpPr>
            <a:spLocks noChangeArrowheads="1"/>
          </p:cNvSpPr>
          <p:nvPr/>
        </p:nvSpPr>
        <p:spPr bwMode="auto">
          <a:xfrm>
            <a:off x="6381196" y="166585"/>
            <a:ext cx="757238" cy="287338"/>
          </a:xfrm>
          <a:prstGeom prst="homePlate">
            <a:avLst>
              <a:gd name="adj" fmla="val 47192"/>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Define</a:t>
            </a:r>
          </a:p>
        </p:txBody>
      </p:sp>
      <p:sp>
        <p:nvSpPr>
          <p:cNvPr id="116" name="AutoShape 57">
            <a:extLst>
              <a:ext uri="{FF2B5EF4-FFF2-40B4-BE49-F238E27FC236}">
                <a16:creationId xmlns:a16="http://schemas.microsoft.com/office/drawing/2014/main" id="{DFFBFEFF-78C8-4850-A9A2-2EB6B7D4D071}"/>
              </a:ext>
            </a:extLst>
          </p:cNvPr>
          <p:cNvSpPr>
            <a:spLocks noChangeArrowheads="1"/>
          </p:cNvSpPr>
          <p:nvPr/>
        </p:nvSpPr>
        <p:spPr bwMode="auto">
          <a:xfrm>
            <a:off x="7749621" y="22123"/>
            <a:ext cx="749300" cy="287337"/>
          </a:xfrm>
          <a:prstGeom prst="homePlate">
            <a:avLst>
              <a:gd name="adj" fmla="val 46698"/>
            </a:avLst>
          </a:prstGeom>
          <a:gradFill rotWithShape="1">
            <a:gsLst>
              <a:gs pos="0">
                <a:srgbClr val="494900"/>
              </a:gs>
              <a:gs pos="100000">
                <a:srgbClr val="808000"/>
              </a:gs>
            </a:gsLst>
            <a:lin ang="0" scaled="1"/>
          </a:gradFill>
          <a:ln w="6350" algn="ctr">
            <a:solidFill>
              <a:srgbClr val="808080"/>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latin typeface="Arial Narrow" panose="020B0606020202030204" pitchFamily="34" charset="0"/>
                <a:ea typeface="Arial" panose="020B0503020000020004" pitchFamily="50" charset="-127"/>
              </a:rPr>
              <a:t>Analyze</a:t>
            </a:r>
          </a:p>
        </p:txBody>
      </p:sp>
      <p:sp>
        <p:nvSpPr>
          <p:cNvPr id="14" name="Text Box 2">
            <a:extLst>
              <a:ext uri="{FF2B5EF4-FFF2-40B4-BE49-F238E27FC236}">
                <a16:creationId xmlns:a16="http://schemas.microsoft.com/office/drawing/2014/main" id="{4B4B956C-5807-4333-8355-4C41DF1F4283}"/>
              </a:ext>
            </a:extLst>
          </p:cNvPr>
          <p:cNvSpPr txBox="1">
            <a:spLocks noChangeArrowheads="1"/>
          </p:cNvSpPr>
          <p:nvPr/>
        </p:nvSpPr>
        <p:spPr bwMode="auto">
          <a:xfrm>
            <a:off x="39997" y="508838"/>
            <a:ext cx="5645539" cy="304800"/>
          </a:xfrm>
          <a:prstGeom prst="rect">
            <a:avLst/>
          </a:prstGeom>
          <a:noFill/>
          <a:ln w="9525" algn="ctr">
            <a:noFill/>
            <a:miter lim="800000"/>
            <a:headEnd/>
            <a:tailEnd/>
          </a:ln>
        </p:spPr>
        <p:txBody>
          <a:bodyPr lIns="84374" tIns="42187" rIns="84374" bIns="42187" anchor="ctr"/>
          <a:lstStyle/>
          <a:p>
            <a:pPr marL="171450" indent="-171450" defTabSz="844083" eaLnBrk="1" fontAlgn="base" latinLnBrk="0">
              <a:spcBef>
                <a:spcPct val="0"/>
              </a:spcBef>
              <a:spcAft>
                <a:spcPct val="0"/>
              </a:spcAft>
              <a:buFont typeface="Wingdings" panose="05000000000000000000" pitchFamily="2" charset="2"/>
              <a:buChar char="q"/>
              <a:defRPr/>
            </a:pPr>
            <a:r>
              <a:rPr lang="en-US" altLang="ko-KR" sz="1000" b="1" dirty="0">
                <a:solidFill>
                  <a:srgbClr val="000000"/>
                </a:solidFill>
                <a:latin typeface="Arial" panose="020B0600000101010101" pitchFamily="34" charset="-127"/>
                <a:ea typeface="Arial" panose="020B0600000101010101" pitchFamily="34" charset="-127"/>
                <a:cs typeface="Arial" panose="020B0604020202020204" pitchFamily="34" charset="0"/>
              </a:rPr>
              <a:t>2 Samples T _ Analysis </a:t>
            </a:r>
            <a:endParaRPr lang="ko-KR" altLang="en-US" sz="1200" b="1" dirty="0">
              <a:solidFill>
                <a:srgbClr val="000000"/>
              </a:solidFill>
              <a:latin typeface="LG Smart_H Regular" panose="020B0600000101010101" pitchFamily="34" charset="-127"/>
              <a:ea typeface="LG Smart_H Regular" panose="020B0600000101010101" pitchFamily="34" charset="-127"/>
              <a:cs typeface="Arial" panose="020B0604020202020204" pitchFamily="34" charset="0"/>
            </a:endParaRPr>
          </a:p>
        </p:txBody>
      </p:sp>
      <p:sp>
        <p:nvSpPr>
          <p:cNvPr id="15" name="Text Box 2">
            <a:extLst>
              <a:ext uri="{FF2B5EF4-FFF2-40B4-BE49-F238E27FC236}">
                <a16:creationId xmlns:a16="http://schemas.microsoft.com/office/drawing/2014/main" id="{7CC25F09-2F24-46D3-A9C1-3FD4420B1A75}"/>
              </a:ext>
            </a:extLst>
          </p:cNvPr>
          <p:cNvSpPr txBox="1">
            <a:spLocks noChangeArrowheads="1"/>
          </p:cNvSpPr>
          <p:nvPr/>
        </p:nvSpPr>
        <p:spPr bwMode="auto">
          <a:xfrm>
            <a:off x="44294" y="799200"/>
            <a:ext cx="8581114" cy="180000"/>
          </a:xfrm>
          <a:prstGeom prst="rect">
            <a:avLst/>
          </a:prstGeom>
          <a:noFill/>
          <a:ln w="9525" algn="ctr">
            <a:noFill/>
            <a:miter lim="800000"/>
            <a:headEnd/>
            <a:tailEnd/>
          </a:ln>
        </p:spPr>
        <p:txBody>
          <a:bodyPr lIns="84374" tIns="42187" rIns="84374" bIns="42187" anchor="ctr">
            <a:noAutofit/>
          </a:bodyPr>
          <a:lstStyle/>
          <a:p>
            <a:pPr marL="228600" indent="-228600" defTabSz="844083" eaLnBrk="1" fontAlgn="base" latinLnBrk="0">
              <a:spcBef>
                <a:spcPct val="0"/>
              </a:spcBef>
              <a:spcAft>
                <a:spcPct val="0"/>
              </a:spcAft>
              <a:buFont typeface="Wingdings" panose="05000000000000000000" pitchFamily="2" charset="2"/>
              <a:buChar char="§"/>
              <a:defRPr/>
            </a:pPr>
            <a:r>
              <a:rPr lang="en-US" altLang="ko-KR" sz="1000" b="1" dirty="0">
                <a:solidFill>
                  <a:srgbClr val="000000"/>
                </a:solidFill>
                <a:latin typeface="Arial" panose="020B0600000101010101" pitchFamily="34" charset="-127"/>
                <a:ea typeface="Arial" panose="020B0600000101010101" pitchFamily="34" charset="-127"/>
                <a:cs typeface="Arial" panose="020B0604020202020204" pitchFamily="34" charset="0"/>
              </a:rPr>
              <a:t>Detection Luminance from Camera of Station 2_Change to the new camera</a:t>
            </a:r>
            <a:endParaRPr lang="ko-KR" altLang="en-US" sz="1200" b="1" dirty="0">
              <a:solidFill>
                <a:srgbClr val="000000"/>
              </a:solidFill>
              <a:latin typeface="LG Smart_H Regular" panose="020B0600000101010101" pitchFamily="34" charset="-127"/>
              <a:ea typeface="LG Smart_H Regular" panose="020B0600000101010101" pitchFamily="34" charset="-127"/>
              <a:cs typeface="Arial" panose="020B0604020202020204" pitchFamily="34" charset="0"/>
            </a:endParaRPr>
          </a:p>
        </p:txBody>
      </p:sp>
      <p:sp>
        <p:nvSpPr>
          <p:cNvPr id="27" name="Rectangle 26">
            <a:extLst>
              <a:ext uri="{FF2B5EF4-FFF2-40B4-BE49-F238E27FC236}">
                <a16:creationId xmlns:a16="http://schemas.microsoft.com/office/drawing/2014/main" id="{4E21FB5F-6A89-4542-9E1C-21FB7959A5B4}"/>
              </a:ext>
            </a:extLst>
          </p:cNvPr>
          <p:cNvSpPr/>
          <p:nvPr/>
        </p:nvSpPr>
        <p:spPr>
          <a:xfrm>
            <a:off x="272480" y="1008515"/>
            <a:ext cx="6920382" cy="388695"/>
          </a:xfrm>
          <a:prstGeom prst="rect">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eaLnBrk="1" fontAlgn="auto" latinLnBrk="0">
              <a:spcBef>
                <a:spcPts val="0"/>
              </a:spcBef>
              <a:spcAft>
                <a:spcPts val="0"/>
              </a:spcAft>
              <a:defRPr/>
            </a:pPr>
            <a:r>
              <a:rPr lang="en-US" sz="1000" dirty="0">
                <a:solidFill>
                  <a:prstClr val="black"/>
                </a:solidFill>
                <a:latin typeface="Arial" panose="020B0604020202020204" pitchFamily="34" charset="0"/>
                <a:ea typeface="LG Smart_H Regular" panose="020B0600000101010101" pitchFamily="34" charset="-127"/>
                <a:cs typeface="Arial" panose="020B0604020202020204" pitchFamily="34" charset="0"/>
              </a:rPr>
              <a:t>H0: The changing new camera does not affect in the luminance in station 2</a:t>
            </a:r>
          </a:p>
          <a:p>
            <a:pPr eaLnBrk="1" fontAlgn="auto" latinLnBrk="0">
              <a:spcBef>
                <a:spcPts val="0"/>
              </a:spcBef>
              <a:spcAft>
                <a:spcPts val="0"/>
              </a:spcAft>
              <a:defRPr/>
            </a:pPr>
            <a:r>
              <a:rPr lang="en-US" sz="1000" dirty="0">
                <a:solidFill>
                  <a:prstClr val="black"/>
                </a:solidFill>
                <a:latin typeface="Arial" panose="020B0604020202020204" pitchFamily="34" charset="0"/>
                <a:ea typeface="LG Smart_H Regular" panose="020B0600000101010101" pitchFamily="34" charset="-127"/>
                <a:cs typeface="Arial" panose="020B0604020202020204" pitchFamily="34" charset="0"/>
              </a:rPr>
              <a:t>H1: Changing the new camera affects luminance in station 2</a:t>
            </a:r>
          </a:p>
        </p:txBody>
      </p:sp>
      <p:grpSp>
        <p:nvGrpSpPr>
          <p:cNvPr id="18" name="Group 17">
            <a:extLst>
              <a:ext uri="{FF2B5EF4-FFF2-40B4-BE49-F238E27FC236}">
                <a16:creationId xmlns:a16="http://schemas.microsoft.com/office/drawing/2014/main" id="{6004C03C-D103-4228-8164-DAC001218135}"/>
              </a:ext>
            </a:extLst>
          </p:cNvPr>
          <p:cNvGrpSpPr/>
          <p:nvPr/>
        </p:nvGrpSpPr>
        <p:grpSpPr>
          <a:xfrm>
            <a:off x="98866" y="1363842"/>
            <a:ext cx="3417450" cy="4985319"/>
            <a:chOff x="27541" y="1363842"/>
            <a:chExt cx="3488775" cy="4985319"/>
          </a:xfrm>
        </p:grpSpPr>
        <p:sp>
          <p:nvSpPr>
            <p:cNvPr id="30" name="Rectangle 29">
              <a:extLst>
                <a:ext uri="{FF2B5EF4-FFF2-40B4-BE49-F238E27FC236}">
                  <a16:creationId xmlns:a16="http://schemas.microsoft.com/office/drawing/2014/main" id="{3DCD8DDD-848A-4DD4-8977-795C2A45FAA7}"/>
                </a:ext>
              </a:extLst>
            </p:cNvPr>
            <p:cNvSpPr/>
            <p:nvPr/>
          </p:nvSpPr>
          <p:spPr>
            <a:xfrm>
              <a:off x="82231" y="4574457"/>
              <a:ext cx="2994615" cy="618675"/>
            </a:xfrm>
            <a:prstGeom prst="rect">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fontAlgn="auto">
                <a:spcBef>
                  <a:spcPts val="0"/>
                </a:spcBef>
                <a:spcAft>
                  <a:spcPts val="0"/>
                </a:spcAft>
                <a:defRPr/>
              </a:pPr>
              <a:r>
                <a:rPr lang="en-US" sz="1000" dirty="0">
                  <a:solidFill>
                    <a:prstClr val="black"/>
                  </a:solidFill>
                  <a:latin typeface="Arial" panose="020B0604020202020204" pitchFamily="34" charset="0"/>
                  <a:ea typeface="Arial" panose="020B0600000101010101" pitchFamily="34" charset="-127"/>
                  <a:cs typeface="Arial" panose="020B0604020202020204" pitchFamily="34" charset="0"/>
                </a:rPr>
                <a:t>Both samples fail the normality test (Anderson-Darling P &lt; 0.005). With n = 30 per group the 2-sample t-test (Welch) is robust: P = 0.950 &gt; 0.05, so changing the camera has no significant effect.</a:t>
              </a:r>
            </a:p>
          </p:txBody>
        </p:sp>
        <p:sp>
          <p:nvSpPr>
            <p:cNvPr id="13" name="Rectangle 12">
              <a:extLst>
                <a:ext uri="{FF2B5EF4-FFF2-40B4-BE49-F238E27FC236}">
                  <a16:creationId xmlns:a16="http://schemas.microsoft.com/office/drawing/2014/main" id="{6991B64C-3D0C-4AFC-9A02-6A7E183572E6}"/>
                </a:ext>
              </a:extLst>
            </p:cNvPr>
            <p:cNvSpPr/>
            <p:nvPr/>
          </p:nvSpPr>
          <p:spPr>
            <a:xfrm>
              <a:off x="27541" y="1363842"/>
              <a:ext cx="3488775" cy="4985319"/>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6" name="Rectangle 25">
            <a:extLst>
              <a:ext uri="{FF2B5EF4-FFF2-40B4-BE49-F238E27FC236}">
                <a16:creationId xmlns:a16="http://schemas.microsoft.com/office/drawing/2014/main" id="{025E2A72-A1A7-475D-B240-E52042B39D12}"/>
              </a:ext>
            </a:extLst>
          </p:cNvPr>
          <p:cNvSpPr/>
          <p:nvPr/>
        </p:nvSpPr>
        <p:spPr>
          <a:xfrm>
            <a:off x="3616861" y="5650106"/>
            <a:ext cx="2994615" cy="618675"/>
          </a:xfrm>
          <a:prstGeom prst="rect">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eaLnBrk="1" fontAlgn="auto" latinLnBrk="0">
              <a:spcBef>
                <a:spcPts val="0"/>
              </a:spcBef>
              <a:spcAft>
                <a:spcPts val="0"/>
              </a:spcAft>
              <a:defRPr/>
            </a:pPr>
            <a:r>
              <a:rPr sz="1000" b="0">
                <a:solidFill>
                  <a:prstClr val="black"/>
                </a:solidFill>
                <a:latin typeface="Arial"/>
              </a:rPr>
              <a:t>P-value = 0.950 &gt; 0.05 -&gt; Fail to reject H0 (No significant difference before/after changing camera).</a:t>
            </a:r>
          </a:p>
        </p:txBody>
      </p:sp>
      <p:pic>
        <p:nvPicPr>
          <p:cNvPr id="4" name="Picture 3">
            <a:extLst>
              <a:ext uri="{FF2B5EF4-FFF2-40B4-BE49-F238E27FC236}">
                <a16:creationId xmlns:a16="http://schemas.microsoft.com/office/drawing/2014/main" id="{713F22A1-2A24-4A0B-8A57-21B51CCA25AF}"/>
              </a:ext>
            </a:extLst>
          </p:cNvPr>
          <p:cNvPicPr>
            <a:picLocks noChangeAspect="1"/>
          </p:cNvPicPr>
          <p:nvPr/>
        </p:nvPicPr>
        <p:blipFill>
          <a:blip r:embed="rId4"/>
          <a:stretch>
            <a:fillRect/>
          </a:stretch>
        </p:blipFill>
        <p:spPr>
          <a:xfrm>
            <a:off x="3774759" y="1787863"/>
            <a:ext cx="2606993" cy="3724275"/>
          </a:xfrm>
          <a:prstGeom prst="rect">
            <a:avLst/>
          </a:prstGeom>
        </p:spPr>
      </p:pic>
      <p:sp>
        <p:nvSpPr>
          <p:cNvPr id="32" name="Rectangle 31">
            <a:extLst>
              <a:ext uri="{FF2B5EF4-FFF2-40B4-BE49-F238E27FC236}">
                <a16:creationId xmlns:a16="http://schemas.microsoft.com/office/drawing/2014/main" id="{6A8140ED-C729-467D-AEC9-86F71656C87D}"/>
              </a:ext>
            </a:extLst>
          </p:cNvPr>
          <p:cNvSpPr/>
          <p:nvPr/>
        </p:nvSpPr>
        <p:spPr>
          <a:xfrm>
            <a:off x="3551643" y="1363842"/>
            <a:ext cx="3129550" cy="4985319"/>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latinLnBrk="0"/>
            <a:endParaRPr lang="en-US"/>
          </a:p>
        </p:txBody>
      </p:sp>
      <p:sp>
        <p:nvSpPr>
          <p:cNvPr id="28" name="Rectangle 27">
            <a:extLst>
              <a:ext uri="{FF2B5EF4-FFF2-40B4-BE49-F238E27FC236}">
                <a16:creationId xmlns:a16="http://schemas.microsoft.com/office/drawing/2014/main" id="{247185BE-8036-4784-9456-394E8FE0CE4B}"/>
              </a:ext>
            </a:extLst>
          </p:cNvPr>
          <p:cNvSpPr/>
          <p:nvPr/>
        </p:nvSpPr>
        <p:spPr>
          <a:xfrm>
            <a:off x="6890602" y="5528419"/>
            <a:ext cx="2125080" cy="618675"/>
          </a:xfrm>
          <a:prstGeom prst="rect">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eaLnBrk="1" fontAlgn="auto" latinLnBrk="0">
              <a:spcBef>
                <a:spcPts val="0"/>
              </a:spcBef>
              <a:spcAft>
                <a:spcPts val="0"/>
              </a:spcAft>
              <a:defRPr/>
            </a:pPr>
            <a:r>
              <a:rPr sz="1000" b="0">
                <a:solidFill>
                  <a:prstClr val="black"/>
                </a:solidFill>
                <a:latin typeface="Arial"/>
              </a:rPr>
              <a:t>Changing camera has no significant effect on luminance (Factor eliminated).</a:t>
            </a:r>
          </a:p>
        </p:txBody>
      </p:sp>
      <p:sp>
        <p:nvSpPr>
          <p:cNvPr id="33" name="Rectangle 32">
            <a:extLst>
              <a:ext uri="{FF2B5EF4-FFF2-40B4-BE49-F238E27FC236}">
                <a16:creationId xmlns:a16="http://schemas.microsoft.com/office/drawing/2014/main" id="{61E00427-54B6-45B9-ABA2-0D94A30B42D1}"/>
              </a:ext>
            </a:extLst>
          </p:cNvPr>
          <p:cNvSpPr/>
          <p:nvPr/>
        </p:nvSpPr>
        <p:spPr>
          <a:xfrm>
            <a:off x="6759815" y="1363841"/>
            <a:ext cx="3047319" cy="4985319"/>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latinLnBrk="0"/>
            <a:endParaRPr lang="en-US"/>
          </a:p>
        </p:txBody>
      </p:sp>
      <p:pic>
        <p:nvPicPr>
          <p:cNvPr id="2" name="Picture 1">
            <a:extLst>
              <a:ext uri="{FF2B5EF4-FFF2-40B4-BE49-F238E27FC236}">
                <a16:creationId xmlns:a16="http://schemas.microsoft.com/office/drawing/2014/main" id="{AFCD0B0C-4467-4222-A67F-45926F3433D6}"/>
              </a:ext>
            </a:extLst>
          </p:cNvPr>
          <p:cNvPicPr>
            <a:picLocks noChangeAspect="1"/>
          </p:cNvPicPr>
          <p:nvPr/>
        </p:nvPicPr>
        <p:blipFill>
          <a:blip r:embed="rId5"/>
          <a:stretch>
            <a:fillRect/>
          </a:stretch>
        </p:blipFill>
        <p:spPr>
          <a:xfrm>
            <a:off x="142669" y="2162694"/>
            <a:ext cx="3253640" cy="2162957"/>
          </a:xfrm>
          <a:prstGeom prst="rect">
            <a:avLst/>
          </a:prstGeom>
        </p:spPr>
      </p:pic>
      <p:cxnSp>
        <p:nvCxnSpPr>
          <p:cNvPr id="22" name="Straight Connector 21">
            <a:extLst>
              <a:ext uri="{FF2B5EF4-FFF2-40B4-BE49-F238E27FC236}">
                <a16:creationId xmlns:a16="http://schemas.microsoft.com/office/drawing/2014/main" id="{481D8C7D-05B6-4D3D-9ABB-71119BC488A9}"/>
              </a:ext>
            </a:extLst>
          </p:cNvPr>
          <p:cNvCxnSpPr/>
          <p:nvPr/>
        </p:nvCxnSpPr>
        <p:spPr>
          <a:xfrm>
            <a:off x="0" y="508838"/>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137528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B3F81463-D00C-42E3-B8C4-F13E6DF99BB3}"/>
              </a:ext>
            </a:extLst>
          </p:cNvPr>
          <p:cNvPicPr>
            <a:picLocks noChangeAspect="1"/>
          </p:cNvPicPr>
          <p:nvPr/>
        </p:nvPicPr>
        <p:blipFill>
          <a:blip r:embed="rId3"/>
          <a:stretch>
            <a:fillRect/>
          </a:stretch>
        </p:blipFill>
        <p:spPr>
          <a:xfrm>
            <a:off x="3578913" y="1463388"/>
            <a:ext cx="2830034" cy="4232009"/>
          </a:xfrm>
          <a:prstGeom prst="rect">
            <a:avLst/>
          </a:prstGeom>
        </p:spPr>
      </p:pic>
      <p:pic>
        <p:nvPicPr>
          <p:cNvPr id="5" name="Picture 4">
            <a:extLst>
              <a:ext uri="{FF2B5EF4-FFF2-40B4-BE49-F238E27FC236}">
                <a16:creationId xmlns:a16="http://schemas.microsoft.com/office/drawing/2014/main" id="{B02A1F05-CB59-4ED6-9475-01BA35AED076}"/>
              </a:ext>
            </a:extLst>
          </p:cNvPr>
          <p:cNvPicPr>
            <a:picLocks noChangeAspect="1"/>
          </p:cNvPicPr>
          <p:nvPr/>
        </p:nvPicPr>
        <p:blipFill>
          <a:blip r:embed="rId4"/>
          <a:stretch>
            <a:fillRect/>
          </a:stretch>
        </p:blipFill>
        <p:spPr>
          <a:xfrm>
            <a:off x="6881471" y="1821584"/>
            <a:ext cx="2794242" cy="3819383"/>
          </a:xfrm>
          <a:prstGeom prst="rect">
            <a:avLst/>
          </a:prstGeom>
        </p:spPr>
      </p:pic>
      <p:sp>
        <p:nvSpPr>
          <p:cNvPr id="83" name="제목 1">
            <a:extLst>
              <a:ext uri="{FF2B5EF4-FFF2-40B4-BE49-F238E27FC236}">
                <a16:creationId xmlns:a16="http://schemas.microsoft.com/office/drawing/2014/main" id="{A33C1AE4-DB4A-4748-A4CE-56DE3154E7D9}"/>
              </a:ext>
            </a:extLst>
          </p:cNvPr>
          <p:cNvSpPr txBox="1">
            <a:spLocks/>
          </p:cNvSpPr>
          <p:nvPr/>
        </p:nvSpPr>
        <p:spPr>
          <a:xfrm>
            <a:off x="27541" y="64338"/>
            <a:ext cx="6085642" cy="418058"/>
          </a:xfrm>
          <a:prstGeom prst="rect">
            <a:avLst/>
          </a:prstGeom>
        </p:spPr>
        <p:txBody>
          <a:bodyPr vert="horz" lIns="91440" tIns="45720" rIns="91440" bIns="45720" rtlCol="0" anchor="ctr">
            <a:noAutofit/>
          </a:bodyPr>
          <a:lstStyle/>
          <a:p>
            <a:pPr eaLnBrk="1" latinLnBrk="0" hangingPunct="0">
              <a:defRPr/>
            </a:pPr>
            <a:r>
              <a:rPr lang="vi-VN" altLang="ko-KR" sz="1600" b="1" kern="0" dirty="0">
                <a:solidFill>
                  <a:srgbClr val="000000"/>
                </a:solidFill>
                <a:latin typeface="Arial Narrow" panose="020B0606020202030204" pitchFamily="34" charset="0"/>
                <a:ea typeface="LG Smart_H Regular" pitchFamily="34" charset="-127"/>
              </a:rPr>
              <a:t>3.1</a:t>
            </a:r>
            <a:r>
              <a:rPr lang="en-US" altLang="ko-KR" sz="1600" b="1" kern="0" dirty="0">
                <a:solidFill>
                  <a:srgbClr val="000000"/>
                </a:solidFill>
                <a:latin typeface="Arial Narrow" panose="020B0606020202030204" pitchFamily="34" charset="0"/>
                <a:ea typeface="LG Smart_H Regular" pitchFamily="34" charset="-127"/>
              </a:rPr>
              <a:t> Root cause of measurement system problem</a:t>
            </a:r>
            <a:endParaRPr lang="ko-KR" altLang="en-US" sz="1600" b="1" kern="0" dirty="0">
              <a:solidFill>
                <a:srgbClr val="000000"/>
              </a:solidFill>
              <a:latin typeface="Arial Narrow" panose="020B0606020202030204" pitchFamily="34" charset="0"/>
              <a:ea typeface="LG Smart_H Regular" pitchFamily="34" charset="-127"/>
            </a:endParaRPr>
          </a:p>
        </p:txBody>
      </p:sp>
      <p:sp>
        <p:nvSpPr>
          <p:cNvPr id="64" name="Slide Number Placeholder 4">
            <a:extLst>
              <a:ext uri="{FF2B5EF4-FFF2-40B4-BE49-F238E27FC236}">
                <a16:creationId xmlns:a16="http://schemas.microsoft.com/office/drawing/2014/main" id="{24735193-EBAE-47F7-AE08-C4E051B6506F}"/>
              </a:ext>
            </a:extLst>
          </p:cNvPr>
          <p:cNvSpPr>
            <a:spLocks noGrp="1"/>
          </p:cNvSpPr>
          <p:nvPr>
            <p:ph type="sldNum" sz="quarter" idx="12"/>
          </p:nvPr>
        </p:nvSpPr>
        <p:spPr>
          <a:xfrm>
            <a:off x="3954952" y="6628416"/>
            <a:ext cx="2133600" cy="198047"/>
          </a:xfrm>
        </p:spPr>
        <p:txBody>
          <a:bodyPr/>
          <a:lstStyle/>
          <a:p>
            <a:pPr algn="ctr" eaLnBrk="1" latinLnBrk="0"/>
            <a:r>
              <a:rPr sz="1000" b="0">
                <a:latin typeface="Arial"/>
              </a:rPr>
              <a:t>15 / 33</a:t>
            </a:r>
            <a:endParaRPr lang="ko-KR" altLang="en-US" sz="1200" dirty="0">
              <a:solidFill>
                <a:prstClr val="black">
                  <a:tint val="75000"/>
                </a:prstClr>
              </a:solidFill>
              <a:latin typeface="Arial" panose="020B0604020202020204" pitchFamily="34" charset="0"/>
              <a:ea typeface="Arial Unicode MS" panose="020B0604020202020204" pitchFamily="34" charset="-128"/>
              <a:cs typeface="Arial" panose="020B0604020202020204" pitchFamily="34" charset="0"/>
            </a:endParaRPr>
          </a:p>
        </p:txBody>
      </p:sp>
      <p:sp>
        <p:nvSpPr>
          <p:cNvPr id="121" name="TextBox 120">
            <a:extLst>
              <a:ext uri="{FF2B5EF4-FFF2-40B4-BE49-F238E27FC236}">
                <a16:creationId xmlns:a16="http://schemas.microsoft.com/office/drawing/2014/main" id="{730BA61B-B65C-41A9-8B27-50F93589B063}"/>
              </a:ext>
            </a:extLst>
          </p:cNvPr>
          <p:cNvSpPr txBox="1"/>
          <p:nvPr/>
        </p:nvSpPr>
        <p:spPr>
          <a:xfrm>
            <a:off x="235883" y="6564853"/>
            <a:ext cx="1234633" cy="261610"/>
          </a:xfrm>
          <a:prstGeom prst="rect">
            <a:avLst/>
          </a:prstGeom>
          <a:noFill/>
        </p:spPr>
        <p:txBody>
          <a:bodyPr wrap="none" rtlCol="0">
            <a:spAutoFit/>
          </a:bodyPr>
          <a:lstStyle/>
          <a:p>
            <a:pPr eaLnBrk="1" latinLnBrk="0"/>
            <a:r>
              <a:rPr lang="en-US" sz="1000" dirty="0">
                <a:solidFill>
                  <a:srgbClr val="000000"/>
                </a:solidFill>
                <a:latin typeface="Arial" panose="020B0600000101010101" pitchFamily="34" charset="-127"/>
                <a:ea typeface="Arial" panose="020B0600000101010101" pitchFamily="34" charset="-127"/>
              </a:rPr>
              <a:t>: Potential factor</a:t>
            </a:r>
            <a:endParaRPr lang="en-US" sz="1400" dirty="0">
              <a:latin typeface="LG Smart_H Regular" panose="020B0600000101010101" pitchFamily="34" charset="-127"/>
              <a:ea typeface="LG Smart_H Regular" panose="020B0600000101010101" pitchFamily="34" charset="-127"/>
            </a:endParaRPr>
          </a:p>
        </p:txBody>
      </p:sp>
      <p:sp>
        <p:nvSpPr>
          <p:cNvPr id="122" name="TextBox 121">
            <a:extLst>
              <a:ext uri="{FF2B5EF4-FFF2-40B4-BE49-F238E27FC236}">
                <a16:creationId xmlns:a16="http://schemas.microsoft.com/office/drawing/2014/main" id="{60C5646B-6776-41B4-BBD7-13F91A6E3313}"/>
              </a:ext>
            </a:extLst>
          </p:cNvPr>
          <p:cNvSpPr txBox="1"/>
          <p:nvPr/>
        </p:nvSpPr>
        <p:spPr>
          <a:xfrm>
            <a:off x="39997" y="6477386"/>
            <a:ext cx="180000" cy="374589"/>
          </a:xfrm>
          <a:prstGeom prst="rect">
            <a:avLst/>
          </a:prstGeom>
          <a:noFill/>
        </p:spPr>
        <p:txBody>
          <a:bodyPr wrap="square" rtlCol="0">
            <a:noAutofit/>
          </a:bodyPr>
          <a:lstStyle/>
          <a:p>
            <a:pPr eaLnBrk="1" latinLnBrk="0"/>
            <a:r>
              <a:rPr lang="en-US" sz="1000" b="1" dirty="0">
                <a:solidFill>
                  <a:srgbClr val="FF0000"/>
                </a:solidFill>
                <a:latin typeface="Arial" panose="020B0600000101010101" pitchFamily="34" charset="-127"/>
                <a:ea typeface="Arial" panose="020B0600000101010101" pitchFamily="34" charset="-127"/>
                <a:sym typeface="Wingdings 2" panose="05020102010507070707" pitchFamily="18" charset="2"/>
              </a:rPr>
              <a:t></a:t>
            </a:r>
            <a:endParaRPr lang="en-US" b="1" dirty="0">
              <a:solidFill>
                <a:srgbClr val="FF0000"/>
              </a:solidFill>
              <a:latin typeface="LG Smart_H Regular" panose="020B0600000101010101" pitchFamily="34" charset="-127"/>
              <a:ea typeface="LG Smart_H Regular" panose="020B0600000101010101" pitchFamily="34" charset="-127"/>
            </a:endParaRPr>
          </a:p>
        </p:txBody>
      </p:sp>
      <p:sp>
        <p:nvSpPr>
          <p:cNvPr id="100" name="AutoShape 55">
            <a:extLst>
              <a:ext uri="{FF2B5EF4-FFF2-40B4-BE49-F238E27FC236}">
                <a16:creationId xmlns:a16="http://schemas.microsoft.com/office/drawing/2014/main" id="{EED46192-4ED1-4158-8F3E-AA2D8BB90551}"/>
              </a:ext>
            </a:extLst>
          </p:cNvPr>
          <p:cNvSpPr>
            <a:spLocks noChangeArrowheads="1"/>
          </p:cNvSpPr>
          <p:nvPr/>
        </p:nvSpPr>
        <p:spPr bwMode="auto">
          <a:xfrm>
            <a:off x="9130746" y="166585"/>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Control</a:t>
            </a:r>
          </a:p>
        </p:txBody>
      </p:sp>
      <p:sp>
        <p:nvSpPr>
          <p:cNvPr id="101" name="AutoShape 56">
            <a:extLst>
              <a:ext uri="{FF2B5EF4-FFF2-40B4-BE49-F238E27FC236}">
                <a16:creationId xmlns:a16="http://schemas.microsoft.com/office/drawing/2014/main" id="{7459209F-12BD-4723-B248-E7E3EC691992}"/>
              </a:ext>
            </a:extLst>
          </p:cNvPr>
          <p:cNvSpPr>
            <a:spLocks noChangeArrowheads="1"/>
          </p:cNvSpPr>
          <p:nvPr/>
        </p:nvSpPr>
        <p:spPr bwMode="auto">
          <a:xfrm>
            <a:off x="8441771" y="166585"/>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solidFill>
                  <a:schemeClr val="tx1"/>
                </a:solidFill>
                <a:latin typeface="Arial Narrow" panose="020B0606020202030204" pitchFamily="34" charset="0"/>
                <a:ea typeface="Arial" panose="020B0503020000020004" pitchFamily="50" charset="-127"/>
              </a:rPr>
              <a:t>Improve</a:t>
            </a:r>
          </a:p>
        </p:txBody>
      </p:sp>
      <p:sp>
        <p:nvSpPr>
          <p:cNvPr id="114" name="AutoShape 58">
            <a:extLst>
              <a:ext uri="{FF2B5EF4-FFF2-40B4-BE49-F238E27FC236}">
                <a16:creationId xmlns:a16="http://schemas.microsoft.com/office/drawing/2014/main" id="{427C720A-861D-4934-858A-D651CA1E3F01}"/>
              </a:ext>
            </a:extLst>
          </p:cNvPr>
          <p:cNvSpPr>
            <a:spLocks noChangeArrowheads="1"/>
          </p:cNvSpPr>
          <p:nvPr/>
        </p:nvSpPr>
        <p:spPr bwMode="auto">
          <a:xfrm>
            <a:off x="7078109" y="166585"/>
            <a:ext cx="747712"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Measure </a:t>
            </a:r>
          </a:p>
        </p:txBody>
      </p:sp>
      <p:sp>
        <p:nvSpPr>
          <p:cNvPr id="115" name="AutoShape 59">
            <a:extLst>
              <a:ext uri="{FF2B5EF4-FFF2-40B4-BE49-F238E27FC236}">
                <a16:creationId xmlns:a16="http://schemas.microsoft.com/office/drawing/2014/main" id="{05E66742-DE0E-48EA-8AA8-4CD0C5704A27}"/>
              </a:ext>
            </a:extLst>
          </p:cNvPr>
          <p:cNvSpPr>
            <a:spLocks noChangeArrowheads="1"/>
          </p:cNvSpPr>
          <p:nvPr/>
        </p:nvSpPr>
        <p:spPr bwMode="auto">
          <a:xfrm>
            <a:off x="6381196" y="166585"/>
            <a:ext cx="757238" cy="287338"/>
          </a:xfrm>
          <a:prstGeom prst="homePlate">
            <a:avLst>
              <a:gd name="adj" fmla="val 47192"/>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Define</a:t>
            </a:r>
          </a:p>
        </p:txBody>
      </p:sp>
      <p:sp>
        <p:nvSpPr>
          <p:cNvPr id="116" name="AutoShape 57">
            <a:extLst>
              <a:ext uri="{FF2B5EF4-FFF2-40B4-BE49-F238E27FC236}">
                <a16:creationId xmlns:a16="http://schemas.microsoft.com/office/drawing/2014/main" id="{DFFBFEFF-78C8-4850-A9A2-2EB6B7D4D071}"/>
              </a:ext>
            </a:extLst>
          </p:cNvPr>
          <p:cNvSpPr>
            <a:spLocks noChangeArrowheads="1"/>
          </p:cNvSpPr>
          <p:nvPr/>
        </p:nvSpPr>
        <p:spPr bwMode="auto">
          <a:xfrm>
            <a:off x="7749621" y="22123"/>
            <a:ext cx="749300" cy="287337"/>
          </a:xfrm>
          <a:prstGeom prst="homePlate">
            <a:avLst>
              <a:gd name="adj" fmla="val 46698"/>
            </a:avLst>
          </a:prstGeom>
          <a:gradFill rotWithShape="1">
            <a:gsLst>
              <a:gs pos="0">
                <a:srgbClr val="494900"/>
              </a:gs>
              <a:gs pos="100000">
                <a:srgbClr val="808000"/>
              </a:gs>
            </a:gsLst>
            <a:lin ang="0" scaled="1"/>
          </a:gradFill>
          <a:ln w="6350" algn="ctr">
            <a:solidFill>
              <a:srgbClr val="808080"/>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latin typeface="Arial Narrow" panose="020B0606020202030204" pitchFamily="34" charset="0"/>
                <a:ea typeface="Arial" panose="020B0503020000020004" pitchFamily="50" charset="-127"/>
              </a:rPr>
              <a:t>Analyze</a:t>
            </a:r>
          </a:p>
        </p:txBody>
      </p:sp>
      <p:sp>
        <p:nvSpPr>
          <p:cNvPr id="14" name="Text Box 2">
            <a:extLst>
              <a:ext uri="{FF2B5EF4-FFF2-40B4-BE49-F238E27FC236}">
                <a16:creationId xmlns:a16="http://schemas.microsoft.com/office/drawing/2014/main" id="{4B4B956C-5807-4333-8355-4C41DF1F4283}"/>
              </a:ext>
            </a:extLst>
          </p:cNvPr>
          <p:cNvSpPr txBox="1">
            <a:spLocks noChangeArrowheads="1"/>
          </p:cNvSpPr>
          <p:nvPr/>
        </p:nvSpPr>
        <p:spPr bwMode="auto">
          <a:xfrm>
            <a:off x="39997" y="508838"/>
            <a:ext cx="5645539" cy="304800"/>
          </a:xfrm>
          <a:prstGeom prst="rect">
            <a:avLst/>
          </a:prstGeom>
          <a:noFill/>
          <a:ln w="9525" algn="ctr">
            <a:noFill/>
            <a:miter lim="800000"/>
            <a:headEnd/>
            <a:tailEnd/>
          </a:ln>
        </p:spPr>
        <p:txBody>
          <a:bodyPr lIns="84374" tIns="42187" rIns="84374" bIns="42187" anchor="ctr"/>
          <a:lstStyle/>
          <a:p>
            <a:pPr marL="171450" indent="-171450" defTabSz="844083" eaLnBrk="1" fontAlgn="base" latinLnBrk="0">
              <a:spcBef>
                <a:spcPct val="0"/>
              </a:spcBef>
              <a:spcAft>
                <a:spcPct val="0"/>
              </a:spcAft>
              <a:buFont typeface="Wingdings" panose="05000000000000000000" pitchFamily="2" charset="2"/>
              <a:buChar char="q"/>
              <a:defRPr/>
            </a:pPr>
            <a:r>
              <a:rPr lang="en-US" altLang="ko-KR" sz="1000" b="1" dirty="0">
                <a:solidFill>
                  <a:srgbClr val="000000"/>
                </a:solidFill>
                <a:latin typeface="Arial" panose="020B0600000101010101" pitchFamily="34" charset="-127"/>
                <a:ea typeface="Arial" panose="020B0600000101010101" pitchFamily="34" charset="-127"/>
                <a:cs typeface="Arial" panose="020B0604020202020204" pitchFamily="34" charset="0"/>
              </a:rPr>
              <a:t>2 Samples T _ Analysis </a:t>
            </a:r>
            <a:endParaRPr lang="ko-KR" altLang="en-US" sz="1200" b="1" dirty="0">
              <a:solidFill>
                <a:srgbClr val="000000"/>
              </a:solidFill>
              <a:latin typeface="LG Smart_H Regular" panose="020B0600000101010101" pitchFamily="34" charset="-127"/>
              <a:ea typeface="LG Smart_H Regular" panose="020B0600000101010101" pitchFamily="34" charset="-127"/>
              <a:cs typeface="Arial" panose="020B0604020202020204" pitchFamily="34" charset="0"/>
            </a:endParaRPr>
          </a:p>
        </p:txBody>
      </p:sp>
      <p:sp>
        <p:nvSpPr>
          <p:cNvPr id="15" name="Text Box 2">
            <a:extLst>
              <a:ext uri="{FF2B5EF4-FFF2-40B4-BE49-F238E27FC236}">
                <a16:creationId xmlns:a16="http://schemas.microsoft.com/office/drawing/2014/main" id="{7CC25F09-2F24-46D3-A9C1-3FD4420B1A75}"/>
              </a:ext>
            </a:extLst>
          </p:cNvPr>
          <p:cNvSpPr txBox="1">
            <a:spLocks noChangeArrowheads="1"/>
          </p:cNvSpPr>
          <p:nvPr/>
        </p:nvSpPr>
        <p:spPr bwMode="auto">
          <a:xfrm>
            <a:off x="44294" y="799200"/>
            <a:ext cx="8581114" cy="180000"/>
          </a:xfrm>
          <a:prstGeom prst="rect">
            <a:avLst/>
          </a:prstGeom>
          <a:noFill/>
          <a:ln w="9525" algn="ctr">
            <a:noFill/>
            <a:miter lim="800000"/>
            <a:headEnd/>
            <a:tailEnd/>
          </a:ln>
        </p:spPr>
        <p:txBody>
          <a:bodyPr lIns="84374" tIns="42187" rIns="84374" bIns="42187" anchor="ctr">
            <a:noAutofit/>
          </a:bodyPr>
          <a:lstStyle/>
          <a:p>
            <a:pPr marL="228600" indent="-228600" defTabSz="844083" eaLnBrk="1" latinLnBrk="0">
              <a:buFont typeface="Wingdings" panose="05000000000000000000" pitchFamily="2" charset="2"/>
              <a:buChar char="§"/>
              <a:defRPr/>
            </a:pPr>
            <a:r>
              <a:rPr lang="en-US" altLang="ko-KR" sz="1000" b="1" dirty="0">
                <a:solidFill>
                  <a:srgbClr val="000000"/>
                </a:solidFill>
                <a:latin typeface="Arial" panose="020B0600000101010101" pitchFamily="34" charset="-127"/>
                <a:ea typeface="Arial" panose="020B0600000101010101" pitchFamily="34" charset="-127"/>
                <a:cs typeface="Arial" panose="020B0604020202020204" pitchFamily="34" charset="0"/>
              </a:rPr>
              <a:t>Detection Luminance from Camera of Station 2_Change to the angle of Camera</a:t>
            </a:r>
            <a:endParaRPr lang="ko-KR" altLang="en-US" sz="1200" b="1" dirty="0">
              <a:solidFill>
                <a:srgbClr val="000000"/>
              </a:solidFill>
              <a:latin typeface="LG Smart_H Regular" panose="020B0600000101010101" pitchFamily="34" charset="-127"/>
              <a:ea typeface="LG Smart_H Regular" panose="020B0600000101010101" pitchFamily="34" charset="-127"/>
              <a:cs typeface="Arial" panose="020B0604020202020204" pitchFamily="34" charset="0"/>
            </a:endParaRPr>
          </a:p>
        </p:txBody>
      </p:sp>
      <p:sp>
        <p:nvSpPr>
          <p:cNvPr id="27" name="Rectangle 26">
            <a:extLst>
              <a:ext uri="{FF2B5EF4-FFF2-40B4-BE49-F238E27FC236}">
                <a16:creationId xmlns:a16="http://schemas.microsoft.com/office/drawing/2014/main" id="{4E21FB5F-6A89-4542-9E1C-21FB7959A5B4}"/>
              </a:ext>
            </a:extLst>
          </p:cNvPr>
          <p:cNvSpPr/>
          <p:nvPr/>
        </p:nvSpPr>
        <p:spPr>
          <a:xfrm>
            <a:off x="272480" y="1008515"/>
            <a:ext cx="6920382" cy="388695"/>
          </a:xfrm>
          <a:prstGeom prst="rect">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eaLnBrk="1" fontAlgn="auto" latinLnBrk="0">
              <a:spcBef>
                <a:spcPts val="0"/>
              </a:spcBef>
              <a:spcAft>
                <a:spcPts val="0"/>
              </a:spcAft>
              <a:defRPr/>
            </a:pPr>
            <a:r>
              <a:rPr lang="en-US" sz="1000" dirty="0">
                <a:solidFill>
                  <a:prstClr val="black"/>
                </a:solidFill>
                <a:latin typeface="Arial" panose="020B0604020202020204" pitchFamily="34" charset="0"/>
                <a:ea typeface="LG Smart_H Regular" panose="020B0600000101010101" pitchFamily="34" charset="-127"/>
                <a:cs typeface="Arial" panose="020B0604020202020204" pitchFamily="34" charset="0"/>
              </a:rPr>
              <a:t>H0: The changing angle does not affect in the luminance in station 2</a:t>
            </a:r>
          </a:p>
          <a:p>
            <a:pPr eaLnBrk="1" fontAlgn="auto" latinLnBrk="0">
              <a:spcBef>
                <a:spcPts val="0"/>
              </a:spcBef>
              <a:spcAft>
                <a:spcPts val="0"/>
              </a:spcAft>
              <a:defRPr/>
            </a:pPr>
            <a:r>
              <a:rPr lang="en-US" sz="1000" dirty="0">
                <a:solidFill>
                  <a:prstClr val="black"/>
                </a:solidFill>
                <a:latin typeface="Arial" panose="020B0604020202020204" pitchFamily="34" charset="0"/>
                <a:ea typeface="LG Smart_H Regular" panose="020B0600000101010101" pitchFamily="34" charset="-127"/>
                <a:cs typeface="Arial" panose="020B0604020202020204" pitchFamily="34" charset="0"/>
              </a:rPr>
              <a:t>H1: Changing angle affects the luminance in station 2</a:t>
            </a:r>
          </a:p>
        </p:txBody>
      </p:sp>
      <p:sp>
        <p:nvSpPr>
          <p:cNvPr id="13" name="Rectangle 12">
            <a:extLst>
              <a:ext uri="{FF2B5EF4-FFF2-40B4-BE49-F238E27FC236}">
                <a16:creationId xmlns:a16="http://schemas.microsoft.com/office/drawing/2014/main" id="{6991B64C-3D0C-4AFC-9A02-6A7E183572E6}"/>
              </a:ext>
            </a:extLst>
          </p:cNvPr>
          <p:cNvSpPr/>
          <p:nvPr/>
        </p:nvSpPr>
        <p:spPr>
          <a:xfrm>
            <a:off x="98866" y="1363842"/>
            <a:ext cx="3417450" cy="4985319"/>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latinLnBrk="0"/>
            <a:endParaRPr lang="en-US"/>
          </a:p>
        </p:txBody>
      </p:sp>
      <p:sp>
        <p:nvSpPr>
          <p:cNvPr id="32" name="Rectangle 31">
            <a:extLst>
              <a:ext uri="{FF2B5EF4-FFF2-40B4-BE49-F238E27FC236}">
                <a16:creationId xmlns:a16="http://schemas.microsoft.com/office/drawing/2014/main" id="{6A8140ED-C729-467D-AEC9-86F71656C87D}"/>
              </a:ext>
            </a:extLst>
          </p:cNvPr>
          <p:cNvSpPr/>
          <p:nvPr/>
        </p:nvSpPr>
        <p:spPr>
          <a:xfrm>
            <a:off x="3551643" y="1363842"/>
            <a:ext cx="3129550" cy="4985319"/>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latinLnBrk="0"/>
            <a:endParaRPr lang="en-US"/>
          </a:p>
        </p:txBody>
      </p:sp>
      <p:sp>
        <p:nvSpPr>
          <p:cNvPr id="33" name="Rectangle 32">
            <a:extLst>
              <a:ext uri="{FF2B5EF4-FFF2-40B4-BE49-F238E27FC236}">
                <a16:creationId xmlns:a16="http://schemas.microsoft.com/office/drawing/2014/main" id="{61E00427-54B6-45B9-ABA2-0D94A30B42D1}"/>
              </a:ext>
            </a:extLst>
          </p:cNvPr>
          <p:cNvSpPr/>
          <p:nvPr/>
        </p:nvSpPr>
        <p:spPr>
          <a:xfrm>
            <a:off x="6759815" y="1363841"/>
            <a:ext cx="3047319" cy="4985319"/>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latinLnBrk="0"/>
            <a:endParaRPr lang="en-US"/>
          </a:p>
        </p:txBody>
      </p:sp>
      <p:sp>
        <p:nvSpPr>
          <p:cNvPr id="31" name="Rectangle 30">
            <a:extLst>
              <a:ext uri="{FF2B5EF4-FFF2-40B4-BE49-F238E27FC236}">
                <a16:creationId xmlns:a16="http://schemas.microsoft.com/office/drawing/2014/main" id="{97D18562-BCC3-4013-82DD-F4D405717BC8}"/>
              </a:ext>
            </a:extLst>
          </p:cNvPr>
          <p:cNvSpPr/>
          <p:nvPr/>
        </p:nvSpPr>
        <p:spPr>
          <a:xfrm>
            <a:off x="7078109" y="5640967"/>
            <a:ext cx="2125080" cy="618675"/>
          </a:xfrm>
          <a:prstGeom prst="rect">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eaLnBrk="1" fontAlgn="auto" latinLnBrk="0">
              <a:spcBef>
                <a:spcPts val="0"/>
              </a:spcBef>
              <a:spcAft>
                <a:spcPts val="0"/>
              </a:spcAft>
              <a:defRPr/>
            </a:pPr>
            <a:r>
              <a:rPr sz="1000" b="1">
                <a:solidFill>
                  <a:prstClr val="black"/>
                </a:solidFill>
                <a:latin typeface="Arial"/>
              </a:rPr>
              <a:t>Changing camera angle significantly affects luminance → Root Cause verified!</a:t>
            </a:r>
          </a:p>
        </p:txBody>
      </p:sp>
      <p:sp>
        <p:nvSpPr>
          <p:cNvPr id="34" name="Rectangle 33">
            <a:extLst>
              <a:ext uri="{FF2B5EF4-FFF2-40B4-BE49-F238E27FC236}">
                <a16:creationId xmlns:a16="http://schemas.microsoft.com/office/drawing/2014/main" id="{57C9282F-7684-42EC-8ACA-B2F7764FEB40}"/>
              </a:ext>
            </a:extLst>
          </p:cNvPr>
          <p:cNvSpPr/>
          <p:nvPr/>
        </p:nvSpPr>
        <p:spPr>
          <a:xfrm>
            <a:off x="3608582" y="5694299"/>
            <a:ext cx="2994615" cy="618675"/>
          </a:xfrm>
          <a:prstGeom prst="rect">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eaLnBrk="1" fontAlgn="auto" latinLnBrk="0">
              <a:spcBef>
                <a:spcPts val="0"/>
              </a:spcBef>
              <a:spcAft>
                <a:spcPts val="0"/>
              </a:spcAft>
              <a:defRPr/>
            </a:pPr>
            <a:r>
              <a:rPr sz="1000" b="0">
                <a:solidFill>
                  <a:prstClr val="black"/>
                </a:solidFill>
                <a:latin typeface="Arial"/>
              </a:rPr>
              <a:t>P-value &lt; 0.001 (&lt; 0.05) -&gt; Reject H0 (Significant difference before/after angle adjustment).</a:t>
            </a:r>
          </a:p>
        </p:txBody>
      </p:sp>
      <p:sp>
        <p:nvSpPr>
          <p:cNvPr id="35" name="Rectangle 34">
            <a:extLst>
              <a:ext uri="{FF2B5EF4-FFF2-40B4-BE49-F238E27FC236}">
                <a16:creationId xmlns:a16="http://schemas.microsoft.com/office/drawing/2014/main" id="{C6D04D18-793F-4BB5-941D-DBC9777DF9A3}"/>
              </a:ext>
            </a:extLst>
          </p:cNvPr>
          <p:cNvSpPr/>
          <p:nvPr/>
        </p:nvSpPr>
        <p:spPr>
          <a:xfrm>
            <a:off x="98866" y="5564534"/>
            <a:ext cx="2933393" cy="618675"/>
          </a:xfrm>
          <a:prstGeom prst="rect">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eaLnBrk="1" fontAlgn="auto" latinLnBrk="0">
              <a:spcBef>
                <a:spcPts val="0"/>
              </a:spcBef>
              <a:spcAft>
                <a:spcPts val="0"/>
              </a:spcAft>
              <a:defRPr/>
            </a:pPr>
            <a:r>
              <a:rPr sz="1000" b="0">
                <a:solidFill>
                  <a:prstClr val="black"/>
                </a:solidFill>
                <a:latin typeface="Arial"/>
              </a:rPr>
              <a:t>The before-fix sample (C1) fails the normality test (Anderson-Darling P &lt; 0.005); with n = 30 per group the 2-sample t-test (Welch) is robust. After the angle correction the mean is 48.99 Cd/m² higher (95% CI 32.93 to 65.05).</a:t>
            </a:r>
          </a:p>
        </p:txBody>
      </p:sp>
      <p:pic>
        <p:nvPicPr>
          <p:cNvPr id="7" name="Picture 6">
            <a:extLst>
              <a:ext uri="{FF2B5EF4-FFF2-40B4-BE49-F238E27FC236}">
                <a16:creationId xmlns:a16="http://schemas.microsoft.com/office/drawing/2014/main" id="{0BD2CE55-1666-4BA2-8F5D-76D7AD09ED1B}"/>
              </a:ext>
            </a:extLst>
          </p:cNvPr>
          <p:cNvPicPr>
            <a:picLocks noChangeAspect="1"/>
          </p:cNvPicPr>
          <p:nvPr/>
        </p:nvPicPr>
        <p:blipFill>
          <a:blip r:embed="rId5"/>
          <a:stretch>
            <a:fillRect/>
          </a:stretch>
        </p:blipFill>
        <p:spPr>
          <a:xfrm>
            <a:off x="189458" y="2514600"/>
            <a:ext cx="3160523" cy="2113294"/>
          </a:xfrm>
          <a:prstGeom prst="rect">
            <a:avLst/>
          </a:prstGeom>
        </p:spPr>
      </p:pic>
      <p:cxnSp>
        <p:nvCxnSpPr>
          <p:cNvPr id="23" name="Straight Connector 22">
            <a:extLst>
              <a:ext uri="{FF2B5EF4-FFF2-40B4-BE49-F238E27FC236}">
                <a16:creationId xmlns:a16="http://schemas.microsoft.com/office/drawing/2014/main" id="{BA493B99-CBD5-4FF7-890F-B765055A2C91}"/>
              </a:ext>
            </a:extLst>
          </p:cNvPr>
          <p:cNvCxnSpPr/>
          <p:nvPr/>
        </p:nvCxnSpPr>
        <p:spPr>
          <a:xfrm>
            <a:off x="0" y="508838"/>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3582459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 name="제목 1">
            <a:extLst>
              <a:ext uri="{FF2B5EF4-FFF2-40B4-BE49-F238E27FC236}">
                <a16:creationId xmlns:a16="http://schemas.microsoft.com/office/drawing/2014/main" id="{A33C1AE4-DB4A-4748-A4CE-56DE3154E7D9}"/>
              </a:ext>
            </a:extLst>
          </p:cNvPr>
          <p:cNvSpPr txBox="1">
            <a:spLocks/>
          </p:cNvSpPr>
          <p:nvPr/>
        </p:nvSpPr>
        <p:spPr>
          <a:xfrm>
            <a:off x="27541" y="64338"/>
            <a:ext cx="6085642" cy="418058"/>
          </a:xfrm>
          <a:prstGeom prst="rect">
            <a:avLst/>
          </a:prstGeom>
        </p:spPr>
        <p:txBody>
          <a:bodyPr vert="horz" lIns="91440" tIns="45720" rIns="91440" bIns="45720" rtlCol="0" anchor="ctr">
            <a:noAutofit/>
          </a:bodyPr>
          <a:lstStyle/>
          <a:p>
            <a:pPr eaLnBrk="1" latinLnBrk="0" hangingPunct="0">
              <a:defRPr/>
            </a:pPr>
            <a:r>
              <a:rPr lang="vi-VN" altLang="ko-KR" sz="1600" b="1" kern="0" dirty="0">
                <a:solidFill>
                  <a:srgbClr val="000000"/>
                </a:solidFill>
                <a:latin typeface="Arial Narrow" panose="020B0606020202030204" pitchFamily="34" charset="0"/>
                <a:ea typeface="LG Smart_H Regular" pitchFamily="34" charset="-127"/>
              </a:rPr>
              <a:t>3.1</a:t>
            </a:r>
            <a:r>
              <a:rPr lang="en-US" altLang="ko-KR" sz="1600" b="1" kern="0" dirty="0">
                <a:solidFill>
                  <a:srgbClr val="000000"/>
                </a:solidFill>
                <a:latin typeface="Arial Narrow" panose="020B0606020202030204" pitchFamily="34" charset="0"/>
                <a:ea typeface="LG Smart_H Regular" pitchFamily="34" charset="-127"/>
              </a:rPr>
              <a:t> Root cause of measurement system problem</a:t>
            </a:r>
            <a:endParaRPr lang="ko-KR" altLang="en-US" sz="1600" b="1" kern="0" dirty="0">
              <a:solidFill>
                <a:srgbClr val="000000"/>
              </a:solidFill>
              <a:latin typeface="Arial Narrow" panose="020B0606020202030204" pitchFamily="34" charset="0"/>
              <a:ea typeface="LG Smart_H Regular" pitchFamily="34" charset="-127"/>
            </a:endParaRPr>
          </a:p>
        </p:txBody>
      </p:sp>
      <p:sp>
        <p:nvSpPr>
          <p:cNvPr id="64" name="Slide Number Placeholder 4">
            <a:extLst>
              <a:ext uri="{FF2B5EF4-FFF2-40B4-BE49-F238E27FC236}">
                <a16:creationId xmlns:a16="http://schemas.microsoft.com/office/drawing/2014/main" id="{24735193-EBAE-47F7-AE08-C4E051B6506F}"/>
              </a:ext>
            </a:extLst>
          </p:cNvPr>
          <p:cNvSpPr>
            <a:spLocks noGrp="1"/>
          </p:cNvSpPr>
          <p:nvPr>
            <p:ph type="sldNum" sz="quarter" idx="12"/>
          </p:nvPr>
        </p:nvSpPr>
        <p:spPr>
          <a:xfrm>
            <a:off x="3581025" y="6631416"/>
            <a:ext cx="2133600" cy="198047"/>
          </a:xfrm>
        </p:spPr>
        <p:txBody>
          <a:bodyPr/>
          <a:lstStyle/>
          <a:p>
            <a:pPr algn="ctr" eaLnBrk="1" latinLnBrk="0"/>
            <a:r>
              <a:rPr sz="1000" b="0">
                <a:latin typeface="Arial"/>
              </a:rPr>
              <a:t>16 / 33</a:t>
            </a:r>
            <a:endParaRPr lang="ko-KR" altLang="en-US" sz="1200" dirty="0">
              <a:solidFill>
                <a:prstClr val="black">
                  <a:tint val="75000"/>
                </a:prstClr>
              </a:solidFill>
              <a:latin typeface="Arial" panose="020B0604020202020204" pitchFamily="34" charset="0"/>
              <a:ea typeface="Arial Unicode MS" panose="020B0604020202020204" pitchFamily="34" charset="-128"/>
              <a:cs typeface="Arial" panose="020B0604020202020204" pitchFamily="34" charset="0"/>
            </a:endParaRPr>
          </a:p>
        </p:txBody>
      </p:sp>
      <p:sp>
        <p:nvSpPr>
          <p:cNvPr id="121" name="TextBox 120">
            <a:extLst>
              <a:ext uri="{FF2B5EF4-FFF2-40B4-BE49-F238E27FC236}">
                <a16:creationId xmlns:a16="http://schemas.microsoft.com/office/drawing/2014/main" id="{730BA61B-B65C-41A9-8B27-50F93589B063}"/>
              </a:ext>
            </a:extLst>
          </p:cNvPr>
          <p:cNvSpPr txBox="1"/>
          <p:nvPr/>
        </p:nvSpPr>
        <p:spPr>
          <a:xfrm>
            <a:off x="244673" y="6496049"/>
            <a:ext cx="1234633" cy="261610"/>
          </a:xfrm>
          <a:prstGeom prst="rect">
            <a:avLst/>
          </a:prstGeom>
          <a:noFill/>
        </p:spPr>
        <p:txBody>
          <a:bodyPr wrap="none" rtlCol="0">
            <a:spAutoFit/>
          </a:bodyPr>
          <a:lstStyle/>
          <a:p>
            <a:pPr eaLnBrk="1" latinLnBrk="0"/>
            <a:r>
              <a:rPr lang="en-US" sz="1000" dirty="0">
                <a:solidFill>
                  <a:srgbClr val="000000"/>
                </a:solidFill>
                <a:latin typeface="Arial" panose="020B0600000101010101" pitchFamily="34" charset="-127"/>
                <a:ea typeface="Arial" panose="020B0600000101010101" pitchFamily="34" charset="-127"/>
              </a:rPr>
              <a:t>: Potential factor</a:t>
            </a:r>
            <a:endParaRPr lang="en-US" sz="1400" dirty="0">
              <a:latin typeface="LG Smart_H Regular" panose="020B0600000101010101" pitchFamily="34" charset="-127"/>
              <a:ea typeface="LG Smart_H Regular" panose="020B0600000101010101" pitchFamily="34" charset="-127"/>
            </a:endParaRPr>
          </a:p>
        </p:txBody>
      </p:sp>
      <p:sp>
        <p:nvSpPr>
          <p:cNvPr id="122" name="TextBox 121">
            <a:extLst>
              <a:ext uri="{FF2B5EF4-FFF2-40B4-BE49-F238E27FC236}">
                <a16:creationId xmlns:a16="http://schemas.microsoft.com/office/drawing/2014/main" id="{60C5646B-6776-41B4-BBD7-13F91A6E3313}"/>
              </a:ext>
            </a:extLst>
          </p:cNvPr>
          <p:cNvSpPr txBox="1"/>
          <p:nvPr/>
        </p:nvSpPr>
        <p:spPr>
          <a:xfrm>
            <a:off x="39997" y="6477386"/>
            <a:ext cx="180000" cy="374589"/>
          </a:xfrm>
          <a:prstGeom prst="rect">
            <a:avLst/>
          </a:prstGeom>
          <a:noFill/>
        </p:spPr>
        <p:txBody>
          <a:bodyPr wrap="square" rtlCol="0">
            <a:noAutofit/>
          </a:bodyPr>
          <a:lstStyle/>
          <a:p>
            <a:pPr eaLnBrk="1" latinLnBrk="0"/>
            <a:r>
              <a:rPr lang="en-US" sz="1000" b="1" dirty="0">
                <a:solidFill>
                  <a:srgbClr val="FF0000"/>
                </a:solidFill>
                <a:latin typeface="Arial" panose="020B0600000101010101" pitchFamily="34" charset="-127"/>
                <a:ea typeface="Arial" panose="020B0600000101010101" pitchFamily="34" charset="-127"/>
                <a:sym typeface="Wingdings 2" panose="05020102010507070707" pitchFamily="18" charset="2"/>
              </a:rPr>
              <a:t></a:t>
            </a:r>
            <a:endParaRPr lang="en-US" b="1" dirty="0">
              <a:solidFill>
                <a:srgbClr val="FF0000"/>
              </a:solidFill>
              <a:latin typeface="LG Smart_H Regular" panose="020B0600000101010101" pitchFamily="34" charset="-127"/>
              <a:ea typeface="LG Smart_H Regular" panose="020B0600000101010101" pitchFamily="34" charset="-127"/>
            </a:endParaRPr>
          </a:p>
        </p:txBody>
      </p:sp>
      <p:sp>
        <p:nvSpPr>
          <p:cNvPr id="105" name="Text Box 2">
            <a:extLst>
              <a:ext uri="{FF2B5EF4-FFF2-40B4-BE49-F238E27FC236}">
                <a16:creationId xmlns:a16="http://schemas.microsoft.com/office/drawing/2014/main" id="{F885FEA8-2650-4BAE-BD30-177BEEB89DF5}"/>
              </a:ext>
            </a:extLst>
          </p:cNvPr>
          <p:cNvSpPr txBox="1">
            <a:spLocks noChangeArrowheads="1"/>
          </p:cNvSpPr>
          <p:nvPr/>
        </p:nvSpPr>
        <p:spPr bwMode="auto">
          <a:xfrm>
            <a:off x="39997" y="508838"/>
            <a:ext cx="5645539" cy="304800"/>
          </a:xfrm>
          <a:prstGeom prst="rect">
            <a:avLst/>
          </a:prstGeom>
          <a:noFill/>
          <a:ln w="9525" algn="ctr">
            <a:noFill/>
            <a:miter lim="800000"/>
            <a:headEnd/>
            <a:tailEnd/>
          </a:ln>
        </p:spPr>
        <p:txBody>
          <a:bodyPr lIns="84374" tIns="42187" rIns="84374" bIns="42187" anchor="ctr"/>
          <a:lstStyle/>
          <a:p>
            <a:pPr marL="171450" indent="-171450" defTabSz="844083" eaLnBrk="1" fontAlgn="base" latinLnBrk="0">
              <a:spcBef>
                <a:spcPct val="0"/>
              </a:spcBef>
              <a:spcAft>
                <a:spcPct val="0"/>
              </a:spcAft>
              <a:buFont typeface="Wingdings" panose="05000000000000000000" pitchFamily="2" charset="2"/>
              <a:buChar char="q"/>
              <a:defRPr/>
            </a:pPr>
            <a:r>
              <a:rPr lang="en-US" altLang="ko-KR" sz="1000" b="1" dirty="0">
                <a:solidFill>
                  <a:srgbClr val="000000"/>
                </a:solidFill>
                <a:latin typeface="Arial" panose="020B0600000101010101" pitchFamily="34" charset="-127"/>
                <a:ea typeface="Arial" panose="020B0600000101010101" pitchFamily="34" charset="-127"/>
                <a:cs typeface="Arial" panose="020B0604020202020204" pitchFamily="34" charset="0"/>
              </a:rPr>
              <a:t>2 Samples T </a:t>
            </a:r>
            <a:endParaRPr lang="ko-KR" altLang="en-US" sz="1200" b="1" dirty="0">
              <a:solidFill>
                <a:srgbClr val="000000"/>
              </a:solidFill>
              <a:latin typeface="LG Smart_H Regular" panose="020B0600000101010101" pitchFamily="34" charset="-127"/>
              <a:ea typeface="LG Smart_H Regular" panose="020B0600000101010101" pitchFamily="34" charset="-127"/>
              <a:cs typeface="Arial" panose="020B0604020202020204" pitchFamily="34" charset="0"/>
            </a:endParaRPr>
          </a:p>
        </p:txBody>
      </p:sp>
      <p:sp>
        <p:nvSpPr>
          <p:cNvPr id="100" name="AutoShape 55">
            <a:extLst>
              <a:ext uri="{FF2B5EF4-FFF2-40B4-BE49-F238E27FC236}">
                <a16:creationId xmlns:a16="http://schemas.microsoft.com/office/drawing/2014/main" id="{EED46192-4ED1-4158-8F3E-AA2D8BB90551}"/>
              </a:ext>
            </a:extLst>
          </p:cNvPr>
          <p:cNvSpPr>
            <a:spLocks noChangeArrowheads="1"/>
          </p:cNvSpPr>
          <p:nvPr/>
        </p:nvSpPr>
        <p:spPr bwMode="auto">
          <a:xfrm>
            <a:off x="9130746" y="166585"/>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Control</a:t>
            </a:r>
          </a:p>
        </p:txBody>
      </p:sp>
      <p:sp>
        <p:nvSpPr>
          <p:cNvPr id="101" name="AutoShape 56">
            <a:extLst>
              <a:ext uri="{FF2B5EF4-FFF2-40B4-BE49-F238E27FC236}">
                <a16:creationId xmlns:a16="http://schemas.microsoft.com/office/drawing/2014/main" id="{7459209F-12BD-4723-B248-E7E3EC691992}"/>
              </a:ext>
            </a:extLst>
          </p:cNvPr>
          <p:cNvSpPr>
            <a:spLocks noChangeArrowheads="1"/>
          </p:cNvSpPr>
          <p:nvPr/>
        </p:nvSpPr>
        <p:spPr bwMode="auto">
          <a:xfrm>
            <a:off x="8441771" y="166585"/>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solidFill>
                  <a:schemeClr val="tx1"/>
                </a:solidFill>
                <a:latin typeface="Arial Narrow" panose="020B0606020202030204" pitchFamily="34" charset="0"/>
                <a:ea typeface="Arial" panose="020B0503020000020004" pitchFamily="50" charset="-127"/>
              </a:rPr>
              <a:t>Improve</a:t>
            </a:r>
          </a:p>
        </p:txBody>
      </p:sp>
      <p:sp>
        <p:nvSpPr>
          <p:cNvPr id="114" name="AutoShape 58">
            <a:extLst>
              <a:ext uri="{FF2B5EF4-FFF2-40B4-BE49-F238E27FC236}">
                <a16:creationId xmlns:a16="http://schemas.microsoft.com/office/drawing/2014/main" id="{427C720A-861D-4934-858A-D651CA1E3F01}"/>
              </a:ext>
            </a:extLst>
          </p:cNvPr>
          <p:cNvSpPr>
            <a:spLocks noChangeArrowheads="1"/>
          </p:cNvSpPr>
          <p:nvPr/>
        </p:nvSpPr>
        <p:spPr bwMode="auto">
          <a:xfrm>
            <a:off x="7078109" y="166585"/>
            <a:ext cx="747712"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Measure </a:t>
            </a:r>
          </a:p>
        </p:txBody>
      </p:sp>
      <p:sp>
        <p:nvSpPr>
          <p:cNvPr id="115" name="AutoShape 59">
            <a:extLst>
              <a:ext uri="{FF2B5EF4-FFF2-40B4-BE49-F238E27FC236}">
                <a16:creationId xmlns:a16="http://schemas.microsoft.com/office/drawing/2014/main" id="{05E66742-DE0E-48EA-8AA8-4CD0C5704A27}"/>
              </a:ext>
            </a:extLst>
          </p:cNvPr>
          <p:cNvSpPr>
            <a:spLocks noChangeArrowheads="1"/>
          </p:cNvSpPr>
          <p:nvPr/>
        </p:nvSpPr>
        <p:spPr bwMode="auto">
          <a:xfrm>
            <a:off x="6381196" y="166585"/>
            <a:ext cx="757238" cy="287338"/>
          </a:xfrm>
          <a:prstGeom prst="homePlate">
            <a:avLst>
              <a:gd name="adj" fmla="val 47192"/>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Define</a:t>
            </a:r>
          </a:p>
        </p:txBody>
      </p:sp>
      <p:sp>
        <p:nvSpPr>
          <p:cNvPr id="116" name="AutoShape 57">
            <a:extLst>
              <a:ext uri="{FF2B5EF4-FFF2-40B4-BE49-F238E27FC236}">
                <a16:creationId xmlns:a16="http://schemas.microsoft.com/office/drawing/2014/main" id="{DFFBFEFF-78C8-4850-A9A2-2EB6B7D4D071}"/>
              </a:ext>
            </a:extLst>
          </p:cNvPr>
          <p:cNvSpPr>
            <a:spLocks noChangeArrowheads="1"/>
          </p:cNvSpPr>
          <p:nvPr/>
        </p:nvSpPr>
        <p:spPr bwMode="auto">
          <a:xfrm>
            <a:off x="7749621" y="22123"/>
            <a:ext cx="749300" cy="287337"/>
          </a:xfrm>
          <a:prstGeom prst="homePlate">
            <a:avLst>
              <a:gd name="adj" fmla="val 46698"/>
            </a:avLst>
          </a:prstGeom>
          <a:gradFill rotWithShape="1">
            <a:gsLst>
              <a:gs pos="0">
                <a:srgbClr val="494900"/>
              </a:gs>
              <a:gs pos="100000">
                <a:srgbClr val="808000"/>
              </a:gs>
            </a:gsLst>
            <a:lin ang="0" scaled="1"/>
          </a:gradFill>
          <a:ln w="6350" algn="ctr">
            <a:solidFill>
              <a:srgbClr val="808080"/>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latin typeface="Arial Narrow" panose="020B0606020202030204" pitchFamily="34" charset="0"/>
                <a:ea typeface="Arial" panose="020B0503020000020004" pitchFamily="50" charset="-127"/>
              </a:rPr>
              <a:t>Analyze</a:t>
            </a:r>
          </a:p>
        </p:txBody>
      </p:sp>
      <p:sp>
        <p:nvSpPr>
          <p:cNvPr id="14" name="TextBox 13">
            <a:extLst>
              <a:ext uri="{FF2B5EF4-FFF2-40B4-BE49-F238E27FC236}">
                <a16:creationId xmlns:a16="http://schemas.microsoft.com/office/drawing/2014/main" id="{77319FFA-3B9B-430E-9F64-271EFD67D4AA}"/>
              </a:ext>
            </a:extLst>
          </p:cNvPr>
          <p:cNvSpPr txBox="1"/>
          <p:nvPr/>
        </p:nvSpPr>
        <p:spPr>
          <a:xfrm>
            <a:off x="6008474" y="2262358"/>
            <a:ext cx="391772" cy="374589"/>
          </a:xfrm>
          <a:prstGeom prst="rect">
            <a:avLst/>
          </a:prstGeom>
          <a:noFill/>
        </p:spPr>
        <p:txBody>
          <a:bodyPr wrap="square" rtlCol="0">
            <a:spAutoFit/>
          </a:bodyPr>
          <a:lstStyle/>
          <a:p>
            <a:pPr eaLnBrk="1" latinLnBrk="0"/>
            <a:r>
              <a:rPr lang="en-US" sz="1000" b="1" dirty="0">
                <a:solidFill>
                  <a:srgbClr val="FF0000"/>
                </a:solidFill>
                <a:latin typeface="Arial" panose="020B0600000101010101" pitchFamily="34" charset="-127"/>
                <a:ea typeface="Arial" panose="020B0600000101010101" pitchFamily="34" charset="-127"/>
                <a:sym typeface="Wingdings 2" panose="05020102010507070707" pitchFamily="18" charset="2"/>
              </a:rPr>
              <a:t></a:t>
            </a:r>
            <a:endParaRPr lang="en-US" b="1" dirty="0">
              <a:solidFill>
                <a:srgbClr val="FF0000"/>
              </a:solidFill>
              <a:latin typeface="LG Smart_H Regular" panose="020B0600000101010101" pitchFamily="34" charset="-127"/>
              <a:ea typeface="LG Smart_H Regular" panose="020B0600000101010101" pitchFamily="34" charset="-127"/>
            </a:endParaRPr>
          </a:p>
        </p:txBody>
      </p:sp>
      <p:graphicFrame>
        <p:nvGraphicFramePr>
          <p:cNvPr id="3" name="Table 2">
            <a:extLst>
              <a:ext uri="{FF2B5EF4-FFF2-40B4-BE49-F238E27FC236}">
                <a16:creationId xmlns:a16="http://schemas.microsoft.com/office/drawing/2014/main" id="{BF03B95D-B4D0-4970-B381-592923B524DE}"/>
              </a:ext>
            </a:extLst>
          </p:cNvPr>
          <p:cNvGraphicFramePr>
            <a:graphicFrameLocks noGrp="1"/>
          </p:cNvGraphicFramePr>
          <p:nvPr>
            <p:extLst>
              <p:ext uri="{D42A27DB-BD31-4B8C-83A1-F6EECF244321}">
                <p14:modId xmlns:p14="http://schemas.microsoft.com/office/powerpoint/2010/main" val="2992845359"/>
              </p:ext>
            </p:extLst>
          </p:nvPr>
        </p:nvGraphicFramePr>
        <p:xfrm>
          <a:off x="281227" y="976320"/>
          <a:ext cx="9243773" cy="1518595"/>
        </p:xfrm>
        <a:graphic>
          <a:graphicData uri="http://schemas.openxmlformats.org/drawingml/2006/table">
            <a:tbl>
              <a:tblPr/>
              <a:tblGrid>
                <a:gridCol w="467054">
                  <a:extLst>
                    <a:ext uri="{9D8B030D-6E8A-4147-A177-3AD203B41FA5}">
                      <a16:colId xmlns:a16="http://schemas.microsoft.com/office/drawing/2014/main" val="2109521739"/>
                    </a:ext>
                  </a:extLst>
                </a:gridCol>
                <a:gridCol w="2199045">
                  <a:extLst>
                    <a:ext uri="{9D8B030D-6E8A-4147-A177-3AD203B41FA5}">
                      <a16:colId xmlns:a16="http://schemas.microsoft.com/office/drawing/2014/main" val="3424737538"/>
                    </a:ext>
                  </a:extLst>
                </a:gridCol>
                <a:gridCol w="3425061">
                  <a:extLst>
                    <a:ext uri="{9D8B030D-6E8A-4147-A177-3AD203B41FA5}">
                      <a16:colId xmlns:a16="http://schemas.microsoft.com/office/drawing/2014/main" val="2242494846"/>
                    </a:ext>
                  </a:extLst>
                </a:gridCol>
                <a:gridCol w="476784">
                  <a:extLst>
                    <a:ext uri="{9D8B030D-6E8A-4147-A177-3AD203B41FA5}">
                      <a16:colId xmlns:a16="http://schemas.microsoft.com/office/drawing/2014/main" val="1351166837"/>
                    </a:ext>
                  </a:extLst>
                </a:gridCol>
                <a:gridCol w="788153">
                  <a:extLst>
                    <a:ext uri="{9D8B030D-6E8A-4147-A177-3AD203B41FA5}">
                      <a16:colId xmlns:a16="http://schemas.microsoft.com/office/drawing/2014/main" val="1537678072"/>
                    </a:ext>
                  </a:extLst>
                </a:gridCol>
                <a:gridCol w="467054">
                  <a:extLst>
                    <a:ext uri="{9D8B030D-6E8A-4147-A177-3AD203B41FA5}">
                      <a16:colId xmlns:a16="http://schemas.microsoft.com/office/drawing/2014/main" val="2323986976"/>
                    </a:ext>
                  </a:extLst>
                </a:gridCol>
                <a:gridCol w="1420622">
                  <a:extLst>
                    <a:ext uri="{9D8B030D-6E8A-4147-A177-3AD203B41FA5}">
                      <a16:colId xmlns:a16="http://schemas.microsoft.com/office/drawing/2014/main" val="1603859258"/>
                    </a:ext>
                  </a:extLst>
                </a:gridCol>
              </a:tblGrid>
              <a:tr h="422670">
                <a:tc>
                  <a:txBody>
                    <a:bodyPr/>
                    <a:lstStyle/>
                    <a:p>
                      <a:pPr algn="ctr" rtl="0" eaLnBrk="1" fontAlgn="ctr" latinLnBrk="0"/>
                      <a:r>
                        <a:rPr lang="en-US" sz="600" b="1" i="0" u="none" strike="noStrike">
                          <a:solidFill>
                            <a:srgbClr val="000000"/>
                          </a:solidFill>
                          <a:effectLst/>
                          <a:latin typeface="Arial" panose="020F0502020204030204" pitchFamily="34" charset="0"/>
                          <a:ea typeface="Arial"/>
                        </a:rPr>
                        <a:t>No</a:t>
                      </a:r>
                    </a:p>
                  </a:txBody>
                  <a:tcPr marL="6745" marR="6745" marT="674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CECE"/>
                    </a:solidFill>
                  </a:tcPr>
                </a:tc>
                <a:tc>
                  <a:txBody>
                    <a:bodyPr/>
                    <a:lstStyle/>
                    <a:p>
                      <a:pPr algn="ctr" rtl="0" eaLnBrk="1" fontAlgn="ctr" latinLnBrk="0"/>
                      <a:r>
                        <a:rPr lang="en-US" sz="600" b="1" i="0" u="none" strike="noStrike">
                          <a:solidFill>
                            <a:srgbClr val="000000"/>
                          </a:solidFill>
                          <a:effectLst/>
                          <a:latin typeface="Arial" panose="020F0502020204030204" pitchFamily="34" charset="0"/>
                          <a:ea typeface="Arial"/>
                        </a:rPr>
                        <a:t>Potential Factors</a:t>
                      </a:r>
                    </a:p>
                  </a:txBody>
                  <a:tcPr marL="6745" marR="6745" marT="674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CECE"/>
                    </a:solidFill>
                  </a:tcPr>
                </a:tc>
                <a:tc>
                  <a:txBody>
                    <a:bodyPr/>
                    <a:lstStyle/>
                    <a:p>
                      <a:pPr algn="ctr" rtl="0" eaLnBrk="1" fontAlgn="ctr" latinLnBrk="0"/>
                      <a:r>
                        <a:rPr lang="en-US" sz="600" b="1" i="0" u="none" strike="noStrike">
                          <a:solidFill>
                            <a:srgbClr val="000000"/>
                          </a:solidFill>
                          <a:effectLst/>
                          <a:latin typeface="Arial" panose="020F0502020204030204" pitchFamily="34" charset="0"/>
                          <a:ea typeface="Arial"/>
                        </a:rPr>
                        <a:t>List checking </a:t>
                      </a:r>
                    </a:p>
                  </a:txBody>
                  <a:tcPr marL="6745" marR="6745" marT="674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CECE"/>
                    </a:solidFill>
                  </a:tcPr>
                </a:tc>
                <a:tc>
                  <a:txBody>
                    <a:bodyPr/>
                    <a:lstStyle/>
                    <a:p>
                      <a:pPr algn="ctr" rtl="0" eaLnBrk="1" fontAlgn="ctr" latinLnBrk="0"/>
                      <a:r>
                        <a:rPr lang="en-US" sz="600" b="1" i="0" u="none" strike="noStrike">
                          <a:solidFill>
                            <a:srgbClr val="000000"/>
                          </a:solidFill>
                          <a:effectLst/>
                          <a:latin typeface="Arial" panose="020F0502020204030204" pitchFamily="34" charset="0"/>
                          <a:ea typeface="Arial"/>
                        </a:rPr>
                        <a:t>Station</a:t>
                      </a:r>
                    </a:p>
                  </a:txBody>
                  <a:tcPr marL="6745" marR="6745" marT="674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CECE"/>
                    </a:solidFill>
                  </a:tcPr>
                </a:tc>
                <a:tc>
                  <a:txBody>
                    <a:bodyPr/>
                    <a:lstStyle/>
                    <a:p>
                      <a:pPr algn="ctr" rtl="0" eaLnBrk="1" fontAlgn="ctr" latinLnBrk="0"/>
                      <a:r>
                        <a:rPr lang="en-US" sz="600" b="1" i="0" u="none" strike="noStrike">
                          <a:solidFill>
                            <a:srgbClr val="000000"/>
                          </a:solidFill>
                          <a:effectLst/>
                          <a:latin typeface="Arial" panose="020F0502020204030204" pitchFamily="34" charset="0"/>
                          <a:ea typeface="Arial"/>
                        </a:rPr>
                        <a:t>Tool to identify</a:t>
                      </a:r>
                    </a:p>
                  </a:txBody>
                  <a:tcPr marL="6745" marR="6745" marT="674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CECE"/>
                    </a:solidFill>
                  </a:tcPr>
                </a:tc>
                <a:tc>
                  <a:txBody>
                    <a:bodyPr/>
                    <a:lstStyle/>
                    <a:p>
                      <a:pPr algn="ctr" rtl="0" eaLnBrk="1" fontAlgn="ctr" latinLnBrk="0"/>
                      <a:r>
                        <a:rPr lang="en-US" sz="600" b="1" i="0" u="none" strike="noStrike">
                          <a:solidFill>
                            <a:srgbClr val="000000"/>
                          </a:solidFill>
                          <a:effectLst/>
                          <a:latin typeface="Arial" panose="020F0502020204030204" pitchFamily="34" charset="0"/>
                          <a:ea typeface="Arial"/>
                        </a:rPr>
                        <a:t>P value</a:t>
                      </a:r>
                    </a:p>
                  </a:txBody>
                  <a:tcPr marL="6745" marR="6745" marT="674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CECE"/>
                    </a:solidFill>
                  </a:tcPr>
                </a:tc>
                <a:tc>
                  <a:txBody>
                    <a:bodyPr/>
                    <a:lstStyle/>
                    <a:p>
                      <a:pPr algn="ctr" rtl="0" eaLnBrk="1" fontAlgn="ctr" latinLnBrk="0"/>
                      <a:r>
                        <a:rPr lang="en-US" sz="600" b="1" i="0" u="none" strike="noStrike">
                          <a:solidFill>
                            <a:srgbClr val="000000"/>
                          </a:solidFill>
                          <a:effectLst/>
                          <a:latin typeface="Arial" panose="020F0502020204030204" pitchFamily="34" charset="0"/>
                          <a:ea typeface="Arial"/>
                        </a:rPr>
                        <a:t>Conclusion</a:t>
                      </a:r>
                    </a:p>
                  </a:txBody>
                  <a:tcPr marL="6745" marR="6745" marT="674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CECE"/>
                    </a:solidFill>
                  </a:tcPr>
                </a:tc>
                <a:extLst>
                  <a:ext uri="{0D108BD9-81ED-4DB2-BD59-A6C34878D82A}">
                    <a16:rowId xmlns:a16="http://schemas.microsoft.com/office/drawing/2014/main" val="2650287274"/>
                  </a:ext>
                </a:extLst>
              </a:tr>
              <a:tr h="422670">
                <a:tc>
                  <a:txBody>
                    <a:bodyPr/>
                    <a:lstStyle/>
                    <a:p>
                      <a:pPr algn="ctr" eaLnBrk="1" fontAlgn="ctr" latinLnBrk="0"/>
                      <a:r>
                        <a:rPr lang="en-US" sz="800" b="0" i="0" u="none" strike="noStrike">
                          <a:solidFill>
                            <a:srgbClr val="000000"/>
                          </a:solidFill>
                          <a:effectLst/>
                          <a:latin typeface="Arial" panose="020F0502020204030204" pitchFamily="34" charset="0"/>
                          <a:ea typeface="Arial"/>
                        </a:rPr>
                        <a:t>1</a:t>
                      </a:r>
                    </a:p>
                  </a:txBody>
                  <a:tcPr marL="6745" marR="6745" marT="674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CANSIM send weak signal to LCD recognized</a:t>
                      </a:r>
                    </a:p>
                  </a:txBody>
                  <a:tcPr marL="6745" marR="6745" marT="674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Checking luminance value before /after change to new CANSIM</a:t>
                      </a:r>
                    </a:p>
                  </a:txBody>
                  <a:tcPr marL="6745" marR="6745" marT="674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Station 2</a:t>
                      </a:r>
                    </a:p>
                  </a:txBody>
                  <a:tcPr marL="6745" marR="6745" marT="674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2 sample T </a:t>
                      </a:r>
                    </a:p>
                  </a:txBody>
                  <a:tcPr marL="6745" marR="6745" marT="674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dirty="0">
                          <a:solidFill>
                            <a:srgbClr val="000000"/>
                          </a:solidFill>
                          <a:effectLst/>
                          <a:latin typeface="Arial" panose="020F0502020204030204" pitchFamily="34" charset="0"/>
                          <a:ea typeface="Arial"/>
                        </a:rPr>
                        <a:t>0.695</a:t>
                      </a:r>
                    </a:p>
                  </a:txBody>
                  <a:tcPr marL="6745" marR="6745" marT="674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 </a:t>
                      </a:r>
                      <a:r>
                        <a:rPr sz="800" b="0" dirty="0">
                          <a:latin typeface="Arial"/>
                        </a:rPr>
                        <a:t>Not root cause (P &gt; 0.05)</a:t>
                      </a:r>
                    </a:p>
                  </a:txBody>
                  <a:tcPr marL="6745" marR="6745" marT="674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570196543"/>
                  </a:ext>
                </a:extLst>
              </a:tr>
              <a:tr h="422670">
                <a:tc>
                  <a:txBody>
                    <a:bodyPr/>
                    <a:lstStyle/>
                    <a:p>
                      <a:pPr algn="ctr" eaLnBrk="1" fontAlgn="ctr" latinLnBrk="0"/>
                      <a:r>
                        <a:rPr lang="en-US" sz="800" b="0" i="0" u="none" strike="noStrike">
                          <a:solidFill>
                            <a:srgbClr val="000000"/>
                          </a:solidFill>
                          <a:effectLst/>
                          <a:latin typeface="Arial" panose="020F0502020204030204" pitchFamily="34" charset="0"/>
                          <a:ea typeface="Arial"/>
                        </a:rPr>
                        <a:t>2</a:t>
                      </a:r>
                    </a:p>
                  </a:txBody>
                  <a:tcPr marL="6745" marR="6745" marT="674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Measure incorrectly</a:t>
                      </a:r>
                    </a:p>
                  </a:txBody>
                  <a:tcPr marL="6745" marR="6745" marT="674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Checking luminance value before /after change to new camera</a:t>
                      </a:r>
                    </a:p>
                  </a:txBody>
                  <a:tcPr marL="6745" marR="6745" marT="674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Station 2</a:t>
                      </a:r>
                    </a:p>
                  </a:txBody>
                  <a:tcPr marL="6745" marR="6745" marT="674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2 sample T</a:t>
                      </a:r>
                    </a:p>
                  </a:txBody>
                  <a:tcPr marL="6745" marR="6745" marT="674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dirty="0">
                          <a:solidFill>
                            <a:srgbClr val="000000"/>
                          </a:solidFill>
                          <a:effectLst/>
                          <a:latin typeface="Arial" panose="020F0502020204030204" pitchFamily="34" charset="0"/>
                          <a:ea typeface="Arial"/>
                        </a:rPr>
                        <a:t>0.950</a:t>
                      </a:r>
                    </a:p>
                  </a:txBody>
                  <a:tcPr marL="6745" marR="6745" marT="674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 </a:t>
                      </a:r>
                      <a:r>
                        <a:rPr sz="800" b="0" dirty="0">
                          <a:latin typeface="Arial"/>
                        </a:rPr>
                        <a:t>Not root cause (P &gt; 0.05)</a:t>
                      </a:r>
                    </a:p>
                  </a:txBody>
                  <a:tcPr marL="6745" marR="6745" marT="674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565251994"/>
                  </a:ext>
                </a:extLst>
              </a:tr>
              <a:tr h="0">
                <a:tc>
                  <a:txBody>
                    <a:bodyPr/>
                    <a:lstStyle/>
                    <a:p>
                      <a:pPr algn="ctr" eaLnBrk="1" fontAlgn="ctr" latinLnBrk="0"/>
                      <a:r>
                        <a:rPr lang="en-US" sz="800" b="0" i="0" u="none" strike="noStrike">
                          <a:solidFill>
                            <a:srgbClr val="000000"/>
                          </a:solidFill>
                          <a:effectLst/>
                          <a:latin typeface="Arial" panose="020F0502020204030204" pitchFamily="34" charset="0"/>
                          <a:ea typeface="Arial"/>
                        </a:rPr>
                        <a:t>3</a:t>
                      </a:r>
                    </a:p>
                  </a:txBody>
                  <a:tcPr marL="6745" marR="6745" marT="674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Camera angle changed</a:t>
                      </a:r>
                    </a:p>
                  </a:txBody>
                  <a:tcPr marL="6745" marR="6745" marT="674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dirty="0">
                          <a:solidFill>
                            <a:srgbClr val="000000"/>
                          </a:solidFill>
                          <a:effectLst/>
                          <a:latin typeface="Arial" panose="020F0502020204030204" pitchFamily="34" charset="0"/>
                          <a:ea typeface="Arial"/>
                        </a:rPr>
                        <a:t>Checking luminance value before /after changing angle of detector</a:t>
                      </a:r>
                    </a:p>
                  </a:txBody>
                  <a:tcPr marL="6745" marR="6745" marT="674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dirty="0">
                          <a:solidFill>
                            <a:srgbClr val="000000"/>
                          </a:solidFill>
                          <a:effectLst/>
                          <a:latin typeface="Arial" panose="020F0502020204030204" pitchFamily="34" charset="0"/>
                          <a:ea typeface="Arial"/>
                        </a:rPr>
                        <a:t>Station 2</a:t>
                      </a:r>
                    </a:p>
                  </a:txBody>
                  <a:tcPr marL="6745" marR="6745" marT="674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2 sample T</a:t>
                      </a:r>
                    </a:p>
                  </a:txBody>
                  <a:tcPr marL="6745" marR="6745" marT="674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dirty="0">
                          <a:solidFill>
                            <a:srgbClr val="000000"/>
                          </a:solidFill>
                          <a:effectLst/>
                          <a:latin typeface="Arial" panose="020F0502020204030204" pitchFamily="34" charset="0"/>
                          <a:ea typeface="Arial"/>
                        </a:rPr>
                        <a:t>&lt; 0.001</a:t>
                      </a:r>
                    </a:p>
                  </a:txBody>
                  <a:tcPr marL="6745" marR="6745" marT="674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eaLnBrk="1" latinLnBrk="0"/>
                      <a:r>
                        <a:rPr sz="800" b="0" dirty="0">
                          <a:latin typeface="Arial"/>
                        </a:rPr>
                        <a:t>Root Cause (Significant effect, P &lt; 0.05)</a:t>
                      </a:r>
                    </a:p>
                  </a:txBody>
                  <a:tcPr marL="6745" marR="6745" marT="674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04136179"/>
                  </a:ext>
                </a:extLst>
              </a:tr>
            </a:tbl>
          </a:graphicData>
        </a:graphic>
      </p:graphicFrame>
      <p:cxnSp>
        <p:nvCxnSpPr>
          <p:cNvPr id="15" name="Straight Connector 14">
            <a:extLst>
              <a:ext uri="{FF2B5EF4-FFF2-40B4-BE49-F238E27FC236}">
                <a16:creationId xmlns:a16="http://schemas.microsoft.com/office/drawing/2014/main" id="{E3DE82FB-9C04-4132-BDB3-42EC338047A6}"/>
              </a:ext>
            </a:extLst>
          </p:cNvPr>
          <p:cNvCxnSpPr/>
          <p:nvPr/>
        </p:nvCxnSpPr>
        <p:spPr>
          <a:xfrm>
            <a:off x="0" y="508838"/>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9582651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2"/>
          <p:cNvSpPr>
            <a:spLocks noChangeArrowheads="1"/>
          </p:cNvSpPr>
          <p:nvPr/>
        </p:nvSpPr>
        <p:spPr bwMode="auto">
          <a:xfrm>
            <a:off x="112718" y="692150"/>
            <a:ext cx="9598025" cy="379413"/>
          </a:xfrm>
          <a:prstGeom prst="rect">
            <a:avLst/>
          </a:prstGeom>
          <a:solidFill>
            <a:srgbClr val="DDDDDD"/>
          </a:solidFill>
          <a:ln w="9525">
            <a:solidFill>
              <a:srgbClr val="000000"/>
            </a:solidFill>
            <a:miter lim="800000"/>
            <a:headEnd/>
            <a:tailEnd/>
          </a:ln>
        </p:spPr>
        <p:txBody>
          <a:bodyPr wrap="none" lIns="91311" tIns="45659" rIns="91311" bIns="45659" anchor="ctr"/>
          <a:lstStyle/>
          <a:p>
            <a:pPr eaLnBrk="1" fontAlgn="auto" latinLnBrk="0">
              <a:spcBef>
                <a:spcPts val="0"/>
              </a:spcBef>
              <a:spcAft>
                <a:spcPts val="0"/>
              </a:spcAft>
              <a:defRPr/>
            </a:pPr>
            <a:endParaRPr kumimoji="0" lang="zh-CN" altLang="zh-CN" b="1" kern="0" dirty="0">
              <a:solidFill>
                <a:prstClr val="black"/>
              </a:solidFill>
              <a:latin typeface="LG Smart_H Regular" panose="020B0600000101010101" pitchFamily="34" charset="-127"/>
              <a:ea typeface="LG Smart_H Regular" panose="020B0600000101010101" pitchFamily="34" charset="-127"/>
              <a:cs typeface="Arial" pitchFamily="34" charset="0"/>
            </a:endParaRPr>
          </a:p>
        </p:txBody>
      </p:sp>
      <p:sp>
        <p:nvSpPr>
          <p:cNvPr id="11" name="Rectangle 21"/>
          <p:cNvSpPr>
            <a:spLocks noChangeArrowheads="1"/>
          </p:cNvSpPr>
          <p:nvPr/>
        </p:nvSpPr>
        <p:spPr bwMode="auto">
          <a:xfrm>
            <a:off x="112719" y="686988"/>
            <a:ext cx="9602749" cy="6094792"/>
          </a:xfrm>
          <a:prstGeom prst="rect">
            <a:avLst/>
          </a:prstGeom>
          <a:noFill/>
          <a:ln w="9525">
            <a:solidFill>
              <a:srgbClr val="5F5F5F"/>
            </a:solidFill>
            <a:miter lim="800000"/>
            <a:headEnd/>
            <a:tailEnd/>
          </a:ln>
        </p:spPr>
        <p:txBody>
          <a:bodyPr wrap="none" lIns="91311" tIns="45659" rIns="91311" bIns="45659" anchor="ctr"/>
          <a:lstStyle/>
          <a:p>
            <a:pPr eaLnBrk="1" fontAlgn="auto" latinLnBrk="0">
              <a:spcBef>
                <a:spcPts val="0"/>
              </a:spcBef>
              <a:spcAft>
                <a:spcPts val="0"/>
              </a:spcAft>
            </a:pPr>
            <a:endParaRPr kumimoji="0" lang="zh-CN" altLang="zh-CN" sz="1700" dirty="0">
              <a:solidFill>
                <a:prstClr val="black"/>
              </a:solidFill>
              <a:latin typeface="LG Smart_H Regular" panose="020B0600000101010101" pitchFamily="34" charset="-127"/>
              <a:ea typeface="LG Smart_H Regular" panose="020B0600000101010101" pitchFamily="34" charset="-127"/>
              <a:cs typeface="Arial" pitchFamily="34" charset="0"/>
            </a:endParaRPr>
          </a:p>
        </p:txBody>
      </p:sp>
      <p:sp>
        <p:nvSpPr>
          <p:cNvPr id="12" name="TextBox 466"/>
          <p:cNvSpPr txBox="1">
            <a:spLocks noChangeArrowheads="1"/>
          </p:cNvSpPr>
          <p:nvPr/>
        </p:nvSpPr>
        <p:spPr bwMode="auto">
          <a:xfrm>
            <a:off x="3232600" y="5721501"/>
            <a:ext cx="3448592" cy="861762"/>
          </a:xfrm>
          <a:prstGeom prst="rect">
            <a:avLst/>
          </a:prstGeom>
          <a:noFill/>
          <a:ln w="9525">
            <a:noFill/>
            <a:miter lim="800000"/>
            <a:headEnd/>
            <a:tailEnd/>
          </a:ln>
        </p:spPr>
        <p:txBody>
          <a:bodyPr wrap="square" lIns="91429" tIns="45714" rIns="91429" bIns="45714" anchor="ctr">
            <a:spAutoFit/>
          </a:bodyPr>
          <a:lstStyle/>
          <a:p>
            <a:pPr eaLnBrk="1" fontAlgn="auto" latinLnBrk="0">
              <a:lnSpc>
                <a:spcPts val="1500"/>
              </a:lnSpc>
              <a:spcBef>
                <a:spcPts val="0"/>
              </a:spcBef>
              <a:spcAft>
                <a:spcPts val="0"/>
              </a:spcAft>
              <a:buFont typeface="Wingdings" pitchFamily="2" charset="2"/>
              <a:buChar char="p"/>
            </a:pPr>
            <a:r>
              <a:rPr kumimoji="0" lang="en-US" altLang="zh-CN" sz="1000" dirty="0">
                <a:solidFill>
                  <a:prstClr val="black"/>
                </a:solidFill>
                <a:latin typeface="Arial" panose="020B0600000101010101" pitchFamily="34" charset="-127"/>
                <a:ea typeface="Arial" panose="020B0600000101010101" pitchFamily="34" charset="-127"/>
                <a:cs typeface="Arial" pitchFamily="34" charset="0"/>
              </a:rPr>
              <a:t> Easy Working: ✔ (automatic test, no operator action)</a:t>
            </a:r>
            <a:endParaRPr kumimoji="0" lang="en-US" altLang="zh-CN" sz="1000" u="sng" dirty="0">
              <a:solidFill>
                <a:prstClr val="black"/>
              </a:solidFill>
              <a:latin typeface="LG Smart_H Regular" panose="020B0600000101010101" pitchFamily="34" charset="-127"/>
              <a:ea typeface="LG Smart_H Regular" panose="020B0600000101010101" pitchFamily="34" charset="-127"/>
              <a:cs typeface="Arial" pitchFamily="34" charset="0"/>
            </a:endParaRPr>
          </a:p>
          <a:p>
            <a:pPr eaLnBrk="1" fontAlgn="auto" latinLnBrk="0">
              <a:lnSpc>
                <a:spcPts val="1500"/>
              </a:lnSpc>
              <a:spcBef>
                <a:spcPts val="0"/>
              </a:spcBef>
              <a:spcAft>
                <a:spcPts val="0"/>
              </a:spcAft>
              <a:buFont typeface="Wingdings" pitchFamily="2" charset="2"/>
              <a:buChar char="p"/>
            </a:pPr>
            <a:r>
              <a:rPr kumimoji="0" lang="en-US" altLang="zh-CN" sz="1000" dirty="0">
                <a:solidFill>
                  <a:prstClr val="black"/>
                </a:solidFill>
                <a:latin typeface="Arial" panose="020B0600000101010101" pitchFamily="34" charset="-127"/>
                <a:ea typeface="Arial" panose="020B0600000101010101" pitchFamily="34" charset="-127"/>
                <a:cs typeface="Arial" pitchFamily="34" charset="0"/>
              </a:rPr>
              <a:t> Difficulty Working: –</a:t>
            </a:r>
          </a:p>
          <a:p>
            <a:pPr eaLnBrk="1" fontAlgn="auto" latinLnBrk="0">
              <a:lnSpc>
                <a:spcPts val="1500"/>
              </a:lnSpc>
              <a:spcBef>
                <a:spcPts val="0"/>
              </a:spcBef>
              <a:spcAft>
                <a:spcPts val="0"/>
              </a:spcAft>
              <a:buFont typeface="Wingdings" pitchFamily="2" charset="2"/>
              <a:buChar char="p"/>
            </a:pPr>
            <a:r>
              <a:rPr kumimoji="0" lang="en-US" altLang="zh-CN" sz="1000" dirty="0">
                <a:solidFill>
                  <a:prstClr val="black"/>
                </a:solidFill>
                <a:latin typeface="Arial" panose="020B0600000101010101" pitchFamily="34" charset="-127"/>
                <a:ea typeface="Arial" panose="020B0600000101010101" pitchFamily="34" charset="-127"/>
                <a:cs typeface="Arial" pitchFamily="34" charset="0"/>
              </a:rPr>
              <a:t> Impossible Working: –</a:t>
            </a:r>
            <a:endParaRPr kumimoji="0" lang="en-US" altLang="zh-CN" sz="1000" u="sng" dirty="0">
              <a:solidFill>
                <a:prstClr val="black"/>
              </a:solidFill>
              <a:latin typeface="LG Smart_H Regular" panose="020B0600000101010101" pitchFamily="34" charset="-127"/>
              <a:ea typeface="LG Smart_H Regular" panose="020B0600000101010101" pitchFamily="34" charset="-127"/>
              <a:cs typeface="Arial" pitchFamily="34" charset="0"/>
            </a:endParaRPr>
          </a:p>
          <a:p>
            <a:pPr eaLnBrk="1" fontAlgn="auto" latinLnBrk="0">
              <a:lnSpc>
                <a:spcPts val="1500"/>
              </a:lnSpc>
              <a:spcBef>
                <a:spcPts val="0"/>
              </a:spcBef>
              <a:spcAft>
                <a:spcPts val="0"/>
              </a:spcAft>
              <a:buFont typeface="Wingdings" pitchFamily="2" charset="2"/>
              <a:buChar char="p"/>
            </a:pPr>
            <a:r>
              <a:rPr kumimoji="0" lang="en-US" altLang="zh-CN" sz="1000" dirty="0">
                <a:solidFill>
                  <a:prstClr val="black"/>
                </a:solidFill>
                <a:latin typeface="Arial" panose="020B0600000101010101" pitchFamily="34" charset="-127"/>
                <a:ea typeface="Arial" panose="020B0600000101010101" pitchFamily="34" charset="-127"/>
                <a:cs typeface="Arial" pitchFamily="34" charset="0"/>
              </a:rPr>
              <a:t> Working Feeling</a:t>
            </a:r>
            <a:r>
              <a:rPr lang="en-US" altLang="zh-CN" sz="1000" dirty="0">
                <a:solidFill>
                  <a:prstClr val="black"/>
                </a:solidFill>
                <a:latin typeface="Arial" panose="020B0600000101010101" pitchFamily="34" charset="-127"/>
                <a:ea typeface="Arial" panose="020B0600000101010101" pitchFamily="34" charset="-127"/>
                <a:cs typeface="Arial" pitchFamily="34" charset="0"/>
              </a:rPr>
              <a:t>: Can detect by program</a:t>
            </a:r>
            <a:endParaRPr kumimoji="0" lang="zh-CN" altLang="en-US" sz="1000" dirty="0">
              <a:solidFill>
                <a:prstClr val="black"/>
              </a:solidFill>
              <a:latin typeface="LG Smart_H Regular" panose="020B0600000101010101" pitchFamily="34" charset="-127"/>
              <a:ea typeface="LG Smart_H Regular" panose="020B0600000101010101" pitchFamily="34" charset="-127"/>
              <a:cs typeface="Arial" pitchFamily="34" charset="0"/>
            </a:endParaRPr>
          </a:p>
        </p:txBody>
      </p:sp>
      <p:sp>
        <p:nvSpPr>
          <p:cNvPr id="13" name="TextBox 468"/>
          <p:cNvSpPr txBox="1">
            <a:spLocks noChangeArrowheads="1"/>
          </p:cNvSpPr>
          <p:nvPr/>
        </p:nvSpPr>
        <p:spPr bwMode="auto">
          <a:xfrm>
            <a:off x="6743704" y="5721501"/>
            <a:ext cx="2942776" cy="827999"/>
          </a:xfrm>
          <a:prstGeom prst="rect">
            <a:avLst/>
          </a:prstGeom>
          <a:noFill/>
          <a:ln w="9525">
            <a:noFill/>
            <a:miter lim="800000"/>
            <a:headEnd/>
            <a:tailEnd/>
          </a:ln>
        </p:spPr>
        <p:txBody>
          <a:bodyPr wrap="square" lIns="91429" tIns="45714" rIns="91429" bIns="45714">
            <a:noAutofit/>
          </a:bodyPr>
          <a:lstStyle/>
          <a:p>
            <a:pPr eaLnBrk="1" fontAlgn="auto" latinLnBrk="0">
              <a:lnSpc>
                <a:spcPts val="1600"/>
              </a:lnSpc>
              <a:spcBef>
                <a:spcPts val="0"/>
              </a:spcBef>
              <a:spcAft>
                <a:spcPts val="0"/>
              </a:spcAft>
              <a:buFont typeface="Wingdings" pitchFamily="2" charset="2"/>
              <a:buChar char="p"/>
            </a:pPr>
            <a:r>
              <a:rPr kumimoji="0" lang="zh-CN" altLang="en-US" sz="1000" dirty="0">
                <a:solidFill>
                  <a:prstClr val="black"/>
                </a:solidFill>
                <a:latin typeface="Arial" panose="020B0600000101010101" pitchFamily="34" charset="-127"/>
                <a:ea typeface="Arial" panose="020B0600000101010101" pitchFamily="34" charset="-127"/>
                <a:cs typeface="Arial" pitchFamily="34" charset="0"/>
              </a:rPr>
              <a:t> </a:t>
            </a:r>
            <a:r>
              <a:rPr kumimoji="0" lang="en-US" altLang="zh-CN" sz="1000" dirty="0">
                <a:solidFill>
                  <a:prstClr val="black"/>
                </a:solidFill>
                <a:latin typeface="Arial" panose="020B0600000101010101" pitchFamily="34" charset="-127"/>
                <a:ea typeface="Arial" panose="020B0600000101010101" pitchFamily="34" charset="-127"/>
                <a:cs typeface="Arial" pitchFamily="34" charset="0"/>
              </a:rPr>
              <a:t>With who</a:t>
            </a:r>
            <a:r>
              <a:rPr lang="en-US" altLang="zh-CN" sz="1000" dirty="0">
                <a:solidFill>
                  <a:prstClr val="black"/>
                </a:solidFill>
                <a:latin typeface="Arial" panose="020B0600000101010101" pitchFamily="34" charset="-127"/>
                <a:ea typeface="Arial" panose="020B0600000101010101" pitchFamily="34" charset="-127"/>
                <a:cs typeface="Arial" pitchFamily="34" charset="0"/>
              </a:rPr>
              <a:t>:</a:t>
            </a:r>
            <a:r>
              <a:rPr kumimoji="0" lang="zh-CN" altLang="en-US" sz="1000" dirty="0">
                <a:solidFill>
                  <a:prstClr val="black"/>
                </a:solidFill>
                <a:latin typeface="Arial" panose="020B0600000101010101" pitchFamily="34" charset="-127"/>
                <a:ea typeface="Arial" panose="020B0600000101010101" pitchFamily="34" charset="-127"/>
                <a:cs typeface="Arial" pitchFamily="34" charset="0"/>
              </a:rPr>
              <a:t> </a:t>
            </a:r>
            <a:r>
              <a:rPr kumimoji="0" lang="vi-VN" altLang="zh-CN" sz="1000" dirty="0">
                <a:solidFill>
                  <a:prstClr val="black"/>
                </a:solidFill>
                <a:latin typeface="Arial" panose="020B0600000101010101" pitchFamily="34" charset="-127"/>
                <a:ea typeface="Arial" panose="020B0600000101010101" pitchFamily="34" charset="-127"/>
                <a:cs typeface="Arial" pitchFamily="34" charset="0"/>
              </a:rPr>
              <a:t>M</a:t>
            </a:r>
            <a:r>
              <a:rPr kumimoji="0" lang="en-US" altLang="zh-CN" sz="1000" dirty="0">
                <a:solidFill>
                  <a:prstClr val="black"/>
                </a:solidFill>
                <a:latin typeface="Arial" panose="020B0600000101010101" pitchFamily="34" charset="-127"/>
                <a:ea typeface="Arial" panose="020B0600000101010101" pitchFamily="34" charset="-127"/>
                <a:cs typeface="Arial" pitchFamily="34" charset="0"/>
              </a:rPr>
              <a:t>r. </a:t>
            </a:r>
            <a:r>
              <a:rPr kumimoji="0" lang="en-US" altLang="zh-CN" sz="1000" dirty="0" err="1">
                <a:solidFill>
                  <a:prstClr val="black"/>
                </a:solidFill>
                <a:latin typeface="Arial" panose="020B0600000101010101" pitchFamily="34" charset="-127"/>
                <a:ea typeface="Arial" panose="020B0600000101010101" pitchFamily="34" charset="-127"/>
                <a:cs typeface="Arial" pitchFamily="34" charset="0"/>
              </a:rPr>
              <a:t>Chien</a:t>
            </a:r>
            <a:r>
              <a:rPr kumimoji="0" lang="en-US" altLang="zh-CN" sz="1000" dirty="0">
                <a:solidFill>
                  <a:prstClr val="black"/>
                </a:solidFill>
                <a:latin typeface="Arial" panose="020B0600000101010101" pitchFamily="34" charset="-127"/>
                <a:ea typeface="Arial" panose="020B0600000101010101" pitchFamily="34" charset="-127"/>
                <a:cs typeface="Arial" pitchFamily="34" charset="0"/>
              </a:rPr>
              <a:t> LQC</a:t>
            </a:r>
          </a:p>
          <a:p>
            <a:pPr eaLnBrk="1" fontAlgn="auto" latinLnBrk="0">
              <a:lnSpc>
                <a:spcPts val="1600"/>
              </a:lnSpc>
              <a:spcBef>
                <a:spcPts val="0"/>
              </a:spcBef>
              <a:spcAft>
                <a:spcPts val="0"/>
              </a:spcAft>
              <a:buFont typeface="Wingdings" pitchFamily="2" charset="2"/>
              <a:buChar char="p"/>
            </a:pPr>
            <a:r>
              <a:rPr kumimoji="0" lang="en-US" altLang="zh-CN" sz="1000" dirty="0">
                <a:solidFill>
                  <a:prstClr val="black"/>
                </a:solidFill>
                <a:latin typeface="Arial" panose="020B0600000101010101" pitchFamily="34" charset="-127"/>
                <a:ea typeface="Arial" panose="020B0600000101010101" pitchFamily="34" charset="-127"/>
                <a:cs typeface="Arial" pitchFamily="34" charset="0"/>
              </a:rPr>
              <a:t>Field request</a:t>
            </a:r>
            <a:r>
              <a:rPr lang="en-US" altLang="zh-CN" sz="1000" dirty="0">
                <a:solidFill>
                  <a:prstClr val="black"/>
                </a:solidFill>
                <a:latin typeface="Arial" panose="020B0600000101010101" pitchFamily="34" charset="-127"/>
                <a:ea typeface="Arial" panose="020B0600000101010101" pitchFamily="34" charset="-127"/>
                <a:cs typeface="Arial" pitchFamily="34" charset="0"/>
              </a:rPr>
              <a:t>: when issues happen, the repair member uses repair station to check if NTF, PE member check the camera status.</a:t>
            </a:r>
          </a:p>
        </p:txBody>
      </p:sp>
      <p:sp>
        <p:nvSpPr>
          <p:cNvPr id="15" name="Line 10"/>
          <p:cNvSpPr>
            <a:spLocks noChangeShapeType="1"/>
          </p:cNvSpPr>
          <p:nvPr/>
        </p:nvSpPr>
        <p:spPr bwMode="auto">
          <a:xfrm>
            <a:off x="124866" y="5414954"/>
            <a:ext cx="9593151" cy="11420"/>
          </a:xfrm>
          <a:prstGeom prst="line">
            <a:avLst/>
          </a:prstGeom>
          <a:noFill/>
          <a:ln w="9525">
            <a:solidFill>
              <a:srgbClr val="5F5F5F"/>
            </a:solidFill>
            <a:round/>
            <a:headEnd/>
            <a:tailEnd/>
          </a:ln>
        </p:spPr>
        <p:txBody>
          <a:bodyPr lIns="91345" tIns="45677" rIns="91345" bIns="45677"/>
          <a:lstStyle/>
          <a:p>
            <a:pPr eaLnBrk="1" fontAlgn="auto" latinLnBrk="0">
              <a:spcBef>
                <a:spcPts val="0"/>
              </a:spcBef>
              <a:spcAft>
                <a:spcPts val="0"/>
              </a:spcAft>
            </a:pPr>
            <a:endParaRPr kumimoji="0" lang="ko-KR" altLang="en-US" sz="900" dirty="0">
              <a:solidFill>
                <a:prstClr val="black"/>
              </a:solidFill>
              <a:latin typeface="LG Smart_H Regular" panose="020B0600000101010101" pitchFamily="34" charset="-127"/>
              <a:ea typeface="LG Smart_H Regular" panose="020B0600000101010101" pitchFamily="34" charset="-127"/>
              <a:cs typeface="Arial" pitchFamily="34" charset="0"/>
            </a:endParaRPr>
          </a:p>
        </p:txBody>
      </p:sp>
      <p:sp>
        <p:nvSpPr>
          <p:cNvPr id="16" name="Line 10"/>
          <p:cNvSpPr>
            <a:spLocks noChangeShapeType="1"/>
          </p:cNvSpPr>
          <p:nvPr/>
        </p:nvSpPr>
        <p:spPr bwMode="auto">
          <a:xfrm>
            <a:off x="120763" y="5680830"/>
            <a:ext cx="9593151" cy="0"/>
          </a:xfrm>
          <a:prstGeom prst="line">
            <a:avLst/>
          </a:prstGeom>
          <a:noFill/>
          <a:ln w="9525">
            <a:solidFill>
              <a:srgbClr val="5F5F5F"/>
            </a:solidFill>
            <a:round/>
            <a:headEnd/>
            <a:tailEnd/>
          </a:ln>
        </p:spPr>
        <p:txBody>
          <a:bodyPr lIns="91345" tIns="45677" rIns="91345" bIns="45677"/>
          <a:lstStyle/>
          <a:p>
            <a:pPr eaLnBrk="1" fontAlgn="auto" latinLnBrk="0">
              <a:spcBef>
                <a:spcPts val="0"/>
              </a:spcBef>
              <a:spcAft>
                <a:spcPts val="0"/>
              </a:spcAft>
            </a:pPr>
            <a:endParaRPr kumimoji="0" lang="ko-KR" altLang="en-US" sz="1000" dirty="0">
              <a:solidFill>
                <a:prstClr val="black"/>
              </a:solidFill>
              <a:latin typeface="LG Smart_H Regular" panose="020B0600000101010101" pitchFamily="34" charset="-127"/>
              <a:ea typeface="LG Smart_H Regular" panose="020B0600000101010101" pitchFamily="34" charset="-127"/>
              <a:cs typeface="Arial" pitchFamily="34" charset="0"/>
            </a:endParaRPr>
          </a:p>
        </p:txBody>
      </p:sp>
      <p:grpSp>
        <p:nvGrpSpPr>
          <p:cNvPr id="2" name="그룹 296"/>
          <p:cNvGrpSpPr/>
          <p:nvPr/>
        </p:nvGrpSpPr>
        <p:grpSpPr>
          <a:xfrm>
            <a:off x="3216233" y="5429265"/>
            <a:ext cx="3524294" cy="1216014"/>
            <a:chOff x="3055327" y="5143503"/>
            <a:chExt cx="3166698" cy="1501775"/>
          </a:xfrm>
        </p:grpSpPr>
        <p:cxnSp>
          <p:nvCxnSpPr>
            <p:cNvPr id="18" name="直接连接符 92"/>
            <p:cNvCxnSpPr/>
            <p:nvPr/>
          </p:nvCxnSpPr>
          <p:spPr>
            <a:xfrm rot="5400000">
              <a:off x="5471199" y="5894452"/>
              <a:ext cx="1500187" cy="1465"/>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9" name="直接连接符 122"/>
            <p:cNvCxnSpPr/>
            <p:nvPr/>
          </p:nvCxnSpPr>
          <p:spPr>
            <a:xfrm rot="5400000">
              <a:off x="2305966" y="5892864"/>
              <a:ext cx="1500188" cy="1465"/>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grpSp>
      <p:sp>
        <p:nvSpPr>
          <p:cNvPr id="21" name="TextBox 462"/>
          <p:cNvSpPr txBox="1">
            <a:spLocks noChangeArrowheads="1"/>
          </p:cNvSpPr>
          <p:nvPr/>
        </p:nvSpPr>
        <p:spPr bwMode="auto">
          <a:xfrm>
            <a:off x="111126" y="5706181"/>
            <a:ext cx="3113682" cy="1118243"/>
          </a:xfrm>
          <a:prstGeom prst="rect">
            <a:avLst/>
          </a:prstGeom>
          <a:noFill/>
          <a:ln w="9525">
            <a:noFill/>
            <a:miter lim="800000"/>
            <a:headEnd/>
            <a:tailEnd/>
          </a:ln>
        </p:spPr>
        <p:txBody>
          <a:bodyPr wrap="square" lIns="91429" tIns="45714" rIns="91429" bIns="45714" anchor="ctr">
            <a:spAutoFit/>
          </a:bodyPr>
          <a:lstStyle/>
          <a:p>
            <a:pPr eaLnBrk="1" fontAlgn="auto" latinLnBrk="0">
              <a:lnSpc>
                <a:spcPts val="1600"/>
              </a:lnSpc>
              <a:spcBef>
                <a:spcPts val="0"/>
              </a:spcBef>
              <a:spcAft>
                <a:spcPts val="0"/>
              </a:spcAft>
              <a:buFont typeface="Wingdings" pitchFamily="2" charset="2"/>
              <a:buChar char="p"/>
            </a:pPr>
            <a:r>
              <a:rPr sz="1000" dirty="0">
                <a:latin typeface="Arial"/>
              </a:rPr>
              <a:t> Date: Feb-2026</a:t>
            </a:r>
            <a:endParaRPr kumimoji="0" lang="en-US" altLang="zh-CN" sz="1000" dirty="0">
              <a:solidFill>
                <a:prstClr val="black"/>
              </a:solidFill>
              <a:latin typeface="LG Smart_H Regular" panose="020B0600000101010101" pitchFamily="34" charset="-127"/>
              <a:ea typeface="LG Smart_H Regular" panose="020B0600000101010101" pitchFamily="34" charset="-127"/>
              <a:cs typeface="Arial" pitchFamily="34" charset="0"/>
            </a:endParaRPr>
          </a:p>
          <a:p>
            <a:pPr eaLnBrk="1" fontAlgn="auto" latinLnBrk="0">
              <a:lnSpc>
                <a:spcPts val="1600"/>
              </a:lnSpc>
              <a:spcBef>
                <a:spcPts val="0"/>
              </a:spcBef>
              <a:spcAft>
                <a:spcPts val="0"/>
              </a:spcAft>
              <a:buFont typeface="Wingdings" pitchFamily="2" charset="2"/>
              <a:buChar char="p"/>
            </a:pPr>
            <a:r>
              <a:rPr kumimoji="0" lang="en-US" altLang="zh-CN" sz="1000" dirty="0">
                <a:solidFill>
                  <a:prstClr val="black"/>
                </a:solidFill>
                <a:latin typeface="Arial" panose="020B0600000101010101" pitchFamily="34" charset="-127"/>
                <a:ea typeface="Arial" panose="020B0600000101010101" pitchFamily="34" charset="-127"/>
                <a:cs typeface="Arial" pitchFamily="34" charset="0"/>
              </a:rPr>
              <a:t> Line: IVI 5</a:t>
            </a:r>
          </a:p>
          <a:p>
            <a:pPr eaLnBrk="1" fontAlgn="auto" latinLnBrk="0">
              <a:lnSpc>
                <a:spcPts val="1600"/>
              </a:lnSpc>
              <a:spcBef>
                <a:spcPts val="0"/>
              </a:spcBef>
              <a:spcAft>
                <a:spcPts val="0"/>
              </a:spcAft>
              <a:buFont typeface="Wingdings" pitchFamily="2" charset="2"/>
              <a:buChar char="p"/>
            </a:pPr>
            <a:r>
              <a:rPr kumimoji="0" lang="en-US" altLang="zh-CN" sz="1000" dirty="0">
                <a:solidFill>
                  <a:prstClr val="black"/>
                </a:solidFill>
                <a:latin typeface="Arial" panose="020B0600000101010101" pitchFamily="34" charset="-127"/>
                <a:ea typeface="Arial" panose="020B0600000101010101" pitchFamily="34" charset="-127"/>
                <a:cs typeface="Arial" pitchFamily="34" charset="0"/>
              </a:rPr>
              <a:t> Area: FA production line</a:t>
            </a:r>
            <a:endParaRPr kumimoji="0" lang="en-US" altLang="zh-CN" sz="1000" u="sng" dirty="0">
              <a:solidFill>
                <a:prstClr val="black"/>
              </a:solidFill>
              <a:latin typeface="LG Smart_H Regular" panose="020B0600000101010101" pitchFamily="34" charset="-127"/>
              <a:ea typeface="LG Smart_H Regular" panose="020B0600000101010101" pitchFamily="34" charset="-127"/>
              <a:cs typeface="Arial" pitchFamily="34" charset="0"/>
            </a:endParaRPr>
          </a:p>
          <a:p>
            <a:pPr eaLnBrk="1" fontAlgn="auto" latinLnBrk="0">
              <a:lnSpc>
                <a:spcPts val="1600"/>
              </a:lnSpc>
              <a:spcBef>
                <a:spcPts val="0"/>
              </a:spcBef>
              <a:spcAft>
                <a:spcPts val="0"/>
              </a:spcAft>
              <a:buFont typeface="Wingdings" pitchFamily="2" charset="2"/>
              <a:buChar char="p"/>
            </a:pPr>
            <a:r>
              <a:rPr sz="1000" b="0" dirty="0">
                <a:latin typeface="Arial"/>
              </a:rPr>
              <a:t> Detail Checking: Visual check the cable of LCD with PCBA to check set OK or not</a:t>
            </a:r>
            <a:endParaRPr kumimoji="0" lang="zh-CN" altLang="en-US" sz="1000" u="sng" dirty="0">
              <a:solidFill>
                <a:prstClr val="black"/>
              </a:solidFill>
              <a:latin typeface="LG Smart_H Regular" panose="020B0600000101010101" pitchFamily="34" charset="-127"/>
              <a:ea typeface="LG Smart_H Regular" panose="020B0600000101010101" pitchFamily="34" charset="-127"/>
              <a:cs typeface="Arial" pitchFamily="34" charset="0"/>
            </a:endParaRPr>
          </a:p>
        </p:txBody>
      </p:sp>
      <p:cxnSp>
        <p:nvCxnSpPr>
          <p:cNvPr id="28" name="직선 연결선 27"/>
          <p:cNvCxnSpPr/>
          <p:nvPr/>
        </p:nvCxnSpPr>
        <p:spPr>
          <a:xfrm rot="5400000">
            <a:off x="2878015" y="3059093"/>
            <a:ext cx="4722431" cy="86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직선 연결선 28"/>
          <p:cNvCxnSpPr/>
          <p:nvPr/>
        </p:nvCxnSpPr>
        <p:spPr>
          <a:xfrm rot="5400000">
            <a:off x="4759190" y="3055344"/>
            <a:ext cx="4722431" cy="86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3" name="Text Box 12"/>
          <p:cNvSpPr txBox="1">
            <a:spLocks noChangeArrowheads="1"/>
          </p:cNvSpPr>
          <p:nvPr/>
        </p:nvSpPr>
        <p:spPr bwMode="auto">
          <a:xfrm>
            <a:off x="124634" y="694919"/>
            <a:ext cx="2445468" cy="373432"/>
          </a:xfrm>
          <a:prstGeom prst="rect">
            <a:avLst/>
          </a:prstGeom>
          <a:noFill/>
          <a:ln w="9525">
            <a:noFill/>
            <a:miter lim="800000"/>
            <a:headEnd/>
            <a:tailEnd/>
          </a:ln>
        </p:spPr>
        <p:txBody>
          <a:bodyPr wrap="square" lIns="95494" tIns="47750" rIns="95494" bIns="47750">
            <a:spAutoFit/>
          </a:bodyPr>
          <a:lstStyle/>
          <a:p>
            <a:pPr algn="ctr" defTabSz="957147" eaLnBrk="1" fontAlgn="auto" latinLnBrk="0">
              <a:spcBef>
                <a:spcPts val="0"/>
              </a:spcBef>
              <a:spcAft>
                <a:spcPts val="0"/>
              </a:spcAft>
            </a:pPr>
            <a:r>
              <a:rPr kumimoji="0" lang="en-US" altLang="ko-KR" sz="1000" b="1" dirty="0">
                <a:solidFill>
                  <a:prstClr val="black"/>
                </a:solidFill>
                <a:latin typeface="Arial" panose="020B0600000101010101" pitchFamily="34" charset="-127"/>
                <a:ea typeface="Arial" panose="020B0600000101010101" pitchFamily="34" charset="-127"/>
                <a:cs typeface="Arial" pitchFamily="34" charset="0"/>
              </a:rPr>
              <a:t>Problem</a:t>
            </a:r>
          </a:p>
        </p:txBody>
      </p:sp>
      <p:sp>
        <p:nvSpPr>
          <p:cNvPr id="34" name="TextBox 423"/>
          <p:cNvSpPr txBox="1">
            <a:spLocks noChangeArrowheads="1"/>
          </p:cNvSpPr>
          <p:nvPr/>
        </p:nvSpPr>
        <p:spPr bwMode="auto">
          <a:xfrm>
            <a:off x="1050274" y="5441972"/>
            <a:ext cx="1652587" cy="246209"/>
          </a:xfrm>
          <a:prstGeom prst="rect">
            <a:avLst/>
          </a:prstGeom>
          <a:noFill/>
          <a:ln w="9525">
            <a:noFill/>
            <a:miter lim="800000"/>
            <a:headEnd/>
            <a:tailEnd/>
          </a:ln>
        </p:spPr>
        <p:txBody>
          <a:bodyPr lIns="91429" tIns="45714" rIns="91429" bIns="45714">
            <a:spAutoFit/>
          </a:bodyPr>
          <a:lstStyle/>
          <a:p>
            <a:pPr eaLnBrk="1" fontAlgn="auto" latinLnBrk="0">
              <a:spcBef>
                <a:spcPts val="0"/>
              </a:spcBef>
              <a:spcAft>
                <a:spcPts val="0"/>
              </a:spcAft>
              <a:buFont typeface="Wingdings" pitchFamily="2" charset="2"/>
              <a:buChar char="Ø"/>
            </a:pPr>
            <a:r>
              <a:rPr kumimoji="0" lang="en-US" altLang="zh-CN" sz="1000" b="1" dirty="0">
                <a:solidFill>
                  <a:prstClr val="black"/>
                </a:solidFill>
                <a:latin typeface="Arial" panose="020B0600000101010101" pitchFamily="34" charset="-127"/>
                <a:ea typeface="Arial" panose="020B0600000101010101" pitchFamily="34" charset="-127"/>
                <a:cs typeface="Arial" pitchFamily="34" charset="0"/>
              </a:rPr>
              <a:t> Field Checking</a:t>
            </a:r>
            <a:endParaRPr kumimoji="0" lang="zh-CN" altLang="en-US" sz="1000" b="1" dirty="0">
              <a:solidFill>
                <a:prstClr val="black"/>
              </a:solidFill>
              <a:latin typeface="LG Smart_H Regular" panose="020B0600000101010101" pitchFamily="34" charset="-127"/>
              <a:ea typeface="LG Smart_H Regular" panose="020B0600000101010101" pitchFamily="34" charset="-127"/>
              <a:cs typeface="Arial" pitchFamily="34" charset="0"/>
            </a:endParaRPr>
          </a:p>
        </p:txBody>
      </p:sp>
      <p:sp>
        <p:nvSpPr>
          <p:cNvPr id="35" name="TextBox 424"/>
          <p:cNvSpPr txBox="1">
            <a:spLocks noChangeArrowheads="1"/>
          </p:cNvSpPr>
          <p:nvPr/>
        </p:nvSpPr>
        <p:spPr bwMode="auto">
          <a:xfrm>
            <a:off x="3216235" y="5468792"/>
            <a:ext cx="3546518" cy="246209"/>
          </a:xfrm>
          <a:prstGeom prst="rect">
            <a:avLst/>
          </a:prstGeom>
          <a:noFill/>
          <a:ln w="9525">
            <a:noFill/>
            <a:miter lim="800000"/>
            <a:headEnd/>
            <a:tailEnd/>
          </a:ln>
        </p:spPr>
        <p:txBody>
          <a:bodyPr wrap="square" lIns="91429" tIns="45714" rIns="91429" bIns="45714">
            <a:spAutoFit/>
          </a:bodyPr>
          <a:lstStyle/>
          <a:p>
            <a:pPr algn="ctr" eaLnBrk="1" fontAlgn="auto" latinLnBrk="0">
              <a:spcBef>
                <a:spcPts val="0"/>
              </a:spcBef>
              <a:spcAft>
                <a:spcPts val="0"/>
              </a:spcAft>
              <a:buFont typeface="Wingdings" pitchFamily="2" charset="2"/>
              <a:buChar char="Ø"/>
            </a:pPr>
            <a:r>
              <a:rPr kumimoji="0" lang="en-US" altLang="zh-CN" sz="1000" b="1" dirty="0">
                <a:solidFill>
                  <a:prstClr val="black"/>
                </a:solidFill>
                <a:latin typeface="Arial" panose="020B0600000101010101" pitchFamily="34" charset="-127"/>
                <a:ea typeface="Arial" panose="020B0600000101010101" pitchFamily="34" charset="-127"/>
                <a:cs typeface="Arial" pitchFamily="34" charset="0"/>
              </a:rPr>
              <a:t> Field Workability  </a:t>
            </a:r>
            <a:endParaRPr kumimoji="0" lang="zh-CN" altLang="en-US" sz="1000" b="1" dirty="0">
              <a:solidFill>
                <a:prstClr val="black"/>
              </a:solidFill>
              <a:latin typeface="LG Smart_H Regular" panose="020B0600000101010101" pitchFamily="34" charset="-127"/>
              <a:ea typeface="LG Smart_H Regular" panose="020B0600000101010101" pitchFamily="34" charset="-127"/>
              <a:cs typeface="Arial" pitchFamily="34" charset="0"/>
            </a:endParaRPr>
          </a:p>
        </p:txBody>
      </p:sp>
      <p:sp>
        <p:nvSpPr>
          <p:cNvPr id="36" name="TextBox 425"/>
          <p:cNvSpPr txBox="1">
            <a:spLocks noChangeArrowheads="1"/>
          </p:cNvSpPr>
          <p:nvPr/>
        </p:nvSpPr>
        <p:spPr bwMode="auto">
          <a:xfrm>
            <a:off x="6762753" y="5441972"/>
            <a:ext cx="2942775" cy="246209"/>
          </a:xfrm>
          <a:prstGeom prst="rect">
            <a:avLst/>
          </a:prstGeom>
          <a:noFill/>
          <a:ln w="9525">
            <a:noFill/>
            <a:miter lim="800000"/>
            <a:headEnd/>
            <a:tailEnd/>
          </a:ln>
        </p:spPr>
        <p:txBody>
          <a:bodyPr wrap="square" lIns="91429" tIns="45714" rIns="91429" bIns="45714">
            <a:spAutoFit/>
          </a:bodyPr>
          <a:lstStyle/>
          <a:p>
            <a:pPr algn="ctr" eaLnBrk="1" fontAlgn="auto" latinLnBrk="0">
              <a:spcBef>
                <a:spcPts val="0"/>
              </a:spcBef>
              <a:spcAft>
                <a:spcPts val="0"/>
              </a:spcAft>
              <a:buFont typeface="Wingdings" pitchFamily="2" charset="2"/>
              <a:buChar char="Ø"/>
            </a:pPr>
            <a:r>
              <a:rPr kumimoji="0" lang="en-US" altLang="zh-CN" sz="1000" b="1">
                <a:solidFill>
                  <a:prstClr val="black"/>
                </a:solidFill>
                <a:latin typeface="Arial" panose="020B0600000101010101" pitchFamily="34" charset="-127"/>
                <a:ea typeface="Arial" panose="020B0600000101010101" pitchFamily="34" charset="-127"/>
                <a:cs typeface="Arial" pitchFamily="34" charset="0"/>
              </a:rPr>
              <a:t> Field Interview</a:t>
            </a:r>
            <a:endParaRPr kumimoji="0" lang="zh-CN" altLang="en-US" sz="1000" b="1" dirty="0">
              <a:solidFill>
                <a:prstClr val="black"/>
              </a:solidFill>
              <a:latin typeface="LG Smart_H Regular" panose="020B0600000101010101" pitchFamily="34" charset="-127"/>
              <a:ea typeface="LG Smart_H Regular" panose="020B0600000101010101" pitchFamily="34" charset="-127"/>
              <a:cs typeface="Arial" pitchFamily="34" charset="0"/>
            </a:endParaRPr>
          </a:p>
        </p:txBody>
      </p:sp>
      <p:sp>
        <p:nvSpPr>
          <p:cNvPr id="37" name="Text Box 16"/>
          <p:cNvSpPr txBox="1">
            <a:spLocks noChangeArrowheads="1"/>
          </p:cNvSpPr>
          <p:nvPr/>
        </p:nvSpPr>
        <p:spPr bwMode="auto">
          <a:xfrm>
            <a:off x="5230883" y="702924"/>
            <a:ext cx="1889092" cy="373432"/>
          </a:xfrm>
          <a:prstGeom prst="rect">
            <a:avLst/>
          </a:prstGeom>
          <a:noFill/>
          <a:ln w="9525">
            <a:noFill/>
            <a:miter lim="800000"/>
            <a:headEnd/>
            <a:tailEnd/>
          </a:ln>
        </p:spPr>
        <p:txBody>
          <a:bodyPr wrap="square" lIns="95494" tIns="47750" rIns="95494" bIns="47750">
            <a:spAutoFit/>
          </a:bodyPr>
          <a:lstStyle/>
          <a:p>
            <a:pPr algn="ctr" defTabSz="957147" eaLnBrk="1" fontAlgn="auto" latinLnBrk="0">
              <a:spcBef>
                <a:spcPts val="0"/>
              </a:spcBef>
              <a:spcAft>
                <a:spcPts val="0"/>
              </a:spcAft>
            </a:pPr>
            <a:r>
              <a:rPr kumimoji="0" lang="en-US" altLang="zh-CN" sz="1000" b="1" dirty="0">
                <a:solidFill>
                  <a:prstClr val="black"/>
                </a:solidFill>
                <a:latin typeface="Arial" panose="020B0600000101010101" pitchFamily="34" charset="-127"/>
                <a:ea typeface="Arial" panose="020B0600000101010101" pitchFamily="34" charset="-127"/>
                <a:cs typeface="Arial" pitchFamily="34" charset="0"/>
              </a:rPr>
              <a:t>Improvement</a:t>
            </a:r>
          </a:p>
        </p:txBody>
      </p:sp>
      <p:sp>
        <p:nvSpPr>
          <p:cNvPr id="38" name="Text Box 13"/>
          <p:cNvSpPr txBox="1">
            <a:spLocks noChangeArrowheads="1"/>
          </p:cNvSpPr>
          <p:nvPr/>
        </p:nvSpPr>
        <p:spPr bwMode="auto">
          <a:xfrm>
            <a:off x="2566230" y="714307"/>
            <a:ext cx="2672570" cy="373432"/>
          </a:xfrm>
          <a:prstGeom prst="rect">
            <a:avLst/>
          </a:prstGeom>
          <a:noFill/>
          <a:ln w="9525">
            <a:noFill/>
            <a:miter lim="800000"/>
            <a:headEnd/>
            <a:tailEnd/>
          </a:ln>
        </p:spPr>
        <p:txBody>
          <a:bodyPr wrap="square" lIns="95494" tIns="47750" rIns="95494" bIns="47750">
            <a:spAutoFit/>
          </a:bodyPr>
          <a:lstStyle/>
          <a:p>
            <a:pPr algn="ctr" defTabSz="957147" eaLnBrk="1" fontAlgn="auto" latinLnBrk="0">
              <a:spcBef>
                <a:spcPts val="0"/>
              </a:spcBef>
              <a:spcAft>
                <a:spcPts val="0"/>
              </a:spcAft>
            </a:pPr>
            <a:r>
              <a:rPr kumimoji="0" lang="en-US" altLang="ko-KR" sz="1000" b="1" dirty="0">
                <a:solidFill>
                  <a:prstClr val="black"/>
                </a:solidFill>
                <a:latin typeface="Arial" panose="020B0600000101010101" pitchFamily="34" charset="-127"/>
                <a:ea typeface="Arial" panose="020B0600000101010101" pitchFamily="34" charset="-127"/>
                <a:cs typeface="Arial" pitchFamily="34" charset="0"/>
              </a:rPr>
              <a:t>Cause</a:t>
            </a:r>
          </a:p>
        </p:txBody>
      </p:sp>
      <p:sp>
        <p:nvSpPr>
          <p:cNvPr id="40" name="TextBox 128"/>
          <p:cNvSpPr txBox="1">
            <a:spLocks noChangeArrowheads="1"/>
          </p:cNvSpPr>
          <p:nvPr/>
        </p:nvSpPr>
        <p:spPr bwMode="auto">
          <a:xfrm>
            <a:off x="7295558" y="1083346"/>
            <a:ext cx="1250472" cy="261523"/>
          </a:xfrm>
          <a:prstGeom prst="rect">
            <a:avLst/>
          </a:prstGeom>
          <a:noFill/>
          <a:ln w="9525">
            <a:noFill/>
            <a:miter lim="800000"/>
            <a:headEnd/>
            <a:tailEnd/>
          </a:ln>
        </p:spPr>
        <p:txBody>
          <a:bodyPr wrap="none" lIns="91345" tIns="45677" rIns="91345" bIns="45677">
            <a:spAutoFit/>
          </a:bodyPr>
          <a:lstStyle/>
          <a:p>
            <a:pPr eaLnBrk="1" fontAlgn="auto" latinLnBrk="0">
              <a:spcBef>
                <a:spcPts val="0"/>
              </a:spcBef>
              <a:spcAft>
                <a:spcPts val="0"/>
              </a:spcAft>
              <a:buFont typeface="Arial" pitchFamily="34" charset="0"/>
              <a:buChar char="•"/>
            </a:pPr>
            <a:r>
              <a:rPr kumimoji="0" lang="en-US" altLang="ko-KR" sz="1000" b="1" u="sng" dirty="0">
                <a:solidFill>
                  <a:prstClr val="black"/>
                </a:solidFill>
                <a:latin typeface="Arial" panose="020B0600000101010101" pitchFamily="34" charset="-127"/>
                <a:ea typeface="Arial" panose="020B0600000101010101" pitchFamily="34" charset="-127"/>
                <a:cs typeface="Arial" pitchFamily="34" charset="0"/>
              </a:rPr>
              <a:t> Progress</a:t>
            </a:r>
            <a:r>
              <a:rPr kumimoji="0" lang="ko-KR" altLang="en-US" sz="1000" b="1" u="sng" dirty="0">
                <a:solidFill>
                  <a:prstClr val="black"/>
                </a:solidFill>
                <a:latin typeface="Arial" panose="020B0600000101010101" pitchFamily="34" charset="-127"/>
                <a:ea typeface="Arial" panose="020B0600000101010101" pitchFamily="34" charset="-127"/>
                <a:cs typeface="Arial" pitchFamily="34" charset="0"/>
              </a:rPr>
              <a:t> </a:t>
            </a:r>
            <a:r>
              <a:rPr kumimoji="0" lang="en-US" altLang="ko-KR" sz="1000" b="1" u="sng" dirty="0">
                <a:solidFill>
                  <a:prstClr val="black"/>
                </a:solidFill>
                <a:latin typeface="Arial" panose="020B0600000101010101" pitchFamily="34" charset="-127"/>
                <a:ea typeface="Arial" panose="020B0600000101010101" pitchFamily="34" charset="-127"/>
                <a:cs typeface="Arial" pitchFamily="34" charset="0"/>
              </a:rPr>
              <a:t>Status</a:t>
            </a:r>
          </a:p>
        </p:txBody>
      </p:sp>
      <p:sp>
        <p:nvSpPr>
          <p:cNvPr id="41" name="Text Box 16"/>
          <p:cNvSpPr txBox="1">
            <a:spLocks noChangeArrowheads="1"/>
          </p:cNvSpPr>
          <p:nvPr/>
        </p:nvSpPr>
        <p:spPr bwMode="auto">
          <a:xfrm>
            <a:off x="7119975" y="702937"/>
            <a:ext cx="2600591" cy="373432"/>
          </a:xfrm>
          <a:prstGeom prst="rect">
            <a:avLst/>
          </a:prstGeom>
          <a:noFill/>
          <a:ln w="9525">
            <a:noFill/>
            <a:miter lim="800000"/>
            <a:headEnd/>
            <a:tailEnd/>
          </a:ln>
        </p:spPr>
        <p:txBody>
          <a:bodyPr wrap="square" lIns="95494" tIns="47750" rIns="95494" bIns="47750">
            <a:spAutoFit/>
          </a:bodyPr>
          <a:lstStyle/>
          <a:p>
            <a:pPr algn="ctr" defTabSz="957147" eaLnBrk="1" fontAlgn="auto" latinLnBrk="0">
              <a:spcBef>
                <a:spcPts val="0"/>
              </a:spcBef>
              <a:spcAft>
                <a:spcPts val="0"/>
              </a:spcAft>
            </a:pPr>
            <a:r>
              <a:rPr kumimoji="0" lang="en-US" altLang="zh-CN" sz="1000" b="1" dirty="0">
                <a:solidFill>
                  <a:prstClr val="black"/>
                </a:solidFill>
                <a:latin typeface="Arial" panose="020B0600000101010101" pitchFamily="34" charset="-127"/>
                <a:ea typeface="Arial" panose="020B0600000101010101" pitchFamily="34" charset="-127"/>
                <a:cs typeface="Arial" pitchFamily="34" charset="0"/>
              </a:rPr>
              <a:t>Progress  Monitoring</a:t>
            </a:r>
          </a:p>
        </p:txBody>
      </p:sp>
      <p:sp>
        <p:nvSpPr>
          <p:cNvPr id="42" name="Text Box 17"/>
          <p:cNvSpPr txBox="1">
            <a:spLocks noChangeArrowheads="1"/>
          </p:cNvSpPr>
          <p:nvPr/>
        </p:nvSpPr>
        <p:spPr bwMode="auto">
          <a:xfrm>
            <a:off x="8748000" y="1428105"/>
            <a:ext cx="540000" cy="198714"/>
          </a:xfrm>
          <a:prstGeom prst="rect">
            <a:avLst/>
          </a:prstGeom>
          <a:noFill/>
          <a:ln w="9525">
            <a:noFill/>
            <a:miter lim="800000"/>
            <a:headEnd/>
            <a:tailEnd/>
          </a:ln>
        </p:spPr>
        <p:txBody>
          <a:bodyPr wrap="square" lIns="18000" tIns="18000" rIns="18000" bIns="18000">
            <a:spAutoFit/>
          </a:bodyPr>
          <a:lstStyle/>
          <a:p>
            <a:pPr algn="ctr" defTabSz="750403" eaLnBrk="1" latinLnBrk="0"/>
            <a:r>
              <a:rPr lang="en-US" altLang="ko-KR" sz="900" dirty="0">
                <a:solidFill>
                  <a:prstClr val="black"/>
                </a:solidFill>
                <a:latin typeface="Arial" panose="020B0600000101010101" pitchFamily="34" charset="-127"/>
                <a:ea typeface="Arial" panose="020B0600000101010101" pitchFamily="34" charset="-127"/>
                <a:cs typeface="Arial" pitchFamily="34" charset="0"/>
              </a:rPr>
              <a:t>Owner</a:t>
            </a:r>
            <a:endParaRPr lang="en-US" altLang="zh-CN" sz="800" dirty="0">
              <a:solidFill>
                <a:prstClr val="black"/>
              </a:solidFill>
              <a:latin typeface="LG Smart_H Regular" panose="020B0600000101010101" pitchFamily="34" charset="-127"/>
              <a:ea typeface="LG Smart_H Regular" panose="020B0600000101010101" pitchFamily="34" charset="-127"/>
              <a:cs typeface="Arial" pitchFamily="34" charset="0"/>
            </a:endParaRPr>
          </a:p>
        </p:txBody>
      </p:sp>
      <p:sp>
        <p:nvSpPr>
          <p:cNvPr id="43" name="Text Box 20"/>
          <p:cNvSpPr txBox="1">
            <a:spLocks noChangeArrowheads="1"/>
          </p:cNvSpPr>
          <p:nvPr/>
        </p:nvSpPr>
        <p:spPr bwMode="auto">
          <a:xfrm>
            <a:off x="9270000" y="1436695"/>
            <a:ext cx="503999" cy="198714"/>
          </a:xfrm>
          <a:prstGeom prst="rect">
            <a:avLst/>
          </a:prstGeom>
          <a:noFill/>
          <a:ln w="9525">
            <a:noFill/>
            <a:miter lim="800000"/>
            <a:headEnd/>
            <a:tailEnd/>
          </a:ln>
        </p:spPr>
        <p:txBody>
          <a:bodyPr wrap="square" lIns="18000" tIns="18000" rIns="18000" bIns="18000">
            <a:spAutoFit/>
          </a:bodyPr>
          <a:lstStyle/>
          <a:p>
            <a:pPr algn="ctr" defTabSz="750403" eaLnBrk="1" latinLnBrk="0"/>
            <a:r>
              <a:rPr lang="en-US" altLang="zh-CN" sz="900" dirty="0">
                <a:solidFill>
                  <a:prstClr val="black"/>
                </a:solidFill>
                <a:latin typeface="Arial" panose="020B0600000101010101" pitchFamily="34" charset="-127"/>
                <a:ea typeface="Arial" panose="020B0600000101010101" pitchFamily="34" charset="-127"/>
                <a:cs typeface="Arial" pitchFamily="34" charset="0"/>
              </a:rPr>
              <a:t>Verify</a:t>
            </a:r>
          </a:p>
        </p:txBody>
      </p:sp>
      <p:sp>
        <p:nvSpPr>
          <p:cNvPr id="44" name="TextBox 474"/>
          <p:cNvSpPr txBox="1">
            <a:spLocks noChangeArrowheads="1"/>
          </p:cNvSpPr>
          <p:nvPr/>
        </p:nvSpPr>
        <p:spPr bwMode="auto">
          <a:xfrm>
            <a:off x="7150116" y="1417423"/>
            <a:ext cx="612000" cy="195491"/>
          </a:xfrm>
          <a:prstGeom prst="rect">
            <a:avLst/>
          </a:prstGeom>
          <a:noFill/>
          <a:ln w="9525">
            <a:noFill/>
            <a:miter lim="800000"/>
            <a:headEnd/>
            <a:tailEnd/>
          </a:ln>
        </p:spPr>
        <p:txBody>
          <a:bodyPr wrap="square" lIns="18000" tIns="18000" rIns="18000" bIns="18000">
            <a:spAutoFit/>
          </a:bodyPr>
          <a:lstStyle/>
          <a:p>
            <a:pPr algn="ctr" eaLnBrk="1" latinLnBrk="0"/>
            <a:r>
              <a:rPr lang="en-US" altLang="zh-CN" sz="900" b="1" dirty="0">
                <a:solidFill>
                  <a:prstClr val="black"/>
                </a:solidFill>
                <a:latin typeface="Arial" panose="020B0600000101010101" pitchFamily="34" charset="-127"/>
                <a:ea typeface="Arial" panose="020B0600000101010101" pitchFamily="34" charset="-127"/>
                <a:cs typeface="Arial" pitchFamily="34" charset="0"/>
              </a:rPr>
              <a:t>Remark</a:t>
            </a:r>
            <a:endParaRPr lang="zh-CN" altLang="en-US" sz="800" b="1" dirty="0">
              <a:solidFill>
                <a:prstClr val="black"/>
              </a:solidFill>
              <a:latin typeface="LG Smart_H Regular" panose="020B0600000101010101" pitchFamily="34" charset="-127"/>
              <a:ea typeface="LG Smart_H Regular" panose="020B0600000101010101" pitchFamily="34" charset="-127"/>
              <a:cs typeface="Arial" pitchFamily="34" charset="0"/>
            </a:endParaRPr>
          </a:p>
        </p:txBody>
      </p:sp>
      <p:sp>
        <p:nvSpPr>
          <p:cNvPr id="45" name="TextBox 476"/>
          <p:cNvSpPr txBox="1">
            <a:spLocks noChangeArrowheads="1"/>
          </p:cNvSpPr>
          <p:nvPr/>
        </p:nvSpPr>
        <p:spPr bwMode="auto">
          <a:xfrm>
            <a:off x="7740000" y="1346549"/>
            <a:ext cx="972000" cy="195491"/>
          </a:xfrm>
          <a:prstGeom prst="rect">
            <a:avLst/>
          </a:prstGeom>
          <a:noFill/>
          <a:ln w="9525">
            <a:noFill/>
            <a:miter lim="800000"/>
            <a:headEnd/>
            <a:tailEnd/>
          </a:ln>
        </p:spPr>
        <p:txBody>
          <a:bodyPr wrap="square" lIns="18000" tIns="18000" rIns="18000" bIns="18000">
            <a:spAutoFit/>
          </a:bodyPr>
          <a:lstStyle/>
          <a:p>
            <a:pPr algn="ctr" eaLnBrk="1" latinLnBrk="0"/>
            <a:r>
              <a:rPr lang="en-US" altLang="zh-CN" sz="900" dirty="0">
                <a:solidFill>
                  <a:prstClr val="black"/>
                </a:solidFill>
                <a:latin typeface="Arial" panose="020B0600000101010101" pitchFamily="34" charset="-127"/>
                <a:ea typeface="Arial" panose="020B0600000101010101" pitchFamily="34" charset="-127"/>
                <a:cs typeface="Arial" pitchFamily="34" charset="0"/>
              </a:rPr>
              <a:t>   </a:t>
            </a:r>
            <a:r>
              <a:rPr lang="en-US" altLang="zh-CN" sz="900" b="1" dirty="0">
                <a:solidFill>
                  <a:prstClr val="black"/>
                </a:solidFill>
                <a:latin typeface="Arial" panose="020B0600000101010101" pitchFamily="34" charset="-127"/>
                <a:ea typeface="Arial" panose="020B0600000101010101" pitchFamily="34" charset="-127"/>
                <a:cs typeface="Arial" pitchFamily="34" charset="0"/>
              </a:rPr>
              <a:t>Schedule</a:t>
            </a:r>
            <a:endParaRPr lang="zh-CN" altLang="en-US" sz="800" b="1" dirty="0">
              <a:solidFill>
                <a:prstClr val="black"/>
              </a:solidFill>
              <a:latin typeface="LG Smart_H Regular" panose="020B0600000101010101" pitchFamily="34" charset="-127"/>
              <a:ea typeface="LG Smart_H Regular" panose="020B0600000101010101" pitchFamily="34" charset="-127"/>
              <a:cs typeface="Arial" pitchFamily="34" charset="0"/>
            </a:endParaRPr>
          </a:p>
        </p:txBody>
      </p:sp>
      <p:grpSp>
        <p:nvGrpSpPr>
          <p:cNvPr id="3" name="Group 121"/>
          <p:cNvGrpSpPr/>
          <p:nvPr/>
        </p:nvGrpSpPr>
        <p:grpSpPr>
          <a:xfrm>
            <a:off x="7151567" y="1362407"/>
            <a:ext cx="2533170" cy="1892995"/>
            <a:chOff x="5120821" y="1060197"/>
            <a:chExt cx="1877538" cy="1362964"/>
          </a:xfrm>
        </p:grpSpPr>
        <p:cxnSp>
          <p:nvCxnSpPr>
            <p:cNvPr id="47" name="直接连接符 118"/>
            <p:cNvCxnSpPr/>
            <p:nvPr/>
          </p:nvCxnSpPr>
          <p:spPr>
            <a:xfrm>
              <a:off x="5123679" y="1303136"/>
              <a:ext cx="1871568" cy="0"/>
            </a:xfrm>
            <a:prstGeom prst="line">
              <a:avLst/>
            </a:pr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cxnSp>
        <p:grpSp>
          <p:nvGrpSpPr>
            <p:cNvPr id="4" name="Group 93"/>
            <p:cNvGrpSpPr/>
            <p:nvPr/>
          </p:nvGrpSpPr>
          <p:grpSpPr>
            <a:xfrm>
              <a:off x="5120821" y="1060197"/>
              <a:ext cx="1877538" cy="1362964"/>
              <a:chOff x="5120821" y="1060197"/>
              <a:chExt cx="1877538" cy="1362964"/>
            </a:xfrm>
          </p:grpSpPr>
          <p:sp>
            <p:nvSpPr>
              <p:cNvPr id="50" name="矩形 115"/>
              <p:cNvSpPr/>
              <p:nvPr/>
            </p:nvSpPr>
            <p:spPr>
              <a:xfrm>
                <a:off x="5120821" y="1060197"/>
                <a:ext cx="1877538" cy="1362964"/>
              </a:xfrm>
              <a:prstGeom prst="rect">
                <a:avLst/>
              </a:pr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53645" tIns="26822" rIns="53645" bIns="26822" anchor="ctr"/>
              <a:lstStyle/>
              <a:p>
                <a:pPr algn="ctr" latinLnBrk="0">
                  <a:defRPr/>
                </a:pPr>
                <a:endParaRPr lang="zh-CN" altLang="en-US" sz="1700" dirty="0">
                  <a:solidFill>
                    <a:prstClr val="black"/>
                  </a:solidFill>
                  <a:latin typeface="LG Smart_H Regular" panose="020B0600000101010101" pitchFamily="34" charset="-127"/>
                  <a:ea typeface="LG Smart_H Regular" panose="020B0600000101010101" pitchFamily="34" charset="-127"/>
                  <a:cs typeface="Arial" pitchFamily="34" charset="0"/>
                </a:endParaRPr>
              </a:p>
            </p:txBody>
          </p:sp>
          <p:cxnSp>
            <p:nvCxnSpPr>
              <p:cNvPr id="51" name="直接连接符 121"/>
              <p:cNvCxnSpPr/>
              <p:nvPr/>
            </p:nvCxnSpPr>
            <p:spPr>
              <a:xfrm rot="16200000" flipH="1">
                <a:off x="4865021" y="1741263"/>
                <a:ext cx="1353312"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直接连接符 126"/>
              <p:cNvCxnSpPr/>
              <p:nvPr/>
            </p:nvCxnSpPr>
            <p:spPr>
              <a:xfrm rot="16200000" flipH="1">
                <a:off x="5655761" y="1741444"/>
                <a:ext cx="1362456"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直接连接符 127"/>
              <p:cNvCxnSpPr>
                <a:cxnSpLocks/>
              </p:cNvCxnSpPr>
              <p:nvPr/>
            </p:nvCxnSpPr>
            <p:spPr>
              <a:xfrm>
                <a:off x="6718491" y="1066568"/>
                <a:ext cx="22403" cy="1356103"/>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直接连接符 130"/>
              <p:cNvCxnSpPr/>
              <p:nvPr/>
            </p:nvCxnSpPr>
            <p:spPr>
              <a:xfrm rot="5400000">
                <a:off x="5324829" y="1798251"/>
                <a:ext cx="1232039" cy="0"/>
              </a:xfrm>
              <a:prstGeom prst="line">
                <a:avLst/>
              </a:prstGeom>
              <a:ln w="6350">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cxnSp>
          <p:nvCxnSpPr>
            <p:cNvPr id="49" name="直接连接符 129"/>
            <p:cNvCxnSpPr>
              <a:cxnSpLocks/>
            </p:cNvCxnSpPr>
            <p:nvPr/>
          </p:nvCxnSpPr>
          <p:spPr>
            <a:xfrm>
              <a:off x="5546192" y="1178144"/>
              <a:ext cx="788427" cy="0"/>
            </a:xfrm>
            <a:prstGeom prst="line">
              <a:avLst/>
            </a:pr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cxnSp>
      </p:grpSp>
      <p:cxnSp>
        <p:nvCxnSpPr>
          <p:cNvPr id="27" name="직선 연결선 26"/>
          <p:cNvCxnSpPr/>
          <p:nvPr/>
        </p:nvCxnSpPr>
        <p:spPr>
          <a:xfrm rot="5400000">
            <a:off x="197403" y="3053483"/>
            <a:ext cx="4722431" cy="86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21" name="Rectangle 72"/>
          <p:cNvSpPr>
            <a:spLocks noChangeArrowheads="1"/>
          </p:cNvSpPr>
          <p:nvPr/>
        </p:nvSpPr>
        <p:spPr bwMode="auto">
          <a:xfrm>
            <a:off x="125999" y="1036800"/>
            <a:ext cx="2340000" cy="827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oAutofit/>
          </a:bodyPr>
          <a:lstStyle/>
          <a:p>
            <a:pPr marL="171450" indent="-171450" eaLnBrk="1" latinLnBrk="0">
              <a:lnSpc>
                <a:spcPts val="1600"/>
              </a:lnSpc>
              <a:buFont typeface="Wingdings" pitchFamily="2" charset="2"/>
              <a:buChar char="q"/>
            </a:pPr>
            <a:r>
              <a:rPr sz="950" b="1">
                <a:latin typeface="Arial"/>
              </a:rPr>
              <a:t>• Issue: Luminance NG ppm (Model: J1 Dual)</a:t>
            </a:r>
            <a:endParaRPr lang="vi-VN" altLang="ko-KR" sz="1100" b="1" dirty="0">
              <a:solidFill>
                <a:srgbClr val="000000"/>
              </a:solidFill>
              <a:latin typeface="LG Smart_H Regular" panose="020B0600000101010101" pitchFamily="34" charset="-127"/>
              <a:ea typeface="LG Smart_H Regular" panose="020B0600000101010101" pitchFamily="34" charset="-127"/>
              <a:cs typeface="Arial" pitchFamily="34" charset="0"/>
            </a:endParaRPr>
          </a:p>
          <a:p>
            <a:pPr eaLnBrk="1" latinLnBrk="0"/>
            <a:r>
              <a:rPr sz="950" b="0">
                <a:latin typeface="Arial"/>
              </a:rPr>
              <a:t>• Defect date: Feb-2026 | Station: Luminance</a:t>
            </a:r>
          </a:p>
          <a:p>
            <a:pPr eaLnBrk="1" latinLnBrk="0"/>
            <a:r>
              <a:rPr sz="950" b="0">
                <a:latin typeface="Arial"/>
              </a:rPr>
              <a:t>• Q’ty: 92 ea / 383,333 ppm (Total before: 143 ea / 631 = 226,624 ppm)</a:t>
            </a:r>
          </a:p>
        </p:txBody>
      </p:sp>
      <p:sp>
        <p:nvSpPr>
          <p:cNvPr id="65" name="TextBox 64"/>
          <p:cNvSpPr txBox="1"/>
          <p:nvPr/>
        </p:nvSpPr>
        <p:spPr>
          <a:xfrm>
            <a:off x="7637145" y="1560040"/>
            <a:ext cx="795298" cy="215444"/>
          </a:xfrm>
          <a:prstGeom prst="rect">
            <a:avLst/>
          </a:prstGeom>
          <a:noFill/>
        </p:spPr>
        <p:txBody>
          <a:bodyPr wrap="square" lIns="18000" tIns="18000" rIns="18000" bIns="18000" rtlCol="0">
            <a:spAutoFit/>
          </a:bodyPr>
          <a:lstStyle/>
          <a:p>
            <a:pPr algn="ctr" eaLnBrk="1" latinLnBrk="0"/>
            <a:r>
              <a:rPr lang="vi-VN" sz="1000" dirty="0">
                <a:latin typeface="Arial" panose="020B0600000101010101" pitchFamily="34" charset="-127"/>
                <a:ea typeface="Arial" panose="020B0600000101010101" pitchFamily="34" charset="-127"/>
                <a:cs typeface="Arial" pitchFamily="34" charset="0"/>
              </a:rPr>
              <a:t>Jun</a:t>
            </a:r>
            <a:endParaRPr lang="en-US" sz="800" dirty="0">
              <a:latin typeface="LG Smart_H Regular" panose="020B0600000101010101" pitchFamily="34" charset="-127"/>
              <a:ea typeface="LG Smart_H Regular" panose="020B0600000101010101" pitchFamily="34" charset="-127"/>
              <a:cs typeface="Arial" pitchFamily="34" charset="0"/>
            </a:endParaRPr>
          </a:p>
        </p:txBody>
      </p:sp>
      <p:sp>
        <p:nvSpPr>
          <p:cNvPr id="72" name="Text Box 60"/>
          <p:cNvSpPr txBox="1">
            <a:spLocks noChangeArrowheads="1"/>
          </p:cNvSpPr>
          <p:nvPr/>
        </p:nvSpPr>
        <p:spPr bwMode="auto">
          <a:xfrm>
            <a:off x="2556000" y="1036800"/>
            <a:ext cx="2592000" cy="2520000"/>
          </a:xfrm>
          <a:prstGeom prst="rect">
            <a:avLst/>
          </a:prstGeom>
          <a:noFill/>
          <a:ln w="9525">
            <a:noFill/>
            <a:miter lim="800000"/>
            <a:headEnd/>
            <a:tailEnd/>
          </a:ln>
        </p:spPr>
        <p:txBody>
          <a:bodyPr wrap="square" lIns="91307" tIns="45654" rIns="91307" bIns="45654">
            <a:noAutofit/>
          </a:bodyPr>
          <a:lstStyle/>
          <a:p>
            <a:pPr marL="171450" indent="-171450" eaLnBrk="1" fontAlgn="base" latinLnBrk="0">
              <a:lnSpc>
                <a:spcPct val="150000"/>
              </a:lnSpc>
              <a:spcBef>
                <a:spcPct val="0"/>
              </a:spcBef>
              <a:spcAft>
                <a:spcPct val="0"/>
              </a:spcAft>
              <a:buFont typeface="Wingdings" panose="05000000000000000000" pitchFamily="2" charset="2"/>
              <a:buChar char="q"/>
            </a:pPr>
            <a:r>
              <a:rPr sz="1000" b="1" dirty="0">
                <a:latin typeface="Arial"/>
              </a:rPr>
              <a:t>Root Cause: 5-Why Analysis</a:t>
            </a:r>
          </a:p>
          <a:p>
            <a:pPr eaLnBrk="1" latinLnBrk="0"/>
            <a:r>
              <a:rPr sz="900" b="0" dirty="0">
                <a:latin typeface="Arial"/>
              </a:rPr>
              <a:t>1. Why occur? Luminance value measured under spec (800~2000 Cd/m²).</a:t>
            </a:r>
          </a:p>
          <a:p>
            <a:pPr eaLnBrk="1" latinLnBrk="0"/>
            <a:r>
              <a:rPr sz="900" b="0" dirty="0">
                <a:latin typeface="Arial"/>
              </a:rPr>
              <a:t>2. Why under spec? Camera axis not perpendicular (90°) to the LCD surface.</a:t>
            </a:r>
          </a:p>
          <a:p>
            <a:pPr eaLnBrk="1" latinLnBrk="0"/>
            <a:r>
              <a:rPr sz="900" b="0" dirty="0">
                <a:latin typeface="Arial"/>
              </a:rPr>
              <a:t>3. Why angle changed? Long production time caused angle drift from 90° standard.</a:t>
            </a:r>
          </a:p>
          <a:p>
            <a:pPr eaLnBrk="1" latinLnBrk="0"/>
            <a:r>
              <a:rPr sz="900" b="0" dirty="0">
                <a:latin typeface="Arial"/>
              </a:rPr>
              <a:t>4. Why did angle drift? Dual display (PID/CID) requires camera motion; vibration loosened fixture.</a:t>
            </a:r>
          </a:p>
          <a:p>
            <a:pPr eaLnBrk="1" latinLnBrk="0"/>
            <a:r>
              <a:rPr sz="900" b="0" dirty="0">
                <a:latin typeface="Arial"/>
              </a:rPr>
              <a:t>5. Why no prevention? No daily Master sample check sheet to verify angle before production.</a:t>
            </a:r>
          </a:p>
        </p:txBody>
      </p:sp>
      <p:sp>
        <p:nvSpPr>
          <p:cNvPr id="77" name="Oval 76"/>
          <p:cNvSpPr/>
          <p:nvPr/>
        </p:nvSpPr>
        <p:spPr>
          <a:xfrm>
            <a:off x="9403135" y="1926797"/>
            <a:ext cx="237744" cy="237744"/>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lIns="18000" tIns="18000" rIns="18000" bIns="18000" rtlCol="0" anchor="ctr"/>
          <a:lstStyle/>
          <a:p>
            <a:pPr algn="ctr" eaLnBrk="1" latinLnBrk="0"/>
            <a:endParaRPr lang="en-US" dirty="0">
              <a:latin typeface="LG Smart_H Regular" panose="020B0600000101010101" pitchFamily="34" charset="-127"/>
              <a:ea typeface="LG Smart_H Regular" panose="020B0600000101010101" pitchFamily="34" charset="-127"/>
            </a:endParaRPr>
          </a:p>
        </p:txBody>
      </p:sp>
      <p:sp>
        <p:nvSpPr>
          <p:cNvPr id="57" name="TextBox 56">
            <a:extLst>
              <a:ext uri="{FF2B5EF4-FFF2-40B4-BE49-F238E27FC236}">
                <a16:creationId xmlns:a16="http://schemas.microsoft.com/office/drawing/2014/main" id="{8637D2F0-6B90-41E4-9032-0E95A98516C0}"/>
              </a:ext>
            </a:extLst>
          </p:cNvPr>
          <p:cNvSpPr txBox="1"/>
          <p:nvPr/>
        </p:nvSpPr>
        <p:spPr>
          <a:xfrm>
            <a:off x="540000" y="3330000"/>
            <a:ext cx="1568113" cy="180000"/>
          </a:xfrm>
          <a:prstGeom prst="rect">
            <a:avLst/>
          </a:prstGeom>
          <a:noFill/>
        </p:spPr>
        <p:txBody>
          <a:bodyPr wrap="square" rtlCol="0">
            <a:noAutofit/>
          </a:bodyPr>
          <a:lstStyle/>
          <a:p>
            <a:pPr eaLnBrk="1" latinLnBrk="0"/>
            <a:r>
              <a:rPr lang="en-US" sz="1000" b="1" dirty="0">
                <a:latin typeface="Arial" panose="020B0600000101010101" pitchFamily="34" charset="-127"/>
                <a:ea typeface="Arial" panose="020B0600000101010101" pitchFamily="34" charset="-127"/>
              </a:rPr>
              <a:t>[Luminance NG]</a:t>
            </a:r>
          </a:p>
        </p:txBody>
      </p:sp>
      <p:sp>
        <p:nvSpPr>
          <p:cNvPr id="58" name="TextBox 57">
            <a:extLst>
              <a:ext uri="{FF2B5EF4-FFF2-40B4-BE49-F238E27FC236}">
                <a16:creationId xmlns:a16="http://schemas.microsoft.com/office/drawing/2014/main" id="{0F602090-E50C-4F49-B857-754EE553DF4D}"/>
              </a:ext>
            </a:extLst>
          </p:cNvPr>
          <p:cNvSpPr txBox="1"/>
          <p:nvPr/>
        </p:nvSpPr>
        <p:spPr>
          <a:xfrm>
            <a:off x="8155635" y="1499387"/>
            <a:ext cx="795298" cy="215444"/>
          </a:xfrm>
          <a:prstGeom prst="rect">
            <a:avLst/>
          </a:prstGeom>
          <a:noFill/>
        </p:spPr>
        <p:txBody>
          <a:bodyPr wrap="square" lIns="18000" tIns="18000" rIns="18000" bIns="18000" rtlCol="0">
            <a:spAutoFit/>
          </a:bodyPr>
          <a:lstStyle/>
          <a:p>
            <a:pPr algn="ctr" eaLnBrk="1" latinLnBrk="0"/>
            <a:endParaRPr lang="en-US" sz="800" dirty="0">
              <a:latin typeface="LG Smart_H Regular" panose="020B0600000101010101" pitchFamily="34" charset="-127"/>
              <a:ea typeface="LG Smart_H Regular" panose="020B0600000101010101" pitchFamily="34" charset="-127"/>
              <a:cs typeface="Arial" pitchFamily="34" charset="0"/>
            </a:endParaRPr>
          </a:p>
        </p:txBody>
      </p:sp>
      <p:cxnSp>
        <p:nvCxnSpPr>
          <p:cNvPr id="59" name="Straight Arrow Connector 58">
            <a:extLst>
              <a:ext uri="{FF2B5EF4-FFF2-40B4-BE49-F238E27FC236}">
                <a16:creationId xmlns:a16="http://schemas.microsoft.com/office/drawing/2014/main" id="{91CBDE20-C90F-4404-974B-0FCE7E1DC650}"/>
              </a:ext>
            </a:extLst>
          </p:cNvPr>
          <p:cNvCxnSpPr>
            <a:cxnSpLocks/>
          </p:cNvCxnSpPr>
          <p:nvPr/>
        </p:nvCxnSpPr>
        <p:spPr>
          <a:xfrm flipV="1">
            <a:off x="8073091" y="2049910"/>
            <a:ext cx="291298" cy="3238"/>
          </a:xfrm>
          <a:prstGeom prst="straightConnector1">
            <a:avLst/>
          </a:prstGeom>
          <a:ln>
            <a:solidFill>
              <a:schemeClr val="tx1"/>
            </a:solidFill>
            <a:headEnd type="oval"/>
            <a:tailEnd type="triangle"/>
          </a:ln>
        </p:spPr>
        <p:style>
          <a:lnRef idx="1">
            <a:schemeClr val="accent1"/>
          </a:lnRef>
          <a:fillRef idx="0">
            <a:schemeClr val="accent1"/>
          </a:fillRef>
          <a:effectRef idx="0">
            <a:schemeClr val="accent1"/>
          </a:effectRef>
          <a:fontRef idx="minor">
            <a:schemeClr val="tx1"/>
          </a:fontRef>
        </p:style>
      </p:cxnSp>
      <p:sp>
        <p:nvSpPr>
          <p:cNvPr id="55" name="TextBox 128">
            <a:extLst>
              <a:ext uri="{FF2B5EF4-FFF2-40B4-BE49-F238E27FC236}">
                <a16:creationId xmlns:a16="http://schemas.microsoft.com/office/drawing/2014/main" id="{983CA82C-C735-4016-BE24-6F82F94F46DC}"/>
              </a:ext>
            </a:extLst>
          </p:cNvPr>
          <p:cNvSpPr txBox="1">
            <a:spLocks noChangeArrowheads="1"/>
          </p:cNvSpPr>
          <p:nvPr/>
        </p:nvSpPr>
        <p:spPr bwMode="auto">
          <a:xfrm>
            <a:off x="5220000" y="1296000"/>
            <a:ext cx="1800000" cy="306000"/>
          </a:xfrm>
          <a:prstGeom prst="rect">
            <a:avLst/>
          </a:prstGeom>
          <a:noFill/>
          <a:ln w="9525">
            <a:noFill/>
            <a:miter lim="800000"/>
            <a:headEnd/>
            <a:tailEnd/>
          </a:ln>
        </p:spPr>
        <p:txBody>
          <a:bodyPr wrap="square" lIns="91345" tIns="45677" rIns="91345" bIns="45677">
            <a:noAutofit/>
          </a:bodyPr>
          <a:lstStyle/>
          <a:p>
            <a:pPr marL="171450" indent="-171450" eaLnBrk="1" latinLnBrk="0">
              <a:buFontTx/>
              <a:buChar char="-"/>
            </a:pPr>
            <a:r>
              <a:rPr sz="950" b="1">
                <a:latin typeface="Arial"/>
              </a:rPr>
              <a:t>1. Teaching robot &amp; adjust angle of CS2000 Camera (Std: 90.0°)</a:t>
            </a:r>
          </a:p>
        </p:txBody>
      </p:sp>
      <p:sp>
        <p:nvSpPr>
          <p:cNvPr id="64" name="TextBox 93">
            <a:extLst>
              <a:ext uri="{FF2B5EF4-FFF2-40B4-BE49-F238E27FC236}">
                <a16:creationId xmlns:a16="http://schemas.microsoft.com/office/drawing/2014/main" id="{EE94C9A6-714C-4DF8-A112-382381776DDE}"/>
              </a:ext>
            </a:extLst>
          </p:cNvPr>
          <p:cNvSpPr txBox="1"/>
          <p:nvPr/>
        </p:nvSpPr>
        <p:spPr>
          <a:xfrm>
            <a:off x="7782327" y="1801251"/>
            <a:ext cx="706509" cy="215444"/>
          </a:xfrm>
          <a:prstGeom prst="rect">
            <a:avLst/>
          </a:prstGeom>
          <a:noFill/>
        </p:spPr>
        <p:txBody>
          <a:bodyPr wrap="square" lIns="18000" tIns="18000" rIns="18000" bIns="18000"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eaLnBrk="1" latinLnBrk="0"/>
            <a:r>
              <a:rPr lang="en-US" sz="1000" dirty="0">
                <a:latin typeface="Arial" panose="020B0600000101010101" pitchFamily="34" charset="-127"/>
                <a:ea typeface="Arial" panose="020B0600000101010101" pitchFamily="34" charset="-127"/>
                <a:cs typeface="Arial" pitchFamily="34" charset="0"/>
              </a:rPr>
              <a:t>14- Jun</a:t>
            </a:r>
          </a:p>
        </p:txBody>
      </p:sp>
      <p:sp>
        <p:nvSpPr>
          <p:cNvPr id="66" name="TextBox 93">
            <a:extLst>
              <a:ext uri="{FF2B5EF4-FFF2-40B4-BE49-F238E27FC236}">
                <a16:creationId xmlns:a16="http://schemas.microsoft.com/office/drawing/2014/main" id="{8D337C30-8194-4ADE-93BE-89A00C68871C}"/>
              </a:ext>
            </a:extLst>
          </p:cNvPr>
          <p:cNvSpPr txBox="1"/>
          <p:nvPr/>
        </p:nvSpPr>
        <p:spPr>
          <a:xfrm>
            <a:off x="8712000" y="1930439"/>
            <a:ext cx="576000" cy="200055"/>
          </a:xfrm>
          <a:prstGeom prst="rect">
            <a:avLst/>
          </a:prstGeom>
          <a:noFill/>
        </p:spPr>
        <p:txBody>
          <a:bodyPr wrap="square" lIns="18000" tIns="18000" rIns="18000" bIns="18000"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eaLnBrk="1" latinLnBrk="0"/>
            <a:r>
              <a:rPr lang="vi-VN" sz="850" dirty="0">
                <a:latin typeface="Arial" panose="020B0600000101010101" pitchFamily="34" charset="-127"/>
                <a:ea typeface="Arial" panose="020B0600000101010101" pitchFamily="34" charset="-127"/>
                <a:cs typeface="Arial" pitchFamily="34" charset="0"/>
              </a:rPr>
              <a:t>Mr. </a:t>
            </a:r>
            <a:r>
              <a:rPr lang="en-US" sz="850" dirty="0">
                <a:latin typeface="Arial" panose="020B0600000101010101" pitchFamily="34" charset="-127"/>
                <a:ea typeface="Arial" panose="020B0600000101010101" pitchFamily="34" charset="-127"/>
                <a:cs typeface="Arial" pitchFamily="34" charset="0"/>
              </a:rPr>
              <a:t>Hung</a:t>
            </a:r>
            <a:r>
              <a:rPr lang="vi-VN" sz="850" dirty="0">
                <a:latin typeface="Arial" panose="020B0600000101010101" pitchFamily="34" charset="-127"/>
                <a:ea typeface="Arial" panose="020B0600000101010101" pitchFamily="34" charset="-127"/>
                <a:cs typeface="Arial" pitchFamily="34" charset="0"/>
              </a:rPr>
              <a:t> PE</a:t>
            </a:r>
            <a:endParaRPr lang="en-US" sz="700" dirty="0">
              <a:latin typeface="LG Smart_H Regular" panose="020B0600000101010101" pitchFamily="34" charset="-127"/>
              <a:ea typeface="LG Smart_H Regular" panose="020B0600000101010101" pitchFamily="34" charset="-127"/>
              <a:cs typeface="Arial" pitchFamily="34" charset="0"/>
            </a:endParaRPr>
          </a:p>
        </p:txBody>
      </p:sp>
      <p:sp>
        <p:nvSpPr>
          <p:cNvPr id="60" name="TextBox 128">
            <a:extLst>
              <a:ext uri="{FF2B5EF4-FFF2-40B4-BE49-F238E27FC236}">
                <a16:creationId xmlns:a16="http://schemas.microsoft.com/office/drawing/2014/main" id="{5666655F-1E01-4994-850E-5E6166294887}"/>
              </a:ext>
            </a:extLst>
          </p:cNvPr>
          <p:cNvSpPr txBox="1">
            <a:spLocks noChangeArrowheads="1"/>
          </p:cNvSpPr>
          <p:nvPr/>
        </p:nvSpPr>
        <p:spPr bwMode="auto">
          <a:xfrm>
            <a:off x="5207954" y="1063268"/>
            <a:ext cx="2207754" cy="276912"/>
          </a:xfrm>
          <a:prstGeom prst="rect">
            <a:avLst/>
          </a:prstGeom>
          <a:noFill/>
          <a:ln w="9525">
            <a:noFill/>
            <a:miter lim="800000"/>
            <a:headEnd/>
            <a:tailEnd/>
          </a:ln>
        </p:spPr>
        <p:txBody>
          <a:bodyPr wrap="square" lIns="91345" tIns="45677" rIns="91345" bIns="45677">
            <a:spAutoFit/>
          </a:bodyPr>
          <a:lstStyle/>
          <a:p>
            <a:pPr eaLnBrk="1" fontAlgn="auto" latinLnBrk="0">
              <a:spcBef>
                <a:spcPts val="0"/>
              </a:spcBef>
              <a:spcAft>
                <a:spcPts val="0"/>
              </a:spcAft>
              <a:buFont typeface="Wingdings" pitchFamily="2" charset="2"/>
              <a:buChar char="q"/>
            </a:pPr>
            <a:r>
              <a:rPr kumimoji="0" lang="en-US" altLang="ko-KR" sz="1000" b="1" u="sng" dirty="0">
                <a:solidFill>
                  <a:prstClr val="black"/>
                </a:solidFill>
                <a:latin typeface="Arial" panose="020B0600000101010101" pitchFamily="34" charset="-127"/>
                <a:ea typeface="Arial" panose="020B0600000101010101" pitchFamily="34" charset="-127"/>
                <a:cs typeface="Arial" panose="020B0604020202020204" pitchFamily="34" charset="0"/>
              </a:rPr>
              <a:t> Improvement</a:t>
            </a:r>
          </a:p>
        </p:txBody>
      </p:sp>
      <p:sp>
        <p:nvSpPr>
          <p:cNvPr id="62" name="TextBox 128">
            <a:extLst>
              <a:ext uri="{FF2B5EF4-FFF2-40B4-BE49-F238E27FC236}">
                <a16:creationId xmlns:a16="http://schemas.microsoft.com/office/drawing/2014/main" id="{C66630D7-5675-4F9F-B957-7BEA31EDB70D}"/>
              </a:ext>
            </a:extLst>
          </p:cNvPr>
          <p:cNvSpPr txBox="1">
            <a:spLocks noChangeArrowheads="1"/>
          </p:cNvSpPr>
          <p:nvPr/>
        </p:nvSpPr>
        <p:spPr bwMode="auto">
          <a:xfrm>
            <a:off x="7128000" y="1842413"/>
            <a:ext cx="630000" cy="492356"/>
          </a:xfrm>
          <a:prstGeom prst="rect">
            <a:avLst/>
          </a:prstGeom>
          <a:noFill/>
          <a:ln w="9525">
            <a:noFill/>
            <a:miter lim="800000"/>
            <a:headEnd/>
            <a:tailEnd/>
          </a:ln>
        </p:spPr>
        <p:txBody>
          <a:bodyPr wrap="square" lIns="18000" tIns="18000" rIns="18000" bIns="18000">
            <a:spAutoFit/>
          </a:bodyPr>
          <a:lstStyle/>
          <a:p>
            <a:pPr eaLnBrk="1" latinLnBrk="0"/>
            <a:r>
              <a:rPr sz="850">
                <a:latin typeface="Arial"/>
              </a:rPr>
              <a:t>1. Adjust angle</a:t>
            </a:r>
          </a:p>
          <a:p>
            <a:pPr eaLnBrk="1" latinLnBrk="0"/>
            <a:r>
              <a:rPr sz="850">
                <a:latin typeface="Arial"/>
              </a:rPr>
              <a:t>of CS2000</a:t>
            </a:r>
          </a:p>
          <a:p>
            <a:pPr eaLnBrk="1" latinLnBrk="0"/>
            <a:r>
              <a:rPr sz="850">
                <a:latin typeface="Arial"/>
              </a:rPr>
              <a:t>Camera</a:t>
            </a:r>
          </a:p>
        </p:txBody>
      </p:sp>
      <p:cxnSp>
        <p:nvCxnSpPr>
          <p:cNvPr id="67" name="Straight Arrow Connector 66">
            <a:extLst>
              <a:ext uri="{FF2B5EF4-FFF2-40B4-BE49-F238E27FC236}">
                <a16:creationId xmlns:a16="http://schemas.microsoft.com/office/drawing/2014/main" id="{DC0D2E81-B641-4A00-AC8D-397DF12660C0}"/>
              </a:ext>
            </a:extLst>
          </p:cNvPr>
          <p:cNvCxnSpPr>
            <a:cxnSpLocks/>
          </p:cNvCxnSpPr>
          <p:nvPr/>
        </p:nvCxnSpPr>
        <p:spPr>
          <a:xfrm flipV="1">
            <a:off x="8074192" y="2521219"/>
            <a:ext cx="291298" cy="3238"/>
          </a:xfrm>
          <a:prstGeom prst="straightConnector1">
            <a:avLst/>
          </a:prstGeom>
          <a:ln>
            <a:solidFill>
              <a:schemeClr val="tx1"/>
            </a:solidFill>
            <a:headEnd type="oval"/>
            <a:tailEnd type="triangle"/>
          </a:ln>
        </p:spPr>
        <p:style>
          <a:lnRef idx="1">
            <a:schemeClr val="accent1"/>
          </a:lnRef>
          <a:fillRef idx="0">
            <a:schemeClr val="accent1"/>
          </a:fillRef>
          <a:effectRef idx="0">
            <a:schemeClr val="accent1"/>
          </a:effectRef>
          <a:fontRef idx="minor">
            <a:schemeClr val="tx1"/>
          </a:fontRef>
        </p:style>
      </p:cxnSp>
      <p:sp>
        <p:nvSpPr>
          <p:cNvPr id="69" name="Oval 68">
            <a:extLst>
              <a:ext uri="{FF2B5EF4-FFF2-40B4-BE49-F238E27FC236}">
                <a16:creationId xmlns:a16="http://schemas.microsoft.com/office/drawing/2014/main" id="{34AC5C43-25D8-45D4-B158-4429C0460685}"/>
              </a:ext>
            </a:extLst>
          </p:cNvPr>
          <p:cNvSpPr/>
          <p:nvPr/>
        </p:nvSpPr>
        <p:spPr>
          <a:xfrm>
            <a:off x="9403135" y="2389989"/>
            <a:ext cx="237744" cy="237744"/>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lIns="18000" tIns="18000" rIns="18000" bIns="18000" rtlCol="0" anchor="ctr"/>
          <a:lstStyle/>
          <a:p>
            <a:pPr algn="ctr" eaLnBrk="1" latinLnBrk="0"/>
            <a:endParaRPr lang="en-US" dirty="0">
              <a:latin typeface="LG Smart_H Regular" panose="020B0600000101010101" pitchFamily="34" charset="-127"/>
              <a:ea typeface="LG Smart_H Regular" panose="020B0600000101010101" pitchFamily="34" charset="-127"/>
            </a:endParaRPr>
          </a:p>
        </p:txBody>
      </p:sp>
      <p:sp>
        <p:nvSpPr>
          <p:cNvPr id="73" name="TextBox 93">
            <a:extLst>
              <a:ext uri="{FF2B5EF4-FFF2-40B4-BE49-F238E27FC236}">
                <a16:creationId xmlns:a16="http://schemas.microsoft.com/office/drawing/2014/main" id="{40D0226D-DEC2-4D06-9639-C07205FDEEC5}"/>
              </a:ext>
            </a:extLst>
          </p:cNvPr>
          <p:cNvSpPr txBox="1"/>
          <p:nvPr/>
        </p:nvSpPr>
        <p:spPr>
          <a:xfrm>
            <a:off x="7809419" y="2311324"/>
            <a:ext cx="706509" cy="215444"/>
          </a:xfrm>
          <a:prstGeom prst="rect">
            <a:avLst/>
          </a:prstGeom>
          <a:noFill/>
        </p:spPr>
        <p:txBody>
          <a:bodyPr wrap="square" lIns="18000" tIns="18000" rIns="18000" bIns="18000"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eaLnBrk="1" latinLnBrk="0"/>
            <a:r>
              <a:rPr lang="en-US" sz="1000" dirty="0">
                <a:latin typeface="Arial" panose="020B0600000101010101" pitchFamily="34" charset="-127"/>
                <a:ea typeface="Arial" panose="020B0600000101010101" pitchFamily="34" charset="-127"/>
                <a:cs typeface="Arial" pitchFamily="34" charset="0"/>
              </a:rPr>
              <a:t>14- Jun</a:t>
            </a:r>
          </a:p>
        </p:txBody>
      </p:sp>
      <p:sp>
        <p:nvSpPr>
          <p:cNvPr id="82" name="TextBox 128">
            <a:extLst>
              <a:ext uri="{FF2B5EF4-FFF2-40B4-BE49-F238E27FC236}">
                <a16:creationId xmlns:a16="http://schemas.microsoft.com/office/drawing/2014/main" id="{313E9328-5552-484F-A3B2-16E4CFD45CD3}"/>
              </a:ext>
            </a:extLst>
          </p:cNvPr>
          <p:cNvSpPr txBox="1">
            <a:spLocks noChangeArrowheads="1"/>
          </p:cNvSpPr>
          <p:nvPr/>
        </p:nvSpPr>
        <p:spPr bwMode="auto">
          <a:xfrm>
            <a:off x="7128000" y="2392728"/>
            <a:ext cx="630000" cy="276912"/>
          </a:xfrm>
          <a:prstGeom prst="rect">
            <a:avLst/>
          </a:prstGeom>
          <a:noFill/>
          <a:ln w="9525">
            <a:noFill/>
            <a:miter lim="800000"/>
            <a:headEnd/>
            <a:tailEnd/>
          </a:ln>
        </p:spPr>
        <p:txBody>
          <a:bodyPr wrap="square" lIns="18000" tIns="18000" rIns="18000" bIns="18000">
            <a:spAutoFit/>
          </a:bodyPr>
          <a:lstStyle/>
          <a:p>
            <a:pPr eaLnBrk="1" latinLnBrk="0"/>
            <a:r>
              <a:rPr sz="850">
                <a:latin typeface="Arial"/>
              </a:rPr>
              <a:t>2. Monitoring</a:t>
            </a:r>
          </a:p>
          <a:p>
            <a:pPr eaLnBrk="1" latinLnBrk="0"/>
            <a:r>
              <a:rPr sz="850">
                <a:latin typeface="Arial"/>
              </a:rPr>
              <a:t>result</a:t>
            </a:r>
          </a:p>
        </p:txBody>
      </p:sp>
      <p:sp>
        <p:nvSpPr>
          <p:cNvPr id="89" name="TextBox 93">
            <a:extLst>
              <a:ext uri="{FF2B5EF4-FFF2-40B4-BE49-F238E27FC236}">
                <a16:creationId xmlns:a16="http://schemas.microsoft.com/office/drawing/2014/main" id="{754F827D-7B4C-4967-985B-F20B89D9F272}"/>
              </a:ext>
            </a:extLst>
          </p:cNvPr>
          <p:cNvSpPr txBox="1"/>
          <p:nvPr/>
        </p:nvSpPr>
        <p:spPr>
          <a:xfrm>
            <a:off x="8712000" y="2413420"/>
            <a:ext cx="576000" cy="200055"/>
          </a:xfrm>
          <a:prstGeom prst="rect">
            <a:avLst/>
          </a:prstGeom>
          <a:noFill/>
        </p:spPr>
        <p:txBody>
          <a:bodyPr wrap="square" lIns="18000" tIns="18000" rIns="18000" bIns="18000"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eaLnBrk="1" latinLnBrk="0"/>
            <a:r>
              <a:rPr lang="vi-VN" sz="850" dirty="0">
                <a:latin typeface="Arial" panose="020B0600000101010101" pitchFamily="34" charset="-127"/>
                <a:ea typeface="Arial" panose="020B0600000101010101" pitchFamily="34" charset="-127"/>
                <a:cs typeface="Arial" pitchFamily="34" charset="0"/>
              </a:rPr>
              <a:t>Mr. </a:t>
            </a:r>
            <a:r>
              <a:rPr lang="en-US" sz="850" dirty="0">
                <a:latin typeface="Arial" panose="020B0600000101010101" pitchFamily="34" charset="-127"/>
                <a:ea typeface="Arial" panose="020B0600000101010101" pitchFamily="34" charset="-127"/>
                <a:cs typeface="Arial" pitchFamily="34" charset="0"/>
              </a:rPr>
              <a:t>Hung </a:t>
            </a:r>
            <a:r>
              <a:rPr lang="vi-VN" sz="850" dirty="0">
                <a:latin typeface="Arial" panose="020B0600000101010101" pitchFamily="34" charset="-127"/>
                <a:ea typeface="Arial" panose="020B0600000101010101" pitchFamily="34" charset="-127"/>
                <a:cs typeface="Arial" pitchFamily="34" charset="0"/>
              </a:rPr>
              <a:t>PE</a:t>
            </a:r>
            <a:endParaRPr lang="en-US" sz="700" dirty="0">
              <a:latin typeface="LG Smart_H Regular" panose="020B0600000101010101" pitchFamily="34" charset="-127"/>
              <a:ea typeface="LG Smart_H Regular" panose="020B0600000101010101" pitchFamily="34" charset="-127"/>
              <a:cs typeface="Arial" pitchFamily="34" charset="0"/>
            </a:endParaRPr>
          </a:p>
        </p:txBody>
      </p:sp>
      <p:sp>
        <p:nvSpPr>
          <p:cNvPr id="96" name="Slide Number Placeholder 4">
            <a:extLst>
              <a:ext uri="{FF2B5EF4-FFF2-40B4-BE49-F238E27FC236}">
                <a16:creationId xmlns:a16="http://schemas.microsoft.com/office/drawing/2014/main" id="{14609694-DD49-4E0A-9942-EE39A65918AD}"/>
              </a:ext>
            </a:extLst>
          </p:cNvPr>
          <p:cNvSpPr>
            <a:spLocks noGrp="1"/>
          </p:cNvSpPr>
          <p:nvPr>
            <p:ph type="sldNum" sz="quarter" idx="12"/>
          </p:nvPr>
        </p:nvSpPr>
        <p:spPr>
          <a:xfrm>
            <a:off x="3581025" y="6631416"/>
            <a:ext cx="2133600" cy="198047"/>
          </a:xfrm>
        </p:spPr>
        <p:txBody>
          <a:bodyPr/>
          <a:lstStyle/>
          <a:p>
            <a:pPr algn="ctr" eaLnBrk="1" latinLnBrk="0"/>
            <a:r>
              <a:rPr sz="1000" b="0">
                <a:latin typeface="Arial"/>
              </a:rPr>
              <a:t>17 / 33</a:t>
            </a:r>
            <a:endParaRPr lang="ko-KR" altLang="en-US" sz="1200" dirty="0">
              <a:solidFill>
                <a:prstClr val="black">
                  <a:tint val="75000"/>
                </a:prstClr>
              </a:solidFill>
              <a:latin typeface="Arial" panose="020B0604020202020204" pitchFamily="34" charset="0"/>
              <a:ea typeface="Arial Unicode MS" panose="020B0604020202020204" pitchFamily="34" charset="-128"/>
              <a:cs typeface="Arial" panose="020B0604020202020204" pitchFamily="34" charset="0"/>
            </a:endParaRPr>
          </a:p>
        </p:txBody>
      </p:sp>
      <p:sp>
        <p:nvSpPr>
          <p:cNvPr id="83" name="AutoShape 55">
            <a:extLst>
              <a:ext uri="{FF2B5EF4-FFF2-40B4-BE49-F238E27FC236}">
                <a16:creationId xmlns:a16="http://schemas.microsoft.com/office/drawing/2014/main" id="{5FF6A60A-3B00-49E1-A8A5-82E4EB233D05}"/>
              </a:ext>
            </a:extLst>
          </p:cNvPr>
          <p:cNvSpPr>
            <a:spLocks noChangeArrowheads="1"/>
          </p:cNvSpPr>
          <p:nvPr/>
        </p:nvSpPr>
        <p:spPr bwMode="auto">
          <a:xfrm>
            <a:off x="9069039" y="178989"/>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Control</a:t>
            </a:r>
          </a:p>
        </p:txBody>
      </p:sp>
      <p:sp>
        <p:nvSpPr>
          <p:cNvPr id="98" name="AutoShape 56">
            <a:extLst>
              <a:ext uri="{FF2B5EF4-FFF2-40B4-BE49-F238E27FC236}">
                <a16:creationId xmlns:a16="http://schemas.microsoft.com/office/drawing/2014/main" id="{BE828803-685E-4F72-BA18-05549CE77D40}"/>
              </a:ext>
            </a:extLst>
          </p:cNvPr>
          <p:cNvSpPr>
            <a:spLocks noChangeArrowheads="1"/>
          </p:cNvSpPr>
          <p:nvPr/>
        </p:nvSpPr>
        <p:spPr bwMode="auto">
          <a:xfrm>
            <a:off x="8380064" y="178989"/>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solidFill>
                  <a:schemeClr val="tx1"/>
                </a:solidFill>
                <a:latin typeface="Arial Narrow" panose="020B0606020202030204" pitchFamily="34" charset="0"/>
                <a:ea typeface="Arial" panose="020B0503020000020004" pitchFamily="50" charset="-127"/>
              </a:rPr>
              <a:t>Improve</a:t>
            </a:r>
          </a:p>
        </p:txBody>
      </p:sp>
      <p:sp>
        <p:nvSpPr>
          <p:cNvPr id="100" name="AutoShape 59">
            <a:extLst>
              <a:ext uri="{FF2B5EF4-FFF2-40B4-BE49-F238E27FC236}">
                <a16:creationId xmlns:a16="http://schemas.microsoft.com/office/drawing/2014/main" id="{A2335E91-637C-41F5-8FF2-3999615C314E}"/>
              </a:ext>
            </a:extLst>
          </p:cNvPr>
          <p:cNvSpPr>
            <a:spLocks noChangeArrowheads="1"/>
          </p:cNvSpPr>
          <p:nvPr/>
        </p:nvSpPr>
        <p:spPr bwMode="auto">
          <a:xfrm>
            <a:off x="6319489" y="178989"/>
            <a:ext cx="757238" cy="287338"/>
          </a:xfrm>
          <a:prstGeom prst="homePlate">
            <a:avLst>
              <a:gd name="adj" fmla="val 47192"/>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Define</a:t>
            </a:r>
          </a:p>
        </p:txBody>
      </p:sp>
      <p:grpSp>
        <p:nvGrpSpPr>
          <p:cNvPr id="5" name="Group 4">
            <a:extLst>
              <a:ext uri="{FF2B5EF4-FFF2-40B4-BE49-F238E27FC236}">
                <a16:creationId xmlns:a16="http://schemas.microsoft.com/office/drawing/2014/main" id="{70CCCD43-E2C8-4475-B7AC-985605111E3B}"/>
              </a:ext>
            </a:extLst>
          </p:cNvPr>
          <p:cNvGrpSpPr/>
          <p:nvPr/>
        </p:nvGrpSpPr>
        <p:grpSpPr>
          <a:xfrm>
            <a:off x="159196" y="2090051"/>
            <a:ext cx="2340000" cy="1321200"/>
            <a:chOff x="151863" y="2084210"/>
            <a:chExt cx="3735245" cy="2027105"/>
          </a:xfrm>
        </p:grpSpPr>
        <p:pic>
          <p:nvPicPr>
            <p:cNvPr id="81" name="Picture 80">
              <a:extLst>
                <a:ext uri="{FF2B5EF4-FFF2-40B4-BE49-F238E27FC236}">
                  <a16:creationId xmlns:a16="http://schemas.microsoft.com/office/drawing/2014/main" id="{1F7EBDA6-5181-4B85-984A-6B5EEF35655F}"/>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t="15728" r="13608" b="9278"/>
            <a:stretch/>
          </p:blipFill>
          <p:spPr>
            <a:xfrm>
              <a:off x="169923" y="2084210"/>
              <a:ext cx="3699125" cy="1728031"/>
            </a:xfrm>
            <a:prstGeom prst="rect">
              <a:avLst/>
            </a:prstGeom>
          </p:spPr>
        </p:pic>
        <p:pic>
          <p:nvPicPr>
            <p:cNvPr id="102" name="Picture 101">
              <a:extLst>
                <a:ext uri="{FF2B5EF4-FFF2-40B4-BE49-F238E27FC236}">
                  <a16:creationId xmlns:a16="http://schemas.microsoft.com/office/drawing/2014/main" id="{472B5B2A-7AF0-481A-9348-20F0F45334F2}"/>
                </a:ext>
              </a:extLst>
            </p:cNvPr>
            <p:cNvPicPr>
              <a:picLocks noChangeAspect="1"/>
            </p:cNvPicPr>
            <p:nvPr/>
          </p:nvPicPr>
          <p:blipFill rotWithShape="1">
            <a:blip r:embed="rId4"/>
            <a:srcRect t="6181"/>
            <a:stretch/>
          </p:blipFill>
          <p:spPr>
            <a:xfrm>
              <a:off x="151863" y="3812241"/>
              <a:ext cx="3735245" cy="299074"/>
            </a:xfrm>
            <a:prstGeom prst="rect">
              <a:avLst/>
            </a:prstGeom>
          </p:spPr>
        </p:pic>
      </p:grpSp>
      <p:sp>
        <p:nvSpPr>
          <p:cNvPr id="68" name="AutoShape 58">
            <a:extLst>
              <a:ext uri="{FF2B5EF4-FFF2-40B4-BE49-F238E27FC236}">
                <a16:creationId xmlns:a16="http://schemas.microsoft.com/office/drawing/2014/main" id="{8439CF7A-E4A4-48F9-BB8E-8C6D35963389}"/>
              </a:ext>
            </a:extLst>
          </p:cNvPr>
          <p:cNvSpPr>
            <a:spLocks noChangeArrowheads="1"/>
          </p:cNvSpPr>
          <p:nvPr/>
        </p:nvSpPr>
        <p:spPr bwMode="auto">
          <a:xfrm>
            <a:off x="7078109" y="166585"/>
            <a:ext cx="747712"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Measure </a:t>
            </a:r>
          </a:p>
        </p:txBody>
      </p:sp>
      <p:sp>
        <p:nvSpPr>
          <p:cNvPr id="70" name="AutoShape 57">
            <a:extLst>
              <a:ext uri="{FF2B5EF4-FFF2-40B4-BE49-F238E27FC236}">
                <a16:creationId xmlns:a16="http://schemas.microsoft.com/office/drawing/2014/main" id="{56AAA23E-69A7-4A40-B391-03F1B1B425D9}"/>
              </a:ext>
            </a:extLst>
          </p:cNvPr>
          <p:cNvSpPr>
            <a:spLocks noChangeArrowheads="1"/>
          </p:cNvSpPr>
          <p:nvPr/>
        </p:nvSpPr>
        <p:spPr bwMode="auto">
          <a:xfrm>
            <a:off x="7749621" y="22123"/>
            <a:ext cx="749300" cy="287337"/>
          </a:xfrm>
          <a:prstGeom prst="homePlate">
            <a:avLst>
              <a:gd name="adj" fmla="val 46698"/>
            </a:avLst>
          </a:prstGeom>
          <a:gradFill rotWithShape="1">
            <a:gsLst>
              <a:gs pos="0">
                <a:srgbClr val="494900"/>
              </a:gs>
              <a:gs pos="100000">
                <a:srgbClr val="808000"/>
              </a:gs>
            </a:gsLst>
            <a:lin ang="0" scaled="1"/>
          </a:gradFill>
          <a:ln w="6350" algn="ctr">
            <a:solidFill>
              <a:srgbClr val="808080"/>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latin typeface="Arial Narrow" panose="020B0606020202030204" pitchFamily="34" charset="0"/>
                <a:ea typeface="Arial" panose="020B0503020000020004" pitchFamily="50" charset="-127"/>
              </a:rPr>
              <a:t>Analyze</a:t>
            </a:r>
          </a:p>
        </p:txBody>
      </p:sp>
      <p:sp>
        <p:nvSpPr>
          <p:cNvPr id="63" name="제목 1">
            <a:extLst>
              <a:ext uri="{FF2B5EF4-FFF2-40B4-BE49-F238E27FC236}">
                <a16:creationId xmlns:a16="http://schemas.microsoft.com/office/drawing/2014/main" id="{88D77FF8-1554-4412-B6B1-066B61688658}"/>
              </a:ext>
            </a:extLst>
          </p:cNvPr>
          <p:cNvSpPr txBox="1">
            <a:spLocks/>
          </p:cNvSpPr>
          <p:nvPr/>
        </p:nvSpPr>
        <p:spPr>
          <a:xfrm>
            <a:off x="28800" y="64800"/>
            <a:ext cx="5940000" cy="396000"/>
          </a:xfrm>
          <a:prstGeom prst="rect">
            <a:avLst/>
          </a:prstGeom>
        </p:spPr>
        <p:txBody>
          <a:bodyPr vert="horz" lIns="91440" tIns="45720" rIns="91440" bIns="45720" rtlCol="0" anchor="ctr">
            <a:noAutofit/>
          </a:bodyPr>
          <a:lstStyle/>
          <a:p>
            <a:pPr eaLnBrk="1" latinLnBrk="0" hangingPunct="0">
              <a:defRPr/>
            </a:pPr>
            <a:r>
              <a:rPr lang="vi-VN" altLang="ko-KR" sz="1300" b="1" kern="0" dirty="0">
                <a:solidFill>
                  <a:srgbClr val="000000"/>
                </a:solidFill>
                <a:latin typeface="Arial" panose="020B0606020202030204" pitchFamily="34" charset="0"/>
                <a:ea typeface="LG Smart_H Regular" pitchFamily="34" charset="-127"/>
              </a:rPr>
              <a:t>3.1</a:t>
            </a:r>
            <a:r>
              <a:rPr lang="en-US" altLang="ko-KR" sz="1300" b="1" kern="0" dirty="0">
                <a:solidFill>
                  <a:srgbClr val="000000"/>
                </a:solidFill>
                <a:latin typeface="Arial" panose="020B0606020202030204" pitchFamily="34" charset="0"/>
                <a:ea typeface="LG Smart_H Regular" pitchFamily="34" charset="-127"/>
              </a:rPr>
              <a:t> Root cause of measurement system problem</a:t>
            </a:r>
            <a:endParaRPr lang="ko-KR" altLang="en-US" sz="1600" b="1" kern="0" dirty="0">
              <a:solidFill>
                <a:srgbClr val="000000"/>
              </a:solidFill>
              <a:latin typeface="Arial Narrow" panose="020B0606020202030204" pitchFamily="34" charset="0"/>
              <a:ea typeface="LG Smart_H Regular" pitchFamily="34" charset="-127"/>
            </a:endParaRPr>
          </a:p>
        </p:txBody>
      </p:sp>
      <p:pic>
        <p:nvPicPr>
          <p:cNvPr id="71" name="Picture 70">
            <a:extLst>
              <a:ext uri="{FF2B5EF4-FFF2-40B4-BE49-F238E27FC236}">
                <a16:creationId xmlns:a16="http://schemas.microsoft.com/office/drawing/2014/main" id="{BB59170F-BA1F-4852-BC1D-995D04CFD141}"/>
              </a:ext>
            </a:extLst>
          </p:cNvPr>
          <p:cNvPicPr>
            <a:picLocks/>
          </p:cNvPicPr>
          <p:nvPr/>
        </p:nvPicPr>
        <p:blipFill>
          <a:blip r:embed="rId5"/>
          <a:stretch>
            <a:fillRect/>
          </a:stretch>
        </p:blipFill>
        <p:spPr>
          <a:xfrm>
            <a:off x="5328000" y="1638000"/>
            <a:ext cx="1512000" cy="900000"/>
          </a:xfrm>
          <a:prstGeom prst="rect">
            <a:avLst/>
          </a:prstGeom>
        </p:spPr>
      </p:pic>
      <p:cxnSp>
        <p:nvCxnSpPr>
          <p:cNvPr id="74" name="Straight Connector 73">
            <a:extLst>
              <a:ext uri="{FF2B5EF4-FFF2-40B4-BE49-F238E27FC236}">
                <a16:creationId xmlns:a16="http://schemas.microsoft.com/office/drawing/2014/main" id="{CC4C4646-645C-4749-997E-6E7BC56E3BFC}"/>
              </a:ext>
            </a:extLst>
          </p:cNvPr>
          <p:cNvCxnSpPr/>
          <p:nvPr/>
        </p:nvCxnSpPr>
        <p:spPr>
          <a:xfrm>
            <a:off x="0" y="508838"/>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pic>
        <p:nvPicPr>
          <p:cNvPr id="6" name="Picture 5">
            <a:extLst>
              <a:ext uri="{FF2B5EF4-FFF2-40B4-BE49-F238E27FC236}">
                <a16:creationId xmlns:a16="http://schemas.microsoft.com/office/drawing/2014/main" id="{5B8976FD-D84B-4631-B28C-087AEA346DD6}"/>
              </a:ext>
            </a:extLst>
          </p:cNvPr>
          <p:cNvPicPr>
            <a:picLocks noChangeAspect="1"/>
          </p:cNvPicPr>
          <p:nvPr/>
        </p:nvPicPr>
        <p:blipFill>
          <a:blip r:embed="rId6"/>
          <a:stretch>
            <a:fillRect/>
          </a:stretch>
        </p:blipFill>
        <p:spPr>
          <a:xfrm>
            <a:off x="5364000" y="3024000"/>
            <a:ext cx="1368000" cy="900000"/>
          </a:xfrm>
          <a:prstGeom prst="rect">
            <a:avLst/>
          </a:prstGeom>
        </p:spPr>
      </p:pic>
      <p:sp>
        <p:nvSpPr>
          <p:cNvPr id="122" name="TextBox 121"/>
          <p:cNvSpPr txBox="1"/>
          <p:nvPr/>
        </p:nvSpPr>
        <p:spPr>
          <a:xfrm>
            <a:off x="5220000" y="2592000"/>
            <a:ext cx="1800000" cy="396000"/>
          </a:xfrm>
          <a:prstGeom prst="rect">
            <a:avLst/>
          </a:prstGeom>
          <a:noFill/>
        </p:spPr>
        <p:txBody>
          <a:bodyPr wrap="square">
            <a:noAutofit/>
          </a:bodyPr>
          <a:lstStyle/>
          <a:p>
            <a:pPr eaLnBrk="1" latinLnBrk="0"/>
            <a:r>
              <a:rPr sz="950" b="1">
                <a:latin typeface="Arial"/>
              </a:rPr>
              <a:t>2. Add check sheet to measure Master sample and verify Camera angle</a:t>
            </a:r>
          </a:p>
        </p:txBody>
      </p:sp>
      <p:sp>
        <p:nvSpPr>
          <p:cNvPr id="123" name="TextBox 122"/>
          <p:cNvSpPr txBox="1"/>
          <p:nvPr/>
        </p:nvSpPr>
        <p:spPr>
          <a:xfrm>
            <a:off x="5220000" y="3996000"/>
            <a:ext cx="1800000" cy="324000"/>
          </a:xfrm>
          <a:prstGeom prst="rect">
            <a:avLst/>
          </a:prstGeom>
          <a:noFill/>
        </p:spPr>
        <p:txBody>
          <a:bodyPr wrap="square">
            <a:noAutofit/>
          </a:bodyPr>
          <a:lstStyle/>
          <a:p>
            <a:pPr eaLnBrk="1" latinLnBrk="0"/>
            <a:r>
              <a:rPr sz="950" b="1">
                <a:latin typeface="Arial"/>
              </a:rPr>
              <a:t>3. Inform supplier (Heesung): LCD is not a cause (returned LCD OK at vendor), no process change needed</a:t>
            </a:r>
          </a:p>
        </p:txBody>
      </p:sp>
    </p:spTree>
    <p:extLst>
      <p:ext uri="{BB962C8B-B14F-4D97-AF65-F5344CB8AC3E}">
        <p14:creationId xmlns:p14="http://schemas.microsoft.com/office/powerpoint/2010/main" val="291441306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AutoShape 57">
            <a:extLst>
              <a:ext uri="{FF2B5EF4-FFF2-40B4-BE49-F238E27FC236}">
                <a16:creationId xmlns:a16="http://schemas.microsoft.com/office/drawing/2014/main" id="{070DE589-DDD5-47D1-A503-62ED9BC3ABFC}"/>
              </a:ext>
            </a:extLst>
          </p:cNvPr>
          <p:cNvSpPr>
            <a:spLocks noChangeArrowheads="1"/>
          </p:cNvSpPr>
          <p:nvPr/>
        </p:nvSpPr>
        <p:spPr bwMode="auto">
          <a:xfrm>
            <a:off x="7687914" y="178989"/>
            <a:ext cx="749300" cy="287338"/>
          </a:xfrm>
          <a:prstGeom prst="homePlate">
            <a:avLst>
              <a:gd name="adj" fmla="val 46698"/>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Analyze</a:t>
            </a:r>
          </a:p>
        </p:txBody>
      </p:sp>
      <p:sp>
        <p:nvSpPr>
          <p:cNvPr id="32" name="AutoShape 55">
            <a:extLst>
              <a:ext uri="{FF2B5EF4-FFF2-40B4-BE49-F238E27FC236}">
                <a16:creationId xmlns:a16="http://schemas.microsoft.com/office/drawing/2014/main" id="{192872DD-0F6D-41C2-83BA-E80AF9901EF4}"/>
              </a:ext>
            </a:extLst>
          </p:cNvPr>
          <p:cNvSpPr>
            <a:spLocks noChangeArrowheads="1"/>
          </p:cNvSpPr>
          <p:nvPr/>
        </p:nvSpPr>
        <p:spPr bwMode="auto">
          <a:xfrm>
            <a:off x="9069039" y="178989"/>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Control</a:t>
            </a:r>
          </a:p>
        </p:txBody>
      </p:sp>
      <p:sp>
        <p:nvSpPr>
          <p:cNvPr id="33" name="AutoShape 56">
            <a:extLst>
              <a:ext uri="{FF2B5EF4-FFF2-40B4-BE49-F238E27FC236}">
                <a16:creationId xmlns:a16="http://schemas.microsoft.com/office/drawing/2014/main" id="{23631B7D-C17E-41E8-9D6B-B9B3F68937B1}"/>
              </a:ext>
            </a:extLst>
          </p:cNvPr>
          <p:cNvSpPr>
            <a:spLocks noChangeArrowheads="1"/>
          </p:cNvSpPr>
          <p:nvPr/>
        </p:nvSpPr>
        <p:spPr bwMode="auto">
          <a:xfrm>
            <a:off x="7018783" y="178989"/>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Measure</a:t>
            </a:r>
          </a:p>
        </p:txBody>
      </p:sp>
      <p:sp>
        <p:nvSpPr>
          <p:cNvPr id="35" name="AutoShape 59">
            <a:extLst>
              <a:ext uri="{FF2B5EF4-FFF2-40B4-BE49-F238E27FC236}">
                <a16:creationId xmlns:a16="http://schemas.microsoft.com/office/drawing/2014/main" id="{89F6BFB0-96B2-4FA3-ABFE-85257141B92E}"/>
              </a:ext>
            </a:extLst>
          </p:cNvPr>
          <p:cNvSpPr>
            <a:spLocks noChangeArrowheads="1"/>
          </p:cNvSpPr>
          <p:nvPr/>
        </p:nvSpPr>
        <p:spPr bwMode="auto">
          <a:xfrm>
            <a:off x="6319489" y="178989"/>
            <a:ext cx="757238" cy="287338"/>
          </a:xfrm>
          <a:prstGeom prst="homePlate">
            <a:avLst>
              <a:gd name="adj" fmla="val 47192"/>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Define</a:t>
            </a:r>
          </a:p>
        </p:txBody>
      </p:sp>
      <p:sp>
        <p:nvSpPr>
          <p:cNvPr id="36" name="AutoShape 58">
            <a:extLst>
              <a:ext uri="{FF2B5EF4-FFF2-40B4-BE49-F238E27FC236}">
                <a16:creationId xmlns:a16="http://schemas.microsoft.com/office/drawing/2014/main" id="{44574530-997A-46EB-A83C-40E10BC125A9}"/>
              </a:ext>
            </a:extLst>
          </p:cNvPr>
          <p:cNvSpPr>
            <a:spLocks noChangeArrowheads="1"/>
          </p:cNvSpPr>
          <p:nvPr/>
        </p:nvSpPr>
        <p:spPr bwMode="auto">
          <a:xfrm>
            <a:off x="8330852" y="51592"/>
            <a:ext cx="747712" cy="287337"/>
          </a:xfrm>
          <a:prstGeom prst="homePlate">
            <a:avLst>
              <a:gd name="adj" fmla="val 46599"/>
            </a:avLst>
          </a:prstGeom>
          <a:gradFill rotWithShape="1">
            <a:gsLst>
              <a:gs pos="0">
                <a:srgbClr val="494900"/>
              </a:gs>
              <a:gs pos="100000">
                <a:srgbClr val="808000"/>
              </a:gs>
            </a:gsLst>
            <a:lin ang="0" scaled="1"/>
          </a:gradFill>
          <a:ln w="6350" algn="ctr">
            <a:solidFill>
              <a:srgbClr val="808080"/>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latin typeface="Arial Narrow" panose="020B0606020202030204" pitchFamily="34" charset="0"/>
                <a:ea typeface="Arial" panose="020B0503020000020004" pitchFamily="50" charset="-127"/>
              </a:rPr>
              <a:t>Improve</a:t>
            </a:r>
          </a:p>
        </p:txBody>
      </p:sp>
      <p:pic>
        <p:nvPicPr>
          <p:cNvPr id="14" name="Picture 13">
            <a:extLst>
              <a:ext uri="{FF2B5EF4-FFF2-40B4-BE49-F238E27FC236}">
                <a16:creationId xmlns:a16="http://schemas.microsoft.com/office/drawing/2014/main" id="{5B082D17-34B4-449C-8443-54621443924F}"/>
              </a:ext>
            </a:extLst>
          </p:cNvPr>
          <p:cNvPicPr>
            <a:picLocks/>
          </p:cNvPicPr>
          <p:nvPr/>
        </p:nvPicPr>
        <p:blipFill>
          <a:blip r:embed="rId2"/>
          <a:stretch>
            <a:fillRect/>
          </a:stretch>
        </p:blipFill>
        <p:spPr>
          <a:xfrm>
            <a:off x="5685274" y="3598209"/>
            <a:ext cx="1972979" cy="1320070"/>
          </a:xfrm>
          <a:prstGeom prst="rect">
            <a:avLst/>
          </a:prstGeom>
        </p:spPr>
      </p:pic>
      <p:sp>
        <p:nvSpPr>
          <p:cNvPr id="16" name="TextBox 15">
            <a:extLst>
              <a:ext uri="{FF2B5EF4-FFF2-40B4-BE49-F238E27FC236}">
                <a16:creationId xmlns:a16="http://schemas.microsoft.com/office/drawing/2014/main" id="{D43ED96F-C0E0-4D2F-95EC-E23F350DE80A}"/>
              </a:ext>
            </a:extLst>
          </p:cNvPr>
          <p:cNvSpPr txBox="1"/>
          <p:nvPr/>
        </p:nvSpPr>
        <p:spPr>
          <a:xfrm>
            <a:off x="173009" y="1007491"/>
            <a:ext cx="4611181" cy="461665"/>
          </a:xfrm>
          <a:prstGeom prst="rect">
            <a:avLst/>
          </a:prstGeom>
          <a:noFill/>
        </p:spPr>
        <p:txBody>
          <a:bodyPr wrap="square" rtlCol="0">
            <a:spAutoFit/>
          </a:bodyPr>
          <a:lstStyle/>
          <a:p>
            <a:pPr algn="ctr" eaLnBrk="1" latinLnBrk="0"/>
            <a:r>
              <a:rPr lang="en-US" sz="1000" dirty="0">
                <a:latin typeface="Arial" panose="020B0606020202030204" pitchFamily="34" charset="0"/>
                <a:sym typeface="Wingdings" panose="05000000000000000000" pitchFamily="2" charset="2"/>
              </a:rPr>
              <a:t>Before measurement</a:t>
            </a:r>
            <a:br>
              <a:rPr lang="en-US" sz="1200" dirty="0">
                <a:latin typeface="Arial Narrow" panose="020B0606020202030204" pitchFamily="34" charset="0"/>
                <a:sym typeface="Wingdings" panose="05000000000000000000" pitchFamily="2" charset="2"/>
              </a:rPr>
            </a:br>
            <a:r>
              <a:rPr lang="en-US" sz="1000" dirty="0">
                <a:solidFill>
                  <a:srgbClr val="FF0000"/>
                </a:solidFill>
                <a:latin typeface="Arial" panose="020B0606020202030204" pitchFamily="34" charset="0"/>
                <a:sym typeface="Wingdings" panose="05000000000000000000" pitchFamily="2" charset="2"/>
              </a:rPr>
              <a:t> </a:t>
            </a:r>
            <a:r>
              <a:rPr lang="en-US" sz="1000" dirty="0">
                <a:latin typeface="Arial" panose="020B0606020202030204" pitchFamily="34" charset="0"/>
                <a:sym typeface="Wingdings" panose="05000000000000000000" pitchFamily="2" charset="2"/>
              </a:rPr>
              <a:t>XZ: 89.075</a:t>
            </a:r>
            <a:r>
              <a:rPr lang="en-US" sz="1000" dirty="0">
                <a:latin typeface="Arial" panose="020B0604020202020204" pitchFamily="34" charset="0"/>
              </a:rPr>
              <a:t>º</a:t>
            </a:r>
            <a:r>
              <a:rPr lang="en-US" sz="1000" dirty="0">
                <a:latin typeface="Arial" panose="020B0606020202030204" pitchFamily="34" charset="0"/>
                <a:sym typeface="Wingdings" panose="05000000000000000000" pitchFamily="2" charset="2"/>
              </a:rPr>
              <a:t> ; YZ: 88.806</a:t>
            </a:r>
            <a:r>
              <a:rPr lang="en-US" sz="1000" dirty="0">
                <a:latin typeface="Arial" panose="020B0604020202020204" pitchFamily="34" charset="0"/>
              </a:rPr>
              <a:t>º</a:t>
            </a:r>
            <a:r>
              <a:rPr lang="en-US" sz="1000" dirty="0">
                <a:latin typeface="Arial" panose="020B0606020202030204" pitchFamily="34" charset="0"/>
                <a:sym typeface="Wingdings" panose="05000000000000000000" pitchFamily="2" charset="2"/>
              </a:rPr>
              <a:t> </a:t>
            </a:r>
          </a:p>
        </p:txBody>
      </p:sp>
      <p:sp>
        <p:nvSpPr>
          <p:cNvPr id="17" name="TextBox 16">
            <a:extLst>
              <a:ext uri="{FF2B5EF4-FFF2-40B4-BE49-F238E27FC236}">
                <a16:creationId xmlns:a16="http://schemas.microsoft.com/office/drawing/2014/main" id="{295D5869-11BE-479D-9E74-3B8C469DF7D2}"/>
              </a:ext>
            </a:extLst>
          </p:cNvPr>
          <p:cNvSpPr txBox="1"/>
          <p:nvPr/>
        </p:nvSpPr>
        <p:spPr>
          <a:xfrm>
            <a:off x="5194180" y="1077373"/>
            <a:ext cx="4606791" cy="461665"/>
          </a:xfrm>
          <a:prstGeom prst="rect">
            <a:avLst/>
          </a:prstGeom>
          <a:noFill/>
        </p:spPr>
        <p:txBody>
          <a:bodyPr wrap="square" rtlCol="0">
            <a:spAutoFit/>
          </a:bodyPr>
          <a:lstStyle/>
          <a:p>
            <a:pPr algn="ctr" eaLnBrk="1" latinLnBrk="0"/>
            <a:r>
              <a:rPr lang="en-US" sz="1000" dirty="0">
                <a:latin typeface="Arial" panose="020B0606020202030204" pitchFamily="34" charset="0"/>
                <a:sym typeface="Wingdings" panose="05000000000000000000" pitchFamily="2" charset="2"/>
              </a:rPr>
              <a:t>After measurement </a:t>
            </a:r>
          </a:p>
          <a:p>
            <a:pPr algn="ctr" eaLnBrk="1" latinLnBrk="0"/>
            <a:r>
              <a:rPr lang="en-US" sz="1000" dirty="0">
                <a:latin typeface="Arial" panose="020B0606020202030204" pitchFamily="34" charset="0"/>
                <a:sym typeface="Wingdings" panose="05000000000000000000" pitchFamily="2" charset="2"/>
              </a:rPr>
              <a:t> XZ: 89.889</a:t>
            </a:r>
            <a:r>
              <a:rPr lang="en-US" sz="1000" dirty="0">
                <a:latin typeface="Arial" panose="020B0604020202020204" pitchFamily="34" charset="0"/>
              </a:rPr>
              <a:t>º</a:t>
            </a:r>
            <a:r>
              <a:rPr lang="en-US" sz="1000" dirty="0">
                <a:latin typeface="Arial" panose="020B0606020202030204" pitchFamily="34" charset="0"/>
                <a:sym typeface="Wingdings" panose="05000000000000000000" pitchFamily="2" charset="2"/>
              </a:rPr>
              <a:t> ; YZ: 89.889</a:t>
            </a:r>
            <a:r>
              <a:rPr lang="en-US" sz="1000" dirty="0">
                <a:latin typeface="Arial" panose="020B0604020202020204" pitchFamily="34" charset="0"/>
              </a:rPr>
              <a:t>º</a:t>
            </a:r>
            <a:r>
              <a:rPr lang="en-US" sz="1000" dirty="0">
                <a:latin typeface="Arial" panose="020B0606020202030204" pitchFamily="34" charset="0"/>
                <a:sym typeface="Wingdings" panose="05000000000000000000" pitchFamily="2" charset="2"/>
              </a:rPr>
              <a:t> </a:t>
            </a:r>
          </a:p>
        </p:txBody>
      </p:sp>
      <p:grpSp>
        <p:nvGrpSpPr>
          <p:cNvPr id="18" name="Group 17">
            <a:extLst>
              <a:ext uri="{FF2B5EF4-FFF2-40B4-BE49-F238E27FC236}">
                <a16:creationId xmlns:a16="http://schemas.microsoft.com/office/drawing/2014/main" id="{FFDFEB6B-6C38-4E13-8FF2-58968AF811CE}"/>
              </a:ext>
            </a:extLst>
          </p:cNvPr>
          <p:cNvGrpSpPr/>
          <p:nvPr/>
        </p:nvGrpSpPr>
        <p:grpSpPr>
          <a:xfrm>
            <a:off x="5483506" y="1633963"/>
            <a:ext cx="3081098" cy="1555753"/>
            <a:chOff x="5019235" y="2239786"/>
            <a:chExt cx="1856981" cy="1207008"/>
          </a:xfrm>
        </p:grpSpPr>
        <p:pic>
          <p:nvPicPr>
            <p:cNvPr id="19" name="Picture 18">
              <a:extLst>
                <a:ext uri="{FF2B5EF4-FFF2-40B4-BE49-F238E27FC236}">
                  <a16:creationId xmlns:a16="http://schemas.microsoft.com/office/drawing/2014/main" id="{E8E1BD45-198B-47D2-BCE1-A451860F970D}"/>
                </a:ext>
              </a:extLst>
            </p:cNvPr>
            <p:cNvPicPr>
              <a:picLocks/>
            </p:cNvPicPr>
            <p:nvPr/>
          </p:nvPicPr>
          <p:blipFill>
            <a:blip r:embed="rId3"/>
            <a:stretch>
              <a:fillRect/>
            </a:stretch>
          </p:blipFill>
          <p:spPr>
            <a:xfrm>
              <a:off x="5130063" y="2239786"/>
              <a:ext cx="1634235" cy="1207008"/>
            </a:xfrm>
            <a:prstGeom prst="rect">
              <a:avLst/>
            </a:prstGeom>
          </p:spPr>
        </p:pic>
        <p:sp>
          <p:nvSpPr>
            <p:cNvPr id="21" name="TextBox 20">
              <a:extLst>
                <a:ext uri="{FF2B5EF4-FFF2-40B4-BE49-F238E27FC236}">
                  <a16:creationId xmlns:a16="http://schemas.microsoft.com/office/drawing/2014/main" id="{3EC54F66-68DD-4487-AA96-B48B87AFD744}"/>
                </a:ext>
              </a:extLst>
            </p:cNvPr>
            <p:cNvSpPr txBox="1"/>
            <p:nvPr/>
          </p:nvSpPr>
          <p:spPr>
            <a:xfrm>
              <a:off x="6343865" y="2614650"/>
              <a:ext cx="532351" cy="202966"/>
            </a:xfrm>
            <a:prstGeom prst="rect">
              <a:avLst/>
            </a:prstGeom>
            <a:noFill/>
          </p:spPr>
          <p:txBody>
            <a:bodyPr wrap="square" rtlCol="0">
              <a:spAutoFit/>
            </a:bodyPr>
            <a:lstStyle/>
            <a:p>
              <a:pPr algn="ctr"/>
              <a:r>
                <a:rPr lang="en-US" sz="1100" dirty="0">
                  <a:latin typeface="Arial Narrow" panose="020B0606020202030204" pitchFamily="34" charset="0"/>
                </a:rPr>
                <a:t>CID</a:t>
              </a:r>
            </a:p>
          </p:txBody>
        </p:sp>
        <p:sp>
          <p:nvSpPr>
            <p:cNvPr id="22" name="TextBox 21">
              <a:extLst>
                <a:ext uri="{FF2B5EF4-FFF2-40B4-BE49-F238E27FC236}">
                  <a16:creationId xmlns:a16="http://schemas.microsoft.com/office/drawing/2014/main" id="{FB6A216C-48E7-4F57-8343-10A50ACA411B}"/>
                </a:ext>
              </a:extLst>
            </p:cNvPr>
            <p:cNvSpPr txBox="1"/>
            <p:nvPr/>
          </p:nvSpPr>
          <p:spPr>
            <a:xfrm>
              <a:off x="5019235" y="2614650"/>
              <a:ext cx="532351" cy="202966"/>
            </a:xfrm>
            <a:prstGeom prst="rect">
              <a:avLst/>
            </a:prstGeom>
            <a:noFill/>
          </p:spPr>
          <p:txBody>
            <a:bodyPr wrap="square" rtlCol="0">
              <a:spAutoFit/>
            </a:bodyPr>
            <a:lstStyle/>
            <a:p>
              <a:pPr algn="ctr"/>
              <a:r>
                <a:rPr lang="en-US" sz="1100" dirty="0">
                  <a:latin typeface="Arial Narrow" panose="020B0606020202030204" pitchFamily="34" charset="0"/>
                </a:rPr>
                <a:t>PID</a:t>
              </a:r>
            </a:p>
          </p:txBody>
        </p:sp>
      </p:grpSp>
      <p:grpSp>
        <p:nvGrpSpPr>
          <p:cNvPr id="23" name="Group 22">
            <a:extLst>
              <a:ext uri="{FF2B5EF4-FFF2-40B4-BE49-F238E27FC236}">
                <a16:creationId xmlns:a16="http://schemas.microsoft.com/office/drawing/2014/main" id="{055BAE43-8118-4D06-8250-847B5596110A}"/>
              </a:ext>
            </a:extLst>
          </p:cNvPr>
          <p:cNvGrpSpPr/>
          <p:nvPr/>
        </p:nvGrpSpPr>
        <p:grpSpPr>
          <a:xfrm>
            <a:off x="7853491" y="3724867"/>
            <a:ext cx="1540078" cy="1219751"/>
            <a:chOff x="8468343" y="2246708"/>
            <a:chExt cx="1313079" cy="1200086"/>
          </a:xfrm>
        </p:grpSpPr>
        <p:pic>
          <p:nvPicPr>
            <p:cNvPr id="24" name="Picture 23">
              <a:extLst>
                <a:ext uri="{FF2B5EF4-FFF2-40B4-BE49-F238E27FC236}">
                  <a16:creationId xmlns:a16="http://schemas.microsoft.com/office/drawing/2014/main" id="{12373177-7176-4DE4-9D57-B26FE528CFB2}"/>
                </a:ext>
              </a:extLst>
            </p:cNvPr>
            <p:cNvPicPr>
              <a:picLocks noChangeAspect="1"/>
            </p:cNvPicPr>
            <p:nvPr/>
          </p:nvPicPr>
          <p:blipFill>
            <a:blip r:embed="rId4"/>
            <a:stretch>
              <a:fillRect/>
            </a:stretch>
          </p:blipFill>
          <p:spPr>
            <a:xfrm>
              <a:off x="8500201" y="2246708"/>
              <a:ext cx="1236653" cy="1200086"/>
            </a:xfrm>
            <a:prstGeom prst="rect">
              <a:avLst/>
            </a:prstGeom>
          </p:spPr>
        </p:pic>
        <p:sp>
          <p:nvSpPr>
            <p:cNvPr id="25" name="TextBox 24">
              <a:extLst>
                <a:ext uri="{FF2B5EF4-FFF2-40B4-BE49-F238E27FC236}">
                  <a16:creationId xmlns:a16="http://schemas.microsoft.com/office/drawing/2014/main" id="{185A6C82-02E0-42B6-8729-7702DD4F2023}"/>
                </a:ext>
              </a:extLst>
            </p:cNvPr>
            <p:cNvSpPr txBox="1"/>
            <p:nvPr/>
          </p:nvSpPr>
          <p:spPr>
            <a:xfrm>
              <a:off x="9199140" y="3082704"/>
              <a:ext cx="256802" cy="276999"/>
            </a:xfrm>
            <a:prstGeom prst="rect">
              <a:avLst/>
            </a:prstGeom>
            <a:noFill/>
          </p:spPr>
          <p:txBody>
            <a:bodyPr wrap="none" rtlCol="0">
              <a:spAutoFit/>
            </a:bodyPr>
            <a:lstStyle/>
            <a:p>
              <a:r>
                <a:rPr lang="en-US" sz="1200"/>
                <a:t>Z</a:t>
              </a:r>
            </a:p>
          </p:txBody>
        </p:sp>
        <p:sp>
          <p:nvSpPr>
            <p:cNvPr id="26" name="TextBox 25">
              <a:extLst>
                <a:ext uri="{FF2B5EF4-FFF2-40B4-BE49-F238E27FC236}">
                  <a16:creationId xmlns:a16="http://schemas.microsoft.com/office/drawing/2014/main" id="{4C3EED04-DFC9-4D87-A6E4-ED4C59855162}"/>
                </a:ext>
              </a:extLst>
            </p:cNvPr>
            <p:cNvSpPr txBox="1"/>
            <p:nvPr/>
          </p:nvSpPr>
          <p:spPr>
            <a:xfrm>
              <a:off x="9516606" y="2807458"/>
              <a:ext cx="264816" cy="276999"/>
            </a:xfrm>
            <a:prstGeom prst="rect">
              <a:avLst/>
            </a:prstGeom>
            <a:noFill/>
          </p:spPr>
          <p:txBody>
            <a:bodyPr wrap="none" rtlCol="0">
              <a:spAutoFit/>
            </a:bodyPr>
            <a:lstStyle/>
            <a:p>
              <a:r>
                <a:rPr lang="en-US" sz="1200"/>
                <a:t>X</a:t>
              </a:r>
            </a:p>
          </p:txBody>
        </p:sp>
        <p:sp>
          <p:nvSpPr>
            <p:cNvPr id="27" name="TextBox 26">
              <a:extLst>
                <a:ext uri="{FF2B5EF4-FFF2-40B4-BE49-F238E27FC236}">
                  <a16:creationId xmlns:a16="http://schemas.microsoft.com/office/drawing/2014/main" id="{96DBFDFA-1BE8-4248-8725-ED73D8793DC1}"/>
                </a:ext>
              </a:extLst>
            </p:cNvPr>
            <p:cNvSpPr txBox="1"/>
            <p:nvPr/>
          </p:nvSpPr>
          <p:spPr>
            <a:xfrm>
              <a:off x="8468343" y="2773834"/>
              <a:ext cx="264816" cy="276999"/>
            </a:xfrm>
            <a:prstGeom prst="rect">
              <a:avLst/>
            </a:prstGeom>
            <a:noFill/>
          </p:spPr>
          <p:txBody>
            <a:bodyPr wrap="none" rtlCol="0">
              <a:spAutoFit/>
            </a:bodyPr>
            <a:lstStyle/>
            <a:p>
              <a:r>
                <a:rPr lang="en-US" sz="1200"/>
                <a:t>Y</a:t>
              </a:r>
            </a:p>
          </p:txBody>
        </p:sp>
      </p:grpSp>
      <p:sp>
        <p:nvSpPr>
          <p:cNvPr id="28" name="Rectangular Callout 58">
            <a:extLst>
              <a:ext uri="{FF2B5EF4-FFF2-40B4-BE49-F238E27FC236}">
                <a16:creationId xmlns:a16="http://schemas.microsoft.com/office/drawing/2014/main" id="{7BB701AD-2FCE-4A96-942A-E2D723992B75}"/>
              </a:ext>
            </a:extLst>
          </p:cNvPr>
          <p:cNvSpPr/>
          <p:nvPr/>
        </p:nvSpPr>
        <p:spPr>
          <a:xfrm>
            <a:off x="7743717" y="3478021"/>
            <a:ext cx="1540078" cy="1453639"/>
          </a:xfrm>
          <a:prstGeom prst="wedgeRectCallout">
            <a:avLst>
              <a:gd name="adj1" fmla="val -108972"/>
              <a:gd name="adj2" fmla="val 2086"/>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latinLnBrk="0"/>
            <a:endParaRPr lang="en-US"/>
          </a:p>
        </p:txBody>
      </p:sp>
      <p:grpSp>
        <p:nvGrpSpPr>
          <p:cNvPr id="29" name="Group 28">
            <a:extLst>
              <a:ext uri="{FF2B5EF4-FFF2-40B4-BE49-F238E27FC236}">
                <a16:creationId xmlns:a16="http://schemas.microsoft.com/office/drawing/2014/main" id="{511C2AAA-739A-4938-AF5C-0A55CBA5F2ED}"/>
              </a:ext>
            </a:extLst>
          </p:cNvPr>
          <p:cNvGrpSpPr/>
          <p:nvPr/>
        </p:nvGrpSpPr>
        <p:grpSpPr>
          <a:xfrm>
            <a:off x="77425" y="1485896"/>
            <a:ext cx="3247628" cy="1987179"/>
            <a:chOff x="125050" y="2038370"/>
            <a:chExt cx="1856981" cy="1207008"/>
          </a:xfrm>
        </p:grpSpPr>
        <p:pic>
          <p:nvPicPr>
            <p:cNvPr id="30" name="Picture 29">
              <a:extLst>
                <a:ext uri="{FF2B5EF4-FFF2-40B4-BE49-F238E27FC236}">
                  <a16:creationId xmlns:a16="http://schemas.microsoft.com/office/drawing/2014/main" id="{C4950509-DC7B-4818-A7D7-E807C7E0A5DC}"/>
                </a:ext>
              </a:extLst>
            </p:cNvPr>
            <p:cNvPicPr>
              <a:picLocks/>
            </p:cNvPicPr>
            <p:nvPr/>
          </p:nvPicPr>
          <p:blipFill>
            <a:blip r:embed="rId5"/>
            <a:stretch>
              <a:fillRect/>
            </a:stretch>
          </p:blipFill>
          <p:spPr>
            <a:xfrm>
              <a:off x="228439" y="2038370"/>
              <a:ext cx="1636776" cy="1207008"/>
            </a:xfrm>
            <a:prstGeom prst="rect">
              <a:avLst/>
            </a:prstGeom>
          </p:spPr>
        </p:pic>
        <p:sp>
          <p:nvSpPr>
            <p:cNvPr id="31" name="TextBox 30">
              <a:extLst>
                <a:ext uri="{FF2B5EF4-FFF2-40B4-BE49-F238E27FC236}">
                  <a16:creationId xmlns:a16="http://schemas.microsoft.com/office/drawing/2014/main" id="{31F06AF7-217B-44D6-945D-FFBFA7CB8934}"/>
                </a:ext>
              </a:extLst>
            </p:cNvPr>
            <p:cNvSpPr txBox="1"/>
            <p:nvPr/>
          </p:nvSpPr>
          <p:spPr>
            <a:xfrm>
              <a:off x="1449680" y="2458026"/>
              <a:ext cx="532351" cy="158901"/>
            </a:xfrm>
            <a:prstGeom prst="rect">
              <a:avLst/>
            </a:prstGeom>
            <a:noFill/>
          </p:spPr>
          <p:txBody>
            <a:bodyPr wrap="square" rtlCol="0">
              <a:spAutoFit/>
            </a:bodyPr>
            <a:lstStyle/>
            <a:p>
              <a:pPr algn="ctr"/>
              <a:r>
                <a:rPr lang="en-US" sz="1100" dirty="0">
                  <a:latin typeface="Arial Narrow" panose="020B0606020202030204" pitchFamily="34" charset="0"/>
                </a:rPr>
                <a:t>CID</a:t>
              </a:r>
            </a:p>
          </p:txBody>
        </p:sp>
        <p:sp>
          <p:nvSpPr>
            <p:cNvPr id="39" name="TextBox 38">
              <a:extLst>
                <a:ext uri="{FF2B5EF4-FFF2-40B4-BE49-F238E27FC236}">
                  <a16:creationId xmlns:a16="http://schemas.microsoft.com/office/drawing/2014/main" id="{EED274E5-CC64-4277-B9DB-F4375B0150CC}"/>
                </a:ext>
              </a:extLst>
            </p:cNvPr>
            <p:cNvSpPr txBox="1"/>
            <p:nvPr/>
          </p:nvSpPr>
          <p:spPr>
            <a:xfrm>
              <a:off x="125050" y="2458026"/>
              <a:ext cx="532351" cy="158901"/>
            </a:xfrm>
            <a:prstGeom prst="rect">
              <a:avLst/>
            </a:prstGeom>
            <a:noFill/>
          </p:spPr>
          <p:txBody>
            <a:bodyPr wrap="square" rtlCol="0">
              <a:spAutoFit/>
            </a:bodyPr>
            <a:lstStyle/>
            <a:p>
              <a:pPr algn="ctr"/>
              <a:r>
                <a:rPr lang="en-US" sz="1100" dirty="0">
                  <a:latin typeface="Arial Narrow" panose="020B0606020202030204" pitchFamily="34" charset="0"/>
                </a:rPr>
                <a:t>PID</a:t>
              </a:r>
            </a:p>
          </p:txBody>
        </p:sp>
      </p:grpSp>
      <p:pic>
        <p:nvPicPr>
          <p:cNvPr id="40" name="Picture 39">
            <a:extLst>
              <a:ext uri="{FF2B5EF4-FFF2-40B4-BE49-F238E27FC236}">
                <a16:creationId xmlns:a16="http://schemas.microsoft.com/office/drawing/2014/main" id="{44305FBD-0C39-44B7-B79B-29D3AAE06EE3}"/>
              </a:ext>
            </a:extLst>
          </p:cNvPr>
          <p:cNvPicPr>
            <a:picLocks/>
          </p:cNvPicPr>
          <p:nvPr/>
        </p:nvPicPr>
        <p:blipFill>
          <a:blip r:embed="rId6"/>
          <a:stretch>
            <a:fillRect/>
          </a:stretch>
        </p:blipFill>
        <p:spPr>
          <a:xfrm>
            <a:off x="323313" y="3560167"/>
            <a:ext cx="2171589" cy="1364786"/>
          </a:xfrm>
          <a:prstGeom prst="rect">
            <a:avLst/>
          </a:prstGeom>
        </p:spPr>
      </p:pic>
      <p:sp>
        <p:nvSpPr>
          <p:cNvPr id="41" name="Rectangular Callout 69">
            <a:extLst>
              <a:ext uri="{FF2B5EF4-FFF2-40B4-BE49-F238E27FC236}">
                <a16:creationId xmlns:a16="http://schemas.microsoft.com/office/drawing/2014/main" id="{53971F0F-89D2-4566-976C-0BD679EE98A1}"/>
              </a:ext>
            </a:extLst>
          </p:cNvPr>
          <p:cNvSpPr/>
          <p:nvPr/>
        </p:nvSpPr>
        <p:spPr>
          <a:xfrm>
            <a:off x="2494902" y="3579832"/>
            <a:ext cx="1637790" cy="1364786"/>
          </a:xfrm>
          <a:prstGeom prst="wedgeRectCallout">
            <a:avLst>
              <a:gd name="adj1" fmla="val -108503"/>
              <a:gd name="adj2" fmla="val 4963"/>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latinLnBrk="0"/>
            <a:endParaRPr lang="en-US"/>
          </a:p>
        </p:txBody>
      </p:sp>
      <p:grpSp>
        <p:nvGrpSpPr>
          <p:cNvPr id="42" name="Group 41">
            <a:extLst>
              <a:ext uri="{FF2B5EF4-FFF2-40B4-BE49-F238E27FC236}">
                <a16:creationId xmlns:a16="http://schemas.microsoft.com/office/drawing/2014/main" id="{BF5A8FAC-056C-4EAD-BC06-72A7BCE984E4}"/>
              </a:ext>
            </a:extLst>
          </p:cNvPr>
          <p:cNvGrpSpPr/>
          <p:nvPr/>
        </p:nvGrpSpPr>
        <p:grpSpPr>
          <a:xfrm>
            <a:off x="2462031" y="3583156"/>
            <a:ext cx="1750686" cy="1354447"/>
            <a:chOff x="3566770" y="2034773"/>
            <a:chExt cx="1319532" cy="1197864"/>
          </a:xfrm>
        </p:grpSpPr>
        <p:pic>
          <p:nvPicPr>
            <p:cNvPr id="43" name="Picture 42">
              <a:extLst>
                <a:ext uri="{FF2B5EF4-FFF2-40B4-BE49-F238E27FC236}">
                  <a16:creationId xmlns:a16="http://schemas.microsoft.com/office/drawing/2014/main" id="{1BC10210-DD2E-45B5-A344-F6E8B945F174}"/>
                </a:ext>
              </a:extLst>
            </p:cNvPr>
            <p:cNvPicPr>
              <a:picLocks/>
            </p:cNvPicPr>
            <p:nvPr/>
          </p:nvPicPr>
          <p:blipFill>
            <a:blip r:embed="rId7"/>
            <a:stretch>
              <a:fillRect/>
            </a:stretch>
          </p:blipFill>
          <p:spPr>
            <a:xfrm>
              <a:off x="3598747" y="2034773"/>
              <a:ext cx="1234440" cy="1197864"/>
            </a:xfrm>
            <a:prstGeom prst="rect">
              <a:avLst/>
            </a:prstGeom>
          </p:spPr>
        </p:pic>
        <p:sp>
          <p:nvSpPr>
            <p:cNvPr id="44" name="TextBox 43">
              <a:extLst>
                <a:ext uri="{FF2B5EF4-FFF2-40B4-BE49-F238E27FC236}">
                  <a16:creationId xmlns:a16="http://schemas.microsoft.com/office/drawing/2014/main" id="{164C464D-B3C2-4407-BDB6-0DA3DB59F201}"/>
                </a:ext>
              </a:extLst>
            </p:cNvPr>
            <p:cNvSpPr txBox="1"/>
            <p:nvPr/>
          </p:nvSpPr>
          <p:spPr>
            <a:xfrm>
              <a:off x="3923225" y="2662157"/>
              <a:ext cx="256802" cy="276999"/>
            </a:xfrm>
            <a:prstGeom prst="rect">
              <a:avLst/>
            </a:prstGeom>
            <a:noFill/>
          </p:spPr>
          <p:txBody>
            <a:bodyPr wrap="none" rtlCol="0">
              <a:spAutoFit/>
            </a:bodyPr>
            <a:lstStyle/>
            <a:p>
              <a:r>
                <a:rPr lang="en-US" sz="1200"/>
                <a:t>Z</a:t>
              </a:r>
            </a:p>
          </p:txBody>
        </p:sp>
        <p:sp>
          <p:nvSpPr>
            <p:cNvPr id="45" name="TextBox 44">
              <a:extLst>
                <a:ext uri="{FF2B5EF4-FFF2-40B4-BE49-F238E27FC236}">
                  <a16:creationId xmlns:a16="http://schemas.microsoft.com/office/drawing/2014/main" id="{F3045DC7-CFDA-41F6-A023-413FC7614317}"/>
                </a:ext>
              </a:extLst>
            </p:cNvPr>
            <p:cNvSpPr txBox="1"/>
            <p:nvPr/>
          </p:nvSpPr>
          <p:spPr>
            <a:xfrm>
              <a:off x="4621486" y="2385158"/>
              <a:ext cx="264816" cy="276999"/>
            </a:xfrm>
            <a:prstGeom prst="rect">
              <a:avLst/>
            </a:prstGeom>
            <a:noFill/>
          </p:spPr>
          <p:txBody>
            <a:bodyPr wrap="none" rtlCol="0">
              <a:spAutoFit/>
            </a:bodyPr>
            <a:lstStyle/>
            <a:p>
              <a:r>
                <a:rPr lang="en-US" sz="1200"/>
                <a:t>X</a:t>
              </a:r>
            </a:p>
          </p:txBody>
        </p:sp>
        <p:sp>
          <p:nvSpPr>
            <p:cNvPr id="46" name="TextBox 45">
              <a:extLst>
                <a:ext uri="{FF2B5EF4-FFF2-40B4-BE49-F238E27FC236}">
                  <a16:creationId xmlns:a16="http://schemas.microsoft.com/office/drawing/2014/main" id="{F28BCC1F-A169-4DA7-9F4E-D8DB22F9D13A}"/>
                </a:ext>
              </a:extLst>
            </p:cNvPr>
            <p:cNvSpPr txBox="1"/>
            <p:nvPr/>
          </p:nvSpPr>
          <p:spPr>
            <a:xfrm>
              <a:off x="3566770" y="2532540"/>
              <a:ext cx="264816" cy="276999"/>
            </a:xfrm>
            <a:prstGeom prst="rect">
              <a:avLst/>
            </a:prstGeom>
            <a:noFill/>
          </p:spPr>
          <p:txBody>
            <a:bodyPr wrap="none" rtlCol="0">
              <a:spAutoFit/>
            </a:bodyPr>
            <a:lstStyle/>
            <a:p>
              <a:r>
                <a:rPr lang="en-US" sz="1200"/>
                <a:t>Y</a:t>
              </a:r>
            </a:p>
          </p:txBody>
        </p:sp>
      </p:grpSp>
      <p:sp>
        <p:nvSpPr>
          <p:cNvPr id="38" name="Arrow: Pentagon 37">
            <a:extLst>
              <a:ext uri="{FF2B5EF4-FFF2-40B4-BE49-F238E27FC236}">
                <a16:creationId xmlns:a16="http://schemas.microsoft.com/office/drawing/2014/main" id="{A14AF0D6-0157-4A37-8465-7003C201F12B}"/>
              </a:ext>
            </a:extLst>
          </p:cNvPr>
          <p:cNvSpPr/>
          <p:nvPr/>
        </p:nvSpPr>
        <p:spPr>
          <a:xfrm>
            <a:off x="100067" y="997045"/>
            <a:ext cx="4991276" cy="4053093"/>
          </a:xfrm>
          <a:prstGeom prst="homePlate">
            <a:avLst>
              <a:gd name="adj" fmla="val 8496"/>
            </a:avLst>
          </a:prstGeom>
          <a:noFill/>
          <a:ln>
            <a:solidFill>
              <a:srgbClr val="FF5757"/>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latinLnBrk="0"/>
            <a:endParaRPr lang="en-US"/>
          </a:p>
        </p:txBody>
      </p:sp>
      <p:sp>
        <p:nvSpPr>
          <p:cNvPr id="48" name="Rectangle 47">
            <a:extLst>
              <a:ext uri="{FF2B5EF4-FFF2-40B4-BE49-F238E27FC236}">
                <a16:creationId xmlns:a16="http://schemas.microsoft.com/office/drawing/2014/main" id="{8A01F703-7AED-49D9-BA5F-ED2257D3FBA0}"/>
              </a:ext>
            </a:extLst>
          </p:cNvPr>
          <p:cNvSpPr/>
          <p:nvPr/>
        </p:nvSpPr>
        <p:spPr>
          <a:xfrm>
            <a:off x="5195367" y="990600"/>
            <a:ext cx="4453247" cy="4059538"/>
          </a:xfrm>
          <a:prstGeom prst="rect">
            <a:avLst/>
          </a:prstGeom>
          <a:no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latinLnBrk="0"/>
            <a:endParaRPr lang="en-US"/>
          </a:p>
        </p:txBody>
      </p:sp>
      <p:sp>
        <p:nvSpPr>
          <p:cNvPr id="49" name="TextBox 48">
            <a:extLst>
              <a:ext uri="{FF2B5EF4-FFF2-40B4-BE49-F238E27FC236}">
                <a16:creationId xmlns:a16="http://schemas.microsoft.com/office/drawing/2014/main" id="{5A4ADFE1-6D46-4FDB-B3C8-F8FE8E05C7E4}"/>
              </a:ext>
            </a:extLst>
          </p:cNvPr>
          <p:cNvSpPr txBox="1"/>
          <p:nvPr/>
        </p:nvSpPr>
        <p:spPr>
          <a:xfrm>
            <a:off x="63248" y="535377"/>
            <a:ext cx="2801520" cy="276999"/>
          </a:xfrm>
          <a:prstGeom prst="rect">
            <a:avLst/>
          </a:prstGeom>
          <a:noFill/>
        </p:spPr>
        <p:txBody>
          <a:bodyPr wrap="square" rtlCol="0">
            <a:spAutoFit/>
          </a:bodyPr>
          <a:lstStyle/>
          <a:p>
            <a:pPr marL="171450" indent="-171450" eaLnBrk="1" latinLnBrk="0">
              <a:buFont typeface="Wingdings" panose="05000000000000000000" pitchFamily="2" charset="2"/>
              <a:buChar char="q"/>
            </a:pPr>
            <a:r>
              <a:rPr lang="en-US" sz="1000" b="1" dirty="0">
                <a:latin typeface="Arial" panose="020B0600000101010101" pitchFamily="34" charset="-127"/>
                <a:ea typeface="Arial" panose="020B0600000101010101" pitchFamily="34" charset="-127"/>
                <a:cs typeface="Arial" panose="020B0604020202020204" pitchFamily="34" charset="0"/>
              </a:rPr>
              <a:t>Changing Camera angle</a:t>
            </a:r>
            <a:endParaRPr lang="en-US" sz="1200" b="1" dirty="0">
              <a:latin typeface="Arial" panose="020B0604020202020204" pitchFamily="34" charset="0"/>
              <a:ea typeface="Arial Unicode MS" panose="020B0604020202020204" pitchFamily="34" charset="-128"/>
              <a:cs typeface="Arial" panose="020B0604020202020204" pitchFamily="34" charset="0"/>
            </a:endParaRPr>
          </a:p>
        </p:txBody>
      </p:sp>
      <p:sp>
        <p:nvSpPr>
          <p:cNvPr id="50" name="TextBox 49">
            <a:extLst>
              <a:ext uri="{FF2B5EF4-FFF2-40B4-BE49-F238E27FC236}">
                <a16:creationId xmlns:a16="http://schemas.microsoft.com/office/drawing/2014/main" id="{9796D67F-121E-4991-B95F-AD4E2D8F1606}"/>
              </a:ext>
            </a:extLst>
          </p:cNvPr>
          <p:cNvSpPr txBox="1"/>
          <p:nvPr/>
        </p:nvSpPr>
        <p:spPr>
          <a:xfrm>
            <a:off x="87912" y="5250882"/>
            <a:ext cx="6160488" cy="577081"/>
          </a:xfrm>
          <a:prstGeom prst="rect">
            <a:avLst/>
          </a:prstGeom>
          <a:noFill/>
        </p:spPr>
        <p:txBody>
          <a:bodyPr wrap="square" rtlCol="0">
            <a:spAutoFit/>
          </a:bodyPr>
          <a:lstStyle/>
          <a:p>
            <a:pPr marL="171450" indent="-171450" algn="just" eaLnBrk="1" latinLnBrk="0">
              <a:spcBef>
                <a:spcPct val="20000"/>
              </a:spcBef>
              <a:buFont typeface="Wingdings" panose="05000000000000000000" pitchFamily="2" charset="2"/>
              <a:buChar char="Ø"/>
            </a:pPr>
            <a:r>
              <a:rPr sz="1000" b="0">
                <a:latin typeface="Arial"/>
              </a:rPr>
              <a:t>After adjusting the detector camera angle to the 90.0° target (measured 89.889°) and re-testing samples, no Luminance NG was observed in the re-test. Correcting CS2000 camera angle is confirmed as the effective solution.</a:t>
            </a:r>
            <a:endParaRPr lang="ko-KR" altLang="en-US" sz="1050" dirty="0">
              <a:solidFill>
                <a:prstClr val="black"/>
              </a:solidFill>
              <a:latin typeface="Arial" panose="020B0604020202020204" pitchFamily="34" charset="0"/>
              <a:ea typeface="LG Smart_H Regular" panose="020B0600000101010101" pitchFamily="34" charset="-127"/>
              <a:cs typeface="Arial" panose="020B0604020202020204" pitchFamily="34" charset="0"/>
            </a:endParaRPr>
          </a:p>
        </p:txBody>
      </p:sp>
      <p:pic>
        <p:nvPicPr>
          <p:cNvPr id="51" name="Picture 50">
            <a:extLst>
              <a:ext uri="{FF2B5EF4-FFF2-40B4-BE49-F238E27FC236}">
                <a16:creationId xmlns:a16="http://schemas.microsoft.com/office/drawing/2014/main" id="{DC490346-BFF1-42EE-9917-D7CC93E7D79D}"/>
              </a:ext>
            </a:extLst>
          </p:cNvPr>
          <p:cNvPicPr>
            <a:picLocks/>
          </p:cNvPicPr>
          <p:nvPr/>
        </p:nvPicPr>
        <p:blipFill>
          <a:blip r:embed="rId8"/>
          <a:stretch>
            <a:fillRect/>
          </a:stretch>
        </p:blipFill>
        <p:spPr>
          <a:xfrm>
            <a:off x="6654452" y="5267813"/>
            <a:ext cx="2267434" cy="1163112"/>
          </a:xfrm>
          <a:prstGeom prst="rect">
            <a:avLst/>
          </a:prstGeom>
        </p:spPr>
      </p:pic>
      <p:sp>
        <p:nvSpPr>
          <p:cNvPr id="52" name="제목 1">
            <a:extLst>
              <a:ext uri="{FF2B5EF4-FFF2-40B4-BE49-F238E27FC236}">
                <a16:creationId xmlns:a16="http://schemas.microsoft.com/office/drawing/2014/main" id="{5DEA8993-5816-41E5-B83D-7C241142F792}"/>
              </a:ext>
            </a:extLst>
          </p:cNvPr>
          <p:cNvSpPr txBox="1">
            <a:spLocks/>
          </p:cNvSpPr>
          <p:nvPr/>
        </p:nvSpPr>
        <p:spPr>
          <a:xfrm>
            <a:off x="127002" y="85711"/>
            <a:ext cx="4249934" cy="418058"/>
          </a:xfrm>
          <a:prstGeom prst="rect">
            <a:avLst/>
          </a:prstGeom>
        </p:spPr>
        <p:txBody>
          <a:bodyPr vert="horz" lIns="91440" tIns="45720" rIns="91440" bIns="45720" rtlCol="0" anchor="ctr">
            <a:noAutofit/>
          </a:bodyPr>
          <a:lstStyle/>
          <a:p>
            <a:pPr lvl="0" eaLnBrk="1" latinLnBrk="0" hangingPunct="0">
              <a:defRPr/>
            </a:pPr>
            <a:r>
              <a:rPr lang="vi-VN" altLang="ko-KR" sz="1600" b="1" kern="0" dirty="0">
                <a:latin typeface="Arial Narrow" panose="020B0606020202030204" pitchFamily="34" charset="0"/>
                <a:ea typeface="Arial Unicode MS" panose="020B0604020202020204" pitchFamily="34" charset="-128"/>
                <a:cs typeface="Arial" panose="020B0604020202020204" pitchFamily="34" charset="0"/>
              </a:rPr>
              <a:t>4.1</a:t>
            </a:r>
            <a:r>
              <a:rPr lang="en-US" altLang="ko-KR" sz="1600" b="1" kern="0" dirty="0">
                <a:latin typeface="Arial Narrow" panose="020B0606020202030204" pitchFamily="34" charset="0"/>
                <a:ea typeface="Arial Unicode MS" panose="020B0604020202020204" pitchFamily="34" charset="-128"/>
                <a:cs typeface="Arial" panose="020B0604020202020204" pitchFamily="34" charset="0"/>
              </a:rPr>
              <a:t> </a:t>
            </a:r>
            <a:r>
              <a:rPr kumimoji="1" lang="en-US" altLang="ko-KR" sz="1600" b="1" i="0" u="none" strike="noStrike" kern="0" cap="none" spc="0" normalizeH="0" baseline="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rPr>
              <a:t> Improvement</a:t>
            </a:r>
            <a:r>
              <a:rPr kumimoji="1" lang="en-US" altLang="ko-KR" sz="1600" b="1" i="0" u="none" strike="noStrike" kern="0" cap="none" spc="0" normalizeH="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rPr>
              <a:t> activity of measurement system</a:t>
            </a:r>
            <a:endParaRPr kumimoji="1" lang="ko-KR" altLang="en-US" sz="1600" b="1" i="0" u="none" strike="noStrike" kern="0" cap="none" spc="0" normalizeH="0" baseline="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endParaRPr>
          </a:p>
        </p:txBody>
      </p:sp>
      <p:cxnSp>
        <p:nvCxnSpPr>
          <p:cNvPr id="37" name="Straight Connector 36">
            <a:extLst>
              <a:ext uri="{FF2B5EF4-FFF2-40B4-BE49-F238E27FC236}">
                <a16:creationId xmlns:a16="http://schemas.microsoft.com/office/drawing/2014/main" id="{40623CFD-7D50-4755-9BC8-5BB2B026E5EB}"/>
              </a:ext>
            </a:extLst>
          </p:cNvPr>
          <p:cNvCxnSpPr/>
          <p:nvPr/>
        </p:nvCxnSpPr>
        <p:spPr>
          <a:xfrm>
            <a:off x="0" y="508838"/>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53" name="Slide Number Placeholder 4"/>
          <p:cNvSpPr>
            <a:spLocks noGrp="1"/>
          </p:cNvSpPr>
          <p:nvPr>
            <p:ph type="sldNum" sz="quarter" idx="12"/>
          </p:nvPr>
        </p:nvSpPr>
        <p:spPr>
          <a:xfrm>
            <a:off x="3581025" y="6631416"/>
            <a:ext cx="2133600" cy="198047"/>
          </a:xfrm>
        </p:spPr>
        <p:txBody>
          <a:bodyPr/>
          <a:lstStyle/>
          <a:p>
            <a:pPr algn="ctr" eaLnBrk="1" latinLnBrk="0"/>
            <a:r>
              <a:rPr sz="1000" b="0">
                <a:latin typeface="Arial"/>
              </a:rPr>
              <a:t>18 / 33</a:t>
            </a:r>
            <a:endParaRPr lang="ko-KR" altLang="en-US" sz="1200" dirty="0">
              <a:solidFill>
                <a:prstClr val="black">
                  <a:tint val="75000"/>
                </a:prstClr>
              </a:solidFill>
              <a:latin typeface="Arial" panose="020B0604020202020204" pitchFamily="34" charset="0"/>
              <a:ea typeface="Arial Unicode MS" panose="020B0604020202020204" pitchFamily="34" charset="-128"/>
              <a:cs typeface="Arial" panose="020B0604020202020204" pitchFamily="34" charset="0"/>
            </a:endParaRPr>
          </a:p>
        </p:txBody>
      </p:sp>
    </p:spTree>
    <p:extLst>
      <p:ext uri="{BB962C8B-B14F-4D97-AF65-F5344CB8AC3E}">
        <p14:creationId xmlns:p14="http://schemas.microsoft.com/office/powerpoint/2010/main" val="5174244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6" name="Straight Arrow Connector 5">
            <a:extLst>
              <a:ext uri="{FF2B5EF4-FFF2-40B4-BE49-F238E27FC236}">
                <a16:creationId xmlns:a16="http://schemas.microsoft.com/office/drawing/2014/main" id="{6B0328D7-4F88-4E3F-906D-CDB9E15A1C4F}"/>
              </a:ext>
            </a:extLst>
          </p:cNvPr>
          <p:cNvCxnSpPr/>
          <p:nvPr/>
        </p:nvCxnSpPr>
        <p:spPr bwMode="auto">
          <a:xfrm>
            <a:off x="3810000" y="6349162"/>
            <a:ext cx="1094487" cy="0"/>
          </a:xfrm>
          <a:prstGeom prst="straightConnector1">
            <a:avLst/>
          </a:prstGeom>
          <a:noFill/>
          <a:ln w="9525" cap="flat" cmpd="sng" algn="ctr">
            <a:solidFill>
              <a:srgbClr val="C00000"/>
            </a:solidFill>
            <a:prstDash val="solid"/>
            <a:round/>
            <a:headEnd type="none" w="med" len="med"/>
            <a:tailEnd type="triangle"/>
          </a:ln>
          <a:effectLst/>
        </p:spPr>
      </p:cxnSp>
      <p:cxnSp>
        <p:nvCxnSpPr>
          <p:cNvPr id="3" name="Straight Arrow Connector 2">
            <a:extLst>
              <a:ext uri="{FF2B5EF4-FFF2-40B4-BE49-F238E27FC236}">
                <a16:creationId xmlns:a16="http://schemas.microsoft.com/office/drawing/2014/main" id="{343B9057-F582-4381-91D8-097F77C1B3CF}"/>
              </a:ext>
            </a:extLst>
          </p:cNvPr>
          <p:cNvCxnSpPr/>
          <p:nvPr/>
        </p:nvCxnSpPr>
        <p:spPr bwMode="auto">
          <a:xfrm flipH="1">
            <a:off x="426181" y="6349162"/>
            <a:ext cx="1371600" cy="0"/>
          </a:xfrm>
          <a:prstGeom prst="straightConnector1">
            <a:avLst/>
          </a:prstGeom>
          <a:noFill/>
          <a:ln w="9525" cap="flat" cmpd="sng" algn="ctr">
            <a:solidFill>
              <a:srgbClr val="C00000"/>
            </a:solidFill>
            <a:prstDash val="solid"/>
            <a:round/>
            <a:headEnd type="none" w="med" len="med"/>
            <a:tailEnd type="triangle"/>
          </a:ln>
          <a:effectLst/>
        </p:spPr>
      </p:cxnSp>
      <p:grpSp>
        <p:nvGrpSpPr>
          <p:cNvPr id="27" name="Group 26"/>
          <p:cNvGrpSpPr/>
          <p:nvPr/>
        </p:nvGrpSpPr>
        <p:grpSpPr>
          <a:xfrm>
            <a:off x="1984978" y="947234"/>
            <a:ext cx="5204525" cy="2862385"/>
            <a:chOff x="1196275" y="805422"/>
            <a:chExt cx="5889416" cy="3554856"/>
          </a:xfrm>
        </p:grpSpPr>
        <p:grpSp>
          <p:nvGrpSpPr>
            <p:cNvPr id="28" name="Group 27"/>
            <p:cNvGrpSpPr/>
            <p:nvPr/>
          </p:nvGrpSpPr>
          <p:grpSpPr>
            <a:xfrm>
              <a:off x="2780391" y="805422"/>
              <a:ext cx="4305300" cy="2712480"/>
              <a:chOff x="2874491" y="438296"/>
              <a:chExt cx="4305300" cy="3164992"/>
            </a:xfrm>
          </p:grpSpPr>
          <p:sp>
            <p:nvSpPr>
              <p:cNvPr id="38" name="Rectangle 37"/>
              <p:cNvSpPr/>
              <p:nvPr/>
            </p:nvSpPr>
            <p:spPr>
              <a:xfrm>
                <a:off x="2874491" y="828247"/>
                <a:ext cx="4305300" cy="1117600"/>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p:cNvSpPr/>
              <p:nvPr/>
            </p:nvSpPr>
            <p:spPr>
              <a:xfrm>
                <a:off x="2992395" y="918098"/>
                <a:ext cx="4069492" cy="937897"/>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a:t>
                </a:r>
              </a:p>
            </p:txBody>
          </p:sp>
          <p:cxnSp>
            <p:nvCxnSpPr>
              <p:cNvPr id="45" name="Straight Connector 44"/>
              <p:cNvCxnSpPr>
                <a:stCxn id="39" idx="0"/>
                <a:endCxn id="38" idx="2"/>
              </p:cNvCxnSpPr>
              <p:nvPr/>
            </p:nvCxnSpPr>
            <p:spPr>
              <a:xfrm>
                <a:off x="5027141" y="918098"/>
                <a:ext cx="0" cy="1027749"/>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0" name="Straight Arrow Connector 49"/>
              <p:cNvCxnSpPr>
                <a:stCxn id="52" idx="0"/>
              </p:cNvCxnSpPr>
              <p:nvPr/>
            </p:nvCxnSpPr>
            <p:spPr>
              <a:xfrm flipV="1">
                <a:off x="4011299" y="1397902"/>
                <a:ext cx="1" cy="937897"/>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1" name="Rectangle 50"/>
              <p:cNvSpPr/>
              <p:nvPr/>
            </p:nvSpPr>
            <p:spPr>
              <a:xfrm>
                <a:off x="3625537" y="2526963"/>
                <a:ext cx="771525" cy="1076325"/>
              </a:xfrm>
              <a:prstGeom prst="rect">
                <a:avLst/>
              </a:prstGeom>
              <a:solidFill>
                <a:schemeClr val="bg1">
                  <a:lumMod val="75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p:cNvSpPr/>
              <p:nvPr/>
            </p:nvSpPr>
            <p:spPr>
              <a:xfrm>
                <a:off x="3874270" y="2335799"/>
                <a:ext cx="274058" cy="191164"/>
              </a:xfrm>
              <a:prstGeom prst="rect">
                <a:avLst/>
              </a:prstGeom>
              <a:solidFill>
                <a:schemeClr val="bg1">
                  <a:lumMod val="75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TextBox 52"/>
              <p:cNvSpPr txBox="1"/>
              <p:nvPr/>
            </p:nvSpPr>
            <p:spPr>
              <a:xfrm>
                <a:off x="3592975" y="2795783"/>
                <a:ext cx="831444" cy="538683"/>
              </a:xfrm>
              <a:prstGeom prst="rect">
                <a:avLst/>
              </a:prstGeom>
              <a:noFill/>
            </p:spPr>
            <p:txBody>
              <a:bodyPr wrap="square" rtlCol="0">
                <a:spAutoFit/>
              </a:bodyPr>
              <a:lstStyle/>
              <a:p>
                <a:pPr algn="ctr"/>
                <a:r>
                  <a:rPr lang="en-US" sz="1200">
                    <a:latin typeface="Arial Narrow" panose="020B0606020202030204" pitchFamily="34" charset="0"/>
                  </a:rPr>
                  <a:t>Camera</a:t>
                </a:r>
              </a:p>
              <a:p>
                <a:pPr algn="ctr"/>
                <a:r>
                  <a:rPr lang="en-US" sz="1200">
                    <a:latin typeface="Arial Narrow" panose="020B0606020202030204" pitchFamily="34" charset="0"/>
                  </a:rPr>
                  <a:t>CS2000</a:t>
                </a:r>
              </a:p>
            </p:txBody>
          </p:sp>
          <p:sp>
            <p:nvSpPr>
              <p:cNvPr id="61" name="TextBox 60"/>
              <p:cNvSpPr txBox="1"/>
              <p:nvPr/>
            </p:nvSpPr>
            <p:spPr>
              <a:xfrm>
                <a:off x="3742628" y="438296"/>
                <a:ext cx="526409" cy="490601"/>
              </a:xfrm>
              <a:prstGeom prst="rect">
                <a:avLst/>
              </a:prstGeom>
              <a:noFill/>
            </p:spPr>
            <p:txBody>
              <a:bodyPr wrap="none" rtlCol="0">
                <a:spAutoFit/>
              </a:bodyPr>
              <a:lstStyle/>
              <a:p>
                <a:r>
                  <a:rPr lang="en-US" sz="1600">
                    <a:latin typeface="Arial Narrow" panose="020B0606020202030204" pitchFamily="34" charset="0"/>
                  </a:rPr>
                  <a:t>PID</a:t>
                </a:r>
              </a:p>
            </p:txBody>
          </p:sp>
          <p:sp>
            <p:nvSpPr>
              <p:cNvPr id="62" name="TextBox 61"/>
              <p:cNvSpPr txBox="1"/>
              <p:nvPr/>
            </p:nvSpPr>
            <p:spPr>
              <a:xfrm>
                <a:off x="5819779" y="438296"/>
                <a:ext cx="537293" cy="490601"/>
              </a:xfrm>
              <a:prstGeom prst="rect">
                <a:avLst/>
              </a:prstGeom>
              <a:noFill/>
            </p:spPr>
            <p:txBody>
              <a:bodyPr wrap="none" rtlCol="0">
                <a:spAutoFit/>
              </a:bodyPr>
              <a:lstStyle/>
              <a:p>
                <a:r>
                  <a:rPr lang="en-US" sz="1600">
                    <a:latin typeface="Arial Narrow" panose="020B0606020202030204" pitchFamily="34" charset="0"/>
                  </a:rPr>
                  <a:t>CID</a:t>
                </a:r>
              </a:p>
            </p:txBody>
          </p:sp>
          <p:cxnSp>
            <p:nvCxnSpPr>
              <p:cNvPr id="17" name="Straight Connector 16"/>
              <p:cNvCxnSpPr>
                <a:endCxn id="39" idx="2"/>
              </p:cNvCxnSpPr>
              <p:nvPr/>
            </p:nvCxnSpPr>
            <p:spPr>
              <a:xfrm>
                <a:off x="2992395" y="918098"/>
                <a:ext cx="2034746" cy="9378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Straight Connector 63"/>
              <p:cNvCxnSpPr>
                <a:stCxn id="39" idx="0"/>
              </p:cNvCxnSpPr>
              <p:nvPr/>
            </p:nvCxnSpPr>
            <p:spPr>
              <a:xfrm flipH="1">
                <a:off x="2992395" y="918098"/>
                <a:ext cx="2034746" cy="9378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5" name="Straight Connector 64"/>
              <p:cNvCxnSpPr/>
              <p:nvPr/>
            </p:nvCxnSpPr>
            <p:spPr>
              <a:xfrm>
                <a:off x="5028943" y="918098"/>
                <a:ext cx="2034746" cy="9378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6" name="Straight Connector 65"/>
              <p:cNvCxnSpPr/>
              <p:nvPr/>
            </p:nvCxnSpPr>
            <p:spPr>
              <a:xfrm flipH="1">
                <a:off x="5028943" y="918098"/>
                <a:ext cx="2034746" cy="9378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67" name="TextBox 66"/>
              <p:cNvSpPr txBox="1"/>
              <p:nvPr/>
            </p:nvSpPr>
            <p:spPr>
              <a:xfrm>
                <a:off x="4261339" y="1967733"/>
                <a:ext cx="1558440" cy="338554"/>
              </a:xfrm>
              <a:prstGeom prst="rect">
                <a:avLst/>
              </a:prstGeom>
              <a:noFill/>
            </p:spPr>
            <p:txBody>
              <a:bodyPr wrap="none" rtlCol="0">
                <a:spAutoFit/>
              </a:bodyPr>
              <a:lstStyle/>
              <a:p>
                <a:r>
                  <a:rPr lang="en-US" sz="1600">
                    <a:latin typeface="Arial Narrow" panose="020B0606020202030204" pitchFamily="34" charset="0"/>
                  </a:rPr>
                  <a:t>J1 Dual PPR RHD</a:t>
                </a:r>
              </a:p>
            </p:txBody>
          </p:sp>
          <p:sp>
            <p:nvSpPr>
              <p:cNvPr id="68" name="TextBox 67"/>
              <p:cNvSpPr txBox="1"/>
              <p:nvPr/>
            </p:nvSpPr>
            <p:spPr>
              <a:xfrm>
                <a:off x="4407816" y="1209084"/>
                <a:ext cx="470000" cy="314312"/>
              </a:xfrm>
              <a:prstGeom prst="rect">
                <a:avLst/>
              </a:prstGeom>
              <a:noFill/>
            </p:spPr>
            <p:txBody>
              <a:bodyPr wrap="none" rtlCol="0">
                <a:spAutoFit/>
              </a:bodyPr>
              <a:lstStyle/>
              <a:p>
                <a:r>
                  <a:rPr lang="en-US" sz="900">
                    <a:latin typeface="Arial Narrow" panose="020B0606020202030204" pitchFamily="34" charset="0"/>
                  </a:rPr>
                  <a:t>Center</a:t>
                </a:r>
              </a:p>
            </p:txBody>
          </p:sp>
        </p:grpSp>
        <p:pic>
          <p:nvPicPr>
            <p:cNvPr id="70" name="Picture 69"/>
            <p:cNvPicPr>
              <a:picLocks noChangeAspect="1"/>
            </p:cNvPicPr>
            <p:nvPr/>
          </p:nvPicPr>
          <p:blipFill>
            <a:blip r:embed="rId2"/>
            <a:stretch>
              <a:fillRect/>
            </a:stretch>
          </p:blipFill>
          <p:spPr>
            <a:xfrm>
              <a:off x="1196275" y="2700544"/>
              <a:ext cx="1702020" cy="1659734"/>
            </a:xfrm>
            <a:prstGeom prst="rect">
              <a:avLst/>
            </a:prstGeom>
          </p:spPr>
        </p:pic>
        <p:sp>
          <p:nvSpPr>
            <p:cNvPr id="5" name="Oval 4"/>
            <p:cNvSpPr/>
            <p:nvPr/>
          </p:nvSpPr>
          <p:spPr>
            <a:xfrm>
              <a:off x="3753070" y="1466007"/>
              <a:ext cx="323055" cy="319843"/>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8" name="Straight Arrow Connector 47"/>
            <p:cNvCxnSpPr/>
            <p:nvPr/>
          </p:nvCxnSpPr>
          <p:spPr>
            <a:xfrm flipH="1">
              <a:off x="4105275" y="1613358"/>
              <a:ext cx="267247" cy="739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Rectangle 15"/>
            <p:cNvSpPr/>
            <p:nvPr/>
          </p:nvSpPr>
          <p:spPr>
            <a:xfrm>
              <a:off x="1196275" y="2700544"/>
              <a:ext cx="1702020" cy="1659734"/>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Connector 18"/>
            <p:cNvCxnSpPr>
              <a:stCxn id="5" idx="3"/>
            </p:cNvCxnSpPr>
            <p:nvPr/>
          </p:nvCxnSpPr>
          <p:spPr>
            <a:xfrm flipH="1">
              <a:off x="1196275" y="1739010"/>
              <a:ext cx="2604105" cy="961534"/>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5" name="Straight Connector 54"/>
            <p:cNvCxnSpPr>
              <a:stCxn id="5" idx="3"/>
            </p:cNvCxnSpPr>
            <p:nvPr/>
          </p:nvCxnSpPr>
          <p:spPr>
            <a:xfrm flipH="1">
              <a:off x="2896154" y="1739010"/>
              <a:ext cx="904226" cy="961534"/>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63" name="TextBox 62"/>
          <p:cNvSpPr txBox="1"/>
          <p:nvPr/>
        </p:nvSpPr>
        <p:spPr>
          <a:xfrm>
            <a:off x="142491" y="877319"/>
            <a:ext cx="3139783" cy="461665"/>
          </a:xfrm>
          <a:prstGeom prst="rect">
            <a:avLst/>
          </a:prstGeom>
          <a:noFill/>
        </p:spPr>
        <p:txBody>
          <a:bodyPr wrap="square" rtlCol="0">
            <a:spAutoFit/>
          </a:bodyPr>
          <a:lstStyle/>
          <a:p>
            <a:pPr eaLnBrk="1" latinLnBrk="0"/>
            <a:r>
              <a:rPr lang="en-US" sz="1000" dirty="0">
                <a:latin typeface="Arial" panose="020B0606020202030204" pitchFamily="34" charset="0"/>
              </a:rPr>
              <a:t>1. Camera position is correct after checking.</a:t>
            </a:r>
          </a:p>
          <a:p>
            <a:pPr eaLnBrk="1" latinLnBrk="0"/>
            <a:r>
              <a:rPr lang="en-US" sz="1000" dirty="0">
                <a:latin typeface="Arial" panose="020B0606020202030204" pitchFamily="34" charset="0"/>
                <a:sym typeface="Wingdings" panose="05000000000000000000" pitchFamily="2" charset="2"/>
              </a:rPr>
              <a:t> Camera center coincides with the SET center</a:t>
            </a:r>
            <a:r>
              <a:rPr lang="en-US" sz="1000" dirty="0">
                <a:latin typeface="Arial" panose="020B0606020202030204" pitchFamily="34" charset="0"/>
              </a:rPr>
              <a:t> </a:t>
            </a:r>
          </a:p>
        </p:txBody>
      </p:sp>
      <p:sp>
        <p:nvSpPr>
          <p:cNvPr id="71" name="TextBox 70"/>
          <p:cNvSpPr txBox="1"/>
          <p:nvPr/>
        </p:nvSpPr>
        <p:spPr>
          <a:xfrm>
            <a:off x="327172" y="3868129"/>
            <a:ext cx="8313888" cy="461665"/>
          </a:xfrm>
          <a:prstGeom prst="rect">
            <a:avLst/>
          </a:prstGeom>
          <a:noFill/>
        </p:spPr>
        <p:txBody>
          <a:bodyPr wrap="square" rtlCol="0">
            <a:spAutoFit/>
          </a:bodyPr>
          <a:lstStyle/>
          <a:p>
            <a:pPr eaLnBrk="1" latinLnBrk="0"/>
            <a:r>
              <a:rPr lang="en-US" sz="1000" dirty="0">
                <a:latin typeface="Arial" panose="020B0606020202030204" pitchFamily="34" charset="0"/>
              </a:rPr>
              <a:t>2. LHD and RHD use the same servo positions (48, 49) but mirrored screens. </a:t>
            </a:r>
            <a:r>
              <a:rPr lang="en-US" sz="1000" dirty="0">
                <a:latin typeface="Arial" panose="020B0606020202030204" pitchFamily="34" charset="0"/>
                <a:sym typeface="Wingdings" panose="05000000000000000000" pitchFamily="2" charset="2"/>
              </a:rPr>
              <a:t> If the position is not correct, J1 PPR LHD will be NG. </a:t>
            </a:r>
            <a:endParaRPr lang="en-US" sz="1200" dirty="0">
              <a:latin typeface="Arial Narrow" panose="020B0606020202030204" pitchFamily="34" charset="0"/>
            </a:endParaRPr>
          </a:p>
          <a:p>
            <a:pPr eaLnBrk="1" latinLnBrk="0"/>
            <a:r>
              <a:rPr lang="en-US" sz="1000" dirty="0">
                <a:latin typeface="Arial" panose="020B0606020202030204" pitchFamily="34" charset="0"/>
                <a:sym typeface="Wingdings" panose="05000000000000000000" pitchFamily="2" charset="2"/>
              </a:rPr>
              <a:t>(Servo positions 48 and 49: see the diagrams below)</a:t>
            </a:r>
            <a:endParaRPr lang="en-US" sz="1200" dirty="0">
              <a:latin typeface="Arial Narrow" panose="020B0606020202030204" pitchFamily="34" charset="0"/>
            </a:endParaRPr>
          </a:p>
        </p:txBody>
      </p:sp>
      <p:pic>
        <p:nvPicPr>
          <p:cNvPr id="33" name="Picture 32"/>
          <p:cNvPicPr>
            <a:picLocks noChangeAspect="1"/>
          </p:cNvPicPr>
          <p:nvPr/>
        </p:nvPicPr>
        <p:blipFill>
          <a:blip r:embed="rId3"/>
          <a:stretch>
            <a:fillRect/>
          </a:stretch>
        </p:blipFill>
        <p:spPr>
          <a:xfrm>
            <a:off x="426181" y="5144816"/>
            <a:ext cx="4478306" cy="1552310"/>
          </a:xfrm>
          <a:prstGeom prst="rect">
            <a:avLst/>
          </a:prstGeom>
        </p:spPr>
      </p:pic>
      <p:pic>
        <p:nvPicPr>
          <p:cNvPr id="34" name="Picture 33"/>
          <p:cNvPicPr>
            <a:picLocks/>
          </p:cNvPicPr>
          <p:nvPr/>
        </p:nvPicPr>
        <p:blipFill>
          <a:blip r:embed="rId4"/>
          <a:stretch>
            <a:fillRect/>
          </a:stretch>
        </p:blipFill>
        <p:spPr>
          <a:xfrm>
            <a:off x="5287188" y="5144816"/>
            <a:ext cx="4479533" cy="1554480"/>
          </a:xfrm>
          <a:prstGeom prst="rect">
            <a:avLst/>
          </a:prstGeom>
        </p:spPr>
      </p:pic>
      <p:cxnSp>
        <p:nvCxnSpPr>
          <p:cNvPr id="36" name="Straight Connector 35"/>
          <p:cNvCxnSpPr/>
          <p:nvPr/>
        </p:nvCxnSpPr>
        <p:spPr>
          <a:xfrm>
            <a:off x="5095837" y="5144816"/>
            <a:ext cx="0" cy="155448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pic>
        <p:nvPicPr>
          <p:cNvPr id="29" name="Picture 28"/>
          <p:cNvPicPr>
            <a:picLocks noChangeAspect="1"/>
          </p:cNvPicPr>
          <p:nvPr/>
        </p:nvPicPr>
        <p:blipFill rotWithShape="1">
          <a:blip r:embed="rId5"/>
          <a:srcRect t="2551"/>
          <a:stretch/>
        </p:blipFill>
        <p:spPr>
          <a:xfrm>
            <a:off x="2423836" y="4340760"/>
            <a:ext cx="5106113" cy="668702"/>
          </a:xfrm>
          <a:prstGeom prst="rect">
            <a:avLst/>
          </a:prstGeom>
        </p:spPr>
      </p:pic>
      <p:sp>
        <p:nvSpPr>
          <p:cNvPr id="37" name="AutoShape 57">
            <a:extLst>
              <a:ext uri="{FF2B5EF4-FFF2-40B4-BE49-F238E27FC236}">
                <a16:creationId xmlns:a16="http://schemas.microsoft.com/office/drawing/2014/main" id="{68DDE1B3-3D28-43A2-9A04-83B6A91CE5E4}"/>
              </a:ext>
            </a:extLst>
          </p:cNvPr>
          <p:cNvSpPr>
            <a:spLocks noChangeArrowheads="1"/>
          </p:cNvSpPr>
          <p:nvPr/>
        </p:nvSpPr>
        <p:spPr bwMode="auto">
          <a:xfrm>
            <a:off x="7687914" y="178989"/>
            <a:ext cx="749300" cy="287338"/>
          </a:xfrm>
          <a:prstGeom prst="homePlate">
            <a:avLst>
              <a:gd name="adj" fmla="val 46698"/>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Analyze</a:t>
            </a:r>
          </a:p>
        </p:txBody>
      </p:sp>
      <p:sp>
        <p:nvSpPr>
          <p:cNvPr id="43" name="AutoShape 55">
            <a:extLst>
              <a:ext uri="{FF2B5EF4-FFF2-40B4-BE49-F238E27FC236}">
                <a16:creationId xmlns:a16="http://schemas.microsoft.com/office/drawing/2014/main" id="{79FEF9DE-91F2-466D-8D5A-77EA15C545BE}"/>
              </a:ext>
            </a:extLst>
          </p:cNvPr>
          <p:cNvSpPr>
            <a:spLocks noChangeArrowheads="1"/>
          </p:cNvSpPr>
          <p:nvPr/>
        </p:nvSpPr>
        <p:spPr bwMode="auto">
          <a:xfrm>
            <a:off x="9069039" y="178989"/>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Control</a:t>
            </a:r>
          </a:p>
        </p:txBody>
      </p:sp>
      <p:sp>
        <p:nvSpPr>
          <p:cNvPr id="44" name="AutoShape 56">
            <a:extLst>
              <a:ext uri="{FF2B5EF4-FFF2-40B4-BE49-F238E27FC236}">
                <a16:creationId xmlns:a16="http://schemas.microsoft.com/office/drawing/2014/main" id="{090CE2DB-80F1-4E32-BAFD-64B2789C99F7}"/>
              </a:ext>
            </a:extLst>
          </p:cNvPr>
          <p:cNvSpPr>
            <a:spLocks noChangeArrowheads="1"/>
          </p:cNvSpPr>
          <p:nvPr/>
        </p:nvSpPr>
        <p:spPr bwMode="auto">
          <a:xfrm>
            <a:off x="7018783" y="178989"/>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Measure</a:t>
            </a:r>
          </a:p>
        </p:txBody>
      </p:sp>
      <p:sp>
        <p:nvSpPr>
          <p:cNvPr id="46" name="AutoShape 59">
            <a:extLst>
              <a:ext uri="{FF2B5EF4-FFF2-40B4-BE49-F238E27FC236}">
                <a16:creationId xmlns:a16="http://schemas.microsoft.com/office/drawing/2014/main" id="{3264D4EE-B2E7-41C4-B5D1-4BC9AD3C777F}"/>
              </a:ext>
            </a:extLst>
          </p:cNvPr>
          <p:cNvSpPr>
            <a:spLocks noChangeArrowheads="1"/>
          </p:cNvSpPr>
          <p:nvPr/>
        </p:nvSpPr>
        <p:spPr bwMode="auto">
          <a:xfrm>
            <a:off x="6319489" y="178989"/>
            <a:ext cx="757238" cy="287338"/>
          </a:xfrm>
          <a:prstGeom prst="homePlate">
            <a:avLst>
              <a:gd name="adj" fmla="val 47192"/>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Define</a:t>
            </a:r>
          </a:p>
        </p:txBody>
      </p:sp>
      <p:sp>
        <p:nvSpPr>
          <p:cNvPr id="47" name="AutoShape 58">
            <a:extLst>
              <a:ext uri="{FF2B5EF4-FFF2-40B4-BE49-F238E27FC236}">
                <a16:creationId xmlns:a16="http://schemas.microsoft.com/office/drawing/2014/main" id="{42D6958D-B1E2-4DD9-96D1-51C0AB9FB669}"/>
              </a:ext>
            </a:extLst>
          </p:cNvPr>
          <p:cNvSpPr>
            <a:spLocks noChangeArrowheads="1"/>
          </p:cNvSpPr>
          <p:nvPr/>
        </p:nvSpPr>
        <p:spPr bwMode="auto">
          <a:xfrm>
            <a:off x="8330852" y="51592"/>
            <a:ext cx="747712" cy="287337"/>
          </a:xfrm>
          <a:prstGeom prst="homePlate">
            <a:avLst>
              <a:gd name="adj" fmla="val 46599"/>
            </a:avLst>
          </a:prstGeom>
          <a:gradFill rotWithShape="1">
            <a:gsLst>
              <a:gs pos="0">
                <a:srgbClr val="494900"/>
              </a:gs>
              <a:gs pos="100000">
                <a:srgbClr val="808000"/>
              </a:gs>
            </a:gsLst>
            <a:lin ang="0" scaled="1"/>
          </a:gradFill>
          <a:ln w="6350" algn="ctr">
            <a:solidFill>
              <a:srgbClr val="808080"/>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latin typeface="Arial Narrow" panose="020B0606020202030204" pitchFamily="34" charset="0"/>
                <a:ea typeface="Arial" panose="020B0503020000020004" pitchFamily="50" charset="-127"/>
              </a:rPr>
              <a:t>Improve</a:t>
            </a:r>
          </a:p>
        </p:txBody>
      </p:sp>
      <p:sp>
        <p:nvSpPr>
          <p:cNvPr id="49" name="TextBox 48">
            <a:extLst>
              <a:ext uri="{FF2B5EF4-FFF2-40B4-BE49-F238E27FC236}">
                <a16:creationId xmlns:a16="http://schemas.microsoft.com/office/drawing/2014/main" id="{8798F2BE-084D-42A1-A858-95A723788943}"/>
              </a:ext>
            </a:extLst>
          </p:cNvPr>
          <p:cNvSpPr txBox="1"/>
          <p:nvPr/>
        </p:nvSpPr>
        <p:spPr>
          <a:xfrm>
            <a:off x="63248" y="535377"/>
            <a:ext cx="2801520" cy="276999"/>
          </a:xfrm>
          <a:prstGeom prst="rect">
            <a:avLst/>
          </a:prstGeom>
          <a:noFill/>
        </p:spPr>
        <p:txBody>
          <a:bodyPr wrap="square" rtlCol="0">
            <a:spAutoFit/>
          </a:bodyPr>
          <a:lstStyle/>
          <a:p>
            <a:pPr marL="171450" indent="-171450" eaLnBrk="1" latinLnBrk="0">
              <a:buFont typeface="Wingdings" panose="05000000000000000000" pitchFamily="2" charset="2"/>
              <a:buChar char="q"/>
            </a:pPr>
            <a:r>
              <a:rPr lang="en-US" sz="1000" b="1" dirty="0">
                <a:latin typeface="Arial" panose="020B0600000101010101" pitchFamily="34" charset="-127"/>
                <a:ea typeface="Arial" panose="020B0600000101010101" pitchFamily="34" charset="-127"/>
                <a:cs typeface="Arial" panose="020B0604020202020204" pitchFamily="34" charset="0"/>
              </a:rPr>
              <a:t>Changing Camera angle</a:t>
            </a:r>
            <a:endParaRPr lang="en-US" sz="1200" b="1" dirty="0">
              <a:latin typeface="Arial" panose="020B0604020202020204" pitchFamily="34" charset="0"/>
              <a:ea typeface="Arial Unicode MS" panose="020B0604020202020204" pitchFamily="34" charset="-128"/>
              <a:cs typeface="Arial" panose="020B0604020202020204" pitchFamily="34" charset="0"/>
            </a:endParaRPr>
          </a:p>
        </p:txBody>
      </p:sp>
      <p:sp>
        <p:nvSpPr>
          <p:cNvPr id="54" name="제목 1">
            <a:extLst>
              <a:ext uri="{FF2B5EF4-FFF2-40B4-BE49-F238E27FC236}">
                <a16:creationId xmlns:a16="http://schemas.microsoft.com/office/drawing/2014/main" id="{CCCE3919-55FD-41DA-B3C1-6C5CCEBCC1BF}"/>
              </a:ext>
            </a:extLst>
          </p:cNvPr>
          <p:cNvSpPr txBox="1">
            <a:spLocks/>
          </p:cNvSpPr>
          <p:nvPr/>
        </p:nvSpPr>
        <p:spPr>
          <a:xfrm>
            <a:off x="127002" y="85711"/>
            <a:ext cx="4249934" cy="418058"/>
          </a:xfrm>
          <a:prstGeom prst="rect">
            <a:avLst/>
          </a:prstGeom>
        </p:spPr>
        <p:txBody>
          <a:bodyPr vert="horz" lIns="91440" tIns="45720" rIns="91440" bIns="45720" rtlCol="0" anchor="ctr">
            <a:noAutofit/>
          </a:bodyPr>
          <a:lstStyle/>
          <a:p>
            <a:pPr lvl="0" eaLnBrk="1" latinLnBrk="0" hangingPunct="0">
              <a:defRPr/>
            </a:pPr>
            <a:r>
              <a:rPr lang="vi-VN" altLang="ko-KR" sz="1600" b="1" kern="0" dirty="0">
                <a:latin typeface="Arial Narrow" panose="020B0606020202030204" pitchFamily="34" charset="0"/>
                <a:ea typeface="Arial Unicode MS" panose="020B0604020202020204" pitchFamily="34" charset="-128"/>
                <a:cs typeface="Arial" panose="020B0604020202020204" pitchFamily="34" charset="0"/>
              </a:rPr>
              <a:t>4.1</a:t>
            </a:r>
            <a:r>
              <a:rPr lang="en-US" altLang="ko-KR" sz="1600" b="1" kern="0" dirty="0">
                <a:latin typeface="Arial Narrow" panose="020B0606020202030204" pitchFamily="34" charset="0"/>
                <a:ea typeface="Arial Unicode MS" panose="020B0604020202020204" pitchFamily="34" charset="-128"/>
                <a:cs typeface="Arial" panose="020B0604020202020204" pitchFamily="34" charset="0"/>
              </a:rPr>
              <a:t> </a:t>
            </a:r>
            <a:r>
              <a:rPr kumimoji="1" lang="en-US" altLang="ko-KR" sz="1600" b="1" i="0" u="none" strike="noStrike" kern="0" cap="none" spc="0" normalizeH="0" baseline="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rPr>
              <a:t> Improvement</a:t>
            </a:r>
            <a:r>
              <a:rPr kumimoji="1" lang="en-US" altLang="ko-KR" sz="1600" b="1" i="0" u="none" strike="noStrike" kern="0" cap="none" spc="0" normalizeH="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rPr>
              <a:t> activity of measurement system</a:t>
            </a:r>
            <a:endParaRPr kumimoji="1" lang="ko-KR" altLang="en-US" sz="1600" b="1" i="0" u="none" strike="noStrike" kern="0" cap="none" spc="0" normalizeH="0" baseline="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endParaRPr>
          </a:p>
        </p:txBody>
      </p:sp>
      <p:cxnSp>
        <p:nvCxnSpPr>
          <p:cNvPr id="56" name="Straight Connector 55">
            <a:extLst>
              <a:ext uri="{FF2B5EF4-FFF2-40B4-BE49-F238E27FC236}">
                <a16:creationId xmlns:a16="http://schemas.microsoft.com/office/drawing/2014/main" id="{1891B0EE-1FBE-46BF-A1A2-CA4A34E5075A}"/>
              </a:ext>
            </a:extLst>
          </p:cNvPr>
          <p:cNvCxnSpPr/>
          <p:nvPr/>
        </p:nvCxnSpPr>
        <p:spPr>
          <a:xfrm>
            <a:off x="0" y="508838"/>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72" name="Slide Number Placeholder 4"/>
          <p:cNvSpPr>
            <a:spLocks noGrp="1"/>
          </p:cNvSpPr>
          <p:nvPr>
            <p:ph type="sldNum" sz="quarter" idx="12"/>
          </p:nvPr>
        </p:nvSpPr>
        <p:spPr>
          <a:xfrm>
            <a:off x="3581025" y="6631416"/>
            <a:ext cx="2133600" cy="198047"/>
          </a:xfrm>
        </p:spPr>
        <p:txBody>
          <a:bodyPr/>
          <a:lstStyle/>
          <a:p>
            <a:pPr algn="ctr" eaLnBrk="1" latinLnBrk="0"/>
            <a:r>
              <a:rPr sz="1000" b="0">
                <a:latin typeface="Arial"/>
              </a:rPr>
              <a:t>19 / 33</a:t>
            </a:r>
            <a:endParaRPr lang="ko-KR" altLang="en-US" sz="1200" dirty="0">
              <a:solidFill>
                <a:prstClr val="black">
                  <a:tint val="75000"/>
                </a:prstClr>
              </a:solidFill>
              <a:latin typeface="Arial" panose="020B0604020202020204" pitchFamily="34" charset="0"/>
              <a:ea typeface="Arial Unicode MS" panose="020B0604020202020204" pitchFamily="34" charset="-128"/>
              <a:cs typeface="Arial" panose="020B0604020202020204" pitchFamily="34" charset="0"/>
            </a:endParaRPr>
          </a:p>
        </p:txBody>
      </p:sp>
    </p:spTree>
    <p:extLst>
      <p:ext uri="{BB962C8B-B14F-4D97-AF65-F5344CB8AC3E}">
        <p14:creationId xmlns:p14="http://schemas.microsoft.com/office/powerpoint/2010/main" val="47430631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3" name="Table 35"/>
          <p:cNvGraphicFramePr>
            <a:graphicFrameLocks noGrp="1"/>
          </p:cNvGraphicFramePr>
          <p:nvPr/>
        </p:nvGraphicFramePr>
        <p:xfrm>
          <a:off x="425381" y="820753"/>
          <a:ext cx="3765983" cy="5560399"/>
        </p:xfrm>
        <a:graphic>
          <a:graphicData uri="http://schemas.openxmlformats.org/drawingml/2006/table">
            <a:tbl>
              <a:tblPr/>
              <a:tblGrid>
                <a:gridCol w="386956">
                  <a:extLst>
                    <a:ext uri="{9D8B030D-6E8A-4147-A177-3AD203B41FA5}">
                      <a16:colId xmlns:a16="http://schemas.microsoft.com/office/drawing/2014/main" val="20000"/>
                    </a:ext>
                  </a:extLst>
                </a:gridCol>
                <a:gridCol w="994169">
                  <a:extLst>
                    <a:ext uri="{9D8B030D-6E8A-4147-A177-3AD203B41FA5}">
                      <a16:colId xmlns:a16="http://schemas.microsoft.com/office/drawing/2014/main" val="20001"/>
                    </a:ext>
                  </a:extLst>
                </a:gridCol>
                <a:gridCol w="542925">
                  <a:extLst>
                    <a:ext uri="{9D8B030D-6E8A-4147-A177-3AD203B41FA5}">
                      <a16:colId xmlns:a16="http://schemas.microsoft.com/office/drawing/2014/main" val="20002"/>
                    </a:ext>
                  </a:extLst>
                </a:gridCol>
                <a:gridCol w="942975">
                  <a:extLst>
                    <a:ext uri="{9D8B030D-6E8A-4147-A177-3AD203B41FA5}">
                      <a16:colId xmlns:a16="http://schemas.microsoft.com/office/drawing/2014/main" val="20003"/>
                    </a:ext>
                  </a:extLst>
                </a:gridCol>
                <a:gridCol w="898958">
                  <a:extLst>
                    <a:ext uri="{9D8B030D-6E8A-4147-A177-3AD203B41FA5}">
                      <a16:colId xmlns:a16="http://schemas.microsoft.com/office/drawing/2014/main" val="20004"/>
                    </a:ext>
                  </a:extLst>
                </a:gridCol>
              </a:tblGrid>
              <a:tr h="204469">
                <a:tc rowSpan="2">
                  <a:txBody>
                    <a:bodyPr/>
                    <a:lstStyle/>
                    <a:p>
                      <a:pPr algn="ctr" eaLnBrk="1" fontAlgn="ctr" latinLnBrk="0"/>
                      <a:r>
                        <a:rPr lang="en-US" sz="900" b="1" i="0" u="none" strike="noStrike" dirty="0">
                          <a:solidFill>
                            <a:srgbClr val="000000"/>
                          </a:solidFill>
                          <a:effectLst/>
                          <a:latin typeface="Arial" panose="020B0604020202020204" pitchFamily="34" charset="0"/>
                        </a:rPr>
                        <a:t>No</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D9D9"/>
                    </a:solidFill>
                  </a:tcPr>
                </a:tc>
                <a:tc gridSpan="3">
                  <a:txBody>
                    <a:bodyPr/>
                    <a:lstStyle/>
                    <a:p>
                      <a:pPr algn="ctr" eaLnBrk="1" fontAlgn="ctr" latinLnBrk="0"/>
                      <a:r>
                        <a:rPr lang="en-US" sz="900" b="1" i="0" u="none" strike="noStrike" dirty="0">
                          <a:solidFill>
                            <a:srgbClr val="000000"/>
                          </a:solidFill>
                          <a:effectLst/>
                          <a:latin typeface="Arial" panose="020B0604020202020204" pitchFamily="34" charset="0"/>
                        </a:rPr>
                        <a:t>IVI</a:t>
                      </a:r>
                      <a:r>
                        <a:rPr lang="en-US" sz="900" b="1" i="0" u="none" strike="noStrike" baseline="0" dirty="0">
                          <a:solidFill>
                            <a:srgbClr val="000000"/>
                          </a:solidFill>
                          <a:effectLst/>
                          <a:latin typeface="Arial" panose="020B0604020202020204" pitchFamily="34" charset="0"/>
                        </a:rPr>
                        <a:t> 5 LINE</a:t>
                      </a:r>
                      <a:endParaRPr lang="en-US" sz="900" b="1" i="0" u="none" strike="noStrike" dirty="0">
                        <a:solidFill>
                          <a:srgbClr val="000000"/>
                        </a:solidFill>
                        <a:effectLst/>
                        <a:latin typeface="Arial" panose="020B0604020202020204" pitchFamily="34" charset="0"/>
                      </a:endParaRP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hMerge="1">
                  <a:txBody>
                    <a:bodyPr/>
                    <a:lstStyle/>
                    <a:p>
                      <a:pPr eaLnBrk="1" latinLnBrk="0"/>
                      <a:endParaRPr lang="en-US"/>
                    </a:p>
                  </a:txBody>
                  <a:tcPr/>
                </a:tc>
                <a:tc hMerge="1">
                  <a:txBody>
                    <a:bodyPr/>
                    <a:lstStyle/>
                    <a:p>
                      <a:pPr algn="ctr" eaLnBrk="1" fontAlgn="ctr" latinLnBrk="0"/>
                      <a:endParaRPr lang="en-US" sz="900" b="1" i="0" u="none" strike="noStrike" dirty="0">
                        <a:solidFill>
                          <a:srgbClr val="000000"/>
                        </a:solidFill>
                        <a:effectLst/>
                        <a:latin typeface="Arial" panose="020B0604020202020204" pitchFamily="34" charset="0"/>
                      </a:endParaRP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rowSpan="2">
                  <a:txBody>
                    <a:bodyPr/>
                    <a:lstStyle/>
                    <a:p>
                      <a:pPr algn="ctr" eaLnBrk="1" fontAlgn="ctr" latinLnBrk="0"/>
                      <a:r>
                        <a:rPr lang="en-US" altLang="ko-KR" sz="900" b="1" i="0" u="none" strike="noStrike" dirty="0">
                          <a:solidFill>
                            <a:srgbClr val="000000"/>
                          </a:solidFill>
                          <a:effectLst/>
                          <a:latin typeface="Arial" panose="020B0604020202020204" pitchFamily="34" charset="0"/>
                        </a:rPr>
                        <a:t>CS2000</a:t>
                      </a:r>
                    </a:p>
                    <a:p>
                      <a:pPr algn="ctr" eaLnBrk="1" fontAlgn="ctr" latinLnBrk="0"/>
                      <a:r>
                        <a:rPr lang="en-US" altLang="ko-KR" sz="900" b="1" i="0" u="none" strike="noStrike" dirty="0">
                          <a:solidFill>
                            <a:srgbClr val="000000"/>
                          </a:solidFill>
                          <a:effectLst/>
                          <a:latin typeface="Arial" panose="020B0604020202020204" pitchFamily="34" charset="0"/>
                        </a:rPr>
                        <a:t>Apply luminance compensation</a:t>
                      </a:r>
                      <a:endParaRPr lang="en-US" sz="900" b="1" i="0" u="none" strike="noStrike" dirty="0">
                        <a:solidFill>
                          <a:srgbClr val="000000"/>
                        </a:solidFill>
                        <a:effectLst/>
                        <a:latin typeface="Arial" panose="020B0604020202020204" pitchFamily="34" charset="0"/>
                      </a:endParaRP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249239">
                <a:tc vMerge="1">
                  <a:txBody>
                    <a:bodyPr/>
                    <a:lstStyle/>
                    <a:p>
                      <a:pPr eaLnBrk="1" latinLnBrk="0"/>
                      <a:endParaRPr lang="ko-KR" altLang="en-US"/>
                    </a:p>
                  </a:txBody>
                  <a:tcPr/>
                </a:tc>
                <a:tc gridSpan="2">
                  <a:txBody>
                    <a:bodyPr/>
                    <a:lstStyle/>
                    <a:p>
                      <a:pPr algn="ctr" eaLnBrk="1" fontAlgn="ctr" latinLnBrk="0"/>
                      <a:r>
                        <a:rPr lang="en-US" sz="900" b="1" i="0" u="none" strike="noStrike" dirty="0">
                          <a:solidFill>
                            <a:srgbClr val="000000"/>
                          </a:solidFill>
                          <a:effectLst/>
                          <a:latin typeface="Arial" panose="020B0604020202020204" pitchFamily="34" charset="0"/>
                        </a:rPr>
                        <a:t>Model</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hMerge="1">
                  <a:txBody>
                    <a:bodyPr/>
                    <a:lstStyle/>
                    <a:p>
                      <a:pPr eaLnBrk="1" latinLnBrk="0"/>
                      <a:endParaRPr lang="ko-KR" altLang="en-US"/>
                    </a:p>
                  </a:txBody>
                  <a:tcPr/>
                </a:tc>
                <a:tc>
                  <a:txBody>
                    <a:bodyPr/>
                    <a:lstStyle/>
                    <a:p>
                      <a:pPr algn="ctr" eaLnBrk="1" fontAlgn="ctr" latinLnBrk="0"/>
                      <a:r>
                        <a:rPr lang="en-US" sz="900" b="1" i="0" u="none" strike="noStrike" dirty="0">
                          <a:solidFill>
                            <a:srgbClr val="000000"/>
                          </a:solidFill>
                          <a:effectLst/>
                          <a:latin typeface="Arial" panose="020B0604020202020204" pitchFamily="34" charset="0"/>
                        </a:rPr>
                        <a:t>BLU Type</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vMerge="1">
                  <a:txBody>
                    <a:bodyPr/>
                    <a:lstStyle/>
                    <a:p>
                      <a:pPr eaLnBrk="1" latinLnBrk="0"/>
                      <a:endParaRPr lang="ko-KR" altLang="en-US"/>
                    </a:p>
                  </a:txBody>
                  <a:tcPr/>
                </a:tc>
                <a:extLst>
                  <a:ext uri="{0D108BD9-81ED-4DB2-BD59-A6C34878D82A}">
                    <a16:rowId xmlns:a16="http://schemas.microsoft.com/office/drawing/2014/main" val="10001"/>
                  </a:ext>
                </a:extLst>
              </a:tr>
              <a:tr h="200198">
                <a:tc>
                  <a:txBody>
                    <a:bodyPr/>
                    <a:lstStyle/>
                    <a:p>
                      <a:pPr algn="ctr" eaLnBrk="1" fontAlgn="ctr" latinLnBrk="0"/>
                      <a:r>
                        <a:rPr lang="en-US" sz="900" b="0" i="0" u="none" strike="noStrike">
                          <a:solidFill>
                            <a:srgbClr val="000000"/>
                          </a:solidFill>
                          <a:effectLst/>
                          <a:latin typeface="Arial" panose="020B0604020202020204" pitchFamily="34" charset="0"/>
                        </a:rPr>
                        <a:t>1</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Bentayga (Bentley)</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CID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latinLnBrk="0"/>
                      <a:r>
                        <a:rPr lang="en-US" sz="900" b="0" i="0" u="none" strike="noStrike" kern="1200" dirty="0">
                          <a:solidFill>
                            <a:srgbClr val="000000"/>
                          </a:solidFill>
                          <a:effectLst/>
                          <a:latin typeface="Arial" panose="020B0604020202020204" pitchFamily="34" charset="0"/>
                          <a:ea typeface="+mn-ea"/>
                          <a:cs typeface="+mn-cs"/>
                        </a:rPr>
                        <a:t>Public(Normal)</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latinLnBrk="0"/>
                      <a:r>
                        <a:rPr lang="en-US" altLang="ko-KR" sz="900" b="0" i="0" u="none" strike="noStrike" kern="1200" dirty="0">
                          <a:solidFill>
                            <a:srgbClr val="000000"/>
                          </a:solidFill>
                          <a:effectLst/>
                          <a:latin typeface="Arial" panose="020B0604020202020204" pitchFamily="34" charset="0"/>
                          <a:ea typeface="+mn-ea"/>
                          <a:cs typeface="+mn-cs"/>
                        </a:rPr>
                        <a:t>-</a:t>
                      </a:r>
                      <a:endParaRPr lang="en-US" sz="900" b="0" i="0" u="none" strike="noStrike" kern="1200" dirty="0">
                        <a:solidFill>
                          <a:srgbClr val="000000"/>
                        </a:solidFill>
                        <a:effectLst/>
                        <a:latin typeface="Arial" panose="020B0604020202020204" pitchFamily="34" charset="0"/>
                        <a:ea typeface="+mn-ea"/>
                        <a:cs typeface="+mn-cs"/>
                      </a:endParaRP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r h="200198">
                <a:tc>
                  <a:txBody>
                    <a:bodyPr/>
                    <a:lstStyle/>
                    <a:p>
                      <a:pPr algn="ctr" eaLnBrk="1" fontAlgn="ctr" latinLnBrk="0"/>
                      <a:r>
                        <a:rPr lang="en-US" sz="900" b="0" i="0" u="none" strike="noStrike">
                          <a:solidFill>
                            <a:srgbClr val="000000"/>
                          </a:solidFill>
                          <a:effectLst/>
                          <a:latin typeface="Arial" panose="020B0604020202020204" pitchFamily="34" charset="0"/>
                        </a:rPr>
                        <a:t>2</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Macan</a:t>
                      </a:r>
                      <a:r>
                        <a:rPr lang="en-US" sz="900" b="0" i="0" u="none" strike="noStrike" kern="1200" baseline="0" dirty="0">
                          <a:solidFill>
                            <a:srgbClr val="000000"/>
                          </a:solidFill>
                          <a:effectLst/>
                          <a:latin typeface="Arial" panose="020B0604020202020204" pitchFamily="34" charset="0"/>
                          <a:ea typeface="+mn-ea"/>
                          <a:cs typeface="+mn-cs"/>
                        </a:rPr>
                        <a:t> LZV</a:t>
                      </a:r>
                      <a:endParaRPr lang="en-US" sz="900" b="0" i="0" u="none" strike="noStrike" kern="1200" dirty="0">
                        <a:solidFill>
                          <a:srgbClr val="000000"/>
                        </a:solidFill>
                        <a:effectLst/>
                        <a:latin typeface="Arial" panose="020B0604020202020204" pitchFamily="34" charset="0"/>
                        <a:ea typeface="+mn-ea"/>
                        <a:cs typeface="+mn-cs"/>
                      </a:endParaRP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CID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latinLnBrk="0"/>
                      <a:r>
                        <a:rPr lang="en-US" altLang="ko-KR" sz="900" b="0" i="0" u="none" strike="noStrike" kern="1200" dirty="0">
                          <a:solidFill>
                            <a:srgbClr val="000000"/>
                          </a:solidFill>
                          <a:effectLst/>
                          <a:latin typeface="Arial" panose="020B0604020202020204" pitchFamily="34" charset="0"/>
                          <a:ea typeface="+mn-ea"/>
                          <a:cs typeface="+mn-cs"/>
                        </a:rPr>
                        <a:t>Public(Normal)</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latinLnBrk="0"/>
                      <a:r>
                        <a:rPr lang="en-US" altLang="ko-KR" sz="900" b="0" i="0" u="none" strike="noStrike" kern="1200" dirty="0">
                          <a:solidFill>
                            <a:srgbClr val="000000"/>
                          </a:solidFill>
                          <a:effectLst/>
                          <a:latin typeface="Arial" panose="020B0604020202020204" pitchFamily="34" charset="0"/>
                          <a:ea typeface="+mn-ea"/>
                          <a:cs typeface="+mn-cs"/>
                        </a:rPr>
                        <a:t>-</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r h="200198">
                <a:tc>
                  <a:txBody>
                    <a:bodyPr/>
                    <a:lstStyle/>
                    <a:p>
                      <a:pPr algn="ctr" eaLnBrk="1" fontAlgn="ctr" latinLnBrk="0"/>
                      <a:r>
                        <a:rPr lang="en-US" sz="900" b="0" i="0" u="none" strike="noStrike" dirty="0">
                          <a:solidFill>
                            <a:srgbClr val="000000"/>
                          </a:solidFill>
                          <a:effectLst/>
                          <a:latin typeface="Arial" panose="020B0604020202020204" pitchFamily="34" charset="0"/>
                        </a:rPr>
                        <a:t>3</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992</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CID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latinLnBrk="0"/>
                      <a:r>
                        <a:rPr lang="en-US" altLang="ko-KR" sz="900" b="0" i="0" u="none" strike="noStrike" kern="1200" dirty="0">
                          <a:solidFill>
                            <a:srgbClr val="000000"/>
                          </a:solidFill>
                          <a:effectLst/>
                          <a:latin typeface="Arial" panose="020B0604020202020204" pitchFamily="34" charset="0"/>
                          <a:ea typeface="+mn-ea"/>
                          <a:cs typeface="+mn-cs"/>
                        </a:rPr>
                        <a:t>Public(Normal)</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latinLnBrk="0"/>
                      <a:r>
                        <a:rPr lang="en-US" altLang="ko-KR" sz="900" b="0" i="0" u="none" strike="noStrike" kern="1200" dirty="0">
                          <a:solidFill>
                            <a:srgbClr val="000000"/>
                          </a:solidFill>
                          <a:effectLst/>
                          <a:latin typeface="Arial" panose="020B0604020202020204" pitchFamily="34" charset="0"/>
                          <a:ea typeface="+mn-ea"/>
                          <a:cs typeface="+mn-cs"/>
                        </a:rPr>
                        <a:t>-</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r h="200198">
                <a:tc>
                  <a:txBody>
                    <a:bodyPr/>
                    <a:lstStyle/>
                    <a:p>
                      <a:pPr algn="ctr" eaLnBrk="1" fontAlgn="ctr" latinLnBrk="0"/>
                      <a:r>
                        <a:rPr lang="en-US" sz="900" b="0" i="0" u="none" strike="noStrike" dirty="0">
                          <a:solidFill>
                            <a:srgbClr val="000000"/>
                          </a:solidFill>
                          <a:effectLst/>
                          <a:latin typeface="Arial" panose="020B0604020202020204" pitchFamily="34" charset="0"/>
                        </a:rPr>
                        <a:t>4</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J1 CID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CID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latinLnBrk="0"/>
                      <a:r>
                        <a:rPr lang="en-US" altLang="ko-KR" sz="900" b="0" i="0" u="none" strike="noStrike" kern="1200" dirty="0">
                          <a:solidFill>
                            <a:srgbClr val="000000"/>
                          </a:solidFill>
                          <a:effectLst/>
                          <a:latin typeface="Arial" panose="020B0604020202020204" pitchFamily="34" charset="0"/>
                          <a:ea typeface="+mn-ea"/>
                          <a:cs typeface="+mn-cs"/>
                        </a:rPr>
                        <a:t>Public(Normal)</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latinLnBrk="0"/>
                      <a:r>
                        <a:rPr lang="en-US" altLang="ko-KR" sz="900" b="0" i="0" u="none" strike="noStrike" kern="1200" dirty="0">
                          <a:solidFill>
                            <a:srgbClr val="000000"/>
                          </a:solidFill>
                          <a:effectLst/>
                          <a:latin typeface="Arial" panose="020B0604020202020204" pitchFamily="34" charset="0"/>
                          <a:ea typeface="+mn-ea"/>
                          <a:cs typeface="+mn-cs"/>
                        </a:rPr>
                        <a:t>-</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r h="200198">
                <a:tc>
                  <a:txBody>
                    <a:bodyPr/>
                    <a:lstStyle/>
                    <a:p>
                      <a:pPr algn="ctr" eaLnBrk="1" fontAlgn="ctr" latinLnBrk="0"/>
                      <a:r>
                        <a:rPr lang="en-US" sz="900" b="0" i="0" u="none" strike="noStrike" dirty="0">
                          <a:solidFill>
                            <a:srgbClr val="000000"/>
                          </a:solidFill>
                          <a:effectLst/>
                          <a:latin typeface="Arial" panose="020B0604020202020204" pitchFamily="34" charset="0"/>
                        </a:rPr>
                        <a:t>5</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G3 CID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CID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latinLnBrk="0"/>
                      <a:r>
                        <a:rPr lang="en-US" altLang="ko-KR" sz="900" b="0" i="0" u="none" strike="noStrike" kern="1200" dirty="0">
                          <a:solidFill>
                            <a:srgbClr val="000000"/>
                          </a:solidFill>
                          <a:effectLst/>
                          <a:latin typeface="Arial" panose="020B0604020202020204" pitchFamily="34" charset="0"/>
                          <a:ea typeface="+mn-ea"/>
                          <a:cs typeface="+mn-cs"/>
                        </a:rPr>
                        <a:t>Public(Normal)</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latinLnBrk="0"/>
                      <a:r>
                        <a:rPr lang="en-US" altLang="ko-KR" sz="900" b="0" i="0" u="none" strike="noStrike" kern="1200" dirty="0">
                          <a:solidFill>
                            <a:srgbClr val="000000"/>
                          </a:solidFill>
                          <a:effectLst/>
                          <a:latin typeface="Arial" panose="020B0604020202020204" pitchFamily="34" charset="0"/>
                          <a:ea typeface="+mn-ea"/>
                          <a:cs typeface="+mn-cs"/>
                        </a:rPr>
                        <a:t>-</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6"/>
                  </a:ext>
                </a:extLst>
              </a:tr>
              <a:tr h="200198">
                <a:tc>
                  <a:txBody>
                    <a:bodyPr/>
                    <a:lstStyle/>
                    <a:p>
                      <a:pPr algn="ctr" eaLnBrk="1" fontAlgn="ctr" latinLnBrk="0"/>
                      <a:r>
                        <a:rPr lang="en-US" sz="900" b="0" i="0" u="none" strike="noStrike" dirty="0">
                          <a:solidFill>
                            <a:srgbClr val="000000"/>
                          </a:solidFill>
                          <a:effectLst/>
                          <a:latin typeface="Arial" panose="020B0604020202020204" pitchFamily="34" charset="0"/>
                        </a:rPr>
                        <a:t>6</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E3PA</a:t>
                      </a:r>
                      <a:r>
                        <a:rPr lang="en-US" sz="900" b="0" i="0" u="none" strike="noStrike" kern="1200" baseline="0" dirty="0">
                          <a:solidFill>
                            <a:srgbClr val="000000"/>
                          </a:solidFill>
                          <a:effectLst/>
                          <a:latin typeface="Arial" panose="020B0604020202020204" pitchFamily="34" charset="0"/>
                          <a:ea typeface="+mn-ea"/>
                          <a:cs typeface="+mn-cs"/>
                        </a:rPr>
                        <a:t> CID</a:t>
                      </a:r>
                      <a:endParaRPr lang="en-US" sz="900" b="0" i="0" u="none" strike="noStrike" kern="1200" dirty="0">
                        <a:solidFill>
                          <a:srgbClr val="000000"/>
                        </a:solidFill>
                        <a:effectLst/>
                        <a:latin typeface="Arial" panose="020B0604020202020204" pitchFamily="34" charset="0"/>
                        <a:ea typeface="+mn-ea"/>
                        <a:cs typeface="+mn-cs"/>
                      </a:endParaRP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CID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latinLnBrk="0"/>
                      <a:r>
                        <a:rPr lang="en-US" altLang="ko-KR" sz="900" b="0" i="0" u="none" strike="noStrike" kern="1200" dirty="0">
                          <a:solidFill>
                            <a:srgbClr val="000000"/>
                          </a:solidFill>
                          <a:effectLst/>
                          <a:latin typeface="Arial" panose="020B0604020202020204" pitchFamily="34" charset="0"/>
                          <a:ea typeface="+mn-ea"/>
                          <a:cs typeface="+mn-cs"/>
                        </a:rPr>
                        <a:t>Public(Normal)</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latinLnBrk="0"/>
                      <a:r>
                        <a:rPr lang="en-US" altLang="ko-KR" sz="900" b="0" i="0" u="none" strike="noStrike" kern="1200" dirty="0">
                          <a:solidFill>
                            <a:srgbClr val="000000"/>
                          </a:solidFill>
                          <a:effectLst/>
                          <a:latin typeface="Arial" panose="020B0604020202020204" pitchFamily="34" charset="0"/>
                          <a:ea typeface="+mn-ea"/>
                          <a:cs typeface="+mn-cs"/>
                        </a:rPr>
                        <a:t>-</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7"/>
                  </a:ext>
                </a:extLst>
              </a:tr>
              <a:tr h="200198">
                <a:tc rowSpan="4">
                  <a:txBody>
                    <a:bodyPr/>
                    <a:lstStyle/>
                    <a:p>
                      <a:pPr algn="ctr" eaLnBrk="1" latinLnBrk="0"/>
                      <a:r>
                        <a:rPr sz="1000" b="0">
                          <a:latin typeface="Arial"/>
                        </a:rPr>
                        <a:t>7*</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rowSpan="2">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J1 Dual LHD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PID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latinLnBrk="0"/>
                      <a:r>
                        <a:rPr lang="en-US" altLang="ko-KR" sz="900" b="0" i="0" u="none" strike="noStrike" kern="1200" dirty="0">
                          <a:solidFill>
                            <a:srgbClr val="000000"/>
                          </a:solidFill>
                          <a:effectLst/>
                          <a:latin typeface="Arial" panose="020B0604020202020204" pitchFamily="34" charset="0"/>
                          <a:ea typeface="+mn-ea"/>
                          <a:cs typeface="+mn-cs"/>
                        </a:rPr>
                        <a:t>Public(Normal)</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latinLnBrk="0"/>
                      <a:r>
                        <a:rPr lang="en-US" altLang="ko-KR" sz="900" b="0" i="0" u="none" strike="noStrike" kern="1200" dirty="0">
                          <a:solidFill>
                            <a:srgbClr val="000000"/>
                          </a:solidFill>
                          <a:effectLst/>
                          <a:latin typeface="Arial" panose="020B0604020202020204" pitchFamily="34" charset="0"/>
                          <a:ea typeface="+mn-ea"/>
                          <a:cs typeface="+mn-cs"/>
                        </a:rPr>
                        <a:t>-</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9"/>
                  </a:ext>
                </a:extLst>
              </a:tr>
              <a:tr h="200198">
                <a:tc vMerge="1">
                  <a:txBody>
                    <a:bodyPr/>
                    <a:lstStyle/>
                    <a:p>
                      <a:pPr algn="ctr" eaLnBrk="1" fontAlgn="ctr" latinLnBrk="0"/>
                      <a:endParaRPr lang="en-US" sz="900" b="0" i="0" u="none" strike="noStrike" dirty="0">
                        <a:solidFill>
                          <a:srgbClr val="000000"/>
                        </a:solidFill>
                        <a:effectLst/>
                        <a:latin typeface="Arial" panose="020B0604020202020204" pitchFamily="34" charset="0"/>
                      </a:endParaRP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vMerge="1">
                  <a:txBody>
                    <a:bodyPr/>
                    <a:lstStyle/>
                    <a:p>
                      <a:pPr algn="ctr" eaLnBrk="1" fontAlgn="ctr" latinLnBrk="0"/>
                      <a:endParaRPr lang="en-US" sz="900" b="0" i="0" u="none" strike="noStrike" kern="1200" dirty="0">
                        <a:solidFill>
                          <a:srgbClr val="000000"/>
                        </a:solidFill>
                        <a:effectLst/>
                        <a:latin typeface="Arial" panose="020B0604020202020204" pitchFamily="34" charset="0"/>
                        <a:ea typeface="+mn-ea"/>
                        <a:cs typeface="+mn-cs"/>
                      </a:endParaRP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CID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latinLnBrk="0"/>
                      <a:r>
                        <a:rPr lang="en-US" altLang="ko-KR" sz="900" b="0" i="0" u="none" strike="noStrike" kern="1200" dirty="0">
                          <a:solidFill>
                            <a:srgbClr val="000000"/>
                          </a:solidFill>
                          <a:effectLst/>
                          <a:latin typeface="Arial" panose="020B0604020202020204" pitchFamily="34" charset="0"/>
                          <a:ea typeface="+mn-ea"/>
                          <a:cs typeface="+mn-cs"/>
                        </a:rPr>
                        <a:t>Public(Normal)</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latinLnBrk="0"/>
                      <a:r>
                        <a:rPr lang="en-US" altLang="ko-KR" sz="900" b="0" i="0" u="none" strike="noStrike" kern="1200" dirty="0">
                          <a:solidFill>
                            <a:srgbClr val="000000"/>
                          </a:solidFill>
                          <a:effectLst/>
                          <a:latin typeface="Arial" panose="020B0604020202020204" pitchFamily="34" charset="0"/>
                          <a:ea typeface="+mn-ea"/>
                          <a:cs typeface="+mn-cs"/>
                        </a:rPr>
                        <a:t>-</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10"/>
                  </a:ext>
                </a:extLst>
              </a:tr>
              <a:tr h="200198">
                <a:tc vMerge="1">
                  <a:txBody>
                    <a:bodyPr/>
                    <a:lstStyle/>
                    <a:p>
                      <a:pPr algn="ctr" eaLnBrk="1" fontAlgn="ctr" latinLnBrk="0"/>
                      <a:endParaRPr lang="en-US" sz="900" b="0" i="0" u="none" strike="noStrike" dirty="0">
                        <a:solidFill>
                          <a:srgbClr val="000000"/>
                        </a:solidFill>
                        <a:effectLst/>
                        <a:latin typeface="Arial" panose="020B0604020202020204" pitchFamily="34" charset="0"/>
                      </a:endParaRP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rowSpan="2">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en-US" altLang="ko-KR" sz="900" b="0" i="0" u="none" strike="noStrike" kern="1200" dirty="0">
                          <a:solidFill>
                            <a:srgbClr val="000000"/>
                          </a:solidFill>
                          <a:effectLst/>
                          <a:latin typeface="Arial" panose="020B0604020202020204" pitchFamily="34" charset="0"/>
                          <a:ea typeface="+mn-ea"/>
                          <a:cs typeface="+mn-cs"/>
                        </a:rPr>
                        <a:t>J1 Dual RHD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PID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latinLnBrk="0"/>
                      <a:r>
                        <a:rPr lang="en-US" altLang="ko-KR" sz="900" b="0" i="0" u="none" strike="noStrike" kern="1200" dirty="0">
                          <a:solidFill>
                            <a:srgbClr val="000000"/>
                          </a:solidFill>
                          <a:effectLst/>
                          <a:latin typeface="Arial" panose="020B0604020202020204" pitchFamily="34" charset="0"/>
                          <a:ea typeface="+mn-ea"/>
                          <a:cs typeface="+mn-cs"/>
                        </a:rPr>
                        <a:t>Public(Normal)</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latinLnBrk="0"/>
                      <a:r>
                        <a:rPr lang="en-US" altLang="ko-KR" sz="900" b="0" i="0" u="none" strike="noStrike" kern="1200" dirty="0">
                          <a:solidFill>
                            <a:srgbClr val="000000"/>
                          </a:solidFill>
                          <a:effectLst/>
                          <a:latin typeface="Arial" panose="020B0604020202020204" pitchFamily="34" charset="0"/>
                          <a:ea typeface="+mn-ea"/>
                          <a:cs typeface="+mn-cs"/>
                        </a:rPr>
                        <a:t>-</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11"/>
                  </a:ext>
                </a:extLst>
              </a:tr>
              <a:tr h="200198">
                <a:tc vMerge="1">
                  <a:txBody>
                    <a:bodyPr/>
                    <a:lstStyle/>
                    <a:p>
                      <a:pPr algn="ctr" eaLnBrk="1" fontAlgn="ctr" latinLnBrk="0"/>
                      <a:endParaRPr lang="en-US" sz="900" b="0" i="0" u="none" strike="noStrike" dirty="0">
                        <a:solidFill>
                          <a:srgbClr val="000000"/>
                        </a:solidFill>
                        <a:effectLst/>
                        <a:latin typeface="Arial" panose="020B0604020202020204" pitchFamily="34" charset="0"/>
                      </a:endParaRP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vMerge="1">
                  <a:txBody>
                    <a:bodyPr/>
                    <a:lstStyle/>
                    <a:p>
                      <a:pPr algn="ctr" eaLnBrk="1" fontAlgn="ctr" latinLnBrk="0"/>
                      <a:endParaRPr lang="en-US" sz="900" b="0" i="0" u="none" strike="noStrike" kern="1200" dirty="0">
                        <a:solidFill>
                          <a:srgbClr val="000000"/>
                        </a:solidFill>
                        <a:effectLst/>
                        <a:latin typeface="Arial" panose="020B0604020202020204" pitchFamily="34" charset="0"/>
                        <a:ea typeface="+mn-ea"/>
                        <a:cs typeface="+mn-cs"/>
                      </a:endParaRP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CID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latinLnBrk="0"/>
                      <a:r>
                        <a:rPr lang="en-US" altLang="ko-KR" sz="900" b="0" i="0" u="none" strike="noStrike" kern="1200" dirty="0">
                          <a:solidFill>
                            <a:srgbClr val="000000"/>
                          </a:solidFill>
                          <a:effectLst/>
                          <a:latin typeface="Arial" panose="020B0604020202020204" pitchFamily="34" charset="0"/>
                          <a:ea typeface="+mn-ea"/>
                          <a:cs typeface="+mn-cs"/>
                        </a:rPr>
                        <a:t>Public(Normal)</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latinLnBrk="0"/>
                      <a:r>
                        <a:rPr lang="en-US" altLang="ko-KR" sz="900" b="0" i="0" u="none" strike="noStrike" kern="1200" dirty="0">
                          <a:solidFill>
                            <a:srgbClr val="000000"/>
                          </a:solidFill>
                          <a:effectLst/>
                          <a:latin typeface="Arial" panose="020B0604020202020204" pitchFamily="34" charset="0"/>
                          <a:ea typeface="+mn-ea"/>
                          <a:cs typeface="+mn-cs"/>
                        </a:rPr>
                        <a:t>-</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12"/>
                  </a:ext>
                </a:extLst>
              </a:tr>
              <a:tr h="200198">
                <a:tc>
                  <a:txBody>
                    <a:bodyPr/>
                    <a:lstStyle/>
                    <a:p>
                      <a:pPr algn="ctr" eaLnBrk="1" fontAlgn="ctr" latinLnBrk="0"/>
                      <a:r>
                        <a:rPr lang="en-US" sz="900" b="0" i="0" u="none" strike="noStrike" dirty="0">
                          <a:solidFill>
                            <a:srgbClr val="000000"/>
                          </a:solidFill>
                          <a:effectLst/>
                          <a:latin typeface="Arial" panose="020B0604020202020204" pitchFamily="34" charset="0"/>
                        </a:rPr>
                        <a:t>8</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Lamborghini</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CID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latinLnBrk="0"/>
                      <a:r>
                        <a:rPr lang="en-US" altLang="ko-KR" sz="900" b="0" i="0" u="none" strike="noStrike" kern="1200" dirty="0">
                          <a:solidFill>
                            <a:srgbClr val="000000"/>
                          </a:solidFill>
                          <a:effectLst/>
                          <a:latin typeface="Arial" panose="020B0604020202020204" pitchFamily="34" charset="0"/>
                          <a:ea typeface="+mn-ea"/>
                          <a:cs typeface="+mn-cs"/>
                        </a:rPr>
                        <a:t>Public(Normal)</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latinLnBrk="0"/>
                      <a:r>
                        <a:rPr lang="en-US" altLang="ko-KR" sz="900" b="0" i="0" u="none" strike="noStrike" kern="1200" dirty="0">
                          <a:solidFill>
                            <a:srgbClr val="000000"/>
                          </a:solidFill>
                          <a:effectLst/>
                          <a:latin typeface="Arial" panose="020B0604020202020204" pitchFamily="34" charset="0"/>
                          <a:ea typeface="+mn-ea"/>
                          <a:cs typeface="+mn-cs"/>
                        </a:rPr>
                        <a:t>-</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13"/>
                  </a:ext>
                </a:extLst>
              </a:tr>
              <a:tr h="200198">
                <a:tc rowSpan="4">
                  <a:txBody>
                    <a:bodyPr/>
                    <a:lstStyle/>
                    <a:p>
                      <a:pPr algn="ctr" eaLnBrk="1" fontAlgn="ctr" latinLnBrk="0"/>
                      <a:r>
                        <a:rPr lang="en-US" sz="900" b="0" i="0" u="none" strike="noStrike" dirty="0">
                          <a:solidFill>
                            <a:srgbClr val="000000"/>
                          </a:solidFill>
                          <a:effectLst/>
                          <a:latin typeface="Arial" panose="020B0604020202020204" pitchFamily="34" charset="0"/>
                        </a:rPr>
                        <a:t>9</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rowSpan="2">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E3PA</a:t>
                      </a:r>
                      <a:r>
                        <a:rPr lang="en-US" sz="900" b="0" i="0" u="none" strike="noStrike" kern="1200" baseline="0" dirty="0">
                          <a:solidFill>
                            <a:srgbClr val="000000"/>
                          </a:solidFill>
                          <a:effectLst/>
                          <a:latin typeface="Arial" panose="020B0604020202020204" pitchFamily="34" charset="0"/>
                          <a:ea typeface="+mn-ea"/>
                          <a:cs typeface="+mn-cs"/>
                        </a:rPr>
                        <a:t> Dual LHD</a:t>
                      </a:r>
                      <a:endParaRPr lang="en-US" sz="900" b="0" i="0" u="none" strike="noStrike" kern="1200" dirty="0">
                        <a:solidFill>
                          <a:srgbClr val="000000"/>
                        </a:solidFill>
                        <a:effectLst/>
                        <a:latin typeface="Arial" panose="020B0604020202020204" pitchFamily="34" charset="0"/>
                        <a:ea typeface="+mn-ea"/>
                        <a:cs typeface="+mn-cs"/>
                      </a:endParaRP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PID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tc>
                  <a:txBody>
                    <a:bodyPr/>
                    <a:lstStyle/>
                    <a:p>
                      <a:pPr algn="ctr" eaLnBrk="1" latinLnBrk="0"/>
                      <a:r>
                        <a:rPr lang="en-US" altLang="ko-KR" sz="900" b="0" i="0" u="none" strike="noStrike" kern="1200" dirty="0">
                          <a:solidFill>
                            <a:srgbClr val="000000"/>
                          </a:solidFill>
                          <a:effectLst/>
                          <a:latin typeface="Arial" panose="020B0604020202020204" pitchFamily="34" charset="0"/>
                          <a:ea typeface="+mn-ea"/>
                          <a:cs typeface="+mn-cs"/>
                        </a:rPr>
                        <a:t>Privacy</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tc>
                  <a:txBody>
                    <a:bodyPr/>
                    <a:lstStyle/>
                    <a:p>
                      <a:pPr algn="ctr" eaLnBrk="1" latinLnBrk="0"/>
                      <a:r>
                        <a:rPr lang="en-US" altLang="ko-KR" sz="900" b="0" i="0" u="none" strike="noStrike" kern="1200" dirty="0">
                          <a:solidFill>
                            <a:srgbClr val="000000"/>
                          </a:solidFill>
                          <a:effectLst/>
                          <a:latin typeface="Arial" panose="020B0604020202020204" pitchFamily="34" charset="0"/>
                          <a:ea typeface="+mn-ea"/>
                          <a:cs typeface="+mn-cs"/>
                        </a:rPr>
                        <a:t>-</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14"/>
                  </a:ext>
                </a:extLst>
              </a:tr>
              <a:tr h="200198">
                <a:tc vMerge="1">
                  <a:txBody>
                    <a:bodyPr/>
                    <a:lstStyle/>
                    <a:p>
                      <a:pPr algn="ctr" eaLnBrk="1" fontAlgn="ctr" latinLnBrk="0"/>
                      <a:endParaRPr lang="en-US" sz="900" b="0" i="0" u="none" strike="noStrike" dirty="0">
                        <a:solidFill>
                          <a:srgbClr val="000000"/>
                        </a:solidFill>
                        <a:effectLst/>
                        <a:latin typeface="Arial" panose="020B0604020202020204" pitchFamily="34" charset="0"/>
                      </a:endParaRP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vMerge="1">
                  <a:txBody>
                    <a:bodyPr/>
                    <a:lstStyle/>
                    <a:p>
                      <a:pPr algn="ctr" eaLnBrk="1" fontAlgn="ctr" latinLnBrk="0"/>
                      <a:endParaRPr lang="en-US" sz="900" b="0" i="0" u="none" strike="noStrike" kern="1200" dirty="0">
                        <a:solidFill>
                          <a:srgbClr val="000000"/>
                        </a:solidFill>
                        <a:effectLst/>
                        <a:latin typeface="Arial" panose="020B0604020202020204" pitchFamily="34" charset="0"/>
                        <a:ea typeface="+mn-ea"/>
                        <a:cs typeface="+mn-cs"/>
                      </a:endParaRP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CID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ko-KR" sz="900" b="0" i="0" u="none" strike="noStrike" kern="1200" dirty="0">
                          <a:solidFill>
                            <a:srgbClr val="000000"/>
                          </a:solidFill>
                          <a:effectLst/>
                          <a:latin typeface="Arial" panose="020B0604020202020204" pitchFamily="34" charset="0"/>
                          <a:ea typeface="+mn-ea"/>
                          <a:cs typeface="+mn-cs"/>
                        </a:rPr>
                        <a:t>Public(Normal)</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ko-KR" sz="900" b="0" i="0" u="none" strike="noStrike" kern="1200" dirty="0">
                          <a:solidFill>
                            <a:srgbClr val="000000"/>
                          </a:solidFill>
                          <a:effectLst/>
                          <a:latin typeface="Arial" panose="020B0604020202020204" pitchFamily="34" charset="0"/>
                          <a:ea typeface="+mn-ea"/>
                          <a:cs typeface="+mn-cs"/>
                        </a:rPr>
                        <a:t>-</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15"/>
                  </a:ext>
                </a:extLst>
              </a:tr>
              <a:tr h="200198">
                <a:tc vMerge="1">
                  <a:txBody>
                    <a:bodyPr/>
                    <a:lstStyle/>
                    <a:p>
                      <a:pPr algn="ctr" eaLnBrk="1" fontAlgn="ctr" latinLnBrk="0"/>
                      <a:endParaRPr lang="en-US" sz="900" b="0" i="0" u="none" strike="noStrike" dirty="0">
                        <a:solidFill>
                          <a:srgbClr val="000000"/>
                        </a:solidFill>
                        <a:effectLst/>
                        <a:latin typeface="Arial" panose="020B0604020202020204" pitchFamily="34" charset="0"/>
                      </a:endParaRP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rowSpan="2">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E3PA</a:t>
                      </a:r>
                      <a:r>
                        <a:rPr lang="en-US" sz="900" b="0" i="0" u="none" strike="noStrike" kern="1200" baseline="0" dirty="0">
                          <a:solidFill>
                            <a:srgbClr val="000000"/>
                          </a:solidFill>
                          <a:effectLst/>
                          <a:latin typeface="Arial" panose="020B0604020202020204" pitchFamily="34" charset="0"/>
                          <a:ea typeface="+mn-ea"/>
                          <a:cs typeface="+mn-cs"/>
                        </a:rPr>
                        <a:t> Dual RHD</a:t>
                      </a:r>
                      <a:endParaRPr lang="en-US" sz="900" b="0" i="0" u="none" strike="noStrike" kern="1200" dirty="0">
                        <a:solidFill>
                          <a:srgbClr val="000000"/>
                        </a:solidFill>
                        <a:effectLst/>
                        <a:latin typeface="Arial" panose="020B0604020202020204" pitchFamily="34" charset="0"/>
                        <a:ea typeface="+mn-ea"/>
                        <a:cs typeface="+mn-cs"/>
                      </a:endParaRP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eaLnBrk="1" fontAlgn="ctr" latinLnBrk="0"/>
                      <a:r>
                        <a:rPr lang="en-US" sz="900" b="0" i="0" u="none" strike="noStrike" kern="1200" dirty="0">
                          <a:solidFill>
                            <a:srgbClr val="FF0000"/>
                          </a:solidFill>
                          <a:effectLst/>
                          <a:latin typeface="Arial" panose="020B0604020202020204" pitchFamily="34" charset="0"/>
                          <a:ea typeface="+mn-ea"/>
                          <a:cs typeface="+mn-cs"/>
                        </a:rPr>
                        <a:t>PID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C000"/>
                    </a:solidFill>
                  </a:tcPr>
                </a:tc>
                <a:tc>
                  <a:txBody>
                    <a:bodyPr/>
                    <a:lstStyle/>
                    <a:p>
                      <a:pPr algn="ctr" eaLnBrk="1" latinLnBrk="0"/>
                      <a:r>
                        <a:rPr lang="en-US" altLang="ko-KR" sz="900" b="0" i="0" u="none" strike="noStrike" kern="1200" dirty="0">
                          <a:solidFill>
                            <a:srgbClr val="FF0000"/>
                          </a:solidFill>
                          <a:effectLst/>
                          <a:latin typeface="Arial" panose="020B0604020202020204" pitchFamily="34" charset="0"/>
                          <a:ea typeface="+mn-ea"/>
                          <a:cs typeface="+mn-cs"/>
                        </a:rPr>
                        <a:t>Privacy</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C000"/>
                    </a:solidFill>
                  </a:tcPr>
                </a:tc>
                <a:tc>
                  <a:txBody>
                    <a:bodyPr/>
                    <a:lstStyle/>
                    <a:p>
                      <a:pPr algn="ctr" eaLnBrk="1" latinLnBrk="0"/>
                      <a:r>
                        <a:rPr lang="en-US" altLang="ko-KR" sz="900" b="0" i="0" u="none" strike="noStrike" kern="1200" dirty="0">
                          <a:solidFill>
                            <a:srgbClr val="FF0000"/>
                          </a:solidFill>
                          <a:effectLst/>
                          <a:latin typeface="Arial" panose="020B0604020202020204" pitchFamily="34" charset="0"/>
                          <a:ea typeface="+mn-ea"/>
                          <a:cs typeface="+mn-cs"/>
                        </a:rPr>
                        <a:t>13%↑</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C000"/>
                    </a:solidFill>
                  </a:tcPr>
                </a:tc>
                <a:extLst>
                  <a:ext uri="{0D108BD9-81ED-4DB2-BD59-A6C34878D82A}">
                    <a16:rowId xmlns:a16="http://schemas.microsoft.com/office/drawing/2014/main" val="10016"/>
                  </a:ext>
                </a:extLst>
              </a:tr>
              <a:tr h="200198">
                <a:tc vMerge="1">
                  <a:txBody>
                    <a:bodyPr/>
                    <a:lstStyle/>
                    <a:p>
                      <a:pPr algn="ctr" eaLnBrk="1" fontAlgn="ctr" latinLnBrk="0"/>
                      <a:endParaRPr lang="en-US" sz="900" b="0" i="0" u="none" strike="noStrike" dirty="0">
                        <a:solidFill>
                          <a:srgbClr val="000000"/>
                        </a:solidFill>
                        <a:effectLst/>
                        <a:latin typeface="Arial" panose="020B0604020202020204" pitchFamily="34" charset="0"/>
                      </a:endParaRP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vMerge="1">
                  <a:txBody>
                    <a:bodyPr/>
                    <a:lstStyle/>
                    <a:p>
                      <a:pPr algn="ctr" eaLnBrk="1" fontAlgn="ctr" latinLnBrk="0"/>
                      <a:endParaRPr lang="en-US" sz="900" b="0" i="0" u="none" strike="noStrike" kern="1200" dirty="0">
                        <a:solidFill>
                          <a:srgbClr val="000000"/>
                        </a:solidFill>
                        <a:effectLst/>
                        <a:latin typeface="Arial" panose="020B0604020202020204" pitchFamily="34" charset="0"/>
                        <a:ea typeface="+mn-ea"/>
                        <a:cs typeface="+mn-cs"/>
                      </a:endParaRP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CID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ko-KR" sz="900" b="0" i="0" u="none" strike="noStrike" kern="1200" dirty="0">
                          <a:solidFill>
                            <a:srgbClr val="000000"/>
                          </a:solidFill>
                          <a:effectLst/>
                          <a:latin typeface="Arial" panose="020B0604020202020204" pitchFamily="34" charset="0"/>
                          <a:ea typeface="+mn-ea"/>
                          <a:cs typeface="+mn-cs"/>
                        </a:rPr>
                        <a:t>Public(Normal)</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ko-KR" sz="900" b="0" i="0" u="none" strike="noStrike" kern="1200" dirty="0">
                          <a:solidFill>
                            <a:srgbClr val="000000"/>
                          </a:solidFill>
                          <a:effectLst/>
                          <a:latin typeface="Arial" panose="020B0604020202020204" pitchFamily="34" charset="0"/>
                          <a:ea typeface="+mn-ea"/>
                          <a:cs typeface="+mn-cs"/>
                        </a:rPr>
                        <a:t>-</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17"/>
                  </a:ext>
                </a:extLst>
              </a:tr>
              <a:tr h="200198">
                <a:tc rowSpan="4">
                  <a:txBody>
                    <a:bodyPr/>
                    <a:lstStyle/>
                    <a:p>
                      <a:pPr algn="ctr" eaLnBrk="1" fontAlgn="ctr" latinLnBrk="0"/>
                      <a:r>
                        <a:rPr lang="en-US" sz="900" b="0" i="0" u="none" strike="noStrike" dirty="0">
                          <a:solidFill>
                            <a:srgbClr val="000000"/>
                          </a:solidFill>
                          <a:effectLst/>
                          <a:latin typeface="Arial" panose="020B0604020202020204" pitchFamily="34" charset="0"/>
                        </a:rPr>
                        <a:t>10</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rowSpan="2">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G3 Dual LHD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PID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ko-KR" sz="900" b="0" i="0" u="none" strike="noStrike" kern="1200" dirty="0">
                          <a:solidFill>
                            <a:srgbClr val="000000"/>
                          </a:solidFill>
                          <a:effectLst/>
                          <a:latin typeface="Arial" panose="020B0604020202020204" pitchFamily="34" charset="0"/>
                          <a:ea typeface="+mn-ea"/>
                          <a:cs typeface="+mn-cs"/>
                        </a:rPr>
                        <a:t>Privacy</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ko-KR" sz="900" b="0" i="0" u="none" strike="noStrike" kern="1200" dirty="0">
                          <a:solidFill>
                            <a:srgbClr val="000000"/>
                          </a:solidFill>
                          <a:effectLst/>
                          <a:latin typeface="Arial" panose="020B0604020202020204" pitchFamily="34" charset="0"/>
                          <a:ea typeface="+mn-ea"/>
                          <a:cs typeface="+mn-cs"/>
                        </a:rPr>
                        <a:t>-</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18"/>
                  </a:ext>
                </a:extLst>
              </a:tr>
              <a:tr h="200198">
                <a:tc vMerge="1">
                  <a:txBody>
                    <a:bodyPr/>
                    <a:lstStyle/>
                    <a:p>
                      <a:pPr algn="ctr" eaLnBrk="1" fontAlgn="ctr" latinLnBrk="0"/>
                      <a:endParaRPr lang="en-US" sz="900" b="0" i="0" u="none" strike="noStrike" dirty="0">
                        <a:solidFill>
                          <a:srgbClr val="000000"/>
                        </a:solidFill>
                        <a:effectLst/>
                        <a:latin typeface="Arial" panose="020B0604020202020204" pitchFamily="34" charset="0"/>
                      </a:endParaRP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vMerge="1">
                  <a:txBody>
                    <a:bodyPr/>
                    <a:lstStyle/>
                    <a:p>
                      <a:pPr algn="ctr" eaLnBrk="1" fontAlgn="ctr" latinLnBrk="0"/>
                      <a:endParaRPr lang="en-US" sz="900" b="0" i="0" u="none" strike="noStrike" kern="1200" dirty="0">
                        <a:solidFill>
                          <a:srgbClr val="000000"/>
                        </a:solidFill>
                        <a:effectLst/>
                        <a:latin typeface="Arial" panose="020B0604020202020204" pitchFamily="34" charset="0"/>
                        <a:ea typeface="+mn-ea"/>
                        <a:cs typeface="+mn-cs"/>
                      </a:endParaRP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CID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ko-KR" sz="900" b="0" i="0" u="none" strike="noStrike" kern="1200" dirty="0">
                          <a:solidFill>
                            <a:srgbClr val="000000"/>
                          </a:solidFill>
                          <a:effectLst/>
                          <a:latin typeface="Arial" panose="020B0604020202020204" pitchFamily="34" charset="0"/>
                          <a:ea typeface="+mn-ea"/>
                          <a:cs typeface="+mn-cs"/>
                        </a:rPr>
                        <a:t>Public(Normal)</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ko-KR" sz="900" b="0" i="0" u="none" strike="noStrike" kern="1200" dirty="0">
                          <a:solidFill>
                            <a:srgbClr val="000000"/>
                          </a:solidFill>
                          <a:effectLst/>
                          <a:latin typeface="Arial" panose="020B0604020202020204" pitchFamily="34" charset="0"/>
                          <a:ea typeface="+mn-ea"/>
                          <a:cs typeface="+mn-cs"/>
                        </a:rPr>
                        <a:t>-</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19"/>
                  </a:ext>
                </a:extLst>
              </a:tr>
              <a:tr h="200198">
                <a:tc vMerge="1">
                  <a:txBody>
                    <a:bodyPr/>
                    <a:lstStyle/>
                    <a:p>
                      <a:pPr algn="ctr" eaLnBrk="1" fontAlgn="ctr" latinLnBrk="0"/>
                      <a:endParaRPr lang="en-US" sz="900" b="0" i="0" u="none" strike="noStrike" dirty="0">
                        <a:solidFill>
                          <a:srgbClr val="000000"/>
                        </a:solidFill>
                        <a:effectLst/>
                        <a:latin typeface="Arial" panose="020B0604020202020204" pitchFamily="34" charset="0"/>
                      </a:endParaRP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rowSpan="2">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G3 Dual RHD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eaLnBrk="1" fontAlgn="ctr" latinLnBrk="0"/>
                      <a:r>
                        <a:rPr lang="en-US" sz="900" b="0" i="0" u="none" strike="noStrike" kern="1200" dirty="0">
                          <a:solidFill>
                            <a:srgbClr val="FF0000"/>
                          </a:solidFill>
                          <a:effectLst/>
                          <a:latin typeface="Arial" panose="020B0604020202020204" pitchFamily="34" charset="0"/>
                          <a:ea typeface="+mn-ea"/>
                          <a:cs typeface="+mn-cs"/>
                        </a:rPr>
                        <a:t>PID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C00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ko-KR" sz="900" b="0" i="0" u="none" strike="noStrike" kern="1200" dirty="0">
                          <a:solidFill>
                            <a:srgbClr val="FF0000"/>
                          </a:solidFill>
                          <a:effectLst/>
                          <a:latin typeface="Arial" panose="020B0604020202020204" pitchFamily="34" charset="0"/>
                          <a:ea typeface="+mn-ea"/>
                          <a:cs typeface="+mn-cs"/>
                        </a:rPr>
                        <a:t>Privacy</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C000"/>
                    </a:solidFill>
                  </a:tcPr>
                </a:tc>
                <a:tc>
                  <a:txBody>
                    <a:bodyPr/>
                    <a:lstStyle/>
                    <a:p>
                      <a:pPr algn="ctr" eaLnBrk="1" latinLnBrk="0"/>
                      <a:r>
                        <a:rPr lang="en-US" altLang="ko-KR" sz="900" b="0" i="0" u="none" strike="noStrike" kern="1200" dirty="0">
                          <a:solidFill>
                            <a:srgbClr val="FF0000"/>
                          </a:solidFill>
                          <a:effectLst/>
                          <a:latin typeface="Arial" panose="020B0604020202020204" pitchFamily="34" charset="0"/>
                          <a:ea typeface="+mn-ea"/>
                          <a:cs typeface="+mn-cs"/>
                        </a:rPr>
                        <a:t>13%↑</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C000"/>
                    </a:solidFill>
                  </a:tcPr>
                </a:tc>
                <a:extLst>
                  <a:ext uri="{0D108BD9-81ED-4DB2-BD59-A6C34878D82A}">
                    <a16:rowId xmlns:a16="http://schemas.microsoft.com/office/drawing/2014/main" val="10020"/>
                  </a:ext>
                </a:extLst>
              </a:tr>
              <a:tr h="200198">
                <a:tc vMerge="1">
                  <a:txBody>
                    <a:bodyPr/>
                    <a:lstStyle/>
                    <a:p>
                      <a:pPr algn="ctr" eaLnBrk="1" fontAlgn="ctr" latinLnBrk="0"/>
                      <a:endParaRPr lang="en-US" sz="900" b="0" i="0" u="none" strike="noStrike" dirty="0">
                        <a:solidFill>
                          <a:srgbClr val="000000"/>
                        </a:solidFill>
                        <a:effectLst/>
                        <a:latin typeface="Arial" panose="020B0604020202020204" pitchFamily="34" charset="0"/>
                      </a:endParaRP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vMerge="1">
                  <a:txBody>
                    <a:bodyPr/>
                    <a:lstStyle/>
                    <a:p>
                      <a:pPr algn="ctr" eaLnBrk="1" fontAlgn="ctr" latinLnBrk="0"/>
                      <a:endParaRPr lang="en-US" sz="900" b="0" i="0" u="none" strike="noStrike" kern="1200" dirty="0">
                        <a:solidFill>
                          <a:srgbClr val="000000"/>
                        </a:solidFill>
                        <a:effectLst/>
                        <a:latin typeface="Arial" panose="020B0604020202020204" pitchFamily="34" charset="0"/>
                        <a:ea typeface="+mn-ea"/>
                        <a:cs typeface="+mn-cs"/>
                      </a:endParaRP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CID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ko-KR" sz="900" b="0" i="0" u="none" strike="noStrike" kern="1200" dirty="0">
                          <a:solidFill>
                            <a:srgbClr val="000000"/>
                          </a:solidFill>
                          <a:effectLst/>
                          <a:latin typeface="Arial" panose="020B0604020202020204" pitchFamily="34" charset="0"/>
                          <a:ea typeface="+mn-ea"/>
                          <a:cs typeface="+mn-cs"/>
                        </a:rPr>
                        <a:t>Public(Normal)</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ko-KR" sz="900" b="0" i="0" u="none" strike="noStrike" kern="1200" dirty="0">
                          <a:solidFill>
                            <a:srgbClr val="000000"/>
                          </a:solidFill>
                          <a:effectLst/>
                          <a:latin typeface="Arial" panose="020B0604020202020204" pitchFamily="34" charset="0"/>
                          <a:ea typeface="+mn-ea"/>
                          <a:cs typeface="+mn-cs"/>
                        </a:rPr>
                        <a:t>-</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21"/>
                  </a:ext>
                </a:extLst>
              </a:tr>
              <a:tr h="200198">
                <a:tc rowSpan="4">
                  <a:txBody>
                    <a:bodyPr/>
                    <a:lstStyle/>
                    <a:p>
                      <a:pPr algn="ctr" eaLnBrk="1" fontAlgn="ctr" latinLnBrk="0"/>
                      <a:r>
                        <a:rPr lang="en-US" sz="900" b="0" i="0" u="none" strike="noStrike" dirty="0">
                          <a:solidFill>
                            <a:srgbClr val="000000"/>
                          </a:solidFill>
                          <a:effectLst/>
                          <a:latin typeface="Arial" panose="020B0604020202020204" pitchFamily="34" charset="0"/>
                        </a:rPr>
                        <a:t>11</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rowSpan="2">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J1 Dual PPR LHD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PID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ko-KR" sz="900" b="0" i="0" u="none" strike="noStrike" kern="1200" dirty="0">
                          <a:solidFill>
                            <a:srgbClr val="000000"/>
                          </a:solidFill>
                          <a:effectLst/>
                          <a:latin typeface="Arial" panose="020B0604020202020204" pitchFamily="34" charset="0"/>
                          <a:ea typeface="+mn-ea"/>
                          <a:cs typeface="+mn-cs"/>
                        </a:rPr>
                        <a:t>Privacy</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ko-KR" sz="900" b="0" i="0" u="none" strike="noStrike" kern="1200" dirty="0">
                          <a:solidFill>
                            <a:srgbClr val="000000"/>
                          </a:solidFill>
                          <a:effectLst/>
                          <a:latin typeface="Arial" panose="020B0604020202020204" pitchFamily="34" charset="0"/>
                          <a:ea typeface="+mn-ea"/>
                          <a:cs typeface="+mn-cs"/>
                        </a:rPr>
                        <a:t>-</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22"/>
                  </a:ext>
                </a:extLst>
              </a:tr>
              <a:tr h="200198">
                <a:tc vMerge="1">
                  <a:txBody>
                    <a:bodyPr/>
                    <a:lstStyle/>
                    <a:p>
                      <a:pPr algn="ctr" eaLnBrk="1" fontAlgn="ctr" latinLnBrk="0"/>
                      <a:endParaRPr lang="en-US" sz="900" b="0" i="0" u="none" strike="noStrike" dirty="0">
                        <a:solidFill>
                          <a:srgbClr val="000000"/>
                        </a:solidFill>
                        <a:effectLst/>
                        <a:latin typeface="Arial" panose="020B0604020202020204" pitchFamily="34" charset="0"/>
                      </a:endParaRP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vMerge="1">
                  <a:txBody>
                    <a:bodyPr/>
                    <a:lstStyle/>
                    <a:p>
                      <a:pPr algn="ctr" eaLnBrk="1" fontAlgn="ctr" latinLnBrk="0"/>
                      <a:endParaRPr lang="en-US" sz="900" b="0" i="0" u="none" strike="noStrike" kern="1200" dirty="0">
                        <a:solidFill>
                          <a:srgbClr val="000000"/>
                        </a:solidFill>
                        <a:effectLst/>
                        <a:latin typeface="Arial" panose="020B0604020202020204" pitchFamily="34" charset="0"/>
                        <a:ea typeface="+mn-ea"/>
                        <a:cs typeface="+mn-cs"/>
                      </a:endParaRP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CID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ko-KR" sz="900" b="0" i="0" u="none" strike="noStrike" kern="1200" dirty="0">
                          <a:solidFill>
                            <a:srgbClr val="000000"/>
                          </a:solidFill>
                          <a:effectLst/>
                          <a:latin typeface="Arial" panose="020B0604020202020204" pitchFamily="34" charset="0"/>
                          <a:ea typeface="+mn-ea"/>
                          <a:cs typeface="+mn-cs"/>
                        </a:rPr>
                        <a:t>Public(Normal)</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ko-KR" sz="900" b="0" i="0" u="none" strike="noStrike" kern="1200" dirty="0">
                          <a:solidFill>
                            <a:srgbClr val="000000"/>
                          </a:solidFill>
                          <a:effectLst/>
                          <a:latin typeface="Arial" panose="020B0604020202020204" pitchFamily="34" charset="0"/>
                          <a:ea typeface="+mn-ea"/>
                          <a:cs typeface="+mn-cs"/>
                        </a:rPr>
                        <a:t>-</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23"/>
                  </a:ext>
                </a:extLst>
              </a:tr>
              <a:tr h="200198">
                <a:tc vMerge="1">
                  <a:txBody>
                    <a:bodyPr/>
                    <a:lstStyle/>
                    <a:p>
                      <a:pPr algn="ctr" eaLnBrk="1" fontAlgn="ctr" latinLnBrk="0"/>
                      <a:endParaRPr lang="en-US" sz="900" b="0" i="0" u="none" strike="noStrike" dirty="0">
                        <a:solidFill>
                          <a:srgbClr val="000000"/>
                        </a:solidFill>
                        <a:effectLst/>
                        <a:latin typeface="Arial" panose="020B0604020202020204" pitchFamily="34" charset="0"/>
                      </a:endParaRP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rowSpan="2">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J1 Dual PPR RHD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eaLnBrk="1" fontAlgn="ctr" latinLnBrk="0"/>
                      <a:r>
                        <a:rPr lang="en-US" sz="900" b="0" i="0" u="none" strike="noStrike" kern="1200" dirty="0">
                          <a:solidFill>
                            <a:srgbClr val="FF0000"/>
                          </a:solidFill>
                          <a:effectLst/>
                          <a:latin typeface="Arial" panose="020B0604020202020204" pitchFamily="34" charset="0"/>
                          <a:ea typeface="+mn-ea"/>
                          <a:cs typeface="+mn-cs"/>
                        </a:rPr>
                        <a:t>PID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C00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ko-KR" sz="900" b="0" i="0" u="none" strike="noStrike" kern="1200" dirty="0">
                          <a:solidFill>
                            <a:srgbClr val="FF0000"/>
                          </a:solidFill>
                          <a:effectLst/>
                          <a:latin typeface="Arial" panose="020B0604020202020204" pitchFamily="34" charset="0"/>
                          <a:ea typeface="+mn-ea"/>
                          <a:cs typeface="+mn-cs"/>
                        </a:rPr>
                        <a:t>Privacy</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C000"/>
                    </a:solidFill>
                  </a:tcPr>
                </a:tc>
                <a:tc>
                  <a:txBody>
                    <a:bodyPr/>
                    <a:lstStyle/>
                    <a:p>
                      <a:pPr algn="ctr" eaLnBrk="1" latinLnBrk="0"/>
                      <a:r>
                        <a:rPr lang="en-US" altLang="ko-KR" sz="900" b="0" i="0" u="none" strike="noStrike" kern="1200" dirty="0">
                          <a:solidFill>
                            <a:srgbClr val="FF0000"/>
                          </a:solidFill>
                          <a:effectLst/>
                          <a:latin typeface="Arial" panose="020B0604020202020204" pitchFamily="34" charset="0"/>
                          <a:ea typeface="+mn-ea"/>
                          <a:cs typeface="+mn-cs"/>
                        </a:rPr>
                        <a:t>13%↑</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C000"/>
                    </a:solidFill>
                  </a:tcPr>
                </a:tc>
                <a:extLst>
                  <a:ext uri="{0D108BD9-81ED-4DB2-BD59-A6C34878D82A}">
                    <a16:rowId xmlns:a16="http://schemas.microsoft.com/office/drawing/2014/main" val="10024"/>
                  </a:ext>
                </a:extLst>
              </a:tr>
              <a:tr h="200198">
                <a:tc vMerge="1">
                  <a:txBody>
                    <a:bodyPr/>
                    <a:lstStyle/>
                    <a:p>
                      <a:pPr algn="ctr" eaLnBrk="1" fontAlgn="ctr" latinLnBrk="0"/>
                      <a:endParaRPr lang="en-US" sz="900" b="0" i="0" u="none" strike="noStrike" dirty="0">
                        <a:solidFill>
                          <a:srgbClr val="000000"/>
                        </a:solidFill>
                        <a:effectLst/>
                        <a:latin typeface="Arial" panose="020B0604020202020204" pitchFamily="34" charset="0"/>
                      </a:endParaRP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vMerge="1">
                  <a:txBody>
                    <a:bodyPr/>
                    <a:lstStyle/>
                    <a:p>
                      <a:pPr algn="ctr" eaLnBrk="1" fontAlgn="ctr" latinLnBrk="0"/>
                      <a:endParaRPr lang="en-US" sz="900" b="0" i="0" u="none" strike="noStrike" kern="1200" dirty="0">
                        <a:solidFill>
                          <a:srgbClr val="000000"/>
                        </a:solidFill>
                        <a:effectLst/>
                        <a:latin typeface="Arial" panose="020B0604020202020204" pitchFamily="34" charset="0"/>
                        <a:ea typeface="+mn-ea"/>
                        <a:cs typeface="+mn-cs"/>
                      </a:endParaRP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CID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ko-KR" sz="900" b="0" i="0" u="none" strike="noStrike" kern="1200" dirty="0">
                          <a:solidFill>
                            <a:srgbClr val="000000"/>
                          </a:solidFill>
                          <a:effectLst/>
                          <a:latin typeface="Arial" panose="020B0604020202020204" pitchFamily="34" charset="0"/>
                          <a:ea typeface="+mn-ea"/>
                          <a:cs typeface="+mn-cs"/>
                        </a:rPr>
                        <a:t>Public(Normal)</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ko-KR" sz="900" b="0" i="0" u="none" strike="noStrike" kern="1200" dirty="0">
                          <a:solidFill>
                            <a:srgbClr val="000000"/>
                          </a:solidFill>
                          <a:effectLst/>
                          <a:latin typeface="Arial" panose="020B0604020202020204" pitchFamily="34" charset="0"/>
                          <a:ea typeface="+mn-ea"/>
                          <a:cs typeface="+mn-cs"/>
                        </a:rPr>
                        <a:t>-</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25"/>
                  </a:ext>
                </a:extLst>
              </a:tr>
              <a:tr h="200198">
                <a:tc>
                  <a:txBody>
                    <a:bodyPr/>
                    <a:lstStyle/>
                    <a:p>
                      <a:pPr algn="ctr" eaLnBrk="1" fontAlgn="ctr" latinLnBrk="0"/>
                      <a:r>
                        <a:rPr lang="en-US" sz="900" b="0" i="0" u="none" strike="noStrike" dirty="0">
                          <a:solidFill>
                            <a:srgbClr val="000000"/>
                          </a:solidFill>
                          <a:effectLst/>
                          <a:latin typeface="Arial" panose="020B0604020202020204" pitchFamily="34" charset="0"/>
                        </a:rPr>
                        <a:t>12</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G2</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en-US" altLang="ko-KR" sz="900" b="0" i="0" u="none" strike="noStrike" kern="1200" dirty="0">
                          <a:solidFill>
                            <a:srgbClr val="000000"/>
                          </a:solidFill>
                          <a:effectLst/>
                          <a:latin typeface="Arial" panose="020B0604020202020204" pitchFamily="34" charset="0"/>
                          <a:ea typeface="+mn-ea"/>
                          <a:cs typeface="+mn-cs"/>
                        </a:rPr>
                        <a:t>CID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ko-KR" sz="900" b="0" i="0" u="none" strike="noStrike" kern="1200" dirty="0">
                          <a:solidFill>
                            <a:srgbClr val="000000"/>
                          </a:solidFill>
                          <a:effectLst/>
                          <a:latin typeface="Arial" panose="020B0604020202020204" pitchFamily="34" charset="0"/>
                          <a:ea typeface="+mn-ea"/>
                          <a:cs typeface="+mn-cs"/>
                        </a:rPr>
                        <a:t>Public(Normal)</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ko-KR" sz="900" b="0" i="0" u="none" strike="noStrike" kern="1200" dirty="0">
                          <a:solidFill>
                            <a:srgbClr val="000000"/>
                          </a:solidFill>
                          <a:effectLst/>
                          <a:latin typeface="Arial" panose="020B0604020202020204" pitchFamily="34" charset="0"/>
                          <a:ea typeface="+mn-ea"/>
                          <a:cs typeface="+mn-cs"/>
                        </a:rPr>
                        <a:t>-</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26"/>
                  </a:ext>
                </a:extLst>
              </a:tr>
              <a:tr h="200198">
                <a:tc>
                  <a:txBody>
                    <a:bodyPr/>
                    <a:lstStyle/>
                    <a:p>
                      <a:pPr algn="ctr" eaLnBrk="1" fontAlgn="ctr" latinLnBrk="0"/>
                      <a:r>
                        <a:rPr lang="en-US" sz="900" b="0" i="0" u="none" strike="noStrike" dirty="0">
                          <a:solidFill>
                            <a:srgbClr val="000000"/>
                          </a:solidFill>
                          <a:effectLst/>
                          <a:latin typeface="Arial" panose="020B0604020202020204" pitchFamily="34" charset="0"/>
                        </a:rPr>
                        <a:t>13</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E3</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en-US" altLang="ko-KR" sz="900" b="0" i="0" u="none" strike="noStrike" kern="1200" dirty="0">
                          <a:solidFill>
                            <a:srgbClr val="000000"/>
                          </a:solidFill>
                          <a:effectLst/>
                          <a:latin typeface="Arial" panose="020B0604020202020204" pitchFamily="34" charset="0"/>
                          <a:ea typeface="+mn-ea"/>
                          <a:cs typeface="+mn-cs"/>
                        </a:rPr>
                        <a:t>CID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ko-KR" sz="900" b="0" i="0" u="none" strike="noStrike" kern="1200" dirty="0">
                          <a:solidFill>
                            <a:srgbClr val="000000"/>
                          </a:solidFill>
                          <a:effectLst/>
                          <a:latin typeface="Arial" panose="020B0604020202020204" pitchFamily="34" charset="0"/>
                          <a:ea typeface="+mn-ea"/>
                          <a:cs typeface="+mn-cs"/>
                        </a:rPr>
                        <a:t>Public(Normal)</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ko-KR" sz="900" b="0" i="0" u="none" strike="noStrike" kern="1200" dirty="0">
                          <a:solidFill>
                            <a:srgbClr val="000000"/>
                          </a:solidFill>
                          <a:effectLst/>
                          <a:latin typeface="Arial" panose="020B0604020202020204" pitchFamily="34" charset="0"/>
                          <a:ea typeface="+mn-ea"/>
                          <a:cs typeface="+mn-cs"/>
                        </a:rPr>
                        <a:t>-</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27"/>
                  </a:ext>
                </a:extLst>
              </a:tr>
            </a:tbl>
          </a:graphicData>
        </a:graphic>
      </p:graphicFrame>
      <p:pic>
        <p:nvPicPr>
          <p:cNvPr id="27" name="그림 26"/>
          <p:cNvPicPr>
            <a:picLocks noChangeAspect="1"/>
          </p:cNvPicPr>
          <p:nvPr/>
        </p:nvPicPr>
        <p:blipFill>
          <a:blip r:embed="rId2"/>
          <a:stretch>
            <a:fillRect/>
          </a:stretch>
        </p:blipFill>
        <p:spPr>
          <a:xfrm>
            <a:off x="4797272" y="5053264"/>
            <a:ext cx="1713598" cy="1285199"/>
          </a:xfrm>
          <a:prstGeom prst="rect">
            <a:avLst/>
          </a:prstGeom>
        </p:spPr>
      </p:pic>
      <p:pic>
        <p:nvPicPr>
          <p:cNvPr id="28" name="그림 27"/>
          <p:cNvPicPr>
            <a:picLocks noChangeAspect="1"/>
          </p:cNvPicPr>
          <p:nvPr/>
        </p:nvPicPr>
        <p:blipFill>
          <a:blip r:embed="rId3"/>
          <a:stretch>
            <a:fillRect/>
          </a:stretch>
        </p:blipFill>
        <p:spPr>
          <a:xfrm>
            <a:off x="7301071" y="5076792"/>
            <a:ext cx="1650858" cy="1238144"/>
          </a:xfrm>
          <a:prstGeom prst="rect">
            <a:avLst/>
          </a:prstGeom>
        </p:spPr>
      </p:pic>
      <p:sp>
        <p:nvSpPr>
          <p:cNvPr id="29" name="TextBox 37"/>
          <p:cNvSpPr txBox="1">
            <a:spLocks noChangeArrowheads="1"/>
          </p:cNvSpPr>
          <p:nvPr/>
        </p:nvSpPr>
        <p:spPr bwMode="auto">
          <a:xfrm>
            <a:off x="4702628" y="4600800"/>
            <a:ext cx="1752403" cy="4154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171450" indent="-171450">
              <a:defRPr kumimoji="1" sz="1200" b="1">
                <a:solidFill>
                  <a:srgbClr val="FF0000"/>
                </a:solidFill>
                <a:latin typeface="Arial" panose="020B0604020202020204" pitchFamily="34" charset="0"/>
                <a:ea typeface="굴림" panose="020B0600000101010101" pitchFamily="50" charset="-127"/>
              </a:defRPr>
            </a:lvl1pPr>
            <a:lvl2pPr>
              <a:defRPr kumimoji="1" sz="1200" b="1">
                <a:solidFill>
                  <a:srgbClr val="FF0000"/>
                </a:solidFill>
                <a:latin typeface="Arial" panose="020B0604020202020204" pitchFamily="34" charset="0"/>
                <a:ea typeface="굴림" panose="020B0600000101010101" pitchFamily="50" charset="-127"/>
              </a:defRPr>
            </a:lvl2pPr>
            <a:lvl3pPr>
              <a:defRPr kumimoji="1" sz="1200" b="1">
                <a:solidFill>
                  <a:srgbClr val="FF0000"/>
                </a:solidFill>
                <a:latin typeface="Arial" panose="020B0604020202020204" pitchFamily="34" charset="0"/>
                <a:ea typeface="굴림" panose="020B0600000101010101" pitchFamily="50" charset="-127"/>
              </a:defRPr>
            </a:lvl3pPr>
            <a:lvl4pPr>
              <a:defRPr kumimoji="1" sz="1200" b="1">
                <a:solidFill>
                  <a:srgbClr val="FF0000"/>
                </a:solidFill>
                <a:latin typeface="Arial" panose="020B0604020202020204" pitchFamily="34" charset="0"/>
                <a:ea typeface="굴림" panose="020B0600000101010101" pitchFamily="50" charset="-127"/>
              </a:defRPr>
            </a:lvl4pPr>
            <a:lvl5pPr>
              <a:defRPr kumimoji="1" sz="1200" b="1">
                <a:solidFill>
                  <a:srgbClr val="FF0000"/>
                </a:solidFill>
                <a:latin typeface="Arial" panose="020B0604020202020204" pitchFamily="34" charset="0"/>
                <a:ea typeface="굴림" panose="020B0600000101010101" pitchFamily="50" charset="-127"/>
              </a:defRPr>
            </a:lvl5pPr>
            <a:lvl6pPr marL="28654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6pPr>
            <a:lvl7pPr marL="33226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7pPr>
            <a:lvl8pPr marL="37798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8pPr>
            <a:lvl9pPr marL="42370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9pPr>
          </a:lstStyle>
          <a:p>
            <a:pPr eaLnBrk="1" latinLnBrk="0">
              <a:buFont typeface="Wingdings" panose="05000000000000000000" pitchFamily="2" charset="2"/>
              <a:buChar char="§"/>
              <a:defRPr/>
            </a:pPr>
            <a:r>
              <a:rPr lang="en-US" altLang="ko-KR" sz="1000" b="0" dirty="0">
                <a:solidFill>
                  <a:schemeClr val="tx1"/>
                </a:solidFill>
                <a:latin typeface="Arial" panose="020B0600000101010101" pitchFamily="50" charset="-127"/>
                <a:ea typeface="Arial" panose="020B0600000101010101" pitchFamily="50" charset="-127"/>
                <a:cs typeface="Arial" panose="020B0604020202020204" pitchFamily="34" charset="0"/>
                <a:sym typeface="Arial" panose="020B0604020202020204" pitchFamily="34" charset="0"/>
              </a:rPr>
              <a:t>Privacy View Angle (PID)</a:t>
            </a:r>
          </a:p>
          <a:p>
            <a:pPr marL="0" indent="0" eaLnBrk="1" latinLnBrk="0">
              <a:defRPr/>
            </a:pPr>
            <a:endParaRPr lang="en-US" altLang="ko-KR" sz="1100" b="0" dirty="0">
              <a:solidFill>
                <a:schemeClr val="tx1"/>
              </a:solidFill>
              <a:latin typeface="LG스마트체 Regular" panose="020B0600000101010101" pitchFamily="50" charset="-127"/>
              <a:ea typeface="LG스마트체 Regular" panose="020B0600000101010101" pitchFamily="50" charset="-127"/>
              <a:cs typeface="Arial" panose="020B0604020202020204" pitchFamily="34" charset="0"/>
              <a:sym typeface="Arial" panose="020B0604020202020204" pitchFamily="34" charset="0"/>
            </a:endParaRPr>
          </a:p>
        </p:txBody>
      </p:sp>
      <p:sp>
        <p:nvSpPr>
          <p:cNvPr id="30" name="TextBox 37"/>
          <p:cNvSpPr txBox="1">
            <a:spLocks noChangeArrowheads="1"/>
          </p:cNvSpPr>
          <p:nvPr/>
        </p:nvSpPr>
        <p:spPr bwMode="auto">
          <a:xfrm>
            <a:off x="7280550" y="4600800"/>
            <a:ext cx="1691489"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171450" indent="-171450">
              <a:defRPr kumimoji="1" sz="1200" b="1">
                <a:solidFill>
                  <a:srgbClr val="FF0000"/>
                </a:solidFill>
                <a:latin typeface="Arial" panose="020B0604020202020204" pitchFamily="34" charset="0"/>
                <a:ea typeface="굴림" panose="020B0600000101010101" pitchFamily="50" charset="-127"/>
              </a:defRPr>
            </a:lvl1pPr>
            <a:lvl2pPr>
              <a:defRPr kumimoji="1" sz="1200" b="1">
                <a:solidFill>
                  <a:srgbClr val="FF0000"/>
                </a:solidFill>
                <a:latin typeface="Arial" panose="020B0604020202020204" pitchFamily="34" charset="0"/>
                <a:ea typeface="굴림" panose="020B0600000101010101" pitchFamily="50" charset="-127"/>
              </a:defRPr>
            </a:lvl2pPr>
            <a:lvl3pPr>
              <a:defRPr kumimoji="1" sz="1200" b="1">
                <a:solidFill>
                  <a:srgbClr val="FF0000"/>
                </a:solidFill>
                <a:latin typeface="Arial" panose="020B0604020202020204" pitchFamily="34" charset="0"/>
                <a:ea typeface="굴림" panose="020B0600000101010101" pitchFamily="50" charset="-127"/>
              </a:defRPr>
            </a:lvl3pPr>
            <a:lvl4pPr>
              <a:defRPr kumimoji="1" sz="1200" b="1">
                <a:solidFill>
                  <a:srgbClr val="FF0000"/>
                </a:solidFill>
                <a:latin typeface="Arial" panose="020B0604020202020204" pitchFamily="34" charset="0"/>
                <a:ea typeface="굴림" panose="020B0600000101010101" pitchFamily="50" charset="-127"/>
              </a:defRPr>
            </a:lvl4pPr>
            <a:lvl5pPr>
              <a:defRPr kumimoji="1" sz="1200" b="1">
                <a:solidFill>
                  <a:srgbClr val="FF0000"/>
                </a:solidFill>
                <a:latin typeface="Arial" panose="020B0604020202020204" pitchFamily="34" charset="0"/>
                <a:ea typeface="굴림" panose="020B0600000101010101" pitchFamily="50" charset="-127"/>
              </a:defRPr>
            </a:lvl5pPr>
            <a:lvl6pPr marL="28654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6pPr>
            <a:lvl7pPr marL="33226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7pPr>
            <a:lvl8pPr marL="37798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8pPr>
            <a:lvl9pPr marL="42370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9pPr>
          </a:lstStyle>
          <a:p>
            <a:pPr eaLnBrk="1" latinLnBrk="0">
              <a:buFont typeface="Wingdings" panose="05000000000000000000" pitchFamily="2" charset="2"/>
              <a:buChar char="§"/>
              <a:defRPr/>
            </a:pPr>
            <a:r>
              <a:rPr lang="en-US" altLang="ko-KR" sz="1000" b="0" dirty="0">
                <a:solidFill>
                  <a:schemeClr val="tx1"/>
                </a:solidFill>
                <a:latin typeface="Arial" panose="020B0600000101010101" pitchFamily="50" charset="-127"/>
                <a:ea typeface="Arial" panose="020B0600000101010101" pitchFamily="50" charset="-127"/>
                <a:cs typeface="Arial" panose="020B0604020202020204" pitchFamily="34" charset="0"/>
                <a:sym typeface="Arial" panose="020B0604020202020204" pitchFamily="34" charset="0"/>
              </a:rPr>
              <a:t>Public View Angle (CID)</a:t>
            </a:r>
          </a:p>
        </p:txBody>
      </p:sp>
      <p:pic>
        <p:nvPicPr>
          <p:cNvPr id="8" name="그림 7"/>
          <p:cNvPicPr>
            <a:picLocks noChangeAspect="1"/>
          </p:cNvPicPr>
          <p:nvPr/>
        </p:nvPicPr>
        <p:blipFill rotWithShape="1">
          <a:blip r:embed="rId4"/>
          <a:srcRect l="52980" t="20433" r="20933" b="68609"/>
          <a:stretch/>
        </p:blipFill>
        <p:spPr>
          <a:xfrm>
            <a:off x="4550818" y="3845476"/>
            <a:ext cx="4723003" cy="557966"/>
          </a:xfrm>
          <a:prstGeom prst="rect">
            <a:avLst/>
          </a:prstGeom>
        </p:spPr>
      </p:pic>
      <p:grpSp>
        <p:nvGrpSpPr>
          <p:cNvPr id="10" name="그룹 9"/>
          <p:cNvGrpSpPr/>
          <p:nvPr/>
        </p:nvGrpSpPr>
        <p:grpSpPr>
          <a:xfrm>
            <a:off x="4766088" y="1806629"/>
            <a:ext cx="4137556" cy="2023142"/>
            <a:chOff x="4889570" y="1204240"/>
            <a:chExt cx="4137556" cy="2023142"/>
          </a:xfrm>
        </p:grpSpPr>
        <p:pic>
          <p:nvPicPr>
            <p:cNvPr id="2" name="그림 1"/>
            <p:cNvPicPr>
              <a:picLocks noChangeAspect="1"/>
            </p:cNvPicPr>
            <p:nvPr/>
          </p:nvPicPr>
          <p:blipFill rotWithShape="1">
            <a:blip r:embed="rId5"/>
            <a:srcRect l="21954" t="30233" r="63077" b="43273"/>
            <a:stretch/>
          </p:blipFill>
          <p:spPr>
            <a:xfrm>
              <a:off x="4889570" y="1353650"/>
              <a:ext cx="3242600" cy="1873732"/>
            </a:xfrm>
            <a:prstGeom prst="rect">
              <a:avLst/>
            </a:prstGeom>
          </p:spPr>
        </p:pic>
        <p:cxnSp>
          <p:nvCxnSpPr>
            <p:cNvPr id="5" name="직선 연결선 4"/>
            <p:cNvCxnSpPr/>
            <p:nvPr/>
          </p:nvCxnSpPr>
          <p:spPr>
            <a:xfrm>
              <a:off x="8126500" y="1812324"/>
              <a:ext cx="255373" cy="0"/>
            </a:xfrm>
            <a:prstGeom prst="line">
              <a:avLst/>
            </a:prstGeom>
            <a:ln w="25400">
              <a:solidFill>
                <a:srgbClr val="EE8943"/>
              </a:solidFill>
            </a:ln>
          </p:spPr>
          <p:style>
            <a:lnRef idx="1">
              <a:schemeClr val="accent1"/>
            </a:lnRef>
            <a:fillRef idx="0">
              <a:schemeClr val="accent1"/>
            </a:fillRef>
            <a:effectRef idx="0">
              <a:schemeClr val="accent1"/>
            </a:effectRef>
            <a:fontRef idx="minor">
              <a:schemeClr val="tx1"/>
            </a:fontRef>
          </p:style>
        </p:cxnSp>
        <p:cxnSp>
          <p:nvCxnSpPr>
            <p:cNvPr id="34" name="직선 연결선 33"/>
            <p:cNvCxnSpPr/>
            <p:nvPr/>
          </p:nvCxnSpPr>
          <p:spPr>
            <a:xfrm>
              <a:off x="8126500" y="2001794"/>
              <a:ext cx="255373" cy="0"/>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35" name="TextBox 37"/>
            <p:cNvSpPr txBox="1">
              <a:spLocks noChangeArrowheads="1"/>
            </p:cNvSpPr>
            <p:nvPr/>
          </p:nvSpPr>
          <p:spPr bwMode="auto">
            <a:xfrm>
              <a:off x="8358353" y="1690872"/>
              <a:ext cx="66877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171450" indent="-171450">
                <a:defRPr kumimoji="1" sz="1200" b="1">
                  <a:solidFill>
                    <a:srgbClr val="FF0000"/>
                  </a:solidFill>
                  <a:latin typeface="Arial" panose="020B0604020202020204" pitchFamily="34" charset="0"/>
                  <a:ea typeface="굴림" panose="020B0600000101010101" pitchFamily="50" charset="-127"/>
                </a:defRPr>
              </a:lvl1pPr>
              <a:lvl2pPr>
                <a:defRPr kumimoji="1" sz="1200" b="1">
                  <a:solidFill>
                    <a:srgbClr val="FF0000"/>
                  </a:solidFill>
                  <a:latin typeface="Arial" panose="020B0604020202020204" pitchFamily="34" charset="0"/>
                  <a:ea typeface="굴림" panose="020B0600000101010101" pitchFamily="50" charset="-127"/>
                </a:defRPr>
              </a:lvl2pPr>
              <a:lvl3pPr>
                <a:defRPr kumimoji="1" sz="1200" b="1">
                  <a:solidFill>
                    <a:srgbClr val="FF0000"/>
                  </a:solidFill>
                  <a:latin typeface="Arial" panose="020B0604020202020204" pitchFamily="34" charset="0"/>
                  <a:ea typeface="굴림" panose="020B0600000101010101" pitchFamily="50" charset="-127"/>
                </a:defRPr>
              </a:lvl3pPr>
              <a:lvl4pPr>
                <a:defRPr kumimoji="1" sz="1200" b="1">
                  <a:solidFill>
                    <a:srgbClr val="FF0000"/>
                  </a:solidFill>
                  <a:latin typeface="Arial" panose="020B0604020202020204" pitchFamily="34" charset="0"/>
                  <a:ea typeface="굴림" panose="020B0600000101010101" pitchFamily="50" charset="-127"/>
                </a:defRPr>
              </a:lvl4pPr>
              <a:lvl5pPr>
                <a:defRPr kumimoji="1" sz="1200" b="1">
                  <a:solidFill>
                    <a:srgbClr val="FF0000"/>
                  </a:solidFill>
                  <a:latin typeface="Arial" panose="020B0604020202020204" pitchFamily="34" charset="0"/>
                  <a:ea typeface="굴림" panose="020B0600000101010101" pitchFamily="50" charset="-127"/>
                </a:defRPr>
              </a:lvl5pPr>
              <a:lvl6pPr marL="28654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6pPr>
              <a:lvl7pPr marL="33226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7pPr>
              <a:lvl8pPr marL="37798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8pPr>
              <a:lvl9pPr marL="42370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9pPr>
            </a:lstStyle>
            <a:p>
              <a:pPr marL="0" indent="0">
                <a:defRPr/>
              </a:pPr>
              <a:r>
                <a:rPr lang="en-US" altLang="ko-KR" sz="1100" b="0" dirty="0">
                  <a:solidFill>
                    <a:schemeClr val="tx1"/>
                  </a:solidFill>
                  <a:latin typeface="Arial" panose="020B0600000101010101" pitchFamily="50" charset="-127"/>
                  <a:ea typeface="Arial" panose="020B0600000101010101" pitchFamily="50" charset="-127"/>
                  <a:cs typeface="Arial" panose="020B0604020202020204" pitchFamily="34" charset="0"/>
                  <a:sym typeface="Arial" panose="020B0604020202020204" pitchFamily="34" charset="0"/>
                </a:rPr>
                <a:t>Public</a:t>
              </a:r>
            </a:p>
            <a:p>
              <a:pPr marL="0" indent="0">
                <a:defRPr/>
              </a:pPr>
              <a:r>
                <a:rPr lang="en-US" altLang="ko-KR" sz="1100" b="0" dirty="0">
                  <a:solidFill>
                    <a:schemeClr val="tx1"/>
                  </a:solidFill>
                  <a:latin typeface="Arial" panose="020B0600000101010101" pitchFamily="50" charset="-127"/>
                  <a:ea typeface="Arial" panose="020B0600000101010101" pitchFamily="50" charset="-127"/>
                  <a:cs typeface="Arial" panose="020B0604020202020204" pitchFamily="34" charset="0"/>
                  <a:sym typeface="Arial" panose="020B0604020202020204" pitchFamily="34" charset="0"/>
                </a:rPr>
                <a:t>Privacy</a:t>
              </a:r>
            </a:p>
          </p:txBody>
        </p:sp>
        <p:cxnSp>
          <p:nvCxnSpPr>
            <p:cNvPr id="36" name="직선 연결선 35"/>
            <p:cNvCxnSpPr/>
            <p:nvPr/>
          </p:nvCxnSpPr>
          <p:spPr>
            <a:xfrm flipV="1">
              <a:off x="6605478" y="1437146"/>
              <a:ext cx="0" cy="1585753"/>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39" name="직선 연결선 38"/>
            <p:cNvCxnSpPr/>
            <p:nvPr/>
          </p:nvCxnSpPr>
          <p:spPr>
            <a:xfrm flipV="1">
              <a:off x="6535584" y="1437146"/>
              <a:ext cx="0" cy="1585753"/>
            </a:xfrm>
            <a:prstGeom prst="line">
              <a:avLst/>
            </a:prstGeom>
            <a:ln w="19050">
              <a:prstDash val="sysDash"/>
            </a:ln>
          </p:spPr>
          <p:style>
            <a:lnRef idx="1">
              <a:schemeClr val="accent1"/>
            </a:lnRef>
            <a:fillRef idx="0">
              <a:schemeClr val="accent1"/>
            </a:fillRef>
            <a:effectRef idx="0">
              <a:schemeClr val="accent1"/>
            </a:effectRef>
            <a:fontRef idx="minor">
              <a:schemeClr val="tx1"/>
            </a:fontRef>
          </p:style>
        </p:cxnSp>
        <p:sp>
          <p:nvSpPr>
            <p:cNvPr id="40" name="TextBox 37"/>
            <p:cNvSpPr txBox="1">
              <a:spLocks noChangeArrowheads="1"/>
            </p:cNvSpPr>
            <p:nvPr/>
          </p:nvSpPr>
          <p:spPr bwMode="auto">
            <a:xfrm>
              <a:off x="6403698" y="1480352"/>
              <a:ext cx="320922"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pPr algn="ctr"/>
              <a:r>
                <a:rPr lang="en-US" altLang="ko-KR" sz="1000" b="0" dirty="0">
                  <a:solidFill>
                    <a:srgbClr val="FF0000"/>
                  </a:solidFill>
                  <a:latin typeface="Arial" panose="020B0600000101010101" pitchFamily="50" charset="-127"/>
                  <a:ea typeface="Arial" panose="020B0600000101010101" pitchFamily="50" charset="-127"/>
                  <a:cs typeface="Arial" panose="020B0604020202020204" pitchFamily="34" charset="0"/>
                  <a:sym typeface="Wingdings" panose="05000000000000000000" pitchFamily="2" charset="2"/>
                </a:rPr>
                <a:t></a:t>
              </a:r>
            </a:p>
          </p:txBody>
        </p:sp>
        <p:sp>
          <p:nvSpPr>
            <p:cNvPr id="41" name="TextBox 37"/>
            <p:cNvSpPr txBox="1">
              <a:spLocks noChangeArrowheads="1"/>
            </p:cNvSpPr>
            <p:nvPr/>
          </p:nvSpPr>
          <p:spPr bwMode="auto">
            <a:xfrm>
              <a:off x="6189378" y="1204240"/>
              <a:ext cx="351378"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171450" indent="-171450">
                <a:defRPr kumimoji="1" sz="1200" b="1">
                  <a:solidFill>
                    <a:srgbClr val="FF0000"/>
                  </a:solidFill>
                  <a:latin typeface="Arial" panose="020B0604020202020204" pitchFamily="34" charset="0"/>
                  <a:ea typeface="굴림" panose="020B0600000101010101" pitchFamily="50" charset="-127"/>
                </a:defRPr>
              </a:lvl1pPr>
              <a:lvl2pPr>
                <a:defRPr kumimoji="1" sz="1200" b="1">
                  <a:solidFill>
                    <a:srgbClr val="FF0000"/>
                  </a:solidFill>
                  <a:latin typeface="Arial" panose="020B0604020202020204" pitchFamily="34" charset="0"/>
                  <a:ea typeface="굴림" panose="020B0600000101010101" pitchFamily="50" charset="-127"/>
                </a:defRPr>
              </a:lvl2pPr>
              <a:lvl3pPr>
                <a:defRPr kumimoji="1" sz="1200" b="1">
                  <a:solidFill>
                    <a:srgbClr val="FF0000"/>
                  </a:solidFill>
                  <a:latin typeface="Arial" panose="020B0604020202020204" pitchFamily="34" charset="0"/>
                  <a:ea typeface="굴림" panose="020B0600000101010101" pitchFamily="50" charset="-127"/>
                </a:defRPr>
              </a:lvl3pPr>
              <a:lvl4pPr>
                <a:defRPr kumimoji="1" sz="1200" b="1">
                  <a:solidFill>
                    <a:srgbClr val="FF0000"/>
                  </a:solidFill>
                  <a:latin typeface="Arial" panose="020B0604020202020204" pitchFamily="34" charset="0"/>
                  <a:ea typeface="굴림" panose="020B0600000101010101" pitchFamily="50" charset="-127"/>
                </a:defRPr>
              </a:lvl4pPr>
              <a:lvl5pPr>
                <a:defRPr kumimoji="1" sz="1200" b="1">
                  <a:solidFill>
                    <a:srgbClr val="FF0000"/>
                  </a:solidFill>
                  <a:latin typeface="Arial" panose="020B0604020202020204" pitchFamily="34" charset="0"/>
                  <a:ea typeface="굴림" panose="020B0600000101010101" pitchFamily="50" charset="-127"/>
                </a:defRPr>
              </a:lvl5pPr>
              <a:lvl6pPr marL="28654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6pPr>
              <a:lvl7pPr marL="33226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7pPr>
              <a:lvl8pPr marL="37798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8pPr>
              <a:lvl9pPr marL="42370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9pPr>
            </a:lstStyle>
            <a:p>
              <a:pPr marL="0" indent="0">
                <a:defRPr/>
              </a:pPr>
              <a:r>
                <a:rPr lang="en-US" altLang="ko-KR" sz="800" b="0" dirty="0">
                  <a:solidFill>
                    <a:schemeClr val="tx1"/>
                  </a:solidFill>
                  <a:latin typeface="Arial" panose="020B0600000101010101" pitchFamily="50" charset="-127"/>
                  <a:ea typeface="Arial" panose="020B0600000101010101" pitchFamily="50" charset="-127"/>
                  <a:cs typeface="Arial" panose="020B0604020202020204" pitchFamily="34" charset="0"/>
                  <a:sym typeface="Arial" panose="020B0604020202020204" pitchFamily="34" charset="0"/>
                </a:rPr>
                <a:t>89°</a:t>
              </a:r>
            </a:p>
          </p:txBody>
        </p:sp>
        <p:sp>
          <p:nvSpPr>
            <p:cNvPr id="43" name="TextBox 37"/>
            <p:cNvSpPr txBox="1">
              <a:spLocks noChangeArrowheads="1"/>
            </p:cNvSpPr>
            <p:nvPr/>
          </p:nvSpPr>
          <p:spPr bwMode="auto">
            <a:xfrm>
              <a:off x="6582101" y="1204240"/>
              <a:ext cx="351378"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171450" indent="-171450">
                <a:defRPr kumimoji="1" sz="1200" b="1">
                  <a:solidFill>
                    <a:srgbClr val="FF0000"/>
                  </a:solidFill>
                  <a:latin typeface="Arial" panose="020B0604020202020204" pitchFamily="34" charset="0"/>
                  <a:ea typeface="굴림" panose="020B0600000101010101" pitchFamily="50" charset="-127"/>
                </a:defRPr>
              </a:lvl1pPr>
              <a:lvl2pPr>
                <a:defRPr kumimoji="1" sz="1200" b="1">
                  <a:solidFill>
                    <a:srgbClr val="FF0000"/>
                  </a:solidFill>
                  <a:latin typeface="Arial" panose="020B0604020202020204" pitchFamily="34" charset="0"/>
                  <a:ea typeface="굴림" panose="020B0600000101010101" pitchFamily="50" charset="-127"/>
                </a:defRPr>
              </a:lvl2pPr>
              <a:lvl3pPr>
                <a:defRPr kumimoji="1" sz="1200" b="1">
                  <a:solidFill>
                    <a:srgbClr val="FF0000"/>
                  </a:solidFill>
                  <a:latin typeface="Arial" panose="020B0604020202020204" pitchFamily="34" charset="0"/>
                  <a:ea typeface="굴림" panose="020B0600000101010101" pitchFamily="50" charset="-127"/>
                </a:defRPr>
              </a:lvl3pPr>
              <a:lvl4pPr>
                <a:defRPr kumimoji="1" sz="1200" b="1">
                  <a:solidFill>
                    <a:srgbClr val="FF0000"/>
                  </a:solidFill>
                  <a:latin typeface="Arial" panose="020B0604020202020204" pitchFamily="34" charset="0"/>
                  <a:ea typeface="굴림" panose="020B0600000101010101" pitchFamily="50" charset="-127"/>
                </a:defRPr>
              </a:lvl4pPr>
              <a:lvl5pPr>
                <a:defRPr kumimoji="1" sz="1200" b="1">
                  <a:solidFill>
                    <a:srgbClr val="FF0000"/>
                  </a:solidFill>
                  <a:latin typeface="Arial" panose="020B0604020202020204" pitchFamily="34" charset="0"/>
                  <a:ea typeface="굴림" panose="020B0600000101010101" pitchFamily="50" charset="-127"/>
                </a:defRPr>
              </a:lvl5pPr>
              <a:lvl6pPr marL="28654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6pPr>
              <a:lvl7pPr marL="33226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7pPr>
              <a:lvl8pPr marL="37798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8pPr>
              <a:lvl9pPr marL="42370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9pPr>
            </a:lstStyle>
            <a:p>
              <a:pPr marL="0" indent="0">
                <a:defRPr/>
              </a:pPr>
              <a:r>
                <a:rPr lang="en-US" altLang="ko-KR" sz="800" b="0" dirty="0">
                  <a:solidFill>
                    <a:schemeClr val="tx1"/>
                  </a:solidFill>
                  <a:latin typeface="Arial" panose="020B0600000101010101" pitchFamily="50" charset="-127"/>
                  <a:ea typeface="Arial" panose="020B0600000101010101" pitchFamily="50" charset="-127"/>
                  <a:cs typeface="Arial" panose="020B0604020202020204" pitchFamily="34" charset="0"/>
                  <a:sym typeface="Arial" panose="020B0604020202020204" pitchFamily="34" charset="0"/>
                </a:rPr>
                <a:t>90°</a:t>
              </a:r>
            </a:p>
          </p:txBody>
        </p:sp>
      </p:grpSp>
      <p:sp>
        <p:nvSpPr>
          <p:cNvPr id="44" name="직사각형 43"/>
          <p:cNvSpPr/>
          <p:nvPr/>
        </p:nvSpPr>
        <p:spPr>
          <a:xfrm>
            <a:off x="6971579" y="4047013"/>
            <a:ext cx="330783" cy="339783"/>
          </a:xfrm>
          <a:prstGeom prst="rect">
            <a:avLst/>
          </a:prstGeom>
          <a:noFill/>
          <a:ln w="2222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latinLnBrk="0"/>
            <a:endParaRPr lang="ko-KR" altLang="en-US"/>
          </a:p>
        </p:txBody>
      </p:sp>
      <p:sp>
        <p:nvSpPr>
          <p:cNvPr id="45" name="TextBox 37"/>
          <p:cNvSpPr txBox="1">
            <a:spLocks noChangeArrowheads="1"/>
          </p:cNvSpPr>
          <p:nvPr/>
        </p:nvSpPr>
        <p:spPr bwMode="auto">
          <a:xfrm>
            <a:off x="6822000" y="4384328"/>
            <a:ext cx="23400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oAutofit/>
          </a:bodyPr>
          <a:lstStyle/>
          <a:p>
            <a:pPr algn="ctr" eaLnBrk="1" latinLnBrk="0"/>
            <a:r>
              <a:rPr lang="en-US" altLang="ko-KR" sz="1000" b="0" dirty="0">
                <a:solidFill>
                  <a:srgbClr val="FF0000"/>
                </a:solidFill>
                <a:latin typeface="Arial" panose="020B0600000101010101" pitchFamily="50" charset="-127"/>
                <a:ea typeface="Arial" panose="020B0600000101010101" pitchFamily="50" charset="-127"/>
                <a:cs typeface="Arial" panose="020B0604020202020204" pitchFamily="34" charset="0"/>
                <a:sym typeface="Wingdings" panose="05000000000000000000" pitchFamily="2" charset="2"/>
              </a:rPr>
              <a:t></a:t>
            </a:r>
          </a:p>
        </p:txBody>
      </p:sp>
      <p:sp>
        <p:nvSpPr>
          <p:cNvPr id="46" name="TextBox 37"/>
          <p:cNvSpPr txBox="1">
            <a:spLocks noChangeArrowheads="1"/>
          </p:cNvSpPr>
          <p:nvPr/>
        </p:nvSpPr>
        <p:spPr bwMode="auto">
          <a:xfrm>
            <a:off x="6533999" y="4402118"/>
            <a:ext cx="30600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18000" tIns="18000" rIns="18000" bIns="18000">
            <a:noAutofit/>
          </a:bodyPr>
          <a:lstStyle>
            <a:lvl1pPr marL="171450" indent="-171450">
              <a:defRPr kumimoji="1" sz="1200" b="1">
                <a:solidFill>
                  <a:srgbClr val="FF0000"/>
                </a:solidFill>
                <a:latin typeface="Arial" panose="020B0604020202020204" pitchFamily="34" charset="0"/>
                <a:ea typeface="굴림" panose="020B0600000101010101" pitchFamily="50" charset="-127"/>
              </a:defRPr>
            </a:lvl1pPr>
            <a:lvl2pPr>
              <a:defRPr kumimoji="1" sz="1200" b="1">
                <a:solidFill>
                  <a:srgbClr val="FF0000"/>
                </a:solidFill>
                <a:latin typeface="Arial" panose="020B0604020202020204" pitchFamily="34" charset="0"/>
                <a:ea typeface="굴림" panose="020B0600000101010101" pitchFamily="50" charset="-127"/>
              </a:defRPr>
            </a:lvl2pPr>
            <a:lvl3pPr>
              <a:defRPr kumimoji="1" sz="1200" b="1">
                <a:solidFill>
                  <a:srgbClr val="FF0000"/>
                </a:solidFill>
                <a:latin typeface="Arial" panose="020B0604020202020204" pitchFamily="34" charset="0"/>
                <a:ea typeface="굴림" panose="020B0600000101010101" pitchFamily="50" charset="-127"/>
              </a:defRPr>
            </a:lvl3pPr>
            <a:lvl4pPr>
              <a:defRPr kumimoji="1" sz="1200" b="1">
                <a:solidFill>
                  <a:srgbClr val="FF0000"/>
                </a:solidFill>
                <a:latin typeface="Arial" panose="020B0604020202020204" pitchFamily="34" charset="0"/>
                <a:ea typeface="굴림" panose="020B0600000101010101" pitchFamily="50" charset="-127"/>
              </a:defRPr>
            </a:lvl4pPr>
            <a:lvl5pPr>
              <a:defRPr kumimoji="1" sz="1200" b="1">
                <a:solidFill>
                  <a:srgbClr val="FF0000"/>
                </a:solidFill>
                <a:latin typeface="Arial" panose="020B0604020202020204" pitchFamily="34" charset="0"/>
                <a:ea typeface="굴림" panose="020B0600000101010101" pitchFamily="50" charset="-127"/>
              </a:defRPr>
            </a:lvl5pPr>
            <a:lvl6pPr marL="28654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6pPr>
            <a:lvl7pPr marL="33226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7pPr>
            <a:lvl8pPr marL="37798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8pPr>
            <a:lvl9pPr marL="42370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9pPr>
          </a:lstStyle>
          <a:p>
            <a:pPr marL="0" indent="0" eaLnBrk="1" latinLnBrk="0">
              <a:defRPr/>
            </a:pPr>
            <a:r>
              <a:rPr lang="en-US" altLang="ko-KR" sz="1000" b="0" dirty="0">
                <a:solidFill>
                  <a:schemeClr val="tx1"/>
                </a:solidFill>
                <a:latin typeface="Arial" panose="020B0600000101010101" pitchFamily="50" charset="-127"/>
                <a:ea typeface="Arial" panose="020B0600000101010101" pitchFamily="50" charset="-127"/>
                <a:cs typeface="Arial" panose="020B0604020202020204" pitchFamily="34" charset="0"/>
                <a:sym typeface="Arial" panose="020B0604020202020204" pitchFamily="34" charset="0"/>
              </a:rPr>
              <a:t>89°</a:t>
            </a:r>
          </a:p>
        </p:txBody>
      </p:sp>
      <p:sp>
        <p:nvSpPr>
          <p:cNvPr id="55" name="TextBox 37"/>
          <p:cNvSpPr txBox="1">
            <a:spLocks noChangeArrowheads="1"/>
          </p:cNvSpPr>
          <p:nvPr/>
        </p:nvSpPr>
        <p:spPr bwMode="auto">
          <a:xfrm>
            <a:off x="7073999" y="4402118"/>
            <a:ext cx="30600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18000" tIns="18000" rIns="18000" bIns="18000">
            <a:noAutofit/>
          </a:bodyPr>
          <a:lstStyle>
            <a:lvl1pPr marL="171450" indent="-171450">
              <a:defRPr kumimoji="1" sz="1200" b="1">
                <a:solidFill>
                  <a:srgbClr val="FF0000"/>
                </a:solidFill>
                <a:latin typeface="Arial" panose="020B0604020202020204" pitchFamily="34" charset="0"/>
                <a:ea typeface="굴림" panose="020B0600000101010101" pitchFamily="50" charset="-127"/>
              </a:defRPr>
            </a:lvl1pPr>
            <a:lvl2pPr>
              <a:defRPr kumimoji="1" sz="1200" b="1">
                <a:solidFill>
                  <a:srgbClr val="FF0000"/>
                </a:solidFill>
                <a:latin typeface="Arial" panose="020B0604020202020204" pitchFamily="34" charset="0"/>
                <a:ea typeface="굴림" panose="020B0600000101010101" pitchFamily="50" charset="-127"/>
              </a:defRPr>
            </a:lvl2pPr>
            <a:lvl3pPr>
              <a:defRPr kumimoji="1" sz="1200" b="1">
                <a:solidFill>
                  <a:srgbClr val="FF0000"/>
                </a:solidFill>
                <a:latin typeface="Arial" panose="020B0604020202020204" pitchFamily="34" charset="0"/>
                <a:ea typeface="굴림" panose="020B0600000101010101" pitchFamily="50" charset="-127"/>
              </a:defRPr>
            </a:lvl3pPr>
            <a:lvl4pPr>
              <a:defRPr kumimoji="1" sz="1200" b="1">
                <a:solidFill>
                  <a:srgbClr val="FF0000"/>
                </a:solidFill>
                <a:latin typeface="Arial" panose="020B0604020202020204" pitchFamily="34" charset="0"/>
                <a:ea typeface="굴림" panose="020B0600000101010101" pitchFamily="50" charset="-127"/>
              </a:defRPr>
            </a:lvl4pPr>
            <a:lvl5pPr>
              <a:defRPr kumimoji="1" sz="1200" b="1">
                <a:solidFill>
                  <a:srgbClr val="FF0000"/>
                </a:solidFill>
                <a:latin typeface="Arial" panose="020B0604020202020204" pitchFamily="34" charset="0"/>
                <a:ea typeface="굴림" panose="020B0600000101010101" pitchFamily="50" charset="-127"/>
              </a:defRPr>
            </a:lvl5pPr>
            <a:lvl6pPr marL="28654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6pPr>
            <a:lvl7pPr marL="33226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7pPr>
            <a:lvl8pPr marL="37798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8pPr>
            <a:lvl9pPr marL="42370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9pPr>
          </a:lstStyle>
          <a:p>
            <a:pPr marL="0" indent="0" eaLnBrk="1" latinLnBrk="0">
              <a:defRPr/>
            </a:pPr>
            <a:r>
              <a:rPr lang="en-US" altLang="ko-KR" sz="1000" b="0" dirty="0">
                <a:solidFill>
                  <a:schemeClr val="tx1"/>
                </a:solidFill>
                <a:latin typeface="Arial" panose="020B0600000101010101" pitchFamily="50" charset="-127"/>
                <a:ea typeface="Arial" panose="020B0600000101010101" pitchFamily="50" charset="-127"/>
                <a:cs typeface="Arial" panose="020B0604020202020204" pitchFamily="34" charset="0"/>
                <a:sym typeface="Arial" panose="020B0604020202020204" pitchFamily="34" charset="0"/>
              </a:rPr>
              <a:t>90°</a:t>
            </a:r>
          </a:p>
        </p:txBody>
      </p:sp>
      <p:sp>
        <p:nvSpPr>
          <p:cNvPr id="64" name="직사각형 63"/>
          <p:cNvSpPr/>
          <p:nvPr/>
        </p:nvSpPr>
        <p:spPr>
          <a:xfrm>
            <a:off x="6630498" y="4047013"/>
            <a:ext cx="330783" cy="339783"/>
          </a:xfrm>
          <a:prstGeom prst="rect">
            <a:avLst/>
          </a:prstGeom>
          <a:noFill/>
          <a:ln w="2222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latinLnBrk="0"/>
            <a:endParaRPr lang="ko-KR" altLang="en-US"/>
          </a:p>
        </p:txBody>
      </p:sp>
      <p:graphicFrame>
        <p:nvGraphicFramePr>
          <p:cNvPr id="9" name="개체 8"/>
          <p:cNvGraphicFramePr>
            <a:graphicFrameLocks noChangeAspect="1"/>
          </p:cNvGraphicFramePr>
          <p:nvPr>
            <p:extLst>
              <p:ext uri="{D42A27DB-BD31-4B8C-83A1-F6EECF244321}">
                <p14:modId xmlns:p14="http://schemas.microsoft.com/office/powerpoint/2010/main" val="4216972648"/>
              </p:ext>
            </p:extLst>
          </p:nvPr>
        </p:nvGraphicFramePr>
        <p:xfrm>
          <a:off x="8235539" y="3017987"/>
          <a:ext cx="914400" cy="771525"/>
        </p:xfrm>
        <a:graphic>
          <a:graphicData uri="http://schemas.openxmlformats.org/presentationml/2006/ole">
            <mc:AlternateContent xmlns:mc="http://schemas.openxmlformats.org/markup-compatibility/2006">
              <mc:Choice xmlns:v="urn:schemas-microsoft-com:vml" Requires="v">
                <p:oleObj name="Worksheet" showAsIcon="1" r:id="rId6" imgW="914400" imgH="771480" progId="Excel.Sheet.12">
                  <p:embed/>
                </p:oleObj>
              </mc:Choice>
              <mc:Fallback>
                <p:oleObj name="Worksheet" showAsIcon="1" r:id="rId6" imgW="914400" imgH="771480" progId="Excel.Sheet.12">
                  <p:embed/>
                  <p:pic>
                    <p:nvPicPr>
                      <p:cNvPr id="9" name="개체 8"/>
                      <p:cNvPicPr/>
                      <p:nvPr/>
                    </p:nvPicPr>
                    <p:blipFill>
                      <a:blip r:embed="rId7"/>
                      <a:stretch>
                        <a:fillRect/>
                      </a:stretch>
                    </p:blipFill>
                    <p:spPr>
                      <a:xfrm>
                        <a:off x="8235539" y="3017987"/>
                        <a:ext cx="914400" cy="771525"/>
                      </a:xfrm>
                      <a:prstGeom prst="rect">
                        <a:avLst/>
                      </a:prstGeom>
                    </p:spPr>
                  </p:pic>
                </p:oleObj>
              </mc:Fallback>
            </mc:AlternateContent>
          </a:graphicData>
        </a:graphic>
      </p:graphicFrame>
      <p:sp>
        <p:nvSpPr>
          <p:cNvPr id="66" name="TextBox 37"/>
          <p:cNvSpPr txBox="1">
            <a:spLocks noChangeArrowheads="1"/>
          </p:cNvSpPr>
          <p:nvPr/>
        </p:nvSpPr>
        <p:spPr bwMode="auto">
          <a:xfrm>
            <a:off x="4818857" y="6413741"/>
            <a:ext cx="403828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171450" indent="-171450">
              <a:defRPr kumimoji="1" sz="1200" b="1">
                <a:solidFill>
                  <a:srgbClr val="FF0000"/>
                </a:solidFill>
                <a:latin typeface="Arial" panose="020B0604020202020204" pitchFamily="34" charset="0"/>
                <a:ea typeface="굴림" panose="020B0600000101010101" pitchFamily="50" charset="-127"/>
              </a:defRPr>
            </a:lvl1pPr>
            <a:lvl2pPr>
              <a:defRPr kumimoji="1" sz="1200" b="1">
                <a:solidFill>
                  <a:srgbClr val="FF0000"/>
                </a:solidFill>
                <a:latin typeface="Arial" panose="020B0604020202020204" pitchFamily="34" charset="0"/>
                <a:ea typeface="굴림" panose="020B0600000101010101" pitchFamily="50" charset="-127"/>
              </a:defRPr>
            </a:lvl2pPr>
            <a:lvl3pPr>
              <a:defRPr kumimoji="1" sz="1200" b="1">
                <a:solidFill>
                  <a:srgbClr val="FF0000"/>
                </a:solidFill>
                <a:latin typeface="Arial" panose="020B0604020202020204" pitchFamily="34" charset="0"/>
                <a:ea typeface="굴림" panose="020B0600000101010101" pitchFamily="50" charset="-127"/>
              </a:defRPr>
            </a:lvl3pPr>
            <a:lvl4pPr>
              <a:defRPr kumimoji="1" sz="1200" b="1">
                <a:solidFill>
                  <a:srgbClr val="FF0000"/>
                </a:solidFill>
                <a:latin typeface="Arial" panose="020B0604020202020204" pitchFamily="34" charset="0"/>
                <a:ea typeface="굴림" panose="020B0600000101010101" pitchFamily="50" charset="-127"/>
              </a:defRPr>
            </a:lvl4pPr>
            <a:lvl5pPr>
              <a:defRPr kumimoji="1" sz="1200" b="1">
                <a:solidFill>
                  <a:srgbClr val="FF0000"/>
                </a:solidFill>
                <a:latin typeface="Arial" panose="020B0604020202020204" pitchFamily="34" charset="0"/>
                <a:ea typeface="굴림" panose="020B0600000101010101" pitchFamily="50" charset="-127"/>
              </a:defRPr>
            </a:lvl5pPr>
            <a:lvl6pPr marL="28654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6pPr>
            <a:lvl7pPr marL="33226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7pPr>
            <a:lvl8pPr marL="37798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8pPr>
            <a:lvl9pPr marL="42370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9pPr>
          </a:lstStyle>
          <a:p>
            <a:pPr eaLnBrk="1" latinLnBrk="0">
              <a:buFont typeface="Wingdings" panose="05000000000000000000" pitchFamily="2" charset="2"/>
              <a:buChar char="§"/>
              <a:defRPr/>
            </a:pPr>
            <a:r>
              <a:rPr lang="en-US" altLang="ko-KR" sz="1000" b="0" dirty="0">
                <a:solidFill>
                  <a:srgbClr val="00B050"/>
                </a:solidFill>
                <a:latin typeface="Arial" panose="020B0600000101010101" pitchFamily="50" charset="-127"/>
                <a:ea typeface="Arial" panose="020B0600000101010101" pitchFamily="50" charset="-127"/>
                <a:cs typeface="Arial" panose="020B0604020202020204" pitchFamily="34" charset="0"/>
                <a:sym typeface="Arial" panose="020B0604020202020204" pitchFamily="34" charset="0"/>
              </a:rPr>
              <a:t>Difference between Privacy and Public: whether or not an LCF (louver) film is applied </a:t>
            </a:r>
          </a:p>
          <a:p>
            <a:pPr marL="0" indent="0" eaLnBrk="1" latinLnBrk="0">
              <a:defRPr/>
            </a:pPr>
            <a:r>
              <a:rPr lang="en-US" altLang="ko-KR" sz="1000" b="0" dirty="0">
                <a:solidFill>
                  <a:srgbClr val="00B050"/>
                </a:solidFill>
                <a:latin typeface="Arial" panose="020B0600000101010101" pitchFamily="50" charset="-127"/>
                <a:ea typeface="Arial" panose="020B0600000101010101" pitchFamily="50" charset="-127"/>
                <a:cs typeface="Arial" panose="020B0604020202020204" pitchFamily="34" charset="0"/>
                <a:sym typeface="Arial" panose="020B0604020202020204" pitchFamily="34" charset="0"/>
              </a:rPr>
              <a:t>for the privacy display function within the BLU module</a:t>
            </a:r>
          </a:p>
        </p:txBody>
      </p:sp>
      <p:sp>
        <p:nvSpPr>
          <p:cNvPr id="67" name="TextBox 37"/>
          <p:cNvSpPr txBox="1">
            <a:spLocks noChangeArrowheads="1"/>
          </p:cNvSpPr>
          <p:nvPr/>
        </p:nvSpPr>
        <p:spPr bwMode="auto">
          <a:xfrm>
            <a:off x="4485214" y="638277"/>
            <a:ext cx="5420785" cy="74635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171450" indent="-171450">
              <a:defRPr kumimoji="1" sz="1200" b="1">
                <a:solidFill>
                  <a:srgbClr val="FF0000"/>
                </a:solidFill>
                <a:latin typeface="Arial" panose="020B0604020202020204" pitchFamily="34" charset="0"/>
                <a:ea typeface="굴림" panose="020B0600000101010101" pitchFamily="50" charset="-127"/>
              </a:defRPr>
            </a:lvl1pPr>
            <a:lvl2pPr>
              <a:defRPr kumimoji="1" sz="1200" b="1">
                <a:solidFill>
                  <a:srgbClr val="FF0000"/>
                </a:solidFill>
                <a:latin typeface="Arial" panose="020B0604020202020204" pitchFamily="34" charset="0"/>
                <a:ea typeface="굴림" panose="020B0600000101010101" pitchFamily="50" charset="-127"/>
              </a:defRPr>
            </a:lvl2pPr>
            <a:lvl3pPr>
              <a:defRPr kumimoji="1" sz="1200" b="1">
                <a:solidFill>
                  <a:srgbClr val="FF0000"/>
                </a:solidFill>
                <a:latin typeface="Arial" panose="020B0604020202020204" pitchFamily="34" charset="0"/>
                <a:ea typeface="굴림" panose="020B0600000101010101" pitchFamily="50" charset="-127"/>
              </a:defRPr>
            </a:lvl3pPr>
            <a:lvl4pPr>
              <a:defRPr kumimoji="1" sz="1200" b="1">
                <a:solidFill>
                  <a:srgbClr val="FF0000"/>
                </a:solidFill>
                <a:latin typeface="Arial" panose="020B0604020202020204" pitchFamily="34" charset="0"/>
                <a:ea typeface="굴림" panose="020B0600000101010101" pitchFamily="50" charset="-127"/>
              </a:defRPr>
            </a:lvl4pPr>
            <a:lvl5pPr>
              <a:defRPr kumimoji="1" sz="1200" b="1">
                <a:solidFill>
                  <a:srgbClr val="FF0000"/>
                </a:solidFill>
                <a:latin typeface="Arial" panose="020B0604020202020204" pitchFamily="34" charset="0"/>
                <a:ea typeface="굴림" panose="020B0600000101010101" pitchFamily="50" charset="-127"/>
              </a:defRPr>
            </a:lvl5pPr>
            <a:lvl6pPr marL="28654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6pPr>
            <a:lvl7pPr marL="33226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7pPr>
            <a:lvl8pPr marL="37798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8pPr>
            <a:lvl9pPr marL="42370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9pPr>
          </a:lstStyle>
          <a:p>
            <a:pPr marL="0" indent="0" eaLnBrk="1" latinLnBrk="0">
              <a:spcBef>
                <a:spcPts val="300"/>
              </a:spcBef>
              <a:defRPr/>
            </a:pPr>
            <a:r>
              <a:rPr lang="en-US" altLang="ko-KR" sz="1000" b="0" dirty="0">
                <a:solidFill>
                  <a:schemeClr val="tx1"/>
                </a:solidFill>
                <a:latin typeface="Arial" panose="020B0600000101010101" pitchFamily="50" charset="-127"/>
                <a:ea typeface="Arial" panose="020B0600000101010101" pitchFamily="50" charset="-127"/>
                <a:cs typeface="Arial" panose="020B0604020202020204" pitchFamily="34" charset="0"/>
                <a:sym typeface="Wingdings" panose="05000000000000000000" pitchFamily="2" charset="2"/>
              </a:rPr>
              <a:t> Correcting the CS2000 camera angle from the existing 89° to 90° raises the measured luminance of the RHD Privacy (PID) displays by about 13%, whereas Public (CID) models change by less than 0.5%, so only the RHD Privacy models need luminance compensation (13%).</a:t>
            </a:r>
          </a:p>
        </p:txBody>
      </p:sp>
      <p:cxnSp>
        <p:nvCxnSpPr>
          <p:cNvPr id="71" name="직선 화살표 연결선 161"/>
          <p:cNvCxnSpPr>
            <a:cxnSpLocks noChangeShapeType="1"/>
          </p:cNvCxnSpPr>
          <p:nvPr/>
        </p:nvCxnSpPr>
        <p:spPr bwMode="auto">
          <a:xfrm flipV="1">
            <a:off x="6519753" y="2484503"/>
            <a:ext cx="85725" cy="131762"/>
          </a:xfrm>
          <a:prstGeom prst="straightConnector1">
            <a:avLst/>
          </a:prstGeom>
          <a:noFill/>
          <a:ln w="25400" algn="ctr">
            <a:solidFill>
              <a:srgbClr val="FF0000"/>
            </a:solidFill>
            <a:round/>
            <a:headEnd/>
            <a:tailEnd type="stealth" w="med" len="med"/>
          </a:ln>
          <a:extLst>
            <a:ext uri="{909E8E84-426E-40DD-AFC4-6F175D3DCCD1}">
              <a14:hiddenFill xmlns:a14="http://schemas.microsoft.com/office/drawing/2010/main">
                <a:noFill/>
              </a14:hiddenFill>
            </a:ext>
          </a:extLst>
        </p:spPr>
      </p:cxnSp>
      <p:cxnSp>
        <p:nvCxnSpPr>
          <p:cNvPr id="74" name="직선 화살표 연결선 161"/>
          <p:cNvCxnSpPr>
            <a:cxnSpLocks noChangeShapeType="1"/>
          </p:cNvCxnSpPr>
          <p:nvPr/>
        </p:nvCxnSpPr>
        <p:spPr bwMode="auto">
          <a:xfrm>
            <a:off x="6517013" y="1740587"/>
            <a:ext cx="103188" cy="0"/>
          </a:xfrm>
          <a:prstGeom prst="straightConnector1">
            <a:avLst/>
          </a:prstGeom>
          <a:noFill/>
          <a:ln w="25400" algn="ctr">
            <a:solidFill>
              <a:srgbClr val="0000FF"/>
            </a:solidFill>
            <a:round/>
            <a:headEnd/>
            <a:tailEnd type="stealth" w="med" len="med"/>
          </a:ln>
          <a:extLst>
            <a:ext uri="{909E8E84-426E-40DD-AFC4-6F175D3DCCD1}">
              <a14:hiddenFill xmlns:a14="http://schemas.microsoft.com/office/drawing/2010/main">
                <a:noFill/>
              </a14:hiddenFill>
            </a:ext>
          </a:extLst>
        </p:spPr>
      </p:cxnSp>
      <p:sp>
        <p:nvSpPr>
          <p:cNvPr id="79" name="TextBox 37"/>
          <p:cNvSpPr txBox="1">
            <a:spLocks noChangeArrowheads="1"/>
          </p:cNvSpPr>
          <p:nvPr/>
        </p:nvSpPr>
        <p:spPr bwMode="auto">
          <a:xfrm>
            <a:off x="4797272" y="1433640"/>
            <a:ext cx="3818674"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171450" indent="-171450">
              <a:defRPr kumimoji="1" sz="1200" b="1">
                <a:solidFill>
                  <a:srgbClr val="FF0000"/>
                </a:solidFill>
                <a:latin typeface="Arial" panose="020B0604020202020204" pitchFamily="34" charset="0"/>
                <a:ea typeface="굴림" panose="020B0600000101010101" pitchFamily="50" charset="-127"/>
              </a:defRPr>
            </a:lvl1pPr>
            <a:lvl2pPr>
              <a:defRPr kumimoji="1" sz="1200" b="1">
                <a:solidFill>
                  <a:srgbClr val="FF0000"/>
                </a:solidFill>
                <a:latin typeface="Arial" panose="020B0604020202020204" pitchFamily="34" charset="0"/>
                <a:ea typeface="굴림" panose="020B0600000101010101" pitchFamily="50" charset="-127"/>
              </a:defRPr>
            </a:lvl2pPr>
            <a:lvl3pPr>
              <a:defRPr kumimoji="1" sz="1200" b="1">
                <a:solidFill>
                  <a:srgbClr val="FF0000"/>
                </a:solidFill>
                <a:latin typeface="Arial" panose="020B0604020202020204" pitchFamily="34" charset="0"/>
                <a:ea typeface="굴림" panose="020B0600000101010101" pitchFamily="50" charset="-127"/>
              </a:defRPr>
            </a:lvl3pPr>
            <a:lvl4pPr>
              <a:defRPr kumimoji="1" sz="1200" b="1">
                <a:solidFill>
                  <a:srgbClr val="FF0000"/>
                </a:solidFill>
                <a:latin typeface="Arial" panose="020B0604020202020204" pitchFamily="34" charset="0"/>
                <a:ea typeface="굴림" panose="020B0600000101010101" pitchFamily="50" charset="-127"/>
              </a:defRPr>
            </a:lvl4pPr>
            <a:lvl5pPr>
              <a:defRPr kumimoji="1" sz="1200" b="1">
                <a:solidFill>
                  <a:srgbClr val="FF0000"/>
                </a:solidFill>
                <a:latin typeface="Arial" panose="020B0604020202020204" pitchFamily="34" charset="0"/>
                <a:ea typeface="굴림" panose="020B0600000101010101" pitchFamily="50" charset="-127"/>
              </a:defRPr>
            </a:lvl5pPr>
            <a:lvl6pPr marL="28654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6pPr>
            <a:lvl7pPr marL="33226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7pPr>
            <a:lvl8pPr marL="37798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8pPr>
            <a:lvl9pPr marL="42370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9pPr>
          </a:lstStyle>
          <a:p>
            <a:pPr marL="0" indent="0" eaLnBrk="1" latinLnBrk="0">
              <a:defRPr/>
            </a:pPr>
            <a:r>
              <a:rPr lang="en-US" altLang="ko-KR" sz="1000" b="0" u="sng" dirty="0">
                <a:solidFill>
                  <a:schemeClr val="tx1"/>
                </a:solidFill>
                <a:latin typeface="Arial" panose="020B0600000101010101" pitchFamily="50" charset="-127"/>
                <a:ea typeface="Arial" panose="020B0600000101010101" pitchFamily="50" charset="-127"/>
                <a:cs typeface="Arial" panose="020B0604020202020204" pitchFamily="34" charset="0"/>
                <a:sym typeface="Arial" panose="020B0604020202020204" pitchFamily="34" charset="0"/>
              </a:rPr>
              <a:t>Privacy &amp; Public Brightness changes depending on viewing angle</a:t>
            </a:r>
            <a:endParaRPr lang="en-US" altLang="ko-KR" sz="1100" b="0" u="sng" dirty="0">
              <a:solidFill>
                <a:schemeClr val="tx1"/>
              </a:solidFill>
              <a:latin typeface="LG스마트체 Regular" panose="020B0600000101010101" pitchFamily="50" charset="-127"/>
              <a:ea typeface="LG스마트체 Regular" panose="020B0600000101010101" pitchFamily="50" charset="-127"/>
              <a:cs typeface="Arial" panose="020B0604020202020204" pitchFamily="34" charset="0"/>
              <a:sym typeface="Arial" panose="020B0604020202020204" pitchFamily="34" charset="0"/>
            </a:endParaRPr>
          </a:p>
        </p:txBody>
      </p:sp>
      <p:sp>
        <p:nvSpPr>
          <p:cNvPr id="31" name="AutoShape 57">
            <a:extLst>
              <a:ext uri="{FF2B5EF4-FFF2-40B4-BE49-F238E27FC236}">
                <a16:creationId xmlns:a16="http://schemas.microsoft.com/office/drawing/2014/main" id="{D123ED7D-1627-4425-8E1C-E07699476297}"/>
              </a:ext>
            </a:extLst>
          </p:cNvPr>
          <p:cNvSpPr>
            <a:spLocks noChangeArrowheads="1"/>
          </p:cNvSpPr>
          <p:nvPr/>
        </p:nvSpPr>
        <p:spPr bwMode="auto">
          <a:xfrm>
            <a:off x="7687914" y="178989"/>
            <a:ext cx="749300" cy="287338"/>
          </a:xfrm>
          <a:prstGeom prst="homePlate">
            <a:avLst>
              <a:gd name="adj" fmla="val 46698"/>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Analyze</a:t>
            </a:r>
          </a:p>
        </p:txBody>
      </p:sp>
      <p:sp>
        <p:nvSpPr>
          <p:cNvPr id="32" name="AutoShape 55">
            <a:extLst>
              <a:ext uri="{FF2B5EF4-FFF2-40B4-BE49-F238E27FC236}">
                <a16:creationId xmlns:a16="http://schemas.microsoft.com/office/drawing/2014/main" id="{710F07CB-AD46-4102-9196-B391B0CE38C5}"/>
              </a:ext>
            </a:extLst>
          </p:cNvPr>
          <p:cNvSpPr>
            <a:spLocks noChangeArrowheads="1"/>
          </p:cNvSpPr>
          <p:nvPr/>
        </p:nvSpPr>
        <p:spPr bwMode="auto">
          <a:xfrm>
            <a:off x="9069039" y="178989"/>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Control</a:t>
            </a:r>
          </a:p>
        </p:txBody>
      </p:sp>
      <p:sp>
        <p:nvSpPr>
          <p:cNvPr id="33" name="AutoShape 56">
            <a:extLst>
              <a:ext uri="{FF2B5EF4-FFF2-40B4-BE49-F238E27FC236}">
                <a16:creationId xmlns:a16="http://schemas.microsoft.com/office/drawing/2014/main" id="{668E3865-DB76-45D5-9F6D-A72984A44BFF}"/>
              </a:ext>
            </a:extLst>
          </p:cNvPr>
          <p:cNvSpPr>
            <a:spLocks noChangeArrowheads="1"/>
          </p:cNvSpPr>
          <p:nvPr/>
        </p:nvSpPr>
        <p:spPr bwMode="auto">
          <a:xfrm>
            <a:off x="7018783" y="178989"/>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Measure</a:t>
            </a:r>
          </a:p>
        </p:txBody>
      </p:sp>
      <p:sp>
        <p:nvSpPr>
          <p:cNvPr id="37" name="AutoShape 59">
            <a:extLst>
              <a:ext uri="{FF2B5EF4-FFF2-40B4-BE49-F238E27FC236}">
                <a16:creationId xmlns:a16="http://schemas.microsoft.com/office/drawing/2014/main" id="{0CCDE314-7273-49D5-A38E-FA39075D2A52}"/>
              </a:ext>
            </a:extLst>
          </p:cNvPr>
          <p:cNvSpPr>
            <a:spLocks noChangeArrowheads="1"/>
          </p:cNvSpPr>
          <p:nvPr/>
        </p:nvSpPr>
        <p:spPr bwMode="auto">
          <a:xfrm>
            <a:off x="6319489" y="178989"/>
            <a:ext cx="757238" cy="287338"/>
          </a:xfrm>
          <a:prstGeom prst="homePlate">
            <a:avLst>
              <a:gd name="adj" fmla="val 47192"/>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Define</a:t>
            </a:r>
          </a:p>
        </p:txBody>
      </p:sp>
      <p:sp>
        <p:nvSpPr>
          <p:cNvPr id="38" name="AutoShape 58">
            <a:extLst>
              <a:ext uri="{FF2B5EF4-FFF2-40B4-BE49-F238E27FC236}">
                <a16:creationId xmlns:a16="http://schemas.microsoft.com/office/drawing/2014/main" id="{88E7A157-1CAC-4DAB-921E-EB94CA3CD767}"/>
              </a:ext>
            </a:extLst>
          </p:cNvPr>
          <p:cNvSpPr>
            <a:spLocks noChangeArrowheads="1"/>
          </p:cNvSpPr>
          <p:nvPr/>
        </p:nvSpPr>
        <p:spPr bwMode="auto">
          <a:xfrm>
            <a:off x="8330852" y="51592"/>
            <a:ext cx="747712" cy="287337"/>
          </a:xfrm>
          <a:prstGeom prst="homePlate">
            <a:avLst>
              <a:gd name="adj" fmla="val 46599"/>
            </a:avLst>
          </a:prstGeom>
          <a:gradFill rotWithShape="1">
            <a:gsLst>
              <a:gs pos="0">
                <a:srgbClr val="494900"/>
              </a:gs>
              <a:gs pos="100000">
                <a:srgbClr val="808000"/>
              </a:gs>
            </a:gsLst>
            <a:lin ang="0" scaled="1"/>
          </a:gradFill>
          <a:ln w="6350" algn="ctr">
            <a:solidFill>
              <a:srgbClr val="808080"/>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latin typeface="Arial Narrow" panose="020B0606020202030204" pitchFamily="34" charset="0"/>
                <a:ea typeface="Arial" panose="020B0503020000020004" pitchFamily="50" charset="-127"/>
              </a:rPr>
              <a:t>Improve</a:t>
            </a:r>
          </a:p>
        </p:txBody>
      </p:sp>
      <p:sp>
        <p:nvSpPr>
          <p:cNvPr id="42" name="TextBox 41">
            <a:extLst>
              <a:ext uri="{FF2B5EF4-FFF2-40B4-BE49-F238E27FC236}">
                <a16:creationId xmlns:a16="http://schemas.microsoft.com/office/drawing/2014/main" id="{89E657DE-328C-4EAB-A06D-1CB735961433}"/>
              </a:ext>
            </a:extLst>
          </p:cNvPr>
          <p:cNvSpPr txBox="1"/>
          <p:nvPr/>
        </p:nvSpPr>
        <p:spPr>
          <a:xfrm>
            <a:off x="63248" y="535377"/>
            <a:ext cx="2801520" cy="276999"/>
          </a:xfrm>
          <a:prstGeom prst="rect">
            <a:avLst/>
          </a:prstGeom>
          <a:noFill/>
        </p:spPr>
        <p:txBody>
          <a:bodyPr wrap="square" rtlCol="0">
            <a:spAutoFit/>
          </a:bodyPr>
          <a:lstStyle/>
          <a:p>
            <a:pPr marL="171450" indent="-171450" eaLnBrk="1" latinLnBrk="0">
              <a:buFont typeface="Wingdings" panose="05000000000000000000" pitchFamily="2" charset="2"/>
              <a:buChar char="q"/>
            </a:pPr>
            <a:r>
              <a:rPr lang="en-US" sz="1000" b="1" dirty="0">
                <a:latin typeface="Arial" panose="020B0600000101010101" pitchFamily="34" charset="-127"/>
                <a:ea typeface="Arial" panose="020B0600000101010101" pitchFamily="34" charset="-127"/>
                <a:cs typeface="Arial" panose="020B0604020202020204" pitchFamily="34" charset="0"/>
              </a:rPr>
              <a:t>Changing Camera angle</a:t>
            </a:r>
            <a:endParaRPr lang="en-US" sz="1200" b="1" dirty="0">
              <a:latin typeface="Arial" panose="020B0604020202020204" pitchFamily="34" charset="0"/>
              <a:ea typeface="Arial Unicode MS" panose="020B0604020202020204" pitchFamily="34" charset="-128"/>
              <a:cs typeface="Arial" panose="020B0604020202020204" pitchFamily="34" charset="0"/>
            </a:endParaRPr>
          </a:p>
        </p:txBody>
      </p:sp>
      <p:sp>
        <p:nvSpPr>
          <p:cNvPr id="47" name="제목 1">
            <a:extLst>
              <a:ext uri="{FF2B5EF4-FFF2-40B4-BE49-F238E27FC236}">
                <a16:creationId xmlns:a16="http://schemas.microsoft.com/office/drawing/2014/main" id="{2C8BFCFC-70E5-4DFC-8FC2-47983BF73131}"/>
              </a:ext>
            </a:extLst>
          </p:cNvPr>
          <p:cNvSpPr txBox="1">
            <a:spLocks/>
          </p:cNvSpPr>
          <p:nvPr/>
        </p:nvSpPr>
        <p:spPr>
          <a:xfrm>
            <a:off x="127002" y="85711"/>
            <a:ext cx="4249934" cy="418058"/>
          </a:xfrm>
          <a:prstGeom prst="rect">
            <a:avLst/>
          </a:prstGeom>
        </p:spPr>
        <p:txBody>
          <a:bodyPr vert="horz" lIns="91440" tIns="45720" rIns="91440" bIns="45720" rtlCol="0" anchor="ctr">
            <a:noAutofit/>
          </a:bodyPr>
          <a:lstStyle/>
          <a:p>
            <a:pPr lvl="0" eaLnBrk="1" latinLnBrk="0" hangingPunct="0">
              <a:defRPr/>
            </a:pPr>
            <a:r>
              <a:rPr lang="vi-VN" altLang="ko-KR" sz="1600" b="1" kern="0" dirty="0">
                <a:latin typeface="Arial Narrow" panose="020B0606020202030204" pitchFamily="34" charset="0"/>
                <a:ea typeface="Arial Unicode MS" panose="020B0604020202020204" pitchFamily="34" charset="-128"/>
                <a:cs typeface="Arial" panose="020B0604020202020204" pitchFamily="34" charset="0"/>
              </a:rPr>
              <a:t>4.1</a:t>
            </a:r>
            <a:r>
              <a:rPr lang="en-US" altLang="ko-KR" sz="1600" b="1" kern="0" dirty="0">
                <a:latin typeface="Arial Narrow" panose="020B0606020202030204" pitchFamily="34" charset="0"/>
                <a:ea typeface="Arial Unicode MS" panose="020B0604020202020204" pitchFamily="34" charset="-128"/>
                <a:cs typeface="Arial" panose="020B0604020202020204" pitchFamily="34" charset="0"/>
              </a:rPr>
              <a:t> </a:t>
            </a:r>
            <a:r>
              <a:rPr kumimoji="1" lang="en-US" altLang="ko-KR" sz="1600" b="1" i="0" u="none" strike="noStrike" kern="0" cap="none" spc="0" normalizeH="0" baseline="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rPr>
              <a:t> Improvement</a:t>
            </a:r>
            <a:r>
              <a:rPr kumimoji="1" lang="en-US" altLang="ko-KR" sz="1600" b="1" i="0" u="none" strike="noStrike" kern="0" cap="none" spc="0" normalizeH="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rPr>
              <a:t> activity of measurement system</a:t>
            </a:r>
            <a:endParaRPr kumimoji="1" lang="ko-KR" altLang="en-US" sz="1600" b="1" i="0" u="none" strike="noStrike" kern="0" cap="none" spc="0" normalizeH="0" baseline="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endParaRPr>
          </a:p>
        </p:txBody>
      </p:sp>
      <p:cxnSp>
        <p:nvCxnSpPr>
          <p:cNvPr id="48" name="Straight Connector 47">
            <a:extLst>
              <a:ext uri="{FF2B5EF4-FFF2-40B4-BE49-F238E27FC236}">
                <a16:creationId xmlns:a16="http://schemas.microsoft.com/office/drawing/2014/main" id="{2C016ABE-1AFD-4D27-91EC-F67F090244C4}"/>
              </a:ext>
            </a:extLst>
          </p:cNvPr>
          <p:cNvCxnSpPr/>
          <p:nvPr/>
        </p:nvCxnSpPr>
        <p:spPr>
          <a:xfrm>
            <a:off x="0" y="508838"/>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80" name="Slide Number Placeholder 4"/>
          <p:cNvSpPr>
            <a:spLocks noGrp="1"/>
          </p:cNvSpPr>
          <p:nvPr>
            <p:ph type="sldNum" sz="quarter" idx="12"/>
          </p:nvPr>
        </p:nvSpPr>
        <p:spPr>
          <a:xfrm>
            <a:off x="8300000" y="6631416"/>
            <a:ext cx="1300000" cy="198047"/>
          </a:xfrm>
        </p:spPr>
        <p:txBody>
          <a:bodyPr/>
          <a:lstStyle/>
          <a:p>
            <a:pPr algn="ctr" eaLnBrk="1" latinLnBrk="0"/>
            <a:r>
              <a:rPr sz="1000" b="0">
                <a:latin typeface="Arial"/>
              </a:rPr>
              <a:t>20 / 33</a:t>
            </a:r>
            <a:endParaRPr lang="ko-KR" altLang="en-US" sz="1200" dirty="0">
              <a:solidFill>
                <a:prstClr val="black">
                  <a:tint val="75000"/>
                </a:prstClr>
              </a:solidFill>
              <a:latin typeface="Arial" panose="020B0604020202020204" pitchFamily="34" charset="0"/>
              <a:ea typeface="Arial Unicode MS" panose="020B0604020202020204" pitchFamily="34" charset="-128"/>
              <a:cs typeface="Arial" panose="020B0604020202020204" pitchFamily="34" charset="0"/>
            </a:endParaRPr>
          </a:p>
        </p:txBody>
      </p:sp>
      <p:sp>
        <p:nvSpPr>
          <p:cNvPr id="81" name="Added text 81"/>
          <p:cNvSpPr txBox="1"/>
          <p:nvPr/>
        </p:nvSpPr>
        <p:spPr>
          <a:xfrm>
            <a:off x="428625" y="6572250"/>
            <a:ext cx="3762375" cy="152400"/>
          </a:xfrm>
          <a:prstGeom prst="rect">
            <a:avLst/>
          </a:prstGeom>
          <a:noFill/>
        </p:spPr>
        <p:txBody>
          <a:bodyPr wrap="square" lIns="0" tIns="0" rIns="0" bIns="0" rtlCol="0">
            <a:noAutofit/>
          </a:bodyPr>
          <a:lstStyle/>
          <a:p>
            <a:r>
              <a:rPr lang="en-US" sz="900" b="0" dirty="0">
                <a:solidFill>
                  <a:srgbClr val="000000"/>
                </a:solidFill>
                <a:latin typeface="Arial"/>
                <a:cs typeface="Arial"/>
              </a:rPr>
              <a:t>* Discontinued model (J1 Dual LHD / RHD)</a:t>
            </a:r>
          </a:p>
        </p:txBody>
      </p:sp>
    </p:spTree>
    <p:extLst>
      <p:ext uri="{BB962C8B-B14F-4D97-AF65-F5344CB8AC3E}">
        <p14:creationId xmlns:p14="http://schemas.microsoft.com/office/powerpoint/2010/main" val="183008150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제목 1"/>
          <p:cNvSpPr txBox="1">
            <a:spLocks/>
          </p:cNvSpPr>
          <p:nvPr/>
        </p:nvSpPr>
        <p:spPr>
          <a:xfrm>
            <a:off x="116442" y="96965"/>
            <a:ext cx="5369958" cy="418058"/>
          </a:xfrm>
          <a:prstGeom prst="rect">
            <a:avLst/>
          </a:prstGeom>
        </p:spPr>
        <p:txBody>
          <a:bodyPr vert="horz" lIns="91440" tIns="45720" rIns="91440" bIns="45720" rtlCol="0" anchor="ctr">
            <a:normAutofit/>
          </a:bodyPr>
          <a:lstStyle/>
          <a:p>
            <a:pPr marL="0" marR="0" lvl="0" indent="0" algn="l" defTabSz="914400" rtl="0" eaLnBrk="1" fontAlgn="base" latinLnBrk="0" hangingPunct="0">
              <a:lnSpc>
                <a:spcPct val="100000"/>
              </a:lnSpc>
              <a:spcBef>
                <a:spcPct val="0"/>
              </a:spcBef>
              <a:spcAft>
                <a:spcPct val="0"/>
              </a:spcAft>
              <a:buClrTx/>
              <a:buSzTx/>
              <a:buFontTx/>
              <a:buNone/>
              <a:tabLst/>
              <a:defRPr/>
            </a:pPr>
            <a:r>
              <a:rPr kumimoji="1" lang="en-US" altLang="ko-KR" sz="1600" b="1" i="0" u="none" strike="noStrike" kern="0" cap="none" spc="0" normalizeH="0" baseline="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rPr>
              <a:t>4.2 Type</a:t>
            </a:r>
            <a:r>
              <a:rPr kumimoji="1" lang="en-US" altLang="ko-KR" sz="1600" b="1" i="0" u="none" strike="noStrike" kern="0" cap="none" spc="0" normalizeH="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rPr>
              <a:t> 1 Study again after improvement</a:t>
            </a:r>
            <a:endParaRPr kumimoji="1" lang="ko-KR" altLang="en-US" sz="1600" b="1" i="0" u="none" strike="noStrike" kern="0" cap="none" spc="0" normalizeH="0" baseline="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endParaRPr>
          </a:p>
        </p:txBody>
      </p:sp>
      <p:sp>
        <p:nvSpPr>
          <p:cNvPr id="27" name="Slide Number Placeholder 3">
            <a:extLst>
              <a:ext uri="{FF2B5EF4-FFF2-40B4-BE49-F238E27FC236}">
                <a16:creationId xmlns:a16="http://schemas.microsoft.com/office/drawing/2014/main" id="{9338DD2E-759B-4BBC-A8EF-8DA487CAE85E}"/>
              </a:ext>
            </a:extLst>
          </p:cNvPr>
          <p:cNvSpPr txBox="1">
            <a:spLocks/>
          </p:cNvSpPr>
          <p:nvPr/>
        </p:nvSpPr>
        <p:spPr>
          <a:xfrm>
            <a:off x="3728864" y="6542599"/>
            <a:ext cx="1368000" cy="293117"/>
          </a:xfrm>
          <a:prstGeom prst="rect">
            <a:avLst/>
          </a:prstGeom>
        </p:spPr>
        <p:txBody>
          <a:bodyPr/>
          <a:lstStyle>
            <a:defPPr>
              <a:defRPr lang="ko-KR"/>
            </a:defPPr>
            <a:lvl1pPr algn="ctr" rtl="0" fontAlgn="base" latinLnBrk="1">
              <a:spcBef>
                <a:spcPct val="0"/>
              </a:spcBef>
              <a:spcAft>
                <a:spcPct val="0"/>
              </a:spcAft>
              <a:defRPr kumimoji="1" sz="1000" kern="1200">
                <a:solidFill>
                  <a:schemeClr val="tx1"/>
                </a:solidFill>
                <a:latin typeface="현대하모니 L" panose="02020603020101020101" pitchFamily="18" charset="-127"/>
                <a:ea typeface="현대하모니 L" panose="02020603020101020101" pitchFamily="18" charset="-127"/>
                <a:cs typeface="+mn-cs"/>
              </a:defRPr>
            </a:lvl1pPr>
            <a:lvl2pPr marL="457200" algn="l" rtl="0" fontAlgn="base" latinLnBrk="1">
              <a:spcBef>
                <a:spcPct val="0"/>
              </a:spcBef>
              <a:spcAft>
                <a:spcPct val="0"/>
              </a:spcAft>
              <a:defRPr kumimoji="1" kern="1200">
                <a:solidFill>
                  <a:schemeClr val="tx1"/>
                </a:solidFill>
                <a:latin typeface="굴림" pitchFamily="50" charset="-127"/>
                <a:ea typeface="굴림" pitchFamily="50" charset="-127"/>
                <a:cs typeface="+mn-cs"/>
              </a:defRPr>
            </a:lvl2pPr>
            <a:lvl3pPr marL="914400" algn="l" rtl="0" fontAlgn="base" latinLnBrk="1">
              <a:spcBef>
                <a:spcPct val="0"/>
              </a:spcBef>
              <a:spcAft>
                <a:spcPct val="0"/>
              </a:spcAft>
              <a:defRPr kumimoji="1" kern="1200">
                <a:solidFill>
                  <a:schemeClr val="tx1"/>
                </a:solidFill>
                <a:latin typeface="굴림" pitchFamily="50" charset="-127"/>
                <a:ea typeface="굴림" pitchFamily="50" charset="-127"/>
                <a:cs typeface="+mn-cs"/>
              </a:defRPr>
            </a:lvl3pPr>
            <a:lvl4pPr marL="1371600" algn="l" rtl="0" fontAlgn="base" latinLnBrk="1">
              <a:spcBef>
                <a:spcPct val="0"/>
              </a:spcBef>
              <a:spcAft>
                <a:spcPct val="0"/>
              </a:spcAft>
              <a:defRPr kumimoji="1" kern="1200">
                <a:solidFill>
                  <a:schemeClr val="tx1"/>
                </a:solidFill>
                <a:latin typeface="굴림" pitchFamily="50" charset="-127"/>
                <a:ea typeface="굴림" pitchFamily="50" charset="-127"/>
                <a:cs typeface="+mn-cs"/>
              </a:defRPr>
            </a:lvl4pPr>
            <a:lvl5pPr marL="1828800" algn="l" rtl="0" fontAlgn="base" latinLnBrk="1">
              <a:spcBef>
                <a:spcPct val="0"/>
              </a:spcBef>
              <a:spcAft>
                <a:spcPct val="0"/>
              </a:spcAft>
              <a:defRPr kumimoji="1" kern="1200">
                <a:solidFill>
                  <a:schemeClr val="tx1"/>
                </a:solidFill>
                <a:latin typeface="굴림" pitchFamily="50" charset="-127"/>
                <a:ea typeface="굴림" pitchFamily="50" charset="-127"/>
                <a:cs typeface="+mn-cs"/>
              </a:defRPr>
            </a:lvl5pPr>
            <a:lvl6pPr marL="2286000" algn="l" defTabSz="914400" rtl="0" eaLnBrk="1" latinLnBrk="1" hangingPunct="1">
              <a:defRPr kumimoji="1" kern="1200">
                <a:solidFill>
                  <a:schemeClr val="tx1"/>
                </a:solidFill>
                <a:latin typeface="굴림" pitchFamily="50" charset="-127"/>
                <a:ea typeface="굴림" pitchFamily="50" charset="-127"/>
                <a:cs typeface="+mn-cs"/>
              </a:defRPr>
            </a:lvl6pPr>
            <a:lvl7pPr marL="2743200" algn="l" defTabSz="914400" rtl="0" eaLnBrk="1" latinLnBrk="1" hangingPunct="1">
              <a:defRPr kumimoji="1" kern="1200">
                <a:solidFill>
                  <a:schemeClr val="tx1"/>
                </a:solidFill>
                <a:latin typeface="굴림" pitchFamily="50" charset="-127"/>
                <a:ea typeface="굴림" pitchFamily="50" charset="-127"/>
                <a:cs typeface="+mn-cs"/>
              </a:defRPr>
            </a:lvl7pPr>
            <a:lvl8pPr marL="3200400" algn="l" defTabSz="914400" rtl="0" eaLnBrk="1" latinLnBrk="1" hangingPunct="1">
              <a:defRPr kumimoji="1" kern="1200">
                <a:solidFill>
                  <a:schemeClr val="tx1"/>
                </a:solidFill>
                <a:latin typeface="굴림" pitchFamily="50" charset="-127"/>
                <a:ea typeface="굴림" pitchFamily="50" charset="-127"/>
                <a:cs typeface="+mn-cs"/>
              </a:defRPr>
            </a:lvl8pPr>
            <a:lvl9pPr marL="3657600" algn="l" defTabSz="914400" rtl="0" eaLnBrk="1" latinLnBrk="1" hangingPunct="1">
              <a:defRPr kumimoji="1" kern="1200">
                <a:solidFill>
                  <a:schemeClr val="tx1"/>
                </a:solidFill>
                <a:latin typeface="굴림" pitchFamily="50" charset="-127"/>
                <a:ea typeface="굴림" pitchFamily="50" charset="-127"/>
                <a:cs typeface="+mn-cs"/>
              </a:defRPr>
            </a:lvl9pPr>
          </a:lstStyle>
          <a:p>
            <a:pPr eaLnBrk="1" latinLnBrk="0"/>
            <a:r>
              <a:rPr sz="1000" b="0">
                <a:latin typeface="Arial"/>
              </a:rPr>
              <a:t>21 / 33 </a:t>
            </a:r>
            <a:endParaRPr lang="ko-KR" altLang="en-US" dirty="0">
              <a:solidFill>
                <a:prstClr val="black">
                  <a:tint val="75000"/>
                </a:prstClr>
              </a:solidFill>
              <a:latin typeface="LG Smart_H Regular" panose="020B0600000101010101" pitchFamily="34" charset="-127"/>
              <a:ea typeface="LG Smart_H Regular" panose="020B0600000101010101" pitchFamily="34" charset="-127"/>
            </a:endParaRPr>
          </a:p>
        </p:txBody>
      </p:sp>
      <p:sp>
        <p:nvSpPr>
          <p:cNvPr id="29" name="TextBox 28">
            <a:extLst>
              <a:ext uri="{FF2B5EF4-FFF2-40B4-BE49-F238E27FC236}">
                <a16:creationId xmlns:a16="http://schemas.microsoft.com/office/drawing/2014/main" id="{1B343AEE-326F-4166-A091-AF8F5A490D4A}"/>
              </a:ext>
            </a:extLst>
          </p:cNvPr>
          <p:cNvSpPr txBox="1"/>
          <p:nvPr/>
        </p:nvSpPr>
        <p:spPr>
          <a:xfrm>
            <a:off x="5188636" y="3236635"/>
            <a:ext cx="2362200" cy="477054"/>
          </a:xfrm>
          <a:prstGeom prst="rect">
            <a:avLst/>
          </a:prstGeom>
          <a:noFill/>
        </p:spPr>
        <p:txBody>
          <a:bodyPr wrap="square" rtlCol="0">
            <a:noAutofit/>
          </a:bodyPr>
          <a:lstStyle/>
          <a:p>
            <a:pPr eaLnBrk="1" latinLnBrk="0">
              <a:spcBef>
                <a:spcPts val="600"/>
              </a:spcBef>
            </a:pPr>
            <a:r>
              <a:rPr lang="en-GB" sz="1000" dirty="0">
                <a:latin typeface="Arial" panose="020B0600000101010101" pitchFamily="34" charset="-127"/>
                <a:ea typeface="Arial" panose="020B0600000101010101" pitchFamily="34" charset="-127"/>
              </a:rPr>
              <a:t>Spec: </a:t>
            </a:r>
            <a:r>
              <a:rPr lang="en-US" sz="1000" dirty="0">
                <a:solidFill>
                  <a:srgbClr val="000000"/>
                </a:solidFill>
                <a:latin typeface="Arial" panose="020B0600000101010101" pitchFamily="34" charset="-127"/>
                <a:ea typeface="Arial" panose="020B0600000101010101" pitchFamily="34" charset="-127"/>
                <a:cs typeface="Arial" panose="020B0604020202020204" pitchFamily="34" charset="0"/>
              </a:rPr>
              <a:t>800.00 ~ 2000.00</a:t>
            </a:r>
          </a:p>
          <a:p>
            <a:pPr eaLnBrk="1" latinLnBrk="0">
              <a:spcBef>
                <a:spcPts val="600"/>
              </a:spcBef>
            </a:pPr>
            <a:r>
              <a:rPr lang="en-GB" sz="1000" dirty="0">
                <a:latin typeface="Arial" panose="020B0600000101010101" pitchFamily="34" charset="-127"/>
                <a:ea typeface="Arial" panose="020B0600000101010101" pitchFamily="34" charset="-127"/>
              </a:rPr>
              <a:t>Reference value: </a:t>
            </a:r>
            <a:r>
              <a:rPr lang="en-US" sz="1000" dirty="0">
                <a:solidFill>
                  <a:srgbClr val="000000"/>
                </a:solidFill>
                <a:latin typeface="Arial" panose="020B0600000101010101" pitchFamily="34" charset="-127"/>
                <a:ea typeface="Arial" panose="020B0600000101010101" pitchFamily="34" charset="-127"/>
                <a:cs typeface="Arial" panose="020B0604020202020204" pitchFamily="34" charset="0"/>
              </a:rPr>
              <a:t>910 (golden sample)</a:t>
            </a:r>
            <a:endParaRPr lang="en-US" sz="1000" dirty="0">
              <a:latin typeface="LG Smart_H Regular" panose="020B0600000101010101" pitchFamily="34" charset="-127"/>
              <a:ea typeface="LG Smart_H Regular" panose="020B0600000101010101" pitchFamily="34" charset="-127"/>
            </a:endParaRPr>
          </a:p>
        </p:txBody>
      </p:sp>
      <p:sp>
        <p:nvSpPr>
          <p:cNvPr id="17" name="TextBox 16">
            <a:extLst>
              <a:ext uri="{FF2B5EF4-FFF2-40B4-BE49-F238E27FC236}">
                <a16:creationId xmlns:a16="http://schemas.microsoft.com/office/drawing/2014/main" id="{92CAFF54-087B-4DB0-9D22-8021B64E17B1}"/>
              </a:ext>
            </a:extLst>
          </p:cNvPr>
          <p:cNvSpPr txBox="1"/>
          <p:nvPr/>
        </p:nvSpPr>
        <p:spPr>
          <a:xfrm>
            <a:off x="63248" y="522000"/>
            <a:ext cx="2070352" cy="198000"/>
          </a:xfrm>
          <a:prstGeom prst="rect">
            <a:avLst/>
          </a:prstGeom>
          <a:noFill/>
        </p:spPr>
        <p:txBody>
          <a:bodyPr wrap="square" rtlCol="0">
            <a:noAutofit/>
          </a:bodyPr>
          <a:lstStyle/>
          <a:p>
            <a:pPr marL="171450" indent="-171450" eaLnBrk="1" latinLnBrk="0">
              <a:buFont typeface="Wingdings" panose="05000000000000000000" pitchFamily="2" charset="2"/>
              <a:buChar char="q"/>
            </a:pPr>
            <a:r>
              <a:rPr lang="vi-VN" sz="1000" b="1" dirty="0">
                <a:latin typeface="Arial" panose="020B0604020202020204" pitchFamily="34" charset="0"/>
                <a:ea typeface="Arial Unicode MS" panose="020B0604020202020204" pitchFamily="34" charset="-128"/>
                <a:cs typeface="Arial" panose="020B0604020202020204" pitchFamily="34" charset="0"/>
              </a:rPr>
              <a:t>Station </a:t>
            </a:r>
            <a:r>
              <a:rPr lang="en-US" sz="1000" b="1" dirty="0">
                <a:latin typeface="Arial" panose="020B0604020202020204" pitchFamily="34" charset="0"/>
                <a:ea typeface="Arial Unicode MS" panose="020B0604020202020204" pitchFamily="34" charset="-128"/>
                <a:cs typeface="Arial" panose="020B0604020202020204" pitchFamily="34" charset="0"/>
              </a:rPr>
              <a:t>2 Luminance</a:t>
            </a:r>
          </a:p>
        </p:txBody>
      </p:sp>
      <p:sp>
        <p:nvSpPr>
          <p:cNvPr id="18" name="TextBox 17">
            <a:extLst>
              <a:ext uri="{FF2B5EF4-FFF2-40B4-BE49-F238E27FC236}">
                <a16:creationId xmlns:a16="http://schemas.microsoft.com/office/drawing/2014/main" id="{E90369EA-41CF-4BB7-95EE-33A74A74A411}"/>
              </a:ext>
            </a:extLst>
          </p:cNvPr>
          <p:cNvSpPr txBox="1"/>
          <p:nvPr/>
        </p:nvSpPr>
        <p:spPr>
          <a:xfrm>
            <a:off x="72000" y="5094000"/>
            <a:ext cx="5112000" cy="900000"/>
          </a:xfrm>
          <a:prstGeom prst="rect">
            <a:avLst/>
          </a:prstGeom>
          <a:noFill/>
          <a:ln>
            <a:noFill/>
          </a:ln>
        </p:spPr>
        <p:txBody>
          <a:bodyPr wrap="square" rtlCol="0">
            <a:noAutofit/>
          </a:bodyPr>
          <a:lstStyle/>
          <a:p>
            <a:pPr marL="171450" indent="-171450" eaLnBrk="1" latinLnBrk="0">
              <a:buFont typeface="Wingdings" panose="05000000000000000000" pitchFamily="2" charset="2"/>
              <a:buChar char="Ø"/>
            </a:pPr>
            <a:r>
              <a:rPr sz="1000" b="1">
                <a:latin typeface="Arial"/>
              </a:rPr>
              <a:t>Conclusion</a:t>
            </a:r>
          </a:p>
          <a:p>
            <a:pPr eaLnBrk="1" latinLnBrk="0"/>
            <a:r>
              <a:rPr sz="1000" b="0">
                <a:latin typeface="Arial"/>
              </a:rPr>
              <a:t>• P value = 0.926 &gt; 0.05  Fail to reject H0 -&gt; No significant bias (PASS)</a:t>
            </a:r>
          </a:p>
          <a:p>
            <a:pPr eaLnBrk="1" latinLnBrk="0"/>
            <a:r>
              <a:rPr sz="1000" b="0">
                <a:latin typeface="Arial"/>
              </a:rPr>
              <a:t>• Cg = 2.51 (Std ≥ 1.33) PASS | Cgk = 2.50 (Std ≥ 1.33) PASS</a:t>
            </a:r>
          </a:p>
          <a:p>
            <a:pPr eaLnBrk="1" latinLnBrk="0"/>
            <a:r>
              <a:rPr sz="1000" b="0">
                <a:latin typeface="Arial"/>
              </a:rPr>
              <a:t>• %Var(Repeatability) = 7.98% (&lt; 10%) PASS</a:t>
            </a:r>
          </a:p>
          <a:p>
            <a:pPr eaLnBrk="1" latinLnBrk="0"/>
            <a:r>
              <a:rPr sz="1000" b="0">
                <a:latin typeface="Arial"/>
              </a:rPr>
              <a:t>• %Var(Repeatability &amp; Bias) = 8.00% (&lt; 10%) PASS</a:t>
            </a:r>
          </a:p>
        </p:txBody>
      </p:sp>
      <p:pic>
        <p:nvPicPr>
          <p:cNvPr id="3" name="Picture 2">
            <a:extLst>
              <a:ext uri="{FF2B5EF4-FFF2-40B4-BE49-F238E27FC236}">
                <a16:creationId xmlns:a16="http://schemas.microsoft.com/office/drawing/2014/main" id="{0CF4BAE4-7011-4E5A-AC6B-231C9D00DB5E}"/>
              </a:ext>
            </a:extLst>
          </p:cNvPr>
          <p:cNvPicPr>
            <a:picLocks noChangeAspect="1"/>
          </p:cNvPicPr>
          <p:nvPr/>
        </p:nvPicPr>
        <p:blipFill>
          <a:blip r:embed="rId3"/>
          <a:stretch>
            <a:fillRect/>
          </a:stretch>
        </p:blipFill>
        <p:spPr>
          <a:xfrm>
            <a:off x="5976241" y="624615"/>
            <a:ext cx="3858817" cy="2583445"/>
          </a:xfrm>
          <a:prstGeom prst="rect">
            <a:avLst/>
          </a:prstGeom>
        </p:spPr>
      </p:pic>
      <p:pic>
        <p:nvPicPr>
          <p:cNvPr id="4" name="Picture 3">
            <a:extLst>
              <a:ext uri="{FF2B5EF4-FFF2-40B4-BE49-F238E27FC236}">
                <a16:creationId xmlns:a16="http://schemas.microsoft.com/office/drawing/2014/main" id="{2B4A6D4C-07A1-4D69-BEAA-6C2D30E87DB8}"/>
              </a:ext>
            </a:extLst>
          </p:cNvPr>
          <p:cNvPicPr>
            <a:picLocks noChangeAspect="1"/>
          </p:cNvPicPr>
          <p:nvPr/>
        </p:nvPicPr>
        <p:blipFill>
          <a:blip r:embed="rId4"/>
          <a:stretch>
            <a:fillRect/>
          </a:stretch>
        </p:blipFill>
        <p:spPr>
          <a:xfrm>
            <a:off x="5217211" y="3649940"/>
            <a:ext cx="4641164" cy="3144270"/>
          </a:xfrm>
          <a:prstGeom prst="rect">
            <a:avLst/>
          </a:prstGeom>
        </p:spPr>
      </p:pic>
      <p:sp>
        <p:nvSpPr>
          <p:cNvPr id="24" name="TextBox 23">
            <a:extLst>
              <a:ext uri="{FF2B5EF4-FFF2-40B4-BE49-F238E27FC236}">
                <a16:creationId xmlns:a16="http://schemas.microsoft.com/office/drawing/2014/main" id="{2E6C57C6-8F91-41B9-BC8E-38F5C99A38B5}"/>
              </a:ext>
            </a:extLst>
          </p:cNvPr>
          <p:cNvSpPr txBox="1"/>
          <p:nvPr/>
        </p:nvSpPr>
        <p:spPr>
          <a:xfrm>
            <a:off x="72000" y="6048000"/>
            <a:ext cx="5112000" cy="468000"/>
          </a:xfrm>
          <a:prstGeom prst="rect">
            <a:avLst/>
          </a:prstGeom>
          <a:noFill/>
        </p:spPr>
        <p:txBody>
          <a:bodyPr wrap="square" rtlCol="0">
            <a:noAutofit/>
          </a:bodyPr>
          <a:lstStyle/>
          <a:p>
            <a:pPr marL="171450" indent="-171450" eaLnBrk="1" latinLnBrk="0">
              <a:buFont typeface="Wingdings" panose="05000000000000000000" pitchFamily="2" charset="2"/>
              <a:buChar char="à"/>
            </a:pPr>
            <a:r>
              <a:rPr sz="1000">
                <a:latin typeface="Arial"/>
              </a:rPr>
              <a:t>✔ Equipment is OK. Camera CS2000 of Station 2 can be used to measure Luminance value.</a:t>
            </a:r>
          </a:p>
        </p:txBody>
      </p:sp>
      <p:graphicFrame>
        <p:nvGraphicFramePr>
          <p:cNvPr id="9" name="Table 8">
            <a:extLst>
              <a:ext uri="{FF2B5EF4-FFF2-40B4-BE49-F238E27FC236}">
                <a16:creationId xmlns:a16="http://schemas.microsoft.com/office/drawing/2014/main" id="{1F794835-D2AA-4427-9577-00F62D39277C}"/>
              </a:ext>
            </a:extLst>
          </p:cNvPr>
          <p:cNvGraphicFramePr>
            <a:graphicFrameLocks noGrp="1"/>
          </p:cNvGraphicFramePr>
          <p:nvPr>
            <p:extLst>
              <p:ext uri="{D42A27DB-BD31-4B8C-83A1-F6EECF244321}">
                <p14:modId xmlns:p14="http://schemas.microsoft.com/office/powerpoint/2010/main" val="2150053924"/>
              </p:ext>
            </p:extLst>
          </p:nvPr>
        </p:nvGraphicFramePr>
        <p:xfrm>
          <a:off x="119760" y="1858281"/>
          <a:ext cx="3810000" cy="3267075"/>
        </p:xfrm>
        <a:graphic>
          <a:graphicData uri="http://schemas.openxmlformats.org/drawingml/2006/table">
            <a:tbl>
              <a:tblPr/>
              <a:tblGrid>
                <a:gridCol w="608547">
                  <a:extLst>
                    <a:ext uri="{9D8B030D-6E8A-4147-A177-3AD203B41FA5}">
                      <a16:colId xmlns:a16="http://schemas.microsoft.com/office/drawing/2014/main" val="1750809248"/>
                    </a:ext>
                  </a:extLst>
                </a:gridCol>
                <a:gridCol w="1372653">
                  <a:extLst>
                    <a:ext uri="{9D8B030D-6E8A-4147-A177-3AD203B41FA5}">
                      <a16:colId xmlns:a16="http://schemas.microsoft.com/office/drawing/2014/main" val="507090747"/>
                    </a:ext>
                  </a:extLst>
                </a:gridCol>
                <a:gridCol w="443480">
                  <a:extLst>
                    <a:ext uri="{9D8B030D-6E8A-4147-A177-3AD203B41FA5}">
                      <a16:colId xmlns:a16="http://schemas.microsoft.com/office/drawing/2014/main" val="2319962046"/>
                    </a:ext>
                  </a:extLst>
                </a:gridCol>
                <a:gridCol w="1385320">
                  <a:extLst>
                    <a:ext uri="{9D8B030D-6E8A-4147-A177-3AD203B41FA5}">
                      <a16:colId xmlns:a16="http://schemas.microsoft.com/office/drawing/2014/main" val="2794394947"/>
                    </a:ext>
                  </a:extLst>
                </a:gridCol>
              </a:tblGrid>
              <a:tr h="409575">
                <a:tc>
                  <a:txBody>
                    <a:bodyPr/>
                    <a:lstStyle/>
                    <a:p>
                      <a:pPr algn="ctr" rtl="0" eaLnBrk="1" fontAlgn="ctr" latinLnBrk="0"/>
                      <a:r>
                        <a:rPr lang="en-US" sz="1000" b="1" i="0" u="none" strike="noStrike">
                          <a:solidFill>
                            <a:srgbClr val="000000"/>
                          </a:solidFill>
                          <a:effectLst/>
                          <a:latin typeface="Arial" panose="020B0604020202020204" pitchFamily="34" charset="0"/>
                        </a:rPr>
                        <a:t>No</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tc>
                  <a:txBody>
                    <a:bodyPr/>
                    <a:lstStyle/>
                    <a:p>
                      <a:pPr algn="ctr" rtl="0" eaLnBrk="1" fontAlgn="ctr" latinLnBrk="0"/>
                      <a:r>
                        <a:rPr lang="en-US" sz="1000" b="1" i="0" u="none" strike="noStrike" dirty="0">
                          <a:solidFill>
                            <a:srgbClr val="000000"/>
                          </a:solidFill>
                          <a:effectLst/>
                          <a:latin typeface="Arial" panose="020B0604020202020204" pitchFamily="34" charset="0"/>
                        </a:rPr>
                        <a:t>Luminance(Cd/m</a:t>
                      </a:r>
                      <a:r>
                        <a:rPr lang="en-US" sz="1000" b="1" i="0" u="none" strike="noStrike" baseline="30000" dirty="0">
                          <a:solidFill>
                            <a:srgbClr val="000000"/>
                          </a:solidFill>
                          <a:effectLst/>
                          <a:latin typeface="Arial" panose="020B0604020202020204" pitchFamily="34" charset="0"/>
                        </a:rPr>
                        <a:t>2</a:t>
                      </a:r>
                      <a:r>
                        <a:rPr lang="en-US" sz="1000" b="1" i="0" u="none" strike="noStrike" dirty="0">
                          <a:solidFill>
                            <a:srgbClr val="000000"/>
                          </a:solidFill>
                          <a:effectLst/>
                          <a:latin typeface="Arial" panose="020B0604020202020204" pitchFamily="34" charset="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tc>
                  <a:txBody>
                    <a:bodyPr/>
                    <a:lstStyle/>
                    <a:p>
                      <a:pPr algn="ctr" rtl="0" eaLnBrk="1" fontAlgn="ctr" latinLnBrk="0"/>
                      <a:r>
                        <a:rPr lang="en-US" sz="1000" b="1" i="0" u="none" strike="noStrike">
                          <a:solidFill>
                            <a:srgbClr val="000000"/>
                          </a:solidFill>
                          <a:effectLst/>
                          <a:latin typeface="Arial" panose="020B0604020202020204" pitchFamily="34" charset="0"/>
                        </a:rPr>
                        <a:t>No</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tc>
                  <a:txBody>
                    <a:bodyPr/>
                    <a:lstStyle/>
                    <a:p>
                      <a:pPr algn="ctr" rtl="0" eaLnBrk="1" fontAlgn="ctr" latinLnBrk="0"/>
                      <a:r>
                        <a:rPr lang="en-US" sz="1000" b="1" i="0" u="none" strike="noStrike">
                          <a:solidFill>
                            <a:srgbClr val="000000"/>
                          </a:solidFill>
                          <a:effectLst/>
                          <a:latin typeface="Arial" panose="020B0604020202020204" pitchFamily="34" charset="0"/>
                        </a:rPr>
                        <a:t>Luminance(Cd/m</a:t>
                      </a:r>
                      <a:r>
                        <a:rPr lang="en-US" sz="1000" b="1" i="0" u="none" strike="noStrike" baseline="30000">
                          <a:solidFill>
                            <a:srgbClr val="000000"/>
                          </a:solidFill>
                          <a:effectLst/>
                          <a:latin typeface="Arial" panose="020B0604020202020204" pitchFamily="34" charset="0"/>
                        </a:rPr>
                        <a:t>2</a:t>
                      </a:r>
                      <a:r>
                        <a:rPr lang="en-US" sz="1000" b="1" i="0" u="none" strike="noStrike">
                          <a:solidFill>
                            <a:srgbClr val="000000"/>
                          </a:solidFill>
                          <a:effectLst/>
                          <a:latin typeface="Arial" panose="020B0604020202020204" pitchFamily="34" charset="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extLst>
                  <a:ext uri="{0D108BD9-81ED-4DB2-BD59-A6C34878D82A}">
                    <a16:rowId xmlns:a16="http://schemas.microsoft.com/office/drawing/2014/main" val="1420388274"/>
                  </a:ext>
                </a:extLst>
              </a:tr>
              <a:tr h="190500">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913.97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16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919.07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182906823"/>
                  </a:ext>
                </a:extLst>
              </a:tr>
              <a:tr h="190500">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910.09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17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909.74</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919709346"/>
                  </a:ext>
                </a:extLst>
              </a:tr>
              <a:tr h="190500">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3</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934.62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18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906.54</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09311575"/>
                  </a:ext>
                </a:extLst>
              </a:tr>
              <a:tr h="190500">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4</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926.63</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19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915.48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340081104"/>
                  </a:ext>
                </a:extLst>
              </a:tr>
              <a:tr h="190500">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5</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901.07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20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894.75</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241837168"/>
                  </a:ext>
                </a:extLst>
              </a:tr>
              <a:tr h="190500">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921.35</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21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927.84</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176354868"/>
                  </a:ext>
                </a:extLst>
              </a:tr>
              <a:tr h="190500">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931.37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22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930.79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543427465"/>
                  </a:ext>
                </a:extLst>
              </a:tr>
              <a:tr h="190500">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872.12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23</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884.59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386401257"/>
                  </a:ext>
                </a:extLst>
              </a:tr>
              <a:tr h="190500">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909.81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24</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940.66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01365766"/>
                  </a:ext>
                </a:extLst>
              </a:tr>
              <a:tr h="190500">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10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903.27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25</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916.63</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42573950"/>
                  </a:ext>
                </a:extLst>
              </a:tr>
              <a:tr h="190500">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11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898.65</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26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910.92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014072591"/>
                  </a:ext>
                </a:extLst>
              </a:tr>
              <a:tr h="190500">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12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898.47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27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907.23</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142000870"/>
                  </a:ext>
                </a:extLst>
              </a:tr>
              <a:tr h="190500">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13</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895.41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28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893.01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854821821"/>
                  </a:ext>
                </a:extLst>
              </a:tr>
              <a:tr h="190500">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14</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907.88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29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907.52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729828486"/>
                  </a:ext>
                </a:extLst>
              </a:tr>
              <a:tr h="190500">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15</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919.56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30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883.01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847001934"/>
                  </a:ext>
                </a:extLst>
              </a:tr>
            </a:tbl>
          </a:graphicData>
        </a:graphic>
      </p:graphicFrame>
      <p:sp>
        <p:nvSpPr>
          <p:cNvPr id="16" name="AutoShape 57">
            <a:extLst>
              <a:ext uri="{FF2B5EF4-FFF2-40B4-BE49-F238E27FC236}">
                <a16:creationId xmlns:a16="http://schemas.microsoft.com/office/drawing/2014/main" id="{E56DB63D-2D01-4DBC-A986-26AC25D62E26}"/>
              </a:ext>
            </a:extLst>
          </p:cNvPr>
          <p:cNvSpPr>
            <a:spLocks noChangeArrowheads="1"/>
          </p:cNvSpPr>
          <p:nvPr/>
        </p:nvSpPr>
        <p:spPr bwMode="auto">
          <a:xfrm>
            <a:off x="7687914" y="178989"/>
            <a:ext cx="749300" cy="287338"/>
          </a:xfrm>
          <a:prstGeom prst="homePlate">
            <a:avLst>
              <a:gd name="adj" fmla="val 46698"/>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Analyze</a:t>
            </a:r>
          </a:p>
        </p:txBody>
      </p:sp>
      <p:sp>
        <p:nvSpPr>
          <p:cNvPr id="25" name="AutoShape 55">
            <a:extLst>
              <a:ext uri="{FF2B5EF4-FFF2-40B4-BE49-F238E27FC236}">
                <a16:creationId xmlns:a16="http://schemas.microsoft.com/office/drawing/2014/main" id="{DE503F63-9490-4916-B9A6-B6442FD6B399}"/>
              </a:ext>
            </a:extLst>
          </p:cNvPr>
          <p:cNvSpPr>
            <a:spLocks noChangeArrowheads="1"/>
          </p:cNvSpPr>
          <p:nvPr/>
        </p:nvSpPr>
        <p:spPr bwMode="auto">
          <a:xfrm>
            <a:off x="9069039" y="178989"/>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Control</a:t>
            </a:r>
          </a:p>
        </p:txBody>
      </p:sp>
      <p:sp>
        <p:nvSpPr>
          <p:cNvPr id="26" name="AutoShape 56">
            <a:extLst>
              <a:ext uri="{FF2B5EF4-FFF2-40B4-BE49-F238E27FC236}">
                <a16:creationId xmlns:a16="http://schemas.microsoft.com/office/drawing/2014/main" id="{D2E20A55-BE65-4BAD-8A38-75FD26911C99}"/>
              </a:ext>
            </a:extLst>
          </p:cNvPr>
          <p:cNvSpPr>
            <a:spLocks noChangeArrowheads="1"/>
          </p:cNvSpPr>
          <p:nvPr/>
        </p:nvSpPr>
        <p:spPr bwMode="auto">
          <a:xfrm>
            <a:off x="7018783" y="178989"/>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Measure</a:t>
            </a:r>
          </a:p>
        </p:txBody>
      </p:sp>
      <p:sp>
        <p:nvSpPr>
          <p:cNvPr id="28" name="AutoShape 59">
            <a:extLst>
              <a:ext uri="{FF2B5EF4-FFF2-40B4-BE49-F238E27FC236}">
                <a16:creationId xmlns:a16="http://schemas.microsoft.com/office/drawing/2014/main" id="{9C494BAF-7E5D-498F-A235-2F6AB64EE481}"/>
              </a:ext>
            </a:extLst>
          </p:cNvPr>
          <p:cNvSpPr>
            <a:spLocks noChangeArrowheads="1"/>
          </p:cNvSpPr>
          <p:nvPr/>
        </p:nvSpPr>
        <p:spPr bwMode="auto">
          <a:xfrm>
            <a:off x="6319489" y="178989"/>
            <a:ext cx="757238" cy="287338"/>
          </a:xfrm>
          <a:prstGeom prst="homePlate">
            <a:avLst>
              <a:gd name="adj" fmla="val 47192"/>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Define</a:t>
            </a:r>
          </a:p>
        </p:txBody>
      </p:sp>
      <p:sp>
        <p:nvSpPr>
          <p:cNvPr id="30" name="AutoShape 58">
            <a:extLst>
              <a:ext uri="{FF2B5EF4-FFF2-40B4-BE49-F238E27FC236}">
                <a16:creationId xmlns:a16="http://schemas.microsoft.com/office/drawing/2014/main" id="{91402361-DAA8-4064-A8C7-952CFA000153}"/>
              </a:ext>
            </a:extLst>
          </p:cNvPr>
          <p:cNvSpPr>
            <a:spLocks noChangeArrowheads="1"/>
          </p:cNvSpPr>
          <p:nvPr/>
        </p:nvSpPr>
        <p:spPr bwMode="auto">
          <a:xfrm>
            <a:off x="8330852" y="51592"/>
            <a:ext cx="747712" cy="287337"/>
          </a:xfrm>
          <a:prstGeom prst="homePlate">
            <a:avLst>
              <a:gd name="adj" fmla="val 46599"/>
            </a:avLst>
          </a:prstGeom>
          <a:gradFill rotWithShape="1">
            <a:gsLst>
              <a:gs pos="0">
                <a:srgbClr val="494900"/>
              </a:gs>
              <a:gs pos="100000">
                <a:srgbClr val="808000"/>
              </a:gs>
            </a:gsLst>
            <a:lin ang="0" scaled="1"/>
          </a:gradFill>
          <a:ln w="6350" algn="ctr">
            <a:solidFill>
              <a:srgbClr val="808080"/>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latin typeface="Arial Narrow" panose="020B0606020202030204" pitchFamily="34" charset="0"/>
                <a:ea typeface="Arial" panose="020B0503020000020004" pitchFamily="50" charset="-127"/>
              </a:rPr>
              <a:t>Improve</a:t>
            </a:r>
          </a:p>
        </p:txBody>
      </p:sp>
      <p:cxnSp>
        <p:nvCxnSpPr>
          <p:cNvPr id="31" name="Straight Connector 30">
            <a:extLst>
              <a:ext uri="{FF2B5EF4-FFF2-40B4-BE49-F238E27FC236}">
                <a16:creationId xmlns:a16="http://schemas.microsoft.com/office/drawing/2014/main" id="{EE1CB60C-262D-436D-81A8-3D72B6B48111}"/>
              </a:ext>
            </a:extLst>
          </p:cNvPr>
          <p:cNvCxnSpPr/>
          <p:nvPr/>
        </p:nvCxnSpPr>
        <p:spPr>
          <a:xfrm>
            <a:off x="0" y="508838"/>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E68CD868-16BA-46A5-AECC-0273074C5396}"/>
              </a:ext>
            </a:extLst>
          </p:cNvPr>
          <p:cNvSpPr txBox="1"/>
          <p:nvPr/>
        </p:nvSpPr>
        <p:spPr>
          <a:xfrm>
            <a:off x="63248" y="737999"/>
            <a:ext cx="5354074" cy="1015663"/>
          </a:xfrm>
          <a:prstGeom prst="rect">
            <a:avLst/>
          </a:prstGeom>
          <a:noFill/>
        </p:spPr>
        <p:txBody>
          <a:bodyPr wrap="square" rtlCol="0">
            <a:noAutofit/>
          </a:bodyPr>
          <a:lstStyle/>
          <a:p>
            <a:pPr eaLnBrk="1" latinLnBrk="0"/>
            <a:r>
              <a:rPr lang="en-US" sz="1000" dirty="0">
                <a:latin typeface="Arial" panose="020B0604020202020204" pitchFamily="34" charset="0"/>
                <a:ea typeface="Arial Unicode MS" panose="020B0604020202020204" pitchFamily="34" charset="-128"/>
                <a:cs typeface="Arial" panose="020B0604020202020204" pitchFamily="34" charset="0"/>
              </a:rPr>
              <a:t>Use the Type 1 gage study to assess the measurement capability of the gage, based on its repeatability and bias after improvement.</a:t>
            </a:r>
          </a:p>
          <a:p>
            <a:pPr eaLnBrk="1" latinLnBrk="0"/>
            <a:r>
              <a:rPr lang="en-US" sz="1000" dirty="0">
                <a:latin typeface="Arial" panose="020B0604020202020204" pitchFamily="34" charset="0"/>
                <a:ea typeface="Arial Unicode MS" panose="020B0604020202020204" pitchFamily="34" charset="-128"/>
                <a:cs typeface="Arial" panose="020B0604020202020204" pitchFamily="34" charset="0"/>
              </a:rPr>
              <a:t>In this case, one sample (golden sample, 910 Cd/m²) is measured 30 times.</a:t>
            </a:r>
          </a:p>
          <a:p>
            <a:pPr eaLnBrk="1" latinLnBrk="0"/>
            <a:r>
              <a:rPr lang="en-US" sz="1000" dirty="0">
                <a:latin typeface="Arial" panose="020B0604020202020204" pitchFamily="34" charset="0"/>
                <a:ea typeface="Arial Unicode MS" panose="020B0604020202020204" pitchFamily="34" charset="-128"/>
                <a:cs typeface="Arial" panose="020B0604020202020204" pitchFamily="34" charset="0"/>
              </a:rPr>
              <a:t>H0: Bias = 0 in measurement system.</a:t>
            </a:r>
          </a:p>
          <a:p>
            <a:pPr eaLnBrk="1" latinLnBrk="0"/>
            <a:r>
              <a:rPr lang="en-US" sz="1000" dirty="0">
                <a:latin typeface="Arial" panose="020B0604020202020204" pitchFamily="34" charset="0"/>
                <a:ea typeface="Arial Unicode MS" panose="020B0604020202020204" pitchFamily="34" charset="-128"/>
                <a:cs typeface="Arial" panose="020B0604020202020204" pitchFamily="34" charset="0"/>
              </a:rPr>
              <a:t>H1: Bias ≠ 0 in measurement system.</a:t>
            </a:r>
          </a:p>
        </p:txBody>
      </p:sp>
    </p:spTree>
    <p:extLst>
      <p:ext uri="{BB962C8B-B14F-4D97-AF65-F5344CB8AC3E}">
        <p14:creationId xmlns:p14="http://schemas.microsoft.com/office/powerpoint/2010/main" val="212664916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제목 1"/>
          <p:cNvSpPr txBox="1">
            <a:spLocks/>
          </p:cNvSpPr>
          <p:nvPr/>
        </p:nvSpPr>
        <p:spPr>
          <a:xfrm>
            <a:off x="67838" y="109779"/>
            <a:ext cx="4483810" cy="418058"/>
          </a:xfrm>
          <a:prstGeom prst="rect">
            <a:avLst/>
          </a:prstGeom>
        </p:spPr>
        <p:txBody>
          <a:bodyPr vert="horz" lIns="91440" tIns="45720" rIns="91440" bIns="45720" rtlCol="0" anchor="ctr">
            <a:normAutofit/>
          </a:bodyPr>
          <a:lstStyle/>
          <a:p>
            <a:pPr lvl="0" eaLnBrk="1" latinLnBrk="0" hangingPunct="0">
              <a:defRPr/>
            </a:pPr>
            <a:r>
              <a:rPr lang="en-US" altLang="ko-KR" sz="1600" b="1" kern="0" dirty="0">
                <a:latin typeface="Arial Narrow" panose="020B0606020202030204" pitchFamily="34" charset="0"/>
                <a:ea typeface="Arial Unicode MS" panose="020B0604020202020204" pitchFamily="34" charset="-128"/>
                <a:cs typeface="Arial" panose="020B0604020202020204" pitchFamily="34" charset="0"/>
              </a:rPr>
              <a:t>4.2 Check type 3 study again after improvement</a:t>
            </a:r>
            <a:endParaRPr lang="ko-KR" altLang="en-US" sz="1600" b="1" kern="0" dirty="0">
              <a:latin typeface="Arial Narrow" panose="020B0606020202030204" pitchFamily="34" charset="0"/>
              <a:ea typeface="Arial Unicode MS" panose="020B0604020202020204" pitchFamily="34" charset="-128"/>
              <a:cs typeface="Arial" panose="020B0604020202020204" pitchFamily="34" charset="0"/>
            </a:endParaRPr>
          </a:p>
        </p:txBody>
      </p:sp>
      <p:sp>
        <p:nvSpPr>
          <p:cNvPr id="23" name="TextBox 22">
            <a:extLst>
              <a:ext uri="{FF2B5EF4-FFF2-40B4-BE49-F238E27FC236}">
                <a16:creationId xmlns:a16="http://schemas.microsoft.com/office/drawing/2014/main" id="{7E780F4B-5672-40A9-A54C-41F7670782F4}"/>
              </a:ext>
            </a:extLst>
          </p:cNvPr>
          <p:cNvSpPr txBox="1"/>
          <p:nvPr/>
        </p:nvSpPr>
        <p:spPr>
          <a:xfrm>
            <a:off x="126340" y="831597"/>
            <a:ext cx="9281571" cy="830997"/>
          </a:xfrm>
          <a:prstGeom prst="rect">
            <a:avLst/>
          </a:prstGeom>
          <a:noFill/>
        </p:spPr>
        <p:txBody>
          <a:bodyPr wrap="square" rtlCol="0">
            <a:noAutofit/>
          </a:bodyPr>
          <a:lstStyle/>
          <a:p>
            <a:pPr eaLnBrk="1" latinLnBrk="0"/>
            <a:r>
              <a:rPr lang="en-US" sz="1000" dirty="0">
                <a:latin typeface="Arial" panose="020B0604020202020204" pitchFamily="34" charset="0"/>
                <a:ea typeface="Arial Unicode MS" panose="020B0604020202020204" pitchFamily="34" charset="-128"/>
                <a:cs typeface="Arial" panose="020B0604020202020204" pitchFamily="34" charset="0"/>
              </a:rPr>
              <a:t>Only the Type 1 study has been done so far; the Gage R&amp;R (repeatability on 25 parts) still has to be evaluated at both stations.</a:t>
            </a:r>
          </a:p>
          <a:p>
            <a:pPr eaLnBrk="1" latinLnBrk="0"/>
            <a:r>
              <a:rPr sz="1000" b="0">
                <a:latin typeface="Arial"/>
              </a:rPr>
              <a:t>Because Luminance stations are fully automated with no operator variation, Type 3 Gage Study is conducted (25 samples measured twice per station).</a:t>
            </a:r>
          </a:p>
          <a:p>
            <a:pPr eaLnBrk="1" latinLnBrk="0"/>
            <a:r>
              <a:rPr lang="en-US" sz="1000" dirty="0">
                <a:latin typeface="Arial" panose="020B0604020202020204" pitchFamily="34" charset="0"/>
                <a:ea typeface="Arial Unicode MS" panose="020B0604020202020204" pitchFamily="34" charset="-128"/>
                <a:cs typeface="Arial" panose="020B0604020202020204" pitchFamily="34" charset="0"/>
              </a:rPr>
              <a:t>Each station: 25 samples x 2 repeats = 50 measurements (reproducibility does not apply: no operator influence).</a:t>
            </a:r>
          </a:p>
        </p:txBody>
      </p:sp>
      <p:sp>
        <p:nvSpPr>
          <p:cNvPr id="35" name="Slide Number Placeholder 4">
            <a:extLst>
              <a:ext uri="{FF2B5EF4-FFF2-40B4-BE49-F238E27FC236}">
                <a16:creationId xmlns:a16="http://schemas.microsoft.com/office/drawing/2014/main" id="{E1439F5B-C230-4AA8-8439-28EEED666496}"/>
              </a:ext>
            </a:extLst>
          </p:cNvPr>
          <p:cNvSpPr>
            <a:spLocks noGrp="1"/>
          </p:cNvSpPr>
          <p:nvPr>
            <p:ph type="sldNum" sz="quarter" idx="12"/>
          </p:nvPr>
        </p:nvSpPr>
        <p:spPr>
          <a:xfrm>
            <a:off x="3700326" y="6643499"/>
            <a:ext cx="2133600" cy="198047"/>
          </a:xfrm>
        </p:spPr>
        <p:txBody>
          <a:bodyPr/>
          <a:lstStyle/>
          <a:p>
            <a:pPr algn="ctr" eaLnBrk="1" latinLnBrk="0"/>
            <a:r>
              <a:rPr sz="1000" b="0">
                <a:latin typeface="Arial"/>
              </a:rPr>
              <a:t>22 / 33</a:t>
            </a:r>
            <a:endParaRPr lang="ko-KR" altLang="en-US" sz="1200" dirty="0">
              <a:solidFill>
                <a:prstClr val="black">
                  <a:tint val="75000"/>
                </a:prstClr>
              </a:solidFill>
              <a:latin typeface="Arial" panose="020B0604020202020204" pitchFamily="34" charset="0"/>
              <a:ea typeface="Arial Unicode MS" panose="020B0604020202020204" pitchFamily="34" charset="-128"/>
              <a:cs typeface="Arial" panose="020B0604020202020204" pitchFamily="34" charset="0"/>
            </a:endParaRPr>
          </a:p>
        </p:txBody>
      </p:sp>
      <p:sp>
        <p:nvSpPr>
          <p:cNvPr id="4" name="Rectangle 3">
            <a:extLst>
              <a:ext uri="{FF2B5EF4-FFF2-40B4-BE49-F238E27FC236}">
                <a16:creationId xmlns:a16="http://schemas.microsoft.com/office/drawing/2014/main" id="{48934BF3-CC0B-450B-ACCE-8B259B73DAE4}"/>
              </a:ext>
            </a:extLst>
          </p:cNvPr>
          <p:cNvSpPr/>
          <p:nvPr/>
        </p:nvSpPr>
        <p:spPr>
          <a:xfrm>
            <a:off x="2971800" y="5957694"/>
            <a:ext cx="1765227" cy="261610"/>
          </a:xfrm>
          <a:prstGeom prst="rect">
            <a:avLst/>
          </a:prstGeom>
        </p:spPr>
        <p:txBody>
          <a:bodyPr wrap="none">
            <a:noAutofit/>
          </a:bodyPr>
          <a:lstStyle/>
          <a:p>
            <a:pPr eaLnBrk="1" latinLnBrk="0"/>
            <a:r>
              <a:rPr lang="en-US" sz="1000" dirty="0">
                <a:latin typeface="Arial" panose="020B0604020202020204" pitchFamily="34" charset="0"/>
                <a:ea typeface="Arial Unicode MS" panose="020B0604020202020204" pitchFamily="34" charset="-128"/>
                <a:cs typeface="Arial" panose="020B0604020202020204" pitchFamily="34" charset="0"/>
              </a:rPr>
              <a:t>Spec: 800- 2000 (Cd/m</a:t>
            </a:r>
            <a:r>
              <a:rPr lang="en-US" sz="1000" baseline="30000" dirty="0">
                <a:latin typeface="Arial" panose="020B0604020202020204" pitchFamily="34" charset="0"/>
                <a:ea typeface="Arial Unicode MS" panose="020B0604020202020204" pitchFamily="34" charset="-128"/>
                <a:cs typeface="Arial" panose="020B0604020202020204" pitchFamily="34" charset="0"/>
              </a:rPr>
              <a:t>2</a:t>
            </a:r>
            <a:r>
              <a:rPr lang="en-US" sz="1000" dirty="0">
                <a:latin typeface="Arial" panose="020B0604020202020204" pitchFamily="34" charset="0"/>
                <a:ea typeface="Arial Unicode MS" panose="020B0604020202020204" pitchFamily="34" charset="-128"/>
                <a:cs typeface="Arial" panose="020B0604020202020204" pitchFamily="34" charset="0"/>
              </a:rPr>
              <a:t>)</a:t>
            </a:r>
            <a:endParaRPr lang="en-US" sz="1100" dirty="0"/>
          </a:p>
        </p:txBody>
      </p:sp>
      <p:graphicFrame>
        <p:nvGraphicFramePr>
          <p:cNvPr id="13" name="Table 12">
            <a:extLst>
              <a:ext uri="{FF2B5EF4-FFF2-40B4-BE49-F238E27FC236}">
                <a16:creationId xmlns:a16="http://schemas.microsoft.com/office/drawing/2014/main" id="{97CD21B4-9085-48D2-BDDD-DFAD010B4C16}"/>
              </a:ext>
            </a:extLst>
          </p:cNvPr>
          <p:cNvGraphicFramePr>
            <a:graphicFrameLocks noGrp="1"/>
          </p:cNvGraphicFramePr>
          <p:nvPr>
            <p:extLst>
              <p:ext uri="{D42A27DB-BD31-4B8C-83A1-F6EECF244321}">
                <p14:modId xmlns:p14="http://schemas.microsoft.com/office/powerpoint/2010/main" val="3234795596"/>
              </p:ext>
            </p:extLst>
          </p:nvPr>
        </p:nvGraphicFramePr>
        <p:xfrm>
          <a:off x="251820" y="1683120"/>
          <a:ext cx="2719980" cy="4641480"/>
        </p:xfrm>
        <a:graphic>
          <a:graphicData uri="http://schemas.openxmlformats.org/drawingml/2006/table">
            <a:tbl>
              <a:tblPr/>
              <a:tblGrid>
                <a:gridCol w="281580">
                  <a:extLst>
                    <a:ext uri="{9D8B030D-6E8A-4147-A177-3AD203B41FA5}">
                      <a16:colId xmlns:a16="http://schemas.microsoft.com/office/drawing/2014/main" val="2320095060"/>
                    </a:ext>
                  </a:extLst>
                </a:gridCol>
                <a:gridCol w="1143000">
                  <a:extLst>
                    <a:ext uri="{9D8B030D-6E8A-4147-A177-3AD203B41FA5}">
                      <a16:colId xmlns:a16="http://schemas.microsoft.com/office/drawing/2014/main" val="1078060711"/>
                    </a:ext>
                  </a:extLst>
                </a:gridCol>
                <a:gridCol w="304800">
                  <a:extLst>
                    <a:ext uri="{9D8B030D-6E8A-4147-A177-3AD203B41FA5}">
                      <a16:colId xmlns:a16="http://schemas.microsoft.com/office/drawing/2014/main" val="367826593"/>
                    </a:ext>
                  </a:extLst>
                </a:gridCol>
                <a:gridCol w="990600">
                  <a:extLst>
                    <a:ext uri="{9D8B030D-6E8A-4147-A177-3AD203B41FA5}">
                      <a16:colId xmlns:a16="http://schemas.microsoft.com/office/drawing/2014/main" val="704243827"/>
                    </a:ext>
                  </a:extLst>
                </a:gridCol>
              </a:tblGrid>
              <a:tr h="155003">
                <a:tc>
                  <a:txBody>
                    <a:bodyPr/>
                    <a:lstStyle/>
                    <a:p>
                      <a:pPr algn="ctr" rtl="0" eaLnBrk="1" fontAlgn="ctr" latinLnBrk="0"/>
                      <a:r>
                        <a:rPr lang="en-US" sz="800" b="1" i="0" u="none" strike="noStrike" dirty="0">
                          <a:solidFill>
                            <a:srgbClr val="000000"/>
                          </a:solidFill>
                          <a:effectLst/>
                          <a:latin typeface="Arial" panose="020B0604020202020204" pitchFamily="34" charset="0"/>
                        </a:rPr>
                        <a:t>No</a:t>
                      </a:r>
                    </a:p>
                  </a:txBody>
                  <a:tcPr marL="8073" marR="8073" marT="807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Arial" panose="020B0604020202020204" pitchFamily="34" charset="0"/>
                        </a:rPr>
                        <a:t>Luminance(Cd/m</a:t>
                      </a:r>
                      <a:r>
                        <a:rPr lang="en-US" sz="800" b="1" i="0" u="none" strike="noStrike" baseline="30000" dirty="0">
                          <a:solidFill>
                            <a:srgbClr val="000000"/>
                          </a:solidFill>
                          <a:effectLst/>
                          <a:latin typeface="Arial" panose="020B0604020202020204" pitchFamily="34" charset="0"/>
                        </a:rPr>
                        <a:t>2</a:t>
                      </a:r>
                      <a:r>
                        <a:rPr lang="en-US" sz="800" b="1" i="0" u="none" strike="noStrike" dirty="0">
                          <a:solidFill>
                            <a:srgbClr val="000000"/>
                          </a:solidFill>
                          <a:effectLst/>
                          <a:latin typeface="Arial" panose="020B0604020202020204" pitchFamily="34" charset="0"/>
                        </a:rPr>
                        <a:t>)</a:t>
                      </a:r>
                    </a:p>
                  </a:txBody>
                  <a:tcPr marL="8073" marR="8073" marT="807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tc>
                  <a:txBody>
                    <a:bodyPr/>
                    <a:lstStyle/>
                    <a:p>
                      <a:pPr algn="ctr" rtl="0" eaLnBrk="1" fontAlgn="ctr" latinLnBrk="0"/>
                      <a:r>
                        <a:rPr lang="en-US" sz="800" b="1" i="0" u="none" strike="noStrike">
                          <a:solidFill>
                            <a:srgbClr val="000000"/>
                          </a:solidFill>
                          <a:effectLst/>
                          <a:latin typeface="Arial" panose="020B0604020202020204" pitchFamily="34" charset="0"/>
                        </a:rPr>
                        <a:t>No</a:t>
                      </a:r>
                    </a:p>
                  </a:txBody>
                  <a:tcPr marL="8073" marR="8073" marT="807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Arial" panose="020B0604020202020204" pitchFamily="34" charset="0"/>
                        </a:rPr>
                        <a:t>Luminance(Cd/m</a:t>
                      </a:r>
                      <a:r>
                        <a:rPr lang="en-US" sz="800" b="1" i="0" u="none" strike="noStrike" baseline="30000" dirty="0">
                          <a:solidFill>
                            <a:srgbClr val="000000"/>
                          </a:solidFill>
                          <a:effectLst/>
                          <a:latin typeface="Arial" panose="020B0604020202020204" pitchFamily="34" charset="0"/>
                        </a:rPr>
                        <a:t>2</a:t>
                      </a:r>
                      <a:r>
                        <a:rPr lang="en-US" sz="800" b="1" i="0" u="none" strike="noStrike" dirty="0">
                          <a:solidFill>
                            <a:srgbClr val="000000"/>
                          </a:solidFill>
                          <a:effectLst/>
                          <a:latin typeface="Arial" panose="020B0604020202020204" pitchFamily="34" charset="0"/>
                        </a:rPr>
                        <a:t>)</a:t>
                      </a:r>
                    </a:p>
                  </a:txBody>
                  <a:tcPr marL="8073" marR="8073" marT="807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extLst>
                  <a:ext uri="{0D108BD9-81ED-4DB2-BD59-A6C34878D82A}">
                    <a16:rowId xmlns:a16="http://schemas.microsoft.com/office/drawing/2014/main" val="2897676853"/>
                  </a:ext>
                </a:extLst>
              </a:tr>
              <a:tr h="180837">
                <a:tc>
                  <a:txBody>
                    <a:bodyPr/>
                    <a:lstStyle/>
                    <a:p>
                      <a:pPr algn="ctr" rtl="0" eaLnBrk="1" fontAlgn="ctr" latinLnBrk="0"/>
                      <a:r>
                        <a:rPr lang="en-US" sz="800" b="1" i="0" u="none" strike="noStrike" dirty="0">
                          <a:solidFill>
                            <a:srgbClr val="000000"/>
                          </a:solidFill>
                          <a:effectLst/>
                          <a:latin typeface="Arial" panose="020B0604020202020204" pitchFamily="34" charset="0"/>
                        </a:rPr>
                        <a:t>1</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dirty="0">
                          <a:solidFill>
                            <a:srgbClr val="000000"/>
                          </a:solidFill>
                          <a:effectLst/>
                          <a:latin typeface="Arial" panose="020F0502020204030204" pitchFamily="34" charset="0"/>
                          <a:ea typeface="Arial"/>
                        </a:rPr>
                        <a:t>867.90</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800" b="1" i="0" u="none" strike="noStrike">
                          <a:solidFill>
                            <a:srgbClr val="000000"/>
                          </a:solidFill>
                          <a:effectLst/>
                          <a:latin typeface="Arial" panose="020B0604020202020204" pitchFamily="34" charset="0"/>
                        </a:rPr>
                        <a:t>13</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dirty="0">
                          <a:solidFill>
                            <a:srgbClr val="000000"/>
                          </a:solidFill>
                          <a:effectLst/>
                          <a:latin typeface="Arial" panose="020F0502020204030204" pitchFamily="34" charset="0"/>
                          <a:ea typeface="Arial"/>
                        </a:rPr>
                        <a:t>839.46</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171386091"/>
                  </a:ext>
                </a:extLst>
              </a:tr>
              <a:tr h="180837">
                <a:tc>
                  <a:txBody>
                    <a:bodyPr/>
                    <a:lstStyle/>
                    <a:p>
                      <a:pPr algn="ctr" rtl="0" eaLnBrk="1" fontAlgn="ctr" latinLnBrk="0"/>
                      <a:r>
                        <a:rPr lang="en-US" sz="800" b="1" i="0" u="none" strike="noStrike">
                          <a:solidFill>
                            <a:srgbClr val="000000"/>
                          </a:solidFill>
                          <a:effectLst/>
                          <a:latin typeface="Arial" panose="020B0604020202020204" pitchFamily="34" charset="0"/>
                        </a:rPr>
                        <a:t>1</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dirty="0">
                          <a:solidFill>
                            <a:srgbClr val="000000"/>
                          </a:solidFill>
                          <a:effectLst/>
                          <a:latin typeface="Arial" panose="020F0502020204030204" pitchFamily="34" charset="0"/>
                          <a:ea typeface="Arial"/>
                        </a:rPr>
                        <a:t>865.27</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800" b="1" i="0" u="none" strike="noStrike">
                          <a:solidFill>
                            <a:srgbClr val="000000"/>
                          </a:solidFill>
                          <a:effectLst/>
                          <a:latin typeface="Arial" panose="020B0604020202020204" pitchFamily="34" charset="0"/>
                        </a:rPr>
                        <a:t>14</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a:solidFill>
                            <a:srgbClr val="000000"/>
                          </a:solidFill>
                          <a:effectLst/>
                          <a:latin typeface="Arial" panose="020F0502020204030204" pitchFamily="34" charset="0"/>
                          <a:ea typeface="Arial"/>
                        </a:rPr>
                        <a:t>901.79</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767861849"/>
                  </a:ext>
                </a:extLst>
              </a:tr>
              <a:tr h="180837">
                <a:tc>
                  <a:txBody>
                    <a:bodyPr/>
                    <a:lstStyle/>
                    <a:p>
                      <a:pPr algn="ctr" rtl="0" eaLnBrk="1" fontAlgn="ctr" latinLnBrk="0"/>
                      <a:r>
                        <a:rPr lang="en-US" sz="800" b="1" i="0" u="none" strike="noStrike">
                          <a:solidFill>
                            <a:srgbClr val="000000"/>
                          </a:solidFill>
                          <a:effectLst/>
                          <a:latin typeface="Arial" panose="020B0604020202020204" pitchFamily="34" charset="0"/>
                        </a:rPr>
                        <a:t>2</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dirty="0">
                          <a:solidFill>
                            <a:srgbClr val="000000"/>
                          </a:solidFill>
                          <a:effectLst/>
                          <a:latin typeface="Arial" panose="020F0502020204030204" pitchFamily="34" charset="0"/>
                          <a:ea typeface="Arial"/>
                        </a:rPr>
                        <a:t>944.79</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800" b="1" i="0" u="none" strike="noStrike">
                          <a:solidFill>
                            <a:srgbClr val="000000"/>
                          </a:solidFill>
                          <a:effectLst/>
                          <a:latin typeface="Arial" panose="020B0604020202020204" pitchFamily="34" charset="0"/>
                        </a:rPr>
                        <a:t>14</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a:solidFill>
                            <a:srgbClr val="000000"/>
                          </a:solidFill>
                          <a:effectLst/>
                          <a:latin typeface="Arial" panose="020F0502020204030204" pitchFamily="34" charset="0"/>
                          <a:ea typeface="Arial"/>
                        </a:rPr>
                        <a:t>898.47</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24576868"/>
                  </a:ext>
                </a:extLst>
              </a:tr>
              <a:tr h="180837">
                <a:tc>
                  <a:txBody>
                    <a:bodyPr/>
                    <a:lstStyle/>
                    <a:p>
                      <a:pPr algn="ctr" rtl="0" eaLnBrk="1" fontAlgn="ctr" latinLnBrk="0"/>
                      <a:r>
                        <a:rPr lang="en-US" sz="800" b="1" i="0" u="none" strike="noStrike">
                          <a:solidFill>
                            <a:srgbClr val="000000"/>
                          </a:solidFill>
                          <a:effectLst/>
                          <a:latin typeface="Arial" panose="020B0604020202020204" pitchFamily="34" charset="0"/>
                        </a:rPr>
                        <a:t>2</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dirty="0">
                          <a:solidFill>
                            <a:srgbClr val="000000"/>
                          </a:solidFill>
                          <a:effectLst/>
                          <a:latin typeface="Arial" panose="020F0502020204030204" pitchFamily="34" charset="0"/>
                          <a:ea typeface="Arial"/>
                        </a:rPr>
                        <a:t>946.33</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800" b="1" i="0" u="none" strike="noStrike">
                          <a:solidFill>
                            <a:srgbClr val="000000"/>
                          </a:solidFill>
                          <a:effectLst/>
                          <a:latin typeface="Arial" panose="020B0604020202020204" pitchFamily="34" charset="0"/>
                        </a:rPr>
                        <a:t>15</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a:solidFill>
                            <a:srgbClr val="000000"/>
                          </a:solidFill>
                          <a:effectLst/>
                          <a:latin typeface="Arial" panose="020F0502020204030204" pitchFamily="34" charset="0"/>
                          <a:ea typeface="Arial"/>
                        </a:rPr>
                        <a:t>936.63</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072069964"/>
                  </a:ext>
                </a:extLst>
              </a:tr>
              <a:tr h="180837">
                <a:tc>
                  <a:txBody>
                    <a:bodyPr/>
                    <a:lstStyle/>
                    <a:p>
                      <a:pPr algn="ctr" rtl="0" eaLnBrk="1" fontAlgn="ctr" latinLnBrk="0"/>
                      <a:r>
                        <a:rPr lang="en-US" sz="800" b="1" i="0" u="none" strike="noStrike">
                          <a:solidFill>
                            <a:srgbClr val="000000"/>
                          </a:solidFill>
                          <a:effectLst/>
                          <a:latin typeface="Arial" panose="020B0604020202020204" pitchFamily="34" charset="0"/>
                        </a:rPr>
                        <a:t>3</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dirty="0">
                          <a:solidFill>
                            <a:srgbClr val="000000"/>
                          </a:solidFill>
                          <a:effectLst/>
                          <a:latin typeface="Arial" panose="020F0502020204030204" pitchFamily="34" charset="0"/>
                          <a:ea typeface="Arial"/>
                        </a:rPr>
                        <a:t>843.90</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800" b="1" i="0" u="none" strike="noStrike">
                          <a:solidFill>
                            <a:srgbClr val="000000"/>
                          </a:solidFill>
                          <a:effectLst/>
                          <a:latin typeface="Arial" panose="020B0604020202020204" pitchFamily="34" charset="0"/>
                        </a:rPr>
                        <a:t>15</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a:solidFill>
                            <a:srgbClr val="000000"/>
                          </a:solidFill>
                          <a:effectLst/>
                          <a:latin typeface="Arial" panose="020F0502020204030204" pitchFamily="34" charset="0"/>
                          <a:ea typeface="Arial"/>
                        </a:rPr>
                        <a:t>936.27</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149423515"/>
                  </a:ext>
                </a:extLst>
              </a:tr>
              <a:tr h="180837">
                <a:tc>
                  <a:txBody>
                    <a:bodyPr/>
                    <a:lstStyle/>
                    <a:p>
                      <a:pPr algn="ctr" rtl="0" eaLnBrk="1" fontAlgn="ctr" latinLnBrk="0"/>
                      <a:r>
                        <a:rPr lang="en-US" sz="800" b="1" i="0" u="none" strike="noStrike">
                          <a:solidFill>
                            <a:srgbClr val="000000"/>
                          </a:solidFill>
                          <a:effectLst/>
                          <a:latin typeface="Arial" panose="020B0604020202020204" pitchFamily="34" charset="0"/>
                        </a:rPr>
                        <a:t>3</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dirty="0">
                          <a:solidFill>
                            <a:srgbClr val="000000"/>
                          </a:solidFill>
                          <a:effectLst/>
                          <a:latin typeface="Arial" panose="020F0502020204030204" pitchFamily="34" charset="0"/>
                          <a:ea typeface="Arial"/>
                        </a:rPr>
                        <a:t>845.25</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800" b="1" i="0" u="none" strike="noStrike" dirty="0">
                          <a:solidFill>
                            <a:srgbClr val="000000"/>
                          </a:solidFill>
                          <a:effectLst/>
                          <a:latin typeface="Arial" panose="020B0604020202020204" pitchFamily="34" charset="0"/>
                        </a:rPr>
                        <a:t>16</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a:solidFill>
                            <a:srgbClr val="000000"/>
                          </a:solidFill>
                          <a:effectLst/>
                          <a:latin typeface="Arial" panose="020F0502020204030204" pitchFamily="34" charset="0"/>
                          <a:ea typeface="Arial"/>
                        </a:rPr>
                        <a:t>890.28</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106910737"/>
                  </a:ext>
                </a:extLst>
              </a:tr>
              <a:tr h="180837">
                <a:tc>
                  <a:txBody>
                    <a:bodyPr/>
                    <a:lstStyle/>
                    <a:p>
                      <a:pPr algn="ctr" rtl="0" eaLnBrk="1" fontAlgn="ctr" latinLnBrk="0"/>
                      <a:r>
                        <a:rPr lang="en-US" sz="800" b="1" i="0" u="none" strike="noStrike">
                          <a:solidFill>
                            <a:srgbClr val="000000"/>
                          </a:solidFill>
                          <a:effectLst/>
                          <a:latin typeface="Arial" panose="020B0604020202020204" pitchFamily="34" charset="0"/>
                        </a:rPr>
                        <a:t>4</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dirty="0">
                          <a:solidFill>
                            <a:srgbClr val="000000"/>
                          </a:solidFill>
                          <a:effectLst/>
                          <a:latin typeface="Arial" panose="020F0502020204030204" pitchFamily="34" charset="0"/>
                          <a:ea typeface="Arial"/>
                        </a:rPr>
                        <a:t>920.68</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800" b="1" i="0" u="none" strike="noStrike">
                          <a:solidFill>
                            <a:srgbClr val="000000"/>
                          </a:solidFill>
                          <a:effectLst/>
                          <a:latin typeface="Arial" panose="020B0604020202020204" pitchFamily="34" charset="0"/>
                        </a:rPr>
                        <a:t>16</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dirty="0">
                          <a:solidFill>
                            <a:srgbClr val="000000"/>
                          </a:solidFill>
                          <a:effectLst/>
                          <a:latin typeface="Arial" panose="020F0502020204030204" pitchFamily="34" charset="0"/>
                          <a:ea typeface="Arial"/>
                        </a:rPr>
                        <a:t>887.88</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408461390"/>
                  </a:ext>
                </a:extLst>
              </a:tr>
              <a:tr h="180837">
                <a:tc>
                  <a:txBody>
                    <a:bodyPr/>
                    <a:lstStyle/>
                    <a:p>
                      <a:pPr algn="ctr" rtl="0" eaLnBrk="1" fontAlgn="ctr" latinLnBrk="0"/>
                      <a:r>
                        <a:rPr lang="en-US" sz="800" b="1" i="0" u="none" strike="noStrike">
                          <a:solidFill>
                            <a:srgbClr val="000000"/>
                          </a:solidFill>
                          <a:effectLst/>
                          <a:latin typeface="Arial" panose="020B0604020202020204" pitchFamily="34" charset="0"/>
                        </a:rPr>
                        <a:t>4</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a:solidFill>
                            <a:srgbClr val="000000"/>
                          </a:solidFill>
                          <a:effectLst/>
                          <a:latin typeface="Arial" panose="020F0502020204030204" pitchFamily="34" charset="0"/>
                          <a:ea typeface="Arial"/>
                        </a:rPr>
                        <a:t>921.04</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800" b="1" i="0" u="none" strike="noStrike" dirty="0">
                          <a:solidFill>
                            <a:srgbClr val="000000"/>
                          </a:solidFill>
                          <a:effectLst/>
                          <a:latin typeface="Arial" panose="020B0604020202020204" pitchFamily="34" charset="0"/>
                        </a:rPr>
                        <a:t>17</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a:solidFill>
                            <a:srgbClr val="000000"/>
                          </a:solidFill>
                          <a:effectLst/>
                          <a:latin typeface="Arial" panose="020F0502020204030204" pitchFamily="34" charset="0"/>
                          <a:ea typeface="Arial"/>
                        </a:rPr>
                        <a:t>845.39</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573694466"/>
                  </a:ext>
                </a:extLst>
              </a:tr>
              <a:tr h="180837">
                <a:tc>
                  <a:txBody>
                    <a:bodyPr/>
                    <a:lstStyle/>
                    <a:p>
                      <a:pPr algn="ctr" rtl="0" eaLnBrk="1" fontAlgn="ctr" latinLnBrk="0"/>
                      <a:r>
                        <a:rPr lang="en-US" sz="800" b="1" i="0" u="none" strike="noStrike">
                          <a:solidFill>
                            <a:srgbClr val="000000"/>
                          </a:solidFill>
                          <a:effectLst/>
                          <a:latin typeface="Arial" panose="020B0604020202020204" pitchFamily="34" charset="0"/>
                        </a:rPr>
                        <a:t>5</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dirty="0">
                          <a:solidFill>
                            <a:srgbClr val="000000"/>
                          </a:solidFill>
                          <a:effectLst/>
                          <a:latin typeface="Arial" panose="020F0502020204030204" pitchFamily="34" charset="0"/>
                          <a:ea typeface="Arial"/>
                        </a:rPr>
                        <a:t>859.34</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800" b="1" i="0" u="none" strike="noStrike" dirty="0">
                          <a:solidFill>
                            <a:srgbClr val="000000"/>
                          </a:solidFill>
                          <a:effectLst/>
                          <a:latin typeface="Arial" panose="020B0604020202020204" pitchFamily="34" charset="0"/>
                        </a:rPr>
                        <a:t>17</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a:solidFill>
                            <a:srgbClr val="000000"/>
                          </a:solidFill>
                          <a:effectLst/>
                          <a:latin typeface="Arial" panose="020F0502020204030204" pitchFamily="34" charset="0"/>
                          <a:ea typeface="Arial"/>
                        </a:rPr>
                        <a:t>848.02</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414700972"/>
                  </a:ext>
                </a:extLst>
              </a:tr>
              <a:tr h="180837">
                <a:tc>
                  <a:txBody>
                    <a:bodyPr/>
                    <a:lstStyle/>
                    <a:p>
                      <a:pPr algn="ctr" rtl="0" eaLnBrk="1" fontAlgn="ctr" latinLnBrk="0"/>
                      <a:r>
                        <a:rPr lang="en-US" sz="800" b="1" i="0" u="none" strike="noStrike">
                          <a:solidFill>
                            <a:srgbClr val="000000"/>
                          </a:solidFill>
                          <a:effectLst/>
                          <a:latin typeface="Arial" panose="020B0604020202020204" pitchFamily="34" charset="0"/>
                        </a:rPr>
                        <a:t>5</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dirty="0">
                          <a:solidFill>
                            <a:srgbClr val="000000"/>
                          </a:solidFill>
                          <a:effectLst/>
                          <a:latin typeface="Arial" panose="020F0502020204030204" pitchFamily="34" charset="0"/>
                          <a:ea typeface="Arial"/>
                        </a:rPr>
                        <a:t>861.23</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800" b="1" i="0" u="none" strike="noStrike">
                          <a:solidFill>
                            <a:srgbClr val="000000"/>
                          </a:solidFill>
                          <a:effectLst/>
                          <a:latin typeface="Arial" panose="020B0604020202020204" pitchFamily="34" charset="0"/>
                        </a:rPr>
                        <a:t>18</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a:solidFill>
                            <a:srgbClr val="000000"/>
                          </a:solidFill>
                          <a:effectLst/>
                          <a:latin typeface="Arial" panose="020F0502020204030204" pitchFamily="34" charset="0"/>
                          <a:ea typeface="Arial"/>
                        </a:rPr>
                        <a:t>862.92</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69619298"/>
                  </a:ext>
                </a:extLst>
              </a:tr>
              <a:tr h="180837">
                <a:tc>
                  <a:txBody>
                    <a:bodyPr/>
                    <a:lstStyle/>
                    <a:p>
                      <a:pPr algn="ctr" rtl="0" eaLnBrk="1" fontAlgn="ctr" latinLnBrk="0"/>
                      <a:r>
                        <a:rPr lang="en-US" sz="800" b="1" i="0" u="none" strike="noStrike">
                          <a:solidFill>
                            <a:srgbClr val="000000"/>
                          </a:solidFill>
                          <a:effectLst/>
                          <a:latin typeface="Arial" panose="020B0604020202020204" pitchFamily="34" charset="0"/>
                        </a:rPr>
                        <a:t>6</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dirty="0">
                          <a:solidFill>
                            <a:srgbClr val="000000"/>
                          </a:solidFill>
                          <a:effectLst/>
                          <a:latin typeface="Arial" panose="020F0502020204030204" pitchFamily="34" charset="0"/>
                          <a:ea typeface="Arial"/>
                        </a:rPr>
                        <a:t>963.60</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800" b="1" i="0" u="none" strike="noStrike" dirty="0">
                          <a:solidFill>
                            <a:srgbClr val="000000"/>
                          </a:solidFill>
                          <a:effectLst/>
                          <a:latin typeface="Arial" panose="020B0604020202020204" pitchFamily="34" charset="0"/>
                        </a:rPr>
                        <a:t>18</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a:solidFill>
                            <a:srgbClr val="000000"/>
                          </a:solidFill>
                          <a:effectLst/>
                          <a:latin typeface="Arial" panose="020F0502020204030204" pitchFamily="34" charset="0"/>
                          <a:ea typeface="Arial"/>
                        </a:rPr>
                        <a:t>859.34</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552462213"/>
                  </a:ext>
                </a:extLst>
              </a:tr>
              <a:tr h="180837">
                <a:tc>
                  <a:txBody>
                    <a:bodyPr/>
                    <a:lstStyle/>
                    <a:p>
                      <a:pPr algn="ctr" rtl="0" eaLnBrk="1" fontAlgn="ctr" latinLnBrk="0"/>
                      <a:r>
                        <a:rPr lang="en-US" sz="800" b="1" i="0" u="none" strike="noStrike">
                          <a:solidFill>
                            <a:srgbClr val="000000"/>
                          </a:solidFill>
                          <a:effectLst/>
                          <a:latin typeface="Arial" panose="020B0604020202020204" pitchFamily="34" charset="0"/>
                        </a:rPr>
                        <a:t>6</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dirty="0">
                          <a:solidFill>
                            <a:srgbClr val="000000"/>
                          </a:solidFill>
                          <a:effectLst/>
                          <a:latin typeface="Arial" panose="020F0502020204030204" pitchFamily="34" charset="0"/>
                          <a:ea typeface="Arial"/>
                        </a:rPr>
                        <a:t>965.47</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800" b="1" i="0" u="none" strike="noStrike" dirty="0">
                          <a:solidFill>
                            <a:srgbClr val="000000"/>
                          </a:solidFill>
                          <a:effectLst/>
                          <a:latin typeface="Arial" panose="020B0604020202020204" pitchFamily="34" charset="0"/>
                        </a:rPr>
                        <a:t>19</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a:solidFill>
                            <a:srgbClr val="000000"/>
                          </a:solidFill>
                          <a:effectLst/>
                          <a:latin typeface="Arial" panose="020F0502020204030204" pitchFamily="34" charset="0"/>
                          <a:ea typeface="Arial"/>
                        </a:rPr>
                        <a:t>838.59</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038174214"/>
                  </a:ext>
                </a:extLst>
              </a:tr>
              <a:tr h="180837">
                <a:tc>
                  <a:txBody>
                    <a:bodyPr/>
                    <a:lstStyle/>
                    <a:p>
                      <a:pPr algn="ctr" rtl="0" eaLnBrk="1" fontAlgn="ctr" latinLnBrk="0"/>
                      <a:r>
                        <a:rPr lang="en-US" sz="800" b="1" i="0" u="none" strike="noStrike">
                          <a:solidFill>
                            <a:srgbClr val="000000"/>
                          </a:solidFill>
                          <a:effectLst/>
                          <a:latin typeface="Arial" panose="020B0604020202020204" pitchFamily="34" charset="0"/>
                        </a:rPr>
                        <a:t>7</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dirty="0">
                          <a:solidFill>
                            <a:srgbClr val="000000"/>
                          </a:solidFill>
                          <a:effectLst/>
                          <a:latin typeface="Arial" panose="020F0502020204030204" pitchFamily="34" charset="0"/>
                          <a:ea typeface="Arial"/>
                        </a:rPr>
                        <a:t>866.30</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800" b="1" i="0" u="none" strike="noStrike" dirty="0">
                          <a:solidFill>
                            <a:srgbClr val="000000"/>
                          </a:solidFill>
                          <a:effectLst/>
                          <a:latin typeface="Arial" panose="020B0604020202020204" pitchFamily="34" charset="0"/>
                        </a:rPr>
                        <a:t>19</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a:solidFill>
                            <a:srgbClr val="000000"/>
                          </a:solidFill>
                          <a:effectLst/>
                          <a:latin typeface="Arial" panose="020F0502020204030204" pitchFamily="34" charset="0"/>
                          <a:ea typeface="Arial"/>
                        </a:rPr>
                        <a:t>842.81</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285086670"/>
                  </a:ext>
                </a:extLst>
              </a:tr>
              <a:tr h="180837">
                <a:tc>
                  <a:txBody>
                    <a:bodyPr/>
                    <a:lstStyle/>
                    <a:p>
                      <a:pPr algn="ctr" rtl="0" eaLnBrk="1" fontAlgn="ctr" latinLnBrk="0"/>
                      <a:r>
                        <a:rPr lang="en-US" sz="800" b="1" i="0" u="none" strike="noStrike">
                          <a:solidFill>
                            <a:srgbClr val="000000"/>
                          </a:solidFill>
                          <a:effectLst/>
                          <a:latin typeface="Arial" panose="020B0604020202020204" pitchFamily="34" charset="0"/>
                        </a:rPr>
                        <a:t>7</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dirty="0">
                          <a:solidFill>
                            <a:srgbClr val="000000"/>
                          </a:solidFill>
                          <a:effectLst/>
                          <a:latin typeface="Arial" panose="020F0502020204030204" pitchFamily="34" charset="0"/>
                          <a:ea typeface="Arial"/>
                        </a:rPr>
                        <a:t>867.55</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800" b="1" i="0" u="none" strike="noStrike" dirty="0">
                          <a:solidFill>
                            <a:srgbClr val="000000"/>
                          </a:solidFill>
                          <a:effectLst/>
                          <a:latin typeface="Arial" panose="020B0604020202020204" pitchFamily="34" charset="0"/>
                        </a:rPr>
                        <a:t>20</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a:solidFill>
                            <a:srgbClr val="000000"/>
                          </a:solidFill>
                          <a:effectLst/>
                          <a:latin typeface="Arial" panose="020F0502020204030204" pitchFamily="34" charset="0"/>
                          <a:ea typeface="Arial"/>
                        </a:rPr>
                        <a:t>932.33</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588148766"/>
                  </a:ext>
                </a:extLst>
              </a:tr>
              <a:tr h="180837">
                <a:tc>
                  <a:txBody>
                    <a:bodyPr/>
                    <a:lstStyle/>
                    <a:p>
                      <a:pPr algn="ctr" rtl="0" eaLnBrk="1" fontAlgn="ctr" latinLnBrk="0"/>
                      <a:r>
                        <a:rPr lang="en-US" sz="800" b="1" i="0" u="none" strike="noStrike">
                          <a:solidFill>
                            <a:srgbClr val="000000"/>
                          </a:solidFill>
                          <a:effectLst/>
                          <a:latin typeface="Arial" panose="020B0604020202020204" pitchFamily="34" charset="0"/>
                        </a:rPr>
                        <a:t>8</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a:solidFill>
                            <a:srgbClr val="000000"/>
                          </a:solidFill>
                          <a:effectLst/>
                          <a:latin typeface="Arial" panose="020F0502020204030204" pitchFamily="34" charset="0"/>
                          <a:ea typeface="Arial"/>
                        </a:rPr>
                        <a:t>941.27</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800" b="1" i="0" u="none" strike="noStrike" dirty="0">
                          <a:solidFill>
                            <a:srgbClr val="000000"/>
                          </a:solidFill>
                          <a:effectLst/>
                          <a:latin typeface="Arial" panose="020B0604020202020204" pitchFamily="34" charset="0"/>
                        </a:rPr>
                        <a:t>20</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a:solidFill>
                            <a:srgbClr val="000000"/>
                          </a:solidFill>
                          <a:effectLst/>
                          <a:latin typeface="Arial" panose="020F0502020204030204" pitchFamily="34" charset="0"/>
                          <a:ea typeface="Arial"/>
                        </a:rPr>
                        <a:t>931.95</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272804902"/>
                  </a:ext>
                </a:extLst>
              </a:tr>
              <a:tr h="180837">
                <a:tc>
                  <a:txBody>
                    <a:bodyPr/>
                    <a:lstStyle/>
                    <a:p>
                      <a:pPr algn="ctr" rtl="0" eaLnBrk="1" fontAlgn="ctr" latinLnBrk="0"/>
                      <a:r>
                        <a:rPr lang="en-US" sz="800" b="1" i="0" u="none" strike="noStrike">
                          <a:solidFill>
                            <a:srgbClr val="000000"/>
                          </a:solidFill>
                          <a:effectLst/>
                          <a:latin typeface="Arial" panose="020B0604020202020204" pitchFamily="34" charset="0"/>
                        </a:rPr>
                        <a:t>8</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dirty="0">
                          <a:solidFill>
                            <a:srgbClr val="000000"/>
                          </a:solidFill>
                          <a:effectLst/>
                          <a:latin typeface="Arial" panose="020F0502020204030204" pitchFamily="34" charset="0"/>
                          <a:ea typeface="Arial"/>
                        </a:rPr>
                        <a:t>938.62</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800" b="1" i="0" u="none" strike="noStrike" dirty="0">
                          <a:solidFill>
                            <a:srgbClr val="000000"/>
                          </a:solidFill>
                          <a:effectLst/>
                          <a:latin typeface="Arial" panose="020B0604020202020204" pitchFamily="34" charset="0"/>
                        </a:rPr>
                        <a:t>21</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a:solidFill>
                            <a:srgbClr val="000000"/>
                          </a:solidFill>
                          <a:effectLst/>
                          <a:latin typeface="Arial" panose="020F0502020204030204" pitchFamily="34" charset="0"/>
                          <a:ea typeface="Arial"/>
                        </a:rPr>
                        <a:t>847.79</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912667530"/>
                  </a:ext>
                </a:extLst>
              </a:tr>
              <a:tr h="180837">
                <a:tc>
                  <a:txBody>
                    <a:bodyPr/>
                    <a:lstStyle/>
                    <a:p>
                      <a:pPr algn="ctr" rtl="0" eaLnBrk="1" fontAlgn="ctr" latinLnBrk="0"/>
                      <a:r>
                        <a:rPr lang="en-US" sz="800" b="1" i="0" u="none" strike="noStrike">
                          <a:solidFill>
                            <a:srgbClr val="000000"/>
                          </a:solidFill>
                          <a:effectLst/>
                          <a:latin typeface="Arial" panose="020B0604020202020204" pitchFamily="34" charset="0"/>
                        </a:rPr>
                        <a:t>9</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a:solidFill>
                            <a:srgbClr val="000000"/>
                          </a:solidFill>
                          <a:effectLst/>
                          <a:latin typeface="Arial" panose="020F0502020204030204" pitchFamily="34" charset="0"/>
                          <a:ea typeface="Arial"/>
                        </a:rPr>
                        <a:t>873.52</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800" b="1" i="0" u="none" strike="noStrike">
                          <a:solidFill>
                            <a:srgbClr val="000000"/>
                          </a:solidFill>
                          <a:effectLst/>
                          <a:latin typeface="Arial" panose="020B0604020202020204" pitchFamily="34" charset="0"/>
                        </a:rPr>
                        <a:t>21</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a:solidFill>
                            <a:srgbClr val="000000"/>
                          </a:solidFill>
                          <a:effectLst/>
                          <a:latin typeface="Arial" panose="020F0502020204030204" pitchFamily="34" charset="0"/>
                          <a:ea typeface="Arial"/>
                        </a:rPr>
                        <a:t>851.88</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284926631"/>
                  </a:ext>
                </a:extLst>
              </a:tr>
              <a:tr h="180837">
                <a:tc>
                  <a:txBody>
                    <a:bodyPr/>
                    <a:lstStyle/>
                    <a:p>
                      <a:pPr algn="ctr" rtl="0" eaLnBrk="1" fontAlgn="ctr" latinLnBrk="0"/>
                      <a:r>
                        <a:rPr lang="en-US" sz="800" b="1" i="0" u="none" strike="noStrike">
                          <a:solidFill>
                            <a:srgbClr val="000000"/>
                          </a:solidFill>
                          <a:effectLst/>
                          <a:latin typeface="Arial" panose="020B0604020202020204" pitchFamily="34" charset="0"/>
                        </a:rPr>
                        <a:t>9</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a:solidFill>
                            <a:srgbClr val="000000"/>
                          </a:solidFill>
                          <a:effectLst/>
                          <a:latin typeface="Arial" panose="020F0502020204030204" pitchFamily="34" charset="0"/>
                          <a:ea typeface="Arial"/>
                        </a:rPr>
                        <a:t>872.70</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800" b="1" i="0" u="none" strike="noStrike">
                          <a:solidFill>
                            <a:srgbClr val="000000"/>
                          </a:solidFill>
                          <a:effectLst/>
                          <a:latin typeface="Arial" panose="020B0604020202020204" pitchFamily="34" charset="0"/>
                        </a:rPr>
                        <a:t>22</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a:solidFill>
                            <a:srgbClr val="000000"/>
                          </a:solidFill>
                          <a:effectLst/>
                          <a:latin typeface="Arial" panose="020F0502020204030204" pitchFamily="34" charset="0"/>
                          <a:ea typeface="Arial"/>
                        </a:rPr>
                        <a:t>886.95</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53373319"/>
                  </a:ext>
                </a:extLst>
              </a:tr>
              <a:tr h="180837">
                <a:tc>
                  <a:txBody>
                    <a:bodyPr/>
                    <a:lstStyle/>
                    <a:p>
                      <a:pPr algn="ctr" rtl="0" eaLnBrk="1" fontAlgn="ctr" latinLnBrk="0"/>
                      <a:r>
                        <a:rPr lang="en-US" sz="800" b="1" i="0" u="none" strike="noStrike">
                          <a:solidFill>
                            <a:srgbClr val="000000"/>
                          </a:solidFill>
                          <a:effectLst/>
                          <a:latin typeface="Arial" panose="020B0604020202020204" pitchFamily="34" charset="0"/>
                        </a:rPr>
                        <a:t>10</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dirty="0">
                          <a:solidFill>
                            <a:srgbClr val="000000"/>
                          </a:solidFill>
                          <a:effectLst/>
                          <a:latin typeface="Arial" panose="020F0502020204030204" pitchFamily="34" charset="0"/>
                          <a:ea typeface="Arial"/>
                        </a:rPr>
                        <a:t>937.93</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800" b="1" i="0" u="none" strike="noStrike" dirty="0">
                          <a:solidFill>
                            <a:srgbClr val="000000"/>
                          </a:solidFill>
                          <a:effectLst/>
                          <a:latin typeface="Arial" panose="020B0604020202020204" pitchFamily="34" charset="0"/>
                        </a:rPr>
                        <a:t>22</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a:solidFill>
                            <a:srgbClr val="000000"/>
                          </a:solidFill>
                          <a:effectLst/>
                          <a:latin typeface="Arial" panose="020F0502020204030204" pitchFamily="34" charset="0"/>
                          <a:ea typeface="Arial"/>
                        </a:rPr>
                        <a:t>883.41</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093282064"/>
                  </a:ext>
                </a:extLst>
              </a:tr>
              <a:tr h="180837">
                <a:tc>
                  <a:txBody>
                    <a:bodyPr/>
                    <a:lstStyle/>
                    <a:p>
                      <a:pPr algn="ctr" rtl="0" eaLnBrk="1" fontAlgn="ctr" latinLnBrk="0"/>
                      <a:r>
                        <a:rPr lang="en-US" sz="800" b="1" i="0" u="none" strike="noStrike">
                          <a:solidFill>
                            <a:srgbClr val="000000"/>
                          </a:solidFill>
                          <a:effectLst/>
                          <a:latin typeface="Arial" panose="020B0604020202020204" pitchFamily="34" charset="0"/>
                        </a:rPr>
                        <a:t>10</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dirty="0">
                          <a:solidFill>
                            <a:srgbClr val="000000"/>
                          </a:solidFill>
                          <a:effectLst/>
                          <a:latin typeface="Arial" panose="020F0502020204030204" pitchFamily="34" charset="0"/>
                          <a:ea typeface="Arial"/>
                        </a:rPr>
                        <a:t>935.27</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800" b="1" i="0" u="none" strike="noStrike" dirty="0">
                          <a:solidFill>
                            <a:srgbClr val="000000"/>
                          </a:solidFill>
                          <a:effectLst/>
                          <a:latin typeface="Arial" panose="020B0604020202020204" pitchFamily="34" charset="0"/>
                        </a:rPr>
                        <a:t>23</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dirty="0">
                          <a:solidFill>
                            <a:srgbClr val="000000"/>
                          </a:solidFill>
                          <a:effectLst/>
                          <a:latin typeface="Arial" panose="020F0502020204030204" pitchFamily="34" charset="0"/>
                          <a:ea typeface="Arial"/>
                        </a:rPr>
                        <a:t>910.18</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57672813"/>
                  </a:ext>
                </a:extLst>
              </a:tr>
              <a:tr h="180837">
                <a:tc>
                  <a:txBody>
                    <a:bodyPr/>
                    <a:lstStyle/>
                    <a:p>
                      <a:pPr algn="ctr" rtl="0" eaLnBrk="1" fontAlgn="ctr" latinLnBrk="0"/>
                      <a:r>
                        <a:rPr lang="en-US" sz="800" b="1" i="0" u="none" strike="noStrike">
                          <a:solidFill>
                            <a:srgbClr val="000000"/>
                          </a:solidFill>
                          <a:effectLst/>
                          <a:latin typeface="Arial" panose="020B0604020202020204" pitchFamily="34" charset="0"/>
                        </a:rPr>
                        <a:t>11</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dirty="0">
                          <a:solidFill>
                            <a:srgbClr val="000000"/>
                          </a:solidFill>
                          <a:effectLst/>
                          <a:latin typeface="Arial" panose="020F0502020204030204" pitchFamily="34" charset="0"/>
                          <a:ea typeface="Arial"/>
                        </a:rPr>
                        <a:t>853.15</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800" b="1" i="0" u="none" strike="noStrike">
                          <a:solidFill>
                            <a:srgbClr val="000000"/>
                          </a:solidFill>
                          <a:effectLst/>
                          <a:latin typeface="Arial" panose="020B0604020202020204" pitchFamily="34" charset="0"/>
                        </a:rPr>
                        <a:t>23</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dirty="0">
                          <a:solidFill>
                            <a:srgbClr val="000000"/>
                          </a:solidFill>
                          <a:effectLst/>
                          <a:latin typeface="Arial" panose="020F0502020204030204" pitchFamily="34" charset="0"/>
                          <a:ea typeface="Arial"/>
                        </a:rPr>
                        <a:t>912.26</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327117694"/>
                  </a:ext>
                </a:extLst>
              </a:tr>
              <a:tr h="172225">
                <a:tc>
                  <a:txBody>
                    <a:bodyPr/>
                    <a:lstStyle/>
                    <a:p>
                      <a:pPr algn="ctr" rtl="0" eaLnBrk="1" fontAlgn="ctr" latinLnBrk="0"/>
                      <a:r>
                        <a:rPr lang="en-US" sz="800" b="1" i="0" u="none" strike="noStrike">
                          <a:solidFill>
                            <a:srgbClr val="000000"/>
                          </a:solidFill>
                          <a:effectLst/>
                          <a:latin typeface="Arial" panose="020B0604020202020204" pitchFamily="34" charset="0"/>
                        </a:rPr>
                        <a:t>11</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dirty="0">
                          <a:solidFill>
                            <a:srgbClr val="000000"/>
                          </a:solidFill>
                          <a:effectLst/>
                          <a:latin typeface="Arial" panose="020F0502020204030204" pitchFamily="34" charset="0"/>
                          <a:ea typeface="Arial"/>
                        </a:rPr>
                        <a:t>854.44</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800" b="1" i="0" u="none" strike="noStrike">
                          <a:solidFill>
                            <a:srgbClr val="000000"/>
                          </a:solidFill>
                          <a:effectLst/>
                          <a:latin typeface="Arial" panose="020B0604020202020204" pitchFamily="34" charset="0"/>
                        </a:rPr>
                        <a:t>24</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dirty="0">
                          <a:solidFill>
                            <a:srgbClr val="000000"/>
                          </a:solidFill>
                          <a:effectLst/>
                          <a:latin typeface="Arial" panose="020F0502020204030204" pitchFamily="34" charset="0"/>
                          <a:ea typeface="Arial"/>
                        </a:rPr>
                        <a:t>901.24</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863532500"/>
                  </a:ext>
                </a:extLst>
              </a:tr>
              <a:tr h="172225">
                <a:tc>
                  <a:txBody>
                    <a:bodyPr/>
                    <a:lstStyle/>
                    <a:p>
                      <a:pPr algn="ctr" rtl="0" eaLnBrk="1" fontAlgn="ctr" latinLnBrk="0"/>
                      <a:r>
                        <a:rPr lang="en-US" sz="800" b="1" i="0" u="none" strike="noStrike">
                          <a:solidFill>
                            <a:srgbClr val="000000"/>
                          </a:solidFill>
                          <a:effectLst/>
                          <a:latin typeface="Arial" panose="020B0604020202020204" pitchFamily="34" charset="0"/>
                        </a:rPr>
                        <a:t>12</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dirty="0">
                          <a:solidFill>
                            <a:srgbClr val="000000"/>
                          </a:solidFill>
                          <a:effectLst/>
                          <a:latin typeface="Arial" panose="020F0502020204030204" pitchFamily="34" charset="0"/>
                          <a:ea typeface="Arial"/>
                        </a:rPr>
                        <a:t>921.24</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800" b="1" i="0" u="none" strike="noStrike">
                          <a:solidFill>
                            <a:srgbClr val="000000"/>
                          </a:solidFill>
                          <a:effectLst/>
                          <a:latin typeface="Arial" panose="020B0604020202020204" pitchFamily="34" charset="0"/>
                        </a:rPr>
                        <a:t>24</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dirty="0">
                          <a:solidFill>
                            <a:srgbClr val="000000"/>
                          </a:solidFill>
                          <a:effectLst/>
                          <a:latin typeface="Arial" panose="020F0502020204030204" pitchFamily="34" charset="0"/>
                          <a:ea typeface="Arial"/>
                        </a:rPr>
                        <a:t>899.79</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759783059"/>
                  </a:ext>
                </a:extLst>
              </a:tr>
              <a:tr h="172225">
                <a:tc>
                  <a:txBody>
                    <a:bodyPr/>
                    <a:lstStyle/>
                    <a:p>
                      <a:pPr algn="ctr" rtl="0" eaLnBrk="1" fontAlgn="ctr" latinLnBrk="0"/>
                      <a:r>
                        <a:rPr lang="en-US" sz="800" b="1" i="0" u="none" strike="noStrike">
                          <a:solidFill>
                            <a:srgbClr val="000000"/>
                          </a:solidFill>
                          <a:effectLst/>
                          <a:latin typeface="Arial" panose="020B0604020202020204" pitchFamily="34" charset="0"/>
                        </a:rPr>
                        <a:t>12</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dirty="0">
                          <a:solidFill>
                            <a:srgbClr val="000000"/>
                          </a:solidFill>
                          <a:effectLst/>
                          <a:latin typeface="Arial" panose="020F0502020204030204" pitchFamily="34" charset="0"/>
                          <a:ea typeface="Arial"/>
                        </a:rPr>
                        <a:t>924.31</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800" b="1" i="0" u="none" strike="noStrike">
                          <a:solidFill>
                            <a:srgbClr val="000000"/>
                          </a:solidFill>
                          <a:effectLst/>
                          <a:latin typeface="Arial" panose="020B0604020202020204" pitchFamily="34" charset="0"/>
                        </a:rPr>
                        <a:t>25</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dirty="0">
                          <a:solidFill>
                            <a:srgbClr val="000000"/>
                          </a:solidFill>
                          <a:effectLst/>
                          <a:latin typeface="Arial" panose="020F0502020204030204" pitchFamily="34" charset="0"/>
                          <a:ea typeface="Arial"/>
                        </a:rPr>
                        <a:t>903.05</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330273900"/>
                  </a:ext>
                </a:extLst>
              </a:tr>
              <a:tr h="172225">
                <a:tc>
                  <a:txBody>
                    <a:bodyPr/>
                    <a:lstStyle/>
                    <a:p>
                      <a:pPr algn="ctr" rtl="0" eaLnBrk="1" fontAlgn="ctr" latinLnBrk="0"/>
                      <a:r>
                        <a:rPr lang="en-US" sz="800" b="1" i="0" u="none" strike="noStrike">
                          <a:solidFill>
                            <a:srgbClr val="000000"/>
                          </a:solidFill>
                          <a:effectLst/>
                          <a:latin typeface="Arial" panose="020B0604020202020204" pitchFamily="34" charset="0"/>
                        </a:rPr>
                        <a:t>13</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dirty="0">
                          <a:solidFill>
                            <a:srgbClr val="000000"/>
                          </a:solidFill>
                          <a:effectLst/>
                          <a:latin typeface="Arial" panose="020F0502020204030204" pitchFamily="34" charset="0"/>
                          <a:ea typeface="Arial"/>
                        </a:rPr>
                        <a:t>845.39</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800" b="1" i="0" u="none" strike="noStrike" dirty="0">
                          <a:solidFill>
                            <a:srgbClr val="000000"/>
                          </a:solidFill>
                          <a:effectLst/>
                          <a:latin typeface="Arial" panose="020B0604020202020204" pitchFamily="34" charset="0"/>
                        </a:rPr>
                        <a:t>25</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dirty="0">
                          <a:solidFill>
                            <a:srgbClr val="000000"/>
                          </a:solidFill>
                          <a:effectLst/>
                          <a:latin typeface="Arial" panose="020F0502020204030204" pitchFamily="34" charset="0"/>
                          <a:ea typeface="Arial"/>
                        </a:rPr>
                        <a:t>896.84</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733928"/>
                  </a:ext>
                </a:extLst>
              </a:tr>
            </a:tbl>
          </a:graphicData>
        </a:graphic>
      </p:graphicFrame>
      <p:sp>
        <p:nvSpPr>
          <p:cNvPr id="27" name="TextBox 26">
            <a:extLst>
              <a:ext uri="{FF2B5EF4-FFF2-40B4-BE49-F238E27FC236}">
                <a16:creationId xmlns:a16="http://schemas.microsoft.com/office/drawing/2014/main" id="{CEE611CC-43DE-4F63-94E1-F430738FAB0D}"/>
              </a:ext>
            </a:extLst>
          </p:cNvPr>
          <p:cNvSpPr txBox="1"/>
          <p:nvPr/>
        </p:nvSpPr>
        <p:spPr>
          <a:xfrm>
            <a:off x="51362" y="557313"/>
            <a:ext cx="2070352" cy="276999"/>
          </a:xfrm>
          <a:prstGeom prst="rect">
            <a:avLst/>
          </a:prstGeom>
          <a:noFill/>
        </p:spPr>
        <p:txBody>
          <a:bodyPr wrap="square" rtlCol="0">
            <a:noAutofit/>
          </a:bodyPr>
          <a:lstStyle/>
          <a:p>
            <a:pPr marL="171450" indent="-171450" eaLnBrk="1" latinLnBrk="0">
              <a:buFont typeface="Wingdings" panose="05000000000000000000" pitchFamily="2" charset="2"/>
              <a:buChar char="q"/>
            </a:pPr>
            <a:r>
              <a:rPr lang="vi-VN" sz="1000" b="1" dirty="0">
                <a:latin typeface="Arial" panose="020B0604020202020204" pitchFamily="34" charset="0"/>
                <a:ea typeface="Arial Unicode MS" panose="020B0604020202020204" pitchFamily="34" charset="-128"/>
                <a:cs typeface="Arial" panose="020B0604020202020204" pitchFamily="34" charset="0"/>
              </a:rPr>
              <a:t>Station </a:t>
            </a:r>
            <a:r>
              <a:rPr lang="en-US" sz="1000" b="1" dirty="0">
                <a:latin typeface="Arial" panose="020B0604020202020204" pitchFamily="34" charset="0"/>
                <a:ea typeface="Arial Unicode MS" panose="020B0604020202020204" pitchFamily="34" charset="-128"/>
                <a:cs typeface="Arial" panose="020B0604020202020204" pitchFamily="34" charset="0"/>
              </a:rPr>
              <a:t>1 Luminance</a:t>
            </a:r>
          </a:p>
        </p:txBody>
      </p:sp>
      <p:sp>
        <p:nvSpPr>
          <p:cNvPr id="31" name="Rectangle 30">
            <a:extLst>
              <a:ext uri="{FF2B5EF4-FFF2-40B4-BE49-F238E27FC236}">
                <a16:creationId xmlns:a16="http://schemas.microsoft.com/office/drawing/2014/main" id="{09C1A86B-E1F6-43DD-86C2-969578BFB53A}"/>
              </a:ext>
            </a:extLst>
          </p:cNvPr>
          <p:cNvSpPr/>
          <p:nvPr/>
        </p:nvSpPr>
        <p:spPr>
          <a:xfrm>
            <a:off x="219480" y="6267844"/>
            <a:ext cx="5190720" cy="339260"/>
          </a:xfrm>
          <a:prstGeom prst="rect">
            <a:avLst/>
          </a:prstGeom>
        </p:spPr>
        <p:txBody>
          <a:bodyPr wrap="square">
            <a:noAutofit/>
          </a:bodyPr>
          <a:lstStyle/>
          <a:p>
            <a:pPr eaLnBrk="1" latinLnBrk="0">
              <a:lnSpc>
                <a:spcPct val="150000"/>
              </a:lnSpc>
            </a:pPr>
            <a:r>
              <a:rPr lang="en-US" sz="1000" b="1" dirty="0">
                <a:latin typeface="Arial" panose="020B0600000101010101" pitchFamily="34" charset="-127"/>
                <a:ea typeface="Arial" panose="020B0600000101010101" pitchFamily="34" charset="-127"/>
              </a:rPr>
              <a:t>Gage R&amp;R conclusion: </a:t>
            </a:r>
            <a:r>
              <a:rPr lang="en-US" sz="1000" dirty="0">
                <a:latin typeface="Arial" panose="020B0600000101010101" pitchFamily="34" charset="-127"/>
                <a:ea typeface="Arial" panose="020B0600000101010101" pitchFamily="34" charset="-127"/>
                <a:cs typeface="Arial" panose="020B0604020202020204" pitchFamily="34" charset="0"/>
              </a:rPr>
              <a:t>The measurement system in station 1 is Good</a:t>
            </a:r>
            <a:endParaRPr lang="en-US" sz="1200" dirty="0">
              <a:latin typeface="LG Smart_H Regular" panose="020B0600000101010101" pitchFamily="34" charset="-127"/>
              <a:ea typeface="LG Smart_H Regular" panose="020B0600000101010101" pitchFamily="34" charset="-127"/>
            </a:endParaRPr>
          </a:p>
        </p:txBody>
      </p:sp>
      <p:sp>
        <p:nvSpPr>
          <p:cNvPr id="32" name="TextBox 31">
            <a:extLst>
              <a:ext uri="{FF2B5EF4-FFF2-40B4-BE49-F238E27FC236}">
                <a16:creationId xmlns:a16="http://schemas.microsoft.com/office/drawing/2014/main" id="{92540360-258F-46E8-8DEE-474F710DF22D}"/>
              </a:ext>
            </a:extLst>
          </p:cNvPr>
          <p:cNvSpPr txBox="1"/>
          <p:nvPr/>
        </p:nvSpPr>
        <p:spPr>
          <a:xfrm>
            <a:off x="5698444" y="5119661"/>
            <a:ext cx="4104000" cy="1015663"/>
          </a:xfrm>
          <a:prstGeom prst="rect">
            <a:avLst/>
          </a:prstGeom>
          <a:noFill/>
        </p:spPr>
        <p:txBody>
          <a:bodyPr wrap="square" rtlCol="0">
            <a:noAutofit/>
          </a:bodyPr>
          <a:lstStyle/>
          <a:p>
            <a:pPr marL="171450" indent="-171450" eaLnBrk="1" latinLnBrk="0">
              <a:buFont typeface="Arial" panose="020B0604020202020204" pitchFamily="34" charset="0"/>
              <a:buChar char="•"/>
            </a:pPr>
            <a:r>
              <a:rPr lang="en-US" sz="1000" dirty="0">
                <a:latin typeface="Arial" panose="020B0604020202020204" pitchFamily="34" charset="0"/>
                <a:ea typeface="Arial Unicode MS" panose="020B0604020202020204" pitchFamily="34" charset="-128"/>
                <a:cs typeface="Arial" panose="020B0604020202020204" pitchFamily="34" charset="0"/>
              </a:rPr>
              <a:t>% Contribution of Gage </a:t>
            </a:r>
            <a:r>
              <a:rPr lang="vi-VN" sz="1000" dirty="0">
                <a:latin typeface="Arial" panose="020B0604020202020204" pitchFamily="34" charset="0"/>
                <a:ea typeface="Arial Unicode MS" panose="020B0604020202020204" pitchFamily="34" charset="-128"/>
                <a:cs typeface="Arial" panose="020B0604020202020204" pitchFamily="34" charset="0"/>
              </a:rPr>
              <a:t>R&amp;R = </a:t>
            </a:r>
            <a:r>
              <a:rPr lang="en-US" sz="1000" dirty="0">
                <a:latin typeface="Arial" panose="020B0604020202020204" pitchFamily="34" charset="0"/>
                <a:ea typeface="Arial Unicode MS" panose="020B0604020202020204" pitchFamily="34" charset="-128"/>
                <a:cs typeface="Arial" panose="020B0604020202020204" pitchFamily="34" charset="0"/>
              </a:rPr>
              <a:t>0.29% &lt; </a:t>
            </a:r>
            <a:r>
              <a:rPr lang="vi-VN" sz="1000" dirty="0">
                <a:latin typeface="Arial" panose="020B0604020202020204" pitchFamily="34" charset="0"/>
                <a:ea typeface="Arial Unicode MS" panose="020B0604020202020204" pitchFamily="34" charset="-128"/>
                <a:cs typeface="Arial" panose="020B0604020202020204" pitchFamily="34" charset="0"/>
              </a:rPr>
              <a:t>1% </a:t>
            </a:r>
            <a:r>
              <a:rPr lang="vi-VN" sz="1000" dirty="0">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rPr>
              <a:t></a:t>
            </a:r>
            <a:r>
              <a:rPr lang="en-US" sz="1000" dirty="0">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rPr>
              <a:t> </a:t>
            </a:r>
            <a:r>
              <a:rPr lang="en-US" sz="1000" dirty="0">
                <a:solidFill>
                  <a:srgbClr val="006600"/>
                </a:solidFill>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rPr>
              <a:t>OK</a:t>
            </a:r>
            <a:endParaRPr lang="vi-VN" sz="1200" dirty="0">
              <a:solidFill>
                <a:srgbClr val="006600"/>
              </a:solidFill>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endParaRPr>
          </a:p>
          <a:p>
            <a:pPr marL="171450" indent="-171450" eaLnBrk="1" latinLnBrk="0">
              <a:buFont typeface="Arial" panose="020B0604020202020204" pitchFamily="34" charset="0"/>
              <a:buChar char="•"/>
            </a:pPr>
            <a:r>
              <a:rPr lang="vi-VN" sz="1000" dirty="0">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rPr>
              <a:t>% Study Var = </a:t>
            </a:r>
            <a:r>
              <a:rPr lang="en-US" sz="1000" dirty="0">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rPr>
              <a:t>5.39% </a:t>
            </a:r>
            <a:r>
              <a:rPr lang="en-US" sz="1000" dirty="0">
                <a:latin typeface="Arial" panose="020B0604020202020204" pitchFamily="34" charset="0"/>
                <a:ea typeface="Arial Unicode MS" panose="020B0604020202020204" pitchFamily="34" charset="-128"/>
                <a:cs typeface="Arial" panose="020B0604020202020204" pitchFamily="34" charset="0"/>
              </a:rPr>
              <a:t>&lt; </a:t>
            </a:r>
            <a:r>
              <a:rPr lang="vi-VN" sz="1000" dirty="0">
                <a:latin typeface="Arial" panose="020B0604020202020204" pitchFamily="34" charset="0"/>
                <a:ea typeface="Arial Unicode MS" panose="020B0604020202020204" pitchFamily="34" charset="-128"/>
                <a:cs typeface="Arial" panose="020B0604020202020204" pitchFamily="34" charset="0"/>
              </a:rPr>
              <a:t>10% </a:t>
            </a:r>
            <a:r>
              <a:rPr lang="vi-VN" sz="1000" dirty="0">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rPr>
              <a:t> </a:t>
            </a:r>
            <a:r>
              <a:rPr lang="en-US" sz="1000" dirty="0">
                <a:solidFill>
                  <a:srgbClr val="006600"/>
                </a:solidFill>
                <a:latin typeface="Arial" panose="020B0604020202020204" pitchFamily="34" charset="0"/>
                <a:ea typeface="Arial Unicode MS" panose="020B0604020202020204" pitchFamily="34" charset="-128"/>
                <a:cs typeface="Arial" panose="020B0604020202020204" pitchFamily="34" charset="0"/>
                <a:sym typeface="Wingdings" pitchFamily="2" charset="2"/>
              </a:rPr>
              <a:t>OK</a:t>
            </a:r>
            <a:endParaRPr lang="en-US" sz="1200" dirty="0">
              <a:solidFill>
                <a:srgbClr val="006600"/>
              </a:solidFill>
              <a:latin typeface="LG Smart_H Regular" panose="020B0600000101010101" pitchFamily="34" charset="-127"/>
              <a:ea typeface="LG Smart_H Regular" panose="020B0600000101010101" pitchFamily="34" charset="-127"/>
              <a:sym typeface="Wingdings" pitchFamily="2" charset="2"/>
            </a:endParaRPr>
          </a:p>
          <a:p>
            <a:pPr marL="171450" indent="-171450" eaLnBrk="1" latinLnBrk="0">
              <a:buFont typeface="Arial" panose="020B0604020202020204" pitchFamily="34" charset="0"/>
              <a:buChar char="•"/>
            </a:pPr>
            <a:r>
              <a:rPr lang="en-US" sz="1000" noProof="1">
                <a:latin typeface="Arial" panose="020B0600000101010101" pitchFamily="34" charset="-127"/>
                <a:ea typeface="Arial" panose="020B0600000101010101" pitchFamily="34" charset="-127"/>
              </a:rPr>
              <a:t>% Tolerance = 1.02% </a:t>
            </a:r>
            <a:r>
              <a:rPr lang="en-US" sz="1000" dirty="0">
                <a:latin typeface="Arial" panose="020B0604020202020204" pitchFamily="34" charset="0"/>
                <a:ea typeface="Arial Unicode MS" panose="020B0604020202020204" pitchFamily="34" charset="-128"/>
                <a:cs typeface="Arial" panose="020B0604020202020204" pitchFamily="34" charset="0"/>
              </a:rPr>
              <a:t>&lt;</a:t>
            </a:r>
            <a:r>
              <a:rPr lang="en-US" sz="1000" noProof="1">
                <a:latin typeface="Arial" panose="020B0600000101010101" pitchFamily="34" charset="-127"/>
                <a:ea typeface="Arial" panose="020B0600000101010101" pitchFamily="34" charset="-127"/>
              </a:rPr>
              <a:t> 10% </a:t>
            </a:r>
            <a:r>
              <a:rPr lang="en-US" sz="1000" dirty="0">
                <a:latin typeface="Arial" panose="020B0600000101010101" pitchFamily="34" charset="-127"/>
                <a:ea typeface="Arial" panose="020B0600000101010101" pitchFamily="34" charset="-127"/>
                <a:sym typeface="Wingdings" pitchFamily="2" charset="2"/>
              </a:rPr>
              <a:t> </a:t>
            </a:r>
            <a:r>
              <a:rPr lang="en-US" sz="1000" dirty="0">
                <a:solidFill>
                  <a:srgbClr val="006600"/>
                </a:solidFill>
                <a:latin typeface="Arial" panose="020B0600000101010101" pitchFamily="34" charset="-127"/>
                <a:ea typeface="Arial" panose="020B0600000101010101" pitchFamily="34" charset="-127"/>
                <a:sym typeface="Wingdings" pitchFamily="2" charset="2"/>
              </a:rPr>
              <a:t>Can use to judge OK/NG</a:t>
            </a:r>
          </a:p>
          <a:p>
            <a:pPr marL="171450" indent="-171450" eaLnBrk="1" latinLnBrk="0">
              <a:buFont typeface="Arial" panose="020B0604020202020204" pitchFamily="34" charset="0"/>
              <a:buChar char="•"/>
            </a:pPr>
            <a:r>
              <a:rPr lang="en-US" sz="1000" dirty="0">
                <a:latin typeface="Arial" panose="020B0604020202020204" pitchFamily="34" charset="0"/>
                <a:ea typeface="Arial Unicode MS" panose="020B0604020202020204" pitchFamily="34" charset="-128"/>
                <a:cs typeface="Arial" panose="020B0604020202020204" pitchFamily="34" charset="0"/>
                <a:sym typeface="Wingdings" pitchFamily="2" charset="2"/>
              </a:rPr>
              <a:t>NDC: 26 &gt; 5  OK</a:t>
            </a:r>
          </a:p>
          <a:p>
            <a:pPr eaLnBrk="1" latinLnBrk="0"/>
            <a:endParaRPr lang="en-US" sz="1200" dirty="0">
              <a:latin typeface="Arial" panose="020B0604020202020204" pitchFamily="34" charset="0"/>
              <a:ea typeface="Arial Unicode MS" panose="020B0604020202020204" pitchFamily="34" charset="-128"/>
              <a:cs typeface="Arial" panose="020B0604020202020204" pitchFamily="34" charset="0"/>
              <a:sym typeface="Wingdings" pitchFamily="2" charset="2"/>
            </a:endParaRPr>
          </a:p>
        </p:txBody>
      </p:sp>
      <p:pic>
        <p:nvPicPr>
          <p:cNvPr id="2" name="Picture 1">
            <a:extLst>
              <a:ext uri="{FF2B5EF4-FFF2-40B4-BE49-F238E27FC236}">
                <a16:creationId xmlns:a16="http://schemas.microsoft.com/office/drawing/2014/main" id="{A786E974-04D9-4003-953F-1624E2972D11}"/>
              </a:ext>
            </a:extLst>
          </p:cNvPr>
          <p:cNvPicPr>
            <a:picLocks noChangeAspect="1"/>
          </p:cNvPicPr>
          <p:nvPr/>
        </p:nvPicPr>
        <p:blipFill>
          <a:blip r:embed="rId3"/>
          <a:stretch>
            <a:fillRect/>
          </a:stretch>
        </p:blipFill>
        <p:spPr>
          <a:xfrm>
            <a:off x="2981325" y="1822801"/>
            <a:ext cx="2569021" cy="3645320"/>
          </a:xfrm>
          <a:prstGeom prst="rect">
            <a:avLst/>
          </a:prstGeom>
        </p:spPr>
      </p:pic>
      <p:pic>
        <p:nvPicPr>
          <p:cNvPr id="5" name="Picture 4">
            <a:extLst>
              <a:ext uri="{FF2B5EF4-FFF2-40B4-BE49-F238E27FC236}">
                <a16:creationId xmlns:a16="http://schemas.microsoft.com/office/drawing/2014/main" id="{F579DB64-10E5-4BE0-9E68-AB5550A52832}"/>
              </a:ext>
            </a:extLst>
          </p:cNvPr>
          <p:cNvPicPr>
            <a:picLocks noChangeAspect="1"/>
          </p:cNvPicPr>
          <p:nvPr/>
        </p:nvPicPr>
        <p:blipFill>
          <a:blip r:embed="rId4"/>
          <a:stretch>
            <a:fillRect/>
          </a:stretch>
        </p:blipFill>
        <p:spPr>
          <a:xfrm>
            <a:off x="5789789" y="1755421"/>
            <a:ext cx="4005973" cy="3008418"/>
          </a:xfrm>
          <a:prstGeom prst="rect">
            <a:avLst/>
          </a:prstGeom>
        </p:spPr>
      </p:pic>
      <p:sp>
        <p:nvSpPr>
          <p:cNvPr id="17" name="AutoShape 57">
            <a:extLst>
              <a:ext uri="{FF2B5EF4-FFF2-40B4-BE49-F238E27FC236}">
                <a16:creationId xmlns:a16="http://schemas.microsoft.com/office/drawing/2014/main" id="{A8A20566-6A11-4281-B6A6-4827686DAF5A}"/>
              </a:ext>
            </a:extLst>
          </p:cNvPr>
          <p:cNvSpPr>
            <a:spLocks noChangeArrowheads="1"/>
          </p:cNvSpPr>
          <p:nvPr/>
        </p:nvSpPr>
        <p:spPr bwMode="auto">
          <a:xfrm>
            <a:off x="7687914" y="178989"/>
            <a:ext cx="749300" cy="287338"/>
          </a:xfrm>
          <a:prstGeom prst="homePlate">
            <a:avLst>
              <a:gd name="adj" fmla="val 46698"/>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Analyze</a:t>
            </a:r>
          </a:p>
        </p:txBody>
      </p:sp>
      <p:sp>
        <p:nvSpPr>
          <p:cNvPr id="18" name="AutoShape 55">
            <a:extLst>
              <a:ext uri="{FF2B5EF4-FFF2-40B4-BE49-F238E27FC236}">
                <a16:creationId xmlns:a16="http://schemas.microsoft.com/office/drawing/2014/main" id="{0AAAAE11-962F-4905-A704-79C99CD624BF}"/>
              </a:ext>
            </a:extLst>
          </p:cNvPr>
          <p:cNvSpPr>
            <a:spLocks noChangeArrowheads="1"/>
          </p:cNvSpPr>
          <p:nvPr/>
        </p:nvSpPr>
        <p:spPr bwMode="auto">
          <a:xfrm>
            <a:off x="9069039" y="178989"/>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Control</a:t>
            </a:r>
          </a:p>
        </p:txBody>
      </p:sp>
      <p:sp>
        <p:nvSpPr>
          <p:cNvPr id="19" name="AutoShape 56">
            <a:extLst>
              <a:ext uri="{FF2B5EF4-FFF2-40B4-BE49-F238E27FC236}">
                <a16:creationId xmlns:a16="http://schemas.microsoft.com/office/drawing/2014/main" id="{65C4F444-965B-4E90-AAB3-86012AF21074}"/>
              </a:ext>
            </a:extLst>
          </p:cNvPr>
          <p:cNvSpPr>
            <a:spLocks noChangeArrowheads="1"/>
          </p:cNvSpPr>
          <p:nvPr/>
        </p:nvSpPr>
        <p:spPr bwMode="auto">
          <a:xfrm>
            <a:off x="7018783" y="178989"/>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Measure</a:t>
            </a:r>
          </a:p>
        </p:txBody>
      </p:sp>
      <p:sp>
        <p:nvSpPr>
          <p:cNvPr id="22" name="AutoShape 59">
            <a:extLst>
              <a:ext uri="{FF2B5EF4-FFF2-40B4-BE49-F238E27FC236}">
                <a16:creationId xmlns:a16="http://schemas.microsoft.com/office/drawing/2014/main" id="{B53444EE-0D82-41A0-9F29-932D68773F89}"/>
              </a:ext>
            </a:extLst>
          </p:cNvPr>
          <p:cNvSpPr>
            <a:spLocks noChangeArrowheads="1"/>
          </p:cNvSpPr>
          <p:nvPr/>
        </p:nvSpPr>
        <p:spPr bwMode="auto">
          <a:xfrm>
            <a:off x="6319489" y="178989"/>
            <a:ext cx="757238" cy="287338"/>
          </a:xfrm>
          <a:prstGeom prst="homePlate">
            <a:avLst>
              <a:gd name="adj" fmla="val 47192"/>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Define</a:t>
            </a:r>
          </a:p>
        </p:txBody>
      </p:sp>
      <p:sp>
        <p:nvSpPr>
          <p:cNvPr id="28" name="AutoShape 58">
            <a:extLst>
              <a:ext uri="{FF2B5EF4-FFF2-40B4-BE49-F238E27FC236}">
                <a16:creationId xmlns:a16="http://schemas.microsoft.com/office/drawing/2014/main" id="{1F71CA43-BD44-40DA-A6CC-F39D9CDDF9CC}"/>
              </a:ext>
            </a:extLst>
          </p:cNvPr>
          <p:cNvSpPr>
            <a:spLocks noChangeArrowheads="1"/>
          </p:cNvSpPr>
          <p:nvPr/>
        </p:nvSpPr>
        <p:spPr bwMode="auto">
          <a:xfrm>
            <a:off x="8330852" y="51592"/>
            <a:ext cx="747712" cy="287337"/>
          </a:xfrm>
          <a:prstGeom prst="homePlate">
            <a:avLst>
              <a:gd name="adj" fmla="val 46599"/>
            </a:avLst>
          </a:prstGeom>
          <a:gradFill rotWithShape="1">
            <a:gsLst>
              <a:gs pos="0">
                <a:srgbClr val="494900"/>
              </a:gs>
              <a:gs pos="100000">
                <a:srgbClr val="808000"/>
              </a:gs>
            </a:gsLst>
            <a:lin ang="0" scaled="1"/>
          </a:gradFill>
          <a:ln w="6350" algn="ctr">
            <a:solidFill>
              <a:srgbClr val="808080"/>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latin typeface="Arial Narrow" panose="020B0606020202030204" pitchFamily="34" charset="0"/>
                <a:ea typeface="Arial" panose="020B0503020000020004" pitchFamily="50" charset="-127"/>
              </a:rPr>
              <a:t>Improve</a:t>
            </a:r>
          </a:p>
        </p:txBody>
      </p:sp>
      <p:cxnSp>
        <p:nvCxnSpPr>
          <p:cNvPr id="29" name="Straight Connector 28">
            <a:extLst>
              <a:ext uri="{FF2B5EF4-FFF2-40B4-BE49-F238E27FC236}">
                <a16:creationId xmlns:a16="http://schemas.microsoft.com/office/drawing/2014/main" id="{F25EF069-A357-49D4-BCF3-59C570CAC0D4}"/>
              </a:ext>
            </a:extLst>
          </p:cNvPr>
          <p:cNvCxnSpPr/>
          <p:nvPr/>
        </p:nvCxnSpPr>
        <p:spPr>
          <a:xfrm>
            <a:off x="0" y="508838"/>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3764994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AutoShape 59">
            <a:extLst>
              <a:ext uri="{FF2B5EF4-FFF2-40B4-BE49-F238E27FC236}">
                <a16:creationId xmlns:a16="http://schemas.microsoft.com/office/drawing/2014/main" id="{42E250E9-7B6D-4CB6-9D59-474D4A6C6285}"/>
              </a:ext>
            </a:extLst>
          </p:cNvPr>
          <p:cNvSpPr>
            <a:spLocks noChangeArrowheads="1"/>
          </p:cNvSpPr>
          <p:nvPr/>
        </p:nvSpPr>
        <p:spPr bwMode="auto">
          <a:xfrm>
            <a:off x="6319489" y="178989"/>
            <a:ext cx="757238" cy="287338"/>
          </a:xfrm>
          <a:prstGeom prst="homePlate">
            <a:avLst>
              <a:gd name="adj" fmla="val 47192"/>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Define</a:t>
            </a:r>
          </a:p>
        </p:txBody>
      </p:sp>
      <p:sp>
        <p:nvSpPr>
          <p:cNvPr id="18" name="AutoShape 56">
            <a:extLst>
              <a:ext uri="{FF2B5EF4-FFF2-40B4-BE49-F238E27FC236}">
                <a16:creationId xmlns:a16="http://schemas.microsoft.com/office/drawing/2014/main" id="{C0C944A4-101E-42D6-81BA-0D952D7C49D3}"/>
              </a:ext>
            </a:extLst>
          </p:cNvPr>
          <p:cNvSpPr>
            <a:spLocks noChangeArrowheads="1"/>
          </p:cNvSpPr>
          <p:nvPr/>
        </p:nvSpPr>
        <p:spPr bwMode="auto">
          <a:xfrm>
            <a:off x="7018783" y="178989"/>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Measure</a:t>
            </a:r>
          </a:p>
        </p:txBody>
      </p:sp>
      <p:pic>
        <p:nvPicPr>
          <p:cNvPr id="9" name="Picture 8">
            <a:extLst>
              <a:ext uri="{FF2B5EF4-FFF2-40B4-BE49-F238E27FC236}">
                <a16:creationId xmlns:a16="http://schemas.microsoft.com/office/drawing/2014/main" id="{D87638E1-3883-4927-AC6D-92EA20AB92E1}"/>
              </a:ext>
            </a:extLst>
          </p:cNvPr>
          <p:cNvPicPr>
            <a:picLocks noChangeAspect="1"/>
          </p:cNvPicPr>
          <p:nvPr/>
        </p:nvPicPr>
        <p:blipFill>
          <a:blip r:embed="rId3"/>
          <a:stretch>
            <a:fillRect/>
          </a:stretch>
        </p:blipFill>
        <p:spPr>
          <a:xfrm>
            <a:off x="2898636" y="1261535"/>
            <a:ext cx="3197364" cy="4488279"/>
          </a:xfrm>
          <a:prstGeom prst="rect">
            <a:avLst/>
          </a:prstGeom>
        </p:spPr>
      </p:pic>
      <p:sp>
        <p:nvSpPr>
          <p:cNvPr id="7" name="제목 1"/>
          <p:cNvSpPr txBox="1">
            <a:spLocks/>
          </p:cNvSpPr>
          <p:nvPr/>
        </p:nvSpPr>
        <p:spPr>
          <a:xfrm>
            <a:off x="63248" y="59759"/>
            <a:ext cx="6156000" cy="418058"/>
          </a:xfrm>
          <a:prstGeom prst="rect">
            <a:avLst/>
          </a:prstGeom>
        </p:spPr>
        <p:txBody>
          <a:bodyPr vert="horz" lIns="91440" tIns="45720" rIns="91440" bIns="45720" rtlCol="0" anchor="ctr">
            <a:noAutofit/>
          </a:bodyPr>
          <a:lstStyle/>
          <a:p>
            <a:pPr lvl="0" eaLnBrk="1" latinLnBrk="0" hangingPunct="0">
              <a:defRPr/>
            </a:pPr>
            <a:r>
              <a:rPr lang="en-US" altLang="ko-KR" sz="1600" b="1" kern="0" noProof="0" dirty="0">
                <a:latin typeface="Arial Narrow" panose="020B0606020202030204" pitchFamily="34" charset="0"/>
                <a:ea typeface="Arial Unicode MS" panose="020B0604020202020204" pitchFamily="34" charset="-128"/>
                <a:cs typeface="Arial" panose="020B0604020202020204" pitchFamily="34" charset="0"/>
              </a:rPr>
              <a:t>4.</a:t>
            </a:r>
            <a:r>
              <a:rPr lang="en-US" altLang="ko-KR" sz="1600" b="1" kern="0" dirty="0">
                <a:latin typeface="Arial Narrow" panose="020B0606020202030204" pitchFamily="34" charset="0"/>
                <a:ea typeface="Arial Unicode MS" panose="020B0604020202020204" pitchFamily="34" charset="-128"/>
                <a:cs typeface="Arial" panose="020B0604020202020204" pitchFamily="34" charset="0"/>
              </a:rPr>
              <a:t>2</a:t>
            </a:r>
            <a:r>
              <a:rPr kumimoji="1" lang="en-US" altLang="ko-KR" sz="1600" b="1" i="0" u="none" strike="noStrike" kern="0" cap="none" spc="0" normalizeH="0" baseline="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rPr>
              <a:t> </a:t>
            </a:r>
            <a:r>
              <a:rPr lang="en-US" altLang="ko-KR" sz="1600" b="1" kern="0" dirty="0">
                <a:latin typeface="Arial Narrow" panose="020B0606020202030204" pitchFamily="34" charset="0"/>
                <a:ea typeface="Arial Unicode MS" panose="020B0604020202020204" pitchFamily="34" charset="-128"/>
                <a:cs typeface="Arial" panose="020B0604020202020204" pitchFamily="34" charset="0"/>
              </a:rPr>
              <a:t>Check type 3 study again after improvement</a:t>
            </a:r>
            <a:endParaRPr kumimoji="1" lang="ko-KR" altLang="en-US" sz="1600" b="1" i="0" u="none" strike="noStrike" kern="0" cap="none" spc="0" normalizeH="0" baseline="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endParaRPr>
          </a:p>
        </p:txBody>
      </p:sp>
      <p:cxnSp>
        <p:nvCxnSpPr>
          <p:cNvPr id="15" name="Straight Connector 14">
            <a:extLst>
              <a:ext uri="{FF2B5EF4-FFF2-40B4-BE49-F238E27FC236}">
                <a16:creationId xmlns:a16="http://schemas.microsoft.com/office/drawing/2014/main" id="{2F116EDF-8FB8-49D4-9D95-4106566CA48E}"/>
              </a:ext>
            </a:extLst>
          </p:cNvPr>
          <p:cNvCxnSpPr/>
          <p:nvPr/>
        </p:nvCxnSpPr>
        <p:spPr>
          <a:xfrm>
            <a:off x="0" y="508838"/>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Slide Number Placeholder 4">
            <a:extLst>
              <a:ext uri="{FF2B5EF4-FFF2-40B4-BE49-F238E27FC236}">
                <a16:creationId xmlns:a16="http://schemas.microsoft.com/office/drawing/2014/main" id="{8B7C0E50-731F-45CB-B95B-47B094B1A43F}"/>
              </a:ext>
            </a:extLst>
          </p:cNvPr>
          <p:cNvSpPr>
            <a:spLocks noGrp="1"/>
          </p:cNvSpPr>
          <p:nvPr>
            <p:ph type="sldNum" sz="quarter" idx="12"/>
          </p:nvPr>
        </p:nvSpPr>
        <p:spPr>
          <a:xfrm>
            <a:off x="3700326" y="6643499"/>
            <a:ext cx="2133600" cy="198047"/>
          </a:xfrm>
        </p:spPr>
        <p:txBody>
          <a:bodyPr/>
          <a:lstStyle/>
          <a:p>
            <a:pPr algn="ctr" eaLnBrk="1" latinLnBrk="0"/>
            <a:r>
              <a:rPr sz="1000" b="0">
                <a:latin typeface="Arial"/>
              </a:rPr>
              <a:t>23 / 33</a:t>
            </a:r>
            <a:endParaRPr lang="ko-KR" altLang="en-US" sz="1200" dirty="0">
              <a:solidFill>
                <a:prstClr val="black">
                  <a:tint val="75000"/>
                </a:prstClr>
              </a:solidFill>
              <a:latin typeface="Arial" panose="020B0604020202020204" pitchFamily="34" charset="0"/>
              <a:ea typeface="Arial Unicode MS" panose="020B0604020202020204" pitchFamily="34" charset="-128"/>
              <a:cs typeface="Arial" panose="020B0604020202020204" pitchFamily="34" charset="0"/>
            </a:endParaRPr>
          </a:p>
        </p:txBody>
      </p:sp>
      <p:sp>
        <p:nvSpPr>
          <p:cNvPr id="22" name="TextBox 21">
            <a:extLst>
              <a:ext uri="{FF2B5EF4-FFF2-40B4-BE49-F238E27FC236}">
                <a16:creationId xmlns:a16="http://schemas.microsoft.com/office/drawing/2014/main" id="{1D7A0E4A-FE65-4EFE-9AAA-D95F0FD47D39}"/>
              </a:ext>
            </a:extLst>
          </p:cNvPr>
          <p:cNvSpPr txBox="1"/>
          <p:nvPr/>
        </p:nvSpPr>
        <p:spPr>
          <a:xfrm>
            <a:off x="63248" y="535377"/>
            <a:ext cx="2679952" cy="276999"/>
          </a:xfrm>
          <a:prstGeom prst="rect">
            <a:avLst/>
          </a:prstGeom>
          <a:noFill/>
        </p:spPr>
        <p:txBody>
          <a:bodyPr wrap="square" rtlCol="0">
            <a:noAutofit/>
          </a:bodyPr>
          <a:lstStyle/>
          <a:p>
            <a:pPr marL="171450" indent="-171450" eaLnBrk="1" latinLnBrk="0">
              <a:buFont typeface="Wingdings" panose="05000000000000000000" pitchFamily="2" charset="2"/>
              <a:buChar char="q"/>
            </a:pPr>
            <a:r>
              <a:rPr lang="vi-VN" sz="1000" b="1" dirty="0">
                <a:latin typeface="Arial" panose="020B0604020202020204" pitchFamily="34" charset="0"/>
                <a:ea typeface="Arial Unicode MS" panose="020B0604020202020204" pitchFamily="34" charset="-128"/>
                <a:cs typeface="Arial" panose="020B0604020202020204" pitchFamily="34" charset="0"/>
              </a:rPr>
              <a:t>Station </a:t>
            </a:r>
            <a:r>
              <a:rPr lang="en-US" sz="1000" b="1" dirty="0">
                <a:latin typeface="Arial" panose="020B0604020202020204" pitchFamily="34" charset="0"/>
                <a:ea typeface="Arial Unicode MS" panose="020B0604020202020204" pitchFamily="34" charset="-128"/>
                <a:cs typeface="Arial" panose="020B0604020202020204" pitchFamily="34" charset="0"/>
              </a:rPr>
              <a:t>2 Luminance</a:t>
            </a:r>
          </a:p>
        </p:txBody>
      </p:sp>
      <p:sp>
        <p:nvSpPr>
          <p:cNvPr id="16" name="TextBox 15">
            <a:extLst>
              <a:ext uri="{FF2B5EF4-FFF2-40B4-BE49-F238E27FC236}">
                <a16:creationId xmlns:a16="http://schemas.microsoft.com/office/drawing/2014/main" id="{3966E839-E464-44A6-B3A7-069EFFB3BB53}"/>
              </a:ext>
            </a:extLst>
          </p:cNvPr>
          <p:cNvSpPr txBox="1"/>
          <p:nvPr/>
        </p:nvSpPr>
        <p:spPr>
          <a:xfrm>
            <a:off x="6027146" y="4781800"/>
            <a:ext cx="3780000" cy="1015663"/>
          </a:xfrm>
          <a:prstGeom prst="rect">
            <a:avLst/>
          </a:prstGeom>
          <a:noFill/>
        </p:spPr>
        <p:txBody>
          <a:bodyPr wrap="square" rtlCol="0">
            <a:noAutofit/>
          </a:bodyPr>
          <a:lstStyle/>
          <a:p>
            <a:pPr marL="171450" indent="-171450" eaLnBrk="1" latinLnBrk="0">
              <a:buFont typeface="Arial" panose="020B0604020202020204" pitchFamily="34" charset="0"/>
              <a:buChar char="•"/>
            </a:pPr>
            <a:r>
              <a:rPr lang="en-US" sz="1000" dirty="0">
                <a:latin typeface="Arial" panose="020B0604020202020204" pitchFamily="34" charset="0"/>
                <a:ea typeface="Arial Unicode MS" panose="020B0604020202020204" pitchFamily="34" charset="-128"/>
                <a:cs typeface="Arial" panose="020B0604020202020204" pitchFamily="34" charset="0"/>
              </a:rPr>
              <a:t>% Contribution of Gage </a:t>
            </a:r>
            <a:r>
              <a:rPr lang="vi-VN" sz="1000" dirty="0">
                <a:latin typeface="Arial" panose="020B0604020202020204" pitchFamily="34" charset="0"/>
                <a:ea typeface="Arial Unicode MS" panose="020B0604020202020204" pitchFamily="34" charset="-128"/>
                <a:cs typeface="Arial" panose="020B0604020202020204" pitchFamily="34" charset="0"/>
              </a:rPr>
              <a:t>R&amp;R = </a:t>
            </a:r>
            <a:r>
              <a:rPr lang="en-US" sz="1000" dirty="0">
                <a:latin typeface="Arial" panose="020B0604020202020204" pitchFamily="34" charset="0"/>
                <a:ea typeface="Arial Unicode MS" panose="020B0604020202020204" pitchFamily="34" charset="-128"/>
                <a:cs typeface="Arial" panose="020B0604020202020204" pitchFamily="34" charset="0"/>
              </a:rPr>
              <a:t>0.22</a:t>
            </a:r>
            <a:r>
              <a:rPr lang="vi-VN" sz="1000" dirty="0">
                <a:latin typeface="Arial" panose="020B0604020202020204" pitchFamily="34" charset="0"/>
                <a:ea typeface="Arial Unicode MS" panose="020B0604020202020204" pitchFamily="34" charset="-128"/>
                <a:cs typeface="Arial" panose="020B0604020202020204" pitchFamily="34" charset="0"/>
              </a:rPr>
              <a:t>% </a:t>
            </a:r>
            <a:r>
              <a:rPr lang="en-US" sz="1000" dirty="0">
                <a:latin typeface="Arial" panose="020B0604020202020204" pitchFamily="34" charset="0"/>
                <a:ea typeface="Arial Unicode MS" panose="020B0604020202020204" pitchFamily="34" charset="-128"/>
                <a:cs typeface="Arial" panose="020B0604020202020204" pitchFamily="34" charset="0"/>
              </a:rPr>
              <a:t>&lt;</a:t>
            </a:r>
            <a:r>
              <a:rPr lang="vi-VN" sz="1000" dirty="0">
                <a:latin typeface="Arial" panose="020B0604020202020204" pitchFamily="34" charset="0"/>
                <a:ea typeface="Arial Unicode MS" panose="020B0604020202020204" pitchFamily="34" charset="-128"/>
                <a:cs typeface="Arial" panose="020B0604020202020204" pitchFamily="34" charset="0"/>
              </a:rPr>
              <a:t> 1% </a:t>
            </a:r>
            <a:r>
              <a:rPr lang="vi-VN" sz="1000" dirty="0">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rPr>
              <a:t></a:t>
            </a:r>
            <a:r>
              <a:rPr lang="en-US" sz="1000" dirty="0">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rPr>
              <a:t> </a:t>
            </a:r>
            <a:r>
              <a:rPr lang="en-US" sz="1000" dirty="0">
                <a:solidFill>
                  <a:srgbClr val="006600"/>
                </a:solidFill>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rPr>
              <a:t>OK</a:t>
            </a:r>
            <a:endParaRPr lang="vi-VN" sz="1200" dirty="0">
              <a:solidFill>
                <a:srgbClr val="006600"/>
              </a:solidFill>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endParaRPr>
          </a:p>
          <a:p>
            <a:pPr marL="171450" indent="-171450" eaLnBrk="1" latinLnBrk="0">
              <a:buFont typeface="Arial" panose="020B0604020202020204" pitchFamily="34" charset="0"/>
              <a:buChar char="•"/>
            </a:pPr>
            <a:r>
              <a:rPr lang="vi-VN" sz="1000" dirty="0">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rPr>
              <a:t>% Study Var = </a:t>
            </a:r>
            <a:r>
              <a:rPr lang="en-US" sz="1000" dirty="0">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rPr>
              <a:t>4.64</a:t>
            </a:r>
            <a:r>
              <a:rPr lang="vi-VN" sz="1000" dirty="0">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rPr>
              <a:t>% </a:t>
            </a:r>
            <a:r>
              <a:rPr lang="en-US" sz="1000" dirty="0">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rPr>
              <a:t>&lt;</a:t>
            </a:r>
            <a:r>
              <a:rPr lang="vi-VN" sz="1000" dirty="0">
                <a:latin typeface="Arial" panose="020B0604020202020204" pitchFamily="34" charset="0"/>
                <a:ea typeface="Arial Unicode MS" panose="020B0604020202020204" pitchFamily="34" charset="-128"/>
                <a:cs typeface="Arial" panose="020B0604020202020204" pitchFamily="34" charset="0"/>
              </a:rPr>
              <a:t> 10% </a:t>
            </a:r>
            <a:r>
              <a:rPr lang="vi-VN" sz="1000" dirty="0">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rPr>
              <a:t> </a:t>
            </a:r>
            <a:r>
              <a:rPr lang="en-US" sz="1000" dirty="0">
                <a:solidFill>
                  <a:srgbClr val="006600"/>
                </a:solidFill>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rPr>
              <a:t>OK</a:t>
            </a:r>
            <a:endParaRPr lang="vi-VN" sz="1200" dirty="0">
              <a:solidFill>
                <a:srgbClr val="006600"/>
              </a:solidFill>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endParaRPr>
          </a:p>
          <a:p>
            <a:pPr marL="171450" indent="-171450" eaLnBrk="1" latinLnBrk="0">
              <a:buFont typeface="Arial" panose="020B0604020202020204" pitchFamily="34" charset="0"/>
              <a:buChar char="•"/>
            </a:pPr>
            <a:r>
              <a:rPr lang="en-US" sz="1000" noProof="1">
                <a:latin typeface="Arial" panose="020B0600000101010101" pitchFamily="34" charset="-127"/>
                <a:ea typeface="Arial" panose="020B0600000101010101" pitchFamily="34" charset="-127"/>
              </a:rPr>
              <a:t>% Tolerance = 0.86% &lt; 10% </a:t>
            </a:r>
            <a:r>
              <a:rPr lang="en-US" sz="1000" dirty="0">
                <a:latin typeface="Arial" panose="020B0600000101010101" pitchFamily="34" charset="-127"/>
                <a:ea typeface="Arial" panose="020B0600000101010101" pitchFamily="34" charset="-127"/>
                <a:sym typeface="Wingdings" pitchFamily="2" charset="2"/>
              </a:rPr>
              <a:t> </a:t>
            </a:r>
            <a:r>
              <a:rPr lang="en-US" sz="1000" dirty="0">
                <a:solidFill>
                  <a:srgbClr val="006600"/>
                </a:solidFill>
                <a:latin typeface="Arial" panose="020B0600000101010101" pitchFamily="34" charset="-127"/>
                <a:ea typeface="Arial" panose="020B0600000101010101" pitchFamily="34" charset="-127"/>
                <a:sym typeface="Wingdings" pitchFamily="2" charset="2"/>
              </a:rPr>
              <a:t>Can use to judge OK/NG</a:t>
            </a:r>
          </a:p>
          <a:p>
            <a:pPr marL="171450" indent="-171450" eaLnBrk="1" latinLnBrk="0">
              <a:buFont typeface="Arial" panose="020B0604020202020204" pitchFamily="34" charset="0"/>
              <a:buChar char="•"/>
            </a:pPr>
            <a:r>
              <a:rPr lang="en-US" sz="1000" dirty="0">
                <a:latin typeface="Arial" panose="020B0604020202020204" pitchFamily="34" charset="0"/>
                <a:ea typeface="Arial Unicode MS" panose="020B0604020202020204" pitchFamily="34" charset="-128"/>
                <a:cs typeface="Arial" panose="020B0604020202020204" pitchFamily="34" charset="0"/>
                <a:sym typeface="Wingdings" pitchFamily="2" charset="2"/>
              </a:rPr>
              <a:t>NDC: 30 &gt; 5  OK</a:t>
            </a:r>
            <a:r>
              <a:rPr lang="vi-VN" sz="1000" dirty="0">
                <a:latin typeface="Arial" panose="020B0604020202020204" pitchFamily="34" charset="0"/>
                <a:ea typeface="Arial Unicode MS" panose="020B0604020202020204" pitchFamily="34" charset="-128"/>
                <a:cs typeface="Arial" panose="020B0604020202020204" pitchFamily="34" charset="0"/>
                <a:sym typeface="Wingdings" pitchFamily="2" charset="2"/>
              </a:rPr>
              <a:t> </a:t>
            </a:r>
            <a:endParaRPr lang="en-US" sz="1200" dirty="0">
              <a:latin typeface="Arial" panose="020B0604020202020204" pitchFamily="34" charset="0"/>
              <a:ea typeface="Arial Unicode MS" panose="020B0604020202020204" pitchFamily="34" charset="-128"/>
              <a:cs typeface="Arial" panose="020B0604020202020204" pitchFamily="34" charset="0"/>
              <a:sym typeface="Wingdings" pitchFamily="2" charset="2"/>
            </a:endParaRPr>
          </a:p>
        </p:txBody>
      </p:sp>
      <p:sp>
        <p:nvSpPr>
          <p:cNvPr id="21" name="TextBox 20">
            <a:extLst>
              <a:ext uri="{FF2B5EF4-FFF2-40B4-BE49-F238E27FC236}">
                <a16:creationId xmlns:a16="http://schemas.microsoft.com/office/drawing/2014/main" id="{0C04EA2E-54FC-4AFE-90F2-2B41EEBF1447}"/>
              </a:ext>
            </a:extLst>
          </p:cNvPr>
          <p:cNvSpPr txBox="1"/>
          <p:nvPr/>
        </p:nvSpPr>
        <p:spPr>
          <a:xfrm>
            <a:off x="59902" y="6296220"/>
            <a:ext cx="6765306" cy="276999"/>
          </a:xfrm>
          <a:prstGeom prst="rect">
            <a:avLst/>
          </a:prstGeom>
          <a:noFill/>
        </p:spPr>
        <p:txBody>
          <a:bodyPr wrap="square" rtlCol="0">
            <a:noAutofit/>
          </a:bodyPr>
          <a:lstStyle/>
          <a:p>
            <a:pPr marL="171450" indent="-171450" eaLnBrk="1" latinLnBrk="0">
              <a:buFont typeface="Wingdings" panose="05000000000000000000" pitchFamily="2" charset="2"/>
              <a:buChar char="Ø"/>
            </a:pPr>
            <a:r>
              <a:rPr lang="vi-VN" sz="1000" b="1" dirty="0">
                <a:latin typeface="Arial" panose="020B0604020202020204" pitchFamily="34" charset="0"/>
                <a:ea typeface="Arial Unicode MS" panose="020B0604020202020204" pitchFamily="34" charset="-128"/>
                <a:cs typeface="Arial" panose="020B0604020202020204" pitchFamily="34" charset="0"/>
                <a:sym typeface="Wingdings" pitchFamily="2" charset="2"/>
              </a:rPr>
              <a:t>Conclusion</a:t>
            </a:r>
            <a:r>
              <a:rPr lang="vi-VN" sz="1000" dirty="0">
                <a:latin typeface="Arial" panose="020B0604020202020204" pitchFamily="34" charset="0"/>
                <a:ea typeface="Arial Unicode MS" panose="020B0604020202020204" pitchFamily="34" charset="-128"/>
                <a:cs typeface="Arial" panose="020B0604020202020204" pitchFamily="34" charset="0"/>
                <a:sym typeface="Wingdings" pitchFamily="2" charset="2"/>
              </a:rPr>
              <a:t> </a:t>
            </a:r>
            <a:r>
              <a:rPr lang="en-US" sz="1000" dirty="0">
                <a:latin typeface="Arial" panose="020B0604020202020204" pitchFamily="34" charset="0"/>
                <a:ea typeface="Arial Unicode MS" panose="020B0604020202020204" pitchFamily="34" charset="-128"/>
                <a:cs typeface="Arial" panose="020B0604020202020204" pitchFamily="34" charset="0"/>
                <a:sym typeface="Wingdings" pitchFamily="2" charset="2"/>
              </a:rPr>
              <a:t>: Measurement system of station 2 is Good after improving measurement system</a:t>
            </a:r>
          </a:p>
        </p:txBody>
      </p:sp>
      <p:sp>
        <p:nvSpPr>
          <p:cNvPr id="23" name="Text Box 2">
            <a:extLst>
              <a:ext uri="{FF2B5EF4-FFF2-40B4-BE49-F238E27FC236}">
                <a16:creationId xmlns:a16="http://schemas.microsoft.com/office/drawing/2014/main" id="{18AB2045-A1D9-4F7C-ABE5-0EE724EF6EEB}"/>
              </a:ext>
            </a:extLst>
          </p:cNvPr>
          <p:cNvSpPr txBox="1">
            <a:spLocks noChangeArrowheads="1"/>
          </p:cNvSpPr>
          <p:nvPr/>
        </p:nvSpPr>
        <p:spPr bwMode="auto">
          <a:xfrm>
            <a:off x="40311" y="786484"/>
            <a:ext cx="9332289" cy="304800"/>
          </a:xfrm>
          <a:prstGeom prst="rect">
            <a:avLst/>
          </a:prstGeom>
          <a:noFill/>
          <a:ln w="9525" algn="ctr">
            <a:noFill/>
            <a:miter lim="800000"/>
            <a:headEnd/>
            <a:tailEnd/>
          </a:ln>
        </p:spPr>
        <p:txBody>
          <a:bodyPr lIns="84374" tIns="42187" rIns="84374" bIns="42187" anchor="ctr"/>
          <a:lstStyle/>
          <a:p>
            <a:pPr defTabSz="844083" eaLnBrk="1" latinLnBrk="0">
              <a:defRPr/>
            </a:pPr>
            <a:r>
              <a:rPr sz="1000" b="0">
                <a:latin typeface="Arial"/>
              </a:rPr>
              <a:t>After adjusting camera angle to 90.0°, Type 3 Gage Study was repeated for Station 2 to verify measurement repeatability.</a:t>
            </a:r>
            <a:endParaRPr lang="ko-KR" altLang="en-US" sz="1200" b="1" dirty="0">
              <a:solidFill>
                <a:srgbClr val="000000"/>
              </a:solidFill>
              <a:latin typeface="LG Smart_H Regular" panose="020B0600000101010101" pitchFamily="34" charset="-127"/>
              <a:ea typeface="LG Smart_H Regular" panose="020B0600000101010101" pitchFamily="34" charset="-127"/>
              <a:cs typeface="Arial" panose="020B0604020202020204" pitchFamily="34" charset="0"/>
            </a:endParaRPr>
          </a:p>
        </p:txBody>
      </p:sp>
      <p:sp>
        <p:nvSpPr>
          <p:cNvPr id="24" name="AutoShape 55">
            <a:extLst>
              <a:ext uri="{FF2B5EF4-FFF2-40B4-BE49-F238E27FC236}">
                <a16:creationId xmlns:a16="http://schemas.microsoft.com/office/drawing/2014/main" id="{D17A6884-A0A7-406C-A731-813E957B5BCD}"/>
              </a:ext>
            </a:extLst>
          </p:cNvPr>
          <p:cNvSpPr>
            <a:spLocks noChangeArrowheads="1"/>
          </p:cNvSpPr>
          <p:nvPr/>
        </p:nvSpPr>
        <p:spPr bwMode="auto">
          <a:xfrm>
            <a:off x="9069039" y="178989"/>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Control</a:t>
            </a:r>
          </a:p>
        </p:txBody>
      </p:sp>
      <p:graphicFrame>
        <p:nvGraphicFramePr>
          <p:cNvPr id="6" name="Table 5">
            <a:extLst>
              <a:ext uri="{FF2B5EF4-FFF2-40B4-BE49-F238E27FC236}">
                <a16:creationId xmlns:a16="http://schemas.microsoft.com/office/drawing/2014/main" id="{EBD78909-2208-48C8-9FE8-B1C822F4B79B}"/>
              </a:ext>
            </a:extLst>
          </p:cNvPr>
          <p:cNvGraphicFramePr>
            <a:graphicFrameLocks noGrp="1"/>
          </p:cNvGraphicFramePr>
          <p:nvPr>
            <p:extLst>
              <p:ext uri="{D42A27DB-BD31-4B8C-83A1-F6EECF244321}">
                <p14:modId xmlns:p14="http://schemas.microsoft.com/office/powerpoint/2010/main" val="1538451455"/>
              </p:ext>
            </p:extLst>
          </p:nvPr>
        </p:nvGraphicFramePr>
        <p:xfrm>
          <a:off x="107420" y="1247455"/>
          <a:ext cx="2711980" cy="4769863"/>
        </p:xfrm>
        <a:graphic>
          <a:graphicData uri="http://schemas.openxmlformats.org/drawingml/2006/table">
            <a:tbl>
              <a:tblPr/>
              <a:tblGrid>
                <a:gridCol w="677995">
                  <a:extLst>
                    <a:ext uri="{9D8B030D-6E8A-4147-A177-3AD203B41FA5}">
                      <a16:colId xmlns:a16="http://schemas.microsoft.com/office/drawing/2014/main" val="2454351302"/>
                    </a:ext>
                  </a:extLst>
                </a:gridCol>
                <a:gridCol w="677995">
                  <a:extLst>
                    <a:ext uri="{9D8B030D-6E8A-4147-A177-3AD203B41FA5}">
                      <a16:colId xmlns:a16="http://schemas.microsoft.com/office/drawing/2014/main" val="1364988761"/>
                    </a:ext>
                  </a:extLst>
                </a:gridCol>
                <a:gridCol w="677995">
                  <a:extLst>
                    <a:ext uri="{9D8B030D-6E8A-4147-A177-3AD203B41FA5}">
                      <a16:colId xmlns:a16="http://schemas.microsoft.com/office/drawing/2014/main" val="540453528"/>
                    </a:ext>
                  </a:extLst>
                </a:gridCol>
                <a:gridCol w="677995">
                  <a:extLst>
                    <a:ext uri="{9D8B030D-6E8A-4147-A177-3AD203B41FA5}">
                      <a16:colId xmlns:a16="http://schemas.microsoft.com/office/drawing/2014/main" val="1565661320"/>
                    </a:ext>
                  </a:extLst>
                </a:gridCol>
              </a:tblGrid>
              <a:tr h="159488">
                <a:tc>
                  <a:txBody>
                    <a:bodyPr/>
                    <a:lstStyle/>
                    <a:p>
                      <a:pPr algn="ctr" rtl="0" eaLnBrk="1" fontAlgn="ctr" latinLnBrk="0"/>
                      <a:r>
                        <a:rPr lang="en-US" sz="900" b="1" i="0" u="none" strike="noStrike">
                          <a:solidFill>
                            <a:srgbClr val="000000"/>
                          </a:solidFill>
                          <a:effectLst/>
                          <a:latin typeface="Arial" panose="020B0604020202020204" pitchFamily="34" charset="0"/>
                        </a:rPr>
                        <a:t>No</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tc>
                  <a:txBody>
                    <a:bodyPr/>
                    <a:lstStyle/>
                    <a:p>
                      <a:pPr algn="ctr" rtl="0" eaLnBrk="1" fontAlgn="ctr" latinLnBrk="0"/>
                      <a:r>
                        <a:rPr lang="en-US" sz="900" b="1" i="0" u="none" strike="noStrike">
                          <a:solidFill>
                            <a:srgbClr val="000000"/>
                          </a:solidFill>
                          <a:effectLst/>
                          <a:latin typeface="Arial" panose="020B0604020202020204" pitchFamily="34" charset="0"/>
                        </a:rPr>
                        <a:t>Data</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tc>
                  <a:txBody>
                    <a:bodyPr/>
                    <a:lstStyle/>
                    <a:p>
                      <a:pPr algn="ctr" rtl="0" eaLnBrk="1" fontAlgn="ctr" latinLnBrk="0"/>
                      <a:r>
                        <a:rPr lang="en-US" sz="900" b="1" i="0" u="none" strike="noStrike">
                          <a:solidFill>
                            <a:srgbClr val="000000"/>
                          </a:solidFill>
                          <a:effectLst/>
                          <a:latin typeface="Arial" panose="020B0604020202020204" pitchFamily="34" charset="0"/>
                        </a:rPr>
                        <a:t>No</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tc>
                  <a:txBody>
                    <a:bodyPr/>
                    <a:lstStyle/>
                    <a:p>
                      <a:pPr algn="ctr" rtl="0" eaLnBrk="1" fontAlgn="ctr" latinLnBrk="0"/>
                      <a:r>
                        <a:rPr lang="en-US" sz="900" b="1" i="0" u="none" strike="noStrike">
                          <a:solidFill>
                            <a:srgbClr val="000000"/>
                          </a:solidFill>
                          <a:effectLst/>
                          <a:latin typeface="Arial" panose="020B0604020202020204" pitchFamily="34" charset="0"/>
                        </a:rPr>
                        <a:t>Data</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extLst>
                  <a:ext uri="{0D108BD9-81ED-4DB2-BD59-A6C34878D82A}">
                    <a16:rowId xmlns:a16="http://schemas.microsoft.com/office/drawing/2014/main" val="2489677896"/>
                  </a:ext>
                </a:extLst>
              </a:tr>
              <a:tr h="184415">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946.86</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13</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928.45</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980092601"/>
                  </a:ext>
                </a:extLst>
              </a:tr>
              <a:tr h="184415">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949.24</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14</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919.77</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933307722"/>
                  </a:ext>
                </a:extLst>
              </a:tr>
              <a:tr h="184415">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871.49</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14</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918.29</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191701855"/>
                  </a:ext>
                </a:extLst>
              </a:tr>
              <a:tr h="184415">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871.89</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15</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919.34</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987195219"/>
                  </a:ext>
                </a:extLst>
              </a:tr>
              <a:tr h="184415">
                <a:tc>
                  <a:txBody>
                    <a:bodyPr/>
                    <a:lstStyle/>
                    <a:p>
                      <a:pPr algn="ctr" eaLnBrk="1" fontAlgn="ctr" latinLnBrk="0"/>
                      <a:r>
                        <a:rPr lang="en-US" sz="1000" b="0" i="0" u="none" strike="noStrike">
                          <a:solidFill>
                            <a:srgbClr val="000000"/>
                          </a:solidFill>
                          <a:effectLst/>
                          <a:latin typeface="Arial" panose="020F0502020204030204" pitchFamily="34" charset="0"/>
                          <a:ea typeface="Arial"/>
                        </a:rPr>
                        <a:t>3</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846.49</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15</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918.22</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439260361"/>
                  </a:ext>
                </a:extLst>
              </a:tr>
              <a:tr h="184415">
                <a:tc>
                  <a:txBody>
                    <a:bodyPr/>
                    <a:lstStyle/>
                    <a:p>
                      <a:pPr algn="ctr" eaLnBrk="1" fontAlgn="ctr" latinLnBrk="0"/>
                      <a:r>
                        <a:rPr lang="en-US" sz="1000" b="0" i="0" u="none" strike="noStrike">
                          <a:solidFill>
                            <a:srgbClr val="000000"/>
                          </a:solidFill>
                          <a:effectLst/>
                          <a:latin typeface="Arial" panose="020F0502020204030204" pitchFamily="34" charset="0"/>
                          <a:ea typeface="Arial"/>
                        </a:rPr>
                        <a:t>3</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847.85</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16</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903.63</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49897662"/>
                  </a:ext>
                </a:extLst>
              </a:tr>
              <a:tr h="184415">
                <a:tc>
                  <a:txBody>
                    <a:bodyPr/>
                    <a:lstStyle/>
                    <a:p>
                      <a:pPr algn="ctr" eaLnBrk="1" fontAlgn="ctr" latinLnBrk="0"/>
                      <a:r>
                        <a:rPr lang="en-US" sz="1000" b="0" i="0" u="none" strike="noStrike">
                          <a:solidFill>
                            <a:srgbClr val="000000"/>
                          </a:solidFill>
                          <a:effectLst/>
                          <a:latin typeface="Arial" panose="020F0502020204030204" pitchFamily="34" charset="0"/>
                          <a:ea typeface="Arial"/>
                        </a:rPr>
                        <a:t>4</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901.35</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16</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900.43</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812897988"/>
                  </a:ext>
                </a:extLst>
              </a:tr>
              <a:tr h="184415">
                <a:tc>
                  <a:txBody>
                    <a:bodyPr/>
                    <a:lstStyle/>
                    <a:p>
                      <a:pPr algn="ctr" eaLnBrk="1" fontAlgn="ctr" latinLnBrk="0"/>
                      <a:r>
                        <a:rPr lang="en-US" sz="1000" b="0" i="0" u="none" strike="noStrike">
                          <a:solidFill>
                            <a:srgbClr val="000000"/>
                          </a:solidFill>
                          <a:effectLst/>
                          <a:latin typeface="Arial" panose="020F0502020204030204" pitchFamily="34" charset="0"/>
                          <a:ea typeface="Arial"/>
                        </a:rPr>
                        <a:t>4</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898.05</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17</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847.94</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405657016"/>
                  </a:ext>
                </a:extLst>
              </a:tr>
              <a:tr h="184415">
                <a:tc>
                  <a:txBody>
                    <a:bodyPr/>
                    <a:lstStyle/>
                    <a:p>
                      <a:pPr algn="ctr" eaLnBrk="1" fontAlgn="ctr" latinLnBrk="0"/>
                      <a:r>
                        <a:rPr lang="en-US" sz="1000" b="0" i="0" u="none" strike="noStrike">
                          <a:solidFill>
                            <a:srgbClr val="000000"/>
                          </a:solidFill>
                          <a:effectLst/>
                          <a:latin typeface="Arial" panose="020F0502020204030204" pitchFamily="34" charset="0"/>
                          <a:ea typeface="Arial"/>
                        </a:rPr>
                        <a:t>5</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951.03</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17</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850.22</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78572026"/>
                  </a:ext>
                </a:extLst>
              </a:tr>
              <a:tr h="184415">
                <a:tc>
                  <a:txBody>
                    <a:bodyPr/>
                    <a:lstStyle/>
                    <a:p>
                      <a:pPr algn="ctr" eaLnBrk="1" fontAlgn="ctr" latinLnBrk="0"/>
                      <a:r>
                        <a:rPr lang="en-US" sz="1000" b="0" i="0" u="none" strike="noStrike">
                          <a:solidFill>
                            <a:srgbClr val="000000"/>
                          </a:solidFill>
                          <a:effectLst/>
                          <a:latin typeface="Arial" panose="020F0502020204030204" pitchFamily="34" charset="0"/>
                          <a:ea typeface="Arial"/>
                        </a:rPr>
                        <a:t>5</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950.78</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18</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872.57</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011261525"/>
                  </a:ext>
                </a:extLst>
              </a:tr>
              <a:tr h="184415">
                <a:tc>
                  <a:txBody>
                    <a:bodyPr/>
                    <a:lstStyle/>
                    <a:p>
                      <a:pPr algn="ctr" eaLnBrk="1" fontAlgn="ctr" latinLnBrk="0"/>
                      <a:r>
                        <a:rPr lang="en-US" sz="1000" b="0" i="0" u="none" strike="noStrike">
                          <a:solidFill>
                            <a:srgbClr val="000000"/>
                          </a:solidFill>
                          <a:effectLst/>
                          <a:latin typeface="Arial" panose="020F0502020204030204" pitchFamily="34" charset="0"/>
                          <a:ea typeface="Arial"/>
                        </a:rPr>
                        <a:t>6</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890.56</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18</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869.91</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929758953"/>
                  </a:ext>
                </a:extLst>
              </a:tr>
              <a:tr h="184415">
                <a:tc>
                  <a:txBody>
                    <a:bodyPr/>
                    <a:lstStyle/>
                    <a:p>
                      <a:pPr algn="ctr" eaLnBrk="1" fontAlgn="ctr" latinLnBrk="0"/>
                      <a:r>
                        <a:rPr lang="en-US" sz="1000" b="0" i="0" u="none" strike="noStrike">
                          <a:solidFill>
                            <a:srgbClr val="000000"/>
                          </a:solidFill>
                          <a:effectLst/>
                          <a:latin typeface="Arial" panose="020F0502020204030204" pitchFamily="34" charset="0"/>
                          <a:ea typeface="Arial"/>
                        </a:rPr>
                        <a:t>6</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892.16</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19</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948.43</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0307352"/>
                  </a:ext>
                </a:extLst>
              </a:tr>
              <a:tr h="184415">
                <a:tc>
                  <a:txBody>
                    <a:bodyPr/>
                    <a:lstStyle/>
                    <a:p>
                      <a:pPr algn="ctr" eaLnBrk="1" fontAlgn="ctr" latinLnBrk="0"/>
                      <a:r>
                        <a:rPr lang="en-US" sz="1000" b="0" i="0" u="none" strike="noStrike">
                          <a:solidFill>
                            <a:srgbClr val="000000"/>
                          </a:solidFill>
                          <a:effectLst/>
                          <a:latin typeface="Arial" panose="020F0502020204030204" pitchFamily="34" charset="0"/>
                          <a:ea typeface="Arial"/>
                        </a:rPr>
                        <a:t>7</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855.23</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19</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950.59</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61333202"/>
                  </a:ext>
                </a:extLst>
              </a:tr>
              <a:tr h="184415">
                <a:tc>
                  <a:txBody>
                    <a:bodyPr/>
                    <a:lstStyle/>
                    <a:p>
                      <a:pPr algn="ctr" eaLnBrk="1" fontAlgn="ctr" latinLnBrk="0"/>
                      <a:r>
                        <a:rPr lang="en-US" sz="1000" b="0" i="0" u="none" strike="noStrike">
                          <a:solidFill>
                            <a:srgbClr val="000000"/>
                          </a:solidFill>
                          <a:effectLst/>
                          <a:latin typeface="Arial" panose="020F0502020204030204" pitchFamily="34" charset="0"/>
                          <a:ea typeface="Arial"/>
                        </a:rPr>
                        <a:t>7</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851.36</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20</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918.35</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360630780"/>
                  </a:ext>
                </a:extLst>
              </a:tr>
              <a:tr h="184415">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889.44</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20</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920.88</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506073922"/>
                  </a:ext>
                </a:extLst>
              </a:tr>
              <a:tr h="184415">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886.99</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21</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846.80</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954930923"/>
                  </a:ext>
                </a:extLst>
              </a:tr>
              <a:tr h="184415">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882.94</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21</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847.89</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928780344"/>
                  </a:ext>
                </a:extLst>
              </a:tr>
              <a:tr h="184415">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882.16</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22</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870.83</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472366353"/>
                  </a:ext>
                </a:extLst>
              </a:tr>
              <a:tr h="184415">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10</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933.20</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22</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871.74</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074745787"/>
                  </a:ext>
                </a:extLst>
              </a:tr>
              <a:tr h="184415">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10</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937.61</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23</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961.99</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23611454"/>
                  </a:ext>
                </a:extLst>
              </a:tr>
              <a:tr h="184415">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11</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861.69</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23</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963.88</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795627802"/>
                  </a:ext>
                </a:extLst>
              </a:tr>
              <a:tr h="184415">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11</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859.00</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24</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931.05</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598179688"/>
                  </a:ext>
                </a:extLst>
              </a:tr>
              <a:tr h="184415">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12</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854.84</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24</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936.46</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2701374"/>
                  </a:ext>
                </a:extLst>
              </a:tr>
              <a:tr h="184415">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12</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856.49</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25</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877.87</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74120300"/>
                  </a:ext>
                </a:extLst>
              </a:tr>
              <a:tr h="184415">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13</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926.83</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25</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877.12</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976660481"/>
                  </a:ext>
                </a:extLst>
              </a:tr>
            </a:tbl>
          </a:graphicData>
        </a:graphic>
      </p:graphicFrame>
      <p:pic>
        <p:nvPicPr>
          <p:cNvPr id="8" name="Picture 7">
            <a:extLst>
              <a:ext uri="{FF2B5EF4-FFF2-40B4-BE49-F238E27FC236}">
                <a16:creationId xmlns:a16="http://schemas.microsoft.com/office/drawing/2014/main" id="{BB0F8718-B35E-4C23-BD06-E9D07E02704C}"/>
              </a:ext>
            </a:extLst>
          </p:cNvPr>
          <p:cNvPicPr>
            <a:picLocks noChangeAspect="1"/>
          </p:cNvPicPr>
          <p:nvPr/>
        </p:nvPicPr>
        <p:blipFill>
          <a:blip r:embed="rId4"/>
          <a:stretch>
            <a:fillRect/>
          </a:stretch>
        </p:blipFill>
        <p:spPr>
          <a:xfrm>
            <a:off x="5911316" y="1508265"/>
            <a:ext cx="3931436" cy="2957124"/>
          </a:xfrm>
          <a:prstGeom prst="rect">
            <a:avLst/>
          </a:prstGeom>
        </p:spPr>
      </p:pic>
      <p:sp>
        <p:nvSpPr>
          <p:cNvPr id="17" name="AutoShape 57">
            <a:extLst>
              <a:ext uri="{FF2B5EF4-FFF2-40B4-BE49-F238E27FC236}">
                <a16:creationId xmlns:a16="http://schemas.microsoft.com/office/drawing/2014/main" id="{7AC55846-A8AC-4576-9929-69CC7DB8A83E}"/>
              </a:ext>
            </a:extLst>
          </p:cNvPr>
          <p:cNvSpPr>
            <a:spLocks noChangeArrowheads="1"/>
          </p:cNvSpPr>
          <p:nvPr/>
        </p:nvSpPr>
        <p:spPr bwMode="auto">
          <a:xfrm>
            <a:off x="7687914" y="178989"/>
            <a:ext cx="749300" cy="287338"/>
          </a:xfrm>
          <a:prstGeom prst="homePlate">
            <a:avLst>
              <a:gd name="adj" fmla="val 46698"/>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Analyze</a:t>
            </a:r>
          </a:p>
        </p:txBody>
      </p:sp>
      <p:sp>
        <p:nvSpPr>
          <p:cNvPr id="19" name="AutoShape 58">
            <a:extLst>
              <a:ext uri="{FF2B5EF4-FFF2-40B4-BE49-F238E27FC236}">
                <a16:creationId xmlns:a16="http://schemas.microsoft.com/office/drawing/2014/main" id="{C1BD87E1-CF39-4ACA-8A8B-E73D4CC9739D}"/>
              </a:ext>
            </a:extLst>
          </p:cNvPr>
          <p:cNvSpPr>
            <a:spLocks noChangeArrowheads="1"/>
          </p:cNvSpPr>
          <p:nvPr/>
        </p:nvSpPr>
        <p:spPr bwMode="auto">
          <a:xfrm>
            <a:off x="8330852" y="51592"/>
            <a:ext cx="747712" cy="287337"/>
          </a:xfrm>
          <a:prstGeom prst="homePlate">
            <a:avLst>
              <a:gd name="adj" fmla="val 46599"/>
            </a:avLst>
          </a:prstGeom>
          <a:gradFill rotWithShape="1">
            <a:gsLst>
              <a:gs pos="0">
                <a:srgbClr val="494900"/>
              </a:gs>
              <a:gs pos="100000">
                <a:srgbClr val="808000"/>
              </a:gs>
            </a:gsLst>
            <a:lin ang="0" scaled="1"/>
          </a:gradFill>
          <a:ln w="6350" algn="ctr">
            <a:solidFill>
              <a:srgbClr val="808080"/>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latin typeface="Arial Narrow" panose="020B0606020202030204" pitchFamily="34" charset="0"/>
                <a:ea typeface="Arial" panose="020B0503020000020004" pitchFamily="50" charset="-127"/>
              </a:rPr>
              <a:t>Improve</a:t>
            </a:r>
          </a:p>
        </p:txBody>
      </p:sp>
    </p:spTree>
    <p:extLst>
      <p:ext uri="{BB962C8B-B14F-4D97-AF65-F5344CB8AC3E}">
        <p14:creationId xmlns:p14="http://schemas.microsoft.com/office/powerpoint/2010/main" val="38196459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제목 1"/>
          <p:cNvSpPr txBox="1">
            <a:spLocks/>
          </p:cNvSpPr>
          <p:nvPr/>
        </p:nvSpPr>
        <p:spPr>
          <a:xfrm>
            <a:off x="67107" y="86115"/>
            <a:ext cx="6181293" cy="418058"/>
          </a:xfrm>
          <a:prstGeom prst="rect">
            <a:avLst/>
          </a:prstGeom>
        </p:spPr>
        <p:txBody>
          <a:bodyPr vert="horz" lIns="91440" tIns="45720" rIns="91440" bIns="45720" rtlCol="0" anchor="ctr">
            <a:normAutofit/>
          </a:bodyPr>
          <a:lstStyle/>
          <a:p>
            <a:pPr lvl="0" eaLnBrk="1" latinLnBrk="0" hangingPunct="0">
              <a:defRPr/>
            </a:pPr>
            <a:r>
              <a:rPr kumimoji="1" lang="en-US" altLang="ko-KR" sz="1600" b="1" i="0" u="none" strike="noStrike" kern="0" cap="none" spc="0" normalizeH="0" baseline="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rPr>
              <a:t>4.3 Xbar-R Chart</a:t>
            </a:r>
            <a:r>
              <a:rPr kumimoji="1" lang="en-US" altLang="ko-KR" sz="1600" b="1" i="0" u="none" strike="noStrike" kern="0" cap="none" spc="0" normalizeH="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rPr>
              <a:t> Review </a:t>
            </a:r>
            <a:r>
              <a:rPr lang="en-US" altLang="ko-KR" sz="1600" b="1" kern="0" dirty="0">
                <a:latin typeface="Arial Narrow" panose="020B0606020202030204" pitchFamily="34" charset="0"/>
                <a:ea typeface="Arial Unicode MS" panose="020B0604020202020204" pitchFamily="34" charset="-128"/>
                <a:cs typeface="Arial" panose="020B0604020202020204" pitchFamily="34" charset="0"/>
              </a:rPr>
              <a:t>after improving the measurement system</a:t>
            </a:r>
            <a:endParaRPr kumimoji="1" lang="ko-KR" altLang="en-US" sz="1600" b="1" i="0" u="none" strike="noStrike" kern="0" cap="none" spc="0" normalizeH="0" baseline="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endParaRPr>
          </a:p>
        </p:txBody>
      </p:sp>
      <p:sp>
        <p:nvSpPr>
          <p:cNvPr id="43" name="TextBox 42"/>
          <p:cNvSpPr txBox="1"/>
          <p:nvPr/>
        </p:nvSpPr>
        <p:spPr>
          <a:xfrm>
            <a:off x="67106" y="842041"/>
            <a:ext cx="9457894" cy="461665"/>
          </a:xfrm>
          <a:prstGeom prst="rect">
            <a:avLst/>
          </a:prstGeom>
          <a:noFill/>
        </p:spPr>
        <p:txBody>
          <a:bodyPr wrap="square" rtlCol="0">
            <a:spAutoFit/>
          </a:bodyPr>
          <a:lstStyle/>
          <a:p>
            <a:pPr eaLnBrk="1" latinLnBrk="0"/>
            <a:r>
              <a:rPr lang="en-US" altLang="ko-KR" sz="1000" dirty="0">
                <a:latin typeface="Arial" panose="020B0604020202020204" pitchFamily="34" charset="0"/>
                <a:ea typeface="Arial Unicode MS" panose="020B0604020202020204" pitchFamily="34" charset="-128"/>
                <a:cs typeface="Arial" panose="020B0604020202020204" pitchFamily="34" charset="0"/>
              </a:rPr>
              <a:t>To monitor the mean and the variation of process after applying improvement and use control chart to monitor process stability over time.</a:t>
            </a:r>
          </a:p>
          <a:p>
            <a:pPr eaLnBrk="1" latinLnBrk="0"/>
            <a:r>
              <a:rPr lang="en-US" altLang="ko-KR" sz="1000" dirty="0">
                <a:latin typeface="Arial" panose="020B0604020202020204" pitchFamily="34" charset="0"/>
                <a:ea typeface="Arial Unicode MS" panose="020B0604020202020204" pitchFamily="34" charset="-128"/>
                <a:cs typeface="Arial" panose="020B0604020202020204" pitchFamily="34" charset="0"/>
              </a:rPr>
              <a:t>- Sampling method: rational subgroups of the first 5 sets per day at the production line, for 10 days (1-Jul to 10-Jul-2026).</a:t>
            </a:r>
          </a:p>
        </p:txBody>
      </p:sp>
      <p:graphicFrame>
        <p:nvGraphicFramePr>
          <p:cNvPr id="12" name="Diagram 11"/>
          <p:cNvGraphicFramePr/>
          <p:nvPr/>
        </p:nvGraphicFramePr>
        <p:xfrm>
          <a:off x="5689764" y="-1221095"/>
          <a:ext cx="3734291" cy="61715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17" name="Straight Connector 16"/>
          <p:cNvCxnSpPr/>
          <p:nvPr/>
        </p:nvCxnSpPr>
        <p:spPr>
          <a:xfrm>
            <a:off x="0" y="457200"/>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144016" y="5823484"/>
            <a:ext cx="9228584" cy="646331"/>
          </a:xfrm>
          <a:prstGeom prst="rect">
            <a:avLst/>
          </a:prstGeom>
          <a:noFill/>
        </p:spPr>
        <p:txBody>
          <a:bodyPr wrap="square" rtlCol="0">
            <a:spAutoFit/>
          </a:bodyPr>
          <a:lstStyle/>
          <a:p>
            <a:pPr marL="171450" indent="-171450" eaLnBrk="1" latinLnBrk="0">
              <a:buFont typeface="Wingdings" panose="05000000000000000000" pitchFamily="2" charset="2"/>
              <a:buChar char="Ø"/>
            </a:pPr>
            <a:r>
              <a:rPr lang="en-US" altLang="ko-KR" sz="1000" b="1" u="sng" dirty="0">
                <a:latin typeface="Arial" panose="020B0604020202020204" pitchFamily="34" charset="0"/>
                <a:ea typeface="LG Smart_H Regular" panose="020B0600000101010101" pitchFamily="34" charset="-127"/>
                <a:cs typeface="Arial" panose="020B0604020202020204" pitchFamily="34" charset="0"/>
              </a:rPr>
              <a:t>Conclusion:</a:t>
            </a:r>
            <a:r>
              <a:rPr lang="vi-VN" altLang="ko-KR" sz="1000" b="1" u="sng" dirty="0">
                <a:latin typeface="Arial" panose="020B0604020202020204" pitchFamily="34" charset="0"/>
                <a:ea typeface="LG Smart_H Regular" panose="020B0600000101010101" pitchFamily="34" charset="-127"/>
                <a:cs typeface="Arial" panose="020B0604020202020204" pitchFamily="34" charset="0"/>
              </a:rPr>
              <a:t> </a:t>
            </a:r>
          </a:p>
          <a:p>
            <a:pPr marL="171450" indent="-171450" eaLnBrk="1" latinLnBrk="0">
              <a:buFont typeface="Arial" panose="020B0604020202020204" pitchFamily="34" charset="0"/>
              <a:buChar char="•"/>
            </a:pPr>
            <a:r>
              <a:rPr lang="en-US" altLang="en-US" sz="1000" dirty="0">
                <a:latin typeface="Arial" panose="020B0600000101010101" pitchFamily="34" charset="-127"/>
                <a:ea typeface="Arial" panose="020B0600000101010101" pitchFamily="34" charset="-127"/>
              </a:rPr>
              <a:t>No out-of-control point and no abnormal pattern (run tests) was found in the Xbar and R control charts. Therefore the process is stable over time.</a:t>
            </a:r>
            <a:endParaRPr lang="en-US" altLang="ko-KR" sz="1200" dirty="0">
              <a:latin typeface="Arial" panose="020B0604020202020204" pitchFamily="34" charset="0"/>
              <a:ea typeface="LG Smart_H Regular" panose="020B0600000101010101" pitchFamily="34" charset="-127"/>
              <a:cs typeface="Arial" panose="020B0604020202020204" pitchFamily="34" charset="0"/>
            </a:endParaRPr>
          </a:p>
        </p:txBody>
      </p:sp>
      <p:sp>
        <p:nvSpPr>
          <p:cNvPr id="15" name="Slide Number Placeholder 4">
            <a:extLst>
              <a:ext uri="{FF2B5EF4-FFF2-40B4-BE49-F238E27FC236}">
                <a16:creationId xmlns:a16="http://schemas.microsoft.com/office/drawing/2014/main" id="{C43E9E2D-07E0-4BDA-8E12-269E0FA0D474}"/>
              </a:ext>
            </a:extLst>
          </p:cNvPr>
          <p:cNvSpPr>
            <a:spLocks noGrp="1"/>
          </p:cNvSpPr>
          <p:nvPr>
            <p:ph type="sldNum" sz="quarter" idx="12"/>
          </p:nvPr>
        </p:nvSpPr>
        <p:spPr>
          <a:xfrm>
            <a:off x="3700326" y="6643499"/>
            <a:ext cx="2133600" cy="198047"/>
          </a:xfrm>
        </p:spPr>
        <p:txBody>
          <a:bodyPr/>
          <a:lstStyle/>
          <a:p>
            <a:pPr algn="ctr" eaLnBrk="1" latinLnBrk="0"/>
            <a:r>
              <a:rPr sz="1000" b="0">
                <a:latin typeface="Arial"/>
              </a:rPr>
              <a:t>24 / 33</a:t>
            </a:r>
            <a:endParaRPr lang="ko-KR" altLang="en-US" sz="1200" dirty="0">
              <a:solidFill>
                <a:prstClr val="black">
                  <a:tint val="75000"/>
                </a:prstClr>
              </a:solidFill>
              <a:latin typeface="Arial" panose="020B0604020202020204" pitchFamily="34" charset="0"/>
              <a:ea typeface="Arial Unicode MS" panose="020B0604020202020204" pitchFamily="34" charset="-128"/>
              <a:cs typeface="Arial" panose="020B0604020202020204" pitchFamily="34" charset="0"/>
            </a:endParaRPr>
          </a:p>
        </p:txBody>
      </p:sp>
      <p:sp>
        <p:nvSpPr>
          <p:cNvPr id="13" name="AutoShape 55">
            <a:extLst>
              <a:ext uri="{FF2B5EF4-FFF2-40B4-BE49-F238E27FC236}">
                <a16:creationId xmlns:a16="http://schemas.microsoft.com/office/drawing/2014/main" id="{8D969275-7FCE-4DA4-896B-5F6B33E66339}"/>
              </a:ext>
            </a:extLst>
          </p:cNvPr>
          <p:cNvSpPr>
            <a:spLocks noChangeArrowheads="1"/>
          </p:cNvSpPr>
          <p:nvPr/>
        </p:nvSpPr>
        <p:spPr bwMode="auto">
          <a:xfrm>
            <a:off x="9121997" y="155670"/>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Control</a:t>
            </a:r>
          </a:p>
        </p:txBody>
      </p:sp>
      <p:sp>
        <p:nvSpPr>
          <p:cNvPr id="19" name="AutoShape 59">
            <a:extLst>
              <a:ext uri="{FF2B5EF4-FFF2-40B4-BE49-F238E27FC236}">
                <a16:creationId xmlns:a16="http://schemas.microsoft.com/office/drawing/2014/main" id="{BCF43FF0-638F-4D22-9E24-50CD9446CEC3}"/>
              </a:ext>
            </a:extLst>
          </p:cNvPr>
          <p:cNvSpPr>
            <a:spLocks noChangeArrowheads="1"/>
          </p:cNvSpPr>
          <p:nvPr/>
        </p:nvSpPr>
        <p:spPr bwMode="auto">
          <a:xfrm>
            <a:off x="6372447" y="155670"/>
            <a:ext cx="757238" cy="287338"/>
          </a:xfrm>
          <a:prstGeom prst="homePlate">
            <a:avLst>
              <a:gd name="adj" fmla="val 47192"/>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Define</a:t>
            </a:r>
          </a:p>
        </p:txBody>
      </p:sp>
      <p:sp>
        <p:nvSpPr>
          <p:cNvPr id="21" name="AutoShape 57">
            <a:extLst>
              <a:ext uri="{FF2B5EF4-FFF2-40B4-BE49-F238E27FC236}">
                <a16:creationId xmlns:a16="http://schemas.microsoft.com/office/drawing/2014/main" id="{FC2AADA2-7ABC-4D8D-BE22-7EF0DFC84E45}"/>
              </a:ext>
            </a:extLst>
          </p:cNvPr>
          <p:cNvSpPr>
            <a:spLocks noChangeArrowheads="1"/>
          </p:cNvSpPr>
          <p:nvPr/>
        </p:nvSpPr>
        <p:spPr bwMode="auto">
          <a:xfrm>
            <a:off x="7687914" y="178989"/>
            <a:ext cx="749300" cy="287338"/>
          </a:xfrm>
          <a:prstGeom prst="homePlate">
            <a:avLst>
              <a:gd name="adj" fmla="val 46698"/>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Analyze</a:t>
            </a:r>
          </a:p>
        </p:txBody>
      </p:sp>
      <p:sp>
        <p:nvSpPr>
          <p:cNvPr id="22" name="AutoShape 56">
            <a:extLst>
              <a:ext uri="{FF2B5EF4-FFF2-40B4-BE49-F238E27FC236}">
                <a16:creationId xmlns:a16="http://schemas.microsoft.com/office/drawing/2014/main" id="{5E74889D-BC3B-4CC2-A97B-0F77D2495EAE}"/>
              </a:ext>
            </a:extLst>
          </p:cNvPr>
          <p:cNvSpPr>
            <a:spLocks noChangeArrowheads="1"/>
          </p:cNvSpPr>
          <p:nvPr/>
        </p:nvSpPr>
        <p:spPr bwMode="auto">
          <a:xfrm>
            <a:off x="7018783" y="178989"/>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Measure</a:t>
            </a:r>
          </a:p>
        </p:txBody>
      </p:sp>
      <p:sp>
        <p:nvSpPr>
          <p:cNvPr id="23" name="AutoShape 58">
            <a:extLst>
              <a:ext uri="{FF2B5EF4-FFF2-40B4-BE49-F238E27FC236}">
                <a16:creationId xmlns:a16="http://schemas.microsoft.com/office/drawing/2014/main" id="{91238B10-8FED-4C48-BDE2-4FBBF1E228A6}"/>
              </a:ext>
            </a:extLst>
          </p:cNvPr>
          <p:cNvSpPr>
            <a:spLocks noChangeArrowheads="1"/>
          </p:cNvSpPr>
          <p:nvPr/>
        </p:nvSpPr>
        <p:spPr bwMode="auto">
          <a:xfrm>
            <a:off x="8330852" y="51592"/>
            <a:ext cx="747712" cy="287337"/>
          </a:xfrm>
          <a:prstGeom prst="homePlate">
            <a:avLst>
              <a:gd name="adj" fmla="val 46599"/>
            </a:avLst>
          </a:prstGeom>
          <a:gradFill rotWithShape="1">
            <a:gsLst>
              <a:gs pos="0">
                <a:srgbClr val="494900"/>
              </a:gs>
              <a:gs pos="100000">
                <a:srgbClr val="808000"/>
              </a:gs>
            </a:gsLst>
            <a:lin ang="0" scaled="1"/>
          </a:gradFill>
          <a:ln w="6350" algn="ctr">
            <a:solidFill>
              <a:srgbClr val="808080"/>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latin typeface="Arial Narrow" panose="020B0606020202030204" pitchFamily="34" charset="0"/>
                <a:ea typeface="Arial" panose="020B0503020000020004" pitchFamily="50" charset="-127"/>
              </a:rPr>
              <a:t>Improve</a:t>
            </a:r>
          </a:p>
        </p:txBody>
      </p:sp>
      <p:sp>
        <p:nvSpPr>
          <p:cNvPr id="20" name="TextBox 19">
            <a:extLst>
              <a:ext uri="{FF2B5EF4-FFF2-40B4-BE49-F238E27FC236}">
                <a16:creationId xmlns:a16="http://schemas.microsoft.com/office/drawing/2014/main" id="{37E2590F-A62F-4944-934D-B57B4522B109}"/>
              </a:ext>
            </a:extLst>
          </p:cNvPr>
          <p:cNvSpPr txBox="1"/>
          <p:nvPr/>
        </p:nvSpPr>
        <p:spPr>
          <a:xfrm>
            <a:off x="63248" y="535377"/>
            <a:ext cx="3518152" cy="276999"/>
          </a:xfrm>
          <a:prstGeom prst="rect">
            <a:avLst/>
          </a:prstGeom>
          <a:noFill/>
        </p:spPr>
        <p:txBody>
          <a:bodyPr wrap="square" rtlCol="0">
            <a:spAutoFit/>
          </a:bodyPr>
          <a:lstStyle/>
          <a:p>
            <a:pPr marL="171450" indent="-171450" eaLnBrk="1" latinLnBrk="0">
              <a:buFont typeface="Wingdings" panose="05000000000000000000" pitchFamily="2" charset="2"/>
              <a:buChar char="q"/>
            </a:pPr>
            <a:r>
              <a:rPr lang="vi-VN" sz="1000" b="1" dirty="0">
                <a:latin typeface="Arial" panose="020B0604020202020204" pitchFamily="34" charset="0"/>
                <a:ea typeface="Arial Unicode MS" panose="020B0604020202020204" pitchFamily="34" charset="-128"/>
                <a:cs typeface="Arial" panose="020B0604020202020204" pitchFamily="34" charset="0"/>
              </a:rPr>
              <a:t>Station </a:t>
            </a:r>
            <a:r>
              <a:rPr lang="en-US" sz="1000" b="1" dirty="0">
                <a:latin typeface="Arial" panose="020B0604020202020204" pitchFamily="34" charset="0"/>
                <a:ea typeface="Arial Unicode MS" panose="020B0604020202020204" pitchFamily="34" charset="-128"/>
                <a:cs typeface="Arial" panose="020B0604020202020204" pitchFamily="34" charset="0"/>
              </a:rPr>
              <a:t>1 Luminance</a:t>
            </a:r>
          </a:p>
        </p:txBody>
      </p:sp>
      <p:graphicFrame>
        <p:nvGraphicFramePr>
          <p:cNvPr id="8" name="Table 7">
            <a:extLst>
              <a:ext uri="{FF2B5EF4-FFF2-40B4-BE49-F238E27FC236}">
                <a16:creationId xmlns:a16="http://schemas.microsoft.com/office/drawing/2014/main" id="{DFBA1A7A-0E76-45AC-82EE-E65F89C7B769}"/>
              </a:ext>
            </a:extLst>
          </p:cNvPr>
          <p:cNvGraphicFramePr>
            <a:graphicFrameLocks noGrp="1"/>
          </p:cNvGraphicFramePr>
          <p:nvPr>
            <p:extLst>
              <p:ext uri="{D42A27DB-BD31-4B8C-83A1-F6EECF244321}">
                <p14:modId xmlns:p14="http://schemas.microsoft.com/office/powerpoint/2010/main" val="1585198051"/>
              </p:ext>
            </p:extLst>
          </p:nvPr>
        </p:nvGraphicFramePr>
        <p:xfrm>
          <a:off x="163797" y="1821588"/>
          <a:ext cx="4038600" cy="3282168"/>
        </p:xfrm>
        <a:graphic>
          <a:graphicData uri="http://schemas.openxmlformats.org/drawingml/2006/table">
            <a:tbl>
              <a:tblPr/>
              <a:tblGrid>
                <a:gridCol w="673100">
                  <a:extLst>
                    <a:ext uri="{9D8B030D-6E8A-4147-A177-3AD203B41FA5}">
                      <a16:colId xmlns:a16="http://schemas.microsoft.com/office/drawing/2014/main" val="2340100333"/>
                    </a:ext>
                  </a:extLst>
                </a:gridCol>
                <a:gridCol w="673100">
                  <a:extLst>
                    <a:ext uri="{9D8B030D-6E8A-4147-A177-3AD203B41FA5}">
                      <a16:colId xmlns:a16="http://schemas.microsoft.com/office/drawing/2014/main" val="1167583010"/>
                    </a:ext>
                  </a:extLst>
                </a:gridCol>
                <a:gridCol w="673100">
                  <a:extLst>
                    <a:ext uri="{9D8B030D-6E8A-4147-A177-3AD203B41FA5}">
                      <a16:colId xmlns:a16="http://schemas.microsoft.com/office/drawing/2014/main" val="4066901643"/>
                    </a:ext>
                  </a:extLst>
                </a:gridCol>
                <a:gridCol w="673100">
                  <a:extLst>
                    <a:ext uri="{9D8B030D-6E8A-4147-A177-3AD203B41FA5}">
                      <a16:colId xmlns:a16="http://schemas.microsoft.com/office/drawing/2014/main" val="1960153468"/>
                    </a:ext>
                  </a:extLst>
                </a:gridCol>
                <a:gridCol w="673100">
                  <a:extLst>
                    <a:ext uri="{9D8B030D-6E8A-4147-A177-3AD203B41FA5}">
                      <a16:colId xmlns:a16="http://schemas.microsoft.com/office/drawing/2014/main" val="2368877709"/>
                    </a:ext>
                  </a:extLst>
                </a:gridCol>
                <a:gridCol w="673100">
                  <a:extLst>
                    <a:ext uri="{9D8B030D-6E8A-4147-A177-3AD203B41FA5}">
                      <a16:colId xmlns:a16="http://schemas.microsoft.com/office/drawing/2014/main" val="1989563177"/>
                    </a:ext>
                  </a:extLst>
                </a:gridCol>
              </a:tblGrid>
              <a:tr h="257128">
                <a:tc>
                  <a:txBody>
                    <a:bodyPr/>
                    <a:lstStyle/>
                    <a:p>
                      <a:pPr algn="ctr" rtl="0" eaLnBrk="1" fontAlgn="ctr" latinLnBrk="0"/>
                      <a:r>
                        <a:rPr lang="en-US" sz="800" b="1" i="0" u="none" strike="noStrike">
                          <a:solidFill>
                            <a:srgbClr val="000000"/>
                          </a:solidFill>
                          <a:effectLst/>
                          <a:latin typeface="Arial" panose="020B0604020202020204" pitchFamily="34" charset="0"/>
                        </a:rPr>
                        <a:t>Date</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tc>
                  <a:txBody>
                    <a:bodyPr/>
                    <a:lstStyle/>
                    <a:p>
                      <a:pPr algn="ctr" rtl="0" eaLnBrk="1" fontAlgn="ctr" latinLnBrk="0"/>
                      <a:r>
                        <a:rPr lang="en-US" sz="800" b="1" i="0" u="none" strike="noStrike">
                          <a:solidFill>
                            <a:srgbClr val="000000"/>
                          </a:solidFill>
                          <a:effectLst/>
                          <a:latin typeface="Arial" panose="020B0604020202020204" pitchFamily="34" charset="0"/>
                        </a:rPr>
                        <a:t>Sample 1</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tc>
                  <a:txBody>
                    <a:bodyPr/>
                    <a:lstStyle/>
                    <a:p>
                      <a:pPr algn="ctr" rtl="0" eaLnBrk="1" fontAlgn="ctr" latinLnBrk="0"/>
                      <a:r>
                        <a:rPr lang="en-US" sz="800" b="1" i="0" u="none" strike="noStrike">
                          <a:solidFill>
                            <a:srgbClr val="000000"/>
                          </a:solidFill>
                          <a:effectLst/>
                          <a:latin typeface="Arial" panose="020B0604020202020204" pitchFamily="34" charset="0"/>
                        </a:rPr>
                        <a:t>Sample 2</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tc>
                  <a:txBody>
                    <a:bodyPr/>
                    <a:lstStyle/>
                    <a:p>
                      <a:pPr algn="ctr" rtl="0" eaLnBrk="1" fontAlgn="ctr" latinLnBrk="0"/>
                      <a:r>
                        <a:rPr lang="en-US" sz="800" b="1" i="0" u="none" strike="noStrike">
                          <a:solidFill>
                            <a:srgbClr val="000000"/>
                          </a:solidFill>
                          <a:effectLst/>
                          <a:latin typeface="Arial" panose="020B0604020202020204" pitchFamily="34" charset="0"/>
                        </a:rPr>
                        <a:t>Sample 3</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tc>
                  <a:txBody>
                    <a:bodyPr/>
                    <a:lstStyle/>
                    <a:p>
                      <a:pPr algn="ctr" rtl="0" eaLnBrk="1" fontAlgn="ctr" latinLnBrk="0"/>
                      <a:r>
                        <a:rPr lang="en-US" sz="800" b="1" i="0" u="none" strike="noStrike">
                          <a:solidFill>
                            <a:srgbClr val="000000"/>
                          </a:solidFill>
                          <a:effectLst/>
                          <a:latin typeface="Arial" panose="020B0604020202020204" pitchFamily="34" charset="0"/>
                        </a:rPr>
                        <a:t>Sample 4</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tc>
                  <a:txBody>
                    <a:bodyPr/>
                    <a:lstStyle/>
                    <a:p>
                      <a:pPr algn="ctr" rtl="0" eaLnBrk="1" fontAlgn="ctr" latinLnBrk="0"/>
                      <a:r>
                        <a:rPr lang="en-US" sz="800" b="1" i="0" u="none" strike="noStrike">
                          <a:solidFill>
                            <a:srgbClr val="000000"/>
                          </a:solidFill>
                          <a:effectLst/>
                          <a:latin typeface="Arial" panose="020B0604020202020204" pitchFamily="34" charset="0"/>
                        </a:rPr>
                        <a:t>Sample 5</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extLst>
                  <a:ext uri="{0D108BD9-81ED-4DB2-BD59-A6C34878D82A}">
                    <a16:rowId xmlns:a16="http://schemas.microsoft.com/office/drawing/2014/main" val="2473820387"/>
                  </a:ext>
                </a:extLst>
              </a:tr>
              <a:tr h="302504">
                <a:tc>
                  <a:txBody>
                    <a:bodyPr/>
                    <a:lstStyle/>
                    <a:p>
                      <a:pPr algn="ctr" rtl="0" eaLnBrk="1" fontAlgn="ctr" latinLnBrk="0"/>
                      <a:r>
                        <a:rPr lang="en-US" sz="1000" b="1" i="0" u="none" strike="noStrike">
                          <a:solidFill>
                            <a:srgbClr val="000000"/>
                          </a:solidFill>
                          <a:effectLst/>
                          <a:latin typeface="Arial" panose="020B0600000101010101" pitchFamily="34" charset="-127"/>
                          <a:ea typeface="Arial" panose="020B0600000101010101" pitchFamily="34" charset="-127"/>
                        </a:rPr>
                        <a:t>1-Jul</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879.90</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878.25</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891.17</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921.47</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911.97</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591336354"/>
                  </a:ext>
                </a:extLst>
              </a:tr>
              <a:tr h="302504">
                <a:tc>
                  <a:txBody>
                    <a:bodyPr/>
                    <a:lstStyle/>
                    <a:p>
                      <a:pPr algn="ctr" rtl="0" eaLnBrk="1" fontAlgn="ctr" latinLnBrk="0"/>
                      <a:r>
                        <a:rPr lang="en-US" sz="1000" b="1" i="0" u="none" strike="noStrike">
                          <a:solidFill>
                            <a:srgbClr val="000000"/>
                          </a:solidFill>
                          <a:effectLst/>
                          <a:latin typeface="Arial" panose="020B0600000101010101" pitchFamily="34" charset="-127"/>
                          <a:ea typeface="Arial" panose="020B0600000101010101" pitchFamily="34" charset="-127"/>
                        </a:rPr>
                        <a:t>2-Jul</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918.79</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908.47</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897.79</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906.27</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921.88</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781208290"/>
                  </a:ext>
                </a:extLst>
              </a:tr>
              <a:tr h="302504">
                <a:tc>
                  <a:txBody>
                    <a:bodyPr/>
                    <a:lstStyle/>
                    <a:p>
                      <a:pPr algn="ctr" rtl="0" eaLnBrk="1" fontAlgn="ctr" latinLnBrk="0"/>
                      <a:r>
                        <a:rPr lang="en-US" sz="1000" b="1" i="0" u="none" strike="noStrike" dirty="0">
                          <a:solidFill>
                            <a:srgbClr val="000000"/>
                          </a:solidFill>
                          <a:effectLst/>
                          <a:latin typeface="Arial" panose="020B0600000101010101" pitchFamily="34" charset="-127"/>
                          <a:ea typeface="Arial" panose="020B0600000101010101" pitchFamily="34" charset="-127"/>
                        </a:rPr>
                        <a:t>3-Jul</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920.61</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929.42</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914.50</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930.37</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902.39</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717767888"/>
                  </a:ext>
                </a:extLst>
              </a:tr>
              <a:tr h="302504">
                <a:tc>
                  <a:txBody>
                    <a:bodyPr/>
                    <a:lstStyle/>
                    <a:p>
                      <a:pPr algn="ctr" rtl="0" eaLnBrk="1" fontAlgn="ctr" latinLnBrk="0"/>
                      <a:r>
                        <a:rPr lang="en-US" sz="1000" b="1" i="0" u="none" strike="noStrike">
                          <a:solidFill>
                            <a:srgbClr val="000000"/>
                          </a:solidFill>
                          <a:effectLst/>
                          <a:latin typeface="Arial" panose="020B0600000101010101" pitchFamily="34" charset="-127"/>
                          <a:ea typeface="Arial" panose="020B0600000101010101" pitchFamily="34" charset="-127"/>
                        </a:rPr>
                        <a:t>4-Jul</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913.69</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907.88</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921.66</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901.92</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922.89</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999502995"/>
                  </a:ext>
                </a:extLst>
              </a:tr>
              <a:tr h="302504">
                <a:tc>
                  <a:txBody>
                    <a:bodyPr/>
                    <a:lstStyle/>
                    <a:p>
                      <a:pPr algn="ctr" rtl="0" eaLnBrk="1" fontAlgn="ctr" latinLnBrk="0"/>
                      <a:r>
                        <a:rPr lang="en-US" sz="1000" b="1" i="0" u="none" strike="noStrike">
                          <a:solidFill>
                            <a:srgbClr val="000000"/>
                          </a:solidFill>
                          <a:effectLst/>
                          <a:latin typeface="Arial" panose="020B0600000101010101" pitchFamily="34" charset="-127"/>
                          <a:ea typeface="Arial" panose="020B0600000101010101" pitchFamily="34" charset="-127"/>
                        </a:rPr>
                        <a:t>5-Jul</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901.04</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902.26</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916.63</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898.68</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916.27</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940151649"/>
                  </a:ext>
                </a:extLst>
              </a:tr>
              <a:tr h="302504">
                <a:tc>
                  <a:txBody>
                    <a:bodyPr/>
                    <a:lstStyle/>
                    <a:p>
                      <a:pPr algn="ctr" rtl="0" eaLnBrk="1" fontAlgn="ctr" latinLnBrk="0"/>
                      <a:r>
                        <a:rPr lang="en-US" sz="1000" b="1" i="0" u="none" strike="noStrike">
                          <a:solidFill>
                            <a:srgbClr val="000000"/>
                          </a:solidFill>
                          <a:effectLst/>
                          <a:latin typeface="Arial" panose="020B0600000101010101" pitchFamily="34" charset="-127"/>
                          <a:ea typeface="Arial" panose="020B0600000101010101" pitchFamily="34" charset="-127"/>
                        </a:rPr>
                        <a:t>6-Jul</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903.05</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920.08</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880.62</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929.37</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912.76</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857871683"/>
                  </a:ext>
                </a:extLst>
              </a:tr>
              <a:tr h="302504">
                <a:tc>
                  <a:txBody>
                    <a:bodyPr/>
                    <a:lstStyle/>
                    <a:p>
                      <a:pPr algn="ctr" rtl="0" eaLnBrk="1" fontAlgn="ctr" latinLnBrk="0"/>
                      <a:r>
                        <a:rPr lang="en-US" sz="1000" b="1" i="0" u="none" strike="noStrike">
                          <a:solidFill>
                            <a:srgbClr val="000000"/>
                          </a:solidFill>
                          <a:effectLst/>
                          <a:latin typeface="Arial" panose="020B0600000101010101" pitchFamily="34" charset="-127"/>
                          <a:ea typeface="Arial" panose="020B0600000101010101" pitchFamily="34" charset="-127"/>
                        </a:rPr>
                        <a:t>7-Jul</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911.27</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914.57</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897.62</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907.43</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907.96</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603077226"/>
                  </a:ext>
                </a:extLst>
              </a:tr>
              <a:tr h="302504">
                <a:tc>
                  <a:txBody>
                    <a:bodyPr/>
                    <a:lstStyle/>
                    <a:p>
                      <a:pPr algn="ctr" rtl="0" eaLnBrk="1" fontAlgn="ctr" latinLnBrk="0"/>
                      <a:r>
                        <a:rPr lang="en-US" sz="1000" b="1" i="0" u="none" strike="noStrike">
                          <a:solidFill>
                            <a:srgbClr val="000000"/>
                          </a:solidFill>
                          <a:effectLst/>
                          <a:latin typeface="Arial" panose="020B0600000101010101" pitchFamily="34" charset="-127"/>
                          <a:ea typeface="Arial" panose="020B0600000101010101" pitchFamily="34" charset="-127"/>
                        </a:rPr>
                        <a:t>8-Jul</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892.92</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896.84</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890.74</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893.58</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909.34</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851744127"/>
                  </a:ext>
                </a:extLst>
              </a:tr>
              <a:tr h="302504">
                <a:tc>
                  <a:txBody>
                    <a:bodyPr/>
                    <a:lstStyle/>
                    <a:p>
                      <a:pPr algn="ctr" rtl="0" eaLnBrk="1" fontAlgn="ctr" latinLnBrk="0"/>
                      <a:r>
                        <a:rPr lang="en-US" sz="1000" b="1" i="0" u="none" strike="noStrike">
                          <a:solidFill>
                            <a:srgbClr val="000000"/>
                          </a:solidFill>
                          <a:effectLst/>
                          <a:latin typeface="Arial" panose="020B0600000101010101" pitchFamily="34" charset="-127"/>
                          <a:ea typeface="Arial" panose="020B0600000101010101" pitchFamily="34" charset="-127"/>
                        </a:rPr>
                        <a:t>9-Jul</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919.62</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915.27</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905.33</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921.51</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901.95</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837223075"/>
                  </a:ext>
                </a:extLst>
              </a:tr>
              <a:tr h="302504">
                <a:tc>
                  <a:txBody>
                    <a:bodyPr/>
                    <a:lstStyle/>
                    <a:p>
                      <a:pPr algn="ctr" rtl="0" eaLnBrk="1" fontAlgn="ctr" latinLnBrk="0"/>
                      <a:r>
                        <a:rPr lang="en-US" sz="1000" b="1" i="0" u="none" strike="noStrike">
                          <a:solidFill>
                            <a:srgbClr val="000000"/>
                          </a:solidFill>
                          <a:effectLst/>
                          <a:latin typeface="Arial" panose="020B0600000101010101" pitchFamily="34" charset="-127"/>
                          <a:ea typeface="Arial" panose="020B0600000101010101" pitchFamily="34" charset="-127"/>
                        </a:rPr>
                        <a:t>10-Jul</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893.52</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888.02</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875.39</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893.15</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926.85</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126335670"/>
                  </a:ext>
                </a:extLst>
              </a:tr>
            </a:tbl>
          </a:graphicData>
        </a:graphic>
      </p:graphicFrame>
      <p:pic>
        <p:nvPicPr>
          <p:cNvPr id="2" name="Picture 1">
            <a:extLst>
              <a:ext uri="{FF2B5EF4-FFF2-40B4-BE49-F238E27FC236}">
                <a16:creationId xmlns:a16="http://schemas.microsoft.com/office/drawing/2014/main" id="{36823C64-CC70-4821-82AF-F464E87BEC31}"/>
              </a:ext>
            </a:extLst>
          </p:cNvPr>
          <p:cNvPicPr>
            <a:picLocks noChangeAspect="1"/>
          </p:cNvPicPr>
          <p:nvPr/>
        </p:nvPicPr>
        <p:blipFill>
          <a:blip r:embed="rId8"/>
          <a:stretch>
            <a:fillRect/>
          </a:stretch>
        </p:blipFill>
        <p:spPr>
          <a:xfrm>
            <a:off x="4505779" y="1709532"/>
            <a:ext cx="5106818" cy="3438935"/>
          </a:xfrm>
          <a:prstGeom prst="rect">
            <a:avLst/>
          </a:prstGeom>
        </p:spPr>
      </p:pic>
    </p:spTree>
    <p:extLst>
      <p:ext uri="{BB962C8B-B14F-4D97-AF65-F5344CB8AC3E}">
        <p14:creationId xmlns:p14="http://schemas.microsoft.com/office/powerpoint/2010/main" val="1774996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제목 1"/>
          <p:cNvSpPr txBox="1">
            <a:spLocks/>
          </p:cNvSpPr>
          <p:nvPr/>
        </p:nvSpPr>
        <p:spPr>
          <a:xfrm>
            <a:off x="67107" y="86115"/>
            <a:ext cx="6156000" cy="418058"/>
          </a:xfrm>
          <a:prstGeom prst="rect">
            <a:avLst/>
          </a:prstGeom>
        </p:spPr>
        <p:txBody>
          <a:bodyPr vert="horz" lIns="91440" tIns="45720" rIns="91440" bIns="45720" rtlCol="0" anchor="ctr">
            <a:noAutofit/>
          </a:bodyPr>
          <a:lstStyle/>
          <a:p>
            <a:pPr lvl="0" eaLnBrk="1" latinLnBrk="0" hangingPunct="0">
              <a:defRPr/>
            </a:pPr>
            <a:r>
              <a:rPr lang="en-US" altLang="ko-KR" sz="1600" b="1" kern="0" dirty="0">
                <a:latin typeface="Arial Narrow" panose="020B0606020202030204" pitchFamily="34" charset="0"/>
                <a:ea typeface="Arial Unicode MS" panose="020B0604020202020204" pitchFamily="34" charset="-128"/>
                <a:cs typeface="Arial" panose="020B0604020202020204" pitchFamily="34" charset="0"/>
              </a:rPr>
              <a:t>4.3 Xbar-R Chart Review after improving the measurement system</a:t>
            </a:r>
            <a:endParaRPr lang="ko-KR" altLang="en-US" sz="1600" b="1" kern="0" dirty="0">
              <a:latin typeface="Arial Narrow" panose="020B0606020202030204" pitchFamily="34" charset="0"/>
              <a:ea typeface="Arial Unicode MS" panose="020B0604020202020204" pitchFamily="34" charset="-128"/>
              <a:cs typeface="Arial" panose="020B0604020202020204" pitchFamily="34" charset="0"/>
            </a:endParaRPr>
          </a:p>
        </p:txBody>
      </p:sp>
      <p:graphicFrame>
        <p:nvGraphicFramePr>
          <p:cNvPr id="12" name="Diagram 11"/>
          <p:cNvGraphicFramePr/>
          <p:nvPr/>
        </p:nvGraphicFramePr>
        <p:xfrm>
          <a:off x="5689764" y="-1221095"/>
          <a:ext cx="3734291" cy="61715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17" name="Straight Connector 16"/>
          <p:cNvCxnSpPr/>
          <p:nvPr/>
        </p:nvCxnSpPr>
        <p:spPr>
          <a:xfrm>
            <a:off x="0" y="457200"/>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5" name="Slide Number Placeholder 4">
            <a:extLst>
              <a:ext uri="{FF2B5EF4-FFF2-40B4-BE49-F238E27FC236}">
                <a16:creationId xmlns:a16="http://schemas.microsoft.com/office/drawing/2014/main" id="{C43E9E2D-07E0-4BDA-8E12-269E0FA0D474}"/>
              </a:ext>
            </a:extLst>
          </p:cNvPr>
          <p:cNvSpPr>
            <a:spLocks noGrp="1"/>
          </p:cNvSpPr>
          <p:nvPr>
            <p:ph type="sldNum" sz="quarter" idx="12"/>
          </p:nvPr>
        </p:nvSpPr>
        <p:spPr>
          <a:xfrm>
            <a:off x="3700326" y="6643499"/>
            <a:ext cx="2133600" cy="198047"/>
          </a:xfrm>
        </p:spPr>
        <p:txBody>
          <a:bodyPr/>
          <a:lstStyle/>
          <a:p>
            <a:pPr algn="ctr" eaLnBrk="1" latinLnBrk="0"/>
            <a:r>
              <a:rPr sz="1000" b="0">
                <a:latin typeface="Arial"/>
              </a:rPr>
              <a:t>25 / 33</a:t>
            </a:r>
            <a:endParaRPr lang="ko-KR" altLang="en-US" sz="1200" dirty="0">
              <a:solidFill>
                <a:prstClr val="black">
                  <a:tint val="75000"/>
                </a:prstClr>
              </a:solidFill>
              <a:latin typeface="Arial" panose="020B0604020202020204" pitchFamily="34" charset="0"/>
              <a:ea typeface="Arial Unicode MS" panose="020B0604020202020204" pitchFamily="34" charset="-128"/>
              <a:cs typeface="Arial" panose="020B0604020202020204" pitchFamily="34" charset="0"/>
            </a:endParaRPr>
          </a:p>
        </p:txBody>
      </p:sp>
      <p:sp>
        <p:nvSpPr>
          <p:cNvPr id="13" name="AutoShape 55">
            <a:extLst>
              <a:ext uri="{FF2B5EF4-FFF2-40B4-BE49-F238E27FC236}">
                <a16:creationId xmlns:a16="http://schemas.microsoft.com/office/drawing/2014/main" id="{8D969275-7FCE-4DA4-896B-5F6B33E66339}"/>
              </a:ext>
            </a:extLst>
          </p:cNvPr>
          <p:cNvSpPr>
            <a:spLocks noChangeArrowheads="1"/>
          </p:cNvSpPr>
          <p:nvPr/>
        </p:nvSpPr>
        <p:spPr bwMode="auto">
          <a:xfrm>
            <a:off x="9121997" y="155670"/>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Control</a:t>
            </a:r>
          </a:p>
        </p:txBody>
      </p:sp>
      <p:sp>
        <p:nvSpPr>
          <p:cNvPr id="19" name="AutoShape 59">
            <a:extLst>
              <a:ext uri="{FF2B5EF4-FFF2-40B4-BE49-F238E27FC236}">
                <a16:creationId xmlns:a16="http://schemas.microsoft.com/office/drawing/2014/main" id="{BCF43FF0-638F-4D22-9E24-50CD9446CEC3}"/>
              </a:ext>
            </a:extLst>
          </p:cNvPr>
          <p:cNvSpPr>
            <a:spLocks noChangeArrowheads="1"/>
          </p:cNvSpPr>
          <p:nvPr/>
        </p:nvSpPr>
        <p:spPr bwMode="auto">
          <a:xfrm>
            <a:off x="6372447" y="155670"/>
            <a:ext cx="757238" cy="287338"/>
          </a:xfrm>
          <a:prstGeom prst="homePlate">
            <a:avLst>
              <a:gd name="adj" fmla="val 47192"/>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Define</a:t>
            </a:r>
          </a:p>
        </p:txBody>
      </p:sp>
      <p:sp>
        <p:nvSpPr>
          <p:cNvPr id="21" name="AutoShape 57">
            <a:extLst>
              <a:ext uri="{FF2B5EF4-FFF2-40B4-BE49-F238E27FC236}">
                <a16:creationId xmlns:a16="http://schemas.microsoft.com/office/drawing/2014/main" id="{78C39ED3-565A-4056-8BB5-76E484D6F4B4}"/>
              </a:ext>
            </a:extLst>
          </p:cNvPr>
          <p:cNvSpPr>
            <a:spLocks noChangeArrowheads="1"/>
          </p:cNvSpPr>
          <p:nvPr/>
        </p:nvSpPr>
        <p:spPr bwMode="auto">
          <a:xfrm>
            <a:off x="7687914" y="178989"/>
            <a:ext cx="749300" cy="287338"/>
          </a:xfrm>
          <a:prstGeom prst="homePlate">
            <a:avLst>
              <a:gd name="adj" fmla="val 46698"/>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Analyze</a:t>
            </a:r>
          </a:p>
        </p:txBody>
      </p:sp>
      <p:sp>
        <p:nvSpPr>
          <p:cNvPr id="22" name="AutoShape 56">
            <a:extLst>
              <a:ext uri="{FF2B5EF4-FFF2-40B4-BE49-F238E27FC236}">
                <a16:creationId xmlns:a16="http://schemas.microsoft.com/office/drawing/2014/main" id="{374B8463-85EB-4D78-8390-CE3FE100BAE1}"/>
              </a:ext>
            </a:extLst>
          </p:cNvPr>
          <p:cNvSpPr>
            <a:spLocks noChangeArrowheads="1"/>
          </p:cNvSpPr>
          <p:nvPr/>
        </p:nvSpPr>
        <p:spPr bwMode="auto">
          <a:xfrm>
            <a:off x="7018783" y="178989"/>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Measure</a:t>
            </a:r>
          </a:p>
        </p:txBody>
      </p:sp>
      <p:sp>
        <p:nvSpPr>
          <p:cNvPr id="23" name="AutoShape 58">
            <a:extLst>
              <a:ext uri="{FF2B5EF4-FFF2-40B4-BE49-F238E27FC236}">
                <a16:creationId xmlns:a16="http://schemas.microsoft.com/office/drawing/2014/main" id="{1618D9F1-F2DD-4E3F-92E3-2BB7598EB23A}"/>
              </a:ext>
            </a:extLst>
          </p:cNvPr>
          <p:cNvSpPr>
            <a:spLocks noChangeArrowheads="1"/>
          </p:cNvSpPr>
          <p:nvPr/>
        </p:nvSpPr>
        <p:spPr bwMode="auto">
          <a:xfrm>
            <a:off x="8330852" y="51592"/>
            <a:ext cx="747712" cy="287337"/>
          </a:xfrm>
          <a:prstGeom prst="homePlate">
            <a:avLst>
              <a:gd name="adj" fmla="val 46599"/>
            </a:avLst>
          </a:prstGeom>
          <a:gradFill rotWithShape="1">
            <a:gsLst>
              <a:gs pos="0">
                <a:srgbClr val="494900"/>
              </a:gs>
              <a:gs pos="100000">
                <a:srgbClr val="808000"/>
              </a:gs>
            </a:gsLst>
            <a:lin ang="0" scaled="1"/>
          </a:gradFill>
          <a:ln w="6350" algn="ctr">
            <a:solidFill>
              <a:srgbClr val="808080"/>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latin typeface="Arial Narrow" panose="020B0606020202030204" pitchFamily="34" charset="0"/>
                <a:ea typeface="Arial" panose="020B0503020000020004" pitchFamily="50" charset="-127"/>
              </a:rPr>
              <a:t>Improve</a:t>
            </a:r>
          </a:p>
        </p:txBody>
      </p:sp>
      <p:sp>
        <p:nvSpPr>
          <p:cNvPr id="16" name="TextBox 15">
            <a:extLst>
              <a:ext uri="{FF2B5EF4-FFF2-40B4-BE49-F238E27FC236}">
                <a16:creationId xmlns:a16="http://schemas.microsoft.com/office/drawing/2014/main" id="{5CB9201B-E4DF-490F-839D-DE3B930B4CCB}"/>
              </a:ext>
            </a:extLst>
          </p:cNvPr>
          <p:cNvSpPr txBox="1"/>
          <p:nvPr/>
        </p:nvSpPr>
        <p:spPr>
          <a:xfrm>
            <a:off x="63248" y="535377"/>
            <a:ext cx="3441952" cy="276999"/>
          </a:xfrm>
          <a:prstGeom prst="rect">
            <a:avLst/>
          </a:prstGeom>
          <a:noFill/>
        </p:spPr>
        <p:txBody>
          <a:bodyPr wrap="square" rtlCol="0">
            <a:spAutoFit/>
          </a:bodyPr>
          <a:lstStyle/>
          <a:p>
            <a:pPr marL="171450" indent="-171450" eaLnBrk="1" latinLnBrk="0">
              <a:buFont typeface="Wingdings" panose="05000000000000000000" pitchFamily="2" charset="2"/>
              <a:buChar char="q"/>
            </a:pPr>
            <a:r>
              <a:rPr lang="vi-VN" sz="1000" b="1" dirty="0">
                <a:latin typeface="Arial" panose="020B0604020202020204" pitchFamily="34" charset="0"/>
                <a:ea typeface="Arial Unicode MS" panose="020B0604020202020204" pitchFamily="34" charset="-128"/>
                <a:cs typeface="Arial" panose="020B0604020202020204" pitchFamily="34" charset="0"/>
              </a:rPr>
              <a:t>Station </a:t>
            </a:r>
            <a:r>
              <a:rPr lang="en-US" sz="1000" b="1" dirty="0">
                <a:latin typeface="Arial" panose="020B0604020202020204" pitchFamily="34" charset="0"/>
                <a:ea typeface="Arial Unicode MS" panose="020B0604020202020204" pitchFamily="34" charset="-128"/>
                <a:cs typeface="Arial" panose="020B0604020202020204" pitchFamily="34" charset="0"/>
              </a:rPr>
              <a:t>2 Luminance</a:t>
            </a:r>
          </a:p>
        </p:txBody>
      </p:sp>
      <p:sp>
        <p:nvSpPr>
          <p:cNvPr id="18" name="TextBox 17">
            <a:extLst>
              <a:ext uri="{FF2B5EF4-FFF2-40B4-BE49-F238E27FC236}">
                <a16:creationId xmlns:a16="http://schemas.microsoft.com/office/drawing/2014/main" id="{2F0F0E5E-6DDF-4CAB-BC6D-54F0BC4AB452}"/>
              </a:ext>
            </a:extLst>
          </p:cNvPr>
          <p:cNvSpPr txBox="1"/>
          <p:nvPr/>
        </p:nvSpPr>
        <p:spPr>
          <a:xfrm>
            <a:off x="144016" y="5823484"/>
            <a:ext cx="9228584" cy="646331"/>
          </a:xfrm>
          <a:prstGeom prst="rect">
            <a:avLst/>
          </a:prstGeom>
          <a:noFill/>
        </p:spPr>
        <p:txBody>
          <a:bodyPr wrap="square" rtlCol="0">
            <a:spAutoFit/>
          </a:bodyPr>
          <a:lstStyle/>
          <a:p>
            <a:pPr marL="171450" indent="-171450" eaLnBrk="1" latinLnBrk="0">
              <a:buFont typeface="Wingdings" panose="05000000000000000000" pitchFamily="2" charset="2"/>
              <a:buChar char="Ø"/>
            </a:pPr>
            <a:r>
              <a:rPr lang="en-US" altLang="ko-KR" sz="1000" b="1" u="sng" dirty="0">
                <a:latin typeface="Arial" panose="020B0604020202020204" pitchFamily="34" charset="0"/>
                <a:ea typeface="LG Smart_H Regular" panose="020B0600000101010101" pitchFamily="34" charset="-127"/>
                <a:cs typeface="Arial" panose="020B0604020202020204" pitchFamily="34" charset="0"/>
              </a:rPr>
              <a:t>Conclusion:</a:t>
            </a:r>
            <a:r>
              <a:rPr lang="vi-VN" altLang="ko-KR" sz="1000" b="1" u="sng" dirty="0">
                <a:latin typeface="Arial" panose="020B0604020202020204" pitchFamily="34" charset="0"/>
                <a:ea typeface="LG Smart_H Regular" panose="020B0600000101010101" pitchFamily="34" charset="-127"/>
                <a:cs typeface="Arial" panose="020B0604020202020204" pitchFamily="34" charset="0"/>
              </a:rPr>
              <a:t> </a:t>
            </a:r>
          </a:p>
          <a:p>
            <a:pPr marL="171450" indent="-171450" eaLnBrk="1" latinLnBrk="0">
              <a:buFont typeface="Arial" panose="020B0604020202020204" pitchFamily="34" charset="0"/>
              <a:buChar char="•"/>
            </a:pPr>
            <a:r>
              <a:rPr lang="en-US" altLang="en-US" sz="1000" dirty="0">
                <a:latin typeface="Arial" panose="020B0600000101010101" pitchFamily="34" charset="-127"/>
                <a:ea typeface="Arial" panose="020B0600000101010101" pitchFamily="34" charset="-127"/>
              </a:rPr>
              <a:t>No out-of-control point and no abnormal pattern (run tests) was found in the Xbar and R control charts. Therefore the process is stable over time.</a:t>
            </a:r>
            <a:endParaRPr lang="en-US" altLang="ko-KR" sz="1200" dirty="0">
              <a:latin typeface="Arial" panose="020B0604020202020204" pitchFamily="34" charset="0"/>
              <a:ea typeface="LG Smart_H Regular" panose="020B0600000101010101" pitchFamily="34" charset="-127"/>
              <a:cs typeface="Arial" panose="020B0604020202020204" pitchFamily="34" charset="0"/>
            </a:endParaRPr>
          </a:p>
        </p:txBody>
      </p:sp>
      <p:graphicFrame>
        <p:nvGraphicFramePr>
          <p:cNvPr id="4" name="Table 3">
            <a:extLst>
              <a:ext uri="{FF2B5EF4-FFF2-40B4-BE49-F238E27FC236}">
                <a16:creationId xmlns:a16="http://schemas.microsoft.com/office/drawing/2014/main" id="{80AE7440-4A49-4884-9338-70840B8D69D5}"/>
              </a:ext>
            </a:extLst>
          </p:cNvPr>
          <p:cNvGraphicFramePr>
            <a:graphicFrameLocks noGrp="1"/>
          </p:cNvGraphicFramePr>
          <p:nvPr>
            <p:extLst>
              <p:ext uri="{D42A27DB-BD31-4B8C-83A1-F6EECF244321}">
                <p14:modId xmlns:p14="http://schemas.microsoft.com/office/powerpoint/2010/main" val="141134505"/>
              </p:ext>
            </p:extLst>
          </p:nvPr>
        </p:nvGraphicFramePr>
        <p:xfrm>
          <a:off x="144016" y="1730969"/>
          <a:ext cx="3962400" cy="3295490"/>
        </p:xfrm>
        <a:graphic>
          <a:graphicData uri="http://schemas.openxmlformats.org/drawingml/2006/table">
            <a:tbl>
              <a:tblPr/>
              <a:tblGrid>
                <a:gridCol w="660400">
                  <a:extLst>
                    <a:ext uri="{9D8B030D-6E8A-4147-A177-3AD203B41FA5}">
                      <a16:colId xmlns:a16="http://schemas.microsoft.com/office/drawing/2014/main" val="1668832001"/>
                    </a:ext>
                  </a:extLst>
                </a:gridCol>
                <a:gridCol w="660400">
                  <a:extLst>
                    <a:ext uri="{9D8B030D-6E8A-4147-A177-3AD203B41FA5}">
                      <a16:colId xmlns:a16="http://schemas.microsoft.com/office/drawing/2014/main" val="3568765916"/>
                    </a:ext>
                  </a:extLst>
                </a:gridCol>
                <a:gridCol w="660400">
                  <a:extLst>
                    <a:ext uri="{9D8B030D-6E8A-4147-A177-3AD203B41FA5}">
                      <a16:colId xmlns:a16="http://schemas.microsoft.com/office/drawing/2014/main" val="510279553"/>
                    </a:ext>
                  </a:extLst>
                </a:gridCol>
                <a:gridCol w="660400">
                  <a:extLst>
                    <a:ext uri="{9D8B030D-6E8A-4147-A177-3AD203B41FA5}">
                      <a16:colId xmlns:a16="http://schemas.microsoft.com/office/drawing/2014/main" val="3294816272"/>
                    </a:ext>
                  </a:extLst>
                </a:gridCol>
                <a:gridCol w="660400">
                  <a:extLst>
                    <a:ext uri="{9D8B030D-6E8A-4147-A177-3AD203B41FA5}">
                      <a16:colId xmlns:a16="http://schemas.microsoft.com/office/drawing/2014/main" val="2667025655"/>
                    </a:ext>
                  </a:extLst>
                </a:gridCol>
                <a:gridCol w="660400">
                  <a:extLst>
                    <a:ext uri="{9D8B030D-6E8A-4147-A177-3AD203B41FA5}">
                      <a16:colId xmlns:a16="http://schemas.microsoft.com/office/drawing/2014/main" val="2627515326"/>
                    </a:ext>
                  </a:extLst>
                </a:gridCol>
              </a:tblGrid>
              <a:tr h="299590">
                <a:tc>
                  <a:txBody>
                    <a:bodyPr/>
                    <a:lstStyle/>
                    <a:p>
                      <a:pPr algn="ctr" rtl="0" eaLnBrk="1" fontAlgn="ctr" latinLnBrk="0"/>
                      <a:r>
                        <a:rPr lang="en-US" sz="800" b="1" i="0" u="none" strike="noStrike">
                          <a:solidFill>
                            <a:srgbClr val="000000"/>
                          </a:solidFill>
                          <a:effectLst/>
                          <a:latin typeface="Arial" panose="020B0604020202020204" pitchFamily="34" charset="0"/>
                        </a:rPr>
                        <a:t>Date</a:t>
                      </a:r>
                    </a:p>
                  </a:txBody>
                  <a:tcPr marL="0" marR="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tc>
                  <a:txBody>
                    <a:bodyPr/>
                    <a:lstStyle/>
                    <a:p>
                      <a:pPr algn="ctr" rtl="0" eaLnBrk="1" fontAlgn="ctr" latinLnBrk="0"/>
                      <a:r>
                        <a:rPr lang="en-US" sz="800" b="1" i="0" u="none" strike="noStrike">
                          <a:solidFill>
                            <a:srgbClr val="000000"/>
                          </a:solidFill>
                          <a:effectLst/>
                          <a:latin typeface="Arial" panose="020B0604020202020204" pitchFamily="34" charset="0"/>
                        </a:rPr>
                        <a:t>Sample 1</a:t>
                      </a:r>
                    </a:p>
                  </a:txBody>
                  <a:tcPr marL="0" marR="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tc>
                  <a:txBody>
                    <a:bodyPr/>
                    <a:lstStyle/>
                    <a:p>
                      <a:pPr algn="ctr" rtl="0" eaLnBrk="1" fontAlgn="ctr" latinLnBrk="0"/>
                      <a:r>
                        <a:rPr lang="en-US" sz="800" b="1" i="0" u="none" strike="noStrike">
                          <a:solidFill>
                            <a:srgbClr val="000000"/>
                          </a:solidFill>
                          <a:effectLst/>
                          <a:latin typeface="Arial" panose="020B0604020202020204" pitchFamily="34" charset="0"/>
                        </a:rPr>
                        <a:t>Sample 2</a:t>
                      </a:r>
                    </a:p>
                  </a:txBody>
                  <a:tcPr marL="0" marR="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tc>
                  <a:txBody>
                    <a:bodyPr/>
                    <a:lstStyle/>
                    <a:p>
                      <a:pPr algn="ctr" rtl="0" eaLnBrk="1" fontAlgn="ctr" latinLnBrk="0"/>
                      <a:r>
                        <a:rPr lang="en-US" sz="800" b="1" i="0" u="none" strike="noStrike">
                          <a:solidFill>
                            <a:srgbClr val="000000"/>
                          </a:solidFill>
                          <a:effectLst/>
                          <a:latin typeface="Arial" panose="020B0604020202020204" pitchFamily="34" charset="0"/>
                        </a:rPr>
                        <a:t>Sample 3</a:t>
                      </a:r>
                    </a:p>
                  </a:txBody>
                  <a:tcPr marL="0" marR="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tc>
                  <a:txBody>
                    <a:bodyPr/>
                    <a:lstStyle/>
                    <a:p>
                      <a:pPr algn="ctr" rtl="0" eaLnBrk="1" fontAlgn="ctr" latinLnBrk="0"/>
                      <a:r>
                        <a:rPr lang="en-US" sz="800" b="1" i="0" u="none" strike="noStrike">
                          <a:solidFill>
                            <a:srgbClr val="000000"/>
                          </a:solidFill>
                          <a:effectLst/>
                          <a:latin typeface="Arial" panose="020B0604020202020204" pitchFamily="34" charset="0"/>
                        </a:rPr>
                        <a:t>Sample 4</a:t>
                      </a:r>
                    </a:p>
                  </a:txBody>
                  <a:tcPr marL="0" marR="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tc>
                  <a:txBody>
                    <a:bodyPr/>
                    <a:lstStyle/>
                    <a:p>
                      <a:pPr algn="ctr" rtl="0" eaLnBrk="1" fontAlgn="ctr" latinLnBrk="0"/>
                      <a:r>
                        <a:rPr lang="en-US" sz="800" b="1" i="0" u="none" strike="noStrike">
                          <a:solidFill>
                            <a:srgbClr val="000000"/>
                          </a:solidFill>
                          <a:effectLst/>
                          <a:latin typeface="Arial" panose="020B0604020202020204" pitchFamily="34" charset="0"/>
                        </a:rPr>
                        <a:t>Sample 5</a:t>
                      </a:r>
                    </a:p>
                  </a:txBody>
                  <a:tcPr marL="0" marR="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extLst>
                  <a:ext uri="{0D108BD9-81ED-4DB2-BD59-A6C34878D82A}">
                    <a16:rowId xmlns:a16="http://schemas.microsoft.com/office/drawing/2014/main" val="2738885912"/>
                  </a:ext>
                </a:extLst>
              </a:tr>
              <a:tr h="299590">
                <a:tc>
                  <a:txBody>
                    <a:bodyPr/>
                    <a:lstStyle/>
                    <a:p>
                      <a:pPr algn="ctr" rtl="0" eaLnBrk="1" fontAlgn="ctr" latinLnBrk="0"/>
                      <a:r>
                        <a:rPr lang="en-US" sz="1000" b="1" i="0" u="none" strike="noStrike">
                          <a:solidFill>
                            <a:srgbClr val="000000"/>
                          </a:solidFill>
                          <a:effectLst/>
                          <a:latin typeface="Arial" panose="020B0600000101010101" pitchFamily="34" charset="-127"/>
                          <a:ea typeface="Arial" panose="020B0600000101010101" pitchFamily="34" charset="-127"/>
                        </a:rPr>
                        <a:t>1-Jul</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903.99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888.65</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927.84</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910.28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901.09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865930103"/>
                  </a:ext>
                </a:extLst>
              </a:tr>
              <a:tr h="299590">
                <a:tc>
                  <a:txBody>
                    <a:bodyPr/>
                    <a:lstStyle/>
                    <a:p>
                      <a:pPr algn="ctr" rtl="0" eaLnBrk="1" fontAlgn="ctr" latinLnBrk="0"/>
                      <a:r>
                        <a:rPr lang="en-US" sz="1000" b="1" i="0" u="none" strike="noStrike">
                          <a:solidFill>
                            <a:srgbClr val="000000"/>
                          </a:solidFill>
                          <a:effectLst/>
                          <a:latin typeface="Arial" panose="020B0600000101010101" pitchFamily="34" charset="-127"/>
                          <a:ea typeface="Arial" panose="020B0600000101010101" pitchFamily="34" charset="-127"/>
                        </a:rPr>
                        <a:t>2-Jul</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910.09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898.47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930.79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906.56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901.04</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858165055"/>
                  </a:ext>
                </a:extLst>
              </a:tr>
              <a:tr h="299590">
                <a:tc>
                  <a:txBody>
                    <a:bodyPr/>
                    <a:lstStyle/>
                    <a:p>
                      <a:pPr algn="ctr" rtl="0" eaLnBrk="1" fontAlgn="ctr" latinLnBrk="0"/>
                      <a:r>
                        <a:rPr lang="en-US" sz="1000" b="1" i="0" u="none" strike="noStrike">
                          <a:solidFill>
                            <a:srgbClr val="000000"/>
                          </a:solidFill>
                          <a:effectLst/>
                          <a:latin typeface="Arial" panose="020B0600000101010101" pitchFamily="34" charset="-127"/>
                          <a:ea typeface="Arial" panose="020B0600000101010101" pitchFamily="34" charset="-127"/>
                        </a:rPr>
                        <a:t>3-Jul</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934.62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905.74</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884.21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897.26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897.52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266615110"/>
                  </a:ext>
                </a:extLst>
              </a:tr>
              <a:tr h="299590">
                <a:tc>
                  <a:txBody>
                    <a:bodyPr/>
                    <a:lstStyle/>
                    <a:p>
                      <a:pPr algn="ctr" rtl="0" eaLnBrk="1" fontAlgn="ctr" latinLnBrk="0"/>
                      <a:r>
                        <a:rPr lang="en-US" sz="1000" b="1" i="0" u="none" strike="noStrike">
                          <a:solidFill>
                            <a:srgbClr val="000000"/>
                          </a:solidFill>
                          <a:effectLst/>
                          <a:latin typeface="Arial" panose="020B0600000101010101" pitchFamily="34" charset="-127"/>
                          <a:ea typeface="Arial" panose="020B0600000101010101" pitchFamily="34" charset="-127"/>
                        </a:rPr>
                        <a:t>4-Jul</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926.69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897.88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940.66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917.92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932.89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978842911"/>
                  </a:ext>
                </a:extLst>
              </a:tr>
              <a:tr h="299590">
                <a:tc>
                  <a:txBody>
                    <a:bodyPr/>
                    <a:lstStyle/>
                    <a:p>
                      <a:pPr algn="ctr" rtl="0" eaLnBrk="1" fontAlgn="ctr" latinLnBrk="0"/>
                      <a:r>
                        <a:rPr lang="en-US" sz="1000" b="1" i="0" u="none" strike="noStrike">
                          <a:solidFill>
                            <a:srgbClr val="000000"/>
                          </a:solidFill>
                          <a:effectLst/>
                          <a:latin typeface="Arial" panose="020B0600000101010101" pitchFamily="34" charset="-127"/>
                          <a:ea typeface="Arial" panose="020B0600000101010101" pitchFamily="34" charset="-127"/>
                        </a:rPr>
                        <a:t>5-Jul</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901.07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919.56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916.63</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920.68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896.27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523840345"/>
                  </a:ext>
                </a:extLst>
              </a:tr>
              <a:tr h="299590">
                <a:tc>
                  <a:txBody>
                    <a:bodyPr/>
                    <a:lstStyle/>
                    <a:p>
                      <a:pPr algn="ctr" rtl="0" eaLnBrk="1" fontAlgn="ctr" latinLnBrk="0"/>
                      <a:r>
                        <a:rPr lang="en-US" sz="1000" b="1" i="0" u="none" strike="noStrike">
                          <a:solidFill>
                            <a:srgbClr val="000000"/>
                          </a:solidFill>
                          <a:effectLst/>
                          <a:latin typeface="Arial" panose="020B0600000101010101" pitchFamily="34" charset="-127"/>
                          <a:ea typeface="Arial" panose="020B0600000101010101" pitchFamily="34" charset="-127"/>
                        </a:rPr>
                        <a:t>6-Jul</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921.35</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919.07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910.92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929.27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912.16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993943853"/>
                  </a:ext>
                </a:extLst>
              </a:tr>
              <a:tr h="299590">
                <a:tc>
                  <a:txBody>
                    <a:bodyPr/>
                    <a:lstStyle/>
                    <a:p>
                      <a:pPr algn="ctr" rtl="0" eaLnBrk="1" fontAlgn="ctr" latinLnBrk="0"/>
                      <a:r>
                        <a:rPr lang="en-US" sz="1000" b="1" i="0" u="none" strike="noStrike">
                          <a:solidFill>
                            <a:srgbClr val="000000"/>
                          </a:solidFill>
                          <a:effectLst/>
                          <a:latin typeface="Arial" panose="020B0600000101010101" pitchFamily="34" charset="-127"/>
                          <a:ea typeface="Arial" panose="020B0600000101010101" pitchFamily="34" charset="-127"/>
                        </a:rPr>
                        <a:t>7-Jul</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931.37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899.74</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907.23</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957.93</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907.04</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78444588"/>
                  </a:ext>
                </a:extLst>
              </a:tr>
              <a:tr h="299590">
                <a:tc>
                  <a:txBody>
                    <a:bodyPr/>
                    <a:lstStyle/>
                    <a:p>
                      <a:pPr algn="ctr" rtl="0" eaLnBrk="1" fontAlgn="ctr" latinLnBrk="0"/>
                      <a:r>
                        <a:rPr lang="en-US" sz="1000" b="1" i="0" u="none" strike="noStrike">
                          <a:solidFill>
                            <a:srgbClr val="000000"/>
                          </a:solidFill>
                          <a:effectLst/>
                          <a:latin typeface="Arial" panose="020B0600000101010101" pitchFamily="34" charset="-127"/>
                          <a:ea typeface="Arial" panose="020B0600000101010101" pitchFamily="34" charset="-127"/>
                        </a:rPr>
                        <a:t>8-Jul</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902.12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906.54</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893.01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893.85</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907.01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865670741"/>
                  </a:ext>
                </a:extLst>
              </a:tr>
              <a:tr h="299590">
                <a:tc>
                  <a:txBody>
                    <a:bodyPr/>
                    <a:lstStyle/>
                    <a:p>
                      <a:pPr algn="ctr" rtl="0" eaLnBrk="1" fontAlgn="ctr" latinLnBrk="0"/>
                      <a:r>
                        <a:rPr lang="en-US" sz="1000" b="1" i="0" u="none" strike="noStrike">
                          <a:solidFill>
                            <a:srgbClr val="000000"/>
                          </a:solidFill>
                          <a:effectLst/>
                          <a:latin typeface="Arial" panose="020B0600000101010101" pitchFamily="34" charset="-127"/>
                          <a:ea typeface="Arial" panose="020B0600000101010101" pitchFamily="34" charset="-127"/>
                        </a:rPr>
                        <a:t>9-Jul</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909.81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925.48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937.52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920.73</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918.64</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586527454"/>
                  </a:ext>
                </a:extLst>
              </a:tr>
              <a:tr h="299590">
                <a:tc>
                  <a:txBody>
                    <a:bodyPr/>
                    <a:lstStyle/>
                    <a:p>
                      <a:pPr algn="ctr" rtl="0" eaLnBrk="1" fontAlgn="ctr" latinLnBrk="0"/>
                      <a:r>
                        <a:rPr lang="en-US" sz="1000" b="1" i="0" u="none" strike="noStrike">
                          <a:solidFill>
                            <a:srgbClr val="000000"/>
                          </a:solidFill>
                          <a:effectLst/>
                          <a:latin typeface="Arial" panose="020B0600000101010101" pitchFamily="34" charset="-127"/>
                          <a:ea typeface="Arial" panose="020B0600000101010101" pitchFamily="34" charset="-127"/>
                        </a:rPr>
                        <a:t>10-Jul</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893.27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904.75</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873.01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914.26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932.42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378251075"/>
                  </a:ext>
                </a:extLst>
              </a:tr>
            </a:tbl>
          </a:graphicData>
        </a:graphic>
      </p:graphicFrame>
      <p:pic>
        <p:nvPicPr>
          <p:cNvPr id="8" name="Picture 7">
            <a:extLst>
              <a:ext uri="{FF2B5EF4-FFF2-40B4-BE49-F238E27FC236}">
                <a16:creationId xmlns:a16="http://schemas.microsoft.com/office/drawing/2014/main" id="{5FF8E901-80C9-4272-8121-A4E818956BB0}"/>
              </a:ext>
            </a:extLst>
          </p:cNvPr>
          <p:cNvPicPr>
            <a:picLocks noChangeAspect="1"/>
          </p:cNvPicPr>
          <p:nvPr/>
        </p:nvPicPr>
        <p:blipFill>
          <a:blip r:embed="rId8"/>
          <a:stretch>
            <a:fillRect/>
          </a:stretch>
        </p:blipFill>
        <p:spPr>
          <a:xfrm>
            <a:off x="4503987" y="1728466"/>
            <a:ext cx="4860425" cy="3295485"/>
          </a:xfrm>
          <a:prstGeom prst="rect">
            <a:avLst/>
          </a:prstGeom>
        </p:spPr>
      </p:pic>
      <p:sp>
        <p:nvSpPr>
          <p:cNvPr id="20" name="TextBox 19">
            <a:extLst>
              <a:ext uri="{FF2B5EF4-FFF2-40B4-BE49-F238E27FC236}">
                <a16:creationId xmlns:a16="http://schemas.microsoft.com/office/drawing/2014/main" id="{CC80CBA3-AF38-4F86-A93F-C2965B6E0F40}"/>
              </a:ext>
            </a:extLst>
          </p:cNvPr>
          <p:cNvSpPr txBox="1"/>
          <p:nvPr/>
        </p:nvSpPr>
        <p:spPr>
          <a:xfrm>
            <a:off x="67106" y="842041"/>
            <a:ext cx="9457894" cy="461665"/>
          </a:xfrm>
          <a:prstGeom prst="rect">
            <a:avLst/>
          </a:prstGeom>
          <a:noFill/>
        </p:spPr>
        <p:txBody>
          <a:bodyPr wrap="square" rtlCol="0">
            <a:spAutoFit/>
          </a:bodyPr>
          <a:lstStyle/>
          <a:p>
            <a:pPr eaLnBrk="1" latinLnBrk="0"/>
            <a:r>
              <a:rPr lang="en-US" altLang="ko-KR" sz="1000" dirty="0">
                <a:latin typeface="Arial" panose="020B0604020202020204" pitchFamily="34" charset="0"/>
                <a:ea typeface="Arial Unicode MS" panose="020B0604020202020204" pitchFamily="34" charset="-128"/>
                <a:cs typeface="Arial" panose="020B0604020202020204" pitchFamily="34" charset="0"/>
              </a:rPr>
              <a:t>To monitor the mean and the variation of process after applying improvement and use control chart to monitor process stability over time.</a:t>
            </a:r>
          </a:p>
          <a:p>
            <a:pPr eaLnBrk="1" latinLnBrk="0"/>
            <a:r>
              <a:rPr lang="en-US" altLang="ko-KR" sz="1000" dirty="0">
                <a:latin typeface="Arial" panose="020B0604020202020204" pitchFamily="34" charset="0"/>
                <a:ea typeface="Arial Unicode MS" panose="020B0604020202020204" pitchFamily="34" charset="-128"/>
                <a:cs typeface="Arial" panose="020B0604020202020204" pitchFamily="34" charset="0"/>
              </a:rPr>
              <a:t>- Sampling method: rational subgroups of the first 5 sets per day at the production line, for 10 days (1-Jul to 10-Jul-2026).</a:t>
            </a:r>
          </a:p>
        </p:txBody>
      </p:sp>
    </p:spTree>
    <p:extLst>
      <p:ext uri="{BB962C8B-B14F-4D97-AF65-F5344CB8AC3E}">
        <p14:creationId xmlns:p14="http://schemas.microsoft.com/office/powerpoint/2010/main" val="130876397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2" name="Diagram 11"/>
          <p:cNvGraphicFramePr/>
          <p:nvPr/>
        </p:nvGraphicFramePr>
        <p:xfrm>
          <a:off x="5689764" y="-1221095"/>
          <a:ext cx="3734291" cy="61715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17" name="Straight Connector 16"/>
          <p:cNvCxnSpPr/>
          <p:nvPr/>
        </p:nvCxnSpPr>
        <p:spPr>
          <a:xfrm>
            <a:off x="0" y="508838"/>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5" name="Slide Number Placeholder 4">
            <a:extLst>
              <a:ext uri="{FF2B5EF4-FFF2-40B4-BE49-F238E27FC236}">
                <a16:creationId xmlns:a16="http://schemas.microsoft.com/office/drawing/2014/main" id="{C43E9E2D-07E0-4BDA-8E12-269E0FA0D474}"/>
              </a:ext>
            </a:extLst>
          </p:cNvPr>
          <p:cNvSpPr>
            <a:spLocks noGrp="1"/>
          </p:cNvSpPr>
          <p:nvPr>
            <p:ph type="sldNum" sz="quarter" idx="12"/>
          </p:nvPr>
        </p:nvSpPr>
        <p:spPr>
          <a:xfrm>
            <a:off x="3700326" y="6643499"/>
            <a:ext cx="2133600" cy="198047"/>
          </a:xfrm>
        </p:spPr>
        <p:txBody>
          <a:bodyPr/>
          <a:lstStyle/>
          <a:p>
            <a:pPr algn="ctr" eaLnBrk="1" latinLnBrk="0"/>
            <a:r>
              <a:rPr sz="1000" b="0">
                <a:latin typeface="Arial"/>
              </a:rPr>
              <a:t>26 / 33</a:t>
            </a:r>
            <a:endParaRPr lang="ko-KR" altLang="en-US" sz="1200" dirty="0">
              <a:solidFill>
                <a:prstClr val="black">
                  <a:tint val="75000"/>
                </a:prstClr>
              </a:solidFill>
              <a:latin typeface="Arial" panose="020B0604020202020204" pitchFamily="34" charset="0"/>
              <a:ea typeface="Arial Unicode MS" panose="020B0604020202020204" pitchFamily="34" charset="-128"/>
              <a:cs typeface="Arial" panose="020B0604020202020204" pitchFamily="34" charset="0"/>
            </a:endParaRPr>
          </a:p>
        </p:txBody>
      </p:sp>
      <p:sp>
        <p:nvSpPr>
          <p:cNvPr id="13" name="AutoShape 55">
            <a:extLst>
              <a:ext uri="{FF2B5EF4-FFF2-40B4-BE49-F238E27FC236}">
                <a16:creationId xmlns:a16="http://schemas.microsoft.com/office/drawing/2014/main" id="{8D969275-7FCE-4DA4-896B-5F6B33E66339}"/>
              </a:ext>
            </a:extLst>
          </p:cNvPr>
          <p:cNvSpPr>
            <a:spLocks noChangeArrowheads="1"/>
          </p:cNvSpPr>
          <p:nvPr/>
        </p:nvSpPr>
        <p:spPr bwMode="auto">
          <a:xfrm>
            <a:off x="9121997" y="155670"/>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Control</a:t>
            </a:r>
          </a:p>
        </p:txBody>
      </p:sp>
      <p:sp>
        <p:nvSpPr>
          <p:cNvPr id="19" name="AutoShape 59">
            <a:extLst>
              <a:ext uri="{FF2B5EF4-FFF2-40B4-BE49-F238E27FC236}">
                <a16:creationId xmlns:a16="http://schemas.microsoft.com/office/drawing/2014/main" id="{BCF43FF0-638F-4D22-9E24-50CD9446CEC3}"/>
              </a:ext>
            </a:extLst>
          </p:cNvPr>
          <p:cNvSpPr>
            <a:spLocks noChangeArrowheads="1"/>
          </p:cNvSpPr>
          <p:nvPr/>
        </p:nvSpPr>
        <p:spPr bwMode="auto">
          <a:xfrm>
            <a:off x="6372447" y="155670"/>
            <a:ext cx="757238" cy="287338"/>
          </a:xfrm>
          <a:prstGeom prst="homePlate">
            <a:avLst>
              <a:gd name="adj" fmla="val 47192"/>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Define</a:t>
            </a:r>
          </a:p>
        </p:txBody>
      </p:sp>
      <p:sp>
        <p:nvSpPr>
          <p:cNvPr id="21" name="TextBox 20">
            <a:extLst>
              <a:ext uri="{FF2B5EF4-FFF2-40B4-BE49-F238E27FC236}">
                <a16:creationId xmlns:a16="http://schemas.microsoft.com/office/drawing/2014/main" id="{4D3DF1E9-4F4B-4537-85CB-35E50A4338F4}"/>
              </a:ext>
            </a:extLst>
          </p:cNvPr>
          <p:cNvSpPr txBox="1"/>
          <p:nvPr/>
        </p:nvSpPr>
        <p:spPr>
          <a:xfrm>
            <a:off x="4969699" y="5930887"/>
            <a:ext cx="4682798" cy="616259"/>
          </a:xfrm>
          <a:prstGeom prst="rect">
            <a:avLst/>
          </a:prstGeom>
          <a:noFill/>
        </p:spPr>
        <p:txBody>
          <a:bodyPr wrap="square" rtlCol="0">
            <a:spAutoFit/>
          </a:bodyPr>
          <a:lstStyle/>
          <a:p>
            <a:pPr eaLnBrk="1" latinLnBrk="0">
              <a:lnSpc>
                <a:spcPct val="150000"/>
              </a:lnSpc>
            </a:pPr>
            <a:r>
              <a:rPr lang="en-US" sz="1000" dirty="0">
                <a:latin typeface="Arial" panose="020B0600000101010101" pitchFamily="34" charset="-127"/>
                <a:ea typeface="Arial" panose="020B0600000101010101" pitchFamily="34" charset="-127"/>
                <a:cs typeface="Arial" panose="020B0604020202020204" pitchFamily="34" charset="0"/>
              </a:rPr>
              <a:t>Cpk = 2.76 (= CPL; USL 2000 is far from the process) (Goal ≥ 1.33; target ≥ 1.67) </a:t>
            </a:r>
            <a:r>
              <a:rPr lang="en-US" sz="1000" dirty="0">
                <a:latin typeface="Arial" panose="020B0600000101010101" pitchFamily="34" charset="-127"/>
                <a:ea typeface="Arial" panose="020B0600000101010101" pitchFamily="34" charset="-127"/>
                <a:cs typeface="Arial" panose="020B0604020202020204" pitchFamily="34" charset="0"/>
                <a:sym typeface="Wingdings" panose="05000000000000000000" pitchFamily="2" charset="2"/>
              </a:rPr>
              <a:t> Process capability is sufficient.</a:t>
            </a:r>
          </a:p>
          <a:p>
            <a:pPr eaLnBrk="1" latinLnBrk="0">
              <a:lnSpc>
                <a:spcPct val="150000"/>
              </a:lnSpc>
            </a:pPr>
            <a:r>
              <a:rPr lang="en-US" sz="1000" dirty="0">
                <a:latin typeface="Arial" panose="020B0600000101010101" pitchFamily="34" charset="-127"/>
                <a:ea typeface="Arial" panose="020B0600000101010101" pitchFamily="34" charset="-127"/>
                <a:cs typeface="Arial" panose="020B0604020202020204" pitchFamily="34" charset="0"/>
                <a:sym typeface="Wingdings" panose="05000000000000000000" pitchFamily="2" charset="2"/>
              </a:rPr>
              <a:t>Focus effort on maintenance and shared management measures</a:t>
            </a:r>
          </a:p>
        </p:txBody>
      </p:sp>
      <p:sp>
        <p:nvSpPr>
          <p:cNvPr id="22" name="TextBox 21">
            <a:extLst>
              <a:ext uri="{FF2B5EF4-FFF2-40B4-BE49-F238E27FC236}">
                <a16:creationId xmlns:a16="http://schemas.microsoft.com/office/drawing/2014/main" id="{91A13D46-5B91-4121-A651-FD19FF223FEC}"/>
              </a:ext>
            </a:extLst>
          </p:cNvPr>
          <p:cNvSpPr txBox="1"/>
          <p:nvPr/>
        </p:nvSpPr>
        <p:spPr>
          <a:xfrm>
            <a:off x="361030" y="6050271"/>
            <a:ext cx="4320000" cy="540000"/>
          </a:xfrm>
          <a:prstGeom prst="rect">
            <a:avLst/>
          </a:prstGeom>
          <a:noFill/>
        </p:spPr>
        <p:txBody>
          <a:bodyPr wrap="square" rtlCol="0">
            <a:noAutofit/>
          </a:bodyPr>
          <a:lstStyle/>
          <a:p>
            <a:pPr eaLnBrk="1" latinLnBrk="0">
              <a:lnSpc>
                <a:spcPct val="150000"/>
              </a:lnSpc>
            </a:pPr>
            <a:r>
              <a:rPr lang="en-US" sz="1000" dirty="0">
                <a:latin typeface="Arial" panose="020B0600000101010101" pitchFamily="34" charset="-127"/>
                <a:ea typeface="Arial" panose="020B0600000101010101" pitchFamily="34" charset="-127"/>
                <a:cs typeface="Arial" panose="020B0604020202020204" pitchFamily="34" charset="0"/>
              </a:rPr>
              <a:t>P-Value = 0.446 &gt; 0.05 </a:t>
            </a:r>
            <a:r>
              <a:rPr lang="en-US" sz="1000" dirty="0">
                <a:latin typeface="Arial" panose="020B0600000101010101" pitchFamily="34" charset="-127"/>
                <a:ea typeface="Arial" panose="020B0600000101010101" pitchFamily="34" charset="-127"/>
                <a:cs typeface="Arial" panose="020B0604020202020204" pitchFamily="34" charset="0"/>
                <a:sym typeface="Wingdings" panose="05000000000000000000" pitchFamily="2" charset="2"/>
              </a:rPr>
              <a:t> Pass</a:t>
            </a:r>
          </a:p>
          <a:p>
            <a:pPr eaLnBrk="1" latinLnBrk="0">
              <a:lnSpc>
                <a:spcPct val="150000"/>
              </a:lnSpc>
            </a:pPr>
            <a:r>
              <a:rPr lang="en-US" altLang="ko-KR" sz="1000" dirty="0">
                <a:latin typeface="Arial" panose="020B0604020202020204" pitchFamily="34" charset="0"/>
                <a:ea typeface="Arial Unicode MS" panose="020B0604020202020204" pitchFamily="34" charset="-128"/>
                <a:cs typeface="Arial" panose="020B0604020202020204" pitchFamily="34" charset="0"/>
                <a:sym typeface="Wingdings" pitchFamily="2" charset="2"/>
              </a:rPr>
              <a:t>(</a:t>
            </a:r>
            <a:r>
              <a:rPr lang="en-US" altLang="ko-KR" sz="1000" dirty="0">
                <a:latin typeface="Arial" panose="020B0600000101010101" pitchFamily="34" charset="-127"/>
                <a:ea typeface="Arial" panose="020B0600000101010101" pitchFamily="34" charset="-127"/>
                <a:cs typeface="Arial"/>
                <a:sym typeface="Wingdings" pitchFamily="2" charset="2"/>
              </a:rPr>
              <a:t>Data can be treated as normally distributed</a:t>
            </a:r>
            <a:r>
              <a:rPr lang="en-US" altLang="ko-KR" sz="1000" dirty="0">
                <a:latin typeface="Arial" panose="020B0604020202020204" pitchFamily="34" charset="0"/>
                <a:ea typeface="Arial Unicode MS" panose="020B0604020202020204" pitchFamily="34" charset="-128"/>
                <a:cs typeface="Arial" panose="020B0604020202020204" pitchFamily="34" charset="0"/>
                <a:sym typeface="Wingdings" pitchFamily="2" charset="2"/>
              </a:rPr>
              <a:t>)</a:t>
            </a:r>
            <a:r>
              <a:rPr lang="en-US" sz="1000" dirty="0">
                <a:latin typeface="Arial" panose="020B0600000101010101" pitchFamily="34" charset="-127"/>
                <a:ea typeface="Arial" panose="020B0600000101010101" pitchFamily="34" charset="-127"/>
                <a:cs typeface="Arial" panose="020B0604020202020204" pitchFamily="34" charset="0"/>
              </a:rPr>
              <a:t> </a:t>
            </a:r>
          </a:p>
        </p:txBody>
      </p:sp>
      <p:sp>
        <p:nvSpPr>
          <p:cNvPr id="27" name="제목 1">
            <a:extLst>
              <a:ext uri="{FF2B5EF4-FFF2-40B4-BE49-F238E27FC236}">
                <a16:creationId xmlns:a16="http://schemas.microsoft.com/office/drawing/2014/main" id="{DDE9B228-729B-47C3-9105-92CCCB7E7710}"/>
              </a:ext>
            </a:extLst>
          </p:cNvPr>
          <p:cNvSpPr txBox="1">
            <a:spLocks/>
          </p:cNvSpPr>
          <p:nvPr/>
        </p:nvSpPr>
        <p:spPr>
          <a:xfrm>
            <a:off x="85125" y="89839"/>
            <a:ext cx="6156000" cy="418058"/>
          </a:xfrm>
          <a:prstGeom prst="rect">
            <a:avLst/>
          </a:prstGeom>
        </p:spPr>
        <p:txBody>
          <a:bodyPr vert="horz" lIns="91440" tIns="45720" rIns="91440" bIns="45720" rtlCol="0" anchor="ctr">
            <a:noAutofit/>
          </a:bodyPr>
          <a:lstStyle/>
          <a:p>
            <a:pPr marL="0" marR="0" lvl="0" indent="0" algn="l" defTabSz="914400" rtl="0" eaLnBrk="1" fontAlgn="base" latinLnBrk="0" hangingPunct="0">
              <a:lnSpc>
                <a:spcPct val="100000"/>
              </a:lnSpc>
              <a:spcBef>
                <a:spcPct val="0"/>
              </a:spcBef>
              <a:spcAft>
                <a:spcPct val="0"/>
              </a:spcAft>
              <a:buClrTx/>
              <a:buSzTx/>
              <a:buFontTx/>
              <a:buNone/>
              <a:tabLst/>
              <a:defRPr/>
            </a:pPr>
            <a:r>
              <a:rPr lang="en-US" altLang="ko-KR" sz="1600" b="1" kern="0" noProof="0" dirty="0">
                <a:latin typeface="Arial Narrow" panose="020B0606020202030204" pitchFamily="34" charset="0"/>
                <a:ea typeface="Arial Unicode MS" panose="020B0604020202020204" pitchFamily="34" charset="-128"/>
                <a:cs typeface="Arial" panose="020B0604020202020204" pitchFamily="34" charset="0"/>
              </a:rPr>
              <a:t>4.4</a:t>
            </a:r>
            <a:r>
              <a:rPr kumimoji="1" lang="en-US" altLang="ko-KR" sz="1600" b="1" i="0" u="none" strike="noStrike" kern="0" cap="none" spc="0" normalizeH="0" baseline="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rPr>
              <a:t> Check Process Capability after</a:t>
            </a:r>
            <a:r>
              <a:rPr kumimoji="1" lang="en-US" altLang="ko-KR" sz="1600" b="1" i="0" u="none" strike="noStrike" kern="0" cap="none" spc="0" normalizeH="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rPr>
              <a:t> improving the measurement system</a:t>
            </a:r>
            <a:endParaRPr kumimoji="1" lang="ko-KR" altLang="en-US" sz="1600" b="1" i="0" u="none" strike="noStrike" kern="0" cap="none" spc="0" normalizeH="0" baseline="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endParaRPr>
          </a:p>
        </p:txBody>
      </p:sp>
      <p:sp>
        <p:nvSpPr>
          <p:cNvPr id="28" name="TextBox 27">
            <a:extLst>
              <a:ext uri="{FF2B5EF4-FFF2-40B4-BE49-F238E27FC236}">
                <a16:creationId xmlns:a16="http://schemas.microsoft.com/office/drawing/2014/main" id="{ECE32947-3AE0-4F5F-A54D-B86A1B5F090E}"/>
              </a:ext>
            </a:extLst>
          </p:cNvPr>
          <p:cNvSpPr txBox="1"/>
          <p:nvPr/>
        </p:nvSpPr>
        <p:spPr>
          <a:xfrm>
            <a:off x="4626" y="612442"/>
            <a:ext cx="2357574" cy="276999"/>
          </a:xfrm>
          <a:prstGeom prst="rect">
            <a:avLst/>
          </a:prstGeom>
          <a:noFill/>
        </p:spPr>
        <p:txBody>
          <a:bodyPr wrap="square" rtlCol="0">
            <a:spAutoFit/>
          </a:bodyPr>
          <a:lstStyle/>
          <a:p>
            <a:pPr marL="171450" indent="-171450" eaLnBrk="1" latinLnBrk="0">
              <a:buFont typeface="Wingdings" panose="05000000000000000000" pitchFamily="2" charset="2"/>
              <a:buChar char="q"/>
            </a:pPr>
            <a:r>
              <a:rPr lang="vi-VN" sz="1000" b="1" dirty="0">
                <a:latin typeface="Arial" panose="020B0604020202020204" pitchFamily="34" charset="0"/>
                <a:ea typeface="Arial Unicode MS" panose="020B0604020202020204" pitchFamily="34" charset="-128"/>
                <a:cs typeface="Arial" panose="020B0604020202020204" pitchFamily="34" charset="0"/>
              </a:rPr>
              <a:t>Station 1</a:t>
            </a:r>
            <a:r>
              <a:rPr lang="en-US" sz="1000" b="1" dirty="0">
                <a:latin typeface="Arial" panose="020B0604020202020204" pitchFamily="34" charset="0"/>
                <a:ea typeface="Arial Unicode MS" panose="020B0604020202020204" pitchFamily="34" charset="-128"/>
                <a:cs typeface="Arial" panose="020B0604020202020204" pitchFamily="34" charset="0"/>
              </a:rPr>
              <a:t> Luminance</a:t>
            </a:r>
          </a:p>
        </p:txBody>
      </p:sp>
      <p:sp>
        <p:nvSpPr>
          <p:cNvPr id="24" name="AutoShape 57">
            <a:extLst>
              <a:ext uri="{FF2B5EF4-FFF2-40B4-BE49-F238E27FC236}">
                <a16:creationId xmlns:a16="http://schemas.microsoft.com/office/drawing/2014/main" id="{28BD15D5-6D32-408C-A6FB-4836EF1DA036}"/>
              </a:ext>
            </a:extLst>
          </p:cNvPr>
          <p:cNvSpPr>
            <a:spLocks noChangeArrowheads="1"/>
          </p:cNvSpPr>
          <p:nvPr/>
        </p:nvSpPr>
        <p:spPr bwMode="auto">
          <a:xfrm>
            <a:off x="7687914" y="178989"/>
            <a:ext cx="749300" cy="287338"/>
          </a:xfrm>
          <a:prstGeom prst="homePlate">
            <a:avLst>
              <a:gd name="adj" fmla="val 46698"/>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Analyze</a:t>
            </a:r>
          </a:p>
        </p:txBody>
      </p:sp>
      <p:sp>
        <p:nvSpPr>
          <p:cNvPr id="25" name="AutoShape 56">
            <a:extLst>
              <a:ext uri="{FF2B5EF4-FFF2-40B4-BE49-F238E27FC236}">
                <a16:creationId xmlns:a16="http://schemas.microsoft.com/office/drawing/2014/main" id="{20A84D37-79F0-405E-A5EB-1C489E8F4A71}"/>
              </a:ext>
            </a:extLst>
          </p:cNvPr>
          <p:cNvSpPr>
            <a:spLocks noChangeArrowheads="1"/>
          </p:cNvSpPr>
          <p:nvPr/>
        </p:nvSpPr>
        <p:spPr bwMode="auto">
          <a:xfrm>
            <a:off x="7018783" y="178989"/>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Measure</a:t>
            </a:r>
          </a:p>
        </p:txBody>
      </p:sp>
      <p:sp>
        <p:nvSpPr>
          <p:cNvPr id="29" name="AutoShape 58">
            <a:extLst>
              <a:ext uri="{FF2B5EF4-FFF2-40B4-BE49-F238E27FC236}">
                <a16:creationId xmlns:a16="http://schemas.microsoft.com/office/drawing/2014/main" id="{1DDFF762-6353-4C56-9B3C-905A3BA397BC}"/>
              </a:ext>
            </a:extLst>
          </p:cNvPr>
          <p:cNvSpPr>
            <a:spLocks noChangeArrowheads="1"/>
          </p:cNvSpPr>
          <p:nvPr/>
        </p:nvSpPr>
        <p:spPr bwMode="auto">
          <a:xfrm>
            <a:off x="8330852" y="51592"/>
            <a:ext cx="747712" cy="287337"/>
          </a:xfrm>
          <a:prstGeom prst="homePlate">
            <a:avLst>
              <a:gd name="adj" fmla="val 46599"/>
            </a:avLst>
          </a:prstGeom>
          <a:gradFill rotWithShape="1">
            <a:gsLst>
              <a:gs pos="0">
                <a:srgbClr val="494900"/>
              </a:gs>
              <a:gs pos="100000">
                <a:srgbClr val="808000"/>
              </a:gs>
            </a:gsLst>
            <a:lin ang="0" scaled="1"/>
          </a:gradFill>
          <a:ln w="6350" algn="ctr">
            <a:solidFill>
              <a:srgbClr val="808080"/>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latin typeface="Arial Narrow" panose="020B0606020202030204" pitchFamily="34" charset="0"/>
                <a:ea typeface="Arial" panose="020B0503020000020004" pitchFamily="50" charset="-127"/>
              </a:rPr>
              <a:t>Improve</a:t>
            </a:r>
          </a:p>
        </p:txBody>
      </p:sp>
      <p:pic>
        <p:nvPicPr>
          <p:cNvPr id="2" name="Picture 1">
            <a:extLst>
              <a:ext uri="{FF2B5EF4-FFF2-40B4-BE49-F238E27FC236}">
                <a16:creationId xmlns:a16="http://schemas.microsoft.com/office/drawing/2014/main" id="{E2C64297-EACD-4185-924B-57DD27FA9B37}"/>
              </a:ext>
            </a:extLst>
          </p:cNvPr>
          <p:cNvPicPr>
            <a:picLocks noChangeAspect="1"/>
          </p:cNvPicPr>
          <p:nvPr/>
        </p:nvPicPr>
        <p:blipFill>
          <a:blip r:embed="rId8"/>
          <a:stretch>
            <a:fillRect/>
          </a:stretch>
        </p:blipFill>
        <p:spPr>
          <a:xfrm>
            <a:off x="62864" y="2498575"/>
            <a:ext cx="4876801" cy="3308989"/>
          </a:xfrm>
          <a:prstGeom prst="rect">
            <a:avLst/>
          </a:prstGeom>
        </p:spPr>
      </p:pic>
      <p:pic>
        <p:nvPicPr>
          <p:cNvPr id="4" name="Picture 3">
            <a:extLst>
              <a:ext uri="{FF2B5EF4-FFF2-40B4-BE49-F238E27FC236}">
                <a16:creationId xmlns:a16="http://schemas.microsoft.com/office/drawing/2014/main" id="{85FD0020-07EF-4656-A85C-FB6D7D09DCAF}"/>
              </a:ext>
            </a:extLst>
          </p:cNvPr>
          <p:cNvPicPr>
            <a:picLocks noChangeAspect="1"/>
          </p:cNvPicPr>
          <p:nvPr/>
        </p:nvPicPr>
        <p:blipFill>
          <a:blip r:embed="rId9"/>
          <a:stretch>
            <a:fillRect/>
          </a:stretch>
        </p:blipFill>
        <p:spPr>
          <a:xfrm>
            <a:off x="5073015" y="2498575"/>
            <a:ext cx="4421059" cy="3310038"/>
          </a:xfrm>
          <a:prstGeom prst="rect">
            <a:avLst/>
          </a:prstGeom>
        </p:spPr>
      </p:pic>
      <p:sp>
        <p:nvSpPr>
          <p:cNvPr id="3" name="Rectangle 2">
            <a:extLst>
              <a:ext uri="{FF2B5EF4-FFF2-40B4-BE49-F238E27FC236}">
                <a16:creationId xmlns:a16="http://schemas.microsoft.com/office/drawing/2014/main" id="{8BBE6231-032D-4837-A7A5-B062D9E6BA76}"/>
              </a:ext>
            </a:extLst>
          </p:cNvPr>
          <p:cNvSpPr/>
          <p:nvPr/>
        </p:nvSpPr>
        <p:spPr>
          <a:xfrm>
            <a:off x="155974" y="927113"/>
            <a:ext cx="9521425" cy="1200329"/>
          </a:xfrm>
          <a:prstGeom prst="rect">
            <a:avLst/>
          </a:prstGeom>
        </p:spPr>
        <p:txBody>
          <a:bodyPr wrap="square">
            <a:spAutoFit/>
          </a:bodyPr>
          <a:lstStyle/>
          <a:p>
            <a:pPr lvl="0" eaLnBrk="1" latinLnBrk="0" hangingPunct="0">
              <a:defRPr/>
            </a:pPr>
            <a:r>
              <a:rPr lang="en-US" altLang="ja-JP" sz="1000" dirty="0">
                <a:latin typeface="Arial" panose="020B0604020202020204" pitchFamily="34" charset="0"/>
                <a:ea typeface="Arial Unicode MS" panose="020B0604020202020204" pitchFamily="34" charset="-128"/>
                <a:cs typeface="Arial" panose="020B0604020202020204" pitchFamily="34" charset="0"/>
              </a:rPr>
              <a:t>Use the normality test (Anderson-Darling) to determine whether the data follow a normal distribution</a:t>
            </a:r>
          </a:p>
          <a:p>
            <a:pPr eaLnBrk="1" latinLnBrk="0"/>
            <a:r>
              <a:rPr sz="1000" b="0">
                <a:latin typeface="Arial"/>
              </a:rPr>
              <a:t>H0: Data follows Normal Distribution</a:t>
            </a:r>
          </a:p>
          <a:p>
            <a:pPr eaLnBrk="1" latinLnBrk="0"/>
            <a:r>
              <a:rPr sz="1000" b="0">
                <a:latin typeface="Arial"/>
              </a:rPr>
              <a:t>H1: Data does NOT follow Normal Distribution</a:t>
            </a:r>
          </a:p>
          <a:p>
            <a:pPr eaLnBrk="1" latinLnBrk="0"/>
            <a:r>
              <a:rPr sz="1000" b="0">
                <a:latin typeface="Arial"/>
              </a:rPr>
              <a:t>P-value = 0.446 &gt; 0.05 -&gt; Fail to reject H0 -&gt; No evidence against normality (PASS)</a:t>
            </a:r>
          </a:p>
          <a:p>
            <a:pPr eaLnBrk="1" latinLnBrk="0"/>
            <a:r>
              <a:rPr lang="en-US" altLang="ja-JP" sz="1000" dirty="0">
                <a:latin typeface="Arial" panose="020B0604020202020204" pitchFamily="34" charset="0"/>
                <a:ea typeface="Arial Unicode MS" panose="020B0604020202020204" pitchFamily="34" charset="-128"/>
                <a:cs typeface="Arial" panose="020B0604020202020204" pitchFamily="34" charset="0"/>
              </a:rPr>
              <a:t>Then check the probability plot: the closer the points are to the fitted line, the better the normal fit.</a:t>
            </a:r>
          </a:p>
          <a:p>
            <a:pPr eaLnBrk="1" latinLnBrk="0"/>
            <a:r>
              <a:rPr lang="en-US" altLang="ja-JP" sz="1000" dirty="0">
                <a:latin typeface="Arial" panose="020B0604020202020204" pitchFamily="34" charset="0"/>
                <a:ea typeface="Arial Unicode MS" panose="020B0604020202020204" pitchFamily="34" charset="-128"/>
                <a:cs typeface="Arial" panose="020B0604020202020204" pitchFamily="34" charset="0"/>
              </a:rPr>
              <a:t>After that, evaluate process capability:</a:t>
            </a:r>
          </a:p>
        </p:txBody>
      </p:sp>
    </p:spTree>
    <p:extLst>
      <p:ext uri="{BB962C8B-B14F-4D97-AF65-F5344CB8AC3E}">
        <p14:creationId xmlns:p14="http://schemas.microsoft.com/office/powerpoint/2010/main" val="201922255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C7F89E8-DDD7-4177-BCAE-BFDA432D2832}"/>
              </a:ext>
            </a:extLst>
          </p:cNvPr>
          <p:cNvPicPr>
            <a:picLocks noChangeAspect="1"/>
          </p:cNvPicPr>
          <p:nvPr/>
        </p:nvPicPr>
        <p:blipFill>
          <a:blip r:embed="rId3"/>
          <a:stretch>
            <a:fillRect/>
          </a:stretch>
        </p:blipFill>
        <p:spPr>
          <a:xfrm>
            <a:off x="4844574" y="877357"/>
            <a:ext cx="4483152" cy="3369689"/>
          </a:xfrm>
          <a:prstGeom prst="rect">
            <a:avLst/>
          </a:prstGeom>
        </p:spPr>
      </p:pic>
      <p:pic>
        <p:nvPicPr>
          <p:cNvPr id="2" name="Picture 1">
            <a:extLst>
              <a:ext uri="{FF2B5EF4-FFF2-40B4-BE49-F238E27FC236}">
                <a16:creationId xmlns:a16="http://schemas.microsoft.com/office/drawing/2014/main" id="{0A49D9FF-2F12-4865-9342-A32699A2FADB}"/>
              </a:ext>
            </a:extLst>
          </p:cNvPr>
          <p:cNvPicPr>
            <a:picLocks noChangeAspect="1"/>
          </p:cNvPicPr>
          <p:nvPr/>
        </p:nvPicPr>
        <p:blipFill>
          <a:blip r:embed="rId4"/>
          <a:stretch>
            <a:fillRect/>
          </a:stretch>
        </p:blipFill>
        <p:spPr>
          <a:xfrm>
            <a:off x="139023" y="878537"/>
            <a:ext cx="4416591" cy="3331207"/>
          </a:xfrm>
          <a:prstGeom prst="rect">
            <a:avLst/>
          </a:prstGeom>
        </p:spPr>
      </p:pic>
      <p:cxnSp>
        <p:nvCxnSpPr>
          <p:cNvPr id="17" name="Straight Connector 16"/>
          <p:cNvCxnSpPr/>
          <p:nvPr/>
        </p:nvCxnSpPr>
        <p:spPr>
          <a:xfrm>
            <a:off x="0" y="508838"/>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5" name="Slide Number Placeholder 4">
            <a:extLst>
              <a:ext uri="{FF2B5EF4-FFF2-40B4-BE49-F238E27FC236}">
                <a16:creationId xmlns:a16="http://schemas.microsoft.com/office/drawing/2014/main" id="{C43E9E2D-07E0-4BDA-8E12-269E0FA0D474}"/>
              </a:ext>
            </a:extLst>
          </p:cNvPr>
          <p:cNvSpPr>
            <a:spLocks noGrp="1"/>
          </p:cNvSpPr>
          <p:nvPr>
            <p:ph type="sldNum" sz="quarter" idx="12"/>
          </p:nvPr>
        </p:nvSpPr>
        <p:spPr>
          <a:xfrm>
            <a:off x="3700326" y="6643499"/>
            <a:ext cx="2133600" cy="198047"/>
          </a:xfrm>
        </p:spPr>
        <p:txBody>
          <a:bodyPr/>
          <a:lstStyle/>
          <a:p>
            <a:pPr algn="ctr" eaLnBrk="1" latinLnBrk="0"/>
            <a:r>
              <a:rPr sz="1000" b="0">
                <a:latin typeface="Arial"/>
              </a:rPr>
              <a:t>27 / 33</a:t>
            </a:r>
            <a:endParaRPr lang="ko-KR" altLang="en-US" sz="1200" dirty="0">
              <a:solidFill>
                <a:prstClr val="black">
                  <a:tint val="75000"/>
                </a:prstClr>
              </a:solidFill>
              <a:latin typeface="Arial" panose="020B0604020202020204" pitchFamily="34" charset="0"/>
              <a:ea typeface="Arial Unicode MS" panose="020B0604020202020204" pitchFamily="34" charset="-128"/>
              <a:cs typeface="Arial" panose="020B0604020202020204" pitchFamily="34" charset="0"/>
            </a:endParaRPr>
          </a:p>
        </p:txBody>
      </p:sp>
      <p:sp>
        <p:nvSpPr>
          <p:cNvPr id="13" name="AutoShape 55">
            <a:extLst>
              <a:ext uri="{FF2B5EF4-FFF2-40B4-BE49-F238E27FC236}">
                <a16:creationId xmlns:a16="http://schemas.microsoft.com/office/drawing/2014/main" id="{8D969275-7FCE-4DA4-896B-5F6B33E66339}"/>
              </a:ext>
            </a:extLst>
          </p:cNvPr>
          <p:cNvSpPr>
            <a:spLocks noChangeArrowheads="1"/>
          </p:cNvSpPr>
          <p:nvPr/>
        </p:nvSpPr>
        <p:spPr bwMode="auto">
          <a:xfrm>
            <a:off x="9121997" y="155670"/>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Control</a:t>
            </a:r>
          </a:p>
        </p:txBody>
      </p:sp>
      <p:sp>
        <p:nvSpPr>
          <p:cNvPr id="19" name="AutoShape 59">
            <a:extLst>
              <a:ext uri="{FF2B5EF4-FFF2-40B4-BE49-F238E27FC236}">
                <a16:creationId xmlns:a16="http://schemas.microsoft.com/office/drawing/2014/main" id="{BCF43FF0-638F-4D22-9E24-50CD9446CEC3}"/>
              </a:ext>
            </a:extLst>
          </p:cNvPr>
          <p:cNvSpPr>
            <a:spLocks noChangeArrowheads="1"/>
          </p:cNvSpPr>
          <p:nvPr/>
        </p:nvSpPr>
        <p:spPr bwMode="auto">
          <a:xfrm>
            <a:off x="6372447" y="155670"/>
            <a:ext cx="757238" cy="287338"/>
          </a:xfrm>
          <a:prstGeom prst="homePlate">
            <a:avLst>
              <a:gd name="adj" fmla="val 47192"/>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Define</a:t>
            </a:r>
          </a:p>
        </p:txBody>
      </p:sp>
      <p:sp>
        <p:nvSpPr>
          <p:cNvPr id="27" name="TextBox 26">
            <a:extLst>
              <a:ext uri="{FF2B5EF4-FFF2-40B4-BE49-F238E27FC236}">
                <a16:creationId xmlns:a16="http://schemas.microsoft.com/office/drawing/2014/main" id="{00F4DEE4-CDEB-4C16-817D-6B1C512B108F}"/>
              </a:ext>
            </a:extLst>
          </p:cNvPr>
          <p:cNvSpPr txBox="1"/>
          <p:nvPr/>
        </p:nvSpPr>
        <p:spPr>
          <a:xfrm>
            <a:off x="3268221" y="3248848"/>
            <a:ext cx="1241743" cy="507831"/>
          </a:xfrm>
          <a:prstGeom prst="rect">
            <a:avLst/>
          </a:prstGeom>
          <a:solidFill>
            <a:srgbClr val="FFFFFF"/>
          </a:solidFill>
          <a:ln w="12700">
            <a:solidFill>
              <a:srgbClr val="B4B4B4"/>
            </a:solidFill>
          </a:ln>
        </p:spPr>
        <p:txBody>
          <a:bodyPr wrap="square" rtlCol="0">
            <a:noAutofit/>
          </a:bodyPr>
          <a:lstStyle/>
          <a:p>
            <a:pPr eaLnBrk="1" latinLnBrk="0"/>
            <a:r>
              <a:rPr lang="en-US" altLang="ko-KR" sz="1000" dirty="0">
                <a:latin typeface="Arial" panose="020B0600000101010101" pitchFamily="34" charset="-127"/>
                <a:ea typeface="Arial" panose="020B0600000101010101" pitchFamily="34" charset="-127"/>
                <a:cs typeface="Arial" panose="020B0604020202020204" pitchFamily="34" charset="0"/>
              </a:rPr>
              <a:t> Z Long term = 7.65 Standard ≥  4.5</a:t>
            </a:r>
          </a:p>
          <a:p>
            <a:pPr eaLnBrk="1" latinLnBrk="0"/>
            <a:r>
              <a:rPr lang="en-US" altLang="ko-KR" sz="1000" dirty="0">
                <a:latin typeface="Arial" panose="020B0600000101010101" pitchFamily="34" charset="-127"/>
                <a:ea typeface="Arial" panose="020B0600000101010101" pitchFamily="34" charset="-127"/>
                <a:cs typeface="Arial" panose="020B0604020202020204" pitchFamily="34" charset="0"/>
              </a:rPr>
              <a:t> </a:t>
            </a:r>
            <a:r>
              <a:rPr lang="en-US" altLang="ko-KR" sz="1000" dirty="0">
                <a:latin typeface="Arial" panose="020B0600000101010101" pitchFamily="34" charset="-127"/>
                <a:ea typeface="Arial" panose="020B0600000101010101" pitchFamily="34" charset="-127"/>
                <a:cs typeface="Arial" panose="020B0604020202020204" pitchFamily="34" charset="0"/>
                <a:sym typeface="Wingdings" pitchFamily="2" charset="2"/>
              </a:rPr>
              <a:t> OK</a:t>
            </a:r>
            <a:r>
              <a:rPr lang="en-US" altLang="ko-KR" sz="1000" dirty="0">
                <a:latin typeface="Arial" panose="020B0600000101010101" pitchFamily="34" charset="-127"/>
                <a:ea typeface="Arial" panose="020B0600000101010101" pitchFamily="34" charset="-127"/>
                <a:cs typeface="Arial" panose="020B0604020202020204" pitchFamily="34" charset="0"/>
              </a:rPr>
              <a:t> </a:t>
            </a:r>
          </a:p>
        </p:txBody>
      </p:sp>
      <p:sp>
        <p:nvSpPr>
          <p:cNvPr id="28" name="TextBox 27">
            <a:extLst>
              <a:ext uri="{FF2B5EF4-FFF2-40B4-BE49-F238E27FC236}">
                <a16:creationId xmlns:a16="http://schemas.microsoft.com/office/drawing/2014/main" id="{770B63C0-BDB9-4BB1-B7CE-47513CEA8001}"/>
              </a:ext>
            </a:extLst>
          </p:cNvPr>
          <p:cNvSpPr txBox="1"/>
          <p:nvPr/>
        </p:nvSpPr>
        <p:spPr>
          <a:xfrm>
            <a:off x="8017399" y="3248847"/>
            <a:ext cx="1241743" cy="507831"/>
          </a:xfrm>
          <a:prstGeom prst="rect">
            <a:avLst/>
          </a:prstGeom>
          <a:solidFill>
            <a:srgbClr val="FFFFFF"/>
          </a:solidFill>
          <a:ln w="12700">
            <a:solidFill>
              <a:srgbClr val="B4B4B4"/>
            </a:solidFill>
          </a:ln>
        </p:spPr>
        <p:txBody>
          <a:bodyPr wrap="square" rtlCol="0">
            <a:noAutofit/>
          </a:bodyPr>
          <a:lstStyle/>
          <a:p>
            <a:pPr eaLnBrk="1" latinLnBrk="0"/>
            <a:r>
              <a:rPr lang="en-US" altLang="ko-KR" sz="1000" dirty="0">
                <a:latin typeface="Arial" panose="020B0600000101010101" pitchFamily="34" charset="-127"/>
                <a:ea typeface="Arial" panose="020B0600000101010101" pitchFamily="34" charset="-127"/>
                <a:cs typeface="Arial" panose="020B0604020202020204" pitchFamily="34" charset="0"/>
              </a:rPr>
              <a:t> Z Short term = 8.29   Standard ≥  6</a:t>
            </a:r>
          </a:p>
          <a:p>
            <a:pPr eaLnBrk="1" latinLnBrk="0"/>
            <a:r>
              <a:rPr lang="en-US" altLang="ko-KR" sz="1000" dirty="0">
                <a:latin typeface="Arial" panose="020B0600000101010101" pitchFamily="34" charset="-127"/>
                <a:ea typeface="Arial" panose="020B0600000101010101" pitchFamily="34" charset="-127"/>
                <a:cs typeface="Arial" panose="020B0604020202020204" pitchFamily="34" charset="0"/>
              </a:rPr>
              <a:t> </a:t>
            </a:r>
            <a:r>
              <a:rPr lang="en-US" altLang="ko-KR" sz="1000" dirty="0">
                <a:latin typeface="Arial" panose="020B0600000101010101" pitchFamily="34" charset="-127"/>
                <a:ea typeface="Arial" panose="020B0600000101010101" pitchFamily="34" charset="-127"/>
                <a:cs typeface="Arial" panose="020B0604020202020204" pitchFamily="34" charset="0"/>
                <a:sym typeface="Wingdings" pitchFamily="2" charset="2"/>
              </a:rPr>
              <a:t> OK</a:t>
            </a:r>
            <a:r>
              <a:rPr lang="en-US" altLang="ko-KR" sz="1000" dirty="0">
                <a:latin typeface="Arial" panose="020B0600000101010101" pitchFamily="34" charset="-127"/>
                <a:ea typeface="Arial" panose="020B0600000101010101" pitchFamily="34" charset="-127"/>
                <a:cs typeface="Arial" panose="020B0604020202020204" pitchFamily="34" charset="0"/>
              </a:rPr>
              <a:t> </a:t>
            </a:r>
          </a:p>
        </p:txBody>
      </p:sp>
      <p:sp>
        <p:nvSpPr>
          <p:cNvPr id="29" name="TextBox 28">
            <a:extLst>
              <a:ext uri="{FF2B5EF4-FFF2-40B4-BE49-F238E27FC236}">
                <a16:creationId xmlns:a16="http://schemas.microsoft.com/office/drawing/2014/main" id="{3F03CC85-78FB-49D7-B96C-52B4B103B707}"/>
              </a:ext>
            </a:extLst>
          </p:cNvPr>
          <p:cNvSpPr txBox="1"/>
          <p:nvPr/>
        </p:nvSpPr>
        <p:spPr>
          <a:xfrm>
            <a:off x="159127" y="4448547"/>
            <a:ext cx="4344755" cy="2000419"/>
          </a:xfrm>
          <a:prstGeom prst="rect">
            <a:avLst/>
          </a:prstGeom>
          <a:solidFill>
            <a:schemeClr val="bg1"/>
          </a:solidFill>
        </p:spPr>
        <p:txBody>
          <a:bodyPr wrap="square" rtlCol="0">
            <a:spAutoFit/>
          </a:bodyPr>
          <a:lstStyle/>
          <a:p>
            <a:pPr eaLnBrk="1" latinLnBrk="0">
              <a:lnSpc>
                <a:spcPct val="150000"/>
              </a:lnSpc>
              <a:buFont typeface="Wingdings" pitchFamily="2" charset="2"/>
              <a:buChar char="§"/>
            </a:pPr>
            <a:r>
              <a:rPr lang="en-US" altLang="ko-KR" sz="1000" noProof="1">
                <a:latin typeface="Arial" panose="020B0600000101010101" pitchFamily="34" charset="-127"/>
                <a:ea typeface="Arial" panose="020B0600000101010101" pitchFamily="34" charset="-127"/>
              </a:rPr>
              <a:t>  Check the Z short term (best capability of process) and the Z long term (customer’s perspective):</a:t>
            </a:r>
          </a:p>
          <a:p>
            <a:pPr eaLnBrk="1" latinLnBrk="0">
              <a:lnSpc>
                <a:spcPct val="150000"/>
              </a:lnSpc>
            </a:pPr>
            <a:endParaRPr lang="en-US" altLang="ko-KR" sz="1200" noProof="1">
              <a:latin typeface="LG Smart_H Regular" panose="020B0600000101010101" pitchFamily="34" charset="-127"/>
              <a:ea typeface="LG Smart_H Regular" panose="020B0600000101010101" pitchFamily="34" charset="-127"/>
            </a:endParaRPr>
          </a:p>
          <a:p>
            <a:pPr eaLnBrk="1" latinLnBrk="0">
              <a:lnSpc>
                <a:spcPct val="150000"/>
              </a:lnSpc>
              <a:buFont typeface="Wingdings" pitchFamily="2" charset="2"/>
              <a:buChar char="§"/>
            </a:pPr>
            <a:r>
              <a:rPr lang="en-US" altLang="ko-KR" sz="1000" noProof="1">
                <a:latin typeface="Arial" panose="020B0600000101010101" pitchFamily="34" charset="-127"/>
                <a:ea typeface="Arial" panose="020B0600000101010101" pitchFamily="34" charset="-127"/>
              </a:rPr>
              <a:t>Zshift = Zst – Zlt = 8.29 – 7.65= 0.64 </a:t>
            </a:r>
            <a:r>
              <a:rPr lang="en-US" altLang="ko-KR" sz="1000" noProof="1">
                <a:latin typeface="Arial" panose="020B0600000101010101" pitchFamily="34" charset="-127"/>
                <a:ea typeface="Arial" panose="020B0600000101010101" pitchFamily="34" charset="-127"/>
                <a:sym typeface="Wingdings" pitchFamily="2" charset="2"/>
              </a:rPr>
              <a:t> Z shift &lt; 1.5 </a:t>
            </a:r>
          </a:p>
          <a:p>
            <a:pPr eaLnBrk="1" latinLnBrk="0">
              <a:lnSpc>
                <a:spcPct val="150000"/>
              </a:lnSpc>
            </a:pPr>
            <a:r>
              <a:rPr lang="en-US" altLang="ko-KR" sz="1000" noProof="1">
                <a:latin typeface="Arial" panose="020B0600000101010101" pitchFamily="34" charset="-127"/>
                <a:ea typeface="Arial" panose="020B0600000101010101" pitchFamily="34" charset="-127"/>
                <a:sym typeface="Wingdings" pitchFamily="2" charset="2"/>
              </a:rPr>
              <a:t> Proper process control </a:t>
            </a:r>
            <a:r>
              <a:rPr lang="en-US" altLang="ko-KR" sz="1000" noProof="1">
                <a:latin typeface="Arial" panose="020B0600000101010101" pitchFamily="34" charset="-127"/>
                <a:ea typeface="Arial" panose="020B0600000101010101" pitchFamily="34" charset="-127"/>
              </a:rPr>
              <a:t>management</a:t>
            </a:r>
            <a:endParaRPr lang="en-US" altLang="ko-KR" sz="1200" noProof="1">
              <a:latin typeface="LG Smart_H Regular" panose="020B0600000101010101" pitchFamily="34" charset="-127"/>
              <a:ea typeface="LG Smart_H Regular" panose="020B0600000101010101" pitchFamily="34" charset="-127"/>
              <a:sym typeface="Wingdings" pitchFamily="2" charset="2"/>
            </a:endParaRPr>
          </a:p>
          <a:p>
            <a:pPr eaLnBrk="1" latinLnBrk="0">
              <a:lnSpc>
                <a:spcPct val="150000"/>
              </a:lnSpc>
              <a:buFont typeface="Wingdings" pitchFamily="2" charset="2"/>
              <a:buChar char="§"/>
            </a:pPr>
            <a:r>
              <a:rPr lang="en-US" altLang="ko-KR" sz="1000" noProof="1">
                <a:latin typeface="Arial" panose="020B0600000101010101" pitchFamily="34" charset="-127"/>
                <a:ea typeface="Arial" panose="020B0600000101010101" pitchFamily="34" charset="-127"/>
                <a:sym typeface="Wingdings" pitchFamily="2" charset="2"/>
              </a:rPr>
              <a:t>  Z long term : 7.65</a:t>
            </a:r>
            <a:r>
              <a:rPr lang="en-US" altLang="ko-KR" sz="1000" dirty="0">
                <a:latin typeface="Arial" panose="020B0600000101010101" pitchFamily="34" charset="-127"/>
                <a:ea typeface="Arial" panose="020B0600000101010101" pitchFamily="34" charset="-127"/>
                <a:cs typeface="Arial" panose="020B0604020202020204" pitchFamily="34" charset="0"/>
              </a:rPr>
              <a:t> ≥</a:t>
            </a:r>
            <a:r>
              <a:rPr lang="en-US" altLang="ko-KR" sz="1000" noProof="1">
                <a:latin typeface="Arial" panose="020B0600000101010101" pitchFamily="34" charset="-127"/>
                <a:ea typeface="Arial" panose="020B0600000101010101" pitchFamily="34" charset="-127"/>
                <a:sym typeface="Wingdings" pitchFamily="2" charset="2"/>
              </a:rPr>
              <a:t> 4.5, Z short term: 8.29 </a:t>
            </a:r>
            <a:r>
              <a:rPr lang="en-US" altLang="ko-KR" sz="1000" dirty="0">
                <a:latin typeface="Arial" panose="020B0600000101010101" pitchFamily="34" charset="-127"/>
                <a:ea typeface="Arial" panose="020B0600000101010101" pitchFamily="34" charset="-127"/>
                <a:cs typeface="Arial" panose="020B0604020202020204" pitchFamily="34" charset="0"/>
              </a:rPr>
              <a:t>≥</a:t>
            </a:r>
            <a:r>
              <a:rPr lang="en-US" altLang="ko-KR" sz="1000" noProof="1">
                <a:latin typeface="Arial" panose="020B0600000101010101" pitchFamily="34" charset="-127"/>
                <a:ea typeface="Arial" panose="020B0600000101010101" pitchFamily="34" charset="-127"/>
                <a:sym typeface="Wingdings" pitchFamily="2" charset="2"/>
              </a:rPr>
              <a:t>6  </a:t>
            </a:r>
          </a:p>
          <a:p>
            <a:pPr eaLnBrk="1" latinLnBrk="0">
              <a:lnSpc>
                <a:spcPct val="150000"/>
              </a:lnSpc>
            </a:pPr>
            <a:r>
              <a:rPr lang="en-US" altLang="ko-KR" sz="1000" noProof="1">
                <a:latin typeface="Arial" panose="020B0600000101010101" pitchFamily="34" charset="-127"/>
                <a:ea typeface="Arial" panose="020B0600000101010101" pitchFamily="34" charset="-127"/>
                <a:sym typeface="Wingdings" pitchFamily="2" charset="2"/>
              </a:rPr>
              <a:t> Technology is OK</a:t>
            </a:r>
            <a:endParaRPr lang="en-US" altLang="ko-KR" sz="1200" noProof="1">
              <a:latin typeface="LG Smart_H Regular" panose="020B0600000101010101" pitchFamily="34" charset="-127"/>
              <a:ea typeface="LG Smart_H Regular" panose="020B0600000101010101" pitchFamily="34" charset="-127"/>
            </a:endParaRPr>
          </a:p>
        </p:txBody>
      </p:sp>
      <p:grpSp>
        <p:nvGrpSpPr>
          <p:cNvPr id="30" name="Group 29">
            <a:extLst>
              <a:ext uri="{FF2B5EF4-FFF2-40B4-BE49-F238E27FC236}">
                <a16:creationId xmlns:a16="http://schemas.microsoft.com/office/drawing/2014/main" id="{A91AC523-C770-45D1-BAAD-CA31C2D5A8E8}"/>
              </a:ext>
            </a:extLst>
          </p:cNvPr>
          <p:cNvGrpSpPr/>
          <p:nvPr/>
        </p:nvGrpSpPr>
        <p:grpSpPr>
          <a:xfrm>
            <a:off x="5277611" y="4038601"/>
            <a:ext cx="4500000" cy="2710762"/>
            <a:chOff x="5383160" y="3319792"/>
            <a:chExt cx="5061928" cy="3189588"/>
          </a:xfrm>
        </p:grpSpPr>
        <p:sp>
          <p:nvSpPr>
            <p:cNvPr id="31" name="Rectangle 9">
              <a:extLst>
                <a:ext uri="{FF2B5EF4-FFF2-40B4-BE49-F238E27FC236}">
                  <a16:creationId xmlns:a16="http://schemas.microsoft.com/office/drawing/2014/main" id="{DF669F23-0AC3-4F56-9A0B-2411DEF3812C}"/>
                </a:ext>
              </a:extLst>
            </p:cNvPr>
            <p:cNvSpPr>
              <a:spLocks noChangeArrowheads="1"/>
            </p:cNvSpPr>
            <p:nvPr/>
          </p:nvSpPr>
          <p:spPr bwMode="auto">
            <a:xfrm>
              <a:off x="6033120" y="3708392"/>
              <a:ext cx="3423745" cy="2136281"/>
            </a:xfrm>
            <a:prstGeom prst="rect">
              <a:avLst/>
            </a:prstGeom>
            <a:solidFill>
              <a:schemeClr val="bg2">
                <a:lumMod val="20000"/>
                <a:lumOff val="80000"/>
              </a:schemeClr>
            </a:solidFill>
            <a:ln w="12700">
              <a:solidFill>
                <a:schemeClr val="tx1"/>
              </a:solidFill>
              <a:miter lim="800000"/>
              <a:headEnd/>
              <a:tailEnd/>
            </a:ln>
          </p:spPr>
          <p:txBody>
            <a:bodyPr wrap="none" anchor="ctr"/>
            <a:lstStyle/>
            <a:p>
              <a:pPr algn="ctr">
                <a:defRPr/>
              </a:pPr>
              <a:endParaRPr lang="ko-KR" altLang="en-US" sz="700" dirty="0">
                <a:solidFill>
                  <a:srgbClr val="000000"/>
                </a:solidFill>
                <a:latin typeface="LG Smart_H Regular" panose="020B0600000101010101" pitchFamily="34" charset="-127"/>
                <a:ea typeface="LG Smart_H Regular" panose="020B0600000101010101" pitchFamily="34" charset="-127"/>
                <a:cs typeface="Arial Unicode MS" panose="020B0604020202020204" pitchFamily="34" charset="-128"/>
              </a:endParaRPr>
            </a:p>
          </p:txBody>
        </p:sp>
        <p:sp>
          <p:nvSpPr>
            <p:cNvPr id="32" name="Line 10">
              <a:extLst>
                <a:ext uri="{FF2B5EF4-FFF2-40B4-BE49-F238E27FC236}">
                  <a16:creationId xmlns:a16="http://schemas.microsoft.com/office/drawing/2014/main" id="{E325E004-4EBD-46E8-A128-4006A20037A9}"/>
                </a:ext>
              </a:extLst>
            </p:cNvPr>
            <p:cNvSpPr>
              <a:spLocks noChangeShapeType="1"/>
            </p:cNvSpPr>
            <p:nvPr/>
          </p:nvSpPr>
          <p:spPr bwMode="auto">
            <a:xfrm>
              <a:off x="8234872" y="3708391"/>
              <a:ext cx="8082" cy="2136281"/>
            </a:xfrm>
            <a:prstGeom prst="line">
              <a:avLst/>
            </a:prstGeom>
            <a:noFill/>
            <a:ln w="12700">
              <a:solidFill>
                <a:schemeClr val="tx1"/>
              </a:solidFill>
              <a:round/>
              <a:headEnd type="none" w="sm" len="sm"/>
              <a:tailEnd type="none" w="sm" len="sm"/>
            </a:ln>
          </p:spPr>
          <p:txBody>
            <a:bodyPr/>
            <a:lstStyle/>
            <a:p>
              <a:endParaRPr lang="ko-KR" altLang="en-US" sz="1200" dirty="0">
                <a:solidFill>
                  <a:prstClr val="black"/>
                </a:solidFill>
                <a:latin typeface="LG Smart_H Regular" panose="020B0600000101010101" pitchFamily="34" charset="-127"/>
                <a:ea typeface="LG Smart_H Regular" panose="020B0600000101010101" pitchFamily="34" charset="-127"/>
                <a:cs typeface="Arial Unicode MS" panose="020B0604020202020204" pitchFamily="34" charset="-128"/>
              </a:endParaRPr>
            </a:p>
          </p:txBody>
        </p:sp>
        <p:sp>
          <p:nvSpPr>
            <p:cNvPr id="33" name="Line 11">
              <a:extLst>
                <a:ext uri="{FF2B5EF4-FFF2-40B4-BE49-F238E27FC236}">
                  <a16:creationId xmlns:a16="http://schemas.microsoft.com/office/drawing/2014/main" id="{29F7C8D4-F09C-4737-8A79-22659B843F21}"/>
                </a:ext>
              </a:extLst>
            </p:cNvPr>
            <p:cNvSpPr>
              <a:spLocks noChangeShapeType="1"/>
            </p:cNvSpPr>
            <p:nvPr/>
          </p:nvSpPr>
          <p:spPr bwMode="auto">
            <a:xfrm>
              <a:off x="6036455" y="4689438"/>
              <a:ext cx="3412072" cy="0"/>
            </a:xfrm>
            <a:prstGeom prst="line">
              <a:avLst/>
            </a:prstGeom>
            <a:noFill/>
            <a:ln w="12700">
              <a:solidFill>
                <a:schemeClr val="tx1"/>
              </a:solidFill>
              <a:round/>
              <a:headEnd type="none" w="sm" len="sm"/>
              <a:tailEnd type="none" w="sm" len="sm"/>
            </a:ln>
          </p:spPr>
          <p:txBody>
            <a:bodyPr/>
            <a:lstStyle/>
            <a:p>
              <a:endParaRPr lang="ko-KR" altLang="en-US" sz="1200" dirty="0">
                <a:solidFill>
                  <a:prstClr val="black"/>
                </a:solidFill>
                <a:latin typeface="LG Smart_H Regular" panose="020B0600000101010101" pitchFamily="34" charset="-127"/>
                <a:ea typeface="LG Smart_H Regular" panose="020B0600000101010101" pitchFamily="34" charset="-127"/>
                <a:cs typeface="Arial Unicode MS" panose="020B0604020202020204" pitchFamily="34" charset="-128"/>
              </a:endParaRPr>
            </a:p>
          </p:txBody>
        </p:sp>
        <p:sp>
          <p:nvSpPr>
            <p:cNvPr id="34" name="Rectangle 12">
              <a:extLst>
                <a:ext uri="{FF2B5EF4-FFF2-40B4-BE49-F238E27FC236}">
                  <a16:creationId xmlns:a16="http://schemas.microsoft.com/office/drawing/2014/main" id="{134442CB-1980-4352-98E7-E128F12A9699}"/>
                </a:ext>
              </a:extLst>
            </p:cNvPr>
            <p:cNvSpPr>
              <a:spLocks noChangeArrowheads="1"/>
            </p:cNvSpPr>
            <p:nvPr/>
          </p:nvSpPr>
          <p:spPr bwMode="auto">
            <a:xfrm>
              <a:off x="5677904" y="4528497"/>
              <a:ext cx="395745" cy="308576"/>
            </a:xfrm>
            <a:prstGeom prst="rect">
              <a:avLst/>
            </a:prstGeom>
            <a:noFill/>
            <a:ln w="9525">
              <a:noFill/>
              <a:miter lim="800000"/>
              <a:headEnd/>
              <a:tailEnd/>
            </a:ln>
          </p:spPr>
          <p:txBody>
            <a:bodyPr wrap="none" lIns="92075" tIns="46038" rIns="92075" bIns="46038">
              <a:spAutoFit/>
            </a:bodyPr>
            <a:lstStyle/>
            <a:p>
              <a:pPr latinLnBrk="0">
                <a:lnSpc>
                  <a:spcPct val="110000"/>
                </a:lnSpc>
              </a:pPr>
              <a:r>
                <a:rPr lang="en-US" altLang="ko-KR" sz="1000" b="1"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1.5</a:t>
              </a:r>
            </a:p>
          </p:txBody>
        </p:sp>
        <p:sp>
          <p:nvSpPr>
            <p:cNvPr id="35" name="Rectangle 13">
              <a:extLst>
                <a:ext uri="{FF2B5EF4-FFF2-40B4-BE49-F238E27FC236}">
                  <a16:creationId xmlns:a16="http://schemas.microsoft.com/office/drawing/2014/main" id="{6A8D9248-A26E-4915-8262-E9F9172EB945}"/>
                </a:ext>
              </a:extLst>
            </p:cNvPr>
            <p:cNvSpPr>
              <a:spLocks noChangeArrowheads="1"/>
            </p:cNvSpPr>
            <p:nvPr/>
          </p:nvSpPr>
          <p:spPr bwMode="auto">
            <a:xfrm>
              <a:off x="5536315" y="3319792"/>
              <a:ext cx="509306" cy="299523"/>
            </a:xfrm>
            <a:prstGeom prst="rect">
              <a:avLst/>
            </a:prstGeom>
            <a:noFill/>
            <a:ln w="9525">
              <a:noFill/>
              <a:miter lim="800000"/>
              <a:headEnd/>
              <a:tailEnd/>
            </a:ln>
          </p:spPr>
          <p:txBody>
            <a:bodyPr wrap="none" lIns="92075" tIns="46038" rIns="92075" bIns="46038">
              <a:spAutoFit/>
            </a:bodyPr>
            <a:lstStyle/>
            <a:p>
              <a:pPr algn="ctr" latinLnBrk="0"/>
              <a:r>
                <a:rPr lang="en-US" altLang="ko-KR" sz="1050" b="1"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Z </a:t>
              </a:r>
              <a:r>
                <a:rPr lang="en-US" altLang="ko-KR" sz="1050" b="1" baseline="-25000"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shift</a:t>
              </a:r>
            </a:p>
          </p:txBody>
        </p:sp>
        <p:sp>
          <p:nvSpPr>
            <p:cNvPr id="36" name="Rectangle 35">
              <a:extLst>
                <a:ext uri="{FF2B5EF4-FFF2-40B4-BE49-F238E27FC236}">
                  <a16:creationId xmlns:a16="http://schemas.microsoft.com/office/drawing/2014/main" id="{CB0A57F4-3B93-43B5-9D53-5CCBFA12E66A}"/>
                </a:ext>
              </a:extLst>
            </p:cNvPr>
            <p:cNvSpPr>
              <a:spLocks noChangeArrowheads="1"/>
            </p:cNvSpPr>
            <p:nvPr/>
          </p:nvSpPr>
          <p:spPr bwMode="auto">
            <a:xfrm>
              <a:off x="7726610" y="5884462"/>
              <a:ext cx="395745" cy="308576"/>
            </a:xfrm>
            <a:prstGeom prst="rect">
              <a:avLst/>
            </a:prstGeom>
            <a:noFill/>
            <a:ln w="9525">
              <a:noFill/>
              <a:miter lim="800000"/>
              <a:headEnd/>
              <a:tailEnd/>
            </a:ln>
          </p:spPr>
          <p:txBody>
            <a:bodyPr wrap="none" lIns="92075" tIns="46038" rIns="92075" bIns="46038">
              <a:spAutoFit/>
            </a:bodyPr>
            <a:lstStyle/>
            <a:p>
              <a:pPr latinLnBrk="0">
                <a:lnSpc>
                  <a:spcPct val="110000"/>
                </a:lnSpc>
              </a:pPr>
              <a:r>
                <a:rPr lang="en-US" altLang="ko-KR" sz="1000" b="1"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4.5</a:t>
              </a:r>
            </a:p>
          </p:txBody>
        </p:sp>
        <p:sp>
          <p:nvSpPr>
            <p:cNvPr id="37" name="Text Box 16">
              <a:extLst>
                <a:ext uri="{FF2B5EF4-FFF2-40B4-BE49-F238E27FC236}">
                  <a16:creationId xmlns:a16="http://schemas.microsoft.com/office/drawing/2014/main" id="{72B57459-49DE-460E-94B7-BCAE72DBB8A3}"/>
                </a:ext>
              </a:extLst>
            </p:cNvPr>
            <p:cNvSpPr txBox="1">
              <a:spLocks noChangeArrowheads="1"/>
            </p:cNvSpPr>
            <p:nvPr/>
          </p:nvSpPr>
          <p:spPr bwMode="auto">
            <a:xfrm>
              <a:off x="6093354" y="4758357"/>
              <a:ext cx="278502" cy="325928"/>
            </a:xfrm>
            <a:prstGeom prst="rect">
              <a:avLst/>
            </a:prstGeom>
            <a:noFill/>
            <a:ln w="9525">
              <a:noFill/>
              <a:miter lim="800000"/>
              <a:headEnd/>
              <a:tailEnd/>
            </a:ln>
          </p:spPr>
          <p:txBody>
            <a:bodyPr>
              <a:spAutoFit/>
            </a:bodyPr>
            <a:lstStyle/>
            <a:p>
              <a:pPr>
                <a:spcBef>
                  <a:spcPct val="50000"/>
                </a:spcBef>
              </a:pPr>
              <a:r>
                <a:rPr lang="en-US" altLang="ko-KR" sz="1200" b="1"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C</a:t>
              </a:r>
            </a:p>
          </p:txBody>
        </p:sp>
        <p:sp>
          <p:nvSpPr>
            <p:cNvPr id="38" name="Text Box 17">
              <a:extLst>
                <a:ext uri="{FF2B5EF4-FFF2-40B4-BE49-F238E27FC236}">
                  <a16:creationId xmlns:a16="http://schemas.microsoft.com/office/drawing/2014/main" id="{3D4C8AE9-341D-470A-AB1F-69BE23C6B97F}"/>
                </a:ext>
              </a:extLst>
            </p:cNvPr>
            <p:cNvSpPr txBox="1">
              <a:spLocks noChangeArrowheads="1"/>
            </p:cNvSpPr>
            <p:nvPr/>
          </p:nvSpPr>
          <p:spPr bwMode="auto">
            <a:xfrm>
              <a:off x="6113061" y="4037091"/>
              <a:ext cx="278502" cy="325928"/>
            </a:xfrm>
            <a:prstGeom prst="rect">
              <a:avLst/>
            </a:prstGeom>
            <a:noFill/>
            <a:ln w="9525">
              <a:noFill/>
              <a:miter lim="800000"/>
              <a:headEnd/>
              <a:tailEnd/>
            </a:ln>
          </p:spPr>
          <p:txBody>
            <a:bodyPr>
              <a:spAutoFit/>
            </a:bodyPr>
            <a:lstStyle/>
            <a:p>
              <a:pPr>
                <a:spcBef>
                  <a:spcPct val="50000"/>
                </a:spcBef>
              </a:pPr>
              <a:r>
                <a:rPr lang="en-US" altLang="ko-KR" sz="1200" b="1"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A</a:t>
              </a:r>
            </a:p>
          </p:txBody>
        </p:sp>
        <p:sp>
          <p:nvSpPr>
            <p:cNvPr id="39" name="Text Box 18">
              <a:extLst>
                <a:ext uri="{FF2B5EF4-FFF2-40B4-BE49-F238E27FC236}">
                  <a16:creationId xmlns:a16="http://schemas.microsoft.com/office/drawing/2014/main" id="{104C2049-1F2F-4C40-8732-C908DC24241F}"/>
                </a:ext>
              </a:extLst>
            </p:cNvPr>
            <p:cNvSpPr txBox="1">
              <a:spLocks noChangeArrowheads="1"/>
            </p:cNvSpPr>
            <p:nvPr/>
          </p:nvSpPr>
          <p:spPr bwMode="auto">
            <a:xfrm>
              <a:off x="9186767" y="4035612"/>
              <a:ext cx="280170" cy="325928"/>
            </a:xfrm>
            <a:prstGeom prst="rect">
              <a:avLst/>
            </a:prstGeom>
            <a:noFill/>
            <a:ln w="9525">
              <a:noFill/>
              <a:miter lim="800000"/>
              <a:headEnd/>
              <a:tailEnd/>
            </a:ln>
          </p:spPr>
          <p:txBody>
            <a:bodyPr>
              <a:spAutoFit/>
            </a:bodyPr>
            <a:lstStyle/>
            <a:p>
              <a:pPr>
                <a:spcBef>
                  <a:spcPct val="50000"/>
                </a:spcBef>
              </a:pPr>
              <a:r>
                <a:rPr lang="en-US" altLang="ko-KR" sz="1200" b="1"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B</a:t>
              </a:r>
            </a:p>
          </p:txBody>
        </p:sp>
        <p:sp>
          <p:nvSpPr>
            <p:cNvPr id="40" name="Text Box 19">
              <a:extLst>
                <a:ext uri="{FF2B5EF4-FFF2-40B4-BE49-F238E27FC236}">
                  <a16:creationId xmlns:a16="http://schemas.microsoft.com/office/drawing/2014/main" id="{D55D9F2E-8DB9-49AB-9859-A655FC742095}"/>
                </a:ext>
              </a:extLst>
            </p:cNvPr>
            <p:cNvSpPr txBox="1">
              <a:spLocks noChangeArrowheads="1"/>
            </p:cNvSpPr>
            <p:nvPr/>
          </p:nvSpPr>
          <p:spPr bwMode="auto">
            <a:xfrm>
              <a:off x="9113035" y="4758357"/>
              <a:ext cx="280170" cy="325928"/>
            </a:xfrm>
            <a:prstGeom prst="rect">
              <a:avLst/>
            </a:prstGeom>
            <a:noFill/>
            <a:ln w="9525">
              <a:noFill/>
              <a:miter lim="800000"/>
              <a:headEnd/>
              <a:tailEnd/>
            </a:ln>
          </p:spPr>
          <p:txBody>
            <a:bodyPr>
              <a:spAutoFit/>
            </a:bodyPr>
            <a:lstStyle/>
            <a:p>
              <a:pPr>
                <a:spcBef>
                  <a:spcPct val="50000"/>
                </a:spcBef>
              </a:pPr>
              <a:r>
                <a:rPr lang="en-US" altLang="ko-KR" sz="1200" b="1"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D</a:t>
              </a:r>
            </a:p>
          </p:txBody>
        </p:sp>
        <p:sp>
          <p:nvSpPr>
            <p:cNvPr id="41" name="Text Box 20">
              <a:extLst>
                <a:ext uri="{FF2B5EF4-FFF2-40B4-BE49-F238E27FC236}">
                  <a16:creationId xmlns:a16="http://schemas.microsoft.com/office/drawing/2014/main" id="{FBA9863E-9869-4537-84DF-E5058BB9D2BA}"/>
                </a:ext>
              </a:extLst>
            </p:cNvPr>
            <p:cNvSpPr txBox="1">
              <a:spLocks noChangeArrowheads="1"/>
            </p:cNvSpPr>
            <p:nvPr/>
          </p:nvSpPr>
          <p:spPr bwMode="auto">
            <a:xfrm>
              <a:off x="6513562" y="3827720"/>
              <a:ext cx="1303327" cy="651855"/>
            </a:xfrm>
            <a:prstGeom prst="rect">
              <a:avLst/>
            </a:prstGeom>
            <a:noFill/>
            <a:ln w="9525">
              <a:noFill/>
              <a:miter lim="800000"/>
              <a:headEnd/>
              <a:tailEnd/>
            </a:ln>
          </p:spPr>
          <p:txBody>
            <a:bodyPr wrap="square">
              <a:spAutoFit/>
            </a:bodyPr>
            <a:lstStyle/>
            <a:p>
              <a:r>
                <a:rPr lang="en-US" altLang="ko-KR" sz="1000"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Lack </a:t>
              </a:r>
              <a:r>
                <a:rPr lang="en-US" altLang="ko-KR" sz="1000">
                  <a:solidFill>
                    <a:srgbClr val="000000"/>
                  </a:solidFill>
                  <a:latin typeface="Arial" panose="020B0600000101010101" pitchFamily="34" charset="-127"/>
                  <a:ea typeface="Arial" panose="020B0600000101010101" pitchFamily="34" charset="-127"/>
                  <a:cs typeface="Arial Unicode MS" panose="020B0604020202020204" pitchFamily="34" charset="-128"/>
                </a:rPr>
                <a:t>of management</a:t>
              </a:r>
            </a:p>
            <a:p>
              <a:r>
                <a:rPr lang="en-US" altLang="ko-KR" sz="1000">
                  <a:solidFill>
                    <a:srgbClr val="000000"/>
                  </a:solidFill>
                  <a:latin typeface="Arial" panose="020B0600000101010101" pitchFamily="34" charset="-127"/>
                  <a:ea typeface="Arial" panose="020B0600000101010101" pitchFamily="34" charset="-127"/>
                  <a:cs typeface="Arial Unicode MS" panose="020B0604020202020204" pitchFamily="34" charset="-128"/>
                </a:rPr>
                <a:t>Lack of skill</a:t>
              </a:r>
              <a:endParaRPr lang="en-US" altLang="ko-KR" sz="1000" dirty="0">
                <a:solidFill>
                  <a:srgbClr val="000000"/>
                </a:solidFill>
                <a:latin typeface="LG Smart_H Regular" panose="020B0600000101010101" pitchFamily="34" charset="-127"/>
                <a:ea typeface="LG Smart_H Regular" panose="020B0600000101010101" pitchFamily="34" charset="-127"/>
                <a:cs typeface="Arial Unicode MS" panose="020B0604020202020204" pitchFamily="34" charset="-128"/>
              </a:endParaRPr>
            </a:p>
          </p:txBody>
        </p:sp>
        <p:sp>
          <p:nvSpPr>
            <p:cNvPr id="42" name="Text Box 21">
              <a:extLst>
                <a:ext uri="{FF2B5EF4-FFF2-40B4-BE49-F238E27FC236}">
                  <a16:creationId xmlns:a16="http://schemas.microsoft.com/office/drawing/2014/main" id="{4E6A85B0-10C3-4A76-ADAD-E2C95236DA18}"/>
                </a:ext>
              </a:extLst>
            </p:cNvPr>
            <p:cNvSpPr txBox="1">
              <a:spLocks noChangeArrowheads="1"/>
            </p:cNvSpPr>
            <p:nvPr/>
          </p:nvSpPr>
          <p:spPr bwMode="auto">
            <a:xfrm>
              <a:off x="6568444" y="5020070"/>
              <a:ext cx="1117346" cy="651856"/>
            </a:xfrm>
            <a:prstGeom prst="rect">
              <a:avLst/>
            </a:prstGeom>
            <a:noFill/>
            <a:ln w="9525">
              <a:noFill/>
              <a:miter lim="800000"/>
              <a:headEnd/>
              <a:tailEnd/>
            </a:ln>
          </p:spPr>
          <p:txBody>
            <a:bodyPr>
              <a:spAutoFit/>
            </a:bodyPr>
            <a:lstStyle/>
            <a:p>
              <a:r>
                <a:rPr lang="en-US" altLang="ko-KR" sz="1000"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Proper management</a:t>
              </a:r>
              <a:endParaRPr lang="ko-KR" altLang="en-US" sz="1000" dirty="0">
                <a:solidFill>
                  <a:srgbClr val="000000"/>
                </a:solidFill>
                <a:latin typeface="LG Smart_H Regular" panose="020B0600000101010101" pitchFamily="34" charset="-127"/>
                <a:ea typeface="LG Smart_H Regular" panose="020B0600000101010101" pitchFamily="34" charset="-127"/>
                <a:cs typeface="Arial Unicode MS" panose="020B0604020202020204" pitchFamily="34" charset="-128"/>
              </a:endParaRPr>
            </a:p>
            <a:p>
              <a:r>
                <a:rPr lang="en-US" altLang="ko-KR" sz="1000"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Lack of skills</a:t>
              </a:r>
              <a:endParaRPr lang="ko-KR" altLang="en-US" sz="1000" dirty="0">
                <a:solidFill>
                  <a:srgbClr val="000000"/>
                </a:solidFill>
                <a:latin typeface="LG Smart_H Regular" panose="020B0600000101010101" pitchFamily="34" charset="-127"/>
                <a:ea typeface="LG Smart_H Regular" panose="020B0600000101010101" pitchFamily="34" charset="-127"/>
                <a:cs typeface="Arial Unicode MS" panose="020B0604020202020204" pitchFamily="34" charset="-128"/>
              </a:endParaRPr>
            </a:p>
          </p:txBody>
        </p:sp>
        <p:sp>
          <p:nvSpPr>
            <p:cNvPr id="43" name="Text Box 22">
              <a:extLst>
                <a:ext uri="{FF2B5EF4-FFF2-40B4-BE49-F238E27FC236}">
                  <a16:creationId xmlns:a16="http://schemas.microsoft.com/office/drawing/2014/main" id="{B3A76730-7D39-4250-BA71-BD4D5C0069FF}"/>
                </a:ext>
              </a:extLst>
            </p:cNvPr>
            <p:cNvSpPr txBox="1">
              <a:spLocks noChangeArrowheads="1"/>
            </p:cNvSpPr>
            <p:nvPr/>
          </p:nvSpPr>
          <p:spPr bwMode="auto">
            <a:xfrm>
              <a:off x="8264079" y="3867733"/>
              <a:ext cx="1213911" cy="651855"/>
            </a:xfrm>
            <a:prstGeom prst="rect">
              <a:avLst/>
            </a:prstGeom>
            <a:noFill/>
            <a:ln w="9525">
              <a:noFill/>
              <a:miter lim="800000"/>
              <a:headEnd/>
              <a:tailEnd/>
            </a:ln>
          </p:spPr>
          <p:txBody>
            <a:bodyPr wrap="square">
              <a:spAutoFit/>
            </a:bodyPr>
            <a:lstStyle/>
            <a:p>
              <a:r>
                <a:rPr lang="en-US" altLang="ko-KR" sz="1000"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Lack of management</a:t>
              </a:r>
            </a:p>
            <a:p>
              <a:r>
                <a:rPr lang="en-US" altLang="ko-KR" sz="1000"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Proper skills</a:t>
              </a:r>
              <a:endParaRPr lang="ko-KR" altLang="en-US" sz="1000" dirty="0">
                <a:solidFill>
                  <a:srgbClr val="000000"/>
                </a:solidFill>
                <a:latin typeface="LG Smart_H Regular" panose="020B0600000101010101" pitchFamily="34" charset="-127"/>
                <a:ea typeface="LG Smart_H Regular" panose="020B0600000101010101" pitchFamily="34" charset="-127"/>
                <a:cs typeface="Arial Unicode MS" panose="020B0604020202020204" pitchFamily="34" charset="-128"/>
              </a:endParaRPr>
            </a:p>
          </p:txBody>
        </p:sp>
        <p:sp>
          <p:nvSpPr>
            <p:cNvPr id="44" name="Text Box 23">
              <a:extLst>
                <a:ext uri="{FF2B5EF4-FFF2-40B4-BE49-F238E27FC236}">
                  <a16:creationId xmlns:a16="http://schemas.microsoft.com/office/drawing/2014/main" id="{05BD512F-67DF-4736-80E2-CEA1B470C486}"/>
                </a:ext>
              </a:extLst>
            </p:cNvPr>
            <p:cNvSpPr txBox="1">
              <a:spLocks noChangeArrowheads="1"/>
            </p:cNvSpPr>
            <p:nvPr/>
          </p:nvSpPr>
          <p:spPr bwMode="auto">
            <a:xfrm>
              <a:off x="8323991" y="4965073"/>
              <a:ext cx="1220446" cy="651855"/>
            </a:xfrm>
            <a:prstGeom prst="rect">
              <a:avLst/>
            </a:prstGeom>
            <a:noFill/>
            <a:ln w="9525">
              <a:noFill/>
              <a:miter lim="800000"/>
              <a:headEnd/>
              <a:tailEnd/>
            </a:ln>
          </p:spPr>
          <p:txBody>
            <a:bodyPr wrap="square">
              <a:spAutoFit/>
            </a:bodyPr>
            <a:lstStyle/>
            <a:p>
              <a:r>
                <a:rPr lang="en-US" altLang="ko-KR" sz="1000"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Proper management</a:t>
              </a:r>
            </a:p>
            <a:p>
              <a:r>
                <a:rPr lang="en-US" altLang="ko-KR" sz="1000"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Proper skills</a:t>
              </a:r>
              <a:endParaRPr lang="ko-KR" altLang="en-US" sz="1000" dirty="0">
                <a:solidFill>
                  <a:srgbClr val="000000"/>
                </a:solidFill>
                <a:latin typeface="LG Smart_H Regular" panose="020B0600000101010101" pitchFamily="34" charset="-127"/>
                <a:ea typeface="LG Smart_H Regular" panose="020B0600000101010101" pitchFamily="34" charset="-127"/>
                <a:cs typeface="Arial Unicode MS" panose="020B0604020202020204" pitchFamily="34" charset="-128"/>
              </a:endParaRPr>
            </a:p>
          </p:txBody>
        </p:sp>
        <p:sp>
          <p:nvSpPr>
            <p:cNvPr id="45" name="Line 30">
              <a:extLst>
                <a:ext uri="{FF2B5EF4-FFF2-40B4-BE49-F238E27FC236}">
                  <a16:creationId xmlns:a16="http://schemas.microsoft.com/office/drawing/2014/main" id="{25B2880B-8280-4D1B-9DDF-8314019EA58B}"/>
                </a:ext>
              </a:extLst>
            </p:cNvPr>
            <p:cNvSpPr>
              <a:spLocks noChangeShapeType="1"/>
            </p:cNvSpPr>
            <p:nvPr/>
          </p:nvSpPr>
          <p:spPr bwMode="auto">
            <a:xfrm>
              <a:off x="5706255" y="3615323"/>
              <a:ext cx="0" cy="2380896"/>
            </a:xfrm>
            <a:prstGeom prst="line">
              <a:avLst/>
            </a:prstGeom>
            <a:noFill/>
            <a:ln w="9525">
              <a:solidFill>
                <a:srgbClr val="FF0000"/>
              </a:solidFill>
              <a:round/>
              <a:headEnd type="triangle" w="med" len="med"/>
              <a:tailEnd type="triangle" w="med" len="med"/>
            </a:ln>
          </p:spPr>
          <p:txBody>
            <a:bodyPr anchor="ctr"/>
            <a:lstStyle/>
            <a:p>
              <a:endParaRPr lang="ko-KR" altLang="en-US" sz="1200" dirty="0">
                <a:solidFill>
                  <a:prstClr val="black"/>
                </a:solidFill>
                <a:latin typeface="LG Smart_H Regular" panose="020B0600000101010101" pitchFamily="34" charset="-127"/>
                <a:ea typeface="LG Smart_H Regular" panose="020B0600000101010101" pitchFamily="34" charset="-127"/>
                <a:cs typeface="Arial Unicode MS" panose="020B0604020202020204" pitchFamily="34" charset="-128"/>
              </a:endParaRPr>
            </a:p>
          </p:txBody>
        </p:sp>
        <p:sp>
          <p:nvSpPr>
            <p:cNvPr id="46" name="Text Box 36">
              <a:extLst>
                <a:ext uri="{FF2B5EF4-FFF2-40B4-BE49-F238E27FC236}">
                  <a16:creationId xmlns:a16="http://schemas.microsoft.com/office/drawing/2014/main" id="{6DB980A6-8D3E-4595-A095-0CD813709CAA}"/>
                </a:ext>
              </a:extLst>
            </p:cNvPr>
            <p:cNvSpPr txBox="1">
              <a:spLocks noChangeArrowheads="1"/>
            </p:cNvSpPr>
            <p:nvPr/>
          </p:nvSpPr>
          <p:spPr bwMode="auto">
            <a:xfrm rot="16200000">
              <a:off x="4880282" y="4564292"/>
              <a:ext cx="1270044" cy="264288"/>
            </a:xfrm>
            <a:prstGeom prst="rect">
              <a:avLst/>
            </a:prstGeom>
            <a:noFill/>
            <a:ln w="9525" algn="ctr">
              <a:noFill/>
              <a:miter lim="800000"/>
              <a:headEnd/>
              <a:tailEnd/>
            </a:ln>
          </p:spPr>
          <p:txBody>
            <a:bodyPr>
              <a:spAutoFit/>
            </a:bodyPr>
            <a:lstStyle/>
            <a:p>
              <a:pPr algn="ctr">
                <a:spcBef>
                  <a:spcPct val="50000"/>
                </a:spcBef>
              </a:pPr>
              <a:r>
                <a:rPr lang="en-US" altLang="ko-KR" sz="1000" b="1"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Control</a:t>
              </a:r>
            </a:p>
          </p:txBody>
        </p:sp>
        <p:sp>
          <p:nvSpPr>
            <p:cNvPr id="47" name="Rectangle 55">
              <a:extLst>
                <a:ext uri="{FF2B5EF4-FFF2-40B4-BE49-F238E27FC236}">
                  <a16:creationId xmlns:a16="http://schemas.microsoft.com/office/drawing/2014/main" id="{420C2EB9-5F53-479C-9447-39BFD0FCD091}"/>
                </a:ext>
              </a:extLst>
            </p:cNvPr>
            <p:cNvSpPr>
              <a:spLocks noChangeArrowheads="1"/>
            </p:cNvSpPr>
            <p:nvPr/>
          </p:nvSpPr>
          <p:spPr bwMode="auto">
            <a:xfrm>
              <a:off x="9456865" y="5884461"/>
              <a:ext cx="988223" cy="235392"/>
            </a:xfrm>
            <a:prstGeom prst="rect">
              <a:avLst/>
            </a:prstGeom>
            <a:noFill/>
            <a:ln w="9525">
              <a:noFill/>
              <a:miter lim="800000"/>
              <a:headEnd/>
              <a:tailEnd/>
            </a:ln>
          </p:spPr>
          <p:txBody>
            <a:bodyPr wrap="square">
              <a:spAutoFit/>
            </a:bodyPr>
            <a:lstStyle/>
            <a:p>
              <a:r>
                <a:rPr lang="en-US" altLang="ko-KR" sz="700" b="1"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Z</a:t>
              </a:r>
              <a:r>
                <a:rPr lang="en-US" altLang="ko-KR" sz="700" b="1" baseline="-25000"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ST </a:t>
              </a:r>
              <a:r>
                <a:rPr lang="ko-KR" altLang="en-US" sz="700" b="1"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 </a:t>
              </a:r>
              <a:r>
                <a:rPr lang="en-US" altLang="ko-KR" sz="700" b="1"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Or Z</a:t>
              </a:r>
              <a:r>
                <a:rPr lang="en-US" altLang="ko-KR" sz="700" b="1" baseline="-25000"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ST</a:t>
              </a:r>
              <a:r>
                <a:rPr lang="en-US" altLang="ko-KR" sz="700" b="1"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(Bench)</a:t>
              </a:r>
            </a:p>
          </p:txBody>
        </p:sp>
        <p:sp>
          <p:nvSpPr>
            <p:cNvPr id="48" name="Line 31">
              <a:extLst>
                <a:ext uri="{FF2B5EF4-FFF2-40B4-BE49-F238E27FC236}">
                  <a16:creationId xmlns:a16="http://schemas.microsoft.com/office/drawing/2014/main" id="{D4DA5518-7C01-4BE4-8ABF-562CA7555F91}"/>
                </a:ext>
              </a:extLst>
            </p:cNvPr>
            <p:cNvSpPr>
              <a:spLocks noChangeShapeType="1"/>
            </p:cNvSpPr>
            <p:nvPr/>
          </p:nvSpPr>
          <p:spPr bwMode="auto">
            <a:xfrm>
              <a:off x="6060635" y="6162459"/>
              <a:ext cx="3403733" cy="0"/>
            </a:xfrm>
            <a:prstGeom prst="line">
              <a:avLst/>
            </a:prstGeom>
            <a:noFill/>
            <a:ln w="9525">
              <a:solidFill>
                <a:srgbClr val="FF0000"/>
              </a:solidFill>
              <a:round/>
              <a:headEnd type="triangle" w="med" len="med"/>
              <a:tailEnd type="triangle" w="med" len="med"/>
            </a:ln>
          </p:spPr>
          <p:txBody>
            <a:bodyPr anchor="ctr"/>
            <a:lstStyle/>
            <a:p>
              <a:endParaRPr lang="ko-KR" altLang="en-US" dirty="0">
                <a:solidFill>
                  <a:prstClr val="black"/>
                </a:solidFill>
                <a:latin typeface="LG Smart_H Regular" panose="020B0600000101010101" pitchFamily="34" charset="-127"/>
                <a:ea typeface="LG Smart_H Regular" panose="020B0600000101010101" pitchFamily="34" charset="-127"/>
                <a:cs typeface="Arial Unicode MS" panose="020B0604020202020204" pitchFamily="34" charset="-128"/>
              </a:endParaRPr>
            </a:p>
          </p:txBody>
        </p:sp>
        <p:sp>
          <p:nvSpPr>
            <p:cNvPr id="49" name="Text Box 34">
              <a:extLst>
                <a:ext uri="{FF2B5EF4-FFF2-40B4-BE49-F238E27FC236}">
                  <a16:creationId xmlns:a16="http://schemas.microsoft.com/office/drawing/2014/main" id="{EBDA23CD-C680-41C0-9552-B6A4B7F2BB63}"/>
                </a:ext>
              </a:extLst>
            </p:cNvPr>
            <p:cNvSpPr txBox="1">
              <a:spLocks noChangeArrowheads="1"/>
            </p:cNvSpPr>
            <p:nvPr/>
          </p:nvSpPr>
          <p:spPr bwMode="auto">
            <a:xfrm>
              <a:off x="9109150" y="6183452"/>
              <a:ext cx="734112" cy="325928"/>
            </a:xfrm>
            <a:prstGeom prst="rect">
              <a:avLst/>
            </a:prstGeom>
            <a:noFill/>
            <a:ln w="9525" algn="ctr">
              <a:noFill/>
              <a:miter lim="800000"/>
              <a:headEnd/>
              <a:tailEnd/>
            </a:ln>
          </p:spPr>
          <p:txBody>
            <a:bodyPr wrap="square">
              <a:spAutoFit/>
            </a:bodyPr>
            <a:lstStyle/>
            <a:p>
              <a:pPr algn="ctr">
                <a:spcBef>
                  <a:spcPct val="50000"/>
                </a:spcBef>
              </a:pPr>
              <a:r>
                <a:rPr lang="en-US" altLang="ko-KR" sz="1200"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Good</a:t>
              </a:r>
            </a:p>
          </p:txBody>
        </p:sp>
        <p:sp>
          <p:nvSpPr>
            <p:cNvPr id="50" name="Text Box 35">
              <a:extLst>
                <a:ext uri="{FF2B5EF4-FFF2-40B4-BE49-F238E27FC236}">
                  <a16:creationId xmlns:a16="http://schemas.microsoft.com/office/drawing/2014/main" id="{E48E283C-7CC9-426A-84F4-62FAD64114CF}"/>
                </a:ext>
              </a:extLst>
            </p:cNvPr>
            <p:cNvSpPr txBox="1">
              <a:spLocks noChangeArrowheads="1"/>
            </p:cNvSpPr>
            <p:nvPr/>
          </p:nvSpPr>
          <p:spPr bwMode="auto">
            <a:xfrm>
              <a:off x="5833830" y="6146714"/>
              <a:ext cx="605367" cy="325928"/>
            </a:xfrm>
            <a:prstGeom prst="rect">
              <a:avLst/>
            </a:prstGeom>
            <a:noFill/>
            <a:ln w="9525" algn="ctr">
              <a:noFill/>
              <a:miter lim="800000"/>
              <a:headEnd/>
              <a:tailEnd/>
            </a:ln>
          </p:spPr>
          <p:txBody>
            <a:bodyPr>
              <a:spAutoFit/>
            </a:bodyPr>
            <a:lstStyle/>
            <a:p>
              <a:pPr algn="ctr">
                <a:spcBef>
                  <a:spcPct val="50000"/>
                </a:spcBef>
              </a:pPr>
              <a:r>
                <a:rPr lang="en-US" altLang="ko-KR" sz="1200"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Poor</a:t>
              </a:r>
            </a:p>
          </p:txBody>
        </p:sp>
        <p:sp>
          <p:nvSpPr>
            <p:cNvPr id="51" name="Text Box 37">
              <a:extLst>
                <a:ext uri="{FF2B5EF4-FFF2-40B4-BE49-F238E27FC236}">
                  <a16:creationId xmlns:a16="http://schemas.microsoft.com/office/drawing/2014/main" id="{6ACB3CF9-F1A5-40FF-94B5-AC5A9AA50E7F}"/>
                </a:ext>
              </a:extLst>
            </p:cNvPr>
            <p:cNvSpPr txBox="1">
              <a:spLocks noChangeArrowheads="1"/>
            </p:cNvSpPr>
            <p:nvPr/>
          </p:nvSpPr>
          <p:spPr bwMode="auto">
            <a:xfrm>
              <a:off x="7269702" y="6134470"/>
              <a:ext cx="1210735" cy="325928"/>
            </a:xfrm>
            <a:prstGeom prst="rect">
              <a:avLst/>
            </a:prstGeom>
            <a:noFill/>
            <a:ln w="9525" algn="ctr">
              <a:noFill/>
              <a:miter lim="800000"/>
              <a:headEnd/>
              <a:tailEnd/>
            </a:ln>
          </p:spPr>
          <p:txBody>
            <a:bodyPr>
              <a:spAutoFit/>
            </a:bodyPr>
            <a:lstStyle/>
            <a:p>
              <a:pPr algn="ctr">
                <a:spcBef>
                  <a:spcPct val="50000"/>
                </a:spcBef>
              </a:pPr>
              <a:r>
                <a:rPr lang="en-US" altLang="ko-KR" sz="1200" b="1"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Technology</a:t>
              </a:r>
            </a:p>
          </p:txBody>
        </p:sp>
      </p:grpSp>
      <p:sp>
        <p:nvSpPr>
          <p:cNvPr id="52" name="제목 1">
            <a:extLst>
              <a:ext uri="{FF2B5EF4-FFF2-40B4-BE49-F238E27FC236}">
                <a16:creationId xmlns:a16="http://schemas.microsoft.com/office/drawing/2014/main" id="{E98C66C1-2F0F-45A6-8353-A1DF3D59C563}"/>
              </a:ext>
            </a:extLst>
          </p:cNvPr>
          <p:cNvSpPr txBox="1">
            <a:spLocks/>
          </p:cNvSpPr>
          <p:nvPr/>
        </p:nvSpPr>
        <p:spPr>
          <a:xfrm>
            <a:off x="110170" y="71674"/>
            <a:ext cx="6156000" cy="418058"/>
          </a:xfrm>
          <a:prstGeom prst="rect">
            <a:avLst/>
          </a:prstGeom>
        </p:spPr>
        <p:txBody>
          <a:bodyPr vert="horz" lIns="91440" tIns="45720" rIns="91440" bIns="45720" rtlCol="0" anchor="ctr">
            <a:noAutofit/>
          </a:bodyPr>
          <a:lstStyle/>
          <a:p>
            <a:pPr marL="0" marR="0" lvl="0" indent="0" algn="l" defTabSz="914400" rtl="0" eaLnBrk="1" fontAlgn="base" latinLnBrk="0" hangingPunct="0">
              <a:lnSpc>
                <a:spcPct val="100000"/>
              </a:lnSpc>
              <a:spcBef>
                <a:spcPct val="0"/>
              </a:spcBef>
              <a:spcAft>
                <a:spcPct val="0"/>
              </a:spcAft>
              <a:buClrTx/>
              <a:buSzTx/>
              <a:buFontTx/>
              <a:buNone/>
              <a:tabLst/>
              <a:defRPr/>
            </a:pPr>
            <a:r>
              <a:rPr lang="en-US" altLang="ko-KR" sz="1600" b="1" kern="0" noProof="0" dirty="0">
                <a:latin typeface="Arial Narrow" panose="020B0606020202030204" pitchFamily="34" charset="0"/>
                <a:ea typeface="Arial Unicode MS" panose="020B0604020202020204" pitchFamily="34" charset="-128"/>
                <a:cs typeface="Arial" panose="020B0604020202020204" pitchFamily="34" charset="0"/>
              </a:rPr>
              <a:t>4.4</a:t>
            </a:r>
            <a:r>
              <a:rPr kumimoji="1" lang="en-US" altLang="ko-KR" sz="1600" b="1" i="0" u="none" strike="noStrike" kern="0" cap="none" spc="0" normalizeH="0" baseline="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rPr>
              <a:t> Check Process Capability after</a:t>
            </a:r>
            <a:r>
              <a:rPr kumimoji="1" lang="en-US" altLang="ko-KR" sz="1600" b="1" i="0" u="none" strike="noStrike" kern="0" cap="none" spc="0" normalizeH="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rPr>
              <a:t> improving the measurement system</a:t>
            </a:r>
            <a:endParaRPr kumimoji="1" lang="ko-KR" altLang="en-US" sz="1600" b="1" i="0" u="none" strike="noStrike" kern="0" cap="none" spc="0" normalizeH="0" baseline="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endParaRPr>
          </a:p>
        </p:txBody>
      </p:sp>
      <p:sp>
        <p:nvSpPr>
          <p:cNvPr id="53" name="TextBox 52">
            <a:extLst>
              <a:ext uri="{FF2B5EF4-FFF2-40B4-BE49-F238E27FC236}">
                <a16:creationId xmlns:a16="http://schemas.microsoft.com/office/drawing/2014/main" id="{2F5FF74F-BA63-469A-A32E-C5426DBE5C14}"/>
              </a:ext>
            </a:extLst>
          </p:cNvPr>
          <p:cNvSpPr txBox="1"/>
          <p:nvPr/>
        </p:nvSpPr>
        <p:spPr>
          <a:xfrm>
            <a:off x="29671" y="594277"/>
            <a:ext cx="2561129" cy="276999"/>
          </a:xfrm>
          <a:prstGeom prst="rect">
            <a:avLst/>
          </a:prstGeom>
          <a:noFill/>
        </p:spPr>
        <p:txBody>
          <a:bodyPr wrap="square" rtlCol="0">
            <a:spAutoFit/>
          </a:bodyPr>
          <a:lstStyle/>
          <a:p>
            <a:pPr marL="171450" indent="-171450" eaLnBrk="1" latinLnBrk="0">
              <a:buFont typeface="Wingdings" panose="05000000000000000000" pitchFamily="2" charset="2"/>
              <a:buChar char="q"/>
            </a:pPr>
            <a:r>
              <a:rPr lang="vi-VN" sz="1000" b="1" dirty="0">
                <a:latin typeface="Arial" panose="020B0604020202020204" pitchFamily="34" charset="0"/>
                <a:ea typeface="Arial Unicode MS" panose="020B0604020202020204" pitchFamily="34" charset="-128"/>
                <a:cs typeface="Arial" panose="020B0604020202020204" pitchFamily="34" charset="0"/>
              </a:rPr>
              <a:t>Station 1</a:t>
            </a:r>
            <a:r>
              <a:rPr lang="en-US" sz="1000" b="1" dirty="0">
                <a:latin typeface="Arial" panose="020B0604020202020204" pitchFamily="34" charset="0"/>
                <a:ea typeface="Arial Unicode MS" panose="020B0604020202020204" pitchFamily="34" charset="-128"/>
                <a:cs typeface="Arial" panose="020B0604020202020204" pitchFamily="34" charset="0"/>
              </a:rPr>
              <a:t> Luminance</a:t>
            </a:r>
          </a:p>
        </p:txBody>
      </p:sp>
      <p:sp>
        <p:nvSpPr>
          <p:cNvPr id="54" name="AutoShape 57">
            <a:extLst>
              <a:ext uri="{FF2B5EF4-FFF2-40B4-BE49-F238E27FC236}">
                <a16:creationId xmlns:a16="http://schemas.microsoft.com/office/drawing/2014/main" id="{28EE689D-EE5C-4815-8EA0-F4D2FAE4A257}"/>
              </a:ext>
            </a:extLst>
          </p:cNvPr>
          <p:cNvSpPr>
            <a:spLocks noChangeArrowheads="1"/>
          </p:cNvSpPr>
          <p:nvPr/>
        </p:nvSpPr>
        <p:spPr bwMode="auto">
          <a:xfrm>
            <a:off x="7687914" y="178989"/>
            <a:ext cx="749300" cy="287338"/>
          </a:xfrm>
          <a:prstGeom prst="homePlate">
            <a:avLst>
              <a:gd name="adj" fmla="val 46698"/>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Analyze</a:t>
            </a:r>
          </a:p>
        </p:txBody>
      </p:sp>
      <p:sp>
        <p:nvSpPr>
          <p:cNvPr id="55" name="AutoShape 56">
            <a:extLst>
              <a:ext uri="{FF2B5EF4-FFF2-40B4-BE49-F238E27FC236}">
                <a16:creationId xmlns:a16="http://schemas.microsoft.com/office/drawing/2014/main" id="{D43199DA-1E14-4253-B216-05907E7561BB}"/>
              </a:ext>
            </a:extLst>
          </p:cNvPr>
          <p:cNvSpPr>
            <a:spLocks noChangeArrowheads="1"/>
          </p:cNvSpPr>
          <p:nvPr/>
        </p:nvSpPr>
        <p:spPr bwMode="auto">
          <a:xfrm>
            <a:off x="7018783" y="178989"/>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Measure</a:t>
            </a:r>
          </a:p>
        </p:txBody>
      </p:sp>
      <p:sp>
        <p:nvSpPr>
          <p:cNvPr id="56" name="AutoShape 58">
            <a:extLst>
              <a:ext uri="{FF2B5EF4-FFF2-40B4-BE49-F238E27FC236}">
                <a16:creationId xmlns:a16="http://schemas.microsoft.com/office/drawing/2014/main" id="{D554B8F1-71A1-49DB-BE92-80A12AEE5C7F}"/>
              </a:ext>
            </a:extLst>
          </p:cNvPr>
          <p:cNvSpPr>
            <a:spLocks noChangeArrowheads="1"/>
          </p:cNvSpPr>
          <p:nvPr/>
        </p:nvSpPr>
        <p:spPr bwMode="auto">
          <a:xfrm>
            <a:off x="8330852" y="51592"/>
            <a:ext cx="747712" cy="287337"/>
          </a:xfrm>
          <a:prstGeom prst="homePlate">
            <a:avLst>
              <a:gd name="adj" fmla="val 46599"/>
            </a:avLst>
          </a:prstGeom>
          <a:gradFill rotWithShape="1">
            <a:gsLst>
              <a:gs pos="0">
                <a:srgbClr val="494900"/>
              </a:gs>
              <a:gs pos="100000">
                <a:srgbClr val="808000"/>
              </a:gs>
            </a:gsLst>
            <a:lin ang="0" scaled="1"/>
          </a:gradFill>
          <a:ln w="6350" algn="ctr">
            <a:solidFill>
              <a:srgbClr val="808080"/>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latin typeface="Arial Narrow" panose="020B0606020202030204" pitchFamily="34" charset="0"/>
                <a:ea typeface="Arial" panose="020B0503020000020004" pitchFamily="50" charset="-127"/>
              </a:rPr>
              <a:t>Improve</a:t>
            </a:r>
          </a:p>
        </p:txBody>
      </p:sp>
      <p:sp>
        <p:nvSpPr>
          <p:cNvPr id="4" name="Oval 3">
            <a:extLst>
              <a:ext uri="{FF2B5EF4-FFF2-40B4-BE49-F238E27FC236}">
                <a16:creationId xmlns:a16="http://schemas.microsoft.com/office/drawing/2014/main" id="{13B6EF7D-CDBF-45E6-A01F-F314BBB01FA9}"/>
              </a:ext>
            </a:extLst>
          </p:cNvPr>
          <p:cNvSpPr/>
          <p:nvPr/>
        </p:nvSpPr>
        <p:spPr bwMode="auto">
          <a:xfrm>
            <a:off x="8017399" y="5248557"/>
            <a:ext cx="130509" cy="137281"/>
          </a:xfrm>
          <a:prstGeom prst="ellipse">
            <a:avLst/>
          </a:prstGeom>
          <a:solidFill>
            <a:srgbClr val="C00000"/>
          </a:solidFill>
          <a:ln w="9525" cap="flat" cmpd="sng" algn="ctr">
            <a:solidFill>
              <a:schemeClr val="tx1"/>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0" i="0" u="none" strike="noStrike" cap="none" normalizeH="0" baseline="0">
              <a:ln>
                <a:noFill/>
              </a:ln>
              <a:solidFill>
                <a:schemeClr val="tx1"/>
              </a:solidFill>
              <a:effectLst/>
              <a:latin typeface="Arial" charset="0"/>
              <a:ea typeface="돋움" pitchFamily="50" charset="-127"/>
            </a:endParaRPr>
          </a:p>
        </p:txBody>
      </p:sp>
      <p:sp>
        <p:nvSpPr>
          <p:cNvPr id="57" name="Added text 57"/>
          <p:cNvSpPr txBox="1"/>
          <p:nvPr/>
        </p:nvSpPr>
        <p:spPr>
          <a:xfrm>
            <a:off x="228600" y="6324600"/>
            <a:ext cx="4572000" cy="285750"/>
          </a:xfrm>
          <a:prstGeom prst="rect">
            <a:avLst/>
          </a:prstGeom>
          <a:noFill/>
        </p:spPr>
        <p:txBody>
          <a:bodyPr wrap="square" lIns="0" tIns="0" rIns="0" bIns="0" rtlCol="0">
            <a:noAutofit/>
          </a:bodyPr>
          <a:lstStyle/>
          <a:p>
            <a:r>
              <a:rPr lang="en-US" sz="900" b="0" dirty="0">
                <a:solidFill>
                  <a:srgbClr val="000000"/>
                </a:solidFill>
                <a:latin typeface="Arial"/>
                <a:cs typeface="Arial"/>
              </a:rPr>
              <a:t>(The matrix boundary Zst = 4.5 is the minimum for good technology; the Six Sigma level Zst ≥ 6 / Zlt ≥ 4.5 is also reached.)</a:t>
            </a:r>
          </a:p>
        </p:txBody>
      </p:sp>
    </p:spTree>
    <p:extLst>
      <p:ext uri="{BB962C8B-B14F-4D97-AF65-F5344CB8AC3E}">
        <p14:creationId xmlns:p14="http://schemas.microsoft.com/office/powerpoint/2010/main" val="282890644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2" name="Diagram 11"/>
          <p:cNvGraphicFramePr/>
          <p:nvPr/>
        </p:nvGraphicFramePr>
        <p:xfrm>
          <a:off x="5689764" y="-1221095"/>
          <a:ext cx="3734291" cy="61715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17" name="Straight Connector 16"/>
          <p:cNvCxnSpPr/>
          <p:nvPr/>
        </p:nvCxnSpPr>
        <p:spPr>
          <a:xfrm>
            <a:off x="0" y="508838"/>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5" name="Slide Number Placeholder 4">
            <a:extLst>
              <a:ext uri="{FF2B5EF4-FFF2-40B4-BE49-F238E27FC236}">
                <a16:creationId xmlns:a16="http://schemas.microsoft.com/office/drawing/2014/main" id="{C43E9E2D-07E0-4BDA-8E12-269E0FA0D474}"/>
              </a:ext>
            </a:extLst>
          </p:cNvPr>
          <p:cNvSpPr>
            <a:spLocks noGrp="1"/>
          </p:cNvSpPr>
          <p:nvPr>
            <p:ph type="sldNum" sz="quarter" idx="12"/>
          </p:nvPr>
        </p:nvSpPr>
        <p:spPr>
          <a:xfrm>
            <a:off x="3700326" y="6643499"/>
            <a:ext cx="2133600" cy="198047"/>
          </a:xfrm>
        </p:spPr>
        <p:txBody>
          <a:bodyPr/>
          <a:lstStyle/>
          <a:p>
            <a:pPr algn="ctr" eaLnBrk="1" latinLnBrk="0"/>
            <a:r>
              <a:rPr sz="1000" b="0">
                <a:latin typeface="Arial"/>
              </a:rPr>
              <a:t>28 / 33</a:t>
            </a:r>
            <a:endParaRPr lang="ko-KR" altLang="en-US" sz="1200" dirty="0">
              <a:solidFill>
                <a:prstClr val="black">
                  <a:tint val="75000"/>
                </a:prstClr>
              </a:solidFill>
              <a:latin typeface="Arial" panose="020B0604020202020204" pitchFamily="34" charset="0"/>
              <a:ea typeface="Arial Unicode MS" panose="020B0604020202020204" pitchFamily="34" charset="-128"/>
              <a:cs typeface="Arial" panose="020B0604020202020204" pitchFamily="34" charset="0"/>
            </a:endParaRPr>
          </a:p>
        </p:txBody>
      </p:sp>
      <p:sp>
        <p:nvSpPr>
          <p:cNvPr id="13" name="AutoShape 55">
            <a:extLst>
              <a:ext uri="{FF2B5EF4-FFF2-40B4-BE49-F238E27FC236}">
                <a16:creationId xmlns:a16="http://schemas.microsoft.com/office/drawing/2014/main" id="{8D969275-7FCE-4DA4-896B-5F6B33E66339}"/>
              </a:ext>
            </a:extLst>
          </p:cNvPr>
          <p:cNvSpPr>
            <a:spLocks noChangeArrowheads="1"/>
          </p:cNvSpPr>
          <p:nvPr/>
        </p:nvSpPr>
        <p:spPr bwMode="auto">
          <a:xfrm>
            <a:off x="9121997" y="155670"/>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Control</a:t>
            </a:r>
          </a:p>
        </p:txBody>
      </p:sp>
      <p:sp>
        <p:nvSpPr>
          <p:cNvPr id="19" name="AutoShape 59">
            <a:extLst>
              <a:ext uri="{FF2B5EF4-FFF2-40B4-BE49-F238E27FC236}">
                <a16:creationId xmlns:a16="http://schemas.microsoft.com/office/drawing/2014/main" id="{BCF43FF0-638F-4D22-9E24-50CD9446CEC3}"/>
              </a:ext>
            </a:extLst>
          </p:cNvPr>
          <p:cNvSpPr>
            <a:spLocks noChangeArrowheads="1"/>
          </p:cNvSpPr>
          <p:nvPr/>
        </p:nvSpPr>
        <p:spPr bwMode="auto">
          <a:xfrm>
            <a:off x="6372447" y="155670"/>
            <a:ext cx="757238" cy="287338"/>
          </a:xfrm>
          <a:prstGeom prst="homePlate">
            <a:avLst>
              <a:gd name="adj" fmla="val 47192"/>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Define</a:t>
            </a:r>
          </a:p>
        </p:txBody>
      </p:sp>
      <p:sp>
        <p:nvSpPr>
          <p:cNvPr id="21" name="TextBox 20">
            <a:extLst>
              <a:ext uri="{FF2B5EF4-FFF2-40B4-BE49-F238E27FC236}">
                <a16:creationId xmlns:a16="http://schemas.microsoft.com/office/drawing/2014/main" id="{4D3DF1E9-4F4B-4537-85CB-35E50A4338F4}"/>
              </a:ext>
            </a:extLst>
          </p:cNvPr>
          <p:cNvSpPr txBox="1"/>
          <p:nvPr/>
        </p:nvSpPr>
        <p:spPr>
          <a:xfrm>
            <a:off x="5572865" y="5360459"/>
            <a:ext cx="3429000" cy="338426"/>
          </a:xfrm>
          <a:prstGeom prst="rect">
            <a:avLst/>
          </a:prstGeom>
          <a:noFill/>
        </p:spPr>
        <p:txBody>
          <a:bodyPr wrap="square" rtlCol="0">
            <a:spAutoFit/>
          </a:bodyPr>
          <a:lstStyle/>
          <a:p>
            <a:pPr eaLnBrk="1" latinLnBrk="0">
              <a:lnSpc>
                <a:spcPct val="150000"/>
              </a:lnSpc>
            </a:pPr>
            <a:r>
              <a:rPr lang="en-US" sz="1000" dirty="0">
                <a:latin typeface="Arial" panose="020B0600000101010101" pitchFamily="34" charset="-127"/>
                <a:ea typeface="Arial" panose="020B0600000101010101" pitchFamily="34" charset="-127"/>
                <a:cs typeface="Arial" panose="020B0604020202020204" pitchFamily="34" charset="0"/>
              </a:rPr>
              <a:t>Cpk = 2.39 (= CPL; USL 2000 is far from the process) (Goal ≥ 1.33; target ≥ 1.67) </a:t>
            </a:r>
            <a:r>
              <a:rPr lang="en-US" sz="1000" dirty="0">
                <a:latin typeface="Arial" panose="020B0600000101010101" pitchFamily="34" charset="-127"/>
                <a:ea typeface="Arial" panose="020B0600000101010101" pitchFamily="34" charset="-127"/>
                <a:cs typeface="Arial" panose="020B0604020202020204" pitchFamily="34" charset="0"/>
                <a:sym typeface="Wingdings" panose="05000000000000000000" pitchFamily="2" charset="2"/>
              </a:rPr>
              <a:t> Pass</a:t>
            </a:r>
            <a:endParaRPr lang="en-US" sz="1200" dirty="0">
              <a:latin typeface="LG Smart_H Regular" panose="020B0600000101010101" pitchFamily="34" charset="-127"/>
              <a:ea typeface="LG Smart_H Regular" panose="020B0600000101010101" pitchFamily="34" charset="-127"/>
              <a:cs typeface="Arial" panose="020B0604020202020204" pitchFamily="34" charset="0"/>
            </a:endParaRPr>
          </a:p>
        </p:txBody>
      </p:sp>
      <p:sp>
        <p:nvSpPr>
          <p:cNvPr id="22" name="TextBox 21">
            <a:extLst>
              <a:ext uri="{FF2B5EF4-FFF2-40B4-BE49-F238E27FC236}">
                <a16:creationId xmlns:a16="http://schemas.microsoft.com/office/drawing/2014/main" id="{91A13D46-5B91-4121-A651-FD19FF223FEC}"/>
              </a:ext>
            </a:extLst>
          </p:cNvPr>
          <p:cNvSpPr txBox="1"/>
          <p:nvPr/>
        </p:nvSpPr>
        <p:spPr>
          <a:xfrm>
            <a:off x="307691" y="5360459"/>
            <a:ext cx="4876800" cy="616259"/>
          </a:xfrm>
          <a:prstGeom prst="rect">
            <a:avLst/>
          </a:prstGeom>
          <a:noFill/>
        </p:spPr>
        <p:txBody>
          <a:bodyPr wrap="square" rtlCol="0">
            <a:spAutoFit/>
          </a:bodyPr>
          <a:lstStyle/>
          <a:p>
            <a:pPr eaLnBrk="1" latinLnBrk="0">
              <a:lnSpc>
                <a:spcPct val="150000"/>
              </a:lnSpc>
            </a:pPr>
            <a:r>
              <a:rPr sz="1000" b="0">
                <a:latin typeface="Arial"/>
              </a:rPr>
              <a:t>P-value = 0.503 &gt; 0.05 -&gt; Fail to reject H0 -&gt; No evidence against normality (PASS)</a:t>
            </a:r>
          </a:p>
          <a:p>
            <a:pPr eaLnBrk="1" latinLnBrk="0">
              <a:lnSpc>
                <a:spcPct val="150000"/>
              </a:lnSpc>
            </a:pPr>
            <a:r>
              <a:rPr lang="en-US" altLang="ko-KR" sz="1000" dirty="0">
                <a:latin typeface="Arial" panose="020B0604020202020204" pitchFamily="34" charset="0"/>
                <a:ea typeface="Arial Unicode MS" panose="020B0604020202020204" pitchFamily="34" charset="-128"/>
                <a:cs typeface="Arial" panose="020B0604020202020204" pitchFamily="34" charset="0"/>
                <a:sym typeface="Wingdings" pitchFamily="2" charset="2"/>
              </a:rPr>
              <a:t>(</a:t>
            </a:r>
            <a:r>
              <a:rPr lang="en-US" altLang="ko-KR" sz="1000" dirty="0">
                <a:latin typeface="Arial" panose="020B0600000101010101" pitchFamily="34" charset="-127"/>
                <a:ea typeface="Arial" panose="020B0600000101010101" pitchFamily="34" charset="-127"/>
                <a:cs typeface="Arial"/>
                <a:sym typeface="Wingdings" pitchFamily="2" charset="2"/>
              </a:rPr>
              <a:t>Data can be treated as normally distributed</a:t>
            </a:r>
            <a:r>
              <a:rPr lang="en-US" altLang="ko-KR" sz="1000" dirty="0">
                <a:latin typeface="Arial" panose="020B0604020202020204" pitchFamily="34" charset="0"/>
                <a:ea typeface="Arial Unicode MS" panose="020B0604020202020204" pitchFamily="34" charset="-128"/>
                <a:cs typeface="Arial" panose="020B0604020202020204" pitchFamily="34" charset="0"/>
                <a:sym typeface="Wingdings" pitchFamily="2" charset="2"/>
              </a:rPr>
              <a:t>)</a:t>
            </a:r>
            <a:r>
              <a:rPr lang="en-US" sz="1000" dirty="0">
                <a:latin typeface="Arial" panose="020B0600000101010101" pitchFamily="34" charset="-127"/>
                <a:ea typeface="Arial" panose="020B0600000101010101" pitchFamily="34" charset="-127"/>
                <a:cs typeface="Arial" panose="020B0604020202020204" pitchFamily="34" charset="0"/>
              </a:rPr>
              <a:t> </a:t>
            </a:r>
          </a:p>
        </p:txBody>
      </p:sp>
      <p:sp>
        <p:nvSpPr>
          <p:cNvPr id="24" name="제목 1">
            <a:extLst>
              <a:ext uri="{FF2B5EF4-FFF2-40B4-BE49-F238E27FC236}">
                <a16:creationId xmlns:a16="http://schemas.microsoft.com/office/drawing/2014/main" id="{031A6440-6634-4103-92B8-49C3ED90C4C8}"/>
              </a:ext>
            </a:extLst>
          </p:cNvPr>
          <p:cNvSpPr txBox="1">
            <a:spLocks/>
          </p:cNvSpPr>
          <p:nvPr/>
        </p:nvSpPr>
        <p:spPr>
          <a:xfrm>
            <a:off x="110170" y="71674"/>
            <a:ext cx="6156000" cy="418058"/>
          </a:xfrm>
          <a:prstGeom prst="rect">
            <a:avLst/>
          </a:prstGeom>
        </p:spPr>
        <p:txBody>
          <a:bodyPr vert="horz" lIns="91440" tIns="45720" rIns="91440" bIns="45720" rtlCol="0" anchor="ctr">
            <a:noAutofit/>
          </a:bodyPr>
          <a:lstStyle/>
          <a:p>
            <a:pPr marL="0" marR="0" lvl="0" indent="0" algn="l" defTabSz="914400" rtl="0" eaLnBrk="1" fontAlgn="base" latinLnBrk="0" hangingPunct="0">
              <a:lnSpc>
                <a:spcPct val="100000"/>
              </a:lnSpc>
              <a:spcBef>
                <a:spcPct val="0"/>
              </a:spcBef>
              <a:spcAft>
                <a:spcPct val="0"/>
              </a:spcAft>
              <a:buClrTx/>
              <a:buSzTx/>
              <a:buFontTx/>
              <a:buNone/>
              <a:tabLst/>
              <a:defRPr/>
            </a:pPr>
            <a:r>
              <a:rPr lang="en-US" altLang="ko-KR" sz="1600" b="1" kern="0" noProof="0" dirty="0">
                <a:latin typeface="Arial Narrow" panose="020B0606020202030204" pitchFamily="34" charset="0"/>
                <a:ea typeface="Arial Unicode MS" panose="020B0604020202020204" pitchFamily="34" charset="-128"/>
                <a:cs typeface="Arial" panose="020B0604020202020204" pitchFamily="34" charset="0"/>
              </a:rPr>
              <a:t>4.4</a:t>
            </a:r>
            <a:r>
              <a:rPr kumimoji="1" lang="en-US" altLang="ko-KR" sz="1600" b="1" i="0" u="none" strike="noStrike" kern="0" cap="none" spc="0" normalizeH="0" baseline="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rPr>
              <a:t> Check Process Capability after</a:t>
            </a:r>
            <a:r>
              <a:rPr kumimoji="1" lang="en-US" altLang="ko-KR" sz="1600" b="1" i="0" u="none" strike="noStrike" kern="0" cap="none" spc="0" normalizeH="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rPr>
              <a:t> improving the measurement system</a:t>
            </a:r>
            <a:endParaRPr kumimoji="1" lang="ko-KR" altLang="en-US" sz="1600" b="1" i="0" u="none" strike="noStrike" kern="0" cap="none" spc="0" normalizeH="0" baseline="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endParaRPr>
          </a:p>
        </p:txBody>
      </p:sp>
      <p:sp>
        <p:nvSpPr>
          <p:cNvPr id="25" name="TextBox 24">
            <a:extLst>
              <a:ext uri="{FF2B5EF4-FFF2-40B4-BE49-F238E27FC236}">
                <a16:creationId xmlns:a16="http://schemas.microsoft.com/office/drawing/2014/main" id="{B7674296-F9ED-4CBE-BD6B-2C6DA8CD6EBE}"/>
              </a:ext>
            </a:extLst>
          </p:cNvPr>
          <p:cNvSpPr txBox="1"/>
          <p:nvPr/>
        </p:nvSpPr>
        <p:spPr>
          <a:xfrm>
            <a:off x="29671" y="594277"/>
            <a:ext cx="2942129" cy="276999"/>
          </a:xfrm>
          <a:prstGeom prst="rect">
            <a:avLst/>
          </a:prstGeom>
          <a:noFill/>
        </p:spPr>
        <p:txBody>
          <a:bodyPr wrap="square" rtlCol="0">
            <a:spAutoFit/>
          </a:bodyPr>
          <a:lstStyle/>
          <a:p>
            <a:pPr marL="171450" indent="-171450" eaLnBrk="1" latinLnBrk="0">
              <a:buFont typeface="Wingdings" panose="05000000000000000000" pitchFamily="2" charset="2"/>
              <a:buChar char="q"/>
            </a:pPr>
            <a:r>
              <a:rPr lang="vi-VN" sz="1000" b="1" dirty="0">
                <a:latin typeface="Arial" panose="020B0604020202020204" pitchFamily="34" charset="0"/>
                <a:ea typeface="Arial Unicode MS" panose="020B0604020202020204" pitchFamily="34" charset="-128"/>
                <a:cs typeface="Arial" panose="020B0604020202020204" pitchFamily="34" charset="0"/>
              </a:rPr>
              <a:t>Station </a:t>
            </a:r>
            <a:r>
              <a:rPr lang="en-US" sz="1000" b="1" dirty="0">
                <a:latin typeface="Arial" panose="020B0604020202020204" pitchFamily="34" charset="0"/>
                <a:ea typeface="Arial Unicode MS" panose="020B0604020202020204" pitchFamily="34" charset="-128"/>
                <a:cs typeface="Arial" panose="020B0604020202020204" pitchFamily="34" charset="0"/>
              </a:rPr>
              <a:t>2 Luminance</a:t>
            </a:r>
          </a:p>
        </p:txBody>
      </p:sp>
      <p:sp>
        <p:nvSpPr>
          <p:cNvPr id="23" name="AutoShape 57">
            <a:extLst>
              <a:ext uri="{FF2B5EF4-FFF2-40B4-BE49-F238E27FC236}">
                <a16:creationId xmlns:a16="http://schemas.microsoft.com/office/drawing/2014/main" id="{73911B39-23F6-4CF1-B590-3BF4AF2DF50F}"/>
              </a:ext>
            </a:extLst>
          </p:cNvPr>
          <p:cNvSpPr>
            <a:spLocks noChangeArrowheads="1"/>
          </p:cNvSpPr>
          <p:nvPr/>
        </p:nvSpPr>
        <p:spPr bwMode="auto">
          <a:xfrm>
            <a:off x="7687914" y="178989"/>
            <a:ext cx="749300" cy="287338"/>
          </a:xfrm>
          <a:prstGeom prst="homePlate">
            <a:avLst>
              <a:gd name="adj" fmla="val 46698"/>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Analyze</a:t>
            </a:r>
          </a:p>
        </p:txBody>
      </p:sp>
      <p:sp>
        <p:nvSpPr>
          <p:cNvPr id="26" name="AutoShape 56">
            <a:extLst>
              <a:ext uri="{FF2B5EF4-FFF2-40B4-BE49-F238E27FC236}">
                <a16:creationId xmlns:a16="http://schemas.microsoft.com/office/drawing/2014/main" id="{293DCF7A-2413-46F4-BD40-0B6E07C06B26}"/>
              </a:ext>
            </a:extLst>
          </p:cNvPr>
          <p:cNvSpPr>
            <a:spLocks noChangeArrowheads="1"/>
          </p:cNvSpPr>
          <p:nvPr/>
        </p:nvSpPr>
        <p:spPr bwMode="auto">
          <a:xfrm>
            <a:off x="7018783" y="178989"/>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Measure</a:t>
            </a:r>
          </a:p>
        </p:txBody>
      </p:sp>
      <p:sp>
        <p:nvSpPr>
          <p:cNvPr id="27" name="AutoShape 58">
            <a:extLst>
              <a:ext uri="{FF2B5EF4-FFF2-40B4-BE49-F238E27FC236}">
                <a16:creationId xmlns:a16="http://schemas.microsoft.com/office/drawing/2014/main" id="{DE0B4DB6-3714-4D76-943B-90338DEBD77F}"/>
              </a:ext>
            </a:extLst>
          </p:cNvPr>
          <p:cNvSpPr>
            <a:spLocks noChangeArrowheads="1"/>
          </p:cNvSpPr>
          <p:nvPr/>
        </p:nvSpPr>
        <p:spPr bwMode="auto">
          <a:xfrm>
            <a:off x="8330852" y="51592"/>
            <a:ext cx="747712" cy="287337"/>
          </a:xfrm>
          <a:prstGeom prst="homePlate">
            <a:avLst>
              <a:gd name="adj" fmla="val 46599"/>
            </a:avLst>
          </a:prstGeom>
          <a:gradFill rotWithShape="1">
            <a:gsLst>
              <a:gs pos="0">
                <a:srgbClr val="494900"/>
              </a:gs>
              <a:gs pos="100000">
                <a:srgbClr val="808000"/>
              </a:gs>
            </a:gsLst>
            <a:lin ang="0" scaled="1"/>
          </a:gradFill>
          <a:ln w="6350" algn="ctr">
            <a:solidFill>
              <a:srgbClr val="808080"/>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latin typeface="Arial Narrow" panose="020B0606020202030204" pitchFamily="34" charset="0"/>
                <a:ea typeface="Arial" panose="020B0503020000020004" pitchFamily="50" charset="-127"/>
              </a:rPr>
              <a:t>Improve</a:t>
            </a:r>
          </a:p>
        </p:txBody>
      </p:sp>
      <p:pic>
        <p:nvPicPr>
          <p:cNvPr id="5" name="Picture 4">
            <a:extLst>
              <a:ext uri="{FF2B5EF4-FFF2-40B4-BE49-F238E27FC236}">
                <a16:creationId xmlns:a16="http://schemas.microsoft.com/office/drawing/2014/main" id="{CDBFE2BA-22EC-4E68-8012-8DD2082BFAE0}"/>
              </a:ext>
            </a:extLst>
          </p:cNvPr>
          <p:cNvPicPr>
            <a:picLocks noChangeAspect="1"/>
          </p:cNvPicPr>
          <p:nvPr/>
        </p:nvPicPr>
        <p:blipFill>
          <a:blip r:embed="rId8"/>
          <a:stretch>
            <a:fillRect/>
          </a:stretch>
        </p:blipFill>
        <p:spPr>
          <a:xfrm>
            <a:off x="0" y="1781554"/>
            <a:ext cx="4937235" cy="3357985"/>
          </a:xfrm>
          <a:prstGeom prst="rect">
            <a:avLst/>
          </a:prstGeom>
        </p:spPr>
      </p:pic>
      <p:pic>
        <p:nvPicPr>
          <p:cNvPr id="6" name="Picture 5">
            <a:extLst>
              <a:ext uri="{FF2B5EF4-FFF2-40B4-BE49-F238E27FC236}">
                <a16:creationId xmlns:a16="http://schemas.microsoft.com/office/drawing/2014/main" id="{1041727C-0180-47BE-980A-7240A140896B}"/>
              </a:ext>
            </a:extLst>
          </p:cNvPr>
          <p:cNvPicPr>
            <a:picLocks noChangeAspect="1"/>
          </p:cNvPicPr>
          <p:nvPr/>
        </p:nvPicPr>
        <p:blipFill>
          <a:blip r:embed="rId9"/>
          <a:stretch>
            <a:fillRect/>
          </a:stretch>
        </p:blipFill>
        <p:spPr>
          <a:xfrm>
            <a:off x="5071808" y="1811242"/>
            <a:ext cx="4453192" cy="3328297"/>
          </a:xfrm>
          <a:prstGeom prst="rect">
            <a:avLst/>
          </a:prstGeom>
        </p:spPr>
      </p:pic>
      <p:sp>
        <p:nvSpPr>
          <p:cNvPr id="2" name="Rectangle 1">
            <a:extLst>
              <a:ext uri="{FF2B5EF4-FFF2-40B4-BE49-F238E27FC236}">
                <a16:creationId xmlns:a16="http://schemas.microsoft.com/office/drawing/2014/main" id="{77DD4380-CC7A-4120-9471-60982EE3B35F}"/>
              </a:ext>
            </a:extLst>
          </p:cNvPr>
          <p:cNvSpPr/>
          <p:nvPr/>
        </p:nvSpPr>
        <p:spPr>
          <a:xfrm>
            <a:off x="83021" y="942979"/>
            <a:ext cx="3069045" cy="276999"/>
          </a:xfrm>
          <a:prstGeom prst="rect">
            <a:avLst/>
          </a:prstGeom>
        </p:spPr>
        <p:txBody>
          <a:bodyPr wrap="none">
            <a:spAutoFit/>
          </a:bodyPr>
          <a:lstStyle/>
          <a:p>
            <a:pPr lvl="0" eaLnBrk="1" latinLnBrk="0" hangingPunct="0">
              <a:defRPr/>
            </a:pPr>
            <a:r>
              <a:rPr lang="en-US" altLang="ja-JP" sz="1000" dirty="0">
                <a:latin typeface="Arial" panose="020B0604020202020204" pitchFamily="34" charset="0"/>
                <a:ea typeface="Arial Unicode MS" panose="020B0604020202020204" pitchFamily="34" charset="-128"/>
                <a:cs typeface="Arial" panose="020B0604020202020204" pitchFamily="34" charset="0"/>
              </a:rPr>
              <a:t>To evaluate process capability of station 2:</a:t>
            </a:r>
          </a:p>
        </p:txBody>
      </p:sp>
      <p:sp>
        <p:nvSpPr>
          <p:cNvPr id="28" name="Added text 28"/>
          <p:cNvSpPr txBox="1"/>
          <p:nvPr/>
        </p:nvSpPr>
        <p:spPr>
          <a:xfrm>
            <a:off x="571500" y="1295400"/>
            <a:ext cx="5905500" cy="323850"/>
          </a:xfrm>
          <a:prstGeom prst="rect">
            <a:avLst/>
          </a:prstGeom>
          <a:noFill/>
        </p:spPr>
        <p:txBody>
          <a:bodyPr wrap="square" lIns="0" tIns="0" rIns="0" bIns="0" rtlCol="0">
            <a:noAutofit/>
          </a:bodyPr>
          <a:lstStyle/>
          <a:p>
            <a:r>
              <a:rPr lang="en-US" sz="1000" b="0" dirty="0">
                <a:solidFill>
                  <a:srgbClr val="000000"/>
                </a:solidFill>
                <a:latin typeface="Arial"/>
                <a:cs typeface="Arial"/>
              </a:rPr>
              <a:t>Normality test (Anderson-Darling): H0: data follow a normal distribution; H1: data do NOT follow a normal distribution.</a:t>
            </a:r>
          </a:p>
        </p:txBody>
      </p:sp>
    </p:spTree>
    <p:extLst>
      <p:ext uri="{BB962C8B-B14F-4D97-AF65-F5344CB8AC3E}">
        <p14:creationId xmlns:p14="http://schemas.microsoft.com/office/powerpoint/2010/main" val="330188145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EA66E45-431A-4EF3-A2E5-33060C669DFC}"/>
              </a:ext>
            </a:extLst>
          </p:cNvPr>
          <p:cNvPicPr>
            <a:picLocks noChangeAspect="1"/>
          </p:cNvPicPr>
          <p:nvPr/>
        </p:nvPicPr>
        <p:blipFill>
          <a:blip r:embed="rId3"/>
          <a:stretch>
            <a:fillRect/>
          </a:stretch>
        </p:blipFill>
        <p:spPr>
          <a:xfrm>
            <a:off x="5085601" y="803973"/>
            <a:ext cx="4376380" cy="3268076"/>
          </a:xfrm>
          <a:prstGeom prst="rect">
            <a:avLst/>
          </a:prstGeom>
          <a:ln>
            <a:noFill/>
          </a:ln>
        </p:spPr>
      </p:pic>
      <p:pic>
        <p:nvPicPr>
          <p:cNvPr id="4" name="Picture 3">
            <a:extLst>
              <a:ext uri="{FF2B5EF4-FFF2-40B4-BE49-F238E27FC236}">
                <a16:creationId xmlns:a16="http://schemas.microsoft.com/office/drawing/2014/main" id="{E2D6D6AB-CED2-4959-B087-729054AAA04B}"/>
              </a:ext>
            </a:extLst>
          </p:cNvPr>
          <p:cNvPicPr>
            <a:picLocks noChangeAspect="1"/>
          </p:cNvPicPr>
          <p:nvPr/>
        </p:nvPicPr>
        <p:blipFill>
          <a:blip r:embed="rId4"/>
          <a:stretch>
            <a:fillRect/>
          </a:stretch>
        </p:blipFill>
        <p:spPr>
          <a:xfrm>
            <a:off x="453669" y="839100"/>
            <a:ext cx="4140698" cy="3128528"/>
          </a:xfrm>
          <a:prstGeom prst="rect">
            <a:avLst/>
          </a:prstGeom>
        </p:spPr>
      </p:pic>
      <p:graphicFrame>
        <p:nvGraphicFramePr>
          <p:cNvPr id="12" name="Diagram 11"/>
          <p:cNvGraphicFramePr/>
          <p:nvPr/>
        </p:nvGraphicFramePr>
        <p:xfrm>
          <a:off x="5689764" y="-1221095"/>
          <a:ext cx="3734291" cy="617157"/>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cxnSp>
        <p:nvCxnSpPr>
          <p:cNvPr id="17" name="Straight Connector 16"/>
          <p:cNvCxnSpPr/>
          <p:nvPr/>
        </p:nvCxnSpPr>
        <p:spPr>
          <a:xfrm>
            <a:off x="0" y="508838"/>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5" name="Slide Number Placeholder 4">
            <a:extLst>
              <a:ext uri="{FF2B5EF4-FFF2-40B4-BE49-F238E27FC236}">
                <a16:creationId xmlns:a16="http://schemas.microsoft.com/office/drawing/2014/main" id="{C43E9E2D-07E0-4BDA-8E12-269E0FA0D474}"/>
              </a:ext>
            </a:extLst>
          </p:cNvPr>
          <p:cNvSpPr>
            <a:spLocks noGrp="1"/>
          </p:cNvSpPr>
          <p:nvPr>
            <p:ph type="sldNum" sz="quarter" idx="12"/>
          </p:nvPr>
        </p:nvSpPr>
        <p:spPr>
          <a:xfrm>
            <a:off x="3700326" y="6643499"/>
            <a:ext cx="2133600" cy="198047"/>
          </a:xfrm>
        </p:spPr>
        <p:txBody>
          <a:bodyPr/>
          <a:lstStyle/>
          <a:p>
            <a:pPr algn="ctr" eaLnBrk="1" latinLnBrk="0"/>
            <a:r>
              <a:rPr sz="1000" b="0">
                <a:latin typeface="Arial"/>
              </a:rPr>
              <a:t>29 / 33</a:t>
            </a:r>
            <a:endParaRPr lang="ko-KR" altLang="en-US" sz="1200" dirty="0">
              <a:solidFill>
                <a:prstClr val="black">
                  <a:tint val="75000"/>
                </a:prstClr>
              </a:solidFill>
              <a:latin typeface="Arial" panose="020B0604020202020204" pitchFamily="34" charset="0"/>
              <a:ea typeface="Arial Unicode MS" panose="020B0604020202020204" pitchFamily="34" charset="-128"/>
              <a:cs typeface="Arial" panose="020B0604020202020204" pitchFamily="34" charset="0"/>
            </a:endParaRPr>
          </a:p>
        </p:txBody>
      </p:sp>
      <p:sp>
        <p:nvSpPr>
          <p:cNvPr id="13" name="AutoShape 55">
            <a:extLst>
              <a:ext uri="{FF2B5EF4-FFF2-40B4-BE49-F238E27FC236}">
                <a16:creationId xmlns:a16="http://schemas.microsoft.com/office/drawing/2014/main" id="{8D969275-7FCE-4DA4-896B-5F6B33E66339}"/>
              </a:ext>
            </a:extLst>
          </p:cNvPr>
          <p:cNvSpPr>
            <a:spLocks noChangeArrowheads="1"/>
          </p:cNvSpPr>
          <p:nvPr/>
        </p:nvSpPr>
        <p:spPr bwMode="auto">
          <a:xfrm>
            <a:off x="9121997" y="155670"/>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Control</a:t>
            </a:r>
          </a:p>
        </p:txBody>
      </p:sp>
      <p:sp>
        <p:nvSpPr>
          <p:cNvPr id="19" name="AutoShape 59">
            <a:extLst>
              <a:ext uri="{FF2B5EF4-FFF2-40B4-BE49-F238E27FC236}">
                <a16:creationId xmlns:a16="http://schemas.microsoft.com/office/drawing/2014/main" id="{BCF43FF0-638F-4D22-9E24-50CD9446CEC3}"/>
              </a:ext>
            </a:extLst>
          </p:cNvPr>
          <p:cNvSpPr>
            <a:spLocks noChangeArrowheads="1"/>
          </p:cNvSpPr>
          <p:nvPr/>
        </p:nvSpPr>
        <p:spPr bwMode="auto">
          <a:xfrm>
            <a:off x="6372447" y="155670"/>
            <a:ext cx="757238" cy="287338"/>
          </a:xfrm>
          <a:prstGeom prst="homePlate">
            <a:avLst>
              <a:gd name="adj" fmla="val 47192"/>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Define</a:t>
            </a:r>
          </a:p>
        </p:txBody>
      </p:sp>
      <p:sp>
        <p:nvSpPr>
          <p:cNvPr id="27" name="TextBox 26">
            <a:extLst>
              <a:ext uri="{FF2B5EF4-FFF2-40B4-BE49-F238E27FC236}">
                <a16:creationId xmlns:a16="http://schemas.microsoft.com/office/drawing/2014/main" id="{00F4DEE4-CDEB-4C16-817D-6B1C512B108F}"/>
              </a:ext>
            </a:extLst>
          </p:cNvPr>
          <p:cNvSpPr txBox="1"/>
          <p:nvPr/>
        </p:nvSpPr>
        <p:spPr>
          <a:xfrm>
            <a:off x="3276600" y="3161026"/>
            <a:ext cx="1241743" cy="507831"/>
          </a:xfrm>
          <a:prstGeom prst="rect">
            <a:avLst/>
          </a:prstGeom>
          <a:solidFill>
            <a:srgbClr val="FFFFFF"/>
          </a:solidFill>
          <a:ln w="12700">
            <a:solidFill>
              <a:srgbClr val="B4B4B4"/>
            </a:solidFill>
          </a:ln>
        </p:spPr>
        <p:txBody>
          <a:bodyPr wrap="square" rtlCol="0">
            <a:noAutofit/>
          </a:bodyPr>
          <a:lstStyle/>
          <a:p>
            <a:pPr eaLnBrk="1" latinLnBrk="0"/>
            <a:r>
              <a:rPr lang="en-US" altLang="ko-KR" sz="1000" dirty="0">
                <a:latin typeface="Arial" panose="020B0600000101010101" pitchFamily="34" charset="-127"/>
                <a:ea typeface="Arial" panose="020B0600000101010101" pitchFamily="34" charset="-127"/>
                <a:cs typeface="Arial" panose="020B0604020202020204" pitchFamily="34" charset="0"/>
              </a:rPr>
              <a:t> Z Long term = 6.89</a:t>
            </a:r>
          </a:p>
          <a:p>
            <a:pPr eaLnBrk="1" latinLnBrk="0"/>
            <a:r>
              <a:rPr lang="en-US" altLang="ko-KR" sz="1000" dirty="0">
                <a:latin typeface="Arial" panose="020B0600000101010101" pitchFamily="34" charset="-127"/>
                <a:ea typeface="Arial" panose="020B0600000101010101" pitchFamily="34" charset="-127"/>
                <a:cs typeface="Arial" panose="020B0604020202020204" pitchFamily="34" charset="0"/>
              </a:rPr>
              <a:t>Standard ≥  4.5</a:t>
            </a:r>
          </a:p>
          <a:p>
            <a:pPr eaLnBrk="1" latinLnBrk="0"/>
            <a:r>
              <a:rPr lang="en-US" altLang="ko-KR" sz="1000" dirty="0">
                <a:latin typeface="Arial" panose="020B0600000101010101" pitchFamily="34" charset="-127"/>
                <a:ea typeface="Arial" panose="020B0600000101010101" pitchFamily="34" charset="-127"/>
                <a:cs typeface="Arial" panose="020B0604020202020204" pitchFamily="34" charset="0"/>
              </a:rPr>
              <a:t> </a:t>
            </a:r>
            <a:r>
              <a:rPr lang="en-US" altLang="ko-KR" sz="1000" dirty="0">
                <a:latin typeface="Arial" panose="020B0600000101010101" pitchFamily="34" charset="-127"/>
                <a:ea typeface="Arial" panose="020B0600000101010101" pitchFamily="34" charset="-127"/>
                <a:cs typeface="Arial" panose="020B0604020202020204" pitchFamily="34" charset="0"/>
                <a:sym typeface="Wingdings" pitchFamily="2" charset="2"/>
              </a:rPr>
              <a:t> OK</a:t>
            </a:r>
            <a:r>
              <a:rPr lang="en-US" altLang="ko-KR" sz="1000" dirty="0">
                <a:latin typeface="Arial" panose="020B0600000101010101" pitchFamily="34" charset="-127"/>
                <a:ea typeface="Arial" panose="020B0600000101010101" pitchFamily="34" charset="-127"/>
                <a:cs typeface="Arial" panose="020B0604020202020204" pitchFamily="34" charset="0"/>
              </a:rPr>
              <a:t> </a:t>
            </a:r>
          </a:p>
        </p:txBody>
      </p:sp>
      <p:sp>
        <p:nvSpPr>
          <p:cNvPr id="28" name="TextBox 27">
            <a:extLst>
              <a:ext uri="{FF2B5EF4-FFF2-40B4-BE49-F238E27FC236}">
                <a16:creationId xmlns:a16="http://schemas.microsoft.com/office/drawing/2014/main" id="{770B63C0-BDB9-4BB1-B7CE-47513CEA8001}"/>
              </a:ext>
            </a:extLst>
          </p:cNvPr>
          <p:cNvSpPr txBox="1"/>
          <p:nvPr/>
        </p:nvSpPr>
        <p:spPr>
          <a:xfrm>
            <a:off x="8093510" y="3044271"/>
            <a:ext cx="1241743" cy="507831"/>
          </a:xfrm>
          <a:prstGeom prst="rect">
            <a:avLst/>
          </a:prstGeom>
          <a:solidFill>
            <a:srgbClr val="FFFFFF"/>
          </a:solidFill>
          <a:ln w="12700">
            <a:solidFill>
              <a:srgbClr val="B4B4B4"/>
            </a:solidFill>
          </a:ln>
        </p:spPr>
        <p:txBody>
          <a:bodyPr wrap="square" rtlCol="0">
            <a:noAutofit/>
          </a:bodyPr>
          <a:lstStyle/>
          <a:p>
            <a:pPr eaLnBrk="1" latinLnBrk="0"/>
            <a:r>
              <a:rPr lang="en-US" altLang="ko-KR" sz="1000" dirty="0">
                <a:latin typeface="Arial" panose="020B0600000101010101" pitchFamily="34" charset="-127"/>
                <a:ea typeface="Arial" panose="020B0600000101010101" pitchFamily="34" charset="-127"/>
                <a:cs typeface="Arial" panose="020B0604020202020204" pitchFamily="34" charset="0"/>
              </a:rPr>
              <a:t> Z Short term = 7.18   Standard ≥  6</a:t>
            </a:r>
          </a:p>
          <a:p>
            <a:pPr eaLnBrk="1" latinLnBrk="0"/>
            <a:r>
              <a:rPr lang="en-US" altLang="ko-KR" sz="1000" dirty="0">
                <a:latin typeface="Arial" panose="020B0600000101010101" pitchFamily="34" charset="-127"/>
                <a:ea typeface="Arial" panose="020B0600000101010101" pitchFamily="34" charset="-127"/>
                <a:cs typeface="Arial" panose="020B0604020202020204" pitchFamily="34" charset="0"/>
              </a:rPr>
              <a:t> </a:t>
            </a:r>
            <a:r>
              <a:rPr lang="en-US" altLang="ko-KR" sz="1000" dirty="0">
                <a:latin typeface="Arial" panose="020B0600000101010101" pitchFamily="34" charset="-127"/>
                <a:ea typeface="Arial" panose="020B0600000101010101" pitchFamily="34" charset="-127"/>
                <a:cs typeface="Arial" panose="020B0604020202020204" pitchFamily="34" charset="0"/>
                <a:sym typeface="Wingdings" pitchFamily="2" charset="2"/>
              </a:rPr>
              <a:t> OK</a:t>
            </a:r>
            <a:r>
              <a:rPr lang="en-US" altLang="ko-KR" sz="1000" dirty="0">
                <a:latin typeface="Arial" panose="020B0600000101010101" pitchFamily="34" charset="-127"/>
                <a:ea typeface="Arial" panose="020B0600000101010101" pitchFamily="34" charset="-127"/>
                <a:cs typeface="Arial" panose="020B0604020202020204" pitchFamily="34" charset="0"/>
              </a:rPr>
              <a:t> </a:t>
            </a:r>
          </a:p>
        </p:txBody>
      </p:sp>
      <p:sp>
        <p:nvSpPr>
          <p:cNvPr id="29" name="TextBox 28">
            <a:extLst>
              <a:ext uri="{FF2B5EF4-FFF2-40B4-BE49-F238E27FC236}">
                <a16:creationId xmlns:a16="http://schemas.microsoft.com/office/drawing/2014/main" id="{3F03CC85-78FB-49D7-B96C-52B4B103B707}"/>
              </a:ext>
            </a:extLst>
          </p:cNvPr>
          <p:cNvSpPr txBox="1"/>
          <p:nvPr/>
        </p:nvSpPr>
        <p:spPr>
          <a:xfrm>
            <a:off x="222124" y="4752877"/>
            <a:ext cx="4376380" cy="1169423"/>
          </a:xfrm>
          <a:prstGeom prst="rect">
            <a:avLst/>
          </a:prstGeom>
          <a:solidFill>
            <a:schemeClr val="bg1"/>
          </a:solidFill>
        </p:spPr>
        <p:txBody>
          <a:bodyPr wrap="square" rtlCol="0">
            <a:spAutoFit/>
          </a:bodyPr>
          <a:lstStyle/>
          <a:p>
            <a:pPr eaLnBrk="1" latinLnBrk="0">
              <a:lnSpc>
                <a:spcPct val="150000"/>
              </a:lnSpc>
              <a:buFont typeface="Wingdings" pitchFamily="2" charset="2"/>
              <a:buChar char="§"/>
            </a:pPr>
            <a:r>
              <a:rPr lang="en-US" altLang="ko-KR" sz="1000" noProof="1">
                <a:latin typeface="Arial" panose="020B0600000101010101" pitchFamily="34" charset="-127"/>
                <a:ea typeface="Arial" panose="020B0600000101010101" pitchFamily="34" charset="-127"/>
              </a:rPr>
              <a:t>  Zshift = Zst – Zlt = 7.18 – 6.89 = 0.29 </a:t>
            </a:r>
            <a:r>
              <a:rPr lang="en-US" altLang="ko-KR" sz="1000" noProof="1">
                <a:latin typeface="Arial" panose="020B0600000101010101" pitchFamily="34" charset="-127"/>
                <a:ea typeface="Arial" panose="020B0600000101010101" pitchFamily="34" charset="-127"/>
                <a:sym typeface="Wingdings" pitchFamily="2" charset="2"/>
              </a:rPr>
              <a:t> Z shift &lt; 1.5 </a:t>
            </a:r>
          </a:p>
          <a:p>
            <a:pPr eaLnBrk="1" latinLnBrk="0">
              <a:lnSpc>
                <a:spcPct val="150000"/>
              </a:lnSpc>
            </a:pPr>
            <a:r>
              <a:rPr lang="en-US" altLang="ko-KR" sz="1000" noProof="1">
                <a:latin typeface="Arial" panose="020B0600000101010101" pitchFamily="34" charset="-127"/>
                <a:ea typeface="Arial" panose="020B0600000101010101" pitchFamily="34" charset="-127"/>
                <a:sym typeface="Wingdings" pitchFamily="2" charset="2"/>
              </a:rPr>
              <a:t> Proper process control </a:t>
            </a:r>
            <a:r>
              <a:rPr lang="en-US" altLang="ko-KR" sz="1000" noProof="1">
                <a:latin typeface="Arial" panose="020B0600000101010101" pitchFamily="34" charset="-127"/>
                <a:ea typeface="Arial" panose="020B0600000101010101" pitchFamily="34" charset="-127"/>
              </a:rPr>
              <a:t>management</a:t>
            </a:r>
            <a:endParaRPr lang="en-US" altLang="ko-KR" sz="1200" noProof="1">
              <a:latin typeface="LG Smart_H Regular" panose="020B0600000101010101" pitchFamily="34" charset="-127"/>
              <a:ea typeface="LG Smart_H Regular" panose="020B0600000101010101" pitchFamily="34" charset="-127"/>
              <a:sym typeface="Wingdings" pitchFamily="2" charset="2"/>
            </a:endParaRPr>
          </a:p>
          <a:p>
            <a:pPr eaLnBrk="1" latinLnBrk="0">
              <a:lnSpc>
                <a:spcPct val="150000"/>
              </a:lnSpc>
              <a:buFont typeface="Wingdings" pitchFamily="2" charset="2"/>
              <a:buChar char="§"/>
            </a:pPr>
            <a:r>
              <a:rPr lang="en-US" altLang="ko-KR" sz="1000" noProof="1">
                <a:latin typeface="Arial" panose="020B0600000101010101" pitchFamily="34" charset="-127"/>
                <a:ea typeface="Arial" panose="020B0600000101010101" pitchFamily="34" charset="-127"/>
                <a:sym typeface="Wingdings" pitchFamily="2" charset="2"/>
              </a:rPr>
              <a:t>  Z short term: 7.18 </a:t>
            </a:r>
            <a:r>
              <a:rPr lang="en-US" altLang="ko-KR" sz="1000" dirty="0">
                <a:latin typeface="Arial" panose="020B0600000101010101" pitchFamily="34" charset="-127"/>
                <a:ea typeface="Arial" panose="020B0600000101010101" pitchFamily="34" charset="-127"/>
                <a:cs typeface="Arial" panose="020B0604020202020204" pitchFamily="34" charset="0"/>
              </a:rPr>
              <a:t>≥  6</a:t>
            </a:r>
            <a:r>
              <a:rPr lang="en-US" altLang="ko-KR" sz="1000" noProof="1">
                <a:latin typeface="Arial" panose="020B0600000101010101" pitchFamily="34" charset="-127"/>
                <a:ea typeface="Arial" panose="020B0600000101010101" pitchFamily="34" charset="-127"/>
                <a:sym typeface="Wingdings" pitchFamily="2" charset="2"/>
              </a:rPr>
              <a:t> , Z long term: 6.89 </a:t>
            </a:r>
            <a:r>
              <a:rPr lang="en-US" altLang="ko-KR" sz="1000" dirty="0">
                <a:latin typeface="Arial" panose="020B0600000101010101" pitchFamily="34" charset="-127"/>
                <a:ea typeface="Arial" panose="020B0600000101010101" pitchFamily="34" charset="-127"/>
                <a:cs typeface="Arial" panose="020B0604020202020204" pitchFamily="34" charset="0"/>
              </a:rPr>
              <a:t>≥ 4.5</a:t>
            </a:r>
            <a:endParaRPr lang="en-US" altLang="ko-KR" sz="1200" noProof="1">
              <a:latin typeface="LG Smart_H Regular" panose="020B0600000101010101" pitchFamily="34" charset="-127"/>
              <a:ea typeface="LG Smart_H Regular" panose="020B0600000101010101" pitchFamily="34" charset="-127"/>
              <a:sym typeface="Wingdings" pitchFamily="2" charset="2"/>
            </a:endParaRPr>
          </a:p>
          <a:p>
            <a:pPr eaLnBrk="1" latinLnBrk="0">
              <a:lnSpc>
                <a:spcPct val="150000"/>
              </a:lnSpc>
            </a:pPr>
            <a:r>
              <a:rPr lang="en-US" altLang="ko-KR" sz="1000" noProof="1">
                <a:latin typeface="Arial" panose="020B0600000101010101" pitchFamily="34" charset="-127"/>
                <a:ea typeface="Arial" panose="020B0600000101010101" pitchFamily="34" charset="-127"/>
                <a:sym typeface="Wingdings" pitchFamily="2" charset="2"/>
              </a:rPr>
              <a:t> Technology is OK</a:t>
            </a:r>
            <a:endParaRPr lang="en-US" altLang="ko-KR" sz="1200" noProof="1">
              <a:latin typeface="LG Smart_H Regular" panose="020B0600000101010101" pitchFamily="34" charset="-127"/>
              <a:ea typeface="LG Smart_H Regular" panose="020B0600000101010101" pitchFamily="34" charset="-127"/>
            </a:endParaRPr>
          </a:p>
        </p:txBody>
      </p:sp>
      <p:grpSp>
        <p:nvGrpSpPr>
          <p:cNvPr id="30" name="Group 29">
            <a:extLst>
              <a:ext uri="{FF2B5EF4-FFF2-40B4-BE49-F238E27FC236}">
                <a16:creationId xmlns:a16="http://schemas.microsoft.com/office/drawing/2014/main" id="{A91AC523-C770-45D1-BAAD-CA31C2D5A8E8}"/>
              </a:ext>
            </a:extLst>
          </p:cNvPr>
          <p:cNvGrpSpPr/>
          <p:nvPr/>
        </p:nvGrpSpPr>
        <p:grpSpPr>
          <a:xfrm>
            <a:off x="5277611" y="4038601"/>
            <a:ext cx="4500000" cy="2710762"/>
            <a:chOff x="5383160" y="3319792"/>
            <a:chExt cx="5061928" cy="3189588"/>
          </a:xfrm>
        </p:grpSpPr>
        <p:sp>
          <p:nvSpPr>
            <p:cNvPr id="31" name="Rectangle 9">
              <a:extLst>
                <a:ext uri="{FF2B5EF4-FFF2-40B4-BE49-F238E27FC236}">
                  <a16:creationId xmlns:a16="http://schemas.microsoft.com/office/drawing/2014/main" id="{DF669F23-0AC3-4F56-9A0B-2411DEF3812C}"/>
                </a:ext>
              </a:extLst>
            </p:cNvPr>
            <p:cNvSpPr>
              <a:spLocks noChangeArrowheads="1"/>
            </p:cNvSpPr>
            <p:nvPr/>
          </p:nvSpPr>
          <p:spPr bwMode="auto">
            <a:xfrm>
              <a:off x="6033120" y="3708392"/>
              <a:ext cx="3423745" cy="2136281"/>
            </a:xfrm>
            <a:prstGeom prst="rect">
              <a:avLst/>
            </a:prstGeom>
            <a:solidFill>
              <a:schemeClr val="bg2">
                <a:lumMod val="20000"/>
                <a:lumOff val="80000"/>
              </a:schemeClr>
            </a:solidFill>
            <a:ln w="12700">
              <a:solidFill>
                <a:schemeClr val="tx1"/>
              </a:solidFill>
              <a:miter lim="800000"/>
              <a:headEnd/>
              <a:tailEnd/>
            </a:ln>
          </p:spPr>
          <p:txBody>
            <a:bodyPr wrap="none" anchor="ctr"/>
            <a:lstStyle/>
            <a:p>
              <a:pPr algn="ctr">
                <a:defRPr/>
              </a:pPr>
              <a:endParaRPr lang="ko-KR" altLang="en-US" sz="700" dirty="0">
                <a:solidFill>
                  <a:srgbClr val="000000"/>
                </a:solidFill>
                <a:latin typeface="LG Smart_H Regular" panose="020B0600000101010101" pitchFamily="34" charset="-127"/>
                <a:ea typeface="LG Smart_H Regular" panose="020B0600000101010101" pitchFamily="34" charset="-127"/>
                <a:cs typeface="Arial Unicode MS" panose="020B0604020202020204" pitchFamily="34" charset="-128"/>
              </a:endParaRPr>
            </a:p>
          </p:txBody>
        </p:sp>
        <p:sp>
          <p:nvSpPr>
            <p:cNvPr id="32" name="Line 10">
              <a:extLst>
                <a:ext uri="{FF2B5EF4-FFF2-40B4-BE49-F238E27FC236}">
                  <a16:creationId xmlns:a16="http://schemas.microsoft.com/office/drawing/2014/main" id="{E325E004-4EBD-46E8-A128-4006A20037A9}"/>
                </a:ext>
              </a:extLst>
            </p:cNvPr>
            <p:cNvSpPr>
              <a:spLocks noChangeShapeType="1"/>
            </p:cNvSpPr>
            <p:nvPr/>
          </p:nvSpPr>
          <p:spPr bwMode="auto">
            <a:xfrm>
              <a:off x="8234872" y="3708391"/>
              <a:ext cx="8082" cy="2136281"/>
            </a:xfrm>
            <a:prstGeom prst="line">
              <a:avLst/>
            </a:prstGeom>
            <a:noFill/>
            <a:ln w="12700">
              <a:solidFill>
                <a:schemeClr val="tx1"/>
              </a:solidFill>
              <a:round/>
              <a:headEnd type="none" w="sm" len="sm"/>
              <a:tailEnd type="none" w="sm" len="sm"/>
            </a:ln>
          </p:spPr>
          <p:txBody>
            <a:bodyPr/>
            <a:lstStyle/>
            <a:p>
              <a:endParaRPr lang="ko-KR" altLang="en-US" sz="1200" dirty="0">
                <a:solidFill>
                  <a:prstClr val="black"/>
                </a:solidFill>
                <a:latin typeface="LG Smart_H Regular" panose="020B0600000101010101" pitchFamily="34" charset="-127"/>
                <a:ea typeface="LG Smart_H Regular" panose="020B0600000101010101" pitchFamily="34" charset="-127"/>
                <a:cs typeface="Arial Unicode MS" panose="020B0604020202020204" pitchFamily="34" charset="-128"/>
              </a:endParaRPr>
            </a:p>
          </p:txBody>
        </p:sp>
        <p:sp>
          <p:nvSpPr>
            <p:cNvPr id="33" name="Line 11">
              <a:extLst>
                <a:ext uri="{FF2B5EF4-FFF2-40B4-BE49-F238E27FC236}">
                  <a16:creationId xmlns:a16="http://schemas.microsoft.com/office/drawing/2014/main" id="{29F7C8D4-F09C-4737-8A79-22659B843F21}"/>
                </a:ext>
              </a:extLst>
            </p:cNvPr>
            <p:cNvSpPr>
              <a:spLocks noChangeShapeType="1"/>
            </p:cNvSpPr>
            <p:nvPr/>
          </p:nvSpPr>
          <p:spPr bwMode="auto">
            <a:xfrm>
              <a:off x="6036455" y="4689438"/>
              <a:ext cx="3412072" cy="0"/>
            </a:xfrm>
            <a:prstGeom prst="line">
              <a:avLst/>
            </a:prstGeom>
            <a:noFill/>
            <a:ln w="12700">
              <a:solidFill>
                <a:schemeClr val="tx1"/>
              </a:solidFill>
              <a:round/>
              <a:headEnd type="none" w="sm" len="sm"/>
              <a:tailEnd type="none" w="sm" len="sm"/>
            </a:ln>
          </p:spPr>
          <p:txBody>
            <a:bodyPr/>
            <a:lstStyle/>
            <a:p>
              <a:endParaRPr lang="ko-KR" altLang="en-US" sz="1200" dirty="0">
                <a:solidFill>
                  <a:prstClr val="black"/>
                </a:solidFill>
                <a:latin typeface="LG Smart_H Regular" panose="020B0600000101010101" pitchFamily="34" charset="-127"/>
                <a:ea typeface="LG Smart_H Regular" panose="020B0600000101010101" pitchFamily="34" charset="-127"/>
                <a:cs typeface="Arial Unicode MS" panose="020B0604020202020204" pitchFamily="34" charset="-128"/>
              </a:endParaRPr>
            </a:p>
          </p:txBody>
        </p:sp>
        <p:sp>
          <p:nvSpPr>
            <p:cNvPr id="34" name="Rectangle 12">
              <a:extLst>
                <a:ext uri="{FF2B5EF4-FFF2-40B4-BE49-F238E27FC236}">
                  <a16:creationId xmlns:a16="http://schemas.microsoft.com/office/drawing/2014/main" id="{134442CB-1980-4352-98E7-E128F12A9699}"/>
                </a:ext>
              </a:extLst>
            </p:cNvPr>
            <p:cNvSpPr>
              <a:spLocks noChangeArrowheads="1"/>
            </p:cNvSpPr>
            <p:nvPr/>
          </p:nvSpPr>
          <p:spPr bwMode="auto">
            <a:xfrm>
              <a:off x="5677904" y="4528497"/>
              <a:ext cx="395745" cy="308576"/>
            </a:xfrm>
            <a:prstGeom prst="rect">
              <a:avLst/>
            </a:prstGeom>
            <a:noFill/>
            <a:ln w="9525">
              <a:noFill/>
              <a:miter lim="800000"/>
              <a:headEnd/>
              <a:tailEnd/>
            </a:ln>
          </p:spPr>
          <p:txBody>
            <a:bodyPr wrap="none" lIns="92075" tIns="46038" rIns="92075" bIns="46038">
              <a:spAutoFit/>
            </a:bodyPr>
            <a:lstStyle/>
            <a:p>
              <a:pPr latinLnBrk="0">
                <a:lnSpc>
                  <a:spcPct val="110000"/>
                </a:lnSpc>
              </a:pPr>
              <a:r>
                <a:rPr lang="en-US" altLang="ko-KR" sz="1000" b="1"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1.5</a:t>
              </a:r>
            </a:p>
          </p:txBody>
        </p:sp>
        <p:sp>
          <p:nvSpPr>
            <p:cNvPr id="35" name="Rectangle 13">
              <a:extLst>
                <a:ext uri="{FF2B5EF4-FFF2-40B4-BE49-F238E27FC236}">
                  <a16:creationId xmlns:a16="http://schemas.microsoft.com/office/drawing/2014/main" id="{6A8D9248-A26E-4915-8262-E9F9172EB945}"/>
                </a:ext>
              </a:extLst>
            </p:cNvPr>
            <p:cNvSpPr>
              <a:spLocks noChangeArrowheads="1"/>
            </p:cNvSpPr>
            <p:nvPr/>
          </p:nvSpPr>
          <p:spPr bwMode="auto">
            <a:xfrm>
              <a:off x="5536315" y="3319792"/>
              <a:ext cx="509306" cy="299523"/>
            </a:xfrm>
            <a:prstGeom prst="rect">
              <a:avLst/>
            </a:prstGeom>
            <a:noFill/>
            <a:ln w="9525">
              <a:noFill/>
              <a:miter lim="800000"/>
              <a:headEnd/>
              <a:tailEnd/>
            </a:ln>
          </p:spPr>
          <p:txBody>
            <a:bodyPr wrap="none" lIns="92075" tIns="46038" rIns="92075" bIns="46038">
              <a:spAutoFit/>
            </a:bodyPr>
            <a:lstStyle/>
            <a:p>
              <a:pPr algn="ctr" latinLnBrk="0"/>
              <a:r>
                <a:rPr lang="en-US" altLang="ko-KR" sz="1050" b="1"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Z </a:t>
              </a:r>
              <a:r>
                <a:rPr lang="en-US" altLang="ko-KR" sz="1050" b="1" baseline="-25000"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shift</a:t>
              </a:r>
            </a:p>
          </p:txBody>
        </p:sp>
        <p:sp>
          <p:nvSpPr>
            <p:cNvPr id="36" name="Rectangle 35">
              <a:extLst>
                <a:ext uri="{FF2B5EF4-FFF2-40B4-BE49-F238E27FC236}">
                  <a16:creationId xmlns:a16="http://schemas.microsoft.com/office/drawing/2014/main" id="{CB0A57F4-3B93-43B5-9D53-5CCBFA12E66A}"/>
                </a:ext>
              </a:extLst>
            </p:cNvPr>
            <p:cNvSpPr>
              <a:spLocks noChangeArrowheads="1"/>
            </p:cNvSpPr>
            <p:nvPr/>
          </p:nvSpPr>
          <p:spPr bwMode="auto">
            <a:xfrm>
              <a:off x="7726610" y="5884462"/>
              <a:ext cx="395745" cy="308576"/>
            </a:xfrm>
            <a:prstGeom prst="rect">
              <a:avLst/>
            </a:prstGeom>
            <a:noFill/>
            <a:ln w="9525">
              <a:noFill/>
              <a:miter lim="800000"/>
              <a:headEnd/>
              <a:tailEnd/>
            </a:ln>
          </p:spPr>
          <p:txBody>
            <a:bodyPr wrap="none" lIns="92075" tIns="46038" rIns="92075" bIns="46038">
              <a:spAutoFit/>
            </a:bodyPr>
            <a:lstStyle/>
            <a:p>
              <a:pPr latinLnBrk="0">
                <a:lnSpc>
                  <a:spcPct val="110000"/>
                </a:lnSpc>
              </a:pPr>
              <a:r>
                <a:rPr lang="en-US" altLang="ko-KR" sz="1000" b="1"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4.5</a:t>
              </a:r>
            </a:p>
          </p:txBody>
        </p:sp>
        <p:sp>
          <p:nvSpPr>
            <p:cNvPr id="37" name="Text Box 16">
              <a:extLst>
                <a:ext uri="{FF2B5EF4-FFF2-40B4-BE49-F238E27FC236}">
                  <a16:creationId xmlns:a16="http://schemas.microsoft.com/office/drawing/2014/main" id="{72B57459-49DE-460E-94B7-BCAE72DBB8A3}"/>
                </a:ext>
              </a:extLst>
            </p:cNvPr>
            <p:cNvSpPr txBox="1">
              <a:spLocks noChangeArrowheads="1"/>
            </p:cNvSpPr>
            <p:nvPr/>
          </p:nvSpPr>
          <p:spPr bwMode="auto">
            <a:xfrm>
              <a:off x="6093354" y="4758357"/>
              <a:ext cx="278502" cy="325928"/>
            </a:xfrm>
            <a:prstGeom prst="rect">
              <a:avLst/>
            </a:prstGeom>
            <a:noFill/>
            <a:ln w="9525">
              <a:noFill/>
              <a:miter lim="800000"/>
              <a:headEnd/>
              <a:tailEnd/>
            </a:ln>
          </p:spPr>
          <p:txBody>
            <a:bodyPr>
              <a:spAutoFit/>
            </a:bodyPr>
            <a:lstStyle/>
            <a:p>
              <a:pPr>
                <a:spcBef>
                  <a:spcPct val="50000"/>
                </a:spcBef>
              </a:pPr>
              <a:r>
                <a:rPr lang="en-US" altLang="ko-KR" sz="1200" b="1"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C</a:t>
              </a:r>
            </a:p>
          </p:txBody>
        </p:sp>
        <p:sp>
          <p:nvSpPr>
            <p:cNvPr id="38" name="Text Box 17">
              <a:extLst>
                <a:ext uri="{FF2B5EF4-FFF2-40B4-BE49-F238E27FC236}">
                  <a16:creationId xmlns:a16="http://schemas.microsoft.com/office/drawing/2014/main" id="{3D4C8AE9-341D-470A-AB1F-69BE23C6B97F}"/>
                </a:ext>
              </a:extLst>
            </p:cNvPr>
            <p:cNvSpPr txBox="1">
              <a:spLocks noChangeArrowheads="1"/>
            </p:cNvSpPr>
            <p:nvPr/>
          </p:nvSpPr>
          <p:spPr bwMode="auto">
            <a:xfrm>
              <a:off x="6113061" y="4037091"/>
              <a:ext cx="278502" cy="325928"/>
            </a:xfrm>
            <a:prstGeom prst="rect">
              <a:avLst/>
            </a:prstGeom>
            <a:noFill/>
            <a:ln w="9525">
              <a:noFill/>
              <a:miter lim="800000"/>
              <a:headEnd/>
              <a:tailEnd/>
            </a:ln>
          </p:spPr>
          <p:txBody>
            <a:bodyPr>
              <a:spAutoFit/>
            </a:bodyPr>
            <a:lstStyle/>
            <a:p>
              <a:pPr>
                <a:spcBef>
                  <a:spcPct val="50000"/>
                </a:spcBef>
              </a:pPr>
              <a:r>
                <a:rPr lang="en-US" altLang="ko-KR" sz="1200" b="1"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A</a:t>
              </a:r>
            </a:p>
          </p:txBody>
        </p:sp>
        <p:sp>
          <p:nvSpPr>
            <p:cNvPr id="39" name="Text Box 18">
              <a:extLst>
                <a:ext uri="{FF2B5EF4-FFF2-40B4-BE49-F238E27FC236}">
                  <a16:creationId xmlns:a16="http://schemas.microsoft.com/office/drawing/2014/main" id="{104C2049-1F2F-4C40-8732-C908DC24241F}"/>
                </a:ext>
              </a:extLst>
            </p:cNvPr>
            <p:cNvSpPr txBox="1">
              <a:spLocks noChangeArrowheads="1"/>
            </p:cNvSpPr>
            <p:nvPr/>
          </p:nvSpPr>
          <p:spPr bwMode="auto">
            <a:xfrm>
              <a:off x="9186767" y="4035612"/>
              <a:ext cx="280170" cy="325928"/>
            </a:xfrm>
            <a:prstGeom prst="rect">
              <a:avLst/>
            </a:prstGeom>
            <a:noFill/>
            <a:ln w="9525">
              <a:noFill/>
              <a:miter lim="800000"/>
              <a:headEnd/>
              <a:tailEnd/>
            </a:ln>
          </p:spPr>
          <p:txBody>
            <a:bodyPr>
              <a:spAutoFit/>
            </a:bodyPr>
            <a:lstStyle/>
            <a:p>
              <a:pPr>
                <a:spcBef>
                  <a:spcPct val="50000"/>
                </a:spcBef>
              </a:pPr>
              <a:r>
                <a:rPr lang="en-US" altLang="ko-KR" sz="1200" b="1"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B</a:t>
              </a:r>
            </a:p>
          </p:txBody>
        </p:sp>
        <p:sp>
          <p:nvSpPr>
            <p:cNvPr id="40" name="Text Box 19">
              <a:extLst>
                <a:ext uri="{FF2B5EF4-FFF2-40B4-BE49-F238E27FC236}">
                  <a16:creationId xmlns:a16="http://schemas.microsoft.com/office/drawing/2014/main" id="{D55D9F2E-8DB9-49AB-9859-A655FC742095}"/>
                </a:ext>
              </a:extLst>
            </p:cNvPr>
            <p:cNvSpPr txBox="1">
              <a:spLocks noChangeArrowheads="1"/>
            </p:cNvSpPr>
            <p:nvPr/>
          </p:nvSpPr>
          <p:spPr bwMode="auto">
            <a:xfrm>
              <a:off x="9113035" y="4758357"/>
              <a:ext cx="280170" cy="325928"/>
            </a:xfrm>
            <a:prstGeom prst="rect">
              <a:avLst/>
            </a:prstGeom>
            <a:noFill/>
            <a:ln w="9525">
              <a:noFill/>
              <a:miter lim="800000"/>
              <a:headEnd/>
              <a:tailEnd/>
            </a:ln>
          </p:spPr>
          <p:txBody>
            <a:bodyPr>
              <a:spAutoFit/>
            </a:bodyPr>
            <a:lstStyle/>
            <a:p>
              <a:pPr>
                <a:spcBef>
                  <a:spcPct val="50000"/>
                </a:spcBef>
              </a:pPr>
              <a:r>
                <a:rPr lang="en-US" altLang="ko-KR" sz="1200" b="1"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D</a:t>
              </a:r>
            </a:p>
          </p:txBody>
        </p:sp>
        <p:sp>
          <p:nvSpPr>
            <p:cNvPr id="41" name="Text Box 20">
              <a:extLst>
                <a:ext uri="{FF2B5EF4-FFF2-40B4-BE49-F238E27FC236}">
                  <a16:creationId xmlns:a16="http://schemas.microsoft.com/office/drawing/2014/main" id="{FBA9863E-9869-4537-84DF-E5058BB9D2BA}"/>
                </a:ext>
              </a:extLst>
            </p:cNvPr>
            <p:cNvSpPr txBox="1">
              <a:spLocks noChangeArrowheads="1"/>
            </p:cNvSpPr>
            <p:nvPr/>
          </p:nvSpPr>
          <p:spPr bwMode="auto">
            <a:xfrm>
              <a:off x="6513562" y="3827720"/>
              <a:ext cx="1303327" cy="651855"/>
            </a:xfrm>
            <a:prstGeom prst="rect">
              <a:avLst/>
            </a:prstGeom>
            <a:noFill/>
            <a:ln w="9525">
              <a:noFill/>
              <a:miter lim="800000"/>
              <a:headEnd/>
              <a:tailEnd/>
            </a:ln>
          </p:spPr>
          <p:txBody>
            <a:bodyPr wrap="square">
              <a:spAutoFit/>
            </a:bodyPr>
            <a:lstStyle/>
            <a:p>
              <a:r>
                <a:rPr lang="en-US" altLang="ko-KR" sz="1000"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Lack </a:t>
              </a:r>
              <a:r>
                <a:rPr lang="en-US" altLang="ko-KR" sz="1000">
                  <a:solidFill>
                    <a:srgbClr val="000000"/>
                  </a:solidFill>
                  <a:latin typeface="Arial" panose="020B0600000101010101" pitchFamily="34" charset="-127"/>
                  <a:ea typeface="Arial" panose="020B0600000101010101" pitchFamily="34" charset="-127"/>
                  <a:cs typeface="Arial Unicode MS" panose="020B0604020202020204" pitchFamily="34" charset="-128"/>
                </a:rPr>
                <a:t>of management</a:t>
              </a:r>
            </a:p>
            <a:p>
              <a:r>
                <a:rPr lang="en-US" altLang="ko-KR" sz="1000">
                  <a:solidFill>
                    <a:srgbClr val="000000"/>
                  </a:solidFill>
                  <a:latin typeface="Arial" panose="020B0600000101010101" pitchFamily="34" charset="-127"/>
                  <a:ea typeface="Arial" panose="020B0600000101010101" pitchFamily="34" charset="-127"/>
                  <a:cs typeface="Arial Unicode MS" panose="020B0604020202020204" pitchFamily="34" charset="-128"/>
                </a:rPr>
                <a:t>Lack of skill</a:t>
              </a:r>
              <a:endParaRPr lang="en-US" altLang="ko-KR" sz="1000" dirty="0">
                <a:solidFill>
                  <a:srgbClr val="000000"/>
                </a:solidFill>
                <a:latin typeface="LG Smart_H Regular" panose="020B0600000101010101" pitchFamily="34" charset="-127"/>
                <a:ea typeface="LG Smart_H Regular" panose="020B0600000101010101" pitchFamily="34" charset="-127"/>
                <a:cs typeface="Arial Unicode MS" panose="020B0604020202020204" pitchFamily="34" charset="-128"/>
              </a:endParaRPr>
            </a:p>
          </p:txBody>
        </p:sp>
        <p:sp>
          <p:nvSpPr>
            <p:cNvPr id="42" name="Text Box 21">
              <a:extLst>
                <a:ext uri="{FF2B5EF4-FFF2-40B4-BE49-F238E27FC236}">
                  <a16:creationId xmlns:a16="http://schemas.microsoft.com/office/drawing/2014/main" id="{4E6A85B0-10C3-4A76-ADAD-E2C95236DA18}"/>
                </a:ext>
              </a:extLst>
            </p:cNvPr>
            <p:cNvSpPr txBox="1">
              <a:spLocks noChangeArrowheads="1"/>
            </p:cNvSpPr>
            <p:nvPr/>
          </p:nvSpPr>
          <p:spPr bwMode="auto">
            <a:xfrm>
              <a:off x="6568444" y="5020070"/>
              <a:ext cx="1117346" cy="651856"/>
            </a:xfrm>
            <a:prstGeom prst="rect">
              <a:avLst/>
            </a:prstGeom>
            <a:noFill/>
            <a:ln w="9525">
              <a:noFill/>
              <a:miter lim="800000"/>
              <a:headEnd/>
              <a:tailEnd/>
            </a:ln>
          </p:spPr>
          <p:txBody>
            <a:bodyPr>
              <a:spAutoFit/>
            </a:bodyPr>
            <a:lstStyle/>
            <a:p>
              <a:r>
                <a:rPr lang="en-US" altLang="ko-KR" sz="1000"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Proper management</a:t>
              </a:r>
              <a:endParaRPr lang="ko-KR" altLang="en-US" sz="1000" dirty="0">
                <a:solidFill>
                  <a:srgbClr val="000000"/>
                </a:solidFill>
                <a:latin typeface="LG Smart_H Regular" panose="020B0600000101010101" pitchFamily="34" charset="-127"/>
                <a:ea typeface="LG Smart_H Regular" panose="020B0600000101010101" pitchFamily="34" charset="-127"/>
                <a:cs typeface="Arial Unicode MS" panose="020B0604020202020204" pitchFamily="34" charset="-128"/>
              </a:endParaRPr>
            </a:p>
            <a:p>
              <a:r>
                <a:rPr lang="en-US" altLang="ko-KR" sz="1000"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Lack of skills</a:t>
              </a:r>
              <a:endParaRPr lang="ko-KR" altLang="en-US" sz="1000" dirty="0">
                <a:solidFill>
                  <a:srgbClr val="000000"/>
                </a:solidFill>
                <a:latin typeface="LG Smart_H Regular" panose="020B0600000101010101" pitchFamily="34" charset="-127"/>
                <a:ea typeface="LG Smart_H Regular" panose="020B0600000101010101" pitchFamily="34" charset="-127"/>
                <a:cs typeface="Arial Unicode MS" panose="020B0604020202020204" pitchFamily="34" charset="-128"/>
              </a:endParaRPr>
            </a:p>
          </p:txBody>
        </p:sp>
        <p:sp>
          <p:nvSpPr>
            <p:cNvPr id="43" name="Text Box 22">
              <a:extLst>
                <a:ext uri="{FF2B5EF4-FFF2-40B4-BE49-F238E27FC236}">
                  <a16:creationId xmlns:a16="http://schemas.microsoft.com/office/drawing/2014/main" id="{B3A76730-7D39-4250-BA71-BD4D5C0069FF}"/>
                </a:ext>
              </a:extLst>
            </p:cNvPr>
            <p:cNvSpPr txBox="1">
              <a:spLocks noChangeArrowheads="1"/>
            </p:cNvSpPr>
            <p:nvPr/>
          </p:nvSpPr>
          <p:spPr bwMode="auto">
            <a:xfrm>
              <a:off x="8264079" y="3867733"/>
              <a:ext cx="1213911" cy="651855"/>
            </a:xfrm>
            <a:prstGeom prst="rect">
              <a:avLst/>
            </a:prstGeom>
            <a:noFill/>
            <a:ln w="9525">
              <a:noFill/>
              <a:miter lim="800000"/>
              <a:headEnd/>
              <a:tailEnd/>
            </a:ln>
          </p:spPr>
          <p:txBody>
            <a:bodyPr wrap="square">
              <a:spAutoFit/>
            </a:bodyPr>
            <a:lstStyle/>
            <a:p>
              <a:r>
                <a:rPr lang="en-US" altLang="ko-KR" sz="1000"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Lack of management</a:t>
              </a:r>
            </a:p>
            <a:p>
              <a:r>
                <a:rPr lang="en-US" altLang="ko-KR" sz="1000"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Proper skills</a:t>
              </a:r>
              <a:endParaRPr lang="ko-KR" altLang="en-US" sz="1000" dirty="0">
                <a:solidFill>
                  <a:srgbClr val="000000"/>
                </a:solidFill>
                <a:latin typeface="LG Smart_H Regular" panose="020B0600000101010101" pitchFamily="34" charset="-127"/>
                <a:ea typeface="LG Smart_H Regular" panose="020B0600000101010101" pitchFamily="34" charset="-127"/>
                <a:cs typeface="Arial Unicode MS" panose="020B0604020202020204" pitchFamily="34" charset="-128"/>
              </a:endParaRPr>
            </a:p>
          </p:txBody>
        </p:sp>
        <p:sp>
          <p:nvSpPr>
            <p:cNvPr id="44" name="Text Box 23">
              <a:extLst>
                <a:ext uri="{FF2B5EF4-FFF2-40B4-BE49-F238E27FC236}">
                  <a16:creationId xmlns:a16="http://schemas.microsoft.com/office/drawing/2014/main" id="{05BD512F-67DF-4736-80E2-CEA1B470C486}"/>
                </a:ext>
              </a:extLst>
            </p:cNvPr>
            <p:cNvSpPr txBox="1">
              <a:spLocks noChangeArrowheads="1"/>
            </p:cNvSpPr>
            <p:nvPr/>
          </p:nvSpPr>
          <p:spPr bwMode="auto">
            <a:xfrm>
              <a:off x="8323991" y="4965073"/>
              <a:ext cx="1220446" cy="651855"/>
            </a:xfrm>
            <a:prstGeom prst="rect">
              <a:avLst/>
            </a:prstGeom>
            <a:noFill/>
            <a:ln w="9525">
              <a:noFill/>
              <a:miter lim="800000"/>
              <a:headEnd/>
              <a:tailEnd/>
            </a:ln>
          </p:spPr>
          <p:txBody>
            <a:bodyPr wrap="square">
              <a:spAutoFit/>
            </a:bodyPr>
            <a:lstStyle/>
            <a:p>
              <a:r>
                <a:rPr lang="en-US" altLang="ko-KR" sz="1000"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Proper management</a:t>
              </a:r>
            </a:p>
            <a:p>
              <a:r>
                <a:rPr lang="en-US" altLang="ko-KR" sz="1000"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Proper skills</a:t>
              </a:r>
              <a:endParaRPr lang="ko-KR" altLang="en-US" sz="1000" dirty="0">
                <a:solidFill>
                  <a:srgbClr val="000000"/>
                </a:solidFill>
                <a:latin typeface="LG Smart_H Regular" panose="020B0600000101010101" pitchFamily="34" charset="-127"/>
                <a:ea typeface="LG Smart_H Regular" panose="020B0600000101010101" pitchFamily="34" charset="-127"/>
                <a:cs typeface="Arial Unicode MS" panose="020B0604020202020204" pitchFamily="34" charset="-128"/>
              </a:endParaRPr>
            </a:p>
          </p:txBody>
        </p:sp>
        <p:sp>
          <p:nvSpPr>
            <p:cNvPr id="45" name="Line 30">
              <a:extLst>
                <a:ext uri="{FF2B5EF4-FFF2-40B4-BE49-F238E27FC236}">
                  <a16:creationId xmlns:a16="http://schemas.microsoft.com/office/drawing/2014/main" id="{25B2880B-8280-4D1B-9DDF-8314019EA58B}"/>
                </a:ext>
              </a:extLst>
            </p:cNvPr>
            <p:cNvSpPr>
              <a:spLocks noChangeShapeType="1"/>
            </p:cNvSpPr>
            <p:nvPr/>
          </p:nvSpPr>
          <p:spPr bwMode="auto">
            <a:xfrm>
              <a:off x="5706255" y="3615323"/>
              <a:ext cx="0" cy="2380896"/>
            </a:xfrm>
            <a:prstGeom prst="line">
              <a:avLst/>
            </a:prstGeom>
            <a:noFill/>
            <a:ln w="9525">
              <a:solidFill>
                <a:srgbClr val="FF0000"/>
              </a:solidFill>
              <a:round/>
              <a:headEnd type="triangle" w="med" len="med"/>
              <a:tailEnd type="triangle" w="med" len="med"/>
            </a:ln>
          </p:spPr>
          <p:txBody>
            <a:bodyPr anchor="ctr"/>
            <a:lstStyle/>
            <a:p>
              <a:endParaRPr lang="ko-KR" altLang="en-US" sz="1200" dirty="0">
                <a:solidFill>
                  <a:prstClr val="black"/>
                </a:solidFill>
                <a:latin typeface="LG Smart_H Regular" panose="020B0600000101010101" pitchFamily="34" charset="-127"/>
                <a:ea typeface="LG Smart_H Regular" panose="020B0600000101010101" pitchFamily="34" charset="-127"/>
                <a:cs typeface="Arial Unicode MS" panose="020B0604020202020204" pitchFamily="34" charset="-128"/>
              </a:endParaRPr>
            </a:p>
          </p:txBody>
        </p:sp>
        <p:sp>
          <p:nvSpPr>
            <p:cNvPr id="46" name="Text Box 36">
              <a:extLst>
                <a:ext uri="{FF2B5EF4-FFF2-40B4-BE49-F238E27FC236}">
                  <a16:creationId xmlns:a16="http://schemas.microsoft.com/office/drawing/2014/main" id="{6DB980A6-8D3E-4595-A095-0CD813709CAA}"/>
                </a:ext>
              </a:extLst>
            </p:cNvPr>
            <p:cNvSpPr txBox="1">
              <a:spLocks noChangeArrowheads="1"/>
            </p:cNvSpPr>
            <p:nvPr/>
          </p:nvSpPr>
          <p:spPr bwMode="auto">
            <a:xfrm rot="16200000">
              <a:off x="4880282" y="4564292"/>
              <a:ext cx="1270044" cy="264288"/>
            </a:xfrm>
            <a:prstGeom prst="rect">
              <a:avLst/>
            </a:prstGeom>
            <a:noFill/>
            <a:ln w="9525" algn="ctr">
              <a:noFill/>
              <a:miter lim="800000"/>
              <a:headEnd/>
              <a:tailEnd/>
            </a:ln>
          </p:spPr>
          <p:txBody>
            <a:bodyPr>
              <a:spAutoFit/>
            </a:bodyPr>
            <a:lstStyle/>
            <a:p>
              <a:pPr algn="ctr">
                <a:spcBef>
                  <a:spcPct val="50000"/>
                </a:spcBef>
              </a:pPr>
              <a:r>
                <a:rPr lang="en-US" altLang="ko-KR" sz="1000" b="1"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Control</a:t>
              </a:r>
            </a:p>
          </p:txBody>
        </p:sp>
        <p:sp>
          <p:nvSpPr>
            <p:cNvPr id="47" name="Rectangle 55">
              <a:extLst>
                <a:ext uri="{FF2B5EF4-FFF2-40B4-BE49-F238E27FC236}">
                  <a16:creationId xmlns:a16="http://schemas.microsoft.com/office/drawing/2014/main" id="{420C2EB9-5F53-479C-9447-39BFD0FCD091}"/>
                </a:ext>
              </a:extLst>
            </p:cNvPr>
            <p:cNvSpPr>
              <a:spLocks noChangeArrowheads="1"/>
            </p:cNvSpPr>
            <p:nvPr/>
          </p:nvSpPr>
          <p:spPr bwMode="auto">
            <a:xfrm>
              <a:off x="9456865" y="5884461"/>
              <a:ext cx="988223" cy="235392"/>
            </a:xfrm>
            <a:prstGeom prst="rect">
              <a:avLst/>
            </a:prstGeom>
            <a:noFill/>
            <a:ln w="9525">
              <a:noFill/>
              <a:miter lim="800000"/>
              <a:headEnd/>
              <a:tailEnd/>
            </a:ln>
          </p:spPr>
          <p:txBody>
            <a:bodyPr wrap="square">
              <a:spAutoFit/>
            </a:bodyPr>
            <a:lstStyle/>
            <a:p>
              <a:r>
                <a:rPr lang="en-US" altLang="ko-KR" sz="700" b="1"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Z</a:t>
              </a:r>
              <a:r>
                <a:rPr lang="en-US" altLang="ko-KR" sz="700" b="1" baseline="-25000"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ST </a:t>
              </a:r>
              <a:r>
                <a:rPr lang="ko-KR" altLang="en-US" sz="700" b="1"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 </a:t>
              </a:r>
              <a:r>
                <a:rPr lang="en-US" altLang="ko-KR" sz="700" b="1"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Or Z</a:t>
              </a:r>
              <a:r>
                <a:rPr lang="en-US" altLang="ko-KR" sz="700" b="1" baseline="-25000"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ST</a:t>
              </a:r>
              <a:r>
                <a:rPr lang="en-US" altLang="ko-KR" sz="700" b="1"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(Bench)</a:t>
              </a:r>
            </a:p>
          </p:txBody>
        </p:sp>
        <p:sp>
          <p:nvSpPr>
            <p:cNvPr id="48" name="Line 31">
              <a:extLst>
                <a:ext uri="{FF2B5EF4-FFF2-40B4-BE49-F238E27FC236}">
                  <a16:creationId xmlns:a16="http://schemas.microsoft.com/office/drawing/2014/main" id="{D4DA5518-7C01-4BE4-8ABF-562CA7555F91}"/>
                </a:ext>
              </a:extLst>
            </p:cNvPr>
            <p:cNvSpPr>
              <a:spLocks noChangeShapeType="1"/>
            </p:cNvSpPr>
            <p:nvPr/>
          </p:nvSpPr>
          <p:spPr bwMode="auto">
            <a:xfrm>
              <a:off x="6060635" y="6162459"/>
              <a:ext cx="3403733" cy="0"/>
            </a:xfrm>
            <a:prstGeom prst="line">
              <a:avLst/>
            </a:prstGeom>
            <a:noFill/>
            <a:ln w="9525">
              <a:solidFill>
                <a:srgbClr val="FF0000"/>
              </a:solidFill>
              <a:round/>
              <a:headEnd type="triangle" w="med" len="med"/>
              <a:tailEnd type="triangle" w="med" len="med"/>
            </a:ln>
          </p:spPr>
          <p:txBody>
            <a:bodyPr anchor="ctr"/>
            <a:lstStyle/>
            <a:p>
              <a:endParaRPr lang="ko-KR" altLang="en-US" dirty="0">
                <a:solidFill>
                  <a:prstClr val="black"/>
                </a:solidFill>
                <a:latin typeface="LG Smart_H Regular" panose="020B0600000101010101" pitchFamily="34" charset="-127"/>
                <a:ea typeface="LG Smart_H Regular" panose="020B0600000101010101" pitchFamily="34" charset="-127"/>
                <a:cs typeface="Arial Unicode MS" panose="020B0604020202020204" pitchFamily="34" charset="-128"/>
              </a:endParaRPr>
            </a:p>
          </p:txBody>
        </p:sp>
        <p:sp>
          <p:nvSpPr>
            <p:cNvPr id="49" name="Text Box 34">
              <a:extLst>
                <a:ext uri="{FF2B5EF4-FFF2-40B4-BE49-F238E27FC236}">
                  <a16:creationId xmlns:a16="http://schemas.microsoft.com/office/drawing/2014/main" id="{EBDA23CD-C680-41C0-9552-B6A4B7F2BB63}"/>
                </a:ext>
              </a:extLst>
            </p:cNvPr>
            <p:cNvSpPr txBox="1">
              <a:spLocks noChangeArrowheads="1"/>
            </p:cNvSpPr>
            <p:nvPr/>
          </p:nvSpPr>
          <p:spPr bwMode="auto">
            <a:xfrm>
              <a:off x="9109150" y="6183452"/>
              <a:ext cx="734112" cy="325928"/>
            </a:xfrm>
            <a:prstGeom prst="rect">
              <a:avLst/>
            </a:prstGeom>
            <a:noFill/>
            <a:ln w="9525" algn="ctr">
              <a:noFill/>
              <a:miter lim="800000"/>
              <a:headEnd/>
              <a:tailEnd/>
            </a:ln>
          </p:spPr>
          <p:txBody>
            <a:bodyPr wrap="square">
              <a:spAutoFit/>
            </a:bodyPr>
            <a:lstStyle/>
            <a:p>
              <a:pPr algn="ctr">
                <a:spcBef>
                  <a:spcPct val="50000"/>
                </a:spcBef>
              </a:pPr>
              <a:r>
                <a:rPr lang="en-US" altLang="ko-KR" sz="1200"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Good</a:t>
              </a:r>
            </a:p>
          </p:txBody>
        </p:sp>
        <p:sp>
          <p:nvSpPr>
            <p:cNvPr id="50" name="Text Box 35">
              <a:extLst>
                <a:ext uri="{FF2B5EF4-FFF2-40B4-BE49-F238E27FC236}">
                  <a16:creationId xmlns:a16="http://schemas.microsoft.com/office/drawing/2014/main" id="{E48E283C-7CC9-426A-84F4-62FAD64114CF}"/>
                </a:ext>
              </a:extLst>
            </p:cNvPr>
            <p:cNvSpPr txBox="1">
              <a:spLocks noChangeArrowheads="1"/>
            </p:cNvSpPr>
            <p:nvPr/>
          </p:nvSpPr>
          <p:spPr bwMode="auto">
            <a:xfrm>
              <a:off x="5833830" y="6146714"/>
              <a:ext cx="605367" cy="325928"/>
            </a:xfrm>
            <a:prstGeom prst="rect">
              <a:avLst/>
            </a:prstGeom>
            <a:noFill/>
            <a:ln w="9525" algn="ctr">
              <a:noFill/>
              <a:miter lim="800000"/>
              <a:headEnd/>
              <a:tailEnd/>
            </a:ln>
          </p:spPr>
          <p:txBody>
            <a:bodyPr>
              <a:spAutoFit/>
            </a:bodyPr>
            <a:lstStyle/>
            <a:p>
              <a:pPr algn="ctr">
                <a:spcBef>
                  <a:spcPct val="50000"/>
                </a:spcBef>
              </a:pPr>
              <a:r>
                <a:rPr lang="en-US" altLang="ko-KR" sz="1200"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Poor</a:t>
              </a:r>
            </a:p>
          </p:txBody>
        </p:sp>
        <p:sp>
          <p:nvSpPr>
            <p:cNvPr id="51" name="Text Box 37">
              <a:extLst>
                <a:ext uri="{FF2B5EF4-FFF2-40B4-BE49-F238E27FC236}">
                  <a16:creationId xmlns:a16="http://schemas.microsoft.com/office/drawing/2014/main" id="{6ACB3CF9-F1A5-40FF-94B5-AC5A9AA50E7F}"/>
                </a:ext>
              </a:extLst>
            </p:cNvPr>
            <p:cNvSpPr txBox="1">
              <a:spLocks noChangeArrowheads="1"/>
            </p:cNvSpPr>
            <p:nvPr/>
          </p:nvSpPr>
          <p:spPr bwMode="auto">
            <a:xfrm>
              <a:off x="7269702" y="6134470"/>
              <a:ext cx="1210735" cy="325928"/>
            </a:xfrm>
            <a:prstGeom prst="rect">
              <a:avLst/>
            </a:prstGeom>
            <a:noFill/>
            <a:ln w="9525" algn="ctr">
              <a:noFill/>
              <a:miter lim="800000"/>
              <a:headEnd/>
              <a:tailEnd/>
            </a:ln>
          </p:spPr>
          <p:txBody>
            <a:bodyPr>
              <a:spAutoFit/>
            </a:bodyPr>
            <a:lstStyle/>
            <a:p>
              <a:pPr algn="ctr">
                <a:spcBef>
                  <a:spcPct val="50000"/>
                </a:spcBef>
              </a:pPr>
              <a:r>
                <a:rPr lang="en-US" altLang="ko-KR" sz="1200" b="1"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Technology</a:t>
              </a:r>
            </a:p>
          </p:txBody>
        </p:sp>
      </p:grpSp>
      <p:sp>
        <p:nvSpPr>
          <p:cNvPr id="54" name="제목 1">
            <a:extLst>
              <a:ext uri="{FF2B5EF4-FFF2-40B4-BE49-F238E27FC236}">
                <a16:creationId xmlns:a16="http://schemas.microsoft.com/office/drawing/2014/main" id="{C1E39F43-4212-4D85-A402-9DA4EED98FCF}"/>
              </a:ext>
            </a:extLst>
          </p:cNvPr>
          <p:cNvSpPr txBox="1">
            <a:spLocks/>
          </p:cNvSpPr>
          <p:nvPr/>
        </p:nvSpPr>
        <p:spPr>
          <a:xfrm>
            <a:off x="110170" y="71674"/>
            <a:ext cx="6156000" cy="418058"/>
          </a:xfrm>
          <a:prstGeom prst="rect">
            <a:avLst/>
          </a:prstGeom>
        </p:spPr>
        <p:txBody>
          <a:bodyPr vert="horz" lIns="91440" tIns="45720" rIns="91440" bIns="45720" rtlCol="0" anchor="ctr">
            <a:noAutofit/>
          </a:bodyPr>
          <a:lstStyle/>
          <a:p>
            <a:pPr marL="0" marR="0" lvl="0" indent="0" algn="l" defTabSz="914400" rtl="0" eaLnBrk="1" fontAlgn="base" latinLnBrk="0" hangingPunct="0">
              <a:lnSpc>
                <a:spcPct val="100000"/>
              </a:lnSpc>
              <a:spcBef>
                <a:spcPct val="0"/>
              </a:spcBef>
              <a:spcAft>
                <a:spcPct val="0"/>
              </a:spcAft>
              <a:buClrTx/>
              <a:buSzTx/>
              <a:buFontTx/>
              <a:buNone/>
              <a:tabLst/>
              <a:defRPr/>
            </a:pPr>
            <a:r>
              <a:rPr lang="en-US" altLang="ko-KR" sz="1600" b="1" kern="0" noProof="0" dirty="0">
                <a:latin typeface="Arial Narrow" panose="020B0606020202030204" pitchFamily="34" charset="0"/>
                <a:ea typeface="Arial Unicode MS" panose="020B0604020202020204" pitchFamily="34" charset="-128"/>
                <a:cs typeface="Arial" panose="020B0604020202020204" pitchFamily="34" charset="0"/>
              </a:rPr>
              <a:t>4.4</a:t>
            </a:r>
            <a:r>
              <a:rPr kumimoji="1" lang="en-US" altLang="ko-KR" sz="1600" b="1" i="0" u="none" strike="noStrike" kern="0" cap="none" spc="0" normalizeH="0" baseline="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rPr>
              <a:t> Check Process Capability after</a:t>
            </a:r>
            <a:r>
              <a:rPr kumimoji="1" lang="en-US" altLang="ko-KR" sz="1600" b="1" i="0" u="none" strike="noStrike" kern="0" cap="none" spc="0" normalizeH="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rPr>
              <a:t> improving the measurement system</a:t>
            </a:r>
            <a:endParaRPr kumimoji="1" lang="ko-KR" altLang="en-US" sz="1600" b="1" i="0" u="none" strike="noStrike" kern="0" cap="none" spc="0" normalizeH="0" baseline="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endParaRPr>
          </a:p>
        </p:txBody>
      </p:sp>
      <p:sp>
        <p:nvSpPr>
          <p:cNvPr id="55" name="TextBox 54">
            <a:extLst>
              <a:ext uri="{FF2B5EF4-FFF2-40B4-BE49-F238E27FC236}">
                <a16:creationId xmlns:a16="http://schemas.microsoft.com/office/drawing/2014/main" id="{98D96AB4-12A2-4255-A061-D35744AE3B8D}"/>
              </a:ext>
            </a:extLst>
          </p:cNvPr>
          <p:cNvSpPr txBox="1"/>
          <p:nvPr/>
        </p:nvSpPr>
        <p:spPr>
          <a:xfrm>
            <a:off x="29671" y="594277"/>
            <a:ext cx="2637329" cy="276999"/>
          </a:xfrm>
          <a:prstGeom prst="rect">
            <a:avLst/>
          </a:prstGeom>
          <a:noFill/>
        </p:spPr>
        <p:txBody>
          <a:bodyPr wrap="square" rtlCol="0">
            <a:spAutoFit/>
          </a:bodyPr>
          <a:lstStyle/>
          <a:p>
            <a:pPr marL="171450" indent="-171450" eaLnBrk="1" latinLnBrk="0">
              <a:buFont typeface="Wingdings" panose="05000000000000000000" pitchFamily="2" charset="2"/>
              <a:buChar char="q"/>
            </a:pPr>
            <a:r>
              <a:rPr lang="vi-VN" sz="1000" b="1" dirty="0">
                <a:latin typeface="Arial" panose="020B0604020202020204" pitchFamily="34" charset="0"/>
                <a:ea typeface="Arial Unicode MS" panose="020B0604020202020204" pitchFamily="34" charset="-128"/>
                <a:cs typeface="Arial" panose="020B0604020202020204" pitchFamily="34" charset="0"/>
              </a:rPr>
              <a:t>Station </a:t>
            </a:r>
            <a:r>
              <a:rPr lang="en-US" sz="1000" b="1" dirty="0">
                <a:latin typeface="Arial" panose="020B0604020202020204" pitchFamily="34" charset="0"/>
                <a:ea typeface="Arial Unicode MS" panose="020B0604020202020204" pitchFamily="34" charset="-128"/>
                <a:cs typeface="Arial" panose="020B0604020202020204" pitchFamily="34" charset="0"/>
              </a:rPr>
              <a:t>2 Luminance</a:t>
            </a:r>
          </a:p>
        </p:txBody>
      </p:sp>
      <p:sp>
        <p:nvSpPr>
          <p:cNvPr id="52" name="AutoShape 57">
            <a:extLst>
              <a:ext uri="{FF2B5EF4-FFF2-40B4-BE49-F238E27FC236}">
                <a16:creationId xmlns:a16="http://schemas.microsoft.com/office/drawing/2014/main" id="{508EC12D-F11B-4FFB-88DA-39948A1A7C34}"/>
              </a:ext>
            </a:extLst>
          </p:cNvPr>
          <p:cNvSpPr>
            <a:spLocks noChangeArrowheads="1"/>
          </p:cNvSpPr>
          <p:nvPr/>
        </p:nvSpPr>
        <p:spPr bwMode="auto">
          <a:xfrm>
            <a:off x="7687914" y="178989"/>
            <a:ext cx="749300" cy="287338"/>
          </a:xfrm>
          <a:prstGeom prst="homePlate">
            <a:avLst>
              <a:gd name="adj" fmla="val 46698"/>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Analyze</a:t>
            </a:r>
          </a:p>
        </p:txBody>
      </p:sp>
      <p:sp>
        <p:nvSpPr>
          <p:cNvPr id="53" name="AutoShape 56">
            <a:extLst>
              <a:ext uri="{FF2B5EF4-FFF2-40B4-BE49-F238E27FC236}">
                <a16:creationId xmlns:a16="http://schemas.microsoft.com/office/drawing/2014/main" id="{F95FD074-5AF2-4416-AFCF-7A5073F4B158}"/>
              </a:ext>
            </a:extLst>
          </p:cNvPr>
          <p:cNvSpPr>
            <a:spLocks noChangeArrowheads="1"/>
          </p:cNvSpPr>
          <p:nvPr/>
        </p:nvSpPr>
        <p:spPr bwMode="auto">
          <a:xfrm>
            <a:off x="7018783" y="178989"/>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Measure</a:t>
            </a:r>
          </a:p>
        </p:txBody>
      </p:sp>
      <p:sp>
        <p:nvSpPr>
          <p:cNvPr id="56" name="AutoShape 58">
            <a:extLst>
              <a:ext uri="{FF2B5EF4-FFF2-40B4-BE49-F238E27FC236}">
                <a16:creationId xmlns:a16="http://schemas.microsoft.com/office/drawing/2014/main" id="{F6CA6BFA-4510-4DAD-83FD-90AD22316A5B}"/>
              </a:ext>
            </a:extLst>
          </p:cNvPr>
          <p:cNvSpPr>
            <a:spLocks noChangeArrowheads="1"/>
          </p:cNvSpPr>
          <p:nvPr/>
        </p:nvSpPr>
        <p:spPr bwMode="auto">
          <a:xfrm>
            <a:off x="8330852" y="51592"/>
            <a:ext cx="747712" cy="287337"/>
          </a:xfrm>
          <a:prstGeom prst="homePlate">
            <a:avLst>
              <a:gd name="adj" fmla="val 46599"/>
            </a:avLst>
          </a:prstGeom>
          <a:gradFill rotWithShape="1">
            <a:gsLst>
              <a:gs pos="0">
                <a:srgbClr val="494900"/>
              </a:gs>
              <a:gs pos="100000">
                <a:srgbClr val="808000"/>
              </a:gs>
            </a:gsLst>
            <a:lin ang="0" scaled="1"/>
          </a:gradFill>
          <a:ln w="6350" algn="ctr">
            <a:solidFill>
              <a:srgbClr val="808080"/>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latin typeface="Arial Narrow" panose="020B0606020202030204" pitchFamily="34" charset="0"/>
                <a:ea typeface="Arial" panose="020B0503020000020004" pitchFamily="50" charset="-127"/>
              </a:rPr>
              <a:t>Improve</a:t>
            </a:r>
          </a:p>
        </p:txBody>
      </p:sp>
      <p:sp>
        <p:nvSpPr>
          <p:cNvPr id="57" name="Oval 56">
            <a:extLst>
              <a:ext uri="{FF2B5EF4-FFF2-40B4-BE49-F238E27FC236}">
                <a16:creationId xmlns:a16="http://schemas.microsoft.com/office/drawing/2014/main" id="{6E8DCBC3-A95D-4092-B08D-A31121EC3FF1}"/>
              </a:ext>
            </a:extLst>
          </p:cNvPr>
          <p:cNvSpPr/>
          <p:nvPr/>
        </p:nvSpPr>
        <p:spPr bwMode="auto">
          <a:xfrm>
            <a:off x="7997309" y="5292918"/>
            <a:ext cx="130509" cy="137281"/>
          </a:xfrm>
          <a:prstGeom prst="ellipse">
            <a:avLst/>
          </a:prstGeom>
          <a:solidFill>
            <a:srgbClr val="C00000"/>
          </a:solidFill>
          <a:ln w="9525" cap="flat" cmpd="sng" algn="ctr">
            <a:solidFill>
              <a:schemeClr val="tx1"/>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0" i="0" u="none" strike="noStrike" cap="none" normalizeH="0" baseline="0">
              <a:ln>
                <a:noFill/>
              </a:ln>
              <a:solidFill>
                <a:schemeClr val="tx1"/>
              </a:solidFill>
              <a:effectLst/>
              <a:latin typeface="Arial" charset="0"/>
              <a:ea typeface="돋움" pitchFamily="50" charset="-127"/>
            </a:endParaRPr>
          </a:p>
        </p:txBody>
      </p:sp>
      <p:sp>
        <p:nvSpPr>
          <p:cNvPr id="58" name="Added text 58"/>
          <p:cNvSpPr txBox="1"/>
          <p:nvPr/>
        </p:nvSpPr>
        <p:spPr>
          <a:xfrm>
            <a:off x="228600" y="6324600"/>
            <a:ext cx="4572000" cy="285750"/>
          </a:xfrm>
          <a:prstGeom prst="rect">
            <a:avLst/>
          </a:prstGeom>
          <a:noFill/>
        </p:spPr>
        <p:txBody>
          <a:bodyPr wrap="square" lIns="0" tIns="0" rIns="0" bIns="0" rtlCol="0">
            <a:noAutofit/>
          </a:bodyPr>
          <a:lstStyle/>
          <a:p>
            <a:r>
              <a:rPr lang="en-US" sz="900" b="0" dirty="0">
                <a:solidFill>
                  <a:srgbClr val="000000"/>
                </a:solidFill>
                <a:latin typeface="Arial"/>
                <a:cs typeface="Arial"/>
              </a:rPr>
              <a:t>(The matrix boundary Zst = 4.5 is the minimum for good technology; the Six Sigma level Zst ≥ 6 / Zlt ≥ 4.5 is also reached.)</a:t>
            </a:r>
          </a:p>
        </p:txBody>
      </p:sp>
    </p:spTree>
    <p:extLst>
      <p:ext uri="{BB962C8B-B14F-4D97-AF65-F5344CB8AC3E}">
        <p14:creationId xmlns:p14="http://schemas.microsoft.com/office/powerpoint/2010/main" val="378829766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5" name="Straight Connector 14">
            <a:extLst>
              <a:ext uri="{FF2B5EF4-FFF2-40B4-BE49-F238E27FC236}">
                <a16:creationId xmlns:a16="http://schemas.microsoft.com/office/drawing/2014/main" id="{D6B8DA67-8CAF-45C2-B88E-D3D992BF9940}"/>
              </a:ext>
            </a:extLst>
          </p:cNvPr>
          <p:cNvCxnSpPr/>
          <p:nvPr/>
        </p:nvCxnSpPr>
        <p:spPr>
          <a:xfrm>
            <a:off x="0" y="508838"/>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20" name="Slide Number Placeholder 4">
            <a:extLst>
              <a:ext uri="{FF2B5EF4-FFF2-40B4-BE49-F238E27FC236}">
                <a16:creationId xmlns:a16="http://schemas.microsoft.com/office/drawing/2014/main" id="{AAF66B0A-7BB0-4BF6-8480-6319118578F6}"/>
              </a:ext>
            </a:extLst>
          </p:cNvPr>
          <p:cNvSpPr>
            <a:spLocks noGrp="1"/>
          </p:cNvSpPr>
          <p:nvPr>
            <p:ph type="sldNum" sz="quarter" idx="12"/>
          </p:nvPr>
        </p:nvSpPr>
        <p:spPr>
          <a:xfrm>
            <a:off x="3700326" y="6643499"/>
            <a:ext cx="2133600" cy="198047"/>
          </a:xfrm>
        </p:spPr>
        <p:txBody>
          <a:bodyPr/>
          <a:lstStyle/>
          <a:p>
            <a:pPr algn="ctr" eaLnBrk="1" latinLnBrk="0"/>
            <a:r>
              <a:rPr sz="1000" b="0">
                <a:latin typeface="Arial"/>
              </a:rPr>
              <a:t>30 / 33</a:t>
            </a:r>
            <a:endParaRPr lang="ko-KR" altLang="en-US" sz="1200" dirty="0">
              <a:solidFill>
                <a:prstClr val="black">
                  <a:tint val="75000"/>
                </a:prstClr>
              </a:solidFill>
              <a:latin typeface="Arial" panose="020B0604020202020204" pitchFamily="34" charset="0"/>
              <a:ea typeface="Arial Unicode MS" panose="020B0604020202020204" pitchFamily="34" charset="-128"/>
              <a:cs typeface="Arial" panose="020B0604020202020204" pitchFamily="34" charset="0"/>
            </a:endParaRPr>
          </a:p>
        </p:txBody>
      </p:sp>
      <p:sp>
        <p:nvSpPr>
          <p:cNvPr id="32" name="AutoShape 55">
            <a:extLst>
              <a:ext uri="{FF2B5EF4-FFF2-40B4-BE49-F238E27FC236}">
                <a16:creationId xmlns:a16="http://schemas.microsoft.com/office/drawing/2014/main" id="{192872DD-0F6D-41C2-83BA-E80AF9901EF4}"/>
              </a:ext>
            </a:extLst>
          </p:cNvPr>
          <p:cNvSpPr>
            <a:spLocks noChangeArrowheads="1"/>
          </p:cNvSpPr>
          <p:nvPr/>
        </p:nvSpPr>
        <p:spPr bwMode="auto">
          <a:xfrm>
            <a:off x="9069039" y="178989"/>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Control</a:t>
            </a:r>
          </a:p>
        </p:txBody>
      </p:sp>
      <p:sp>
        <p:nvSpPr>
          <p:cNvPr id="35" name="AutoShape 59">
            <a:extLst>
              <a:ext uri="{FF2B5EF4-FFF2-40B4-BE49-F238E27FC236}">
                <a16:creationId xmlns:a16="http://schemas.microsoft.com/office/drawing/2014/main" id="{89F6BFB0-96B2-4FA3-ABFE-85257141B92E}"/>
              </a:ext>
            </a:extLst>
          </p:cNvPr>
          <p:cNvSpPr>
            <a:spLocks noChangeArrowheads="1"/>
          </p:cNvSpPr>
          <p:nvPr/>
        </p:nvSpPr>
        <p:spPr bwMode="auto">
          <a:xfrm>
            <a:off x="6319489" y="178989"/>
            <a:ext cx="757238" cy="287338"/>
          </a:xfrm>
          <a:prstGeom prst="homePlate">
            <a:avLst>
              <a:gd name="adj" fmla="val 47192"/>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Define</a:t>
            </a:r>
          </a:p>
        </p:txBody>
      </p:sp>
      <p:sp>
        <p:nvSpPr>
          <p:cNvPr id="37" name="제목 1">
            <a:extLst>
              <a:ext uri="{FF2B5EF4-FFF2-40B4-BE49-F238E27FC236}">
                <a16:creationId xmlns:a16="http://schemas.microsoft.com/office/drawing/2014/main" id="{3E2CD205-658C-4605-9774-0129D43DEF0F}"/>
              </a:ext>
            </a:extLst>
          </p:cNvPr>
          <p:cNvSpPr txBox="1">
            <a:spLocks/>
          </p:cNvSpPr>
          <p:nvPr/>
        </p:nvSpPr>
        <p:spPr>
          <a:xfrm>
            <a:off x="110170" y="71674"/>
            <a:ext cx="3114638" cy="418058"/>
          </a:xfrm>
          <a:prstGeom prst="rect">
            <a:avLst/>
          </a:prstGeom>
        </p:spPr>
        <p:txBody>
          <a:bodyPr vert="horz" lIns="91440" tIns="45720" rIns="91440" bIns="45720" rtlCol="0" anchor="ctr">
            <a:normAutofit/>
          </a:bodyPr>
          <a:lstStyle/>
          <a:p>
            <a:pPr marL="0" marR="0" lvl="0" indent="0" algn="l" defTabSz="914400" rtl="0" eaLnBrk="1" fontAlgn="base" latinLnBrk="0" hangingPunct="0">
              <a:lnSpc>
                <a:spcPct val="100000"/>
              </a:lnSpc>
              <a:spcBef>
                <a:spcPct val="0"/>
              </a:spcBef>
              <a:spcAft>
                <a:spcPct val="0"/>
              </a:spcAft>
              <a:buClrTx/>
              <a:buSzTx/>
              <a:buFontTx/>
              <a:buNone/>
              <a:tabLst/>
              <a:defRPr/>
            </a:pPr>
            <a:r>
              <a:rPr lang="en-US" altLang="ko-KR" sz="1600" b="1" kern="0" noProof="0" dirty="0">
                <a:latin typeface="Arial Narrow" panose="020B0606020202030204" pitchFamily="34" charset="0"/>
                <a:ea typeface="Arial Unicode MS" panose="020B0604020202020204" pitchFamily="34" charset="-128"/>
                <a:cs typeface="Arial" panose="020B0604020202020204" pitchFamily="34" charset="0"/>
              </a:rPr>
              <a:t>4.5</a:t>
            </a:r>
            <a:r>
              <a:rPr kumimoji="1" lang="en-US" altLang="ko-KR" sz="1600" b="1" i="0" u="none" strike="noStrike" kern="0" cap="none" spc="0" normalizeH="0" baseline="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rPr>
              <a:t> Conclusion</a:t>
            </a:r>
            <a:endParaRPr kumimoji="1" lang="ko-KR" altLang="en-US" sz="1600" b="1" i="0" u="none" strike="noStrike" kern="0" cap="none" spc="0" normalizeH="0" baseline="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endParaRPr>
          </a:p>
        </p:txBody>
      </p:sp>
      <p:sp>
        <p:nvSpPr>
          <p:cNvPr id="38" name="TextBox 37">
            <a:extLst>
              <a:ext uri="{FF2B5EF4-FFF2-40B4-BE49-F238E27FC236}">
                <a16:creationId xmlns:a16="http://schemas.microsoft.com/office/drawing/2014/main" id="{FCB45B73-A320-43DB-85F3-C32E2B96BB81}"/>
              </a:ext>
            </a:extLst>
          </p:cNvPr>
          <p:cNvSpPr txBox="1"/>
          <p:nvPr/>
        </p:nvSpPr>
        <p:spPr>
          <a:xfrm>
            <a:off x="94266" y="836712"/>
            <a:ext cx="9717468" cy="1532727"/>
          </a:xfrm>
          <a:prstGeom prst="rect">
            <a:avLst/>
          </a:prstGeom>
          <a:noFill/>
        </p:spPr>
        <p:txBody>
          <a:bodyPr wrap="square" rtlCol="0">
            <a:spAutoFit/>
          </a:bodyPr>
          <a:lstStyle/>
          <a:p>
            <a:pPr marL="171450" indent="-171450" algn="just" eaLnBrk="1" latinLnBrk="0">
              <a:spcBef>
                <a:spcPct val="20000"/>
              </a:spcBef>
              <a:buFontTx/>
              <a:buChar char="-"/>
            </a:pPr>
            <a:r>
              <a:rPr sz="1000" b="0">
                <a:latin typeface="Arial"/>
              </a:rPr>
              <a:t>After evaluation, we confirmed that the measurement system at Station 2 had significant problems during testing (while Station 1 was normal). We proved that camera angle misalignment was the root cause of the Luminance NG defect.</a:t>
            </a:r>
          </a:p>
          <a:p>
            <a:pPr algn="just" eaLnBrk="1" latinLnBrk="0">
              <a:spcBef>
                <a:spcPct val="20000"/>
              </a:spcBef>
            </a:pPr>
            <a:endParaRPr lang="en-US" altLang="ko-KR" sz="1200" dirty="0">
              <a:latin typeface="Arial" panose="020B0604020202020204" pitchFamily="34" charset="0"/>
              <a:cs typeface="Arial" panose="020B0604020202020204" pitchFamily="34" charset="0"/>
            </a:endParaRPr>
          </a:p>
          <a:p>
            <a:pPr marL="171450" indent="-171450" algn="just" eaLnBrk="1" latinLnBrk="0">
              <a:spcBef>
                <a:spcPct val="20000"/>
              </a:spcBef>
              <a:buFont typeface="Wingdings" panose="05000000000000000000" pitchFamily="2" charset="2"/>
              <a:buChar char="à"/>
            </a:pPr>
            <a:r>
              <a:rPr sz="1000" b="0">
                <a:latin typeface="Arial"/>
              </a:rPr>
              <a:t>We improved the measurement system by correcting the camera angle to 90.0°. We then verified stability and capability using Type 1 Study, Type 3 Gage R&amp;R, Xbar-R control charts, and Process Capability analysis for both stations.</a:t>
            </a:r>
          </a:p>
          <a:p>
            <a:pPr algn="just" eaLnBrk="1" latinLnBrk="0">
              <a:spcBef>
                <a:spcPct val="20000"/>
              </a:spcBef>
            </a:pPr>
            <a:endParaRPr lang="en-US" altLang="ko-KR" sz="1200" dirty="0">
              <a:latin typeface="Arial" panose="020B0604020202020204" pitchFamily="34" charset="0"/>
              <a:cs typeface="Arial" panose="020B0604020202020204" pitchFamily="34" charset="0"/>
            </a:endParaRPr>
          </a:p>
          <a:p>
            <a:pPr marL="171450" indent="-171450" algn="just" eaLnBrk="1" latinLnBrk="0">
              <a:spcBef>
                <a:spcPct val="20000"/>
              </a:spcBef>
              <a:buFont typeface="Wingdings" panose="05000000000000000000" pitchFamily="2" charset="2"/>
              <a:buChar char="à"/>
            </a:pPr>
            <a:r>
              <a:rPr sz="1000" b="1">
                <a:latin typeface="Arial"/>
              </a:rPr>
              <a:t>The results demonstrate that both measurement systems achieve high repeatability and no significant bias (Type 1: Cg/Cgk ≥ 1.33; Type 3: %Study Var &lt; 10% and %Contribution &lt; 1%), and the process measured at both stations shows excellent capability (Cpk &gt; 2.0). Result vs goal: Luminance defect rate 226,624 ppm → 0 ppm (0 NG / 420 units after improvement; 95% upper confidence bound ≈ 7,100 ppm, still &gt; 96% below the baseline).</a:t>
            </a:r>
          </a:p>
        </p:txBody>
      </p:sp>
      <p:sp>
        <p:nvSpPr>
          <p:cNvPr id="11" name="AutoShape 57">
            <a:extLst>
              <a:ext uri="{FF2B5EF4-FFF2-40B4-BE49-F238E27FC236}">
                <a16:creationId xmlns:a16="http://schemas.microsoft.com/office/drawing/2014/main" id="{48FAC05E-800B-4E1A-9771-36BFD9957914}"/>
              </a:ext>
            </a:extLst>
          </p:cNvPr>
          <p:cNvSpPr>
            <a:spLocks noChangeArrowheads="1"/>
          </p:cNvSpPr>
          <p:nvPr/>
        </p:nvSpPr>
        <p:spPr bwMode="auto">
          <a:xfrm>
            <a:off x="7727634" y="172287"/>
            <a:ext cx="749300" cy="287338"/>
          </a:xfrm>
          <a:prstGeom prst="homePlate">
            <a:avLst>
              <a:gd name="adj" fmla="val 46698"/>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solidFill>
                  <a:schemeClr val="tx1"/>
                </a:solidFill>
                <a:latin typeface="Arial" panose="020B0503020000020004" pitchFamily="50" charset="-127"/>
                <a:ea typeface="Arial" panose="020B0503020000020004" pitchFamily="50" charset="-127"/>
              </a:rPr>
              <a:t>Analyze</a:t>
            </a:r>
          </a:p>
        </p:txBody>
      </p:sp>
      <p:sp>
        <p:nvSpPr>
          <p:cNvPr id="12" name="AutoShape 58">
            <a:extLst>
              <a:ext uri="{FF2B5EF4-FFF2-40B4-BE49-F238E27FC236}">
                <a16:creationId xmlns:a16="http://schemas.microsoft.com/office/drawing/2014/main" id="{39ACC0DB-2BA4-4515-9475-B37010C8E563}"/>
              </a:ext>
            </a:extLst>
          </p:cNvPr>
          <p:cNvSpPr>
            <a:spLocks noChangeArrowheads="1"/>
          </p:cNvSpPr>
          <p:nvPr/>
        </p:nvSpPr>
        <p:spPr bwMode="auto">
          <a:xfrm>
            <a:off x="7056121" y="172287"/>
            <a:ext cx="747713" cy="287338"/>
          </a:xfrm>
          <a:prstGeom prst="homePlate">
            <a:avLst>
              <a:gd name="adj" fmla="val 46599"/>
            </a:avLst>
          </a:prstGeom>
          <a:solidFill>
            <a:schemeClr val="bg1"/>
          </a:solidFill>
          <a:ln w="3175">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solidFill>
                  <a:schemeClr val="tx1"/>
                </a:solidFill>
                <a:latin typeface="Arial" panose="020B0503020000020004" pitchFamily="50" charset="-127"/>
                <a:ea typeface="Arial" panose="020B0503020000020004" pitchFamily="50" charset="-127"/>
              </a:rPr>
              <a:t>Measure </a:t>
            </a:r>
          </a:p>
        </p:txBody>
      </p:sp>
      <p:sp>
        <p:nvSpPr>
          <p:cNvPr id="13" name="AutoShape 56">
            <a:extLst>
              <a:ext uri="{FF2B5EF4-FFF2-40B4-BE49-F238E27FC236}">
                <a16:creationId xmlns:a16="http://schemas.microsoft.com/office/drawing/2014/main" id="{841C5A25-FB18-4642-856C-7D543A29395F}"/>
              </a:ext>
            </a:extLst>
          </p:cNvPr>
          <p:cNvSpPr>
            <a:spLocks noChangeArrowheads="1"/>
          </p:cNvSpPr>
          <p:nvPr/>
        </p:nvSpPr>
        <p:spPr bwMode="auto">
          <a:xfrm>
            <a:off x="8419784" y="46875"/>
            <a:ext cx="747712" cy="287337"/>
          </a:xfrm>
          <a:prstGeom prst="homePlate">
            <a:avLst>
              <a:gd name="adj" fmla="val 46599"/>
            </a:avLst>
          </a:prstGeom>
          <a:gradFill rotWithShape="1">
            <a:gsLst>
              <a:gs pos="0">
                <a:srgbClr val="494900"/>
              </a:gs>
              <a:gs pos="100000">
                <a:srgbClr val="808000"/>
              </a:gs>
            </a:gsLst>
            <a:lin ang="0" scaled="1"/>
          </a:gradFill>
          <a:ln w="6350" algn="ctr">
            <a:solidFill>
              <a:srgbClr val="808080"/>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latin typeface="Arial" panose="020B0503020000020004" pitchFamily="50" charset="-127"/>
                <a:ea typeface="Arial" panose="020B0503020000020004" pitchFamily="50" charset="-127"/>
              </a:rPr>
              <a:t>Improve</a:t>
            </a:r>
          </a:p>
        </p:txBody>
      </p:sp>
    </p:spTree>
    <p:extLst>
      <p:ext uri="{BB962C8B-B14F-4D97-AF65-F5344CB8AC3E}">
        <p14:creationId xmlns:p14="http://schemas.microsoft.com/office/powerpoint/2010/main" val="411999801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 name="Straight Connector 7">
            <a:extLst>
              <a:ext uri="{FF2B5EF4-FFF2-40B4-BE49-F238E27FC236}">
                <a16:creationId xmlns:a16="http://schemas.microsoft.com/office/drawing/2014/main" id="{37095669-0061-481C-8A59-6F10B434F1A6}"/>
              </a:ext>
            </a:extLst>
          </p:cNvPr>
          <p:cNvCxnSpPr/>
          <p:nvPr/>
        </p:nvCxnSpPr>
        <p:spPr>
          <a:xfrm>
            <a:off x="0" y="508838"/>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7" name="Slide Number Placeholder 4">
            <a:extLst>
              <a:ext uri="{FF2B5EF4-FFF2-40B4-BE49-F238E27FC236}">
                <a16:creationId xmlns:a16="http://schemas.microsoft.com/office/drawing/2014/main" id="{7C0924D8-04C2-4968-8836-DD278588C16B}"/>
              </a:ext>
            </a:extLst>
          </p:cNvPr>
          <p:cNvSpPr>
            <a:spLocks noGrp="1"/>
          </p:cNvSpPr>
          <p:nvPr>
            <p:ph type="sldNum" sz="quarter" idx="12"/>
          </p:nvPr>
        </p:nvSpPr>
        <p:spPr>
          <a:xfrm>
            <a:off x="3700326" y="6643499"/>
            <a:ext cx="2133600" cy="198047"/>
          </a:xfrm>
        </p:spPr>
        <p:txBody>
          <a:bodyPr/>
          <a:lstStyle/>
          <a:p>
            <a:pPr algn="ctr" eaLnBrk="1" latinLnBrk="0"/>
            <a:r>
              <a:rPr sz="1000" b="0">
                <a:latin typeface="Arial"/>
              </a:rPr>
              <a:t>31 / 33</a:t>
            </a:r>
            <a:endParaRPr lang="ko-KR" altLang="en-US" sz="1200" dirty="0">
              <a:solidFill>
                <a:prstClr val="black">
                  <a:tint val="75000"/>
                </a:prstClr>
              </a:solidFill>
              <a:latin typeface="Arial" panose="020B0604020202020204" pitchFamily="34" charset="0"/>
              <a:ea typeface="Arial Unicode MS" panose="020B0604020202020204" pitchFamily="34" charset="-128"/>
              <a:cs typeface="Arial" panose="020B0604020202020204" pitchFamily="34" charset="0"/>
            </a:endParaRPr>
          </a:p>
        </p:txBody>
      </p:sp>
      <p:sp>
        <p:nvSpPr>
          <p:cNvPr id="19" name="AutoShape 57">
            <a:extLst>
              <a:ext uri="{FF2B5EF4-FFF2-40B4-BE49-F238E27FC236}">
                <a16:creationId xmlns:a16="http://schemas.microsoft.com/office/drawing/2014/main" id="{F7C0E09A-DB4D-43E6-B3CE-37B23F71A907}"/>
              </a:ext>
            </a:extLst>
          </p:cNvPr>
          <p:cNvSpPr>
            <a:spLocks noChangeArrowheads="1"/>
          </p:cNvSpPr>
          <p:nvPr/>
        </p:nvSpPr>
        <p:spPr bwMode="auto">
          <a:xfrm>
            <a:off x="7701606" y="173344"/>
            <a:ext cx="749300" cy="287338"/>
          </a:xfrm>
          <a:prstGeom prst="homePlate">
            <a:avLst>
              <a:gd name="adj" fmla="val 46698"/>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solidFill>
                  <a:schemeClr val="tx1"/>
                </a:solidFill>
                <a:latin typeface="Arial Narrow" panose="020B0606020202030204" pitchFamily="34" charset="0"/>
                <a:ea typeface="Arial" panose="020B0503020000020004" pitchFamily="50" charset="-127"/>
              </a:rPr>
              <a:t>Analyze</a:t>
            </a:r>
          </a:p>
        </p:txBody>
      </p:sp>
      <p:sp>
        <p:nvSpPr>
          <p:cNvPr id="20" name="AutoShape 58">
            <a:extLst>
              <a:ext uri="{FF2B5EF4-FFF2-40B4-BE49-F238E27FC236}">
                <a16:creationId xmlns:a16="http://schemas.microsoft.com/office/drawing/2014/main" id="{1CB20489-F538-4606-ADFB-86DC16482793}"/>
              </a:ext>
            </a:extLst>
          </p:cNvPr>
          <p:cNvSpPr>
            <a:spLocks noChangeArrowheads="1"/>
          </p:cNvSpPr>
          <p:nvPr/>
        </p:nvSpPr>
        <p:spPr bwMode="auto">
          <a:xfrm>
            <a:off x="7030094" y="173344"/>
            <a:ext cx="747712" cy="287338"/>
          </a:xfrm>
          <a:prstGeom prst="homePlate">
            <a:avLst>
              <a:gd name="adj" fmla="val 46599"/>
            </a:avLst>
          </a:prstGeom>
          <a:solidFill>
            <a:schemeClr val="bg1"/>
          </a:solidFill>
          <a:ln w="3175">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solidFill>
                  <a:schemeClr val="tx1"/>
                </a:solidFill>
                <a:latin typeface="Arial Narrow" panose="020B0606020202030204" pitchFamily="34" charset="0"/>
                <a:ea typeface="Arial" panose="020B0503020000020004" pitchFamily="50" charset="-127"/>
              </a:rPr>
              <a:t>Measure </a:t>
            </a:r>
          </a:p>
        </p:txBody>
      </p:sp>
      <p:sp>
        <p:nvSpPr>
          <p:cNvPr id="21" name="AutoShape 59">
            <a:extLst>
              <a:ext uri="{FF2B5EF4-FFF2-40B4-BE49-F238E27FC236}">
                <a16:creationId xmlns:a16="http://schemas.microsoft.com/office/drawing/2014/main" id="{34CE5EF4-26DB-49D7-BEFE-A27DCC6983E7}"/>
              </a:ext>
            </a:extLst>
          </p:cNvPr>
          <p:cNvSpPr>
            <a:spLocks noChangeArrowheads="1"/>
          </p:cNvSpPr>
          <p:nvPr/>
        </p:nvSpPr>
        <p:spPr bwMode="auto">
          <a:xfrm>
            <a:off x="6333181" y="173344"/>
            <a:ext cx="757238" cy="287338"/>
          </a:xfrm>
          <a:prstGeom prst="homePlate">
            <a:avLst>
              <a:gd name="adj" fmla="val 47192"/>
            </a:avLst>
          </a:prstGeom>
          <a:solidFill>
            <a:schemeClr val="bg1"/>
          </a:solidFill>
          <a:ln w="3175">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solidFill>
                  <a:schemeClr val="tx1"/>
                </a:solidFill>
                <a:latin typeface="Arial Narrow" panose="020B0606020202030204" pitchFamily="34" charset="0"/>
                <a:ea typeface="Arial" panose="020B0503020000020004" pitchFamily="50" charset="-127"/>
              </a:rPr>
              <a:t>Define</a:t>
            </a:r>
          </a:p>
        </p:txBody>
      </p:sp>
      <p:sp>
        <p:nvSpPr>
          <p:cNvPr id="22" name="AutoShape 56">
            <a:extLst>
              <a:ext uri="{FF2B5EF4-FFF2-40B4-BE49-F238E27FC236}">
                <a16:creationId xmlns:a16="http://schemas.microsoft.com/office/drawing/2014/main" id="{25B21E42-9EA3-4D7E-8A2E-55F983581A16}"/>
              </a:ext>
            </a:extLst>
          </p:cNvPr>
          <p:cNvSpPr>
            <a:spLocks noChangeArrowheads="1"/>
          </p:cNvSpPr>
          <p:nvPr/>
        </p:nvSpPr>
        <p:spPr bwMode="auto">
          <a:xfrm>
            <a:off x="8393756" y="173344"/>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solidFill>
                  <a:schemeClr val="tx1"/>
                </a:solidFill>
                <a:latin typeface="Arial Narrow" panose="020B0606020202030204" pitchFamily="34" charset="0"/>
                <a:ea typeface="Arial" panose="020B0503020000020004" pitchFamily="50" charset="-127"/>
              </a:rPr>
              <a:t>Improve</a:t>
            </a:r>
          </a:p>
        </p:txBody>
      </p:sp>
      <p:sp>
        <p:nvSpPr>
          <p:cNvPr id="23" name="AutoShape 55">
            <a:extLst>
              <a:ext uri="{FF2B5EF4-FFF2-40B4-BE49-F238E27FC236}">
                <a16:creationId xmlns:a16="http://schemas.microsoft.com/office/drawing/2014/main" id="{D709B8E8-5B31-4366-ACEB-109393355B82}"/>
              </a:ext>
            </a:extLst>
          </p:cNvPr>
          <p:cNvSpPr>
            <a:spLocks noChangeArrowheads="1"/>
          </p:cNvSpPr>
          <p:nvPr/>
        </p:nvSpPr>
        <p:spPr bwMode="auto">
          <a:xfrm>
            <a:off x="9082731" y="57457"/>
            <a:ext cx="747713" cy="287337"/>
          </a:xfrm>
          <a:prstGeom prst="homePlate">
            <a:avLst>
              <a:gd name="adj" fmla="val 46599"/>
            </a:avLst>
          </a:prstGeom>
          <a:gradFill rotWithShape="1">
            <a:gsLst>
              <a:gs pos="0">
                <a:srgbClr val="494900"/>
              </a:gs>
              <a:gs pos="100000">
                <a:srgbClr val="808000"/>
              </a:gs>
            </a:gsLst>
            <a:lin ang="0" scaled="1"/>
          </a:gradFill>
          <a:ln w="6350" algn="ctr">
            <a:solidFill>
              <a:srgbClr val="808080"/>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latin typeface="Arial Narrow" panose="020B0606020202030204" pitchFamily="34" charset="0"/>
                <a:ea typeface="Arial" panose="020B0503020000020004" pitchFamily="50" charset="-127"/>
              </a:rPr>
              <a:t>Control</a:t>
            </a:r>
          </a:p>
        </p:txBody>
      </p:sp>
      <p:sp>
        <p:nvSpPr>
          <p:cNvPr id="9" name="TextBox 8">
            <a:extLst>
              <a:ext uri="{FF2B5EF4-FFF2-40B4-BE49-F238E27FC236}">
                <a16:creationId xmlns:a16="http://schemas.microsoft.com/office/drawing/2014/main" id="{B93B0FBA-9900-427C-A2C3-53ABF38E2FB5}"/>
              </a:ext>
            </a:extLst>
          </p:cNvPr>
          <p:cNvSpPr txBox="1"/>
          <p:nvPr/>
        </p:nvSpPr>
        <p:spPr>
          <a:xfrm>
            <a:off x="70509" y="117554"/>
            <a:ext cx="5170524" cy="338554"/>
          </a:xfrm>
          <a:prstGeom prst="rect">
            <a:avLst/>
          </a:prstGeom>
          <a:noFill/>
        </p:spPr>
        <p:txBody>
          <a:bodyPr wrap="square" rtlCol="0">
            <a:spAutoFit/>
          </a:bodyPr>
          <a:lstStyle/>
          <a:p>
            <a:pPr eaLnBrk="1" latinLnBrk="0"/>
            <a:r>
              <a:rPr lang="en-US" altLang="ko-KR" sz="1600" b="1" dirty="0">
                <a:latin typeface="Arial" panose="020B0606020202030204" pitchFamily="34" charset="0"/>
                <a:ea typeface="LG Smart_H Regular" pitchFamily="34" charset="-127"/>
              </a:rPr>
              <a:t>5</a:t>
            </a:r>
            <a:r>
              <a:rPr lang="vi-VN" altLang="ko-KR" sz="1600" b="1" dirty="0">
                <a:latin typeface="Arial" panose="020B0606020202030204" pitchFamily="34" charset="0"/>
                <a:ea typeface="LG Smart_H Regular" pitchFamily="34" charset="-127"/>
              </a:rPr>
              <a:t>.</a:t>
            </a:r>
            <a:r>
              <a:rPr lang="en-US" altLang="ko-KR" sz="1600" b="1" dirty="0">
                <a:latin typeface="Arial" panose="020B0606020202030204" pitchFamily="34" charset="0"/>
                <a:ea typeface="LG Smart_H Regular" pitchFamily="34" charset="-127"/>
              </a:rPr>
              <a:t>1</a:t>
            </a:r>
            <a:r>
              <a:rPr lang="vi-VN" altLang="ko-KR" sz="1600" b="1" dirty="0">
                <a:latin typeface="Arial" panose="020B0606020202030204" pitchFamily="34" charset="0"/>
                <a:ea typeface="LG Smart_H Regular" pitchFamily="34" charset="-127"/>
              </a:rPr>
              <a:t> </a:t>
            </a:r>
            <a:r>
              <a:rPr lang="en-US" altLang="ko-KR" sz="1600" b="1" dirty="0">
                <a:latin typeface="Arial" panose="020B0606020202030204" pitchFamily="34" charset="0"/>
                <a:ea typeface="LG Smart_H Regular" pitchFamily="34" charset="-127"/>
              </a:rPr>
              <a:t>Result of project</a:t>
            </a:r>
            <a:endParaRPr lang="vi-VN" altLang="ko-KR" sz="1600" b="1" dirty="0">
              <a:ea typeface="LG Smart_H Regular" pitchFamily="34" charset="-127"/>
            </a:endParaRPr>
          </a:p>
        </p:txBody>
      </p:sp>
      <p:sp>
        <p:nvSpPr>
          <p:cNvPr id="13" name="TextBox 12">
            <a:extLst>
              <a:ext uri="{FF2B5EF4-FFF2-40B4-BE49-F238E27FC236}">
                <a16:creationId xmlns:a16="http://schemas.microsoft.com/office/drawing/2014/main" id="{F2D63CB9-F03A-4B55-82AC-AAB2E2DAE0B5}"/>
              </a:ext>
            </a:extLst>
          </p:cNvPr>
          <p:cNvSpPr txBox="1"/>
          <p:nvPr/>
        </p:nvSpPr>
        <p:spPr>
          <a:xfrm>
            <a:off x="70509" y="651485"/>
            <a:ext cx="5838825" cy="276999"/>
          </a:xfrm>
          <a:prstGeom prst="rect">
            <a:avLst/>
          </a:prstGeom>
          <a:noFill/>
        </p:spPr>
        <p:txBody>
          <a:bodyPr wrap="square" rtlCol="0">
            <a:spAutoFit/>
          </a:bodyPr>
          <a:lstStyle/>
          <a:p>
            <a:pPr marL="171450" indent="-171450" eaLnBrk="1" latinLnBrk="0">
              <a:buFont typeface="Wingdings" panose="05000000000000000000" pitchFamily="2" charset="2"/>
              <a:buChar char="q"/>
            </a:pPr>
            <a:r>
              <a:rPr lang="en-US" sz="1000" b="1" dirty="0">
                <a:latin typeface="Arial" panose="020B0604020202020204" pitchFamily="34" charset="0"/>
                <a:ea typeface="Arial Unicode MS" panose="020B0604020202020204" pitchFamily="34" charset="-128"/>
                <a:cs typeface="Arial" panose="020B0604020202020204" pitchFamily="34" charset="0"/>
              </a:rPr>
              <a:t>Summary: Luminance defect rate of J1 Dual model before / after improvement</a:t>
            </a:r>
          </a:p>
        </p:txBody>
      </p:sp>
      <p:graphicFrame>
        <p:nvGraphicFramePr>
          <p:cNvPr id="3" name="Table 2">
            <a:extLst>
              <a:ext uri="{FF2B5EF4-FFF2-40B4-BE49-F238E27FC236}">
                <a16:creationId xmlns:a16="http://schemas.microsoft.com/office/drawing/2014/main" id="{8BD0EBF9-1057-4CB9-9589-B88CACBE8668}"/>
              </a:ext>
            </a:extLst>
          </p:cNvPr>
          <p:cNvGraphicFramePr>
            <a:graphicFrameLocks noGrp="1"/>
          </p:cNvGraphicFramePr>
          <p:nvPr>
            <p:extLst>
              <p:ext uri="{D42A27DB-BD31-4B8C-83A1-F6EECF244321}">
                <p14:modId xmlns:p14="http://schemas.microsoft.com/office/powerpoint/2010/main" val="3828555247"/>
              </p:ext>
            </p:extLst>
          </p:nvPr>
        </p:nvGraphicFramePr>
        <p:xfrm>
          <a:off x="1219199" y="5271354"/>
          <a:ext cx="6629401" cy="952500"/>
        </p:xfrm>
        <a:graphic>
          <a:graphicData uri="http://schemas.openxmlformats.org/drawingml/2006/table">
            <a:tbl>
              <a:tblPr/>
              <a:tblGrid>
                <a:gridCol w="1132469">
                  <a:extLst>
                    <a:ext uri="{9D8B030D-6E8A-4147-A177-3AD203B41FA5}">
                      <a16:colId xmlns:a16="http://schemas.microsoft.com/office/drawing/2014/main" val="2004553203"/>
                    </a:ext>
                  </a:extLst>
                </a:gridCol>
                <a:gridCol w="782549">
                  <a:extLst>
                    <a:ext uri="{9D8B030D-6E8A-4147-A177-3AD203B41FA5}">
                      <a16:colId xmlns:a16="http://schemas.microsoft.com/office/drawing/2014/main" val="4232704115"/>
                    </a:ext>
                  </a:extLst>
                </a:gridCol>
                <a:gridCol w="801636">
                  <a:extLst>
                    <a:ext uri="{9D8B030D-6E8A-4147-A177-3AD203B41FA5}">
                      <a16:colId xmlns:a16="http://schemas.microsoft.com/office/drawing/2014/main" val="654927867"/>
                    </a:ext>
                  </a:extLst>
                </a:gridCol>
                <a:gridCol w="801636">
                  <a:extLst>
                    <a:ext uri="{9D8B030D-6E8A-4147-A177-3AD203B41FA5}">
                      <a16:colId xmlns:a16="http://schemas.microsoft.com/office/drawing/2014/main" val="3292068108"/>
                    </a:ext>
                  </a:extLst>
                </a:gridCol>
                <a:gridCol w="801636">
                  <a:extLst>
                    <a:ext uri="{9D8B030D-6E8A-4147-A177-3AD203B41FA5}">
                      <a16:colId xmlns:a16="http://schemas.microsoft.com/office/drawing/2014/main" val="741631198"/>
                    </a:ext>
                  </a:extLst>
                </a:gridCol>
                <a:gridCol w="763463">
                  <a:extLst>
                    <a:ext uri="{9D8B030D-6E8A-4147-A177-3AD203B41FA5}">
                      <a16:colId xmlns:a16="http://schemas.microsoft.com/office/drawing/2014/main" val="3339929106"/>
                    </a:ext>
                  </a:extLst>
                </a:gridCol>
                <a:gridCol w="782549">
                  <a:extLst>
                    <a:ext uri="{9D8B030D-6E8A-4147-A177-3AD203B41FA5}">
                      <a16:colId xmlns:a16="http://schemas.microsoft.com/office/drawing/2014/main" val="648464248"/>
                    </a:ext>
                  </a:extLst>
                </a:gridCol>
                <a:gridCol w="763463">
                  <a:extLst>
                    <a:ext uri="{9D8B030D-6E8A-4147-A177-3AD203B41FA5}">
                      <a16:colId xmlns:a16="http://schemas.microsoft.com/office/drawing/2014/main" val="4249366675"/>
                    </a:ext>
                  </a:extLst>
                </a:gridCol>
              </a:tblGrid>
              <a:tr h="190500">
                <a:tc>
                  <a:txBody>
                    <a:bodyPr/>
                    <a:lstStyle/>
                    <a:p>
                      <a:pPr algn="l" eaLnBrk="1" fontAlgn="b" latinLnBrk="0"/>
                      <a:endParaRPr lang="en-US" sz="1100" b="0" i="0" u="none" strike="noStrike">
                        <a:solidFill>
                          <a:srgbClr val="000000"/>
                        </a:solidFill>
                        <a:effectLst/>
                        <a:latin typeface="Calibri" panose="020F0502020204030204" pitchFamily="34" charset="0"/>
                      </a:endParaRPr>
                    </a:p>
                  </a:txBody>
                  <a:tcPr marL="9525" marR="9525" marT="9525" marB="0" anchor="b">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gridSpan="4">
                  <a:txBody>
                    <a:bodyPr/>
                    <a:lstStyle/>
                    <a:p>
                      <a:pPr algn="ctr" eaLnBrk="1" fontAlgn="b" latinLnBrk="0"/>
                      <a:r>
                        <a:rPr lang="en-US" sz="1000" b="1" i="0" u="none" strike="noStrike">
                          <a:solidFill>
                            <a:srgbClr val="000000"/>
                          </a:solidFill>
                          <a:effectLst/>
                          <a:latin typeface="Arial" panose="020F0502020204030204" pitchFamily="34" charset="0"/>
                          <a:ea typeface="Arial"/>
                        </a:rPr>
                        <a:t>Before</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hMerge="1">
                  <a:txBody>
                    <a:bodyPr/>
                    <a:lstStyle/>
                    <a:p>
                      <a:pPr eaLnBrk="1" latinLnBrk="0"/>
                      <a:endParaRPr lang="en-US"/>
                    </a:p>
                  </a:txBody>
                  <a:tcPr/>
                </a:tc>
                <a:tc hMerge="1">
                  <a:txBody>
                    <a:bodyPr/>
                    <a:lstStyle/>
                    <a:p>
                      <a:pPr eaLnBrk="1" latinLnBrk="0"/>
                      <a:endParaRPr lang="en-US"/>
                    </a:p>
                  </a:txBody>
                  <a:tcPr/>
                </a:tc>
                <a:tc hMerge="1">
                  <a:txBody>
                    <a:bodyPr/>
                    <a:lstStyle/>
                    <a:p>
                      <a:pPr eaLnBrk="1" latinLnBrk="0"/>
                      <a:endParaRPr lang="en-US"/>
                    </a:p>
                  </a:txBody>
                  <a:tcPr/>
                </a:tc>
                <a:tc gridSpan="3">
                  <a:txBody>
                    <a:bodyPr/>
                    <a:lstStyle/>
                    <a:p>
                      <a:pPr algn="ctr" eaLnBrk="1" fontAlgn="b" latinLnBrk="0"/>
                      <a:r>
                        <a:rPr lang="en-US" sz="1000" b="1" i="0" u="none" strike="noStrike" dirty="0">
                          <a:solidFill>
                            <a:srgbClr val="000000"/>
                          </a:solidFill>
                          <a:effectLst/>
                          <a:latin typeface="Arial" panose="020F0502020204030204" pitchFamily="34" charset="0"/>
                          <a:ea typeface="Arial"/>
                        </a:rPr>
                        <a:t>After</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hMerge="1">
                  <a:txBody>
                    <a:bodyPr/>
                    <a:lstStyle/>
                    <a:p>
                      <a:pPr eaLnBrk="1" latinLnBrk="0"/>
                      <a:endParaRPr lang="en-US"/>
                    </a:p>
                  </a:txBody>
                  <a:tcPr/>
                </a:tc>
                <a:tc hMerge="1">
                  <a:txBody>
                    <a:bodyPr/>
                    <a:lstStyle/>
                    <a:p>
                      <a:pPr eaLnBrk="1" latinLnBrk="0"/>
                      <a:endParaRPr lang="en-US"/>
                    </a:p>
                  </a:txBody>
                  <a:tcPr/>
                </a:tc>
                <a:extLst>
                  <a:ext uri="{0D108BD9-81ED-4DB2-BD59-A6C34878D82A}">
                    <a16:rowId xmlns:a16="http://schemas.microsoft.com/office/drawing/2014/main" val="2478485715"/>
                  </a:ext>
                </a:extLst>
              </a:tr>
              <a:tr h="190500">
                <a:tc>
                  <a:txBody>
                    <a:bodyPr/>
                    <a:lstStyle/>
                    <a:p>
                      <a:pPr eaLnBrk="1" latinLnBrk="0"/>
                      <a:r>
                        <a:rPr sz="1000">
                          <a:latin typeface="Arial"/>
                        </a:rPr>
                        <a:t>Date</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B084"/>
                    </a:solidFill>
                  </a:tcPr>
                </a:tc>
                <a:tc>
                  <a:txBody>
                    <a:bodyPr/>
                    <a:lstStyle/>
                    <a:p>
                      <a:pPr eaLnBrk="1" latinLnBrk="0"/>
                      <a:r>
                        <a:rPr sz="1000">
                          <a:latin typeface="Arial"/>
                        </a:rPr>
                        <a:t>16.Nov.2025</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B084"/>
                    </a:solidFill>
                  </a:tcPr>
                </a:tc>
                <a:tc>
                  <a:txBody>
                    <a:bodyPr/>
                    <a:lstStyle/>
                    <a:p>
                      <a:pPr eaLnBrk="1" latinLnBrk="0"/>
                      <a:r>
                        <a:rPr sz="1000">
                          <a:latin typeface="Arial"/>
                        </a:rPr>
                        <a:t>2.Jan.2026</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B084"/>
                    </a:solidFill>
                  </a:tcPr>
                </a:tc>
                <a:tc>
                  <a:txBody>
                    <a:bodyPr/>
                    <a:lstStyle/>
                    <a:p>
                      <a:pPr eaLnBrk="1" latinLnBrk="0"/>
                      <a:r>
                        <a:rPr sz="1000">
                          <a:latin typeface="Arial"/>
                        </a:rPr>
                        <a:t>23.Feb.2026</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B084"/>
                    </a:solidFill>
                  </a:tcPr>
                </a:tc>
                <a:tc>
                  <a:txBody>
                    <a:bodyPr/>
                    <a:lstStyle/>
                    <a:p>
                      <a:pPr eaLnBrk="1" latinLnBrk="0"/>
                      <a:r>
                        <a:rPr sz="1000">
                          <a:latin typeface="Arial"/>
                        </a:rPr>
                        <a:t>1.Mar.2026</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B084"/>
                    </a:solidFill>
                  </a:tcPr>
                </a:tc>
                <a:tc>
                  <a:txBody>
                    <a:bodyPr/>
                    <a:lstStyle/>
                    <a:p>
                      <a:pPr eaLnBrk="1" latinLnBrk="0"/>
                      <a:r>
                        <a:rPr sz="1000">
                          <a:latin typeface="Arial"/>
                        </a:rPr>
                        <a:t>15.Jul.2026</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B084"/>
                    </a:solidFill>
                  </a:tcPr>
                </a:tc>
                <a:tc>
                  <a:txBody>
                    <a:bodyPr/>
                    <a:lstStyle/>
                    <a:p>
                      <a:pPr eaLnBrk="1" latinLnBrk="0"/>
                      <a:r>
                        <a:rPr sz="1000">
                          <a:latin typeface="Arial"/>
                        </a:rPr>
                        <a:t>21.Aug.2026</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B084"/>
                    </a:solidFill>
                  </a:tcPr>
                </a:tc>
                <a:tc>
                  <a:txBody>
                    <a:bodyPr/>
                    <a:lstStyle/>
                    <a:p>
                      <a:pPr eaLnBrk="1" latinLnBrk="0"/>
                      <a:r>
                        <a:rPr sz="1000">
                          <a:latin typeface="Arial"/>
                        </a:rPr>
                        <a:t>20.Sep.2026</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B084"/>
                    </a:solidFill>
                  </a:tcPr>
                </a:tc>
                <a:extLst>
                  <a:ext uri="{0D108BD9-81ED-4DB2-BD59-A6C34878D82A}">
                    <a16:rowId xmlns:a16="http://schemas.microsoft.com/office/drawing/2014/main" val="2667689879"/>
                  </a:ext>
                </a:extLst>
              </a:tr>
              <a:tr h="190500">
                <a:tc>
                  <a:txBody>
                    <a:bodyPr/>
                    <a:lstStyle/>
                    <a:p>
                      <a:pPr algn="ctr" eaLnBrk="1" fontAlgn="ctr" latinLnBrk="0"/>
                      <a:r>
                        <a:rPr lang="en-US" sz="1000" b="0" i="0" u="none" strike="noStrike">
                          <a:solidFill>
                            <a:srgbClr val="000000"/>
                          </a:solidFill>
                          <a:effectLst/>
                          <a:latin typeface="Arial" panose="020F0502020204030204" pitchFamily="34" charset="0"/>
                          <a:ea typeface="Arial"/>
                        </a:rPr>
                        <a:t>Total NG</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D9D9"/>
                    </a:solidFill>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13</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92</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30</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0</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0</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0</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641299594"/>
                  </a:ext>
                </a:extLst>
              </a:tr>
              <a:tr h="190500">
                <a:tc>
                  <a:txBody>
                    <a:bodyPr/>
                    <a:lstStyle/>
                    <a:p>
                      <a:pPr algn="ctr" eaLnBrk="1" fontAlgn="ctr" latinLnBrk="0"/>
                      <a:r>
                        <a:rPr lang="en-US" sz="1000" b="0" i="0" u="none" strike="noStrike">
                          <a:solidFill>
                            <a:srgbClr val="000000"/>
                          </a:solidFill>
                          <a:effectLst/>
                          <a:latin typeface="Arial" panose="020F0502020204030204" pitchFamily="34" charset="0"/>
                          <a:ea typeface="Arial"/>
                        </a:rPr>
                        <a:t>Prod Q'ty</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D9D9"/>
                    </a:solidFill>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200</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120</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240</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71</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240</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120</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60</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589353430"/>
                  </a:ext>
                </a:extLst>
              </a:tr>
              <a:tr h="190500">
                <a:tc>
                  <a:txBody>
                    <a:bodyPr/>
                    <a:lstStyle/>
                    <a:p>
                      <a:pPr algn="ctr" eaLnBrk="1" fontAlgn="ctr" latinLnBrk="0"/>
                      <a:r>
                        <a:rPr lang="en-US" sz="1000" b="0" i="0" u="none" strike="noStrike">
                          <a:solidFill>
                            <a:srgbClr val="000000"/>
                          </a:solidFill>
                          <a:effectLst/>
                          <a:latin typeface="Arial" panose="020F0502020204030204" pitchFamily="34" charset="0"/>
                          <a:ea typeface="Arial"/>
                        </a:rPr>
                        <a:t>Defect rate (ppm)</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D9D9"/>
                    </a:solidFill>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65000</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66666.67</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383333.33</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422535.21</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0</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0</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0</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09024561"/>
                  </a:ext>
                </a:extLst>
              </a:tr>
            </a:tbl>
          </a:graphicData>
        </a:graphic>
      </p:graphicFrame>
      <p:graphicFrame>
        <p:nvGraphicFramePr>
          <p:cNvPr id="14" name="Chart 13">
            <a:extLst>
              <a:ext uri="{FF2B5EF4-FFF2-40B4-BE49-F238E27FC236}">
                <a16:creationId xmlns:a16="http://schemas.microsoft.com/office/drawing/2014/main" id="{50EEBF16-A037-4D15-A91C-137FDDA65F87}"/>
              </a:ext>
            </a:extLst>
          </p:cNvPr>
          <p:cNvGraphicFramePr>
            <a:graphicFrameLocks/>
          </p:cNvGraphicFramePr>
          <p:nvPr>
            <p:extLst>
              <p:ext uri="{D42A27DB-BD31-4B8C-83A1-F6EECF244321}">
                <p14:modId xmlns:p14="http://schemas.microsoft.com/office/powerpoint/2010/main" val="60871288"/>
              </p:ext>
            </p:extLst>
          </p:nvPr>
        </p:nvGraphicFramePr>
        <p:xfrm>
          <a:off x="1847713" y="1228913"/>
          <a:ext cx="5838825" cy="3705225"/>
        </p:xfrm>
        <a:graphic>
          <a:graphicData uri="http://schemas.openxmlformats.org/drawingml/2006/chart">
            <c:chart xmlns:c="http://schemas.openxmlformats.org/drawingml/2006/chart" xmlns:r="http://schemas.openxmlformats.org/officeDocument/2006/relationships" r:id="rId2"/>
          </a:graphicData>
        </a:graphic>
      </p:graphicFrame>
      <p:sp>
        <p:nvSpPr>
          <p:cNvPr id="24" name="Added text 24"/>
          <p:cNvSpPr txBox="1"/>
          <p:nvPr/>
        </p:nvSpPr>
        <p:spPr>
          <a:xfrm>
            <a:off x="1219200" y="6305550"/>
            <a:ext cx="6629400" cy="285750"/>
          </a:xfrm>
          <a:prstGeom prst="rect">
            <a:avLst/>
          </a:prstGeom>
          <a:noFill/>
        </p:spPr>
        <p:txBody>
          <a:bodyPr wrap="square" lIns="0" tIns="0" rIns="0" bIns="0" rtlCol="0">
            <a:noAutofit/>
          </a:bodyPr>
          <a:lstStyle/>
          <a:p>
            <a:r>
              <a:rPr lang="en-US" sz="900" b="0" dirty="0">
                <a:solidFill>
                  <a:srgbClr val="000000"/>
                </a:solidFill>
                <a:latin typeface="Arial"/>
                <a:cs typeface="Arial"/>
              </a:rPr>
              <a:t>After improvement: 0 NG / 420 sets → 95% upper confidence bound ≈ 7,100 ppm (3/420), still &gt; 96% below the 226,624 ppm baseline. Fisher's exact test, 143/631 before vs 0/420 after: p &lt; 0.001.</a:t>
            </a:r>
          </a:p>
        </p:txBody>
      </p:sp>
    </p:spTree>
    <p:extLst>
      <p:ext uri="{BB962C8B-B14F-4D97-AF65-F5344CB8AC3E}">
        <p14:creationId xmlns:p14="http://schemas.microsoft.com/office/powerpoint/2010/main" val="322337140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 name="Straight Connector 7">
            <a:extLst>
              <a:ext uri="{FF2B5EF4-FFF2-40B4-BE49-F238E27FC236}">
                <a16:creationId xmlns:a16="http://schemas.microsoft.com/office/drawing/2014/main" id="{37095669-0061-481C-8A59-6F10B434F1A6}"/>
              </a:ext>
            </a:extLst>
          </p:cNvPr>
          <p:cNvCxnSpPr/>
          <p:nvPr/>
        </p:nvCxnSpPr>
        <p:spPr>
          <a:xfrm>
            <a:off x="0" y="508838"/>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7" name="Slide Number Placeholder 4">
            <a:extLst>
              <a:ext uri="{FF2B5EF4-FFF2-40B4-BE49-F238E27FC236}">
                <a16:creationId xmlns:a16="http://schemas.microsoft.com/office/drawing/2014/main" id="{7C0924D8-04C2-4968-8836-DD278588C16B}"/>
              </a:ext>
            </a:extLst>
          </p:cNvPr>
          <p:cNvSpPr>
            <a:spLocks noGrp="1"/>
          </p:cNvSpPr>
          <p:nvPr>
            <p:ph type="sldNum" sz="quarter" idx="12"/>
          </p:nvPr>
        </p:nvSpPr>
        <p:spPr>
          <a:xfrm>
            <a:off x="3700326" y="6643499"/>
            <a:ext cx="2133600" cy="198047"/>
          </a:xfrm>
        </p:spPr>
        <p:txBody>
          <a:bodyPr/>
          <a:lstStyle/>
          <a:p>
            <a:pPr algn="ctr" eaLnBrk="1" latinLnBrk="0"/>
            <a:r>
              <a:rPr sz="1000" b="0">
                <a:latin typeface="Arial"/>
              </a:rPr>
              <a:t>32 / 33</a:t>
            </a:r>
            <a:endParaRPr lang="ko-KR" altLang="en-US" sz="1200" dirty="0">
              <a:solidFill>
                <a:prstClr val="black">
                  <a:tint val="75000"/>
                </a:prstClr>
              </a:solidFill>
              <a:latin typeface="Arial" panose="020B0604020202020204" pitchFamily="34" charset="0"/>
              <a:ea typeface="Arial Unicode MS" panose="020B0604020202020204" pitchFamily="34" charset="-128"/>
              <a:cs typeface="Arial" panose="020B0604020202020204" pitchFamily="34" charset="0"/>
            </a:endParaRPr>
          </a:p>
        </p:txBody>
      </p:sp>
      <p:sp>
        <p:nvSpPr>
          <p:cNvPr id="19" name="AutoShape 57">
            <a:extLst>
              <a:ext uri="{FF2B5EF4-FFF2-40B4-BE49-F238E27FC236}">
                <a16:creationId xmlns:a16="http://schemas.microsoft.com/office/drawing/2014/main" id="{F7C0E09A-DB4D-43E6-B3CE-37B23F71A907}"/>
              </a:ext>
            </a:extLst>
          </p:cNvPr>
          <p:cNvSpPr>
            <a:spLocks noChangeArrowheads="1"/>
          </p:cNvSpPr>
          <p:nvPr/>
        </p:nvSpPr>
        <p:spPr bwMode="auto">
          <a:xfrm>
            <a:off x="7701606" y="173344"/>
            <a:ext cx="749300" cy="287338"/>
          </a:xfrm>
          <a:prstGeom prst="homePlate">
            <a:avLst>
              <a:gd name="adj" fmla="val 46698"/>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solidFill>
                  <a:schemeClr val="tx1"/>
                </a:solidFill>
                <a:latin typeface="Arial Narrow" panose="020B0606020202030204" pitchFamily="34" charset="0"/>
                <a:ea typeface="Arial" panose="020B0503020000020004" pitchFamily="50" charset="-127"/>
              </a:rPr>
              <a:t>Analyze</a:t>
            </a:r>
          </a:p>
        </p:txBody>
      </p:sp>
      <p:sp>
        <p:nvSpPr>
          <p:cNvPr id="20" name="AutoShape 58">
            <a:extLst>
              <a:ext uri="{FF2B5EF4-FFF2-40B4-BE49-F238E27FC236}">
                <a16:creationId xmlns:a16="http://schemas.microsoft.com/office/drawing/2014/main" id="{1CB20489-F538-4606-ADFB-86DC16482793}"/>
              </a:ext>
            </a:extLst>
          </p:cNvPr>
          <p:cNvSpPr>
            <a:spLocks noChangeArrowheads="1"/>
          </p:cNvSpPr>
          <p:nvPr/>
        </p:nvSpPr>
        <p:spPr bwMode="auto">
          <a:xfrm>
            <a:off x="7030094" y="173344"/>
            <a:ext cx="747712" cy="287338"/>
          </a:xfrm>
          <a:prstGeom prst="homePlate">
            <a:avLst>
              <a:gd name="adj" fmla="val 46599"/>
            </a:avLst>
          </a:prstGeom>
          <a:solidFill>
            <a:schemeClr val="bg1"/>
          </a:solidFill>
          <a:ln w="3175">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solidFill>
                  <a:schemeClr val="tx1"/>
                </a:solidFill>
                <a:latin typeface="Arial Narrow" panose="020B0606020202030204" pitchFamily="34" charset="0"/>
                <a:ea typeface="Arial" panose="020B0503020000020004" pitchFamily="50" charset="-127"/>
              </a:rPr>
              <a:t>Measure </a:t>
            </a:r>
          </a:p>
        </p:txBody>
      </p:sp>
      <p:sp>
        <p:nvSpPr>
          <p:cNvPr id="21" name="AutoShape 59">
            <a:extLst>
              <a:ext uri="{FF2B5EF4-FFF2-40B4-BE49-F238E27FC236}">
                <a16:creationId xmlns:a16="http://schemas.microsoft.com/office/drawing/2014/main" id="{34CE5EF4-26DB-49D7-BEFE-A27DCC6983E7}"/>
              </a:ext>
            </a:extLst>
          </p:cNvPr>
          <p:cNvSpPr>
            <a:spLocks noChangeArrowheads="1"/>
          </p:cNvSpPr>
          <p:nvPr/>
        </p:nvSpPr>
        <p:spPr bwMode="auto">
          <a:xfrm>
            <a:off x="6333181" y="173344"/>
            <a:ext cx="757238" cy="287338"/>
          </a:xfrm>
          <a:prstGeom prst="homePlate">
            <a:avLst>
              <a:gd name="adj" fmla="val 47192"/>
            </a:avLst>
          </a:prstGeom>
          <a:solidFill>
            <a:schemeClr val="bg1"/>
          </a:solidFill>
          <a:ln w="3175">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solidFill>
                  <a:schemeClr val="tx1"/>
                </a:solidFill>
                <a:latin typeface="Arial Narrow" panose="020B0606020202030204" pitchFamily="34" charset="0"/>
                <a:ea typeface="Arial" panose="020B0503020000020004" pitchFamily="50" charset="-127"/>
              </a:rPr>
              <a:t>Define</a:t>
            </a:r>
          </a:p>
        </p:txBody>
      </p:sp>
      <p:sp>
        <p:nvSpPr>
          <p:cNvPr id="22" name="AutoShape 56">
            <a:extLst>
              <a:ext uri="{FF2B5EF4-FFF2-40B4-BE49-F238E27FC236}">
                <a16:creationId xmlns:a16="http://schemas.microsoft.com/office/drawing/2014/main" id="{25B21E42-9EA3-4D7E-8A2E-55F983581A16}"/>
              </a:ext>
            </a:extLst>
          </p:cNvPr>
          <p:cNvSpPr>
            <a:spLocks noChangeArrowheads="1"/>
          </p:cNvSpPr>
          <p:nvPr/>
        </p:nvSpPr>
        <p:spPr bwMode="auto">
          <a:xfrm>
            <a:off x="8393756" y="173344"/>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solidFill>
                  <a:schemeClr val="tx1"/>
                </a:solidFill>
                <a:latin typeface="Arial Narrow" panose="020B0606020202030204" pitchFamily="34" charset="0"/>
                <a:ea typeface="Arial" panose="020B0503020000020004" pitchFamily="50" charset="-127"/>
              </a:rPr>
              <a:t>Improve</a:t>
            </a:r>
          </a:p>
        </p:txBody>
      </p:sp>
      <p:sp>
        <p:nvSpPr>
          <p:cNvPr id="23" name="AutoShape 55">
            <a:extLst>
              <a:ext uri="{FF2B5EF4-FFF2-40B4-BE49-F238E27FC236}">
                <a16:creationId xmlns:a16="http://schemas.microsoft.com/office/drawing/2014/main" id="{D709B8E8-5B31-4366-ACEB-109393355B82}"/>
              </a:ext>
            </a:extLst>
          </p:cNvPr>
          <p:cNvSpPr>
            <a:spLocks noChangeArrowheads="1"/>
          </p:cNvSpPr>
          <p:nvPr/>
        </p:nvSpPr>
        <p:spPr bwMode="auto">
          <a:xfrm>
            <a:off x="9082731" y="57457"/>
            <a:ext cx="747713" cy="287337"/>
          </a:xfrm>
          <a:prstGeom prst="homePlate">
            <a:avLst>
              <a:gd name="adj" fmla="val 46599"/>
            </a:avLst>
          </a:prstGeom>
          <a:gradFill rotWithShape="1">
            <a:gsLst>
              <a:gs pos="0">
                <a:srgbClr val="494900"/>
              </a:gs>
              <a:gs pos="100000">
                <a:srgbClr val="808000"/>
              </a:gs>
            </a:gsLst>
            <a:lin ang="0" scaled="1"/>
          </a:gradFill>
          <a:ln w="6350" algn="ctr">
            <a:solidFill>
              <a:srgbClr val="808080"/>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latin typeface="Arial Narrow" panose="020B0606020202030204" pitchFamily="34" charset="0"/>
                <a:ea typeface="Arial" panose="020B0503020000020004" pitchFamily="50" charset="-127"/>
              </a:rPr>
              <a:t>Control</a:t>
            </a:r>
          </a:p>
        </p:txBody>
      </p:sp>
      <p:sp>
        <p:nvSpPr>
          <p:cNvPr id="9" name="TextBox 8">
            <a:extLst>
              <a:ext uri="{FF2B5EF4-FFF2-40B4-BE49-F238E27FC236}">
                <a16:creationId xmlns:a16="http://schemas.microsoft.com/office/drawing/2014/main" id="{B93B0FBA-9900-427C-A2C3-53ABF38E2FB5}"/>
              </a:ext>
            </a:extLst>
          </p:cNvPr>
          <p:cNvSpPr txBox="1"/>
          <p:nvPr/>
        </p:nvSpPr>
        <p:spPr>
          <a:xfrm>
            <a:off x="70509" y="117554"/>
            <a:ext cx="5170524" cy="338554"/>
          </a:xfrm>
          <a:prstGeom prst="rect">
            <a:avLst/>
          </a:prstGeom>
          <a:noFill/>
        </p:spPr>
        <p:txBody>
          <a:bodyPr wrap="square" rtlCol="0">
            <a:spAutoFit/>
          </a:bodyPr>
          <a:lstStyle/>
          <a:p>
            <a:pPr eaLnBrk="1" latinLnBrk="0"/>
            <a:r>
              <a:rPr lang="en-US" altLang="ko-KR" sz="1600" b="1" dirty="0">
                <a:latin typeface="Arial" panose="020B0606020202030204" pitchFamily="34" charset="0"/>
                <a:ea typeface="LG Smart_H Regular" pitchFamily="34" charset="-127"/>
              </a:rPr>
              <a:t>5</a:t>
            </a:r>
            <a:r>
              <a:rPr lang="vi-VN" altLang="ko-KR" sz="1600" b="1" dirty="0">
                <a:latin typeface="Arial" panose="020B0606020202030204" pitchFamily="34" charset="0"/>
                <a:ea typeface="LG Smart_H Regular" pitchFamily="34" charset="-127"/>
              </a:rPr>
              <a:t>.</a:t>
            </a:r>
            <a:r>
              <a:rPr lang="en-US" altLang="ko-KR" sz="1600" b="1" dirty="0">
                <a:latin typeface="Arial" panose="020B0606020202030204" pitchFamily="34" charset="0"/>
                <a:ea typeface="LG Smart_H Regular" pitchFamily="34" charset="-127"/>
              </a:rPr>
              <a:t>2</a:t>
            </a:r>
            <a:r>
              <a:rPr lang="vi-VN" altLang="ko-KR" sz="1600" b="1" dirty="0">
                <a:latin typeface="Arial" panose="020B0606020202030204" pitchFamily="34" charset="0"/>
                <a:ea typeface="LG Smart_H Regular" pitchFamily="34" charset="-127"/>
              </a:rPr>
              <a:t> </a:t>
            </a:r>
            <a:r>
              <a:rPr lang="en-US" altLang="ko-KR" sz="1600" b="1" dirty="0">
                <a:latin typeface="Arial" panose="020B0606020202030204" pitchFamily="34" charset="0"/>
                <a:ea typeface="LG Smart_H Regular" pitchFamily="34" charset="-127"/>
              </a:rPr>
              <a:t>Control plan (Future plan)</a:t>
            </a:r>
            <a:endParaRPr lang="vi-VN" altLang="ko-KR" sz="1600" b="1" dirty="0">
              <a:ea typeface="LG Smart_H Regular" pitchFamily="34" charset="-127"/>
            </a:endParaRPr>
          </a:p>
        </p:txBody>
      </p:sp>
      <p:sp>
        <p:nvSpPr>
          <p:cNvPr id="13" name="TextBox 12">
            <a:extLst>
              <a:ext uri="{FF2B5EF4-FFF2-40B4-BE49-F238E27FC236}">
                <a16:creationId xmlns:a16="http://schemas.microsoft.com/office/drawing/2014/main" id="{F2D63CB9-F03A-4B55-82AC-AAB2E2DAE0B5}"/>
              </a:ext>
            </a:extLst>
          </p:cNvPr>
          <p:cNvSpPr txBox="1"/>
          <p:nvPr/>
        </p:nvSpPr>
        <p:spPr>
          <a:xfrm>
            <a:off x="70509" y="651485"/>
            <a:ext cx="5034891" cy="276999"/>
          </a:xfrm>
          <a:prstGeom prst="rect">
            <a:avLst/>
          </a:prstGeom>
          <a:noFill/>
        </p:spPr>
        <p:txBody>
          <a:bodyPr wrap="square" rtlCol="0">
            <a:spAutoFit/>
          </a:bodyPr>
          <a:lstStyle/>
          <a:p>
            <a:pPr marL="171450" indent="-171450" eaLnBrk="1" latinLnBrk="0">
              <a:buFont typeface="Wingdings" panose="05000000000000000000" pitchFamily="2" charset="2"/>
              <a:buChar char="q"/>
            </a:pPr>
            <a:r>
              <a:rPr lang="en-US" sz="1000" b="1" dirty="0">
                <a:latin typeface="Arial" panose="020B0604020202020204" pitchFamily="34" charset="0"/>
                <a:ea typeface="Arial Unicode MS" panose="020B0604020202020204" pitchFamily="34" charset="-128"/>
                <a:cs typeface="Arial" panose="020B0604020202020204" pitchFamily="34" charset="0"/>
              </a:rPr>
              <a:t>Management plan</a:t>
            </a:r>
          </a:p>
        </p:txBody>
      </p:sp>
      <p:sp>
        <p:nvSpPr>
          <p:cNvPr id="15" name="TextBox 14">
            <a:extLst>
              <a:ext uri="{FF2B5EF4-FFF2-40B4-BE49-F238E27FC236}">
                <a16:creationId xmlns:a16="http://schemas.microsoft.com/office/drawing/2014/main" id="{80938115-D6E4-4142-920C-CD47680F7AF5}"/>
              </a:ext>
            </a:extLst>
          </p:cNvPr>
          <p:cNvSpPr txBox="1"/>
          <p:nvPr/>
        </p:nvSpPr>
        <p:spPr>
          <a:xfrm>
            <a:off x="34159" y="5782179"/>
            <a:ext cx="8382000" cy="825320"/>
          </a:xfrm>
          <a:prstGeom prst="rect">
            <a:avLst/>
          </a:prstGeom>
          <a:noFill/>
        </p:spPr>
        <p:txBody>
          <a:bodyPr wrap="square" rtlCol="0">
            <a:noAutofit/>
          </a:bodyPr>
          <a:lstStyle/>
          <a:p>
            <a:pPr algn="just" eaLnBrk="1" latinLnBrk="0">
              <a:spcBef>
                <a:spcPct val="20000"/>
              </a:spcBef>
            </a:pPr>
            <a:r>
              <a:rPr sz="1000" b="0">
                <a:latin typeface="Arial"/>
              </a:rPr>
              <a:t>A daily check sheet is established to monitor equipment status using a Master sample. Because the J1 Dual model features dual displays requiring camera movement, camera angle status must be verified during pre-production setup to prevent angle deviation.</a:t>
            </a:r>
          </a:p>
          <a:p>
            <a:pPr algn="just" eaLnBrk="1" latinLnBrk="0">
              <a:spcBef>
                <a:spcPct val="20000"/>
              </a:spcBef>
            </a:pPr>
            <a:endParaRPr sz="1100" b="0">
              <a:latin typeface="Arial"/>
            </a:endParaRPr>
          </a:p>
          <a:p>
            <a:pPr algn="just" eaLnBrk="1" latinLnBrk="0">
              <a:spcBef>
                <a:spcPct val="20000"/>
              </a:spcBef>
            </a:pPr>
            <a:endParaRPr sz="1100" b="0">
              <a:latin typeface="Arial"/>
            </a:endParaRPr>
          </a:p>
        </p:txBody>
      </p:sp>
      <p:sp>
        <p:nvSpPr>
          <p:cNvPr id="18" name="TextBox 17">
            <a:extLst>
              <a:ext uri="{FF2B5EF4-FFF2-40B4-BE49-F238E27FC236}">
                <a16:creationId xmlns:a16="http://schemas.microsoft.com/office/drawing/2014/main" id="{9E3F5A17-8E19-4E92-AFD5-3A6969AF5F7F}"/>
              </a:ext>
            </a:extLst>
          </p:cNvPr>
          <p:cNvSpPr txBox="1"/>
          <p:nvPr/>
        </p:nvSpPr>
        <p:spPr>
          <a:xfrm>
            <a:off x="123613" y="982704"/>
            <a:ext cx="6048587" cy="538609"/>
          </a:xfrm>
          <a:prstGeom prst="rect">
            <a:avLst/>
          </a:prstGeom>
          <a:noFill/>
        </p:spPr>
        <p:txBody>
          <a:bodyPr wrap="square" rtlCol="0">
            <a:spAutoFit/>
          </a:bodyPr>
          <a:lstStyle/>
          <a:p>
            <a:pPr eaLnBrk="1" latinLnBrk="0">
              <a:spcBef>
                <a:spcPts val="600"/>
              </a:spcBef>
            </a:pPr>
            <a:r>
              <a:rPr lang="vi-VN" sz="1000" dirty="0">
                <a:latin typeface="Arial" panose="020B0604020202020204" pitchFamily="34" charset="0"/>
                <a:ea typeface="Arial Unicode MS" panose="020B0604020202020204" pitchFamily="34" charset="-128"/>
                <a:cs typeface="Arial" panose="020B0604020202020204" pitchFamily="34" charset="0"/>
              </a:rPr>
              <a:t>Make checksheet to </a:t>
            </a:r>
            <a:r>
              <a:rPr lang="en-US" sz="1000" dirty="0">
                <a:latin typeface="Arial" panose="020B0604020202020204" pitchFamily="34" charset="0"/>
                <a:ea typeface="Arial Unicode MS" panose="020B0604020202020204" pitchFamily="34" charset="-128"/>
                <a:cs typeface="Arial" panose="020B0604020202020204" pitchFamily="34" charset="0"/>
              </a:rPr>
              <a:t>control equipment with master sample</a:t>
            </a:r>
          </a:p>
          <a:p>
            <a:pPr eaLnBrk="1" latinLnBrk="0">
              <a:spcBef>
                <a:spcPts val="600"/>
              </a:spcBef>
            </a:pPr>
            <a:r>
              <a:rPr lang="en-US" sz="1000" dirty="0">
                <a:latin typeface="Arial" panose="020B0600000101010101" pitchFamily="34" charset="-127"/>
                <a:ea typeface="Arial" panose="020B0600000101010101" pitchFamily="34" charset="-127"/>
              </a:rPr>
              <a:t> </a:t>
            </a:r>
          </a:p>
        </p:txBody>
      </p:sp>
      <p:graphicFrame>
        <p:nvGraphicFramePr>
          <p:cNvPr id="4" name="Object 3">
            <a:extLst>
              <a:ext uri="{FF2B5EF4-FFF2-40B4-BE49-F238E27FC236}">
                <a16:creationId xmlns:a16="http://schemas.microsoft.com/office/drawing/2014/main" id="{F707B042-44B2-4C31-B6D1-DF9E136E9F5F}"/>
              </a:ext>
            </a:extLst>
          </p:cNvPr>
          <p:cNvGraphicFramePr>
            <a:graphicFrameLocks noChangeAspect="1"/>
          </p:cNvGraphicFramePr>
          <p:nvPr>
            <p:extLst>
              <p:ext uri="{D42A27DB-BD31-4B8C-83A1-F6EECF244321}">
                <p14:modId xmlns:p14="http://schemas.microsoft.com/office/powerpoint/2010/main" val="1464855402"/>
              </p:ext>
            </p:extLst>
          </p:nvPr>
        </p:nvGraphicFramePr>
        <p:xfrm>
          <a:off x="8542187" y="5277591"/>
          <a:ext cx="914400" cy="771525"/>
        </p:xfrm>
        <a:graphic>
          <a:graphicData uri="http://schemas.openxmlformats.org/presentationml/2006/ole">
            <mc:AlternateContent xmlns:mc="http://schemas.openxmlformats.org/markup-compatibility/2006">
              <mc:Choice xmlns:v="urn:schemas-microsoft-com:vml" Requires="v">
                <p:oleObj name="Worksheet" showAsIcon="1" r:id="rId2" imgW="914400" imgH="771792" progId="Excel.Sheet.12">
                  <p:embed/>
                </p:oleObj>
              </mc:Choice>
              <mc:Fallback>
                <p:oleObj name="Worksheet" showAsIcon="1" r:id="rId2" imgW="914400" imgH="771792" progId="Excel.Sheet.12">
                  <p:embed/>
                  <p:pic>
                    <p:nvPicPr>
                      <p:cNvPr id="0" name=""/>
                      <p:cNvPicPr/>
                      <p:nvPr/>
                    </p:nvPicPr>
                    <p:blipFill>
                      <a:blip r:embed="rId3"/>
                      <a:stretch>
                        <a:fillRect/>
                      </a:stretch>
                    </p:blipFill>
                    <p:spPr>
                      <a:xfrm>
                        <a:off x="8542187" y="5277591"/>
                        <a:ext cx="914400" cy="771525"/>
                      </a:xfrm>
                      <a:prstGeom prst="rect">
                        <a:avLst/>
                      </a:prstGeom>
                    </p:spPr>
                  </p:pic>
                </p:oleObj>
              </mc:Fallback>
            </mc:AlternateContent>
          </a:graphicData>
        </a:graphic>
      </p:graphicFrame>
      <p:pic>
        <p:nvPicPr>
          <p:cNvPr id="6" name="Picture 5">
            <a:extLst>
              <a:ext uri="{FF2B5EF4-FFF2-40B4-BE49-F238E27FC236}">
                <a16:creationId xmlns:a16="http://schemas.microsoft.com/office/drawing/2014/main" id="{E3A1F7D6-78B6-4903-8B08-17F7BF22736E}"/>
              </a:ext>
            </a:extLst>
          </p:cNvPr>
          <p:cNvPicPr>
            <a:picLocks noChangeAspect="1"/>
          </p:cNvPicPr>
          <p:nvPr/>
        </p:nvPicPr>
        <p:blipFill>
          <a:blip r:embed="rId4"/>
          <a:stretch>
            <a:fillRect/>
          </a:stretch>
        </p:blipFill>
        <p:spPr>
          <a:xfrm>
            <a:off x="256441" y="1482932"/>
            <a:ext cx="4477700" cy="3354765"/>
          </a:xfrm>
          <a:prstGeom prst="rect">
            <a:avLst/>
          </a:prstGeom>
        </p:spPr>
      </p:pic>
      <p:sp>
        <p:nvSpPr>
          <p:cNvPr id="10" name="TextBox 9">
            <a:extLst>
              <a:ext uri="{FF2B5EF4-FFF2-40B4-BE49-F238E27FC236}">
                <a16:creationId xmlns:a16="http://schemas.microsoft.com/office/drawing/2014/main" id="{1FCA5DC4-72B4-4AE7-850D-6E6718474DCD}"/>
              </a:ext>
            </a:extLst>
          </p:cNvPr>
          <p:cNvSpPr txBox="1"/>
          <p:nvPr/>
        </p:nvSpPr>
        <p:spPr>
          <a:xfrm>
            <a:off x="1004337" y="4922426"/>
            <a:ext cx="2981907" cy="276999"/>
          </a:xfrm>
          <a:prstGeom prst="rect">
            <a:avLst/>
          </a:prstGeom>
          <a:noFill/>
        </p:spPr>
        <p:txBody>
          <a:bodyPr wrap="none" rtlCol="0">
            <a:spAutoFit/>
          </a:bodyPr>
          <a:lstStyle/>
          <a:p>
            <a:pPr algn="just" eaLnBrk="1" latinLnBrk="0">
              <a:spcBef>
                <a:spcPct val="20000"/>
              </a:spcBef>
            </a:pPr>
            <a:r>
              <a:rPr lang="en-US" sz="1000" dirty="0">
                <a:latin typeface="Arial" panose="020B0604020202020204" pitchFamily="34" charset="0"/>
                <a:cs typeface="Arial" panose="020B0604020202020204" pitchFamily="34" charset="0"/>
              </a:rPr>
              <a:t>Actual DID check sheet in production line</a:t>
            </a:r>
          </a:p>
        </p:txBody>
      </p:sp>
      <p:pic>
        <p:nvPicPr>
          <p:cNvPr id="11" name="Picture 10">
            <a:extLst>
              <a:ext uri="{FF2B5EF4-FFF2-40B4-BE49-F238E27FC236}">
                <a16:creationId xmlns:a16="http://schemas.microsoft.com/office/drawing/2014/main" id="{E3F08EC4-155B-456F-B519-D2C962C8D150}"/>
              </a:ext>
            </a:extLst>
          </p:cNvPr>
          <p:cNvPicPr>
            <a:picLocks noChangeAspect="1"/>
          </p:cNvPicPr>
          <p:nvPr/>
        </p:nvPicPr>
        <p:blipFill rotWithShape="1">
          <a:blip r:embed="rId5"/>
          <a:srcRect b="5200"/>
          <a:stretch/>
        </p:blipFill>
        <p:spPr>
          <a:xfrm>
            <a:off x="4861689" y="1482932"/>
            <a:ext cx="4848959" cy="2992582"/>
          </a:xfrm>
          <a:prstGeom prst="rect">
            <a:avLst/>
          </a:prstGeom>
        </p:spPr>
      </p:pic>
      <p:sp>
        <p:nvSpPr>
          <p:cNvPr id="24" name="TextBox 23">
            <a:extLst>
              <a:ext uri="{FF2B5EF4-FFF2-40B4-BE49-F238E27FC236}">
                <a16:creationId xmlns:a16="http://schemas.microsoft.com/office/drawing/2014/main" id="{51591882-9305-4E72-8150-888EA1F3C22B}"/>
              </a:ext>
            </a:extLst>
          </p:cNvPr>
          <p:cNvSpPr txBox="1"/>
          <p:nvPr/>
        </p:nvSpPr>
        <p:spPr>
          <a:xfrm>
            <a:off x="6460326" y="4944935"/>
            <a:ext cx="1790875" cy="276999"/>
          </a:xfrm>
          <a:prstGeom prst="rect">
            <a:avLst/>
          </a:prstGeom>
          <a:noFill/>
        </p:spPr>
        <p:txBody>
          <a:bodyPr wrap="none" rtlCol="0">
            <a:spAutoFit/>
          </a:bodyPr>
          <a:lstStyle/>
          <a:p>
            <a:pPr algn="just" eaLnBrk="1" latinLnBrk="0">
              <a:spcBef>
                <a:spcPct val="20000"/>
              </a:spcBef>
            </a:pPr>
            <a:r>
              <a:rPr lang="en-US" sz="1000" dirty="0">
                <a:latin typeface="Arial" panose="020B0604020202020204" pitchFamily="34" charset="0"/>
                <a:cs typeface="Arial" panose="020B0604020202020204" pitchFamily="34" charset="0"/>
              </a:rPr>
              <a:t>DID check sheet format</a:t>
            </a:r>
          </a:p>
        </p:txBody>
      </p:sp>
    </p:spTree>
    <p:extLst>
      <p:ext uri="{BB962C8B-B14F-4D97-AF65-F5344CB8AC3E}">
        <p14:creationId xmlns:p14="http://schemas.microsoft.com/office/powerpoint/2010/main" val="363793143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 name="Straight Connector 7">
            <a:extLst>
              <a:ext uri="{FF2B5EF4-FFF2-40B4-BE49-F238E27FC236}">
                <a16:creationId xmlns:a16="http://schemas.microsoft.com/office/drawing/2014/main" id="{37095669-0061-481C-8A59-6F10B434F1A6}"/>
              </a:ext>
            </a:extLst>
          </p:cNvPr>
          <p:cNvCxnSpPr/>
          <p:nvPr/>
        </p:nvCxnSpPr>
        <p:spPr>
          <a:xfrm>
            <a:off x="0" y="508838"/>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7" name="Slide Number Placeholder 4">
            <a:extLst>
              <a:ext uri="{FF2B5EF4-FFF2-40B4-BE49-F238E27FC236}">
                <a16:creationId xmlns:a16="http://schemas.microsoft.com/office/drawing/2014/main" id="{7C0924D8-04C2-4968-8836-DD278588C16B}"/>
              </a:ext>
            </a:extLst>
          </p:cNvPr>
          <p:cNvSpPr>
            <a:spLocks noGrp="1"/>
          </p:cNvSpPr>
          <p:nvPr>
            <p:ph type="sldNum" sz="quarter" idx="12"/>
          </p:nvPr>
        </p:nvSpPr>
        <p:spPr>
          <a:xfrm>
            <a:off x="3700326" y="6643499"/>
            <a:ext cx="2133600" cy="198047"/>
          </a:xfrm>
        </p:spPr>
        <p:txBody>
          <a:bodyPr/>
          <a:lstStyle/>
          <a:p>
            <a:pPr algn="ctr" eaLnBrk="1" latinLnBrk="0"/>
            <a:r>
              <a:rPr sz="1000" b="0">
                <a:latin typeface="Arial"/>
              </a:rPr>
              <a:t>33 / 33</a:t>
            </a:r>
            <a:endParaRPr lang="ko-KR" altLang="en-US" sz="1200" dirty="0">
              <a:solidFill>
                <a:prstClr val="black">
                  <a:tint val="75000"/>
                </a:prstClr>
              </a:solidFill>
              <a:latin typeface="Arial" panose="020B0604020202020204" pitchFamily="34" charset="0"/>
              <a:ea typeface="Arial Unicode MS" panose="020B0604020202020204" pitchFamily="34" charset="-128"/>
              <a:cs typeface="Arial" panose="020B0604020202020204" pitchFamily="34" charset="0"/>
            </a:endParaRPr>
          </a:p>
        </p:txBody>
      </p:sp>
      <p:sp>
        <p:nvSpPr>
          <p:cNvPr id="19" name="AutoShape 57">
            <a:extLst>
              <a:ext uri="{FF2B5EF4-FFF2-40B4-BE49-F238E27FC236}">
                <a16:creationId xmlns:a16="http://schemas.microsoft.com/office/drawing/2014/main" id="{F7C0E09A-DB4D-43E6-B3CE-37B23F71A907}"/>
              </a:ext>
            </a:extLst>
          </p:cNvPr>
          <p:cNvSpPr>
            <a:spLocks noChangeArrowheads="1"/>
          </p:cNvSpPr>
          <p:nvPr/>
        </p:nvSpPr>
        <p:spPr bwMode="auto">
          <a:xfrm>
            <a:off x="7701606" y="173344"/>
            <a:ext cx="749300" cy="287338"/>
          </a:xfrm>
          <a:prstGeom prst="homePlate">
            <a:avLst>
              <a:gd name="adj" fmla="val 46698"/>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solidFill>
                  <a:schemeClr val="tx1"/>
                </a:solidFill>
                <a:latin typeface="Arial Narrow" panose="020B0606020202030204" pitchFamily="34" charset="0"/>
                <a:ea typeface="Arial" panose="020B0503020000020004" pitchFamily="50" charset="-127"/>
              </a:rPr>
              <a:t>Analyze</a:t>
            </a:r>
          </a:p>
        </p:txBody>
      </p:sp>
      <p:sp>
        <p:nvSpPr>
          <p:cNvPr id="20" name="AutoShape 58">
            <a:extLst>
              <a:ext uri="{FF2B5EF4-FFF2-40B4-BE49-F238E27FC236}">
                <a16:creationId xmlns:a16="http://schemas.microsoft.com/office/drawing/2014/main" id="{1CB20489-F538-4606-ADFB-86DC16482793}"/>
              </a:ext>
            </a:extLst>
          </p:cNvPr>
          <p:cNvSpPr>
            <a:spLocks noChangeArrowheads="1"/>
          </p:cNvSpPr>
          <p:nvPr/>
        </p:nvSpPr>
        <p:spPr bwMode="auto">
          <a:xfrm>
            <a:off x="7030094" y="173344"/>
            <a:ext cx="747712" cy="287338"/>
          </a:xfrm>
          <a:prstGeom prst="homePlate">
            <a:avLst>
              <a:gd name="adj" fmla="val 46599"/>
            </a:avLst>
          </a:prstGeom>
          <a:solidFill>
            <a:schemeClr val="bg1"/>
          </a:solidFill>
          <a:ln w="3175">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solidFill>
                  <a:schemeClr val="tx1"/>
                </a:solidFill>
                <a:latin typeface="Arial Narrow" panose="020B0606020202030204" pitchFamily="34" charset="0"/>
                <a:ea typeface="Arial" panose="020B0503020000020004" pitchFamily="50" charset="-127"/>
              </a:rPr>
              <a:t>Measure </a:t>
            </a:r>
          </a:p>
        </p:txBody>
      </p:sp>
      <p:sp>
        <p:nvSpPr>
          <p:cNvPr id="21" name="AutoShape 59">
            <a:extLst>
              <a:ext uri="{FF2B5EF4-FFF2-40B4-BE49-F238E27FC236}">
                <a16:creationId xmlns:a16="http://schemas.microsoft.com/office/drawing/2014/main" id="{34CE5EF4-26DB-49D7-BEFE-A27DCC6983E7}"/>
              </a:ext>
            </a:extLst>
          </p:cNvPr>
          <p:cNvSpPr>
            <a:spLocks noChangeArrowheads="1"/>
          </p:cNvSpPr>
          <p:nvPr/>
        </p:nvSpPr>
        <p:spPr bwMode="auto">
          <a:xfrm>
            <a:off x="6333181" y="173344"/>
            <a:ext cx="757238" cy="287338"/>
          </a:xfrm>
          <a:prstGeom prst="homePlate">
            <a:avLst>
              <a:gd name="adj" fmla="val 47192"/>
            </a:avLst>
          </a:prstGeom>
          <a:solidFill>
            <a:schemeClr val="bg1"/>
          </a:solidFill>
          <a:ln w="3175">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solidFill>
                  <a:schemeClr val="tx1"/>
                </a:solidFill>
                <a:latin typeface="Arial Narrow" panose="020B0606020202030204" pitchFamily="34" charset="0"/>
                <a:ea typeface="Arial" panose="020B0503020000020004" pitchFamily="50" charset="-127"/>
              </a:rPr>
              <a:t>Define</a:t>
            </a:r>
          </a:p>
        </p:txBody>
      </p:sp>
      <p:sp>
        <p:nvSpPr>
          <p:cNvPr id="22" name="AutoShape 56">
            <a:extLst>
              <a:ext uri="{FF2B5EF4-FFF2-40B4-BE49-F238E27FC236}">
                <a16:creationId xmlns:a16="http://schemas.microsoft.com/office/drawing/2014/main" id="{25B21E42-9EA3-4D7E-8A2E-55F983581A16}"/>
              </a:ext>
            </a:extLst>
          </p:cNvPr>
          <p:cNvSpPr>
            <a:spLocks noChangeArrowheads="1"/>
          </p:cNvSpPr>
          <p:nvPr/>
        </p:nvSpPr>
        <p:spPr bwMode="auto">
          <a:xfrm>
            <a:off x="8393756" y="173344"/>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solidFill>
                  <a:schemeClr val="tx1"/>
                </a:solidFill>
                <a:latin typeface="Arial Narrow" panose="020B0606020202030204" pitchFamily="34" charset="0"/>
                <a:ea typeface="Arial" panose="020B0503020000020004" pitchFamily="50" charset="-127"/>
              </a:rPr>
              <a:t>Improve</a:t>
            </a:r>
          </a:p>
        </p:txBody>
      </p:sp>
      <p:sp>
        <p:nvSpPr>
          <p:cNvPr id="23" name="AutoShape 55">
            <a:extLst>
              <a:ext uri="{FF2B5EF4-FFF2-40B4-BE49-F238E27FC236}">
                <a16:creationId xmlns:a16="http://schemas.microsoft.com/office/drawing/2014/main" id="{D709B8E8-5B31-4366-ACEB-109393355B82}"/>
              </a:ext>
            </a:extLst>
          </p:cNvPr>
          <p:cNvSpPr>
            <a:spLocks noChangeArrowheads="1"/>
          </p:cNvSpPr>
          <p:nvPr/>
        </p:nvSpPr>
        <p:spPr bwMode="auto">
          <a:xfrm>
            <a:off x="9082731" y="57457"/>
            <a:ext cx="747713" cy="287337"/>
          </a:xfrm>
          <a:prstGeom prst="homePlate">
            <a:avLst>
              <a:gd name="adj" fmla="val 46599"/>
            </a:avLst>
          </a:prstGeom>
          <a:gradFill rotWithShape="1">
            <a:gsLst>
              <a:gs pos="0">
                <a:srgbClr val="494900"/>
              </a:gs>
              <a:gs pos="100000">
                <a:srgbClr val="808000"/>
              </a:gs>
            </a:gsLst>
            <a:lin ang="0" scaled="1"/>
          </a:gradFill>
          <a:ln w="6350" algn="ctr">
            <a:solidFill>
              <a:srgbClr val="808080"/>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latin typeface="Arial Narrow" panose="020B0606020202030204" pitchFamily="34" charset="0"/>
                <a:ea typeface="Arial" panose="020B0503020000020004" pitchFamily="50" charset="-127"/>
              </a:rPr>
              <a:t>Control</a:t>
            </a:r>
          </a:p>
        </p:txBody>
      </p:sp>
      <p:sp>
        <p:nvSpPr>
          <p:cNvPr id="9" name="TextBox 8">
            <a:extLst>
              <a:ext uri="{FF2B5EF4-FFF2-40B4-BE49-F238E27FC236}">
                <a16:creationId xmlns:a16="http://schemas.microsoft.com/office/drawing/2014/main" id="{B93B0FBA-9900-427C-A2C3-53ABF38E2FB5}"/>
              </a:ext>
            </a:extLst>
          </p:cNvPr>
          <p:cNvSpPr txBox="1"/>
          <p:nvPr/>
        </p:nvSpPr>
        <p:spPr>
          <a:xfrm>
            <a:off x="70509" y="117554"/>
            <a:ext cx="5170524" cy="338554"/>
          </a:xfrm>
          <a:prstGeom prst="rect">
            <a:avLst/>
          </a:prstGeom>
          <a:noFill/>
        </p:spPr>
        <p:txBody>
          <a:bodyPr wrap="square" rtlCol="0">
            <a:spAutoFit/>
          </a:bodyPr>
          <a:lstStyle/>
          <a:p>
            <a:pPr eaLnBrk="1" latinLnBrk="0"/>
            <a:r>
              <a:rPr lang="en-US" altLang="ko-KR" sz="1600" b="1" dirty="0">
                <a:latin typeface="Arial" panose="020B0606020202030204" pitchFamily="34" charset="0"/>
                <a:ea typeface="LG Smart_H Regular" pitchFamily="34" charset="-127"/>
              </a:rPr>
              <a:t>5</a:t>
            </a:r>
            <a:r>
              <a:rPr lang="vi-VN" altLang="ko-KR" sz="1600" b="1" dirty="0">
                <a:latin typeface="Arial" panose="020B0606020202030204" pitchFamily="34" charset="0"/>
                <a:ea typeface="LG Smart_H Regular" pitchFamily="34" charset="-127"/>
              </a:rPr>
              <a:t>.</a:t>
            </a:r>
            <a:r>
              <a:rPr lang="en-US" altLang="ko-KR" sz="1600" b="1" dirty="0">
                <a:latin typeface="Arial" panose="020B0606020202030204" pitchFamily="34" charset="0"/>
                <a:ea typeface="LG Smart_H Regular" pitchFamily="34" charset="-127"/>
              </a:rPr>
              <a:t>2</a:t>
            </a:r>
            <a:r>
              <a:rPr lang="vi-VN" altLang="ko-KR" sz="1600" b="1" dirty="0">
                <a:latin typeface="Arial" panose="020B0606020202030204" pitchFamily="34" charset="0"/>
                <a:ea typeface="LG Smart_H Regular" pitchFamily="34" charset="-127"/>
              </a:rPr>
              <a:t> </a:t>
            </a:r>
            <a:r>
              <a:rPr lang="en-US" altLang="ko-KR" sz="1600" b="1" dirty="0">
                <a:latin typeface="Arial" panose="020B0606020202030204" pitchFamily="34" charset="0"/>
                <a:ea typeface="LG Smart_H Regular" pitchFamily="34" charset="-127"/>
              </a:rPr>
              <a:t>Control plan (Future plan)</a:t>
            </a:r>
            <a:endParaRPr lang="vi-VN" altLang="ko-KR" sz="1600" b="1" dirty="0">
              <a:ea typeface="LG Smart_H Regular" pitchFamily="34" charset="-127"/>
            </a:endParaRPr>
          </a:p>
        </p:txBody>
      </p:sp>
      <p:sp>
        <p:nvSpPr>
          <p:cNvPr id="13" name="TextBox 12">
            <a:extLst>
              <a:ext uri="{FF2B5EF4-FFF2-40B4-BE49-F238E27FC236}">
                <a16:creationId xmlns:a16="http://schemas.microsoft.com/office/drawing/2014/main" id="{F2D63CB9-F03A-4B55-82AC-AAB2E2DAE0B5}"/>
              </a:ext>
            </a:extLst>
          </p:cNvPr>
          <p:cNvSpPr txBox="1"/>
          <p:nvPr/>
        </p:nvSpPr>
        <p:spPr>
          <a:xfrm>
            <a:off x="70509" y="651485"/>
            <a:ext cx="5263491" cy="276999"/>
          </a:xfrm>
          <a:prstGeom prst="rect">
            <a:avLst/>
          </a:prstGeom>
          <a:noFill/>
        </p:spPr>
        <p:txBody>
          <a:bodyPr wrap="square" rtlCol="0">
            <a:spAutoFit/>
          </a:bodyPr>
          <a:lstStyle/>
          <a:p>
            <a:pPr marL="171450" indent="-171450" eaLnBrk="1" latinLnBrk="0">
              <a:buFont typeface="Wingdings" panose="05000000000000000000" pitchFamily="2" charset="2"/>
              <a:buChar char="q"/>
            </a:pPr>
            <a:r>
              <a:rPr lang="en-US" sz="1000" b="1" dirty="0">
                <a:latin typeface="Arial" panose="020B0604020202020204" pitchFamily="34" charset="0"/>
                <a:ea typeface="Arial Unicode MS" panose="020B0604020202020204" pitchFamily="34" charset="-128"/>
                <a:cs typeface="Arial" panose="020B0604020202020204" pitchFamily="34" charset="0"/>
              </a:rPr>
              <a:t>Management plan</a:t>
            </a:r>
          </a:p>
        </p:txBody>
      </p:sp>
      <p:sp>
        <p:nvSpPr>
          <p:cNvPr id="5" name="Rectangle 4">
            <a:extLst>
              <a:ext uri="{FF2B5EF4-FFF2-40B4-BE49-F238E27FC236}">
                <a16:creationId xmlns:a16="http://schemas.microsoft.com/office/drawing/2014/main" id="{F5FE59E6-9BB3-42ED-8FCB-1F488C986E37}"/>
              </a:ext>
            </a:extLst>
          </p:cNvPr>
          <p:cNvSpPr/>
          <p:nvPr/>
        </p:nvSpPr>
        <p:spPr>
          <a:xfrm>
            <a:off x="102040" y="1124809"/>
            <a:ext cx="9380293" cy="1384995"/>
          </a:xfrm>
          <a:prstGeom prst="rect">
            <a:avLst/>
          </a:prstGeom>
        </p:spPr>
        <p:txBody>
          <a:bodyPr wrap="square">
            <a:spAutoFit/>
          </a:bodyPr>
          <a:lstStyle/>
          <a:p>
            <a:pPr eaLnBrk="1" latinLnBrk="0"/>
            <a:r>
              <a:rPr sz="1000" b="0">
                <a:latin typeface="Arial"/>
              </a:rPr>
              <a:t>Master Sample Management Procedure:</a:t>
            </a:r>
            <a:br/>
            <a:r>
              <a:rPr sz="1000" b="0">
                <a:latin typeface="Arial"/>
              </a:rPr>
              <a:t>• Inspection Timing: Daily at shift start (08:00~10:00 for day shift, 20:00~22:00 for night shift).</a:t>
            </a:r>
            <a:br/>
            <a:r>
              <a:rPr sz="1000" b="0">
                <a:latin typeface="Arial"/>
              </a:rPr>
              <a:t>• Responsible: PM Technician &amp; Line Leader.</a:t>
            </a:r>
            <a:br/>
            <a:r>
              <a:rPr sz="1000" b="0">
                <a:latin typeface="Arial"/>
              </a:rPr>
              <a:t>• Procedure:</a:t>
            </a:r>
            <a:br/>
            <a:r>
              <a:rPr sz="1000" b="0">
                <a:latin typeface="Arial"/>
              </a:rPr>
              <a:t>  1. Test the Master Sample (reference 910 Cd/m²) at the Luminance station; the reading must be inside the control limits 910 ± 48 Cd/m² (±3s of the Type 1 study after improvement, s = 15.96) and inside spec (800~2000 Cd/m²).</a:t>
            </a:r>
            <a:br/>
            <a:r>
              <a:rPr sz="1000" b="0">
                <a:latin typeface="Arial"/>
              </a:rPr>
              <a:t>  2. If a reading is out of the limits, stop judging OK/NG and report immediately to Line Leader; PE &amp; PM teams will inspect the camera angle (target 90.0°) and confirm with the Master Sample again before restarting.</a:t>
            </a:r>
            <a:br/>
            <a:r>
              <a:rPr sz="1000" b="0">
                <a:latin typeface="Arial"/>
              </a:rPr>
              <a:t>  3. GMES version checking (SW/HW) is skipped during Master Sample testing to focus strictly on hardware measurement stability.</a:t>
            </a:r>
          </a:p>
          <a:p>
            <a:pPr eaLnBrk="1" latinLnBrk="0"/>
            <a:endParaRPr lang="en-US" sz="1200" dirty="0">
              <a:latin typeface="Arial" panose="020B0604020202020204" pitchFamily="34" charset="0"/>
              <a:cs typeface="Arial" panose="020B0604020202020204" pitchFamily="34" charset="0"/>
            </a:endParaRPr>
          </a:p>
        </p:txBody>
      </p:sp>
      <p:sp>
        <p:nvSpPr>
          <p:cNvPr id="24" name="Added text 24"/>
          <p:cNvSpPr txBox="1"/>
          <p:nvPr/>
        </p:nvSpPr>
        <p:spPr>
          <a:xfrm>
            <a:off x="123825" y="2857500"/>
            <a:ext cx="9525000" cy="1238250"/>
          </a:xfrm>
          <a:prstGeom prst="rect">
            <a:avLst/>
          </a:prstGeom>
          <a:noFill/>
        </p:spPr>
        <p:txBody>
          <a:bodyPr wrap="square" rtlCol="0">
            <a:noAutofit/>
          </a:bodyPr>
          <a:lstStyle/>
          <a:p>
            <a:r>
              <a:rPr lang="en-US" sz="1000" b="0" dirty="0">
                <a:solidFill>
                  <a:srgbClr val="000000"/>
                </a:solidFill>
                <a:latin typeface="Arial"/>
                <a:cs typeface="Arial"/>
              </a:rPr>
              <a:t>Standardization &amp; horizontal deployment (planned):</a:t>
            </a:r>
          </a:p>
          <a:p>
            <a:r>
              <a:rPr lang="en-US" sz="1000" b="0" dirty="0">
                <a:solidFill>
                  <a:srgbClr val="000000"/>
                </a:solidFill>
                <a:latin typeface="Arial"/>
                <a:cs typeface="Arial"/>
              </a:rPr>
              <a:t>• Add the camera-angle check (target 90.0°) to the pre-production setup standard (SOP) of the Luminance station.</a:t>
            </a:r>
          </a:p>
          <a:p>
            <a:r>
              <a:rPr lang="en-US" sz="1000" b="0" dirty="0">
                <a:solidFill>
                  <a:srgbClr val="000000"/>
                </a:solidFill>
                <a:latin typeface="Arial"/>
                <a:cs typeface="Arial"/>
              </a:rPr>
              <a:t>• Apply the same Master sample check to the other dual-display models measured with the CS2000 (E3PA Dual, G3 Dual, J1 Dual PPR); the RHD Privacy models also need the 13% luminance compensation (slide 20).</a:t>
            </a:r>
          </a:p>
          <a:p>
            <a:r>
              <a:rPr lang="en-US" sz="1000" b="0" dirty="0">
                <a:solidFill>
                  <a:srgbClr val="000000"/>
                </a:solidFill>
                <a:latin typeface="Arial"/>
                <a:cs typeface="Arial"/>
              </a:rPr>
              <a:t>• Keep monitoring with the Xbar-R chart; if a point goes out of control, apply the reaction plan above (step 2).</a:t>
            </a:r>
          </a:p>
        </p:txBody>
      </p:sp>
    </p:spTree>
    <p:extLst>
      <p:ext uri="{BB962C8B-B14F-4D97-AF65-F5344CB8AC3E}">
        <p14:creationId xmlns:p14="http://schemas.microsoft.com/office/powerpoint/2010/main" val="1379288444"/>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pp2DBPMRbQEK4PwqppxHtXg"/>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pgNe9y31qx0OExXY5K1tKhA"/>
</p:tagLst>
</file>

<file path=ppt/theme/theme1.xml><?xml version="1.0" encoding="utf-8"?>
<a:theme xmlns:a="http://schemas.openxmlformats.org/drawingml/2006/main" name="3_디자인 사용자 지정">
  <a:themeElements>
    <a:clrScheme name="디자인 사용자 지정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디자인 사용자 지정">
      <a:majorFont>
        <a:latin typeface="Arial"/>
        <a:ea typeface="돋움"/>
        <a:cs typeface=""/>
      </a:majorFont>
      <a:minorFont>
        <a:latin typeface="Arial"/>
        <a:ea typeface="돋움"/>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noFill/>
        <a:ln w="9525" cap="flat" cmpd="sng" algn="ctr">
          <a:solidFill>
            <a:schemeClr val="tx1"/>
          </a:solid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ctr" defTabSz="914400" rtl="0" eaLnBrk="1" fontAlgn="base" latinLnBrk="1" hangingPunct="1">
          <a:lnSpc>
            <a:spcPct val="100000"/>
          </a:lnSpc>
          <a:spcBef>
            <a:spcPct val="0"/>
          </a:spcBef>
          <a:spcAft>
            <a:spcPct val="0"/>
          </a:spcAft>
          <a:buClrTx/>
          <a:buSzTx/>
          <a:buFontTx/>
          <a:buNone/>
          <a:tabLst/>
          <a:defRPr kumimoji="1" lang="ko-KR" sz="1800" b="0" i="0" u="none" strike="noStrike" cap="none" normalizeH="0" baseline="0" smtClean="0">
            <a:ln>
              <a:noFill/>
            </a:ln>
            <a:solidFill>
              <a:schemeClr val="tx1"/>
            </a:solidFill>
            <a:effectLst/>
            <a:latin typeface="Arial" charset="0"/>
            <a:ea typeface="돋움" pitchFamily="50" charset="-127"/>
          </a:defRPr>
        </a:defPPr>
      </a:lstStyle>
    </a:spDef>
    <a:lnDef>
      <a:spPr bwMode="auto">
        <a:noFill/>
        <a:ln w="9525" cap="flat" cmpd="sng" algn="ctr">
          <a:solidFill>
            <a:srgbClr val="C00000"/>
          </a:solidFill>
          <a:prstDash val="solid"/>
          <a:round/>
          <a:headEnd type="none" w="med" len="med"/>
          <a:tailEnd type="triangle" w="med" len="med"/>
        </a:ln>
        <a:effectLst/>
      </a:spPr>
      <a:bodyPr/>
      <a:lstStyle/>
    </a:lnDef>
  </a:objectDefaults>
  <a:extraClrSchemeLst>
    <a:extraClrScheme>
      <a:clrScheme name="디자인 사용자 지정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디자인 사용자 지정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디자인 사용자 지정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디자인 사용자 지정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디자인 사용자 지정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디자인 사용자 지정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디자인 사용자 지정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디자인 사용자 지정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디자인 사용자 지정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디자인 사용자 지정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디자인 사용자 지정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디자인 사용자 지정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cc6ed9fc-fefc-4a0c-a6d6-10cf236c0d4f}" enabled="1" method="Standard" siteId="{5069cde4-642a-45c0-8094-d0c2dec10be3}" contentBits="1" removed="0"/>
</clbl:labelList>
</file>

<file path=docProps/app.xml><?xml version="1.0" encoding="utf-8"?>
<Properties xmlns="http://schemas.openxmlformats.org/officeDocument/2006/extended-properties" xmlns:vt="http://schemas.openxmlformats.org/officeDocument/2006/docPropsVTypes">
  <TotalTime>100193</TotalTime>
  <Words>10038</Words>
  <Application>Microsoft Office PowerPoint</Application>
  <PresentationFormat>A4 Paper (210x297 mm)</PresentationFormat>
  <Paragraphs>1809</Paragraphs>
  <Slides>33</Slides>
  <Notes>26</Notes>
  <HiddenSlides>0</HiddenSlides>
  <MMClips>0</MMClips>
  <ScaleCrop>false</ScaleCrop>
  <HeadingPairs>
    <vt:vector size="8" baseType="variant">
      <vt:variant>
        <vt:lpstr>Fonts Used</vt:lpstr>
      </vt:variant>
      <vt:variant>
        <vt:i4>10</vt:i4>
      </vt:variant>
      <vt:variant>
        <vt:lpstr>Theme</vt:lpstr>
      </vt:variant>
      <vt:variant>
        <vt:i4>1</vt:i4>
      </vt:variant>
      <vt:variant>
        <vt:lpstr>Embedded OLE Servers</vt:lpstr>
      </vt:variant>
      <vt:variant>
        <vt:i4>2</vt:i4>
      </vt:variant>
      <vt:variant>
        <vt:lpstr>Slide Titles</vt:lpstr>
      </vt:variant>
      <vt:variant>
        <vt:i4>33</vt:i4>
      </vt:variant>
    </vt:vector>
  </HeadingPairs>
  <TitlesOfParts>
    <vt:vector size="46" baseType="lpstr">
      <vt:lpstr>Arial Unicode MS</vt:lpstr>
      <vt:lpstr>굴림</vt:lpstr>
      <vt:lpstr>현대하모니 L</vt:lpstr>
      <vt:lpstr>LG Smart_H Regular</vt:lpstr>
      <vt:lpstr>LG Smart_H Regular</vt:lpstr>
      <vt:lpstr>맑은 고딕</vt:lpstr>
      <vt:lpstr>Arial</vt:lpstr>
      <vt:lpstr>Arial Narrow</vt:lpstr>
      <vt:lpstr>Calibri</vt:lpstr>
      <vt:lpstr>Wingdings</vt:lpstr>
      <vt:lpstr>3_디자인 사용자 지정</vt:lpstr>
      <vt:lpstr>Worksheet</vt:lpstr>
      <vt:lpstr>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슬라이드 1</dc:title>
  <dc:creator>Bery</dc:creator>
  <cp:lastModifiedBy>LONG DUC NGUYEN/LGEVH IVI LD Cyber Security Part</cp:lastModifiedBy>
  <cp:revision>3253</cp:revision>
  <cp:lastPrinted>2017-04-20T00:57:17Z</cp:lastPrinted>
  <dcterms:created xsi:type="dcterms:W3CDTF">2013-07-05T02:04:59Z</dcterms:created>
  <dcterms:modified xsi:type="dcterms:W3CDTF">2026-10-14T09:19:26Z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HeaderLocations">
    <vt:lpwstr>3_디자인 사용자 지정:4</vt:lpwstr>
  </property>
  <property fmtid="{D5CDD505-2E9C-101B-9397-08002B2CF9AE}" pid="3" name="ClassificationContentMarkingHeaderText">
    <vt:lpwstr>LGE Internal Use Only</vt:lpwstr>
  </property>
</Properties>
</file>