
<file path=[Content_Types].xml><?xml version="1.0" encoding="utf-8"?>
<Types xmlns="http://schemas.openxmlformats.org/package/2006/content-types">
  <Default Extension="emf" ContentType="image/x-emf"/>
  <Default Extension="jpeg" ContentType="image/jpeg"/>
  <Default Extension="png" ContentType="image/png"/>
  <Default Extension="pptx" ContentType="application/vnd.openxmlformats-officedocument.presentationml.presentation"/>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34.xml" ContentType="application/vnd.openxmlformats-officedocument.presentationml.slide+xml"/>
  <Override PartName="/ppt/slides/slide35.xml" ContentType="application/vnd.openxmlformats-officedocument.presentationml.slide+xml"/>
  <Override PartName="/ppt/charts/chart2.xml" ContentType="application/vnd.openxmlformats-officedocument.drawingml.chart+xml"/>
  <Override PartName="/ppt/slides/slide36.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7" r:id="rId1"/>
  </p:sldMasterIdLst>
  <p:notesMasterIdLst>
    <p:notesMasterId r:id="rId35"/>
  </p:notesMasterIdLst>
  <p:handoutMasterIdLst>
    <p:handoutMasterId r:id="rId36"/>
  </p:handoutMasterIdLst>
  <p:sldIdLst>
    <p:sldId id="510" r:id="rId2"/>
    <p:sldId id="543" r:id="rId3"/>
    <p:sldId id="537" r:id="rId5"/>
    <p:sldId id="584" r:id="rId42"/>
    <p:sldId id="576" r:id="rId6"/>
    <p:sldId id="464" r:id="rId7"/>
    <p:sldId id="521" r:id="rId9"/>
    <p:sldId id="524" r:id="rId11"/>
    <p:sldId id="586" r:id="rId44"/>
    <p:sldId id="585" r:id="rId43"/>
    <p:sldId id="490" r:id="rId12"/>
    <p:sldId id="538" r:id="rId13"/>
    <p:sldId id="541" r:id="rId14"/>
    <p:sldId id="540" r:id="rId15"/>
    <p:sldId id="542" r:id="rId16"/>
    <p:sldId id="539" r:id="rId17"/>
    <p:sldId id="263" r:id="rId18"/>
    <p:sldId id="533" r:id="rId19"/>
    <p:sldId id="257" r:id="rId20"/>
    <p:sldId id="259" r:id="rId21"/>
    <p:sldId id="473" r:id="rId33"/>
    <p:sldId id="578" r:id="rId22"/>
    <p:sldId id="532" r:id="rId24"/>
    <p:sldId id="530" r:id="rId29"/>
    <p:sldId id="529" r:id="rId30"/>
    <p:sldId id="531" r:id="rId31"/>
    <p:sldId id="526" r:id="rId26"/>
    <p:sldId id="580" r:id="rId34"/>
    <p:sldId id="581" r:id="rId32"/>
  </p:sldIdLst>
  <p:sldSz cx="9906000" cy="6858000" type="A4"/>
  <p:notesSz cx="6807200" cy="9939338"/>
  <p:defaultTextStyle>
    <a:defPPr>
      <a:defRPr lang="ko-KR"/>
    </a:defPPr>
    <a:lvl1pPr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1pPr>
    <a:lvl2pPr marL="4572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5pPr>
    <a:lvl6pPr marL="2286000" algn="l" defTabSz="914400" rtl="0" eaLnBrk="1" latinLnBrk="1" hangingPunct="1">
      <a:defRPr kumimoji="1" kern="1200">
        <a:solidFill>
          <a:schemeClr val="tx1"/>
        </a:solidFill>
        <a:latin typeface="굴림" pitchFamily="50" charset="-127"/>
        <a:ea typeface="굴림" pitchFamily="50" charset="-127"/>
        <a:cs typeface="+mn-cs"/>
      </a:defRPr>
    </a:lvl6pPr>
    <a:lvl7pPr marL="2743200" algn="l" defTabSz="914400" rtl="0" eaLnBrk="1" latinLnBrk="1" hangingPunct="1">
      <a:defRPr kumimoji="1" kern="1200">
        <a:solidFill>
          <a:schemeClr val="tx1"/>
        </a:solidFill>
        <a:latin typeface="굴림" pitchFamily="50" charset="-127"/>
        <a:ea typeface="굴림" pitchFamily="50" charset="-127"/>
        <a:cs typeface="+mn-cs"/>
      </a:defRPr>
    </a:lvl7pPr>
    <a:lvl8pPr marL="3200400" algn="l" defTabSz="914400" rtl="0" eaLnBrk="1" latinLnBrk="1" hangingPunct="1">
      <a:defRPr kumimoji="1" kern="1200">
        <a:solidFill>
          <a:schemeClr val="tx1"/>
        </a:solidFill>
        <a:latin typeface="굴림" pitchFamily="50" charset="-127"/>
        <a:ea typeface="굴림" pitchFamily="50" charset="-127"/>
        <a:cs typeface="+mn-cs"/>
      </a:defRPr>
    </a:lvl8pPr>
    <a:lvl9pPr marL="3657600" algn="l" defTabSz="914400" rtl="0" eaLnBrk="1" latinLnBrk="1" hangingPunct="1">
      <a:defRPr kumimoji="1" kern="1200">
        <a:solidFill>
          <a:schemeClr val="tx1"/>
        </a:solidFill>
        <a:latin typeface="굴림" pitchFamily="50" charset="-127"/>
        <a:ea typeface="굴림" pitchFamily="50" charset="-127"/>
        <a:cs typeface="+mn-cs"/>
      </a:defRPr>
    </a:lvl9pPr>
  </p:defaultTextStyle>
  <p:extLst>
    <p:ext uri="{EFAFB233-063F-42B5-8137-9DF3F51BA10A}">
      <p15:sldGuideLst xmlns:p15="http://schemas.microsoft.com/office/powerpoint/2012/main">
        <p15:guide id="8" pos="126">
          <p15:clr>
            <a:srgbClr val="A4A3A4"/>
          </p15:clr>
        </p15:guide>
        <p15:guide id="10" pos="172" userDrawn="1">
          <p15:clr>
            <a:srgbClr val="A4A3A4"/>
          </p15:clr>
        </p15:guide>
        <p15:guide id="12" orient="horz" pos="391">
          <p15:clr>
            <a:srgbClr val="A4A3A4"/>
          </p15:clr>
        </p15:guide>
        <p15:guide id="13" orient="horz" pos="4110">
          <p15:clr>
            <a:srgbClr val="A4A3A4"/>
          </p15:clr>
        </p15:guide>
        <p15:guide id="14" pos="6023">
          <p15:clr>
            <a:srgbClr val="A4A3A4"/>
          </p15:clr>
        </p15:guide>
      </p15:sldGuideLst>
    </p:ext>
    <p:ext uri="{2D200454-40CA-4A62-9FC3-DE9A4176ACB9}">
      <p15:notesGuideLst xmlns:p15="http://schemas.microsoft.com/office/powerpoint/2012/main">
        <p15:guide id="1" orient="horz" pos="3130">
          <p15:clr>
            <a:srgbClr val="A4A3A4"/>
          </p15:clr>
        </p15:guide>
        <p15:guide id="2" pos="214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UONG NGOC VU/LGEVH IVI IE Tele/AVN/HUD Part" initials="VNVIITP" lastIdx="0" clrIdx="0">
    <p:extLst>
      <p:ext uri="{19B8F6BF-5375-455C-9EA6-DF929625EA0E}">
        <p15:presenceInfo xmlns:p15="http://schemas.microsoft.com/office/powerpoint/2012/main" userId="S-1-5-21-2543426832-1914326140-3112152631-27985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08D621"/>
    <a:srgbClr val="00CC66"/>
    <a:srgbClr val="FFFFCC"/>
    <a:srgbClr val="FF9933"/>
    <a:srgbClr val="0000F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844" autoAdjust="0"/>
    <p:restoredTop sz="87663" autoAdjust="0"/>
  </p:normalViewPr>
  <p:slideViewPr>
    <p:cSldViewPr>
      <p:cViewPr varScale="1">
        <p:scale>
          <a:sx n="76" d="100"/>
          <a:sy n="76" d="100"/>
        </p:scale>
        <p:origin x="1620" y="78"/>
      </p:cViewPr>
      <p:guideLst>
        <p:guide pos="126"/>
        <p:guide pos="172"/>
        <p:guide orient="horz" pos="391"/>
        <p:guide orient="horz" pos="4110"/>
        <p:guide pos="602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0"/>
    </p:cViewPr>
  </p:sorterViewPr>
  <p:notesViewPr>
    <p:cSldViewPr>
      <p:cViewPr varScale="1">
        <p:scale>
          <a:sx n="58" d="100"/>
          <a:sy n="58" d="100"/>
        </p:scale>
        <p:origin x="-3269" y="-72"/>
      </p:cViewPr>
      <p:guideLst>
        <p:guide orient="horz" pos="3130"/>
        <p:guide pos="2144"/>
      </p:guideLst>
    </p:cSldViewPr>
  </p:notes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36" Type="http://schemas.openxmlformats.org/officeDocument/2006/relationships/handoutMaster" Target="handoutMasters/handoutMaster1.xml"/><Relationship Id="rId19" Type="http://schemas.openxmlformats.org/officeDocument/2006/relationships/slide" Target="slides/slide18.xml"/><Relationship Id="rId31" Type="http://schemas.openxmlformats.org/officeDocument/2006/relationships/slide" Target="slides/slide30.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0" Type="http://schemas.openxmlformats.org/officeDocument/2006/relationships/slide" Target="slides/slide29.xml"/><Relationship Id="rId3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presProps" Target="presProps.xml"/>  <Relationship Id="rId42" Type="http://schemas.openxmlformats.org/officeDocument/2006/relationships/slide" Target="slides/slide34.xml"/>
  <Relationship Id="rId43" Type="http://schemas.openxmlformats.org/officeDocument/2006/relationships/slide" Target="slides/slide35.xml"/>
<Relationship Id="rId44" Type="http://schemas.openxmlformats.org/officeDocument/2006/relationships/slide" Target="slides/slide36.xml"/></Relationships>
</file>

<file path=ppt/charts/_rels/chart1.xml.rels><?xml version="1.0" encoding="UTF-8" standalone="yes"?>
<Relationships xmlns="http://schemas.openxmlformats.org/package/2006/relationships"><Relationship Id="rId3" Type="http://schemas.openxmlformats.org/officeDocument/2006/relationships/oleObject" Target="file:///C:\Users\vuong.vu\AppData\Local\Temp\_AZTMP1_\all.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Luminance defect</a:t>
            </a:r>
            <a:r>
              <a:rPr lang="en-US" baseline="0" dirty="0"/>
              <a:t> rate of J1 Dual model</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Sheet1!$D$7</c:f>
              <c:strCache>
                <c:ptCount val="1"/>
                <c:pt idx="0">
                  <c:v>Total NG</c:v>
                </c:pt>
              </c:strCache>
            </c:strRef>
          </c:tx>
          <c:spPr>
            <a:solidFill>
              <a:srgbClr val="4472C4"/>
            </a:solidFill>
            <a:ln>
              <a:noFill/>
            </a:ln>
            <a:effectLst/>
          </c:spPr>
          <c:invertIfNegative val="0"/>
          <c:dLbls>
            <c:numFmt formatCode="0" sourceLinked="0"/>
            <c:dLblPos val="outEnd"/>
            <c:showLegendKey val="0"/>
            <c:showVal val="1"/>
            <c:showCatName val="0"/>
            <c:showSerName val="0"/>
            <c:showPercent val="0"/>
            <c:showBubbleSize val="0"/>
          </c:dLbls>
          <c:cat>
            <c:strRef>
              <c:f>Sheet1!$E$6:$K$6</c:f>
              <c:strCache>
                <c:ptCount val="7"/>
                <c:pt idx="0">
                  <c:v>16.Nov.2025</c:v>
                </c:pt>
                <c:pt idx="1">
                  <c:v>2.Jan.2026</c:v>
                </c:pt>
                <c:pt idx="2">
                  <c:v>23.Feb.2026</c:v>
                </c:pt>
                <c:pt idx="3">
                  <c:v>1.Mar.2026</c:v>
                </c:pt>
                <c:pt idx="4">
                  <c:v>15.Jul.2026</c:v>
                </c:pt>
                <c:pt idx="5">
                  <c:v>21.Aug.2026</c:v>
                </c:pt>
                <c:pt idx="6">
                  <c:v>20.Sep.2026</c:v>
                </c:pt>
              </c:strCache>
            </c:strRef>
          </c:cat>
          <c:val>
            <c:numRef>
              <c:f>Sheet1!$E$7:$K$7</c:f>
              <c:numCache>
                <c:formatCode>General</c:formatCode>
                <c:ptCount val="7"/>
                <c:pt idx="0">
                  <c:v>13</c:v>
                </c:pt>
                <c:pt idx="1">
                  <c:v>8</c:v>
                </c:pt>
                <c:pt idx="2">
                  <c:v>92</c:v>
                </c:pt>
                <c:pt idx="3">
                  <c:v>30</c:v>
                </c:pt>
                <c:pt idx="4">
                  <c:v>0</c:v>
                </c:pt>
                <c:pt idx="5">
                  <c:v>0</c:v>
                </c:pt>
                <c:pt idx="6">
                  <c:v>0</c:v>
                </c:pt>
              </c:numCache>
            </c:numRef>
          </c:val>
          <c:extLst>
            <c:ext xmlns:c16="http://schemas.microsoft.com/office/drawing/2014/chart" uri="{C3380CC4-5D6E-409C-BE32-E72D297353CC}">
              <c16:uniqueId val="{00000000-8241-4E88-B6AB-4C7FE8828860}"/>
            </c:ext>
          </c:extLst>
        </c:ser>
        <c:ser>
          <c:idx val="1"/>
          <c:order val="1"/>
          <c:tx>
            <c:strRef>
              <c:f>Sheet1!$D$8</c:f>
              <c:strCache>
                <c:ptCount val="1"/>
                <c:pt idx="0">
                  <c:v>Prod Q'ty</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Sheet1!$E$6:$K$6</c:f>
              <c:strCache>
                <c:ptCount val="7"/>
                <c:pt idx="0">
                  <c:v>16.Nov.2025</c:v>
                </c:pt>
                <c:pt idx="1">
                  <c:v>2.Jan.2026</c:v>
                </c:pt>
                <c:pt idx="2">
                  <c:v>23.Feb.2026</c:v>
                </c:pt>
                <c:pt idx="3">
                  <c:v>1.Mar.2026</c:v>
                </c:pt>
                <c:pt idx="4">
                  <c:v>15.Jul.2026</c:v>
                </c:pt>
                <c:pt idx="5">
                  <c:v>21.Aug.2026</c:v>
                </c:pt>
                <c:pt idx="6">
                  <c:v>20.Sep.2026</c:v>
                </c:pt>
              </c:strCache>
            </c:strRef>
          </c:cat>
          <c:val>
            <c:numRef>
              <c:f>Sheet1!$E$8:$K$8</c:f>
              <c:numCache>
                <c:formatCode>General</c:formatCode>
                <c:ptCount val="7"/>
                <c:pt idx="0">
                  <c:v>200</c:v>
                </c:pt>
                <c:pt idx="1">
                  <c:v>120</c:v>
                </c:pt>
                <c:pt idx="2">
                  <c:v>240</c:v>
                </c:pt>
                <c:pt idx="3">
                  <c:v>71</c:v>
                </c:pt>
                <c:pt idx="4">
                  <c:v>240</c:v>
                </c:pt>
                <c:pt idx="5">
                  <c:v>120</c:v>
                </c:pt>
                <c:pt idx="6">
                  <c:v>60</c:v>
                </c:pt>
              </c:numCache>
            </c:numRef>
          </c:val>
          <c:extLst>
            <c:ext xmlns:c16="http://schemas.microsoft.com/office/drawing/2014/chart" uri="{C3380CC4-5D6E-409C-BE32-E72D297353CC}">
              <c16:uniqueId val="{00000001-8241-4E88-B6AB-4C7FE8828860}"/>
            </c:ext>
          </c:extLst>
        </c:ser>
        <c:dLbls>
          <c:showLegendKey val="0"/>
          <c:showVal val="1"/>
          <c:showCatName val="0"/>
          <c:showSerName val="0"/>
          <c:showPercent val="0"/>
          <c:showBubbleSize val="0"/>
        </c:dLbls>
        <c:gapWidth val="219"/>
        <c:overlap val="-27"/>
        <c:axId val="137649919"/>
        <c:axId val="294917759"/>
      </c:barChart>
      <c:lineChart>
        <c:grouping val="standard"/>
        <c:varyColors val="0"/>
        <c:ser>
          <c:idx val="2"/>
          <c:order val="2"/>
          <c:tx>
            <c:strRef>
              <c:f>Sheet1!$D$9</c:f>
              <c:strCache>
                <c:ptCount val="1"/>
                <c:pt idx="0">
                  <c:v>Defect rate (ppm)</c:v>
                </c:pt>
              </c:strCache>
            </c:strRef>
          </c:tx>
          <c:spPr>
            <a:ln w="28575" cap="rnd">
              <a:solidFill>
                <a:srgbClr val="FF0000">
                  <a:alpha val="83000"/>
                </a:srgbClr>
              </a:solidFill>
              <a:round/>
            </a:ln>
            <a:effectLst>
              <a:softEdge rad="0"/>
            </a:effectLst>
          </c:spPr>
          <c:marker>
            <c:symbol val="none"/>
          </c:marker>
          <c:dLbls>
            <c:numFmt formatCode="#,##0" sourceLinked="0"/>
            <c:dLbl>
              <c:idx val="0"/>
              <c:layout>
                <c:manualLayout>
                  <c:x val="-6.9630276639563615E-2"/>
                  <c:y val="-7.59983536762276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241-4E88-B6AB-4C7FE8828860}"/>
                </c:ext>
              </c:extLst>
            </c:dLbl>
            <c:dLbl>
              <c:idx val="1"/>
              <c:layout>
                <c:manualLayout>
                  <c:x val="-7.0184840271801302E-2"/>
                  <c:y val="-0.1274122354242995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241-4E88-B6AB-4C7FE8828860}"/>
                </c:ext>
              </c:extLst>
            </c:dLbl>
            <c:dLbl>
              <c:idx val="2"/>
              <c:layout>
                <c:manualLayout>
                  <c:x val="-6.9102773246329532E-2"/>
                  <c:y val="-7.942594579276561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241-4E88-B6AB-4C7FE8828860}"/>
                </c:ext>
              </c:extLst>
            </c:dLbl>
            <c:dLbl>
              <c:idx val="3"/>
              <c:layout>
                <c:manualLayout>
                  <c:x val="-5.3877107123436734E-2"/>
                  <c:y val="-7.257076155968936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241-4E88-B6AB-4C7FE8828860}"/>
                </c:ext>
              </c:extLst>
            </c:dLbl>
            <c:dLbl>
              <c:idx val="4"/>
              <c:layout>
                <c:manualLayout>
                  <c:x val="6.5198049265049046E-3"/>
                  <c:y val="-4.857761674392243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241-4E88-B6AB-4C7FE8828860}"/>
                </c:ext>
              </c:extLst>
            </c:dLbl>
            <c:dLbl>
              <c:idx val="5"/>
              <c:layout>
                <c:manualLayout>
                  <c:x val="-2.1805757151481678E-3"/>
                  <c:y val="-4.857761674392243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241-4E88-B6AB-4C7FE8828860}"/>
                </c:ext>
              </c:extLst>
            </c:dLbl>
            <c:dLbl>
              <c:idx val="6"/>
              <c:layout>
                <c:manualLayout>
                  <c:x val="8.6949000869181725E-3"/>
                  <c:y val="-4.857761674392243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8241-4E88-B6AB-4C7FE8828860}"/>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Sheet1!$E$6:$K$6</c:f>
              <c:strCache>
                <c:ptCount val="7"/>
                <c:pt idx="0">
                  <c:v>16.Nov.2025</c:v>
                </c:pt>
                <c:pt idx="1">
                  <c:v>2.Jan.2026</c:v>
                </c:pt>
                <c:pt idx="2">
                  <c:v>23.Feb.2026</c:v>
                </c:pt>
                <c:pt idx="3">
                  <c:v>1.Mar.2026</c:v>
                </c:pt>
                <c:pt idx="4">
                  <c:v>15.Jul.2026</c:v>
                </c:pt>
                <c:pt idx="5">
                  <c:v>21.Aug.2026</c:v>
                </c:pt>
                <c:pt idx="6">
                  <c:v>20.Sep.2026</c:v>
                </c:pt>
              </c:strCache>
            </c:strRef>
          </c:cat>
          <c:val>
            <c:numRef>
              <c:f>Sheet1!$E$9:$K$9</c:f>
              <c:numCache>
                <c:formatCode>0.00</c:formatCode>
                <c:ptCount val="7"/>
                <c:pt idx="0" formatCode="General">
                  <c:v>65000</c:v>
                </c:pt>
                <c:pt idx="1">
                  <c:v>66666.666666666672</c:v>
                </c:pt>
                <c:pt idx="2">
                  <c:v>383333.33333333337</c:v>
                </c:pt>
                <c:pt idx="3">
                  <c:v>422535.2112676056</c:v>
                </c:pt>
                <c:pt idx="4" formatCode="General">
                  <c:v>0</c:v>
                </c:pt>
                <c:pt idx="5" formatCode="General">
                  <c:v>0</c:v>
                </c:pt>
                <c:pt idx="6" formatCode="General">
                  <c:v>0</c:v>
                </c:pt>
              </c:numCache>
            </c:numRef>
          </c:val>
          <c:smooth val="0"/>
          <c:extLst>
            <c:ext xmlns:c16="http://schemas.microsoft.com/office/drawing/2014/chart" uri="{C3380CC4-5D6E-409C-BE32-E72D297353CC}">
              <c16:uniqueId val="{00000003-8241-4E88-B6AB-4C7FE8828860}"/>
            </c:ext>
          </c:extLst>
        </c:ser>
        <c:dLbls>
          <c:showLegendKey val="0"/>
          <c:showVal val="1"/>
          <c:showCatName val="0"/>
          <c:showSerName val="0"/>
          <c:showPercent val="0"/>
          <c:showBubbleSize val="0"/>
        </c:dLbls>
        <c:marker val="1"/>
        <c:smooth val="0"/>
        <c:axId val="144407247"/>
        <c:axId val="294901951"/>
      </c:lineChart>
      <c:catAx>
        <c:axId val="144407247"/>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b"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4901951"/>
        <c:crosses val="autoZero"/>
        <c:auto val="1"/>
        <c:lblAlgn val="ctr"/>
        <c:lblOffset val="100"/>
        <c:noMultiLvlLbl val="0"/>
      </c:catAx>
      <c:valAx>
        <c:axId val="29490195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4407247"/>
        <c:crosses val="autoZero"/>
        <c:crossBetween val="between"/>
      </c:valAx>
      <c:valAx>
        <c:axId val="294917759"/>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7649919"/>
        <c:crosses val="max"/>
        <c:crossBetween val="between"/>
      </c:valAx>
      <c:catAx>
        <c:axId val="137649919"/>
        <c:scaling>
          <c:orientation val="minMax"/>
        </c:scaling>
        <c:delete val="1"/>
        <c:axPos val="b"/>
        <c:numFmt formatCode="General" sourceLinked="1"/>
        <c:majorTickMark val="out"/>
        <c:minorTickMark val="none"/>
        <c:tickLblPos val="nextTo"/>
        <c:crossAx val="294917759"/>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a:pPr>
            <a:r>
              <a:rPr lang="en-US" sz="1200" b="1"/>
              <a:t>Pareto chart of Porsche CID defects (Nov.2025~Mar.2026)</a:t>
            </a:r>
          </a:p>
        </c:rich>
      </c:tx>
      <c:overlay val="0"/>
    </c:title>
    <c:autoTitleDeleted val="0"/>
    <c:plotArea>
      <c:layout/>
      <c:barChart>
        <c:barDir val="col"/>
        <c:grouping val="clustered"/>
        <c:varyColors val="0"/>
        <c:ser>
          <c:idx val="0"/>
          <c:order val="0"/>
          <c:tx>
            <c:strRef>
              <c:f>Sheet1!$B$1</c:f>
              <c:strCache>
                <c:ptCount val="1"/>
                <c:pt idx="0">
                  <c:v>Defect rate (ppm)</c:v>
                </c:pt>
              </c:strCache>
            </c:strRef>
          </c:tx>
          <c:spPr>
            <a:solidFill>
              <a:srgbClr val="4472C4"/>
            </a:solidFill>
          </c:spPr>
          <c:invertIfNegative val="0"/>
          <c:dLbls>
            <c:dLbl>
              <c:idx val="0"/>
              <c:numFmt formatCode="#,##0" sourceLinked="0"/>
              <c:spPr>
                <a:noFill/>
                <a:ln>
                  <a:noFill/>
                </a:ln>
              </c:spPr>
              <c:txPr>
                <a:bodyPr/>
                <a:lstStyle/>
                <a:p>
                  <a:pPr>
                    <a:defRPr sz="1100" b="1">
                      <a:solidFill>
                        <a:srgbClr val="FFFFFF"/>
                      </a:solidFill>
                    </a:defRPr>
                  </a:pPr>
                  <a:endParaRPr lang="en-US"/>
                </a:p>
              </c:txPr>
              <c:dLblPos val="inEnd"/>
              <c:showLegendKey val="0"/>
              <c:showVal val="1"/>
              <c:showCatName val="0"/>
              <c:showSerName val="0"/>
              <c:showPercent val="0"/>
              <c:showBubbleSize val="0"/>
            </c:dLbl>
            <c:numFmt formatCode="#,##0" sourceLinked="0"/>
            <c:spPr>
              <a:noFill/>
              <a:ln>
                <a:noFill/>
              </a:ln>
            </c:spPr>
            <c:txPr>
              <a:bodyPr/>
              <a:lstStyle/>
              <a:p>
                <a:pPr>
                  <a:defRPr sz="1050" b="1">
                    <a:solidFill>
                      <a:srgbClr val="333333"/>
                    </a:solidFill>
                  </a:defRPr>
                </a:pPr>
                <a:endParaRPr lang="en-US"/>
              </a:p>
            </c:txPr>
            <c:dLblPos val="outEnd"/>
            <c:showLegendKey val="0"/>
            <c:showVal val="1"/>
            <c:showCatName val="0"/>
            <c:showSerName val="0"/>
            <c:showPercent val="0"/>
            <c:showBubbleSize val="0"/>
          </c:dLbls>
          <c:cat>
            <c:strRef>
              <c:f>Sheet1!$A$2:$A$6</c:f>
              <c:strCache>
                <c:ptCount val="5"/>
                <c:pt idx="0">
                  <c:v>Luminance value</c:v>
                </c:pt>
                <c:pt idx="1">
                  <c:v>Hardware</c:v>
                </c:pt>
                <c:pt idx="2">
                  <c:v>Software</c:v>
                </c:pt>
                <c:pt idx="3">
                  <c:v>Contrast value</c:v>
                </c:pt>
                <c:pt idx="4">
                  <c:v>Haptic / Touch</c:v>
                </c:pt>
              </c:strCache>
            </c:strRef>
          </c:cat>
          <c:val>
            <c:numRef>
              <c:f>Sheet1!$B$2:$B$6</c:f>
              <c:numCache>
                <c:formatCode>#,##0</c:formatCode>
                <c:ptCount val="5"/>
                <c:pt idx="0">
                  <c:v>226624</c:v>
                </c:pt>
                <c:pt idx="1">
                  <c:v>15600</c:v>
                </c:pt>
                <c:pt idx="2">
                  <c:v>9100</c:v>
                </c:pt>
                <c:pt idx="3">
                  <c:v>6076</c:v>
                </c:pt>
                <c:pt idx="4">
                  <c:v>2600</c:v>
                </c:pt>
              </c:numCache>
            </c:numRef>
          </c:val>
        </c:ser>
        <c:gapWidth val="45"/>
        <c:axId val="50010"/>
        <c:axId val="50020"/>
      </c:barChart>
      <c:lineChart>
        <c:grouping val="standard"/>
        <c:varyColors val="0"/>
        <c:ser>
          <c:idx val="1"/>
          <c:order val="1"/>
          <c:tx>
            <c:strRef>
              <c:f>Sheet1!$C$1</c:f>
              <c:strCache>
                <c:ptCount val="1"/>
                <c:pt idx="0">
                  <c:v>Cumulative %</c:v>
                </c:pt>
              </c:strCache>
            </c:strRef>
          </c:tx>
          <c:spPr>
            <a:ln w="28575" cap="rnd">
              <a:solidFill>
                <a:srgbClr val="C00000"/>
              </a:solidFill>
              <a:round/>
            </a:ln>
          </c:spPr>
          <c:marker>
            <c:symbol val="circle"/>
            <c:size val="7"/>
            <c:spPr>
              <a:solidFill>
                <a:srgbClr val="C00000"/>
              </a:solidFill>
              <a:ln>
                <a:noFill/>
              </a:ln>
            </c:spPr>
          </c:marker>
          <c:dLbls>
            <c:numFmt formatCode="0.0&quot;%&quot;" sourceLinked="0"/>
            <c:spPr>
              <a:noFill/>
              <a:ln>
                <a:noFill/>
              </a:ln>
            </c:spPr>
            <c:txPr>
              <a:bodyPr/>
              <a:lstStyle/>
              <a:p>
                <a:pPr>
                  <a:defRPr sz="1050" b="1">
                    <a:solidFill>
                      <a:srgbClr val="C00000"/>
                    </a:solidFill>
                  </a:defRPr>
                </a:pPr>
                <a:endParaRPr lang="en-US"/>
              </a:p>
            </c:txPr>
            <c:dLblPos val="t"/>
            <c:showLegendKey val="0"/>
            <c:showVal val="1"/>
            <c:showCatName val="0"/>
            <c:showSerName val="0"/>
            <c:showPercent val="0"/>
            <c:showBubbleSize val="0"/>
          </c:dLbls>
          <c:cat>
            <c:strRef>
              <c:f>Sheet1!$A$2:$A$6</c:f>
              <c:strCache>
                <c:ptCount val="5"/>
                <c:pt idx="0">
                  <c:v>Luminance value</c:v>
                </c:pt>
                <c:pt idx="1">
                  <c:v>Hardware</c:v>
                </c:pt>
                <c:pt idx="2">
                  <c:v>Software</c:v>
                </c:pt>
                <c:pt idx="3">
                  <c:v>Contrast value</c:v>
                </c:pt>
                <c:pt idx="4">
                  <c:v>Haptic / Touch</c:v>
                </c:pt>
              </c:strCache>
            </c:strRef>
          </c:cat>
          <c:val>
            <c:numRef>
              <c:f>Sheet1!$C$2:$C$6</c:f>
              <c:numCache>
                <c:formatCode>0.0</c:formatCode>
                <c:ptCount val="5"/>
                <c:pt idx="0">
                  <c:v>87.2</c:v>
                </c:pt>
                <c:pt idx="1">
                  <c:v>93.2</c:v>
                </c:pt>
                <c:pt idx="2">
                  <c:v>96.7</c:v>
                </c:pt>
                <c:pt idx="3">
                  <c:v>99.0</c:v>
                </c:pt>
                <c:pt idx="4">
                  <c:v>100.0</c:v>
                </c:pt>
              </c:numCache>
            </c:numRef>
          </c:val>
          <c:smooth val="0"/>
        </c:ser>
        <c:ser>
          <c:idx val="2"/>
          <c:order val="2"/>
          <c:tx>
            <c:strRef>
              <c:f>Sheet1!$D$1</c:f>
              <c:strCache>
                <c:ptCount val="1"/>
                <c:pt idx="0">
                  <c:v>80% line</c:v>
                </c:pt>
              </c:strCache>
            </c:strRef>
          </c:tx>
          <c:spPr>
            <a:ln w="15875">
              <a:solidFill>
                <a:srgbClr val="7F7F7F"/>
              </a:solidFill>
              <a:prstDash val="dash"/>
            </a:ln>
          </c:spPr>
          <c:marker>
            <c:symbol val="none"/>
          </c:marker>
          <c:cat>
            <c:strRef>
              <c:f>Sheet1!$A$2:$A$6</c:f>
              <c:strCache>
                <c:ptCount val="5"/>
                <c:pt idx="0">
                  <c:v>Luminance value</c:v>
                </c:pt>
                <c:pt idx="1">
                  <c:v>Hardware</c:v>
                </c:pt>
                <c:pt idx="2">
                  <c:v>Software</c:v>
                </c:pt>
                <c:pt idx="3">
                  <c:v>Contrast value</c:v>
                </c:pt>
                <c:pt idx="4">
                  <c:v>Haptic / Touch</c:v>
                </c:pt>
              </c:strCache>
            </c:strRef>
          </c:cat>
          <c:val>
            <c:numRef>
              <c:f>Sheet1!$D$2:$D$6</c:f>
              <c:numCache>
                <c:formatCode>General</c:formatCode>
                <c:ptCount val="5"/>
                <c:pt idx="0">
                  <c:v>80</c:v>
                </c:pt>
                <c:pt idx="1">
                  <c:v>80</c:v>
                </c:pt>
                <c:pt idx="2">
                  <c:v>80</c:v>
                </c:pt>
                <c:pt idx="3">
                  <c:v>80</c:v>
                </c:pt>
                <c:pt idx="4">
                  <c:v>80</c:v>
                </c:pt>
              </c:numCache>
            </c:numRef>
          </c:val>
          <c:smooth val="0"/>
        </c:ser>
        <c:marker val="1"/>
        <c:axId val="50030"/>
        <c:axId val="50040"/>
      </c:lineChart>
      <c:catAx>
        <c:axId val="50010"/>
        <c:scaling>
          <c:orientation val="minMax"/>
        </c:scaling>
        <c:delete val="0"/>
        <c:axPos val="b"/>
        <c:numFmt formatCode="General" sourceLinked="0"/>
        <c:majorTickMark val="none"/>
        <c:minorTickMark val="none"/>
        <c:tickLblPos val="nextTo"/>
        <c:spPr>
          <a:ln w="9525">
            <a:solidFill>
              <a:srgbClr val="999999"/>
            </a:solidFill>
          </a:ln>
        </c:spPr>
        <c:txPr>
          <a:bodyPr/>
          <a:lstStyle/>
          <a:p>
            <a:pPr>
              <a:defRPr sz="1000" b="0">
                <a:solidFill>
                  <a:srgbClr val="404040"/>
                </a:solidFill>
              </a:defRPr>
            </a:pPr>
            <a:endParaRPr lang="en-US"/>
          </a:p>
        </c:txPr>
        <c:crossAx val="50020"/>
        <c:crosses val="autoZero"/>
        <c:auto val="1"/>
        <c:lblAlgn val="ctr"/>
        <c:lblOffset val="100"/>
        <c:noMultiLvlLbl val="0"/>
      </c:catAx>
      <c:valAx>
        <c:axId val="50020"/>
        <c:scaling>
          <c:orientation val="minMax"/>
          <c:max val="260000"/>
          <c:min val="0"/>
        </c:scaling>
        <c:delete val="0"/>
        <c:axPos val="l"/>
        <c:majorGridlines>
          <c:spPr>
            <a:ln w="6350">
              <a:solidFill>
                <a:srgbClr val="E0E0E0"/>
              </a:solidFill>
            </a:ln>
          </c:spPr>
        </c:majorGridlines>
        <c:numFmt formatCode="#,##0" sourceLinked="0"/>
        <c:majorTickMark val="out"/>
        <c:minorTickMark val="none"/>
        <c:tickLblPos val="nextTo"/>
        <c:spPr>
          <a:ln w="9525">
            <a:solidFill>
              <a:srgbClr val="999999"/>
            </a:solidFill>
          </a:ln>
        </c:spPr>
        <c:txPr>
          <a:bodyPr/>
          <a:lstStyle/>
          <a:p>
            <a:pPr>
              <a:defRPr sz="1000" b="0">
                <a:solidFill>
                  <a:srgbClr val="404040"/>
                </a:solidFill>
              </a:defRPr>
            </a:pPr>
            <a:endParaRPr lang="en-US"/>
          </a:p>
        </c:txPr>
        <c:crossAx val="50010"/>
        <c:crosses val="autoZero"/>
        <c:crossBetween val="between"/>
        <c:majorUnit val="65000"/>
      </c:valAx>
      <c:catAx>
        <c:axId val="50030"/>
        <c:scaling>
          <c:orientation val="minMax"/>
        </c:scaling>
        <c:delete val="1"/>
        <c:axPos val="b"/>
        <c:majorTickMark val="none"/>
        <c:minorTickMark val="none"/>
        <c:tickLblPos val="nextTo"/>
        <c:crossAx val="50040"/>
        <c:crosses val="autoZero"/>
        <c:auto val="1"/>
        <c:lblAlgn val="ctr"/>
        <c:lblOffset val="100"/>
        <c:noMultiLvlLbl val="0"/>
      </c:catAx>
      <c:valAx>
        <c:axId val="50040"/>
        <c:scaling>
          <c:orientation val="minMax"/>
          <c:max val="100"/>
          <c:min val="0"/>
        </c:scaling>
        <c:delete val="0"/>
        <c:axPos val="r"/>
        <c:numFmt formatCode="0&quot;%&quot;" sourceLinked="0"/>
        <c:majorTickMark val="out"/>
        <c:minorTickMark val="none"/>
        <c:tickLblPos val="nextTo"/>
        <c:spPr>
          <a:ln w="9525">
            <a:solidFill>
              <a:srgbClr val="999999"/>
            </a:solidFill>
          </a:ln>
        </c:spPr>
        <c:txPr>
          <a:bodyPr/>
          <a:lstStyle/>
          <a:p>
            <a:pPr>
              <a:defRPr sz="1000" b="0">
                <a:solidFill>
                  <a:srgbClr val="404040"/>
                </a:solidFill>
              </a:defRPr>
            </a:pPr>
            <a:endParaRPr lang="en-US"/>
          </a:p>
        </c:txPr>
        <c:crossAx val="50030"/>
        <c:crosses val="max"/>
        <c:crossBetween val="between"/>
        <c:majorUnit val="25"/>
      </c:valAx>
    </c:plotArea>
    <c:legend>
      <c:legendPos val="b"/>
      <c:overlay val="0"/>
      <c:txPr>
        <a:bodyPr/>
        <a:lstStyle/>
        <a:p>
          <a:pPr>
            <a:defRPr sz="1000" b="0">
              <a:solidFill>
                <a:srgbClr val="404040"/>
              </a:solidFill>
            </a:defRPr>
          </a:pPr>
          <a:endParaRPr lang="en-US"/>
        </a:p>
      </c:txPr>
    </c:legend>
    <c:plotVisOnly val="1"/>
    <c:dispBlanksAs val="gap"/>
  </c:chart>
  <c:txPr>
    <a:bodyPr/>
    <a:lstStyle/>
    <a:p>
      <a:pPr>
        <a:defRPr sz="1000"/>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2.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6038" y="0"/>
            <a:ext cx="2949575" cy="498475"/>
          </a:xfrm>
          <a:prstGeom prst="rect">
            <a:avLst/>
          </a:prstGeom>
        </p:spPr>
        <p:txBody>
          <a:bodyPr vert="horz" lIns="91440" tIns="45720" rIns="91440" bIns="45720" rtlCol="0"/>
          <a:lstStyle>
            <a:lvl1pPr algn="r">
              <a:defRPr sz="1200"/>
            </a:lvl1pPr>
          </a:lstStyle>
          <a:p>
            <a:fld id="{C6E2330A-8D0C-445B-8B20-23313C7DE240}" type="datetimeFigureOut">
              <a:rPr lang="en-US" smtClean="0"/>
              <a:t>9/30/2026</a:t>
            </a:fld>
            <a:endParaRPr lang="en-US"/>
          </a:p>
        </p:txBody>
      </p:sp>
      <p:sp>
        <p:nvSpPr>
          <p:cNvPr id="4" name="Footer Placeholder 3"/>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r>
              <a:rPr lang="en-US"/>
              <a:t>1</a:t>
            </a:r>
          </a:p>
        </p:txBody>
      </p:sp>
      <p:sp>
        <p:nvSpPr>
          <p:cNvPr id="5" name="Slide Number Placeholder 4"/>
          <p:cNvSpPr>
            <a:spLocks noGrp="1"/>
          </p:cNvSpPr>
          <p:nvPr>
            <p:ph type="sldNum" sz="quarter" idx="3"/>
          </p:nvPr>
        </p:nvSpPr>
        <p:spPr>
          <a:xfrm>
            <a:off x="3856038" y="9440863"/>
            <a:ext cx="2949575" cy="498475"/>
          </a:xfrm>
          <a:prstGeom prst="rect">
            <a:avLst/>
          </a:prstGeom>
        </p:spPr>
        <p:txBody>
          <a:bodyPr vert="horz" lIns="91440" tIns="45720" rIns="91440" bIns="45720" rtlCol="0" anchor="b"/>
          <a:lstStyle>
            <a:lvl1pPr algn="r">
              <a:defRPr sz="1200"/>
            </a:lvl1pPr>
          </a:lstStyle>
          <a:p>
            <a:fld id="{E4EAB48F-E3FC-40BF-BD3F-3260D120AEE0}" type="slidenum">
              <a:rPr lang="en-US" smtClean="0"/>
              <a:t>‹#›</a:t>
            </a:fld>
            <a:endParaRPr lang="en-US"/>
          </a:p>
        </p:txBody>
      </p:sp>
    </p:spTree>
    <p:extLst>
      <p:ext uri="{BB962C8B-B14F-4D97-AF65-F5344CB8AC3E}">
        <p14:creationId xmlns:p14="http://schemas.microsoft.com/office/powerpoint/2010/main" val="190283965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575" cy="496888"/>
          </a:xfrm>
          <a:prstGeom prst="rect">
            <a:avLst/>
          </a:prstGeom>
        </p:spPr>
        <p:txBody>
          <a:bodyPr vert="horz" lIns="91440" tIns="45720" rIns="91440" bIns="45720" rtlCol="0"/>
          <a:lstStyle>
            <a:lvl1pPr algn="l" fontAlgn="auto">
              <a:spcBef>
                <a:spcPts val="0"/>
              </a:spcBef>
              <a:spcAft>
                <a:spcPts val="0"/>
              </a:spcAft>
              <a:defRPr kumimoji="0" sz="1200">
                <a:latin typeface="+mn-lt"/>
                <a:ea typeface="+mn-ea"/>
              </a:defRPr>
            </a:lvl1pPr>
          </a:lstStyle>
          <a:p>
            <a:pPr>
              <a:defRPr/>
            </a:pPr>
            <a:endParaRPr lang="ko-KR" altLang="en-US" dirty="0"/>
          </a:p>
        </p:txBody>
      </p:sp>
      <p:sp>
        <p:nvSpPr>
          <p:cNvPr id="3" name="날짜 개체 틀 2"/>
          <p:cNvSpPr>
            <a:spLocks noGrp="1"/>
          </p:cNvSpPr>
          <p:nvPr>
            <p:ph type="dt" idx="1"/>
          </p:nvPr>
        </p:nvSpPr>
        <p:spPr>
          <a:xfrm>
            <a:off x="3856038" y="0"/>
            <a:ext cx="2949575" cy="496888"/>
          </a:xfrm>
          <a:prstGeom prst="rect">
            <a:avLst/>
          </a:prstGeom>
        </p:spPr>
        <p:txBody>
          <a:bodyPr vert="horz" lIns="91440" tIns="45720" rIns="91440" bIns="45720" rtlCol="0"/>
          <a:lstStyle>
            <a:lvl1pPr algn="r" fontAlgn="auto">
              <a:spcBef>
                <a:spcPts val="0"/>
              </a:spcBef>
              <a:spcAft>
                <a:spcPts val="0"/>
              </a:spcAft>
              <a:defRPr kumimoji="0" sz="1200">
                <a:latin typeface="+mn-lt"/>
                <a:ea typeface="+mn-ea"/>
              </a:defRPr>
            </a:lvl1pPr>
          </a:lstStyle>
          <a:p>
            <a:pPr>
              <a:defRPr/>
            </a:pPr>
            <a:fld id="{A5588429-511D-4A72-A1D4-C32335397616}" type="datetimeFigureOut">
              <a:rPr lang="ko-KR" altLang="en-US"/>
              <a:pPr>
                <a:defRPr/>
              </a:pPr>
              <a:t>2026-09-30</a:t>
            </a:fld>
            <a:endParaRPr lang="ko-KR" altLang="en-US" dirty="0"/>
          </a:p>
        </p:txBody>
      </p:sp>
      <p:sp>
        <p:nvSpPr>
          <p:cNvPr id="4" name="슬라이드 이미지 개체 틀 3"/>
          <p:cNvSpPr>
            <a:spLocks noGrp="1" noRot="1" noChangeAspect="1"/>
          </p:cNvSpPr>
          <p:nvPr>
            <p:ph type="sldImg" idx="2"/>
          </p:nvPr>
        </p:nvSpPr>
        <p:spPr>
          <a:xfrm>
            <a:off x="712788" y="746125"/>
            <a:ext cx="5381625" cy="3725863"/>
          </a:xfrm>
          <a:prstGeom prst="rect">
            <a:avLst/>
          </a:prstGeom>
          <a:noFill/>
          <a:ln w="12700">
            <a:solidFill>
              <a:prstClr val="black"/>
            </a:solidFill>
          </a:ln>
        </p:spPr>
        <p:txBody>
          <a:bodyPr vert="horz" lIns="91440" tIns="45720" rIns="91440" bIns="45720" rtlCol="0" anchor="ctr"/>
          <a:lstStyle/>
          <a:p>
            <a:pPr lvl="0"/>
            <a:endParaRPr lang="ko-KR" altLang="en-US" noProof="0" dirty="0"/>
          </a:p>
        </p:txBody>
      </p:sp>
      <p:sp>
        <p:nvSpPr>
          <p:cNvPr id="5" name="슬라이드 노트 개체 틀 4"/>
          <p:cNvSpPr>
            <a:spLocks noGrp="1"/>
          </p:cNvSpPr>
          <p:nvPr>
            <p:ph type="body" sz="quarter" idx="3"/>
          </p:nvPr>
        </p:nvSpPr>
        <p:spPr>
          <a:xfrm>
            <a:off x="681038" y="4721225"/>
            <a:ext cx="5445125" cy="4471988"/>
          </a:xfrm>
          <a:prstGeom prst="rect">
            <a:avLst/>
          </a:prstGeom>
        </p:spPr>
        <p:txBody>
          <a:bodyPr vert="horz" lIns="91440" tIns="45720" rIns="91440" bIns="45720" rtlCol="0">
            <a:normAutofit/>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6" name="바닥글 개체 틀 5"/>
          <p:cNvSpPr>
            <a:spLocks noGrp="1"/>
          </p:cNvSpPr>
          <p:nvPr>
            <p:ph type="ftr" sz="quarter" idx="4"/>
          </p:nvPr>
        </p:nvSpPr>
        <p:spPr>
          <a:xfrm>
            <a:off x="0" y="9440863"/>
            <a:ext cx="2949575" cy="496887"/>
          </a:xfrm>
          <a:prstGeom prst="rect">
            <a:avLst/>
          </a:prstGeom>
        </p:spPr>
        <p:txBody>
          <a:bodyPr vert="horz" lIns="91440" tIns="45720" rIns="91440" bIns="45720" rtlCol="0" anchor="b"/>
          <a:lstStyle>
            <a:lvl1pPr algn="l" fontAlgn="auto">
              <a:spcBef>
                <a:spcPts val="0"/>
              </a:spcBef>
              <a:spcAft>
                <a:spcPts val="0"/>
              </a:spcAft>
              <a:defRPr kumimoji="0" sz="1200">
                <a:latin typeface="+mn-lt"/>
                <a:ea typeface="+mn-ea"/>
              </a:defRPr>
            </a:lvl1pPr>
          </a:lstStyle>
          <a:p>
            <a:pPr>
              <a:defRPr/>
            </a:pPr>
            <a:r>
              <a:rPr lang="en-US" altLang="ko-KR"/>
              <a:t>1</a:t>
            </a:r>
            <a:endParaRPr lang="ko-KR" altLang="en-US" dirty="0"/>
          </a:p>
        </p:txBody>
      </p:sp>
      <p:sp>
        <p:nvSpPr>
          <p:cNvPr id="7" name="슬라이드 번호 개체 틀 6"/>
          <p:cNvSpPr>
            <a:spLocks noGrp="1"/>
          </p:cNvSpPr>
          <p:nvPr>
            <p:ph type="sldNum" sz="quarter" idx="5"/>
          </p:nvPr>
        </p:nvSpPr>
        <p:spPr>
          <a:xfrm>
            <a:off x="3856038" y="9440863"/>
            <a:ext cx="2949575" cy="496887"/>
          </a:xfrm>
          <a:prstGeom prst="rect">
            <a:avLst/>
          </a:prstGeom>
        </p:spPr>
        <p:txBody>
          <a:bodyPr vert="horz" lIns="91440" tIns="45720" rIns="91440" bIns="45720" rtlCol="0" anchor="b"/>
          <a:lstStyle>
            <a:lvl1pPr algn="r" fontAlgn="auto">
              <a:spcBef>
                <a:spcPts val="0"/>
              </a:spcBef>
              <a:spcAft>
                <a:spcPts val="0"/>
              </a:spcAft>
              <a:defRPr kumimoji="0" sz="1200">
                <a:latin typeface="+mn-lt"/>
                <a:ea typeface="+mn-ea"/>
              </a:defRPr>
            </a:lvl1pPr>
          </a:lstStyle>
          <a:p>
            <a:pPr>
              <a:defRPr/>
            </a:pPr>
            <a:fld id="{97375BCD-8584-40B1-BC96-764EEABFA733}" type="slidenum">
              <a:rPr lang="ko-KR" altLang="en-US"/>
              <a:pPr>
                <a:defRPr/>
              </a:pPr>
              <a:t>‹#›</a:t>
            </a:fld>
            <a:endParaRPr lang="ko-KR" altLang="en-US" dirty="0"/>
          </a:p>
        </p:txBody>
      </p:sp>
    </p:spTree>
    <p:extLst>
      <p:ext uri="{BB962C8B-B14F-4D97-AF65-F5344CB8AC3E}">
        <p14:creationId xmlns:p14="http://schemas.microsoft.com/office/powerpoint/2010/main" val="1233377560"/>
      </p:ext>
    </p:extLst>
  </p:cSld>
  <p:clrMap bg1="lt1" tx1="dk1" bg2="lt2" tx2="dk2" accent1="accent1" accent2="accent2" accent3="accent3" accent4="accent4" accent5="accent5" accent6="accent6" hlink="hlink" folHlink="folHlink"/>
  <p:hf hdr="0" dt="0"/>
  <p:notesStyle>
    <a:lvl1pPr algn="l" rtl="0" eaLnBrk="0" fontAlgn="base" latinLnBrk="1" hangingPunct="0">
      <a:spcBef>
        <a:spcPct val="30000"/>
      </a:spcBef>
      <a:spcAft>
        <a:spcPct val="0"/>
      </a:spcAft>
      <a:defRPr sz="1200" kern="1200">
        <a:solidFill>
          <a:schemeClr val="tx1"/>
        </a:solidFill>
        <a:latin typeface="+mn-lt"/>
        <a:ea typeface="+mn-ea"/>
        <a:cs typeface="+mn-cs"/>
      </a:defRPr>
    </a:lvl1pPr>
    <a:lvl2pPr marL="457200" algn="l" rtl="0" eaLnBrk="0" fontAlgn="base" latinLnBrk="1" hangingPunct="0">
      <a:spcBef>
        <a:spcPct val="30000"/>
      </a:spcBef>
      <a:spcAft>
        <a:spcPct val="0"/>
      </a:spcAft>
      <a:defRPr sz="1200" kern="1200">
        <a:solidFill>
          <a:schemeClr val="tx1"/>
        </a:solidFill>
        <a:latin typeface="+mn-lt"/>
        <a:ea typeface="+mn-ea"/>
        <a:cs typeface="+mn-cs"/>
      </a:defRPr>
    </a:lvl2pPr>
    <a:lvl3pPr marL="914400" algn="l" rtl="0" eaLnBrk="0" fontAlgn="base" latinLnBrk="1" hangingPunct="0">
      <a:spcBef>
        <a:spcPct val="30000"/>
      </a:spcBef>
      <a:spcAft>
        <a:spcPct val="0"/>
      </a:spcAft>
      <a:defRPr sz="1200" kern="1200">
        <a:solidFill>
          <a:schemeClr val="tx1"/>
        </a:solidFill>
        <a:latin typeface="+mn-lt"/>
        <a:ea typeface="+mn-ea"/>
        <a:cs typeface="+mn-cs"/>
      </a:defRPr>
    </a:lvl3pPr>
    <a:lvl4pPr marL="1371600" algn="l" rtl="0" eaLnBrk="0" fontAlgn="base" latinLnBrk="1" hangingPunct="0">
      <a:spcBef>
        <a:spcPct val="30000"/>
      </a:spcBef>
      <a:spcAft>
        <a:spcPct val="0"/>
      </a:spcAft>
      <a:defRPr sz="1200" kern="1200">
        <a:solidFill>
          <a:schemeClr val="tx1"/>
        </a:solidFill>
        <a:latin typeface="+mn-lt"/>
        <a:ea typeface="+mn-ea"/>
        <a:cs typeface="+mn-cs"/>
      </a:defRPr>
    </a:lvl4pPr>
    <a:lvl5pPr marL="1828800" algn="l" rtl="0" eaLnBrk="0" fontAlgn="base" latinLnBrk="1" hangingPunct="0">
      <a:spcBef>
        <a:spcPct val="30000"/>
      </a:spcBef>
      <a:spcAft>
        <a:spcPct val="0"/>
      </a:spcAft>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슬라이드 이미지 개체 틀 1"/>
          <p:cNvSpPr>
            <a:spLocks noGrp="1" noRot="1" noChangeAspect="1" noTextEdit="1"/>
          </p:cNvSpPr>
          <p:nvPr>
            <p:ph type="sldImg"/>
          </p:nvPr>
        </p:nvSpPr>
        <p:spPr>
          <a:xfrm>
            <a:off x="712788" y="746125"/>
            <a:ext cx="5380037" cy="3725863"/>
          </a:xfrm>
          <a:ln/>
        </p:spPr>
      </p:sp>
      <p:sp>
        <p:nvSpPr>
          <p:cNvPr id="19459" name="슬라이드 노트 개체 틀 2"/>
          <p:cNvSpPr>
            <a:spLocks noGrp="1"/>
          </p:cNvSpPr>
          <p:nvPr>
            <p:ph type="body" idx="1"/>
          </p:nvPr>
        </p:nvSpPr>
        <p:spPr>
          <a:xfrm>
            <a:off x="681038" y="4722813"/>
            <a:ext cx="5445125" cy="4470400"/>
          </a:xfrm>
          <a:noFill/>
          <a:ln/>
        </p:spPr>
        <p:txBody>
          <a:bodyPr lIns="91742" tIns="45871" rIns="91742" bIns="45871"/>
          <a:lstStyle/>
          <a:p>
            <a:endParaRPr lang="ko-KR" altLang="en-US" dirty="0"/>
          </a:p>
        </p:txBody>
      </p:sp>
      <p:sp>
        <p:nvSpPr>
          <p:cNvPr id="19460" name="슬라이드 번호 개체 틀 3"/>
          <p:cNvSpPr txBox="1">
            <a:spLocks noGrp="1"/>
          </p:cNvSpPr>
          <p:nvPr/>
        </p:nvSpPr>
        <p:spPr bwMode="auto">
          <a:xfrm>
            <a:off x="3856038" y="9440863"/>
            <a:ext cx="2949575" cy="496887"/>
          </a:xfrm>
          <a:prstGeom prst="rect">
            <a:avLst/>
          </a:prstGeom>
          <a:noFill/>
          <a:ln w="9525">
            <a:noFill/>
            <a:miter lim="800000"/>
            <a:headEnd/>
            <a:tailEnd/>
          </a:ln>
        </p:spPr>
        <p:txBody>
          <a:bodyPr lIns="91742" tIns="45871" rIns="91742" bIns="45871" anchor="b"/>
          <a:lstStyle/>
          <a:p>
            <a:pPr algn="r" defTabSz="917575"/>
            <a:fld id="{507ACCBB-C431-42CE-B77B-8DA086166DDE}" type="slidenum">
              <a:rPr lang="ko-KR" altLang="en-US">
                <a:latin typeface="굴림" pitchFamily="50" charset="-127"/>
              </a:rPr>
              <a:pPr algn="r" defTabSz="917575"/>
              <a:t>1</a:t>
            </a:fld>
            <a:endParaRPr lang="en-US" altLang="ko-KR" dirty="0">
              <a:latin typeface="굴림" pitchFamily="50" charset="-127"/>
            </a:endParaRPr>
          </a:p>
        </p:txBody>
      </p:sp>
    </p:spTree>
    <p:extLst>
      <p:ext uri="{BB962C8B-B14F-4D97-AF65-F5344CB8AC3E}">
        <p14:creationId xmlns:p14="http://schemas.microsoft.com/office/powerpoint/2010/main" val="978713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슬라이드 이미지 개체 틀 1"/>
          <p:cNvSpPr>
            <a:spLocks noGrp="1" noRot="1" noChangeAspect="1" noTextEdit="1"/>
          </p:cNvSpPr>
          <p:nvPr>
            <p:ph type="sldImg"/>
          </p:nvPr>
        </p:nvSpPr>
        <p:spPr bwMode="auto">
          <a:xfrm>
            <a:off x="3124200" y="511175"/>
            <a:ext cx="3686175" cy="2551113"/>
          </a:xfrm>
          <a:noFill/>
          <a:ln>
            <a:solidFill>
              <a:srgbClr val="000000"/>
            </a:solidFill>
            <a:miter lim="800000"/>
            <a:headEnd/>
            <a:tailEnd/>
          </a:ln>
        </p:spPr>
      </p:sp>
      <p:sp>
        <p:nvSpPr>
          <p:cNvPr id="28675" name="슬라이드 노트 개체 틀 2"/>
          <p:cNvSpPr>
            <a:spLocks noGrp="1"/>
          </p:cNvSpPr>
          <p:nvPr>
            <p:ph type="body" idx="1"/>
          </p:nvPr>
        </p:nvSpPr>
        <p:spPr bwMode="auto">
          <a:xfrm>
            <a:off x="993775" y="3235325"/>
            <a:ext cx="7951788" cy="3060700"/>
          </a:xfrm>
          <a:noFill/>
        </p:spPr>
        <p:txBody>
          <a:bodyPr wrap="square" lIns="90471" tIns="45234" rIns="90471" bIns="45234" numCol="1" anchor="t" anchorCtr="0" compatLnSpc="1">
            <a:prstTxWarp prst="textNoShape">
              <a:avLst/>
            </a:prstTxWarp>
          </a:bodyPr>
          <a:lstStyle/>
          <a:p>
            <a:pPr eaLnBrk="1" hangingPunct="1">
              <a:spcBef>
                <a:spcPct val="0"/>
              </a:spcBef>
            </a:pPr>
            <a:r>
              <a:rPr lang="en-US" altLang="ko-KR" dirty="0"/>
              <a:t>Define: 3/9~3/31 (about 3 weeks)</a:t>
            </a:r>
          </a:p>
          <a:p>
            <a:pPr eaLnBrk="1" hangingPunct="1">
              <a:spcBef>
                <a:spcPct val="0"/>
              </a:spcBef>
            </a:pPr>
            <a:r>
              <a:rPr lang="en-US" altLang="ko-KR" dirty="0"/>
              <a:t>Measure: 4/1~4/30 (4 weeks)</a:t>
            </a:r>
          </a:p>
          <a:p>
            <a:pPr eaLnBrk="1" hangingPunct="1">
              <a:spcBef>
                <a:spcPct val="0"/>
              </a:spcBef>
            </a:pPr>
            <a:r>
              <a:rPr lang="en-US" altLang="ko-KR" dirty="0"/>
              <a:t>Analyze: 5/1~5/18 (about 3 weeks)</a:t>
            </a:r>
          </a:p>
          <a:p>
            <a:pPr eaLnBrk="1" hangingPunct="1">
              <a:spcBef>
                <a:spcPct val="0"/>
              </a:spcBef>
            </a:pPr>
            <a:r>
              <a:rPr lang="en-US" altLang="ko-KR" dirty="0"/>
              <a:t>Improve: 5/19~6/14 (4 weeks)</a:t>
            </a:r>
          </a:p>
          <a:p>
            <a:pPr eaLnBrk="1" hangingPunct="1">
              <a:spcBef>
                <a:spcPct val="0"/>
              </a:spcBef>
            </a:pPr>
            <a:r>
              <a:rPr lang="en-US" altLang="ko-KR" dirty="0"/>
              <a:t>Control: 6/15~9/20 (monitoring)</a:t>
            </a:r>
            <a:endParaRPr lang="ko-KR" altLang="en-US" dirty="0"/>
          </a:p>
        </p:txBody>
      </p:sp>
      <p:sp>
        <p:nvSpPr>
          <p:cNvPr id="28676" name="슬라이드 번호 개체 틀 3"/>
          <p:cNvSpPr txBox="1">
            <a:spLocks noGrp="1"/>
          </p:cNvSpPr>
          <p:nvPr/>
        </p:nvSpPr>
        <p:spPr bwMode="auto">
          <a:xfrm>
            <a:off x="5634038" y="6465888"/>
            <a:ext cx="4303712" cy="339725"/>
          </a:xfrm>
          <a:prstGeom prst="rect">
            <a:avLst/>
          </a:prstGeom>
          <a:noFill/>
          <a:ln w="9525">
            <a:noFill/>
            <a:miter lim="800000"/>
            <a:headEnd/>
            <a:tailEnd/>
          </a:ln>
        </p:spPr>
        <p:txBody>
          <a:bodyPr lIns="90471" tIns="45234" rIns="90471" bIns="45234" anchor="b"/>
          <a:lstStyle/>
          <a:p>
            <a:pPr algn="r" defTabSz="903288" eaLnBrk="0" latinLnBrk="0" hangingPunct="0"/>
            <a:fld id="{39B64D8B-A44D-4D7E-93C9-3A4A87537696}" type="slidenum">
              <a:rPr kumimoji="0" lang="ko-KR" altLang="en-US" sz="1200" b="1" smtClean="0">
                <a:solidFill>
                  <a:srgbClr val="000000"/>
                </a:solidFill>
                <a:latin typeface="Arial" panose="020B0604020202020204" pitchFamily="34" charset="0"/>
                <a:ea typeface="돋움" panose="020B0600000101010101" pitchFamily="50" charset="-127"/>
              </a:rPr>
              <a:pPr algn="r" defTabSz="903288" eaLnBrk="0" latinLnBrk="0" hangingPunct="0"/>
              <a:t>2</a:t>
            </a:fld>
            <a:endParaRPr kumimoji="0" lang="en-US" altLang="ko-KR" sz="1200" b="1">
              <a:solidFill>
                <a:srgbClr val="000000"/>
              </a:solidFill>
              <a:latin typeface="Arial" panose="020B0604020202020204" pitchFamily="34" charset="0"/>
              <a:ea typeface="돋움" panose="020B0600000101010101" pitchFamily="50" charset="-127"/>
            </a:endParaRPr>
          </a:p>
        </p:txBody>
      </p:sp>
    </p:spTree>
    <p:extLst>
      <p:ext uri="{BB962C8B-B14F-4D97-AF65-F5344CB8AC3E}">
        <p14:creationId xmlns:p14="http://schemas.microsoft.com/office/powerpoint/2010/main" val="34314653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181909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6838299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50" b="0" i="0" u="none" strike="noStrike" kern="1200" baseline="0" dirty="0">
                <a:solidFill>
                  <a:schemeClr val="tx1"/>
                </a:solidFill>
                <a:latin typeface="Arial" panose="020B0604020202020204" pitchFamily="34" charset="0"/>
                <a:ea typeface="+mn-ea"/>
                <a:cs typeface="Arial" panose="020B0604020202020204" pitchFamily="34" charset="0"/>
              </a:rPr>
              <a:t xml:space="preserve">Output level resolution: 0.01 Cd/m²</a:t>
            </a:r>
            <a:endParaRPr lang="en-US" sz="1050" b="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6</a:t>
            </a:fld>
            <a:endParaRPr lang="ko-KR" altLang="en-US" dirty="0"/>
          </a:p>
        </p:txBody>
      </p:sp>
    </p:spTree>
    <p:extLst>
      <p:ext uri="{BB962C8B-B14F-4D97-AF65-F5344CB8AC3E}">
        <p14:creationId xmlns:p14="http://schemas.microsoft.com/office/powerpoint/2010/main" val="21442636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Step 1: Run chart: all measurements should stay inside Reference ± 10% of the tolerance (910 ± 120 = 790 ~ 1030 Cd/m²).</a:t>
            </a:r>
          </a:p>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Step 2: Check the p-value to assess the bias (p-value vs. α = 0.05).</a:t>
            </a:r>
          </a:p>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Step 3: Check Cg and Cgk to assess the capability of the measurement system (benchmark: ≥ 1.33).</a:t>
            </a:r>
          </a:p>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Cg (potential gage capability): compares 20% of the tolerance with the spread (6 x s) of the repeated measurements, i.e. repeatability only. Criterion: Cg ≥ 1.33.</a:t>
            </a:r>
            <a:endPar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endParaRPr>
          </a:p>
          <a:p>
            <a:r>
              <a:rPr kumimoji="1" lang="en-US" altLang="ja-JP" sz="800" dirty="0" err="1">
                <a:latin typeface="Arial Unicode MS" panose="020B0604020202020204" pitchFamily="34" charset="-128"/>
                <a:ea typeface="Arial Unicode MS" panose="020B0604020202020204" pitchFamily="34" charset="-128"/>
                <a:cs typeface="Arial Unicode MS" panose="020B0604020202020204" pitchFamily="34" charset="-128"/>
              </a:rPr>
              <a:t>Cgk (gage capability index): like Cg but also takes the bias into account (distance between the mean of the measurements and the reference value). Criterion: Cgk ≥ 1.33.</a:t>
            </a:r>
          </a:p>
          <a:p>
            <a:endParaRPr kumimoji="1" lang="ja-JP" altLang="en-US" sz="800" dirty="0">
              <a:latin typeface="Arial Unicode MS" panose="020B0604020202020204" pitchFamily="34" charset="-128"/>
              <a:ea typeface="Arial Unicode MS" panose="020B0604020202020204" pitchFamily="34" charset="-128"/>
              <a:cs typeface="Arial Unicode MS" panose="020B0604020202020204" pitchFamily="34" charset="-128"/>
            </a:endParaRPr>
          </a:p>
          <a:p>
            <a:endParaRPr kumimoji="1" lang="ja-JP" altLang="en-US" sz="10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8</a:t>
            </a:fld>
            <a:endParaRPr lang="ko-KR" altLang="en-US" dirty="0"/>
          </a:p>
        </p:txBody>
      </p:sp>
    </p:spTree>
    <p:extLst>
      <p:ext uri="{BB962C8B-B14F-4D97-AF65-F5344CB8AC3E}">
        <p14:creationId xmlns:p14="http://schemas.microsoft.com/office/powerpoint/2010/main" val="24042494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sz="800" b="0" i="0" u="none" strike="noStrike" cap="none" normalizeH="0" baseline="0" dirty="0">
                <a:ln>
                  <a:noFill/>
                </a:ln>
                <a:solidFill>
                  <a:srgbClr val="FF0000"/>
                </a:solidFill>
                <a:effectLst/>
                <a:latin typeface="Arial" charset="0"/>
                <a:ea typeface="돋움" pitchFamily="50" charset="-127"/>
              </a:rPr>
              <a:t>H0 (ANOVA, part effect): all part means are equal</a:t>
            </a:r>
          </a:p>
          <a:p>
            <a:pPr marL="0" marR="0" indent="0" defTabSz="914400" rtl="0" eaLnBrk="1" fontAlgn="base" latinLnBrk="0" hangingPunct="1">
              <a:lnSpc>
                <a:spcPct val="100000"/>
              </a:lnSpc>
              <a:spcBef>
                <a:spcPct val="0"/>
              </a:spcBef>
              <a:spcAft>
                <a:spcPct val="0"/>
              </a:spcAft>
              <a:buClrTx/>
              <a:buSzTx/>
              <a:buFontTx/>
              <a:buNone/>
              <a:tabLst/>
            </a:pPr>
            <a:r>
              <a:rPr kumimoji="1" lang="en-US" sz="800" b="0" i="0" u="none" strike="noStrike" cap="none" normalizeH="0" baseline="0" dirty="0">
                <a:ln>
                  <a:noFill/>
                </a:ln>
                <a:solidFill>
                  <a:srgbClr val="FF0000"/>
                </a:solidFill>
                <a:effectLst/>
                <a:latin typeface="Arial" charset="0"/>
                <a:ea typeface="돋움" pitchFamily="50" charset="-127"/>
              </a:rPr>
              <a:t>H1: at least one part mean is different</a:t>
            </a: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100" b="0" i="0" u="none" strike="noStrike" cap="none" normalizeH="0" baseline="0" dirty="0">
                <a:ln>
                  <a:noFill/>
                </a:ln>
                <a:solidFill>
                  <a:schemeClr val="tx1"/>
                </a:solidFill>
                <a:effectLst/>
                <a:latin typeface="Arial" charset="0"/>
                <a:ea typeface="돋움" pitchFamily="50" charset="-127"/>
              </a:rPr>
              <a:t>Follow AIAG guidelines: %Study Var and %Tolerance &lt; 10% = acceptable, 10-30% = conditionally acceptable, &gt; 30% = unacceptable; %Contribution &lt; 1% = acceptable, &gt; 9% = unacceptable. Here %Contribution (71.56%) and %Study Var (84.59%) are far above the limits and NDC = 1 &lt; 5, so the measurement system is NOT acceptable (only %Tolerance = 8.33% is below 10%). The ANOVA p-value (0.077 &gt; 0.05) also shows that the 25 selected parts cannot be distinguished from the repeatability error.</a:t>
            </a:r>
            <a:endParaRPr kumimoji="1" lang="en-US" altLang="ja-JP" sz="100" b="0" i="0" u="none" strike="noStrike" cap="none" normalizeH="0" baseline="0" dirty="0">
              <a:ln>
                <a:noFill/>
              </a:ln>
              <a:solidFill>
                <a:schemeClr val="tx1"/>
              </a:solidFill>
              <a:effectLst/>
              <a:latin typeface="Arial" charset="0"/>
              <a:ea typeface="돋움" pitchFamily="50" charset="-127"/>
            </a:endParaRPr>
          </a:p>
          <a:p>
            <a:pPr algn="l"/>
            <a:endParaRPr lang="en-US" altLang="ja-JP" sz="100" dirty="0"/>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r>
              <a:rPr kumimoji="1" lang="en-US" sz="800" b="0" i="0" u="none" strike="noStrike" cap="none" normalizeH="0" baseline="0" dirty="0">
                <a:ln>
                  <a:noFill/>
                </a:ln>
                <a:solidFill>
                  <a:srgbClr val="FF0000"/>
                </a:solidFill>
                <a:effectLst/>
                <a:latin typeface="Arial" charset="0"/>
                <a:ea typeface="돋움" pitchFamily="50" charset="-127"/>
              </a:rPr>
              <a:t>NDC (number of distinct categories): the number of groups of parts the measurement system can reliably distinguish; NDC ≥ 5 is required.</a:t>
            </a:r>
            <a:endParaRPr kumimoji="1" lang="en-US" altLang="ja-JP" sz="600" b="0" i="0" u="none" strike="noStrike" cap="none" normalizeH="0" baseline="0" dirty="0">
              <a:ln>
                <a:noFill/>
              </a:ln>
              <a:solidFill>
                <a:schemeClr val="tx1"/>
              </a:solidFill>
              <a:effectLst/>
              <a:latin typeface="Arial" charset="0"/>
              <a:ea typeface="돋움" pitchFamily="50" charset="-127"/>
            </a:endParaRPr>
          </a:p>
          <a:p>
            <a:pPr algn="l"/>
            <a:endParaRPr lang="en-US" altLang="ja-JP" sz="600" dirty="0"/>
          </a:p>
          <a:p>
            <a:endParaRPr kumimoji="1" lang="ja-JP" altLang="en-US" sz="600" dirty="0"/>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10</a:t>
            </a:fld>
            <a:endParaRPr lang="ko-KR" altLang="en-US" dirty="0"/>
          </a:p>
        </p:txBody>
      </p:sp>
    </p:spTree>
    <p:extLst>
      <p:ext uri="{BB962C8B-B14F-4D97-AF65-F5344CB8AC3E}">
        <p14:creationId xmlns:p14="http://schemas.microsoft.com/office/powerpoint/2010/main" val="30708541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3706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3255490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47468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47468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47468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1902185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52500" y="685800"/>
            <a:ext cx="4953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78F89C-25FB-47FE-9A04-A7BE919D4590}" type="slidenum">
              <a:rPr lang="en-US" smtClean="0"/>
              <a:pPr/>
              <a:t>17</a:t>
            </a:fld>
            <a:endParaRPr lang="en-US"/>
          </a:p>
        </p:txBody>
      </p:sp>
    </p:spTree>
    <p:extLst>
      <p:ext uri="{BB962C8B-B14F-4D97-AF65-F5344CB8AC3E}">
        <p14:creationId xmlns:p14="http://schemas.microsoft.com/office/powerpoint/2010/main" val="35411091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kumimoji="1" lang="ja-JP" altLang="en-US" sz="10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21</a:t>
            </a:fld>
            <a:endParaRPr lang="ko-KR" altLang="en-US" dirty="0"/>
          </a:p>
        </p:txBody>
      </p:sp>
    </p:spTree>
    <p:extLst>
      <p:ext uri="{BB962C8B-B14F-4D97-AF65-F5344CB8AC3E}">
        <p14:creationId xmlns:p14="http://schemas.microsoft.com/office/powerpoint/2010/main" val="12208190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Assess the variation of each source and of any additional factor that affects the measurement system.</a:t>
            </a: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H0 (ANOVA, part effect): all part means are equal</a:t>
            </a: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H1: at least one part mean is different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600" b="0" i="0" u="none" strike="noStrike" cap="none" normalizeH="0" baseline="0" dirty="0" err="1">
                <a:ln>
                  <a:noFill/>
                </a:ln>
                <a:solidFill>
                  <a:schemeClr val="tx1"/>
                </a:solidFill>
                <a:effectLst/>
                <a:latin typeface="Arial" charset="0"/>
                <a:ea typeface="돋움" pitchFamily="50" charset="-127"/>
              </a:rPr>
              <a:t>VarComp %Contribution: almost all of the variation comes from part-to-part, so the measurement system can reliably distinguish between parts</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600" b="0" i="0" u="none" strike="noStrike" cap="none" normalizeH="0" baseline="0" dirty="0">
                <a:ln>
                  <a:noFill/>
                </a:ln>
                <a:solidFill>
                  <a:schemeClr val="tx1"/>
                </a:solidFill>
                <a:effectLst/>
                <a:latin typeface="Arial" charset="0"/>
                <a:ea typeface="돋움" pitchFamily="50" charset="-127"/>
              </a:rPr>
              <a:t>%Study var: </a:t>
            </a:r>
            <a:r>
              <a:rPr lang="en-US" sz="1200" b="0" i="0" kern="1200" dirty="0">
                <a:solidFill>
                  <a:schemeClr val="tx1"/>
                </a:solidFill>
                <a:effectLst/>
                <a:latin typeface="+mn-lt"/>
                <a:ea typeface="+mn-ea"/>
                <a:cs typeface="+mn-cs"/>
              </a:rPr>
              <a:t>compare the measurement system variation to the total variation</a:t>
            </a:r>
            <a:endParaRPr kumimoji="1" lang="en-US" altLang="ja-JP" sz="600" b="0" i="0" u="none" strike="noStrike" cap="none" normalizeH="0" baseline="0" dirty="0">
              <a:ln>
                <a:noFill/>
              </a:ln>
              <a:solidFill>
                <a:schemeClr val="tx1"/>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Follow AIAG guidelines: if %Study Var and %Tolerance are below 10% (and %Contribution below 1%), the measurement system is acceptable. Here all three are below the limits and NDC ≥ 5, so the measurement system is Good.</a:t>
            </a:r>
            <a:endParaRPr kumimoji="1" lang="en-US" altLang="ja-JP" sz="600" b="0" i="0" u="none" strike="noStrike" cap="none" normalizeH="0" baseline="0" dirty="0">
              <a:ln>
                <a:noFill/>
              </a:ln>
              <a:solidFill>
                <a:schemeClr val="tx1"/>
              </a:solidFill>
              <a:effectLst/>
              <a:latin typeface="Arial" charset="0"/>
              <a:ea typeface="돋움" pitchFamily="50" charset="-127"/>
            </a:endParaRPr>
          </a:p>
        </p:txBody>
      </p:sp>
      <p:sp>
        <p:nvSpPr>
          <p:cNvPr id="4" name="Footer Placeholder 3"/>
          <p:cNvSpPr>
            <a:spLocks noGrp="1"/>
          </p:cNvSpPr>
          <p:nvPr>
            <p:ph type="ftr" sz="quarter" idx="4"/>
          </p:nvPr>
        </p:nvSpPr>
        <p:spPr/>
        <p:txBody>
          <a:bodyPr/>
          <a:lstStyle/>
          <a:p>
            <a:pPr>
              <a:defRPr/>
            </a:pPr>
            <a:r>
              <a:rPr lang="en-US" altLang="ko-KR"/>
              <a:t>1</a:t>
            </a:r>
            <a:endParaRPr lang="ko-KR" altLang="en-US" dirty="0"/>
          </a:p>
        </p:txBody>
      </p:sp>
      <p:sp>
        <p:nvSpPr>
          <p:cNvPr id="5" name="Slide Number Placeholder 4"/>
          <p:cNvSpPr>
            <a:spLocks noGrp="1"/>
          </p:cNvSpPr>
          <p:nvPr>
            <p:ph type="sldNum" sz="quarter" idx="5"/>
          </p:nvPr>
        </p:nvSpPr>
        <p:spPr/>
        <p:txBody>
          <a:bodyPr/>
          <a:lstStyle/>
          <a:p>
            <a:pPr>
              <a:defRPr/>
            </a:pPr>
            <a:fld id="{97375BCD-8584-40B1-BC96-764EEABFA733}" type="slidenum">
              <a:rPr lang="ko-KR" altLang="en-US" smtClean="0"/>
              <a:pPr>
                <a:defRPr/>
              </a:pPr>
              <a:t>23</a:t>
            </a:fld>
            <a:endParaRPr lang="ko-KR" altLang="en-US" dirty="0"/>
          </a:p>
        </p:txBody>
      </p:sp>
    </p:spTree>
    <p:extLst>
      <p:ext uri="{BB962C8B-B14F-4D97-AF65-F5344CB8AC3E}">
        <p14:creationId xmlns:p14="http://schemas.microsoft.com/office/powerpoint/2010/main" val="39937297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kumimoji="1" lang="ja-JP" altLang="en-US" dirty="0"/>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 những sample được lấy là giống hệt nhau, chỉ tồn tại chance cause (nguyên nhân ngẫu nhiên) trong mỗi nhóm.</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to choose samples for process capability? Take n consecutive units from each lot (n ≤ 5) at fixed time intervals, e.g. every 2 hours over several consecutive days. Purpose: the conditions of the units in one subgroup are the same, so only common-cause (chance) variation exists within the subgroup. Why n ≤ 5? From the 6th unit onwards the conditions are no longer the same as for the first unit.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Why use a control chart? A control chart is used to detect abnormal behavior of the process at an early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25</a:t>
            </a:fld>
            <a:endParaRPr lang="ko-KR" altLang="en-US" dirty="0"/>
          </a:p>
        </p:txBody>
      </p:sp>
    </p:spTree>
    <p:extLst>
      <p:ext uri="{BB962C8B-B14F-4D97-AF65-F5344CB8AC3E}">
        <p14:creationId xmlns:p14="http://schemas.microsoft.com/office/powerpoint/2010/main" val="16879720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kumimoji="1" lang="ja-JP" altLang="en-US" dirty="0"/>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 những sample được lấy là giống hệt nhau, chỉ tồn tại chance cause (nguyên nhân ngẫu nhiên) trong mỗi nhóm.</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to choose samples for process capability? Take n consecutive units from each lot (n ≤ 5) at fixed time intervals, e.g. every 2 hours over several consecutive days. Purpose: the conditions of the units in one subgroup are the same, so only common-cause (chance) variation exists within the subgroup. Why n ≤ 5? From the 6th unit onwards the conditions are no longer the same as for the first unit.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Why use a control chart? A control chart is used to detect abnormal behavior of the process at an early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28</a:t>
            </a:fld>
            <a:endParaRPr lang="ko-KR" altLang="en-US" dirty="0"/>
          </a:p>
        </p:txBody>
      </p:sp>
    </p:spTree>
    <p:extLst>
      <p:ext uri="{BB962C8B-B14F-4D97-AF65-F5344CB8AC3E}">
        <p14:creationId xmlns:p14="http://schemas.microsoft.com/office/powerpoint/2010/main" val="34062332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kumimoji="1" lang="en-US" altLang="ja-JP" b="1" dirty="0" err="1"/>
                  <a:t>Zst: within (short-term), Zlt: overall (long-term). The short-term process capability (Zst) represents the best capability of the current process. Zlt represents the process capability from the customer’s perspective.</a:t>
                </a:r>
              </a:p>
              <a:p>
                <a:r>
                  <a:rPr kumimoji="1" lang="en-US" altLang="ja-JP" b="1" dirty="0"/>
                  <a:t>Over time the quality deteriorates because of tool and equipment wear, variation between workers and changes of environment. Zshift = Zst − Zlt indicates the degree of deterioration; a shift of about 1.0 to 1.5 is typical. If Zshift is greater than 1.5, management (control) is judged not good; if Zshift is less than 1.5, management is judged good.</a:t>
                </a:r>
              </a:p>
              <a:p>
                <a:r>
                  <a:rPr kumimoji="1" lang="en-US" altLang="ja-JP" dirty="0" err="1"/>
                  <a:t>Cpk</a:t>
                </a:r>
                <a:r>
                  <a:rPr kumimoji="1" lang="en-US" altLang="ja-JP" dirty="0"/>
                  <a:t> is a measure of the potential capability of the process and equals the minimum of CPU and CPL. </a:t>
                </a:r>
                <a:r>
                  <a:rPr kumimoji="1" lang="en-US" altLang="ja-JP" dirty="0" err="1"/>
                  <a:t>Cpk</a:t>
                </a:r>
                <a:r>
                  <a:rPr kumimoji="1" lang="en-US" altLang="ja-JP" dirty="0"/>
                  <a:t> is a ratio that compares two values:</a:t>
                </a:r>
              </a:p>
              <a:p>
                <a:r>
                  <a:rPr kumimoji="1" lang="en-US" altLang="ja-JP" dirty="0"/>
                  <a:t>The distance from the process mean to the closest specification limit (USL or LSL)</a:t>
                </a:r>
              </a:p>
              <a:p>
                <a:r>
                  <a:rPr kumimoji="1" lang="en-US" altLang="ja-JP" dirty="0"/>
                  <a:t>The one-sided spread of the process (the 3-σ variation) based on the within-subgroup standard deviation</a:t>
                </a:r>
              </a:p>
              <a:p>
                <a:r>
                  <a:rPr kumimoji="1" lang="en-US" altLang="ja-JP" dirty="0" err="1"/>
                  <a:t>Cpk</a:t>
                </a:r>
                <a:r>
                  <a:rPr kumimoji="1" lang="en-US" altLang="ja-JP" dirty="0"/>
                  <a:t> considers both the location and the variation (within subgroups) of the process.</a:t>
                </a:r>
                <a:endParaRPr kumimoji="1" lang="ja-JP" altLang="en-US" dirty="0"/>
              </a:p>
              <a:p>
                <a:endParaRPr kumimoji="1" lang="ja-JP" altLang="en-US" dirty="0"/>
              </a:p>
              <a:p>
                <a:endParaRPr kumimoji="1" lang="ja-JP" altLang="en-US" dirty="0"/>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 những sample được lấy là giống hệt nhau, chỉ tồn tại chance cause (nguyên nhân ngẫu nhiên) trong mỗi nhóm.</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to choose samples for process capability? Take n consecutive units from each lot (n ≤ 5) at fixed time intervals, e.g. every 2 hours over several consecutive days. Purpose: the conditions of the units in one subgroup are the same, so only common-cause (chance) variation exists within the subgroup. Why n ≤ 5? From the 6th unit onwards the conditions are no longer the same as for the first unit.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Why use a control chart? A control chart is used to detect abnormal behavior of the process at an early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29</a:t>
            </a:fld>
            <a:endParaRPr lang="ko-KR" altLang="en-US" dirty="0"/>
          </a:p>
        </p:txBody>
      </p:sp>
    </p:spTree>
    <p:extLst>
      <p:ext uri="{BB962C8B-B14F-4D97-AF65-F5344CB8AC3E}">
        <p14:creationId xmlns:p14="http://schemas.microsoft.com/office/powerpoint/2010/main" val="3337533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sp>
        <p:nvSpPr>
          <p:cNvPr id="2" name="제목 개체 틀 2"/>
          <p:cNvSpPr>
            <a:spLocks noGrp="1"/>
          </p:cNvSpPr>
          <p:nvPr>
            <p:ph type="title"/>
          </p:nvPr>
        </p:nvSpPr>
        <p:spPr>
          <a:xfrm>
            <a:off x="200472" y="116632"/>
            <a:ext cx="8915400" cy="418058"/>
          </a:xfrm>
          <a:prstGeom prst="rect">
            <a:avLst/>
          </a:prstGeom>
        </p:spPr>
        <p:txBody>
          <a:bodyPr vert="horz" lIns="91440" tIns="45720" rIns="91440" bIns="45720" rtlCol="0" anchor="ctr">
            <a:normAutofit/>
          </a:bodyPr>
          <a:lstStyle>
            <a:lvl1pPr>
              <a:defRPr>
                <a:latin typeface="맑은 고딕" panose="020B0503020000020004" pitchFamily="50" charset="-127"/>
                <a:ea typeface="맑은 고딕" panose="020B0503020000020004" pitchFamily="50" charset="-127"/>
              </a:defRPr>
            </a:lvl1pPr>
          </a:lstStyle>
          <a:p>
            <a:r>
              <a:rPr lang="ko-KR" altLang="en-US" dirty="0"/>
              <a:t>제목을 입력 하세요</a:t>
            </a:r>
          </a:p>
        </p:txBody>
      </p:sp>
      <p:sp>
        <p:nvSpPr>
          <p:cNvPr id="3" name="슬라이드 번호 개체 틀 5"/>
          <p:cNvSpPr>
            <a:spLocks noGrp="1"/>
          </p:cNvSpPr>
          <p:nvPr>
            <p:ph type="sldNum" sz="quarter" idx="12"/>
          </p:nvPr>
        </p:nvSpPr>
        <p:spPr>
          <a:xfrm>
            <a:off x="3728864" y="6542599"/>
            <a:ext cx="2133600" cy="293117"/>
          </a:xfrm>
          <a:prstGeom prst="rect">
            <a:avLst/>
          </a:prstGeom>
        </p:spPr>
        <p:txBody>
          <a:bodyPr/>
          <a:lstStyle>
            <a:lvl1pPr algn="ctr">
              <a:defRPr sz="1000">
                <a:latin typeface="현대하모니 L" panose="02020603020101020101" pitchFamily="18" charset="-127"/>
                <a:ea typeface="현대하모니 L" panose="02020603020101020101" pitchFamily="18" charset="-127"/>
              </a:defRPr>
            </a:lvl1pPr>
          </a:lstStyle>
          <a:p>
            <a:fld id="{CCB65402-AEF5-4D26-A49C-7368E264DDAC}" type="slidenum">
              <a:rPr lang="ko-KR" altLang="en-US" smtClean="0">
                <a:solidFill>
                  <a:prstClr val="black">
                    <a:tint val="75000"/>
                  </a:prstClr>
                </a:solidFill>
              </a:rPr>
              <a:pPr/>
              <a:t>‹#›</a:t>
            </a:fld>
            <a:r>
              <a:rPr lang="ko-KR" altLang="en-US" dirty="0">
                <a:solidFill>
                  <a:prstClr val="black">
                    <a:tint val="75000"/>
                  </a:prstClr>
                </a:solidFill>
              </a:rPr>
              <a:t> </a:t>
            </a:r>
            <a:r>
              <a:rPr lang="en-US" altLang="ko-KR" dirty="0">
                <a:solidFill>
                  <a:prstClr val="black">
                    <a:tint val="75000"/>
                  </a:prstClr>
                </a:solidFill>
              </a:rPr>
              <a:t>/  </a:t>
            </a:r>
            <a:endParaRPr lang="ko-KR" altLang="en-US" dirty="0">
              <a:solidFill>
                <a:prstClr val="black">
                  <a:tint val="75000"/>
                </a:prstClr>
              </a:solidFill>
            </a:endParaRPr>
          </a:p>
        </p:txBody>
      </p:sp>
    </p:spTree>
    <p:extLst>
      <p:ext uri="{BB962C8B-B14F-4D97-AF65-F5344CB8AC3E}">
        <p14:creationId xmlns:p14="http://schemas.microsoft.com/office/powerpoint/2010/main" val="2624479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a:xfrm>
            <a:off x="742950" y="6248400"/>
            <a:ext cx="2063750" cy="457200"/>
          </a:xfrm>
          <a:prstGeom prst="rect">
            <a:avLst/>
          </a:prstGeom>
        </p:spPr>
        <p:txBody>
          <a:bodyPr/>
          <a:lstStyle>
            <a:lvl1pPr>
              <a:defRPr/>
            </a:lvl1pPr>
          </a:lstStyle>
          <a:p>
            <a:pPr>
              <a:defRPr/>
            </a:pPr>
            <a:endParaRPr lang="ko-KR" altLang="en-US" dirty="0">
              <a:solidFill>
                <a:srgbClr val="000000"/>
              </a:solidFill>
            </a:endParaRPr>
          </a:p>
        </p:txBody>
      </p:sp>
      <p:sp>
        <p:nvSpPr>
          <p:cNvPr id="3" name="바닥글 개체 틀 2"/>
          <p:cNvSpPr>
            <a:spLocks noGrp="1"/>
          </p:cNvSpPr>
          <p:nvPr>
            <p:ph type="ftr" sz="quarter" idx="11"/>
          </p:nvPr>
        </p:nvSpPr>
        <p:spPr>
          <a:xfrm>
            <a:off x="3384550" y="6248400"/>
            <a:ext cx="3136900" cy="457200"/>
          </a:xfrm>
          <a:prstGeom prst="rect">
            <a:avLst/>
          </a:prstGeom>
        </p:spPr>
        <p:txBody>
          <a:bodyPr/>
          <a:lstStyle>
            <a:lvl1pPr>
              <a:defRPr/>
            </a:lvl1pPr>
          </a:lstStyle>
          <a:p>
            <a:pPr>
              <a:defRPr/>
            </a:pPr>
            <a:endParaRPr lang="ko-KR" altLang="en-US">
              <a:solidFill>
                <a:srgbClr val="000000"/>
              </a:solidFill>
            </a:endParaRPr>
          </a:p>
        </p:txBody>
      </p:sp>
      <p:sp>
        <p:nvSpPr>
          <p:cNvPr id="4" name="슬라이드 번호 개체 틀 3"/>
          <p:cNvSpPr>
            <a:spLocks noGrp="1"/>
          </p:cNvSpPr>
          <p:nvPr>
            <p:ph type="sldNum" sz="quarter" idx="12"/>
          </p:nvPr>
        </p:nvSpPr>
        <p:spPr>
          <a:xfrm>
            <a:off x="7099300" y="6356350"/>
            <a:ext cx="2311400" cy="365125"/>
          </a:xfrm>
          <a:prstGeom prst="rect">
            <a:avLst/>
          </a:prstGeom>
        </p:spPr>
        <p:txBody>
          <a:bodyPr/>
          <a:lstStyle>
            <a:lvl1pPr>
              <a:defRPr/>
            </a:lvl1pPr>
          </a:lstStyle>
          <a:p>
            <a:pPr>
              <a:defRPr/>
            </a:pPr>
            <a:fld id="{0674F093-85E3-4077-80AF-B10359088A98}" type="slidenum">
              <a:rPr lang="ko-KR" altLang="en-US" sz="1200">
                <a:solidFill>
                  <a:srgbClr val="000000"/>
                </a:solidFill>
                <a:latin typeface="Arial" charset="0"/>
                <a:ea typeface="돋움" pitchFamily="50" charset="-127"/>
              </a:rPr>
              <a:pPr>
                <a:defRPr/>
              </a:pPr>
              <a:t>‹#›</a:t>
            </a:fld>
            <a:endParaRPr lang="ko-KR" altLang="en-US" sz="1200" dirty="0">
              <a:solidFill>
                <a:srgbClr val="000000"/>
              </a:solidFill>
              <a:latin typeface="Arial" charset="0"/>
              <a:ea typeface="돋움" pitchFamily="50" charset="-127"/>
            </a:endParaRPr>
          </a:p>
        </p:txBody>
      </p:sp>
    </p:spTree>
    <p:extLst>
      <p:ext uri="{BB962C8B-B14F-4D97-AF65-F5344CB8AC3E}">
        <p14:creationId xmlns:p14="http://schemas.microsoft.com/office/powerpoint/2010/main" val="2715539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38250" y="1122363"/>
            <a:ext cx="74295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11" indent="0" algn="ctr">
              <a:buNone/>
              <a:defRPr sz="2000"/>
            </a:lvl2pPr>
            <a:lvl3pPr marL="914423" indent="0" algn="ctr">
              <a:buNone/>
              <a:defRPr sz="1801"/>
            </a:lvl3pPr>
            <a:lvl4pPr marL="1371634" indent="0" algn="ctr">
              <a:buNone/>
              <a:defRPr sz="1600"/>
            </a:lvl4pPr>
            <a:lvl5pPr marL="1828846" indent="0" algn="ctr">
              <a:buNone/>
              <a:defRPr sz="1600"/>
            </a:lvl5pPr>
            <a:lvl6pPr marL="2286057" indent="0" algn="ctr">
              <a:buNone/>
              <a:defRPr sz="1600"/>
            </a:lvl6pPr>
            <a:lvl7pPr marL="2743269" indent="0" algn="ctr">
              <a:buNone/>
              <a:defRPr sz="1600"/>
            </a:lvl7pPr>
            <a:lvl8pPr marL="3200480" indent="0" algn="ctr">
              <a:buNone/>
              <a:defRPr sz="1600"/>
            </a:lvl8pPr>
            <a:lvl9pPr marL="3657691"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5D0E64B-9113-4BE4-BEDA-1D3C752AD119}"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1AF9C5-787B-4812-8641-4E431B5130D1}" type="slidenum">
              <a:rPr lang="en-US" smtClean="0"/>
              <a:pPr/>
              <a:t>‹#›</a:t>
            </a:fld>
            <a:endParaRPr lang="en-US"/>
          </a:p>
        </p:txBody>
      </p:sp>
      <p:sp>
        <p:nvSpPr>
          <p:cNvPr id="8" name="Content Placeholder 7"/>
          <p:cNvSpPr>
            <a:spLocks noGrp="1"/>
          </p:cNvSpPr>
          <p:nvPr>
            <p:ph sz="quarter" idx="13"/>
          </p:nvPr>
        </p:nvSpPr>
        <p:spPr>
          <a:xfrm>
            <a:off x="8253413" y="187325"/>
            <a:ext cx="914400" cy="914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9497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1038" y="365127"/>
            <a:ext cx="8543925" cy="1325563"/>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681038" y="1825625"/>
            <a:ext cx="8543925"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1038" y="6356352"/>
            <a:ext cx="2228850" cy="365125"/>
          </a:xfrm>
          <a:prstGeom prst="rect">
            <a:avLst/>
          </a:prstGeom>
        </p:spPr>
        <p:txBody>
          <a:bodyPr/>
          <a:lstStyle/>
          <a:p>
            <a:fld id="{0C1232D1-D26A-4B9E-9F74-30AF75FEA22D}" type="datetimeFigureOut">
              <a:rPr lang="en-US" smtClean="0"/>
              <a:t>9/30/2026</a:t>
            </a:fld>
            <a:endParaRPr lang="en-US"/>
          </a:p>
        </p:txBody>
      </p:sp>
      <p:sp>
        <p:nvSpPr>
          <p:cNvPr id="5" name="Footer Placeholder 4"/>
          <p:cNvSpPr>
            <a:spLocks noGrp="1"/>
          </p:cNvSpPr>
          <p:nvPr>
            <p:ph type="ftr" sz="quarter" idx="11"/>
          </p:nvPr>
        </p:nvSpPr>
        <p:spPr>
          <a:xfrm>
            <a:off x="3281363" y="6356352"/>
            <a:ext cx="3343275"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996113" y="6356352"/>
            <a:ext cx="2228850" cy="365125"/>
          </a:xfrm>
          <a:prstGeom prst="rect">
            <a:avLst/>
          </a:prstGeom>
        </p:spPr>
        <p:txBody>
          <a:bodyPr/>
          <a:lstStyle/>
          <a:p>
            <a:fld id="{A7EEBFAC-7688-42D7-A474-447757C1272C}" type="slidenum">
              <a:rPr lang="en-US" smtClean="0"/>
              <a:t>‹#›</a:t>
            </a:fld>
            <a:endParaRPr lang="en-US"/>
          </a:p>
        </p:txBody>
      </p:sp>
    </p:spTree>
    <p:extLst>
      <p:ext uri="{BB962C8B-B14F-4D97-AF65-F5344CB8AC3E}">
        <p14:creationId xmlns:p14="http://schemas.microsoft.com/office/powerpoint/2010/main" val="4065975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6945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742950" y="2130428"/>
            <a:ext cx="8420100" cy="1470025"/>
          </a:xfrm>
        </p:spPr>
        <p:txBody>
          <a:bodyPr/>
          <a:lstStyle/>
          <a:p>
            <a:r>
              <a:rPr lang="ko-KR" altLang="en-US"/>
              <a:t>마스터 제목 스타일 편집</a:t>
            </a:r>
          </a:p>
        </p:txBody>
      </p:sp>
      <p:sp>
        <p:nvSpPr>
          <p:cNvPr id="3" name="부제목 2"/>
          <p:cNvSpPr>
            <a:spLocks noGrp="1"/>
          </p:cNvSpPr>
          <p:nvPr>
            <p:ph type="subTitle" idx="1"/>
          </p:nvPr>
        </p:nvSpPr>
        <p:spPr>
          <a:xfrm>
            <a:off x="1485900" y="3886200"/>
            <a:ext cx="69342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a:xfrm>
            <a:off x="495300" y="6356353"/>
            <a:ext cx="2311400" cy="365125"/>
          </a:xfrm>
          <a:prstGeom prst="rect">
            <a:avLst/>
          </a:prstGeom>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a:xfrm>
            <a:off x="7099300" y="6356353"/>
            <a:ext cx="2311400" cy="365125"/>
          </a:xfrm>
          <a:prstGeom prst="rect">
            <a:avLst/>
          </a:prstGeom>
        </p:spPr>
        <p:txBody>
          <a:bodyPr/>
          <a:lstStyle/>
          <a:p>
            <a:fld id="{9BFF983A-EC0A-4770-8E0B-A2C9B8B7F425}" type="slidenum">
              <a:rPr lang="ko-KR" altLang="en-US">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8906503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제목 개체 틀 2"/>
          <p:cNvSpPr>
            <a:spLocks noGrp="1"/>
          </p:cNvSpPr>
          <p:nvPr>
            <p:ph type="title"/>
          </p:nvPr>
        </p:nvSpPr>
        <p:spPr>
          <a:xfrm>
            <a:off x="200472" y="116632"/>
            <a:ext cx="8915400" cy="418058"/>
          </a:xfrm>
          <a:prstGeom prst="rect">
            <a:avLst/>
          </a:prstGeom>
        </p:spPr>
        <p:txBody>
          <a:bodyPr vert="horz" lIns="91440" tIns="45720" rIns="91440" bIns="45720" rtlCol="0" anchor="ctr">
            <a:normAutofit/>
          </a:bodyPr>
          <a:lstStyle/>
          <a:p>
            <a:r>
              <a:rPr lang="ko-KR" altLang="en-US" dirty="0"/>
              <a:t>제목을 입력 하세요</a:t>
            </a:r>
          </a:p>
        </p:txBody>
      </p:sp>
      <p:sp>
        <p:nvSpPr>
          <p:cNvPr id="4" name="TextBox 3">
            <a:extLst>
              <a:ext uri="{FF2B5EF4-FFF2-40B4-BE49-F238E27FC236}">
                <a16:creationId xmlns:a16="http://schemas.microsoft.com/office/drawing/2014/main" id="{9DAD3A4A-DBC2-B460-D6E3-B6C54F17340C}"/>
              </a:ext>
            </a:extLst>
          </p:cNvPr>
          <p:cNvSpPr txBox="1"/>
          <p:nvPr userDrawn="1">
            <p:extLst>
              <p:ext uri="{1162E1C5-73C7-4A58-AE30-91384D911F3F}">
                <p184:classification xmlns:p184="http://schemas.microsoft.com/office/powerpoint/2018/4/main" val="hdr"/>
              </p:ext>
            </p:extLst>
          </p:nvPr>
        </p:nvSpPr>
        <p:spPr>
          <a:xfrm>
            <a:off x="4281488" y="63500"/>
            <a:ext cx="1377950" cy="182880"/>
          </a:xfrm>
          <a:prstGeom prst="rect">
            <a:avLst/>
          </a:prstGeom>
        </p:spPr>
        <p:txBody>
          <a:bodyPr horzOverflow="overflow" lIns="0" tIns="0" rIns="0" bIns="0">
            <a:spAutoFit/>
          </a:bodyPr>
          <a:lstStyle/>
          <a:p>
            <a:pPr algn="l"/>
            <a:r>
              <a:rPr lang="en-US" sz="1200">
                <a:solidFill>
                  <a:srgbClr val="000000">
                    <a:alpha val="50000"/>
                  </a:srgbClr>
                </a:solidFill>
                <a:latin typeface="Arial" panose="020F0502020204030204" pitchFamily="34" charset="0"/>
                <a:ea typeface="Arial" panose="020F0502020204030204" pitchFamily="34" charset="0"/>
                <a:cs typeface="Calibri" panose="020F0502020204030204" pitchFamily="34" charset="0"/>
              </a:rPr>
              <a:t> </a:t>
            </a:r>
          </a:p>
        </p:txBody>
      </p:sp>
    </p:spTree>
  </p:cSld>
  <p:clrMap bg1="lt1" tx1="dk1" bg2="lt2" tx2="dk2" accent1="accent1" accent2="accent2" accent3="accent3" accent4="accent4" accent5="accent5" accent6="accent6" hlink="hlink" folHlink="folHlink"/>
  <p:sldLayoutIdLst>
    <p:sldLayoutId id="2147485194" r:id="rId1"/>
    <p:sldLayoutId id="2147485197" r:id="rId2"/>
    <p:sldLayoutId id="2147485201" r:id="rId3"/>
    <p:sldLayoutId id="2147485203" r:id="rId4"/>
    <p:sldLayoutId id="2147485204" r:id="rId5"/>
    <p:sldLayoutId id="2147485205" r:id="rId6"/>
  </p:sldLayoutIdLst>
  <p:hf hdr="0" dt="0"/>
  <p:txStyles>
    <p:titleStyle>
      <a:lvl1pPr algn="l" rtl="0" eaLnBrk="0" fontAlgn="base" latinLnBrk="1" hangingPunct="0">
        <a:spcBef>
          <a:spcPct val="0"/>
        </a:spcBef>
        <a:spcAft>
          <a:spcPct val="0"/>
        </a:spcAft>
        <a:defRPr kumimoji="1" sz="2000" b="1">
          <a:solidFill>
            <a:schemeClr val="tx1"/>
          </a:solidFill>
          <a:latin typeface="맑은 고딕" panose="020B0503020000020004" pitchFamily="50" charset="-127"/>
          <a:ea typeface="맑은 고딕" panose="020B0503020000020004" pitchFamily="50" charset="-127"/>
          <a:cs typeface="+mj-cs"/>
        </a:defRPr>
      </a:lvl1pPr>
      <a:lvl2pPr algn="l" rtl="0" eaLnBrk="0" fontAlgn="base" latinLnBrk="1" hangingPunct="0">
        <a:spcBef>
          <a:spcPct val="0"/>
        </a:spcBef>
        <a:spcAft>
          <a:spcPct val="0"/>
        </a:spcAft>
        <a:defRPr kumimoji="1" sz="2000" b="1">
          <a:solidFill>
            <a:schemeClr val="tx1"/>
          </a:solidFill>
          <a:latin typeface="Arial" charset="0"/>
          <a:ea typeface="돋움" pitchFamily="50" charset="-127"/>
        </a:defRPr>
      </a:lvl2pPr>
      <a:lvl3pPr algn="l" rtl="0" eaLnBrk="0" fontAlgn="base" latinLnBrk="1" hangingPunct="0">
        <a:spcBef>
          <a:spcPct val="0"/>
        </a:spcBef>
        <a:spcAft>
          <a:spcPct val="0"/>
        </a:spcAft>
        <a:defRPr kumimoji="1" sz="2000" b="1">
          <a:solidFill>
            <a:schemeClr val="tx1"/>
          </a:solidFill>
          <a:latin typeface="Arial" charset="0"/>
          <a:ea typeface="돋움" pitchFamily="50" charset="-127"/>
        </a:defRPr>
      </a:lvl3pPr>
      <a:lvl4pPr algn="l" rtl="0" eaLnBrk="0" fontAlgn="base" latinLnBrk="1" hangingPunct="0">
        <a:spcBef>
          <a:spcPct val="0"/>
        </a:spcBef>
        <a:spcAft>
          <a:spcPct val="0"/>
        </a:spcAft>
        <a:defRPr kumimoji="1" sz="2000" b="1">
          <a:solidFill>
            <a:schemeClr val="tx1"/>
          </a:solidFill>
          <a:latin typeface="Arial" charset="0"/>
          <a:ea typeface="돋움" pitchFamily="50" charset="-127"/>
        </a:defRPr>
      </a:lvl4pPr>
      <a:lvl5pPr algn="l" rtl="0" eaLnBrk="0" fontAlgn="base" latinLnBrk="1" hangingPunct="0">
        <a:spcBef>
          <a:spcPct val="0"/>
        </a:spcBef>
        <a:spcAft>
          <a:spcPct val="0"/>
        </a:spcAft>
        <a:defRPr kumimoji="1" sz="2000" b="1">
          <a:solidFill>
            <a:schemeClr val="tx1"/>
          </a:solidFill>
          <a:latin typeface="Arial" charset="0"/>
          <a:ea typeface="돋움" pitchFamily="50" charset="-127"/>
        </a:defRPr>
      </a:lvl5pPr>
      <a:lvl6pPr marL="457200" algn="l" rtl="0" fontAlgn="base" latinLnBrk="1">
        <a:spcBef>
          <a:spcPct val="0"/>
        </a:spcBef>
        <a:spcAft>
          <a:spcPct val="0"/>
        </a:spcAft>
        <a:defRPr kumimoji="1" sz="2000" b="1">
          <a:solidFill>
            <a:schemeClr val="tx1"/>
          </a:solidFill>
          <a:latin typeface="Arial" charset="0"/>
          <a:ea typeface="돋움" pitchFamily="50" charset="-127"/>
        </a:defRPr>
      </a:lvl6pPr>
      <a:lvl7pPr marL="914400" algn="l" rtl="0" fontAlgn="base" latinLnBrk="1">
        <a:spcBef>
          <a:spcPct val="0"/>
        </a:spcBef>
        <a:spcAft>
          <a:spcPct val="0"/>
        </a:spcAft>
        <a:defRPr kumimoji="1" sz="2000" b="1">
          <a:solidFill>
            <a:schemeClr val="tx1"/>
          </a:solidFill>
          <a:latin typeface="Arial" charset="0"/>
          <a:ea typeface="돋움" pitchFamily="50" charset="-127"/>
        </a:defRPr>
      </a:lvl7pPr>
      <a:lvl8pPr marL="1371600" algn="l" rtl="0" fontAlgn="base" latinLnBrk="1">
        <a:spcBef>
          <a:spcPct val="0"/>
        </a:spcBef>
        <a:spcAft>
          <a:spcPct val="0"/>
        </a:spcAft>
        <a:defRPr kumimoji="1" sz="2000" b="1">
          <a:solidFill>
            <a:schemeClr val="tx1"/>
          </a:solidFill>
          <a:latin typeface="Arial" charset="0"/>
          <a:ea typeface="돋움" pitchFamily="50" charset="-127"/>
        </a:defRPr>
      </a:lvl8pPr>
      <a:lvl9pPr marL="1828800" algn="l" rtl="0" fontAlgn="base" latinLnBrk="1">
        <a:spcBef>
          <a:spcPct val="0"/>
        </a:spcBef>
        <a:spcAft>
          <a:spcPct val="0"/>
        </a:spcAft>
        <a:defRPr kumimoji="1" sz="2000" b="1">
          <a:solidFill>
            <a:schemeClr val="tx1"/>
          </a:solidFill>
          <a:latin typeface="Arial" charset="0"/>
          <a:ea typeface="돋움" pitchFamily="50" charset="-127"/>
        </a:defRPr>
      </a:lvl9pPr>
    </p:titleStyle>
    <p:bodyStyle>
      <a:lvl1pPr marL="342900" indent="-342900" algn="l" rtl="0" eaLnBrk="0" fontAlgn="base" latinLnBrk="1" hangingPunct="0">
        <a:spcBef>
          <a:spcPct val="20000"/>
        </a:spcBef>
        <a:spcAft>
          <a:spcPct val="0"/>
        </a:spcAft>
        <a:defRPr kumimoji="1" b="1">
          <a:solidFill>
            <a:schemeClr val="tx1"/>
          </a:solidFill>
          <a:latin typeface="+mn-lt"/>
          <a:ea typeface="돋움" pitchFamily="50" charset="-127"/>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굴림" charset="-127"/>
          <a:ea typeface="굴림" charset="-127"/>
        </a:defRPr>
      </a:lvl2pPr>
      <a:lvl3pPr marL="1147763" indent="-228600" algn="l" rtl="0" eaLnBrk="0" fontAlgn="base" latinLnBrk="1" hangingPunct="0">
        <a:spcBef>
          <a:spcPct val="20000"/>
        </a:spcBef>
        <a:spcAft>
          <a:spcPct val="0"/>
        </a:spcAft>
        <a:buChar char="•"/>
        <a:defRPr kumimoji="1" sz="2400">
          <a:solidFill>
            <a:schemeClr val="tx1"/>
          </a:solidFill>
          <a:latin typeface="굴림" charset="-127"/>
          <a:ea typeface="굴림" charset="-127"/>
        </a:defRPr>
      </a:lvl3pPr>
      <a:lvl4pPr marL="1600200" indent="-228600" algn="l" rtl="0" eaLnBrk="0" fontAlgn="base" latinLnBrk="1" hangingPunct="0">
        <a:spcBef>
          <a:spcPct val="20000"/>
        </a:spcBef>
        <a:spcAft>
          <a:spcPct val="0"/>
        </a:spcAft>
        <a:buChar char="–"/>
        <a:defRPr kumimoji="1" sz="2000">
          <a:solidFill>
            <a:schemeClr val="tx1"/>
          </a:solidFill>
          <a:latin typeface="굴림" charset="-127"/>
          <a:ea typeface="굴림" charset="-127"/>
        </a:defRPr>
      </a:lvl4pPr>
      <a:lvl5pPr marL="2057400" indent="-228600" algn="l" rtl="0" eaLnBrk="0" fontAlgn="base" latinLnBrk="1" hangingPunct="0">
        <a:spcBef>
          <a:spcPct val="20000"/>
        </a:spcBef>
        <a:spcAft>
          <a:spcPct val="0"/>
        </a:spcAft>
        <a:buChar char="»"/>
        <a:defRPr kumimoji="1" sz="2000">
          <a:solidFill>
            <a:schemeClr val="tx1"/>
          </a:solidFill>
          <a:latin typeface="굴림" charset="-127"/>
          <a:ea typeface="굴림" charset="-127"/>
        </a:defRPr>
      </a:lvl5pPr>
      <a:lvl6pPr marL="2514600" indent="-228600" algn="l" rtl="0" fontAlgn="base" latinLnBrk="1">
        <a:spcBef>
          <a:spcPct val="20000"/>
        </a:spcBef>
        <a:spcAft>
          <a:spcPct val="0"/>
        </a:spcAft>
        <a:buChar char="»"/>
        <a:defRPr kumimoji="1" sz="2000">
          <a:solidFill>
            <a:schemeClr val="tx1"/>
          </a:solidFill>
          <a:latin typeface="굴림" charset="-127"/>
          <a:ea typeface="굴림" charset="-127"/>
        </a:defRPr>
      </a:lvl6pPr>
      <a:lvl7pPr marL="2971800" indent="-228600" algn="l" rtl="0" fontAlgn="base" latinLnBrk="1">
        <a:spcBef>
          <a:spcPct val="20000"/>
        </a:spcBef>
        <a:spcAft>
          <a:spcPct val="0"/>
        </a:spcAft>
        <a:buChar char="»"/>
        <a:defRPr kumimoji="1" sz="2000">
          <a:solidFill>
            <a:schemeClr val="tx1"/>
          </a:solidFill>
          <a:latin typeface="굴림" charset="-127"/>
          <a:ea typeface="굴림" charset="-127"/>
        </a:defRPr>
      </a:lvl7pPr>
      <a:lvl8pPr marL="3429000" indent="-228600" algn="l" rtl="0" fontAlgn="base" latinLnBrk="1">
        <a:spcBef>
          <a:spcPct val="20000"/>
        </a:spcBef>
        <a:spcAft>
          <a:spcPct val="0"/>
        </a:spcAft>
        <a:buChar char="»"/>
        <a:defRPr kumimoji="1" sz="2000">
          <a:solidFill>
            <a:schemeClr val="tx1"/>
          </a:solidFill>
          <a:latin typeface="굴림" charset="-127"/>
          <a:ea typeface="굴림" charset="-127"/>
        </a:defRPr>
      </a:lvl8pPr>
      <a:lvl9pPr marL="3886200" indent="-228600" algn="l" rtl="0" fontAlgn="base" latinLnBrk="1">
        <a:spcBef>
          <a:spcPct val="20000"/>
        </a:spcBef>
        <a:spcAft>
          <a:spcPct val="0"/>
        </a:spcAft>
        <a:buChar char="»"/>
        <a:defRPr kumimoji="1" sz="2000">
          <a:solidFill>
            <a:schemeClr val="tx1"/>
          </a:solidFill>
          <a:latin typeface="굴림" charset="-127"/>
          <a:ea typeface="굴림" charset="-127"/>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package" Target="../embeddings/Microsoft_Excel_Worksheet.xlsx"/></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emf"/></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PowerPoint_Presentation.pptx"/><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8.emf"/><Relationship Id="rId5" Type="http://schemas.openxmlformats.org/officeDocument/2006/relationships/package" Target="../embeddings/Microsoft_PowerPoint_Presentation1.pptx"/><Relationship Id="rId4" Type="http://schemas.openxmlformats.org/officeDocument/2006/relationships/image" Target="../media/image17.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6.xml"/><Relationship Id="rId5" Type="http://schemas.openxmlformats.org/officeDocument/2006/relationships/image" Target="../media/image42.pn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7.wmf"/><Relationship Id="rId2" Type="http://schemas.openxmlformats.org/officeDocument/2006/relationships/image" Target="../media/image43.png"/><Relationship Id="rId1" Type="http://schemas.openxmlformats.org/officeDocument/2006/relationships/slideLayout" Target="../slideLayouts/slideLayout4.xml"/><Relationship Id="rId6" Type="http://schemas.openxmlformats.org/officeDocument/2006/relationships/package" Target="../embeddings/Microsoft_Excel_Worksheet2.xlsx"/><Relationship Id="rId5" Type="http://schemas.openxmlformats.org/officeDocument/2006/relationships/image" Target="../media/image46.png"/><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25.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8.xml.rels><?xml version='1.0' encoding='UTF-8' standalone='yes'?>
<Relationships xmlns="http://schemas.openxmlformats.org/package/2006/relationships"><Relationship Id="rId8" Type="http://schemas.openxmlformats.org/officeDocument/2006/relationships/image" Target="../media/rev_s28_5.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 Id="rId9" Type="http://schemas.openxmlformats.org/officeDocument/2006/relationships/image" Target="../media/rev_s28_6.png"/></Relationships>
</file>

<file path=ppt/slides/_rels/slide29.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image" Target="../media/rev_s29_4.png"/><Relationship Id="rId7" Type="http://schemas.openxmlformats.org/officeDocument/2006/relationships/diagramQuickStyle" Target="../diagrams/quickStyle5.xml"/><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rev_s29_3.png"/><Relationship Id="rId9" Type="http://schemas.microsoft.com/office/2007/relationships/diagramDrawing" Target="../diagrams/drawing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package" Target="../embeddings/Microsoft_Excel_Worksheet3.xlsx"/><Relationship Id="rId1" Type="http://schemas.openxmlformats.org/officeDocument/2006/relationships/slideLayout" Target="../slideLayouts/slideLayout1.xml"/><Relationship Id="rId5" Type="http://schemas.openxmlformats.org/officeDocument/2006/relationships/image" Target="../media/image66.png"/><Relationship Id="rId4" Type="http://schemas.openxmlformats.org/officeDocument/2006/relationships/image" Target="../media/image6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emf"/><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package" Target="../embeddings/Microsoft_Excel_Worksheet.xlsx"/><Relationship Id="rId6" Type="http://schemas.openxmlformats.org/officeDocument/2006/relationships/chart" Target="../charts/chart2.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 Id="rId8" Type="http://schemas.openxmlformats.org/officeDocument/2006/relationships/image" Target="../media/baseline_prob.png"/><Relationship Id="rId9" Type="http://schemas.openxmlformats.org/officeDocument/2006/relationships/image" Target="../media/baseline_cap.png"/><Relationship Id="rId10" Type="http://schemas.openxmlformats.org/officeDocument/2006/relationships/image" Target="../media/targets2.png"/></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1.xml"/>
  <Relationship Id="rId8" Type="http://schemas.openxmlformats.org/officeDocument/2006/relationships/image" Target="../media/xbar_r_before.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
          <p:cNvSpPr>
            <a:spLocks noChangeArrowheads="1"/>
          </p:cNvSpPr>
          <p:nvPr/>
        </p:nvSpPr>
        <p:spPr bwMode="auto">
          <a:xfrm>
            <a:off x="1984375" y="764704"/>
            <a:ext cx="5992813" cy="1116012"/>
          </a:xfrm>
          <a:prstGeom prst="rect">
            <a:avLst/>
          </a:prstGeom>
          <a:solidFill>
            <a:srgbClr val="EAEAEA"/>
          </a:solidFill>
          <a:ln w="9525">
            <a:solidFill>
              <a:srgbClr val="C0C0C0"/>
            </a:solidFill>
            <a:miter lim="800000"/>
            <a:headEnd/>
            <a:tailEnd/>
          </a:ln>
        </p:spPr>
        <p:txBody>
          <a:bodyPr wrap="none" anchor="ctr"/>
          <a:lstStyle/>
          <a:p>
            <a:pPr algn="ctr" eaLnBrk="1" fontAlgn="auto" latinLnBrk="0">
              <a:spcBef>
                <a:spcPts val="0"/>
              </a:spcBef>
              <a:spcAft>
                <a:spcPts val="0"/>
              </a:spcAft>
              <a:defRPr/>
            </a:pPr>
            <a:r>
              <a:rPr kumimoji="0" lang="en-US" altLang="en-US" sz="2600" b="1" kern="0" dirty="0">
                <a:solidFill>
                  <a:sysClr val="windowText" lastClr="000000"/>
                </a:solidFill>
                <a:latin typeface="Arial" pitchFamily="50" charset="-127"/>
                <a:ea typeface="Arial" pitchFamily="50" charset="-127"/>
              </a:rPr>
              <a:t>Luminance value NG of</a:t>
            </a:r>
            <a:br>
              <a:rPr kumimoji="0" lang="en-US" altLang="en-US" sz="2600" b="1" kern="0" dirty="0">
                <a:solidFill>
                  <a:sysClr val="windowText" lastClr="000000"/>
                </a:solidFill>
                <a:latin typeface="Arial" pitchFamily="50" charset="-127"/>
                <a:ea typeface="Arial" pitchFamily="50" charset="-127"/>
              </a:rPr>
            </a:br>
            <a:r>
              <a:rPr kumimoji="0" lang="en-US" altLang="en-US" sz="2600" b="1" kern="0" dirty="0">
                <a:solidFill>
                  <a:sysClr val="windowText" lastClr="000000"/>
                </a:solidFill>
                <a:latin typeface="Arial" pitchFamily="50" charset="-127"/>
                <a:ea typeface="Arial" pitchFamily="50" charset="-127"/>
              </a:rPr>
              <a:t>Porsche CID J1 Dual</a:t>
            </a:r>
          </a:p>
        </p:txBody>
      </p:sp>
      <p:grpSp>
        <p:nvGrpSpPr>
          <p:cNvPr id="2" name="Group 1">
            <a:extLst>
              <a:ext uri="{FF2B5EF4-FFF2-40B4-BE49-F238E27FC236}">
                <a16:creationId xmlns:a16="http://schemas.microsoft.com/office/drawing/2014/main" id="{C73B0D02-5891-4E36-BF6C-DBA735A890E7}"/>
              </a:ext>
            </a:extLst>
          </p:cNvPr>
          <p:cNvGrpSpPr/>
          <p:nvPr/>
        </p:nvGrpSpPr>
        <p:grpSpPr>
          <a:xfrm>
            <a:off x="3057475" y="2149003"/>
            <a:ext cx="3846611" cy="2700338"/>
            <a:chOff x="3122613" y="2564905"/>
            <a:chExt cx="3603625" cy="2519858"/>
          </a:xfrm>
        </p:grpSpPr>
        <p:sp>
          <p:nvSpPr>
            <p:cNvPr id="33" name="Rectangle 7"/>
            <p:cNvSpPr>
              <a:spLocks noChangeArrowheads="1"/>
            </p:cNvSpPr>
            <p:nvPr>
              <p:custDataLst>
                <p:tags r:id="rId1"/>
              </p:custDataLst>
            </p:nvPr>
          </p:nvSpPr>
          <p:spPr bwMode="auto">
            <a:xfrm>
              <a:off x="3122613" y="2564905"/>
              <a:ext cx="3603625" cy="436842"/>
            </a:xfrm>
            <a:prstGeom prst="rect">
              <a:avLst/>
            </a:prstGeom>
            <a:solidFill>
              <a:srgbClr val="7B9A9F"/>
            </a:solidFill>
            <a:ln w="9525">
              <a:noFill/>
              <a:miter lim="800000"/>
              <a:headEnd/>
              <a:tailEnd/>
            </a:ln>
          </p:spPr>
          <p:txBody>
            <a:bodyPr lIns="89978" tIns="45709" rIns="89978" bIns="45709" anchor="ctr"/>
            <a:lstStyle/>
            <a:p>
              <a:pPr algn="ctr" fontAlgn="auto" latinLnBrk="0">
                <a:spcBef>
                  <a:spcPts val="0"/>
                </a:spcBef>
                <a:spcAft>
                  <a:spcPts val="0"/>
                </a:spcAft>
                <a:defRPr/>
              </a:pPr>
              <a:r>
                <a:rPr kumimoji="0" lang="en-US" altLang="ko-KR" sz="1800" b="1" kern="0">
                  <a:solidFill>
                    <a:srgbClr val="FFFFFF"/>
                  </a:solidFill>
                  <a:latin typeface="Arial" pitchFamily="50" charset="-127"/>
                  <a:ea typeface="Arial" pitchFamily="50" charset="-127"/>
                </a:rPr>
                <a:t>Contents</a:t>
              </a:r>
              <a:endParaRPr kumimoji="0" lang="ko-KR" altLang="en-US" sz="1800" b="1" kern="0" dirty="0">
                <a:solidFill>
                  <a:srgbClr val="FFFFFF"/>
                </a:solidFill>
                <a:latin typeface="맑은 고딕" pitchFamily="50" charset="-127"/>
                <a:ea typeface="맑은 고딕" pitchFamily="50" charset="-127"/>
              </a:endParaRPr>
            </a:p>
          </p:txBody>
        </p:sp>
        <p:sp>
          <p:nvSpPr>
            <p:cNvPr id="34" name="Rectangle 8"/>
            <p:cNvSpPr>
              <a:spLocks noChangeArrowheads="1"/>
            </p:cNvSpPr>
            <p:nvPr>
              <p:custDataLst>
                <p:tags r:id="rId2"/>
              </p:custDataLst>
            </p:nvPr>
          </p:nvSpPr>
          <p:spPr bwMode="auto">
            <a:xfrm>
              <a:off x="3122613" y="3009900"/>
              <a:ext cx="3603625" cy="2074863"/>
            </a:xfrm>
            <a:prstGeom prst="rect">
              <a:avLst/>
            </a:prstGeom>
            <a:solidFill>
              <a:srgbClr val="FFFFFF"/>
            </a:solidFill>
            <a:ln w="3175">
              <a:solidFill>
                <a:srgbClr val="808080"/>
              </a:solidFill>
              <a:miter lim="800000"/>
              <a:headEnd/>
              <a:tailEnd/>
            </a:ln>
          </p:spPr>
          <p:txBody>
            <a:bodyPr lIns="91417" tIns="45709" rIns="91417" bIns="45709" anchor="ctr"/>
            <a:lstStyle/>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1. Define</a:t>
              </a:r>
              <a:endParaRPr kumimoji="0" lang="ko-KR" altLang="en-US" sz="1500" b="1" kern="0" dirty="0">
                <a:solidFill>
                  <a:sysClr val="windowText" lastClr="000000"/>
                </a:solidFill>
                <a:latin typeface="맑은 고딕" pitchFamily="50" charset="-127"/>
                <a:ea typeface="맑은 고딕" pitchFamily="50" charset="-127"/>
              </a:endParaRP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2. Measure</a:t>
              </a:r>
              <a:endParaRPr kumimoji="0" lang="en-US" altLang="ko-KR" sz="1500" b="1" kern="0" dirty="0">
                <a:solidFill>
                  <a:srgbClr val="FFFFFF">
                    <a:lumMod val="65000"/>
                  </a:srgbClr>
                </a:solidFill>
                <a:latin typeface="맑은 고딕" pitchFamily="50" charset="-127"/>
                <a:ea typeface="맑은 고딕" pitchFamily="50" charset="-127"/>
              </a:endParaRP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3. Analyze</a:t>
              </a: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4. Improve</a:t>
              </a: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5. Control</a:t>
              </a:r>
            </a:p>
          </p:txBody>
        </p:sp>
      </p:grpSp>
      <p:sp>
        <p:nvSpPr>
          <p:cNvPr id="10246" name="Text Box 9"/>
          <p:cNvSpPr txBox="1">
            <a:spLocks noChangeArrowheads="1"/>
          </p:cNvSpPr>
          <p:nvPr/>
        </p:nvSpPr>
        <p:spPr bwMode="auto">
          <a:xfrm>
            <a:off x="3325813" y="5117629"/>
            <a:ext cx="3197225" cy="830985"/>
          </a:xfrm>
          <a:prstGeom prst="rect">
            <a:avLst/>
          </a:prstGeom>
          <a:noFill/>
          <a:ln w="9525">
            <a:noFill/>
            <a:miter lim="800000"/>
            <a:headEnd/>
            <a:tailEnd/>
          </a:ln>
        </p:spPr>
        <p:txBody>
          <a:bodyPr lIns="91429" tIns="45714" rIns="91429" bIns="45714">
            <a:spAutoFit/>
          </a:bodyPr>
          <a:lstStyle/>
          <a:p>
            <a:pPr algn="ctr" eaLnBrk="1" latinLnBrk="0">
              <a:defRPr/>
            </a:pPr>
            <a:r>
              <a:rPr kumimoji="0" lang="en-US" altLang="ko-KR" sz="1600" b="1" kern="0" dirty="0">
                <a:solidFill>
                  <a:srgbClr val="333333"/>
                </a:solidFill>
                <a:latin typeface="Arial" panose="020B0606020202030204" pitchFamily="34" charset="0"/>
                <a:ea typeface="Arial" panose="020B0600000101010101" pitchFamily="50" charset="-127"/>
                <a:cs typeface="Arial" panose="020B0604020202020204" pitchFamily="34" charset="0"/>
              </a:rPr>
              <a:t>6 Sigma GB Assignment</a:t>
            </a:r>
          </a:p>
          <a:p>
            <a:pPr algn="ctr" eaLnBrk="1" latinLnBrk="0">
              <a:defRPr/>
            </a:pPr>
            <a:r>
              <a:rPr sz="1600" b="1" dirty="0">
                <a:latin typeface="Arial"/>
              </a:rPr>
              <a:t>IVI LD Nguyen Duc Long</a:t>
            </a:r>
          </a:p>
        </p:txBody>
      </p:sp>
    </p:spTree>
    <p:extLst>
      <p:ext uri="{BB962C8B-B14F-4D97-AF65-F5344CB8AC3E}">
        <p14:creationId xmlns:p14="http://schemas.microsoft.com/office/powerpoint/2010/main" val="2787170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161212" y="76200"/>
            <a:ext cx="2935356" cy="369302"/>
          </a:xfrm>
          <a:prstGeom prst="rect">
            <a:avLst/>
          </a:prstGeom>
          <a:noFill/>
          <a:ln w="9525" algn="ctr">
            <a:noFill/>
            <a:miter lim="800000"/>
            <a:headEnd/>
            <a:tailEnd/>
          </a:ln>
        </p:spPr>
        <p:txBody>
          <a:bodyPr wrap="none" lIns="91409" tIns="45705" rIns="91409" bIns="45705" anchor="ctr">
            <a:spAutoFit/>
          </a:bodyPr>
          <a:lstStyle/>
          <a:p>
            <a:pPr algn="ctr" eaLnBrk="1" latinLnBrk="0" hangingPunct="0">
              <a:buFont typeface="Wingdings" pitchFamily="2" charset="2"/>
              <a:buNone/>
            </a:pPr>
            <a:r>
              <a:rPr kumimoji="0" lang="en-US" altLang="ko-KR" sz="1000" u="sng" dirty="0">
                <a:solidFill>
                  <a:srgbClr val="000000"/>
                </a:solidFill>
                <a:latin typeface="Arial" panose="020B0600000101010101" pitchFamily="50" charset="-127"/>
                <a:ea typeface="Arial" panose="020B0600000101010101" pitchFamily="50" charset="-127"/>
                <a:cs typeface="Arial" pitchFamily="34" charset="0"/>
              </a:rPr>
              <a:t>Six Sigma Project Register </a:t>
            </a:r>
            <a:endParaRPr kumimoji="0" lang="ko-KR" altLang="en-US" u="sng" dirty="0">
              <a:solidFill>
                <a:srgbClr val="000000"/>
              </a:solidFill>
              <a:latin typeface="LG스마트체 Regular" panose="020B0600000101010101" pitchFamily="50" charset="-127"/>
              <a:ea typeface="LG스마트체 Regular" panose="020B0600000101010101" pitchFamily="50" charset="-127"/>
              <a:cs typeface="Arial" pitchFamily="34" charset="0"/>
            </a:endParaRPr>
          </a:p>
        </p:txBody>
      </p:sp>
      <p:graphicFrame>
        <p:nvGraphicFramePr>
          <p:cNvPr id="75" name="Group 68"/>
          <p:cNvGraphicFramePr>
            <a:graphicFrameLocks noGrp="1"/>
          </p:cNvGraphicFramePr>
          <p:nvPr>
            <p:extLst>
              <p:ext uri="{D42A27DB-BD31-4B8C-83A1-F6EECF244321}">
                <p14:modId xmlns:p14="http://schemas.microsoft.com/office/powerpoint/2010/main" val="2189576015"/>
              </p:ext>
            </p:extLst>
          </p:nvPr>
        </p:nvGraphicFramePr>
        <p:xfrm>
          <a:off x="7221832" y="106389"/>
          <a:ext cx="2557087" cy="657225"/>
        </p:xfrm>
        <a:graphic>
          <a:graphicData uri="http://schemas.openxmlformats.org/drawingml/2006/table">
            <a:tbl>
              <a:tblPr/>
              <a:tblGrid>
                <a:gridCol w="675354">
                  <a:extLst>
                    <a:ext uri="{9D8B030D-6E8A-4147-A177-3AD203B41FA5}">
                      <a16:colId xmlns:a16="http://schemas.microsoft.com/office/drawing/2014/main" val="20000"/>
                    </a:ext>
                  </a:extLst>
                </a:gridCol>
                <a:gridCol w="1881733">
                  <a:extLst>
                    <a:ext uri="{9D8B030D-6E8A-4147-A177-3AD203B41FA5}">
                      <a16:colId xmlns:a16="http://schemas.microsoft.com/office/drawing/2014/main" val="20001"/>
                    </a:ext>
                  </a:extLst>
                </a:gridCol>
              </a:tblGrid>
              <a:tr h="2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Team</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50" charset="-127"/>
                          <a:ea typeface="Arial" panose="020B0600000101010101" pitchFamily="50" charset="-127"/>
                        </a:rPr>
                        <a:t>IVI LD</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Leader</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Nguyen Dinh Huong TL</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Owner</a:t>
                      </a:r>
                      <a:endParaRPr kumimoji="0" lang="en-US" altLang="ko-KR"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algn="ctr" eaLnBrk="1" latinLnBrk="0"/>
                      <a:r>
                        <a:rPr sz="1000" b="0" dirty="0">
                          <a:latin typeface="Arial"/>
                        </a:rPr>
                        <a:t>Nguyen Duc Long</a:t>
                      </a: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8" name="Group 133"/>
          <p:cNvGraphicFramePr>
            <a:graphicFrameLocks noGrp="1"/>
          </p:cNvGraphicFramePr>
          <p:nvPr>
            <p:extLst>
              <p:ext uri="{D42A27DB-BD31-4B8C-83A1-F6EECF244321}">
                <p14:modId xmlns:p14="http://schemas.microsoft.com/office/powerpoint/2010/main" val="2316957716"/>
              </p:ext>
            </p:extLst>
          </p:nvPr>
        </p:nvGraphicFramePr>
        <p:xfrm>
          <a:off x="120650" y="984162"/>
          <a:ext cx="9669509" cy="5797639"/>
        </p:xfrm>
        <a:graphic>
          <a:graphicData uri="http://schemas.openxmlformats.org/drawingml/2006/table">
            <a:tbl>
              <a:tblPr/>
              <a:tblGrid>
                <a:gridCol w="717550">
                  <a:extLst>
                    <a:ext uri="{9D8B030D-6E8A-4147-A177-3AD203B41FA5}">
                      <a16:colId xmlns:a16="http://schemas.microsoft.com/office/drawing/2014/main" val="20000"/>
                    </a:ext>
                  </a:extLst>
                </a:gridCol>
                <a:gridCol w="1954560">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1152128">
                  <a:extLst>
                    <a:ext uri="{9D8B030D-6E8A-4147-A177-3AD203B41FA5}">
                      <a16:colId xmlns:a16="http://schemas.microsoft.com/office/drawing/2014/main" val="20003"/>
                    </a:ext>
                  </a:extLst>
                </a:gridCol>
                <a:gridCol w="144016">
                  <a:extLst>
                    <a:ext uri="{9D8B030D-6E8A-4147-A177-3AD203B41FA5}">
                      <a16:colId xmlns:a16="http://schemas.microsoft.com/office/drawing/2014/main" val="20004"/>
                    </a:ext>
                  </a:extLst>
                </a:gridCol>
                <a:gridCol w="649455">
                  <a:extLst>
                    <a:ext uri="{9D8B030D-6E8A-4147-A177-3AD203B41FA5}">
                      <a16:colId xmlns:a16="http://schemas.microsoft.com/office/drawing/2014/main" val="20005"/>
                    </a:ext>
                  </a:extLst>
                </a:gridCol>
                <a:gridCol w="115401">
                  <a:extLst>
                    <a:ext uri="{9D8B030D-6E8A-4147-A177-3AD203B41FA5}">
                      <a16:colId xmlns:a16="http://schemas.microsoft.com/office/drawing/2014/main" val="20006"/>
                    </a:ext>
                  </a:extLst>
                </a:gridCol>
                <a:gridCol w="543911">
                  <a:extLst>
                    <a:ext uri="{9D8B030D-6E8A-4147-A177-3AD203B41FA5}">
                      <a16:colId xmlns:a16="http://schemas.microsoft.com/office/drawing/2014/main" val="377791108"/>
                    </a:ext>
                  </a:extLst>
                </a:gridCol>
                <a:gridCol w="720080">
                  <a:extLst>
                    <a:ext uri="{9D8B030D-6E8A-4147-A177-3AD203B41FA5}">
                      <a16:colId xmlns:a16="http://schemas.microsoft.com/office/drawing/2014/main" val="20007"/>
                    </a:ext>
                  </a:extLst>
                </a:gridCol>
                <a:gridCol w="1006729">
                  <a:extLst>
                    <a:ext uri="{9D8B030D-6E8A-4147-A177-3AD203B41FA5}">
                      <a16:colId xmlns:a16="http://schemas.microsoft.com/office/drawing/2014/main" val="20008"/>
                    </a:ext>
                  </a:extLst>
                </a:gridCol>
                <a:gridCol w="1945599">
                  <a:extLst>
                    <a:ext uri="{9D8B030D-6E8A-4147-A177-3AD203B41FA5}">
                      <a16:colId xmlns:a16="http://schemas.microsoft.com/office/drawing/2014/main" val="20009"/>
                    </a:ext>
                  </a:extLst>
                </a:gridCol>
              </a:tblGrid>
              <a:tr h="536833">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Theme</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sym typeface="Wingdings" pitchFamily="2" charset="2"/>
                        </a:rPr>
                        <a:t>Reduce defect rate </a:t>
                      </a: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of </a:t>
                      </a: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sym typeface="Wingdings" pitchFamily="2" charset="2"/>
                        </a:rPr>
                        <a:t>Model Porsche CID J1 Dual </a:t>
                      </a: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Luminance </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Period</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3">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2026.Mar.0</a:t>
                      </a:r>
                      <a:r>
                        <a:rPr kumimoji="1" lang="en-US" altLang="ko-KR" sz="1000" i="0" u="none" strike="noStrike" kern="0" cap="none" spc="0" normalizeH="0" baseline="0" noProof="0" dirty="0">
                          <a:ln>
                            <a:noFill/>
                          </a:ln>
                          <a:solidFill>
                            <a:schemeClr val="tx1"/>
                          </a:solidFill>
                          <a:effectLst/>
                          <a:uLnTx/>
                          <a:uFillTx/>
                          <a:latin typeface="+mn-lt"/>
                          <a:ea typeface="LG Smart_H Regular" pitchFamily="34" charset="-127"/>
                          <a:cs typeface="+mn-cs"/>
                        </a:rPr>
                        <a:t>9</a:t>
                      </a: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 xml:space="preserve"> ~ 2026.Sep.20</a:t>
                      </a: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en-US"/>
                    </a:p>
                  </a:txBody>
                  <a:tcPr/>
                </a:tc>
                <a:tc hMerge="1">
                  <a:txBody>
                    <a:bodyPr/>
                    <a:lstStyle/>
                    <a:p>
                      <a:pPr eaLnBrk="1" latinLnBrk="0"/>
                      <a:endParaRPr lang="ko-KR" altLang="en-US"/>
                    </a:p>
                  </a:txBody>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Task team name</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rgbClr val="000000"/>
                          </a:solidFill>
                          <a:effectLst/>
                          <a:latin typeface="Arial" panose="020B0600000101010101" pitchFamily="34" charset="-127"/>
                          <a:ea typeface="Arial" panose="020B0600000101010101" pitchFamily="34" charset="-127"/>
                          <a:cs typeface="Arial" charset="0"/>
                        </a:rPr>
                        <a:t>Inspection Engineering Project</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4836">
                <a:tc rowSpan="2"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Six Sigma Project</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hMerge="1">
                  <a:txBody>
                    <a:bodyPr/>
                    <a:lstStyle/>
                    <a:p>
                      <a:pPr eaLnBrk="1" latinLnBrk="0"/>
                      <a:endParaRPr lang="ko-KR" altLang="en-US"/>
                    </a:p>
                  </a:txBody>
                  <a:tcPr/>
                </a:tc>
                <a:tc gridSpan="7">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Improvement Goal (Stretch </a:t>
                      </a: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Goal)</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en-US"/>
                    </a:p>
                  </a:txBody>
                  <a:tcPr/>
                </a:tc>
                <a:tc hMerge="1">
                  <a:txBody>
                    <a:bodyPr/>
                    <a:lstStyle/>
                    <a:p>
                      <a:pPr eaLnBrk="1" latinLnBrk="0"/>
                      <a:endParaRPr lang="ko-KR" altLang="en-US"/>
                    </a:p>
                  </a:txBody>
                  <a:tcPr/>
                </a:tc>
                <a:tc rowSpan="2"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Idea of breaking the limit</a:t>
                      </a:r>
                      <a:endParaRPr kumimoji="0" lang="en-US"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hMerge="1">
                  <a:txBody>
                    <a:bodyPr/>
                    <a:lstStyle/>
                    <a:p>
                      <a:pPr eaLnBrk="1" latinLnBrk="0"/>
                      <a:endParaRPr lang="ko-KR" altLang="en-US"/>
                    </a:p>
                  </a:txBody>
                  <a:tcPr/>
                </a:tc>
                <a:extLst>
                  <a:ext uri="{0D108BD9-81ED-4DB2-BD59-A6C34878D82A}">
                    <a16:rowId xmlns:a16="http://schemas.microsoft.com/office/drawing/2014/main" val="10001"/>
                  </a:ext>
                </a:extLst>
              </a:tr>
              <a:tr h="405055">
                <a:tc gridSpan="2" vMerge="1">
                  <a:txBody>
                    <a:bodyPr/>
                    <a:lstStyle/>
                    <a:p>
                      <a:pPr eaLnBrk="1" latinLnBrk="0"/>
                      <a:endParaRPr lang="ko-KR" altLang="en-US"/>
                    </a:p>
                  </a:txBody>
                  <a:tcPr/>
                </a:tc>
                <a:tc hMerge="1" v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Improvement index</a:t>
                      </a:r>
                      <a:endParaRPr kumimoji="0" lang="en-US"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gridSpan="3">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Current</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hMerge="1">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World</a:t>
                      </a:r>
                    </a:p>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Best</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World</a:t>
                      </a:r>
                    </a:p>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Best</a:t>
                      </a:r>
                      <a:endParaRPr kumimoji="0" lang="en-US"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Goal</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vMerge="1">
                  <a:txBody>
                    <a:bodyPr/>
                    <a:lstStyle/>
                    <a:p>
                      <a:pPr eaLnBrk="1" latinLnBrk="0"/>
                      <a:endParaRPr lang="ko-KR" altLang="en-US"/>
                    </a:p>
                  </a:txBody>
                  <a:tcPr/>
                </a:tc>
                <a:tc hMerge="1" vMerge="1">
                  <a:txBody>
                    <a:bodyPr/>
                    <a:lstStyle/>
                    <a:p>
                      <a:pPr eaLnBrk="1" latinLnBrk="0"/>
                      <a:endParaRPr lang="ko-KR" altLang="en-US"/>
                    </a:p>
                  </a:txBody>
                  <a:tcPr/>
                </a:tc>
                <a:extLst>
                  <a:ext uri="{0D108BD9-81ED-4DB2-BD59-A6C34878D82A}">
                    <a16:rowId xmlns:a16="http://schemas.microsoft.com/office/drawing/2014/main" val="10002"/>
                  </a:ext>
                </a:extLst>
              </a:tr>
              <a:tr h="422810">
                <a:tc rowSpan="2" gridSpan="2">
                  <a:txBody>
                    <a:bodyPr/>
                    <a:lstStyle/>
                    <a:p>
                      <a:pPr algn="ctr" eaLnBrk="1" latinLnBrk="0"/>
                      <a:r>
                        <a:rPr lang="en-US" alt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Improve Luminance value</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pPr eaLnBrk="1" latinLnBrk="0"/>
                      <a:endParaRPr lang="ko-KR" altLang="en-US"/>
                    </a:p>
                  </a:txBody>
                  <a:tcPr/>
                </a:tc>
                <a:tc>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KPI</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1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pitchFamily="34" charset="0"/>
                        </a:rPr>
                        <a:t>Defect rate</a:t>
                      </a:r>
                    </a:p>
                    <a:p>
                      <a:pPr marL="0" marR="0" lvl="0" indent="0" algn="ctr" defTabSz="912813" rtl="0" eaLnBrk="1" fontAlgn="base" latinLnBrk="0" hangingPunct="1">
                        <a:lnSpc>
                          <a:spcPct val="11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pitchFamily="34" charset="0"/>
                        </a:rPr>
                        <a:t>(ppm) </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000" dirty="0">
                          <a:solidFill>
                            <a:schemeClr val="tx1"/>
                          </a:solidFill>
                          <a:latin typeface="Arial" panose="020B0600000101010101" pitchFamily="34" charset="-127"/>
                          <a:ea typeface="Arial" panose="020B0600000101010101" pitchFamily="34" charset="-127"/>
                          <a:cs typeface="Arial" panose="020B0604020202020204" pitchFamily="34" charset="0"/>
                        </a:rPr>
                        <a:t>226,624</a:t>
                      </a: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ppm</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hMerge="1">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eaLnBrk="1" latinLnBrk="0"/>
                      <a:r>
                        <a:rPr kumimoji="0" lang="en-US" altLang="ko-KR" sz="1000" b="0" i="0" u="none" strike="noStrike" kern="1200" cap="none" normalizeH="0" baseline="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10000"/>
                        </a:lnSpc>
                        <a:spcBef>
                          <a:spcPct val="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pitchFamily="34" charset="0"/>
                        </a:rPr>
                        <a:t>0 ppm</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rowSpan="2" gridSpan="2">
                  <a:txBody>
                    <a:bodyPr/>
                    <a:lstStyle/>
                    <a:p>
                      <a:pPr marL="171450" marR="0" lvl="0" indent="-171450" algn="l" defTabSz="914400" rtl="0" eaLnBrk="1" fontAlgn="base" latinLnBrk="0" hangingPunct="0">
                        <a:lnSpc>
                          <a:spcPct val="100000"/>
                        </a:lnSpc>
                        <a:spcBef>
                          <a:spcPct val="0"/>
                        </a:spcBef>
                        <a:spcAft>
                          <a:spcPct val="0"/>
                        </a:spcAft>
                        <a:buClrTx/>
                        <a:buSzTx/>
                        <a:buFontTx/>
                        <a:buChar char="-"/>
                        <a:tabLst/>
                        <a:defRPr/>
                      </a:pP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Teaching robot and change camera angle for detecting the central of PID</a:t>
                      </a:r>
                    </a:p>
                    <a:p>
                      <a:pPr marL="171450" marR="0" lvl="0" indent="-171450" algn="l" defTabSz="914400" rtl="0" eaLnBrk="1" fontAlgn="base" latinLnBrk="0" hangingPunct="0">
                        <a:lnSpc>
                          <a:spcPct val="100000"/>
                        </a:lnSpc>
                        <a:spcBef>
                          <a:spcPct val="0"/>
                        </a:spcBef>
                        <a:spcAft>
                          <a:spcPct val="0"/>
                        </a:spcAft>
                        <a:buClrTx/>
                        <a:buSzTx/>
                        <a:buFontTx/>
                        <a:buChar char="-"/>
                        <a:tabLst/>
                        <a:defRPr/>
                      </a:pP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Make check sheet to control camera equipment</a:t>
                      </a:r>
                    </a:p>
                    <a:p>
                      <a:pPr marL="171450" marR="0" lvl="0" indent="-171450" algn="l" defTabSz="914400" rtl="0" eaLnBrk="1" fontAlgn="base" latinLnBrk="0" hangingPunct="0">
                        <a:lnSpc>
                          <a:spcPct val="100000"/>
                        </a:lnSpc>
                        <a:spcBef>
                          <a:spcPct val="0"/>
                        </a:spcBef>
                        <a:spcAft>
                          <a:spcPct val="0"/>
                        </a:spcAft>
                        <a:buClrTx/>
                        <a:buSzTx/>
                        <a:buFontTx/>
                        <a:buChar char="-"/>
                        <a:tabLst/>
                        <a:defRPr/>
                      </a:pPr>
                      <a:endParaRPr kumimoji="1" lang="en-US" altLang="ko-KR" sz="1000" i="0" u="none" strike="noStrike" kern="0" cap="none" spc="0" normalizeH="0" baseline="0" noProof="0" dirty="0">
                        <a:ln>
                          <a:noFill/>
                        </a:ln>
                        <a:solidFill>
                          <a:schemeClr val="tx1"/>
                        </a:solidFill>
                        <a:effectLst/>
                        <a:uLnTx/>
                        <a:uFillTx/>
                        <a:latin typeface="LG Smart_H Regular" panose="020B0600000101010101" pitchFamily="34" charset="-127"/>
                        <a:ea typeface="LG Smart_H Regular" panose="020B0600000101010101" pitchFamily="34" charset="-127"/>
                        <a:cs typeface="+mn-cs"/>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pPr eaLnBrk="1" latinLnBrk="0"/>
                      <a:endParaRPr lang="ko-KR" altLang="en-US"/>
                    </a:p>
                  </a:txBody>
                  <a:tcPr/>
                </a:tc>
                <a:extLst>
                  <a:ext uri="{0D108BD9-81ED-4DB2-BD59-A6C34878D82A}">
                    <a16:rowId xmlns:a16="http://schemas.microsoft.com/office/drawing/2014/main" val="10003"/>
                  </a:ext>
                </a:extLst>
              </a:tr>
              <a:tr h="444862">
                <a:tc gridSpan="2" vMerge="1">
                  <a:txBody>
                    <a:bodyPr/>
                    <a:lstStyle/>
                    <a:p>
                      <a:pPr eaLnBrk="1" latinLnBrk="0"/>
                      <a:endParaRPr lang="ko-KR" altLang="en-US"/>
                    </a:p>
                  </a:txBody>
                  <a:tcPr/>
                </a:tc>
                <a:tc hMerge="1" vMerge="1">
                  <a:txBody>
                    <a:bodyPr/>
                    <a:lstStyle/>
                    <a:p>
                      <a:pPr eaLnBrk="1" latinLnBrk="0"/>
                      <a:endParaRPr lang="ko-KR" altLang="en-US"/>
                    </a:p>
                  </a:txBody>
                  <a:tcPr/>
                </a:tc>
                <a:tc>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ProjectY</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Luminance </a:t>
                      </a:r>
                    </a:p>
                    <a:p>
                      <a:pPr algn="ctr" eaLnBrk="1" latinLnBrk="0"/>
                      <a:r>
                        <a:rPr kumimoji="0" lang="en-US" altLang="ko-KR" sz="1000" b="0" i="1"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(800-2000Cd/m</a:t>
                      </a:r>
                      <a:r>
                        <a:rPr kumimoji="0" lang="en-US" altLang="ko-KR" sz="1000" b="0" i="1" u="none" strike="noStrike" kern="1200" cap="none" normalizeH="0" baseline="30000" dirty="0">
                          <a:ln>
                            <a:noFill/>
                          </a:ln>
                          <a:solidFill>
                            <a:schemeClr val="tx1"/>
                          </a:solidFill>
                          <a:effectLst/>
                          <a:latin typeface="Arial" panose="020B0600000101010101" pitchFamily="34" charset="-127"/>
                          <a:ea typeface="Arial" panose="020B0600000101010101" pitchFamily="34" charset="-127"/>
                          <a:cs typeface="Arial" charset="0"/>
                        </a:rPr>
                        <a:t>2</a:t>
                      </a:r>
                      <a:r>
                        <a:rPr kumimoji="0" lang="en-US" altLang="ko-KR" sz="1000" b="0" i="1"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a:t>
                      </a:r>
                      <a:endParaRPr kumimoji="0" lang="ko-KR" altLang="en-US" sz="1000" b="0" i="1"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3">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Cpk = 0.45</a:t>
                      </a:r>
                    </a:p>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Z = 1.35</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Cpk ≥ 1.33</a:t>
                      </a:r>
                    </a:p>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Z = 4.5</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2" vMerge="1">
                  <a:txBody>
                    <a:bodyPr/>
                    <a:lstStyle/>
                    <a:p>
                      <a:pPr eaLnBrk="1" latinLnBrk="0"/>
                      <a:endParaRPr lang="ko-KR" altLang="en-US"/>
                    </a:p>
                  </a:txBody>
                  <a:tcPr/>
                </a:tc>
                <a:tc hMerge="1" vMerge="1">
                  <a:txBody>
                    <a:bodyPr/>
                    <a:lstStyle/>
                    <a:p>
                      <a:pPr eaLnBrk="1" latinLnBrk="0"/>
                      <a:endParaRPr lang="ko-KR" altLang="en-US"/>
                    </a:p>
                  </a:txBody>
                  <a:tcPr/>
                </a:tc>
                <a:extLst>
                  <a:ext uri="{0D108BD9-81ED-4DB2-BD59-A6C34878D82A}">
                    <a16:rowId xmlns:a16="http://schemas.microsoft.com/office/drawing/2014/main" val="10004"/>
                  </a:ext>
                </a:extLst>
              </a:tr>
              <a:tr h="311821">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Management</a:t>
                      </a:r>
                      <a:r>
                        <a:rPr kumimoji="0" lang="ko-KR" altLang="en-US"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 </a:t>
                      </a: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Issue (Biz. Issue)</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gridSpan="7">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Implement Plan</a:t>
                      </a:r>
                      <a:r>
                        <a:rPr kumimoji="0" lang="ko-KR" altLang="en-US"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 </a:t>
                      </a: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(Fast &amp; Strong)</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en-US"/>
                    </a:p>
                  </a:txBody>
                  <a:tcPr/>
                </a:tc>
                <a:tc h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Task Member</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extLst>
                  <a:ext uri="{0D108BD9-81ED-4DB2-BD59-A6C34878D82A}">
                    <a16:rowId xmlns:a16="http://schemas.microsoft.com/office/drawing/2014/main" val="10005"/>
                  </a:ext>
                </a:extLst>
              </a:tr>
              <a:tr h="1619045">
                <a:tc rowSpan="3" gridSpan="2">
                  <a:txBody>
                    <a:bodyPr/>
                    <a:lstStyle/>
                    <a:p>
                      <a:pPr marL="114300" indent="0" algn="l" eaLnBrk="1" fontAlgn="b" latinLnBrk="0">
                        <a:lnSpc>
                          <a:spcPct val="150000"/>
                        </a:lnSpc>
                        <a:buNone/>
                      </a:pPr>
                      <a:r>
                        <a:rPr kumimoji="0" lang="en-US" altLang="ko-KR" sz="1000" b="0" i="0" u="none" strike="noStrike" cap="none" normalizeH="0" baseline="0" dirty="0">
                          <a:ln>
                            <a:noFill/>
                          </a:ln>
                          <a:solidFill>
                            <a:schemeClr val="tx1"/>
                          </a:solidFill>
                          <a:effectLst/>
                          <a:latin typeface="Arial" pitchFamily="34" charset="-127"/>
                          <a:ea typeface="Arial" pitchFamily="34" charset="-127"/>
                          <a:cs typeface="Arial" pitchFamily="34" charset="0"/>
                          <a:sym typeface="Wingdings" pitchFamily="2" charset="2"/>
                        </a:rPr>
                        <a:t>- The Luminance issue affects the line UPH and causes loss time.</a:t>
                      </a:r>
                    </a:p>
                    <a:p>
                      <a:pPr marL="114300" indent="0" algn="l" eaLnBrk="1" fontAlgn="b" latinLnBrk="0">
                        <a:lnSpc>
                          <a:spcPct val="150000"/>
                        </a:lnSpc>
                        <a:buNone/>
                      </a:pPr>
                      <a:r>
                        <a:rPr kumimoji="0" lang="en-US" altLang="ko-KR" sz="1000" b="0" i="0" u="none" strike="noStrike" cap="none" normalizeH="0" baseline="0" dirty="0">
                          <a:ln>
                            <a:noFill/>
                          </a:ln>
                          <a:solidFill>
                            <a:schemeClr val="tx1"/>
                          </a:solidFill>
                          <a:effectLst/>
                          <a:latin typeface="Arial" pitchFamily="34" charset="-127"/>
                          <a:ea typeface="Arial" pitchFamily="34" charset="-127"/>
                          <a:cs typeface="Arial" pitchFamily="34" charset="0"/>
                          <a:sym typeface="Wingdings" pitchFamily="2" charset="2"/>
                        </a:rPr>
                        <a:t>- NG LCDs after retest are returned to the supplier (HEESUNG) for scrap, leading to IF cost, so an action is needed to eliminate this issue and improve factory performance.</a:t>
                      </a:r>
                    </a:p>
                    <a:p>
                      <a:pPr marL="114300" indent="0" algn="l" eaLnBrk="1" fontAlgn="b" latinLnBrk="0">
                        <a:lnSpc>
                          <a:spcPct val="150000"/>
                        </a:lnSpc>
                        <a:buNone/>
                      </a:pPr>
                      <a:endParaRPr kumimoji="0" lang="en-US" altLang="ko-KR" sz="1000" b="0" i="0" u="none" strike="noStrike" cap="none" normalizeH="0" baseline="0" dirty="0">
                        <a:ln>
                          <a:noFill/>
                        </a:ln>
                        <a:solidFill>
                          <a:schemeClr val="tx1"/>
                        </a:solidFill>
                        <a:effectLst/>
                        <a:latin typeface="LG Smart_H Regular" pitchFamily="34" charset="-127"/>
                        <a:ea typeface="LG Smart_H Regular" pitchFamily="34" charset="-127"/>
                        <a:cs typeface="Arial" pitchFamily="34" charset="0"/>
                        <a:sym typeface="Wingdings" pitchFamily="2" charset="2"/>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hMerge="1">
                  <a:txBody>
                    <a:bodyPr/>
                    <a:lstStyle/>
                    <a:p>
                      <a:pPr eaLnBrk="1" latinLnBrk="0"/>
                      <a:endParaRPr lang="ko-KR" altLang="en-US"/>
                    </a:p>
                  </a:txBody>
                  <a:tcPr/>
                </a:tc>
                <a:tc rowSpan="3" gridSpan="7">
                  <a:txBody>
                    <a:bodyPr/>
                    <a:lstStyle/>
                    <a:p>
                      <a:pPr marL="0" marR="0" lvl="0" indent="0" algn="ctr" defTabSz="912813" rtl="0" eaLnBrk="1" fontAlgn="base" latinLnBrk="0" hangingPunct="1">
                        <a:lnSpc>
                          <a:spcPct val="100000"/>
                        </a:lnSpc>
                        <a:spcBef>
                          <a:spcPct val="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hMerge="1">
                  <a:txBody>
                    <a:bodyPr/>
                    <a:lstStyle/>
                    <a:p>
                      <a:pPr eaLnBrk="1" latinLnBrk="0"/>
                      <a:endParaRPr lang="ko-KR" altLang="en-US"/>
                    </a:p>
                  </a:txBody>
                  <a:tcPr/>
                </a:tc>
                <a:tc rowSpan="3" hMerge="1">
                  <a:txBody>
                    <a:bodyPr/>
                    <a:lstStyle/>
                    <a:p>
                      <a:pPr eaLnBrk="1" latinLnBrk="0"/>
                      <a:endParaRPr lang="ko-KR" altLang="en-US"/>
                    </a:p>
                  </a:txBody>
                  <a:tcPr/>
                </a:tc>
                <a:tc rowSpan="3" hMerge="1">
                  <a:txBody>
                    <a:bodyPr/>
                    <a:lstStyle/>
                    <a:p>
                      <a:pPr eaLnBrk="1" latinLnBrk="0"/>
                      <a:endParaRPr lang="ko-KR" altLang="en-US"/>
                    </a:p>
                  </a:txBody>
                  <a:tcPr/>
                </a:tc>
                <a:tc rowSpan="3" hMerge="1">
                  <a:txBody>
                    <a:bodyPr/>
                    <a:lstStyle/>
                    <a:p>
                      <a:pPr eaLnBrk="1" latinLnBrk="0"/>
                      <a:endParaRPr lang="ko-KR" altLang="en-US"/>
                    </a:p>
                  </a:txBody>
                  <a:tcPr/>
                </a:tc>
                <a:tc rowSpan="3" hMerge="1">
                  <a:txBody>
                    <a:bodyPr/>
                    <a:lstStyle/>
                    <a:p>
                      <a:pPr eaLnBrk="1" latinLnBrk="0"/>
                      <a:endParaRPr lang="en-US"/>
                    </a:p>
                  </a:txBody>
                  <a:tcPr/>
                </a:tc>
                <a:tc rowSpan="3" hMerge="1">
                  <a:txBody>
                    <a:bodyPr/>
                    <a:lstStyle/>
                    <a:p>
                      <a:pPr eaLnBrk="1" latinLnBrk="0"/>
                      <a:endParaRPr lang="ko-KR" altLang="en-US"/>
                    </a:p>
                  </a:txBody>
                  <a:tcPr/>
                </a:tc>
                <a:tc gridSpan="2">
                  <a:txBody>
                    <a:bodyPr/>
                    <a:lstStyle/>
                    <a:p>
                      <a:pPr marL="0" marR="0" lvl="0" indent="0" algn="l"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 </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extLst>
                  <a:ext uri="{0D108BD9-81ED-4DB2-BD59-A6C34878D82A}">
                    <a16:rowId xmlns:a16="http://schemas.microsoft.com/office/drawing/2014/main" val="10006"/>
                  </a:ext>
                </a:extLst>
              </a:tr>
              <a:tr h="311821">
                <a:tc gridSpan="2" vMerge="1">
                  <a:txBody>
                    <a:bodyPr/>
                    <a:lstStyle/>
                    <a:p>
                      <a:pPr eaLnBrk="1" latinLnBrk="0"/>
                      <a:endParaRPr lang="ko-KR" altLang="en-US"/>
                    </a:p>
                  </a:txBody>
                  <a:tcPr/>
                </a:tc>
                <a:tc hMerge="1" vMerge="1">
                  <a:txBody>
                    <a:bodyPr/>
                    <a:lstStyle/>
                    <a:p>
                      <a:pPr eaLnBrk="1" latinLnBrk="0"/>
                      <a:endParaRPr lang="ko-KR" altLang="en-US"/>
                    </a:p>
                  </a:txBody>
                  <a:tcPr/>
                </a:tc>
                <a:tc gridSpan="7"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en-US"/>
                    </a:p>
                  </a:txBody>
                  <a:tcPr/>
                </a:tc>
                <a:tc hMerge="1" v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Location</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extLst>
                  <a:ext uri="{0D108BD9-81ED-4DB2-BD59-A6C34878D82A}">
                    <a16:rowId xmlns:a16="http://schemas.microsoft.com/office/drawing/2014/main" val="10007"/>
                  </a:ext>
                </a:extLst>
              </a:tr>
              <a:tr h="288121">
                <a:tc gridSpan="2" vMerge="1">
                  <a:txBody>
                    <a:bodyPr/>
                    <a:lstStyle/>
                    <a:p>
                      <a:pPr eaLnBrk="1" latinLnBrk="0"/>
                      <a:endParaRPr lang="ko-KR" altLang="en-US"/>
                    </a:p>
                  </a:txBody>
                  <a:tcPr/>
                </a:tc>
                <a:tc hMerge="1" vMerge="1">
                  <a:txBody>
                    <a:bodyPr/>
                    <a:lstStyle/>
                    <a:p>
                      <a:pPr eaLnBrk="1" latinLnBrk="0"/>
                      <a:endParaRPr lang="ko-KR" altLang="en-US"/>
                    </a:p>
                  </a:txBody>
                  <a:tcPr/>
                </a:tc>
                <a:tc gridSpan="7"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en-US"/>
                    </a:p>
                  </a:txBody>
                  <a:tcPr/>
                </a:tc>
                <a:tc hMerge="1" v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panose="020B0604020202020204" pitchFamily="34" charset="0"/>
                          <a:ea typeface="LG Smart_H Regular" pitchFamily="34" charset="-127"/>
                          <a:cs typeface="Arial" panose="020B0604020202020204" pitchFamily="34" charset="0"/>
                        </a:rPr>
                        <a:t>LG Electronics Viet Nam-Hai Phong</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extLst>
                  <a:ext uri="{0D108BD9-81ED-4DB2-BD59-A6C34878D82A}">
                    <a16:rowId xmlns:a16="http://schemas.microsoft.com/office/drawing/2014/main" val="10008"/>
                  </a:ext>
                </a:extLst>
              </a:tr>
              <a:tr h="311821">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Qualitative Performance</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gridSpan="7">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Quantitative Performance</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en-US"/>
                    </a:p>
                  </a:txBody>
                  <a:tcPr/>
                </a:tc>
                <a:tc h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Neck Point</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extLst>
                  <a:ext uri="{0D108BD9-81ED-4DB2-BD59-A6C34878D82A}">
                    <a16:rowId xmlns:a16="http://schemas.microsoft.com/office/drawing/2014/main" val="10009"/>
                  </a:ext>
                </a:extLst>
              </a:tr>
              <a:tr h="820614">
                <a:tc gridSpan="2">
                  <a:txBody>
                    <a:bodyPr/>
                    <a:lstStyle/>
                    <a:p>
                      <a:pPr marL="0" marR="0" lvl="0" indent="0" algn="l" defTabSz="912813" rtl="0" eaLnBrk="1" fontAlgn="base" latinLnBrk="0" hangingPunct="1">
                        <a:lnSpc>
                          <a:spcPct val="100000"/>
                        </a:lnSpc>
                        <a:spcBef>
                          <a:spcPct val="0"/>
                        </a:spcBef>
                        <a:spcAft>
                          <a:spcPct val="0"/>
                        </a:spcAft>
                        <a:buClrTx/>
                        <a:buSzTx/>
                        <a:buFont typeface="Arial" charset="0"/>
                        <a:buNone/>
                        <a:tabLst/>
                        <a:defRPr/>
                      </a:pPr>
                      <a:r>
                        <a:rPr kumimoji="0"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sym typeface="Wingdings" pitchFamily="2" charset="2"/>
                        </a:rPr>
                        <a:t>Improving smoothly testing process for sets</a:t>
                      </a:r>
                    </a:p>
                    <a:p>
                      <a:pPr marL="0" marR="0" lvl="0" indent="0" algn="l" defTabSz="912813" rtl="0" eaLnBrk="1" fontAlgn="base" latinLnBrk="0" hangingPunct="1">
                        <a:lnSpc>
                          <a:spcPct val="100000"/>
                        </a:lnSpc>
                        <a:spcBef>
                          <a:spcPct val="0"/>
                        </a:spcBef>
                        <a:spcAft>
                          <a:spcPct val="0"/>
                        </a:spcAft>
                        <a:buClrTx/>
                        <a:buSzTx/>
                        <a:buFont typeface="Arial" charset="0"/>
                        <a:buNone/>
                        <a:tabLst/>
                        <a:defRPr/>
                      </a:pPr>
                      <a:r>
                        <a:rPr kumimoji="0"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sym typeface="Wingdings" pitchFamily="2" charset="2"/>
                        </a:rPr>
                        <a:t>Reducing cost </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gridSpan="7">
                  <a:txBody>
                    <a:bodyPr/>
                    <a:lstStyle/>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rPr>
                        <a:t>1 LCD part =118.72$</a:t>
                      </a:r>
                    </a:p>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rPr>
                        <a:t>The scrap cost of Luminance issue on March:</a:t>
                      </a:r>
                    </a:p>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rPr>
                        <a:t>19*118.72 = 2255.68$</a:t>
                      </a:r>
                    </a:p>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sym typeface="Wingdings" panose="05000000000000000000" pitchFamily="2" charset="2"/>
                        </a:rPr>
                        <a:t> Result: 0 NG / 420 sets after improvement</a:t>
                      </a:r>
                      <a:endParaRPr lang="en-US" altLang="ko-KR" sz="1000" b="0" dirty="0">
                        <a:solidFill>
                          <a:srgbClr val="000000"/>
                        </a:solidFill>
                        <a:latin typeface="LG스마트체 Regular" panose="020B0600000101010101" pitchFamily="50" charset="-127"/>
                        <a:ea typeface="LG스마트체 Regular" panose="020B0600000101010101" pitchFamily="50"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en-US"/>
                    </a:p>
                  </a:txBody>
                  <a:tcPr/>
                </a:tc>
                <a:tc h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rgbClr val="000000"/>
                          </a:solidFill>
                          <a:effectLst/>
                          <a:latin typeface="Arial" panose="020B0600000101010101" pitchFamily="50" charset="-127"/>
                          <a:ea typeface="Arial" panose="020B0600000101010101" pitchFamily="50" charset="-127"/>
                          <a:cs typeface="Arial" charset="0"/>
                        </a:rPr>
                        <a:t>Because improvement action related to equipment, So need support from PE team</a:t>
                      </a:r>
                    </a:p>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ko-KR" sz="1000" b="0" i="0" u="none" strike="noStrike" cap="none" normalizeH="0" baseline="0" dirty="0">
                        <a:ln>
                          <a:noFill/>
                        </a:ln>
                        <a:solidFill>
                          <a:srgbClr val="000000"/>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extLst>
                  <a:ext uri="{0D108BD9-81ED-4DB2-BD59-A6C34878D82A}">
                    <a16:rowId xmlns:a16="http://schemas.microsoft.com/office/drawing/2014/main" val="10010"/>
                  </a:ext>
                </a:extLst>
              </a:tr>
            </a:tbl>
          </a:graphicData>
        </a:graphic>
      </p:graphicFrame>
      <p:sp>
        <p:nvSpPr>
          <p:cNvPr id="19552" name="직사각형 39"/>
          <p:cNvSpPr>
            <a:spLocks noChangeArrowheads="1"/>
          </p:cNvSpPr>
          <p:nvPr/>
        </p:nvSpPr>
        <p:spPr bwMode="auto">
          <a:xfrm>
            <a:off x="2714516" y="3335179"/>
            <a:ext cx="843501" cy="246221"/>
          </a:xfrm>
          <a:prstGeom prst="rect">
            <a:avLst/>
          </a:prstGeom>
          <a:noFill/>
          <a:ln w="9525">
            <a:noFill/>
            <a:miter lim="800000"/>
            <a:headEnd/>
            <a:tailEnd/>
          </a:ln>
        </p:spPr>
        <p:txBody>
          <a:bodyPr wrap="none">
            <a:spAutoFit/>
          </a:bodyPr>
          <a:lstStyle/>
          <a:p>
            <a:pPr eaLnBrk="1" latinLnBrk="0" hangingPunct="0"/>
            <a:r>
              <a:rPr kumimoji="0" lang="ko-KR" altLang="en-US" sz="1000" dirty="0">
                <a:solidFill>
                  <a:srgbClr val="000000"/>
                </a:solidFill>
                <a:latin typeface="Arial" panose="020B0600000101010101" pitchFamily="50" charset="-127"/>
                <a:ea typeface="Arial" panose="020B0600000101010101" pitchFamily="50" charset="-127"/>
                <a:cs typeface="Arial" pitchFamily="34" charset="0"/>
                <a:sym typeface="Wingdings" pitchFamily="2" charset="2"/>
              </a:rPr>
              <a:t> </a:t>
            </a:r>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Schedule</a:t>
            </a:r>
            <a:endParaRPr kumimoji="0" lang="ko-KR" altLang="en-US" sz="1000" dirty="0">
              <a:solidFill>
                <a:srgbClr val="000000"/>
              </a:solidFill>
              <a:latin typeface="LG스마트체 Regular" panose="020B0600000101010101" pitchFamily="50" charset="-127"/>
              <a:ea typeface="LG스마트체 Regular" panose="020B0600000101010101" pitchFamily="50" charset="-127"/>
              <a:cs typeface="Arial" pitchFamily="34" charset="0"/>
            </a:endParaRPr>
          </a:p>
        </p:txBody>
      </p:sp>
      <p:sp>
        <p:nvSpPr>
          <p:cNvPr id="19553" name="직사각형 40"/>
          <p:cNvSpPr>
            <a:spLocks noChangeArrowheads="1"/>
          </p:cNvSpPr>
          <p:nvPr/>
        </p:nvSpPr>
        <p:spPr bwMode="auto">
          <a:xfrm>
            <a:off x="2732062" y="3886200"/>
            <a:ext cx="4078288" cy="1804661"/>
          </a:xfrm>
          <a:prstGeom prst="rect">
            <a:avLst/>
          </a:prstGeom>
          <a:noFill/>
          <a:ln w="9525">
            <a:noFill/>
            <a:miter lim="800000"/>
            <a:headEnd/>
            <a:tailEnd/>
          </a:ln>
        </p:spPr>
        <p:txBody>
          <a:bodyPr>
            <a:spAutoFit/>
          </a:bodyPr>
          <a:lstStyle/>
          <a:p>
            <a:pPr eaLnBrk="1" latinLnBrk="0" hangingPunct="0">
              <a:lnSpc>
                <a:spcPts val="1500"/>
              </a:lnSpc>
              <a:buFont typeface="Wingdings" pitchFamily="2" charset="2"/>
              <a:buChar char="q"/>
            </a:pPr>
            <a:r>
              <a:rPr kumimoji="0" lang="ko-KR" altLang="en-US" sz="1000" dirty="0">
                <a:solidFill>
                  <a:srgbClr val="000000"/>
                </a:solidFill>
                <a:latin typeface="Arial" panose="020B0600000101010101" pitchFamily="34" charset="-127"/>
                <a:ea typeface="Arial" panose="020B0600000101010101" pitchFamily="34" charset="-127"/>
                <a:cs typeface="Arial" pitchFamily="34" charset="0"/>
                <a:sym typeface="Wingdings" pitchFamily="2" charset="2"/>
              </a:rPr>
              <a:t> </a:t>
            </a: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sym typeface="Wingdings" pitchFamily="2" charset="2"/>
              </a:rPr>
              <a:t>Key activity / Output</a:t>
            </a:r>
          </a:p>
          <a:p>
            <a:pPr eaLnBrk="1" latinLnBrk="0" hangingPunct="0">
              <a:lnSpc>
                <a:spcPts val="1500"/>
              </a:lnSpc>
              <a:buFont typeface="Arial" panose="020B0604020202020204" pitchFamily="34" charset="0"/>
              <a:buChar char="•"/>
            </a:pPr>
            <a:r>
              <a:rPr kumimoji="0" lang="ko-KR" altLang="en-US" sz="1000" dirty="0">
                <a:solidFill>
                  <a:srgbClr val="000000"/>
                </a:solidFill>
                <a:latin typeface="Arial" panose="020B0600000101010101" pitchFamily="34" charset="-127"/>
                <a:ea typeface="Arial" panose="020B0600000101010101" pitchFamily="34" charset="-127"/>
                <a:cs typeface="Arial" pitchFamily="34" charset="0"/>
              </a:rPr>
              <a:t> </a:t>
            </a: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D : </a:t>
            </a:r>
            <a:r>
              <a:rPr lang="en-US" sz="1000" dirty="0">
                <a:latin typeface="Arial" panose="020B0600000101010101" pitchFamily="34" charset="-127"/>
                <a:ea typeface="Arial" panose="020B0600000101010101" pitchFamily="34" charset="-127"/>
                <a:cs typeface="Arial" panose="020B0604020202020204" pitchFamily="34" charset="0"/>
              </a:rPr>
              <a:t>Define issue, </a:t>
            </a:r>
            <a:r>
              <a:rPr lang="en-US" sz="1000" kern="0" dirty="0">
                <a:solidFill>
                  <a:srgbClr val="000000"/>
                </a:solidFill>
                <a:latin typeface="Arial" panose="020B0600000101010101" pitchFamily="34" charset="-127"/>
                <a:ea typeface="Arial" panose="020B0600000101010101" pitchFamily="34" charset="-127"/>
                <a:cs typeface="Arial" panose="020B0604020202020204" pitchFamily="34" charset="0"/>
              </a:rPr>
              <a:t>d</a:t>
            </a:r>
            <a:r>
              <a:rPr lang="en-US" altLang="ko-KR" sz="1000" kern="0" dirty="0">
                <a:solidFill>
                  <a:srgbClr val="000000"/>
                </a:solidFill>
                <a:latin typeface="Arial" panose="020B0600000101010101" pitchFamily="34" charset="-127"/>
                <a:ea typeface="Arial" panose="020B0600000101010101" pitchFamily="34" charset="-127"/>
                <a:cs typeface="Arial" panose="020B0604020202020204" pitchFamily="34" charset="0"/>
              </a:rPr>
              <a:t>efine defect rate, collect defective sample and issue information</a:t>
            </a:r>
          </a:p>
          <a:p>
            <a:pPr eaLnBrk="1" latin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M : </a:t>
            </a:r>
            <a:r>
              <a:rPr lang="en-US" sz="1000" dirty="0">
                <a:latin typeface="Arial" panose="020B0600000101010101" pitchFamily="34" charset="-127"/>
                <a:ea typeface="Arial" panose="020B0600000101010101" pitchFamily="34" charset="-127"/>
              </a:rPr>
              <a:t>Gage R&amp;R (Type 1, Type 3) to evaluate equipment</a:t>
            </a:r>
            <a:endParaRPr lang="en-US" sz="1000" dirty="0">
              <a:solidFill>
                <a:srgbClr val="000000"/>
              </a:solidFill>
              <a:latin typeface="LG Smart_H Regular" panose="020B0600000101010101" pitchFamily="34" charset="-127"/>
              <a:ea typeface="LG Smart_H Regular" panose="020B0600000101010101" pitchFamily="34" charset="-127"/>
              <a:cs typeface="Arial" pitchFamily="34" charset="0"/>
            </a:endParaRPr>
          </a:p>
          <a:p>
            <a:pPr eaLnBrk="1" latin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A : </a:t>
            </a:r>
            <a:r>
              <a:rPr lang="en-US" sz="1000" dirty="0">
                <a:latin typeface="Arial" panose="020B0600000101010101" pitchFamily="34" charset="-127"/>
                <a:ea typeface="Arial" panose="020B0600000101010101" pitchFamily="34" charset="-127"/>
              </a:rPr>
              <a:t xml:space="preserve">Use logic tree and 5 Why to find root cause. </a:t>
            </a:r>
            <a:r>
              <a:rPr lang="en-GB" altLang="ko-KR" sz="1000" kern="0" dirty="0">
                <a:solidFill>
                  <a:srgbClr val="000000"/>
                </a:solidFill>
                <a:latin typeface="Arial" panose="020B0600000101010101" pitchFamily="34" charset="-127"/>
                <a:ea typeface="Arial" panose="020B0600000101010101" pitchFamily="34" charset="-127"/>
                <a:cs typeface="Arial" pitchFamily="34" charset="0"/>
              </a:rPr>
              <a:t>Test samples with different CANSIM, camera and camera angle</a:t>
            </a:r>
          </a:p>
          <a:p>
            <a:pPr eaLnBrk="1" latin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I : </a:t>
            </a:r>
            <a:r>
              <a:rPr lang="en-US" sz="1000" dirty="0">
                <a:latin typeface="Arial" panose="020B0600000101010101" pitchFamily="34" charset="-127"/>
                <a:ea typeface="Arial" panose="020B0600000101010101" pitchFamily="34" charset="-127"/>
              </a:rPr>
              <a:t xml:space="preserve">Meeting with HQ IE to discuss improvement action. </a:t>
            </a:r>
            <a:r>
              <a:rPr lang="en-US" altLang="ko-KR" sz="1000" kern="0" dirty="0">
                <a:solidFill>
                  <a:srgbClr val="000000"/>
                </a:solidFill>
                <a:latin typeface="Arial" panose="020B0600000101010101" pitchFamily="34" charset="-127"/>
                <a:ea typeface="Arial" panose="020B0600000101010101" pitchFamily="34" charset="-127"/>
                <a:cs typeface="Arial" pitchFamily="34" charset="0"/>
              </a:rPr>
              <a:t>Correct camera angle to 90° and verify the result</a:t>
            </a:r>
            <a:endParaRPr kumimoji="0" lang="ko-KR" altLang="en-US" sz="1000" dirty="0">
              <a:solidFill>
                <a:srgbClr val="000000"/>
              </a:solidFill>
              <a:latin typeface="LG Smart_H Regular" panose="020B0600000101010101" pitchFamily="34" charset="-127"/>
              <a:ea typeface="LG Smart_H Regular" panose="020B0600000101010101" pitchFamily="34" charset="-127"/>
              <a:cs typeface="Arial" pitchFamily="34" charset="0"/>
            </a:endParaRPr>
          </a:p>
          <a:p>
            <a:pPr eaLnBrk="1" latin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C :</a:t>
            </a:r>
            <a:r>
              <a:rPr kumimoji="0" lang="ko-KR" altLang="en-US" sz="1000" dirty="0">
                <a:solidFill>
                  <a:srgbClr val="000000"/>
                </a:solidFill>
                <a:latin typeface="Arial" panose="020B0600000101010101" pitchFamily="34" charset="-127"/>
                <a:ea typeface="Arial" panose="020B0600000101010101" pitchFamily="34" charset="-127"/>
                <a:cs typeface="Arial" pitchFamily="34" charset="0"/>
              </a:rPr>
              <a:t> </a:t>
            </a:r>
            <a:r>
              <a:rPr lang="en-GB" altLang="ko-KR" sz="1000" kern="0" dirty="0">
                <a:solidFill>
                  <a:srgbClr val="000000"/>
                </a:solidFill>
                <a:latin typeface="Arial" panose="020B0600000101010101" pitchFamily="34" charset="-127"/>
                <a:ea typeface="Arial" panose="020B0600000101010101" pitchFamily="34" charset="-127"/>
                <a:cs typeface="Arial" pitchFamily="34" charset="0"/>
              </a:rPr>
              <a:t>Control by daily Master sample check; defect rate via GMES</a:t>
            </a:r>
          </a:p>
        </p:txBody>
      </p:sp>
      <p:sp>
        <p:nvSpPr>
          <p:cNvPr id="19554" name="AutoShape 110"/>
          <p:cNvSpPr>
            <a:spLocks noChangeArrowheads="1"/>
          </p:cNvSpPr>
          <p:nvPr/>
        </p:nvSpPr>
        <p:spPr bwMode="auto">
          <a:xfrm>
            <a:off x="2999259" y="3644131"/>
            <a:ext cx="576262" cy="288925"/>
          </a:xfrm>
          <a:prstGeom prst="homePlate">
            <a:avLst>
              <a:gd name="adj" fmla="val 46021"/>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D</a:t>
            </a:r>
          </a:p>
        </p:txBody>
      </p:sp>
      <p:sp>
        <p:nvSpPr>
          <p:cNvPr id="19555" name="AutoShape 111"/>
          <p:cNvSpPr>
            <a:spLocks noChangeArrowheads="1"/>
          </p:cNvSpPr>
          <p:nvPr/>
        </p:nvSpPr>
        <p:spPr bwMode="auto">
          <a:xfrm>
            <a:off x="3575521" y="3644131"/>
            <a:ext cx="577850" cy="288925"/>
          </a:xfrm>
          <a:prstGeom prst="homePlate">
            <a:avLst>
              <a:gd name="adj" fmla="val 46148"/>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a:solidFill>
                  <a:srgbClr val="000000"/>
                </a:solidFill>
                <a:latin typeface="Arial" panose="020B0600000101010101" pitchFamily="50" charset="-127"/>
                <a:ea typeface="Arial" panose="020B0600000101010101" pitchFamily="50" charset="-127"/>
                <a:cs typeface="Arial" pitchFamily="34" charset="0"/>
              </a:rPr>
              <a:t>M</a:t>
            </a:r>
          </a:p>
        </p:txBody>
      </p:sp>
      <p:sp>
        <p:nvSpPr>
          <p:cNvPr id="19556" name="AutoShape 112"/>
          <p:cNvSpPr>
            <a:spLocks noChangeArrowheads="1"/>
          </p:cNvSpPr>
          <p:nvPr/>
        </p:nvSpPr>
        <p:spPr bwMode="auto">
          <a:xfrm>
            <a:off x="4151784" y="3644131"/>
            <a:ext cx="577850" cy="288925"/>
          </a:xfrm>
          <a:prstGeom prst="homePlate">
            <a:avLst>
              <a:gd name="adj" fmla="val 46148"/>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a:solidFill>
                  <a:srgbClr val="000000"/>
                </a:solidFill>
                <a:latin typeface="Arial" panose="020B0600000101010101" pitchFamily="50" charset="-127"/>
                <a:ea typeface="Arial" panose="020B0600000101010101" pitchFamily="50" charset="-127"/>
                <a:cs typeface="Arial" pitchFamily="34" charset="0"/>
              </a:rPr>
              <a:t>A</a:t>
            </a:r>
          </a:p>
        </p:txBody>
      </p:sp>
      <p:sp>
        <p:nvSpPr>
          <p:cNvPr id="19557" name="AutoShape 117"/>
          <p:cNvSpPr>
            <a:spLocks noChangeArrowheads="1"/>
          </p:cNvSpPr>
          <p:nvPr/>
        </p:nvSpPr>
        <p:spPr bwMode="auto">
          <a:xfrm>
            <a:off x="4729634" y="3644131"/>
            <a:ext cx="577850" cy="288925"/>
          </a:xfrm>
          <a:prstGeom prst="homePlate">
            <a:avLst>
              <a:gd name="adj" fmla="val 46148"/>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a:solidFill>
                  <a:srgbClr val="000000"/>
                </a:solidFill>
                <a:latin typeface="Arial" panose="020B0600000101010101" pitchFamily="50" charset="-127"/>
                <a:ea typeface="Arial" panose="020B0600000101010101" pitchFamily="50" charset="-127"/>
                <a:cs typeface="Arial" pitchFamily="34" charset="0"/>
              </a:rPr>
              <a:t>I</a:t>
            </a:r>
          </a:p>
        </p:txBody>
      </p:sp>
      <p:sp>
        <p:nvSpPr>
          <p:cNvPr id="19558" name="AutoShape 118"/>
          <p:cNvSpPr>
            <a:spLocks noChangeArrowheads="1"/>
          </p:cNvSpPr>
          <p:nvPr/>
        </p:nvSpPr>
        <p:spPr bwMode="auto">
          <a:xfrm>
            <a:off x="5305896" y="3644131"/>
            <a:ext cx="576263" cy="288925"/>
          </a:xfrm>
          <a:prstGeom prst="homePlate">
            <a:avLst>
              <a:gd name="adj" fmla="val 46021"/>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a:solidFill>
                  <a:srgbClr val="000000"/>
                </a:solidFill>
                <a:latin typeface="Arial" panose="020B0600000101010101" pitchFamily="50" charset="-127"/>
                <a:ea typeface="Arial" panose="020B0600000101010101" pitchFamily="50" charset="-127"/>
                <a:cs typeface="Arial" pitchFamily="34" charset="0"/>
              </a:rPr>
              <a:t>C</a:t>
            </a:r>
          </a:p>
        </p:txBody>
      </p:sp>
      <p:sp>
        <p:nvSpPr>
          <p:cNvPr id="19559" name="Text Box 115"/>
          <p:cNvSpPr txBox="1">
            <a:spLocks noChangeArrowheads="1"/>
          </p:cNvSpPr>
          <p:nvPr/>
        </p:nvSpPr>
        <p:spPr bwMode="auto">
          <a:xfrm>
            <a:off x="3346990" y="3415531"/>
            <a:ext cx="39466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3/9</a:t>
            </a:r>
          </a:p>
        </p:txBody>
      </p:sp>
      <p:sp>
        <p:nvSpPr>
          <p:cNvPr id="19560" name="Text Box 115"/>
          <p:cNvSpPr txBox="1">
            <a:spLocks noChangeArrowheads="1"/>
          </p:cNvSpPr>
          <p:nvPr/>
        </p:nvSpPr>
        <p:spPr bwMode="auto">
          <a:xfrm>
            <a:off x="3868590" y="3415531"/>
            <a:ext cx="39466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4/1</a:t>
            </a:r>
          </a:p>
        </p:txBody>
      </p:sp>
      <p:sp>
        <p:nvSpPr>
          <p:cNvPr id="19561" name="Text Box 113"/>
          <p:cNvSpPr txBox="1">
            <a:spLocks noChangeArrowheads="1"/>
          </p:cNvSpPr>
          <p:nvPr/>
        </p:nvSpPr>
        <p:spPr bwMode="auto">
          <a:xfrm>
            <a:off x="4495800" y="3417119"/>
            <a:ext cx="39466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5/1</a:t>
            </a:r>
          </a:p>
        </p:txBody>
      </p:sp>
      <p:sp>
        <p:nvSpPr>
          <p:cNvPr id="19562" name="Text Box 114"/>
          <p:cNvSpPr txBox="1">
            <a:spLocks noChangeArrowheads="1"/>
          </p:cNvSpPr>
          <p:nvPr/>
        </p:nvSpPr>
        <p:spPr bwMode="auto">
          <a:xfrm>
            <a:off x="5074121" y="3417119"/>
            <a:ext cx="47481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5/19</a:t>
            </a:r>
          </a:p>
        </p:txBody>
      </p:sp>
      <p:sp>
        <p:nvSpPr>
          <p:cNvPr id="19563" name="Text Box 115"/>
          <p:cNvSpPr txBox="1">
            <a:spLocks noChangeArrowheads="1"/>
          </p:cNvSpPr>
          <p:nvPr/>
        </p:nvSpPr>
        <p:spPr bwMode="auto">
          <a:xfrm>
            <a:off x="5638800" y="3417119"/>
            <a:ext cx="47481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6/15</a:t>
            </a:r>
          </a:p>
        </p:txBody>
      </p:sp>
      <p:sp>
        <p:nvSpPr>
          <p:cNvPr id="24" name="직사각형 20"/>
          <p:cNvSpPr>
            <a:spLocks noChangeArrowheads="1"/>
          </p:cNvSpPr>
          <p:nvPr/>
        </p:nvSpPr>
        <p:spPr bwMode="auto">
          <a:xfrm>
            <a:off x="5600530" y="325775"/>
            <a:ext cx="2131846" cy="553998"/>
          </a:xfrm>
          <a:prstGeom prst="rect">
            <a:avLst/>
          </a:prstGeom>
          <a:noFill/>
          <a:ln w="9525">
            <a:noFill/>
            <a:miter lim="800000"/>
            <a:headEnd/>
            <a:tailEnd/>
          </a:ln>
        </p:spPr>
        <p:txBody>
          <a:bodyPr wrap="square">
            <a:spAutoFit/>
          </a:bodyPr>
          <a:lstStyle/>
          <a:p>
            <a:pPr algn="just" defTabSz="912813" eaLnBrk="1" latinLnBrk="0" hangingPunct="0"/>
            <a:r>
              <a:rPr lang="en-US" altLang="ko-KR" sz="1000">
                <a:solidFill>
                  <a:srgbClr val="000000"/>
                </a:solidFill>
                <a:latin typeface="Arial" panose="020B0600000101010101" pitchFamily="50" charset="-127"/>
                <a:ea typeface="Arial" panose="020B0600000101010101" pitchFamily="50" charset="-127"/>
                <a:cs typeface="Arial" charset="0"/>
              </a:rPr>
              <a:t>Task category</a:t>
            </a:r>
            <a:endParaRPr lang="en-US" altLang="ko-KR" sz="1000" dirty="0">
              <a:solidFill>
                <a:srgbClr val="000000"/>
              </a:solidFill>
              <a:latin typeface="LG스마트체 Regular" panose="020B0600000101010101" pitchFamily="50" charset="-127"/>
              <a:ea typeface="LG스마트체 Regular" panose="020B0600000101010101" pitchFamily="50" charset="-127"/>
              <a:cs typeface="Arial" charset="0"/>
            </a:endParaRPr>
          </a:p>
          <a:p>
            <a:pPr algn="just" defTabSz="912813" eaLnBrk="1" latinLnBrk="0" hangingPunct="0"/>
            <a:r>
              <a:rPr lang="ko-KR" altLang="en-US" sz="1000" dirty="0">
                <a:solidFill>
                  <a:srgbClr val="000000"/>
                </a:solidFill>
                <a:latin typeface="Arial" panose="020B0600000101010101" pitchFamily="50" charset="-127"/>
                <a:ea typeface="Arial" panose="020B0600000101010101" pitchFamily="50" charset="-127"/>
                <a:cs typeface="Arial" charset="0"/>
              </a:rPr>
              <a:t>□ </a:t>
            </a:r>
            <a:r>
              <a:rPr lang="en-US" altLang="ko-KR" sz="1000">
                <a:solidFill>
                  <a:srgbClr val="000000"/>
                </a:solidFill>
                <a:latin typeface="Arial" panose="020B0600000101010101" pitchFamily="50" charset="-127"/>
                <a:ea typeface="Arial" panose="020B0600000101010101" pitchFamily="50" charset="-127"/>
                <a:cs typeface="Arial" charset="0"/>
              </a:rPr>
              <a:t>HW      </a:t>
            </a:r>
            <a:r>
              <a:rPr lang="ko-KR" altLang="en-US" sz="1000">
                <a:solidFill>
                  <a:srgbClr val="000000"/>
                </a:solidFill>
                <a:latin typeface="Arial" panose="020B0600000101010101" pitchFamily="50" charset="-127"/>
                <a:ea typeface="Arial" panose="020B0600000101010101" pitchFamily="50" charset="-127"/>
                <a:cs typeface="Arial" charset="0"/>
              </a:rPr>
              <a:t>□ </a:t>
            </a:r>
            <a:r>
              <a:rPr lang="en-US" altLang="ko-KR" sz="1000" dirty="0">
                <a:solidFill>
                  <a:srgbClr val="000000"/>
                </a:solidFill>
                <a:latin typeface="Arial" panose="020B0600000101010101" pitchFamily="50" charset="-127"/>
                <a:ea typeface="Arial" panose="020B0600000101010101" pitchFamily="50" charset="-127"/>
                <a:cs typeface="Arial" charset="0"/>
              </a:rPr>
              <a:t>SW</a:t>
            </a:r>
          </a:p>
          <a:p>
            <a:pPr algn="just" defTabSz="912813" eaLnBrk="1" latinLnBrk="0" hangingPunct="0"/>
            <a:r>
              <a:rPr lang="ko-KR" altLang="en-US" sz="1000">
                <a:solidFill>
                  <a:srgbClr val="000000"/>
                </a:solidFill>
                <a:latin typeface="Arial" panose="020B0600000101010101" pitchFamily="50" charset="-127"/>
                <a:ea typeface="Arial" panose="020B0600000101010101" pitchFamily="50" charset="-127"/>
                <a:cs typeface="Arial" charset="0"/>
              </a:rPr>
              <a:t>□ </a:t>
            </a:r>
            <a:r>
              <a:rPr lang="en-US" altLang="ko-KR" sz="1000">
                <a:solidFill>
                  <a:srgbClr val="000000"/>
                </a:solidFill>
                <a:latin typeface="Arial" panose="020B0600000101010101" pitchFamily="50" charset="-127"/>
                <a:ea typeface="Arial" panose="020B0600000101010101" pitchFamily="50" charset="-127"/>
                <a:cs typeface="Arial" charset="0"/>
              </a:rPr>
              <a:t>Mecha  </a:t>
            </a:r>
            <a:r>
              <a:rPr lang="ko-KR" altLang="en-US" sz="1000">
                <a:solidFill>
                  <a:srgbClr val="000000"/>
                </a:solidFill>
                <a:latin typeface="Arial" panose="020B0600000101010101" pitchFamily="50" charset="-127"/>
                <a:ea typeface="Arial" panose="020B0600000101010101" pitchFamily="50" charset="-127"/>
                <a:cs typeface="Arial" charset="0"/>
              </a:rPr>
              <a:t>■ </a:t>
            </a:r>
            <a:r>
              <a:rPr lang="en-US" altLang="ko-KR" sz="1000">
                <a:solidFill>
                  <a:srgbClr val="000000"/>
                </a:solidFill>
                <a:latin typeface="Arial" panose="020B0600000101010101" pitchFamily="50" charset="-127"/>
                <a:ea typeface="Arial" panose="020B0600000101010101" pitchFamily="50" charset="-127"/>
                <a:cs typeface="Arial" charset="0"/>
              </a:rPr>
              <a:t>Current job</a:t>
            </a:r>
            <a:endParaRPr lang="en-US" altLang="ko-KR" sz="1000" dirty="0">
              <a:solidFill>
                <a:srgbClr val="000000"/>
              </a:solidFill>
              <a:latin typeface="LG스마트체 Regular" panose="020B0600000101010101" pitchFamily="50" charset="-127"/>
              <a:ea typeface="LG스마트체 Regular" panose="020B0600000101010101" pitchFamily="50" charset="-127"/>
              <a:cs typeface="Arial" charset="0"/>
            </a:endParaRPr>
          </a:p>
        </p:txBody>
      </p:sp>
      <p:graphicFrame>
        <p:nvGraphicFramePr>
          <p:cNvPr id="21" name="Group 133">
            <a:extLst>
              <a:ext uri="{FF2B5EF4-FFF2-40B4-BE49-F238E27FC236}">
                <a16:creationId xmlns:a16="http://schemas.microsoft.com/office/drawing/2014/main" id="{871447DD-1D73-49D5-866D-9AC4D91C41AE}"/>
              </a:ext>
            </a:extLst>
          </p:cNvPr>
          <p:cNvGraphicFramePr>
            <a:graphicFrameLocks noGrp="1"/>
          </p:cNvGraphicFramePr>
          <p:nvPr>
            <p:extLst>
              <p:ext uri="{D42A27DB-BD31-4B8C-83A1-F6EECF244321}">
                <p14:modId xmlns:p14="http://schemas.microsoft.com/office/powerpoint/2010/main" val="3793983478"/>
              </p:ext>
            </p:extLst>
          </p:nvPr>
        </p:nvGraphicFramePr>
        <p:xfrm>
          <a:off x="6847563" y="3429000"/>
          <a:ext cx="2931523" cy="1526608"/>
        </p:xfrm>
        <a:graphic>
          <a:graphicData uri="http://schemas.openxmlformats.org/drawingml/2006/table">
            <a:tbl>
              <a:tblPr/>
              <a:tblGrid>
                <a:gridCol w="541685">
                  <a:extLst>
                    <a:ext uri="{9D8B030D-6E8A-4147-A177-3AD203B41FA5}">
                      <a16:colId xmlns:a16="http://schemas.microsoft.com/office/drawing/2014/main" val="20000"/>
                    </a:ext>
                  </a:extLst>
                </a:gridCol>
                <a:gridCol w="1511977">
                  <a:extLst>
                    <a:ext uri="{9D8B030D-6E8A-4147-A177-3AD203B41FA5}">
                      <a16:colId xmlns:a16="http://schemas.microsoft.com/office/drawing/2014/main" val="20001"/>
                    </a:ext>
                  </a:extLst>
                </a:gridCol>
                <a:gridCol w="877861">
                  <a:extLst>
                    <a:ext uri="{9D8B030D-6E8A-4147-A177-3AD203B41FA5}">
                      <a16:colId xmlns:a16="http://schemas.microsoft.com/office/drawing/2014/main" val="20002"/>
                    </a:ext>
                  </a:extLst>
                </a:gridCol>
              </a:tblGrid>
              <a:tr h="296971">
                <a:tc>
                  <a:txBody>
                    <a:bodyPr/>
                    <a:lstStyle/>
                    <a:p>
                      <a:pPr marL="0" marR="0" lvl="0" indent="0" algn="ctr" defTabSz="914400" rtl="0" eaLnBrk="1" fontAlgn="base" latinLnBrk="0" hangingPunct="1">
                        <a:lnSpc>
                          <a:spcPct val="11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Team</a:t>
                      </a:r>
                      <a:endParaRPr kumimoji="1" lang="ko-KR" altLang="en-US" sz="1000" b="1"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c>
                  <a:txBody>
                    <a:bodyPr/>
                    <a:lstStyle/>
                    <a:p>
                      <a:pPr marL="0" marR="0" lvl="0" indent="0" algn="ctr" defTabSz="914400" rtl="0" eaLnBrk="1" fontAlgn="base" latinLnBrk="0" hangingPunct="1">
                        <a:lnSpc>
                          <a:spcPct val="11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Name</a:t>
                      </a:r>
                    </a:p>
                  </a:txBody>
                  <a:tcPr marL="36000" marR="36000"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c>
                  <a:txBody>
                    <a:bodyPr/>
                    <a:lstStyle/>
                    <a:p>
                      <a:pPr marL="0" marR="0" lvl="0" indent="0" algn="ctr" defTabSz="914400" rtl="0" eaLnBrk="1" fontAlgn="base" latinLnBrk="0" hangingPunct="1">
                        <a:lnSpc>
                          <a:spcPct val="11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Role</a:t>
                      </a:r>
                    </a:p>
                  </a:txBody>
                  <a:tcPr marL="36000" marR="36000"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0"/>
                  </a:ext>
                </a:extLst>
              </a:tr>
              <a:tr h="479160">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IVI LD</a:t>
                      </a:r>
                    </a:p>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eaLnBrk="1" latinLnBrk="0"/>
                      <a:r>
                        <a:rPr sz="1000" b="0" dirty="0">
                          <a:latin typeface="Arial"/>
                        </a:rPr>
                        <a:t>Nguyen Duc Long</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Task leader</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0159">
                <a:tc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ko-KR"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Hoang Nhan Quoc</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defRPr/>
                      </a:pPr>
                      <a:r>
                        <a:rPr kumimoji="1" lang="vi-VN"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Member</a:t>
                      </a: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015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IVI PE</a:t>
                      </a: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Pham Van Hung</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defRPr/>
                      </a:pPr>
                      <a:r>
                        <a:rPr kumimoji="1" lang="vi-VN"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Member</a:t>
                      </a: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54292548"/>
                  </a:ext>
                </a:extLst>
              </a:tr>
              <a:tr h="25015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IVI PM</a:t>
                      </a: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Ta Van Cong</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defRPr/>
                      </a:pPr>
                      <a:r>
                        <a:rPr kumimoji="1" lang="vi-VN"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Member</a:t>
                      </a: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56803826"/>
                  </a:ext>
                </a:extLst>
              </a:tr>
            </a:tbl>
          </a:graphicData>
        </a:graphic>
      </p:graphicFrame>
    </p:spTree>
    <p:extLst>
      <p:ext uri="{BB962C8B-B14F-4D97-AF65-F5344CB8AC3E}">
        <p14:creationId xmlns:p14="http://schemas.microsoft.com/office/powerpoint/2010/main" val="3593654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그림 1">
            <a:extLst>
              <a:ext uri="{FF2B5EF4-FFF2-40B4-BE49-F238E27FC236}">
                <a16:creationId xmlns:a16="http://schemas.microsoft.com/office/drawing/2014/main" id="{3BB4269D-C4B5-4018-8DB1-D3AE9D1DDFD9}"/>
              </a:ext>
            </a:extLst>
          </p:cNvPr>
          <p:cNvPicPr>
            <a:picLocks noChangeAspect="1"/>
          </p:cNvPicPr>
          <p:nvPr/>
        </p:nvPicPr>
        <p:blipFill>
          <a:blip r:embed="rId3"/>
          <a:stretch>
            <a:fillRect/>
          </a:stretch>
        </p:blipFill>
        <p:spPr>
          <a:xfrm>
            <a:off x="6403517" y="89801"/>
            <a:ext cx="3501891" cy="444992"/>
          </a:xfrm>
          <a:prstGeom prst="rect">
            <a:avLst/>
          </a:prstGeom>
        </p:spPr>
      </p:pic>
      <p:sp>
        <p:nvSpPr>
          <p:cNvPr id="64" name="제목 1">
            <a:extLst>
              <a:ext uri="{FF2B5EF4-FFF2-40B4-BE49-F238E27FC236}">
                <a16:creationId xmlns:a16="http://schemas.microsoft.com/office/drawing/2014/main" id="{9047FC76-DD99-4806-9048-DFF9426B47AE}"/>
              </a:ext>
            </a:extLst>
          </p:cNvPr>
          <p:cNvSpPr txBox="1">
            <a:spLocks/>
          </p:cNvSpPr>
          <p:nvPr/>
        </p:nvSpPr>
        <p:spPr bwMode="auto">
          <a:xfrm>
            <a:off x="1609" y="100364"/>
            <a:ext cx="7496175" cy="431800"/>
          </a:xfrm>
          <a:prstGeom prst="rect">
            <a:avLst/>
          </a:prstGeom>
          <a:noFill/>
          <a:ln w="9525">
            <a:noFill/>
            <a:miter lim="800000"/>
            <a:headEnd/>
            <a:tailEnd/>
          </a:ln>
        </p:spPr>
        <p:txBody>
          <a:bodyPr anchor="ctr"/>
          <a:lstStyle/>
          <a:p>
            <a:pPr eaLnBrk="1" latinLnBrk="0" hangingPunct="0">
              <a:defRPr/>
            </a:pPr>
            <a:r>
              <a:rPr lang="en-US" altLang="ko-KR" sz="1600" b="1" kern="0" dirty="0">
                <a:latin typeface="Arial Narrow" panose="020B0606020202030204" pitchFamily="34" charset="0"/>
                <a:ea typeface="Arial" panose="020B0600000101010101" pitchFamily="50" charset="-127"/>
              </a:rPr>
              <a:t>1.1 Y-y breakdown</a:t>
            </a:r>
            <a:endParaRPr lang="ko-KR" altLang="en-US" sz="1800" b="1" kern="0" dirty="0">
              <a:latin typeface="Arial Narrow" panose="020B0606020202030204" pitchFamily="34" charset="0"/>
              <a:ea typeface="LG스마트체 Regular" panose="020B0600000101010101" pitchFamily="50" charset="-127"/>
              <a:cs typeface="+mj-cs"/>
            </a:endParaRPr>
          </a:p>
        </p:txBody>
      </p:sp>
      <p:graphicFrame>
        <p:nvGraphicFramePr>
          <p:cNvPr id="75" name="표 44">
            <a:extLst>
              <a:ext uri="{FF2B5EF4-FFF2-40B4-BE49-F238E27FC236}">
                <a16:creationId xmlns:a16="http://schemas.microsoft.com/office/drawing/2014/main" id="{62E95B8F-07A4-4620-864C-2FBBFA255844}"/>
              </a:ext>
            </a:extLst>
          </p:cNvPr>
          <p:cNvGraphicFramePr>
            <a:graphicFrameLocks noGrp="1"/>
          </p:cNvGraphicFramePr>
          <p:nvPr>
            <p:extLst>
              <p:ext uri="{D42A27DB-BD31-4B8C-83A1-F6EECF244321}">
                <p14:modId xmlns:p14="http://schemas.microsoft.com/office/powerpoint/2010/main" val="2929659898"/>
              </p:ext>
            </p:extLst>
          </p:nvPr>
        </p:nvGraphicFramePr>
        <p:xfrm>
          <a:off x="260401" y="703388"/>
          <a:ext cx="888407" cy="276631"/>
        </p:xfrm>
        <a:graphic>
          <a:graphicData uri="http://schemas.openxmlformats.org/drawingml/2006/table">
            <a:tbl>
              <a:tblPr/>
              <a:tblGrid>
                <a:gridCol w="888407">
                  <a:extLst>
                    <a:ext uri="{9D8B030D-6E8A-4147-A177-3AD203B41FA5}">
                      <a16:colId xmlns:a16="http://schemas.microsoft.com/office/drawing/2014/main" val="20000"/>
                    </a:ext>
                  </a:extLst>
                </a:gridCol>
              </a:tblGrid>
              <a:tr h="276631">
                <a:tc>
                  <a:txBody>
                    <a:bodyPr/>
                    <a:lstStyle/>
                    <a:p>
                      <a:pPr algn="ctr" eaLnBrk="1" latinLnBrk="0">
                        <a:defRPr/>
                      </a:pPr>
                      <a:r>
                        <a:rPr lang="en-US" altLang="ko-KR" sz="1000" b="1" dirty="0">
                          <a:latin typeface="Arial" panose="020B0600000101010101" pitchFamily="50" charset="-127"/>
                          <a:ea typeface="Arial" panose="020B0600000101010101" pitchFamily="50" charset="-127"/>
                        </a:rPr>
                        <a:t>Big Y</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77" name="표 45">
            <a:extLst>
              <a:ext uri="{FF2B5EF4-FFF2-40B4-BE49-F238E27FC236}">
                <a16:creationId xmlns:a16="http://schemas.microsoft.com/office/drawing/2014/main" id="{499556D8-5147-4323-B83A-8E52DFD161DA}"/>
              </a:ext>
            </a:extLst>
          </p:cNvPr>
          <p:cNvGraphicFramePr>
            <a:graphicFrameLocks noGrp="1"/>
          </p:cNvGraphicFramePr>
          <p:nvPr>
            <p:extLst>
              <p:ext uri="{D42A27DB-BD31-4B8C-83A1-F6EECF244321}">
                <p14:modId xmlns:p14="http://schemas.microsoft.com/office/powerpoint/2010/main" val="2626578847"/>
              </p:ext>
            </p:extLst>
          </p:nvPr>
        </p:nvGraphicFramePr>
        <p:xfrm>
          <a:off x="3633320" y="715698"/>
          <a:ext cx="1189966" cy="276631"/>
        </p:xfrm>
        <a:graphic>
          <a:graphicData uri="http://schemas.openxmlformats.org/drawingml/2006/table">
            <a:tbl>
              <a:tblPr/>
              <a:tblGrid>
                <a:gridCol w="1189966">
                  <a:extLst>
                    <a:ext uri="{9D8B030D-6E8A-4147-A177-3AD203B41FA5}">
                      <a16:colId xmlns:a16="http://schemas.microsoft.com/office/drawing/2014/main" val="20000"/>
                    </a:ext>
                  </a:extLst>
                </a:gridCol>
              </a:tblGrid>
              <a:tr h="276631">
                <a:tc>
                  <a:txBody>
                    <a:bodyPr/>
                    <a:lstStyle/>
                    <a:p>
                      <a:pPr algn="ctr" eaLnBrk="1" latinLnBrk="0">
                        <a:defRPr/>
                      </a:pPr>
                      <a:r>
                        <a:rPr lang="en-US" altLang="ko-KR" sz="1000" b="1" dirty="0">
                          <a:latin typeface="Arial" panose="020B0600000101010101" pitchFamily="50" charset="-127"/>
                          <a:ea typeface="Arial" panose="020B0600000101010101" pitchFamily="50" charset="-127"/>
                        </a:rPr>
                        <a:t>Little y2</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cxnSp>
        <p:nvCxnSpPr>
          <p:cNvPr id="85" name="Straight Connector 84">
            <a:extLst>
              <a:ext uri="{FF2B5EF4-FFF2-40B4-BE49-F238E27FC236}">
                <a16:creationId xmlns:a16="http://schemas.microsoft.com/office/drawing/2014/main" id="{5EF0FF8F-362D-491A-8F52-0E1B0A8C2FE8}"/>
              </a:ext>
            </a:extLst>
          </p:cNvPr>
          <p:cNvCxnSpPr/>
          <p:nvPr/>
        </p:nvCxnSpPr>
        <p:spPr>
          <a:xfrm>
            <a:off x="-592" y="532164"/>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8" name="Straight Arrow Connector 347"/>
          <p:cNvCxnSpPr>
            <a:cxnSpLocks/>
            <a:stCxn id="68" idx="3"/>
            <a:endCxn id="104" idx="1"/>
          </p:cNvCxnSpPr>
          <p:nvPr/>
        </p:nvCxnSpPr>
        <p:spPr>
          <a:xfrm>
            <a:off x="2867767" y="1437809"/>
            <a:ext cx="771729" cy="16254"/>
          </a:xfrm>
          <a:prstGeom prst="straightConnector1">
            <a:avLst/>
          </a:prstGeom>
          <a:noFill/>
          <a:ln w="9525" cap="flat" cmpd="sng" algn="ctr">
            <a:solidFill>
              <a:srgbClr val="C00000"/>
            </a:solidFill>
            <a:prstDash val="solid"/>
            <a:round/>
            <a:headEnd type="none" w="med" len="med"/>
            <a:tailEnd type="triangle"/>
          </a:ln>
          <a:effectLst/>
        </p:spPr>
      </p:cxnSp>
      <p:sp>
        <p:nvSpPr>
          <p:cNvPr id="129" name="직사각형 124">
            <a:extLst>
              <a:ext uri="{FF2B5EF4-FFF2-40B4-BE49-F238E27FC236}">
                <a16:creationId xmlns:a16="http://schemas.microsoft.com/office/drawing/2014/main" id="{34502E28-C1BD-478D-B067-6D24CDCCF17A}"/>
              </a:ext>
            </a:extLst>
          </p:cNvPr>
          <p:cNvSpPr/>
          <p:nvPr/>
        </p:nvSpPr>
        <p:spPr>
          <a:xfrm>
            <a:off x="5442125" y="1260273"/>
            <a:ext cx="1427220"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Luminance value</a:t>
            </a:r>
          </a:p>
        </p:txBody>
      </p:sp>
      <p:sp>
        <p:nvSpPr>
          <p:cNvPr id="130" name="직사각형 124">
            <a:extLst>
              <a:ext uri="{FF2B5EF4-FFF2-40B4-BE49-F238E27FC236}">
                <a16:creationId xmlns:a16="http://schemas.microsoft.com/office/drawing/2014/main" id="{13446F57-EBDE-4ECD-B078-B6D3C3C38C44}"/>
              </a:ext>
            </a:extLst>
          </p:cNvPr>
          <p:cNvSpPr/>
          <p:nvPr/>
        </p:nvSpPr>
        <p:spPr>
          <a:xfrm>
            <a:off x="5466839" y="2084721"/>
            <a:ext cx="1427220"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Calculate contrast value</a:t>
            </a:r>
          </a:p>
        </p:txBody>
      </p:sp>
      <p:cxnSp>
        <p:nvCxnSpPr>
          <p:cNvPr id="220" name="Straight Arrow Connector 219">
            <a:extLst>
              <a:ext uri="{FF2B5EF4-FFF2-40B4-BE49-F238E27FC236}">
                <a16:creationId xmlns:a16="http://schemas.microsoft.com/office/drawing/2014/main" id="{6349E0A9-07EC-47F5-B8C4-ED8B16151483}"/>
              </a:ext>
            </a:extLst>
          </p:cNvPr>
          <p:cNvCxnSpPr>
            <a:cxnSpLocks/>
            <a:stCxn id="104" idx="3"/>
            <a:endCxn id="129" idx="1"/>
          </p:cNvCxnSpPr>
          <p:nvPr/>
        </p:nvCxnSpPr>
        <p:spPr>
          <a:xfrm>
            <a:off x="4822973" y="1454063"/>
            <a:ext cx="619152" cy="4167"/>
          </a:xfrm>
          <a:prstGeom prst="straightConnector1">
            <a:avLst/>
          </a:prstGeom>
          <a:noFill/>
          <a:ln w="9525" cap="flat" cmpd="sng" algn="ctr">
            <a:solidFill>
              <a:srgbClr val="C00000"/>
            </a:solidFill>
            <a:prstDash val="solid"/>
            <a:round/>
            <a:headEnd type="none" w="med" len="med"/>
            <a:tailEnd type="triangle"/>
          </a:ln>
          <a:effectLst/>
        </p:spPr>
      </p:cxnSp>
      <p:sp>
        <p:nvSpPr>
          <p:cNvPr id="104" name="직사각형 124">
            <a:extLst>
              <a:ext uri="{FF2B5EF4-FFF2-40B4-BE49-F238E27FC236}">
                <a16:creationId xmlns:a16="http://schemas.microsoft.com/office/drawing/2014/main" id="{9B9F9D1B-2EF7-453F-A467-28A0282E9129}"/>
              </a:ext>
            </a:extLst>
          </p:cNvPr>
          <p:cNvSpPr/>
          <p:nvPr/>
        </p:nvSpPr>
        <p:spPr>
          <a:xfrm>
            <a:off x="3639496" y="1232831"/>
            <a:ext cx="1183477" cy="44246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 xml:space="preserve">Luminance Function</a:t>
            </a:r>
          </a:p>
        </p:txBody>
      </p:sp>
      <p:sp>
        <p:nvSpPr>
          <p:cNvPr id="228" name="Slide Number Placeholder 4">
            <a:extLst>
              <a:ext uri="{FF2B5EF4-FFF2-40B4-BE49-F238E27FC236}">
                <a16:creationId xmlns:a16="http://schemas.microsoft.com/office/drawing/2014/main" id="{8BEED19C-E20A-4522-AB67-2EFCA2708530}"/>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03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graphicFrame>
        <p:nvGraphicFramePr>
          <p:cNvPr id="51" name="표 45">
            <a:extLst>
              <a:ext uri="{FF2B5EF4-FFF2-40B4-BE49-F238E27FC236}">
                <a16:creationId xmlns:a16="http://schemas.microsoft.com/office/drawing/2014/main" id="{E5BD5886-F8BF-4C7D-977D-717364C24859}"/>
              </a:ext>
            </a:extLst>
          </p:cNvPr>
          <p:cNvGraphicFramePr>
            <a:graphicFrameLocks noGrp="1"/>
          </p:cNvGraphicFramePr>
          <p:nvPr>
            <p:extLst>
              <p:ext uri="{D42A27DB-BD31-4B8C-83A1-F6EECF244321}">
                <p14:modId xmlns:p14="http://schemas.microsoft.com/office/powerpoint/2010/main" val="3356529664"/>
              </p:ext>
            </p:extLst>
          </p:nvPr>
        </p:nvGraphicFramePr>
        <p:xfrm>
          <a:off x="1634164" y="715698"/>
          <a:ext cx="1233603" cy="276631"/>
        </p:xfrm>
        <a:graphic>
          <a:graphicData uri="http://schemas.openxmlformats.org/drawingml/2006/table">
            <a:tbl>
              <a:tblPr/>
              <a:tblGrid>
                <a:gridCol w="1233603">
                  <a:extLst>
                    <a:ext uri="{9D8B030D-6E8A-4147-A177-3AD203B41FA5}">
                      <a16:colId xmlns:a16="http://schemas.microsoft.com/office/drawing/2014/main" val="20000"/>
                    </a:ext>
                  </a:extLst>
                </a:gridCol>
              </a:tblGrid>
              <a:tr h="276631">
                <a:tc>
                  <a:txBody>
                    <a:bodyPr/>
                    <a:lstStyle/>
                    <a:p>
                      <a:pPr algn="ctr" eaLnBrk="1" latinLnBrk="0">
                        <a:defRPr/>
                      </a:pPr>
                      <a:r>
                        <a:rPr lang="en-US" altLang="ko-KR" sz="1000" b="1" dirty="0">
                          <a:latin typeface="Arial" panose="020B0600000101010101" pitchFamily="50" charset="-127"/>
                          <a:ea typeface="Arial" panose="020B0600000101010101" pitchFamily="50" charset="-127"/>
                        </a:rPr>
                        <a:t>Little y1</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sp>
        <p:nvSpPr>
          <p:cNvPr id="68" name="직사각형 124">
            <a:extLst>
              <a:ext uri="{FF2B5EF4-FFF2-40B4-BE49-F238E27FC236}">
                <a16:creationId xmlns:a16="http://schemas.microsoft.com/office/drawing/2014/main" id="{839B0C23-7FDA-49E6-9061-B2E15E0B38F3}"/>
              </a:ext>
            </a:extLst>
          </p:cNvPr>
          <p:cNvSpPr/>
          <p:nvPr/>
        </p:nvSpPr>
        <p:spPr>
          <a:xfrm>
            <a:off x="1651508" y="1228923"/>
            <a:ext cx="1216259" cy="417772"/>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Machine defect</a:t>
            </a:r>
          </a:p>
        </p:txBody>
      </p:sp>
      <p:sp>
        <p:nvSpPr>
          <p:cNvPr id="52" name="직사각형 124">
            <a:extLst>
              <a:ext uri="{FF2B5EF4-FFF2-40B4-BE49-F238E27FC236}">
                <a16:creationId xmlns:a16="http://schemas.microsoft.com/office/drawing/2014/main" id="{4415074A-29BC-4A5B-9687-F14C61349A2C}"/>
              </a:ext>
            </a:extLst>
          </p:cNvPr>
          <p:cNvSpPr/>
          <p:nvPr/>
        </p:nvSpPr>
        <p:spPr>
          <a:xfrm>
            <a:off x="0" y="1247253"/>
            <a:ext cx="1257197"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Reduce Porsche CID Defect rate</a:t>
            </a:r>
          </a:p>
        </p:txBody>
      </p:sp>
      <p:sp>
        <p:nvSpPr>
          <p:cNvPr id="83" name="직사각형 124">
            <a:extLst>
              <a:ext uri="{FF2B5EF4-FFF2-40B4-BE49-F238E27FC236}">
                <a16:creationId xmlns:a16="http://schemas.microsoft.com/office/drawing/2014/main" id="{CA83E05B-BD5C-4D19-937D-8440D1E97727}"/>
              </a:ext>
            </a:extLst>
          </p:cNvPr>
          <p:cNvSpPr/>
          <p:nvPr/>
        </p:nvSpPr>
        <p:spPr>
          <a:xfrm>
            <a:off x="1647314" y="2840939"/>
            <a:ext cx="1216259" cy="37977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Hardware defect</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cxnSp>
        <p:nvCxnSpPr>
          <p:cNvPr id="84" name="Straight Arrow Connector 83">
            <a:extLst>
              <a:ext uri="{FF2B5EF4-FFF2-40B4-BE49-F238E27FC236}">
                <a16:creationId xmlns:a16="http://schemas.microsoft.com/office/drawing/2014/main" id="{79F9BF4D-AD41-4475-A659-3F1176F386EB}"/>
              </a:ext>
            </a:extLst>
          </p:cNvPr>
          <p:cNvCxnSpPr>
            <a:cxnSpLocks/>
            <a:stCxn id="52" idx="3"/>
            <a:endCxn id="68" idx="1"/>
          </p:cNvCxnSpPr>
          <p:nvPr/>
        </p:nvCxnSpPr>
        <p:spPr>
          <a:xfrm flipV="1">
            <a:off x="1257197" y="1437809"/>
            <a:ext cx="394311" cy="7401"/>
          </a:xfrm>
          <a:prstGeom prst="straightConnector1">
            <a:avLst/>
          </a:prstGeom>
          <a:noFill/>
          <a:ln w="9525" cap="flat" cmpd="sng" algn="ctr">
            <a:solidFill>
              <a:srgbClr val="C00000"/>
            </a:solidFill>
            <a:prstDash val="solid"/>
            <a:round/>
            <a:headEnd type="none" w="med" len="med"/>
            <a:tailEnd type="triangle"/>
          </a:ln>
          <a:effectLst/>
        </p:spPr>
      </p:cxnSp>
      <p:sp>
        <p:nvSpPr>
          <p:cNvPr id="71" name="직사각형 124">
            <a:extLst>
              <a:ext uri="{FF2B5EF4-FFF2-40B4-BE49-F238E27FC236}">
                <a16:creationId xmlns:a16="http://schemas.microsoft.com/office/drawing/2014/main" id="{84C613EF-B7C1-4EE7-B1DE-F6F54BF90DC1}"/>
              </a:ext>
            </a:extLst>
          </p:cNvPr>
          <p:cNvSpPr/>
          <p:nvPr/>
        </p:nvSpPr>
        <p:spPr>
          <a:xfrm>
            <a:off x="1689870" y="3706771"/>
            <a:ext cx="1216259" cy="37977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Software defect</a:t>
            </a:r>
          </a:p>
        </p:txBody>
      </p:sp>
      <p:cxnSp>
        <p:nvCxnSpPr>
          <p:cNvPr id="3" name="Straight Connector 2">
            <a:extLst>
              <a:ext uri="{FF2B5EF4-FFF2-40B4-BE49-F238E27FC236}">
                <a16:creationId xmlns:a16="http://schemas.microsoft.com/office/drawing/2014/main" id="{C382F0B5-FE2A-44F8-A778-4490D033265A}"/>
              </a:ext>
            </a:extLst>
          </p:cNvPr>
          <p:cNvCxnSpPr>
            <a:cxnSpLocks/>
          </p:cNvCxnSpPr>
          <p:nvPr/>
        </p:nvCxnSpPr>
        <p:spPr>
          <a:xfrm>
            <a:off x="656431" y="5436406"/>
            <a:ext cx="1790464" cy="0"/>
          </a:xfrm>
          <a:prstGeom prst="line">
            <a:avLst/>
          </a:prstGeom>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9E5D3784-A161-4E39-ABFC-E9884EBC2613}"/>
              </a:ext>
            </a:extLst>
          </p:cNvPr>
          <p:cNvSpPr/>
          <p:nvPr/>
        </p:nvSpPr>
        <p:spPr>
          <a:xfrm>
            <a:off x="1913425" y="4896997"/>
            <a:ext cx="829775" cy="5336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eaLnBrk="1" latinLnBrk="0"/>
            <a:r>
              <a:rPr sz="1000" b="1">
                <a:latin typeface="Arial"/>
              </a:rPr>
              <a:t>33,376 PPM</a:t>
            </a:r>
            <a:endParaRPr lang="en-US" sz="1000" dirty="0">
              <a:solidFill>
                <a:schemeClr val="tx1"/>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FD6ABC82-A55A-4E3D-9824-C9ABB364FBE1}"/>
              </a:ext>
            </a:extLst>
          </p:cNvPr>
          <p:cNvSpPr/>
          <p:nvPr/>
        </p:nvSpPr>
        <p:spPr>
          <a:xfrm>
            <a:off x="552966" y="4386015"/>
            <a:ext cx="818860" cy="1047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eaLnBrk="1" latinLnBrk="0"/>
            <a:r>
              <a:rPr sz="1000" b="1">
                <a:latin typeface="Arial"/>
              </a:rPr>
              <a:t>260,000 PPM</a:t>
            </a:r>
            <a:endParaRPr lang="en-US" sz="1050" dirty="0">
              <a:solidFill>
                <a:schemeClr val="tx1"/>
              </a:solidFill>
              <a:latin typeface="Arial" panose="020B0604020202020204" pitchFamily="34" charset="0"/>
              <a:cs typeface="Arial" panose="020B0604020202020204" pitchFamily="34" charset="0"/>
            </a:endParaRPr>
          </a:p>
        </p:txBody>
      </p:sp>
      <p:sp>
        <p:nvSpPr>
          <p:cNvPr id="59" name="직사각형 124">
            <a:extLst>
              <a:ext uri="{FF2B5EF4-FFF2-40B4-BE49-F238E27FC236}">
                <a16:creationId xmlns:a16="http://schemas.microsoft.com/office/drawing/2014/main" id="{6488CD88-09C5-4039-9404-8FA529031D59}"/>
              </a:ext>
            </a:extLst>
          </p:cNvPr>
          <p:cNvSpPr/>
          <p:nvPr/>
        </p:nvSpPr>
        <p:spPr>
          <a:xfrm>
            <a:off x="637872" y="5436406"/>
            <a:ext cx="1786889" cy="403580"/>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Decrease defect rate of Porsche CID</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1" name="직사각형 124">
            <a:extLst>
              <a:ext uri="{FF2B5EF4-FFF2-40B4-BE49-F238E27FC236}">
                <a16:creationId xmlns:a16="http://schemas.microsoft.com/office/drawing/2014/main" id="{85F4DA65-E4DC-4E8D-9E8A-592DB1E42CC9}"/>
              </a:ext>
            </a:extLst>
          </p:cNvPr>
          <p:cNvSpPr/>
          <p:nvPr/>
        </p:nvSpPr>
        <p:spPr>
          <a:xfrm>
            <a:off x="581222" y="4191000"/>
            <a:ext cx="762348" cy="2164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Before</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2" name="직사각형 124">
            <a:extLst>
              <a:ext uri="{FF2B5EF4-FFF2-40B4-BE49-F238E27FC236}">
                <a16:creationId xmlns:a16="http://schemas.microsoft.com/office/drawing/2014/main" id="{C64B288A-C4DC-4C32-8350-28B1FD1A5C8C}"/>
              </a:ext>
            </a:extLst>
          </p:cNvPr>
          <p:cNvSpPr/>
          <p:nvPr/>
        </p:nvSpPr>
        <p:spPr>
          <a:xfrm>
            <a:off x="2003461" y="4688813"/>
            <a:ext cx="649702" cy="2164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After</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9" name="직사각형 124">
            <a:extLst>
              <a:ext uri="{FF2B5EF4-FFF2-40B4-BE49-F238E27FC236}">
                <a16:creationId xmlns:a16="http://schemas.microsoft.com/office/drawing/2014/main" id="{5A1ACA1F-B7FE-4D14-98DB-0463FDB3B045}"/>
              </a:ext>
            </a:extLst>
          </p:cNvPr>
          <p:cNvSpPr/>
          <p:nvPr/>
        </p:nvSpPr>
        <p:spPr>
          <a:xfrm>
            <a:off x="7322594" y="1260024"/>
            <a:ext cx="1586819"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6 Sigma assignment</a:t>
            </a:r>
          </a:p>
        </p:txBody>
      </p:sp>
      <p:sp>
        <p:nvSpPr>
          <p:cNvPr id="70" name="직사각형 124">
            <a:extLst>
              <a:ext uri="{FF2B5EF4-FFF2-40B4-BE49-F238E27FC236}">
                <a16:creationId xmlns:a16="http://schemas.microsoft.com/office/drawing/2014/main" id="{08E76798-9784-458B-85C4-0CA820956B8D}"/>
              </a:ext>
            </a:extLst>
          </p:cNvPr>
          <p:cNvSpPr/>
          <p:nvPr/>
        </p:nvSpPr>
        <p:spPr>
          <a:xfrm>
            <a:off x="7347308" y="2084472"/>
            <a:ext cx="1586819"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Real defect _ Material</a:t>
            </a:r>
          </a:p>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Return to supplier</a:t>
            </a:r>
          </a:p>
        </p:txBody>
      </p:sp>
      <p:graphicFrame>
        <p:nvGraphicFramePr>
          <p:cNvPr id="74" name="표 46">
            <a:extLst>
              <a:ext uri="{FF2B5EF4-FFF2-40B4-BE49-F238E27FC236}">
                <a16:creationId xmlns:a16="http://schemas.microsoft.com/office/drawing/2014/main" id="{E5BFD7BA-52E1-4DEB-8CC0-42C339E19764}"/>
              </a:ext>
            </a:extLst>
          </p:cNvPr>
          <p:cNvGraphicFramePr>
            <a:graphicFrameLocks noGrp="1"/>
          </p:cNvGraphicFramePr>
          <p:nvPr>
            <p:extLst>
              <p:ext uri="{D42A27DB-BD31-4B8C-83A1-F6EECF244321}">
                <p14:modId xmlns:p14="http://schemas.microsoft.com/office/powerpoint/2010/main" val="414107595"/>
              </p:ext>
            </p:extLst>
          </p:nvPr>
        </p:nvGraphicFramePr>
        <p:xfrm>
          <a:off x="7322594" y="720833"/>
          <a:ext cx="1586819" cy="282190"/>
        </p:xfrm>
        <a:graphic>
          <a:graphicData uri="http://schemas.openxmlformats.org/drawingml/2006/table">
            <a:tbl>
              <a:tblPr/>
              <a:tblGrid>
                <a:gridCol w="1586819">
                  <a:extLst>
                    <a:ext uri="{9D8B030D-6E8A-4147-A177-3AD203B41FA5}">
                      <a16:colId xmlns:a16="http://schemas.microsoft.com/office/drawing/2014/main" val="20000"/>
                    </a:ext>
                  </a:extLst>
                </a:gridCol>
              </a:tblGrid>
              <a:tr h="282190">
                <a:tc>
                  <a:txBody>
                    <a:bodyPr/>
                    <a:lstStyle/>
                    <a:p>
                      <a:pPr marL="0" algn="ctr" defTabSz="914400" rtl="0" eaLnBrk="1" latinLnBrk="0" hangingPunct="1">
                        <a:defRPr/>
                      </a:pPr>
                      <a:r>
                        <a:rPr lang="en-US" altLang="ko-KR" sz="1000" b="1" kern="1200" dirty="0">
                          <a:solidFill>
                            <a:schemeClr val="tx1"/>
                          </a:solidFill>
                          <a:latin typeface="Arial" panose="020B0600000101010101" pitchFamily="50" charset="-127"/>
                          <a:ea typeface="Arial" panose="020B0600000101010101" pitchFamily="50" charset="-127"/>
                          <a:cs typeface="+mn-cs"/>
                        </a:rPr>
                        <a:t>Activity</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86" name="표 45">
            <a:extLst>
              <a:ext uri="{FF2B5EF4-FFF2-40B4-BE49-F238E27FC236}">
                <a16:creationId xmlns:a16="http://schemas.microsoft.com/office/drawing/2014/main" id="{340A01BA-E649-4A07-BE4C-FE4BD7441B73}"/>
              </a:ext>
            </a:extLst>
          </p:cNvPr>
          <p:cNvGraphicFramePr>
            <a:graphicFrameLocks noGrp="1"/>
          </p:cNvGraphicFramePr>
          <p:nvPr>
            <p:extLst>
              <p:ext uri="{D42A27DB-BD31-4B8C-83A1-F6EECF244321}">
                <p14:modId xmlns:p14="http://schemas.microsoft.com/office/powerpoint/2010/main" val="1695317186"/>
              </p:ext>
            </p:extLst>
          </p:nvPr>
        </p:nvGraphicFramePr>
        <p:xfrm>
          <a:off x="5442125" y="726392"/>
          <a:ext cx="1427220" cy="276631"/>
        </p:xfrm>
        <a:graphic>
          <a:graphicData uri="http://schemas.openxmlformats.org/drawingml/2006/table">
            <a:tbl>
              <a:tblPr/>
              <a:tblGrid>
                <a:gridCol w="1427220">
                  <a:extLst>
                    <a:ext uri="{9D8B030D-6E8A-4147-A177-3AD203B41FA5}">
                      <a16:colId xmlns:a16="http://schemas.microsoft.com/office/drawing/2014/main" val="20000"/>
                    </a:ext>
                  </a:extLst>
                </a:gridCol>
              </a:tblGrid>
              <a:tr h="276631">
                <a:tc>
                  <a:txBody>
                    <a:bodyPr/>
                    <a:lstStyle/>
                    <a:p>
                      <a:pPr algn="ctr" eaLnBrk="1" latinLnBrk="0">
                        <a:defRPr/>
                      </a:pPr>
                      <a:r>
                        <a:rPr lang="en-US" altLang="ko-KR" sz="1000" b="1" dirty="0">
                          <a:latin typeface="Arial" panose="020B0600000101010101" pitchFamily="50" charset="-127"/>
                          <a:ea typeface="Arial" panose="020B0600000101010101" pitchFamily="50" charset="-127"/>
                        </a:rPr>
                        <a:t>Little y3</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cxnSp>
        <p:nvCxnSpPr>
          <p:cNvPr id="89" name="Straight Arrow Connector 88">
            <a:extLst>
              <a:ext uri="{FF2B5EF4-FFF2-40B4-BE49-F238E27FC236}">
                <a16:creationId xmlns:a16="http://schemas.microsoft.com/office/drawing/2014/main" id="{93DB9B81-6E8A-4C8A-9C14-CAA405A93511}"/>
              </a:ext>
            </a:extLst>
          </p:cNvPr>
          <p:cNvCxnSpPr>
            <a:cxnSpLocks/>
            <a:stCxn id="129" idx="3"/>
            <a:endCxn id="69" idx="1"/>
          </p:cNvCxnSpPr>
          <p:nvPr/>
        </p:nvCxnSpPr>
        <p:spPr>
          <a:xfrm flipV="1">
            <a:off x="6869345" y="1457981"/>
            <a:ext cx="453249" cy="249"/>
          </a:xfrm>
          <a:prstGeom prst="straightConnector1">
            <a:avLst/>
          </a:prstGeom>
          <a:noFill/>
          <a:ln w="9525" cap="flat" cmpd="sng" algn="ctr">
            <a:solidFill>
              <a:srgbClr val="C00000"/>
            </a:solidFill>
            <a:prstDash val="solid"/>
            <a:round/>
            <a:headEnd type="none" w="med" len="med"/>
            <a:tailEnd type="triangle"/>
          </a:ln>
          <a:effectLst/>
        </p:spPr>
      </p:cxnSp>
      <p:cxnSp>
        <p:nvCxnSpPr>
          <p:cNvPr id="92" name="Straight Arrow Connector 91">
            <a:extLst>
              <a:ext uri="{FF2B5EF4-FFF2-40B4-BE49-F238E27FC236}">
                <a16:creationId xmlns:a16="http://schemas.microsoft.com/office/drawing/2014/main" id="{E42DC42A-02BC-4314-AFEF-5343F6F313A8}"/>
              </a:ext>
            </a:extLst>
          </p:cNvPr>
          <p:cNvCxnSpPr>
            <a:cxnSpLocks/>
            <a:stCxn id="130" idx="3"/>
            <a:endCxn id="70" idx="1"/>
          </p:cNvCxnSpPr>
          <p:nvPr/>
        </p:nvCxnSpPr>
        <p:spPr>
          <a:xfrm flipV="1">
            <a:off x="6894059" y="2282429"/>
            <a:ext cx="453249" cy="249"/>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12294C19-F708-49EE-A527-FA9394A10AA7}"/>
              </a:ext>
            </a:extLst>
          </p:cNvPr>
          <p:cNvSpPr txBox="1"/>
          <p:nvPr/>
        </p:nvSpPr>
        <p:spPr>
          <a:xfrm>
            <a:off x="57849" y="5921514"/>
            <a:ext cx="9577064" cy="707886"/>
          </a:xfrm>
          <a:prstGeom prst="rect">
            <a:avLst/>
          </a:prstGeom>
          <a:noFill/>
        </p:spPr>
        <p:txBody>
          <a:bodyPr wrap="square" rtlCol="0">
            <a:noAutofit/>
          </a:bodyPr>
          <a:lstStyle/>
          <a:p>
            <a:pPr marL="171450" lvl="0" indent="-171450" eaLnBrk="1" latinLnBrk="0">
              <a:buFontTx/>
              <a:buChar char="-"/>
            </a:pPr>
            <a:r>
              <a:rPr sz="1000" b="0">
                <a:latin typeface="Arial"/>
              </a:rPr>
              <a:t>Hardware issues (6.0%, 15,600 PPM) are mainly broken pin connector (check PCBA), foreign material inside the set after assembly, SQA circuit and LCD from supplier; they will be improved by HW members.</a:t>
            </a:r>
            <a:br/>
            <a:r>
              <a:rPr sz="1000" b="0">
                <a:latin typeface="Arial"/>
              </a:rPr>
              <a:t>Software issues (3.5%, 9,100 PPM) will be solved by HQ software members.</a:t>
            </a:r>
            <a:br/>
            <a:r>
              <a:rPr sz="1000" b="0">
                <a:latin typeface="Arial"/>
              </a:rPr>
              <a:t>Machine defect accounts for 90.5% (235,300 PPM), where Luminance value is the overwhelming root issue causing 226,624 PPM (87.2% of all defects), causing severe UPH loss and scrap cost. That is why Luminance value is selected as Project Y for this Six Sigma assignment.</a:t>
            </a:r>
          </a:p>
        </p:txBody>
      </p:sp>
      <p:graphicFrame>
        <p:nvGraphicFramePr>
          <p:cNvPr id="12" name="Object 11">
            <a:extLst>
              <a:ext uri="{FF2B5EF4-FFF2-40B4-BE49-F238E27FC236}">
                <a16:creationId xmlns:a16="http://schemas.microsoft.com/office/drawing/2014/main" id="{641D5FF9-8E48-4313-BA6F-2F3C8DCE93A7}"/>
              </a:ext>
            </a:extLst>
          </p:cNvPr>
          <p:cNvGraphicFramePr>
            <a:graphicFrameLocks noChangeAspect="1"/>
          </p:cNvGraphicFramePr>
          <p:nvPr>
            <p:extLst>
              <p:ext uri="{D42A27DB-BD31-4B8C-83A1-F6EECF244321}">
                <p14:modId xmlns:p14="http://schemas.microsoft.com/office/powerpoint/2010/main" val="561615864"/>
              </p:ext>
            </p:extLst>
          </p:nvPr>
        </p:nvGraphicFramePr>
        <p:xfrm>
          <a:off x="304468" y="2246935"/>
          <a:ext cx="467633" cy="394566"/>
        </p:xfrm>
        <a:graphic>
          <a:graphicData uri="http://schemas.openxmlformats.org/presentationml/2006/ole">
            <mc:AlternateContent xmlns:mc="http://schemas.openxmlformats.org/markup-compatibility/2006">
              <mc:Choice xmlns:v="urn:schemas-microsoft-com:vml" Requires="v">
                <p:oleObj name="Worksheet" showAsIcon="1" r:id="rId4" imgW="914400" imgH="771792" progId="Excel.Sheet.12">
                  <p:embed/>
                </p:oleObj>
              </mc:Choice>
              <mc:Fallback>
                <p:oleObj name="Worksheet" showAsIcon="1" r:id="rId4" imgW="914400" imgH="771792" progId="Excel.Sheet.12">
                  <p:embed/>
                  <p:pic>
                    <p:nvPicPr>
                      <p:cNvPr id="0" name=""/>
                      <p:cNvPicPr/>
                      <p:nvPr/>
                    </p:nvPicPr>
                    <p:blipFill>
                      <a:blip r:embed="rId5"/>
                      <a:stretch>
                        <a:fillRect/>
                      </a:stretch>
                    </p:blipFill>
                    <p:spPr>
                      <a:xfrm>
                        <a:off x="304468" y="2246935"/>
                        <a:ext cx="467633" cy="394566"/>
                      </a:xfrm>
                      <a:prstGeom prst="rect">
                        <a:avLst/>
                      </a:prstGeom>
                    </p:spPr>
                  </p:pic>
                </p:oleObj>
              </mc:Fallback>
            </mc:AlternateContent>
          </a:graphicData>
        </a:graphic>
      </p:graphicFrame>
      <p:sp>
        <p:nvSpPr>
          <p:cNvPr id="2" name="Arrow: Right 1">
            <a:extLst>
              <a:ext uri="{FF2B5EF4-FFF2-40B4-BE49-F238E27FC236}">
                <a16:creationId xmlns:a16="http://schemas.microsoft.com/office/drawing/2014/main" id="{883DEA73-C594-43D5-86DD-20AFA7CB55DE}"/>
              </a:ext>
            </a:extLst>
          </p:cNvPr>
          <p:cNvSpPr/>
          <p:nvPr/>
        </p:nvSpPr>
        <p:spPr bwMode="auto">
          <a:xfrm rot="1145973">
            <a:off x="1406635" y="4896997"/>
            <a:ext cx="471981" cy="173244"/>
          </a:xfrm>
          <a:prstGeom prst="rightArrow">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charset="0"/>
              <a:ea typeface="돋움" pitchFamily="50" charset="-127"/>
            </a:endParaRPr>
          </a:p>
        </p:txBody>
      </p:sp>
      <p:sp>
        <p:nvSpPr>
          <p:cNvPr id="50" name="직사각형 124">
            <a:extLst>
              <a:ext uri="{FF2B5EF4-FFF2-40B4-BE49-F238E27FC236}">
                <a16:creationId xmlns:a16="http://schemas.microsoft.com/office/drawing/2014/main" id="{90A54F67-C922-4481-83DE-35020CA82089}"/>
              </a:ext>
            </a:extLst>
          </p:cNvPr>
          <p:cNvSpPr/>
          <p:nvPr/>
        </p:nvSpPr>
        <p:spPr>
          <a:xfrm>
            <a:off x="9111999" y="1263867"/>
            <a:ext cx="717728"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b="0" dirty="0">
                <a:solidFill>
                  <a:schemeClr val="tx1"/>
                </a:solidFill>
                <a:latin typeface="Arial"/>
              </a:rPr>
              <a:t>IVI LD</a:t>
            </a:r>
            <a:r>
              <a:rPr sz="1000" b="0" dirty="0">
                <a:latin typeface="Arial"/>
              </a:rPr>
              <a:t> IE</a:t>
            </a:r>
          </a:p>
        </p:txBody>
      </p:sp>
      <p:sp>
        <p:nvSpPr>
          <p:cNvPr id="53" name="직사각형 124">
            <a:extLst>
              <a:ext uri="{FF2B5EF4-FFF2-40B4-BE49-F238E27FC236}">
                <a16:creationId xmlns:a16="http://schemas.microsoft.com/office/drawing/2014/main" id="{1045D11C-94C8-40D5-BC41-24537629FD31}"/>
              </a:ext>
            </a:extLst>
          </p:cNvPr>
          <p:cNvSpPr/>
          <p:nvPr/>
        </p:nvSpPr>
        <p:spPr>
          <a:xfrm>
            <a:off x="9136713" y="2078607"/>
            <a:ext cx="717728"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HEESUNG vendor</a:t>
            </a:r>
          </a:p>
        </p:txBody>
      </p:sp>
      <p:graphicFrame>
        <p:nvGraphicFramePr>
          <p:cNvPr id="56" name="표 46">
            <a:extLst>
              <a:ext uri="{FF2B5EF4-FFF2-40B4-BE49-F238E27FC236}">
                <a16:creationId xmlns:a16="http://schemas.microsoft.com/office/drawing/2014/main" id="{389174B0-4A7E-4DAC-B76B-156987A7EF90}"/>
              </a:ext>
            </a:extLst>
          </p:cNvPr>
          <p:cNvGraphicFramePr>
            <a:graphicFrameLocks noGrp="1"/>
          </p:cNvGraphicFramePr>
          <p:nvPr>
            <p:extLst>
              <p:ext uri="{D42A27DB-BD31-4B8C-83A1-F6EECF244321}">
                <p14:modId xmlns:p14="http://schemas.microsoft.com/office/powerpoint/2010/main" val="4294634826"/>
              </p:ext>
            </p:extLst>
          </p:nvPr>
        </p:nvGraphicFramePr>
        <p:xfrm>
          <a:off x="9112590" y="735156"/>
          <a:ext cx="717137" cy="282190"/>
        </p:xfrm>
        <a:graphic>
          <a:graphicData uri="http://schemas.openxmlformats.org/drawingml/2006/table">
            <a:tbl>
              <a:tblPr/>
              <a:tblGrid>
                <a:gridCol w="717137">
                  <a:extLst>
                    <a:ext uri="{9D8B030D-6E8A-4147-A177-3AD203B41FA5}">
                      <a16:colId xmlns:a16="http://schemas.microsoft.com/office/drawing/2014/main" val="20000"/>
                    </a:ext>
                  </a:extLst>
                </a:gridCol>
              </a:tblGrid>
              <a:tr h="282190">
                <a:tc>
                  <a:txBody>
                    <a:bodyPr/>
                    <a:lstStyle/>
                    <a:p>
                      <a:pPr marL="0" algn="ctr" defTabSz="914400" rtl="0" eaLnBrk="1" latinLnBrk="0" hangingPunct="1">
                        <a:defRPr/>
                      </a:pPr>
                      <a:r>
                        <a:rPr lang="en-US" altLang="ko-KR" sz="1000" b="1" kern="1200" dirty="0">
                          <a:solidFill>
                            <a:schemeClr val="tx1"/>
                          </a:solidFill>
                          <a:latin typeface="Arial" panose="020B0600000101010101" pitchFamily="50" charset="-127"/>
                          <a:ea typeface="Arial" panose="020B0600000101010101" pitchFamily="50" charset="-127"/>
                          <a:cs typeface="+mn-cs"/>
                        </a:rPr>
                        <a:t>PIC</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sp>
        <p:nvSpPr>
          <p:cNvPr id="5" name="Rectangle 4">
            <a:extLst>
              <a:ext uri="{FF2B5EF4-FFF2-40B4-BE49-F238E27FC236}">
                <a16:creationId xmlns:a16="http://schemas.microsoft.com/office/drawing/2014/main" id="{6AF0C5BD-1F30-4E1B-B64B-6F14E8B4E4DA}"/>
              </a:ext>
            </a:extLst>
          </p:cNvPr>
          <p:cNvSpPr/>
          <p:nvPr/>
        </p:nvSpPr>
        <p:spPr>
          <a:xfrm>
            <a:off x="51601" y="1670837"/>
            <a:ext cx="1261884" cy="600164"/>
          </a:xfrm>
          <a:prstGeom prst="rect">
            <a:avLst/>
          </a:prstGeom>
        </p:spPr>
        <p:txBody>
          <a:bodyPr wrap="square">
            <a:noAutofit/>
          </a:bodyPr>
          <a:lstStyle/>
          <a:p>
            <a:pPr algn="ctr" eaLnBrk="1" latinLnBrk="0"/>
            <a:r>
              <a:rPr sz="900" b="1" dirty="0">
                <a:latin typeface="Arial"/>
              </a:rPr>
              <a:t>260,000 PPM</a:t>
            </a:r>
            <a:br>
              <a:rPr dirty="0"/>
            </a:br>
            <a:r>
              <a:rPr sz="900" b="1" dirty="0">
                <a:latin typeface="Arial"/>
              </a:rPr>
              <a:t>(164/631EA</a:t>
            </a:r>
            <a:br>
              <a:rPr dirty="0"/>
            </a:br>
            <a:r>
              <a:rPr sz="900" b="1" dirty="0" err="1">
                <a:latin typeface="Arial"/>
              </a:rPr>
              <a:t xml:space="preserve">Nov.2025~Mar.2026</a:t>
            </a:r>
            <a:r>
              <a:rPr sz="900" b="1" dirty="0">
                <a:latin typeface="Arial"/>
              </a:rPr>
              <a:t xml:space="preserve">)</a:t>
            </a:r>
            <a:endParaRPr lang="en-US" sz="11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 name="Rectangle 5">
            <a:extLst>
              <a:ext uri="{FF2B5EF4-FFF2-40B4-BE49-F238E27FC236}">
                <a16:creationId xmlns:a16="http://schemas.microsoft.com/office/drawing/2014/main" id="{05F4D52F-1976-4C98-B1BC-20259337E454}"/>
              </a:ext>
            </a:extLst>
          </p:cNvPr>
          <p:cNvSpPr/>
          <p:nvPr/>
        </p:nvSpPr>
        <p:spPr>
          <a:xfrm>
            <a:off x="1677199" y="1639657"/>
            <a:ext cx="1224000" cy="246221"/>
          </a:xfrm>
          <a:prstGeom prst="rect">
            <a:avLst/>
          </a:prstGeom>
        </p:spPr>
        <p:txBody>
          <a:bodyPr wrap="square">
            <a:noAutofit/>
          </a:bodyPr>
          <a:lstStyle/>
          <a:p>
            <a:pPr algn="ctr" eaLnBrk="1" latinLnBrk="0"/>
            <a:r>
              <a:rPr sz="950" b="1">
                <a:latin typeface="Arial"/>
              </a:rPr>
              <a:t>90.5% 235,300 PPM</a:t>
            </a:r>
          </a:p>
        </p:txBody>
      </p:sp>
      <p:sp>
        <p:nvSpPr>
          <p:cNvPr id="7" name="Rectangle 6">
            <a:extLst>
              <a:ext uri="{FF2B5EF4-FFF2-40B4-BE49-F238E27FC236}">
                <a16:creationId xmlns:a16="http://schemas.microsoft.com/office/drawing/2014/main" id="{30B36D77-47D1-4939-B27C-3B292C8F8F4D}"/>
              </a:ext>
            </a:extLst>
          </p:cNvPr>
          <p:cNvSpPr/>
          <p:nvPr/>
        </p:nvSpPr>
        <p:spPr>
          <a:xfrm>
            <a:off x="1713759" y="4148648"/>
            <a:ext cx="1152000" cy="246221"/>
          </a:xfrm>
          <a:prstGeom prst="rect">
            <a:avLst/>
          </a:prstGeom>
        </p:spPr>
        <p:txBody>
          <a:bodyPr wrap="square">
            <a:noAutofit/>
          </a:bodyPr>
          <a:lstStyle/>
          <a:p>
            <a:pPr algn="ctr" eaLnBrk="1" latinLnBrk="0"/>
            <a:r>
              <a:rPr sz="950" b="1">
                <a:latin typeface="Arial"/>
              </a:rPr>
              <a:t>3.5% 9,100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8" name="Rectangle 7">
            <a:extLst>
              <a:ext uri="{FF2B5EF4-FFF2-40B4-BE49-F238E27FC236}">
                <a16:creationId xmlns:a16="http://schemas.microsoft.com/office/drawing/2014/main" id="{760BD9FF-BA40-45C8-B5BF-7471B03E5658}"/>
              </a:ext>
            </a:extLst>
          </p:cNvPr>
          <p:cNvSpPr/>
          <p:nvPr/>
        </p:nvSpPr>
        <p:spPr>
          <a:xfrm>
            <a:off x="1710838" y="3210563"/>
            <a:ext cx="1152000" cy="246221"/>
          </a:xfrm>
          <a:prstGeom prst="rect">
            <a:avLst/>
          </a:prstGeom>
        </p:spPr>
        <p:txBody>
          <a:bodyPr wrap="square">
            <a:noAutofit/>
          </a:bodyPr>
          <a:lstStyle/>
          <a:p>
            <a:pPr algn="ctr" eaLnBrk="1" latinLnBrk="0"/>
            <a:r>
              <a:rPr sz="950" b="1">
                <a:latin typeface="Arial"/>
              </a:rPr>
              <a:t>6.0% 15,600 PPM</a:t>
            </a:r>
          </a:p>
        </p:txBody>
      </p:sp>
      <p:cxnSp>
        <p:nvCxnSpPr>
          <p:cNvPr id="10" name="Connector: Elbow 9">
            <a:extLst>
              <a:ext uri="{FF2B5EF4-FFF2-40B4-BE49-F238E27FC236}">
                <a16:creationId xmlns:a16="http://schemas.microsoft.com/office/drawing/2014/main" id="{368EBAD9-AB13-4234-82B1-F3C26DD02447}"/>
              </a:ext>
            </a:extLst>
          </p:cNvPr>
          <p:cNvCxnSpPr>
            <a:stCxn id="104" idx="3"/>
            <a:endCxn id="130" idx="1"/>
          </p:cNvCxnSpPr>
          <p:nvPr/>
        </p:nvCxnSpPr>
        <p:spPr bwMode="auto">
          <a:xfrm>
            <a:off x="4822973" y="1454063"/>
            <a:ext cx="643866" cy="828615"/>
          </a:xfrm>
          <a:prstGeom prst="bentConnector3">
            <a:avLst/>
          </a:prstGeom>
          <a:noFill/>
          <a:ln w="9525" cap="flat" cmpd="sng" algn="ctr">
            <a:solidFill>
              <a:schemeClr val="bg2"/>
            </a:solidFill>
            <a:prstDash val="solid"/>
            <a:round/>
            <a:headEnd type="none" w="med" len="med"/>
            <a:tailEnd type="triangle"/>
          </a:ln>
          <a:effectLst/>
        </p:spPr>
      </p:cxnSp>
      <p:cxnSp>
        <p:nvCxnSpPr>
          <p:cNvPr id="13" name="Connector: Elbow 12">
            <a:extLst>
              <a:ext uri="{FF2B5EF4-FFF2-40B4-BE49-F238E27FC236}">
                <a16:creationId xmlns:a16="http://schemas.microsoft.com/office/drawing/2014/main" id="{856C0AA8-FC66-4C21-B31D-56F322604C13}"/>
              </a:ext>
            </a:extLst>
          </p:cNvPr>
          <p:cNvCxnSpPr>
            <a:stCxn id="52" idx="3"/>
            <a:endCxn id="71" idx="1"/>
          </p:cNvCxnSpPr>
          <p:nvPr/>
        </p:nvCxnSpPr>
        <p:spPr bwMode="auto">
          <a:xfrm>
            <a:off x="1257197" y="1445210"/>
            <a:ext cx="432673" cy="2451447"/>
          </a:xfrm>
          <a:prstGeom prst="bentConnector3">
            <a:avLst>
              <a:gd name="adj1" fmla="val 50000"/>
            </a:avLst>
          </a:prstGeom>
          <a:noFill/>
          <a:ln w="9525" cap="flat" cmpd="sng" algn="ctr">
            <a:solidFill>
              <a:schemeClr val="bg2"/>
            </a:solidFill>
            <a:prstDash val="solid"/>
            <a:round/>
            <a:headEnd type="none" w="med" len="med"/>
            <a:tailEnd type="triangle"/>
          </a:ln>
          <a:effectLst/>
        </p:spPr>
      </p:cxnSp>
      <p:cxnSp>
        <p:nvCxnSpPr>
          <p:cNvPr id="15" name="Connector: Elbow 14">
            <a:extLst>
              <a:ext uri="{FF2B5EF4-FFF2-40B4-BE49-F238E27FC236}">
                <a16:creationId xmlns:a16="http://schemas.microsoft.com/office/drawing/2014/main" id="{DB7FD541-B9AE-4E0D-A3AE-AC9AA5B1A5C8}"/>
              </a:ext>
            </a:extLst>
          </p:cNvPr>
          <p:cNvCxnSpPr>
            <a:cxnSpLocks/>
            <a:stCxn id="52" idx="3"/>
            <a:endCxn id="83" idx="1"/>
          </p:cNvCxnSpPr>
          <p:nvPr/>
        </p:nvCxnSpPr>
        <p:spPr bwMode="auto">
          <a:xfrm>
            <a:off x="1257197" y="1445210"/>
            <a:ext cx="390117" cy="1585615"/>
          </a:xfrm>
          <a:prstGeom prst="bentConnector3">
            <a:avLst>
              <a:gd name="adj1" fmla="val 50000"/>
            </a:avLst>
          </a:prstGeom>
          <a:noFill/>
          <a:ln w="9525" cap="flat" cmpd="sng" algn="ctr">
            <a:solidFill>
              <a:schemeClr val="bg2"/>
            </a:solidFill>
            <a:prstDash val="solid"/>
            <a:round/>
            <a:headEnd type="none" w="med" len="med"/>
            <a:tailEnd type="triangle"/>
          </a:ln>
          <a:effectLst/>
        </p:spPr>
      </p:cxnSp>
      <p:sp>
        <p:nvSpPr>
          <p:cNvPr id="65" name="직사각형 124">
            <a:extLst>
              <a:ext uri="{FF2B5EF4-FFF2-40B4-BE49-F238E27FC236}">
                <a16:creationId xmlns:a16="http://schemas.microsoft.com/office/drawing/2014/main" id="{DCFE7B6D-E84B-4231-8DAF-21ACE678009D}"/>
              </a:ext>
            </a:extLst>
          </p:cNvPr>
          <p:cNvSpPr/>
          <p:nvPr/>
        </p:nvSpPr>
        <p:spPr>
          <a:xfrm>
            <a:off x="3600726" y="2057400"/>
            <a:ext cx="1183477" cy="44246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Haptic/Touch </a:t>
            </a:r>
          </a:p>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Function</a:t>
            </a:r>
          </a:p>
        </p:txBody>
      </p:sp>
      <p:sp>
        <p:nvSpPr>
          <p:cNvPr id="16" name="Rectangle 15">
            <a:extLst>
              <a:ext uri="{FF2B5EF4-FFF2-40B4-BE49-F238E27FC236}">
                <a16:creationId xmlns:a16="http://schemas.microsoft.com/office/drawing/2014/main" id="{288E1CE7-F4BC-4EBD-90F5-3CFE8E35BDA1}"/>
              </a:ext>
            </a:extLst>
          </p:cNvPr>
          <p:cNvSpPr/>
          <p:nvPr/>
        </p:nvSpPr>
        <p:spPr>
          <a:xfrm>
            <a:off x="3678910" y="2514600"/>
            <a:ext cx="1152000" cy="246221"/>
          </a:xfrm>
          <a:prstGeom prst="rect">
            <a:avLst/>
          </a:prstGeom>
        </p:spPr>
        <p:txBody>
          <a:bodyPr wrap="square">
            <a:noAutofit/>
          </a:bodyPr>
          <a:lstStyle/>
          <a:p>
            <a:pPr algn="ctr" eaLnBrk="1" latinLnBrk="0"/>
            <a:r>
              <a:rPr sz="950" b="1">
                <a:latin typeface="Arial"/>
              </a:rPr>
              <a:t>1.0% 2,600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17" name="Rectangle 16">
            <a:extLst>
              <a:ext uri="{FF2B5EF4-FFF2-40B4-BE49-F238E27FC236}">
                <a16:creationId xmlns:a16="http://schemas.microsoft.com/office/drawing/2014/main" id="{6B236DF7-163A-478C-958C-BB6F9A456983}"/>
              </a:ext>
            </a:extLst>
          </p:cNvPr>
          <p:cNvSpPr/>
          <p:nvPr/>
        </p:nvSpPr>
        <p:spPr>
          <a:xfrm>
            <a:off x="3671058" y="1639402"/>
            <a:ext cx="1224000" cy="246221"/>
          </a:xfrm>
          <a:prstGeom prst="rect">
            <a:avLst/>
          </a:prstGeom>
        </p:spPr>
        <p:txBody>
          <a:bodyPr wrap="square">
            <a:noAutofit/>
          </a:bodyPr>
          <a:lstStyle/>
          <a:p>
            <a:pPr algn="ctr" eaLnBrk="1" latinLnBrk="0"/>
            <a:r>
              <a:rPr sz="950" b="1">
                <a:latin typeface="Arial"/>
              </a:rPr>
              <a:t>89.5% 232,700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18" name="Rectangle 17">
            <a:extLst>
              <a:ext uri="{FF2B5EF4-FFF2-40B4-BE49-F238E27FC236}">
                <a16:creationId xmlns:a16="http://schemas.microsoft.com/office/drawing/2014/main" id="{3E9C44D0-3B3F-416F-A77E-B52AFB15C63C}"/>
              </a:ext>
            </a:extLst>
          </p:cNvPr>
          <p:cNvSpPr/>
          <p:nvPr/>
        </p:nvSpPr>
        <p:spPr>
          <a:xfrm>
            <a:off x="5603342" y="1670836"/>
            <a:ext cx="1260000" cy="270000"/>
          </a:xfrm>
          <a:prstGeom prst="rect">
            <a:avLst/>
          </a:prstGeom>
        </p:spPr>
        <p:txBody>
          <a:bodyPr wrap="square">
            <a:noAutofit/>
          </a:bodyPr>
          <a:lstStyle/>
          <a:p>
            <a:pPr algn="ctr" eaLnBrk="1" latinLnBrk="0"/>
            <a:r>
              <a:rPr sz="950" b="1">
                <a:latin typeface="Arial"/>
              </a:rPr>
              <a:t>87.2% 226,624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19" name="Rectangle 18">
            <a:extLst>
              <a:ext uri="{FF2B5EF4-FFF2-40B4-BE49-F238E27FC236}">
                <a16:creationId xmlns:a16="http://schemas.microsoft.com/office/drawing/2014/main" id="{9610AA58-682F-4FB2-9E51-FF3CD21FFCAB}"/>
              </a:ext>
            </a:extLst>
          </p:cNvPr>
          <p:cNvSpPr/>
          <p:nvPr/>
        </p:nvSpPr>
        <p:spPr>
          <a:xfrm>
            <a:off x="5663322" y="2502569"/>
            <a:ext cx="1152000" cy="246221"/>
          </a:xfrm>
          <a:prstGeom prst="rect">
            <a:avLst/>
          </a:prstGeom>
        </p:spPr>
        <p:txBody>
          <a:bodyPr wrap="square">
            <a:noAutofit/>
          </a:bodyPr>
          <a:lstStyle/>
          <a:p>
            <a:pPr algn="ctr" eaLnBrk="1" latinLnBrk="0"/>
            <a:r>
              <a:rPr sz="950" b="1">
                <a:latin typeface="Arial"/>
              </a:rPr>
              <a:t>2.3% 6,076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cxnSp>
        <p:nvCxnSpPr>
          <p:cNvPr id="24" name="Straight Arrow Connector 23">
            <a:extLst>
              <a:ext uri="{FF2B5EF4-FFF2-40B4-BE49-F238E27FC236}">
                <a16:creationId xmlns:a16="http://schemas.microsoft.com/office/drawing/2014/main" id="{BC6C054B-5829-4BE0-A31D-2CA7A59F1F41}"/>
              </a:ext>
            </a:extLst>
          </p:cNvPr>
          <p:cNvCxnSpPr>
            <a:stCxn id="69" idx="3"/>
            <a:endCxn id="50" idx="1"/>
          </p:cNvCxnSpPr>
          <p:nvPr/>
        </p:nvCxnSpPr>
        <p:spPr bwMode="auto">
          <a:xfrm>
            <a:off x="8909413" y="1457981"/>
            <a:ext cx="202586" cy="3843"/>
          </a:xfrm>
          <a:prstGeom prst="straightConnector1">
            <a:avLst/>
          </a:prstGeom>
          <a:noFill/>
          <a:ln w="9525" cap="flat" cmpd="sng" algn="ctr">
            <a:solidFill>
              <a:srgbClr val="C00000"/>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318BE62C-07D6-473A-B50C-1AC28254AF33}"/>
              </a:ext>
            </a:extLst>
          </p:cNvPr>
          <p:cNvCxnSpPr>
            <a:stCxn id="70" idx="3"/>
            <a:endCxn id="53" idx="1"/>
          </p:cNvCxnSpPr>
          <p:nvPr/>
        </p:nvCxnSpPr>
        <p:spPr bwMode="auto">
          <a:xfrm flipV="1">
            <a:off x="8934127" y="2276564"/>
            <a:ext cx="202586" cy="5865"/>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24D5C481-9F97-4082-8B72-7206183B9A86}"/>
              </a:ext>
            </a:extLst>
          </p:cNvPr>
          <p:cNvCxnSpPr>
            <a:stCxn id="68" idx="3"/>
            <a:endCxn id="65" idx="1"/>
          </p:cNvCxnSpPr>
          <p:nvPr/>
        </p:nvCxnSpPr>
        <p:spPr bwMode="auto">
          <a:xfrm>
            <a:off x="2867767" y="1437809"/>
            <a:ext cx="732959" cy="840823"/>
          </a:xfrm>
          <a:prstGeom prst="bentConnector3">
            <a:avLst/>
          </a:prstGeom>
          <a:noFill/>
          <a:ln w="9525" cap="flat" cmpd="sng" algn="ctr">
            <a:solidFill>
              <a:schemeClr val="bg2"/>
            </a:solidFill>
            <a:prstDash val="solid"/>
            <a:round/>
            <a:headEnd type="none" w="med" len="med"/>
            <a:tailEnd type="triangle"/>
          </a:ln>
          <a:effectLst/>
        </p:spPr>
      </p:cxnSp>
      <p:sp>
        <p:nvSpPr>
          <p:cNvPr id="54" name="직사각형 124">
            <a:extLst>
              <a:ext uri="{FF2B5EF4-FFF2-40B4-BE49-F238E27FC236}">
                <a16:creationId xmlns:a16="http://schemas.microsoft.com/office/drawing/2014/main" id="{6E4609AA-34B6-4679-A537-F7B40309CB26}"/>
              </a:ext>
            </a:extLst>
          </p:cNvPr>
          <p:cNvSpPr/>
          <p:nvPr/>
        </p:nvSpPr>
        <p:spPr>
          <a:xfrm>
            <a:off x="3611236" y="2840939"/>
            <a:ext cx="1183477" cy="37207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Power Function</a:t>
            </a:r>
          </a:p>
        </p:txBody>
      </p:sp>
      <p:sp>
        <p:nvSpPr>
          <p:cNvPr id="58" name="직사각형 124">
            <a:extLst>
              <a:ext uri="{FF2B5EF4-FFF2-40B4-BE49-F238E27FC236}">
                <a16:creationId xmlns:a16="http://schemas.microsoft.com/office/drawing/2014/main" id="{219D5C33-0AD8-4A59-AFDB-684F26C6C4AF}"/>
              </a:ext>
            </a:extLst>
          </p:cNvPr>
          <p:cNvSpPr/>
          <p:nvPr/>
        </p:nvSpPr>
        <p:spPr>
          <a:xfrm>
            <a:off x="5423821" y="2842534"/>
            <a:ext cx="1427220" cy="377460"/>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Initial/ Booting </a:t>
            </a:r>
          </a:p>
        </p:txBody>
      </p:sp>
      <p:cxnSp>
        <p:nvCxnSpPr>
          <p:cNvPr id="11" name="Straight Arrow Connector 10">
            <a:extLst>
              <a:ext uri="{FF2B5EF4-FFF2-40B4-BE49-F238E27FC236}">
                <a16:creationId xmlns:a16="http://schemas.microsoft.com/office/drawing/2014/main" id="{316FA9F6-1715-4F4C-B7AF-5D0BE96AEC3A}"/>
              </a:ext>
            </a:extLst>
          </p:cNvPr>
          <p:cNvCxnSpPr>
            <a:cxnSpLocks/>
            <a:stCxn id="83" idx="3"/>
            <a:endCxn id="54" idx="1"/>
          </p:cNvCxnSpPr>
          <p:nvPr/>
        </p:nvCxnSpPr>
        <p:spPr bwMode="auto">
          <a:xfrm flipV="1">
            <a:off x="2863573" y="3026979"/>
            <a:ext cx="747663" cy="3846"/>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23" name="Straight Arrow Connector 22">
            <a:extLst>
              <a:ext uri="{FF2B5EF4-FFF2-40B4-BE49-F238E27FC236}">
                <a16:creationId xmlns:a16="http://schemas.microsoft.com/office/drawing/2014/main" id="{A20F0BDF-CB60-46E4-9AA0-1B74E29B6406}"/>
              </a:ext>
            </a:extLst>
          </p:cNvPr>
          <p:cNvCxnSpPr>
            <a:stCxn id="54" idx="3"/>
            <a:endCxn id="58" idx="1"/>
          </p:cNvCxnSpPr>
          <p:nvPr/>
        </p:nvCxnSpPr>
        <p:spPr bwMode="auto">
          <a:xfrm>
            <a:off x="4794713" y="3026979"/>
            <a:ext cx="629108" cy="4285"/>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66" name="직사각형 124">
            <a:extLst>
              <a:ext uri="{FF2B5EF4-FFF2-40B4-BE49-F238E27FC236}">
                <a16:creationId xmlns:a16="http://schemas.microsoft.com/office/drawing/2014/main" id="{6AA2B0E5-EC42-4C84-994A-778FC6501B06}"/>
              </a:ext>
            </a:extLst>
          </p:cNvPr>
          <p:cNvSpPr/>
          <p:nvPr/>
        </p:nvSpPr>
        <p:spPr>
          <a:xfrm>
            <a:off x="7322593" y="2819400"/>
            <a:ext cx="1586819" cy="41643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Broken pin connector _ check PCBA</a:t>
            </a:r>
          </a:p>
        </p:txBody>
      </p:sp>
      <p:cxnSp>
        <p:nvCxnSpPr>
          <p:cNvPr id="30" name="Straight Arrow Connector 29">
            <a:extLst>
              <a:ext uri="{FF2B5EF4-FFF2-40B4-BE49-F238E27FC236}">
                <a16:creationId xmlns:a16="http://schemas.microsoft.com/office/drawing/2014/main" id="{654EA2C0-7A57-4607-B4AC-BFF85E4612BC}"/>
              </a:ext>
            </a:extLst>
          </p:cNvPr>
          <p:cNvCxnSpPr>
            <a:stCxn id="58" idx="3"/>
            <a:endCxn id="66" idx="1"/>
          </p:cNvCxnSpPr>
          <p:nvPr/>
        </p:nvCxnSpPr>
        <p:spPr bwMode="auto">
          <a:xfrm flipV="1">
            <a:off x="6851041" y="3027616"/>
            <a:ext cx="471552" cy="3648"/>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72" name="직사각형 124">
            <a:extLst>
              <a:ext uri="{FF2B5EF4-FFF2-40B4-BE49-F238E27FC236}">
                <a16:creationId xmlns:a16="http://schemas.microsoft.com/office/drawing/2014/main" id="{A6CBACB8-857B-400B-873A-143B2C375E95}"/>
              </a:ext>
            </a:extLst>
          </p:cNvPr>
          <p:cNvSpPr/>
          <p:nvPr/>
        </p:nvSpPr>
        <p:spPr>
          <a:xfrm>
            <a:off x="9103367" y="2829021"/>
            <a:ext cx="717728"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Mr. Hai HW</a:t>
            </a:r>
          </a:p>
        </p:txBody>
      </p:sp>
      <p:cxnSp>
        <p:nvCxnSpPr>
          <p:cNvPr id="21" name="Straight Arrow Connector 20">
            <a:extLst>
              <a:ext uri="{FF2B5EF4-FFF2-40B4-BE49-F238E27FC236}">
                <a16:creationId xmlns:a16="http://schemas.microsoft.com/office/drawing/2014/main" id="{BD629D11-E31F-42F2-886F-2ACA099FB128}"/>
              </a:ext>
            </a:extLst>
          </p:cNvPr>
          <p:cNvCxnSpPr>
            <a:stCxn id="66" idx="3"/>
            <a:endCxn id="72" idx="1"/>
          </p:cNvCxnSpPr>
          <p:nvPr/>
        </p:nvCxnSpPr>
        <p:spPr bwMode="auto">
          <a:xfrm flipV="1">
            <a:off x="8909412" y="3026978"/>
            <a:ext cx="193955" cy="638"/>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73" name="직사각형 124">
            <a:extLst>
              <a:ext uri="{FF2B5EF4-FFF2-40B4-BE49-F238E27FC236}">
                <a16:creationId xmlns:a16="http://schemas.microsoft.com/office/drawing/2014/main" id="{02F03E4C-6B25-4594-A904-49A6F7A6D5AB}"/>
              </a:ext>
            </a:extLst>
          </p:cNvPr>
          <p:cNvSpPr/>
          <p:nvPr/>
        </p:nvSpPr>
        <p:spPr>
          <a:xfrm>
            <a:off x="3611236" y="3710617"/>
            <a:ext cx="1183477" cy="37207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Uniformity Function</a:t>
            </a:r>
          </a:p>
        </p:txBody>
      </p:sp>
      <p:sp>
        <p:nvSpPr>
          <p:cNvPr id="78" name="직사각형 124">
            <a:extLst>
              <a:ext uri="{FF2B5EF4-FFF2-40B4-BE49-F238E27FC236}">
                <a16:creationId xmlns:a16="http://schemas.microsoft.com/office/drawing/2014/main" id="{AF1F87F1-6034-411B-A915-807D211A396D}"/>
              </a:ext>
            </a:extLst>
          </p:cNvPr>
          <p:cNvSpPr/>
          <p:nvPr/>
        </p:nvSpPr>
        <p:spPr>
          <a:xfrm>
            <a:off x="5415782" y="3707926"/>
            <a:ext cx="1427220" cy="377460"/>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Black Uniformity value</a:t>
            </a:r>
          </a:p>
        </p:txBody>
      </p:sp>
      <p:sp>
        <p:nvSpPr>
          <p:cNvPr id="81" name="직사각형 124">
            <a:extLst>
              <a:ext uri="{FF2B5EF4-FFF2-40B4-BE49-F238E27FC236}">
                <a16:creationId xmlns:a16="http://schemas.microsoft.com/office/drawing/2014/main" id="{8420CAE5-18AF-453C-961B-E2C9C8CEA2EA}"/>
              </a:ext>
            </a:extLst>
          </p:cNvPr>
          <p:cNvSpPr/>
          <p:nvPr/>
        </p:nvSpPr>
        <p:spPr>
          <a:xfrm>
            <a:off x="7314554" y="3688441"/>
            <a:ext cx="1586819" cy="41643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Improve software</a:t>
            </a:r>
          </a:p>
        </p:txBody>
      </p:sp>
      <p:cxnSp>
        <p:nvCxnSpPr>
          <p:cNvPr id="82" name="Straight Arrow Connector 81">
            <a:extLst>
              <a:ext uri="{FF2B5EF4-FFF2-40B4-BE49-F238E27FC236}">
                <a16:creationId xmlns:a16="http://schemas.microsoft.com/office/drawing/2014/main" id="{2AF4C39A-6C4C-4507-8D8E-700E8114055E}"/>
              </a:ext>
            </a:extLst>
          </p:cNvPr>
          <p:cNvCxnSpPr>
            <a:stCxn id="78" idx="3"/>
            <a:endCxn id="81" idx="1"/>
          </p:cNvCxnSpPr>
          <p:nvPr/>
        </p:nvCxnSpPr>
        <p:spPr bwMode="auto">
          <a:xfrm>
            <a:off x="6843002" y="3896656"/>
            <a:ext cx="471552" cy="1"/>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87" name="직사각형 124">
            <a:extLst>
              <a:ext uri="{FF2B5EF4-FFF2-40B4-BE49-F238E27FC236}">
                <a16:creationId xmlns:a16="http://schemas.microsoft.com/office/drawing/2014/main" id="{67F1B8FE-E275-4B4F-8EC5-A272AA3A0D0E}"/>
              </a:ext>
            </a:extLst>
          </p:cNvPr>
          <p:cNvSpPr/>
          <p:nvPr/>
        </p:nvSpPr>
        <p:spPr>
          <a:xfrm>
            <a:off x="9095328" y="3698700"/>
            <a:ext cx="717728"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HQ R&amp;D</a:t>
            </a:r>
          </a:p>
        </p:txBody>
      </p:sp>
      <p:cxnSp>
        <p:nvCxnSpPr>
          <p:cNvPr id="88" name="Straight Arrow Connector 87">
            <a:extLst>
              <a:ext uri="{FF2B5EF4-FFF2-40B4-BE49-F238E27FC236}">
                <a16:creationId xmlns:a16="http://schemas.microsoft.com/office/drawing/2014/main" id="{1938498C-816F-4E61-9CA7-375B5168EFF2}"/>
              </a:ext>
            </a:extLst>
          </p:cNvPr>
          <p:cNvCxnSpPr>
            <a:stCxn id="81" idx="3"/>
            <a:endCxn id="87" idx="1"/>
          </p:cNvCxnSpPr>
          <p:nvPr/>
        </p:nvCxnSpPr>
        <p:spPr bwMode="auto">
          <a:xfrm>
            <a:off x="8901373" y="3896657"/>
            <a:ext cx="193955"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44" name="Straight Arrow Connector 43">
            <a:extLst>
              <a:ext uri="{FF2B5EF4-FFF2-40B4-BE49-F238E27FC236}">
                <a16:creationId xmlns:a16="http://schemas.microsoft.com/office/drawing/2014/main" id="{9614912F-ED54-4E11-8172-5D2E5AECB661}"/>
              </a:ext>
            </a:extLst>
          </p:cNvPr>
          <p:cNvCxnSpPr>
            <a:stCxn id="71" idx="3"/>
            <a:endCxn id="73" idx="1"/>
          </p:cNvCxnSpPr>
          <p:nvPr/>
        </p:nvCxnSpPr>
        <p:spPr bwMode="auto">
          <a:xfrm>
            <a:off x="2906129" y="3896657"/>
            <a:ext cx="705107"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26651EDC-BC53-4F29-A438-9CCB88853252}"/>
              </a:ext>
            </a:extLst>
          </p:cNvPr>
          <p:cNvCxnSpPr>
            <a:stCxn id="73" idx="3"/>
            <a:endCxn id="78" idx="1"/>
          </p:cNvCxnSpPr>
          <p:nvPr/>
        </p:nvCxnSpPr>
        <p:spPr bwMode="auto">
          <a:xfrm flipV="1">
            <a:off x="4794713" y="3896656"/>
            <a:ext cx="621069" cy="1"/>
          </a:xfrm>
          <a:prstGeom prst="straightConnector1">
            <a:avLst/>
          </a:prstGeom>
          <a:noFill/>
          <a:ln w="9525" cap="flat" cmpd="sng" algn="ctr">
            <a:solidFill>
              <a:schemeClr val="bg1">
                <a:lumMod val="50000"/>
              </a:schemeClr>
            </a:solidFill>
            <a:prstDash val="solid"/>
            <a:round/>
            <a:headEnd type="none" w="med" len="med"/>
            <a:tailEnd type="triangle"/>
          </a:ln>
          <a:effectLst/>
        </p:spPr>
      </p:cxnSp>
    </p:spTree>
    <p:extLst>
      <p:ext uri="{BB962C8B-B14F-4D97-AF65-F5344CB8AC3E}">
        <p14:creationId xmlns:p14="http://schemas.microsoft.com/office/powerpoint/2010/main" val="1738383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A58C813-0DB8-4A39-A4D8-BBFF0639DBF9}"/>
              </a:ext>
            </a:extLst>
          </p:cNvPr>
          <p:cNvPicPr>
            <a:picLocks noChangeAspect="1"/>
          </p:cNvPicPr>
          <p:nvPr/>
        </p:nvPicPr>
        <p:blipFill>
          <a:blip r:embed="rId3"/>
          <a:stretch>
            <a:fillRect/>
          </a:stretch>
        </p:blipFill>
        <p:spPr>
          <a:xfrm>
            <a:off x="7344886" y="1969261"/>
            <a:ext cx="2257810" cy="1509767"/>
          </a:xfrm>
          <a:prstGeom prst="rect">
            <a:avLst/>
          </a:prstGeom>
        </p:spPr>
      </p:pic>
      <p:cxnSp>
        <p:nvCxnSpPr>
          <p:cNvPr id="6" name="Straight Arrow Connector 5">
            <a:extLst>
              <a:ext uri="{FF2B5EF4-FFF2-40B4-BE49-F238E27FC236}">
                <a16:creationId xmlns:a16="http://schemas.microsoft.com/office/drawing/2014/main" id="{1CF9D283-0BE3-4211-9C24-96F49A398B87}"/>
              </a:ext>
            </a:extLst>
          </p:cNvPr>
          <p:cNvCxnSpPr>
            <a:cxnSpLocks/>
          </p:cNvCxnSpPr>
          <p:nvPr/>
        </p:nvCxnSpPr>
        <p:spPr bwMode="auto">
          <a:xfrm>
            <a:off x="461814" y="3962400"/>
            <a:ext cx="2788042" cy="0"/>
          </a:xfrm>
          <a:prstGeom prst="straightConnector1">
            <a:avLst/>
          </a:prstGeom>
          <a:noFill/>
          <a:ln w="9525" cap="flat" cmpd="sng" algn="ctr">
            <a:solidFill>
              <a:schemeClr val="tx1"/>
            </a:solidFill>
            <a:prstDash val="solid"/>
            <a:round/>
            <a:headEnd type="triangle"/>
            <a:tailEnd type="triangle"/>
          </a:ln>
          <a:effectLst/>
        </p:spPr>
      </p:cxnSp>
      <p:pic>
        <p:nvPicPr>
          <p:cNvPr id="63" name="그림 1">
            <a:extLst>
              <a:ext uri="{FF2B5EF4-FFF2-40B4-BE49-F238E27FC236}">
                <a16:creationId xmlns:a16="http://schemas.microsoft.com/office/drawing/2014/main" id="{3BB4269D-C4B5-4018-8DB1-D3AE9D1DDFD9}"/>
              </a:ext>
            </a:extLst>
          </p:cNvPr>
          <p:cNvPicPr>
            <a:picLocks noChangeAspect="1"/>
          </p:cNvPicPr>
          <p:nvPr/>
        </p:nvPicPr>
        <p:blipFill>
          <a:blip r:embed="rId4"/>
          <a:stretch>
            <a:fillRect/>
          </a:stretch>
        </p:blipFill>
        <p:spPr>
          <a:xfrm>
            <a:off x="6403517" y="89801"/>
            <a:ext cx="3501891" cy="444992"/>
          </a:xfrm>
          <a:prstGeom prst="rect">
            <a:avLst/>
          </a:prstGeom>
        </p:spPr>
      </p:pic>
      <p:sp>
        <p:nvSpPr>
          <p:cNvPr id="64" name="제목 1">
            <a:extLst>
              <a:ext uri="{FF2B5EF4-FFF2-40B4-BE49-F238E27FC236}">
                <a16:creationId xmlns:a16="http://schemas.microsoft.com/office/drawing/2014/main" id="{9047FC76-DD99-4806-9048-DFF9426B47AE}"/>
              </a:ext>
            </a:extLst>
          </p:cNvPr>
          <p:cNvSpPr txBox="1">
            <a:spLocks/>
          </p:cNvSpPr>
          <p:nvPr/>
        </p:nvSpPr>
        <p:spPr bwMode="auto">
          <a:xfrm>
            <a:off x="1609" y="100364"/>
            <a:ext cx="7496175" cy="431800"/>
          </a:xfrm>
          <a:prstGeom prst="rect">
            <a:avLst/>
          </a:prstGeom>
          <a:noFill/>
          <a:ln w="9525">
            <a:noFill/>
            <a:miter lim="800000"/>
            <a:headEnd/>
            <a:tailEnd/>
          </a:ln>
        </p:spPr>
        <p:txBody>
          <a:bodyPr anchor="ctr"/>
          <a:lstStyle/>
          <a:p>
            <a:pPr eaLnBrk="1" latinLnBrk="0" hangingPunct="0">
              <a:defRPr/>
            </a:pPr>
            <a:r>
              <a:rPr lang="en-US" altLang="ko-KR" sz="1600" b="1" kern="0" dirty="0">
                <a:latin typeface="Arial Narrow" panose="020B0606020202030204" pitchFamily="34" charset="0"/>
                <a:ea typeface="Arial" panose="020B0600000101010101" pitchFamily="50" charset="-127"/>
              </a:rPr>
              <a:t>1.3 Define Project Y</a:t>
            </a:r>
            <a:endParaRPr lang="ko-KR" altLang="en-US" sz="1600" b="1" kern="0" dirty="0">
              <a:latin typeface="Arial Narrow" panose="020B0606020202030204" pitchFamily="34" charset="0"/>
              <a:ea typeface="LG스마트체 Regular" panose="020B0600000101010101" pitchFamily="50" charset="-127"/>
            </a:endParaRPr>
          </a:p>
        </p:txBody>
      </p:sp>
      <p:cxnSp>
        <p:nvCxnSpPr>
          <p:cNvPr id="85" name="Straight Connector 84">
            <a:extLst>
              <a:ext uri="{FF2B5EF4-FFF2-40B4-BE49-F238E27FC236}">
                <a16:creationId xmlns:a16="http://schemas.microsoft.com/office/drawing/2014/main" id="{5EF0FF8F-362D-491A-8F52-0E1B0A8C2FE8}"/>
              </a:ext>
            </a:extLst>
          </p:cNvPr>
          <p:cNvCxnSpPr/>
          <p:nvPr/>
        </p:nvCxnSpPr>
        <p:spPr>
          <a:xfrm>
            <a:off x="0" y="532164"/>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8" name="Slide Number Placeholder 4">
            <a:extLst>
              <a:ext uri="{FF2B5EF4-FFF2-40B4-BE49-F238E27FC236}">
                <a16:creationId xmlns:a16="http://schemas.microsoft.com/office/drawing/2014/main" id="{8BEED19C-E20A-4522-AB67-2EFCA2708530}"/>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05 / 29</a:t>
            </a:r>
          </a:p>
          <a:p>
            <a:pPr algn="ctr" eaLnBrk="1" latinLnBrk="0"/>
            <a:endParaRPr lang="ko-KR" altLang="en-US" sz="1200" dirty="0">
              <a:solidFill>
                <a:prstClr val="black">
                  <a:tint val="75000"/>
                </a:prstClr>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 name="Rectangle 1">
            <a:extLst>
              <a:ext uri="{FF2B5EF4-FFF2-40B4-BE49-F238E27FC236}">
                <a16:creationId xmlns:a16="http://schemas.microsoft.com/office/drawing/2014/main" id="{CB35B87B-F8D3-4412-A631-FE92C5556A7C}"/>
              </a:ext>
            </a:extLst>
          </p:cNvPr>
          <p:cNvSpPr/>
          <p:nvPr/>
        </p:nvSpPr>
        <p:spPr>
          <a:xfrm>
            <a:off x="207432" y="686965"/>
            <a:ext cx="8284633" cy="276999"/>
          </a:xfrm>
          <a:prstGeom prst="rect">
            <a:avLst/>
          </a:prstGeom>
        </p:spPr>
        <p:txBody>
          <a:bodyPr wrap="square">
            <a:spAutoFit/>
          </a:bodyPr>
          <a:lstStyle/>
          <a:p>
            <a:pPr eaLnBrk="1" latinLnBrk="0"/>
            <a:r>
              <a:rPr lang="en-US" sz="1000" dirty="0">
                <a:latin typeface="Arial" panose="020B0600000101010101" pitchFamily="34" charset="-127"/>
                <a:ea typeface="Arial" panose="020B0600000101010101" pitchFamily="34" charset="-127"/>
                <a:cs typeface="Arial" panose="020B0604020202020204" pitchFamily="34" charset="0"/>
              </a:rPr>
              <a:t>To reduce the Luminance test NG, Project Y is defined as “Luminance value”.</a:t>
            </a:r>
          </a:p>
        </p:txBody>
      </p:sp>
      <p:sp>
        <p:nvSpPr>
          <p:cNvPr id="19" name="Rectangle 18">
            <a:extLst>
              <a:ext uri="{FF2B5EF4-FFF2-40B4-BE49-F238E27FC236}">
                <a16:creationId xmlns:a16="http://schemas.microsoft.com/office/drawing/2014/main" id="{242EAB6C-D76B-40D5-8D75-24A6F062710A}"/>
              </a:ext>
            </a:extLst>
          </p:cNvPr>
          <p:cNvSpPr/>
          <p:nvPr/>
        </p:nvSpPr>
        <p:spPr>
          <a:xfrm>
            <a:off x="1828804" y="1179270"/>
            <a:ext cx="1654229" cy="276999"/>
          </a:xfrm>
          <a:prstGeom prst="rect">
            <a:avLst/>
          </a:prstGeom>
          <a:solidFill>
            <a:schemeClr val="bg1">
              <a:lumMod val="75000"/>
            </a:schemeClr>
          </a:solidFill>
        </p:spPr>
        <p:txBody>
          <a:bodyPr wrap="square">
            <a:spAutoFit/>
          </a:bodyPr>
          <a:lstStyle/>
          <a:p>
            <a:pPr algn="ctr" eaLnBrk="1" latinLnBrk="0"/>
            <a:r>
              <a:rPr lang="en-US" sz="1000" b="1" dirty="0">
                <a:latin typeface="Arial" panose="020B0600000101010101" pitchFamily="34" charset="-127"/>
                <a:ea typeface="Arial" panose="020B0600000101010101" pitchFamily="34" charset="-127"/>
                <a:cs typeface="Arial" panose="020B0604020202020204" pitchFamily="34" charset="0"/>
              </a:rPr>
              <a:t> What is Luminance ?</a:t>
            </a:r>
          </a:p>
        </p:txBody>
      </p:sp>
      <p:sp>
        <p:nvSpPr>
          <p:cNvPr id="20" name="Rectangle 19">
            <a:extLst>
              <a:ext uri="{FF2B5EF4-FFF2-40B4-BE49-F238E27FC236}">
                <a16:creationId xmlns:a16="http://schemas.microsoft.com/office/drawing/2014/main" id="{D405AB4F-F26F-45A9-8F7F-C5783CC870BF}"/>
              </a:ext>
            </a:extLst>
          </p:cNvPr>
          <p:cNvSpPr/>
          <p:nvPr/>
        </p:nvSpPr>
        <p:spPr>
          <a:xfrm>
            <a:off x="7095071" y="1179270"/>
            <a:ext cx="982125" cy="276998"/>
          </a:xfrm>
          <a:prstGeom prst="rect">
            <a:avLst/>
          </a:prstGeom>
          <a:solidFill>
            <a:schemeClr val="bg1">
              <a:lumMod val="75000"/>
            </a:schemeClr>
          </a:solidFill>
        </p:spPr>
        <p:txBody>
          <a:bodyPr wrap="square">
            <a:spAutoFit/>
          </a:bodyPr>
          <a:lstStyle/>
          <a:p>
            <a:pPr algn="ctr" eaLnBrk="1" latinLnBrk="0"/>
            <a:r>
              <a:rPr lang="en-US" sz="1000" b="1" dirty="0">
                <a:latin typeface="Arial" panose="020B0600000101010101" pitchFamily="34" charset="-127"/>
                <a:ea typeface="Arial" panose="020B0600000101010101" pitchFamily="34" charset="-127"/>
                <a:cs typeface="Arial" panose="020B0604020202020204" pitchFamily="34" charset="0"/>
              </a:rPr>
              <a:t>Project Y</a:t>
            </a:r>
          </a:p>
        </p:txBody>
      </p:sp>
      <p:sp>
        <p:nvSpPr>
          <p:cNvPr id="27" name="Rectangle 26">
            <a:extLst>
              <a:ext uri="{FF2B5EF4-FFF2-40B4-BE49-F238E27FC236}">
                <a16:creationId xmlns:a16="http://schemas.microsoft.com/office/drawing/2014/main" id="{E1F16C62-F577-40B3-8AB6-3B7E6758EDA6}"/>
              </a:ext>
            </a:extLst>
          </p:cNvPr>
          <p:cNvSpPr/>
          <p:nvPr/>
        </p:nvSpPr>
        <p:spPr>
          <a:xfrm>
            <a:off x="283394" y="1665339"/>
            <a:ext cx="4606191" cy="1277273"/>
          </a:xfrm>
          <a:prstGeom prst="rect">
            <a:avLst/>
          </a:prstGeom>
        </p:spPr>
        <p:txBody>
          <a:bodyPr wrap="square">
            <a:spAutoFit/>
          </a:bodyPr>
          <a:lstStyle/>
          <a:p>
            <a:pPr marL="171450" indent="-171450" eaLnBrk="1" latinLnBrk="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Luminance is a photometric quantity used for light sources and displays such as LCDs.</a:t>
            </a:r>
          </a:p>
          <a:p>
            <a:pPr eaLnBrk="1" latinLnBrk="0"/>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 xml:space="preserve">Luminance is the luminous intensity per unit area emitted by a surface in a given direction (unit: cd/m², also called nit) </a:t>
            </a:r>
          </a:p>
          <a:p>
            <a:pPr eaLnBrk="1" latinLnBrk="0"/>
            <a:r>
              <a:rPr lang="en-US" sz="1000" dirty="0">
                <a:latin typeface="Arial" panose="020B0600000101010101" pitchFamily="34" charset="-127"/>
                <a:ea typeface="Arial" panose="020B0600000101010101" pitchFamily="34" charset="-127"/>
                <a:cs typeface="Arial" panose="020B0604020202020204" pitchFamily="34" charset="0"/>
              </a:rPr>
              <a:t xml:space="preserve">    It quantifies the brightness level of the display.</a:t>
            </a:r>
          </a:p>
          <a:p>
            <a:pPr marL="171450" indent="-171450" eaLnBrk="1" latinLnBrk="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61" name="Rectangle 60">
            <a:extLst>
              <a:ext uri="{FF2B5EF4-FFF2-40B4-BE49-F238E27FC236}">
                <a16:creationId xmlns:a16="http://schemas.microsoft.com/office/drawing/2014/main" id="{D96E2486-3128-4120-9217-9F837F3982C6}"/>
              </a:ext>
            </a:extLst>
          </p:cNvPr>
          <p:cNvSpPr/>
          <p:nvPr/>
        </p:nvSpPr>
        <p:spPr>
          <a:xfrm>
            <a:off x="5169435" y="1660181"/>
            <a:ext cx="4472313" cy="430887"/>
          </a:xfrm>
          <a:prstGeom prst="rect">
            <a:avLst/>
          </a:prstGeom>
        </p:spPr>
        <p:txBody>
          <a:bodyPr wrap="square">
            <a:spAutoFit/>
          </a:bodyPr>
          <a:lstStyle/>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Project Y: “Luminance value” of the Porsche CID J1 Dual model.</a:t>
            </a:r>
          </a:p>
        </p:txBody>
      </p:sp>
      <p:sp>
        <p:nvSpPr>
          <p:cNvPr id="118" name="Rectangle 117">
            <a:extLst>
              <a:ext uri="{FF2B5EF4-FFF2-40B4-BE49-F238E27FC236}">
                <a16:creationId xmlns:a16="http://schemas.microsoft.com/office/drawing/2014/main" id="{191C40F2-5603-4149-B4BA-529994C06C94}"/>
              </a:ext>
            </a:extLst>
          </p:cNvPr>
          <p:cNvSpPr/>
          <p:nvPr/>
        </p:nvSpPr>
        <p:spPr bwMode="auto">
          <a:xfrm>
            <a:off x="63500" y="1557871"/>
            <a:ext cx="4889415" cy="5085623"/>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LG Smart_H Regular" panose="020B0600000101010101" pitchFamily="34" charset="-127"/>
              <a:ea typeface="LG Smart_H Regular" panose="020B0600000101010101" pitchFamily="34" charset="-127"/>
            </a:endParaRPr>
          </a:p>
        </p:txBody>
      </p:sp>
      <p:sp>
        <p:nvSpPr>
          <p:cNvPr id="120" name="Rectangle 119">
            <a:extLst>
              <a:ext uri="{FF2B5EF4-FFF2-40B4-BE49-F238E27FC236}">
                <a16:creationId xmlns:a16="http://schemas.microsoft.com/office/drawing/2014/main" id="{100A0EA0-F5A9-436D-9D0E-8A7F23604522}"/>
              </a:ext>
            </a:extLst>
          </p:cNvPr>
          <p:cNvSpPr/>
          <p:nvPr/>
        </p:nvSpPr>
        <p:spPr bwMode="auto">
          <a:xfrm>
            <a:off x="4953085" y="1557866"/>
            <a:ext cx="4889415" cy="5085623"/>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LG Smart_H Regular" panose="020B0600000101010101" pitchFamily="34" charset="-127"/>
              <a:ea typeface="LG Smart_H Regular" panose="020B0600000101010101" pitchFamily="34" charset="-127"/>
            </a:endParaRPr>
          </a:p>
        </p:txBody>
      </p:sp>
      <p:grpSp>
        <p:nvGrpSpPr>
          <p:cNvPr id="23" name="Group 22">
            <a:extLst>
              <a:ext uri="{FF2B5EF4-FFF2-40B4-BE49-F238E27FC236}">
                <a16:creationId xmlns:a16="http://schemas.microsoft.com/office/drawing/2014/main" id="{B3510BD3-45E9-4C25-A573-941E65C8BB4E}"/>
              </a:ext>
            </a:extLst>
          </p:cNvPr>
          <p:cNvGrpSpPr/>
          <p:nvPr/>
        </p:nvGrpSpPr>
        <p:grpSpPr>
          <a:xfrm>
            <a:off x="461814" y="2760869"/>
            <a:ext cx="4092785" cy="1430131"/>
            <a:chOff x="2874491" y="438296"/>
            <a:chExt cx="6320086" cy="3164992"/>
          </a:xfrm>
        </p:grpSpPr>
        <p:sp>
          <p:nvSpPr>
            <p:cNvPr id="32" name="Rectangle 31">
              <a:extLst>
                <a:ext uri="{FF2B5EF4-FFF2-40B4-BE49-F238E27FC236}">
                  <a16:creationId xmlns:a16="http://schemas.microsoft.com/office/drawing/2014/main" id="{D39F5129-BAF6-46F3-A235-D0CF5CD6BD42}"/>
                </a:ext>
              </a:extLst>
            </p:cNvPr>
            <p:cNvSpPr/>
            <p:nvPr/>
          </p:nvSpPr>
          <p:spPr>
            <a:xfrm>
              <a:off x="2874491" y="828247"/>
              <a:ext cx="4305300" cy="11176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G Smart_H Regular" panose="020B0600000101010101" pitchFamily="34" charset="-127"/>
                <a:ea typeface="LG Smart_H Regular" panose="020B0600000101010101" pitchFamily="34" charset="-127"/>
              </a:endParaRPr>
            </a:p>
          </p:txBody>
        </p:sp>
        <p:sp>
          <p:nvSpPr>
            <p:cNvPr id="33" name="Rectangle 32">
              <a:extLst>
                <a:ext uri="{FF2B5EF4-FFF2-40B4-BE49-F238E27FC236}">
                  <a16:creationId xmlns:a16="http://schemas.microsoft.com/office/drawing/2014/main" id="{67C9F4A3-9565-4093-84E6-8D3A1DD83121}"/>
                </a:ext>
              </a:extLst>
            </p:cNvPr>
            <p:cNvSpPr/>
            <p:nvPr/>
          </p:nvSpPr>
          <p:spPr>
            <a:xfrm>
              <a:off x="2992395" y="918098"/>
              <a:ext cx="4069492" cy="9378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Arial" panose="020B0600000101010101" pitchFamily="34" charset="-127"/>
                  <a:ea typeface="Arial" panose="020B0600000101010101" pitchFamily="34" charset="-127"/>
                </a:rPr>
                <a:t>+</a:t>
              </a:r>
            </a:p>
          </p:txBody>
        </p:sp>
        <p:cxnSp>
          <p:nvCxnSpPr>
            <p:cNvPr id="34" name="Straight Connector 33">
              <a:extLst>
                <a:ext uri="{FF2B5EF4-FFF2-40B4-BE49-F238E27FC236}">
                  <a16:creationId xmlns:a16="http://schemas.microsoft.com/office/drawing/2014/main" id="{9828F0AD-5A19-4D73-BB8A-65B8CDAD978F}"/>
                </a:ext>
              </a:extLst>
            </p:cNvPr>
            <p:cNvCxnSpPr>
              <a:stCxn id="33" idx="0"/>
              <a:endCxn id="32" idx="2"/>
            </p:cNvCxnSpPr>
            <p:nvPr/>
          </p:nvCxnSpPr>
          <p:spPr>
            <a:xfrm>
              <a:off x="5027141" y="918098"/>
              <a:ext cx="0" cy="10277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F564BEA-F1BC-4357-9354-0C15C28CF1A0}"/>
                </a:ext>
              </a:extLst>
            </p:cNvPr>
            <p:cNvCxnSpPr>
              <a:stCxn id="37" idx="0"/>
            </p:cNvCxnSpPr>
            <p:nvPr/>
          </p:nvCxnSpPr>
          <p:spPr>
            <a:xfrm flipV="1">
              <a:off x="4011299" y="1397902"/>
              <a:ext cx="1" cy="93789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E4767A0C-8332-4F58-BE3F-9B731132E6BA}"/>
                </a:ext>
              </a:extLst>
            </p:cNvPr>
            <p:cNvSpPr/>
            <p:nvPr/>
          </p:nvSpPr>
          <p:spPr>
            <a:xfrm>
              <a:off x="3625537" y="2526963"/>
              <a:ext cx="771525" cy="1076325"/>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G Smart_H Regular" panose="020B0600000101010101" pitchFamily="34" charset="-127"/>
                <a:ea typeface="LG Smart_H Regular" panose="020B0600000101010101" pitchFamily="34" charset="-127"/>
              </a:endParaRPr>
            </a:p>
          </p:txBody>
        </p:sp>
        <p:sp>
          <p:nvSpPr>
            <p:cNvPr id="37" name="Rectangle 36">
              <a:extLst>
                <a:ext uri="{FF2B5EF4-FFF2-40B4-BE49-F238E27FC236}">
                  <a16:creationId xmlns:a16="http://schemas.microsoft.com/office/drawing/2014/main" id="{56B4BDCF-6360-4CDC-B5A9-CF549A2654F6}"/>
                </a:ext>
              </a:extLst>
            </p:cNvPr>
            <p:cNvSpPr/>
            <p:nvPr/>
          </p:nvSpPr>
          <p:spPr>
            <a:xfrm>
              <a:off x="3874270" y="2335799"/>
              <a:ext cx="274058" cy="191164"/>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G Smart_H Regular" panose="020B0600000101010101" pitchFamily="34" charset="-127"/>
                <a:ea typeface="LG Smart_H Regular" panose="020B0600000101010101" pitchFamily="34" charset="-127"/>
              </a:endParaRPr>
            </a:p>
          </p:txBody>
        </p:sp>
        <p:sp>
          <p:nvSpPr>
            <p:cNvPr id="38" name="TextBox 37">
              <a:extLst>
                <a:ext uri="{FF2B5EF4-FFF2-40B4-BE49-F238E27FC236}">
                  <a16:creationId xmlns:a16="http://schemas.microsoft.com/office/drawing/2014/main" id="{D1EA06A3-30E7-4165-AE11-51957BBD9466}"/>
                </a:ext>
              </a:extLst>
            </p:cNvPr>
            <p:cNvSpPr txBox="1"/>
            <p:nvPr/>
          </p:nvSpPr>
          <p:spPr>
            <a:xfrm>
              <a:off x="3592976" y="2795782"/>
              <a:ext cx="831445" cy="613020"/>
            </a:xfrm>
            <a:prstGeom prst="rect">
              <a:avLst/>
            </a:prstGeom>
            <a:noFill/>
          </p:spPr>
          <p:txBody>
            <a:bodyPr wrap="square" rtlCol="0">
              <a:spAutoFit/>
            </a:bodyPr>
            <a:lstStyle/>
            <a:p>
              <a:pPr algn="ctr"/>
              <a:r>
                <a:rPr lang="en-US" sz="600" dirty="0">
                  <a:latin typeface="Arial" panose="020B0600000101010101" pitchFamily="34" charset="-127"/>
                  <a:ea typeface="Arial" panose="020B0600000101010101" pitchFamily="34" charset="-127"/>
                </a:rPr>
                <a:t>Camera</a:t>
              </a:r>
            </a:p>
            <a:p>
              <a:pPr algn="ctr"/>
              <a:r>
                <a:rPr lang="en-US" sz="600" dirty="0">
                  <a:latin typeface="Arial" panose="020B0600000101010101" pitchFamily="34" charset="-127"/>
                  <a:ea typeface="Arial" panose="020B0600000101010101" pitchFamily="34" charset="-127"/>
                </a:rPr>
                <a:t>CS2000</a:t>
              </a:r>
            </a:p>
          </p:txBody>
        </p:sp>
        <p:sp>
          <p:nvSpPr>
            <p:cNvPr id="39" name="TextBox 38">
              <a:extLst>
                <a:ext uri="{FF2B5EF4-FFF2-40B4-BE49-F238E27FC236}">
                  <a16:creationId xmlns:a16="http://schemas.microsoft.com/office/drawing/2014/main" id="{9C1C1BAD-EBC5-4492-96B1-BDA3AF775ABC}"/>
                </a:ext>
              </a:extLst>
            </p:cNvPr>
            <p:cNvSpPr txBox="1"/>
            <p:nvPr/>
          </p:nvSpPr>
          <p:spPr>
            <a:xfrm>
              <a:off x="3742627" y="438296"/>
              <a:ext cx="559928" cy="510849"/>
            </a:xfrm>
            <a:prstGeom prst="rect">
              <a:avLst/>
            </a:prstGeom>
            <a:noFill/>
          </p:spPr>
          <p:txBody>
            <a:bodyPr wrap="none" rtlCol="0">
              <a:spAutoFit/>
            </a:bodyPr>
            <a:lstStyle/>
            <a:p>
              <a:r>
                <a:rPr lang="en-US" sz="900" b="1" dirty="0">
                  <a:latin typeface="Arial" panose="020B0600000101010101" pitchFamily="34" charset="-127"/>
                  <a:ea typeface="Arial" panose="020B0600000101010101" pitchFamily="34" charset="-127"/>
                </a:rPr>
                <a:t>PID</a:t>
              </a:r>
            </a:p>
          </p:txBody>
        </p:sp>
        <p:sp>
          <p:nvSpPr>
            <p:cNvPr id="40" name="TextBox 39">
              <a:extLst>
                <a:ext uri="{FF2B5EF4-FFF2-40B4-BE49-F238E27FC236}">
                  <a16:creationId xmlns:a16="http://schemas.microsoft.com/office/drawing/2014/main" id="{E22AE40D-F801-4C4A-9EF9-F9D2A39F3647}"/>
                </a:ext>
              </a:extLst>
            </p:cNvPr>
            <p:cNvSpPr txBox="1"/>
            <p:nvPr/>
          </p:nvSpPr>
          <p:spPr>
            <a:xfrm>
              <a:off x="5819778" y="438296"/>
              <a:ext cx="564878" cy="510849"/>
            </a:xfrm>
            <a:prstGeom prst="rect">
              <a:avLst/>
            </a:prstGeom>
            <a:noFill/>
          </p:spPr>
          <p:txBody>
            <a:bodyPr wrap="none" rtlCol="0">
              <a:spAutoFit/>
            </a:bodyPr>
            <a:lstStyle/>
            <a:p>
              <a:r>
                <a:rPr lang="en-US" sz="900" b="1" dirty="0">
                  <a:latin typeface="Arial" panose="020B0600000101010101" pitchFamily="34" charset="-127"/>
                  <a:ea typeface="Arial" panose="020B0600000101010101" pitchFamily="34" charset="-127"/>
                </a:rPr>
                <a:t>CID</a:t>
              </a:r>
            </a:p>
          </p:txBody>
        </p:sp>
        <p:sp>
          <p:nvSpPr>
            <p:cNvPr id="45" name="TextBox 44">
              <a:extLst>
                <a:ext uri="{FF2B5EF4-FFF2-40B4-BE49-F238E27FC236}">
                  <a16:creationId xmlns:a16="http://schemas.microsoft.com/office/drawing/2014/main" id="{12BE85C0-15EE-41DE-B564-360A2B3B0D71}"/>
                </a:ext>
              </a:extLst>
            </p:cNvPr>
            <p:cNvSpPr txBox="1"/>
            <p:nvPr/>
          </p:nvSpPr>
          <p:spPr>
            <a:xfrm>
              <a:off x="7250924" y="1094159"/>
              <a:ext cx="1943653" cy="510849"/>
            </a:xfrm>
            <a:prstGeom prst="rect">
              <a:avLst/>
            </a:prstGeom>
            <a:noFill/>
          </p:spPr>
          <p:txBody>
            <a:bodyPr wrap="none" rtlCol="0">
              <a:spAutoFit/>
            </a:bodyPr>
            <a:lstStyle/>
            <a:p>
              <a:r>
                <a:rPr lang="en-US" sz="900" b="1" dirty="0">
                  <a:latin typeface="Arial" panose="020B0600000101010101" pitchFamily="34" charset="-127"/>
                  <a:ea typeface="Arial" panose="020B0600000101010101" pitchFamily="34" charset="-127"/>
                </a:rPr>
                <a:t>J1 Dual PPR RHD set</a:t>
              </a:r>
            </a:p>
          </p:txBody>
        </p:sp>
      </p:grpSp>
      <p:sp>
        <p:nvSpPr>
          <p:cNvPr id="47" name="Rectangle 46">
            <a:extLst>
              <a:ext uri="{FF2B5EF4-FFF2-40B4-BE49-F238E27FC236}">
                <a16:creationId xmlns:a16="http://schemas.microsoft.com/office/drawing/2014/main" id="{6F77CA24-93D9-4FB1-B981-DD60FB4D2381}"/>
              </a:ext>
            </a:extLst>
          </p:cNvPr>
          <p:cNvSpPr/>
          <p:nvPr/>
        </p:nvSpPr>
        <p:spPr>
          <a:xfrm>
            <a:off x="256209" y="4508325"/>
            <a:ext cx="4580462" cy="600164"/>
          </a:xfrm>
          <a:prstGeom prst="rect">
            <a:avLst/>
          </a:prstGeom>
        </p:spPr>
        <p:txBody>
          <a:bodyPr wrap="square">
            <a:spAutoFit/>
          </a:bodyPr>
          <a:lstStyle/>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The sensor inside the detector receives the light from the center of the LCD, calculates the luminance value and returns the measurement result to the program.</a:t>
            </a:r>
          </a:p>
        </p:txBody>
      </p:sp>
      <p:sp>
        <p:nvSpPr>
          <p:cNvPr id="48" name="Rectangle 47">
            <a:extLst>
              <a:ext uri="{FF2B5EF4-FFF2-40B4-BE49-F238E27FC236}">
                <a16:creationId xmlns:a16="http://schemas.microsoft.com/office/drawing/2014/main" id="{A6E5C9F6-7913-475A-85E1-43C17ABA4F1D}"/>
              </a:ext>
            </a:extLst>
          </p:cNvPr>
          <p:cNvSpPr/>
          <p:nvPr/>
        </p:nvSpPr>
        <p:spPr>
          <a:xfrm>
            <a:off x="256208" y="5267236"/>
            <a:ext cx="4720152" cy="600164"/>
          </a:xfrm>
          <a:prstGeom prst="rect">
            <a:avLst/>
          </a:prstGeom>
        </p:spPr>
        <p:txBody>
          <a:bodyPr wrap="square">
            <a:spAutoFit/>
          </a:bodyPr>
          <a:lstStyle/>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Issue: The luminance measured on the PID screen is lower than the average of the compared values, so the luminance test result falls below the spec.</a:t>
            </a:r>
          </a:p>
        </p:txBody>
      </p:sp>
      <p:grpSp>
        <p:nvGrpSpPr>
          <p:cNvPr id="9" name="Group 8">
            <a:extLst>
              <a:ext uri="{FF2B5EF4-FFF2-40B4-BE49-F238E27FC236}">
                <a16:creationId xmlns:a16="http://schemas.microsoft.com/office/drawing/2014/main" id="{D70DAEF3-BCAB-4209-A697-FA691623BE35}"/>
              </a:ext>
            </a:extLst>
          </p:cNvPr>
          <p:cNvGrpSpPr/>
          <p:nvPr/>
        </p:nvGrpSpPr>
        <p:grpSpPr>
          <a:xfrm>
            <a:off x="5059910" y="4454756"/>
            <a:ext cx="4845498" cy="2026116"/>
            <a:chOff x="5057775" y="4374684"/>
            <a:chExt cx="4673065" cy="2026116"/>
          </a:xfrm>
        </p:grpSpPr>
        <p:sp>
          <p:nvSpPr>
            <p:cNvPr id="25" name="Rectangle 24">
              <a:extLst>
                <a:ext uri="{FF2B5EF4-FFF2-40B4-BE49-F238E27FC236}">
                  <a16:creationId xmlns:a16="http://schemas.microsoft.com/office/drawing/2014/main" id="{19DBA1ED-3148-49D7-A167-BF35898176B1}"/>
                </a:ext>
              </a:extLst>
            </p:cNvPr>
            <p:cNvSpPr/>
            <p:nvPr/>
          </p:nvSpPr>
          <p:spPr>
            <a:xfrm>
              <a:off x="5057775" y="6139190"/>
              <a:ext cx="4472313" cy="261610"/>
            </a:xfrm>
            <a:prstGeom prst="rect">
              <a:avLst/>
            </a:prstGeom>
          </p:spPr>
          <p:txBody>
            <a:bodyPr wrap="square">
              <a:spAutoFit/>
            </a:bodyPr>
            <a:lstStyle/>
            <a:p>
              <a:pPr marL="171450" indent="-171450">
                <a:buFont typeface="Arial" panose="020B0604020202020204" pitchFamily="34" charset="0"/>
                <a:buChar char="•"/>
              </a:pPr>
              <a:r>
                <a:rPr lang="en-US" sz="1100" b="1" dirty="0">
                  <a:latin typeface="Arial" panose="020B0600000101010101" pitchFamily="34" charset="-127"/>
                  <a:ea typeface="Arial" panose="020B0600000101010101" pitchFamily="34" charset="-127"/>
                  <a:cs typeface="Arial" panose="020B0604020202020204" pitchFamily="34" charset="0"/>
                </a:rPr>
                <a:t xml:space="preserve">Project Y= Luminance value = f(x1, x2, …, xn) + ε</a:t>
              </a:r>
            </a:p>
          </p:txBody>
        </p:sp>
        <p:sp>
          <p:nvSpPr>
            <p:cNvPr id="49" name="Rectangle 48">
              <a:extLst>
                <a:ext uri="{FF2B5EF4-FFF2-40B4-BE49-F238E27FC236}">
                  <a16:creationId xmlns:a16="http://schemas.microsoft.com/office/drawing/2014/main" id="{FE2864A1-6435-4223-BFD7-661C15F6E3E5}"/>
                </a:ext>
              </a:extLst>
            </p:cNvPr>
            <p:cNvSpPr/>
            <p:nvPr/>
          </p:nvSpPr>
          <p:spPr>
            <a:xfrm>
              <a:off x="5057775" y="4374684"/>
              <a:ext cx="4673065" cy="1785104"/>
            </a:xfrm>
            <a:prstGeom prst="rect">
              <a:avLst/>
            </a:prstGeom>
          </p:spPr>
          <p:txBody>
            <a:bodyPr wrap="square">
              <a:spAutoFit/>
            </a:bodyPr>
            <a:lstStyle/>
            <a:p>
              <a:r>
                <a:rPr lang="en-US" sz="1100" dirty="0">
                  <a:latin typeface="Arial" panose="020B0600000101010101" pitchFamily="34" charset="-127"/>
                  <a:ea typeface="Arial" panose="020B0600000101010101" pitchFamily="34" charset="-127"/>
                  <a:cs typeface="Arial" panose="020B0604020202020204" pitchFamily="34" charset="0"/>
                </a:rPr>
                <a:t>Measurement method:</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set is connected to the test bench; when the program sends the request, the display shows the highest brightness level.</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J1 display shows a white screen at maximum brightness.</a:t>
              </a:r>
            </a:p>
            <a:p>
              <a:pPr marL="171450" indent="-17145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CS2000 detector moves to the center of the PID LCD, recognizes the center of the display and measures the luminance.</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 xml:space="preserve">Because the center always has higher brightness than the corner and edges, the detector must be placed exactly at the center.</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result is recorded and sent back to the program.</a:t>
              </a:r>
            </a:p>
          </p:txBody>
        </p:sp>
      </p:grpSp>
      <p:sp xmlns:a14="http://schemas.microsoft.com/office/drawing/2010/main">
        <p:nvSpPr>
          <p:cNvPr id="8" name="Rectangle 7">
            <a:extLst>
              <a:ext uri="{FF2B5EF4-FFF2-40B4-BE49-F238E27FC236}">
                <a16:creationId xmlns:a16="http://schemas.microsoft.com/office/drawing/2014/main" id="{F5DF5708-2DFB-4E65-8558-59C7418E7751}"/>
              </a:ext>
            </a:extLst>
          </p:cNvPr>
          <p:cNvSpPr/>
          <p:nvPr/>
        </p:nvSpPr>
        <p:spPr>
          <a:xfrm>
            <a:off x="5161251" y="2277557"/>
            <a:ext cx="4673065" cy="2177199"/>
          </a:xfrm>
          <a:prstGeom prst="rect">
            <a:avLst/>
          </a:prstGeom>
        </p:spPr>
        <p:txBody>
          <a:bodyPr wrap="square">
            <a:spAutoFit/>
          </a:bodyPr>
          <a:lstStyle/>
          <a:p>
            <a:r>
              <a:rPr lang="en-US" sz="1100" dirty="0">
                <a:latin typeface="LG Smart_H Regular" panose="020B0600000101010101" pitchFamily="34" charset="-127"/>
                <a:ea typeface="LG Smart_H Regular" panose="020B0600000101010101" pitchFamily="34" charset="-127"/>
                <a:cs typeface="Arial" panose="020B0604020202020204" pitchFamily="34" charset="0"/>
              </a:rPr>
              <a:t>Luminance formula:</a:t>
            </a:r>
          </a:p>
          <a:p>
            <a:pPr/>
            <a:r>
              <a:rPr lang="fr-FR" sz="1100" dirty="0">
                <a:latin typeface="LG Smart_H Regular" panose="020B0600000101010101" pitchFamily="34" charset="-127"/>
                <a:ea typeface="LG Smart_H Regular" panose="020B0600000101010101" pitchFamily="34" charset="-127"/>
                <a:cs typeface="Arial" panose="020B0604020202020204" pitchFamily="34" charset="0"/>
              </a:rPr>
              <a:t>L = d²Φ / (dA · dω · cos θ)</a:t>
            </a: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a:lnSpc>
                <a:spcPct val="107000"/>
              </a:lnSpc>
              <a:spcAft>
                <a:spcPts val="800"/>
              </a:spcAft>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a:lnSpc>
                <a:spcPct val="107000"/>
              </a:lnSpc>
              <a:spcAft>
                <a:spcPts val="800"/>
              </a:spcAft>
            </a:pPr>
            <a:r>
              <a:rPr lang="en-US" sz="1100" dirty="0">
                <a:latin typeface="LG Smart_H Regular" panose="020B0600000101010101" pitchFamily="34" charset="-127"/>
                <a:ea typeface="LG Smart_H Regular" panose="020B0600000101010101" pitchFamily="34" charset="-127"/>
                <a:cs typeface="Arial" panose="020B0604020202020204" pitchFamily="34" charset="0"/>
              </a:rPr>
              <a:t>Spec: 800-2000 (</a:t>
            </a:r>
            <a:r>
              <a:rPr lang="en-US" sz="1100" i="1" dirty="0">
                <a:latin typeface="LG Smart_H Regular" panose="020B0600000101010101" pitchFamily="34" charset="-127"/>
                <a:ea typeface="LG Smart_H Regular" panose="020B0600000101010101" pitchFamily="34" charset="-127"/>
                <a:cs typeface="Arial" panose="020B0604020202020204" pitchFamily="34" charset="0"/>
              </a:rPr>
              <a:t>cd/m</a:t>
            </a:r>
            <a:r>
              <a:rPr lang="en-US" sz="1100" i="1" baseline="30000" dirty="0">
                <a:latin typeface="LG Smart_H Regular" panose="020B0600000101010101" pitchFamily="34" charset="-127"/>
                <a:ea typeface="LG Smart_H Regular" panose="020B0600000101010101" pitchFamily="34" charset="-127"/>
                <a:cs typeface="Arial" panose="020B0604020202020204" pitchFamily="34" charset="0"/>
              </a:rPr>
              <a:t>2</a:t>
            </a:r>
            <a:r>
              <a:rPr lang="en-US" sz="1100" dirty="0">
                <a:latin typeface="LG Smart_H Regular" panose="020B0600000101010101" pitchFamily="34" charset="-127"/>
                <a:ea typeface="LG Smart_H Regular" panose="020B0600000101010101" pitchFamily="34" charset="-127"/>
                <a:cs typeface="Arial" panose="020B0604020202020204" pitchFamily="34" charset="0"/>
              </a:rPr>
              <a:t>)</a:t>
            </a:r>
          </a:p>
          <a:p>
            <a:pPr marL="171450" indent="-171450">
              <a:spcBef>
                <a:spcPts val="1400"/>
              </a:spcBef>
              <a:buFont typeface="Arial" panose="020B0604020202020204" pitchFamily="34" charset="0"/>
              <a:buChar char="•"/>
            </a:pPr>
            <a:r>
              <a:rPr lang="fr-FR" sz="1100" dirty="0">
                <a:latin typeface="LG Smart_H Regular" panose="020B0600000101010101" pitchFamily="34" charset="-127"/>
                <a:ea typeface="LG Smart_H Regular" panose="020B0600000101010101" pitchFamily="34" charset="-127"/>
                <a:cs typeface="Arial" panose="020B0604020202020204" pitchFamily="34" charset="0"/>
              </a:rPr>
              <a:t>d²Φ stands for the luminous flux in lumens (lm)</a:t>
            </a: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a:buFont typeface="Arial" panose="020B0604020202020204" pitchFamily="34" charset="0"/>
              <a:buChar char="•"/>
            </a:pPr>
            <a:r>
              <a:rPr lang="fr-FR" sz="1100" dirty="0">
                <a:latin typeface="LG Smart_H Regular" panose="020B0600000101010101" pitchFamily="34" charset="-127"/>
                <a:ea typeface="LG Smart_H Regular" panose="020B0600000101010101" pitchFamily="34" charset="-127"/>
                <a:cs typeface="Arial" panose="020B0604020202020204" pitchFamily="34" charset="0"/>
              </a:rPr>
              <a:t>θ stands for the angle between the surface normal of the display and the sight line of the detector, in this case θ = 0°</a:t>
            </a:r>
          </a:p>
          <a:p>
            <a:pPr marL="171450" indent="-171450">
              <a:buFont typeface="Arial" panose="020B0604020202020204" pitchFamily="34" charset="0"/>
              <a:buChar char="•"/>
            </a:pPr>
            <a:r>
              <a:rPr lang="fr-FR" sz="1100" dirty="0">
                <a:latin typeface="LG Smart_H Regular" panose="020B0600000101010101" pitchFamily="34" charset="-127"/>
                <a:ea typeface="LG Smart_H Regular" panose="020B0600000101010101" pitchFamily="34" charset="-127"/>
                <a:cs typeface="Arial" panose="020B0604020202020204" pitchFamily="34" charset="0"/>
              </a:rPr>
              <a:t>dA stands for the differential area in square meters (m²)</a:t>
            </a:r>
          </a:p>
          <a:p>
            <a:pPr marL="171450" indent="-171450">
              <a:buFont typeface="Arial" panose="020B0604020202020204" pitchFamily="34" charset="0"/>
              <a:buChar char="•"/>
            </a:pPr>
            <a:r>
              <a:rPr lang="fr-FR" sz="1100" dirty="0">
                <a:latin typeface="LG Smart_H Regular" panose="020B0600000101010101" pitchFamily="34" charset="-127"/>
                <a:ea typeface="LG Smart_H Regular" panose="020B0600000101010101" pitchFamily="34" charset="-127"/>
                <a:cs typeface="Arial" panose="020B0604020202020204" pitchFamily="34" charset="0"/>
              </a:rPr>
              <a:t>dω stands for the differential solid angle in steradians (sr)</a:t>
            </a:r>
          </a:p>
          <a:p>
            <a:pPr marL="171450" indent="-17145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p:txBody>
      </p:sp>
    </p:spTree>
    <p:extLst>
      <p:ext uri="{BB962C8B-B14F-4D97-AF65-F5344CB8AC3E}">
        <p14:creationId xmlns:p14="http://schemas.microsoft.com/office/powerpoint/2010/main" val="3118843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28464" y="1031890"/>
            <a:ext cx="3612264" cy="2123658"/>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altLang="ko-KR" sz="1000" b="1" dirty="0">
                <a:latin typeface="Arial" panose="020B0604020202020204" pitchFamily="34" charset="0"/>
                <a:ea typeface="Arial Unicode MS" panose="020B0604020202020204" pitchFamily="34" charset="-128"/>
                <a:cs typeface="Arial" panose="020B0604020202020204" pitchFamily="34" charset="0"/>
              </a:rPr>
              <a:t>Equipment information:</a:t>
            </a:r>
          </a:p>
          <a:p>
            <a:pPr eaLnBrk="1" latinLnBrk="0"/>
            <a:endParaRPr lang="en-US" altLang="ko-KR" sz="1200" dirty="0">
              <a:latin typeface="Arial" panose="020B0604020202020204" pitchFamily="34" charset="0"/>
              <a:ea typeface="Arial Unicode MS" panose="020B0604020202020204" pitchFamily="34" charset="-128"/>
              <a:cs typeface="Arial" panose="020B0604020202020204" pitchFamily="34" charset="0"/>
            </a:endParaRPr>
          </a:p>
          <a:p>
            <a:pPr marL="285750" indent="-285750" eaLnBrk="1" latinLnBrk="0">
              <a:buFont typeface="Arial" panose="020B0604020202020204" pitchFamily="34" charset="0"/>
              <a:buChar char="•"/>
            </a:pPr>
            <a:r>
              <a:rPr lang="en-US" altLang="ko-KR" sz="1000" dirty="0">
                <a:latin typeface="Arial" panose="020B0604020202020204" pitchFamily="34" charset="0"/>
                <a:ea typeface="Arial Unicode MS" panose="020B0604020202020204" pitchFamily="34" charset="-128"/>
                <a:cs typeface="Arial" panose="020B0604020202020204" pitchFamily="34" charset="0"/>
              </a:rPr>
              <a:t>Equipment: </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 Power supply, Pallet</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 CID bench</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 CANSIM</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xml:space="preserve">	- Camera CS2000 (spectroradiometer)</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 Resolution: 0.01 Cd/m</a:t>
            </a:r>
            <a:r>
              <a:rPr lang="en-US" altLang="ko-KR" sz="1000" baseline="30000" dirty="0">
                <a:latin typeface="Arial" panose="020B0604020202020204" pitchFamily="34" charset="0"/>
                <a:ea typeface="Arial Unicode MS" panose="020B0604020202020204" pitchFamily="34" charset="-128"/>
                <a:cs typeface="Arial" panose="020B0604020202020204" pitchFamily="34" charset="0"/>
              </a:rPr>
              <a:t>2</a:t>
            </a:r>
            <a:r>
              <a:rPr lang="en-US" altLang="ko-KR" sz="1000" dirty="0">
                <a:latin typeface="Arial" panose="020B0604020202020204" pitchFamily="34" charset="0"/>
                <a:ea typeface="Arial Unicode MS" panose="020B0604020202020204" pitchFamily="34" charset="-128"/>
                <a:cs typeface="Arial" panose="020B0604020202020204" pitchFamily="34" charset="0"/>
              </a:rPr>
              <a:t>		</a:t>
            </a:r>
          </a:p>
          <a:p>
            <a:pPr marL="285750" indent="-285750" eaLnBrk="1" latinLnBrk="0">
              <a:buFont typeface="Arial" panose="020B0604020202020204" pitchFamily="34" charset="0"/>
              <a:buChar char="•"/>
            </a:pPr>
            <a:r>
              <a:rPr lang="en-US" sz="1000" dirty="0">
                <a:solidFill>
                  <a:srgbClr val="000000"/>
                </a:solidFill>
                <a:latin typeface="Arial" panose="020B0604020202020204" pitchFamily="34" charset="0"/>
                <a:ea typeface="Arial Unicode MS" panose="020B0604020202020204" pitchFamily="34" charset="-128"/>
                <a:cs typeface="Arial" panose="020B0604020202020204" pitchFamily="34" charset="0"/>
              </a:rPr>
              <a:t>Program: LG Moohantech</a:t>
            </a:r>
          </a:p>
          <a:p>
            <a:pPr eaLnBrk="1" latinLnBrk="0"/>
            <a:endParaRPr lang="en-US" sz="1200" dirty="0">
              <a:solidFill>
                <a:srgbClr val="000000"/>
              </a:solidFill>
              <a:latin typeface="Arial" panose="020B0604020202020204" pitchFamily="34" charset="0"/>
              <a:ea typeface="Arial Unicode MS" panose="020B0604020202020204" pitchFamily="34" charset="-128"/>
              <a:cs typeface="Arial" panose="020B0604020202020204" pitchFamily="34" charset="0"/>
            </a:endParaRPr>
          </a:p>
        </p:txBody>
      </p:sp>
      <p:cxnSp>
        <p:nvCxnSpPr>
          <p:cNvPr id="12" name="Straight Connector 11"/>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023E752-56C7-4841-8742-6226DE8F5A23}"/>
              </a:ext>
            </a:extLst>
          </p:cNvPr>
          <p:cNvSpPr txBox="1"/>
          <p:nvPr/>
        </p:nvSpPr>
        <p:spPr>
          <a:xfrm>
            <a:off x="128464" y="3473398"/>
            <a:ext cx="3671999" cy="2031325"/>
          </a:xfrm>
          <a:prstGeom prst="rect">
            <a:avLst/>
          </a:prstGeom>
          <a:noFill/>
        </p:spPr>
        <p:txBody>
          <a:bodyPr wrap="square" rtlCol="0" anchor="t">
            <a:noAutofit/>
          </a:bodyPr>
          <a:lstStyle/>
          <a:p>
            <a:pPr marL="171450" indent="-171450" eaLnBrk="1" latinLnBrk="0">
              <a:buFont typeface="Wingdings" panose="05000000000000000000" pitchFamily="2" charset="2"/>
              <a:buChar char="q"/>
            </a:pPr>
            <a:r>
              <a:rPr lang="en-US" altLang="ko-KR" sz="1000" b="1" dirty="0">
                <a:latin typeface="Arial" panose="020B0604020202020204" pitchFamily="34" charset="0"/>
                <a:ea typeface="Arial Unicode MS" panose="020B0604020202020204" pitchFamily="34" charset="-128"/>
                <a:cs typeface="Arial" panose="020B0604020202020204" pitchFamily="34" charset="0"/>
              </a:rPr>
              <a:t>Function test Luminance station</a:t>
            </a:r>
            <a:endParaRPr lang="en-US" altLang="ko-KR" sz="1200" dirty="0">
              <a:latin typeface="Arial" panose="020B0604020202020204" pitchFamily="34" charset="0"/>
              <a:ea typeface="Arial Unicode MS" panose="020B0604020202020204" pitchFamily="34" charset="-128"/>
              <a:cs typeface="Arial" panose="020B0604020202020204" pitchFamily="34" charset="0"/>
            </a:endParaRP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Checking brightness level</a:t>
            </a: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Detect and measure Luminance value</a:t>
            </a: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Test set without CAN mode</a:t>
            </a: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Checking CID black / white patterns</a:t>
            </a: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Calculate contrast ratio</a:t>
            </a:r>
          </a:p>
          <a:p>
            <a:pPr marL="285750" indent="-285750" eaLnBrk="1" latinLnBrk="0">
              <a:buFont typeface="Arial" panose="020B0604020202020204" pitchFamily="34" charset="0"/>
              <a:buChar char="•"/>
            </a:pPr>
            <a:endParaRPr kumimoji="0" lang="ja-JP" altLang="ja-JP" sz="1200" dirty="0">
              <a:latin typeface="Arial" panose="020B0604020202020204" pitchFamily="34" charset="0"/>
              <a:ea typeface="Arial Unicode MS" panose="020B0604020202020204" pitchFamily="34" charset="-128"/>
              <a:cs typeface="Arial" panose="020B0604020202020204" pitchFamily="34" charset="0"/>
            </a:endParaRPr>
          </a:p>
          <a:p>
            <a:pPr eaLnBrk="1" latinLnBrk="0"/>
            <a:endParaRPr lang="ko-KR" altLang="en-US" sz="1200" dirty="0">
              <a:latin typeface="Arial" panose="020B0604020202020204" pitchFamily="34" charset="0"/>
              <a:ea typeface="Arial Unicode MS" panose="020B0604020202020204" pitchFamily="34" charset="-128"/>
              <a:cs typeface="Arial" panose="020B0604020202020204" pitchFamily="34" charset="0"/>
            </a:endParaRPr>
          </a:p>
        </p:txBody>
      </p:sp>
      <p:sp>
        <p:nvSpPr>
          <p:cNvPr id="14" name="Slide Number Placeholder 4">
            <a:extLst>
              <a:ext uri="{FF2B5EF4-FFF2-40B4-BE49-F238E27FC236}">
                <a16:creationId xmlns:a16="http://schemas.microsoft.com/office/drawing/2014/main" id="{DC889702-57C5-4178-B462-2E3106F53FD1}"/>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06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5" name="AutoShape 55">
            <a:extLst>
              <a:ext uri="{FF2B5EF4-FFF2-40B4-BE49-F238E27FC236}">
                <a16:creationId xmlns:a16="http://schemas.microsoft.com/office/drawing/2014/main" id="{72F5C699-BB82-4EC1-AB3C-FC35326159A9}"/>
              </a:ext>
            </a:extLst>
          </p:cNvPr>
          <p:cNvSpPr>
            <a:spLocks noChangeArrowheads="1"/>
          </p:cNvSpPr>
          <p:nvPr/>
        </p:nvSpPr>
        <p:spPr bwMode="auto">
          <a:xfrm>
            <a:off x="9121997"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6" name="AutoShape 56">
            <a:extLst>
              <a:ext uri="{FF2B5EF4-FFF2-40B4-BE49-F238E27FC236}">
                <a16:creationId xmlns:a16="http://schemas.microsoft.com/office/drawing/2014/main" id="{3F7F874F-52C3-414A-81B9-A03A708C305E}"/>
              </a:ext>
            </a:extLst>
          </p:cNvPr>
          <p:cNvSpPr>
            <a:spLocks noChangeArrowheads="1"/>
          </p:cNvSpPr>
          <p:nvPr/>
        </p:nvSpPr>
        <p:spPr bwMode="auto">
          <a:xfrm>
            <a:off x="8433022"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9" name="AutoShape 57">
            <a:extLst>
              <a:ext uri="{FF2B5EF4-FFF2-40B4-BE49-F238E27FC236}">
                <a16:creationId xmlns:a16="http://schemas.microsoft.com/office/drawing/2014/main" id="{304107E6-0AD0-4838-953F-7653F14453A5}"/>
              </a:ext>
            </a:extLst>
          </p:cNvPr>
          <p:cNvSpPr>
            <a:spLocks noChangeArrowheads="1"/>
          </p:cNvSpPr>
          <p:nvPr/>
        </p:nvSpPr>
        <p:spPr bwMode="auto">
          <a:xfrm>
            <a:off x="7740872" y="177766"/>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1" name="AutoShape 59">
            <a:extLst>
              <a:ext uri="{FF2B5EF4-FFF2-40B4-BE49-F238E27FC236}">
                <a16:creationId xmlns:a16="http://schemas.microsoft.com/office/drawing/2014/main" id="{BC0BEDAF-463F-4A5C-88A0-276D21275535}"/>
              </a:ext>
            </a:extLst>
          </p:cNvPr>
          <p:cNvSpPr>
            <a:spLocks noChangeArrowheads="1"/>
          </p:cNvSpPr>
          <p:nvPr/>
        </p:nvSpPr>
        <p:spPr bwMode="auto">
          <a:xfrm>
            <a:off x="6372447" y="177766"/>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2" name="AutoShape 58">
            <a:extLst>
              <a:ext uri="{FF2B5EF4-FFF2-40B4-BE49-F238E27FC236}">
                <a16:creationId xmlns:a16="http://schemas.microsoft.com/office/drawing/2014/main" id="{B0317FA2-6AED-403D-B6EA-51C7D84BBA84}"/>
              </a:ext>
            </a:extLst>
          </p:cNvPr>
          <p:cNvSpPr>
            <a:spLocks noChangeArrowheads="1"/>
          </p:cNvSpPr>
          <p:nvPr/>
        </p:nvSpPr>
        <p:spPr bwMode="auto">
          <a:xfrm>
            <a:off x="7069360" y="33304"/>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Measure </a:t>
            </a:r>
          </a:p>
        </p:txBody>
      </p:sp>
      <p:sp>
        <p:nvSpPr>
          <p:cNvPr id="23" name="제목 1">
            <a:extLst>
              <a:ext uri="{FF2B5EF4-FFF2-40B4-BE49-F238E27FC236}">
                <a16:creationId xmlns:a16="http://schemas.microsoft.com/office/drawing/2014/main" id="{6FC1DF0A-5B10-4BE6-85CD-B2B54F1E8280}"/>
              </a:ext>
            </a:extLst>
          </p:cNvPr>
          <p:cNvSpPr txBox="1">
            <a:spLocks/>
          </p:cNvSpPr>
          <p:nvPr/>
        </p:nvSpPr>
        <p:spPr>
          <a:xfrm>
            <a:off x="80531" y="60281"/>
            <a:ext cx="53340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1 Preparation of Gage R&amp;R</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pic>
        <p:nvPicPr>
          <p:cNvPr id="26" name="Picture 25">
            <a:extLst>
              <a:ext uri="{FF2B5EF4-FFF2-40B4-BE49-F238E27FC236}">
                <a16:creationId xmlns:a16="http://schemas.microsoft.com/office/drawing/2014/main" id="{B7318AFB-3E4E-4F2D-9F27-68979D22E268}"/>
              </a:ext>
            </a:extLst>
          </p:cNvPr>
          <p:cNvPicPr>
            <a:picLocks noChangeAspect="1"/>
          </p:cNvPicPr>
          <p:nvPr/>
        </p:nvPicPr>
        <p:blipFill>
          <a:blip r:embed="rId3"/>
          <a:stretch>
            <a:fillRect/>
          </a:stretch>
        </p:blipFill>
        <p:spPr>
          <a:xfrm>
            <a:off x="6255430" y="4354954"/>
            <a:ext cx="1694969" cy="1694969"/>
          </a:xfrm>
          <a:prstGeom prst="rect">
            <a:avLst/>
          </a:prstGeom>
        </p:spPr>
      </p:pic>
      <p:sp>
        <p:nvSpPr>
          <p:cNvPr id="27" name="TextBox 26">
            <a:extLst>
              <a:ext uri="{FF2B5EF4-FFF2-40B4-BE49-F238E27FC236}">
                <a16:creationId xmlns:a16="http://schemas.microsoft.com/office/drawing/2014/main" id="{1F23290D-FFCC-4467-B33A-7BFD68762FF8}"/>
              </a:ext>
            </a:extLst>
          </p:cNvPr>
          <p:cNvSpPr txBox="1"/>
          <p:nvPr/>
        </p:nvSpPr>
        <p:spPr>
          <a:xfrm>
            <a:off x="6104699" y="6049923"/>
            <a:ext cx="1887658" cy="276999"/>
          </a:xfrm>
          <a:prstGeom prst="rect">
            <a:avLst/>
          </a:prstGeom>
          <a:noFill/>
        </p:spPr>
        <p:txBody>
          <a:bodyPr wrap="square" rtlCol="0">
            <a:spAutoFit/>
          </a:bodyPr>
          <a:lstStyle/>
          <a:p>
            <a:pPr algn="ctr" eaLnBrk="1" latinLnBrk="0"/>
            <a:r>
              <a:rPr lang="en-US" sz="1000" b="1" dirty="0">
                <a:latin typeface="Arial" panose="020B0600000101010101" pitchFamily="34" charset="-127"/>
                <a:ea typeface="Arial" panose="020B0600000101010101" pitchFamily="34" charset="-127"/>
                <a:cs typeface="Arial" panose="020B0604020202020204" pitchFamily="34" charset="0"/>
              </a:rPr>
              <a:t xml:space="preserve">Camera CS2000 (spectroradiometer)</a:t>
            </a:r>
          </a:p>
        </p:txBody>
      </p:sp>
      <p:sp>
        <p:nvSpPr>
          <p:cNvPr id="30" name="TextBox 29">
            <a:extLst>
              <a:ext uri="{FF2B5EF4-FFF2-40B4-BE49-F238E27FC236}">
                <a16:creationId xmlns:a16="http://schemas.microsoft.com/office/drawing/2014/main" id="{D6DA2A8A-8142-4788-BCA7-5A9926BF1C45}"/>
              </a:ext>
            </a:extLst>
          </p:cNvPr>
          <p:cNvSpPr txBox="1"/>
          <p:nvPr/>
        </p:nvSpPr>
        <p:spPr>
          <a:xfrm>
            <a:off x="3863179" y="3656060"/>
            <a:ext cx="2020348" cy="276999"/>
          </a:xfrm>
          <a:prstGeom prst="rect">
            <a:avLst/>
          </a:prstGeom>
          <a:noFill/>
        </p:spPr>
        <p:txBody>
          <a:bodyPr wrap="square" rtlCol="0">
            <a:spAutoFit/>
          </a:bodyPr>
          <a:lstStyle/>
          <a:p>
            <a:pPr algn="ctr" eaLnBrk="1" latinLnBrk="0"/>
            <a:r>
              <a:rPr lang="en-US" sz="1000" b="1" dirty="0">
                <a:latin typeface="Arial" panose="020B0600000101010101" pitchFamily="34" charset="-127"/>
                <a:ea typeface="Arial" panose="020B0600000101010101" pitchFamily="34" charset="-127"/>
                <a:cs typeface="Arial" panose="020B0604020202020204" pitchFamily="34" charset="0"/>
              </a:rPr>
              <a:t xml:space="preserve">Luminance station diagram</a:t>
            </a:r>
          </a:p>
        </p:txBody>
      </p:sp>
      <p:grpSp>
        <p:nvGrpSpPr>
          <p:cNvPr id="5" name="Group 4">
            <a:extLst>
              <a:ext uri="{FF2B5EF4-FFF2-40B4-BE49-F238E27FC236}">
                <a16:creationId xmlns:a16="http://schemas.microsoft.com/office/drawing/2014/main" id="{050F06E4-0F81-4918-87F9-CB372E4F5864}"/>
              </a:ext>
            </a:extLst>
          </p:cNvPr>
          <p:cNvGrpSpPr/>
          <p:nvPr/>
        </p:nvGrpSpPr>
        <p:grpSpPr>
          <a:xfrm>
            <a:off x="4024176" y="1580371"/>
            <a:ext cx="5845556" cy="2034838"/>
            <a:chOff x="4024176" y="1580371"/>
            <a:chExt cx="5845556" cy="2034838"/>
          </a:xfrm>
        </p:grpSpPr>
        <p:pic>
          <p:nvPicPr>
            <p:cNvPr id="2" name="Picture 1">
              <a:extLst>
                <a:ext uri="{FF2B5EF4-FFF2-40B4-BE49-F238E27FC236}">
                  <a16:creationId xmlns:a16="http://schemas.microsoft.com/office/drawing/2014/main" id="{FB6C22B7-D86A-457E-97D6-DC13E71AED19}"/>
                </a:ext>
              </a:extLst>
            </p:cNvPr>
            <p:cNvPicPr>
              <a:picLocks noChangeAspect="1"/>
            </p:cNvPicPr>
            <p:nvPr/>
          </p:nvPicPr>
          <p:blipFill>
            <a:blip r:embed="rId4"/>
            <a:stretch>
              <a:fillRect/>
            </a:stretch>
          </p:blipFill>
          <p:spPr>
            <a:xfrm>
              <a:off x="4024176" y="1580371"/>
              <a:ext cx="5819775" cy="2034838"/>
            </a:xfrm>
            <a:prstGeom prst="rect">
              <a:avLst/>
            </a:prstGeom>
          </p:spPr>
        </p:pic>
        <p:pic>
          <p:nvPicPr>
            <p:cNvPr id="3" name="Picture 2">
              <a:extLst>
                <a:ext uri="{FF2B5EF4-FFF2-40B4-BE49-F238E27FC236}">
                  <a16:creationId xmlns:a16="http://schemas.microsoft.com/office/drawing/2014/main" id="{9BF84F16-1BE4-4851-BE3B-8C427D42DF8C}"/>
                </a:ext>
              </a:extLst>
            </p:cNvPr>
            <p:cNvPicPr>
              <a:picLocks noChangeAspect="1"/>
            </p:cNvPicPr>
            <p:nvPr/>
          </p:nvPicPr>
          <p:blipFill>
            <a:blip r:embed="rId5"/>
            <a:stretch>
              <a:fillRect/>
            </a:stretch>
          </p:blipFill>
          <p:spPr>
            <a:xfrm>
              <a:off x="8844243" y="2362201"/>
              <a:ext cx="1025489" cy="609599"/>
            </a:xfrm>
            <a:prstGeom prst="rect">
              <a:avLst/>
            </a:prstGeom>
          </p:spPr>
        </p:pic>
      </p:grpSp>
      <p:cxnSp>
        <p:nvCxnSpPr>
          <p:cNvPr id="6" name="Straight Arrow Connector 5">
            <a:extLst>
              <a:ext uri="{FF2B5EF4-FFF2-40B4-BE49-F238E27FC236}">
                <a16:creationId xmlns:a16="http://schemas.microsoft.com/office/drawing/2014/main" id="{D5EFFC24-7EB8-4BF2-8848-23404B7E3518}"/>
              </a:ext>
            </a:extLst>
          </p:cNvPr>
          <p:cNvCxnSpPr>
            <a:cxnSpLocks/>
          </p:cNvCxnSpPr>
          <p:nvPr/>
        </p:nvCxnSpPr>
        <p:spPr bwMode="auto">
          <a:xfrm>
            <a:off x="6934063" y="3656060"/>
            <a:ext cx="0" cy="698894"/>
          </a:xfrm>
          <a:prstGeom prst="straightConnector1">
            <a:avLst/>
          </a:prstGeom>
          <a:noFill/>
          <a:ln w="9525" cap="flat" cmpd="sng" algn="ctr">
            <a:solidFill>
              <a:srgbClr val="C00000"/>
            </a:solidFill>
            <a:prstDash val="solid"/>
            <a:round/>
            <a:headEnd type="none" w="med" len="med"/>
            <a:tailEnd type="triangle"/>
          </a:ln>
          <a:effectLst/>
        </p:spPr>
      </p:cxnSp>
      <p:sp>
        <p:nvSpPr>
          <p:cNvPr id="31" name="Added text 31"/>
          <p:cNvSpPr txBox="1"/>
          <p:nvPr/>
        </p:nvSpPr>
        <p:spPr>
          <a:xfrm>
            <a:off x="123825" y="609600"/>
            <a:ext cx="5905500" cy="381000"/>
          </a:xfrm>
          <a:prstGeom prst="rect">
            <a:avLst/>
          </a:prstGeom>
          <a:noFill/>
        </p:spPr>
        <p:txBody>
          <a:bodyPr wrap="square" lIns="0" tIns="0" rIns="0" bIns="0" rtlCol="0">
            <a:noAutofit/>
          </a:bodyPr>
          <a:lstStyle/>
          <a:p>
            <a:pPr marL="0" indent="0">
              <a:spcAft>
                <a:spcPts val="200"/>
              </a:spcAft>
              <a:buNone/>
            </a:pPr>
            <a:r>
              <a:rPr lang="en-US" sz="1100" b="1" dirty="0">
                <a:solidFill>
                  <a:srgbClr val="000000"/>
                </a:solidFill>
                <a:latin typeface="Arial"/>
                <a:cs typeface="Arial"/>
              </a:rPr>
              <a:t>Model: </a:t>
            </a:r>
            <a:r>
              <a:rPr lang="en-US" sz="1100" b="0" dirty="0">
                <a:solidFill>
                  <a:srgbClr val="000000"/>
                </a:solidFill>
                <a:latin typeface="Arial"/>
                <a:cs typeface="Arial"/>
              </a:rPr>
              <a:t>Porsche CID J1 Dual PPR (PID / CID display set)</a:t>
            </a:r>
          </a:p>
          <a:p>
            <a:pPr marL="0" indent="0">
              <a:spcAft>
                <a:spcPts val="0"/>
              </a:spcAft>
              <a:buNone/>
            </a:pPr>
            <a:r>
              <a:rPr lang="en-US" sz="1100" b="1" dirty="0">
                <a:solidFill>
                  <a:srgbClr val="000000"/>
                </a:solidFill>
                <a:latin typeface="Arial"/>
                <a:cs typeface="Arial"/>
              </a:rPr>
              <a:t>Station: </a:t>
            </a:r>
            <a:r>
              <a:rPr lang="en-US" sz="1100" b="0" dirty="0">
                <a:solidFill>
                  <a:srgbClr val="000000"/>
                </a:solidFill>
                <a:latin typeface="Arial"/>
                <a:cs typeface="Arial"/>
              </a:rPr>
              <a:t>Luminance station (camera CS2000), the station where the Luminance NG occurs</a:t>
            </a:r>
          </a:p>
        </p:txBody>
      </p:sp>
      <p:sp>
        <p:nvSpPr>
          <p:cNvPr id="32" name="Added text 32"/>
          <p:cNvSpPr txBox="1"/>
          <p:nvPr/>
        </p:nvSpPr>
        <p:spPr>
          <a:xfrm>
            <a:off x="123825" y="4876800"/>
            <a:ext cx="3810000" cy="1619250"/>
          </a:xfrm>
          <a:prstGeom prst="rect">
            <a:avLst/>
          </a:prstGeom>
          <a:noFill/>
        </p:spPr>
        <p:txBody>
          <a:bodyPr wrap="square" lIns="0" tIns="0" rIns="0" bIns="0" rtlCol="0">
            <a:noAutofit/>
          </a:bodyPr>
          <a:lstStyle/>
          <a:p>
            <a:pPr marL="0" indent="0">
              <a:spcAft>
                <a:spcPts val="300"/>
              </a:spcAft>
              <a:buNone/>
            </a:pPr>
            <a:r>
              <a:rPr lang="en-US" sz="1100" b="1" dirty="0">
                <a:solidFill>
                  <a:srgbClr val="000000"/>
                </a:solidFill>
                <a:latin typeface="Arial"/>
                <a:cs typeface="Arial"/>
              </a:rPr>
              <a:t>How to get sample (sampling)</a:t>
            </a:r>
          </a:p>
          <a:p>
            <a:pPr marL="171450" indent="-171450">
              <a:spcAft>
                <a:spcPts val="300"/>
              </a:spcAft>
              <a:buFont typeface="Arial"/>
              <a:buChar char="•"/>
            </a:pPr>
            <a:r>
              <a:rPr lang="en-US" sz="1000" b="0" dirty="0">
                <a:solidFill>
                  <a:srgbClr val="000000"/>
                </a:solidFill>
                <a:latin typeface="Arial"/>
                <a:cs typeface="Arial"/>
              </a:rPr>
              <a:t>Type 1: 1 golden sample (reference 910 Cd/m²), measured 30 times.</a:t>
            </a:r>
          </a:p>
          <a:p>
            <a:pPr marL="171450" indent="-171450">
              <a:spcAft>
                <a:spcPts val="300"/>
              </a:spcAft>
              <a:buFont typeface="Arial"/>
              <a:buChar char="•"/>
            </a:pPr>
            <a:r>
              <a:rPr lang="en-US" sz="1000" b="0" dirty="0">
                <a:solidFill>
                  <a:srgbClr val="000000"/>
                </a:solidFill>
                <a:latin typeface="Arial"/>
                <a:cs typeface="Arial"/>
              </a:rPr>
              <a:t>Type 3: 25 samples, each measured 2 times (the station is automatic, no operator influence).</a:t>
            </a:r>
          </a:p>
          <a:p>
            <a:pPr marL="171450" indent="-171450">
              <a:spcAft>
                <a:spcPts val="300"/>
              </a:spcAft>
              <a:buFont typeface="Arial"/>
              <a:buChar char="•"/>
            </a:pPr>
            <a:r>
              <a:rPr lang="en-US" sz="1000" b="0" dirty="0">
                <a:solidFill>
                  <a:srgbClr val="000000"/>
                </a:solidFill>
                <a:latin typeface="Arial"/>
                <a:cs typeface="Arial"/>
              </a:rPr>
              <a:t>Guideline: the samples should cover the spec and the dispersion of the process (include NG / OK samples and samples near the spec).</a:t>
            </a:r>
          </a:p>
        </p:txBody>
      </p:sp>
    </p:spTree>
    <p:extLst>
      <p:ext uri="{BB962C8B-B14F-4D97-AF65-F5344CB8AC3E}">
        <p14:creationId xmlns:p14="http://schemas.microsoft.com/office/powerpoint/2010/main" val="2569419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116442" y="96965"/>
            <a:ext cx="47625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2.1 Type 1 Study</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19" name="AutoShape 55">
            <a:extLst>
              <a:ext uri="{FF2B5EF4-FFF2-40B4-BE49-F238E27FC236}">
                <a16:creationId xmlns:a16="http://schemas.microsoft.com/office/drawing/2014/main" id="{48A61023-CDBC-4C6D-9BB1-EFBB3E5DADD2}"/>
              </a:ext>
            </a:extLst>
          </p:cNvPr>
          <p:cNvSpPr>
            <a:spLocks noChangeArrowheads="1"/>
          </p:cNvSpPr>
          <p:nvPr/>
        </p:nvSpPr>
        <p:spPr bwMode="auto">
          <a:xfrm>
            <a:off x="9121600" y="186782"/>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20" name="AutoShape 56">
            <a:extLst>
              <a:ext uri="{FF2B5EF4-FFF2-40B4-BE49-F238E27FC236}">
                <a16:creationId xmlns:a16="http://schemas.microsoft.com/office/drawing/2014/main" id="{BACA622A-2FAA-4B1D-8427-F75634CC5D2B}"/>
              </a:ext>
            </a:extLst>
          </p:cNvPr>
          <p:cNvSpPr>
            <a:spLocks noChangeArrowheads="1"/>
          </p:cNvSpPr>
          <p:nvPr/>
        </p:nvSpPr>
        <p:spPr bwMode="auto">
          <a:xfrm>
            <a:off x="8432625" y="186782"/>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21" name="AutoShape 57">
            <a:extLst>
              <a:ext uri="{FF2B5EF4-FFF2-40B4-BE49-F238E27FC236}">
                <a16:creationId xmlns:a16="http://schemas.microsoft.com/office/drawing/2014/main" id="{75A7294A-CC51-4608-A86C-6EFFB224E38C}"/>
              </a:ext>
            </a:extLst>
          </p:cNvPr>
          <p:cNvSpPr>
            <a:spLocks noChangeArrowheads="1"/>
          </p:cNvSpPr>
          <p:nvPr/>
        </p:nvSpPr>
        <p:spPr bwMode="auto">
          <a:xfrm>
            <a:off x="7740475" y="186782"/>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2" name="AutoShape 59">
            <a:extLst>
              <a:ext uri="{FF2B5EF4-FFF2-40B4-BE49-F238E27FC236}">
                <a16:creationId xmlns:a16="http://schemas.microsoft.com/office/drawing/2014/main" id="{9DB1964C-2D8B-4B4E-9C14-7211818B60A1}"/>
              </a:ext>
            </a:extLst>
          </p:cNvPr>
          <p:cNvSpPr>
            <a:spLocks noChangeArrowheads="1"/>
          </p:cNvSpPr>
          <p:nvPr/>
        </p:nvSpPr>
        <p:spPr bwMode="auto">
          <a:xfrm>
            <a:off x="6372050" y="186782"/>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3" name="AutoShape 58">
            <a:extLst>
              <a:ext uri="{FF2B5EF4-FFF2-40B4-BE49-F238E27FC236}">
                <a16:creationId xmlns:a16="http://schemas.microsoft.com/office/drawing/2014/main" id="{734B0F39-A31B-4819-A185-C7981959C679}"/>
              </a:ext>
            </a:extLst>
          </p:cNvPr>
          <p:cNvSpPr>
            <a:spLocks noChangeArrowheads="1"/>
          </p:cNvSpPr>
          <p:nvPr/>
        </p:nvSpPr>
        <p:spPr bwMode="auto">
          <a:xfrm>
            <a:off x="7068963" y="42320"/>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Measure </a:t>
            </a:r>
          </a:p>
        </p:txBody>
      </p:sp>
      <p:sp>
        <p:nvSpPr>
          <p:cNvPr id="27" name="Slide Number Placeholder 3">
            <a:extLst>
              <a:ext uri="{FF2B5EF4-FFF2-40B4-BE49-F238E27FC236}">
                <a16:creationId xmlns:a16="http://schemas.microsoft.com/office/drawing/2014/main" id="{9338DD2E-759B-4BBC-A8EF-8DA487CAE85E}"/>
              </a:ext>
            </a:extLst>
          </p:cNvPr>
          <p:cNvSpPr txBox="1">
            <a:spLocks/>
          </p:cNvSpPr>
          <p:nvPr/>
        </p:nvSpPr>
        <p:spPr>
          <a:xfrm>
            <a:off x="3728864" y="6542599"/>
            <a:ext cx="1368000" cy="293117"/>
          </a:xfrm>
          <a:prstGeom prst="rect">
            <a:avLst/>
          </a:prstGeom>
        </p:spPr>
        <p:txBody>
          <a:bodyPr/>
          <a:lstStyle>
            <a:defPPr>
              <a:defRPr lang="ko-KR"/>
            </a:defPPr>
            <a:lvl1pPr algn="ctr" rtl="0" fontAlgn="base" latinLnBrk="1">
              <a:spcBef>
                <a:spcPct val="0"/>
              </a:spcBef>
              <a:spcAft>
                <a:spcPct val="0"/>
              </a:spcAft>
              <a:defRPr kumimoji="1" sz="1000" kern="1200">
                <a:solidFill>
                  <a:schemeClr val="tx1"/>
                </a:solidFill>
                <a:latin typeface="현대하모니 L" panose="02020603020101020101" pitchFamily="18" charset="-127"/>
                <a:ea typeface="현대하모니 L" panose="02020603020101020101" pitchFamily="18" charset="-127"/>
                <a:cs typeface="+mn-cs"/>
              </a:defRPr>
            </a:lvl1pPr>
            <a:lvl2pPr marL="4572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5pPr>
            <a:lvl6pPr marL="2286000" algn="l" defTabSz="914400" rtl="0" eaLnBrk="1" latinLnBrk="1" hangingPunct="1">
              <a:defRPr kumimoji="1" kern="1200">
                <a:solidFill>
                  <a:schemeClr val="tx1"/>
                </a:solidFill>
                <a:latin typeface="굴림" pitchFamily="50" charset="-127"/>
                <a:ea typeface="굴림" pitchFamily="50" charset="-127"/>
                <a:cs typeface="+mn-cs"/>
              </a:defRPr>
            </a:lvl6pPr>
            <a:lvl7pPr marL="2743200" algn="l" defTabSz="914400" rtl="0" eaLnBrk="1" latinLnBrk="1" hangingPunct="1">
              <a:defRPr kumimoji="1" kern="1200">
                <a:solidFill>
                  <a:schemeClr val="tx1"/>
                </a:solidFill>
                <a:latin typeface="굴림" pitchFamily="50" charset="-127"/>
                <a:ea typeface="굴림" pitchFamily="50" charset="-127"/>
                <a:cs typeface="+mn-cs"/>
              </a:defRPr>
            </a:lvl7pPr>
            <a:lvl8pPr marL="3200400" algn="l" defTabSz="914400" rtl="0" eaLnBrk="1" latinLnBrk="1" hangingPunct="1">
              <a:defRPr kumimoji="1" kern="1200">
                <a:solidFill>
                  <a:schemeClr val="tx1"/>
                </a:solidFill>
                <a:latin typeface="굴림" pitchFamily="50" charset="-127"/>
                <a:ea typeface="굴림" pitchFamily="50" charset="-127"/>
                <a:cs typeface="+mn-cs"/>
              </a:defRPr>
            </a:lvl8pPr>
            <a:lvl9pPr marL="3657600" algn="l" defTabSz="914400" rtl="0" eaLnBrk="1" latinLnBrk="1" hangingPunct="1">
              <a:defRPr kumimoji="1" kern="1200">
                <a:solidFill>
                  <a:schemeClr val="tx1"/>
                </a:solidFill>
                <a:latin typeface="굴림" pitchFamily="50" charset="-127"/>
                <a:ea typeface="굴림" pitchFamily="50" charset="-127"/>
                <a:cs typeface="+mn-cs"/>
              </a:defRPr>
            </a:lvl9pPr>
          </a:lstStyle>
          <a:p>
            <a:pPr eaLnBrk="1" latinLnBrk="0"/>
            <a:r>
              <a:rPr sz="1000" b="0">
                <a:latin typeface="Arial"/>
              </a:rPr>
              <a:t>07 / 29</a:t>
            </a:r>
            <a:endParaRPr lang="ko-KR" altLang="en-US" dirty="0">
              <a:solidFill>
                <a:prstClr val="black">
                  <a:tint val="75000"/>
                </a:prstClr>
              </a:solidFill>
              <a:latin typeface="LG Smart_H Regular" panose="020B0600000101010101" pitchFamily="34" charset="-127"/>
              <a:ea typeface="LG Smart_H Regular" panose="020B0600000101010101" pitchFamily="34" charset="-127"/>
            </a:endParaRPr>
          </a:p>
        </p:txBody>
      </p:sp>
      <p:sp>
        <p:nvSpPr>
          <p:cNvPr id="17" name="TextBox 16">
            <a:extLst>
              <a:ext uri="{FF2B5EF4-FFF2-40B4-BE49-F238E27FC236}">
                <a16:creationId xmlns:a16="http://schemas.microsoft.com/office/drawing/2014/main" id="{92CAFF54-087B-4DB0-9D22-8021B64E17B1}"/>
              </a:ext>
            </a:extLst>
          </p:cNvPr>
          <p:cNvSpPr txBox="1"/>
          <p:nvPr/>
        </p:nvSpPr>
        <p:spPr>
          <a:xfrm>
            <a:off x="63248" y="522000"/>
            <a:ext cx="2070352" cy="234000"/>
          </a:xfrm>
          <a:prstGeom prst="rect">
            <a:avLst/>
          </a:prstGeom>
          <a:noFill/>
        </p:spPr>
        <p:txBody>
          <a:bodyPr wrap="square" rtlCol="0">
            <a:no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8" name="TextBox 17">
            <a:extLst>
              <a:ext uri="{FF2B5EF4-FFF2-40B4-BE49-F238E27FC236}">
                <a16:creationId xmlns:a16="http://schemas.microsoft.com/office/drawing/2014/main" id="{E90369EA-41CF-4BB7-95EE-33A74A74A411}"/>
              </a:ext>
            </a:extLst>
          </p:cNvPr>
          <p:cNvSpPr txBox="1"/>
          <p:nvPr/>
        </p:nvSpPr>
        <p:spPr>
          <a:xfrm>
            <a:off x="72000" y="5094000"/>
            <a:ext cx="5112000" cy="900000"/>
          </a:xfrm>
          <a:prstGeom prst="rect">
            <a:avLst/>
          </a:prstGeom>
          <a:noFill/>
          <a:ln>
            <a:noFill/>
          </a:ln>
        </p:spPr>
        <p:txBody>
          <a:bodyPr wrap="square" rtlCol="0">
            <a:noAutofit/>
          </a:bodyPr>
          <a:lstStyle/>
          <a:p>
            <a:pPr marL="171450" indent="-171450" eaLnBrk="1" latinLnBrk="0">
              <a:buFont typeface="Wingdings" panose="05000000000000000000" pitchFamily="2" charset="2"/>
              <a:buChar char="Ø"/>
            </a:pPr>
            <a:r>
              <a:rPr sz="1000" b="1">
                <a:latin typeface="Arial"/>
              </a:rPr>
              <a:t>Conclusion</a:t>
            </a:r>
          </a:p>
          <a:p>
            <a:pPr eaLnBrk="1" latinLnBrk="0"/>
            <a:r>
              <a:rPr sz="1000" b="0">
                <a:latin typeface="Arial"/>
              </a:rPr>
              <a:t xml:space="preserve">• P value &lt; 0.001 (≤ 0.05)  Reject H0 -&gt; Bias ≠ 0 (FAIL)</a:t>
            </a:r>
          </a:p>
          <a:p>
            <a:pPr eaLnBrk="1" latinLnBrk="0"/>
            <a:r>
              <a:rPr sz="1000" b="0">
                <a:latin typeface="Arial"/>
              </a:rPr>
              <a:t xml:space="preserve">• Cg = 0.91 (Std ≥ 1.33) FAIL | Cgk = 0.49 (Std ≥ 1.33) FAIL</a:t>
            </a:r>
          </a:p>
          <a:p>
            <a:pPr eaLnBrk="1" latinLnBrk="0"/>
            <a:r>
              <a:rPr sz="1000" b="0">
                <a:latin typeface="Arial"/>
              </a:rPr>
              <a:t xml:space="preserve">• %Var(Repeatability) = 21.99% (&gt; 10%) FAIL</a:t>
            </a:r>
          </a:p>
          <a:p>
            <a:pPr eaLnBrk="1" latinLnBrk="0"/>
            <a:r>
              <a:rPr sz="1000" b="0">
                <a:latin typeface="Arial"/>
              </a:rPr>
              <a:t xml:space="preserve">• %Var(Repeatability &amp; Bias) = 40.63% (&gt; 10%) FAIL</a:t>
            </a:r>
          </a:p>
        </p:txBody>
      </p:sp>
      <p:pic>
        <p:nvPicPr>
          <p:cNvPr id="5" name="Picture 4">
            <a:extLst>
              <a:ext uri="{FF2B5EF4-FFF2-40B4-BE49-F238E27FC236}">
                <a16:creationId xmlns:a16="http://schemas.microsoft.com/office/drawing/2014/main" id="{622F548D-3A7A-4D5B-91E6-696720BAEDCD}"/>
              </a:ext>
            </a:extLst>
          </p:cNvPr>
          <p:cNvPicPr>
            <a:picLocks noChangeAspect="1"/>
          </p:cNvPicPr>
          <p:nvPr/>
        </p:nvPicPr>
        <p:blipFill>
          <a:blip r:embed="rId3"/>
          <a:stretch>
            <a:fillRect/>
          </a:stretch>
        </p:blipFill>
        <p:spPr>
          <a:xfrm>
            <a:off x="6081737" y="508838"/>
            <a:ext cx="3670300" cy="2515529"/>
          </a:xfrm>
          <a:prstGeom prst="rect">
            <a:avLst/>
          </a:prstGeom>
        </p:spPr>
      </p:pic>
      <p:graphicFrame>
        <p:nvGraphicFramePr>
          <p:cNvPr id="8" name="Table 7">
            <a:extLst>
              <a:ext uri="{FF2B5EF4-FFF2-40B4-BE49-F238E27FC236}">
                <a16:creationId xmlns:a16="http://schemas.microsoft.com/office/drawing/2014/main" id="{6762E103-568D-44B2-B836-06647021EE55}"/>
              </a:ext>
            </a:extLst>
          </p:cNvPr>
          <p:cNvGraphicFramePr>
            <a:graphicFrameLocks noGrp="1"/>
          </p:cNvGraphicFramePr>
          <p:nvPr>
            <p:extLst>
              <p:ext uri="{D42A27DB-BD31-4B8C-83A1-F6EECF244321}">
                <p14:modId xmlns:p14="http://schemas.microsoft.com/office/powerpoint/2010/main" val="1536392145"/>
              </p:ext>
            </p:extLst>
          </p:nvPr>
        </p:nvGraphicFramePr>
        <p:xfrm>
          <a:off x="153963" y="1957420"/>
          <a:ext cx="3670300" cy="3152775"/>
        </p:xfrm>
        <a:graphic>
          <a:graphicData uri="http://schemas.openxmlformats.org/drawingml/2006/table">
            <a:tbl>
              <a:tblPr/>
              <a:tblGrid>
                <a:gridCol w="379437">
                  <a:extLst>
                    <a:ext uri="{9D8B030D-6E8A-4147-A177-3AD203B41FA5}">
                      <a16:colId xmlns:a16="http://schemas.microsoft.com/office/drawing/2014/main" val="2928826695"/>
                    </a:ext>
                  </a:extLst>
                </a:gridCol>
                <a:gridCol w="1485321">
                  <a:extLst>
                    <a:ext uri="{9D8B030D-6E8A-4147-A177-3AD203B41FA5}">
                      <a16:colId xmlns:a16="http://schemas.microsoft.com/office/drawing/2014/main" val="3225775588"/>
                    </a:ext>
                  </a:extLst>
                </a:gridCol>
                <a:gridCol w="419679">
                  <a:extLst>
                    <a:ext uri="{9D8B030D-6E8A-4147-A177-3AD203B41FA5}">
                      <a16:colId xmlns:a16="http://schemas.microsoft.com/office/drawing/2014/main" val="1137933355"/>
                    </a:ext>
                  </a:extLst>
                </a:gridCol>
                <a:gridCol w="1385863">
                  <a:extLst>
                    <a:ext uri="{9D8B030D-6E8A-4147-A177-3AD203B41FA5}">
                      <a16:colId xmlns:a16="http://schemas.microsoft.com/office/drawing/2014/main" val="2284661630"/>
                    </a:ext>
                  </a:extLst>
                </a:gridCol>
              </a:tblGrid>
              <a:tr h="295275">
                <a:tc>
                  <a:txBody>
                    <a:bodyPr/>
                    <a:lstStyle/>
                    <a:p>
                      <a:pPr algn="ctr" rtl="0" eaLnBrk="1" fontAlgn="ctr" latinLnBrk="0"/>
                      <a:r>
                        <a:rPr lang="en-US" sz="10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dirty="0">
                          <a:solidFill>
                            <a:srgbClr val="000000"/>
                          </a:solidFill>
                          <a:effectLst/>
                          <a:latin typeface="Arial" panose="020B0604020202020204" pitchFamily="34" charset="0"/>
                        </a:rPr>
                        <a:t>Luminance(Cd/m</a:t>
                      </a:r>
                      <a:r>
                        <a:rPr lang="en-US" sz="1000" b="1" i="0" u="none" strike="noStrike" baseline="30000" dirty="0">
                          <a:solidFill>
                            <a:srgbClr val="000000"/>
                          </a:solidFill>
                          <a:effectLst/>
                          <a:latin typeface="Arial" panose="020B0604020202020204" pitchFamily="34" charset="0"/>
                        </a:rPr>
                        <a:t>2</a:t>
                      </a:r>
                      <a:r>
                        <a:rPr lang="en-US" sz="1000" b="1" i="0" u="none" strike="noStrike" dirty="0">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a:solidFill>
                            <a:srgbClr val="000000"/>
                          </a:solidFill>
                          <a:effectLst/>
                          <a:latin typeface="Arial" panose="020B0604020202020204" pitchFamily="34" charset="0"/>
                        </a:rPr>
                        <a:t>Luminance(Cd/m</a:t>
                      </a:r>
                      <a:r>
                        <a:rPr lang="en-US" sz="1000" b="1" i="0" u="none" strike="noStrike" baseline="30000">
                          <a:solidFill>
                            <a:srgbClr val="000000"/>
                          </a:solidFill>
                          <a:effectLst/>
                          <a:latin typeface="Arial" panose="020B0604020202020204" pitchFamily="34" charset="0"/>
                        </a:rPr>
                        <a:t>2</a:t>
                      </a:r>
                      <a:r>
                        <a:rPr lang="en-US" sz="1000" b="1" i="0" u="none" strike="noStrike">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533014747"/>
                  </a:ext>
                </a:extLst>
              </a:tr>
              <a:tr h="190500">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779.90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872.50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238083"/>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811.25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881.38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484428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794.00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820.60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51087224"/>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829.24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905.68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6110264"/>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887.44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897.04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86178105"/>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844.39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833.60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0852201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851.46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885.70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87059282"/>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799.79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838.27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287794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903.47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837.62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57178712"/>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876.02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863.52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24974870"/>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904.05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892.00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85777479"/>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918.50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847.93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2676050"/>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890.05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885.27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8104159"/>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904.20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786.15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783320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748.30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859.40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0796975"/>
                  </a:ext>
                </a:extLst>
              </a:tr>
            </a:tbl>
          </a:graphicData>
        </a:graphic>
      </p:graphicFrame>
      <p:cxnSp>
        <p:nvCxnSpPr>
          <p:cNvPr id="16" name="Straight Connector 15">
            <a:extLst>
              <a:ext uri="{FF2B5EF4-FFF2-40B4-BE49-F238E27FC236}">
                <a16:creationId xmlns:a16="http://schemas.microsoft.com/office/drawing/2014/main" id="{87501724-7158-4FE8-ACBA-6688A19E2B8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C9BD94B-49AB-4069-9056-4246765E0D3B}"/>
              </a:ext>
            </a:extLst>
          </p:cNvPr>
          <p:cNvSpPr txBox="1"/>
          <p:nvPr/>
        </p:nvSpPr>
        <p:spPr>
          <a:xfrm>
            <a:off x="5482309" y="3107127"/>
            <a:ext cx="2355668" cy="707886"/>
          </a:xfrm>
          <a:prstGeom prst="rect">
            <a:avLst/>
          </a:prstGeom>
          <a:noFill/>
        </p:spPr>
        <p:txBody>
          <a:bodyPr wrap="square" rtlCol="0">
            <a:noAutofit/>
          </a:bodyPr>
          <a:lstStyle/>
          <a:p>
            <a:pPr eaLnBrk="1" latinLnBrk="0">
              <a:spcBef>
                <a:spcPts val="600"/>
              </a:spcBef>
            </a:pPr>
            <a:r>
              <a:rPr lang="en-GB" sz="1000" dirty="0">
                <a:latin typeface="Arial" panose="020B0600000101010101" pitchFamily="34" charset="-127"/>
                <a:ea typeface="Arial" panose="020B0600000101010101" pitchFamily="34" charset="-127"/>
              </a:rPr>
              <a:t>Spec: </a:t>
            </a:r>
            <a:r>
              <a:rPr lang="en-US" sz="1000" dirty="0">
                <a:solidFill>
                  <a:srgbClr val="000000"/>
                </a:solidFill>
                <a:latin typeface="Arial" panose="020B0600000101010101" pitchFamily="34" charset="-127"/>
                <a:ea typeface="Arial" panose="020B0600000101010101" pitchFamily="34" charset="-127"/>
                <a:cs typeface="Arial" panose="020B0604020202020204" pitchFamily="34" charset="0"/>
              </a:rPr>
              <a:t>800.00 ~ 2000.00</a:t>
            </a:r>
          </a:p>
          <a:p>
            <a:pPr eaLnBrk="1" latinLnBrk="0">
              <a:spcBef>
                <a:spcPts val="600"/>
              </a:spcBef>
            </a:pPr>
            <a:r>
              <a:rPr lang="en-GB" sz="1000" dirty="0">
                <a:latin typeface="Arial" panose="020B0600000101010101" pitchFamily="34" charset="-127"/>
                <a:ea typeface="Arial" panose="020B0600000101010101" pitchFamily="34" charset="-127"/>
              </a:rPr>
              <a:t>Reference value: 910 (golden sample)</a:t>
            </a:r>
          </a:p>
          <a:p>
            <a:pPr eaLnBrk="1" latinLnBrk="0">
              <a:spcBef>
                <a:spcPts val="600"/>
              </a:spcBef>
            </a:pPr>
            <a:r>
              <a:rPr lang="en-US" sz="1000" dirty="0">
                <a:latin typeface="Arial" panose="020B0600000101010101" pitchFamily="34" charset="-127"/>
                <a:ea typeface="Arial" panose="020B0600000101010101" pitchFamily="34" charset="-127"/>
              </a:rPr>
              <a:t>Resolution of Instrument: 0.01 </a:t>
            </a:r>
          </a:p>
        </p:txBody>
      </p:sp>
      <p:pic>
        <p:nvPicPr>
          <p:cNvPr id="4" name="Picture 3">
            <a:extLst>
              <a:ext uri="{FF2B5EF4-FFF2-40B4-BE49-F238E27FC236}">
                <a16:creationId xmlns:a16="http://schemas.microsoft.com/office/drawing/2014/main" id="{B77B3597-6FB3-429B-AD6A-0BC49F816375}"/>
              </a:ext>
            </a:extLst>
          </p:cNvPr>
          <p:cNvPicPr>
            <a:picLocks noChangeAspect="1"/>
          </p:cNvPicPr>
          <p:nvPr/>
        </p:nvPicPr>
        <p:blipFill>
          <a:blip r:embed="rId4"/>
          <a:stretch>
            <a:fillRect/>
          </a:stretch>
        </p:blipFill>
        <p:spPr>
          <a:xfrm>
            <a:off x="5494865" y="3811302"/>
            <a:ext cx="4256925" cy="2859916"/>
          </a:xfrm>
          <a:prstGeom prst="rect">
            <a:avLst/>
          </a:prstGeom>
        </p:spPr>
      </p:pic>
      <p:sp>
        <p:nvSpPr>
          <p:cNvPr id="25" name="TextBox 24">
            <a:extLst>
              <a:ext uri="{FF2B5EF4-FFF2-40B4-BE49-F238E27FC236}">
                <a16:creationId xmlns:a16="http://schemas.microsoft.com/office/drawing/2014/main" id="{1C130328-DF82-4F66-919E-E17B44353E09}"/>
              </a:ext>
            </a:extLst>
          </p:cNvPr>
          <p:cNvSpPr txBox="1"/>
          <p:nvPr/>
        </p:nvSpPr>
        <p:spPr>
          <a:xfrm>
            <a:off x="95421" y="792716"/>
            <a:ext cx="5354074" cy="1015663"/>
          </a:xfrm>
          <a:prstGeom prst="rect">
            <a:avLst/>
          </a:prstGeom>
          <a:noFill/>
        </p:spPr>
        <p:txBody>
          <a:bodyPr wrap="square" rtlCol="0">
            <a:noAutofit/>
          </a:bodyPr>
          <a:lstStyle/>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I chose the Type 1 gage study to assess the measurement capability of the gage, based on its repeatability and bias.</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In this case, one sample (golden sample, 910 Cd/m²) is measured 30 times.</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H0: Bias = 0 in measurement system.</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H1: Bias ≠ 0 in measurement system.</a:t>
            </a:r>
          </a:p>
        </p:txBody>
      </p:sp>
      <p:sp>
        <p:nvSpPr>
          <p:cNvPr id="30" name="TextBox 29">
            <a:extLst>
              <a:ext uri="{FF2B5EF4-FFF2-40B4-BE49-F238E27FC236}">
                <a16:creationId xmlns:a16="http://schemas.microsoft.com/office/drawing/2014/main" id="{B96D4B9C-38B5-48CE-89A8-155AFE43FEA6}"/>
              </a:ext>
            </a:extLst>
          </p:cNvPr>
          <p:cNvSpPr txBox="1"/>
          <p:nvPr/>
        </p:nvSpPr>
        <p:spPr>
          <a:xfrm>
            <a:off x="72000" y="6048000"/>
            <a:ext cx="5112000" cy="468000"/>
          </a:xfrm>
          <a:prstGeom prst="rect">
            <a:avLst/>
          </a:prstGeom>
          <a:noFill/>
        </p:spPr>
        <p:txBody>
          <a:bodyPr wrap="square" rtlCol="0">
            <a:noAutofit/>
          </a:bodyPr>
          <a:lstStyle/>
          <a:p>
            <a:pPr marL="171450" indent="-171450" eaLnBrk="1" latinLnBrk="0">
              <a:buFont typeface="Wingdings" panose="05000000000000000000" pitchFamily="2" charset="2"/>
              <a:buChar char="à"/>
            </a:pPr>
            <a:r>
              <a:rPr sz="1000">
                <a:latin typeface="Arial"/>
              </a:rPr>
              <a:t>✖ Equipment has problem. Cannot measure consistently (large repeatability error and significant bias). Need to improve measurement system.</a:t>
            </a:r>
          </a:p>
        </p:txBody>
      </p:sp>
    </p:spTree>
    <p:extLst>
      <p:ext uri="{BB962C8B-B14F-4D97-AF65-F5344CB8AC3E}">
        <p14:creationId xmlns:p14="http://schemas.microsoft.com/office/powerpoint/2010/main" val="4026112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67838" y="109779"/>
            <a:ext cx="4762500" cy="418058"/>
          </a:xfrm>
          <a:prstGeom prst="rect">
            <a:avLst/>
          </a:prstGeom>
        </p:spPr>
        <p:txBody>
          <a:bodyPr vert="horz" lIns="91440" tIns="45720" rIns="91440" bIns="45720" rtlCol="0" anchor="ctr">
            <a:normAutofit/>
          </a:bodyPr>
          <a:lstStyle/>
          <a:p>
            <a:pPr lvl="0" eaLnBrk="1" latinLnBrk="0" hangingPunct="0">
              <a:defRPr/>
            </a:pP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2.2 Type 3 Study</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35" name="Slide Number Placeholder 4">
            <a:extLst>
              <a:ext uri="{FF2B5EF4-FFF2-40B4-BE49-F238E27FC236}">
                <a16:creationId xmlns:a16="http://schemas.microsoft.com/office/drawing/2014/main" id="{E1439F5B-C230-4AA8-8439-28EEED666496}"/>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08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20" name="AutoShape 55">
            <a:extLst>
              <a:ext uri="{FF2B5EF4-FFF2-40B4-BE49-F238E27FC236}">
                <a16:creationId xmlns:a16="http://schemas.microsoft.com/office/drawing/2014/main" id="{E3DAE121-5AD2-49F1-8C9B-011C4117CD97}"/>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21" name="AutoShape 56">
            <a:extLst>
              <a:ext uri="{FF2B5EF4-FFF2-40B4-BE49-F238E27FC236}">
                <a16:creationId xmlns:a16="http://schemas.microsoft.com/office/drawing/2014/main" id="{9D6E827F-BC62-4468-AC57-473EDAD1789F}"/>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24" name="AutoShape 57">
            <a:extLst>
              <a:ext uri="{FF2B5EF4-FFF2-40B4-BE49-F238E27FC236}">
                <a16:creationId xmlns:a16="http://schemas.microsoft.com/office/drawing/2014/main" id="{CDE404C8-5FE3-476D-883D-70260B05B14E}"/>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5" name="AutoShape 59">
            <a:extLst>
              <a:ext uri="{FF2B5EF4-FFF2-40B4-BE49-F238E27FC236}">
                <a16:creationId xmlns:a16="http://schemas.microsoft.com/office/drawing/2014/main" id="{2E017168-4B5F-472C-9136-DA4C365BB2EA}"/>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6" name="AutoShape 58">
            <a:extLst>
              <a:ext uri="{FF2B5EF4-FFF2-40B4-BE49-F238E27FC236}">
                <a16:creationId xmlns:a16="http://schemas.microsoft.com/office/drawing/2014/main" id="{FFE55166-9E75-45B0-AF8E-9D9225BE05E2}"/>
              </a:ext>
            </a:extLst>
          </p:cNvPr>
          <p:cNvSpPr>
            <a:spLocks noChangeArrowheads="1"/>
          </p:cNvSpPr>
          <p:nvPr/>
        </p:nvSpPr>
        <p:spPr bwMode="auto">
          <a:xfrm>
            <a:off x="7016402" y="34527"/>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Measure </a:t>
            </a:r>
          </a:p>
        </p:txBody>
      </p:sp>
      <p:sp>
        <p:nvSpPr>
          <p:cNvPr id="4" name="Rectangle 3">
            <a:extLst>
              <a:ext uri="{FF2B5EF4-FFF2-40B4-BE49-F238E27FC236}">
                <a16:creationId xmlns:a16="http://schemas.microsoft.com/office/drawing/2014/main" id="{48934BF3-CC0B-450B-ACCE-8B259B73DAE4}"/>
              </a:ext>
            </a:extLst>
          </p:cNvPr>
          <p:cNvSpPr/>
          <p:nvPr/>
        </p:nvSpPr>
        <p:spPr>
          <a:xfrm>
            <a:off x="179294" y="1429017"/>
            <a:ext cx="1765227" cy="261610"/>
          </a:xfrm>
          <a:prstGeom prst="rect">
            <a:avLst/>
          </a:prstGeom>
        </p:spPr>
        <p:txBody>
          <a:bodyPr wrap="none">
            <a:noAutofit/>
          </a:bodyPr>
          <a:lstStyle/>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Spec: 800- 2000 (Cd/m2)</a:t>
            </a:r>
            <a:endParaRPr lang="en-US" sz="1100" dirty="0"/>
          </a:p>
        </p:txBody>
      </p:sp>
      <p:sp>
        <p:nvSpPr>
          <p:cNvPr id="19" name="TextBox 18">
            <a:extLst>
              <a:ext uri="{FF2B5EF4-FFF2-40B4-BE49-F238E27FC236}">
                <a16:creationId xmlns:a16="http://schemas.microsoft.com/office/drawing/2014/main" id="{FE0BCEBF-7305-42B3-B115-08C7954FB69C}"/>
              </a:ext>
            </a:extLst>
          </p:cNvPr>
          <p:cNvSpPr txBox="1"/>
          <p:nvPr/>
        </p:nvSpPr>
        <p:spPr>
          <a:xfrm>
            <a:off x="49365" y="554971"/>
            <a:ext cx="2070352" cy="276999"/>
          </a:xfrm>
          <a:prstGeom prst="rect">
            <a:avLst/>
          </a:prstGeom>
          <a:noFill/>
        </p:spPr>
        <p:txBody>
          <a:bodyPr wrap="square" rtlCol="0">
            <a:no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6" name="TextBox 15">
            <a:extLst>
              <a:ext uri="{FF2B5EF4-FFF2-40B4-BE49-F238E27FC236}">
                <a16:creationId xmlns:a16="http://schemas.microsoft.com/office/drawing/2014/main" id="{424CE4AD-BCCA-49E0-A50B-E95635AC090C}"/>
              </a:ext>
            </a:extLst>
          </p:cNvPr>
          <p:cNvSpPr txBox="1"/>
          <p:nvPr/>
        </p:nvSpPr>
        <p:spPr>
          <a:xfrm>
            <a:off x="67838" y="867970"/>
            <a:ext cx="9281571" cy="525047"/>
          </a:xfrm>
          <a:prstGeom prst="rect">
            <a:avLst/>
          </a:prstGeom>
          <a:noFill/>
        </p:spPr>
        <p:txBody>
          <a:bodyPr wrap="square" rtlCol="0">
            <a:noAutofit/>
          </a:bodyPr>
          <a:lstStyle/>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 xml:space="preserve">Need to evaluate the repeatability of the measurement system. </a:t>
            </a:r>
          </a:p>
          <a:p>
            <a:pPr eaLnBrk="1" latinLnBrk="0"/>
            <a:r>
              <a:rPr sz="1000" b="0">
                <a:latin typeface="Arial"/>
              </a:rPr>
              <a:t>Because the Luminance station is fully automated with no operator influence, Type 3 Gage Study is used to evaluate equipment repeatability.</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In type 3 study, use 25 samples to verify station, each sample is measured repeat 2 times.</a:t>
            </a:r>
          </a:p>
        </p:txBody>
      </p:sp>
      <p:graphicFrame>
        <p:nvGraphicFramePr>
          <p:cNvPr id="5" name="Table 4">
            <a:extLst>
              <a:ext uri="{FF2B5EF4-FFF2-40B4-BE49-F238E27FC236}">
                <a16:creationId xmlns:a16="http://schemas.microsoft.com/office/drawing/2014/main" id="{B177F281-A5EB-4A9B-8F2B-81AE0B6EDB3C}"/>
              </a:ext>
            </a:extLst>
          </p:cNvPr>
          <p:cNvGraphicFramePr>
            <a:graphicFrameLocks noGrp="1"/>
          </p:cNvGraphicFramePr>
          <p:nvPr>
            <p:extLst>
              <p:ext uri="{D42A27DB-BD31-4B8C-83A1-F6EECF244321}">
                <p14:modId xmlns:p14="http://schemas.microsoft.com/office/powerpoint/2010/main" val="3322818604"/>
              </p:ext>
            </p:extLst>
          </p:nvPr>
        </p:nvGraphicFramePr>
        <p:xfrm>
          <a:off x="169589" y="1655916"/>
          <a:ext cx="2330040" cy="4516281"/>
        </p:xfrm>
        <a:graphic>
          <a:graphicData uri="http://schemas.openxmlformats.org/drawingml/2006/table">
            <a:tbl>
              <a:tblPr/>
              <a:tblGrid>
                <a:gridCol w="582510">
                  <a:extLst>
                    <a:ext uri="{9D8B030D-6E8A-4147-A177-3AD203B41FA5}">
                      <a16:colId xmlns:a16="http://schemas.microsoft.com/office/drawing/2014/main" val="2099896177"/>
                    </a:ext>
                  </a:extLst>
                </a:gridCol>
                <a:gridCol w="582510">
                  <a:extLst>
                    <a:ext uri="{9D8B030D-6E8A-4147-A177-3AD203B41FA5}">
                      <a16:colId xmlns:a16="http://schemas.microsoft.com/office/drawing/2014/main" val="1074729442"/>
                    </a:ext>
                  </a:extLst>
                </a:gridCol>
                <a:gridCol w="582510">
                  <a:extLst>
                    <a:ext uri="{9D8B030D-6E8A-4147-A177-3AD203B41FA5}">
                      <a16:colId xmlns:a16="http://schemas.microsoft.com/office/drawing/2014/main" val="3326624257"/>
                    </a:ext>
                  </a:extLst>
                </a:gridCol>
                <a:gridCol w="582510">
                  <a:extLst>
                    <a:ext uri="{9D8B030D-6E8A-4147-A177-3AD203B41FA5}">
                      <a16:colId xmlns:a16="http://schemas.microsoft.com/office/drawing/2014/main" val="2970423013"/>
                    </a:ext>
                  </a:extLst>
                </a:gridCol>
              </a:tblGrid>
              <a:tr h="148506">
                <a:tc>
                  <a:txBody>
                    <a:bodyPr/>
                    <a:lstStyle/>
                    <a:p>
                      <a:pPr algn="ctr" rtl="0" eaLnBrk="1" fontAlgn="ctr" latinLnBrk="0"/>
                      <a:r>
                        <a:rPr lang="en-US" sz="8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390625296"/>
                  </a:ext>
                </a:extLst>
              </a:tr>
              <a:tr h="174711">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796.95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837.73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9854035"/>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786.61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811.78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1343685"/>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794.73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833.46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9857023"/>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796.58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836.42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36114638"/>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838.61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837.85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2496341"/>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839.58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817.70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5333353"/>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810.76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 xml:space="preserve">857.90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03066934"/>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830.05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837.17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1478065"/>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815.12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838.29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3816260"/>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835.75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828.88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18845378"/>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823.98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826.94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617241"/>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834.57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840.14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87381478"/>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827.40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839.72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5102378"/>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827.69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830.75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610026"/>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839.12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830.78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1586263"/>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835.42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823.24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1476966"/>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839.73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826.32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5727971"/>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842.06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825.35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5129022"/>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834.01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827.79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5630667"/>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834.48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838.87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13080362"/>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834.67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837.29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8228352"/>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836.61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850.33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75533224"/>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786.15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819.42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8743622"/>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780.77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755.89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19111923"/>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827.29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853.94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2125278"/>
                  </a:ext>
                </a:extLst>
              </a:tr>
            </a:tbl>
          </a:graphicData>
        </a:graphic>
      </p:graphicFrame>
      <p:sp>
        <p:nvSpPr>
          <p:cNvPr id="32" name="TextBox 31">
            <a:extLst>
              <a:ext uri="{FF2B5EF4-FFF2-40B4-BE49-F238E27FC236}">
                <a16:creationId xmlns:a16="http://schemas.microsoft.com/office/drawing/2014/main" id="{7CF4679F-CC6C-45D5-90C5-B2C94D3F932D}"/>
              </a:ext>
            </a:extLst>
          </p:cNvPr>
          <p:cNvSpPr txBox="1"/>
          <p:nvPr/>
        </p:nvSpPr>
        <p:spPr>
          <a:xfrm>
            <a:off x="5875171" y="4953000"/>
            <a:ext cx="4030829" cy="830997"/>
          </a:xfrm>
          <a:prstGeom prst="rect">
            <a:avLst/>
          </a:prstGeom>
          <a:noFill/>
        </p:spPr>
        <p:txBody>
          <a:bodyPr wrap="square" rtlCol="0">
            <a:noAutofit/>
          </a:bodyPr>
          <a:lstStyle/>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rPr>
              <a:t>% Contribution of Gage </a:t>
            </a:r>
            <a:r>
              <a:rPr lang="vi-VN" sz="1000" dirty="0">
                <a:latin typeface="Arial" panose="020B0604020202020204" pitchFamily="34" charset="0"/>
                <a:ea typeface="Arial Unicode MS" panose="020B0604020202020204" pitchFamily="34" charset="-128"/>
                <a:cs typeface="Arial" panose="020B0604020202020204" pitchFamily="34" charset="0"/>
              </a:rPr>
              <a:t>R&amp;R = 7</a:t>
            </a:r>
            <a:r>
              <a:rPr lang="en-US" sz="1000" dirty="0">
                <a:latin typeface="Arial" panose="020B0604020202020204" pitchFamily="34" charset="0"/>
                <a:ea typeface="Arial Unicode MS" panose="020B0604020202020204" pitchFamily="34" charset="-128"/>
                <a:cs typeface="Arial" panose="020B0604020202020204" pitchFamily="34" charset="0"/>
              </a:rPr>
              <a:t>1</a:t>
            </a:r>
            <a:r>
              <a:rPr lang="vi-VN" sz="1000" dirty="0">
                <a:latin typeface="Arial" panose="020B0604020202020204" pitchFamily="34" charset="0"/>
                <a:ea typeface="Arial Unicode MS" panose="020B0604020202020204" pitchFamily="34" charset="-128"/>
                <a:cs typeface="Arial" panose="020B0604020202020204" pitchFamily="34" charset="0"/>
              </a:rPr>
              <a:t>.</a:t>
            </a:r>
            <a:r>
              <a:rPr lang="en-US" sz="1000" dirty="0">
                <a:latin typeface="Arial" panose="020B0604020202020204" pitchFamily="34" charset="0"/>
                <a:ea typeface="Arial Unicode MS" panose="020B0604020202020204" pitchFamily="34" charset="-128"/>
                <a:cs typeface="Arial" panose="020B0604020202020204" pitchFamily="34" charset="0"/>
              </a:rPr>
              <a:t>56</a:t>
            </a:r>
            <a:r>
              <a:rPr lang="vi-VN" sz="1000" dirty="0">
                <a:latin typeface="Arial" panose="020B0604020202020204" pitchFamily="34" charset="0"/>
                <a:ea typeface="Arial Unicode MS" panose="020B0604020202020204" pitchFamily="34" charset="-128"/>
                <a:cs typeface="Arial" panose="020B0604020202020204" pitchFamily="34" charset="0"/>
              </a:rPr>
              <a:t xml:space="preserve">% &gt; 9% (std &lt; 1%)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NG</a:t>
            </a:r>
          </a:p>
          <a:p>
            <a:pPr marL="171450" indent="-171450" eaLnBrk="1" latinLnBrk="0">
              <a:buFont typeface="Arial" panose="020B0604020202020204" pitchFamily="34" charset="0"/>
              <a:buChar char="•"/>
            </a:pP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Study Var = 8</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4.59</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xml:space="preserve"> &gt; </a:t>
            </a:r>
            <a:r>
              <a:rPr lang="vi-VN" sz="1000" dirty="0">
                <a:latin typeface="Arial" panose="020B0604020202020204" pitchFamily="34" charset="0"/>
                <a:ea typeface="Arial Unicode MS" panose="020B0604020202020204" pitchFamily="34" charset="-128"/>
                <a:cs typeface="Arial" panose="020B0604020202020204" pitchFamily="34" charset="0"/>
              </a:rPr>
              <a:t>10%</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 NG</a:t>
            </a:r>
          </a:p>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xml:space="preserve">% Tolerance = 8.33% &lt; 10%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OK</a:t>
            </a:r>
          </a:p>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NDC: 1 &lt; 5 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NG </a:t>
            </a:r>
            <a:endParaRPr lang="en-US" sz="12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endParaRPr>
          </a:p>
        </p:txBody>
      </p:sp>
      <p:sp>
        <p:nvSpPr>
          <p:cNvPr id="33" name="TextBox 32">
            <a:extLst>
              <a:ext uri="{FF2B5EF4-FFF2-40B4-BE49-F238E27FC236}">
                <a16:creationId xmlns:a16="http://schemas.microsoft.com/office/drawing/2014/main" id="{905D7C2E-0446-4D3E-B01F-0F913AFAFE04}"/>
              </a:ext>
            </a:extLst>
          </p:cNvPr>
          <p:cNvSpPr txBox="1"/>
          <p:nvPr/>
        </p:nvSpPr>
        <p:spPr>
          <a:xfrm>
            <a:off x="59902" y="6296220"/>
            <a:ext cx="9369942" cy="311279"/>
          </a:xfrm>
          <a:prstGeom prst="rect">
            <a:avLst/>
          </a:prstGeom>
          <a:noFill/>
        </p:spPr>
        <p:txBody>
          <a:bodyPr wrap="square" rtlCol="0">
            <a:noAutofit/>
          </a:bodyPr>
          <a:lstStyle/>
          <a:p>
            <a:pPr marL="171450" indent="-171450" eaLnBrk="1" latinLnBrk="0">
              <a:buFont typeface="Wingdings" panose="05000000000000000000" pitchFamily="2" charset="2"/>
              <a:buChar char="Ø"/>
            </a:pPr>
            <a:r>
              <a:rPr lang="vi-VN" sz="1000" b="1"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Conclusion: %Contribution = 71.56% (&gt; 9% NG), %Study Var = 84.59% (NG), %Tolerance = 8.33% (OK), NDC = 1 (&lt; 5 NG). The repeatability error (SD ≈ 16.7) is large vs. the part variation (SD ≈ 10.5) and Type 1 also failed, so the system is NOT acceptable: improve.</a:t>
            </a:r>
            <a:endParaRPr lang="en-US" sz="1200" dirty="0">
              <a:latin typeface="Arial" panose="020B0604020202020204" pitchFamily="34" charset="0"/>
              <a:ea typeface="Arial Unicode MS" panose="020B0604020202020204" pitchFamily="34" charset="-128"/>
              <a:cs typeface="Arial" panose="020B0604020202020204" pitchFamily="34" charset="0"/>
              <a:sym typeface="Wingdings" pitchFamily="2" charset="2"/>
            </a:endParaRPr>
          </a:p>
        </p:txBody>
      </p:sp>
      <p:pic>
        <p:nvPicPr>
          <p:cNvPr id="2" name="Picture 1">
            <a:extLst>
              <a:ext uri="{FF2B5EF4-FFF2-40B4-BE49-F238E27FC236}">
                <a16:creationId xmlns:a16="http://schemas.microsoft.com/office/drawing/2014/main" id="{9CC0D461-7724-4A16-8B0F-A1D501ACB4B3}"/>
              </a:ext>
            </a:extLst>
          </p:cNvPr>
          <p:cNvPicPr>
            <a:picLocks noChangeAspect="1"/>
          </p:cNvPicPr>
          <p:nvPr/>
        </p:nvPicPr>
        <p:blipFill>
          <a:blip r:embed="rId3"/>
          <a:stretch>
            <a:fillRect/>
          </a:stretch>
        </p:blipFill>
        <p:spPr>
          <a:xfrm>
            <a:off x="2588009" y="1579993"/>
            <a:ext cx="2700224" cy="3757612"/>
          </a:xfrm>
          <a:prstGeom prst="rect">
            <a:avLst/>
          </a:prstGeom>
        </p:spPr>
      </p:pic>
      <p:pic>
        <p:nvPicPr>
          <p:cNvPr id="3" name="Picture 2">
            <a:extLst>
              <a:ext uri="{FF2B5EF4-FFF2-40B4-BE49-F238E27FC236}">
                <a16:creationId xmlns:a16="http://schemas.microsoft.com/office/drawing/2014/main" id="{BA95E6EA-E652-449C-9F8A-5EFC5269E60F}"/>
              </a:ext>
            </a:extLst>
          </p:cNvPr>
          <p:cNvPicPr>
            <a:picLocks noChangeAspect="1"/>
          </p:cNvPicPr>
          <p:nvPr/>
        </p:nvPicPr>
        <p:blipFill>
          <a:blip r:embed="rId4"/>
          <a:stretch>
            <a:fillRect/>
          </a:stretch>
        </p:blipFill>
        <p:spPr>
          <a:xfrm>
            <a:off x="5482981" y="1579992"/>
            <a:ext cx="4264219" cy="3220607"/>
          </a:xfrm>
          <a:prstGeom prst="rect">
            <a:avLst/>
          </a:prstGeom>
        </p:spPr>
      </p:pic>
      <p:cxnSp>
        <p:nvCxnSpPr>
          <p:cNvPr id="18" name="Straight Connector 17">
            <a:extLst>
              <a:ext uri="{FF2B5EF4-FFF2-40B4-BE49-F238E27FC236}">
                <a16:creationId xmlns:a16="http://schemas.microsoft.com/office/drawing/2014/main" id="{C5241C5D-C65E-467C-9A84-DDA1FEE8E500}"/>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27490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525659" cy="418058"/>
          </a:xfrm>
          <a:prstGeom prst="rect">
            <a:avLst/>
          </a:prstGeom>
        </p:spPr>
        <p:txBody>
          <a:bodyPr vert="horz" lIns="91440" tIns="45720" rIns="91440" bIns="45720" rtlCol="0" anchor="ctr">
            <a:noAutofit/>
          </a:bodyPr>
          <a:lstStyle/>
          <a:p>
            <a:pPr eaLnBrk="1" latinLnBrk="0" hangingPunct="0">
              <a:defRPr/>
            </a:pPr>
            <a:r>
              <a:rPr lang="en-US" altLang="ko-KR" sz="1600" b="1" kern="0" dirty="0">
                <a:solidFill>
                  <a:srgbClr val="000000"/>
                </a:solidFill>
                <a:latin typeface="Arial Narrow" panose="020B0606020202030204" pitchFamily="34" charset="0"/>
                <a:ea typeface="LG Smart_H Regular" pitchFamily="34" charset="-127"/>
              </a:rPr>
              <a:t>3.1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00000" y="6642000"/>
            <a:ext cx="2133600" cy="198000"/>
          </a:xfrm>
        </p:spPr>
        <p:txBody>
          <a:bodyPr/>
          <a:lstStyle/>
          <a:p>
            <a:pPr algn="ctr" eaLnBrk="1" latinLnBrk="0"/>
            <a:r>
              <a:rPr sz="1000" b="0">
                <a:latin typeface="Arial"/>
              </a:rPr>
              <a:t>11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72" name="Text Box 2">
            <a:extLst>
              <a:ext uri="{FF2B5EF4-FFF2-40B4-BE49-F238E27FC236}">
                <a16:creationId xmlns:a16="http://schemas.microsoft.com/office/drawing/2014/main" id="{154D2356-34D8-4A47-AE3E-15659243DDEF}"/>
              </a:ext>
            </a:extLst>
          </p:cNvPr>
          <p:cNvSpPr txBox="1">
            <a:spLocks noChangeArrowheads="1"/>
          </p:cNvSpPr>
          <p:nvPr/>
        </p:nvSpPr>
        <p:spPr bwMode="auto">
          <a:xfrm>
            <a:off x="0" y="2684839"/>
            <a:ext cx="1800000" cy="304800"/>
          </a:xfrm>
          <a:prstGeom prst="rect">
            <a:avLst/>
          </a:prstGeom>
          <a:noFill/>
          <a:ln w="9525" algn="ctr">
            <a:noFill/>
            <a:miter lim="800000"/>
            <a:headEnd/>
            <a:tailEnd/>
          </a:ln>
        </p:spPr>
        <p:txBody>
          <a:bodyPr lIns="84374" tIns="42187" rIns="84374" bIns="42187" anchor="ctr">
            <a:noAutofit/>
          </a:bodyPr>
          <a:lstStyle/>
          <a:p>
            <a:pPr defTabSz="844083" eaLnBrk="1" fontAlgn="base" latinLnBrk="0">
              <a:spcBef>
                <a:spcPct val="0"/>
              </a:spcBef>
              <a:spcAft>
                <a:spcPct val="0"/>
              </a:spcAft>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Logic tree analysis</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73" name="Rectangle 72">
            <a:extLst>
              <a:ext uri="{FF2B5EF4-FFF2-40B4-BE49-F238E27FC236}">
                <a16:creationId xmlns:a16="http://schemas.microsoft.com/office/drawing/2014/main" id="{98BB49C0-2391-4488-9636-39BB014241CF}"/>
              </a:ext>
            </a:extLst>
          </p:cNvPr>
          <p:cNvSpPr/>
          <p:nvPr/>
        </p:nvSpPr>
        <p:spPr>
          <a:xfrm>
            <a:off x="159774" y="3156008"/>
            <a:ext cx="1165225"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b="1" dirty="0">
                <a:solidFill>
                  <a:prstClr val="black"/>
                </a:solidFill>
                <a:latin typeface="Arial" panose="020B0600000101010101" pitchFamily="34" charset="-127"/>
                <a:ea typeface="Arial" panose="020B0600000101010101" pitchFamily="34" charset="-127"/>
                <a:cs typeface="Arial" pitchFamily="34" charset="0"/>
              </a:rPr>
              <a:t>Luminance at the station</a:t>
            </a:r>
          </a:p>
        </p:txBody>
      </p:sp>
      <p:sp>
        <p:nvSpPr>
          <p:cNvPr id="74" name="Rectangle 73">
            <a:extLst>
              <a:ext uri="{FF2B5EF4-FFF2-40B4-BE49-F238E27FC236}">
                <a16:creationId xmlns:a16="http://schemas.microsoft.com/office/drawing/2014/main" id="{8A7F75B1-1676-4838-AC23-A6F29218D318}"/>
              </a:ext>
            </a:extLst>
          </p:cNvPr>
          <p:cNvSpPr/>
          <p:nvPr/>
        </p:nvSpPr>
        <p:spPr>
          <a:xfrm>
            <a:off x="1651384" y="5944884"/>
            <a:ext cx="116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Man</a:t>
            </a:r>
          </a:p>
        </p:txBody>
      </p:sp>
      <p:sp>
        <p:nvSpPr>
          <p:cNvPr id="75" name="Rectangle 74">
            <a:extLst>
              <a:ext uri="{FF2B5EF4-FFF2-40B4-BE49-F238E27FC236}">
                <a16:creationId xmlns:a16="http://schemas.microsoft.com/office/drawing/2014/main" id="{AA95EC89-2D59-457C-9D51-482F9FF272A8}"/>
              </a:ext>
            </a:extLst>
          </p:cNvPr>
          <p:cNvSpPr/>
          <p:nvPr/>
        </p:nvSpPr>
        <p:spPr>
          <a:xfrm>
            <a:off x="4719475" y="6271041"/>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Automatic process</a:t>
            </a:r>
          </a:p>
        </p:txBody>
      </p:sp>
      <p:sp>
        <p:nvSpPr>
          <p:cNvPr id="76" name="Rectangle 75">
            <a:extLst>
              <a:ext uri="{FF2B5EF4-FFF2-40B4-BE49-F238E27FC236}">
                <a16:creationId xmlns:a16="http://schemas.microsoft.com/office/drawing/2014/main" id="{D1A52889-10F4-4654-BF9E-1C234D11F6E6}"/>
              </a:ext>
            </a:extLst>
          </p:cNvPr>
          <p:cNvSpPr/>
          <p:nvPr/>
        </p:nvSpPr>
        <p:spPr>
          <a:xfrm>
            <a:off x="1618209" y="1427357"/>
            <a:ext cx="1165225"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Machine</a:t>
            </a:r>
          </a:p>
        </p:txBody>
      </p:sp>
      <p:sp>
        <p:nvSpPr>
          <p:cNvPr id="77" name="Rectangle 76">
            <a:extLst>
              <a:ext uri="{FF2B5EF4-FFF2-40B4-BE49-F238E27FC236}">
                <a16:creationId xmlns:a16="http://schemas.microsoft.com/office/drawing/2014/main" id="{8B2EA42F-BBCA-476E-A6D2-DCED7477DD94}"/>
              </a:ext>
            </a:extLst>
          </p:cNvPr>
          <p:cNvSpPr/>
          <p:nvPr/>
        </p:nvSpPr>
        <p:spPr>
          <a:xfrm>
            <a:off x="3132282" y="1603784"/>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Pallet</a:t>
            </a:r>
          </a:p>
        </p:txBody>
      </p:sp>
      <p:sp>
        <p:nvSpPr>
          <p:cNvPr id="78" name="Rectangle 77">
            <a:extLst>
              <a:ext uri="{FF2B5EF4-FFF2-40B4-BE49-F238E27FC236}">
                <a16:creationId xmlns:a16="http://schemas.microsoft.com/office/drawing/2014/main" id="{CB14BB72-DACF-49D8-B9E7-7795EBE9B6A4}"/>
              </a:ext>
            </a:extLst>
          </p:cNvPr>
          <p:cNvSpPr/>
          <p:nvPr/>
        </p:nvSpPr>
        <p:spPr>
          <a:xfrm>
            <a:off x="3123027" y="967992"/>
            <a:ext cx="1296573" cy="54000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Power supply</a:t>
            </a:r>
          </a:p>
        </p:txBody>
      </p:sp>
      <p:sp>
        <p:nvSpPr>
          <p:cNvPr id="79" name="Rectangle 78">
            <a:extLst>
              <a:ext uri="{FF2B5EF4-FFF2-40B4-BE49-F238E27FC236}">
                <a16:creationId xmlns:a16="http://schemas.microsoft.com/office/drawing/2014/main" id="{EEDD2645-0EFA-436C-A6E7-C8D003106F1B}"/>
              </a:ext>
            </a:extLst>
          </p:cNvPr>
          <p:cNvSpPr/>
          <p:nvPr/>
        </p:nvSpPr>
        <p:spPr>
          <a:xfrm>
            <a:off x="4730616" y="967675"/>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Power supply is stable</a:t>
            </a:r>
          </a:p>
        </p:txBody>
      </p:sp>
      <p:sp>
        <p:nvSpPr>
          <p:cNvPr id="80" name="Rectangle 79">
            <a:extLst>
              <a:ext uri="{FF2B5EF4-FFF2-40B4-BE49-F238E27FC236}">
                <a16:creationId xmlns:a16="http://schemas.microsoft.com/office/drawing/2014/main" id="{6DF543DF-7565-40EB-9D0A-0B63AA26DE3B}"/>
              </a:ext>
            </a:extLst>
          </p:cNvPr>
          <p:cNvSpPr/>
          <p:nvPr/>
        </p:nvSpPr>
        <p:spPr>
          <a:xfrm>
            <a:off x="3118102" y="6271041"/>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Working skill</a:t>
            </a:r>
          </a:p>
        </p:txBody>
      </p:sp>
      <p:sp>
        <p:nvSpPr>
          <p:cNvPr id="81" name="Rectangle 80">
            <a:extLst>
              <a:ext uri="{FF2B5EF4-FFF2-40B4-BE49-F238E27FC236}">
                <a16:creationId xmlns:a16="http://schemas.microsoft.com/office/drawing/2014/main" id="{221A6137-4C2A-4CAD-B245-15DBCEC5BE1C}"/>
              </a:ext>
            </a:extLst>
          </p:cNvPr>
          <p:cNvSpPr/>
          <p:nvPr/>
        </p:nvSpPr>
        <p:spPr>
          <a:xfrm>
            <a:off x="4733655" y="1603784"/>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All model used same kind of pallet</a:t>
            </a:r>
          </a:p>
        </p:txBody>
      </p:sp>
      <p:sp>
        <p:nvSpPr>
          <p:cNvPr id="84" name="Rectangle 83">
            <a:extLst>
              <a:ext uri="{FF2B5EF4-FFF2-40B4-BE49-F238E27FC236}">
                <a16:creationId xmlns:a16="http://schemas.microsoft.com/office/drawing/2014/main" id="{1690E334-C0F6-498D-B406-B7676F0A33E0}"/>
              </a:ext>
            </a:extLst>
          </p:cNvPr>
          <p:cNvSpPr/>
          <p:nvPr/>
        </p:nvSpPr>
        <p:spPr>
          <a:xfrm>
            <a:off x="3130401" y="2334979"/>
            <a:ext cx="1296573"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Camera equipment (CS2000)</a:t>
            </a:r>
          </a:p>
        </p:txBody>
      </p:sp>
      <p:cxnSp>
        <p:nvCxnSpPr>
          <p:cNvPr id="85" name="Elbow Connector 11">
            <a:extLst>
              <a:ext uri="{FF2B5EF4-FFF2-40B4-BE49-F238E27FC236}">
                <a16:creationId xmlns:a16="http://schemas.microsoft.com/office/drawing/2014/main" id="{A0900B0B-88B7-436C-8708-BACE50220958}"/>
              </a:ext>
            </a:extLst>
          </p:cNvPr>
          <p:cNvCxnSpPr>
            <a:stCxn id="73" idx="3"/>
            <a:endCxn id="76" idx="1"/>
          </p:cNvCxnSpPr>
          <p:nvPr/>
        </p:nvCxnSpPr>
        <p:spPr>
          <a:xfrm flipV="1">
            <a:off x="1324999" y="1697232"/>
            <a:ext cx="293210" cy="1728651"/>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6" name="Elbow Connector 14">
            <a:extLst>
              <a:ext uri="{FF2B5EF4-FFF2-40B4-BE49-F238E27FC236}">
                <a16:creationId xmlns:a16="http://schemas.microsoft.com/office/drawing/2014/main" id="{7C3D603A-2E8C-4A1D-8161-53008CE24C0D}"/>
              </a:ext>
            </a:extLst>
          </p:cNvPr>
          <p:cNvCxnSpPr>
            <a:stCxn id="73" idx="3"/>
            <a:endCxn id="74" idx="1"/>
          </p:cNvCxnSpPr>
          <p:nvPr/>
        </p:nvCxnSpPr>
        <p:spPr>
          <a:xfrm>
            <a:off x="1324999" y="3425883"/>
            <a:ext cx="326385" cy="2788876"/>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3DFF0DF6-D5B0-453E-A753-5B5ED81A50F4}"/>
              </a:ext>
            </a:extLst>
          </p:cNvPr>
          <p:cNvSpPr/>
          <p:nvPr/>
        </p:nvSpPr>
        <p:spPr>
          <a:xfrm>
            <a:off x="4748132" y="2334979"/>
            <a:ext cx="1371600"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Measure incorrectly</a:t>
            </a:r>
          </a:p>
        </p:txBody>
      </p:sp>
      <p:cxnSp>
        <p:nvCxnSpPr>
          <p:cNvPr id="102" name="Straight Arrow Connector 101">
            <a:extLst>
              <a:ext uri="{FF2B5EF4-FFF2-40B4-BE49-F238E27FC236}">
                <a16:creationId xmlns:a16="http://schemas.microsoft.com/office/drawing/2014/main" id="{7840A584-72DD-4DDF-A457-81F5E3DDA5CE}"/>
              </a:ext>
            </a:extLst>
          </p:cNvPr>
          <p:cNvCxnSpPr>
            <a:stCxn id="80" idx="3"/>
            <a:endCxn id="75" idx="1"/>
          </p:cNvCxnSpPr>
          <p:nvPr/>
        </p:nvCxnSpPr>
        <p:spPr>
          <a:xfrm>
            <a:off x="4414675" y="6540916"/>
            <a:ext cx="304800"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3" name="Rectangle 102">
            <a:extLst>
              <a:ext uri="{FF2B5EF4-FFF2-40B4-BE49-F238E27FC236}">
                <a16:creationId xmlns:a16="http://schemas.microsoft.com/office/drawing/2014/main" id="{9DF8E102-D994-4E57-A889-210E1C85B4EE}"/>
              </a:ext>
            </a:extLst>
          </p:cNvPr>
          <p:cNvSpPr/>
          <p:nvPr/>
        </p:nvSpPr>
        <p:spPr>
          <a:xfrm>
            <a:off x="6414325" y="967675"/>
            <a:ext cx="1965738"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Power supply is not affected</a:t>
            </a:r>
          </a:p>
        </p:txBody>
      </p:sp>
      <p:sp>
        <p:nvSpPr>
          <p:cNvPr id="104" name="Rectangle 103">
            <a:extLst>
              <a:ext uri="{FF2B5EF4-FFF2-40B4-BE49-F238E27FC236}">
                <a16:creationId xmlns:a16="http://schemas.microsoft.com/office/drawing/2014/main" id="{293E51A7-2F56-473A-BCFB-084759CC0310}"/>
              </a:ext>
            </a:extLst>
          </p:cNvPr>
          <p:cNvSpPr/>
          <p:nvPr/>
        </p:nvSpPr>
        <p:spPr>
          <a:xfrm>
            <a:off x="6394839" y="1603784"/>
            <a:ext cx="1985224"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Changing pallet no different</a:t>
            </a:r>
          </a:p>
        </p:txBody>
      </p:sp>
      <p:sp>
        <p:nvSpPr>
          <p:cNvPr id="106" name="Rectangle 105">
            <a:extLst>
              <a:ext uri="{FF2B5EF4-FFF2-40B4-BE49-F238E27FC236}">
                <a16:creationId xmlns:a16="http://schemas.microsoft.com/office/drawing/2014/main" id="{E26365BE-C1C2-40A3-AA3C-F648D3A85333}"/>
              </a:ext>
            </a:extLst>
          </p:cNvPr>
          <p:cNvSpPr/>
          <p:nvPr/>
        </p:nvSpPr>
        <p:spPr>
          <a:xfrm>
            <a:off x="6421698" y="2339739"/>
            <a:ext cx="1958365"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Change new camera </a:t>
            </a:r>
          </a:p>
        </p:txBody>
      </p:sp>
      <p:sp>
        <p:nvSpPr>
          <p:cNvPr id="107" name="Rectangle 106">
            <a:extLst>
              <a:ext uri="{FF2B5EF4-FFF2-40B4-BE49-F238E27FC236}">
                <a16:creationId xmlns:a16="http://schemas.microsoft.com/office/drawing/2014/main" id="{ACC36094-8B79-406C-AD09-9862013612E5}"/>
              </a:ext>
            </a:extLst>
          </p:cNvPr>
          <p:cNvSpPr/>
          <p:nvPr/>
        </p:nvSpPr>
        <p:spPr>
          <a:xfrm>
            <a:off x="6409400" y="6271041"/>
            <a:ext cx="1970664"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Man is not related</a:t>
            </a:r>
          </a:p>
        </p:txBody>
      </p:sp>
      <p:cxnSp>
        <p:nvCxnSpPr>
          <p:cNvPr id="144" name="Straight Arrow Connector 143">
            <a:extLst>
              <a:ext uri="{FF2B5EF4-FFF2-40B4-BE49-F238E27FC236}">
                <a16:creationId xmlns:a16="http://schemas.microsoft.com/office/drawing/2014/main" id="{F6348AC4-7CC7-4562-A5F4-3D08FCFA7F86}"/>
              </a:ext>
            </a:extLst>
          </p:cNvPr>
          <p:cNvCxnSpPr>
            <a:cxnSpLocks/>
            <a:stCxn id="75" idx="3"/>
            <a:endCxn id="107" idx="1"/>
          </p:cNvCxnSpPr>
          <p:nvPr/>
        </p:nvCxnSpPr>
        <p:spPr>
          <a:xfrm>
            <a:off x="6091075" y="6540916"/>
            <a:ext cx="318325"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9" name="Rectangle 148">
            <a:extLst>
              <a:ext uri="{FF2B5EF4-FFF2-40B4-BE49-F238E27FC236}">
                <a16:creationId xmlns:a16="http://schemas.microsoft.com/office/drawing/2014/main" id="{A460B8F4-80BE-49C8-89CB-A5C7E9A567C0}"/>
              </a:ext>
            </a:extLst>
          </p:cNvPr>
          <p:cNvSpPr/>
          <p:nvPr/>
        </p:nvSpPr>
        <p:spPr>
          <a:xfrm>
            <a:off x="1651384" y="4355386"/>
            <a:ext cx="1138837"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Material</a:t>
            </a:r>
          </a:p>
        </p:txBody>
      </p:sp>
      <p:sp>
        <p:nvSpPr>
          <p:cNvPr id="150" name="Rectangle 149">
            <a:extLst>
              <a:ext uri="{FF2B5EF4-FFF2-40B4-BE49-F238E27FC236}">
                <a16:creationId xmlns:a16="http://schemas.microsoft.com/office/drawing/2014/main" id="{0103916A-A389-4D0B-82E8-4E5DD92F975F}"/>
              </a:ext>
            </a:extLst>
          </p:cNvPr>
          <p:cNvSpPr/>
          <p:nvPr/>
        </p:nvSpPr>
        <p:spPr>
          <a:xfrm>
            <a:off x="1636823" y="5002816"/>
            <a:ext cx="116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Method</a:t>
            </a:r>
          </a:p>
        </p:txBody>
      </p:sp>
      <p:sp>
        <p:nvSpPr>
          <p:cNvPr id="151" name="Rectangle 150">
            <a:extLst>
              <a:ext uri="{FF2B5EF4-FFF2-40B4-BE49-F238E27FC236}">
                <a16:creationId xmlns:a16="http://schemas.microsoft.com/office/drawing/2014/main" id="{6DDBBEBB-5CA9-48F3-8807-40C42BCDD09A}"/>
              </a:ext>
            </a:extLst>
          </p:cNvPr>
          <p:cNvSpPr/>
          <p:nvPr/>
        </p:nvSpPr>
        <p:spPr>
          <a:xfrm>
            <a:off x="4684883" y="4355386"/>
            <a:ext cx="1430006"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sym typeface="Wingdings" panose="05000000000000000000" pitchFamily="2" charset="2"/>
              </a:rPr>
              <a:t>Return LCD and check on vendor </a:t>
            </a: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sym typeface="Wingdings" panose="05000000000000000000" pitchFamily="2" charset="2"/>
              </a:rPr>
              <a:t> result is OK</a:t>
            </a:r>
            <a:endParaRPr lang="en-US"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52" name="Rectangle 151">
            <a:extLst>
              <a:ext uri="{FF2B5EF4-FFF2-40B4-BE49-F238E27FC236}">
                <a16:creationId xmlns:a16="http://schemas.microsoft.com/office/drawing/2014/main" id="{3AD0F078-8893-47B3-AAA2-B875B6B049B4}"/>
              </a:ext>
            </a:extLst>
          </p:cNvPr>
          <p:cNvSpPr/>
          <p:nvPr/>
        </p:nvSpPr>
        <p:spPr>
          <a:xfrm>
            <a:off x="3118103" y="4355386"/>
            <a:ext cx="1263872"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Set</a:t>
            </a:r>
          </a:p>
        </p:txBody>
      </p:sp>
      <p:cxnSp>
        <p:nvCxnSpPr>
          <p:cNvPr id="154" name="Straight Arrow Connector 153">
            <a:extLst>
              <a:ext uri="{FF2B5EF4-FFF2-40B4-BE49-F238E27FC236}">
                <a16:creationId xmlns:a16="http://schemas.microsoft.com/office/drawing/2014/main" id="{2EF4C1BB-E769-49BE-82E8-09AC2E114D3D}"/>
              </a:ext>
            </a:extLst>
          </p:cNvPr>
          <p:cNvCxnSpPr>
            <a:cxnSpLocks/>
            <a:stCxn id="152" idx="3"/>
            <a:endCxn id="151" idx="1"/>
          </p:cNvCxnSpPr>
          <p:nvPr/>
        </p:nvCxnSpPr>
        <p:spPr>
          <a:xfrm>
            <a:off x="4381975" y="4625261"/>
            <a:ext cx="302908"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5" name="Rectangle 154">
            <a:extLst>
              <a:ext uri="{FF2B5EF4-FFF2-40B4-BE49-F238E27FC236}">
                <a16:creationId xmlns:a16="http://schemas.microsoft.com/office/drawing/2014/main" id="{C7D61E8F-3848-40A1-938A-C00B0BD74350}"/>
              </a:ext>
            </a:extLst>
          </p:cNvPr>
          <p:cNvSpPr/>
          <p:nvPr/>
        </p:nvSpPr>
        <p:spPr>
          <a:xfrm>
            <a:off x="6409400" y="4355386"/>
            <a:ext cx="1970664"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LCD is not affected</a:t>
            </a:r>
          </a:p>
        </p:txBody>
      </p:sp>
      <p:cxnSp>
        <p:nvCxnSpPr>
          <p:cNvPr id="157" name="Straight Arrow Connector 156">
            <a:extLst>
              <a:ext uri="{FF2B5EF4-FFF2-40B4-BE49-F238E27FC236}">
                <a16:creationId xmlns:a16="http://schemas.microsoft.com/office/drawing/2014/main" id="{0099F56D-264D-4C71-87E1-E36D5E5023CF}"/>
              </a:ext>
            </a:extLst>
          </p:cNvPr>
          <p:cNvCxnSpPr>
            <a:cxnSpLocks/>
            <a:stCxn id="151" idx="3"/>
            <a:endCxn id="155" idx="1"/>
          </p:cNvCxnSpPr>
          <p:nvPr/>
        </p:nvCxnSpPr>
        <p:spPr>
          <a:xfrm>
            <a:off x="6114889" y="4625261"/>
            <a:ext cx="294511"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Straight Arrow Connector 160">
            <a:extLst>
              <a:ext uri="{FF2B5EF4-FFF2-40B4-BE49-F238E27FC236}">
                <a16:creationId xmlns:a16="http://schemas.microsoft.com/office/drawing/2014/main" id="{8467BE26-3B27-40D6-82FD-EC081804E80A}"/>
              </a:ext>
            </a:extLst>
          </p:cNvPr>
          <p:cNvCxnSpPr>
            <a:stCxn id="149" idx="3"/>
            <a:endCxn id="152" idx="1"/>
          </p:cNvCxnSpPr>
          <p:nvPr/>
        </p:nvCxnSpPr>
        <p:spPr>
          <a:xfrm>
            <a:off x="2790221" y="4625261"/>
            <a:ext cx="327882"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Elbow Connector 11">
            <a:extLst>
              <a:ext uri="{FF2B5EF4-FFF2-40B4-BE49-F238E27FC236}">
                <a16:creationId xmlns:a16="http://schemas.microsoft.com/office/drawing/2014/main" id="{2108C2DB-4457-487E-B74E-832776759959}"/>
              </a:ext>
            </a:extLst>
          </p:cNvPr>
          <p:cNvCxnSpPr>
            <a:cxnSpLocks/>
            <a:stCxn id="73" idx="3"/>
            <a:endCxn id="149" idx="1"/>
          </p:cNvCxnSpPr>
          <p:nvPr/>
        </p:nvCxnSpPr>
        <p:spPr>
          <a:xfrm>
            <a:off x="1324999" y="3425883"/>
            <a:ext cx="326385" cy="1199378"/>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Elbow Connector 11">
            <a:extLst>
              <a:ext uri="{FF2B5EF4-FFF2-40B4-BE49-F238E27FC236}">
                <a16:creationId xmlns:a16="http://schemas.microsoft.com/office/drawing/2014/main" id="{A8539414-FDD4-4ED4-AF7D-6DD857B0A62B}"/>
              </a:ext>
            </a:extLst>
          </p:cNvPr>
          <p:cNvCxnSpPr>
            <a:stCxn id="73" idx="3"/>
            <a:endCxn id="150" idx="1"/>
          </p:cNvCxnSpPr>
          <p:nvPr/>
        </p:nvCxnSpPr>
        <p:spPr>
          <a:xfrm>
            <a:off x="1324999" y="3425883"/>
            <a:ext cx="311824" cy="1846808"/>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4" name="Rectangle 163">
            <a:extLst>
              <a:ext uri="{FF2B5EF4-FFF2-40B4-BE49-F238E27FC236}">
                <a16:creationId xmlns:a16="http://schemas.microsoft.com/office/drawing/2014/main" id="{B4C87628-BF12-40D4-9A9A-68CDD2BF67F1}"/>
              </a:ext>
            </a:extLst>
          </p:cNvPr>
          <p:cNvSpPr/>
          <p:nvPr/>
        </p:nvSpPr>
        <p:spPr>
          <a:xfrm>
            <a:off x="3103541" y="5002816"/>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Sequence test, timing</a:t>
            </a:r>
          </a:p>
        </p:txBody>
      </p:sp>
      <p:cxnSp>
        <p:nvCxnSpPr>
          <p:cNvPr id="165" name="Straight Arrow Connector 164">
            <a:extLst>
              <a:ext uri="{FF2B5EF4-FFF2-40B4-BE49-F238E27FC236}">
                <a16:creationId xmlns:a16="http://schemas.microsoft.com/office/drawing/2014/main" id="{1D50A4B6-DF5E-4323-9BED-2E5C23A78571}"/>
              </a:ext>
            </a:extLst>
          </p:cNvPr>
          <p:cNvCxnSpPr>
            <a:stCxn id="150" idx="3"/>
            <a:endCxn id="164" idx="1"/>
          </p:cNvCxnSpPr>
          <p:nvPr/>
        </p:nvCxnSpPr>
        <p:spPr>
          <a:xfrm>
            <a:off x="2802048" y="5272691"/>
            <a:ext cx="301493"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6" name="Rectangle 165">
            <a:extLst>
              <a:ext uri="{FF2B5EF4-FFF2-40B4-BE49-F238E27FC236}">
                <a16:creationId xmlns:a16="http://schemas.microsoft.com/office/drawing/2014/main" id="{2076F5FA-D971-4E47-82BE-E8A1D3F94816}"/>
              </a:ext>
            </a:extLst>
          </p:cNvPr>
          <p:cNvSpPr/>
          <p:nvPr/>
        </p:nvSpPr>
        <p:spPr>
          <a:xfrm>
            <a:off x="4704913" y="5002816"/>
            <a:ext cx="143000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Sequence is used for all model, but only this model have issue</a:t>
            </a:r>
          </a:p>
        </p:txBody>
      </p:sp>
      <p:cxnSp>
        <p:nvCxnSpPr>
          <p:cNvPr id="168" name="Straight Arrow Connector 167">
            <a:extLst>
              <a:ext uri="{FF2B5EF4-FFF2-40B4-BE49-F238E27FC236}">
                <a16:creationId xmlns:a16="http://schemas.microsoft.com/office/drawing/2014/main" id="{55DC3AAF-635D-41C2-8877-A829B844A728}"/>
              </a:ext>
            </a:extLst>
          </p:cNvPr>
          <p:cNvCxnSpPr>
            <a:cxnSpLocks/>
            <a:stCxn id="164" idx="3"/>
            <a:endCxn id="166" idx="1"/>
          </p:cNvCxnSpPr>
          <p:nvPr/>
        </p:nvCxnSpPr>
        <p:spPr>
          <a:xfrm>
            <a:off x="4400114" y="5272691"/>
            <a:ext cx="30479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0" name="Rectangle 169">
            <a:extLst>
              <a:ext uri="{FF2B5EF4-FFF2-40B4-BE49-F238E27FC236}">
                <a16:creationId xmlns:a16="http://schemas.microsoft.com/office/drawing/2014/main" id="{FE6039A6-3D38-448A-8C19-55ADC48F64FD}"/>
              </a:ext>
            </a:extLst>
          </p:cNvPr>
          <p:cNvSpPr/>
          <p:nvPr/>
        </p:nvSpPr>
        <p:spPr>
          <a:xfrm>
            <a:off x="6394839" y="5002816"/>
            <a:ext cx="198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Sequence is not affected</a:t>
            </a:r>
          </a:p>
        </p:txBody>
      </p:sp>
      <p:cxnSp>
        <p:nvCxnSpPr>
          <p:cNvPr id="173" name="Straight Arrow Connector 172">
            <a:extLst>
              <a:ext uri="{FF2B5EF4-FFF2-40B4-BE49-F238E27FC236}">
                <a16:creationId xmlns:a16="http://schemas.microsoft.com/office/drawing/2014/main" id="{F555F9C6-D9E2-4FF4-B104-ECEC3D3E2660}"/>
              </a:ext>
            </a:extLst>
          </p:cNvPr>
          <p:cNvCxnSpPr>
            <a:cxnSpLocks/>
            <a:stCxn id="166" idx="3"/>
            <a:endCxn id="170" idx="1"/>
          </p:cNvCxnSpPr>
          <p:nvPr/>
        </p:nvCxnSpPr>
        <p:spPr>
          <a:xfrm>
            <a:off x="6134918" y="5272691"/>
            <a:ext cx="259921"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4" name="Rectangle 173">
            <a:extLst>
              <a:ext uri="{FF2B5EF4-FFF2-40B4-BE49-F238E27FC236}">
                <a16:creationId xmlns:a16="http://schemas.microsoft.com/office/drawing/2014/main" id="{8F08C70E-C661-4A4A-A32D-07D838FE4A52}"/>
              </a:ext>
            </a:extLst>
          </p:cNvPr>
          <p:cNvSpPr/>
          <p:nvPr/>
        </p:nvSpPr>
        <p:spPr>
          <a:xfrm>
            <a:off x="4711158" y="5646868"/>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Other function is OK, only Luminance is NG</a:t>
            </a:r>
          </a:p>
        </p:txBody>
      </p:sp>
      <p:sp>
        <p:nvSpPr>
          <p:cNvPr id="175" name="Rectangle 174">
            <a:extLst>
              <a:ext uri="{FF2B5EF4-FFF2-40B4-BE49-F238E27FC236}">
                <a16:creationId xmlns:a16="http://schemas.microsoft.com/office/drawing/2014/main" id="{B895C442-E39F-4F78-9F50-F0A2DC18C153}"/>
              </a:ext>
            </a:extLst>
          </p:cNvPr>
          <p:cNvSpPr/>
          <p:nvPr/>
        </p:nvSpPr>
        <p:spPr>
          <a:xfrm>
            <a:off x="3109785" y="5646868"/>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Plug in set to pallet not fully</a:t>
            </a:r>
          </a:p>
        </p:txBody>
      </p:sp>
      <p:cxnSp>
        <p:nvCxnSpPr>
          <p:cNvPr id="176" name="Straight Arrow Connector 175">
            <a:extLst>
              <a:ext uri="{FF2B5EF4-FFF2-40B4-BE49-F238E27FC236}">
                <a16:creationId xmlns:a16="http://schemas.microsoft.com/office/drawing/2014/main" id="{C530E187-51B7-4142-AC22-C60B4DBD0D5C}"/>
              </a:ext>
            </a:extLst>
          </p:cNvPr>
          <p:cNvCxnSpPr>
            <a:stCxn id="175" idx="3"/>
            <a:endCxn id="174" idx="1"/>
          </p:cNvCxnSpPr>
          <p:nvPr/>
        </p:nvCxnSpPr>
        <p:spPr>
          <a:xfrm>
            <a:off x="4406358" y="5916743"/>
            <a:ext cx="304800"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7" name="Rectangle 176">
            <a:extLst>
              <a:ext uri="{FF2B5EF4-FFF2-40B4-BE49-F238E27FC236}">
                <a16:creationId xmlns:a16="http://schemas.microsoft.com/office/drawing/2014/main" id="{23F39FC5-DB21-4BF0-B0ED-09C2FE172F84}"/>
              </a:ext>
            </a:extLst>
          </p:cNvPr>
          <p:cNvSpPr/>
          <p:nvPr/>
        </p:nvSpPr>
        <p:spPr>
          <a:xfrm>
            <a:off x="6401083" y="5646868"/>
            <a:ext cx="1978981"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Not relate to set plugging in</a:t>
            </a:r>
          </a:p>
        </p:txBody>
      </p:sp>
      <p:cxnSp>
        <p:nvCxnSpPr>
          <p:cNvPr id="178" name="Straight Arrow Connector 177">
            <a:extLst>
              <a:ext uri="{FF2B5EF4-FFF2-40B4-BE49-F238E27FC236}">
                <a16:creationId xmlns:a16="http://schemas.microsoft.com/office/drawing/2014/main" id="{ABB10B07-3DA1-42EA-859D-3CF7A3708297}"/>
              </a:ext>
            </a:extLst>
          </p:cNvPr>
          <p:cNvCxnSpPr>
            <a:cxnSpLocks/>
            <a:stCxn id="174" idx="3"/>
            <a:endCxn id="177" idx="1"/>
          </p:cNvCxnSpPr>
          <p:nvPr/>
        </p:nvCxnSpPr>
        <p:spPr>
          <a:xfrm>
            <a:off x="6082758" y="5916743"/>
            <a:ext cx="318325"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9" name="Elbow Connector 98">
            <a:extLst>
              <a:ext uri="{FF2B5EF4-FFF2-40B4-BE49-F238E27FC236}">
                <a16:creationId xmlns:a16="http://schemas.microsoft.com/office/drawing/2014/main" id="{E6BD7F65-64F4-4BC6-8A09-AA53ECEE1177}"/>
              </a:ext>
            </a:extLst>
          </p:cNvPr>
          <p:cNvCxnSpPr>
            <a:stCxn id="74" idx="3"/>
            <a:endCxn id="80" idx="1"/>
          </p:cNvCxnSpPr>
          <p:nvPr/>
        </p:nvCxnSpPr>
        <p:spPr>
          <a:xfrm>
            <a:off x="2816609" y="6214759"/>
            <a:ext cx="301493" cy="326157"/>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0" name="Elbow Connector 98">
            <a:extLst>
              <a:ext uri="{FF2B5EF4-FFF2-40B4-BE49-F238E27FC236}">
                <a16:creationId xmlns:a16="http://schemas.microsoft.com/office/drawing/2014/main" id="{1ADB74E5-B249-445C-B177-17CEE8F659B2}"/>
              </a:ext>
            </a:extLst>
          </p:cNvPr>
          <p:cNvCxnSpPr>
            <a:stCxn id="74" idx="3"/>
            <a:endCxn id="175" idx="1"/>
          </p:cNvCxnSpPr>
          <p:nvPr/>
        </p:nvCxnSpPr>
        <p:spPr>
          <a:xfrm flipV="1">
            <a:off x="2816609" y="5916743"/>
            <a:ext cx="293176" cy="298016"/>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9F3DF8AA-61E9-45AC-A326-EEC96FD43AA4}"/>
              </a:ext>
            </a:extLst>
          </p:cNvPr>
          <p:cNvSpPr txBox="1"/>
          <p:nvPr/>
        </p:nvSpPr>
        <p:spPr>
          <a:xfrm>
            <a:off x="8192469" y="2232808"/>
            <a:ext cx="357885" cy="369332"/>
          </a:xfrm>
          <a:prstGeom prst="rect">
            <a:avLst/>
          </a:prstGeom>
          <a:noFill/>
        </p:spPr>
        <p:txBody>
          <a:bodyPr wrap="square" rtlCol="0">
            <a:sp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84" name="TextBox 183">
            <a:extLst>
              <a:ext uri="{FF2B5EF4-FFF2-40B4-BE49-F238E27FC236}">
                <a16:creationId xmlns:a16="http://schemas.microsoft.com/office/drawing/2014/main" id="{100AD42B-DE28-44C1-9F87-EC6EEC4098F1}"/>
              </a:ext>
            </a:extLst>
          </p:cNvPr>
          <p:cNvSpPr txBox="1"/>
          <p:nvPr/>
        </p:nvSpPr>
        <p:spPr>
          <a:xfrm>
            <a:off x="8441892" y="6504761"/>
            <a:ext cx="180000" cy="369332"/>
          </a:xfrm>
          <a:prstGeom prst="rect">
            <a:avLst/>
          </a:prstGeom>
          <a:noFill/>
        </p:spPr>
        <p:txBody>
          <a:bodyPr wrap="square" rtlCol="0">
            <a:no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85" name="TextBox 184">
            <a:extLst>
              <a:ext uri="{FF2B5EF4-FFF2-40B4-BE49-F238E27FC236}">
                <a16:creationId xmlns:a16="http://schemas.microsoft.com/office/drawing/2014/main" id="{E9206562-A479-4925-9BC1-FF6A9BBDE250}"/>
              </a:ext>
            </a:extLst>
          </p:cNvPr>
          <p:cNvSpPr txBox="1"/>
          <p:nvPr/>
        </p:nvSpPr>
        <p:spPr>
          <a:xfrm>
            <a:off x="8694077" y="6560610"/>
            <a:ext cx="1234633" cy="261610"/>
          </a:xfrm>
          <a:prstGeom prst="rect">
            <a:avLst/>
          </a:prstGeom>
          <a:noFill/>
        </p:spPr>
        <p:txBody>
          <a:bodyPr wrap="none" rtlCol="0">
            <a:spAutoFit/>
          </a:bodyPr>
          <a:lstStyle/>
          <a:p>
            <a:pPr eaLnBrk="1" latinLnBrk="0"/>
            <a:r>
              <a:rPr lang="en-US" sz="10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88" name="Rectangle 187">
            <a:extLst>
              <a:ext uri="{FF2B5EF4-FFF2-40B4-BE49-F238E27FC236}">
                <a16:creationId xmlns:a16="http://schemas.microsoft.com/office/drawing/2014/main" id="{78AD3491-CD21-48CA-ADF9-A64AE6C8A009}"/>
              </a:ext>
            </a:extLst>
          </p:cNvPr>
          <p:cNvSpPr/>
          <p:nvPr/>
        </p:nvSpPr>
        <p:spPr>
          <a:xfrm>
            <a:off x="4743289" y="3016995"/>
            <a:ext cx="1371600"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Camera Angle is changed</a:t>
            </a:r>
          </a:p>
        </p:txBody>
      </p:sp>
      <p:sp>
        <p:nvSpPr>
          <p:cNvPr id="189" name="Rectangle 188">
            <a:extLst>
              <a:ext uri="{FF2B5EF4-FFF2-40B4-BE49-F238E27FC236}">
                <a16:creationId xmlns:a16="http://schemas.microsoft.com/office/drawing/2014/main" id="{189A6C18-A8FA-4996-8E52-61C097CBED86}"/>
              </a:ext>
            </a:extLst>
          </p:cNvPr>
          <p:cNvSpPr/>
          <p:nvPr/>
        </p:nvSpPr>
        <p:spPr>
          <a:xfrm>
            <a:off x="6416856" y="3021755"/>
            <a:ext cx="1963208"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Change angle of camera</a:t>
            </a:r>
          </a:p>
        </p:txBody>
      </p:sp>
      <p:sp>
        <p:nvSpPr>
          <p:cNvPr id="190" name="Text Box 2">
            <a:extLst>
              <a:ext uri="{FF2B5EF4-FFF2-40B4-BE49-F238E27FC236}">
                <a16:creationId xmlns:a16="http://schemas.microsoft.com/office/drawing/2014/main" id="{388E17BD-8641-4FEC-A5A8-2A21B1B0CD89}"/>
              </a:ext>
            </a:extLst>
          </p:cNvPr>
          <p:cNvSpPr txBox="1">
            <a:spLocks noChangeArrowheads="1"/>
          </p:cNvSpPr>
          <p:nvPr/>
        </p:nvSpPr>
        <p:spPr bwMode="auto">
          <a:xfrm>
            <a:off x="-38384" y="552932"/>
            <a:ext cx="9825377" cy="304800"/>
          </a:xfrm>
          <a:prstGeom prst="rect">
            <a:avLst/>
          </a:prstGeom>
          <a:noFill/>
          <a:ln w="9525" algn="ctr">
            <a:noFill/>
            <a:miter lim="800000"/>
            <a:headEnd/>
            <a:tailEnd/>
          </a:ln>
        </p:spPr>
        <p:txBody>
          <a:bodyPr lIns="84374" tIns="42187" rIns="84374" bIns="42187" anchor="ctr"/>
          <a:lstStyle/>
          <a:p>
            <a:pPr defTabSz="844083" eaLnBrk="1" fontAlgn="base" latinLnBrk="0">
              <a:spcBef>
                <a:spcPct val="0"/>
              </a:spcBef>
              <a:spcAft>
                <a:spcPct val="0"/>
              </a:spcAft>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After the Type 1 study, we see that the measurement system of the Luminance station has problems, so a logic tree is used to find the root cause</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91" name="AutoShape 55">
            <a:extLst>
              <a:ext uri="{FF2B5EF4-FFF2-40B4-BE49-F238E27FC236}">
                <a16:creationId xmlns:a16="http://schemas.microsoft.com/office/drawing/2014/main" id="{CBB9EF69-BB7B-4362-AF27-5EC61A24968A}"/>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92" name="AutoShape 56">
            <a:extLst>
              <a:ext uri="{FF2B5EF4-FFF2-40B4-BE49-F238E27FC236}">
                <a16:creationId xmlns:a16="http://schemas.microsoft.com/office/drawing/2014/main" id="{899114A1-A363-4B04-A11E-ECA42BBFABBB}"/>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94" name="AutoShape 59">
            <a:extLst>
              <a:ext uri="{FF2B5EF4-FFF2-40B4-BE49-F238E27FC236}">
                <a16:creationId xmlns:a16="http://schemas.microsoft.com/office/drawing/2014/main" id="{189FE38E-6AAE-4AC6-A89D-C8987F0B06F3}"/>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graphicFrame>
        <p:nvGraphicFramePr>
          <p:cNvPr id="4" name="Object 3">
            <a:hlinkClick r:id="" action="ppaction://ole?verb=0"/>
            <a:extLst>
              <a:ext uri="{FF2B5EF4-FFF2-40B4-BE49-F238E27FC236}">
                <a16:creationId xmlns:a16="http://schemas.microsoft.com/office/drawing/2014/main" id="{CE5C7E09-1A6D-40CA-984C-4350A69E000C}"/>
              </a:ext>
            </a:extLst>
          </p:cNvPr>
          <p:cNvGraphicFramePr>
            <a:graphicFrameLocks noChangeAspect="1"/>
          </p:cNvGraphicFramePr>
          <p:nvPr>
            <p:extLst>
              <p:ext uri="{D42A27DB-BD31-4B8C-83A1-F6EECF244321}">
                <p14:modId xmlns:p14="http://schemas.microsoft.com/office/powerpoint/2010/main" val="1233077575"/>
              </p:ext>
            </p:extLst>
          </p:nvPr>
        </p:nvGraphicFramePr>
        <p:xfrm>
          <a:off x="9291889" y="2477855"/>
          <a:ext cx="495105" cy="417745"/>
        </p:xfrm>
        <a:graphic>
          <a:graphicData uri="http://schemas.openxmlformats.org/presentationml/2006/ole">
            <mc:AlternateContent xmlns:mc="http://schemas.openxmlformats.org/markup-compatibility/2006">
              <mc:Choice xmlns:v="urn:schemas-microsoft-com:vml" Requires="v">
                <p:oleObj name="Presentation" showAsIcon="1" r:id="rId3" imgW="914400" imgH="771792" progId="PowerPoint.Show.12">
                  <p:embed/>
                </p:oleObj>
              </mc:Choice>
              <mc:Fallback>
                <p:oleObj name="Presentation" showAsIcon="1" r:id="rId3" imgW="914400" imgH="771792" progId="PowerPoint.Show.12">
                  <p:embed/>
                  <p:pic>
                    <p:nvPicPr>
                      <p:cNvPr id="0" name=""/>
                      <p:cNvPicPr/>
                      <p:nvPr/>
                    </p:nvPicPr>
                    <p:blipFill>
                      <a:blip r:embed="rId4"/>
                      <a:stretch>
                        <a:fillRect/>
                      </a:stretch>
                    </p:blipFill>
                    <p:spPr>
                      <a:xfrm>
                        <a:off x="9291889" y="2477855"/>
                        <a:ext cx="495105" cy="417745"/>
                      </a:xfrm>
                      <a:prstGeom prst="rect">
                        <a:avLst/>
                      </a:prstGeom>
                    </p:spPr>
                  </p:pic>
                </p:oleObj>
              </mc:Fallback>
            </mc:AlternateContent>
          </a:graphicData>
        </a:graphic>
      </p:graphicFrame>
      <p:graphicFrame>
        <p:nvGraphicFramePr>
          <p:cNvPr id="5" name="Object 4">
            <a:hlinkClick r:id="" action="ppaction://ole?verb=0"/>
            <a:extLst>
              <a:ext uri="{FF2B5EF4-FFF2-40B4-BE49-F238E27FC236}">
                <a16:creationId xmlns:a16="http://schemas.microsoft.com/office/drawing/2014/main" id="{C929FD74-D7E2-40CF-AC12-F07CA7B9DE9E}"/>
              </a:ext>
            </a:extLst>
          </p:cNvPr>
          <p:cNvGraphicFramePr>
            <a:graphicFrameLocks noChangeAspect="1"/>
          </p:cNvGraphicFramePr>
          <p:nvPr>
            <p:extLst>
              <p:ext uri="{D42A27DB-BD31-4B8C-83A1-F6EECF244321}">
                <p14:modId xmlns:p14="http://schemas.microsoft.com/office/powerpoint/2010/main" val="1657059760"/>
              </p:ext>
            </p:extLst>
          </p:nvPr>
        </p:nvGraphicFramePr>
        <p:xfrm>
          <a:off x="9291888" y="4469007"/>
          <a:ext cx="495105" cy="417745"/>
        </p:xfrm>
        <a:graphic>
          <a:graphicData uri="http://schemas.openxmlformats.org/presentationml/2006/ole">
            <mc:AlternateContent xmlns:mc="http://schemas.openxmlformats.org/markup-compatibility/2006">
              <mc:Choice xmlns:v="urn:schemas-microsoft-com:vml" Requires="v">
                <p:oleObj name="Presentation" showAsIcon="1" r:id="rId5" imgW="914400" imgH="771792" progId="PowerPoint.Show.12">
                  <p:embed/>
                </p:oleObj>
              </mc:Choice>
              <mc:Fallback>
                <p:oleObj name="Presentation" showAsIcon="1" r:id="rId5" imgW="914400" imgH="771792" progId="PowerPoint.Show.12">
                  <p:embed/>
                  <p:pic>
                    <p:nvPicPr>
                      <p:cNvPr id="0" name=""/>
                      <p:cNvPicPr/>
                      <p:nvPr/>
                    </p:nvPicPr>
                    <p:blipFill>
                      <a:blip r:embed="rId6"/>
                      <a:stretch>
                        <a:fillRect/>
                      </a:stretch>
                    </p:blipFill>
                    <p:spPr>
                      <a:xfrm>
                        <a:off x="9291888" y="4469007"/>
                        <a:ext cx="495105" cy="417745"/>
                      </a:xfrm>
                      <a:prstGeom prst="rect">
                        <a:avLst/>
                      </a:prstGeom>
                    </p:spPr>
                  </p:pic>
                </p:oleObj>
              </mc:Fallback>
            </mc:AlternateContent>
          </a:graphicData>
        </a:graphic>
      </p:graphicFrame>
      <p:sp>
        <p:nvSpPr>
          <p:cNvPr id="182" name="TextBox 181">
            <a:extLst>
              <a:ext uri="{FF2B5EF4-FFF2-40B4-BE49-F238E27FC236}">
                <a16:creationId xmlns:a16="http://schemas.microsoft.com/office/drawing/2014/main" id="{131D16A1-B68B-4A32-87D0-AB885CC09560}"/>
              </a:ext>
            </a:extLst>
          </p:cNvPr>
          <p:cNvSpPr txBox="1"/>
          <p:nvPr/>
        </p:nvSpPr>
        <p:spPr>
          <a:xfrm>
            <a:off x="8229086" y="2975692"/>
            <a:ext cx="357885" cy="369332"/>
          </a:xfrm>
          <a:prstGeom prst="rect">
            <a:avLst/>
          </a:prstGeom>
          <a:noFill/>
        </p:spPr>
        <p:txBody>
          <a:bodyPr wrap="square" rtlCol="0">
            <a:sp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97" name="Rectangle 96">
            <a:extLst>
              <a:ext uri="{FF2B5EF4-FFF2-40B4-BE49-F238E27FC236}">
                <a16:creationId xmlns:a16="http://schemas.microsoft.com/office/drawing/2014/main" id="{F4C9CF36-A57D-4285-8408-0B6B8AEFD0E4}"/>
              </a:ext>
            </a:extLst>
          </p:cNvPr>
          <p:cNvSpPr/>
          <p:nvPr/>
        </p:nvSpPr>
        <p:spPr>
          <a:xfrm>
            <a:off x="3118102" y="3625915"/>
            <a:ext cx="1296573"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CANSIM</a:t>
            </a:r>
          </a:p>
        </p:txBody>
      </p:sp>
      <p:sp>
        <p:nvSpPr>
          <p:cNvPr id="98" name="Rectangle 97">
            <a:extLst>
              <a:ext uri="{FF2B5EF4-FFF2-40B4-BE49-F238E27FC236}">
                <a16:creationId xmlns:a16="http://schemas.microsoft.com/office/drawing/2014/main" id="{75994054-C7FA-4934-9ED4-D403523FBE00}"/>
              </a:ext>
            </a:extLst>
          </p:cNvPr>
          <p:cNvSpPr/>
          <p:nvPr/>
        </p:nvSpPr>
        <p:spPr>
          <a:xfrm>
            <a:off x="4735833" y="3625915"/>
            <a:ext cx="1371600" cy="539750"/>
          </a:xfrm>
          <a:prstGeom prst="rect">
            <a:avLst/>
          </a:prstGeom>
          <a:solidFill>
            <a:schemeClr val="bg1">
              <a:lumMod val="95000"/>
            </a:schemeClr>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CANSIM send weak signal for LCD recognize</a:t>
            </a:r>
          </a:p>
        </p:txBody>
      </p:sp>
      <p:sp>
        <p:nvSpPr>
          <p:cNvPr id="99" name="Rectangle 98">
            <a:extLst>
              <a:ext uri="{FF2B5EF4-FFF2-40B4-BE49-F238E27FC236}">
                <a16:creationId xmlns:a16="http://schemas.microsoft.com/office/drawing/2014/main" id="{5A1F7A52-226E-4A78-A0F9-0D9A9A23EAB8}"/>
              </a:ext>
            </a:extLst>
          </p:cNvPr>
          <p:cNvSpPr/>
          <p:nvPr/>
        </p:nvSpPr>
        <p:spPr>
          <a:xfrm>
            <a:off x="6409400" y="3630675"/>
            <a:ext cx="1970664"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Change new CANSIM</a:t>
            </a:r>
          </a:p>
        </p:txBody>
      </p:sp>
      <p:sp>
        <p:nvSpPr>
          <p:cNvPr id="100" name="TextBox 99">
            <a:extLst>
              <a:ext uri="{FF2B5EF4-FFF2-40B4-BE49-F238E27FC236}">
                <a16:creationId xmlns:a16="http://schemas.microsoft.com/office/drawing/2014/main" id="{B140B348-EE79-468D-ACA4-7D910D6C585A}"/>
              </a:ext>
            </a:extLst>
          </p:cNvPr>
          <p:cNvSpPr txBox="1"/>
          <p:nvPr/>
        </p:nvSpPr>
        <p:spPr>
          <a:xfrm>
            <a:off x="8245705" y="3559095"/>
            <a:ext cx="357885" cy="369332"/>
          </a:xfrm>
          <a:prstGeom prst="rect">
            <a:avLst/>
          </a:prstGeom>
          <a:noFill/>
        </p:spPr>
        <p:txBody>
          <a:bodyPr wrap="square" rtlCol="0">
            <a:sp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cxnSp>
        <p:nvCxnSpPr>
          <p:cNvPr id="37" name="Connector: Elbow 36">
            <a:extLst>
              <a:ext uri="{FF2B5EF4-FFF2-40B4-BE49-F238E27FC236}">
                <a16:creationId xmlns:a16="http://schemas.microsoft.com/office/drawing/2014/main" id="{7A1AC0BE-D61B-4DF5-A5B3-7E662E9388EC}"/>
              </a:ext>
            </a:extLst>
          </p:cNvPr>
          <p:cNvCxnSpPr>
            <a:stCxn id="76" idx="3"/>
            <a:endCxn id="78" idx="1"/>
          </p:cNvCxnSpPr>
          <p:nvPr/>
        </p:nvCxnSpPr>
        <p:spPr bwMode="auto">
          <a:xfrm flipV="1">
            <a:off x="2783434" y="1237992"/>
            <a:ext cx="339593" cy="459240"/>
          </a:xfrm>
          <a:prstGeom prst="bentConnector3">
            <a:avLst/>
          </a:prstGeom>
          <a:noFill/>
          <a:ln w="9525" cap="flat" cmpd="sng" algn="ctr">
            <a:solidFill>
              <a:schemeClr val="tx1"/>
            </a:solidFill>
            <a:prstDash val="solid"/>
            <a:round/>
            <a:headEnd type="none" w="med" len="med"/>
            <a:tailEnd type="triangle"/>
          </a:ln>
          <a:effectLst/>
        </p:spPr>
      </p:cxnSp>
      <p:cxnSp>
        <p:nvCxnSpPr>
          <p:cNvPr id="39" name="Connector: Elbow 38">
            <a:extLst>
              <a:ext uri="{FF2B5EF4-FFF2-40B4-BE49-F238E27FC236}">
                <a16:creationId xmlns:a16="http://schemas.microsoft.com/office/drawing/2014/main" id="{815AC848-5978-4A92-9CE9-375F6E7FDBD4}"/>
              </a:ext>
            </a:extLst>
          </p:cNvPr>
          <p:cNvCxnSpPr>
            <a:stCxn id="76" idx="3"/>
            <a:endCxn id="77" idx="1"/>
          </p:cNvCxnSpPr>
          <p:nvPr/>
        </p:nvCxnSpPr>
        <p:spPr bwMode="auto">
          <a:xfrm>
            <a:off x="2783434" y="1697232"/>
            <a:ext cx="348848" cy="176427"/>
          </a:xfrm>
          <a:prstGeom prst="bentConnector3">
            <a:avLst/>
          </a:prstGeom>
          <a:noFill/>
          <a:ln w="9525" cap="flat" cmpd="sng" algn="ctr">
            <a:solidFill>
              <a:schemeClr val="tx1"/>
            </a:solidFill>
            <a:prstDash val="solid"/>
            <a:round/>
            <a:headEnd type="none" w="med" len="med"/>
            <a:tailEnd type="triangle"/>
          </a:ln>
          <a:effectLst/>
        </p:spPr>
      </p:cxnSp>
      <p:cxnSp>
        <p:nvCxnSpPr>
          <p:cNvPr id="41" name="Connector: Elbow 40">
            <a:extLst>
              <a:ext uri="{FF2B5EF4-FFF2-40B4-BE49-F238E27FC236}">
                <a16:creationId xmlns:a16="http://schemas.microsoft.com/office/drawing/2014/main" id="{7C42D187-FF46-4A63-9E9D-A025BC7CC663}"/>
              </a:ext>
            </a:extLst>
          </p:cNvPr>
          <p:cNvCxnSpPr>
            <a:stCxn id="76" idx="3"/>
            <a:endCxn id="84" idx="1"/>
          </p:cNvCxnSpPr>
          <p:nvPr/>
        </p:nvCxnSpPr>
        <p:spPr bwMode="auto">
          <a:xfrm>
            <a:off x="2783434" y="1697232"/>
            <a:ext cx="346967" cy="907622"/>
          </a:xfrm>
          <a:prstGeom prst="bentConnector3">
            <a:avLst/>
          </a:prstGeom>
          <a:noFill/>
          <a:ln w="9525" cap="flat" cmpd="sng" algn="ctr">
            <a:solidFill>
              <a:srgbClr val="FF0000"/>
            </a:solidFill>
            <a:prstDash val="solid"/>
            <a:round/>
            <a:headEnd type="none" w="med" len="med"/>
            <a:tailEnd type="triangle"/>
          </a:ln>
          <a:effectLst/>
        </p:spPr>
      </p:cxnSp>
      <p:cxnSp>
        <p:nvCxnSpPr>
          <p:cNvPr id="45" name="Connector: Elbow 44">
            <a:extLst>
              <a:ext uri="{FF2B5EF4-FFF2-40B4-BE49-F238E27FC236}">
                <a16:creationId xmlns:a16="http://schemas.microsoft.com/office/drawing/2014/main" id="{303C918B-97A1-4B86-8F1E-F6CE142A657B}"/>
              </a:ext>
            </a:extLst>
          </p:cNvPr>
          <p:cNvCxnSpPr>
            <a:stCxn id="76" idx="3"/>
            <a:endCxn id="97" idx="1"/>
          </p:cNvCxnSpPr>
          <p:nvPr/>
        </p:nvCxnSpPr>
        <p:spPr bwMode="auto">
          <a:xfrm>
            <a:off x="2783434" y="1697232"/>
            <a:ext cx="334668" cy="2198558"/>
          </a:xfrm>
          <a:prstGeom prst="bentConnector3">
            <a:avLst/>
          </a:prstGeom>
          <a:noFill/>
          <a:ln w="9525" cap="flat" cmpd="sng" algn="ctr">
            <a:solidFill>
              <a:srgbClr val="FF0000"/>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CD65241C-0538-4EDA-9433-9F69261C4D85}"/>
              </a:ext>
            </a:extLst>
          </p:cNvPr>
          <p:cNvCxnSpPr>
            <a:stCxn id="97" idx="3"/>
            <a:endCxn id="98" idx="1"/>
          </p:cNvCxnSpPr>
          <p:nvPr/>
        </p:nvCxnSpPr>
        <p:spPr bwMode="auto">
          <a:xfrm>
            <a:off x="4414675" y="3895790"/>
            <a:ext cx="321158" cy="0"/>
          </a:xfrm>
          <a:prstGeom prst="straightConnector1">
            <a:avLst/>
          </a:prstGeom>
          <a:noFill/>
          <a:ln w="9525" cap="flat" cmpd="sng" algn="ctr">
            <a:solidFill>
              <a:srgbClr val="C00000"/>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E4527899-A765-458F-8A78-A363E20CA815}"/>
              </a:ext>
            </a:extLst>
          </p:cNvPr>
          <p:cNvCxnSpPr>
            <a:stCxn id="84" idx="3"/>
            <a:endCxn id="89" idx="1"/>
          </p:cNvCxnSpPr>
          <p:nvPr/>
        </p:nvCxnSpPr>
        <p:spPr bwMode="auto">
          <a:xfrm>
            <a:off x="4426974" y="2604854"/>
            <a:ext cx="321158" cy="0"/>
          </a:xfrm>
          <a:prstGeom prst="straightConnector1">
            <a:avLst/>
          </a:prstGeom>
          <a:noFill/>
          <a:ln w="9525" cap="flat" cmpd="sng" algn="ctr">
            <a:solidFill>
              <a:srgbClr val="C00000"/>
            </a:solidFill>
            <a:prstDash val="solid"/>
            <a:round/>
            <a:headEnd type="none" w="med" len="med"/>
            <a:tailEnd type="triangle"/>
          </a:ln>
          <a:effectLst/>
        </p:spPr>
      </p:cxnSp>
      <p:cxnSp>
        <p:nvCxnSpPr>
          <p:cNvPr id="53" name="Straight Arrow Connector 52">
            <a:extLst>
              <a:ext uri="{FF2B5EF4-FFF2-40B4-BE49-F238E27FC236}">
                <a16:creationId xmlns:a16="http://schemas.microsoft.com/office/drawing/2014/main" id="{9AFC0009-2914-4210-BA1F-C7185110F42E}"/>
              </a:ext>
            </a:extLst>
          </p:cNvPr>
          <p:cNvCxnSpPr>
            <a:stCxn id="77" idx="3"/>
            <a:endCxn id="81" idx="1"/>
          </p:cNvCxnSpPr>
          <p:nvPr/>
        </p:nvCxnSpPr>
        <p:spPr bwMode="auto">
          <a:xfrm>
            <a:off x="4428855" y="1873659"/>
            <a:ext cx="304800" cy="0"/>
          </a:xfrm>
          <a:prstGeom prst="straightConnector1">
            <a:avLst/>
          </a:prstGeom>
          <a:noFill/>
          <a:ln w="9525" cap="flat" cmpd="sng" algn="ctr">
            <a:solidFill>
              <a:schemeClr val="tx1"/>
            </a:solidFill>
            <a:prstDash val="solid"/>
            <a:round/>
            <a:headEnd type="none" w="med" len="med"/>
            <a:tailEnd type="triangle"/>
          </a:ln>
          <a:effectLst/>
        </p:spPr>
      </p:cxnSp>
      <p:cxnSp>
        <p:nvCxnSpPr>
          <p:cNvPr id="55" name="Straight Arrow Connector 54">
            <a:extLst>
              <a:ext uri="{FF2B5EF4-FFF2-40B4-BE49-F238E27FC236}">
                <a16:creationId xmlns:a16="http://schemas.microsoft.com/office/drawing/2014/main" id="{6AF0FBA5-C2E8-41FC-94EA-78655BBAEBCA}"/>
              </a:ext>
            </a:extLst>
          </p:cNvPr>
          <p:cNvCxnSpPr>
            <a:stCxn id="78" idx="3"/>
            <a:endCxn id="79" idx="1"/>
          </p:cNvCxnSpPr>
          <p:nvPr/>
        </p:nvCxnSpPr>
        <p:spPr bwMode="auto">
          <a:xfrm flipV="1">
            <a:off x="4419600" y="1237550"/>
            <a:ext cx="311016" cy="442"/>
          </a:xfrm>
          <a:prstGeom prst="straightConnector1">
            <a:avLst/>
          </a:prstGeom>
          <a:noFill/>
          <a:ln w="9525" cap="flat" cmpd="sng" algn="ctr">
            <a:solidFill>
              <a:schemeClr val="tx1"/>
            </a:solidFill>
            <a:prstDash val="solid"/>
            <a:round/>
            <a:headEnd type="none" w="med" len="med"/>
            <a:tailEnd type="triangle"/>
          </a:ln>
          <a:effectLst/>
        </p:spPr>
      </p:cxnSp>
      <p:cxnSp>
        <p:nvCxnSpPr>
          <p:cNvPr id="57" name="Straight Arrow Connector 56">
            <a:extLst>
              <a:ext uri="{FF2B5EF4-FFF2-40B4-BE49-F238E27FC236}">
                <a16:creationId xmlns:a16="http://schemas.microsoft.com/office/drawing/2014/main" id="{1F3F4B1A-206F-4764-AB45-1B97FEE192AC}"/>
              </a:ext>
            </a:extLst>
          </p:cNvPr>
          <p:cNvCxnSpPr>
            <a:stCxn id="79" idx="3"/>
            <a:endCxn id="103" idx="1"/>
          </p:cNvCxnSpPr>
          <p:nvPr/>
        </p:nvCxnSpPr>
        <p:spPr bwMode="auto">
          <a:xfrm>
            <a:off x="6102216" y="1237550"/>
            <a:ext cx="312109" cy="0"/>
          </a:xfrm>
          <a:prstGeom prst="straightConnector1">
            <a:avLst/>
          </a:prstGeom>
          <a:noFill/>
          <a:ln w="9525" cap="flat" cmpd="sng" algn="ctr">
            <a:solidFill>
              <a:schemeClr val="tx1"/>
            </a:solidFill>
            <a:prstDash val="solid"/>
            <a:round/>
            <a:headEnd type="none" w="med" len="med"/>
            <a:tailEnd type="triangle"/>
          </a:ln>
          <a:effectLst/>
        </p:spPr>
      </p:cxnSp>
      <p:cxnSp>
        <p:nvCxnSpPr>
          <p:cNvPr id="59" name="Straight Arrow Connector 58">
            <a:extLst>
              <a:ext uri="{FF2B5EF4-FFF2-40B4-BE49-F238E27FC236}">
                <a16:creationId xmlns:a16="http://schemas.microsoft.com/office/drawing/2014/main" id="{4ED58CB8-EB39-4ECB-BB3D-DF765EEF23C6}"/>
              </a:ext>
            </a:extLst>
          </p:cNvPr>
          <p:cNvCxnSpPr>
            <a:stCxn id="81" idx="3"/>
            <a:endCxn id="104" idx="1"/>
          </p:cNvCxnSpPr>
          <p:nvPr/>
        </p:nvCxnSpPr>
        <p:spPr bwMode="auto">
          <a:xfrm>
            <a:off x="6105255" y="1873659"/>
            <a:ext cx="289584" cy="0"/>
          </a:xfrm>
          <a:prstGeom prst="straightConnector1">
            <a:avLst/>
          </a:prstGeom>
          <a:noFill/>
          <a:ln w="9525" cap="flat" cmpd="sng" algn="ctr">
            <a:solidFill>
              <a:schemeClr val="tx1"/>
            </a:solidFill>
            <a:prstDash val="solid"/>
            <a:round/>
            <a:headEnd type="none" w="med" len="med"/>
            <a:tailEnd type="triangle"/>
          </a:ln>
          <a:effectLst/>
        </p:spPr>
      </p:cxnSp>
      <p:cxnSp>
        <p:nvCxnSpPr>
          <p:cNvPr id="62" name="Straight Arrow Connector 61">
            <a:extLst>
              <a:ext uri="{FF2B5EF4-FFF2-40B4-BE49-F238E27FC236}">
                <a16:creationId xmlns:a16="http://schemas.microsoft.com/office/drawing/2014/main" id="{F40C8031-D0CB-4EA3-B672-41A2BAA53A8B}"/>
              </a:ext>
            </a:extLst>
          </p:cNvPr>
          <p:cNvCxnSpPr>
            <a:stCxn id="89" idx="3"/>
            <a:endCxn id="106" idx="1"/>
          </p:cNvCxnSpPr>
          <p:nvPr/>
        </p:nvCxnSpPr>
        <p:spPr bwMode="auto">
          <a:xfrm>
            <a:off x="6119732" y="2604854"/>
            <a:ext cx="301966" cy="4760"/>
          </a:xfrm>
          <a:prstGeom prst="straightConnector1">
            <a:avLst/>
          </a:prstGeom>
          <a:noFill/>
          <a:ln w="9525" cap="flat" cmpd="sng" algn="ctr">
            <a:solidFill>
              <a:srgbClr val="C00000"/>
            </a:solidFill>
            <a:prstDash val="solid"/>
            <a:round/>
            <a:headEnd type="none" w="med" len="med"/>
            <a:tailEnd type="triangle"/>
          </a:ln>
          <a:effectLst/>
        </p:spPr>
      </p:cxnSp>
      <p:cxnSp>
        <p:nvCxnSpPr>
          <p:cNvPr id="65" name="Straight Arrow Connector 64">
            <a:extLst>
              <a:ext uri="{FF2B5EF4-FFF2-40B4-BE49-F238E27FC236}">
                <a16:creationId xmlns:a16="http://schemas.microsoft.com/office/drawing/2014/main" id="{170F0DBF-836A-475B-A067-ABA424571F49}"/>
              </a:ext>
            </a:extLst>
          </p:cNvPr>
          <p:cNvCxnSpPr>
            <a:cxnSpLocks/>
            <a:stCxn id="188" idx="3"/>
            <a:endCxn id="189" idx="1"/>
          </p:cNvCxnSpPr>
          <p:nvPr/>
        </p:nvCxnSpPr>
        <p:spPr bwMode="auto">
          <a:xfrm>
            <a:off x="6114889" y="3286870"/>
            <a:ext cx="301967" cy="4760"/>
          </a:xfrm>
          <a:prstGeom prst="straightConnector1">
            <a:avLst/>
          </a:prstGeom>
          <a:noFill/>
          <a:ln w="9525" cap="flat" cmpd="sng" algn="ctr">
            <a:solidFill>
              <a:srgbClr val="C00000"/>
            </a:solidFill>
            <a:prstDash val="solid"/>
            <a:round/>
            <a:headEnd type="none" w="med" len="med"/>
            <a:tailEnd type="triangle"/>
          </a:ln>
          <a:effectLst/>
        </p:spPr>
      </p:cxnSp>
      <p:cxnSp>
        <p:nvCxnSpPr>
          <p:cNvPr id="67" name="Straight Arrow Connector 66">
            <a:extLst>
              <a:ext uri="{FF2B5EF4-FFF2-40B4-BE49-F238E27FC236}">
                <a16:creationId xmlns:a16="http://schemas.microsoft.com/office/drawing/2014/main" id="{10B380A6-82B8-4C3E-A43A-E1768E54CA4B}"/>
              </a:ext>
            </a:extLst>
          </p:cNvPr>
          <p:cNvCxnSpPr>
            <a:stCxn id="98" idx="3"/>
            <a:endCxn id="99" idx="1"/>
          </p:cNvCxnSpPr>
          <p:nvPr/>
        </p:nvCxnSpPr>
        <p:spPr bwMode="auto">
          <a:xfrm>
            <a:off x="6107433" y="3895790"/>
            <a:ext cx="301967" cy="4760"/>
          </a:xfrm>
          <a:prstGeom prst="straightConnector1">
            <a:avLst/>
          </a:prstGeom>
          <a:noFill/>
          <a:ln w="9525" cap="flat" cmpd="sng" algn="ctr">
            <a:solidFill>
              <a:srgbClr val="C00000"/>
            </a:solidFill>
            <a:prstDash val="solid"/>
            <a:round/>
            <a:headEnd type="none" w="med" len="med"/>
            <a:tailEnd type="triangle"/>
          </a:ln>
          <a:effectLst/>
        </p:spPr>
      </p:cxnSp>
      <p:sp>
        <p:nvSpPr>
          <p:cNvPr id="172" name="AutoShape 58">
            <a:extLst>
              <a:ext uri="{FF2B5EF4-FFF2-40B4-BE49-F238E27FC236}">
                <a16:creationId xmlns:a16="http://schemas.microsoft.com/office/drawing/2014/main" id="{B62677B9-888A-4840-899E-E32D64306EB5}"/>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83" name="AutoShape 57">
            <a:extLst>
              <a:ext uri="{FF2B5EF4-FFF2-40B4-BE49-F238E27FC236}">
                <a16:creationId xmlns:a16="http://schemas.microsoft.com/office/drawing/2014/main" id="{23C9CAEE-59A1-46EB-8940-8C7223841C65}"/>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cxnSp>
        <p:nvCxnSpPr>
          <p:cNvPr id="15" name="Connector: Elbow 14">
            <a:extLst>
              <a:ext uri="{FF2B5EF4-FFF2-40B4-BE49-F238E27FC236}">
                <a16:creationId xmlns:a16="http://schemas.microsoft.com/office/drawing/2014/main" id="{BCF99099-F0BF-42B7-BA7E-6881BC669740}"/>
              </a:ext>
            </a:extLst>
          </p:cNvPr>
          <p:cNvCxnSpPr>
            <a:cxnSpLocks/>
            <a:stCxn id="84" idx="3"/>
            <a:endCxn id="188" idx="1"/>
          </p:cNvCxnSpPr>
          <p:nvPr/>
        </p:nvCxnSpPr>
        <p:spPr bwMode="auto">
          <a:xfrm>
            <a:off x="4426974" y="2604854"/>
            <a:ext cx="316315" cy="682016"/>
          </a:xfrm>
          <a:prstGeom prst="bentConnector3">
            <a:avLst/>
          </a:prstGeom>
          <a:noFill/>
          <a:ln w="9525" cap="flat" cmpd="sng" algn="ctr">
            <a:solidFill>
              <a:srgbClr val="C00000"/>
            </a:solidFill>
            <a:prstDash val="solid"/>
            <a:round/>
            <a:headEnd type="none" w="med" len="med"/>
            <a:tailEnd type="triangle"/>
          </a:ln>
          <a:effectLst/>
        </p:spPr>
      </p:cxnSp>
      <p:cxnSp>
        <p:nvCxnSpPr>
          <p:cNvPr id="82" name="Straight Connector 81">
            <a:extLst>
              <a:ext uri="{FF2B5EF4-FFF2-40B4-BE49-F238E27FC236}">
                <a16:creationId xmlns:a16="http://schemas.microsoft.com/office/drawing/2014/main" id="{165D5E96-02F4-4B54-9857-CC1D4C995313}"/>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1241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xml:space="preserve">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581025" y="6631416"/>
            <a:ext cx="2133600" cy="198047"/>
          </a:xfrm>
        </p:spPr>
        <p:txBody>
          <a:bodyPr/>
          <a:lstStyle/>
          <a:p>
            <a:pPr algn="ctr" eaLnBrk="1" latinLnBrk="0"/>
            <a:r>
              <a:rPr sz="1000" b="0">
                <a:latin typeface="Arial"/>
              </a:rPr>
              <a:t>12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21" name="TextBox 120">
            <a:extLst>
              <a:ext uri="{FF2B5EF4-FFF2-40B4-BE49-F238E27FC236}">
                <a16:creationId xmlns:a16="http://schemas.microsoft.com/office/drawing/2014/main" id="{730BA61B-B65C-41A9-8B27-50F93589B063}"/>
              </a:ext>
            </a:extLst>
          </p:cNvPr>
          <p:cNvSpPr txBox="1"/>
          <p:nvPr/>
        </p:nvSpPr>
        <p:spPr>
          <a:xfrm>
            <a:off x="244673" y="6496049"/>
            <a:ext cx="1234633" cy="261610"/>
          </a:xfrm>
          <a:prstGeom prst="rect">
            <a:avLst/>
          </a:prstGeom>
          <a:noFill/>
        </p:spPr>
        <p:txBody>
          <a:bodyPr wrap="none" rtlCol="0">
            <a:spAutoFit/>
          </a:bodyPr>
          <a:lstStyle/>
          <a:p>
            <a:pPr eaLnBrk="1" latinLnBrk="0"/>
            <a:r>
              <a:rPr lang="en-US" sz="10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22" name="TextBox 121">
            <a:extLst>
              <a:ext uri="{FF2B5EF4-FFF2-40B4-BE49-F238E27FC236}">
                <a16:creationId xmlns:a16="http://schemas.microsoft.com/office/drawing/2014/main" id="{60C5646B-6776-41B4-BBD7-13F91A6E3313}"/>
              </a:ext>
            </a:extLst>
          </p:cNvPr>
          <p:cNvSpPr txBox="1"/>
          <p:nvPr/>
        </p:nvSpPr>
        <p:spPr>
          <a:xfrm>
            <a:off x="39997" y="6477386"/>
            <a:ext cx="180000" cy="374589"/>
          </a:xfrm>
          <a:prstGeom prst="rect">
            <a:avLst/>
          </a:prstGeom>
          <a:noFill/>
        </p:spPr>
        <p:txBody>
          <a:bodyPr wrap="square" rtlCol="0">
            <a:no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05" name="Text Box 2">
            <a:extLst>
              <a:ext uri="{FF2B5EF4-FFF2-40B4-BE49-F238E27FC236}">
                <a16:creationId xmlns:a16="http://schemas.microsoft.com/office/drawing/2014/main" id="{F885FEA8-2650-4BAE-BD30-177BEEB89DF5}"/>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graphicFrame>
        <p:nvGraphicFramePr>
          <p:cNvPr id="3" name="Table 2">
            <a:extLst>
              <a:ext uri="{FF2B5EF4-FFF2-40B4-BE49-F238E27FC236}">
                <a16:creationId xmlns:a16="http://schemas.microsoft.com/office/drawing/2014/main" id="{FEB4F0AC-5783-4227-97F5-8187EC65FDFE}"/>
              </a:ext>
            </a:extLst>
          </p:cNvPr>
          <p:cNvGraphicFramePr>
            <a:graphicFrameLocks noGrp="1"/>
          </p:cNvGraphicFramePr>
          <p:nvPr>
            <p:extLst>
              <p:ext uri="{D42A27DB-BD31-4B8C-83A1-F6EECF244321}">
                <p14:modId xmlns:p14="http://schemas.microsoft.com/office/powerpoint/2010/main" val="2536506491"/>
              </p:ext>
            </p:extLst>
          </p:nvPr>
        </p:nvGraphicFramePr>
        <p:xfrm>
          <a:off x="328027" y="1087809"/>
          <a:ext cx="8793194" cy="2130540"/>
        </p:xfrm>
        <a:graphic>
          <a:graphicData uri="http://schemas.openxmlformats.org/drawingml/2006/table">
            <a:tbl>
              <a:tblPr/>
              <a:tblGrid>
                <a:gridCol w="558298">
                  <a:extLst>
                    <a:ext uri="{9D8B030D-6E8A-4147-A177-3AD203B41FA5}">
                      <a16:colId xmlns:a16="http://schemas.microsoft.com/office/drawing/2014/main" val="675507370"/>
                    </a:ext>
                  </a:extLst>
                </a:gridCol>
                <a:gridCol w="2628653">
                  <a:extLst>
                    <a:ext uri="{9D8B030D-6E8A-4147-A177-3AD203B41FA5}">
                      <a16:colId xmlns:a16="http://schemas.microsoft.com/office/drawing/2014/main" val="851657989"/>
                    </a:ext>
                  </a:extLst>
                </a:gridCol>
                <a:gridCol w="4664115">
                  <a:extLst>
                    <a:ext uri="{9D8B030D-6E8A-4147-A177-3AD203B41FA5}">
                      <a16:colId xmlns:a16="http://schemas.microsoft.com/office/drawing/2014/main" val="4121057302"/>
                    </a:ext>
                  </a:extLst>
                </a:gridCol>
                <a:gridCol w="942128">
                  <a:extLst>
                    <a:ext uri="{9D8B030D-6E8A-4147-A177-3AD203B41FA5}">
                      <a16:colId xmlns:a16="http://schemas.microsoft.com/office/drawing/2014/main" val="6004670"/>
                    </a:ext>
                  </a:extLst>
                </a:gridCol>
              </a:tblGrid>
              <a:tr h="532635">
                <a:tc>
                  <a:txBody>
                    <a:bodyPr/>
                    <a:lstStyle/>
                    <a:p>
                      <a:pPr algn="ctr" rtl="0" eaLnBrk="1" fontAlgn="ctr" latinLnBrk="0"/>
                      <a:r>
                        <a:rPr lang="en-US" sz="800" b="1" i="0" u="none" strike="noStrike">
                          <a:solidFill>
                            <a:srgbClr val="000000"/>
                          </a:solidFill>
                          <a:effectLst/>
                          <a:latin typeface="Arial" panose="020F0502020204030204" pitchFamily="34" charset="0"/>
                          <a:ea typeface="Arial"/>
                        </a:rPr>
                        <a:t>No</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800" b="1" i="0" u="none" strike="noStrike">
                          <a:solidFill>
                            <a:srgbClr val="000000"/>
                          </a:solidFill>
                          <a:effectLst/>
                          <a:latin typeface="Arial" panose="020F0502020204030204" pitchFamily="34" charset="0"/>
                          <a:ea typeface="Arial"/>
                        </a:rPr>
                        <a:t>Potential Factors</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800" b="1" i="0" u="none" strike="noStrike">
                          <a:solidFill>
                            <a:srgbClr val="000000"/>
                          </a:solidFill>
                          <a:effectLst/>
                          <a:latin typeface="Arial" panose="020F0502020204030204" pitchFamily="34" charset="0"/>
                          <a:ea typeface="Arial"/>
                        </a:rPr>
                        <a:t>List checking </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800" b="1" i="0" u="none" strike="noStrike">
                          <a:solidFill>
                            <a:srgbClr val="000000"/>
                          </a:solidFill>
                          <a:effectLst/>
                          <a:latin typeface="Arial" panose="020F0502020204030204" pitchFamily="34" charset="0"/>
                          <a:ea typeface="Arial"/>
                        </a:rPr>
                        <a:t>Tool to identify</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2406186259"/>
                  </a:ext>
                </a:extLst>
              </a:tr>
              <a:tr h="53263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CANSIM send weak signal to LCD recognized</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Checking luminance value before /after change to new CANSIM</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 sample T </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1720531"/>
                  </a:ext>
                </a:extLst>
              </a:tr>
              <a:tr h="53263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Measure incorrectly</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Checking luminance value before /after change to new camera</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 sample T</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3305671"/>
                  </a:ext>
                </a:extLst>
              </a:tr>
              <a:tr h="53263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Camera angle changed</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Checking luminance value before /after changing angle of detector</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2 sample T</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3502622"/>
                  </a:ext>
                </a:extLst>
              </a:tr>
            </a:tbl>
          </a:graphicData>
        </a:graphic>
      </p:graphicFrame>
      <p:cxnSp>
        <p:nvCxnSpPr>
          <p:cNvPr id="13" name="Straight Connector 12">
            <a:extLst>
              <a:ext uri="{FF2B5EF4-FFF2-40B4-BE49-F238E27FC236}">
                <a16:creationId xmlns:a16="http://schemas.microsoft.com/office/drawing/2014/main" id="{30BD119D-483F-4B62-A423-BE8480B87DC8}"/>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4829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CBE53BB-8EA3-4A02-8B07-C1241536D4CC}"/>
              </a:ext>
            </a:extLst>
          </p:cNvPr>
          <p:cNvPicPr>
            <a:picLocks noChangeAspect="1"/>
          </p:cNvPicPr>
          <p:nvPr/>
        </p:nvPicPr>
        <p:blipFill>
          <a:blip r:embed="rId3"/>
          <a:stretch>
            <a:fillRect/>
          </a:stretch>
        </p:blipFill>
        <p:spPr>
          <a:xfrm>
            <a:off x="6929967" y="1459562"/>
            <a:ext cx="2554377" cy="4328997"/>
          </a:xfrm>
          <a:prstGeom prst="rect">
            <a:avLst/>
          </a:prstGeom>
        </p:spPr>
      </p:pic>
      <p:pic>
        <p:nvPicPr>
          <p:cNvPr id="8" name="Picture 7">
            <a:extLst>
              <a:ext uri="{FF2B5EF4-FFF2-40B4-BE49-F238E27FC236}">
                <a16:creationId xmlns:a16="http://schemas.microsoft.com/office/drawing/2014/main" id="{690435D6-C429-45C3-B6B1-35C46158EE86}"/>
              </a:ext>
            </a:extLst>
          </p:cNvPr>
          <p:cNvPicPr>
            <a:picLocks noChangeAspect="1"/>
          </p:cNvPicPr>
          <p:nvPr/>
        </p:nvPicPr>
        <p:blipFill>
          <a:blip r:embed="rId4"/>
          <a:stretch>
            <a:fillRect/>
          </a:stretch>
        </p:blipFill>
        <p:spPr>
          <a:xfrm>
            <a:off x="3639951" y="1487678"/>
            <a:ext cx="2850569" cy="4224337"/>
          </a:xfrm>
          <a:prstGeom prst="rect">
            <a:avLst/>
          </a:prstGeom>
        </p:spPr>
      </p:pic>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xml:space="preserve">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954952" y="6628416"/>
            <a:ext cx="2133600" cy="198047"/>
          </a:xfrm>
        </p:spPr>
        <p:txBody>
          <a:bodyPr/>
          <a:lstStyle/>
          <a:p>
            <a:pPr algn="ctr" eaLnBrk="1" latinLnBrk="0"/>
            <a:r>
              <a:rPr sz="1000" b="0">
                <a:latin typeface="Arial"/>
              </a:rPr>
              <a:t>13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14" name="Text Box 2">
            <a:extLst>
              <a:ext uri="{FF2B5EF4-FFF2-40B4-BE49-F238E27FC236}">
                <a16:creationId xmlns:a16="http://schemas.microsoft.com/office/drawing/2014/main" id="{4B4B956C-5807-4333-8355-4C41DF1F4283}"/>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_ Analysis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5" name="Text Box 2">
            <a:extLst>
              <a:ext uri="{FF2B5EF4-FFF2-40B4-BE49-F238E27FC236}">
                <a16:creationId xmlns:a16="http://schemas.microsoft.com/office/drawing/2014/main" id="{7CC25F09-2F24-46D3-A9C1-3FD4420B1A75}"/>
              </a:ext>
            </a:extLst>
          </p:cNvPr>
          <p:cNvSpPr txBox="1">
            <a:spLocks noChangeArrowheads="1"/>
          </p:cNvSpPr>
          <p:nvPr/>
        </p:nvSpPr>
        <p:spPr bwMode="auto">
          <a:xfrm>
            <a:off x="44294" y="799200"/>
            <a:ext cx="8581114" cy="180000"/>
          </a:xfrm>
          <a:prstGeom prst="rect">
            <a:avLst/>
          </a:prstGeom>
          <a:noFill/>
          <a:ln w="9525" algn="ctr">
            <a:noFill/>
            <a:miter lim="800000"/>
            <a:headEnd/>
            <a:tailEnd/>
          </a:ln>
        </p:spPr>
        <p:txBody>
          <a:bodyPr lIns="84374" tIns="42187" rIns="84374" bIns="42187" anchor="ctr">
            <a:noAutofit/>
          </a:bodyPr>
          <a:lstStyle/>
          <a:p>
            <a:pPr marL="228600" indent="-228600" defTabSz="844083" eaLnBrk="1" fontAlgn="base" latinLnBrk="0">
              <a:spcBef>
                <a:spcPct val="0"/>
              </a:spcBef>
              <a:spcAft>
                <a:spcPct val="0"/>
              </a:spcAft>
              <a:buFont typeface="Wingdings" panose="05000000000000000000" pitchFamily="2" charset="2"/>
              <a:buChar char="§"/>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Detection Luminance from CANSIM of the Luminance station_Change to the new CANSIM</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7" name="Rectangle 26">
            <a:extLst>
              <a:ext uri="{FF2B5EF4-FFF2-40B4-BE49-F238E27FC236}">
                <a16:creationId xmlns:a16="http://schemas.microsoft.com/office/drawing/2014/main" id="{4E21FB5F-6A89-4542-9E1C-21FB7959A5B4}"/>
              </a:ext>
            </a:extLst>
          </p:cNvPr>
          <p:cNvSpPr/>
          <p:nvPr/>
        </p:nvSpPr>
        <p:spPr>
          <a:xfrm>
            <a:off x="272480" y="1008515"/>
            <a:ext cx="6920382" cy="38869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H0: The changing CANSIM does not affect in the luminance in the Luminance station</a:t>
            </a:r>
          </a:p>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H1: Changing the CANSIM affects the luminance in the Luminance station</a:t>
            </a:r>
          </a:p>
        </p:txBody>
      </p:sp>
      <p:sp>
        <p:nvSpPr>
          <p:cNvPr id="13" name="Rectangle 12">
            <a:extLst>
              <a:ext uri="{FF2B5EF4-FFF2-40B4-BE49-F238E27FC236}">
                <a16:creationId xmlns:a16="http://schemas.microsoft.com/office/drawing/2014/main" id="{6991B64C-3D0C-4AFC-9A02-6A7E183572E6}"/>
              </a:ext>
            </a:extLst>
          </p:cNvPr>
          <p:cNvSpPr/>
          <p:nvPr/>
        </p:nvSpPr>
        <p:spPr>
          <a:xfrm>
            <a:off x="98866" y="1363842"/>
            <a:ext cx="34174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2" name="Rectangle 31">
            <a:extLst>
              <a:ext uri="{FF2B5EF4-FFF2-40B4-BE49-F238E27FC236}">
                <a16:creationId xmlns:a16="http://schemas.microsoft.com/office/drawing/2014/main" id="{6A8140ED-C729-467D-AEC9-86F71656C87D}"/>
              </a:ext>
            </a:extLst>
          </p:cNvPr>
          <p:cNvSpPr/>
          <p:nvPr/>
        </p:nvSpPr>
        <p:spPr>
          <a:xfrm>
            <a:off x="3551643" y="1363842"/>
            <a:ext cx="31295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3" name="Rectangle 32">
            <a:extLst>
              <a:ext uri="{FF2B5EF4-FFF2-40B4-BE49-F238E27FC236}">
                <a16:creationId xmlns:a16="http://schemas.microsoft.com/office/drawing/2014/main" id="{61E00427-54B6-45B9-ABA2-0D94A30B42D1}"/>
              </a:ext>
            </a:extLst>
          </p:cNvPr>
          <p:cNvSpPr/>
          <p:nvPr/>
        </p:nvSpPr>
        <p:spPr>
          <a:xfrm>
            <a:off x="6759815" y="1363841"/>
            <a:ext cx="3047319"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41" name="Rectangle 40">
            <a:extLst>
              <a:ext uri="{FF2B5EF4-FFF2-40B4-BE49-F238E27FC236}">
                <a16:creationId xmlns:a16="http://schemas.microsoft.com/office/drawing/2014/main" id="{B1E05F07-6192-43D2-BDDA-820ED5A6D7C8}"/>
              </a:ext>
            </a:extLst>
          </p:cNvPr>
          <p:cNvSpPr/>
          <p:nvPr/>
        </p:nvSpPr>
        <p:spPr>
          <a:xfrm>
            <a:off x="3622945" y="5540147"/>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P-value = 0.695 &gt; 0.05 -&gt; Fail to reject H0 (No significant difference before/after changing CANSIM).</a:t>
            </a:r>
          </a:p>
        </p:txBody>
      </p:sp>
      <p:sp>
        <p:nvSpPr>
          <p:cNvPr id="42" name="Rectangle 41">
            <a:extLst>
              <a:ext uri="{FF2B5EF4-FFF2-40B4-BE49-F238E27FC236}">
                <a16:creationId xmlns:a16="http://schemas.microsoft.com/office/drawing/2014/main" id="{56AC9E33-5B26-4D42-8AD9-8C8F452EA347}"/>
              </a:ext>
            </a:extLst>
          </p:cNvPr>
          <p:cNvSpPr/>
          <p:nvPr/>
        </p:nvSpPr>
        <p:spPr>
          <a:xfrm>
            <a:off x="7005666" y="5568722"/>
            <a:ext cx="2125080"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Changing CANSIM has no significant effect on luminance (Factor eliminated).</a:t>
            </a:r>
          </a:p>
        </p:txBody>
      </p:sp>
      <p:sp>
        <p:nvSpPr>
          <p:cNvPr id="43" name="Rectangle 42">
            <a:extLst>
              <a:ext uri="{FF2B5EF4-FFF2-40B4-BE49-F238E27FC236}">
                <a16:creationId xmlns:a16="http://schemas.microsoft.com/office/drawing/2014/main" id="{6E83014D-3F1B-4CCF-854B-576FA6A74A3A}"/>
              </a:ext>
            </a:extLst>
          </p:cNvPr>
          <p:cNvSpPr/>
          <p:nvPr/>
        </p:nvSpPr>
        <p:spPr>
          <a:xfrm>
            <a:off x="152438" y="4574457"/>
            <a:ext cx="2933393"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Both samples fail the normality test (Anderson-Darling P &lt; 0.005); with n = 30 per group the 2-sample t-test (Welch) is robust.</a:t>
            </a:r>
          </a:p>
        </p:txBody>
      </p:sp>
      <p:pic>
        <p:nvPicPr>
          <p:cNvPr id="10" name="Picture 9">
            <a:extLst>
              <a:ext uri="{FF2B5EF4-FFF2-40B4-BE49-F238E27FC236}">
                <a16:creationId xmlns:a16="http://schemas.microsoft.com/office/drawing/2014/main" id="{ED8DA734-5217-4015-98F6-80B3FBB26F85}"/>
              </a:ext>
            </a:extLst>
          </p:cNvPr>
          <p:cNvPicPr>
            <a:picLocks noChangeAspect="1"/>
          </p:cNvPicPr>
          <p:nvPr/>
        </p:nvPicPr>
        <p:blipFill>
          <a:blip r:embed="rId5"/>
          <a:stretch>
            <a:fillRect/>
          </a:stretch>
        </p:blipFill>
        <p:spPr>
          <a:xfrm>
            <a:off x="161963" y="2127473"/>
            <a:ext cx="3183204" cy="2168212"/>
          </a:xfrm>
          <a:prstGeom prst="rect">
            <a:avLst/>
          </a:prstGeom>
        </p:spPr>
      </p:pic>
      <p:cxnSp>
        <p:nvCxnSpPr>
          <p:cNvPr id="21" name="Straight Connector 20">
            <a:extLst>
              <a:ext uri="{FF2B5EF4-FFF2-40B4-BE49-F238E27FC236}">
                <a16:creationId xmlns:a16="http://schemas.microsoft.com/office/drawing/2014/main" id="{3B2BAC12-9112-4963-B6B7-476061BB0D94}"/>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97487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17F0C3D-A52B-4FFE-B84A-79BA69F43C4C}"/>
              </a:ext>
            </a:extLst>
          </p:cNvPr>
          <p:cNvPicPr>
            <a:picLocks noChangeAspect="1"/>
          </p:cNvPicPr>
          <p:nvPr/>
        </p:nvPicPr>
        <p:blipFill>
          <a:blip r:embed="rId3"/>
          <a:stretch>
            <a:fillRect/>
          </a:stretch>
        </p:blipFill>
        <p:spPr>
          <a:xfrm>
            <a:off x="7106684" y="1592725"/>
            <a:ext cx="2234166" cy="4047856"/>
          </a:xfrm>
          <a:prstGeom prst="rect">
            <a:avLst/>
          </a:prstGeom>
        </p:spPr>
      </p:pic>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xml:space="preserve">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954952" y="6628416"/>
            <a:ext cx="2133600" cy="198047"/>
          </a:xfrm>
        </p:spPr>
        <p:txBody>
          <a:bodyPr/>
          <a:lstStyle/>
          <a:p>
            <a:pPr algn="ctr" eaLnBrk="1" latinLnBrk="0"/>
            <a:r>
              <a:rPr sz="1000" b="0">
                <a:latin typeface="Arial"/>
              </a:rPr>
              <a:t>14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14" name="Text Box 2">
            <a:extLst>
              <a:ext uri="{FF2B5EF4-FFF2-40B4-BE49-F238E27FC236}">
                <a16:creationId xmlns:a16="http://schemas.microsoft.com/office/drawing/2014/main" id="{4B4B956C-5807-4333-8355-4C41DF1F4283}"/>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_ Analysis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5" name="Text Box 2">
            <a:extLst>
              <a:ext uri="{FF2B5EF4-FFF2-40B4-BE49-F238E27FC236}">
                <a16:creationId xmlns:a16="http://schemas.microsoft.com/office/drawing/2014/main" id="{7CC25F09-2F24-46D3-A9C1-3FD4420B1A75}"/>
              </a:ext>
            </a:extLst>
          </p:cNvPr>
          <p:cNvSpPr txBox="1">
            <a:spLocks noChangeArrowheads="1"/>
          </p:cNvSpPr>
          <p:nvPr/>
        </p:nvSpPr>
        <p:spPr bwMode="auto">
          <a:xfrm>
            <a:off x="44294" y="799200"/>
            <a:ext cx="8581114" cy="180000"/>
          </a:xfrm>
          <a:prstGeom prst="rect">
            <a:avLst/>
          </a:prstGeom>
          <a:noFill/>
          <a:ln w="9525" algn="ctr">
            <a:noFill/>
            <a:miter lim="800000"/>
            <a:headEnd/>
            <a:tailEnd/>
          </a:ln>
        </p:spPr>
        <p:txBody>
          <a:bodyPr lIns="84374" tIns="42187" rIns="84374" bIns="42187" anchor="ctr">
            <a:noAutofit/>
          </a:bodyPr>
          <a:lstStyle/>
          <a:p>
            <a:pPr marL="228600" indent="-228600" defTabSz="844083" eaLnBrk="1" fontAlgn="base" latinLnBrk="0">
              <a:spcBef>
                <a:spcPct val="0"/>
              </a:spcBef>
              <a:spcAft>
                <a:spcPct val="0"/>
              </a:spcAft>
              <a:buFont typeface="Wingdings" panose="05000000000000000000" pitchFamily="2" charset="2"/>
              <a:buChar char="§"/>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Detection Luminance from Camera of the Luminance station_Change to the new camera</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7" name="Rectangle 26">
            <a:extLst>
              <a:ext uri="{FF2B5EF4-FFF2-40B4-BE49-F238E27FC236}">
                <a16:creationId xmlns:a16="http://schemas.microsoft.com/office/drawing/2014/main" id="{4E21FB5F-6A89-4542-9E1C-21FB7959A5B4}"/>
              </a:ext>
            </a:extLst>
          </p:cNvPr>
          <p:cNvSpPr/>
          <p:nvPr/>
        </p:nvSpPr>
        <p:spPr>
          <a:xfrm>
            <a:off x="272480" y="1008515"/>
            <a:ext cx="6920382" cy="38869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H0: The changing new camera does not affect in the luminance in the Luminance station</a:t>
            </a:r>
          </a:p>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H1: Changing the new camera affects luminance in the Luminance station</a:t>
            </a:r>
          </a:p>
        </p:txBody>
      </p:sp>
      <p:grpSp>
        <p:nvGrpSpPr>
          <p:cNvPr id="18" name="Group 17">
            <a:extLst>
              <a:ext uri="{FF2B5EF4-FFF2-40B4-BE49-F238E27FC236}">
                <a16:creationId xmlns:a16="http://schemas.microsoft.com/office/drawing/2014/main" id="{6004C03C-D103-4228-8164-DAC001218135}"/>
              </a:ext>
            </a:extLst>
          </p:cNvPr>
          <p:cNvGrpSpPr/>
          <p:nvPr/>
        </p:nvGrpSpPr>
        <p:grpSpPr>
          <a:xfrm>
            <a:off x="98866" y="1363842"/>
            <a:ext cx="3417450" cy="4985319"/>
            <a:chOff x="27541" y="1363842"/>
            <a:chExt cx="3488775" cy="4985319"/>
          </a:xfrm>
        </p:grpSpPr>
        <p:sp>
          <p:nvSpPr>
            <p:cNvPr id="30" name="Rectangle 29">
              <a:extLst>
                <a:ext uri="{FF2B5EF4-FFF2-40B4-BE49-F238E27FC236}">
                  <a16:creationId xmlns:a16="http://schemas.microsoft.com/office/drawing/2014/main" id="{3DCD8DDD-848A-4DD4-8977-795C2A45FAA7}"/>
                </a:ext>
              </a:extLst>
            </p:cNvPr>
            <p:cNvSpPr/>
            <p:nvPr/>
          </p:nvSpPr>
          <p:spPr>
            <a:xfrm>
              <a:off x="82231" y="4574457"/>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auto">
                <a:spcBef>
                  <a:spcPts val="0"/>
                </a:spcBef>
                <a:spcAft>
                  <a:spcPts val="0"/>
                </a:spcAft>
                <a:defRPr/>
              </a:pPr>
              <a:r>
                <a:rPr lang="en-US" sz="1000" dirty="0">
                  <a:solidFill>
                    <a:prstClr val="black"/>
                  </a:solidFill>
                  <a:latin typeface="Arial" panose="020B0604020202020204" pitchFamily="34" charset="0"/>
                  <a:ea typeface="Arial" panose="020B0600000101010101" pitchFamily="34" charset="-127"/>
                  <a:cs typeface="Arial" panose="020B0604020202020204" pitchFamily="34" charset="0"/>
                </a:rPr>
                <a:t xml:space="preserve">Both samples fail the normality test (Anderson-Darling P &lt; 0.005). With n = 30 per group the 2-sample t-test (Welch) is robust: P = 0.950 &gt; 0.05, so changing the camera has no significant effect.</a:t>
              </a:r>
            </a:p>
          </p:txBody>
        </p:sp>
        <p:sp>
          <p:nvSpPr>
            <p:cNvPr id="13" name="Rectangle 12">
              <a:extLst>
                <a:ext uri="{FF2B5EF4-FFF2-40B4-BE49-F238E27FC236}">
                  <a16:creationId xmlns:a16="http://schemas.microsoft.com/office/drawing/2014/main" id="{6991B64C-3D0C-4AFC-9A02-6A7E183572E6}"/>
                </a:ext>
              </a:extLst>
            </p:cNvPr>
            <p:cNvSpPr/>
            <p:nvPr/>
          </p:nvSpPr>
          <p:spPr>
            <a:xfrm>
              <a:off x="27541" y="1363842"/>
              <a:ext cx="3488775"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025E2A72-A1A7-475D-B240-E52042B39D12}"/>
              </a:ext>
            </a:extLst>
          </p:cNvPr>
          <p:cNvSpPr/>
          <p:nvPr/>
        </p:nvSpPr>
        <p:spPr>
          <a:xfrm>
            <a:off x="3616861" y="5650106"/>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P-value = 0.950 &gt; 0.05 -&gt; Fail to reject H0 (No significant difference before/after changing camera).</a:t>
            </a:r>
          </a:p>
        </p:txBody>
      </p:sp>
      <p:pic>
        <p:nvPicPr>
          <p:cNvPr id="4" name="Picture 3">
            <a:extLst>
              <a:ext uri="{FF2B5EF4-FFF2-40B4-BE49-F238E27FC236}">
                <a16:creationId xmlns:a16="http://schemas.microsoft.com/office/drawing/2014/main" id="{713F22A1-2A24-4A0B-8A57-21B51CCA25AF}"/>
              </a:ext>
            </a:extLst>
          </p:cNvPr>
          <p:cNvPicPr>
            <a:picLocks noChangeAspect="1"/>
          </p:cNvPicPr>
          <p:nvPr/>
        </p:nvPicPr>
        <p:blipFill>
          <a:blip r:embed="rId4"/>
          <a:stretch>
            <a:fillRect/>
          </a:stretch>
        </p:blipFill>
        <p:spPr>
          <a:xfrm>
            <a:off x="3774759" y="1787863"/>
            <a:ext cx="2606993" cy="3724275"/>
          </a:xfrm>
          <a:prstGeom prst="rect">
            <a:avLst/>
          </a:prstGeom>
        </p:spPr>
      </p:pic>
      <p:sp>
        <p:nvSpPr>
          <p:cNvPr id="32" name="Rectangle 31">
            <a:extLst>
              <a:ext uri="{FF2B5EF4-FFF2-40B4-BE49-F238E27FC236}">
                <a16:creationId xmlns:a16="http://schemas.microsoft.com/office/drawing/2014/main" id="{6A8140ED-C729-467D-AEC9-86F71656C87D}"/>
              </a:ext>
            </a:extLst>
          </p:cNvPr>
          <p:cNvSpPr/>
          <p:nvPr/>
        </p:nvSpPr>
        <p:spPr>
          <a:xfrm>
            <a:off x="3551643" y="1363842"/>
            <a:ext cx="31295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28" name="Rectangle 27">
            <a:extLst>
              <a:ext uri="{FF2B5EF4-FFF2-40B4-BE49-F238E27FC236}">
                <a16:creationId xmlns:a16="http://schemas.microsoft.com/office/drawing/2014/main" id="{247185BE-8036-4784-9456-394E8FE0CE4B}"/>
              </a:ext>
            </a:extLst>
          </p:cNvPr>
          <p:cNvSpPr/>
          <p:nvPr/>
        </p:nvSpPr>
        <p:spPr>
          <a:xfrm>
            <a:off x="6890602" y="5528419"/>
            <a:ext cx="2125080"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Changing camera has no significant effect on luminance (Factor eliminated).</a:t>
            </a:r>
          </a:p>
        </p:txBody>
      </p:sp>
      <p:sp>
        <p:nvSpPr>
          <p:cNvPr id="33" name="Rectangle 32">
            <a:extLst>
              <a:ext uri="{FF2B5EF4-FFF2-40B4-BE49-F238E27FC236}">
                <a16:creationId xmlns:a16="http://schemas.microsoft.com/office/drawing/2014/main" id="{61E00427-54B6-45B9-ABA2-0D94A30B42D1}"/>
              </a:ext>
            </a:extLst>
          </p:cNvPr>
          <p:cNvSpPr/>
          <p:nvPr/>
        </p:nvSpPr>
        <p:spPr>
          <a:xfrm>
            <a:off x="6759815" y="1363841"/>
            <a:ext cx="3047319"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pic>
        <p:nvPicPr>
          <p:cNvPr id="2" name="Picture 1">
            <a:extLst>
              <a:ext uri="{FF2B5EF4-FFF2-40B4-BE49-F238E27FC236}">
                <a16:creationId xmlns:a16="http://schemas.microsoft.com/office/drawing/2014/main" id="{AFCD0B0C-4467-4222-A67F-45926F3433D6}"/>
              </a:ext>
            </a:extLst>
          </p:cNvPr>
          <p:cNvPicPr>
            <a:picLocks noChangeAspect="1"/>
          </p:cNvPicPr>
          <p:nvPr/>
        </p:nvPicPr>
        <p:blipFill>
          <a:blip r:embed="rId5"/>
          <a:stretch>
            <a:fillRect/>
          </a:stretch>
        </p:blipFill>
        <p:spPr>
          <a:xfrm>
            <a:off x="142669" y="2162694"/>
            <a:ext cx="3253640" cy="2162957"/>
          </a:xfrm>
          <a:prstGeom prst="rect">
            <a:avLst/>
          </a:prstGeom>
        </p:spPr>
      </p:pic>
      <p:cxnSp>
        <p:nvCxnSpPr>
          <p:cNvPr id="22" name="Straight Connector 21">
            <a:extLst>
              <a:ext uri="{FF2B5EF4-FFF2-40B4-BE49-F238E27FC236}">
                <a16:creationId xmlns:a16="http://schemas.microsoft.com/office/drawing/2014/main" id="{481D8C7D-05B6-4D3D-9ABB-71119BC488A9}"/>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375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3F81463-D00C-42E3-B8C4-F13E6DF99BB3}"/>
              </a:ext>
            </a:extLst>
          </p:cNvPr>
          <p:cNvPicPr>
            <a:picLocks noChangeAspect="1"/>
          </p:cNvPicPr>
          <p:nvPr/>
        </p:nvPicPr>
        <p:blipFill>
          <a:blip r:embed="rId3"/>
          <a:stretch>
            <a:fillRect/>
          </a:stretch>
        </p:blipFill>
        <p:spPr>
          <a:xfrm>
            <a:off x="3578913" y="1463388"/>
            <a:ext cx="2830034" cy="4232009"/>
          </a:xfrm>
          <a:prstGeom prst="rect">
            <a:avLst/>
          </a:prstGeom>
        </p:spPr>
      </p:pic>
      <p:pic>
        <p:nvPicPr>
          <p:cNvPr id="5" name="Picture 4">
            <a:extLst>
              <a:ext uri="{FF2B5EF4-FFF2-40B4-BE49-F238E27FC236}">
                <a16:creationId xmlns:a16="http://schemas.microsoft.com/office/drawing/2014/main" id="{B02A1F05-CB59-4ED6-9475-01BA35AED076}"/>
              </a:ext>
            </a:extLst>
          </p:cNvPr>
          <p:cNvPicPr>
            <a:picLocks noChangeAspect="1"/>
          </p:cNvPicPr>
          <p:nvPr/>
        </p:nvPicPr>
        <p:blipFill>
          <a:blip r:embed="rId4"/>
          <a:stretch>
            <a:fillRect/>
          </a:stretch>
        </p:blipFill>
        <p:spPr>
          <a:xfrm>
            <a:off x="6881471" y="1821584"/>
            <a:ext cx="2794242" cy="3819383"/>
          </a:xfrm>
          <a:prstGeom prst="rect">
            <a:avLst/>
          </a:prstGeom>
        </p:spPr>
      </p:pic>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xml:space="preserve">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954952" y="6628416"/>
            <a:ext cx="2133600" cy="198047"/>
          </a:xfrm>
        </p:spPr>
        <p:txBody>
          <a:bodyPr/>
          <a:lstStyle/>
          <a:p>
            <a:pPr algn="ctr" eaLnBrk="1" latinLnBrk="0"/>
            <a:r>
              <a:rPr sz="1000" b="0">
                <a:latin typeface="Arial"/>
              </a:rPr>
              <a:t>15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21" name="TextBox 120">
            <a:extLst>
              <a:ext uri="{FF2B5EF4-FFF2-40B4-BE49-F238E27FC236}">
                <a16:creationId xmlns:a16="http://schemas.microsoft.com/office/drawing/2014/main" id="{730BA61B-B65C-41A9-8B27-50F93589B063}"/>
              </a:ext>
            </a:extLst>
          </p:cNvPr>
          <p:cNvSpPr txBox="1"/>
          <p:nvPr/>
        </p:nvSpPr>
        <p:spPr>
          <a:xfrm>
            <a:off x="235883" y="6564853"/>
            <a:ext cx="1234633" cy="261610"/>
          </a:xfrm>
          <a:prstGeom prst="rect">
            <a:avLst/>
          </a:prstGeom>
          <a:noFill/>
        </p:spPr>
        <p:txBody>
          <a:bodyPr wrap="none" rtlCol="0">
            <a:spAutoFit/>
          </a:bodyPr>
          <a:lstStyle/>
          <a:p>
            <a:pPr eaLnBrk="1" latinLnBrk="0"/>
            <a:r>
              <a:rPr lang="en-US" sz="10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22" name="TextBox 121">
            <a:extLst>
              <a:ext uri="{FF2B5EF4-FFF2-40B4-BE49-F238E27FC236}">
                <a16:creationId xmlns:a16="http://schemas.microsoft.com/office/drawing/2014/main" id="{60C5646B-6776-41B4-BBD7-13F91A6E3313}"/>
              </a:ext>
            </a:extLst>
          </p:cNvPr>
          <p:cNvSpPr txBox="1"/>
          <p:nvPr/>
        </p:nvSpPr>
        <p:spPr>
          <a:xfrm>
            <a:off x="39997" y="6477386"/>
            <a:ext cx="180000" cy="374589"/>
          </a:xfrm>
          <a:prstGeom prst="rect">
            <a:avLst/>
          </a:prstGeom>
          <a:noFill/>
        </p:spPr>
        <p:txBody>
          <a:bodyPr wrap="square" rtlCol="0">
            <a:no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14" name="Text Box 2">
            <a:extLst>
              <a:ext uri="{FF2B5EF4-FFF2-40B4-BE49-F238E27FC236}">
                <a16:creationId xmlns:a16="http://schemas.microsoft.com/office/drawing/2014/main" id="{4B4B956C-5807-4333-8355-4C41DF1F4283}"/>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_ Analysis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5" name="Text Box 2">
            <a:extLst>
              <a:ext uri="{FF2B5EF4-FFF2-40B4-BE49-F238E27FC236}">
                <a16:creationId xmlns:a16="http://schemas.microsoft.com/office/drawing/2014/main" id="{7CC25F09-2F24-46D3-A9C1-3FD4420B1A75}"/>
              </a:ext>
            </a:extLst>
          </p:cNvPr>
          <p:cNvSpPr txBox="1">
            <a:spLocks noChangeArrowheads="1"/>
          </p:cNvSpPr>
          <p:nvPr/>
        </p:nvSpPr>
        <p:spPr bwMode="auto">
          <a:xfrm>
            <a:off x="44294" y="799200"/>
            <a:ext cx="8581114" cy="180000"/>
          </a:xfrm>
          <a:prstGeom prst="rect">
            <a:avLst/>
          </a:prstGeom>
          <a:noFill/>
          <a:ln w="9525" algn="ctr">
            <a:noFill/>
            <a:miter lim="800000"/>
            <a:headEnd/>
            <a:tailEnd/>
          </a:ln>
        </p:spPr>
        <p:txBody>
          <a:bodyPr lIns="84374" tIns="42187" rIns="84374" bIns="42187" anchor="ctr">
            <a:noAutofit/>
          </a:bodyPr>
          <a:lstStyle/>
          <a:p>
            <a:pPr marL="228600" indent="-228600" defTabSz="844083" eaLnBrk="1" latinLnBrk="0">
              <a:buFont typeface="Wingdings" panose="05000000000000000000" pitchFamily="2" charset="2"/>
              <a:buChar char="§"/>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Detection Luminance from Camera of the Luminance station_Change to the angle of Camera</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7" name="Rectangle 26">
            <a:extLst>
              <a:ext uri="{FF2B5EF4-FFF2-40B4-BE49-F238E27FC236}">
                <a16:creationId xmlns:a16="http://schemas.microsoft.com/office/drawing/2014/main" id="{4E21FB5F-6A89-4542-9E1C-21FB7959A5B4}"/>
              </a:ext>
            </a:extLst>
          </p:cNvPr>
          <p:cNvSpPr/>
          <p:nvPr/>
        </p:nvSpPr>
        <p:spPr>
          <a:xfrm>
            <a:off x="272480" y="1008515"/>
            <a:ext cx="6920382" cy="38869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H0: The changing angle does not affect in the luminance in the Luminance station</a:t>
            </a:r>
          </a:p>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H1: Changing angle affects the luminance in the Luminance station</a:t>
            </a:r>
          </a:p>
        </p:txBody>
      </p:sp>
      <p:sp>
        <p:nvSpPr>
          <p:cNvPr id="13" name="Rectangle 12">
            <a:extLst>
              <a:ext uri="{FF2B5EF4-FFF2-40B4-BE49-F238E27FC236}">
                <a16:creationId xmlns:a16="http://schemas.microsoft.com/office/drawing/2014/main" id="{6991B64C-3D0C-4AFC-9A02-6A7E183572E6}"/>
              </a:ext>
            </a:extLst>
          </p:cNvPr>
          <p:cNvSpPr/>
          <p:nvPr/>
        </p:nvSpPr>
        <p:spPr>
          <a:xfrm>
            <a:off x="98866" y="1363842"/>
            <a:ext cx="34174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2" name="Rectangle 31">
            <a:extLst>
              <a:ext uri="{FF2B5EF4-FFF2-40B4-BE49-F238E27FC236}">
                <a16:creationId xmlns:a16="http://schemas.microsoft.com/office/drawing/2014/main" id="{6A8140ED-C729-467D-AEC9-86F71656C87D}"/>
              </a:ext>
            </a:extLst>
          </p:cNvPr>
          <p:cNvSpPr/>
          <p:nvPr/>
        </p:nvSpPr>
        <p:spPr>
          <a:xfrm>
            <a:off x="3551643" y="1363842"/>
            <a:ext cx="31295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3" name="Rectangle 32">
            <a:extLst>
              <a:ext uri="{FF2B5EF4-FFF2-40B4-BE49-F238E27FC236}">
                <a16:creationId xmlns:a16="http://schemas.microsoft.com/office/drawing/2014/main" id="{61E00427-54B6-45B9-ABA2-0D94A30B42D1}"/>
              </a:ext>
            </a:extLst>
          </p:cNvPr>
          <p:cNvSpPr/>
          <p:nvPr/>
        </p:nvSpPr>
        <p:spPr>
          <a:xfrm>
            <a:off x="6759815" y="1363841"/>
            <a:ext cx="3047319"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1" name="Rectangle 30">
            <a:extLst>
              <a:ext uri="{FF2B5EF4-FFF2-40B4-BE49-F238E27FC236}">
                <a16:creationId xmlns:a16="http://schemas.microsoft.com/office/drawing/2014/main" id="{97D18562-BCC3-4013-82DD-F4D405717BC8}"/>
              </a:ext>
            </a:extLst>
          </p:cNvPr>
          <p:cNvSpPr/>
          <p:nvPr/>
        </p:nvSpPr>
        <p:spPr>
          <a:xfrm>
            <a:off x="7078109" y="5640967"/>
            <a:ext cx="2125080"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1">
                <a:solidFill>
                  <a:prstClr val="black"/>
                </a:solidFill>
                <a:latin typeface="Arial"/>
              </a:rPr>
              <a:t>Changing camera angle significantly affects luminance → Root Cause verified!</a:t>
            </a:r>
          </a:p>
        </p:txBody>
      </p:sp>
      <p:sp>
        <p:nvSpPr>
          <p:cNvPr id="34" name="Rectangle 33">
            <a:extLst>
              <a:ext uri="{FF2B5EF4-FFF2-40B4-BE49-F238E27FC236}">
                <a16:creationId xmlns:a16="http://schemas.microsoft.com/office/drawing/2014/main" id="{57C9282F-7684-42EC-8ACA-B2F7764FEB40}"/>
              </a:ext>
            </a:extLst>
          </p:cNvPr>
          <p:cNvSpPr/>
          <p:nvPr/>
        </p:nvSpPr>
        <p:spPr>
          <a:xfrm>
            <a:off x="3608582" y="5694299"/>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P-value &lt; 0.001 (&lt; 0.05) -&gt; Reject H0 (Significant difference before/after angle adjustment).</a:t>
            </a:r>
          </a:p>
        </p:txBody>
      </p:sp>
      <p:sp>
        <p:nvSpPr>
          <p:cNvPr id="35" name="Rectangle 34">
            <a:extLst>
              <a:ext uri="{FF2B5EF4-FFF2-40B4-BE49-F238E27FC236}">
                <a16:creationId xmlns:a16="http://schemas.microsoft.com/office/drawing/2014/main" id="{C6D04D18-793F-4BB5-941D-DBC9777DF9A3}"/>
              </a:ext>
            </a:extLst>
          </p:cNvPr>
          <p:cNvSpPr/>
          <p:nvPr/>
        </p:nvSpPr>
        <p:spPr>
          <a:xfrm>
            <a:off x="98866" y="5564534"/>
            <a:ext cx="2933393"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The before-fix sample (C1) fails the normality test (Anderson-Darling P &lt; 0.005); with n = 30 per group the 2-sample t-test (Welch) is robust. After the angle correction the mean is 48.99 Cd/m² higher (95% CI 32.93 to 65.05).</a:t>
            </a:r>
          </a:p>
        </p:txBody>
      </p:sp>
      <p:pic>
        <p:nvPicPr>
          <p:cNvPr id="7" name="Picture 6">
            <a:extLst>
              <a:ext uri="{FF2B5EF4-FFF2-40B4-BE49-F238E27FC236}">
                <a16:creationId xmlns:a16="http://schemas.microsoft.com/office/drawing/2014/main" id="{0BD2CE55-1666-4BA2-8F5D-76D7AD09ED1B}"/>
              </a:ext>
            </a:extLst>
          </p:cNvPr>
          <p:cNvPicPr>
            <a:picLocks noChangeAspect="1"/>
          </p:cNvPicPr>
          <p:nvPr/>
        </p:nvPicPr>
        <p:blipFill>
          <a:blip r:embed="rId5"/>
          <a:stretch>
            <a:fillRect/>
          </a:stretch>
        </p:blipFill>
        <p:spPr>
          <a:xfrm>
            <a:off x="189458" y="2514600"/>
            <a:ext cx="3160523" cy="2113294"/>
          </a:xfrm>
          <a:prstGeom prst="rect">
            <a:avLst/>
          </a:prstGeom>
        </p:spPr>
      </p:pic>
      <p:cxnSp>
        <p:nvCxnSpPr>
          <p:cNvPr id="23" name="Straight Connector 22">
            <a:extLst>
              <a:ext uri="{FF2B5EF4-FFF2-40B4-BE49-F238E27FC236}">
                <a16:creationId xmlns:a16="http://schemas.microsoft.com/office/drawing/2014/main" id="{BA493B99-CBD5-4FF7-890F-B765055A2C91}"/>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5824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xml:space="preserve">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581025" y="6631416"/>
            <a:ext cx="2133600" cy="198047"/>
          </a:xfrm>
        </p:spPr>
        <p:txBody>
          <a:bodyPr/>
          <a:lstStyle/>
          <a:p>
            <a:pPr algn="ctr" eaLnBrk="1" latinLnBrk="0"/>
            <a:r>
              <a:rPr sz="1000" b="0">
                <a:latin typeface="Arial"/>
              </a:rPr>
              <a:t>16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21" name="TextBox 120">
            <a:extLst>
              <a:ext uri="{FF2B5EF4-FFF2-40B4-BE49-F238E27FC236}">
                <a16:creationId xmlns:a16="http://schemas.microsoft.com/office/drawing/2014/main" id="{730BA61B-B65C-41A9-8B27-50F93589B063}"/>
              </a:ext>
            </a:extLst>
          </p:cNvPr>
          <p:cNvSpPr txBox="1"/>
          <p:nvPr/>
        </p:nvSpPr>
        <p:spPr>
          <a:xfrm>
            <a:off x="244673" y="6496049"/>
            <a:ext cx="1234633" cy="261610"/>
          </a:xfrm>
          <a:prstGeom prst="rect">
            <a:avLst/>
          </a:prstGeom>
          <a:noFill/>
        </p:spPr>
        <p:txBody>
          <a:bodyPr wrap="none" rtlCol="0">
            <a:spAutoFit/>
          </a:bodyPr>
          <a:lstStyle/>
          <a:p>
            <a:pPr eaLnBrk="1" latinLnBrk="0"/>
            <a:r>
              <a:rPr lang="en-US" sz="10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22" name="TextBox 121">
            <a:extLst>
              <a:ext uri="{FF2B5EF4-FFF2-40B4-BE49-F238E27FC236}">
                <a16:creationId xmlns:a16="http://schemas.microsoft.com/office/drawing/2014/main" id="{60C5646B-6776-41B4-BBD7-13F91A6E3313}"/>
              </a:ext>
            </a:extLst>
          </p:cNvPr>
          <p:cNvSpPr txBox="1"/>
          <p:nvPr/>
        </p:nvSpPr>
        <p:spPr>
          <a:xfrm>
            <a:off x="39997" y="6477386"/>
            <a:ext cx="180000" cy="374589"/>
          </a:xfrm>
          <a:prstGeom prst="rect">
            <a:avLst/>
          </a:prstGeom>
          <a:noFill/>
        </p:spPr>
        <p:txBody>
          <a:bodyPr wrap="square" rtlCol="0">
            <a:no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05" name="Text Box 2">
            <a:extLst>
              <a:ext uri="{FF2B5EF4-FFF2-40B4-BE49-F238E27FC236}">
                <a16:creationId xmlns:a16="http://schemas.microsoft.com/office/drawing/2014/main" id="{F885FEA8-2650-4BAE-BD30-177BEEB89DF5}"/>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14" name="TextBox 13">
            <a:extLst>
              <a:ext uri="{FF2B5EF4-FFF2-40B4-BE49-F238E27FC236}">
                <a16:creationId xmlns:a16="http://schemas.microsoft.com/office/drawing/2014/main" id="{77319FFA-3B9B-430E-9F64-271EFD67D4AA}"/>
              </a:ext>
            </a:extLst>
          </p:cNvPr>
          <p:cNvSpPr txBox="1"/>
          <p:nvPr/>
        </p:nvSpPr>
        <p:spPr>
          <a:xfrm>
            <a:off x="6391971" y="2262358"/>
            <a:ext cx="391772" cy="374589"/>
          </a:xfrm>
          <a:prstGeom prst="rect">
            <a:avLst/>
          </a:prstGeom>
          <a:noFill/>
        </p:spPr>
        <p:txBody>
          <a:bodyPr wrap="square" rtlCol="0">
            <a:sp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graphicFrame>
        <p:nvGraphicFramePr>
          <p:cNvPr id="3" name="Table 2">
            <a:extLst>
              <a:ext uri="{FF2B5EF4-FFF2-40B4-BE49-F238E27FC236}">
                <a16:creationId xmlns:a16="http://schemas.microsoft.com/office/drawing/2014/main" id="{BF03B95D-B4D0-4970-B381-592923B524DE}"/>
              </a:ext>
            </a:extLst>
          </p:cNvPr>
          <p:cNvGraphicFramePr>
            <a:graphicFrameLocks noGrp="1"/>
          </p:cNvGraphicFramePr>
          <p:nvPr>
            <p:extLst>
              <p:ext uri="{D42A27DB-BD31-4B8C-83A1-F6EECF244321}">
                <p14:modId xmlns:p14="http://schemas.microsoft.com/office/powerpoint/2010/main" val="2992845359"/>
              </p:ext>
            </p:extLst>
          </p:nvPr>
        </p:nvGraphicFramePr>
        <p:xfrm>
          <a:off x="281227" y="976320"/>
          <a:ext cx="9243773" cy="1518595"/>
        </p:xfrm>
        <a:graphic>
          <a:graphicData uri="http://schemas.openxmlformats.org/drawingml/2006/table">
            <a:tbl>
              <a:tblPr/>
              <a:tblGrid>
                <a:gridCol w="467054">
                  <a:extLst>
                    <a:ext uri="{9D8B030D-6E8A-4147-A177-3AD203B41FA5}">
                      <a16:colId xmlns:a16="http://schemas.microsoft.com/office/drawing/2014/main" val="2109521739"/>
                    </a:ext>
                  </a:extLst>
                </a:gridCol>
                <a:gridCol w="2199045">
                  <a:extLst>
                    <a:ext uri="{9D8B030D-6E8A-4147-A177-3AD203B41FA5}">
                      <a16:colId xmlns:a16="http://schemas.microsoft.com/office/drawing/2014/main" val="3424737538"/>
                    </a:ext>
                  </a:extLst>
                </a:gridCol>
                <a:gridCol w="3901845">
                  <a:extLst>
                    <a:ext uri="{9D8B030D-6E8A-4147-A177-3AD203B41FA5}">
                      <a16:colId xmlns:a16="http://schemas.microsoft.com/office/drawing/2014/main" val="2242494846"/>
                    </a:ext>
                  </a:extLst>
                </a:gridCol>
                <a:gridCol w="788153">
                  <a:extLst>
                    <a:ext uri="{9D8B030D-6E8A-4147-A177-3AD203B41FA5}">
                      <a16:colId xmlns:a16="http://schemas.microsoft.com/office/drawing/2014/main" val="1537678072"/>
                    </a:ext>
                  </a:extLst>
                </a:gridCol>
                <a:gridCol w="467054">
                  <a:extLst>
                    <a:ext uri="{9D8B030D-6E8A-4147-A177-3AD203B41FA5}">
                      <a16:colId xmlns:a16="http://schemas.microsoft.com/office/drawing/2014/main" val="2323986976"/>
                    </a:ext>
                  </a:extLst>
                </a:gridCol>
                <a:gridCol w="1420622">
                  <a:extLst>
                    <a:ext uri="{9D8B030D-6E8A-4147-A177-3AD203B41FA5}">
                      <a16:colId xmlns:a16="http://schemas.microsoft.com/office/drawing/2014/main" val="1603859258"/>
                    </a:ext>
                  </a:extLst>
                </a:gridCol>
              </a:tblGrid>
              <a:tr h="422670">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No</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Potential Factors</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List checking </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Tool to identify</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P value</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Conclusion</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2650287274"/>
                  </a:ext>
                </a:extLst>
              </a:tr>
              <a:tr h="422670">
                <a:tc>
                  <a:txBody>
                    <a:bodyPr/>
                    <a:lstStyle/>
                    <a:p>
                      <a:pPr algn="ctr" eaLnBrk="1" fontAlgn="ctr" latinLnBrk="0"/>
                      <a:r>
                        <a:rPr lang="en-US" sz="800" b="0" i="0" u="none" strike="noStrike">
                          <a:solidFill>
                            <a:srgbClr val="000000"/>
                          </a:solidFill>
                          <a:effectLst/>
                          <a:latin typeface="Arial" panose="020F0502020204030204" pitchFamily="34" charset="0"/>
                          <a:ea typeface="Arial"/>
                        </a:rPr>
                        <a:t>1</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CANSIM send weak signal to LCD recognized</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Checking luminance value before /after change to new CANSIM</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2 sample T </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dirty="0">
                          <a:solidFill>
                            <a:srgbClr val="000000"/>
                          </a:solidFill>
                          <a:effectLst/>
                          <a:latin typeface="Arial" panose="020F0502020204030204" pitchFamily="34" charset="0"/>
                          <a:ea typeface="Arial"/>
                        </a:rPr>
                        <a:t>0.695</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 </a:t>
                      </a:r>
                      <a:r>
                        <a:rPr sz="800" b="0" dirty="0">
                          <a:latin typeface="Arial"/>
                        </a:rPr>
                        <a:t>Not root cause (P &gt; 0.05)</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0196543"/>
                  </a:ext>
                </a:extLst>
              </a:tr>
              <a:tr h="422670">
                <a:tc>
                  <a:txBody>
                    <a:bodyPr/>
                    <a:lstStyle/>
                    <a:p>
                      <a:pPr algn="ctr" eaLnBrk="1" fontAlgn="ctr" latinLnBrk="0"/>
                      <a:r>
                        <a:rPr lang="en-US" sz="800" b="0" i="0" u="none" strike="noStrike">
                          <a:solidFill>
                            <a:srgbClr val="000000"/>
                          </a:solidFill>
                          <a:effectLst/>
                          <a:latin typeface="Arial" panose="020F0502020204030204" pitchFamily="34" charset="0"/>
                          <a:ea typeface="Arial"/>
                        </a:rPr>
                        <a:t>2</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Measure incorrectly</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Checking luminance value before /after change to new camera</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2 sample T</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dirty="0">
                          <a:solidFill>
                            <a:srgbClr val="000000"/>
                          </a:solidFill>
                          <a:effectLst/>
                          <a:latin typeface="Arial" panose="020F0502020204030204" pitchFamily="34" charset="0"/>
                          <a:ea typeface="Arial"/>
                        </a:rPr>
                        <a:t>0.950</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 </a:t>
                      </a:r>
                      <a:r>
                        <a:rPr sz="800" b="0" dirty="0">
                          <a:latin typeface="Arial"/>
                        </a:rPr>
                        <a:t>Not root cause (P &gt; 0.05)</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65251994"/>
                  </a:ext>
                </a:extLst>
              </a:tr>
              <a:tr h="0">
                <a:tc>
                  <a:txBody>
                    <a:bodyPr/>
                    <a:lstStyle/>
                    <a:p>
                      <a:pPr algn="ctr" eaLnBrk="1" fontAlgn="ctr" latinLnBrk="0"/>
                      <a:r>
                        <a:rPr lang="en-US" sz="800" b="0" i="0" u="none" strike="noStrike">
                          <a:solidFill>
                            <a:srgbClr val="000000"/>
                          </a:solidFill>
                          <a:effectLst/>
                          <a:latin typeface="Arial" panose="020F0502020204030204" pitchFamily="34" charset="0"/>
                          <a:ea typeface="Arial"/>
                        </a:rPr>
                        <a:t>3</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Camera angle changed</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dirty="0">
                          <a:solidFill>
                            <a:srgbClr val="000000"/>
                          </a:solidFill>
                          <a:effectLst/>
                          <a:latin typeface="Arial" panose="020F0502020204030204" pitchFamily="34" charset="0"/>
                          <a:ea typeface="Arial"/>
                        </a:rPr>
                        <a:t>Checking luminance value before /after changing angle of detector</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2 sample T</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dirty="0">
                          <a:solidFill>
                            <a:srgbClr val="000000"/>
                          </a:solidFill>
                          <a:effectLst/>
                          <a:latin typeface="Arial" panose="020F0502020204030204" pitchFamily="34" charset="0"/>
                          <a:ea typeface="Arial"/>
                        </a:rPr>
                        <a:t>&lt; 0.001</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eaLnBrk="1" latinLnBrk="0"/>
                      <a:r>
                        <a:rPr sz="800" b="0" dirty="0">
                          <a:latin typeface="Arial"/>
                        </a:rPr>
                        <a:t>Root Cause (Significant effect, P &lt; 0.05)</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4136179"/>
                  </a:ext>
                </a:extLst>
              </a:tr>
            </a:tbl>
          </a:graphicData>
        </a:graphic>
      </p:graphicFrame>
      <p:cxnSp>
        <p:nvCxnSpPr>
          <p:cNvPr id="15" name="Straight Connector 14">
            <a:extLst>
              <a:ext uri="{FF2B5EF4-FFF2-40B4-BE49-F238E27FC236}">
                <a16:creationId xmlns:a16="http://schemas.microsoft.com/office/drawing/2014/main" id="{E3DE82FB-9C04-4132-BDB3-42EC338047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58265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a:spLocks noChangeArrowheads="1"/>
          </p:cNvSpPr>
          <p:nvPr/>
        </p:nvSpPr>
        <p:spPr bwMode="auto">
          <a:xfrm>
            <a:off x="112718" y="692150"/>
            <a:ext cx="9598025" cy="379413"/>
          </a:xfrm>
          <a:prstGeom prst="rect">
            <a:avLst/>
          </a:prstGeom>
          <a:solidFill>
            <a:srgbClr val="DDDDDD"/>
          </a:solidFill>
          <a:ln w="9525">
            <a:solidFill>
              <a:srgbClr val="000000"/>
            </a:solidFill>
            <a:miter lim="800000"/>
            <a:headEnd/>
            <a:tailEnd/>
          </a:ln>
        </p:spPr>
        <p:txBody>
          <a:bodyPr wrap="none" lIns="91311" tIns="45659" rIns="91311" bIns="45659" anchor="ctr"/>
          <a:lstStyle/>
          <a:p>
            <a:pPr eaLnBrk="1" fontAlgn="auto" latinLnBrk="0">
              <a:spcBef>
                <a:spcPts val="0"/>
              </a:spcBef>
              <a:spcAft>
                <a:spcPts val="0"/>
              </a:spcAft>
              <a:defRPr/>
            </a:pPr>
            <a:endParaRPr kumimoji="0" lang="zh-CN" altLang="zh-CN" b="1" kern="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1" name="Rectangle 21"/>
          <p:cNvSpPr>
            <a:spLocks noChangeArrowheads="1"/>
          </p:cNvSpPr>
          <p:nvPr/>
        </p:nvSpPr>
        <p:spPr bwMode="auto">
          <a:xfrm>
            <a:off x="112719" y="686988"/>
            <a:ext cx="9602749" cy="6094792"/>
          </a:xfrm>
          <a:prstGeom prst="rect">
            <a:avLst/>
          </a:prstGeom>
          <a:noFill/>
          <a:ln w="9525">
            <a:solidFill>
              <a:srgbClr val="5F5F5F"/>
            </a:solidFill>
            <a:miter lim="800000"/>
            <a:headEnd/>
            <a:tailEnd/>
          </a:ln>
        </p:spPr>
        <p:txBody>
          <a:bodyPr wrap="none" lIns="91311" tIns="45659" rIns="91311" bIns="45659" anchor="ctr"/>
          <a:lstStyle/>
          <a:p>
            <a:pPr eaLnBrk="1" fontAlgn="auto" latinLnBrk="0">
              <a:spcBef>
                <a:spcPts val="0"/>
              </a:spcBef>
              <a:spcAft>
                <a:spcPts val="0"/>
              </a:spcAft>
            </a:pPr>
            <a:endParaRPr kumimoji="0" lang="zh-CN" altLang="zh-CN" sz="17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2" name="TextBox 466"/>
          <p:cNvSpPr txBox="1">
            <a:spLocks noChangeArrowheads="1"/>
          </p:cNvSpPr>
          <p:nvPr/>
        </p:nvSpPr>
        <p:spPr bwMode="auto">
          <a:xfrm>
            <a:off x="3232600" y="5721501"/>
            <a:ext cx="3448592" cy="861762"/>
          </a:xfrm>
          <a:prstGeom prst="rect">
            <a:avLst/>
          </a:prstGeom>
          <a:noFill/>
          <a:ln w="9525">
            <a:noFill/>
            <a:miter lim="800000"/>
            <a:headEnd/>
            <a:tailEnd/>
          </a:ln>
        </p:spPr>
        <p:txBody>
          <a:bodyPr wrap="square" lIns="91429" tIns="45714" rIns="91429" bIns="45714" anchor="ctr">
            <a:spAutoFit/>
          </a:bodyPr>
          <a:lstStyle/>
          <a:p>
            <a:pPr eaLnBrk="1" fontAlgn="auto" latinLnBrk="0">
              <a:lnSpc>
                <a:spcPts val="15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xml:space="preserve"> Easy Working: ✔ (automatic test, no operator action)</a:t>
            </a:r>
            <a:endParaRPr kumimoji="0" lang="en-US" altLang="zh-CN"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eaLnBrk="1" fontAlgn="auto" latinLnBrk="0">
              <a:lnSpc>
                <a:spcPts val="15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xml:space="preserve"> Difficulty Working: –</a:t>
            </a:r>
          </a:p>
          <a:p>
            <a:pPr eaLnBrk="1" fontAlgn="auto" latinLnBrk="0">
              <a:lnSpc>
                <a:spcPts val="15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xml:space="preserve"> Impossible Working: –</a:t>
            </a:r>
            <a:endParaRPr kumimoji="0" lang="en-US" altLang="zh-CN"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eaLnBrk="1" fontAlgn="auto" latinLnBrk="0">
              <a:lnSpc>
                <a:spcPts val="15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Working Feeling</a:t>
            </a:r>
            <a:r>
              <a:rPr lang="en-US" altLang="zh-CN" sz="1000" dirty="0">
                <a:solidFill>
                  <a:prstClr val="black"/>
                </a:solidFill>
                <a:latin typeface="Arial" panose="020B0600000101010101" pitchFamily="34" charset="-127"/>
                <a:ea typeface="Arial" panose="020B0600000101010101" pitchFamily="34" charset="-127"/>
                <a:cs typeface="Arial" pitchFamily="34" charset="0"/>
              </a:rPr>
              <a:t>: Can detect by program</a:t>
            </a:r>
            <a:endParaRPr kumimoji="0" lang="zh-CN" altLang="en-US"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3" name="TextBox 468"/>
          <p:cNvSpPr txBox="1">
            <a:spLocks noChangeArrowheads="1"/>
          </p:cNvSpPr>
          <p:nvPr/>
        </p:nvSpPr>
        <p:spPr bwMode="auto">
          <a:xfrm>
            <a:off x="6743704" y="5721501"/>
            <a:ext cx="2942776" cy="827999"/>
          </a:xfrm>
          <a:prstGeom prst="rect">
            <a:avLst/>
          </a:prstGeom>
          <a:noFill/>
          <a:ln w="9525">
            <a:noFill/>
            <a:miter lim="800000"/>
            <a:headEnd/>
            <a:tailEnd/>
          </a:ln>
        </p:spPr>
        <p:txBody>
          <a:bodyPr wrap="square" lIns="91429" tIns="45714" rIns="91429" bIns="45714">
            <a:noAutofit/>
          </a:bodyPr>
          <a:lstStyle/>
          <a:p>
            <a:pPr eaLnBrk="1" fontAlgn="auto" latinLnBrk="0">
              <a:lnSpc>
                <a:spcPts val="1600"/>
              </a:lnSpc>
              <a:spcBef>
                <a:spcPts val="0"/>
              </a:spcBef>
              <a:spcAft>
                <a:spcPts val="0"/>
              </a:spcAft>
              <a:buFont typeface="Wingdings" pitchFamily="2" charset="2"/>
              <a:buChar char="p"/>
            </a:pPr>
            <a:r>
              <a:rPr kumimoji="0" lang="zh-CN" altLang="en-US" sz="1000" dirty="0">
                <a:solidFill>
                  <a:prstClr val="black"/>
                </a:solidFill>
                <a:latin typeface="Arial" panose="020B0600000101010101" pitchFamily="34" charset="-127"/>
                <a:ea typeface="Arial" panose="020B0600000101010101" pitchFamily="34" charset="-127"/>
                <a:cs typeface="Arial" pitchFamily="34" charset="0"/>
              </a:rPr>
              <a:t> </a:t>
            </a: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With who</a:t>
            </a:r>
            <a:r>
              <a:rPr lang="en-US" altLang="zh-CN" sz="1000" dirty="0">
                <a:solidFill>
                  <a:prstClr val="black"/>
                </a:solidFill>
                <a:latin typeface="Arial" panose="020B0600000101010101" pitchFamily="34" charset="-127"/>
                <a:ea typeface="Arial" panose="020B0600000101010101" pitchFamily="34" charset="-127"/>
                <a:cs typeface="Arial" pitchFamily="34" charset="0"/>
              </a:rPr>
              <a:t>:</a:t>
            </a:r>
            <a:r>
              <a:rPr kumimoji="0" lang="zh-CN" altLang="en-US" sz="1000" dirty="0">
                <a:solidFill>
                  <a:prstClr val="black"/>
                </a:solidFill>
                <a:latin typeface="Arial" panose="020B0600000101010101" pitchFamily="34" charset="-127"/>
                <a:ea typeface="Arial" panose="020B0600000101010101" pitchFamily="34" charset="-127"/>
                <a:cs typeface="Arial" pitchFamily="34" charset="0"/>
              </a:rPr>
              <a:t> </a:t>
            </a:r>
            <a:r>
              <a:rPr kumimoji="0" lang="vi-VN" altLang="zh-CN" sz="1000" dirty="0">
                <a:solidFill>
                  <a:prstClr val="black"/>
                </a:solidFill>
                <a:latin typeface="Arial" panose="020B0600000101010101" pitchFamily="34" charset="-127"/>
                <a:ea typeface="Arial" panose="020B0600000101010101" pitchFamily="34" charset="-127"/>
                <a:cs typeface="Arial" pitchFamily="34" charset="0"/>
              </a:rPr>
              <a:t>M</a:t>
            </a: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r. </a:t>
            </a:r>
            <a:r>
              <a:rPr kumimoji="0" lang="en-US" altLang="zh-CN" sz="1000" dirty="0" err="1">
                <a:solidFill>
                  <a:prstClr val="black"/>
                </a:solidFill>
                <a:latin typeface="Arial" panose="020B0600000101010101" pitchFamily="34" charset="-127"/>
                <a:ea typeface="Arial" panose="020B0600000101010101" pitchFamily="34" charset="-127"/>
                <a:cs typeface="Arial" pitchFamily="34" charset="0"/>
              </a:rPr>
              <a:t>Chien</a:t>
            </a: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LQC</a:t>
            </a:r>
          </a:p>
          <a:p>
            <a:pPr eaLnBrk="1" fontAlgn="auto" latinLnBrk="0">
              <a:lnSpc>
                <a:spcPts val="16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Field request</a:t>
            </a:r>
            <a:r>
              <a:rPr lang="en-US" altLang="zh-CN" sz="1000" dirty="0">
                <a:solidFill>
                  <a:prstClr val="black"/>
                </a:solidFill>
                <a:latin typeface="Arial" panose="020B0600000101010101" pitchFamily="34" charset="-127"/>
                <a:ea typeface="Arial" panose="020B0600000101010101" pitchFamily="34" charset="-127"/>
                <a:cs typeface="Arial" pitchFamily="34" charset="0"/>
              </a:rPr>
              <a:t>: when issues happen, the repair member uses repair station to check if NTF, PE member check the camera status.</a:t>
            </a:r>
          </a:p>
        </p:txBody>
      </p:sp>
      <p:sp>
        <p:nvSpPr>
          <p:cNvPr id="15" name="Line 10"/>
          <p:cNvSpPr>
            <a:spLocks noChangeShapeType="1"/>
          </p:cNvSpPr>
          <p:nvPr/>
        </p:nvSpPr>
        <p:spPr bwMode="auto">
          <a:xfrm>
            <a:off x="124866" y="5414954"/>
            <a:ext cx="9593151" cy="11420"/>
          </a:xfrm>
          <a:prstGeom prst="line">
            <a:avLst/>
          </a:prstGeom>
          <a:noFill/>
          <a:ln w="9525">
            <a:solidFill>
              <a:srgbClr val="5F5F5F"/>
            </a:solidFill>
            <a:round/>
            <a:headEnd/>
            <a:tailEnd/>
          </a:ln>
        </p:spPr>
        <p:txBody>
          <a:bodyPr lIns="91345" tIns="45677" rIns="91345" bIns="45677"/>
          <a:lstStyle/>
          <a:p>
            <a:pPr eaLnBrk="1" fontAlgn="auto" latinLnBrk="0">
              <a:spcBef>
                <a:spcPts val="0"/>
              </a:spcBef>
              <a:spcAft>
                <a:spcPts val="0"/>
              </a:spcAft>
            </a:pPr>
            <a:endParaRPr kumimoji="0" lang="ko-KR" altLang="en-US" sz="9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6" name="Line 10"/>
          <p:cNvSpPr>
            <a:spLocks noChangeShapeType="1"/>
          </p:cNvSpPr>
          <p:nvPr/>
        </p:nvSpPr>
        <p:spPr bwMode="auto">
          <a:xfrm>
            <a:off x="120763" y="5680830"/>
            <a:ext cx="9593151" cy="0"/>
          </a:xfrm>
          <a:prstGeom prst="line">
            <a:avLst/>
          </a:prstGeom>
          <a:noFill/>
          <a:ln w="9525">
            <a:solidFill>
              <a:srgbClr val="5F5F5F"/>
            </a:solidFill>
            <a:round/>
            <a:headEnd/>
            <a:tailEnd/>
          </a:ln>
        </p:spPr>
        <p:txBody>
          <a:bodyPr lIns="91345" tIns="45677" rIns="91345" bIns="45677"/>
          <a:lstStyle/>
          <a:p>
            <a:pPr eaLnBrk="1" fontAlgn="auto" latinLnBrk="0">
              <a:spcBef>
                <a:spcPts val="0"/>
              </a:spcBef>
              <a:spcAft>
                <a:spcPts val="0"/>
              </a:spcAft>
            </a:pPr>
            <a:endParaRPr kumimoji="0" lang="ko-KR" altLang="en-US"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grpSp>
        <p:nvGrpSpPr>
          <p:cNvPr id="2" name="그룹 296"/>
          <p:cNvGrpSpPr/>
          <p:nvPr/>
        </p:nvGrpSpPr>
        <p:grpSpPr>
          <a:xfrm>
            <a:off x="3216233" y="5429265"/>
            <a:ext cx="3524294" cy="1216014"/>
            <a:chOff x="3055327" y="5143503"/>
            <a:chExt cx="3166698" cy="1501775"/>
          </a:xfrm>
        </p:grpSpPr>
        <p:cxnSp>
          <p:nvCxnSpPr>
            <p:cNvPr id="18" name="直接连接符 92"/>
            <p:cNvCxnSpPr/>
            <p:nvPr/>
          </p:nvCxnSpPr>
          <p:spPr>
            <a:xfrm rot="5400000">
              <a:off x="5471199" y="5894452"/>
              <a:ext cx="1500187" cy="14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22"/>
            <p:cNvCxnSpPr/>
            <p:nvPr/>
          </p:nvCxnSpPr>
          <p:spPr>
            <a:xfrm rot="5400000">
              <a:off x="2305966" y="5892864"/>
              <a:ext cx="1500188" cy="14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1" name="TextBox 462"/>
          <p:cNvSpPr txBox="1">
            <a:spLocks noChangeArrowheads="1"/>
          </p:cNvSpPr>
          <p:nvPr/>
        </p:nvSpPr>
        <p:spPr bwMode="auto">
          <a:xfrm>
            <a:off x="111126" y="5706181"/>
            <a:ext cx="3113682" cy="1118243"/>
          </a:xfrm>
          <a:prstGeom prst="rect">
            <a:avLst/>
          </a:prstGeom>
          <a:noFill/>
          <a:ln w="9525">
            <a:noFill/>
            <a:miter lim="800000"/>
            <a:headEnd/>
            <a:tailEnd/>
          </a:ln>
        </p:spPr>
        <p:txBody>
          <a:bodyPr wrap="square" lIns="91429" tIns="45714" rIns="91429" bIns="45714" anchor="ctr">
            <a:spAutoFit/>
          </a:bodyPr>
          <a:lstStyle/>
          <a:p>
            <a:pPr eaLnBrk="1" fontAlgn="auto" latinLnBrk="0">
              <a:lnSpc>
                <a:spcPts val="1600"/>
              </a:lnSpc>
              <a:spcBef>
                <a:spcPts val="0"/>
              </a:spcBef>
              <a:spcAft>
                <a:spcPts val="0"/>
              </a:spcAft>
              <a:buFont typeface="Wingdings" pitchFamily="2" charset="2"/>
              <a:buChar char="p"/>
            </a:pPr>
            <a:r>
              <a:rPr sz="1000" dirty="0">
                <a:latin typeface="Arial"/>
              </a:rPr>
              <a:t> Date: Feb-2026</a:t>
            </a:r>
            <a:endParaRPr kumimoji="0" lang="en-US" altLang="zh-CN"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eaLnBrk="1" fontAlgn="auto" latinLnBrk="0">
              <a:lnSpc>
                <a:spcPts val="16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Line: IVI 5</a:t>
            </a:r>
          </a:p>
          <a:p>
            <a:pPr eaLnBrk="1" fontAlgn="auto" latinLnBrk="0">
              <a:lnSpc>
                <a:spcPts val="16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Area: FA production line</a:t>
            </a:r>
            <a:endParaRPr kumimoji="0" lang="en-US" altLang="zh-CN"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eaLnBrk="1" fontAlgn="auto" latinLnBrk="0">
              <a:lnSpc>
                <a:spcPts val="1600"/>
              </a:lnSpc>
              <a:spcBef>
                <a:spcPts val="0"/>
              </a:spcBef>
              <a:spcAft>
                <a:spcPts val="0"/>
              </a:spcAft>
              <a:buFont typeface="Wingdings" pitchFamily="2" charset="2"/>
              <a:buChar char="p"/>
            </a:pPr>
            <a:r>
              <a:rPr sz="1000" b="0" dirty="0">
                <a:latin typeface="Arial"/>
              </a:rPr>
              <a:t> Detail Checking: Visual check the cable of LCD with PCBA to check set OK or not</a:t>
            </a:r>
            <a:endParaRPr kumimoji="0" lang="zh-CN" altLang="en-US"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cxnSp>
        <p:nvCxnSpPr>
          <p:cNvPr id="28" name="직선 연결선 27"/>
          <p:cNvCxnSpPr/>
          <p:nvPr/>
        </p:nvCxnSpPr>
        <p:spPr>
          <a:xfrm rot="5400000">
            <a:off x="2878015" y="3059093"/>
            <a:ext cx="4722431" cy="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직선 연결선 28"/>
          <p:cNvCxnSpPr/>
          <p:nvPr/>
        </p:nvCxnSpPr>
        <p:spPr>
          <a:xfrm rot="5400000">
            <a:off x="4759190" y="3055344"/>
            <a:ext cx="4722431" cy="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 Box 12"/>
          <p:cNvSpPr txBox="1">
            <a:spLocks noChangeArrowheads="1"/>
          </p:cNvSpPr>
          <p:nvPr/>
        </p:nvSpPr>
        <p:spPr bwMode="auto">
          <a:xfrm>
            <a:off x="124634" y="694919"/>
            <a:ext cx="2445468" cy="373432"/>
          </a:xfrm>
          <a:prstGeom prst="rect">
            <a:avLst/>
          </a:prstGeom>
          <a:noFill/>
          <a:ln w="9525">
            <a:noFill/>
            <a:miter lim="800000"/>
            <a:headEnd/>
            <a:tailEnd/>
          </a:ln>
        </p:spPr>
        <p:txBody>
          <a:bodyPr wrap="square" lIns="95494" tIns="47750" rIns="95494" bIns="47750">
            <a:spAutoFit/>
          </a:bodyPr>
          <a:lstStyle/>
          <a:p>
            <a:pPr algn="ctr" defTabSz="957147" eaLnBrk="1" fontAlgn="auto" latinLnBrk="0">
              <a:spcBef>
                <a:spcPts val="0"/>
              </a:spcBef>
              <a:spcAft>
                <a:spcPts val="0"/>
              </a:spcAft>
            </a:pPr>
            <a:r>
              <a:rPr kumimoji="0" lang="en-US" altLang="ko-KR" sz="1000" b="1" dirty="0">
                <a:solidFill>
                  <a:prstClr val="black"/>
                </a:solidFill>
                <a:latin typeface="Arial" panose="020B0600000101010101" pitchFamily="34" charset="-127"/>
                <a:ea typeface="Arial" panose="020B0600000101010101" pitchFamily="34" charset="-127"/>
                <a:cs typeface="Arial" pitchFamily="34" charset="0"/>
              </a:rPr>
              <a:t>Problem</a:t>
            </a:r>
          </a:p>
        </p:txBody>
      </p:sp>
      <p:sp>
        <p:nvSpPr>
          <p:cNvPr id="34" name="TextBox 423"/>
          <p:cNvSpPr txBox="1">
            <a:spLocks noChangeArrowheads="1"/>
          </p:cNvSpPr>
          <p:nvPr/>
        </p:nvSpPr>
        <p:spPr bwMode="auto">
          <a:xfrm>
            <a:off x="1050274" y="5441972"/>
            <a:ext cx="1652587" cy="246209"/>
          </a:xfrm>
          <a:prstGeom prst="rect">
            <a:avLst/>
          </a:prstGeom>
          <a:noFill/>
          <a:ln w="9525">
            <a:noFill/>
            <a:miter lim="800000"/>
            <a:headEnd/>
            <a:tailEnd/>
          </a:ln>
        </p:spPr>
        <p:txBody>
          <a:bodyPr lIns="91429" tIns="45714" rIns="91429" bIns="45714">
            <a:spAutoFit/>
          </a:bodyPr>
          <a:lstStyle/>
          <a:p>
            <a:pPr eaLnBrk="1" fontAlgn="auto" latinLnBrk="0">
              <a:spcBef>
                <a:spcPts val="0"/>
              </a:spcBef>
              <a:spcAft>
                <a:spcPts val="0"/>
              </a:spcAft>
              <a:buFont typeface="Wingdings" pitchFamily="2" charset="2"/>
              <a:buChar char="Ø"/>
            </a:pPr>
            <a:r>
              <a:rPr kumimoji="0" lang="en-US" altLang="zh-CN" sz="1000" b="1" dirty="0">
                <a:solidFill>
                  <a:prstClr val="black"/>
                </a:solidFill>
                <a:latin typeface="Arial" panose="020B0600000101010101" pitchFamily="34" charset="-127"/>
                <a:ea typeface="Arial" panose="020B0600000101010101" pitchFamily="34" charset="-127"/>
                <a:cs typeface="Arial" pitchFamily="34" charset="0"/>
              </a:rPr>
              <a:t> Field Checking</a:t>
            </a:r>
            <a:endParaRPr kumimoji="0" lang="zh-CN" altLang="en-US" sz="10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35" name="TextBox 424"/>
          <p:cNvSpPr txBox="1">
            <a:spLocks noChangeArrowheads="1"/>
          </p:cNvSpPr>
          <p:nvPr/>
        </p:nvSpPr>
        <p:spPr bwMode="auto">
          <a:xfrm>
            <a:off x="3216235" y="5468792"/>
            <a:ext cx="3546518" cy="246209"/>
          </a:xfrm>
          <a:prstGeom prst="rect">
            <a:avLst/>
          </a:prstGeom>
          <a:noFill/>
          <a:ln w="9525">
            <a:noFill/>
            <a:miter lim="800000"/>
            <a:headEnd/>
            <a:tailEnd/>
          </a:ln>
        </p:spPr>
        <p:txBody>
          <a:bodyPr wrap="square" lIns="91429" tIns="45714" rIns="91429" bIns="45714">
            <a:spAutoFit/>
          </a:bodyPr>
          <a:lstStyle/>
          <a:p>
            <a:pPr algn="ctr" eaLnBrk="1" fontAlgn="auto" latinLnBrk="0">
              <a:spcBef>
                <a:spcPts val="0"/>
              </a:spcBef>
              <a:spcAft>
                <a:spcPts val="0"/>
              </a:spcAft>
              <a:buFont typeface="Wingdings" pitchFamily="2" charset="2"/>
              <a:buChar char="Ø"/>
            </a:pPr>
            <a:r>
              <a:rPr kumimoji="0" lang="en-US" altLang="zh-CN" sz="1000" b="1" dirty="0">
                <a:solidFill>
                  <a:prstClr val="black"/>
                </a:solidFill>
                <a:latin typeface="Arial" panose="020B0600000101010101" pitchFamily="34" charset="-127"/>
                <a:ea typeface="Arial" panose="020B0600000101010101" pitchFamily="34" charset="-127"/>
                <a:cs typeface="Arial" pitchFamily="34" charset="0"/>
              </a:rPr>
              <a:t> Field Workability  </a:t>
            </a:r>
            <a:endParaRPr kumimoji="0" lang="zh-CN" altLang="en-US" sz="10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36" name="TextBox 425"/>
          <p:cNvSpPr txBox="1">
            <a:spLocks noChangeArrowheads="1"/>
          </p:cNvSpPr>
          <p:nvPr/>
        </p:nvSpPr>
        <p:spPr bwMode="auto">
          <a:xfrm>
            <a:off x="6762753" y="5441972"/>
            <a:ext cx="2942775" cy="246209"/>
          </a:xfrm>
          <a:prstGeom prst="rect">
            <a:avLst/>
          </a:prstGeom>
          <a:noFill/>
          <a:ln w="9525">
            <a:noFill/>
            <a:miter lim="800000"/>
            <a:headEnd/>
            <a:tailEnd/>
          </a:ln>
        </p:spPr>
        <p:txBody>
          <a:bodyPr wrap="square" lIns="91429" tIns="45714" rIns="91429" bIns="45714">
            <a:spAutoFit/>
          </a:bodyPr>
          <a:lstStyle/>
          <a:p>
            <a:pPr algn="ctr" eaLnBrk="1" fontAlgn="auto" latinLnBrk="0">
              <a:spcBef>
                <a:spcPts val="0"/>
              </a:spcBef>
              <a:spcAft>
                <a:spcPts val="0"/>
              </a:spcAft>
              <a:buFont typeface="Wingdings" pitchFamily="2" charset="2"/>
              <a:buChar char="Ø"/>
            </a:pPr>
            <a:r>
              <a:rPr kumimoji="0" lang="en-US" altLang="zh-CN" sz="1000" b="1">
                <a:solidFill>
                  <a:prstClr val="black"/>
                </a:solidFill>
                <a:latin typeface="Arial" panose="020B0600000101010101" pitchFamily="34" charset="-127"/>
                <a:ea typeface="Arial" panose="020B0600000101010101" pitchFamily="34" charset="-127"/>
                <a:cs typeface="Arial" pitchFamily="34" charset="0"/>
              </a:rPr>
              <a:t> Field Interview</a:t>
            </a:r>
            <a:endParaRPr kumimoji="0" lang="zh-CN" altLang="en-US" sz="10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37" name="Text Box 16"/>
          <p:cNvSpPr txBox="1">
            <a:spLocks noChangeArrowheads="1"/>
          </p:cNvSpPr>
          <p:nvPr/>
        </p:nvSpPr>
        <p:spPr bwMode="auto">
          <a:xfrm>
            <a:off x="5230883" y="702924"/>
            <a:ext cx="1889092" cy="373432"/>
          </a:xfrm>
          <a:prstGeom prst="rect">
            <a:avLst/>
          </a:prstGeom>
          <a:noFill/>
          <a:ln w="9525">
            <a:noFill/>
            <a:miter lim="800000"/>
            <a:headEnd/>
            <a:tailEnd/>
          </a:ln>
        </p:spPr>
        <p:txBody>
          <a:bodyPr wrap="square" lIns="95494" tIns="47750" rIns="95494" bIns="47750">
            <a:spAutoFit/>
          </a:bodyPr>
          <a:lstStyle/>
          <a:p>
            <a:pPr algn="ctr" defTabSz="957147" eaLnBrk="1" fontAlgn="auto" latinLnBrk="0">
              <a:spcBef>
                <a:spcPts val="0"/>
              </a:spcBef>
              <a:spcAft>
                <a:spcPts val="0"/>
              </a:spcAft>
            </a:pPr>
            <a:r>
              <a:rPr kumimoji="0" lang="en-US" altLang="zh-CN" sz="1000" b="1" dirty="0">
                <a:solidFill>
                  <a:prstClr val="black"/>
                </a:solidFill>
                <a:latin typeface="Arial" panose="020B0600000101010101" pitchFamily="34" charset="-127"/>
                <a:ea typeface="Arial" panose="020B0600000101010101" pitchFamily="34" charset="-127"/>
                <a:cs typeface="Arial" pitchFamily="34" charset="0"/>
              </a:rPr>
              <a:t>Improvement</a:t>
            </a:r>
          </a:p>
        </p:txBody>
      </p:sp>
      <p:sp>
        <p:nvSpPr>
          <p:cNvPr id="38" name="Text Box 13"/>
          <p:cNvSpPr txBox="1">
            <a:spLocks noChangeArrowheads="1"/>
          </p:cNvSpPr>
          <p:nvPr/>
        </p:nvSpPr>
        <p:spPr bwMode="auto">
          <a:xfrm>
            <a:off x="2566230" y="714307"/>
            <a:ext cx="2672570" cy="373432"/>
          </a:xfrm>
          <a:prstGeom prst="rect">
            <a:avLst/>
          </a:prstGeom>
          <a:noFill/>
          <a:ln w="9525">
            <a:noFill/>
            <a:miter lim="800000"/>
            <a:headEnd/>
            <a:tailEnd/>
          </a:ln>
        </p:spPr>
        <p:txBody>
          <a:bodyPr wrap="square" lIns="95494" tIns="47750" rIns="95494" bIns="47750">
            <a:spAutoFit/>
          </a:bodyPr>
          <a:lstStyle/>
          <a:p>
            <a:pPr algn="ctr" defTabSz="957147" eaLnBrk="1" fontAlgn="auto" latinLnBrk="0">
              <a:spcBef>
                <a:spcPts val="0"/>
              </a:spcBef>
              <a:spcAft>
                <a:spcPts val="0"/>
              </a:spcAft>
            </a:pPr>
            <a:r>
              <a:rPr kumimoji="0" lang="en-US" altLang="ko-KR" sz="1000" b="1" dirty="0">
                <a:solidFill>
                  <a:prstClr val="black"/>
                </a:solidFill>
                <a:latin typeface="Arial" panose="020B0600000101010101" pitchFamily="34" charset="-127"/>
                <a:ea typeface="Arial" panose="020B0600000101010101" pitchFamily="34" charset="-127"/>
                <a:cs typeface="Arial" pitchFamily="34" charset="0"/>
              </a:rPr>
              <a:t>Cause</a:t>
            </a:r>
          </a:p>
        </p:txBody>
      </p:sp>
      <p:sp>
        <p:nvSpPr>
          <p:cNvPr id="40" name="TextBox 128"/>
          <p:cNvSpPr txBox="1">
            <a:spLocks noChangeArrowheads="1"/>
          </p:cNvSpPr>
          <p:nvPr/>
        </p:nvSpPr>
        <p:spPr bwMode="auto">
          <a:xfrm>
            <a:off x="7295558" y="1083346"/>
            <a:ext cx="1250472" cy="261523"/>
          </a:xfrm>
          <a:prstGeom prst="rect">
            <a:avLst/>
          </a:prstGeom>
          <a:noFill/>
          <a:ln w="9525">
            <a:noFill/>
            <a:miter lim="800000"/>
            <a:headEnd/>
            <a:tailEnd/>
          </a:ln>
        </p:spPr>
        <p:txBody>
          <a:bodyPr wrap="none" lIns="91345" tIns="45677" rIns="91345" bIns="45677">
            <a:spAutoFit/>
          </a:bodyPr>
          <a:lstStyle/>
          <a:p>
            <a:pPr eaLnBrk="1" fontAlgn="auto" latinLnBrk="0">
              <a:spcBef>
                <a:spcPts val="0"/>
              </a:spcBef>
              <a:spcAft>
                <a:spcPts val="0"/>
              </a:spcAft>
              <a:buFont typeface="Arial" pitchFamily="34" charset="0"/>
              <a:buChar char="•"/>
            </a:pPr>
            <a:r>
              <a:rPr kumimoji="0" lang="en-US" altLang="ko-KR" sz="1000" b="1" u="sng" dirty="0">
                <a:solidFill>
                  <a:prstClr val="black"/>
                </a:solidFill>
                <a:latin typeface="Arial" panose="020B0600000101010101" pitchFamily="34" charset="-127"/>
                <a:ea typeface="Arial" panose="020B0600000101010101" pitchFamily="34" charset="-127"/>
                <a:cs typeface="Arial" pitchFamily="34" charset="0"/>
              </a:rPr>
              <a:t> Progress</a:t>
            </a:r>
            <a:r>
              <a:rPr kumimoji="0" lang="ko-KR" altLang="en-US" sz="1000" b="1" u="sng" dirty="0">
                <a:solidFill>
                  <a:prstClr val="black"/>
                </a:solidFill>
                <a:latin typeface="Arial" panose="020B0600000101010101" pitchFamily="34" charset="-127"/>
                <a:ea typeface="Arial" panose="020B0600000101010101" pitchFamily="34" charset="-127"/>
                <a:cs typeface="Arial" pitchFamily="34" charset="0"/>
              </a:rPr>
              <a:t> </a:t>
            </a:r>
            <a:r>
              <a:rPr kumimoji="0" lang="en-US" altLang="ko-KR" sz="1000" b="1" u="sng" dirty="0">
                <a:solidFill>
                  <a:prstClr val="black"/>
                </a:solidFill>
                <a:latin typeface="Arial" panose="020B0600000101010101" pitchFamily="34" charset="-127"/>
                <a:ea typeface="Arial" panose="020B0600000101010101" pitchFamily="34" charset="-127"/>
                <a:cs typeface="Arial" pitchFamily="34" charset="0"/>
              </a:rPr>
              <a:t>Status</a:t>
            </a:r>
          </a:p>
        </p:txBody>
      </p:sp>
      <p:sp>
        <p:nvSpPr>
          <p:cNvPr id="41" name="Text Box 16"/>
          <p:cNvSpPr txBox="1">
            <a:spLocks noChangeArrowheads="1"/>
          </p:cNvSpPr>
          <p:nvPr/>
        </p:nvSpPr>
        <p:spPr bwMode="auto">
          <a:xfrm>
            <a:off x="7119975" y="702937"/>
            <a:ext cx="2600591" cy="373432"/>
          </a:xfrm>
          <a:prstGeom prst="rect">
            <a:avLst/>
          </a:prstGeom>
          <a:noFill/>
          <a:ln w="9525">
            <a:noFill/>
            <a:miter lim="800000"/>
            <a:headEnd/>
            <a:tailEnd/>
          </a:ln>
        </p:spPr>
        <p:txBody>
          <a:bodyPr wrap="square" lIns="95494" tIns="47750" rIns="95494" bIns="47750">
            <a:spAutoFit/>
          </a:bodyPr>
          <a:lstStyle/>
          <a:p>
            <a:pPr algn="ctr" defTabSz="957147" eaLnBrk="1" fontAlgn="auto" latinLnBrk="0">
              <a:spcBef>
                <a:spcPts val="0"/>
              </a:spcBef>
              <a:spcAft>
                <a:spcPts val="0"/>
              </a:spcAft>
            </a:pPr>
            <a:r>
              <a:rPr kumimoji="0" lang="en-US" altLang="zh-CN" sz="1000" b="1" dirty="0">
                <a:solidFill>
                  <a:prstClr val="black"/>
                </a:solidFill>
                <a:latin typeface="Arial" panose="020B0600000101010101" pitchFamily="34" charset="-127"/>
                <a:ea typeface="Arial" panose="020B0600000101010101" pitchFamily="34" charset="-127"/>
                <a:cs typeface="Arial" pitchFamily="34" charset="0"/>
              </a:rPr>
              <a:t>Progress  Monitoring</a:t>
            </a:r>
          </a:p>
        </p:txBody>
      </p:sp>
      <p:sp>
        <p:nvSpPr>
          <p:cNvPr id="42" name="Text Box 17"/>
          <p:cNvSpPr txBox="1">
            <a:spLocks noChangeArrowheads="1"/>
          </p:cNvSpPr>
          <p:nvPr/>
        </p:nvSpPr>
        <p:spPr bwMode="auto">
          <a:xfrm>
            <a:off x="8748000" y="1428105"/>
            <a:ext cx="540000" cy="198714"/>
          </a:xfrm>
          <a:prstGeom prst="rect">
            <a:avLst/>
          </a:prstGeom>
          <a:noFill/>
          <a:ln w="9525">
            <a:noFill/>
            <a:miter lim="800000"/>
            <a:headEnd/>
            <a:tailEnd/>
          </a:ln>
        </p:spPr>
        <p:txBody>
          <a:bodyPr wrap="square" lIns="18000" tIns="18000" rIns="18000" bIns="18000">
            <a:spAutoFit/>
          </a:bodyPr>
          <a:lstStyle/>
          <a:p>
            <a:pPr algn="ctr" defTabSz="750403" eaLnBrk="1" latinLnBrk="0"/>
            <a:r>
              <a:rPr lang="en-US" altLang="ko-KR" sz="900" dirty="0">
                <a:solidFill>
                  <a:prstClr val="black"/>
                </a:solidFill>
                <a:latin typeface="Arial" panose="020B0600000101010101" pitchFamily="34" charset="-127"/>
                <a:ea typeface="Arial" panose="020B0600000101010101" pitchFamily="34" charset="-127"/>
                <a:cs typeface="Arial" pitchFamily="34" charset="0"/>
              </a:rPr>
              <a:t>Owner</a:t>
            </a:r>
            <a:endParaRPr lang="en-US" altLang="zh-CN" sz="8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43" name="Text Box 20"/>
          <p:cNvSpPr txBox="1">
            <a:spLocks noChangeArrowheads="1"/>
          </p:cNvSpPr>
          <p:nvPr/>
        </p:nvSpPr>
        <p:spPr bwMode="auto">
          <a:xfrm>
            <a:off x="9270000" y="1436695"/>
            <a:ext cx="503999" cy="198714"/>
          </a:xfrm>
          <a:prstGeom prst="rect">
            <a:avLst/>
          </a:prstGeom>
          <a:noFill/>
          <a:ln w="9525">
            <a:noFill/>
            <a:miter lim="800000"/>
            <a:headEnd/>
            <a:tailEnd/>
          </a:ln>
        </p:spPr>
        <p:txBody>
          <a:bodyPr wrap="square" lIns="18000" tIns="18000" rIns="18000" bIns="18000">
            <a:spAutoFit/>
          </a:bodyPr>
          <a:lstStyle/>
          <a:p>
            <a:pPr algn="ctr" defTabSz="750403" eaLnBrk="1" latinLnBrk="0"/>
            <a:r>
              <a:rPr lang="en-US" altLang="zh-CN" sz="900" dirty="0">
                <a:solidFill>
                  <a:prstClr val="black"/>
                </a:solidFill>
                <a:latin typeface="Arial" panose="020B0600000101010101" pitchFamily="34" charset="-127"/>
                <a:ea typeface="Arial" panose="020B0600000101010101" pitchFamily="34" charset="-127"/>
                <a:cs typeface="Arial" pitchFamily="34" charset="0"/>
              </a:rPr>
              <a:t>Verify</a:t>
            </a:r>
          </a:p>
        </p:txBody>
      </p:sp>
      <p:sp>
        <p:nvSpPr>
          <p:cNvPr id="44" name="TextBox 474"/>
          <p:cNvSpPr txBox="1">
            <a:spLocks noChangeArrowheads="1"/>
          </p:cNvSpPr>
          <p:nvPr/>
        </p:nvSpPr>
        <p:spPr bwMode="auto">
          <a:xfrm>
            <a:off x="7150116" y="1417423"/>
            <a:ext cx="612000" cy="195491"/>
          </a:xfrm>
          <a:prstGeom prst="rect">
            <a:avLst/>
          </a:prstGeom>
          <a:noFill/>
          <a:ln w="9525">
            <a:noFill/>
            <a:miter lim="800000"/>
            <a:headEnd/>
            <a:tailEnd/>
          </a:ln>
        </p:spPr>
        <p:txBody>
          <a:bodyPr wrap="square" lIns="18000" tIns="18000" rIns="18000" bIns="18000">
            <a:spAutoFit/>
          </a:bodyPr>
          <a:lstStyle/>
          <a:p>
            <a:pPr algn="ctr" eaLnBrk="1" latinLnBrk="0"/>
            <a:r>
              <a:rPr lang="en-US" altLang="zh-CN" sz="900" b="1" dirty="0">
                <a:solidFill>
                  <a:prstClr val="black"/>
                </a:solidFill>
                <a:latin typeface="Arial" panose="020B0600000101010101" pitchFamily="34" charset="-127"/>
                <a:ea typeface="Arial" panose="020B0600000101010101" pitchFamily="34" charset="-127"/>
                <a:cs typeface="Arial" pitchFamily="34" charset="0"/>
              </a:rPr>
              <a:t>Remark</a:t>
            </a:r>
            <a:endParaRPr lang="zh-CN" altLang="en-US" sz="8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45" name="TextBox 476"/>
          <p:cNvSpPr txBox="1">
            <a:spLocks noChangeArrowheads="1"/>
          </p:cNvSpPr>
          <p:nvPr/>
        </p:nvSpPr>
        <p:spPr bwMode="auto">
          <a:xfrm>
            <a:off x="7740000" y="1346549"/>
            <a:ext cx="972000" cy="195491"/>
          </a:xfrm>
          <a:prstGeom prst="rect">
            <a:avLst/>
          </a:prstGeom>
          <a:noFill/>
          <a:ln w="9525">
            <a:noFill/>
            <a:miter lim="800000"/>
            <a:headEnd/>
            <a:tailEnd/>
          </a:ln>
        </p:spPr>
        <p:txBody>
          <a:bodyPr wrap="square" lIns="18000" tIns="18000" rIns="18000" bIns="18000">
            <a:spAutoFit/>
          </a:bodyPr>
          <a:lstStyle/>
          <a:p>
            <a:pPr algn="ctr" eaLnBrk="1" latinLnBrk="0"/>
            <a:r>
              <a:rPr lang="en-US" altLang="zh-CN" sz="900" dirty="0">
                <a:solidFill>
                  <a:prstClr val="black"/>
                </a:solidFill>
                <a:latin typeface="Arial" panose="020B0600000101010101" pitchFamily="34" charset="-127"/>
                <a:ea typeface="Arial" panose="020B0600000101010101" pitchFamily="34" charset="-127"/>
                <a:cs typeface="Arial" pitchFamily="34" charset="0"/>
              </a:rPr>
              <a:t>   </a:t>
            </a:r>
            <a:r>
              <a:rPr lang="en-US" altLang="zh-CN" sz="900" b="1" dirty="0">
                <a:solidFill>
                  <a:prstClr val="black"/>
                </a:solidFill>
                <a:latin typeface="Arial" panose="020B0600000101010101" pitchFamily="34" charset="-127"/>
                <a:ea typeface="Arial" panose="020B0600000101010101" pitchFamily="34" charset="-127"/>
                <a:cs typeface="Arial" pitchFamily="34" charset="0"/>
              </a:rPr>
              <a:t>Schedule</a:t>
            </a:r>
            <a:endParaRPr lang="zh-CN" altLang="en-US" sz="8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grpSp>
        <p:nvGrpSpPr>
          <p:cNvPr id="3" name="Group 121"/>
          <p:cNvGrpSpPr/>
          <p:nvPr/>
        </p:nvGrpSpPr>
        <p:grpSpPr>
          <a:xfrm>
            <a:off x="7151567" y="1362407"/>
            <a:ext cx="2533170" cy="1892995"/>
            <a:chOff x="5120821" y="1060197"/>
            <a:chExt cx="1877538" cy="1362964"/>
          </a:xfrm>
        </p:grpSpPr>
        <p:cxnSp>
          <p:nvCxnSpPr>
            <p:cNvPr id="47" name="直接连接符 118"/>
            <p:cNvCxnSpPr/>
            <p:nvPr/>
          </p:nvCxnSpPr>
          <p:spPr>
            <a:xfrm>
              <a:off x="5123679" y="1303136"/>
              <a:ext cx="1871568" cy="0"/>
            </a:xfrm>
            <a:prstGeom prst="lin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grpSp>
          <p:nvGrpSpPr>
            <p:cNvPr id="4" name="Group 93"/>
            <p:cNvGrpSpPr/>
            <p:nvPr/>
          </p:nvGrpSpPr>
          <p:grpSpPr>
            <a:xfrm>
              <a:off x="5120821" y="1060197"/>
              <a:ext cx="1877538" cy="1362964"/>
              <a:chOff x="5120821" y="1060197"/>
              <a:chExt cx="1877538" cy="1362964"/>
            </a:xfrm>
          </p:grpSpPr>
          <p:sp>
            <p:nvSpPr>
              <p:cNvPr id="50" name="矩形 115"/>
              <p:cNvSpPr/>
              <p:nvPr/>
            </p:nvSpPr>
            <p:spPr>
              <a:xfrm>
                <a:off x="5120821" y="1060197"/>
                <a:ext cx="1877538" cy="136296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3645" tIns="26822" rIns="53645" bIns="26822" anchor="ctr"/>
              <a:lstStyle/>
              <a:p>
                <a:pPr algn="ctr" latinLnBrk="0">
                  <a:defRPr/>
                </a:pPr>
                <a:endParaRPr lang="zh-CN" altLang="en-US" sz="17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cxnSp>
            <p:nvCxnSpPr>
              <p:cNvPr id="51" name="直接连接符 121"/>
              <p:cNvCxnSpPr/>
              <p:nvPr/>
            </p:nvCxnSpPr>
            <p:spPr>
              <a:xfrm rot="16200000" flipH="1">
                <a:off x="4865021" y="1741263"/>
                <a:ext cx="1353312"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126"/>
              <p:cNvCxnSpPr/>
              <p:nvPr/>
            </p:nvCxnSpPr>
            <p:spPr>
              <a:xfrm rot="16200000" flipH="1">
                <a:off x="5655761" y="1741444"/>
                <a:ext cx="136245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127"/>
              <p:cNvCxnSpPr>
                <a:cxnSpLocks/>
              </p:cNvCxnSpPr>
              <p:nvPr/>
            </p:nvCxnSpPr>
            <p:spPr>
              <a:xfrm>
                <a:off x="6718491" y="1066568"/>
                <a:ext cx="22403" cy="1356103"/>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130"/>
              <p:cNvCxnSpPr/>
              <p:nvPr/>
            </p:nvCxnSpPr>
            <p:spPr>
              <a:xfrm rot="5400000">
                <a:off x="5324829" y="1798251"/>
                <a:ext cx="1232039" cy="0"/>
              </a:xfrm>
              <a:prstGeom prst="line">
                <a:avLst/>
              </a:prstGeom>
              <a:ln w="635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49" name="直接连接符 129"/>
            <p:cNvCxnSpPr>
              <a:cxnSpLocks/>
            </p:cNvCxnSpPr>
            <p:nvPr/>
          </p:nvCxnSpPr>
          <p:spPr>
            <a:xfrm>
              <a:off x="5546192" y="1178144"/>
              <a:ext cx="788427" cy="0"/>
            </a:xfrm>
            <a:prstGeom prst="lin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grpSp>
      <p:cxnSp>
        <p:nvCxnSpPr>
          <p:cNvPr id="27" name="직선 연결선 26"/>
          <p:cNvCxnSpPr/>
          <p:nvPr/>
        </p:nvCxnSpPr>
        <p:spPr>
          <a:xfrm rot="5400000">
            <a:off x="197403" y="3053483"/>
            <a:ext cx="4722431" cy="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1" name="Rectangle 72"/>
          <p:cNvSpPr>
            <a:spLocks noChangeArrowheads="1"/>
          </p:cNvSpPr>
          <p:nvPr/>
        </p:nvSpPr>
        <p:spPr bwMode="auto">
          <a:xfrm>
            <a:off x="125999" y="1036800"/>
            <a:ext cx="2340000" cy="827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171450" indent="-171450" eaLnBrk="1" latinLnBrk="0">
              <a:lnSpc>
                <a:spcPts val="1600"/>
              </a:lnSpc>
              <a:buFont typeface="Wingdings" pitchFamily="2" charset="2"/>
              <a:buChar char="q"/>
            </a:pPr>
            <a:r>
              <a:rPr sz="950" b="1">
                <a:latin typeface="Arial"/>
              </a:rPr>
              <a:t>• Issue: Luminance NG ppm (Model: J1 Dual)</a:t>
            </a:r>
            <a:endParaRPr lang="vi-VN" altLang="ko-KR" sz="1100" b="1" dirty="0">
              <a:solidFill>
                <a:srgbClr val="000000"/>
              </a:solidFill>
              <a:latin typeface="LG Smart_H Regular" panose="020B0600000101010101" pitchFamily="34" charset="-127"/>
              <a:ea typeface="LG Smart_H Regular" panose="020B0600000101010101" pitchFamily="34" charset="-127"/>
              <a:cs typeface="Arial" pitchFamily="34" charset="0"/>
            </a:endParaRPr>
          </a:p>
          <a:p>
            <a:pPr eaLnBrk="1" latinLnBrk="0"/>
            <a:r>
              <a:rPr sz="950" b="0">
                <a:latin typeface="Arial"/>
              </a:rPr>
              <a:t>• Defect date: Feb-2026 | Station: Luminance</a:t>
            </a:r>
          </a:p>
          <a:p>
            <a:pPr eaLnBrk="1" latinLnBrk="0"/>
            <a:r>
              <a:rPr sz="950" b="0">
                <a:latin typeface="Arial"/>
              </a:rPr>
              <a:t>• Q’ty: 92 ea / 383,333 ppm (Total before: 143 ea / 631 = 226,624 ppm)</a:t>
            </a:r>
          </a:p>
        </p:txBody>
      </p:sp>
      <p:sp>
        <p:nvSpPr>
          <p:cNvPr id="65" name="TextBox 64"/>
          <p:cNvSpPr txBox="1"/>
          <p:nvPr/>
        </p:nvSpPr>
        <p:spPr>
          <a:xfrm>
            <a:off x="7637145" y="1560040"/>
            <a:ext cx="795298" cy="215444"/>
          </a:xfrm>
          <a:prstGeom prst="rect">
            <a:avLst/>
          </a:prstGeom>
          <a:noFill/>
        </p:spPr>
        <p:txBody>
          <a:bodyPr wrap="square" lIns="18000" tIns="18000" rIns="18000" bIns="18000" rtlCol="0">
            <a:spAutoFit/>
          </a:bodyPr>
          <a:lstStyle/>
          <a:p>
            <a:pPr algn="ctr" eaLnBrk="1" latinLnBrk="0"/>
            <a:r>
              <a:rPr lang="vi-VN" sz="1000" dirty="0">
                <a:latin typeface="Arial" panose="020B0600000101010101" pitchFamily="34" charset="-127"/>
                <a:ea typeface="Arial" panose="020B0600000101010101" pitchFamily="34" charset="-127"/>
                <a:cs typeface="Arial" pitchFamily="34" charset="0"/>
              </a:rPr>
              <a:t>Jun</a:t>
            </a:r>
            <a:endParaRPr lang="en-US" sz="800" dirty="0">
              <a:latin typeface="LG Smart_H Regular" panose="020B0600000101010101" pitchFamily="34" charset="-127"/>
              <a:ea typeface="LG Smart_H Regular" panose="020B0600000101010101" pitchFamily="34" charset="-127"/>
              <a:cs typeface="Arial" pitchFamily="34" charset="0"/>
            </a:endParaRPr>
          </a:p>
        </p:txBody>
      </p:sp>
      <p:sp>
        <p:nvSpPr>
          <p:cNvPr id="72" name="Text Box 60"/>
          <p:cNvSpPr txBox="1">
            <a:spLocks noChangeArrowheads="1"/>
          </p:cNvSpPr>
          <p:nvPr/>
        </p:nvSpPr>
        <p:spPr bwMode="auto">
          <a:xfrm>
            <a:off x="2556000" y="1036800"/>
            <a:ext cx="2592000" cy="2520000"/>
          </a:xfrm>
          <a:prstGeom prst="rect">
            <a:avLst/>
          </a:prstGeom>
          <a:noFill/>
          <a:ln w="9525">
            <a:noFill/>
            <a:miter lim="800000"/>
            <a:headEnd/>
            <a:tailEnd/>
          </a:ln>
        </p:spPr>
        <p:txBody>
          <a:bodyPr wrap="square" lIns="91307" tIns="45654" rIns="91307" bIns="45654">
            <a:noAutofit/>
          </a:bodyPr>
          <a:lstStyle/>
          <a:p>
            <a:pPr marL="171450" indent="-171450" eaLnBrk="1" fontAlgn="base" latinLnBrk="0">
              <a:lnSpc>
                <a:spcPct val="150000"/>
              </a:lnSpc>
              <a:spcBef>
                <a:spcPct val="0"/>
              </a:spcBef>
              <a:spcAft>
                <a:spcPct val="0"/>
              </a:spcAft>
              <a:buFont typeface="Wingdings" panose="05000000000000000000" pitchFamily="2" charset="2"/>
              <a:buChar char="q"/>
            </a:pPr>
            <a:r>
              <a:rPr sz="1000" b="1" dirty="0">
                <a:latin typeface="Arial"/>
              </a:rPr>
              <a:t>Root Cause: 5-Why Analysis</a:t>
            </a:r>
          </a:p>
          <a:p>
            <a:pPr eaLnBrk="1" latinLnBrk="0"/>
            <a:r>
              <a:rPr sz="900" b="0" dirty="0">
                <a:latin typeface="Arial"/>
              </a:rPr>
              <a:t>1. Why occur? Luminance value measured under spec (800~2000 Cd/m²).</a:t>
            </a:r>
          </a:p>
          <a:p>
            <a:pPr eaLnBrk="1" latinLnBrk="0"/>
            <a:r>
              <a:rPr sz="900" b="0" dirty="0">
                <a:latin typeface="Arial"/>
              </a:rPr>
              <a:t>2. Why under spec? Camera axis not perpendicular (90°) to the LCD surface.</a:t>
            </a:r>
          </a:p>
          <a:p>
            <a:pPr eaLnBrk="1" latinLnBrk="0"/>
            <a:r>
              <a:rPr sz="900" b="0" dirty="0">
                <a:latin typeface="Arial"/>
              </a:rPr>
              <a:t>3. Why angle changed? Long production time caused angle drift from 90° standard.</a:t>
            </a:r>
          </a:p>
          <a:p>
            <a:pPr eaLnBrk="1" latinLnBrk="0"/>
            <a:r>
              <a:rPr sz="900" b="0" dirty="0">
                <a:latin typeface="Arial"/>
              </a:rPr>
              <a:t>4. Why did angle drift? Dual display (PID/CID) requires camera motion; vibration loosened fixture.</a:t>
            </a:r>
          </a:p>
          <a:p>
            <a:pPr eaLnBrk="1" latinLnBrk="0"/>
            <a:r>
              <a:rPr sz="900" b="0" dirty="0">
                <a:latin typeface="Arial"/>
              </a:rPr>
              <a:t>5. Why no prevention? No daily Master sample check sheet to verify angle before production.</a:t>
            </a:r>
          </a:p>
        </p:txBody>
      </p:sp>
      <p:sp>
        <p:nvSpPr>
          <p:cNvPr id="77" name="Oval 76"/>
          <p:cNvSpPr/>
          <p:nvPr/>
        </p:nvSpPr>
        <p:spPr>
          <a:xfrm>
            <a:off x="9403135" y="1926797"/>
            <a:ext cx="237744" cy="23774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eaLnBrk="1" latinLnBrk="0"/>
            <a:endParaRPr lang="en-US" dirty="0">
              <a:latin typeface="LG Smart_H Regular" panose="020B0600000101010101" pitchFamily="34" charset="-127"/>
              <a:ea typeface="LG Smart_H Regular" panose="020B0600000101010101" pitchFamily="34" charset="-127"/>
            </a:endParaRPr>
          </a:p>
        </p:txBody>
      </p:sp>
      <p:sp>
        <p:nvSpPr>
          <p:cNvPr id="57" name="TextBox 56">
            <a:extLst>
              <a:ext uri="{FF2B5EF4-FFF2-40B4-BE49-F238E27FC236}">
                <a16:creationId xmlns:a16="http://schemas.microsoft.com/office/drawing/2014/main" id="{8637D2F0-6B90-41E4-9032-0E95A98516C0}"/>
              </a:ext>
            </a:extLst>
          </p:cNvPr>
          <p:cNvSpPr txBox="1"/>
          <p:nvPr/>
        </p:nvSpPr>
        <p:spPr>
          <a:xfrm>
            <a:off x="540000" y="3330000"/>
            <a:ext cx="1568113" cy="180000"/>
          </a:xfrm>
          <a:prstGeom prst="rect">
            <a:avLst/>
          </a:prstGeom>
          <a:noFill/>
        </p:spPr>
        <p:txBody>
          <a:bodyPr wrap="square" rtlCol="0">
            <a:noAutofit/>
          </a:bodyPr>
          <a:lstStyle/>
          <a:p>
            <a:pPr eaLnBrk="1" latinLnBrk="0"/>
            <a:r>
              <a:rPr lang="en-US" sz="1000" b="1" dirty="0">
                <a:latin typeface="Arial" panose="020B0600000101010101" pitchFamily="34" charset="-127"/>
                <a:ea typeface="Arial" panose="020B0600000101010101" pitchFamily="34" charset="-127"/>
              </a:rPr>
              <a:t>[Luminance NG]</a:t>
            </a:r>
          </a:p>
        </p:txBody>
      </p:sp>
      <p:sp>
        <p:nvSpPr>
          <p:cNvPr id="58" name="TextBox 57">
            <a:extLst>
              <a:ext uri="{FF2B5EF4-FFF2-40B4-BE49-F238E27FC236}">
                <a16:creationId xmlns:a16="http://schemas.microsoft.com/office/drawing/2014/main" id="{0F602090-E50C-4F49-B857-754EE553DF4D}"/>
              </a:ext>
            </a:extLst>
          </p:cNvPr>
          <p:cNvSpPr txBox="1"/>
          <p:nvPr/>
        </p:nvSpPr>
        <p:spPr>
          <a:xfrm>
            <a:off x="8155635" y="1499387"/>
            <a:ext cx="795298" cy="215444"/>
          </a:xfrm>
          <a:prstGeom prst="rect">
            <a:avLst/>
          </a:prstGeom>
          <a:noFill/>
        </p:spPr>
        <p:txBody>
          <a:bodyPr wrap="square" lIns="18000" tIns="18000" rIns="18000" bIns="18000" rtlCol="0">
            <a:spAutoFit/>
          </a:bodyPr>
          <a:lstStyle/>
          <a:p>
            <a:pPr algn="ctr" eaLnBrk="1" latinLnBrk="0"/>
            <a:endParaRPr lang="en-US" sz="800" dirty="0">
              <a:latin typeface="LG Smart_H Regular" panose="020B0600000101010101" pitchFamily="34" charset="-127"/>
              <a:ea typeface="LG Smart_H Regular" panose="020B0600000101010101" pitchFamily="34" charset="-127"/>
              <a:cs typeface="Arial" pitchFamily="34" charset="0"/>
            </a:endParaRPr>
          </a:p>
        </p:txBody>
      </p:sp>
      <p:cxnSp>
        <p:nvCxnSpPr>
          <p:cNvPr id="59" name="Straight Arrow Connector 58">
            <a:extLst>
              <a:ext uri="{FF2B5EF4-FFF2-40B4-BE49-F238E27FC236}">
                <a16:creationId xmlns:a16="http://schemas.microsoft.com/office/drawing/2014/main" id="{91CBDE20-C90F-4404-974B-0FCE7E1DC650}"/>
              </a:ext>
            </a:extLst>
          </p:cNvPr>
          <p:cNvCxnSpPr>
            <a:cxnSpLocks/>
          </p:cNvCxnSpPr>
          <p:nvPr/>
        </p:nvCxnSpPr>
        <p:spPr>
          <a:xfrm flipV="1">
            <a:off x="8073091" y="2049910"/>
            <a:ext cx="291298" cy="3238"/>
          </a:xfrm>
          <a:prstGeom prst="straightConnector1">
            <a:avLst/>
          </a:prstGeom>
          <a:ln>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55" name="TextBox 128">
            <a:extLst>
              <a:ext uri="{FF2B5EF4-FFF2-40B4-BE49-F238E27FC236}">
                <a16:creationId xmlns:a16="http://schemas.microsoft.com/office/drawing/2014/main" id="{983CA82C-C735-4016-BE24-6F82F94F46DC}"/>
              </a:ext>
            </a:extLst>
          </p:cNvPr>
          <p:cNvSpPr txBox="1">
            <a:spLocks noChangeArrowheads="1"/>
          </p:cNvSpPr>
          <p:nvPr/>
        </p:nvSpPr>
        <p:spPr bwMode="auto">
          <a:xfrm>
            <a:off x="5220000" y="1296000"/>
            <a:ext cx="1800000" cy="306000"/>
          </a:xfrm>
          <a:prstGeom prst="rect">
            <a:avLst/>
          </a:prstGeom>
          <a:noFill/>
          <a:ln w="9525">
            <a:noFill/>
            <a:miter lim="800000"/>
            <a:headEnd/>
            <a:tailEnd/>
          </a:ln>
        </p:spPr>
        <p:txBody>
          <a:bodyPr wrap="square" lIns="91345" tIns="45677" rIns="91345" bIns="45677">
            <a:noAutofit/>
          </a:bodyPr>
          <a:lstStyle/>
          <a:p>
            <a:pPr marL="171450" indent="-171450" eaLnBrk="1" latinLnBrk="0">
              <a:buFontTx/>
              <a:buChar char="-"/>
            </a:pPr>
            <a:r>
              <a:rPr sz="950" b="1">
                <a:latin typeface="Arial"/>
              </a:rPr>
              <a:t>1. Teaching robot &amp; adjust angle of CS2000 Camera (Std: 90.0°)</a:t>
            </a:r>
          </a:p>
        </p:txBody>
      </p:sp>
      <p:sp>
        <p:nvSpPr>
          <p:cNvPr id="64" name="TextBox 93">
            <a:extLst>
              <a:ext uri="{FF2B5EF4-FFF2-40B4-BE49-F238E27FC236}">
                <a16:creationId xmlns:a16="http://schemas.microsoft.com/office/drawing/2014/main" id="{EE94C9A6-714C-4DF8-A112-382381776DDE}"/>
              </a:ext>
            </a:extLst>
          </p:cNvPr>
          <p:cNvSpPr txBox="1"/>
          <p:nvPr/>
        </p:nvSpPr>
        <p:spPr>
          <a:xfrm>
            <a:off x="7782327" y="1801251"/>
            <a:ext cx="706509" cy="215444"/>
          </a:xfrm>
          <a:prstGeom prst="rect">
            <a:avLst/>
          </a:prstGeom>
          <a:noFill/>
        </p:spPr>
        <p:txBody>
          <a:bodyPr wrap="square" lIns="18000" tIns="18000" rIns="18000" bIns="18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0"/>
            <a:r>
              <a:rPr lang="en-US" sz="1000" dirty="0">
                <a:latin typeface="Arial" panose="020B0600000101010101" pitchFamily="34" charset="-127"/>
                <a:ea typeface="Arial" panose="020B0600000101010101" pitchFamily="34" charset="-127"/>
                <a:cs typeface="Arial" pitchFamily="34" charset="0"/>
              </a:rPr>
              <a:t>14- Jun</a:t>
            </a:r>
          </a:p>
        </p:txBody>
      </p:sp>
      <p:sp>
        <p:nvSpPr>
          <p:cNvPr id="66" name="TextBox 93">
            <a:extLst>
              <a:ext uri="{FF2B5EF4-FFF2-40B4-BE49-F238E27FC236}">
                <a16:creationId xmlns:a16="http://schemas.microsoft.com/office/drawing/2014/main" id="{8D337C30-8194-4ADE-93BE-89A00C68871C}"/>
              </a:ext>
            </a:extLst>
          </p:cNvPr>
          <p:cNvSpPr txBox="1"/>
          <p:nvPr/>
        </p:nvSpPr>
        <p:spPr>
          <a:xfrm>
            <a:off x="8712000" y="1930439"/>
            <a:ext cx="576000" cy="200055"/>
          </a:xfrm>
          <a:prstGeom prst="rect">
            <a:avLst/>
          </a:prstGeom>
          <a:noFill/>
        </p:spPr>
        <p:txBody>
          <a:bodyPr wrap="square" lIns="18000" tIns="18000" rIns="18000" bIns="18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0"/>
            <a:r>
              <a:rPr lang="vi-VN" sz="850" dirty="0">
                <a:latin typeface="Arial" panose="020B0600000101010101" pitchFamily="34" charset="-127"/>
                <a:ea typeface="Arial" panose="020B0600000101010101" pitchFamily="34" charset="-127"/>
                <a:cs typeface="Arial" pitchFamily="34" charset="0"/>
              </a:rPr>
              <a:t>Mr. </a:t>
            </a:r>
            <a:r>
              <a:rPr lang="en-US" sz="850" dirty="0">
                <a:latin typeface="Arial" panose="020B0600000101010101" pitchFamily="34" charset="-127"/>
                <a:ea typeface="Arial" panose="020B0600000101010101" pitchFamily="34" charset="-127"/>
                <a:cs typeface="Arial" pitchFamily="34" charset="0"/>
              </a:rPr>
              <a:t>Hung</a:t>
            </a:r>
            <a:r>
              <a:rPr lang="vi-VN" sz="850" dirty="0">
                <a:latin typeface="Arial" panose="020B0600000101010101" pitchFamily="34" charset="-127"/>
                <a:ea typeface="Arial" panose="020B0600000101010101" pitchFamily="34" charset="-127"/>
                <a:cs typeface="Arial" pitchFamily="34" charset="0"/>
              </a:rPr>
              <a:t> PE</a:t>
            </a:r>
            <a:endParaRPr lang="en-US" sz="700" dirty="0">
              <a:latin typeface="LG Smart_H Regular" panose="020B0600000101010101" pitchFamily="34" charset="-127"/>
              <a:ea typeface="LG Smart_H Regular" panose="020B0600000101010101" pitchFamily="34" charset="-127"/>
              <a:cs typeface="Arial" pitchFamily="34" charset="0"/>
            </a:endParaRPr>
          </a:p>
        </p:txBody>
      </p:sp>
      <p:sp>
        <p:nvSpPr>
          <p:cNvPr id="60" name="TextBox 128">
            <a:extLst>
              <a:ext uri="{FF2B5EF4-FFF2-40B4-BE49-F238E27FC236}">
                <a16:creationId xmlns:a16="http://schemas.microsoft.com/office/drawing/2014/main" id="{5666655F-1E01-4994-850E-5E6166294887}"/>
              </a:ext>
            </a:extLst>
          </p:cNvPr>
          <p:cNvSpPr txBox="1">
            <a:spLocks noChangeArrowheads="1"/>
          </p:cNvSpPr>
          <p:nvPr/>
        </p:nvSpPr>
        <p:spPr bwMode="auto">
          <a:xfrm>
            <a:off x="5207954" y="1063268"/>
            <a:ext cx="2207754" cy="276912"/>
          </a:xfrm>
          <a:prstGeom prst="rect">
            <a:avLst/>
          </a:prstGeom>
          <a:noFill/>
          <a:ln w="9525">
            <a:noFill/>
            <a:miter lim="800000"/>
            <a:headEnd/>
            <a:tailEnd/>
          </a:ln>
        </p:spPr>
        <p:txBody>
          <a:bodyPr wrap="square" lIns="91345" tIns="45677" rIns="91345" bIns="45677">
            <a:spAutoFit/>
          </a:bodyPr>
          <a:lstStyle/>
          <a:p>
            <a:pPr eaLnBrk="1" fontAlgn="auto" latinLnBrk="0">
              <a:spcBef>
                <a:spcPts val="0"/>
              </a:spcBef>
              <a:spcAft>
                <a:spcPts val="0"/>
              </a:spcAft>
              <a:buFont typeface="Wingdings" pitchFamily="2" charset="2"/>
              <a:buChar char="q"/>
            </a:pPr>
            <a:r>
              <a:rPr kumimoji="0" lang="en-US" altLang="ko-KR" sz="1000" b="1" u="sng" dirty="0">
                <a:solidFill>
                  <a:prstClr val="black"/>
                </a:solidFill>
                <a:latin typeface="Arial" panose="020B0600000101010101" pitchFamily="34" charset="-127"/>
                <a:ea typeface="Arial" panose="020B0600000101010101" pitchFamily="34" charset="-127"/>
                <a:cs typeface="Arial" panose="020B0604020202020204" pitchFamily="34" charset="0"/>
              </a:rPr>
              <a:t> Improvement</a:t>
            </a:r>
          </a:p>
        </p:txBody>
      </p:sp>
      <p:sp>
        <p:nvSpPr>
          <p:cNvPr id="62" name="TextBox 128">
            <a:extLst>
              <a:ext uri="{FF2B5EF4-FFF2-40B4-BE49-F238E27FC236}">
                <a16:creationId xmlns:a16="http://schemas.microsoft.com/office/drawing/2014/main" id="{C66630D7-5675-4F9F-B957-7BEA31EDB70D}"/>
              </a:ext>
            </a:extLst>
          </p:cNvPr>
          <p:cNvSpPr txBox="1">
            <a:spLocks noChangeArrowheads="1"/>
          </p:cNvSpPr>
          <p:nvPr/>
        </p:nvSpPr>
        <p:spPr bwMode="auto">
          <a:xfrm>
            <a:off x="7128000" y="1842413"/>
            <a:ext cx="630000" cy="492356"/>
          </a:xfrm>
          <a:prstGeom prst="rect">
            <a:avLst/>
          </a:prstGeom>
          <a:noFill/>
          <a:ln w="9525">
            <a:noFill/>
            <a:miter lim="800000"/>
            <a:headEnd/>
            <a:tailEnd/>
          </a:ln>
        </p:spPr>
        <p:txBody>
          <a:bodyPr wrap="square" lIns="18000" tIns="18000" rIns="18000" bIns="18000">
            <a:spAutoFit/>
          </a:bodyPr>
          <a:lstStyle/>
          <a:p>
            <a:pPr eaLnBrk="1" latinLnBrk="0"/>
            <a:r>
              <a:rPr sz="850">
                <a:latin typeface="Arial"/>
              </a:rPr>
              <a:t>1. Adjust angle</a:t>
            </a:r>
          </a:p>
          <a:p>
            <a:pPr eaLnBrk="1" latinLnBrk="0"/>
            <a:r>
              <a:rPr sz="850">
                <a:latin typeface="Arial"/>
              </a:rPr>
              <a:t>of CS2000</a:t>
            </a:r>
          </a:p>
          <a:p>
            <a:pPr eaLnBrk="1" latinLnBrk="0"/>
            <a:r>
              <a:rPr sz="850">
                <a:latin typeface="Arial"/>
              </a:rPr>
              <a:t>Camera</a:t>
            </a:r>
          </a:p>
        </p:txBody>
      </p:sp>
      <p:cxnSp>
        <p:nvCxnSpPr>
          <p:cNvPr id="67" name="Straight Arrow Connector 66">
            <a:extLst>
              <a:ext uri="{FF2B5EF4-FFF2-40B4-BE49-F238E27FC236}">
                <a16:creationId xmlns:a16="http://schemas.microsoft.com/office/drawing/2014/main" id="{DC0D2E81-B641-4A00-AC8D-397DF12660C0}"/>
              </a:ext>
            </a:extLst>
          </p:cNvPr>
          <p:cNvCxnSpPr>
            <a:cxnSpLocks/>
          </p:cNvCxnSpPr>
          <p:nvPr/>
        </p:nvCxnSpPr>
        <p:spPr>
          <a:xfrm flipV="1">
            <a:off x="8074192" y="2521219"/>
            <a:ext cx="291298" cy="3238"/>
          </a:xfrm>
          <a:prstGeom prst="straightConnector1">
            <a:avLst/>
          </a:prstGeom>
          <a:ln>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34AC5C43-25D8-45D4-B158-4429C0460685}"/>
              </a:ext>
            </a:extLst>
          </p:cNvPr>
          <p:cNvSpPr/>
          <p:nvPr/>
        </p:nvSpPr>
        <p:spPr>
          <a:xfrm>
            <a:off x="9403135" y="2389989"/>
            <a:ext cx="237744" cy="23774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eaLnBrk="1" latinLnBrk="0"/>
            <a:endParaRPr lang="en-US" dirty="0">
              <a:latin typeface="LG Smart_H Regular" panose="020B0600000101010101" pitchFamily="34" charset="-127"/>
              <a:ea typeface="LG Smart_H Regular" panose="020B0600000101010101" pitchFamily="34" charset="-127"/>
            </a:endParaRPr>
          </a:p>
        </p:txBody>
      </p:sp>
      <p:sp>
        <p:nvSpPr>
          <p:cNvPr id="73" name="TextBox 93">
            <a:extLst>
              <a:ext uri="{FF2B5EF4-FFF2-40B4-BE49-F238E27FC236}">
                <a16:creationId xmlns:a16="http://schemas.microsoft.com/office/drawing/2014/main" id="{40D0226D-DEC2-4D06-9639-C07205FDEEC5}"/>
              </a:ext>
            </a:extLst>
          </p:cNvPr>
          <p:cNvSpPr txBox="1"/>
          <p:nvPr/>
        </p:nvSpPr>
        <p:spPr>
          <a:xfrm>
            <a:off x="7809419" y="2311324"/>
            <a:ext cx="706509" cy="215444"/>
          </a:xfrm>
          <a:prstGeom prst="rect">
            <a:avLst/>
          </a:prstGeom>
          <a:noFill/>
        </p:spPr>
        <p:txBody>
          <a:bodyPr wrap="square" lIns="18000" tIns="18000" rIns="18000" bIns="18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0"/>
            <a:r>
              <a:rPr lang="en-US" sz="1000" dirty="0">
                <a:latin typeface="Arial" panose="020B0600000101010101" pitchFamily="34" charset="-127"/>
                <a:ea typeface="Arial" panose="020B0600000101010101" pitchFamily="34" charset="-127"/>
                <a:cs typeface="Arial" pitchFamily="34" charset="0"/>
              </a:rPr>
              <a:t>14- Jun</a:t>
            </a:r>
          </a:p>
        </p:txBody>
      </p:sp>
      <p:sp>
        <p:nvSpPr>
          <p:cNvPr id="82" name="TextBox 128">
            <a:extLst>
              <a:ext uri="{FF2B5EF4-FFF2-40B4-BE49-F238E27FC236}">
                <a16:creationId xmlns:a16="http://schemas.microsoft.com/office/drawing/2014/main" id="{313E9328-5552-484F-A3B2-16E4CFD45CD3}"/>
              </a:ext>
            </a:extLst>
          </p:cNvPr>
          <p:cNvSpPr txBox="1">
            <a:spLocks noChangeArrowheads="1"/>
          </p:cNvSpPr>
          <p:nvPr/>
        </p:nvSpPr>
        <p:spPr bwMode="auto">
          <a:xfrm>
            <a:off x="7128000" y="2392728"/>
            <a:ext cx="630000" cy="276912"/>
          </a:xfrm>
          <a:prstGeom prst="rect">
            <a:avLst/>
          </a:prstGeom>
          <a:noFill/>
          <a:ln w="9525">
            <a:noFill/>
            <a:miter lim="800000"/>
            <a:headEnd/>
            <a:tailEnd/>
          </a:ln>
        </p:spPr>
        <p:txBody>
          <a:bodyPr wrap="square" lIns="18000" tIns="18000" rIns="18000" bIns="18000">
            <a:spAutoFit/>
          </a:bodyPr>
          <a:lstStyle/>
          <a:p>
            <a:pPr eaLnBrk="1" latinLnBrk="0"/>
            <a:r>
              <a:rPr sz="850">
                <a:latin typeface="Arial"/>
              </a:rPr>
              <a:t>2. Monitoring</a:t>
            </a:r>
          </a:p>
          <a:p>
            <a:pPr eaLnBrk="1" latinLnBrk="0"/>
            <a:r>
              <a:rPr sz="850">
                <a:latin typeface="Arial"/>
              </a:rPr>
              <a:t>result</a:t>
            </a:r>
          </a:p>
        </p:txBody>
      </p:sp>
      <p:sp>
        <p:nvSpPr>
          <p:cNvPr id="89" name="TextBox 93">
            <a:extLst>
              <a:ext uri="{FF2B5EF4-FFF2-40B4-BE49-F238E27FC236}">
                <a16:creationId xmlns:a16="http://schemas.microsoft.com/office/drawing/2014/main" id="{754F827D-7B4C-4967-985B-F20B89D9F272}"/>
              </a:ext>
            </a:extLst>
          </p:cNvPr>
          <p:cNvSpPr txBox="1"/>
          <p:nvPr/>
        </p:nvSpPr>
        <p:spPr>
          <a:xfrm>
            <a:off x="8712000" y="2413420"/>
            <a:ext cx="576000" cy="200055"/>
          </a:xfrm>
          <a:prstGeom prst="rect">
            <a:avLst/>
          </a:prstGeom>
          <a:noFill/>
        </p:spPr>
        <p:txBody>
          <a:bodyPr wrap="square" lIns="18000" tIns="18000" rIns="18000" bIns="18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0"/>
            <a:r>
              <a:rPr lang="vi-VN" sz="850" dirty="0">
                <a:latin typeface="Arial" panose="020B0600000101010101" pitchFamily="34" charset="-127"/>
                <a:ea typeface="Arial" panose="020B0600000101010101" pitchFamily="34" charset="-127"/>
                <a:cs typeface="Arial" pitchFamily="34" charset="0"/>
              </a:rPr>
              <a:t>Mr. </a:t>
            </a:r>
            <a:r>
              <a:rPr lang="en-US" sz="850" dirty="0">
                <a:latin typeface="Arial" panose="020B0600000101010101" pitchFamily="34" charset="-127"/>
                <a:ea typeface="Arial" panose="020B0600000101010101" pitchFamily="34" charset="-127"/>
                <a:cs typeface="Arial" pitchFamily="34" charset="0"/>
              </a:rPr>
              <a:t>Hung </a:t>
            </a:r>
            <a:r>
              <a:rPr lang="vi-VN" sz="850" dirty="0">
                <a:latin typeface="Arial" panose="020B0600000101010101" pitchFamily="34" charset="-127"/>
                <a:ea typeface="Arial" panose="020B0600000101010101" pitchFamily="34" charset="-127"/>
                <a:cs typeface="Arial" pitchFamily="34" charset="0"/>
              </a:rPr>
              <a:t>PE</a:t>
            </a:r>
            <a:endParaRPr lang="en-US" sz="700" dirty="0">
              <a:latin typeface="LG Smart_H Regular" panose="020B0600000101010101" pitchFamily="34" charset="-127"/>
              <a:ea typeface="LG Smart_H Regular" panose="020B0600000101010101" pitchFamily="34" charset="-127"/>
              <a:cs typeface="Arial" pitchFamily="34" charset="0"/>
            </a:endParaRPr>
          </a:p>
        </p:txBody>
      </p:sp>
      <p:sp>
        <p:nvSpPr>
          <p:cNvPr id="96" name="Slide Number Placeholder 4">
            <a:extLst>
              <a:ext uri="{FF2B5EF4-FFF2-40B4-BE49-F238E27FC236}">
                <a16:creationId xmlns:a16="http://schemas.microsoft.com/office/drawing/2014/main" id="{14609694-DD49-4E0A-9942-EE39A65918AD}"/>
              </a:ext>
            </a:extLst>
          </p:cNvPr>
          <p:cNvSpPr>
            <a:spLocks noGrp="1"/>
          </p:cNvSpPr>
          <p:nvPr>
            <p:ph type="sldNum" sz="quarter" idx="12"/>
          </p:nvPr>
        </p:nvSpPr>
        <p:spPr>
          <a:xfrm>
            <a:off x="3581025" y="6631416"/>
            <a:ext cx="2133600" cy="198047"/>
          </a:xfrm>
        </p:spPr>
        <p:txBody>
          <a:bodyPr/>
          <a:lstStyle/>
          <a:p>
            <a:pPr algn="ctr" eaLnBrk="1" latinLnBrk="0"/>
            <a:r>
              <a:rPr sz="1000" b="0">
                <a:latin typeface="Arial"/>
              </a:rPr>
              <a:t>17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83" name="AutoShape 55">
            <a:extLst>
              <a:ext uri="{FF2B5EF4-FFF2-40B4-BE49-F238E27FC236}">
                <a16:creationId xmlns:a16="http://schemas.microsoft.com/office/drawing/2014/main" id="{5FF6A60A-3B00-49E1-A8A5-82E4EB233D05}"/>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98" name="AutoShape 56">
            <a:extLst>
              <a:ext uri="{FF2B5EF4-FFF2-40B4-BE49-F238E27FC236}">
                <a16:creationId xmlns:a16="http://schemas.microsoft.com/office/drawing/2014/main" id="{BE828803-685E-4F72-BA18-05549CE77D40}"/>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00" name="AutoShape 59">
            <a:extLst>
              <a:ext uri="{FF2B5EF4-FFF2-40B4-BE49-F238E27FC236}">
                <a16:creationId xmlns:a16="http://schemas.microsoft.com/office/drawing/2014/main" id="{A2335E91-637C-41F5-8FF2-3999615C314E}"/>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grpSp>
        <p:nvGrpSpPr>
          <p:cNvPr id="5" name="Group 4">
            <a:extLst>
              <a:ext uri="{FF2B5EF4-FFF2-40B4-BE49-F238E27FC236}">
                <a16:creationId xmlns:a16="http://schemas.microsoft.com/office/drawing/2014/main" id="{70CCCD43-E2C8-4475-B7AC-985605111E3B}"/>
              </a:ext>
            </a:extLst>
          </p:cNvPr>
          <p:cNvGrpSpPr/>
          <p:nvPr/>
        </p:nvGrpSpPr>
        <p:grpSpPr>
          <a:xfrm>
            <a:off x="159196" y="2090051"/>
            <a:ext cx="2340000" cy="1321200"/>
            <a:chOff x="151863" y="2084210"/>
            <a:chExt cx="3735245" cy="2027105"/>
          </a:xfrm>
        </p:grpSpPr>
        <p:pic>
          <p:nvPicPr>
            <p:cNvPr id="81" name="Picture 80">
              <a:extLst>
                <a:ext uri="{FF2B5EF4-FFF2-40B4-BE49-F238E27FC236}">
                  <a16:creationId xmlns:a16="http://schemas.microsoft.com/office/drawing/2014/main" id="{1F7EBDA6-5181-4B85-984A-6B5EEF35655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5728" r="13608" b="9278"/>
            <a:stretch/>
          </p:blipFill>
          <p:spPr>
            <a:xfrm>
              <a:off x="169923" y="2084210"/>
              <a:ext cx="3699125" cy="1728031"/>
            </a:xfrm>
            <a:prstGeom prst="rect">
              <a:avLst/>
            </a:prstGeom>
          </p:spPr>
        </p:pic>
        <p:pic>
          <p:nvPicPr>
            <p:cNvPr id="102" name="Picture 101">
              <a:extLst>
                <a:ext uri="{FF2B5EF4-FFF2-40B4-BE49-F238E27FC236}">
                  <a16:creationId xmlns:a16="http://schemas.microsoft.com/office/drawing/2014/main" id="{472B5B2A-7AF0-481A-9348-20F0F45334F2}"/>
                </a:ext>
              </a:extLst>
            </p:cNvPr>
            <p:cNvPicPr>
              <a:picLocks noChangeAspect="1"/>
            </p:cNvPicPr>
            <p:nvPr/>
          </p:nvPicPr>
          <p:blipFill rotWithShape="1">
            <a:blip r:embed="rId4"/>
            <a:srcRect t="6181"/>
            <a:stretch/>
          </p:blipFill>
          <p:spPr>
            <a:xfrm>
              <a:off x="151863" y="3812241"/>
              <a:ext cx="3735245" cy="299074"/>
            </a:xfrm>
            <a:prstGeom prst="rect">
              <a:avLst/>
            </a:prstGeom>
          </p:spPr>
        </p:pic>
      </p:grpSp>
      <p:sp>
        <p:nvSpPr>
          <p:cNvPr id="68" name="AutoShape 58">
            <a:extLst>
              <a:ext uri="{FF2B5EF4-FFF2-40B4-BE49-F238E27FC236}">
                <a16:creationId xmlns:a16="http://schemas.microsoft.com/office/drawing/2014/main" id="{8439CF7A-E4A4-48F9-BB8E-8C6D35963389}"/>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70" name="AutoShape 57">
            <a:extLst>
              <a:ext uri="{FF2B5EF4-FFF2-40B4-BE49-F238E27FC236}">
                <a16:creationId xmlns:a16="http://schemas.microsoft.com/office/drawing/2014/main" id="{56AAA23E-69A7-4A40-B391-03F1B1B425D9}"/>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63" name="제목 1">
            <a:extLst>
              <a:ext uri="{FF2B5EF4-FFF2-40B4-BE49-F238E27FC236}">
                <a16:creationId xmlns:a16="http://schemas.microsoft.com/office/drawing/2014/main" id="{88D77FF8-1554-4412-B6B1-066B61688658}"/>
              </a:ext>
            </a:extLst>
          </p:cNvPr>
          <p:cNvSpPr txBox="1">
            <a:spLocks/>
          </p:cNvSpPr>
          <p:nvPr/>
        </p:nvSpPr>
        <p:spPr>
          <a:xfrm>
            <a:off x="28800" y="64800"/>
            <a:ext cx="5940000" cy="396000"/>
          </a:xfrm>
          <a:prstGeom prst="rect">
            <a:avLst/>
          </a:prstGeom>
        </p:spPr>
        <p:txBody>
          <a:bodyPr vert="horz" lIns="91440" tIns="45720" rIns="91440" bIns="45720" rtlCol="0" anchor="ctr">
            <a:noAutofit/>
          </a:bodyPr>
          <a:lstStyle/>
          <a:p>
            <a:pPr eaLnBrk="1" latinLnBrk="0" hangingPunct="0">
              <a:defRPr/>
            </a:pPr>
            <a:r>
              <a:rPr lang="vi-VN" altLang="ko-KR" sz="1300" b="1" kern="0" dirty="0">
                <a:solidFill>
                  <a:srgbClr val="000000"/>
                </a:solidFill>
                <a:latin typeface="Arial" panose="020B0606020202030204" pitchFamily="34" charset="0"/>
                <a:ea typeface="LG Smart_H Regular" pitchFamily="34" charset="-127"/>
              </a:rPr>
              <a:t>3.1</a:t>
            </a:r>
            <a:r>
              <a:rPr lang="en-US" altLang="ko-KR" sz="1300" b="1" kern="0" dirty="0">
                <a:solidFill>
                  <a:srgbClr val="000000"/>
                </a:solidFill>
                <a:latin typeface="Arial" panose="020B0606020202030204" pitchFamily="34" charset="0"/>
                <a:ea typeface="LG Smart_H Regular" pitchFamily="34" charset="-127"/>
              </a:rPr>
              <a:t xml:space="preserve">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pic>
        <p:nvPicPr>
          <p:cNvPr id="71" name="Picture 70">
            <a:extLst>
              <a:ext uri="{FF2B5EF4-FFF2-40B4-BE49-F238E27FC236}">
                <a16:creationId xmlns:a16="http://schemas.microsoft.com/office/drawing/2014/main" id="{BB59170F-BA1F-4852-BC1D-995D04CFD141}"/>
              </a:ext>
            </a:extLst>
          </p:cNvPr>
          <p:cNvPicPr>
            <a:picLocks/>
          </p:cNvPicPr>
          <p:nvPr/>
        </p:nvPicPr>
        <p:blipFill>
          <a:blip r:embed="rId5"/>
          <a:stretch>
            <a:fillRect/>
          </a:stretch>
        </p:blipFill>
        <p:spPr>
          <a:xfrm>
            <a:off x="5328000" y="1638000"/>
            <a:ext cx="1512000" cy="900000"/>
          </a:xfrm>
          <a:prstGeom prst="rect">
            <a:avLst/>
          </a:prstGeom>
        </p:spPr>
      </p:pic>
      <p:cxnSp>
        <p:nvCxnSpPr>
          <p:cNvPr id="74" name="Straight Connector 73">
            <a:extLst>
              <a:ext uri="{FF2B5EF4-FFF2-40B4-BE49-F238E27FC236}">
                <a16:creationId xmlns:a16="http://schemas.microsoft.com/office/drawing/2014/main" id="{CC4C4646-645C-4749-997E-6E7BC56E3BFC}"/>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5B8976FD-D84B-4631-B28C-087AEA346DD6}"/>
              </a:ext>
            </a:extLst>
          </p:cNvPr>
          <p:cNvPicPr>
            <a:picLocks noChangeAspect="1"/>
          </p:cNvPicPr>
          <p:nvPr/>
        </p:nvPicPr>
        <p:blipFill>
          <a:blip r:embed="rId6"/>
          <a:stretch>
            <a:fillRect/>
          </a:stretch>
        </p:blipFill>
        <p:spPr>
          <a:xfrm>
            <a:off x="5364000" y="3024000"/>
            <a:ext cx="1368000" cy="900000"/>
          </a:xfrm>
          <a:prstGeom prst="rect">
            <a:avLst/>
          </a:prstGeom>
        </p:spPr>
      </p:pic>
      <p:sp>
        <p:nvSpPr>
          <p:cNvPr id="122" name="TextBox 121"/>
          <p:cNvSpPr txBox="1"/>
          <p:nvPr/>
        </p:nvSpPr>
        <p:spPr>
          <a:xfrm>
            <a:off x="5220000" y="2592000"/>
            <a:ext cx="1800000" cy="396000"/>
          </a:xfrm>
          <a:prstGeom prst="rect">
            <a:avLst/>
          </a:prstGeom>
          <a:noFill/>
        </p:spPr>
        <p:txBody>
          <a:bodyPr wrap="square">
            <a:noAutofit/>
          </a:bodyPr>
          <a:lstStyle/>
          <a:p>
            <a:pPr eaLnBrk="1" latinLnBrk="0"/>
            <a:r>
              <a:rPr sz="950" b="1">
                <a:latin typeface="Arial"/>
              </a:rPr>
              <a:t>2. Add check sheet to measure Master sample and verify Camera angle</a:t>
            </a:r>
          </a:p>
        </p:txBody>
      </p:sp>
      <p:sp>
        <p:nvSpPr>
          <p:cNvPr id="123" name="TextBox 122"/>
          <p:cNvSpPr txBox="1"/>
          <p:nvPr/>
        </p:nvSpPr>
        <p:spPr>
          <a:xfrm>
            <a:off x="5220000" y="3996000"/>
            <a:ext cx="1800000" cy="324000"/>
          </a:xfrm>
          <a:prstGeom prst="rect">
            <a:avLst/>
          </a:prstGeom>
          <a:noFill/>
        </p:spPr>
        <p:txBody>
          <a:bodyPr wrap="square">
            <a:noAutofit/>
          </a:bodyPr>
          <a:lstStyle/>
          <a:p>
            <a:pPr eaLnBrk="1" latinLnBrk="0"/>
            <a:r>
              <a:rPr sz="950" b="1">
                <a:latin typeface="Arial"/>
              </a:rPr>
              <a:t>3. Inform supplier (Heesung): LCD is not a cause (returned LCD OK at vendor), no process change needed</a:t>
            </a:r>
          </a:p>
        </p:txBody>
      </p:sp>
    </p:spTree>
    <p:extLst>
      <p:ext uri="{BB962C8B-B14F-4D97-AF65-F5344CB8AC3E}">
        <p14:creationId xmlns:p14="http://schemas.microsoft.com/office/powerpoint/2010/main" val="29144130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utoShape 57">
            <a:extLst>
              <a:ext uri="{FF2B5EF4-FFF2-40B4-BE49-F238E27FC236}">
                <a16:creationId xmlns:a16="http://schemas.microsoft.com/office/drawing/2014/main" id="{070DE589-DDD5-47D1-A503-62ED9BC3ABFC}"/>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32" name="AutoShape 55">
            <a:extLst>
              <a:ext uri="{FF2B5EF4-FFF2-40B4-BE49-F238E27FC236}">
                <a16:creationId xmlns:a16="http://schemas.microsoft.com/office/drawing/2014/main" id="{192872DD-0F6D-41C2-83BA-E80AF9901EF4}"/>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33" name="AutoShape 56">
            <a:extLst>
              <a:ext uri="{FF2B5EF4-FFF2-40B4-BE49-F238E27FC236}">
                <a16:creationId xmlns:a16="http://schemas.microsoft.com/office/drawing/2014/main" id="{23631B7D-C17E-41E8-9D6B-B9B3F68937B1}"/>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35" name="AutoShape 59">
            <a:extLst>
              <a:ext uri="{FF2B5EF4-FFF2-40B4-BE49-F238E27FC236}">
                <a16:creationId xmlns:a16="http://schemas.microsoft.com/office/drawing/2014/main" id="{89F6BFB0-96B2-4FA3-ABFE-85257141B92E}"/>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36" name="AutoShape 58">
            <a:extLst>
              <a:ext uri="{FF2B5EF4-FFF2-40B4-BE49-F238E27FC236}">
                <a16:creationId xmlns:a16="http://schemas.microsoft.com/office/drawing/2014/main" id="{44574530-997A-46EB-A83C-40E10BC125A9}"/>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pic>
        <p:nvPicPr>
          <p:cNvPr id="14" name="Picture 13">
            <a:extLst>
              <a:ext uri="{FF2B5EF4-FFF2-40B4-BE49-F238E27FC236}">
                <a16:creationId xmlns:a16="http://schemas.microsoft.com/office/drawing/2014/main" id="{5B082D17-34B4-449C-8443-54621443924F}"/>
              </a:ext>
            </a:extLst>
          </p:cNvPr>
          <p:cNvPicPr>
            <a:picLocks/>
          </p:cNvPicPr>
          <p:nvPr/>
        </p:nvPicPr>
        <p:blipFill>
          <a:blip r:embed="rId2"/>
          <a:stretch>
            <a:fillRect/>
          </a:stretch>
        </p:blipFill>
        <p:spPr>
          <a:xfrm>
            <a:off x="5685274" y="3598209"/>
            <a:ext cx="1972979" cy="1320070"/>
          </a:xfrm>
          <a:prstGeom prst="rect">
            <a:avLst/>
          </a:prstGeom>
        </p:spPr>
      </p:pic>
      <p:sp>
        <p:nvSpPr>
          <p:cNvPr id="16" name="TextBox 15">
            <a:extLst>
              <a:ext uri="{FF2B5EF4-FFF2-40B4-BE49-F238E27FC236}">
                <a16:creationId xmlns:a16="http://schemas.microsoft.com/office/drawing/2014/main" id="{D43ED96F-C0E0-4D2F-95EC-E23F350DE80A}"/>
              </a:ext>
            </a:extLst>
          </p:cNvPr>
          <p:cNvSpPr txBox="1"/>
          <p:nvPr/>
        </p:nvSpPr>
        <p:spPr>
          <a:xfrm>
            <a:off x="173009" y="1007491"/>
            <a:ext cx="4611181" cy="461665"/>
          </a:xfrm>
          <a:prstGeom prst="rect">
            <a:avLst/>
          </a:prstGeom>
          <a:noFill/>
        </p:spPr>
        <p:txBody>
          <a:bodyPr wrap="square" rtlCol="0">
            <a:spAutoFit/>
          </a:bodyPr>
          <a:lstStyle/>
          <a:p>
            <a:pPr algn="ctr" eaLnBrk="1" latinLnBrk="0"/>
            <a:r>
              <a:rPr lang="en-US" sz="1000" dirty="0">
                <a:latin typeface="Arial" panose="020B0606020202030204" pitchFamily="34" charset="0"/>
                <a:sym typeface="Wingdings" panose="05000000000000000000" pitchFamily="2" charset="2"/>
              </a:rPr>
              <a:t>Before measurement</a:t>
            </a:r>
            <a:br>
              <a:rPr lang="en-US" sz="1200" dirty="0">
                <a:latin typeface="Arial Narrow" panose="020B0606020202030204" pitchFamily="34" charset="0"/>
                <a:sym typeface="Wingdings" panose="05000000000000000000" pitchFamily="2" charset="2"/>
              </a:rPr>
            </a:br>
            <a:r>
              <a:rPr lang="en-US" sz="1000" dirty="0">
                <a:solidFill>
                  <a:srgbClr val="FF0000"/>
                </a:solidFill>
                <a:latin typeface="Arial" panose="020B0606020202030204" pitchFamily="34" charset="0"/>
                <a:sym typeface="Wingdings" panose="05000000000000000000" pitchFamily="2" charset="2"/>
              </a:rPr>
              <a:t> </a:t>
            </a:r>
            <a:r>
              <a:rPr lang="en-US" sz="1000" dirty="0">
                <a:latin typeface="Arial" panose="020B0606020202030204" pitchFamily="34" charset="0"/>
                <a:sym typeface="Wingdings" panose="05000000000000000000" pitchFamily="2" charset="2"/>
              </a:rPr>
              <a:t>XZ: 89.075</a:t>
            </a:r>
            <a:r>
              <a:rPr lang="en-US" sz="1000" dirty="0">
                <a:latin typeface="Arial" panose="020B0604020202020204" pitchFamily="34" charset="0"/>
              </a:rPr>
              <a:t>º</a:t>
            </a:r>
            <a:r>
              <a:rPr lang="en-US" sz="1000" dirty="0">
                <a:latin typeface="Arial" panose="020B0606020202030204" pitchFamily="34" charset="0"/>
                <a:sym typeface="Wingdings" panose="05000000000000000000" pitchFamily="2" charset="2"/>
              </a:rPr>
              <a:t> ; YZ: 88.806</a:t>
            </a:r>
            <a:r>
              <a:rPr lang="en-US" sz="1000" dirty="0">
                <a:latin typeface="Arial" panose="020B0604020202020204" pitchFamily="34" charset="0"/>
              </a:rPr>
              <a:t>º</a:t>
            </a:r>
            <a:r>
              <a:rPr lang="en-US" sz="1000" dirty="0">
                <a:latin typeface="Arial" panose="020B0606020202030204" pitchFamily="34" charset="0"/>
                <a:sym typeface="Wingdings" panose="05000000000000000000" pitchFamily="2" charset="2"/>
              </a:rPr>
              <a:t> </a:t>
            </a:r>
          </a:p>
        </p:txBody>
      </p:sp>
      <p:sp>
        <p:nvSpPr>
          <p:cNvPr id="17" name="TextBox 16">
            <a:extLst>
              <a:ext uri="{FF2B5EF4-FFF2-40B4-BE49-F238E27FC236}">
                <a16:creationId xmlns:a16="http://schemas.microsoft.com/office/drawing/2014/main" id="{295D5869-11BE-479D-9E74-3B8C469DF7D2}"/>
              </a:ext>
            </a:extLst>
          </p:cNvPr>
          <p:cNvSpPr txBox="1"/>
          <p:nvPr/>
        </p:nvSpPr>
        <p:spPr>
          <a:xfrm>
            <a:off x="5194180" y="1077373"/>
            <a:ext cx="4606791" cy="461665"/>
          </a:xfrm>
          <a:prstGeom prst="rect">
            <a:avLst/>
          </a:prstGeom>
          <a:noFill/>
        </p:spPr>
        <p:txBody>
          <a:bodyPr wrap="square" rtlCol="0">
            <a:spAutoFit/>
          </a:bodyPr>
          <a:lstStyle/>
          <a:p>
            <a:pPr algn="ctr" eaLnBrk="1" latinLnBrk="0"/>
            <a:r>
              <a:rPr lang="en-US" sz="1000" dirty="0">
                <a:latin typeface="Arial" panose="020B0606020202030204" pitchFamily="34" charset="0"/>
                <a:sym typeface="Wingdings" panose="05000000000000000000" pitchFamily="2" charset="2"/>
              </a:rPr>
              <a:t>After measurement </a:t>
            </a:r>
          </a:p>
          <a:p>
            <a:pPr algn="ctr" eaLnBrk="1" latinLnBrk="0"/>
            <a:r>
              <a:rPr lang="en-US" sz="1000" dirty="0">
                <a:latin typeface="Arial" panose="020B0606020202030204" pitchFamily="34" charset="0"/>
                <a:sym typeface="Wingdings" panose="05000000000000000000" pitchFamily="2" charset="2"/>
              </a:rPr>
              <a:t xml:space="preserve"> XZ: 89.889</a:t>
            </a:r>
            <a:r>
              <a:rPr lang="en-US" sz="1000" dirty="0">
                <a:latin typeface="Arial" panose="020B0604020202020204" pitchFamily="34" charset="0"/>
              </a:rPr>
              <a:t>º</a:t>
            </a:r>
            <a:r>
              <a:rPr lang="en-US" sz="1000" dirty="0">
                <a:latin typeface="Arial" panose="020B0606020202030204" pitchFamily="34" charset="0"/>
                <a:sym typeface="Wingdings" panose="05000000000000000000" pitchFamily="2" charset="2"/>
              </a:rPr>
              <a:t xml:space="preserve"> ; YZ: 89.889</a:t>
            </a:r>
            <a:r>
              <a:rPr lang="en-US" sz="1000" dirty="0">
                <a:latin typeface="Arial" panose="020B0604020202020204" pitchFamily="34" charset="0"/>
              </a:rPr>
              <a:t>º</a:t>
            </a:r>
            <a:r>
              <a:rPr lang="en-US" sz="1000" dirty="0">
                <a:latin typeface="Arial" panose="020B0606020202030204" pitchFamily="34" charset="0"/>
                <a:sym typeface="Wingdings" panose="05000000000000000000" pitchFamily="2" charset="2"/>
              </a:rPr>
              <a:t> </a:t>
            </a:r>
          </a:p>
        </p:txBody>
      </p:sp>
      <p:grpSp>
        <p:nvGrpSpPr>
          <p:cNvPr id="18" name="Group 17">
            <a:extLst>
              <a:ext uri="{FF2B5EF4-FFF2-40B4-BE49-F238E27FC236}">
                <a16:creationId xmlns:a16="http://schemas.microsoft.com/office/drawing/2014/main" id="{FFDFEB6B-6C38-4E13-8FF2-58968AF811CE}"/>
              </a:ext>
            </a:extLst>
          </p:cNvPr>
          <p:cNvGrpSpPr/>
          <p:nvPr/>
        </p:nvGrpSpPr>
        <p:grpSpPr>
          <a:xfrm>
            <a:off x="5483506" y="1633963"/>
            <a:ext cx="3081098" cy="1555753"/>
            <a:chOff x="5019235" y="2239786"/>
            <a:chExt cx="1856981" cy="1207008"/>
          </a:xfrm>
        </p:grpSpPr>
        <p:pic>
          <p:nvPicPr>
            <p:cNvPr id="19" name="Picture 18">
              <a:extLst>
                <a:ext uri="{FF2B5EF4-FFF2-40B4-BE49-F238E27FC236}">
                  <a16:creationId xmlns:a16="http://schemas.microsoft.com/office/drawing/2014/main" id="{E8E1BD45-198B-47D2-BCE1-A451860F970D}"/>
                </a:ext>
              </a:extLst>
            </p:cNvPr>
            <p:cNvPicPr>
              <a:picLocks/>
            </p:cNvPicPr>
            <p:nvPr/>
          </p:nvPicPr>
          <p:blipFill>
            <a:blip r:embed="rId3"/>
            <a:stretch>
              <a:fillRect/>
            </a:stretch>
          </p:blipFill>
          <p:spPr>
            <a:xfrm>
              <a:off x="5130063" y="2239786"/>
              <a:ext cx="1634235" cy="1207008"/>
            </a:xfrm>
            <a:prstGeom prst="rect">
              <a:avLst/>
            </a:prstGeom>
          </p:spPr>
        </p:pic>
        <p:sp>
          <p:nvSpPr>
            <p:cNvPr id="21" name="TextBox 20">
              <a:extLst>
                <a:ext uri="{FF2B5EF4-FFF2-40B4-BE49-F238E27FC236}">
                  <a16:creationId xmlns:a16="http://schemas.microsoft.com/office/drawing/2014/main" id="{3EC54F66-68DD-4487-AA96-B48B87AFD744}"/>
                </a:ext>
              </a:extLst>
            </p:cNvPr>
            <p:cNvSpPr txBox="1"/>
            <p:nvPr/>
          </p:nvSpPr>
          <p:spPr>
            <a:xfrm>
              <a:off x="6343865" y="2614650"/>
              <a:ext cx="532351" cy="202966"/>
            </a:xfrm>
            <a:prstGeom prst="rect">
              <a:avLst/>
            </a:prstGeom>
            <a:noFill/>
          </p:spPr>
          <p:txBody>
            <a:bodyPr wrap="square" rtlCol="0">
              <a:spAutoFit/>
            </a:bodyPr>
            <a:lstStyle/>
            <a:p>
              <a:pPr algn="ctr"/>
              <a:r>
                <a:rPr lang="en-US" sz="1100" dirty="0">
                  <a:latin typeface="Arial Narrow" panose="020B0606020202030204" pitchFamily="34" charset="0"/>
                </a:rPr>
                <a:t>CID</a:t>
              </a:r>
            </a:p>
          </p:txBody>
        </p:sp>
        <p:sp>
          <p:nvSpPr>
            <p:cNvPr id="22" name="TextBox 21">
              <a:extLst>
                <a:ext uri="{FF2B5EF4-FFF2-40B4-BE49-F238E27FC236}">
                  <a16:creationId xmlns:a16="http://schemas.microsoft.com/office/drawing/2014/main" id="{FB6A216C-48E7-4F57-8343-10A50ACA411B}"/>
                </a:ext>
              </a:extLst>
            </p:cNvPr>
            <p:cNvSpPr txBox="1"/>
            <p:nvPr/>
          </p:nvSpPr>
          <p:spPr>
            <a:xfrm>
              <a:off x="5019235" y="2614650"/>
              <a:ext cx="532351" cy="202966"/>
            </a:xfrm>
            <a:prstGeom prst="rect">
              <a:avLst/>
            </a:prstGeom>
            <a:noFill/>
          </p:spPr>
          <p:txBody>
            <a:bodyPr wrap="square" rtlCol="0">
              <a:spAutoFit/>
            </a:bodyPr>
            <a:lstStyle/>
            <a:p>
              <a:pPr algn="ctr"/>
              <a:r>
                <a:rPr lang="en-US" sz="1100" dirty="0">
                  <a:latin typeface="Arial Narrow" panose="020B0606020202030204" pitchFamily="34" charset="0"/>
                </a:rPr>
                <a:t>PID</a:t>
              </a:r>
            </a:p>
          </p:txBody>
        </p:sp>
      </p:grpSp>
      <p:grpSp>
        <p:nvGrpSpPr>
          <p:cNvPr id="23" name="Group 22">
            <a:extLst>
              <a:ext uri="{FF2B5EF4-FFF2-40B4-BE49-F238E27FC236}">
                <a16:creationId xmlns:a16="http://schemas.microsoft.com/office/drawing/2014/main" id="{055BAE43-8118-4D06-8250-847B5596110A}"/>
              </a:ext>
            </a:extLst>
          </p:cNvPr>
          <p:cNvGrpSpPr/>
          <p:nvPr/>
        </p:nvGrpSpPr>
        <p:grpSpPr>
          <a:xfrm>
            <a:off x="7853491" y="3724867"/>
            <a:ext cx="1540078" cy="1219751"/>
            <a:chOff x="8468343" y="2246708"/>
            <a:chExt cx="1313079" cy="1200086"/>
          </a:xfrm>
        </p:grpSpPr>
        <p:pic>
          <p:nvPicPr>
            <p:cNvPr id="24" name="Picture 23">
              <a:extLst>
                <a:ext uri="{FF2B5EF4-FFF2-40B4-BE49-F238E27FC236}">
                  <a16:creationId xmlns:a16="http://schemas.microsoft.com/office/drawing/2014/main" id="{12373177-7176-4DE4-9D57-B26FE528CFB2}"/>
                </a:ext>
              </a:extLst>
            </p:cNvPr>
            <p:cNvPicPr>
              <a:picLocks noChangeAspect="1"/>
            </p:cNvPicPr>
            <p:nvPr/>
          </p:nvPicPr>
          <p:blipFill>
            <a:blip r:embed="rId4"/>
            <a:stretch>
              <a:fillRect/>
            </a:stretch>
          </p:blipFill>
          <p:spPr>
            <a:xfrm>
              <a:off x="8500201" y="2246708"/>
              <a:ext cx="1236653" cy="1200086"/>
            </a:xfrm>
            <a:prstGeom prst="rect">
              <a:avLst/>
            </a:prstGeom>
          </p:spPr>
        </p:pic>
        <p:sp>
          <p:nvSpPr>
            <p:cNvPr id="25" name="TextBox 24">
              <a:extLst>
                <a:ext uri="{FF2B5EF4-FFF2-40B4-BE49-F238E27FC236}">
                  <a16:creationId xmlns:a16="http://schemas.microsoft.com/office/drawing/2014/main" id="{185A6C82-02E0-42B6-8729-7702DD4F2023}"/>
                </a:ext>
              </a:extLst>
            </p:cNvPr>
            <p:cNvSpPr txBox="1"/>
            <p:nvPr/>
          </p:nvSpPr>
          <p:spPr>
            <a:xfrm>
              <a:off x="9199140" y="3082704"/>
              <a:ext cx="256802" cy="276999"/>
            </a:xfrm>
            <a:prstGeom prst="rect">
              <a:avLst/>
            </a:prstGeom>
            <a:noFill/>
          </p:spPr>
          <p:txBody>
            <a:bodyPr wrap="none" rtlCol="0">
              <a:spAutoFit/>
            </a:bodyPr>
            <a:lstStyle/>
            <a:p>
              <a:r>
                <a:rPr lang="en-US" sz="1200"/>
                <a:t>Z</a:t>
              </a:r>
            </a:p>
          </p:txBody>
        </p:sp>
        <p:sp>
          <p:nvSpPr>
            <p:cNvPr id="26" name="TextBox 25">
              <a:extLst>
                <a:ext uri="{FF2B5EF4-FFF2-40B4-BE49-F238E27FC236}">
                  <a16:creationId xmlns:a16="http://schemas.microsoft.com/office/drawing/2014/main" id="{4C3EED04-DFC9-4D87-A6E4-ED4C59855162}"/>
                </a:ext>
              </a:extLst>
            </p:cNvPr>
            <p:cNvSpPr txBox="1"/>
            <p:nvPr/>
          </p:nvSpPr>
          <p:spPr>
            <a:xfrm>
              <a:off x="9516606" y="2807458"/>
              <a:ext cx="264816" cy="276999"/>
            </a:xfrm>
            <a:prstGeom prst="rect">
              <a:avLst/>
            </a:prstGeom>
            <a:noFill/>
          </p:spPr>
          <p:txBody>
            <a:bodyPr wrap="none" rtlCol="0">
              <a:spAutoFit/>
            </a:bodyPr>
            <a:lstStyle/>
            <a:p>
              <a:r>
                <a:rPr lang="en-US" sz="1200"/>
                <a:t>X</a:t>
              </a:r>
            </a:p>
          </p:txBody>
        </p:sp>
        <p:sp>
          <p:nvSpPr>
            <p:cNvPr id="27" name="TextBox 26">
              <a:extLst>
                <a:ext uri="{FF2B5EF4-FFF2-40B4-BE49-F238E27FC236}">
                  <a16:creationId xmlns:a16="http://schemas.microsoft.com/office/drawing/2014/main" id="{96DBFDFA-1BE8-4248-8725-ED73D8793DC1}"/>
                </a:ext>
              </a:extLst>
            </p:cNvPr>
            <p:cNvSpPr txBox="1"/>
            <p:nvPr/>
          </p:nvSpPr>
          <p:spPr>
            <a:xfrm>
              <a:off x="8468343" y="2773834"/>
              <a:ext cx="264816" cy="276999"/>
            </a:xfrm>
            <a:prstGeom prst="rect">
              <a:avLst/>
            </a:prstGeom>
            <a:noFill/>
          </p:spPr>
          <p:txBody>
            <a:bodyPr wrap="none" rtlCol="0">
              <a:spAutoFit/>
            </a:bodyPr>
            <a:lstStyle/>
            <a:p>
              <a:r>
                <a:rPr lang="en-US" sz="1200"/>
                <a:t>Y</a:t>
              </a:r>
            </a:p>
          </p:txBody>
        </p:sp>
      </p:grpSp>
      <p:sp>
        <p:nvSpPr>
          <p:cNvPr id="28" name="Rectangular Callout 58">
            <a:extLst>
              <a:ext uri="{FF2B5EF4-FFF2-40B4-BE49-F238E27FC236}">
                <a16:creationId xmlns:a16="http://schemas.microsoft.com/office/drawing/2014/main" id="{7BB701AD-2FCE-4A96-942A-E2D723992B75}"/>
              </a:ext>
            </a:extLst>
          </p:cNvPr>
          <p:cNvSpPr/>
          <p:nvPr/>
        </p:nvSpPr>
        <p:spPr>
          <a:xfrm>
            <a:off x="7743717" y="3478021"/>
            <a:ext cx="1540078" cy="1453639"/>
          </a:xfrm>
          <a:prstGeom prst="wedgeRectCallout">
            <a:avLst>
              <a:gd name="adj1" fmla="val -108972"/>
              <a:gd name="adj2" fmla="val 2086"/>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grpSp>
        <p:nvGrpSpPr>
          <p:cNvPr id="29" name="Group 28">
            <a:extLst>
              <a:ext uri="{FF2B5EF4-FFF2-40B4-BE49-F238E27FC236}">
                <a16:creationId xmlns:a16="http://schemas.microsoft.com/office/drawing/2014/main" id="{511C2AAA-739A-4938-AF5C-0A55CBA5F2ED}"/>
              </a:ext>
            </a:extLst>
          </p:cNvPr>
          <p:cNvGrpSpPr/>
          <p:nvPr/>
        </p:nvGrpSpPr>
        <p:grpSpPr>
          <a:xfrm>
            <a:off x="77425" y="1485896"/>
            <a:ext cx="3247628" cy="1987179"/>
            <a:chOff x="125050" y="2038370"/>
            <a:chExt cx="1856981" cy="1207008"/>
          </a:xfrm>
        </p:grpSpPr>
        <p:pic>
          <p:nvPicPr>
            <p:cNvPr id="30" name="Picture 29">
              <a:extLst>
                <a:ext uri="{FF2B5EF4-FFF2-40B4-BE49-F238E27FC236}">
                  <a16:creationId xmlns:a16="http://schemas.microsoft.com/office/drawing/2014/main" id="{C4950509-DC7B-4818-A7D7-E807C7E0A5DC}"/>
                </a:ext>
              </a:extLst>
            </p:cNvPr>
            <p:cNvPicPr>
              <a:picLocks/>
            </p:cNvPicPr>
            <p:nvPr/>
          </p:nvPicPr>
          <p:blipFill>
            <a:blip r:embed="rId5"/>
            <a:stretch>
              <a:fillRect/>
            </a:stretch>
          </p:blipFill>
          <p:spPr>
            <a:xfrm>
              <a:off x="228439" y="2038370"/>
              <a:ext cx="1636776" cy="1207008"/>
            </a:xfrm>
            <a:prstGeom prst="rect">
              <a:avLst/>
            </a:prstGeom>
          </p:spPr>
        </p:pic>
        <p:sp>
          <p:nvSpPr>
            <p:cNvPr id="31" name="TextBox 30">
              <a:extLst>
                <a:ext uri="{FF2B5EF4-FFF2-40B4-BE49-F238E27FC236}">
                  <a16:creationId xmlns:a16="http://schemas.microsoft.com/office/drawing/2014/main" id="{31F06AF7-217B-44D6-945D-FFBFA7CB8934}"/>
                </a:ext>
              </a:extLst>
            </p:cNvPr>
            <p:cNvSpPr txBox="1"/>
            <p:nvPr/>
          </p:nvSpPr>
          <p:spPr>
            <a:xfrm>
              <a:off x="1449680" y="2458026"/>
              <a:ext cx="532351" cy="158901"/>
            </a:xfrm>
            <a:prstGeom prst="rect">
              <a:avLst/>
            </a:prstGeom>
            <a:noFill/>
          </p:spPr>
          <p:txBody>
            <a:bodyPr wrap="square" rtlCol="0">
              <a:spAutoFit/>
            </a:bodyPr>
            <a:lstStyle/>
            <a:p>
              <a:pPr algn="ctr"/>
              <a:r>
                <a:rPr lang="en-US" sz="1100" dirty="0">
                  <a:latin typeface="Arial Narrow" panose="020B0606020202030204" pitchFamily="34" charset="0"/>
                </a:rPr>
                <a:t>CID</a:t>
              </a:r>
            </a:p>
          </p:txBody>
        </p:sp>
        <p:sp>
          <p:nvSpPr>
            <p:cNvPr id="39" name="TextBox 38">
              <a:extLst>
                <a:ext uri="{FF2B5EF4-FFF2-40B4-BE49-F238E27FC236}">
                  <a16:creationId xmlns:a16="http://schemas.microsoft.com/office/drawing/2014/main" id="{EED274E5-CC64-4277-B9DB-F4375B0150CC}"/>
                </a:ext>
              </a:extLst>
            </p:cNvPr>
            <p:cNvSpPr txBox="1"/>
            <p:nvPr/>
          </p:nvSpPr>
          <p:spPr>
            <a:xfrm>
              <a:off x="125050" y="2458026"/>
              <a:ext cx="532351" cy="158901"/>
            </a:xfrm>
            <a:prstGeom prst="rect">
              <a:avLst/>
            </a:prstGeom>
            <a:noFill/>
          </p:spPr>
          <p:txBody>
            <a:bodyPr wrap="square" rtlCol="0">
              <a:spAutoFit/>
            </a:bodyPr>
            <a:lstStyle/>
            <a:p>
              <a:pPr algn="ctr"/>
              <a:r>
                <a:rPr lang="en-US" sz="1100" dirty="0">
                  <a:latin typeface="Arial Narrow" panose="020B0606020202030204" pitchFamily="34" charset="0"/>
                </a:rPr>
                <a:t>PID</a:t>
              </a:r>
            </a:p>
          </p:txBody>
        </p:sp>
      </p:grpSp>
      <p:pic>
        <p:nvPicPr>
          <p:cNvPr id="40" name="Picture 39">
            <a:extLst>
              <a:ext uri="{FF2B5EF4-FFF2-40B4-BE49-F238E27FC236}">
                <a16:creationId xmlns:a16="http://schemas.microsoft.com/office/drawing/2014/main" id="{44305FBD-0C39-44B7-B79B-29D3AAE06EE3}"/>
              </a:ext>
            </a:extLst>
          </p:cNvPr>
          <p:cNvPicPr>
            <a:picLocks/>
          </p:cNvPicPr>
          <p:nvPr/>
        </p:nvPicPr>
        <p:blipFill>
          <a:blip r:embed="rId6"/>
          <a:stretch>
            <a:fillRect/>
          </a:stretch>
        </p:blipFill>
        <p:spPr>
          <a:xfrm>
            <a:off x="323313" y="3560167"/>
            <a:ext cx="2171589" cy="1364786"/>
          </a:xfrm>
          <a:prstGeom prst="rect">
            <a:avLst/>
          </a:prstGeom>
        </p:spPr>
      </p:pic>
      <p:sp>
        <p:nvSpPr>
          <p:cNvPr id="41" name="Rectangular Callout 69">
            <a:extLst>
              <a:ext uri="{FF2B5EF4-FFF2-40B4-BE49-F238E27FC236}">
                <a16:creationId xmlns:a16="http://schemas.microsoft.com/office/drawing/2014/main" id="{53971F0F-89D2-4566-976C-0BD679EE98A1}"/>
              </a:ext>
            </a:extLst>
          </p:cNvPr>
          <p:cNvSpPr/>
          <p:nvPr/>
        </p:nvSpPr>
        <p:spPr>
          <a:xfrm>
            <a:off x="2494902" y="3579832"/>
            <a:ext cx="1637790" cy="1364786"/>
          </a:xfrm>
          <a:prstGeom prst="wedgeRectCallout">
            <a:avLst>
              <a:gd name="adj1" fmla="val -108503"/>
              <a:gd name="adj2" fmla="val 4963"/>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grpSp>
        <p:nvGrpSpPr>
          <p:cNvPr id="42" name="Group 41">
            <a:extLst>
              <a:ext uri="{FF2B5EF4-FFF2-40B4-BE49-F238E27FC236}">
                <a16:creationId xmlns:a16="http://schemas.microsoft.com/office/drawing/2014/main" id="{BF5A8FAC-056C-4EAD-BC06-72A7BCE984E4}"/>
              </a:ext>
            </a:extLst>
          </p:cNvPr>
          <p:cNvGrpSpPr/>
          <p:nvPr/>
        </p:nvGrpSpPr>
        <p:grpSpPr>
          <a:xfrm>
            <a:off x="2462031" y="3583156"/>
            <a:ext cx="1750686" cy="1354447"/>
            <a:chOff x="3566770" y="2034773"/>
            <a:chExt cx="1319532" cy="1197864"/>
          </a:xfrm>
        </p:grpSpPr>
        <p:pic>
          <p:nvPicPr>
            <p:cNvPr id="43" name="Picture 42">
              <a:extLst>
                <a:ext uri="{FF2B5EF4-FFF2-40B4-BE49-F238E27FC236}">
                  <a16:creationId xmlns:a16="http://schemas.microsoft.com/office/drawing/2014/main" id="{1BC10210-DD2E-45B5-A344-F6E8B945F174}"/>
                </a:ext>
              </a:extLst>
            </p:cNvPr>
            <p:cNvPicPr>
              <a:picLocks/>
            </p:cNvPicPr>
            <p:nvPr/>
          </p:nvPicPr>
          <p:blipFill>
            <a:blip r:embed="rId7"/>
            <a:stretch>
              <a:fillRect/>
            </a:stretch>
          </p:blipFill>
          <p:spPr>
            <a:xfrm>
              <a:off x="3598747" y="2034773"/>
              <a:ext cx="1234440" cy="1197864"/>
            </a:xfrm>
            <a:prstGeom prst="rect">
              <a:avLst/>
            </a:prstGeom>
          </p:spPr>
        </p:pic>
        <p:sp>
          <p:nvSpPr>
            <p:cNvPr id="44" name="TextBox 43">
              <a:extLst>
                <a:ext uri="{FF2B5EF4-FFF2-40B4-BE49-F238E27FC236}">
                  <a16:creationId xmlns:a16="http://schemas.microsoft.com/office/drawing/2014/main" id="{164C464D-B3C2-4407-BDB6-0DA3DB59F201}"/>
                </a:ext>
              </a:extLst>
            </p:cNvPr>
            <p:cNvSpPr txBox="1"/>
            <p:nvPr/>
          </p:nvSpPr>
          <p:spPr>
            <a:xfrm>
              <a:off x="3923225" y="2662157"/>
              <a:ext cx="256802" cy="276999"/>
            </a:xfrm>
            <a:prstGeom prst="rect">
              <a:avLst/>
            </a:prstGeom>
            <a:noFill/>
          </p:spPr>
          <p:txBody>
            <a:bodyPr wrap="none" rtlCol="0">
              <a:spAutoFit/>
            </a:bodyPr>
            <a:lstStyle/>
            <a:p>
              <a:r>
                <a:rPr lang="en-US" sz="1200"/>
                <a:t>Z</a:t>
              </a:r>
            </a:p>
          </p:txBody>
        </p:sp>
        <p:sp>
          <p:nvSpPr>
            <p:cNvPr id="45" name="TextBox 44">
              <a:extLst>
                <a:ext uri="{FF2B5EF4-FFF2-40B4-BE49-F238E27FC236}">
                  <a16:creationId xmlns:a16="http://schemas.microsoft.com/office/drawing/2014/main" id="{F3045DC7-CFDA-41F6-A023-413FC7614317}"/>
                </a:ext>
              </a:extLst>
            </p:cNvPr>
            <p:cNvSpPr txBox="1"/>
            <p:nvPr/>
          </p:nvSpPr>
          <p:spPr>
            <a:xfrm>
              <a:off x="4621486" y="2385158"/>
              <a:ext cx="264816" cy="276999"/>
            </a:xfrm>
            <a:prstGeom prst="rect">
              <a:avLst/>
            </a:prstGeom>
            <a:noFill/>
          </p:spPr>
          <p:txBody>
            <a:bodyPr wrap="none" rtlCol="0">
              <a:spAutoFit/>
            </a:bodyPr>
            <a:lstStyle/>
            <a:p>
              <a:r>
                <a:rPr lang="en-US" sz="1200"/>
                <a:t>X</a:t>
              </a:r>
            </a:p>
          </p:txBody>
        </p:sp>
        <p:sp>
          <p:nvSpPr>
            <p:cNvPr id="46" name="TextBox 45">
              <a:extLst>
                <a:ext uri="{FF2B5EF4-FFF2-40B4-BE49-F238E27FC236}">
                  <a16:creationId xmlns:a16="http://schemas.microsoft.com/office/drawing/2014/main" id="{F28BCC1F-A169-4DA7-9F4E-D8DB22F9D13A}"/>
                </a:ext>
              </a:extLst>
            </p:cNvPr>
            <p:cNvSpPr txBox="1"/>
            <p:nvPr/>
          </p:nvSpPr>
          <p:spPr>
            <a:xfrm>
              <a:off x="3566770" y="2532540"/>
              <a:ext cx="264816" cy="276999"/>
            </a:xfrm>
            <a:prstGeom prst="rect">
              <a:avLst/>
            </a:prstGeom>
            <a:noFill/>
          </p:spPr>
          <p:txBody>
            <a:bodyPr wrap="none" rtlCol="0">
              <a:spAutoFit/>
            </a:bodyPr>
            <a:lstStyle/>
            <a:p>
              <a:r>
                <a:rPr lang="en-US" sz="1200"/>
                <a:t>Y</a:t>
              </a:r>
            </a:p>
          </p:txBody>
        </p:sp>
      </p:grpSp>
      <p:sp>
        <p:nvSpPr>
          <p:cNvPr id="38" name="Arrow: Pentagon 37">
            <a:extLst>
              <a:ext uri="{FF2B5EF4-FFF2-40B4-BE49-F238E27FC236}">
                <a16:creationId xmlns:a16="http://schemas.microsoft.com/office/drawing/2014/main" id="{A14AF0D6-0157-4A37-8465-7003C201F12B}"/>
              </a:ext>
            </a:extLst>
          </p:cNvPr>
          <p:cNvSpPr/>
          <p:nvPr/>
        </p:nvSpPr>
        <p:spPr>
          <a:xfrm>
            <a:off x="100067" y="997045"/>
            <a:ext cx="4991276" cy="4053093"/>
          </a:xfrm>
          <a:prstGeom prst="homePlate">
            <a:avLst>
              <a:gd name="adj" fmla="val 8496"/>
            </a:avLst>
          </a:prstGeom>
          <a:noFill/>
          <a:ln>
            <a:solidFill>
              <a:srgbClr val="FF57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48" name="Rectangle 47">
            <a:extLst>
              <a:ext uri="{FF2B5EF4-FFF2-40B4-BE49-F238E27FC236}">
                <a16:creationId xmlns:a16="http://schemas.microsoft.com/office/drawing/2014/main" id="{8A01F703-7AED-49D9-BA5F-ED2257D3FBA0}"/>
              </a:ext>
            </a:extLst>
          </p:cNvPr>
          <p:cNvSpPr/>
          <p:nvPr/>
        </p:nvSpPr>
        <p:spPr>
          <a:xfrm>
            <a:off x="5195367" y="990600"/>
            <a:ext cx="4453247" cy="405953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49" name="TextBox 48">
            <a:extLst>
              <a:ext uri="{FF2B5EF4-FFF2-40B4-BE49-F238E27FC236}">
                <a16:creationId xmlns:a16="http://schemas.microsoft.com/office/drawing/2014/main" id="{5A4ADFE1-6D46-4FDB-B3C8-F8FE8E05C7E4}"/>
              </a:ext>
            </a:extLst>
          </p:cNvPr>
          <p:cNvSpPr txBox="1"/>
          <p:nvPr/>
        </p:nvSpPr>
        <p:spPr>
          <a:xfrm>
            <a:off x="63248" y="535377"/>
            <a:ext cx="5715000"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0000101010101" pitchFamily="34" charset="-127"/>
                <a:ea typeface="Arial" panose="020B0600000101010101" pitchFamily="34" charset="-127"/>
                <a:cs typeface="Arial" panose="020B0604020202020204" pitchFamily="34" charset="0"/>
              </a:rPr>
              <a:t>4.1 Correct the camera angle (before / after)</a:t>
            </a:r>
            <a:endParaRPr lang="en-US" sz="1200" b="1" dirty="0">
              <a:latin typeface="Arial" panose="020B0604020202020204" pitchFamily="34" charset="0"/>
              <a:ea typeface="Arial Unicode MS" panose="020B0604020202020204" pitchFamily="34" charset="-128"/>
              <a:cs typeface="Arial" panose="020B0604020202020204" pitchFamily="34" charset="0"/>
            </a:endParaRPr>
          </a:p>
        </p:txBody>
      </p:sp>
      <p:sp>
        <p:nvSpPr>
          <p:cNvPr id="50" name="TextBox 49">
            <a:extLst>
              <a:ext uri="{FF2B5EF4-FFF2-40B4-BE49-F238E27FC236}">
                <a16:creationId xmlns:a16="http://schemas.microsoft.com/office/drawing/2014/main" id="{9796D67F-121E-4991-B95F-AD4E2D8F1606}"/>
              </a:ext>
            </a:extLst>
          </p:cNvPr>
          <p:cNvSpPr txBox="1"/>
          <p:nvPr/>
        </p:nvSpPr>
        <p:spPr>
          <a:xfrm>
            <a:off x="87912" y="5250882"/>
            <a:ext cx="6160488" cy="577081"/>
          </a:xfrm>
          <a:prstGeom prst="rect">
            <a:avLst/>
          </a:prstGeom>
          <a:noFill/>
        </p:spPr>
        <p:txBody>
          <a:bodyPr wrap="square" rtlCol="0">
            <a:spAutoFit/>
          </a:bodyPr>
          <a:lstStyle/>
          <a:p>
            <a:pPr marL="171450" indent="-171450" algn="just" eaLnBrk="1" latinLnBrk="0">
              <a:spcBef>
                <a:spcPct val="20000"/>
              </a:spcBef>
              <a:buFont typeface="Wingdings" panose="05000000000000000000" pitchFamily="2" charset="2"/>
              <a:buChar char="Ø"/>
            </a:pPr>
            <a:r>
              <a:rPr sz="1000" b="0">
                <a:latin typeface="Arial"/>
              </a:rPr>
              <a:t xml:space="preserve">After adjusting the detector camera angle to the 90.0° target (measured 89.889°) and re-testing samples, no Luminance NG was observed in the re-test. Correcting CS2000 camera angle is confirmed as the effective solution.</a:t>
            </a:r>
            <a:endParaRPr lang="ko-KR" altLang="en-US" sz="1050" dirty="0">
              <a:solidFill>
                <a:prstClr val="black"/>
              </a:solidFill>
              <a:latin typeface="Arial" panose="020B0604020202020204" pitchFamily="34" charset="0"/>
              <a:ea typeface="LG Smart_H Regular" panose="020B0600000101010101" pitchFamily="34" charset="-127"/>
              <a:cs typeface="Arial" panose="020B0604020202020204" pitchFamily="34" charset="0"/>
            </a:endParaRPr>
          </a:p>
        </p:txBody>
      </p:sp>
      <p:pic>
        <p:nvPicPr>
          <p:cNvPr id="51" name="Picture 50">
            <a:extLst>
              <a:ext uri="{FF2B5EF4-FFF2-40B4-BE49-F238E27FC236}">
                <a16:creationId xmlns:a16="http://schemas.microsoft.com/office/drawing/2014/main" id="{DC490346-BFF1-42EE-9917-D7CC93E7D79D}"/>
              </a:ext>
            </a:extLst>
          </p:cNvPr>
          <p:cNvPicPr>
            <a:picLocks/>
          </p:cNvPicPr>
          <p:nvPr/>
        </p:nvPicPr>
        <p:blipFill>
          <a:blip r:embed="rId8"/>
          <a:stretch>
            <a:fillRect/>
          </a:stretch>
        </p:blipFill>
        <p:spPr>
          <a:xfrm>
            <a:off x="6654452" y="5267813"/>
            <a:ext cx="2267434" cy="1163112"/>
          </a:xfrm>
          <a:prstGeom prst="rect">
            <a:avLst/>
          </a:prstGeom>
        </p:spPr>
      </p:pic>
      <p:sp>
        <p:nvSpPr>
          <p:cNvPr id="52" name="제목 1">
            <a:extLst>
              <a:ext uri="{FF2B5EF4-FFF2-40B4-BE49-F238E27FC236}">
                <a16:creationId xmlns:a16="http://schemas.microsoft.com/office/drawing/2014/main" id="{5DEA8993-5816-41E5-B83D-7C241142F792}"/>
              </a:ext>
            </a:extLst>
          </p:cNvPr>
          <p:cNvSpPr txBox="1">
            <a:spLocks/>
          </p:cNvSpPr>
          <p:nvPr/>
        </p:nvSpPr>
        <p:spPr>
          <a:xfrm>
            <a:off x="127002" y="85711"/>
            <a:ext cx="4762500" cy="418058"/>
          </a:xfrm>
          <a:prstGeom prst="rect">
            <a:avLst/>
          </a:prstGeom>
        </p:spPr>
        <p:txBody>
          <a:bodyPr vert="horz" lIns="91440" tIns="45720" rIns="91440" bIns="45720" rtlCol="0" anchor="ctr">
            <a:noAutofit/>
          </a:bodyPr>
          <a:lstStyle/>
          <a:p>
            <a:pPr lvl="0" eaLnBrk="1" latinLnBrk="0" hangingPunct="0">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 Improvement (short term)</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37" name="Straight Connector 36">
            <a:extLst>
              <a:ext uri="{FF2B5EF4-FFF2-40B4-BE49-F238E27FC236}">
                <a16:creationId xmlns:a16="http://schemas.microsoft.com/office/drawing/2014/main" id="{40623CFD-7D50-4755-9BC8-5BB2B026E5EB}"/>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3" name="Slide Number Placeholder 4"/>
          <p:cNvSpPr>
            <a:spLocks noGrp="1"/>
          </p:cNvSpPr>
          <p:nvPr>
            <p:ph type="sldNum" sz="quarter" idx="12"/>
          </p:nvPr>
        </p:nvSpPr>
        <p:spPr>
          <a:xfrm>
            <a:off x="3581025" y="6631416"/>
            <a:ext cx="2133600" cy="198047"/>
          </a:xfrm>
        </p:spPr>
        <p:txBody>
          <a:bodyPr/>
          <a:lstStyle/>
          <a:p>
            <a:pPr algn="ctr" eaLnBrk="1" latinLnBrk="0"/>
            <a:r>
              <a:rPr sz="1000" b="0">
                <a:latin typeface="Arial"/>
              </a:rPr>
              <a:t>18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Tree>
    <p:extLst>
      <p:ext uri="{BB962C8B-B14F-4D97-AF65-F5344CB8AC3E}">
        <p14:creationId xmlns:p14="http://schemas.microsoft.com/office/powerpoint/2010/main" val="517424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6B0328D7-4F88-4E3F-906D-CDB9E15A1C4F}"/>
              </a:ext>
            </a:extLst>
          </p:cNvPr>
          <p:cNvCxnSpPr/>
          <p:nvPr/>
        </p:nvCxnSpPr>
        <p:spPr bwMode="auto">
          <a:xfrm>
            <a:off x="3810000" y="6349162"/>
            <a:ext cx="1094487" cy="0"/>
          </a:xfrm>
          <a:prstGeom prst="straightConnector1">
            <a:avLst/>
          </a:prstGeom>
          <a:noFill/>
          <a:ln w="9525" cap="flat" cmpd="sng" algn="ctr">
            <a:solidFill>
              <a:srgbClr val="C00000"/>
            </a:solidFill>
            <a:prstDash val="solid"/>
            <a:round/>
            <a:headEnd type="none" w="med" len="med"/>
            <a:tailEnd type="triangle"/>
          </a:ln>
          <a:effectLst/>
        </p:spPr>
      </p:cxnSp>
      <p:cxnSp>
        <p:nvCxnSpPr>
          <p:cNvPr id="3" name="Straight Arrow Connector 2">
            <a:extLst>
              <a:ext uri="{FF2B5EF4-FFF2-40B4-BE49-F238E27FC236}">
                <a16:creationId xmlns:a16="http://schemas.microsoft.com/office/drawing/2014/main" id="{343B9057-F582-4381-91D8-097F77C1B3CF}"/>
              </a:ext>
            </a:extLst>
          </p:cNvPr>
          <p:cNvCxnSpPr/>
          <p:nvPr/>
        </p:nvCxnSpPr>
        <p:spPr bwMode="auto">
          <a:xfrm flipH="1">
            <a:off x="426181" y="6349162"/>
            <a:ext cx="1371600" cy="0"/>
          </a:xfrm>
          <a:prstGeom prst="straightConnector1">
            <a:avLst/>
          </a:prstGeom>
          <a:noFill/>
          <a:ln w="9525" cap="flat" cmpd="sng" algn="ctr">
            <a:solidFill>
              <a:srgbClr val="C00000"/>
            </a:solidFill>
            <a:prstDash val="solid"/>
            <a:round/>
            <a:headEnd type="none" w="med" len="med"/>
            <a:tailEnd type="triangle"/>
          </a:ln>
          <a:effectLst/>
        </p:spPr>
      </p:cxnSp>
      <p:grpSp>
        <p:nvGrpSpPr>
          <p:cNvPr id="27" name="Group 26"/>
          <p:cNvGrpSpPr/>
          <p:nvPr/>
        </p:nvGrpSpPr>
        <p:grpSpPr>
          <a:xfrm>
            <a:off x="1984978" y="947234"/>
            <a:ext cx="5204525" cy="2862385"/>
            <a:chOff x="1196275" y="805422"/>
            <a:chExt cx="5889416" cy="3554856"/>
          </a:xfrm>
        </p:grpSpPr>
        <p:grpSp>
          <p:nvGrpSpPr>
            <p:cNvPr id="28" name="Group 27"/>
            <p:cNvGrpSpPr/>
            <p:nvPr/>
          </p:nvGrpSpPr>
          <p:grpSpPr>
            <a:xfrm>
              <a:off x="2780391" y="805422"/>
              <a:ext cx="4305300" cy="2712480"/>
              <a:chOff x="2874491" y="438296"/>
              <a:chExt cx="4305300" cy="3164992"/>
            </a:xfrm>
          </p:grpSpPr>
          <p:sp>
            <p:nvSpPr>
              <p:cNvPr id="38" name="Rectangle 37"/>
              <p:cNvSpPr/>
              <p:nvPr/>
            </p:nvSpPr>
            <p:spPr>
              <a:xfrm>
                <a:off x="2874491" y="828247"/>
                <a:ext cx="4305300" cy="11176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2992395" y="918098"/>
                <a:ext cx="4069492" cy="9378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t>
                </a:r>
              </a:p>
            </p:txBody>
          </p:sp>
          <p:cxnSp>
            <p:nvCxnSpPr>
              <p:cNvPr id="45" name="Straight Connector 44"/>
              <p:cNvCxnSpPr>
                <a:stCxn id="39" idx="0"/>
                <a:endCxn id="38" idx="2"/>
              </p:cNvCxnSpPr>
              <p:nvPr/>
            </p:nvCxnSpPr>
            <p:spPr>
              <a:xfrm>
                <a:off x="5027141" y="918098"/>
                <a:ext cx="0" cy="10277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52" idx="0"/>
              </p:cNvCxnSpPr>
              <p:nvPr/>
            </p:nvCxnSpPr>
            <p:spPr>
              <a:xfrm flipV="1">
                <a:off x="4011299" y="1397902"/>
                <a:ext cx="1" cy="93789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3625537" y="2526963"/>
                <a:ext cx="771525" cy="1076325"/>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3874270" y="2335799"/>
                <a:ext cx="274058" cy="191164"/>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p:nvPr/>
            </p:nvSpPr>
            <p:spPr>
              <a:xfrm>
                <a:off x="3592975" y="2795783"/>
                <a:ext cx="831444" cy="538683"/>
              </a:xfrm>
              <a:prstGeom prst="rect">
                <a:avLst/>
              </a:prstGeom>
              <a:noFill/>
            </p:spPr>
            <p:txBody>
              <a:bodyPr wrap="square" rtlCol="0">
                <a:spAutoFit/>
              </a:bodyPr>
              <a:lstStyle/>
              <a:p>
                <a:pPr algn="ctr"/>
                <a:r>
                  <a:rPr lang="en-US" sz="1200">
                    <a:latin typeface="Arial Narrow" panose="020B0606020202030204" pitchFamily="34" charset="0"/>
                  </a:rPr>
                  <a:t>Camera</a:t>
                </a:r>
              </a:p>
              <a:p>
                <a:pPr algn="ctr"/>
                <a:r>
                  <a:rPr lang="en-US" sz="1200">
                    <a:latin typeface="Arial Narrow" panose="020B0606020202030204" pitchFamily="34" charset="0"/>
                  </a:rPr>
                  <a:t>CS2000</a:t>
                </a:r>
              </a:p>
            </p:txBody>
          </p:sp>
          <p:sp>
            <p:nvSpPr>
              <p:cNvPr id="61" name="TextBox 60"/>
              <p:cNvSpPr txBox="1"/>
              <p:nvPr/>
            </p:nvSpPr>
            <p:spPr>
              <a:xfrm>
                <a:off x="3742628" y="438296"/>
                <a:ext cx="526409" cy="490601"/>
              </a:xfrm>
              <a:prstGeom prst="rect">
                <a:avLst/>
              </a:prstGeom>
              <a:noFill/>
            </p:spPr>
            <p:txBody>
              <a:bodyPr wrap="none" rtlCol="0">
                <a:spAutoFit/>
              </a:bodyPr>
              <a:lstStyle/>
              <a:p>
                <a:r>
                  <a:rPr lang="en-US" sz="1600">
                    <a:latin typeface="Arial Narrow" panose="020B0606020202030204" pitchFamily="34" charset="0"/>
                  </a:rPr>
                  <a:t>PID</a:t>
                </a:r>
              </a:p>
            </p:txBody>
          </p:sp>
          <p:sp>
            <p:nvSpPr>
              <p:cNvPr id="62" name="TextBox 61"/>
              <p:cNvSpPr txBox="1"/>
              <p:nvPr/>
            </p:nvSpPr>
            <p:spPr>
              <a:xfrm>
                <a:off x="5819779" y="438296"/>
                <a:ext cx="537293" cy="490601"/>
              </a:xfrm>
              <a:prstGeom prst="rect">
                <a:avLst/>
              </a:prstGeom>
              <a:noFill/>
            </p:spPr>
            <p:txBody>
              <a:bodyPr wrap="none" rtlCol="0">
                <a:spAutoFit/>
              </a:bodyPr>
              <a:lstStyle/>
              <a:p>
                <a:r>
                  <a:rPr lang="en-US" sz="1600">
                    <a:latin typeface="Arial Narrow" panose="020B0606020202030204" pitchFamily="34" charset="0"/>
                  </a:rPr>
                  <a:t>CID</a:t>
                </a:r>
              </a:p>
            </p:txBody>
          </p:sp>
          <p:cxnSp>
            <p:nvCxnSpPr>
              <p:cNvPr id="17" name="Straight Connector 16"/>
              <p:cNvCxnSpPr>
                <a:endCxn id="39" idx="2"/>
              </p:cNvCxnSpPr>
              <p:nvPr/>
            </p:nvCxnSpPr>
            <p:spPr>
              <a:xfrm>
                <a:off x="2992395"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39" idx="0"/>
              </p:cNvCxnSpPr>
              <p:nvPr/>
            </p:nvCxnSpPr>
            <p:spPr>
              <a:xfrm flipH="1">
                <a:off x="2992395"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5028943"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flipH="1">
                <a:off x="5028943"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261339" y="1967733"/>
                <a:ext cx="1558440" cy="338554"/>
              </a:xfrm>
              <a:prstGeom prst="rect">
                <a:avLst/>
              </a:prstGeom>
              <a:noFill/>
            </p:spPr>
            <p:txBody>
              <a:bodyPr wrap="none" rtlCol="0">
                <a:spAutoFit/>
              </a:bodyPr>
              <a:lstStyle/>
              <a:p>
                <a:r>
                  <a:rPr lang="en-US" sz="1600">
                    <a:latin typeface="Arial Narrow" panose="020B0606020202030204" pitchFamily="34" charset="0"/>
                  </a:rPr>
                  <a:t>J1 Dual PPR RHD</a:t>
                </a:r>
              </a:p>
            </p:txBody>
          </p:sp>
          <p:sp>
            <p:nvSpPr>
              <p:cNvPr id="68" name="TextBox 67"/>
              <p:cNvSpPr txBox="1"/>
              <p:nvPr/>
            </p:nvSpPr>
            <p:spPr>
              <a:xfrm>
                <a:off x="4407816" y="1209084"/>
                <a:ext cx="470000" cy="314312"/>
              </a:xfrm>
              <a:prstGeom prst="rect">
                <a:avLst/>
              </a:prstGeom>
              <a:noFill/>
            </p:spPr>
            <p:txBody>
              <a:bodyPr wrap="none" rtlCol="0">
                <a:spAutoFit/>
              </a:bodyPr>
              <a:lstStyle/>
              <a:p>
                <a:r>
                  <a:rPr lang="en-US" sz="900">
                    <a:latin typeface="Arial Narrow" panose="020B0606020202030204" pitchFamily="34" charset="0"/>
                  </a:rPr>
                  <a:t>Center</a:t>
                </a:r>
              </a:p>
            </p:txBody>
          </p:sp>
        </p:grpSp>
        <p:pic>
          <p:nvPicPr>
            <p:cNvPr id="70" name="Picture 69"/>
            <p:cNvPicPr>
              <a:picLocks noChangeAspect="1"/>
            </p:cNvPicPr>
            <p:nvPr/>
          </p:nvPicPr>
          <p:blipFill>
            <a:blip r:embed="rId2"/>
            <a:stretch>
              <a:fillRect/>
            </a:stretch>
          </p:blipFill>
          <p:spPr>
            <a:xfrm>
              <a:off x="1196275" y="2700544"/>
              <a:ext cx="1702020" cy="1659734"/>
            </a:xfrm>
            <a:prstGeom prst="rect">
              <a:avLst/>
            </a:prstGeom>
          </p:spPr>
        </p:pic>
        <p:sp>
          <p:nvSpPr>
            <p:cNvPr id="5" name="Oval 4"/>
            <p:cNvSpPr/>
            <p:nvPr/>
          </p:nvSpPr>
          <p:spPr>
            <a:xfrm>
              <a:off x="3753070" y="1466007"/>
              <a:ext cx="323055" cy="31984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Arrow Connector 47"/>
            <p:cNvCxnSpPr/>
            <p:nvPr/>
          </p:nvCxnSpPr>
          <p:spPr>
            <a:xfrm flipH="1">
              <a:off x="4105275" y="1613358"/>
              <a:ext cx="267247" cy="73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1196275" y="2700544"/>
              <a:ext cx="1702020" cy="165973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stCxn id="5" idx="3"/>
            </p:cNvCxnSpPr>
            <p:nvPr/>
          </p:nvCxnSpPr>
          <p:spPr>
            <a:xfrm flipH="1">
              <a:off x="1196275" y="1739010"/>
              <a:ext cx="2604105" cy="9615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5" idx="3"/>
            </p:cNvCxnSpPr>
            <p:nvPr/>
          </p:nvCxnSpPr>
          <p:spPr>
            <a:xfrm flipH="1">
              <a:off x="2896154" y="1739010"/>
              <a:ext cx="904226" cy="9615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63" name="TextBox 62"/>
          <p:cNvSpPr txBox="1"/>
          <p:nvPr/>
        </p:nvSpPr>
        <p:spPr>
          <a:xfrm>
            <a:off x="142491" y="877319"/>
            <a:ext cx="3139783" cy="461665"/>
          </a:xfrm>
          <a:prstGeom prst="rect">
            <a:avLst/>
          </a:prstGeom>
          <a:noFill/>
        </p:spPr>
        <p:txBody>
          <a:bodyPr wrap="square" rtlCol="0">
            <a:spAutoFit/>
          </a:bodyPr>
          <a:lstStyle/>
          <a:p>
            <a:pPr eaLnBrk="1" latinLnBrk="0"/>
            <a:r>
              <a:rPr lang="en-US" sz="1000" dirty="0">
                <a:latin typeface="Arial" panose="020B0606020202030204" pitchFamily="34" charset="0"/>
              </a:rPr>
              <a:t>1. Camera position is correct after checking.</a:t>
            </a:r>
          </a:p>
          <a:p>
            <a:pPr eaLnBrk="1" latinLnBrk="0"/>
            <a:r>
              <a:rPr lang="en-US" sz="1000" dirty="0">
                <a:latin typeface="Arial" panose="020B0606020202030204" pitchFamily="34" charset="0"/>
                <a:sym typeface="Wingdings" panose="05000000000000000000" pitchFamily="2" charset="2"/>
              </a:rPr>
              <a:t> Camera center coincides with the SET center</a:t>
            </a:r>
            <a:r>
              <a:rPr lang="en-US" sz="1000" dirty="0">
                <a:latin typeface="Arial" panose="020B0606020202030204" pitchFamily="34" charset="0"/>
              </a:rPr>
              <a:t> </a:t>
            </a:r>
          </a:p>
        </p:txBody>
      </p:sp>
      <p:sp>
        <p:nvSpPr>
          <p:cNvPr id="71" name="TextBox 70"/>
          <p:cNvSpPr txBox="1"/>
          <p:nvPr/>
        </p:nvSpPr>
        <p:spPr>
          <a:xfrm>
            <a:off x="327172" y="3868129"/>
            <a:ext cx="8313888" cy="461665"/>
          </a:xfrm>
          <a:prstGeom prst="rect">
            <a:avLst/>
          </a:prstGeom>
          <a:noFill/>
        </p:spPr>
        <p:txBody>
          <a:bodyPr wrap="square" rtlCol="0">
            <a:spAutoFit/>
          </a:bodyPr>
          <a:lstStyle/>
          <a:p>
            <a:pPr eaLnBrk="1" latinLnBrk="0"/>
            <a:r>
              <a:rPr lang="en-US" sz="1000" dirty="0">
                <a:latin typeface="Arial" panose="020B0606020202030204" pitchFamily="34" charset="0"/>
              </a:rPr>
              <a:t xml:space="preserve">2. LHD and RHD use the same servo positions (48, 49) but mirrored screens. </a:t>
            </a:r>
            <a:r>
              <a:rPr lang="en-US" sz="1000" dirty="0">
                <a:latin typeface="Arial" panose="020B0606020202030204" pitchFamily="34" charset="0"/>
                <a:sym typeface="Wingdings" panose="05000000000000000000" pitchFamily="2" charset="2"/>
              </a:rPr>
              <a:t xml:space="preserve"> If the position is not correct, J1 PPR LHD will be NG. </a:t>
            </a:r>
            <a:endParaRPr lang="en-US" sz="1200" dirty="0">
              <a:latin typeface="Arial Narrow" panose="020B0606020202030204" pitchFamily="34" charset="0"/>
            </a:endParaRPr>
          </a:p>
          <a:p>
            <a:pPr eaLnBrk="1" latinLnBrk="0"/>
            <a:r>
              <a:rPr lang="en-US" sz="1000" dirty="0">
                <a:latin typeface="Arial" panose="020B0606020202030204" pitchFamily="34" charset="0"/>
                <a:sym typeface="Wingdings" panose="05000000000000000000" pitchFamily="2" charset="2"/>
              </a:rPr>
              <a:t>(Servo positions 48 and 49: see the diagrams below)</a:t>
            </a:r>
            <a:endParaRPr lang="en-US" sz="1200" dirty="0">
              <a:latin typeface="Arial Narrow" panose="020B0606020202030204" pitchFamily="34" charset="0"/>
            </a:endParaRPr>
          </a:p>
        </p:txBody>
      </p:sp>
      <p:pic>
        <p:nvPicPr>
          <p:cNvPr id="33" name="Picture 32"/>
          <p:cNvPicPr>
            <a:picLocks noChangeAspect="1"/>
          </p:cNvPicPr>
          <p:nvPr/>
        </p:nvPicPr>
        <p:blipFill>
          <a:blip r:embed="rId3"/>
          <a:stretch>
            <a:fillRect/>
          </a:stretch>
        </p:blipFill>
        <p:spPr>
          <a:xfrm>
            <a:off x="426181" y="5144816"/>
            <a:ext cx="4478306" cy="1552310"/>
          </a:xfrm>
          <a:prstGeom prst="rect">
            <a:avLst/>
          </a:prstGeom>
        </p:spPr>
      </p:pic>
      <p:pic>
        <p:nvPicPr>
          <p:cNvPr id="34" name="Picture 33"/>
          <p:cNvPicPr>
            <a:picLocks/>
          </p:cNvPicPr>
          <p:nvPr/>
        </p:nvPicPr>
        <p:blipFill>
          <a:blip r:embed="rId4"/>
          <a:stretch>
            <a:fillRect/>
          </a:stretch>
        </p:blipFill>
        <p:spPr>
          <a:xfrm>
            <a:off x="5287188" y="5144816"/>
            <a:ext cx="4479533" cy="1554480"/>
          </a:xfrm>
          <a:prstGeom prst="rect">
            <a:avLst/>
          </a:prstGeom>
        </p:spPr>
      </p:pic>
      <p:cxnSp>
        <p:nvCxnSpPr>
          <p:cNvPr id="36" name="Straight Connector 35"/>
          <p:cNvCxnSpPr/>
          <p:nvPr/>
        </p:nvCxnSpPr>
        <p:spPr>
          <a:xfrm>
            <a:off x="5095837" y="5144816"/>
            <a:ext cx="0" cy="15544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9" name="Picture 28"/>
          <p:cNvPicPr>
            <a:picLocks noChangeAspect="1"/>
          </p:cNvPicPr>
          <p:nvPr/>
        </p:nvPicPr>
        <p:blipFill rotWithShape="1">
          <a:blip r:embed="rId5"/>
          <a:srcRect t="2551"/>
          <a:stretch/>
        </p:blipFill>
        <p:spPr>
          <a:xfrm>
            <a:off x="2423836" y="4340760"/>
            <a:ext cx="5106113" cy="668702"/>
          </a:xfrm>
          <a:prstGeom prst="rect">
            <a:avLst/>
          </a:prstGeom>
        </p:spPr>
      </p:pic>
      <p:sp>
        <p:nvSpPr>
          <p:cNvPr id="37" name="AutoShape 57">
            <a:extLst>
              <a:ext uri="{FF2B5EF4-FFF2-40B4-BE49-F238E27FC236}">
                <a16:creationId xmlns:a16="http://schemas.microsoft.com/office/drawing/2014/main" id="{68DDE1B3-3D28-43A2-9A04-83B6A91CE5E4}"/>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43" name="AutoShape 55">
            <a:extLst>
              <a:ext uri="{FF2B5EF4-FFF2-40B4-BE49-F238E27FC236}">
                <a16:creationId xmlns:a16="http://schemas.microsoft.com/office/drawing/2014/main" id="{79FEF9DE-91F2-466D-8D5A-77EA15C545BE}"/>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44" name="AutoShape 56">
            <a:extLst>
              <a:ext uri="{FF2B5EF4-FFF2-40B4-BE49-F238E27FC236}">
                <a16:creationId xmlns:a16="http://schemas.microsoft.com/office/drawing/2014/main" id="{090CE2DB-80F1-4E32-BAFD-64B2789C99F7}"/>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46" name="AutoShape 59">
            <a:extLst>
              <a:ext uri="{FF2B5EF4-FFF2-40B4-BE49-F238E27FC236}">
                <a16:creationId xmlns:a16="http://schemas.microsoft.com/office/drawing/2014/main" id="{3264D4EE-B2E7-41C4-B5D1-4BC9AD3C777F}"/>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47" name="AutoShape 58">
            <a:extLst>
              <a:ext uri="{FF2B5EF4-FFF2-40B4-BE49-F238E27FC236}">
                <a16:creationId xmlns:a16="http://schemas.microsoft.com/office/drawing/2014/main" id="{42D6958D-B1E2-4DD9-96D1-51C0AB9FB669}"/>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
        <p:nvSpPr>
          <p:cNvPr id="49" name="TextBox 48">
            <a:extLst>
              <a:ext uri="{FF2B5EF4-FFF2-40B4-BE49-F238E27FC236}">
                <a16:creationId xmlns:a16="http://schemas.microsoft.com/office/drawing/2014/main" id="{8798F2BE-084D-42A1-A858-95A723788943}"/>
              </a:ext>
            </a:extLst>
          </p:cNvPr>
          <p:cNvSpPr txBox="1"/>
          <p:nvPr/>
        </p:nvSpPr>
        <p:spPr>
          <a:xfrm>
            <a:off x="63248" y="535377"/>
            <a:ext cx="7620000"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0000101010101" pitchFamily="34" charset="-127"/>
                <a:ea typeface="Arial" panose="020B0600000101010101" pitchFamily="34" charset="-127"/>
                <a:cs typeface="Arial" panose="020B0604020202020204" pitchFamily="34" charset="0"/>
              </a:rPr>
              <a:t>4.1 Correct the camera angle: camera position and servo position</a:t>
            </a:r>
            <a:endParaRPr lang="en-US" sz="1200" b="1" dirty="0">
              <a:latin typeface="Arial" panose="020B0604020202020204" pitchFamily="34" charset="0"/>
              <a:ea typeface="Arial Unicode MS" panose="020B0604020202020204" pitchFamily="34" charset="-128"/>
              <a:cs typeface="Arial" panose="020B0604020202020204" pitchFamily="34" charset="0"/>
            </a:endParaRPr>
          </a:p>
        </p:txBody>
      </p:sp>
      <p:sp>
        <p:nvSpPr>
          <p:cNvPr id="54" name="제목 1">
            <a:extLst>
              <a:ext uri="{FF2B5EF4-FFF2-40B4-BE49-F238E27FC236}">
                <a16:creationId xmlns:a16="http://schemas.microsoft.com/office/drawing/2014/main" id="{CCCE3919-55FD-41DA-B3C1-6C5CCEBCC1BF}"/>
              </a:ext>
            </a:extLst>
          </p:cNvPr>
          <p:cNvSpPr txBox="1">
            <a:spLocks/>
          </p:cNvSpPr>
          <p:nvPr/>
        </p:nvSpPr>
        <p:spPr>
          <a:xfrm>
            <a:off x="127002" y="85711"/>
            <a:ext cx="4762500" cy="418058"/>
          </a:xfrm>
          <a:prstGeom prst="rect">
            <a:avLst/>
          </a:prstGeom>
        </p:spPr>
        <p:txBody>
          <a:bodyPr vert="horz" lIns="91440" tIns="45720" rIns="91440" bIns="45720" rtlCol="0" anchor="ctr">
            <a:noAutofit/>
          </a:bodyPr>
          <a:lstStyle/>
          <a:p>
            <a:pPr lvl="0" eaLnBrk="1" latinLnBrk="0" hangingPunct="0">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 Improvement (short term)</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56" name="Straight Connector 55">
            <a:extLst>
              <a:ext uri="{FF2B5EF4-FFF2-40B4-BE49-F238E27FC236}">
                <a16:creationId xmlns:a16="http://schemas.microsoft.com/office/drawing/2014/main" id="{1891B0EE-1FBE-46BF-A1A2-CA4A34E5075A}"/>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2" name="Slide Number Placeholder 4"/>
          <p:cNvSpPr>
            <a:spLocks noGrp="1"/>
          </p:cNvSpPr>
          <p:nvPr>
            <p:ph type="sldNum" sz="quarter" idx="12"/>
          </p:nvPr>
        </p:nvSpPr>
        <p:spPr>
          <a:xfrm>
            <a:off x="3581025" y="6631416"/>
            <a:ext cx="2133600" cy="198047"/>
          </a:xfrm>
        </p:spPr>
        <p:txBody>
          <a:bodyPr/>
          <a:lstStyle/>
          <a:p>
            <a:pPr algn="ctr" eaLnBrk="1" latinLnBrk="0"/>
            <a:r>
              <a:rPr sz="1000" b="0">
                <a:latin typeface="Arial"/>
              </a:rPr>
              <a:t>19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Tree>
    <p:extLst>
      <p:ext uri="{BB962C8B-B14F-4D97-AF65-F5344CB8AC3E}">
        <p14:creationId xmlns:p14="http://schemas.microsoft.com/office/powerpoint/2010/main" val="4743063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able 35"/>
          <p:cNvGraphicFramePr>
            <a:graphicFrameLocks noGrp="1"/>
          </p:cNvGraphicFramePr>
          <p:nvPr/>
        </p:nvGraphicFramePr>
        <p:xfrm>
          <a:off x="425381" y="820753"/>
          <a:ext cx="3765983" cy="5560572"/>
        </p:xfrm>
        <a:graphic>
          <a:graphicData uri="http://schemas.openxmlformats.org/drawingml/2006/table">
            <a:tbl>
              <a:tblPr/>
              <a:tblGrid>
                <a:gridCol w="386956">
                  <a:extLst>
                    <a:ext uri="{9D8B030D-6E8A-4147-A177-3AD203B41FA5}">
                      <a16:colId xmlns:a16="http://schemas.microsoft.com/office/drawing/2014/main" val="20000"/>
                    </a:ext>
                  </a:extLst>
                </a:gridCol>
                <a:gridCol w="994169">
                  <a:extLst>
                    <a:ext uri="{9D8B030D-6E8A-4147-A177-3AD203B41FA5}">
                      <a16:colId xmlns:a16="http://schemas.microsoft.com/office/drawing/2014/main" val="20001"/>
                    </a:ext>
                  </a:extLst>
                </a:gridCol>
                <a:gridCol w="542925">
                  <a:extLst>
                    <a:ext uri="{9D8B030D-6E8A-4147-A177-3AD203B41FA5}">
                      <a16:colId xmlns:a16="http://schemas.microsoft.com/office/drawing/2014/main" val="20002"/>
                    </a:ext>
                  </a:extLst>
                </a:gridCol>
                <a:gridCol w="942975">
                  <a:extLst>
                    <a:ext uri="{9D8B030D-6E8A-4147-A177-3AD203B41FA5}">
                      <a16:colId xmlns:a16="http://schemas.microsoft.com/office/drawing/2014/main" val="20003"/>
                    </a:ext>
                  </a:extLst>
                </a:gridCol>
                <a:gridCol w="898958">
                  <a:extLst>
                    <a:ext uri="{9D8B030D-6E8A-4147-A177-3AD203B41FA5}">
                      <a16:colId xmlns:a16="http://schemas.microsoft.com/office/drawing/2014/main" val="20004"/>
                    </a:ext>
                  </a:extLst>
                </a:gridCol>
              </a:tblGrid>
              <a:tr h="204469">
                <a:tc rowSpan="2">
                  <a:txBody>
                    <a:bodyPr/>
                    <a:lstStyle/>
                    <a:p>
                      <a:pPr algn="ctr" eaLnBrk="1" fontAlgn="ctr" latinLnBrk="0"/>
                      <a:r>
                        <a:rPr lang="en-US" sz="900" b="1" i="0" u="none" strike="noStrike" dirty="0">
                          <a:solidFill>
                            <a:srgbClr val="000000"/>
                          </a:solidFill>
                          <a:effectLst/>
                          <a:latin typeface="Arial" panose="020B0604020202020204" pitchFamily="34" charset="0"/>
                        </a:rPr>
                        <a:t>No</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gridSpan="3">
                  <a:txBody>
                    <a:bodyPr/>
                    <a:lstStyle/>
                    <a:p>
                      <a:pPr algn="ctr" eaLnBrk="1" fontAlgn="ctr" latinLnBrk="0"/>
                      <a:r>
                        <a:rPr lang="en-US" sz="900" b="1" i="0" u="none" strike="noStrike" dirty="0">
                          <a:solidFill>
                            <a:srgbClr val="000000"/>
                          </a:solidFill>
                          <a:effectLst/>
                          <a:latin typeface="Arial" panose="020B0604020202020204" pitchFamily="34" charset="0"/>
                        </a:rPr>
                        <a:t>IVI</a:t>
                      </a:r>
                      <a:r>
                        <a:rPr lang="en-US" sz="900" b="1" i="0" u="none" strike="noStrike" baseline="0" dirty="0">
                          <a:solidFill>
                            <a:srgbClr val="000000"/>
                          </a:solidFill>
                          <a:effectLst/>
                          <a:latin typeface="Arial" panose="020B0604020202020204" pitchFamily="34" charset="0"/>
                        </a:rPr>
                        <a:t> 5 LINE</a:t>
                      </a:r>
                      <a:endParaRPr lang="en-US" sz="900" b="1"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eaLnBrk="1" latinLnBrk="0"/>
                      <a:endParaRPr lang="en-US"/>
                    </a:p>
                  </a:txBody>
                  <a:tcPr/>
                </a:tc>
                <a:tc hMerge="1">
                  <a:txBody>
                    <a:bodyPr/>
                    <a:lstStyle/>
                    <a:p>
                      <a:pPr algn="ctr" eaLnBrk="1" fontAlgn="ctr" latinLnBrk="0"/>
                      <a:endParaRPr lang="en-US" sz="900" b="1"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altLang="ko-KR" sz="900" b="1" i="0" u="none" strike="noStrike" dirty="0">
                          <a:solidFill>
                            <a:srgbClr val="000000"/>
                          </a:solidFill>
                          <a:effectLst/>
                          <a:latin typeface="Arial" panose="020B0604020202020204" pitchFamily="34" charset="0"/>
                        </a:rPr>
                        <a:t>CS2000</a:t>
                      </a:r>
                    </a:p>
                    <a:p>
                      <a:pPr algn="ctr" eaLnBrk="1" fontAlgn="ctr" latinLnBrk="0"/>
                      <a:r>
                        <a:rPr lang="en-US" altLang="ko-KR" sz="900" b="1" i="0" u="none" strike="noStrike" dirty="0">
                          <a:solidFill>
                            <a:srgbClr val="000000"/>
                          </a:solidFill>
                          <a:effectLst/>
                          <a:latin typeface="Arial" panose="020B0604020202020204" pitchFamily="34" charset="0"/>
                        </a:rPr>
                        <a:t>Apply luminance compensation</a:t>
                      </a:r>
                      <a:endParaRPr lang="en-US" sz="900" b="1"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49239">
                <a:tc vMerge="1">
                  <a:txBody>
                    <a:bodyPr/>
                    <a:lstStyle/>
                    <a:p>
                      <a:pPr eaLnBrk="1" latinLnBrk="0"/>
                      <a:endParaRPr lang="ko-KR" altLang="en-US"/>
                    </a:p>
                  </a:txBody>
                  <a:tcPr/>
                </a:tc>
                <a:tc gridSpan="2">
                  <a:txBody>
                    <a:bodyPr/>
                    <a:lstStyle/>
                    <a:p>
                      <a:pPr algn="ctr" eaLnBrk="1" fontAlgn="ctr" latinLnBrk="0"/>
                      <a:r>
                        <a:rPr lang="en-US" sz="900" b="1" i="0" u="none" strike="noStrike" dirty="0">
                          <a:solidFill>
                            <a:srgbClr val="000000"/>
                          </a:solidFill>
                          <a:effectLst/>
                          <a:latin typeface="Arial" panose="020B0604020202020204" pitchFamily="34" charset="0"/>
                        </a:rPr>
                        <a:t>Model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eaLnBrk="1" latinLnBrk="0"/>
                      <a:endParaRPr lang="ko-KR" altLang="en-US"/>
                    </a:p>
                  </a:txBody>
                  <a:tcPr/>
                </a:tc>
                <a:tc>
                  <a:txBody>
                    <a:bodyPr/>
                    <a:lstStyle/>
                    <a:p>
                      <a:pPr algn="ctr" eaLnBrk="1" fontAlgn="ctr" latinLnBrk="0"/>
                      <a:r>
                        <a:rPr lang="en-US" sz="900" b="1" i="0" u="none" strike="noStrike" dirty="0">
                          <a:solidFill>
                            <a:srgbClr val="000000"/>
                          </a:solidFill>
                          <a:effectLst/>
                          <a:latin typeface="Arial" panose="020B0604020202020204" pitchFamily="34" charset="0"/>
                        </a:rPr>
                        <a:t>BLU Type</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eaLnBrk="1" latinLnBrk="0"/>
                      <a:endParaRPr lang="ko-KR" altLang="en-US"/>
                    </a:p>
                  </a:txBody>
                  <a:tcPr/>
                </a:tc>
                <a:extLst>
                  <a:ext uri="{0D108BD9-81ED-4DB2-BD59-A6C34878D82A}">
                    <a16:rowId xmlns:a16="http://schemas.microsoft.com/office/drawing/2014/main" val="10001"/>
                  </a:ext>
                </a:extLst>
              </a:tr>
              <a:tr h="200198">
                <a:tc>
                  <a:txBody>
                    <a:bodyPr/>
                    <a:lstStyle/>
                    <a:p>
                      <a:pPr algn="ctr" eaLnBrk="1" fontAlgn="ctr" latinLnBrk="0"/>
                      <a:r>
                        <a:rPr lang="en-US" sz="900" b="0" i="0" u="none" strike="noStrike">
                          <a:solidFill>
                            <a:srgbClr val="000000"/>
                          </a:solidFill>
                          <a:effectLst/>
                          <a:latin typeface="Arial" panose="020B0604020202020204" pitchFamily="34" charset="0"/>
                        </a:rPr>
                        <a:t>1</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 xml:space="preserve">Bentayga (Bentley)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00198">
                <a:tc>
                  <a:txBody>
                    <a:bodyPr/>
                    <a:lstStyle/>
                    <a:p>
                      <a:pPr algn="ctr" eaLnBrk="1" fontAlgn="ctr" latinLnBrk="0"/>
                      <a:r>
                        <a:rPr lang="en-US" sz="900" b="0" i="0" u="none" strike="noStrike">
                          <a:solidFill>
                            <a:srgbClr val="000000"/>
                          </a:solidFill>
                          <a:effectLst/>
                          <a:latin typeface="Arial" panose="020B0604020202020204" pitchFamily="34" charset="0"/>
                        </a:rPr>
                        <a:t>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Macan</a:t>
                      </a:r>
                      <a:r>
                        <a:rPr lang="en-US" sz="900" b="0" i="0" u="none" strike="noStrike" kern="1200" baseline="0" dirty="0">
                          <a:solidFill>
                            <a:srgbClr val="000000"/>
                          </a:solidFill>
                          <a:effectLst/>
                          <a:latin typeface="Arial" panose="020B0604020202020204" pitchFamily="34" charset="0"/>
                          <a:ea typeface="+mn-ea"/>
                          <a:cs typeface="+mn-cs"/>
                        </a:rPr>
                        <a:t> LZV</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992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4</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J1 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5</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G3 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6</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E3PA</a:t>
                      </a:r>
                      <a:r>
                        <a:rPr lang="en-US" sz="900" b="0" i="0" u="none" strike="noStrike" kern="1200" baseline="0" dirty="0">
                          <a:solidFill>
                            <a:srgbClr val="000000"/>
                          </a:solidFill>
                          <a:effectLst/>
                          <a:latin typeface="Arial" panose="020B0604020202020204" pitchFamily="34" charset="0"/>
                          <a:ea typeface="+mn-ea"/>
                          <a:cs typeface="+mn-cs"/>
                        </a:rPr>
                        <a:t> CID</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00198">
                <a:tc rowSpan="4">
                  <a:txBody>
                    <a:bodyPr/>
                    <a:lstStyle/>
                    <a:p>
                      <a:pPr eaLnBrk="1" latinLnBrk="0" algn="ctr"/>
                      <a:r>
                        <a:rPr sz="1000" b="0">
                          <a:latin typeface="Arial"/>
                        </a:rPr>
                        <a:t>7*</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J1 Dual LHD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J1 Dual RHD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8</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Lamborghini</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00198">
                <a:tc rowSpan="4">
                  <a:txBody>
                    <a:bodyPr/>
                    <a:lstStyle/>
                    <a:p>
                      <a:pPr algn="ctr" eaLnBrk="1" fontAlgn="ctr" latinLnBrk="0"/>
                      <a:r>
                        <a:rPr lang="en-US" sz="900" b="0" i="0" u="none" strike="noStrike" dirty="0">
                          <a:solidFill>
                            <a:srgbClr val="000000"/>
                          </a:solidFill>
                          <a:effectLst/>
                          <a:latin typeface="Arial" panose="020B0604020202020204" pitchFamily="34" charset="0"/>
                        </a:rPr>
                        <a:t>9</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E3PA</a:t>
                      </a:r>
                      <a:r>
                        <a:rPr lang="en-US" sz="900" b="0" i="0" u="none" strike="noStrike" kern="1200" baseline="0" dirty="0">
                          <a:solidFill>
                            <a:srgbClr val="000000"/>
                          </a:solidFill>
                          <a:effectLst/>
                          <a:latin typeface="Arial" panose="020B0604020202020204" pitchFamily="34" charset="0"/>
                          <a:ea typeface="+mn-ea"/>
                          <a:cs typeface="+mn-cs"/>
                        </a:rPr>
                        <a:t> Dual LHD</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4"/>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E3PA</a:t>
                      </a:r>
                      <a:r>
                        <a:rPr lang="en-US" sz="900" b="0" i="0" u="none" strike="noStrike" kern="1200" baseline="0" dirty="0">
                          <a:solidFill>
                            <a:srgbClr val="000000"/>
                          </a:solidFill>
                          <a:effectLst/>
                          <a:latin typeface="Arial" panose="020B0604020202020204" pitchFamily="34" charset="0"/>
                          <a:ea typeface="+mn-ea"/>
                          <a:cs typeface="+mn-cs"/>
                        </a:rPr>
                        <a:t> Dual RHD</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FF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eaLnBrk="1" latinLnBrk="0"/>
                      <a:r>
                        <a:rPr lang="en-US" altLang="ko-KR" sz="900" b="0" i="0" u="none" strike="noStrike" kern="1200" dirty="0">
                          <a:solidFill>
                            <a:srgbClr val="FF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eaLnBrk="1" latinLnBrk="0"/>
                      <a:r>
                        <a:rPr lang="en-US" altLang="ko-KR" sz="900" b="0" i="0" u="none" strike="noStrike" kern="1200" dirty="0">
                          <a:solidFill>
                            <a:srgbClr val="FF0000"/>
                          </a:solidFill>
                          <a:effectLst/>
                          <a:latin typeface="Arial" panose="020B0604020202020204" pitchFamily="34" charset="0"/>
                          <a:ea typeface="+mn-ea"/>
                          <a:cs typeface="+mn-cs"/>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16"/>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200198">
                <a:tc rowSpan="4">
                  <a:txBody>
                    <a:bodyPr/>
                    <a:lstStyle/>
                    <a:p>
                      <a:pPr algn="ctr" eaLnBrk="1" fontAlgn="ctr" latinLnBrk="0"/>
                      <a:r>
                        <a:rPr lang="en-US" sz="900" b="0" i="0" u="none" strike="noStrike" dirty="0">
                          <a:solidFill>
                            <a:srgbClr val="000000"/>
                          </a:solidFill>
                          <a:effectLst/>
                          <a:latin typeface="Arial" panose="020B0604020202020204" pitchFamily="34" charset="0"/>
                        </a:rPr>
                        <a:t>10</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G3 Dual LHD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8"/>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G3 Dual RHD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FF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FF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eaLnBrk="1" latinLnBrk="0"/>
                      <a:r>
                        <a:rPr lang="en-US" altLang="ko-KR" sz="900" b="0" i="0" u="none" strike="noStrike" kern="1200" dirty="0">
                          <a:solidFill>
                            <a:srgbClr val="FF0000"/>
                          </a:solidFill>
                          <a:effectLst/>
                          <a:latin typeface="Arial" panose="020B0604020202020204" pitchFamily="34" charset="0"/>
                          <a:ea typeface="+mn-ea"/>
                          <a:cs typeface="+mn-cs"/>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20"/>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r h="200198">
                <a:tc rowSpan="4">
                  <a:txBody>
                    <a:bodyPr/>
                    <a:lstStyle/>
                    <a:p>
                      <a:pPr algn="ctr" eaLnBrk="1" fontAlgn="ctr" latinLnBrk="0"/>
                      <a:r>
                        <a:rPr lang="en-US" sz="900" b="0" i="0" u="none" strike="noStrike" dirty="0">
                          <a:solidFill>
                            <a:srgbClr val="000000"/>
                          </a:solidFill>
                          <a:effectLst/>
                          <a:latin typeface="Arial" panose="020B0604020202020204" pitchFamily="34" charset="0"/>
                        </a:rPr>
                        <a:t>11</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J1 Dual PPR LHD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22"/>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3"/>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J1 Dual PPR RHD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FF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FF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eaLnBrk="1" latinLnBrk="0"/>
                      <a:r>
                        <a:rPr lang="en-US" altLang="ko-KR" sz="900" b="0" i="0" u="none" strike="noStrike" kern="1200" dirty="0">
                          <a:solidFill>
                            <a:srgbClr val="FF0000"/>
                          </a:solidFill>
                          <a:effectLst/>
                          <a:latin typeface="Arial" panose="020B0604020202020204" pitchFamily="34" charset="0"/>
                          <a:ea typeface="+mn-ea"/>
                          <a:cs typeface="+mn-cs"/>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24"/>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5"/>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12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G2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6"/>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E3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7"/>
                  </a:ext>
                </a:extLst>
              </a:tr>
            </a:tbl>
          </a:graphicData>
        </a:graphic>
      </p:graphicFrame>
      <p:pic>
        <p:nvPicPr>
          <p:cNvPr id="27" name="그림 26"/>
          <p:cNvPicPr>
            <a:picLocks noChangeAspect="1"/>
          </p:cNvPicPr>
          <p:nvPr/>
        </p:nvPicPr>
        <p:blipFill>
          <a:blip r:embed="rId2"/>
          <a:stretch>
            <a:fillRect/>
          </a:stretch>
        </p:blipFill>
        <p:spPr>
          <a:xfrm>
            <a:off x="4797272" y="5053264"/>
            <a:ext cx="1713598" cy="1285199"/>
          </a:xfrm>
          <a:prstGeom prst="rect">
            <a:avLst/>
          </a:prstGeom>
        </p:spPr>
      </p:pic>
      <p:pic>
        <p:nvPicPr>
          <p:cNvPr id="28" name="그림 27"/>
          <p:cNvPicPr>
            <a:picLocks noChangeAspect="1"/>
          </p:cNvPicPr>
          <p:nvPr/>
        </p:nvPicPr>
        <p:blipFill>
          <a:blip r:embed="rId3"/>
          <a:stretch>
            <a:fillRect/>
          </a:stretch>
        </p:blipFill>
        <p:spPr>
          <a:xfrm>
            <a:off x="7301071" y="5076792"/>
            <a:ext cx="1650858" cy="1238144"/>
          </a:xfrm>
          <a:prstGeom prst="rect">
            <a:avLst/>
          </a:prstGeom>
        </p:spPr>
      </p:pic>
      <p:sp>
        <p:nvSpPr>
          <p:cNvPr id="29" name="TextBox 37"/>
          <p:cNvSpPr txBox="1">
            <a:spLocks noChangeArrowheads="1"/>
          </p:cNvSpPr>
          <p:nvPr/>
        </p:nvSpPr>
        <p:spPr bwMode="auto">
          <a:xfrm>
            <a:off x="4702628" y="4600800"/>
            <a:ext cx="175240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eaLnBrk="1" latinLnBrk="0">
              <a:buFont typeface="Wingdings" panose="05000000000000000000" pitchFamily="2" charset="2"/>
              <a:buChar char="§"/>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Privacy View Angle (PID)</a:t>
            </a:r>
          </a:p>
          <a:p>
            <a:pPr marL="0" indent="0" eaLnBrk="1" latinLnBrk="0">
              <a:defRPr/>
            </a:pPr>
            <a:endParaRPr lang="en-US" altLang="ko-KR" sz="1100" b="0" dirty="0">
              <a:solidFill>
                <a:schemeClr val="tx1"/>
              </a:solidFill>
              <a:latin typeface="LG스마트체 Regular" panose="020B0600000101010101" pitchFamily="50" charset="-127"/>
              <a:ea typeface="LG스마트체 Regular" panose="020B0600000101010101" pitchFamily="50" charset="-127"/>
              <a:cs typeface="Arial" panose="020B0604020202020204" pitchFamily="34" charset="0"/>
              <a:sym typeface="Arial" panose="020B0604020202020204" pitchFamily="34" charset="0"/>
            </a:endParaRPr>
          </a:p>
        </p:txBody>
      </p:sp>
      <p:sp>
        <p:nvSpPr>
          <p:cNvPr id="30" name="TextBox 37"/>
          <p:cNvSpPr txBox="1">
            <a:spLocks noChangeArrowheads="1"/>
          </p:cNvSpPr>
          <p:nvPr/>
        </p:nvSpPr>
        <p:spPr bwMode="auto">
          <a:xfrm>
            <a:off x="7280550" y="4600800"/>
            <a:ext cx="169148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eaLnBrk="1" latinLnBrk="0">
              <a:buFont typeface="Wingdings" panose="05000000000000000000" pitchFamily="2" charset="2"/>
              <a:buChar char="§"/>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Public View Angle (CID)</a:t>
            </a:r>
          </a:p>
        </p:txBody>
      </p:sp>
      <p:pic>
        <p:nvPicPr>
          <p:cNvPr id="8" name="그림 7"/>
          <p:cNvPicPr>
            <a:picLocks noChangeAspect="1"/>
          </p:cNvPicPr>
          <p:nvPr/>
        </p:nvPicPr>
        <p:blipFill rotWithShape="1">
          <a:blip r:embed="rId4"/>
          <a:srcRect l="52980" t="20433" r="20933" b="68609"/>
          <a:stretch/>
        </p:blipFill>
        <p:spPr>
          <a:xfrm>
            <a:off x="4550818" y="3845476"/>
            <a:ext cx="4723003" cy="557966"/>
          </a:xfrm>
          <a:prstGeom prst="rect">
            <a:avLst/>
          </a:prstGeom>
        </p:spPr>
      </p:pic>
      <p:grpSp>
        <p:nvGrpSpPr>
          <p:cNvPr id="10" name="그룹 9"/>
          <p:cNvGrpSpPr/>
          <p:nvPr/>
        </p:nvGrpSpPr>
        <p:grpSpPr>
          <a:xfrm>
            <a:off x="4766088" y="1806629"/>
            <a:ext cx="4137556" cy="2023142"/>
            <a:chOff x="4889570" y="1204240"/>
            <a:chExt cx="4137556" cy="2023142"/>
          </a:xfrm>
        </p:grpSpPr>
        <p:pic>
          <p:nvPicPr>
            <p:cNvPr id="2" name="그림 1"/>
            <p:cNvPicPr>
              <a:picLocks noChangeAspect="1"/>
            </p:cNvPicPr>
            <p:nvPr/>
          </p:nvPicPr>
          <p:blipFill rotWithShape="1">
            <a:blip r:embed="rId5"/>
            <a:srcRect l="21954" t="30233" r="63077" b="43273"/>
            <a:stretch/>
          </p:blipFill>
          <p:spPr>
            <a:xfrm>
              <a:off x="4889570" y="1353650"/>
              <a:ext cx="3242600" cy="1873732"/>
            </a:xfrm>
            <a:prstGeom prst="rect">
              <a:avLst/>
            </a:prstGeom>
          </p:spPr>
        </p:pic>
        <p:cxnSp>
          <p:nvCxnSpPr>
            <p:cNvPr id="5" name="직선 연결선 4"/>
            <p:cNvCxnSpPr/>
            <p:nvPr/>
          </p:nvCxnSpPr>
          <p:spPr>
            <a:xfrm>
              <a:off x="8126500" y="1812324"/>
              <a:ext cx="255373" cy="0"/>
            </a:xfrm>
            <a:prstGeom prst="line">
              <a:avLst/>
            </a:prstGeom>
            <a:ln w="25400">
              <a:solidFill>
                <a:srgbClr val="EE8943"/>
              </a:solidFill>
            </a:ln>
          </p:spPr>
          <p:style>
            <a:lnRef idx="1">
              <a:schemeClr val="accent1"/>
            </a:lnRef>
            <a:fillRef idx="0">
              <a:schemeClr val="accent1"/>
            </a:fillRef>
            <a:effectRef idx="0">
              <a:schemeClr val="accent1"/>
            </a:effectRef>
            <a:fontRef idx="minor">
              <a:schemeClr val="tx1"/>
            </a:fontRef>
          </p:style>
        </p:cxnSp>
        <p:cxnSp>
          <p:nvCxnSpPr>
            <p:cNvPr id="34" name="직선 연결선 33"/>
            <p:cNvCxnSpPr/>
            <p:nvPr/>
          </p:nvCxnSpPr>
          <p:spPr>
            <a:xfrm>
              <a:off x="8126500" y="2001794"/>
              <a:ext cx="255373"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5" name="TextBox 37"/>
            <p:cNvSpPr txBox="1">
              <a:spLocks noChangeArrowheads="1"/>
            </p:cNvSpPr>
            <p:nvPr/>
          </p:nvSpPr>
          <p:spPr bwMode="auto">
            <a:xfrm>
              <a:off x="8358353" y="1690872"/>
              <a:ext cx="66877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a:defRPr/>
              </a:pPr>
              <a:r>
                <a:rPr lang="en-US" altLang="ko-KR" sz="11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Public</a:t>
              </a:r>
            </a:p>
            <a:p>
              <a:pPr marL="0" indent="0">
                <a:defRPr/>
              </a:pPr>
              <a:r>
                <a:rPr lang="en-US" altLang="ko-KR" sz="11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Privacy</a:t>
              </a:r>
            </a:p>
          </p:txBody>
        </p:sp>
        <p:cxnSp>
          <p:nvCxnSpPr>
            <p:cNvPr id="36" name="직선 연결선 35"/>
            <p:cNvCxnSpPr/>
            <p:nvPr/>
          </p:nvCxnSpPr>
          <p:spPr>
            <a:xfrm flipV="1">
              <a:off x="6605478" y="1437146"/>
              <a:ext cx="0" cy="1585753"/>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9" name="직선 연결선 38"/>
            <p:cNvCxnSpPr/>
            <p:nvPr/>
          </p:nvCxnSpPr>
          <p:spPr>
            <a:xfrm flipV="1">
              <a:off x="6535584" y="1437146"/>
              <a:ext cx="0" cy="1585753"/>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40" name="TextBox 37"/>
            <p:cNvSpPr txBox="1">
              <a:spLocks noChangeArrowheads="1"/>
            </p:cNvSpPr>
            <p:nvPr/>
          </p:nvSpPr>
          <p:spPr bwMode="auto">
            <a:xfrm>
              <a:off x="6403698" y="1480352"/>
              <a:ext cx="32092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ko-KR" sz="1000" b="0" dirty="0">
                  <a:solidFill>
                    <a:srgbClr val="FF0000"/>
                  </a:solidFill>
                  <a:latin typeface="Arial" panose="020B0600000101010101" pitchFamily="50" charset="-127"/>
                  <a:ea typeface="Arial" panose="020B0600000101010101" pitchFamily="50" charset="-127"/>
                  <a:cs typeface="Arial" panose="020B0604020202020204" pitchFamily="34" charset="0"/>
                  <a:sym typeface="Wingdings" panose="05000000000000000000" pitchFamily="2" charset="2"/>
                </a:rPr>
                <a:t></a:t>
              </a:r>
            </a:p>
          </p:txBody>
        </p:sp>
        <p:sp>
          <p:nvSpPr>
            <p:cNvPr id="41" name="TextBox 37"/>
            <p:cNvSpPr txBox="1">
              <a:spLocks noChangeArrowheads="1"/>
            </p:cNvSpPr>
            <p:nvPr/>
          </p:nvSpPr>
          <p:spPr bwMode="auto">
            <a:xfrm>
              <a:off x="6189378" y="1204240"/>
              <a:ext cx="3513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a:defRPr/>
              </a:pPr>
              <a:r>
                <a:rPr lang="en-US" altLang="ko-KR" sz="8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89°</a:t>
              </a:r>
            </a:p>
          </p:txBody>
        </p:sp>
        <p:sp>
          <p:nvSpPr>
            <p:cNvPr id="43" name="TextBox 37"/>
            <p:cNvSpPr txBox="1">
              <a:spLocks noChangeArrowheads="1"/>
            </p:cNvSpPr>
            <p:nvPr/>
          </p:nvSpPr>
          <p:spPr bwMode="auto">
            <a:xfrm>
              <a:off x="6582101" y="1204240"/>
              <a:ext cx="3513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a:defRPr/>
              </a:pPr>
              <a:r>
                <a:rPr lang="en-US" altLang="ko-KR" sz="8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90°</a:t>
              </a:r>
            </a:p>
          </p:txBody>
        </p:sp>
      </p:grpSp>
      <p:sp>
        <p:nvSpPr>
          <p:cNvPr id="44" name="직사각형 43"/>
          <p:cNvSpPr/>
          <p:nvPr/>
        </p:nvSpPr>
        <p:spPr>
          <a:xfrm>
            <a:off x="6971579" y="4047013"/>
            <a:ext cx="330783" cy="339783"/>
          </a:xfrm>
          <a:prstGeom prst="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ko-KR" altLang="en-US"/>
          </a:p>
        </p:txBody>
      </p:sp>
      <p:sp>
        <p:nvSpPr>
          <p:cNvPr id="45" name="TextBox 37"/>
          <p:cNvSpPr txBox="1">
            <a:spLocks noChangeArrowheads="1"/>
          </p:cNvSpPr>
          <p:nvPr/>
        </p:nvSpPr>
        <p:spPr bwMode="auto">
          <a:xfrm>
            <a:off x="6822000" y="4384328"/>
            <a:ext cx="2340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p>
            <a:pPr algn="ctr" eaLnBrk="1" latinLnBrk="0"/>
            <a:r>
              <a:rPr lang="en-US" altLang="ko-KR" sz="1000" b="0" dirty="0">
                <a:solidFill>
                  <a:srgbClr val="FF0000"/>
                </a:solidFill>
                <a:latin typeface="Arial" panose="020B0600000101010101" pitchFamily="50" charset="-127"/>
                <a:ea typeface="Arial" panose="020B0600000101010101" pitchFamily="50" charset="-127"/>
                <a:cs typeface="Arial" panose="020B0604020202020204" pitchFamily="34" charset="0"/>
                <a:sym typeface="Wingdings" panose="05000000000000000000" pitchFamily="2" charset="2"/>
              </a:rPr>
              <a:t></a:t>
            </a:r>
          </a:p>
        </p:txBody>
      </p:sp>
      <p:sp>
        <p:nvSpPr>
          <p:cNvPr id="46" name="TextBox 37"/>
          <p:cNvSpPr txBox="1">
            <a:spLocks noChangeArrowheads="1"/>
          </p:cNvSpPr>
          <p:nvPr/>
        </p:nvSpPr>
        <p:spPr bwMode="auto">
          <a:xfrm>
            <a:off x="6533999" y="4402118"/>
            <a:ext cx="3060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8000" tIns="18000" rIns="18000" bIns="18000">
            <a:no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eaLnBrk="1" latinLnBrk="0">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89°</a:t>
            </a:r>
          </a:p>
        </p:txBody>
      </p:sp>
      <p:sp>
        <p:nvSpPr>
          <p:cNvPr id="55" name="TextBox 37"/>
          <p:cNvSpPr txBox="1">
            <a:spLocks noChangeArrowheads="1"/>
          </p:cNvSpPr>
          <p:nvPr/>
        </p:nvSpPr>
        <p:spPr bwMode="auto">
          <a:xfrm>
            <a:off x="7073999" y="4402118"/>
            <a:ext cx="3060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8000" tIns="18000" rIns="18000" bIns="18000">
            <a:no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eaLnBrk="1" latinLnBrk="0">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90°</a:t>
            </a:r>
          </a:p>
        </p:txBody>
      </p:sp>
      <p:sp>
        <p:nvSpPr>
          <p:cNvPr id="64" name="직사각형 63"/>
          <p:cNvSpPr/>
          <p:nvPr/>
        </p:nvSpPr>
        <p:spPr>
          <a:xfrm>
            <a:off x="6630498" y="4047013"/>
            <a:ext cx="330783" cy="339783"/>
          </a:xfrm>
          <a:prstGeom prst="rect">
            <a:avLst/>
          </a:prstGeom>
          <a:no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ko-KR" altLang="en-US"/>
          </a:p>
        </p:txBody>
      </p:sp>
      <p:graphicFrame>
        <p:nvGraphicFramePr>
          <p:cNvPr id="9" name="개체 8"/>
          <p:cNvGraphicFramePr>
            <a:graphicFrameLocks noChangeAspect="1"/>
          </p:cNvGraphicFramePr>
          <p:nvPr>
            <p:extLst>
              <p:ext uri="{D42A27DB-BD31-4B8C-83A1-F6EECF244321}">
                <p14:modId xmlns:p14="http://schemas.microsoft.com/office/powerpoint/2010/main" val="4216972648"/>
              </p:ext>
            </p:extLst>
          </p:nvPr>
        </p:nvGraphicFramePr>
        <p:xfrm>
          <a:off x="8235539" y="3017987"/>
          <a:ext cx="914400" cy="771525"/>
        </p:xfrm>
        <a:graphic>
          <a:graphicData uri="http://schemas.openxmlformats.org/presentationml/2006/ole">
            <mc:AlternateContent xmlns:mc="http://schemas.openxmlformats.org/markup-compatibility/2006">
              <mc:Choice xmlns:v="urn:schemas-microsoft-com:vml" Requires="v">
                <p:oleObj name="Worksheet" showAsIcon="1" r:id="rId6" imgW="914400" imgH="771480" progId="Excel.Sheet.12">
                  <p:embed/>
                </p:oleObj>
              </mc:Choice>
              <mc:Fallback>
                <p:oleObj name="Worksheet" showAsIcon="1" r:id="rId6" imgW="914400" imgH="771480" progId="Excel.Sheet.12">
                  <p:embed/>
                  <p:pic>
                    <p:nvPicPr>
                      <p:cNvPr id="9" name="개체 8"/>
                      <p:cNvPicPr/>
                      <p:nvPr/>
                    </p:nvPicPr>
                    <p:blipFill>
                      <a:blip r:embed="rId7"/>
                      <a:stretch>
                        <a:fillRect/>
                      </a:stretch>
                    </p:blipFill>
                    <p:spPr>
                      <a:xfrm>
                        <a:off x="8235539" y="3017987"/>
                        <a:ext cx="914400" cy="771525"/>
                      </a:xfrm>
                      <a:prstGeom prst="rect">
                        <a:avLst/>
                      </a:prstGeom>
                    </p:spPr>
                  </p:pic>
                </p:oleObj>
              </mc:Fallback>
            </mc:AlternateContent>
          </a:graphicData>
        </a:graphic>
      </p:graphicFrame>
      <p:sp>
        <p:nvSpPr>
          <p:cNvPr id="66" name="TextBox 37"/>
          <p:cNvSpPr txBox="1">
            <a:spLocks noChangeArrowheads="1"/>
          </p:cNvSpPr>
          <p:nvPr/>
        </p:nvSpPr>
        <p:spPr bwMode="auto">
          <a:xfrm>
            <a:off x="4818857" y="6413741"/>
            <a:ext cx="40382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eaLnBrk="1" latinLnBrk="0">
              <a:buFont typeface="Wingdings" panose="05000000000000000000" pitchFamily="2" charset="2"/>
              <a:buChar char="§"/>
              <a:defRPr/>
            </a:pPr>
            <a:r>
              <a:rPr lang="en-US" altLang="ko-KR" sz="1000" b="0" dirty="0">
                <a:solidFill>
                  <a:srgbClr val="00B050"/>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 xml:space="preserve">Difference between Privacy and Public: whether or not an LCF (louver) film is applied </a:t>
            </a:r>
          </a:p>
          <a:p>
            <a:pPr marL="0" indent="0" eaLnBrk="1" latinLnBrk="0">
              <a:defRPr/>
            </a:pPr>
            <a:r>
              <a:rPr lang="en-US" altLang="ko-KR" sz="1000" b="0" dirty="0">
                <a:solidFill>
                  <a:srgbClr val="00B050"/>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for the privacy display function within the BLU module</a:t>
            </a:r>
          </a:p>
        </p:txBody>
      </p:sp>
      <p:sp>
        <p:nvSpPr>
          <p:cNvPr id="67" name="TextBox 37"/>
          <p:cNvSpPr txBox="1">
            <a:spLocks noChangeArrowheads="1"/>
          </p:cNvSpPr>
          <p:nvPr/>
        </p:nvSpPr>
        <p:spPr bwMode="auto">
          <a:xfrm>
            <a:off x="4485214" y="638277"/>
            <a:ext cx="5420785" cy="746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eaLnBrk="1" latinLnBrk="0">
              <a:spcBef>
                <a:spcPts val="300"/>
              </a:spcBef>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Wingdings" panose="05000000000000000000" pitchFamily="2" charset="2"/>
              </a:rPr>
              <a:t> Correcting the CS2000 camera angle from the existing 89° to 90° raises the measured luminance of the RHD Privacy (PID) displays by about 13%, whereas Public (CID) models change by less than 0.5%, so only the RHD Privacy models need luminance compensation (13%).</a:t>
            </a:r>
          </a:p>
        </p:txBody>
      </p:sp>
      <p:cxnSp>
        <p:nvCxnSpPr>
          <p:cNvPr id="71" name="직선 화살표 연결선 161"/>
          <p:cNvCxnSpPr>
            <a:cxnSpLocks noChangeShapeType="1"/>
          </p:cNvCxnSpPr>
          <p:nvPr/>
        </p:nvCxnSpPr>
        <p:spPr bwMode="auto">
          <a:xfrm flipV="1">
            <a:off x="6519753" y="2484503"/>
            <a:ext cx="85725" cy="131762"/>
          </a:xfrm>
          <a:prstGeom prst="straightConnector1">
            <a:avLst/>
          </a:prstGeom>
          <a:noFill/>
          <a:ln w="25400" algn="ctr">
            <a:solidFill>
              <a:srgbClr val="FF0000"/>
            </a:solidFill>
            <a:round/>
            <a:headEnd/>
            <a:tailEnd type="stealth" w="med" len="med"/>
          </a:ln>
          <a:extLst>
            <a:ext uri="{909E8E84-426E-40DD-AFC4-6F175D3DCCD1}">
              <a14:hiddenFill xmlns:a14="http://schemas.microsoft.com/office/drawing/2010/main">
                <a:noFill/>
              </a14:hiddenFill>
            </a:ext>
          </a:extLst>
        </p:spPr>
      </p:cxnSp>
      <p:cxnSp>
        <p:nvCxnSpPr>
          <p:cNvPr id="74" name="직선 화살표 연결선 161"/>
          <p:cNvCxnSpPr>
            <a:cxnSpLocks noChangeShapeType="1"/>
          </p:cNvCxnSpPr>
          <p:nvPr/>
        </p:nvCxnSpPr>
        <p:spPr bwMode="auto">
          <a:xfrm>
            <a:off x="6517013" y="1740587"/>
            <a:ext cx="103188" cy="0"/>
          </a:xfrm>
          <a:prstGeom prst="straightConnector1">
            <a:avLst/>
          </a:prstGeom>
          <a:noFill/>
          <a:ln w="25400" algn="ctr">
            <a:solidFill>
              <a:srgbClr val="0000FF"/>
            </a:solidFill>
            <a:round/>
            <a:headEnd/>
            <a:tailEnd type="stealth" w="med" len="med"/>
          </a:ln>
          <a:extLst>
            <a:ext uri="{909E8E84-426E-40DD-AFC4-6F175D3DCCD1}">
              <a14:hiddenFill xmlns:a14="http://schemas.microsoft.com/office/drawing/2010/main">
                <a:noFill/>
              </a14:hiddenFill>
            </a:ext>
          </a:extLst>
        </p:spPr>
      </p:cxnSp>
      <p:sp>
        <p:nvSpPr>
          <p:cNvPr id="79" name="TextBox 37"/>
          <p:cNvSpPr txBox="1">
            <a:spLocks noChangeArrowheads="1"/>
          </p:cNvSpPr>
          <p:nvPr/>
        </p:nvSpPr>
        <p:spPr bwMode="auto">
          <a:xfrm>
            <a:off x="4797272" y="1433640"/>
            <a:ext cx="381867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eaLnBrk="1" latinLnBrk="0">
              <a:defRPr/>
            </a:pPr>
            <a:r>
              <a:rPr lang="en-US" altLang="ko-KR" sz="1000" b="0" u="sng"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Privacy &amp; Public Brightness changes depending on viewing angle</a:t>
            </a:r>
            <a:endParaRPr lang="en-US" altLang="ko-KR" sz="1100" b="0" u="sng" dirty="0">
              <a:solidFill>
                <a:schemeClr val="tx1"/>
              </a:solidFill>
              <a:latin typeface="LG스마트체 Regular" panose="020B0600000101010101" pitchFamily="50" charset="-127"/>
              <a:ea typeface="LG스마트체 Regular" panose="020B0600000101010101" pitchFamily="50" charset="-127"/>
              <a:cs typeface="Arial" panose="020B0604020202020204" pitchFamily="34" charset="0"/>
              <a:sym typeface="Arial" panose="020B0604020202020204" pitchFamily="34" charset="0"/>
            </a:endParaRPr>
          </a:p>
        </p:txBody>
      </p:sp>
      <p:sp>
        <p:nvSpPr>
          <p:cNvPr id="31" name="AutoShape 57">
            <a:extLst>
              <a:ext uri="{FF2B5EF4-FFF2-40B4-BE49-F238E27FC236}">
                <a16:creationId xmlns:a16="http://schemas.microsoft.com/office/drawing/2014/main" id="{D123ED7D-1627-4425-8E1C-E07699476297}"/>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32" name="AutoShape 55">
            <a:extLst>
              <a:ext uri="{FF2B5EF4-FFF2-40B4-BE49-F238E27FC236}">
                <a16:creationId xmlns:a16="http://schemas.microsoft.com/office/drawing/2014/main" id="{710F07CB-AD46-4102-9196-B391B0CE38C5}"/>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33" name="AutoShape 56">
            <a:extLst>
              <a:ext uri="{FF2B5EF4-FFF2-40B4-BE49-F238E27FC236}">
                <a16:creationId xmlns:a16="http://schemas.microsoft.com/office/drawing/2014/main" id="{668E3865-DB76-45D5-9F6D-A72984A44BFF}"/>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37" name="AutoShape 59">
            <a:extLst>
              <a:ext uri="{FF2B5EF4-FFF2-40B4-BE49-F238E27FC236}">
                <a16:creationId xmlns:a16="http://schemas.microsoft.com/office/drawing/2014/main" id="{0CCDE314-7273-49D5-A38E-FA39075D2A52}"/>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38" name="AutoShape 58">
            <a:extLst>
              <a:ext uri="{FF2B5EF4-FFF2-40B4-BE49-F238E27FC236}">
                <a16:creationId xmlns:a16="http://schemas.microsoft.com/office/drawing/2014/main" id="{88E7A157-1CAC-4DAB-921E-EB94CA3CD767}"/>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
        <p:nvSpPr>
          <p:cNvPr id="42" name="TextBox 41">
            <a:extLst>
              <a:ext uri="{FF2B5EF4-FFF2-40B4-BE49-F238E27FC236}">
                <a16:creationId xmlns:a16="http://schemas.microsoft.com/office/drawing/2014/main" id="{89E657DE-328C-4EAB-A06D-1CB735961433}"/>
              </a:ext>
            </a:extLst>
          </p:cNvPr>
          <p:cNvSpPr txBox="1"/>
          <p:nvPr/>
        </p:nvSpPr>
        <p:spPr>
          <a:xfrm>
            <a:off x="63248" y="535377"/>
            <a:ext cx="5143500"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0000101010101" pitchFamily="34" charset="-127"/>
                <a:ea typeface="Arial" panose="020B0600000101010101" pitchFamily="34" charset="-127"/>
                <a:cs typeface="Arial" panose="020B0604020202020204" pitchFamily="34" charset="0"/>
              </a:rPr>
              <a:t>4.2 Luminance compensation for Privacy models</a:t>
            </a:r>
            <a:endParaRPr lang="en-US" sz="1200" b="1" dirty="0">
              <a:latin typeface="Arial" panose="020B0604020202020204" pitchFamily="34" charset="0"/>
              <a:ea typeface="Arial Unicode MS" panose="020B0604020202020204" pitchFamily="34" charset="-128"/>
              <a:cs typeface="Arial" panose="020B0604020202020204" pitchFamily="34" charset="0"/>
            </a:endParaRPr>
          </a:p>
        </p:txBody>
      </p:sp>
      <p:sp>
        <p:nvSpPr>
          <p:cNvPr id="47" name="제목 1">
            <a:extLst>
              <a:ext uri="{FF2B5EF4-FFF2-40B4-BE49-F238E27FC236}">
                <a16:creationId xmlns:a16="http://schemas.microsoft.com/office/drawing/2014/main" id="{2C8BFCFC-70E5-4DFC-8FC2-47983BF73131}"/>
              </a:ext>
            </a:extLst>
          </p:cNvPr>
          <p:cNvSpPr txBox="1">
            <a:spLocks/>
          </p:cNvSpPr>
          <p:nvPr/>
        </p:nvSpPr>
        <p:spPr>
          <a:xfrm>
            <a:off x="127002" y="85711"/>
            <a:ext cx="4762500" cy="418058"/>
          </a:xfrm>
          <a:prstGeom prst="rect">
            <a:avLst/>
          </a:prstGeom>
        </p:spPr>
        <p:txBody>
          <a:bodyPr vert="horz" lIns="91440" tIns="45720" rIns="91440" bIns="45720" rtlCol="0" anchor="ctr">
            <a:noAutofit/>
          </a:bodyPr>
          <a:lstStyle/>
          <a:p>
            <a:pPr lvl="0" eaLnBrk="1" latinLnBrk="0" hangingPunct="0">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 Improvement (short term)</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48" name="Straight Connector 47">
            <a:extLst>
              <a:ext uri="{FF2B5EF4-FFF2-40B4-BE49-F238E27FC236}">
                <a16:creationId xmlns:a16="http://schemas.microsoft.com/office/drawing/2014/main" id="{2C016ABE-1AFD-4D27-91EC-F67F090244C4}"/>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0" name="Slide Number Placeholder 4"/>
          <p:cNvSpPr>
            <a:spLocks noGrp="1"/>
          </p:cNvSpPr>
          <p:nvPr>
            <p:ph type="sldNum" sz="quarter" idx="12"/>
          </p:nvPr>
        </p:nvSpPr>
        <p:spPr>
          <a:xfrm>
            <a:off x="8300000" y="6631416"/>
            <a:ext cx="1300000" cy="198047"/>
          </a:xfrm>
        </p:spPr>
        <p:txBody>
          <a:bodyPr/>
          <a:lstStyle/>
          <a:p>
            <a:pPr algn="ctr" eaLnBrk="1" latinLnBrk="0"/>
            <a:r>
              <a:rPr sz="1000" b="0">
                <a:latin typeface="Arial"/>
              </a:rPr>
              <a:t>20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81" name="Added text 81"/>
          <p:cNvSpPr txBox="1"/>
          <p:nvPr/>
        </p:nvSpPr>
        <p:spPr>
          <a:xfrm>
            <a:off x="428625" y="6572250"/>
            <a:ext cx="3762375" cy="152400"/>
          </a:xfrm>
          <a:prstGeom prst="rect">
            <a:avLst/>
          </a:prstGeom>
          <a:noFill/>
        </p:spPr>
        <p:txBody>
          <a:bodyPr wrap="square" lIns="0" tIns="0" rIns="0" bIns="0" rtlCol="0">
            <a:noAutofit/>
          </a:bodyPr>
          <a:lstStyle/>
          <a:p>
            <a:r>
              <a:rPr lang="en-US" sz="900" b="0" dirty="0">
                <a:solidFill>
                  <a:srgbClr val="000000"/>
                </a:solidFill>
                <a:latin typeface="Arial"/>
                <a:cs typeface="Arial"/>
              </a:rPr>
              <a:t>* Discontinued model (J1 Dual LHD / RHD)</a:t>
            </a:r>
          </a:p>
        </p:txBody>
      </p:sp>
    </p:spTree>
    <p:extLst>
      <p:ext uri="{BB962C8B-B14F-4D97-AF65-F5344CB8AC3E}">
        <p14:creationId xmlns:p14="http://schemas.microsoft.com/office/powerpoint/2010/main" val="1830081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116442" y="96965"/>
            <a:ext cx="60960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4.4 Type 1 Study again after improvement</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27" name="Slide Number Placeholder 3">
            <a:extLst>
              <a:ext uri="{FF2B5EF4-FFF2-40B4-BE49-F238E27FC236}">
                <a16:creationId xmlns:a16="http://schemas.microsoft.com/office/drawing/2014/main" id="{9338DD2E-759B-4BBC-A8EF-8DA487CAE85E}"/>
              </a:ext>
            </a:extLst>
          </p:cNvPr>
          <p:cNvSpPr txBox="1">
            <a:spLocks/>
          </p:cNvSpPr>
          <p:nvPr/>
        </p:nvSpPr>
        <p:spPr>
          <a:xfrm>
            <a:off x="3728864" y="6542599"/>
            <a:ext cx="1368000" cy="293117"/>
          </a:xfrm>
          <a:prstGeom prst="rect">
            <a:avLst/>
          </a:prstGeom>
        </p:spPr>
        <p:txBody>
          <a:bodyPr/>
          <a:lstStyle>
            <a:defPPr>
              <a:defRPr lang="ko-KR"/>
            </a:defPPr>
            <a:lvl1pPr algn="ctr" rtl="0" fontAlgn="base" latinLnBrk="1">
              <a:spcBef>
                <a:spcPct val="0"/>
              </a:spcBef>
              <a:spcAft>
                <a:spcPct val="0"/>
              </a:spcAft>
              <a:defRPr kumimoji="1" sz="1000" kern="1200">
                <a:solidFill>
                  <a:schemeClr val="tx1"/>
                </a:solidFill>
                <a:latin typeface="현대하모니 L" panose="02020603020101020101" pitchFamily="18" charset="-127"/>
                <a:ea typeface="현대하모니 L" panose="02020603020101020101" pitchFamily="18" charset="-127"/>
                <a:cs typeface="+mn-cs"/>
              </a:defRPr>
            </a:lvl1pPr>
            <a:lvl2pPr marL="4572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5pPr>
            <a:lvl6pPr marL="2286000" algn="l" defTabSz="914400" rtl="0" eaLnBrk="1" latinLnBrk="1" hangingPunct="1">
              <a:defRPr kumimoji="1" kern="1200">
                <a:solidFill>
                  <a:schemeClr val="tx1"/>
                </a:solidFill>
                <a:latin typeface="굴림" pitchFamily="50" charset="-127"/>
                <a:ea typeface="굴림" pitchFamily="50" charset="-127"/>
                <a:cs typeface="+mn-cs"/>
              </a:defRPr>
            </a:lvl6pPr>
            <a:lvl7pPr marL="2743200" algn="l" defTabSz="914400" rtl="0" eaLnBrk="1" latinLnBrk="1" hangingPunct="1">
              <a:defRPr kumimoji="1" kern="1200">
                <a:solidFill>
                  <a:schemeClr val="tx1"/>
                </a:solidFill>
                <a:latin typeface="굴림" pitchFamily="50" charset="-127"/>
                <a:ea typeface="굴림" pitchFamily="50" charset="-127"/>
                <a:cs typeface="+mn-cs"/>
              </a:defRPr>
            </a:lvl7pPr>
            <a:lvl8pPr marL="3200400" algn="l" defTabSz="914400" rtl="0" eaLnBrk="1" latinLnBrk="1" hangingPunct="1">
              <a:defRPr kumimoji="1" kern="1200">
                <a:solidFill>
                  <a:schemeClr val="tx1"/>
                </a:solidFill>
                <a:latin typeface="굴림" pitchFamily="50" charset="-127"/>
                <a:ea typeface="굴림" pitchFamily="50" charset="-127"/>
                <a:cs typeface="+mn-cs"/>
              </a:defRPr>
            </a:lvl8pPr>
            <a:lvl9pPr marL="3657600" algn="l" defTabSz="914400" rtl="0" eaLnBrk="1" latinLnBrk="1" hangingPunct="1">
              <a:defRPr kumimoji="1" kern="1200">
                <a:solidFill>
                  <a:schemeClr val="tx1"/>
                </a:solidFill>
                <a:latin typeface="굴림" pitchFamily="50" charset="-127"/>
                <a:ea typeface="굴림" pitchFamily="50" charset="-127"/>
                <a:cs typeface="+mn-cs"/>
              </a:defRPr>
            </a:lvl9pPr>
          </a:lstStyle>
          <a:p>
            <a:pPr eaLnBrk="1" latinLnBrk="0"/>
            <a:r>
              <a:rPr sz="1000" b="0">
                <a:latin typeface="Arial"/>
              </a:rPr>
              <a:t>22 / 29</a:t>
            </a:r>
            <a:endParaRPr lang="ko-KR" altLang="en-US" dirty="0">
              <a:solidFill>
                <a:prstClr val="black">
                  <a:tint val="75000"/>
                </a:prstClr>
              </a:solidFill>
              <a:latin typeface="LG Smart_H Regular" panose="020B0600000101010101" pitchFamily="34" charset="-127"/>
              <a:ea typeface="LG Smart_H Regular" panose="020B0600000101010101" pitchFamily="34" charset="-127"/>
            </a:endParaRPr>
          </a:p>
        </p:txBody>
      </p:sp>
      <p:sp>
        <p:nvSpPr>
          <p:cNvPr id="29" name="TextBox 28">
            <a:extLst>
              <a:ext uri="{FF2B5EF4-FFF2-40B4-BE49-F238E27FC236}">
                <a16:creationId xmlns:a16="http://schemas.microsoft.com/office/drawing/2014/main" id="{1B343AEE-326F-4166-A091-AF8F5A490D4A}"/>
              </a:ext>
            </a:extLst>
          </p:cNvPr>
          <p:cNvSpPr txBox="1"/>
          <p:nvPr/>
        </p:nvSpPr>
        <p:spPr>
          <a:xfrm>
            <a:off x="5188636" y="3236635"/>
            <a:ext cx="2362200" cy="477054"/>
          </a:xfrm>
          <a:prstGeom prst="rect">
            <a:avLst/>
          </a:prstGeom>
          <a:noFill/>
        </p:spPr>
        <p:txBody>
          <a:bodyPr wrap="square" rtlCol="0">
            <a:noAutofit/>
          </a:bodyPr>
          <a:lstStyle/>
          <a:p>
            <a:pPr eaLnBrk="1" latinLnBrk="0">
              <a:spcBef>
                <a:spcPts val="600"/>
              </a:spcBef>
            </a:pPr>
            <a:r>
              <a:rPr lang="en-GB" sz="1000" dirty="0">
                <a:latin typeface="Arial" panose="020B0600000101010101" pitchFamily="34" charset="-127"/>
                <a:ea typeface="Arial" panose="020B0600000101010101" pitchFamily="34" charset="-127"/>
              </a:rPr>
              <a:t>Spec: </a:t>
            </a:r>
            <a:r>
              <a:rPr lang="en-US" sz="1000" dirty="0">
                <a:solidFill>
                  <a:srgbClr val="000000"/>
                </a:solidFill>
                <a:latin typeface="Arial" panose="020B0600000101010101" pitchFamily="34" charset="-127"/>
                <a:ea typeface="Arial" panose="020B0600000101010101" pitchFamily="34" charset="-127"/>
                <a:cs typeface="Arial" panose="020B0604020202020204" pitchFamily="34" charset="0"/>
              </a:rPr>
              <a:t>800.00 ~ 2000.00</a:t>
            </a:r>
          </a:p>
          <a:p>
            <a:pPr eaLnBrk="1" latinLnBrk="0">
              <a:spcBef>
                <a:spcPts val="600"/>
              </a:spcBef>
            </a:pPr>
            <a:r>
              <a:rPr lang="en-GB" sz="1000" dirty="0">
                <a:latin typeface="Arial" panose="020B0600000101010101" pitchFamily="34" charset="-127"/>
                <a:ea typeface="Arial" panose="020B0600000101010101" pitchFamily="34" charset="-127"/>
              </a:rPr>
              <a:t>Reference value: </a:t>
            </a:r>
            <a:r>
              <a:rPr lang="en-US" sz="1000" dirty="0">
                <a:solidFill>
                  <a:srgbClr val="000000"/>
                </a:solidFill>
                <a:latin typeface="Arial" panose="020B0600000101010101" pitchFamily="34" charset="-127"/>
                <a:ea typeface="Arial" panose="020B0600000101010101" pitchFamily="34" charset="-127"/>
                <a:cs typeface="Arial" panose="020B0604020202020204" pitchFamily="34" charset="0"/>
              </a:rPr>
              <a:t>910 (golden sample)</a:t>
            </a:r>
            <a:endParaRPr lang="en-US" sz="1000" dirty="0">
              <a:latin typeface="LG Smart_H Regular" panose="020B0600000101010101" pitchFamily="34" charset="-127"/>
              <a:ea typeface="LG Smart_H Regular" panose="020B0600000101010101" pitchFamily="34" charset="-127"/>
            </a:endParaRPr>
          </a:p>
        </p:txBody>
      </p:sp>
      <p:sp>
        <p:nvSpPr>
          <p:cNvPr id="17" name="TextBox 16">
            <a:extLst>
              <a:ext uri="{FF2B5EF4-FFF2-40B4-BE49-F238E27FC236}">
                <a16:creationId xmlns:a16="http://schemas.microsoft.com/office/drawing/2014/main" id="{92CAFF54-087B-4DB0-9D22-8021B64E17B1}"/>
              </a:ext>
            </a:extLst>
          </p:cNvPr>
          <p:cNvSpPr txBox="1"/>
          <p:nvPr/>
        </p:nvSpPr>
        <p:spPr>
          <a:xfrm>
            <a:off x="63248" y="522000"/>
            <a:ext cx="2070352" cy="198000"/>
          </a:xfrm>
          <a:prstGeom prst="rect">
            <a:avLst/>
          </a:prstGeom>
          <a:noFill/>
        </p:spPr>
        <p:txBody>
          <a:bodyPr wrap="square" rtlCol="0">
            <a:no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8" name="TextBox 17">
            <a:extLst>
              <a:ext uri="{FF2B5EF4-FFF2-40B4-BE49-F238E27FC236}">
                <a16:creationId xmlns:a16="http://schemas.microsoft.com/office/drawing/2014/main" id="{E90369EA-41CF-4BB7-95EE-33A74A74A411}"/>
              </a:ext>
            </a:extLst>
          </p:cNvPr>
          <p:cNvSpPr txBox="1"/>
          <p:nvPr/>
        </p:nvSpPr>
        <p:spPr>
          <a:xfrm>
            <a:off x="72000" y="5094000"/>
            <a:ext cx="5112000" cy="900000"/>
          </a:xfrm>
          <a:prstGeom prst="rect">
            <a:avLst/>
          </a:prstGeom>
          <a:noFill/>
          <a:ln>
            <a:noFill/>
          </a:ln>
        </p:spPr>
        <p:txBody>
          <a:bodyPr wrap="square" rtlCol="0">
            <a:noAutofit/>
          </a:bodyPr>
          <a:lstStyle/>
          <a:p>
            <a:pPr marL="171450" indent="-171450" eaLnBrk="1" latinLnBrk="0">
              <a:buFont typeface="Wingdings" panose="05000000000000000000" pitchFamily="2" charset="2"/>
              <a:buChar char="Ø"/>
            </a:pPr>
            <a:r>
              <a:rPr sz="1000" b="1">
                <a:latin typeface="Arial"/>
              </a:rPr>
              <a:t>Conclusion</a:t>
            </a:r>
          </a:p>
          <a:p>
            <a:pPr eaLnBrk="1" latinLnBrk="0"/>
            <a:r>
              <a:rPr sz="1000" b="0">
                <a:latin typeface="Arial"/>
              </a:rPr>
              <a:t>• P value = 0.926 &gt; 0.05  Fail to reject H0 -&gt; No significant bias (PASS)</a:t>
            </a:r>
          </a:p>
          <a:p>
            <a:pPr eaLnBrk="1" latinLnBrk="0"/>
            <a:r>
              <a:rPr sz="1000" b="0">
                <a:latin typeface="Arial"/>
              </a:rPr>
              <a:t>• Cg = 2.51 (Std ≥ 1.33) PASS | Cgk = 2.50 (Std ≥ 1.33) PASS</a:t>
            </a:r>
          </a:p>
          <a:p>
            <a:pPr eaLnBrk="1" latinLnBrk="0"/>
            <a:r>
              <a:rPr sz="1000" b="0">
                <a:latin typeface="Arial"/>
              </a:rPr>
              <a:t>• %Var(Repeatability) = 7.98% (&lt; 10%) PASS</a:t>
            </a:r>
          </a:p>
          <a:p>
            <a:pPr eaLnBrk="1" latinLnBrk="0"/>
            <a:r>
              <a:rPr sz="1000" b="0">
                <a:latin typeface="Arial"/>
              </a:rPr>
              <a:t>• %Var(Repeatability &amp; Bias) = 8.00% (&lt; 10%) PASS</a:t>
            </a:r>
          </a:p>
        </p:txBody>
      </p:sp>
      <p:pic>
        <p:nvPicPr>
          <p:cNvPr id="3" name="Picture 2">
            <a:extLst>
              <a:ext uri="{FF2B5EF4-FFF2-40B4-BE49-F238E27FC236}">
                <a16:creationId xmlns:a16="http://schemas.microsoft.com/office/drawing/2014/main" id="{0CF4BAE4-7011-4E5A-AC6B-231C9D00DB5E}"/>
              </a:ext>
            </a:extLst>
          </p:cNvPr>
          <p:cNvPicPr>
            <a:picLocks noChangeAspect="1"/>
          </p:cNvPicPr>
          <p:nvPr/>
        </p:nvPicPr>
        <p:blipFill>
          <a:blip r:embed="rId3"/>
          <a:stretch>
            <a:fillRect/>
          </a:stretch>
        </p:blipFill>
        <p:spPr>
          <a:xfrm>
            <a:off x="5976241" y="624615"/>
            <a:ext cx="3858817" cy="2583445"/>
          </a:xfrm>
          <a:prstGeom prst="rect">
            <a:avLst/>
          </a:prstGeom>
        </p:spPr>
      </p:pic>
      <p:pic>
        <p:nvPicPr>
          <p:cNvPr id="4" name="Picture 3">
            <a:extLst>
              <a:ext uri="{FF2B5EF4-FFF2-40B4-BE49-F238E27FC236}">
                <a16:creationId xmlns:a16="http://schemas.microsoft.com/office/drawing/2014/main" id="{2B4A6D4C-07A1-4D69-BEAA-6C2D30E87DB8}"/>
              </a:ext>
            </a:extLst>
          </p:cNvPr>
          <p:cNvPicPr>
            <a:picLocks noChangeAspect="1"/>
          </p:cNvPicPr>
          <p:nvPr/>
        </p:nvPicPr>
        <p:blipFill>
          <a:blip r:embed="rId4"/>
          <a:stretch>
            <a:fillRect/>
          </a:stretch>
        </p:blipFill>
        <p:spPr>
          <a:xfrm>
            <a:off x="5217211" y="3649940"/>
            <a:ext cx="4641164" cy="3144270"/>
          </a:xfrm>
          <a:prstGeom prst="rect">
            <a:avLst/>
          </a:prstGeom>
        </p:spPr>
      </p:pic>
      <p:sp>
        <p:nvSpPr>
          <p:cNvPr id="24" name="TextBox 23">
            <a:extLst>
              <a:ext uri="{FF2B5EF4-FFF2-40B4-BE49-F238E27FC236}">
                <a16:creationId xmlns:a16="http://schemas.microsoft.com/office/drawing/2014/main" id="{2E6C57C6-8F91-41B9-BC8E-38F5C99A38B5}"/>
              </a:ext>
            </a:extLst>
          </p:cNvPr>
          <p:cNvSpPr txBox="1"/>
          <p:nvPr/>
        </p:nvSpPr>
        <p:spPr>
          <a:xfrm>
            <a:off x="72000" y="6048000"/>
            <a:ext cx="5112000" cy="468000"/>
          </a:xfrm>
          <a:prstGeom prst="rect">
            <a:avLst/>
          </a:prstGeom>
          <a:noFill/>
        </p:spPr>
        <p:txBody>
          <a:bodyPr wrap="square" rtlCol="0">
            <a:noAutofit/>
          </a:bodyPr>
          <a:lstStyle/>
          <a:p>
            <a:pPr marL="171450" indent="-171450" eaLnBrk="1" latinLnBrk="0">
              <a:buFont typeface="Wingdings" panose="05000000000000000000" pitchFamily="2" charset="2"/>
              <a:buChar char="à"/>
            </a:pPr>
            <a:r>
              <a:rPr sz="1000">
                <a:latin typeface="Arial"/>
              </a:rPr>
              <a:t xml:space="preserve">✔ Equipment is OK. Camera CS2000 of the Luminance station can be used to measure Luminance value.</a:t>
            </a:r>
          </a:p>
        </p:txBody>
      </p:sp>
      <p:graphicFrame>
        <p:nvGraphicFramePr>
          <p:cNvPr id="9" name="Table 8">
            <a:extLst>
              <a:ext uri="{FF2B5EF4-FFF2-40B4-BE49-F238E27FC236}">
                <a16:creationId xmlns:a16="http://schemas.microsoft.com/office/drawing/2014/main" id="{1F794835-D2AA-4427-9577-00F62D39277C}"/>
              </a:ext>
            </a:extLst>
          </p:cNvPr>
          <p:cNvGraphicFramePr>
            <a:graphicFrameLocks noGrp="1"/>
          </p:cNvGraphicFramePr>
          <p:nvPr>
            <p:extLst>
              <p:ext uri="{D42A27DB-BD31-4B8C-83A1-F6EECF244321}">
                <p14:modId xmlns:p14="http://schemas.microsoft.com/office/powerpoint/2010/main" val="2150053924"/>
              </p:ext>
            </p:extLst>
          </p:nvPr>
        </p:nvGraphicFramePr>
        <p:xfrm>
          <a:off x="119760" y="1858281"/>
          <a:ext cx="3810000" cy="3267075"/>
        </p:xfrm>
        <a:graphic>
          <a:graphicData uri="http://schemas.openxmlformats.org/drawingml/2006/table">
            <a:tbl>
              <a:tblPr/>
              <a:tblGrid>
                <a:gridCol w="608547">
                  <a:extLst>
                    <a:ext uri="{9D8B030D-6E8A-4147-A177-3AD203B41FA5}">
                      <a16:colId xmlns:a16="http://schemas.microsoft.com/office/drawing/2014/main" val="1750809248"/>
                    </a:ext>
                  </a:extLst>
                </a:gridCol>
                <a:gridCol w="1372653">
                  <a:extLst>
                    <a:ext uri="{9D8B030D-6E8A-4147-A177-3AD203B41FA5}">
                      <a16:colId xmlns:a16="http://schemas.microsoft.com/office/drawing/2014/main" val="507090747"/>
                    </a:ext>
                  </a:extLst>
                </a:gridCol>
                <a:gridCol w="443480">
                  <a:extLst>
                    <a:ext uri="{9D8B030D-6E8A-4147-A177-3AD203B41FA5}">
                      <a16:colId xmlns:a16="http://schemas.microsoft.com/office/drawing/2014/main" val="2319962046"/>
                    </a:ext>
                  </a:extLst>
                </a:gridCol>
                <a:gridCol w="1385320">
                  <a:extLst>
                    <a:ext uri="{9D8B030D-6E8A-4147-A177-3AD203B41FA5}">
                      <a16:colId xmlns:a16="http://schemas.microsoft.com/office/drawing/2014/main" val="2794394947"/>
                    </a:ext>
                  </a:extLst>
                </a:gridCol>
              </a:tblGrid>
              <a:tr h="409575">
                <a:tc>
                  <a:txBody>
                    <a:bodyPr/>
                    <a:lstStyle/>
                    <a:p>
                      <a:pPr algn="ctr" rtl="0" eaLnBrk="1" fontAlgn="ctr" latinLnBrk="0"/>
                      <a:r>
                        <a:rPr lang="en-US" sz="10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dirty="0">
                          <a:solidFill>
                            <a:srgbClr val="000000"/>
                          </a:solidFill>
                          <a:effectLst/>
                          <a:latin typeface="Arial" panose="020B0604020202020204" pitchFamily="34" charset="0"/>
                        </a:rPr>
                        <a:t>Luminance(Cd/m</a:t>
                      </a:r>
                      <a:r>
                        <a:rPr lang="en-US" sz="1000" b="1" i="0" u="none" strike="noStrike" baseline="30000" dirty="0">
                          <a:solidFill>
                            <a:srgbClr val="000000"/>
                          </a:solidFill>
                          <a:effectLst/>
                          <a:latin typeface="Arial" panose="020B0604020202020204" pitchFamily="34" charset="0"/>
                        </a:rPr>
                        <a:t>2</a:t>
                      </a:r>
                      <a:r>
                        <a:rPr lang="en-US" sz="1000" b="1" i="0" u="none" strike="noStrike" dirty="0">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a:solidFill>
                            <a:srgbClr val="000000"/>
                          </a:solidFill>
                          <a:effectLst/>
                          <a:latin typeface="Arial" panose="020B0604020202020204" pitchFamily="34" charset="0"/>
                        </a:rPr>
                        <a:t>Luminance(Cd/m</a:t>
                      </a:r>
                      <a:r>
                        <a:rPr lang="en-US" sz="1000" b="1" i="0" u="none" strike="noStrike" baseline="30000">
                          <a:solidFill>
                            <a:srgbClr val="000000"/>
                          </a:solidFill>
                          <a:effectLst/>
                          <a:latin typeface="Arial" panose="020B0604020202020204" pitchFamily="34" charset="0"/>
                        </a:rPr>
                        <a:t>2</a:t>
                      </a:r>
                      <a:r>
                        <a:rPr lang="en-US" sz="1000" b="1" i="0" u="none" strike="noStrike">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420388274"/>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913.97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919.07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2906823"/>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909.74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970934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934.62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906.54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311575"/>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926.63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915.48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0081104"/>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901.07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894.75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1837168"/>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921.35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927.84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76354868"/>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931.37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930.79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3427465"/>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872.12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884.59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86401257"/>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909.81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940.66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136576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903.27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916.63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573950"/>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898.65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4072591"/>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898.47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2000870"/>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895.41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54821821"/>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2982848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919.56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47001934"/>
                  </a:ext>
                </a:extLst>
              </a:tr>
            </a:tbl>
          </a:graphicData>
        </a:graphic>
      </p:graphicFrame>
      <p:sp>
        <p:nvSpPr>
          <p:cNvPr id="16" name="AutoShape 57">
            <a:extLst>
              <a:ext uri="{FF2B5EF4-FFF2-40B4-BE49-F238E27FC236}">
                <a16:creationId xmlns:a16="http://schemas.microsoft.com/office/drawing/2014/main" id="{E56DB63D-2D01-4DBC-A986-26AC25D62E26}"/>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5" name="AutoShape 55">
            <a:extLst>
              <a:ext uri="{FF2B5EF4-FFF2-40B4-BE49-F238E27FC236}">
                <a16:creationId xmlns:a16="http://schemas.microsoft.com/office/drawing/2014/main" id="{DE503F63-9490-4916-B9A6-B6442FD6B399}"/>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26" name="AutoShape 56">
            <a:extLst>
              <a:ext uri="{FF2B5EF4-FFF2-40B4-BE49-F238E27FC236}">
                <a16:creationId xmlns:a16="http://schemas.microsoft.com/office/drawing/2014/main" id="{D2E20A55-BE65-4BAD-8A38-75FD26911C99}"/>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28" name="AutoShape 59">
            <a:extLst>
              <a:ext uri="{FF2B5EF4-FFF2-40B4-BE49-F238E27FC236}">
                <a16:creationId xmlns:a16="http://schemas.microsoft.com/office/drawing/2014/main" id="{9C494BAF-7E5D-498F-A235-2F6AB64EE481}"/>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30" name="AutoShape 58">
            <a:extLst>
              <a:ext uri="{FF2B5EF4-FFF2-40B4-BE49-F238E27FC236}">
                <a16:creationId xmlns:a16="http://schemas.microsoft.com/office/drawing/2014/main" id="{91402361-DAA8-4064-A8C7-952CFA000153}"/>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cxnSp>
        <p:nvCxnSpPr>
          <p:cNvPr id="31" name="Straight Connector 30">
            <a:extLst>
              <a:ext uri="{FF2B5EF4-FFF2-40B4-BE49-F238E27FC236}">
                <a16:creationId xmlns:a16="http://schemas.microsoft.com/office/drawing/2014/main" id="{EE1CB60C-262D-436D-81A8-3D72B6B48111}"/>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68CD868-16BA-46A5-AECC-0273074C5396}"/>
              </a:ext>
            </a:extLst>
          </p:cNvPr>
          <p:cNvSpPr txBox="1"/>
          <p:nvPr/>
        </p:nvSpPr>
        <p:spPr>
          <a:xfrm>
            <a:off x="63248" y="737999"/>
            <a:ext cx="5354074" cy="1015663"/>
          </a:xfrm>
          <a:prstGeom prst="rect">
            <a:avLst/>
          </a:prstGeom>
          <a:noFill/>
        </p:spPr>
        <p:txBody>
          <a:bodyPr wrap="square" rtlCol="0">
            <a:noAutofit/>
          </a:bodyPr>
          <a:lstStyle/>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Use the Type 1 gage study to assess the measurement capability of the gage, based on its repeatability and bias after improvement.</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In this case, one sample (golden sample, 910 Cd/m²) is measured 30 times.</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H0: Bias = 0 in measurement system.</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H1: Bias ≠ 0 in measurement system.</a:t>
            </a:r>
          </a:p>
        </p:txBody>
      </p:sp>
    </p:spTree>
    <p:extLst>
      <p:ext uri="{BB962C8B-B14F-4D97-AF65-F5344CB8AC3E}">
        <p14:creationId xmlns:p14="http://schemas.microsoft.com/office/powerpoint/2010/main" val="2126649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utoShape 59">
            <a:extLst>
              <a:ext uri="{FF2B5EF4-FFF2-40B4-BE49-F238E27FC236}">
                <a16:creationId xmlns:a16="http://schemas.microsoft.com/office/drawing/2014/main" id="{42E250E9-7B6D-4CB6-9D59-474D4A6C6285}"/>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8" name="AutoShape 56">
            <a:extLst>
              <a:ext uri="{FF2B5EF4-FFF2-40B4-BE49-F238E27FC236}">
                <a16:creationId xmlns:a16="http://schemas.microsoft.com/office/drawing/2014/main" id="{C0C944A4-101E-42D6-81BA-0D952D7C49D3}"/>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pic>
        <p:nvPicPr>
          <p:cNvPr id="9" name="Picture 8">
            <a:extLst>
              <a:ext uri="{FF2B5EF4-FFF2-40B4-BE49-F238E27FC236}">
                <a16:creationId xmlns:a16="http://schemas.microsoft.com/office/drawing/2014/main" id="{D87638E1-3883-4927-AC6D-92EA20AB92E1}"/>
              </a:ext>
            </a:extLst>
          </p:cNvPr>
          <p:cNvPicPr>
            <a:picLocks noChangeAspect="1"/>
          </p:cNvPicPr>
          <p:nvPr/>
        </p:nvPicPr>
        <p:blipFill>
          <a:blip r:embed="rId3"/>
          <a:stretch>
            <a:fillRect/>
          </a:stretch>
        </p:blipFill>
        <p:spPr>
          <a:xfrm>
            <a:off x="2898636" y="1261535"/>
            <a:ext cx="3197364" cy="4488279"/>
          </a:xfrm>
          <a:prstGeom prst="rect">
            <a:avLst/>
          </a:prstGeom>
        </p:spPr>
      </p:pic>
      <p:sp>
        <p:nvSpPr>
          <p:cNvPr id="7" name="제목 1"/>
          <p:cNvSpPr txBox="1">
            <a:spLocks/>
          </p:cNvSpPr>
          <p:nvPr/>
        </p:nvSpPr>
        <p:spPr>
          <a:xfrm>
            <a:off x="63248" y="59759"/>
            <a:ext cx="6096000" cy="418058"/>
          </a:xfrm>
          <a:prstGeom prst="rect">
            <a:avLst/>
          </a:prstGeom>
        </p:spPr>
        <p:txBody>
          <a:bodyPr vert="horz" lIns="91440" tIns="45720" rIns="91440" bIns="45720" rtlCol="0" anchor="ctr">
            <a:noAutofit/>
          </a:bodyPr>
          <a:lstStyle/>
          <a:p>
            <a:pPr lvl="0" eaLnBrk="1" latinLnBrk="0" hangingPunct="0">
              <a:defRPr/>
            </a:pP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4.4 Type 3 Study again after improvement</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15" name="Straight Connector 14">
            <a:extLst>
              <a:ext uri="{FF2B5EF4-FFF2-40B4-BE49-F238E27FC236}">
                <a16:creationId xmlns:a16="http://schemas.microsoft.com/office/drawing/2014/main" id="{2F116EDF-8FB8-49D4-9D95-4106566CA48E}"/>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Slide Number Placeholder 4">
            <a:extLst>
              <a:ext uri="{FF2B5EF4-FFF2-40B4-BE49-F238E27FC236}">
                <a16:creationId xmlns:a16="http://schemas.microsoft.com/office/drawing/2014/main" id="{8B7C0E50-731F-45CB-B95B-47B094B1A43F}"/>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23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22" name="TextBox 21">
            <a:extLst>
              <a:ext uri="{FF2B5EF4-FFF2-40B4-BE49-F238E27FC236}">
                <a16:creationId xmlns:a16="http://schemas.microsoft.com/office/drawing/2014/main" id="{1D7A0E4A-FE65-4EFE-9AAA-D95F0FD47D39}"/>
              </a:ext>
            </a:extLst>
          </p:cNvPr>
          <p:cNvSpPr txBox="1"/>
          <p:nvPr/>
        </p:nvSpPr>
        <p:spPr>
          <a:xfrm>
            <a:off x="63248" y="535377"/>
            <a:ext cx="2679952" cy="276999"/>
          </a:xfrm>
          <a:prstGeom prst="rect">
            <a:avLst/>
          </a:prstGeom>
          <a:noFill/>
        </p:spPr>
        <p:txBody>
          <a:bodyPr wrap="square" rtlCol="0">
            <a:no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6" name="TextBox 15">
            <a:extLst>
              <a:ext uri="{FF2B5EF4-FFF2-40B4-BE49-F238E27FC236}">
                <a16:creationId xmlns:a16="http://schemas.microsoft.com/office/drawing/2014/main" id="{3966E839-E464-44A6-B3A7-069EFFB3BB53}"/>
              </a:ext>
            </a:extLst>
          </p:cNvPr>
          <p:cNvSpPr txBox="1"/>
          <p:nvPr/>
        </p:nvSpPr>
        <p:spPr>
          <a:xfrm>
            <a:off x="6027146" y="4781800"/>
            <a:ext cx="3780000" cy="1015663"/>
          </a:xfrm>
          <a:prstGeom prst="rect">
            <a:avLst/>
          </a:prstGeom>
          <a:noFill/>
        </p:spPr>
        <p:txBody>
          <a:bodyPr wrap="square" rtlCol="0">
            <a:noAutofit/>
          </a:bodyPr>
          <a:lstStyle/>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rPr>
              <a:t>% Contribution of Gage </a:t>
            </a:r>
            <a:r>
              <a:rPr lang="vi-VN" sz="1000" dirty="0">
                <a:latin typeface="Arial" panose="020B0604020202020204" pitchFamily="34" charset="0"/>
                <a:ea typeface="Arial Unicode MS" panose="020B0604020202020204" pitchFamily="34" charset="-128"/>
                <a:cs typeface="Arial" panose="020B0604020202020204" pitchFamily="34" charset="0"/>
              </a:rPr>
              <a:t>R&amp;R = </a:t>
            </a:r>
            <a:r>
              <a:rPr lang="en-US" sz="1000" dirty="0">
                <a:latin typeface="Arial" panose="020B0604020202020204" pitchFamily="34" charset="0"/>
                <a:ea typeface="Arial Unicode MS" panose="020B0604020202020204" pitchFamily="34" charset="-128"/>
                <a:cs typeface="Arial" panose="020B0604020202020204" pitchFamily="34" charset="0"/>
              </a:rPr>
              <a:t>0.22</a:t>
            </a:r>
            <a:r>
              <a:rPr lang="vi-VN" sz="1000" dirty="0">
                <a:latin typeface="Arial" panose="020B0604020202020204" pitchFamily="34" charset="0"/>
                <a:ea typeface="Arial Unicode MS" panose="020B0604020202020204" pitchFamily="34" charset="-128"/>
                <a:cs typeface="Arial" panose="020B0604020202020204" pitchFamily="34" charset="0"/>
              </a:rPr>
              <a:t>% </a:t>
            </a:r>
            <a:r>
              <a:rPr lang="en-US" sz="1000" dirty="0">
                <a:latin typeface="Arial" panose="020B0604020202020204" pitchFamily="34" charset="0"/>
                <a:ea typeface="Arial Unicode MS" panose="020B0604020202020204" pitchFamily="34" charset="-128"/>
                <a:cs typeface="Arial" panose="020B0604020202020204" pitchFamily="34" charset="0"/>
              </a:rPr>
              <a:t>&lt;</a:t>
            </a:r>
            <a:r>
              <a:rPr lang="vi-VN" sz="1000" dirty="0">
                <a:latin typeface="Arial" panose="020B0604020202020204" pitchFamily="34" charset="0"/>
                <a:ea typeface="Arial Unicode MS" panose="020B0604020202020204" pitchFamily="34" charset="-128"/>
                <a:cs typeface="Arial" panose="020B0604020202020204" pitchFamily="34" charset="0"/>
              </a:rPr>
              <a:t xml:space="preserve"> 1%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a:t>
            </a:r>
            <a:r>
              <a:rPr lang="en-US" sz="10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OK</a:t>
            </a:r>
            <a:endParaRPr lang="vi-VN" sz="12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endParaRPr>
          </a:p>
          <a:p>
            <a:pPr marL="171450" indent="-171450" eaLnBrk="1" latinLnBrk="0">
              <a:buFont typeface="Arial" panose="020B0604020202020204" pitchFamily="34" charset="0"/>
              <a:buChar char="•"/>
            </a:pP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Study Var = </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4.64</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&lt;</a:t>
            </a:r>
            <a:r>
              <a:rPr lang="vi-VN" sz="1000" dirty="0">
                <a:latin typeface="Arial" panose="020B0604020202020204" pitchFamily="34" charset="0"/>
                <a:ea typeface="Arial Unicode MS" panose="020B0604020202020204" pitchFamily="34" charset="-128"/>
                <a:cs typeface="Arial" panose="020B0604020202020204" pitchFamily="34" charset="0"/>
              </a:rPr>
              <a:t> 10%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a:t>
            </a:r>
            <a:r>
              <a:rPr lang="en-US" sz="10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OK</a:t>
            </a:r>
            <a:endParaRPr lang="vi-VN" sz="12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endParaRPr>
          </a:p>
          <a:p>
            <a:pPr marL="171450" indent="-171450" eaLnBrk="1" latinLnBrk="0">
              <a:buFont typeface="Arial" panose="020B0604020202020204" pitchFamily="34" charset="0"/>
              <a:buChar char="•"/>
            </a:pPr>
            <a:r>
              <a:rPr lang="en-US" sz="1000" noProof="1">
                <a:latin typeface="Arial" panose="020B0600000101010101" pitchFamily="34" charset="-127"/>
                <a:ea typeface="Arial" panose="020B0600000101010101" pitchFamily="34" charset="-127"/>
              </a:rPr>
              <a:t xml:space="preserve">% Tolerance = 0.86% &lt; 10% </a:t>
            </a:r>
            <a:r>
              <a:rPr lang="en-US" sz="1000" dirty="0">
                <a:latin typeface="Arial" panose="020B0600000101010101" pitchFamily="34" charset="-127"/>
                <a:ea typeface="Arial" panose="020B0600000101010101" pitchFamily="34" charset="-127"/>
                <a:sym typeface="Wingdings" pitchFamily="2" charset="2"/>
              </a:rPr>
              <a:t> </a:t>
            </a:r>
            <a:r>
              <a:rPr lang="en-US" sz="1000" dirty="0">
                <a:solidFill>
                  <a:srgbClr val="006600"/>
                </a:solidFill>
                <a:latin typeface="Arial" panose="020B0600000101010101" pitchFamily="34" charset="-127"/>
                <a:ea typeface="Arial" panose="020B0600000101010101" pitchFamily="34" charset="-127"/>
                <a:sym typeface="Wingdings" pitchFamily="2" charset="2"/>
              </a:rPr>
              <a:t>Can use to judge OK/NG</a:t>
            </a:r>
          </a:p>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NDC: 30 &gt; 5  OK</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a:t>
            </a:r>
            <a:endParaRPr lang="en-US" sz="1200" dirty="0">
              <a:latin typeface="Arial" panose="020B0604020202020204" pitchFamily="34" charset="0"/>
              <a:ea typeface="Arial Unicode MS" panose="020B0604020202020204" pitchFamily="34" charset="-128"/>
              <a:cs typeface="Arial" panose="020B0604020202020204" pitchFamily="34" charset="0"/>
              <a:sym typeface="Wingdings" pitchFamily="2" charset="2"/>
            </a:endParaRPr>
          </a:p>
        </p:txBody>
      </p:sp>
      <p:sp>
        <p:nvSpPr>
          <p:cNvPr id="21" name="TextBox 20">
            <a:extLst>
              <a:ext uri="{FF2B5EF4-FFF2-40B4-BE49-F238E27FC236}">
                <a16:creationId xmlns:a16="http://schemas.microsoft.com/office/drawing/2014/main" id="{0C04EA2E-54FC-4AFE-90F2-2B41EEBF1447}"/>
              </a:ext>
            </a:extLst>
          </p:cNvPr>
          <p:cNvSpPr txBox="1"/>
          <p:nvPr/>
        </p:nvSpPr>
        <p:spPr>
          <a:xfrm>
            <a:off x="59902" y="6296220"/>
            <a:ext cx="6765306" cy="276999"/>
          </a:xfrm>
          <a:prstGeom prst="rect">
            <a:avLst/>
          </a:prstGeom>
          <a:noFill/>
        </p:spPr>
        <p:txBody>
          <a:bodyPr wrap="square" rtlCol="0">
            <a:noAutofit/>
          </a:bodyPr>
          <a:lstStyle/>
          <a:p>
            <a:pPr marL="171450" indent="-171450" eaLnBrk="1" latinLnBrk="0">
              <a:buFont typeface="Wingdings" panose="05000000000000000000" pitchFamily="2" charset="2"/>
              <a:buChar char="Ø"/>
            </a:pPr>
            <a:r>
              <a:rPr lang="vi-VN" sz="1000" b="1"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Conclusion</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Measurement system of the Luminance station is Good after improving measurement system</a:t>
            </a:r>
          </a:p>
        </p:txBody>
      </p:sp>
      <p:sp>
        <p:nvSpPr>
          <p:cNvPr id="23" name="Text Box 2">
            <a:extLst>
              <a:ext uri="{FF2B5EF4-FFF2-40B4-BE49-F238E27FC236}">
                <a16:creationId xmlns:a16="http://schemas.microsoft.com/office/drawing/2014/main" id="{18AB2045-A1D9-4F7C-ABE5-0EE724EF6EEB}"/>
              </a:ext>
            </a:extLst>
          </p:cNvPr>
          <p:cNvSpPr txBox="1">
            <a:spLocks noChangeArrowheads="1"/>
          </p:cNvSpPr>
          <p:nvPr/>
        </p:nvSpPr>
        <p:spPr bwMode="auto">
          <a:xfrm>
            <a:off x="40311" y="786484"/>
            <a:ext cx="9332289" cy="304800"/>
          </a:xfrm>
          <a:prstGeom prst="rect">
            <a:avLst/>
          </a:prstGeom>
          <a:noFill/>
          <a:ln w="9525" algn="ctr">
            <a:noFill/>
            <a:miter lim="800000"/>
            <a:headEnd/>
            <a:tailEnd/>
          </a:ln>
        </p:spPr>
        <p:txBody>
          <a:bodyPr lIns="84374" tIns="42187" rIns="84374" bIns="42187" anchor="ctr"/>
          <a:lstStyle/>
          <a:p>
            <a:pPr defTabSz="844083" eaLnBrk="1" latinLnBrk="0">
              <a:defRPr/>
            </a:pPr>
            <a:r>
              <a:rPr sz="1000" b="0">
                <a:latin typeface="Arial"/>
              </a:rPr>
              <a:t>After adjusting camera angle to 90.0°, Type 3 Gage Study was repeated for the Luminance station to verify measurement repeatability.</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4" name="AutoShape 55">
            <a:extLst>
              <a:ext uri="{FF2B5EF4-FFF2-40B4-BE49-F238E27FC236}">
                <a16:creationId xmlns:a16="http://schemas.microsoft.com/office/drawing/2014/main" id="{D17A6884-A0A7-406C-A731-813E957B5BCD}"/>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graphicFrame>
        <p:nvGraphicFramePr>
          <p:cNvPr id="6" name="Table 5">
            <a:extLst>
              <a:ext uri="{FF2B5EF4-FFF2-40B4-BE49-F238E27FC236}">
                <a16:creationId xmlns:a16="http://schemas.microsoft.com/office/drawing/2014/main" id="{EBD78909-2208-48C8-9FE8-B1C822F4B79B}"/>
              </a:ext>
            </a:extLst>
          </p:cNvPr>
          <p:cNvGraphicFramePr>
            <a:graphicFrameLocks noGrp="1"/>
          </p:cNvGraphicFramePr>
          <p:nvPr>
            <p:extLst>
              <p:ext uri="{D42A27DB-BD31-4B8C-83A1-F6EECF244321}">
                <p14:modId xmlns:p14="http://schemas.microsoft.com/office/powerpoint/2010/main" val="1538451455"/>
              </p:ext>
            </p:extLst>
          </p:nvPr>
        </p:nvGraphicFramePr>
        <p:xfrm>
          <a:off x="107420" y="1247455"/>
          <a:ext cx="2711980" cy="4769863"/>
        </p:xfrm>
        <a:graphic>
          <a:graphicData uri="http://schemas.openxmlformats.org/drawingml/2006/table">
            <a:tbl>
              <a:tblPr/>
              <a:tblGrid>
                <a:gridCol w="677995">
                  <a:extLst>
                    <a:ext uri="{9D8B030D-6E8A-4147-A177-3AD203B41FA5}">
                      <a16:colId xmlns:a16="http://schemas.microsoft.com/office/drawing/2014/main" val="2454351302"/>
                    </a:ext>
                  </a:extLst>
                </a:gridCol>
                <a:gridCol w="677995">
                  <a:extLst>
                    <a:ext uri="{9D8B030D-6E8A-4147-A177-3AD203B41FA5}">
                      <a16:colId xmlns:a16="http://schemas.microsoft.com/office/drawing/2014/main" val="1364988761"/>
                    </a:ext>
                  </a:extLst>
                </a:gridCol>
                <a:gridCol w="677995">
                  <a:extLst>
                    <a:ext uri="{9D8B030D-6E8A-4147-A177-3AD203B41FA5}">
                      <a16:colId xmlns:a16="http://schemas.microsoft.com/office/drawing/2014/main" val="540453528"/>
                    </a:ext>
                  </a:extLst>
                </a:gridCol>
                <a:gridCol w="677995">
                  <a:extLst>
                    <a:ext uri="{9D8B030D-6E8A-4147-A177-3AD203B41FA5}">
                      <a16:colId xmlns:a16="http://schemas.microsoft.com/office/drawing/2014/main" val="1565661320"/>
                    </a:ext>
                  </a:extLst>
                </a:gridCol>
              </a:tblGrid>
              <a:tr h="159488">
                <a:tc>
                  <a:txBody>
                    <a:bodyPr/>
                    <a:lstStyle/>
                    <a:p>
                      <a:pPr algn="ctr" rtl="0" eaLnBrk="1" fontAlgn="ctr" latinLnBrk="0"/>
                      <a:r>
                        <a:rPr lang="en-US" sz="9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9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9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9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489677896"/>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946.86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928.45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0092601"/>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949.24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919.77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330772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871.49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918.29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1701855"/>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871.89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919.34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7195219"/>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846.49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918.22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9260361"/>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847.85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903.63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4989766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901.35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900.43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2897988"/>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898.05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847.94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5657016"/>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951.03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850.22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572026"/>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950.78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872.57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1261525"/>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890.56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869.91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9758953"/>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892.16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948.43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30735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855.23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950.59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133320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851.36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918.35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60630780"/>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889.44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920.88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607392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886.99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846.80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54930923"/>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882.94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847.89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8780344"/>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882.16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870.83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72366353"/>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933.20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871.74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4745787"/>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937.61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961.99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23611454"/>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861.69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963.88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562780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859.00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931.05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8179688"/>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854.84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936.46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701374"/>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856.49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877.87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4120300"/>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926.83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877.12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6660481"/>
                  </a:ext>
                </a:extLst>
              </a:tr>
            </a:tbl>
          </a:graphicData>
        </a:graphic>
      </p:graphicFrame>
      <p:pic>
        <p:nvPicPr>
          <p:cNvPr id="8" name="Picture 7">
            <a:extLst>
              <a:ext uri="{FF2B5EF4-FFF2-40B4-BE49-F238E27FC236}">
                <a16:creationId xmlns:a16="http://schemas.microsoft.com/office/drawing/2014/main" id="{BB0F8718-B35E-4C23-BD06-E9D07E02704C}"/>
              </a:ext>
            </a:extLst>
          </p:cNvPr>
          <p:cNvPicPr>
            <a:picLocks noChangeAspect="1"/>
          </p:cNvPicPr>
          <p:nvPr/>
        </p:nvPicPr>
        <p:blipFill>
          <a:blip r:embed="rId4"/>
          <a:stretch>
            <a:fillRect/>
          </a:stretch>
        </p:blipFill>
        <p:spPr>
          <a:xfrm>
            <a:off x="5911316" y="1508265"/>
            <a:ext cx="3931436" cy="2957124"/>
          </a:xfrm>
          <a:prstGeom prst="rect">
            <a:avLst/>
          </a:prstGeom>
        </p:spPr>
      </p:pic>
      <p:sp>
        <p:nvSpPr>
          <p:cNvPr id="17" name="AutoShape 57">
            <a:extLst>
              <a:ext uri="{FF2B5EF4-FFF2-40B4-BE49-F238E27FC236}">
                <a16:creationId xmlns:a16="http://schemas.microsoft.com/office/drawing/2014/main" id="{7AC55846-A8AC-4576-9929-69CC7DB8A83E}"/>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19" name="AutoShape 58">
            <a:extLst>
              <a:ext uri="{FF2B5EF4-FFF2-40B4-BE49-F238E27FC236}">
                <a16:creationId xmlns:a16="http://schemas.microsoft.com/office/drawing/2014/main" id="{C1BD87E1-CF39-4ACA-8A8B-E73D4CC9739D}"/>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Tree>
    <p:extLst>
      <p:ext uri="{BB962C8B-B14F-4D97-AF65-F5344CB8AC3E}">
        <p14:creationId xmlns:p14="http://schemas.microsoft.com/office/powerpoint/2010/main" val="3819645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67107" y="86115"/>
            <a:ext cx="6153150" cy="418058"/>
          </a:xfrm>
          <a:prstGeom prst="rect">
            <a:avLst/>
          </a:prstGeom>
        </p:spPr>
        <p:txBody>
          <a:bodyPr vert="horz" lIns="91440" tIns="45720" rIns="91440" bIns="45720" rtlCol="0" anchor="ctr">
            <a:noAutofit/>
          </a:bodyPr>
          <a:lstStyle/>
          <a:p>
            <a:pPr lvl="0" eaLnBrk="1" latinLnBrk="0" hangingPunct="0">
              <a:defRPr/>
            </a:pP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5.1 Xbar-R Chart Review after improvement</a:t>
            </a:r>
            <a:endParaRPr lang="ko-KR" altLang="en-US" sz="1600" b="1" kern="0" dirty="0">
              <a:latin typeface="Arial Narrow" panose="020B0606020202030204" pitchFamily="34" charset="0"/>
              <a:ea typeface="Arial Unicode MS" panose="020B0604020202020204" pitchFamily="34" charset="-128"/>
              <a:cs typeface="Arial" panose="020B0604020202020204" pitchFamily="34" charset="0"/>
            </a:endParaRPr>
          </a:p>
        </p:txBody>
      </p:sp>
      <p:graphicFrame>
        <p:nvGraphicFramePr>
          <p:cNvPr id="12" name="Diagram 11"/>
          <p:cNvGraphicFramePr/>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7" name="Straight Connector 16"/>
          <p:cNvCxnSpPr/>
          <p:nvPr/>
        </p:nvCxnSpPr>
        <p:spPr>
          <a:xfrm>
            <a:off x="0" y="457200"/>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27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3" name="AutoShape 55"/>
          <p:cNvSpPr>
            <a:spLocks noChangeArrowheads="1"/>
          </p:cNvSpPr>
          <p:nvPr/>
        </p:nvSpPr>
        <p:spPr bwMode="auto">
          <a:xfrm>
            <a:off x="9082731" y="57457"/>
            <a:ext cx="747713"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Control</a:t>
            </a:r>
          </a:p>
        </p:txBody>
      </p:sp>
      <p:sp>
        <p:nvSpPr>
          <p:cNvPr id="19" name="AutoShape 59"/>
          <p:cNvSpPr>
            <a:spLocks noChangeArrowheads="1"/>
          </p:cNvSpPr>
          <p:nvPr/>
        </p:nvSpPr>
        <p:spPr bwMode="auto">
          <a:xfrm>
            <a:off x="6333181" y="173344"/>
            <a:ext cx="757238"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Define</a:t>
            </a:r>
          </a:p>
        </p:txBody>
      </p:sp>
      <p:sp>
        <p:nvSpPr>
          <p:cNvPr id="21" name="AutoShape 57"/>
          <p:cNvSpPr>
            <a:spLocks noChangeArrowheads="1"/>
          </p:cNvSpPr>
          <p:nvPr/>
        </p:nvSpPr>
        <p:spPr bwMode="auto">
          <a:xfrm>
            <a:off x="7701606" y="173344"/>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Analyze</a:t>
            </a:r>
          </a:p>
        </p:txBody>
      </p:sp>
      <p:sp>
        <p:nvSpPr>
          <p:cNvPr id="22" name="AutoShape 56"/>
          <p:cNvSpPr>
            <a:spLocks noChangeArrowheads="1"/>
          </p:cNvSpPr>
          <p:nvPr/>
        </p:nvSpPr>
        <p:spPr bwMode="auto">
          <a:xfrm>
            <a:off x="7030094" y="173344"/>
            <a:ext cx="747712"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Measure </a:t>
            </a:r>
          </a:p>
        </p:txBody>
      </p:sp>
      <p:sp>
        <p:nvSpPr>
          <p:cNvPr id="23" name="AutoShape 58"/>
          <p:cNvSpPr>
            <a:spLocks noChangeArrowheads="1"/>
          </p:cNvSpPr>
          <p:nvPr/>
        </p:nvSpPr>
        <p:spPr bwMode="auto">
          <a:xfrm>
            <a:off x="8393756" y="173344"/>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6" name="TextBox 15">
            <a:extLst>
              <a:ext uri="{FF2B5EF4-FFF2-40B4-BE49-F238E27FC236}">
                <a16:creationId xmlns:a16="http://schemas.microsoft.com/office/drawing/2014/main" id="{5CB9201B-E4DF-490F-839D-DE3B930B4CCB}"/>
              </a:ext>
            </a:extLst>
          </p:cNvPr>
          <p:cNvSpPr txBox="1"/>
          <p:nvPr/>
        </p:nvSpPr>
        <p:spPr>
          <a:xfrm>
            <a:off x="63248" y="535377"/>
            <a:ext cx="3441952"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8" name="TextBox 17">
            <a:extLst>
              <a:ext uri="{FF2B5EF4-FFF2-40B4-BE49-F238E27FC236}">
                <a16:creationId xmlns:a16="http://schemas.microsoft.com/office/drawing/2014/main" id="{2F0F0E5E-6DDF-4CAB-BC6D-54F0BC4AB452}"/>
              </a:ext>
            </a:extLst>
          </p:cNvPr>
          <p:cNvSpPr txBox="1"/>
          <p:nvPr/>
        </p:nvSpPr>
        <p:spPr>
          <a:xfrm>
            <a:off x="144016" y="5823484"/>
            <a:ext cx="9228584" cy="646331"/>
          </a:xfrm>
          <a:prstGeom prst="rect">
            <a:avLst/>
          </a:prstGeom>
          <a:noFill/>
        </p:spPr>
        <p:txBody>
          <a:bodyPr wrap="square" rtlCol="0">
            <a:spAutoFit/>
          </a:bodyPr>
          <a:lstStyle/>
          <a:p>
            <a:pPr marL="171450" indent="-171450" eaLnBrk="1" latinLnBrk="0">
              <a:buFont typeface="Wingdings" panose="05000000000000000000" pitchFamily="2" charset="2"/>
              <a:buChar char="Ø"/>
            </a:pPr>
            <a:r>
              <a:rPr lang="en-US" altLang="ko-KR" sz="1000" b="1" u="sng" dirty="0">
                <a:latin typeface="Arial" panose="020B0604020202020204" pitchFamily="34" charset="0"/>
                <a:ea typeface="LG Smart_H Regular" panose="020B0600000101010101" pitchFamily="34" charset="-127"/>
                <a:cs typeface="Arial" panose="020B0604020202020204" pitchFamily="34" charset="0"/>
              </a:rPr>
              <a:t>Conclusion:</a:t>
            </a:r>
            <a:r>
              <a:rPr lang="vi-VN" altLang="ko-KR" sz="1000" b="1" u="sng" dirty="0">
                <a:latin typeface="Arial" panose="020B0604020202020204" pitchFamily="34" charset="0"/>
                <a:ea typeface="LG Smart_H Regular" panose="020B0600000101010101" pitchFamily="34" charset="-127"/>
                <a:cs typeface="Arial" panose="020B0604020202020204" pitchFamily="34" charset="0"/>
              </a:rPr>
              <a:t> </a:t>
            </a:r>
          </a:p>
          <a:p>
            <a:pPr marL="171450" indent="-171450" eaLnBrk="1" latinLnBrk="0">
              <a:buFont typeface="Arial" panose="020B0604020202020204" pitchFamily="34" charset="0"/>
              <a:buChar char="•"/>
            </a:pPr>
            <a:r>
              <a:rPr lang="en-US" altLang="en-US" sz="1000" dirty="0">
                <a:latin typeface="Arial" panose="020B0600000101010101" pitchFamily="34" charset="-127"/>
                <a:ea typeface="Arial" panose="020B0600000101010101" pitchFamily="34" charset="-127"/>
              </a:rPr>
              <a:t>No out-of-control point and no abnormal pattern (run tests) was found in the Xbar and R control charts. Therefore the process is stable over time.</a:t>
            </a:r>
            <a:endParaRPr lang="en-US" altLang="ko-KR" sz="1200" dirty="0">
              <a:latin typeface="Arial" panose="020B0604020202020204" pitchFamily="34" charset="0"/>
              <a:ea typeface="LG Smart_H Regular" panose="020B0600000101010101" pitchFamily="34" charset="-127"/>
              <a:cs typeface="Arial" panose="020B0604020202020204" pitchFamily="34" charset="0"/>
            </a:endParaRPr>
          </a:p>
        </p:txBody>
      </p:sp>
      <p:graphicFrame>
        <p:nvGraphicFramePr>
          <p:cNvPr id="4" name="Table 3">
            <a:extLst>
              <a:ext uri="{FF2B5EF4-FFF2-40B4-BE49-F238E27FC236}">
                <a16:creationId xmlns:a16="http://schemas.microsoft.com/office/drawing/2014/main" id="{80AE7440-4A49-4884-9338-70840B8D69D5}"/>
              </a:ext>
            </a:extLst>
          </p:cNvPr>
          <p:cNvGraphicFramePr>
            <a:graphicFrameLocks noGrp="1"/>
          </p:cNvGraphicFramePr>
          <p:nvPr>
            <p:extLst>
              <p:ext uri="{D42A27DB-BD31-4B8C-83A1-F6EECF244321}">
                <p14:modId xmlns:p14="http://schemas.microsoft.com/office/powerpoint/2010/main" val="141134505"/>
              </p:ext>
            </p:extLst>
          </p:nvPr>
        </p:nvGraphicFramePr>
        <p:xfrm>
          <a:off x="144016" y="1730969"/>
          <a:ext cx="3962400" cy="3295490"/>
        </p:xfrm>
        <a:graphic>
          <a:graphicData uri="http://schemas.openxmlformats.org/drawingml/2006/table">
            <a:tbl>
              <a:tblPr/>
              <a:tblGrid>
                <a:gridCol w="660400">
                  <a:extLst>
                    <a:ext uri="{9D8B030D-6E8A-4147-A177-3AD203B41FA5}">
                      <a16:colId xmlns:a16="http://schemas.microsoft.com/office/drawing/2014/main" val="1668832001"/>
                    </a:ext>
                  </a:extLst>
                </a:gridCol>
                <a:gridCol w="660400">
                  <a:extLst>
                    <a:ext uri="{9D8B030D-6E8A-4147-A177-3AD203B41FA5}">
                      <a16:colId xmlns:a16="http://schemas.microsoft.com/office/drawing/2014/main" val="3568765916"/>
                    </a:ext>
                  </a:extLst>
                </a:gridCol>
                <a:gridCol w="660400">
                  <a:extLst>
                    <a:ext uri="{9D8B030D-6E8A-4147-A177-3AD203B41FA5}">
                      <a16:colId xmlns:a16="http://schemas.microsoft.com/office/drawing/2014/main" val="510279553"/>
                    </a:ext>
                  </a:extLst>
                </a:gridCol>
                <a:gridCol w="660400">
                  <a:extLst>
                    <a:ext uri="{9D8B030D-6E8A-4147-A177-3AD203B41FA5}">
                      <a16:colId xmlns:a16="http://schemas.microsoft.com/office/drawing/2014/main" val="3294816272"/>
                    </a:ext>
                  </a:extLst>
                </a:gridCol>
                <a:gridCol w="660400">
                  <a:extLst>
                    <a:ext uri="{9D8B030D-6E8A-4147-A177-3AD203B41FA5}">
                      <a16:colId xmlns:a16="http://schemas.microsoft.com/office/drawing/2014/main" val="2667025655"/>
                    </a:ext>
                  </a:extLst>
                </a:gridCol>
                <a:gridCol w="660400">
                  <a:extLst>
                    <a:ext uri="{9D8B030D-6E8A-4147-A177-3AD203B41FA5}">
                      <a16:colId xmlns:a16="http://schemas.microsoft.com/office/drawing/2014/main" val="2627515326"/>
                    </a:ext>
                  </a:extLst>
                </a:gridCol>
              </a:tblGrid>
              <a:tr h="299590">
                <a:tc>
                  <a:txBody>
                    <a:bodyPr/>
                    <a:lstStyle/>
                    <a:p>
                      <a:pPr algn="ctr" rtl="0" eaLnBrk="1" fontAlgn="ctr" latinLnBrk="0"/>
                      <a:r>
                        <a:rPr lang="en-US" sz="800" b="1" i="0" u="none" strike="noStrike">
                          <a:solidFill>
                            <a:srgbClr val="000000"/>
                          </a:solidFill>
                          <a:effectLst/>
                          <a:latin typeface="Arial" panose="020B0604020202020204" pitchFamily="34" charset="0"/>
                        </a:rPr>
                        <a:t>Date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4</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5</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738885912"/>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1-Jul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903.99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888.65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927.84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901.09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5930103"/>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2-Jul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898.47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930.79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906.56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901.04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58165055"/>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3-Jul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934.62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905.74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884.21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897.26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897.52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6615110"/>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4-Jul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926.69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897.88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940.66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917.92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932.89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78842911"/>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5-Jul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901.07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919.56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916.63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920.68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896.27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3840345"/>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6-Jul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921.35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919.07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929.27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912.16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3943853"/>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7-Jul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931.37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899.74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957.93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444588"/>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8-Jul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902.12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906.54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893.85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65670741"/>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9-Jul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909.81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925.48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937.52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920.73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918.64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6527454"/>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10-Jul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893.27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904.75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873.01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914.26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932.42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8251075"/>
                  </a:ext>
                </a:extLst>
              </a:tr>
            </a:tbl>
          </a:graphicData>
        </a:graphic>
      </p:graphicFrame>
      <p:pic>
        <p:nvPicPr>
          <p:cNvPr id="8" name="Picture 7">
            <a:extLst>
              <a:ext uri="{FF2B5EF4-FFF2-40B4-BE49-F238E27FC236}">
                <a16:creationId xmlns:a16="http://schemas.microsoft.com/office/drawing/2014/main" id="{5FF8E901-80C9-4272-8121-A4E818956BB0}"/>
              </a:ext>
            </a:extLst>
          </p:cNvPr>
          <p:cNvPicPr>
            <a:picLocks noChangeAspect="1"/>
          </p:cNvPicPr>
          <p:nvPr/>
        </p:nvPicPr>
        <p:blipFill>
          <a:blip r:embed="rId8"/>
          <a:stretch>
            <a:fillRect/>
          </a:stretch>
        </p:blipFill>
        <p:spPr>
          <a:xfrm>
            <a:off x="4503987" y="1728466"/>
            <a:ext cx="4860425" cy="3295485"/>
          </a:xfrm>
          <a:prstGeom prst="rect">
            <a:avLst/>
          </a:prstGeom>
        </p:spPr>
      </p:pic>
      <p:sp>
        <p:nvSpPr>
          <p:cNvPr id="20" name="TextBox 19">
            <a:extLst>
              <a:ext uri="{FF2B5EF4-FFF2-40B4-BE49-F238E27FC236}">
                <a16:creationId xmlns:a16="http://schemas.microsoft.com/office/drawing/2014/main" id="{CC80CBA3-AF38-4F86-A93F-C2965B6E0F40}"/>
              </a:ext>
            </a:extLst>
          </p:cNvPr>
          <p:cNvSpPr txBox="1"/>
          <p:nvPr/>
        </p:nvSpPr>
        <p:spPr>
          <a:xfrm>
            <a:off x="67106" y="842041"/>
            <a:ext cx="9457894" cy="461665"/>
          </a:xfrm>
          <a:prstGeom prst="rect">
            <a:avLst/>
          </a:prstGeom>
          <a:noFill/>
        </p:spPr>
        <p:txBody>
          <a:bodyPr wrap="square" rtlCol="0">
            <a:spAutoFit/>
          </a:bodyPr>
          <a:lstStyle/>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To monitor the mean and the variation of process after applying improvement and use control chart to monitor process stability over time.</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Sampling method: rational subgroups of the first 5 sets per day at the production line, for 10 days (1-Jul to 10-Jul-2026).</a:t>
            </a:r>
          </a:p>
        </p:txBody>
      </p:sp>
    </p:spTree>
    <p:extLst>
      <p:ext uri="{BB962C8B-B14F-4D97-AF65-F5344CB8AC3E}">
        <p14:creationId xmlns:p14="http://schemas.microsoft.com/office/powerpoint/2010/main" val="13087639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Diagram 11"/>
          <p:cNvGraphicFramePr/>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7" name="Straight Connector 16"/>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24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3" name="AutoShape 55">
            <a:extLst>
              <a:ext uri="{FF2B5EF4-FFF2-40B4-BE49-F238E27FC236}">
                <a16:creationId xmlns:a16="http://schemas.microsoft.com/office/drawing/2014/main" id="{8D969275-7FCE-4DA4-896B-5F6B33E66339}"/>
              </a:ext>
            </a:extLst>
          </p:cNvPr>
          <p:cNvSpPr>
            <a:spLocks noChangeArrowheads="1"/>
          </p:cNvSpPr>
          <p:nvPr/>
        </p:nvSpPr>
        <p:spPr bwMode="auto">
          <a:xfrm>
            <a:off x="9121997" y="155670"/>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9" name="AutoShape 59">
            <a:extLst>
              <a:ext uri="{FF2B5EF4-FFF2-40B4-BE49-F238E27FC236}">
                <a16:creationId xmlns:a16="http://schemas.microsoft.com/office/drawing/2014/main" id="{BCF43FF0-638F-4D22-9E24-50CD9446CEC3}"/>
              </a:ext>
            </a:extLst>
          </p:cNvPr>
          <p:cNvSpPr>
            <a:spLocks noChangeArrowheads="1"/>
          </p:cNvSpPr>
          <p:nvPr/>
        </p:nvSpPr>
        <p:spPr bwMode="auto">
          <a:xfrm>
            <a:off x="6372447" y="155670"/>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1" name="TextBox 20">
            <a:extLst>
              <a:ext uri="{FF2B5EF4-FFF2-40B4-BE49-F238E27FC236}">
                <a16:creationId xmlns:a16="http://schemas.microsoft.com/office/drawing/2014/main" id="{4D3DF1E9-4F4B-4537-85CB-35E50A4338F4}"/>
              </a:ext>
            </a:extLst>
          </p:cNvPr>
          <p:cNvSpPr txBox="1"/>
          <p:nvPr/>
        </p:nvSpPr>
        <p:spPr>
          <a:xfrm>
            <a:off x="5572865" y="5360459"/>
            <a:ext cx="3429000" cy="338426"/>
          </a:xfrm>
          <a:prstGeom prst="rect">
            <a:avLst/>
          </a:prstGeom>
          <a:noFill/>
        </p:spPr>
        <p:txBody>
          <a:bodyPr wrap="square" rtlCol="0">
            <a:spAutoFit/>
          </a:bodyPr>
          <a:lstStyle/>
          <a:p>
            <a:pPr eaLnBrk="1" latinLnBrk="0">
              <a:lnSpc>
                <a:spcPct val="150000"/>
              </a:lnSpc>
            </a:pPr>
            <a:r>
              <a:rPr lang="en-US" sz="1000" dirty="0">
                <a:latin typeface="Arial" panose="020B0600000101010101" pitchFamily="34" charset="-127"/>
                <a:ea typeface="Arial" panose="020B0600000101010101" pitchFamily="34" charset="-127"/>
                <a:cs typeface="Arial" panose="020B0604020202020204" pitchFamily="34" charset="0"/>
              </a:rPr>
              <a:t xml:space="preserve">Cpk = 2.39 (= CPL; USL 2000 is far from the process) (Goal ≥ 1.33; target ≥ 1.67) </a:t>
            </a:r>
            <a:r>
              <a:rPr lang="en-US" sz="1000" dirty="0">
                <a:latin typeface="Arial" panose="020B0600000101010101" pitchFamily="34" charset="-127"/>
                <a:ea typeface="Arial" panose="020B0600000101010101" pitchFamily="34" charset="-127"/>
                <a:cs typeface="Arial" panose="020B0604020202020204" pitchFamily="34" charset="0"/>
                <a:sym typeface="Wingdings" panose="05000000000000000000" pitchFamily="2" charset="2"/>
              </a:rPr>
              <a:t> Pass</a:t>
            </a:r>
            <a:endParaRPr lang="en-US" sz="1200" dirty="0">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2" name="TextBox 21">
            <a:extLst>
              <a:ext uri="{FF2B5EF4-FFF2-40B4-BE49-F238E27FC236}">
                <a16:creationId xmlns:a16="http://schemas.microsoft.com/office/drawing/2014/main" id="{91A13D46-5B91-4121-A651-FD19FF223FEC}"/>
              </a:ext>
            </a:extLst>
          </p:cNvPr>
          <p:cNvSpPr txBox="1"/>
          <p:nvPr/>
        </p:nvSpPr>
        <p:spPr>
          <a:xfrm>
            <a:off x="307691" y="5360459"/>
            <a:ext cx="4876800" cy="616259"/>
          </a:xfrm>
          <a:prstGeom prst="rect">
            <a:avLst/>
          </a:prstGeom>
          <a:noFill/>
        </p:spPr>
        <p:txBody>
          <a:bodyPr wrap="square" rtlCol="0">
            <a:spAutoFit/>
          </a:bodyPr>
          <a:lstStyle/>
          <a:p>
            <a:pPr eaLnBrk="1" latinLnBrk="0">
              <a:lnSpc>
                <a:spcPct val="150000"/>
              </a:lnSpc>
            </a:pPr>
            <a:r>
              <a:rPr sz="1000" b="0">
                <a:latin typeface="Arial"/>
              </a:rPr>
              <a:t xml:space="preserve">P-value = 0.503 &gt; 0.05 -&gt; Fail to reject H0 -&gt; No evidence against normality (PASS)</a:t>
            </a:r>
          </a:p>
          <a:p>
            <a:pPr eaLnBrk="1" latinLnBrk="0">
              <a:lnSpc>
                <a:spcPct val="150000"/>
              </a:lnSpc>
            </a:pPr>
            <a:r>
              <a:rPr lang="en-US" altLang="ko-KR"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a:t>
            </a:r>
            <a:r>
              <a:rPr lang="en-US" altLang="ko-KR" sz="1000" dirty="0">
                <a:latin typeface="Arial" panose="020B0600000101010101" pitchFamily="34" charset="-127"/>
                <a:ea typeface="Arial" panose="020B0600000101010101" pitchFamily="34" charset="-127"/>
                <a:cs typeface="Arial"/>
                <a:sym typeface="Wingdings" pitchFamily="2" charset="2"/>
              </a:rPr>
              <a:t>Data can be treated as normally distributed</a:t>
            </a:r>
            <a:r>
              <a:rPr lang="en-US" altLang="ko-KR"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a:t>
            </a:r>
            <a:r>
              <a:rPr lang="en-US" sz="1000" dirty="0">
                <a:latin typeface="Arial" panose="020B0600000101010101" pitchFamily="34" charset="-127"/>
                <a:ea typeface="Arial" panose="020B0600000101010101" pitchFamily="34" charset="-127"/>
                <a:cs typeface="Arial" panose="020B0604020202020204" pitchFamily="34" charset="0"/>
              </a:rPr>
              <a:t> </a:t>
            </a:r>
          </a:p>
        </p:txBody>
      </p:sp>
      <p:sp>
        <p:nvSpPr>
          <p:cNvPr id="24" name="제목 1">
            <a:extLst>
              <a:ext uri="{FF2B5EF4-FFF2-40B4-BE49-F238E27FC236}">
                <a16:creationId xmlns:a16="http://schemas.microsoft.com/office/drawing/2014/main" id="{031A6440-6634-4103-92B8-49C3ED90C4C8}"/>
              </a:ext>
            </a:extLst>
          </p:cNvPr>
          <p:cNvSpPr txBox="1">
            <a:spLocks/>
          </p:cNvSpPr>
          <p:nvPr/>
        </p:nvSpPr>
        <p:spPr>
          <a:xfrm>
            <a:off x="110170" y="71674"/>
            <a:ext cx="4762500" cy="418058"/>
          </a:xfrm>
          <a:prstGeom prst="rect">
            <a:avLst/>
          </a:prstGeom>
        </p:spPr>
        <p:txBody>
          <a:bodyPr vert="horz" lIns="91440" tIns="45720" rIns="91440" bIns="45720" rtlCol="0" anchor="ctr">
            <a:no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4.5 Process Capability review</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25" name="TextBox 24">
            <a:extLst>
              <a:ext uri="{FF2B5EF4-FFF2-40B4-BE49-F238E27FC236}">
                <a16:creationId xmlns:a16="http://schemas.microsoft.com/office/drawing/2014/main" id="{B7674296-F9ED-4CBE-BD6B-2C6DA8CD6EBE}"/>
              </a:ext>
            </a:extLst>
          </p:cNvPr>
          <p:cNvSpPr txBox="1"/>
          <p:nvPr/>
        </p:nvSpPr>
        <p:spPr>
          <a:xfrm>
            <a:off x="29671" y="594277"/>
            <a:ext cx="2942129"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23" name="AutoShape 57">
            <a:extLst>
              <a:ext uri="{FF2B5EF4-FFF2-40B4-BE49-F238E27FC236}">
                <a16:creationId xmlns:a16="http://schemas.microsoft.com/office/drawing/2014/main" id="{73911B39-23F6-4CF1-B590-3BF4AF2DF50F}"/>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6" name="AutoShape 56">
            <a:extLst>
              <a:ext uri="{FF2B5EF4-FFF2-40B4-BE49-F238E27FC236}">
                <a16:creationId xmlns:a16="http://schemas.microsoft.com/office/drawing/2014/main" id="{293DCF7A-2413-46F4-BD40-0B6E07C06B26}"/>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27" name="AutoShape 58">
            <a:extLst>
              <a:ext uri="{FF2B5EF4-FFF2-40B4-BE49-F238E27FC236}">
                <a16:creationId xmlns:a16="http://schemas.microsoft.com/office/drawing/2014/main" id="{DE0B4DB6-3714-4D76-943B-90338DEBD77F}"/>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pic>
        <p:nvPicPr>
          <p:cNvPr id="5" name="Picture 4">
            <a:extLst>
              <a:ext uri="{FF2B5EF4-FFF2-40B4-BE49-F238E27FC236}">
                <a16:creationId xmlns:a16="http://schemas.microsoft.com/office/drawing/2014/main" id="{CDBFE2BA-22EC-4E68-8012-8DD2082BFAE0}"/>
              </a:ext>
            </a:extLst>
          </p:cNvPr>
          <p:cNvPicPr>
            <a:picLocks noChangeAspect="1"/>
          </p:cNvPicPr>
          <p:nvPr/>
        </p:nvPicPr>
        <p:blipFill>
          <a:blip r:embed="rId8"/>
          <a:stretch>
            <a:fillRect/>
          </a:stretch>
        </p:blipFill>
        <p:spPr>
          <a:xfrm>
            <a:off x="0" y="1781554"/>
            <a:ext cx="4937235" cy="3357985"/>
          </a:xfrm>
          <a:prstGeom prst="rect">
            <a:avLst/>
          </a:prstGeom>
        </p:spPr>
      </p:pic>
      <p:pic>
        <p:nvPicPr>
          <p:cNvPr id="6" name="Picture 5">
            <a:extLst>
              <a:ext uri="{FF2B5EF4-FFF2-40B4-BE49-F238E27FC236}">
                <a16:creationId xmlns:a16="http://schemas.microsoft.com/office/drawing/2014/main" id="{1041727C-0180-47BE-980A-7240A140896B}"/>
              </a:ext>
            </a:extLst>
          </p:cNvPr>
          <p:cNvPicPr>
            <a:picLocks noChangeAspect="1"/>
          </p:cNvPicPr>
          <p:nvPr/>
        </p:nvPicPr>
        <p:blipFill>
          <a:blip r:embed="rId9"/>
          <a:stretch>
            <a:fillRect/>
          </a:stretch>
        </p:blipFill>
        <p:spPr>
          <a:xfrm>
            <a:off x="5071808" y="1811242"/>
            <a:ext cx="4453192" cy="3328297"/>
          </a:xfrm>
          <a:prstGeom prst="rect">
            <a:avLst/>
          </a:prstGeom>
        </p:spPr>
      </p:pic>
      <p:sp>
        <p:nvSpPr>
          <p:cNvPr id="2" name="Rectangle 1">
            <a:extLst>
              <a:ext uri="{FF2B5EF4-FFF2-40B4-BE49-F238E27FC236}">
                <a16:creationId xmlns:a16="http://schemas.microsoft.com/office/drawing/2014/main" id="{77DD4380-CC7A-4120-9471-60982EE3B35F}"/>
              </a:ext>
            </a:extLst>
          </p:cNvPr>
          <p:cNvSpPr/>
          <p:nvPr/>
        </p:nvSpPr>
        <p:spPr>
          <a:xfrm>
            <a:off x="83021" y="942979"/>
            <a:ext cx="3069045" cy="276999"/>
          </a:xfrm>
          <a:prstGeom prst="rect">
            <a:avLst/>
          </a:prstGeom>
        </p:spPr>
        <p:txBody>
          <a:bodyPr wrap="none">
            <a:spAutoFit/>
          </a:bodyPr>
          <a:lstStyle/>
          <a:p>
            <a:pPr lvl="0" eaLnBrk="1" latinLnBrk="0" hangingPunct="0">
              <a:defRPr/>
            </a:pPr>
            <a:r>
              <a:rPr lang="en-US" altLang="ja-JP" sz="1000" dirty="0">
                <a:latin typeface="Arial" panose="020B0604020202020204" pitchFamily="34" charset="0"/>
                <a:ea typeface="Arial Unicode MS" panose="020B0604020202020204" pitchFamily="34" charset="-128"/>
                <a:cs typeface="Arial" panose="020B0604020202020204" pitchFamily="34" charset="0"/>
              </a:rPr>
              <a:t>To evaluate process capability of the Luminance station:</a:t>
            </a:r>
          </a:p>
        </p:txBody>
      </p:sp>
      <p:sp>
        <p:nvSpPr>
          <p:cNvPr id="28" name="Added text 28"/>
          <p:cNvSpPr txBox="1"/>
          <p:nvPr/>
        </p:nvSpPr>
        <p:spPr>
          <a:xfrm>
            <a:off x="571500" y="1295400"/>
            <a:ext cx="4476750" cy="438150"/>
          </a:xfrm>
          <a:prstGeom prst="rect">
            <a:avLst/>
          </a:prstGeom>
          <a:noFill/>
        </p:spPr>
        <p:txBody>
          <a:bodyPr wrap="square" lIns="0" tIns="0" rIns="0" bIns="0" rtlCol="0">
            <a:noAutofit/>
          </a:bodyPr>
          <a:lstStyle/>
          <a:p>
            <a:r>
              <a:rPr lang="en-US" sz="1000" b="0" dirty="0">
                <a:solidFill>
                  <a:srgbClr val="000000"/>
                </a:solidFill>
                <a:latin typeface="Arial"/>
                <a:cs typeface="Arial"/>
              </a:rPr>
              <a:t>Normality test (Anderson-Darling): H0: data follow a normal distribution; H1: data do NOT follow a normal distribution.</a:t>
            </a:r>
          </a:p>
        </p:txBody>
      </p:sp>
      <p:sp>
        <p:nvSpPr>
          <p:cNvPr id="29" name="Added text 29"/>
          <p:cNvSpPr txBox="1"/>
          <p:nvPr/>
        </p:nvSpPr>
        <p:spPr>
          <a:xfrm>
            <a:off x="5334000" y="704850"/>
            <a:ext cx="4476750" cy="800100"/>
          </a:xfrm>
          <a:prstGeom prst="rect">
            <a:avLst/>
          </a:prstGeom>
          <a:noFill/>
        </p:spPr>
        <p:txBody>
          <a:bodyPr wrap="square" lIns="0" tIns="0" rIns="0" bIns="0" rtlCol="0">
            <a:noAutofit/>
          </a:bodyPr>
          <a:lstStyle/>
          <a:p>
            <a:pPr marL="0" indent="0">
              <a:spcAft>
                <a:spcPts val="400"/>
              </a:spcAft>
              <a:buNone/>
            </a:pPr>
            <a:r>
              <a:rPr lang="en-US" sz="1100" b="1" dirty="0">
                <a:solidFill>
                  <a:srgbClr val="C00000"/>
                </a:solidFill>
                <a:latin typeface="Arial"/>
                <a:cs typeface="Arial"/>
              </a:rPr>
              <a:t>Before (2.4): </a:t>
            </a:r>
            <a:r>
              <a:rPr lang="en-US" sz="1100" b="0" dirty="0">
                <a:solidFill>
                  <a:srgbClr val="C00000"/>
                </a:solidFill>
                <a:latin typeface="Arial"/>
                <a:cs typeface="Arial"/>
              </a:rPr>
              <a:t>Cpk = 0.45 (Z = 1.35) → Standard ≥ 1.33 → NG, lack of process capability</a:t>
            </a:r>
          </a:p>
          <a:p>
            <a:pPr marL="0" indent="0">
              <a:spcAft>
                <a:spcPts val="0"/>
              </a:spcAft>
              <a:buNone/>
            </a:pPr>
            <a:r>
              <a:rPr lang="en-US" sz="1100" b="1" dirty="0">
                <a:solidFill>
                  <a:srgbClr val="1E7B34"/>
                </a:solidFill>
                <a:latin typeface="Arial"/>
                <a:cs typeface="Arial"/>
              </a:rPr>
              <a:t>After: </a:t>
            </a:r>
            <a:r>
              <a:rPr lang="en-US" sz="1100" b="0" dirty="0">
                <a:solidFill>
                  <a:srgbClr val="1E7B34"/>
                </a:solidFill>
                <a:latin typeface="Arial"/>
                <a:cs typeface="Arial"/>
              </a:rPr>
              <a:t>Cpk = 2.39 (Z = 7.18) → Standard ≥ 1.33 → OK, good process capability</a:t>
            </a:r>
          </a:p>
        </p:txBody>
      </p:sp>
    </p:spTree>
    <p:extLst>
      <p:ext uri="{BB962C8B-B14F-4D97-AF65-F5344CB8AC3E}">
        <p14:creationId xmlns:p14="http://schemas.microsoft.com/office/powerpoint/2010/main" val="33018814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A66E45-431A-4EF3-A2E5-33060C669DFC}"/>
              </a:ext>
            </a:extLst>
          </p:cNvPr>
          <p:cNvPicPr>
            <a:picLocks noChangeAspect="1"/>
          </p:cNvPicPr>
          <p:nvPr/>
        </p:nvPicPr>
        <p:blipFill>
          <a:blip r:embed="rId3"/>
          <a:stretch>
            <a:fillRect/>
          </a:stretch>
        </p:blipFill>
        <p:spPr>
          <a:xfrm>
            <a:off x="5085601" y="803973"/>
            <a:ext cx="4376380" cy="3268076"/>
          </a:xfrm>
          <a:prstGeom prst="rect">
            <a:avLst/>
          </a:prstGeom>
          <a:ln>
            <a:noFill/>
          </a:ln>
        </p:spPr>
      </p:pic>
      <p:pic>
        <p:nvPicPr>
          <p:cNvPr id="4" name="Picture 3">
            <a:extLst>
              <a:ext uri="{FF2B5EF4-FFF2-40B4-BE49-F238E27FC236}">
                <a16:creationId xmlns:a16="http://schemas.microsoft.com/office/drawing/2014/main" id="{E2D6D6AB-CED2-4959-B087-729054AAA04B}"/>
              </a:ext>
            </a:extLst>
          </p:cNvPr>
          <p:cNvPicPr>
            <a:picLocks noChangeAspect="1"/>
          </p:cNvPicPr>
          <p:nvPr/>
        </p:nvPicPr>
        <p:blipFill>
          <a:blip r:embed="rId4"/>
          <a:stretch>
            <a:fillRect/>
          </a:stretch>
        </p:blipFill>
        <p:spPr>
          <a:xfrm>
            <a:off x="453669" y="839100"/>
            <a:ext cx="4140698" cy="3128528"/>
          </a:xfrm>
          <a:prstGeom prst="rect">
            <a:avLst/>
          </a:prstGeom>
        </p:spPr>
      </p:pic>
      <p:graphicFrame>
        <p:nvGraphicFramePr>
          <p:cNvPr id="12" name="Diagram 11"/>
          <p:cNvGraphicFramePr/>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cxnSp>
        <p:nvCxnSpPr>
          <p:cNvPr id="17" name="Straight Connector 16"/>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25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3" name="AutoShape 55">
            <a:extLst>
              <a:ext uri="{FF2B5EF4-FFF2-40B4-BE49-F238E27FC236}">
                <a16:creationId xmlns:a16="http://schemas.microsoft.com/office/drawing/2014/main" id="{8D969275-7FCE-4DA4-896B-5F6B33E66339}"/>
              </a:ext>
            </a:extLst>
          </p:cNvPr>
          <p:cNvSpPr>
            <a:spLocks noChangeArrowheads="1"/>
          </p:cNvSpPr>
          <p:nvPr/>
        </p:nvSpPr>
        <p:spPr bwMode="auto">
          <a:xfrm>
            <a:off x="9121997" y="155670"/>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9" name="AutoShape 59">
            <a:extLst>
              <a:ext uri="{FF2B5EF4-FFF2-40B4-BE49-F238E27FC236}">
                <a16:creationId xmlns:a16="http://schemas.microsoft.com/office/drawing/2014/main" id="{BCF43FF0-638F-4D22-9E24-50CD9446CEC3}"/>
              </a:ext>
            </a:extLst>
          </p:cNvPr>
          <p:cNvSpPr>
            <a:spLocks noChangeArrowheads="1"/>
          </p:cNvSpPr>
          <p:nvPr/>
        </p:nvSpPr>
        <p:spPr bwMode="auto">
          <a:xfrm>
            <a:off x="6372447" y="155670"/>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7" name="TextBox 26">
            <a:extLst>
              <a:ext uri="{FF2B5EF4-FFF2-40B4-BE49-F238E27FC236}">
                <a16:creationId xmlns:a16="http://schemas.microsoft.com/office/drawing/2014/main" id="{00F4DEE4-CDEB-4C16-817D-6B1C512B108F}"/>
              </a:ext>
            </a:extLst>
          </p:cNvPr>
          <p:cNvSpPr txBox="1"/>
          <p:nvPr/>
        </p:nvSpPr>
        <p:spPr>
          <a:xfrm>
            <a:off x="3276600" y="3161026"/>
            <a:ext cx="1241743" cy="507831"/>
          </a:xfrm>
          <a:prstGeom prst="rect">
            <a:avLst/>
          </a:prstGeom>
          <a:solidFill>
            <a:srgbClr val="FFFFFF"/>
          </a:solidFill>
          <a:ln w="12700">
            <a:solidFill>
              <a:srgbClr val="B4B4B4"/>
            </a:solidFill>
          </a:ln>
        </p:spPr>
        <p:txBody>
          <a:bodyPr wrap="square" rtlCol="0">
            <a:noAutofit/>
          </a:bodyPr>
          <a:lstStyle/>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 xml:space="preserve"> Z Long term = 6.89</a:t>
            </a:r>
          </a:p>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Standard ≥  4.5</a:t>
            </a:r>
          </a:p>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 </a:t>
            </a:r>
            <a:r>
              <a:rPr lang="en-US" altLang="ko-KR" sz="1000" dirty="0">
                <a:latin typeface="Arial" panose="020B0600000101010101" pitchFamily="34" charset="-127"/>
                <a:ea typeface="Arial" panose="020B0600000101010101" pitchFamily="34" charset="-127"/>
                <a:cs typeface="Arial" panose="020B0604020202020204" pitchFamily="34" charset="0"/>
                <a:sym typeface="Wingdings" pitchFamily="2" charset="2"/>
              </a:rPr>
              <a:t> OK</a:t>
            </a:r>
            <a:r>
              <a:rPr lang="en-US" altLang="ko-KR" sz="1000" dirty="0">
                <a:latin typeface="Arial" panose="020B0600000101010101" pitchFamily="34" charset="-127"/>
                <a:ea typeface="Arial" panose="020B0600000101010101" pitchFamily="34" charset="-127"/>
                <a:cs typeface="Arial" panose="020B0604020202020204" pitchFamily="34" charset="0"/>
              </a:rPr>
              <a:t> </a:t>
            </a:r>
          </a:p>
        </p:txBody>
      </p:sp>
      <p:sp>
        <p:nvSpPr>
          <p:cNvPr id="28" name="TextBox 27">
            <a:extLst>
              <a:ext uri="{FF2B5EF4-FFF2-40B4-BE49-F238E27FC236}">
                <a16:creationId xmlns:a16="http://schemas.microsoft.com/office/drawing/2014/main" id="{770B63C0-BDB9-4BB1-B7CE-47513CEA8001}"/>
              </a:ext>
            </a:extLst>
          </p:cNvPr>
          <p:cNvSpPr txBox="1"/>
          <p:nvPr/>
        </p:nvSpPr>
        <p:spPr>
          <a:xfrm>
            <a:off x="8093510" y="3044271"/>
            <a:ext cx="1241743" cy="507831"/>
          </a:xfrm>
          <a:prstGeom prst="rect">
            <a:avLst/>
          </a:prstGeom>
          <a:solidFill>
            <a:srgbClr val="FFFFFF"/>
          </a:solidFill>
          <a:ln w="12700">
            <a:solidFill>
              <a:srgbClr val="B4B4B4"/>
            </a:solidFill>
          </a:ln>
        </p:spPr>
        <p:txBody>
          <a:bodyPr wrap="square" rtlCol="0">
            <a:noAutofit/>
          </a:bodyPr>
          <a:lstStyle/>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 xml:space="preserve"> Z Short term = 7.18   Standard ≥  4.5</a:t>
            </a:r>
          </a:p>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 </a:t>
            </a:r>
            <a:r>
              <a:rPr lang="en-US" altLang="ko-KR" sz="1000" dirty="0">
                <a:latin typeface="Arial" panose="020B0600000101010101" pitchFamily="34" charset="-127"/>
                <a:ea typeface="Arial" panose="020B0600000101010101" pitchFamily="34" charset="-127"/>
                <a:cs typeface="Arial" panose="020B0604020202020204" pitchFamily="34" charset="0"/>
                <a:sym typeface="Wingdings" pitchFamily="2" charset="2"/>
              </a:rPr>
              <a:t> OK</a:t>
            </a:r>
            <a:r>
              <a:rPr lang="en-US" altLang="ko-KR" sz="1000" dirty="0">
                <a:latin typeface="Arial" panose="020B0600000101010101" pitchFamily="34" charset="-127"/>
                <a:ea typeface="Arial" panose="020B0600000101010101" pitchFamily="34" charset="-127"/>
                <a:cs typeface="Arial" panose="020B0604020202020204" pitchFamily="34" charset="0"/>
              </a:rPr>
              <a:t> </a:t>
            </a:r>
          </a:p>
        </p:txBody>
      </p:sp>
      <p:sp>
        <p:nvSpPr>
          <p:cNvPr id="29" name="TextBox 28">
            <a:extLst>
              <a:ext uri="{FF2B5EF4-FFF2-40B4-BE49-F238E27FC236}">
                <a16:creationId xmlns:a16="http://schemas.microsoft.com/office/drawing/2014/main" id="{3F03CC85-78FB-49D7-B96C-52B4B103B707}"/>
              </a:ext>
            </a:extLst>
          </p:cNvPr>
          <p:cNvSpPr txBox="1"/>
          <p:nvPr/>
        </p:nvSpPr>
        <p:spPr>
          <a:xfrm>
            <a:off x="222124" y="4752877"/>
            <a:ext cx="4376380" cy="1169423"/>
          </a:xfrm>
          <a:prstGeom prst="rect">
            <a:avLst/>
          </a:prstGeom>
          <a:solidFill>
            <a:schemeClr val="bg1"/>
          </a:solidFill>
        </p:spPr>
        <p:txBody>
          <a:bodyPr wrap="square" rtlCol="0">
            <a:spAutoFit/>
          </a:bodyPr>
          <a:lstStyle/>
          <a:p>
            <a:pPr eaLnBrk="1" latinLnBrk="0">
              <a:lnSpc>
                <a:spcPct val="150000"/>
              </a:lnSpc>
              <a:buFont typeface="Wingdings" pitchFamily="2" charset="2"/>
              <a:buChar char="§"/>
            </a:pPr>
            <a:r>
              <a:rPr lang="en-US" altLang="ko-KR" sz="1000" noProof="1">
                <a:latin typeface="Arial" panose="020B0600000101010101" pitchFamily="34" charset="-127"/>
                <a:ea typeface="Arial" panose="020B0600000101010101" pitchFamily="34" charset="-127"/>
              </a:rPr>
              <a:t xml:space="preserve">  Zshift = Zst – Zlt = 7.18 – 6.89 = 0.29 </a:t>
            </a:r>
            <a:r>
              <a:rPr lang="en-US" altLang="ko-KR" sz="1000" noProof="1">
                <a:latin typeface="Arial" panose="020B0600000101010101" pitchFamily="34" charset="-127"/>
                <a:ea typeface="Arial" panose="020B0600000101010101" pitchFamily="34" charset="-127"/>
                <a:sym typeface="Wingdings" pitchFamily="2" charset="2"/>
              </a:rPr>
              <a:t> Z shift &lt; 1.5 </a:t>
            </a:r>
          </a:p>
          <a:p>
            <a:pPr eaLnBrk="1" latinLnBrk="0">
              <a:lnSpc>
                <a:spcPct val="150000"/>
              </a:lnSpc>
            </a:pPr>
            <a:r>
              <a:rPr lang="en-US" altLang="ko-KR" sz="1000" noProof="1">
                <a:latin typeface="Arial" panose="020B0600000101010101" pitchFamily="34" charset="-127"/>
                <a:ea typeface="Arial" panose="020B0600000101010101" pitchFamily="34" charset="-127"/>
                <a:sym typeface="Wingdings" pitchFamily="2" charset="2"/>
              </a:rPr>
              <a:t> Proper process control </a:t>
            </a:r>
            <a:r>
              <a:rPr lang="en-US" altLang="ko-KR" sz="1000" noProof="1">
                <a:latin typeface="Arial" panose="020B0600000101010101" pitchFamily="34" charset="-127"/>
                <a:ea typeface="Arial" panose="020B0600000101010101" pitchFamily="34" charset="-127"/>
              </a:rPr>
              <a:t>management</a:t>
            </a:r>
            <a:endParaRPr lang="en-US" altLang="ko-KR" sz="1200" noProof="1">
              <a:latin typeface="LG Smart_H Regular" panose="020B0600000101010101" pitchFamily="34" charset="-127"/>
              <a:ea typeface="LG Smart_H Regular" panose="020B0600000101010101" pitchFamily="34" charset="-127"/>
              <a:sym typeface="Wingdings" pitchFamily="2" charset="2"/>
            </a:endParaRPr>
          </a:p>
          <a:p>
            <a:pPr eaLnBrk="1" latinLnBrk="0">
              <a:lnSpc>
                <a:spcPct val="150000"/>
              </a:lnSpc>
              <a:buFont typeface="Wingdings" pitchFamily="2" charset="2"/>
              <a:buChar char="§"/>
            </a:pPr>
            <a:r>
              <a:rPr lang="en-US" altLang="ko-KR" sz="1000" noProof="1">
                <a:latin typeface="Arial" panose="020B0600000101010101" pitchFamily="34" charset="-127"/>
                <a:ea typeface="Arial" panose="020B0600000101010101" pitchFamily="34" charset="-127"/>
                <a:sym typeface="Wingdings" pitchFamily="2" charset="2"/>
              </a:rPr>
              <a:t xml:space="preserve">  Z short term: 7.18 </a:t>
            </a:r>
            <a:r>
              <a:rPr lang="en-US" altLang="ko-KR" sz="1000" dirty="0">
                <a:latin typeface="Arial" panose="020B0600000101010101" pitchFamily="34" charset="-127"/>
                <a:ea typeface="Arial" panose="020B0600000101010101" pitchFamily="34" charset="-127"/>
                <a:cs typeface="Arial" panose="020B0604020202020204" pitchFamily="34" charset="0"/>
              </a:rPr>
              <a:t>≥ 4.5</a:t>
            </a:r>
            <a:r>
              <a:rPr lang="en-US" altLang="ko-KR" sz="1000" noProof="1">
                <a:latin typeface="Arial" panose="020B0600000101010101" pitchFamily="34" charset="-127"/>
                <a:ea typeface="Arial" panose="020B0600000101010101" pitchFamily="34" charset="-127"/>
                <a:sym typeface="Wingdings" pitchFamily="2" charset="2"/>
              </a:rPr>
              <a:t xml:space="preserve"> , Z long term: 6.89 </a:t>
            </a:r>
            <a:r>
              <a:rPr lang="en-US" altLang="ko-KR" sz="1000" dirty="0">
                <a:latin typeface="Arial" panose="020B0600000101010101" pitchFamily="34" charset="-127"/>
                <a:ea typeface="Arial" panose="020B0600000101010101" pitchFamily="34" charset="-127"/>
                <a:cs typeface="Arial" panose="020B0604020202020204" pitchFamily="34" charset="0"/>
              </a:rPr>
              <a:t>≥ 4.5</a:t>
            </a:r>
            <a:endParaRPr lang="en-US" altLang="ko-KR" sz="1200" noProof="1">
              <a:latin typeface="LG Smart_H Regular" panose="020B0600000101010101" pitchFamily="34" charset="-127"/>
              <a:ea typeface="LG Smart_H Regular" panose="020B0600000101010101" pitchFamily="34" charset="-127"/>
              <a:sym typeface="Wingdings" pitchFamily="2" charset="2"/>
            </a:endParaRPr>
          </a:p>
          <a:p>
            <a:pPr eaLnBrk="1" latinLnBrk="0">
              <a:lnSpc>
                <a:spcPct val="150000"/>
              </a:lnSpc>
            </a:pPr>
            <a:r>
              <a:rPr lang="en-US" altLang="ko-KR" sz="1000" noProof="1">
                <a:latin typeface="Arial" panose="020B0600000101010101" pitchFamily="34" charset="-127"/>
                <a:ea typeface="Arial" panose="020B0600000101010101" pitchFamily="34" charset="-127"/>
                <a:sym typeface="Wingdings" pitchFamily="2" charset="2"/>
              </a:rPr>
              <a:t> Technology is OK</a:t>
            </a:r>
            <a:endParaRPr lang="en-US" altLang="ko-KR" sz="1200" noProof="1">
              <a:latin typeface="LG Smart_H Regular" panose="020B0600000101010101" pitchFamily="34" charset="-127"/>
              <a:ea typeface="LG Smart_H Regular" panose="020B0600000101010101" pitchFamily="34" charset="-127"/>
            </a:endParaRPr>
          </a:p>
        </p:txBody>
      </p:sp>
      <p:grpSp>
        <p:nvGrpSpPr>
          <p:cNvPr id="30" name="Group 29">
            <a:extLst>
              <a:ext uri="{FF2B5EF4-FFF2-40B4-BE49-F238E27FC236}">
                <a16:creationId xmlns:a16="http://schemas.microsoft.com/office/drawing/2014/main" id="{A91AC523-C770-45D1-BAAD-CA31C2D5A8E8}"/>
              </a:ext>
            </a:extLst>
          </p:cNvPr>
          <p:cNvGrpSpPr/>
          <p:nvPr/>
        </p:nvGrpSpPr>
        <p:grpSpPr>
          <a:xfrm>
            <a:off x="5277611" y="4038601"/>
            <a:ext cx="4500000" cy="2710762"/>
            <a:chOff x="5383160" y="3319792"/>
            <a:chExt cx="5061928" cy="3189588"/>
          </a:xfrm>
        </p:grpSpPr>
        <p:sp>
          <p:nvSpPr>
            <p:cNvPr id="31" name="Rectangle 9">
              <a:extLst>
                <a:ext uri="{FF2B5EF4-FFF2-40B4-BE49-F238E27FC236}">
                  <a16:creationId xmlns:a16="http://schemas.microsoft.com/office/drawing/2014/main" id="{DF669F23-0AC3-4F56-9A0B-2411DEF3812C}"/>
                </a:ext>
              </a:extLst>
            </p:cNvPr>
            <p:cNvSpPr>
              <a:spLocks noChangeArrowheads="1"/>
            </p:cNvSpPr>
            <p:nvPr/>
          </p:nvSpPr>
          <p:spPr bwMode="auto">
            <a:xfrm>
              <a:off x="6033120" y="3708392"/>
              <a:ext cx="3423745" cy="2136281"/>
            </a:xfrm>
            <a:prstGeom prst="rect">
              <a:avLst/>
            </a:prstGeom>
            <a:solidFill>
              <a:schemeClr val="bg2">
                <a:lumMod val="20000"/>
                <a:lumOff val="80000"/>
              </a:schemeClr>
            </a:solidFill>
            <a:ln w="12700">
              <a:solidFill>
                <a:schemeClr val="tx1"/>
              </a:solidFill>
              <a:miter lim="800000"/>
              <a:headEnd/>
              <a:tailEnd/>
            </a:ln>
          </p:spPr>
          <p:txBody>
            <a:bodyPr wrap="none" anchor="ctr"/>
            <a:lstStyle/>
            <a:p>
              <a:pPr algn="ctr">
                <a:defRPr/>
              </a:pPr>
              <a:endParaRPr lang="ko-KR" altLang="en-US" sz="7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32" name="Line 10">
              <a:extLst>
                <a:ext uri="{FF2B5EF4-FFF2-40B4-BE49-F238E27FC236}">
                  <a16:creationId xmlns:a16="http://schemas.microsoft.com/office/drawing/2014/main" id="{E325E004-4EBD-46E8-A128-4006A20037A9}"/>
                </a:ext>
              </a:extLst>
            </p:cNvPr>
            <p:cNvSpPr>
              <a:spLocks noChangeShapeType="1"/>
            </p:cNvSpPr>
            <p:nvPr/>
          </p:nvSpPr>
          <p:spPr bwMode="auto">
            <a:xfrm>
              <a:off x="8234872" y="3708391"/>
              <a:ext cx="8082" cy="2136281"/>
            </a:xfrm>
            <a:prstGeom prst="line">
              <a:avLst/>
            </a:prstGeom>
            <a:noFill/>
            <a:ln w="12700">
              <a:solidFill>
                <a:schemeClr val="tx1"/>
              </a:solidFill>
              <a:round/>
              <a:headEnd type="none" w="sm" len="sm"/>
              <a:tailEnd type="none" w="sm" len="sm"/>
            </a:ln>
          </p:spPr>
          <p:txBody>
            <a:bodyPr/>
            <a:lstStyle/>
            <a:p>
              <a:endParaRPr lang="ko-KR" altLang="en-US" sz="1200"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33" name="Line 11">
              <a:extLst>
                <a:ext uri="{FF2B5EF4-FFF2-40B4-BE49-F238E27FC236}">
                  <a16:creationId xmlns:a16="http://schemas.microsoft.com/office/drawing/2014/main" id="{29F7C8D4-F09C-4737-8A79-22659B843F21}"/>
                </a:ext>
              </a:extLst>
            </p:cNvPr>
            <p:cNvSpPr>
              <a:spLocks noChangeShapeType="1"/>
            </p:cNvSpPr>
            <p:nvPr/>
          </p:nvSpPr>
          <p:spPr bwMode="auto">
            <a:xfrm>
              <a:off x="6036455" y="4689438"/>
              <a:ext cx="3412072" cy="0"/>
            </a:xfrm>
            <a:prstGeom prst="line">
              <a:avLst/>
            </a:prstGeom>
            <a:noFill/>
            <a:ln w="12700">
              <a:solidFill>
                <a:schemeClr val="tx1"/>
              </a:solidFill>
              <a:round/>
              <a:headEnd type="none" w="sm" len="sm"/>
              <a:tailEnd type="none" w="sm" len="sm"/>
            </a:ln>
          </p:spPr>
          <p:txBody>
            <a:bodyPr/>
            <a:lstStyle/>
            <a:p>
              <a:endParaRPr lang="ko-KR" altLang="en-US" sz="1200"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34" name="Rectangle 12">
              <a:extLst>
                <a:ext uri="{FF2B5EF4-FFF2-40B4-BE49-F238E27FC236}">
                  <a16:creationId xmlns:a16="http://schemas.microsoft.com/office/drawing/2014/main" id="{134442CB-1980-4352-98E7-E128F12A9699}"/>
                </a:ext>
              </a:extLst>
            </p:cNvPr>
            <p:cNvSpPr>
              <a:spLocks noChangeArrowheads="1"/>
            </p:cNvSpPr>
            <p:nvPr/>
          </p:nvSpPr>
          <p:spPr bwMode="auto">
            <a:xfrm>
              <a:off x="5677904" y="4528497"/>
              <a:ext cx="395745" cy="308576"/>
            </a:xfrm>
            <a:prstGeom prst="rect">
              <a:avLst/>
            </a:prstGeom>
            <a:noFill/>
            <a:ln w="9525">
              <a:noFill/>
              <a:miter lim="800000"/>
              <a:headEnd/>
              <a:tailEnd/>
            </a:ln>
          </p:spPr>
          <p:txBody>
            <a:bodyPr wrap="none" lIns="92075" tIns="46038" rIns="92075" bIns="46038">
              <a:spAutoFit/>
            </a:bodyPr>
            <a:lstStyle/>
            <a:p>
              <a:pPr latinLnBrk="0">
                <a:lnSpc>
                  <a:spcPct val="110000"/>
                </a:lnSpc>
              </a:pPr>
              <a:r>
                <a:rPr lang="en-US" altLang="ko-KR" sz="10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1.5</a:t>
              </a:r>
            </a:p>
          </p:txBody>
        </p:sp>
        <p:sp>
          <p:nvSpPr>
            <p:cNvPr id="35" name="Rectangle 13">
              <a:extLst>
                <a:ext uri="{FF2B5EF4-FFF2-40B4-BE49-F238E27FC236}">
                  <a16:creationId xmlns:a16="http://schemas.microsoft.com/office/drawing/2014/main" id="{6A8D9248-A26E-4915-8262-E9F9172EB945}"/>
                </a:ext>
              </a:extLst>
            </p:cNvPr>
            <p:cNvSpPr>
              <a:spLocks noChangeArrowheads="1"/>
            </p:cNvSpPr>
            <p:nvPr/>
          </p:nvSpPr>
          <p:spPr bwMode="auto">
            <a:xfrm>
              <a:off x="5536315" y="3319792"/>
              <a:ext cx="509306" cy="299523"/>
            </a:xfrm>
            <a:prstGeom prst="rect">
              <a:avLst/>
            </a:prstGeom>
            <a:noFill/>
            <a:ln w="9525">
              <a:noFill/>
              <a:miter lim="800000"/>
              <a:headEnd/>
              <a:tailEnd/>
            </a:ln>
          </p:spPr>
          <p:txBody>
            <a:bodyPr wrap="none" lIns="92075" tIns="46038" rIns="92075" bIns="46038">
              <a:spAutoFit/>
            </a:bodyPr>
            <a:lstStyle/>
            <a:p>
              <a:pPr algn="ctr" latinLnBrk="0"/>
              <a:r>
                <a:rPr lang="en-US" altLang="ko-KR" sz="105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Z </a:t>
              </a:r>
              <a:r>
                <a:rPr lang="en-US" altLang="ko-KR" sz="1050" b="1" baseline="-25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shift</a:t>
              </a:r>
            </a:p>
          </p:txBody>
        </p:sp>
        <p:sp>
          <p:nvSpPr>
            <p:cNvPr id="36" name="Rectangle 35">
              <a:extLst>
                <a:ext uri="{FF2B5EF4-FFF2-40B4-BE49-F238E27FC236}">
                  <a16:creationId xmlns:a16="http://schemas.microsoft.com/office/drawing/2014/main" id="{CB0A57F4-3B93-43B5-9D53-5CCBFA12E66A}"/>
                </a:ext>
              </a:extLst>
            </p:cNvPr>
            <p:cNvSpPr>
              <a:spLocks noChangeArrowheads="1"/>
            </p:cNvSpPr>
            <p:nvPr/>
          </p:nvSpPr>
          <p:spPr bwMode="auto">
            <a:xfrm>
              <a:off x="7726610" y="5884462"/>
              <a:ext cx="395745" cy="308576"/>
            </a:xfrm>
            <a:prstGeom prst="rect">
              <a:avLst/>
            </a:prstGeom>
            <a:noFill/>
            <a:ln w="9525">
              <a:noFill/>
              <a:miter lim="800000"/>
              <a:headEnd/>
              <a:tailEnd/>
            </a:ln>
          </p:spPr>
          <p:txBody>
            <a:bodyPr wrap="none" lIns="92075" tIns="46038" rIns="92075" bIns="46038">
              <a:spAutoFit/>
            </a:bodyPr>
            <a:lstStyle/>
            <a:p>
              <a:pPr latinLnBrk="0">
                <a:lnSpc>
                  <a:spcPct val="110000"/>
                </a:lnSpc>
              </a:pPr>
              <a:r>
                <a:rPr lang="en-US" altLang="ko-KR" sz="10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4.5</a:t>
              </a:r>
            </a:p>
          </p:txBody>
        </p:sp>
        <p:sp>
          <p:nvSpPr>
            <p:cNvPr id="37" name="Text Box 16">
              <a:extLst>
                <a:ext uri="{FF2B5EF4-FFF2-40B4-BE49-F238E27FC236}">
                  <a16:creationId xmlns:a16="http://schemas.microsoft.com/office/drawing/2014/main" id="{72B57459-49DE-460E-94B7-BCAE72DBB8A3}"/>
                </a:ext>
              </a:extLst>
            </p:cNvPr>
            <p:cNvSpPr txBox="1">
              <a:spLocks noChangeArrowheads="1"/>
            </p:cNvSpPr>
            <p:nvPr/>
          </p:nvSpPr>
          <p:spPr bwMode="auto">
            <a:xfrm>
              <a:off x="6093354" y="4758357"/>
              <a:ext cx="278502"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C</a:t>
              </a:r>
            </a:p>
          </p:txBody>
        </p:sp>
        <p:sp>
          <p:nvSpPr>
            <p:cNvPr id="38" name="Text Box 17">
              <a:extLst>
                <a:ext uri="{FF2B5EF4-FFF2-40B4-BE49-F238E27FC236}">
                  <a16:creationId xmlns:a16="http://schemas.microsoft.com/office/drawing/2014/main" id="{3D4C8AE9-341D-470A-AB1F-69BE23C6B97F}"/>
                </a:ext>
              </a:extLst>
            </p:cNvPr>
            <p:cNvSpPr txBox="1">
              <a:spLocks noChangeArrowheads="1"/>
            </p:cNvSpPr>
            <p:nvPr/>
          </p:nvSpPr>
          <p:spPr bwMode="auto">
            <a:xfrm>
              <a:off x="6113061" y="4037091"/>
              <a:ext cx="278502"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A</a:t>
              </a:r>
            </a:p>
          </p:txBody>
        </p:sp>
        <p:sp>
          <p:nvSpPr>
            <p:cNvPr id="39" name="Text Box 18">
              <a:extLst>
                <a:ext uri="{FF2B5EF4-FFF2-40B4-BE49-F238E27FC236}">
                  <a16:creationId xmlns:a16="http://schemas.microsoft.com/office/drawing/2014/main" id="{104C2049-1F2F-4C40-8732-C908DC24241F}"/>
                </a:ext>
              </a:extLst>
            </p:cNvPr>
            <p:cNvSpPr txBox="1">
              <a:spLocks noChangeArrowheads="1"/>
            </p:cNvSpPr>
            <p:nvPr/>
          </p:nvSpPr>
          <p:spPr bwMode="auto">
            <a:xfrm>
              <a:off x="9186767" y="4035612"/>
              <a:ext cx="280170"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B</a:t>
              </a:r>
            </a:p>
          </p:txBody>
        </p:sp>
        <p:sp>
          <p:nvSpPr>
            <p:cNvPr id="40" name="Text Box 19">
              <a:extLst>
                <a:ext uri="{FF2B5EF4-FFF2-40B4-BE49-F238E27FC236}">
                  <a16:creationId xmlns:a16="http://schemas.microsoft.com/office/drawing/2014/main" id="{D55D9F2E-8DB9-49AB-9859-A655FC742095}"/>
                </a:ext>
              </a:extLst>
            </p:cNvPr>
            <p:cNvSpPr txBox="1">
              <a:spLocks noChangeArrowheads="1"/>
            </p:cNvSpPr>
            <p:nvPr/>
          </p:nvSpPr>
          <p:spPr bwMode="auto">
            <a:xfrm>
              <a:off x="9113035" y="4758357"/>
              <a:ext cx="280170"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D</a:t>
              </a:r>
            </a:p>
          </p:txBody>
        </p:sp>
        <p:sp>
          <p:nvSpPr>
            <p:cNvPr id="41" name="Text Box 20">
              <a:extLst>
                <a:ext uri="{FF2B5EF4-FFF2-40B4-BE49-F238E27FC236}">
                  <a16:creationId xmlns:a16="http://schemas.microsoft.com/office/drawing/2014/main" id="{FBA9863E-9869-4537-84DF-E5058BB9D2BA}"/>
                </a:ext>
              </a:extLst>
            </p:cNvPr>
            <p:cNvSpPr txBox="1">
              <a:spLocks noChangeArrowheads="1"/>
            </p:cNvSpPr>
            <p:nvPr/>
          </p:nvSpPr>
          <p:spPr bwMode="auto">
            <a:xfrm>
              <a:off x="6513562" y="3827720"/>
              <a:ext cx="1303327"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Lack </a:t>
              </a:r>
              <a:r>
                <a:rPr lang="en-US" altLang="ko-KR" sz="1000">
                  <a:solidFill>
                    <a:srgbClr val="000000"/>
                  </a:solidFill>
                  <a:latin typeface="Arial" panose="020B0600000101010101" pitchFamily="34" charset="-127"/>
                  <a:ea typeface="Arial" panose="020B0600000101010101" pitchFamily="34" charset="-127"/>
                  <a:cs typeface="Arial Unicode MS" panose="020B0604020202020204" pitchFamily="34" charset="-128"/>
                </a:rPr>
                <a:t>of management</a:t>
              </a:r>
            </a:p>
            <a:p>
              <a:r>
                <a:rPr lang="en-US" altLang="ko-KR" sz="1000">
                  <a:solidFill>
                    <a:srgbClr val="000000"/>
                  </a:solidFill>
                  <a:latin typeface="Arial" panose="020B0600000101010101" pitchFamily="34" charset="-127"/>
                  <a:ea typeface="Arial" panose="020B0600000101010101" pitchFamily="34" charset="-127"/>
                  <a:cs typeface="Arial Unicode MS" panose="020B0604020202020204" pitchFamily="34" charset="-128"/>
                </a:rPr>
                <a:t>Lack of skill</a:t>
              </a:r>
              <a:endParaRPr lang="en-US" altLang="ko-KR"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2" name="Text Box 21">
              <a:extLst>
                <a:ext uri="{FF2B5EF4-FFF2-40B4-BE49-F238E27FC236}">
                  <a16:creationId xmlns:a16="http://schemas.microsoft.com/office/drawing/2014/main" id="{4E6A85B0-10C3-4A76-ADAD-E2C95236DA18}"/>
                </a:ext>
              </a:extLst>
            </p:cNvPr>
            <p:cNvSpPr txBox="1">
              <a:spLocks noChangeArrowheads="1"/>
            </p:cNvSpPr>
            <p:nvPr/>
          </p:nvSpPr>
          <p:spPr bwMode="auto">
            <a:xfrm>
              <a:off x="6568444" y="5020070"/>
              <a:ext cx="1117346" cy="651856"/>
            </a:xfrm>
            <a:prstGeom prst="rect">
              <a:avLst/>
            </a:prstGeom>
            <a:noFill/>
            <a:ln w="9525">
              <a:noFill/>
              <a:miter lim="800000"/>
              <a:headEnd/>
              <a:tailEnd/>
            </a:ln>
          </p:spPr>
          <p:txBody>
            <a:bodyPr>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management</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Lack of skills</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3" name="Text Box 22">
              <a:extLst>
                <a:ext uri="{FF2B5EF4-FFF2-40B4-BE49-F238E27FC236}">
                  <a16:creationId xmlns:a16="http://schemas.microsoft.com/office/drawing/2014/main" id="{B3A76730-7D39-4250-BA71-BD4D5C0069FF}"/>
                </a:ext>
              </a:extLst>
            </p:cNvPr>
            <p:cNvSpPr txBox="1">
              <a:spLocks noChangeArrowheads="1"/>
            </p:cNvSpPr>
            <p:nvPr/>
          </p:nvSpPr>
          <p:spPr bwMode="auto">
            <a:xfrm>
              <a:off x="8264079" y="3867733"/>
              <a:ext cx="1213911"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Lack of management</a:t>
              </a:r>
            </a:p>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skills</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4" name="Text Box 23">
              <a:extLst>
                <a:ext uri="{FF2B5EF4-FFF2-40B4-BE49-F238E27FC236}">
                  <a16:creationId xmlns:a16="http://schemas.microsoft.com/office/drawing/2014/main" id="{05BD512F-67DF-4736-80E2-CEA1B470C486}"/>
                </a:ext>
              </a:extLst>
            </p:cNvPr>
            <p:cNvSpPr txBox="1">
              <a:spLocks noChangeArrowheads="1"/>
            </p:cNvSpPr>
            <p:nvPr/>
          </p:nvSpPr>
          <p:spPr bwMode="auto">
            <a:xfrm>
              <a:off x="8323991" y="4965073"/>
              <a:ext cx="1220446"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management</a:t>
              </a:r>
            </a:p>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skills</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5" name="Line 30">
              <a:extLst>
                <a:ext uri="{FF2B5EF4-FFF2-40B4-BE49-F238E27FC236}">
                  <a16:creationId xmlns:a16="http://schemas.microsoft.com/office/drawing/2014/main" id="{25B2880B-8280-4D1B-9DDF-8314019EA58B}"/>
                </a:ext>
              </a:extLst>
            </p:cNvPr>
            <p:cNvSpPr>
              <a:spLocks noChangeShapeType="1"/>
            </p:cNvSpPr>
            <p:nvPr/>
          </p:nvSpPr>
          <p:spPr bwMode="auto">
            <a:xfrm>
              <a:off x="5706255" y="3615323"/>
              <a:ext cx="0" cy="2380896"/>
            </a:xfrm>
            <a:prstGeom prst="line">
              <a:avLst/>
            </a:prstGeom>
            <a:noFill/>
            <a:ln w="9525">
              <a:solidFill>
                <a:srgbClr val="FF0000"/>
              </a:solidFill>
              <a:round/>
              <a:headEnd type="triangle" w="med" len="med"/>
              <a:tailEnd type="triangle" w="med" len="med"/>
            </a:ln>
          </p:spPr>
          <p:txBody>
            <a:bodyPr anchor="ctr"/>
            <a:lstStyle/>
            <a:p>
              <a:endParaRPr lang="ko-KR" altLang="en-US" sz="1200"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6" name="Text Box 36">
              <a:extLst>
                <a:ext uri="{FF2B5EF4-FFF2-40B4-BE49-F238E27FC236}">
                  <a16:creationId xmlns:a16="http://schemas.microsoft.com/office/drawing/2014/main" id="{6DB980A6-8D3E-4595-A095-0CD813709CAA}"/>
                </a:ext>
              </a:extLst>
            </p:cNvPr>
            <p:cNvSpPr txBox="1">
              <a:spLocks noChangeArrowheads="1"/>
            </p:cNvSpPr>
            <p:nvPr/>
          </p:nvSpPr>
          <p:spPr bwMode="auto">
            <a:xfrm rot="16200000">
              <a:off x="4880282" y="4564292"/>
              <a:ext cx="1270044" cy="264288"/>
            </a:xfrm>
            <a:prstGeom prst="rect">
              <a:avLst/>
            </a:prstGeom>
            <a:noFill/>
            <a:ln w="9525" algn="ctr">
              <a:noFill/>
              <a:miter lim="800000"/>
              <a:headEnd/>
              <a:tailEnd/>
            </a:ln>
          </p:spPr>
          <p:txBody>
            <a:bodyPr>
              <a:spAutoFit/>
            </a:bodyPr>
            <a:lstStyle/>
            <a:p>
              <a:pPr algn="ctr">
                <a:spcBef>
                  <a:spcPct val="50000"/>
                </a:spcBef>
              </a:pPr>
              <a:r>
                <a:rPr lang="en-US" altLang="ko-KR" sz="10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Control</a:t>
              </a:r>
            </a:p>
          </p:txBody>
        </p:sp>
        <p:sp>
          <p:nvSpPr>
            <p:cNvPr id="47" name="Rectangle 55">
              <a:extLst>
                <a:ext uri="{FF2B5EF4-FFF2-40B4-BE49-F238E27FC236}">
                  <a16:creationId xmlns:a16="http://schemas.microsoft.com/office/drawing/2014/main" id="{420C2EB9-5F53-479C-9447-39BFD0FCD091}"/>
                </a:ext>
              </a:extLst>
            </p:cNvPr>
            <p:cNvSpPr>
              <a:spLocks noChangeArrowheads="1"/>
            </p:cNvSpPr>
            <p:nvPr/>
          </p:nvSpPr>
          <p:spPr bwMode="auto">
            <a:xfrm>
              <a:off x="9456865" y="5884461"/>
              <a:ext cx="988223" cy="235392"/>
            </a:xfrm>
            <a:prstGeom prst="rect">
              <a:avLst/>
            </a:prstGeom>
            <a:noFill/>
            <a:ln w="9525">
              <a:noFill/>
              <a:miter lim="800000"/>
              <a:headEnd/>
              <a:tailEnd/>
            </a:ln>
          </p:spPr>
          <p:txBody>
            <a:bodyPr wrap="square">
              <a:spAutoFit/>
            </a:bodyPr>
            <a:lstStyle/>
            <a:p>
              <a:r>
                <a:rPr lang="en-US" altLang="ko-KR"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Z</a:t>
              </a:r>
              <a:r>
                <a:rPr lang="en-US" altLang="ko-KR" sz="700" b="1" baseline="-25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ST </a:t>
              </a:r>
              <a:r>
                <a:rPr lang="ko-KR" altLang="en-US"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 </a:t>
              </a:r>
              <a:r>
                <a:rPr lang="en-US" altLang="ko-KR"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Or Z</a:t>
              </a:r>
              <a:r>
                <a:rPr lang="en-US" altLang="ko-KR" sz="700" b="1" baseline="-25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ST</a:t>
              </a:r>
              <a:r>
                <a:rPr lang="en-US" altLang="ko-KR"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(Bench)</a:t>
              </a:r>
            </a:p>
          </p:txBody>
        </p:sp>
        <p:sp>
          <p:nvSpPr>
            <p:cNvPr id="48" name="Line 31">
              <a:extLst>
                <a:ext uri="{FF2B5EF4-FFF2-40B4-BE49-F238E27FC236}">
                  <a16:creationId xmlns:a16="http://schemas.microsoft.com/office/drawing/2014/main" id="{D4DA5518-7C01-4BE4-8ABF-562CA7555F91}"/>
                </a:ext>
              </a:extLst>
            </p:cNvPr>
            <p:cNvSpPr>
              <a:spLocks noChangeShapeType="1"/>
            </p:cNvSpPr>
            <p:nvPr/>
          </p:nvSpPr>
          <p:spPr bwMode="auto">
            <a:xfrm>
              <a:off x="6060635" y="6162459"/>
              <a:ext cx="3403733" cy="0"/>
            </a:xfrm>
            <a:prstGeom prst="line">
              <a:avLst/>
            </a:prstGeom>
            <a:noFill/>
            <a:ln w="9525">
              <a:solidFill>
                <a:srgbClr val="FF0000"/>
              </a:solidFill>
              <a:round/>
              <a:headEnd type="triangle" w="med" len="med"/>
              <a:tailEnd type="triangle" w="med" len="med"/>
            </a:ln>
          </p:spPr>
          <p:txBody>
            <a:bodyPr anchor="ctr"/>
            <a:lstStyle/>
            <a:p>
              <a:endParaRPr lang="ko-KR" altLang="en-US"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9" name="Text Box 34">
              <a:extLst>
                <a:ext uri="{FF2B5EF4-FFF2-40B4-BE49-F238E27FC236}">
                  <a16:creationId xmlns:a16="http://schemas.microsoft.com/office/drawing/2014/main" id="{EBDA23CD-C680-41C0-9552-B6A4B7F2BB63}"/>
                </a:ext>
              </a:extLst>
            </p:cNvPr>
            <p:cNvSpPr txBox="1">
              <a:spLocks noChangeArrowheads="1"/>
            </p:cNvSpPr>
            <p:nvPr/>
          </p:nvSpPr>
          <p:spPr bwMode="auto">
            <a:xfrm>
              <a:off x="9109150" y="6183452"/>
              <a:ext cx="734112" cy="325928"/>
            </a:xfrm>
            <a:prstGeom prst="rect">
              <a:avLst/>
            </a:prstGeom>
            <a:noFill/>
            <a:ln w="9525" algn="ctr">
              <a:noFill/>
              <a:miter lim="800000"/>
              <a:headEnd/>
              <a:tailEnd/>
            </a:ln>
          </p:spPr>
          <p:txBody>
            <a:bodyPr wrap="square">
              <a:spAutoFit/>
            </a:bodyPr>
            <a:lstStyle/>
            <a:p>
              <a:pPr algn="ctr">
                <a:spcBef>
                  <a:spcPct val="50000"/>
                </a:spcBef>
              </a:pPr>
              <a:r>
                <a:rPr lang="en-US" altLang="ko-KR" sz="12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Good</a:t>
              </a:r>
            </a:p>
          </p:txBody>
        </p:sp>
        <p:sp>
          <p:nvSpPr>
            <p:cNvPr id="50" name="Text Box 35">
              <a:extLst>
                <a:ext uri="{FF2B5EF4-FFF2-40B4-BE49-F238E27FC236}">
                  <a16:creationId xmlns:a16="http://schemas.microsoft.com/office/drawing/2014/main" id="{E48E283C-7CC9-426A-84F4-62FAD64114CF}"/>
                </a:ext>
              </a:extLst>
            </p:cNvPr>
            <p:cNvSpPr txBox="1">
              <a:spLocks noChangeArrowheads="1"/>
            </p:cNvSpPr>
            <p:nvPr/>
          </p:nvSpPr>
          <p:spPr bwMode="auto">
            <a:xfrm>
              <a:off x="5833830" y="6146714"/>
              <a:ext cx="605367" cy="325928"/>
            </a:xfrm>
            <a:prstGeom prst="rect">
              <a:avLst/>
            </a:prstGeom>
            <a:noFill/>
            <a:ln w="9525" algn="ctr">
              <a:noFill/>
              <a:miter lim="800000"/>
              <a:headEnd/>
              <a:tailEnd/>
            </a:ln>
          </p:spPr>
          <p:txBody>
            <a:bodyPr>
              <a:spAutoFit/>
            </a:bodyPr>
            <a:lstStyle/>
            <a:p>
              <a:pPr algn="ctr">
                <a:spcBef>
                  <a:spcPct val="50000"/>
                </a:spcBef>
              </a:pPr>
              <a:r>
                <a:rPr lang="en-US" altLang="ko-KR" sz="12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Poor</a:t>
              </a:r>
            </a:p>
          </p:txBody>
        </p:sp>
        <p:sp>
          <p:nvSpPr>
            <p:cNvPr id="51" name="Text Box 37">
              <a:extLst>
                <a:ext uri="{FF2B5EF4-FFF2-40B4-BE49-F238E27FC236}">
                  <a16:creationId xmlns:a16="http://schemas.microsoft.com/office/drawing/2014/main" id="{6ACB3CF9-F1A5-40FF-94B5-AC5A9AA50E7F}"/>
                </a:ext>
              </a:extLst>
            </p:cNvPr>
            <p:cNvSpPr txBox="1">
              <a:spLocks noChangeArrowheads="1"/>
            </p:cNvSpPr>
            <p:nvPr/>
          </p:nvSpPr>
          <p:spPr bwMode="auto">
            <a:xfrm>
              <a:off x="7269702" y="6134470"/>
              <a:ext cx="1210735" cy="325928"/>
            </a:xfrm>
            <a:prstGeom prst="rect">
              <a:avLst/>
            </a:prstGeom>
            <a:noFill/>
            <a:ln w="9525" algn="ctr">
              <a:noFill/>
              <a:miter lim="800000"/>
              <a:headEnd/>
              <a:tailEnd/>
            </a:ln>
          </p:spPr>
          <p:txBody>
            <a:bodyPr>
              <a:spAutoFit/>
            </a:bodyPr>
            <a:lstStyle/>
            <a:p>
              <a:pPr algn="ct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Technology</a:t>
              </a:r>
            </a:p>
          </p:txBody>
        </p:sp>
      </p:grpSp>
      <p:sp>
        <p:nvSpPr>
          <p:cNvPr id="54" name="제목 1">
            <a:extLst>
              <a:ext uri="{FF2B5EF4-FFF2-40B4-BE49-F238E27FC236}">
                <a16:creationId xmlns:a16="http://schemas.microsoft.com/office/drawing/2014/main" id="{C1E39F43-4212-4D85-A402-9DA4EED98FCF}"/>
              </a:ext>
            </a:extLst>
          </p:cNvPr>
          <p:cNvSpPr txBox="1">
            <a:spLocks/>
          </p:cNvSpPr>
          <p:nvPr/>
        </p:nvSpPr>
        <p:spPr>
          <a:xfrm>
            <a:off x="110170" y="71674"/>
            <a:ext cx="4762500" cy="418058"/>
          </a:xfrm>
          <a:prstGeom prst="rect">
            <a:avLst/>
          </a:prstGeom>
        </p:spPr>
        <p:txBody>
          <a:bodyPr vert="horz" lIns="91440" tIns="45720" rIns="91440" bIns="45720" rtlCol="0" anchor="ctr">
            <a:no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4.5 Process Capability review (Z value)</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55" name="TextBox 54">
            <a:extLst>
              <a:ext uri="{FF2B5EF4-FFF2-40B4-BE49-F238E27FC236}">
                <a16:creationId xmlns:a16="http://schemas.microsoft.com/office/drawing/2014/main" id="{98D96AB4-12A2-4255-A061-D35744AE3B8D}"/>
              </a:ext>
            </a:extLst>
          </p:cNvPr>
          <p:cNvSpPr txBox="1"/>
          <p:nvPr/>
        </p:nvSpPr>
        <p:spPr>
          <a:xfrm>
            <a:off x="29671" y="594277"/>
            <a:ext cx="2637329"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52" name="AutoShape 57">
            <a:extLst>
              <a:ext uri="{FF2B5EF4-FFF2-40B4-BE49-F238E27FC236}">
                <a16:creationId xmlns:a16="http://schemas.microsoft.com/office/drawing/2014/main" id="{508EC12D-F11B-4FFB-88DA-39948A1A7C34}"/>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53" name="AutoShape 56">
            <a:extLst>
              <a:ext uri="{FF2B5EF4-FFF2-40B4-BE49-F238E27FC236}">
                <a16:creationId xmlns:a16="http://schemas.microsoft.com/office/drawing/2014/main" id="{F95FD074-5AF2-4416-AFCF-7A5073F4B158}"/>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56" name="AutoShape 58">
            <a:extLst>
              <a:ext uri="{FF2B5EF4-FFF2-40B4-BE49-F238E27FC236}">
                <a16:creationId xmlns:a16="http://schemas.microsoft.com/office/drawing/2014/main" id="{F6CA6BFA-4510-4DAD-83FD-90AD22316A5B}"/>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
        <p:nvSpPr>
          <p:cNvPr id="57" name="Oval 56">
            <a:extLst>
              <a:ext uri="{FF2B5EF4-FFF2-40B4-BE49-F238E27FC236}">
                <a16:creationId xmlns:a16="http://schemas.microsoft.com/office/drawing/2014/main" id="{6E8DCBC3-A95D-4092-B08D-A31121EC3FF1}"/>
              </a:ext>
            </a:extLst>
          </p:cNvPr>
          <p:cNvSpPr/>
          <p:nvPr/>
        </p:nvSpPr>
        <p:spPr bwMode="auto">
          <a:xfrm>
            <a:off x="7997309" y="5292918"/>
            <a:ext cx="130509" cy="137281"/>
          </a:xfrm>
          <a:prstGeom prst="ellipse">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charset="0"/>
              <a:ea typeface="돋움" pitchFamily="50" charset="-127"/>
            </a:endParaRPr>
          </a:p>
        </p:txBody>
      </p:sp>
    </p:spTree>
    <p:extLst>
      <p:ext uri="{BB962C8B-B14F-4D97-AF65-F5344CB8AC3E}">
        <p14:creationId xmlns:p14="http://schemas.microsoft.com/office/powerpoint/2010/main" val="37882976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D6B8DA67-8CAF-45C2-B88E-D3D992BF9940}"/>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Slide Number Placeholder 4">
            <a:extLst>
              <a:ext uri="{FF2B5EF4-FFF2-40B4-BE49-F238E27FC236}">
                <a16:creationId xmlns:a16="http://schemas.microsoft.com/office/drawing/2014/main" id="{AAF66B0A-7BB0-4BF6-8480-6319118578F6}"/>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26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32" name="AutoShape 55">
            <a:extLst>
              <a:ext uri="{FF2B5EF4-FFF2-40B4-BE49-F238E27FC236}">
                <a16:creationId xmlns:a16="http://schemas.microsoft.com/office/drawing/2014/main" id="{192872DD-0F6D-41C2-83BA-E80AF9901EF4}"/>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35" name="AutoShape 59">
            <a:extLst>
              <a:ext uri="{FF2B5EF4-FFF2-40B4-BE49-F238E27FC236}">
                <a16:creationId xmlns:a16="http://schemas.microsoft.com/office/drawing/2014/main" id="{89F6BFB0-96B2-4FA3-ABFE-85257141B92E}"/>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37" name="제목 1">
            <a:extLst>
              <a:ext uri="{FF2B5EF4-FFF2-40B4-BE49-F238E27FC236}">
                <a16:creationId xmlns:a16="http://schemas.microsoft.com/office/drawing/2014/main" id="{3E2CD205-658C-4605-9774-0129D43DEF0F}"/>
              </a:ext>
            </a:extLst>
          </p:cNvPr>
          <p:cNvSpPr txBox="1">
            <a:spLocks/>
          </p:cNvSpPr>
          <p:nvPr/>
        </p:nvSpPr>
        <p:spPr>
          <a:xfrm>
            <a:off x="110170" y="71674"/>
            <a:ext cx="47625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4.6 Conclusion</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38" name="TextBox 37">
            <a:extLst>
              <a:ext uri="{FF2B5EF4-FFF2-40B4-BE49-F238E27FC236}">
                <a16:creationId xmlns:a16="http://schemas.microsoft.com/office/drawing/2014/main" id="{FCB45B73-A320-43DB-85F3-C32E2B96BB81}"/>
              </a:ext>
            </a:extLst>
          </p:cNvPr>
          <p:cNvSpPr txBox="1"/>
          <p:nvPr/>
        </p:nvSpPr>
        <p:spPr>
          <a:xfrm>
            <a:off x="94266" y="836712"/>
            <a:ext cx="9717468" cy="1532727"/>
          </a:xfrm>
          <a:prstGeom prst="rect">
            <a:avLst/>
          </a:prstGeom>
          <a:noFill/>
        </p:spPr>
        <p:txBody>
          <a:bodyPr wrap="square" rtlCol="0">
            <a:spAutoFit/>
          </a:bodyPr>
          <a:lstStyle/>
          <a:p>
            <a:pPr marL="171450" indent="-171450" algn="just" eaLnBrk="1" latinLnBrk="0">
              <a:spcBef>
                <a:spcPct val="20000"/>
              </a:spcBef>
              <a:buFontTx/>
              <a:buChar char="-"/>
            </a:pPr>
            <a:r>
              <a:rPr sz="1000" b="0">
                <a:latin typeface="Arial"/>
              </a:rPr>
              <a:t>After evaluation, we confirmed that the measurement system at the Luminance station had significant problems during testing. We proved that camera angle misalignment was the root cause of the Luminance NG defect.</a:t>
            </a:r>
          </a:p>
          <a:p>
            <a:pPr algn="just" eaLnBrk="1" latinLnBrk="0">
              <a:spcBef>
                <a:spcPct val="20000"/>
              </a:spcBef>
            </a:pPr>
            <a:endParaRPr lang="en-US" altLang="ko-KR" sz="1200" dirty="0">
              <a:latin typeface="Arial" panose="020B0604020202020204" pitchFamily="34" charset="0"/>
              <a:cs typeface="Arial" panose="020B0604020202020204" pitchFamily="34" charset="0"/>
            </a:endParaRPr>
          </a:p>
          <a:p>
            <a:pPr marL="171450" indent="-171450" algn="just" eaLnBrk="1" latinLnBrk="0">
              <a:spcBef>
                <a:spcPct val="20000"/>
              </a:spcBef>
              <a:buFont typeface="Wingdings" panose="05000000000000000000" pitchFamily="2" charset="2"/>
              <a:buChar char="à"/>
            </a:pPr>
            <a:r>
              <a:rPr sz="1000" b="0">
                <a:latin typeface="Arial"/>
              </a:rPr>
              <a:t>We improved the measurement system by correcting the camera angle to 90.0°. We then verified stability and capability using Type 1 Study, Type 3 Gage R&amp;R, Xbar-R control chart, and Process Capability analysis at the Luminance station.</a:t>
            </a:r>
          </a:p>
          <a:p>
            <a:pPr algn="just" eaLnBrk="1" latinLnBrk="0">
              <a:spcBef>
                <a:spcPct val="20000"/>
              </a:spcBef>
            </a:pPr>
            <a:endParaRPr lang="en-US" altLang="ko-KR" sz="1200" dirty="0">
              <a:latin typeface="Arial" panose="020B0604020202020204" pitchFamily="34" charset="0"/>
              <a:cs typeface="Arial" panose="020B0604020202020204" pitchFamily="34" charset="0"/>
            </a:endParaRPr>
          </a:p>
          <a:p>
            <a:pPr marL="171450" indent="-171450" algn="just" eaLnBrk="1" latinLnBrk="0">
              <a:spcBef>
                <a:spcPct val="20000"/>
              </a:spcBef>
              <a:buFont typeface="Wingdings" panose="05000000000000000000" pitchFamily="2" charset="2"/>
              <a:buChar char="à"/>
            </a:pPr>
            <a:r>
              <a:rPr sz="1000" b="1">
                <a:latin typeface="Arial"/>
              </a:rPr>
              <a:t xml:space="preserve">The results demonstrate that the measurement system now achieves high repeatability and no significant bias (Type 1: Cg/Cgk ≥ 1.33; Type 3: %Study Var &lt; 10% and %Contribution &lt; 1%), and the process measured at the Luminance station shows excellent capability (Cpk = 2.39 &gt; 2.0). Result vs goal: Luminance defect rate 226,624 ppm → 0 ppm (0 NG / 420 units after improvement; 95% upper confidence bound ≈ 7,100 ppm, still &gt; 96% below the baseline).</a:t>
            </a:r>
          </a:p>
        </p:txBody>
      </p:sp>
      <p:sp>
        <p:nvSpPr>
          <p:cNvPr id="11" name="AutoShape 57">
            <a:extLst>
              <a:ext uri="{FF2B5EF4-FFF2-40B4-BE49-F238E27FC236}">
                <a16:creationId xmlns:a16="http://schemas.microsoft.com/office/drawing/2014/main" id="{48FAC05E-800B-4E1A-9771-36BFD9957914}"/>
              </a:ext>
            </a:extLst>
          </p:cNvPr>
          <p:cNvSpPr>
            <a:spLocks noChangeArrowheads="1"/>
          </p:cNvSpPr>
          <p:nvPr/>
        </p:nvSpPr>
        <p:spPr bwMode="auto">
          <a:xfrm>
            <a:off x="7727634" y="172287"/>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panose="020B0503020000020004" pitchFamily="50" charset="-127"/>
                <a:ea typeface="Arial" panose="020B0503020000020004" pitchFamily="50" charset="-127"/>
              </a:rPr>
              <a:t>Analyze</a:t>
            </a:r>
          </a:p>
        </p:txBody>
      </p:sp>
      <p:sp>
        <p:nvSpPr>
          <p:cNvPr id="12" name="AutoShape 58">
            <a:extLst>
              <a:ext uri="{FF2B5EF4-FFF2-40B4-BE49-F238E27FC236}">
                <a16:creationId xmlns:a16="http://schemas.microsoft.com/office/drawing/2014/main" id="{39ACC0DB-2BA4-4515-9475-B37010C8E563}"/>
              </a:ext>
            </a:extLst>
          </p:cNvPr>
          <p:cNvSpPr>
            <a:spLocks noChangeArrowheads="1"/>
          </p:cNvSpPr>
          <p:nvPr/>
        </p:nvSpPr>
        <p:spPr bwMode="auto">
          <a:xfrm>
            <a:off x="7056121" y="172287"/>
            <a:ext cx="747713"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panose="020B0503020000020004" pitchFamily="50" charset="-127"/>
                <a:ea typeface="Arial" panose="020B0503020000020004" pitchFamily="50" charset="-127"/>
              </a:rPr>
              <a:t>Measure </a:t>
            </a:r>
          </a:p>
        </p:txBody>
      </p:sp>
      <p:sp>
        <p:nvSpPr>
          <p:cNvPr id="13" name="AutoShape 56">
            <a:extLst>
              <a:ext uri="{FF2B5EF4-FFF2-40B4-BE49-F238E27FC236}">
                <a16:creationId xmlns:a16="http://schemas.microsoft.com/office/drawing/2014/main" id="{841C5A25-FB18-4642-856C-7D543A29395F}"/>
              </a:ext>
            </a:extLst>
          </p:cNvPr>
          <p:cNvSpPr>
            <a:spLocks noChangeArrowheads="1"/>
          </p:cNvSpPr>
          <p:nvPr/>
        </p:nvSpPr>
        <p:spPr bwMode="auto">
          <a:xfrm>
            <a:off x="8419784" y="46875"/>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panose="020B0503020000020004" pitchFamily="50" charset="-127"/>
                <a:ea typeface="Arial" panose="020B0503020000020004" pitchFamily="50" charset="-127"/>
              </a:rPr>
              <a:t>Improve</a:t>
            </a:r>
          </a:p>
        </p:txBody>
      </p:sp>
    </p:spTree>
    <p:extLst>
      <p:ext uri="{BB962C8B-B14F-4D97-AF65-F5344CB8AC3E}">
        <p14:creationId xmlns:p14="http://schemas.microsoft.com/office/powerpoint/2010/main" val="41199980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7095669-0061-481C-8A59-6F10B434F1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4">
            <a:extLst>
              <a:ext uri="{FF2B5EF4-FFF2-40B4-BE49-F238E27FC236}">
                <a16:creationId xmlns:a16="http://schemas.microsoft.com/office/drawing/2014/main" id="{7C0924D8-04C2-4968-8836-DD278588C16B}"/>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29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9" name="AutoShape 57">
            <a:extLst>
              <a:ext uri="{FF2B5EF4-FFF2-40B4-BE49-F238E27FC236}">
                <a16:creationId xmlns:a16="http://schemas.microsoft.com/office/drawing/2014/main" id="{F7C0E09A-DB4D-43E6-B3CE-37B23F71A907}"/>
              </a:ext>
            </a:extLst>
          </p:cNvPr>
          <p:cNvSpPr>
            <a:spLocks noChangeArrowheads="1"/>
          </p:cNvSpPr>
          <p:nvPr/>
        </p:nvSpPr>
        <p:spPr bwMode="auto">
          <a:xfrm>
            <a:off x="7701606" y="173344"/>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Analyze</a:t>
            </a:r>
          </a:p>
        </p:txBody>
      </p:sp>
      <p:sp>
        <p:nvSpPr>
          <p:cNvPr id="20" name="AutoShape 58">
            <a:extLst>
              <a:ext uri="{FF2B5EF4-FFF2-40B4-BE49-F238E27FC236}">
                <a16:creationId xmlns:a16="http://schemas.microsoft.com/office/drawing/2014/main" id="{1CB20489-F538-4606-ADFB-86DC16482793}"/>
              </a:ext>
            </a:extLst>
          </p:cNvPr>
          <p:cNvSpPr>
            <a:spLocks noChangeArrowheads="1"/>
          </p:cNvSpPr>
          <p:nvPr/>
        </p:nvSpPr>
        <p:spPr bwMode="auto">
          <a:xfrm>
            <a:off x="7030094" y="173344"/>
            <a:ext cx="747712"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Measure </a:t>
            </a:r>
          </a:p>
        </p:txBody>
      </p:sp>
      <p:sp>
        <p:nvSpPr>
          <p:cNvPr id="21" name="AutoShape 59">
            <a:extLst>
              <a:ext uri="{FF2B5EF4-FFF2-40B4-BE49-F238E27FC236}">
                <a16:creationId xmlns:a16="http://schemas.microsoft.com/office/drawing/2014/main" id="{34CE5EF4-26DB-49D7-BEFE-A27DCC6983E7}"/>
              </a:ext>
            </a:extLst>
          </p:cNvPr>
          <p:cNvSpPr>
            <a:spLocks noChangeArrowheads="1"/>
          </p:cNvSpPr>
          <p:nvPr/>
        </p:nvSpPr>
        <p:spPr bwMode="auto">
          <a:xfrm>
            <a:off x="6333181" y="173344"/>
            <a:ext cx="757238"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Define</a:t>
            </a:r>
          </a:p>
        </p:txBody>
      </p:sp>
      <p:sp>
        <p:nvSpPr>
          <p:cNvPr id="22" name="AutoShape 56">
            <a:extLst>
              <a:ext uri="{FF2B5EF4-FFF2-40B4-BE49-F238E27FC236}">
                <a16:creationId xmlns:a16="http://schemas.microsoft.com/office/drawing/2014/main" id="{25B21E42-9EA3-4D7E-8A2E-55F983581A16}"/>
              </a:ext>
            </a:extLst>
          </p:cNvPr>
          <p:cNvSpPr>
            <a:spLocks noChangeArrowheads="1"/>
          </p:cNvSpPr>
          <p:nvPr/>
        </p:nvSpPr>
        <p:spPr bwMode="auto">
          <a:xfrm>
            <a:off x="8393756" y="173344"/>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23" name="AutoShape 55">
            <a:extLst>
              <a:ext uri="{FF2B5EF4-FFF2-40B4-BE49-F238E27FC236}">
                <a16:creationId xmlns:a16="http://schemas.microsoft.com/office/drawing/2014/main" id="{D709B8E8-5B31-4366-ACEB-109393355B82}"/>
              </a:ext>
            </a:extLst>
          </p:cNvPr>
          <p:cNvSpPr>
            <a:spLocks noChangeArrowheads="1"/>
          </p:cNvSpPr>
          <p:nvPr/>
        </p:nvSpPr>
        <p:spPr bwMode="auto">
          <a:xfrm>
            <a:off x="9082731" y="57457"/>
            <a:ext cx="747713"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Control</a:t>
            </a:r>
          </a:p>
        </p:txBody>
      </p:sp>
      <p:sp>
        <p:nvSpPr>
          <p:cNvPr id="9" name="TextBox 8">
            <a:extLst>
              <a:ext uri="{FF2B5EF4-FFF2-40B4-BE49-F238E27FC236}">
                <a16:creationId xmlns:a16="http://schemas.microsoft.com/office/drawing/2014/main" id="{B93B0FBA-9900-427C-A2C3-53ABF38E2FB5}"/>
              </a:ext>
            </a:extLst>
          </p:cNvPr>
          <p:cNvSpPr txBox="1"/>
          <p:nvPr/>
        </p:nvSpPr>
        <p:spPr>
          <a:xfrm>
            <a:off x="70509" y="117554"/>
            <a:ext cx="6096000" cy="338554"/>
          </a:xfrm>
          <a:prstGeom prst="rect">
            <a:avLst/>
          </a:prstGeom>
          <a:noFill/>
        </p:spPr>
        <p:txBody>
          <a:bodyPr wrap="square" rtlCol="0">
            <a:spAutoFit/>
          </a:bodyPr>
          <a:lstStyle/>
          <a:p>
            <a:pPr eaLnBrk="1" latinLnBrk="0"/>
            <a:r>
              <a:rPr lang="en-US" altLang="ko-KR" sz="1600" b="1" dirty="0">
                <a:latin typeface="Arial" panose="020B0606020202030204" pitchFamily="34" charset="0"/>
                <a:ea typeface="LG Smart_H Regular" pitchFamily="34" charset="-127"/>
              </a:rPr>
              <a:t>5.3 Result of project</a:t>
            </a:r>
            <a:endParaRPr lang="vi-VN" altLang="ko-KR" sz="1600" b="1" dirty="0">
              <a:ea typeface="LG Smart_H Regular" pitchFamily="34" charset="-127"/>
            </a:endParaRPr>
          </a:p>
        </p:txBody>
      </p:sp>
      <p:sp>
        <p:nvSpPr>
          <p:cNvPr id="13" name="TextBox 12">
            <a:extLst>
              <a:ext uri="{FF2B5EF4-FFF2-40B4-BE49-F238E27FC236}">
                <a16:creationId xmlns:a16="http://schemas.microsoft.com/office/drawing/2014/main" id="{F2D63CB9-F03A-4B55-82AC-AAB2E2DAE0B5}"/>
              </a:ext>
            </a:extLst>
          </p:cNvPr>
          <p:cNvSpPr txBox="1"/>
          <p:nvPr/>
        </p:nvSpPr>
        <p:spPr>
          <a:xfrm>
            <a:off x="70509" y="651485"/>
            <a:ext cx="5838825"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4020202020204" pitchFamily="34" charset="0"/>
                <a:ea typeface="Arial Unicode MS" panose="020B0604020202020204" pitchFamily="34" charset="-128"/>
                <a:cs typeface="Arial" panose="020B0604020202020204" pitchFamily="34" charset="0"/>
              </a:rPr>
              <a:t>Summary: Luminance defect rate of J1 Dual model before / after improvement</a:t>
            </a:r>
          </a:p>
        </p:txBody>
      </p:sp>
      <p:graphicFrame>
        <p:nvGraphicFramePr>
          <p:cNvPr id="3" name="Table 2">
            <a:extLst>
              <a:ext uri="{FF2B5EF4-FFF2-40B4-BE49-F238E27FC236}">
                <a16:creationId xmlns:a16="http://schemas.microsoft.com/office/drawing/2014/main" id="{8BD0EBF9-1057-4CB9-9589-B88CACBE8668}"/>
              </a:ext>
            </a:extLst>
          </p:cNvPr>
          <p:cNvGraphicFramePr>
            <a:graphicFrameLocks noGrp="1"/>
          </p:cNvGraphicFramePr>
          <p:nvPr>
            <p:extLst>
              <p:ext uri="{D42A27DB-BD31-4B8C-83A1-F6EECF244321}">
                <p14:modId xmlns:p14="http://schemas.microsoft.com/office/powerpoint/2010/main" val="3828555247"/>
              </p:ext>
            </p:extLst>
          </p:nvPr>
        </p:nvGraphicFramePr>
        <p:xfrm>
          <a:off x="1219199" y="5271354"/>
          <a:ext cx="6629401" cy="952500"/>
        </p:xfrm>
        <a:graphic>
          <a:graphicData uri="http://schemas.openxmlformats.org/drawingml/2006/table">
            <a:tbl>
              <a:tblPr/>
              <a:tblGrid>
                <a:gridCol w="1132469">
                  <a:extLst>
                    <a:ext uri="{9D8B030D-6E8A-4147-A177-3AD203B41FA5}">
                      <a16:colId xmlns:a16="http://schemas.microsoft.com/office/drawing/2014/main" val="2004553203"/>
                    </a:ext>
                  </a:extLst>
                </a:gridCol>
                <a:gridCol w="782549">
                  <a:extLst>
                    <a:ext uri="{9D8B030D-6E8A-4147-A177-3AD203B41FA5}">
                      <a16:colId xmlns:a16="http://schemas.microsoft.com/office/drawing/2014/main" val="4232704115"/>
                    </a:ext>
                  </a:extLst>
                </a:gridCol>
                <a:gridCol w="801636">
                  <a:extLst>
                    <a:ext uri="{9D8B030D-6E8A-4147-A177-3AD203B41FA5}">
                      <a16:colId xmlns:a16="http://schemas.microsoft.com/office/drawing/2014/main" val="654927867"/>
                    </a:ext>
                  </a:extLst>
                </a:gridCol>
                <a:gridCol w="801636">
                  <a:extLst>
                    <a:ext uri="{9D8B030D-6E8A-4147-A177-3AD203B41FA5}">
                      <a16:colId xmlns:a16="http://schemas.microsoft.com/office/drawing/2014/main" val="3292068108"/>
                    </a:ext>
                  </a:extLst>
                </a:gridCol>
                <a:gridCol w="801636">
                  <a:extLst>
                    <a:ext uri="{9D8B030D-6E8A-4147-A177-3AD203B41FA5}">
                      <a16:colId xmlns:a16="http://schemas.microsoft.com/office/drawing/2014/main" val="741631198"/>
                    </a:ext>
                  </a:extLst>
                </a:gridCol>
                <a:gridCol w="763463">
                  <a:extLst>
                    <a:ext uri="{9D8B030D-6E8A-4147-A177-3AD203B41FA5}">
                      <a16:colId xmlns:a16="http://schemas.microsoft.com/office/drawing/2014/main" val="3339929106"/>
                    </a:ext>
                  </a:extLst>
                </a:gridCol>
                <a:gridCol w="782549">
                  <a:extLst>
                    <a:ext uri="{9D8B030D-6E8A-4147-A177-3AD203B41FA5}">
                      <a16:colId xmlns:a16="http://schemas.microsoft.com/office/drawing/2014/main" val="648464248"/>
                    </a:ext>
                  </a:extLst>
                </a:gridCol>
                <a:gridCol w="763463">
                  <a:extLst>
                    <a:ext uri="{9D8B030D-6E8A-4147-A177-3AD203B41FA5}">
                      <a16:colId xmlns:a16="http://schemas.microsoft.com/office/drawing/2014/main" val="4249366675"/>
                    </a:ext>
                  </a:extLst>
                </a:gridCol>
              </a:tblGrid>
              <a:tr h="190500">
                <a:tc>
                  <a:txBody>
                    <a:bodyPr/>
                    <a:lstStyle/>
                    <a:p>
                      <a:pPr algn="l" eaLnBrk="1" fontAlgn="b" latinLnBrk="0"/>
                      <a:endParaRPr lang="en-US" sz="1100" b="0" i="0" u="none" strike="noStrike">
                        <a:solidFill>
                          <a:srgbClr val="000000"/>
                        </a:solidFill>
                        <a:effectLst/>
                        <a:latin typeface="Calibri" panose="020F0502020204030204" pitchFamily="34" charset="0"/>
                      </a:endParaRP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gridSpan="4">
                  <a:txBody>
                    <a:bodyPr/>
                    <a:lstStyle/>
                    <a:p>
                      <a:pPr algn="ctr" eaLnBrk="1" fontAlgn="b" latinLnBrk="0"/>
                      <a:r>
                        <a:rPr lang="en-US" sz="1000" b="1" i="0" u="none" strike="noStrike">
                          <a:solidFill>
                            <a:srgbClr val="000000"/>
                          </a:solidFill>
                          <a:effectLst/>
                          <a:latin typeface="Arial" panose="020F0502020204030204" pitchFamily="34" charset="0"/>
                          <a:ea typeface="Arial"/>
                        </a:rPr>
                        <a:t>Before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eaLnBrk="1" latinLnBrk="0"/>
                      <a:endParaRPr lang="en-US"/>
                    </a:p>
                  </a:txBody>
                  <a:tcPr/>
                </a:tc>
                <a:tc hMerge="1">
                  <a:txBody>
                    <a:bodyPr/>
                    <a:lstStyle/>
                    <a:p>
                      <a:pPr eaLnBrk="1" latinLnBrk="0"/>
                      <a:endParaRPr lang="en-US"/>
                    </a:p>
                  </a:txBody>
                  <a:tcPr/>
                </a:tc>
                <a:tc hMerge="1">
                  <a:txBody>
                    <a:bodyPr/>
                    <a:lstStyle/>
                    <a:p>
                      <a:pPr eaLnBrk="1" latinLnBrk="0"/>
                      <a:endParaRPr lang="en-US"/>
                    </a:p>
                  </a:txBody>
                  <a:tcPr/>
                </a:tc>
                <a:tc gridSpan="3">
                  <a:txBody>
                    <a:bodyPr/>
                    <a:lstStyle/>
                    <a:p>
                      <a:pPr algn="ctr" eaLnBrk="1" fontAlgn="b" latinLnBrk="0"/>
                      <a:r>
                        <a:rPr lang="en-US" sz="1000" b="1" i="0" u="none" strike="noStrike" dirty="0">
                          <a:solidFill>
                            <a:srgbClr val="000000"/>
                          </a:solidFill>
                          <a:effectLst/>
                          <a:latin typeface="Arial" panose="020F0502020204030204" pitchFamily="34" charset="0"/>
                          <a:ea typeface="Arial"/>
                        </a:rPr>
                        <a:t>After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eaLnBrk="1" latinLnBrk="0"/>
                      <a:endParaRPr lang="en-US"/>
                    </a:p>
                  </a:txBody>
                  <a:tcPr/>
                </a:tc>
                <a:tc hMerge="1">
                  <a:txBody>
                    <a:bodyPr/>
                    <a:lstStyle/>
                    <a:p>
                      <a:pPr eaLnBrk="1" latinLnBrk="0"/>
                      <a:endParaRPr lang="en-US"/>
                    </a:p>
                  </a:txBody>
                  <a:tcPr/>
                </a:tc>
                <a:extLst>
                  <a:ext uri="{0D108BD9-81ED-4DB2-BD59-A6C34878D82A}">
                    <a16:rowId xmlns:a16="http://schemas.microsoft.com/office/drawing/2014/main" val="2478485715"/>
                  </a:ext>
                </a:extLst>
              </a:tr>
              <a:tr h="190500">
                <a:tc>
                  <a:txBody>
                    <a:bodyPr/>
                    <a:lstStyle/>
                    <a:p>
                      <a:pPr eaLnBrk="1" latinLnBrk="0"/>
                      <a:r>
                        <a:rPr sz="1000">
                          <a:latin typeface="Arial"/>
                        </a:rPr>
                        <a:t>Date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16.Nov.2025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2.Jan.2026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23.Feb.2026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1.Mar.2026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15.Jul.2026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21.Aug.2026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20.Sep.2026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extLst>
                  <a:ext uri="{0D108BD9-81ED-4DB2-BD59-A6C34878D82A}">
                    <a16:rowId xmlns:a16="http://schemas.microsoft.com/office/drawing/2014/main" val="2667689879"/>
                  </a:ext>
                </a:extLst>
              </a:tr>
              <a:tr h="190500">
                <a:tc>
                  <a:txBody>
                    <a:bodyPr/>
                    <a:lstStyle/>
                    <a:p>
                      <a:pPr algn="ctr" eaLnBrk="1" fontAlgn="ctr" latinLnBrk="0"/>
                      <a:r>
                        <a:rPr lang="en-US" sz="1000" b="0" i="0" u="none" strike="noStrike">
                          <a:solidFill>
                            <a:srgbClr val="000000"/>
                          </a:solidFill>
                          <a:effectLst/>
                          <a:latin typeface="Arial" panose="020F0502020204030204" pitchFamily="34" charset="0"/>
                          <a:ea typeface="Arial"/>
                        </a:rPr>
                        <a:t>Total 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1299594"/>
                  </a:ext>
                </a:extLst>
              </a:tr>
              <a:tr h="190500">
                <a:tc>
                  <a:txBody>
                    <a:bodyPr/>
                    <a:lstStyle/>
                    <a:p>
                      <a:pPr algn="ctr" eaLnBrk="1" fontAlgn="ctr" latinLnBrk="0"/>
                      <a:r>
                        <a:rPr lang="en-US" sz="1000" b="0" i="0" u="none" strike="noStrike">
                          <a:solidFill>
                            <a:srgbClr val="000000"/>
                          </a:solidFill>
                          <a:effectLst/>
                          <a:latin typeface="Arial" panose="020F0502020204030204" pitchFamily="34" charset="0"/>
                          <a:ea typeface="Arial"/>
                        </a:rPr>
                        <a:t>Prod Q'ty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9353430"/>
                  </a:ext>
                </a:extLst>
              </a:tr>
              <a:tr h="190500">
                <a:tc>
                  <a:txBody>
                    <a:bodyPr/>
                    <a:lstStyle/>
                    <a:p>
                      <a:pPr algn="ctr" eaLnBrk="1" fontAlgn="ctr" latinLnBrk="0"/>
                      <a:r>
                        <a:rPr lang="en-US" sz="1000" b="0" i="0" u="none" strike="noStrike">
                          <a:solidFill>
                            <a:srgbClr val="000000"/>
                          </a:solidFill>
                          <a:effectLst/>
                          <a:latin typeface="Arial" panose="020F0502020204030204" pitchFamily="34" charset="0"/>
                          <a:ea typeface="Arial"/>
                        </a:rPr>
                        <a:t>Defect rate (ppm)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65000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66666.67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383333.33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422535.21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024561"/>
                  </a:ext>
                </a:extLst>
              </a:tr>
            </a:tbl>
          </a:graphicData>
        </a:graphic>
      </p:graphicFrame>
      <p:graphicFrame>
        <p:nvGraphicFramePr>
          <p:cNvPr id="14" name="Chart 13">
            <a:extLst>
              <a:ext uri="{FF2B5EF4-FFF2-40B4-BE49-F238E27FC236}">
                <a16:creationId xmlns:a16="http://schemas.microsoft.com/office/drawing/2014/main" id="{50EEBF16-A037-4D15-A91C-137FDDA65F87}"/>
              </a:ext>
            </a:extLst>
          </p:cNvPr>
          <p:cNvGraphicFramePr>
            <a:graphicFrameLocks/>
          </p:cNvGraphicFramePr>
          <p:nvPr>
            <p:extLst>
              <p:ext uri="{D42A27DB-BD31-4B8C-83A1-F6EECF244321}">
                <p14:modId xmlns:p14="http://schemas.microsoft.com/office/powerpoint/2010/main" val="60871288"/>
              </p:ext>
            </p:extLst>
          </p:nvPr>
        </p:nvGraphicFramePr>
        <p:xfrm>
          <a:off x="1847713" y="1228913"/>
          <a:ext cx="5838825" cy="3705225"/>
        </p:xfrm>
        <a:graphic>
          <a:graphicData uri="http://schemas.openxmlformats.org/drawingml/2006/chart">
            <c:chart xmlns:c="http://schemas.openxmlformats.org/drawingml/2006/chart" xmlns:r="http://schemas.openxmlformats.org/officeDocument/2006/relationships" r:id="rId2"/>
          </a:graphicData>
        </a:graphic>
      </p:graphicFrame>
      <p:sp>
        <p:nvSpPr>
          <p:cNvPr id="24" name="Added text 24"/>
          <p:cNvSpPr txBox="1"/>
          <p:nvPr/>
        </p:nvSpPr>
        <p:spPr>
          <a:xfrm>
            <a:off x="1219200" y="6305550"/>
            <a:ext cx="6629400" cy="285750"/>
          </a:xfrm>
          <a:prstGeom prst="rect">
            <a:avLst/>
          </a:prstGeom>
          <a:noFill/>
        </p:spPr>
        <p:txBody>
          <a:bodyPr wrap="square" lIns="0" tIns="0" rIns="0" bIns="0" rtlCol="0">
            <a:noAutofit/>
          </a:bodyPr>
          <a:lstStyle/>
          <a:p>
            <a:r>
              <a:rPr lang="en-US" sz="900" b="0" dirty="0">
                <a:solidFill>
                  <a:srgbClr val="000000"/>
                </a:solidFill>
                <a:latin typeface="Arial"/>
                <a:cs typeface="Arial"/>
              </a:rPr>
              <a:t>After improvement: 0 NG / 420 sets → 95% upper confidence bound ≈ 7,100 ppm (3/420), still &gt; 96% below the 226,624 ppm baseline. Fisher's exact test, 143/631 before vs 0/420 after: p &lt; 0.001.</a:t>
            </a:r>
          </a:p>
        </p:txBody>
      </p:sp>
    </p:spTree>
    <p:extLst>
      <p:ext uri="{BB962C8B-B14F-4D97-AF65-F5344CB8AC3E}">
        <p14:creationId xmlns:p14="http://schemas.microsoft.com/office/powerpoint/2010/main" val="32233714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7095669-0061-481C-8A59-6F10B434F1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4">
            <a:extLst>
              <a:ext uri="{FF2B5EF4-FFF2-40B4-BE49-F238E27FC236}">
                <a16:creationId xmlns:a16="http://schemas.microsoft.com/office/drawing/2014/main" id="{7C0924D8-04C2-4968-8836-DD278588C16B}"/>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21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9" name="AutoShape 57"/>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0" name="AutoShape 58"/>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21" name="AutoShape 59"/>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2" name="AutoShape 56"/>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
        <p:nvSpPr>
          <p:cNvPr id="23" name="AutoShape 55"/>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9" name="TextBox 8">
            <a:extLst>
              <a:ext uri="{FF2B5EF4-FFF2-40B4-BE49-F238E27FC236}">
                <a16:creationId xmlns:a16="http://schemas.microsoft.com/office/drawing/2014/main" id="{B93B0FBA-9900-427C-A2C3-53ABF38E2FB5}"/>
              </a:ext>
            </a:extLst>
          </p:cNvPr>
          <p:cNvSpPr txBox="1"/>
          <p:nvPr/>
        </p:nvSpPr>
        <p:spPr>
          <a:xfrm>
            <a:off x="70509" y="117554"/>
            <a:ext cx="4762500" cy="338554"/>
          </a:xfrm>
          <a:prstGeom prst="rect">
            <a:avLst/>
          </a:prstGeom>
          <a:noFill/>
        </p:spPr>
        <p:txBody>
          <a:bodyPr wrap="square" rtlCol="0">
            <a:spAutoFit/>
          </a:bodyPr>
          <a:lstStyle/>
          <a:p>
            <a:pPr eaLnBrk="1" latinLnBrk="0"/>
            <a:r>
              <a:rPr lang="en-US" altLang="ko-KR" sz="1600" b="1" dirty="0">
                <a:latin typeface="Arial" panose="020B0606020202030204" pitchFamily="34" charset="0"/>
                <a:ea typeface="LG Smart_H Regular" pitchFamily="34" charset="-127"/>
              </a:rPr>
              <a:t>4. Improvement (long term)</a:t>
            </a:r>
            <a:endParaRPr lang="vi-VN" altLang="ko-KR" sz="1600" b="1" dirty="0">
              <a:ea typeface="LG Smart_H Regular" pitchFamily="34" charset="-127"/>
            </a:endParaRPr>
          </a:p>
        </p:txBody>
      </p:sp>
      <p:sp>
        <p:nvSpPr>
          <p:cNvPr id="13" name="TextBox 12">
            <a:extLst>
              <a:ext uri="{FF2B5EF4-FFF2-40B4-BE49-F238E27FC236}">
                <a16:creationId xmlns:a16="http://schemas.microsoft.com/office/drawing/2014/main" id="{F2D63CB9-F03A-4B55-82AC-AAB2E2DAE0B5}"/>
              </a:ext>
            </a:extLst>
          </p:cNvPr>
          <p:cNvSpPr txBox="1"/>
          <p:nvPr/>
        </p:nvSpPr>
        <p:spPr>
          <a:xfrm>
            <a:off x="70509" y="651485"/>
            <a:ext cx="7620000"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4020202020204" pitchFamily="34" charset="0"/>
                <a:ea typeface="Arial Unicode MS" panose="020B0604020202020204" pitchFamily="34" charset="-128"/>
                <a:cs typeface="Arial" panose="020B0604020202020204" pitchFamily="34" charset="0"/>
              </a:rPr>
              <a:t>4.3 Add Master sample check sheet to control the camera angle</a:t>
            </a:r>
          </a:p>
        </p:txBody>
      </p:sp>
      <p:sp>
        <p:nvSpPr>
          <p:cNvPr id="15" name="TextBox 14">
            <a:extLst>
              <a:ext uri="{FF2B5EF4-FFF2-40B4-BE49-F238E27FC236}">
                <a16:creationId xmlns:a16="http://schemas.microsoft.com/office/drawing/2014/main" id="{80938115-D6E4-4142-920C-CD47680F7AF5}"/>
              </a:ext>
            </a:extLst>
          </p:cNvPr>
          <p:cNvSpPr txBox="1"/>
          <p:nvPr/>
        </p:nvSpPr>
        <p:spPr>
          <a:xfrm>
            <a:off x="34159" y="5782179"/>
            <a:ext cx="8382000" cy="825320"/>
          </a:xfrm>
          <a:prstGeom prst="rect">
            <a:avLst/>
          </a:prstGeom>
          <a:noFill/>
        </p:spPr>
        <p:txBody>
          <a:bodyPr wrap="square" rtlCol="0">
            <a:noAutofit/>
          </a:bodyPr>
          <a:lstStyle/>
          <a:p>
            <a:pPr algn="just" eaLnBrk="1" latinLnBrk="0">
              <a:spcBef>
                <a:spcPct val="20000"/>
              </a:spcBef>
            </a:pPr>
            <a:r>
              <a:rPr sz="1000" b="0">
                <a:latin typeface="Arial"/>
              </a:rPr>
              <a:t>A daily check sheet is established to monitor equipment status using a Master sample. Because the J1 Dual model features dual displays requiring camera movement, camera angle status must be verified during pre-production setup to prevent angle deviation.</a:t>
            </a:r>
          </a:p>
          <a:p>
            <a:pPr algn="just" eaLnBrk="1" latinLnBrk="0">
              <a:spcBef>
                <a:spcPct val="20000"/>
              </a:spcBef>
            </a:pPr>
            <a:endParaRPr sz="1100" b="0">
              <a:latin typeface="Arial"/>
            </a:endParaRPr>
          </a:p>
          <a:p>
            <a:pPr algn="just" eaLnBrk="1" latinLnBrk="0">
              <a:spcBef>
                <a:spcPct val="20000"/>
              </a:spcBef>
            </a:pPr>
            <a:endParaRPr sz="1100" b="0">
              <a:latin typeface="Arial"/>
            </a:endParaRPr>
          </a:p>
        </p:txBody>
      </p:sp>
      <p:sp>
        <p:nvSpPr>
          <p:cNvPr id="18" name="TextBox 17">
            <a:extLst>
              <a:ext uri="{FF2B5EF4-FFF2-40B4-BE49-F238E27FC236}">
                <a16:creationId xmlns:a16="http://schemas.microsoft.com/office/drawing/2014/main" id="{9E3F5A17-8E19-4E92-AFD5-3A6969AF5F7F}"/>
              </a:ext>
            </a:extLst>
          </p:cNvPr>
          <p:cNvSpPr txBox="1"/>
          <p:nvPr/>
        </p:nvSpPr>
        <p:spPr>
          <a:xfrm>
            <a:off x="123613" y="982704"/>
            <a:ext cx="9525000" cy="538609"/>
          </a:xfrm>
          <a:prstGeom prst="rect">
            <a:avLst/>
          </a:prstGeom>
          <a:noFill/>
        </p:spPr>
        <p:txBody>
          <a:bodyPr wrap="square" rtlCol="0">
            <a:spAutoFit/>
          </a:bodyPr>
          <a:lstStyle/>
          <a:p>
            <a:pPr eaLnBrk="1" latinLnBrk="0">
              <a:spcBef>
                <a:spcPts val="600"/>
              </a:spcBef>
            </a:pPr>
            <a:r>
              <a:rPr lang="vi-VN" sz="1000" dirty="0">
                <a:latin typeface="Arial" panose="020B0604020202020204" pitchFamily="34" charset="0"/>
                <a:ea typeface="Arial Unicode MS" panose="020B0604020202020204" pitchFamily="34" charset="-128"/>
                <a:cs typeface="Arial" panose="020B0604020202020204" pitchFamily="34" charset="0"/>
              </a:rPr>
              <a:t>Before: no daily check of the camera angle, so an angle drift is not detected until NG sets appear.</a:t>
            </a:r>
          </a:p>
          <a:p>
            <a:pPr eaLnBrk="1" latinLnBrk="0">
              <a:spcBef>
                <a:spcPts val="600"/>
              </a:spcBef>
            </a:pPr>
            <a:r>
              <a:rPr lang="vi-VN" sz="1000" dirty="0">
                <a:latin typeface="Arial" panose="020B0604020202020204" pitchFamily="34" charset="0"/>
                <a:ea typeface="Arial Unicode MS" panose="020B0604020202020204" pitchFamily="34" charset="-128"/>
                <a:cs typeface="Arial" panose="020B0604020202020204" pitchFamily="34" charset="0"/>
              </a:rPr>
              <a:t>After: a daily check sheet with the Master sample (reference 910 Cd/m²) at shift start to verify the camera angle.</a:t>
            </a:r>
          </a:p>
          <a:p>
            <a:pPr eaLnBrk="1" latinLnBrk="0">
              <a:spcBef>
                <a:spcPts val="600"/>
              </a:spcBef>
            </a:pPr>
            <a:r>
              <a:rPr lang="en-US" sz="1000" dirty="0">
                <a:latin typeface="Arial" panose="020B0600000101010101" pitchFamily="34" charset="-127"/>
                <a:ea typeface="Arial" panose="020B0600000101010101" pitchFamily="34" charset="-127"/>
              </a:rPr>
              <a:t> </a:t>
            </a:r>
          </a:p>
        </p:txBody>
      </p:sp>
      <p:graphicFrame>
        <p:nvGraphicFramePr>
          <p:cNvPr id="4" name="Object 3">
            <a:extLst>
              <a:ext uri="{FF2B5EF4-FFF2-40B4-BE49-F238E27FC236}">
                <a16:creationId xmlns:a16="http://schemas.microsoft.com/office/drawing/2014/main" id="{F707B042-44B2-4C31-B6D1-DF9E136E9F5F}"/>
              </a:ext>
            </a:extLst>
          </p:cNvPr>
          <p:cNvGraphicFramePr>
            <a:graphicFrameLocks noChangeAspect="1"/>
          </p:cNvGraphicFramePr>
          <p:nvPr>
            <p:extLst>
              <p:ext uri="{D42A27DB-BD31-4B8C-83A1-F6EECF244321}">
                <p14:modId xmlns:p14="http://schemas.microsoft.com/office/powerpoint/2010/main" val="1464855402"/>
              </p:ext>
            </p:extLst>
          </p:nvPr>
        </p:nvGraphicFramePr>
        <p:xfrm>
          <a:off x="8542187" y="5277591"/>
          <a:ext cx="914400" cy="771525"/>
        </p:xfrm>
        <a:graphic>
          <a:graphicData uri="http://schemas.openxmlformats.org/presentationml/2006/ole">
            <mc:AlternateContent xmlns:mc="http://schemas.openxmlformats.org/markup-compatibility/2006">
              <mc:Choice xmlns:v="urn:schemas-microsoft-com:vml" Requires="v">
                <p:oleObj name="Worksheet" showAsIcon="1" r:id="rId2" imgW="914400" imgH="771792" progId="Excel.Sheet.12">
                  <p:embed/>
                </p:oleObj>
              </mc:Choice>
              <mc:Fallback>
                <p:oleObj name="Worksheet" showAsIcon="1" r:id="rId2" imgW="914400" imgH="771792" progId="Excel.Sheet.12">
                  <p:embed/>
                  <p:pic>
                    <p:nvPicPr>
                      <p:cNvPr id="0" name=""/>
                      <p:cNvPicPr/>
                      <p:nvPr/>
                    </p:nvPicPr>
                    <p:blipFill>
                      <a:blip r:embed="rId3"/>
                      <a:stretch>
                        <a:fillRect/>
                      </a:stretch>
                    </p:blipFill>
                    <p:spPr>
                      <a:xfrm>
                        <a:off x="8542187" y="5277591"/>
                        <a:ext cx="914400" cy="771525"/>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E3A1F7D6-78B6-4903-8B08-17F7BF22736E}"/>
              </a:ext>
            </a:extLst>
          </p:cNvPr>
          <p:cNvPicPr>
            <a:picLocks noChangeAspect="1"/>
          </p:cNvPicPr>
          <p:nvPr/>
        </p:nvPicPr>
        <p:blipFill>
          <a:blip r:embed="rId4"/>
          <a:stretch>
            <a:fillRect/>
          </a:stretch>
        </p:blipFill>
        <p:spPr>
          <a:xfrm>
            <a:off x="256441" y="1482932"/>
            <a:ext cx="4477700" cy="3354765"/>
          </a:xfrm>
          <a:prstGeom prst="rect">
            <a:avLst/>
          </a:prstGeom>
        </p:spPr>
      </p:pic>
      <p:sp>
        <p:nvSpPr>
          <p:cNvPr id="10" name="TextBox 9">
            <a:extLst>
              <a:ext uri="{FF2B5EF4-FFF2-40B4-BE49-F238E27FC236}">
                <a16:creationId xmlns:a16="http://schemas.microsoft.com/office/drawing/2014/main" id="{1FCA5DC4-72B4-4AE7-850D-6E6718474DCD}"/>
              </a:ext>
            </a:extLst>
          </p:cNvPr>
          <p:cNvSpPr txBox="1"/>
          <p:nvPr/>
        </p:nvSpPr>
        <p:spPr>
          <a:xfrm>
            <a:off x="1004337" y="4922426"/>
            <a:ext cx="2981907" cy="276999"/>
          </a:xfrm>
          <a:prstGeom prst="rect">
            <a:avLst/>
          </a:prstGeom>
          <a:noFill/>
        </p:spPr>
        <p:txBody>
          <a:bodyPr wrap="none" rtlCol="0">
            <a:spAutoFit/>
          </a:bodyPr>
          <a:lstStyle/>
          <a:p>
            <a:pPr algn="just" eaLnBrk="1" latinLnBrk="0">
              <a:spcBef>
                <a:spcPct val="20000"/>
              </a:spcBef>
            </a:pPr>
            <a:r>
              <a:rPr lang="en-US" sz="1000" dirty="0">
                <a:latin typeface="Arial" panose="020B0604020202020204" pitchFamily="34" charset="0"/>
                <a:cs typeface="Arial" panose="020B0604020202020204" pitchFamily="34" charset="0"/>
              </a:rPr>
              <a:t>Actual DID check sheet in production line</a:t>
            </a:r>
          </a:p>
        </p:txBody>
      </p:sp>
      <p:pic>
        <p:nvPicPr>
          <p:cNvPr id="11" name="Picture 10">
            <a:extLst>
              <a:ext uri="{FF2B5EF4-FFF2-40B4-BE49-F238E27FC236}">
                <a16:creationId xmlns:a16="http://schemas.microsoft.com/office/drawing/2014/main" id="{E3F08EC4-155B-456F-B519-D2C962C8D150}"/>
              </a:ext>
            </a:extLst>
          </p:cNvPr>
          <p:cNvPicPr>
            <a:picLocks noChangeAspect="1"/>
          </p:cNvPicPr>
          <p:nvPr/>
        </p:nvPicPr>
        <p:blipFill rotWithShape="1">
          <a:blip r:embed="rId5"/>
          <a:srcRect b="5200"/>
          <a:stretch/>
        </p:blipFill>
        <p:spPr>
          <a:xfrm>
            <a:off x="4861689" y="1482932"/>
            <a:ext cx="4848959" cy="2992582"/>
          </a:xfrm>
          <a:prstGeom prst="rect">
            <a:avLst/>
          </a:prstGeom>
        </p:spPr>
      </p:pic>
      <p:sp>
        <p:nvSpPr>
          <p:cNvPr id="24" name="TextBox 23">
            <a:extLst>
              <a:ext uri="{FF2B5EF4-FFF2-40B4-BE49-F238E27FC236}">
                <a16:creationId xmlns:a16="http://schemas.microsoft.com/office/drawing/2014/main" id="{51591882-9305-4E72-8150-888EA1F3C22B}"/>
              </a:ext>
            </a:extLst>
          </p:cNvPr>
          <p:cNvSpPr txBox="1"/>
          <p:nvPr/>
        </p:nvSpPr>
        <p:spPr>
          <a:xfrm>
            <a:off x="6460326" y="4944935"/>
            <a:ext cx="1790875" cy="276999"/>
          </a:xfrm>
          <a:prstGeom prst="rect">
            <a:avLst/>
          </a:prstGeom>
          <a:noFill/>
        </p:spPr>
        <p:txBody>
          <a:bodyPr wrap="none" rtlCol="0">
            <a:spAutoFit/>
          </a:bodyPr>
          <a:lstStyle/>
          <a:p>
            <a:pPr algn="just" eaLnBrk="1" latinLnBrk="0">
              <a:spcBef>
                <a:spcPct val="20000"/>
              </a:spcBef>
            </a:pPr>
            <a:r>
              <a:rPr lang="en-US" sz="1000" dirty="0">
                <a:latin typeface="Arial" panose="020B0604020202020204" pitchFamily="34" charset="0"/>
                <a:cs typeface="Arial" panose="020B0604020202020204" pitchFamily="34" charset="0"/>
              </a:rPr>
              <a:t>DID check sheet format</a:t>
            </a:r>
          </a:p>
        </p:txBody>
      </p:sp>
    </p:spTree>
    <p:extLst>
      <p:ext uri="{BB962C8B-B14F-4D97-AF65-F5344CB8AC3E}">
        <p14:creationId xmlns:p14="http://schemas.microsoft.com/office/powerpoint/2010/main" val="36379314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7095669-0061-481C-8A59-6F10B434F1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4">
            <a:extLst>
              <a:ext uri="{FF2B5EF4-FFF2-40B4-BE49-F238E27FC236}">
                <a16:creationId xmlns:a16="http://schemas.microsoft.com/office/drawing/2014/main" id="{7C0924D8-04C2-4968-8836-DD278588C16B}"/>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28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9" name="AutoShape 57">
            <a:extLst>
              <a:ext uri="{FF2B5EF4-FFF2-40B4-BE49-F238E27FC236}">
                <a16:creationId xmlns:a16="http://schemas.microsoft.com/office/drawing/2014/main" id="{F7C0E09A-DB4D-43E6-B3CE-37B23F71A907}"/>
              </a:ext>
            </a:extLst>
          </p:cNvPr>
          <p:cNvSpPr>
            <a:spLocks noChangeArrowheads="1"/>
          </p:cNvSpPr>
          <p:nvPr/>
        </p:nvSpPr>
        <p:spPr bwMode="auto">
          <a:xfrm>
            <a:off x="7701606" y="173344"/>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Analyze</a:t>
            </a:r>
          </a:p>
        </p:txBody>
      </p:sp>
      <p:sp>
        <p:nvSpPr>
          <p:cNvPr id="20" name="AutoShape 58">
            <a:extLst>
              <a:ext uri="{FF2B5EF4-FFF2-40B4-BE49-F238E27FC236}">
                <a16:creationId xmlns:a16="http://schemas.microsoft.com/office/drawing/2014/main" id="{1CB20489-F538-4606-ADFB-86DC16482793}"/>
              </a:ext>
            </a:extLst>
          </p:cNvPr>
          <p:cNvSpPr>
            <a:spLocks noChangeArrowheads="1"/>
          </p:cNvSpPr>
          <p:nvPr/>
        </p:nvSpPr>
        <p:spPr bwMode="auto">
          <a:xfrm>
            <a:off x="7030094" y="173344"/>
            <a:ext cx="747712"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Measure </a:t>
            </a:r>
          </a:p>
        </p:txBody>
      </p:sp>
      <p:sp>
        <p:nvSpPr>
          <p:cNvPr id="21" name="AutoShape 59">
            <a:extLst>
              <a:ext uri="{FF2B5EF4-FFF2-40B4-BE49-F238E27FC236}">
                <a16:creationId xmlns:a16="http://schemas.microsoft.com/office/drawing/2014/main" id="{34CE5EF4-26DB-49D7-BEFE-A27DCC6983E7}"/>
              </a:ext>
            </a:extLst>
          </p:cNvPr>
          <p:cNvSpPr>
            <a:spLocks noChangeArrowheads="1"/>
          </p:cNvSpPr>
          <p:nvPr/>
        </p:nvSpPr>
        <p:spPr bwMode="auto">
          <a:xfrm>
            <a:off x="6333181" y="173344"/>
            <a:ext cx="757238"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Define</a:t>
            </a:r>
          </a:p>
        </p:txBody>
      </p:sp>
      <p:sp>
        <p:nvSpPr>
          <p:cNvPr id="22" name="AutoShape 56">
            <a:extLst>
              <a:ext uri="{FF2B5EF4-FFF2-40B4-BE49-F238E27FC236}">
                <a16:creationId xmlns:a16="http://schemas.microsoft.com/office/drawing/2014/main" id="{25B21E42-9EA3-4D7E-8A2E-55F983581A16}"/>
              </a:ext>
            </a:extLst>
          </p:cNvPr>
          <p:cNvSpPr>
            <a:spLocks noChangeArrowheads="1"/>
          </p:cNvSpPr>
          <p:nvPr/>
        </p:nvSpPr>
        <p:spPr bwMode="auto">
          <a:xfrm>
            <a:off x="8393756" y="173344"/>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23" name="AutoShape 55">
            <a:extLst>
              <a:ext uri="{FF2B5EF4-FFF2-40B4-BE49-F238E27FC236}">
                <a16:creationId xmlns:a16="http://schemas.microsoft.com/office/drawing/2014/main" id="{D709B8E8-5B31-4366-ACEB-109393355B82}"/>
              </a:ext>
            </a:extLst>
          </p:cNvPr>
          <p:cNvSpPr>
            <a:spLocks noChangeArrowheads="1"/>
          </p:cNvSpPr>
          <p:nvPr/>
        </p:nvSpPr>
        <p:spPr bwMode="auto">
          <a:xfrm>
            <a:off x="9082731" y="57457"/>
            <a:ext cx="747713"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Control</a:t>
            </a:r>
          </a:p>
        </p:txBody>
      </p:sp>
      <p:sp>
        <p:nvSpPr>
          <p:cNvPr id="9" name="TextBox 8">
            <a:extLst>
              <a:ext uri="{FF2B5EF4-FFF2-40B4-BE49-F238E27FC236}">
                <a16:creationId xmlns:a16="http://schemas.microsoft.com/office/drawing/2014/main" id="{B93B0FBA-9900-427C-A2C3-53ABF38E2FB5}"/>
              </a:ext>
            </a:extLst>
          </p:cNvPr>
          <p:cNvSpPr txBox="1"/>
          <p:nvPr/>
        </p:nvSpPr>
        <p:spPr>
          <a:xfrm>
            <a:off x="70509" y="117554"/>
            <a:ext cx="6096000" cy="338554"/>
          </a:xfrm>
          <a:prstGeom prst="rect">
            <a:avLst/>
          </a:prstGeom>
          <a:noFill/>
        </p:spPr>
        <p:txBody>
          <a:bodyPr wrap="square" rtlCol="0">
            <a:spAutoFit/>
          </a:bodyPr>
          <a:lstStyle/>
          <a:p>
            <a:pPr eaLnBrk="1" latinLnBrk="0"/>
            <a:r>
              <a:rPr lang="en-US" altLang="ko-KR" sz="1600" b="1" dirty="0">
                <a:latin typeface="Arial" panose="020B0606020202030204" pitchFamily="34" charset="0"/>
                <a:ea typeface="LG Smart_H Regular" pitchFamily="34" charset="-127"/>
              </a:rPr>
              <a:t>5.2 Future plan (Management plan)</a:t>
            </a:r>
            <a:endParaRPr lang="vi-VN" altLang="ko-KR" sz="1600" b="1" dirty="0">
              <a:ea typeface="LG Smart_H Regular" pitchFamily="34" charset="-127"/>
            </a:endParaRPr>
          </a:p>
        </p:txBody>
      </p:sp>
      <p:sp>
        <p:nvSpPr>
          <p:cNvPr id="13" name="TextBox 12">
            <a:extLst>
              <a:ext uri="{FF2B5EF4-FFF2-40B4-BE49-F238E27FC236}">
                <a16:creationId xmlns:a16="http://schemas.microsoft.com/office/drawing/2014/main" id="{F2D63CB9-F03A-4B55-82AC-AAB2E2DAE0B5}"/>
              </a:ext>
            </a:extLst>
          </p:cNvPr>
          <p:cNvSpPr txBox="1"/>
          <p:nvPr/>
        </p:nvSpPr>
        <p:spPr>
          <a:xfrm>
            <a:off x="70509" y="651485"/>
            <a:ext cx="5263491"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4020202020204" pitchFamily="34" charset="0"/>
                <a:ea typeface="Arial Unicode MS" panose="020B0604020202020204" pitchFamily="34" charset="-128"/>
                <a:cs typeface="Arial" panose="020B0604020202020204" pitchFamily="34" charset="0"/>
              </a:rPr>
              <a:t>Management plan</a:t>
            </a:r>
          </a:p>
        </p:txBody>
      </p:sp>
      <p:sp>
        <p:nvSpPr>
          <p:cNvPr id="5" name="Rectangle 4">
            <a:extLst>
              <a:ext uri="{FF2B5EF4-FFF2-40B4-BE49-F238E27FC236}">
                <a16:creationId xmlns:a16="http://schemas.microsoft.com/office/drawing/2014/main" id="{F5FE59E6-9BB3-42ED-8FCB-1F488C986E37}"/>
              </a:ext>
            </a:extLst>
          </p:cNvPr>
          <p:cNvSpPr/>
          <p:nvPr/>
        </p:nvSpPr>
        <p:spPr>
          <a:xfrm>
            <a:off x="102040" y="1124809"/>
            <a:ext cx="9380293" cy="1384995"/>
          </a:xfrm>
          <a:prstGeom prst="rect">
            <a:avLst/>
          </a:prstGeom>
        </p:spPr>
        <p:txBody>
          <a:bodyPr wrap="square">
            <a:spAutoFit/>
          </a:bodyPr>
          <a:lstStyle/>
          <a:p>
            <a:pPr eaLnBrk="1" latinLnBrk="0"/>
            <a:r>
              <a:rPr sz="1000" b="0">
                <a:latin typeface="Arial"/>
              </a:rPr>
              <a:t>Master Sample Management Procedure:</a:t>
            </a:r>
            <a:br/>
            <a:r>
              <a:rPr sz="1000" b="0">
                <a:latin typeface="Arial"/>
              </a:rPr>
              <a:t xml:space="preserve">• Inspection Timing: Daily at shift start (08:00~10:00 for day shift, 20:00~22:00 for night shift).</a:t>
            </a:r>
            <a:br/>
            <a:r>
              <a:rPr sz="1000" b="0">
                <a:latin typeface="Arial"/>
              </a:rPr>
              <a:t>• Responsible: PM Technician &amp; Line Leader.</a:t>
            </a:r>
            <a:br/>
            <a:r>
              <a:rPr sz="1000" b="0">
                <a:latin typeface="Arial"/>
              </a:rPr>
              <a:t>• Procedure:</a:t>
            </a:r>
            <a:br/>
            <a:r>
              <a:rPr sz="1000" b="0">
                <a:latin typeface="Arial"/>
              </a:rPr>
              <a:t xml:space="preserve">  1. Test the Master Sample (reference 910 Cd/m²) at the Luminance station; the reading must be inside the control limits 910 ± 48 Cd/m² (±3s of the Type 1 study after improvement, s = 15.96) and inside spec (800~2000 Cd/m²).</a:t>
            </a:r>
            <a:br/>
            <a:r>
              <a:rPr sz="1000" b="0">
                <a:latin typeface="Arial"/>
              </a:rPr>
              <a:t xml:space="preserve">  2. If a reading is out of the limits, stop judging OK/NG and report immediately to Line Leader; PE &amp; PM teams will inspect the camera angle (target 90.0°) and confirm with the Master Sample again before restarting.</a:t>
            </a:r>
            <a:br/>
            <a:r>
              <a:rPr sz="1000" b="0">
                <a:latin typeface="Arial"/>
              </a:rPr>
              <a:t>  3. GMES version checking (SW/HW) is skipped during Master Sample testing to focus strictly on hardware measurement stability.</a:t>
            </a:r>
          </a:p>
          <a:p>
            <a:pPr eaLnBrk="1" latinLnBrk="0"/>
            <a:endParaRPr lang="en-US" sz="1200" dirty="0">
              <a:latin typeface="Arial" panose="020B0604020202020204" pitchFamily="34" charset="0"/>
              <a:cs typeface="Arial" panose="020B0604020202020204" pitchFamily="34" charset="0"/>
            </a:endParaRPr>
          </a:p>
        </p:txBody>
      </p:sp>
      <p:sp>
        <p:nvSpPr>
          <p:cNvPr id="24" name="Added text 24"/>
          <p:cNvSpPr txBox="1"/>
          <p:nvPr/>
        </p:nvSpPr>
        <p:spPr>
          <a:xfrm>
            <a:off x="123825" y="2857500"/>
            <a:ext cx="9525000" cy="1238250"/>
          </a:xfrm>
          <a:prstGeom prst="rect">
            <a:avLst/>
          </a:prstGeom>
          <a:noFill/>
        </p:spPr>
        <p:txBody>
          <a:bodyPr wrap="square" rtlCol="0">
            <a:noAutofit/>
          </a:bodyPr>
          <a:lstStyle/>
          <a:p>
            <a:r>
              <a:rPr lang="en-US" sz="1000" b="0" dirty="0">
                <a:solidFill>
                  <a:srgbClr val="000000"/>
                </a:solidFill>
                <a:latin typeface="Arial"/>
                <a:cs typeface="Arial"/>
              </a:rPr>
              <a:t>Standardization &amp; horizontal deployment (planned):</a:t>
            </a:r>
          </a:p>
          <a:p>
            <a:r>
              <a:rPr lang="en-US" sz="1000" b="0" dirty="0">
                <a:solidFill>
                  <a:srgbClr val="000000"/>
                </a:solidFill>
                <a:latin typeface="Arial"/>
                <a:cs typeface="Arial"/>
              </a:rPr>
              <a:t>• Add the camera-angle check (target 90.0°) to the pre-production setup standard (SOP) of the Luminance station.</a:t>
            </a:r>
          </a:p>
          <a:p>
            <a:r>
              <a:rPr lang="en-US" sz="1000" b="0" dirty="0">
                <a:solidFill>
                  <a:srgbClr val="000000"/>
                </a:solidFill>
                <a:latin typeface="Arial"/>
                <a:cs typeface="Arial"/>
              </a:rPr>
              <a:t>• Apply the same Master sample check to the other dual-display models measured with the CS2000 (E3PA Dual, G3 Dual, J1 Dual PPR); the RHD Privacy models also need the 13% luminance compensation (slide 19).</a:t>
            </a:r>
          </a:p>
          <a:p>
            <a:r>
              <a:rPr lang="en-US" sz="1000" b="0" dirty="0">
                <a:solidFill>
                  <a:srgbClr val="000000"/>
                </a:solidFill>
                <a:latin typeface="Arial"/>
                <a:cs typeface="Arial"/>
              </a:rPr>
              <a:t>• Keep monitoring with the Xbar-R chart; if a point goes out of control, apply the reaction plan above (step 2).</a:t>
            </a:r>
          </a:p>
        </p:txBody>
      </p:sp>
    </p:spTree>
    <p:extLst>
      <p:ext uri="{BB962C8B-B14F-4D97-AF65-F5344CB8AC3E}">
        <p14:creationId xmlns:p14="http://schemas.microsoft.com/office/powerpoint/2010/main" val="13792884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그림 1">
            <a:extLst>
              <a:ext uri="{FF2B5EF4-FFF2-40B4-BE49-F238E27FC236}">
                <a16:creationId xmlns:a16="http://schemas.microsoft.com/office/drawing/2014/main" id="{3BB4269D-C4B5-4018-8DB1-D3AE9D1DDFD9}"/>
              </a:ext>
            </a:extLst>
          </p:cNvPr>
          <p:cNvPicPr>
            <a:picLocks noChangeAspect="1"/>
          </p:cNvPicPr>
          <p:nvPr/>
        </p:nvPicPr>
        <p:blipFill>
          <a:blip r:embed="rId3"/>
          <a:stretch>
            <a:fillRect/>
          </a:stretch>
        </p:blipFill>
        <p:spPr>
          <a:xfrm>
            <a:off x="6403517" y="89801"/>
            <a:ext cx="3501891" cy="444992"/>
          </a:xfrm>
          <a:prstGeom prst="rect">
            <a:avLst/>
          </a:prstGeom>
        </p:spPr>
      </p:pic>
      <p:sp>
        <p:nvSpPr>
          <p:cNvPr id="64" name="제목 1">
            <a:extLst>
              <a:ext uri="{FF2B5EF4-FFF2-40B4-BE49-F238E27FC236}">
                <a16:creationId xmlns:a16="http://schemas.microsoft.com/office/drawing/2014/main" id="{9047FC76-DD99-4806-9048-DFF9426B47AE}"/>
              </a:ext>
            </a:extLst>
          </p:cNvPr>
          <p:cNvSpPr txBox="1">
            <a:spLocks/>
          </p:cNvSpPr>
          <p:nvPr/>
        </p:nvSpPr>
        <p:spPr bwMode="auto">
          <a:xfrm>
            <a:off x="1609" y="100364"/>
            <a:ext cx="4762500" cy="431800"/>
          </a:xfrm>
          <a:prstGeom prst="rect">
            <a:avLst/>
          </a:prstGeom>
          <a:noFill/>
          <a:ln w="9525">
            <a:noFill/>
            <a:miter lim="800000"/>
            <a:headEnd/>
            <a:tailEnd/>
          </a:ln>
        </p:spPr>
        <p:txBody>
          <a:bodyPr anchor="ctr"/>
          <a:lstStyle/>
          <a:p>
            <a:pPr eaLnBrk="1" latinLnBrk="0" hangingPunct="0">
              <a:defRPr/>
            </a:pPr>
            <a:r>
              <a:rPr lang="en-US" altLang="ko-KR" sz="1600" b="1" kern="0" dirty="0">
                <a:latin typeface="Arial Narrow" panose="020B0606020202030204" pitchFamily="34" charset="0"/>
                <a:ea typeface="Arial" panose="020B0600000101010101" pitchFamily="50" charset="-127"/>
              </a:rPr>
              <a:t>1.2 Pareto</a:t>
            </a:r>
            <a:endParaRPr lang="ko-KR" altLang="en-US" sz="1800" b="1" kern="0" dirty="0">
              <a:latin typeface="Arial Narrow" panose="020B0606020202030204" pitchFamily="34" charset="0"/>
              <a:ea typeface="LG스마트체 Regular" panose="020B0600000101010101" pitchFamily="50" charset="-127"/>
              <a:cs typeface="+mj-cs"/>
            </a:endParaRPr>
          </a:p>
        </p:txBody>
      </p:sp>
      <p:cxnSp>
        <p:nvCxnSpPr>
          <p:cNvPr id="85" name="Straight Connector 84">
            <a:extLst>
              <a:ext uri="{FF2B5EF4-FFF2-40B4-BE49-F238E27FC236}">
                <a16:creationId xmlns:a16="http://schemas.microsoft.com/office/drawing/2014/main" id="{5EF0FF8F-362D-491A-8F52-0E1B0A8C2FE8}"/>
              </a:ext>
            </a:extLst>
          </p:cNvPr>
          <p:cNvCxnSpPr/>
          <p:nvPr/>
        </p:nvCxnSpPr>
        <p:spPr>
          <a:xfrm>
            <a:off x="-592" y="532164"/>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8" name="Slide Number Placeholder 4">
            <a:extLst>
              <a:ext uri="{FF2B5EF4-FFF2-40B4-BE49-F238E27FC236}">
                <a16:creationId xmlns:a16="http://schemas.microsoft.com/office/drawing/2014/main" id="{8BEED19C-E20A-4522-AB67-2EFCA2708530}"/>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04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graphicFrame>
        <p:nvGraphicFramePr>
          <p:cNvPr id="229" name="Pareto chart"/>
          <p:cNvGraphicFramePr>
            <a:graphicFrameLocks/>
          </p:cNvGraphicFramePr>
          <p:nvPr/>
        </p:nvGraphicFramePr>
        <p:xfrm>
          <a:off x="190500" y="666750"/>
          <a:ext cx="6096000" cy="4286250"/>
        </p:xfrm>
        <a:graphic>
          <a:graphicData uri="http://schemas.openxmlformats.org/drawingml/2006/chart">
            <c:chart xmlns:c="http://schemas.openxmlformats.org/drawingml/2006/chart" r:id="rId6"/>
          </a:graphicData>
        </a:graphic>
      </p:graphicFrame>
      <p:sp>
        <p:nvSpPr>
          <p:cNvPr id="230" name="Added text 230"/>
          <p:cNvSpPr txBox="1"/>
          <p:nvPr/>
        </p:nvSpPr>
        <p:spPr>
          <a:xfrm>
            <a:off x="6515100" y="800100"/>
            <a:ext cx="3238500" cy="4095750"/>
          </a:xfrm>
          <a:prstGeom prst="rect">
            <a:avLst/>
          </a:prstGeom>
          <a:noFill/>
        </p:spPr>
        <p:txBody>
          <a:bodyPr wrap="square" lIns="0" tIns="0" rIns="0" bIns="0" rtlCol="0">
            <a:noAutofit/>
          </a:bodyPr>
          <a:lstStyle/>
          <a:p>
            <a:pPr marL="0" indent="0">
              <a:spcAft>
                <a:spcPts val="400"/>
              </a:spcAft>
              <a:buNone/>
            </a:pPr>
            <a:r>
              <a:rPr lang="en-US" sz="1200" b="1" dirty="0">
                <a:solidFill>
                  <a:srgbClr val="000000"/>
                </a:solidFill>
                <a:latin typeface="Arial"/>
                <a:cs typeface="Arial"/>
              </a:rPr>
              <a:t>80:20 rule</a:t>
            </a:r>
          </a:p>
          <a:p>
            <a:pPr marL="171450" indent="-171450">
              <a:spcAft>
                <a:spcPts val="900"/>
              </a:spcAft>
              <a:buFont typeface="Arial"/>
              <a:buChar char="•"/>
            </a:pPr>
            <a:r>
              <a:rPr lang="en-US" sz="1050" b="0" dirty="0">
                <a:solidFill>
                  <a:srgbClr val="000000"/>
                </a:solidFill>
                <a:latin typeface="Arial"/>
                <a:cs typeface="Arial"/>
              </a:rPr>
              <a:t>About 80% of the defects come from about 20% of the items (the vital few). Solve the vital few first.</a:t>
            </a:r>
          </a:p>
          <a:p>
            <a:pPr marL="0" indent="0">
              <a:spcAft>
                <a:spcPts val="400"/>
              </a:spcAft>
              <a:buNone/>
            </a:pPr>
            <a:r>
              <a:rPr lang="en-US" sz="1200" b="1" dirty="0">
                <a:solidFill>
                  <a:srgbClr val="000000"/>
                </a:solidFill>
                <a:latin typeface="Arial"/>
                <a:cs typeface="Arial"/>
              </a:rPr>
              <a:t>Result</a:t>
            </a:r>
          </a:p>
          <a:p>
            <a:pPr marL="171450" indent="-171450">
              <a:spcAft>
                <a:spcPts val="500"/>
              </a:spcAft>
              <a:buFont typeface="Arial"/>
              <a:buChar char="•"/>
            </a:pPr>
            <a:r>
              <a:rPr lang="en-US" sz="1050" b="1" dirty="0">
                <a:solidFill>
                  <a:srgbClr val="C00000"/>
                </a:solidFill>
                <a:latin typeface="Arial"/>
                <a:cs typeface="Arial"/>
              </a:rPr>
              <a:t>Luminance value</a:t>
            </a:r>
            <a:r>
              <a:rPr lang="en-US" sz="1050" b="0" dirty="0">
                <a:solidFill>
                  <a:srgbClr val="000000"/>
                </a:solidFill>
                <a:latin typeface="Arial"/>
                <a:cs typeface="Arial"/>
              </a:rPr>
              <a:t> = 226,624 ppm = </a:t>
            </a:r>
            <a:r>
              <a:rPr lang="en-US" sz="1050" b="1" dirty="0">
                <a:solidFill>
                  <a:srgbClr val="C00000"/>
                </a:solidFill>
                <a:latin typeface="Arial"/>
                <a:cs typeface="Arial"/>
              </a:rPr>
              <a:t>87.2%</a:t>
            </a:r>
            <a:r>
              <a:rPr lang="en-US" sz="1050" b="0" dirty="0">
                <a:solidFill>
                  <a:srgbClr val="000000"/>
                </a:solidFill>
                <a:latin typeface="Arial"/>
                <a:cs typeface="Arial"/>
              </a:rPr>
              <a:t> of all defects (&gt; 80%): it is the vital few.</a:t>
            </a:r>
          </a:p>
          <a:p>
            <a:pPr marL="171450" indent="-171450">
              <a:spcAft>
                <a:spcPts val="500"/>
              </a:spcAft>
              <a:buFont typeface="Arial"/>
              <a:buChar char="•"/>
            </a:pPr>
            <a:r>
              <a:rPr lang="en-US" sz="1050" b="0" dirty="0">
                <a:solidFill>
                  <a:srgbClr val="000000"/>
                </a:solidFill>
                <a:latin typeface="Arial"/>
                <a:cs typeface="Arial"/>
              </a:rPr>
              <a:t>The other 4 items together are only 12.8% (Hardware 6.0%, Software 3.5%, Contrast value 2.3%, Haptic/Touch 1.0%).</a:t>
            </a:r>
          </a:p>
          <a:p>
            <a:pPr marL="171450" indent="-171450">
              <a:spcAft>
                <a:spcPts val="0"/>
              </a:spcAft>
              <a:buFont typeface="Arial"/>
              <a:buChar char="•"/>
            </a:pPr>
            <a:r>
              <a:rPr lang="en-US" sz="1050" b="0" dirty="0">
                <a:solidFill>
                  <a:srgbClr val="000000"/>
                </a:solidFill>
                <a:latin typeface="Arial"/>
                <a:cs typeface="Arial"/>
              </a:rPr>
              <a:t>So Luminance value is selected as Project Y for this 6 Sigma assignment.</a:t>
            </a:r>
          </a:p>
        </p:txBody>
      </p:sp>
      <p:sp>
        <p:nvSpPr>
          <p:cNvPr id="231" name="Added text 231"/>
          <p:cNvSpPr txBox="1"/>
          <p:nvPr/>
        </p:nvSpPr>
        <p:spPr>
          <a:xfrm>
            <a:off x="190500" y="5143500"/>
            <a:ext cx="9525000" cy="1238250"/>
          </a:xfrm>
          <a:prstGeom prst="rect">
            <a:avLst/>
          </a:prstGeom>
          <a:noFill/>
        </p:spPr>
        <p:txBody>
          <a:bodyPr wrap="square" lIns="0" tIns="0" rIns="0" bIns="0" rtlCol="0">
            <a:noAutofit/>
          </a:bodyPr>
          <a:lstStyle/>
          <a:p>
            <a:pPr marL="0" indent="0">
              <a:spcAft>
                <a:spcPts val="500"/>
              </a:spcAft>
              <a:buNone/>
            </a:pPr>
            <a:r>
              <a:rPr lang="en-US" sz="1050" b="1" dirty="0">
                <a:solidFill>
                  <a:srgbClr val="000000"/>
                </a:solidFill>
                <a:latin typeface="Arial"/>
                <a:cs typeface="Arial"/>
              </a:rPr>
              <a:t>Data: </a:t>
            </a:r>
            <a:r>
              <a:rPr lang="en-US" sz="1050" b="0" dirty="0">
                <a:solidFill>
                  <a:srgbClr val="000000"/>
                </a:solidFill>
                <a:latin typeface="Arial"/>
                <a:cs typeface="Arial"/>
              </a:rPr>
              <a:t>164 NG / 631 EA = 260,000 ppm (Nov.2025~Mar.2026); Luminance value = 143 NG = 226,624 ppm.</a:t>
            </a:r>
          </a:p>
          <a:p>
            <a:pPr marL="0" indent="0">
              <a:spcAft>
                <a:spcPts val="500"/>
              </a:spcAft>
              <a:buNone/>
            </a:pPr>
            <a:r>
              <a:rPr lang="en-US" sz="1050" b="1" dirty="0">
                <a:solidFill>
                  <a:srgbClr val="000000"/>
                </a:solidFill>
                <a:latin typeface="Arial"/>
                <a:cs typeface="Arial"/>
              </a:rPr>
              <a:t>Item (80%): </a:t>
            </a:r>
            <a:r>
              <a:rPr lang="en-US" sz="1050" b="0" dirty="0">
                <a:solidFill>
                  <a:srgbClr val="000000"/>
                </a:solidFill>
                <a:latin typeface="Arial"/>
                <a:cs typeface="Arial"/>
              </a:rPr>
              <a:t>Luminance value</a:t>
            </a:r>
            <a:r>
              <a:rPr lang="en-US" sz="1050" b="1" dirty="0">
                <a:solidFill>
                  <a:srgbClr val="000000"/>
                </a:solidFill>
                <a:latin typeface="Arial"/>
                <a:cs typeface="Arial"/>
              </a:rPr>
              <a:t>     PIC: </a:t>
            </a:r>
            <a:r>
              <a:rPr lang="en-US" sz="1050" b="0" dirty="0">
                <a:solidFill>
                  <a:srgbClr val="000000"/>
                </a:solidFill>
                <a:latin typeface="Arial"/>
                <a:cs typeface="Arial"/>
              </a:rPr>
              <a:t>IVI LD (this 6 Sigma assignment)</a:t>
            </a:r>
            <a:r>
              <a:rPr lang="en-US" sz="1050" b="1" dirty="0">
                <a:solidFill>
                  <a:srgbClr val="000000"/>
                </a:solidFill>
                <a:latin typeface="Arial"/>
                <a:cs typeface="Arial"/>
              </a:rPr>
              <a:t>     MFG: </a:t>
            </a:r>
            <a:r>
              <a:rPr lang="en-US" sz="1050" b="0" dirty="0">
                <a:solidFill>
                  <a:srgbClr val="000000"/>
                </a:solidFill>
                <a:latin typeface="Arial"/>
                <a:cs typeface="Arial"/>
              </a:rPr>
              <a:t>Line IVI 5, FA production line</a:t>
            </a:r>
          </a:p>
          <a:p>
            <a:pPr marL="0" indent="0">
              <a:spcAft>
                <a:spcPts val="0"/>
              </a:spcAft>
              <a:buNone/>
            </a:pPr>
            <a:r>
              <a:rPr lang="en-US" sz="1050" b="1" dirty="0">
                <a:solidFill>
                  <a:srgbClr val="000000"/>
                </a:solidFill>
                <a:latin typeface="Arial"/>
                <a:cs typeface="Arial"/>
              </a:rPr>
              <a:t>Other items: </a:t>
            </a:r>
            <a:r>
              <a:rPr lang="en-US" sz="1050" b="0" dirty="0">
                <a:solidFill>
                  <a:srgbClr val="000000"/>
                </a:solidFill>
                <a:latin typeface="Arial"/>
                <a:cs typeface="Arial"/>
              </a:rPr>
              <a:t>Hardware (broken pin connector) → Mr. Hai HW;  Software → HQ R&amp;D;  Contrast value (real defect) → HEESUNG vendor.</a:t>
            </a:r>
          </a:p>
        </p:txBody>
      </p:sp>
    </p:spTree>
    <p:extLst>
      <p:ext uri="{BB962C8B-B14F-4D97-AF65-F5344CB8AC3E}">
        <p14:creationId xmlns:p14="http://schemas.microsoft.com/office/powerpoint/2010/main" val="17383837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Slide Number Placeholder 4">
            <a:extLst>
              <a:ext uri="{FF2B5EF4-FFF2-40B4-BE49-F238E27FC236}">
                <a16:creationId xmlns:a16="http://schemas.microsoft.com/office/drawing/2014/main" id="{DC889702-57C5-4178-B462-2E3106F53FD1}"/>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10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5" name="AutoShape 55">
            <a:extLst>
              <a:ext uri="{FF2B5EF4-FFF2-40B4-BE49-F238E27FC236}">
                <a16:creationId xmlns:a16="http://schemas.microsoft.com/office/drawing/2014/main" id="{72F5C699-BB82-4EC1-AB3C-FC35326159A9}"/>
              </a:ext>
            </a:extLst>
          </p:cNvPr>
          <p:cNvSpPr>
            <a:spLocks noChangeArrowheads="1"/>
          </p:cNvSpPr>
          <p:nvPr/>
        </p:nvSpPr>
        <p:spPr bwMode="auto">
          <a:xfrm>
            <a:off x="9121997"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6" name="AutoShape 56">
            <a:extLst>
              <a:ext uri="{FF2B5EF4-FFF2-40B4-BE49-F238E27FC236}">
                <a16:creationId xmlns:a16="http://schemas.microsoft.com/office/drawing/2014/main" id="{3F7F874F-52C3-414A-81B9-A03A708C305E}"/>
              </a:ext>
            </a:extLst>
          </p:cNvPr>
          <p:cNvSpPr>
            <a:spLocks noChangeArrowheads="1"/>
          </p:cNvSpPr>
          <p:nvPr/>
        </p:nvSpPr>
        <p:spPr bwMode="auto">
          <a:xfrm>
            <a:off x="8433022"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9" name="AutoShape 57">
            <a:extLst>
              <a:ext uri="{FF2B5EF4-FFF2-40B4-BE49-F238E27FC236}">
                <a16:creationId xmlns:a16="http://schemas.microsoft.com/office/drawing/2014/main" id="{304107E6-0AD0-4838-953F-7653F14453A5}"/>
              </a:ext>
            </a:extLst>
          </p:cNvPr>
          <p:cNvSpPr>
            <a:spLocks noChangeArrowheads="1"/>
          </p:cNvSpPr>
          <p:nvPr/>
        </p:nvSpPr>
        <p:spPr bwMode="auto">
          <a:xfrm>
            <a:off x="7740872" y="177766"/>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1" name="AutoShape 59">
            <a:extLst>
              <a:ext uri="{FF2B5EF4-FFF2-40B4-BE49-F238E27FC236}">
                <a16:creationId xmlns:a16="http://schemas.microsoft.com/office/drawing/2014/main" id="{BC0BEDAF-463F-4A5C-88A0-276D21275535}"/>
              </a:ext>
            </a:extLst>
          </p:cNvPr>
          <p:cNvSpPr>
            <a:spLocks noChangeArrowheads="1"/>
          </p:cNvSpPr>
          <p:nvPr/>
        </p:nvSpPr>
        <p:spPr bwMode="auto">
          <a:xfrm>
            <a:off x="6372447" y="177766"/>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2" name="AutoShape 58">
            <a:extLst>
              <a:ext uri="{FF2B5EF4-FFF2-40B4-BE49-F238E27FC236}">
                <a16:creationId xmlns:a16="http://schemas.microsoft.com/office/drawing/2014/main" id="{B0317FA2-6AED-403D-B6EA-51C7D84BBA84}"/>
              </a:ext>
            </a:extLst>
          </p:cNvPr>
          <p:cNvSpPr>
            <a:spLocks noChangeArrowheads="1"/>
          </p:cNvSpPr>
          <p:nvPr/>
        </p:nvSpPr>
        <p:spPr bwMode="auto">
          <a:xfrm>
            <a:off x="7069360" y="33304"/>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Measure </a:t>
            </a:r>
          </a:p>
        </p:txBody>
      </p:sp>
      <p:sp>
        <p:nvSpPr>
          <p:cNvPr id="23" name="제목 1">
            <a:extLst>
              <a:ext uri="{FF2B5EF4-FFF2-40B4-BE49-F238E27FC236}">
                <a16:creationId xmlns:a16="http://schemas.microsoft.com/office/drawing/2014/main" id="{6FC1DF0A-5B10-4BE6-85CD-B2B54F1E8280}"/>
              </a:ext>
            </a:extLst>
          </p:cNvPr>
          <p:cNvSpPr txBox="1">
            <a:spLocks/>
          </p:cNvSpPr>
          <p:nvPr/>
        </p:nvSpPr>
        <p:spPr>
          <a:xfrm>
            <a:off x="80531" y="60281"/>
            <a:ext cx="47625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2.4 Result of current Cpk</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24" name="Added text 24"/>
          <p:cNvSpPr txBox="1"/>
          <p:nvPr/>
        </p:nvSpPr>
        <p:spPr>
          <a:xfrm>
            <a:off x="190500" y="609600"/>
            <a:ext cx="4000500" cy="228600"/>
          </a:xfrm>
          <a:prstGeom prst="rect">
            <a:avLst/>
          </a:prstGeom>
          <a:noFill/>
        </p:spPr>
        <p:txBody>
          <a:bodyPr wrap="square" lIns="0" tIns="0" rIns="0" bIns="0" rtlCol="0">
            <a:noAutofit/>
          </a:bodyPr>
          <a:lstStyle/>
          <a:p>
            <a:pPr marL="0" indent="0">
              <a:spcAft>
                <a:spcPts val="0"/>
              </a:spcAft>
              <a:buNone/>
            </a:pPr>
            <a:r>
              <a:rPr lang="en-US" sz="1200" b="1" dirty="0">
                <a:solidFill>
                  <a:srgbClr val="000000"/>
                </a:solidFill>
                <a:latin typeface="Arial"/>
                <a:cs typeface="Arial"/>
              </a:rPr>
              <a:t>Current Cpk</a:t>
            </a:r>
          </a:p>
        </p:txBody>
      </p:sp>
      <p:pic>
        <p:nvPicPr>
          <p:cNvPr id="25" name="Probability plot before"/>
          <p:cNvPicPr>
            <a:picLocks noChangeAspect="1"/>
          </p:cNvPicPr>
          <p:nvPr/>
        </p:nvPicPr>
        <p:blipFill>
          <a:blip r:embed="rId8"/>
          <a:stretch>
            <a:fillRect/>
          </a:stretch>
        </p:blipFill>
        <p:spPr>
          <a:xfrm>
            <a:off x="190500" y="876300"/>
            <a:ext cx="3143250" cy="2619375"/>
          </a:xfrm>
          <a:prstGeom prst="rect">
            <a:avLst/>
          </a:prstGeom>
        </p:spPr>
      </p:pic>
      <p:pic>
        <p:nvPicPr>
          <p:cNvPr id="26" name="Capability report before"/>
          <p:cNvPicPr>
            <a:picLocks noChangeAspect="1"/>
          </p:cNvPicPr>
          <p:nvPr/>
        </p:nvPicPr>
        <p:blipFill>
          <a:blip r:embed="rId9"/>
          <a:stretch>
            <a:fillRect/>
          </a:stretch>
        </p:blipFill>
        <p:spPr>
          <a:xfrm>
            <a:off x="3429000" y="876300"/>
            <a:ext cx="3543300" cy="2905125"/>
          </a:xfrm>
          <a:prstGeom prst="rect">
            <a:avLst/>
          </a:prstGeom>
        </p:spPr>
      </p:pic>
      <p:sp>
        <p:nvSpPr>
          <p:cNvPr id="27" name="Added text 27"/>
          <p:cNvSpPr txBox="1"/>
          <p:nvPr/>
        </p:nvSpPr>
        <p:spPr>
          <a:xfrm>
            <a:off x="7124700" y="952500"/>
            <a:ext cx="2686050" cy="2857500"/>
          </a:xfrm>
          <a:prstGeom prst="rect">
            <a:avLst/>
          </a:prstGeom>
          <a:noFill/>
        </p:spPr>
        <p:txBody>
          <a:bodyPr wrap="square" lIns="0" tIns="0" rIns="0" bIns="0" rtlCol="0">
            <a:noAutofit/>
          </a:bodyPr>
          <a:lstStyle/>
          <a:p>
            <a:pPr marL="171450" indent="-171450">
              <a:spcAft>
                <a:spcPts val="100"/>
              </a:spcAft>
              <a:buFont typeface="Arial"/>
              <a:buChar char="•"/>
            </a:pPr>
            <a:r>
              <a:rPr lang="en-US" sz="1050" b="0" dirty="0">
                <a:solidFill>
                  <a:srgbClr val="000000"/>
                </a:solidFill>
                <a:latin typeface="Arial"/>
                <a:cs typeface="Arial"/>
              </a:rPr>
              <a:t>P-value &lt; 0.005 &lt; 0.05 → </a:t>
            </a:r>
            <a:r>
              <a:rPr lang="en-US" sz="1050" b="1" dirty="0">
                <a:solidFill>
                  <a:srgbClr val="C00000"/>
                </a:solidFill>
                <a:latin typeface="Arial"/>
                <a:cs typeface="Arial"/>
              </a:rPr>
              <a:t>NG</a:t>
            </a:r>
          </a:p>
          <a:p>
            <a:pPr marL="0" indent="0">
              <a:spcAft>
                <a:spcPts val="700"/>
              </a:spcAft>
              <a:buNone/>
            </a:pPr>
            <a:r>
              <a:rPr lang="en-US" sz="950" b="0" dirty="0">
                <a:solidFill>
                  <a:srgbClr val="595959"/>
                </a:solidFill>
                <a:latin typeface="Arial"/>
                <a:cs typeface="Arial"/>
              </a:rPr>
              <a:t>(Data do not follow a normal distribution)</a:t>
            </a:r>
          </a:p>
          <a:p>
            <a:pPr marL="171450" indent="-171450">
              <a:spcAft>
                <a:spcPts val="100"/>
              </a:spcAft>
              <a:buFont typeface="Arial"/>
              <a:buChar char="•"/>
            </a:pPr>
            <a:r>
              <a:rPr lang="en-US" sz="1050" b="0" dirty="0">
                <a:solidFill>
                  <a:srgbClr val="000000"/>
                </a:solidFill>
                <a:latin typeface="Arial"/>
                <a:cs typeface="Arial"/>
              </a:rPr>
              <a:t>Current process capability: Cpk = 0.45 &lt; 1.33 → </a:t>
            </a:r>
            <a:r>
              <a:rPr lang="en-US" sz="1050" b="1" dirty="0">
                <a:solidFill>
                  <a:srgbClr val="C00000"/>
                </a:solidFill>
                <a:latin typeface="Arial"/>
                <a:cs typeface="Arial"/>
              </a:rPr>
              <a:t>NG</a:t>
            </a:r>
          </a:p>
          <a:p>
            <a:pPr marL="0" indent="0">
              <a:spcAft>
                <a:spcPts val="700"/>
              </a:spcAft>
              <a:buNone/>
            </a:pPr>
            <a:r>
              <a:rPr lang="en-US" sz="950" b="0" dirty="0">
                <a:solidFill>
                  <a:srgbClr val="595959"/>
                </a:solidFill>
                <a:latin typeface="Arial"/>
                <a:cs typeface="Arial"/>
              </a:rPr>
              <a:t>Lack of process capability</a:t>
            </a:r>
          </a:p>
          <a:p>
            <a:pPr marL="171450" indent="-171450">
              <a:spcAft>
                <a:spcPts val="700"/>
              </a:spcAft>
              <a:buFont typeface="Arial"/>
              <a:buChar char="•"/>
            </a:pPr>
            <a:r>
              <a:rPr lang="en-US" sz="1050" b="0" dirty="0">
                <a:solidFill>
                  <a:srgbClr val="000000"/>
                </a:solidFill>
                <a:latin typeface="Arial"/>
                <a:cs typeface="Arial"/>
              </a:rPr>
              <a:t>The process mean 826.25 is close to the LSL 800; about 14% of the readings (7 of 50) are below the LSL.</a:t>
            </a:r>
          </a:p>
          <a:p>
            <a:pPr marL="0" indent="0">
              <a:spcAft>
                <a:spcPts val="0"/>
              </a:spcAft>
              <a:buNone/>
            </a:pPr>
            <a:r>
              <a:rPr lang="en-US" sz="900" b="0" dirty="0">
                <a:solidFill>
                  <a:srgbClr val="595959"/>
                </a:solidFill>
                <a:latin typeface="Arial"/>
                <a:cs typeface="Arial"/>
              </a:rPr>
              <a:t>Baseline sample: 50 subgroup readings measured at FA production line (Line IVI 5), see 2.3.</a:t>
            </a:r>
          </a:p>
        </p:txBody>
      </p:sp>
      <p:sp>
        <p:nvSpPr>
          <p:cNvPr id="28" name="Added text 28"/>
          <p:cNvSpPr txBox="1"/>
          <p:nvPr/>
        </p:nvSpPr>
        <p:spPr>
          <a:xfrm>
            <a:off x="190500" y="3924300"/>
            <a:ext cx="4000500" cy="228600"/>
          </a:xfrm>
          <a:prstGeom prst="rect">
            <a:avLst/>
          </a:prstGeom>
          <a:noFill/>
        </p:spPr>
        <p:txBody>
          <a:bodyPr wrap="square" lIns="0" tIns="0" rIns="0" bIns="0" rtlCol="0">
            <a:noAutofit/>
          </a:bodyPr>
          <a:lstStyle/>
          <a:p>
            <a:pPr marL="0" indent="0">
              <a:spcAft>
                <a:spcPts val="0"/>
              </a:spcAft>
              <a:buNone/>
            </a:pPr>
            <a:r>
              <a:rPr lang="en-US" sz="1200" b="1" dirty="0">
                <a:solidFill>
                  <a:srgbClr val="000000"/>
                </a:solidFill>
                <a:latin typeface="Arial"/>
                <a:cs typeface="Arial"/>
              </a:rPr>
              <a:t>Target of improvement</a:t>
            </a:r>
          </a:p>
        </p:txBody>
      </p:sp>
      <p:sp>
        <p:nvSpPr>
          <p:cNvPr id="29" name="Added text 29"/>
          <p:cNvSpPr txBox="1"/>
          <p:nvPr/>
        </p:nvSpPr>
        <p:spPr>
          <a:xfrm>
            <a:off x="190500" y="4191000"/>
            <a:ext cx="3333750" cy="1809750"/>
          </a:xfrm>
          <a:prstGeom prst="rect">
            <a:avLst/>
          </a:prstGeom>
          <a:noFill/>
        </p:spPr>
        <p:txBody>
          <a:bodyPr wrap="square" lIns="0" tIns="0" rIns="0" bIns="0" rtlCol="0">
            <a:noAutofit/>
          </a:bodyPr>
          <a:lstStyle/>
          <a:p>
            <a:pPr marL="171450" indent="-171450">
              <a:spcAft>
                <a:spcPts val="500"/>
              </a:spcAft>
              <a:buFont typeface="Arial"/>
              <a:buChar char="•"/>
            </a:pPr>
            <a:r>
              <a:rPr lang="en-US" sz="1050" b="0" dirty="0">
                <a:solidFill>
                  <a:srgbClr val="000000"/>
                </a:solidFill>
                <a:latin typeface="Arial"/>
                <a:cs typeface="Arial"/>
              </a:rPr>
              <a:t>Improvement goal (practical): measure the luminance correctly, i.e. the reference sample reads 910 Cd/m² (bias → 0).</a:t>
            </a:r>
          </a:p>
          <a:p>
            <a:pPr marL="171450" indent="-171450">
              <a:spcAft>
                <a:spcPts val="500"/>
              </a:spcAft>
              <a:buFont typeface="Arial"/>
              <a:buChar char="•"/>
            </a:pPr>
            <a:r>
              <a:rPr lang="en-US" sz="1050" b="0" dirty="0">
                <a:solidFill>
                  <a:srgbClr val="000000"/>
                </a:solidFill>
                <a:latin typeface="Arial"/>
                <a:cs typeface="Arial"/>
              </a:rPr>
              <a:t>(Before improvement) Cpk = 0.45, Z = 1.35  →  (After improvement) Cpk ≥ 1.33, Z = 4.5</a:t>
            </a:r>
          </a:p>
          <a:p>
            <a:pPr marL="171450" indent="-171450">
              <a:spcAft>
                <a:spcPts val="0"/>
              </a:spcAft>
              <a:buFont typeface="Arial"/>
              <a:buChar char="•"/>
            </a:pPr>
            <a:r>
              <a:rPr lang="en-US" sz="1050" b="0" dirty="0">
                <a:solidFill>
                  <a:srgbClr val="000000"/>
                </a:solidFill>
                <a:latin typeface="Arial"/>
                <a:cs typeface="Arial"/>
              </a:rPr>
              <a:t>Defect rate 226,624 ppm → 0 ppm</a:t>
            </a:r>
          </a:p>
        </p:txBody>
      </p:sp>
      <p:pic>
        <p:nvPicPr>
          <p:cNvPr id="30" name="Target of improvement"/>
          <p:cNvPicPr>
            <a:picLocks noChangeAspect="1"/>
          </p:cNvPicPr>
          <p:nvPr/>
        </p:nvPicPr>
        <p:blipFill>
          <a:blip r:embed="rId10"/>
          <a:stretch>
            <a:fillRect/>
          </a:stretch>
        </p:blipFill>
        <p:spPr>
          <a:xfrm>
            <a:off x="3667125" y="4048125"/>
            <a:ext cx="6096000" cy="1657350"/>
          </a:xfrm>
          <a:prstGeom prst="rect">
            <a:avLst/>
          </a:prstGeom>
        </p:spPr>
      </p:pic>
    </p:spTree>
    <p:extLst>
      <p:ext uri="{BB962C8B-B14F-4D97-AF65-F5344CB8AC3E}">
        <p14:creationId xmlns:p14="http://schemas.microsoft.com/office/powerpoint/2010/main" val="2569419019"/>
      </p:ext>
    </p:extLst>
  </p:cSld>
  <p:clrMapOvr>
    <a:masterClrMapping/>
  </p:clrMapOvr>
</p:sld>
</file>

<file path=ppt/slides/slide36.xml><?xml version="1.0" encoding="utf-8"?>
<ns0:sld xmlns:ns0="http://schemas.openxmlformats.org/presentationml/2006/main" xmlns:ns1="http://schemas.openxmlformats.org/drawingml/2006/main" xmlns:ns2="http://schemas.microsoft.com/office/drawing/2014/main" xmlns:ns3="http://schemas.microsoft.com/office/powerpoint/2010/main" xmlns:ns4="http://schemas.openxmlformats.org/officeDocument/2006/relationships">
  <ns0:cSld>
    <ns0:spTree>
      <ns0:nvGrpSpPr>
        <ns0:cNvPr id="1" name=""/>
        <ns0:cNvGrpSpPr/>
        <ns0:nvPr/>
      </ns0:nvGrpSpPr>
      <ns0:grpSpPr>
        <ns1:xfrm>
          <ns1:off x="0" y="0"/>
          <ns1:ext cx="0" cy="0"/>
          <ns1:chOff x="0" y="0"/>
          <ns1:chExt cx="0" cy="0"/>
        </ns1:xfrm>
      </ns0:grpSpPr>
      <ns0:sp>
        <ns0:nvSpPr>
          <ns0:cNvPr id="7" name="제목 1"/>
          <ns0:cNvSpPr txBox="1">
            <ns1:spLocks/>
          </ns0:cNvSpPr>
          <ns0:nvPr/>
        </ns0:nvSpPr>
        <ns0:spPr>
          <ns1:xfrm>
            <ns1:off x="67107" y="86115"/>
            <ns1:ext cx="6153150" cy="418058"/>
          </ns1:xfrm>
          <ns1:prstGeom prst="rect">
            <ns1:avLst/>
          </ns1:prstGeom>
        </ns0:spPr>
        <ns0:txBody>
          <ns1:bodyPr vert="horz" lIns="91440" tIns="45720" rIns="91440" bIns="45720" rtlCol="0" anchor="ctr">
            <ns1:noAutofit/>
          </ns1:bodyPr>
          <ns1:lstStyle/>
          <ns1:p>
            <ns1:pPr lvl="0" eaLnBrk="1" latinLnBrk="0" hangingPunct="0">
              <ns1:defRPr/>
            </ns1:pPr>
            <ns1:r>
              <ns1:rPr lang="en-US" altLang="ko-KR" sz="1600" b="1" kern="0" dirty="0">
                <ns1:latin typeface="Arial Narrow" panose="020B0606020202030204" pitchFamily="34" charset="0"/>
                <ns1:ea typeface="Arial Unicode MS" panose="020B0604020202020204" pitchFamily="34" charset="-128"/>
                <ns1:cs typeface="Arial" panose="020B0604020202020204" pitchFamily="34" charset="0"/>
              </ns1:rPr>
              <ns1:t>2.3 Xbar-R Chart Review</ns1:t>
            </ns1:r>
            <ns1:endParaRPr lang="ko-KR" altLang="en-US" sz="1600" b="1" kern="0" dirty="0">
              <ns1:latin typeface="Arial Narrow" panose="020B0606020202030204" pitchFamily="34" charset="0"/>
              <ns1:ea typeface="Arial Unicode MS" panose="020B0604020202020204" pitchFamily="34" charset="-128"/>
              <ns1:cs typeface="Arial" panose="020B0604020202020204" pitchFamily="34" charset="0"/>
            </ns1:endParaRPr>
          </ns1:p>
        </ns0:txBody>
      </ns0:sp>
      <ns0:cxnSp>
        <ns0:nvCxnSpPr>
          <ns0:cNvPr id="17" name="Straight Connector 16"/>
          <ns0:cNvCxnSpPr/>
          <ns0:nvPr/>
        </ns0:nvCxnSpPr>
        <ns0:spPr>
          <ns1:xfrm>
            <ns1:off x="0" y="457200"/>
            <ns1:ext cx="9906000" cy="0"/>
          </ns1:xfrm>
          <ns1:prstGeom prst="line">
            <ns1:avLst/>
          </ns1:prstGeom>
          <ns1:ln>
            <ns1:solidFill>
              <ns1:schemeClr val="bg1">
                <ns1:lumMod val="50000"/>
              </ns1:schemeClr>
            </ns1:solidFill>
          </ns1:ln>
        </ns0:spPr>
        <ns0:style>
          <ns1:lnRef idx="1">
            <ns1:schemeClr val="accent1"/>
          </ns1:lnRef>
          <ns1:fillRef idx="0">
            <ns1:schemeClr val="accent1"/>
          </ns1:fillRef>
          <ns1:effectRef idx="0">
            <ns1:schemeClr val="accent1"/>
          </ns1:effectRef>
          <ns1:fontRef idx="minor">
            <ns1:schemeClr val="tx1"/>
          </ns1:fontRef>
        </ns0:style>
      </ns0:cxnSp>
      <ns0:sp>
        <ns0:nvSpPr>
          <ns0:cNvPr id="15" name="Slide Number Placeholder 4">
            <ns1:extLst>
              <ns1:ext uri="{FF2B5EF4-FFF2-40B4-BE49-F238E27FC236}">
                <ns2:creationId id="{C43E9E2D-07E0-4BDA-8E12-269E0FA0D474}"/>
              </ns1:ext>
            </ns1:extLst>
          </ns0:cNvPr>
          <ns0:cNvSpPr>
            <ns1:spLocks noGrp="1"/>
          </ns0:cNvSpPr>
          <ns0:nvPr>
            <ns0:ph type="sldNum" sz="quarter" idx="12"/>
          </ns0:nvPr>
        </ns0:nvSpPr>
        <ns0:spPr>
          <ns1:xfrm>
            <ns1:off x="3700326" y="6643499"/>
            <ns1:ext cx="2133600" cy="198047"/>
          </ns1:xfrm>
        </ns0:spPr>
        <ns0:txBody>
          <ns1:bodyPr/>
          <ns1:lstStyle/>
          <ns1:p>
            <ns1:pPr algn="ctr" eaLnBrk="1" latinLnBrk="0"/>
            <ns1:r>
              <ns1:rPr sz="1000" b="0">
                <ns1:latin typeface="Arial"/>
              </ns1:rPr>
              <ns1:t>09 / 29</ns1:t>
            </ns1:r>
            <ns1:endParaRPr lang="ko-KR" altLang="en-US" sz="1200" dirty="0">
              <ns1:solidFill>
                <ns1:prstClr val="black">
                  <ns1:tint val="75000"/>
                </ns1:prstClr>
              </ns1:solidFill>
              <ns1:latin typeface="Arial" panose="020B0604020202020204" pitchFamily="34" charset="0"/>
              <ns1:ea typeface="Arial Unicode MS" panose="020B0604020202020204" pitchFamily="34" charset="-128"/>
              <ns1:cs typeface="Arial" panose="020B0604020202020204" pitchFamily="34" charset="0"/>
            </ns1:endParaRPr>
          </ns1:p>
        </ns0:txBody>
      </ns0:sp>
      <ns0:sp>
        <ns0:nvSpPr>
          <ns0:cNvPr id="16" name="TextBox 15">
            <ns1:extLst>
              <ns1:ext uri="{FF2B5EF4-FFF2-40B4-BE49-F238E27FC236}">
                <ns2:creationId id="{5CB9201B-E4DF-490F-839D-DE3B930B4CCB}"/>
              </ns1:ext>
            </ns1:extLst>
          </ns0:cNvPr>
          <ns0:cNvSpPr txBox="1"/>
          <ns0:nvPr/>
        </ns0:nvSpPr>
        <ns0:spPr>
          <ns1:xfrm>
            <ns1:off x="63248" y="535377"/>
            <ns1:ext cx="3441952" cy="276999"/>
          </ns1:xfrm>
          <ns1:prstGeom prst="rect">
            <ns1:avLst/>
          </ns1:prstGeom>
          <ns1:noFill/>
        </ns0:spPr>
        <ns0:txBody>
          <ns1:bodyPr wrap="square" rtlCol="0">
            <ns1:spAutoFit/>
          </ns1:bodyPr>
          <ns1:lstStyle/>
          <ns1:p>
            <ns1:pPr marL="171450" indent="-171450" eaLnBrk="1" latinLnBrk="0">
              <ns1:buFont typeface="Wingdings" panose="05000000000000000000" pitchFamily="2" charset="2"/>
              <ns1:buChar char="q"/>
            </ns1:pPr>
            <ns1:r>
              <ns1:rPr lang="vi-VN" sz="1000" b="1" dirty="0">
                <ns1:latin typeface="Arial" panose="020B0604020202020204" pitchFamily="34" charset="0"/>
                <ns1:ea typeface="Arial Unicode MS" panose="020B0604020202020204" pitchFamily="34" charset="-128"/>
                <ns1:cs typeface="Arial" panose="020B0604020202020204" pitchFamily="34" charset="0"/>
              </ns1:rPr>
              <ns1:t>Luminance station</ns1:t>
            </ns1:r>
          </ns1:p>
        </ns0:txBody>
      </ns0:sp>
      <ns0:sp>
        <ns0:nvSpPr>
          <ns0:cNvPr id="18" name="TextBox 17">
            <ns1:extLst>
              <ns1:ext uri="{FF2B5EF4-FFF2-40B4-BE49-F238E27FC236}">
                <ns2:creationId id="{2F0F0E5E-6DDF-4CAB-BC6D-54F0BC4AB452}"/>
              </ns1:ext>
            </ns1:extLst>
          </ns0:cNvPr>
          <ns0:cNvSpPr txBox="1"/>
          <ns0:nvPr/>
        </ns0:nvSpPr>
        <ns0:spPr>
          <ns1:xfrm>
            <ns1:off x="144016" y="5823484"/>
            <ns1:ext cx="9228584" cy="646331"/>
          </ns1:xfrm>
          <ns1:prstGeom prst="rect">
            <ns1:avLst/>
          </ns1:prstGeom>
          <ns1:noFill/>
        </ns0:spPr>
        <ns0:txBody>
          <ns1:bodyPr wrap="square" rtlCol="0">
            <ns1:spAutoFit/>
          </ns1:bodyPr>
          <ns1:lstStyle/>
          <ns1:p>
            <ns1:pPr marL="171450" indent="-171450" eaLnBrk="1" latinLnBrk="0">
              <ns1:buFont typeface="Wingdings" panose="05000000000000000000" pitchFamily="2" charset="2"/>
              <ns1:buChar char="Ø"/>
            </ns1:pPr>
            <ns1:r>
              <ns1:rPr lang="en-US" altLang="ko-KR" sz="1000" b="1" u="sng" dirty="0">
                <ns1:latin typeface="Arial" panose="020B0604020202020204" pitchFamily="34" charset="0"/>
                <ns1:ea typeface="LG Smart_H Regular" panose="020B0600000101010101" pitchFamily="34" charset="-127"/>
                <ns1:cs typeface="Arial" panose="020B0604020202020204" pitchFamily="34" charset="0"/>
              </ns1:rPr>
              <ns1:t>Conclusion:
• No out-of-control point and no abnormal pattern in Xbar and R charts → The process is statistically STABLE over time.
• However, process mean (X̄ = 826.25 Cd/m²) is shifted severely toward Lower Spec Limit (LSL = 800 Cd/m²).
• 14.0% of baseline readings (7 of 50) fall below LSL, confirming the high defect rate of 226,624 ppm.
→ Key Insight: Process is STABLE but NOT CAPABLE (Cpk = 0.45 &lt; 1.33). Proceed to Analyze phase to identify root cause.</ns1:t>
            </ns1:r>
            <ns1:endParaRPr lang="en-US" altLang="ko-KR" sz="1200" dirty="0">
              <ns1:latin typeface="Arial" panose="020B0604020202020204" pitchFamily="34" charset="0"/>
              <ns1:ea typeface="LG Smart_H Regular" panose="020B0600000101010101" pitchFamily="34" charset="-127"/>
              <ns1:cs typeface="Arial" panose="020B0604020202020204" pitchFamily="34" charset="0"/>
            </ns1:endParaRPr>
          </ns1:p>
        </ns0:txBody>
      </ns0:sp>
      <ns0:graphicFrame>
        <ns0:nvGraphicFramePr>
          <ns0:cNvPr id="4" name="Table 3">
            <ns1:extLst>
              <ns1:ext uri="{FF2B5EF4-FFF2-40B4-BE49-F238E27FC236}">
                <ns2:creationId id="{80AE7440-4A49-4884-9338-70840B8D69D5}"/>
              </ns1:ext>
            </ns1:extLst>
          </ns0:cNvPr>
          <ns0:cNvGraphicFramePr>
            <ns1:graphicFrameLocks noGrp="1"/>
          </ns0:cNvGraphicFramePr>
          <ns0:nvPr>
            <ns0:extLst>
              <ns0:ext uri="{D42A27DB-BD31-4B8C-83A1-F6EECF244321}">
                <ns3:modId val="141134505"/>
              </ns0:ext>
            </ns0:extLst>
          </ns0:nvPr>
        </ns0:nvGraphicFramePr>
        <ns0:xfrm>
          <ns1:off x="144016" y="1730969"/>
          <ns1:ext cx="3962400" cy="3295490"/>
        </ns0:xfrm>
        <ns1:graphic>
          <ns1:graphicData uri="http://schemas.openxmlformats.org/drawingml/2006/table">
            <ns1:tbl>
              <ns1:tblPr/>
              <ns1:tblGrid>
                <ns1:gridCol w="660400">
                  <ns1:extLst>
                    <ns1:ext uri="{9D8B030D-6E8A-4147-A177-3AD203B41FA5}">
                      <ns2:colId val="1668832001"/>
                    </ns1:ext>
                  </ns1:extLst>
                </ns1:gridCol>
                <ns1:gridCol w="660400">
                  <ns1:extLst>
                    <ns1:ext uri="{9D8B030D-6E8A-4147-A177-3AD203B41FA5}">
                      <ns2:colId val="3568765916"/>
                    </ns1:ext>
                  </ns1:extLst>
                </ns1:gridCol>
                <ns1:gridCol w="660400">
                  <ns1:extLst>
                    <ns1:ext uri="{9D8B030D-6E8A-4147-A177-3AD203B41FA5}">
                      <ns2:colId val="510279553"/>
                    </ns1:ext>
                  </ns1:extLst>
                </ns1:gridCol>
                <ns1:gridCol w="660400">
                  <ns1:extLst>
                    <ns1:ext uri="{9D8B030D-6E8A-4147-A177-3AD203B41FA5}">
                      <ns2:colId val="3294816272"/>
                    </ns1:ext>
                  </ns1:extLst>
                </ns1:gridCol>
                <ns1:gridCol w="660400">
                  <ns1:extLst>
                    <ns1:ext uri="{9D8B030D-6E8A-4147-A177-3AD203B41FA5}">
                      <ns2:colId val="2667025655"/>
                    </ns1:ext>
                  </ns1:extLst>
                </ns1:gridCol>
                <ns1:gridCol w="660400">
                  <ns1:extLst>
                    <ns1:ext uri="{9D8B030D-6E8A-4147-A177-3AD203B41FA5}">
                      <ns2:colId val="2627515326"/>
                    </ns1:ext>
                  </ns1:extLst>
                </ns1:gridCol>
              </ns1:tblGrid>
              <ns1:tr h="299590">
                <ns1:tc>
                  <ns1:txBody>
                    <ns1:bodyPr/>
                    <ns1:lstStyle/>
                    <ns1:p>
                      <ns1:pPr algn="ctr" rtl="0" eaLnBrk="1" fontAlgn="ctr" latinLnBrk="0"/>
                      <ns1:r>
                        <ns1:rPr lang="en-US" sz="800" b="1" i="0" u="none" strike="noStrike">
                          <ns1:solidFill>
                            <ns1:srgbClr val="000000"/>
                          </ns1:solidFill>
                          <ns1:effectLst/>
                          <ns1:latin typeface="Arial" panose="020B0604020202020204" pitchFamily="34" charset="0"/>
                        </ns1:rPr>
                        <ns1:t>Date</ns1:t>
                      </ns1:r>
                    </ns1:p>
                  </ns1:txBody>
                  <ns1:tcPr marL="0" marR="0" marT="0" marB="0" anchor="ctr">
                    <ns1:lnL w="12700" cap="flat" cmpd="sng" algn="ctr">
                      <ns1:solidFill>
                        <ns1:srgbClr val="000000"/>
                      </ns1:solidFill>
                      <ns1:prstDash val="solid"/>
                      <ns1:round/>
                      <ns1:headEnd type="none" w="med" len="med"/>
                      <ns1:tailEnd type="none" w="med" len="med"/>
                    </ns1:lnL>
                    <ns1:lnR w="12700" cap="flat" cmpd="sng" algn="ctr">
                      <ns1:solidFill>
                        <ns1:srgbClr val="000000"/>
                      </ns1:solidFill>
                      <ns1:prstDash val="solid"/>
                      <ns1:round/>
                      <ns1:headEnd type="none" w="med" len="med"/>
                      <ns1:tailEnd type="none" w="med" len="med"/>
                    </ns1:lnR>
                    <ns1:lnT w="1270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solidFill>
                      <ns1:srgbClr val="BFBFBF"/>
                    </ns1:solidFill>
                  </ns1:tcPr>
                </ns1:tc>
                <ns1:tc>
                  <ns1:txBody>
                    <ns1:bodyPr/>
                    <ns1:lstStyle/>
                    <ns1:p>
                      <ns1:pPr algn="ctr" rtl="0" eaLnBrk="1" fontAlgn="ctr" latinLnBrk="0"/>
                      <ns1:r>
                        <ns1:rPr lang="en-US" sz="800" b="1" i="0" u="none" strike="noStrike">
                          <ns1:solidFill>
                            <ns1:srgbClr val="000000"/>
                          </ns1:solidFill>
                          <ns1:effectLst/>
                          <ns1:latin typeface="Arial" panose="020B0604020202020204" pitchFamily="34" charset="0"/>
                        </ns1:rPr>
                        <ns1:t>Sample 1</ns1:t>
                      </ns1:r>
                    </ns1:p>
                  </ns1:txBody>
                  <ns1:tcPr marL="0" marR="0" marT="0" marB="0" anchor="ctr">
                    <ns1:lnL w="12700" cap="flat" cmpd="sng" algn="ctr">
                      <ns1:solidFill>
                        <ns1:srgbClr val="000000"/>
                      </ns1:solidFill>
                      <ns1:prstDash val="solid"/>
                      <ns1:round/>
                      <ns1:headEnd type="none" w="med" len="med"/>
                      <ns1:tailEnd type="none" w="med" len="med"/>
                    </ns1:lnL>
                    <ns1:lnR w="12700" cap="flat" cmpd="sng" algn="ctr">
                      <ns1:solidFill>
                        <ns1:srgbClr val="000000"/>
                      </ns1:solidFill>
                      <ns1:prstDash val="solid"/>
                      <ns1:round/>
                      <ns1:headEnd type="none" w="med" len="med"/>
                      <ns1:tailEnd type="none" w="med" len="med"/>
                    </ns1:lnR>
                    <ns1:lnT w="1270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solidFill>
                      <ns1:srgbClr val="BFBFBF"/>
                    </ns1:solidFill>
                  </ns1:tcPr>
                </ns1:tc>
                <ns1:tc>
                  <ns1:txBody>
                    <ns1:bodyPr/>
                    <ns1:lstStyle/>
                    <ns1:p>
                      <ns1:pPr algn="ctr" rtl="0" eaLnBrk="1" fontAlgn="ctr" latinLnBrk="0"/>
                      <ns1:r>
                        <ns1:rPr lang="en-US" sz="800" b="1" i="0" u="none" strike="noStrike">
                          <ns1:solidFill>
                            <ns1:srgbClr val="000000"/>
                          </ns1:solidFill>
                          <ns1:effectLst/>
                          <ns1:latin typeface="Arial" panose="020B0604020202020204" pitchFamily="34" charset="0"/>
                        </ns1:rPr>
                        <ns1:t>Sample 2</ns1:t>
                      </ns1:r>
                    </ns1:p>
                  </ns1:txBody>
                  <ns1:tcPr marL="0" marR="0" marT="0" marB="0" anchor="ctr">
                    <ns1:lnL w="12700" cap="flat" cmpd="sng" algn="ctr">
                      <ns1:solidFill>
                        <ns1:srgbClr val="000000"/>
                      </ns1:solidFill>
                      <ns1:prstDash val="solid"/>
                      <ns1:round/>
                      <ns1:headEnd type="none" w="med" len="med"/>
                      <ns1:tailEnd type="none" w="med" len="med"/>
                    </ns1:lnL>
                    <ns1:lnR w="12700" cap="flat" cmpd="sng" algn="ctr">
                      <ns1:solidFill>
                        <ns1:srgbClr val="000000"/>
                      </ns1:solidFill>
                      <ns1:prstDash val="solid"/>
                      <ns1:round/>
                      <ns1:headEnd type="none" w="med" len="med"/>
                      <ns1:tailEnd type="none" w="med" len="med"/>
                    </ns1:lnR>
                    <ns1:lnT w="1270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solidFill>
                      <ns1:srgbClr val="BFBFBF"/>
                    </ns1:solidFill>
                  </ns1:tcPr>
                </ns1:tc>
                <ns1:tc>
                  <ns1:txBody>
                    <ns1:bodyPr/>
                    <ns1:lstStyle/>
                    <ns1:p>
                      <ns1:pPr algn="ctr" rtl="0" eaLnBrk="1" fontAlgn="ctr" latinLnBrk="0"/>
                      <ns1:r>
                        <ns1:rPr lang="en-US" sz="800" b="1" i="0" u="none" strike="noStrike">
                          <ns1:solidFill>
                            <ns1:srgbClr val="000000"/>
                          </ns1:solidFill>
                          <ns1:effectLst/>
                          <ns1:latin typeface="Arial" panose="020B0604020202020204" pitchFamily="34" charset="0"/>
                        </ns1:rPr>
                        <ns1:t>Sample 3</ns1:t>
                      </ns1:r>
                    </ns1:p>
                  </ns1:txBody>
                  <ns1:tcPr marL="0" marR="0" marT="0" marB="0" anchor="ctr">
                    <ns1:lnL w="12700" cap="flat" cmpd="sng" algn="ctr">
                      <ns1:solidFill>
                        <ns1:srgbClr val="000000"/>
                      </ns1:solidFill>
                      <ns1:prstDash val="solid"/>
                      <ns1:round/>
                      <ns1:headEnd type="none" w="med" len="med"/>
                      <ns1:tailEnd type="none" w="med" len="med"/>
                    </ns1:lnL>
                    <ns1:lnR w="12700" cap="flat" cmpd="sng" algn="ctr">
                      <ns1:solidFill>
                        <ns1:srgbClr val="000000"/>
                      </ns1:solidFill>
                      <ns1:prstDash val="solid"/>
                      <ns1:round/>
                      <ns1:headEnd type="none" w="med" len="med"/>
                      <ns1:tailEnd type="none" w="med" len="med"/>
                    </ns1:lnR>
                    <ns1:lnT w="1270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solidFill>
                      <ns1:srgbClr val="BFBFBF"/>
                    </ns1:solidFill>
                  </ns1:tcPr>
                </ns1:tc>
                <ns1:tc>
                  <ns1:txBody>
                    <ns1:bodyPr/>
                    <ns1:lstStyle/>
                    <ns1:p>
                      <ns1:pPr algn="ctr" rtl="0" eaLnBrk="1" fontAlgn="ctr" latinLnBrk="0"/>
                      <ns1:r>
                        <ns1:rPr lang="en-US" sz="800" b="1" i="0" u="none" strike="noStrike">
                          <ns1:solidFill>
                            <ns1:srgbClr val="000000"/>
                          </ns1:solidFill>
                          <ns1:effectLst/>
                          <ns1:latin typeface="Arial" panose="020B0604020202020204" pitchFamily="34" charset="0"/>
                        </ns1:rPr>
                        <ns1:t>Sample 4</ns1:t>
                      </ns1:r>
                    </ns1:p>
                  </ns1:txBody>
                  <ns1:tcPr marL="0" marR="0" marT="0" marB="0" anchor="ctr">
                    <ns1:lnL w="12700" cap="flat" cmpd="sng" algn="ctr">
                      <ns1:solidFill>
                        <ns1:srgbClr val="000000"/>
                      </ns1:solidFill>
                      <ns1:prstDash val="solid"/>
                      <ns1:round/>
                      <ns1:headEnd type="none" w="med" len="med"/>
                      <ns1:tailEnd type="none" w="med" len="med"/>
                    </ns1:lnL>
                    <ns1:lnR w="12700" cap="flat" cmpd="sng" algn="ctr">
                      <ns1:solidFill>
                        <ns1:srgbClr val="000000"/>
                      </ns1:solidFill>
                      <ns1:prstDash val="solid"/>
                      <ns1:round/>
                      <ns1:headEnd type="none" w="med" len="med"/>
                      <ns1:tailEnd type="none" w="med" len="med"/>
                    </ns1:lnR>
                    <ns1:lnT w="1270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solidFill>
                      <ns1:srgbClr val="BFBFBF"/>
                    </ns1:solidFill>
                  </ns1:tcPr>
                </ns1:tc>
                <ns1:tc>
                  <ns1:txBody>
                    <ns1:bodyPr/>
                    <ns1:lstStyle/>
                    <ns1:p>
                      <ns1:pPr algn="ctr" rtl="0" eaLnBrk="1" fontAlgn="ctr" latinLnBrk="0"/>
                      <ns1:r>
                        <ns1:rPr lang="en-US" sz="800" b="1" i="0" u="none" strike="noStrike">
                          <ns1:solidFill>
                            <ns1:srgbClr val="000000"/>
                          </ns1:solidFill>
                          <ns1:effectLst/>
                          <ns1:latin typeface="Arial" panose="020B0604020202020204" pitchFamily="34" charset="0"/>
                        </ns1:rPr>
                        <ns1:t>Sample 5</ns1:t>
                      </ns1:r>
                    </ns1:p>
                  </ns1:txBody>
                  <ns1:tcPr marL="0" marR="0" marT="0" marB="0" anchor="ctr">
                    <ns1:lnL w="12700" cap="flat" cmpd="sng" algn="ctr">
                      <ns1:solidFill>
                        <ns1:srgbClr val="000000"/>
                      </ns1:solidFill>
                      <ns1:prstDash val="solid"/>
                      <ns1:round/>
                      <ns1:headEnd type="none" w="med" len="med"/>
                      <ns1:tailEnd type="none" w="med" len="med"/>
                    </ns1:lnL>
                    <ns1:lnR w="12700" cap="flat" cmpd="sng" algn="ctr">
                      <ns1:solidFill>
                        <ns1:srgbClr val="000000"/>
                      </ns1:solidFill>
                      <ns1:prstDash val="solid"/>
                      <ns1:round/>
                      <ns1:headEnd type="none" w="med" len="med"/>
                      <ns1:tailEnd type="none" w="med" len="med"/>
                    </ns1:lnR>
                    <ns1:lnT w="1270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solidFill>
                      <ns1:srgbClr val="BFBFBF"/>
                    </ns1:solidFill>
                  </ns1:tcPr>
                </ns1:tc>
                <ns1:extLst>
                  <ns1:ext uri="{0D108BD9-81ED-4DB2-BD59-A6C34878D82A}">
                    <ns2:rowId val="2738885912"/>
                  </ns1:ext>
                </ns1:extLst>
              </ns1:tr>
              <ns1:tr h="299590">
                <ns1:tc>
                  <ns1:txBody>
                    <ns1:bodyPr/>
                    <ns1:lstStyle/>
                    <ns1:p>
                      <ns1:pPr algn="ctr" rtl="0" eaLnBrk="1" fontAlgn="ctr" latinLnBrk="0"/>
                      <ns1:r>
                        <ns1:rPr lang="en-US" sz="1000" b="1" i="0" u="none" strike="noStrike">
                          <ns1:solidFill>
                            <ns1:srgbClr val="000000"/>
                          </ns1:solidFill>
                          <ns1:effectLst/>
                          <ns1:latin typeface="Arial" panose="020B0600000101010101" pitchFamily="34" charset="-127"/>
                          <ns1:ea typeface="Arial" panose="020B0600000101010101" pitchFamily="34" charset="-127"/>
                        </ns1:rPr>
                        <ns1:t>20-Feb</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796.95</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786.61</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794.73</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796.58</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838.61</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extLst>
                  <ns1:ext uri="{0D108BD9-81ED-4DB2-BD59-A6C34878D82A}">
                    <ns2:rowId val="1865930103"/>
                  </ns1:ext>
                </ns1:extLst>
              </ns1:tr>
              <ns1:tr h="299590">
                <ns1:tc>
                  <ns1:txBody>
                    <ns1:bodyPr/>
                    <ns1:lstStyle/>
                    <ns1:p>
                      <ns1:pPr algn="ctr" rtl="0" eaLnBrk="1" fontAlgn="ctr" latinLnBrk="0"/>
                      <ns1:r>
                        <ns1:rPr lang="en-US" sz="1000" b="1" i="0" u="none" strike="noStrike">
                          <ns1:solidFill>
                            <ns1:srgbClr val="000000"/>
                          </ns1:solidFill>
                          <ns1:effectLst/>
                          <ns1:latin typeface="Arial" panose="020B0600000101010101" pitchFamily="34" charset="-127"/>
                          <ns1:ea typeface="Arial" panose="020B0600000101010101" pitchFamily="34" charset="-127"/>
                        </ns1:rPr>
                        <ns1:t>21-Feb</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839.58</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810.76</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830.05</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815.12</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835.75</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extLst>
                  <ns1:ext uri="{0D108BD9-81ED-4DB2-BD59-A6C34878D82A}">
                    <ns2:rowId val="1858165055"/>
                  </ns1:ext>
                </ns1:extLst>
              </ns1:tr>
              <ns1:tr h="299590">
                <ns1:tc>
                  <ns1:txBody>
                    <ns1:bodyPr/>
                    <ns1:lstStyle/>
                    <ns1:p>
                      <ns1:pPr algn="ctr" rtl="0" eaLnBrk="1" fontAlgn="ctr" latinLnBrk="0"/>
                      <ns1:r>
                        <ns1:rPr lang="en-US" sz="1000" b="1" i="0" u="none" strike="noStrike">
                          <ns1:solidFill>
                            <ns1:srgbClr val="000000"/>
                          </ns1:solidFill>
                          <ns1:effectLst/>
                          <ns1:latin typeface="Arial" panose="020B0600000101010101" pitchFamily="34" charset="-127"/>
                          <ns1:ea typeface="Arial" panose="020B0600000101010101" pitchFamily="34" charset="-127"/>
                        </ns1:rPr>
                        <ns1:t>22-Feb</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823.98</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834.57</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827.40</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827.69</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839.12</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extLst>
                  <ns1:ext uri="{0D108BD9-81ED-4DB2-BD59-A6C34878D82A}">
                    <ns2:rowId val="2266615110"/>
                  </ns1:ext>
                </ns1:extLst>
              </ns1:tr>
              <ns1:tr h="299590">
                <ns1:tc>
                  <ns1:txBody>
                    <ns1:bodyPr/>
                    <ns1:lstStyle/>
                    <ns1:p>
                      <ns1:pPr algn="ctr" rtl="0" eaLnBrk="1" fontAlgn="ctr" latinLnBrk="0"/>
                      <ns1:r>
                        <ns1:rPr lang="en-US" sz="1000" b="1" i="0" u="none" strike="noStrike">
                          <ns1:solidFill>
                            <ns1:srgbClr val="000000"/>
                          </ns1:solidFill>
                          <ns1:effectLst/>
                          <ns1:latin typeface="Arial" panose="020B0600000101010101" pitchFamily="34" charset="-127"/>
                          <ns1:ea typeface="Arial" panose="020B0600000101010101" pitchFamily="34" charset="-127"/>
                        </ns1:rPr>
                        <ns1:t>23-Feb</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835.42</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839.73</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842.06</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834.01</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834.48</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extLst>
                  <ns1:ext uri="{0D108BD9-81ED-4DB2-BD59-A6C34878D82A}">
                    <ns2:rowId val="978842911"/>
                  </ns1:ext>
                </ns1:extLst>
              </ns1:tr>
              <ns1:tr h="299590">
                <ns1:tc>
                  <ns1:txBody>
                    <ns1:bodyPr/>
                    <ns1:lstStyle/>
                    <ns1:p>
                      <ns1:pPr algn="ctr" rtl="0" eaLnBrk="1" fontAlgn="ctr" latinLnBrk="0"/>
                      <ns1:r>
                        <ns1:rPr lang="en-US" sz="1000" b="1" i="0" u="none" strike="noStrike">
                          <ns1:solidFill>
                            <ns1:srgbClr val="000000"/>
                          </ns1:solidFill>
                          <ns1:effectLst/>
                          <ns1:latin typeface="Arial" panose="020B0600000101010101" pitchFamily="34" charset="-127"/>
                          <ns1:ea typeface="Arial" panose="020B0600000101010101" pitchFamily="34" charset="-127"/>
                        </ns1:rPr>
                        <ns1:t>24-Feb</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834.67</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836.61</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786.15</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780.77</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827.29</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extLst>
                  <ns1:ext uri="{0D108BD9-81ED-4DB2-BD59-A6C34878D82A}">
                    <ns2:rowId val="2523840345"/>
                  </ns1:ext>
                </ns1:extLst>
              </ns1:tr>
              <ns1:tr h="299590">
                <ns1:tc>
                  <ns1:txBody>
                    <ns1:bodyPr/>
                    <ns1:lstStyle/>
                    <ns1:p>
                      <ns1:pPr algn="ctr" rtl="0" eaLnBrk="1" fontAlgn="ctr" latinLnBrk="0"/>
                      <ns1:r>
                        <ns1:rPr lang="en-US" sz="1000" b="1" i="0" u="none" strike="noStrike">
                          <ns1:solidFill>
                            <ns1:srgbClr val="000000"/>
                          </ns1:solidFill>
                          <ns1:effectLst/>
                          <ns1:latin typeface="Arial" panose="020B0600000101010101" pitchFamily="34" charset="-127"/>
                          <ns1:ea typeface="Arial" panose="020B0600000101010101" pitchFamily="34" charset="-127"/>
                        </ns1:rPr>
                        <ns1:t>25-Feb</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837.73</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811.78</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833.46</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836.42</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837.85</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extLst>
                  <ns1:ext uri="{0D108BD9-81ED-4DB2-BD59-A6C34878D82A}">
                    <ns2:rowId val="3993943853"/>
                  </ns1:ext>
                </ns1:extLst>
              </ns1:tr>
              <ns1:tr h="299590">
                <ns1:tc>
                  <ns1:txBody>
                    <ns1:bodyPr/>
                    <ns1:lstStyle/>
                    <ns1:p>
                      <ns1:pPr algn="ctr" rtl="0" eaLnBrk="1" fontAlgn="ctr" latinLnBrk="0"/>
                      <ns1:r>
                        <ns1:rPr lang="en-US" sz="1000" b="1" i="0" u="none" strike="noStrike">
                          <ns1:solidFill>
                            <ns1:srgbClr val="000000"/>
                          </ns1:solidFill>
                          <ns1:effectLst/>
                          <ns1:latin typeface="Arial" panose="020B0600000101010101" pitchFamily="34" charset="-127"/>
                          <ns1:ea typeface="Arial" panose="020B0600000101010101" pitchFamily="34" charset="-127"/>
                        </ns1:rPr>
                        <ns1:t>26-Feb</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817.70</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857.90</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837.17</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838.29</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828.88</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extLst>
                  <ns1:ext uri="{0D108BD9-81ED-4DB2-BD59-A6C34878D82A}">
                    <ns2:rowId val="178444588"/>
                  </ns1:ext>
                </ns1:extLst>
              </ns1:tr>
              <ns1:tr h="299590">
                <ns1:tc>
                  <ns1:txBody>
                    <ns1:bodyPr/>
                    <ns1:lstStyle/>
                    <ns1:p>
                      <ns1:pPr algn="ctr" rtl="0" eaLnBrk="1" fontAlgn="ctr" latinLnBrk="0"/>
                      <ns1:r>
                        <ns1:rPr lang="en-US" sz="1000" b="1" i="0" u="none" strike="noStrike">
                          <ns1:solidFill>
                            <ns1:srgbClr val="000000"/>
                          </ns1:solidFill>
                          <ns1:effectLst/>
                          <ns1:latin typeface="Arial" panose="020B0600000101010101" pitchFamily="34" charset="-127"/>
                          <ns1:ea typeface="Arial" panose="020B0600000101010101" pitchFamily="34" charset="-127"/>
                        </ns1:rPr>
                        <ns1:t>27-Feb</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826.94</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840.14</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839.72</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830.75</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830.78</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extLst>
                  <ns1:ext uri="{0D108BD9-81ED-4DB2-BD59-A6C34878D82A}">
                    <ns2:rowId val="3865670741"/>
                  </ns1:ext>
                </ns1:extLst>
              </ns1:tr>
              <ns1:tr h="299590">
                <ns1:tc>
                  <ns1:txBody>
                    <ns1:bodyPr/>
                    <ns1:lstStyle/>
                    <ns1:p>
                      <ns1:pPr algn="ctr" rtl="0" eaLnBrk="1" fontAlgn="ctr" latinLnBrk="0"/>
                      <ns1:r>
                        <ns1:rPr lang="en-US" sz="1000" b="1" i="0" u="none" strike="noStrike">
                          <ns1:solidFill>
                            <ns1:srgbClr val="000000"/>
                          </ns1:solidFill>
                          <ns1:effectLst/>
                          <ns1:latin typeface="Arial" panose="020B0600000101010101" pitchFamily="34" charset="-127"/>
                          <ns1:ea typeface="Arial" panose="020B0600000101010101" pitchFamily="34" charset="-127"/>
                        </ns1:rPr>
                        <ns1:t>28-Feb</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823.24</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826.32</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825.35</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827.79</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838.87</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extLst>
                  <ns1:ext uri="{0D108BD9-81ED-4DB2-BD59-A6C34878D82A}">
                    <ns2:rowId val="2586527454"/>
                  </ns1:ext>
                </ns1:extLst>
              </ns1:tr>
              <ns1:tr h="299590">
                <ns1:tc>
                  <ns1:txBody>
                    <ns1:bodyPr/>
                    <ns1:lstStyle/>
                    <ns1:p>
                      <ns1:pPr algn="ctr" rtl="0" eaLnBrk="1" fontAlgn="ctr" latinLnBrk="0"/>
                      <ns1:r>
                        <ns1:rPr lang="en-US" sz="1000" b="1" i="0" u="none" strike="noStrike">
                          <ns1:solidFill>
                            <ns1:srgbClr val="000000"/>
                          </ns1:solidFill>
                          <ns1:effectLst/>
                          <ns1:latin typeface="Arial" panose="020B0600000101010101" pitchFamily="34" charset="-127"/>
                          <ns1:ea typeface="Arial" panose="020B0600000101010101" pitchFamily="34" charset="-127"/>
                        </ns1:rPr>
                        <ns1:t>01-Mar</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837.29</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850.33</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819.42</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ns1:solidFill>
                            <ns1:srgbClr val="000000"/>
                          </ns1:solidFill>
                          <ns1:effectLst/>
                          <ns1:latin typeface="Arial" panose="020F0502020204030204" pitchFamily="34" charset="0"/>
                          <ns1:ea typeface="Arial"/>
                        </ns1:rPr>
                        <ns1:t>755.89</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tc>
                  <ns1:txBody>
                    <ns1:bodyPr/>
                    <ns1:lstStyle/>
                    <ns1:p>
                      <ns1:pPr algn="ctr" eaLnBrk="1" fontAlgn="ctr" latinLnBrk="0"/>
                      <ns1:r>
                        <ns1:rPr lang="en-US" sz="1000" b="0" i="0" u="none" strike="noStrike" dirty="0">
                          <ns1:solidFill>
                            <ns1:srgbClr val="000000"/>
                          </ns1:solidFill>
                          <ns1:effectLst/>
                          <ns1:latin typeface="Arial" panose="020F0502020204030204" pitchFamily="34" charset="0"/>
                          <ns1:ea typeface="Arial"/>
                        </ns1:rPr>
                        <ns1:t>853.94</ns1:t>
                      </ns1:r>
                    </ns1:p>
                  </ns1:txBody>
                  <ns1:tcPr marL="0" marR="0" marT="0" marB="0" anchor="ctr">
                    <ns1:lnL w="6350" cap="flat" cmpd="sng" algn="ctr">
                      <ns1:solidFill>
                        <ns1:srgbClr val="000000"/>
                      </ns1:solidFill>
                      <ns1:prstDash val="solid"/>
                      <ns1:round/>
                      <ns1:headEnd type="none" w="med" len="med"/>
                      <ns1:tailEnd type="none" w="med" len="med"/>
                    </ns1:lnL>
                    <ns1:lnR w="6350" cap="flat" cmpd="sng" algn="ctr">
                      <ns1:solidFill>
                        <ns1:srgbClr val="000000"/>
                      </ns1:solidFill>
                      <ns1:prstDash val="solid"/>
                      <ns1:round/>
                      <ns1:headEnd type="none" w="med" len="med"/>
                      <ns1:tailEnd type="none" w="med" len="med"/>
                    </ns1:lnR>
                    <ns1:lnT w="6350" cap="flat" cmpd="sng" algn="ctr">
                      <ns1:solidFill>
                        <ns1:srgbClr val="000000"/>
                      </ns1:solidFill>
                      <ns1:prstDash val="solid"/>
                      <ns1:round/>
                      <ns1:headEnd type="none" w="med" len="med"/>
                      <ns1:tailEnd type="none" w="med" len="med"/>
                    </ns1:lnT>
                    <ns1:lnB w="6350" cap="flat" cmpd="sng" algn="ctr">
                      <ns1:solidFill>
                        <ns1:srgbClr val="000000"/>
                      </ns1:solidFill>
                      <ns1:prstDash val="solid"/>
                      <ns1:round/>
                      <ns1:headEnd type="none" w="med" len="med"/>
                      <ns1:tailEnd type="none" w="med" len="med"/>
                    </ns1:lnB>
                  </ns1:tcPr>
                </ns1:tc>
                <ns1:extLst>
                  <ns1:ext uri="{0D108BD9-81ED-4DB2-BD59-A6C34878D82A}">
                    <ns2:rowId val="3378251075"/>
                  </ns1:ext>
                </ns1:extLst>
              </ns1:tr>
            </ns1:tbl>
          </ns1:graphicData>
        </ns1:graphic>
      </ns0:graphicFrame>
      <ns0:pic>
        <ns0:nvPicPr>
          <ns0:cNvPr id="8" name="Picture 7">
            <ns1:extLst>
              <ns1:ext uri="{FF2B5EF4-FFF2-40B4-BE49-F238E27FC236}">
                <ns2:creationId id="{5FF8E901-80C9-4272-8121-A4E818956BB0}"/>
              </ns1:ext>
            </ns1:extLst>
          </ns0:cNvPr>
          <ns0:cNvPicPr>
            <ns1:picLocks noChangeAspect="1"/>
          </ns0:cNvPicPr>
          <ns0:nvPr/>
        </ns0:nvPicPr>
        <ns0:blipFill>
          <ns1:blip ns4:embed="rId8"/>
          <ns1:stretch>
            <ns1:fillRect/>
          </ns1:stretch>
        </ns0:blipFill>
        <ns0:spPr>
          <ns1:xfrm>
            <ns1:off x="4503987" y="1728466"/>
            <ns1:ext cx="4860425" cy="3295485"/>
          </ns1:xfrm>
          <ns1:prstGeom prst="rect">
            <ns1:avLst/>
          </ns1:prstGeom>
        </ns0:spPr>
      </ns0:pic>
      <ns0:sp>
        <ns0:nvSpPr>
          <ns0:cNvPr id="20" name="TextBox 19">
            <ns1:extLst>
              <ns1:ext uri="{FF2B5EF4-FFF2-40B4-BE49-F238E27FC236}">
                <ns2:creationId id="{CC80CBA3-AF38-4F86-A93F-C2965B6E0F40}"/>
              </ns1:ext>
            </ns1:extLst>
          </ns0:cNvPr>
          <ns0:cNvSpPr txBox="1"/>
          <ns0:nvPr/>
        </ns0:nvSpPr>
        <ns0:spPr>
          <ns1:xfrm>
            <ns1:off x="67106" y="842041"/>
            <ns1:ext cx="9457894" cy="461665"/>
          </ns1:xfrm>
          <ns1:prstGeom prst="rect">
            <ns1:avLst/>
          </ns1:prstGeom>
          <ns1:noFill/>
        </ns0:spPr>
        <ns0:txBody>
          <ns1:bodyPr wrap="square" rtlCol="0">
            <ns1:spAutoFit/>
          </ns1:bodyPr>
          <ns1:lstStyle/>
          <ns1:p>
            <ns1:pPr eaLnBrk="1" latinLnBrk="0"/>
            <ns1:r>
              <ns1:rPr lang="en-US" altLang="ko-KR" sz="1000" dirty="0">
                <ns1:latin typeface="Arial" panose="020B0604020202020204" pitchFamily="34" charset="0"/>
                <ns1:ea typeface="Arial Unicode MS" panose="020B0604020202020204" pitchFamily="34" charset="-128"/>
                <ns1:cs typeface="Arial" panose="020B0604020202020204" pitchFamily="34" charset="0"/>
              </ns1:rPr>
              <ns1:t>Issue Name: Luminance value NG | Spec: 800.00 ~ 2000.00 Cd/m² | Period: 20-Feb-2026 ~ 01-Mar-2026</ns1:t>
            </ns1:r>
          </ns1:p>
          <ns1:p>
            <ns1:pPr eaLnBrk="1" latinLnBrk="0"/>
            <ns1:r>
              <ns1:rPr lang="en-US" altLang="ko-KR" sz="1000" dirty="0">
                <ns1:latin typeface="Arial" panose="020B0604020202020204" pitchFamily="34" charset="0"/>
                <ns1:ea typeface="Arial Unicode MS" panose="020B0604020202020204" pitchFamily="34" charset="-128"/>
                <ns1:cs typeface="Arial" panose="020B0604020202020204" pitchFamily="34" charset="0"/>
              </ns1:rPr>
              <ns1:t>- Sampling method: Rational subgroup sampling, first 5 sets per day at FA line (Line IVI 5), for 10 days.</ns1:t>
            </ns1:r>
          </ns1:p>
        </ns0:txBody>
      </ns0:sp>
      <ns0:sp>
        <ns0:nvSpPr>
          <ns0:cNvPr id="20" name="AutoShape 55">
            <ns1:extLst>
              <ns1:ext uri="{FF2B5EF4-FFF2-40B4-BE49-F238E27FC236}">
                <ns2:creationId id="{E3DAE121-5AD2-49F1-8C9B-011C4117CD97}"/>
              </ns1:ext>
            </ns1:extLst>
          </ns0:cNvPr>
          <ns0:cNvSpPr>
            <ns1:spLocks noChangeArrowheads="1"/>
          </ns0:cNvSpPr>
          <ns0:nvPr/>
        </ns0:nvSpPr>
        <ns0:spPr bwMode="auto">
          <ns1:xfrm>
            <ns1:off x="9069039" y="178989"/>
            <ns1:ext cx="747713" cy="287338"/>
          </ns1:xfrm>
          <ns1:prstGeom prst="homePlate">
            <ns1:avLst>
              <ns1:gd name="adj" fmla="val 46599"/>
            </ns1:avLst>
          </ns1:prstGeom>
          <ns1:solidFill>
            <ns1:schemeClr val="bg1"/>
          </ns1:solidFill>
          <ns1:ln w="3175" algn="ctr">
            <ns1:solidFill>
              <ns1:schemeClr val="bg2"/>
            </ns1:solidFill>
            <ns1:miter lim="800000"/>
            <ns1:headEnd/>
            <ns1:tailEnd/>
          </ns1:ln>
        </ns0:spPr>
        <ns0:txBody>
          <ns1:bodyPr wrap="none" lIns="92075" tIns="46038" rIns="92075" bIns="46038" anchor="ctr"/>
          <ns1:lstStyle>
            <ns1:lvl1pPr defTabSz="762000">
              <ns1:defRPr kumimoji="1" sz="1300" b="1">
                <ns1:solidFill>
                  <ns1:schemeClr val="bg1"/>
                </ns1:solidFill>
                <ns1:latin typeface="Arial" panose="020B0604020202020204" pitchFamily="34" charset="0"/>
                <ns1:ea typeface="돋움" panose="020B0600000101010101" pitchFamily="50" charset="-127"/>
              </ns1:defRPr>
            </ns1:lvl1pPr>
            <ns1:lvl2pPr marL="742950" indent="-285750" defTabSz="762000">
              <ns1:defRPr kumimoji="1" sz="1300" b="1">
                <ns1:solidFill>
                  <ns1:schemeClr val="bg1"/>
                </ns1:solidFill>
                <ns1:latin typeface="Arial" panose="020B0604020202020204" pitchFamily="34" charset="0"/>
                <ns1:ea typeface="돋움" panose="020B0600000101010101" pitchFamily="50" charset="-127"/>
              </ns1:defRPr>
            </ns1:lvl2pPr>
            <ns1:lvl3pPr marL="1143000" indent="-228600" defTabSz="762000">
              <ns1:defRPr kumimoji="1" sz="1300" b="1">
                <ns1:solidFill>
                  <ns1:schemeClr val="bg1"/>
                </ns1:solidFill>
                <ns1:latin typeface="Arial" panose="020B0604020202020204" pitchFamily="34" charset="0"/>
                <ns1:ea typeface="돋움" panose="020B0600000101010101" pitchFamily="50" charset="-127"/>
              </ns1:defRPr>
            </ns1:lvl3pPr>
            <ns1:lvl4pPr marL="1600200" indent="-228600" defTabSz="762000">
              <ns1:defRPr kumimoji="1" sz="1300" b="1">
                <ns1:solidFill>
                  <ns1:schemeClr val="bg1"/>
                </ns1:solidFill>
                <ns1:latin typeface="Arial" panose="020B0604020202020204" pitchFamily="34" charset="0"/>
                <ns1:ea typeface="돋움" panose="020B0600000101010101" pitchFamily="50" charset="-127"/>
              </ns1:defRPr>
            </ns1:lvl4pPr>
            <ns1:lvl5pPr marL="2057400" indent="-228600" defTabSz="762000">
              <ns1:defRPr kumimoji="1" sz="1300" b="1">
                <ns1:solidFill>
                  <ns1:schemeClr val="bg1"/>
                </ns1:solidFill>
                <ns1:latin typeface="Arial" panose="020B0604020202020204" pitchFamily="34" charset="0"/>
                <ns1:ea typeface="돋움" panose="020B0600000101010101" pitchFamily="50" charset="-127"/>
              </ns1:defRPr>
            </ns1:lvl5pPr>
            <ns1:lvl6pPr marL="2514600" indent="-228600" defTabSz="762000" eaLnBrk="0" fontAlgn="base" hangingPunct="0">
              <ns1:spcBef>
                <ns1:spcPct val="0"/>
              </ns1:spcBef>
              <ns1:spcAft>
                <ns1:spcPct val="0"/>
              </ns1:spcAft>
              <ns1:defRPr kumimoji="1" sz="1300" b="1">
                <ns1:solidFill>
                  <ns1:schemeClr val="bg1"/>
                </ns1:solidFill>
                <ns1:latin typeface="Arial" panose="020B0604020202020204" pitchFamily="34" charset="0"/>
                <ns1:ea typeface="돋움" panose="020B0600000101010101" pitchFamily="50" charset="-127"/>
              </ns1:defRPr>
            </ns1:lvl6pPr>
            <ns1:lvl7pPr marL="2971800" indent="-228600" defTabSz="762000" eaLnBrk="0" fontAlgn="base" hangingPunct="0">
              <ns1:spcBef>
                <ns1:spcPct val="0"/>
              </ns1:spcBef>
              <ns1:spcAft>
                <ns1:spcPct val="0"/>
              </ns1:spcAft>
              <ns1:defRPr kumimoji="1" sz="1300" b="1">
                <ns1:solidFill>
                  <ns1:schemeClr val="bg1"/>
                </ns1:solidFill>
                <ns1:latin typeface="Arial" panose="020B0604020202020204" pitchFamily="34" charset="0"/>
                <ns1:ea typeface="돋움" panose="020B0600000101010101" pitchFamily="50" charset="-127"/>
              </ns1:defRPr>
            </ns1:lvl7pPr>
            <ns1:lvl8pPr marL="3429000" indent="-228600" defTabSz="762000" eaLnBrk="0" fontAlgn="base" hangingPunct="0">
              <ns1:spcBef>
                <ns1:spcPct val="0"/>
              </ns1:spcBef>
              <ns1:spcAft>
                <ns1:spcPct val="0"/>
              </ns1:spcAft>
              <ns1:defRPr kumimoji="1" sz="1300" b="1">
                <ns1:solidFill>
                  <ns1:schemeClr val="bg1"/>
                </ns1:solidFill>
                <ns1:latin typeface="Arial" panose="020B0604020202020204" pitchFamily="34" charset="0"/>
                <ns1:ea typeface="돋움" panose="020B0600000101010101" pitchFamily="50" charset="-127"/>
              </ns1:defRPr>
            </ns1:lvl8pPr>
            <ns1:lvl9pPr marL="3886200" indent="-228600" defTabSz="762000" eaLnBrk="0" fontAlgn="base" hangingPunct="0">
              <ns1:spcBef>
                <ns1:spcPct val="0"/>
              </ns1:spcBef>
              <ns1:spcAft>
                <ns1:spcPct val="0"/>
              </ns1:spcAft>
              <ns1:defRPr kumimoji="1" sz="1300" b="1">
                <ns1:solidFill>
                  <ns1:schemeClr val="bg1"/>
                </ns1:solidFill>
                <ns1:latin typeface="Arial" panose="020B0604020202020204" pitchFamily="34" charset="0"/>
                <ns1:ea typeface="돋움" panose="020B0600000101010101" pitchFamily="50" charset="-127"/>
              </ns1:defRPr>
            </ns1:lvl9pPr>
          </ns1:lstStyle>
          <ns1:p>
            <ns1:pPr algn="ctr" eaLnBrk="1" latinLnBrk="0" hangingPunct="1"/>
            <ns1:r>
              <ns1:rPr lang="en-US" altLang="ko-KR" sz="1000" dirty="0">
                <ns1:solidFill>
                  <ns1:schemeClr val="tx1"/>
                </ns1:solidFill>
                <ns1:latin typeface="Arial Narrow" panose="020B0606020202030204" pitchFamily="34" charset="0"/>
                <ns1:ea typeface="Arial" panose="020B0503020000020004" pitchFamily="50" charset="-127"/>
              </ns1:rPr>
              <ns1:t>Control</ns1:t>
            </ns1:r>
          </ns1:p>
        </ns0:txBody>
      </ns0:sp>
      <ns0:sp>
        <ns0:nvSpPr>
          <ns0:cNvPr id="21" name="AutoShape 56">
            <ns1:extLst>
              <ns1:ext uri="{FF2B5EF4-FFF2-40B4-BE49-F238E27FC236}">
                <ns2:creationId id="{9D6E827F-BC62-4468-AC57-473EDAD1789F}"/>
              </ns1:ext>
            </ns1:extLst>
          </ns0:cNvPr>
          <ns0:cNvSpPr>
            <ns1:spLocks noChangeArrowheads="1"/>
          </ns0:cNvSpPr>
          <ns0:nvPr/>
        </ns0:nvSpPr>
        <ns0:spPr bwMode="auto">
          <ns1:xfrm>
            <ns1:off x="8380064" y="178989"/>
            <ns1:ext cx="747713" cy="287338"/>
          </ns1:xfrm>
          <ns1:prstGeom prst="homePlate">
            <ns1:avLst>
              <ns1:gd name="adj" fmla="val 46599"/>
            </ns1:avLst>
          </ns1:prstGeom>
          <ns1:solidFill>
            <ns1:schemeClr val="bg1"/>
          </ns1:solidFill>
          <ns1:ln w="3175" algn="ctr">
            <ns1:solidFill>
              <ns1:schemeClr val="bg2"/>
            </ns1:solidFill>
            <ns1:miter lim="800000"/>
            <ns1:headEnd/>
            <ns1:tailEnd/>
          </ns1:ln>
        </ns0:spPr>
        <ns0:txBody>
          <ns1:bodyPr wrap="none" lIns="92075" tIns="46038" rIns="92075" bIns="46038" anchor="ctr"/>
          <ns1:lstStyle>
            <ns1:lvl1pPr defTabSz="762000">
              <ns1:defRPr kumimoji="1" sz="1300" b="1">
                <ns1:solidFill>
                  <ns1:schemeClr val="bg1"/>
                </ns1:solidFill>
                <ns1:latin typeface="Arial" panose="020B0604020202020204" pitchFamily="34" charset="0"/>
                <ns1:ea typeface="돋움" panose="020B0600000101010101" pitchFamily="50" charset="-127"/>
              </ns1:defRPr>
            </ns1:lvl1pPr>
            <ns1:lvl2pPr marL="742950" indent="-285750" defTabSz="762000">
              <ns1:defRPr kumimoji="1" sz="1300" b="1">
                <ns1:solidFill>
                  <ns1:schemeClr val="bg1"/>
                </ns1:solidFill>
                <ns1:latin typeface="Arial" panose="020B0604020202020204" pitchFamily="34" charset="0"/>
                <ns1:ea typeface="돋움" panose="020B0600000101010101" pitchFamily="50" charset="-127"/>
              </ns1:defRPr>
            </ns1:lvl2pPr>
            <ns1:lvl3pPr marL="1143000" indent="-228600" defTabSz="762000">
              <ns1:defRPr kumimoji="1" sz="1300" b="1">
                <ns1:solidFill>
                  <ns1:schemeClr val="bg1"/>
                </ns1:solidFill>
                <ns1:latin typeface="Arial" panose="020B0604020202020204" pitchFamily="34" charset="0"/>
                <ns1:ea typeface="돋움" panose="020B0600000101010101" pitchFamily="50" charset="-127"/>
              </ns1:defRPr>
            </ns1:lvl3pPr>
            <ns1:lvl4pPr marL="1600200" indent="-228600" defTabSz="762000">
              <ns1:defRPr kumimoji="1" sz="1300" b="1">
                <ns1:solidFill>
                  <ns1:schemeClr val="bg1"/>
                </ns1:solidFill>
                <ns1:latin typeface="Arial" panose="020B0604020202020204" pitchFamily="34" charset="0"/>
                <ns1:ea typeface="돋움" panose="020B0600000101010101" pitchFamily="50" charset="-127"/>
              </ns1:defRPr>
            </ns1:lvl4pPr>
            <ns1:lvl5pPr marL="2057400" indent="-228600" defTabSz="762000">
              <ns1:defRPr kumimoji="1" sz="1300" b="1">
                <ns1:solidFill>
                  <ns1:schemeClr val="bg1"/>
                </ns1:solidFill>
                <ns1:latin typeface="Arial" panose="020B0604020202020204" pitchFamily="34" charset="0"/>
                <ns1:ea typeface="돋움" panose="020B0600000101010101" pitchFamily="50" charset="-127"/>
              </ns1:defRPr>
            </ns1:lvl5pPr>
            <ns1:lvl6pPr marL="2514600" indent="-228600" defTabSz="762000" eaLnBrk="0" fontAlgn="base" hangingPunct="0">
              <ns1:spcBef>
                <ns1:spcPct val="0"/>
              </ns1:spcBef>
              <ns1:spcAft>
                <ns1:spcPct val="0"/>
              </ns1:spcAft>
              <ns1:defRPr kumimoji="1" sz="1300" b="1">
                <ns1:solidFill>
                  <ns1:schemeClr val="bg1"/>
                </ns1:solidFill>
                <ns1:latin typeface="Arial" panose="020B0604020202020204" pitchFamily="34" charset="0"/>
                <ns1:ea typeface="돋움" panose="020B0600000101010101" pitchFamily="50" charset="-127"/>
              </ns1:defRPr>
            </ns1:lvl6pPr>
            <ns1:lvl7pPr marL="2971800" indent="-228600" defTabSz="762000" eaLnBrk="0" fontAlgn="base" hangingPunct="0">
              <ns1:spcBef>
                <ns1:spcPct val="0"/>
              </ns1:spcBef>
              <ns1:spcAft>
                <ns1:spcPct val="0"/>
              </ns1:spcAft>
              <ns1:defRPr kumimoji="1" sz="1300" b="1">
                <ns1:solidFill>
                  <ns1:schemeClr val="bg1"/>
                </ns1:solidFill>
                <ns1:latin typeface="Arial" panose="020B0604020202020204" pitchFamily="34" charset="0"/>
                <ns1:ea typeface="돋움" panose="020B0600000101010101" pitchFamily="50" charset="-127"/>
              </ns1:defRPr>
            </ns1:lvl7pPr>
            <ns1:lvl8pPr marL="3429000" indent="-228600" defTabSz="762000" eaLnBrk="0" fontAlgn="base" hangingPunct="0">
              <ns1:spcBef>
                <ns1:spcPct val="0"/>
              </ns1:spcBef>
              <ns1:spcAft>
                <ns1:spcPct val="0"/>
              </ns1:spcAft>
              <ns1:defRPr kumimoji="1" sz="1300" b="1">
                <ns1:solidFill>
                  <ns1:schemeClr val="bg1"/>
                </ns1:solidFill>
                <ns1:latin typeface="Arial" panose="020B0604020202020204" pitchFamily="34" charset="0"/>
                <ns1:ea typeface="돋움" panose="020B0600000101010101" pitchFamily="50" charset="-127"/>
              </ns1:defRPr>
            </ns1:lvl8pPr>
            <ns1:lvl9pPr marL="3886200" indent="-228600" defTabSz="762000" eaLnBrk="0" fontAlgn="base" hangingPunct="0">
              <ns1:spcBef>
                <ns1:spcPct val="0"/>
              </ns1:spcBef>
              <ns1:spcAft>
                <ns1:spcPct val="0"/>
              </ns1:spcAft>
              <ns1:defRPr kumimoji="1" sz="1300" b="1">
                <ns1:solidFill>
                  <ns1:schemeClr val="bg1"/>
                </ns1:solidFill>
                <ns1:latin typeface="Arial" panose="020B0604020202020204" pitchFamily="34" charset="0"/>
                <ns1:ea typeface="돋움" panose="020B0600000101010101" pitchFamily="50" charset="-127"/>
              </ns1:defRPr>
            </ns1:lvl9pPr>
          </ns1:lstStyle>
          <ns1:p>
            <ns1:pPr algn="ctr" eaLnBrk="1" latinLnBrk="0" hangingPunct="1"/>
            <ns1:r>
              <ns1:rPr lang="en-US" altLang="ko-KR" sz="1000">
                <ns1:solidFill>
                  <ns1:schemeClr val="tx1"/>
                </ns1:solidFill>
                <ns1:latin typeface="Arial Narrow" panose="020B0606020202030204" pitchFamily="34" charset="0"/>
                <ns1:ea typeface="Arial" panose="020B0503020000020004" pitchFamily="50" charset="-127"/>
              </ns1:rPr>
              <ns1:t>Improve</ns1:t>
            </ns1:r>
          </ns1:p>
        </ns0:txBody>
      </ns0:sp>
      <ns0:sp>
        <ns0:nvSpPr>
          <ns0:cNvPr id="24" name="AutoShape 57">
            <ns1:extLst>
              <ns1:ext uri="{FF2B5EF4-FFF2-40B4-BE49-F238E27FC236}">
                <ns2:creationId id="{CDE404C8-5FE3-476D-883D-70260B05B14E}"/>
              </ns1:ext>
            </ns1:extLst>
          </ns0:cNvPr>
          <ns0:cNvSpPr>
            <ns1:spLocks noChangeArrowheads="1"/>
          </ns0:cNvSpPr>
          <ns0:nvPr/>
        </ns0:nvSpPr>
        <ns0:spPr bwMode="auto">
          <ns1:xfrm>
            <ns1:off x="7687914" y="178989"/>
            <ns1:ext cx="749300" cy="287338"/>
          </ns1:xfrm>
          <ns1:prstGeom prst="homePlate">
            <ns1:avLst>
              <ns1:gd name="adj" fmla="val 46698"/>
            </ns1:avLst>
          </ns1:prstGeom>
          <ns1:solidFill>
            <ns1:schemeClr val="bg1"/>
          </ns1:solidFill>
          <ns1:ln w="3175" algn="ctr">
            <ns1:solidFill>
              <ns1:schemeClr val="bg2"/>
            </ns1:solidFill>
            <ns1:miter lim="800000"/>
            <ns1:headEnd/>
            <ns1:tailEnd/>
          </ns1:ln>
        </ns0:spPr>
        <ns0:txBody>
          <ns1:bodyPr wrap="none" lIns="92075" tIns="46038" rIns="92075" bIns="46038" anchor="ctr"/>
          <ns1:lstStyle>
            <ns1:lvl1pPr defTabSz="762000">
              <ns1:defRPr kumimoji="1" sz="1300" b="1">
                <ns1:solidFill>
                  <ns1:schemeClr val="bg1"/>
                </ns1:solidFill>
                <ns1:latin typeface="Arial" panose="020B0604020202020204" pitchFamily="34" charset="0"/>
                <ns1:ea typeface="돋움" panose="020B0600000101010101" pitchFamily="50" charset="-127"/>
              </ns1:defRPr>
            </ns1:lvl1pPr>
            <ns1:lvl2pPr marL="742950" indent="-285750" defTabSz="762000">
              <ns1:defRPr kumimoji="1" sz="1300" b="1">
                <ns1:solidFill>
                  <ns1:schemeClr val="bg1"/>
                </ns1:solidFill>
                <ns1:latin typeface="Arial" panose="020B0604020202020204" pitchFamily="34" charset="0"/>
                <ns1:ea typeface="돋움" panose="020B0600000101010101" pitchFamily="50" charset="-127"/>
              </ns1:defRPr>
            </ns1:lvl2pPr>
            <ns1:lvl3pPr marL="1143000" indent="-228600" defTabSz="762000">
              <ns1:defRPr kumimoji="1" sz="1300" b="1">
                <ns1:solidFill>
                  <ns1:schemeClr val="bg1"/>
                </ns1:solidFill>
                <ns1:latin typeface="Arial" panose="020B0604020202020204" pitchFamily="34" charset="0"/>
                <ns1:ea typeface="돋움" panose="020B0600000101010101" pitchFamily="50" charset="-127"/>
              </ns1:defRPr>
            </ns1:lvl3pPr>
            <ns1:lvl4pPr marL="1600200" indent="-228600" defTabSz="762000">
              <ns1:defRPr kumimoji="1" sz="1300" b="1">
                <ns1:solidFill>
                  <ns1:schemeClr val="bg1"/>
                </ns1:solidFill>
                <ns1:latin typeface="Arial" panose="020B0604020202020204" pitchFamily="34" charset="0"/>
                <ns1:ea typeface="돋움" panose="020B0600000101010101" pitchFamily="50" charset="-127"/>
              </ns1:defRPr>
            </ns1:lvl4pPr>
            <ns1:lvl5pPr marL="2057400" indent="-228600" defTabSz="762000">
              <ns1:defRPr kumimoji="1" sz="1300" b="1">
                <ns1:solidFill>
                  <ns1:schemeClr val="bg1"/>
                </ns1:solidFill>
                <ns1:latin typeface="Arial" panose="020B0604020202020204" pitchFamily="34" charset="0"/>
                <ns1:ea typeface="돋움" panose="020B0600000101010101" pitchFamily="50" charset="-127"/>
              </ns1:defRPr>
            </ns1:lvl5pPr>
            <ns1:lvl6pPr marL="2514600" indent="-228600" defTabSz="762000" eaLnBrk="0" fontAlgn="base" hangingPunct="0">
              <ns1:spcBef>
                <ns1:spcPct val="0"/>
              </ns1:spcBef>
              <ns1:spcAft>
                <ns1:spcPct val="0"/>
              </ns1:spcAft>
              <ns1:defRPr kumimoji="1" sz="1300" b="1">
                <ns1:solidFill>
                  <ns1:schemeClr val="bg1"/>
                </ns1:solidFill>
                <ns1:latin typeface="Arial" panose="020B0604020202020204" pitchFamily="34" charset="0"/>
                <ns1:ea typeface="돋움" panose="020B0600000101010101" pitchFamily="50" charset="-127"/>
              </ns1:defRPr>
            </ns1:lvl6pPr>
            <ns1:lvl7pPr marL="2971800" indent="-228600" defTabSz="762000" eaLnBrk="0" fontAlgn="base" hangingPunct="0">
              <ns1:spcBef>
                <ns1:spcPct val="0"/>
              </ns1:spcBef>
              <ns1:spcAft>
                <ns1:spcPct val="0"/>
              </ns1:spcAft>
              <ns1:defRPr kumimoji="1" sz="1300" b="1">
                <ns1:solidFill>
                  <ns1:schemeClr val="bg1"/>
                </ns1:solidFill>
                <ns1:latin typeface="Arial" panose="020B0604020202020204" pitchFamily="34" charset="0"/>
                <ns1:ea typeface="돋움" panose="020B0600000101010101" pitchFamily="50" charset="-127"/>
              </ns1:defRPr>
            </ns1:lvl7pPr>
            <ns1:lvl8pPr marL="3429000" indent="-228600" defTabSz="762000" eaLnBrk="0" fontAlgn="base" hangingPunct="0">
              <ns1:spcBef>
                <ns1:spcPct val="0"/>
              </ns1:spcBef>
              <ns1:spcAft>
                <ns1:spcPct val="0"/>
              </ns1:spcAft>
              <ns1:defRPr kumimoji="1" sz="1300" b="1">
                <ns1:solidFill>
                  <ns1:schemeClr val="bg1"/>
                </ns1:solidFill>
                <ns1:latin typeface="Arial" panose="020B0604020202020204" pitchFamily="34" charset="0"/>
                <ns1:ea typeface="돋움" panose="020B0600000101010101" pitchFamily="50" charset="-127"/>
              </ns1:defRPr>
            </ns1:lvl8pPr>
            <ns1:lvl9pPr marL="3886200" indent="-228600" defTabSz="762000" eaLnBrk="0" fontAlgn="base" hangingPunct="0">
              <ns1:spcBef>
                <ns1:spcPct val="0"/>
              </ns1:spcBef>
              <ns1:spcAft>
                <ns1:spcPct val="0"/>
              </ns1:spcAft>
              <ns1:defRPr kumimoji="1" sz="1300" b="1">
                <ns1:solidFill>
                  <ns1:schemeClr val="bg1"/>
                </ns1:solidFill>
                <ns1:latin typeface="Arial" panose="020B0604020202020204" pitchFamily="34" charset="0"/>
                <ns1:ea typeface="돋움" panose="020B0600000101010101" pitchFamily="50" charset="-127"/>
              </ns1:defRPr>
            </ns1:lvl9pPr>
          </ns1:lstStyle>
          <ns1:p>
            <ns1:pPr algn="ctr" eaLnBrk="1" latinLnBrk="0" hangingPunct="1"/>
            <ns1:r>
              <ns1:rPr lang="en-US" altLang="ko-KR" sz="1000" dirty="0">
                <ns1:solidFill>
                  <ns1:schemeClr val="tx1"/>
                </ns1:solidFill>
                <ns1:latin typeface="Arial Narrow" panose="020B0606020202030204" pitchFamily="34" charset="0"/>
                <ns1:ea typeface="Arial" panose="020B0503020000020004" pitchFamily="50" charset="-127"/>
              </ns1:rPr>
              <ns1:t>Analyze</ns1:t>
            </ns1:r>
          </ns1:p>
        </ns0:txBody>
      </ns0:sp>
      <ns0:sp>
        <ns0:nvSpPr>
          <ns0:cNvPr id="25" name="AutoShape 59">
            <ns1:extLst>
              <ns1:ext uri="{FF2B5EF4-FFF2-40B4-BE49-F238E27FC236}">
                <ns2:creationId id="{2E017168-4B5F-472C-9136-DA4C365BB2EA}"/>
              </ns1:ext>
            </ns1:extLst>
          </ns0:cNvPr>
          <ns0:cNvSpPr>
            <ns1:spLocks noChangeArrowheads="1"/>
          </ns0:cNvSpPr>
          <ns0:nvPr/>
        </ns0:nvSpPr>
        <ns0:spPr bwMode="auto">
          <ns1:xfrm>
            <ns1:off x="6319489" y="178989"/>
            <ns1:ext cx="757238" cy="287338"/>
          </ns1:xfrm>
          <ns1:prstGeom prst="homePlate">
            <ns1:avLst>
              <ns1:gd name="adj" fmla="val 47192"/>
            </ns1:avLst>
          </ns1:prstGeom>
          <ns1:solidFill>
            <ns1:schemeClr val="bg1"/>
          </ns1:solidFill>
          <ns1:ln w="3175" algn="ctr">
            <ns1:solidFill>
              <ns1:schemeClr val="bg2"/>
            </ns1:solidFill>
            <ns1:miter lim="800000"/>
            <ns1:headEnd/>
            <ns1:tailEnd/>
          </ns1:ln>
        </ns0:spPr>
        <ns0:txBody>
          <ns1:bodyPr wrap="none" lIns="92075" tIns="46038" rIns="92075" bIns="46038" anchor="ctr"/>
          <ns1:lstStyle>
            <ns1:lvl1pPr defTabSz="762000">
              <ns1:defRPr kumimoji="1" sz="1300" b="1">
                <ns1:solidFill>
                  <ns1:schemeClr val="bg1"/>
                </ns1:solidFill>
                <ns1:latin typeface="Arial" panose="020B0604020202020204" pitchFamily="34" charset="0"/>
                <ns1:ea typeface="돋움" panose="020B0600000101010101" pitchFamily="50" charset="-127"/>
              </ns1:defRPr>
            </ns1:lvl1pPr>
            <ns1:lvl2pPr marL="742950" indent="-285750" defTabSz="762000">
              <ns1:defRPr kumimoji="1" sz="1300" b="1">
                <ns1:solidFill>
                  <ns1:schemeClr val="bg1"/>
                </ns1:solidFill>
                <ns1:latin typeface="Arial" panose="020B0604020202020204" pitchFamily="34" charset="0"/>
                <ns1:ea typeface="돋움" panose="020B0600000101010101" pitchFamily="50" charset="-127"/>
              </ns1:defRPr>
            </ns1:lvl2pPr>
            <ns1:lvl3pPr marL="1143000" indent="-228600" defTabSz="762000">
              <ns1:defRPr kumimoji="1" sz="1300" b="1">
                <ns1:solidFill>
                  <ns1:schemeClr val="bg1"/>
                </ns1:solidFill>
                <ns1:latin typeface="Arial" panose="020B0604020202020204" pitchFamily="34" charset="0"/>
                <ns1:ea typeface="돋움" panose="020B0600000101010101" pitchFamily="50" charset="-127"/>
              </ns1:defRPr>
            </ns1:lvl3pPr>
            <ns1:lvl4pPr marL="1600200" indent="-228600" defTabSz="762000">
              <ns1:defRPr kumimoji="1" sz="1300" b="1">
                <ns1:solidFill>
                  <ns1:schemeClr val="bg1"/>
                </ns1:solidFill>
                <ns1:latin typeface="Arial" panose="020B0604020202020204" pitchFamily="34" charset="0"/>
                <ns1:ea typeface="돋움" panose="020B0600000101010101" pitchFamily="50" charset="-127"/>
              </ns1:defRPr>
            </ns1:lvl4pPr>
            <ns1:lvl5pPr marL="2057400" indent="-228600" defTabSz="762000">
              <ns1:defRPr kumimoji="1" sz="1300" b="1">
                <ns1:solidFill>
                  <ns1:schemeClr val="bg1"/>
                </ns1:solidFill>
                <ns1:latin typeface="Arial" panose="020B0604020202020204" pitchFamily="34" charset="0"/>
                <ns1:ea typeface="돋움" panose="020B0600000101010101" pitchFamily="50" charset="-127"/>
              </ns1:defRPr>
            </ns1:lvl5pPr>
            <ns1:lvl6pPr marL="2514600" indent="-228600" defTabSz="762000" eaLnBrk="0" fontAlgn="base" hangingPunct="0">
              <ns1:spcBef>
                <ns1:spcPct val="0"/>
              </ns1:spcBef>
              <ns1:spcAft>
                <ns1:spcPct val="0"/>
              </ns1:spcAft>
              <ns1:defRPr kumimoji="1" sz="1300" b="1">
                <ns1:solidFill>
                  <ns1:schemeClr val="bg1"/>
                </ns1:solidFill>
                <ns1:latin typeface="Arial" panose="020B0604020202020204" pitchFamily="34" charset="0"/>
                <ns1:ea typeface="돋움" panose="020B0600000101010101" pitchFamily="50" charset="-127"/>
              </ns1:defRPr>
            </ns1:lvl6pPr>
            <ns1:lvl7pPr marL="2971800" indent="-228600" defTabSz="762000" eaLnBrk="0" fontAlgn="base" hangingPunct="0">
              <ns1:spcBef>
                <ns1:spcPct val="0"/>
              </ns1:spcBef>
              <ns1:spcAft>
                <ns1:spcPct val="0"/>
              </ns1:spcAft>
              <ns1:defRPr kumimoji="1" sz="1300" b="1">
                <ns1:solidFill>
                  <ns1:schemeClr val="bg1"/>
                </ns1:solidFill>
                <ns1:latin typeface="Arial" panose="020B0604020202020204" pitchFamily="34" charset="0"/>
                <ns1:ea typeface="돋움" panose="020B0600000101010101" pitchFamily="50" charset="-127"/>
              </ns1:defRPr>
            </ns1:lvl7pPr>
            <ns1:lvl8pPr marL="3429000" indent="-228600" defTabSz="762000" eaLnBrk="0" fontAlgn="base" hangingPunct="0">
              <ns1:spcBef>
                <ns1:spcPct val="0"/>
              </ns1:spcBef>
              <ns1:spcAft>
                <ns1:spcPct val="0"/>
              </ns1:spcAft>
              <ns1:defRPr kumimoji="1" sz="1300" b="1">
                <ns1:solidFill>
                  <ns1:schemeClr val="bg1"/>
                </ns1:solidFill>
                <ns1:latin typeface="Arial" panose="020B0604020202020204" pitchFamily="34" charset="0"/>
                <ns1:ea typeface="돋움" panose="020B0600000101010101" pitchFamily="50" charset="-127"/>
              </ns1:defRPr>
            </ns1:lvl8pPr>
            <ns1:lvl9pPr marL="3886200" indent="-228600" defTabSz="762000" eaLnBrk="0" fontAlgn="base" hangingPunct="0">
              <ns1:spcBef>
                <ns1:spcPct val="0"/>
              </ns1:spcBef>
              <ns1:spcAft>
                <ns1:spcPct val="0"/>
              </ns1:spcAft>
              <ns1:defRPr kumimoji="1" sz="1300" b="1">
                <ns1:solidFill>
                  <ns1:schemeClr val="bg1"/>
                </ns1:solidFill>
                <ns1:latin typeface="Arial" panose="020B0604020202020204" pitchFamily="34" charset="0"/>
                <ns1:ea typeface="돋움" panose="020B0600000101010101" pitchFamily="50" charset="-127"/>
              </ns1:defRPr>
            </ns1:lvl9pPr>
          </ns1:lstStyle>
          <ns1:p>
            <ns1:pPr algn="ctr" eaLnBrk="1" latinLnBrk="0" hangingPunct="1"/>
            <ns1:r>
              <ns1:rPr lang="en-US" altLang="ko-KR" sz="1000" dirty="0">
                <ns1:solidFill>
                  <ns1:schemeClr val="tx1"/>
                </ns1:solidFill>
                <ns1:latin typeface="Arial Narrow" panose="020B0606020202030204" pitchFamily="34" charset="0"/>
                <ns1:ea typeface="Arial" panose="020B0503020000020004" pitchFamily="50" charset="-127"/>
              </ns1:rPr>
              <ns1:t>Define</ns1:t>
            </ns1:r>
          </ns1:p>
        </ns0:txBody>
      </ns0:sp>
      <ns0:sp>
        <ns0:nvSpPr>
          <ns0:cNvPr id="26" name="AutoShape 58">
            <ns1:extLst>
              <ns1:ext uri="{FF2B5EF4-FFF2-40B4-BE49-F238E27FC236}">
                <ns2:creationId id="{FFE55166-9E75-45B0-AF8E-9D9225BE05E2}"/>
              </ns1:ext>
            </ns1:extLst>
          </ns0:cNvPr>
          <ns0:cNvSpPr>
            <ns1:spLocks noChangeArrowheads="1"/>
          </ns0:cNvSpPr>
          <ns0:nvPr/>
        </ns0:nvSpPr>
        <ns0:spPr bwMode="auto">
          <ns1:xfrm>
            <ns1:off x="7016402" y="34527"/>
            <ns1:ext cx="747712" cy="287337"/>
          </ns1:xfrm>
          <ns1:prstGeom prst="homePlate">
            <ns1:avLst>
              <ns1:gd name="adj" fmla="val 46599"/>
            </ns1:avLst>
          </ns1:prstGeom>
          <ns1:gradFill rotWithShape="1">
            <ns1:gsLst>
              <ns1:gs pos="0">
                <ns1:srgbClr val="494900"/>
              </ns1:gs>
              <ns1:gs pos="100000">
                <ns1:srgbClr val="808000"/>
              </ns1:gs>
            </ns1:gsLst>
            <ns1:lin ang="0" scaled="1"/>
          </ns1:gradFill>
          <ns1:ln w="6350" algn="ctr">
            <ns1:solidFill>
              <ns1:srgbClr val="808080"/>
            </ns1:solidFill>
            <ns1:miter lim="800000"/>
            <ns1:headEnd/>
            <ns1:tailEnd/>
          </ns1:ln>
        </ns0:spPr>
        <ns0:txBody>
          <ns1:bodyPr wrap="none" lIns="92075" tIns="46038" rIns="92075" bIns="46038" anchor="ctr"/>
          <ns1:lstStyle>
            <ns1:lvl1pPr defTabSz="762000">
              <ns1:defRPr kumimoji="1" sz="1300" b="1">
                <ns1:solidFill>
                  <ns1:schemeClr val="bg1"/>
                </ns1:solidFill>
                <ns1:latin typeface="Arial" panose="020B0604020202020204" pitchFamily="34" charset="0"/>
                <ns1:ea typeface="돋움" panose="020B0600000101010101" pitchFamily="50" charset="-127"/>
              </ns1:defRPr>
            </ns1:lvl1pPr>
            <ns1:lvl2pPr marL="742950" indent="-285750" defTabSz="762000">
              <ns1:defRPr kumimoji="1" sz="1300" b="1">
                <ns1:solidFill>
                  <ns1:schemeClr val="bg1"/>
                </ns1:solidFill>
                <ns1:latin typeface="Arial" panose="020B0604020202020204" pitchFamily="34" charset="0"/>
                <ns1:ea typeface="돋움" panose="020B0600000101010101" pitchFamily="50" charset="-127"/>
              </ns1:defRPr>
            </ns1:lvl2pPr>
            <ns1:lvl3pPr marL="1143000" indent="-228600" defTabSz="762000">
              <ns1:defRPr kumimoji="1" sz="1300" b="1">
                <ns1:solidFill>
                  <ns1:schemeClr val="bg1"/>
                </ns1:solidFill>
                <ns1:latin typeface="Arial" panose="020B0604020202020204" pitchFamily="34" charset="0"/>
                <ns1:ea typeface="돋움" panose="020B0600000101010101" pitchFamily="50" charset="-127"/>
              </ns1:defRPr>
            </ns1:lvl3pPr>
            <ns1:lvl4pPr marL="1600200" indent="-228600" defTabSz="762000">
              <ns1:defRPr kumimoji="1" sz="1300" b="1">
                <ns1:solidFill>
                  <ns1:schemeClr val="bg1"/>
                </ns1:solidFill>
                <ns1:latin typeface="Arial" panose="020B0604020202020204" pitchFamily="34" charset="0"/>
                <ns1:ea typeface="돋움" panose="020B0600000101010101" pitchFamily="50" charset="-127"/>
              </ns1:defRPr>
            </ns1:lvl4pPr>
            <ns1:lvl5pPr marL="2057400" indent="-228600" defTabSz="762000">
              <ns1:defRPr kumimoji="1" sz="1300" b="1">
                <ns1:solidFill>
                  <ns1:schemeClr val="bg1"/>
                </ns1:solidFill>
                <ns1:latin typeface="Arial" panose="020B0604020202020204" pitchFamily="34" charset="0"/>
                <ns1:ea typeface="돋움" panose="020B0600000101010101" pitchFamily="50" charset="-127"/>
              </ns1:defRPr>
            </ns1:lvl5pPr>
            <ns1:lvl6pPr marL="2514600" indent="-228600" defTabSz="762000" eaLnBrk="0" fontAlgn="base" hangingPunct="0">
              <ns1:spcBef>
                <ns1:spcPct val="0"/>
              </ns1:spcBef>
              <ns1:spcAft>
                <ns1:spcPct val="0"/>
              </ns1:spcAft>
              <ns1:defRPr kumimoji="1" sz="1300" b="1">
                <ns1:solidFill>
                  <ns1:schemeClr val="bg1"/>
                </ns1:solidFill>
                <ns1:latin typeface="Arial" panose="020B0604020202020204" pitchFamily="34" charset="0"/>
                <ns1:ea typeface="돋움" panose="020B0600000101010101" pitchFamily="50" charset="-127"/>
              </ns1:defRPr>
            </ns1:lvl6pPr>
            <ns1:lvl7pPr marL="2971800" indent="-228600" defTabSz="762000" eaLnBrk="0" fontAlgn="base" hangingPunct="0">
              <ns1:spcBef>
                <ns1:spcPct val="0"/>
              </ns1:spcBef>
              <ns1:spcAft>
                <ns1:spcPct val="0"/>
              </ns1:spcAft>
              <ns1:defRPr kumimoji="1" sz="1300" b="1">
                <ns1:solidFill>
                  <ns1:schemeClr val="bg1"/>
                </ns1:solidFill>
                <ns1:latin typeface="Arial" panose="020B0604020202020204" pitchFamily="34" charset="0"/>
                <ns1:ea typeface="돋움" panose="020B0600000101010101" pitchFamily="50" charset="-127"/>
              </ns1:defRPr>
            </ns1:lvl7pPr>
            <ns1:lvl8pPr marL="3429000" indent="-228600" defTabSz="762000" eaLnBrk="0" fontAlgn="base" hangingPunct="0">
              <ns1:spcBef>
                <ns1:spcPct val="0"/>
              </ns1:spcBef>
              <ns1:spcAft>
                <ns1:spcPct val="0"/>
              </ns1:spcAft>
              <ns1:defRPr kumimoji="1" sz="1300" b="1">
                <ns1:solidFill>
                  <ns1:schemeClr val="bg1"/>
                </ns1:solidFill>
                <ns1:latin typeface="Arial" panose="020B0604020202020204" pitchFamily="34" charset="0"/>
                <ns1:ea typeface="돋움" panose="020B0600000101010101" pitchFamily="50" charset="-127"/>
              </ns1:defRPr>
            </ns1:lvl8pPr>
            <ns1:lvl9pPr marL="3886200" indent="-228600" defTabSz="762000" eaLnBrk="0" fontAlgn="base" hangingPunct="0">
              <ns1:spcBef>
                <ns1:spcPct val="0"/>
              </ns1:spcBef>
              <ns1:spcAft>
                <ns1:spcPct val="0"/>
              </ns1:spcAft>
              <ns1:defRPr kumimoji="1" sz="1300" b="1">
                <ns1:solidFill>
                  <ns1:schemeClr val="bg1"/>
                </ns1:solidFill>
                <ns1:latin typeface="Arial" panose="020B0604020202020204" pitchFamily="34" charset="0"/>
                <ns1:ea typeface="돋움" panose="020B0600000101010101" pitchFamily="50" charset="-127"/>
              </ns1:defRPr>
            </ns1:lvl9pPr>
          </ns1:lstStyle>
          <ns1:p>
            <ns1:pPr algn="ctr" eaLnBrk="1" latinLnBrk="0" hangingPunct="1"/>
            <ns1:r>
              <ns1:rPr lang="en-US" altLang="ko-KR" sz="1000" dirty="0">
                <ns1:latin typeface="Arial Narrow" panose="020B0606020202030204" pitchFamily="34" charset="0"/>
                <ns1:ea typeface="Arial" panose="020B0503020000020004" pitchFamily="50" charset="-127"/>
              </ns1:rPr>
              <ns1:t>Measure </ns1:t>
            </ns1:r>
          </ns1:p>
        </ns0:txBody>
      </ns0:sp>
    </ns0:spTree>
    <ns0:extLst>
      <ns0:ext uri="{BB962C8B-B14F-4D97-AF65-F5344CB8AC3E}">
        <ns3:creationId val="1308763971"/>
      </ns0:ext>
    </ns0:extLst>
  </ns0:cSld>
  <ns0:clrMapOvr>
    <ns1:masterClrMapping/>
  </ns0:clrMapOvr>
</ns0: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p2DBPMRbQEK4PwqppxHtXg"/>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gNe9y31qx0OExXY5K1tKhA"/>
</p:tagLst>
</file>

<file path=ppt/theme/theme1.xml><?xml version="1.0" encoding="utf-8"?>
<a:theme xmlns:a="http://schemas.openxmlformats.org/drawingml/2006/main" name="3_디자인 사용자 지정">
  <a:themeElements>
    <a:clrScheme name="디자인 사용자 지정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디자인 사용자 지정">
      <a:majorFont>
        <a:latin typeface="Arial"/>
        <a:ea typeface="돋움"/>
        <a:cs typeface=""/>
      </a:majorFont>
      <a:minorFont>
        <a:latin typeface="Arial"/>
        <a:ea typeface="돋움"/>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100000"/>
          </a:lnSpc>
          <a:spcBef>
            <a:spcPct val="0"/>
          </a:spcBef>
          <a:spcAft>
            <a:spcPct val="0"/>
          </a:spcAft>
          <a:buClrTx/>
          <a:buSzTx/>
          <a:buFontTx/>
          <a:buNone/>
          <a:tabLst/>
          <a:defRPr kumimoji="1" lang="ko-KR" sz="1800" b="0" i="0" u="none" strike="noStrike" cap="none" normalizeH="0" baseline="0" smtClean="0">
            <a:ln>
              <a:noFill/>
            </a:ln>
            <a:solidFill>
              <a:schemeClr val="tx1"/>
            </a:solidFill>
            <a:effectLst/>
            <a:latin typeface="Arial" charset="0"/>
            <a:ea typeface="돋움" pitchFamily="50" charset="-127"/>
          </a:defRPr>
        </a:defPPr>
      </a:lstStyle>
    </a:spDef>
    <a:lnDef>
      <a:spPr bwMode="auto">
        <a:noFill/>
        <a:ln w="9525" cap="flat" cmpd="sng" algn="ctr">
          <a:solidFill>
            <a:srgbClr val="C00000"/>
          </a:solidFill>
          <a:prstDash val="solid"/>
          <a:round/>
          <a:headEnd type="none" w="med" len="med"/>
          <a:tailEnd type="triangle" w="med" len="med"/>
        </a:ln>
        <a:effectLst/>
      </a:spPr>
      <a:bodyPr/>
      <a:lstStyle/>
    </a:lnDef>
  </a:objectDefaults>
  <a:extraClrSchemeLst>
    <a:extraClrScheme>
      <a:clrScheme name="디자인 사용자 지정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디자인 사용자 지정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디자인 사용자 지정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디자인 사용자 지정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디자인 사용자 지정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디자인 사용자 지정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디자인 사용자 지정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디자인 사용자 지정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디자인 사용자 지정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디자인 사용자 지정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디자인 사용자 지정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디자인 사용자 지정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cc6ed9fc-fefc-4a0c-a6d6-10cf236c0d4f}" enabled="1" method="Standard" siteId="{5069cde4-642a-45c0-8094-d0c2dec10be3}" contentBits="1" removed="0"/>
</clbl:labelList>
</file>

<file path=docProps/app.xml><?xml version="1.0" encoding="utf-8"?>
<Properties xmlns="http://schemas.openxmlformats.org/officeDocument/2006/extended-properties" xmlns:vt="http://schemas.openxmlformats.org/officeDocument/2006/docPropsVTypes">
  <TotalTime>89542</TotalTime>
  <Words>6714</Words>
  <Application>Microsoft Office PowerPoint</Application>
  <PresentationFormat>A4 Paper (210x297 mm)</PresentationFormat>
  <Paragraphs>1740</Paragraphs>
  <Slides>33</Slides>
  <Notes>26</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2</vt:i4>
      </vt:variant>
      <vt:variant>
        <vt:lpstr>Slide Titles</vt:lpstr>
      </vt:variant>
      <vt:variant>
        <vt:i4>33</vt:i4>
      </vt:variant>
    </vt:vector>
  </HeadingPairs>
  <TitlesOfParts>
    <vt:vector size="47" baseType="lpstr">
      <vt:lpstr>Arial Unicode MS</vt:lpstr>
      <vt:lpstr>굴림</vt:lpstr>
      <vt:lpstr>현대하모니 L</vt:lpstr>
      <vt:lpstr>LG Smart_H Regular</vt:lpstr>
      <vt:lpstr>LG Smart_H Regular</vt:lpstr>
      <vt:lpstr>맑은 고딕</vt:lpstr>
      <vt:lpstr>Arial</vt:lpstr>
      <vt:lpstr>Arial Narrow</vt:lpstr>
      <vt:lpstr>Calibri</vt:lpstr>
      <vt:lpstr>Cambria Math</vt:lpstr>
      <vt:lpstr>Wingdings</vt:lpstr>
      <vt:lpstr>3_디자인 사용자 지정</vt:lpstr>
      <vt:lpstr>Worksheet</vt:lpstr>
      <vt:lpstr>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Bery</dc:creator>
  <cp:lastModifiedBy>LONG DUC NGUYEN/LGEVH IVI LD Cyber Security Part</cp:lastModifiedBy>
  <cp:revision>3215</cp:revision>
  <cp:lastPrinted>2017-04-20T00:57:17Z</cp:lastPrinted>
  <dcterms:created xsi:type="dcterms:W3CDTF">2013-07-05T02:04:59Z</dcterms:created>
  <dcterms:modified xsi:type="dcterms:W3CDTF">2026-10-01T02:06:12Z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3_디자인 사용자 지정:4</vt:lpwstr>
  </property>
  <property fmtid="{D5CDD505-2E9C-101B-9397-08002B2CF9AE}" pid="3" name="ClassificationContentMarkingHeaderText">
    <vt:lpwstr> </vt:lpwstr>
  </property>
</Properties>
</file>