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0"/>
  </p:notesMasterIdLst>
  <p:handoutMasterIdLst>
    <p:handoutMasterId r:id="rId31"/>
  </p:handoutMasterIdLst>
  <p:sldIdLst>
    <p:sldId id="510" r:id="rId2"/>
    <p:sldId id="543" r:id="rId3"/>
    <p:sldId id="537" r:id="rId4"/>
    <p:sldId id="584" r:id="rId5"/>
    <p:sldId id="576" r:id="rId6"/>
    <p:sldId id="464" r:id="rId7"/>
    <p:sldId id="521" r:id="rId8"/>
    <p:sldId id="524" r:id="rId9"/>
    <p:sldId id="585" r:id="rId10"/>
    <p:sldId id="490" r:id="rId11"/>
    <p:sldId id="538" r:id="rId12"/>
    <p:sldId id="541" r:id="rId13"/>
    <p:sldId id="540" r:id="rId14"/>
    <p:sldId id="542" r:id="rId15"/>
    <p:sldId id="539" r:id="rId16"/>
    <p:sldId id="263" r:id="rId17"/>
    <p:sldId id="533" r:id="rId18"/>
    <p:sldId id="257" r:id="rId19"/>
    <p:sldId id="259" r:id="rId20"/>
    <p:sldId id="473" r:id="rId21"/>
    <p:sldId id="578" r:id="rId22"/>
    <p:sldId id="532" r:id="rId23"/>
    <p:sldId id="530" r:id="rId24"/>
    <p:sldId id="529" r:id="rId25"/>
    <p:sldId id="531" r:id="rId26"/>
    <p:sldId id="526" r:id="rId27"/>
    <p:sldId id="580" r:id="rId28"/>
    <p:sldId id="581" r:id="rId29"/>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68" d="100"/>
          <a:sy n="68" d="100"/>
        </p:scale>
        <p:origin x="1848" y="288"/>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vuong.vu\AppData\Local\Temp\_AZTMP1_\all.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1"/>
            </a:pPr>
            <a:r>
              <a:rPr lang="en-US" sz="1200" b="1"/>
              <a:t>Pareto chart of Porsche CID defects (Nov.2025~Mar.2026)</a:t>
            </a:r>
          </a:p>
        </c:rich>
      </c:tx>
      <c:overlay val="0"/>
    </c:title>
    <c:autoTitleDeleted val="0"/>
    <c:plotArea>
      <c:layout>
        <c:manualLayout>
          <c:layoutTarget val="inner"/>
          <c:xMode val="edge"/>
          <c:yMode val="edge"/>
          <c:x val="0.11092880577427822"/>
          <c:y val="0.12682974628171478"/>
          <c:w val="0.80849655511811025"/>
          <c:h val="0.76124444444444439"/>
        </c:manualLayout>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831-4A02-BB09-3F47D61C5BBF}"/>
                </c:ext>
              </c:extLst>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15600</c:v>
                </c:pt>
                <c:pt idx="2">
                  <c:v>9100</c:v>
                </c:pt>
                <c:pt idx="3">
                  <c:v>6076</c:v>
                </c:pt>
                <c:pt idx="4">
                  <c:v>2600</c:v>
                </c:pt>
              </c:numCache>
            </c:numRef>
          </c:val>
          <c:extLst>
            <c:ext xmlns:c16="http://schemas.microsoft.com/office/drawing/2014/chart" uri="{C3380CC4-5D6E-409C-BE32-E72D297353CC}">
              <c16:uniqueId val="{00000001-C831-4A02-BB09-3F47D61C5BBF}"/>
            </c:ext>
          </c:extLst>
        </c:ser>
        <c:dLbls>
          <c:showLegendKey val="0"/>
          <c:showVal val="0"/>
          <c:showCatName val="0"/>
          <c:showSerName val="0"/>
          <c:showPercent val="0"/>
          <c:showBubbleSize val="0"/>
        </c:dLbls>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93.2</c:v>
                </c:pt>
                <c:pt idx="2">
                  <c:v>96.7</c:v>
                </c:pt>
                <c:pt idx="3">
                  <c:v>99</c:v>
                </c:pt>
                <c:pt idx="4">
                  <c:v>100</c:v>
                </c:pt>
              </c:numCache>
            </c:numRef>
          </c:val>
          <c:smooth val="0"/>
          <c:extLst>
            <c:ext xmlns:c16="http://schemas.microsoft.com/office/drawing/2014/chart" uri="{C3380CC4-5D6E-409C-BE32-E72D297353CC}">
              <c16:uniqueId val="{00000002-C831-4A02-BB09-3F47D61C5BBF}"/>
            </c:ext>
          </c:extLst>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extLst>
            <c:ext xmlns:c16="http://schemas.microsoft.com/office/drawing/2014/chart" uri="{C3380CC4-5D6E-409C-BE32-E72D297353CC}">
              <c16:uniqueId val="{00000003-C831-4A02-BB09-3F47D61C5BBF}"/>
            </c:ext>
          </c:extLst>
        </c:ser>
        <c:dLbls>
          <c:showLegendKey val="0"/>
          <c:showVal val="0"/>
          <c:showCatName val="0"/>
          <c:showSerName val="0"/>
          <c:showPercent val="0"/>
          <c:showBubbleSize val="0"/>
        </c:dLbls>
        <c:marker val="1"/>
        <c:smooth val="0"/>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numFmt formatCode="General" sourceLinked="1"/>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showDLblsOverMax val="1"/>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10/19/2026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2026-10-19</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7</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(71.56%) and %Study Var (84.59%) are far above the limits and NDC = 1 &lt; 5, so the measurement system is NOT acceptable (only %Tolerance = 8.33% is below 10%). The ANOVA p-value (0.077 &gt; 0.05) also shows that the 25 selected parts cannot be distinguished from the repeatability error.</a:t>
            </a: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16</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22</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26</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10/19/2026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LGE Internal Use Only</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emf"/><Relationship Id="rId5" Type="http://schemas.openxmlformats.org/officeDocument/2006/relationships/package" Target="../embeddings/Microsoft_PowerPoint_Presentation2.pptx"/><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wmf"/><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package" Target="../embeddings/Microsoft_Excel_Worksheet3.xlsx"/><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package" Target="../embeddings/Microsoft_Excel_Worksheet4.xlsx"/><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2.pn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53.png"/><Relationship Id="rId7" Type="http://schemas.openxmlformats.org/officeDocument/2006/relationships/diagramQuickStyle" Target="../diagrams/quickStyle2.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4.png"/><Relationship Id="rId9" Type="http://schemas.microsoft.com/office/2007/relationships/diagramDrawing" Target="../diagrams/drawing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central of PID</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0.25</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0.75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33,376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260,000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(6.0%, 15,600 PPM) are mainly broken pin connector (check PCBA), foreign material inside the set after assembly, SQA circuit and LCD from supplier; they will be improved by HW members.</a:t>
            </a:r>
            <a:br/>
            <a:r>
              <a:rPr sz="1000" b="0">
                <a:latin typeface="Arial"/>
              </a:rPr>
              <a:t>Software issues (3.5%, 9,100 PPM) will be solved by HQ software members.</a:t>
            </a:r>
            <a:br/>
            <a:r>
              <a:rPr sz="1000" b="0">
                <a:latin typeface="Arial"/>
              </a:rPr>
              <a:t>Machine defect accounts for 90.5% (235,300 PPM), where Luminance value is the overwhelming root issue causing 226,624 PPM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0" name=""/>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260,000 PPM</a:t>
            </a:r>
            <a:br>
              <a:rPr dirty="0"/>
            </a:br>
            <a:r>
              <a:rPr sz="900" b="1" dirty="0">
                <a:latin typeface="Arial"/>
              </a:rPr>
              <a:t>(164/631EA</a:t>
            </a:r>
            <a:br>
              <a:rPr dirty="0"/>
            </a:br>
            <a:r>
              <a:rPr sz="900" b="1" dirty="0" err="1">
                <a:latin typeface="Arial"/>
              </a:rPr>
              <a:t>Nov.2025~Mar.2026</a:t>
            </a:r>
            <a:r>
              <a:rPr sz="900" b="1" dirty="0">
                <a:latin typeface="Arial"/>
              </a:rPr>
              <a:t>)</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90.5% 235,300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3.5% 9,100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6.0% 15,600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1.0% 2,600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89.5% 232,700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2.3% 6,076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2"/>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extLst>
              <p:ext uri="{D42A27DB-BD31-4B8C-83A1-F6EECF244321}">
                <p14:modId xmlns:p14="http://schemas.microsoft.com/office/powerpoint/2010/main" val="1336130361"/>
              </p:ext>
            </p:extLst>
          </p:nvPr>
        </p:nvGraphicFramePr>
        <p:xfrm>
          <a:off x="190500" y="666750"/>
          <a:ext cx="6096000"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6.0%, Software 3.5%, Contrast value 2.3%, Haptic/Touch 1.0%).</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260,000 ppm (Nov.2025~Mar.2026); Luminance value = 143 NG = 226,624 ppm.</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28</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screen is lower than the average of the compared values, so the luminance test result falls below the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&lt; 0.001 (≤ 0.05)  Reject H0 -&gt; Bias ≠ 0 (FAIL)</a:t>
            </a:r>
          </a:p>
          <a:p>
            <a:pPr eaLnBrk="1" latinLnBrk="0"/>
            <a:r>
              <a:rPr sz="1000" b="0">
                <a:latin typeface="Arial"/>
              </a:rPr>
              <a:t>• Cg = 0.91 (Std ≥ 1.33) FAIL | Cgk = 0.49 (Std ≥ 1.33) FAIL</a:t>
            </a:r>
          </a:p>
          <a:p>
            <a:pPr eaLnBrk="1" latinLnBrk="0"/>
            <a:r>
              <a:rPr sz="1000" b="0">
                <a:latin typeface="Arial"/>
              </a:rPr>
              <a:t>• %Var(Repeatability) = 21.99% (&gt; 10%) FAIL</a:t>
            </a:r>
          </a:p>
          <a:p>
            <a:pPr eaLnBrk="1" latinLnBrk="0"/>
            <a:r>
              <a:rPr sz="1000" b="0">
                <a:latin typeface="Arial"/>
              </a:rPr>
              <a:t>• %Var(Repeatability &amp; Bias) = 40.63% (&gt; 10%) FAIL</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Cannot measure consistently (large repeatability error and significant bias). Need to improve measurement system.</a:t>
            </a:r>
          </a:p>
        </p:txBody>
      </p:sp>
    </p:spTree>
    <p:extLst>
      <p:ext uri="{BB962C8B-B14F-4D97-AF65-F5344CB8AC3E}">
        <p14:creationId xmlns:p14="http://schemas.microsoft.com/office/powerpoint/2010/main" val="402611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857.90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7</a:t>
            </a:r>
            <a:r>
              <a:rPr lang="en-US" sz="1000" dirty="0">
                <a:latin typeface="Arial" panose="020B0604020202020204" pitchFamily="34" charset="0"/>
                <a:ea typeface="Arial Unicode MS" panose="020B0604020202020204" pitchFamily="34" charset="-128"/>
                <a:cs typeface="Arial" panose="020B0604020202020204" pitchFamily="34" charset="0"/>
              </a:rPr>
              <a:t>1</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56</a:t>
            </a:r>
            <a:r>
              <a:rPr lang="vi-VN" sz="1000" dirty="0">
                <a:latin typeface="Arial" panose="020B0604020202020204" pitchFamily="34" charset="0"/>
                <a:ea typeface="Arial Unicode MS" panose="020B0604020202020204" pitchFamily="34" charset="-128"/>
                <a:cs typeface="Arial" panose="020B0604020202020204" pitchFamily="34" charset="0"/>
              </a:rPr>
              <a:t>%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8</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4.59</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&gt; </a:t>
            </a:r>
            <a:r>
              <a:rPr lang="vi-VN" sz="1000" dirty="0">
                <a:latin typeface="Arial" panose="020B0604020202020204" pitchFamily="34" charset="0"/>
                <a:ea typeface="Arial Unicode MS" panose="020B0604020202020204" pitchFamily="34" charset="-128"/>
                <a:cs typeface="Arial" panose="020B0604020202020204" pitchFamily="34" charset="0"/>
              </a:rPr>
              <a:t>10%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Tolerance = 8.33%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1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71.56% (&gt; 9% NG), %Study Var = 84.59% (NG), %Tolerance = 8.33% (OK), NDC = 1 (&lt; 5 NG). The repeatability error (SD ≈ 16.7) is large vs. the part variation (SD ≈ 10.5) and Type 1 also failed,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2.3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2865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Current distribution"/>
          <p:cNvPicPr>
            <a:picLocks noChangeAspect="1"/>
          </p:cNvPicPr>
          <p:nvPr/>
        </p:nvPicPr>
        <p:blipFill>
          <a:blip r:embed="rId2"/>
          <a:stretch>
            <a:fillRect/>
          </a:stretch>
        </p:blipFill>
        <p:spPr>
          <a:xfrm>
            <a:off x="190500" y="895350"/>
            <a:ext cx="3810000" cy="2486025"/>
          </a:xfrm>
          <a:prstGeom prst="rect">
            <a:avLst/>
          </a:prstGeom>
        </p:spPr>
      </p:pic>
      <p:sp>
        <p:nvSpPr>
          <p:cNvPr id="26" name="Added text 26"/>
          <p:cNvSpPr txBox="1"/>
          <p:nvPr/>
        </p:nvSpPr>
        <p:spPr>
          <a:xfrm>
            <a:off x="4238625" y="933450"/>
            <a:ext cx="5524500" cy="2476500"/>
          </a:xfrm>
          <a:prstGeom prst="rect">
            <a:avLst/>
          </a:prstGeom>
          <a:noFill/>
        </p:spPr>
        <p:txBody>
          <a:bodyPr wrap="square" lIns="0" tIns="0" rIns="0" bIns="0" rtlCol="0">
            <a:noAutofit/>
          </a:bodyPr>
          <a:lstStyle/>
          <a:p>
            <a:pPr marL="171450" indent="-171450">
              <a:spcAft>
                <a:spcPts val="500"/>
              </a:spcAft>
              <a:buFont typeface="Arial"/>
              <a:buChar char="•"/>
            </a:pPr>
            <a:r>
              <a:rPr lang="en-US" sz="1100" b="0" dirty="0">
                <a:solidFill>
                  <a:srgbClr val="000000"/>
                </a:solidFill>
                <a:latin typeface="Arial"/>
                <a:cs typeface="Arial"/>
              </a:rPr>
              <a:t>Current defect rate = 143 NG / 631 EA = </a:t>
            </a:r>
            <a:r>
              <a:rPr lang="en-US" sz="1100" b="1" dirty="0">
                <a:solidFill>
                  <a:srgbClr val="000000"/>
                </a:solidFill>
                <a:latin typeface="Arial"/>
                <a:cs typeface="Arial"/>
              </a:rPr>
              <a:t>226,624 ppm</a:t>
            </a:r>
            <a:r>
              <a:rPr lang="en-US" sz="1100" b="0" dirty="0">
                <a:solidFill>
                  <a:srgbClr val="000000"/>
                </a:solidFill>
                <a:latin typeface="Arial"/>
                <a:cs typeface="Arial"/>
              </a:rPr>
              <a:t> (Nov.2025~Mar.2026)</a:t>
            </a:r>
          </a:p>
          <a:p>
            <a:pPr marL="171450" indent="-171450">
              <a:spcAft>
                <a:spcPts val="500"/>
              </a:spcAft>
              <a:buFont typeface="Arial"/>
              <a:buChar char="•"/>
            </a:pPr>
            <a:r>
              <a:rPr lang="en-US" sz="1100" b="0" dirty="0">
                <a:solidFill>
                  <a:srgbClr val="000000"/>
                </a:solidFill>
                <a:latin typeface="Arial"/>
                <a:cs typeface="Arial"/>
              </a:rPr>
              <a:t>Z.bench = NORM.S.INV(1 − 0.226624) = 0.75</a:t>
            </a:r>
          </a:p>
          <a:p>
            <a:pPr marL="171450" indent="-171450">
              <a:spcAft>
                <a:spcPts val="500"/>
              </a:spcAft>
              <a:buFont typeface="Arial"/>
              <a:buChar char="•"/>
            </a:pPr>
            <a:r>
              <a:rPr lang="en-US" sz="1100" b="0" dirty="0">
                <a:solidFill>
                  <a:srgbClr val="000000"/>
                </a:solidFill>
                <a:latin typeface="Arial"/>
                <a:cs typeface="Arial"/>
              </a:rPr>
              <a:t>Cpk = Z / 3 = 0.75 / 3 = 0.25</a:t>
            </a:r>
          </a:p>
          <a:p>
            <a:pPr marL="171450" indent="-171450">
              <a:spcAft>
                <a:spcPts val="300"/>
              </a:spcAft>
              <a:buFont typeface="Arial"/>
              <a:buChar char="•"/>
            </a:pPr>
            <a:r>
              <a:rPr lang="en-US" sz="1200" b="1" dirty="0">
                <a:solidFill>
                  <a:srgbClr val="C00000"/>
                </a:solidFill>
                <a:latin typeface="Arial"/>
                <a:cs typeface="Arial"/>
              </a:rPr>
              <a:t>Cpk = 0.25 → Standard ≥ 1.33 → NG</a:t>
            </a:r>
          </a:p>
          <a:p>
            <a:pPr marL="0" indent="0">
              <a:spcAft>
                <a:spcPts val="500"/>
              </a:spcAft>
              <a:buNone/>
            </a:pPr>
            <a:r>
              <a:rPr lang="en-US" sz="1050" b="0" dirty="0">
                <a:solidFill>
                  <a:srgbClr val="000000"/>
                </a:solidFill>
                <a:latin typeface="Arial"/>
                <a:cs typeface="Arial"/>
              </a:rPr>
              <a:t>Lack of process capability: about 22.7% of the sets are read below the LSL = 800 Cd/m².</a:t>
            </a:r>
          </a:p>
          <a:p>
            <a:pPr marL="0" indent="0">
              <a:spcAft>
                <a:spcPts val="0"/>
              </a:spcAft>
              <a:buNone/>
            </a:pPr>
            <a:r>
              <a:rPr lang="en-US" sz="950" b="0" dirty="0">
                <a:solidFill>
                  <a:srgbClr val="595959"/>
                </a:solidFill>
                <a:latin typeface="Arial"/>
                <a:cs typeface="Arial"/>
              </a:rPr>
              <a:t>Note: before improvement there is no subgroup data, so the current Cpk is converted from the real defect rate (OK/NG count of the line).</a:t>
            </a:r>
          </a:p>
        </p:txBody>
      </p:sp>
      <p:sp>
        <p:nvSpPr>
          <p:cNvPr id="27" name="Added text 27"/>
          <p:cNvSpPr txBox="1"/>
          <p:nvPr/>
        </p:nvSpPr>
        <p:spPr>
          <a:xfrm>
            <a:off x="190500" y="35433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8" name="Added text 28"/>
          <p:cNvSpPr txBox="1"/>
          <p:nvPr/>
        </p:nvSpPr>
        <p:spPr>
          <a:xfrm>
            <a:off x="4238625" y="3543300"/>
            <a:ext cx="5524500" cy="571500"/>
          </a:xfrm>
          <a:prstGeom prst="rect">
            <a:avLst/>
          </a:prstGeom>
          <a:noFill/>
        </p:spPr>
        <p:txBody>
          <a:bodyPr wrap="square" lIns="0" tIns="0" rIns="0" bIns="0" rtlCol="0">
            <a:noAutofit/>
          </a:bodyPr>
          <a:lstStyle/>
          <a:p>
            <a:pPr marL="171450" indent="-171450">
              <a:spcAft>
                <a:spcPts val="3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0"/>
              </a:spcAft>
              <a:buFont typeface="Arial"/>
              <a:buChar char="•"/>
            </a:pPr>
            <a:r>
              <a:rPr lang="en-US" sz="1050" b="0" dirty="0">
                <a:solidFill>
                  <a:srgbClr val="000000"/>
                </a:solidFill>
                <a:latin typeface="Arial"/>
                <a:cs typeface="Arial"/>
              </a:rPr>
              <a:t>(Before improvement) Z = 0.75  →  (After improvement) Cpk ≥ 1.33, Z = 4.5   ⇒ defect rate 226,624 ppm → 0 ppm</a:t>
            </a:r>
          </a:p>
        </p:txBody>
      </p:sp>
      <p:pic>
        <p:nvPicPr>
          <p:cNvPr id="29" name="Target of improvement"/>
          <p:cNvPicPr>
            <a:picLocks noChangeAspect="1"/>
          </p:cNvPicPr>
          <p:nvPr/>
        </p:nvPicPr>
        <p:blipFill>
          <a:blip r:embed="rId3"/>
          <a:stretch>
            <a:fillRect/>
          </a:stretch>
        </p:blipFill>
        <p:spPr>
          <a:xfrm>
            <a:off x="666750" y="4238625"/>
            <a:ext cx="8572500" cy="2333625"/>
          </a:xfrm>
          <a:prstGeom prst="rect">
            <a:avLst/>
          </a:prstGeom>
        </p:spPr>
      </p:pic>
    </p:spTree>
    <p:extLst>
      <p:ext uri="{BB962C8B-B14F-4D97-AF65-F5344CB8AC3E}">
        <p14:creationId xmlns:p14="http://schemas.microsoft.com/office/powerpoint/2010/main" val="256941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0" name=""/>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0" name=""/>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11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CANSIM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Both samples fail the normality test (Anderson-Darling P &lt; 0.005); with n = 30 per group the 2-sample t-test (Welch) is robust.</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new camera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new camera affects luminance in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Both samples fail the normality test (Anderson-Darling P &lt; 0.005). With n = 30 per group the 2-sample t-test (Welch) is robust: P = 0.950 &gt; 0.05, so changing the camera has no significant effect.</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angle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angle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dirty="0">
                <a:solidFill>
                  <a:prstClr val="black"/>
                </a:solidFill>
                <a:latin typeface="Arial"/>
              </a:rPr>
              <a:t>The before-fix sample (C1) fails the normality test (Anderson-Darling P &lt; 0.005); with n = 30 per group the 2-sample t-test (Welch) is robust. After the angle correction the mean is 48.99 Cd/m² higher (95% CI 32.93 to 65.05).</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After adjusting the detector camera angle to the 90.0° target (measured 89.889°) and re-testing samples, no Luminance NG was observed in the re-test. Correcting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2. LHD and RHD use the same servo positions (48, 49) but mirrored screens. </a:t>
            </a:r>
            <a:r>
              <a:rPr lang="en-US" sz="1000" dirty="0">
                <a:latin typeface="Arial" panose="020B0606020202030204" pitchFamily="34" charset="0"/>
                <a:sym typeface="Wingdings" panose="05000000000000000000" pitchFamily="2" charset="2"/>
              </a:rPr>
              <a:t>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572"/>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algn="ctr" eaLnBrk="1" latinLnBrk="0"/>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Correcting the CS2000 camera angle from the existing 89° to 90° raises the measured luminance of the RHD Privacy (PID) displays by about 13%, whereas Public (CID) models change by less than 0.5%, so only the RHD Privacy models need luminance compensation (13%).</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Luminance compensation for Privacy models</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19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0" name=""/>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21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0.926 &gt; 0.05  Fail to reject H0 -&gt; No significant bias (PASS)</a:t>
            </a:r>
          </a:p>
          <a:p>
            <a:pPr eaLnBrk="1" latinLnBrk="0"/>
            <a:r>
              <a:rPr sz="1000" b="0">
                <a:latin typeface="Arial"/>
              </a:rPr>
              <a:t>• Cg = 2.51 (Std ≥ 1.33) PASS | Cgk = 2.50 (Std ≥ 1.33) PASS</a:t>
            </a:r>
          </a:p>
          <a:p>
            <a:pPr eaLnBrk="1" latinLnBrk="0"/>
            <a:r>
              <a:rPr sz="1000" b="0">
                <a:latin typeface="Arial"/>
              </a:rPr>
              <a:t>• %Var(Repeatability) = 7.98% (&lt; 10%) PASS</a:t>
            </a:r>
          </a:p>
          <a:p>
            <a:pPr eaLnBrk="1" latinLnBrk="0"/>
            <a:r>
              <a:rPr sz="1000" b="0">
                <a:latin typeface="Arial"/>
              </a:rPr>
              <a:t>• %Var(Repeatability &amp; Bias) = 8.00% (&lt; 10%) PASS</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C00000"/>
                </a:solidFill>
                <a:latin typeface="Arial"/>
                <a:cs typeface="Arial"/>
              </a:rPr>
              <a:t>Before (2.3): </a:t>
            </a:r>
            <a:r>
              <a:rPr lang="en-US" sz="1100" b="0" dirty="0">
                <a:solidFill>
                  <a:srgbClr val="C00000"/>
                </a:solidFill>
                <a:latin typeface="Arial"/>
                <a:cs typeface="Arial"/>
              </a:rPr>
              <a:t>Cpk = 0.25 (Z = 0.75) → Standard ≥ 1.33 → NG, lack of process capability</a:t>
            </a:r>
          </a:p>
          <a:p>
            <a:pPr marL="0" indent="0">
              <a:spcAft>
                <a:spcPts val="0"/>
              </a:spcAft>
              <a:buNone/>
            </a:pPr>
            <a:r>
              <a:rPr lang="en-US" sz="1100" b="1" dirty="0">
                <a:solidFill>
                  <a:srgbClr val="1E7B34"/>
                </a:solidFill>
                <a:latin typeface="Arial"/>
                <a:cs typeface="Arial"/>
              </a:rPr>
              <a:t>After: </a:t>
            </a:r>
            <a:r>
              <a:rPr lang="en-US" sz="1100" b="0" dirty="0">
                <a:solidFill>
                  <a:srgbClr val="1E7B34"/>
                </a:solidFill>
                <a:latin typeface="Arial"/>
                <a:cs typeface="Arial"/>
              </a:rPr>
              <a:t>Cpk = 2.39 (Z = 7.18)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The results demonstrate that the measurement system now achieves high repeatability and no significant bias (Type 1: Cg/Cgk ≥ 1.33; Type 3: %Study Var &lt; 10% and %Contribution &lt; 1%), and the process measured at the Luminance station shows excellent capability (Cpk = 2.39 &gt; 2.0).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1. Test the Master Sample (reference 910 Cd/m²) at the Luminance station; the reading must be inside the control limits 910 ± 48 Cd/m² (±3s of the Type 1 study after improvement, s = 15.96) and inside spec (800~2000 Cd/m²).</a:t>
            </a:r>
            <a:br/>
            <a:r>
              <a:rPr sz="1000" b="0">
                <a:latin typeface="Arial"/>
              </a:rPr>
              <a:t>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models also need the 13% luminance compensation (slide 19).</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Tree>
    <p:extLst>
      <p:ext uri="{BB962C8B-B14F-4D97-AF65-F5344CB8AC3E}">
        <p14:creationId xmlns:p14="http://schemas.microsoft.com/office/powerpoint/2010/main" val="32233714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89940</TotalTime>
  <Words>6134</Words>
  <Application>Microsoft Office PowerPoint</Application>
  <PresentationFormat>A4 Paper (210x297 mm)</PresentationFormat>
  <Paragraphs>1298</Paragraphs>
  <Slides>28</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28</vt:i4>
      </vt:variant>
    </vt:vector>
  </HeadingPairs>
  <TitlesOfParts>
    <vt:vector size="41" baseType="lpstr">
      <vt:lpstr>Arial Unicode MS</vt:lpstr>
      <vt:lpstr>굴림</vt:lpstr>
      <vt:lpstr>현대하모니 L</vt:lpstr>
      <vt:lpstr>LG스마트체 Regular</vt:lpstr>
      <vt:lpstr>LG스마트체 Regular</vt:lpstr>
      <vt:lpstr>맑은 고딕</vt:lpstr>
      <vt:lpstr>Arial</vt:lpstr>
      <vt:lpstr>Arial Narrow</vt:lpstr>
      <vt:lpstr>Calibri</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LONG DUC NGUYEN/LGEVH IVI LD Cyber Security Part</cp:lastModifiedBy>
  <cp:revision>3216</cp:revision>
  <cp:lastPrinted>2017-04-20T00:57:17Z</cp:lastPrinted>
  <dcterms:created xsi:type="dcterms:W3CDTF">2013-07-05T02:04:59Z</dcterms:created>
  <dcterms:modified xsi:type="dcterms:W3CDTF">2026-10-19T08:56:28Z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LGE Internal Use Only</vt:lpwstr>
  </property>
</Properties>
</file>