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58" r:id="rId3"/>
    <p:sldId id="257" r:id="rId4"/>
    <p:sldId id="294" r:id="rId5"/>
    <p:sldId id="289" r:id="rId6"/>
    <p:sldId id="290" r:id="rId7"/>
    <p:sldId id="295" r:id="rId8"/>
    <p:sldId id="261" r:id="rId9"/>
    <p:sldId id="260" r:id="rId10"/>
    <p:sldId id="264" r:id="rId11"/>
    <p:sldId id="262" r:id="rId12"/>
    <p:sldId id="266" r:id="rId13"/>
    <p:sldId id="267" r:id="rId14"/>
    <p:sldId id="286" r:id="rId15"/>
    <p:sldId id="269" r:id="rId16"/>
    <p:sldId id="277" r:id="rId17"/>
    <p:sldId id="271" r:id="rId18"/>
    <p:sldId id="298" r:id="rId19"/>
    <p:sldId id="302" r:id="rId20"/>
    <p:sldId id="299" r:id="rId21"/>
    <p:sldId id="301" r:id="rId22"/>
    <p:sldId id="276" r:id="rId23"/>
    <p:sldId id="282" r:id="rId24"/>
    <p:sldId id="281" r:id="rId25"/>
    <p:sldId id="285" r:id="rId26"/>
    <p:sldId id="284" r:id="rId27"/>
    <p:sldId id="283" r:id="rId28"/>
    <p:sldId id="291" r:id="rId29"/>
    <p:sldId id="296" r:id="rId30"/>
    <p:sldId id="292" r:id="rId31"/>
    <p:sldId id="293" r:id="rId32"/>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9E65"/>
    <a:srgbClr val="009A46"/>
    <a:srgbClr val="00A84C"/>
    <a:srgbClr val="D44EE2"/>
    <a:srgbClr val="EC44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15" autoAdjust="0"/>
    <p:restoredTop sz="94660"/>
  </p:normalViewPr>
  <p:slideViewPr>
    <p:cSldViewPr snapToGrid="0">
      <p:cViewPr>
        <p:scale>
          <a:sx n="75" d="100"/>
          <a:sy n="75" d="100"/>
        </p:scale>
        <p:origin x="2996" y="6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94F1CD-E241-4D9C-9E31-390901BDC062}" type="datetimeFigureOut">
              <a:rPr lang="en-US" smtClean="0"/>
              <a:t>7/11/2026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8140DE-723E-4997-BDFF-5B6EE3042125}" type="slidenum">
              <a:rPr lang="en-US" smtClean="0"/>
              <a:t>‹#›</a:t>
            </a:fld>
            <a:endParaRPr lang="en-US"/>
          </a:p>
        </p:txBody>
      </p:sp>
    </p:spTree>
    <p:extLst>
      <p:ext uri="{BB962C8B-B14F-4D97-AF65-F5344CB8AC3E}">
        <p14:creationId xmlns:p14="http://schemas.microsoft.com/office/powerpoint/2010/main" val="1882956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txBox="1">
            <a:spLocks noGrp="1" noChangeArrowheads="1"/>
          </p:cNvSpPr>
          <p:nvPr/>
        </p:nvSpPr>
        <p:spPr bwMode="auto">
          <a:xfrm>
            <a:off x="3856040" y="9440864"/>
            <a:ext cx="2949575" cy="496886"/>
          </a:xfrm>
          <a:prstGeom prst="rect">
            <a:avLst/>
          </a:prstGeom>
          <a:noFill/>
          <a:ln w="9525">
            <a:noFill/>
            <a:miter lim="800000"/>
            <a:headEnd/>
            <a:tailEnd/>
          </a:ln>
        </p:spPr>
        <p:txBody>
          <a:bodyPr lIns="92263" tIns="46131" rIns="92263" bIns="46131" anchor="b"/>
          <a:lstStyle/>
          <a:p>
            <a:pPr algn="r" defTabSz="922338"/>
            <a:fld id="{5BE7E9BA-AA21-47DE-AA7D-C59597806D63}" type="slidenum">
              <a:rPr lang="en-US" altLang="ko-KR">
                <a:solidFill>
                  <a:prstClr val="black"/>
                </a:solidFill>
              </a:rPr>
              <a:pPr algn="r" defTabSz="922338"/>
              <a:t>2</a:t>
            </a:fld>
            <a:endParaRPr lang="en-US" altLang="ko-KR">
              <a:solidFill>
                <a:prstClr val="black"/>
              </a:solidFill>
            </a:endParaRPr>
          </a:p>
        </p:txBody>
      </p:sp>
      <p:sp>
        <p:nvSpPr>
          <p:cNvPr id="48131" name="슬라이드 이미지 개체 틀 1"/>
          <p:cNvSpPr>
            <a:spLocks noGrp="1" noRot="1" noChangeAspect="1" noTextEdit="1"/>
          </p:cNvSpPr>
          <p:nvPr>
            <p:ph type="sldImg"/>
          </p:nvPr>
        </p:nvSpPr>
        <p:spPr>
          <a:xfrm>
            <a:off x="712788" y="746125"/>
            <a:ext cx="5381625" cy="3725863"/>
          </a:xfrm>
          <a:ln/>
        </p:spPr>
      </p:sp>
      <p:sp>
        <p:nvSpPr>
          <p:cNvPr id="48132" name="슬라이드 노트 개체 틀 2"/>
          <p:cNvSpPr>
            <a:spLocks noGrp="1"/>
          </p:cNvSpPr>
          <p:nvPr>
            <p:ph type="body" idx="1"/>
          </p:nvPr>
        </p:nvSpPr>
        <p:spPr>
          <a:xfrm>
            <a:off x="681038" y="4722813"/>
            <a:ext cx="5445125" cy="4470400"/>
          </a:xfrm>
          <a:noFill/>
          <a:ln/>
        </p:spPr>
        <p:txBody>
          <a:bodyPr lIns="91725" tIns="45863" rIns="91725" bIns="45863">
            <a:normAutofit fontScale="92500" lnSpcReduction="10000"/>
          </a:bodyPr>
          <a:lstStyle/>
          <a:p>
            <a:pPr eaLnBrk="1" hangingPunct="1"/>
            <a:r>
              <a:rPr lang="en-US" altLang="ko-KR"/>
              <a:t>MBB </a:t>
            </a:r>
            <a:r>
              <a:rPr lang="ko-KR" altLang="en-US"/>
              <a:t>후보 과제는 고객의 요구사항과 경영성과 측면에서도 개선 및 기여도가 분명하고</a:t>
            </a:r>
            <a:r>
              <a:rPr lang="en-US" altLang="ko-KR"/>
              <a:t>, </a:t>
            </a:r>
            <a:r>
              <a:rPr lang="ko-KR" altLang="en-US"/>
              <a:t>당해 년도 중요한 과제를 선정해야 한다고 들었습니다</a:t>
            </a:r>
            <a:r>
              <a:rPr lang="en-US" altLang="ko-KR"/>
              <a:t>. </a:t>
            </a:r>
          </a:p>
          <a:p>
            <a:pPr eaLnBrk="1" hangingPunct="1"/>
            <a:r>
              <a:rPr lang="ko-KR" altLang="en-US"/>
              <a:t>하지만</a:t>
            </a:r>
            <a:r>
              <a:rPr lang="en-US" altLang="ko-KR"/>
              <a:t>, MBB</a:t>
            </a:r>
            <a:r>
              <a:rPr lang="ko-KR" altLang="en-US"/>
              <a:t>후보 모두가 그와 같이 막중하고 규모 있는 과제를  하기란 사실상 어려운 부분도 많습니다</a:t>
            </a:r>
            <a:r>
              <a:rPr lang="en-US" altLang="ko-KR"/>
              <a:t>. </a:t>
            </a:r>
            <a:r>
              <a:rPr lang="ko-KR" altLang="en-US"/>
              <a:t>한 편으로는 </a:t>
            </a:r>
            <a:r>
              <a:rPr lang="en-US" altLang="ko-KR"/>
              <a:t>MBB</a:t>
            </a:r>
            <a:r>
              <a:rPr lang="ko-KR" altLang="en-US"/>
              <a:t>가 모든 영역에 대한</a:t>
            </a:r>
            <a:endParaRPr lang="en-US" altLang="ko-KR"/>
          </a:p>
          <a:p>
            <a:pPr eaLnBrk="1" hangingPunct="1"/>
            <a:r>
              <a:rPr lang="ko-KR" altLang="en-US"/>
              <a:t>전문가도 아니기에 전공 외의 영역에서는 문제해결 전문가로서 업무를 리드해 가기가 힘든 것도 사실입니다</a:t>
            </a:r>
            <a:r>
              <a:rPr lang="en-US" altLang="ko-KR"/>
              <a:t>. </a:t>
            </a:r>
          </a:p>
          <a:p>
            <a:pPr eaLnBrk="1" hangingPunct="1"/>
            <a:r>
              <a:rPr lang="en-US" altLang="ko-KR"/>
              <a:t>MBB </a:t>
            </a:r>
            <a:r>
              <a:rPr lang="ko-KR" altLang="en-US"/>
              <a:t>후보 생활을 하면서 전</a:t>
            </a:r>
            <a:r>
              <a:rPr lang="en-US" altLang="ko-KR"/>
              <a:t>, MBB</a:t>
            </a:r>
            <a:r>
              <a:rPr lang="ko-KR" altLang="en-US"/>
              <a:t>로서의 역량은 물론 자질도 개발해 나가는 과정이라고 생각하고</a:t>
            </a:r>
            <a:r>
              <a:rPr lang="en-US" altLang="ko-KR"/>
              <a:t>, </a:t>
            </a:r>
            <a:r>
              <a:rPr lang="ko-KR" altLang="en-US"/>
              <a:t>휴대전화에는 여태껏 적용하지 않았던 </a:t>
            </a:r>
            <a:endParaRPr lang="en-US" altLang="ko-KR"/>
          </a:p>
          <a:p>
            <a:pPr eaLnBrk="1" hangingPunct="1"/>
            <a:r>
              <a:rPr lang="en-US" altLang="ko-KR"/>
              <a:t>G2</a:t>
            </a:r>
            <a:r>
              <a:rPr lang="ko-KR" altLang="en-US"/>
              <a:t>의 </a:t>
            </a:r>
            <a:r>
              <a:rPr lang="en-US" altLang="ko-KR"/>
              <a:t>OIS Camera </a:t>
            </a:r>
            <a:r>
              <a:rPr lang="ko-KR" altLang="en-US"/>
              <a:t>부분에 대해 과제를 하기로 결정하였습니다</a:t>
            </a:r>
            <a:r>
              <a:rPr lang="en-US" altLang="ko-KR"/>
              <a:t>. </a:t>
            </a:r>
            <a:r>
              <a:rPr lang="ko-KR" altLang="en-US"/>
              <a:t>주변에서는 휴대폰에 적용할지 어떨지도 잘 모르는 상황이고</a:t>
            </a:r>
            <a:r>
              <a:rPr lang="en-US" altLang="ko-KR"/>
              <a:t>, </a:t>
            </a:r>
            <a:r>
              <a:rPr lang="ko-KR" altLang="en-US"/>
              <a:t>성공할 수 있는지에</a:t>
            </a:r>
            <a:endParaRPr lang="en-US" altLang="ko-KR"/>
          </a:p>
          <a:p>
            <a:pPr eaLnBrk="1" hangingPunct="1"/>
            <a:r>
              <a:rPr lang="ko-KR" altLang="en-US"/>
              <a:t>대한 의구심으로 인해 기피하던 과제라 반신반의 했지만</a:t>
            </a:r>
            <a:r>
              <a:rPr lang="en-US" altLang="ko-KR"/>
              <a:t>, </a:t>
            </a:r>
            <a:r>
              <a:rPr lang="ko-KR" altLang="en-US"/>
              <a:t>역량을 개발하고 도전적인 목표 달성을 위해 최선을 다해보자는 마음가짐으로 시작했습니다</a:t>
            </a:r>
            <a:r>
              <a:rPr lang="en-US" altLang="ko-KR"/>
              <a:t>.</a:t>
            </a:r>
          </a:p>
          <a:p>
            <a:pPr eaLnBrk="1" hangingPunct="1"/>
            <a:r>
              <a:rPr lang="en-US" altLang="ko-KR"/>
              <a:t>‘</a:t>
            </a:r>
            <a:r>
              <a:rPr lang="ko-KR" altLang="en-US"/>
              <a:t>제대로 한 번 해보자</a:t>
            </a:r>
            <a:r>
              <a:rPr lang="en-US" altLang="ko-KR"/>
              <a:t>.’  </a:t>
            </a:r>
          </a:p>
          <a:p>
            <a:pPr eaLnBrk="1" hangingPunct="1"/>
            <a:endParaRPr lang="en-US" altLang="ko-KR"/>
          </a:p>
          <a:p>
            <a:pPr eaLnBrk="1" hangingPunct="1"/>
            <a:r>
              <a:rPr lang="ko-KR" altLang="en-US"/>
              <a:t>당시 </a:t>
            </a:r>
            <a:r>
              <a:rPr lang="en-US" altLang="ko-KR"/>
              <a:t>CMR</a:t>
            </a:r>
            <a:r>
              <a:rPr lang="ko-KR" altLang="en-US"/>
              <a:t>지표 중 </a:t>
            </a:r>
            <a:r>
              <a:rPr lang="en-US" altLang="ko-KR"/>
              <a:t>Camera </a:t>
            </a:r>
            <a:r>
              <a:rPr lang="ko-KR" altLang="en-US"/>
              <a:t>부분은 애플과 </a:t>
            </a:r>
            <a:r>
              <a:rPr lang="en-US" altLang="ko-KR"/>
              <a:t>SS</a:t>
            </a:r>
            <a:r>
              <a:rPr lang="ko-KR" altLang="en-US"/>
              <a:t>에 비해 다른 부분보다 현저히 떨어지는 수준이었습니다</a:t>
            </a:r>
            <a:r>
              <a:rPr lang="en-US" altLang="ko-KR"/>
              <a:t>. </a:t>
            </a:r>
            <a:r>
              <a:rPr lang="ko-KR" altLang="en-US"/>
              <a:t>실제 필드불량은 </a:t>
            </a:r>
            <a:r>
              <a:rPr lang="en-US" altLang="ko-KR"/>
              <a:t>0.32%</a:t>
            </a:r>
            <a:r>
              <a:rPr lang="ko-KR" altLang="en-US"/>
              <a:t>인데</a:t>
            </a:r>
            <a:r>
              <a:rPr lang="en-US" altLang="ko-KR"/>
              <a:t>, </a:t>
            </a:r>
            <a:r>
              <a:rPr lang="ko-KR" altLang="en-US"/>
              <a:t>고객의 불만지수는</a:t>
            </a:r>
            <a:endParaRPr lang="en-US" altLang="ko-KR"/>
          </a:p>
          <a:p>
            <a:pPr eaLnBrk="1" hangingPunct="1"/>
            <a:r>
              <a:rPr lang="ko-KR" altLang="en-US"/>
              <a:t>밧데리 사용시간 다음으로 </a:t>
            </a:r>
            <a:r>
              <a:rPr lang="en-US" altLang="ko-KR"/>
              <a:t>Camera</a:t>
            </a:r>
            <a:r>
              <a:rPr lang="ko-KR" altLang="en-US"/>
              <a:t>가 컸습니다</a:t>
            </a:r>
            <a:r>
              <a:rPr lang="en-US" altLang="ko-KR"/>
              <a:t>. FFR</a:t>
            </a:r>
            <a:r>
              <a:rPr lang="ko-KR" altLang="en-US"/>
              <a:t>지표는 낮은데</a:t>
            </a:r>
            <a:r>
              <a:rPr lang="en-US" altLang="ko-KR"/>
              <a:t>, </a:t>
            </a:r>
            <a:r>
              <a:rPr lang="ko-KR" altLang="en-US"/>
              <a:t>실제 불량은 적은데</a:t>
            </a:r>
            <a:r>
              <a:rPr lang="en-US" altLang="ko-KR"/>
              <a:t>, </a:t>
            </a:r>
            <a:r>
              <a:rPr lang="ko-KR" altLang="en-US"/>
              <a:t>고객들의 느끼는 </a:t>
            </a:r>
            <a:r>
              <a:rPr lang="en-US" altLang="ko-KR"/>
              <a:t>Imapct</a:t>
            </a:r>
            <a:r>
              <a:rPr lang="ko-KR" altLang="en-US"/>
              <a:t>는 매우 큰 </a:t>
            </a:r>
            <a:r>
              <a:rPr lang="en-US" altLang="ko-KR"/>
              <a:t>Item</a:t>
            </a:r>
            <a:r>
              <a:rPr lang="ko-KR" altLang="en-US"/>
              <a:t>이 </a:t>
            </a:r>
            <a:r>
              <a:rPr lang="en-US" altLang="ko-KR"/>
              <a:t>Camera</a:t>
            </a:r>
            <a:r>
              <a:rPr lang="ko-KR" altLang="en-US"/>
              <a:t>라는 사실을</a:t>
            </a:r>
            <a:endParaRPr lang="en-US" altLang="ko-KR"/>
          </a:p>
          <a:p>
            <a:pPr eaLnBrk="1" hangingPunct="1"/>
            <a:r>
              <a:rPr lang="ko-KR" altLang="en-US"/>
              <a:t>새삼 실감하며</a:t>
            </a:r>
            <a:r>
              <a:rPr lang="en-US" altLang="ko-KR"/>
              <a:t>, </a:t>
            </a:r>
            <a:r>
              <a:rPr lang="ko-KR" altLang="en-US"/>
              <a:t>반드시 성공시켜보겠다는 의지를 갖게 했습니다</a:t>
            </a:r>
            <a:r>
              <a:rPr lang="en-US" altLang="ko-KR"/>
              <a:t>.</a:t>
            </a:r>
          </a:p>
          <a:p>
            <a:pPr eaLnBrk="1" hangingPunct="1"/>
            <a:endParaRPr lang="en-US" altLang="ko-KR"/>
          </a:p>
          <a:p>
            <a:pPr eaLnBrk="1" hangingPunct="1"/>
            <a:r>
              <a:rPr lang="ko-KR" altLang="en-US"/>
              <a:t>과제등록서는 과제를 진행하면서 상당 부분이 변경되었습니다</a:t>
            </a:r>
            <a:r>
              <a:rPr lang="en-US" altLang="ko-KR"/>
              <a:t>. </a:t>
            </a:r>
            <a:r>
              <a:rPr lang="ko-KR" altLang="en-US"/>
              <a:t>사실 </a:t>
            </a:r>
            <a:r>
              <a:rPr lang="en-US" altLang="ko-KR"/>
              <a:t>OIS</a:t>
            </a:r>
            <a:r>
              <a:rPr lang="ko-KR" altLang="en-US"/>
              <a:t>기능에 대한 개발 경험도 없었기에 이것을 어떻게 측정할지</a:t>
            </a:r>
            <a:r>
              <a:rPr lang="en-US" altLang="ko-KR"/>
              <a:t>.. </a:t>
            </a:r>
            <a:r>
              <a:rPr lang="ko-KR" altLang="en-US"/>
              <a:t>또 무엇을 측정할지</a:t>
            </a:r>
            <a:endParaRPr lang="en-US" altLang="ko-KR"/>
          </a:p>
          <a:p>
            <a:pPr eaLnBrk="1" hangingPunct="1"/>
            <a:r>
              <a:rPr lang="ko-KR" altLang="en-US"/>
              <a:t>결정할 게 한 두가지가 아니었습니다</a:t>
            </a:r>
            <a:r>
              <a:rPr lang="en-US" altLang="ko-KR"/>
              <a:t>. </a:t>
            </a:r>
            <a:r>
              <a:rPr lang="ko-KR" altLang="en-US"/>
              <a:t>개발 기간은 정해져 있는데</a:t>
            </a:r>
            <a:r>
              <a:rPr lang="en-US" altLang="ko-KR"/>
              <a:t>, </a:t>
            </a:r>
            <a:r>
              <a:rPr lang="ko-KR" altLang="en-US"/>
              <a:t>측정 지표를 정하고</a:t>
            </a:r>
            <a:r>
              <a:rPr lang="en-US" altLang="ko-KR"/>
              <a:t>, Spec</a:t>
            </a:r>
            <a:r>
              <a:rPr lang="ko-KR" altLang="en-US"/>
              <a:t>을 정하고</a:t>
            </a:r>
            <a:r>
              <a:rPr lang="en-US" altLang="ko-KR"/>
              <a:t>, </a:t>
            </a:r>
            <a:r>
              <a:rPr lang="ko-KR" altLang="en-US"/>
              <a:t>그 수준에 </a:t>
            </a:r>
            <a:r>
              <a:rPr lang="en-US" altLang="ko-KR"/>
              <a:t>Meet</a:t>
            </a:r>
            <a:r>
              <a:rPr lang="ko-KR" altLang="en-US"/>
              <a:t>하게끔 만들어 내야 하는 것이었습니다</a:t>
            </a:r>
            <a:r>
              <a:rPr lang="en-US" altLang="ko-KR"/>
              <a:t>.</a:t>
            </a:r>
          </a:p>
          <a:p>
            <a:pPr eaLnBrk="1" hangingPunct="1"/>
            <a:r>
              <a:rPr lang="en-US" altLang="ko-KR"/>
              <a:t>Suppression ratio</a:t>
            </a:r>
            <a:r>
              <a:rPr lang="ko-KR" altLang="en-US"/>
              <a:t>라는 지표 명은 새롭게 정한 것입니다</a:t>
            </a:r>
            <a:r>
              <a:rPr lang="en-US" altLang="ko-KR"/>
              <a:t>. </a:t>
            </a:r>
            <a:r>
              <a:rPr lang="ko-KR" altLang="en-US"/>
              <a:t>그대로 번역하자면 억제력</a:t>
            </a:r>
            <a:r>
              <a:rPr lang="en-US" altLang="ko-KR"/>
              <a:t>, </a:t>
            </a:r>
            <a:r>
              <a:rPr lang="ko-KR" altLang="en-US"/>
              <a:t>보정력입니다</a:t>
            </a:r>
            <a:r>
              <a:rPr lang="en-US" altLang="ko-KR"/>
              <a:t>. Camera lens</a:t>
            </a:r>
            <a:r>
              <a:rPr lang="ko-KR" altLang="en-US"/>
              <a:t>가 떨리는 걸 억제해 내는 능력을 </a:t>
            </a:r>
            <a:endParaRPr lang="en-US" altLang="ko-KR"/>
          </a:p>
          <a:p>
            <a:pPr eaLnBrk="1" hangingPunct="1"/>
            <a:r>
              <a:rPr lang="en-US" altLang="ko-KR"/>
              <a:t>Project Y</a:t>
            </a:r>
            <a:r>
              <a:rPr lang="ko-KR" altLang="en-US"/>
              <a:t>로 정했습니다</a:t>
            </a:r>
            <a:r>
              <a:rPr lang="en-US" altLang="ko-KR"/>
              <a:t>. </a:t>
            </a:r>
            <a:r>
              <a:rPr lang="ko-KR" altLang="en-US"/>
              <a:t>비율 데이터로서 정보의 양도 많고</a:t>
            </a:r>
            <a:r>
              <a:rPr lang="en-US" altLang="ko-KR"/>
              <a:t>, KPI</a:t>
            </a:r>
            <a:r>
              <a:rPr lang="ko-KR" altLang="en-US"/>
              <a:t>를 대표할 만한 과제라고 판단했습니다</a:t>
            </a:r>
            <a:r>
              <a:rPr lang="en-US" altLang="ko-KR"/>
              <a:t>. </a:t>
            </a:r>
            <a:endParaRPr lang="ko-KR" altLang="ko-KR"/>
          </a:p>
        </p:txBody>
      </p:sp>
      <p:sp>
        <p:nvSpPr>
          <p:cNvPr id="48133" name="슬라이드 번호 개체 틀 3"/>
          <p:cNvSpPr txBox="1">
            <a:spLocks noGrp="1"/>
          </p:cNvSpPr>
          <p:nvPr/>
        </p:nvSpPr>
        <p:spPr bwMode="auto">
          <a:xfrm>
            <a:off x="3856040" y="9440864"/>
            <a:ext cx="2949575" cy="496886"/>
          </a:xfrm>
          <a:prstGeom prst="rect">
            <a:avLst/>
          </a:prstGeom>
          <a:noFill/>
          <a:ln w="9525">
            <a:noFill/>
            <a:miter lim="800000"/>
            <a:headEnd/>
            <a:tailEnd/>
          </a:ln>
        </p:spPr>
        <p:txBody>
          <a:bodyPr lIns="91725" tIns="45863" rIns="91725" bIns="45863" anchor="b"/>
          <a:lstStyle/>
          <a:p>
            <a:pPr algn="r" defTabSz="917575"/>
            <a:fld id="{818D6CEA-FC9F-4C66-9BC2-DC2514398C18}" type="slidenum">
              <a:rPr lang="en-US" altLang="ko-KR">
                <a:solidFill>
                  <a:prstClr val="black"/>
                </a:solidFill>
              </a:rPr>
              <a:pPr algn="r" defTabSz="917575"/>
              <a:t>2</a:t>
            </a:fld>
            <a:endParaRPr lang="en-US" altLang="ko-KR">
              <a:solidFill>
                <a:prstClr val="black"/>
              </a:solidFill>
            </a:endParaRPr>
          </a:p>
        </p:txBody>
      </p:sp>
    </p:spTree>
    <p:extLst>
      <p:ext uri="{BB962C8B-B14F-4D97-AF65-F5344CB8AC3E}">
        <p14:creationId xmlns:p14="http://schemas.microsoft.com/office/powerpoint/2010/main" val="3086365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FB90C6-EFF5-4475-9052-D0E33AFC0D89}"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4233625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FB90C6-EFF5-4475-9052-D0E33AFC0D89}"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3118510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FB90C6-EFF5-4475-9052-D0E33AFC0D89}"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31041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FB90C6-EFF5-4475-9052-D0E33AFC0D89}"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735934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FB90C6-EFF5-4475-9052-D0E33AFC0D89}" type="datetimeFigureOut">
              <a:rPr lang="en-US" smtClean="0"/>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3670493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FB90C6-EFF5-4475-9052-D0E33AFC0D89}" type="datetimeFigureOut">
              <a:rPr lang="en-US" smtClean="0"/>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2864187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FB90C6-EFF5-4475-9052-D0E33AFC0D89}" type="datetimeFigureOut">
              <a:rPr lang="en-US" smtClean="0"/>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2953192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FB90C6-EFF5-4475-9052-D0E33AFC0D89}"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1071023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FB90C6-EFF5-4475-9052-D0E33AFC0D89}"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1248414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FB90C6-EFF5-4475-9052-D0E33AFC0D89}"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1603721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FB90C6-EFF5-4475-9052-D0E33AFC0D89}"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4FCDD9-6116-49E5-9764-79272CDDEF8F}" type="slidenum">
              <a:rPr lang="en-US" smtClean="0"/>
              <a:t>‹#›</a:t>
            </a:fld>
            <a:endParaRPr lang="en-US"/>
          </a:p>
        </p:txBody>
      </p:sp>
    </p:spTree>
    <p:extLst>
      <p:ext uri="{BB962C8B-B14F-4D97-AF65-F5344CB8AC3E}">
        <p14:creationId xmlns:p14="http://schemas.microsoft.com/office/powerpoint/2010/main" val="3031394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FB90C6-EFF5-4475-9052-D0E33AFC0D89}" type="datetimeFigureOut">
              <a:rPr lang="en-US" smtClean="0"/>
              <a:t>7/11/2026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4FCDD9-6116-49E5-9764-79272CDDEF8F}" type="slidenum">
              <a:rPr lang="en-US" smtClean="0"/>
              <a:t>‹#›</a:t>
            </a:fld>
            <a:endParaRPr lang="en-US"/>
          </a:p>
        </p:txBody>
      </p:sp>
      <p:sp>
        <p:nvSpPr>
          <p:cNvPr id="8" name="TextBox 7">
            <a:extLst>
              <a:ext uri="{FF2B5EF4-FFF2-40B4-BE49-F238E27FC236}">
                <a16:creationId xmlns:a16="http://schemas.microsoft.com/office/drawing/2014/main" id="{DA4AC8A9-99DC-ED28-BE54-78E304AFF9A8}"/>
              </a:ext>
            </a:extLst>
          </p:cNvPr>
          <p:cNvSpPr txBox="1"/>
          <p:nvPr userDrawn="1">
            <p:extLst>
              <p:ext uri="{1162E1C5-73C7-4A58-AE30-91384D911F3F}">
                <p184:classification xmlns:p184="http://schemas.microsoft.com/office/powerpoint/2018/4/main" val="hdr"/>
              </p:ext>
            </p:extLst>
          </p:nvPr>
        </p:nvSpPr>
        <p:spPr>
          <a:xfrm>
            <a:off x="4281488" y="63500"/>
            <a:ext cx="1377950" cy="182880"/>
          </a:xfrm>
          <a:prstGeom prst="rect">
            <a:avLst/>
          </a:prstGeom>
        </p:spPr>
        <p:txBody>
          <a:bodyPr horzOverflow="overflow" lIns="0" tIns="0" rIns="0" bIns="0">
            <a:spAutoFit/>
          </a:bodyPr>
          <a:lstStyle/>
          <a:p>
            <a:pPr algn="l"/>
            <a:r>
              <a:rPr lang="ko-KR" altLang="en-US" sz="1200">
                <a:solidFill>
                  <a:srgbClr val="000000"/>
                </a:solidFill>
                <a:latin typeface="Calibri" panose="020F0502020204030204" pitchFamily="34" charset="0"/>
                <a:cs typeface="Calibri" panose="020F0502020204030204" pitchFamily="34" charset="0"/>
              </a:rPr>
              <a:t>LGE Internal Use Only</a:t>
            </a:r>
          </a:p>
        </p:txBody>
      </p:sp>
    </p:spTree>
    <p:extLst>
      <p:ext uri="{BB962C8B-B14F-4D97-AF65-F5344CB8AC3E}">
        <p14:creationId xmlns:p14="http://schemas.microsoft.com/office/powerpoint/2010/main" val="5192799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1.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wmf"/><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package" Target="../embeddings/Microsoft_Excel_Worksheet.xlsx"/><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8.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64484" y="1504841"/>
            <a:ext cx="7513756" cy="950976"/>
          </a:xfrm>
          <a:prstGeom prst="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Arial Narrow" panose="020B0606020202030204" pitchFamily="34" charset="0"/>
              </a:rPr>
              <a:t>GM Gen 11 Rattle Noise Improvement</a:t>
            </a:r>
          </a:p>
        </p:txBody>
      </p:sp>
      <p:sp>
        <p:nvSpPr>
          <p:cNvPr id="5" name="TextBox 4"/>
          <p:cNvSpPr txBox="1"/>
          <p:nvPr/>
        </p:nvSpPr>
        <p:spPr>
          <a:xfrm>
            <a:off x="2148796" y="2790226"/>
            <a:ext cx="6869573" cy="1569660"/>
          </a:xfrm>
          <a:prstGeom prst="rect">
            <a:avLst/>
          </a:prstGeom>
          <a:noFill/>
        </p:spPr>
        <p:txBody>
          <a:bodyPr wrap="none" rtlCol="0">
            <a:spAutoFit/>
          </a:bodyPr>
          <a:lstStyle/>
          <a:p>
            <a:pPr marL="400050" indent="-400050">
              <a:buAutoNum type="romanUcPeriod"/>
            </a:pPr>
            <a:r>
              <a:rPr lang="en-US" sz="1600" b="1">
                <a:latin typeface="Arial Narrow" panose="020B0606020202030204" pitchFamily="34" charset="0"/>
              </a:rPr>
              <a:t>Background of Project Selection, clarification of “Y”</a:t>
            </a:r>
          </a:p>
          <a:p>
            <a:pPr marL="400050" indent="-400050">
              <a:buAutoNum type="romanUcPeriod"/>
            </a:pPr>
            <a:r>
              <a:rPr lang="en-US" sz="1600" b="1">
                <a:latin typeface="Arial Narrow" panose="020B0606020202030204" pitchFamily="34" charset="0"/>
              </a:rPr>
              <a:t>Measurement System Analysis, Process Capability and define Current Level</a:t>
            </a:r>
          </a:p>
          <a:p>
            <a:pPr marL="400050" indent="-400050">
              <a:buAutoNum type="romanUcPeriod"/>
            </a:pPr>
            <a:r>
              <a:rPr lang="en-US" sz="1600" b="1">
                <a:latin typeface="Arial Narrow" panose="020B0606020202030204" pitchFamily="34" charset="0"/>
              </a:rPr>
              <a:t>Selection of factor and Selection of Main Factors</a:t>
            </a:r>
          </a:p>
          <a:p>
            <a:pPr marL="400050" indent="-400050">
              <a:buAutoNum type="romanUcPeriod"/>
            </a:pPr>
            <a:r>
              <a:rPr lang="en-US" sz="1600" b="1">
                <a:latin typeface="Arial Narrow" panose="020B0606020202030204" pitchFamily="34" charset="0"/>
              </a:rPr>
              <a:t>Verification of Optimal Value</a:t>
            </a:r>
          </a:p>
          <a:p>
            <a:pPr marL="400050" indent="-400050">
              <a:buAutoNum type="romanUcPeriod"/>
            </a:pPr>
            <a:r>
              <a:rPr lang="en-US" sz="1600" b="1">
                <a:latin typeface="Arial Narrow" panose="020B0606020202030204" pitchFamily="34" charset="0"/>
              </a:rPr>
              <a:t>Improvement status and increase control in the future</a:t>
            </a:r>
          </a:p>
          <a:p>
            <a:pPr marL="342900" indent="-342900">
              <a:buAutoNum type="arabicPeriod"/>
            </a:pPr>
            <a:endParaRPr lang="en-US" sz="1600" b="1">
              <a:latin typeface="Arial Narrow" panose="020B0606020202030204" pitchFamily="34" charset="0"/>
            </a:endParaRPr>
          </a:p>
        </p:txBody>
      </p:sp>
      <p:sp>
        <p:nvSpPr>
          <p:cNvPr id="6" name="TextBox 5"/>
          <p:cNvSpPr txBox="1"/>
          <p:nvPr/>
        </p:nvSpPr>
        <p:spPr>
          <a:xfrm>
            <a:off x="4484997" y="6015011"/>
            <a:ext cx="1072730" cy="584775"/>
          </a:xfrm>
          <a:prstGeom prst="rect">
            <a:avLst/>
          </a:prstGeom>
          <a:noFill/>
        </p:spPr>
        <p:txBody>
          <a:bodyPr wrap="none" rtlCol="0">
            <a:spAutoFit/>
          </a:bodyPr>
          <a:lstStyle/>
          <a:p>
            <a:pPr algn="ctr"/>
            <a:r>
              <a:rPr lang="en-US" sz="1600" b="1">
                <a:latin typeface="Arial Narrow" panose="020B0606020202030204" pitchFamily="34" charset="0"/>
              </a:rPr>
              <a:t>2025.</a:t>
            </a:r>
            <a:r>
              <a:rPr lang="vi-VN" sz="1600" b="1">
                <a:latin typeface="Arial Narrow" panose="020B0606020202030204" pitchFamily="34" charset="0"/>
              </a:rPr>
              <a:t>11</a:t>
            </a:r>
            <a:r>
              <a:rPr lang="en-US" sz="1600" b="1">
                <a:latin typeface="Arial Narrow" panose="020B0606020202030204" pitchFamily="34" charset="0"/>
              </a:rPr>
              <a:t>.</a:t>
            </a:r>
            <a:r>
              <a:rPr lang="vi-VN" sz="1600" b="1">
                <a:latin typeface="Arial Narrow" panose="020B0606020202030204" pitchFamily="34" charset="0"/>
              </a:rPr>
              <a:t>12</a:t>
            </a:r>
            <a:endParaRPr lang="en-US" sz="1600" b="1">
              <a:latin typeface="Arial Narrow" panose="020B0606020202030204" pitchFamily="34" charset="0"/>
            </a:endParaRPr>
          </a:p>
          <a:p>
            <a:pPr algn="ctr"/>
            <a:r>
              <a:rPr lang="en-US" sz="1600" b="1">
                <a:latin typeface="Arial Narrow" panose="020B0606020202030204" pitchFamily="34" charset="0"/>
              </a:rPr>
              <a:t>VS IVI SQA</a:t>
            </a:r>
          </a:p>
        </p:txBody>
      </p:sp>
      <p:pic>
        <p:nvPicPr>
          <p:cNvPr id="7" name="Picture 6"/>
          <p:cNvPicPr>
            <a:picLocks noChangeAspect="1"/>
          </p:cNvPicPr>
          <p:nvPr/>
        </p:nvPicPr>
        <p:blipFill>
          <a:blip r:embed="rId2"/>
          <a:stretch>
            <a:fillRect/>
          </a:stretch>
        </p:blipFill>
        <p:spPr>
          <a:xfrm>
            <a:off x="8114021" y="180349"/>
            <a:ext cx="1609725" cy="771525"/>
          </a:xfrm>
          <a:prstGeom prst="rect">
            <a:avLst/>
          </a:prstGeom>
        </p:spPr>
      </p:pic>
      <p:pic>
        <p:nvPicPr>
          <p:cNvPr id="8" name="Picture 7"/>
          <p:cNvPicPr>
            <a:picLocks noChangeAspect="1"/>
          </p:cNvPicPr>
          <p:nvPr/>
        </p:nvPicPr>
        <p:blipFill>
          <a:blip r:embed="rId3"/>
          <a:stretch>
            <a:fillRect/>
          </a:stretch>
        </p:blipFill>
        <p:spPr>
          <a:xfrm>
            <a:off x="8557641" y="6005619"/>
            <a:ext cx="1276350" cy="752475"/>
          </a:xfrm>
          <a:prstGeom prst="rect">
            <a:avLst/>
          </a:prstGeom>
        </p:spPr>
      </p:pic>
    </p:spTree>
    <p:extLst>
      <p:ext uri="{BB962C8B-B14F-4D97-AF65-F5344CB8AC3E}">
        <p14:creationId xmlns:p14="http://schemas.microsoft.com/office/powerpoint/2010/main" val="589428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a:spLocks noChangeArrowheads="1"/>
          </p:cNvSpPr>
          <p:nvPr/>
        </p:nvSpPr>
        <p:spPr bwMode="auto">
          <a:xfrm>
            <a:off x="0" y="225793"/>
            <a:ext cx="4240586" cy="400079"/>
          </a:xfrm>
          <a:prstGeom prst="rect">
            <a:avLst/>
          </a:prstGeom>
          <a:noFill/>
          <a:ln w="9525" algn="ctr">
            <a:noFill/>
            <a:miter lim="800000"/>
            <a:headEnd/>
            <a:tailEnd/>
          </a:ln>
        </p:spPr>
        <p:txBody>
          <a:bodyPr wrap="none" lIns="91409" tIns="45705" rIns="91409" bIns="45705" anchor="ctr">
            <a:spAutoFit/>
          </a:bodyPr>
          <a:lstStyle/>
          <a:p>
            <a:pPr algn="ctr">
              <a:buFont typeface="Wingdings" pitchFamily="2" charset="2"/>
              <a:buNone/>
            </a:pPr>
            <a:r>
              <a:rPr lang="en-US" altLang="ko-KR" sz="2000" b="1" u="sng">
                <a:solidFill>
                  <a:prstClr val="black"/>
                </a:solidFill>
                <a:latin typeface="Arial Narrow" panose="020B0606020202030204" pitchFamily="34" charset="0"/>
                <a:ea typeface="LG스마트체 Regular" pitchFamily="50" charset="-127"/>
                <a:cs typeface="Arial" pitchFamily="34" charset="0"/>
              </a:rPr>
              <a:t>Six Sigma Assignment registration Form</a:t>
            </a:r>
            <a:endParaRPr lang="ko-KR" altLang="en-US" sz="2000" b="1" dirty="0">
              <a:solidFill>
                <a:prstClr val="black"/>
              </a:solidFill>
              <a:latin typeface="Arial Narrow" panose="020B0606020202030204" pitchFamily="34" charset="0"/>
              <a:ea typeface="LG스마트체 Regular" pitchFamily="50" charset="-127"/>
              <a:cs typeface="Arial" pitchFamily="34" charset="0"/>
            </a:endParaRPr>
          </a:p>
        </p:txBody>
      </p:sp>
      <p:graphicFrame>
        <p:nvGraphicFramePr>
          <p:cNvPr id="20" name="Group 68"/>
          <p:cNvGraphicFramePr>
            <a:graphicFrameLocks noGrp="1"/>
          </p:cNvGraphicFramePr>
          <p:nvPr>
            <p:extLst>
              <p:ext uri="{D42A27DB-BD31-4B8C-83A1-F6EECF244321}">
                <p14:modId xmlns:p14="http://schemas.microsoft.com/office/powerpoint/2010/main" val="2710197775"/>
              </p:ext>
            </p:extLst>
          </p:nvPr>
        </p:nvGraphicFramePr>
        <p:xfrm>
          <a:off x="7006917" y="73027"/>
          <a:ext cx="2791520" cy="641792"/>
        </p:xfrm>
        <a:graphic>
          <a:graphicData uri="http://schemas.openxmlformats.org/drawingml/2006/table">
            <a:tbl>
              <a:tblPr/>
              <a:tblGrid>
                <a:gridCol w="1045028">
                  <a:extLst>
                    <a:ext uri="{9D8B030D-6E8A-4147-A177-3AD203B41FA5}">
                      <a16:colId xmlns:a16="http://schemas.microsoft.com/office/drawing/2014/main" val="20000"/>
                    </a:ext>
                  </a:extLst>
                </a:gridCol>
                <a:gridCol w="1746492">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100" b="1" i="0" u="none" strike="noStrike" cap="none" normalizeH="0" baseline="0">
                          <a:ln>
                            <a:noFill/>
                          </a:ln>
                          <a:solidFill>
                            <a:schemeClr val="tx1"/>
                          </a:solidFill>
                          <a:effectLst/>
                          <a:latin typeface="Arial Narrow" panose="020B0606020202030204" pitchFamily="34" charset="0"/>
                          <a:ea typeface="LG스마트체 Regular" pitchFamily="50" charset="-127"/>
                        </a:rPr>
                        <a:t>Belong</a:t>
                      </a:r>
                      <a:endParaRPr kumimoji="0" lang="ko-KR" altLang="en-US" sz="1100" b="1" i="0" u="none" strike="noStrike" cap="none" normalizeH="0" baseline="0" dirty="0">
                        <a:ln>
                          <a:noFill/>
                        </a:ln>
                        <a:solidFill>
                          <a:schemeClr val="tx1"/>
                        </a:solidFill>
                        <a:effectLst/>
                        <a:latin typeface="Arial Narrow" panose="020B0606020202030204" pitchFamily="34" charset="0"/>
                        <a:ea typeface="LG스마트체 Regular" pitchFamily="50" charset="-127"/>
                      </a:endParaRPr>
                    </a:p>
                  </a:txBody>
                  <a:tcPr marL="97501" marR="975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Arial Narrow" panose="020B0606020202030204" pitchFamily="34" charset="0"/>
                          <a:ea typeface="LG스마트체 Regular" pitchFamily="50" charset="-127"/>
                        </a:rPr>
                        <a:t>VS IVI SQA</a:t>
                      </a:r>
                      <a:endParaRPr kumimoji="0" lang="ko-KR" altLang="en-US" sz="1100" b="0" i="0" u="none" strike="noStrike" cap="none" normalizeH="0" baseline="0" dirty="0">
                        <a:ln>
                          <a:noFill/>
                        </a:ln>
                        <a:solidFill>
                          <a:schemeClr val="tx1"/>
                        </a:solidFill>
                        <a:effectLst/>
                        <a:latin typeface="Arial Narrow" panose="020B0606020202030204" pitchFamily="34" charset="0"/>
                        <a:ea typeface="LG스마트체 Regular" pitchFamily="50" charset="-127"/>
                      </a:endParaRPr>
                    </a:p>
                  </a:txBody>
                  <a:tcPr marL="97501" marR="975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457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1" i="0" u="none" strike="noStrike" cap="none" normalizeH="0" baseline="0">
                          <a:ln>
                            <a:noFill/>
                          </a:ln>
                          <a:solidFill>
                            <a:schemeClr val="tx1"/>
                          </a:solidFill>
                          <a:effectLst/>
                          <a:latin typeface="Arial Narrow" panose="020B0606020202030204" pitchFamily="34" charset="0"/>
                          <a:ea typeface="LG스마트체 Regular" pitchFamily="50" charset="-127"/>
                        </a:rPr>
                        <a:t>Learder</a:t>
                      </a:r>
                      <a:endParaRPr kumimoji="0" lang="ko-KR" altLang="en-US" sz="1100" b="1" i="0" u="none" strike="noStrike" cap="none" normalizeH="0" baseline="0" dirty="0">
                        <a:ln>
                          <a:noFill/>
                        </a:ln>
                        <a:solidFill>
                          <a:schemeClr val="tx1"/>
                        </a:solidFill>
                        <a:effectLst/>
                        <a:latin typeface="Arial Narrow" panose="020B0606020202030204" pitchFamily="34" charset="0"/>
                        <a:ea typeface="LG스마트체 Regular" pitchFamily="50" charset="-127"/>
                      </a:endParaRPr>
                    </a:p>
                  </a:txBody>
                  <a:tcPr marL="97501" marR="975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vi-VN" altLang="ko-KR" sz="1100" b="0" i="0" u="none" strike="noStrike" cap="none" normalizeH="0" baseline="0">
                          <a:ln>
                            <a:noFill/>
                          </a:ln>
                          <a:solidFill>
                            <a:schemeClr val="tx1"/>
                          </a:solidFill>
                          <a:effectLst/>
                          <a:latin typeface="Arial Narrow" panose="020B0606020202030204" pitchFamily="34" charset="0"/>
                          <a:ea typeface="LG스마트체 Regular" pitchFamily="50" charset="-127"/>
                        </a:rPr>
                        <a:t>Vu Van Hai </a:t>
                      </a:r>
                      <a:r>
                        <a:rPr kumimoji="0" lang="en-US" altLang="ko-KR" sz="1100" b="0" i="0" u="none" strike="noStrike" cap="none" normalizeH="0" baseline="0">
                          <a:ln>
                            <a:noFill/>
                          </a:ln>
                          <a:solidFill>
                            <a:schemeClr val="tx1"/>
                          </a:solidFill>
                          <a:effectLst/>
                          <a:latin typeface="Arial Narrow" panose="020B0606020202030204" pitchFamily="34" charset="0"/>
                          <a:ea typeface="LG스마트체 Regular" pitchFamily="50" charset="-127"/>
                        </a:rPr>
                        <a:t>Team Learder</a:t>
                      </a:r>
                      <a:endParaRPr kumimoji="0" lang="ko-KR" altLang="en-US" sz="1100" b="0" i="0" u="none" strike="noStrike" cap="none" normalizeH="0" baseline="0" dirty="0">
                        <a:ln>
                          <a:noFill/>
                        </a:ln>
                        <a:solidFill>
                          <a:schemeClr val="tx1"/>
                        </a:solidFill>
                        <a:effectLst/>
                        <a:latin typeface="Arial Narrow" panose="020B0606020202030204" pitchFamily="34" charset="0"/>
                        <a:ea typeface="LG스마트체 Regular" pitchFamily="50" charset="-127"/>
                      </a:endParaRPr>
                    </a:p>
                  </a:txBody>
                  <a:tcPr marL="97501" marR="975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100" b="1" i="0" u="none" strike="noStrike" cap="none" normalizeH="0" baseline="0">
                          <a:ln>
                            <a:noFill/>
                          </a:ln>
                          <a:solidFill>
                            <a:schemeClr val="tx1"/>
                          </a:solidFill>
                          <a:effectLst/>
                          <a:latin typeface="Arial Narrow" panose="020B0606020202030204" pitchFamily="34" charset="0"/>
                          <a:ea typeface="LG스마트체 Regular" pitchFamily="50" charset="-127"/>
                        </a:rPr>
                        <a:t>Reviewer</a:t>
                      </a:r>
                      <a:endParaRPr kumimoji="0" lang="en-US" altLang="ko-KR" sz="1100" b="1" i="0" u="none" strike="noStrike" cap="none" normalizeH="0" baseline="0" dirty="0">
                        <a:ln>
                          <a:noFill/>
                        </a:ln>
                        <a:solidFill>
                          <a:schemeClr val="tx1"/>
                        </a:solidFill>
                        <a:effectLst/>
                        <a:latin typeface="Arial Narrow" panose="020B0606020202030204" pitchFamily="34" charset="0"/>
                        <a:ea typeface="LG스마트체 Regular" pitchFamily="50" charset="-127"/>
                      </a:endParaRPr>
                    </a:p>
                  </a:txBody>
                  <a:tcPr marL="97501" marR="975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vi-VN" altLang="ko-KR" sz="1100" b="0" i="0" u="none" strike="noStrike" cap="none" normalizeH="0" baseline="0">
                          <a:ln>
                            <a:noFill/>
                          </a:ln>
                          <a:solidFill>
                            <a:schemeClr val="tx1"/>
                          </a:solidFill>
                          <a:effectLst/>
                          <a:latin typeface="Arial Narrow" panose="020B0606020202030204" pitchFamily="34" charset="0"/>
                          <a:ea typeface="LG스마트체 Regular" pitchFamily="50" charset="-127"/>
                        </a:rPr>
                        <a:t>Mr. Ken Park</a:t>
                      </a:r>
                      <a:endParaRPr kumimoji="0" lang="ko-KR" altLang="en-US" sz="1100" b="0" i="0" u="none" strike="noStrike" cap="none" normalizeH="0" baseline="0" dirty="0">
                        <a:ln>
                          <a:noFill/>
                        </a:ln>
                        <a:solidFill>
                          <a:schemeClr val="tx1"/>
                        </a:solidFill>
                        <a:effectLst/>
                        <a:latin typeface="Arial Narrow" panose="020B0606020202030204" pitchFamily="34" charset="0"/>
                        <a:ea typeface="LG스마트체 Regular" pitchFamily="50" charset="-127"/>
                      </a:endParaRPr>
                    </a:p>
                  </a:txBody>
                  <a:tcPr marL="97501" marR="975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21" name="Group 133"/>
          <p:cNvGraphicFramePr>
            <a:graphicFrameLocks noGrp="1"/>
          </p:cNvGraphicFramePr>
          <p:nvPr>
            <p:extLst>
              <p:ext uri="{D42A27DB-BD31-4B8C-83A1-F6EECF244321}">
                <p14:modId xmlns:p14="http://schemas.microsoft.com/office/powerpoint/2010/main" val="3106484287"/>
              </p:ext>
            </p:extLst>
          </p:nvPr>
        </p:nvGraphicFramePr>
        <p:xfrm>
          <a:off x="68115" y="807568"/>
          <a:ext cx="9794465" cy="5850325"/>
        </p:xfrm>
        <a:graphic>
          <a:graphicData uri="http://schemas.openxmlformats.org/drawingml/2006/table">
            <a:tbl>
              <a:tblPr/>
              <a:tblGrid>
                <a:gridCol w="704856">
                  <a:extLst>
                    <a:ext uri="{9D8B030D-6E8A-4147-A177-3AD203B41FA5}">
                      <a16:colId xmlns:a16="http://schemas.microsoft.com/office/drawing/2014/main" val="20000"/>
                    </a:ext>
                  </a:extLst>
                </a:gridCol>
                <a:gridCol w="2019789">
                  <a:extLst>
                    <a:ext uri="{9D8B030D-6E8A-4147-A177-3AD203B41FA5}">
                      <a16:colId xmlns:a16="http://schemas.microsoft.com/office/drawing/2014/main" val="20001"/>
                    </a:ext>
                  </a:extLst>
                </a:gridCol>
                <a:gridCol w="54099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24439">
                  <a:extLst>
                    <a:ext uri="{9D8B030D-6E8A-4147-A177-3AD203B41FA5}">
                      <a16:colId xmlns:a16="http://schemas.microsoft.com/office/drawing/2014/main" val="20004"/>
                    </a:ext>
                  </a:extLst>
                </a:gridCol>
                <a:gridCol w="844519">
                  <a:extLst>
                    <a:ext uri="{9D8B030D-6E8A-4147-A177-3AD203B41FA5}">
                      <a16:colId xmlns:a16="http://schemas.microsoft.com/office/drawing/2014/main" val="20009"/>
                    </a:ext>
                  </a:extLst>
                </a:gridCol>
                <a:gridCol w="764592">
                  <a:extLst>
                    <a:ext uri="{9D8B030D-6E8A-4147-A177-3AD203B41FA5}">
                      <a16:colId xmlns:a16="http://schemas.microsoft.com/office/drawing/2014/main" val="20005"/>
                    </a:ext>
                  </a:extLst>
                </a:gridCol>
                <a:gridCol w="891593">
                  <a:extLst>
                    <a:ext uri="{9D8B030D-6E8A-4147-A177-3AD203B41FA5}">
                      <a16:colId xmlns:a16="http://schemas.microsoft.com/office/drawing/2014/main" val="20006"/>
                    </a:ext>
                  </a:extLst>
                </a:gridCol>
                <a:gridCol w="1048196">
                  <a:extLst>
                    <a:ext uri="{9D8B030D-6E8A-4147-A177-3AD203B41FA5}">
                      <a16:colId xmlns:a16="http://schemas.microsoft.com/office/drawing/2014/main" val="20007"/>
                    </a:ext>
                  </a:extLst>
                </a:gridCol>
                <a:gridCol w="1760116">
                  <a:extLst>
                    <a:ext uri="{9D8B030D-6E8A-4147-A177-3AD203B41FA5}">
                      <a16:colId xmlns:a16="http://schemas.microsoft.com/office/drawing/2014/main" val="20008"/>
                    </a:ext>
                  </a:extLst>
                </a:gridCol>
              </a:tblGrid>
              <a:tr h="360040">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50" b="1" i="0" u="none" strike="noStrike" cap="none" normalizeH="0" baseline="0">
                          <a:ln>
                            <a:noFill/>
                          </a:ln>
                          <a:solidFill>
                            <a:schemeClr val="tx1"/>
                          </a:solidFill>
                          <a:effectLst/>
                          <a:latin typeface="Arial Narrow" panose="020B0606020202030204" pitchFamily="34" charset="0"/>
                          <a:ea typeface="맑은 고딕" panose="020B0503020000020004" pitchFamily="50" charset="-127"/>
                          <a:cs typeface="Arial" pitchFamily="34" charset="0"/>
                        </a:rPr>
                        <a:t>Theme</a:t>
                      </a:r>
                      <a:endParaRPr kumimoji="0" lang="ko-KR" altLang="en-US" sz="1050" b="1" i="0" u="none" strike="noStrike" cap="none" normalizeH="0" baseline="0" dirty="0">
                        <a:ln>
                          <a:noFill/>
                        </a:ln>
                        <a:solidFill>
                          <a:schemeClr val="tx1"/>
                        </a:solidFill>
                        <a:effectLst/>
                        <a:latin typeface="Arial Narrow" panose="020B0606020202030204" pitchFamily="34" charset="0"/>
                        <a:ea typeface="맑은 고딕" panose="020B0503020000020004"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algn="ctr"/>
                      <a:r>
                        <a:rPr lang="en-US" altLang="ko-KR" sz="1050" b="0">
                          <a:solidFill>
                            <a:srgbClr val="000000"/>
                          </a:solidFill>
                          <a:latin typeface="Arial Narrow" panose="020B0606020202030204" pitchFamily="34" charset="0"/>
                          <a:ea typeface="LG스마트체 Regular" panose="020B0600000101010101" pitchFamily="50" charset="-127"/>
                          <a:cs typeface="Arial" pitchFamily="34" charset="0"/>
                        </a:rPr>
                        <a:t>GM Gen </a:t>
                      </a:r>
                      <a:r>
                        <a:rPr lang="vi-VN" altLang="ko-KR" sz="1050" b="0">
                          <a:solidFill>
                            <a:srgbClr val="000000"/>
                          </a:solidFill>
                          <a:latin typeface="Arial Narrow" panose="020B0606020202030204" pitchFamily="34" charset="0"/>
                          <a:ea typeface="LG스마트체 Regular" panose="020B0600000101010101" pitchFamily="50" charset="-127"/>
                          <a:cs typeface="Arial" pitchFamily="34" charset="0"/>
                        </a:rPr>
                        <a:t>11 _</a:t>
                      </a:r>
                      <a:r>
                        <a:rPr lang="en-US" altLang="ko-KR" sz="1050" b="0">
                          <a:solidFill>
                            <a:srgbClr val="000000"/>
                          </a:solidFill>
                          <a:latin typeface="Arial Narrow" panose="020B0606020202030204" pitchFamily="34" charset="0"/>
                          <a:ea typeface="LG스마트체 Regular" panose="020B0600000101010101" pitchFamily="50" charset="-127"/>
                          <a:cs typeface="Arial" pitchFamily="34" charset="0"/>
                        </a:rPr>
                        <a:t> Rattle Noise Improvement</a:t>
                      </a:r>
                      <a:endParaRPr lang="en-US" altLang="ko-KR" sz="1050" b="0" dirty="0">
                        <a:solidFill>
                          <a:srgbClr val="000000"/>
                        </a:solidFill>
                        <a:latin typeface="Arial Narrow" panose="020B0606020202030204" pitchFamily="34" charset="0"/>
                        <a:ea typeface="LG스마트체 Regular" panose="020B0600000101010101"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endParaRPr 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5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Period</a:t>
                      </a:r>
                      <a:endParaRPr kumimoji="0" lang="ko-KR" altLang="en-US" sz="105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50" b="0"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25.01.07 ~ 25.30.09</a:t>
                      </a:r>
                      <a:endParaRPr kumimoji="0" lang="en-US" altLang="ko-KR" sz="1050" b="0"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97501" marR="975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5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Task team name</a:t>
                      </a:r>
                      <a:endParaRPr kumimoji="0" lang="ko-KR" altLang="en-US" sz="105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300" b="0" i="0" u="none" strike="noStrike" cap="none" normalizeH="0" baseline="0">
                          <a:ln>
                            <a:noFill/>
                          </a:ln>
                          <a:solidFill>
                            <a:srgbClr val="000000"/>
                          </a:solidFill>
                          <a:effectLst/>
                          <a:latin typeface="Arial Narrow" panose="020B0606020202030204" pitchFamily="34" charset="0"/>
                          <a:ea typeface="LG스마트체 Regular" pitchFamily="50" charset="-127"/>
                          <a:cs typeface="Arial" pitchFamily="34" charset="0"/>
                        </a:rPr>
                        <a:t>VS IVI SQA</a:t>
                      </a:r>
                      <a:endParaRPr kumimoji="0" lang="en-US" altLang="ko-KR" sz="1300" b="0" i="0" u="none" strike="noStrike" cap="none" normalizeH="0" baseline="0" dirty="0">
                        <a:ln>
                          <a:noFill/>
                        </a:ln>
                        <a:solidFill>
                          <a:srgbClr val="000000"/>
                        </a:solidFill>
                        <a:effectLst/>
                        <a:latin typeface="Arial Narrow" panose="020B0606020202030204" pitchFamily="34" charset="0"/>
                        <a:ea typeface="LG스마트체 Regular"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6966">
                <a:tc rowSpan="2"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charset="0"/>
                        </a:rPr>
                        <a:t>Six Sigma Challenges</a:t>
                      </a:r>
                      <a:endParaRPr kumimoji="0" lang="ko-KR" altLang="en-US" sz="14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latinLnBrk="1"/>
                      <a:endParaRPr lang="ko-KR" altLang="en-US"/>
                    </a:p>
                  </a:txBody>
                  <a:tcPr/>
                </a:tc>
                <a:tc gridSpan="6">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5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Improvement goal (Stretch Goal)</a:t>
                      </a:r>
                      <a:endParaRPr kumimoji="0" lang="en-US" altLang="ko-KR" sz="105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endParaRPr lang="en-US"/>
                    </a:p>
                  </a:txBody>
                  <a:tcPr/>
                </a:tc>
                <a:tc hMerge="1">
                  <a:txBody>
                    <a:bodyPr/>
                    <a:lstStyle/>
                    <a:p>
                      <a:endParaRPr lang="en-US"/>
                    </a:p>
                  </a:txBody>
                  <a:tcPr/>
                </a:tc>
                <a:tc hMerge="1">
                  <a:txBody>
                    <a:bodyPr/>
                    <a:lstStyle/>
                    <a:p>
                      <a:pPr latinLnBrk="1"/>
                      <a:endParaRPr lang="ko-KR" altLang="en-US"/>
                    </a:p>
                  </a:txBody>
                  <a:tcPr/>
                </a:tc>
                <a:tc hMerge="1">
                  <a:txBody>
                    <a:bodyPr/>
                    <a:lstStyle/>
                    <a:p>
                      <a:pPr latinLnBrk="1"/>
                      <a:endParaRPr lang="ko-KR" altLang="en-US"/>
                    </a:p>
                  </a:txBody>
                  <a:tcPr/>
                </a:tc>
                <a:tc rowSpan="2"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30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Idea of breaking the time</a:t>
                      </a:r>
                      <a:endParaRPr kumimoji="0" lang="en-US" altLang="ko-KR" sz="13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latinLnBrk="1"/>
                      <a:endParaRPr lang="ko-KR" altLang="en-US"/>
                    </a:p>
                  </a:txBody>
                  <a:tcPr/>
                </a:tc>
                <a:extLst>
                  <a:ext uri="{0D108BD9-81ED-4DB2-BD59-A6C34878D82A}">
                    <a16:rowId xmlns:a16="http://schemas.microsoft.com/office/drawing/2014/main" val="10001"/>
                  </a:ext>
                </a:extLst>
              </a:tr>
              <a:tr h="276965">
                <a:tc gridSpan="2" vMerge="1">
                  <a:txBody>
                    <a:bodyPr/>
                    <a:lstStyle/>
                    <a:p>
                      <a:pPr latinLnBrk="1"/>
                      <a:endParaRPr lang="ko-KR" altLang="en-US"/>
                    </a:p>
                  </a:txBody>
                  <a:tcPr/>
                </a:tc>
                <a:tc hMerge="1" v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1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rPr>
                        <a:t>Improvement Index</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10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Current</a:t>
                      </a:r>
                      <a:endParaRPr kumimoji="0" lang="ko-KR" altLang="en-US" sz="11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marL="0" marR="0" lvl="0" indent="0" algn="ctr" defTabSz="912813" rtl="0" eaLnBrk="1" fontAlgn="base" latinLnBrk="1" hangingPunct="1">
                        <a:lnSpc>
                          <a:spcPct val="100000"/>
                        </a:lnSpc>
                        <a:spcBef>
                          <a:spcPct val="0"/>
                        </a:spcBef>
                        <a:spcAft>
                          <a:spcPct val="0"/>
                        </a:spcAft>
                        <a:buClrTx/>
                        <a:buSzTx/>
                        <a:buFontTx/>
                        <a:buNone/>
                        <a:tabLst/>
                      </a:pPr>
                      <a:endParaRPr kumimoji="0" lang="ko-KR" altLang="en-US" sz="11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1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rPr>
                        <a:t>World Best</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10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Goal</a:t>
                      </a:r>
                      <a:endParaRPr kumimoji="0" lang="ko-KR" altLang="en-US" sz="11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10002"/>
                  </a:ext>
                </a:extLst>
              </a:tr>
              <a:tr h="297170">
                <a:tc rowSpan="2" gridSpan="2">
                  <a:txBody>
                    <a:bodyPr/>
                    <a:lstStyle/>
                    <a:p>
                      <a:pPr algn="ctr"/>
                      <a:r>
                        <a:rPr lang="en-US" altLang="ko-KR" sz="1100" b="1">
                          <a:solidFill>
                            <a:srgbClr val="000000"/>
                          </a:solidFill>
                          <a:latin typeface="Arial Narrow" panose="020B0606020202030204" pitchFamily="34" charset="0"/>
                          <a:ea typeface="LG스마트체 Regular" panose="020B0600000101010101" pitchFamily="50" charset="-127"/>
                          <a:cs typeface="Arial" pitchFamily="34" charset="0"/>
                        </a:rPr>
                        <a:t>GM</a:t>
                      </a:r>
                      <a:r>
                        <a:rPr lang="en-US" altLang="ko-KR" sz="1100" b="1" baseline="0">
                          <a:solidFill>
                            <a:srgbClr val="000000"/>
                          </a:solidFill>
                          <a:latin typeface="Arial Narrow" panose="020B0606020202030204" pitchFamily="34" charset="0"/>
                          <a:ea typeface="LG스마트체 Regular" panose="020B0600000101010101" pitchFamily="50" charset="-127"/>
                          <a:cs typeface="Arial" pitchFamily="34" charset="0"/>
                        </a:rPr>
                        <a:t> Gen 11 Rattle Noise Improvement</a:t>
                      </a:r>
                      <a:endParaRPr lang="en-US" altLang="ko-KR" sz="1100" b="1" dirty="0">
                        <a:solidFill>
                          <a:srgbClr val="000000"/>
                        </a:solidFill>
                        <a:latin typeface="Arial Narrow" panose="020B0606020202030204" pitchFamily="34" charset="0"/>
                        <a:ea typeface="LG스마트체 Regular" panose="020B0600000101010101"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latinLnBrk="1"/>
                      <a:endParaRPr lang="ko-KR" altLang="en-US"/>
                    </a:p>
                  </a:txBody>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kumimoji="0" lang="vi-VN" altLang="ko-KR" sz="1000" b="0" i="0" u="none" strike="noStrike" kern="1200"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KPI</a:t>
                      </a:r>
                      <a:endPar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kumimoji="0" lang="vi-VN" altLang="ko-KR" sz="1000" b="0" i="0" u="none" strike="noStrike" kern="1200"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Total </a:t>
                      </a:r>
                      <a:r>
                        <a:rPr kumimoji="0" lang="en-US" altLang="ko-KR" sz="1000" b="0" i="0" u="none" strike="noStrike" kern="1200"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Defect Rate</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itchFamily="50" charset="-127"/>
                          <a:cs typeface="Arial" pitchFamily="34" charset="0"/>
                        </a:rPr>
                        <a:t>457ppm</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endPar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latinLnBrk="1"/>
                      <a:r>
                        <a:rPr lang="en-US" altLang="ko-KR" sz="1000">
                          <a:latin typeface="Arial Narrow" panose="020B0606020202030204" pitchFamily="34" charset="0"/>
                          <a:ea typeface="LG스마트체 Regular" panose="020B0600000101010101" pitchFamily="50" charset="-127"/>
                        </a:rPr>
                        <a:t>-</a:t>
                      </a:r>
                      <a:endParaRPr lang="ko-KR" altLang="en-US" sz="1000" dirty="0">
                        <a:latin typeface="Arial Narrow" panose="020B0606020202030204" pitchFamily="34" charset="0"/>
                        <a:ea typeface="LG스마트체 Regular" panose="020B0600000101010101" pitchFamily="50" charset="-127"/>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r>
                        <a:rPr kumimoji="0" lang="en-US" altLang="ko-KR" sz="1000" b="0"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0 ppm</a:t>
                      </a:r>
                    </a:p>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r>
                        <a:rPr kumimoji="0" lang="en-US" altLang="ko-KR" sz="1000" b="0"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(100%↓)</a:t>
                      </a:r>
                      <a:endPar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0" marR="0" lvl="0" indent="0" algn="l" defTabSz="912813" rtl="0" eaLnBrk="1" fontAlgn="base" latinLnBrk="1" hangingPunct="1">
                        <a:lnSpc>
                          <a:spcPct val="100000"/>
                        </a:lnSpc>
                        <a:spcBef>
                          <a:spcPct val="0"/>
                        </a:spcBef>
                        <a:spcAft>
                          <a:spcPct val="0"/>
                        </a:spcAft>
                        <a:buClrTx/>
                        <a:buSzTx/>
                        <a:buFontTx/>
                        <a:buChar char="•"/>
                        <a:tabLst/>
                        <a:defRPr/>
                      </a:pPr>
                      <a:r>
                        <a:rPr kumimoji="0" lang="en-US" altLang="ko-KR" sz="10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rPr>
                        <a:t>Analysis Gage R&amp;R study</a:t>
                      </a:r>
                    </a:p>
                    <a:p>
                      <a:pPr marL="0" marR="0" lvl="0" indent="0" algn="l" defTabSz="912813" rtl="0" eaLnBrk="1" fontAlgn="base" latinLnBrk="1" hangingPunct="1">
                        <a:lnSpc>
                          <a:spcPct val="100000"/>
                        </a:lnSpc>
                        <a:spcBef>
                          <a:spcPct val="0"/>
                        </a:spcBef>
                        <a:spcAft>
                          <a:spcPct val="0"/>
                        </a:spcAft>
                        <a:buClrTx/>
                        <a:buSzTx/>
                        <a:buFontTx/>
                        <a:buChar char="•"/>
                        <a:tabLst/>
                        <a:defRPr/>
                      </a:pPr>
                      <a:r>
                        <a:rPr kumimoji="0" lang="en-US" altLang="ko-KR" sz="10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rPr>
                        <a:t>Define little “Y”</a:t>
                      </a:r>
                    </a:p>
                    <a:p>
                      <a:pPr marL="0" marR="0" lvl="0" indent="0" algn="l" defTabSz="912813" rtl="0" eaLnBrk="1" fontAlgn="base" latinLnBrk="1" hangingPunct="1">
                        <a:lnSpc>
                          <a:spcPct val="100000"/>
                        </a:lnSpc>
                        <a:spcBef>
                          <a:spcPct val="0"/>
                        </a:spcBef>
                        <a:spcAft>
                          <a:spcPct val="0"/>
                        </a:spcAft>
                        <a:buClrTx/>
                        <a:buSzTx/>
                        <a:buFontTx/>
                        <a:buChar char="•"/>
                        <a:tabLst/>
                        <a:defRPr/>
                      </a:pPr>
                      <a:r>
                        <a:rPr kumimoji="0" lang="en-US" altLang="ko-KR" sz="10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rPr>
                        <a:t>Measurement data and process capability</a:t>
                      </a:r>
                    </a:p>
                    <a:p>
                      <a:pPr marL="0" marR="0" lvl="0" indent="0" algn="l" defTabSz="912813" rtl="0" eaLnBrk="1" fontAlgn="base" latinLnBrk="1" hangingPunct="1">
                        <a:lnSpc>
                          <a:spcPct val="100000"/>
                        </a:lnSpc>
                        <a:spcBef>
                          <a:spcPct val="0"/>
                        </a:spcBef>
                        <a:spcAft>
                          <a:spcPct val="0"/>
                        </a:spcAft>
                        <a:buClrTx/>
                        <a:buSzTx/>
                        <a:buFontTx/>
                        <a:buChar char="•"/>
                        <a:tabLst/>
                        <a:defRPr/>
                      </a:pPr>
                      <a:r>
                        <a:rPr kumimoji="0" lang="en-US" altLang="ko-KR" sz="10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rPr>
                        <a:t>Optimize specification</a:t>
                      </a:r>
                      <a:endPar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mn-cs"/>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latinLnBrk="1"/>
                      <a:endParaRPr lang="ko-KR" altLang="en-US"/>
                    </a:p>
                  </a:txBody>
                  <a:tcPr/>
                </a:tc>
                <a:extLst>
                  <a:ext uri="{0D108BD9-81ED-4DB2-BD59-A6C34878D82A}">
                    <a16:rowId xmlns:a16="http://schemas.microsoft.com/office/drawing/2014/main" val="10003"/>
                  </a:ext>
                </a:extLst>
              </a:tr>
              <a:tr h="297170">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lang="vi-VN" altLang="ko-KR" sz="1000" b="0">
                          <a:solidFill>
                            <a:schemeClr val="tx1"/>
                          </a:solidFill>
                          <a:latin typeface="Arial Narrow" panose="020B0606020202030204" pitchFamily="34" charset="0"/>
                          <a:ea typeface="LG스마트체 Regular" panose="020B0600000101010101" pitchFamily="50" charset="-127"/>
                        </a:rPr>
                        <a:t>Project Y</a:t>
                      </a:r>
                      <a:endParaRPr lang="en-US" altLang="ko-KR" sz="1000" b="0" dirty="0">
                        <a:solidFill>
                          <a:schemeClr val="tx1"/>
                        </a:solidFill>
                        <a:latin typeface="Arial Narrow" panose="020B0606020202030204" pitchFamily="34" charset="0"/>
                        <a:ea typeface="LG스마트체 Regular" panose="020B0600000101010101" pitchFamily="50" charset="-127"/>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lang="vi-VN" altLang="ko-KR" sz="1000">
                          <a:solidFill>
                            <a:schemeClr val="tx1"/>
                          </a:solidFill>
                          <a:latin typeface="Arial Narrow" panose="020B0606020202030204" pitchFamily="34" charset="0"/>
                          <a:ea typeface="LG스마트체 Regular" panose="020B0600000101010101" pitchFamily="50" charset="-127"/>
                        </a:rPr>
                        <a:t>Embo height</a:t>
                      </a:r>
                    </a:p>
                    <a:p>
                      <a:pPr marL="0" marR="0" lvl="0" indent="0" algn="ctr" defTabSz="912813" rtl="0" eaLnBrk="1" fontAlgn="base" latinLnBrk="1" hangingPunct="1">
                        <a:lnSpc>
                          <a:spcPct val="110000"/>
                        </a:lnSpc>
                        <a:spcBef>
                          <a:spcPct val="0"/>
                        </a:spcBef>
                        <a:spcAft>
                          <a:spcPct val="0"/>
                        </a:spcAft>
                        <a:buClrTx/>
                        <a:buSzTx/>
                        <a:buFontTx/>
                        <a:buNone/>
                        <a:tabLst/>
                        <a:defRPr/>
                      </a:pPr>
                      <a:r>
                        <a:rPr lang="vi-VN" altLang="ko-KR" sz="1000">
                          <a:solidFill>
                            <a:schemeClr val="tx1"/>
                          </a:solidFill>
                          <a:latin typeface="Arial Narrow" panose="020B0606020202030204" pitchFamily="34" charset="0"/>
                          <a:ea typeface="LG스마트체 Regular" panose="020B0600000101010101" pitchFamily="50" charset="-127"/>
                        </a:rPr>
                        <a:t> (Case Bottom)</a:t>
                      </a:r>
                      <a:endParaRPr lang="en-US" altLang="ko-KR" sz="1000" dirty="0">
                        <a:solidFill>
                          <a:schemeClr val="tx1"/>
                        </a:solidFill>
                        <a:latin typeface="Arial Narrow" panose="020B0606020202030204" pitchFamily="34" charset="0"/>
                        <a:ea typeface="LG스마트체 Regular" panose="020B0600000101010101" pitchFamily="50" charset="-127"/>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r>
                        <a:rPr kumimoji="0" lang="vi-VN" altLang="ko-KR" sz="1000" b="0" i="0" u="none" strike="noStrike" kern="1200" cap="none" spc="0" normalizeH="0" baseline="0" noProof="0">
                          <a:ln>
                            <a:noFill/>
                          </a:ln>
                          <a:solidFill>
                            <a:schemeClr val="tx1"/>
                          </a:solidFill>
                          <a:effectLst/>
                          <a:uLnTx/>
                          <a:uFillTx/>
                          <a:latin typeface="Arial Narrow" panose="020B0606020202030204" pitchFamily="34" charset="0"/>
                          <a:ea typeface="LG스마트체 Regular" pitchFamily="50" charset="-127"/>
                          <a:cs typeface="Arial" pitchFamily="34" charset="0"/>
                        </a:rPr>
                        <a:t>Out min</a:t>
                      </a:r>
                    </a:p>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r>
                        <a:rPr kumimoji="0" lang="vi-VN" altLang="ko-KR" sz="1000" b="1" i="1" u="none" strike="noStrike" kern="1200" cap="none" spc="0" normalizeH="0" baseline="0" noProof="0">
                          <a:ln>
                            <a:noFill/>
                          </a:ln>
                          <a:solidFill>
                            <a:srgbClr val="009A46"/>
                          </a:solidFill>
                          <a:effectLst/>
                          <a:uLnTx/>
                          <a:uFillTx/>
                          <a:latin typeface="Arial Narrow" panose="020B0606020202030204" pitchFamily="34" charset="0"/>
                          <a:ea typeface="LG스마트체 Regular" pitchFamily="50" charset="-127"/>
                          <a:cs typeface="Arial" pitchFamily="34" charset="0"/>
                        </a:rPr>
                        <a:t>*Z bench = 0.21</a:t>
                      </a:r>
                      <a:endParaRPr kumimoji="0" lang="en-US" altLang="ko-KR" sz="1000" b="1" i="1" u="none" strike="noStrike" kern="1200" cap="none" spc="0" normalizeH="0" baseline="0" noProof="0" dirty="0">
                        <a:ln>
                          <a:noFill/>
                        </a:ln>
                        <a:solidFill>
                          <a:srgbClr val="009A46"/>
                        </a:solidFill>
                        <a:effectLst/>
                        <a:uLnTx/>
                        <a:uFillTx/>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endPar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latinLnBrk="1"/>
                      <a:r>
                        <a:rPr lang="en-US" altLang="ko-KR" sz="1000" dirty="0">
                          <a:latin typeface="Arial Narrow" panose="020B0606020202030204" pitchFamily="34" charset="0"/>
                          <a:ea typeface="LG스마트체 Regular" panose="020B0600000101010101" pitchFamily="50" charset="-127"/>
                        </a:rPr>
                        <a:t>-</a:t>
                      </a:r>
                      <a:endParaRPr lang="ko-KR" altLang="en-US" sz="1000" dirty="0">
                        <a:latin typeface="Arial Narrow" panose="020B0606020202030204" pitchFamily="34" charset="0"/>
                        <a:ea typeface="LG스마트체 Regular" panose="020B0600000101010101" pitchFamily="50" charset="-127"/>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r>
                        <a:rPr kumimoji="0" lang="vi-VN" altLang="ko-KR" sz="1000" b="0"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7.4 mm</a:t>
                      </a:r>
                    </a:p>
                    <a:p>
                      <a:pPr marL="0" marR="0" lvl="0" indent="0" algn="ctr" defTabSz="912813" rtl="0" eaLnBrk="1" fontAlgn="base" latinLnBrk="1" hangingPunct="1">
                        <a:lnSpc>
                          <a:spcPct val="110000"/>
                        </a:lnSpc>
                        <a:spcBef>
                          <a:spcPct val="0"/>
                        </a:spcBef>
                        <a:spcAft>
                          <a:spcPct val="0"/>
                        </a:spcAft>
                        <a:buClrTx/>
                        <a:buSzTx/>
                        <a:buFont typeface="Arial" pitchFamily="34" charset="0"/>
                        <a:buNone/>
                        <a:tabLst/>
                        <a:defRPr/>
                      </a:pPr>
                      <a:r>
                        <a:rPr kumimoji="0" lang="vi-VN" altLang="ko-KR" sz="1000" b="1" i="1" u="none" strike="noStrike" kern="1200" cap="none" spc="0" normalizeH="0" baseline="0" noProof="0">
                          <a:ln>
                            <a:noFill/>
                          </a:ln>
                          <a:solidFill>
                            <a:srgbClr val="009A46"/>
                          </a:solidFill>
                          <a:effectLst/>
                          <a:uLnTx/>
                          <a:uFillTx/>
                          <a:latin typeface="Arial Narrow" panose="020B0606020202030204" pitchFamily="34" charset="0"/>
                          <a:ea typeface="LG스마트체 Regular" pitchFamily="50" charset="-127"/>
                          <a:cs typeface="Arial" pitchFamily="34" charset="0"/>
                        </a:rPr>
                        <a:t>*Z bench = 4.5</a:t>
                      </a:r>
                      <a:endParaRPr kumimoji="0" lang="en-US" altLang="ko-KR" sz="1000" b="1" i="1" u="none" strike="noStrike" kern="1200" cap="none" spc="0" normalizeH="0" baseline="0" noProof="0">
                        <a:ln>
                          <a:noFill/>
                        </a:ln>
                        <a:solidFill>
                          <a:srgbClr val="009A46"/>
                        </a:solidFill>
                        <a:effectLst/>
                        <a:uLnTx/>
                        <a:uFillTx/>
                        <a:latin typeface="Arial Narrow" panose="020B0606020202030204" pitchFamily="34" charset="0"/>
                        <a:ea typeface="LG스마트체 Regular" pitchFamily="50" charset="-127"/>
                        <a:cs typeface="Arial" pitchFamily="34" charset="0"/>
                      </a:endParaRP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10004"/>
                  </a:ext>
                </a:extLst>
              </a:tr>
              <a:tr h="294967">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20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Management Issue (Biz. Issue)</a:t>
                      </a:r>
                      <a:endParaRPr kumimoji="0" lang="en-US" altLang="ko-KR" sz="12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6">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30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Implement Plan</a:t>
                      </a:r>
                      <a:r>
                        <a:rPr kumimoji="0" lang="ko-KR" altLang="en-US" sz="130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 </a:t>
                      </a:r>
                      <a:endParaRPr kumimoji="0" lang="en-US" altLang="ko-KR" sz="13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endParaRPr lang="en-US"/>
                    </a:p>
                  </a:txBody>
                  <a:tcPr/>
                </a:tc>
                <a:tc hMerge="1">
                  <a:txBody>
                    <a:bodyPr/>
                    <a:lstStyle/>
                    <a:p>
                      <a:endParaRPr lang="en-US"/>
                    </a:p>
                  </a:txBody>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300" b="1" i="0" u="none" strike="noStrike" cap="none" normalizeH="0" baseline="0">
                          <a:ln>
                            <a:noFill/>
                          </a:ln>
                          <a:solidFill>
                            <a:schemeClr val="tx1"/>
                          </a:solidFill>
                          <a:effectLst/>
                          <a:latin typeface="Arial Narrow" panose="020B0606020202030204" pitchFamily="34" charset="0"/>
                          <a:ea typeface="LG스마트체 Regular" pitchFamily="50" charset="-127"/>
                          <a:cs typeface="Arial" pitchFamily="34" charset="0"/>
                        </a:rPr>
                        <a:t>Task member</a:t>
                      </a:r>
                      <a:endParaRPr kumimoji="0" lang="en-US" altLang="ko-KR" sz="13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5"/>
                  </a:ext>
                </a:extLst>
              </a:tr>
              <a:tr h="1638473">
                <a:tc rowSpan="3" gridSpan="2">
                  <a:txBody>
                    <a:bodyPr/>
                    <a:lstStyle/>
                    <a:p>
                      <a:pPr marL="0" marR="0" lvl="0" indent="0" algn="l" defTabSz="912813" rtl="0" eaLnBrk="1" fontAlgn="base" latinLnBrk="1" hangingPunct="1">
                        <a:lnSpc>
                          <a:spcPct val="100000"/>
                        </a:lnSpc>
                        <a:spcBef>
                          <a:spcPct val="0"/>
                        </a:spcBef>
                        <a:spcAft>
                          <a:spcPct val="0"/>
                        </a:spcAft>
                        <a:buClrTx/>
                        <a:buSzTx/>
                        <a:buFontTx/>
                        <a:buChar char="•"/>
                        <a:tabLst/>
                      </a:pPr>
                      <a:r>
                        <a:rPr kumimoji="0" lang="en-US" altLang="ko-KR" sz="11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sym typeface="Wingdings" pitchFamily="2" charset="2"/>
                        </a:rPr>
                        <a:t>Improvement Rattl Noise issue at 0km</a:t>
                      </a:r>
                    </a:p>
                    <a:p>
                      <a:pPr marL="0" marR="0" lvl="0" indent="0" algn="l" defTabSz="912813" rtl="0" eaLnBrk="1" fontAlgn="base" latinLnBrk="1" hangingPunct="1">
                        <a:lnSpc>
                          <a:spcPct val="100000"/>
                        </a:lnSpc>
                        <a:spcBef>
                          <a:spcPct val="0"/>
                        </a:spcBef>
                        <a:spcAft>
                          <a:spcPct val="0"/>
                        </a:spcAft>
                        <a:buClrTx/>
                        <a:buSzTx/>
                        <a:buFontTx/>
                        <a:buChar char="•"/>
                        <a:tabLst/>
                      </a:pPr>
                      <a:r>
                        <a:rPr kumimoji="0" lang="en-US" altLang="ko-KR" sz="11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sym typeface="Wingdings" pitchFamily="2" charset="2"/>
                        </a:rPr>
                        <a:t>Decrease scrap cost at supplier</a:t>
                      </a:r>
                    </a:p>
                    <a:p>
                      <a:pPr marL="0" marR="0" lvl="0" indent="0" algn="l" defTabSz="912813" rtl="0" eaLnBrk="1" fontAlgn="base" latinLnBrk="1" hangingPunct="1">
                        <a:lnSpc>
                          <a:spcPct val="100000"/>
                        </a:lnSpc>
                        <a:spcBef>
                          <a:spcPct val="0"/>
                        </a:spcBef>
                        <a:spcAft>
                          <a:spcPct val="0"/>
                        </a:spcAft>
                        <a:buClrTx/>
                        <a:buSzTx/>
                        <a:buFontTx/>
                        <a:buChar char="•"/>
                        <a:tabLst/>
                      </a:pPr>
                      <a:r>
                        <a:rPr kumimoji="0" lang="en-US" altLang="ko-KR" sz="11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sym typeface="Wingdings" pitchFamily="2" charset="2"/>
                        </a:rPr>
                        <a:t>Continuous order through customer satisfaction and Qualitu, failure, cost need to be improves</a:t>
                      </a:r>
                      <a:endParaRPr kumimoji="0" lang="en-US" altLang="ko-KR" sz="1100" b="0" i="0" u="none" strike="noStrike" kern="1200"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mn-cs"/>
                        <a:sym typeface="Wingdings" pitchFamily="2" charset="2"/>
                      </a:endParaRPr>
                    </a:p>
                  </a:txBody>
                  <a:tcPr marL="99039" marR="99039"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latinLnBrk="1"/>
                      <a:endParaRPr lang="ko-KR" altLang="en-US"/>
                    </a:p>
                  </a:txBody>
                  <a:tcPr/>
                </a:tc>
                <a:tc rowSpan="3" gridSpan="6">
                  <a:txBody>
                    <a:bodyPr/>
                    <a:lstStyle/>
                    <a:p>
                      <a:pPr marL="0" marR="0" lvl="0" indent="0" algn="ctr" defTabSz="912813" rtl="0" eaLnBrk="1" fontAlgn="base" latinLnBrk="1" hangingPunct="1">
                        <a:lnSpc>
                          <a:spcPct val="100000"/>
                        </a:lnSpc>
                        <a:spcBef>
                          <a:spcPct val="0"/>
                        </a:spcBef>
                        <a:spcAft>
                          <a:spcPct val="0"/>
                        </a:spcAft>
                        <a:buClrTx/>
                        <a:buSzTx/>
                        <a:buFontTx/>
                        <a:buNone/>
                        <a:tabLst/>
                      </a:pPr>
                      <a:endParaRPr kumimoji="0" lang="ko-KR"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latinLnBrk="1"/>
                      <a:endParaRPr lang="ko-KR" altLang="en-US"/>
                    </a:p>
                  </a:txBody>
                  <a:tcPr/>
                </a:tc>
                <a:tc rowSpan="3" hMerge="1">
                  <a:txBody>
                    <a:bodyPr/>
                    <a:lstStyle/>
                    <a:p>
                      <a:endParaRPr lang="en-US"/>
                    </a:p>
                  </a:txBody>
                  <a:tcPr/>
                </a:tc>
                <a:tc rowSpan="3" hMerge="1">
                  <a:txBody>
                    <a:bodyPr/>
                    <a:lstStyle/>
                    <a:p>
                      <a:endParaRPr lang="en-US"/>
                    </a:p>
                  </a:txBody>
                  <a:tcPr/>
                </a:tc>
                <a:tc rowSpan="3" hMerge="1">
                  <a:txBody>
                    <a:bodyPr/>
                    <a:lstStyle/>
                    <a:p>
                      <a:pPr latinLnBrk="1"/>
                      <a:endParaRPr lang="ko-KR" altLang="en-US"/>
                    </a:p>
                  </a:txBody>
                  <a:tcPr/>
                </a:tc>
                <a:tc rowSpan="3" hMerge="1">
                  <a:txBody>
                    <a:bodyPr/>
                    <a:lstStyle/>
                    <a:p>
                      <a:pPr latinLnBrk="1"/>
                      <a:endParaRPr lang="ko-KR" altLang="en-US"/>
                    </a:p>
                  </a:txBody>
                  <a:tcPr/>
                </a:tc>
                <a:tc gridSpan="2">
                  <a:txBody>
                    <a:bodyPr/>
                    <a:lstStyle/>
                    <a:p>
                      <a:pPr marL="0" marR="0" lvl="0" indent="0" algn="l"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rPr>
                        <a:t> </a:t>
                      </a: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6"/>
                  </a:ext>
                </a:extLst>
              </a:tr>
              <a:tr h="294967">
                <a:tc gridSpan="2" vMerge="1">
                  <a:txBody>
                    <a:bodyPr/>
                    <a:lstStyle/>
                    <a:p>
                      <a:pPr latinLnBrk="1"/>
                      <a:endParaRPr lang="ko-KR" altLang="en-US"/>
                    </a:p>
                  </a:txBody>
                  <a:tcPr/>
                </a:tc>
                <a:tc hMerge="1" vMerge="1">
                  <a:txBody>
                    <a:bodyPr/>
                    <a:lstStyle/>
                    <a:p>
                      <a:pPr latinLnBrk="1"/>
                      <a:endParaRPr lang="ko-KR" altLang="en-US"/>
                    </a:p>
                  </a:txBody>
                  <a:tcPr/>
                </a:tc>
                <a:tc gridSpan="6" vMerge="1">
                  <a:txBody>
                    <a:bodyPr/>
                    <a:lstStyle/>
                    <a:p>
                      <a:pPr latinLnBrk="1"/>
                      <a:endParaRPr lang="ko-KR" altLang="en-US"/>
                    </a:p>
                  </a:txBody>
                  <a:tcPr/>
                </a:tc>
                <a:tc hMerge="1" vMerge="1">
                  <a:txBody>
                    <a:bodyPr/>
                    <a:lstStyle/>
                    <a:p>
                      <a:pPr latinLnBrk="1"/>
                      <a:endParaRPr lang="ko-KR" altLang="en-US"/>
                    </a:p>
                  </a:txBody>
                  <a:tcPr/>
                </a:tc>
                <a:tc hMerge="1" vMerge="1">
                  <a:txBody>
                    <a:bodyPr/>
                    <a:lstStyle/>
                    <a:p>
                      <a:endParaRPr lang="en-US"/>
                    </a:p>
                  </a:txBody>
                  <a:tcPr/>
                </a:tc>
                <a:tc hMerge="1" vMerge="1">
                  <a:txBody>
                    <a:bodyPr/>
                    <a:lstStyle/>
                    <a:p>
                      <a:endParaRPr 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rPr>
                        <a:t>Location</a:t>
                      </a: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7"/>
                  </a:ext>
                </a:extLst>
              </a:tr>
              <a:tr h="570012">
                <a:tc gridSpan="2" vMerge="1">
                  <a:txBody>
                    <a:bodyPr/>
                    <a:lstStyle/>
                    <a:p>
                      <a:pPr latinLnBrk="1"/>
                      <a:endParaRPr lang="ko-KR" altLang="en-US"/>
                    </a:p>
                  </a:txBody>
                  <a:tcPr/>
                </a:tc>
                <a:tc hMerge="1" vMerge="1">
                  <a:txBody>
                    <a:bodyPr/>
                    <a:lstStyle/>
                    <a:p>
                      <a:pPr latinLnBrk="1"/>
                      <a:endParaRPr lang="ko-KR" altLang="en-US"/>
                    </a:p>
                  </a:txBody>
                  <a:tcPr/>
                </a:tc>
                <a:tc gridSpan="6" vMerge="1">
                  <a:txBody>
                    <a:bodyPr/>
                    <a:lstStyle/>
                    <a:p>
                      <a:pPr latinLnBrk="1"/>
                      <a:endParaRPr lang="ko-KR" altLang="en-US"/>
                    </a:p>
                  </a:txBody>
                  <a:tcPr/>
                </a:tc>
                <a:tc hMerge="1" vMerge="1">
                  <a:txBody>
                    <a:bodyPr/>
                    <a:lstStyle/>
                    <a:p>
                      <a:pPr latinLnBrk="1"/>
                      <a:endParaRPr lang="ko-KR" altLang="en-US"/>
                    </a:p>
                  </a:txBody>
                  <a:tcPr/>
                </a:tc>
                <a:tc hMerge="1" vMerge="1">
                  <a:txBody>
                    <a:bodyPr/>
                    <a:lstStyle/>
                    <a:p>
                      <a:endParaRPr lang="en-US"/>
                    </a:p>
                  </a:txBody>
                  <a:tcPr/>
                </a:tc>
                <a:tc hMerge="1" vMerge="1">
                  <a:txBody>
                    <a:bodyPr/>
                    <a:lstStyle/>
                    <a:p>
                      <a:endParaRPr 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lang="en-US" altLang="ko-KR" sz="1000" kern="1200">
                          <a:solidFill>
                            <a:schemeClr val="tx1"/>
                          </a:solidFill>
                          <a:latin typeface="Arial Narrow" panose="020B0606020202030204" pitchFamily="34" charset="0"/>
                          <a:ea typeface="LG스마트체 Regular" pitchFamily="50" charset="-127"/>
                          <a:cs typeface="Arial" charset="0"/>
                        </a:rPr>
                        <a:t>LGE</a:t>
                      </a:r>
                      <a:r>
                        <a:rPr lang="en-US" altLang="ko-KR" sz="1000" kern="1200" baseline="0">
                          <a:solidFill>
                            <a:schemeClr val="tx1"/>
                          </a:solidFill>
                          <a:latin typeface="Arial Narrow" panose="020B0606020202030204" pitchFamily="34" charset="0"/>
                          <a:ea typeface="LG스마트체 Regular" pitchFamily="50" charset="-127"/>
                          <a:cs typeface="Arial" charset="0"/>
                        </a:rPr>
                        <a:t> FA line and Supplier</a:t>
                      </a:r>
                      <a:endParaRPr lang="ko-KR" altLang="en-US" sz="1000" kern="1200" dirty="0">
                        <a:solidFill>
                          <a:schemeClr val="tx1"/>
                        </a:solidFill>
                        <a:latin typeface="Arial Narrow" panose="020B0606020202030204" pitchFamily="34" charset="0"/>
                        <a:ea typeface="LG스마트체 Regular" pitchFamily="50" charset="-127"/>
                        <a:cs typeface="Arial"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8"/>
                  </a:ext>
                </a:extLst>
              </a:tr>
              <a:tr h="294967">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a:ln>
                            <a:noFill/>
                          </a:ln>
                          <a:solidFill>
                            <a:schemeClr val="tx1"/>
                          </a:solidFill>
                          <a:effectLst/>
                          <a:latin typeface="Arial Narrow" panose="020B0606020202030204" pitchFamily="34" charset="0"/>
                          <a:ea typeface="LG스마트체2.0 Regular" panose="020B0600000101010101" pitchFamily="50" charset="-127"/>
                          <a:cs typeface="Arial" pitchFamily="34" charset="0"/>
                        </a:rPr>
                        <a:t>Qualitative Performance</a:t>
                      </a:r>
                      <a:endParaRPr kumimoji="0" lang="ko-KR" altLang="en-US"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6">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a:ln>
                            <a:noFill/>
                          </a:ln>
                          <a:solidFill>
                            <a:schemeClr val="tx1"/>
                          </a:solidFill>
                          <a:effectLst/>
                          <a:latin typeface="Arial Narrow" panose="020B0606020202030204" pitchFamily="34" charset="0"/>
                          <a:ea typeface="LG스마트체2.0 Regular" panose="020B0600000101010101" pitchFamily="50" charset="-127"/>
                          <a:cs typeface="Arial" pitchFamily="34" charset="0"/>
                        </a:rPr>
                        <a:t>Quantitative Performance</a:t>
                      </a: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txBody>
                  <a:tcPr marL="99039" marR="99039" marT="45710" marB="45710"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endParaRPr lang="en-US"/>
                    </a:p>
                  </a:txBody>
                  <a:tcPr/>
                </a:tc>
                <a:tc hMerge="1">
                  <a:txBody>
                    <a:bodyPr/>
                    <a:lstStyle/>
                    <a:p>
                      <a:endParaRPr lang="en-US"/>
                    </a:p>
                  </a:txBody>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a:ln>
                            <a:noFill/>
                          </a:ln>
                          <a:solidFill>
                            <a:schemeClr val="tx1"/>
                          </a:solidFill>
                          <a:effectLst/>
                          <a:latin typeface="Arial Narrow" panose="020B0606020202030204" pitchFamily="34" charset="0"/>
                          <a:ea typeface="LG스마트체2.0 Regular" panose="020B0600000101010101" pitchFamily="50" charset="-127"/>
                          <a:cs typeface="Arial" pitchFamily="34" charset="0"/>
                        </a:rPr>
                        <a:t>Neck Point</a:t>
                      </a:r>
                      <a:endParaRPr kumimoji="0" lang="en-US" altLang="ko-KR" sz="1000" b="1" i="0" u="none" strike="noStrike"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Arial" pitchFamily="34" charset="0"/>
                      </a:endParaRPr>
                    </a:p>
                  </a:txBody>
                  <a:tcPr marL="99039" marR="99039" marT="45710" marB="45710"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9"/>
                  </a:ext>
                </a:extLst>
              </a:tr>
              <a:tr h="700635">
                <a:tc gridSpan="2">
                  <a:txBody>
                    <a:bodyPr/>
                    <a:lstStyle/>
                    <a:p>
                      <a:pPr marL="0" marR="0" lvl="0" indent="0" algn="l" defTabSz="912813" rtl="0" eaLnBrk="1" fontAlgn="base" latinLnBrk="1" hangingPunct="1">
                        <a:lnSpc>
                          <a:spcPct val="100000"/>
                        </a:lnSpc>
                        <a:spcBef>
                          <a:spcPct val="0"/>
                        </a:spcBef>
                        <a:spcAft>
                          <a:spcPct val="0"/>
                        </a:spcAft>
                        <a:buClrTx/>
                        <a:buSzTx/>
                        <a:buFontTx/>
                        <a:buChar char="•"/>
                        <a:tabLst/>
                      </a:pPr>
                      <a:r>
                        <a:rPr kumimoji="0" lang="ko-KR" altLang="en-US" sz="10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sym typeface="Wingdings" pitchFamily="2" charset="2"/>
                        </a:rPr>
                        <a:t> </a:t>
                      </a:r>
                      <a:r>
                        <a:rPr kumimoji="0" lang="en-US" altLang="ko-KR" sz="1000" b="0" i="0" u="none" strike="noStrike" kern="1200" cap="none" normalizeH="0" baseline="0">
                          <a:ln>
                            <a:noFill/>
                          </a:ln>
                          <a:solidFill>
                            <a:schemeClr val="tx1"/>
                          </a:solidFill>
                          <a:effectLst/>
                          <a:latin typeface="Arial Narrow" panose="020B0606020202030204" pitchFamily="34" charset="0"/>
                          <a:ea typeface="LG스마트체2.0 Regular" panose="020B0600000101010101" pitchFamily="50" charset="-127"/>
                          <a:cs typeface="+mn-cs"/>
                          <a:sym typeface="Wingdings" pitchFamily="2" charset="2"/>
                        </a:rPr>
                        <a:t>Customer Department &amp; Buyer Quality Satisfaction</a:t>
                      </a:r>
                      <a:endPar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2.0 Regular" panose="020B0600000101010101" pitchFamily="50" charset="-127"/>
                        <a:cs typeface="+mn-cs"/>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gridSpan="6">
                  <a:txBody>
                    <a:bodyPr/>
                    <a:lstStyle/>
                    <a:p>
                      <a:pPr marL="171450" marR="0" lvl="0" indent="-171450" algn="l" defTabSz="912813" rtl="0" eaLnBrk="1" fontAlgn="base" latinLnBrk="0" hangingPunct="1">
                        <a:lnSpc>
                          <a:spcPct val="100000"/>
                        </a:lnSpc>
                        <a:spcBef>
                          <a:spcPct val="0"/>
                        </a:spcBef>
                        <a:spcAft>
                          <a:spcPct val="0"/>
                        </a:spcAft>
                        <a:buClrTx/>
                        <a:buSzTx/>
                        <a:buFont typeface="Arial" charset="0"/>
                        <a:buChar char="•"/>
                        <a:tabLst/>
                      </a:pPr>
                      <a:r>
                        <a:rPr kumimoji="0" lang="en-US" altLang="ko-KR" sz="1050" b="0" i="0" u="none" strike="noStrike" cap="none" normalizeH="0" baseline="0">
                          <a:ln>
                            <a:noFill/>
                          </a:ln>
                          <a:solidFill>
                            <a:srgbClr val="000000"/>
                          </a:solidFill>
                          <a:effectLst/>
                          <a:latin typeface="Arial Narrow" panose="020B0606020202030204" pitchFamily="34" charset="0"/>
                          <a:ea typeface="LG스마트체2.0 Regular" panose="020B0600000101010101" pitchFamily="50" charset="-127"/>
                          <a:cs typeface="Arial" charset="0"/>
                        </a:rPr>
                        <a:t>Rattle Noise Defectve Rate: 457.1ppm (Apr) and Isssue at Customer site (3ea)</a:t>
                      </a:r>
                    </a:p>
                    <a:p>
                      <a:pPr marL="171450" marR="0" lvl="0" indent="-171450" algn="l" defTabSz="912813" rtl="0" eaLnBrk="1" fontAlgn="base" latinLnBrk="0" hangingPunct="1">
                        <a:lnSpc>
                          <a:spcPct val="100000"/>
                        </a:lnSpc>
                        <a:spcBef>
                          <a:spcPct val="0"/>
                        </a:spcBef>
                        <a:spcAft>
                          <a:spcPct val="0"/>
                        </a:spcAft>
                        <a:buClrTx/>
                        <a:buSzTx/>
                        <a:buFont typeface="Arial" charset="0"/>
                        <a:buChar char="•"/>
                        <a:tabLst/>
                      </a:pPr>
                      <a:r>
                        <a:rPr kumimoji="0" lang="en-US" altLang="ko-KR" sz="1050" b="0" i="0" u="none" strike="noStrike" cap="none" normalizeH="0" baseline="0">
                          <a:ln>
                            <a:noFill/>
                          </a:ln>
                          <a:solidFill>
                            <a:srgbClr val="000000"/>
                          </a:solidFill>
                          <a:effectLst/>
                          <a:latin typeface="Arial Narrow" panose="020B0606020202030204" pitchFamily="34" charset="0"/>
                          <a:ea typeface="LG스마트체2.0 Regular" panose="020B0600000101010101" pitchFamily="50" charset="-127"/>
                          <a:cs typeface="Arial" charset="0"/>
                        </a:rPr>
                        <a:t>Claim cost: 56.7K$</a:t>
                      </a:r>
                    </a:p>
                    <a:p>
                      <a:pPr marL="171450" marR="0" lvl="0" indent="-171450" algn="l" defTabSz="912813" rtl="0" eaLnBrk="1" fontAlgn="base" latinLnBrk="0" hangingPunct="1">
                        <a:lnSpc>
                          <a:spcPct val="100000"/>
                        </a:lnSpc>
                        <a:spcBef>
                          <a:spcPct val="0"/>
                        </a:spcBef>
                        <a:spcAft>
                          <a:spcPct val="0"/>
                        </a:spcAft>
                        <a:buClrTx/>
                        <a:buSzTx/>
                        <a:buFont typeface="Arial" charset="0"/>
                        <a:buChar char="•"/>
                        <a:tabLst/>
                      </a:pPr>
                      <a:r>
                        <a:rPr kumimoji="0" lang="en-US" altLang="ko-KR" sz="1050" b="0" i="0" u="none" strike="noStrike" cap="none" normalizeH="0" baseline="0">
                          <a:ln>
                            <a:noFill/>
                          </a:ln>
                          <a:solidFill>
                            <a:srgbClr val="000000"/>
                          </a:solidFill>
                          <a:effectLst/>
                          <a:latin typeface="Arial Narrow" panose="020B0606020202030204" pitchFamily="34" charset="0"/>
                          <a:ea typeface="LG스마트체2.0 Regular" panose="020B0600000101010101" pitchFamily="50" charset="-127"/>
                          <a:cs typeface="Arial" charset="0"/>
                        </a:rPr>
                        <a:t>Defect Scrap (Supplier): 60.000ea ~ 19k$</a:t>
                      </a:r>
                      <a:endParaRPr kumimoji="0" lang="en-US" altLang="ko-KR" sz="1050" b="0" i="0" u="none" strike="noStrike" cap="none" normalizeH="0" baseline="0" dirty="0">
                        <a:ln>
                          <a:noFill/>
                        </a:ln>
                        <a:solidFill>
                          <a:srgbClr val="000000"/>
                        </a:solidFill>
                        <a:effectLst/>
                        <a:latin typeface="Arial Narrow" panose="020B0606020202030204" pitchFamily="34" charset="0"/>
                        <a:ea typeface="LG스마트체2.0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endParaRPr lang="en-US"/>
                    </a:p>
                  </a:txBody>
                  <a:tcPr/>
                </a:tc>
                <a:tc hMerge="1">
                  <a:txBody>
                    <a:bodyPr/>
                    <a:lstStyle/>
                    <a:p>
                      <a:endParaRPr lang="en-US"/>
                    </a:p>
                  </a:txBody>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marL="171450" marR="0" lvl="0" indent="-171450" algn="l" defTabSz="912813" rtl="0" eaLnBrk="1" fontAlgn="base" latinLnBrk="0" hangingPunct="1">
                        <a:lnSpc>
                          <a:spcPct val="100000"/>
                        </a:lnSpc>
                        <a:spcBef>
                          <a:spcPct val="0"/>
                        </a:spcBef>
                        <a:spcAft>
                          <a:spcPct val="0"/>
                        </a:spcAft>
                        <a:buClrTx/>
                        <a:buSzTx/>
                        <a:buFont typeface="Arial" charset="0"/>
                        <a:buChar char="•"/>
                        <a:tabLst/>
                      </a:pPr>
                      <a:r>
                        <a:rPr kumimoji="0" lang="en-US" altLang="ko-KR" sz="1000" b="0" i="0" u="none" strike="noStrike" cap="none" normalizeH="0" baseline="0" dirty="0">
                          <a:ln>
                            <a:noFill/>
                          </a:ln>
                          <a:solidFill>
                            <a:srgbClr val="000000"/>
                          </a:solidFill>
                          <a:effectLst/>
                          <a:latin typeface="Arial Narrow" panose="020B0606020202030204" pitchFamily="34" charset="0"/>
                          <a:ea typeface="LG스마트체2.0 Regular" panose="020B0600000101010101" pitchFamily="50" charset="-127"/>
                          <a:cs typeface="Arial" charset="0"/>
                        </a:rPr>
                        <a:t>Smooth business consultation with related departments is necessary</a:t>
                      </a:r>
                    </a:p>
                  </a:txBody>
                  <a:tcPr marL="91421" marR="91421" marT="45710" marB="45710" anchor="ctr" horzOverflow="overflow">
                    <a:lnL w="635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171450" marR="0" lvl="0" indent="-171450" algn="l" defTabSz="912813" rtl="0" eaLnBrk="1" fontAlgn="base" latinLnBrk="0" hangingPunct="1">
                        <a:lnSpc>
                          <a:spcPct val="100000"/>
                        </a:lnSpc>
                        <a:spcBef>
                          <a:spcPct val="0"/>
                        </a:spcBef>
                        <a:spcAft>
                          <a:spcPct val="0"/>
                        </a:spcAft>
                        <a:buClrTx/>
                        <a:buSzTx/>
                        <a:buFont typeface="Arial" charset="0"/>
                        <a:buChar char="•"/>
                        <a:tabLst/>
                      </a:pPr>
                      <a:endParaRPr kumimoji="0" lang="en-US" altLang="ko-KR" sz="1000" b="0" i="0" u="none" strike="noStrike" cap="none" normalizeH="0" baseline="0" dirty="0">
                        <a:ln>
                          <a:noFill/>
                        </a:ln>
                        <a:solidFill>
                          <a:srgbClr val="000000"/>
                        </a:solidFill>
                        <a:effectLst/>
                        <a:latin typeface="LG스마트체2.0 Regular" panose="020B0600000101010101" pitchFamily="50" charset="-127"/>
                        <a:ea typeface="LG스마트체2.0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bl>
          </a:graphicData>
        </a:graphic>
      </p:graphicFrame>
      <p:sp>
        <p:nvSpPr>
          <p:cNvPr id="32" name="TextBox 84"/>
          <p:cNvSpPr txBox="1">
            <a:spLocks noChangeArrowheads="1"/>
          </p:cNvSpPr>
          <p:nvPr/>
        </p:nvSpPr>
        <p:spPr bwMode="auto">
          <a:xfrm>
            <a:off x="2917697" y="4657087"/>
            <a:ext cx="4041079" cy="861698"/>
          </a:xfrm>
          <a:prstGeom prst="rect">
            <a:avLst/>
          </a:prstGeom>
          <a:noFill/>
          <a:ln w="9525">
            <a:noFill/>
            <a:miter lim="800000"/>
            <a:headEnd/>
            <a:tailEnd/>
          </a:ln>
        </p:spPr>
        <p:txBody>
          <a:bodyPr wrap="square" lIns="91357" tIns="45682" rIns="91357" bIns="45682">
            <a:spAutoFit/>
          </a:bodyPr>
          <a:lstStyle/>
          <a:p>
            <a:pPr marL="171450" lvl="0" indent="-171450" fontAlgn="base">
              <a:spcBef>
                <a:spcPct val="0"/>
              </a:spcBef>
              <a:spcAft>
                <a:spcPct val="0"/>
              </a:spcAft>
              <a:buFont typeface="Arial" panose="020B0604020202020204" pitchFamily="34" charset="0"/>
              <a:buChar char="•"/>
            </a:pPr>
            <a:r>
              <a:rPr lang="en-US" altLang="ko-KR" sz="1000" dirty="0">
                <a:solidFill>
                  <a:srgbClr val="000000"/>
                </a:solidFill>
                <a:latin typeface="Arial Narrow" panose="020B0606020202030204" pitchFamily="34" charset="0"/>
                <a:ea typeface="LG스마트체2.0 Regular" panose="020B0600000101010101" pitchFamily="50" charset="-127"/>
                <a:cs typeface="Arial" charset="0"/>
              </a:rPr>
              <a:t>D </a:t>
            </a:r>
            <a:r>
              <a:rPr lang="en-US" altLang="ko-KR" sz="1000">
                <a:solidFill>
                  <a:srgbClr val="000000"/>
                </a:solidFill>
                <a:latin typeface="Arial Narrow" panose="020B0606020202030204" pitchFamily="34" charset="0"/>
                <a:ea typeface="LG스마트체2.0 Regular" panose="020B0600000101010101" pitchFamily="50" charset="-127"/>
                <a:cs typeface="Arial" charset="0"/>
              </a:rPr>
              <a:t>: </a:t>
            </a:r>
            <a:r>
              <a:rPr lang="en-US" sz="1000">
                <a:latin typeface="Arial Narrow" panose="020B0606020202030204" pitchFamily="34" charset="0"/>
              </a:rPr>
              <a:t>Define scrap cost Project Y by deriving Big Y and Little y</a:t>
            </a:r>
          </a:p>
          <a:p>
            <a:pPr marL="171450" lvl="0" indent="-171450" fontAlgn="base">
              <a:spcBef>
                <a:spcPct val="0"/>
              </a:spcBef>
              <a:spcAft>
                <a:spcPct val="0"/>
              </a:spcAft>
              <a:buFont typeface="Arial" panose="020B0604020202020204" pitchFamily="34" charset="0"/>
              <a:buChar char="•"/>
            </a:pPr>
            <a:r>
              <a:rPr lang="en-US" altLang="ko-KR" sz="1000">
                <a:solidFill>
                  <a:srgbClr val="000000"/>
                </a:solidFill>
                <a:latin typeface="Arial Narrow" panose="020B0606020202030204" pitchFamily="34" charset="0"/>
                <a:ea typeface="LG스마트체2.0 Regular" panose="020B0600000101010101" pitchFamily="50" charset="-127"/>
                <a:cs typeface="Arial" charset="0"/>
              </a:rPr>
              <a:t>M : Verify Measurement System and identify current level to select main Factor</a:t>
            </a:r>
            <a:endParaRPr lang="en-US" altLang="ko-KR" sz="1000" dirty="0">
              <a:solidFill>
                <a:srgbClr val="000000"/>
              </a:solidFill>
              <a:latin typeface="Arial Narrow" panose="020B0606020202030204" pitchFamily="34" charset="0"/>
              <a:ea typeface="LG스마트체2.0 Regular" panose="020B0600000101010101" pitchFamily="50" charset="-127"/>
              <a:cs typeface="Arial" charset="0"/>
            </a:endParaRPr>
          </a:p>
          <a:p>
            <a:pPr marL="171450" lvl="0" indent="-171450" fontAlgn="base" latinLnBrk="0">
              <a:spcBef>
                <a:spcPct val="0"/>
              </a:spcBef>
              <a:spcAft>
                <a:spcPct val="0"/>
              </a:spcAft>
              <a:buFont typeface="Arial" panose="020B0604020202020204" pitchFamily="34" charset="0"/>
              <a:buChar char="•"/>
            </a:pPr>
            <a:r>
              <a:rPr lang="en-US" altLang="ko-KR" sz="1000" dirty="0">
                <a:solidFill>
                  <a:srgbClr val="000000"/>
                </a:solidFill>
                <a:latin typeface="Arial Narrow" panose="020B0606020202030204" pitchFamily="34" charset="0"/>
                <a:ea typeface="LG스마트체2.0 Regular" panose="020B0600000101010101" pitchFamily="50" charset="-127"/>
                <a:cs typeface="Arial" charset="0"/>
              </a:rPr>
              <a:t>A </a:t>
            </a:r>
            <a:r>
              <a:rPr lang="en-US" altLang="ko-KR" sz="1000">
                <a:solidFill>
                  <a:srgbClr val="000000"/>
                </a:solidFill>
                <a:latin typeface="Arial Narrow" panose="020B0606020202030204" pitchFamily="34" charset="0"/>
                <a:ea typeface="LG스마트체2.0 Regular" panose="020B0600000101010101" pitchFamily="50" charset="-127"/>
                <a:cs typeface="Arial" charset="0"/>
              </a:rPr>
              <a:t>: Selection of Main Factor affect to Issue</a:t>
            </a:r>
            <a:endParaRPr lang="en-US" altLang="ko-KR" sz="1000" dirty="0">
              <a:solidFill>
                <a:srgbClr val="000000"/>
              </a:solidFill>
              <a:latin typeface="Arial Narrow" panose="020B0606020202030204" pitchFamily="34" charset="0"/>
              <a:ea typeface="LG스마트체2.0 Regular" panose="020B0600000101010101" pitchFamily="50" charset="-127"/>
              <a:cs typeface="Arial" charset="0"/>
            </a:endParaRPr>
          </a:p>
          <a:p>
            <a:pPr marL="171450" lvl="0" indent="-171450" fontAlgn="base" latinLnBrk="0">
              <a:spcBef>
                <a:spcPct val="0"/>
              </a:spcBef>
              <a:spcAft>
                <a:spcPct val="0"/>
              </a:spcAft>
              <a:buFont typeface="Arial" panose="020B0604020202020204" pitchFamily="34" charset="0"/>
              <a:buChar char="•"/>
            </a:pPr>
            <a:r>
              <a:rPr lang="en-US" altLang="ko-KR" sz="1000">
                <a:solidFill>
                  <a:srgbClr val="000000"/>
                </a:solidFill>
                <a:latin typeface="Arial Narrow" panose="020B0606020202030204" pitchFamily="34" charset="0"/>
                <a:ea typeface="LG스마트체2.0 Regular" panose="020B0600000101010101" pitchFamily="50" charset="-127"/>
                <a:cs typeface="Arial" charset="0"/>
              </a:rPr>
              <a:t>I : Improvement Main Factor </a:t>
            </a:r>
            <a:endParaRPr lang="en-US" altLang="ko-KR" sz="1000" dirty="0">
              <a:solidFill>
                <a:srgbClr val="000000"/>
              </a:solidFill>
              <a:latin typeface="Arial Narrow" panose="020B0606020202030204" pitchFamily="34" charset="0"/>
              <a:ea typeface="LG스마트체2.0 Regular" panose="020B0600000101010101" pitchFamily="50" charset="-127"/>
              <a:cs typeface="Arial" charset="0"/>
            </a:endParaRPr>
          </a:p>
          <a:p>
            <a:pPr marL="171450" lvl="0" indent="-171450" fontAlgn="base" latinLnBrk="0">
              <a:spcBef>
                <a:spcPct val="0"/>
              </a:spcBef>
              <a:spcAft>
                <a:spcPct val="0"/>
              </a:spcAft>
              <a:buFont typeface="Arial" panose="020B0604020202020204" pitchFamily="34" charset="0"/>
              <a:buChar char="•"/>
            </a:pPr>
            <a:r>
              <a:rPr lang="en-US" altLang="ko-KR" sz="1000" dirty="0">
                <a:solidFill>
                  <a:prstClr val="black"/>
                </a:solidFill>
                <a:latin typeface="Arial Narrow" panose="020B0606020202030204" pitchFamily="34" charset="0"/>
                <a:ea typeface="LG스마트체2.0 Regular" panose="020B0600000101010101" pitchFamily="50" charset="-127"/>
                <a:cs typeface="Arial" charset="0"/>
              </a:rPr>
              <a:t>C </a:t>
            </a:r>
            <a:r>
              <a:rPr lang="en-US" altLang="ko-KR" sz="1000">
                <a:solidFill>
                  <a:prstClr val="black"/>
                </a:solidFill>
                <a:latin typeface="Arial Narrow" panose="020B0606020202030204" pitchFamily="34" charset="0"/>
                <a:ea typeface="LG스마트체2.0 Regular" panose="020B0600000101010101" pitchFamily="50" charset="-127"/>
                <a:cs typeface="Arial" charset="0"/>
              </a:rPr>
              <a:t>: Identify Improvement Level and Establish Management Plan </a:t>
            </a:r>
            <a:endParaRPr lang="ko-KR" altLang="en-US" sz="1000" dirty="0">
              <a:solidFill>
                <a:prstClr val="black"/>
              </a:solidFill>
              <a:latin typeface="Arial Narrow" panose="020B0606020202030204" pitchFamily="34" charset="0"/>
              <a:ea typeface="LG스마트체2.0 Regular" panose="020B0600000101010101" pitchFamily="50" charset="-127"/>
              <a:cs typeface="Arial" charset="0"/>
            </a:endParaRPr>
          </a:p>
        </p:txBody>
      </p:sp>
      <p:grpSp>
        <p:nvGrpSpPr>
          <p:cNvPr id="2" name="Group 1"/>
          <p:cNvGrpSpPr/>
          <p:nvPr/>
        </p:nvGrpSpPr>
        <p:grpSpPr>
          <a:xfrm>
            <a:off x="3140509" y="3362610"/>
            <a:ext cx="3306280" cy="543577"/>
            <a:chOff x="3182805" y="2996952"/>
            <a:chExt cx="3306280" cy="543577"/>
          </a:xfrm>
        </p:grpSpPr>
        <p:sp>
          <p:nvSpPr>
            <p:cNvPr id="23" name="Text Box 84"/>
            <p:cNvSpPr txBox="1">
              <a:spLocks noChangeArrowheads="1"/>
            </p:cNvSpPr>
            <p:nvPr/>
          </p:nvSpPr>
          <p:spPr bwMode="auto">
            <a:xfrm>
              <a:off x="3510023" y="3309697"/>
              <a:ext cx="541735" cy="230832"/>
            </a:xfrm>
            <a:prstGeom prst="rect">
              <a:avLst/>
            </a:prstGeom>
            <a:noFill/>
            <a:ln w="9525">
              <a:noFill/>
              <a:miter lim="800000"/>
              <a:headEnd/>
              <a:tailEnd/>
            </a:ln>
          </p:spPr>
          <p:txBody>
            <a:bodyPr>
              <a:spAutoFit/>
            </a:bodyPr>
            <a:lstStyle/>
            <a:p>
              <a:pPr algn="ctr">
                <a:buFont typeface="Wingdings" pitchFamily="2" charset="2"/>
                <a:buNone/>
              </a:pPr>
              <a:r>
                <a:rPr lang="en-US" altLang="ko-KR" sz="900">
                  <a:solidFill>
                    <a:prstClr val="black"/>
                  </a:solidFill>
                  <a:latin typeface="Arial Narrow" panose="020B0606020202030204" pitchFamily="34" charset="0"/>
                  <a:ea typeface="LG스마트체 Regular" pitchFamily="50" charset="-127"/>
                  <a:cs typeface="Arial" pitchFamily="34" charset="0"/>
                </a:rPr>
                <a:t>07/10</a:t>
              </a:r>
              <a:endParaRPr lang="en-US" altLang="ko-KR" sz="900" dirty="0">
                <a:solidFill>
                  <a:prstClr val="black"/>
                </a:solidFill>
                <a:latin typeface="Arial Narrow" panose="020B0606020202030204" pitchFamily="34" charset="0"/>
                <a:ea typeface="LG스마트체 Regular" pitchFamily="50" charset="-127"/>
                <a:cs typeface="Arial" pitchFamily="34" charset="0"/>
              </a:endParaRPr>
            </a:p>
          </p:txBody>
        </p:sp>
        <p:sp>
          <p:nvSpPr>
            <p:cNvPr id="24" name="AutoShape 85"/>
            <p:cNvSpPr>
              <a:spLocks noChangeArrowheads="1"/>
            </p:cNvSpPr>
            <p:nvPr/>
          </p:nvSpPr>
          <p:spPr bwMode="auto">
            <a:xfrm>
              <a:off x="3182805" y="2996952"/>
              <a:ext cx="624284" cy="288925"/>
            </a:xfrm>
            <a:prstGeom prst="homePlate">
              <a:avLst>
                <a:gd name="adj" fmla="val 49863"/>
              </a:avLst>
            </a:prstGeom>
            <a:solidFill>
              <a:schemeClr val="bg1">
                <a:lumMod val="75000"/>
              </a:schemeClr>
            </a:solidFill>
            <a:ln w="9525">
              <a:solidFill>
                <a:schemeClr val="tx1"/>
              </a:solidFill>
              <a:miter lim="800000"/>
              <a:headEnd/>
              <a:tailEnd/>
            </a:ln>
          </p:spPr>
          <p:txBody>
            <a:bodyPr wrap="none" anchor="ctr"/>
            <a:lstStyle/>
            <a:p>
              <a:pPr algn="ctr">
                <a:buFont typeface="Wingdings" pitchFamily="2" charset="2"/>
                <a:buNone/>
              </a:pPr>
              <a:r>
                <a:rPr lang="en-US" altLang="ko-KR" sz="1200" dirty="0">
                  <a:solidFill>
                    <a:prstClr val="black"/>
                  </a:solidFill>
                  <a:latin typeface="Arial Narrow" panose="020B0606020202030204" pitchFamily="34" charset="0"/>
                  <a:ea typeface="LG스마트체 Regular" pitchFamily="50" charset="-127"/>
                  <a:cs typeface="Arial" pitchFamily="34" charset="0"/>
                </a:rPr>
                <a:t>D</a:t>
              </a:r>
            </a:p>
          </p:txBody>
        </p:sp>
        <p:sp>
          <p:nvSpPr>
            <p:cNvPr id="25" name="AutoShape 86"/>
            <p:cNvSpPr>
              <a:spLocks noChangeArrowheads="1"/>
            </p:cNvSpPr>
            <p:nvPr/>
          </p:nvSpPr>
          <p:spPr bwMode="auto">
            <a:xfrm>
              <a:off x="3807089" y="2996952"/>
              <a:ext cx="626004" cy="288925"/>
            </a:xfrm>
            <a:prstGeom prst="homePlate">
              <a:avLst>
                <a:gd name="adj" fmla="val 50000"/>
              </a:avLst>
            </a:prstGeom>
            <a:solidFill>
              <a:schemeClr val="bg1">
                <a:lumMod val="75000"/>
              </a:schemeClr>
            </a:solidFill>
            <a:ln w="9525">
              <a:solidFill>
                <a:schemeClr val="tx1"/>
              </a:solidFill>
              <a:miter lim="800000"/>
              <a:headEnd/>
              <a:tailEnd/>
            </a:ln>
          </p:spPr>
          <p:txBody>
            <a:bodyPr wrap="none" anchor="ctr"/>
            <a:lstStyle/>
            <a:p>
              <a:pPr algn="ctr">
                <a:buFont typeface="Wingdings" pitchFamily="2" charset="2"/>
                <a:buNone/>
              </a:pPr>
              <a:r>
                <a:rPr lang="en-US" altLang="ko-KR" sz="1200" dirty="0">
                  <a:solidFill>
                    <a:prstClr val="black"/>
                  </a:solidFill>
                  <a:latin typeface="Arial Narrow" panose="020B0606020202030204" pitchFamily="34" charset="0"/>
                  <a:ea typeface="LG스마트체 Regular" pitchFamily="50" charset="-127"/>
                  <a:cs typeface="Arial" pitchFamily="34" charset="0"/>
                </a:rPr>
                <a:t>M</a:t>
              </a:r>
            </a:p>
          </p:txBody>
        </p:sp>
        <p:sp>
          <p:nvSpPr>
            <p:cNvPr id="26" name="AutoShape 87"/>
            <p:cNvSpPr>
              <a:spLocks noChangeArrowheads="1"/>
            </p:cNvSpPr>
            <p:nvPr/>
          </p:nvSpPr>
          <p:spPr bwMode="auto">
            <a:xfrm>
              <a:off x="4431374" y="2996952"/>
              <a:ext cx="624284" cy="288925"/>
            </a:xfrm>
            <a:prstGeom prst="homePlate">
              <a:avLst>
                <a:gd name="adj" fmla="val 49863"/>
              </a:avLst>
            </a:prstGeom>
            <a:solidFill>
              <a:schemeClr val="bg1">
                <a:lumMod val="75000"/>
              </a:schemeClr>
            </a:solidFill>
            <a:ln w="9525">
              <a:solidFill>
                <a:schemeClr val="tx1"/>
              </a:solidFill>
              <a:miter lim="800000"/>
              <a:headEnd/>
              <a:tailEnd/>
            </a:ln>
          </p:spPr>
          <p:txBody>
            <a:bodyPr wrap="none" anchor="ctr"/>
            <a:lstStyle/>
            <a:p>
              <a:pPr algn="ctr">
                <a:buFont typeface="Wingdings" pitchFamily="2" charset="2"/>
                <a:buNone/>
              </a:pPr>
              <a:r>
                <a:rPr lang="en-US" altLang="ko-KR" sz="1200" dirty="0">
                  <a:solidFill>
                    <a:prstClr val="black"/>
                  </a:solidFill>
                  <a:latin typeface="Arial Narrow" panose="020B0606020202030204" pitchFamily="34" charset="0"/>
                  <a:ea typeface="LG스마트체 Regular" pitchFamily="50" charset="-127"/>
                  <a:cs typeface="Arial" pitchFamily="34" charset="0"/>
                </a:rPr>
                <a:t>A</a:t>
              </a:r>
            </a:p>
          </p:txBody>
        </p:sp>
        <p:sp>
          <p:nvSpPr>
            <p:cNvPr id="27" name="Text Box 88"/>
            <p:cNvSpPr txBox="1">
              <a:spLocks noChangeArrowheads="1"/>
            </p:cNvSpPr>
            <p:nvPr/>
          </p:nvSpPr>
          <p:spPr bwMode="auto">
            <a:xfrm>
              <a:off x="4180315" y="3309697"/>
              <a:ext cx="421910" cy="230832"/>
            </a:xfrm>
            <a:prstGeom prst="rect">
              <a:avLst/>
            </a:prstGeom>
            <a:noFill/>
            <a:ln w="9525">
              <a:noFill/>
              <a:miter lim="800000"/>
              <a:headEnd/>
              <a:tailEnd/>
            </a:ln>
          </p:spPr>
          <p:txBody>
            <a:bodyPr wrap="none">
              <a:spAutoFit/>
            </a:bodyPr>
            <a:lstStyle/>
            <a:p>
              <a:pPr algn="ctr">
                <a:buFont typeface="Wingdings" pitchFamily="2" charset="2"/>
                <a:buNone/>
              </a:pPr>
              <a:r>
                <a:rPr lang="en-US" altLang="ko-KR" sz="900">
                  <a:solidFill>
                    <a:prstClr val="black"/>
                  </a:solidFill>
                  <a:latin typeface="Arial Narrow" panose="020B0606020202030204" pitchFamily="34" charset="0"/>
                  <a:ea typeface="LG스마트체 Regular" pitchFamily="50" charset="-127"/>
                  <a:cs typeface="Arial" pitchFamily="34" charset="0"/>
                </a:rPr>
                <a:t>07/20</a:t>
              </a:r>
              <a:endParaRPr lang="en-US" altLang="ko-KR" sz="900" dirty="0">
                <a:solidFill>
                  <a:prstClr val="black"/>
                </a:solidFill>
                <a:latin typeface="Arial Narrow" panose="020B0606020202030204" pitchFamily="34" charset="0"/>
                <a:ea typeface="LG스마트체 Regular" pitchFamily="50" charset="-127"/>
                <a:cs typeface="Arial" pitchFamily="34" charset="0"/>
              </a:endParaRPr>
            </a:p>
          </p:txBody>
        </p:sp>
        <p:sp>
          <p:nvSpPr>
            <p:cNvPr id="28" name="Text Box 89"/>
            <p:cNvSpPr txBox="1">
              <a:spLocks noChangeArrowheads="1"/>
            </p:cNvSpPr>
            <p:nvPr/>
          </p:nvSpPr>
          <p:spPr bwMode="auto">
            <a:xfrm>
              <a:off x="4841384" y="3309697"/>
              <a:ext cx="421910" cy="230832"/>
            </a:xfrm>
            <a:prstGeom prst="rect">
              <a:avLst/>
            </a:prstGeom>
            <a:noFill/>
            <a:ln w="9525">
              <a:noFill/>
              <a:miter lim="800000"/>
              <a:headEnd/>
              <a:tailEnd/>
            </a:ln>
          </p:spPr>
          <p:txBody>
            <a:bodyPr wrap="none">
              <a:spAutoFit/>
            </a:bodyPr>
            <a:lstStyle/>
            <a:p>
              <a:pPr algn="ctr">
                <a:buFont typeface="Wingdings" pitchFamily="2" charset="2"/>
                <a:buNone/>
              </a:pPr>
              <a:r>
                <a:rPr lang="en-US" altLang="ko-KR" sz="900">
                  <a:solidFill>
                    <a:prstClr val="black"/>
                  </a:solidFill>
                  <a:latin typeface="Arial Narrow" panose="020B0606020202030204" pitchFamily="34" charset="0"/>
                  <a:ea typeface="LG스마트체 Regular" pitchFamily="50" charset="-127"/>
                  <a:cs typeface="Arial" pitchFamily="34" charset="0"/>
                </a:rPr>
                <a:t>08/08</a:t>
              </a:r>
              <a:endParaRPr lang="en-US" altLang="ko-KR" sz="900" dirty="0">
                <a:solidFill>
                  <a:prstClr val="black"/>
                </a:solidFill>
                <a:latin typeface="Arial Narrow" panose="020B0606020202030204" pitchFamily="34" charset="0"/>
                <a:ea typeface="LG스마트체 Regular" pitchFamily="50" charset="-127"/>
                <a:cs typeface="Arial" pitchFamily="34" charset="0"/>
              </a:endParaRPr>
            </a:p>
          </p:txBody>
        </p:sp>
        <p:sp>
          <p:nvSpPr>
            <p:cNvPr id="29" name="Text Box 90"/>
            <p:cNvSpPr txBox="1">
              <a:spLocks noChangeArrowheads="1"/>
            </p:cNvSpPr>
            <p:nvPr/>
          </p:nvSpPr>
          <p:spPr bwMode="auto">
            <a:xfrm>
              <a:off x="5445028" y="3309697"/>
              <a:ext cx="421910" cy="230832"/>
            </a:xfrm>
            <a:prstGeom prst="rect">
              <a:avLst/>
            </a:prstGeom>
            <a:noFill/>
            <a:ln w="9525">
              <a:noFill/>
              <a:miter lim="800000"/>
              <a:headEnd/>
              <a:tailEnd/>
            </a:ln>
          </p:spPr>
          <p:txBody>
            <a:bodyPr wrap="none">
              <a:spAutoFit/>
            </a:bodyPr>
            <a:lstStyle/>
            <a:p>
              <a:pPr algn="ctr">
                <a:buFont typeface="Wingdings" pitchFamily="2" charset="2"/>
                <a:buNone/>
              </a:pPr>
              <a:r>
                <a:rPr lang="en-US" altLang="ko-KR" sz="900">
                  <a:solidFill>
                    <a:prstClr val="black"/>
                  </a:solidFill>
                  <a:latin typeface="Arial Narrow" panose="020B0606020202030204" pitchFamily="34" charset="0"/>
                  <a:ea typeface="LG스마트체 Regular" pitchFamily="50" charset="-127"/>
                  <a:cs typeface="Arial" pitchFamily="34" charset="0"/>
                </a:rPr>
                <a:t>08.30</a:t>
              </a:r>
              <a:endParaRPr lang="en-US" altLang="ko-KR" sz="900" dirty="0">
                <a:solidFill>
                  <a:prstClr val="black"/>
                </a:solidFill>
                <a:latin typeface="Arial Narrow" panose="020B0606020202030204" pitchFamily="34" charset="0"/>
                <a:ea typeface="LG스마트체 Regular" pitchFamily="50" charset="-127"/>
                <a:cs typeface="Arial" pitchFamily="34" charset="0"/>
              </a:endParaRPr>
            </a:p>
          </p:txBody>
        </p:sp>
        <p:sp>
          <p:nvSpPr>
            <p:cNvPr id="30" name="AutoShape 92"/>
            <p:cNvSpPr>
              <a:spLocks noChangeArrowheads="1"/>
            </p:cNvSpPr>
            <p:nvPr/>
          </p:nvSpPr>
          <p:spPr bwMode="auto">
            <a:xfrm>
              <a:off x="5055658" y="2996952"/>
              <a:ext cx="626004" cy="288925"/>
            </a:xfrm>
            <a:prstGeom prst="homePlate">
              <a:avLst>
                <a:gd name="adj" fmla="val 50000"/>
              </a:avLst>
            </a:prstGeom>
            <a:solidFill>
              <a:schemeClr val="bg1">
                <a:lumMod val="75000"/>
              </a:schemeClr>
            </a:solidFill>
            <a:ln w="9525">
              <a:solidFill>
                <a:schemeClr val="tx1"/>
              </a:solidFill>
              <a:miter lim="800000"/>
              <a:headEnd/>
              <a:tailEnd/>
            </a:ln>
          </p:spPr>
          <p:txBody>
            <a:bodyPr wrap="none" anchor="ctr"/>
            <a:lstStyle/>
            <a:p>
              <a:pPr algn="ctr">
                <a:buFont typeface="Wingdings" pitchFamily="2" charset="2"/>
                <a:buNone/>
              </a:pPr>
              <a:r>
                <a:rPr lang="en-US" altLang="ko-KR" sz="1200" dirty="0">
                  <a:solidFill>
                    <a:prstClr val="black"/>
                  </a:solidFill>
                  <a:latin typeface="Arial Narrow" panose="020B0606020202030204" pitchFamily="34" charset="0"/>
                  <a:ea typeface="LG스마트체 Regular" pitchFamily="50" charset="-127"/>
                  <a:cs typeface="Arial" pitchFamily="34" charset="0"/>
                </a:rPr>
                <a:t>I</a:t>
              </a:r>
            </a:p>
          </p:txBody>
        </p:sp>
        <p:sp>
          <p:nvSpPr>
            <p:cNvPr id="31" name="AutoShape 93"/>
            <p:cNvSpPr>
              <a:spLocks noChangeArrowheads="1"/>
            </p:cNvSpPr>
            <p:nvPr/>
          </p:nvSpPr>
          <p:spPr bwMode="auto">
            <a:xfrm>
              <a:off x="5679943" y="2996952"/>
              <a:ext cx="626004" cy="288925"/>
            </a:xfrm>
            <a:prstGeom prst="homePlate">
              <a:avLst>
                <a:gd name="adj" fmla="val 50000"/>
              </a:avLst>
            </a:prstGeom>
            <a:solidFill>
              <a:schemeClr val="bg1">
                <a:lumMod val="75000"/>
              </a:schemeClr>
            </a:solidFill>
            <a:ln w="9525">
              <a:solidFill>
                <a:schemeClr val="tx1"/>
              </a:solidFill>
              <a:miter lim="800000"/>
              <a:headEnd/>
              <a:tailEnd/>
            </a:ln>
          </p:spPr>
          <p:txBody>
            <a:bodyPr wrap="none" anchor="ctr"/>
            <a:lstStyle/>
            <a:p>
              <a:pPr algn="ctr">
                <a:buFont typeface="Wingdings" pitchFamily="2" charset="2"/>
                <a:buNone/>
              </a:pPr>
              <a:r>
                <a:rPr lang="en-US" altLang="ko-KR" sz="1200" dirty="0">
                  <a:solidFill>
                    <a:prstClr val="black"/>
                  </a:solidFill>
                  <a:latin typeface="Arial Narrow" panose="020B0606020202030204" pitchFamily="34" charset="0"/>
                  <a:ea typeface="LG스마트체 Regular" pitchFamily="50" charset="-127"/>
                  <a:cs typeface="Arial" pitchFamily="34" charset="0"/>
                </a:rPr>
                <a:t>C</a:t>
              </a:r>
            </a:p>
          </p:txBody>
        </p:sp>
        <p:sp>
          <p:nvSpPr>
            <p:cNvPr id="33" name="Text Box 90"/>
            <p:cNvSpPr txBox="1">
              <a:spLocks noChangeArrowheads="1"/>
            </p:cNvSpPr>
            <p:nvPr/>
          </p:nvSpPr>
          <p:spPr bwMode="auto">
            <a:xfrm>
              <a:off x="6067175" y="3306519"/>
              <a:ext cx="421910" cy="230832"/>
            </a:xfrm>
            <a:prstGeom prst="rect">
              <a:avLst/>
            </a:prstGeom>
            <a:noFill/>
            <a:ln w="9525">
              <a:noFill/>
              <a:miter lim="800000"/>
              <a:headEnd/>
              <a:tailEnd/>
            </a:ln>
          </p:spPr>
          <p:txBody>
            <a:bodyPr wrap="none">
              <a:spAutoFit/>
            </a:bodyPr>
            <a:lstStyle/>
            <a:p>
              <a:pPr algn="ctr">
                <a:buFont typeface="Wingdings" pitchFamily="2" charset="2"/>
                <a:buNone/>
              </a:pPr>
              <a:r>
                <a:rPr lang="en-US" altLang="ko-KR" sz="900">
                  <a:solidFill>
                    <a:prstClr val="black"/>
                  </a:solidFill>
                  <a:latin typeface="Arial Narrow" panose="020B0606020202030204" pitchFamily="34" charset="0"/>
                  <a:ea typeface="LG스마트체 Regular" pitchFamily="50" charset="-127"/>
                  <a:cs typeface="Arial" pitchFamily="34" charset="0"/>
                </a:rPr>
                <a:t>09/30</a:t>
              </a:r>
              <a:endParaRPr lang="en-US" altLang="ko-KR" sz="900" dirty="0">
                <a:solidFill>
                  <a:prstClr val="black"/>
                </a:solidFill>
                <a:latin typeface="Arial Narrow" panose="020B0606020202030204" pitchFamily="34" charset="0"/>
                <a:ea typeface="LG스마트체 Regular" pitchFamily="50" charset="-127"/>
                <a:cs typeface="Arial" pitchFamily="34" charset="0"/>
              </a:endParaRPr>
            </a:p>
          </p:txBody>
        </p:sp>
      </p:grpSp>
      <p:graphicFrame>
        <p:nvGraphicFramePr>
          <p:cNvPr id="35" name="Group 260"/>
          <p:cNvGraphicFramePr>
            <a:graphicFrameLocks noGrp="1"/>
          </p:cNvGraphicFramePr>
          <p:nvPr>
            <p:extLst>
              <p:ext uri="{D42A27DB-BD31-4B8C-83A1-F6EECF244321}">
                <p14:modId xmlns:p14="http://schemas.microsoft.com/office/powerpoint/2010/main" val="2188779455"/>
              </p:ext>
            </p:extLst>
          </p:nvPr>
        </p:nvGraphicFramePr>
        <p:xfrm>
          <a:off x="7096107" y="2950778"/>
          <a:ext cx="2735010" cy="1801554"/>
        </p:xfrm>
        <a:graphic>
          <a:graphicData uri="http://schemas.openxmlformats.org/drawingml/2006/table">
            <a:tbl>
              <a:tblPr/>
              <a:tblGrid>
                <a:gridCol w="866197">
                  <a:extLst>
                    <a:ext uri="{9D8B030D-6E8A-4147-A177-3AD203B41FA5}">
                      <a16:colId xmlns:a16="http://schemas.microsoft.com/office/drawing/2014/main" val="20000"/>
                    </a:ext>
                  </a:extLst>
                </a:gridCol>
                <a:gridCol w="1212676">
                  <a:extLst>
                    <a:ext uri="{9D8B030D-6E8A-4147-A177-3AD203B41FA5}">
                      <a16:colId xmlns:a16="http://schemas.microsoft.com/office/drawing/2014/main" val="20001"/>
                    </a:ext>
                  </a:extLst>
                </a:gridCol>
                <a:gridCol w="656137">
                  <a:extLst>
                    <a:ext uri="{9D8B030D-6E8A-4147-A177-3AD203B41FA5}">
                      <a16:colId xmlns:a16="http://schemas.microsoft.com/office/drawing/2014/main" val="20002"/>
                    </a:ext>
                  </a:extLst>
                </a:gridCol>
              </a:tblGrid>
              <a:tr h="248192">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1"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Category</a:t>
                      </a:r>
                      <a:endParaRPr kumimoji="1" lang="ko-KR" altLang="en-US" sz="8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1"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Name</a:t>
                      </a:r>
                      <a:endParaRPr kumimoji="1" lang="ko-KR" altLang="en-US" sz="8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1"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Role</a:t>
                      </a:r>
                      <a:endParaRPr kumimoji="1" lang="ko-KR" altLang="en-US" sz="8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25578">
                <a:tc rowSpan="4">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VS IVI SQA</a:t>
                      </a:r>
                      <a:endParaRPr kumimoji="1" lang="ko-KR" altLang="en-US"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Trinh Duc Hieu</a:t>
                      </a:r>
                      <a:endParaRPr kumimoji="1" lang="ko-KR"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Owner</a:t>
                      </a:r>
                      <a:endParaRPr kumimoji="1" lang="en-US"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7402">
                <a:tc vMerge="1">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en-US"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Pham Thi Cuc</a:t>
                      </a:r>
                      <a:endParaRPr kumimoji="1" lang="ko-KR"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vi-VN"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Supplier control</a:t>
                      </a:r>
                      <a:endParaRPr kumimoji="1" lang="en-US"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7402">
                <a:tc vMerge="1">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en-US"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Pham Ngoc Hung</a:t>
                      </a:r>
                      <a:endParaRPr kumimoji="1" lang="ko-KR"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vi-VN"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Line quality control</a:t>
                      </a:r>
                      <a:endParaRPr kumimoji="1" lang="en-US"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7402">
                <a:tc vMerge="1">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en-US"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vi-VN"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Le Hoang Long</a:t>
                      </a:r>
                      <a:endParaRPr kumimoji="1" lang="ko-KR"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vi-VN"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Local development</a:t>
                      </a:r>
                      <a:endParaRPr kumimoji="1" lang="en-US"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557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INA VINA</a:t>
                      </a:r>
                      <a:endParaRPr kumimoji="1" lang="ko-KR" altLang="en-US"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Nguyen Van Luc</a:t>
                      </a:r>
                      <a:endParaRPr kumimoji="1" lang="ko-KR"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vi-VN" altLang="ko-KR" sz="8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rPr>
                        <a:t>Supplier</a:t>
                      </a:r>
                      <a:endParaRPr kumimoji="1" lang="en-US" altLang="ko-KR" sz="8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endParaRPr>
                    </a:p>
                  </a:txBody>
                  <a:tcPr marL="36000" marR="36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 name="TextBox 2"/>
          <p:cNvSpPr txBox="1"/>
          <p:nvPr/>
        </p:nvSpPr>
        <p:spPr>
          <a:xfrm>
            <a:off x="2810257" y="2951012"/>
            <a:ext cx="1035861" cy="276999"/>
          </a:xfrm>
          <a:prstGeom prst="rect">
            <a:avLst/>
          </a:prstGeom>
          <a:noFill/>
        </p:spPr>
        <p:txBody>
          <a:bodyPr wrap="none" rtlCol="0">
            <a:spAutoFit/>
          </a:bodyPr>
          <a:lstStyle/>
          <a:p>
            <a:pPr marL="285750" indent="-285750">
              <a:buFont typeface="Wingdings" panose="05000000000000000000" pitchFamily="2" charset="2"/>
              <a:buChar char="q"/>
            </a:pPr>
            <a:r>
              <a:rPr lang="en-US" sz="1200" b="1">
                <a:latin typeface="Arial Narrow" panose="020B0606020202030204" pitchFamily="34" charset="0"/>
              </a:rPr>
              <a:t>Schedule</a:t>
            </a:r>
          </a:p>
        </p:txBody>
      </p:sp>
      <p:sp>
        <p:nvSpPr>
          <p:cNvPr id="22" name="TextBox 21"/>
          <p:cNvSpPr txBox="1"/>
          <p:nvPr/>
        </p:nvSpPr>
        <p:spPr>
          <a:xfrm>
            <a:off x="2810257" y="4304556"/>
            <a:ext cx="1943417" cy="276999"/>
          </a:xfrm>
          <a:prstGeom prst="rect">
            <a:avLst/>
          </a:prstGeom>
          <a:noFill/>
        </p:spPr>
        <p:txBody>
          <a:bodyPr wrap="none" rtlCol="0">
            <a:spAutoFit/>
          </a:bodyPr>
          <a:lstStyle/>
          <a:p>
            <a:pPr marL="285750" indent="-285750">
              <a:buFont typeface="Wingdings" panose="05000000000000000000" pitchFamily="2" charset="2"/>
              <a:buChar char="q"/>
            </a:pPr>
            <a:r>
              <a:rPr lang="en-US" sz="1200" b="1">
                <a:latin typeface="Arial Narrow" panose="020B0606020202030204" pitchFamily="34" charset="0"/>
              </a:rPr>
              <a:t>Key Activity and Out Put</a:t>
            </a:r>
          </a:p>
        </p:txBody>
      </p:sp>
      <p:sp>
        <p:nvSpPr>
          <p:cNvPr id="4" name="TextBox 3"/>
          <p:cNvSpPr txBox="1"/>
          <p:nvPr/>
        </p:nvSpPr>
        <p:spPr>
          <a:xfrm>
            <a:off x="93778" y="3611760"/>
            <a:ext cx="2316660" cy="415498"/>
          </a:xfrm>
          <a:prstGeom prst="rect">
            <a:avLst/>
          </a:prstGeom>
          <a:noFill/>
        </p:spPr>
        <p:txBody>
          <a:bodyPr wrap="none" rtlCol="0">
            <a:spAutoFit/>
          </a:bodyPr>
          <a:lstStyle/>
          <a:p>
            <a:r>
              <a:rPr lang="en-US" sz="1050" b="1">
                <a:solidFill>
                  <a:srgbClr val="00B050"/>
                </a:solidFill>
                <a:latin typeface="Arial Narrow" panose="020B0606020202030204" pitchFamily="34" charset="0"/>
              </a:rPr>
              <a:t>※ Claim cost ‘25. Sep: 56.7k$</a:t>
            </a:r>
          </a:p>
          <a:p>
            <a:r>
              <a:rPr lang="en-US" sz="1050" b="1">
                <a:solidFill>
                  <a:srgbClr val="00B050"/>
                </a:solidFill>
                <a:latin typeface="Arial Narrow" panose="020B0606020202030204" pitchFamily="34" charset="0"/>
              </a:rPr>
              <a:t>※ Scrap cost at supplier ‘25. Sep: 19k$</a:t>
            </a:r>
          </a:p>
        </p:txBody>
      </p:sp>
      <p:sp>
        <p:nvSpPr>
          <p:cNvPr id="36" name="직사각형 20">
            <a:extLst>
              <a:ext uri="{FF2B5EF4-FFF2-40B4-BE49-F238E27FC236}">
                <a16:creationId xmlns:a16="http://schemas.microsoft.com/office/drawing/2014/main" id="{D2F7E045-7875-4CC1-B64B-FCF013E6DD11}"/>
              </a:ext>
            </a:extLst>
          </p:cNvPr>
          <p:cNvSpPr>
            <a:spLocks noChangeArrowheads="1"/>
          </p:cNvSpPr>
          <p:nvPr/>
        </p:nvSpPr>
        <p:spPr bwMode="auto">
          <a:xfrm>
            <a:off x="5424239" y="71874"/>
            <a:ext cx="2131846" cy="553998"/>
          </a:xfrm>
          <a:prstGeom prst="rect">
            <a:avLst/>
          </a:prstGeom>
          <a:noFill/>
          <a:ln w="9525">
            <a:noFill/>
            <a:miter lim="800000"/>
            <a:headEnd/>
            <a:tailEnd/>
          </a:ln>
        </p:spPr>
        <p:txBody>
          <a:bodyPr wrap="square">
            <a:spAutoFit/>
          </a:bodyPr>
          <a:lstStyle/>
          <a:p>
            <a:pPr algn="just" defTabSz="912813"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charset="0"/>
              </a:rPr>
              <a:t>Task category</a:t>
            </a:r>
          </a:p>
          <a:p>
            <a:pPr algn="just" defTabSz="912813" eaLnBrk="0" latinLnBrk="0" hangingPunct="0"/>
            <a:r>
              <a:rPr lang="ko-KR" altLang="en-US" sz="1000" dirty="0">
                <a:solidFill>
                  <a:srgbClr val="000000"/>
                </a:solidFill>
                <a:latin typeface="Arial Narrow" panose="020B0606020202030204" pitchFamily="34" charset="0"/>
                <a:ea typeface="LG스마트체 Regular" panose="020B0600000101010101" pitchFamily="50" charset="-127"/>
                <a:cs typeface="Arial"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charset="0"/>
              </a:rPr>
              <a:t>HW      </a:t>
            </a:r>
            <a:r>
              <a:rPr lang="ko-KR" altLang="en-US" sz="1000" dirty="0">
                <a:solidFill>
                  <a:srgbClr val="000000"/>
                </a:solidFill>
                <a:latin typeface="Arial Narrow" panose="020B0606020202030204" pitchFamily="34" charset="0"/>
                <a:ea typeface="LG스마트체 Regular" panose="020B0600000101010101" pitchFamily="50" charset="-127"/>
                <a:cs typeface="Arial"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charset="0"/>
              </a:rPr>
              <a:t>SW</a:t>
            </a:r>
          </a:p>
          <a:p>
            <a:pPr algn="just" defTabSz="912813" eaLnBrk="0" hangingPunct="0"/>
            <a:r>
              <a:rPr lang="ko-KR" altLang="en-US" sz="1000" dirty="0">
                <a:solidFill>
                  <a:srgbClr val="000000"/>
                </a:solidFill>
                <a:latin typeface="Arial Narrow" panose="020B0606020202030204" pitchFamily="34" charset="0"/>
                <a:ea typeface="LG스마트체 Regular" panose="020B0600000101010101" pitchFamily="50" charset="-127"/>
                <a:cs typeface="Arial" charset="0"/>
              </a:rPr>
              <a:t>■ </a:t>
            </a:r>
            <a:r>
              <a:rPr lang="en-US" altLang="ko-KR" sz="1000" dirty="0" err="1">
                <a:solidFill>
                  <a:srgbClr val="000000"/>
                </a:solidFill>
                <a:latin typeface="Arial Narrow" panose="020B0606020202030204" pitchFamily="34" charset="0"/>
                <a:ea typeface="LG스마트체 Regular" panose="020B0600000101010101" pitchFamily="50" charset="-127"/>
                <a:cs typeface="Arial" charset="0"/>
              </a:rPr>
              <a:t>Mecha</a:t>
            </a:r>
            <a:r>
              <a:rPr lang="en-US" altLang="ko-KR" sz="1000" dirty="0">
                <a:solidFill>
                  <a:srgbClr val="000000"/>
                </a:solidFill>
                <a:latin typeface="Arial Narrow" panose="020B0606020202030204" pitchFamily="34" charset="0"/>
                <a:ea typeface="LG스마트체 Regular" panose="020B0600000101010101" pitchFamily="50" charset="-127"/>
                <a:cs typeface="Arial" charset="0"/>
              </a:rPr>
              <a:t> </a:t>
            </a:r>
            <a:r>
              <a:rPr lang="ko-KR" altLang="en-US" sz="1000" dirty="0">
                <a:solidFill>
                  <a:srgbClr val="000000"/>
                </a:solidFill>
                <a:latin typeface="Arial Narrow" panose="020B0606020202030204" pitchFamily="34" charset="0"/>
                <a:ea typeface="LG스마트체 Regular" panose="020B0600000101010101" pitchFamily="50" charset="-127"/>
                <a:cs typeface="Arial"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charset="0"/>
              </a:rPr>
              <a:t>Current job</a:t>
            </a:r>
          </a:p>
        </p:txBody>
      </p:sp>
      <p:pic>
        <p:nvPicPr>
          <p:cNvPr id="5" name="Picture 4"/>
          <p:cNvPicPr>
            <a:picLocks noChangeAspect="1"/>
          </p:cNvPicPr>
          <p:nvPr/>
        </p:nvPicPr>
        <p:blipFill>
          <a:blip r:embed="rId3"/>
          <a:stretch>
            <a:fillRect/>
          </a:stretch>
        </p:blipFill>
        <p:spPr>
          <a:xfrm>
            <a:off x="129733" y="4053747"/>
            <a:ext cx="2151627" cy="1501765"/>
          </a:xfrm>
          <a:prstGeom prst="rect">
            <a:avLst/>
          </a:prstGeom>
        </p:spPr>
      </p:pic>
      <p:sp>
        <p:nvSpPr>
          <p:cNvPr id="8" name="사각형: 둥근 모서리 7">
            <a:extLst>
              <a:ext uri="{FF2B5EF4-FFF2-40B4-BE49-F238E27FC236}">
                <a16:creationId xmlns:a16="http://schemas.microsoft.com/office/drawing/2014/main" id="{32E22FF8-E197-72DF-76B7-1C906CF33D50}"/>
              </a:ext>
            </a:extLst>
          </p:cNvPr>
          <p:cNvSpPr/>
          <p:nvPr/>
        </p:nvSpPr>
        <p:spPr>
          <a:xfrm>
            <a:off x="-4486840" y="1918590"/>
            <a:ext cx="4296275" cy="1593322"/>
          </a:xfrm>
          <a:prstGeom prst="roundRect">
            <a:avLst>
              <a:gd name="adj" fmla="val 10091"/>
            </a:avLst>
          </a:prstGeom>
          <a:solidFill>
            <a:srgbClr val="00A84C"/>
          </a:solidFill>
          <a:ln>
            <a:solidFill>
              <a:srgbClr val="009A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You’d better to make clear what KPI is and what</a:t>
            </a:r>
            <a:r>
              <a:rPr lang="ko-KR" altLang="en-US" sz="1200" dirty="0"/>
              <a:t> </a:t>
            </a:r>
            <a:r>
              <a:rPr lang="en-US" altLang="ko-KR" sz="1200" dirty="0"/>
              <a:t>Project</a:t>
            </a:r>
            <a:r>
              <a:rPr lang="ko-KR" altLang="en-US" sz="1200" dirty="0"/>
              <a:t> </a:t>
            </a:r>
            <a:r>
              <a:rPr lang="en-US" altLang="ko-KR" sz="1200" dirty="0"/>
              <a:t>Y</a:t>
            </a:r>
            <a:r>
              <a:rPr lang="ko-KR" altLang="en-US" sz="1200" dirty="0"/>
              <a:t> </a:t>
            </a:r>
            <a:r>
              <a:rPr lang="en-US" altLang="ko-KR" sz="1200" dirty="0"/>
              <a:t>is.</a:t>
            </a:r>
          </a:p>
          <a:p>
            <a:endParaRPr lang="en-US" altLang="ko-KR" sz="1200" dirty="0"/>
          </a:p>
          <a:p>
            <a:endParaRPr lang="en-US" altLang="ko-KR" sz="1200" dirty="0"/>
          </a:p>
          <a:p>
            <a:endParaRPr lang="en-US" altLang="ko-KR" sz="1200" dirty="0"/>
          </a:p>
          <a:p>
            <a:endParaRPr lang="en-US" altLang="ko-KR" sz="1200" dirty="0"/>
          </a:p>
        </p:txBody>
      </p:sp>
      <p:graphicFrame>
        <p:nvGraphicFramePr>
          <p:cNvPr id="12" name="표 11">
            <a:extLst>
              <a:ext uri="{FF2B5EF4-FFF2-40B4-BE49-F238E27FC236}">
                <a16:creationId xmlns:a16="http://schemas.microsoft.com/office/drawing/2014/main" id="{58652696-708C-E723-AAAA-802F1D7D2B39}"/>
              </a:ext>
            </a:extLst>
          </p:cNvPr>
          <p:cNvGraphicFramePr>
            <a:graphicFrameLocks noGrp="1"/>
          </p:cNvGraphicFramePr>
          <p:nvPr>
            <p:extLst>
              <p:ext uri="{D42A27DB-BD31-4B8C-83A1-F6EECF244321}">
                <p14:modId xmlns:p14="http://schemas.microsoft.com/office/powerpoint/2010/main" val="13682575"/>
              </p:ext>
            </p:extLst>
          </p:nvPr>
        </p:nvGraphicFramePr>
        <p:xfrm>
          <a:off x="-3841395" y="2580078"/>
          <a:ext cx="3002672" cy="871305"/>
        </p:xfrm>
        <a:graphic>
          <a:graphicData uri="http://schemas.openxmlformats.org/drawingml/2006/table">
            <a:tbl>
              <a:tblPr/>
              <a:tblGrid>
                <a:gridCol w="1063053">
                  <a:extLst>
                    <a:ext uri="{9D8B030D-6E8A-4147-A177-3AD203B41FA5}">
                      <a16:colId xmlns:a16="http://schemas.microsoft.com/office/drawing/2014/main" val="1499666421"/>
                    </a:ext>
                  </a:extLst>
                </a:gridCol>
                <a:gridCol w="1939619">
                  <a:extLst>
                    <a:ext uri="{9D8B030D-6E8A-4147-A177-3AD203B41FA5}">
                      <a16:colId xmlns:a16="http://schemas.microsoft.com/office/drawing/2014/main" val="2987290603"/>
                    </a:ext>
                  </a:extLst>
                </a:gridCol>
              </a:tblGrid>
              <a:tr h="276965">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1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rPr>
                        <a:t>Improvement Index</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3344065501"/>
                  </a:ext>
                </a:extLst>
              </a:tr>
              <a:tr h="297170">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rPr>
                        <a:t>KPI</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 Regular" pitchFamily="50" charset="-127"/>
                          <a:cs typeface="Arial" pitchFamily="34" charset="0"/>
                        </a:rPr>
                        <a:t>Ex) Total system defect</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2205370"/>
                  </a:ext>
                </a:extLst>
              </a:tr>
              <a:tr h="297170">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lang="en-US" altLang="ko-KR" sz="1000" b="0" dirty="0">
                          <a:solidFill>
                            <a:schemeClr val="tx1"/>
                          </a:solidFill>
                          <a:latin typeface="Arial Narrow" panose="020B0606020202030204" pitchFamily="34" charset="0"/>
                          <a:ea typeface="LG스마트체 Regular" panose="020B0600000101010101" pitchFamily="50" charset="-127"/>
                        </a:rPr>
                        <a:t>Project Y</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lang="en-US" altLang="ko-KR" sz="1000" dirty="0">
                          <a:solidFill>
                            <a:schemeClr val="tx1"/>
                          </a:solidFill>
                          <a:latin typeface="Arial Narrow" panose="020B0606020202030204" pitchFamily="34" charset="0"/>
                          <a:ea typeface="LG스마트체 Regular" panose="020B0600000101010101" pitchFamily="50" charset="-127"/>
                        </a:rPr>
                        <a:t>Ex) Certain Characteristic or dimension</a:t>
                      </a:r>
                    </a:p>
                  </a:txBody>
                  <a:tcPr marL="39000" marR="39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3895506"/>
                  </a:ext>
                </a:extLst>
              </a:tr>
            </a:tbl>
          </a:graphicData>
        </a:graphic>
      </p:graphicFrame>
      <p:sp>
        <p:nvSpPr>
          <p:cNvPr id="34" name="TextBox 33"/>
          <p:cNvSpPr txBox="1"/>
          <p:nvPr/>
        </p:nvSpPr>
        <p:spPr>
          <a:xfrm>
            <a:off x="-4486840" y="4175251"/>
            <a:ext cx="4207027" cy="738664"/>
          </a:xfrm>
          <a:prstGeom prst="rect">
            <a:avLst/>
          </a:prstGeom>
          <a:solidFill>
            <a:schemeClr val="accent2">
              <a:lumMod val="75000"/>
            </a:schemeClr>
          </a:solidFill>
        </p:spPr>
        <p:txBody>
          <a:bodyPr wrap="square" rtlCol="0">
            <a:spAutoFit/>
          </a:bodyPr>
          <a:lstStyle/>
          <a:p>
            <a:r>
              <a:rPr lang="en-US" sz="1050" b="1">
                <a:solidFill>
                  <a:schemeClr val="bg1"/>
                </a:solidFill>
              </a:rPr>
              <a:t>24th, Nov. Ken Park</a:t>
            </a:r>
            <a:br>
              <a:rPr lang="en-US" sz="1050">
                <a:solidFill>
                  <a:schemeClr val="bg1"/>
                </a:solidFill>
              </a:rPr>
            </a:br>
            <a:r>
              <a:rPr lang="en-US" sz="1050">
                <a:solidFill>
                  <a:schemeClr val="bg1"/>
                </a:solidFill>
              </a:rPr>
              <a:t>Well done to make clear KPI and Project Y.</a:t>
            </a:r>
            <a:br>
              <a:rPr lang="en-US" sz="1050">
                <a:solidFill>
                  <a:schemeClr val="bg1"/>
                </a:solidFill>
              </a:rPr>
            </a:br>
            <a:r>
              <a:rPr lang="en-US" sz="1050">
                <a:solidFill>
                  <a:schemeClr val="bg1"/>
                </a:solidFill>
              </a:rPr>
              <a:t>++ Additionally, you’d better add the current Z and Target Z of Project Y as a footnote.</a:t>
            </a:r>
            <a:endParaRPr lang="en-US" sz="1050">
              <a:solidFill>
                <a:schemeClr val="bg1"/>
              </a:solidFill>
              <a:latin typeface="Arial Narrow" panose="020B0606020202030204" pitchFamily="34" charset="0"/>
            </a:endParaRPr>
          </a:p>
        </p:txBody>
      </p:sp>
    </p:spTree>
    <p:extLst>
      <p:ext uri="{BB962C8B-B14F-4D97-AF65-F5344CB8AC3E}">
        <p14:creationId xmlns:p14="http://schemas.microsoft.com/office/powerpoint/2010/main" val="38315202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24084" y="2069156"/>
            <a:ext cx="1511952" cy="523220"/>
          </a:xfrm>
          <a:prstGeom prst="rect">
            <a:avLst/>
          </a:prstGeom>
          <a:noFill/>
        </p:spPr>
        <p:txBody>
          <a:bodyPr wrap="none" rtlCol="0">
            <a:spAutoFit/>
          </a:bodyPr>
          <a:lstStyle/>
          <a:p>
            <a:r>
              <a:rPr lang="en-US" sz="2800" b="1" u="sng">
                <a:latin typeface="Arial Narrow" panose="020B0606020202030204" pitchFamily="34" charset="0"/>
              </a:rPr>
              <a:t>I. DEFINE</a:t>
            </a:r>
          </a:p>
        </p:txBody>
      </p:sp>
      <p:sp>
        <p:nvSpPr>
          <p:cNvPr id="11" name="TextBox 10"/>
          <p:cNvSpPr txBox="1"/>
          <p:nvPr/>
        </p:nvSpPr>
        <p:spPr>
          <a:xfrm>
            <a:off x="3193824" y="2936530"/>
            <a:ext cx="3094117" cy="830997"/>
          </a:xfrm>
          <a:prstGeom prst="rect">
            <a:avLst/>
          </a:prstGeom>
          <a:noFill/>
        </p:spPr>
        <p:txBody>
          <a:bodyPr wrap="none" rtlCol="0">
            <a:spAutoFit/>
          </a:bodyPr>
          <a:lstStyle/>
          <a:p>
            <a:pPr marL="342900" indent="-342900">
              <a:buAutoNum type="arabicPeriod"/>
            </a:pPr>
            <a:r>
              <a:rPr lang="en-US" sz="1600" b="1">
                <a:latin typeface="Arial Narrow" panose="020B0606020202030204" pitchFamily="34" charset="0"/>
              </a:rPr>
              <a:t>Background of Theme Selection</a:t>
            </a:r>
          </a:p>
          <a:p>
            <a:pPr marL="342900" indent="-342900">
              <a:buAutoNum type="arabicPeriod"/>
            </a:pPr>
            <a:r>
              <a:rPr lang="en-US" sz="1600" b="1">
                <a:latin typeface="Arial Narrow" panose="020B0606020202030204" pitchFamily="34" charset="0"/>
              </a:rPr>
              <a:t>Big Y – Little y</a:t>
            </a:r>
          </a:p>
          <a:p>
            <a:pPr marL="342900" indent="-342900">
              <a:buAutoNum type="arabicPeriod"/>
            </a:pPr>
            <a:r>
              <a:rPr lang="en-US" sz="1600" b="1">
                <a:latin typeface="Arial Narrow" panose="020B0606020202030204" pitchFamily="34" charset="0"/>
              </a:rPr>
              <a:t>Select for project Y</a:t>
            </a:r>
          </a:p>
        </p:txBody>
      </p:sp>
    </p:spTree>
    <p:extLst>
      <p:ext uri="{BB962C8B-B14F-4D97-AF65-F5344CB8AC3E}">
        <p14:creationId xmlns:p14="http://schemas.microsoft.com/office/powerpoint/2010/main" val="3429799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29C2-0928-B0CA-A3E4-E15C3188AA2E}"/>
            </a:ext>
          </a:extLst>
        </p:cNvPr>
        <p:cNvGrpSpPr/>
        <p:nvPr/>
      </p:nvGrpSpPr>
      <p:grpSpPr>
        <a:xfrm>
          <a:off x="0" y="0"/>
          <a:ext cx="0" cy="0"/>
          <a:chOff x="0" y="0"/>
          <a:chExt cx="0" cy="0"/>
        </a:xfrm>
      </p:grpSpPr>
      <p:sp>
        <p:nvSpPr>
          <p:cNvPr id="4" name="Text Box 70">
            <a:extLst>
              <a:ext uri="{FF2B5EF4-FFF2-40B4-BE49-F238E27FC236}">
                <a16:creationId xmlns:a16="http://schemas.microsoft.com/office/drawing/2014/main" id="{617DD228-03EF-4827-92C4-284EC2CD5443}"/>
              </a:ext>
            </a:extLst>
          </p:cNvPr>
          <p:cNvSpPr txBox="1">
            <a:spLocks noChangeArrowheads="1"/>
          </p:cNvSpPr>
          <p:nvPr/>
        </p:nvSpPr>
        <p:spPr bwMode="auto">
          <a:xfrm>
            <a:off x="142639" y="618369"/>
            <a:ext cx="9535791" cy="1275340"/>
          </a:xfrm>
          <a:prstGeom prst="rect">
            <a:avLst/>
          </a:prstGeom>
          <a:noFill/>
          <a:ln w="3175" algn="ctr">
            <a:noFill/>
            <a:miter lim="800000"/>
            <a:headEnd/>
            <a:tailEnd/>
          </a:ln>
        </p:spPr>
        <p:txBody>
          <a:bodyPr wrap="square" lIns="74286" tIns="37143" rIns="74286" bIns="37143">
            <a:spAutoFit/>
          </a:bodyPr>
          <a:lstStyle/>
          <a:p>
            <a:pPr marL="285750" indent="-285750">
              <a:lnSpc>
                <a:spcPct val="150000"/>
              </a:lnSpc>
              <a:buFont typeface="Wingdings" panose="05000000000000000000" pitchFamily="2" charset="2"/>
              <a:buChar char="Ø"/>
            </a:pP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For the </a:t>
            </a:r>
            <a:r>
              <a:rPr lang="vi-VN" altLang="ko-KR" sz="1300">
                <a:solidFill>
                  <a:srgbClr val="000000"/>
                </a:solidFill>
                <a:latin typeface="Arial Narrow" panose="020B0606020202030204" pitchFamily="34" charset="0"/>
                <a:ea typeface="LG스마트체 Regular" panose="020B0600000101010101" pitchFamily="50" charset="-127"/>
                <a:cs typeface="Tahoma" pitchFamily="34" charset="0"/>
              </a:rPr>
              <a:t>GM Gen 11 model, </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a premium </a:t>
            </a:r>
            <a:r>
              <a:rPr lang="vi-VN" altLang="ko-KR" sz="1300">
                <a:solidFill>
                  <a:srgbClr val="000000"/>
                </a:solidFill>
                <a:latin typeface="Arial Narrow" panose="020B0606020202030204" pitchFamily="34" charset="0"/>
                <a:ea typeface="LG스마트체 Regular" panose="020B0600000101010101" pitchFamily="50" charset="-127"/>
                <a:cs typeface="Tahoma" pitchFamily="34" charset="0"/>
              </a:rPr>
              <a:t>model</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 </a:t>
            </a:r>
            <a:r>
              <a:rPr lang="en-US" altLang="ko-KR" sz="1300" dirty="0">
                <a:solidFill>
                  <a:srgbClr val="000000"/>
                </a:solidFill>
                <a:latin typeface="Arial Narrow" panose="020B0606020202030204" pitchFamily="34" charset="0"/>
                <a:ea typeface="LG스마트체 Regular" panose="020B0600000101010101" pitchFamily="50" charset="-127"/>
                <a:cs typeface="Tahoma" pitchFamily="34" charset="0"/>
              </a:rPr>
              <a:t>of our major </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client </a:t>
            </a:r>
            <a:r>
              <a:rPr lang="vi-VN" altLang="ko-KR" sz="1300">
                <a:solidFill>
                  <a:srgbClr val="000000"/>
                </a:solidFill>
                <a:latin typeface="Arial Narrow" panose="020B0606020202030204" pitchFamily="34" charset="0"/>
                <a:ea typeface="LG스마트체 Regular" panose="020B0600000101010101" pitchFamily="50" charset="-127"/>
                <a:cs typeface="Tahoma" pitchFamily="34" charset="0"/>
              </a:rPr>
              <a:t>General Motor</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 </a:t>
            </a:r>
            <a:r>
              <a:rPr lang="en-US" altLang="ko-KR" sz="1300" dirty="0">
                <a:solidFill>
                  <a:srgbClr val="000000"/>
                </a:solidFill>
                <a:latin typeface="Arial Narrow" panose="020B0606020202030204" pitchFamily="34" charset="0"/>
                <a:ea typeface="LG스마트체 Regular" panose="020B0600000101010101" pitchFamily="50" charset="-127"/>
                <a:cs typeface="Tahoma" pitchFamily="34" charset="0"/>
              </a:rPr>
              <a:t>Group, customer complaints and quality issues </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immediately </a:t>
            </a:r>
            <a:r>
              <a:rPr lang="vi-VN" altLang="ko-KR" sz="1300">
                <a:solidFill>
                  <a:srgbClr val="000000"/>
                </a:solidFill>
                <a:latin typeface="Arial Narrow" panose="020B0606020202030204" pitchFamily="34" charset="0"/>
                <a:ea typeface="LG스마트체 Regular" panose="020B0600000101010101" pitchFamily="50" charset="-127"/>
                <a:cs typeface="Tahoma" pitchFamily="34" charset="0"/>
              </a:rPr>
              <a:t>during</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 </a:t>
            </a:r>
            <a:r>
              <a:rPr lang="en-US" altLang="ko-KR" sz="1300" dirty="0">
                <a:solidFill>
                  <a:srgbClr val="000000"/>
                </a:solidFill>
                <a:latin typeface="Arial Narrow" panose="020B0606020202030204" pitchFamily="34" charset="0"/>
                <a:ea typeface="LG스마트체 Regular" panose="020B0600000101010101" pitchFamily="50" charset="-127"/>
                <a:cs typeface="Tahoma" pitchFamily="34" charset="0"/>
              </a:rPr>
              <a:t>to SOP have created risks </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of </a:t>
            </a:r>
            <a:r>
              <a:rPr lang="vi-VN" altLang="ko-KR" sz="1300">
                <a:solidFill>
                  <a:srgbClr val="000000"/>
                </a:solidFill>
                <a:latin typeface="Arial Narrow" panose="020B0606020202030204" pitchFamily="34" charset="0"/>
                <a:ea typeface="LG스마트체 Regular" panose="020B0600000101010101" pitchFamily="50" charset="-127"/>
                <a:cs typeface="Tahoma" pitchFamily="34" charset="0"/>
              </a:rPr>
              <a:t>stop line in Customer and lead to cost waste</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 </a:t>
            </a:r>
            <a:r>
              <a:rPr lang="en-US" altLang="ko-KR" sz="1300" dirty="0">
                <a:solidFill>
                  <a:srgbClr val="000000"/>
                </a:solidFill>
                <a:latin typeface="Arial Narrow" panose="020B0606020202030204" pitchFamily="34" charset="0"/>
                <a:ea typeface="LG스마트체 Regular" panose="020B0600000101010101" pitchFamily="50" charset="-127"/>
                <a:cs typeface="Tahoma" pitchFamily="34" charset="0"/>
              </a:rPr>
              <a:t>Furthermore</a:t>
            </a:r>
            <a:r>
              <a:rPr lang="en-US" altLang="ko-KR" sz="1300">
                <a:solidFill>
                  <a:srgbClr val="000000"/>
                </a:solidFill>
                <a:latin typeface="Arial Narrow" panose="020B0606020202030204" pitchFamily="34" charset="0"/>
                <a:ea typeface="LG스마트체 Regular" panose="020B0600000101010101" pitchFamily="50" charset="-127"/>
                <a:cs typeface="Tahoma" pitchFamily="34" charset="0"/>
              </a:rPr>
              <a:t>, </a:t>
            </a:r>
            <a:r>
              <a:rPr lang="vi-VN" altLang="ko-KR" sz="1300">
                <a:solidFill>
                  <a:srgbClr val="000000"/>
                </a:solidFill>
                <a:latin typeface="Arial Narrow" panose="020B0606020202030204" pitchFamily="34" charset="0"/>
                <a:ea typeface="LG스마트체 Regular" panose="020B0600000101010101" pitchFamily="50" charset="-127"/>
                <a:cs typeface="Tahoma" pitchFamily="34" charset="0"/>
              </a:rPr>
              <a:t>GM model </a:t>
            </a:r>
            <a:r>
              <a:rPr lang="en-US" sz="1300">
                <a:latin typeface="Arial Narrow" panose="020B0606020202030204" pitchFamily="34" charset="0"/>
              </a:rPr>
              <a:t>currently account for a large proportion of the plant’s total production volume. Therefore, any issue occurring at these customers could have a serious impact on</a:t>
            </a:r>
            <a:r>
              <a:rPr lang="vi-VN" sz="1300">
                <a:latin typeface="Arial Narrow" panose="020B0606020202030204" pitchFamily="34" charset="0"/>
              </a:rPr>
              <a:t> </a:t>
            </a:r>
            <a:r>
              <a:rPr lang="en-US" altLang="ko-KR" sz="1300">
                <a:solidFill>
                  <a:prstClr val="black"/>
                </a:solidFill>
                <a:latin typeface="Arial Narrow" panose="020B0606020202030204" pitchFamily="34" charset="0"/>
                <a:ea typeface="LG스마트체 Regular" panose="020B0600000101010101" pitchFamily="50" charset="-127"/>
                <a:cs typeface="Arial" pitchFamily="34" charset="0"/>
              </a:rPr>
              <a:t>damage to the company's c</a:t>
            </a:r>
            <a:r>
              <a:rPr lang="vi-VN" altLang="ko-KR" sz="1300">
                <a:solidFill>
                  <a:prstClr val="black"/>
                </a:solidFill>
                <a:latin typeface="Arial Narrow" panose="020B0606020202030204" pitchFamily="34" charset="0"/>
                <a:ea typeface="LG스마트체 Regular" panose="020B0600000101010101" pitchFamily="50" charset="-127"/>
                <a:cs typeface="Arial" pitchFamily="34" charset="0"/>
              </a:rPr>
              <a:t>redibility and </a:t>
            </a:r>
            <a:r>
              <a:rPr lang="en-US" sz="1300">
                <a:latin typeface="Arial Narrow" panose="020B0606020202030204" pitchFamily="34" charset="0"/>
              </a:rPr>
              <a:t> future plans.</a:t>
            </a:r>
            <a:endParaRPr lang="en-US" altLang="ko-KR" sz="1300" dirty="0">
              <a:solidFill>
                <a:srgbClr val="000000"/>
              </a:solidFill>
              <a:latin typeface="Arial Narrow" panose="020B0606020202030204" pitchFamily="34" charset="0"/>
              <a:ea typeface="LG스마트체 Regular" panose="020B0600000101010101" pitchFamily="50" charset="-127"/>
              <a:cs typeface="Tahoma" pitchFamily="34" charset="0"/>
            </a:endParaRPr>
          </a:p>
        </p:txBody>
      </p:sp>
      <p:sp>
        <p:nvSpPr>
          <p:cNvPr id="5" name="Text Box 3">
            <a:extLst>
              <a:ext uri="{FF2B5EF4-FFF2-40B4-BE49-F238E27FC236}">
                <a16:creationId xmlns:a16="http://schemas.microsoft.com/office/drawing/2014/main" id="{FA7E3BE5-3339-8BB5-E3BD-57A4EE1C50E9}"/>
              </a:ext>
            </a:extLst>
          </p:cNvPr>
          <p:cNvSpPr txBox="1">
            <a:spLocks noChangeArrowheads="1"/>
          </p:cNvSpPr>
          <p:nvPr/>
        </p:nvSpPr>
        <p:spPr bwMode="auto">
          <a:xfrm>
            <a:off x="73152" y="106624"/>
            <a:ext cx="6122382" cy="342401"/>
          </a:xfrm>
          <a:prstGeom prst="rect">
            <a:avLst/>
          </a:prstGeom>
          <a:solidFill>
            <a:schemeClr val="bg1"/>
          </a:solidFill>
          <a:ln w="9525">
            <a:noFill/>
            <a:miter lim="800000"/>
            <a:headEnd/>
            <a:tailEnd/>
          </a:ln>
        </p:spPr>
        <p:txBody>
          <a:bodyPr wrap="none">
            <a:spAutoFit/>
          </a:bodyPr>
          <a:lstStyle/>
          <a:p>
            <a:r>
              <a:rPr lang="ko-KR" altLang="en-US" sz="1625" b="1">
                <a:solidFill>
                  <a:srgbClr val="000000"/>
                </a:solidFill>
                <a:latin typeface="Arial Narrow" panose="020B0606020202030204" pitchFamily="34" charset="0"/>
                <a:ea typeface="LG스마트체 Regular" panose="020B0600000101010101" pitchFamily="50" charset="-127"/>
              </a:rPr>
              <a:t>Background for</a:t>
            </a:r>
            <a:r>
              <a:rPr lang="vi-VN" altLang="ko-KR" sz="1625" b="1">
                <a:solidFill>
                  <a:srgbClr val="000000"/>
                </a:solidFill>
                <a:latin typeface="Arial Narrow" panose="020B0606020202030204" pitchFamily="34" charset="0"/>
                <a:ea typeface="LG스마트체 Regular" panose="020B0600000101010101" pitchFamily="50" charset="-127"/>
              </a:rPr>
              <a:t> Project</a:t>
            </a:r>
            <a:r>
              <a:rPr lang="ko-KR" altLang="en-US" sz="1625" b="1">
                <a:solidFill>
                  <a:srgbClr val="000000"/>
                </a:solidFill>
                <a:latin typeface="Arial Narrow" panose="020B0606020202030204" pitchFamily="34" charset="0"/>
                <a:ea typeface="LG스마트체 Regular" panose="020B0600000101010101" pitchFamily="50" charset="-127"/>
              </a:rPr>
              <a:t> </a:t>
            </a:r>
            <a:r>
              <a:rPr lang="ko-KR" altLang="en-US" sz="1625" b="1" dirty="0">
                <a:solidFill>
                  <a:srgbClr val="000000"/>
                </a:solidFill>
                <a:latin typeface="Arial Narrow" panose="020B0606020202030204" pitchFamily="34" charset="0"/>
                <a:ea typeface="LG스마트체 Regular" panose="020B0600000101010101" pitchFamily="50" charset="-127"/>
              </a:rPr>
              <a:t>Selection_Environmental Analysis / Product Issue</a:t>
            </a:r>
            <a:endParaRPr lang="ko-KR" altLang="en-US" sz="1300" b="1" dirty="0">
              <a:solidFill>
                <a:srgbClr val="000000"/>
              </a:solidFill>
              <a:latin typeface="Arial Narrow" panose="020B0606020202030204" pitchFamily="34" charset="0"/>
              <a:ea typeface="LG스마트체 Regular" panose="020B0600000101010101" pitchFamily="50" charset="-127"/>
            </a:endParaRPr>
          </a:p>
        </p:txBody>
      </p:sp>
      <p:sp>
        <p:nvSpPr>
          <p:cNvPr id="13" name="Rectangle 2">
            <a:extLst>
              <a:ext uri="{FF2B5EF4-FFF2-40B4-BE49-F238E27FC236}">
                <a16:creationId xmlns:a16="http://schemas.microsoft.com/office/drawing/2014/main" id="{606A23F0-9EBF-658E-F985-3DCE00601539}"/>
              </a:ext>
            </a:extLst>
          </p:cNvPr>
          <p:cNvSpPr>
            <a:spLocks noChangeArrowheads="1"/>
          </p:cNvSpPr>
          <p:nvPr/>
        </p:nvSpPr>
        <p:spPr bwMode="auto">
          <a:xfrm>
            <a:off x="219785" y="1853455"/>
            <a:ext cx="9556457" cy="1898571"/>
          </a:xfrm>
          <a:prstGeom prst="rect">
            <a:avLst/>
          </a:prstGeom>
          <a:noFill/>
          <a:ln w="9525" algn="ctr">
            <a:noFill/>
            <a:miter lim="800000"/>
            <a:headEnd/>
            <a:tailEnd/>
          </a:ln>
        </p:spPr>
        <p:txBody>
          <a:bodyPr wrap="square" lIns="74270" tIns="37135" rIns="74270" bIns="37135" anchor="t" anchorCtr="0">
            <a:spAutoFit/>
          </a:bodyPr>
          <a:lstStyle/>
          <a:p>
            <a:pPr marL="285750" indent="-285750">
              <a:lnSpc>
                <a:spcPct val="150000"/>
              </a:lnSpc>
              <a:buFont typeface="Wingdings" panose="05000000000000000000" pitchFamily="2" charset="2"/>
              <a:buChar char="Ø"/>
            </a:pPr>
            <a:r>
              <a:rPr lang="en-US" sz="1300">
                <a:latin typeface="Arial Narrow" panose="020B0606020202030204" pitchFamily="34" charset="0"/>
              </a:rPr>
              <a:t>The GM Gen 11 model is one of the three key models, and LG is responsible for mass production for the customer GM (Gen 11, Gen 12, and GVM).</a:t>
            </a:r>
            <a:r>
              <a:rPr lang="vi-VN" sz="1300">
                <a:latin typeface="Arial Narrow" panose="020B0606020202030204" pitchFamily="34" charset="0"/>
              </a:rPr>
              <a:t> </a:t>
            </a:r>
            <a:r>
              <a:rPr lang="en-US" sz="1300">
                <a:latin typeface="Arial Narrow" panose="020B0606020202030204" pitchFamily="34" charset="0"/>
              </a:rPr>
              <a:t>During mass production, the customer identified a </a:t>
            </a:r>
            <a:r>
              <a:rPr lang="en-US" sz="1300" b="1">
                <a:latin typeface="Arial Narrow" panose="020B0606020202030204" pitchFamily="34" charset="0"/>
              </a:rPr>
              <a:t>noise issue</a:t>
            </a:r>
            <a:r>
              <a:rPr lang="en-US" sz="1300">
                <a:latin typeface="Arial Narrow" panose="020B0606020202030204" pitchFamily="34" charset="0"/>
              </a:rPr>
              <a:t> in the </a:t>
            </a:r>
            <a:r>
              <a:rPr lang="en-US" sz="1300" b="1">
                <a:latin typeface="Arial Narrow" panose="020B0606020202030204" pitchFamily="34" charset="0"/>
              </a:rPr>
              <a:t>Gen 11 model</a:t>
            </a:r>
            <a:r>
              <a:rPr lang="en-US" sz="1300">
                <a:latin typeface="Arial Narrow" panose="020B0606020202030204" pitchFamily="34" charset="0"/>
              </a:rPr>
              <a:t>. The customer received feedback from </a:t>
            </a:r>
            <a:r>
              <a:rPr lang="en-US" sz="1300" b="1">
                <a:latin typeface="Arial Narrow" panose="020B0606020202030204" pitchFamily="34" charset="0"/>
              </a:rPr>
              <a:t>end users</a:t>
            </a:r>
            <a:r>
              <a:rPr lang="en-US" sz="1300">
                <a:latin typeface="Arial Narrow" panose="020B0606020202030204" pitchFamily="34" charset="0"/>
              </a:rPr>
              <a:t> regarding </a:t>
            </a:r>
            <a:r>
              <a:rPr lang="en-US" sz="1300" b="1">
                <a:latin typeface="Arial Narrow" panose="020B0606020202030204" pitchFamily="34" charset="0"/>
              </a:rPr>
              <a:t>unpleasant </a:t>
            </a:r>
            <a:r>
              <a:rPr lang="vi-VN" sz="1300" b="1">
                <a:latin typeface="Arial Narrow" panose="020B0606020202030204" pitchFamily="34" charset="0"/>
              </a:rPr>
              <a:t>noise.</a:t>
            </a:r>
          </a:p>
          <a:p>
            <a:pPr marL="285750" indent="-285750">
              <a:lnSpc>
                <a:spcPct val="150000"/>
              </a:lnSpc>
              <a:buFont typeface="Wingdings" panose="05000000000000000000" pitchFamily="2" charset="2"/>
              <a:buChar char="Ø"/>
            </a:pPr>
            <a:r>
              <a:rPr lang="en-US" sz="1400">
                <a:latin typeface="Arial Narrow" panose="020B0606020202030204" pitchFamily="34" charset="0"/>
              </a:rPr>
              <a:t>The Gen 11 model has been in mass production for two years, and no similar issues </a:t>
            </a:r>
            <a:r>
              <a:rPr lang="vi-VN" sz="1400">
                <a:latin typeface="Arial Narrow" panose="020B0606020202030204" pitchFamily="34" charset="0"/>
              </a:rPr>
              <a:t>have occured</a:t>
            </a:r>
            <a:r>
              <a:rPr lang="vi-VN" sz="1400"/>
              <a:t>. </a:t>
            </a:r>
            <a:r>
              <a:rPr lang="en-US" sz="1300">
                <a:latin typeface="Arial Narrow" panose="020B0606020202030204" pitchFamily="34" charset="0"/>
              </a:rPr>
              <a:t>Due to these concerns from the customer, </a:t>
            </a:r>
            <a:r>
              <a:rPr lang="en-US" sz="1300" b="1">
                <a:latin typeface="Arial Narrow" panose="020B0606020202030204" pitchFamily="34" charset="0"/>
              </a:rPr>
              <a:t>LGEVH must immediately review the production process</a:t>
            </a:r>
            <a:r>
              <a:rPr lang="en-US" sz="1300">
                <a:latin typeface="Arial Narrow" panose="020B0606020202030204" pitchFamily="34" charset="0"/>
              </a:rPr>
              <a:t>, identify the </a:t>
            </a:r>
            <a:r>
              <a:rPr lang="en-US" sz="1300" b="1">
                <a:latin typeface="Arial Narrow" panose="020B0606020202030204" pitchFamily="34" charset="0"/>
              </a:rPr>
              <a:t>root cause of the defect</a:t>
            </a:r>
            <a:r>
              <a:rPr lang="en-US" sz="1300">
                <a:latin typeface="Arial Narrow" panose="020B0606020202030204" pitchFamily="34" charset="0"/>
              </a:rPr>
              <a:t>, and implement </a:t>
            </a:r>
            <a:r>
              <a:rPr lang="en-US" sz="1300" b="1">
                <a:latin typeface="Arial Narrow" panose="020B0606020202030204" pitchFamily="34" charset="0"/>
              </a:rPr>
              <a:t>improvement actions</a:t>
            </a:r>
            <a:r>
              <a:rPr lang="en-US" sz="1300">
                <a:latin typeface="Arial Narrow" panose="020B0606020202030204" pitchFamily="34" charset="0"/>
              </a:rPr>
              <a:t> to </a:t>
            </a:r>
            <a:r>
              <a:rPr lang="en-US" sz="1300" b="1">
                <a:latin typeface="Arial Narrow" panose="020B0606020202030204" pitchFamily="34" charset="0"/>
              </a:rPr>
              <a:t>ensure customer satisfaction</a:t>
            </a:r>
            <a:r>
              <a:rPr lang="en-US" sz="1300">
                <a:latin typeface="Arial Narrow" panose="020B0606020202030204" pitchFamily="34" charset="0"/>
              </a:rPr>
              <a:t>.</a:t>
            </a:r>
          </a:p>
        </p:txBody>
      </p:sp>
      <p:cxnSp>
        <p:nvCxnSpPr>
          <p:cNvPr id="16" name="Straight Connector 15"/>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7" name="그룹 2"/>
          <p:cNvGrpSpPr/>
          <p:nvPr/>
        </p:nvGrpSpPr>
        <p:grpSpPr>
          <a:xfrm>
            <a:off x="7348816" y="38312"/>
            <a:ext cx="2482234" cy="323850"/>
            <a:chOff x="7343591" y="116689"/>
            <a:chExt cx="2482234" cy="323850"/>
          </a:xfrm>
        </p:grpSpPr>
        <p:sp>
          <p:nvSpPr>
            <p:cNvPr id="18" name="AutoShape 5"/>
            <p:cNvSpPr>
              <a:spLocks noChangeArrowheads="1"/>
            </p:cNvSpPr>
            <p:nvPr/>
          </p:nvSpPr>
          <p:spPr bwMode="auto">
            <a:xfrm>
              <a:off x="7343591" y="116689"/>
              <a:ext cx="636587" cy="323850"/>
            </a:xfrm>
            <a:prstGeom prst="homePlate">
              <a:avLst>
                <a:gd name="adj" fmla="val 42440"/>
              </a:avLst>
            </a:prstGeom>
            <a:solidFill>
              <a:schemeClr val="bg1">
                <a:lumMod val="50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FFFFFF"/>
                  </a:solidFill>
                  <a:latin typeface="Arial Narrow" panose="020B0606020202030204" pitchFamily="34" charset="0"/>
                  <a:ea typeface="LG스마트체 Regular" panose="020B0600000101010101" pitchFamily="50" charset="-127"/>
                </a:rPr>
                <a:t>D</a:t>
              </a:r>
              <a:endParaRPr lang="ko-KR" altLang="ko-KR" sz="1200" b="1" dirty="0">
                <a:solidFill>
                  <a:srgbClr val="FFFFFF"/>
                </a:solidFill>
                <a:latin typeface="Arial Narrow" panose="020B0606020202030204" pitchFamily="34" charset="0"/>
                <a:ea typeface="LG스마트체 Regular" panose="020B0600000101010101" pitchFamily="50" charset="-127"/>
              </a:endParaRPr>
            </a:p>
          </p:txBody>
        </p:sp>
        <p:sp>
          <p:nvSpPr>
            <p:cNvPr id="19"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0"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1"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2" name="AutoShape 4"/>
            <p:cNvSpPr>
              <a:spLocks noChangeArrowheads="1"/>
            </p:cNvSpPr>
            <p:nvPr/>
          </p:nvSpPr>
          <p:spPr bwMode="auto">
            <a:xfrm>
              <a:off x="7980178" y="116689"/>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Tree>
    <p:extLst>
      <p:ext uri="{BB962C8B-B14F-4D97-AF65-F5344CB8AC3E}">
        <p14:creationId xmlns:p14="http://schemas.microsoft.com/office/powerpoint/2010/main" val="1644919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1107" y="550822"/>
            <a:ext cx="9157333" cy="461665"/>
          </a:xfrm>
          <a:prstGeom prst="rect">
            <a:avLst/>
          </a:prstGeom>
          <a:noFill/>
        </p:spPr>
        <p:txBody>
          <a:bodyPr wrap="square" rtlCol="0">
            <a:spAutoFit/>
          </a:bodyPr>
          <a:lstStyle/>
          <a:p>
            <a:r>
              <a:rPr lang="en-US" altLang="ko-KR" sz="1200" b="1">
                <a:solidFill>
                  <a:srgbClr val="00B050"/>
                </a:solidFill>
                <a:latin typeface="Arial Narrow" panose="020B0606020202030204" pitchFamily="34" charset="0"/>
                <a:ea typeface="LG스마트체 Regular" panose="020B0600000101010101" pitchFamily="50" charset="-127"/>
              </a:rPr>
              <a:t>※ </a:t>
            </a:r>
            <a:r>
              <a:rPr lang="vi-VN" altLang="ko-KR" sz="1200" b="1">
                <a:solidFill>
                  <a:srgbClr val="00B050"/>
                </a:solidFill>
                <a:latin typeface="Arial Narrow" panose="020B0606020202030204" pitchFamily="34" charset="0"/>
                <a:ea typeface="LG스마트체 Regular" panose="020B0600000101010101" pitchFamily="50" charset="-127"/>
              </a:rPr>
              <a:t>Phenomenon:</a:t>
            </a:r>
            <a:r>
              <a:rPr lang="en-US" sz="1200">
                <a:latin typeface="Arial Narrow" panose="020B0606020202030204" pitchFamily="34" charset="0"/>
              </a:rPr>
              <a:t>The screws have </a:t>
            </a:r>
            <a:r>
              <a:rPr lang="vi-VN" sz="1200">
                <a:latin typeface="Arial Narrow" panose="020B0606020202030204" pitchFamily="34" charset="0"/>
              </a:rPr>
              <a:t>been fixed</a:t>
            </a:r>
            <a:r>
              <a:rPr lang="en-US" sz="1200">
                <a:latin typeface="Arial Narrow" panose="020B0606020202030204" pitchFamily="34" charset="0"/>
              </a:rPr>
              <a:t> fully</a:t>
            </a:r>
            <a:r>
              <a:rPr lang="vi-VN" sz="1200">
                <a:latin typeface="Arial Narrow" panose="020B0606020202030204" pitchFamily="34" charset="0"/>
              </a:rPr>
              <a:t> and there is no gap between Main Case and Bottom Case</a:t>
            </a:r>
            <a:r>
              <a:rPr lang="en-US" sz="1200">
                <a:latin typeface="Arial Narrow" panose="020B0606020202030204" pitchFamily="34" charset="0"/>
              </a:rPr>
              <a:t> but when force is applied to the</a:t>
            </a:r>
            <a:r>
              <a:rPr lang="vi-VN" sz="1200">
                <a:latin typeface="Arial Narrow" panose="020B0606020202030204" pitchFamily="34" charset="0"/>
              </a:rPr>
              <a:t> PCB</a:t>
            </a:r>
            <a:r>
              <a:rPr lang="en-US" sz="1200">
                <a:latin typeface="Arial Narrow" panose="020B0606020202030204" pitchFamily="34" charset="0"/>
              </a:rPr>
              <a:t>, </a:t>
            </a:r>
            <a:r>
              <a:rPr lang="vi-VN" sz="1200">
                <a:latin typeface="Arial Narrow" panose="020B0606020202030204" pitchFamily="34" charset="0"/>
              </a:rPr>
              <a:t>it is not fixed lead to </a:t>
            </a:r>
            <a:r>
              <a:rPr lang="en-US" sz="1200">
                <a:latin typeface="Arial Narrow" panose="020B0606020202030204" pitchFamily="34" charset="0"/>
                <a:ea typeface="LG Smart_H Regular" panose="020B0600000101010101" pitchFamily="34" charset="-127"/>
                <a:cs typeface="Arial" panose="020B0604020202020204" pitchFamily="34" charset="0"/>
              </a:rPr>
              <a:t>In the assembly process on passenger car, there is abnormal noise </a:t>
            </a:r>
            <a:r>
              <a:rPr lang="vi-VN" sz="1200">
                <a:latin typeface="Arial Narrow" panose="020B0606020202030204" pitchFamily="34" charset="0"/>
                <a:ea typeface="LG Smart_H Regular" panose="020B0600000101010101" pitchFamily="34" charset="-127"/>
                <a:cs typeface="Arial" panose="020B0604020202020204" pitchFamily="34" charset="0"/>
              </a:rPr>
              <a:t>happened.</a:t>
            </a:r>
            <a:endParaRPr lang="en-US" sz="1200">
              <a:latin typeface="Arial Narrow" panose="020B0606020202030204" pitchFamily="34" charset="0"/>
              <a:ea typeface="LG Smart_H Regular" panose="020B0600000101010101" pitchFamily="34" charset="-127"/>
              <a:cs typeface="Arial" panose="020B0604020202020204" pitchFamily="34" charset="0"/>
            </a:endParaRPr>
          </a:p>
        </p:txBody>
      </p:sp>
      <p:sp>
        <p:nvSpPr>
          <p:cNvPr id="30" name="TextBox 29"/>
          <p:cNvSpPr txBox="1"/>
          <p:nvPr/>
        </p:nvSpPr>
        <p:spPr>
          <a:xfrm>
            <a:off x="73152" y="69580"/>
            <a:ext cx="2438424" cy="369332"/>
          </a:xfrm>
          <a:prstGeom prst="rect">
            <a:avLst/>
          </a:prstGeom>
          <a:noFill/>
        </p:spPr>
        <p:txBody>
          <a:bodyPr wrap="none" rtlCol="0">
            <a:spAutoFit/>
          </a:bodyPr>
          <a:lstStyle/>
          <a:p>
            <a:r>
              <a:rPr lang="en-US">
                <a:latin typeface="Arial Narrow" panose="020B0606020202030204" pitchFamily="34" charset="0"/>
              </a:rPr>
              <a:t>Analyze to select Project Y</a:t>
            </a:r>
          </a:p>
        </p:txBody>
      </p:sp>
      <p:pic>
        <p:nvPicPr>
          <p:cNvPr id="39" name="Picture 38"/>
          <p:cNvPicPr>
            <a:picLocks noChangeAspect="1"/>
          </p:cNvPicPr>
          <p:nvPr/>
        </p:nvPicPr>
        <p:blipFill>
          <a:blip r:embed="rId4"/>
          <a:stretch>
            <a:fillRect/>
          </a:stretch>
        </p:blipFill>
        <p:spPr>
          <a:xfrm>
            <a:off x="1302814" y="1307409"/>
            <a:ext cx="6461748" cy="5032044"/>
          </a:xfrm>
          <a:prstGeom prst="rect">
            <a:avLst/>
          </a:prstGeom>
        </p:spPr>
      </p:pic>
      <p:sp>
        <p:nvSpPr>
          <p:cNvPr id="40" name="Explosion 1 39"/>
          <p:cNvSpPr/>
          <p:nvPr/>
        </p:nvSpPr>
        <p:spPr>
          <a:xfrm>
            <a:off x="4801907" y="5463745"/>
            <a:ext cx="1091313" cy="875708"/>
          </a:xfrm>
          <a:prstGeom prst="irregularSeal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910BD25-945B-4259-933F-87497E5453F2}"/>
              </a:ext>
            </a:extLst>
          </p:cNvPr>
          <p:cNvSpPr txBox="1"/>
          <p:nvPr/>
        </p:nvSpPr>
        <p:spPr>
          <a:xfrm>
            <a:off x="5092445" y="5786183"/>
            <a:ext cx="510236" cy="230832"/>
          </a:xfrm>
          <a:prstGeom prst="rect">
            <a:avLst/>
          </a:prstGeom>
          <a:noFill/>
        </p:spPr>
        <p:txBody>
          <a:bodyPr wrap="square" rtlCol="0">
            <a:spAutoFit/>
          </a:bodyPr>
          <a:lstStyle/>
          <a:p>
            <a:pPr algn="ctr"/>
            <a:r>
              <a:rPr lang="en-US" sz="900" b="1">
                <a:solidFill>
                  <a:schemeClr val="accent2">
                    <a:lumMod val="50000"/>
                  </a:schemeClr>
                </a:solidFill>
                <a:latin typeface="Arial Narrow" panose="020B0606020202030204" pitchFamily="34" charset="0"/>
              </a:rPr>
              <a:t>Noise</a:t>
            </a:r>
          </a:p>
        </p:txBody>
      </p:sp>
      <p:cxnSp>
        <p:nvCxnSpPr>
          <p:cNvPr id="48" name="Straight Connector 47"/>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vid">
            <a:hlinkClick r:id="" action="ppaction://media"/>
            <a:extLst>
              <a:ext uri="{FF2B5EF4-FFF2-40B4-BE49-F238E27FC236}">
                <a16:creationId xmlns:a16="http://schemas.microsoft.com/office/drawing/2014/main" id="{77295259-A013-4104-AAD7-1A88D1BE52F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rot="16200000">
            <a:off x="7330927" y="4544340"/>
            <a:ext cx="1157810" cy="2432416"/>
          </a:xfrm>
          <a:prstGeom prst="rect">
            <a:avLst/>
          </a:prstGeom>
        </p:spPr>
      </p:pic>
      <p:sp>
        <p:nvSpPr>
          <p:cNvPr id="2" name="사각형: 둥근 모서리 1">
            <a:extLst>
              <a:ext uri="{FF2B5EF4-FFF2-40B4-BE49-F238E27FC236}">
                <a16:creationId xmlns:a16="http://schemas.microsoft.com/office/drawing/2014/main" id="{AFBB4D31-06B7-F284-26BA-4B00FE84EAAA}"/>
              </a:ext>
            </a:extLst>
          </p:cNvPr>
          <p:cNvSpPr/>
          <p:nvPr/>
        </p:nvSpPr>
        <p:spPr>
          <a:xfrm>
            <a:off x="11206294" y="1400641"/>
            <a:ext cx="2636706" cy="184369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Oh, there’s a reason why you select a certain dimension which I commented at page 4. </a:t>
            </a:r>
          </a:p>
          <a:p>
            <a:r>
              <a:rPr lang="en-US" altLang="ko-KR" sz="1200" dirty="0"/>
              <a:t>I think that this page 10 ~ 12 can go to define phase.</a:t>
            </a:r>
          </a:p>
        </p:txBody>
      </p:sp>
      <p:cxnSp>
        <p:nvCxnSpPr>
          <p:cNvPr id="4" name="직선 화살표 연결선 3">
            <a:extLst>
              <a:ext uri="{FF2B5EF4-FFF2-40B4-BE49-F238E27FC236}">
                <a16:creationId xmlns:a16="http://schemas.microsoft.com/office/drawing/2014/main" id="{24528F57-64D0-17EF-AADF-FB1C74D873D1}"/>
              </a:ext>
            </a:extLst>
          </p:cNvPr>
          <p:cNvCxnSpPr>
            <a:cxnSpLocks/>
            <a:stCxn id="2" idx="1"/>
          </p:cNvCxnSpPr>
          <p:nvPr/>
        </p:nvCxnSpPr>
        <p:spPr>
          <a:xfrm flipH="1" flipV="1">
            <a:off x="10097224" y="2179763"/>
            <a:ext cx="1109070" cy="14272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17" name="그룹 2"/>
          <p:cNvGrpSpPr/>
          <p:nvPr/>
        </p:nvGrpSpPr>
        <p:grpSpPr>
          <a:xfrm>
            <a:off x="7348816" y="38312"/>
            <a:ext cx="2482234" cy="323850"/>
            <a:chOff x="7343591" y="116689"/>
            <a:chExt cx="2482234" cy="323850"/>
          </a:xfrm>
        </p:grpSpPr>
        <p:sp>
          <p:nvSpPr>
            <p:cNvPr id="18" name="AutoShape 5"/>
            <p:cNvSpPr>
              <a:spLocks noChangeArrowheads="1"/>
            </p:cNvSpPr>
            <p:nvPr/>
          </p:nvSpPr>
          <p:spPr bwMode="auto">
            <a:xfrm>
              <a:off x="7343591" y="116689"/>
              <a:ext cx="636587" cy="323850"/>
            </a:xfrm>
            <a:prstGeom prst="homePlate">
              <a:avLst>
                <a:gd name="adj" fmla="val 42440"/>
              </a:avLst>
            </a:prstGeom>
            <a:solidFill>
              <a:schemeClr val="bg1">
                <a:lumMod val="50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FFFFFF"/>
                  </a:solidFill>
                  <a:latin typeface="Arial Narrow" panose="020B0606020202030204" pitchFamily="34" charset="0"/>
                  <a:ea typeface="LG스마트체 Regular" panose="020B0600000101010101" pitchFamily="50" charset="-127"/>
                </a:rPr>
                <a:t>D</a:t>
              </a:r>
              <a:endParaRPr lang="ko-KR" altLang="ko-KR" sz="1200" b="1" dirty="0">
                <a:solidFill>
                  <a:srgbClr val="FFFFFF"/>
                </a:solidFill>
                <a:latin typeface="Arial Narrow" panose="020B0606020202030204" pitchFamily="34" charset="0"/>
                <a:ea typeface="LG스마트체 Regular" panose="020B0600000101010101" pitchFamily="50" charset="-127"/>
              </a:endParaRPr>
            </a:p>
          </p:txBody>
        </p:sp>
        <p:sp>
          <p:nvSpPr>
            <p:cNvPr id="19"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0"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1"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2" name="AutoShape 4"/>
            <p:cNvSpPr>
              <a:spLocks noChangeArrowheads="1"/>
            </p:cNvSpPr>
            <p:nvPr/>
          </p:nvSpPr>
          <p:spPr bwMode="auto">
            <a:xfrm>
              <a:off x="7980178" y="116689"/>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5" name="Rectangle 4"/>
          <p:cNvSpPr/>
          <p:nvPr/>
        </p:nvSpPr>
        <p:spPr>
          <a:xfrm>
            <a:off x="4831813" y="3244334"/>
            <a:ext cx="242374" cy="369332"/>
          </a:xfrm>
          <a:prstGeom prst="rect">
            <a:avLst/>
          </a:prstGeom>
        </p:spPr>
        <p:txBody>
          <a:bodyPr wrap="none">
            <a:spAutoFit/>
          </a:bodyPr>
          <a:lstStyle/>
          <a:p>
            <a:r>
              <a:rPr lang="en-US">
                <a:solidFill>
                  <a:srgbClr val="000000"/>
                </a:solidFill>
                <a:latin typeface="Times New Roman" panose="02020603050405020304" pitchFamily="18" charset="0"/>
              </a:rPr>
              <a:t> </a:t>
            </a:r>
            <a:endParaRPr lang="en-US"/>
          </a:p>
        </p:txBody>
      </p:sp>
      <p:sp>
        <p:nvSpPr>
          <p:cNvPr id="23" name="TextBox 22"/>
          <p:cNvSpPr txBox="1"/>
          <p:nvPr/>
        </p:nvSpPr>
        <p:spPr>
          <a:xfrm>
            <a:off x="-4123115" y="3097064"/>
            <a:ext cx="3368529" cy="415498"/>
          </a:xfrm>
          <a:prstGeom prst="rect">
            <a:avLst/>
          </a:prstGeom>
          <a:solidFill>
            <a:schemeClr val="accent2">
              <a:lumMod val="75000"/>
            </a:schemeClr>
          </a:solidFill>
        </p:spPr>
        <p:txBody>
          <a:bodyPr wrap="square" rtlCol="0">
            <a:spAutoFit/>
          </a:bodyPr>
          <a:lstStyle/>
          <a:p>
            <a:r>
              <a:rPr lang="en-US" sz="1050" b="1">
                <a:solidFill>
                  <a:schemeClr val="bg1"/>
                </a:solidFill>
              </a:rPr>
              <a:t>24th, Nov. Ken Park</a:t>
            </a:r>
            <a:br>
              <a:rPr lang="en-US" sz="1050">
                <a:solidFill>
                  <a:schemeClr val="bg1"/>
                </a:solidFill>
              </a:rPr>
            </a:br>
            <a:r>
              <a:rPr lang="en-US" sz="1050">
                <a:solidFill>
                  <a:schemeClr val="bg1"/>
                </a:solidFill>
              </a:rPr>
              <a:t>Well done to make </a:t>
            </a:r>
            <a:r>
              <a:rPr lang="vi-VN" sz="1050">
                <a:solidFill>
                  <a:schemeClr val="bg1"/>
                </a:solidFill>
              </a:rPr>
              <a:t>good story to explain Project Y</a:t>
            </a:r>
            <a:endParaRPr lang="en-US" sz="1050">
              <a:solidFill>
                <a:schemeClr val="bg1"/>
              </a:solidFill>
              <a:latin typeface="Arial Narrow" panose="020B0606020202030204" pitchFamily="34" charset="0"/>
            </a:endParaRPr>
          </a:p>
        </p:txBody>
      </p:sp>
    </p:spTree>
    <p:extLst>
      <p:ext uri="{BB962C8B-B14F-4D97-AF65-F5344CB8AC3E}">
        <p14:creationId xmlns:p14="http://schemas.microsoft.com/office/powerpoint/2010/main" val="2288449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00"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9"/>
                                        </p:tgtEl>
                                      </p:cBhvr>
                                    </p:cmd>
                                  </p:childTnLst>
                                </p:cTn>
                              </p:par>
                            </p:childTnLst>
                          </p:cTn>
                        </p:par>
                      </p:childTnLst>
                    </p:cTn>
                  </p:par>
                </p:childTnLst>
              </p:cTn>
              <p:nextCondLst>
                <p:cond evt="onClick" delay="0">
                  <p:tgtEl>
                    <p:spTgt spid="49"/>
                  </p:tgtEl>
                </p:cond>
              </p:nextCondLst>
            </p:seq>
            <p:video>
              <p:cMediaNode vol="80000">
                <p:cTn id="12" fill="hold" display="0">
                  <p:stCondLst>
                    <p:cond delay="indefinite"/>
                  </p:stCondLst>
                </p:cTn>
                <p:tgtEl>
                  <p:spTgt spid="49"/>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73152" y="69580"/>
            <a:ext cx="2438424" cy="369332"/>
          </a:xfrm>
          <a:prstGeom prst="rect">
            <a:avLst/>
          </a:prstGeom>
          <a:noFill/>
        </p:spPr>
        <p:txBody>
          <a:bodyPr wrap="none" rtlCol="0">
            <a:spAutoFit/>
          </a:bodyPr>
          <a:lstStyle/>
          <a:p>
            <a:r>
              <a:rPr lang="en-US">
                <a:latin typeface="Arial Narrow" panose="020B0606020202030204" pitchFamily="34" charset="0"/>
              </a:rPr>
              <a:t>Analyze to select Project Y</a:t>
            </a:r>
          </a:p>
        </p:txBody>
      </p:sp>
      <p:grpSp>
        <p:nvGrpSpPr>
          <p:cNvPr id="70" name="Group 69"/>
          <p:cNvGrpSpPr/>
          <p:nvPr/>
        </p:nvGrpSpPr>
        <p:grpSpPr>
          <a:xfrm>
            <a:off x="5696905" y="731494"/>
            <a:ext cx="3646223" cy="3920030"/>
            <a:chOff x="310338" y="980366"/>
            <a:chExt cx="3646223" cy="3920030"/>
          </a:xfrm>
        </p:grpSpPr>
        <p:grpSp>
          <p:nvGrpSpPr>
            <p:cNvPr id="63" name="Group 62"/>
            <p:cNvGrpSpPr/>
            <p:nvPr/>
          </p:nvGrpSpPr>
          <p:grpSpPr>
            <a:xfrm>
              <a:off x="310338" y="1465387"/>
              <a:ext cx="3596099" cy="3435009"/>
              <a:chOff x="314064" y="755992"/>
              <a:chExt cx="3596099" cy="3435009"/>
            </a:xfrm>
          </p:grpSpPr>
          <p:pic>
            <p:nvPicPr>
              <p:cNvPr id="17" name="Picture 16"/>
              <p:cNvPicPr>
                <a:picLocks noChangeAspect="1"/>
              </p:cNvPicPr>
              <p:nvPr/>
            </p:nvPicPr>
            <p:blipFill>
              <a:blip r:embed="rId2"/>
              <a:stretch>
                <a:fillRect/>
              </a:stretch>
            </p:blipFill>
            <p:spPr>
              <a:xfrm>
                <a:off x="314064" y="1295888"/>
                <a:ext cx="3427356" cy="2669031"/>
              </a:xfrm>
              <a:prstGeom prst="rect">
                <a:avLst/>
              </a:prstGeom>
            </p:spPr>
          </p:pic>
          <p:cxnSp>
            <p:nvCxnSpPr>
              <p:cNvPr id="66" name="Straight Connector 65"/>
              <p:cNvCxnSpPr>
                <a:endCxn id="78" idx="0"/>
              </p:cNvCxnSpPr>
              <p:nvPr/>
            </p:nvCxnSpPr>
            <p:spPr>
              <a:xfrm flipV="1">
                <a:off x="3645827" y="755992"/>
                <a:ext cx="8117" cy="1762121"/>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1528791" y="1889109"/>
                <a:ext cx="2115267" cy="1705280"/>
              </a:xfrm>
              <a:prstGeom prst="line">
                <a:avLst/>
              </a:prstGeom>
              <a:ln w="9525">
                <a:solidFill>
                  <a:schemeClr val="accent4">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1525206" y="3906778"/>
                <a:ext cx="335715" cy="270647"/>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H="1" flipV="1">
                <a:off x="1516862" y="2481462"/>
                <a:ext cx="8345" cy="1709539"/>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a:endCxn id="78" idx="0"/>
              </p:cNvCxnSpPr>
              <p:nvPr/>
            </p:nvCxnSpPr>
            <p:spPr>
              <a:xfrm flipV="1">
                <a:off x="1518879" y="755992"/>
                <a:ext cx="2135065" cy="1725470"/>
              </a:xfrm>
              <a:prstGeom prst="line">
                <a:avLst/>
              </a:prstGeom>
            </p:spPr>
            <p:style>
              <a:lnRef idx="1">
                <a:schemeClr val="accent1"/>
              </a:lnRef>
              <a:fillRef idx="0">
                <a:schemeClr val="accent1"/>
              </a:fillRef>
              <a:effectRef idx="0">
                <a:schemeClr val="accent1"/>
              </a:effectRef>
              <a:fontRef idx="minor">
                <a:schemeClr val="tx1"/>
              </a:fontRef>
            </p:style>
          </p:cxnSp>
          <p:sp>
            <p:nvSpPr>
              <p:cNvPr id="60" name="Parallelogram 59"/>
              <p:cNvSpPr/>
              <p:nvPr/>
            </p:nvSpPr>
            <p:spPr>
              <a:xfrm rot="19284156">
                <a:off x="1253814" y="1705638"/>
                <a:ext cx="2656349" cy="526419"/>
              </a:xfrm>
              <a:prstGeom prst="parallelogram">
                <a:avLst>
                  <a:gd name="adj" fmla="val 3285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p:cNvSpPr/>
              <p:nvPr/>
            </p:nvSpPr>
            <p:spPr>
              <a:xfrm rot="19081045">
                <a:off x="1305057" y="2585335"/>
                <a:ext cx="441589" cy="495300"/>
              </a:xfrm>
              <a:prstGeom prst="triangle">
                <a:avLst>
                  <a:gd name="adj" fmla="val 10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Isosceles Triangle 77"/>
              <p:cNvSpPr/>
              <p:nvPr/>
            </p:nvSpPr>
            <p:spPr>
              <a:xfrm>
                <a:off x="2819094" y="755992"/>
                <a:ext cx="834850" cy="704907"/>
              </a:xfrm>
              <a:prstGeom prst="triangle">
                <a:avLst>
                  <a:gd name="adj" fmla="val 10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9" name="Straight Arrow Connector 68"/>
            <p:cNvCxnSpPr/>
            <p:nvPr/>
          </p:nvCxnSpPr>
          <p:spPr>
            <a:xfrm>
              <a:off x="3947160" y="980366"/>
              <a:ext cx="9401" cy="1021273"/>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38" name="Picture 37"/>
          <p:cNvPicPr>
            <a:picLocks noChangeAspect="1"/>
          </p:cNvPicPr>
          <p:nvPr/>
        </p:nvPicPr>
        <p:blipFill>
          <a:blip r:embed="rId3"/>
          <a:stretch>
            <a:fillRect/>
          </a:stretch>
        </p:blipFill>
        <p:spPr>
          <a:xfrm>
            <a:off x="409553" y="1471437"/>
            <a:ext cx="3483790" cy="4007497"/>
          </a:xfrm>
          <a:prstGeom prst="rect">
            <a:avLst/>
          </a:prstGeom>
        </p:spPr>
      </p:pic>
      <p:grpSp>
        <p:nvGrpSpPr>
          <p:cNvPr id="25" name="Group 24"/>
          <p:cNvGrpSpPr/>
          <p:nvPr/>
        </p:nvGrpSpPr>
        <p:grpSpPr>
          <a:xfrm>
            <a:off x="5095898" y="5278813"/>
            <a:ext cx="4562839" cy="1368095"/>
            <a:chOff x="4922520" y="1021080"/>
            <a:chExt cx="4562839" cy="1368095"/>
          </a:xfrm>
        </p:grpSpPr>
        <p:pic>
          <p:nvPicPr>
            <p:cNvPr id="26" name="Picture 25"/>
            <p:cNvPicPr>
              <a:picLocks noChangeAspect="1"/>
            </p:cNvPicPr>
            <p:nvPr/>
          </p:nvPicPr>
          <p:blipFill>
            <a:blip r:embed="rId4"/>
            <a:stretch>
              <a:fillRect/>
            </a:stretch>
          </p:blipFill>
          <p:spPr>
            <a:xfrm>
              <a:off x="4996161" y="1130324"/>
              <a:ext cx="4372580" cy="1258851"/>
            </a:xfrm>
            <a:prstGeom prst="rect">
              <a:avLst/>
            </a:prstGeom>
          </p:spPr>
        </p:pic>
        <p:sp>
          <p:nvSpPr>
            <p:cNvPr id="27" name="Rectangle 26"/>
            <p:cNvSpPr/>
            <p:nvPr/>
          </p:nvSpPr>
          <p:spPr>
            <a:xfrm>
              <a:off x="4922520" y="1021080"/>
              <a:ext cx="777240" cy="708660"/>
            </a:xfrm>
            <a:prstGeom prst="rect">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8708119" y="1021080"/>
              <a:ext cx="777240" cy="708660"/>
            </a:xfrm>
            <a:prstGeom prst="rect">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9" name="Straight Connector 28"/>
          <p:cNvCxnSpPr/>
          <p:nvPr/>
        </p:nvCxnSpPr>
        <p:spPr>
          <a:xfrm>
            <a:off x="5218119" y="845985"/>
            <a:ext cx="3674534" cy="0"/>
          </a:xfrm>
          <a:prstGeom prst="line">
            <a:avLst/>
          </a:prstGeom>
          <a:ln w="12700"/>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5472203" y="568986"/>
            <a:ext cx="3105337" cy="276999"/>
          </a:xfrm>
          <a:prstGeom prst="rect">
            <a:avLst/>
          </a:prstGeom>
          <a:noFill/>
        </p:spPr>
        <p:txBody>
          <a:bodyPr wrap="none" rtlCol="0">
            <a:spAutoFit/>
          </a:bodyPr>
          <a:lstStyle/>
          <a:p>
            <a:r>
              <a:rPr lang="en-US" sz="1200" b="1">
                <a:latin typeface="Arial Narrow" panose="020B0606020202030204" pitchFamily="34" charset="0"/>
              </a:rPr>
              <a:t>Create a cross-section through the hold position</a:t>
            </a:r>
          </a:p>
        </p:txBody>
      </p:sp>
      <p:cxnSp>
        <p:nvCxnSpPr>
          <p:cNvPr id="32" name="Straight Connector 31"/>
          <p:cNvCxnSpPr/>
          <p:nvPr/>
        </p:nvCxnSpPr>
        <p:spPr>
          <a:xfrm>
            <a:off x="469357" y="851557"/>
            <a:ext cx="3674534" cy="0"/>
          </a:xfrm>
          <a:prstGeom prst="line">
            <a:avLst/>
          </a:prstGeom>
          <a:ln w="12700"/>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723441" y="574558"/>
            <a:ext cx="3296095" cy="276999"/>
          </a:xfrm>
          <a:prstGeom prst="rect">
            <a:avLst/>
          </a:prstGeom>
          <a:noFill/>
        </p:spPr>
        <p:txBody>
          <a:bodyPr wrap="none" rtlCol="0">
            <a:spAutoFit/>
          </a:bodyPr>
          <a:lstStyle/>
          <a:p>
            <a:r>
              <a:rPr lang="en-US" sz="1200" b="1">
                <a:latin typeface="Arial Narrow" panose="020B0606020202030204" pitchFamily="34" charset="0"/>
              </a:rPr>
              <a:t>Conduct disassembly to identify the related factors</a:t>
            </a:r>
          </a:p>
        </p:txBody>
      </p:sp>
      <p:sp>
        <p:nvSpPr>
          <p:cNvPr id="34" name="Isosceles Triangle 33"/>
          <p:cNvSpPr/>
          <p:nvPr/>
        </p:nvSpPr>
        <p:spPr>
          <a:xfrm rot="10800000">
            <a:off x="5252923" y="4767880"/>
            <a:ext cx="4090205" cy="381000"/>
          </a:xfrm>
          <a:prstGeom prst="triangle">
            <a:avLst/>
          </a:prstGeom>
          <a:gradFill>
            <a:gsLst>
              <a:gs pos="0">
                <a:schemeClr val="bg1">
                  <a:lumMod val="95000"/>
                </a:schemeClr>
              </a:gs>
              <a:gs pos="74000">
                <a:schemeClr val="bg1">
                  <a:lumMod val="75000"/>
                </a:schemeClr>
              </a:gs>
              <a:gs pos="83000">
                <a:schemeClr val="bg1">
                  <a:lumMod val="65000"/>
                </a:schemeClr>
              </a:gs>
              <a:gs pos="100000">
                <a:schemeClr val="bg1">
                  <a:lumMod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p:cNvCxnSpPr/>
          <p:nvPr/>
        </p:nvCxnSpPr>
        <p:spPr>
          <a:xfrm>
            <a:off x="4676503" y="1274935"/>
            <a:ext cx="0" cy="4826998"/>
          </a:xfrm>
          <a:prstGeom prst="line">
            <a:avLst/>
          </a:prstGeom>
          <a:ln w="12700">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37" name="Straight Connector 36"/>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6" name="그룹 2"/>
          <p:cNvGrpSpPr/>
          <p:nvPr/>
        </p:nvGrpSpPr>
        <p:grpSpPr>
          <a:xfrm>
            <a:off x="7348816" y="38312"/>
            <a:ext cx="2482234" cy="323850"/>
            <a:chOff x="7343591" y="116689"/>
            <a:chExt cx="2482234" cy="323850"/>
          </a:xfrm>
        </p:grpSpPr>
        <p:sp>
          <p:nvSpPr>
            <p:cNvPr id="45" name="AutoShape 5"/>
            <p:cNvSpPr>
              <a:spLocks noChangeArrowheads="1"/>
            </p:cNvSpPr>
            <p:nvPr/>
          </p:nvSpPr>
          <p:spPr bwMode="auto">
            <a:xfrm>
              <a:off x="7343591" y="116689"/>
              <a:ext cx="636587" cy="323850"/>
            </a:xfrm>
            <a:prstGeom prst="homePlate">
              <a:avLst>
                <a:gd name="adj" fmla="val 42440"/>
              </a:avLst>
            </a:prstGeom>
            <a:solidFill>
              <a:schemeClr val="bg1">
                <a:lumMod val="50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FFFFFF"/>
                  </a:solidFill>
                  <a:latin typeface="Arial Narrow" panose="020B0606020202030204" pitchFamily="34" charset="0"/>
                  <a:ea typeface="LG스마트체 Regular" panose="020B0600000101010101" pitchFamily="50" charset="-127"/>
                </a:rPr>
                <a:t>D</a:t>
              </a:r>
              <a:endParaRPr lang="ko-KR" altLang="ko-KR" sz="1200" b="1" dirty="0">
                <a:solidFill>
                  <a:srgbClr val="FFFFFF"/>
                </a:solidFill>
                <a:latin typeface="Arial Narrow" panose="020B0606020202030204" pitchFamily="34" charset="0"/>
                <a:ea typeface="LG스마트체 Regular" panose="020B0600000101010101" pitchFamily="50" charset="-127"/>
              </a:endParaRPr>
            </a:p>
          </p:txBody>
        </p:sp>
        <p:sp>
          <p:nvSpPr>
            <p:cNvPr id="46"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47"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48"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49" name="AutoShape 4"/>
            <p:cNvSpPr>
              <a:spLocks noChangeArrowheads="1"/>
            </p:cNvSpPr>
            <p:nvPr/>
          </p:nvSpPr>
          <p:spPr bwMode="auto">
            <a:xfrm>
              <a:off x="7980178" y="116689"/>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Tree>
    <p:extLst>
      <p:ext uri="{BB962C8B-B14F-4D97-AF65-F5344CB8AC3E}">
        <p14:creationId xmlns:p14="http://schemas.microsoft.com/office/powerpoint/2010/main" val="588128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73152" y="69580"/>
            <a:ext cx="2438424" cy="369332"/>
          </a:xfrm>
          <a:prstGeom prst="rect">
            <a:avLst/>
          </a:prstGeom>
          <a:noFill/>
        </p:spPr>
        <p:txBody>
          <a:bodyPr wrap="none" rtlCol="0">
            <a:spAutoFit/>
          </a:bodyPr>
          <a:lstStyle/>
          <a:p>
            <a:r>
              <a:rPr lang="en-US">
                <a:latin typeface="Arial Narrow" panose="020B0606020202030204" pitchFamily="34" charset="0"/>
              </a:rPr>
              <a:t>Analyze to select Project Y</a:t>
            </a:r>
          </a:p>
        </p:txBody>
      </p:sp>
      <p:grpSp>
        <p:nvGrpSpPr>
          <p:cNvPr id="70" name="Group 69"/>
          <p:cNvGrpSpPr/>
          <p:nvPr/>
        </p:nvGrpSpPr>
        <p:grpSpPr>
          <a:xfrm>
            <a:off x="280355" y="1614450"/>
            <a:ext cx="3646223" cy="3920030"/>
            <a:chOff x="310338" y="980366"/>
            <a:chExt cx="3646223" cy="3920030"/>
          </a:xfrm>
        </p:grpSpPr>
        <p:grpSp>
          <p:nvGrpSpPr>
            <p:cNvPr id="63" name="Group 62"/>
            <p:cNvGrpSpPr/>
            <p:nvPr/>
          </p:nvGrpSpPr>
          <p:grpSpPr>
            <a:xfrm>
              <a:off x="310338" y="1465387"/>
              <a:ext cx="3596099" cy="3435009"/>
              <a:chOff x="314064" y="755992"/>
              <a:chExt cx="3596099" cy="3435009"/>
            </a:xfrm>
          </p:grpSpPr>
          <p:pic>
            <p:nvPicPr>
              <p:cNvPr id="17" name="Picture 16"/>
              <p:cNvPicPr>
                <a:picLocks noChangeAspect="1"/>
              </p:cNvPicPr>
              <p:nvPr/>
            </p:nvPicPr>
            <p:blipFill>
              <a:blip r:embed="rId2"/>
              <a:stretch>
                <a:fillRect/>
              </a:stretch>
            </p:blipFill>
            <p:spPr>
              <a:xfrm>
                <a:off x="314064" y="1295888"/>
                <a:ext cx="3427356" cy="2669031"/>
              </a:xfrm>
              <a:prstGeom prst="rect">
                <a:avLst/>
              </a:prstGeom>
            </p:spPr>
          </p:pic>
          <p:cxnSp>
            <p:nvCxnSpPr>
              <p:cNvPr id="66" name="Straight Connector 65"/>
              <p:cNvCxnSpPr>
                <a:endCxn id="78" idx="0"/>
              </p:cNvCxnSpPr>
              <p:nvPr/>
            </p:nvCxnSpPr>
            <p:spPr>
              <a:xfrm flipV="1">
                <a:off x="3645827" y="755992"/>
                <a:ext cx="8117" cy="1762121"/>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1528791" y="1889109"/>
                <a:ext cx="2115267" cy="1705280"/>
              </a:xfrm>
              <a:prstGeom prst="line">
                <a:avLst/>
              </a:prstGeom>
              <a:ln w="9525">
                <a:solidFill>
                  <a:schemeClr val="accent4">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1525206" y="3906778"/>
                <a:ext cx="335715" cy="270647"/>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H="1" flipV="1">
                <a:off x="1516862" y="2481462"/>
                <a:ext cx="8345" cy="1709539"/>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a:endCxn id="78" idx="0"/>
              </p:cNvCxnSpPr>
              <p:nvPr/>
            </p:nvCxnSpPr>
            <p:spPr>
              <a:xfrm flipV="1">
                <a:off x="1518879" y="755992"/>
                <a:ext cx="2135065" cy="1725470"/>
              </a:xfrm>
              <a:prstGeom prst="line">
                <a:avLst/>
              </a:prstGeom>
            </p:spPr>
            <p:style>
              <a:lnRef idx="1">
                <a:schemeClr val="accent1"/>
              </a:lnRef>
              <a:fillRef idx="0">
                <a:schemeClr val="accent1"/>
              </a:fillRef>
              <a:effectRef idx="0">
                <a:schemeClr val="accent1"/>
              </a:effectRef>
              <a:fontRef idx="minor">
                <a:schemeClr val="tx1"/>
              </a:fontRef>
            </p:style>
          </p:cxnSp>
          <p:sp>
            <p:nvSpPr>
              <p:cNvPr id="60" name="Parallelogram 59"/>
              <p:cNvSpPr/>
              <p:nvPr/>
            </p:nvSpPr>
            <p:spPr>
              <a:xfrm rot="19284156">
                <a:off x="1253814" y="1705638"/>
                <a:ext cx="2656349" cy="526419"/>
              </a:xfrm>
              <a:prstGeom prst="parallelogram">
                <a:avLst>
                  <a:gd name="adj" fmla="val 3285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p:cNvSpPr/>
              <p:nvPr/>
            </p:nvSpPr>
            <p:spPr>
              <a:xfrm rot="19081045">
                <a:off x="1305057" y="2585335"/>
                <a:ext cx="441589" cy="495300"/>
              </a:xfrm>
              <a:prstGeom prst="triangle">
                <a:avLst>
                  <a:gd name="adj" fmla="val 10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Isosceles Triangle 77"/>
              <p:cNvSpPr/>
              <p:nvPr/>
            </p:nvSpPr>
            <p:spPr>
              <a:xfrm>
                <a:off x="2819094" y="755992"/>
                <a:ext cx="834850" cy="704907"/>
              </a:xfrm>
              <a:prstGeom prst="triangle">
                <a:avLst>
                  <a:gd name="adj" fmla="val 10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9" name="Straight Arrow Connector 68"/>
            <p:cNvCxnSpPr/>
            <p:nvPr/>
          </p:nvCxnSpPr>
          <p:spPr>
            <a:xfrm>
              <a:off x="3947160" y="980366"/>
              <a:ext cx="9401" cy="1021273"/>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5123340" y="1578658"/>
            <a:ext cx="4446221" cy="1368095"/>
            <a:chOff x="4922520" y="1021080"/>
            <a:chExt cx="4446221" cy="1368095"/>
          </a:xfrm>
        </p:grpSpPr>
        <p:pic>
          <p:nvPicPr>
            <p:cNvPr id="26" name="Picture 25"/>
            <p:cNvPicPr>
              <a:picLocks noChangeAspect="1"/>
            </p:cNvPicPr>
            <p:nvPr/>
          </p:nvPicPr>
          <p:blipFill>
            <a:blip r:embed="rId3"/>
            <a:stretch>
              <a:fillRect/>
            </a:stretch>
          </p:blipFill>
          <p:spPr>
            <a:xfrm>
              <a:off x="4996161" y="1130324"/>
              <a:ext cx="4372580" cy="1258851"/>
            </a:xfrm>
            <a:prstGeom prst="rect">
              <a:avLst/>
            </a:prstGeom>
          </p:spPr>
        </p:pic>
        <p:sp>
          <p:nvSpPr>
            <p:cNvPr id="27" name="Rectangle 26"/>
            <p:cNvSpPr/>
            <p:nvPr/>
          </p:nvSpPr>
          <p:spPr>
            <a:xfrm>
              <a:off x="4922520" y="1021080"/>
              <a:ext cx="777240" cy="708660"/>
            </a:xfrm>
            <a:prstGeom prst="rect">
              <a:avLst/>
            </a:prstGeom>
            <a:no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p:cNvSpPr txBox="1"/>
          <p:nvPr/>
        </p:nvSpPr>
        <p:spPr>
          <a:xfrm>
            <a:off x="753955" y="561989"/>
            <a:ext cx="3105337" cy="276999"/>
          </a:xfrm>
          <a:prstGeom prst="rect">
            <a:avLst/>
          </a:prstGeom>
          <a:noFill/>
        </p:spPr>
        <p:txBody>
          <a:bodyPr wrap="none" rtlCol="0">
            <a:spAutoFit/>
          </a:bodyPr>
          <a:lstStyle/>
          <a:p>
            <a:r>
              <a:rPr lang="en-US" sz="1200" b="1">
                <a:latin typeface="Arial Narrow" panose="020B0606020202030204" pitchFamily="34" charset="0"/>
              </a:rPr>
              <a:t>Create a cross-section through the hold position</a:t>
            </a:r>
          </a:p>
        </p:txBody>
      </p:sp>
      <p:sp>
        <p:nvSpPr>
          <p:cNvPr id="34" name="Isosceles Triangle 33"/>
          <p:cNvSpPr/>
          <p:nvPr/>
        </p:nvSpPr>
        <p:spPr>
          <a:xfrm rot="5400000">
            <a:off x="2594961" y="3383965"/>
            <a:ext cx="4090205" cy="381000"/>
          </a:xfrm>
          <a:prstGeom prst="triangle">
            <a:avLst/>
          </a:prstGeom>
          <a:gradFill>
            <a:gsLst>
              <a:gs pos="0">
                <a:schemeClr val="bg1">
                  <a:lumMod val="95000"/>
                </a:schemeClr>
              </a:gs>
              <a:gs pos="74000">
                <a:schemeClr val="bg1">
                  <a:lumMod val="75000"/>
                </a:schemeClr>
              </a:gs>
              <a:gs pos="83000">
                <a:schemeClr val="bg1">
                  <a:lumMod val="65000"/>
                </a:schemeClr>
              </a:gs>
              <a:gs pos="100000">
                <a:schemeClr val="bg1">
                  <a:lumMod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5" name="Picture 34"/>
          <p:cNvPicPr>
            <a:picLocks noChangeAspect="1"/>
          </p:cNvPicPr>
          <p:nvPr/>
        </p:nvPicPr>
        <p:blipFill>
          <a:blip r:embed="rId4"/>
          <a:stretch>
            <a:fillRect/>
          </a:stretch>
        </p:blipFill>
        <p:spPr>
          <a:xfrm>
            <a:off x="5074276" y="4282009"/>
            <a:ext cx="4631617" cy="1936495"/>
          </a:xfrm>
          <a:prstGeom prst="rect">
            <a:avLst/>
          </a:prstGeom>
        </p:spPr>
      </p:pic>
      <p:sp>
        <p:nvSpPr>
          <p:cNvPr id="36" name="TextBox 35"/>
          <p:cNvSpPr txBox="1"/>
          <p:nvPr/>
        </p:nvSpPr>
        <p:spPr>
          <a:xfrm>
            <a:off x="5030643" y="845122"/>
            <a:ext cx="2885766" cy="276999"/>
          </a:xfrm>
          <a:prstGeom prst="rect">
            <a:avLst/>
          </a:prstGeom>
          <a:noFill/>
        </p:spPr>
        <p:txBody>
          <a:bodyPr wrap="square" rtlCol="0">
            <a:spAutoFit/>
          </a:bodyPr>
          <a:lstStyle/>
          <a:p>
            <a:r>
              <a:rPr lang="en-US" altLang="ko-KR" sz="1200" b="1">
                <a:solidFill>
                  <a:srgbClr val="00B050"/>
                </a:solidFill>
                <a:latin typeface="Arial Narrow" panose="020B0606020202030204" pitchFamily="34" charset="0"/>
                <a:ea typeface="LG스마트체 Regular" panose="020B0600000101010101" pitchFamily="50" charset="-127"/>
              </a:rPr>
              <a:t>※ </a:t>
            </a:r>
            <a:r>
              <a:rPr lang="vi-VN" altLang="ko-KR" sz="1200" b="1">
                <a:solidFill>
                  <a:srgbClr val="00B050"/>
                </a:solidFill>
                <a:latin typeface="Arial Narrow" panose="020B0606020202030204" pitchFamily="34" charset="0"/>
                <a:ea typeface="LG스마트체 Regular" panose="020B0600000101010101" pitchFamily="50" charset="-127"/>
              </a:rPr>
              <a:t>Structure</a:t>
            </a:r>
            <a:endParaRPr lang="vi-VN" sz="1200"/>
          </a:p>
        </p:txBody>
      </p:sp>
      <p:sp>
        <p:nvSpPr>
          <p:cNvPr id="2" name="TextBox 1"/>
          <p:cNvSpPr txBox="1"/>
          <p:nvPr/>
        </p:nvSpPr>
        <p:spPr>
          <a:xfrm>
            <a:off x="5065031" y="1088604"/>
            <a:ext cx="4711211" cy="461665"/>
          </a:xfrm>
          <a:prstGeom prst="rect">
            <a:avLst/>
          </a:prstGeom>
          <a:noFill/>
        </p:spPr>
        <p:txBody>
          <a:bodyPr wrap="square" rtlCol="0">
            <a:spAutoFit/>
          </a:bodyPr>
          <a:lstStyle/>
          <a:p>
            <a:r>
              <a:rPr lang="en-US" sz="1200">
                <a:latin typeface="Arial Narrow" panose="020B0606020202030204" pitchFamily="34" charset="0"/>
              </a:rPr>
              <a:t>The </a:t>
            </a:r>
            <a:r>
              <a:rPr lang="vi-VN" sz="1200">
                <a:latin typeface="Arial Narrow" panose="020B0606020202030204" pitchFamily="34" charset="0"/>
              </a:rPr>
              <a:t>N</a:t>
            </a:r>
            <a:r>
              <a:rPr lang="en-US" sz="1200">
                <a:latin typeface="Arial Narrow" panose="020B0606020202030204" pitchFamily="34" charset="0"/>
              </a:rPr>
              <a:t>oise location consists of three components: the </a:t>
            </a:r>
            <a:r>
              <a:rPr lang="en-US" sz="1200" b="1">
                <a:latin typeface="Arial Narrow" panose="020B0606020202030204" pitchFamily="34" charset="0"/>
              </a:rPr>
              <a:t>case bottom</a:t>
            </a:r>
            <a:r>
              <a:rPr lang="en-US" sz="1200">
                <a:latin typeface="Arial Narrow" panose="020B0606020202030204" pitchFamily="34" charset="0"/>
              </a:rPr>
              <a:t>, </a:t>
            </a:r>
            <a:r>
              <a:rPr lang="en-US" sz="1200" b="1">
                <a:latin typeface="Arial Narrow" panose="020B0606020202030204" pitchFamily="34" charset="0"/>
              </a:rPr>
              <a:t>case top</a:t>
            </a:r>
            <a:r>
              <a:rPr lang="en-US" sz="1200">
                <a:latin typeface="Arial Narrow" panose="020B0606020202030204" pitchFamily="34" charset="0"/>
              </a:rPr>
              <a:t>, </a:t>
            </a:r>
            <a:r>
              <a:rPr lang="vi-VN" sz="1200">
                <a:latin typeface="Arial Narrow" panose="020B0606020202030204" pitchFamily="34" charset="0"/>
              </a:rPr>
              <a:t>PCB, Screw.</a:t>
            </a:r>
            <a:endParaRPr lang="en-US" sz="1200">
              <a:latin typeface="Arial Narrow" panose="020B0606020202030204" pitchFamily="34" charset="0"/>
            </a:endParaRPr>
          </a:p>
        </p:txBody>
      </p:sp>
      <p:sp>
        <p:nvSpPr>
          <p:cNvPr id="45" name="TextBox 44"/>
          <p:cNvSpPr txBox="1"/>
          <p:nvPr/>
        </p:nvSpPr>
        <p:spPr>
          <a:xfrm>
            <a:off x="5074276" y="3450232"/>
            <a:ext cx="2885766" cy="276999"/>
          </a:xfrm>
          <a:prstGeom prst="rect">
            <a:avLst/>
          </a:prstGeom>
          <a:noFill/>
        </p:spPr>
        <p:txBody>
          <a:bodyPr wrap="square" rtlCol="0">
            <a:spAutoFit/>
          </a:bodyPr>
          <a:lstStyle/>
          <a:p>
            <a:r>
              <a:rPr lang="en-US" altLang="ko-KR" sz="1200" b="1">
                <a:solidFill>
                  <a:srgbClr val="00B050"/>
                </a:solidFill>
                <a:latin typeface="Arial Narrow" panose="020B0606020202030204" pitchFamily="34" charset="0"/>
                <a:ea typeface="LG스마트체 Regular" panose="020B0600000101010101" pitchFamily="50" charset="-127"/>
              </a:rPr>
              <a:t>※ </a:t>
            </a:r>
            <a:r>
              <a:rPr lang="vi-VN" altLang="ko-KR" sz="1200" b="1">
                <a:solidFill>
                  <a:srgbClr val="00B050"/>
                </a:solidFill>
                <a:latin typeface="Arial Narrow" panose="020B0606020202030204" pitchFamily="34" charset="0"/>
                <a:ea typeface="LG스마트체 Regular" panose="020B0600000101010101" pitchFamily="50" charset="-127"/>
              </a:rPr>
              <a:t>Cross Section by Actual Set by Dino</a:t>
            </a:r>
            <a:endParaRPr lang="vi-VN" sz="1200"/>
          </a:p>
        </p:txBody>
      </p:sp>
      <p:sp>
        <p:nvSpPr>
          <p:cNvPr id="46" name="TextBox 45"/>
          <p:cNvSpPr txBox="1"/>
          <p:nvPr/>
        </p:nvSpPr>
        <p:spPr>
          <a:xfrm>
            <a:off x="5141907" y="3758137"/>
            <a:ext cx="4732776" cy="646331"/>
          </a:xfrm>
          <a:prstGeom prst="rect">
            <a:avLst/>
          </a:prstGeom>
          <a:noFill/>
        </p:spPr>
        <p:txBody>
          <a:bodyPr wrap="square" rtlCol="0">
            <a:spAutoFit/>
          </a:bodyPr>
          <a:lstStyle/>
          <a:p>
            <a:r>
              <a:rPr lang="en-US" sz="1200">
                <a:latin typeface="Arial Narrow" panose="020B0606020202030204" pitchFamily="34" charset="0"/>
              </a:rPr>
              <a:t>A cross-sectional analysis was performed on the actual production unit, and it was found that after screw fastening, there was a </a:t>
            </a:r>
            <a:r>
              <a:rPr lang="en-US" sz="1200" b="1">
                <a:latin typeface="Arial Narrow" panose="020B0606020202030204" pitchFamily="34" charset="0"/>
              </a:rPr>
              <a:t>gap between the case bottom and the PCB</a:t>
            </a:r>
            <a:r>
              <a:rPr lang="en-US" sz="1200">
                <a:latin typeface="Arial Narrow" panose="020B0606020202030204" pitchFamily="34" charset="0"/>
              </a:rPr>
              <a:t> at the noise location.</a:t>
            </a:r>
          </a:p>
        </p:txBody>
      </p:sp>
      <p:cxnSp>
        <p:nvCxnSpPr>
          <p:cNvPr id="47" name="Straight Connector 46"/>
          <p:cNvCxnSpPr/>
          <p:nvPr/>
        </p:nvCxnSpPr>
        <p:spPr>
          <a:xfrm>
            <a:off x="469357" y="851557"/>
            <a:ext cx="3674534" cy="0"/>
          </a:xfrm>
          <a:prstGeom prst="line">
            <a:avLst/>
          </a:prstGeom>
          <a:ln w="12700"/>
        </p:spPr>
        <p:style>
          <a:lnRef idx="1">
            <a:schemeClr val="dk1"/>
          </a:lnRef>
          <a:fillRef idx="0">
            <a:schemeClr val="dk1"/>
          </a:fillRef>
          <a:effectRef idx="0">
            <a:schemeClr val="dk1"/>
          </a:effectRef>
          <a:fontRef idx="minor">
            <a:schemeClr val="tx1"/>
          </a:fontRef>
        </p:style>
      </p:cxnSp>
      <p:grpSp>
        <p:nvGrpSpPr>
          <p:cNvPr id="49" name="그룹 2"/>
          <p:cNvGrpSpPr/>
          <p:nvPr/>
        </p:nvGrpSpPr>
        <p:grpSpPr>
          <a:xfrm>
            <a:off x="7348816" y="38312"/>
            <a:ext cx="2482234" cy="323850"/>
            <a:chOff x="7343591" y="116689"/>
            <a:chExt cx="2482234" cy="323850"/>
          </a:xfrm>
        </p:grpSpPr>
        <p:sp>
          <p:nvSpPr>
            <p:cNvPr id="50" name="AutoShape 5"/>
            <p:cNvSpPr>
              <a:spLocks noChangeArrowheads="1"/>
            </p:cNvSpPr>
            <p:nvPr/>
          </p:nvSpPr>
          <p:spPr bwMode="auto">
            <a:xfrm>
              <a:off x="7343591" y="116689"/>
              <a:ext cx="636587" cy="323850"/>
            </a:xfrm>
            <a:prstGeom prst="homePlate">
              <a:avLst>
                <a:gd name="adj" fmla="val 42440"/>
              </a:avLst>
            </a:prstGeom>
            <a:solidFill>
              <a:schemeClr val="bg1">
                <a:lumMod val="50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FFFFFF"/>
                  </a:solidFill>
                  <a:latin typeface="Arial Narrow" panose="020B0606020202030204" pitchFamily="34" charset="0"/>
                  <a:ea typeface="LG스마트체 Regular" panose="020B0600000101010101" pitchFamily="50" charset="-127"/>
                </a:rPr>
                <a:t>D</a:t>
              </a:r>
              <a:endParaRPr lang="ko-KR" altLang="ko-KR" sz="1200" b="1" dirty="0">
                <a:solidFill>
                  <a:srgbClr val="FFFFFF"/>
                </a:solidFill>
                <a:latin typeface="Arial Narrow" panose="020B0606020202030204" pitchFamily="34" charset="0"/>
                <a:ea typeface="LG스마트체 Regular" panose="020B0600000101010101" pitchFamily="50" charset="-127"/>
              </a:endParaRPr>
            </a:p>
          </p:txBody>
        </p:sp>
        <p:sp>
          <p:nvSpPr>
            <p:cNvPr id="51"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53"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55"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56" name="AutoShape 4"/>
            <p:cNvSpPr>
              <a:spLocks noChangeArrowheads="1"/>
            </p:cNvSpPr>
            <p:nvPr/>
          </p:nvSpPr>
          <p:spPr bwMode="auto">
            <a:xfrm>
              <a:off x="7980178" y="116689"/>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Tree>
    <p:extLst>
      <p:ext uri="{BB962C8B-B14F-4D97-AF65-F5344CB8AC3E}">
        <p14:creationId xmlns:p14="http://schemas.microsoft.com/office/powerpoint/2010/main" val="920172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3914" y="1954811"/>
            <a:ext cx="1532843" cy="1594794"/>
          </a:xfrm>
          <a:prstGeom prst="rect">
            <a:avLst/>
          </a:prstGeom>
        </p:spPr>
      </p:pic>
      <p:pic>
        <p:nvPicPr>
          <p:cNvPr id="107" name="Picture 106"/>
          <p:cNvPicPr>
            <a:picLocks noChangeAspect="1"/>
          </p:cNvPicPr>
          <p:nvPr/>
        </p:nvPicPr>
        <p:blipFill>
          <a:blip r:embed="rId3"/>
          <a:stretch>
            <a:fillRect/>
          </a:stretch>
        </p:blipFill>
        <p:spPr>
          <a:xfrm rot="5400000">
            <a:off x="2929739" y="905741"/>
            <a:ext cx="1133038" cy="3813802"/>
          </a:xfrm>
          <a:prstGeom prst="rect">
            <a:avLst/>
          </a:prstGeom>
        </p:spPr>
      </p:pic>
      <p:graphicFrame>
        <p:nvGraphicFramePr>
          <p:cNvPr id="40" name="Table 39"/>
          <p:cNvGraphicFramePr>
            <a:graphicFrameLocks noGrp="1"/>
          </p:cNvGraphicFramePr>
          <p:nvPr>
            <p:extLst>
              <p:ext uri="{D42A27DB-BD31-4B8C-83A1-F6EECF244321}">
                <p14:modId xmlns:p14="http://schemas.microsoft.com/office/powerpoint/2010/main" val="2493191961"/>
              </p:ext>
            </p:extLst>
          </p:nvPr>
        </p:nvGraphicFramePr>
        <p:xfrm>
          <a:off x="325517" y="3807859"/>
          <a:ext cx="6314352" cy="2863174"/>
        </p:xfrm>
        <a:graphic>
          <a:graphicData uri="http://schemas.openxmlformats.org/drawingml/2006/table">
            <a:tbl>
              <a:tblPr>
                <a:tableStyleId>{5C22544A-7EE6-4342-B048-85BDC9FD1C3A}</a:tableStyleId>
              </a:tblPr>
              <a:tblGrid>
                <a:gridCol w="357388">
                  <a:extLst>
                    <a:ext uri="{9D8B030D-6E8A-4147-A177-3AD203B41FA5}">
                      <a16:colId xmlns:a16="http://schemas.microsoft.com/office/drawing/2014/main" val="20000"/>
                    </a:ext>
                  </a:extLst>
                </a:gridCol>
                <a:gridCol w="577474">
                  <a:extLst>
                    <a:ext uri="{9D8B030D-6E8A-4147-A177-3AD203B41FA5}">
                      <a16:colId xmlns:a16="http://schemas.microsoft.com/office/drawing/2014/main" val="20001"/>
                    </a:ext>
                  </a:extLst>
                </a:gridCol>
                <a:gridCol w="496413">
                  <a:extLst>
                    <a:ext uri="{9D8B030D-6E8A-4147-A177-3AD203B41FA5}">
                      <a16:colId xmlns:a16="http://schemas.microsoft.com/office/drawing/2014/main" val="20002"/>
                    </a:ext>
                  </a:extLst>
                </a:gridCol>
                <a:gridCol w="511610">
                  <a:extLst>
                    <a:ext uri="{9D8B030D-6E8A-4147-A177-3AD203B41FA5}">
                      <a16:colId xmlns:a16="http://schemas.microsoft.com/office/drawing/2014/main" val="20003"/>
                    </a:ext>
                  </a:extLst>
                </a:gridCol>
                <a:gridCol w="1072275">
                  <a:extLst>
                    <a:ext uri="{9D8B030D-6E8A-4147-A177-3AD203B41FA5}">
                      <a16:colId xmlns:a16="http://schemas.microsoft.com/office/drawing/2014/main" val="20004"/>
                    </a:ext>
                  </a:extLst>
                </a:gridCol>
                <a:gridCol w="524375">
                  <a:extLst>
                    <a:ext uri="{9D8B030D-6E8A-4147-A177-3AD203B41FA5}">
                      <a16:colId xmlns:a16="http://schemas.microsoft.com/office/drawing/2014/main" val="20005"/>
                    </a:ext>
                  </a:extLst>
                </a:gridCol>
                <a:gridCol w="524375">
                  <a:extLst>
                    <a:ext uri="{9D8B030D-6E8A-4147-A177-3AD203B41FA5}">
                      <a16:colId xmlns:a16="http://schemas.microsoft.com/office/drawing/2014/main" val="20006"/>
                    </a:ext>
                  </a:extLst>
                </a:gridCol>
                <a:gridCol w="524375">
                  <a:extLst>
                    <a:ext uri="{9D8B030D-6E8A-4147-A177-3AD203B41FA5}">
                      <a16:colId xmlns:a16="http://schemas.microsoft.com/office/drawing/2014/main" val="20007"/>
                    </a:ext>
                  </a:extLst>
                </a:gridCol>
                <a:gridCol w="524375">
                  <a:extLst>
                    <a:ext uri="{9D8B030D-6E8A-4147-A177-3AD203B41FA5}">
                      <a16:colId xmlns:a16="http://schemas.microsoft.com/office/drawing/2014/main" val="20008"/>
                    </a:ext>
                  </a:extLst>
                </a:gridCol>
                <a:gridCol w="524375">
                  <a:extLst>
                    <a:ext uri="{9D8B030D-6E8A-4147-A177-3AD203B41FA5}">
                      <a16:colId xmlns:a16="http://schemas.microsoft.com/office/drawing/2014/main" val="20009"/>
                    </a:ext>
                  </a:extLst>
                </a:gridCol>
                <a:gridCol w="677317">
                  <a:extLst>
                    <a:ext uri="{9D8B030D-6E8A-4147-A177-3AD203B41FA5}">
                      <a16:colId xmlns:a16="http://schemas.microsoft.com/office/drawing/2014/main" val="20010"/>
                    </a:ext>
                  </a:extLst>
                </a:gridCol>
              </a:tblGrid>
              <a:tr h="172642">
                <a:tc rowSpan="2">
                  <a:txBody>
                    <a:bodyPr/>
                    <a:lstStyle/>
                    <a:p>
                      <a:pPr algn="ctr" fontAlgn="b"/>
                      <a:r>
                        <a:rPr lang="en-US" sz="900" b="1" u="none" strike="noStrike">
                          <a:effectLst/>
                          <a:latin typeface="Arial Narrow" panose="020B0606020202030204" pitchFamily="34" charset="0"/>
                        </a:rPr>
                        <a:t>No</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gridSpan="3">
                  <a:txBody>
                    <a:bodyPr/>
                    <a:lstStyle/>
                    <a:p>
                      <a:pPr algn="ctr" fontAlgn="b"/>
                      <a:r>
                        <a:rPr lang="vi-VN" sz="900" b="1" i="0" u="none" strike="noStrike">
                          <a:solidFill>
                            <a:srgbClr val="000000"/>
                          </a:solidFill>
                          <a:effectLst/>
                          <a:latin typeface="Arial Narrow" panose="020B0606020202030204" pitchFamily="34" charset="0"/>
                        </a:rPr>
                        <a:t>Spec</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b"/>
                      <a:r>
                        <a:rPr lang="vi-VN" sz="900" b="1" u="none" strike="noStrike">
                          <a:effectLst/>
                          <a:latin typeface="Arial Narrow" panose="020B0606020202030204" pitchFamily="34" charset="0"/>
                        </a:rPr>
                        <a:t>Position</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rowSpan="2">
                  <a:txBody>
                    <a:bodyPr/>
                    <a:lstStyle/>
                    <a:p>
                      <a:pPr algn="ctr" fontAlgn="b"/>
                      <a:r>
                        <a:rPr lang="en-US" sz="900" b="1" u="none" strike="noStrike">
                          <a:effectLst/>
                          <a:latin typeface="Arial Narrow" panose="020B0606020202030204" pitchFamily="34" charset="0"/>
                        </a:rPr>
                        <a:t>Sample 1</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rowSpan="2">
                  <a:txBody>
                    <a:bodyPr/>
                    <a:lstStyle/>
                    <a:p>
                      <a:pPr algn="ctr" fontAlgn="b"/>
                      <a:r>
                        <a:rPr lang="en-US" sz="900" b="1" u="none" strike="noStrike">
                          <a:effectLst/>
                          <a:latin typeface="Arial Narrow" panose="020B0606020202030204" pitchFamily="34" charset="0"/>
                        </a:rPr>
                        <a:t>Sample 2</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rowSpan="2">
                  <a:txBody>
                    <a:bodyPr/>
                    <a:lstStyle/>
                    <a:p>
                      <a:pPr algn="ctr" fontAlgn="b"/>
                      <a:r>
                        <a:rPr lang="en-US" sz="900" b="1" u="none" strike="noStrike">
                          <a:effectLst/>
                          <a:latin typeface="Arial Narrow" panose="020B0606020202030204" pitchFamily="34" charset="0"/>
                        </a:rPr>
                        <a:t>Sample 3</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rowSpan="2">
                  <a:txBody>
                    <a:bodyPr/>
                    <a:lstStyle/>
                    <a:p>
                      <a:pPr algn="ctr" fontAlgn="b"/>
                      <a:r>
                        <a:rPr lang="en-US" sz="900" b="1" u="none" strike="noStrike">
                          <a:effectLst/>
                          <a:latin typeface="Arial Narrow" panose="020B0606020202030204" pitchFamily="34" charset="0"/>
                        </a:rPr>
                        <a:t>Sample 4</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rowSpan="2">
                  <a:txBody>
                    <a:bodyPr/>
                    <a:lstStyle/>
                    <a:p>
                      <a:pPr algn="ctr" fontAlgn="b"/>
                      <a:r>
                        <a:rPr lang="en-US" sz="900" b="1" u="none" strike="noStrike">
                          <a:effectLst/>
                          <a:latin typeface="Arial Narrow" panose="020B0606020202030204" pitchFamily="34" charset="0"/>
                        </a:rPr>
                        <a:t>Sample 5</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rowSpan="2">
                  <a:txBody>
                    <a:bodyPr/>
                    <a:lstStyle/>
                    <a:p>
                      <a:pPr algn="ctr" fontAlgn="b"/>
                      <a:r>
                        <a:rPr lang="en-US" sz="900" b="1" u="none" strike="noStrike">
                          <a:effectLst/>
                          <a:latin typeface="Arial Narrow" panose="020B0606020202030204" pitchFamily="34" charset="0"/>
                        </a:rPr>
                        <a:t>Judgement</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24211">
                <a:tc v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b="1" u="none" strike="noStrike">
                          <a:effectLst/>
                          <a:latin typeface="Arial Narrow" panose="020B0606020202030204" pitchFamily="34" charset="0"/>
                        </a:rPr>
                        <a:t>Target</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fontAlgn="b"/>
                      <a:r>
                        <a:rPr lang="en-US" sz="900" b="1" u="none" strike="noStrike">
                          <a:effectLst/>
                          <a:latin typeface="Arial Narrow" panose="020B0606020202030204" pitchFamily="34" charset="0"/>
                        </a:rPr>
                        <a:t>+Tol</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fontAlgn="b"/>
                      <a:r>
                        <a:rPr lang="en-US" sz="900" b="1" u="none" strike="noStrike">
                          <a:effectLst/>
                          <a:latin typeface="Arial Narrow" panose="020B0606020202030204" pitchFamily="34" charset="0"/>
                        </a:rPr>
                        <a:t>-Tol</a:t>
                      </a:r>
                      <a:endParaRPr lang="en-US" sz="900" b="1"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v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4211">
                <a:tc>
                  <a:txBody>
                    <a:bodyPr/>
                    <a:lstStyle/>
                    <a:p>
                      <a:pPr algn="ctr" fontAlgn="b"/>
                      <a:r>
                        <a:rPr lang="en-US" sz="900" u="none" strike="noStrike">
                          <a:effectLst/>
                          <a:latin typeface="Arial Narrow" panose="020B0606020202030204" pitchFamily="34" charset="0"/>
                        </a:rPr>
                        <a:t>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PCB thinkness</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1.007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1.009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1.004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224211">
                <a:tc>
                  <a:txBody>
                    <a:bodyPr/>
                    <a:lstStyle/>
                    <a:p>
                      <a:pPr algn="ctr" fontAlgn="b"/>
                      <a:r>
                        <a:rPr lang="vi-VN" sz="900" u="none" strike="noStrike">
                          <a:effectLst/>
                          <a:latin typeface="Arial Narrow" panose="020B0606020202030204" pitchFamily="34" charset="0"/>
                        </a:rPr>
                        <a:t>2</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+0.15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Embo 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7.399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7.404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7.398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7.408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7.401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4211">
                <a:tc>
                  <a:txBody>
                    <a:bodyPr/>
                    <a:lstStyle/>
                    <a:p>
                      <a:pPr algn="ctr" fontAlgn="b"/>
                      <a:r>
                        <a:rPr lang="vi-VN" sz="900" u="none" strike="noStrike">
                          <a:effectLst/>
                          <a:latin typeface="Arial Narrow" panose="020B0606020202030204" pitchFamily="34" charset="0"/>
                        </a:rPr>
                        <a:t>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+0.15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Embo 2</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7.402</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7.401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7.398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7.407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7.406</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224211">
                <a:tc>
                  <a:txBody>
                    <a:bodyPr/>
                    <a:lstStyle/>
                    <a:p>
                      <a:pPr algn="ctr" fontAlgn="b"/>
                      <a:r>
                        <a:rPr lang="vi-VN" sz="900" u="none" strike="noStrike">
                          <a:effectLst/>
                          <a:latin typeface="Arial Narrow" panose="020B0606020202030204" pitchFamily="34" charset="0"/>
                        </a:rPr>
                        <a:t>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+0.15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Embo 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7.386</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7.392</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7.397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7.399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7.394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b="1" u="none" strike="noStrike">
                          <a:solidFill>
                            <a:srgbClr val="FF0000"/>
                          </a:solidFill>
                          <a:effectLst/>
                          <a:latin typeface="Arial Narrow" panose="020B0606020202030204" pitchFamily="34" charset="0"/>
                        </a:rPr>
                        <a:t>NG</a:t>
                      </a:r>
                      <a:endParaRPr lang="en-US" sz="900" b="1" i="0" u="none" strike="noStrike">
                        <a:solidFill>
                          <a:srgbClr val="FF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r h="224211">
                <a:tc>
                  <a:txBody>
                    <a:bodyPr/>
                    <a:lstStyle/>
                    <a:p>
                      <a:pPr algn="ctr" fontAlgn="b"/>
                      <a:r>
                        <a:rPr lang="vi-VN" sz="900" u="none" strike="noStrike">
                          <a:effectLst/>
                          <a:latin typeface="Arial Narrow" panose="020B0606020202030204" pitchFamily="34" charset="0"/>
                        </a:rPr>
                        <a:t>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+0.15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Embo 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7.346</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7.352</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7.347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7.349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7.354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224211">
                <a:tc>
                  <a:txBody>
                    <a:bodyPr/>
                    <a:lstStyle/>
                    <a:p>
                      <a:pPr algn="ctr" fontAlgn="b"/>
                      <a:r>
                        <a:rPr lang="vi-VN" sz="900" u="none" strike="noStrike">
                          <a:effectLst/>
                          <a:latin typeface="Arial Narrow" panose="020B0606020202030204" pitchFamily="34" charset="0"/>
                        </a:rPr>
                        <a:t>6</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u="none" strike="noStrike">
                          <a:effectLst/>
                          <a:latin typeface="Arial Narrow" panose="020B0606020202030204" pitchFamily="34" charset="0"/>
                        </a:rPr>
                        <a:t>Edge</a:t>
                      </a:r>
                      <a:r>
                        <a:rPr lang="en-US" sz="900" u="none" strike="noStrike">
                          <a:effectLst/>
                          <a:latin typeface="Arial Narrow" panose="020B0606020202030204" pitchFamily="34" charset="0"/>
                        </a:rPr>
                        <a:t> to top hole</a:t>
                      </a:r>
                      <a:r>
                        <a:rPr lang="vi-VN" sz="900" u="none" strike="noStrike">
                          <a:effectLst/>
                          <a:latin typeface="Arial Narrow" panose="020B0606020202030204" pitchFamily="34" charset="0"/>
                        </a:rPr>
                        <a:t> 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r h="224211">
                <a:tc>
                  <a:txBody>
                    <a:bodyPr/>
                    <a:lstStyle/>
                    <a:p>
                      <a:pPr algn="ctr" fontAlgn="b"/>
                      <a:r>
                        <a:rPr lang="vi-VN" sz="900" u="none" strike="noStrike">
                          <a:effectLst/>
                          <a:latin typeface="Arial Narrow" panose="020B0606020202030204" pitchFamily="34" charset="0"/>
                        </a:rPr>
                        <a:t>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u="none" strike="noStrike">
                          <a:effectLst/>
                          <a:latin typeface="Arial Narrow" panose="020B0606020202030204" pitchFamily="34" charset="0"/>
                        </a:rPr>
                        <a:t>Edge</a:t>
                      </a:r>
                      <a:r>
                        <a:rPr lang="en-US" sz="900" u="none" strike="noStrike">
                          <a:effectLst/>
                          <a:latin typeface="Arial Narrow" panose="020B0606020202030204" pitchFamily="34" charset="0"/>
                        </a:rPr>
                        <a:t> to top </a:t>
                      </a:r>
                      <a:r>
                        <a:rPr lang="vi-VN" sz="900" u="none" strike="noStrike">
                          <a:effectLst/>
                          <a:latin typeface="Arial Narrow" panose="020B0606020202030204" pitchFamily="34" charset="0"/>
                        </a:rPr>
                        <a:t>hole 2</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1.742</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8"/>
                  </a:ext>
                </a:extLst>
              </a:tr>
              <a:tr h="224211">
                <a:tc>
                  <a:txBody>
                    <a:bodyPr/>
                    <a:lstStyle/>
                    <a:p>
                      <a:pPr algn="ctr" fontAlgn="b"/>
                      <a:r>
                        <a:rPr lang="vi-VN" sz="900" u="none" strike="noStrike">
                          <a:effectLst/>
                          <a:latin typeface="Arial Narrow" panose="020B0606020202030204" pitchFamily="34" charset="0"/>
                        </a:rPr>
                        <a:t>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u="none" strike="noStrike">
                          <a:effectLst/>
                          <a:latin typeface="Arial Narrow" panose="020B0606020202030204" pitchFamily="34" charset="0"/>
                        </a:rPr>
                        <a:t>Edge</a:t>
                      </a:r>
                      <a:r>
                        <a:rPr lang="en-US" sz="900" u="none" strike="noStrike">
                          <a:effectLst/>
                          <a:latin typeface="Arial Narrow" panose="020B0606020202030204" pitchFamily="34" charset="0"/>
                        </a:rPr>
                        <a:t> to top hole</a:t>
                      </a:r>
                      <a:r>
                        <a:rPr lang="vi-VN" sz="900" u="none" strike="noStrike">
                          <a:effectLst/>
                          <a:latin typeface="Arial Narrow" panose="020B0606020202030204" pitchFamily="34" charset="0"/>
                        </a:rPr>
                        <a:t> 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9"/>
                  </a:ext>
                </a:extLst>
              </a:tr>
              <a:tr h="224211">
                <a:tc>
                  <a:txBody>
                    <a:bodyPr/>
                    <a:lstStyle/>
                    <a:p>
                      <a:pPr algn="ctr" fontAlgn="b"/>
                      <a:r>
                        <a:rPr lang="vi-VN" sz="900" u="none" strike="noStrike">
                          <a:effectLst/>
                          <a:latin typeface="Arial Narrow" panose="020B0606020202030204" pitchFamily="34" charset="0"/>
                        </a:rPr>
                        <a:t>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u="none" strike="noStrike">
                          <a:effectLst/>
                          <a:latin typeface="Arial Narrow" panose="020B0606020202030204" pitchFamily="34" charset="0"/>
                        </a:rPr>
                        <a:t>Edge</a:t>
                      </a:r>
                      <a:r>
                        <a:rPr lang="en-US" sz="900" u="none" strike="noStrike">
                          <a:effectLst/>
                          <a:latin typeface="Arial Narrow" panose="020B0606020202030204" pitchFamily="34" charset="0"/>
                        </a:rPr>
                        <a:t> to top hole</a:t>
                      </a:r>
                      <a:r>
                        <a:rPr lang="vi-VN" sz="900" u="none" strike="noStrike">
                          <a:effectLst/>
                          <a:latin typeface="Arial Narrow" panose="020B0606020202030204" pitchFamily="34" charset="0"/>
                        </a:rPr>
                        <a:t> 4</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1.751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1.753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1.749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0"/>
                  </a:ext>
                </a:extLst>
              </a:tr>
              <a:tr h="224211">
                <a:tc>
                  <a:txBody>
                    <a:bodyPr/>
                    <a:lstStyle/>
                    <a:p>
                      <a:pPr algn="ctr" fontAlgn="b"/>
                      <a:r>
                        <a:rPr lang="vi-VN" sz="900" u="none" strike="noStrike">
                          <a:effectLst/>
                          <a:latin typeface="Arial Narrow" panose="020B0606020202030204" pitchFamily="34" charset="0"/>
                        </a:rPr>
                        <a:t>10</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39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Assy part height</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39.018</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39.013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39.015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39.019</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39.017</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900" u="none" strike="noStrike">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1"/>
                  </a:ext>
                </a:extLst>
              </a:tr>
              <a:tr h="224211">
                <a:tc>
                  <a:txBody>
                    <a:bodyPr/>
                    <a:lstStyle/>
                    <a:p>
                      <a:pPr algn="ctr" fontAlgn="b"/>
                      <a:r>
                        <a:rPr lang="vi-VN" sz="900" b="0" i="0" u="none" strike="noStrike">
                          <a:solidFill>
                            <a:srgbClr val="000000"/>
                          </a:solidFill>
                          <a:effectLst/>
                          <a:latin typeface="Arial Narrow" panose="020B0606020202030204" pitchFamily="34" charset="0"/>
                        </a:rPr>
                        <a:t>11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6</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0</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-0.3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Screw height</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6.003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6.005</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6.002</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6.003</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6.001</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vi-VN" sz="900" b="0" i="0" u="none" strike="noStrike">
                          <a:solidFill>
                            <a:srgbClr val="000000"/>
                          </a:solidFill>
                          <a:effectLst/>
                          <a:latin typeface="Arial Narrow" panose="020B0606020202030204" pitchFamily="34" charset="0"/>
                        </a:rPr>
                        <a:t>OK</a:t>
                      </a:r>
                      <a:endParaRPr lang="en-US" sz="900" b="0" i="0" u="none" strike="noStrike">
                        <a:solidFill>
                          <a:srgbClr val="000000"/>
                        </a:solidFill>
                        <a:effectLst/>
                        <a:latin typeface="Arial Narrow" panose="020B0606020202030204" pitchFamily="34" charset="0"/>
                      </a:endParaRPr>
                    </a:p>
                  </a:txBody>
                  <a:tcPr marL="9525" marR="9525" marT="9525"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2"/>
                  </a:ext>
                </a:extLst>
              </a:tr>
            </a:tbl>
          </a:graphicData>
        </a:graphic>
      </p:graphicFrame>
      <p:pic>
        <p:nvPicPr>
          <p:cNvPr id="25" name="Picture 24"/>
          <p:cNvPicPr>
            <a:picLocks noChangeAspect="1"/>
          </p:cNvPicPr>
          <p:nvPr/>
        </p:nvPicPr>
        <p:blipFill>
          <a:blip r:embed="rId4"/>
          <a:stretch>
            <a:fillRect/>
          </a:stretch>
        </p:blipFill>
        <p:spPr>
          <a:xfrm>
            <a:off x="8577540" y="2319117"/>
            <a:ext cx="1230384" cy="811417"/>
          </a:xfrm>
          <a:prstGeom prst="rect">
            <a:avLst/>
          </a:prstGeom>
        </p:spPr>
      </p:pic>
      <p:pic>
        <p:nvPicPr>
          <p:cNvPr id="84" name="Picture 83"/>
          <p:cNvPicPr>
            <a:picLocks noChangeAspect="1"/>
          </p:cNvPicPr>
          <p:nvPr/>
        </p:nvPicPr>
        <p:blipFill>
          <a:blip r:embed="rId5"/>
          <a:stretch>
            <a:fillRect/>
          </a:stretch>
        </p:blipFill>
        <p:spPr>
          <a:xfrm>
            <a:off x="7772155" y="530892"/>
            <a:ext cx="2035769" cy="1585342"/>
          </a:xfrm>
          <a:prstGeom prst="rect">
            <a:avLst/>
          </a:prstGeom>
        </p:spPr>
      </p:pic>
      <p:cxnSp>
        <p:nvCxnSpPr>
          <p:cNvPr id="39" name="Straight Arrow Connector 38"/>
          <p:cNvCxnSpPr/>
          <p:nvPr/>
        </p:nvCxnSpPr>
        <p:spPr>
          <a:xfrm>
            <a:off x="8281471" y="1543997"/>
            <a:ext cx="0" cy="353954"/>
          </a:xfrm>
          <a:prstGeom prst="straightConnector1">
            <a:avLst/>
          </a:prstGeom>
          <a:ln>
            <a:solidFill>
              <a:srgbClr val="00B050"/>
            </a:solidFill>
            <a:headEnd type="triangle"/>
            <a:tailEnd type="triangle"/>
          </a:ln>
        </p:spPr>
        <p:style>
          <a:lnRef idx="1">
            <a:schemeClr val="accent2"/>
          </a:lnRef>
          <a:fillRef idx="0">
            <a:schemeClr val="accent2"/>
          </a:fillRef>
          <a:effectRef idx="0">
            <a:schemeClr val="accent2"/>
          </a:effectRef>
          <a:fontRef idx="minor">
            <a:schemeClr val="tx1"/>
          </a:fontRef>
        </p:style>
      </p:cxnSp>
      <p:grpSp>
        <p:nvGrpSpPr>
          <p:cNvPr id="48" name="Group 47"/>
          <p:cNvGrpSpPr/>
          <p:nvPr/>
        </p:nvGrpSpPr>
        <p:grpSpPr>
          <a:xfrm>
            <a:off x="4935687" y="457565"/>
            <a:ext cx="3100736" cy="2220239"/>
            <a:chOff x="26889" y="2987107"/>
            <a:chExt cx="3100736" cy="2220239"/>
          </a:xfrm>
        </p:grpSpPr>
        <p:pic>
          <p:nvPicPr>
            <p:cNvPr id="63" name="Picture 62"/>
            <p:cNvPicPr>
              <a:picLocks noChangeAspect="1"/>
            </p:cNvPicPr>
            <p:nvPr/>
          </p:nvPicPr>
          <p:blipFill>
            <a:blip r:embed="rId6"/>
            <a:stretch>
              <a:fillRect/>
            </a:stretch>
          </p:blipFill>
          <p:spPr>
            <a:xfrm rot="21232268">
              <a:off x="369972" y="3158725"/>
              <a:ext cx="2147834" cy="2014124"/>
            </a:xfrm>
            <a:prstGeom prst="rect">
              <a:avLst/>
            </a:prstGeom>
          </p:spPr>
        </p:pic>
        <p:sp>
          <p:nvSpPr>
            <p:cNvPr id="78" name="Rectangle 77"/>
            <p:cNvSpPr/>
            <p:nvPr/>
          </p:nvSpPr>
          <p:spPr>
            <a:xfrm rot="10800000">
              <a:off x="970802" y="3184426"/>
              <a:ext cx="670074"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rot="10800000">
              <a:off x="1864185" y="3599665"/>
              <a:ext cx="670074"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rot="10800000">
              <a:off x="1108852" y="4666447"/>
              <a:ext cx="670074"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rot="10800000">
              <a:off x="230526" y="4228233"/>
              <a:ext cx="670074"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2563047" y="3430401"/>
              <a:ext cx="564578" cy="276999"/>
            </a:xfrm>
            <a:prstGeom prst="rect">
              <a:avLst/>
            </a:prstGeom>
            <a:noFill/>
          </p:spPr>
          <p:txBody>
            <a:bodyPr wrap="none" rtlCol="0">
              <a:spAutoFit/>
            </a:bodyPr>
            <a:lstStyle/>
            <a:p>
              <a:r>
                <a:rPr lang="vi-VN" sz="1200" b="1">
                  <a:latin typeface="Arial Narrow" panose="020B0606020202030204" pitchFamily="34" charset="0"/>
                </a:rPr>
                <a:t>Hole 1</a:t>
              </a:r>
              <a:endParaRPr lang="en-US" sz="1200" b="1">
                <a:latin typeface="Arial Narrow" panose="020B0606020202030204" pitchFamily="34" charset="0"/>
              </a:endParaRPr>
            </a:p>
          </p:txBody>
        </p:sp>
        <p:sp>
          <p:nvSpPr>
            <p:cNvPr id="95" name="TextBox 94"/>
            <p:cNvSpPr txBox="1"/>
            <p:nvPr/>
          </p:nvSpPr>
          <p:spPr>
            <a:xfrm>
              <a:off x="451274" y="2987107"/>
              <a:ext cx="564578" cy="276999"/>
            </a:xfrm>
            <a:prstGeom prst="rect">
              <a:avLst/>
            </a:prstGeom>
            <a:noFill/>
          </p:spPr>
          <p:txBody>
            <a:bodyPr wrap="none" rtlCol="0">
              <a:spAutoFit/>
            </a:bodyPr>
            <a:lstStyle/>
            <a:p>
              <a:r>
                <a:rPr lang="vi-VN" sz="1200" b="1">
                  <a:latin typeface="Arial Narrow" panose="020B0606020202030204" pitchFamily="34" charset="0"/>
                </a:rPr>
                <a:t>Hole 2</a:t>
              </a:r>
              <a:endParaRPr lang="en-US" sz="1200" b="1">
                <a:latin typeface="Arial Narrow" panose="020B0606020202030204" pitchFamily="34" charset="0"/>
              </a:endParaRPr>
            </a:p>
          </p:txBody>
        </p:sp>
        <p:sp>
          <p:nvSpPr>
            <p:cNvPr id="98" name="TextBox 97"/>
            <p:cNvSpPr txBox="1"/>
            <p:nvPr/>
          </p:nvSpPr>
          <p:spPr>
            <a:xfrm>
              <a:off x="26889" y="3921242"/>
              <a:ext cx="564578" cy="276999"/>
            </a:xfrm>
            <a:prstGeom prst="rect">
              <a:avLst/>
            </a:prstGeom>
            <a:noFill/>
          </p:spPr>
          <p:txBody>
            <a:bodyPr wrap="none" rtlCol="0">
              <a:spAutoFit/>
            </a:bodyPr>
            <a:lstStyle/>
            <a:p>
              <a:r>
                <a:rPr lang="vi-VN" sz="1200" b="1">
                  <a:latin typeface="Arial Narrow" panose="020B0606020202030204" pitchFamily="34" charset="0"/>
                </a:rPr>
                <a:t>Hole 3</a:t>
              </a:r>
              <a:endParaRPr lang="en-US" sz="1200" b="1">
                <a:latin typeface="Arial Narrow" panose="020B0606020202030204" pitchFamily="34" charset="0"/>
              </a:endParaRPr>
            </a:p>
          </p:txBody>
        </p:sp>
        <p:sp>
          <p:nvSpPr>
            <p:cNvPr id="99" name="TextBox 98"/>
            <p:cNvSpPr txBox="1"/>
            <p:nvPr/>
          </p:nvSpPr>
          <p:spPr>
            <a:xfrm>
              <a:off x="1731071" y="4930347"/>
              <a:ext cx="564578" cy="276999"/>
            </a:xfrm>
            <a:prstGeom prst="rect">
              <a:avLst/>
            </a:prstGeom>
            <a:noFill/>
          </p:spPr>
          <p:txBody>
            <a:bodyPr wrap="none" rtlCol="0">
              <a:spAutoFit/>
            </a:bodyPr>
            <a:lstStyle/>
            <a:p>
              <a:r>
                <a:rPr lang="vi-VN" sz="1200" b="1">
                  <a:latin typeface="Arial Narrow" panose="020B0606020202030204" pitchFamily="34" charset="0"/>
                </a:rPr>
                <a:t>Hole 4</a:t>
              </a:r>
              <a:endParaRPr lang="en-US" sz="1200" b="1">
                <a:latin typeface="Arial Narrow" panose="020B0606020202030204" pitchFamily="34" charset="0"/>
              </a:endParaRPr>
            </a:p>
          </p:txBody>
        </p:sp>
      </p:grpSp>
      <p:grpSp>
        <p:nvGrpSpPr>
          <p:cNvPr id="47" name="Group 46"/>
          <p:cNvGrpSpPr/>
          <p:nvPr/>
        </p:nvGrpSpPr>
        <p:grpSpPr>
          <a:xfrm>
            <a:off x="25686" y="550047"/>
            <a:ext cx="2056067" cy="1379551"/>
            <a:chOff x="509750" y="2047665"/>
            <a:chExt cx="2056067" cy="1093184"/>
          </a:xfrm>
        </p:grpSpPr>
        <p:pic>
          <p:nvPicPr>
            <p:cNvPr id="64" name="Picture 63"/>
            <p:cNvPicPr>
              <a:picLocks noChangeAspect="1"/>
            </p:cNvPicPr>
            <p:nvPr/>
          </p:nvPicPr>
          <p:blipFill>
            <a:blip r:embed="rId7"/>
            <a:stretch>
              <a:fillRect/>
            </a:stretch>
          </p:blipFill>
          <p:spPr>
            <a:xfrm>
              <a:off x="509750" y="2047665"/>
              <a:ext cx="2050193" cy="1093184"/>
            </a:xfrm>
            <a:prstGeom prst="rect">
              <a:avLst/>
            </a:prstGeom>
          </p:spPr>
        </p:pic>
        <p:sp>
          <p:nvSpPr>
            <p:cNvPr id="77" name="Rectangle 76"/>
            <p:cNvSpPr/>
            <p:nvPr/>
          </p:nvSpPr>
          <p:spPr>
            <a:xfrm rot="11006264">
              <a:off x="1026515" y="2647424"/>
              <a:ext cx="670074"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p:cNvSpPr txBox="1"/>
            <p:nvPr/>
          </p:nvSpPr>
          <p:spPr>
            <a:xfrm>
              <a:off x="1755980" y="2839672"/>
              <a:ext cx="809837" cy="276999"/>
            </a:xfrm>
            <a:prstGeom prst="rect">
              <a:avLst/>
            </a:prstGeom>
            <a:noFill/>
          </p:spPr>
          <p:txBody>
            <a:bodyPr wrap="none" rtlCol="0">
              <a:spAutoFit/>
            </a:bodyPr>
            <a:lstStyle/>
            <a:p>
              <a:r>
                <a:rPr lang="vi-VN" sz="1200" b="1">
                  <a:latin typeface="Arial Narrow" panose="020B0606020202030204" pitchFamily="34" charset="0"/>
                </a:rPr>
                <a:t>Thinkness</a:t>
              </a:r>
              <a:endParaRPr lang="en-US" sz="1200" b="1">
                <a:latin typeface="Arial Narrow" panose="020B0606020202030204" pitchFamily="34" charset="0"/>
              </a:endParaRPr>
            </a:p>
          </p:txBody>
        </p:sp>
      </p:grpSp>
      <p:sp>
        <p:nvSpPr>
          <p:cNvPr id="105" name="TextBox 104"/>
          <p:cNvSpPr txBox="1"/>
          <p:nvPr/>
        </p:nvSpPr>
        <p:spPr>
          <a:xfrm>
            <a:off x="198627" y="3529416"/>
            <a:ext cx="8228943" cy="276999"/>
          </a:xfrm>
          <a:prstGeom prst="rect">
            <a:avLst/>
          </a:prstGeom>
          <a:noFill/>
        </p:spPr>
        <p:txBody>
          <a:bodyPr wrap="square" rtlCol="0">
            <a:spAutoFit/>
          </a:bodyPr>
          <a:lstStyle/>
          <a:p>
            <a:r>
              <a:rPr lang="en-US" altLang="ko-KR" sz="1200" b="1">
                <a:solidFill>
                  <a:srgbClr val="00B050"/>
                </a:solidFill>
                <a:latin typeface="Arial Narrow" panose="020B0606020202030204" pitchFamily="34" charset="0"/>
                <a:ea typeface="LG스마트체 Regular" panose="020B0600000101010101" pitchFamily="50" charset="-127"/>
              </a:rPr>
              <a:t>※ </a:t>
            </a:r>
            <a:r>
              <a:rPr lang="vi-VN" altLang="ko-KR" sz="1200" b="1">
                <a:solidFill>
                  <a:srgbClr val="00B050"/>
                </a:solidFill>
                <a:latin typeface="Arial Narrow" panose="020B0606020202030204" pitchFamily="34" charset="0"/>
                <a:ea typeface="LG스마트체 Regular" panose="020B0600000101010101" pitchFamily="50" charset="-127"/>
              </a:rPr>
              <a:t>Take 5 sample NG noise and inspect</a:t>
            </a:r>
            <a:endParaRPr lang="vi-VN" sz="1200"/>
          </a:p>
        </p:txBody>
      </p:sp>
      <p:grpSp>
        <p:nvGrpSpPr>
          <p:cNvPr id="45" name="Group 44"/>
          <p:cNvGrpSpPr/>
          <p:nvPr/>
        </p:nvGrpSpPr>
        <p:grpSpPr>
          <a:xfrm>
            <a:off x="1925898" y="651909"/>
            <a:ext cx="3075320" cy="1739103"/>
            <a:chOff x="-11583" y="484068"/>
            <a:chExt cx="3075320" cy="1739103"/>
          </a:xfrm>
        </p:grpSpPr>
        <p:grpSp>
          <p:nvGrpSpPr>
            <p:cNvPr id="44" name="Group 43"/>
            <p:cNvGrpSpPr/>
            <p:nvPr/>
          </p:nvGrpSpPr>
          <p:grpSpPr>
            <a:xfrm>
              <a:off x="-11583" y="484068"/>
              <a:ext cx="3075320" cy="1739103"/>
              <a:chOff x="-11583" y="484068"/>
              <a:chExt cx="3075320" cy="1739103"/>
            </a:xfrm>
          </p:grpSpPr>
          <p:pic>
            <p:nvPicPr>
              <p:cNvPr id="62" name="Picture 61"/>
              <p:cNvPicPr>
                <a:picLocks noChangeAspect="1"/>
              </p:cNvPicPr>
              <p:nvPr/>
            </p:nvPicPr>
            <p:blipFill>
              <a:blip r:embed="rId8"/>
              <a:stretch>
                <a:fillRect/>
              </a:stretch>
            </p:blipFill>
            <p:spPr>
              <a:xfrm>
                <a:off x="364957" y="563103"/>
                <a:ext cx="2304671" cy="1462556"/>
              </a:xfrm>
              <a:prstGeom prst="rect">
                <a:avLst/>
              </a:prstGeom>
            </p:spPr>
          </p:pic>
          <p:sp>
            <p:nvSpPr>
              <p:cNvPr id="22" name="Rectangle 21"/>
              <p:cNvSpPr/>
              <p:nvPr/>
            </p:nvSpPr>
            <p:spPr>
              <a:xfrm>
                <a:off x="1241166" y="490668"/>
                <a:ext cx="790814" cy="430655"/>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rot="10800000">
                <a:off x="2193481" y="1342104"/>
                <a:ext cx="670074"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rot="10800000">
                <a:off x="254387" y="886908"/>
                <a:ext cx="670074"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TextBox 100"/>
              <p:cNvSpPr txBox="1"/>
              <p:nvPr/>
            </p:nvSpPr>
            <p:spPr>
              <a:xfrm>
                <a:off x="2023875" y="484068"/>
                <a:ext cx="641522" cy="276999"/>
              </a:xfrm>
              <a:prstGeom prst="rect">
                <a:avLst/>
              </a:prstGeom>
              <a:noFill/>
            </p:spPr>
            <p:txBody>
              <a:bodyPr wrap="none" rtlCol="0">
                <a:spAutoFit/>
              </a:bodyPr>
              <a:lstStyle/>
              <a:p>
                <a:r>
                  <a:rPr lang="vi-VN" sz="1200" b="1">
                    <a:latin typeface="Arial Narrow" panose="020B0606020202030204" pitchFamily="34" charset="0"/>
                  </a:rPr>
                  <a:t>Embo 2</a:t>
                </a:r>
                <a:endParaRPr lang="en-US" sz="1200" b="1">
                  <a:latin typeface="Arial Narrow" panose="020B0606020202030204" pitchFamily="34" charset="0"/>
                </a:endParaRPr>
              </a:p>
            </p:txBody>
          </p:sp>
          <p:sp>
            <p:nvSpPr>
              <p:cNvPr id="102" name="TextBox 101"/>
              <p:cNvSpPr txBox="1"/>
              <p:nvPr/>
            </p:nvSpPr>
            <p:spPr>
              <a:xfrm>
                <a:off x="-11583" y="644324"/>
                <a:ext cx="641522" cy="276999"/>
              </a:xfrm>
              <a:prstGeom prst="rect">
                <a:avLst/>
              </a:prstGeom>
              <a:noFill/>
            </p:spPr>
            <p:txBody>
              <a:bodyPr wrap="none" rtlCol="0">
                <a:spAutoFit/>
              </a:bodyPr>
              <a:lstStyle/>
              <a:p>
                <a:r>
                  <a:rPr lang="vi-VN" sz="1200" b="1">
                    <a:latin typeface="Arial Narrow" panose="020B0606020202030204" pitchFamily="34" charset="0"/>
                  </a:rPr>
                  <a:t>Embo 1</a:t>
                </a:r>
                <a:endParaRPr lang="en-US" sz="1200" b="1">
                  <a:latin typeface="Arial Narrow" panose="020B0606020202030204" pitchFamily="34" charset="0"/>
                </a:endParaRPr>
              </a:p>
            </p:txBody>
          </p:sp>
          <p:sp>
            <p:nvSpPr>
              <p:cNvPr id="103" name="TextBox 102"/>
              <p:cNvSpPr txBox="1"/>
              <p:nvPr/>
            </p:nvSpPr>
            <p:spPr>
              <a:xfrm>
                <a:off x="2422215" y="1690148"/>
                <a:ext cx="641522" cy="276999"/>
              </a:xfrm>
              <a:prstGeom prst="rect">
                <a:avLst/>
              </a:prstGeom>
              <a:noFill/>
            </p:spPr>
            <p:txBody>
              <a:bodyPr wrap="none" rtlCol="0">
                <a:spAutoFit/>
              </a:bodyPr>
              <a:lstStyle/>
              <a:p>
                <a:r>
                  <a:rPr lang="vi-VN" sz="1200" b="1">
                    <a:latin typeface="Arial Narrow" panose="020B0606020202030204" pitchFamily="34" charset="0"/>
                  </a:rPr>
                  <a:t>Embo 3</a:t>
                </a:r>
                <a:endParaRPr lang="en-US" sz="1200" b="1">
                  <a:latin typeface="Arial Narrow" panose="020B0606020202030204" pitchFamily="34" charset="0"/>
                </a:endParaRPr>
              </a:p>
            </p:txBody>
          </p:sp>
          <p:sp>
            <p:nvSpPr>
              <p:cNvPr id="104" name="TextBox 103"/>
              <p:cNvSpPr txBox="1"/>
              <p:nvPr/>
            </p:nvSpPr>
            <p:spPr>
              <a:xfrm>
                <a:off x="394935" y="1946172"/>
                <a:ext cx="641522" cy="276999"/>
              </a:xfrm>
              <a:prstGeom prst="rect">
                <a:avLst/>
              </a:prstGeom>
              <a:noFill/>
            </p:spPr>
            <p:txBody>
              <a:bodyPr wrap="none" rtlCol="0">
                <a:spAutoFit/>
              </a:bodyPr>
              <a:lstStyle/>
              <a:p>
                <a:r>
                  <a:rPr lang="vi-VN" sz="1200" b="1">
                    <a:latin typeface="Arial Narrow" panose="020B0606020202030204" pitchFamily="34" charset="0"/>
                  </a:rPr>
                  <a:t>Embo 4</a:t>
                </a:r>
                <a:endParaRPr lang="en-US" sz="1200" b="1">
                  <a:latin typeface="Arial Narrow" panose="020B0606020202030204" pitchFamily="34" charset="0"/>
                </a:endParaRPr>
              </a:p>
            </p:txBody>
          </p:sp>
        </p:grpSp>
        <p:sp>
          <p:nvSpPr>
            <p:cNvPr id="75" name="Rectangle 74"/>
            <p:cNvSpPr/>
            <p:nvPr/>
          </p:nvSpPr>
          <p:spPr>
            <a:xfrm rot="10800000">
              <a:off x="1054173" y="1710258"/>
              <a:ext cx="670074"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p:cNvPicPr>
            <a:picLocks noChangeAspect="1"/>
          </p:cNvPicPr>
          <p:nvPr/>
        </p:nvPicPr>
        <p:blipFill>
          <a:blip r:embed="rId9"/>
          <a:stretch>
            <a:fillRect/>
          </a:stretch>
        </p:blipFill>
        <p:spPr>
          <a:xfrm>
            <a:off x="7222163" y="2055233"/>
            <a:ext cx="579437" cy="1178330"/>
          </a:xfrm>
          <a:prstGeom prst="rect">
            <a:avLst/>
          </a:prstGeom>
        </p:spPr>
      </p:pic>
      <p:cxnSp>
        <p:nvCxnSpPr>
          <p:cNvPr id="106" name="Straight Connector 105"/>
          <p:cNvCxnSpPr/>
          <p:nvPr/>
        </p:nvCxnSpPr>
        <p:spPr>
          <a:xfrm>
            <a:off x="320040" y="3529416"/>
            <a:ext cx="9326880" cy="0"/>
          </a:xfrm>
          <a:prstGeom prst="line">
            <a:avLst/>
          </a:prstGeom>
          <a:ln w="12700">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09" name="Straight Connector 108"/>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6" name="Text Box 14">
            <a:extLst>
              <a:ext uri="{FF2B5EF4-FFF2-40B4-BE49-F238E27FC236}">
                <a16:creationId xmlns:a16="http://schemas.microsoft.com/office/drawing/2014/main" id="{12C37E3B-3AB0-4F07-A1E3-6703B44FB3E4}"/>
              </a:ext>
            </a:extLst>
          </p:cNvPr>
          <p:cNvSpPr txBox="1">
            <a:spLocks noChangeArrowheads="1"/>
          </p:cNvSpPr>
          <p:nvPr/>
        </p:nvSpPr>
        <p:spPr bwMode="auto">
          <a:xfrm>
            <a:off x="6906055" y="3739489"/>
            <a:ext cx="3395997" cy="1311128"/>
          </a:xfrm>
          <a:prstGeom prst="rect">
            <a:avLst/>
          </a:prstGeom>
          <a:noFill/>
          <a:ln w="9525" algn="ctr">
            <a:noFill/>
            <a:miter lim="800000"/>
            <a:headEnd/>
            <a:tailEnd/>
          </a:ln>
        </p:spPr>
        <p:txBody>
          <a:bodyPr wrap="square">
            <a:spAutoFit/>
          </a:bodyPr>
          <a:lstStyle/>
          <a:p>
            <a:pPr defTabSz="912813">
              <a:lnSpc>
                <a:spcPct val="120000"/>
              </a:lnSpc>
            </a:pPr>
            <a:r>
              <a:rPr lang="en-US" sz="1100">
                <a:latin typeface="Arial Narrow" panose="020B0606020202030204" pitchFamily="34" charset="0"/>
                <a:ea typeface="LG Smart_H Regular" panose="020B0600000101010101" pitchFamily="34" charset="-127"/>
                <a:sym typeface="Wingdings" pitchFamily="2" charset="2"/>
              </a:rPr>
              <a:t></a:t>
            </a:r>
            <a:r>
              <a:rPr lang="vi-VN" sz="1100">
                <a:latin typeface="Arial Narrow" panose="020B0606020202030204" pitchFamily="34" charset="0"/>
                <a:ea typeface="LG Smart_H Regular" panose="020B0600000101010101" pitchFamily="34" charset="-127"/>
                <a:sym typeface="Wingdings" pitchFamily="2" charset="2"/>
              </a:rPr>
              <a:t> </a:t>
            </a:r>
            <a:r>
              <a:rPr lang="en-US" sz="1100">
                <a:latin typeface="Arial Narrow" panose="020B0606020202030204" pitchFamily="34" charset="0"/>
              </a:rPr>
              <a:t>Based on the data, we can conclude that</a:t>
            </a:r>
            <a:endParaRPr lang="vi-VN" altLang="ko-KR" sz="1100">
              <a:latin typeface="Arial Narrow" panose="020B0606020202030204" pitchFamily="34" charset="0"/>
              <a:ea typeface="LG스마트체 Regular" panose="020B0600000101010101" pitchFamily="50" charset="-127"/>
              <a:cs typeface="Arial" pitchFamily="34" charset="0"/>
            </a:endParaRPr>
          </a:p>
          <a:p>
            <a:pPr defTabSz="912813">
              <a:lnSpc>
                <a:spcPct val="120000"/>
              </a:lnSpc>
            </a:pPr>
            <a:r>
              <a:rPr lang="en-US" altLang="ko-KR" sz="1100" b="1">
                <a:latin typeface="Arial Narrow" panose="020B0606020202030204" pitchFamily="34" charset="0"/>
                <a:ea typeface="LG스마트체 Regular" panose="020B0600000101010101" pitchFamily="50" charset="-127"/>
                <a:cs typeface="Arial" pitchFamily="34" charset="0"/>
              </a:rPr>
              <a:t>Model</a:t>
            </a:r>
            <a:r>
              <a:rPr lang="en-US" altLang="ko-KR" sz="1100" b="1" dirty="0">
                <a:latin typeface="Arial Narrow" panose="020B0606020202030204" pitchFamily="34" charset="0"/>
                <a:ea typeface="LG스마트체 Regular" panose="020B0600000101010101" pitchFamily="50" charset="-127"/>
                <a:cs typeface="Arial" pitchFamily="34" charset="0"/>
              </a:rPr>
              <a:t>: </a:t>
            </a:r>
            <a:r>
              <a:rPr lang="en-US" altLang="ko-KR" sz="1100" dirty="0">
                <a:latin typeface="Arial Narrow" panose="020B0606020202030204" pitchFamily="34" charset="0"/>
                <a:ea typeface="LG스마트체 Regular" panose="020B0600000101010101" pitchFamily="50" charset="-127"/>
                <a:cs typeface="Arial" pitchFamily="34" charset="0"/>
              </a:rPr>
              <a:t>GM Gen 11</a:t>
            </a:r>
            <a:endParaRPr lang="ko-KR" altLang="en-US" sz="1100" dirty="0">
              <a:latin typeface="Arial Narrow" panose="020B0606020202030204" pitchFamily="34" charset="0"/>
              <a:ea typeface="LG스마트체 Regular" panose="020B0600000101010101" pitchFamily="50" charset="-127"/>
              <a:cs typeface="Arial" pitchFamily="34" charset="0"/>
            </a:endParaRPr>
          </a:p>
          <a:p>
            <a:pPr defTabSz="912813">
              <a:lnSpc>
                <a:spcPct val="120000"/>
              </a:lnSpc>
            </a:pPr>
            <a:r>
              <a:rPr lang="en-US" altLang="ko-KR" sz="1100" b="1" dirty="0">
                <a:latin typeface="Arial Narrow" panose="020B0606020202030204" pitchFamily="34" charset="0"/>
                <a:ea typeface="LG스마트체 Regular" panose="020B0600000101010101" pitchFamily="50" charset="-127"/>
                <a:cs typeface="Arial" pitchFamily="34" charset="0"/>
              </a:rPr>
              <a:t>Part name: </a:t>
            </a:r>
            <a:r>
              <a:rPr lang="en-US" altLang="ko-KR" sz="1100" dirty="0">
                <a:latin typeface="Arial Narrow" panose="020B0606020202030204" pitchFamily="34" charset="0"/>
                <a:ea typeface="LG스마트체 Regular" panose="020B0600000101010101" pitchFamily="50" charset="-127"/>
                <a:cs typeface="Arial" pitchFamily="34" charset="0"/>
              </a:rPr>
              <a:t>Bottom case MBN64683301</a:t>
            </a:r>
          </a:p>
          <a:p>
            <a:pPr defTabSz="912813">
              <a:lnSpc>
                <a:spcPct val="120000"/>
              </a:lnSpc>
            </a:pPr>
            <a:r>
              <a:rPr lang="en-US" altLang="ko-KR" sz="1100" b="1" dirty="0">
                <a:latin typeface="Arial Narrow" panose="020B0606020202030204" pitchFamily="34" charset="0"/>
                <a:ea typeface="LG스마트체 Regular" panose="020B0600000101010101" pitchFamily="50" charset="-127"/>
                <a:cs typeface="Arial" pitchFamily="34" charset="0"/>
              </a:rPr>
              <a:t>Issue</a:t>
            </a:r>
            <a:r>
              <a:rPr lang="en-US" altLang="ko-KR" sz="1100" b="1">
                <a:latin typeface="Arial Narrow" panose="020B0606020202030204" pitchFamily="34" charset="0"/>
                <a:ea typeface="LG스마트체 Regular" panose="020B0600000101010101" pitchFamily="50" charset="-127"/>
                <a:cs typeface="Arial" pitchFamily="34" charset="0"/>
              </a:rPr>
              <a:t>: </a:t>
            </a:r>
            <a:r>
              <a:rPr lang="en-US" altLang="ko-KR" sz="1100">
                <a:latin typeface="Arial Narrow" panose="020B0606020202030204" pitchFamily="34" charset="0"/>
                <a:ea typeface="LG스마트체 Regular" panose="020B0600000101010101" pitchFamily="50" charset="-127"/>
                <a:cs typeface="Arial" pitchFamily="34" charset="0"/>
              </a:rPr>
              <a:t>Rattle Noise </a:t>
            </a:r>
            <a:endParaRPr lang="en-US" altLang="ko-KR" sz="1100" dirty="0">
              <a:latin typeface="Arial Narrow" panose="020B0606020202030204" pitchFamily="34" charset="0"/>
              <a:ea typeface="LG스마트체 Regular" panose="020B0600000101010101" pitchFamily="50" charset="-127"/>
              <a:cs typeface="Arial" pitchFamily="34" charset="0"/>
            </a:endParaRPr>
          </a:p>
          <a:p>
            <a:pPr defTabSz="912813">
              <a:lnSpc>
                <a:spcPct val="120000"/>
              </a:lnSpc>
            </a:pPr>
            <a:r>
              <a:rPr lang="en-US" altLang="ko-KR" sz="1100" b="1" dirty="0">
                <a:latin typeface="Arial Narrow" panose="020B0606020202030204" pitchFamily="34" charset="0"/>
                <a:ea typeface="LG스마트체 Regular" panose="020B0600000101010101" pitchFamily="50" charset="-127"/>
                <a:cs typeface="Arial" pitchFamily="34" charset="0"/>
              </a:rPr>
              <a:t>Reason: </a:t>
            </a:r>
            <a:r>
              <a:rPr lang="en-US" altLang="ko-KR" sz="1100" dirty="0">
                <a:latin typeface="Arial Narrow" panose="020B0606020202030204" pitchFamily="34" charset="0"/>
                <a:ea typeface="LG스마트체 Regular" panose="020B0600000101010101" pitchFamily="50" charset="-127"/>
                <a:cs typeface="Arial" pitchFamily="34" charset="0"/>
              </a:rPr>
              <a:t>Gap between Bottom case </a:t>
            </a:r>
            <a:r>
              <a:rPr lang="en-US" altLang="ko-KR" sz="1100">
                <a:latin typeface="Arial Narrow" panose="020B0606020202030204" pitchFamily="34" charset="0"/>
                <a:ea typeface="LG스마트체 Regular" panose="020B0600000101010101" pitchFamily="50" charset="-127"/>
                <a:cs typeface="Arial" pitchFamily="34" charset="0"/>
              </a:rPr>
              <a:t>and PCBA</a:t>
            </a:r>
            <a:endParaRPr lang="vi-VN" altLang="ko-KR" sz="1100">
              <a:latin typeface="Arial Narrow" panose="020B0606020202030204" pitchFamily="34" charset="0"/>
              <a:ea typeface="LG스마트체 Regular" panose="020B0600000101010101" pitchFamily="50" charset="-127"/>
              <a:cs typeface="Arial" pitchFamily="34" charset="0"/>
            </a:endParaRPr>
          </a:p>
          <a:p>
            <a:pPr defTabSz="912813">
              <a:lnSpc>
                <a:spcPct val="120000"/>
              </a:lnSpc>
            </a:pPr>
            <a:r>
              <a:rPr lang="vi-VN" altLang="ko-KR" sz="1100" b="1">
                <a:latin typeface="Arial Narrow" panose="020B0606020202030204" pitchFamily="34" charset="0"/>
                <a:ea typeface="LG스마트체 Regular" panose="020B0600000101010101" pitchFamily="50" charset="-127"/>
                <a:cs typeface="Arial" pitchFamily="34" charset="0"/>
              </a:rPr>
              <a:t>Root Cause: </a:t>
            </a:r>
            <a:r>
              <a:rPr lang="vi-VN" altLang="ko-KR" sz="1100">
                <a:latin typeface="Arial Narrow" panose="020B0606020202030204" pitchFamily="34" charset="0"/>
                <a:ea typeface="LG스마트체 Regular" panose="020B0600000101010101" pitchFamily="50" charset="-127"/>
                <a:cs typeface="Arial" pitchFamily="34" charset="0"/>
              </a:rPr>
              <a:t>Embo 3 height is NG</a:t>
            </a:r>
            <a:endParaRPr lang="ko-KR" altLang="en-US" sz="1100" dirty="0">
              <a:latin typeface="Arial Narrow" panose="020B0606020202030204" pitchFamily="34" charset="0"/>
              <a:ea typeface="LG스마트체 Regular" panose="020B0600000101010101" pitchFamily="50" charset="-127"/>
              <a:cs typeface="Arial" pitchFamily="34" charset="0"/>
            </a:endParaRPr>
          </a:p>
        </p:txBody>
      </p:sp>
      <p:sp>
        <p:nvSpPr>
          <p:cNvPr id="117" name="TextBox 116"/>
          <p:cNvSpPr txBox="1"/>
          <p:nvPr/>
        </p:nvSpPr>
        <p:spPr>
          <a:xfrm>
            <a:off x="6890476" y="3552339"/>
            <a:ext cx="2885766" cy="276999"/>
          </a:xfrm>
          <a:prstGeom prst="rect">
            <a:avLst/>
          </a:prstGeom>
          <a:noFill/>
        </p:spPr>
        <p:txBody>
          <a:bodyPr wrap="square" rtlCol="0">
            <a:spAutoFit/>
          </a:bodyPr>
          <a:lstStyle/>
          <a:p>
            <a:r>
              <a:rPr lang="en-US" altLang="ko-KR" sz="1200" b="1">
                <a:solidFill>
                  <a:srgbClr val="00B050"/>
                </a:solidFill>
                <a:latin typeface="Arial Narrow" panose="020B0606020202030204" pitchFamily="34" charset="0"/>
                <a:ea typeface="LG스마트체 Regular" panose="020B0600000101010101" pitchFamily="50" charset="-127"/>
              </a:rPr>
              <a:t>※ </a:t>
            </a:r>
            <a:r>
              <a:rPr lang="vi-VN" altLang="ko-KR" sz="1200" b="1">
                <a:solidFill>
                  <a:srgbClr val="00B050"/>
                </a:solidFill>
                <a:latin typeface="Arial Narrow" panose="020B0606020202030204" pitchFamily="34" charset="0"/>
                <a:ea typeface="LG스마트체 Regular" panose="020B0600000101010101" pitchFamily="50" charset="-127"/>
              </a:rPr>
              <a:t>Conslution</a:t>
            </a:r>
            <a:endParaRPr lang="vi-VN" sz="1200"/>
          </a:p>
        </p:txBody>
      </p:sp>
      <p:sp>
        <p:nvSpPr>
          <p:cNvPr id="46" name="TextBox 45"/>
          <p:cNvSpPr txBox="1"/>
          <p:nvPr/>
        </p:nvSpPr>
        <p:spPr>
          <a:xfrm>
            <a:off x="73152" y="69580"/>
            <a:ext cx="2438424" cy="369332"/>
          </a:xfrm>
          <a:prstGeom prst="rect">
            <a:avLst/>
          </a:prstGeom>
          <a:noFill/>
        </p:spPr>
        <p:txBody>
          <a:bodyPr wrap="none" rtlCol="0">
            <a:spAutoFit/>
          </a:bodyPr>
          <a:lstStyle/>
          <a:p>
            <a:r>
              <a:rPr lang="en-US">
                <a:latin typeface="Arial Narrow" panose="020B0606020202030204" pitchFamily="34" charset="0"/>
              </a:rPr>
              <a:t>Analyze to select Project Y</a:t>
            </a:r>
          </a:p>
        </p:txBody>
      </p:sp>
      <p:grpSp>
        <p:nvGrpSpPr>
          <p:cNvPr id="49" name="그룹 2"/>
          <p:cNvGrpSpPr/>
          <p:nvPr/>
        </p:nvGrpSpPr>
        <p:grpSpPr>
          <a:xfrm>
            <a:off x="7348816" y="38312"/>
            <a:ext cx="2482234" cy="323850"/>
            <a:chOff x="7343591" y="116689"/>
            <a:chExt cx="2482234" cy="323850"/>
          </a:xfrm>
        </p:grpSpPr>
        <p:sp>
          <p:nvSpPr>
            <p:cNvPr id="50" name="AutoShape 5"/>
            <p:cNvSpPr>
              <a:spLocks noChangeArrowheads="1"/>
            </p:cNvSpPr>
            <p:nvPr/>
          </p:nvSpPr>
          <p:spPr bwMode="auto">
            <a:xfrm>
              <a:off x="7343591" y="116689"/>
              <a:ext cx="636587" cy="323850"/>
            </a:xfrm>
            <a:prstGeom prst="homePlate">
              <a:avLst>
                <a:gd name="adj" fmla="val 42440"/>
              </a:avLst>
            </a:prstGeom>
            <a:solidFill>
              <a:schemeClr val="bg1">
                <a:lumMod val="50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FFFFFF"/>
                  </a:solidFill>
                  <a:latin typeface="Arial Narrow" panose="020B0606020202030204" pitchFamily="34" charset="0"/>
                  <a:ea typeface="LG스마트체 Regular" panose="020B0600000101010101" pitchFamily="50" charset="-127"/>
                </a:rPr>
                <a:t>D</a:t>
              </a:r>
              <a:endParaRPr lang="ko-KR" altLang="ko-KR" sz="1200" b="1" dirty="0">
                <a:solidFill>
                  <a:srgbClr val="FFFFFF"/>
                </a:solidFill>
                <a:latin typeface="Arial Narrow" panose="020B0606020202030204" pitchFamily="34" charset="0"/>
                <a:ea typeface="LG스마트체 Regular" panose="020B0600000101010101" pitchFamily="50" charset="-127"/>
              </a:endParaRPr>
            </a:p>
          </p:txBody>
        </p:sp>
        <p:sp>
          <p:nvSpPr>
            <p:cNvPr id="51"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52"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53"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54" name="AutoShape 4"/>
            <p:cNvSpPr>
              <a:spLocks noChangeArrowheads="1"/>
            </p:cNvSpPr>
            <p:nvPr/>
          </p:nvSpPr>
          <p:spPr bwMode="auto">
            <a:xfrm>
              <a:off x="7980178" y="116689"/>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55" name="Rectangle 54"/>
          <p:cNvSpPr/>
          <p:nvPr/>
        </p:nvSpPr>
        <p:spPr>
          <a:xfrm rot="10800000">
            <a:off x="1451770" y="2706806"/>
            <a:ext cx="232703" cy="375734"/>
          </a:xfrm>
          <a:prstGeom prst="rect">
            <a:avLst/>
          </a:prstGeom>
          <a:noFill/>
          <a:ln>
            <a:solidFill>
              <a:schemeClr val="accent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1483583" y="3167107"/>
            <a:ext cx="986167" cy="276999"/>
          </a:xfrm>
          <a:prstGeom prst="rect">
            <a:avLst/>
          </a:prstGeom>
          <a:noFill/>
        </p:spPr>
        <p:txBody>
          <a:bodyPr wrap="none" rtlCol="0">
            <a:spAutoFit/>
          </a:bodyPr>
          <a:lstStyle/>
          <a:p>
            <a:r>
              <a:rPr lang="vi-VN" sz="1200" b="1">
                <a:latin typeface="Arial Narrow" panose="020B0606020202030204" pitchFamily="34" charset="0"/>
              </a:rPr>
              <a:t>Screw Height</a:t>
            </a:r>
            <a:endParaRPr lang="en-US" sz="1200" b="1">
              <a:latin typeface="Arial Narrow" panose="020B0606020202030204" pitchFamily="34" charset="0"/>
            </a:endParaRPr>
          </a:p>
        </p:txBody>
      </p:sp>
    </p:spTree>
    <p:extLst>
      <p:ext uri="{BB962C8B-B14F-4D97-AF65-F5344CB8AC3E}">
        <p14:creationId xmlns:p14="http://schemas.microsoft.com/office/powerpoint/2010/main" val="3036393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48816" y="38312"/>
            <a:ext cx="2482234" cy="323850"/>
            <a:chOff x="7343591" y="116689"/>
            <a:chExt cx="2482234" cy="323850"/>
          </a:xfrm>
        </p:grpSpPr>
        <p:sp>
          <p:nvSpPr>
            <p:cNvPr id="7" name="AutoShape 5"/>
            <p:cNvSpPr>
              <a:spLocks noChangeArrowheads="1"/>
            </p:cNvSpPr>
            <p:nvPr/>
          </p:nvSpPr>
          <p:spPr bwMode="auto">
            <a:xfrm>
              <a:off x="7343591" y="116689"/>
              <a:ext cx="636587" cy="323850"/>
            </a:xfrm>
            <a:prstGeom prst="homePlate">
              <a:avLst>
                <a:gd name="adj" fmla="val 42440"/>
              </a:avLst>
            </a:prstGeom>
            <a:solidFill>
              <a:schemeClr val="bg1">
                <a:lumMod val="50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FFFFFF"/>
                  </a:solidFill>
                  <a:latin typeface="Arial Narrow" panose="020B0606020202030204" pitchFamily="34" charset="0"/>
                  <a:ea typeface="LG스마트체 Regular" panose="020B0600000101010101" pitchFamily="50" charset="-127"/>
                </a:rPr>
                <a:t>D</a:t>
              </a:r>
              <a:endParaRPr lang="ko-KR" altLang="ko-KR" sz="1200" b="1" dirty="0">
                <a:solidFill>
                  <a:srgbClr val="FFFFFF"/>
                </a:solidFill>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980178" y="116689"/>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11" name="TextBox 10"/>
          <p:cNvSpPr txBox="1"/>
          <p:nvPr/>
        </p:nvSpPr>
        <p:spPr>
          <a:xfrm>
            <a:off x="73152" y="69580"/>
            <a:ext cx="1439818" cy="369332"/>
          </a:xfrm>
          <a:prstGeom prst="rect">
            <a:avLst/>
          </a:prstGeom>
          <a:noFill/>
        </p:spPr>
        <p:txBody>
          <a:bodyPr wrap="none" rtlCol="0">
            <a:spAutoFit/>
          </a:bodyPr>
          <a:lstStyle/>
          <a:p>
            <a:r>
              <a:rPr lang="en-US">
                <a:latin typeface="Arial Narrow" panose="020B0606020202030204" pitchFamily="34" charset="0"/>
              </a:rPr>
              <a:t>Yy break down</a:t>
            </a:r>
          </a:p>
        </p:txBody>
      </p:sp>
      <p:sp>
        <p:nvSpPr>
          <p:cNvPr id="13" name="TextBox 12"/>
          <p:cNvSpPr txBox="1"/>
          <p:nvPr/>
        </p:nvSpPr>
        <p:spPr>
          <a:xfrm>
            <a:off x="137115" y="553865"/>
            <a:ext cx="9693935" cy="276999"/>
          </a:xfrm>
          <a:prstGeom prst="rect">
            <a:avLst/>
          </a:prstGeom>
          <a:noFill/>
        </p:spPr>
        <p:txBody>
          <a:bodyPr wrap="square" rtlCol="0">
            <a:spAutoFit/>
          </a:bodyPr>
          <a:lstStyle/>
          <a:p>
            <a:r>
              <a:rPr lang="en-US" sz="1200">
                <a:latin typeface="Arial Narrow" panose="020B0606020202030204" pitchFamily="34" charset="0"/>
              </a:rPr>
              <a:t>In order to improve the quality of the GM Gen 11 process, the Rattle Noise defect improvement of the process defect was Selectd as a project.</a:t>
            </a:r>
          </a:p>
        </p:txBody>
      </p:sp>
      <p:sp>
        <p:nvSpPr>
          <p:cNvPr id="14" name="직사각형 29">
            <a:extLst>
              <a:ext uri="{FF2B5EF4-FFF2-40B4-BE49-F238E27FC236}">
                <a16:creationId xmlns:a16="http://schemas.microsoft.com/office/drawing/2014/main" id="{6C0A2F1C-B99C-432A-9914-32D9FC99C221}"/>
              </a:ext>
            </a:extLst>
          </p:cNvPr>
          <p:cNvSpPr/>
          <p:nvPr/>
        </p:nvSpPr>
        <p:spPr>
          <a:xfrm>
            <a:off x="3796690" y="1685711"/>
            <a:ext cx="1050501"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rgbClr val="000000"/>
                </a:solidFill>
                <a:latin typeface="Arial Narrow" panose="020B0606020202030204" pitchFamily="34" charset="0"/>
                <a:ea typeface="LG Smart_H Regular" panose="020B0600000101010101" pitchFamily="34" charset="-127"/>
              </a:rPr>
              <a:t>Screw</a:t>
            </a:r>
          </a:p>
        </p:txBody>
      </p:sp>
      <p:sp>
        <p:nvSpPr>
          <p:cNvPr id="15" name="직사각형 30">
            <a:extLst>
              <a:ext uri="{FF2B5EF4-FFF2-40B4-BE49-F238E27FC236}">
                <a16:creationId xmlns:a16="http://schemas.microsoft.com/office/drawing/2014/main" id="{457C26F1-AB89-49F1-8F58-A8F33D2AB4C3}"/>
              </a:ext>
            </a:extLst>
          </p:cNvPr>
          <p:cNvSpPr/>
          <p:nvPr/>
        </p:nvSpPr>
        <p:spPr>
          <a:xfrm>
            <a:off x="2402000" y="1685152"/>
            <a:ext cx="1203647" cy="1401305"/>
          </a:xfrm>
          <a:prstGeom prst="rect">
            <a:avLst/>
          </a:prstGeom>
          <a:noFill/>
          <a:ln w="15875">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a:defRPr/>
            </a:pPr>
            <a:r>
              <a:rPr lang="en-US" altLang="ko-KR" sz="1000">
                <a:latin typeface="Arial Narrow" panose="020B0606020202030204" pitchFamily="34" charset="0"/>
                <a:ea typeface="LG스마트체 Regular" panose="020B0600000101010101" pitchFamily="50" charset="-127"/>
                <a:cs typeface="Arial" pitchFamily="34" charset="0"/>
              </a:rPr>
              <a:t>Mechanic issue</a:t>
            </a:r>
            <a:endParaRPr lang="vi-VN" altLang="ko-KR" sz="1000">
              <a:latin typeface="Arial Narrow" panose="020B0606020202030204" pitchFamily="34" charset="0"/>
              <a:ea typeface="LG스마트체 Regular" panose="020B0600000101010101" pitchFamily="50" charset="-127"/>
              <a:cs typeface="Arial" pitchFamily="34" charset="0"/>
            </a:endParaRPr>
          </a:p>
          <a:p>
            <a:pPr algn="ctr">
              <a:defRPr/>
            </a:pPr>
            <a:endParaRPr lang="vi-VN" altLang="ko-KR" sz="1000">
              <a:latin typeface="Arial Narrow" panose="020B0606020202030204" pitchFamily="34" charset="0"/>
              <a:ea typeface="LG스마트체 Regular" panose="020B0600000101010101" pitchFamily="50" charset="-127"/>
              <a:cs typeface="Arial" pitchFamily="34" charset="0"/>
            </a:endParaRPr>
          </a:p>
          <a:p>
            <a:pPr algn="ctr">
              <a:defRPr/>
            </a:pPr>
            <a:endParaRPr lang="vi-VN" altLang="ko-KR" sz="1000">
              <a:latin typeface="Arial Narrow" panose="020B0606020202030204" pitchFamily="34" charset="0"/>
              <a:ea typeface="LG스마트체 Regular" panose="020B0600000101010101" pitchFamily="50" charset="-127"/>
              <a:cs typeface="Arial" pitchFamily="34" charset="0"/>
            </a:endParaRPr>
          </a:p>
          <a:p>
            <a:pPr algn="ctr">
              <a:defRPr/>
            </a:pPr>
            <a:r>
              <a:rPr lang="en-US" altLang="ko-KR" sz="1000">
                <a:latin typeface="Arial Narrow" panose="020B0606020202030204" pitchFamily="34" charset="0"/>
                <a:ea typeface="LG스마트체 Regular" panose="020B0600000101010101" pitchFamily="50" charset="-127"/>
                <a:cs typeface="Arial" pitchFamily="34" charset="0"/>
              </a:rPr>
              <a:t> </a:t>
            </a:r>
            <a:endParaRPr lang="vi-VN" altLang="ko-KR" sz="1000" dirty="0">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16" name="표 44">
            <a:extLst>
              <a:ext uri="{FF2B5EF4-FFF2-40B4-BE49-F238E27FC236}">
                <a16:creationId xmlns:a16="http://schemas.microsoft.com/office/drawing/2014/main" id="{344FEA89-D85E-48B0-8DBC-4E59589361EB}"/>
              </a:ext>
            </a:extLst>
          </p:cNvPr>
          <p:cNvGraphicFramePr>
            <a:graphicFrameLocks noGrp="1"/>
          </p:cNvGraphicFramePr>
          <p:nvPr>
            <p:extLst>
              <p:ext uri="{D42A27DB-BD31-4B8C-83A1-F6EECF244321}">
                <p14:modId xmlns:p14="http://schemas.microsoft.com/office/powerpoint/2010/main" val="860749678"/>
              </p:ext>
            </p:extLst>
          </p:nvPr>
        </p:nvGraphicFramePr>
        <p:xfrm>
          <a:off x="2402000" y="1106824"/>
          <a:ext cx="1201608" cy="428625"/>
        </p:xfrm>
        <a:graphic>
          <a:graphicData uri="http://schemas.openxmlformats.org/drawingml/2006/table">
            <a:tbl>
              <a:tblPr/>
              <a:tblGrid>
                <a:gridCol w="1201608">
                  <a:extLst>
                    <a:ext uri="{9D8B030D-6E8A-4147-A177-3AD203B41FA5}">
                      <a16:colId xmlns:a16="http://schemas.microsoft.com/office/drawing/2014/main" val="20000"/>
                    </a:ext>
                  </a:extLst>
                </a:gridCol>
              </a:tblGrid>
              <a:tr h="428625">
                <a:tc>
                  <a:txBody>
                    <a:bodyPr/>
                    <a:lstStyle/>
                    <a:p>
                      <a:pPr algn="ctr">
                        <a:defRPr/>
                      </a:pPr>
                      <a:r>
                        <a:rPr lang="en-US" altLang="ko-KR" sz="1000" b="1">
                          <a:latin typeface="Arial Narrow" panose="020B0606020202030204" pitchFamily="34" charset="0"/>
                          <a:ea typeface="LG스마트체 Regular" panose="020B0600000101010101" pitchFamily="50" charset="-127"/>
                        </a:rPr>
                        <a:t>Little y1 </a:t>
                      </a:r>
                      <a:endParaRPr lang="en-US" altLang="ko-KR" sz="1000" b="1" dirty="0">
                        <a:latin typeface="Arial Narrow" panose="020B0606020202030204" pitchFamily="34" charset="0"/>
                        <a:ea typeface="LG스마트체 Regular" panose="020B0600000101010101" pitchFamily="50" charset="-127"/>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17" name="표 45">
            <a:extLst>
              <a:ext uri="{FF2B5EF4-FFF2-40B4-BE49-F238E27FC236}">
                <a16:creationId xmlns:a16="http://schemas.microsoft.com/office/drawing/2014/main" id="{5322AB64-FF8C-4733-B463-21AACA2B40CE}"/>
              </a:ext>
            </a:extLst>
          </p:cNvPr>
          <p:cNvGraphicFramePr>
            <a:graphicFrameLocks noGrp="1"/>
          </p:cNvGraphicFramePr>
          <p:nvPr>
            <p:extLst>
              <p:ext uri="{D42A27DB-BD31-4B8C-83A1-F6EECF244321}">
                <p14:modId xmlns:p14="http://schemas.microsoft.com/office/powerpoint/2010/main" val="434724140"/>
              </p:ext>
            </p:extLst>
          </p:nvPr>
        </p:nvGraphicFramePr>
        <p:xfrm>
          <a:off x="3788318" y="1105990"/>
          <a:ext cx="1058492" cy="417971"/>
        </p:xfrm>
        <a:graphic>
          <a:graphicData uri="http://schemas.openxmlformats.org/drawingml/2006/table">
            <a:tbl>
              <a:tblPr/>
              <a:tblGrid>
                <a:gridCol w="1058492">
                  <a:extLst>
                    <a:ext uri="{9D8B030D-6E8A-4147-A177-3AD203B41FA5}">
                      <a16:colId xmlns:a16="http://schemas.microsoft.com/office/drawing/2014/main" val="20000"/>
                    </a:ext>
                  </a:extLst>
                </a:gridCol>
              </a:tblGrid>
              <a:tr h="417971">
                <a:tc>
                  <a:txBody>
                    <a:bodyPr/>
                    <a:lstStyle/>
                    <a:p>
                      <a:pPr algn="ctr">
                        <a:defRPr/>
                      </a:pPr>
                      <a:r>
                        <a:rPr lang="en-US" altLang="ko-KR" sz="1000" b="1">
                          <a:latin typeface="Arial Narrow" panose="020B0606020202030204" pitchFamily="34" charset="0"/>
                          <a:ea typeface="LG스마트체 Regular" panose="020B0600000101010101" pitchFamily="50" charset="-127"/>
                        </a:rPr>
                        <a:t>little y</a:t>
                      </a:r>
                      <a:r>
                        <a:rPr lang="en-US" altLang="ko-KR" sz="1000" b="1" baseline="0">
                          <a:latin typeface="Arial Narrow" panose="020B0606020202030204" pitchFamily="34" charset="0"/>
                          <a:ea typeface="LG스마트체 Regular" panose="020B0600000101010101" pitchFamily="50" charset="-127"/>
                        </a:rPr>
                        <a:t> 2</a:t>
                      </a:r>
                      <a:endParaRPr lang="en-US" altLang="ko-KR" sz="1000" b="1" dirty="0">
                        <a:latin typeface="Arial Narrow" panose="020B0606020202030204" pitchFamily="34" charset="0"/>
                        <a:ea typeface="LG스마트체 Regular" panose="020B0600000101010101" pitchFamily="50" charset="-127"/>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18" name="표 46">
            <a:extLst>
              <a:ext uri="{FF2B5EF4-FFF2-40B4-BE49-F238E27FC236}">
                <a16:creationId xmlns:a16="http://schemas.microsoft.com/office/drawing/2014/main" id="{08859A98-D844-4493-9233-9A19E4DF1AD8}"/>
              </a:ext>
            </a:extLst>
          </p:cNvPr>
          <p:cNvGraphicFramePr>
            <a:graphicFrameLocks noGrp="1"/>
          </p:cNvGraphicFramePr>
          <p:nvPr>
            <p:extLst>
              <p:ext uri="{D42A27DB-BD31-4B8C-83A1-F6EECF244321}">
                <p14:modId xmlns:p14="http://schemas.microsoft.com/office/powerpoint/2010/main" val="958785121"/>
              </p:ext>
            </p:extLst>
          </p:nvPr>
        </p:nvGraphicFramePr>
        <p:xfrm>
          <a:off x="5033616" y="1104921"/>
          <a:ext cx="1076770" cy="419434"/>
        </p:xfrm>
        <a:graphic>
          <a:graphicData uri="http://schemas.openxmlformats.org/drawingml/2006/table">
            <a:tbl>
              <a:tblPr/>
              <a:tblGrid>
                <a:gridCol w="1076770">
                  <a:extLst>
                    <a:ext uri="{9D8B030D-6E8A-4147-A177-3AD203B41FA5}">
                      <a16:colId xmlns:a16="http://schemas.microsoft.com/office/drawing/2014/main" val="20000"/>
                    </a:ext>
                  </a:extLst>
                </a:gridCol>
              </a:tblGrid>
              <a:tr h="419434">
                <a:tc>
                  <a:txBody>
                    <a:bodyPr/>
                    <a:lstStyle/>
                    <a:p>
                      <a:pPr marL="0" algn="ctr" defTabSz="914400" rtl="0" eaLnBrk="1" latinLnBrk="1" hangingPunct="1">
                        <a:defRPr/>
                      </a:pPr>
                      <a:r>
                        <a:rPr lang="en-US" altLang="ko-KR" sz="1000" b="1" kern="1200">
                          <a:solidFill>
                            <a:schemeClr val="tx1"/>
                          </a:solidFill>
                          <a:latin typeface="Arial Narrow" panose="020B0606020202030204" pitchFamily="34" charset="0"/>
                          <a:ea typeface="LG스마트체 Regular" panose="020B0600000101010101" pitchFamily="50" charset="-127"/>
                          <a:cs typeface="+mn-cs"/>
                        </a:rPr>
                        <a:t>little y</a:t>
                      </a:r>
                      <a:r>
                        <a:rPr lang="en-US" altLang="ko-KR" sz="1000" b="1" kern="1200" baseline="0">
                          <a:solidFill>
                            <a:schemeClr val="tx1"/>
                          </a:solidFill>
                          <a:latin typeface="Arial Narrow" panose="020B0606020202030204" pitchFamily="34" charset="0"/>
                          <a:ea typeface="LG스마트체 Regular" panose="020B0600000101010101" pitchFamily="50" charset="-127"/>
                          <a:cs typeface="+mn-cs"/>
                        </a:rPr>
                        <a:t> 3</a:t>
                      </a:r>
                      <a:endParaRPr lang="en-US" altLang="ko-KR" sz="1000" b="1" kern="1200" dirty="0">
                        <a:solidFill>
                          <a:schemeClr val="tx1"/>
                        </a:solidFill>
                        <a:latin typeface="Arial Narrow" panose="020B0606020202030204" pitchFamily="34" charset="0"/>
                        <a:ea typeface="LG스마트체 Regular" panose="020B0600000101010101" pitchFamily="50" charset="-127"/>
                        <a:cs typeface="+mn-cs"/>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19" name="표 49">
            <a:extLst>
              <a:ext uri="{FF2B5EF4-FFF2-40B4-BE49-F238E27FC236}">
                <a16:creationId xmlns:a16="http://schemas.microsoft.com/office/drawing/2014/main" id="{80C6BAD0-83F6-4EFF-AF02-5D7C4C1B401C}"/>
              </a:ext>
            </a:extLst>
          </p:cNvPr>
          <p:cNvGraphicFramePr>
            <a:graphicFrameLocks noGrp="1"/>
          </p:cNvGraphicFramePr>
          <p:nvPr>
            <p:extLst>
              <p:ext uri="{D42A27DB-BD31-4B8C-83A1-F6EECF244321}">
                <p14:modId xmlns:p14="http://schemas.microsoft.com/office/powerpoint/2010/main" val="3172621406"/>
              </p:ext>
            </p:extLst>
          </p:nvPr>
        </p:nvGraphicFramePr>
        <p:xfrm>
          <a:off x="8504837" y="1112875"/>
          <a:ext cx="948977" cy="412882"/>
        </p:xfrm>
        <a:graphic>
          <a:graphicData uri="http://schemas.openxmlformats.org/drawingml/2006/table">
            <a:tbl>
              <a:tblPr/>
              <a:tblGrid>
                <a:gridCol w="948977">
                  <a:extLst>
                    <a:ext uri="{9D8B030D-6E8A-4147-A177-3AD203B41FA5}">
                      <a16:colId xmlns:a16="http://schemas.microsoft.com/office/drawing/2014/main" val="20000"/>
                    </a:ext>
                  </a:extLst>
                </a:gridCol>
              </a:tblGrid>
              <a:tr h="412882">
                <a:tc>
                  <a:txBody>
                    <a:bodyPr/>
                    <a:lstStyle/>
                    <a:p>
                      <a:pPr marL="0" algn="ctr" defTabSz="914400" rtl="0" eaLnBrk="1" latinLnBrk="1" hangingPunct="1">
                        <a:defRPr/>
                      </a:pPr>
                      <a:r>
                        <a:rPr lang="en-US" altLang="ko-KR" sz="1000" b="1" kern="1200" dirty="0">
                          <a:solidFill>
                            <a:schemeClr val="tx1"/>
                          </a:solidFill>
                          <a:latin typeface="Arial Narrow" panose="020B0606020202030204" pitchFamily="34" charset="0"/>
                          <a:ea typeface="LG스마트체 Regular" panose="020B0600000101010101" pitchFamily="50" charset="-127"/>
                          <a:cs typeface="+mn-cs"/>
                        </a:rPr>
                        <a:t>PIC</a:t>
                      </a:r>
                      <a:endParaRPr lang="ko-KR" altLang="en-US" sz="1000" b="1" kern="1200" dirty="0">
                        <a:solidFill>
                          <a:schemeClr val="tx1"/>
                        </a:solidFill>
                        <a:latin typeface="Arial Narrow" panose="020B0606020202030204" pitchFamily="34" charset="0"/>
                        <a:ea typeface="LG스마트체 Regular" panose="020B0600000101010101" pitchFamily="50" charset="-127"/>
                        <a:cs typeface="+mn-cs"/>
                      </a:endParaRPr>
                    </a:p>
                  </a:txBody>
                  <a:tcPr marL="91516" marR="915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20" name="Rectangle 19">
            <a:extLst>
              <a:ext uri="{FF2B5EF4-FFF2-40B4-BE49-F238E27FC236}">
                <a16:creationId xmlns:a16="http://schemas.microsoft.com/office/drawing/2014/main" id="{86548C71-8850-4F63-BF7E-EF4293842ABA}"/>
              </a:ext>
            </a:extLst>
          </p:cNvPr>
          <p:cNvSpPr/>
          <p:nvPr/>
        </p:nvSpPr>
        <p:spPr>
          <a:xfrm>
            <a:off x="320110" y="1747414"/>
            <a:ext cx="1829166" cy="707886"/>
          </a:xfrm>
          <a:prstGeom prst="rect">
            <a:avLst/>
          </a:prstGeom>
        </p:spPr>
        <p:txBody>
          <a:bodyPr wrap="square">
            <a:spAutoFit/>
          </a:bodyPr>
          <a:lstStyle/>
          <a:p>
            <a:pPr algn="ctr"/>
            <a:r>
              <a:rPr lang="en-US" sz="1000" dirty="0">
                <a:latin typeface="Arial Narrow" panose="020B0606020202030204" pitchFamily="34" charset="0"/>
                <a:ea typeface="LG Smart_H Regular" panose="020B0600000101010101" pitchFamily="34" charset="-127"/>
                <a:cs typeface="Arial" pitchFamily="34" charset="0"/>
                <a:sym typeface="Wingdings" panose="05000000000000000000" pitchFamily="2" charset="2"/>
              </a:rPr>
              <a:t>Model: GM </a:t>
            </a:r>
            <a:r>
              <a:rPr lang="en-US" sz="1000">
                <a:latin typeface="Arial Narrow" panose="020B0606020202030204" pitchFamily="34" charset="0"/>
                <a:ea typeface="LG Smart_H Regular" panose="020B0600000101010101" pitchFamily="34" charset="-127"/>
                <a:cs typeface="Arial" pitchFamily="34" charset="0"/>
                <a:sym typeface="Wingdings" panose="05000000000000000000" pitchFamily="2" charset="2"/>
              </a:rPr>
              <a:t>Gen 11</a:t>
            </a:r>
          </a:p>
          <a:p>
            <a:pPr algn="ctr"/>
            <a:r>
              <a:rPr lang="en-US" sz="1000">
                <a:latin typeface="Arial Narrow" panose="020B0606020202030204" pitchFamily="34" charset="0"/>
                <a:ea typeface="LG Smart_H Regular" panose="020B0600000101010101" pitchFamily="34" charset="-127"/>
                <a:cs typeface="Arial" pitchFamily="34" charset="0"/>
                <a:sym typeface="Wingdings" panose="05000000000000000000" pitchFamily="2" charset="2"/>
              </a:rPr>
              <a:t>Issue at 0km</a:t>
            </a:r>
          </a:p>
          <a:p>
            <a:pPr algn="ctr"/>
            <a:r>
              <a:rPr lang="en-US" sz="1000">
                <a:latin typeface="Arial Narrow" panose="020B0606020202030204" pitchFamily="34" charset="0"/>
                <a:ea typeface="LG Smart_H Regular" panose="020B0600000101010101" pitchFamily="34" charset="-127"/>
                <a:cs typeface="Arial" pitchFamily="34" charset="0"/>
                <a:sym typeface="Wingdings" panose="05000000000000000000" pitchFamily="2" charset="2"/>
              </a:rPr>
              <a:t>Process defect</a:t>
            </a:r>
          </a:p>
          <a:p>
            <a:pPr algn="ctr"/>
            <a:r>
              <a:rPr lang="en-US" sz="1000">
                <a:latin typeface="Arial Narrow" panose="020B0606020202030204" pitchFamily="34" charset="0"/>
                <a:ea typeface="LG Smart_H Regular" panose="020B0600000101010101" pitchFamily="34" charset="-127"/>
                <a:cs typeface="Arial" pitchFamily="34" charset="0"/>
                <a:sym typeface="Wingdings" panose="05000000000000000000" pitchFamily="2" charset="2"/>
              </a:rPr>
              <a:t>Supplier issue</a:t>
            </a:r>
            <a:endParaRPr lang="en-US" sz="1000" dirty="0">
              <a:latin typeface="Arial Narrow" panose="020B0606020202030204" pitchFamily="34" charset="0"/>
              <a:ea typeface="LG Smart_H Regular" panose="020B0600000101010101" pitchFamily="34" charset="-127"/>
              <a:cs typeface="Arial" pitchFamily="34" charset="0"/>
              <a:sym typeface="Wingdings" panose="05000000000000000000" pitchFamily="2" charset="2"/>
            </a:endParaRPr>
          </a:p>
        </p:txBody>
      </p:sp>
      <p:cxnSp>
        <p:nvCxnSpPr>
          <p:cNvPr id="21" name="Straight Connector 20">
            <a:extLst>
              <a:ext uri="{FF2B5EF4-FFF2-40B4-BE49-F238E27FC236}">
                <a16:creationId xmlns:a16="http://schemas.microsoft.com/office/drawing/2014/main" id="{9FDC7DB7-EC93-4593-953E-38E6DCD9D7C8}"/>
              </a:ext>
            </a:extLst>
          </p:cNvPr>
          <p:cNvCxnSpPr>
            <a:cxnSpLocks/>
          </p:cNvCxnSpPr>
          <p:nvPr/>
        </p:nvCxnSpPr>
        <p:spPr>
          <a:xfrm>
            <a:off x="4154961" y="484833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직사각형 30">
            <a:extLst>
              <a:ext uri="{FF2B5EF4-FFF2-40B4-BE49-F238E27FC236}">
                <a16:creationId xmlns:a16="http://schemas.microsoft.com/office/drawing/2014/main" id="{E150A149-10AE-431C-B7A6-BA47E9163AAE}"/>
              </a:ext>
            </a:extLst>
          </p:cNvPr>
          <p:cNvSpPr/>
          <p:nvPr/>
        </p:nvSpPr>
        <p:spPr>
          <a:xfrm>
            <a:off x="618205" y="1693199"/>
            <a:ext cx="1271106" cy="1393258"/>
          </a:xfrm>
          <a:prstGeom prst="rect">
            <a:avLst/>
          </a:prstGeom>
          <a:noFill/>
          <a:ln w="15875">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a:defRPr/>
            </a:pPr>
            <a:endParaRPr lang="vi-VN" altLang="ko-KR" sz="1000" dirty="0">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23" name="표 44">
            <a:extLst>
              <a:ext uri="{FF2B5EF4-FFF2-40B4-BE49-F238E27FC236}">
                <a16:creationId xmlns:a16="http://schemas.microsoft.com/office/drawing/2014/main" id="{25C31C7F-4B08-4DA5-A8CC-46EBD0A29C77}"/>
              </a:ext>
            </a:extLst>
          </p:cNvPr>
          <p:cNvGraphicFramePr>
            <a:graphicFrameLocks noGrp="1"/>
          </p:cNvGraphicFramePr>
          <p:nvPr>
            <p:extLst>
              <p:ext uri="{D42A27DB-BD31-4B8C-83A1-F6EECF244321}">
                <p14:modId xmlns:p14="http://schemas.microsoft.com/office/powerpoint/2010/main" val="2565465204"/>
              </p:ext>
            </p:extLst>
          </p:nvPr>
        </p:nvGraphicFramePr>
        <p:xfrm>
          <a:off x="631762" y="1112508"/>
          <a:ext cx="1257549" cy="428625"/>
        </p:xfrm>
        <a:graphic>
          <a:graphicData uri="http://schemas.openxmlformats.org/drawingml/2006/table">
            <a:tbl>
              <a:tblPr/>
              <a:tblGrid>
                <a:gridCol w="1257549">
                  <a:extLst>
                    <a:ext uri="{9D8B030D-6E8A-4147-A177-3AD203B41FA5}">
                      <a16:colId xmlns:a16="http://schemas.microsoft.com/office/drawing/2014/main" val="20000"/>
                    </a:ext>
                  </a:extLst>
                </a:gridCol>
              </a:tblGrid>
              <a:tr h="428625">
                <a:tc>
                  <a:txBody>
                    <a:bodyPr/>
                    <a:lstStyle/>
                    <a:p>
                      <a:pPr algn="ctr">
                        <a:defRPr/>
                      </a:pPr>
                      <a:r>
                        <a:rPr lang="en-US" altLang="ko-KR" sz="1000" b="1">
                          <a:latin typeface="Arial Narrow" panose="020B0606020202030204" pitchFamily="34" charset="0"/>
                          <a:ea typeface="LG스마트체 Regular" panose="020B0600000101010101" pitchFamily="50" charset="-127"/>
                        </a:rPr>
                        <a:t>Production Division</a:t>
                      </a:r>
                    </a:p>
                    <a:p>
                      <a:pPr algn="ctr">
                        <a:defRPr/>
                      </a:pPr>
                      <a:r>
                        <a:rPr lang="en-US" altLang="ko-KR" sz="1000" b="1">
                          <a:latin typeface="Arial Narrow" panose="020B0606020202030204" pitchFamily="34" charset="0"/>
                          <a:ea typeface="LG스마트체 Regular" panose="020B0600000101010101" pitchFamily="50" charset="-127"/>
                        </a:rPr>
                        <a:t>Big </a:t>
                      </a:r>
                      <a:r>
                        <a:rPr lang="en-US" altLang="ko-KR" sz="1000" b="1" dirty="0">
                          <a:latin typeface="Arial Narrow" panose="020B0606020202030204" pitchFamily="34" charset="0"/>
                          <a:ea typeface="LG스마트체 Regular" panose="020B0600000101010101" pitchFamily="50" charset="-127"/>
                        </a:rPr>
                        <a: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24" name="직사각형 30">
            <a:extLst>
              <a:ext uri="{FF2B5EF4-FFF2-40B4-BE49-F238E27FC236}">
                <a16:creationId xmlns:a16="http://schemas.microsoft.com/office/drawing/2014/main" id="{C06A63A0-99BC-477E-93E4-702A4C7B8F21}"/>
              </a:ext>
            </a:extLst>
          </p:cNvPr>
          <p:cNvSpPr/>
          <p:nvPr/>
        </p:nvSpPr>
        <p:spPr>
          <a:xfrm>
            <a:off x="2402000" y="4228421"/>
            <a:ext cx="1203647" cy="1792865"/>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a:defRPr/>
            </a:pPr>
            <a:r>
              <a:rPr lang="en-US" altLang="ko-KR" sz="1000" dirty="0">
                <a:latin typeface="Arial Narrow" panose="020B0606020202030204" pitchFamily="34" charset="0"/>
                <a:ea typeface="LG스마트체 Regular" panose="020B0600000101010101" pitchFamily="50" charset="-127"/>
                <a:cs typeface="Arial" pitchFamily="34" charset="0"/>
              </a:rPr>
              <a:t>Software issue</a:t>
            </a:r>
            <a:endParaRPr lang="vi-VN" altLang="ko-KR" sz="1000" dirty="0">
              <a:latin typeface="LG스마트체 Regular" panose="020B0600000101010101" pitchFamily="50" charset="-127"/>
              <a:ea typeface="LG스마트체 Regular" panose="020B0600000101010101" pitchFamily="50" charset="-127"/>
              <a:cs typeface="Arial" pitchFamily="34" charset="0"/>
            </a:endParaRPr>
          </a:p>
        </p:txBody>
      </p:sp>
      <p:sp>
        <p:nvSpPr>
          <p:cNvPr id="25" name="직사각형 29">
            <a:extLst>
              <a:ext uri="{FF2B5EF4-FFF2-40B4-BE49-F238E27FC236}">
                <a16:creationId xmlns:a16="http://schemas.microsoft.com/office/drawing/2014/main" id="{29541A27-9A6B-40BE-9BB6-4A674F8EF7D7}"/>
              </a:ext>
            </a:extLst>
          </p:cNvPr>
          <p:cNvSpPr/>
          <p:nvPr/>
        </p:nvSpPr>
        <p:spPr>
          <a:xfrm>
            <a:off x="3815811" y="3317133"/>
            <a:ext cx="1083822"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rgbClr val="000000"/>
                </a:solidFill>
                <a:latin typeface="Arial Narrow" panose="020B0606020202030204" pitchFamily="34" charset="0"/>
                <a:ea typeface="LG Smart_H Regular" panose="020B0600000101010101" pitchFamily="34" charset="-127"/>
              </a:rPr>
              <a:t>Main PCBA</a:t>
            </a:r>
          </a:p>
        </p:txBody>
      </p:sp>
      <p:sp>
        <p:nvSpPr>
          <p:cNvPr id="26" name="직사각형 29">
            <a:extLst>
              <a:ext uri="{FF2B5EF4-FFF2-40B4-BE49-F238E27FC236}">
                <a16:creationId xmlns:a16="http://schemas.microsoft.com/office/drawing/2014/main" id="{E1AA6E87-14B0-4AC7-8C1A-0353C9DA5521}"/>
              </a:ext>
            </a:extLst>
          </p:cNvPr>
          <p:cNvSpPr/>
          <p:nvPr/>
        </p:nvSpPr>
        <p:spPr>
          <a:xfrm>
            <a:off x="3810268" y="2194650"/>
            <a:ext cx="1036924"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rgbClr val="000000"/>
                </a:solidFill>
                <a:latin typeface="Arial Narrow" panose="020B0606020202030204" pitchFamily="34" charset="0"/>
                <a:ea typeface="LG Smart_H Regular" panose="020B0600000101010101" pitchFamily="34" charset="-127"/>
              </a:rPr>
              <a:t>Appearance issue</a:t>
            </a:r>
          </a:p>
        </p:txBody>
      </p:sp>
      <p:sp>
        <p:nvSpPr>
          <p:cNvPr id="27" name="직사각형 29">
            <a:extLst>
              <a:ext uri="{FF2B5EF4-FFF2-40B4-BE49-F238E27FC236}">
                <a16:creationId xmlns:a16="http://schemas.microsoft.com/office/drawing/2014/main" id="{5839842C-F156-4907-9D00-0200830821CC}"/>
              </a:ext>
            </a:extLst>
          </p:cNvPr>
          <p:cNvSpPr/>
          <p:nvPr/>
        </p:nvSpPr>
        <p:spPr>
          <a:xfrm>
            <a:off x="3810268" y="4243572"/>
            <a:ext cx="1083822"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rgbClr val="000000"/>
                </a:solidFill>
                <a:latin typeface="Arial Narrow" panose="020B0606020202030204" pitchFamily="34" charset="0"/>
                <a:ea typeface="LG Smart_H Regular" panose="020B0600000101010101" pitchFamily="34" charset="-127"/>
              </a:rPr>
              <a:t>RF</a:t>
            </a:r>
          </a:p>
        </p:txBody>
      </p:sp>
      <p:sp>
        <p:nvSpPr>
          <p:cNvPr id="28" name="직사각형 29">
            <a:extLst>
              <a:ext uri="{FF2B5EF4-FFF2-40B4-BE49-F238E27FC236}">
                <a16:creationId xmlns:a16="http://schemas.microsoft.com/office/drawing/2014/main" id="{1C6B3A23-54FA-45F8-A3FA-09C3BF167051}"/>
              </a:ext>
            </a:extLst>
          </p:cNvPr>
          <p:cNvSpPr/>
          <p:nvPr/>
        </p:nvSpPr>
        <p:spPr>
          <a:xfrm>
            <a:off x="3815812" y="4708403"/>
            <a:ext cx="1083822"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rgbClr val="000000"/>
                </a:solidFill>
                <a:latin typeface="Arial Narrow" panose="020B0606020202030204" pitchFamily="34" charset="0"/>
                <a:ea typeface="LG Smart_H Regular" panose="020B0600000101010101" pitchFamily="34" charset="-127"/>
              </a:rPr>
              <a:t>Key Writing</a:t>
            </a:r>
          </a:p>
        </p:txBody>
      </p:sp>
      <p:sp>
        <p:nvSpPr>
          <p:cNvPr id="29" name="직사각형 29">
            <a:extLst>
              <a:ext uri="{FF2B5EF4-FFF2-40B4-BE49-F238E27FC236}">
                <a16:creationId xmlns:a16="http://schemas.microsoft.com/office/drawing/2014/main" id="{CD3CF223-33EB-47A3-842E-C8CC9B47A895}"/>
              </a:ext>
            </a:extLst>
          </p:cNvPr>
          <p:cNvSpPr/>
          <p:nvPr/>
        </p:nvSpPr>
        <p:spPr>
          <a:xfrm>
            <a:off x="3815812" y="5183960"/>
            <a:ext cx="1083822"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rgbClr val="000000"/>
                </a:solidFill>
                <a:latin typeface="Arial Narrow" panose="020B0606020202030204" pitchFamily="34" charset="0"/>
                <a:ea typeface="LG Smart_H Regular" panose="020B0600000101010101" pitchFamily="34" charset="-127"/>
              </a:rPr>
              <a:t>GPS</a:t>
            </a:r>
          </a:p>
        </p:txBody>
      </p:sp>
      <p:sp>
        <p:nvSpPr>
          <p:cNvPr id="30" name="직사각형 29">
            <a:extLst>
              <a:ext uri="{FF2B5EF4-FFF2-40B4-BE49-F238E27FC236}">
                <a16:creationId xmlns:a16="http://schemas.microsoft.com/office/drawing/2014/main" id="{2ECC8948-0C9E-4480-974F-90E0B439AA5C}"/>
              </a:ext>
            </a:extLst>
          </p:cNvPr>
          <p:cNvSpPr/>
          <p:nvPr/>
        </p:nvSpPr>
        <p:spPr>
          <a:xfrm>
            <a:off x="3815811" y="5683498"/>
            <a:ext cx="1083822"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rgbClr val="000000"/>
                </a:solidFill>
                <a:latin typeface="Arial Narrow" panose="020B0606020202030204" pitchFamily="34" charset="0"/>
                <a:ea typeface="LG Smart_H Regular" panose="020B0600000101010101" pitchFamily="34" charset="-127"/>
              </a:rPr>
              <a:t>Power</a:t>
            </a:r>
          </a:p>
        </p:txBody>
      </p:sp>
      <p:sp>
        <p:nvSpPr>
          <p:cNvPr id="38" name="직사각형 29">
            <a:extLst>
              <a:ext uri="{FF2B5EF4-FFF2-40B4-BE49-F238E27FC236}">
                <a16:creationId xmlns:a16="http://schemas.microsoft.com/office/drawing/2014/main" id="{A3B7FCAA-DBA0-447D-9BBF-DA2C89CDFD18}"/>
              </a:ext>
            </a:extLst>
          </p:cNvPr>
          <p:cNvSpPr/>
          <p:nvPr/>
        </p:nvSpPr>
        <p:spPr>
          <a:xfrm>
            <a:off x="5039970" y="1678975"/>
            <a:ext cx="1076769"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Screw missing</a:t>
            </a:r>
          </a:p>
        </p:txBody>
      </p:sp>
      <p:cxnSp>
        <p:nvCxnSpPr>
          <p:cNvPr id="39" name="Straight Connector 38">
            <a:extLst>
              <a:ext uri="{FF2B5EF4-FFF2-40B4-BE49-F238E27FC236}">
                <a16:creationId xmlns:a16="http://schemas.microsoft.com/office/drawing/2014/main" id="{FC453DE9-D1BE-4E9C-9817-364772CF1C6A}"/>
              </a:ext>
            </a:extLst>
          </p:cNvPr>
          <p:cNvCxnSpPr>
            <a:cxnSpLocks/>
          </p:cNvCxnSpPr>
          <p:nvPr/>
        </p:nvCxnSpPr>
        <p:spPr>
          <a:xfrm>
            <a:off x="6098752" y="4843854"/>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직사각형 29">
            <a:extLst>
              <a:ext uri="{FF2B5EF4-FFF2-40B4-BE49-F238E27FC236}">
                <a16:creationId xmlns:a16="http://schemas.microsoft.com/office/drawing/2014/main" id="{579AB8A2-E0A3-44A1-AB2C-6DC00F9C8E43}"/>
              </a:ext>
            </a:extLst>
          </p:cNvPr>
          <p:cNvSpPr/>
          <p:nvPr/>
        </p:nvSpPr>
        <p:spPr>
          <a:xfrm>
            <a:off x="5053365" y="3317133"/>
            <a:ext cx="1076769"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NG Main PCBA</a:t>
            </a:r>
          </a:p>
        </p:txBody>
      </p:sp>
      <p:sp>
        <p:nvSpPr>
          <p:cNvPr id="41" name="직사각형 29">
            <a:extLst>
              <a:ext uri="{FF2B5EF4-FFF2-40B4-BE49-F238E27FC236}">
                <a16:creationId xmlns:a16="http://schemas.microsoft.com/office/drawing/2014/main" id="{A8DE5E5B-5A15-42EC-A2E4-1CB785BDB839}"/>
              </a:ext>
            </a:extLst>
          </p:cNvPr>
          <p:cNvSpPr/>
          <p:nvPr/>
        </p:nvSpPr>
        <p:spPr>
          <a:xfrm>
            <a:off x="5048405" y="2186006"/>
            <a:ext cx="1076769" cy="339696"/>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Scratch </a:t>
            </a:r>
          </a:p>
        </p:txBody>
      </p:sp>
      <p:sp>
        <p:nvSpPr>
          <p:cNvPr id="42" name="직사각형 29">
            <a:extLst>
              <a:ext uri="{FF2B5EF4-FFF2-40B4-BE49-F238E27FC236}">
                <a16:creationId xmlns:a16="http://schemas.microsoft.com/office/drawing/2014/main" id="{1D0C93E3-8494-4B90-8E81-CBD95F361DA9}"/>
              </a:ext>
            </a:extLst>
          </p:cNvPr>
          <p:cNvSpPr/>
          <p:nvPr/>
        </p:nvSpPr>
        <p:spPr>
          <a:xfrm>
            <a:off x="5047822" y="4243572"/>
            <a:ext cx="1076769"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NG function</a:t>
            </a:r>
          </a:p>
        </p:txBody>
      </p:sp>
      <p:sp>
        <p:nvSpPr>
          <p:cNvPr id="43" name="직사각형 29">
            <a:extLst>
              <a:ext uri="{FF2B5EF4-FFF2-40B4-BE49-F238E27FC236}">
                <a16:creationId xmlns:a16="http://schemas.microsoft.com/office/drawing/2014/main" id="{2F57D5A2-4FEA-4807-95B3-498D06B08DF0}"/>
              </a:ext>
            </a:extLst>
          </p:cNvPr>
          <p:cNvSpPr/>
          <p:nvPr/>
        </p:nvSpPr>
        <p:spPr>
          <a:xfrm>
            <a:off x="5053366" y="4708403"/>
            <a:ext cx="1076769"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Key writing fail</a:t>
            </a:r>
          </a:p>
        </p:txBody>
      </p:sp>
      <p:sp>
        <p:nvSpPr>
          <p:cNvPr id="44" name="직사각형 29">
            <a:extLst>
              <a:ext uri="{FF2B5EF4-FFF2-40B4-BE49-F238E27FC236}">
                <a16:creationId xmlns:a16="http://schemas.microsoft.com/office/drawing/2014/main" id="{F5673ADF-E0ED-4515-A815-F6150772198F}"/>
              </a:ext>
            </a:extLst>
          </p:cNvPr>
          <p:cNvSpPr/>
          <p:nvPr/>
        </p:nvSpPr>
        <p:spPr>
          <a:xfrm>
            <a:off x="5053366" y="5183960"/>
            <a:ext cx="1076769"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NG function</a:t>
            </a:r>
          </a:p>
        </p:txBody>
      </p:sp>
      <p:sp>
        <p:nvSpPr>
          <p:cNvPr id="45" name="직사각형 29">
            <a:extLst>
              <a:ext uri="{FF2B5EF4-FFF2-40B4-BE49-F238E27FC236}">
                <a16:creationId xmlns:a16="http://schemas.microsoft.com/office/drawing/2014/main" id="{9C2E7E68-96F5-44CF-A251-2EC44F977155}"/>
              </a:ext>
            </a:extLst>
          </p:cNvPr>
          <p:cNvSpPr/>
          <p:nvPr/>
        </p:nvSpPr>
        <p:spPr>
          <a:xfrm>
            <a:off x="5053365" y="5683498"/>
            <a:ext cx="1076769"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Power off</a:t>
            </a:r>
          </a:p>
        </p:txBody>
      </p:sp>
      <p:cxnSp>
        <p:nvCxnSpPr>
          <p:cNvPr id="55" name="Straight Connector 54">
            <a:extLst>
              <a:ext uri="{FF2B5EF4-FFF2-40B4-BE49-F238E27FC236}">
                <a16:creationId xmlns:a16="http://schemas.microsoft.com/office/drawing/2014/main" id="{DFDD0982-20CC-4E43-9988-66527280590C}"/>
              </a:ext>
            </a:extLst>
          </p:cNvPr>
          <p:cNvCxnSpPr>
            <a:cxnSpLocks/>
          </p:cNvCxnSpPr>
          <p:nvPr/>
        </p:nvCxnSpPr>
        <p:spPr>
          <a:xfrm>
            <a:off x="8826833" y="4842151"/>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직사각형 29">
            <a:extLst>
              <a:ext uri="{FF2B5EF4-FFF2-40B4-BE49-F238E27FC236}">
                <a16:creationId xmlns:a16="http://schemas.microsoft.com/office/drawing/2014/main" id="{C2555623-BB68-43DE-BE7A-6B2B87169CD7}"/>
              </a:ext>
            </a:extLst>
          </p:cNvPr>
          <p:cNvSpPr/>
          <p:nvPr/>
        </p:nvSpPr>
        <p:spPr>
          <a:xfrm>
            <a:off x="8504837" y="1671793"/>
            <a:ext cx="936617" cy="859129"/>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LQC</a:t>
            </a:r>
          </a:p>
        </p:txBody>
      </p:sp>
      <p:cxnSp>
        <p:nvCxnSpPr>
          <p:cNvPr id="63" name="Straight Connector 62">
            <a:extLst>
              <a:ext uri="{FF2B5EF4-FFF2-40B4-BE49-F238E27FC236}">
                <a16:creationId xmlns:a16="http://schemas.microsoft.com/office/drawing/2014/main" id="{C4EF7C82-9B66-4458-848C-9CD22B8A1181}"/>
              </a:ext>
            </a:extLst>
          </p:cNvPr>
          <p:cNvCxnSpPr>
            <a:cxnSpLocks/>
          </p:cNvCxnSpPr>
          <p:nvPr/>
        </p:nvCxnSpPr>
        <p:spPr>
          <a:xfrm>
            <a:off x="9093101" y="497975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직사각형 29">
            <a:extLst>
              <a:ext uri="{FF2B5EF4-FFF2-40B4-BE49-F238E27FC236}">
                <a16:creationId xmlns:a16="http://schemas.microsoft.com/office/drawing/2014/main" id="{ADA35507-AF2D-4714-A963-24080CDC0117}"/>
              </a:ext>
            </a:extLst>
          </p:cNvPr>
          <p:cNvSpPr/>
          <p:nvPr/>
        </p:nvSpPr>
        <p:spPr>
          <a:xfrm>
            <a:off x="8518814" y="3317133"/>
            <a:ext cx="936617" cy="818322"/>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ETT</a:t>
            </a:r>
          </a:p>
        </p:txBody>
      </p:sp>
      <p:sp>
        <p:nvSpPr>
          <p:cNvPr id="67" name="직사각형 29">
            <a:extLst>
              <a:ext uri="{FF2B5EF4-FFF2-40B4-BE49-F238E27FC236}">
                <a16:creationId xmlns:a16="http://schemas.microsoft.com/office/drawing/2014/main" id="{9C7503C1-A3E1-4FB0-A3B1-A67022DF1B9C}"/>
              </a:ext>
            </a:extLst>
          </p:cNvPr>
          <p:cNvSpPr/>
          <p:nvPr/>
        </p:nvSpPr>
        <p:spPr>
          <a:xfrm>
            <a:off x="8518816" y="4243573"/>
            <a:ext cx="936617" cy="1777714"/>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chemeClr val="bg1">
                    <a:lumMod val="65000"/>
                  </a:schemeClr>
                </a:solidFill>
                <a:latin typeface="Arial Narrow" panose="020B0606020202030204" pitchFamily="34" charset="0"/>
                <a:ea typeface="LG Smart_H Regular" panose="020B0600000101010101" pitchFamily="34" charset="-127"/>
              </a:rPr>
              <a:t>IE, HQ, LGEDV</a:t>
            </a:r>
            <a:endParaRPr lang="en-US" sz="1000" kern="0" dirty="0">
              <a:solidFill>
                <a:schemeClr val="bg1">
                  <a:lumMod val="65000"/>
                </a:schemeClr>
              </a:solidFill>
              <a:latin typeface="Arial Narrow" panose="020B0606020202030204" pitchFamily="34" charset="0"/>
              <a:ea typeface="LG Smart_H Regular" panose="020B0600000101010101" pitchFamily="34" charset="-127"/>
            </a:endParaRPr>
          </a:p>
        </p:txBody>
      </p:sp>
      <p:sp>
        <p:nvSpPr>
          <p:cNvPr id="70" name="TextBox 69">
            <a:extLst>
              <a:ext uri="{FF2B5EF4-FFF2-40B4-BE49-F238E27FC236}">
                <a16:creationId xmlns:a16="http://schemas.microsoft.com/office/drawing/2014/main" id="{7980A4DC-58E8-4C13-8516-2BDC8D52A997}"/>
              </a:ext>
            </a:extLst>
          </p:cNvPr>
          <p:cNvSpPr txBox="1"/>
          <p:nvPr/>
        </p:nvSpPr>
        <p:spPr>
          <a:xfrm>
            <a:off x="3910207" y="2500704"/>
            <a:ext cx="989425" cy="230832"/>
          </a:xfrm>
          <a:prstGeom prst="rect">
            <a:avLst/>
          </a:prstGeom>
          <a:noFill/>
          <a:ln>
            <a:noFill/>
          </a:ln>
        </p:spPr>
        <p:txBody>
          <a:bodyPr wrap="square" rtlCol="0">
            <a:spAutoFit/>
          </a:bodyPr>
          <a:lstStyle/>
          <a:p>
            <a:r>
              <a:rPr lang="en-US" sz="900" i="1" dirty="0">
                <a:solidFill>
                  <a:srgbClr val="5F5F5F"/>
                </a:solidFill>
                <a:latin typeface="Arial Narrow" panose="020B0606020202030204" pitchFamily="34" charset="0"/>
              </a:rPr>
              <a:t>Defect rate ~ 17% </a:t>
            </a:r>
          </a:p>
        </p:txBody>
      </p:sp>
      <p:sp>
        <p:nvSpPr>
          <p:cNvPr id="71" name="TextBox 70">
            <a:extLst>
              <a:ext uri="{FF2B5EF4-FFF2-40B4-BE49-F238E27FC236}">
                <a16:creationId xmlns:a16="http://schemas.microsoft.com/office/drawing/2014/main" id="{68809289-14AB-47D6-8962-E8BA1DB48755}"/>
              </a:ext>
            </a:extLst>
          </p:cNvPr>
          <p:cNvSpPr txBox="1"/>
          <p:nvPr/>
        </p:nvSpPr>
        <p:spPr>
          <a:xfrm>
            <a:off x="3857384" y="1971382"/>
            <a:ext cx="989425" cy="230832"/>
          </a:xfrm>
          <a:prstGeom prst="rect">
            <a:avLst/>
          </a:prstGeom>
          <a:noFill/>
          <a:ln>
            <a:noFill/>
          </a:ln>
        </p:spPr>
        <p:txBody>
          <a:bodyPr wrap="square" rtlCol="0">
            <a:spAutoFit/>
          </a:bodyPr>
          <a:lstStyle/>
          <a:p>
            <a:r>
              <a:rPr lang="en-US" sz="900" i="1" dirty="0">
                <a:solidFill>
                  <a:srgbClr val="5F5F5F"/>
                </a:solidFill>
                <a:latin typeface="Arial Narrow" panose="020B0606020202030204" pitchFamily="34" charset="0"/>
              </a:rPr>
              <a:t>Defect rate ~ 13% </a:t>
            </a:r>
          </a:p>
        </p:txBody>
      </p:sp>
      <p:sp>
        <p:nvSpPr>
          <p:cNvPr id="72" name="TextBox 71">
            <a:extLst>
              <a:ext uri="{FF2B5EF4-FFF2-40B4-BE49-F238E27FC236}">
                <a16:creationId xmlns:a16="http://schemas.microsoft.com/office/drawing/2014/main" id="{34E8873A-E016-40E0-A127-6544C5E842F4}"/>
              </a:ext>
            </a:extLst>
          </p:cNvPr>
          <p:cNvSpPr txBox="1"/>
          <p:nvPr/>
        </p:nvSpPr>
        <p:spPr>
          <a:xfrm>
            <a:off x="2323711" y="2211728"/>
            <a:ext cx="1360224" cy="369332"/>
          </a:xfrm>
          <a:prstGeom prst="rect">
            <a:avLst/>
          </a:prstGeom>
          <a:noFill/>
        </p:spPr>
        <p:txBody>
          <a:bodyPr wrap="square" rtlCol="0">
            <a:spAutoFit/>
          </a:bodyPr>
          <a:lstStyle/>
          <a:p>
            <a:pPr algn="ctr"/>
            <a:r>
              <a:rPr lang="vi-VN" sz="900" i="1">
                <a:solidFill>
                  <a:srgbClr val="5F5F5F"/>
                </a:solidFill>
                <a:latin typeface="Arial Narrow" panose="020B0606020202030204" pitchFamily="34" charset="0"/>
              </a:rPr>
              <a:t>83ea/127,152ea</a:t>
            </a:r>
          </a:p>
          <a:p>
            <a:pPr algn="ctr"/>
            <a:r>
              <a:rPr lang="vi-VN" sz="900" i="1">
                <a:solidFill>
                  <a:srgbClr val="5F5F5F"/>
                </a:solidFill>
                <a:latin typeface="Arial Narrow" panose="020B0606020202030204" pitchFamily="34" charset="0"/>
              </a:rPr>
              <a:t>(65</a:t>
            </a:r>
            <a:r>
              <a:rPr lang="en-US" sz="900" i="1">
                <a:solidFill>
                  <a:srgbClr val="5F5F5F"/>
                </a:solidFill>
                <a:latin typeface="Arial Narrow" panose="020B0606020202030204" pitchFamily="34" charset="0"/>
              </a:rPr>
              <a:t>3</a:t>
            </a:r>
            <a:r>
              <a:rPr lang="vi-VN" sz="900" i="1">
                <a:solidFill>
                  <a:srgbClr val="5F5F5F"/>
                </a:solidFill>
                <a:latin typeface="Arial Narrow" panose="020B0606020202030204" pitchFamily="34" charset="0"/>
              </a:rPr>
              <a:t>ppm)</a:t>
            </a:r>
            <a:r>
              <a:rPr lang="en-US" sz="900" i="1">
                <a:solidFill>
                  <a:srgbClr val="5F5F5F"/>
                </a:solidFill>
                <a:latin typeface="Arial Narrow" panose="020B0606020202030204" pitchFamily="34" charset="0"/>
              </a:rPr>
              <a:t> </a:t>
            </a:r>
            <a:endParaRPr lang="en-US" sz="900" i="1" dirty="0">
              <a:solidFill>
                <a:srgbClr val="5F5F5F"/>
              </a:solidFill>
              <a:latin typeface="Arial Narrow" panose="020B0606020202030204" pitchFamily="34" charset="0"/>
            </a:endParaRPr>
          </a:p>
        </p:txBody>
      </p:sp>
      <p:sp>
        <p:nvSpPr>
          <p:cNvPr id="74" name="직사각형 29">
            <a:extLst>
              <a:ext uri="{FF2B5EF4-FFF2-40B4-BE49-F238E27FC236}">
                <a16:creationId xmlns:a16="http://schemas.microsoft.com/office/drawing/2014/main" id="{AAD65EFE-6DD0-4F51-BC19-9B74E71546D8}"/>
              </a:ext>
            </a:extLst>
          </p:cNvPr>
          <p:cNvSpPr/>
          <p:nvPr/>
        </p:nvSpPr>
        <p:spPr>
          <a:xfrm>
            <a:off x="3801834" y="2740688"/>
            <a:ext cx="1045358" cy="337788"/>
          </a:xfrm>
          <a:prstGeom prst="rect">
            <a:avLst/>
          </a:prstGeom>
          <a:noFill/>
          <a:ln w="15875">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a:solidFill>
                  <a:srgbClr val="000000"/>
                </a:solidFill>
                <a:latin typeface="Arial Narrow" panose="020B0606020202030204" pitchFamily="34" charset="0"/>
                <a:ea typeface="LG Smart_H Regular" panose="020B0600000101010101" pitchFamily="34" charset="-127"/>
              </a:rPr>
              <a:t>Rattle Noise</a:t>
            </a:r>
            <a:endParaRPr lang="en-US" sz="1000" kern="0" dirty="0">
              <a:solidFill>
                <a:srgbClr val="000000"/>
              </a:solidFill>
              <a:latin typeface="Arial Narrow" panose="020B0606020202030204" pitchFamily="34" charset="0"/>
              <a:ea typeface="LG Smart_H Regular" panose="020B0600000101010101" pitchFamily="34" charset="-127"/>
            </a:endParaRPr>
          </a:p>
        </p:txBody>
      </p:sp>
      <p:sp>
        <p:nvSpPr>
          <p:cNvPr id="75" name="직사각형 29">
            <a:extLst>
              <a:ext uri="{FF2B5EF4-FFF2-40B4-BE49-F238E27FC236}">
                <a16:creationId xmlns:a16="http://schemas.microsoft.com/office/drawing/2014/main" id="{45BB4A33-68D1-4F71-B241-DA8B38D5C507}"/>
              </a:ext>
            </a:extLst>
          </p:cNvPr>
          <p:cNvSpPr/>
          <p:nvPr/>
        </p:nvSpPr>
        <p:spPr>
          <a:xfrm>
            <a:off x="5062412" y="2733952"/>
            <a:ext cx="1074508" cy="337788"/>
          </a:xfrm>
          <a:prstGeom prst="rect">
            <a:avLst/>
          </a:prstGeom>
          <a:noFill/>
          <a:ln w="15875">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rgbClr val="000000"/>
                </a:solidFill>
                <a:latin typeface="Arial Narrow" panose="020B0606020202030204" pitchFamily="34" charset="0"/>
                <a:ea typeface="LG Smart_H Regular" panose="020B0600000101010101" pitchFamily="34" charset="-127"/>
              </a:rPr>
              <a:t>Part</a:t>
            </a:r>
            <a:endParaRPr lang="en-US" sz="1000" kern="0" dirty="0">
              <a:solidFill>
                <a:srgbClr val="000000"/>
              </a:solidFill>
              <a:latin typeface="Arial Narrow" panose="020B0606020202030204" pitchFamily="34" charset="0"/>
              <a:ea typeface="LG Smart_H Regular" panose="020B0600000101010101" pitchFamily="34" charset="-127"/>
            </a:endParaRPr>
          </a:p>
        </p:txBody>
      </p:sp>
      <p:sp>
        <p:nvSpPr>
          <p:cNvPr id="78" name="직사각형 29">
            <a:extLst>
              <a:ext uri="{FF2B5EF4-FFF2-40B4-BE49-F238E27FC236}">
                <a16:creationId xmlns:a16="http://schemas.microsoft.com/office/drawing/2014/main" id="{7CAAFD97-32EE-4E7F-962F-E5657369D728}"/>
              </a:ext>
            </a:extLst>
          </p:cNvPr>
          <p:cNvSpPr/>
          <p:nvPr/>
        </p:nvSpPr>
        <p:spPr>
          <a:xfrm>
            <a:off x="8518815" y="2729103"/>
            <a:ext cx="936617"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50" kern="0">
                <a:solidFill>
                  <a:srgbClr val="000000"/>
                </a:solidFill>
                <a:latin typeface="Arial Narrow" panose="020B0606020202030204" pitchFamily="34" charset="0"/>
                <a:ea typeface="LG Smart_H Regular" panose="020B0600000101010101" pitchFamily="34" charset="-127"/>
              </a:rPr>
              <a:t>SQA/</a:t>
            </a:r>
            <a:endParaRPr lang="vi-VN" sz="1050" kern="0">
              <a:solidFill>
                <a:srgbClr val="000000"/>
              </a:solidFill>
              <a:latin typeface="Arial Narrow" panose="020B0606020202030204" pitchFamily="34" charset="0"/>
              <a:ea typeface="LG Smart_H Regular" panose="020B0600000101010101" pitchFamily="34" charset="-127"/>
            </a:endParaRPr>
          </a:p>
          <a:p>
            <a:pPr algn="ctr" fontAlgn="ctr"/>
            <a:r>
              <a:rPr lang="en-US" sz="1050" kern="0">
                <a:solidFill>
                  <a:srgbClr val="000000"/>
                </a:solidFill>
                <a:latin typeface="Arial Narrow" panose="020B0606020202030204" pitchFamily="34" charset="0"/>
                <a:ea typeface="LG Smart_H Regular" panose="020B0600000101010101" pitchFamily="34" charset="-127"/>
              </a:rPr>
              <a:t>Supplier</a:t>
            </a:r>
            <a:endParaRPr lang="en-US" sz="1050" kern="0" dirty="0">
              <a:solidFill>
                <a:srgbClr val="000000"/>
              </a:solidFill>
              <a:latin typeface="Arial Narrow" panose="020B0606020202030204" pitchFamily="34" charset="0"/>
              <a:ea typeface="LG Smart_H Regular" panose="020B0600000101010101" pitchFamily="34" charset="-127"/>
            </a:endParaRPr>
          </a:p>
        </p:txBody>
      </p:sp>
      <p:sp>
        <p:nvSpPr>
          <p:cNvPr id="79" name="TextBox 78">
            <a:extLst>
              <a:ext uri="{FF2B5EF4-FFF2-40B4-BE49-F238E27FC236}">
                <a16:creationId xmlns:a16="http://schemas.microsoft.com/office/drawing/2014/main" id="{3B0787D6-A018-4E15-A998-AB3A01BC4E94}"/>
              </a:ext>
            </a:extLst>
          </p:cNvPr>
          <p:cNvSpPr txBox="1"/>
          <p:nvPr/>
        </p:nvSpPr>
        <p:spPr>
          <a:xfrm>
            <a:off x="3729446" y="3049573"/>
            <a:ext cx="1360224" cy="230832"/>
          </a:xfrm>
          <a:prstGeom prst="rect">
            <a:avLst/>
          </a:prstGeom>
          <a:noFill/>
        </p:spPr>
        <p:txBody>
          <a:bodyPr wrap="square" rtlCol="0">
            <a:spAutoFit/>
          </a:bodyPr>
          <a:lstStyle/>
          <a:p>
            <a:r>
              <a:rPr lang="en-US" sz="900" i="1" dirty="0">
                <a:solidFill>
                  <a:srgbClr val="C00000"/>
                </a:solidFill>
                <a:latin typeface="Arial Narrow" panose="020B0606020202030204" pitchFamily="34" charset="0"/>
              </a:rPr>
              <a:t>Highest defect rate ~ 70%</a:t>
            </a:r>
          </a:p>
        </p:txBody>
      </p:sp>
      <p:sp>
        <p:nvSpPr>
          <p:cNvPr id="80" name="TextBox 79">
            <a:extLst>
              <a:ext uri="{FF2B5EF4-FFF2-40B4-BE49-F238E27FC236}">
                <a16:creationId xmlns:a16="http://schemas.microsoft.com/office/drawing/2014/main" id="{331A529E-0A88-4CBC-81CC-96446B351AAC}"/>
              </a:ext>
            </a:extLst>
          </p:cNvPr>
          <p:cNvSpPr txBox="1"/>
          <p:nvPr/>
        </p:nvSpPr>
        <p:spPr>
          <a:xfrm>
            <a:off x="6913573" y="3066891"/>
            <a:ext cx="1360224" cy="230832"/>
          </a:xfrm>
          <a:prstGeom prst="rect">
            <a:avLst/>
          </a:prstGeom>
          <a:noFill/>
        </p:spPr>
        <p:txBody>
          <a:bodyPr wrap="square" rtlCol="0">
            <a:spAutoFit/>
          </a:bodyPr>
          <a:lstStyle/>
          <a:p>
            <a:r>
              <a:rPr lang="vi-VN" sz="900" i="1">
                <a:solidFill>
                  <a:srgbClr val="C00000"/>
                </a:solidFill>
                <a:latin typeface="Arial Narrow" panose="020B0606020202030204" pitchFamily="34" charset="0"/>
              </a:rPr>
              <a:t>Customer issue</a:t>
            </a:r>
            <a:endParaRPr lang="en-US" sz="900" i="1" dirty="0">
              <a:solidFill>
                <a:srgbClr val="C00000"/>
              </a:solidFill>
              <a:latin typeface="Arial Narrow" panose="020B0606020202030204" pitchFamily="34" charset="0"/>
            </a:endParaRPr>
          </a:p>
        </p:txBody>
      </p:sp>
      <p:sp>
        <p:nvSpPr>
          <p:cNvPr id="88" name="직사각형 30">
            <a:extLst>
              <a:ext uri="{FF2B5EF4-FFF2-40B4-BE49-F238E27FC236}">
                <a16:creationId xmlns:a16="http://schemas.microsoft.com/office/drawing/2014/main" id="{195F0511-5682-4CDC-A30A-C3FE8CB4BF65}"/>
              </a:ext>
            </a:extLst>
          </p:cNvPr>
          <p:cNvSpPr/>
          <p:nvPr/>
        </p:nvSpPr>
        <p:spPr>
          <a:xfrm>
            <a:off x="2402001" y="3318585"/>
            <a:ext cx="1203646" cy="811141"/>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a:defRPr/>
            </a:pPr>
            <a:r>
              <a:rPr lang="en-US" altLang="ko-KR" sz="1000">
                <a:latin typeface="Arial Narrow" panose="020B0606020202030204" pitchFamily="34" charset="0"/>
                <a:ea typeface="LG스마트체 Regular" panose="020B0600000101010101" pitchFamily="50" charset="-127"/>
                <a:cs typeface="Arial" pitchFamily="34" charset="0"/>
              </a:rPr>
              <a:t>Hardware issue</a:t>
            </a:r>
            <a:endParaRPr lang="vi-VN" altLang="ko-KR" sz="1000">
              <a:latin typeface="Arial Narrow" panose="020B0606020202030204" pitchFamily="34" charset="0"/>
              <a:ea typeface="LG스마트체 Regular" panose="020B0600000101010101" pitchFamily="50" charset="-127"/>
              <a:cs typeface="Arial" pitchFamily="34" charset="0"/>
            </a:endParaRPr>
          </a:p>
          <a:p>
            <a:pPr algn="ctr">
              <a:defRPr/>
            </a:pPr>
            <a:endParaRPr lang="vi-VN" altLang="ko-KR" sz="1000">
              <a:latin typeface="LG스마트체 Regular" panose="020B0600000101010101" pitchFamily="50" charset="-127"/>
              <a:ea typeface="LG스마트체 Regular" panose="020B0600000101010101" pitchFamily="50" charset="-127"/>
              <a:cs typeface="Arial" pitchFamily="34" charset="0"/>
            </a:endParaRPr>
          </a:p>
          <a:p>
            <a:pPr algn="ctr">
              <a:defRPr/>
            </a:pPr>
            <a:endParaRPr lang="vi-VN" altLang="ko-KR" sz="1000" dirty="0">
              <a:latin typeface="LG스마트체 Regular" panose="020B0600000101010101" pitchFamily="50" charset="-127"/>
              <a:ea typeface="LG스마트체 Regular" panose="020B0600000101010101" pitchFamily="50" charset="-127"/>
              <a:cs typeface="Arial" pitchFamily="34" charset="0"/>
            </a:endParaRPr>
          </a:p>
        </p:txBody>
      </p:sp>
      <p:sp>
        <p:nvSpPr>
          <p:cNvPr id="91" name="직사각형 29">
            <a:extLst>
              <a:ext uri="{FF2B5EF4-FFF2-40B4-BE49-F238E27FC236}">
                <a16:creationId xmlns:a16="http://schemas.microsoft.com/office/drawing/2014/main" id="{A2F92538-50A8-4E17-A7B2-278E89562275}"/>
              </a:ext>
            </a:extLst>
          </p:cNvPr>
          <p:cNvSpPr/>
          <p:nvPr/>
        </p:nvSpPr>
        <p:spPr>
          <a:xfrm>
            <a:off x="3815811" y="3776449"/>
            <a:ext cx="1083822"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rgbClr val="000000"/>
                </a:solidFill>
                <a:latin typeface="Arial Narrow" panose="020B0606020202030204" pitchFamily="34" charset="0"/>
                <a:ea typeface="LG Smart_H Regular" panose="020B0600000101010101" pitchFamily="34" charset="-127"/>
              </a:rPr>
              <a:t>Battery</a:t>
            </a:r>
          </a:p>
        </p:txBody>
      </p:sp>
      <p:sp>
        <p:nvSpPr>
          <p:cNvPr id="92" name="직사각형 29">
            <a:extLst>
              <a:ext uri="{FF2B5EF4-FFF2-40B4-BE49-F238E27FC236}">
                <a16:creationId xmlns:a16="http://schemas.microsoft.com/office/drawing/2014/main" id="{74D1AEA7-CD53-40DF-88BB-0E23429A2C64}"/>
              </a:ext>
            </a:extLst>
          </p:cNvPr>
          <p:cNvSpPr/>
          <p:nvPr/>
        </p:nvSpPr>
        <p:spPr>
          <a:xfrm>
            <a:off x="5053365" y="3776449"/>
            <a:ext cx="1076769"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kern="0" dirty="0">
                <a:solidFill>
                  <a:schemeClr val="bg1">
                    <a:lumMod val="65000"/>
                  </a:schemeClr>
                </a:solidFill>
                <a:latin typeface="Arial Narrow" panose="020B0606020202030204" pitchFamily="34" charset="0"/>
                <a:ea typeface="LG Smart_H Regular" panose="020B0600000101010101" pitchFamily="34" charset="-127"/>
              </a:rPr>
              <a:t>NG Battery </a:t>
            </a:r>
          </a:p>
        </p:txBody>
      </p:sp>
      <p:cxnSp>
        <p:nvCxnSpPr>
          <p:cNvPr id="97" name="Connector: Elbow 18">
            <a:extLst>
              <a:ext uri="{FF2B5EF4-FFF2-40B4-BE49-F238E27FC236}">
                <a16:creationId xmlns:a16="http://schemas.microsoft.com/office/drawing/2014/main" id="{C4D89B3B-3FF9-4DED-BDC1-022EAA1FA228}"/>
              </a:ext>
            </a:extLst>
          </p:cNvPr>
          <p:cNvCxnSpPr>
            <a:cxnSpLocks/>
            <a:stCxn id="22" idx="3"/>
            <a:endCxn id="24" idx="1"/>
          </p:cNvCxnSpPr>
          <p:nvPr/>
        </p:nvCxnSpPr>
        <p:spPr bwMode="auto">
          <a:xfrm>
            <a:off x="1889311" y="2389828"/>
            <a:ext cx="512689" cy="2735026"/>
          </a:xfrm>
          <a:prstGeom prst="bentConnector3">
            <a:avLst>
              <a:gd name="adj1" fmla="val 50000"/>
            </a:avLst>
          </a:prstGeom>
          <a:noFill/>
          <a:ln w="28575" cap="flat" cmpd="sng" algn="ctr">
            <a:solidFill>
              <a:schemeClr val="bg1">
                <a:lumMod val="65000"/>
              </a:schemeClr>
            </a:solidFill>
            <a:prstDash val="solid"/>
            <a:round/>
            <a:headEnd type="none" w="med" len="med"/>
            <a:tailEnd type="triangle"/>
          </a:ln>
          <a:effectLst/>
        </p:spPr>
      </p:cxnSp>
      <p:cxnSp>
        <p:nvCxnSpPr>
          <p:cNvPr id="99" name="Connector: Elbow 152">
            <a:extLst>
              <a:ext uri="{FF2B5EF4-FFF2-40B4-BE49-F238E27FC236}">
                <a16:creationId xmlns:a16="http://schemas.microsoft.com/office/drawing/2014/main" id="{D0ED63DB-C0D8-4960-A912-5382E7ABC260}"/>
              </a:ext>
            </a:extLst>
          </p:cNvPr>
          <p:cNvCxnSpPr>
            <a:cxnSpLocks/>
            <a:stCxn id="22" idx="3"/>
            <a:endCxn id="88" idx="1"/>
          </p:cNvCxnSpPr>
          <p:nvPr/>
        </p:nvCxnSpPr>
        <p:spPr bwMode="auto">
          <a:xfrm>
            <a:off x="1889311" y="2389828"/>
            <a:ext cx="512690" cy="1334328"/>
          </a:xfrm>
          <a:prstGeom prst="bentConnector3">
            <a:avLst>
              <a:gd name="adj1" fmla="val 50000"/>
            </a:avLst>
          </a:prstGeom>
          <a:noFill/>
          <a:ln w="28575" cap="flat" cmpd="sng" algn="ctr">
            <a:solidFill>
              <a:schemeClr val="bg1">
                <a:lumMod val="65000"/>
              </a:schemeClr>
            </a:solidFill>
            <a:prstDash val="solid"/>
            <a:round/>
            <a:headEnd type="none" w="med" len="med"/>
            <a:tailEnd type="triangle"/>
          </a:ln>
          <a:effectLst/>
        </p:spPr>
      </p:cxnSp>
      <p:sp>
        <p:nvSpPr>
          <p:cNvPr id="100" name="TextBox 99">
            <a:extLst>
              <a:ext uri="{FF2B5EF4-FFF2-40B4-BE49-F238E27FC236}">
                <a16:creationId xmlns:a16="http://schemas.microsoft.com/office/drawing/2014/main" id="{1E707E08-DC25-46AE-8CC7-1EB6D4C2F483}"/>
              </a:ext>
            </a:extLst>
          </p:cNvPr>
          <p:cNvSpPr txBox="1"/>
          <p:nvPr/>
        </p:nvSpPr>
        <p:spPr>
          <a:xfrm>
            <a:off x="8219655" y="2584455"/>
            <a:ext cx="357885" cy="369332"/>
          </a:xfrm>
          <a:prstGeom prst="rect">
            <a:avLst/>
          </a:prstGeom>
          <a:noFill/>
        </p:spPr>
        <p:txBody>
          <a:bodyPr wrap="square" rtlCol="0">
            <a:spAutoFit/>
          </a:bodyPr>
          <a:lstStyle/>
          <a:p>
            <a:r>
              <a:rPr lang="en-US" b="1" dirty="0">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b="1" dirty="0">
              <a:solidFill>
                <a:srgbClr val="FF0000"/>
              </a:solidFill>
              <a:latin typeface="Arial Narrow" panose="020B0606020202030204" pitchFamily="34" charset="0"/>
              <a:ea typeface="LG Smart_H Regular" panose="020B0600000101010101" pitchFamily="34" charset="-127"/>
            </a:endParaRPr>
          </a:p>
        </p:txBody>
      </p:sp>
      <p:sp>
        <p:nvSpPr>
          <p:cNvPr id="101" name="TextBox 100">
            <a:extLst>
              <a:ext uri="{FF2B5EF4-FFF2-40B4-BE49-F238E27FC236}">
                <a16:creationId xmlns:a16="http://schemas.microsoft.com/office/drawing/2014/main" id="{34E8873A-E016-40E0-A127-6544C5E842F4}"/>
              </a:ext>
            </a:extLst>
          </p:cNvPr>
          <p:cNvSpPr txBox="1"/>
          <p:nvPr/>
        </p:nvSpPr>
        <p:spPr>
          <a:xfrm>
            <a:off x="529086" y="2411847"/>
            <a:ext cx="1360224" cy="507831"/>
          </a:xfrm>
          <a:prstGeom prst="rect">
            <a:avLst/>
          </a:prstGeom>
          <a:noFill/>
        </p:spPr>
        <p:txBody>
          <a:bodyPr wrap="square" rtlCol="0">
            <a:spAutoFit/>
          </a:bodyPr>
          <a:lstStyle/>
          <a:p>
            <a:pPr algn="ctr"/>
            <a:r>
              <a:rPr lang="vi-VN" sz="900" i="1" dirty="0">
                <a:solidFill>
                  <a:srgbClr val="5F5F5F"/>
                </a:solidFill>
                <a:latin typeface="Arial Narrow" panose="020B0606020202030204" pitchFamily="34" charset="0"/>
              </a:rPr>
              <a:t>Apr.2025</a:t>
            </a:r>
          </a:p>
          <a:p>
            <a:pPr algn="ctr"/>
            <a:r>
              <a:rPr lang="vi-VN" sz="900" i="1" dirty="0">
                <a:solidFill>
                  <a:srgbClr val="5F5F5F"/>
                </a:solidFill>
                <a:latin typeface="Arial Narrow" panose="020B0606020202030204" pitchFamily="34" charset="0"/>
              </a:rPr>
              <a:t>114</a:t>
            </a:r>
            <a:r>
              <a:rPr lang="en-US" sz="900" i="1" dirty="0" err="1">
                <a:solidFill>
                  <a:srgbClr val="5F5F5F"/>
                </a:solidFill>
                <a:latin typeface="Arial Narrow" panose="020B0606020202030204" pitchFamily="34" charset="0"/>
              </a:rPr>
              <a:t>ea</a:t>
            </a:r>
            <a:r>
              <a:rPr lang="en-US" sz="900" i="1" dirty="0">
                <a:solidFill>
                  <a:srgbClr val="5F5F5F"/>
                </a:solidFill>
                <a:latin typeface="Arial Narrow" panose="020B0606020202030204" pitchFamily="34" charset="0"/>
              </a:rPr>
              <a:t>/</a:t>
            </a:r>
            <a:r>
              <a:rPr lang="vi-VN" sz="900" i="1" dirty="0">
                <a:solidFill>
                  <a:srgbClr val="5F5F5F"/>
                </a:solidFill>
                <a:latin typeface="Arial Narrow" panose="020B0606020202030204" pitchFamily="34" charset="0"/>
              </a:rPr>
              <a:t>127,152</a:t>
            </a:r>
            <a:r>
              <a:rPr lang="en-US" sz="900" i="1" dirty="0" err="1">
                <a:solidFill>
                  <a:srgbClr val="5F5F5F"/>
                </a:solidFill>
                <a:latin typeface="Arial Narrow" panose="020B0606020202030204" pitchFamily="34" charset="0"/>
              </a:rPr>
              <a:t>ea</a:t>
            </a:r>
            <a:endParaRPr lang="en-US" sz="900" i="1" dirty="0">
              <a:solidFill>
                <a:srgbClr val="5F5F5F"/>
              </a:solidFill>
              <a:latin typeface="Arial Narrow" panose="020B0606020202030204" pitchFamily="34" charset="0"/>
            </a:endParaRPr>
          </a:p>
          <a:p>
            <a:pPr algn="ctr"/>
            <a:r>
              <a:rPr lang="en-US" sz="900" i="1" dirty="0">
                <a:solidFill>
                  <a:srgbClr val="5F5F5F"/>
                </a:solidFill>
                <a:latin typeface="Arial Narrow" panose="020B0606020202030204" pitchFamily="34" charset="0"/>
              </a:rPr>
              <a:t>(</a:t>
            </a:r>
            <a:r>
              <a:rPr lang="vi-VN" sz="900" i="1" dirty="0">
                <a:solidFill>
                  <a:srgbClr val="5F5F5F"/>
                </a:solidFill>
                <a:latin typeface="Arial Narrow" panose="020B0606020202030204" pitchFamily="34" charset="0"/>
              </a:rPr>
              <a:t>897</a:t>
            </a:r>
            <a:r>
              <a:rPr lang="en-US" sz="900" i="1" dirty="0">
                <a:solidFill>
                  <a:srgbClr val="5F5F5F"/>
                </a:solidFill>
                <a:latin typeface="Arial Narrow" panose="020B0606020202030204" pitchFamily="34" charset="0"/>
              </a:rPr>
              <a:t> ppm)</a:t>
            </a:r>
          </a:p>
        </p:txBody>
      </p:sp>
      <p:cxnSp>
        <p:nvCxnSpPr>
          <p:cNvPr id="98" name="Straight Arrow Connector 97">
            <a:extLst>
              <a:ext uri="{FF2B5EF4-FFF2-40B4-BE49-F238E27FC236}">
                <a16:creationId xmlns:a16="http://schemas.microsoft.com/office/drawing/2014/main" id="{94EFA660-3595-468B-9D8F-202CAB496350}"/>
              </a:ext>
            </a:extLst>
          </p:cNvPr>
          <p:cNvCxnSpPr>
            <a:cxnSpLocks/>
            <a:stCxn id="22" idx="3"/>
            <a:endCxn id="15" idx="1"/>
          </p:cNvCxnSpPr>
          <p:nvPr/>
        </p:nvCxnSpPr>
        <p:spPr bwMode="auto">
          <a:xfrm flipV="1">
            <a:off x="1889311" y="2385805"/>
            <a:ext cx="512689" cy="4023"/>
          </a:xfrm>
          <a:prstGeom prst="straightConnector1">
            <a:avLst/>
          </a:prstGeom>
          <a:noFill/>
          <a:ln w="28575" cap="flat" cmpd="sng" algn="ctr">
            <a:solidFill>
              <a:schemeClr val="tx1">
                <a:lumMod val="65000"/>
                <a:lumOff val="35000"/>
              </a:schemeClr>
            </a:solidFill>
            <a:prstDash val="solid"/>
            <a:round/>
            <a:headEnd type="none" w="med" len="med"/>
            <a:tailEnd type="triangle"/>
          </a:ln>
          <a:effectLst/>
        </p:spPr>
      </p:cxnSp>
      <p:graphicFrame>
        <p:nvGraphicFramePr>
          <p:cNvPr id="81" name="표 46">
            <a:extLst>
              <a:ext uri="{FF2B5EF4-FFF2-40B4-BE49-F238E27FC236}">
                <a16:creationId xmlns:a16="http://schemas.microsoft.com/office/drawing/2014/main" id="{08859A98-D844-4493-9233-9A19E4DF1AD8}"/>
              </a:ext>
            </a:extLst>
          </p:cNvPr>
          <p:cNvGraphicFramePr>
            <a:graphicFrameLocks noGrp="1"/>
          </p:cNvGraphicFramePr>
          <p:nvPr>
            <p:extLst>
              <p:ext uri="{D42A27DB-BD31-4B8C-83A1-F6EECF244321}">
                <p14:modId xmlns:p14="http://schemas.microsoft.com/office/powerpoint/2010/main" val="1250598321"/>
              </p:ext>
            </p:extLst>
          </p:nvPr>
        </p:nvGraphicFramePr>
        <p:xfrm>
          <a:off x="6272046" y="1118180"/>
          <a:ext cx="2135642" cy="397111"/>
        </p:xfrm>
        <a:graphic>
          <a:graphicData uri="http://schemas.openxmlformats.org/drawingml/2006/table">
            <a:tbl>
              <a:tblPr/>
              <a:tblGrid>
                <a:gridCol w="2135642">
                  <a:extLst>
                    <a:ext uri="{9D8B030D-6E8A-4147-A177-3AD203B41FA5}">
                      <a16:colId xmlns:a16="http://schemas.microsoft.com/office/drawing/2014/main" val="20000"/>
                    </a:ext>
                  </a:extLst>
                </a:gridCol>
              </a:tblGrid>
              <a:tr h="397111">
                <a:tc>
                  <a:txBody>
                    <a:bodyPr/>
                    <a:lstStyle/>
                    <a:p>
                      <a:pPr marL="0" algn="ctr" defTabSz="914400" rtl="0" eaLnBrk="1" latinLnBrk="1" hangingPunct="1">
                        <a:defRPr/>
                      </a:pPr>
                      <a:r>
                        <a:rPr lang="vi-VN" altLang="ko-KR" sz="1000" b="1" kern="1200">
                          <a:solidFill>
                            <a:schemeClr val="tx1"/>
                          </a:solidFill>
                          <a:latin typeface="Arial Narrow" panose="020B0606020202030204" pitchFamily="34" charset="0"/>
                          <a:ea typeface="LG스마트체 Regular" panose="020B0600000101010101" pitchFamily="50" charset="-127"/>
                          <a:cs typeface="+mn-cs"/>
                        </a:rPr>
                        <a:t>Action / Project</a:t>
                      </a:r>
                      <a:endParaRPr lang="en-US" altLang="ko-KR" sz="1000" b="1" kern="1200" dirty="0">
                        <a:solidFill>
                          <a:schemeClr val="tx1"/>
                        </a:solidFill>
                        <a:latin typeface="Arial Narrow" panose="020B0606020202030204" pitchFamily="34" charset="0"/>
                        <a:ea typeface="LG스마트체 Regular" panose="020B0600000101010101" pitchFamily="50" charset="-127"/>
                        <a:cs typeface="+mn-cs"/>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82" name="직사각형 29">
            <a:extLst>
              <a:ext uri="{FF2B5EF4-FFF2-40B4-BE49-F238E27FC236}">
                <a16:creationId xmlns:a16="http://schemas.microsoft.com/office/drawing/2014/main" id="{A3B7FCAA-DBA0-447D-9BBF-DA2C89CDFD18}"/>
              </a:ext>
            </a:extLst>
          </p:cNvPr>
          <p:cNvSpPr/>
          <p:nvPr/>
        </p:nvSpPr>
        <p:spPr>
          <a:xfrm>
            <a:off x="6274588" y="1678975"/>
            <a:ext cx="2133100"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a:solidFill>
                  <a:schemeClr val="tx1">
                    <a:lumMod val="65000"/>
                    <a:lumOff val="35000"/>
                  </a:schemeClr>
                </a:solidFill>
                <a:latin typeface="Arial Narrow" panose="020B0606020202030204" pitchFamily="34" charset="0"/>
              </a:rPr>
              <a:t>Continuous Improvement by Q-bank task 29 </a:t>
            </a:r>
            <a:endParaRPr lang="en-US" sz="1000" kern="0" dirty="0">
              <a:solidFill>
                <a:schemeClr val="tx1">
                  <a:lumMod val="65000"/>
                  <a:lumOff val="35000"/>
                </a:schemeClr>
              </a:solidFill>
              <a:latin typeface="Arial Narrow" panose="020B0606020202030204" pitchFamily="34" charset="0"/>
              <a:ea typeface="LG Smart_H Regular" panose="020B0600000101010101" pitchFamily="34" charset="-127"/>
            </a:endParaRPr>
          </a:p>
        </p:txBody>
      </p:sp>
      <p:sp>
        <p:nvSpPr>
          <p:cNvPr id="83" name="직사각형 29">
            <a:extLst>
              <a:ext uri="{FF2B5EF4-FFF2-40B4-BE49-F238E27FC236}">
                <a16:creationId xmlns:a16="http://schemas.microsoft.com/office/drawing/2014/main" id="{A3B7FCAA-DBA0-447D-9BBF-DA2C89CDFD18}"/>
              </a:ext>
            </a:extLst>
          </p:cNvPr>
          <p:cNvSpPr/>
          <p:nvPr/>
        </p:nvSpPr>
        <p:spPr>
          <a:xfrm>
            <a:off x="6274588" y="2186960"/>
            <a:ext cx="2133100"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en-US" sz="1000">
                <a:solidFill>
                  <a:schemeClr val="tx1">
                    <a:lumMod val="65000"/>
                    <a:lumOff val="35000"/>
                  </a:schemeClr>
                </a:solidFill>
                <a:latin typeface="Arial Narrow" panose="020B0606020202030204" pitchFamily="34" charset="0"/>
              </a:rPr>
              <a:t>Continuous Improvement by Q-bank task 29 </a:t>
            </a:r>
            <a:endParaRPr lang="en-US" sz="1000" kern="0" dirty="0">
              <a:solidFill>
                <a:schemeClr val="tx1">
                  <a:lumMod val="65000"/>
                  <a:lumOff val="35000"/>
                </a:schemeClr>
              </a:solidFill>
              <a:latin typeface="Arial Narrow" panose="020B0606020202030204" pitchFamily="34" charset="0"/>
              <a:ea typeface="LG Smart_H Regular" panose="020B0600000101010101" pitchFamily="34" charset="-127"/>
            </a:endParaRPr>
          </a:p>
        </p:txBody>
      </p:sp>
      <p:sp>
        <p:nvSpPr>
          <p:cNvPr id="84" name="직사각형 29">
            <a:extLst>
              <a:ext uri="{FF2B5EF4-FFF2-40B4-BE49-F238E27FC236}">
                <a16:creationId xmlns:a16="http://schemas.microsoft.com/office/drawing/2014/main" id="{A3B7FCAA-DBA0-447D-9BBF-DA2C89CDFD18}"/>
              </a:ext>
            </a:extLst>
          </p:cNvPr>
          <p:cNvSpPr/>
          <p:nvPr/>
        </p:nvSpPr>
        <p:spPr>
          <a:xfrm>
            <a:off x="6269223" y="2747684"/>
            <a:ext cx="2133100" cy="337788"/>
          </a:xfrm>
          <a:prstGeom prst="rect">
            <a:avLst/>
          </a:prstGeom>
          <a:noFill/>
          <a:ln w="15875">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chemeClr val="tx1"/>
                </a:solidFill>
                <a:latin typeface="Arial Narrow" panose="020B0606020202030204" pitchFamily="34" charset="0"/>
                <a:ea typeface="LG Smart_H Regular" panose="020B0600000101010101" pitchFamily="34" charset="-127"/>
              </a:rPr>
              <a:t>Improvement </a:t>
            </a:r>
            <a:r>
              <a:rPr lang="vi-VN" sz="1000" b="1" kern="0">
                <a:solidFill>
                  <a:schemeClr val="tx1"/>
                </a:solidFill>
                <a:latin typeface="Arial Narrow" panose="020B0606020202030204" pitchFamily="34" charset="0"/>
                <a:ea typeface="LG Smart_H Regular" panose="020B0600000101010101" pitchFamily="34" charset="-127"/>
              </a:rPr>
              <a:t>Embo height number 3 </a:t>
            </a:r>
            <a:r>
              <a:rPr lang="vi-VN" sz="1000" kern="0">
                <a:solidFill>
                  <a:schemeClr val="tx1"/>
                </a:solidFill>
                <a:latin typeface="Arial Narrow" panose="020B0606020202030204" pitchFamily="34" charset="0"/>
                <a:ea typeface="LG Smart_H Regular" panose="020B0600000101010101" pitchFamily="34" charset="-127"/>
              </a:rPr>
              <a:t>of </a:t>
            </a:r>
          </a:p>
          <a:p>
            <a:pPr algn="ctr" fontAlgn="ctr"/>
            <a:r>
              <a:rPr lang="vi-VN" sz="1000" kern="0">
                <a:solidFill>
                  <a:schemeClr val="tx1"/>
                </a:solidFill>
                <a:latin typeface="Arial Narrow" panose="020B0606020202030204" pitchFamily="34" charset="0"/>
                <a:ea typeface="LG Smart_H Regular" panose="020B0600000101010101" pitchFamily="34" charset="-127"/>
              </a:rPr>
              <a:t>Case Bottom</a:t>
            </a:r>
            <a:endParaRPr lang="en-US" sz="1000" kern="0" dirty="0">
              <a:solidFill>
                <a:schemeClr val="tx1"/>
              </a:solidFill>
              <a:latin typeface="Arial Narrow" panose="020B0606020202030204" pitchFamily="34" charset="0"/>
              <a:ea typeface="LG Smart_H Regular" panose="020B0600000101010101" pitchFamily="34" charset="-127"/>
            </a:endParaRPr>
          </a:p>
        </p:txBody>
      </p:sp>
      <p:sp>
        <p:nvSpPr>
          <p:cNvPr id="85" name="직사각형 29">
            <a:extLst>
              <a:ext uri="{FF2B5EF4-FFF2-40B4-BE49-F238E27FC236}">
                <a16:creationId xmlns:a16="http://schemas.microsoft.com/office/drawing/2014/main" id="{A3B7FCAA-DBA0-447D-9BBF-DA2C89CDFD18}"/>
              </a:ext>
            </a:extLst>
          </p:cNvPr>
          <p:cNvSpPr/>
          <p:nvPr/>
        </p:nvSpPr>
        <p:spPr>
          <a:xfrm>
            <a:off x="6269223" y="3317133"/>
            <a:ext cx="2133100"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chemeClr val="bg1">
                    <a:lumMod val="65000"/>
                  </a:schemeClr>
                </a:solidFill>
                <a:latin typeface="Arial Narrow" panose="020B0606020202030204" pitchFamily="34" charset="0"/>
                <a:ea typeface="LG Smart_H Regular" panose="020B0600000101010101" pitchFamily="34" charset="-127"/>
              </a:rPr>
              <a:t>ETT claim to supplier</a:t>
            </a:r>
            <a:endParaRPr lang="en-US" sz="1000" kern="0" dirty="0">
              <a:solidFill>
                <a:schemeClr val="bg1">
                  <a:lumMod val="65000"/>
                </a:schemeClr>
              </a:solidFill>
              <a:latin typeface="Arial Narrow" panose="020B0606020202030204" pitchFamily="34" charset="0"/>
              <a:ea typeface="LG Smart_H Regular" panose="020B0600000101010101" pitchFamily="34" charset="-127"/>
            </a:endParaRPr>
          </a:p>
        </p:txBody>
      </p:sp>
      <p:sp>
        <p:nvSpPr>
          <p:cNvPr id="86" name="직사각형 29">
            <a:extLst>
              <a:ext uri="{FF2B5EF4-FFF2-40B4-BE49-F238E27FC236}">
                <a16:creationId xmlns:a16="http://schemas.microsoft.com/office/drawing/2014/main" id="{A3B7FCAA-DBA0-447D-9BBF-DA2C89CDFD18}"/>
              </a:ext>
            </a:extLst>
          </p:cNvPr>
          <p:cNvSpPr/>
          <p:nvPr/>
        </p:nvSpPr>
        <p:spPr>
          <a:xfrm>
            <a:off x="6269223" y="3776449"/>
            <a:ext cx="2133100"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chemeClr val="bg1">
                    <a:lumMod val="65000"/>
                  </a:schemeClr>
                </a:solidFill>
                <a:latin typeface="Arial Narrow" panose="020B0606020202030204" pitchFamily="34" charset="0"/>
                <a:ea typeface="LG Smart_H Regular" panose="020B0600000101010101" pitchFamily="34" charset="-127"/>
              </a:rPr>
              <a:t>ETT claim to supplier</a:t>
            </a:r>
            <a:endParaRPr lang="en-US" sz="1000" kern="0" dirty="0">
              <a:solidFill>
                <a:schemeClr val="bg1">
                  <a:lumMod val="65000"/>
                </a:schemeClr>
              </a:solidFill>
              <a:latin typeface="Arial Narrow" panose="020B0606020202030204" pitchFamily="34" charset="0"/>
              <a:ea typeface="LG Smart_H Regular" panose="020B0600000101010101" pitchFamily="34" charset="-127"/>
            </a:endParaRPr>
          </a:p>
        </p:txBody>
      </p:sp>
      <p:sp>
        <p:nvSpPr>
          <p:cNvPr id="87" name="직사각형 29">
            <a:extLst>
              <a:ext uri="{FF2B5EF4-FFF2-40B4-BE49-F238E27FC236}">
                <a16:creationId xmlns:a16="http://schemas.microsoft.com/office/drawing/2014/main" id="{A3B7FCAA-DBA0-447D-9BBF-DA2C89CDFD18}"/>
              </a:ext>
            </a:extLst>
          </p:cNvPr>
          <p:cNvSpPr/>
          <p:nvPr/>
        </p:nvSpPr>
        <p:spPr>
          <a:xfrm>
            <a:off x="6269697" y="4252006"/>
            <a:ext cx="2133100"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chemeClr val="bg1">
                    <a:lumMod val="65000"/>
                  </a:schemeClr>
                </a:solidFill>
                <a:latin typeface="Arial Narrow" panose="020B0606020202030204" pitchFamily="34" charset="0"/>
                <a:ea typeface="LG Smart_H Regular" panose="020B0600000101010101" pitchFamily="34" charset="-127"/>
              </a:rPr>
              <a:t>LGEDV, IE handle this issue</a:t>
            </a:r>
            <a:endParaRPr lang="en-US" sz="1000" kern="0" dirty="0">
              <a:solidFill>
                <a:schemeClr val="bg1">
                  <a:lumMod val="65000"/>
                </a:schemeClr>
              </a:solidFill>
              <a:latin typeface="Arial Narrow" panose="020B0606020202030204" pitchFamily="34" charset="0"/>
              <a:ea typeface="LG Smart_H Regular" panose="020B0600000101010101" pitchFamily="34" charset="-127"/>
            </a:endParaRPr>
          </a:p>
        </p:txBody>
      </p:sp>
      <p:sp>
        <p:nvSpPr>
          <p:cNvPr id="89" name="직사각형 29">
            <a:extLst>
              <a:ext uri="{FF2B5EF4-FFF2-40B4-BE49-F238E27FC236}">
                <a16:creationId xmlns:a16="http://schemas.microsoft.com/office/drawing/2014/main" id="{A3B7FCAA-DBA0-447D-9BBF-DA2C89CDFD18}"/>
              </a:ext>
            </a:extLst>
          </p:cNvPr>
          <p:cNvSpPr/>
          <p:nvPr/>
        </p:nvSpPr>
        <p:spPr>
          <a:xfrm>
            <a:off x="6269223" y="4708403"/>
            <a:ext cx="2146142"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chemeClr val="bg1">
                    <a:lumMod val="65000"/>
                  </a:schemeClr>
                </a:solidFill>
                <a:latin typeface="Arial Narrow" panose="020B0606020202030204" pitchFamily="34" charset="0"/>
                <a:ea typeface="LG Smart_H Regular" panose="020B0600000101010101" pitchFamily="34" charset="-127"/>
              </a:rPr>
              <a:t>LGEDV, IE handle this issue</a:t>
            </a:r>
            <a:endParaRPr lang="en-US" sz="1000" kern="0" dirty="0">
              <a:solidFill>
                <a:schemeClr val="bg1">
                  <a:lumMod val="65000"/>
                </a:schemeClr>
              </a:solidFill>
              <a:latin typeface="Arial Narrow" panose="020B0606020202030204" pitchFamily="34" charset="0"/>
              <a:ea typeface="LG Smart_H Regular" panose="020B0600000101010101" pitchFamily="34" charset="-127"/>
            </a:endParaRPr>
          </a:p>
        </p:txBody>
      </p:sp>
      <p:sp>
        <p:nvSpPr>
          <p:cNvPr id="93" name="직사각형 29">
            <a:extLst>
              <a:ext uri="{FF2B5EF4-FFF2-40B4-BE49-F238E27FC236}">
                <a16:creationId xmlns:a16="http://schemas.microsoft.com/office/drawing/2014/main" id="{A3B7FCAA-DBA0-447D-9BBF-DA2C89CDFD18}"/>
              </a:ext>
            </a:extLst>
          </p:cNvPr>
          <p:cNvSpPr/>
          <p:nvPr/>
        </p:nvSpPr>
        <p:spPr>
          <a:xfrm>
            <a:off x="6269222" y="5183960"/>
            <a:ext cx="2146143"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chemeClr val="bg1">
                    <a:lumMod val="65000"/>
                  </a:schemeClr>
                </a:solidFill>
                <a:latin typeface="Arial Narrow" panose="020B0606020202030204" pitchFamily="34" charset="0"/>
                <a:ea typeface="LG Smart_H Regular" panose="020B0600000101010101" pitchFamily="34" charset="-127"/>
              </a:rPr>
              <a:t>LGEDV, IE handle this issue</a:t>
            </a:r>
            <a:endParaRPr lang="en-US" sz="1000" kern="0" dirty="0">
              <a:solidFill>
                <a:schemeClr val="bg1">
                  <a:lumMod val="65000"/>
                </a:schemeClr>
              </a:solidFill>
              <a:latin typeface="Arial Narrow" panose="020B0606020202030204" pitchFamily="34" charset="0"/>
              <a:ea typeface="LG Smart_H Regular" panose="020B0600000101010101" pitchFamily="34" charset="-127"/>
            </a:endParaRPr>
          </a:p>
        </p:txBody>
      </p:sp>
      <p:sp>
        <p:nvSpPr>
          <p:cNvPr id="94" name="직사각형 29">
            <a:extLst>
              <a:ext uri="{FF2B5EF4-FFF2-40B4-BE49-F238E27FC236}">
                <a16:creationId xmlns:a16="http://schemas.microsoft.com/office/drawing/2014/main" id="{A3B7FCAA-DBA0-447D-9BBF-DA2C89CDFD18}"/>
              </a:ext>
            </a:extLst>
          </p:cNvPr>
          <p:cNvSpPr/>
          <p:nvPr/>
        </p:nvSpPr>
        <p:spPr>
          <a:xfrm>
            <a:off x="6282266" y="5683498"/>
            <a:ext cx="2133100" cy="337788"/>
          </a:xfrm>
          <a:prstGeom prst="rect">
            <a:avLst/>
          </a:prstGeom>
          <a:noFill/>
          <a:ln w="15875">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anchor="ctr"/>
          <a:lstStyle>
            <a:defPPr>
              <a:defRPr lang="ko-KR"/>
            </a:defPPr>
            <a:lvl1pPr algn="l" rtl="0" fontAlgn="base" latinLnBrk="1">
              <a:spcBef>
                <a:spcPct val="0"/>
              </a:spcBef>
              <a:spcAft>
                <a:spcPct val="0"/>
              </a:spcAft>
              <a:defRPr kumimoji="1" sz="1200" kern="1200">
                <a:solidFill>
                  <a:schemeClr val="dk1"/>
                </a:solidFill>
                <a:latin typeface="+mn-lt"/>
                <a:ea typeface="+mn-ea"/>
                <a:cs typeface="+mn-cs"/>
              </a:defRPr>
            </a:lvl1pPr>
            <a:lvl2pPr marL="457200" algn="l" rtl="0" fontAlgn="base" latinLnBrk="1">
              <a:spcBef>
                <a:spcPct val="0"/>
              </a:spcBef>
              <a:spcAft>
                <a:spcPct val="0"/>
              </a:spcAft>
              <a:defRPr kumimoji="1" sz="1200" kern="1200">
                <a:solidFill>
                  <a:schemeClr val="dk1"/>
                </a:solidFill>
                <a:latin typeface="+mn-lt"/>
                <a:ea typeface="+mn-ea"/>
                <a:cs typeface="+mn-cs"/>
              </a:defRPr>
            </a:lvl2pPr>
            <a:lvl3pPr marL="914400" algn="l" rtl="0" fontAlgn="base" latinLnBrk="1">
              <a:spcBef>
                <a:spcPct val="0"/>
              </a:spcBef>
              <a:spcAft>
                <a:spcPct val="0"/>
              </a:spcAft>
              <a:defRPr kumimoji="1" sz="1200" kern="1200">
                <a:solidFill>
                  <a:schemeClr val="dk1"/>
                </a:solidFill>
                <a:latin typeface="+mn-lt"/>
                <a:ea typeface="+mn-ea"/>
                <a:cs typeface="+mn-cs"/>
              </a:defRPr>
            </a:lvl3pPr>
            <a:lvl4pPr marL="1371600" algn="l" rtl="0" fontAlgn="base" latinLnBrk="1">
              <a:spcBef>
                <a:spcPct val="0"/>
              </a:spcBef>
              <a:spcAft>
                <a:spcPct val="0"/>
              </a:spcAft>
              <a:defRPr kumimoji="1" sz="1200" kern="1200">
                <a:solidFill>
                  <a:schemeClr val="dk1"/>
                </a:solidFill>
                <a:latin typeface="+mn-lt"/>
                <a:ea typeface="+mn-ea"/>
                <a:cs typeface="+mn-cs"/>
              </a:defRPr>
            </a:lvl4pPr>
            <a:lvl5pPr marL="1828800" algn="l" rtl="0" fontAlgn="base" latinLnBrk="1">
              <a:spcBef>
                <a:spcPct val="0"/>
              </a:spcBef>
              <a:spcAft>
                <a:spcPct val="0"/>
              </a:spcAft>
              <a:defRPr kumimoji="1" sz="1200" kern="1200">
                <a:solidFill>
                  <a:schemeClr val="dk1"/>
                </a:solidFill>
                <a:latin typeface="+mn-lt"/>
                <a:ea typeface="+mn-ea"/>
                <a:cs typeface="+mn-cs"/>
              </a:defRPr>
            </a:lvl5pPr>
            <a:lvl6pPr marL="2286000" algn="l" defTabSz="914400" rtl="0" eaLnBrk="1" latinLnBrk="1" hangingPunct="1">
              <a:defRPr kumimoji="1" sz="1200" kern="1200">
                <a:solidFill>
                  <a:schemeClr val="dk1"/>
                </a:solidFill>
                <a:latin typeface="+mn-lt"/>
                <a:ea typeface="+mn-ea"/>
                <a:cs typeface="+mn-cs"/>
              </a:defRPr>
            </a:lvl6pPr>
            <a:lvl7pPr marL="2743200" algn="l" defTabSz="914400" rtl="0" eaLnBrk="1" latinLnBrk="1" hangingPunct="1">
              <a:defRPr kumimoji="1" sz="1200" kern="1200">
                <a:solidFill>
                  <a:schemeClr val="dk1"/>
                </a:solidFill>
                <a:latin typeface="+mn-lt"/>
                <a:ea typeface="+mn-ea"/>
                <a:cs typeface="+mn-cs"/>
              </a:defRPr>
            </a:lvl7pPr>
            <a:lvl8pPr marL="3200400" algn="l" defTabSz="914400" rtl="0" eaLnBrk="1" latinLnBrk="1" hangingPunct="1">
              <a:defRPr kumimoji="1" sz="1200" kern="1200">
                <a:solidFill>
                  <a:schemeClr val="dk1"/>
                </a:solidFill>
                <a:latin typeface="+mn-lt"/>
                <a:ea typeface="+mn-ea"/>
                <a:cs typeface="+mn-cs"/>
              </a:defRPr>
            </a:lvl8pPr>
            <a:lvl9pPr marL="3657600" algn="l" defTabSz="914400" rtl="0" eaLnBrk="1" latinLnBrk="1" hangingPunct="1">
              <a:defRPr kumimoji="1" sz="1200" kern="1200">
                <a:solidFill>
                  <a:schemeClr val="dk1"/>
                </a:solidFill>
                <a:latin typeface="+mn-lt"/>
                <a:ea typeface="+mn-ea"/>
                <a:cs typeface="+mn-cs"/>
              </a:defRPr>
            </a:lvl9pPr>
          </a:lstStyle>
          <a:p>
            <a:pPr algn="ctr" fontAlgn="ctr"/>
            <a:r>
              <a:rPr lang="vi-VN" sz="1000" kern="0">
                <a:solidFill>
                  <a:schemeClr val="bg1">
                    <a:lumMod val="65000"/>
                  </a:schemeClr>
                </a:solidFill>
                <a:latin typeface="Arial Narrow" panose="020B0606020202030204" pitchFamily="34" charset="0"/>
                <a:ea typeface="LG Smart_H Regular" panose="020B0600000101010101" pitchFamily="34" charset="-127"/>
              </a:rPr>
              <a:t>LGEDV, IE handle this issue</a:t>
            </a:r>
            <a:endParaRPr lang="en-US" sz="1000" kern="0" dirty="0">
              <a:solidFill>
                <a:schemeClr val="bg1">
                  <a:lumMod val="65000"/>
                </a:schemeClr>
              </a:solidFill>
              <a:latin typeface="Arial Narrow" panose="020B0606020202030204" pitchFamily="34" charset="0"/>
              <a:ea typeface="LG Smart_H Regular" panose="020B0600000101010101" pitchFamily="34" charset="-127"/>
            </a:endParaRPr>
          </a:p>
        </p:txBody>
      </p:sp>
      <p:sp>
        <p:nvSpPr>
          <p:cNvPr id="69" name="TextBox 68">
            <a:extLst>
              <a:ext uri="{FF2B5EF4-FFF2-40B4-BE49-F238E27FC236}">
                <a16:creationId xmlns:a16="http://schemas.microsoft.com/office/drawing/2014/main" id="{34E8873A-E016-40E0-A127-6544C5E842F4}"/>
              </a:ext>
            </a:extLst>
          </p:cNvPr>
          <p:cNvSpPr txBox="1"/>
          <p:nvPr/>
        </p:nvSpPr>
        <p:spPr>
          <a:xfrm>
            <a:off x="2359692" y="3639602"/>
            <a:ext cx="1360224" cy="369332"/>
          </a:xfrm>
          <a:prstGeom prst="rect">
            <a:avLst/>
          </a:prstGeom>
          <a:noFill/>
        </p:spPr>
        <p:txBody>
          <a:bodyPr wrap="square" rtlCol="0">
            <a:spAutoFit/>
          </a:bodyPr>
          <a:lstStyle/>
          <a:p>
            <a:pPr algn="ctr"/>
            <a:r>
              <a:rPr lang="vi-VN" sz="900" i="1">
                <a:solidFill>
                  <a:srgbClr val="5F5F5F"/>
                </a:solidFill>
                <a:latin typeface="Arial Narrow" panose="020B0606020202030204" pitchFamily="34" charset="0"/>
              </a:rPr>
              <a:t>15ea/127,152ea</a:t>
            </a:r>
          </a:p>
          <a:p>
            <a:pPr algn="ctr"/>
            <a:r>
              <a:rPr lang="vi-VN" sz="900" i="1">
                <a:solidFill>
                  <a:srgbClr val="5F5F5F"/>
                </a:solidFill>
                <a:latin typeface="Arial Narrow" panose="020B0606020202030204" pitchFamily="34" charset="0"/>
              </a:rPr>
              <a:t>(117ppm)</a:t>
            </a:r>
            <a:r>
              <a:rPr lang="en-US" sz="900" i="1">
                <a:solidFill>
                  <a:srgbClr val="5F5F5F"/>
                </a:solidFill>
                <a:latin typeface="Arial Narrow" panose="020B0606020202030204" pitchFamily="34" charset="0"/>
              </a:rPr>
              <a:t> </a:t>
            </a:r>
            <a:endParaRPr lang="en-US" sz="900" i="1" dirty="0">
              <a:solidFill>
                <a:srgbClr val="5F5F5F"/>
              </a:solidFill>
              <a:latin typeface="Arial Narrow" panose="020B0606020202030204" pitchFamily="34" charset="0"/>
            </a:endParaRPr>
          </a:p>
        </p:txBody>
      </p:sp>
      <p:sp>
        <p:nvSpPr>
          <p:cNvPr id="76" name="TextBox 75">
            <a:extLst>
              <a:ext uri="{FF2B5EF4-FFF2-40B4-BE49-F238E27FC236}">
                <a16:creationId xmlns:a16="http://schemas.microsoft.com/office/drawing/2014/main" id="{34E8873A-E016-40E0-A127-6544C5E842F4}"/>
              </a:ext>
            </a:extLst>
          </p:cNvPr>
          <p:cNvSpPr txBox="1"/>
          <p:nvPr/>
        </p:nvSpPr>
        <p:spPr>
          <a:xfrm>
            <a:off x="2326967" y="5147231"/>
            <a:ext cx="1360224" cy="369332"/>
          </a:xfrm>
          <a:prstGeom prst="rect">
            <a:avLst/>
          </a:prstGeom>
          <a:noFill/>
        </p:spPr>
        <p:txBody>
          <a:bodyPr wrap="square" rtlCol="0">
            <a:spAutoFit/>
          </a:bodyPr>
          <a:lstStyle/>
          <a:p>
            <a:pPr algn="ctr"/>
            <a:r>
              <a:rPr lang="vi-VN" sz="900" i="1">
                <a:solidFill>
                  <a:srgbClr val="5F5F5F"/>
                </a:solidFill>
                <a:latin typeface="Arial Narrow" panose="020B0606020202030204" pitchFamily="34" charset="0"/>
              </a:rPr>
              <a:t>16ea/127,152ea</a:t>
            </a:r>
          </a:p>
          <a:p>
            <a:pPr algn="ctr"/>
            <a:r>
              <a:rPr lang="vi-VN" sz="900" i="1">
                <a:solidFill>
                  <a:srgbClr val="5F5F5F"/>
                </a:solidFill>
                <a:latin typeface="Arial Narrow" panose="020B0606020202030204" pitchFamily="34" charset="0"/>
              </a:rPr>
              <a:t>(118ppm)</a:t>
            </a:r>
            <a:r>
              <a:rPr lang="en-US" sz="900" i="1">
                <a:solidFill>
                  <a:srgbClr val="5F5F5F"/>
                </a:solidFill>
                <a:latin typeface="Arial Narrow" panose="020B0606020202030204" pitchFamily="34" charset="0"/>
              </a:rPr>
              <a:t> </a:t>
            </a:r>
            <a:endParaRPr lang="en-US" sz="900" i="1" dirty="0">
              <a:solidFill>
                <a:srgbClr val="5F5F5F"/>
              </a:solidFill>
              <a:latin typeface="Arial Narrow" panose="020B0606020202030204" pitchFamily="34" charset="0"/>
            </a:endParaRPr>
          </a:p>
        </p:txBody>
      </p:sp>
      <p:sp>
        <p:nvSpPr>
          <p:cNvPr id="2" name="사각형: 둥근 모서리 1">
            <a:extLst>
              <a:ext uri="{FF2B5EF4-FFF2-40B4-BE49-F238E27FC236}">
                <a16:creationId xmlns:a16="http://schemas.microsoft.com/office/drawing/2014/main" id="{22A2A579-3E53-1F4F-62F1-60D77E5E9A6C}"/>
              </a:ext>
            </a:extLst>
          </p:cNvPr>
          <p:cNvSpPr/>
          <p:nvPr/>
        </p:nvSpPr>
        <p:spPr>
          <a:xfrm>
            <a:off x="-5831816" y="3182092"/>
            <a:ext cx="5450380" cy="1252843"/>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At the first page, I recommend you that Just Background of Project such as how big volumes this project is, how high-quality brand of this GM has, how critical quality of this product is, etc. before Y – y break down.</a:t>
            </a:r>
          </a:p>
          <a:p>
            <a:r>
              <a:rPr lang="en-US" altLang="ko-KR" sz="1200" dirty="0"/>
              <a:t>I’m sharing the reference project with you and please check the overall story.</a:t>
            </a:r>
          </a:p>
        </p:txBody>
      </p:sp>
      <p:cxnSp>
        <p:nvCxnSpPr>
          <p:cNvPr id="31" name="직선 화살표 연결선 30">
            <a:extLst>
              <a:ext uri="{FF2B5EF4-FFF2-40B4-BE49-F238E27FC236}">
                <a16:creationId xmlns:a16="http://schemas.microsoft.com/office/drawing/2014/main" id="{C83918AA-8CE5-445C-5002-02B2BD465B70}"/>
              </a:ext>
            </a:extLst>
          </p:cNvPr>
          <p:cNvCxnSpPr>
            <a:stCxn id="2" idx="0"/>
          </p:cNvCxnSpPr>
          <p:nvPr/>
        </p:nvCxnSpPr>
        <p:spPr>
          <a:xfrm flipH="1" flipV="1">
            <a:off x="-3870150" y="19641"/>
            <a:ext cx="763524" cy="316245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5" name="사각형: 둥근 모서리 34">
            <a:extLst>
              <a:ext uri="{FF2B5EF4-FFF2-40B4-BE49-F238E27FC236}">
                <a16:creationId xmlns:a16="http://schemas.microsoft.com/office/drawing/2014/main" id="{4C9D49D2-7039-7419-8CEC-921E2E4EF13B}"/>
              </a:ext>
            </a:extLst>
          </p:cNvPr>
          <p:cNvSpPr/>
          <p:nvPr/>
        </p:nvSpPr>
        <p:spPr>
          <a:xfrm>
            <a:off x="10373910" y="2186006"/>
            <a:ext cx="5450380" cy="184369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According to this page, improvement mechanic part to reduce rattle noise defect is very important thing. And then, you have to define what Project Y is and why you select this at the next page. </a:t>
            </a:r>
          </a:p>
          <a:p>
            <a:r>
              <a:rPr lang="en-US" altLang="ko-KR" sz="1200" dirty="0"/>
              <a:t>What do you think that which characteristic is the most important one in this model? Such as length dimension or height of the screw boss dimension? Or strength of the part? Or mass of the part?? </a:t>
            </a:r>
          </a:p>
          <a:p>
            <a:r>
              <a:rPr lang="en-US" altLang="ko-KR" sz="1200" dirty="0"/>
              <a:t>And you have to share why you think that this dimension is important with technical or statistical approach.</a:t>
            </a:r>
          </a:p>
        </p:txBody>
      </p:sp>
      <p:cxnSp>
        <p:nvCxnSpPr>
          <p:cNvPr id="36" name="직선 화살표 연결선 35">
            <a:extLst>
              <a:ext uri="{FF2B5EF4-FFF2-40B4-BE49-F238E27FC236}">
                <a16:creationId xmlns:a16="http://schemas.microsoft.com/office/drawing/2014/main" id="{43D6C48C-630E-8893-F507-48723527FA52}"/>
              </a:ext>
            </a:extLst>
          </p:cNvPr>
          <p:cNvCxnSpPr>
            <a:cxnSpLocks/>
            <a:stCxn id="35" idx="2"/>
          </p:cNvCxnSpPr>
          <p:nvPr/>
        </p:nvCxnSpPr>
        <p:spPr>
          <a:xfrm flipH="1">
            <a:off x="12634420" y="4029699"/>
            <a:ext cx="464680" cy="176117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3850493" y="4727145"/>
            <a:ext cx="3368529" cy="415498"/>
          </a:xfrm>
          <a:prstGeom prst="rect">
            <a:avLst/>
          </a:prstGeom>
          <a:solidFill>
            <a:schemeClr val="accent2">
              <a:lumMod val="75000"/>
            </a:schemeClr>
          </a:solidFill>
        </p:spPr>
        <p:txBody>
          <a:bodyPr wrap="square" rtlCol="0">
            <a:spAutoFit/>
          </a:bodyPr>
          <a:lstStyle/>
          <a:p>
            <a:r>
              <a:rPr lang="en-US" sz="1050" b="1">
                <a:solidFill>
                  <a:schemeClr val="bg1"/>
                </a:solidFill>
              </a:rPr>
              <a:t>24th, Nov. Ken Park</a:t>
            </a:r>
            <a:br>
              <a:rPr lang="en-US" sz="1050">
                <a:solidFill>
                  <a:schemeClr val="bg1"/>
                </a:solidFill>
              </a:rPr>
            </a:br>
            <a:r>
              <a:rPr lang="en-US" sz="1050">
                <a:solidFill>
                  <a:schemeClr val="bg1"/>
                </a:solidFill>
              </a:rPr>
              <a:t>Well done to make </a:t>
            </a:r>
            <a:r>
              <a:rPr lang="vi-VN" sz="1050">
                <a:solidFill>
                  <a:schemeClr val="bg1"/>
                </a:solidFill>
              </a:rPr>
              <a:t>good story to explain Project Y</a:t>
            </a:r>
            <a:endParaRPr lang="en-US" sz="1050">
              <a:solidFill>
                <a:schemeClr val="bg1"/>
              </a:solidFill>
              <a:latin typeface="Arial Narrow" panose="020B0606020202030204" pitchFamily="34" charset="0"/>
            </a:endParaRPr>
          </a:p>
        </p:txBody>
      </p:sp>
    </p:spTree>
    <p:extLst>
      <p:ext uri="{BB962C8B-B14F-4D97-AF65-F5344CB8AC3E}">
        <p14:creationId xmlns:p14="http://schemas.microsoft.com/office/powerpoint/2010/main" val="3518321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24084" y="2069156"/>
            <a:ext cx="1988045" cy="523220"/>
          </a:xfrm>
          <a:prstGeom prst="rect">
            <a:avLst/>
          </a:prstGeom>
          <a:noFill/>
        </p:spPr>
        <p:txBody>
          <a:bodyPr wrap="none" rtlCol="0">
            <a:spAutoFit/>
          </a:bodyPr>
          <a:lstStyle/>
          <a:p>
            <a:r>
              <a:rPr lang="vi-VN" sz="2800" b="1" u="sng">
                <a:latin typeface="Arial Narrow" panose="020B0606020202030204" pitchFamily="34" charset="0"/>
              </a:rPr>
              <a:t>II</a:t>
            </a:r>
            <a:r>
              <a:rPr lang="en-US" sz="2800" b="1" u="sng">
                <a:latin typeface="Arial Narrow" panose="020B0606020202030204" pitchFamily="34" charset="0"/>
              </a:rPr>
              <a:t>. MEASURE</a:t>
            </a:r>
          </a:p>
        </p:txBody>
      </p:sp>
      <p:sp>
        <p:nvSpPr>
          <p:cNvPr id="11" name="TextBox 10"/>
          <p:cNvSpPr txBox="1"/>
          <p:nvPr/>
        </p:nvSpPr>
        <p:spPr>
          <a:xfrm>
            <a:off x="2672106" y="2867950"/>
            <a:ext cx="6316537" cy="1661993"/>
          </a:xfrm>
          <a:prstGeom prst="rect">
            <a:avLst/>
          </a:prstGeom>
          <a:noFill/>
        </p:spPr>
        <p:txBody>
          <a:bodyPr wrap="none" rtlCol="0">
            <a:spAutoFit/>
          </a:bodyPr>
          <a:lstStyle/>
          <a:p>
            <a:pPr marL="342900" indent="-342900">
              <a:buAutoNum type="arabicPeriod"/>
            </a:pPr>
            <a:r>
              <a:rPr lang="en-US" sz="1600" b="1">
                <a:latin typeface="Arial Narrow" panose="020B0606020202030204" pitchFamily="34" charset="0"/>
              </a:rPr>
              <a:t>Measurement System Analysis</a:t>
            </a:r>
          </a:p>
          <a:p>
            <a:pPr marL="285750" indent="-285750">
              <a:buFontTx/>
              <a:buChar char="-"/>
            </a:pPr>
            <a:r>
              <a:rPr lang="en-US" sz="1400" b="1">
                <a:latin typeface="Arial Narrow" panose="020B0606020202030204" pitchFamily="34" charset="0"/>
              </a:rPr>
              <a:t>Measuring Equipment</a:t>
            </a:r>
          </a:p>
          <a:p>
            <a:pPr marL="285750" indent="-285750">
              <a:buFontTx/>
              <a:buChar char="-"/>
            </a:pPr>
            <a:r>
              <a:rPr lang="en-US" sz="1400" b="1">
                <a:latin typeface="Arial Narrow" panose="020B0606020202030204" pitchFamily="34" charset="0"/>
              </a:rPr>
              <a:t>Gage R&amp;R</a:t>
            </a:r>
          </a:p>
          <a:p>
            <a:pPr marL="342900" indent="-342900">
              <a:buAutoNum type="arabicPeriod" startAt="2"/>
            </a:pPr>
            <a:r>
              <a:rPr lang="vi-VN" sz="1600" b="1">
                <a:latin typeface="Arial Narrow" panose="020B0606020202030204" pitchFamily="34" charset="0"/>
              </a:rPr>
              <a:t>Verify by measurement </a:t>
            </a:r>
            <a:r>
              <a:rPr lang="en-US" sz="1600" b="1">
                <a:latin typeface="Arial Narrow" panose="020B0606020202030204" pitchFamily="34" charset="0"/>
              </a:rPr>
              <a:t>the factors that may affect the issue on </a:t>
            </a:r>
            <a:r>
              <a:rPr lang="vi-VN" sz="1600" b="1">
                <a:latin typeface="Arial Narrow" panose="020B0606020202030204" pitchFamily="34" charset="0"/>
              </a:rPr>
              <a:t>each part</a:t>
            </a:r>
          </a:p>
          <a:p>
            <a:pPr marL="285750" indent="-285750">
              <a:buFontTx/>
              <a:buChar char="-"/>
            </a:pPr>
            <a:r>
              <a:rPr lang="vi-VN" sz="1400" b="1">
                <a:latin typeface="Arial Narrow" panose="020B0606020202030204" pitchFamily="34" charset="0"/>
              </a:rPr>
              <a:t>Case Main</a:t>
            </a:r>
          </a:p>
          <a:p>
            <a:pPr marL="285750" indent="-285750">
              <a:buFontTx/>
              <a:buChar char="-"/>
            </a:pPr>
            <a:r>
              <a:rPr lang="vi-VN" sz="1400" b="1">
                <a:latin typeface="Arial Narrow" panose="020B0606020202030204" pitchFamily="34" charset="0"/>
              </a:rPr>
              <a:t>Bottom Case</a:t>
            </a:r>
          </a:p>
          <a:p>
            <a:pPr marL="285750" indent="-285750">
              <a:buFontTx/>
              <a:buChar char="-"/>
            </a:pPr>
            <a:r>
              <a:rPr lang="vi-VN" sz="1400" b="1">
                <a:latin typeface="Arial Narrow" panose="020B0606020202030204" pitchFamily="34" charset="0"/>
              </a:rPr>
              <a:t>PCB</a:t>
            </a:r>
          </a:p>
        </p:txBody>
      </p:sp>
    </p:spTree>
    <p:extLst>
      <p:ext uri="{BB962C8B-B14F-4D97-AF65-F5344CB8AC3E}">
        <p14:creationId xmlns:p14="http://schemas.microsoft.com/office/powerpoint/2010/main" val="2423286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48758" y="34823"/>
            <a:ext cx="2482292" cy="327339"/>
            <a:chOff x="7343533" y="113200"/>
            <a:chExt cx="2482292" cy="327339"/>
          </a:xfrm>
        </p:grpSpPr>
        <p:sp>
          <p:nvSpPr>
            <p:cNvPr id="7" name="AutoShape 5"/>
            <p:cNvSpPr>
              <a:spLocks noChangeArrowheads="1"/>
            </p:cNvSpPr>
            <p:nvPr/>
          </p:nvSpPr>
          <p:spPr bwMode="auto">
            <a:xfrm>
              <a:off x="7343533" y="113200"/>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22322" y="113200"/>
              <a:ext cx="592137" cy="323850"/>
            </a:xfrm>
            <a:prstGeom prst="chevron">
              <a:avLst>
                <a:gd name="adj" fmla="val 51443"/>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11" name="TextBox 75">
            <a:extLst>
              <a:ext uri="{FF2B5EF4-FFF2-40B4-BE49-F238E27FC236}">
                <a16:creationId xmlns:a16="http://schemas.microsoft.com/office/drawing/2014/main" id="{66EE7E85-49E9-4783-A36C-C3FD64BB3C5C}"/>
              </a:ext>
            </a:extLst>
          </p:cNvPr>
          <p:cNvSpPr txBox="1">
            <a:spLocks noChangeArrowheads="1"/>
          </p:cNvSpPr>
          <p:nvPr/>
        </p:nvSpPr>
        <p:spPr bwMode="auto">
          <a:xfrm>
            <a:off x="73152" y="801691"/>
            <a:ext cx="47802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187325">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latinLnBrk="1">
              <a:buFont typeface="Wingdings" panose="05000000000000000000" pitchFamily="2" charset="2"/>
              <a:buChar char="§"/>
            </a:pPr>
            <a:r>
              <a:rPr kumimoji="0" lang="en-US" altLang="ko-KR" sz="110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Equipment: </a:t>
            </a:r>
            <a:r>
              <a:rPr kumimoji="0" lang="en-US" altLang="ko-KR" sz="1100" b="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CMM (coordinate measurement machine) Mitoyoto </a:t>
            </a:r>
            <a:endParaRPr kumimoji="0" lang="en-US" altLang="ko-KR"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endParaRPr>
          </a:p>
          <a:p>
            <a:pPr latinLnBrk="1">
              <a:buFont typeface="Wingdings" panose="05000000000000000000" pitchFamily="2" charset="2"/>
              <a:buChar char="§"/>
            </a:pPr>
            <a:r>
              <a:rPr kumimoji="0" lang="en-US" altLang="ko-KR" sz="110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Resolution: </a:t>
            </a:r>
            <a:r>
              <a:rPr kumimoji="0" lang="en-US" altLang="ko-KR"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0.001 mm </a:t>
            </a:r>
          </a:p>
        </p:txBody>
      </p:sp>
      <p:sp>
        <p:nvSpPr>
          <p:cNvPr id="13" name="TextBox 74">
            <a:extLst>
              <a:ext uri="{FF2B5EF4-FFF2-40B4-BE49-F238E27FC236}">
                <a16:creationId xmlns:a16="http://schemas.microsoft.com/office/drawing/2014/main" id="{1E1F4DCD-3CCD-4846-93CD-A18254EE3283}"/>
              </a:ext>
            </a:extLst>
          </p:cNvPr>
          <p:cNvSpPr txBox="1">
            <a:spLocks noChangeArrowheads="1"/>
          </p:cNvSpPr>
          <p:nvPr/>
        </p:nvSpPr>
        <p:spPr bwMode="auto">
          <a:xfrm>
            <a:off x="85493" y="3810217"/>
            <a:ext cx="491188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8288"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marL="257175" indent="-171450">
              <a:buFont typeface="Wingdings" panose="05000000000000000000" pitchFamily="2" charset="2"/>
              <a:buChar char="§"/>
            </a:pPr>
            <a:r>
              <a:rPr kumimoji="0" lang="en-US" altLang="ko-KR" sz="110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Blind </a:t>
            </a:r>
            <a:r>
              <a:rPr kumimoji="0" lang="en-US" altLang="ko-KR" sz="110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test: </a:t>
            </a:r>
            <a:r>
              <a:rPr lang="en-US" altLang="ko-KR" sz="1100" b="0" dirty="0">
                <a:solidFill>
                  <a:schemeClr val="tx1"/>
                </a:solidFill>
                <a:latin typeface="Arial Narrow" panose="020B0606020202030204" pitchFamily="34" charset="0"/>
                <a:ea typeface="맑은 고딕" pitchFamily="50" charset="-127"/>
                <a:cs typeface="Arial" panose="020B0604020202020204" pitchFamily="34" charset="0"/>
              </a:rPr>
              <a:t>The measurer should not know the information of </a:t>
            </a:r>
            <a:r>
              <a:rPr lang="en-US" altLang="ko-KR" sz="1100" b="0">
                <a:solidFill>
                  <a:schemeClr val="tx1"/>
                </a:solidFill>
                <a:latin typeface="Arial Narrow" panose="020B0606020202030204" pitchFamily="34" charset="0"/>
                <a:ea typeface="맑은 고딕" pitchFamily="50" charset="-127"/>
                <a:cs typeface="Arial" panose="020B0604020202020204" pitchFamily="34" charset="0"/>
              </a:rPr>
              <a:t>the sample </a:t>
            </a:r>
            <a:r>
              <a:rPr lang="en-US" altLang="ko-KR" sz="1100" b="0" dirty="0">
                <a:solidFill>
                  <a:schemeClr val="tx1"/>
                </a:solidFill>
                <a:latin typeface="Arial Narrow" panose="020B0606020202030204" pitchFamily="34" charset="0"/>
                <a:ea typeface="맑은 고딕" pitchFamily="50" charset="-127"/>
                <a:cs typeface="Arial" panose="020B0604020202020204" pitchFamily="34" charset="0"/>
              </a:rPr>
              <a:t>to </a:t>
            </a:r>
            <a:r>
              <a:rPr lang="en-US" altLang="ko-KR" sz="1100" b="0">
                <a:solidFill>
                  <a:schemeClr val="tx1"/>
                </a:solidFill>
                <a:latin typeface="Arial Narrow" panose="020B0606020202030204" pitchFamily="34" charset="0"/>
                <a:ea typeface="맑은 고딕" pitchFamily="50" charset="-127"/>
                <a:cs typeface="Arial" panose="020B0604020202020204" pitchFamily="34" charset="0"/>
              </a:rPr>
              <a:t>be measured, including the specifications.</a:t>
            </a:r>
            <a:endParaRPr lang="en-US" altLang="ko-KR" sz="1100" b="0" dirty="0">
              <a:solidFill>
                <a:schemeClr val="tx1"/>
              </a:solidFill>
              <a:latin typeface="Arial Narrow" panose="020B0606020202030204" pitchFamily="34" charset="0"/>
              <a:ea typeface="맑은 고딕" pitchFamily="50" charset="-127"/>
              <a:cs typeface="Arial" panose="020B0604020202020204" pitchFamily="34" charset="0"/>
            </a:endParaRPr>
          </a:p>
          <a:p>
            <a:pPr marL="257175" indent="-171450">
              <a:buFont typeface="Wingdings" panose="05000000000000000000" pitchFamily="2" charset="2"/>
              <a:buChar char="§"/>
            </a:pPr>
            <a:r>
              <a:rPr kumimoji="0" lang="en-US" altLang="ko-KR" sz="110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Random</a:t>
            </a:r>
            <a:r>
              <a:rPr kumimoji="0" lang="en-US" altLang="ko-KR" sz="110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100" b="0" dirty="0">
                <a:solidFill>
                  <a:schemeClr val="tx1"/>
                </a:solidFill>
                <a:latin typeface="Arial Narrow" panose="020B0606020202030204" pitchFamily="34" charset="0"/>
                <a:ea typeface="맑은 고딕" pitchFamily="50" charset="-127"/>
                <a:cs typeface="Arial" panose="020B0604020202020204" pitchFamily="34" charset="0"/>
              </a:rPr>
              <a:t>The measuring sequence of the measurer and the sample to be measured and the repetition are </a:t>
            </a:r>
            <a:r>
              <a:rPr lang="en-US" altLang="ko-KR" sz="1100" b="0">
                <a:solidFill>
                  <a:schemeClr val="tx1"/>
                </a:solidFill>
                <a:latin typeface="Arial Narrow" panose="020B0606020202030204" pitchFamily="34" charset="0"/>
                <a:ea typeface="맑은 고딕" pitchFamily="50" charset="-127"/>
                <a:cs typeface="Arial" panose="020B0604020202020204" pitchFamily="34" charset="0"/>
              </a:rPr>
              <a:t>determined randomly</a:t>
            </a:r>
            <a:endParaRPr lang="en-US" sz="1100" b="0" dirty="0">
              <a:solidFill>
                <a:schemeClr val="tx1"/>
              </a:solidFill>
              <a:latin typeface="Arial Narrow" panose="020B0606020202030204" pitchFamily="34" charset="0"/>
              <a:ea typeface="맑은 고딕" pitchFamily="50" charset="-127"/>
              <a:cs typeface="Arial" panose="020B0604020202020204" pitchFamily="34" charset="0"/>
            </a:endParaRPr>
          </a:p>
        </p:txBody>
      </p:sp>
      <p:sp>
        <p:nvSpPr>
          <p:cNvPr id="14" name="TextBox 13">
            <a:extLst>
              <a:ext uri="{FF2B5EF4-FFF2-40B4-BE49-F238E27FC236}">
                <a16:creationId xmlns:a16="http://schemas.microsoft.com/office/drawing/2014/main" id="{3350D879-356E-4F31-B8F9-217C5A758337}"/>
              </a:ext>
            </a:extLst>
          </p:cNvPr>
          <p:cNvSpPr txBox="1">
            <a:spLocks noChangeArrowheads="1"/>
          </p:cNvSpPr>
          <p:nvPr/>
        </p:nvSpPr>
        <p:spPr bwMode="auto">
          <a:xfrm>
            <a:off x="-6995" y="581198"/>
            <a:ext cx="273685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eaLnBrk="1" latinLnBrk="1" hangingPunct="1">
              <a:buFont typeface="Wingdings" panose="05000000000000000000" pitchFamily="2" charset="2"/>
              <a:buChar char="q"/>
            </a:pPr>
            <a:r>
              <a:rPr lang="en-US" altLang="ko-KR"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Measure System</a:t>
            </a:r>
            <a:endParaRPr lang="ko-KR" altLang="en-US"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cxnSp>
        <p:nvCxnSpPr>
          <p:cNvPr id="15" name="직선 연결선 135">
            <a:extLst>
              <a:ext uri="{FF2B5EF4-FFF2-40B4-BE49-F238E27FC236}">
                <a16:creationId xmlns:a16="http://schemas.microsoft.com/office/drawing/2014/main" id="{A915E7B1-5B69-43DA-A0DF-BDDC050D4DE4}"/>
              </a:ext>
            </a:extLst>
          </p:cNvPr>
          <p:cNvCxnSpPr/>
          <p:nvPr/>
        </p:nvCxnSpPr>
        <p:spPr>
          <a:xfrm>
            <a:off x="4997375" y="597349"/>
            <a:ext cx="0" cy="5924101"/>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33">
            <a:extLst>
              <a:ext uri="{FF2B5EF4-FFF2-40B4-BE49-F238E27FC236}">
                <a16:creationId xmlns:a16="http://schemas.microsoft.com/office/drawing/2014/main" id="{B06093BB-830B-459E-B00D-A625FA58D657}"/>
              </a:ext>
            </a:extLst>
          </p:cNvPr>
          <p:cNvSpPr txBox="1">
            <a:spLocks noChangeArrowheads="1"/>
          </p:cNvSpPr>
          <p:nvPr/>
        </p:nvSpPr>
        <p:spPr bwMode="auto">
          <a:xfrm>
            <a:off x="80479" y="4610797"/>
            <a:ext cx="273685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eaLnBrk="1" latinLnBrk="1" hangingPunct="1">
              <a:buFont typeface="Wingdings" panose="05000000000000000000" pitchFamily="2" charset="2"/>
              <a:buChar char="q"/>
            </a:pPr>
            <a:r>
              <a:rPr lang="en-US" altLang="ko-KR"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How to get sample (sampling)</a:t>
            </a:r>
            <a:endParaRPr lang="ko-KR" altLang="en-US"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18" name="Rectangle 17">
            <a:extLst>
              <a:ext uri="{FF2B5EF4-FFF2-40B4-BE49-F238E27FC236}">
                <a16:creationId xmlns:a16="http://schemas.microsoft.com/office/drawing/2014/main" id="{2407AFD9-28A7-482C-9829-041A5F3E549B}"/>
              </a:ext>
            </a:extLst>
          </p:cNvPr>
          <p:cNvSpPr/>
          <p:nvPr/>
        </p:nvSpPr>
        <p:spPr>
          <a:xfrm>
            <a:off x="270534" y="4810441"/>
            <a:ext cx="4531166" cy="1107996"/>
          </a:xfrm>
          <a:prstGeom prst="rect">
            <a:avLst/>
          </a:prstGeom>
        </p:spPr>
        <p:txBody>
          <a:bodyPr wrap="square">
            <a:spAutoFit/>
          </a:bodyPr>
          <a:lstStyle/>
          <a:p>
            <a:r>
              <a:rPr lang="en-US" altLang="ko-KR" sz="1100" b="1">
                <a:latin typeface="Arial Narrow" panose="020B0606020202030204" pitchFamily="34" charset="0"/>
                <a:ea typeface="맑은 고딕" pitchFamily="50" charset="-127"/>
              </a:rPr>
              <a:t>A </a:t>
            </a:r>
            <a:r>
              <a:rPr lang="en-US" altLang="ko-KR" sz="1100" b="1" dirty="0">
                <a:latin typeface="Arial Narrow" panose="020B0606020202030204" pitchFamily="34" charset="0"/>
                <a:ea typeface="맑은 고딕" pitchFamily="50" charset="-127"/>
              </a:rPr>
              <a:t>sample which contains the entire spec or the dispersion of the process should </a:t>
            </a:r>
            <a:r>
              <a:rPr lang="en-US" altLang="ko-KR" sz="1100" b="1">
                <a:latin typeface="Arial Narrow" panose="020B0606020202030204" pitchFamily="34" charset="0"/>
                <a:ea typeface="맑은 고딕" pitchFamily="50" charset="-127"/>
              </a:rPr>
              <a:t>be selected.</a:t>
            </a:r>
            <a:endParaRPr lang="en-US" altLang="ko-KR" sz="1100" b="1" dirty="0">
              <a:latin typeface="Arial Narrow" panose="020B0606020202030204" pitchFamily="34" charset="0"/>
              <a:ea typeface="맑은 고딕" pitchFamily="50" charset="-127"/>
            </a:endParaRPr>
          </a:p>
          <a:p>
            <a:pPr marL="228600" indent="-228600" fontAlgn="auto">
              <a:spcBef>
                <a:spcPts val="0"/>
              </a:spcBef>
              <a:spcAft>
                <a:spcPts val="0"/>
              </a:spcAft>
              <a:defRPr/>
            </a:pPr>
            <a:r>
              <a:rPr kumimoji="0" lang="en-US" altLang="ko-KR" sz="1100" b="1" kern="0">
                <a:latin typeface="Arial Narrow" panose="020B0606020202030204" pitchFamily="34" charset="0"/>
                <a:ea typeface="맑은 고딕" pitchFamily="50" charset="-127"/>
              </a:rPr>
              <a:t>   </a:t>
            </a:r>
            <a:r>
              <a:rPr kumimoji="0" lang="en-US" altLang="ko-KR" sz="1100" kern="0">
                <a:solidFill>
                  <a:sysClr val="windowText" lastClr="000000"/>
                </a:solidFill>
                <a:latin typeface="Arial Narrow" panose="020B0606020202030204" pitchFamily="34" charset="0"/>
                <a:ea typeface="맑은 고딕" pitchFamily="50" charset="-127"/>
              </a:rPr>
              <a:t>- </a:t>
            </a:r>
            <a:r>
              <a:rPr kumimoji="0" lang="en-US" altLang="ko-KR" sz="1100" kern="0" dirty="0">
                <a:solidFill>
                  <a:sysClr val="windowText" lastClr="000000"/>
                </a:solidFill>
                <a:latin typeface="Arial Narrow" panose="020B0606020202030204" pitchFamily="34" charset="0"/>
                <a:ea typeface="맑은 고딕" pitchFamily="50" charset="-127"/>
              </a:rPr>
              <a:t>Normally ± 10 to 20% is recommended, but it should be </a:t>
            </a:r>
            <a:r>
              <a:rPr kumimoji="0" lang="en-US" altLang="ko-KR" sz="1100" kern="0">
                <a:solidFill>
                  <a:sysClr val="windowText" lastClr="000000"/>
                </a:solidFill>
                <a:latin typeface="Arial Narrow" panose="020B0606020202030204" pitchFamily="34" charset="0"/>
                <a:ea typeface="맑은 고딕" pitchFamily="50" charset="-127"/>
              </a:rPr>
              <a:t>selected considering the </a:t>
            </a:r>
            <a:r>
              <a:rPr kumimoji="0" lang="en-US" altLang="ko-KR" sz="1100" kern="0" dirty="0">
                <a:solidFill>
                  <a:sysClr val="windowText" lastClr="000000"/>
                </a:solidFill>
                <a:latin typeface="Arial Narrow" panose="020B0606020202030204" pitchFamily="34" charset="0"/>
                <a:ea typeface="맑은 고딕" pitchFamily="50" charset="-127"/>
              </a:rPr>
              <a:t>current state of the goods in stock!</a:t>
            </a:r>
          </a:p>
          <a:p>
            <a:pPr marL="228600" indent="-228600">
              <a:buNone/>
            </a:pPr>
            <a:r>
              <a:rPr kumimoji="0" lang="en-US" altLang="ko-KR" sz="1100" kern="0" dirty="0">
                <a:solidFill>
                  <a:sysClr val="windowText" lastClr="000000"/>
                </a:solidFill>
                <a:latin typeface="Arial Narrow" panose="020B0606020202030204" pitchFamily="34" charset="0"/>
                <a:ea typeface="맑은 고딕" pitchFamily="50" charset="-127"/>
              </a:rPr>
              <a:t>   - </a:t>
            </a:r>
            <a:r>
              <a:rPr lang="en-US" sz="1100" dirty="0">
                <a:latin typeface="Arial Narrow" panose="020B0606020202030204" pitchFamily="34" charset="0"/>
              </a:rPr>
              <a:t>The choice of sample should reflect the state of the process</a:t>
            </a:r>
          </a:p>
          <a:p>
            <a:pPr marL="228600" indent="-228600">
              <a:buNone/>
            </a:pPr>
            <a:r>
              <a:rPr lang="en-US" sz="1100" dirty="0">
                <a:latin typeface="Arial Narrow" panose="020B0606020202030204" pitchFamily="34" charset="0"/>
              </a:rPr>
              <a:t>   -  Pick NG/OK samples, including sample near spec.</a:t>
            </a:r>
          </a:p>
        </p:txBody>
      </p:sp>
      <p:pic>
        <p:nvPicPr>
          <p:cNvPr id="19" name="Picture 18">
            <a:extLst>
              <a:ext uri="{FF2B5EF4-FFF2-40B4-BE49-F238E27FC236}">
                <a16:creationId xmlns:a16="http://schemas.microsoft.com/office/drawing/2014/main" id="{67A9D899-B2C3-46E2-8E3E-E81A21A4413E}"/>
              </a:ext>
            </a:extLst>
          </p:cNvPr>
          <p:cNvPicPr>
            <a:picLocks noChangeAspect="1"/>
          </p:cNvPicPr>
          <p:nvPr/>
        </p:nvPicPr>
        <p:blipFill>
          <a:blip r:embed="rId2"/>
          <a:stretch>
            <a:fillRect/>
          </a:stretch>
        </p:blipFill>
        <p:spPr>
          <a:xfrm>
            <a:off x="237532" y="1277421"/>
            <a:ext cx="1901288" cy="2487953"/>
          </a:xfrm>
          <a:prstGeom prst="rect">
            <a:avLst/>
          </a:prstGeom>
        </p:spPr>
      </p:pic>
      <p:pic>
        <p:nvPicPr>
          <p:cNvPr id="20" name="Picture 19">
            <a:extLst>
              <a:ext uri="{FF2B5EF4-FFF2-40B4-BE49-F238E27FC236}">
                <a16:creationId xmlns:a16="http://schemas.microsoft.com/office/drawing/2014/main" id="{892A4AC3-84BE-4931-979B-883295C3C084}"/>
              </a:ext>
            </a:extLst>
          </p:cNvPr>
          <p:cNvPicPr>
            <a:picLocks noChangeAspect="1"/>
          </p:cNvPicPr>
          <p:nvPr/>
        </p:nvPicPr>
        <p:blipFill>
          <a:blip r:embed="rId3"/>
          <a:stretch>
            <a:fillRect/>
          </a:stretch>
        </p:blipFill>
        <p:spPr>
          <a:xfrm>
            <a:off x="2608415" y="1352888"/>
            <a:ext cx="1734620" cy="1459284"/>
          </a:xfrm>
          <a:prstGeom prst="rect">
            <a:avLst/>
          </a:prstGeom>
        </p:spPr>
      </p:pic>
      <p:sp>
        <p:nvSpPr>
          <p:cNvPr id="21" name="TextBox 74">
            <a:extLst>
              <a:ext uri="{FF2B5EF4-FFF2-40B4-BE49-F238E27FC236}">
                <a16:creationId xmlns:a16="http://schemas.microsoft.com/office/drawing/2014/main" id="{4ADA8C44-CDA7-4859-9B22-9FDF9BB0E258}"/>
              </a:ext>
            </a:extLst>
          </p:cNvPr>
          <p:cNvSpPr txBox="1">
            <a:spLocks noChangeArrowheads="1"/>
          </p:cNvSpPr>
          <p:nvPr/>
        </p:nvSpPr>
        <p:spPr bwMode="auto">
          <a:xfrm>
            <a:off x="2990129" y="2842468"/>
            <a:ext cx="110188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8288"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marL="85725" indent="0"/>
            <a:r>
              <a:rPr kumimoji="0" lang="en-US" altLang="ko-KR"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Resolution </a:t>
            </a:r>
            <a:endParaRPr lang="en-US" sz="1100" b="0" dirty="0">
              <a:solidFill>
                <a:schemeClr val="tx1"/>
              </a:solidFill>
              <a:latin typeface="Arial Narrow" panose="020B0606020202030204" pitchFamily="34" charset="0"/>
              <a:ea typeface="맑은 고딕" pitchFamily="50" charset="-127"/>
              <a:cs typeface="Arial" panose="020B0604020202020204" pitchFamily="34" charset="0"/>
            </a:endParaRPr>
          </a:p>
        </p:txBody>
      </p:sp>
      <p:sp>
        <p:nvSpPr>
          <p:cNvPr id="22" name="TextBox 21">
            <a:extLst>
              <a:ext uri="{FF2B5EF4-FFF2-40B4-BE49-F238E27FC236}">
                <a16:creationId xmlns:a16="http://schemas.microsoft.com/office/drawing/2014/main" id="{3350D879-356E-4F31-B8F9-217C5A758337}"/>
              </a:ext>
            </a:extLst>
          </p:cNvPr>
          <p:cNvSpPr txBox="1">
            <a:spLocks noChangeArrowheads="1"/>
          </p:cNvSpPr>
          <p:nvPr/>
        </p:nvSpPr>
        <p:spPr bwMode="auto">
          <a:xfrm>
            <a:off x="4997374" y="566367"/>
            <a:ext cx="27368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eaLnBrk="1" latinLnBrk="1" hangingPunct="1">
              <a:buFont typeface="Wingdings" panose="05000000000000000000" pitchFamily="2" charset="2"/>
              <a:buChar char="q"/>
            </a:pPr>
            <a:r>
              <a:rPr lang="en-US" altLang="ko-KR" sz="110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How to Gage R&amp;R</a:t>
            </a:r>
          </a:p>
          <a:p>
            <a:pPr marL="0" indent="0" eaLnBrk="1" latinLnBrk="1" hangingPunct="1"/>
            <a:endParaRPr lang="ko-KR" altLang="en-US"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23" name="TextBox 74">
            <a:extLst>
              <a:ext uri="{FF2B5EF4-FFF2-40B4-BE49-F238E27FC236}">
                <a16:creationId xmlns:a16="http://schemas.microsoft.com/office/drawing/2014/main" id="{1E1F4DCD-3CCD-4846-93CD-A18254EE3283}"/>
              </a:ext>
            </a:extLst>
          </p:cNvPr>
          <p:cNvSpPr txBox="1">
            <a:spLocks noChangeArrowheads="1"/>
          </p:cNvSpPr>
          <p:nvPr/>
        </p:nvSpPr>
        <p:spPr bwMode="auto">
          <a:xfrm>
            <a:off x="5089457" y="779211"/>
            <a:ext cx="4911881"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8288"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marL="257175" indent="-171450">
              <a:buFont typeface="Wingdings" panose="05000000000000000000" pitchFamily="2" charset="2"/>
              <a:buChar char="§"/>
            </a:pPr>
            <a:r>
              <a:rPr kumimoji="0" lang="en-US" altLang="ko-KR" sz="110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Type 1: </a:t>
            </a:r>
            <a:r>
              <a:rPr lang="en-US" altLang="ko-KR" sz="1100">
                <a:solidFill>
                  <a:schemeClr val="tx1"/>
                </a:solidFill>
                <a:latin typeface="Arial Narrow" panose="020B0606020202030204" pitchFamily="34" charset="0"/>
                <a:ea typeface="맑은 고딕" pitchFamily="50" charset="-127"/>
                <a:cs typeface="Arial" panose="020B0604020202020204" pitchFamily="34" charset="0"/>
              </a:rPr>
              <a:t>Repeatability and bias of the measuring instrument </a:t>
            </a:r>
          </a:p>
          <a:p>
            <a:pPr marL="85725" indent="0"/>
            <a:r>
              <a:rPr kumimoji="0" lang="en-US" altLang="ko-KR" sz="1100" b="0">
                <a:solidFill>
                  <a:schemeClr val="tx1"/>
                </a:solidFill>
                <a:latin typeface="Arial Narrow" panose="020B0606020202030204" pitchFamily="34" charset="0"/>
                <a:ea typeface="맑은 고딕" pitchFamily="50" charset="-127"/>
                <a:cs typeface="Arial" panose="020B0604020202020204" pitchFamily="34" charset="0"/>
              </a:rPr>
              <a:t>      </a:t>
            </a:r>
            <a:r>
              <a:rPr kumimoji="0" lang="en-US" altLang="ko-KR" sz="1100" b="0">
                <a:solidFill>
                  <a:srgbClr val="00B050"/>
                </a:solidFill>
                <a:latin typeface="Arial Narrow" panose="020B0606020202030204" pitchFamily="34" charset="0"/>
                <a:ea typeface="맑은 고딕" pitchFamily="50" charset="-127"/>
                <a:cs typeface="Arial" panose="020B0604020202020204" pitchFamily="34" charset="0"/>
              </a:rPr>
              <a:t>Method: </a:t>
            </a:r>
            <a:r>
              <a:rPr kumimoji="0" lang="en-US" altLang="ko-KR"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1 people measure a sample, measure repeat 30 times</a:t>
            </a:r>
          </a:p>
          <a:p>
            <a:pPr marL="85725" indent="0"/>
            <a:r>
              <a:rPr kumimoji="0" lang="en-US" altLang="ko-KR" sz="1100" b="0">
                <a:solidFill>
                  <a:srgbClr val="00B050"/>
                </a:solidFill>
                <a:latin typeface="Arial Narrow" panose="020B0606020202030204" pitchFamily="34" charset="0"/>
                <a:ea typeface="LG스마트체 Regular" panose="020B0600000101010101" pitchFamily="50" charset="-127"/>
                <a:cs typeface="Arial" panose="020B0604020202020204" pitchFamily="34" charset="0"/>
              </a:rPr>
              <a:t>      Judgement: </a:t>
            </a:r>
            <a:r>
              <a:rPr kumimoji="0" lang="en-US" altLang="ko-KR"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Cg, Cgk ≥ 1.33   (According to VDA 5, GM, Bosch)</a:t>
            </a:r>
          </a:p>
          <a:p>
            <a:pPr marL="85725" indent="0"/>
            <a:endParaRPr kumimoji="0" lang="en-US" altLang="ko-KR" sz="1100" b="0">
              <a:solidFill>
                <a:srgbClr val="00B050"/>
              </a:solidFill>
              <a:latin typeface="Arial Narrow" panose="020B0606020202030204" pitchFamily="34" charset="0"/>
              <a:ea typeface="LG스마트체 Regular" panose="020B0600000101010101" pitchFamily="50" charset="-127"/>
              <a:cs typeface="Arial" panose="020B0604020202020204" pitchFamily="34" charset="0"/>
            </a:endParaRPr>
          </a:p>
          <a:p>
            <a:pPr marL="85725" indent="0"/>
            <a:endParaRPr kumimoji="0" lang="en-US" altLang="ko-KR" sz="1100" b="0" i="1">
              <a:solidFill>
                <a:srgbClr val="00B050"/>
              </a:solidFill>
              <a:latin typeface="Arial Narrow" panose="020B0606020202030204" pitchFamily="34" charset="0"/>
              <a:ea typeface="맑은 고딕" pitchFamily="50" charset="-127"/>
              <a:cs typeface="Arial" panose="020B0604020202020204" pitchFamily="34" charset="0"/>
            </a:endParaRPr>
          </a:p>
          <a:p>
            <a:pPr marL="257175" indent="-171450">
              <a:buFont typeface="Wingdings" panose="05000000000000000000" pitchFamily="2" charset="2"/>
              <a:buChar char="§"/>
            </a:pPr>
            <a:r>
              <a:rPr kumimoji="0" lang="en-US" altLang="ko-KR" sz="110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Type 2: Calculating the repeatability and reproducibility of the measurement.</a:t>
            </a:r>
          </a:p>
          <a:p>
            <a:pPr marL="85725" indent="0"/>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a:t>
            </a:r>
            <a:r>
              <a:rPr kumimoji="0" lang="en-US" sz="1100" b="0">
                <a:solidFill>
                  <a:srgbClr val="00B050"/>
                </a:solidFill>
                <a:latin typeface="Arial Narrow" panose="020B0606020202030204" pitchFamily="34" charset="0"/>
                <a:ea typeface="LG스마트체 Regular" panose="020B0600000101010101" pitchFamily="50" charset="-127"/>
                <a:cs typeface="Arial" panose="020B0604020202020204" pitchFamily="34" charset="0"/>
              </a:rPr>
              <a:t>Method: </a:t>
            </a:r>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3 people measure 10 sample and repeat 3 times / people</a:t>
            </a:r>
          </a:p>
          <a:p>
            <a:pPr marL="85725" indent="0"/>
            <a:r>
              <a:rPr kumimoji="0" lang="en-US" altLang="ko-KR" sz="1100" b="0">
                <a:solidFill>
                  <a:srgbClr val="00B050"/>
                </a:solidFill>
                <a:latin typeface="Arial Narrow" panose="020B0606020202030204" pitchFamily="34" charset="0"/>
                <a:ea typeface="LG스마트체 Regular" panose="020B0600000101010101" pitchFamily="50" charset="-127"/>
                <a:cs typeface="Arial" panose="020B0604020202020204" pitchFamily="34" charset="0"/>
              </a:rPr>
              <a:t>      Judgement: </a:t>
            </a:r>
            <a:endParaRPr kumimoji="0" lang="en-US" altLang="ko-KR"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endParaRPr>
          </a:p>
          <a:p>
            <a:pPr marL="85725" indent="0"/>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 Study Var ≤ 10% (Pass)</a:t>
            </a:r>
          </a:p>
          <a:p>
            <a:pPr marL="85725" indent="0"/>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 Tolearance ≤ 10% (Pass)</a:t>
            </a:r>
            <a:endParaRPr kumimoji="0" lang="vi-VN"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endParaRPr>
          </a:p>
          <a:p>
            <a:pPr marL="85725" indent="0"/>
            <a:r>
              <a:rPr kumimoji="0" lang="vi-VN"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 Contribution on Total Gage </a:t>
            </a:r>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1% (Pass)</a:t>
            </a:r>
          </a:p>
          <a:p>
            <a:pPr marL="85725" indent="0"/>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NDC </a:t>
            </a:r>
            <a:r>
              <a:rPr kumimoji="0" lang="en-US" altLang="ko-KR"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5 (Pass)</a:t>
            </a:r>
          </a:p>
          <a:p>
            <a:pPr marL="85725" indent="0"/>
            <a:endParaRPr kumimoji="0" lang="en-US" sz="1100" b="0" i="1">
              <a:solidFill>
                <a:srgbClr val="00B050"/>
              </a:solidFill>
              <a:latin typeface="Arial Narrow" panose="020B0606020202030204" pitchFamily="34" charset="0"/>
              <a:ea typeface="LG스마트체 Regular" panose="020B0600000101010101" pitchFamily="50" charset="-127"/>
              <a:cs typeface="Arial" panose="020B0604020202020204" pitchFamily="34" charset="0"/>
            </a:endParaRPr>
          </a:p>
          <a:p>
            <a:pPr marL="85725" indent="0"/>
            <a:endParaRPr kumimoji="0" lang="en-US" sz="1100" b="0" i="1">
              <a:solidFill>
                <a:srgbClr val="00B050"/>
              </a:solidFill>
              <a:latin typeface="Arial Narrow" panose="020B0606020202030204" pitchFamily="34" charset="0"/>
              <a:ea typeface="LG스마트체 Regular" panose="020B0600000101010101" pitchFamily="50" charset="-127"/>
              <a:cs typeface="Arial" panose="020B0604020202020204" pitchFamily="34" charset="0"/>
            </a:endParaRPr>
          </a:p>
          <a:p>
            <a:pPr marL="257175" indent="-171450">
              <a:buFont typeface="Wingdings" panose="05000000000000000000" pitchFamily="2" charset="2"/>
              <a:buChar char="§"/>
            </a:pPr>
            <a:r>
              <a:rPr kumimoji="0" lang="en-US" altLang="ko-KR" sz="110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Type 3: Calculating the repeatability of the auto measurement.</a:t>
            </a:r>
          </a:p>
          <a:p>
            <a:pPr marL="85725" indent="0"/>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a:t>
            </a:r>
            <a:r>
              <a:rPr kumimoji="0" lang="en-US" sz="1100" b="0">
                <a:solidFill>
                  <a:srgbClr val="00B050"/>
                </a:solidFill>
                <a:latin typeface="Arial Narrow" panose="020B0606020202030204" pitchFamily="34" charset="0"/>
                <a:ea typeface="LG스마트체 Regular" panose="020B0600000101010101" pitchFamily="50" charset="-127"/>
                <a:cs typeface="Arial" panose="020B0604020202020204" pitchFamily="34" charset="0"/>
              </a:rPr>
              <a:t>Method: </a:t>
            </a:r>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r * p ≥ 50 (r : sample (min 5 sample), p: repeat time)</a:t>
            </a:r>
          </a:p>
          <a:p>
            <a:pPr marL="85725" indent="0"/>
            <a:r>
              <a:rPr kumimoji="0" lang="en-US" altLang="ko-KR" sz="1100" b="0">
                <a:solidFill>
                  <a:srgbClr val="00B050"/>
                </a:solidFill>
                <a:latin typeface="Arial Narrow" panose="020B0606020202030204" pitchFamily="34" charset="0"/>
                <a:ea typeface="LG스마트체 Regular" panose="020B0600000101010101" pitchFamily="50" charset="-127"/>
                <a:cs typeface="Arial" panose="020B0604020202020204" pitchFamily="34" charset="0"/>
              </a:rPr>
              <a:t>      Judgement:</a:t>
            </a:r>
            <a:endPar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endParaRPr>
          </a:p>
          <a:p>
            <a:pPr marL="85725" indent="0"/>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 Study Var ≤ 10% (Pass)</a:t>
            </a:r>
          </a:p>
          <a:p>
            <a:pPr marL="85725" indent="0"/>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 Tolearance ≤ 10% (Pass)</a:t>
            </a:r>
          </a:p>
          <a:p>
            <a:pPr marL="85725" indent="0"/>
            <a:r>
              <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NDC </a:t>
            </a:r>
            <a:r>
              <a:rPr kumimoji="0" lang="en-US" altLang="ko-KR"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 5 (Pass)</a:t>
            </a:r>
            <a:endParaRPr kumimoji="0" lang="en-US" sz="1100" b="0">
              <a:solidFill>
                <a:schemeClr val="tx1"/>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24" name="Rectangle 23"/>
          <p:cNvSpPr/>
          <p:nvPr/>
        </p:nvSpPr>
        <p:spPr>
          <a:xfrm>
            <a:off x="9470054" y="1455420"/>
            <a:ext cx="360996" cy="369332"/>
          </a:xfrm>
          <a:prstGeom prst="rect">
            <a:avLst/>
          </a:prstGeom>
        </p:spPr>
        <p:txBody>
          <a:bodyPr wrap="none">
            <a:spAutoFit/>
          </a:bodyPr>
          <a:lstStyle/>
          <a:p>
            <a:r>
              <a:rPr lang="en-US" b="1">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b="1" dirty="0">
              <a:solidFill>
                <a:srgbClr val="FF0000"/>
              </a:solidFill>
              <a:latin typeface="Arial Narrow" panose="020B0606020202030204" pitchFamily="34" charset="0"/>
              <a:ea typeface="LG Smart_H Regular" panose="020B0600000101010101" pitchFamily="34" charset="-127"/>
            </a:endParaRPr>
          </a:p>
        </p:txBody>
      </p:sp>
      <p:sp>
        <p:nvSpPr>
          <p:cNvPr id="27" name="Right Arrow 26"/>
          <p:cNvSpPr/>
          <p:nvPr/>
        </p:nvSpPr>
        <p:spPr>
          <a:xfrm>
            <a:off x="5279049" y="6155649"/>
            <a:ext cx="94053" cy="104503"/>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5368906" y="4370514"/>
            <a:ext cx="4632430" cy="1754326"/>
          </a:xfrm>
          <a:prstGeom prst="rect">
            <a:avLst/>
          </a:prstGeom>
          <a:noFill/>
        </p:spPr>
        <p:txBody>
          <a:bodyPr wrap="square" rtlCol="0">
            <a:spAutoFit/>
          </a:bodyPr>
          <a:lstStyle/>
          <a:p>
            <a:r>
              <a:rPr lang="en-US" sz="1200">
                <a:latin typeface="Arial Narrow" panose="020B0606020202030204" pitchFamily="34" charset="0"/>
              </a:rPr>
              <a:t>These dimensions were measured using a CMM machine </a:t>
            </a:r>
            <a:r>
              <a:rPr lang="vi-VN" sz="1200">
                <a:latin typeface="Arial Narrow" panose="020B0606020202030204" pitchFamily="34" charset="0"/>
              </a:rPr>
              <a:t>by manual method, so this method will affect by operator also.</a:t>
            </a:r>
          </a:p>
          <a:p>
            <a:endParaRPr lang="vi-VN" sz="1200" b="1">
              <a:latin typeface="Arial Narrow" panose="020B0606020202030204" pitchFamily="34" charset="0"/>
            </a:endParaRPr>
          </a:p>
          <a:p>
            <a:endParaRPr lang="vi-VN" sz="1200" b="1">
              <a:latin typeface="Arial Narrow" panose="020B0606020202030204" pitchFamily="34" charset="0"/>
            </a:endParaRPr>
          </a:p>
          <a:p>
            <a:r>
              <a:rPr lang="en-US" sz="1200">
                <a:latin typeface="Arial Narrow" panose="020B0606020202030204" pitchFamily="34" charset="0"/>
              </a:rPr>
              <a:t>Type 2 Study is usually called Gage R&amp;R. It is a method of evaluating the accuracy of a measurement system in consideration of reproducibility, which is not only the repeatability of the instrument itself, but also the dispersion among the measurement operators.</a:t>
            </a:r>
          </a:p>
          <a:p>
            <a:endParaRPr lang="en-US" sz="1200" b="1">
              <a:latin typeface="Arial Narrow" panose="020B0606020202030204" pitchFamily="34" charset="0"/>
            </a:endParaRPr>
          </a:p>
        </p:txBody>
      </p:sp>
      <p:sp>
        <p:nvSpPr>
          <p:cNvPr id="29" name="TextBox 28"/>
          <p:cNvSpPr txBox="1"/>
          <p:nvPr/>
        </p:nvSpPr>
        <p:spPr>
          <a:xfrm>
            <a:off x="73152" y="69580"/>
            <a:ext cx="2103461" cy="369332"/>
          </a:xfrm>
          <a:prstGeom prst="rect">
            <a:avLst/>
          </a:prstGeom>
          <a:noFill/>
        </p:spPr>
        <p:txBody>
          <a:bodyPr wrap="none" rtlCol="0">
            <a:spAutoFit/>
          </a:bodyPr>
          <a:lstStyle/>
          <a:p>
            <a:r>
              <a:rPr lang="en-US">
                <a:latin typeface="Arial Narrow" panose="020B0606020202030204" pitchFamily="34" charset="0"/>
              </a:rPr>
              <a:t>Prepare for Gage R&amp;R</a:t>
            </a:r>
          </a:p>
        </p:txBody>
      </p:sp>
      <p:grpSp>
        <p:nvGrpSpPr>
          <p:cNvPr id="5" name="Group 4"/>
          <p:cNvGrpSpPr/>
          <p:nvPr/>
        </p:nvGrpSpPr>
        <p:grpSpPr>
          <a:xfrm>
            <a:off x="10001338" y="1928277"/>
            <a:ext cx="5450380" cy="3990160"/>
            <a:chOff x="8201432" y="3268912"/>
            <a:chExt cx="5450380" cy="3990160"/>
          </a:xfrm>
          <a:solidFill>
            <a:srgbClr val="00B050"/>
          </a:solidFill>
        </p:grpSpPr>
        <p:sp>
          <p:nvSpPr>
            <p:cNvPr id="2" name="사각형: 둥근 모서리 1">
              <a:extLst>
                <a:ext uri="{FF2B5EF4-FFF2-40B4-BE49-F238E27FC236}">
                  <a16:creationId xmlns:a16="http://schemas.microsoft.com/office/drawing/2014/main" id="{E8B1EF63-134E-97F3-4DFB-C555AF130F14}"/>
                </a:ext>
              </a:extLst>
            </p:cNvPr>
            <p:cNvSpPr/>
            <p:nvPr/>
          </p:nvSpPr>
          <p:spPr>
            <a:xfrm>
              <a:off x="8201432" y="6006229"/>
              <a:ext cx="5450380" cy="1252843"/>
            </a:xfrm>
            <a:prstGeom prst="roundRect">
              <a:avLst/>
            </a:prstGeom>
            <a:grp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What kind of MSA do you implement? Such as MSA Type 1? 2?</a:t>
              </a:r>
            </a:p>
            <a:p>
              <a:r>
                <a:rPr lang="en-US" altLang="ko-KR" sz="1200" dirty="0"/>
                <a:t>You have to select one with the certain reason.</a:t>
              </a:r>
            </a:p>
            <a:p>
              <a:r>
                <a:rPr lang="en-US" altLang="ko-KR" sz="1200" dirty="0"/>
                <a:t>I think that dimension is Project Y, you’d better use type 2 because operator can affect the measurement result. (You have to use type 1 in operator can’t affect the measurement result only. Such as mass, or auto measurement system)</a:t>
              </a:r>
            </a:p>
          </p:txBody>
        </p:sp>
        <p:cxnSp>
          <p:nvCxnSpPr>
            <p:cNvPr id="3" name="직선 화살표 연결선 2">
              <a:extLst>
                <a:ext uri="{FF2B5EF4-FFF2-40B4-BE49-F238E27FC236}">
                  <a16:creationId xmlns:a16="http://schemas.microsoft.com/office/drawing/2014/main" id="{28DCF710-2E97-A362-1E3B-92BCBABF4BF2}"/>
                </a:ext>
              </a:extLst>
            </p:cNvPr>
            <p:cNvCxnSpPr>
              <a:cxnSpLocks/>
            </p:cNvCxnSpPr>
            <p:nvPr/>
          </p:nvCxnSpPr>
          <p:spPr>
            <a:xfrm flipH="1" flipV="1">
              <a:off x="10044065" y="3268912"/>
              <a:ext cx="195885" cy="2683770"/>
            </a:xfrm>
            <a:prstGeom prst="straightConnector1">
              <a:avLst/>
            </a:prstGeom>
            <a:grpFill/>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5452338" y="5126228"/>
            <a:ext cx="4378711" cy="77962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395014" y="4886281"/>
            <a:ext cx="3478003" cy="276999"/>
          </a:xfrm>
          <a:prstGeom prst="rect">
            <a:avLst/>
          </a:prstGeom>
        </p:spPr>
        <p:txBody>
          <a:bodyPr wrap="none">
            <a:spAutoFit/>
          </a:bodyPr>
          <a:lstStyle/>
          <a:p>
            <a:r>
              <a:rPr lang="vi-VN" sz="1200" b="1">
                <a:solidFill>
                  <a:srgbClr val="00B050"/>
                </a:solidFill>
                <a:latin typeface="Arial Narrow" panose="020B0606020202030204" pitchFamily="34" charset="0"/>
              </a:rPr>
              <a:t>*** According to VDA 2: Measurement System Analysis</a:t>
            </a:r>
          </a:p>
        </p:txBody>
      </p:sp>
      <p:sp>
        <p:nvSpPr>
          <p:cNvPr id="30" name="Rectangle 29"/>
          <p:cNvSpPr/>
          <p:nvPr/>
        </p:nvSpPr>
        <p:spPr>
          <a:xfrm>
            <a:off x="5351047" y="6052772"/>
            <a:ext cx="4953000" cy="523220"/>
          </a:xfrm>
          <a:prstGeom prst="rect">
            <a:avLst/>
          </a:prstGeom>
        </p:spPr>
        <p:txBody>
          <a:bodyPr>
            <a:spAutoFit/>
          </a:bodyPr>
          <a:lstStyle/>
          <a:p>
            <a:r>
              <a:rPr lang="vi-VN" sz="1400">
                <a:latin typeface="Arial Narrow" panose="020B0606020202030204" pitchFamily="34" charset="0"/>
              </a:rPr>
              <a:t>W</a:t>
            </a:r>
            <a:r>
              <a:rPr lang="en-US" sz="1400">
                <a:latin typeface="Arial Narrow" panose="020B0606020202030204" pitchFamily="34" charset="0"/>
              </a:rPr>
              <a:t>e will </a:t>
            </a:r>
            <a:r>
              <a:rPr lang="vi-VN" sz="1400">
                <a:latin typeface="Arial Narrow" panose="020B0606020202030204" pitchFamily="34" charset="0"/>
              </a:rPr>
              <a:t>carry out</a:t>
            </a:r>
          </a:p>
          <a:p>
            <a:r>
              <a:rPr lang="en-US" sz="1400" b="1">
                <a:latin typeface="Arial Narrow" panose="020B0606020202030204" pitchFamily="34" charset="0"/>
              </a:rPr>
              <a:t>Gage R&amp;R Type 2 (Repeatability and Reproducibility) study</a:t>
            </a:r>
            <a:r>
              <a:rPr lang="en-US" sz="1400">
                <a:latin typeface="Arial Narrow" panose="020B0606020202030204" pitchFamily="34" charset="0"/>
              </a:rPr>
              <a:t>.</a:t>
            </a:r>
            <a:endParaRPr lang="vi-VN" sz="1400">
              <a:latin typeface="Arial Narrow" panose="020B0606020202030204" pitchFamily="34" charset="0"/>
            </a:endParaRPr>
          </a:p>
        </p:txBody>
      </p:sp>
      <p:sp>
        <p:nvSpPr>
          <p:cNvPr id="31" name="TextBox 30"/>
          <p:cNvSpPr txBox="1"/>
          <p:nvPr/>
        </p:nvSpPr>
        <p:spPr>
          <a:xfrm>
            <a:off x="-1919624" y="6105952"/>
            <a:ext cx="1716424" cy="577081"/>
          </a:xfrm>
          <a:prstGeom prst="rect">
            <a:avLst/>
          </a:prstGeom>
          <a:solidFill>
            <a:schemeClr val="accent2">
              <a:lumMod val="75000"/>
            </a:schemeClr>
          </a:solidFill>
        </p:spPr>
        <p:txBody>
          <a:bodyPr wrap="square" rtlCol="0">
            <a:spAutoFit/>
          </a:bodyPr>
          <a:lstStyle/>
          <a:p>
            <a:r>
              <a:rPr lang="en-US" sz="1050" b="1">
                <a:solidFill>
                  <a:schemeClr val="bg1"/>
                </a:solidFill>
              </a:rPr>
              <a:t>24th, Nov. Ken Park</a:t>
            </a:r>
            <a:br>
              <a:rPr lang="en-US" sz="1050">
                <a:solidFill>
                  <a:schemeClr val="bg1"/>
                </a:solidFill>
              </a:rPr>
            </a:br>
            <a:r>
              <a:rPr lang="en-US" sz="1050">
                <a:solidFill>
                  <a:schemeClr val="bg1"/>
                </a:solidFill>
              </a:rPr>
              <a:t>Well done to make </a:t>
            </a:r>
            <a:r>
              <a:rPr lang="vi-VN" sz="1050">
                <a:solidFill>
                  <a:schemeClr val="bg1"/>
                </a:solidFill>
              </a:rPr>
              <a:t>good story to explain Project Y</a:t>
            </a:r>
            <a:endParaRPr lang="en-US" sz="1050">
              <a:solidFill>
                <a:schemeClr val="bg1"/>
              </a:solidFill>
              <a:latin typeface="Arial Narrow" panose="020B0606020202030204" pitchFamily="34" charset="0"/>
            </a:endParaRPr>
          </a:p>
        </p:txBody>
      </p:sp>
    </p:spTree>
    <p:extLst>
      <p:ext uri="{BB962C8B-B14F-4D97-AF65-F5344CB8AC3E}">
        <p14:creationId xmlns:p14="http://schemas.microsoft.com/office/powerpoint/2010/main" val="2756708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48758" y="34823"/>
            <a:ext cx="2482292" cy="327339"/>
            <a:chOff x="7343533" y="113200"/>
            <a:chExt cx="2482292" cy="327339"/>
          </a:xfrm>
        </p:grpSpPr>
        <p:sp>
          <p:nvSpPr>
            <p:cNvPr id="7" name="AutoShape 5"/>
            <p:cNvSpPr>
              <a:spLocks noChangeArrowheads="1"/>
            </p:cNvSpPr>
            <p:nvPr/>
          </p:nvSpPr>
          <p:spPr bwMode="auto">
            <a:xfrm>
              <a:off x="7343533" y="113200"/>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22322" y="113200"/>
              <a:ext cx="592137" cy="323850"/>
            </a:xfrm>
            <a:prstGeom prst="chevron">
              <a:avLst>
                <a:gd name="adj" fmla="val 51443"/>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26" name="TextBox 25"/>
          <p:cNvSpPr txBox="1"/>
          <p:nvPr/>
        </p:nvSpPr>
        <p:spPr>
          <a:xfrm>
            <a:off x="73152" y="69580"/>
            <a:ext cx="1965603" cy="369332"/>
          </a:xfrm>
          <a:prstGeom prst="rect">
            <a:avLst/>
          </a:prstGeom>
          <a:noFill/>
        </p:spPr>
        <p:txBody>
          <a:bodyPr wrap="none" rtlCol="0">
            <a:spAutoFit/>
          </a:bodyPr>
          <a:lstStyle/>
          <a:p>
            <a:r>
              <a:rPr lang="en-US">
                <a:latin typeface="Arial Narrow" panose="020B0606020202030204" pitchFamily="34" charset="0"/>
              </a:rPr>
              <a:t>Result for Gage R&amp;R</a:t>
            </a:r>
          </a:p>
        </p:txBody>
      </p:sp>
      <p:graphicFrame>
        <p:nvGraphicFramePr>
          <p:cNvPr id="30" name="Table 29">
            <a:extLst>
              <a:ext uri="{FF2B5EF4-FFF2-40B4-BE49-F238E27FC236}">
                <a16:creationId xmlns:a16="http://schemas.microsoft.com/office/drawing/2014/main" id="{29CFC5F8-9B6B-4193-9E22-7AD86401E001}"/>
              </a:ext>
            </a:extLst>
          </p:cNvPr>
          <p:cNvGraphicFramePr>
            <a:graphicFrameLocks noGrp="1"/>
          </p:cNvGraphicFramePr>
          <p:nvPr>
            <p:extLst>
              <p:ext uri="{D42A27DB-BD31-4B8C-83A1-F6EECF244321}">
                <p14:modId xmlns:p14="http://schemas.microsoft.com/office/powerpoint/2010/main" val="77432184"/>
              </p:ext>
            </p:extLst>
          </p:nvPr>
        </p:nvGraphicFramePr>
        <p:xfrm>
          <a:off x="89622" y="551307"/>
          <a:ext cx="4796166" cy="685800"/>
        </p:xfrm>
        <a:graphic>
          <a:graphicData uri="http://schemas.openxmlformats.org/drawingml/2006/table">
            <a:tbl>
              <a:tblPr/>
              <a:tblGrid>
                <a:gridCol w="707492">
                  <a:extLst>
                    <a:ext uri="{9D8B030D-6E8A-4147-A177-3AD203B41FA5}">
                      <a16:colId xmlns:a16="http://schemas.microsoft.com/office/drawing/2014/main" val="20000"/>
                    </a:ext>
                  </a:extLst>
                </a:gridCol>
                <a:gridCol w="1116911">
                  <a:extLst>
                    <a:ext uri="{9D8B030D-6E8A-4147-A177-3AD203B41FA5}">
                      <a16:colId xmlns:a16="http://schemas.microsoft.com/office/drawing/2014/main" val="20001"/>
                    </a:ext>
                  </a:extLst>
                </a:gridCol>
                <a:gridCol w="672710">
                  <a:extLst>
                    <a:ext uri="{9D8B030D-6E8A-4147-A177-3AD203B41FA5}">
                      <a16:colId xmlns:a16="http://schemas.microsoft.com/office/drawing/2014/main" val="20002"/>
                    </a:ext>
                  </a:extLst>
                </a:gridCol>
                <a:gridCol w="1279919">
                  <a:extLst>
                    <a:ext uri="{9D8B030D-6E8A-4147-A177-3AD203B41FA5}">
                      <a16:colId xmlns:a16="http://schemas.microsoft.com/office/drawing/2014/main" val="20003"/>
                    </a:ext>
                  </a:extLst>
                </a:gridCol>
                <a:gridCol w="482891">
                  <a:extLst>
                    <a:ext uri="{9D8B030D-6E8A-4147-A177-3AD203B41FA5}">
                      <a16:colId xmlns:a16="http://schemas.microsoft.com/office/drawing/2014/main" val="20004"/>
                    </a:ext>
                  </a:extLst>
                </a:gridCol>
                <a:gridCol w="536243">
                  <a:extLst>
                    <a:ext uri="{9D8B030D-6E8A-4147-A177-3AD203B41FA5}">
                      <a16:colId xmlns:a16="http://schemas.microsoft.com/office/drawing/2014/main" val="20005"/>
                    </a:ext>
                  </a:extLst>
                </a:gridCol>
              </a:tblGrid>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Arial Narrow" panose="020B0606020202030204" pitchFamily="34" charset="0"/>
                          <a:ea typeface="LG Smart_H Regular" panose="020B0600000101010101" pitchFamily="34" charset="-127"/>
                        </a:rPr>
                        <a:t>18.Jul</a:t>
                      </a:r>
                      <a:r>
                        <a:rPr lang="vi-VN" sz="900" b="0" i="0" u="none" strike="noStrike">
                          <a:effectLst/>
                          <a:latin typeface="Arial Narrow" panose="020B0606020202030204" pitchFamily="34" charset="0"/>
                          <a:ea typeface="LG Smart_H Regular" panose="020B0600000101010101" pitchFamily="34" charset="-127"/>
                        </a:rPr>
                        <a:t>.202</a:t>
                      </a:r>
                      <a:r>
                        <a:rPr lang="en-US" sz="900" b="0" i="0" u="none" strike="noStrike">
                          <a:effectLst/>
                          <a:latin typeface="Arial Narrow" panose="020B0606020202030204" pitchFamily="34" charset="0"/>
                          <a:ea typeface="LG Smart_H Regular" panose="020B0600000101010101" pitchFamily="34" charset="-127"/>
                        </a:rPr>
                        <a:t>5</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a:effectLst/>
                          <a:latin typeface="Arial Narrow" panose="020B0606020202030204" pitchFamily="34" charset="0"/>
                          <a:ea typeface="LG Smart_H Regular" panose="020B0600000101010101" pitchFamily="34" charset="-127"/>
                        </a:rPr>
                        <a:t>Equip</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Arial Narrow" panose="020B0606020202030204" pitchFamily="34" charset="0"/>
                          <a:ea typeface="LG Smart_H Regular" panose="020B0600000101010101" pitchFamily="34" charset="-127"/>
                        </a:rPr>
                        <a:t>CMM</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Target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a:effectLst/>
                          <a:latin typeface="Arial Narrow" panose="020B0606020202030204" pitchFamily="34" charset="0"/>
                          <a:ea typeface="LG Smart_H Regular" panose="020B0600000101010101" pitchFamily="34" charset="-127"/>
                        </a:rPr>
                        <a:t>7.4</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Part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900">
                          <a:latin typeface="Arial Narrow" panose="020B0606020202030204" pitchFamily="34" charset="0"/>
                          <a:ea typeface="LG Smart_H Regular" panose="020B0600000101010101" pitchFamily="34" charset="-127"/>
                        </a:rPr>
                        <a:t>MBN64683301</a:t>
                      </a:r>
                      <a:endParaRPr lang="en-US" altLang="ko-KR" sz="900" dirty="0">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ID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a:solidFill>
                            <a:schemeClr val="tx1"/>
                          </a:solidFill>
                          <a:effectLst/>
                          <a:latin typeface="Arial Narrow" panose="020B0606020202030204" pitchFamily="34" charset="0"/>
                          <a:ea typeface="LG Smart_H Regular" panose="020B0600000101010101" pitchFamily="34" charset="-127"/>
                        </a:rPr>
                        <a:t>IVI</a:t>
                      </a:r>
                      <a:r>
                        <a:rPr lang="en-US" sz="900" b="0" i="0" u="none" strike="noStrike">
                          <a:solidFill>
                            <a:schemeClr val="tx1"/>
                          </a:solidFill>
                          <a:effectLst/>
                          <a:latin typeface="Arial Narrow" panose="020B0606020202030204" pitchFamily="34" charset="0"/>
                          <a:ea typeface="LG Smart_H Regular" panose="020B0600000101010101" pitchFamily="34" charset="-127"/>
                        </a:rPr>
                        <a:t> </a:t>
                      </a:r>
                      <a:r>
                        <a:rPr lang="vi-VN" sz="900" b="0" i="0" u="none" strike="noStrike">
                          <a:solidFill>
                            <a:schemeClr val="tx1"/>
                          </a:solidFill>
                          <a:effectLst/>
                          <a:latin typeface="Arial Narrow" panose="020B0606020202030204" pitchFamily="34" charset="0"/>
                          <a:ea typeface="LG Smart_H Regular" panose="020B0600000101010101" pitchFamily="34" charset="-127"/>
                        </a:rPr>
                        <a:t>-</a:t>
                      </a:r>
                      <a:r>
                        <a:rPr lang="en-US" sz="900" b="0" i="0" u="none" strike="noStrike">
                          <a:solidFill>
                            <a:schemeClr val="tx1"/>
                          </a:solidFill>
                          <a:effectLst/>
                          <a:latin typeface="Arial Narrow" panose="020B0606020202030204" pitchFamily="34" charset="0"/>
                          <a:ea typeface="LG Smart_H Regular" panose="020B0600000101010101" pitchFamily="34" charset="-127"/>
                        </a:rPr>
                        <a:t> </a:t>
                      </a:r>
                      <a:r>
                        <a:rPr lang="vi-VN" sz="900" b="0" i="0" u="none" strike="noStrike">
                          <a:solidFill>
                            <a:schemeClr val="tx1"/>
                          </a:solidFill>
                          <a:effectLst/>
                          <a:latin typeface="Arial Narrow" panose="020B0606020202030204" pitchFamily="34" charset="0"/>
                          <a:ea typeface="LG Smart_H Regular" panose="020B0600000101010101" pitchFamily="34" charset="-127"/>
                        </a:rPr>
                        <a:t>SQA</a:t>
                      </a:r>
                      <a:endParaRPr lang="en-US" sz="900" b="0" i="0" u="none" strike="noStrike" dirty="0">
                        <a:solidFill>
                          <a:schemeClr val="tx1"/>
                        </a:solidFill>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vi-VN" sz="900" b="1" i="0" u="none" strike="noStrike">
                          <a:effectLst/>
                          <a:latin typeface="Arial Narrow" panose="020B0606020202030204" pitchFamily="34" charset="0"/>
                          <a:ea typeface="LG Smart_H Regular" panose="020B0600000101010101" pitchFamily="34" charset="-127"/>
                        </a:rPr>
                        <a:t>+TOL</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a:effectLst/>
                          <a:latin typeface="Arial Narrow" panose="020B0606020202030204" pitchFamily="34" charset="0"/>
                          <a:ea typeface="LG Smart_H Regular" panose="020B0600000101010101" pitchFamily="34" charset="-127"/>
                        </a:rPr>
                        <a:t>+0.15</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Part 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a:latin typeface="Arial Narrow" panose="020B0606020202030204" pitchFamily="34" charset="0"/>
                        </a:rPr>
                        <a:t>Bottom Case</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Resolution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a:effectLst/>
                          <a:latin typeface="Arial Narrow" panose="020B0606020202030204" pitchFamily="34" charset="0"/>
                          <a:ea typeface="LG Smart_H Regular" panose="020B0600000101010101" pitchFamily="34" charset="-127"/>
                        </a:rPr>
                        <a:t>0.0</a:t>
                      </a:r>
                      <a:r>
                        <a:rPr lang="en-US" sz="900" b="0" i="0" u="none" strike="noStrike">
                          <a:effectLst/>
                          <a:latin typeface="Arial Narrow" panose="020B0606020202030204" pitchFamily="34" charset="0"/>
                          <a:ea typeface="LG Smart_H Regular" panose="020B0600000101010101" pitchFamily="34" charset="-127"/>
                        </a:rPr>
                        <a:t>0</a:t>
                      </a:r>
                      <a:r>
                        <a:rPr lang="vi-VN" sz="900" b="0" i="0" u="none" strike="noStrike">
                          <a:effectLst/>
                          <a:latin typeface="Arial Narrow" panose="020B0606020202030204" pitchFamily="34" charset="0"/>
                          <a:ea typeface="LG Smart_H Regular" panose="020B0600000101010101" pitchFamily="34" charset="-127"/>
                        </a:rPr>
                        <a:t>1mm</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vi-VN" sz="900" b="1" i="0" u="none" strike="noStrike">
                          <a:effectLst/>
                          <a:latin typeface="Arial Narrow" panose="020B0606020202030204" pitchFamily="34" charset="0"/>
                          <a:ea typeface="LG Smart_H Regular" panose="020B0600000101010101" pitchFamily="34" charset="-127"/>
                        </a:rPr>
                        <a:t>-TOL</a:t>
                      </a:r>
                      <a:endParaRPr lang="en-US" sz="900" b="1" i="0" u="none" strike="noStrike">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vi-VN" sz="900" b="0">
                          <a:latin typeface="Arial Narrow" panose="020B0606020202030204" pitchFamily="34" charset="0"/>
                        </a:rPr>
                        <a:t>-0.05</a:t>
                      </a:r>
                      <a:endParaRPr lang="en-US" sz="900" b="0">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4179263347"/>
              </p:ext>
            </p:extLst>
          </p:nvPr>
        </p:nvGraphicFramePr>
        <p:xfrm>
          <a:off x="4954249" y="558287"/>
          <a:ext cx="4876801" cy="685800"/>
        </p:xfrm>
        <a:graphic>
          <a:graphicData uri="http://schemas.openxmlformats.org/drawingml/2006/table">
            <a:tbl>
              <a:tblPr firstRow="1" bandRow="1">
                <a:tableStyleId>{5C22544A-7EE6-4342-B048-85BDC9FD1C3A}</a:tableStyleId>
              </a:tblPr>
              <a:tblGrid>
                <a:gridCol w="1577180">
                  <a:extLst>
                    <a:ext uri="{9D8B030D-6E8A-4147-A177-3AD203B41FA5}">
                      <a16:colId xmlns:a16="http://schemas.microsoft.com/office/drawing/2014/main" val="20000"/>
                    </a:ext>
                  </a:extLst>
                </a:gridCol>
                <a:gridCol w="1290610">
                  <a:extLst>
                    <a:ext uri="{9D8B030D-6E8A-4147-A177-3AD203B41FA5}">
                      <a16:colId xmlns:a16="http://schemas.microsoft.com/office/drawing/2014/main" val="20001"/>
                    </a:ext>
                  </a:extLst>
                </a:gridCol>
                <a:gridCol w="2009011">
                  <a:extLst>
                    <a:ext uri="{9D8B030D-6E8A-4147-A177-3AD203B41FA5}">
                      <a16:colId xmlns:a16="http://schemas.microsoft.com/office/drawing/2014/main" val="20002"/>
                    </a:ext>
                  </a:extLst>
                </a:gridCol>
              </a:tblGrid>
              <a:tr h="182880">
                <a:tc>
                  <a:txBody>
                    <a:bodyPr/>
                    <a:lstStyle/>
                    <a:p>
                      <a:r>
                        <a:rPr lang="vi-VN" sz="900">
                          <a:solidFill>
                            <a:schemeClr val="tx1"/>
                          </a:solidFill>
                          <a:latin typeface="Arial Narrow" panose="020B0606020202030204" pitchFamily="34" charset="0"/>
                        </a:rPr>
                        <a:t>Instrument Resolution</a:t>
                      </a:r>
                      <a:endParaRPr lang="en-US" sz="90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90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b="0">
                          <a:solidFill>
                            <a:schemeClr val="tx1"/>
                          </a:solidFill>
                          <a:latin typeface="Arial Narrow" panose="020B0606020202030204" pitchFamily="34" charset="0"/>
                        </a:rPr>
                        <a:t>0.0</a:t>
                      </a:r>
                      <a:r>
                        <a:rPr lang="en-US" sz="900" b="0">
                          <a:solidFill>
                            <a:schemeClr val="tx1"/>
                          </a:solidFill>
                          <a:latin typeface="Arial Narrow" panose="020B0606020202030204" pitchFamily="34" charset="0"/>
                        </a:rPr>
                        <a:t>0</a:t>
                      </a:r>
                      <a:r>
                        <a:rPr lang="vi-VN" sz="900" b="0">
                          <a:solidFill>
                            <a:schemeClr val="tx1"/>
                          </a:solidFill>
                          <a:latin typeface="Arial Narrow" panose="020B0606020202030204" pitchFamily="34" charset="0"/>
                        </a:rPr>
                        <a:t>1</a:t>
                      </a:r>
                      <a:endParaRPr lang="en-US" sz="900" b="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82880">
                <a:tc>
                  <a:txBody>
                    <a:bodyPr/>
                    <a:lstStyle/>
                    <a:p>
                      <a:r>
                        <a:rPr lang="en-US" altLang="ko-KR" sz="900" b="1">
                          <a:latin typeface="Arial Narrow" panose="020B0606020202030204" pitchFamily="34" charset="0"/>
                        </a:rPr>
                        <a:t>Tolerance</a:t>
                      </a:r>
                      <a:r>
                        <a:rPr lang="ko-KR" altLang="en-US" sz="900" b="1">
                          <a:latin typeface="Arial Narrow" panose="020B0606020202030204" pitchFamily="34" charset="0"/>
                        </a:rPr>
                        <a:t>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vi-VN" sz="900">
                          <a:latin typeface="Arial Narrow" panose="020B0606020202030204" pitchFamily="34" charset="0"/>
                        </a:rPr>
                        <a:t>T = USL - LSL</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a:latin typeface="Arial Narrow" panose="020B0606020202030204" pitchFamily="34" charset="0"/>
                        </a:rPr>
                        <a:t>0.</a:t>
                      </a:r>
                      <a:r>
                        <a:rPr lang="en-US" sz="900">
                          <a:latin typeface="Arial Narrow" panose="020B0606020202030204" pitchFamily="34" charset="0"/>
                        </a:rPr>
                        <a:t>6</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82880">
                <a:tc>
                  <a:txBody>
                    <a:bodyPr/>
                    <a:lstStyle/>
                    <a:p>
                      <a:r>
                        <a:rPr lang="en-US" altLang="ko-KR" sz="900" b="1">
                          <a:latin typeface="Arial Narrow" panose="020B0606020202030204" pitchFamily="34" charset="0"/>
                        </a:rPr>
                        <a:t>Decomposition performance</a:t>
                      </a:r>
                      <a:r>
                        <a:rPr lang="ko-KR" altLang="en-US" sz="900" b="1">
                          <a:latin typeface="Arial Narrow" panose="020B0606020202030204" pitchFamily="34" charset="0"/>
                        </a:rPr>
                        <a:t>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vi-VN" sz="900">
                          <a:latin typeface="Arial Narrow" panose="020B0606020202030204" pitchFamily="34" charset="0"/>
                        </a:rPr>
                        <a:t>%RE = (RE / T) * 100%</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a:latin typeface="Arial Narrow" panose="020B0606020202030204" pitchFamily="34" charset="0"/>
                        </a:rPr>
                        <a:t>(</a:t>
                      </a:r>
                      <a:r>
                        <a:rPr lang="vi-VN" sz="900" baseline="0">
                          <a:latin typeface="Arial Narrow" panose="020B0606020202030204" pitchFamily="34" charset="0"/>
                        </a:rPr>
                        <a:t> 0.0</a:t>
                      </a:r>
                      <a:r>
                        <a:rPr lang="en-US" sz="900" baseline="0">
                          <a:latin typeface="Arial Narrow" panose="020B0606020202030204" pitchFamily="34" charset="0"/>
                        </a:rPr>
                        <a:t>0</a:t>
                      </a:r>
                      <a:r>
                        <a:rPr lang="vi-VN" sz="900" baseline="0">
                          <a:latin typeface="Arial Narrow" panose="020B0606020202030204" pitchFamily="34" charset="0"/>
                        </a:rPr>
                        <a:t>1 / 0.</a:t>
                      </a:r>
                      <a:r>
                        <a:rPr lang="en-US" sz="900" baseline="0">
                          <a:latin typeface="Arial Narrow" panose="020B0606020202030204" pitchFamily="34" charset="0"/>
                        </a:rPr>
                        <a:t>6</a:t>
                      </a:r>
                      <a:r>
                        <a:rPr lang="vi-VN" sz="900" baseline="0">
                          <a:latin typeface="Arial Narrow" panose="020B0606020202030204" pitchFamily="34" charset="0"/>
                        </a:rPr>
                        <a:t> ) * 100% = </a:t>
                      </a:r>
                      <a:r>
                        <a:rPr lang="en-US" sz="900" baseline="0">
                          <a:latin typeface="Arial Narrow" panose="020B0606020202030204" pitchFamily="34" charset="0"/>
                        </a:rPr>
                        <a:t>0.167</a:t>
                      </a:r>
                      <a:r>
                        <a:rPr lang="vi-VN" sz="900" baseline="0">
                          <a:latin typeface="Arial Narrow" panose="020B0606020202030204" pitchFamily="34" charset="0"/>
                        </a:rPr>
                        <a:t>% &lt; 5 %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8D621"/>
                    </a:solidFill>
                  </a:tcPr>
                </a:tc>
                <a:extLst>
                  <a:ext uri="{0D108BD9-81ED-4DB2-BD59-A6C34878D82A}">
                    <a16:rowId xmlns:a16="http://schemas.microsoft.com/office/drawing/2014/main" val="10002"/>
                  </a:ext>
                </a:extLst>
              </a:tr>
            </a:tbl>
          </a:graphicData>
        </a:graphic>
      </p:graphicFrame>
      <p:sp>
        <p:nvSpPr>
          <p:cNvPr id="18" name="TextBox 17">
            <a:extLst>
              <a:ext uri="{FF2B5EF4-FFF2-40B4-BE49-F238E27FC236}">
                <a16:creationId xmlns:a16="http://schemas.microsoft.com/office/drawing/2014/main" id="{EC045FA1-9F4C-46E4-8573-CC82CEE1118C}"/>
              </a:ext>
            </a:extLst>
          </p:cNvPr>
          <p:cNvSpPr txBox="1"/>
          <p:nvPr/>
        </p:nvSpPr>
        <p:spPr>
          <a:xfrm>
            <a:off x="73152" y="3353681"/>
            <a:ext cx="4846273" cy="3477875"/>
          </a:xfrm>
          <a:prstGeom prst="rect">
            <a:avLst/>
          </a:prstGeom>
          <a:noFill/>
        </p:spPr>
        <p:txBody>
          <a:bodyPr wrap="square" rtlCol="0">
            <a:spAutoFit/>
          </a:bodyPr>
          <a:lstStyle/>
          <a:p>
            <a:pPr>
              <a:buFont typeface="Wingdings" pitchFamily="2" charset="2"/>
              <a:buChar char="§"/>
            </a:pPr>
            <a:r>
              <a:rPr lang="en-US" sz="1100">
                <a:latin typeface="Arial Narrow" panose="020B0606020202030204" pitchFamily="34" charset="0"/>
                <a:ea typeface="LG스마트체 Regular" pitchFamily="34" charset="-127"/>
              </a:rPr>
              <a:t> </a:t>
            </a:r>
            <a:r>
              <a:rPr lang="vi-VN" sz="1100">
                <a:latin typeface="Arial Narrow" panose="020B0606020202030204" pitchFamily="34" charset="0"/>
                <a:ea typeface="LG스마트체 Regular" pitchFamily="34" charset="-127"/>
              </a:rPr>
              <a:t>    </a:t>
            </a:r>
            <a:r>
              <a:rPr lang="en-US" sz="1100">
                <a:latin typeface="Arial Narrow" panose="020B0606020202030204" pitchFamily="34" charset="0"/>
                <a:ea typeface="LG스마트체 Regular" pitchFamily="34" charset="-127"/>
              </a:rPr>
              <a:t>P part = 0.000 &lt; 0.05  OK </a:t>
            </a:r>
            <a:r>
              <a:rPr lang="en-US" sz="1100">
                <a:latin typeface="Arial Narrow" panose="020B0606020202030204" pitchFamily="34" charset="0"/>
                <a:ea typeface="LG스마트체 Regular" pitchFamily="34" charset="-127"/>
                <a:sym typeface="Wingdings" pitchFamily="2" charset="2"/>
              </a:rPr>
              <a:t></a:t>
            </a:r>
            <a:r>
              <a:rPr lang="en-US" sz="1100">
                <a:latin typeface="Arial Narrow" panose="020B0606020202030204" pitchFamily="34" charset="0"/>
                <a:ea typeface="LG스마트체 Regular" pitchFamily="34" charset="-127"/>
                <a:cs typeface="Arial"/>
                <a:sym typeface="Wingdings" pitchFamily="2" charset="2"/>
              </a:rPr>
              <a:t> The different between parts is significant</a:t>
            </a:r>
          </a:p>
          <a:p>
            <a:r>
              <a:rPr lang="en-US" altLang="ko-KR" sz="1100">
                <a:solidFill>
                  <a:srgbClr val="000000"/>
                </a:solidFill>
                <a:latin typeface="Arial Narrow" panose="020B0606020202030204" pitchFamily="34" charset="0"/>
                <a:ea typeface="맑은 고딕" pitchFamily="50" charset="-127"/>
                <a:sym typeface="Wingdings" pitchFamily="2" charset="2"/>
              </a:rPr>
              <a:t>  </a:t>
            </a:r>
            <a:r>
              <a:rPr lang="vi-VN" altLang="ko-KR" sz="1100">
                <a:solidFill>
                  <a:srgbClr val="000000"/>
                </a:solidFill>
                <a:latin typeface="Arial Narrow" panose="020B0606020202030204" pitchFamily="34" charset="0"/>
                <a:ea typeface="맑은 고딕" pitchFamily="50" charset="-127"/>
                <a:sym typeface="Wingdings" pitchFamily="2" charset="2"/>
              </a:rPr>
              <a:t>    </a:t>
            </a:r>
            <a:r>
              <a:rPr lang="en-US" altLang="ko-KR" sz="1100">
                <a:solidFill>
                  <a:srgbClr val="000000"/>
                </a:solidFill>
                <a:latin typeface="Arial Narrow" panose="020B0606020202030204" pitchFamily="34" charset="0"/>
                <a:ea typeface="맑은 고딕" pitchFamily="50" charset="-127"/>
                <a:sym typeface="Wingdings" pitchFamily="2" charset="2"/>
              </a:rPr>
              <a:t> </a:t>
            </a:r>
            <a:r>
              <a:rPr lang="en-US" altLang="ko-KR" sz="1100">
                <a:solidFill>
                  <a:srgbClr val="00B050"/>
                </a:solidFill>
                <a:latin typeface="Arial Narrow" panose="020B0606020202030204" pitchFamily="34" charset="0"/>
                <a:ea typeface="LG스마트체 Regular" panose="020B0600000101010101" pitchFamily="50" charset="-127"/>
              </a:rPr>
              <a:t>The P-value of 0.000 indicates a significant difference between Parts at</a:t>
            </a:r>
            <a:endParaRPr lang="vi-VN" altLang="ko-KR" sz="1100">
              <a:solidFill>
                <a:srgbClr val="00B050"/>
              </a:solidFill>
              <a:latin typeface="Arial Narrow" panose="020B0606020202030204" pitchFamily="34" charset="0"/>
              <a:ea typeface="LG스마트체 Regular" panose="020B0600000101010101" pitchFamily="50" charset="-127"/>
            </a:endParaRPr>
          </a:p>
          <a:p>
            <a:r>
              <a:rPr lang="vi-VN" altLang="ko-KR" sz="1100">
                <a:solidFill>
                  <a:srgbClr val="00B050"/>
                </a:solidFill>
                <a:latin typeface="Arial Narrow" panose="020B0606020202030204" pitchFamily="34" charset="0"/>
                <a:ea typeface="LG스마트체 Regular" panose="020B0600000101010101" pitchFamily="50" charset="-127"/>
              </a:rPr>
              <a:t>      </a:t>
            </a:r>
            <a:r>
              <a:rPr lang="en-US" altLang="ko-KR" sz="1100">
                <a:solidFill>
                  <a:srgbClr val="00B050"/>
                </a:solidFill>
                <a:latin typeface="Arial Narrow" panose="020B0606020202030204" pitchFamily="34" charset="0"/>
                <a:ea typeface="LG스마트체 Regular" panose="020B0600000101010101" pitchFamily="50" charset="-127"/>
              </a:rPr>
              <a:t> the 5% significance level</a:t>
            </a:r>
            <a:endParaRPr lang="en-US" sz="1100">
              <a:latin typeface="Arial Narrow" panose="020B0606020202030204" pitchFamily="34" charset="0"/>
              <a:ea typeface="LG스마트체 Regular" pitchFamily="34" charset="-127"/>
              <a:cs typeface="Arial"/>
            </a:endParaRPr>
          </a:p>
          <a:p>
            <a:pPr>
              <a:buFont typeface="Wingdings" pitchFamily="2" charset="2"/>
              <a:buChar char="§"/>
            </a:pPr>
            <a:r>
              <a:rPr lang="en-US" sz="1100">
                <a:latin typeface="Arial Narrow" panose="020B0606020202030204" pitchFamily="34" charset="0"/>
                <a:ea typeface="LG스마트체 Regular" pitchFamily="34" charset="-127"/>
                <a:cs typeface="Arial"/>
              </a:rPr>
              <a:t> </a:t>
            </a:r>
            <a:r>
              <a:rPr lang="vi-VN" sz="1100">
                <a:latin typeface="Arial Narrow" panose="020B0606020202030204" pitchFamily="34" charset="0"/>
                <a:ea typeface="LG스마트체 Regular" pitchFamily="34" charset="-127"/>
                <a:cs typeface="Arial"/>
              </a:rPr>
              <a:t>   </a:t>
            </a:r>
            <a:r>
              <a:rPr lang="en-US" sz="1100">
                <a:latin typeface="Arial Narrow" panose="020B0606020202030204" pitchFamily="34" charset="0"/>
                <a:ea typeface="LG스마트체 Regular" pitchFamily="34" charset="-127"/>
                <a:cs typeface="Arial"/>
              </a:rPr>
              <a:t>P operator = 0.</a:t>
            </a:r>
            <a:r>
              <a:rPr lang="vi-VN" sz="1100">
                <a:latin typeface="Arial Narrow" panose="020B0606020202030204" pitchFamily="34" charset="0"/>
                <a:ea typeface="LG스마트체 Regular" pitchFamily="34" charset="-127"/>
                <a:cs typeface="Arial"/>
              </a:rPr>
              <a:t>786</a:t>
            </a:r>
            <a:r>
              <a:rPr lang="en-US" sz="1100">
                <a:latin typeface="Arial Narrow" panose="020B0606020202030204" pitchFamily="34" charset="0"/>
                <a:ea typeface="LG스마트체 Regular" pitchFamily="34" charset="-127"/>
                <a:cs typeface="Arial"/>
              </a:rPr>
              <a:t> &gt; 0.05      </a:t>
            </a:r>
          </a:p>
          <a:p>
            <a:r>
              <a:rPr lang="en-US" sz="1100">
                <a:latin typeface="Arial Narrow" panose="020B0606020202030204" pitchFamily="34" charset="0"/>
                <a:ea typeface="LG스마트체 Regular" pitchFamily="34" charset="-127"/>
                <a:cs typeface="Arial"/>
                <a:sym typeface="Wingdings" pitchFamily="2" charset="2"/>
              </a:rPr>
              <a:t>  </a:t>
            </a:r>
            <a:r>
              <a:rPr lang="vi-VN" sz="1100">
                <a:latin typeface="Arial Narrow" panose="020B0606020202030204" pitchFamily="34" charset="0"/>
                <a:ea typeface="LG스마트체 Regular" pitchFamily="34" charset="-127"/>
                <a:cs typeface="Arial"/>
                <a:sym typeface="Wingdings" pitchFamily="2" charset="2"/>
              </a:rPr>
              <a:t>    </a:t>
            </a:r>
            <a:r>
              <a:rPr lang="en-US" sz="1100">
                <a:latin typeface="Arial Narrow" panose="020B0606020202030204" pitchFamily="34" charset="0"/>
                <a:ea typeface="LG스마트체 Regular" pitchFamily="34" charset="-127"/>
                <a:cs typeface="Arial"/>
                <a:sym typeface="Wingdings" pitchFamily="2" charset="2"/>
              </a:rPr>
              <a:t> </a:t>
            </a:r>
            <a:r>
              <a:rPr lang="en-US" altLang="ko-KR" sz="1100">
                <a:solidFill>
                  <a:srgbClr val="00B050"/>
                </a:solidFill>
                <a:latin typeface="Arial Narrow" panose="020B0606020202030204" pitchFamily="34" charset="0"/>
                <a:ea typeface="LG스마트체 Regular" panose="020B0600000101010101" pitchFamily="50" charset="-127"/>
              </a:rPr>
              <a:t>The P-value of 0.</a:t>
            </a:r>
            <a:r>
              <a:rPr lang="vi-VN" altLang="ko-KR" sz="1100">
                <a:solidFill>
                  <a:srgbClr val="00B050"/>
                </a:solidFill>
                <a:latin typeface="Arial Narrow" panose="020B0606020202030204" pitchFamily="34" charset="0"/>
                <a:ea typeface="LG스마트체 Regular" panose="020B0600000101010101" pitchFamily="50" charset="-127"/>
              </a:rPr>
              <a:t>786</a:t>
            </a:r>
            <a:r>
              <a:rPr lang="en-US" altLang="ko-KR" sz="1100">
                <a:solidFill>
                  <a:srgbClr val="00B050"/>
                </a:solidFill>
                <a:latin typeface="Arial Narrow" panose="020B0606020202030204" pitchFamily="34" charset="0"/>
                <a:ea typeface="LG스마트체 Regular" panose="020B0600000101010101" pitchFamily="50" charset="-127"/>
              </a:rPr>
              <a:t> for the Operator variable indicates that the inter-rater difference </a:t>
            </a:r>
            <a:endParaRPr lang="vi-VN" altLang="ko-KR" sz="1100">
              <a:solidFill>
                <a:srgbClr val="00B050"/>
              </a:solidFill>
              <a:latin typeface="Arial Narrow" panose="020B0606020202030204" pitchFamily="34" charset="0"/>
              <a:ea typeface="LG스마트체 Regular" panose="020B0600000101010101" pitchFamily="50" charset="-127"/>
            </a:endParaRPr>
          </a:p>
          <a:p>
            <a:r>
              <a:rPr lang="vi-VN" altLang="ko-KR" sz="1100">
                <a:solidFill>
                  <a:srgbClr val="00B050"/>
                </a:solidFill>
                <a:latin typeface="Arial Narrow" panose="020B0606020202030204" pitchFamily="34" charset="0"/>
                <a:ea typeface="LG스마트체 Regular" panose="020B0600000101010101" pitchFamily="50" charset="-127"/>
              </a:rPr>
              <a:t>      </a:t>
            </a:r>
            <a:r>
              <a:rPr lang="en-US" altLang="ko-KR" sz="1100">
                <a:solidFill>
                  <a:srgbClr val="00B050"/>
                </a:solidFill>
                <a:latin typeface="Arial Narrow" panose="020B0606020202030204" pitchFamily="34" charset="0"/>
                <a:ea typeface="LG스마트체 Regular" panose="020B0600000101010101" pitchFamily="50" charset="-127"/>
              </a:rPr>
              <a:t>is not significant at the 5% significance level.</a:t>
            </a:r>
          </a:p>
          <a:p>
            <a:pPr>
              <a:buFont typeface="Wingdings" pitchFamily="2" charset="2"/>
              <a:buChar char="§"/>
            </a:pPr>
            <a:r>
              <a:rPr lang="en-US" sz="1100">
                <a:solidFill>
                  <a:srgbClr val="000000"/>
                </a:solidFill>
                <a:latin typeface="Arial Narrow" panose="020B0606020202030204" pitchFamily="34" charset="0"/>
                <a:ea typeface="맑은 고딕" pitchFamily="50" charset="-127"/>
                <a:cs typeface="Arial"/>
                <a:sym typeface="Wingdings" pitchFamily="2" charset="2"/>
              </a:rPr>
              <a:t> </a:t>
            </a:r>
            <a:r>
              <a:rPr lang="vi-VN" sz="1100">
                <a:solidFill>
                  <a:srgbClr val="000000"/>
                </a:solidFill>
                <a:latin typeface="Arial Narrow" panose="020B0606020202030204" pitchFamily="34" charset="0"/>
                <a:ea typeface="맑은 고딕" pitchFamily="50" charset="-127"/>
                <a:cs typeface="Arial"/>
                <a:sym typeface="Wingdings" pitchFamily="2" charset="2"/>
              </a:rPr>
              <a:t>   </a:t>
            </a:r>
            <a:r>
              <a:rPr lang="en-US" sz="1100">
                <a:latin typeface="Arial Narrow" panose="020B0606020202030204" pitchFamily="34" charset="0"/>
                <a:ea typeface="LG스마트체 Regular" pitchFamily="34" charset="-127"/>
                <a:cs typeface="Arial"/>
                <a:sym typeface="Wingdings" pitchFamily="2" charset="2"/>
              </a:rPr>
              <a:t>P part * operator = 0.</a:t>
            </a:r>
            <a:r>
              <a:rPr lang="vi-VN" sz="1100">
                <a:latin typeface="Arial Narrow" panose="020B0606020202030204" pitchFamily="34" charset="0"/>
                <a:ea typeface="LG스마트체 Regular" pitchFamily="34" charset="-127"/>
                <a:cs typeface="Arial"/>
                <a:sym typeface="Wingdings" pitchFamily="2" charset="2"/>
              </a:rPr>
              <a:t>893</a:t>
            </a:r>
            <a:r>
              <a:rPr lang="en-US" sz="1100">
                <a:latin typeface="Arial Narrow" panose="020B0606020202030204" pitchFamily="34" charset="0"/>
                <a:ea typeface="LG스마트체 Regular" pitchFamily="34" charset="-127"/>
                <a:cs typeface="Arial"/>
                <a:sym typeface="Wingdings" pitchFamily="2" charset="2"/>
              </a:rPr>
              <a:t> &gt;  </a:t>
            </a:r>
            <a:r>
              <a:rPr lang="en-US" sz="1100">
                <a:latin typeface="Arial Narrow" panose="020B0606020202030204" pitchFamily="34" charset="0"/>
                <a:ea typeface="LG스마트체 Regular" pitchFamily="34" charset="-127"/>
                <a:cs typeface="Arial"/>
              </a:rPr>
              <a:t>0.05 </a:t>
            </a:r>
          </a:p>
          <a:p>
            <a:r>
              <a:rPr lang="vi-VN" sz="1100">
                <a:latin typeface="Arial Narrow" panose="020B0606020202030204" pitchFamily="34" charset="0"/>
                <a:ea typeface="LG스마트체 Regular" pitchFamily="34" charset="-127"/>
              </a:rPr>
              <a:t>    </a:t>
            </a:r>
            <a:r>
              <a:rPr lang="en-US" sz="1100">
                <a:latin typeface="Arial Narrow" panose="020B0606020202030204" pitchFamily="34" charset="0"/>
                <a:ea typeface="LG스마트체 Regular" pitchFamily="34" charset="-127"/>
              </a:rPr>
              <a:t>  </a:t>
            </a:r>
            <a:r>
              <a:rPr lang="en-US" sz="1100">
                <a:latin typeface="Arial Narrow" panose="020B0606020202030204" pitchFamily="34" charset="0"/>
                <a:ea typeface="LG스마트체 Regular" pitchFamily="34" charset="-127"/>
                <a:sym typeface="Wingdings" pitchFamily="2" charset="2"/>
              </a:rPr>
              <a:t></a:t>
            </a:r>
            <a:r>
              <a:rPr lang="en-US" sz="1100">
                <a:latin typeface="Arial Narrow" panose="020B0606020202030204" pitchFamily="34" charset="0"/>
                <a:ea typeface="LG스마트체 Regular" pitchFamily="34" charset="-127"/>
              </a:rPr>
              <a:t> </a:t>
            </a:r>
            <a:r>
              <a:rPr lang="en-US" altLang="ko-KR" sz="1100">
                <a:solidFill>
                  <a:srgbClr val="00B050"/>
                </a:solidFill>
                <a:latin typeface="Arial Narrow" panose="020B0606020202030204" pitchFamily="34" charset="0"/>
                <a:ea typeface="LG스마트체 Regular" panose="020B0600000101010101" pitchFamily="50" charset="-127"/>
              </a:rPr>
              <a:t>P-value for the interaction between Part and Measurer is 0.</a:t>
            </a:r>
            <a:r>
              <a:rPr lang="vi-VN" altLang="ko-KR" sz="1100">
                <a:solidFill>
                  <a:srgbClr val="00B050"/>
                </a:solidFill>
                <a:latin typeface="Arial Narrow" panose="020B0606020202030204" pitchFamily="34" charset="0"/>
                <a:ea typeface="LG스마트체 Regular" panose="020B0600000101010101" pitchFamily="50" charset="-127"/>
              </a:rPr>
              <a:t>893</a:t>
            </a:r>
            <a:r>
              <a:rPr lang="en-US" altLang="ko-KR" sz="1100">
                <a:solidFill>
                  <a:srgbClr val="00B050"/>
                </a:solidFill>
                <a:latin typeface="Arial Narrow" panose="020B0606020202030204" pitchFamily="34" charset="0"/>
                <a:ea typeface="LG스마트체 Regular" panose="020B0600000101010101" pitchFamily="50" charset="-127"/>
              </a:rPr>
              <a:t>, indicating no </a:t>
            </a:r>
            <a:endParaRPr lang="vi-VN" altLang="ko-KR" sz="1100">
              <a:solidFill>
                <a:srgbClr val="00B050"/>
              </a:solidFill>
              <a:latin typeface="Arial Narrow" panose="020B0606020202030204" pitchFamily="34" charset="0"/>
              <a:ea typeface="LG스마트체 Regular" panose="020B0600000101010101" pitchFamily="50" charset="-127"/>
            </a:endParaRPr>
          </a:p>
          <a:p>
            <a:r>
              <a:rPr lang="vi-VN" altLang="ko-KR" sz="1100">
                <a:solidFill>
                  <a:srgbClr val="00B050"/>
                </a:solidFill>
                <a:latin typeface="Arial Narrow" panose="020B0606020202030204" pitchFamily="34" charset="0"/>
                <a:ea typeface="LG스마트체 Regular" panose="020B0600000101010101" pitchFamily="50" charset="-127"/>
              </a:rPr>
              <a:t>      </a:t>
            </a:r>
            <a:r>
              <a:rPr lang="en-US" altLang="ko-KR" sz="1100">
                <a:solidFill>
                  <a:srgbClr val="00B050"/>
                </a:solidFill>
                <a:latin typeface="Arial Narrow" panose="020B0606020202030204" pitchFamily="34" charset="0"/>
                <a:ea typeface="LG스마트체 Regular" panose="020B0600000101010101" pitchFamily="50" charset="-127"/>
              </a:rPr>
              <a:t>interaction at the 5% significance level.</a:t>
            </a:r>
          </a:p>
          <a:p>
            <a:r>
              <a:rPr lang="en-US" altLang="ko-KR" sz="1100">
                <a:solidFill>
                  <a:srgbClr val="00B050"/>
                </a:solidFill>
                <a:latin typeface="LG스마트체 Regular" panose="020B0600000101010101" pitchFamily="50" charset="-127"/>
                <a:ea typeface="LG스마트체 Regular" panose="020B0600000101010101" pitchFamily="50" charset="-127"/>
              </a:rPr>
              <a:t>※ </a:t>
            </a:r>
            <a:r>
              <a:rPr lang="en-US" sz="1100" b="1" u="sng">
                <a:latin typeface="Arial Narrow" panose="020B0606020202030204" pitchFamily="34" charset="0"/>
                <a:ea typeface="LG Smart_H Regular" panose="020B0600000101010101" pitchFamily="34" charset="-127"/>
              </a:rPr>
              <a:t>Conclusion:</a:t>
            </a:r>
          </a:p>
          <a:p>
            <a:r>
              <a:rPr lang="vi-VN" sz="1100">
                <a:latin typeface="Arial Narrow" panose="020B0606020202030204" pitchFamily="34" charset="0"/>
                <a:ea typeface="LG Smart_H Regular" panose="020B0600000101010101" pitchFamily="34" charset="-127"/>
              </a:rPr>
              <a:t>    </a:t>
            </a:r>
            <a:r>
              <a:rPr lang="en-US" sz="1100">
                <a:latin typeface="Arial Narrow" panose="020B0606020202030204" pitchFamily="34" charset="0"/>
                <a:ea typeface="LG Smart_H Regular" panose="020B0600000101010101" pitchFamily="34" charset="-127"/>
              </a:rPr>
              <a:t>*3 people measure 10 samples, measure repeat 3 times (Blind and random)</a:t>
            </a:r>
          </a:p>
          <a:p>
            <a:pPr marL="171450" indent="-171450">
              <a:buFont typeface="Wingdings" panose="05000000000000000000" pitchFamily="2" charset="2"/>
              <a:buChar char="§"/>
            </a:pPr>
            <a:r>
              <a:rPr lang="en-US" sz="1100">
                <a:latin typeface="Arial Narrow" panose="020B0606020202030204" pitchFamily="34" charset="0"/>
                <a:ea typeface="LG Smart_H Regular" panose="020B0600000101010101" pitchFamily="34" charset="-127"/>
              </a:rPr>
              <a:t>% Study Var (SV) :</a:t>
            </a:r>
            <a:r>
              <a:rPr lang="vi-VN" sz="1100">
                <a:latin typeface="Arial Narrow" panose="020B0606020202030204" pitchFamily="34" charset="0"/>
                <a:ea typeface="LG Smart_H Regular" panose="020B0600000101010101" pitchFamily="34" charset="-127"/>
              </a:rPr>
              <a:t> 3.42</a:t>
            </a:r>
            <a:r>
              <a:rPr lang="en-US" sz="1100">
                <a:latin typeface="Arial Narrow" panose="020B0606020202030204" pitchFamily="34" charset="0"/>
                <a:ea typeface="LG Smart_H Regular" panose="020B0600000101010101" pitchFamily="34" charset="-127"/>
              </a:rPr>
              <a:t> &lt;</a:t>
            </a:r>
            <a:r>
              <a:rPr lang="vi-VN" sz="1100">
                <a:latin typeface="Arial Narrow" panose="020B0606020202030204" pitchFamily="34" charset="0"/>
                <a:ea typeface="LG Smart_H Regular" panose="020B0600000101010101" pitchFamily="34" charset="-127"/>
              </a:rPr>
              <a:t> </a:t>
            </a:r>
            <a:r>
              <a:rPr lang="en-US" sz="1100">
                <a:latin typeface="Arial Narrow" panose="020B0606020202030204" pitchFamily="34" charset="0"/>
                <a:ea typeface="LG Smart_H Regular" panose="020B0600000101010101" pitchFamily="34" charset="-127"/>
              </a:rPr>
              <a:t>10% </a:t>
            </a:r>
            <a:r>
              <a:rPr lang="en-US" sz="1100">
                <a:latin typeface="Arial Narrow" panose="020B0606020202030204" pitchFamily="34" charset="0"/>
                <a:ea typeface="LG Smart_H Regular" panose="020B0600000101010101" pitchFamily="34" charset="-127"/>
                <a:sym typeface="Wingdings" pitchFamily="2" charset="2"/>
              </a:rPr>
              <a:t> </a:t>
            </a:r>
            <a:r>
              <a:rPr lang="en-US" sz="1100" b="1">
                <a:solidFill>
                  <a:srgbClr val="006600"/>
                </a:solidFill>
                <a:latin typeface="Arial Narrow" panose="020B0606020202030204" pitchFamily="34" charset="0"/>
                <a:ea typeface="LG Smart_H Regular" panose="020B0600000101010101" pitchFamily="34" charset="-127"/>
                <a:sym typeface="Wingdings" pitchFamily="2" charset="2"/>
              </a:rPr>
              <a:t>OK</a:t>
            </a:r>
          </a:p>
          <a:p>
            <a:r>
              <a:rPr lang="en-US" sz="110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sz="1100">
                <a:latin typeface="Arial Narrow" panose="020B0606020202030204" pitchFamily="34" charset="0"/>
                <a:ea typeface="LG Smart_H Regular" panose="020B0600000101010101" pitchFamily="34" charset="-127"/>
                <a:sym typeface="Wingdings" pitchFamily="2" charset="2"/>
              </a:rPr>
              <a:t></a:t>
            </a:r>
            <a:r>
              <a:rPr lang="en-US" sz="110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altLang="ko-KR" sz="1100">
                <a:solidFill>
                  <a:srgbClr val="00B050"/>
                </a:solidFill>
                <a:latin typeface="Arial Narrow" panose="020B0606020202030204" pitchFamily="34" charset="0"/>
                <a:ea typeface="LG스마트체 Regular" panose="020B0600000101010101" pitchFamily="50" charset="-127"/>
              </a:rPr>
              <a:t>At 7.72% of total variation, it is below the recommended level of 10%.</a:t>
            </a:r>
            <a:endParaRPr lang="vi-VN" altLang="ko-KR" sz="1100">
              <a:solidFill>
                <a:srgbClr val="00B050"/>
              </a:solidFill>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
            </a:pPr>
            <a:r>
              <a:rPr lang="en-US" sz="1100">
                <a:latin typeface="Arial Narrow" panose="020B0606020202030204" pitchFamily="34" charset="0"/>
                <a:ea typeface="LG Smart_H Regular" panose="020B0600000101010101" pitchFamily="34" charset="-127"/>
              </a:rPr>
              <a:t> % Tolerance</a:t>
            </a:r>
            <a:r>
              <a:rPr lang="vi-VN" sz="1100">
                <a:latin typeface="Arial Narrow" panose="020B0606020202030204" pitchFamily="34" charset="0"/>
                <a:ea typeface="LG Smart_H Regular" panose="020B0600000101010101" pitchFamily="34" charset="-127"/>
              </a:rPr>
              <a:t> </a:t>
            </a:r>
            <a:r>
              <a:rPr lang="en-US" sz="1100">
                <a:latin typeface="Arial Narrow" panose="020B0606020202030204" pitchFamily="34" charset="0"/>
                <a:ea typeface="LG Smart_H Regular" panose="020B0600000101010101" pitchFamily="34" charset="-127"/>
              </a:rPr>
              <a:t>(SV </a:t>
            </a:r>
            <a:r>
              <a:rPr lang="vi-VN" sz="1100">
                <a:latin typeface="Arial Narrow" panose="020B0606020202030204" pitchFamily="34" charset="0"/>
                <a:ea typeface="LG Smart_H Regular" panose="020B0600000101010101" pitchFamily="34" charset="-127"/>
              </a:rPr>
              <a:t>/ </a:t>
            </a:r>
            <a:r>
              <a:rPr lang="en-US" sz="1100">
                <a:latin typeface="Arial Narrow" panose="020B0606020202030204" pitchFamily="34" charset="0"/>
                <a:ea typeface="LG Smart_H Regular" panose="020B0600000101010101" pitchFamily="34" charset="-127"/>
              </a:rPr>
              <a:t>Toler) : </a:t>
            </a:r>
            <a:r>
              <a:rPr lang="vi-VN" sz="1100">
                <a:latin typeface="Arial Narrow" panose="020B0606020202030204" pitchFamily="34" charset="0"/>
                <a:ea typeface="LG Smart_H Regular" panose="020B0600000101010101" pitchFamily="34" charset="-127"/>
              </a:rPr>
              <a:t>7.57</a:t>
            </a:r>
            <a:r>
              <a:rPr lang="en-US" sz="1100">
                <a:latin typeface="Arial Narrow" panose="020B0606020202030204" pitchFamily="34" charset="0"/>
                <a:ea typeface="LG Smart_H Regular" panose="020B0600000101010101" pitchFamily="34" charset="-127"/>
              </a:rPr>
              <a:t> % &lt;</a:t>
            </a:r>
            <a:r>
              <a:rPr lang="vi-VN" sz="1100">
                <a:latin typeface="Arial Narrow" panose="020B0606020202030204" pitchFamily="34" charset="0"/>
                <a:ea typeface="LG Smart_H Regular" panose="020B0600000101010101" pitchFamily="34" charset="-127"/>
              </a:rPr>
              <a:t> </a:t>
            </a:r>
            <a:r>
              <a:rPr lang="en-US" sz="1100">
                <a:latin typeface="Arial Narrow" panose="020B0606020202030204" pitchFamily="34" charset="0"/>
                <a:ea typeface="LG Smart_H Regular" panose="020B0600000101010101" pitchFamily="34" charset="-127"/>
              </a:rPr>
              <a:t>10% </a:t>
            </a:r>
            <a:r>
              <a:rPr lang="en-US" sz="1100">
                <a:latin typeface="Arial Narrow" panose="020B0606020202030204" pitchFamily="34" charset="0"/>
                <a:ea typeface="LG Smart_H Regular" panose="020B0600000101010101" pitchFamily="34" charset="-127"/>
                <a:sym typeface="Wingdings" pitchFamily="2" charset="2"/>
              </a:rPr>
              <a:t> </a:t>
            </a:r>
            <a:r>
              <a:rPr lang="en-US" sz="1100" b="1">
                <a:solidFill>
                  <a:srgbClr val="006600"/>
                </a:solidFill>
                <a:latin typeface="Arial Narrow" panose="020B0606020202030204" pitchFamily="34" charset="0"/>
                <a:ea typeface="LG Smart_H Regular" panose="020B0600000101010101" pitchFamily="34" charset="-127"/>
                <a:sym typeface="Wingdings" pitchFamily="2" charset="2"/>
              </a:rPr>
              <a:t>OK</a:t>
            </a:r>
          </a:p>
          <a:p>
            <a:r>
              <a:rPr lang="en-US" sz="110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sz="1100">
                <a:latin typeface="Arial Narrow" panose="020B0606020202030204" pitchFamily="34" charset="0"/>
                <a:ea typeface="LG Smart_H Regular" panose="020B0600000101010101" pitchFamily="34" charset="-127"/>
                <a:sym typeface="Wingdings" pitchFamily="2" charset="2"/>
              </a:rPr>
              <a:t></a:t>
            </a:r>
            <a:r>
              <a:rPr lang="en-US" sz="110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altLang="ko-KR" sz="1100">
                <a:solidFill>
                  <a:srgbClr val="00B050"/>
                </a:solidFill>
                <a:latin typeface="Arial Narrow" panose="020B0606020202030204" pitchFamily="34" charset="0"/>
                <a:ea typeface="LG스마트체 Regular" panose="020B0600000101010101" pitchFamily="50" charset="-127"/>
              </a:rPr>
              <a:t>At 19.90% relative to the specification limit, it is somewhat high but conditionally </a:t>
            </a:r>
            <a:r>
              <a:rPr lang="vi-VN" altLang="ko-KR" sz="1100">
                <a:solidFill>
                  <a:srgbClr val="00B050"/>
                </a:solidFill>
                <a:latin typeface="Arial Narrow" panose="020B0606020202030204" pitchFamily="34" charset="0"/>
                <a:ea typeface="LG스마트체 Regular" panose="020B0600000101010101" pitchFamily="50" charset="-127"/>
              </a:rPr>
              <a:t> </a:t>
            </a:r>
          </a:p>
          <a:p>
            <a:r>
              <a:rPr lang="vi-VN" altLang="ko-KR" sz="1100">
                <a:solidFill>
                  <a:srgbClr val="00B050"/>
                </a:solidFill>
                <a:latin typeface="Arial Narrow" panose="020B0606020202030204" pitchFamily="34" charset="0"/>
                <a:ea typeface="LG스마트체 Regular" panose="020B0600000101010101" pitchFamily="50" charset="-127"/>
              </a:rPr>
              <a:t>       </a:t>
            </a:r>
            <a:r>
              <a:rPr lang="en-US" altLang="ko-KR" sz="1100">
                <a:solidFill>
                  <a:srgbClr val="00B050"/>
                </a:solidFill>
                <a:latin typeface="Arial Narrow" panose="020B0606020202030204" pitchFamily="34" charset="0"/>
                <a:ea typeface="LG스마트체 Regular" panose="020B0600000101010101" pitchFamily="50" charset="-127"/>
              </a:rPr>
              <a:t>acceptable for pass/fail determination.</a:t>
            </a:r>
          </a:p>
          <a:p>
            <a:pPr>
              <a:buFont typeface="Wingdings" pitchFamily="2" charset="2"/>
              <a:buChar char="§"/>
            </a:pPr>
            <a:r>
              <a:rPr lang="en-US" sz="1100">
                <a:latin typeface="Arial Narrow" panose="020B0606020202030204" pitchFamily="34" charset="0"/>
                <a:ea typeface="LG Smart_H Regular" panose="020B0600000101010101" pitchFamily="34" charset="-127"/>
                <a:sym typeface="Wingdings" pitchFamily="2" charset="2"/>
              </a:rPr>
              <a:t> </a:t>
            </a:r>
            <a:r>
              <a:rPr lang="vi-VN" sz="1100">
                <a:latin typeface="Arial Narrow" panose="020B0606020202030204" pitchFamily="34" charset="0"/>
                <a:ea typeface="LG Smart_H Regular" panose="020B0600000101010101" pitchFamily="34" charset="-127"/>
                <a:sym typeface="Wingdings" pitchFamily="2" charset="2"/>
              </a:rPr>
              <a:t>   </a:t>
            </a:r>
            <a:r>
              <a:rPr lang="en-US" sz="1100">
                <a:latin typeface="Arial Narrow" panose="020B0606020202030204" pitchFamily="34" charset="0"/>
                <a:ea typeface="LG Smart_H Regular" panose="020B0600000101010101" pitchFamily="34" charset="-127"/>
                <a:sym typeface="Wingdings" pitchFamily="2" charset="2"/>
              </a:rPr>
              <a:t>NDC:</a:t>
            </a:r>
            <a:r>
              <a:rPr lang="vi-VN" sz="1100">
                <a:latin typeface="Arial Narrow" panose="020B0606020202030204" pitchFamily="34" charset="0"/>
                <a:ea typeface="LG Smart_H Regular" panose="020B0600000101010101" pitchFamily="34" charset="-127"/>
                <a:sym typeface="Wingdings" pitchFamily="2" charset="2"/>
              </a:rPr>
              <a:t> 41</a:t>
            </a:r>
            <a:r>
              <a:rPr lang="en-US" sz="1100">
                <a:latin typeface="Arial Narrow" panose="020B0606020202030204" pitchFamily="34" charset="0"/>
                <a:ea typeface="LG Smart_H Regular" panose="020B0600000101010101" pitchFamily="34" charset="-127"/>
                <a:sym typeface="Wingdings" pitchFamily="2" charset="2"/>
              </a:rPr>
              <a:t> &gt;</a:t>
            </a:r>
            <a:r>
              <a:rPr lang="vi-VN" sz="1100">
                <a:latin typeface="Arial Narrow" panose="020B0606020202030204" pitchFamily="34" charset="0"/>
                <a:ea typeface="LG Smart_H Regular" panose="020B0600000101010101" pitchFamily="34" charset="-127"/>
                <a:sym typeface="Wingdings" pitchFamily="2" charset="2"/>
              </a:rPr>
              <a:t> </a:t>
            </a:r>
            <a:r>
              <a:rPr lang="en-US" sz="1100">
                <a:latin typeface="Arial Narrow" panose="020B0606020202030204" pitchFamily="34" charset="0"/>
                <a:ea typeface="LG Smart_H Regular" panose="020B0600000101010101" pitchFamily="34" charset="-127"/>
                <a:sym typeface="Wingdings" pitchFamily="2" charset="2"/>
              </a:rPr>
              <a:t>5 </a:t>
            </a:r>
            <a:endParaRPr lang="vi-VN" sz="1100">
              <a:solidFill>
                <a:srgbClr val="006600"/>
              </a:solidFill>
              <a:latin typeface="Arial Narrow" panose="020B0606020202030204" pitchFamily="34" charset="0"/>
              <a:ea typeface="LG Smart_H Regular" panose="020B0600000101010101" pitchFamily="34" charset="-127"/>
              <a:sym typeface="Wingdings" pitchFamily="2" charset="2"/>
            </a:endParaRPr>
          </a:p>
          <a:p>
            <a:r>
              <a:rPr lang="vi-VN" sz="1100">
                <a:latin typeface="Arial Narrow" panose="020B0606020202030204" pitchFamily="34" charset="0"/>
                <a:ea typeface="LG Smart_H Regular" panose="020B0600000101010101" pitchFamily="34" charset="-127"/>
                <a:sym typeface="Wingdings" pitchFamily="2" charset="2"/>
              </a:rPr>
              <a:t>     </a:t>
            </a:r>
            <a:r>
              <a:rPr lang="en-US" sz="1100">
                <a:latin typeface="Arial Narrow" panose="020B0606020202030204" pitchFamily="34" charset="0"/>
                <a:ea typeface="LG Smart_H Regular" panose="020B0600000101010101" pitchFamily="34" charset="-127"/>
                <a:sym typeface="Wingdings" pitchFamily="2" charset="2"/>
              </a:rPr>
              <a:t> </a:t>
            </a:r>
            <a:r>
              <a:rPr lang="vi-VN" sz="1100">
                <a:latin typeface="Arial Narrow" panose="020B0606020202030204" pitchFamily="34" charset="0"/>
                <a:ea typeface="LG Smart_H Regular" panose="020B0600000101010101" pitchFamily="34" charset="-127"/>
                <a:sym typeface="Wingdings" pitchFamily="2" charset="2"/>
              </a:rPr>
              <a:t> </a:t>
            </a:r>
            <a:r>
              <a:rPr lang="en-US" altLang="ko-KR" sz="1100">
                <a:solidFill>
                  <a:srgbClr val="00B050"/>
                </a:solidFill>
                <a:latin typeface="Arial Narrow" panose="020B0606020202030204" pitchFamily="34" charset="0"/>
                <a:ea typeface="LG스마트체 Regular" panose="020B0600000101010101" pitchFamily="50" charset="-127"/>
              </a:rPr>
              <a:t>As NDC 18, it is above the benchmark value of 5 and is considered appropriate from </a:t>
            </a:r>
            <a:endParaRPr lang="vi-VN" altLang="ko-KR" sz="1100">
              <a:solidFill>
                <a:srgbClr val="00B050"/>
              </a:solidFill>
              <a:latin typeface="Arial Narrow" panose="020B0606020202030204" pitchFamily="34" charset="0"/>
              <a:ea typeface="LG스마트체 Regular" panose="020B0600000101010101" pitchFamily="50" charset="-127"/>
            </a:endParaRPr>
          </a:p>
          <a:p>
            <a:r>
              <a:rPr lang="vi-VN" altLang="ko-KR" sz="1100">
                <a:solidFill>
                  <a:srgbClr val="00B050"/>
                </a:solidFill>
                <a:latin typeface="Arial Narrow" panose="020B0606020202030204" pitchFamily="34" charset="0"/>
                <a:ea typeface="LG스마트체 Regular" panose="020B0600000101010101" pitchFamily="50" charset="-127"/>
              </a:rPr>
              <a:t>        </a:t>
            </a:r>
            <a:r>
              <a:rPr lang="en-US" altLang="ko-KR" sz="1100">
                <a:solidFill>
                  <a:srgbClr val="00B050"/>
                </a:solidFill>
                <a:latin typeface="Arial Narrow" panose="020B0606020202030204" pitchFamily="34" charset="0"/>
                <a:ea typeface="LG스마트체 Regular" panose="020B0600000101010101" pitchFamily="50" charset="-127"/>
              </a:rPr>
              <a:t>the NDC perspective.</a:t>
            </a:r>
          </a:p>
          <a:p>
            <a:endParaRPr lang="en-US" sz="1100">
              <a:solidFill>
                <a:srgbClr val="006600"/>
              </a:solidFill>
              <a:latin typeface="Arial Narrow" panose="020B0606020202030204" pitchFamily="34" charset="0"/>
              <a:ea typeface="LG Smart_H Regular" panose="020B0600000101010101" pitchFamily="34" charset="-127"/>
              <a:sym typeface="Wingdings" pitchFamily="2" charset="2"/>
            </a:endParaRPr>
          </a:p>
        </p:txBody>
      </p:sp>
      <p:graphicFrame>
        <p:nvGraphicFramePr>
          <p:cNvPr id="19" name="Table 18">
            <a:extLst>
              <a:ext uri="{FF2B5EF4-FFF2-40B4-BE49-F238E27FC236}">
                <a16:creationId xmlns:a16="http://schemas.microsoft.com/office/drawing/2014/main" id="{A5702848-0E56-4C15-9519-5F083DFBEB42}"/>
              </a:ext>
            </a:extLst>
          </p:cNvPr>
          <p:cNvGraphicFramePr>
            <a:graphicFrameLocks noGrp="1"/>
          </p:cNvGraphicFramePr>
          <p:nvPr>
            <p:extLst>
              <p:ext uri="{D42A27DB-BD31-4B8C-83A1-F6EECF244321}">
                <p14:modId xmlns:p14="http://schemas.microsoft.com/office/powerpoint/2010/main" val="2416838329"/>
              </p:ext>
            </p:extLst>
          </p:nvPr>
        </p:nvGraphicFramePr>
        <p:xfrm>
          <a:off x="109728" y="1322545"/>
          <a:ext cx="4770560" cy="1931980"/>
        </p:xfrm>
        <a:graphic>
          <a:graphicData uri="http://schemas.openxmlformats.org/drawingml/2006/table">
            <a:tbl>
              <a:tblPr/>
              <a:tblGrid>
                <a:gridCol w="477056">
                  <a:extLst>
                    <a:ext uri="{9D8B030D-6E8A-4147-A177-3AD203B41FA5}">
                      <a16:colId xmlns:a16="http://schemas.microsoft.com/office/drawing/2014/main" val="3263309948"/>
                    </a:ext>
                  </a:extLst>
                </a:gridCol>
                <a:gridCol w="477056">
                  <a:extLst>
                    <a:ext uri="{9D8B030D-6E8A-4147-A177-3AD203B41FA5}">
                      <a16:colId xmlns:a16="http://schemas.microsoft.com/office/drawing/2014/main" val="2703788228"/>
                    </a:ext>
                  </a:extLst>
                </a:gridCol>
                <a:gridCol w="477056">
                  <a:extLst>
                    <a:ext uri="{9D8B030D-6E8A-4147-A177-3AD203B41FA5}">
                      <a16:colId xmlns:a16="http://schemas.microsoft.com/office/drawing/2014/main" val="4137489031"/>
                    </a:ext>
                  </a:extLst>
                </a:gridCol>
                <a:gridCol w="477056">
                  <a:extLst>
                    <a:ext uri="{9D8B030D-6E8A-4147-A177-3AD203B41FA5}">
                      <a16:colId xmlns:a16="http://schemas.microsoft.com/office/drawing/2014/main" val="2378499388"/>
                    </a:ext>
                  </a:extLst>
                </a:gridCol>
                <a:gridCol w="477056">
                  <a:extLst>
                    <a:ext uri="{9D8B030D-6E8A-4147-A177-3AD203B41FA5}">
                      <a16:colId xmlns:a16="http://schemas.microsoft.com/office/drawing/2014/main" val="2051812191"/>
                    </a:ext>
                  </a:extLst>
                </a:gridCol>
                <a:gridCol w="477056">
                  <a:extLst>
                    <a:ext uri="{9D8B030D-6E8A-4147-A177-3AD203B41FA5}">
                      <a16:colId xmlns:a16="http://schemas.microsoft.com/office/drawing/2014/main" val="917533864"/>
                    </a:ext>
                  </a:extLst>
                </a:gridCol>
                <a:gridCol w="477056">
                  <a:extLst>
                    <a:ext uri="{9D8B030D-6E8A-4147-A177-3AD203B41FA5}">
                      <a16:colId xmlns:a16="http://schemas.microsoft.com/office/drawing/2014/main" val="3860865246"/>
                    </a:ext>
                  </a:extLst>
                </a:gridCol>
                <a:gridCol w="477056">
                  <a:extLst>
                    <a:ext uri="{9D8B030D-6E8A-4147-A177-3AD203B41FA5}">
                      <a16:colId xmlns:a16="http://schemas.microsoft.com/office/drawing/2014/main" val="577470680"/>
                    </a:ext>
                  </a:extLst>
                </a:gridCol>
                <a:gridCol w="477056">
                  <a:extLst>
                    <a:ext uri="{9D8B030D-6E8A-4147-A177-3AD203B41FA5}">
                      <a16:colId xmlns:a16="http://schemas.microsoft.com/office/drawing/2014/main" val="259095409"/>
                    </a:ext>
                  </a:extLst>
                </a:gridCol>
                <a:gridCol w="477056">
                  <a:extLst>
                    <a:ext uri="{9D8B030D-6E8A-4147-A177-3AD203B41FA5}">
                      <a16:colId xmlns:a16="http://schemas.microsoft.com/office/drawing/2014/main" val="1439777608"/>
                    </a:ext>
                  </a:extLst>
                </a:gridCol>
              </a:tblGrid>
              <a:tr h="156365">
                <a:tc>
                  <a:txBody>
                    <a:bodyPr/>
                    <a:lstStyle/>
                    <a:p>
                      <a:pPr algn="ctr" rtl="0" fontAlgn="ctr"/>
                      <a:r>
                        <a:rPr lang="en-US" sz="900" b="0" i="0" u="none" strike="noStrike">
                          <a:solidFill>
                            <a:srgbClr val="000000"/>
                          </a:solidFill>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gridSpan="3">
                  <a:txBody>
                    <a:bodyPr/>
                    <a:lstStyle/>
                    <a:p>
                      <a:pPr algn="ctr" rtl="0" fontAlgn="ctr"/>
                      <a:r>
                        <a:rPr lang="en-US" sz="900" b="1" i="0" u="none" strike="noStrike">
                          <a:solidFill>
                            <a:srgbClr val="000000"/>
                          </a:solidFill>
                          <a:effectLst/>
                          <a:latin typeface="Arial Narrow" panose="020B0606020202030204" pitchFamily="34" charset="0"/>
                        </a:rPr>
                        <a:t>Tung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gridSpan="3">
                  <a:txBody>
                    <a:bodyPr/>
                    <a:lstStyle/>
                    <a:p>
                      <a:pPr algn="ctr" rtl="0" fontAlgn="ctr"/>
                      <a:r>
                        <a:rPr lang="en-US" sz="900" b="1" i="0" u="none" strike="noStrike">
                          <a:solidFill>
                            <a:srgbClr val="000000"/>
                          </a:solidFill>
                          <a:effectLst/>
                          <a:latin typeface="Arial Narrow" panose="020B0606020202030204" pitchFamily="34" charset="0"/>
                        </a:rPr>
                        <a:t>Trung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gridSpan="3">
                  <a:txBody>
                    <a:bodyPr/>
                    <a:lstStyle/>
                    <a:p>
                      <a:pPr algn="ctr" rtl="0" fontAlgn="ctr"/>
                      <a:r>
                        <a:rPr lang="en-US" sz="900" b="1" i="0" u="none" strike="noStrike">
                          <a:solidFill>
                            <a:srgbClr val="000000"/>
                          </a:solidFill>
                          <a:effectLst/>
                          <a:latin typeface="Arial Narrow" panose="020B0606020202030204" pitchFamily="34" charset="0"/>
                        </a:rPr>
                        <a:t>Hoang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67490384"/>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72263063"/>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1863025"/>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790754"/>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7.317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8975452"/>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172629"/>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227887"/>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264957"/>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8852608"/>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917842"/>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7.411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3329447"/>
                  </a:ext>
                </a:extLst>
              </a:tr>
              <a:tr h="156365">
                <a:tc>
                  <a:txBody>
                    <a:bodyPr/>
                    <a:lstStyle/>
                    <a:p>
                      <a:pPr algn="ctr" rtl="0" fontAlgn="ctr"/>
                      <a:r>
                        <a:rPr lang="en-US" sz="900" b="0" i="0" u="none" strike="noStrike">
                          <a:solidFill>
                            <a:srgbClr val="000000"/>
                          </a:solidFill>
                          <a:effectLst/>
                          <a:latin typeface="Arial Narrow" panose="020B060602020203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3567591"/>
                  </a:ext>
                </a:extLst>
              </a:tr>
            </a:tbl>
          </a:graphicData>
        </a:graphic>
      </p:graphicFrame>
      <p:sp>
        <p:nvSpPr>
          <p:cNvPr id="3" name="사각형: 둥근 모서리 2">
            <a:extLst>
              <a:ext uri="{FF2B5EF4-FFF2-40B4-BE49-F238E27FC236}">
                <a16:creationId xmlns:a16="http://schemas.microsoft.com/office/drawing/2014/main" id="{920028A9-F5B6-6F45-4125-093F2AB50A85}"/>
              </a:ext>
            </a:extLst>
          </p:cNvPr>
          <p:cNvSpPr/>
          <p:nvPr/>
        </p:nvSpPr>
        <p:spPr>
          <a:xfrm>
            <a:off x="5102357" y="-1666973"/>
            <a:ext cx="5450380" cy="1252843"/>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ko-KR" sz="1200" dirty="0"/>
              <a:t>11st, Nov. Ken Park</a:t>
            </a:r>
          </a:p>
          <a:p>
            <a:r>
              <a:rPr lang="en-US" altLang="ko-KR" sz="1200" dirty="0"/>
              <a:t>You measure the 139 dimension for MSA. Does it mean that is this dimension is Project Y?</a:t>
            </a:r>
          </a:p>
          <a:p>
            <a:r>
              <a:rPr lang="en-US" altLang="ko-KR" sz="1200" dirty="0"/>
              <a:t>You have to implement MSA with Project Y</a:t>
            </a:r>
          </a:p>
        </p:txBody>
      </p:sp>
      <p:cxnSp>
        <p:nvCxnSpPr>
          <p:cNvPr id="15" name="직선 화살표 연결선 14">
            <a:extLst>
              <a:ext uri="{FF2B5EF4-FFF2-40B4-BE49-F238E27FC236}">
                <a16:creationId xmlns:a16="http://schemas.microsoft.com/office/drawing/2014/main" id="{7F22601D-C958-D9F4-9E48-C130F04D0BDD}"/>
              </a:ext>
            </a:extLst>
          </p:cNvPr>
          <p:cNvCxnSpPr>
            <a:cxnSpLocks/>
            <a:stCxn id="3" idx="1"/>
          </p:cNvCxnSpPr>
          <p:nvPr/>
        </p:nvCxnSpPr>
        <p:spPr>
          <a:xfrm flipH="1">
            <a:off x="4428223" y="-1040551"/>
            <a:ext cx="674134" cy="157425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0" name="사각형: 둥근 모서리 19">
            <a:extLst>
              <a:ext uri="{FF2B5EF4-FFF2-40B4-BE49-F238E27FC236}">
                <a16:creationId xmlns:a16="http://schemas.microsoft.com/office/drawing/2014/main" id="{76BCC57E-ADF3-9AE1-170B-79AE9B159FF2}"/>
              </a:ext>
            </a:extLst>
          </p:cNvPr>
          <p:cNvSpPr/>
          <p:nvPr/>
        </p:nvSpPr>
        <p:spPr>
          <a:xfrm>
            <a:off x="-6673613" y="1836193"/>
            <a:ext cx="5450380" cy="1252843"/>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ko-KR" sz="1200" dirty="0"/>
              <a:t>11st, Nov. Ken Park</a:t>
            </a:r>
          </a:p>
          <a:p>
            <a:r>
              <a:rPr lang="en-US" altLang="ko-KR" sz="1200" dirty="0"/>
              <a:t>I think that you should randomize runs within operators</a:t>
            </a:r>
          </a:p>
        </p:txBody>
      </p:sp>
      <p:cxnSp>
        <p:nvCxnSpPr>
          <p:cNvPr id="21" name="직선 화살표 연결선 20">
            <a:extLst>
              <a:ext uri="{FF2B5EF4-FFF2-40B4-BE49-F238E27FC236}">
                <a16:creationId xmlns:a16="http://schemas.microsoft.com/office/drawing/2014/main" id="{D98E7B6C-93D2-9B89-9A81-9313E6C6A9CC}"/>
              </a:ext>
            </a:extLst>
          </p:cNvPr>
          <p:cNvCxnSpPr>
            <a:cxnSpLocks/>
            <a:stCxn id="20" idx="3"/>
          </p:cNvCxnSpPr>
          <p:nvPr/>
        </p:nvCxnSpPr>
        <p:spPr>
          <a:xfrm flipV="1">
            <a:off x="-1223233" y="1948967"/>
            <a:ext cx="1244394" cy="51364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rotWithShape="1">
          <a:blip r:embed="rId2"/>
          <a:srcRect t="16442" b="8086"/>
          <a:stretch/>
        </p:blipFill>
        <p:spPr>
          <a:xfrm>
            <a:off x="4919425" y="1321193"/>
            <a:ext cx="1885950" cy="1143000"/>
          </a:xfrm>
          <a:prstGeom prst="rect">
            <a:avLst/>
          </a:prstGeom>
        </p:spPr>
      </p:pic>
      <p:pic>
        <p:nvPicPr>
          <p:cNvPr id="17" name="Picture 16"/>
          <p:cNvPicPr>
            <a:picLocks noChangeAspect="1"/>
          </p:cNvPicPr>
          <p:nvPr/>
        </p:nvPicPr>
        <p:blipFill rotWithShape="1">
          <a:blip r:embed="rId3"/>
          <a:srcRect t="10088" b="19620"/>
          <a:stretch/>
        </p:blipFill>
        <p:spPr>
          <a:xfrm>
            <a:off x="4951790" y="2504504"/>
            <a:ext cx="3171825" cy="1379221"/>
          </a:xfrm>
          <a:prstGeom prst="rect">
            <a:avLst/>
          </a:prstGeom>
        </p:spPr>
      </p:pic>
      <p:pic>
        <p:nvPicPr>
          <p:cNvPr id="22" name="Picture 21"/>
          <p:cNvPicPr>
            <a:picLocks noChangeAspect="1"/>
          </p:cNvPicPr>
          <p:nvPr/>
        </p:nvPicPr>
        <p:blipFill rotWithShape="1">
          <a:blip r:embed="rId4"/>
          <a:srcRect t="12243" b="4392"/>
          <a:stretch/>
        </p:blipFill>
        <p:spPr>
          <a:xfrm>
            <a:off x="4919425" y="3924036"/>
            <a:ext cx="3771900" cy="1699261"/>
          </a:xfrm>
          <a:prstGeom prst="rect">
            <a:avLst/>
          </a:prstGeom>
        </p:spPr>
      </p:pic>
      <p:pic>
        <p:nvPicPr>
          <p:cNvPr id="23" name="Picture 22"/>
          <p:cNvPicPr>
            <a:picLocks noChangeAspect="1"/>
          </p:cNvPicPr>
          <p:nvPr/>
        </p:nvPicPr>
        <p:blipFill>
          <a:blip r:embed="rId5"/>
          <a:stretch>
            <a:fillRect/>
          </a:stretch>
        </p:blipFill>
        <p:spPr>
          <a:xfrm>
            <a:off x="4919425" y="5544885"/>
            <a:ext cx="2209800" cy="428625"/>
          </a:xfrm>
          <a:prstGeom prst="rect">
            <a:avLst/>
          </a:prstGeom>
        </p:spPr>
      </p:pic>
      <p:graphicFrame>
        <p:nvGraphicFramePr>
          <p:cNvPr id="27" name="Object 26"/>
          <p:cNvGraphicFramePr>
            <a:graphicFrameLocks noChangeAspect="1"/>
          </p:cNvGraphicFramePr>
          <p:nvPr>
            <p:extLst>
              <p:ext uri="{D42A27DB-BD31-4B8C-83A1-F6EECF244321}">
                <p14:modId xmlns:p14="http://schemas.microsoft.com/office/powerpoint/2010/main" val="3368754281"/>
              </p:ext>
            </p:extLst>
          </p:nvPr>
        </p:nvGraphicFramePr>
        <p:xfrm>
          <a:off x="-732220" y="1252918"/>
          <a:ext cx="914400" cy="771525"/>
        </p:xfrm>
        <a:graphic>
          <a:graphicData uri="http://schemas.openxmlformats.org/presentationml/2006/ole">
            <mc:AlternateContent xmlns:mc="http://schemas.openxmlformats.org/markup-compatibility/2006">
              <mc:Choice xmlns:v="urn:schemas-microsoft-com:vml" Requires="v">
                <p:oleObj name="Worksheet" showAsIcon="1" r:id="rId6" imgW="914400" imgH="771480" progId="Excel.Sheet.12">
                  <p:embed/>
                </p:oleObj>
              </mc:Choice>
              <mc:Fallback>
                <p:oleObj name="Worksheet" showAsIcon="1" r:id="rId6" imgW="914400" imgH="771480" progId="Excel.Sheet.12">
                  <p:embed/>
                  <p:pic>
                    <p:nvPicPr>
                      <p:cNvPr id="27" name="Object 26"/>
                      <p:cNvPicPr/>
                      <p:nvPr/>
                    </p:nvPicPr>
                    <p:blipFill>
                      <a:blip r:embed="rId7"/>
                      <a:stretch>
                        <a:fillRect/>
                      </a:stretch>
                    </p:blipFill>
                    <p:spPr>
                      <a:xfrm>
                        <a:off x="-732220" y="1252918"/>
                        <a:ext cx="914400" cy="771525"/>
                      </a:xfrm>
                      <a:prstGeom prst="rect">
                        <a:avLst/>
                      </a:prstGeom>
                    </p:spPr>
                  </p:pic>
                </p:oleObj>
              </mc:Fallback>
            </mc:AlternateContent>
          </a:graphicData>
        </a:graphic>
      </p:graphicFrame>
      <p:sp>
        <p:nvSpPr>
          <p:cNvPr id="28" name="Rectangle 27"/>
          <p:cNvSpPr/>
          <p:nvPr/>
        </p:nvSpPr>
        <p:spPr>
          <a:xfrm>
            <a:off x="7658100" y="2838450"/>
            <a:ext cx="465515" cy="77152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7200899" y="4197786"/>
            <a:ext cx="1400175" cy="50756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3979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48758" y="34823"/>
            <a:ext cx="2482292" cy="327339"/>
            <a:chOff x="7343533" y="113200"/>
            <a:chExt cx="2482292" cy="327339"/>
          </a:xfrm>
        </p:grpSpPr>
        <p:sp>
          <p:nvSpPr>
            <p:cNvPr id="7" name="AutoShape 5"/>
            <p:cNvSpPr>
              <a:spLocks noChangeArrowheads="1"/>
            </p:cNvSpPr>
            <p:nvPr/>
          </p:nvSpPr>
          <p:spPr bwMode="auto">
            <a:xfrm>
              <a:off x="7343533" y="113200"/>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22322" y="113200"/>
              <a:ext cx="592137" cy="323850"/>
            </a:xfrm>
            <a:prstGeom prst="chevron">
              <a:avLst>
                <a:gd name="adj" fmla="val 51443"/>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26" name="TextBox 25"/>
          <p:cNvSpPr txBox="1"/>
          <p:nvPr/>
        </p:nvSpPr>
        <p:spPr>
          <a:xfrm>
            <a:off x="73152" y="69580"/>
            <a:ext cx="1965603" cy="369332"/>
          </a:xfrm>
          <a:prstGeom prst="rect">
            <a:avLst/>
          </a:prstGeom>
          <a:noFill/>
        </p:spPr>
        <p:txBody>
          <a:bodyPr wrap="none" rtlCol="0">
            <a:spAutoFit/>
          </a:bodyPr>
          <a:lstStyle/>
          <a:p>
            <a:r>
              <a:rPr lang="en-US">
                <a:latin typeface="Arial Narrow" panose="020B0606020202030204" pitchFamily="34" charset="0"/>
              </a:rPr>
              <a:t>Result for Gage R&amp;R</a:t>
            </a:r>
          </a:p>
        </p:txBody>
      </p:sp>
      <p:graphicFrame>
        <p:nvGraphicFramePr>
          <p:cNvPr id="30" name="Table 29">
            <a:extLst>
              <a:ext uri="{FF2B5EF4-FFF2-40B4-BE49-F238E27FC236}">
                <a16:creationId xmlns:a16="http://schemas.microsoft.com/office/drawing/2014/main" id="{29CFC5F8-9B6B-4193-9E22-7AD86401E001}"/>
              </a:ext>
            </a:extLst>
          </p:cNvPr>
          <p:cNvGraphicFramePr>
            <a:graphicFrameLocks noGrp="1"/>
          </p:cNvGraphicFramePr>
          <p:nvPr>
            <p:extLst>
              <p:ext uri="{D42A27DB-BD31-4B8C-83A1-F6EECF244321}">
                <p14:modId xmlns:p14="http://schemas.microsoft.com/office/powerpoint/2010/main" val="3154976417"/>
              </p:ext>
            </p:extLst>
          </p:nvPr>
        </p:nvGraphicFramePr>
        <p:xfrm>
          <a:off x="89622" y="551307"/>
          <a:ext cx="4796166" cy="685800"/>
        </p:xfrm>
        <a:graphic>
          <a:graphicData uri="http://schemas.openxmlformats.org/drawingml/2006/table">
            <a:tbl>
              <a:tblPr/>
              <a:tblGrid>
                <a:gridCol w="707492">
                  <a:extLst>
                    <a:ext uri="{9D8B030D-6E8A-4147-A177-3AD203B41FA5}">
                      <a16:colId xmlns:a16="http://schemas.microsoft.com/office/drawing/2014/main" val="20000"/>
                    </a:ext>
                  </a:extLst>
                </a:gridCol>
                <a:gridCol w="1116911">
                  <a:extLst>
                    <a:ext uri="{9D8B030D-6E8A-4147-A177-3AD203B41FA5}">
                      <a16:colId xmlns:a16="http://schemas.microsoft.com/office/drawing/2014/main" val="20001"/>
                    </a:ext>
                  </a:extLst>
                </a:gridCol>
                <a:gridCol w="672710">
                  <a:extLst>
                    <a:ext uri="{9D8B030D-6E8A-4147-A177-3AD203B41FA5}">
                      <a16:colId xmlns:a16="http://schemas.microsoft.com/office/drawing/2014/main" val="20002"/>
                    </a:ext>
                  </a:extLst>
                </a:gridCol>
                <a:gridCol w="1279919">
                  <a:extLst>
                    <a:ext uri="{9D8B030D-6E8A-4147-A177-3AD203B41FA5}">
                      <a16:colId xmlns:a16="http://schemas.microsoft.com/office/drawing/2014/main" val="20003"/>
                    </a:ext>
                  </a:extLst>
                </a:gridCol>
                <a:gridCol w="482891">
                  <a:extLst>
                    <a:ext uri="{9D8B030D-6E8A-4147-A177-3AD203B41FA5}">
                      <a16:colId xmlns:a16="http://schemas.microsoft.com/office/drawing/2014/main" val="20004"/>
                    </a:ext>
                  </a:extLst>
                </a:gridCol>
                <a:gridCol w="536243">
                  <a:extLst>
                    <a:ext uri="{9D8B030D-6E8A-4147-A177-3AD203B41FA5}">
                      <a16:colId xmlns:a16="http://schemas.microsoft.com/office/drawing/2014/main" val="20005"/>
                    </a:ext>
                  </a:extLst>
                </a:gridCol>
              </a:tblGrid>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Arial Narrow" panose="020B0606020202030204" pitchFamily="34" charset="0"/>
                          <a:ea typeface="LG Smart_H Regular" panose="020B0600000101010101" pitchFamily="34" charset="-127"/>
                        </a:rPr>
                        <a:t>18.Jul</a:t>
                      </a:r>
                      <a:r>
                        <a:rPr lang="vi-VN" sz="900" b="0" i="0" u="none" strike="noStrike">
                          <a:effectLst/>
                          <a:latin typeface="Arial Narrow" panose="020B0606020202030204" pitchFamily="34" charset="0"/>
                          <a:ea typeface="LG Smart_H Regular" panose="020B0600000101010101" pitchFamily="34" charset="-127"/>
                        </a:rPr>
                        <a:t>.202</a:t>
                      </a:r>
                      <a:r>
                        <a:rPr lang="en-US" sz="900" b="0" i="0" u="none" strike="noStrike">
                          <a:effectLst/>
                          <a:latin typeface="Arial Narrow" panose="020B0606020202030204" pitchFamily="34" charset="0"/>
                          <a:ea typeface="LG Smart_H Regular" panose="020B0600000101010101" pitchFamily="34" charset="-127"/>
                        </a:rPr>
                        <a:t>5</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a:effectLst/>
                          <a:latin typeface="Arial Narrow" panose="020B0606020202030204" pitchFamily="34" charset="0"/>
                          <a:ea typeface="LG Smart_H Regular" panose="020B0600000101010101" pitchFamily="34" charset="-127"/>
                        </a:rPr>
                        <a:t>Equip</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Arial Narrow" panose="020B0606020202030204" pitchFamily="34" charset="0"/>
                          <a:ea typeface="LG Smart_H Regular" panose="020B0600000101010101" pitchFamily="34" charset="-127"/>
                        </a:rPr>
                        <a:t>CMM</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Target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Arial Narrow" panose="020B0606020202030204" pitchFamily="34" charset="0"/>
                          <a:ea typeface="LG Smart_H Regular" panose="020B0600000101010101" pitchFamily="34" charset="-127"/>
                        </a:rPr>
                        <a:t>139</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Part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900">
                          <a:latin typeface="Arial Narrow" panose="020B0606020202030204" pitchFamily="34" charset="0"/>
                          <a:ea typeface="LG Smart_H Regular" panose="020B0600000101010101" pitchFamily="34" charset="-127"/>
                        </a:rPr>
                        <a:t>MBN64683301</a:t>
                      </a:r>
                      <a:endParaRPr lang="en-US" altLang="ko-KR" sz="900" dirty="0">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ID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a:solidFill>
                            <a:schemeClr val="tx1"/>
                          </a:solidFill>
                          <a:effectLst/>
                          <a:latin typeface="Arial Narrow" panose="020B0606020202030204" pitchFamily="34" charset="0"/>
                          <a:ea typeface="LG Smart_H Regular" panose="020B0600000101010101" pitchFamily="34" charset="-127"/>
                        </a:rPr>
                        <a:t>IVI</a:t>
                      </a:r>
                      <a:r>
                        <a:rPr lang="en-US" sz="900" b="0" i="0" u="none" strike="noStrike">
                          <a:solidFill>
                            <a:schemeClr val="tx1"/>
                          </a:solidFill>
                          <a:effectLst/>
                          <a:latin typeface="Arial Narrow" panose="020B0606020202030204" pitchFamily="34" charset="0"/>
                          <a:ea typeface="LG Smart_H Regular" panose="020B0600000101010101" pitchFamily="34" charset="-127"/>
                        </a:rPr>
                        <a:t> </a:t>
                      </a:r>
                      <a:r>
                        <a:rPr lang="vi-VN" sz="900" b="0" i="0" u="none" strike="noStrike">
                          <a:solidFill>
                            <a:schemeClr val="tx1"/>
                          </a:solidFill>
                          <a:effectLst/>
                          <a:latin typeface="Arial Narrow" panose="020B0606020202030204" pitchFamily="34" charset="0"/>
                          <a:ea typeface="LG Smart_H Regular" panose="020B0600000101010101" pitchFamily="34" charset="-127"/>
                        </a:rPr>
                        <a:t>-</a:t>
                      </a:r>
                      <a:r>
                        <a:rPr lang="en-US" sz="900" b="0" i="0" u="none" strike="noStrike">
                          <a:solidFill>
                            <a:schemeClr val="tx1"/>
                          </a:solidFill>
                          <a:effectLst/>
                          <a:latin typeface="Arial Narrow" panose="020B0606020202030204" pitchFamily="34" charset="0"/>
                          <a:ea typeface="LG Smart_H Regular" panose="020B0600000101010101" pitchFamily="34" charset="-127"/>
                        </a:rPr>
                        <a:t> </a:t>
                      </a:r>
                      <a:r>
                        <a:rPr lang="vi-VN" sz="900" b="0" i="0" u="none" strike="noStrike">
                          <a:solidFill>
                            <a:schemeClr val="tx1"/>
                          </a:solidFill>
                          <a:effectLst/>
                          <a:latin typeface="Arial Narrow" panose="020B0606020202030204" pitchFamily="34" charset="0"/>
                          <a:ea typeface="LG Smart_H Regular" panose="020B0600000101010101" pitchFamily="34" charset="-127"/>
                        </a:rPr>
                        <a:t>SQA</a:t>
                      </a:r>
                      <a:endParaRPr lang="en-US" sz="900" b="0" i="0" u="none" strike="noStrike" dirty="0">
                        <a:solidFill>
                          <a:schemeClr val="tx1"/>
                        </a:solidFill>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vi-VN" sz="900" b="1" i="0" u="none" strike="noStrike">
                          <a:effectLst/>
                          <a:latin typeface="Arial Narrow" panose="020B0606020202030204" pitchFamily="34" charset="0"/>
                          <a:ea typeface="LG Smart_H Regular" panose="020B0600000101010101" pitchFamily="34" charset="-127"/>
                        </a:rPr>
                        <a:t>+TOL</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a:effectLst/>
                          <a:latin typeface="Arial Narrow" panose="020B0606020202030204" pitchFamily="34" charset="0"/>
                          <a:ea typeface="LG Smart_H Regular" panose="020B0600000101010101" pitchFamily="34" charset="-127"/>
                        </a:rPr>
                        <a:t>+0.</a:t>
                      </a:r>
                      <a:r>
                        <a:rPr lang="en-US" sz="900" b="0" i="0" u="none" strike="noStrike">
                          <a:effectLst/>
                          <a:latin typeface="Arial Narrow" panose="020B0606020202030204" pitchFamily="34" charset="0"/>
                          <a:ea typeface="LG Smart_H Regular" panose="020B0600000101010101" pitchFamily="34" charset="-127"/>
                        </a:rPr>
                        <a:t>3</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Part 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a:latin typeface="Arial Narrow" panose="020B0606020202030204" pitchFamily="34" charset="0"/>
                        </a:rPr>
                        <a:t>Bottom Case</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Resolution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a:effectLst/>
                          <a:latin typeface="Arial Narrow" panose="020B0606020202030204" pitchFamily="34" charset="0"/>
                          <a:ea typeface="LG Smart_H Regular" panose="020B0600000101010101" pitchFamily="34" charset="-127"/>
                        </a:rPr>
                        <a:t>0.0</a:t>
                      </a:r>
                      <a:r>
                        <a:rPr lang="en-US" sz="900" b="0" i="0" u="none" strike="noStrike">
                          <a:effectLst/>
                          <a:latin typeface="Arial Narrow" panose="020B0606020202030204" pitchFamily="34" charset="0"/>
                          <a:ea typeface="LG Smart_H Regular" panose="020B0600000101010101" pitchFamily="34" charset="-127"/>
                        </a:rPr>
                        <a:t>0</a:t>
                      </a:r>
                      <a:r>
                        <a:rPr lang="vi-VN" sz="900" b="0" i="0" u="none" strike="noStrike">
                          <a:effectLst/>
                          <a:latin typeface="Arial Narrow" panose="020B0606020202030204" pitchFamily="34" charset="0"/>
                          <a:ea typeface="LG Smart_H Regular" panose="020B0600000101010101" pitchFamily="34" charset="-127"/>
                        </a:rPr>
                        <a:t>1mm</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vi-VN" sz="900" b="1" i="0" u="none" strike="noStrike">
                          <a:effectLst/>
                          <a:latin typeface="Arial Narrow" panose="020B0606020202030204" pitchFamily="34" charset="0"/>
                          <a:ea typeface="LG Smart_H Regular" panose="020B0600000101010101" pitchFamily="34" charset="-127"/>
                        </a:rPr>
                        <a:t>-TOL</a:t>
                      </a:r>
                      <a:endParaRPr lang="en-US" sz="900" b="1" i="0" u="none" strike="noStrike">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vi-VN" sz="900" b="0">
                          <a:latin typeface="Arial Narrow" panose="020B0606020202030204" pitchFamily="34" charset="0"/>
                        </a:rPr>
                        <a:t>-0.</a:t>
                      </a:r>
                      <a:r>
                        <a:rPr lang="en-US" sz="900" b="0">
                          <a:latin typeface="Arial Narrow" panose="020B0606020202030204" pitchFamily="34"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4179263347"/>
              </p:ext>
            </p:extLst>
          </p:nvPr>
        </p:nvGraphicFramePr>
        <p:xfrm>
          <a:off x="4954249" y="558287"/>
          <a:ext cx="4876801" cy="685800"/>
        </p:xfrm>
        <a:graphic>
          <a:graphicData uri="http://schemas.openxmlformats.org/drawingml/2006/table">
            <a:tbl>
              <a:tblPr firstRow="1" bandRow="1">
                <a:tableStyleId>{5C22544A-7EE6-4342-B048-85BDC9FD1C3A}</a:tableStyleId>
              </a:tblPr>
              <a:tblGrid>
                <a:gridCol w="1577180">
                  <a:extLst>
                    <a:ext uri="{9D8B030D-6E8A-4147-A177-3AD203B41FA5}">
                      <a16:colId xmlns:a16="http://schemas.microsoft.com/office/drawing/2014/main" val="20000"/>
                    </a:ext>
                  </a:extLst>
                </a:gridCol>
                <a:gridCol w="1290610">
                  <a:extLst>
                    <a:ext uri="{9D8B030D-6E8A-4147-A177-3AD203B41FA5}">
                      <a16:colId xmlns:a16="http://schemas.microsoft.com/office/drawing/2014/main" val="20001"/>
                    </a:ext>
                  </a:extLst>
                </a:gridCol>
                <a:gridCol w="2009011">
                  <a:extLst>
                    <a:ext uri="{9D8B030D-6E8A-4147-A177-3AD203B41FA5}">
                      <a16:colId xmlns:a16="http://schemas.microsoft.com/office/drawing/2014/main" val="20002"/>
                    </a:ext>
                  </a:extLst>
                </a:gridCol>
              </a:tblGrid>
              <a:tr h="182880">
                <a:tc>
                  <a:txBody>
                    <a:bodyPr/>
                    <a:lstStyle/>
                    <a:p>
                      <a:r>
                        <a:rPr lang="vi-VN" sz="900">
                          <a:solidFill>
                            <a:schemeClr val="tx1"/>
                          </a:solidFill>
                          <a:latin typeface="Arial Narrow" panose="020B0606020202030204" pitchFamily="34" charset="0"/>
                        </a:rPr>
                        <a:t>Instrument Resolution</a:t>
                      </a:r>
                      <a:endParaRPr lang="en-US" sz="90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90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b="0">
                          <a:solidFill>
                            <a:schemeClr val="tx1"/>
                          </a:solidFill>
                          <a:latin typeface="Arial Narrow" panose="020B0606020202030204" pitchFamily="34" charset="0"/>
                        </a:rPr>
                        <a:t>0.0</a:t>
                      </a:r>
                      <a:r>
                        <a:rPr lang="en-US" sz="900" b="0">
                          <a:solidFill>
                            <a:schemeClr val="tx1"/>
                          </a:solidFill>
                          <a:latin typeface="Arial Narrow" panose="020B0606020202030204" pitchFamily="34" charset="0"/>
                        </a:rPr>
                        <a:t>0</a:t>
                      </a:r>
                      <a:r>
                        <a:rPr lang="vi-VN" sz="900" b="0">
                          <a:solidFill>
                            <a:schemeClr val="tx1"/>
                          </a:solidFill>
                          <a:latin typeface="Arial Narrow" panose="020B0606020202030204" pitchFamily="34" charset="0"/>
                        </a:rPr>
                        <a:t>1</a:t>
                      </a:r>
                      <a:endParaRPr lang="en-US" sz="900" b="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82880">
                <a:tc>
                  <a:txBody>
                    <a:bodyPr/>
                    <a:lstStyle/>
                    <a:p>
                      <a:r>
                        <a:rPr lang="en-US" altLang="ko-KR" sz="900" b="1">
                          <a:latin typeface="Arial Narrow" panose="020B0606020202030204" pitchFamily="34" charset="0"/>
                        </a:rPr>
                        <a:t>Tolerance</a:t>
                      </a:r>
                      <a:r>
                        <a:rPr lang="ko-KR" altLang="en-US" sz="900" b="1">
                          <a:latin typeface="Arial Narrow" panose="020B0606020202030204" pitchFamily="34" charset="0"/>
                        </a:rPr>
                        <a:t>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vi-VN" sz="900">
                          <a:latin typeface="Arial Narrow" panose="020B0606020202030204" pitchFamily="34" charset="0"/>
                        </a:rPr>
                        <a:t>T = USL - LSL</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a:latin typeface="Arial Narrow" panose="020B0606020202030204" pitchFamily="34" charset="0"/>
                        </a:rPr>
                        <a:t>0.</a:t>
                      </a:r>
                      <a:r>
                        <a:rPr lang="en-US" sz="900">
                          <a:latin typeface="Arial Narrow" panose="020B0606020202030204" pitchFamily="34" charset="0"/>
                        </a:rPr>
                        <a:t>6</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82880">
                <a:tc>
                  <a:txBody>
                    <a:bodyPr/>
                    <a:lstStyle/>
                    <a:p>
                      <a:r>
                        <a:rPr lang="en-US" altLang="ko-KR" sz="900" b="1">
                          <a:latin typeface="Arial Narrow" panose="020B0606020202030204" pitchFamily="34" charset="0"/>
                        </a:rPr>
                        <a:t>Decomposition performance</a:t>
                      </a:r>
                      <a:r>
                        <a:rPr lang="ko-KR" altLang="en-US" sz="900" b="1">
                          <a:latin typeface="Arial Narrow" panose="020B0606020202030204" pitchFamily="34" charset="0"/>
                        </a:rPr>
                        <a:t>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vi-VN" sz="900">
                          <a:latin typeface="Arial Narrow" panose="020B0606020202030204" pitchFamily="34" charset="0"/>
                        </a:rPr>
                        <a:t>%RE = (RE / T) * 100%</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a:latin typeface="Arial Narrow" panose="020B0606020202030204" pitchFamily="34" charset="0"/>
                        </a:rPr>
                        <a:t>(</a:t>
                      </a:r>
                      <a:r>
                        <a:rPr lang="vi-VN" sz="900" baseline="0">
                          <a:latin typeface="Arial Narrow" panose="020B0606020202030204" pitchFamily="34" charset="0"/>
                        </a:rPr>
                        <a:t> 0.0</a:t>
                      </a:r>
                      <a:r>
                        <a:rPr lang="en-US" sz="900" baseline="0">
                          <a:latin typeface="Arial Narrow" panose="020B0606020202030204" pitchFamily="34" charset="0"/>
                        </a:rPr>
                        <a:t>0</a:t>
                      </a:r>
                      <a:r>
                        <a:rPr lang="vi-VN" sz="900" baseline="0">
                          <a:latin typeface="Arial Narrow" panose="020B0606020202030204" pitchFamily="34" charset="0"/>
                        </a:rPr>
                        <a:t>1 / 0.</a:t>
                      </a:r>
                      <a:r>
                        <a:rPr lang="en-US" sz="900" baseline="0">
                          <a:latin typeface="Arial Narrow" panose="020B0606020202030204" pitchFamily="34" charset="0"/>
                        </a:rPr>
                        <a:t>6</a:t>
                      </a:r>
                      <a:r>
                        <a:rPr lang="vi-VN" sz="900" baseline="0">
                          <a:latin typeface="Arial Narrow" panose="020B0606020202030204" pitchFamily="34" charset="0"/>
                        </a:rPr>
                        <a:t> ) * 100% = </a:t>
                      </a:r>
                      <a:r>
                        <a:rPr lang="en-US" sz="900" baseline="0">
                          <a:latin typeface="Arial Narrow" panose="020B0606020202030204" pitchFamily="34" charset="0"/>
                        </a:rPr>
                        <a:t>0.167</a:t>
                      </a:r>
                      <a:r>
                        <a:rPr lang="vi-VN" sz="900" baseline="0">
                          <a:latin typeface="Arial Narrow" panose="020B0606020202030204" pitchFamily="34" charset="0"/>
                        </a:rPr>
                        <a:t>% &lt; 5 %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8D621"/>
                    </a:solidFill>
                  </a:tcPr>
                </a:tc>
                <a:extLst>
                  <a:ext uri="{0D108BD9-81ED-4DB2-BD59-A6C34878D82A}">
                    <a16:rowId xmlns:a16="http://schemas.microsoft.com/office/drawing/2014/main" val="10002"/>
                  </a:ext>
                </a:extLst>
              </a:tr>
            </a:tbl>
          </a:graphicData>
        </a:graphic>
      </p:graphicFrame>
      <p:sp>
        <p:nvSpPr>
          <p:cNvPr id="17" name="TextBox 16">
            <a:extLst>
              <a:ext uri="{FF2B5EF4-FFF2-40B4-BE49-F238E27FC236}">
                <a16:creationId xmlns:a16="http://schemas.microsoft.com/office/drawing/2014/main" id="{93A22656-9F83-4EDC-80D1-F4FA79A64016}"/>
              </a:ext>
            </a:extLst>
          </p:cNvPr>
          <p:cNvSpPr txBox="1"/>
          <p:nvPr/>
        </p:nvSpPr>
        <p:spPr>
          <a:xfrm>
            <a:off x="196814" y="5365540"/>
            <a:ext cx="6835141" cy="646331"/>
          </a:xfrm>
          <a:prstGeom prst="rect">
            <a:avLst/>
          </a:prstGeom>
          <a:noFill/>
        </p:spPr>
        <p:txBody>
          <a:bodyPr wrap="none" rtlCol="0">
            <a:spAutoFit/>
          </a:bodyPr>
          <a:lstStyle/>
          <a:p>
            <a:r>
              <a:rPr lang="en-US" altLang="ko-KR" sz="1200">
                <a:solidFill>
                  <a:srgbClr val="00B050"/>
                </a:solidFill>
                <a:latin typeface="LG스마트체 Regular" panose="020B0600000101010101" pitchFamily="50" charset="-127"/>
                <a:ea typeface="LG스마트체 Regular" panose="020B0600000101010101" pitchFamily="50" charset="-127"/>
              </a:rPr>
              <a:t>※ </a:t>
            </a:r>
            <a:r>
              <a:rPr lang="en-US" sz="1200" b="1" u="sng">
                <a:latin typeface="Arial Narrow" panose="020B0606020202030204" pitchFamily="34" charset="0"/>
                <a:ea typeface="LG Smart_H Regular" panose="020B0600000101010101" pitchFamily="34" charset="-127"/>
              </a:rPr>
              <a:t>Conclusion</a:t>
            </a:r>
            <a:r>
              <a:rPr lang="en-US" sz="1200" b="1" u="sng" dirty="0">
                <a:latin typeface="Arial Narrow" panose="020B0606020202030204" pitchFamily="34" charset="0"/>
                <a:ea typeface="LG Smart_H Regular" panose="020B0600000101010101" pitchFamily="34" charset="-127"/>
              </a:rPr>
              <a:t>:</a:t>
            </a:r>
          </a:p>
          <a:p>
            <a:pPr>
              <a:buFontTx/>
              <a:buChar char="-"/>
            </a:pPr>
            <a:r>
              <a:rPr lang="en-US" sz="1200" dirty="0">
                <a:latin typeface="Arial Narrow" panose="020B0606020202030204" pitchFamily="34" charset="0"/>
                <a:ea typeface="LG Smart_H Regular" panose="020B0600000101010101" pitchFamily="34" charset="-127"/>
              </a:rPr>
              <a:t> Based on interaction between samples and inspector, </a:t>
            </a:r>
            <a:r>
              <a:rPr lang="en-GB" sz="1200">
                <a:latin typeface="Arial Narrow" panose="020B0606020202030204" pitchFamily="34" charset="0"/>
                <a:ea typeface="LG Smart_H Regular" panose="020B0600000101010101" pitchFamily="34" charset="-127"/>
              </a:rPr>
              <a:t>we cannot </a:t>
            </a:r>
            <a:r>
              <a:rPr lang="en-GB" sz="1200" dirty="0">
                <a:latin typeface="Arial Narrow" panose="020B0606020202030204" pitchFamily="34" charset="0"/>
                <a:ea typeface="LG Smart_H Regular" panose="020B0600000101010101" pitchFamily="34" charset="-127"/>
              </a:rPr>
              <a:t>see significant differences between 10 samples.</a:t>
            </a:r>
          </a:p>
          <a:p>
            <a:pPr>
              <a:buFontTx/>
              <a:buChar char="-"/>
            </a:pPr>
            <a:r>
              <a:rPr lang="en-US" sz="1200" dirty="0">
                <a:latin typeface="Arial Narrow" panose="020B0606020202030204" pitchFamily="34" charset="0"/>
                <a:ea typeface="LG Smart_H Regular" panose="020B0600000101010101" pitchFamily="34" charset="-127"/>
              </a:rPr>
              <a:t> Inspector’s skill is acceptable. There is no significant differences between 3 operators during each measurement time.</a:t>
            </a:r>
            <a:endParaRPr lang="en-US" sz="1200" b="1" dirty="0">
              <a:latin typeface="Arial Narrow" panose="020B0606020202030204" pitchFamily="34" charset="0"/>
              <a:ea typeface="LG Smart_H Regular" panose="020B0600000101010101" pitchFamily="34" charset="-127"/>
            </a:endParaRPr>
          </a:p>
        </p:txBody>
      </p:sp>
      <p:pic>
        <p:nvPicPr>
          <p:cNvPr id="2" name="Picture 1"/>
          <p:cNvPicPr>
            <a:picLocks noChangeAspect="1"/>
          </p:cNvPicPr>
          <p:nvPr/>
        </p:nvPicPr>
        <p:blipFill>
          <a:blip r:embed="rId2"/>
          <a:stretch>
            <a:fillRect/>
          </a:stretch>
        </p:blipFill>
        <p:spPr>
          <a:xfrm>
            <a:off x="73152" y="1394705"/>
            <a:ext cx="4822698" cy="3661374"/>
          </a:xfrm>
          <a:prstGeom prst="rect">
            <a:avLst/>
          </a:prstGeom>
        </p:spPr>
      </p:pic>
      <p:pic>
        <p:nvPicPr>
          <p:cNvPr id="11" name="Picture 10"/>
          <p:cNvPicPr>
            <a:picLocks noChangeAspect="1"/>
          </p:cNvPicPr>
          <p:nvPr/>
        </p:nvPicPr>
        <p:blipFill>
          <a:blip r:embed="rId3"/>
          <a:stretch>
            <a:fillRect/>
          </a:stretch>
        </p:blipFill>
        <p:spPr>
          <a:xfrm>
            <a:off x="4962525" y="1394705"/>
            <a:ext cx="4868525" cy="3661374"/>
          </a:xfrm>
          <a:prstGeom prst="rect">
            <a:avLst/>
          </a:prstGeom>
        </p:spPr>
      </p:pic>
    </p:spTree>
    <p:extLst>
      <p:ext uri="{BB962C8B-B14F-4D97-AF65-F5344CB8AC3E}">
        <p14:creationId xmlns:p14="http://schemas.microsoft.com/office/powerpoint/2010/main" val="456357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48758" y="34823"/>
            <a:ext cx="2482292" cy="327339"/>
            <a:chOff x="7343533" y="113200"/>
            <a:chExt cx="2482292" cy="327339"/>
          </a:xfrm>
        </p:grpSpPr>
        <p:sp>
          <p:nvSpPr>
            <p:cNvPr id="7" name="AutoShape 5"/>
            <p:cNvSpPr>
              <a:spLocks noChangeArrowheads="1"/>
            </p:cNvSpPr>
            <p:nvPr/>
          </p:nvSpPr>
          <p:spPr bwMode="auto">
            <a:xfrm>
              <a:off x="7343533" y="113200"/>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402463"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22322" y="113200"/>
              <a:ext cx="592137" cy="323850"/>
            </a:xfrm>
            <a:prstGeom prst="chevron">
              <a:avLst>
                <a:gd name="adj" fmla="val 51443"/>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16" name="TextBox 15"/>
          <p:cNvSpPr txBox="1"/>
          <p:nvPr/>
        </p:nvSpPr>
        <p:spPr>
          <a:xfrm>
            <a:off x="73152" y="69580"/>
            <a:ext cx="1816523" cy="369332"/>
          </a:xfrm>
          <a:prstGeom prst="rect">
            <a:avLst/>
          </a:prstGeom>
          <a:noFill/>
        </p:spPr>
        <p:txBody>
          <a:bodyPr wrap="none" rtlCol="0">
            <a:spAutoFit/>
          </a:bodyPr>
          <a:lstStyle/>
          <a:p>
            <a:r>
              <a:rPr lang="en-US">
                <a:latin typeface="Arial Narrow" panose="020B0606020202030204" pitchFamily="34" charset="0"/>
              </a:rPr>
              <a:t>Current sigma level</a:t>
            </a:r>
          </a:p>
        </p:txBody>
      </p:sp>
      <p:sp>
        <p:nvSpPr>
          <p:cNvPr id="23" name="TextBox 22"/>
          <p:cNvSpPr txBox="1"/>
          <p:nvPr/>
        </p:nvSpPr>
        <p:spPr>
          <a:xfrm>
            <a:off x="5481558" y="4210112"/>
            <a:ext cx="4370985" cy="830997"/>
          </a:xfrm>
          <a:prstGeom prst="rect">
            <a:avLst/>
          </a:prstGeom>
          <a:noFill/>
        </p:spPr>
        <p:txBody>
          <a:bodyPr wrap="square" rtlCol="0">
            <a:spAutoFit/>
          </a:bodyPr>
          <a:lstStyle/>
          <a:p>
            <a:r>
              <a:rPr lang="vi-VN" sz="1200" b="1">
                <a:latin typeface="Arial Narrow" panose="020B0606020202030204" pitchFamily="34" charset="0"/>
              </a:rPr>
              <a:t>*** Setup Improvement Goals (Project Y)</a:t>
            </a:r>
          </a:p>
          <a:p>
            <a:r>
              <a:rPr lang="vi-VN" sz="1200" b="1">
                <a:latin typeface="Arial Narrow" panose="020B0606020202030204" pitchFamily="34" charset="0"/>
              </a:rPr>
              <a:t>Specification: 7.4  + 0.15 / - 0.05</a:t>
            </a:r>
          </a:p>
          <a:p>
            <a:r>
              <a:rPr lang="vi-VN" sz="1200">
                <a:latin typeface="Arial Narrow" panose="020B0606020202030204" pitchFamily="34" charset="0"/>
              </a:rPr>
              <a:t>Z Bench </a:t>
            </a:r>
            <a:r>
              <a:rPr lang="en-US" sz="1200">
                <a:latin typeface="Arial Narrow" panose="020B0606020202030204" pitchFamily="34" charset="0"/>
              </a:rPr>
              <a:t>= 0.21</a:t>
            </a:r>
            <a:r>
              <a:rPr lang="vi-VN" sz="1200">
                <a:latin typeface="Arial Narrow" panose="020B0606020202030204" pitchFamily="34" charset="0"/>
              </a:rPr>
              <a:t>   to   4.5</a:t>
            </a:r>
            <a:r>
              <a:rPr lang="en-US" sz="1200">
                <a:latin typeface="Arial Narrow" panose="020B0606020202030204" pitchFamily="34" charset="0"/>
              </a:rPr>
              <a:t> </a:t>
            </a:r>
            <a:r>
              <a:rPr lang="vi-VN" sz="1200">
                <a:latin typeface="Arial Narrow" panose="020B0606020202030204" pitchFamily="34" charset="0"/>
              </a:rPr>
              <a:t>  (Target Sigmal Level = 6 Sigma)</a:t>
            </a:r>
            <a:endParaRPr lang="en-US" sz="1200">
              <a:latin typeface="Arial Narrow" panose="020B0606020202030204" pitchFamily="34" charset="0"/>
            </a:endParaRPr>
          </a:p>
          <a:p>
            <a:r>
              <a:rPr lang="vi-VN" sz="1200" b="1" i="1">
                <a:latin typeface="Arial Narrow" panose="020B0606020202030204" pitchFamily="34" charset="0"/>
              </a:rPr>
              <a:t>Mean: 7.35176 to 7.4</a:t>
            </a:r>
            <a:endParaRPr lang="en-US" sz="1200" b="1" i="1">
              <a:latin typeface="Arial Narrow" panose="020B0606020202030204" pitchFamily="34" charset="0"/>
            </a:endParaRPr>
          </a:p>
        </p:txBody>
      </p:sp>
      <p:grpSp>
        <p:nvGrpSpPr>
          <p:cNvPr id="20" name="Group 19"/>
          <p:cNvGrpSpPr/>
          <p:nvPr/>
        </p:nvGrpSpPr>
        <p:grpSpPr>
          <a:xfrm>
            <a:off x="712381" y="654629"/>
            <a:ext cx="4638250" cy="2737704"/>
            <a:chOff x="717499" y="679917"/>
            <a:chExt cx="4638250" cy="2737704"/>
          </a:xfrm>
        </p:grpSpPr>
        <p:pic>
          <p:nvPicPr>
            <p:cNvPr id="5" name="Picture 4"/>
            <p:cNvPicPr>
              <a:picLocks noChangeAspect="1"/>
            </p:cNvPicPr>
            <p:nvPr/>
          </p:nvPicPr>
          <p:blipFill>
            <a:blip r:embed="rId4"/>
            <a:stretch>
              <a:fillRect/>
            </a:stretch>
          </p:blipFill>
          <p:spPr>
            <a:xfrm>
              <a:off x="717499" y="679917"/>
              <a:ext cx="4106556" cy="2737704"/>
            </a:xfrm>
            <a:prstGeom prst="rect">
              <a:avLst/>
            </a:prstGeom>
          </p:spPr>
        </p:pic>
        <p:sp>
          <p:nvSpPr>
            <p:cNvPr id="28" name="Rounded Rectangle 27"/>
            <p:cNvSpPr/>
            <p:nvPr/>
          </p:nvSpPr>
          <p:spPr>
            <a:xfrm>
              <a:off x="3950281" y="1520138"/>
              <a:ext cx="823629" cy="134701"/>
            </a:xfrm>
            <a:prstGeom prst="roundRect">
              <a:avLst/>
            </a:prstGeom>
            <a:noFill/>
            <a:ln>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p:cNvSpPr/>
            <p:nvPr/>
          </p:nvSpPr>
          <p:spPr>
            <a:xfrm>
              <a:off x="3823282" y="1735854"/>
              <a:ext cx="1532467" cy="472565"/>
            </a:xfrm>
            <a:prstGeom prst="triangle">
              <a:avLst>
                <a:gd name="adj" fmla="val 22099"/>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p:cNvSpPr/>
            <p:nvPr/>
          </p:nvSpPr>
          <p:spPr>
            <a:xfrm>
              <a:off x="3823281" y="2214679"/>
              <a:ext cx="1532467" cy="658414"/>
            </a:xfrm>
            <a:prstGeom prst="roundRect">
              <a:avLst>
                <a:gd name="adj" fmla="val 1806"/>
              </a:avLst>
            </a:prstGeom>
            <a:solidFill>
              <a:schemeClr val="bg1">
                <a:lumMod val="8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Arial Narrow" panose="020B0606020202030204" pitchFamily="34" charset="0"/>
                </a:rPr>
                <a:t>Data</a:t>
              </a:r>
            </a:p>
            <a:p>
              <a:pPr algn="ctr"/>
              <a:r>
                <a:rPr lang="en-US" sz="1100">
                  <a:solidFill>
                    <a:schemeClr val="tx1"/>
                  </a:solidFill>
                  <a:latin typeface="Arial Narrow" panose="020B0606020202030204" pitchFamily="34" charset="0"/>
                </a:rPr>
                <a:t>P value = 0.053 &gt; 0.05</a:t>
              </a:r>
            </a:p>
            <a:p>
              <a:pPr algn="ctr"/>
              <a:r>
                <a:rPr lang="en-US" sz="1100">
                  <a:solidFill>
                    <a:schemeClr val="tx1"/>
                  </a:solidFill>
                  <a:latin typeface="Arial Narrow" panose="020B0606020202030204" pitchFamily="34" charset="0"/>
                </a:rPr>
                <a:t>Normal Distribution</a:t>
              </a:r>
            </a:p>
          </p:txBody>
        </p:sp>
        <p:sp>
          <p:nvSpPr>
            <p:cNvPr id="34" name="Right Arrow 33"/>
            <p:cNvSpPr/>
            <p:nvPr/>
          </p:nvSpPr>
          <p:spPr>
            <a:xfrm>
              <a:off x="3871793" y="2498855"/>
              <a:ext cx="94053" cy="104503"/>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p:cNvGrpSpPr/>
          <p:nvPr/>
        </p:nvGrpSpPr>
        <p:grpSpPr>
          <a:xfrm>
            <a:off x="6048065" y="5095193"/>
            <a:ext cx="2781898" cy="1494941"/>
            <a:chOff x="4967864" y="4345464"/>
            <a:chExt cx="2781898" cy="1494941"/>
          </a:xfrm>
        </p:grpSpPr>
        <p:grpSp>
          <p:nvGrpSpPr>
            <p:cNvPr id="43" name="Group 42"/>
            <p:cNvGrpSpPr/>
            <p:nvPr/>
          </p:nvGrpSpPr>
          <p:grpSpPr>
            <a:xfrm>
              <a:off x="5369548" y="4345464"/>
              <a:ext cx="2380214" cy="1270000"/>
              <a:chOff x="6037909" y="4708769"/>
              <a:chExt cx="2380214" cy="1270000"/>
            </a:xfrm>
          </p:grpSpPr>
          <p:cxnSp>
            <p:nvCxnSpPr>
              <p:cNvPr id="39" name="Straight Connector 38"/>
              <p:cNvCxnSpPr/>
              <p:nvPr/>
            </p:nvCxnSpPr>
            <p:spPr>
              <a:xfrm>
                <a:off x="6037909" y="5978769"/>
                <a:ext cx="238021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351212" y="4708769"/>
                <a:ext cx="926954" cy="127000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100">
                    <a:solidFill>
                      <a:schemeClr val="tx1"/>
                    </a:solidFill>
                    <a:latin typeface="Arial Narrow" panose="020B0606020202030204" pitchFamily="34" charset="0"/>
                  </a:rPr>
                  <a:t>6</a:t>
                </a:r>
              </a:p>
              <a:p>
                <a:pPr algn="ctr"/>
                <a:r>
                  <a:rPr lang="vi-VN" sz="1100" b="1" i="1">
                    <a:solidFill>
                      <a:schemeClr val="bg1">
                        <a:lumMod val="85000"/>
                      </a:schemeClr>
                    </a:solidFill>
                    <a:latin typeface="Arial Narrow" panose="020B0606020202030204" pitchFamily="34" charset="0"/>
                  </a:rPr>
                  <a:t>Z bench + 1.5</a:t>
                </a:r>
                <a:endParaRPr lang="en-US" sz="1200" b="1" i="1">
                  <a:solidFill>
                    <a:schemeClr val="bg1">
                      <a:lumMod val="85000"/>
                    </a:schemeClr>
                  </a:solidFill>
                  <a:latin typeface="Arial Narrow" panose="020B0606020202030204" pitchFamily="34" charset="0"/>
                </a:endParaRPr>
              </a:p>
            </p:txBody>
          </p:sp>
          <p:sp>
            <p:nvSpPr>
              <p:cNvPr id="41" name="Rectangle 40"/>
              <p:cNvSpPr/>
              <p:nvPr/>
            </p:nvSpPr>
            <p:spPr>
              <a:xfrm>
                <a:off x="6131739" y="5444980"/>
                <a:ext cx="977628" cy="524934"/>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100">
                    <a:solidFill>
                      <a:schemeClr val="tx1"/>
                    </a:solidFill>
                    <a:latin typeface="Arial Narrow" panose="020B0606020202030204" pitchFamily="34" charset="0"/>
                  </a:rPr>
                  <a:t>1.71</a:t>
                </a:r>
              </a:p>
              <a:p>
                <a:pPr algn="ctr"/>
                <a:r>
                  <a:rPr lang="vi-VN" sz="1100" b="1" i="1">
                    <a:solidFill>
                      <a:schemeClr val="bg1">
                        <a:lumMod val="85000"/>
                      </a:schemeClr>
                    </a:solidFill>
                    <a:latin typeface="Arial Narrow" panose="020B0606020202030204" pitchFamily="34" charset="0"/>
                  </a:rPr>
                  <a:t>Z bench + 1.5</a:t>
                </a:r>
                <a:endParaRPr lang="en-US" sz="800" b="1" i="1">
                  <a:solidFill>
                    <a:schemeClr val="bg1">
                      <a:lumMod val="85000"/>
                    </a:schemeClr>
                  </a:solidFill>
                  <a:latin typeface="Arial Narrow" panose="020B0606020202030204" pitchFamily="34" charset="0"/>
                </a:endParaRPr>
              </a:p>
            </p:txBody>
          </p:sp>
          <p:sp>
            <p:nvSpPr>
              <p:cNvPr id="42" name="Freeform 379"/>
              <p:cNvSpPr>
                <a:spLocks noChangeAspect="1"/>
              </p:cNvSpPr>
              <p:nvPr/>
            </p:nvSpPr>
            <p:spPr bwMode="auto">
              <a:xfrm rot="20572557">
                <a:off x="6604915" y="4810525"/>
                <a:ext cx="771636" cy="534390"/>
              </a:xfrm>
              <a:custGeom>
                <a:avLst/>
                <a:gdLst>
                  <a:gd name="T0" fmla="*/ 2147483647 w 1006"/>
                  <a:gd name="T1" fmla="*/ 2147483647 h 1032"/>
                  <a:gd name="T2" fmla="*/ 2147483647 w 1006"/>
                  <a:gd name="T3" fmla="*/ 0 h 1032"/>
                  <a:gd name="T4" fmla="*/ 2147483647 w 1006"/>
                  <a:gd name="T5" fmla="*/ 2147483647 h 1032"/>
                  <a:gd name="T6" fmla="*/ 2147483647 w 1006"/>
                  <a:gd name="T7" fmla="*/ 2147483647 h 1032"/>
                  <a:gd name="T8" fmla="*/ 2147483647 w 1006"/>
                  <a:gd name="T9" fmla="*/ 2147483647 h 1032"/>
                  <a:gd name="T10" fmla="*/ 2147483647 w 1006"/>
                  <a:gd name="T11" fmla="*/ 2147483647 h 1032"/>
                  <a:gd name="T12" fmla="*/ 2147483647 w 1006"/>
                  <a:gd name="T13" fmla="*/ 2147483647 h 1032"/>
                  <a:gd name="T14" fmla="*/ 2147483647 w 1006"/>
                  <a:gd name="T15" fmla="*/ 2147483647 h 1032"/>
                  <a:gd name="T16" fmla="*/ 2147483647 w 1006"/>
                  <a:gd name="T17" fmla="*/ 2147483647 h 1032"/>
                  <a:gd name="T18" fmla="*/ 2147483647 w 1006"/>
                  <a:gd name="T19" fmla="*/ 2147483647 h 1032"/>
                  <a:gd name="T20" fmla="*/ 2147483647 w 1006"/>
                  <a:gd name="T21" fmla="*/ 2147483647 h 1032"/>
                  <a:gd name="T22" fmla="*/ 2147483647 w 1006"/>
                  <a:gd name="T23" fmla="*/ 2147483647 h 1032"/>
                  <a:gd name="T24" fmla="*/ 2147483647 w 1006"/>
                  <a:gd name="T25" fmla="*/ 2147483647 h 1032"/>
                  <a:gd name="T26" fmla="*/ 2147483647 w 1006"/>
                  <a:gd name="T27" fmla="*/ 2147483647 h 1032"/>
                  <a:gd name="T28" fmla="*/ 2147483647 w 1006"/>
                  <a:gd name="T29" fmla="*/ 2147483647 h 1032"/>
                  <a:gd name="T30" fmla="*/ 2147483647 w 1006"/>
                  <a:gd name="T31" fmla="*/ 2147483647 h 1032"/>
                  <a:gd name="T32" fmla="*/ 2147483647 w 1006"/>
                  <a:gd name="T33" fmla="*/ 2147483647 h 1032"/>
                  <a:gd name="T34" fmla="*/ 0 w 1006"/>
                  <a:gd name="T35" fmla="*/ 2147483647 h 1032"/>
                  <a:gd name="T36" fmla="*/ 2147483647 w 1006"/>
                  <a:gd name="T37" fmla="*/ 2147483647 h 1032"/>
                  <a:gd name="T38" fmla="*/ 2147483647 w 1006"/>
                  <a:gd name="T39" fmla="*/ 2147483647 h 1032"/>
                  <a:gd name="T40" fmla="*/ 2147483647 w 1006"/>
                  <a:gd name="T41" fmla="*/ 2147483647 h 1032"/>
                  <a:gd name="T42" fmla="*/ 2147483647 w 1006"/>
                  <a:gd name="T43" fmla="*/ 2147483647 h 1032"/>
                  <a:gd name="T44" fmla="*/ 2147483647 w 1006"/>
                  <a:gd name="T45" fmla="*/ 2147483647 h 1032"/>
                  <a:gd name="T46" fmla="*/ 2147483647 w 1006"/>
                  <a:gd name="T47" fmla="*/ 2147483647 h 1032"/>
                  <a:gd name="T48" fmla="*/ 2147483647 w 1006"/>
                  <a:gd name="T49" fmla="*/ 2147483647 h 1032"/>
                  <a:gd name="T50" fmla="*/ 2147483647 w 1006"/>
                  <a:gd name="T51" fmla="*/ 2147483647 h 1032"/>
                  <a:gd name="T52" fmla="*/ 2147483647 w 1006"/>
                  <a:gd name="T53" fmla="*/ 2147483647 h 1032"/>
                  <a:gd name="T54" fmla="*/ 2147483647 w 1006"/>
                  <a:gd name="T55" fmla="*/ 2147483647 h 1032"/>
                  <a:gd name="T56" fmla="*/ 2147483647 w 1006"/>
                  <a:gd name="T57" fmla="*/ 2147483647 h 1032"/>
                  <a:gd name="T58" fmla="*/ 2147483647 w 1006"/>
                  <a:gd name="T59" fmla="*/ 2147483647 h 1032"/>
                  <a:gd name="T60" fmla="*/ 2147483647 w 1006"/>
                  <a:gd name="T61" fmla="*/ 2147483647 h 1032"/>
                  <a:gd name="T62" fmla="*/ 2147483647 w 1006"/>
                  <a:gd name="T63" fmla="*/ 2147483647 h 10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06"/>
                  <a:gd name="T97" fmla="*/ 0 h 1032"/>
                  <a:gd name="T98" fmla="*/ 1006 w 1006"/>
                  <a:gd name="T99" fmla="*/ 1032 h 10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06" h="1032">
                    <a:moveTo>
                      <a:pt x="824" y="289"/>
                    </a:moveTo>
                    <a:lnTo>
                      <a:pt x="824" y="350"/>
                    </a:lnTo>
                    <a:lnTo>
                      <a:pt x="1005" y="194"/>
                    </a:lnTo>
                    <a:lnTo>
                      <a:pt x="841" y="0"/>
                    </a:lnTo>
                    <a:lnTo>
                      <a:pt x="837" y="62"/>
                    </a:lnTo>
                    <a:lnTo>
                      <a:pt x="803" y="53"/>
                    </a:lnTo>
                    <a:lnTo>
                      <a:pt x="765" y="56"/>
                    </a:lnTo>
                    <a:lnTo>
                      <a:pt x="735" y="62"/>
                    </a:lnTo>
                    <a:lnTo>
                      <a:pt x="705" y="65"/>
                    </a:lnTo>
                    <a:lnTo>
                      <a:pt x="670" y="70"/>
                    </a:lnTo>
                    <a:lnTo>
                      <a:pt x="634" y="80"/>
                    </a:lnTo>
                    <a:lnTo>
                      <a:pt x="597" y="93"/>
                    </a:lnTo>
                    <a:lnTo>
                      <a:pt x="568" y="103"/>
                    </a:lnTo>
                    <a:lnTo>
                      <a:pt x="533" y="118"/>
                    </a:lnTo>
                    <a:lnTo>
                      <a:pt x="498" y="133"/>
                    </a:lnTo>
                    <a:lnTo>
                      <a:pt x="474" y="151"/>
                    </a:lnTo>
                    <a:lnTo>
                      <a:pt x="444" y="166"/>
                    </a:lnTo>
                    <a:lnTo>
                      <a:pt x="417" y="188"/>
                    </a:lnTo>
                    <a:lnTo>
                      <a:pt x="386" y="216"/>
                    </a:lnTo>
                    <a:lnTo>
                      <a:pt x="355" y="243"/>
                    </a:lnTo>
                    <a:lnTo>
                      <a:pt x="318" y="286"/>
                    </a:lnTo>
                    <a:lnTo>
                      <a:pt x="281" y="328"/>
                    </a:lnTo>
                    <a:lnTo>
                      <a:pt x="250" y="367"/>
                    </a:lnTo>
                    <a:lnTo>
                      <a:pt x="224" y="404"/>
                    </a:lnTo>
                    <a:lnTo>
                      <a:pt x="198" y="438"/>
                    </a:lnTo>
                    <a:lnTo>
                      <a:pt x="177" y="476"/>
                    </a:lnTo>
                    <a:lnTo>
                      <a:pt x="152" y="521"/>
                    </a:lnTo>
                    <a:lnTo>
                      <a:pt x="133" y="562"/>
                    </a:lnTo>
                    <a:lnTo>
                      <a:pt x="109" y="615"/>
                    </a:lnTo>
                    <a:lnTo>
                      <a:pt x="87" y="672"/>
                    </a:lnTo>
                    <a:lnTo>
                      <a:pt x="72" y="718"/>
                    </a:lnTo>
                    <a:lnTo>
                      <a:pt x="51" y="779"/>
                    </a:lnTo>
                    <a:lnTo>
                      <a:pt x="38" y="820"/>
                    </a:lnTo>
                    <a:lnTo>
                      <a:pt x="31" y="858"/>
                    </a:lnTo>
                    <a:lnTo>
                      <a:pt x="17" y="919"/>
                    </a:lnTo>
                    <a:lnTo>
                      <a:pt x="0" y="1031"/>
                    </a:lnTo>
                    <a:lnTo>
                      <a:pt x="35" y="903"/>
                    </a:lnTo>
                    <a:lnTo>
                      <a:pt x="54" y="851"/>
                    </a:lnTo>
                    <a:lnTo>
                      <a:pt x="69" y="799"/>
                    </a:lnTo>
                    <a:lnTo>
                      <a:pt x="88" y="754"/>
                    </a:lnTo>
                    <a:lnTo>
                      <a:pt x="111" y="714"/>
                    </a:lnTo>
                    <a:lnTo>
                      <a:pt x="132" y="672"/>
                    </a:lnTo>
                    <a:lnTo>
                      <a:pt x="155" y="632"/>
                    </a:lnTo>
                    <a:lnTo>
                      <a:pt x="176" y="598"/>
                    </a:lnTo>
                    <a:lnTo>
                      <a:pt x="201" y="567"/>
                    </a:lnTo>
                    <a:lnTo>
                      <a:pt x="226" y="534"/>
                    </a:lnTo>
                    <a:lnTo>
                      <a:pt x="253" y="508"/>
                    </a:lnTo>
                    <a:lnTo>
                      <a:pt x="272" y="485"/>
                    </a:lnTo>
                    <a:lnTo>
                      <a:pt x="302" y="462"/>
                    </a:lnTo>
                    <a:lnTo>
                      <a:pt x="333" y="433"/>
                    </a:lnTo>
                    <a:lnTo>
                      <a:pt x="361" y="414"/>
                    </a:lnTo>
                    <a:lnTo>
                      <a:pt x="390" y="395"/>
                    </a:lnTo>
                    <a:lnTo>
                      <a:pt x="425" y="370"/>
                    </a:lnTo>
                    <a:lnTo>
                      <a:pt x="466" y="351"/>
                    </a:lnTo>
                    <a:lnTo>
                      <a:pt x="502" y="335"/>
                    </a:lnTo>
                    <a:lnTo>
                      <a:pt x="536" y="323"/>
                    </a:lnTo>
                    <a:lnTo>
                      <a:pt x="573" y="308"/>
                    </a:lnTo>
                    <a:lnTo>
                      <a:pt x="604" y="300"/>
                    </a:lnTo>
                    <a:lnTo>
                      <a:pt x="635" y="295"/>
                    </a:lnTo>
                    <a:lnTo>
                      <a:pt x="675" y="288"/>
                    </a:lnTo>
                    <a:lnTo>
                      <a:pt x="704" y="282"/>
                    </a:lnTo>
                    <a:lnTo>
                      <a:pt x="745" y="280"/>
                    </a:lnTo>
                    <a:lnTo>
                      <a:pt x="778" y="280"/>
                    </a:lnTo>
                    <a:lnTo>
                      <a:pt x="824" y="289"/>
                    </a:lnTo>
                  </a:path>
                </a:pathLst>
              </a:custGeom>
              <a:solidFill>
                <a:srgbClr val="C0504D"/>
              </a:solidFill>
              <a:ln w="19050" cap="rnd">
                <a:noFill/>
                <a:round/>
                <a:headEnd type="none" w="sm" len="sm"/>
                <a:tailEnd type="none" w="sm" len="sm"/>
              </a:ln>
            </p:spPr>
            <p:txBody>
              <a:bodyPr/>
              <a:lstStyle/>
              <a:p>
                <a:pPr latinLnBrk="0">
                  <a:defRPr/>
                </a:pPr>
                <a:endParaRPr lang="ko-KR" altLang="en-US" sz="1000" kern="0"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grpSp>
        <p:sp>
          <p:nvSpPr>
            <p:cNvPr id="53" name="Rectangle 169"/>
            <p:cNvSpPr>
              <a:spLocks noChangeArrowheads="1"/>
            </p:cNvSpPr>
            <p:nvPr>
              <p:custDataLst>
                <p:tags r:id="rId1"/>
              </p:custDataLst>
            </p:nvPr>
          </p:nvSpPr>
          <p:spPr bwMode="auto">
            <a:xfrm>
              <a:off x="4967864" y="5624319"/>
              <a:ext cx="1550104" cy="216086"/>
            </a:xfrm>
            <a:prstGeom prst="rect">
              <a:avLst/>
            </a:prstGeom>
            <a:noFill/>
            <a:ln w="9525" algn="ctr">
              <a:noFill/>
              <a:miter lim="800000"/>
              <a:headEnd/>
              <a:tailEnd/>
            </a:ln>
          </p:spPr>
          <p:txBody>
            <a:bodyPr wrap="none" lIns="92075" tIns="46038" rIns="92075" bIns="46038">
              <a:spAutoFit/>
            </a:bodyPr>
            <a:lstStyle/>
            <a:p>
              <a:pPr lvl="1" defTabSz="762000" eaLnBrk="0" latinLnBrk="0" hangingPunct="0"/>
              <a:r>
                <a:rPr lang="en-US" altLang="ko-KR" sz="800">
                  <a:solidFill>
                    <a:srgbClr val="008000"/>
                  </a:solidFill>
                  <a:latin typeface="LG스마트체 Regular" panose="020B0600000101010101" pitchFamily="50" charset="-127"/>
                  <a:ea typeface="LG스마트체 Regular" panose="020B0600000101010101" pitchFamily="50" charset="-127"/>
                </a:rPr>
                <a:t>Current sigma Level</a:t>
              </a:r>
            </a:p>
          </p:txBody>
        </p:sp>
        <p:sp>
          <p:nvSpPr>
            <p:cNvPr id="54" name="Rectangle 169"/>
            <p:cNvSpPr>
              <a:spLocks noChangeArrowheads="1"/>
            </p:cNvSpPr>
            <p:nvPr>
              <p:custDataLst>
                <p:tags r:id="rId2"/>
              </p:custDataLst>
            </p:nvPr>
          </p:nvSpPr>
          <p:spPr bwMode="auto">
            <a:xfrm>
              <a:off x="6164771" y="5624319"/>
              <a:ext cx="1471557" cy="216086"/>
            </a:xfrm>
            <a:prstGeom prst="rect">
              <a:avLst/>
            </a:prstGeom>
            <a:noFill/>
            <a:ln w="9525" algn="ctr">
              <a:noFill/>
              <a:miter lim="800000"/>
              <a:headEnd/>
              <a:tailEnd/>
            </a:ln>
          </p:spPr>
          <p:txBody>
            <a:bodyPr wrap="none" lIns="92075" tIns="46038" rIns="92075" bIns="46038">
              <a:spAutoFit/>
            </a:bodyPr>
            <a:lstStyle/>
            <a:p>
              <a:pPr lvl="1" defTabSz="762000" eaLnBrk="0" latinLnBrk="0" hangingPunct="0"/>
              <a:r>
                <a:rPr lang="en-US" altLang="ko-KR" sz="800">
                  <a:solidFill>
                    <a:srgbClr val="008000"/>
                  </a:solidFill>
                  <a:latin typeface="LG스마트체 Regular" panose="020B0600000101010101" pitchFamily="50" charset="-127"/>
                  <a:ea typeface="LG스마트체 Regular" panose="020B0600000101010101" pitchFamily="50" charset="-127"/>
                </a:rPr>
                <a:t>Target sigma level</a:t>
              </a:r>
            </a:p>
          </p:txBody>
        </p:sp>
      </p:grpSp>
      <p:sp>
        <p:nvSpPr>
          <p:cNvPr id="11" name="사각형: 둥근 모서리 10">
            <a:extLst>
              <a:ext uri="{FF2B5EF4-FFF2-40B4-BE49-F238E27FC236}">
                <a16:creationId xmlns:a16="http://schemas.microsoft.com/office/drawing/2014/main" id="{6D716873-C46F-B501-4D19-00F1006C6136}"/>
              </a:ext>
            </a:extLst>
          </p:cNvPr>
          <p:cNvSpPr/>
          <p:nvPr/>
        </p:nvSpPr>
        <p:spPr>
          <a:xfrm>
            <a:off x="4149656" y="-2118978"/>
            <a:ext cx="5450380" cy="184369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ko-KR" altLang="en-US" sz="1200" dirty="0"/>
              <a:t>② </a:t>
            </a:r>
            <a:r>
              <a:rPr lang="en-US" altLang="ko-KR" sz="1200" dirty="0"/>
              <a:t>P value is bigger than 0.05 but it’s not that big number.. </a:t>
            </a:r>
          </a:p>
        </p:txBody>
      </p:sp>
      <p:sp>
        <p:nvSpPr>
          <p:cNvPr id="26" name="사각형: 둥근 모서리 25">
            <a:extLst>
              <a:ext uri="{FF2B5EF4-FFF2-40B4-BE49-F238E27FC236}">
                <a16:creationId xmlns:a16="http://schemas.microsoft.com/office/drawing/2014/main" id="{988AAE61-84DB-A491-2FE1-92EA5E834777}"/>
              </a:ext>
            </a:extLst>
          </p:cNvPr>
          <p:cNvSpPr/>
          <p:nvPr/>
        </p:nvSpPr>
        <p:spPr>
          <a:xfrm>
            <a:off x="11293406" y="542997"/>
            <a:ext cx="5450380" cy="184369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ko-KR" altLang="en-US" sz="1200" dirty="0"/>
              <a:t>③ </a:t>
            </a:r>
            <a:r>
              <a:rPr lang="en-US" altLang="ko-KR" sz="1200" dirty="0"/>
              <a:t>Oh, you try to implement RSP(rational sub-grouping). It’s a very nice try but it’s not a clear RSP… I think that you can regard this as Systematic Sampling or Stratified Random Sampling, but not Rational sub-grouping</a:t>
            </a:r>
          </a:p>
          <a:p>
            <a:endParaRPr lang="en-US" altLang="ko-KR" sz="1200" dirty="0"/>
          </a:p>
          <a:p>
            <a:r>
              <a:rPr lang="en-US" altLang="ko-KR" sz="1200" dirty="0"/>
              <a:t>How do you get 5 samples a day? Is it random? Or first / middle / last 5 samples ?</a:t>
            </a:r>
          </a:p>
        </p:txBody>
      </p:sp>
      <p:cxnSp>
        <p:nvCxnSpPr>
          <p:cNvPr id="30" name="직선 화살표 연결선 29">
            <a:extLst>
              <a:ext uri="{FF2B5EF4-FFF2-40B4-BE49-F238E27FC236}">
                <a16:creationId xmlns:a16="http://schemas.microsoft.com/office/drawing/2014/main" id="{685AEA27-4326-73CB-92DD-7F7F119BBF36}"/>
              </a:ext>
            </a:extLst>
          </p:cNvPr>
          <p:cNvCxnSpPr>
            <a:cxnSpLocks/>
          </p:cNvCxnSpPr>
          <p:nvPr/>
        </p:nvCxnSpPr>
        <p:spPr>
          <a:xfrm flipH="1">
            <a:off x="10220231" y="1376714"/>
            <a:ext cx="1968429" cy="15672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7" name="사각형: 둥근 모서리 36">
            <a:extLst>
              <a:ext uri="{FF2B5EF4-FFF2-40B4-BE49-F238E27FC236}">
                <a16:creationId xmlns:a16="http://schemas.microsoft.com/office/drawing/2014/main" id="{212E3CE3-3358-0734-CF10-F271BA4C232F}"/>
              </a:ext>
            </a:extLst>
          </p:cNvPr>
          <p:cNvSpPr/>
          <p:nvPr/>
        </p:nvSpPr>
        <p:spPr>
          <a:xfrm>
            <a:off x="3311415" y="7245303"/>
            <a:ext cx="5450380" cy="747849"/>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As I mentioned</a:t>
            </a:r>
            <a:r>
              <a:rPr lang="ko-KR" altLang="en-US" sz="1200" dirty="0"/>
              <a:t> </a:t>
            </a:r>
            <a:r>
              <a:rPr lang="en-US" altLang="ko-KR" sz="1200" dirty="0"/>
              <a:t>at</a:t>
            </a:r>
            <a:r>
              <a:rPr lang="ko-KR" altLang="en-US" sz="1200" dirty="0"/>
              <a:t> ③</a:t>
            </a:r>
            <a:r>
              <a:rPr lang="en-US" altLang="ko-KR" sz="1200" dirty="0"/>
              <a:t> in this page, it’s not a clear RSP and you’d better to use overall capability</a:t>
            </a:r>
          </a:p>
        </p:txBody>
      </p:sp>
      <p:sp>
        <p:nvSpPr>
          <p:cNvPr id="47" name="사각형: 둥근 모서리 46">
            <a:extLst>
              <a:ext uri="{FF2B5EF4-FFF2-40B4-BE49-F238E27FC236}">
                <a16:creationId xmlns:a16="http://schemas.microsoft.com/office/drawing/2014/main" id="{C7DCBD3C-8CF3-A2C2-4BB7-6BF1098F45D8}"/>
              </a:ext>
            </a:extLst>
          </p:cNvPr>
          <p:cNvSpPr/>
          <p:nvPr/>
        </p:nvSpPr>
        <p:spPr>
          <a:xfrm>
            <a:off x="-4737999" y="6979797"/>
            <a:ext cx="5450380" cy="747849"/>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ko-KR" altLang="en-US" sz="1200" dirty="0"/>
              <a:t>④ </a:t>
            </a:r>
            <a:r>
              <a:rPr lang="en-US" altLang="ko-KR" sz="1200" dirty="0"/>
              <a:t>As I mentioned</a:t>
            </a:r>
            <a:r>
              <a:rPr lang="ko-KR" altLang="en-US" sz="1200" dirty="0"/>
              <a:t> </a:t>
            </a:r>
            <a:r>
              <a:rPr lang="en-US" altLang="ko-KR" sz="1200" dirty="0"/>
              <a:t>at</a:t>
            </a:r>
            <a:r>
              <a:rPr lang="ko-KR" altLang="en-US" sz="1200" dirty="0"/>
              <a:t> ③</a:t>
            </a:r>
            <a:r>
              <a:rPr lang="en-US" altLang="ko-KR" sz="1200" dirty="0"/>
              <a:t> in this page, it’s not a clear RSP and you’d better to use overall capability</a:t>
            </a:r>
          </a:p>
        </p:txBody>
      </p:sp>
      <p:cxnSp>
        <p:nvCxnSpPr>
          <p:cNvPr id="48" name="직선 화살표 연결선 47">
            <a:extLst>
              <a:ext uri="{FF2B5EF4-FFF2-40B4-BE49-F238E27FC236}">
                <a16:creationId xmlns:a16="http://schemas.microsoft.com/office/drawing/2014/main" id="{1476564C-8535-094C-9723-84BF2DBC8D82}"/>
              </a:ext>
            </a:extLst>
          </p:cNvPr>
          <p:cNvCxnSpPr>
            <a:cxnSpLocks/>
          </p:cNvCxnSpPr>
          <p:nvPr/>
        </p:nvCxnSpPr>
        <p:spPr>
          <a:xfrm flipV="1">
            <a:off x="-4304409" y="6143802"/>
            <a:ext cx="3987450" cy="125702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51" name="그림 50">
            <a:extLst>
              <a:ext uri="{FF2B5EF4-FFF2-40B4-BE49-F238E27FC236}">
                <a16:creationId xmlns:a16="http://schemas.microsoft.com/office/drawing/2014/main" id="{37269733-1C02-EE97-5049-3D568FF63C34}"/>
              </a:ext>
            </a:extLst>
          </p:cNvPr>
          <p:cNvPicPr>
            <a:picLocks noChangeAspect="1"/>
          </p:cNvPicPr>
          <p:nvPr/>
        </p:nvPicPr>
        <p:blipFill>
          <a:blip r:embed="rId5"/>
          <a:stretch>
            <a:fillRect/>
          </a:stretch>
        </p:blipFill>
        <p:spPr>
          <a:xfrm>
            <a:off x="-4523854" y="2543885"/>
            <a:ext cx="3884648" cy="2913486"/>
          </a:xfrm>
          <a:prstGeom prst="rect">
            <a:avLst/>
          </a:prstGeom>
        </p:spPr>
      </p:pic>
      <p:sp>
        <p:nvSpPr>
          <p:cNvPr id="52" name="사각형: 둥근 모서리 51">
            <a:extLst>
              <a:ext uri="{FF2B5EF4-FFF2-40B4-BE49-F238E27FC236}">
                <a16:creationId xmlns:a16="http://schemas.microsoft.com/office/drawing/2014/main" id="{4CD5056F-450C-42BC-6AFD-76C13DA734F4}"/>
              </a:ext>
            </a:extLst>
          </p:cNvPr>
          <p:cNvSpPr/>
          <p:nvPr/>
        </p:nvSpPr>
        <p:spPr>
          <a:xfrm>
            <a:off x="-4468967" y="785585"/>
            <a:ext cx="4316567" cy="747849"/>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ko-KR" altLang="en-US" sz="1200" dirty="0"/>
              <a:t>⑤</a:t>
            </a:r>
            <a:r>
              <a:rPr lang="en-US" altLang="ko-KR" sz="1200" dirty="0"/>
              <a:t> It’s my </a:t>
            </a:r>
            <a:r>
              <a:rPr lang="en-US" altLang="ko-KR" sz="1200" dirty="0" err="1"/>
              <a:t>minitab</a:t>
            </a:r>
            <a:r>
              <a:rPr lang="en-US" altLang="ko-KR" sz="1200" dirty="0"/>
              <a:t> result and it’s different with yours because I don’t think that it’s RSP so, I use 50 as sub-group </a:t>
            </a:r>
            <a:r>
              <a:rPr lang="en-US" altLang="ko-KR" sz="1200"/>
              <a:t>size.</a:t>
            </a:r>
            <a:endParaRPr lang="vi-VN" altLang="ko-KR" sz="1200"/>
          </a:p>
          <a:p>
            <a:r>
              <a:rPr lang="vi-VN" altLang="ko-KR" sz="1200"/>
              <a:t>I already run again, maybe mistake a few data but P value correct</a:t>
            </a:r>
            <a:endParaRPr lang="en-US" altLang="ko-KR" sz="1200" dirty="0"/>
          </a:p>
        </p:txBody>
      </p:sp>
      <p:cxnSp>
        <p:nvCxnSpPr>
          <p:cNvPr id="55" name="직선 화살표 연결선 54">
            <a:extLst>
              <a:ext uri="{FF2B5EF4-FFF2-40B4-BE49-F238E27FC236}">
                <a16:creationId xmlns:a16="http://schemas.microsoft.com/office/drawing/2014/main" id="{080D01BC-445F-8611-0254-591A27C0CA3F}"/>
              </a:ext>
            </a:extLst>
          </p:cNvPr>
          <p:cNvCxnSpPr>
            <a:cxnSpLocks/>
            <a:stCxn id="52" idx="2"/>
            <a:endCxn id="51" idx="0"/>
          </p:cNvCxnSpPr>
          <p:nvPr/>
        </p:nvCxnSpPr>
        <p:spPr>
          <a:xfrm flipH="1">
            <a:off x="-2581530" y="1533434"/>
            <a:ext cx="270847" cy="1010451"/>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8" name="사각형: 둥근 모서리 57">
            <a:extLst>
              <a:ext uri="{FF2B5EF4-FFF2-40B4-BE49-F238E27FC236}">
                <a16:creationId xmlns:a16="http://schemas.microsoft.com/office/drawing/2014/main" id="{937CEA65-F702-9E61-3B8B-93F07F0884BD}"/>
              </a:ext>
            </a:extLst>
          </p:cNvPr>
          <p:cNvSpPr/>
          <p:nvPr/>
        </p:nvSpPr>
        <p:spPr>
          <a:xfrm>
            <a:off x="-1583705" y="-2118978"/>
            <a:ext cx="5450380" cy="184369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ko-KR" altLang="en-US" sz="1200" dirty="0"/>
              <a:t>① </a:t>
            </a:r>
            <a:r>
              <a:rPr lang="en-US" altLang="ko-KR" sz="1200" dirty="0"/>
              <a:t>Oh…. You</a:t>
            </a:r>
            <a:r>
              <a:rPr lang="ko-KR" altLang="en-US" sz="1200" dirty="0"/>
              <a:t> </a:t>
            </a:r>
            <a:r>
              <a:rPr lang="en-US" altLang="ko-KR" sz="1200" dirty="0"/>
              <a:t>check</a:t>
            </a:r>
            <a:r>
              <a:rPr lang="ko-KR" altLang="en-US" sz="1200" dirty="0"/>
              <a:t> </a:t>
            </a:r>
            <a:r>
              <a:rPr lang="en-US" altLang="ko-KR" sz="1200" dirty="0"/>
              <a:t>current sigma level with 7 dimension.</a:t>
            </a:r>
          </a:p>
          <a:p>
            <a:r>
              <a:rPr lang="en-US" altLang="ko-KR" sz="1200" dirty="0"/>
              <a:t>Is it a Project Y?? You use 139 dimension in MSA at page 7, 8. </a:t>
            </a:r>
          </a:p>
          <a:p>
            <a:endParaRPr lang="en-US" altLang="ko-KR" sz="1200" dirty="0"/>
          </a:p>
          <a:p>
            <a:r>
              <a:rPr lang="en-US" altLang="ko-KR" sz="1200" dirty="0"/>
              <a:t>You have to define what dimension is Project Y and you have to implement MSA and check current sigma level with this Project Y dimension.</a:t>
            </a:r>
          </a:p>
        </p:txBody>
      </p:sp>
      <p:grpSp>
        <p:nvGrpSpPr>
          <p:cNvPr id="73" name="Group 72"/>
          <p:cNvGrpSpPr/>
          <p:nvPr/>
        </p:nvGrpSpPr>
        <p:grpSpPr>
          <a:xfrm>
            <a:off x="215178" y="3498636"/>
            <a:ext cx="5279199" cy="3084946"/>
            <a:chOff x="215178" y="3498636"/>
            <a:chExt cx="5279199" cy="3084946"/>
          </a:xfrm>
        </p:grpSpPr>
        <p:pic>
          <p:nvPicPr>
            <p:cNvPr id="49" name="Picture 48"/>
            <p:cNvPicPr>
              <a:picLocks noChangeAspect="1"/>
            </p:cNvPicPr>
            <p:nvPr/>
          </p:nvPicPr>
          <p:blipFill>
            <a:blip r:embed="rId6"/>
            <a:stretch>
              <a:fillRect/>
            </a:stretch>
          </p:blipFill>
          <p:spPr>
            <a:xfrm>
              <a:off x="697568" y="3498636"/>
              <a:ext cx="4113262" cy="3084946"/>
            </a:xfrm>
            <a:prstGeom prst="rect">
              <a:avLst/>
            </a:prstGeom>
          </p:spPr>
        </p:pic>
        <p:sp>
          <p:nvSpPr>
            <p:cNvPr id="57" name="Isosceles Triangle 56"/>
            <p:cNvSpPr/>
            <p:nvPr/>
          </p:nvSpPr>
          <p:spPr>
            <a:xfrm>
              <a:off x="215178" y="4506702"/>
              <a:ext cx="1532467" cy="472565"/>
            </a:xfrm>
            <a:prstGeom prst="triangle">
              <a:avLst>
                <a:gd name="adj" fmla="val 82320"/>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p:cNvSpPr/>
            <p:nvPr/>
          </p:nvSpPr>
          <p:spPr>
            <a:xfrm>
              <a:off x="215179" y="4989017"/>
              <a:ext cx="1532467" cy="455779"/>
            </a:xfrm>
            <a:prstGeom prst="roundRect">
              <a:avLst>
                <a:gd name="adj" fmla="val 1806"/>
              </a:avLst>
            </a:prstGeom>
            <a:solidFill>
              <a:schemeClr val="bg1">
                <a:lumMod val="8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Arial Narrow" panose="020B0606020202030204" pitchFamily="34" charset="0"/>
                </a:rPr>
                <a:t>Current status</a:t>
              </a:r>
            </a:p>
            <a:p>
              <a:pPr algn="ctr"/>
              <a:r>
                <a:rPr lang="en-US" sz="1100">
                  <a:solidFill>
                    <a:schemeClr val="tx1"/>
                  </a:solidFill>
                  <a:latin typeface="Arial Narrow" panose="020B0606020202030204" pitchFamily="34" charset="0"/>
                </a:rPr>
                <a:t>Sample mean: 7.</a:t>
              </a:r>
              <a:r>
                <a:rPr lang="vi-VN" sz="1100">
                  <a:solidFill>
                    <a:schemeClr val="tx1"/>
                  </a:solidFill>
                  <a:latin typeface="Arial Narrow" panose="020B0606020202030204" pitchFamily="34" charset="0"/>
                </a:rPr>
                <a:t>35176</a:t>
              </a:r>
              <a:endParaRPr lang="en-US" sz="1100">
                <a:solidFill>
                  <a:schemeClr val="tx1"/>
                </a:solidFill>
                <a:latin typeface="Arial Narrow" panose="020B0606020202030204" pitchFamily="34" charset="0"/>
              </a:endParaRPr>
            </a:p>
          </p:txBody>
        </p:sp>
        <p:sp>
          <p:nvSpPr>
            <p:cNvPr id="61" name="Isosceles Triangle 60"/>
            <p:cNvSpPr/>
            <p:nvPr/>
          </p:nvSpPr>
          <p:spPr>
            <a:xfrm>
              <a:off x="3710286" y="4422931"/>
              <a:ext cx="1784091" cy="472565"/>
            </a:xfrm>
            <a:prstGeom prst="triangle">
              <a:avLst>
                <a:gd name="adj" fmla="val 22099"/>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p:cNvSpPr/>
            <p:nvPr/>
          </p:nvSpPr>
          <p:spPr>
            <a:xfrm>
              <a:off x="3710285" y="4901756"/>
              <a:ext cx="1784092" cy="455779"/>
            </a:xfrm>
            <a:prstGeom prst="roundRect">
              <a:avLst>
                <a:gd name="adj" fmla="val 1806"/>
              </a:avLst>
            </a:prstGeom>
            <a:solidFill>
              <a:schemeClr val="bg1">
                <a:lumMod val="8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100" b="1">
                  <a:solidFill>
                    <a:schemeClr val="tx1"/>
                  </a:solidFill>
                  <a:latin typeface="Arial Narrow" panose="020B0606020202030204" pitchFamily="34" charset="0"/>
                </a:rPr>
                <a:t>Z Bench Overall Value = 0.21 confirmed as level</a:t>
              </a:r>
              <a:endParaRPr lang="en-US" sz="1100" dirty="0">
                <a:solidFill>
                  <a:schemeClr val="tx1"/>
                </a:solidFill>
                <a:latin typeface="Arial Narrow" panose="020B0606020202030204" pitchFamily="34" charset="0"/>
              </a:endParaRPr>
            </a:p>
          </p:txBody>
        </p:sp>
      </p:grpSp>
      <p:cxnSp>
        <p:nvCxnSpPr>
          <p:cNvPr id="38" name="직선 화살표 연결선 37">
            <a:extLst>
              <a:ext uri="{FF2B5EF4-FFF2-40B4-BE49-F238E27FC236}">
                <a16:creationId xmlns:a16="http://schemas.microsoft.com/office/drawing/2014/main" id="{A77CA4A4-042C-95DD-83A8-31C1575E5C65}"/>
              </a:ext>
            </a:extLst>
          </p:cNvPr>
          <p:cNvCxnSpPr>
            <a:cxnSpLocks/>
          </p:cNvCxnSpPr>
          <p:nvPr/>
        </p:nvCxnSpPr>
        <p:spPr>
          <a:xfrm flipH="1" flipV="1">
            <a:off x="5557706" y="6944540"/>
            <a:ext cx="892043" cy="195706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65" name="Rounded Rectangle 64"/>
          <p:cNvSpPr/>
          <p:nvPr/>
        </p:nvSpPr>
        <p:spPr>
          <a:xfrm>
            <a:off x="3760767" y="4232555"/>
            <a:ext cx="823629" cy="208890"/>
          </a:xfrm>
          <a:prstGeom prst="roundRect">
            <a:avLst/>
          </a:prstGeom>
          <a:noFill/>
          <a:ln>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ounded Rectangle 65"/>
          <p:cNvSpPr/>
          <p:nvPr/>
        </p:nvSpPr>
        <p:spPr>
          <a:xfrm>
            <a:off x="772545" y="4331104"/>
            <a:ext cx="894330" cy="175351"/>
          </a:xfrm>
          <a:prstGeom prst="roundRect">
            <a:avLst/>
          </a:prstGeom>
          <a:noFill/>
          <a:ln>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9">
            <a:extLst>
              <a:ext uri="{FF2B5EF4-FFF2-40B4-BE49-F238E27FC236}">
                <a16:creationId xmlns:a16="http://schemas.microsoft.com/office/drawing/2014/main" id="{C0366AA9-D089-E807-F8AA-40C003DA53EB}"/>
              </a:ext>
            </a:extLst>
          </p:cNvPr>
          <p:cNvSpPr txBox="1">
            <a:spLocks noChangeArrowheads="1"/>
          </p:cNvSpPr>
          <p:nvPr/>
        </p:nvSpPr>
        <p:spPr bwMode="auto">
          <a:xfrm>
            <a:off x="5414097" y="567818"/>
            <a:ext cx="4505908" cy="867918"/>
          </a:xfrm>
          <a:prstGeom prst="rect">
            <a:avLst/>
          </a:prstGeom>
          <a:noFill/>
          <a:ln w="3175" algn="ctr">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4" rIns="91429" bIns="45714">
            <a:spAutoFit/>
          </a:bodyPr>
          <a:lstStyle>
            <a:defPPr>
              <a:defRPr lang="ko-KR"/>
            </a:defPPr>
            <a:lvl1pPr marL="92075" indent="-92075" latinLnBrk="0">
              <a:lnSpc>
                <a:spcPct val="120000"/>
              </a:lnSpc>
              <a:buFont typeface="Wingdings" panose="05000000000000000000" pitchFamily="2" charset="2"/>
              <a:buChar char="Ø"/>
              <a:defRPr sz="1600" b="0">
                <a:solidFill>
                  <a:srgbClr val="000000"/>
                </a:solidFill>
                <a:latin typeface="Arial Narrow" panose="020B0606020202030204" pitchFamily="34" charset="0"/>
                <a:ea typeface="LG스마트체 Regular" panose="020B0600000101010101" pitchFamily="50" charset="-127"/>
                <a:cs typeface="Tahoma" pitchFamily="34" charset="0"/>
              </a:defRPr>
            </a:lvl1pPr>
            <a:lvl2pPr marL="742950" indent="-285750">
              <a:defRPr sz="1100">
                <a:latin typeface="Arial" panose="020B0604020202020204" pitchFamily="34" charset="0"/>
              </a:defRPr>
            </a:lvl2pPr>
            <a:lvl3pPr marL="1143000" indent="-228600">
              <a:defRPr sz="1100">
                <a:latin typeface="Arial" panose="020B0604020202020204" pitchFamily="34" charset="0"/>
              </a:defRPr>
            </a:lvl3pPr>
            <a:lvl4pPr marL="1600200" indent="-228600">
              <a:defRPr sz="1100">
                <a:latin typeface="Arial" panose="020B0604020202020204" pitchFamily="34" charset="0"/>
              </a:defRPr>
            </a:lvl4pPr>
            <a:lvl5pPr marL="2057400" indent="-228600">
              <a:defRPr sz="1100">
                <a:latin typeface="Arial" panose="020B0604020202020204" pitchFamily="34" charset="0"/>
              </a:defRPr>
            </a:lvl5pPr>
            <a:lvl6pPr marL="2514600" indent="-228600" eaLnBrk="0" fontAlgn="base" hangingPunct="0">
              <a:spcBef>
                <a:spcPct val="0"/>
              </a:spcBef>
              <a:spcAft>
                <a:spcPct val="0"/>
              </a:spcAft>
              <a:defRPr sz="1100">
                <a:latin typeface="Arial" panose="020B0604020202020204" pitchFamily="34" charset="0"/>
              </a:defRPr>
            </a:lvl6pPr>
            <a:lvl7pPr marL="2971800" indent="-228600" eaLnBrk="0" fontAlgn="base" hangingPunct="0">
              <a:spcBef>
                <a:spcPct val="0"/>
              </a:spcBef>
              <a:spcAft>
                <a:spcPct val="0"/>
              </a:spcAft>
              <a:defRPr sz="1100">
                <a:latin typeface="Arial" panose="020B0604020202020204" pitchFamily="34" charset="0"/>
              </a:defRPr>
            </a:lvl7pPr>
            <a:lvl8pPr marL="3429000" indent="-228600" eaLnBrk="0" fontAlgn="base" hangingPunct="0">
              <a:spcBef>
                <a:spcPct val="0"/>
              </a:spcBef>
              <a:spcAft>
                <a:spcPct val="0"/>
              </a:spcAft>
              <a:defRPr sz="1100">
                <a:latin typeface="Arial" panose="020B0604020202020204" pitchFamily="34" charset="0"/>
              </a:defRPr>
            </a:lvl8pPr>
            <a:lvl9pPr marL="3886200" indent="-228600" eaLnBrk="0" fontAlgn="base" hangingPunct="0">
              <a:spcBef>
                <a:spcPct val="0"/>
              </a:spcBef>
              <a:spcAft>
                <a:spcPct val="0"/>
              </a:spcAft>
              <a:defRPr sz="1100">
                <a:latin typeface="Arial" panose="020B0604020202020204" pitchFamily="34" charset="0"/>
              </a:defRPr>
            </a:lvl9pPr>
          </a:lstStyle>
          <a:p>
            <a:pPr marL="0" indent="0">
              <a:buNone/>
            </a:pPr>
            <a:r>
              <a:rPr lang="vi-VN" altLang="ko-KR" sz="1050" b="1"/>
              <a:t>Information</a:t>
            </a:r>
          </a:p>
          <a:p>
            <a:pPr marL="0" indent="0">
              <a:buNone/>
            </a:pPr>
            <a:r>
              <a:rPr lang="vi-VN" altLang="ko-KR" sz="1050" b="1"/>
              <a:t>L</a:t>
            </a:r>
            <a:r>
              <a:rPr lang="en-US" altLang="ko-KR" sz="1050" b="1"/>
              <a:t>ot </a:t>
            </a:r>
            <a:r>
              <a:rPr lang="en-US" altLang="ko-KR" sz="1050" b="1" dirty="0"/>
              <a:t>Name: </a:t>
            </a:r>
            <a:r>
              <a:rPr lang="en-US" altLang="ko-KR" sz="1050" dirty="0"/>
              <a:t>Current Level Inspection Sample</a:t>
            </a:r>
          </a:p>
          <a:p>
            <a:pPr marL="0" indent="0">
              <a:buNone/>
            </a:pPr>
            <a:r>
              <a:rPr lang="en-US" altLang="ko-KR" sz="1050" b="1"/>
              <a:t>Production </a:t>
            </a:r>
            <a:r>
              <a:rPr lang="en-US" altLang="ko-KR" sz="1050" b="1" dirty="0"/>
              <a:t>Date: </a:t>
            </a:r>
            <a:r>
              <a:rPr lang="en-US" altLang="ko-KR" sz="1050" dirty="0"/>
              <a:t>September 11</a:t>
            </a:r>
            <a:r>
              <a:rPr lang="en-US" altLang="ko-KR" sz="1050"/>
              <a:t>, 2025</a:t>
            </a:r>
            <a:endParaRPr lang="vi-VN" altLang="ko-KR" sz="1050"/>
          </a:p>
          <a:p>
            <a:pPr marL="0" indent="0">
              <a:buNone/>
            </a:pPr>
            <a:r>
              <a:rPr lang="en-US" altLang="ko-KR" sz="1050" b="1"/>
              <a:t>Sampling </a:t>
            </a:r>
            <a:r>
              <a:rPr lang="en-US" altLang="ko-KR" sz="1050" b="1" dirty="0"/>
              <a:t>method: </a:t>
            </a:r>
            <a:r>
              <a:rPr lang="en-US" altLang="ko-KR" sz="1050"/>
              <a:t>Random Sampling</a:t>
            </a:r>
            <a:endParaRPr lang="en-US" altLang="ko-KR" sz="1050" dirty="0"/>
          </a:p>
        </p:txBody>
      </p:sp>
      <p:graphicFrame>
        <p:nvGraphicFramePr>
          <p:cNvPr id="71" name="Table 70"/>
          <p:cNvGraphicFramePr>
            <a:graphicFrameLocks noGrp="1"/>
          </p:cNvGraphicFramePr>
          <p:nvPr>
            <p:extLst>
              <p:ext uri="{D42A27DB-BD31-4B8C-83A1-F6EECF244321}">
                <p14:modId xmlns:p14="http://schemas.microsoft.com/office/powerpoint/2010/main" val="229324032"/>
              </p:ext>
            </p:extLst>
          </p:nvPr>
        </p:nvGraphicFramePr>
        <p:xfrm>
          <a:off x="5535015" y="1467464"/>
          <a:ext cx="4296030" cy="2674476"/>
        </p:xfrm>
        <a:graphic>
          <a:graphicData uri="http://schemas.openxmlformats.org/drawingml/2006/table">
            <a:tbl>
              <a:tblPr>
                <a:tableStyleId>{5C22544A-7EE6-4342-B048-85BDC9FD1C3A}</a:tableStyleId>
              </a:tblPr>
              <a:tblGrid>
                <a:gridCol w="429603">
                  <a:extLst>
                    <a:ext uri="{9D8B030D-6E8A-4147-A177-3AD203B41FA5}">
                      <a16:colId xmlns:a16="http://schemas.microsoft.com/office/drawing/2014/main" val="20000"/>
                    </a:ext>
                  </a:extLst>
                </a:gridCol>
                <a:gridCol w="429603">
                  <a:extLst>
                    <a:ext uri="{9D8B030D-6E8A-4147-A177-3AD203B41FA5}">
                      <a16:colId xmlns:a16="http://schemas.microsoft.com/office/drawing/2014/main" val="20001"/>
                    </a:ext>
                  </a:extLst>
                </a:gridCol>
                <a:gridCol w="429603">
                  <a:extLst>
                    <a:ext uri="{9D8B030D-6E8A-4147-A177-3AD203B41FA5}">
                      <a16:colId xmlns:a16="http://schemas.microsoft.com/office/drawing/2014/main" val="20002"/>
                    </a:ext>
                  </a:extLst>
                </a:gridCol>
                <a:gridCol w="429603">
                  <a:extLst>
                    <a:ext uri="{9D8B030D-6E8A-4147-A177-3AD203B41FA5}">
                      <a16:colId xmlns:a16="http://schemas.microsoft.com/office/drawing/2014/main" val="20003"/>
                    </a:ext>
                  </a:extLst>
                </a:gridCol>
                <a:gridCol w="429603">
                  <a:extLst>
                    <a:ext uri="{9D8B030D-6E8A-4147-A177-3AD203B41FA5}">
                      <a16:colId xmlns:a16="http://schemas.microsoft.com/office/drawing/2014/main" val="20004"/>
                    </a:ext>
                  </a:extLst>
                </a:gridCol>
                <a:gridCol w="429603">
                  <a:extLst>
                    <a:ext uri="{9D8B030D-6E8A-4147-A177-3AD203B41FA5}">
                      <a16:colId xmlns:a16="http://schemas.microsoft.com/office/drawing/2014/main" val="20005"/>
                    </a:ext>
                  </a:extLst>
                </a:gridCol>
                <a:gridCol w="429603">
                  <a:extLst>
                    <a:ext uri="{9D8B030D-6E8A-4147-A177-3AD203B41FA5}">
                      <a16:colId xmlns:a16="http://schemas.microsoft.com/office/drawing/2014/main" val="20006"/>
                    </a:ext>
                  </a:extLst>
                </a:gridCol>
                <a:gridCol w="429603">
                  <a:extLst>
                    <a:ext uri="{9D8B030D-6E8A-4147-A177-3AD203B41FA5}">
                      <a16:colId xmlns:a16="http://schemas.microsoft.com/office/drawing/2014/main" val="20007"/>
                    </a:ext>
                  </a:extLst>
                </a:gridCol>
                <a:gridCol w="429603">
                  <a:extLst>
                    <a:ext uri="{9D8B030D-6E8A-4147-A177-3AD203B41FA5}">
                      <a16:colId xmlns:a16="http://schemas.microsoft.com/office/drawing/2014/main" val="20008"/>
                    </a:ext>
                  </a:extLst>
                </a:gridCol>
                <a:gridCol w="429603">
                  <a:extLst>
                    <a:ext uri="{9D8B030D-6E8A-4147-A177-3AD203B41FA5}">
                      <a16:colId xmlns:a16="http://schemas.microsoft.com/office/drawing/2014/main" val="20009"/>
                    </a:ext>
                  </a:extLst>
                </a:gridCol>
              </a:tblGrid>
              <a:tr h="200836">
                <a:tc>
                  <a:txBody>
                    <a:bodyPr/>
                    <a:lstStyle/>
                    <a:p>
                      <a:pPr algn="ctr" rtl="0" fontAlgn="ctr"/>
                      <a:r>
                        <a:rPr lang="en-US" sz="1000" b="1" i="0" u="none" strike="noStrike">
                          <a:solidFill>
                            <a:srgbClr val="000000"/>
                          </a:solidFill>
                          <a:effectLst/>
                          <a:latin typeface="Arial Narrow" panose="020B0606020202030204" pitchFamily="34" charset="0"/>
                        </a:rPr>
                        <a:t>Sample </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Data</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Sample </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Data</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Sample </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Data</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Sample </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Data</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Sample </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ctr" rtl="0" fontAlgn="ctr"/>
                      <a:r>
                        <a:rPr lang="en-US" sz="1000" b="1" i="0" u="none" strike="noStrike">
                          <a:solidFill>
                            <a:srgbClr val="000000"/>
                          </a:solidFill>
                          <a:effectLst/>
                          <a:latin typeface="Arial Narrow" panose="020B0606020202030204" pitchFamily="34" charset="0"/>
                        </a:rPr>
                        <a:t>Data</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7.363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7.376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7.359</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7.359</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7.349</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7.362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7.365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7.363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7.367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7.335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7.367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#48</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#9</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#19</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#29</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7.356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#39</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7.364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#49</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47364">
                <a:tc>
                  <a:txBody>
                    <a:bodyPr/>
                    <a:lstStyle/>
                    <a:p>
                      <a:pPr algn="ctr" rtl="0" fontAlgn="ctr"/>
                      <a:r>
                        <a:rPr lang="en-US" sz="1000" b="1" i="0" u="none" strike="noStrike">
                          <a:solidFill>
                            <a:srgbClr val="000000"/>
                          </a:solidFill>
                          <a:effectLst/>
                          <a:latin typeface="Arial Narrow" panose="020B0606020202030204" pitchFamily="34" charset="0"/>
                        </a:rPr>
                        <a:t>#10</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7.347</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#20</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#30</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#40</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7.346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US" sz="1000" b="1" i="0" u="none" strike="noStrike">
                          <a:solidFill>
                            <a:srgbClr val="000000"/>
                          </a:solidFill>
                          <a:effectLst/>
                          <a:latin typeface="Arial Narrow" panose="020B0606020202030204" pitchFamily="34" charset="0"/>
                        </a:rPr>
                        <a:t>#50</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b"/>
                      <a:r>
                        <a:rPr lang="en-US" sz="1000" b="0" i="0" u="none" strike="noStrike">
                          <a:solidFill>
                            <a:srgbClr val="000000"/>
                          </a:solidFill>
                          <a:effectLst/>
                          <a:latin typeface="Arial Narrow" panose="020B0606020202030204" pitchFamily="34" charset="0"/>
                        </a:rPr>
                        <a:t>7.362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551048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24084" y="2069156"/>
            <a:ext cx="1948739" cy="523220"/>
          </a:xfrm>
          <a:prstGeom prst="rect">
            <a:avLst/>
          </a:prstGeom>
          <a:noFill/>
        </p:spPr>
        <p:txBody>
          <a:bodyPr wrap="none" rtlCol="0">
            <a:spAutoFit/>
          </a:bodyPr>
          <a:lstStyle/>
          <a:p>
            <a:r>
              <a:rPr lang="vi-VN" sz="2800" b="1" u="sng">
                <a:latin typeface="Arial Narrow" panose="020B0606020202030204" pitchFamily="34" charset="0"/>
              </a:rPr>
              <a:t>III</a:t>
            </a:r>
            <a:r>
              <a:rPr lang="en-US" sz="2800" b="1" u="sng">
                <a:latin typeface="Arial Narrow" panose="020B0606020202030204" pitchFamily="34" charset="0"/>
              </a:rPr>
              <a:t>. ANALYZE</a:t>
            </a:r>
          </a:p>
        </p:txBody>
      </p:sp>
      <p:sp>
        <p:nvSpPr>
          <p:cNvPr id="11" name="TextBox 10"/>
          <p:cNvSpPr txBox="1"/>
          <p:nvPr/>
        </p:nvSpPr>
        <p:spPr>
          <a:xfrm>
            <a:off x="3439406" y="2936530"/>
            <a:ext cx="2468946" cy="1046440"/>
          </a:xfrm>
          <a:prstGeom prst="rect">
            <a:avLst/>
          </a:prstGeom>
          <a:noFill/>
        </p:spPr>
        <p:txBody>
          <a:bodyPr wrap="none" rtlCol="0">
            <a:spAutoFit/>
          </a:bodyPr>
          <a:lstStyle/>
          <a:p>
            <a:pPr marL="342900" indent="-342900">
              <a:buAutoNum type="arabicPeriod"/>
            </a:pPr>
            <a:r>
              <a:rPr lang="en-US" sz="1600" b="1">
                <a:latin typeface="Arial Narrow" panose="020B0606020202030204" pitchFamily="34" charset="0"/>
              </a:rPr>
              <a:t>Extract latent Factors</a:t>
            </a:r>
          </a:p>
          <a:p>
            <a:r>
              <a:rPr lang="en-US" sz="1400" b="1">
                <a:latin typeface="Arial Narrow" panose="020B0606020202030204" pitchFamily="34" charset="0"/>
              </a:rPr>
              <a:t>-</a:t>
            </a:r>
            <a:r>
              <a:rPr lang="en-US" sz="1600" b="1">
                <a:latin typeface="Arial Narrow" panose="020B0606020202030204" pitchFamily="34" charset="0"/>
              </a:rPr>
              <a:t>     </a:t>
            </a:r>
            <a:r>
              <a:rPr lang="en-US" sz="1400" b="1">
                <a:latin typeface="Arial Narrow" panose="020B0606020202030204" pitchFamily="34" charset="0"/>
              </a:rPr>
              <a:t>Fishbone</a:t>
            </a:r>
          </a:p>
          <a:p>
            <a:pPr marL="285750" indent="-285750">
              <a:buFontTx/>
              <a:buChar char="-"/>
            </a:pPr>
            <a:r>
              <a:rPr lang="en-US" sz="1400" b="1">
                <a:latin typeface="Arial Narrow" panose="020B0606020202030204" pitchFamily="34" charset="0"/>
              </a:rPr>
              <a:t>Logic tree</a:t>
            </a:r>
          </a:p>
          <a:p>
            <a:pPr marL="342900" indent="-342900">
              <a:buAutoNum type="arabicPeriod" startAt="2"/>
            </a:pPr>
            <a:r>
              <a:rPr lang="en-US" sz="1600" b="1">
                <a:latin typeface="Arial Narrow" panose="020B0606020202030204" pitchFamily="34" charset="0"/>
              </a:rPr>
              <a:t>Selection of Main Factor</a:t>
            </a:r>
            <a:endParaRPr lang="en-US" sz="1400" b="1">
              <a:latin typeface="Arial Narrow" panose="020B0606020202030204" pitchFamily="34" charset="0"/>
            </a:endParaRPr>
          </a:p>
        </p:txBody>
      </p:sp>
    </p:spTree>
    <p:extLst>
      <p:ext uri="{BB962C8B-B14F-4D97-AF65-F5344CB8AC3E}">
        <p14:creationId xmlns:p14="http://schemas.microsoft.com/office/powerpoint/2010/main" val="3212183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81363" y="27941"/>
            <a:ext cx="2449687" cy="334221"/>
            <a:chOff x="7376138" y="106318"/>
            <a:chExt cx="2449687" cy="334221"/>
          </a:xfrm>
        </p:grpSpPr>
        <p:sp>
          <p:nvSpPr>
            <p:cNvPr id="7" name="AutoShape 5"/>
            <p:cNvSpPr>
              <a:spLocks noChangeArrowheads="1"/>
            </p:cNvSpPr>
            <p:nvPr/>
          </p:nvSpPr>
          <p:spPr bwMode="auto">
            <a:xfrm>
              <a:off x="7376138" y="106318"/>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289276" y="106318"/>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54927" y="106318"/>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29" name="TextBox 28"/>
          <p:cNvSpPr txBox="1"/>
          <p:nvPr/>
        </p:nvSpPr>
        <p:spPr>
          <a:xfrm>
            <a:off x="73152" y="69580"/>
            <a:ext cx="1778051" cy="369332"/>
          </a:xfrm>
          <a:prstGeom prst="rect">
            <a:avLst/>
          </a:prstGeom>
          <a:noFill/>
        </p:spPr>
        <p:txBody>
          <a:bodyPr wrap="none" rtlCol="0">
            <a:spAutoFit/>
          </a:bodyPr>
          <a:lstStyle/>
          <a:p>
            <a:r>
              <a:rPr lang="en-US">
                <a:latin typeface="Arial Narrow" panose="020B0606020202030204" pitchFamily="34" charset="0"/>
              </a:rPr>
              <a:t>Find</a:t>
            </a:r>
            <a:r>
              <a:rPr lang="vi-VN">
                <a:latin typeface="Arial Narrow" panose="020B0606020202030204" pitchFamily="34" charset="0"/>
              </a:rPr>
              <a:t> out</a:t>
            </a:r>
            <a:r>
              <a:rPr lang="en-US">
                <a:latin typeface="Arial Narrow" panose="020B0606020202030204" pitchFamily="34" charset="0"/>
              </a:rPr>
              <a:t> the </a:t>
            </a:r>
            <a:r>
              <a:rPr lang="vi-VN">
                <a:latin typeface="Arial Narrow" panose="020B0606020202030204" pitchFamily="34" charset="0"/>
              </a:rPr>
              <a:t>Factor</a:t>
            </a:r>
            <a:endParaRPr lang="en-US">
              <a:latin typeface="Arial Narrow" panose="020B0606020202030204" pitchFamily="34" charset="0"/>
            </a:endParaRPr>
          </a:p>
        </p:txBody>
      </p:sp>
      <p:pic>
        <p:nvPicPr>
          <p:cNvPr id="7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4118773" y="-3326610"/>
            <a:ext cx="1598719" cy="956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TextBox 59"/>
          <p:cNvSpPr txBox="1">
            <a:spLocks noChangeArrowheads="1"/>
          </p:cNvSpPr>
          <p:nvPr/>
        </p:nvSpPr>
        <p:spPr bwMode="auto">
          <a:xfrm>
            <a:off x="359327" y="2275274"/>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#1</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88" name="TextBox 60"/>
          <p:cNvSpPr txBox="1">
            <a:spLocks noChangeArrowheads="1"/>
          </p:cNvSpPr>
          <p:nvPr/>
        </p:nvSpPr>
        <p:spPr bwMode="auto">
          <a:xfrm>
            <a:off x="1336450" y="2273242"/>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#2</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91" name="TextBox 61"/>
          <p:cNvSpPr txBox="1">
            <a:spLocks noChangeArrowheads="1"/>
          </p:cNvSpPr>
          <p:nvPr/>
        </p:nvSpPr>
        <p:spPr bwMode="auto">
          <a:xfrm>
            <a:off x="2244913" y="2279898"/>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C00000"/>
                </a:solidFill>
                <a:latin typeface="Malgun Gothic" panose="020B0503020000020004" pitchFamily="34" charset="-127"/>
                <a:ea typeface="Malgun Gothic" panose="020B0503020000020004" pitchFamily="34" charset="-127"/>
              </a:rPr>
              <a:t>Section #3</a:t>
            </a:r>
            <a:endParaRPr kumimoji="0" lang="ko-KR" altLang="en-US" sz="1000" b="1">
              <a:solidFill>
                <a:srgbClr val="C00000"/>
              </a:solidFill>
              <a:latin typeface="Malgun Gothic" panose="020B0503020000020004" pitchFamily="34" charset="-127"/>
              <a:ea typeface="Malgun Gothic" panose="020B0503020000020004" pitchFamily="34" charset="-127"/>
            </a:endParaRPr>
          </a:p>
        </p:txBody>
      </p:sp>
      <p:sp>
        <p:nvSpPr>
          <p:cNvPr id="92" name="TextBox 62"/>
          <p:cNvSpPr txBox="1">
            <a:spLocks noChangeArrowheads="1"/>
          </p:cNvSpPr>
          <p:nvPr/>
        </p:nvSpPr>
        <p:spPr bwMode="auto">
          <a:xfrm>
            <a:off x="3146352" y="2280617"/>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#4</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93" name="TextBox 63"/>
          <p:cNvSpPr txBox="1">
            <a:spLocks noChangeArrowheads="1"/>
          </p:cNvSpPr>
          <p:nvPr/>
        </p:nvSpPr>
        <p:spPr bwMode="auto">
          <a:xfrm>
            <a:off x="4040478" y="2282841"/>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#5</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94" name="TextBox 64"/>
          <p:cNvSpPr txBox="1">
            <a:spLocks noChangeArrowheads="1"/>
          </p:cNvSpPr>
          <p:nvPr/>
        </p:nvSpPr>
        <p:spPr bwMode="auto">
          <a:xfrm>
            <a:off x="4956383" y="2273242"/>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#6</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95" name="TextBox 65"/>
          <p:cNvSpPr txBox="1">
            <a:spLocks noChangeArrowheads="1"/>
          </p:cNvSpPr>
          <p:nvPr/>
        </p:nvSpPr>
        <p:spPr bwMode="auto">
          <a:xfrm>
            <a:off x="5967002" y="2272923"/>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#7</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96" name="TextBox 66"/>
          <p:cNvSpPr txBox="1">
            <a:spLocks noChangeArrowheads="1"/>
          </p:cNvSpPr>
          <p:nvPr/>
        </p:nvSpPr>
        <p:spPr bwMode="auto">
          <a:xfrm>
            <a:off x="6910715" y="2267191"/>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#8</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97" name="TextBox 67"/>
          <p:cNvSpPr txBox="1">
            <a:spLocks noChangeArrowheads="1"/>
          </p:cNvSpPr>
          <p:nvPr/>
        </p:nvSpPr>
        <p:spPr bwMode="auto">
          <a:xfrm>
            <a:off x="7905258" y="2252967"/>
            <a:ext cx="8306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#9</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98" name="TextBox 68"/>
          <p:cNvSpPr txBox="1">
            <a:spLocks noChangeArrowheads="1"/>
          </p:cNvSpPr>
          <p:nvPr/>
        </p:nvSpPr>
        <p:spPr bwMode="auto">
          <a:xfrm>
            <a:off x="8810074" y="2243020"/>
            <a:ext cx="90441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900">
                <a:solidFill>
                  <a:schemeClr val="tx1"/>
                </a:solidFill>
                <a:latin typeface="Gulim" panose="020B0600000101010101" pitchFamily="34" charset="-127"/>
                <a:ea typeface="Gulim" panose="020B0600000101010101" pitchFamily="34" charset="-127"/>
              </a:defRPr>
            </a:lvl1pPr>
            <a:lvl2pPr>
              <a:defRPr kumimoji="1" sz="1900">
                <a:solidFill>
                  <a:schemeClr val="tx1"/>
                </a:solidFill>
                <a:latin typeface="Gulim" panose="020B0600000101010101" pitchFamily="34" charset="-127"/>
                <a:ea typeface="Gulim" panose="020B0600000101010101" pitchFamily="34" charset="-127"/>
              </a:defRPr>
            </a:lvl2pPr>
            <a:lvl3pPr>
              <a:defRPr kumimoji="1" sz="1900">
                <a:solidFill>
                  <a:schemeClr val="tx1"/>
                </a:solidFill>
                <a:latin typeface="Gulim" panose="020B0600000101010101" pitchFamily="34" charset="-127"/>
                <a:ea typeface="Gulim" panose="020B0600000101010101" pitchFamily="34" charset="-127"/>
              </a:defRPr>
            </a:lvl3pPr>
            <a:lvl4pPr>
              <a:defRPr kumimoji="1" sz="1900">
                <a:solidFill>
                  <a:schemeClr val="tx1"/>
                </a:solidFill>
                <a:latin typeface="Gulim" panose="020B0600000101010101" pitchFamily="34" charset="-127"/>
                <a:ea typeface="Gulim" panose="020B0600000101010101" pitchFamily="34" charset="-127"/>
              </a:defRPr>
            </a:lvl4pPr>
            <a:lvl5pPr>
              <a:defRPr kumimoji="1" sz="1900">
                <a:solidFill>
                  <a:schemeClr val="tx1"/>
                </a:solidFill>
                <a:latin typeface="Gulim" panose="020B0600000101010101" pitchFamily="34" charset="-127"/>
                <a:ea typeface="Gulim" panose="020B0600000101010101" pitchFamily="34" charset="-127"/>
              </a:defRPr>
            </a:lvl5pPr>
            <a:lvl6pPr marL="23653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6pPr>
            <a:lvl7pPr marL="28225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7pPr>
            <a:lvl8pPr marL="32797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8pPr>
            <a:lvl9pPr marL="3736975" indent="-79375" eaLnBrk="0" fontAlgn="base" hangingPunct="0">
              <a:spcBef>
                <a:spcPct val="0"/>
              </a:spcBef>
              <a:spcAft>
                <a:spcPct val="0"/>
              </a:spcAft>
              <a:defRPr kumimoji="1" sz="1900">
                <a:solidFill>
                  <a:schemeClr val="tx1"/>
                </a:solidFill>
                <a:latin typeface="Gulim" panose="020B0600000101010101" pitchFamily="34" charset="-127"/>
                <a:ea typeface="Gulim" panose="020B0600000101010101" pitchFamily="34" charset="-127"/>
              </a:defRPr>
            </a:lvl9pPr>
          </a:lstStyle>
          <a:p>
            <a:pPr defTabSz="914400" eaLnBrk="1" latinLnBrk="1" hangingPunct="1"/>
            <a:r>
              <a:rPr kumimoji="0" lang="en-US" altLang="ko-KR" sz="1000" b="1">
                <a:solidFill>
                  <a:srgbClr val="00B050"/>
                </a:solidFill>
                <a:latin typeface="Malgun Gothic" panose="020B0503020000020004" pitchFamily="34" charset="-127"/>
                <a:ea typeface="Malgun Gothic" panose="020B0503020000020004" pitchFamily="34" charset="-127"/>
              </a:rPr>
              <a:t>Section #10</a:t>
            </a:r>
            <a:endParaRPr kumimoji="0" lang="ko-KR" altLang="en-US" sz="1000" b="1">
              <a:solidFill>
                <a:srgbClr val="00B050"/>
              </a:solidFill>
              <a:latin typeface="Malgun Gothic" panose="020B0503020000020004" pitchFamily="34" charset="-127"/>
              <a:ea typeface="Malgun Gothic" panose="020B0503020000020004" pitchFamily="34" charset="-127"/>
            </a:endParaRPr>
          </a:p>
        </p:txBody>
      </p:sp>
      <p:sp>
        <p:nvSpPr>
          <p:cNvPr id="100" name="Rectangle 99"/>
          <p:cNvSpPr/>
          <p:nvPr/>
        </p:nvSpPr>
        <p:spPr>
          <a:xfrm>
            <a:off x="169107" y="2462452"/>
            <a:ext cx="1159968" cy="757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dirty="0">
                <a:solidFill>
                  <a:schemeClr val="tx1"/>
                </a:solidFill>
                <a:latin typeface="Arial Narrow" panose="020B0606020202030204" pitchFamily="34" charset="0"/>
              </a:rPr>
              <a:t>Step #</a:t>
            </a:r>
            <a:r>
              <a:rPr lang="en-US" sz="1100" b="1">
                <a:solidFill>
                  <a:schemeClr val="tx1"/>
                </a:solidFill>
                <a:latin typeface="Arial Narrow" panose="020B0606020202030204" pitchFamily="34" charset="0"/>
              </a:rPr>
              <a:t>1</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rPr>
              <a:t>M</a:t>
            </a:r>
            <a:r>
              <a:rPr lang="en-US" sz="1100">
                <a:solidFill>
                  <a:schemeClr val="tx1"/>
                </a:solidFill>
                <a:latin typeface="Arial Narrow" panose="020B0606020202030204" pitchFamily="34" charset="0"/>
              </a:rPr>
              <a:t>ake </a:t>
            </a:r>
            <a:r>
              <a:rPr lang="en-US" sz="1100" dirty="0" err="1">
                <a:solidFill>
                  <a:schemeClr val="tx1"/>
                </a:solidFill>
                <a:latin typeface="Arial Narrow" panose="020B0606020202030204" pitchFamily="34" charset="0"/>
              </a:rPr>
              <a:t>Embo</a:t>
            </a:r>
            <a:r>
              <a:rPr lang="en-US" sz="1100" dirty="0">
                <a:solidFill>
                  <a:schemeClr val="tx1"/>
                </a:solidFill>
                <a:latin typeface="Arial Narrow" panose="020B0606020202030204" pitchFamily="34" charset="0"/>
              </a:rPr>
              <a:t> Shape 4 position</a:t>
            </a:r>
          </a:p>
        </p:txBody>
      </p:sp>
      <p:sp>
        <p:nvSpPr>
          <p:cNvPr id="101" name="Rectangle 100"/>
          <p:cNvSpPr/>
          <p:nvPr/>
        </p:nvSpPr>
        <p:spPr>
          <a:xfrm>
            <a:off x="1112642" y="2100527"/>
            <a:ext cx="1159968" cy="1469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2</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rPr>
              <a:t>M</a:t>
            </a:r>
            <a:r>
              <a:rPr lang="en-US" sz="1100">
                <a:solidFill>
                  <a:schemeClr val="tx1"/>
                </a:solidFill>
                <a:latin typeface="Arial Narrow" panose="020B0606020202030204" pitchFamily="34" charset="0"/>
              </a:rPr>
              <a:t>ake </a:t>
            </a:r>
            <a:r>
              <a:rPr lang="en-US" sz="1100" err="1">
                <a:solidFill>
                  <a:schemeClr val="tx1"/>
                </a:solidFill>
                <a:latin typeface="Arial Narrow" panose="020B0606020202030204" pitchFamily="34" charset="0"/>
              </a:rPr>
              <a:t>Embo</a:t>
            </a:r>
            <a:r>
              <a:rPr lang="en-US" sz="1100">
                <a:solidFill>
                  <a:schemeClr val="tx1"/>
                </a:solidFill>
                <a:latin typeface="Arial Narrow" panose="020B0606020202030204" pitchFamily="34" charset="0"/>
              </a:rPr>
              <a:t> </a:t>
            </a:r>
            <a:r>
              <a:rPr lang="vi-VN" sz="1100">
                <a:solidFill>
                  <a:schemeClr val="tx1"/>
                </a:solidFill>
                <a:latin typeface="Arial Narrow" panose="020B0606020202030204" pitchFamily="34" charset="0"/>
              </a:rPr>
              <a:t>Remain position</a:t>
            </a:r>
            <a:endParaRPr lang="en-US" sz="1100" dirty="0">
              <a:solidFill>
                <a:schemeClr val="tx1"/>
              </a:solidFill>
              <a:latin typeface="Arial Narrow" panose="020B0606020202030204" pitchFamily="34" charset="0"/>
            </a:endParaRPr>
          </a:p>
        </p:txBody>
      </p:sp>
      <p:sp>
        <p:nvSpPr>
          <p:cNvPr id="102" name="Rectangle 101"/>
          <p:cNvSpPr/>
          <p:nvPr/>
        </p:nvSpPr>
        <p:spPr>
          <a:xfrm>
            <a:off x="2085226" y="2262484"/>
            <a:ext cx="1036794" cy="160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3</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rPr>
              <a:t>M</a:t>
            </a:r>
            <a:r>
              <a:rPr lang="en-US" sz="1100">
                <a:solidFill>
                  <a:schemeClr val="tx1"/>
                </a:solidFill>
                <a:latin typeface="Arial Narrow" panose="020B0606020202030204" pitchFamily="34" charset="0"/>
              </a:rPr>
              <a:t>ake </a:t>
            </a:r>
            <a:endParaRPr lang="vi-VN" sz="1100">
              <a:solidFill>
                <a:schemeClr val="tx1"/>
              </a:solidFill>
              <a:latin typeface="Arial Narrow" panose="020B0606020202030204" pitchFamily="34" charset="0"/>
            </a:endParaRPr>
          </a:p>
          <a:p>
            <a:pPr algn="ctr">
              <a:defRPr/>
            </a:pPr>
            <a:r>
              <a:rPr lang="en-US" sz="1100" b="1">
                <a:solidFill>
                  <a:srgbClr val="C00000"/>
                </a:solidFill>
                <a:latin typeface="Arial Narrow" panose="020B0606020202030204" pitchFamily="34" charset="0"/>
              </a:rPr>
              <a:t>Embo </a:t>
            </a:r>
            <a:r>
              <a:rPr lang="vi-VN" sz="1100" b="1">
                <a:solidFill>
                  <a:srgbClr val="C00000"/>
                </a:solidFill>
                <a:latin typeface="Arial Narrow" panose="020B0606020202030204" pitchFamily="34" charset="0"/>
              </a:rPr>
              <a:t>D</a:t>
            </a:r>
            <a:r>
              <a:rPr lang="en-US" sz="1100" b="1">
                <a:solidFill>
                  <a:srgbClr val="C00000"/>
                </a:solidFill>
                <a:latin typeface="Arial Narrow" panose="020B0606020202030204" pitchFamily="34" charset="0"/>
              </a:rPr>
              <a:t>epth</a:t>
            </a:r>
            <a:r>
              <a:rPr lang="vi-VN" sz="1100" b="1">
                <a:solidFill>
                  <a:srgbClr val="C00000"/>
                </a:solidFill>
                <a:latin typeface="Arial Narrow" panose="020B0606020202030204" pitchFamily="34" charset="0"/>
              </a:rPr>
              <a:t> </a:t>
            </a:r>
            <a:r>
              <a:rPr lang="vi-VN" sz="1100">
                <a:solidFill>
                  <a:schemeClr val="tx1"/>
                </a:solidFill>
                <a:latin typeface="Arial Narrow" panose="020B0606020202030204" pitchFamily="34" charset="0"/>
              </a:rPr>
              <a:t>and</a:t>
            </a:r>
          </a:p>
          <a:p>
            <a:pPr algn="ctr">
              <a:defRPr/>
            </a:pPr>
            <a:r>
              <a:rPr lang="vi-VN" sz="1100">
                <a:solidFill>
                  <a:schemeClr val="tx1"/>
                </a:solidFill>
                <a:latin typeface="Arial Narrow" panose="020B0606020202030204" pitchFamily="34" charset="0"/>
              </a:rPr>
              <a:t> </a:t>
            </a:r>
            <a:r>
              <a:rPr lang="vi-VN" sz="1100" b="1">
                <a:solidFill>
                  <a:srgbClr val="C00000"/>
                </a:solidFill>
                <a:latin typeface="Arial Narrow" panose="020B0606020202030204" pitchFamily="34" charset="0"/>
              </a:rPr>
              <a:t>S</a:t>
            </a:r>
            <a:r>
              <a:rPr lang="en-US" sz="1100" b="1">
                <a:solidFill>
                  <a:srgbClr val="C00000"/>
                </a:solidFill>
                <a:latin typeface="Arial Narrow" panose="020B0606020202030204" pitchFamily="34" charset="0"/>
              </a:rPr>
              <a:t>hrink </a:t>
            </a:r>
            <a:r>
              <a:rPr lang="vi-VN" sz="1100" b="1">
                <a:solidFill>
                  <a:srgbClr val="C00000"/>
                </a:solidFill>
                <a:latin typeface="Arial Narrow" panose="020B0606020202030204" pitchFamily="34" charset="0"/>
              </a:rPr>
              <a:t>D</a:t>
            </a:r>
            <a:r>
              <a:rPr lang="en-US" sz="1100" b="1">
                <a:solidFill>
                  <a:srgbClr val="C00000"/>
                </a:solidFill>
                <a:latin typeface="Arial Narrow" panose="020B0606020202030204" pitchFamily="34" charset="0"/>
              </a:rPr>
              <a:t>iameter</a:t>
            </a:r>
            <a:endParaRPr lang="en-US" sz="1100" b="1" dirty="0">
              <a:solidFill>
                <a:srgbClr val="C00000"/>
              </a:solidFill>
              <a:latin typeface="Arial Narrow" panose="020B0606020202030204" pitchFamily="34" charset="0"/>
            </a:endParaRPr>
          </a:p>
        </p:txBody>
      </p:sp>
      <p:grpSp>
        <p:nvGrpSpPr>
          <p:cNvPr id="11" name="Group 10"/>
          <p:cNvGrpSpPr/>
          <p:nvPr/>
        </p:nvGrpSpPr>
        <p:grpSpPr>
          <a:xfrm>
            <a:off x="425334" y="3910974"/>
            <a:ext cx="1669474" cy="1604636"/>
            <a:chOff x="136526" y="4358616"/>
            <a:chExt cx="1669474" cy="1604636"/>
          </a:xfrm>
        </p:grpSpPr>
        <p:pic>
          <p:nvPicPr>
            <p:cNvPr id="103" name="Picture 2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6526" y="4358616"/>
              <a:ext cx="1669474" cy="152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Oval 1"/>
            <p:cNvSpPr/>
            <p:nvPr/>
          </p:nvSpPr>
          <p:spPr>
            <a:xfrm>
              <a:off x="396083" y="4437687"/>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396083" y="5590718"/>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894346" y="5040385"/>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1358039" y="5568117"/>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8" name="모서리가 둥근 직사각형 47"/>
          <p:cNvSpPr/>
          <p:nvPr/>
        </p:nvSpPr>
        <p:spPr bwMode="auto">
          <a:xfrm>
            <a:off x="2251502" y="849349"/>
            <a:ext cx="925304" cy="1202461"/>
          </a:xfrm>
          <a:prstGeom prst="roundRect">
            <a:avLst>
              <a:gd name="adj" fmla="val 5841"/>
            </a:avLst>
          </a:prstGeom>
          <a:noFill/>
          <a:ln w="38100">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1" fontAlgn="auto" latinLnBrk="1" hangingPunct="1">
              <a:spcBef>
                <a:spcPts val="0"/>
              </a:spcBef>
              <a:spcAft>
                <a:spcPts val="0"/>
              </a:spcAft>
              <a:defRPr/>
            </a:pPr>
            <a:endParaRPr kumimoji="0" lang="ko-KR" altLang="en-US" sz="1800">
              <a:solidFill>
                <a:prstClr val="white"/>
              </a:solidFill>
            </a:endParaRPr>
          </a:p>
        </p:txBody>
      </p:sp>
      <p:grpSp>
        <p:nvGrpSpPr>
          <p:cNvPr id="5" name="Group 4"/>
          <p:cNvGrpSpPr/>
          <p:nvPr/>
        </p:nvGrpSpPr>
        <p:grpSpPr>
          <a:xfrm>
            <a:off x="2378300" y="3857132"/>
            <a:ext cx="1597885" cy="1571981"/>
            <a:chOff x="2349262" y="4286726"/>
            <a:chExt cx="1597885" cy="1571981"/>
          </a:xfrm>
        </p:grpSpPr>
        <p:pic>
          <p:nvPicPr>
            <p:cNvPr id="110" name="Picture 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49262" y="4347995"/>
              <a:ext cx="1579271" cy="151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 name="Oval 110"/>
            <p:cNvSpPr/>
            <p:nvPr/>
          </p:nvSpPr>
          <p:spPr>
            <a:xfrm>
              <a:off x="3535908" y="4286726"/>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4308842" y="3910974"/>
            <a:ext cx="1482411" cy="1510712"/>
            <a:chOff x="4596021" y="4347996"/>
            <a:chExt cx="1482411" cy="1510712"/>
          </a:xfrm>
        </p:grpSpPr>
        <p:pic>
          <p:nvPicPr>
            <p:cNvPr id="112" name="Picture 2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96021" y="4347996"/>
              <a:ext cx="1420443" cy="151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Oval 112"/>
            <p:cNvSpPr/>
            <p:nvPr/>
          </p:nvSpPr>
          <p:spPr>
            <a:xfrm>
              <a:off x="4750763" y="4438841"/>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5162002" y="4962507"/>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4750762" y="5425886"/>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5667193" y="5467992"/>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8" name="Rectangle 117"/>
          <p:cNvSpPr/>
          <p:nvPr/>
        </p:nvSpPr>
        <p:spPr>
          <a:xfrm>
            <a:off x="3048773" y="2112672"/>
            <a:ext cx="1005196" cy="160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4</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latin typeface="Arial Narrow" panose="020B0606020202030204" pitchFamily="34" charset="0"/>
              </a:rPr>
              <a:t>Make flat embo head for 2 positions</a:t>
            </a:r>
            <a:endParaRPr lang="en-US" sz="1100" dirty="0">
              <a:solidFill>
                <a:schemeClr val="tx1"/>
              </a:solidFill>
              <a:latin typeface="Arial Narrow" panose="020B0606020202030204" pitchFamily="34" charset="0"/>
            </a:endParaRPr>
          </a:p>
        </p:txBody>
      </p:sp>
      <p:grpSp>
        <p:nvGrpSpPr>
          <p:cNvPr id="14" name="Group 13"/>
          <p:cNvGrpSpPr/>
          <p:nvPr/>
        </p:nvGrpSpPr>
        <p:grpSpPr>
          <a:xfrm>
            <a:off x="6127753" y="3910974"/>
            <a:ext cx="1441283" cy="1481910"/>
            <a:chOff x="6576667" y="4358617"/>
            <a:chExt cx="1441283" cy="1481910"/>
          </a:xfrm>
        </p:grpSpPr>
        <p:pic>
          <p:nvPicPr>
            <p:cNvPr id="119" name="Picture 1"/>
            <p:cNvPicPr>
              <a:picLocks noChangeAspect="1"/>
            </p:cNvPicPr>
            <p:nvPr/>
          </p:nvPicPr>
          <p:blipFill>
            <a:blip r:embed="rId6" cstate="print">
              <a:extLst>
                <a:ext uri="{28A0092B-C50C-407E-A947-70E740481C1C}">
                  <a14:useLocalDpi xmlns:a14="http://schemas.microsoft.com/office/drawing/2010/main" val="0"/>
                </a:ext>
              </a:extLst>
            </a:blip>
            <a:srcRect t="6718"/>
            <a:stretch>
              <a:fillRect/>
            </a:stretch>
          </p:blipFill>
          <p:spPr bwMode="auto">
            <a:xfrm>
              <a:off x="6576667" y="4358617"/>
              <a:ext cx="1441283" cy="1481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 name="Oval 119"/>
            <p:cNvSpPr/>
            <p:nvPr/>
          </p:nvSpPr>
          <p:spPr>
            <a:xfrm>
              <a:off x="6718554" y="4472993"/>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6738365" y="5449811"/>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4" name="Rectangle 123"/>
          <p:cNvSpPr/>
          <p:nvPr/>
        </p:nvSpPr>
        <p:spPr>
          <a:xfrm>
            <a:off x="4877677" y="2112672"/>
            <a:ext cx="928006" cy="160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6</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latin typeface="Arial Narrow" panose="020B0606020202030204" pitchFamily="34" charset="0"/>
              </a:rPr>
              <a:t>Make hole and cutting rear around</a:t>
            </a:r>
            <a:endParaRPr lang="en-US" sz="1100" dirty="0">
              <a:solidFill>
                <a:schemeClr val="tx1"/>
              </a:solidFill>
              <a:latin typeface="Arial Narrow" panose="020B0606020202030204" pitchFamily="34" charset="0"/>
            </a:endParaRPr>
          </a:p>
        </p:txBody>
      </p:sp>
      <p:sp>
        <p:nvSpPr>
          <p:cNvPr id="129" name="Rectangle 128"/>
          <p:cNvSpPr/>
          <p:nvPr/>
        </p:nvSpPr>
        <p:spPr>
          <a:xfrm>
            <a:off x="3949421" y="2203517"/>
            <a:ext cx="1005196" cy="160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5</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latin typeface="Arial Narrow" panose="020B0606020202030204" pitchFamily="34" charset="0"/>
              </a:rPr>
              <a:t>Make flat embo head for 2 positions </a:t>
            </a:r>
          </a:p>
          <a:p>
            <a:pPr algn="ctr">
              <a:defRPr/>
            </a:pPr>
            <a:r>
              <a:rPr lang="vi-VN" sz="1100">
                <a:solidFill>
                  <a:schemeClr val="tx1"/>
                </a:solidFill>
                <a:latin typeface="Arial Narrow" panose="020B0606020202030204" pitchFamily="34" charset="0"/>
              </a:rPr>
              <a:t>remain</a:t>
            </a:r>
            <a:endParaRPr lang="en-US" sz="1100" dirty="0">
              <a:solidFill>
                <a:schemeClr val="tx1"/>
              </a:solidFill>
              <a:latin typeface="Arial Narrow" panose="020B0606020202030204" pitchFamily="34" charset="0"/>
            </a:endParaRPr>
          </a:p>
        </p:txBody>
      </p:sp>
      <p:sp>
        <p:nvSpPr>
          <p:cNvPr id="130" name="Rectangle 129"/>
          <p:cNvSpPr/>
          <p:nvPr/>
        </p:nvSpPr>
        <p:spPr>
          <a:xfrm>
            <a:off x="5878032" y="1967858"/>
            <a:ext cx="928006" cy="160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7</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latin typeface="Arial Narrow" panose="020B0606020202030204" pitchFamily="34" charset="0"/>
              </a:rPr>
              <a:t>Bending rear</a:t>
            </a:r>
            <a:endParaRPr lang="en-US" sz="1100" dirty="0">
              <a:solidFill>
                <a:schemeClr val="tx1"/>
              </a:solidFill>
              <a:latin typeface="Arial Narrow" panose="020B0606020202030204" pitchFamily="34" charset="0"/>
            </a:endParaRPr>
          </a:p>
        </p:txBody>
      </p:sp>
      <p:sp>
        <p:nvSpPr>
          <p:cNvPr id="131" name="Rectangle 130"/>
          <p:cNvSpPr/>
          <p:nvPr/>
        </p:nvSpPr>
        <p:spPr>
          <a:xfrm>
            <a:off x="6862050" y="2044757"/>
            <a:ext cx="928006" cy="160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8</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latin typeface="Arial Narrow" panose="020B0606020202030204" pitchFamily="34" charset="0"/>
              </a:rPr>
              <a:t>Cutting bur</a:t>
            </a:r>
          </a:p>
          <a:p>
            <a:pPr algn="ctr">
              <a:defRPr/>
            </a:pPr>
            <a:r>
              <a:rPr lang="vi-VN" sz="1100">
                <a:solidFill>
                  <a:schemeClr val="tx1"/>
                </a:solidFill>
                <a:latin typeface="Arial Narrow" panose="020B0606020202030204" pitchFamily="34" charset="0"/>
              </a:rPr>
              <a:t>Around edge</a:t>
            </a:r>
            <a:endParaRPr lang="en-US" sz="1100" dirty="0">
              <a:solidFill>
                <a:schemeClr val="tx1"/>
              </a:solidFill>
              <a:latin typeface="Arial Narrow" panose="020B0606020202030204" pitchFamily="34" charset="0"/>
            </a:endParaRPr>
          </a:p>
        </p:txBody>
      </p:sp>
      <p:sp>
        <p:nvSpPr>
          <p:cNvPr id="132" name="Rectangle 131"/>
          <p:cNvSpPr/>
          <p:nvPr/>
        </p:nvSpPr>
        <p:spPr>
          <a:xfrm>
            <a:off x="7876540" y="2044757"/>
            <a:ext cx="928006" cy="160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9</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latin typeface="Arial Narrow" panose="020B0606020202030204" pitchFamily="34" charset="0"/>
              </a:rPr>
              <a:t>Cutting bur</a:t>
            </a:r>
          </a:p>
          <a:p>
            <a:pPr algn="ctr">
              <a:defRPr/>
            </a:pPr>
            <a:r>
              <a:rPr lang="vi-VN" sz="1100">
                <a:solidFill>
                  <a:schemeClr val="tx1"/>
                </a:solidFill>
                <a:latin typeface="Arial Narrow" panose="020B0606020202030204" pitchFamily="34" charset="0"/>
              </a:rPr>
              <a:t>Around hold</a:t>
            </a:r>
            <a:endParaRPr lang="en-US" sz="1100" dirty="0">
              <a:solidFill>
                <a:schemeClr val="tx1"/>
              </a:solidFill>
              <a:latin typeface="Arial Narrow" panose="020B0606020202030204" pitchFamily="34" charset="0"/>
            </a:endParaRPr>
          </a:p>
        </p:txBody>
      </p:sp>
      <p:sp>
        <p:nvSpPr>
          <p:cNvPr id="133" name="Rectangle 132"/>
          <p:cNvSpPr/>
          <p:nvPr/>
        </p:nvSpPr>
        <p:spPr>
          <a:xfrm>
            <a:off x="8795782" y="2050524"/>
            <a:ext cx="928006" cy="160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b="1">
                <a:solidFill>
                  <a:schemeClr val="tx1"/>
                </a:solidFill>
                <a:latin typeface="Arial Narrow" panose="020B0606020202030204" pitchFamily="34" charset="0"/>
              </a:rPr>
              <a:t>Step #</a:t>
            </a:r>
            <a:r>
              <a:rPr lang="vi-VN" sz="1100" b="1">
                <a:solidFill>
                  <a:schemeClr val="tx1"/>
                </a:solidFill>
                <a:latin typeface="Arial Narrow" panose="020B0606020202030204" pitchFamily="34" charset="0"/>
              </a:rPr>
              <a:t>10</a:t>
            </a:r>
            <a:r>
              <a:rPr lang="en-US" sz="1100">
                <a:solidFill>
                  <a:schemeClr val="tx1"/>
                </a:solidFill>
                <a:latin typeface="Arial Narrow" panose="020B0606020202030204" pitchFamily="34" charset="0"/>
              </a:rPr>
              <a:t> </a:t>
            </a:r>
            <a:endParaRPr lang="vi-VN" sz="1100">
              <a:solidFill>
                <a:schemeClr val="tx1"/>
              </a:solidFill>
            </a:endParaRPr>
          </a:p>
          <a:p>
            <a:pPr algn="ctr">
              <a:defRPr/>
            </a:pPr>
            <a:r>
              <a:rPr lang="vi-VN" sz="1100">
                <a:solidFill>
                  <a:schemeClr val="tx1"/>
                </a:solidFill>
                <a:latin typeface="Arial Narrow" panose="020B0606020202030204" pitchFamily="34" charset="0"/>
              </a:rPr>
              <a:t>Cutting </a:t>
            </a:r>
          </a:p>
          <a:p>
            <a:pPr algn="ctr">
              <a:defRPr/>
            </a:pPr>
            <a:r>
              <a:rPr lang="vi-VN" sz="1100">
                <a:solidFill>
                  <a:schemeClr val="tx1"/>
                </a:solidFill>
                <a:latin typeface="Arial Narrow" panose="020B0606020202030204" pitchFamily="34" charset="0"/>
              </a:rPr>
              <a:t>Final</a:t>
            </a:r>
            <a:endParaRPr lang="en-US" sz="1100" dirty="0">
              <a:solidFill>
                <a:schemeClr val="tx1"/>
              </a:solidFill>
              <a:latin typeface="Arial Narrow" panose="020B0606020202030204" pitchFamily="34" charset="0"/>
            </a:endParaRPr>
          </a:p>
        </p:txBody>
      </p:sp>
      <p:grpSp>
        <p:nvGrpSpPr>
          <p:cNvPr id="16" name="Group 15"/>
          <p:cNvGrpSpPr/>
          <p:nvPr/>
        </p:nvGrpSpPr>
        <p:grpSpPr>
          <a:xfrm>
            <a:off x="7943522" y="3928083"/>
            <a:ext cx="1552307" cy="1518096"/>
            <a:chOff x="7654714" y="4375725"/>
            <a:chExt cx="1552307" cy="1518096"/>
          </a:xfrm>
        </p:grpSpPr>
        <p:pic>
          <p:nvPicPr>
            <p:cNvPr id="134" name="Picture 23"/>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54714" y="4375725"/>
              <a:ext cx="1471015" cy="146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 name="Oval 134"/>
            <p:cNvSpPr/>
            <p:nvPr/>
          </p:nvSpPr>
          <p:spPr>
            <a:xfrm>
              <a:off x="8172980" y="4973127"/>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8795782" y="5521287"/>
              <a:ext cx="411239" cy="372534"/>
            </a:xfrm>
            <a:prstGeom prst="ellipse">
              <a:avLst/>
            </a:prstGeom>
            <a:noFill/>
            <a:ln>
              <a:solidFill>
                <a:srgbClr val="00B05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153"/>
          <p:cNvGrpSpPr/>
          <p:nvPr/>
        </p:nvGrpSpPr>
        <p:grpSpPr>
          <a:xfrm>
            <a:off x="4130040" y="5944199"/>
            <a:ext cx="1773079" cy="685589"/>
            <a:chOff x="4130040" y="5944199"/>
            <a:chExt cx="1773079" cy="685589"/>
          </a:xfrm>
        </p:grpSpPr>
        <p:sp>
          <p:nvSpPr>
            <p:cNvPr id="15" name="Rectangle 14"/>
            <p:cNvSpPr/>
            <p:nvPr/>
          </p:nvSpPr>
          <p:spPr>
            <a:xfrm>
              <a:off x="4309975" y="6248788"/>
              <a:ext cx="141931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apezoid 16"/>
            <p:cNvSpPr/>
            <p:nvPr/>
          </p:nvSpPr>
          <p:spPr>
            <a:xfrm rot="10800000">
              <a:off x="4510884" y="6117593"/>
              <a:ext cx="275523" cy="349615"/>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p:cNvGrpSpPr/>
            <p:nvPr/>
          </p:nvGrpSpPr>
          <p:grpSpPr>
            <a:xfrm>
              <a:off x="4333875" y="5948362"/>
              <a:ext cx="584257" cy="450046"/>
              <a:chOff x="4333875" y="5945981"/>
              <a:chExt cx="584257" cy="450046"/>
            </a:xfrm>
          </p:grpSpPr>
          <p:grpSp>
            <p:nvGrpSpPr>
              <p:cNvPr id="22" name="Group 21"/>
              <p:cNvGrpSpPr/>
              <p:nvPr/>
            </p:nvGrpSpPr>
            <p:grpSpPr>
              <a:xfrm>
                <a:off x="4501227" y="5980973"/>
                <a:ext cx="294836" cy="415054"/>
                <a:chOff x="3335867" y="5774531"/>
                <a:chExt cx="294836" cy="415054"/>
              </a:xfrm>
            </p:grpSpPr>
            <p:sp>
              <p:nvSpPr>
                <p:cNvPr id="19" name="Can 18"/>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apezoid 19"/>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apezoid 20"/>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8" name="Straight Connector 27"/>
            <p:cNvCxnSpPr/>
            <p:nvPr/>
          </p:nvCxnSpPr>
          <p:spPr>
            <a:xfrm flipH="1">
              <a:off x="4130040" y="6234500"/>
              <a:ext cx="418079"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40" name="Group 139"/>
            <p:cNvGrpSpPr/>
            <p:nvPr/>
          </p:nvGrpSpPr>
          <p:grpSpPr>
            <a:xfrm>
              <a:off x="5001376" y="5944199"/>
              <a:ext cx="584257" cy="450046"/>
              <a:chOff x="4333875" y="5945981"/>
              <a:chExt cx="584257" cy="450046"/>
            </a:xfrm>
          </p:grpSpPr>
          <p:grpSp>
            <p:nvGrpSpPr>
              <p:cNvPr id="141" name="Group 140"/>
              <p:cNvGrpSpPr/>
              <p:nvPr/>
            </p:nvGrpSpPr>
            <p:grpSpPr>
              <a:xfrm>
                <a:off x="4501227" y="5980973"/>
                <a:ext cx="294836" cy="415054"/>
                <a:chOff x="3335867" y="5774531"/>
                <a:chExt cx="294836" cy="415054"/>
              </a:xfrm>
            </p:grpSpPr>
            <p:sp>
              <p:nvSpPr>
                <p:cNvPr id="143" name="Can 142"/>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Trapezoid 143"/>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Trapezoid 144"/>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2" name="Rectangle 141"/>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6" name="Trapezoid 145"/>
            <p:cNvSpPr/>
            <p:nvPr/>
          </p:nvSpPr>
          <p:spPr>
            <a:xfrm rot="10800000">
              <a:off x="5178383" y="6117593"/>
              <a:ext cx="275523" cy="349615"/>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7" name="Group 146"/>
            <p:cNvGrpSpPr/>
            <p:nvPr/>
          </p:nvGrpSpPr>
          <p:grpSpPr>
            <a:xfrm>
              <a:off x="5001376" y="5948951"/>
              <a:ext cx="584257" cy="450046"/>
              <a:chOff x="4333875" y="5945981"/>
              <a:chExt cx="584257" cy="450046"/>
            </a:xfrm>
          </p:grpSpPr>
          <p:grpSp>
            <p:nvGrpSpPr>
              <p:cNvPr id="148" name="Group 147"/>
              <p:cNvGrpSpPr/>
              <p:nvPr/>
            </p:nvGrpSpPr>
            <p:grpSpPr>
              <a:xfrm>
                <a:off x="4501227" y="5980973"/>
                <a:ext cx="294836" cy="415054"/>
                <a:chOff x="3335867" y="5774531"/>
                <a:chExt cx="294836" cy="415054"/>
              </a:xfrm>
            </p:grpSpPr>
            <p:sp>
              <p:nvSpPr>
                <p:cNvPr id="150" name="Can 149"/>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Trapezoid 150"/>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Trapezoid 151"/>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tangle 148"/>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8" name="Straight Connector 137"/>
            <p:cNvCxnSpPr/>
            <p:nvPr/>
          </p:nvCxnSpPr>
          <p:spPr>
            <a:xfrm flipH="1">
              <a:off x="4755629" y="6231731"/>
              <a:ext cx="457200" cy="387"/>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20632" y="6234500"/>
              <a:ext cx="482487"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55" name="Rectangle 154"/>
          <p:cNvSpPr/>
          <p:nvPr/>
        </p:nvSpPr>
        <p:spPr>
          <a:xfrm>
            <a:off x="4308842" y="6017408"/>
            <a:ext cx="1420443" cy="1863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0" name="Group 159"/>
          <p:cNvGrpSpPr/>
          <p:nvPr/>
        </p:nvGrpSpPr>
        <p:grpSpPr>
          <a:xfrm>
            <a:off x="4501093" y="6062355"/>
            <a:ext cx="294970" cy="324015"/>
            <a:chOff x="4501093" y="6062355"/>
            <a:chExt cx="294970" cy="324015"/>
          </a:xfrm>
        </p:grpSpPr>
        <p:grpSp>
          <p:nvGrpSpPr>
            <p:cNvPr id="158" name="Group 157"/>
            <p:cNvGrpSpPr/>
            <p:nvPr/>
          </p:nvGrpSpPr>
          <p:grpSpPr>
            <a:xfrm>
              <a:off x="4570545" y="6117593"/>
              <a:ext cx="159001" cy="268777"/>
              <a:chOff x="4264819" y="5526651"/>
              <a:chExt cx="198764" cy="324015"/>
            </a:xfrm>
            <a:solidFill>
              <a:schemeClr val="accent4">
                <a:lumMod val="60000"/>
                <a:lumOff val="40000"/>
              </a:schemeClr>
            </a:solidFill>
          </p:grpSpPr>
          <p:sp>
            <p:nvSpPr>
              <p:cNvPr id="156" name="Oval 155"/>
              <p:cNvSpPr/>
              <p:nvPr/>
            </p:nvSpPr>
            <p:spPr>
              <a:xfrm>
                <a:off x="4264819" y="5663710"/>
                <a:ext cx="198764" cy="186956"/>
              </a:xfrm>
              <a:prstGeom prst="ellipse">
                <a:avLst/>
              </a:prstGeom>
              <a:grp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p:cNvSpPr/>
              <p:nvPr/>
            </p:nvSpPr>
            <p:spPr>
              <a:xfrm>
                <a:off x="4264819" y="5526651"/>
                <a:ext cx="198764" cy="226449"/>
              </a:xfrm>
              <a:prstGeom prst="rect">
                <a:avLst/>
              </a:prstGeom>
              <a:grp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9" name="Rectangle 158"/>
            <p:cNvSpPr/>
            <p:nvPr/>
          </p:nvSpPr>
          <p:spPr>
            <a:xfrm>
              <a:off x="4501093" y="6062355"/>
              <a:ext cx="294970" cy="7628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oup 160"/>
          <p:cNvGrpSpPr/>
          <p:nvPr/>
        </p:nvGrpSpPr>
        <p:grpSpPr>
          <a:xfrm>
            <a:off x="5168727" y="6062355"/>
            <a:ext cx="294970" cy="324015"/>
            <a:chOff x="4501093" y="6062355"/>
            <a:chExt cx="294970" cy="324015"/>
          </a:xfrm>
        </p:grpSpPr>
        <p:grpSp>
          <p:nvGrpSpPr>
            <p:cNvPr id="162" name="Group 161"/>
            <p:cNvGrpSpPr/>
            <p:nvPr/>
          </p:nvGrpSpPr>
          <p:grpSpPr>
            <a:xfrm>
              <a:off x="4570545" y="6117593"/>
              <a:ext cx="159001" cy="268777"/>
              <a:chOff x="4264819" y="5526651"/>
              <a:chExt cx="198764" cy="324015"/>
            </a:xfrm>
            <a:solidFill>
              <a:schemeClr val="accent4">
                <a:lumMod val="60000"/>
                <a:lumOff val="40000"/>
              </a:schemeClr>
            </a:solidFill>
          </p:grpSpPr>
          <p:sp>
            <p:nvSpPr>
              <p:cNvPr id="164" name="Oval 163"/>
              <p:cNvSpPr/>
              <p:nvPr/>
            </p:nvSpPr>
            <p:spPr>
              <a:xfrm>
                <a:off x="4264819" y="5663710"/>
                <a:ext cx="198764" cy="186956"/>
              </a:xfrm>
              <a:prstGeom prst="ellipse">
                <a:avLst/>
              </a:prstGeom>
              <a:grp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p:cNvSpPr/>
              <p:nvPr/>
            </p:nvSpPr>
            <p:spPr>
              <a:xfrm>
                <a:off x="4264819" y="5526651"/>
                <a:ext cx="198764" cy="226449"/>
              </a:xfrm>
              <a:prstGeom prst="rect">
                <a:avLst/>
              </a:prstGeom>
              <a:grp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3" name="Rectangle 162"/>
            <p:cNvSpPr/>
            <p:nvPr/>
          </p:nvSpPr>
          <p:spPr>
            <a:xfrm>
              <a:off x="4501093" y="6062355"/>
              <a:ext cx="294970" cy="7628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8" name="Isosceles Triangle 167"/>
          <p:cNvSpPr/>
          <p:nvPr/>
        </p:nvSpPr>
        <p:spPr>
          <a:xfrm rot="10800000">
            <a:off x="4366422" y="5526651"/>
            <a:ext cx="1305281" cy="324581"/>
          </a:xfrm>
          <a:prstGeom prst="triangle">
            <a:avLst/>
          </a:prstGeom>
          <a:gradFill>
            <a:gsLst>
              <a:gs pos="0">
                <a:schemeClr val="bg1">
                  <a:lumMod val="50000"/>
                </a:schemeClr>
              </a:gs>
              <a:gs pos="59000">
                <a:schemeClr val="bg1">
                  <a:lumMod val="65000"/>
                </a:schemeClr>
              </a:gs>
              <a:gs pos="83000">
                <a:schemeClr val="bg1">
                  <a:lumMod val="85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3" name="Straight Arrow Connector 172"/>
          <p:cNvCxnSpPr/>
          <p:nvPr/>
        </p:nvCxnSpPr>
        <p:spPr>
          <a:xfrm flipH="1" flipV="1">
            <a:off x="5727856" y="6596709"/>
            <a:ext cx="540355" cy="19050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4" name="TextBox 173"/>
          <p:cNvSpPr txBox="1"/>
          <p:nvPr/>
        </p:nvSpPr>
        <p:spPr>
          <a:xfrm>
            <a:off x="6219078" y="6644075"/>
            <a:ext cx="460382" cy="261610"/>
          </a:xfrm>
          <a:prstGeom prst="rect">
            <a:avLst/>
          </a:prstGeom>
          <a:noFill/>
        </p:spPr>
        <p:txBody>
          <a:bodyPr wrap="none" rtlCol="0">
            <a:spAutoFit/>
          </a:bodyPr>
          <a:lstStyle/>
          <a:p>
            <a:r>
              <a:rPr lang="vi-VN" sz="1100" b="1">
                <a:latin typeface="Arial Narrow" panose="020B0606020202030204" pitchFamily="34" charset="0"/>
              </a:rPr>
              <a:t>Base</a:t>
            </a:r>
            <a:endParaRPr lang="en-US" sz="1100" b="1">
              <a:latin typeface="Arial Narrow" panose="020B0606020202030204" pitchFamily="34" charset="0"/>
            </a:endParaRPr>
          </a:p>
        </p:txBody>
      </p:sp>
      <p:cxnSp>
        <p:nvCxnSpPr>
          <p:cNvPr id="175" name="Straight Arrow Connector 174"/>
          <p:cNvCxnSpPr/>
          <p:nvPr/>
        </p:nvCxnSpPr>
        <p:spPr>
          <a:xfrm flipH="1">
            <a:off x="5843886" y="5883445"/>
            <a:ext cx="174007" cy="339401"/>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7" name="TextBox 176"/>
          <p:cNvSpPr txBox="1"/>
          <p:nvPr/>
        </p:nvSpPr>
        <p:spPr>
          <a:xfrm>
            <a:off x="5603107" y="5636106"/>
            <a:ext cx="896399" cy="261610"/>
          </a:xfrm>
          <a:prstGeom prst="rect">
            <a:avLst/>
          </a:prstGeom>
          <a:noFill/>
        </p:spPr>
        <p:txBody>
          <a:bodyPr wrap="none" rtlCol="0">
            <a:spAutoFit/>
          </a:bodyPr>
          <a:lstStyle/>
          <a:p>
            <a:r>
              <a:rPr lang="vi-VN" sz="1100" b="1">
                <a:latin typeface="Arial Narrow" panose="020B0606020202030204" pitchFamily="34" charset="0"/>
              </a:rPr>
              <a:t>Raw material</a:t>
            </a:r>
            <a:endParaRPr lang="en-US" sz="1100" b="1">
              <a:latin typeface="Arial Narrow" panose="020B0606020202030204" pitchFamily="34" charset="0"/>
            </a:endParaRPr>
          </a:p>
        </p:txBody>
      </p:sp>
      <p:cxnSp>
        <p:nvCxnSpPr>
          <p:cNvPr id="178" name="Straight Arrow Connector 177"/>
          <p:cNvCxnSpPr/>
          <p:nvPr/>
        </p:nvCxnSpPr>
        <p:spPr>
          <a:xfrm>
            <a:off x="4157783" y="5826967"/>
            <a:ext cx="495369" cy="261738"/>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0" name="TextBox 179"/>
          <p:cNvSpPr txBox="1"/>
          <p:nvPr/>
        </p:nvSpPr>
        <p:spPr>
          <a:xfrm>
            <a:off x="3671309" y="5621835"/>
            <a:ext cx="537327" cy="261610"/>
          </a:xfrm>
          <a:prstGeom prst="rect">
            <a:avLst/>
          </a:prstGeom>
          <a:noFill/>
        </p:spPr>
        <p:txBody>
          <a:bodyPr wrap="none" rtlCol="0">
            <a:spAutoFit/>
          </a:bodyPr>
          <a:lstStyle/>
          <a:p>
            <a:r>
              <a:rPr lang="vi-VN" sz="1100" b="1">
                <a:solidFill>
                  <a:srgbClr val="C00000"/>
                </a:solidFill>
                <a:latin typeface="Arial Narrow" panose="020B0606020202030204" pitchFamily="34" charset="0"/>
              </a:rPr>
              <a:t>Punch</a:t>
            </a:r>
            <a:endParaRPr lang="en-US" sz="1100" b="1">
              <a:solidFill>
                <a:srgbClr val="C00000"/>
              </a:solidFill>
              <a:latin typeface="Arial Narrow" panose="020B0606020202030204" pitchFamily="34" charset="0"/>
            </a:endParaRPr>
          </a:p>
        </p:txBody>
      </p:sp>
      <p:cxnSp>
        <p:nvCxnSpPr>
          <p:cNvPr id="181" name="Straight Arrow Connector 180"/>
          <p:cNvCxnSpPr/>
          <p:nvPr/>
        </p:nvCxnSpPr>
        <p:spPr>
          <a:xfrm flipV="1">
            <a:off x="3682481" y="6102476"/>
            <a:ext cx="681309" cy="20635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3" name="TextBox 182"/>
          <p:cNvSpPr txBox="1"/>
          <p:nvPr/>
        </p:nvSpPr>
        <p:spPr>
          <a:xfrm>
            <a:off x="3138348" y="6205599"/>
            <a:ext cx="518091" cy="261610"/>
          </a:xfrm>
          <a:prstGeom prst="rect">
            <a:avLst/>
          </a:prstGeom>
          <a:noFill/>
        </p:spPr>
        <p:txBody>
          <a:bodyPr wrap="none" rtlCol="0">
            <a:spAutoFit/>
          </a:bodyPr>
          <a:lstStyle/>
          <a:p>
            <a:r>
              <a:rPr lang="vi-VN" sz="1100" b="1">
                <a:latin typeface="Arial Narrow" panose="020B0606020202030204" pitchFamily="34" charset="0"/>
              </a:rPr>
              <a:t>Upper</a:t>
            </a:r>
            <a:endParaRPr lang="en-US" sz="1100" b="1">
              <a:latin typeface="Arial Narrow" panose="020B0606020202030204" pitchFamily="34" charset="0"/>
            </a:endParaRPr>
          </a:p>
        </p:txBody>
      </p:sp>
      <p:grpSp>
        <p:nvGrpSpPr>
          <p:cNvPr id="214" name="Group 213"/>
          <p:cNvGrpSpPr/>
          <p:nvPr/>
        </p:nvGrpSpPr>
        <p:grpSpPr>
          <a:xfrm>
            <a:off x="5975509" y="5944199"/>
            <a:ext cx="1773079" cy="685589"/>
            <a:chOff x="5975509" y="5944199"/>
            <a:chExt cx="1773079" cy="685589"/>
          </a:xfrm>
        </p:grpSpPr>
        <p:grpSp>
          <p:nvGrpSpPr>
            <p:cNvPr id="184" name="Group 183"/>
            <p:cNvGrpSpPr/>
            <p:nvPr/>
          </p:nvGrpSpPr>
          <p:grpSpPr>
            <a:xfrm>
              <a:off x="5975509" y="5944199"/>
              <a:ext cx="1773079" cy="685589"/>
              <a:chOff x="4130040" y="5944199"/>
              <a:chExt cx="1773079" cy="685589"/>
            </a:xfrm>
          </p:grpSpPr>
          <p:sp>
            <p:nvSpPr>
              <p:cNvPr id="185" name="Rectangle 184"/>
              <p:cNvSpPr/>
              <p:nvPr/>
            </p:nvSpPr>
            <p:spPr>
              <a:xfrm>
                <a:off x="4309975" y="6248788"/>
                <a:ext cx="141931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Trapezoid 185"/>
              <p:cNvSpPr/>
              <p:nvPr/>
            </p:nvSpPr>
            <p:spPr>
              <a:xfrm rot="10800000">
                <a:off x="4470144" y="6036753"/>
                <a:ext cx="360869" cy="349615"/>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7" name="Group 186"/>
              <p:cNvGrpSpPr/>
              <p:nvPr/>
            </p:nvGrpSpPr>
            <p:grpSpPr>
              <a:xfrm>
                <a:off x="4333875" y="5948362"/>
                <a:ext cx="584257" cy="450046"/>
                <a:chOff x="4333875" y="5945981"/>
                <a:chExt cx="584257" cy="450046"/>
              </a:xfrm>
            </p:grpSpPr>
            <p:grpSp>
              <p:nvGrpSpPr>
                <p:cNvPr id="204" name="Group 203"/>
                <p:cNvGrpSpPr/>
                <p:nvPr/>
              </p:nvGrpSpPr>
              <p:grpSpPr>
                <a:xfrm>
                  <a:off x="4501227" y="5980973"/>
                  <a:ext cx="294836" cy="415054"/>
                  <a:chOff x="3335867" y="5774531"/>
                  <a:chExt cx="294836" cy="415054"/>
                </a:xfrm>
              </p:grpSpPr>
              <p:sp>
                <p:nvSpPr>
                  <p:cNvPr id="206" name="Can 205"/>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rapezoid 206"/>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Trapezoid 207"/>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5" name="Rectangle 204"/>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88" name="Straight Connector 187"/>
              <p:cNvCxnSpPr/>
              <p:nvPr/>
            </p:nvCxnSpPr>
            <p:spPr>
              <a:xfrm flipH="1">
                <a:off x="4130040" y="6234500"/>
                <a:ext cx="418079"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89" name="Group 188"/>
              <p:cNvGrpSpPr/>
              <p:nvPr/>
            </p:nvGrpSpPr>
            <p:grpSpPr>
              <a:xfrm>
                <a:off x="5001376" y="5944199"/>
                <a:ext cx="584257" cy="450046"/>
                <a:chOff x="4333875" y="5945981"/>
                <a:chExt cx="584257" cy="450046"/>
              </a:xfrm>
            </p:grpSpPr>
            <p:grpSp>
              <p:nvGrpSpPr>
                <p:cNvPr id="199" name="Group 198"/>
                <p:cNvGrpSpPr/>
                <p:nvPr/>
              </p:nvGrpSpPr>
              <p:grpSpPr>
                <a:xfrm>
                  <a:off x="4501227" y="5980973"/>
                  <a:ext cx="294836" cy="415054"/>
                  <a:chOff x="3335867" y="5774531"/>
                  <a:chExt cx="294836" cy="415054"/>
                </a:xfrm>
              </p:grpSpPr>
              <p:sp>
                <p:nvSpPr>
                  <p:cNvPr id="201" name="Can 200"/>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Trapezoid 201"/>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rapezoid 202"/>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0" name="Rectangle 199"/>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0" name="Trapezoid 189"/>
              <p:cNvSpPr/>
              <p:nvPr/>
            </p:nvSpPr>
            <p:spPr>
              <a:xfrm rot="10800000">
                <a:off x="5139544" y="6034859"/>
                <a:ext cx="352130" cy="349615"/>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1" name="Group 190"/>
              <p:cNvGrpSpPr/>
              <p:nvPr/>
            </p:nvGrpSpPr>
            <p:grpSpPr>
              <a:xfrm>
                <a:off x="5001376" y="5948951"/>
                <a:ext cx="584257" cy="450046"/>
                <a:chOff x="4333875" y="5945981"/>
                <a:chExt cx="584257" cy="450046"/>
              </a:xfrm>
            </p:grpSpPr>
            <p:grpSp>
              <p:nvGrpSpPr>
                <p:cNvPr id="194" name="Group 193"/>
                <p:cNvGrpSpPr/>
                <p:nvPr/>
              </p:nvGrpSpPr>
              <p:grpSpPr>
                <a:xfrm>
                  <a:off x="4501227" y="5980973"/>
                  <a:ext cx="294836" cy="415054"/>
                  <a:chOff x="3335867" y="5774531"/>
                  <a:chExt cx="294836" cy="415054"/>
                </a:xfrm>
              </p:grpSpPr>
              <p:sp>
                <p:nvSpPr>
                  <p:cNvPr id="196" name="Can 195"/>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Trapezoid 196"/>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Trapezoid 197"/>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5" name="Rectangle 194"/>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92" name="Straight Connector 191"/>
              <p:cNvCxnSpPr/>
              <p:nvPr/>
            </p:nvCxnSpPr>
            <p:spPr>
              <a:xfrm flipH="1">
                <a:off x="4755629" y="6231731"/>
                <a:ext cx="457200" cy="387"/>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5420632" y="6234500"/>
                <a:ext cx="482487"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1" name="Rectangle 210"/>
            <p:cNvSpPr/>
            <p:nvPr/>
          </p:nvSpPr>
          <p:spPr>
            <a:xfrm>
              <a:off x="6155444" y="6014902"/>
              <a:ext cx="1420443" cy="1863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5" name="Group 214"/>
          <p:cNvGrpSpPr/>
          <p:nvPr/>
        </p:nvGrpSpPr>
        <p:grpSpPr>
          <a:xfrm>
            <a:off x="7801853" y="5944199"/>
            <a:ext cx="1773079" cy="685589"/>
            <a:chOff x="5975509" y="5944199"/>
            <a:chExt cx="1773079" cy="685589"/>
          </a:xfrm>
        </p:grpSpPr>
        <p:grpSp>
          <p:nvGrpSpPr>
            <p:cNvPr id="216" name="Group 215"/>
            <p:cNvGrpSpPr/>
            <p:nvPr/>
          </p:nvGrpSpPr>
          <p:grpSpPr>
            <a:xfrm>
              <a:off x="5975509" y="5944199"/>
              <a:ext cx="1773079" cy="685589"/>
              <a:chOff x="4130040" y="5944199"/>
              <a:chExt cx="1773079" cy="685589"/>
            </a:xfrm>
          </p:grpSpPr>
          <p:sp>
            <p:nvSpPr>
              <p:cNvPr id="218" name="Rectangle 217"/>
              <p:cNvSpPr/>
              <p:nvPr/>
            </p:nvSpPr>
            <p:spPr>
              <a:xfrm>
                <a:off x="4309975" y="6248788"/>
                <a:ext cx="141931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Trapezoid 218"/>
              <p:cNvSpPr/>
              <p:nvPr/>
            </p:nvSpPr>
            <p:spPr>
              <a:xfrm rot="10800000">
                <a:off x="4464423" y="6036754"/>
                <a:ext cx="366589" cy="349615"/>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oup 219"/>
              <p:cNvGrpSpPr/>
              <p:nvPr/>
            </p:nvGrpSpPr>
            <p:grpSpPr>
              <a:xfrm>
                <a:off x="4333875" y="5948362"/>
                <a:ext cx="584257" cy="450046"/>
                <a:chOff x="4333875" y="5945981"/>
                <a:chExt cx="584257" cy="450046"/>
              </a:xfrm>
            </p:grpSpPr>
            <p:grpSp>
              <p:nvGrpSpPr>
                <p:cNvPr id="237" name="Group 236"/>
                <p:cNvGrpSpPr/>
                <p:nvPr/>
              </p:nvGrpSpPr>
              <p:grpSpPr>
                <a:xfrm>
                  <a:off x="4501227" y="5980973"/>
                  <a:ext cx="294836" cy="415054"/>
                  <a:chOff x="3335867" y="5774531"/>
                  <a:chExt cx="294836" cy="415054"/>
                </a:xfrm>
              </p:grpSpPr>
              <p:sp>
                <p:nvSpPr>
                  <p:cNvPr id="239" name="Can 238"/>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Trapezoid 239"/>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rapezoid 240"/>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8" name="Rectangle 237"/>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1" name="Straight Connector 220"/>
              <p:cNvCxnSpPr/>
              <p:nvPr/>
            </p:nvCxnSpPr>
            <p:spPr>
              <a:xfrm flipH="1">
                <a:off x="4130040" y="6234500"/>
                <a:ext cx="418079"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nvGrpSpPr>
              <p:cNvPr id="222" name="Group 221"/>
              <p:cNvGrpSpPr/>
              <p:nvPr/>
            </p:nvGrpSpPr>
            <p:grpSpPr>
              <a:xfrm>
                <a:off x="5001376" y="5944199"/>
                <a:ext cx="584257" cy="450046"/>
                <a:chOff x="4333875" y="5945981"/>
                <a:chExt cx="584257" cy="450046"/>
              </a:xfrm>
            </p:grpSpPr>
            <p:grpSp>
              <p:nvGrpSpPr>
                <p:cNvPr id="232" name="Group 231"/>
                <p:cNvGrpSpPr/>
                <p:nvPr/>
              </p:nvGrpSpPr>
              <p:grpSpPr>
                <a:xfrm>
                  <a:off x="4501227" y="5980973"/>
                  <a:ext cx="294836" cy="415054"/>
                  <a:chOff x="3335867" y="5774531"/>
                  <a:chExt cx="294836" cy="415054"/>
                </a:xfrm>
              </p:grpSpPr>
              <p:sp>
                <p:nvSpPr>
                  <p:cNvPr id="234" name="Can 233"/>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rapezoid 234"/>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Trapezoid 235"/>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3" name="Rectangle 232"/>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3" name="Trapezoid 222"/>
              <p:cNvSpPr/>
              <p:nvPr/>
            </p:nvSpPr>
            <p:spPr>
              <a:xfrm rot="10800000">
                <a:off x="5139544" y="6034860"/>
                <a:ext cx="358636" cy="349615"/>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4" name="Group 223"/>
              <p:cNvGrpSpPr/>
              <p:nvPr/>
            </p:nvGrpSpPr>
            <p:grpSpPr>
              <a:xfrm>
                <a:off x="5001376" y="5948951"/>
                <a:ext cx="584257" cy="450046"/>
                <a:chOff x="4333875" y="5945981"/>
                <a:chExt cx="584257" cy="450046"/>
              </a:xfrm>
            </p:grpSpPr>
            <p:grpSp>
              <p:nvGrpSpPr>
                <p:cNvPr id="227" name="Group 226"/>
                <p:cNvGrpSpPr/>
                <p:nvPr/>
              </p:nvGrpSpPr>
              <p:grpSpPr>
                <a:xfrm>
                  <a:off x="4501227" y="5980973"/>
                  <a:ext cx="294836" cy="415054"/>
                  <a:chOff x="3335867" y="5774531"/>
                  <a:chExt cx="294836" cy="415054"/>
                </a:xfrm>
              </p:grpSpPr>
              <p:sp>
                <p:nvSpPr>
                  <p:cNvPr id="229" name="Can 228"/>
                  <p:cNvSpPr/>
                  <p:nvPr/>
                </p:nvSpPr>
                <p:spPr>
                  <a:xfrm rot="10800000">
                    <a:off x="3405187" y="5808585"/>
                    <a:ext cx="156501" cy="381000"/>
                  </a:xfrm>
                  <a:prstGeom prst="can">
                    <a:avLst>
                      <a:gd name="adj" fmla="val 80974"/>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Trapezoid 229"/>
                  <p:cNvSpPr/>
                  <p:nvPr/>
                </p:nvSpPr>
                <p:spPr>
                  <a:xfrm rot="10800000">
                    <a:off x="3335867" y="5857695"/>
                    <a:ext cx="294836" cy="282780"/>
                  </a:xfrm>
                  <a:prstGeom prst="trapezoid">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rapezoid 230"/>
                  <p:cNvSpPr/>
                  <p:nvPr/>
                </p:nvSpPr>
                <p:spPr>
                  <a:xfrm rot="10800000">
                    <a:off x="3345657" y="5774531"/>
                    <a:ext cx="275522" cy="366974"/>
                  </a:xfrm>
                  <a:prstGeom prst="trapezoid">
                    <a:avLst>
                      <a:gd name="adj" fmla="val 2672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8" name="Rectangle 227"/>
                <p:cNvSpPr/>
                <p:nvPr/>
              </p:nvSpPr>
              <p:spPr>
                <a:xfrm>
                  <a:off x="4333875" y="5945981"/>
                  <a:ext cx="584257" cy="283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5" name="Straight Connector 224"/>
              <p:cNvCxnSpPr/>
              <p:nvPr/>
            </p:nvCxnSpPr>
            <p:spPr>
              <a:xfrm flipH="1">
                <a:off x="4755629" y="6231731"/>
                <a:ext cx="457200" cy="387"/>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flipH="1">
                <a:off x="5420632" y="6234500"/>
                <a:ext cx="482487"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7" name="Rectangle 216"/>
            <p:cNvSpPr/>
            <p:nvPr/>
          </p:nvSpPr>
          <p:spPr>
            <a:xfrm>
              <a:off x="6155444" y="6014902"/>
              <a:ext cx="1420443" cy="1863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2" name="Rectangle 241"/>
          <p:cNvSpPr/>
          <p:nvPr/>
        </p:nvSpPr>
        <p:spPr>
          <a:xfrm>
            <a:off x="6310849" y="6394001"/>
            <a:ext cx="1065751" cy="116338"/>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p:cNvSpPr/>
          <p:nvPr/>
        </p:nvSpPr>
        <p:spPr>
          <a:xfrm>
            <a:off x="8158567" y="6394610"/>
            <a:ext cx="1065751" cy="116338"/>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5351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Elbow Connector 11">
            <a:extLst>
              <a:ext uri="{FF2B5EF4-FFF2-40B4-BE49-F238E27FC236}">
                <a16:creationId xmlns:a16="http://schemas.microsoft.com/office/drawing/2014/main" id="{2F371E6A-5FC6-434E-AE81-1E697A00B065}"/>
              </a:ext>
            </a:extLst>
          </p:cNvPr>
          <p:cNvCxnSpPr>
            <a:stCxn id="30" idx="3"/>
            <a:endCxn id="33" idx="1"/>
          </p:cNvCxnSpPr>
          <p:nvPr/>
        </p:nvCxnSpPr>
        <p:spPr>
          <a:xfrm flipV="1">
            <a:off x="1358872" y="1182983"/>
            <a:ext cx="319103" cy="2679494"/>
          </a:xfrm>
          <a:prstGeom prst="bentConnector3">
            <a:avLst>
              <a:gd name="adj1" fmla="val 31427"/>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81363" y="27941"/>
            <a:ext cx="2449687" cy="334221"/>
            <a:chOff x="7376138" y="106318"/>
            <a:chExt cx="2449687" cy="334221"/>
          </a:xfrm>
        </p:grpSpPr>
        <p:sp>
          <p:nvSpPr>
            <p:cNvPr id="7" name="AutoShape 5"/>
            <p:cNvSpPr>
              <a:spLocks noChangeArrowheads="1"/>
            </p:cNvSpPr>
            <p:nvPr/>
          </p:nvSpPr>
          <p:spPr bwMode="auto">
            <a:xfrm>
              <a:off x="7376138" y="106318"/>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289276" y="106318"/>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54927" y="106318"/>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26" name="Text Box 2">
            <a:extLst>
              <a:ext uri="{FF2B5EF4-FFF2-40B4-BE49-F238E27FC236}">
                <a16:creationId xmlns:a16="http://schemas.microsoft.com/office/drawing/2014/main" id="{1E1AF7FC-B317-400E-BC14-BBC8F5FD6867}"/>
              </a:ext>
            </a:extLst>
          </p:cNvPr>
          <p:cNvSpPr txBox="1">
            <a:spLocks noChangeArrowheads="1"/>
          </p:cNvSpPr>
          <p:nvPr/>
        </p:nvSpPr>
        <p:spPr bwMode="auto">
          <a:xfrm>
            <a:off x="43579" y="3264850"/>
            <a:ext cx="1465360" cy="304800"/>
          </a:xfrm>
          <a:prstGeom prst="rect">
            <a:avLst/>
          </a:prstGeom>
          <a:noFill/>
          <a:ln w="9525" algn="ctr">
            <a:noFill/>
            <a:miter lim="800000"/>
            <a:headEnd/>
            <a:tailEnd/>
          </a:ln>
        </p:spPr>
        <p:txBody>
          <a:bodyPr lIns="84374" tIns="42187" rIns="84374" bIns="42187" anchor="ctr"/>
          <a:lstStyle/>
          <a:p>
            <a:pPr defTabSz="844083" fontAlgn="base" latinLnBrk="1">
              <a:spcBef>
                <a:spcPct val="0"/>
              </a:spcBef>
              <a:spcAft>
                <a:spcPct val="0"/>
              </a:spcAft>
              <a:defRPr/>
            </a:pPr>
            <a:r>
              <a:rPr lang="en-US" altLang="ko-KR"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Logic tree analysis</a:t>
            </a:r>
            <a:endParaRPr lang="ko-KR" altLang="en-US"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endParaRPr>
          </a:p>
        </p:txBody>
      </p:sp>
      <p:sp>
        <p:nvSpPr>
          <p:cNvPr id="30" name="Rectangle 29">
            <a:extLst>
              <a:ext uri="{FF2B5EF4-FFF2-40B4-BE49-F238E27FC236}">
                <a16:creationId xmlns:a16="http://schemas.microsoft.com/office/drawing/2014/main" id="{E8F28941-F58E-42F0-8A10-50B57E48540C}"/>
              </a:ext>
            </a:extLst>
          </p:cNvPr>
          <p:cNvSpPr/>
          <p:nvPr/>
        </p:nvSpPr>
        <p:spPr>
          <a:xfrm>
            <a:off x="193647" y="3592602"/>
            <a:ext cx="1165225" cy="539750"/>
          </a:xfrm>
          <a:prstGeom prst="rect">
            <a:avLst/>
          </a:prstGeom>
          <a:solidFill>
            <a:schemeClr val="bg1">
              <a:lumMod val="95000"/>
            </a:schemeClr>
          </a:solidFill>
          <a:ln w="31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b="1" dirty="0">
                <a:solidFill>
                  <a:prstClr val="black"/>
                </a:solidFill>
                <a:latin typeface="Arial Narrow" panose="020B0606020202030204" pitchFamily="34" charset="0"/>
                <a:ea typeface="LG Smart_H Regular" panose="020B0600000101010101" pitchFamily="34" charset="-127"/>
                <a:cs typeface="Arial" pitchFamily="34" charset="0"/>
              </a:rPr>
              <a:t>Emboss Height</a:t>
            </a:r>
          </a:p>
        </p:txBody>
      </p:sp>
      <p:sp>
        <p:nvSpPr>
          <p:cNvPr id="31" name="Rectangle 30">
            <a:extLst>
              <a:ext uri="{FF2B5EF4-FFF2-40B4-BE49-F238E27FC236}">
                <a16:creationId xmlns:a16="http://schemas.microsoft.com/office/drawing/2014/main" id="{1A753862-50E8-4C28-8985-1F6A416A5C49}"/>
              </a:ext>
            </a:extLst>
          </p:cNvPr>
          <p:cNvSpPr/>
          <p:nvPr/>
        </p:nvSpPr>
        <p:spPr>
          <a:xfrm>
            <a:off x="1677975" y="5464935"/>
            <a:ext cx="114839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Man</a:t>
            </a:r>
          </a:p>
        </p:txBody>
      </p:sp>
      <p:sp>
        <p:nvSpPr>
          <p:cNvPr id="32" name="Rectangle 31">
            <a:extLst>
              <a:ext uri="{FF2B5EF4-FFF2-40B4-BE49-F238E27FC236}">
                <a16:creationId xmlns:a16="http://schemas.microsoft.com/office/drawing/2014/main" id="{A8F186A3-7FD5-4805-A564-9CB1AAF94938}"/>
              </a:ext>
            </a:extLst>
          </p:cNvPr>
          <p:cNvSpPr/>
          <p:nvPr/>
        </p:nvSpPr>
        <p:spPr>
          <a:xfrm>
            <a:off x="4746066" y="5791092"/>
            <a:ext cx="136328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Automatic process</a:t>
            </a:r>
          </a:p>
        </p:txBody>
      </p:sp>
      <p:sp>
        <p:nvSpPr>
          <p:cNvPr id="33" name="Rectangle 32">
            <a:extLst>
              <a:ext uri="{FF2B5EF4-FFF2-40B4-BE49-F238E27FC236}">
                <a16:creationId xmlns:a16="http://schemas.microsoft.com/office/drawing/2014/main" id="{4808D4DD-43CE-4379-BA97-FBEDEA42FE28}"/>
              </a:ext>
            </a:extLst>
          </p:cNvPr>
          <p:cNvSpPr/>
          <p:nvPr/>
        </p:nvSpPr>
        <p:spPr>
          <a:xfrm>
            <a:off x="1677975" y="913108"/>
            <a:ext cx="1146118" cy="539750"/>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Material</a:t>
            </a:r>
          </a:p>
        </p:txBody>
      </p:sp>
      <p:sp>
        <p:nvSpPr>
          <p:cNvPr id="34" name="Rectangle 33">
            <a:extLst>
              <a:ext uri="{FF2B5EF4-FFF2-40B4-BE49-F238E27FC236}">
                <a16:creationId xmlns:a16="http://schemas.microsoft.com/office/drawing/2014/main" id="{E918E141-5135-4722-BC6F-9FC544A2BC9C}"/>
              </a:ext>
            </a:extLst>
          </p:cNvPr>
          <p:cNvSpPr/>
          <p:nvPr/>
        </p:nvSpPr>
        <p:spPr>
          <a:xfrm>
            <a:off x="3096048" y="1633804"/>
            <a:ext cx="1296573"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prstClr val="black"/>
                </a:solidFill>
                <a:latin typeface="Arial Narrow" panose="020B0606020202030204" pitchFamily="34" charset="0"/>
                <a:ea typeface="LG Smart_H Regular" panose="020B0600000101010101" pitchFamily="34" charset="-127"/>
                <a:cs typeface="Arial" pitchFamily="34" charset="0"/>
              </a:rPr>
              <a:t>Mold</a:t>
            </a:r>
          </a:p>
        </p:txBody>
      </p:sp>
      <p:sp>
        <p:nvSpPr>
          <p:cNvPr id="35" name="Rectangle 34">
            <a:extLst>
              <a:ext uri="{FF2B5EF4-FFF2-40B4-BE49-F238E27FC236}">
                <a16:creationId xmlns:a16="http://schemas.microsoft.com/office/drawing/2014/main" id="{5F65FC09-6171-471A-ABAF-9BE34A80372F}"/>
              </a:ext>
            </a:extLst>
          </p:cNvPr>
          <p:cNvSpPr/>
          <p:nvPr/>
        </p:nvSpPr>
        <p:spPr>
          <a:xfrm>
            <a:off x="3144693" y="5791092"/>
            <a:ext cx="124792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Working skill</a:t>
            </a:r>
          </a:p>
        </p:txBody>
      </p:sp>
      <p:sp>
        <p:nvSpPr>
          <p:cNvPr id="36" name="Rectangle 35">
            <a:extLst>
              <a:ext uri="{FF2B5EF4-FFF2-40B4-BE49-F238E27FC236}">
                <a16:creationId xmlns:a16="http://schemas.microsoft.com/office/drawing/2014/main" id="{7B5EA504-1229-43F8-8C63-EFD293464697}"/>
              </a:ext>
            </a:extLst>
          </p:cNvPr>
          <p:cNvSpPr/>
          <p:nvPr/>
        </p:nvSpPr>
        <p:spPr>
          <a:xfrm>
            <a:off x="4737749" y="1633804"/>
            <a:ext cx="1371600"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prstClr val="black"/>
                </a:solidFill>
                <a:latin typeface="Arial Narrow" panose="020B0606020202030204" pitchFamily="34" charset="0"/>
                <a:ea typeface="LG Smart_H Regular" panose="020B0600000101010101" pitchFamily="34" charset="-127"/>
                <a:cs typeface="Arial" pitchFamily="34" charset="0"/>
              </a:rPr>
              <a:t>Punch </a:t>
            </a:r>
          </a:p>
        </p:txBody>
      </p:sp>
      <p:cxnSp>
        <p:nvCxnSpPr>
          <p:cNvPr id="38" name="Elbow Connector 14">
            <a:extLst>
              <a:ext uri="{FF2B5EF4-FFF2-40B4-BE49-F238E27FC236}">
                <a16:creationId xmlns:a16="http://schemas.microsoft.com/office/drawing/2014/main" id="{72056CE4-587D-433E-A030-BD954D1DB882}"/>
              </a:ext>
            </a:extLst>
          </p:cNvPr>
          <p:cNvCxnSpPr>
            <a:cxnSpLocks/>
            <a:stCxn id="30" idx="3"/>
            <a:endCxn id="31" idx="1"/>
          </p:cNvCxnSpPr>
          <p:nvPr/>
        </p:nvCxnSpPr>
        <p:spPr>
          <a:xfrm>
            <a:off x="1358872" y="3862477"/>
            <a:ext cx="319103" cy="1872333"/>
          </a:xfrm>
          <a:prstGeom prst="bentConnector3">
            <a:avLst>
              <a:gd name="adj1" fmla="val 3408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B75F628-4447-4C86-AD46-6136BEC32AA9}"/>
              </a:ext>
            </a:extLst>
          </p:cNvPr>
          <p:cNvCxnSpPr>
            <a:stCxn id="35" idx="3"/>
            <a:endCxn id="32" idx="1"/>
          </p:cNvCxnSpPr>
          <p:nvPr/>
        </p:nvCxnSpPr>
        <p:spPr>
          <a:xfrm>
            <a:off x="4392620" y="6060967"/>
            <a:ext cx="353446"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C7E7C8E8-927E-4501-BAB6-54F2C609E524}"/>
              </a:ext>
            </a:extLst>
          </p:cNvPr>
          <p:cNvSpPr/>
          <p:nvPr/>
        </p:nvSpPr>
        <p:spPr>
          <a:xfrm>
            <a:off x="6443272" y="1633804"/>
            <a:ext cx="1941257"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prstClr val="black"/>
                </a:solidFill>
                <a:latin typeface="Arial Narrow" panose="020B0606020202030204" pitchFamily="34" charset="0"/>
                <a:ea typeface="LG Smart_H Regular" panose="020B0600000101010101" pitchFamily="34" charset="-127"/>
                <a:cs typeface="Arial" pitchFamily="34" charset="0"/>
              </a:rPr>
              <a:t>Punch height</a:t>
            </a:r>
          </a:p>
        </p:txBody>
      </p:sp>
      <p:sp>
        <p:nvSpPr>
          <p:cNvPr id="41" name="Rectangle 40">
            <a:extLst>
              <a:ext uri="{FF2B5EF4-FFF2-40B4-BE49-F238E27FC236}">
                <a16:creationId xmlns:a16="http://schemas.microsoft.com/office/drawing/2014/main" id="{626CB624-4AA7-4C7C-8710-CB25485C41ED}"/>
              </a:ext>
            </a:extLst>
          </p:cNvPr>
          <p:cNvSpPr/>
          <p:nvPr/>
        </p:nvSpPr>
        <p:spPr>
          <a:xfrm>
            <a:off x="6439120" y="2961180"/>
            <a:ext cx="1963383" cy="539750"/>
          </a:xfrm>
          <a:prstGeom prst="rect">
            <a:avLst/>
          </a:prstGeom>
          <a:solidFill>
            <a:schemeClr val="bg1">
              <a:lumMod val="95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defRPr/>
            </a:pPr>
            <a:r>
              <a:rPr lang="vi-VN" sz="1000">
                <a:solidFill>
                  <a:schemeClr val="bg1">
                    <a:lumMod val="50000"/>
                  </a:schemeClr>
                </a:solidFill>
                <a:latin typeface="Arial Narrow" panose="020B0606020202030204" pitchFamily="34" charset="0"/>
                <a:ea typeface="LG Smart_H Regular" panose="020B0600000101010101" pitchFamily="34" charset="-127"/>
                <a:cs typeface="Arial" pitchFamily="34" charset="0"/>
              </a:rPr>
              <a:t>Punch </a:t>
            </a:r>
            <a:r>
              <a:rPr lang="en-US" sz="1000">
                <a:solidFill>
                  <a:schemeClr val="bg1">
                    <a:lumMod val="50000"/>
                  </a:schemeClr>
                </a:solidFill>
                <a:latin typeface="Arial Narrow" panose="020B0606020202030204" pitchFamily="34" charset="0"/>
              </a:rPr>
              <a:t>Diameter</a:t>
            </a:r>
          </a:p>
        </p:txBody>
      </p:sp>
      <p:sp>
        <p:nvSpPr>
          <p:cNvPr id="42" name="Rectangle 41">
            <a:extLst>
              <a:ext uri="{FF2B5EF4-FFF2-40B4-BE49-F238E27FC236}">
                <a16:creationId xmlns:a16="http://schemas.microsoft.com/office/drawing/2014/main" id="{83351F65-0983-44DE-9CB9-64D05DE5B5F6}"/>
              </a:ext>
            </a:extLst>
          </p:cNvPr>
          <p:cNvSpPr/>
          <p:nvPr/>
        </p:nvSpPr>
        <p:spPr>
          <a:xfrm>
            <a:off x="6435991" y="5791092"/>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Man is not related</a:t>
            </a:r>
          </a:p>
        </p:txBody>
      </p:sp>
      <p:cxnSp>
        <p:nvCxnSpPr>
          <p:cNvPr id="43" name="Straight Arrow Connector 42">
            <a:extLst>
              <a:ext uri="{FF2B5EF4-FFF2-40B4-BE49-F238E27FC236}">
                <a16:creationId xmlns:a16="http://schemas.microsoft.com/office/drawing/2014/main" id="{38262867-FEEB-42B7-8B5B-A99D55F41D63}"/>
              </a:ext>
            </a:extLst>
          </p:cNvPr>
          <p:cNvCxnSpPr>
            <a:cxnSpLocks/>
            <a:stCxn id="32" idx="3"/>
            <a:endCxn id="42" idx="1"/>
          </p:cNvCxnSpPr>
          <p:nvPr/>
        </p:nvCxnSpPr>
        <p:spPr>
          <a:xfrm>
            <a:off x="6109349" y="6060967"/>
            <a:ext cx="32664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F4661D18-C20A-4D71-856F-8111E4E7946B}"/>
              </a:ext>
            </a:extLst>
          </p:cNvPr>
          <p:cNvSpPr/>
          <p:nvPr/>
        </p:nvSpPr>
        <p:spPr>
          <a:xfrm>
            <a:off x="1685256" y="3608510"/>
            <a:ext cx="1138837"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prstClr val="black"/>
                </a:solidFill>
                <a:latin typeface="Arial Narrow" panose="020B0606020202030204" pitchFamily="34" charset="0"/>
                <a:ea typeface="LG Smart_H Regular" panose="020B0600000101010101" pitchFamily="34" charset="-127"/>
                <a:cs typeface="Arial" pitchFamily="34" charset="0"/>
              </a:rPr>
              <a:t>Machine</a:t>
            </a:r>
          </a:p>
        </p:txBody>
      </p:sp>
      <p:sp>
        <p:nvSpPr>
          <p:cNvPr id="45" name="Rectangle 44">
            <a:extLst>
              <a:ext uri="{FF2B5EF4-FFF2-40B4-BE49-F238E27FC236}">
                <a16:creationId xmlns:a16="http://schemas.microsoft.com/office/drawing/2014/main" id="{82202A3A-F6F8-4D6B-9808-855EEC28EC4A}"/>
              </a:ext>
            </a:extLst>
          </p:cNvPr>
          <p:cNvSpPr/>
          <p:nvPr/>
        </p:nvSpPr>
        <p:spPr>
          <a:xfrm>
            <a:off x="1677975" y="4473209"/>
            <a:ext cx="114007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Method</a:t>
            </a:r>
          </a:p>
        </p:txBody>
      </p:sp>
      <p:sp>
        <p:nvSpPr>
          <p:cNvPr id="46" name="Rectangle 45">
            <a:extLst>
              <a:ext uri="{FF2B5EF4-FFF2-40B4-BE49-F238E27FC236}">
                <a16:creationId xmlns:a16="http://schemas.microsoft.com/office/drawing/2014/main" id="{B5AB5F9C-0812-4CC3-8A99-7A24D5CF4D46}"/>
              </a:ext>
            </a:extLst>
          </p:cNvPr>
          <p:cNvSpPr/>
          <p:nvPr/>
        </p:nvSpPr>
        <p:spPr>
          <a:xfrm>
            <a:off x="4737749" y="3608510"/>
            <a:ext cx="1379917"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a:solidFill>
                  <a:prstClr val="black"/>
                </a:solidFill>
                <a:latin typeface="Arial Narrow" panose="020B0606020202030204" pitchFamily="34" charset="0"/>
                <a:ea typeface="LG Smart_H Regular" panose="020B0600000101010101" pitchFamily="34" charset="-127"/>
                <a:cs typeface="Arial" pitchFamily="34" charset="0"/>
                <a:sym typeface="Wingdings" panose="05000000000000000000" pitchFamily="2" charset="2"/>
              </a:rPr>
              <a:t>Pressure Condition</a:t>
            </a:r>
            <a:endParaRPr lang="en-US" sz="1000" dirty="0">
              <a:solidFill>
                <a:prstClr val="black"/>
              </a:solidFill>
              <a:latin typeface="Arial Narrow" panose="020B0606020202030204" pitchFamily="34" charset="0"/>
              <a:ea typeface="LG Smart_H Regular" panose="020B0600000101010101" pitchFamily="34" charset="-127"/>
              <a:cs typeface="Arial" pitchFamily="34" charset="0"/>
            </a:endParaRPr>
          </a:p>
        </p:txBody>
      </p:sp>
      <p:sp>
        <p:nvSpPr>
          <p:cNvPr id="47" name="Rectangle 46">
            <a:extLst>
              <a:ext uri="{FF2B5EF4-FFF2-40B4-BE49-F238E27FC236}">
                <a16:creationId xmlns:a16="http://schemas.microsoft.com/office/drawing/2014/main" id="{CA4F28FF-5DE7-4678-A9C6-681D6F359BD4}"/>
              </a:ext>
            </a:extLst>
          </p:cNvPr>
          <p:cNvSpPr/>
          <p:nvPr/>
        </p:nvSpPr>
        <p:spPr>
          <a:xfrm>
            <a:off x="3184676" y="3608510"/>
            <a:ext cx="1207944"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prstClr val="black"/>
                </a:solidFill>
                <a:latin typeface="Arial Narrow" panose="020B0606020202030204" pitchFamily="34" charset="0"/>
                <a:ea typeface="LG Smart_H Regular" panose="020B0600000101010101" pitchFamily="34" charset="-127"/>
                <a:cs typeface="Arial" pitchFamily="34" charset="0"/>
              </a:rPr>
              <a:t>Press Machine</a:t>
            </a:r>
          </a:p>
        </p:txBody>
      </p:sp>
      <p:cxnSp>
        <p:nvCxnSpPr>
          <p:cNvPr id="48" name="Straight Arrow Connector 47">
            <a:extLst>
              <a:ext uri="{FF2B5EF4-FFF2-40B4-BE49-F238E27FC236}">
                <a16:creationId xmlns:a16="http://schemas.microsoft.com/office/drawing/2014/main" id="{5000893C-8F56-4127-950D-587CC094C115}"/>
              </a:ext>
            </a:extLst>
          </p:cNvPr>
          <p:cNvCxnSpPr>
            <a:cxnSpLocks/>
            <a:stCxn id="47" idx="3"/>
            <a:endCxn id="46" idx="1"/>
          </p:cNvCxnSpPr>
          <p:nvPr/>
        </p:nvCxnSpPr>
        <p:spPr>
          <a:xfrm>
            <a:off x="4392620" y="3878385"/>
            <a:ext cx="34512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8CB32BA0-36D6-475C-A3F5-DC9AA6BA710E}"/>
              </a:ext>
            </a:extLst>
          </p:cNvPr>
          <p:cNvSpPr/>
          <p:nvPr/>
        </p:nvSpPr>
        <p:spPr>
          <a:xfrm>
            <a:off x="6443272" y="3608510"/>
            <a:ext cx="1963383"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prstClr val="black"/>
                </a:solidFill>
                <a:latin typeface="Arial Narrow" panose="020B0606020202030204" pitchFamily="34" charset="0"/>
                <a:ea typeface="LG Smart_H Regular" panose="020B0600000101010101" pitchFamily="34" charset="-127"/>
                <a:cs typeface="Arial" pitchFamily="34" charset="0"/>
              </a:rPr>
              <a:t>Adjust pressure</a:t>
            </a:r>
          </a:p>
        </p:txBody>
      </p:sp>
      <p:cxnSp>
        <p:nvCxnSpPr>
          <p:cNvPr id="50" name="Straight Arrow Connector 49">
            <a:extLst>
              <a:ext uri="{FF2B5EF4-FFF2-40B4-BE49-F238E27FC236}">
                <a16:creationId xmlns:a16="http://schemas.microsoft.com/office/drawing/2014/main" id="{8D769974-D47F-4D12-B78E-04B55808DB2B}"/>
              </a:ext>
            </a:extLst>
          </p:cNvPr>
          <p:cNvCxnSpPr>
            <a:cxnSpLocks/>
            <a:stCxn id="46" idx="3"/>
            <a:endCxn id="49" idx="1"/>
          </p:cNvCxnSpPr>
          <p:nvPr/>
        </p:nvCxnSpPr>
        <p:spPr>
          <a:xfrm>
            <a:off x="6117666" y="3878385"/>
            <a:ext cx="32560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94F10FF3-5796-4C81-87FC-F63402EFD60C}"/>
              </a:ext>
            </a:extLst>
          </p:cNvPr>
          <p:cNvCxnSpPr>
            <a:stCxn id="44" idx="3"/>
            <a:endCxn id="47" idx="1"/>
          </p:cNvCxnSpPr>
          <p:nvPr/>
        </p:nvCxnSpPr>
        <p:spPr>
          <a:xfrm>
            <a:off x="2824093" y="3878385"/>
            <a:ext cx="36058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11">
            <a:extLst>
              <a:ext uri="{FF2B5EF4-FFF2-40B4-BE49-F238E27FC236}">
                <a16:creationId xmlns:a16="http://schemas.microsoft.com/office/drawing/2014/main" id="{671C9F46-71F2-40D5-8B71-E749E46C2B2D}"/>
              </a:ext>
            </a:extLst>
          </p:cNvPr>
          <p:cNvCxnSpPr>
            <a:cxnSpLocks/>
            <a:stCxn id="30" idx="3"/>
            <a:endCxn id="45" idx="1"/>
          </p:cNvCxnSpPr>
          <p:nvPr/>
        </p:nvCxnSpPr>
        <p:spPr>
          <a:xfrm>
            <a:off x="1358872" y="3862477"/>
            <a:ext cx="319103" cy="880607"/>
          </a:xfrm>
          <a:prstGeom prst="bentConnector3">
            <a:avLst>
              <a:gd name="adj1" fmla="val 3408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80DC4F33-3549-40B6-9AE1-5E921CCCFA2D}"/>
              </a:ext>
            </a:extLst>
          </p:cNvPr>
          <p:cNvSpPr/>
          <p:nvPr/>
        </p:nvSpPr>
        <p:spPr>
          <a:xfrm>
            <a:off x="3144693" y="4473209"/>
            <a:ext cx="124792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Assembly method</a:t>
            </a:r>
          </a:p>
        </p:txBody>
      </p:sp>
      <p:cxnSp>
        <p:nvCxnSpPr>
          <p:cNvPr id="54" name="Straight Arrow Connector 53">
            <a:extLst>
              <a:ext uri="{FF2B5EF4-FFF2-40B4-BE49-F238E27FC236}">
                <a16:creationId xmlns:a16="http://schemas.microsoft.com/office/drawing/2014/main" id="{9C73D917-7F85-4D81-98D1-781FA40BCF6B}"/>
              </a:ext>
            </a:extLst>
          </p:cNvPr>
          <p:cNvCxnSpPr>
            <a:stCxn id="45" idx="3"/>
            <a:endCxn id="53" idx="1"/>
          </p:cNvCxnSpPr>
          <p:nvPr/>
        </p:nvCxnSpPr>
        <p:spPr>
          <a:xfrm>
            <a:off x="2818052" y="4743084"/>
            <a:ext cx="32664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3C19F750-5E04-49CA-A867-C70F908BF244}"/>
              </a:ext>
            </a:extLst>
          </p:cNvPr>
          <p:cNvSpPr/>
          <p:nvPr/>
        </p:nvSpPr>
        <p:spPr>
          <a:xfrm>
            <a:off x="4737749" y="4473209"/>
            <a:ext cx="137160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Manual Assemble to input jig</a:t>
            </a:r>
          </a:p>
        </p:txBody>
      </p:sp>
      <p:cxnSp>
        <p:nvCxnSpPr>
          <p:cNvPr id="56" name="Straight Arrow Connector 55">
            <a:extLst>
              <a:ext uri="{FF2B5EF4-FFF2-40B4-BE49-F238E27FC236}">
                <a16:creationId xmlns:a16="http://schemas.microsoft.com/office/drawing/2014/main" id="{DBB96059-FB9E-416B-9483-53FFFE22068F}"/>
              </a:ext>
            </a:extLst>
          </p:cNvPr>
          <p:cNvCxnSpPr>
            <a:cxnSpLocks/>
            <a:stCxn id="53" idx="3"/>
            <a:endCxn id="55" idx="1"/>
          </p:cNvCxnSpPr>
          <p:nvPr/>
        </p:nvCxnSpPr>
        <p:spPr>
          <a:xfrm>
            <a:off x="4392620" y="4743084"/>
            <a:ext cx="34512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D9354EDA-B737-4065-A2D7-3179270E9CC5}"/>
              </a:ext>
            </a:extLst>
          </p:cNvPr>
          <p:cNvSpPr/>
          <p:nvPr/>
        </p:nvSpPr>
        <p:spPr>
          <a:xfrm>
            <a:off x="6435991" y="4473209"/>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a:solidFill>
                  <a:schemeClr val="bg1">
                    <a:lumMod val="50000"/>
                  </a:schemeClr>
                </a:solidFill>
                <a:latin typeface="Arial Narrow" panose="020B0606020202030204" pitchFamily="34" charset="0"/>
                <a:ea typeface="LG Smart_H Regular" panose="020B0600000101010101" pitchFamily="34" charset="-127"/>
                <a:cs typeface="Arial" pitchFamily="34" charset="0"/>
              </a:rPr>
              <a:t>Method is not related</a:t>
            </a:r>
            <a:endPar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endParaRPr>
          </a:p>
        </p:txBody>
      </p:sp>
      <p:cxnSp>
        <p:nvCxnSpPr>
          <p:cNvPr id="58" name="Straight Arrow Connector 57">
            <a:extLst>
              <a:ext uri="{FF2B5EF4-FFF2-40B4-BE49-F238E27FC236}">
                <a16:creationId xmlns:a16="http://schemas.microsoft.com/office/drawing/2014/main" id="{0F4D13A6-5283-4E2C-BDDB-C63C02C4F7E4}"/>
              </a:ext>
            </a:extLst>
          </p:cNvPr>
          <p:cNvCxnSpPr>
            <a:cxnSpLocks/>
            <a:stCxn id="55" idx="3"/>
            <a:endCxn id="57" idx="1"/>
          </p:cNvCxnSpPr>
          <p:nvPr/>
        </p:nvCxnSpPr>
        <p:spPr>
          <a:xfrm>
            <a:off x="6109350" y="4743084"/>
            <a:ext cx="32664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669E342E-2D95-4FBD-8433-7730E4EC0D37}"/>
              </a:ext>
            </a:extLst>
          </p:cNvPr>
          <p:cNvSpPr/>
          <p:nvPr/>
        </p:nvSpPr>
        <p:spPr>
          <a:xfrm>
            <a:off x="4737749" y="5166919"/>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Other function is OK, only Flush is NG</a:t>
            </a:r>
          </a:p>
        </p:txBody>
      </p:sp>
      <p:sp>
        <p:nvSpPr>
          <p:cNvPr id="60" name="Rectangle 59">
            <a:extLst>
              <a:ext uri="{FF2B5EF4-FFF2-40B4-BE49-F238E27FC236}">
                <a16:creationId xmlns:a16="http://schemas.microsoft.com/office/drawing/2014/main" id="{4F912C73-C7C9-4A72-888F-BC4541CA5E63}"/>
              </a:ext>
            </a:extLst>
          </p:cNvPr>
          <p:cNvSpPr/>
          <p:nvPr/>
        </p:nvSpPr>
        <p:spPr>
          <a:xfrm>
            <a:off x="3144693" y="5166919"/>
            <a:ext cx="124792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Input set to jig not fully</a:t>
            </a:r>
          </a:p>
        </p:txBody>
      </p:sp>
      <p:cxnSp>
        <p:nvCxnSpPr>
          <p:cNvPr id="61" name="Straight Arrow Connector 60">
            <a:extLst>
              <a:ext uri="{FF2B5EF4-FFF2-40B4-BE49-F238E27FC236}">
                <a16:creationId xmlns:a16="http://schemas.microsoft.com/office/drawing/2014/main" id="{84D6DCD6-C6DE-409F-BE4C-A6948F48BF46}"/>
              </a:ext>
            </a:extLst>
          </p:cNvPr>
          <p:cNvCxnSpPr>
            <a:stCxn id="60" idx="3"/>
            <a:endCxn id="59" idx="1"/>
          </p:cNvCxnSpPr>
          <p:nvPr/>
        </p:nvCxnSpPr>
        <p:spPr>
          <a:xfrm>
            <a:off x="4392621" y="5436794"/>
            <a:ext cx="34512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37C1A4E3-2AFE-4B0E-8131-E452FF69ADBF}"/>
              </a:ext>
            </a:extLst>
          </p:cNvPr>
          <p:cNvSpPr/>
          <p:nvPr/>
        </p:nvSpPr>
        <p:spPr>
          <a:xfrm>
            <a:off x="6435990" y="5166919"/>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rPr>
              <a:t>Not relate </a:t>
            </a:r>
            <a:r>
              <a:rPr lang="en-US" sz="1000">
                <a:solidFill>
                  <a:schemeClr val="bg1">
                    <a:lumMod val="50000"/>
                  </a:schemeClr>
                </a:solidFill>
                <a:latin typeface="Arial Narrow" panose="020B0606020202030204" pitchFamily="34" charset="0"/>
                <a:ea typeface="LG Smart_H Regular" panose="020B0600000101010101" pitchFamily="34" charset="-127"/>
                <a:cs typeface="Arial" pitchFamily="34" charset="0"/>
              </a:rPr>
              <a:t>to part input</a:t>
            </a:r>
            <a:endPar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endParaRPr>
          </a:p>
        </p:txBody>
      </p:sp>
      <p:cxnSp>
        <p:nvCxnSpPr>
          <p:cNvPr id="63" name="Straight Arrow Connector 62">
            <a:extLst>
              <a:ext uri="{FF2B5EF4-FFF2-40B4-BE49-F238E27FC236}">
                <a16:creationId xmlns:a16="http://schemas.microsoft.com/office/drawing/2014/main" id="{D6E0E3F9-E953-410F-A3EF-421D05922FEB}"/>
              </a:ext>
            </a:extLst>
          </p:cNvPr>
          <p:cNvCxnSpPr>
            <a:cxnSpLocks/>
            <a:stCxn id="59" idx="3"/>
            <a:endCxn id="62" idx="1"/>
          </p:cNvCxnSpPr>
          <p:nvPr/>
        </p:nvCxnSpPr>
        <p:spPr>
          <a:xfrm>
            <a:off x="6109349" y="5436794"/>
            <a:ext cx="32664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98">
            <a:extLst>
              <a:ext uri="{FF2B5EF4-FFF2-40B4-BE49-F238E27FC236}">
                <a16:creationId xmlns:a16="http://schemas.microsoft.com/office/drawing/2014/main" id="{102C8B8B-A104-4227-B191-B369932CD519}"/>
              </a:ext>
            </a:extLst>
          </p:cNvPr>
          <p:cNvCxnSpPr>
            <a:stCxn id="31" idx="3"/>
            <a:endCxn id="35" idx="1"/>
          </p:cNvCxnSpPr>
          <p:nvPr/>
        </p:nvCxnSpPr>
        <p:spPr>
          <a:xfrm>
            <a:off x="2826368" y="5734810"/>
            <a:ext cx="318325"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98">
            <a:extLst>
              <a:ext uri="{FF2B5EF4-FFF2-40B4-BE49-F238E27FC236}">
                <a16:creationId xmlns:a16="http://schemas.microsoft.com/office/drawing/2014/main" id="{C498CE1C-DBF7-4D1B-8F5E-BCBDF4E8A7E8}"/>
              </a:ext>
            </a:extLst>
          </p:cNvPr>
          <p:cNvCxnSpPr>
            <a:stCxn id="31" idx="3"/>
            <a:endCxn id="60" idx="1"/>
          </p:cNvCxnSpPr>
          <p:nvPr/>
        </p:nvCxnSpPr>
        <p:spPr>
          <a:xfrm flipV="1">
            <a:off x="2826368" y="5436794"/>
            <a:ext cx="318325"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091B75B2-ACEE-4FA8-AB68-AA0439371B21}"/>
              </a:ext>
            </a:extLst>
          </p:cNvPr>
          <p:cNvSpPr txBox="1"/>
          <p:nvPr/>
        </p:nvSpPr>
        <p:spPr>
          <a:xfrm>
            <a:off x="8563837" y="6449618"/>
            <a:ext cx="357885" cy="369332"/>
          </a:xfrm>
          <a:prstGeom prst="rect">
            <a:avLst/>
          </a:prstGeom>
          <a:noFill/>
        </p:spPr>
        <p:txBody>
          <a:bodyPr wrap="square" rtlCol="0">
            <a:spAutoFit/>
          </a:bodyPr>
          <a:lstStyle/>
          <a:p>
            <a:r>
              <a:rPr lang="en-US" b="1" dirty="0">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b="1" dirty="0">
              <a:solidFill>
                <a:srgbClr val="FF0000"/>
              </a:solidFill>
              <a:latin typeface="Arial Narrow" panose="020B0606020202030204" pitchFamily="34" charset="0"/>
              <a:ea typeface="LG Smart_H Regular" panose="020B0600000101010101" pitchFamily="34" charset="-127"/>
            </a:endParaRPr>
          </a:p>
        </p:txBody>
      </p:sp>
      <p:sp>
        <p:nvSpPr>
          <p:cNvPr id="67" name="TextBox 66">
            <a:extLst>
              <a:ext uri="{FF2B5EF4-FFF2-40B4-BE49-F238E27FC236}">
                <a16:creationId xmlns:a16="http://schemas.microsoft.com/office/drawing/2014/main" id="{0D8D5E7E-C145-45F6-9DA6-F24393335506}"/>
              </a:ext>
            </a:extLst>
          </p:cNvPr>
          <p:cNvSpPr txBox="1"/>
          <p:nvPr/>
        </p:nvSpPr>
        <p:spPr>
          <a:xfrm>
            <a:off x="8816022" y="6505467"/>
            <a:ext cx="1018227" cy="261610"/>
          </a:xfrm>
          <a:prstGeom prst="rect">
            <a:avLst/>
          </a:prstGeom>
          <a:noFill/>
        </p:spPr>
        <p:txBody>
          <a:bodyPr wrap="none" rtlCol="0">
            <a:spAutoFit/>
          </a:bodyPr>
          <a:lstStyle/>
          <a:p>
            <a:r>
              <a:rPr lang="en-US" sz="1100" dirty="0">
                <a:solidFill>
                  <a:srgbClr val="000000"/>
                </a:solidFill>
                <a:latin typeface="Arial Narrow" panose="020B0606020202030204" pitchFamily="34" charset="0"/>
                <a:ea typeface="LG Smart_H Regular" panose="020B0600000101010101" pitchFamily="34" charset="-127"/>
              </a:rPr>
              <a:t>: Potential factor</a:t>
            </a:r>
            <a:endParaRPr lang="en-US" sz="1400" dirty="0">
              <a:latin typeface="Arial Narrow" panose="020B0606020202030204" pitchFamily="34" charset="0"/>
              <a:ea typeface="LG Smart_H Regular" panose="020B0600000101010101" pitchFamily="34" charset="-127"/>
            </a:endParaRPr>
          </a:p>
        </p:txBody>
      </p:sp>
      <p:sp>
        <p:nvSpPr>
          <p:cNvPr id="68" name="Text Box 2">
            <a:extLst>
              <a:ext uri="{FF2B5EF4-FFF2-40B4-BE49-F238E27FC236}">
                <a16:creationId xmlns:a16="http://schemas.microsoft.com/office/drawing/2014/main" id="{63829AFC-6835-4014-8016-FB19D2E46C1B}"/>
              </a:ext>
            </a:extLst>
          </p:cNvPr>
          <p:cNvSpPr txBox="1">
            <a:spLocks noChangeArrowheads="1"/>
          </p:cNvSpPr>
          <p:nvPr/>
        </p:nvSpPr>
        <p:spPr bwMode="auto">
          <a:xfrm>
            <a:off x="112694" y="467881"/>
            <a:ext cx="6143963" cy="304800"/>
          </a:xfrm>
          <a:prstGeom prst="rect">
            <a:avLst/>
          </a:prstGeom>
          <a:noFill/>
          <a:ln w="9525" algn="ctr">
            <a:noFill/>
            <a:miter lim="800000"/>
            <a:headEnd/>
            <a:tailEnd/>
          </a:ln>
        </p:spPr>
        <p:txBody>
          <a:bodyPr lIns="84374" tIns="42187" rIns="84374" bIns="42187" anchor="ctr"/>
          <a:lstStyle/>
          <a:p>
            <a:r>
              <a:rPr lang="en-US" altLang="ko-KR" sz="1200">
                <a:solidFill>
                  <a:srgbClr val="00B050"/>
                </a:solidFill>
                <a:latin typeface="LG스마트체 Regular" panose="020B0600000101010101" pitchFamily="50" charset="-127"/>
                <a:ea typeface="LG스마트체 Regular" panose="020B0600000101010101" pitchFamily="50" charset="-127"/>
              </a:rPr>
              <a:t>※</a:t>
            </a:r>
            <a:r>
              <a:rPr lang="en-US" altLang="ko-KR" sz="1200">
                <a:solidFill>
                  <a:srgbClr val="008000"/>
                </a:solidFill>
                <a:latin typeface="LG스마트체 Regular" panose="020B0600000101010101" pitchFamily="50" charset="-127"/>
                <a:ea typeface="LG스마트체 Regular" panose="020B0600000101010101" pitchFamily="50" charset="-127"/>
              </a:rPr>
              <a:t> </a:t>
            </a:r>
            <a:r>
              <a:rPr lang="en-US" sz="1200">
                <a:latin typeface="Arial Narrow" panose="020B0606020202030204" pitchFamily="34" charset="0"/>
              </a:rPr>
              <a:t>In </a:t>
            </a:r>
            <a:r>
              <a:rPr lang="en-US" sz="1200" dirty="0">
                <a:latin typeface="Arial Narrow" panose="020B0606020202030204" pitchFamily="34" charset="0"/>
              </a:rPr>
              <a:t>order to define root cause and improvement action, </a:t>
            </a:r>
            <a:r>
              <a:rPr lang="en-US" altLang="ko-KR" sz="1200"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I use </a:t>
            </a:r>
            <a:r>
              <a:rPr lang="en-US" altLang="ko-KR" sz="1200">
                <a:solidFill>
                  <a:srgbClr val="000000"/>
                </a:solidFill>
                <a:latin typeface="Arial Narrow" panose="020B0606020202030204" pitchFamily="34" charset="0"/>
                <a:ea typeface="LG Smart_H Regular" panose="020B0600000101010101" pitchFamily="34" charset="-127"/>
                <a:cs typeface="Arial" panose="020B0604020202020204" pitchFamily="34" charset="0"/>
              </a:rPr>
              <a:t>logic tree (4M + 1E) </a:t>
            </a:r>
            <a:r>
              <a:rPr lang="en-US" altLang="ko-KR" sz="1200"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to find the root cause</a:t>
            </a:r>
            <a:r>
              <a:rPr lang="en-US" sz="1200" dirty="0">
                <a:latin typeface="Arial Narrow" panose="020B0606020202030204" pitchFamily="34" charset="0"/>
              </a:rPr>
              <a:t>. </a:t>
            </a:r>
          </a:p>
        </p:txBody>
      </p:sp>
      <p:cxnSp>
        <p:nvCxnSpPr>
          <p:cNvPr id="69" name="Straight Arrow Connector 68">
            <a:extLst>
              <a:ext uri="{FF2B5EF4-FFF2-40B4-BE49-F238E27FC236}">
                <a16:creationId xmlns:a16="http://schemas.microsoft.com/office/drawing/2014/main" id="{C3F4D671-06CF-4CD5-B8E9-239A60E30827}"/>
              </a:ext>
            </a:extLst>
          </p:cNvPr>
          <p:cNvCxnSpPr>
            <a:stCxn id="34" idx="3"/>
            <a:endCxn id="36" idx="1"/>
          </p:cNvCxnSpPr>
          <p:nvPr/>
        </p:nvCxnSpPr>
        <p:spPr bwMode="auto">
          <a:xfrm>
            <a:off x="4392621" y="1903679"/>
            <a:ext cx="345128" cy="0"/>
          </a:xfrm>
          <a:prstGeom prst="straightConnector1">
            <a:avLst/>
          </a:prstGeom>
          <a:noFill/>
          <a:ln w="19050" cap="flat" cmpd="sng" algn="ctr">
            <a:solidFill>
              <a:srgbClr val="FF0000"/>
            </a:solidFill>
            <a:prstDash val="solid"/>
            <a:round/>
            <a:headEnd type="none" w="med" len="med"/>
            <a:tailEnd type="triangle"/>
          </a:ln>
          <a:effectLst/>
        </p:spPr>
      </p:cxnSp>
      <p:cxnSp>
        <p:nvCxnSpPr>
          <p:cNvPr id="70" name="Straight Arrow Connector 69">
            <a:extLst>
              <a:ext uri="{FF2B5EF4-FFF2-40B4-BE49-F238E27FC236}">
                <a16:creationId xmlns:a16="http://schemas.microsoft.com/office/drawing/2014/main" id="{6DC3EC55-493D-47B3-9A18-27F217411180}"/>
              </a:ext>
            </a:extLst>
          </p:cNvPr>
          <p:cNvCxnSpPr>
            <a:cxnSpLocks/>
            <a:stCxn id="36" idx="3"/>
            <a:endCxn id="40" idx="1"/>
          </p:cNvCxnSpPr>
          <p:nvPr/>
        </p:nvCxnSpPr>
        <p:spPr bwMode="auto">
          <a:xfrm>
            <a:off x="6109349" y="1903679"/>
            <a:ext cx="333923" cy="0"/>
          </a:xfrm>
          <a:prstGeom prst="straightConnector1">
            <a:avLst/>
          </a:prstGeom>
          <a:noFill/>
          <a:ln w="12700" cap="flat" cmpd="sng" algn="ctr">
            <a:solidFill>
              <a:srgbClr val="FF0000"/>
            </a:solidFill>
            <a:prstDash val="solid"/>
            <a:round/>
            <a:headEnd type="none" w="med" len="med"/>
            <a:tailEnd type="triangle"/>
          </a:ln>
          <a:effectLst/>
        </p:spPr>
      </p:cxnSp>
      <p:sp>
        <p:nvSpPr>
          <p:cNvPr id="72" name="TextBox 71">
            <a:extLst>
              <a:ext uri="{FF2B5EF4-FFF2-40B4-BE49-F238E27FC236}">
                <a16:creationId xmlns:a16="http://schemas.microsoft.com/office/drawing/2014/main" id="{91072C99-5935-4C8D-B087-4CA5ADA6E096}"/>
              </a:ext>
            </a:extLst>
          </p:cNvPr>
          <p:cNvSpPr txBox="1"/>
          <p:nvPr/>
        </p:nvSpPr>
        <p:spPr>
          <a:xfrm>
            <a:off x="8195023" y="3671242"/>
            <a:ext cx="357885" cy="369332"/>
          </a:xfrm>
          <a:prstGeom prst="rect">
            <a:avLst/>
          </a:prstGeom>
          <a:noFill/>
        </p:spPr>
        <p:txBody>
          <a:bodyPr wrap="square" rtlCol="0">
            <a:spAutoFit/>
          </a:bodyPr>
          <a:lstStyle/>
          <a:p>
            <a:r>
              <a:rPr lang="en-US" b="1" dirty="0">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b="1" dirty="0">
              <a:solidFill>
                <a:srgbClr val="FF0000"/>
              </a:solidFill>
              <a:latin typeface="Arial Narrow" panose="020B0606020202030204" pitchFamily="34" charset="0"/>
              <a:ea typeface="LG Smart_H Regular" panose="020B0600000101010101" pitchFamily="34" charset="-127"/>
            </a:endParaRPr>
          </a:p>
        </p:txBody>
      </p:sp>
      <p:sp>
        <p:nvSpPr>
          <p:cNvPr id="73" name="TextBox 72">
            <a:extLst>
              <a:ext uri="{FF2B5EF4-FFF2-40B4-BE49-F238E27FC236}">
                <a16:creationId xmlns:a16="http://schemas.microsoft.com/office/drawing/2014/main" id="{6A969E8E-1933-4CF0-9CD9-C233430BA29B}"/>
              </a:ext>
            </a:extLst>
          </p:cNvPr>
          <p:cNvSpPr txBox="1"/>
          <p:nvPr/>
        </p:nvSpPr>
        <p:spPr>
          <a:xfrm>
            <a:off x="8186882" y="1711371"/>
            <a:ext cx="357885" cy="369332"/>
          </a:xfrm>
          <a:prstGeom prst="rect">
            <a:avLst/>
          </a:prstGeom>
          <a:noFill/>
        </p:spPr>
        <p:txBody>
          <a:bodyPr wrap="square" rtlCol="0">
            <a:spAutoFit/>
          </a:bodyPr>
          <a:lstStyle/>
          <a:p>
            <a:r>
              <a:rPr lang="en-US" b="1" dirty="0">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b="1" dirty="0">
              <a:solidFill>
                <a:srgbClr val="FF0000"/>
              </a:solidFill>
              <a:latin typeface="Arial Narrow" panose="020B0606020202030204" pitchFamily="34" charset="0"/>
              <a:ea typeface="LG Smart_H Regular" panose="020B0600000101010101" pitchFamily="34" charset="-127"/>
            </a:endParaRPr>
          </a:p>
        </p:txBody>
      </p:sp>
      <p:cxnSp>
        <p:nvCxnSpPr>
          <p:cNvPr id="75" name="Connector: Elbow 194">
            <a:extLst>
              <a:ext uri="{FF2B5EF4-FFF2-40B4-BE49-F238E27FC236}">
                <a16:creationId xmlns:a16="http://schemas.microsoft.com/office/drawing/2014/main" id="{74B48A12-B34B-4443-BC44-FE27923FD05D}"/>
              </a:ext>
            </a:extLst>
          </p:cNvPr>
          <p:cNvCxnSpPr>
            <a:cxnSpLocks/>
            <a:stCxn id="36" idx="3"/>
            <a:endCxn id="41" idx="1"/>
          </p:cNvCxnSpPr>
          <p:nvPr/>
        </p:nvCxnSpPr>
        <p:spPr bwMode="auto">
          <a:xfrm>
            <a:off x="6109349" y="1903679"/>
            <a:ext cx="329771" cy="1327376"/>
          </a:xfrm>
          <a:prstGeom prst="bentConnector3">
            <a:avLst>
              <a:gd name="adj1" fmla="val 50000"/>
            </a:avLst>
          </a:prstGeom>
          <a:noFill/>
          <a:ln w="12700" cap="flat" cmpd="sng" algn="ctr">
            <a:solidFill>
              <a:schemeClr val="bg1">
                <a:lumMod val="75000"/>
              </a:schemeClr>
            </a:solidFill>
            <a:prstDash val="solid"/>
            <a:round/>
            <a:headEnd type="none" w="med" len="med"/>
            <a:tailEnd type="triangle"/>
          </a:ln>
          <a:effectLst/>
        </p:spPr>
      </p:cxnSp>
      <p:sp>
        <p:nvSpPr>
          <p:cNvPr id="77" name="Rectangle 76">
            <a:extLst>
              <a:ext uri="{FF2B5EF4-FFF2-40B4-BE49-F238E27FC236}">
                <a16:creationId xmlns:a16="http://schemas.microsoft.com/office/drawing/2014/main" id="{40050FB3-05A4-4FE3-AE02-833C71B29445}"/>
              </a:ext>
            </a:extLst>
          </p:cNvPr>
          <p:cNvSpPr/>
          <p:nvPr/>
        </p:nvSpPr>
        <p:spPr>
          <a:xfrm>
            <a:off x="6441670" y="2314633"/>
            <a:ext cx="1941257"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vi-VN" sz="1000">
                <a:solidFill>
                  <a:prstClr val="black"/>
                </a:solidFill>
                <a:latin typeface="Arial Narrow" panose="020B0606020202030204" pitchFamily="34" charset="0"/>
                <a:ea typeface="LG Smart_H Regular" panose="020B0600000101010101" pitchFamily="34" charset="-127"/>
                <a:cs typeface="Arial" pitchFamily="34" charset="0"/>
              </a:rPr>
              <a:t>Punch Radius</a:t>
            </a:r>
            <a:endParaRPr lang="en-US" sz="1000" dirty="0">
              <a:solidFill>
                <a:prstClr val="black"/>
              </a:solidFill>
              <a:latin typeface="Arial Narrow" panose="020B0606020202030204" pitchFamily="34" charset="0"/>
              <a:ea typeface="LG Smart_H Regular" panose="020B0600000101010101" pitchFamily="34" charset="-127"/>
              <a:cs typeface="Arial" pitchFamily="34" charset="0"/>
            </a:endParaRPr>
          </a:p>
        </p:txBody>
      </p:sp>
      <p:cxnSp>
        <p:nvCxnSpPr>
          <p:cNvPr id="78" name="Elbow Connector 11">
            <a:extLst>
              <a:ext uri="{FF2B5EF4-FFF2-40B4-BE49-F238E27FC236}">
                <a16:creationId xmlns:a16="http://schemas.microsoft.com/office/drawing/2014/main" id="{5534C7FA-1664-4A4B-8AEE-C3A72EF9380E}"/>
              </a:ext>
            </a:extLst>
          </p:cNvPr>
          <p:cNvCxnSpPr>
            <a:cxnSpLocks/>
            <a:stCxn id="36" idx="3"/>
            <a:endCxn id="77" idx="1"/>
          </p:cNvCxnSpPr>
          <p:nvPr/>
        </p:nvCxnSpPr>
        <p:spPr>
          <a:xfrm>
            <a:off x="6109349" y="1903679"/>
            <a:ext cx="332321" cy="680829"/>
          </a:xfrm>
          <a:prstGeom prst="bent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002739F0-E37B-4A24-8A32-919C0D65A710}"/>
              </a:ext>
            </a:extLst>
          </p:cNvPr>
          <p:cNvSpPr txBox="1"/>
          <p:nvPr/>
        </p:nvSpPr>
        <p:spPr>
          <a:xfrm>
            <a:off x="8203984" y="2401204"/>
            <a:ext cx="357885" cy="369332"/>
          </a:xfrm>
          <a:prstGeom prst="rect">
            <a:avLst/>
          </a:prstGeom>
          <a:noFill/>
        </p:spPr>
        <p:txBody>
          <a:bodyPr wrap="square" rtlCol="0">
            <a:spAutoFit/>
          </a:bodyPr>
          <a:lstStyle/>
          <a:p>
            <a:r>
              <a:rPr lang="en-US" b="1" dirty="0">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b="1" dirty="0">
              <a:solidFill>
                <a:srgbClr val="FF0000"/>
              </a:solidFill>
              <a:latin typeface="Arial Narrow" panose="020B0606020202030204" pitchFamily="34" charset="0"/>
              <a:ea typeface="LG Smart_H Regular" panose="020B0600000101010101" pitchFamily="34" charset="-127"/>
            </a:endParaRPr>
          </a:p>
        </p:txBody>
      </p:sp>
      <p:cxnSp>
        <p:nvCxnSpPr>
          <p:cNvPr id="71" name="Straight Arrow Connector 70">
            <a:extLst>
              <a:ext uri="{FF2B5EF4-FFF2-40B4-BE49-F238E27FC236}">
                <a16:creationId xmlns:a16="http://schemas.microsoft.com/office/drawing/2014/main" id="{60964A31-2BF7-408A-BAA5-28989D48E9CF}"/>
              </a:ext>
            </a:extLst>
          </p:cNvPr>
          <p:cNvCxnSpPr/>
          <p:nvPr/>
        </p:nvCxnSpPr>
        <p:spPr bwMode="auto">
          <a:xfrm>
            <a:off x="1376397" y="3862477"/>
            <a:ext cx="321158" cy="0"/>
          </a:xfrm>
          <a:prstGeom prst="straightConnector1">
            <a:avLst/>
          </a:prstGeom>
          <a:noFill/>
          <a:ln w="19050" cap="flat" cmpd="sng" algn="ctr">
            <a:solidFill>
              <a:srgbClr val="C00000"/>
            </a:solidFill>
            <a:prstDash val="solid"/>
            <a:round/>
            <a:headEnd type="none" w="med" len="med"/>
            <a:tailEnd type="triangle"/>
          </a:ln>
          <a:effectLst/>
        </p:spPr>
      </p:cxnSp>
      <p:cxnSp>
        <p:nvCxnSpPr>
          <p:cNvPr id="89" name="Elbow Connector 88"/>
          <p:cNvCxnSpPr>
            <a:stCxn id="44" idx="3"/>
            <a:endCxn id="34" idx="1"/>
          </p:cNvCxnSpPr>
          <p:nvPr/>
        </p:nvCxnSpPr>
        <p:spPr>
          <a:xfrm flipV="1">
            <a:off x="2824093" y="1903679"/>
            <a:ext cx="271955" cy="1974706"/>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CA4F28FF-5DE7-4678-A9C6-681D6F359BD4}"/>
              </a:ext>
            </a:extLst>
          </p:cNvPr>
          <p:cNvSpPr/>
          <p:nvPr/>
        </p:nvSpPr>
        <p:spPr>
          <a:xfrm>
            <a:off x="6450159" y="913108"/>
            <a:ext cx="1932768" cy="53975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000">
                <a:solidFill>
                  <a:schemeClr val="bg1">
                    <a:lumMod val="50000"/>
                  </a:schemeClr>
                </a:solidFill>
                <a:latin typeface="Arial Narrow" panose="020B0606020202030204" pitchFamily="34" charset="0"/>
                <a:ea typeface="LG Smart_H Regular" panose="020B0600000101010101" pitchFamily="34" charset="-127"/>
                <a:cs typeface="Arial" pitchFamily="34" charset="0"/>
              </a:rPr>
              <a:t>Material thinkness</a:t>
            </a:r>
            <a:endParaRPr lang="en-US" sz="1000" dirty="0">
              <a:solidFill>
                <a:schemeClr val="bg1">
                  <a:lumMod val="50000"/>
                </a:schemeClr>
              </a:solidFill>
              <a:latin typeface="Arial Narrow" panose="020B0606020202030204" pitchFamily="34" charset="0"/>
              <a:ea typeface="LG Smart_H Regular" panose="020B0600000101010101" pitchFamily="34" charset="-127"/>
              <a:cs typeface="Arial" pitchFamily="34" charset="0"/>
            </a:endParaRPr>
          </a:p>
        </p:txBody>
      </p:sp>
      <p:cxnSp>
        <p:nvCxnSpPr>
          <p:cNvPr id="115" name="Straight Arrow Connector 114"/>
          <p:cNvCxnSpPr>
            <a:stCxn id="33" idx="3"/>
            <a:endCxn id="90" idx="1"/>
          </p:cNvCxnSpPr>
          <p:nvPr/>
        </p:nvCxnSpPr>
        <p:spPr>
          <a:xfrm>
            <a:off x="2824093" y="1182983"/>
            <a:ext cx="362606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rotWithShape="1">
          <a:blip r:embed="rId2"/>
          <a:srcRect t="2779"/>
          <a:stretch/>
        </p:blipFill>
        <p:spPr>
          <a:xfrm>
            <a:off x="8470977" y="1633803"/>
            <a:ext cx="1426132" cy="1220579"/>
          </a:xfrm>
          <a:prstGeom prst="rect">
            <a:avLst/>
          </a:prstGeom>
        </p:spPr>
      </p:pic>
      <p:sp>
        <p:nvSpPr>
          <p:cNvPr id="24" name="TextBox 23"/>
          <p:cNvSpPr txBox="1"/>
          <p:nvPr/>
        </p:nvSpPr>
        <p:spPr>
          <a:xfrm>
            <a:off x="8421215" y="2981409"/>
            <a:ext cx="1577918" cy="461665"/>
          </a:xfrm>
          <a:prstGeom prst="rect">
            <a:avLst/>
          </a:prstGeom>
          <a:noFill/>
        </p:spPr>
        <p:txBody>
          <a:bodyPr wrap="square" rtlCol="0">
            <a:spAutoFit/>
          </a:bodyPr>
          <a:lstStyle/>
          <a:p>
            <a:r>
              <a:rPr lang="en-US" altLang="ko-KR" sz="800">
                <a:solidFill>
                  <a:srgbClr val="00B050"/>
                </a:solidFill>
                <a:latin typeface="LG스마트체 Regular" panose="020B0600000101010101" pitchFamily="50" charset="-127"/>
                <a:ea typeface="LG스마트체 Regular" panose="020B0600000101010101" pitchFamily="50" charset="-127"/>
              </a:rPr>
              <a:t>※ </a:t>
            </a:r>
            <a:r>
              <a:rPr lang="vi-VN" altLang="ko-KR" sz="800">
                <a:solidFill>
                  <a:srgbClr val="00B050"/>
                </a:solidFill>
                <a:latin typeface="LG스마트체 Regular" panose="020B0600000101010101" pitchFamily="50" charset="-127"/>
                <a:ea typeface="LG스마트체 Regular" panose="020B0600000101010101" pitchFamily="50" charset="-127"/>
              </a:rPr>
              <a:t> </a:t>
            </a:r>
            <a:r>
              <a:rPr lang="vi-VN" sz="800">
                <a:latin typeface="Arial Narrow" panose="020B0606020202030204" pitchFamily="34" charset="0"/>
              </a:rPr>
              <a:t>Punch Diameter can not change due to affect assembly punch onto mold</a:t>
            </a:r>
            <a:endParaRPr lang="en-US" sz="800">
              <a:latin typeface="Arial Narrow" panose="020B0606020202030204" pitchFamily="34" charset="0"/>
            </a:endParaRPr>
          </a:p>
        </p:txBody>
      </p:sp>
      <p:sp>
        <p:nvSpPr>
          <p:cNvPr id="74" name="TextBox 73"/>
          <p:cNvSpPr txBox="1"/>
          <p:nvPr/>
        </p:nvSpPr>
        <p:spPr>
          <a:xfrm>
            <a:off x="73152" y="69580"/>
            <a:ext cx="1778051" cy="369332"/>
          </a:xfrm>
          <a:prstGeom prst="rect">
            <a:avLst/>
          </a:prstGeom>
          <a:noFill/>
        </p:spPr>
        <p:txBody>
          <a:bodyPr wrap="none" rtlCol="0">
            <a:spAutoFit/>
          </a:bodyPr>
          <a:lstStyle/>
          <a:p>
            <a:r>
              <a:rPr lang="en-US">
                <a:latin typeface="Arial Narrow" panose="020B0606020202030204" pitchFamily="34" charset="0"/>
              </a:rPr>
              <a:t>Find</a:t>
            </a:r>
            <a:r>
              <a:rPr lang="vi-VN">
                <a:latin typeface="Arial Narrow" panose="020B0606020202030204" pitchFamily="34" charset="0"/>
              </a:rPr>
              <a:t> out</a:t>
            </a:r>
            <a:r>
              <a:rPr lang="en-US">
                <a:latin typeface="Arial Narrow" panose="020B0606020202030204" pitchFamily="34" charset="0"/>
              </a:rPr>
              <a:t> the </a:t>
            </a:r>
            <a:r>
              <a:rPr lang="vi-VN">
                <a:latin typeface="Arial Narrow" panose="020B0606020202030204" pitchFamily="34" charset="0"/>
              </a:rPr>
              <a:t>Factor</a:t>
            </a:r>
            <a:endParaRPr lang="en-US">
              <a:latin typeface="Arial Narrow" panose="020B0606020202030204" pitchFamily="34" charset="0"/>
            </a:endParaRPr>
          </a:p>
        </p:txBody>
      </p:sp>
    </p:spTree>
    <p:extLst>
      <p:ext uri="{BB962C8B-B14F-4D97-AF65-F5344CB8AC3E}">
        <p14:creationId xmlns:p14="http://schemas.microsoft.com/office/powerpoint/2010/main" val="306874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81363" y="27941"/>
            <a:ext cx="2449687" cy="334221"/>
            <a:chOff x="7376138" y="106318"/>
            <a:chExt cx="2449687" cy="334221"/>
          </a:xfrm>
        </p:grpSpPr>
        <p:sp>
          <p:nvSpPr>
            <p:cNvPr id="7" name="AutoShape 5"/>
            <p:cNvSpPr>
              <a:spLocks noChangeArrowheads="1"/>
            </p:cNvSpPr>
            <p:nvPr/>
          </p:nvSpPr>
          <p:spPr bwMode="auto">
            <a:xfrm>
              <a:off x="7376138" y="106318"/>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289276" y="106318"/>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54927" y="106318"/>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68" name="Text Box 2">
            <a:extLst>
              <a:ext uri="{FF2B5EF4-FFF2-40B4-BE49-F238E27FC236}">
                <a16:creationId xmlns:a16="http://schemas.microsoft.com/office/drawing/2014/main" id="{63829AFC-6835-4014-8016-FB19D2E46C1B}"/>
              </a:ext>
            </a:extLst>
          </p:cNvPr>
          <p:cNvSpPr txBox="1">
            <a:spLocks noChangeArrowheads="1"/>
          </p:cNvSpPr>
          <p:nvPr/>
        </p:nvSpPr>
        <p:spPr bwMode="auto">
          <a:xfrm>
            <a:off x="112904" y="502817"/>
            <a:ext cx="8181597" cy="304800"/>
          </a:xfrm>
          <a:prstGeom prst="rect">
            <a:avLst/>
          </a:prstGeom>
          <a:noFill/>
          <a:ln w="9525" algn="ctr">
            <a:noFill/>
            <a:miter lim="800000"/>
            <a:headEnd/>
            <a:tailEnd/>
          </a:ln>
        </p:spPr>
        <p:txBody>
          <a:bodyPr lIns="84374" tIns="42187" rIns="84374" bIns="42187" anchor="ctr"/>
          <a:lstStyle/>
          <a:p>
            <a:r>
              <a:rPr lang="en-US" altLang="ko-KR" sz="1200" b="1">
                <a:solidFill>
                  <a:srgbClr val="00B050"/>
                </a:solidFill>
                <a:latin typeface="Arial Narrow" panose="020B0606020202030204" pitchFamily="34" charset="0"/>
                <a:ea typeface="LG스마트체 Regular" panose="020B0600000101010101" pitchFamily="50" charset="-127"/>
              </a:rPr>
              <a:t>※</a:t>
            </a:r>
            <a:r>
              <a:rPr lang="en-US" altLang="ko-KR" sz="1200">
                <a:solidFill>
                  <a:srgbClr val="008000"/>
                </a:solidFill>
                <a:latin typeface="Arial Narrow" panose="020B0606020202030204" pitchFamily="34" charset="0"/>
                <a:ea typeface="LG스마트체 Regular" panose="020B0600000101010101" pitchFamily="50" charset="-127"/>
              </a:rPr>
              <a:t> </a:t>
            </a:r>
            <a:r>
              <a:rPr lang="vi-VN" altLang="ko-KR" sz="1200">
                <a:solidFill>
                  <a:srgbClr val="008000"/>
                </a:solidFill>
                <a:latin typeface="Arial Narrow" panose="020B0606020202030204" pitchFamily="34" charset="0"/>
                <a:ea typeface="LG스마트체 Regular" panose="020B0600000101010101" pitchFamily="50" charset="-127"/>
              </a:rPr>
              <a:t> </a:t>
            </a:r>
            <a:r>
              <a:rPr lang="vi-VN" altLang="ko-KR" sz="1200">
                <a:latin typeface="Arial Narrow" panose="020B0606020202030204" pitchFamily="34" charset="0"/>
                <a:ea typeface="LG스마트체 Regular" panose="020B0600000101010101" pitchFamily="50" charset="-127"/>
              </a:rPr>
              <a:t>After use logic tree to </a:t>
            </a:r>
            <a:r>
              <a:rPr lang="en-US" sz="1200">
                <a:latin typeface="Arial Narrow" panose="020B0606020202030204" pitchFamily="34" charset="0"/>
              </a:rPr>
              <a:t>Identify influencing</a:t>
            </a:r>
            <a:r>
              <a:rPr lang="vi-VN" sz="1200">
                <a:latin typeface="Arial Narrow" panose="020B0606020202030204" pitchFamily="34" charset="0"/>
              </a:rPr>
              <a:t> factors, we will use screening DOE to identify critical factor and improve</a:t>
            </a:r>
            <a:endParaRPr lang="en-US" sz="1200" dirty="0">
              <a:latin typeface="Arial Narrow" panose="020B0606020202030204" pitchFamily="34" charset="0"/>
            </a:endParaRPr>
          </a:p>
        </p:txBody>
      </p:sp>
      <p:graphicFrame>
        <p:nvGraphicFramePr>
          <p:cNvPr id="76" name="Table 75">
            <a:extLst>
              <a:ext uri="{FF2B5EF4-FFF2-40B4-BE49-F238E27FC236}">
                <a16:creationId xmlns:a16="http://schemas.microsoft.com/office/drawing/2014/main" id="{95E3A9AA-6325-4162-8AF7-1E28BD641089}"/>
              </a:ext>
            </a:extLst>
          </p:cNvPr>
          <p:cNvGraphicFramePr>
            <a:graphicFrameLocks noGrp="1"/>
          </p:cNvGraphicFramePr>
          <p:nvPr>
            <p:extLst>
              <p:ext uri="{D42A27DB-BD31-4B8C-83A1-F6EECF244321}">
                <p14:modId xmlns:p14="http://schemas.microsoft.com/office/powerpoint/2010/main" val="419831353"/>
              </p:ext>
            </p:extLst>
          </p:nvPr>
        </p:nvGraphicFramePr>
        <p:xfrm>
          <a:off x="202896" y="946187"/>
          <a:ext cx="9499904" cy="2649688"/>
        </p:xfrm>
        <a:graphic>
          <a:graphicData uri="http://schemas.openxmlformats.org/drawingml/2006/table">
            <a:tbl>
              <a:tblPr/>
              <a:tblGrid>
                <a:gridCol w="731866">
                  <a:extLst>
                    <a:ext uri="{9D8B030D-6E8A-4147-A177-3AD203B41FA5}">
                      <a16:colId xmlns:a16="http://schemas.microsoft.com/office/drawing/2014/main" val="675507370"/>
                    </a:ext>
                  </a:extLst>
                </a:gridCol>
                <a:gridCol w="3445870">
                  <a:extLst>
                    <a:ext uri="{9D8B030D-6E8A-4147-A177-3AD203B41FA5}">
                      <a16:colId xmlns:a16="http://schemas.microsoft.com/office/drawing/2014/main" val="851657989"/>
                    </a:ext>
                  </a:extLst>
                </a:gridCol>
                <a:gridCol w="4087144">
                  <a:extLst>
                    <a:ext uri="{9D8B030D-6E8A-4147-A177-3AD203B41FA5}">
                      <a16:colId xmlns:a16="http://schemas.microsoft.com/office/drawing/2014/main" val="4121057302"/>
                    </a:ext>
                  </a:extLst>
                </a:gridCol>
                <a:gridCol w="1235024">
                  <a:extLst>
                    <a:ext uri="{9D8B030D-6E8A-4147-A177-3AD203B41FA5}">
                      <a16:colId xmlns:a16="http://schemas.microsoft.com/office/drawing/2014/main" val="6004670"/>
                    </a:ext>
                  </a:extLst>
                </a:gridCol>
              </a:tblGrid>
              <a:tr h="532635">
                <a:tc>
                  <a:txBody>
                    <a:bodyPr/>
                    <a:lstStyle/>
                    <a:p>
                      <a:pPr algn="ctr" rtl="0" fontAlgn="ctr"/>
                      <a:r>
                        <a:rPr lang="en-US" sz="1050" b="1" i="0" u="none" strike="noStrike">
                          <a:solidFill>
                            <a:srgbClr val="000000"/>
                          </a:solidFill>
                          <a:effectLst/>
                          <a:latin typeface="Arial Narrow" panose="020B0606020202030204" pitchFamily="34" charset="0"/>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050" b="1" i="0" u="none" strike="noStrike" dirty="0">
                          <a:solidFill>
                            <a:srgbClr val="000000"/>
                          </a:solidFill>
                          <a:effectLst/>
                          <a:latin typeface="Arial Narrow" panose="020B0606020202030204" pitchFamily="34" charset="0"/>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050" b="1" i="0" u="none" strike="noStrike" dirty="0">
                          <a:solidFill>
                            <a:srgbClr val="000000"/>
                          </a:solidFill>
                          <a:effectLst/>
                          <a:latin typeface="Arial Narrow" panose="020B0606020202030204" pitchFamily="34" charset="0"/>
                        </a:rPr>
                        <a:t>What is looking for?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050" b="1" i="0" u="none" strike="noStrike" dirty="0">
                          <a:solidFill>
                            <a:srgbClr val="000000"/>
                          </a:solidFill>
                          <a:effectLst/>
                          <a:latin typeface="Arial Narrow" panose="020B0606020202030204" pitchFamily="34" charset="0"/>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791938">
                <a:tc>
                  <a:txBody>
                    <a:bodyPr/>
                    <a:lstStyle/>
                    <a:p>
                      <a:pPr algn="ctr" fontAlgn="ctr"/>
                      <a:r>
                        <a:rPr lang="en-US" sz="1000" b="0" i="0" u="none" strike="noStrike" dirty="0">
                          <a:solidFill>
                            <a:srgbClr val="000000"/>
                          </a:solidFill>
                          <a:effectLst/>
                          <a:latin typeface="Arial Narrow" panose="020B0606020202030204" pitchFamily="34" charset="0"/>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Punch Height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Arial Narrow" panose="020B0606020202030204" pitchFamily="34" charset="0"/>
                        </a:rPr>
                        <a:t>Emboss Height change when change height of punch on mold</a:t>
                      </a:r>
                    </a:p>
                    <a:p>
                      <a:pPr algn="l" fontAlgn="ctr"/>
                      <a:r>
                        <a:rPr lang="en-US" sz="1000" b="0" i="0" u="none" strike="noStrike" dirty="0">
                          <a:solidFill>
                            <a:srgbClr val="000000"/>
                          </a:solidFill>
                          <a:effectLst/>
                          <a:latin typeface="Arial Narrow" panose="020B0606020202030204" pitchFamily="34" charset="0"/>
                        </a:rPr>
                        <a:t>(Punch change </a:t>
                      </a:r>
                      <a:r>
                        <a:rPr lang="en-US" sz="1000" b="0" i="0" u="none" strike="noStrike">
                          <a:solidFill>
                            <a:srgbClr val="000000"/>
                          </a:solidFill>
                          <a:effectLst/>
                          <a:latin typeface="Arial Narrow" panose="020B0606020202030204" pitchFamily="34" charset="0"/>
                        </a:rPr>
                        <a:t>from </a:t>
                      </a:r>
                      <a:r>
                        <a:rPr lang="vi-VN" sz="1000" b="0" i="0" u="none" strike="noStrike">
                          <a:solidFill>
                            <a:srgbClr val="000000"/>
                          </a:solidFill>
                          <a:effectLst/>
                          <a:latin typeface="Arial Narrow" panose="020B0606020202030204" pitchFamily="34" charset="0"/>
                        </a:rPr>
                        <a:t>6.8mm to</a:t>
                      </a:r>
                      <a:r>
                        <a:rPr lang="en-US" sz="1000" b="0" i="0" u="none" strike="noStrike">
                          <a:solidFill>
                            <a:srgbClr val="000000"/>
                          </a:solidFill>
                          <a:effectLst/>
                          <a:latin typeface="Arial Narrow" panose="020B0606020202030204" pitchFamily="34" charset="0"/>
                        </a:rPr>
                        <a:t> </a:t>
                      </a:r>
                      <a:r>
                        <a:rPr lang="en-US" sz="1000" b="0" i="0" u="none" strike="noStrike" dirty="0">
                          <a:solidFill>
                            <a:srgbClr val="000000"/>
                          </a:solidFill>
                          <a:effectLst/>
                          <a:latin typeface="Arial Narrow" panose="020B0606020202030204" pitchFamily="34" charset="0"/>
                        </a:rPr>
                        <a:t>6.4 </a:t>
                      </a:r>
                      <a:r>
                        <a:rPr lang="en-US" sz="1000" b="0" i="0" u="none" strike="noStrike">
                          <a:solidFill>
                            <a:srgbClr val="000000"/>
                          </a:solidFill>
                          <a:effectLst/>
                          <a:latin typeface="Arial Narrow" panose="020B0606020202030204" pitchFamily="34" charset="0"/>
                        </a:rPr>
                        <a:t>mm)</a:t>
                      </a:r>
                      <a:endParaRPr lang="vi-VN" sz="1000" b="0" i="0" u="none" strike="noStrike">
                        <a:solidFill>
                          <a:srgbClr val="000000"/>
                        </a:solidFill>
                        <a:effectLst/>
                        <a:latin typeface="Arial Narrow" panose="020B0606020202030204" pitchFamily="34" charset="0"/>
                      </a:endParaRPr>
                    </a:p>
                    <a:p>
                      <a:pPr marL="0" marR="0" indent="0" algn="l" defTabSz="914400" rtl="0" eaLnBrk="1" fontAlgn="ctr" latinLnBrk="0" hangingPunct="1">
                        <a:lnSpc>
                          <a:spcPct val="100000"/>
                        </a:lnSpc>
                        <a:spcBef>
                          <a:spcPts val="0"/>
                        </a:spcBef>
                        <a:spcAft>
                          <a:spcPts val="0"/>
                        </a:spcAft>
                        <a:buClrTx/>
                        <a:buSzTx/>
                        <a:buFontTx/>
                        <a:buNone/>
                        <a:tabLst/>
                        <a:defRPr/>
                      </a:pPr>
                      <a:r>
                        <a:rPr lang="vi-VN" sz="1000" b="1">
                          <a:latin typeface="Arial Narrow" panose="020B0606020202030204" pitchFamily="34" charset="0"/>
                        </a:rPr>
                        <a:t>Note:</a:t>
                      </a:r>
                      <a:r>
                        <a:rPr lang="vi-VN" sz="1000">
                          <a:latin typeface="Arial Narrow" panose="020B0606020202030204" pitchFamily="34" charset="0"/>
                        </a:rPr>
                        <a:t> </a:t>
                      </a:r>
                      <a:r>
                        <a:rPr lang="en-US" sz="1000">
                          <a:latin typeface="Arial Narrow" panose="020B0606020202030204" pitchFamily="34" charset="0"/>
                        </a:rPr>
                        <a:t>When the punch </a:t>
                      </a:r>
                      <a:r>
                        <a:rPr lang="vi-VN" sz="1000">
                          <a:latin typeface="Arial Narrow" panose="020B0606020202030204" pitchFamily="34" charset="0"/>
                        </a:rPr>
                        <a:t>height</a:t>
                      </a:r>
                      <a:r>
                        <a:rPr lang="en-US" sz="1000">
                          <a:latin typeface="Arial Narrow" panose="020B0606020202030204" pitchFamily="34" charset="0"/>
                        </a:rPr>
                        <a:t> is increased to 7.2, a tearing phenomenon appears at the </a:t>
                      </a:r>
                      <a:r>
                        <a:rPr lang="vi-VN" sz="1000">
                          <a:latin typeface="Arial Narrow" panose="020B0606020202030204" pitchFamily="34" charset="0"/>
                        </a:rPr>
                        <a:t>head</a:t>
                      </a:r>
                      <a:r>
                        <a:rPr lang="en-US" sz="1000">
                          <a:latin typeface="Arial Narrow" panose="020B0606020202030204" pitchFamily="34" charset="0"/>
                        </a:rPr>
                        <a:t> of the emboss after </a:t>
                      </a:r>
                      <a:r>
                        <a:rPr lang="vi-VN" sz="1000">
                          <a:latin typeface="Arial Narrow" panose="020B0606020202030204" pitchFamily="34" charset="0"/>
                        </a:rPr>
                        <a:t>finhsh </a:t>
                      </a:r>
                      <a:r>
                        <a:rPr lang="en-US" sz="1000">
                          <a:latin typeface="Arial Narrow" panose="020B0606020202030204" pitchFamily="34" charset="0"/>
                        </a:rPr>
                        <a:t>stamping</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000" b="0" i="0" u="none" strike="noStrike">
                          <a:solidFill>
                            <a:srgbClr val="000000"/>
                          </a:solidFill>
                          <a:effectLst/>
                          <a:latin typeface="Arial Narrow" panose="020B0606020202030204" pitchFamily="34" charset="0"/>
                        </a:rPr>
                        <a:t>Screening DOE</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792480">
                <a:tc>
                  <a:txBody>
                    <a:bodyPr/>
                    <a:lstStyle/>
                    <a:p>
                      <a:pPr algn="ctr" fontAlgn="ctr"/>
                      <a:r>
                        <a:rPr lang="vi-VN" sz="1000" b="0" i="0" u="none" strike="noStrike">
                          <a:solidFill>
                            <a:srgbClr val="000000"/>
                          </a:solidFill>
                          <a:effectLst/>
                          <a:latin typeface="Arial Narrow" panose="020B0606020202030204" pitchFamily="34" charset="0"/>
                        </a:rPr>
                        <a:t>2</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000" b="0" i="0" u="none" strike="noStrike">
                          <a:solidFill>
                            <a:srgbClr val="000000"/>
                          </a:solidFill>
                          <a:effectLst/>
                          <a:latin typeface="Arial Narrow" panose="020B0606020202030204" pitchFamily="34" charset="0"/>
                        </a:rPr>
                        <a:t>Punch Radius</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Arial Narrow" panose="020B0606020202030204" pitchFamily="34" charset="0"/>
                        </a:rPr>
                        <a:t>Emboss </a:t>
                      </a:r>
                      <a:r>
                        <a:rPr lang="vi-VN" sz="1000" b="0" i="0" u="none" strike="noStrike">
                          <a:solidFill>
                            <a:srgbClr val="000000"/>
                          </a:solidFill>
                          <a:effectLst/>
                          <a:latin typeface="Calibri" panose="020F0502020204030204" pitchFamily="34" charset="0"/>
                        </a:rPr>
                        <a:t>Radius</a:t>
                      </a:r>
                      <a:r>
                        <a:rPr lang="en-US" sz="1000" b="0" i="0" u="none" strike="noStrike">
                          <a:solidFill>
                            <a:srgbClr val="000000"/>
                          </a:solidFill>
                          <a:effectLst/>
                          <a:latin typeface="Arial Narrow" panose="020B0606020202030204" pitchFamily="34" charset="0"/>
                        </a:rPr>
                        <a:t> change when change height of punch on mold</a:t>
                      </a:r>
                    </a:p>
                    <a:p>
                      <a:pPr algn="l" fontAlgn="ctr"/>
                      <a:r>
                        <a:rPr lang="en-US" sz="1000" b="0" i="0" u="none" strike="noStrike">
                          <a:solidFill>
                            <a:srgbClr val="000000"/>
                          </a:solidFill>
                          <a:effectLst/>
                          <a:latin typeface="Arial Narrow" panose="020B0606020202030204" pitchFamily="34" charset="0"/>
                        </a:rPr>
                        <a:t>(Punch change from Ø</a:t>
                      </a:r>
                      <a:r>
                        <a:rPr lang="vi-VN" sz="1000" b="0" i="0" u="none" strike="noStrike">
                          <a:solidFill>
                            <a:srgbClr val="000000"/>
                          </a:solidFill>
                          <a:effectLst/>
                          <a:latin typeface="Calibri" panose="020F0502020204030204" pitchFamily="34" charset="0"/>
                        </a:rPr>
                        <a:t>6 to </a:t>
                      </a:r>
                      <a:r>
                        <a:rPr lang="en-US" sz="1000" b="0" i="0" u="none" strike="noStrike">
                          <a:solidFill>
                            <a:srgbClr val="000000"/>
                          </a:solidFill>
                          <a:effectLst/>
                          <a:latin typeface="Arial Narrow" panose="020B0606020202030204" pitchFamily="34" charset="0"/>
                        </a:rPr>
                        <a:t>Ø</a:t>
                      </a:r>
                      <a:r>
                        <a:rPr lang="vi-VN" sz="1000" b="0" i="0" u="none" strike="noStrike">
                          <a:solidFill>
                            <a:srgbClr val="000000"/>
                          </a:solidFill>
                          <a:effectLst/>
                          <a:latin typeface="Calibri" panose="020F0502020204030204" pitchFamily="34" charset="0"/>
                        </a:rPr>
                        <a:t>5.5</a:t>
                      </a:r>
                      <a:r>
                        <a:rPr lang="en-US" sz="1000" b="0" i="0" u="none" strike="noStrike">
                          <a:solidFill>
                            <a:srgbClr val="000000"/>
                          </a:solidFill>
                          <a:effectLst/>
                          <a:latin typeface="Arial Narrow" panose="020B0606020202030204" pitchFamily="34" charset="0"/>
                        </a:rPr>
                        <a:t>)</a:t>
                      </a:r>
                      <a:endParaRPr lang="vi-VN" sz="1000" b="0" i="0" u="none" strike="noStrike">
                        <a:solidFill>
                          <a:srgbClr val="000000"/>
                        </a:solidFill>
                        <a:effectLst/>
                        <a:latin typeface="Arial Narrow" panose="020B0606020202030204" pitchFamily="34" charset="0"/>
                      </a:endParaRPr>
                    </a:p>
                    <a:p>
                      <a:pPr marL="0" marR="0" indent="0" algn="l" defTabSz="914400" rtl="0" eaLnBrk="1" fontAlgn="ctr" latinLnBrk="0" hangingPunct="1">
                        <a:lnSpc>
                          <a:spcPct val="100000"/>
                        </a:lnSpc>
                        <a:spcBef>
                          <a:spcPts val="0"/>
                        </a:spcBef>
                        <a:spcAft>
                          <a:spcPts val="0"/>
                        </a:spcAft>
                        <a:buClrTx/>
                        <a:buSzTx/>
                        <a:buFontTx/>
                        <a:buNone/>
                        <a:tabLst/>
                        <a:defRPr/>
                      </a:pPr>
                      <a:r>
                        <a:rPr lang="vi-VN" sz="1000" b="1" i="0" u="none" strike="noStrike">
                          <a:solidFill>
                            <a:srgbClr val="000000"/>
                          </a:solidFill>
                          <a:effectLst/>
                          <a:latin typeface="Arial Narrow" panose="020B0606020202030204" pitchFamily="34" charset="0"/>
                        </a:rPr>
                        <a:t>Note: </a:t>
                      </a:r>
                      <a:r>
                        <a:rPr lang="en-US" sz="1000">
                          <a:latin typeface="Arial Narrow" panose="020B0606020202030204" pitchFamily="34" charset="0"/>
                        </a:rPr>
                        <a:t>When the punch </a:t>
                      </a:r>
                      <a:r>
                        <a:rPr lang="vi-VN" sz="1000">
                          <a:latin typeface="Arial Narrow" panose="020B0606020202030204" pitchFamily="34" charset="0"/>
                        </a:rPr>
                        <a:t>radius</a:t>
                      </a:r>
                      <a:r>
                        <a:rPr lang="en-US" sz="1000">
                          <a:latin typeface="Arial Narrow" panose="020B0606020202030204" pitchFamily="34" charset="0"/>
                        </a:rPr>
                        <a:t> is increased to </a:t>
                      </a:r>
                      <a:r>
                        <a:rPr lang="vi-VN" sz="1000">
                          <a:latin typeface="Arial Narrow" panose="020B0606020202030204" pitchFamily="34" charset="0"/>
                        </a:rPr>
                        <a:t>6.5</a:t>
                      </a:r>
                      <a:r>
                        <a:rPr lang="en-US" sz="1000">
                          <a:latin typeface="Arial Narrow" panose="020B0606020202030204" pitchFamily="34" charset="0"/>
                        </a:rPr>
                        <a:t>, a tearing phenomenon appears at the </a:t>
                      </a:r>
                      <a:r>
                        <a:rPr lang="vi-VN" sz="1000">
                          <a:latin typeface="Arial Narrow" panose="020B0606020202030204" pitchFamily="34" charset="0"/>
                        </a:rPr>
                        <a:t>head</a:t>
                      </a:r>
                      <a:r>
                        <a:rPr lang="en-US" sz="1000">
                          <a:latin typeface="Arial Narrow" panose="020B0606020202030204" pitchFamily="34" charset="0"/>
                        </a:rPr>
                        <a:t> of the emboss after </a:t>
                      </a:r>
                      <a:r>
                        <a:rPr lang="vi-VN" sz="1000">
                          <a:latin typeface="Arial Narrow" panose="020B0606020202030204" pitchFamily="34" charset="0"/>
                        </a:rPr>
                        <a:t>finhsh </a:t>
                      </a:r>
                      <a:r>
                        <a:rPr lang="en-US" sz="1000">
                          <a:latin typeface="Arial Narrow" panose="020B0606020202030204" pitchFamily="34" charset="0"/>
                        </a:rPr>
                        <a:t>stamping</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000" b="0" i="0" u="none" strike="noStrike">
                          <a:solidFill>
                            <a:srgbClr val="000000"/>
                          </a:solidFill>
                          <a:effectLst/>
                          <a:latin typeface="Arial Narrow" panose="020B0606020202030204" pitchFamily="34" charset="0"/>
                        </a:rPr>
                        <a:t>Screening DOE</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32635">
                <a:tc>
                  <a:txBody>
                    <a:bodyPr/>
                    <a:lstStyle/>
                    <a:p>
                      <a:pPr algn="ctr" fontAlgn="ctr"/>
                      <a:r>
                        <a:rPr lang="vi-VN" sz="1000" b="0" i="0" u="none" strike="noStrike">
                          <a:solidFill>
                            <a:srgbClr val="000000"/>
                          </a:solidFill>
                          <a:effectLst/>
                          <a:latin typeface="Arial Narrow" panose="020B0606020202030204" pitchFamily="34" charset="0"/>
                        </a:rPr>
                        <a:t>3</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Press Machine</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Narrow" panose="020B0606020202030204" pitchFamily="34" charset="0"/>
                        </a:rPr>
                        <a:t>Emboss Height change when adjust pressure</a:t>
                      </a:r>
                    </a:p>
                    <a:p>
                      <a:pPr marL="0" marR="0" lvl="0" indent="0" algn="l" defTabSz="914400" rtl="0" eaLnBrk="1" fontAlgn="ctr" latinLnBrk="1"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Narrow" panose="020B0606020202030204" pitchFamily="34" charset="0"/>
                        </a:rPr>
                        <a:t>(Pressure from 220 kgf.cm to 320 kgf.cm)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000" b="0" i="0" u="none" strike="noStrike">
                          <a:solidFill>
                            <a:srgbClr val="000000"/>
                          </a:solidFill>
                          <a:effectLst/>
                          <a:latin typeface="Arial Narrow" panose="020B0606020202030204" pitchFamily="34" charset="0"/>
                        </a:rPr>
                        <a:t>Screening DOE</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1208103"/>
                  </a:ext>
                </a:extLst>
              </a:tr>
            </a:tbl>
          </a:graphicData>
        </a:graphic>
      </p:graphicFrame>
      <p:sp>
        <p:nvSpPr>
          <p:cNvPr id="13" name="TextBox 12"/>
          <p:cNvSpPr txBox="1"/>
          <p:nvPr/>
        </p:nvSpPr>
        <p:spPr>
          <a:xfrm>
            <a:off x="73152" y="69580"/>
            <a:ext cx="1778051" cy="369332"/>
          </a:xfrm>
          <a:prstGeom prst="rect">
            <a:avLst/>
          </a:prstGeom>
          <a:noFill/>
        </p:spPr>
        <p:txBody>
          <a:bodyPr wrap="none" rtlCol="0">
            <a:spAutoFit/>
          </a:bodyPr>
          <a:lstStyle/>
          <a:p>
            <a:r>
              <a:rPr lang="en-US">
                <a:latin typeface="Arial Narrow" panose="020B0606020202030204" pitchFamily="34" charset="0"/>
              </a:rPr>
              <a:t>Find</a:t>
            </a:r>
            <a:r>
              <a:rPr lang="vi-VN">
                <a:latin typeface="Arial Narrow" panose="020B0606020202030204" pitchFamily="34" charset="0"/>
              </a:rPr>
              <a:t> out</a:t>
            </a:r>
            <a:r>
              <a:rPr lang="en-US">
                <a:latin typeface="Arial Narrow" panose="020B0606020202030204" pitchFamily="34" charset="0"/>
              </a:rPr>
              <a:t> the </a:t>
            </a:r>
            <a:r>
              <a:rPr lang="vi-VN">
                <a:latin typeface="Arial Narrow" panose="020B0606020202030204" pitchFamily="34" charset="0"/>
              </a:rPr>
              <a:t>Factor</a:t>
            </a:r>
            <a:endParaRPr lang="en-US">
              <a:latin typeface="Arial Narrow" panose="020B0606020202030204" pitchFamily="34" charset="0"/>
            </a:endParaRPr>
          </a:p>
        </p:txBody>
      </p:sp>
      <p:sp>
        <p:nvSpPr>
          <p:cNvPr id="3" name="TextBox 2"/>
          <p:cNvSpPr txBox="1"/>
          <p:nvPr/>
        </p:nvSpPr>
        <p:spPr>
          <a:xfrm>
            <a:off x="1416152" y="3784842"/>
            <a:ext cx="3096924" cy="2516073"/>
          </a:xfrm>
          <a:prstGeom prst="rect">
            <a:avLst/>
          </a:prstGeom>
          <a:solidFill>
            <a:schemeClr val="accent2">
              <a:lumMod val="60000"/>
              <a:lumOff val="40000"/>
            </a:schemeClr>
          </a:solidFill>
        </p:spPr>
        <p:txBody>
          <a:bodyPr wrap="square" rtlCol="0">
            <a:spAutoFit/>
          </a:bodyPr>
          <a:lstStyle/>
          <a:p>
            <a:r>
              <a:rPr lang="en-US" sz="1050" b="1">
                <a:latin typeface="Arial Narrow" panose="020B0606020202030204" pitchFamily="34" charset="0"/>
              </a:rPr>
              <a:t>24th, Nov. Ken Park</a:t>
            </a:r>
            <a:br>
              <a:rPr lang="en-US" sz="1050">
                <a:latin typeface="Arial Narrow" panose="020B0606020202030204" pitchFamily="34" charset="0"/>
              </a:rPr>
            </a:br>
            <a:r>
              <a:rPr lang="en-US" sz="1050">
                <a:latin typeface="Arial Narrow" panose="020B0606020202030204" pitchFamily="34" charset="0"/>
              </a:rPr>
              <a:t>Good result to find out the factor.</a:t>
            </a:r>
            <a:br>
              <a:rPr lang="en-US" sz="1050">
                <a:latin typeface="Arial Narrow" panose="020B0606020202030204" pitchFamily="34" charset="0"/>
              </a:rPr>
            </a:br>
            <a:r>
              <a:rPr lang="en-US" sz="1050">
                <a:latin typeface="Arial Narrow" panose="020B0606020202030204" pitchFamily="34" charset="0"/>
              </a:rPr>
              <a:t>You tried two one-way ANOVA and one 2-sample T test.</a:t>
            </a:r>
            <a:br>
              <a:rPr lang="en-US" sz="1050">
                <a:latin typeface="Arial Narrow" panose="020B0606020202030204" pitchFamily="34" charset="0"/>
              </a:rPr>
            </a:br>
            <a:r>
              <a:rPr lang="en-US" sz="1050">
                <a:latin typeface="Arial Narrow" panose="020B0606020202030204" pitchFamily="34" charset="0"/>
              </a:rPr>
              <a:t>You don’t have to change the project but, in six sigma training, we recommend that screening DOE to find out the factor because it needs much less sample than this 3 times test (2 times one-way ANOVA and 1 time 2-sample T test.)</a:t>
            </a:r>
            <a:br>
              <a:rPr lang="en-US" sz="1050">
                <a:latin typeface="Arial Narrow" panose="020B0606020202030204" pitchFamily="34" charset="0"/>
              </a:rPr>
            </a:br>
            <a:r>
              <a:rPr lang="en-US" sz="1050">
                <a:latin typeface="Arial Narrow" panose="020B0606020202030204" pitchFamily="34" charset="0"/>
              </a:rPr>
              <a:t>I suggest that you prepare the explanation when six sigma interview asks about this.</a:t>
            </a:r>
            <a:br>
              <a:rPr lang="en-US" sz="1050">
                <a:latin typeface="Arial Narrow" panose="020B0606020202030204" pitchFamily="34" charset="0"/>
              </a:rPr>
            </a:br>
            <a:r>
              <a:rPr lang="en-US" sz="1050">
                <a:latin typeface="Arial Narrow" panose="020B0606020202030204" pitchFamily="34" charset="0"/>
              </a:rPr>
              <a:t>Why do you test 3 times, but not 1 time screening DOE?</a:t>
            </a:r>
            <a:br>
              <a:rPr lang="en-US" sz="1050">
                <a:latin typeface="Arial Narrow" panose="020B0606020202030204" pitchFamily="34" charset="0"/>
              </a:rPr>
            </a:br>
            <a:r>
              <a:rPr lang="en-US" sz="1050">
                <a:latin typeface="Arial Narrow" panose="020B0606020202030204" pitchFamily="34" charset="0"/>
              </a:rPr>
              <a:t>If you have a certain reason, you can explain it. But if you don’t have one, I think that you can just answer that you don’t know that you can use screening DOE and it needs much less sample at first. But after the test, you got it but you have already done the test so you didn’t change it.</a:t>
            </a:r>
          </a:p>
        </p:txBody>
      </p:sp>
      <p:sp>
        <p:nvSpPr>
          <p:cNvPr id="15" name="TextBox 14"/>
          <p:cNvSpPr txBox="1"/>
          <p:nvPr/>
        </p:nvSpPr>
        <p:spPr>
          <a:xfrm>
            <a:off x="4635601" y="3784842"/>
            <a:ext cx="3658900" cy="738664"/>
          </a:xfrm>
          <a:prstGeom prst="rect">
            <a:avLst/>
          </a:prstGeom>
          <a:solidFill>
            <a:srgbClr val="009A46"/>
          </a:solidFill>
        </p:spPr>
        <p:txBody>
          <a:bodyPr wrap="square" rtlCol="0">
            <a:spAutoFit/>
          </a:bodyPr>
          <a:lstStyle/>
          <a:p>
            <a:r>
              <a:rPr lang="vi-VN" sz="1050" b="1">
                <a:latin typeface="Arial Narrow" panose="020B0606020202030204" pitchFamily="34" charset="0"/>
              </a:rPr>
              <a:t>26</a:t>
            </a:r>
            <a:r>
              <a:rPr lang="en-US" sz="1050" b="1">
                <a:latin typeface="Arial Narrow" panose="020B0606020202030204" pitchFamily="34" charset="0"/>
              </a:rPr>
              <a:t>th, Nov. </a:t>
            </a:r>
            <a:r>
              <a:rPr lang="vi-VN" sz="1050" b="1">
                <a:latin typeface="Arial Narrow" panose="020B0606020202030204" pitchFamily="34" charset="0"/>
              </a:rPr>
              <a:t>Updateed</a:t>
            </a:r>
            <a:br>
              <a:rPr lang="en-US" sz="1050">
                <a:latin typeface="Arial Narrow" panose="020B0606020202030204" pitchFamily="34" charset="0"/>
              </a:rPr>
            </a:br>
            <a:r>
              <a:rPr lang="vi-VN" sz="1050">
                <a:latin typeface="Arial Narrow" panose="020B0606020202030204" pitchFamily="34" charset="0"/>
              </a:rPr>
              <a:t>i will request supplier trial run accoring to Screening DOE table</a:t>
            </a:r>
          </a:p>
          <a:p>
            <a:r>
              <a:rPr lang="vi-VN" sz="1050">
                <a:latin typeface="Arial Narrow" panose="020B0606020202030204" pitchFamily="34" charset="0"/>
              </a:rPr>
              <a:t>I will delete test by ANOVA, 2 sample T and summarize data by Sceening factor as below (Slide 19~21)</a:t>
            </a:r>
            <a:endParaRPr lang="en-US" sz="1050">
              <a:latin typeface="Arial Narrow" panose="020B0606020202030204" pitchFamily="34" charset="0"/>
            </a:endParaRPr>
          </a:p>
        </p:txBody>
      </p:sp>
    </p:spTree>
    <p:extLst>
      <p:ext uri="{BB962C8B-B14F-4D97-AF65-F5344CB8AC3E}">
        <p14:creationId xmlns:p14="http://schemas.microsoft.com/office/powerpoint/2010/main" val="227915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b="10750"/>
          <a:stretch/>
        </p:blipFill>
        <p:spPr>
          <a:xfrm>
            <a:off x="198758" y="1836441"/>
            <a:ext cx="1765423" cy="2223453"/>
          </a:xfrm>
          <a:prstGeom prst="rect">
            <a:avLst/>
          </a:prstGeom>
        </p:spPr>
      </p:pic>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81363" y="27941"/>
            <a:ext cx="2449687" cy="334221"/>
            <a:chOff x="7376138" y="106318"/>
            <a:chExt cx="2449687" cy="334221"/>
          </a:xfrm>
        </p:grpSpPr>
        <p:sp>
          <p:nvSpPr>
            <p:cNvPr id="7" name="AutoShape 5"/>
            <p:cNvSpPr>
              <a:spLocks noChangeArrowheads="1"/>
            </p:cNvSpPr>
            <p:nvPr/>
          </p:nvSpPr>
          <p:spPr bwMode="auto">
            <a:xfrm>
              <a:off x="7376138" y="106318"/>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289276" y="106318"/>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54927" y="106318"/>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graphicFrame>
        <p:nvGraphicFramePr>
          <p:cNvPr id="76" name="Table 75">
            <a:extLst>
              <a:ext uri="{FF2B5EF4-FFF2-40B4-BE49-F238E27FC236}">
                <a16:creationId xmlns:a16="http://schemas.microsoft.com/office/drawing/2014/main" id="{95E3A9AA-6325-4162-8AF7-1E28BD641089}"/>
              </a:ext>
            </a:extLst>
          </p:cNvPr>
          <p:cNvGraphicFramePr>
            <a:graphicFrameLocks noGrp="1"/>
          </p:cNvGraphicFramePr>
          <p:nvPr>
            <p:extLst>
              <p:ext uri="{D42A27DB-BD31-4B8C-83A1-F6EECF244321}">
                <p14:modId xmlns:p14="http://schemas.microsoft.com/office/powerpoint/2010/main" val="1353948341"/>
              </p:ext>
            </p:extLst>
          </p:nvPr>
        </p:nvGraphicFramePr>
        <p:xfrm>
          <a:off x="266699" y="4380167"/>
          <a:ext cx="9509543" cy="1597905"/>
        </p:xfrm>
        <a:graphic>
          <a:graphicData uri="http://schemas.openxmlformats.org/drawingml/2006/table">
            <a:tbl>
              <a:tblPr/>
              <a:tblGrid>
                <a:gridCol w="732609">
                  <a:extLst>
                    <a:ext uri="{9D8B030D-6E8A-4147-A177-3AD203B41FA5}">
                      <a16:colId xmlns:a16="http://schemas.microsoft.com/office/drawing/2014/main" val="675507370"/>
                    </a:ext>
                  </a:extLst>
                </a:gridCol>
                <a:gridCol w="3449366">
                  <a:extLst>
                    <a:ext uri="{9D8B030D-6E8A-4147-A177-3AD203B41FA5}">
                      <a16:colId xmlns:a16="http://schemas.microsoft.com/office/drawing/2014/main" val="851657989"/>
                    </a:ext>
                  </a:extLst>
                </a:gridCol>
                <a:gridCol w="4091291">
                  <a:extLst>
                    <a:ext uri="{9D8B030D-6E8A-4147-A177-3AD203B41FA5}">
                      <a16:colId xmlns:a16="http://schemas.microsoft.com/office/drawing/2014/main" val="4121057302"/>
                    </a:ext>
                  </a:extLst>
                </a:gridCol>
                <a:gridCol w="1236277">
                  <a:extLst>
                    <a:ext uri="{9D8B030D-6E8A-4147-A177-3AD203B41FA5}">
                      <a16:colId xmlns:a16="http://schemas.microsoft.com/office/drawing/2014/main" val="6004670"/>
                    </a:ext>
                  </a:extLst>
                </a:gridCol>
              </a:tblGrid>
              <a:tr h="532635">
                <a:tc>
                  <a:txBody>
                    <a:bodyPr/>
                    <a:lstStyle/>
                    <a:p>
                      <a:pPr algn="ctr" rtl="0" fontAlgn="ctr"/>
                      <a:r>
                        <a:rPr lang="en-US" sz="1050" b="1" i="0" u="none" strike="noStrike">
                          <a:solidFill>
                            <a:srgbClr val="000000"/>
                          </a:solidFill>
                          <a:effectLst/>
                          <a:latin typeface="Arial Narrow" panose="020B0606020202030204" pitchFamily="34" charset="0"/>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050" b="1" i="0" u="none" strike="noStrike" dirty="0">
                          <a:solidFill>
                            <a:srgbClr val="000000"/>
                          </a:solidFill>
                          <a:effectLst/>
                          <a:latin typeface="Arial Narrow" panose="020B0606020202030204" pitchFamily="34" charset="0"/>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050" b="1" i="0" u="none" strike="noStrike" dirty="0">
                          <a:solidFill>
                            <a:srgbClr val="000000"/>
                          </a:solidFill>
                          <a:effectLst/>
                          <a:latin typeface="Arial Narrow" panose="020B0606020202030204" pitchFamily="34" charset="0"/>
                        </a:rPr>
                        <a:t>What is looking for?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050" b="1" i="0" u="none" strike="noStrike" dirty="0">
                          <a:solidFill>
                            <a:srgbClr val="000000"/>
                          </a:solidFill>
                          <a:effectLst/>
                          <a:latin typeface="Arial Narrow" panose="020B0606020202030204" pitchFamily="34" charset="0"/>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fontAlgn="ctr"/>
                      <a:r>
                        <a:rPr lang="en-US" sz="1000" b="0" i="0" u="none" strike="noStrike" dirty="0">
                          <a:solidFill>
                            <a:srgbClr val="000000"/>
                          </a:solidFill>
                          <a:effectLst/>
                          <a:latin typeface="Arial Narrow" panose="020B0606020202030204" pitchFamily="34" charset="0"/>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Punch Height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a:latin typeface="Arial Narrow" panose="020B0606020202030204" pitchFamily="34" charset="0"/>
                        </a:rPr>
                        <a:t>When the punch </a:t>
                      </a:r>
                      <a:r>
                        <a:rPr lang="vi-VN" sz="1000">
                          <a:latin typeface="Arial Narrow" panose="020B0606020202030204" pitchFamily="34" charset="0"/>
                        </a:rPr>
                        <a:t>height</a:t>
                      </a:r>
                      <a:r>
                        <a:rPr lang="en-US" sz="1000">
                          <a:latin typeface="Arial Narrow" panose="020B0606020202030204" pitchFamily="34" charset="0"/>
                        </a:rPr>
                        <a:t> is increased to 7.2, a tearing phenomenon appears at the </a:t>
                      </a:r>
                      <a:r>
                        <a:rPr lang="vi-VN" sz="1000">
                          <a:latin typeface="Arial Narrow" panose="020B0606020202030204" pitchFamily="34" charset="0"/>
                        </a:rPr>
                        <a:t>head</a:t>
                      </a:r>
                      <a:r>
                        <a:rPr lang="en-US" sz="1000">
                          <a:latin typeface="Arial Narrow" panose="020B0606020202030204" pitchFamily="34" charset="0"/>
                        </a:rPr>
                        <a:t> of the emboss after </a:t>
                      </a:r>
                      <a:r>
                        <a:rPr lang="vi-VN" sz="1000">
                          <a:latin typeface="Arial Narrow" panose="020B0606020202030204" pitchFamily="34" charset="0"/>
                        </a:rPr>
                        <a:t>finhsh </a:t>
                      </a:r>
                      <a:r>
                        <a:rPr lang="en-US" sz="1000">
                          <a:latin typeface="Arial Narrow" panose="020B0606020202030204" pitchFamily="34" charset="0"/>
                        </a:rPr>
                        <a:t>stamping</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000" b="0" i="0" u="none" strike="noStrike">
                          <a:solidFill>
                            <a:srgbClr val="000000"/>
                          </a:solidFill>
                          <a:effectLst/>
                          <a:latin typeface="Arial Narrow" panose="020B0606020202030204" pitchFamily="34" charset="0"/>
                        </a:rPr>
                        <a:t>Judgement by spec in the drawing</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fontAlgn="ctr"/>
                      <a:r>
                        <a:rPr lang="vi-VN" sz="1000" b="0" i="0" u="none" strike="noStrike">
                          <a:solidFill>
                            <a:srgbClr val="000000"/>
                          </a:solidFill>
                          <a:effectLst/>
                          <a:latin typeface="Arial Narrow" panose="020B0606020202030204" pitchFamily="34" charset="0"/>
                        </a:rPr>
                        <a:t>2</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000" b="0" i="0" u="none" strike="noStrike">
                          <a:solidFill>
                            <a:srgbClr val="000000"/>
                          </a:solidFill>
                          <a:effectLst/>
                          <a:latin typeface="Arial Narrow" panose="020B0606020202030204" pitchFamily="34" charset="0"/>
                        </a:rPr>
                        <a:t>Punch Radius</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a:latin typeface="Arial Narrow" panose="020B0606020202030204" pitchFamily="34" charset="0"/>
                        </a:rPr>
                        <a:t>When the punch </a:t>
                      </a:r>
                      <a:r>
                        <a:rPr lang="vi-VN" sz="1000">
                          <a:latin typeface="Arial Narrow" panose="020B0606020202030204" pitchFamily="34" charset="0"/>
                        </a:rPr>
                        <a:t>radius</a:t>
                      </a:r>
                      <a:r>
                        <a:rPr lang="en-US" sz="1000">
                          <a:latin typeface="Arial Narrow" panose="020B0606020202030204" pitchFamily="34" charset="0"/>
                        </a:rPr>
                        <a:t> is increased to </a:t>
                      </a:r>
                      <a:r>
                        <a:rPr lang="vi-VN" sz="1000">
                          <a:latin typeface="Arial Narrow" panose="020B0606020202030204" pitchFamily="34" charset="0"/>
                        </a:rPr>
                        <a:t>6.5</a:t>
                      </a:r>
                      <a:r>
                        <a:rPr lang="en-US" sz="1000">
                          <a:latin typeface="Arial Narrow" panose="020B0606020202030204" pitchFamily="34" charset="0"/>
                        </a:rPr>
                        <a:t>, a tearing phenomenon appears at the </a:t>
                      </a:r>
                      <a:r>
                        <a:rPr lang="vi-VN" sz="1000">
                          <a:latin typeface="Arial Narrow" panose="020B0606020202030204" pitchFamily="34" charset="0"/>
                        </a:rPr>
                        <a:t>head</a:t>
                      </a:r>
                      <a:r>
                        <a:rPr lang="en-US" sz="1000">
                          <a:latin typeface="Arial Narrow" panose="020B0606020202030204" pitchFamily="34" charset="0"/>
                        </a:rPr>
                        <a:t> of the emboss after </a:t>
                      </a:r>
                      <a:r>
                        <a:rPr lang="vi-VN" sz="1000">
                          <a:latin typeface="Arial Narrow" panose="020B0606020202030204" pitchFamily="34" charset="0"/>
                        </a:rPr>
                        <a:t>finhsh </a:t>
                      </a:r>
                      <a:r>
                        <a:rPr lang="en-US" sz="1000">
                          <a:latin typeface="Arial Narrow" panose="020B0606020202030204" pitchFamily="34" charset="0"/>
                        </a:rPr>
                        <a:t>stamping</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000" b="0" i="0" u="none" strike="noStrike">
                          <a:solidFill>
                            <a:srgbClr val="000000"/>
                          </a:solidFill>
                          <a:effectLst/>
                          <a:latin typeface="Arial Narrow" panose="020B0606020202030204" pitchFamily="34" charset="0"/>
                        </a:rPr>
                        <a:t>Jundgement by trial run</a:t>
                      </a:r>
                      <a:endParaRPr lang="en-US" sz="10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3" name="TextBox 12"/>
          <p:cNvSpPr txBox="1"/>
          <p:nvPr/>
        </p:nvSpPr>
        <p:spPr>
          <a:xfrm>
            <a:off x="73152" y="69580"/>
            <a:ext cx="1778051" cy="369332"/>
          </a:xfrm>
          <a:prstGeom prst="rect">
            <a:avLst/>
          </a:prstGeom>
          <a:noFill/>
        </p:spPr>
        <p:txBody>
          <a:bodyPr wrap="none" rtlCol="0">
            <a:spAutoFit/>
          </a:bodyPr>
          <a:lstStyle/>
          <a:p>
            <a:r>
              <a:rPr lang="en-US">
                <a:latin typeface="Arial Narrow" panose="020B0606020202030204" pitchFamily="34" charset="0"/>
              </a:rPr>
              <a:t>Find</a:t>
            </a:r>
            <a:r>
              <a:rPr lang="vi-VN">
                <a:latin typeface="Arial Narrow" panose="020B0606020202030204" pitchFamily="34" charset="0"/>
              </a:rPr>
              <a:t> out</a:t>
            </a:r>
            <a:r>
              <a:rPr lang="en-US">
                <a:latin typeface="Arial Narrow" panose="020B0606020202030204" pitchFamily="34" charset="0"/>
              </a:rPr>
              <a:t> the </a:t>
            </a:r>
            <a:r>
              <a:rPr lang="vi-VN">
                <a:latin typeface="Arial Narrow" panose="020B0606020202030204" pitchFamily="34" charset="0"/>
              </a:rPr>
              <a:t>Factor</a:t>
            </a:r>
            <a:endParaRPr lang="en-US">
              <a:latin typeface="Arial Narrow" panose="020B0606020202030204" pitchFamily="34" charset="0"/>
            </a:endParaRPr>
          </a:p>
        </p:txBody>
      </p:sp>
      <p:pic>
        <p:nvPicPr>
          <p:cNvPr id="2" name="Picture 1"/>
          <p:cNvPicPr>
            <a:picLocks noChangeAspect="1"/>
          </p:cNvPicPr>
          <p:nvPr/>
        </p:nvPicPr>
        <p:blipFill rotWithShape="1">
          <a:blip r:embed="rId3"/>
          <a:srcRect l="8139"/>
          <a:stretch/>
        </p:blipFill>
        <p:spPr>
          <a:xfrm>
            <a:off x="2217007" y="1508837"/>
            <a:ext cx="3268027" cy="2562011"/>
          </a:xfrm>
          <a:prstGeom prst="rect">
            <a:avLst/>
          </a:prstGeom>
        </p:spPr>
      </p:pic>
      <p:pic>
        <p:nvPicPr>
          <p:cNvPr id="5" name="Picture 4"/>
          <p:cNvPicPr>
            <a:picLocks noChangeAspect="1"/>
          </p:cNvPicPr>
          <p:nvPr/>
        </p:nvPicPr>
        <p:blipFill rotWithShape="1">
          <a:blip r:embed="rId4"/>
          <a:srcRect l="19564" r="12760"/>
          <a:stretch/>
        </p:blipFill>
        <p:spPr>
          <a:xfrm>
            <a:off x="5737860" y="1893426"/>
            <a:ext cx="3985042" cy="657798"/>
          </a:xfrm>
          <a:prstGeom prst="rect">
            <a:avLst/>
          </a:prstGeom>
        </p:spPr>
      </p:pic>
      <p:sp>
        <p:nvSpPr>
          <p:cNvPr id="16" name="Text Box 2">
            <a:extLst>
              <a:ext uri="{FF2B5EF4-FFF2-40B4-BE49-F238E27FC236}">
                <a16:creationId xmlns:a16="http://schemas.microsoft.com/office/drawing/2014/main" id="{63829AFC-6835-4014-8016-FB19D2E46C1B}"/>
              </a:ext>
            </a:extLst>
          </p:cNvPr>
          <p:cNvSpPr txBox="1">
            <a:spLocks noChangeArrowheads="1"/>
          </p:cNvSpPr>
          <p:nvPr/>
        </p:nvSpPr>
        <p:spPr bwMode="auto">
          <a:xfrm>
            <a:off x="112904" y="526033"/>
            <a:ext cx="8181597" cy="304800"/>
          </a:xfrm>
          <a:prstGeom prst="rect">
            <a:avLst/>
          </a:prstGeom>
          <a:noFill/>
          <a:ln w="9525" algn="ctr">
            <a:noFill/>
            <a:miter lim="800000"/>
            <a:headEnd/>
            <a:tailEnd/>
          </a:ln>
        </p:spPr>
        <p:txBody>
          <a:bodyPr lIns="84374" tIns="42187" rIns="84374" bIns="42187" anchor="ctr"/>
          <a:lstStyle/>
          <a:p>
            <a:r>
              <a:rPr lang="en-US" altLang="ko-KR" sz="1400">
                <a:solidFill>
                  <a:srgbClr val="00B050"/>
                </a:solidFill>
                <a:latin typeface="Arial Narrow" panose="020B0606020202030204" pitchFamily="34" charset="0"/>
                <a:ea typeface="LG스마트체 Regular" panose="020B0600000101010101" pitchFamily="50" charset="-127"/>
              </a:rPr>
              <a:t>※</a:t>
            </a:r>
            <a:r>
              <a:rPr lang="en-US" altLang="ko-KR" sz="1400">
                <a:solidFill>
                  <a:srgbClr val="008000"/>
                </a:solidFill>
                <a:latin typeface="Arial Narrow" panose="020B0606020202030204" pitchFamily="34" charset="0"/>
                <a:ea typeface="LG스마트체 Regular" panose="020B0600000101010101" pitchFamily="50" charset="-127"/>
              </a:rPr>
              <a:t> </a:t>
            </a:r>
            <a:r>
              <a:rPr lang="vi-VN" altLang="ko-KR" sz="1400">
                <a:solidFill>
                  <a:srgbClr val="008000"/>
                </a:solidFill>
                <a:latin typeface="Arial Narrow" panose="020B0606020202030204" pitchFamily="34" charset="0"/>
                <a:ea typeface="LG스마트체 Regular" panose="020B0600000101010101" pitchFamily="50" charset="-127"/>
              </a:rPr>
              <a:t> In the drawing, There are 2 requirements related to embo: Height embo 7.4mm, make flat in embo head.</a:t>
            </a:r>
            <a:endParaRPr lang="en-US" sz="1400" dirty="0">
              <a:latin typeface="Arial Narrow" panose="020B0606020202030204" pitchFamily="34" charset="0"/>
            </a:endParaRPr>
          </a:p>
        </p:txBody>
      </p:sp>
      <p:sp>
        <p:nvSpPr>
          <p:cNvPr id="11" name="Rectangle 10"/>
          <p:cNvSpPr/>
          <p:nvPr/>
        </p:nvSpPr>
        <p:spPr>
          <a:xfrm>
            <a:off x="112904" y="774583"/>
            <a:ext cx="9807493" cy="954107"/>
          </a:xfrm>
          <a:prstGeom prst="rect">
            <a:avLst/>
          </a:prstGeom>
        </p:spPr>
        <p:txBody>
          <a:bodyPr wrap="none">
            <a:spAutoFit/>
          </a:bodyPr>
          <a:lstStyle/>
          <a:p>
            <a:r>
              <a:rPr lang="vi-VN" sz="1400" b="1">
                <a:latin typeface="Arial Narrow" panose="020B0606020202030204" pitchFamily="34" charset="0"/>
              </a:rPr>
              <a:t>Hypothesis: </a:t>
            </a:r>
          </a:p>
          <a:p>
            <a:r>
              <a:rPr lang="vi-VN" sz="1400">
                <a:latin typeface="Arial Narrow" panose="020B0606020202030204" pitchFamily="34" charset="0"/>
              </a:rPr>
              <a:t>Decrease punch height 6.4 to 6.2</a:t>
            </a:r>
          </a:p>
          <a:p>
            <a:r>
              <a:rPr lang="vi-VN" sz="1400">
                <a:latin typeface="Arial Narrow" panose="020B0606020202030204" pitchFamily="34" charset="0"/>
                <a:sym typeface="Wingdings" panose="05000000000000000000" pitchFamily="2" charset="2"/>
              </a:rPr>
              <a:t> Embo height (estimate) = 6.2 + 1.0 (Material thickness) = 7.2 &lt; 7.4 (NG with </a:t>
            </a:r>
            <a:r>
              <a:rPr lang="vi-VN" sz="1400" i="1">
                <a:latin typeface="Arial Narrow" panose="020B0606020202030204" pitchFamily="34" charset="0"/>
                <a:sym typeface="Wingdings" panose="05000000000000000000" pitchFamily="2" charset="2"/>
              </a:rPr>
              <a:t>Embo height Spec in the drawing &amp; cannot make flat in Embo head)</a:t>
            </a:r>
          </a:p>
          <a:p>
            <a:r>
              <a:rPr lang="vi-VN" sz="1400">
                <a:latin typeface="Arial Narrow" panose="020B0606020202030204" pitchFamily="34" charset="0"/>
                <a:sym typeface="Wingdings" panose="05000000000000000000" pitchFamily="2" charset="2"/>
              </a:rPr>
              <a:t>Testing with increase Punch height</a:t>
            </a:r>
            <a:endParaRPr lang="en-US" sz="1400">
              <a:latin typeface="Arial Narrow" panose="020B0606020202030204" pitchFamily="34" charset="0"/>
            </a:endParaRPr>
          </a:p>
        </p:txBody>
      </p:sp>
      <p:sp>
        <p:nvSpPr>
          <p:cNvPr id="18" name="사각형: 둥근 모서리 19">
            <a:extLst>
              <a:ext uri="{FF2B5EF4-FFF2-40B4-BE49-F238E27FC236}">
                <a16:creationId xmlns:a16="http://schemas.microsoft.com/office/drawing/2014/main" id="{7CFE5621-62B4-5ADC-121E-40E941C29F03}"/>
              </a:ext>
            </a:extLst>
          </p:cNvPr>
          <p:cNvSpPr/>
          <p:nvPr/>
        </p:nvSpPr>
        <p:spPr>
          <a:xfrm>
            <a:off x="7897090" y="-2471581"/>
            <a:ext cx="7876895" cy="1817218"/>
          </a:xfrm>
          <a:prstGeom prst="roundRect">
            <a:avLst>
              <a:gd name="adj" fmla="val 5275"/>
            </a:avLst>
          </a:prstGeom>
          <a:solidFill>
            <a:srgbClr val="00A84C"/>
          </a:solidFill>
          <a:ln>
            <a:solidFill>
              <a:srgbClr val="009A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According to Page 28, Punch height 6.4 and Punch Radius 6 is current process parameter, isn’t it?</a:t>
            </a:r>
          </a:p>
          <a:p>
            <a:r>
              <a:rPr lang="en-US" altLang="ko-KR" sz="1200" dirty="0"/>
              <a:t>And you’d better the DOE as big and small as possible. </a:t>
            </a:r>
          </a:p>
          <a:p>
            <a:r>
              <a:rPr lang="en-US" altLang="ko-KR" sz="1200" dirty="0"/>
              <a:t>With Punch height 7.2 , a tearing phenomenon appears and it’s big enough, but you have to try with lower parameter with punch height. (If you or supplier engineer think that it’s minimum value, you don’t have to try the lower value but and then, you can add comments that if it’s lower than 6.4. XXX phenomenon is expected and you select 6.4 as minimum value.)</a:t>
            </a:r>
          </a:p>
          <a:p>
            <a:endParaRPr lang="en-US" altLang="ko-KR" sz="1200" dirty="0"/>
          </a:p>
          <a:p>
            <a:r>
              <a:rPr lang="en-US" altLang="ko-KR" sz="1200" dirty="0"/>
              <a:t>Same with Punch </a:t>
            </a:r>
            <a:r>
              <a:rPr lang="en-US" altLang="ko-KR" sz="1200" dirty="0" err="1"/>
              <a:t>Raidus</a:t>
            </a:r>
            <a:r>
              <a:rPr lang="en-US" altLang="ko-KR" sz="1200" dirty="0"/>
              <a:t>. </a:t>
            </a:r>
          </a:p>
        </p:txBody>
      </p:sp>
      <p:sp>
        <p:nvSpPr>
          <p:cNvPr id="14" name="TextBox 13"/>
          <p:cNvSpPr txBox="1"/>
          <p:nvPr/>
        </p:nvSpPr>
        <p:spPr>
          <a:xfrm>
            <a:off x="5009936" y="2592207"/>
            <a:ext cx="1455848" cy="307777"/>
          </a:xfrm>
          <a:prstGeom prst="rect">
            <a:avLst/>
          </a:prstGeom>
          <a:solidFill>
            <a:srgbClr val="00B050"/>
          </a:solidFill>
        </p:spPr>
        <p:txBody>
          <a:bodyPr wrap="none" rtlCol="0">
            <a:spAutoFit/>
          </a:bodyPr>
          <a:lstStyle/>
          <a:p>
            <a:r>
              <a:rPr lang="vi-VN" sz="1400" b="1">
                <a:latin typeface="Arial Narrow" panose="020B0606020202030204" pitchFamily="34" charset="0"/>
              </a:rPr>
              <a:t>Flat in Embo head</a:t>
            </a:r>
            <a:endParaRPr lang="en-US" sz="1400" b="1">
              <a:latin typeface="Arial Narrow" panose="020B0606020202030204" pitchFamily="34" charset="0"/>
            </a:endParaRPr>
          </a:p>
        </p:txBody>
      </p:sp>
      <p:cxnSp>
        <p:nvCxnSpPr>
          <p:cNvPr id="17" name="Straight Arrow Connector 16"/>
          <p:cNvCxnSpPr/>
          <p:nvPr/>
        </p:nvCxnSpPr>
        <p:spPr>
          <a:xfrm flipH="1" flipV="1">
            <a:off x="962177" y="2324100"/>
            <a:ext cx="4047759" cy="421995"/>
          </a:xfrm>
          <a:prstGeom prst="straightConnector1">
            <a:avLst/>
          </a:prstGeom>
          <a:ln w="28575">
            <a:solidFill>
              <a:srgbClr val="009A46"/>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647700" y="3497580"/>
            <a:ext cx="1203503" cy="632460"/>
          </a:xfrm>
          <a:prstGeom prst="rect">
            <a:avLst/>
          </a:prstGeom>
          <a:noFill/>
          <a:ln w="19050">
            <a:solidFill>
              <a:srgbClr val="009A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5750495" y="2179338"/>
            <a:ext cx="2009314" cy="357393"/>
          </a:xfrm>
          <a:prstGeom prst="rect">
            <a:avLst/>
          </a:prstGeom>
          <a:noFill/>
          <a:ln w="19050">
            <a:solidFill>
              <a:srgbClr val="009A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3279875" y="1616547"/>
            <a:ext cx="3096924" cy="2516073"/>
          </a:xfrm>
          <a:prstGeom prst="rect">
            <a:avLst/>
          </a:prstGeom>
          <a:solidFill>
            <a:schemeClr val="accent2">
              <a:lumMod val="60000"/>
              <a:lumOff val="40000"/>
            </a:schemeClr>
          </a:solidFill>
        </p:spPr>
        <p:txBody>
          <a:bodyPr wrap="square" rtlCol="0">
            <a:spAutoFit/>
          </a:bodyPr>
          <a:lstStyle/>
          <a:p>
            <a:r>
              <a:rPr lang="en-US" sz="1050" b="1">
                <a:latin typeface="Arial Narrow" panose="020B0606020202030204" pitchFamily="34" charset="0"/>
              </a:rPr>
              <a:t>24th, Nov. Ken Park</a:t>
            </a:r>
            <a:br>
              <a:rPr lang="en-US" sz="1050">
                <a:latin typeface="Arial Narrow" panose="020B0606020202030204" pitchFamily="34" charset="0"/>
              </a:rPr>
            </a:br>
            <a:r>
              <a:rPr lang="en-US" sz="1050">
                <a:latin typeface="Arial Narrow" panose="020B0606020202030204" pitchFamily="34" charset="0"/>
              </a:rPr>
              <a:t>Good result to find out the factor.</a:t>
            </a:r>
            <a:br>
              <a:rPr lang="en-US" sz="1050">
                <a:latin typeface="Arial Narrow" panose="020B0606020202030204" pitchFamily="34" charset="0"/>
              </a:rPr>
            </a:br>
            <a:r>
              <a:rPr lang="en-US" sz="1050">
                <a:latin typeface="Arial Narrow" panose="020B0606020202030204" pitchFamily="34" charset="0"/>
              </a:rPr>
              <a:t>You tried two one-way ANOVA and one 2-sample T test.</a:t>
            </a:r>
            <a:br>
              <a:rPr lang="en-US" sz="1050">
                <a:latin typeface="Arial Narrow" panose="020B0606020202030204" pitchFamily="34" charset="0"/>
              </a:rPr>
            </a:br>
            <a:r>
              <a:rPr lang="en-US" sz="1050">
                <a:latin typeface="Arial Narrow" panose="020B0606020202030204" pitchFamily="34" charset="0"/>
              </a:rPr>
              <a:t>You don’t have to change the project but, in six sigma training, we recommend that screening DOE to find out the factor because it needs much less sample than this 3 times test (2 times one-way ANOVA and 1 time 2-sample T test.)</a:t>
            </a:r>
            <a:br>
              <a:rPr lang="en-US" sz="1050">
                <a:latin typeface="Arial Narrow" panose="020B0606020202030204" pitchFamily="34" charset="0"/>
              </a:rPr>
            </a:br>
            <a:r>
              <a:rPr lang="en-US" sz="1050">
                <a:latin typeface="Arial Narrow" panose="020B0606020202030204" pitchFamily="34" charset="0"/>
              </a:rPr>
              <a:t>I suggest that you prepare the explanation when six sigma interview asks about this.</a:t>
            </a:r>
            <a:br>
              <a:rPr lang="en-US" sz="1050">
                <a:latin typeface="Arial Narrow" panose="020B0606020202030204" pitchFamily="34" charset="0"/>
              </a:rPr>
            </a:br>
            <a:r>
              <a:rPr lang="en-US" sz="1050">
                <a:latin typeface="Arial Narrow" panose="020B0606020202030204" pitchFamily="34" charset="0"/>
              </a:rPr>
              <a:t>Why do you test 3 times, but not 1 time screening DOE?</a:t>
            </a:r>
            <a:br>
              <a:rPr lang="en-US" sz="1050">
                <a:latin typeface="Arial Narrow" panose="020B0606020202030204" pitchFamily="34" charset="0"/>
              </a:rPr>
            </a:br>
            <a:r>
              <a:rPr lang="en-US" sz="1050">
                <a:latin typeface="Arial Narrow" panose="020B0606020202030204" pitchFamily="34" charset="0"/>
              </a:rPr>
              <a:t>If you have a certain reason, you can explain it. But if you don’t have one, I think that you can just answer that you don’t know that you can use screening DOE and it needs much less sample at first. But after the test, you got it but you have already done the test so you didn’t change it.</a:t>
            </a:r>
          </a:p>
        </p:txBody>
      </p:sp>
      <p:sp>
        <p:nvSpPr>
          <p:cNvPr id="23" name="TextBox 22"/>
          <p:cNvSpPr txBox="1"/>
          <p:nvPr/>
        </p:nvSpPr>
        <p:spPr>
          <a:xfrm>
            <a:off x="-3841851" y="4240371"/>
            <a:ext cx="3658900" cy="738664"/>
          </a:xfrm>
          <a:prstGeom prst="rect">
            <a:avLst/>
          </a:prstGeom>
          <a:solidFill>
            <a:srgbClr val="009A46"/>
          </a:solidFill>
        </p:spPr>
        <p:txBody>
          <a:bodyPr wrap="square" rtlCol="0">
            <a:spAutoFit/>
          </a:bodyPr>
          <a:lstStyle/>
          <a:p>
            <a:r>
              <a:rPr lang="vi-VN" sz="1050" b="1">
                <a:latin typeface="Arial Narrow" panose="020B0606020202030204" pitchFamily="34" charset="0"/>
              </a:rPr>
              <a:t>26</a:t>
            </a:r>
            <a:r>
              <a:rPr lang="en-US" sz="1050" b="1">
                <a:latin typeface="Arial Narrow" panose="020B0606020202030204" pitchFamily="34" charset="0"/>
              </a:rPr>
              <a:t>th, Nov. </a:t>
            </a:r>
            <a:r>
              <a:rPr lang="vi-VN" sz="1050" b="1">
                <a:latin typeface="Arial Narrow" panose="020B0606020202030204" pitchFamily="34" charset="0"/>
              </a:rPr>
              <a:t>Updateed</a:t>
            </a:r>
            <a:br>
              <a:rPr lang="en-US" sz="1050">
                <a:latin typeface="Arial Narrow" panose="020B0606020202030204" pitchFamily="34" charset="0"/>
              </a:rPr>
            </a:br>
            <a:r>
              <a:rPr lang="vi-VN" sz="1050">
                <a:latin typeface="Arial Narrow" panose="020B0606020202030204" pitchFamily="34" charset="0"/>
              </a:rPr>
              <a:t>i will request supplier trial run accoring to Screening DOE table</a:t>
            </a:r>
          </a:p>
          <a:p>
            <a:r>
              <a:rPr lang="vi-VN" sz="1050">
                <a:latin typeface="Arial Narrow" panose="020B0606020202030204" pitchFamily="34" charset="0"/>
              </a:rPr>
              <a:t>I will delete test by ANOVA, 2 sample T and summarize data by Sceening factor as below (Slide 19~21)</a:t>
            </a:r>
            <a:endParaRPr lang="en-US" sz="1050">
              <a:latin typeface="Arial Narrow" panose="020B0606020202030204" pitchFamily="34" charset="0"/>
            </a:endParaRPr>
          </a:p>
        </p:txBody>
      </p:sp>
    </p:spTree>
    <p:extLst>
      <p:ext uri="{BB962C8B-B14F-4D97-AF65-F5344CB8AC3E}">
        <p14:creationId xmlns:p14="http://schemas.microsoft.com/office/powerpoint/2010/main" val="3210158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62946" y="4227532"/>
            <a:ext cx="1362075" cy="2314575"/>
          </a:xfrm>
          <a:prstGeom prst="rect">
            <a:avLst/>
          </a:prstGeom>
        </p:spPr>
      </p:pic>
      <p:pic>
        <p:nvPicPr>
          <p:cNvPr id="11" name="Picture 10"/>
          <p:cNvPicPr>
            <a:picLocks noChangeAspect="1"/>
          </p:cNvPicPr>
          <p:nvPr/>
        </p:nvPicPr>
        <p:blipFill>
          <a:blip r:embed="rId3"/>
          <a:stretch>
            <a:fillRect/>
          </a:stretch>
        </p:blipFill>
        <p:spPr>
          <a:xfrm>
            <a:off x="743983" y="5596208"/>
            <a:ext cx="2800350" cy="1171575"/>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503203039"/>
              </p:ext>
            </p:extLst>
          </p:nvPr>
        </p:nvGraphicFramePr>
        <p:xfrm>
          <a:off x="3913901" y="1544687"/>
          <a:ext cx="5707387" cy="4351338"/>
        </p:xfrm>
        <a:graphic>
          <a:graphicData uri="http://schemas.openxmlformats.org/drawingml/2006/table">
            <a:tbl>
              <a:tblPr>
                <a:tableStyleId>{5C22544A-7EE6-4342-B048-85BDC9FD1C3A}</a:tableStyleId>
              </a:tblPr>
              <a:tblGrid>
                <a:gridCol w="666556">
                  <a:extLst>
                    <a:ext uri="{9D8B030D-6E8A-4147-A177-3AD203B41FA5}">
                      <a16:colId xmlns:a16="http://schemas.microsoft.com/office/drawing/2014/main" val="20000"/>
                    </a:ext>
                  </a:extLst>
                </a:gridCol>
                <a:gridCol w="666556">
                  <a:extLst>
                    <a:ext uri="{9D8B030D-6E8A-4147-A177-3AD203B41FA5}">
                      <a16:colId xmlns:a16="http://schemas.microsoft.com/office/drawing/2014/main" val="20001"/>
                    </a:ext>
                  </a:extLst>
                </a:gridCol>
                <a:gridCol w="666556">
                  <a:extLst>
                    <a:ext uri="{9D8B030D-6E8A-4147-A177-3AD203B41FA5}">
                      <a16:colId xmlns:a16="http://schemas.microsoft.com/office/drawing/2014/main" val="20002"/>
                    </a:ext>
                  </a:extLst>
                </a:gridCol>
                <a:gridCol w="666556">
                  <a:extLst>
                    <a:ext uri="{9D8B030D-6E8A-4147-A177-3AD203B41FA5}">
                      <a16:colId xmlns:a16="http://schemas.microsoft.com/office/drawing/2014/main" val="20003"/>
                    </a:ext>
                  </a:extLst>
                </a:gridCol>
                <a:gridCol w="666556">
                  <a:extLst>
                    <a:ext uri="{9D8B030D-6E8A-4147-A177-3AD203B41FA5}">
                      <a16:colId xmlns:a16="http://schemas.microsoft.com/office/drawing/2014/main" val="20004"/>
                    </a:ext>
                  </a:extLst>
                </a:gridCol>
                <a:gridCol w="853379">
                  <a:extLst>
                    <a:ext uri="{9D8B030D-6E8A-4147-A177-3AD203B41FA5}">
                      <a16:colId xmlns:a16="http://schemas.microsoft.com/office/drawing/2014/main" val="20005"/>
                    </a:ext>
                  </a:extLst>
                </a:gridCol>
                <a:gridCol w="854672">
                  <a:extLst>
                    <a:ext uri="{9D8B030D-6E8A-4147-A177-3AD203B41FA5}">
                      <a16:colId xmlns:a16="http://schemas.microsoft.com/office/drawing/2014/main" val="20006"/>
                    </a:ext>
                  </a:extLst>
                </a:gridCol>
                <a:gridCol w="666556">
                  <a:extLst>
                    <a:ext uri="{9D8B030D-6E8A-4147-A177-3AD203B41FA5}">
                      <a16:colId xmlns:a16="http://schemas.microsoft.com/office/drawing/2014/main" val="20007"/>
                    </a:ext>
                  </a:extLst>
                </a:gridCol>
              </a:tblGrid>
              <a:tr h="316938">
                <a:tc>
                  <a:txBody>
                    <a:bodyPr/>
                    <a:lstStyle/>
                    <a:p>
                      <a:pPr algn="ctr" fontAlgn="b"/>
                      <a:r>
                        <a:rPr lang="en-US" sz="1000" b="1" u="none" strike="noStrike">
                          <a:effectLst/>
                          <a:latin typeface="Arial Narrow" panose="020B0606020202030204" pitchFamily="34" charset="0"/>
                        </a:rPr>
                        <a:t>StdOrder</a:t>
                      </a:r>
                      <a:endParaRPr lang="en-US" sz="1000" b="1"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b="1" u="none" strike="noStrike">
                          <a:effectLst/>
                          <a:latin typeface="Arial Narrow" panose="020B0606020202030204" pitchFamily="34" charset="0"/>
                        </a:rPr>
                        <a:t>RunOrder</a:t>
                      </a:r>
                      <a:endParaRPr lang="en-US" sz="1000" b="1"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b="1" u="none" strike="noStrike">
                          <a:effectLst/>
                          <a:latin typeface="Arial Narrow" panose="020B0606020202030204" pitchFamily="34" charset="0"/>
                        </a:rPr>
                        <a:t>CenterPt</a:t>
                      </a:r>
                      <a:endParaRPr lang="en-US" sz="1000" b="1"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b="1" u="none" strike="noStrike">
                          <a:effectLst/>
                          <a:latin typeface="Arial Narrow" panose="020B0606020202030204" pitchFamily="34" charset="0"/>
                        </a:rPr>
                        <a:t>Blocks</a:t>
                      </a:r>
                      <a:endParaRPr lang="en-US" sz="1000" b="1"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b="1" u="none" strike="noStrike">
                          <a:effectLst/>
                          <a:latin typeface="Arial Narrow" panose="020B0606020202030204" pitchFamily="34" charset="0"/>
                        </a:rPr>
                        <a:t>Punch height</a:t>
                      </a:r>
                      <a:endParaRPr lang="en-US" sz="1000" b="1"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b="1" u="none" strike="noStrike">
                          <a:effectLst/>
                          <a:latin typeface="Arial Narrow" panose="020B0606020202030204" pitchFamily="34" charset="0"/>
                        </a:rPr>
                        <a:t>Punch radius</a:t>
                      </a:r>
                      <a:endParaRPr lang="en-US" sz="1000" b="1"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b="1" u="none" strike="noStrike">
                          <a:effectLst/>
                          <a:latin typeface="Arial Narrow" panose="020B0606020202030204" pitchFamily="34" charset="0"/>
                        </a:rPr>
                        <a:t>Press force</a:t>
                      </a:r>
                      <a:endParaRPr lang="en-US" sz="1000" b="1"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b="1" u="none" strike="noStrike">
                          <a:effectLst/>
                          <a:latin typeface="Arial Narrow" panose="020B0606020202030204" pitchFamily="34" charset="0"/>
                        </a:rPr>
                        <a:t>Respond</a:t>
                      </a:r>
                      <a:endParaRPr lang="en-US" sz="1000" b="1"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36200">
                <a:tc>
                  <a:txBody>
                    <a:bodyPr/>
                    <a:lstStyle/>
                    <a:p>
                      <a:pPr algn="ctr" fontAlgn="b"/>
                      <a:r>
                        <a:rPr lang="en-US" sz="1000" u="none" strike="noStrike">
                          <a:effectLst/>
                          <a:latin typeface="Arial Narrow" panose="020B0606020202030204" pitchFamily="34" charset="0"/>
                        </a:rPr>
                        <a:t>2</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7.402</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36200">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7.378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6200">
                <a:tc>
                  <a:txBody>
                    <a:bodyPr/>
                    <a:lstStyle/>
                    <a:p>
                      <a:pPr algn="ctr" fontAlgn="b"/>
                      <a:r>
                        <a:rPr lang="en-US" sz="1000" u="none" strike="noStrike">
                          <a:effectLst/>
                          <a:latin typeface="Arial Narrow" panose="020B0606020202030204" pitchFamily="34" charset="0"/>
                        </a:rPr>
                        <a:t>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7.382</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36200">
                <a:tc>
                  <a:txBody>
                    <a:bodyPr/>
                    <a:lstStyle/>
                    <a:p>
                      <a:pPr algn="ctr" fontAlgn="b"/>
                      <a:r>
                        <a:rPr lang="en-US" sz="1000" u="none" strike="noStrike">
                          <a:effectLst/>
                          <a:latin typeface="Arial Narrow" panose="020B0606020202030204" pitchFamily="34" charset="0"/>
                        </a:rPr>
                        <a:t>9</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4</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7.379</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36200">
                <a:tc>
                  <a:txBody>
                    <a:bodyPr/>
                    <a:lstStyle/>
                    <a:p>
                      <a:pPr algn="ctr" fontAlgn="b"/>
                      <a:r>
                        <a:rPr lang="en-US" sz="1000" u="none" strike="noStrike">
                          <a:effectLst/>
                          <a:latin typeface="Arial Narrow" panose="020B0606020202030204" pitchFamily="34" charset="0"/>
                        </a:rPr>
                        <a:t>12</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7.407</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36200">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7.405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36200">
                <a:tc>
                  <a:txBody>
                    <a:bodyPr/>
                    <a:lstStyle/>
                    <a:p>
                      <a:pPr algn="ctr" fontAlgn="b"/>
                      <a:r>
                        <a:rPr lang="en-US" sz="1000" u="none" strike="noStrike">
                          <a:effectLst/>
                          <a:latin typeface="Arial Narrow" panose="020B0606020202030204" pitchFamily="34" charset="0"/>
                        </a:rPr>
                        <a:t>10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7</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7.402</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36200">
                <a:tc>
                  <a:txBody>
                    <a:bodyPr/>
                    <a:lstStyle/>
                    <a:p>
                      <a:pPr algn="ctr" fontAlgn="b"/>
                      <a:r>
                        <a:rPr lang="en-US" sz="1000" u="none" strike="noStrike">
                          <a:effectLst/>
                          <a:latin typeface="Arial Narrow" panose="020B0606020202030204" pitchFamily="34" charset="0"/>
                        </a:rPr>
                        <a:t>3</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7.387</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36200">
                <a:tc>
                  <a:txBody>
                    <a:bodyPr/>
                    <a:lstStyle/>
                    <a:p>
                      <a:pPr algn="ctr" fontAlgn="b"/>
                      <a:r>
                        <a:rPr lang="en-US" sz="1000" u="none" strike="noStrike">
                          <a:effectLst/>
                          <a:latin typeface="Arial Narrow" panose="020B0606020202030204" pitchFamily="34" charset="0"/>
                        </a:rPr>
                        <a:t>7</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9</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7.389</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36200">
                <a:tc>
                  <a:txBody>
                    <a:bodyPr/>
                    <a:lstStyle/>
                    <a:p>
                      <a:pPr algn="ctr" fontAlgn="b"/>
                      <a:r>
                        <a:rPr lang="en-US" sz="1000" u="none" strike="noStrike">
                          <a:effectLst/>
                          <a:latin typeface="Arial Narrow" panose="020B0606020202030204" pitchFamily="34" charset="0"/>
                        </a:rPr>
                        <a:t>4</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7.409</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36200">
                <a:tc>
                  <a:txBody>
                    <a:bodyPr/>
                    <a:lstStyle/>
                    <a:p>
                      <a:pPr algn="ctr" fontAlgn="b"/>
                      <a:r>
                        <a:rPr lang="en-US" sz="1000" u="none" strike="noStrike">
                          <a:effectLst/>
                          <a:latin typeface="Arial Narrow" panose="020B0606020202030204" pitchFamily="34" charset="0"/>
                        </a:rPr>
                        <a:t>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7.408</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36200">
                <a:tc>
                  <a:txBody>
                    <a:bodyPr/>
                    <a:lstStyle/>
                    <a:p>
                      <a:pPr algn="ctr" fontAlgn="b"/>
                      <a:r>
                        <a:rPr lang="en-US" sz="1000" u="none" strike="noStrike">
                          <a:effectLst/>
                          <a:latin typeface="Arial Narrow" panose="020B0606020202030204" pitchFamily="34" charset="0"/>
                        </a:rPr>
                        <a:t>11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12</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220</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000" u="none" strike="noStrike">
                          <a:effectLst/>
                          <a:latin typeface="Arial Narrow" panose="020B0606020202030204" pitchFamily="34" charset="0"/>
                        </a:rPr>
                        <a:t>7.389</a:t>
                      </a:r>
                      <a:endParaRPr lang="en-US" sz="1000" b="0" i="0" u="none" strike="noStrike">
                        <a:solidFill>
                          <a:srgbClr val="000000"/>
                        </a:solidFill>
                        <a:effectLst/>
                        <a:latin typeface="Arial Narrow" panose="020B0606020202030204" pitchFamily="34" charset="0"/>
                      </a:endParaRPr>
                    </a:p>
                  </a:txBody>
                  <a:tcPr marL="8755" marR="8755" marT="8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bl>
          </a:graphicData>
        </a:graphic>
      </p:graphicFrame>
      <p:pic>
        <p:nvPicPr>
          <p:cNvPr id="12" name="Picture 11"/>
          <p:cNvPicPr>
            <a:picLocks noChangeAspect="1"/>
          </p:cNvPicPr>
          <p:nvPr/>
        </p:nvPicPr>
        <p:blipFill>
          <a:blip r:embed="rId4"/>
          <a:stretch>
            <a:fillRect/>
          </a:stretch>
        </p:blipFill>
        <p:spPr>
          <a:xfrm>
            <a:off x="1478361" y="5167583"/>
            <a:ext cx="1724025" cy="428625"/>
          </a:xfrm>
          <a:prstGeom prst="rect">
            <a:avLst/>
          </a:prstGeom>
        </p:spPr>
      </p:pic>
      <p:pic>
        <p:nvPicPr>
          <p:cNvPr id="13" name="Picture 12"/>
          <p:cNvPicPr>
            <a:picLocks noChangeAspect="1"/>
          </p:cNvPicPr>
          <p:nvPr/>
        </p:nvPicPr>
        <p:blipFill>
          <a:blip r:embed="rId5"/>
          <a:stretch>
            <a:fillRect/>
          </a:stretch>
        </p:blipFill>
        <p:spPr>
          <a:xfrm>
            <a:off x="114190" y="1544687"/>
            <a:ext cx="3683317" cy="2938558"/>
          </a:xfrm>
          <a:prstGeom prst="rect">
            <a:avLst/>
          </a:prstGeom>
        </p:spPr>
      </p:pic>
      <p:cxnSp>
        <p:nvCxnSpPr>
          <p:cNvPr id="14" name="Straight Connector 1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그룹 2"/>
          <p:cNvGrpSpPr/>
          <p:nvPr/>
        </p:nvGrpSpPr>
        <p:grpSpPr>
          <a:xfrm>
            <a:off x="7381363" y="27941"/>
            <a:ext cx="2449687" cy="334221"/>
            <a:chOff x="7376138" y="106318"/>
            <a:chExt cx="2449687" cy="334221"/>
          </a:xfrm>
        </p:grpSpPr>
        <p:sp>
          <p:nvSpPr>
            <p:cNvPr id="16" name="AutoShape 5"/>
            <p:cNvSpPr>
              <a:spLocks noChangeArrowheads="1"/>
            </p:cNvSpPr>
            <p:nvPr/>
          </p:nvSpPr>
          <p:spPr bwMode="auto">
            <a:xfrm>
              <a:off x="7376138" y="106318"/>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17"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8" name="AutoShape 7"/>
            <p:cNvSpPr>
              <a:spLocks noChangeArrowheads="1"/>
            </p:cNvSpPr>
            <p:nvPr/>
          </p:nvSpPr>
          <p:spPr bwMode="auto">
            <a:xfrm>
              <a:off x="8289276" y="106318"/>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9"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0" name="AutoShape 4"/>
            <p:cNvSpPr>
              <a:spLocks noChangeArrowheads="1"/>
            </p:cNvSpPr>
            <p:nvPr/>
          </p:nvSpPr>
          <p:spPr bwMode="auto">
            <a:xfrm>
              <a:off x="7854927" y="106318"/>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21" name="TextBox 20"/>
          <p:cNvSpPr txBox="1"/>
          <p:nvPr/>
        </p:nvSpPr>
        <p:spPr>
          <a:xfrm>
            <a:off x="73152" y="69580"/>
            <a:ext cx="1778051" cy="369332"/>
          </a:xfrm>
          <a:prstGeom prst="rect">
            <a:avLst/>
          </a:prstGeom>
          <a:noFill/>
        </p:spPr>
        <p:txBody>
          <a:bodyPr wrap="none" rtlCol="0">
            <a:spAutoFit/>
          </a:bodyPr>
          <a:lstStyle/>
          <a:p>
            <a:r>
              <a:rPr lang="en-US">
                <a:latin typeface="Arial Narrow" panose="020B0606020202030204" pitchFamily="34" charset="0"/>
              </a:rPr>
              <a:t>Find</a:t>
            </a:r>
            <a:r>
              <a:rPr lang="vi-VN">
                <a:latin typeface="Arial Narrow" panose="020B0606020202030204" pitchFamily="34" charset="0"/>
              </a:rPr>
              <a:t> out</a:t>
            </a:r>
            <a:r>
              <a:rPr lang="en-US">
                <a:latin typeface="Arial Narrow" panose="020B0606020202030204" pitchFamily="34" charset="0"/>
              </a:rPr>
              <a:t> the </a:t>
            </a:r>
            <a:r>
              <a:rPr lang="vi-VN">
                <a:latin typeface="Arial Narrow" panose="020B0606020202030204" pitchFamily="34" charset="0"/>
              </a:rPr>
              <a:t>Factor</a:t>
            </a:r>
            <a:endParaRPr lang="en-US">
              <a:latin typeface="Arial Narrow" panose="020B0606020202030204" pitchFamily="34" charset="0"/>
            </a:endParaRPr>
          </a:p>
        </p:txBody>
      </p:sp>
      <p:graphicFrame>
        <p:nvGraphicFramePr>
          <p:cNvPr id="22" name="표 46">
            <a:extLst>
              <a:ext uri="{FF2B5EF4-FFF2-40B4-BE49-F238E27FC236}">
                <a16:creationId xmlns:a16="http://schemas.microsoft.com/office/drawing/2014/main" id="{47708A6D-44D1-0C78-E5A3-72B85C7590DD}"/>
              </a:ext>
            </a:extLst>
          </p:cNvPr>
          <p:cNvGraphicFramePr>
            <a:graphicFrameLocks noGrp="1"/>
          </p:cNvGraphicFramePr>
          <p:nvPr>
            <p:extLst>
              <p:ext uri="{D42A27DB-BD31-4B8C-83A1-F6EECF244321}">
                <p14:modId xmlns:p14="http://schemas.microsoft.com/office/powerpoint/2010/main" val="693783292"/>
              </p:ext>
            </p:extLst>
          </p:nvPr>
        </p:nvGraphicFramePr>
        <p:xfrm>
          <a:off x="7262065" y="551850"/>
          <a:ext cx="2347846" cy="879900"/>
        </p:xfrm>
        <a:graphic>
          <a:graphicData uri="http://schemas.openxmlformats.org/drawingml/2006/table">
            <a:tbl>
              <a:tblPr/>
              <a:tblGrid>
                <a:gridCol w="1256270">
                  <a:extLst>
                    <a:ext uri="{9D8B030D-6E8A-4147-A177-3AD203B41FA5}">
                      <a16:colId xmlns:a16="http://schemas.microsoft.com/office/drawing/2014/main" val="964346092"/>
                    </a:ext>
                  </a:extLst>
                </a:gridCol>
                <a:gridCol w="545788">
                  <a:extLst>
                    <a:ext uri="{9D8B030D-6E8A-4147-A177-3AD203B41FA5}">
                      <a16:colId xmlns:a16="http://schemas.microsoft.com/office/drawing/2014/main" val="3671059417"/>
                    </a:ext>
                  </a:extLst>
                </a:gridCol>
                <a:gridCol w="545788">
                  <a:extLst>
                    <a:ext uri="{9D8B030D-6E8A-4147-A177-3AD203B41FA5}">
                      <a16:colId xmlns:a16="http://schemas.microsoft.com/office/drawing/2014/main" val="3025940792"/>
                    </a:ext>
                  </a:extLst>
                </a:gridCol>
              </a:tblGrid>
              <a:tr h="219975">
                <a:tc>
                  <a:txBody>
                    <a:bodyPr/>
                    <a:lstStyle/>
                    <a:p>
                      <a:pPr algn="ctr" rtl="0" fontAlgn="ctr"/>
                      <a:r>
                        <a:rPr lang="en-US" sz="1000" b="1" i="0" u="none" strike="noStrike" dirty="0">
                          <a:solidFill>
                            <a:srgbClr val="000000"/>
                          </a:solidFill>
                          <a:effectLst/>
                          <a:latin typeface="Arial Narrow" panose="020B0606020202030204" pitchFamily="34" charset="0"/>
                          <a:ea typeface="맑은 고딕" panose="020B0503020000020004" pitchFamily="50" charset="-127"/>
                        </a:rPr>
                        <a:t>Factor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sz="1000" b="1" i="0" u="none" strike="noStrike" dirty="0">
                          <a:solidFill>
                            <a:srgbClr val="000000"/>
                          </a:solidFill>
                          <a:effectLst/>
                          <a:latin typeface="Arial Narrow" panose="020B0606020202030204" pitchFamily="34" charset="0"/>
                          <a:ea typeface="맑은 고딕" panose="020B0503020000020004" pitchFamily="50" charset="-127"/>
                        </a:rPr>
                        <a:t>Low</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sz="1000" b="1" i="0" u="none" strike="noStrike" dirty="0">
                          <a:solidFill>
                            <a:srgbClr val="000000"/>
                          </a:solidFill>
                          <a:effectLst/>
                          <a:latin typeface="Arial Narrow" panose="020B0606020202030204" pitchFamily="34" charset="0"/>
                          <a:ea typeface="맑은 고딕" panose="020B0503020000020004" pitchFamily="50" charset="-127"/>
                        </a:rPr>
                        <a:t>High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304659337"/>
                  </a:ext>
                </a:extLst>
              </a:tr>
              <a:tr h="219975">
                <a:tc>
                  <a:txBody>
                    <a:bodyPr/>
                    <a:lstStyle/>
                    <a:p>
                      <a:pPr algn="ctr" rtl="0" fontAlgn="ctr"/>
                      <a:r>
                        <a:rPr lang="vi-VN" sz="1000" b="0" i="0" u="none" strike="noStrike">
                          <a:solidFill>
                            <a:srgbClr val="000000"/>
                          </a:solidFill>
                          <a:effectLst/>
                          <a:latin typeface="Arial Narrow" panose="020B0606020202030204" pitchFamily="34" charset="0"/>
                          <a:ea typeface="맑은 고딕" panose="020B0503020000020004" pitchFamily="50" charset="-127"/>
                        </a:rPr>
                        <a:t>Punch height</a:t>
                      </a:r>
                      <a:endParaRPr lang="en-US"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vi-VN" sz="1000" b="0" i="0" u="none" strike="noStrike">
                          <a:solidFill>
                            <a:srgbClr val="000000"/>
                          </a:solidFill>
                          <a:effectLst/>
                          <a:latin typeface="Arial Narrow" panose="020B0606020202030204" pitchFamily="34" charset="0"/>
                          <a:ea typeface="맑은 고딕" panose="020B0503020000020004" pitchFamily="50" charset="-127"/>
                        </a:rPr>
                        <a:t>6.4</a:t>
                      </a:r>
                      <a:endParaRPr lang="en-US"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vi-VN" sz="1000" b="0" i="0" u="none" strike="noStrike">
                          <a:solidFill>
                            <a:srgbClr val="000000"/>
                          </a:solidFill>
                          <a:effectLst/>
                          <a:latin typeface="Arial Narrow" panose="020B0606020202030204" pitchFamily="34" charset="0"/>
                          <a:ea typeface="맑은 고딕" panose="020B0503020000020004" pitchFamily="50" charset="-127"/>
                        </a:rPr>
                        <a:t>6.8</a:t>
                      </a:r>
                      <a:endParaRPr lang="en-US"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1648227"/>
                  </a:ext>
                </a:extLst>
              </a:tr>
              <a:tr h="219975">
                <a:tc>
                  <a:txBody>
                    <a:bodyPr/>
                    <a:lstStyle/>
                    <a:p>
                      <a:pPr algn="ctr" rtl="0" fontAlgn="ctr"/>
                      <a:r>
                        <a:rPr lang="vi-VN" sz="1000" b="0" i="0" u="none" strike="noStrike">
                          <a:solidFill>
                            <a:srgbClr val="000000"/>
                          </a:solidFill>
                          <a:effectLst/>
                          <a:latin typeface="Arial Narrow" panose="020B0606020202030204" pitchFamily="34" charset="0"/>
                          <a:ea typeface="맑은 고딕" panose="020B0503020000020004" pitchFamily="50" charset="-127"/>
                        </a:rPr>
                        <a:t>Punch Radius</a:t>
                      </a:r>
                      <a:endParaRPr lang="en-US"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vi-VN" altLang="ko-KR" sz="1000" b="0" i="0" u="none" strike="noStrike">
                          <a:solidFill>
                            <a:srgbClr val="000000"/>
                          </a:solidFill>
                          <a:effectLst/>
                          <a:latin typeface="Arial Narrow" panose="020B0606020202030204" pitchFamily="34" charset="0"/>
                          <a:ea typeface="맑은 고딕" panose="020B0503020000020004" pitchFamily="50" charset="-127"/>
                        </a:rPr>
                        <a:t>5.5</a:t>
                      </a:r>
                      <a:endParaRPr lang="en-US" alt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vi-VN" altLang="ko-KR" sz="1000" b="0" i="0" u="none" strike="noStrike">
                          <a:solidFill>
                            <a:srgbClr val="000000"/>
                          </a:solidFill>
                          <a:effectLst/>
                          <a:latin typeface="Arial Narrow" panose="020B0606020202030204" pitchFamily="34" charset="0"/>
                          <a:ea typeface="맑은 고딕" panose="020B0503020000020004" pitchFamily="50" charset="-127"/>
                        </a:rPr>
                        <a:t>6</a:t>
                      </a:r>
                      <a:endParaRPr lang="en-US" alt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620903"/>
                  </a:ext>
                </a:extLst>
              </a:tr>
              <a:tr h="219975">
                <a:tc>
                  <a:txBody>
                    <a:bodyPr/>
                    <a:lstStyle/>
                    <a:p>
                      <a:pPr algn="ctr" rtl="0" fontAlgn="ctr"/>
                      <a:r>
                        <a:rPr lang="vi-VN" sz="1000" b="0" i="0" u="none" strike="noStrike">
                          <a:solidFill>
                            <a:srgbClr val="000000"/>
                          </a:solidFill>
                          <a:effectLst/>
                          <a:latin typeface="Arial Narrow" panose="020B0606020202030204" pitchFamily="34" charset="0"/>
                          <a:ea typeface="맑은 고딕" panose="020B0503020000020004" pitchFamily="50" charset="-127"/>
                        </a:rPr>
                        <a:t>Press Force</a:t>
                      </a:r>
                      <a:endParaRPr lang="en-US"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vi-VN" altLang="ko-KR" sz="1000" b="0" i="0" u="none" strike="noStrike">
                          <a:solidFill>
                            <a:srgbClr val="000000"/>
                          </a:solidFill>
                          <a:effectLst/>
                          <a:latin typeface="Arial Narrow" panose="020B0606020202030204" pitchFamily="34" charset="0"/>
                          <a:ea typeface="맑은 고딕" panose="020B0503020000020004" pitchFamily="50" charset="-127"/>
                        </a:rPr>
                        <a:t>220</a:t>
                      </a:r>
                      <a:endParaRPr lang="en-US" alt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vi-VN" altLang="ko-KR" sz="1000" b="0" i="0" u="none" strike="noStrike">
                          <a:solidFill>
                            <a:srgbClr val="000000"/>
                          </a:solidFill>
                          <a:effectLst/>
                          <a:latin typeface="Arial Narrow" panose="020B0606020202030204" pitchFamily="34" charset="0"/>
                          <a:ea typeface="맑은 고딕" panose="020B0503020000020004" pitchFamily="50" charset="-127"/>
                        </a:rPr>
                        <a:t>320</a:t>
                      </a:r>
                      <a:endParaRPr lang="en-US" alt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639573"/>
                  </a:ext>
                </a:extLst>
              </a:tr>
            </a:tbl>
          </a:graphicData>
        </a:graphic>
      </p:graphicFrame>
      <p:sp>
        <p:nvSpPr>
          <p:cNvPr id="23" name="Rectangle 22"/>
          <p:cNvSpPr/>
          <p:nvPr/>
        </p:nvSpPr>
        <p:spPr>
          <a:xfrm>
            <a:off x="114270" y="438912"/>
            <a:ext cx="6972329" cy="1107996"/>
          </a:xfrm>
          <a:prstGeom prst="rect">
            <a:avLst/>
          </a:prstGeom>
        </p:spPr>
        <p:txBody>
          <a:bodyPr wrap="square">
            <a:spAutoFit/>
          </a:bodyPr>
          <a:lstStyle/>
          <a:p>
            <a:pPr marL="177800" indent="-177800" fontAlgn="base">
              <a:spcBef>
                <a:spcPct val="0"/>
              </a:spcBef>
              <a:spcAft>
                <a:spcPct val="0"/>
              </a:spcAft>
              <a:buFont typeface="Wingdings" panose="05000000000000000000" pitchFamily="2" charset="2"/>
              <a:buChar char="Ø"/>
            </a:pPr>
            <a:r>
              <a:rPr lang="en-US" altLang="ko-KR" b="1">
                <a:solidFill>
                  <a:srgbClr val="000000"/>
                </a:solidFill>
                <a:latin typeface="Arial Narrow" panose="020B0606020202030204" pitchFamily="34" charset="0"/>
                <a:ea typeface="LG스마트체 Regular" panose="020B0600000101010101" pitchFamily="50" charset="-127"/>
                <a:cs typeface="Tahoma" pitchFamily="34" charset="0"/>
              </a:rPr>
              <a:t>Experimental Design for Critical Factor Selection</a:t>
            </a:r>
            <a:endParaRPr lang="en-US" altLang="ko-KR" b="1">
              <a:solidFill>
                <a:srgbClr val="000000"/>
              </a:solidFill>
              <a:latin typeface="Arial Narrow" panose="020B0606020202030204" pitchFamily="34" charset="0"/>
              <a:ea typeface="LG스마트체 Regular" panose="020B0600000101010101" pitchFamily="50" charset="-127"/>
            </a:endParaRPr>
          </a:p>
          <a:p>
            <a:pPr fontAlgn="base">
              <a:spcBef>
                <a:spcPct val="0"/>
              </a:spcBef>
              <a:spcAft>
                <a:spcPct val="0"/>
              </a:spcAft>
            </a:pPr>
            <a:r>
              <a:rPr lang="en-US" altLang="ko-KR" sz="1200">
                <a:solidFill>
                  <a:srgbClr val="000000"/>
                </a:solidFill>
                <a:latin typeface="Arial Narrow" panose="020B0606020202030204" pitchFamily="34" charset="0"/>
                <a:ea typeface="LG스마트체 Regular" panose="020B0600000101010101" pitchFamily="50" charset="-127"/>
              </a:rPr>
              <a:t>- Conducted a two-level experiment for </a:t>
            </a:r>
            <a:r>
              <a:rPr lang="vi-VN" altLang="ko-KR" sz="1200">
                <a:solidFill>
                  <a:srgbClr val="000000"/>
                </a:solidFill>
                <a:latin typeface="Arial Narrow" panose="020B0606020202030204" pitchFamily="34" charset="0"/>
                <a:ea typeface="LG스마트체 Regular" panose="020B0600000101010101" pitchFamily="50" charset="-127"/>
              </a:rPr>
              <a:t>3</a:t>
            </a:r>
            <a:r>
              <a:rPr lang="en-US" altLang="ko-KR" sz="1200">
                <a:solidFill>
                  <a:srgbClr val="000000"/>
                </a:solidFill>
                <a:latin typeface="Arial Narrow" panose="020B0606020202030204" pitchFamily="34" charset="0"/>
                <a:ea typeface="LG스마트체 Regular" panose="020B0600000101010101" pitchFamily="50" charset="-127"/>
              </a:rPr>
              <a:t> factors.</a:t>
            </a:r>
          </a:p>
          <a:p>
            <a:r>
              <a:rPr lang="en-US" altLang="ko-KR" sz="1200">
                <a:solidFill>
                  <a:srgbClr val="000000"/>
                </a:solidFill>
                <a:latin typeface="Arial Narrow" panose="020B0606020202030204" pitchFamily="34" charset="0"/>
                <a:ea typeface="LG스마트체 Regular" panose="020B0600000101010101" pitchFamily="50" charset="-127"/>
              </a:rPr>
              <a:t>- A fractional factorial design without replication was conducted to identify main effects and interactions while minimizing </a:t>
            </a:r>
            <a:r>
              <a:rPr lang="vi-VN" altLang="ko-KR" sz="1200">
                <a:solidFill>
                  <a:srgbClr val="000000"/>
                </a:solidFill>
                <a:latin typeface="Arial Narrow" panose="020B0606020202030204" pitchFamily="34" charset="0"/>
                <a:ea typeface="LG스마트체 Regular" panose="020B0600000101010101" pitchFamily="50" charset="-127"/>
              </a:rPr>
              <a:t>  </a:t>
            </a:r>
          </a:p>
          <a:p>
            <a:r>
              <a:rPr lang="en-US" altLang="ko-KR" sz="1200">
                <a:solidFill>
                  <a:srgbClr val="000000"/>
                </a:solidFill>
                <a:latin typeface="Arial Narrow" panose="020B0606020202030204" pitchFamily="34" charset="0"/>
                <a:ea typeface="LG스마트체 Regular" panose="020B0600000101010101" pitchFamily="50" charset="-127"/>
              </a:rPr>
              <a:t>the number of experiments (resolution IV).</a:t>
            </a:r>
          </a:p>
          <a:p>
            <a:r>
              <a:rPr lang="en-US" altLang="ko-KR" sz="1200">
                <a:solidFill>
                  <a:srgbClr val="000000"/>
                </a:solidFill>
                <a:latin typeface="Arial Narrow" panose="020B0606020202030204" pitchFamily="34" charset="0"/>
                <a:ea typeface="LG스마트체 Regular" panose="020B0600000101010101" pitchFamily="50" charset="-127"/>
              </a:rPr>
              <a:t>- </a:t>
            </a:r>
            <a:r>
              <a:rPr lang="vi-VN" altLang="ko-KR" sz="1200">
                <a:solidFill>
                  <a:srgbClr val="000000"/>
                </a:solidFill>
                <a:latin typeface="Arial Narrow" panose="020B0606020202030204" pitchFamily="34" charset="0"/>
                <a:ea typeface="LG스마트체 Regular" panose="020B0600000101010101" pitchFamily="50" charset="-127"/>
              </a:rPr>
              <a:t>Punch Height / Punch Radius / Press Force</a:t>
            </a:r>
            <a:endParaRPr lang="en-US" altLang="ko-KR" sz="1200" dirty="0">
              <a:solidFill>
                <a:srgbClr val="000000"/>
              </a:solidFill>
              <a:latin typeface="Arial Narrow" panose="020B0606020202030204" pitchFamily="34" charset="0"/>
              <a:ea typeface="LG스마트체 Regular" panose="020B0600000101010101" pitchFamily="50" charset="-127"/>
            </a:endParaRPr>
          </a:p>
        </p:txBody>
      </p:sp>
      <p:sp>
        <p:nvSpPr>
          <p:cNvPr id="24" name="TextBox 23"/>
          <p:cNvSpPr txBox="1"/>
          <p:nvPr/>
        </p:nvSpPr>
        <p:spPr>
          <a:xfrm>
            <a:off x="-3174902" y="653748"/>
            <a:ext cx="3096924" cy="2516073"/>
          </a:xfrm>
          <a:prstGeom prst="rect">
            <a:avLst/>
          </a:prstGeom>
          <a:solidFill>
            <a:schemeClr val="accent2">
              <a:lumMod val="60000"/>
              <a:lumOff val="40000"/>
            </a:schemeClr>
          </a:solidFill>
        </p:spPr>
        <p:txBody>
          <a:bodyPr wrap="square" rtlCol="0">
            <a:spAutoFit/>
          </a:bodyPr>
          <a:lstStyle/>
          <a:p>
            <a:r>
              <a:rPr lang="en-US" sz="1050" b="1">
                <a:latin typeface="Arial Narrow" panose="020B0606020202030204" pitchFamily="34" charset="0"/>
              </a:rPr>
              <a:t>24th, Nov. Ken Park</a:t>
            </a:r>
            <a:br>
              <a:rPr lang="en-US" sz="1050">
                <a:latin typeface="Arial Narrow" panose="020B0606020202030204" pitchFamily="34" charset="0"/>
              </a:rPr>
            </a:br>
            <a:r>
              <a:rPr lang="en-US" sz="1050">
                <a:latin typeface="Arial Narrow" panose="020B0606020202030204" pitchFamily="34" charset="0"/>
              </a:rPr>
              <a:t>Good result to find out the factor.</a:t>
            </a:r>
            <a:br>
              <a:rPr lang="en-US" sz="1050">
                <a:latin typeface="Arial Narrow" panose="020B0606020202030204" pitchFamily="34" charset="0"/>
              </a:rPr>
            </a:br>
            <a:r>
              <a:rPr lang="en-US" sz="1050">
                <a:latin typeface="Arial Narrow" panose="020B0606020202030204" pitchFamily="34" charset="0"/>
              </a:rPr>
              <a:t>You tried two one-way ANOVA and one 2-sample T test.</a:t>
            </a:r>
            <a:br>
              <a:rPr lang="en-US" sz="1050">
                <a:latin typeface="Arial Narrow" panose="020B0606020202030204" pitchFamily="34" charset="0"/>
              </a:rPr>
            </a:br>
            <a:r>
              <a:rPr lang="en-US" sz="1050">
                <a:latin typeface="Arial Narrow" panose="020B0606020202030204" pitchFamily="34" charset="0"/>
              </a:rPr>
              <a:t>You don’t have to change the project but, in six sigma training, we recommend that screening DOE to find out the factor because it needs much less sample than this 3 times test (2 times one-way ANOVA and 1 time 2-sample T test.)</a:t>
            </a:r>
            <a:br>
              <a:rPr lang="en-US" sz="1050">
                <a:latin typeface="Arial Narrow" panose="020B0606020202030204" pitchFamily="34" charset="0"/>
              </a:rPr>
            </a:br>
            <a:r>
              <a:rPr lang="en-US" sz="1050">
                <a:latin typeface="Arial Narrow" panose="020B0606020202030204" pitchFamily="34" charset="0"/>
              </a:rPr>
              <a:t>I suggest that you prepare the explanation when six sigma interview asks about this.</a:t>
            </a:r>
            <a:br>
              <a:rPr lang="en-US" sz="1050">
                <a:latin typeface="Arial Narrow" panose="020B0606020202030204" pitchFamily="34" charset="0"/>
              </a:rPr>
            </a:br>
            <a:r>
              <a:rPr lang="en-US" sz="1050">
                <a:latin typeface="Arial Narrow" panose="020B0606020202030204" pitchFamily="34" charset="0"/>
              </a:rPr>
              <a:t>Why do you test 3 times, but not 1 time screening DOE?</a:t>
            </a:r>
            <a:br>
              <a:rPr lang="en-US" sz="1050">
                <a:latin typeface="Arial Narrow" panose="020B0606020202030204" pitchFamily="34" charset="0"/>
              </a:rPr>
            </a:br>
            <a:r>
              <a:rPr lang="en-US" sz="1050">
                <a:latin typeface="Arial Narrow" panose="020B0606020202030204" pitchFamily="34" charset="0"/>
              </a:rPr>
              <a:t>If you have a certain reason, you can explain it. But if you don’t have one, I think that you can just answer that you don’t know that you can use screening DOE and it needs much less sample at first. But after the test, you got it but you have already done the test so you didn’t change it.</a:t>
            </a:r>
          </a:p>
        </p:txBody>
      </p:sp>
      <p:sp>
        <p:nvSpPr>
          <p:cNvPr id="25" name="TextBox 24"/>
          <p:cNvSpPr txBox="1"/>
          <p:nvPr/>
        </p:nvSpPr>
        <p:spPr>
          <a:xfrm>
            <a:off x="-3174902" y="3263192"/>
            <a:ext cx="3096924" cy="900246"/>
          </a:xfrm>
          <a:prstGeom prst="rect">
            <a:avLst/>
          </a:prstGeom>
          <a:solidFill>
            <a:srgbClr val="009A46"/>
          </a:solidFill>
        </p:spPr>
        <p:txBody>
          <a:bodyPr wrap="square" rtlCol="0">
            <a:spAutoFit/>
          </a:bodyPr>
          <a:lstStyle/>
          <a:p>
            <a:r>
              <a:rPr lang="vi-VN" sz="1050" b="1">
                <a:latin typeface="Arial Narrow" panose="020B0606020202030204" pitchFamily="34" charset="0"/>
              </a:rPr>
              <a:t>26</a:t>
            </a:r>
            <a:r>
              <a:rPr lang="en-US" sz="1050" b="1">
                <a:latin typeface="Arial Narrow" panose="020B0606020202030204" pitchFamily="34" charset="0"/>
              </a:rPr>
              <a:t>th, Nov. </a:t>
            </a:r>
            <a:r>
              <a:rPr lang="vi-VN" sz="1050" b="1">
                <a:latin typeface="Arial Narrow" panose="020B0606020202030204" pitchFamily="34" charset="0"/>
              </a:rPr>
              <a:t>Updateed</a:t>
            </a:r>
            <a:br>
              <a:rPr lang="en-US" sz="1050">
                <a:latin typeface="Arial Narrow" panose="020B0606020202030204" pitchFamily="34" charset="0"/>
              </a:rPr>
            </a:br>
            <a:r>
              <a:rPr lang="vi-VN" sz="1050">
                <a:latin typeface="Arial Narrow" panose="020B0606020202030204" pitchFamily="34" charset="0"/>
              </a:rPr>
              <a:t>i will request supplier trial run accoring to Screening DOE table</a:t>
            </a:r>
          </a:p>
          <a:p>
            <a:r>
              <a:rPr lang="vi-VN" sz="1050">
                <a:latin typeface="Arial Narrow" panose="020B0606020202030204" pitchFamily="34" charset="0"/>
              </a:rPr>
              <a:t>I will delete test by ANOVA, 2 sample T and summarize data by Sceening factor as below</a:t>
            </a:r>
            <a:endParaRPr lang="en-US" sz="1050">
              <a:latin typeface="Arial Narrow" panose="020B0606020202030204" pitchFamily="34" charset="0"/>
            </a:endParaRPr>
          </a:p>
        </p:txBody>
      </p:sp>
    </p:spTree>
    <p:extLst>
      <p:ext uri="{BB962C8B-B14F-4D97-AF65-F5344CB8AC3E}">
        <p14:creationId xmlns:p14="http://schemas.microsoft.com/office/powerpoint/2010/main" val="92455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t="13058"/>
          <a:stretch/>
        </p:blipFill>
        <p:spPr>
          <a:xfrm>
            <a:off x="279110" y="1176796"/>
            <a:ext cx="3200400" cy="1780466"/>
          </a:xfrm>
          <a:prstGeom prst="rect">
            <a:avLst/>
          </a:prstGeom>
        </p:spPr>
      </p:pic>
      <p:pic>
        <p:nvPicPr>
          <p:cNvPr id="3" name="Picture 2"/>
          <p:cNvPicPr>
            <a:picLocks noChangeAspect="1"/>
          </p:cNvPicPr>
          <p:nvPr/>
        </p:nvPicPr>
        <p:blipFill rotWithShape="1">
          <a:blip r:embed="rId3"/>
          <a:srcRect t="24073"/>
          <a:stretch/>
        </p:blipFill>
        <p:spPr>
          <a:xfrm>
            <a:off x="3479510" y="1202273"/>
            <a:ext cx="2095552" cy="667636"/>
          </a:xfrm>
          <a:prstGeom prst="rect">
            <a:avLst/>
          </a:prstGeom>
        </p:spPr>
      </p:pic>
      <p:grpSp>
        <p:nvGrpSpPr>
          <p:cNvPr id="11" name="Group 10"/>
          <p:cNvGrpSpPr/>
          <p:nvPr/>
        </p:nvGrpSpPr>
        <p:grpSpPr>
          <a:xfrm>
            <a:off x="279110" y="2857500"/>
            <a:ext cx="4617720" cy="3078480"/>
            <a:chOff x="279110" y="2857500"/>
            <a:chExt cx="4617720" cy="3078480"/>
          </a:xfrm>
        </p:grpSpPr>
        <p:pic>
          <p:nvPicPr>
            <p:cNvPr id="6" name="Picture 5"/>
            <p:cNvPicPr>
              <a:picLocks noChangeAspect="1"/>
            </p:cNvPicPr>
            <p:nvPr/>
          </p:nvPicPr>
          <p:blipFill>
            <a:blip r:embed="rId4"/>
            <a:stretch>
              <a:fillRect/>
            </a:stretch>
          </p:blipFill>
          <p:spPr>
            <a:xfrm>
              <a:off x="279110" y="2857500"/>
              <a:ext cx="4617720" cy="3078480"/>
            </a:xfrm>
            <a:prstGeom prst="rect">
              <a:avLst/>
            </a:prstGeom>
          </p:spPr>
        </p:pic>
        <p:sp>
          <p:nvSpPr>
            <p:cNvPr id="9" name="Rectangle 8"/>
            <p:cNvSpPr/>
            <p:nvPr/>
          </p:nvSpPr>
          <p:spPr>
            <a:xfrm>
              <a:off x="678180" y="3528060"/>
              <a:ext cx="3002280" cy="1363621"/>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5095704" y="2857500"/>
            <a:ext cx="4612268" cy="3074845"/>
            <a:chOff x="5095704" y="2857500"/>
            <a:chExt cx="4612268" cy="3074845"/>
          </a:xfrm>
        </p:grpSpPr>
        <p:pic>
          <p:nvPicPr>
            <p:cNvPr id="8" name="Picture 7"/>
            <p:cNvPicPr>
              <a:picLocks noChangeAspect="1"/>
            </p:cNvPicPr>
            <p:nvPr/>
          </p:nvPicPr>
          <p:blipFill>
            <a:blip r:embed="rId5"/>
            <a:stretch>
              <a:fillRect/>
            </a:stretch>
          </p:blipFill>
          <p:spPr>
            <a:xfrm>
              <a:off x="5095704" y="2857500"/>
              <a:ext cx="4612268" cy="3074845"/>
            </a:xfrm>
            <a:prstGeom prst="rect">
              <a:avLst/>
            </a:prstGeom>
          </p:spPr>
        </p:pic>
        <p:sp>
          <p:nvSpPr>
            <p:cNvPr id="10" name="Rectangle 9"/>
            <p:cNvSpPr/>
            <p:nvPr/>
          </p:nvSpPr>
          <p:spPr>
            <a:xfrm>
              <a:off x="5661661" y="3291840"/>
              <a:ext cx="2572864" cy="2385060"/>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p:cNvSpPr/>
          <p:nvPr/>
        </p:nvSpPr>
        <p:spPr>
          <a:xfrm>
            <a:off x="464820" y="1942936"/>
            <a:ext cx="3014690" cy="350521"/>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16714" y="5984141"/>
            <a:ext cx="7517586" cy="430887"/>
          </a:xfrm>
          <a:prstGeom prst="rect">
            <a:avLst/>
          </a:prstGeom>
          <a:solidFill>
            <a:schemeClr val="bg1">
              <a:lumMod val="85000"/>
            </a:schemeClr>
          </a:solidFill>
        </p:spPr>
        <p:txBody>
          <a:bodyPr wrap="square">
            <a:spAutoFit/>
          </a:bodyPr>
          <a:lstStyle/>
          <a:p>
            <a:pPr fontAlgn="base">
              <a:spcBef>
                <a:spcPct val="0"/>
              </a:spcBef>
              <a:spcAft>
                <a:spcPct val="0"/>
              </a:spcAft>
            </a:pPr>
            <a:r>
              <a:rPr lang="ko-KR" altLang="en-US" sz="1100">
                <a:solidFill>
                  <a:srgbClr val="000000"/>
                </a:solidFill>
                <a:latin typeface="Arial Narrow" panose="020B0606020202030204" pitchFamily="34" charset="0"/>
                <a:ea typeface="LG스마트체 Regular" panose="020B0600000101010101" pitchFamily="50" charset="-127"/>
              </a:rPr>
              <a:t>The final model review results indicate that the contribution of </a:t>
            </a:r>
            <a:r>
              <a:rPr lang="vi-VN" altLang="ko-KR" sz="1100" b="1">
                <a:solidFill>
                  <a:srgbClr val="000000"/>
                </a:solidFill>
                <a:latin typeface="Arial Narrow" panose="020B0606020202030204" pitchFamily="34" charset="0"/>
                <a:ea typeface="LG스마트체 Regular" panose="020B0600000101010101" pitchFamily="50" charset="-127"/>
              </a:rPr>
              <a:t>Punch height</a:t>
            </a:r>
            <a:r>
              <a:rPr lang="ko-KR" altLang="en-US" sz="1100" b="1">
                <a:solidFill>
                  <a:srgbClr val="000000"/>
                </a:solidFill>
                <a:latin typeface="Arial Narrow" panose="020B0606020202030204" pitchFamily="34" charset="0"/>
                <a:ea typeface="LG스마트체 Regular" panose="020B0600000101010101" pitchFamily="50" charset="-127"/>
              </a:rPr>
              <a:t> </a:t>
            </a:r>
            <a:r>
              <a:rPr lang="ko-KR" altLang="en-US" sz="1100">
                <a:solidFill>
                  <a:srgbClr val="000000"/>
                </a:solidFill>
                <a:latin typeface="Arial Narrow" panose="020B0606020202030204" pitchFamily="34" charset="0"/>
                <a:ea typeface="LG스마트체 Regular" panose="020B0600000101010101" pitchFamily="50" charset="-127"/>
              </a:rPr>
              <a:t>and </a:t>
            </a:r>
            <a:r>
              <a:rPr lang="vi-VN" altLang="ko-KR" sz="1100" b="1">
                <a:solidFill>
                  <a:srgbClr val="000000"/>
                </a:solidFill>
                <a:latin typeface="Arial Narrow" panose="020B0606020202030204" pitchFamily="34" charset="0"/>
                <a:ea typeface="LG스마트체 Regular" panose="020B0600000101010101" pitchFamily="50" charset="-127"/>
              </a:rPr>
              <a:t>Punch radius</a:t>
            </a:r>
            <a:r>
              <a:rPr lang="ko-KR" altLang="en-US" sz="1100" b="1">
                <a:solidFill>
                  <a:srgbClr val="000000"/>
                </a:solidFill>
                <a:latin typeface="Arial Narrow" panose="020B0606020202030204" pitchFamily="34" charset="0"/>
                <a:ea typeface="LG스마트체 Regular" panose="020B0600000101010101" pitchFamily="50" charset="-127"/>
              </a:rPr>
              <a:t> </a:t>
            </a:r>
            <a:r>
              <a:rPr lang="vi-VN" altLang="ko-KR" sz="1100">
                <a:solidFill>
                  <a:srgbClr val="000000"/>
                </a:solidFill>
                <a:latin typeface="Arial Narrow" panose="020B0606020202030204" pitchFamily="34" charset="0"/>
                <a:ea typeface="LG스마트체 Regular" panose="020B0600000101010101" pitchFamily="50" charset="-127"/>
              </a:rPr>
              <a:t>are </a:t>
            </a:r>
            <a:r>
              <a:rPr lang="ko-KR" altLang="en-US" sz="1100">
                <a:solidFill>
                  <a:srgbClr val="000000"/>
                </a:solidFill>
                <a:latin typeface="Arial Narrow" panose="020B0606020202030204" pitchFamily="34" charset="0"/>
                <a:ea typeface="LG스마트체 Regular" panose="020B0600000101010101" pitchFamily="50" charset="-127"/>
              </a:rPr>
              <a:t>significantly higher than that of other factors.</a:t>
            </a:r>
            <a:endParaRPr lang="vi-VN" altLang="ko-KR" sz="1100">
              <a:solidFill>
                <a:srgbClr val="000000"/>
              </a:solidFill>
              <a:latin typeface="Arial Narrow" panose="020B0606020202030204" pitchFamily="34" charset="0"/>
              <a:ea typeface="LG스마트체 Regular" panose="020B0600000101010101" pitchFamily="50" charset="-127"/>
            </a:endParaRPr>
          </a:p>
          <a:p>
            <a:pPr fontAlgn="base">
              <a:spcBef>
                <a:spcPct val="0"/>
              </a:spcBef>
              <a:spcAft>
                <a:spcPct val="0"/>
              </a:spcAft>
            </a:pPr>
            <a:r>
              <a:rPr lang="vi-VN" sz="1100">
                <a:solidFill>
                  <a:srgbClr val="000000"/>
                </a:solidFill>
                <a:latin typeface="Arial Narrow" panose="020B0606020202030204" pitchFamily="34" charset="0"/>
                <a:ea typeface="LG스마트체 Regular" panose="020B0600000101010101" pitchFamily="50" charset="-127"/>
              </a:rPr>
              <a:t>The Force press with P value = 0.075 &gt; 0.05 is lower than other factor.</a:t>
            </a:r>
            <a:endParaRPr lang="en-US" sz="1100">
              <a:latin typeface="Arial Narrow" panose="020B0606020202030204" pitchFamily="34" charset="0"/>
            </a:endParaRPr>
          </a:p>
        </p:txBody>
      </p:sp>
      <p:cxnSp>
        <p:nvCxnSpPr>
          <p:cNvPr id="16" name="Straight Connector 15"/>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7" name="그룹 2"/>
          <p:cNvGrpSpPr/>
          <p:nvPr/>
        </p:nvGrpSpPr>
        <p:grpSpPr>
          <a:xfrm>
            <a:off x="7381363" y="27941"/>
            <a:ext cx="2449687" cy="334221"/>
            <a:chOff x="7376138" y="106318"/>
            <a:chExt cx="2449687" cy="334221"/>
          </a:xfrm>
        </p:grpSpPr>
        <p:sp>
          <p:nvSpPr>
            <p:cNvPr id="18" name="AutoShape 5"/>
            <p:cNvSpPr>
              <a:spLocks noChangeArrowheads="1"/>
            </p:cNvSpPr>
            <p:nvPr/>
          </p:nvSpPr>
          <p:spPr bwMode="auto">
            <a:xfrm>
              <a:off x="7376138" y="106318"/>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19"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0" name="AutoShape 7"/>
            <p:cNvSpPr>
              <a:spLocks noChangeArrowheads="1"/>
            </p:cNvSpPr>
            <p:nvPr/>
          </p:nvSpPr>
          <p:spPr bwMode="auto">
            <a:xfrm>
              <a:off x="8289276" y="106318"/>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1"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2" name="AutoShape 4"/>
            <p:cNvSpPr>
              <a:spLocks noChangeArrowheads="1"/>
            </p:cNvSpPr>
            <p:nvPr/>
          </p:nvSpPr>
          <p:spPr bwMode="auto">
            <a:xfrm>
              <a:off x="7854927" y="106318"/>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23" name="TextBox 22"/>
          <p:cNvSpPr txBox="1"/>
          <p:nvPr/>
        </p:nvSpPr>
        <p:spPr>
          <a:xfrm>
            <a:off x="73152" y="69580"/>
            <a:ext cx="1778051" cy="369332"/>
          </a:xfrm>
          <a:prstGeom prst="rect">
            <a:avLst/>
          </a:prstGeom>
          <a:noFill/>
        </p:spPr>
        <p:txBody>
          <a:bodyPr wrap="none" rtlCol="0">
            <a:spAutoFit/>
          </a:bodyPr>
          <a:lstStyle/>
          <a:p>
            <a:r>
              <a:rPr lang="en-US">
                <a:latin typeface="Arial Narrow" panose="020B0606020202030204" pitchFamily="34" charset="0"/>
              </a:rPr>
              <a:t>Find</a:t>
            </a:r>
            <a:r>
              <a:rPr lang="vi-VN">
                <a:latin typeface="Arial Narrow" panose="020B0606020202030204" pitchFamily="34" charset="0"/>
              </a:rPr>
              <a:t> out</a:t>
            </a:r>
            <a:r>
              <a:rPr lang="en-US">
                <a:latin typeface="Arial Narrow" panose="020B0606020202030204" pitchFamily="34" charset="0"/>
              </a:rPr>
              <a:t> the </a:t>
            </a:r>
            <a:r>
              <a:rPr lang="vi-VN">
                <a:latin typeface="Arial Narrow" panose="020B0606020202030204" pitchFamily="34" charset="0"/>
              </a:rPr>
              <a:t>Factor</a:t>
            </a:r>
            <a:endParaRPr lang="en-US">
              <a:latin typeface="Arial Narrow" panose="020B0606020202030204" pitchFamily="34" charset="0"/>
            </a:endParaRPr>
          </a:p>
        </p:txBody>
      </p:sp>
      <p:sp>
        <p:nvSpPr>
          <p:cNvPr id="24" name="TextBox 1">
            <a:extLst>
              <a:ext uri="{FF2B5EF4-FFF2-40B4-BE49-F238E27FC236}">
                <a16:creationId xmlns:a16="http://schemas.microsoft.com/office/drawing/2014/main" id="{594EEF22-7A24-C2DE-04B3-4F9470A60B27}"/>
              </a:ext>
            </a:extLst>
          </p:cNvPr>
          <p:cNvSpPr txBox="1">
            <a:spLocks noChangeArrowheads="1"/>
          </p:cNvSpPr>
          <p:nvPr/>
        </p:nvSpPr>
        <p:spPr bwMode="auto">
          <a:xfrm>
            <a:off x="17001" y="431924"/>
            <a:ext cx="92346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177800" indent="-177800" eaLnBrk="1" fontAlgn="base" hangingPunct="1">
              <a:spcBef>
                <a:spcPct val="0"/>
              </a:spcBef>
              <a:spcAft>
                <a:spcPct val="0"/>
              </a:spcAft>
              <a:buFont typeface="Wingdings" panose="05000000000000000000" pitchFamily="2" charset="2"/>
              <a:buChar char="Ø"/>
            </a:pPr>
            <a:r>
              <a:rPr lang="en-US" altLang="ko-KR" sz="1400" b="1" dirty="0">
                <a:solidFill>
                  <a:srgbClr val="000000"/>
                </a:solidFill>
                <a:latin typeface="Arial Narrow" panose="020B0606020202030204" pitchFamily="34" charset="0"/>
                <a:ea typeface="LG스마트체 Regular" panose="020B0600000101010101" pitchFamily="50" charset="-127"/>
              </a:rPr>
              <a:t>Screening DOE Analysis</a:t>
            </a:r>
          </a:p>
          <a:p>
            <a:pPr eaLnBrk="1" hangingPunct="1"/>
            <a:r>
              <a:rPr lang="en-US" altLang="ko-KR" sz="1400" b="1" dirty="0">
                <a:solidFill>
                  <a:srgbClr val="000000"/>
                </a:solidFill>
                <a:latin typeface="Arial Narrow" panose="020B0606020202030204" pitchFamily="34" charset="0"/>
                <a:ea typeface="LG스마트체 Regular" panose="020B0600000101010101" pitchFamily="50" charset="-127"/>
              </a:rPr>
              <a:t>- Factor regression analysis</a:t>
            </a:r>
            <a:r>
              <a:rPr lang="en-US" altLang="ko-KR" sz="1400" b="1">
                <a:solidFill>
                  <a:srgbClr val="000000"/>
                </a:solidFill>
                <a:latin typeface="Arial Narrow" panose="020B0606020202030204" pitchFamily="34" charset="0"/>
                <a:ea typeface="LG스마트체 Regular" panose="020B0600000101010101" pitchFamily="50" charset="-127"/>
              </a:rPr>
              <a:t>: </a:t>
            </a:r>
            <a:r>
              <a:rPr lang="vi-VN" altLang="ko-KR" sz="1400" b="1">
                <a:solidFill>
                  <a:srgbClr val="000000"/>
                </a:solidFill>
                <a:latin typeface="Arial Narrow" panose="020B0606020202030204" pitchFamily="34" charset="0"/>
                <a:ea typeface="LG스마트체 Regular" panose="020B0600000101010101" pitchFamily="50" charset="-127"/>
              </a:rPr>
              <a:t>Punch Height, Punch Radius, Press Force</a:t>
            </a:r>
            <a:endParaRPr lang="en-US" altLang="ko-KR" sz="1400" b="1" dirty="0">
              <a:solidFill>
                <a:srgbClr val="000000"/>
              </a:solidFill>
              <a:latin typeface="Arial Narrow" panose="020B0606020202030204" pitchFamily="34" charset="0"/>
              <a:ea typeface="LG스마트체 Regular" panose="020B0600000101010101" pitchFamily="50" charset="-127"/>
            </a:endParaRPr>
          </a:p>
        </p:txBody>
      </p:sp>
      <p:sp>
        <p:nvSpPr>
          <p:cNvPr id="25" name="TextBox 24"/>
          <p:cNvSpPr txBox="1"/>
          <p:nvPr/>
        </p:nvSpPr>
        <p:spPr>
          <a:xfrm>
            <a:off x="-3381780" y="1869909"/>
            <a:ext cx="3096924" cy="2516073"/>
          </a:xfrm>
          <a:prstGeom prst="rect">
            <a:avLst/>
          </a:prstGeom>
          <a:solidFill>
            <a:schemeClr val="accent2">
              <a:lumMod val="60000"/>
              <a:lumOff val="40000"/>
            </a:schemeClr>
          </a:solidFill>
        </p:spPr>
        <p:txBody>
          <a:bodyPr wrap="square" rtlCol="0">
            <a:spAutoFit/>
          </a:bodyPr>
          <a:lstStyle/>
          <a:p>
            <a:r>
              <a:rPr lang="en-US" sz="1050" b="1">
                <a:latin typeface="Arial Narrow" panose="020B0606020202030204" pitchFamily="34" charset="0"/>
              </a:rPr>
              <a:t>24th, Nov. Ken Park</a:t>
            </a:r>
            <a:br>
              <a:rPr lang="en-US" sz="1050">
                <a:latin typeface="Arial Narrow" panose="020B0606020202030204" pitchFamily="34" charset="0"/>
              </a:rPr>
            </a:br>
            <a:r>
              <a:rPr lang="en-US" sz="1050">
                <a:latin typeface="Arial Narrow" panose="020B0606020202030204" pitchFamily="34" charset="0"/>
              </a:rPr>
              <a:t>Good result to find out the factor.</a:t>
            </a:r>
            <a:br>
              <a:rPr lang="en-US" sz="1050">
                <a:latin typeface="Arial Narrow" panose="020B0606020202030204" pitchFamily="34" charset="0"/>
              </a:rPr>
            </a:br>
            <a:r>
              <a:rPr lang="en-US" sz="1050">
                <a:latin typeface="Arial Narrow" panose="020B0606020202030204" pitchFamily="34" charset="0"/>
              </a:rPr>
              <a:t>You tried two one-way ANOVA and one 2-sample T test.</a:t>
            </a:r>
            <a:br>
              <a:rPr lang="en-US" sz="1050">
                <a:latin typeface="Arial Narrow" panose="020B0606020202030204" pitchFamily="34" charset="0"/>
              </a:rPr>
            </a:br>
            <a:r>
              <a:rPr lang="en-US" sz="1050">
                <a:latin typeface="Arial Narrow" panose="020B0606020202030204" pitchFamily="34" charset="0"/>
              </a:rPr>
              <a:t>You don’t have to change the project but, in six sigma training, we recommend that screening DOE to find out the factor because it needs much less sample than this 3 times test (2 times one-way ANOVA and 1 time 2-sample T test.)</a:t>
            </a:r>
            <a:br>
              <a:rPr lang="en-US" sz="1050">
                <a:latin typeface="Arial Narrow" panose="020B0606020202030204" pitchFamily="34" charset="0"/>
              </a:rPr>
            </a:br>
            <a:r>
              <a:rPr lang="en-US" sz="1050">
                <a:latin typeface="Arial Narrow" panose="020B0606020202030204" pitchFamily="34" charset="0"/>
              </a:rPr>
              <a:t>I suggest that you prepare the explanation when six sigma interview asks about this.</a:t>
            </a:r>
            <a:br>
              <a:rPr lang="en-US" sz="1050">
                <a:latin typeface="Arial Narrow" panose="020B0606020202030204" pitchFamily="34" charset="0"/>
              </a:rPr>
            </a:br>
            <a:r>
              <a:rPr lang="en-US" sz="1050">
                <a:latin typeface="Arial Narrow" panose="020B0606020202030204" pitchFamily="34" charset="0"/>
              </a:rPr>
              <a:t>Why do you test 3 times, but not 1 time screening DOE?</a:t>
            </a:r>
            <a:br>
              <a:rPr lang="en-US" sz="1050">
                <a:latin typeface="Arial Narrow" panose="020B0606020202030204" pitchFamily="34" charset="0"/>
              </a:rPr>
            </a:br>
            <a:r>
              <a:rPr lang="en-US" sz="1050">
                <a:latin typeface="Arial Narrow" panose="020B0606020202030204" pitchFamily="34" charset="0"/>
              </a:rPr>
              <a:t>If you have a certain reason, you can explain it. But if you don’t have one, I think that you can just answer that you don’t know that you can use screening DOE and it needs much less sample at first. But after the test, you got it but you have already done the test so you didn’t change it.</a:t>
            </a:r>
          </a:p>
        </p:txBody>
      </p:sp>
      <p:sp>
        <p:nvSpPr>
          <p:cNvPr id="26" name="TextBox 25"/>
          <p:cNvSpPr txBox="1"/>
          <p:nvPr/>
        </p:nvSpPr>
        <p:spPr>
          <a:xfrm>
            <a:off x="-3943756" y="4484370"/>
            <a:ext cx="3658900" cy="738664"/>
          </a:xfrm>
          <a:prstGeom prst="rect">
            <a:avLst/>
          </a:prstGeom>
          <a:solidFill>
            <a:srgbClr val="009A46"/>
          </a:solidFill>
        </p:spPr>
        <p:txBody>
          <a:bodyPr wrap="square" rtlCol="0">
            <a:spAutoFit/>
          </a:bodyPr>
          <a:lstStyle/>
          <a:p>
            <a:r>
              <a:rPr lang="vi-VN" sz="1050" b="1">
                <a:latin typeface="Arial Narrow" panose="020B0606020202030204" pitchFamily="34" charset="0"/>
              </a:rPr>
              <a:t>26</a:t>
            </a:r>
            <a:r>
              <a:rPr lang="en-US" sz="1050" b="1">
                <a:latin typeface="Arial Narrow" panose="020B0606020202030204" pitchFamily="34" charset="0"/>
              </a:rPr>
              <a:t>th, Nov. </a:t>
            </a:r>
            <a:r>
              <a:rPr lang="vi-VN" sz="1050" b="1">
                <a:latin typeface="Arial Narrow" panose="020B0606020202030204" pitchFamily="34" charset="0"/>
              </a:rPr>
              <a:t>Updateed</a:t>
            </a:r>
            <a:br>
              <a:rPr lang="en-US" sz="1050">
                <a:latin typeface="Arial Narrow" panose="020B0606020202030204" pitchFamily="34" charset="0"/>
              </a:rPr>
            </a:br>
            <a:r>
              <a:rPr lang="vi-VN" sz="1050">
                <a:latin typeface="Arial Narrow" panose="020B0606020202030204" pitchFamily="34" charset="0"/>
              </a:rPr>
              <a:t>i will request supplier trial run accoring to Screening DOE table</a:t>
            </a:r>
          </a:p>
          <a:p>
            <a:r>
              <a:rPr lang="vi-VN" sz="1050">
                <a:latin typeface="Arial Narrow" panose="020B0606020202030204" pitchFamily="34" charset="0"/>
              </a:rPr>
              <a:t>I will delete test by ANOVA, 2 sample T and summarize data by Sceening factor as below (Slide 19~21)</a:t>
            </a:r>
            <a:endParaRPr lang="en-US" sz="1050">
              <a:latin typeface="Arial Narrow" panose="020B0606020202030204" pitchFamily="34" charset="0"/>
            </a:endParaRPr>
          </a:p>
        </p:txBody>
      </p:sp>
    </p:spTree>
    <p:extLst>
      <p:ext uri="{BB962C8B-B14F-4D97-AF65-F5344CB8AC3E}">
        <p14:creationId xmlns:p14="http://schemas.microsoft.com/office/powerpoint/2010/main" val="721580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81363" y="27941"/>
            <a:ext cx="2449687" cy="334221"/>
            <a:chOff x="7376138" y="106318"/>
            <a:chExt cx="2449687" cy="334221"/>
          </a:xfrm>
        </p:grpSpPr>
        <p:sp>
          <p:nvSpPr>
            <p:cNvPr id="7" name="AutoShape 5"/>
            <p:cNvSpPr>
              <a:spLocks noChangeArrowheads="1"/>
            </p:cNvSpPr>
            <p:nvPr/>
          </p:nvSpPr>
          <p:spPr bwMode="auto">
            <a:xfrm>
              <a:off x="7376138" y="106318"/>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289276" y="106318"/>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824738" y="116689"/>
              <a:ext cx="579437" cy="323850"/>
            </a:xfrm>
            <a:prstGeom prst="chevron">
              <a:avLst>
                <a:gd name="adj" fmla="val 50484"/>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54927" y="106318"/>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graphicFrame>
        <p:nvGraphicFramePr>
          <p:cNvPr id="3" name="Table 2"/>
          <p:cNvGraphicFramePr>
            <a:graphicFrameLocks noGrp="1"/>
          </p:cNvGraphicFramePr>
          <p:nvPr>
            <p:extLst>
              <p:ext uri="{D42A27DB-BD31-4B8C-83A1-F6EECF244321}">
                <p14:modId xmlns:p14="http://schemas.microsoft.com/office/powerpoint/2010/main" val="984852072"/>
              </p:ext>
            </p:extLst>
          </p:nvPr>
        </p:nvGraphicFramePr>
        <p:xfrm>
          <a:off x="338667" y="1376680"/>
          <a:ext cx="9070733" cy="3479800"/>
        </p:xfrm>
        <a:graphic>
          <a:graphicData uri="http://schemas.openxmlformats.org/drawingml/2006/table">
            <a:tbl>
              <a:tblPr firstRow="1" bandRow="1">
                <a:tableStyleId>{5C22544A-7EE6-4342-B048-85BDC9FD1C3A}</a:tableStyleId>
              </a:tblPr>
              <a:tblGrid>
                <a:gridCol w="1295819">
                  <a:extLst>
                    <a:ext uri="{9D8B030D-6E8A-4147-A177-3AD203B41FA5}">
                      <a16:colId xmlns:a16="http://schemas.microsoft.com/office/drawing/2014/main" val="20000"/>
                    </a:ext>
                  </a:extLst>
                </a:gridCol>
                <a:gridCol w="1295819">
                  <a:extLst>
                    <a:ext uri="{9D8B030D-6E8A-4147-A177-3AD203B41FA5}">
                      <a16:colId xmlns:a16="http://schemas.microsoft.com/office/drawing/2014/main" val="20001"/>
                    </a:ext>
                  </a:extLst>
                </a:gridCol>
                <a:gridCol w="1295819">
                  <a:extLst>
                    <a:ext uri="{9D8B030D-6E8A-4147-A177-3AD203B41FA5}">
                      <a16:colId xmlns:a16="http://schemas.microsoft.com/office/drawing/2014/main" val="20002"/>
                    </a:ext>
                  </a:extLst>
                </a:gridCol>
                <a:gridCol w="1295819">
                  <a:extLst>
                    <a:ext uri="{9D8B030D-6E8A-4147-A177-3AD203B41FA5}">
                      <a16:colId xmlns:a16="http://schemas.microsoft.com/office/drawing/2014/main" val="20003"/>
                    </a:ext>
                  </a:extLst>
                </a:gridCol>
                <a:gridCol w="1295819">
                  <a:extLst>
                    <a:ext uri="{9D8B030D-6E8A-4147-A177-3AD203B41FA5}">
                      <a16:colId xmlns:a16="http://schemas.microsoft.com/office/drawing/2014/main" val="20004"/>
                    </a:ext>
                  </a:extLst>
                </a:gridCol>
                <a:gridCol w="1295819">
                  <a:extLst>
                    <a:ext uri="{9D8B030D-6E8A-4147-A177-3AD203B41FA5}">
                      <a16:colId xmlns:a16="http://schemas.microsoft.com/office/drawing/2014/main" val="20005"/>
                    </a:ext>
                  </a:extLst>
                </a:gridCol>
                <a:gridCol w="1295819">
                  <a:extLst>
                    <a:ext uri="{9D8B030D-6E8A-4147-A177-3AD203B41FA5}">
                      <a16:colId xmlns:a16="http://schemas.microsoft.com/office/drawing/2014/main" val="20006"/>
                    </a:ext>
                  </a:extLst>
                </a:gridCol>
              </a:tblGrid>
              <a:tr h="370840">
                <a:tc>
                  <a:txBody>
                    <a:bodyPr/>
                    <a:lstStyle/>
                    <a:p>
                      <a:pPr algn="ctr"/>
                      <a:r>
                        <a:rPr lang="vi-VN" sz="1200">
                          <a:solidFill>
                            <a:schemeClr val="tx1"/>
                          </a:solidFill>
                          <a:latin typeface="Arial Narrow" panose="020B0606020202030204" pitchFamily="34" charset="0"/>
                        </a:rPr>
                        <a:t>CTQ</a:t>
                      </a:r>
                      <a:endParaRPr lang="en-US" sz="1200">
                        <a:solidFill>
                          <a:schemeClr val="tx1"/>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gridSpan="2">
                  <a:txBody>
                    <a:bodyPr/>
                    <a:lstStyle/>
                    <a:p>
                      <a:pPr algn="ctr"/>
                      <a:r>
                        <a:rPr lang="vi-VN" sz="1200">
                          <a:solidFill>
                            <a:schemeClr val="tx1"/>
                          </a:solidFill>
                          <a:latin typeface="Arial Narrow" panose="020B0606020202030204" pitchFamily="34" charset="0"/>
                        </a:rPr>
                        <a:t>Potential</a:t>
                      </a:r>
                      <a:endParaRPr lang="en-US" sz="1200">
                        <a:solidFill>
                          <a:schemeClr val="tx1"/>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endParaRPr lang="en-US"/>
                    </a:p>
                  </a:txBody>
                  <a:tcPr/>
                </a:tc>
                <a:tc>
                  <a:txBody>
                    <a:bodyPr/>
                    <a:lstStyle/>
                    <a:p>
                      <a:pPr algn="ctr"/>
                      <a:r>
                        <a:rPr lang="vi-VN" sz="1200">
                          <a:solidFill>
                            <a:schemeClr val="tx1"/>
                          </a:solidFill>
                          <a:latin typeface="Arial Narrow" panose="020B0606020202030204" pitchFamily="34" charset="0"/>
                        </a:rPr>
                        <a:t>Analysis Method</a:t>
                      </a:r>
                      <a:endParaRPr lang="en-US" sz="1200">
                        <a:solidFill>
                          <a:schemeClr val="tx1"/>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a:r>
                        <a:rPr lang="vi-VN" sz="1200">
                          <a:solidFill>
                            <a:schemeClr val="tx1"/>
                          </a:solidFill>
                          <a:latin typeface="Arial Narrow" panose="020B0606020202030204" pitchFamily="34" charset="0"/>
                        </a:rPr>
                        <a:t>Analysis Result</a:t>
                      </a:r>
                      <a:endParaRPr lang="en-US" sz="1200">
                        <a:solidFill>
                          <a:schemeClr val="tx1"/>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a:r>
                        <a:rPr lang="vi-VN" sz="1200">
                          <a:solidFill>
                            <a:schemeClr val="tx1"/>
                          </a:solidFill>
                          <a:latin typeface="Arial Narrow" panose="020B0606020202030204" pitchFamily="34" charset="0"/>
                        </a:rPr>
                        <a:t>Conslution</a:t>
                      </a:r>
                      <a:endParaRPr lang="en-US" sz="1200">
                        <a:solidFill>
                          <a:schemeClr val="tx1"/>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a:r>
                        <a:rPr lang="vi-VN" sz="1200">
                          <a:solidFill>
                            <a:schemeClr val="tx1"/>
                          </a:solidFill>
                          <a:latin typeface="Arial Narrow" panose="020B0606020202030204" pitchFamily="34" charset="0"/>
                        </a:rPr>
                        <a:t>Remark</a:t>
                      </a:r>
                      <a:endParaRPr lang="en-US" sz="1200">
                        <a:solidFill>
                          <a:schemeClr val="tx1"/>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rowSpan="6">
                  <a:txBody>
                    <a:bodyPr/>
                    <a:lstStyle/>
                    <a:p>
                      <a:pPr algn="ctr"/>
                      <a:r>
                        <a:rPr lang="vi-VN" sz="1200">
                          <a:latin typeface="Arial Narrow" panose="020B0606020202030204" pitchFamily="34" charset="0"/>
                        </a:rPr>
                        <a:t>Emboss height number 3</a:t>
                      </a:r>
                    </a:p>
                    <a:p>
                      <a:pPr algn="ctr"/>
                      <a:r>
                        <a:rPr lang="vi-VN" sz="1200">
                          <a:latin typeface="Arial Narrow" panose="020B0606020202030204" pitchFamily="34" charset="0"/>
                        </a:rPr>
                        <a:t> of Case Bottom </a:t>
                      </a:r>
                      <a:endParaRPr lang="en-US" sz="120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algn="ctr"/>
                      <a:r>
                        <a:rPr lang="vi-VN" sz="1200" dirty="0">
                          <a:latin typeface="Arial Narrow" panose="020B0606020202030204" pitchFamily="34" charset="0"/>
                        </a:rPr>
                        <a:t>Punch Height</a:t>
                      </a:r>
                      <a:endParaRPr lang="en-US" sz="1200" dirty="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vi-VN" sz="1200">
                          <a:solidFill>
                            <a:srgbClr val="00B050"/>
                          </a:solidFill>
                          <a:latin typeface="Arial Narrow" panose="020B0606020202030204" pitchFamily="34" charset="0"/>
                        </a:rPr>
                        <a:t>6.4 (Current)</a:t>
                      </a:r>
                      <a:endParaRPr lang="en-US" sz="1200">
                        <a:solidFill>
                          <a:srgbClr val="00B050"/>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marL="0" indent="0" algn="ctr" eaLnBrk="1" fontAlgn="base" hangingPunct="1">
                        <a:spcBef>
                          <a:spcPct val="0"/>
                        </a:spcBef>
                        <a:spcAft>
                          <a:spcPct val="0"/>
                        </a:spcAft>
                        <a:buFont typeface="Wingdings" panose="05000000000000000000" pitchFamily="2" charset="2"/>
                        <a:buNone/>
                      </a:pPr>
                      <a:r>
                        <a:rPr lang="en-US" altLang="ko-KR" sz="1200" b="0">
                          <a:solidFill>
                            <a:srgbClr val="000000"/>
                          </a:solidFill>
                          <a:latin typeface="Arial Narrow" panose="020B0606020202030204" pitchFamily="34" charset="0"/>
                          <a:ea typeface="LG스마트체 Regular" panose="020B0600000101010101" pitchFamily="50" charset="-127"/>
                        </a:rPr>
                        <a:t>Screening DOE Analysis</a:t>
                      </a:r>
                      <a:endParaRPr lang="en-US" altLang="ko-KR" sz="1200" b="0" dirty="0">
                        <a:solidFill>
                          <a:srgbClr val="000000"/>
                        </a:solidFill>
                        <a:latin typeface="Arial Narrow" panose="020B0606020202030204" pitchFamily="34" charset="0"/>
                        <a:ea typeface="LG스마트체 Regular" panose="020B0600000101010101" pitchFamily="50" charset="-127"/>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algn="ctr"/>
                      <a:r>
                        <a:rPr lang="vi-VN" sz="1200">
                          <a:latin typeface="Arial Narrow" panose="020B0606020202030204" pitchFamily="34" charset="0"/>
                        </a:rPr>
                        <a:t>P-Value = 0.000</a:t>
                      </a:r>
                      <a:endParaRPr lang="en-US" sz="120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algn="ctr"/>
                      <a:r>
                        <a:rPr lang="vi-VN" sz="1200">
                          <a:latin typeface="Arial Narrow" panose="020B0606020202030204" pitchFamily="34" charset="0"/>
                        </a:rPr>
                        <a:t>Critical Factor</a:t>
                      </a:r>
                      <a:endParaRPr lang="en-US" sz="120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algn="ctr"/>
                      <a:r>
                        <a:rPr lang="en-US" sz="1200">
                          <a:latin typeface="Arial Narrow" panose="020B0606020202030204" pitchFamily="34" charset="0"/>
                        </a:rPr>
                        <a:t>When </a:t>
                      </a:r>
                      <a:r>
                        <a:rPr lang="en-US" sz="1200" dirty="0">
                          <a:latin typeface="Arial Narrow" panose="020B0606020202030204" pitchFamily="34" charset="0"/>
                        </a:rPr>
                        <a:t>the </a:t>
                      </a:r>
                      <a:r>
                        <a:rPr lang="en-US" sz="1200">
                          <a:latin typeface="Arial Narrow" panose="020B0606020202030204" pitchFamily="34" charset="0"/>
                        </a:rPr>
                        <a:t>punch </a:t>
                      </a:r>
                      <a:r>
                        <a:rPr lang="vi-VN" sz="1200">
                          <a:latin typeface="Arial Narrow" panose="020B0606020202030204" pitchFamily="34" charset="0"/>
                        </a:rPr>
                        <a:t>height</a:t>
                      </a:r>
                      <a:r>
                        <a:rPr lang="en-US" sz="1200">
                          <a:latin typeface="Arial Narrow" panose="020B0606020202030204" pitchFamily="34" charset="0"/>
                        </a:rPr>
                        <a:t> </a:t>
                      </a:r>
                      <a:r>
                        <a:rPr lang="en-US" sz="1200" dirty="0">
                          <a:latin typeface="Arial Narrow" panose="020B0606020202030204" pitchFamily="34" charset="0"/>
                        </a:rPr>
                        <a:t>is increased to 7.2, a tearing phenomenon appears at the </a:t>
                      </a:r>
                      <a:r>
                        <a:rPr lang="vi-VN" sz="1200" dirty="0">
                          <a:latin typeface="Arial Narrow" panose="020B0606020202030204" pitchFamily="34" charset="0"/>
                        </a:rPr>
                        <a:t>head</a:t>
                      </a:r>
                      <a:r>
                        <a:rPr lang="en-US" sz="1200" dirty="0">
                          <a:latin typeface="Arial Narrow" panose="020B0606020202030204" pitchFamily="34" charset="0"/>
                        </a:rPr>
                        <a:t> of the emboss after </a:t>
                      </a:r>
                      <a:r>
                        <a:rPr lang="vi-VN" sz="1200" dirty="0">
                          <a:latin typeface="Arial Narrow" panose="020B0606020202030204" pitchFamily="34" charset="0"/>
                        </a:rPr>
                        <a:t>finhsh </a:t>
                      </a:r>
                      <a:r>
                        <a:rPr lang="en-US" sz="1200" dirty="0">
                          <a:latin typeface="Arial Narrow" panose="020B0606020202030204" pitchFamily="34" charset="0"/>
                        </a:rPr>
                        <a:t>stamping</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370840">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vi-VN" sz="1200">
                          <a:solidFill>
                            <a:srgbClr val="00B050"/>
                          </a:solidFill>
                          <a:latin typeface="Arial Narrow" panose="020B0606020202030204" pitchFamily="34" charset="0"/>
                        </a:rPr>
                        <a:t>6.8 (Increase)</a:t>
                      </a:r>
                      <a:endParaRPr lang="en-US" sz="1200">
                        <a:solidFill>
                          <a:srgbClr val="00B050"/>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2"/>
                  </a:ext>
                </a:extLst>
              </a:tr>
              <a:tr h="370840">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vi-VN" sz="1200">
                          <a:latin typeface="Arial Narrow" panose="020B0606020202030204" pitchFamily="34" charset="0"/>
                        </a:rPr>
                        <a:t>7.2 (Increase)</a:t>
                      </a:r>
                      <a:endParaRPr lang="en-US" sz="1200" dirty="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3"/>
                  </a:ext>
                </a:extLst>
              </a:tr>
              <a:tr h="370840">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algn="ctr"/>
                      <a:r>
                        <a:rPr lang="vi-VN" sz="1200">
                          <a:latin typeface="Arial Narrow" panose="020B0606020202030204" pitchFamily="34" charset="0"/>
                        </a:rPr>
                        <a:t>Punch Radius</a:t>
                      </a:r>
                      <a:endParaRPr lang="en-US" sz="120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vi-VN" sz="1200">
                          <a:latin typeface="Arial Narrow" panose="020B0606020202030204" pitchFamily="34" charset="0"/>
                        </a:rPr>
                        <a:t>6.5 (Increase)</a:t>
                      </a:r>
                      <a:endParaRPr lang="en-US" sz="1200" dirty="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c rowSpan="3">
                  <a:txBody>
                    <a:bodyPr/>
                    <a:lstStyle/>
                    <a:p>
                      <a:pPr marL="0" indent="0" algn="ctr" eaLnBrk="1" fontAlgn="base" hangingPunct="1">
                        <a:spcBef>
                          <a:spcPct val="0"/>
                        </a:spcBef>
                        <a:spcAft>
                          <a:spcPct val="0"/>
                        </a:spcAft>
                        <a:buFont typeface="Wingdings" panose="05000000000000000000" pitchFamily="2" charset="2"/>
                        <a:buNone/>
                      </a:pPr>
                      <a:r>
                        <a:rPr lang="en-US" altLang="ko-KR" sz="1200" b="0">
                          <a:solidFill>
                            <a:srgbClr val="000000"/>
                          </a:solidFill>
                          <a:latin typeface="Arial Narrow" panose="020B0606020202030204" pitchFamily="34" charset="0"/>
                          <a:ea typeface="LG스마트체 Regular" panose="020B0600000101010101" pitchFamily="50" charset="-127"/>
                        </a:rPr>
                        <a:t>Screening DOE Analysis</a:t>
                      </a:r>
                      <a:endParaRPr lang="en-US" altLang="ko-KR" sz="1200" b="0" dirty="0">
                        <a:solidFill>
                          <a:srgbClr val="000000"/>
                        </a:solidFill>
                        <a:latin typeface="Arial Narrow" panose="020B0606020202030204" pitchFamily="34" charset="0"/>
                        <a:ea typeface="LG스마트체 Regular" panose="020B0600000101010101" pitchFamily="50" charset="-127"/>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200">
                          <a:latin typeface="Arial Narrow" panose="020B0606020202030204" pitchFamily="34" charset="0"/>
                        </a:rPr>
                        <a:t>P-Value = 0.000</a:t>
                      </a:r>
                      <a:endParaRPr lang="en-US" sz="120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algn="ctr"/>
                      <a:r>
                        <a:rPr lang="vi-VN" sz="1200">
                          <a:latin typeface="Arial Narrow" panose="020B0606020202030204" pitchFamily="34" charset="0"/>
                        </a:rPr>
                        <a:t>Critical Factor</a:t>
                      </a:r>
                      <a:endParaRPr lang="en-US" sz="1200">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Narrow" panose="020B0606020202030204" pitchFamily="34" charset="0"/>
                        </a:rPr>
                        <a:t>When the punch </a:t>
                      </a:r>
                      <a:r>
                        <a:rPr lang="vi-VN" sz="1200" dirty="0">
                          <a:latin typeface="Arial Narrow" panose="020B0606020202030204" pitchFamily="34" charset="0"/>
                        </a:rPr>
                        <a:t>radius</a:t>
                      </a:r>
                      <a:r>
                        <a:rPr lang="en-US" sz="1200" dirty="0">
                          <a:latin typeface="Arial Narrow" panose="020B0606020202030204" pitchFamily="34" charset="0"/>
                        </a:rPr>
                        <a:t> is increased to </a:t>
                      </a:r>
                      <a:r>
                        <a:rPr lang="vi-VN" sz="1200" dirty="0">
                          <a:latin typeface="Arial Narrow" panose="020B0606020202030204" pitchFamily="34" charset="0"/>
                        </a:rPr>
                        <a:t>6.5</a:t>
                      </a:r>
                      <a:r>
                        <a:rPr lang="en-US" sz="1200" dirty="0">
                          <a:latin typeface="Arial Narrow" panose="020B0606020202030204" pitchFamily="34" charset="0"/>
                        </a:rPr>
                        <a:t>, a tearing phenomenon appears at the </a:t>
                      </a:r>
                      <a:r>
                        <a:rPr lang="vi-VN" sz="1200" dirty="0">
                          <a:latin typeface="Arial Narrow" panose="020B0606020202030204" pitchFamily="34" charset="0"/>
                        </a:rPr>
                        <a:t>head</a:t>
                      </a:r>
                      <a:r>
                        <a:rPr lang="en-US" sz="1200" dirty="0">
                          <a:latin typeface="Arial Narrow" panose="020B0606020202030204" pitchFamily="34" charset="0"/>
                        </a:rPr>
                        <a:t> of the emboss after </a:t>
                      </a:r>
                      <a:r>
                        <a:rPr lang="vi-VN" sz="1200" dirty="0">
                          <a:latin typeface="Arial Narrow" panose="020B0606020202030204" pitchFamily="34" charset="0"/>
                        </a:rPr>
                        <a:t>finhsh </a:t>
                      </a:r>
                      <a:r>
                        <a:rPr lang="en-US" sz="1200" dirty="0">
                          <a:latin typeface="Arial Narrow" panose="020B0606020202030204" pitchFamily="34" charset="0"/>
                        </a:rPr>
                        <a:t>stamping</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370840">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vi-VN" sz="1200">
                          <a:solidFill>
                            <a:srgbClr val="00B050"/>
                          </a:solidFill>
                          <a:latin typeface="Arial Narrow" panose="020B0606020202030204" pitchFamily="34" charset="0"/>
                        </a:rPr>
                        <a:t>6 (Current)</a:t>
                      </a:r>
                      <a:endParaRPr lang="en-US" sz="1200" dirty="0">
                        <a:solidFill>
                          <a:srgbClr val="00B050"/>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5"/>
                  </a:ext>
                </a:extLst>
              </a:tr>
              <a:tr h="370840">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vi-VN" sz="1200">
                          <a:solidFill>
                            <a:srgbClr val="00B050"/>
                          </a:solidFill>
                          <a:latin typeface="Arial Narrow" panose="020B0606020202030204" pitchFamily="34" charset="0"/>
                        </a:rPr>
                        <a:t>5.5 (Decrease)</a:t>
                      </a:r>
                      <a:endParaRPr lang="en-US" sz="1200" dirty="0">
                        <a:solidFill>
                          <a:srgbClr val="00B050"/>
                        </a:solidFill>
                        <a:latin typeface="Arial Narrow" panose="020B060602020203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latin typeface="Arial Narrow" panose="020B060602020203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6"/>
                  </a:ext>
                </a:extLst>
              </a:tr>
            </a:tbl>
          </a:graphicData>
        </a:graphic>
      </p:graphicFrame>
      <p:cxnSp>
        <p:nvCxnSpPr>
          <p:cNvPr id="11" name="Straight Connector 10"/>
          <p:cNvCxnSpPr/>
          <p:nvPr/>
        </p:nvCxnSpPr>
        <p:spPr>
          <a:xfrm>
            <a:off x="474133" y="973667"/>
            <a:ext cx="3674534" cy="0"/>
          </a:xfrm>
          <a:prstGeom prst="line">
            <a:avLst/>
          </a:prstGeom>
          <a:ln w="12700"/>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1194725" y="623578"/>
            <a:ext cx="2292615" cy="369332"/>
          </a:xfrm>
          <a:prstGeom prst="rect">
            <a:avLst/>
          </a:prstGeom>
          <a:noFill/>
        </p:spPr>
        <p:txBody>
          <a:bodyPr wrap="none" rtlCol="0">
            <a:spAutoFit/>
          </a:bodyPr>
          <a:lstStyle/>
          <a:p>
            <a:r>
              <a:rPr lang="vi-VN" b="1">
                <a:latin typeface="Arial Narrow" panose="020B0606020202030204" pitchFamily="34" charset="0"/>
              </a:rPr>
              <a:t>Select Critical Potential</a:t>
            </a:r>
            <a:endParaRPr lang="en-US" b="1">
              <a:latin typeface="Arial Narrow" panose="020B0606020202030204" pitchFamily="34" charset="0"/>
            </a:endParaRPr>
          </a:p>
        </p:txBody>
      </p:sp>
      <p:sp>
        <p:nvSpPr>
          <p:cNvPr id="2" name="사각형: 둥근 모서리 1">
            <a:extLst>
              <a:ext uri="{FF2B5EF4-FFF2-40B4-BE49-F238E27FC236}">
                <a16:creationId xmlns:a16="http://schemas.microsoft.com/office/drawing/2014/main" id="{1B4462C7-4DBC-A01D-418E-31214DBE2058}"/>
              </a:ext>
            </a:extLst>
          </p:cNvPr>
          <p:cNvSpPr/>
          <p:nvPr/>
        </p:nvSpPr>
        <p:spPr>
          <a:xfrm>
            <a:off x="-6270694" y="1085922"/>
            <a:ext cx="5450380" cy="184369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Very</a:t>
            </a:r>
            <a:r>
              <a:rPr lang="ko-KR" altLang="en-US" sz="1200" dirty="0"/>
              <a:t> </a:t>
            </a:r>
            <a:r>
              <a:rPr lang="en-US" altLang="ko-KR" sz="1200" dirty="0"/>
              <a:t>good</a:t>
            </a:r>
            <a:r>
              <a:rPr lang="ko-KR" altLang="en-US" sz="1200" dirty="0"/>
              <a:t> </a:t>
            </a:r>
            <a:r>
              <a:rPr lang="en-US" altLang="ko-KR" sz="1200" dirty="0"/>
              <a:t>approach</a:t>
            </a:r>
            <a:r>
              <a:rPr lang="ko-KR" altLang="en-US" sz="1200" dirty="0"/>
              <a:t> </a:t>
            </a:r>
            <a:r>
              <a:rPr lang="en-US" altLang="ko-KR" sz="1200" dirty="0"/>
              <a:t>and</a:t>
            </a:r>
            <a:r>
              <a:rPr lang="ko-KR" altLang="en-US" sz="1200" dirty="0"/>
              <a:t> </a:t>
            </a:r>
            <a:r>
              <a:rPr lang="en-US" altLang="ko-KR" sz="1200" dirty="0"/>
              <a:t>analysis from Page 15 ~ Page 22</a:t>
            </a:r>
          </a:p>
        </p:txBody>
      </p:sp>
      <p:sp>
        <p:nvSpPr>
          <p:cNvPr id="17" name="사각형: 둥근 모서리 16">
            <a:extLst>
              <a:ext uri="{FF2B5EF4-FFF2-40B4-BE49-F238E27FC236}">
                <a16:creationId xmlns:a16="http://schemas.microsoft.com/office/drawing/2014/main" id="{C1297F66-A58D-E0F5-2887-6618B03BEE18}"/>
              </a:ext>
            </a:extLst>
          </p:cNvPr>
          <p:cNvSpPr/>
          <p:nvPr/>
        </p:nvSpPr>
        <p:spPr>
          <a:xfrm>
            <a:off x="-6270694" y="4751188"/>
            <a:ext cx="5450380" cy="184369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OH….. Finally I can find that CTQ at this page. I recommend that you can change CTQ to Project Y.</a:t>
            </a:r>
          </a:p>
          <a:p>
            <a:r>
              <a:rPr lang="en-US" altLang="ko-KR" sz="1200" dirty="0"/>
              <a:t>And is it the Project Y, right? You have to align with Y – y break down, MSA, current study with this Project Y(emboss height, 7 dimension)</a:t>
            </a:r>
          </a:p>
        </p:txBody>
      </p:sp>
      <p:sp>
        <p:nvSpPr>
          <p:cNvPr id="20" name="사각형: 둥근 모서리 19">
            <a:extLst>
              <a:ext uri="{FF2B5EF4-FFF2-40B4-BE49-F238E27FC236}">
                <a16:creationId xmlns:a16="http://schemas.microsoft.com/office/drawing/2014/main" id="{7CFE5621-62B4-5ADC-121E-40E941C29F03}"/>
              </a:ext>
            </a:extLst>
          </p:cNvPr>
          <p:cNvSpPr/>
          <p:nvPr/>
        </p:nvSpPr>
        <p:spPr>
          <a:xfrm>
            <a:off x="7598017" y="-3564609"/>
            <a:ext cx="7876895" cy="3057796"/>
          </a:xfrm>
          <a:prstGeom prst="roundRect">
            <a:avLst/>
          </a:prstGeom>
          <a:solidFill>
            <a:srgbClr val="00A84C"/>
          </a:solidFill>
          <a:ln>
            <a:solidFill>
              <a:srgbClr val="009A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According to Page 28, Punch height 6.4 and Punch Radius 6 is current process parameter, isn’t it?</a:t>
            </a:r>
          </a:p>
          <a:p>
            <a:r>
              <a:rPr lang="en-US" altLang="ko-KR" sz="1200" dirty="0"/>
              <a:t>And you’d better the DOE as big and small as possible. </a:t>
            </a:r>
          </a:p>
          <a:p>
            <a:r>
              <a:rPr lang="en-US" altLang="ko-KR" sz="1200" dirty="0"/>
              <a:t>With Punch height 7.2 , a tearing phenomenon appears and it’s big enough, but you have to try with lower parameter with punch height. (If you or supplier engineer think that it’s minimum value, you don’t have to try the lower value but and then, you can add comments that if it’s lower than 6.4. XXX phenomenon is expected and you select 6.4 as minimum value.)</a:t>
            </a:r>
          </a:p>
          <a:p>
            <a:endParaRPr lang="en-US" altLang="ko-KR" sz="1200" dirty="0"/>
          </a:p>
          <a:p>
            <a:r>
              <a:rPr lang="en-US" altLang="ko-KR" sz="1200" dirty="0"/>
              <a:t>Same with Punch </a:t>
            </a:r>
            <a:r>
              <a:rPr lang="en-US" altLang="ko-KR" sz="1200" dirty="0" err="1"/>
              <a:t>Raidus</a:t>
            </a:r>
            <a:r>
              <a:rPr lang="en-US" altLang="ko-KR" sz="1200"/>
              <a:t>. </a:t>
            </a:r>
            <a:endParaRPr lang="vi-VN" altLang="ko-KR" sz="1200"/>
          </a:p>
          <a:p>
            <a:endParaRPr lang="vi-VN" altLang="ko-KR" sz="1200"/>
          </a:p>
          <a:p>
            <a:r>
              <a:rPr lang="vi-VN" altLang="ko-KR" sz="1200" b="1">
                <a:solidFill>
                  <a:schemeClr val="tx1"/>
                </a:solidFill>
              </a:rPr>
              <a:t>Please see slide 18</a:t>
            </a:r>
            <a:endParaRPr lang="en-US" altLang="ko-KR" sz="1200" b="1" dirty="0">
              <a:solidFill>
                <a:schemeClr val="tx1"/>
              </a:solidFill>
            </a:endParaRPr>
          </a:p>
        </p:txBody>
      </p:sp>
      <p:sp>
        <p:nvSpPr>
          <p:cNvPr id="22" name="TextBox 21"/>
          <p:cNvSpPr txBox="1"/>
          <p:nvPr/>
        </p:nvSpPr>
        <p:spPr>
          <a:xfrm>
            <a:off x="73152" y="69580"/>
            <a:ext cx="1778051" cy="369332"/>
          </a:xfrm>
          <a:prstGeom prst="rect">
            <a:avLst/>
          </a:prstGeom>
          <a:noFill/>
        </p:spPr>
        <p:txBody>
          <a:bodyPr wrap="none" rtlCol="0">
            <a:spAutoFit/>
          </a:bodyPr>
          <a:lstStyle/>
          <a:p>
            <a:r>
              <a:rPr lang="en-US">
                <a:latin typeface="Arial Narrow" panose="020B0606020202030204" pitchFamily="34" charset="0"/>
              </a:rPr>
              <a:t>Find</a:t>
            </a:r>
            <a:r>
              <a:rPr lang="vi-VN">
                <a:latin typeface="Arial Narrow" panose="020B0606020202030204" pitchFamily="34" charset="0"/>
              </a:rPr>
              <a:t> out</a:t>
            </a:r>
            <a:r>
              <a:rPr lang="en-US">
                <a:latin typeface="Arial Narrow" panose="020B0606020202030204" pitchFamily="34" charset="0"/>
              </a:rPr>
              <a:t> the </a:t>
            </a:r>
            <a:r>
              <a:rPr lang="vi-VN">
                <a:latin typeface="Arial Narrow" panose="020B0606020202030204" pitchFamily="34" charset="0"/>
              </a:rPr>
              <a:t>Factor</a:t>
            </a:r>
            <a:endParaRPr lang="en-US">
              <a:latin typeface="Arial Narrow" panose="020B0606020202030204" pitchFamily="34" charset="0"/>
            </a:endParaRPr>
          </a:p>
        </p:txBody>
      </p:sp>
    </p:spTree>
    <p:extLst>
      <p:ext uri="{BB962C8B-B14F-4D97-AF65-F5344CB8AC3E}">
        <p14:creationId xmlns:p14="http://schemas.microsoft.com/office/powerpoint/2010/main" val="2318004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24084" y="2069156"/>
            <a:ext cx="2796215" cy="523220"/>
          </a:xfrm>
          <a:prstGeom prst="rect">
            <a:avLst/>
          </a:prstGeom>
          <a:noFill/>
        </p:spPr>
        <p:txBody>
          <a:bodyPr wrap="none" rtlCol="0">
            <a:spAutoFit/>
          </a:bodyPr>
          <a:lstStyle/>
          <a:p>
            <a:r>
              <a:rPr lang="vi-VN" sz="2800" b="1" u="sng">
                <a:latin typeface="Arial Narrow" panose="020B0606020202030204" pitchFamily="34" charset="0"/>
              </a:rPr>
              <a:t>IV</a:t>
            </a:r>
            <a:r>
              <a:rPr lang="en-US" sz="2800" b="1" u="sng">
                <a:latin typeface="Arial Narrow" panose="020B0606020202030204" pitchFamily="34" charset="0"/>
              </a:rPr>
              <a:t>. </a:t>
            </a:r>
            <a:r>
              <a:rPr lang="vi-VN" sz="2800" b="1" u="sng">
                <a:latin typeface="Arial Narrow" panose="020B0606020202030204" pitchFamily="34" charset="0"/>
              </a:rPr>
              <a:t>IMPROVEMENT</a:t>
            </a:r>
            <a:endParaRPr lang="en-US" sz="2800" b="1" u="sng">
              <a:latin typeface="Arial Narrow" panose="020B0606020202030204" pitchFamily="34" charset="0"/>
            </a:endParaRPr>
          </a:p>
        </p:txBody>
      </p:sp>
      <p:sp>
        <p:nvSpPr>
          <p:cNvPr id="11" name="TextBox 10"/>
          <p:cNvSpPr txBox="1"/>
          <p:nvPr/>
        </p:nvSpPr>
        <p:spPr>
          <a:xfrm>
            <a:off x="3439406" y="2936530"/>
            <a:ext cx="3381054" cy="830997"/>
          </a:xfrm>
          <a:prstGeom prst="rect">
            <a:avLst/>
          </a:prstGeom>
          <a:noFill/>
        </p:spPr>
        <p:txBody>
          <a:bodyPr wrap="none" rtlCol="0">
            <a:spAutoFit/>
          </a:bodyPr>
          <a:lstStyle/>
          <a:p>
            <a:pPr marL="342900" indent="-342900">
              <a:buAutoNum type="arabicPeriod"/>
            </a:pPr>
            <a:r>
              <a:rPr lang="en-US" sz="1600" b="1">
                <a:latin typeface="Arial Narrow" panose="020B0606020202030204" pitchFamily="34" charset="0"/>
              </a:rPr>
              <a:t>Establish optimal conditions</a:t>
            </a:r>
            <a:r>
              <a:rPr lang="vi-VN" sz="1600" b="1">
                <a:latin typeface="Arial Narrow" panose="020B0606020202030204" pitchFamily="34" charset="0"/>
              </a:rPr>
              <a:t> (DOE)</a:t>
            </a:r>
          </a:p>
          <a:p>
            <a:pPr marL="285750" indent="-285750">
              <a:buFontTx/>
              <a:buChar char="-"/>
            </a:pPr>
            <a:r>
              <a:rPr lang="vi-VN" sz="1600" b="1">
                <a:latin typeface="Arial Narrow" panose="020B0606020202030204" pitchFamily="34" charset="0"/>
              </a:rPr>
              <a:t>Select the best condition by DOE</a:t>
            </a:r>
          </a:p>
          <a:p>
            <a:pPr marL="342900" indent="-342900">
              <a:buAutoNum type="arabicPeriod" startAt="2"/>
            </a:pPr>
            <a:r>
              <a:rPr lang="en-US" sz="1600" b="1">
                <a:latin typeface="Arial Narrow" panose="020B0606020202030204" pitchFamily="34" charset="0"/>
              </a:rPr>
              <a:t>Design and analysis of experiments</a:t>
            </a:r>
            <a:endParaRPr lang="en-US" sz="1400" b="1">
              <a:latin typeface="Arial Narrow" panose="020B0606020202030204" pitchFamily="34" charset="0"/>
            </a:endParaRPr>
          </a:p>
        </p:txBody>
      </p:sp>
    </p:spTree>
    <p:extLst>
      <p:ext uri="{BB962C8B-B14F-4D97-AF65-F5344CB8AC3E}">
        <p14:creationId xmlns:p14="http://schemas.microsoft.com/office/powerpoint/2010/main" val="2127306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그룹 2"/>
          <p:cNvGrpSpPr/>
          <p:nvPr/>
        </p:nvGrpSpPr>
        <p:grpSpPr>
          <a:xfrm>
            <a:off x="7373344" y="38312"/>
            <a:ext cx="2457706" cy="325586"/>
            <a:chOff x="7368119" y="116689"/>
            <a:chExt cx="2457706" cy="325586"/>
          </a:xfrm>
        </p:grpSpPr>
        <p:sp>
          <p:nvSpPr>
            <p:cNvPr id="7" name="AutoShape 5"/>
            <p:cNvSpPr>
              <a:spLocks noChangeArrowheads="1"/>
            </p:cNvSpPr>
            <p:nvPr/>
          </p:nvSpPr>
          <p:spPr bwMode="auto">
            <a:xfrm>
              <a:off x="7368119" y="118425"/>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8"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9" name="AutoShape 7"/>
            <p:cNvSpPr>
              <a:spLocks noChangeArrowheads="1"/>
            </p:cNvSpPr>
            <p:nvPr/>
          </p:nvSpPr>
          <p:spPr bwMode="auto">
            <a:xfrm>
              <a:off x="8281257"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0" name="AutoShape 8"/>
            <p:cNvSpPr>
              <a:spLocks noChangeArrowheads="1"/>
            </p:cNvSpPr>
            <p:nvPr/>
          </p:nvSpPr>
          <p:spPr bwMode="auto">
            <a:xfrm>
              <a:off x="8701766" y="118425"/>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12" name="AutoShape 4"/>
            <p:cNvSpPr>
              <a:spLocks noChangeArrowheads="1"/>
            </p:cNvSpPr>
            <p:nvPr/>
          </p:nvSpPr>
          <p:spPr bwMode="auto">
            <a:xfrm>
              <a:off x="7846908" y="118425"/>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29" name="TextBox 28"/>
          <p:cNvSpPr txBox="1"/>
          <p:nvPr/>
        </p:nvSpPr>
        <p:spPr>
          <a:xfrm>
            <a:off x="73152" y="69580"/>
            <a:ext cx="3113353" cy="369332"/>
          </a:xfrm>
          <a:prstGeom prst="rect">
            <a:avLst/>
          </a:prstGeom>
          <a:noFill/>
        </p:spPr>
        <p:txBody>
          <a:bodyPr wrap="none" rtlCol="0">
            <a:spAutoFit/>
          </a:bodyPr>
          <a:lstStyle/>
          <a:p>
            <a:r>
              <a:rPr lang="en-US">
                <a:latin typeface="Arial Narrow" panose="020B0606020202030204" pitchFamily="34" charset="0"/>
              </a:rPr>
              <a:t>Establish optimal conditions</a:t>
            </a:r>
            <a:r>
              <a:rPr lang="vi-VN">
                <a:latin typeface="Arial Narrow" panose="020B0606020202030204" pitchFamily="34" charset="0"/>
              </a:rPr>
              <a:t> (DOE)</a:t>
            </a:r>
          </a:p>
        </p:txBody>
      </p:sp>
      <p:sp>
        <p:nvSpPr>
          <p:cNvPr id="14" name="AutoShape 45"/>
          <p:cNvSpPr>
            <a:spLocks noChangeArrowheads="1"/>
          </p:cNvSpPr>
          <p:nvPr/>
        </p:nvSpPr>
        <p:spPr bwMode="auto">
          <a:xfrm>
            <a:off x="346730" y="3019377"/>
            <a:ext cx="1196975" cy="303243"/>
          </a:xfrm>
          <a:prstGeom prst="roundRect">
            <a:avLst>
              <a:gd name="adj" fmla="val 6426"/>
            </a:avLst>
          </a:prstGeom>
          <a:solidFill>
            <a:srgbClr val="FFFFFF"/>
          </a:solidFill>
          <a:ln w="9525" algn="ctr">
            <a:solidFill>
              <a:schemeClr val="bg2"/>
            </a:solidFill>
            <a:round/>
            <a:headEnd/>
            <a:tailEnd/>
          </a:ln>
          <a:effectLst>
            <a:outerShdw dist="53882" dir="2700000" sx="90000" sy="90000" algn="ctr" rotWithShape="0">
              <a:schemeClr val="bg1">
                <a:lumMod val="95000"/>
                <a:alpha val="87000"/>
              </a:schemeClr>
            </a:outerShdw>
          </a:effectLst>
        </p:spPr>
        <p:txBody>
          <a:bodyPr lIns="57600" tIns="0" rIns="57600" bIns="0" anchor="ctr"/>
          <a:lstStyle>
            <a:lvl1pPr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3200">
                <a:solidFill>
                  <a:srgbClr val="000000"/>
                </a:solidFill>
                <a:latin typeface="굴림" panose="020B0600000101010101" pitchFamily="50" charset="-127"/>
                <a:ea typeface="굴림" panose="020B0600000101010101" pitchFamily="50" charset="-127"/>
              </a:defRPr>
            </a:lvl1pPr>
            <a:lvl2pPr marL="742950" indent="-285750"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800">
                <a:solidFill>
                  <a:srgbClr val="000000"/>
                </a:solidFill>
                <a:latin typeface="굴림" panose="020B0600000101010101" pitchFamily="50" charset="-127"/>
                <a:ea typeface="굴림" panose="020B0600000101010101" pitchFamily="50" charset="-127"/>
              </a:defRPr>
            </a:lvl2pPr>
            <a:lvl3pPr marL="1143000" indent="-228600"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400">
                <a:solidFill>
                  <a:srgbClr val="000000"/>
                </a:solidFill>
                <a:latin typeface="굴림" panose="020B0600000101010101" pitchFamily="50" charset="-127"/>
                <a:ea typeface="굴림" panose="020B0600000101010101" pitchFamily="50" charset="-127"/>
              </a:defRPr>
            </a:lvl3pPr>
            <a:lvl4pPr marL="1600200" indent="-228600"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4pPr>
            <a:lvl5pPr marL="2057400" indent="-228600"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5pPr>
            <a:lvl6pPr marL="2514600" indent="-228600" defTabSz="762000" eaLnBrk="0" fontAlgn="base" hangingPunct="0">
              <a:spcBef>
                <a:spcPct val="20000"/>
              </a:spcBef>
              <a:spcAft>
                <a:spcPct val="0"/>
              </a:spcAft>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6pPr>
            <a:lvl7pPr marL="2971800" indent="-228600" defTabSz="762000" eaLnBrk="0" fontAlgn="base" hangingPunct="0">
              <a:spcBef>
                <a:spcPct val="20000"/>
              </a:spcBef>
              <a:spcAft>
                <a:spcPct val="0"/>
              </a:spcAft>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7pPr>
            <a:lvl8pPr marL="3429000" indent="-228600" defTabSz="762000" eaLnBrk="0" fontAlgn="base" hangingPunct="0">
              <a:spcBef>
                <a:spcPct val="20000"/>
              </a:spcBef>
              <a:spcAft>
                <a:spcPct val="0"/>
              </a:spcAft>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8pPr>
            <a:lvl9pPr marL="3886200" indent="-228600" defTabSz="762000" eaLnBrk="0" fontAlgn="base" hangingPunct="0">
              <a:spcBef>
                <a:spcPct val="20000"/>
              </a:spcBef>
              <a:spcAft>
                <a:spcPct val="0"/>
              </a:spcAft>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9pPr>
          </a:lstStyle>
          <a:p>
            <a:pPr algn="ctr">
              <a:lnSpc>
                <a:spcPct val="120000"/>
              </a:lnSpc>
              <a:spcBef>
                <a:spcPct val="0"/>
              </a:spcBef>
              <a:buFontTx/>
              <a:buNone/>
            </a:pPr>
            <a:r>
              <a:rPr lang="vi-VN" altLang="ko-KR" sz="1400" b="1">
                <a:latin typeface="Arial Narrow" panose="020B0606020202030204" pitchFamily="34" charset="0"/>
                <a:ea typeface="LG스마트체 Regular" panose="020B0600000101010101" pitchFamily="50" charset="-127"/>
              </a:rPr>
              <a:t>Punch Radius</a:t>
            </a:r>
            <a:endParaRPr lang="en-US" altLang="ko-KR" sz="1400" b="1">
              <a:latin typeface="Arial Narrow" panose="020B0606020202030204" pitchFamily="34" charset="0"/>
              <a:ea typeface="LG스마트체 Regular" panose="020B0600000101010101" pitchFamily="50" charset="-127"/>
            </a:endParaRPr>
          </a:p>
        </p:txBody>
      </p:sp>
      <p:sp>
        <p:nvSpPr>
          <p:cNvPr id="20" name="AutoShape 45"/>
          <p:cNvSpPr>
            <a:spLocks noChangeArrowheads="1"/>
          </p:cNvSpPr>
          <p:nvPr/>
        </p:nvSpPr>
        <p:spPr bwMode="auto">
          <a:xfrm>
            <a:off x="367801" y="2043291"/>
            <a:ext cx="1196975" cy="302382"/>
          </a:xfrm>
          <a:prstGeom prst="roundRect">
            <a:avLst>
              <a:gd name="adj" fmla="val 6426"/>
            </a:avLst>
          </a:prstGeom>
          <a:solidFill>
            <a:srgbClr val="FFFFFF"/>
          </a:solidFill>
          <a:ln w="9525" algn="ctr">
            <a:solidFill>
              <a:schemeClr val="bg2"/>
            </a:solidFill>
            <a:round/>
            <a:headEnd/>
            <a:tailEnd/>
          </a:ln>
          <a:effectLst>
            <a:outerShdw dist="53882" dir="2700000" sx="90000" sy="90000" algn="ctr" rotWithShape="0">
              <a:schemeClr val="bg1">
                <a:lumMod val="95000"/>
                <a:alpha val="87000"/>
              </a:schemeClr>
            </a:outerShdw>
          </a:effectLst>
        </p:spPr>
        <p:txBody>
          <a:bodyPr lIns="57600" tIns="0" rIns="57600" bIns="0" anchor="ctr"/>
          <a:lstStyle>
            <a:lvl1pPr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3200">
                <a:solidFill>
                  <a:srgbClr val="000000"/>
                </a:solidFill>
                <a:latin typeface="굴림" panose="020B0600000101010101" pitchFamily="50" charset="-127"/>
                <a:ea typeface="굴림" panose="020B0600000101010101" pitchFamily="50" charset="-127"/>
              </a:defRPr>
            </a:lvl1pPr>
            <a:lvl2pPr marL="742950" indent="-285750"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800">
                <a:solidFill>
                  <a:srgbClr val="000000"/>
                </a:solidFill>
                <a:latin typeface="굴림" panose="020B0600000101010101" pitchFamily="50" charset="-127"/>
                <a:ea typeface="굴림" panose="020B0600000101010101" pitchFamily="50" charset="-127"/>
              </a:defRPr>
            </a:lvl2pPr>
            <a:lvl3pPr marL="1143000" indent="-228600"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400">
                <a:solidFill>
                  <a:srgbClr val="000000"/>
                </a:solidFill>
                <a:latin typeface="굴림" panose="020B0600000101010101" pitchFamily="50" charset="-127"/>
                <a:ea typeface="굴림" panose="020B0600000101010101" pitchFamily="50" charset="-127"/>
              </a:defRPr>
            </a:lvl3pPr>
            <a:lvl4pPr marL="1600200" indent="-228600"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4pPr>
            <a:lvl5pPr marL="2057400" indent="-228600" defTabSz="762000" eaLnBrk="0" hangingPunct="0">
              <a:spcBef>
                <a:spcPct val="20000"/>
              </a:spcBef>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5pPr>
            <a:lvl6pPr marL="2514600" indent="-228600" defTabSz="762000" eaLnBrk="0" fontAlgn="base" hangingPunct="0">
              <a:spcBef>
                <a:spcPct val="20000"/>
              </a:spcBef>
              <a:spcAft>
                <a:spcPct val="0"/>
              </a:spcAft>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6pPr>
            <a:lvl7pPr marL="2971800" indent="-228600" defTabSz="762000" eaLnBrk="0" fontAlgn="base" hangingPunct="0">
              <a:spcBef>
                <a:spcPct val="20000"/>
              </a:spcBef>
              <a:spcAft>
                <a:spcPct val="0"/>
              </a:spcAft>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7pPr>
            <a:lvl8pPr marL="3429000" indent="-228600" defTabSz="762000" eaLnBrk="0" fontAlgn="base" hangingPunct="0">
              <a:spcBef>
                <a:spcPct val="20000"/>
              </a:spcBef>
              <a:spcAft>
                <a:spcPct val="0"/>
              </a:spcAft>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8pPr>
            <a:lvl9pPr marL="3886200" indent="-228600" defTabSz="762000" eaLnBrk="0" fontAlgn="base" hangingPunct="0">
              <a:spcBef>
                <a:spcPct val="20000"/>
              </a:spcBef>
              <a:spcAft>
                <a:spcPct val="0"/>
              </a:spcAft>
              <a:buChar char="»"/>
              <a:tabLst>
                <a:tab pos="508000" algn="l"/>
                <a:tab pos="1016000" algn="l"/>
                <a:tab pos="1524000" algn="l"/>
                <a:tab pos="2032000" algn="l"/>
                <a:tab pos="2540000" algn="l"/>
                <a:tab pos="3048000" algn="l"/>
                <a:tab pos="3556000" algn="l"/>
                <a:tab pos="4064000" algn="l"/>
                <a:tab pos="4572000" algn="l"/>
                <a:tab pos="5080000" algn="l"/>
                <a:tab pos="5588000" algn="l"/>
                <a:tab pos="6096000" algn="l"/>
                <a:tab pos="6604000" algn="l"/>
                <a:tab pos="7112000" algn="l"/>
                <a:tab pos="7620000" algn="l"/>
                <a:tab pos="8128000" algn="l"/>
                <a:tab pos="8636000" algn="l"/>
                <a:tab pos="9144000" algn="l"/>
                <a:tab pos="9652000" algn="l"/>
                <a:tab pos="10160000" algn="l"/>
                <a:tab pos="10668000" algn="l"/>
                <a:tab pos="11176000" algn="l"/>
                <a:tab pos="11684000" algn="l"/>
                <a:tab pos="12192000" algn="l"/>
                <a:tab pos="12700000" algn="l"/>
                <a:tab pos="13208000" algn="l"/>
                <a:tab pos="13716000" algn="l"/>
                <a:tab pos="14224000" algn="l"/>
                <a:tab pos="14732000" algn="l"/>
                <a:tab pos="15240000" algn="l"/>
                <a:tab pos="15748000" algn="l"/>
              </a:tabLst>
              <a:defRPr kumimoji="1" sz="2000">
                <a:solidFill>
                  <a:srgbClr val="000000"/>
                </a:solidFill>
                <a:latin typeface="굴림" panose="020B0600000101010101" pitchFamily="50" charset="-127"/>
                <a:ea typeface="굴림" panose="020B0600000101010101" pitchFamily="50" charset="-127"/>
              </a:defRPr>
            </a:lvl9pPr>
          </a:lstStyle>
          <a:p>
            <a:pPr algn="ctr">
              <a:lnSpc>
                <a:spcPct val="120000"/>
              </a:lnSpc>
              <a:spcBef>
                <a:spcPct val="0"/>
              </a:spcBef>
              <a:buFontTx/>
              <a:buNone/>
            </a:pPr>
            <a:r>
              <a:rPr lang="vi-VN" altLang="ko-KR" sz="1400" b="1">
                <a:latin typeface="Arial Narrow" panose="020B0606020202030204" pitchFamily="34" charset="0"/>
                <a:ea typeface="LG스마트체 Regular" panose="020B0600000101010101" pitchFamily="50" charset="-127"/>
              </a:rPr>
              <a:t>Punch Height</a:t>
            </a:r>
            <a:endParaRPr lang="en-US" altLang="ko-KR" sz="1400" b="1">
              <a:latin typeface="Arial Narrow" panose="020B0606020202030204" pitchFamily="34" charset="0"/>
              <a:ea typeface="LG스마트체 Regular" panose="020B0600000101010101" pitchFamily="50" charset="-127"/>
            </a:endParaRPr>
          </a:p>
        </p:txBody>
      </p:sp>
      <p:sp>
        <p:nvSpPr>
          <p:cNvPr id="21" name="AutoShape 45"/>
          <p:cNvSpPr>
            <a:spLocks noChangeArrowheads="1"/>
          </p:cNvSpPr>
          <p:nvPr/>
        </p:nvSpPr>
        <p:spPr bwMode="auto">
          <a:xfrm>
            <a:off x="2114556" y="2936178"/>
            <a:ext cx="1803813" cy="558800"/>
          </a:xfrm>
          <a:prstGeom prst="roundRect">
            <a:avLst>
              <a:gd name="adj" fmla="val 8556"/>
            </a:avLst>
          </a:prstGeom>
          <a:solidFill>
            <a:srgbClr val="FFFFFF"/>
          </a:solidFill>
          <a:ln w="9525" algn="ctr">
            <a:solidFill>
              <a:schemeClr val="bg2"/>
            </a:solidFill>
            <a:round/>
            <a:headEnd/>
            <a:tailEnd/>
          </a:ln>
          <a:effectLst>
            <a:outerShdw dist="53882" dir="2700000" sx="90000" sy="90000" algn="ctr" rotWithShape="0">
              <a:schemeClr val="bg1">
                <a:lumMod val="95000"/>
                <a:alpha val="87000"/>
              </a:schemeClr>
            </a:outerShdw>
          </a:effectLst>
        </p:spPr>
        <p:txBody>
          <a:bodyPr lIns="57600" tIns="0" rIns="57600" bIns="0" anchor="ctr"/>
          <a:lstStyle/>
          <a:p>
            <a:pPr algn="ctr" defTabSz="762000" eaLnBrk="1" hangingPunct="1">
              <a:lnSpc>
                <a:spcPct val="120000"/>
              </a:lnSpc>
            </a:pPr>
            <a:r>
              <a:rPr lang="en-US" altLang="ko-KR" sz="1200" b="1">
                <a:latin typeface="Arial Narrow" panose="020B0606020202030204" pitchFamily="34" charset="0"/>
                <a:ea typeface="LG스마트체 Regular" panose="020B0600000101010101" pitchFamily="50" charset="-127"/>
              </a:rPr>
              <a:t>Level</a:t>
            </a:r>
            <a:r>
              <a:rPr lang="vi-VN" altLang="ko-KR" sz="1200" b="1">
                <a:latin typeface="Arial Narrow" panose="020B0606020202030204" pitchFamily="34" charset="0"/>
                <a:ea typeface="LG스마트체 Regular" panose="020B0600000101010101" pitchFamily="50" charset="-127"/>
              </a:rPr>
              <a:t> </a:t>
            </a:r>
            <a:r>
              <a:rPr lang="en-US" altLang="ko-KR" sz="1200" b="1">
                <a:latin typeface="Arial Narrow" panose="020B0606020202030204" pitchFamily="34" charset="0"/>
                <a:ea typeface="LG스마트체 Regular" panose="020B0600000101010101" pitchFamily="50" charset="-127"/>
              </a:rPr>
              <a:t>1 : </a:t>
            </a:r>
            <a:r>
              <a:rPr lang="vi-VN" altLang="ko-KR" sz="1200" b="1">
                <a:latin typeface="Arial Narrow" panose="020B0606020202030204" pitchFamily="34" charset="0"/>
                <a:ea typeface="LG스마트체 Regular" panose="020B0600000101010101" pitchFamily="50" charset="-127"/>
              </a:rPr>
              <a:t>5.5</a:t>
            </a:r>
          </a:p>
          <a:p>
            <a:pPr algn="ctr" defTabSz="762000" eaLnBrk="1" hangingPunct="1">
              <a:lnSpc>
                <a:spcPct val="120000"/>
              </a:lnSpc>
            </a:pPr>
            <a:r>
              <a:rPr lang="en-US" altLang="ko-KR" sz="1200" b="1">
                <a:latin typeface="Arial Narrow" panose="020B0606020202030204" pitchFamily="34" charset="0"/>
                <a:ea typeface="LG스마트체 Regular" panose="020B0600000101010101" pitchFamily="50" charset="-127"/>
              </a:rPr>
              <a:t>Level</a:t>
            </a:r>
            <a:r>
              <a:rPr lang="vi-VN" altLang="ko-KR" sz="1200" b="1">
                <a:latin typeface="Arial Narrow" panose="020B0606020202030204" pitchFamily="34" charset="0"/>
                <a:ea typeface="LG스마트체 Regular" panose="020B0600000101010101" pitchFamily="50" charset="-127"/>
              </a:rPr>
              <a:t> </a:t>
            </a:r>
            <a:r>
              <a:rPr lang="en-US" altLang="ko-KR" sz="1200" b="1">
                <a:latin typeface="Arial Narrow" panose="020B0606020202030204" pitchFamily="34" charset="0"/>
                <a:ea typeface="LG스마트체 Regular" panose="020B0600000101010101" pitchFamily="50" charset="-127"/>
              </a:rPr>
              <a:t>2 : </a:t>
            </a:r>
            <a:r>
              <a:rPr lang="vi-VN" altLang="ko-KR" sz="1200" b="1">
                <a:latin typeface="Arial Narrow" panose="020B0606020202030204" pitchFamily="34" charset="0"/>
                <a:ea typeface="LG스마트체 Regular" panose="020B0600000101010101" pitchFamily="50" charset="-127"/>
              </a:rPr>
              <a:t>6</a:t>
            </a:r>
            <a:endParaRPr lang="ko-KR" altLang="en-US" sz="1200" b="1">
              <a:latin typeface="Arial Narrow" panose="020B0606020202030204" pitchFamily="34" charset="0"/>
              <a:ea typeface="LG스마트체 Regular" panose="020B0600000101010101" pitchFamily="50" charset="-127"/>
            </a:endParaRPr>
          </a:p>
        </p:txBody>
      </p:sp>
      <p:sp>
        <p:nvSpPr>
          <p:cNvPr id="22" name="AutoShape 45"/>
          <p:cNvSpPr>
            <a:spLocks noChangeArrowheads="1"/>
          </p:cNvSpPr>
          <p:nvPr/>
        </p:nvSpPr>
        <p:spPr bwMode="auto">
          <a:xfrm>
            <a:off x="2135627" y="1960091"/>
            <a:ext cx="1803813" cy="557213"/>
          </a:xfrm>
          <a:prstGeom prst="roundRect">
            <a:avLst>
              <a:gd name="adj" fmla="val 8556"/>
            </a:avLst>
          </a:prstGeom>
          <a:solidFill>
            <a:srgbClr val="FFFFFF"/>
          </a:solidFill>
          <a:ln w="9525" algn="ctr">
            <a:solidFill>
              <a:schemeClr val="bg2"/>
            </a:solidFill>
            <a:round/>
            <a:headEnd/>
            <a:tailEnd/>
          </a:ln>
          <a:effectLst>
            <a:outerShdw dist="53882" dir="2700000" sx="90000" sy="90000" algn="ctr" rotWithShape="0">
              <a:schemeClr val="bg1">
                <a:lumMod val="95000"/>
                <a:alpha val="87000"/>
              </a:schemeClr>
            </a:outerShdw>
          </a:effectLst>
        </p:spPr>
        <p:txBody>
          <a:bodyPr lIns="57600" tIns="0" rIns="57600" bIns="0" anchor="ctr"/>
          <a:lstStyle/>
          <a:p>
            <a:pPr algn="ctr">
              <a:lnSpc>
                <a:spcPct val="120000"/>
              </a:lnSpc>
              <a:spcBef>
                <a:spcPct val="0"/>
              </a:spcBef>
            </a:pPr>
            <a:r>
              <a:rPr lang="en-US" altLang="ko-KR" sz="1200" b="1">
                <a:latin typeface="Arial Narrow" panose="020B0606020202030204" pitchFamily="34" charset="0"/>
                <a:ea typeface="LG스마트체 Regular" panose="020B0600000101010101" pitchFamily="50" charset="-127"/>
              </a:rPr>
              <a:t>Level</a:t>
            </a:r>
            <a:r>
              <a:rPr lang="vi-VN" altLang="ko-KR" sz="1200" b="1">
                <a:latin typeface="Arial Narrow" panose="020B0606020202030204" pitchFamily="34" charset="0"/>
                <a:ea typeface="LG스마트체 Regular" panose="020B0600000101010101" pitchFamily="50" charset="-127"/>
              </a:rPr>
              <a:t> </a:t>
            </a:r>
            <a:r>
              <a:rPr lang="en-US" altLang="ko-KR" sz="1200" b="1">
                <a:latin typeface="Arial Narrow" panose="020B0606020202030204" pitchFamily="34" charset="0"/>
                <a:ea typeface="LG스마트체 Regular" panose="020B0600000101010101" pitchFamily="50" charset="-127"/>
              </a:rPr>
              <a:t>1 : </a:t>
            </a:r>
            <a:r>
              <a:rPr lang="vi-VN" altLang="ko-KR" sz="1200" b="1">
                <a:latin typeface="Arial Narrow" panose="020B0606020202030204" pitchFamily="34" charset="0"/>
                <a:ea typeface="LG스마트체 Regular" panose="020B0600000101010101" pitchFamily="50" charset="-127"/>
              </a:rPr>
              <a:t>6.4</a:t>
            </a:r>
          </a:p>
          <a:p>
            <a:pPr algn="ctr">
              <a:lnSpc>
                <a:spcPct val="120000"/>
              </a:lnSpc>
              <a:spcBef>
                <a:spcPct val="0"/>
              </a:spcBef>
            </a:pPr>
            <a:r>
              <a:rPr lang="en-US" altLang="ko-KR" sz="1200" b="1">
                <a:latin typeface="Arial Narrow" panose="020B0606020202030204" pitchFamily="34" charset="0"/>
                <a:ea typeface="LG스마트체 Regular" panose="020B0600000101010101" pitchFamily="50" charset="-127"/>
              </a:rPr>
              <a:t>Level</a:t>
            </a:r>
            <a:r>
              <a:rPr lang="vi-VN" altLang="ko-KR" sz="1200" b="1">
                <a:latin typeface="Arial Narrow" panose="020B0606020202030204" pitchFamily="34" charset="0"/>
                <a:ea typeface="LG스마트체 Regular" panose="020B0600000101010101" pitchFamily="50" charset="-127"/>
              </a:rPr>
              <a:t> </a:t>
            </a:r>
            <a:r>
              <a:rPr lang="en-US" altLang="ko-KR" sz="1200" b="1">
                <a:latin typeface="Arial Narrow" panose="020B0606020202030204" pitchFamily="34" charset="0"/>
                <a:ea typeface="LG스마트체 Regular" panose="020B0600000101010101" pitchFamily="50" charset="-127"/>
              </a:rPr>
              <a:t>2 : </a:t>
            </a:r>
            <a:r>
              <a:rPr lang="vi-VN" altLang="ko-KR" sz="1200" b="1">
                <a:latin typeface="Arial Narrow" panose="020B0606020202030204" pitchFamily="34" charset="0"/>
                <a:ea typeface="LG스마트체 Regular" panose="020B0600000101010101" pitchFamily="50" charset="-127"/>
              </a:rPr>
              <a:t>6.8</a:t>
            </a:r>
            <a:endParaRPr lang="ko-KR" altLang="en-US" sz="1200" b="1">
              <a:latin typeface="Arial Narrow" panose="020B0606020202030204" pitchFamily="34" charset="0"/>
              <a:ea typeface="LG스마트체 Regular" panose="020B0600000101010101" pitchFamily="50" charset="-127"/>
            </a:endParaRPr>
          </a:p>
        </p:txBody>
      </p:sp>
      <p:sp>
        <p:nvSpPr>
          <p:cNvPr id="23" name="오각형 1"/>
          <p:cNvSpPr/>
          <p:nvPr/>
        </p:nvSpPr>
        <p:spPr>
          <a:xfrm rot="5400000">
            <a:off x="570832" y="930072"/>
            <a:ext cx="671556" cy="1308239"/>
          </a:xfrm>
          <a:prstGeom prst="homePlate">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오각형 27"/>
          <p:cNvSpPr/>
          <p:nvPr/>
        </p:nvSpPr>
        <p:spPr>
          <a:xfrm rot="5400000">
            <a:off x="2664650" y="697515"/>
            <a:ext cx="672361" cy="1772549"/>
          </a:xfrm>
          <a:prstGeom prst="homePlate">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p:cNvSpPr txBox="1"/>
          <p:nvPr/>
        </p:nvSpPr>
        <p:spPr>
          <a:xfrm>
            <a:off x="632914" y="1344913"/>
            <a:ext cx="718704" cy="276999"/>
          </a:xfrm>
          <a:prstGeom prst="rect">
            <a:avLst/>
          </a:prstGeom>
          <a:noFill/>
        </p:spPr>
        <p:txBody>
          <a:bodyPr wrap="square" rtlCol="0">
            <a:spAutoFit/>
          </a:bodyPr>
          <a:lstStyle/>
          <a:p>
            <a:r>
              <a:rPr lang="en-US" altLang="ko-KR" sz="1200" b="1">
                <a:latin typeface="Arial Narrow" panose="020B0606020202030204" pitchFamily="34" charset="0"/>
                <a:ea typeface="LG스마트체2.0 Regular" panose="020B0600000101010101" pitchFamily="50" charset="-127"/>
              </a:rPr>
              <a:t>Factor</a:t>
            </a:r>
            <a:endParaRPr lang="ko-KR" altLang="en-US" sz="1200" b="1">
              <a:latin typeface="Arial Narrow" panose="020B0606020202030204" pitchFamily="34" charset="0"/>
              <a:ea typeface="LG스마트체2.0 Regular" panose="020B0600000101010101" pitchFamily="50" charset="-127"/>
            </a:endParaRPr>
          </a:p>
        </p:txBody>
      </p:sp>
      <p:sp>
        <p:nvSpPr>
          <p:cNvPr id="26" name="TextBox 25"/>
          <p:cNvSpPr txBox="1"/>
          <p:nvPr/>
        </p:nvSpPr>
        <p:spPr>
          <a:xfrm>
            <a:off x="2743971" y="1350443"/>
            <a:ext cx="1095655" cy="276999"/>
          </a:xfrm>
          <a:prstGeom prst="rect">
            <a:avLst/>
          </a:prstGeom>
          <a:noFill/>
        </p:spPr>
        <p:txBody>
          <a:bodyPr wrap="square" rtlCol="0">
            <a:spAutoFit/>
          </a:bodyPr>
          <a:lstStyle/>
          <a:p>
            <a:r>
              <a:rPr lang="en-US" altLang="ko-KR" sz="1200" b="1">
                <a:latin typeface="Arial Narrow" panose="020B0606020202030204" pitchFamily="34" charset="0"/>
                <a:ea typeface="LG스마트체2.0 Regular" panose="020B0600000101010101" pitchFamily="50" charset="-127"/>
              </a:rPr>
              <a:t>Level</a:t>
            </a:r>
            <a:endParaRPr lang="ko-KR" altLang="en-US" sz="1200" b="1">
              <a:latin typeface="Arial Narrow" panose="020B0606020202030204" pitchFamily="34" charset="0"/>
              <a:ea typeface="LG스마트체2.0 Regular" panose="020B0600000101010101" pitchFamily="50" charset="-127"/>
            </a:endParaRPr>
          </a:p>
        </p:txBody>
      </p:sp>
      <p:cxnSp>
        <p:nvCxnSpPr>
          <p:cNvPr id="27" name="직선 연결선 32"/>
          <p:cNvCxnSpPr/>
          <p:nvPr/>
        </p:nvCxnSpPr>
        <p:spPr>
          <a:xfrm>
            <a:off x="1812821" y="1247609"/>
            <a:ext cx="0" cy="2247369"/>
          </a:xfrm>
          <a:prstGeom prst="line">
            <a:avLst/>
          </a:prstGeom>
          <a:ln w="6350">
            <a:solidFill>
              <a:schemeClr val="bg1">
                <a:lumMod val="50000"/>
              </a:schemeClr>
            </a:solidFill>
            <a:prstDash val="dashDot"/>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210079" y="512763"/>
            <a:ext cx="8979187" cy="338554"/>
          </a:xfrm>
          <a:prstGeom prst="rect">
            <a:avLst/>
          </a:prstGeom>
        </p:spPr>
        <p:txBody>
          <a:bodyPr wrap="square">
            <a:spAutoFit/>
          </a:bodyPr>
          <a:lstStyle/>
          <a:p>
            <a:r>
              <a:rPr lang="en-US" altLang="ko-KR" sz="1600" b="1">
                <a:solidFill>
                  <a:srgbClr val="00B050"/>
                </a:solidFill>
                <a:latin typeface="Arial Narrow" panose="020B0606020202030204" pitchFamily="34" charset="0"/>
                <a:ea typeface="LG스마트체 Regular" panose="020B0600000101010101" pitchFamily="50" charset="-127"/>
              </a:rPr>
              <a:t>※</a:t>
            </a:r>
            <a:r>
              <a:rPr lang="en-US" altLang="ko-KR" sz="1600">
                <a:solidFill>
                  <a:srgbClr val="00B050"/>
                </a:solidFill>
                <a:latin typeface="Arial Narrow" panose="020B0606020202030204" pitchFamily="34" charset="0"/>
                <a:ea typeface="LG스마트체 Regular" panose="020B0600000101010101" pitchFamily="50" charset="-127"/>
              </a:rPr>
              <a:t> </a:t>
            </a:r>
            <a:r>
              <a:rPr lang="vi-VN" altLang="ko-KR" sz="1600">
                <a:solidFill>
                  <a:srgbClr val="00B050"/>
                </a:solidFill>
                <a:latin typeface="Arial Narrow" panose="020B0606020202030204" pitchFamily="34" charset="0"/>
                <a:ea typeface="LG스마트체 Regular" panose="020B0600000101010101" pitchFamily="50" charset="-127"/>
              </a:rPr>
              <a:t> </a:t>
            </a:r>
            <a:r>
              <a:rPr lang="en-US" sz="1600">
                <a:latin typeface="Arial Narrow" panose="020B0606020202030204" pitchFamily="34" charset="0"/>
              </a:rPr>
              <a:t>Select </a:t>
            </a:r>
            <a:r>
              <a:rPr lang="vi-VN" sz="1600">
                <a:latin typeface="Arial Narrow" panose="020B0606020202030204" pitchFamily="34" charset="0"/>
              </a:rPr>
              <a:t>two</a:t>
            </a:r>
            <a:r>
              <a:rPr lang="en-US" sz="1600">
                <a:latin typeface="Arial Narrow" panose="020B0606020202030204" pitchFamily="34" charset="0"/>
              </a:rPr>
              <a:t> major factors and use a full factorial design with </a:t>
            </a:r>
            <a:r>
              <a:rPr lang="vi-VN" sz="1600">
                <a:latin typeface="Arial Narrow" panose="020B0606020202030204" pitchFamily="34" charset="0"/>
              </a:rPr>
              <a:t>2</a:t>
            </a:r>
            <a:r>
              <a:rPr lang="en-US" sz="1600">
                <a:latin typeface="Arial Narrow" panose="020B0606020202030204" pitchFamily="34" charset="0"/>
              </a:rPr>
              <a:t> factors and 2 levels to confirm the optimal conditions.</a:t>
            </a:r>
          </a:p>
        </p:txBody>
      </p:sp>
      <p:cxnSp>
        <p:nvCxnSpPr>
          <p:cNvPr id="5" name="직선 화살표 연결선 4">
            <a:extLst>
              <a:ext uri="{FF2B5EF4-FFF2-40B4-BE49-F238E27FC236}">
                <a16:creationId xmlns:a16="http://schemas.microsoft.com/office/drawing/2014/main" id="{A0EF8381-33F5-E464-7D17-B043BE2CF109}"/>
              </a:ext>
            </a:extLst>
          </p:cNvPr>
          <p:cNvCxnSpPr>
            <a:cxnSpLocks/>
            <a:stCxn id="3" idx="3"/>
          </p:cNvCxnSpPr>
          <p:nvPr/>
        </p:nvCxnSpPr>
        <p:spPr>
          <a:xfrm flipV="1">
            <a:off x="9531835" y="6390277"/>
            <a:ext cx="1294447" cy="120534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14"/>
          <p:cNvGraphicFramePr>
            <a:graphicFrameLocks noGrp="1"/>
          </p:cNvGraphicFramePr>
          <p:nvPr>
            <p:extLst>
              <p:ext uri="{D42A27DB-BD31-4B8C-83A1-F6EECF244321}">
                <p14:modId xmlns:p14="http://schemas.microsoft.com/office/powerpoint/2010/main" val="3133136035"/>
              </p:ext>
            </p:extLst>
          </p:nvPr>
        </p:nvGraphicFramePr>
        <p:xfrm>
          <a:off x="4209910" y="1210501"/>
          <a:ext cx="5429391" cy="5253798"/>
        </p:xfrm>
        <a:graphic>
          <a:graphicData uri="http://schemas.openxmlformats.org/drawingml/2006/table">
            <a:tbl>
              <a:tblPr>
                <a:tableStyleId>{5C22544A-7EE6-4342-B048-85BDC9FD1C3A}</a:tableStyleId>
              </a:tblPr>
              <a:tblGrid>
                <a:gridCol w="759798">
                  <a:extLst>
                    <a:ext uri="{9D8B030D-6E8A-4147-A177-3AD203B41FA5}">
                      <a16:colId xmlns:a16="http://schemas.microsoft.com/office/drawing/2014/main" val="20000"/>
                    </a:ext>
                  </a:extLst>
                </a:gridCol>
                <a:gridCol w="870603">
                  <a:extLst>
                    <a:ext uri="{9D8B030D-6E8A-4147-A177-3AD203B41FA5}">
                      <a16:colId xmlns:a16="http://schemas.microsoft.com/office/drawing/2014/main" val="20001"/>
                    </a:ext>
                  </a:extLst>
                </a:gridCol>
                <a:gridCol w="759798">
                  <a:extLst>
                    <a:ext uri="{9D8B030D-6E8A-4147-A177-3AD203B41FA5}">
                      <a16:colId xmlns:a16="http://schemas.microsoft.com/office/drawing/2014/main" val="20002"/>
                    </a:ext>
                  </a:extLst>
                </a:gridCol>
                <a:gridCol w="759798">
                  <a:extLst>
                    <a:ext uri="{9D8B030D-6E8A-4147-A177-3AD203B41FA5}">
                      <a16:colId xmlns:a16="http://schemas.microsoft.com/office/drawing/2014/main" val="20003"/>
                    </a:ext>
                  </a:extLst>
                </a:gridCol>
                <a:gridCol w="759798">
                  <a:extLst>
                    <a:ext uri="{9D8B030D-6E8A-4147-A177-3AD203B41FA5}">
                      <a16:colId xmlns:a16="http://schemas.microsoft.com/office/drawing/2014/main" val="20004"/>
                    </a:ext>
                  </a:extLst>
                </a:gridCol>
                <a:gridCol w="759798">
                  <a:extLst>
                    <a:ext uri="{9D8B030D-6E8A-4147-A177-3AD203B41FA5}">
                      <a16:colId xmlns:a16="http://schemas.microsoft.com/office/drawing/2014/main" val="20005"/>
                    </a:ext>
                  </a:extLst>
                </a:gridCol>
                <a:gridCol w="759798">
                  <a:extLst>
                    <a:ext uri="{9D8B030D-6E8A-4147-A177-3AD203B41FA5}">
                      <a16:colId xmlns:a16="http://schemas.microsoft.com/office/drawing/2014/main" val="20006"/>
                    </a:ext>
                  </a:extLst>
                </a:gridCol>
              </a:tblGrid>
              <a:tr h="477618">
                <a:tc>
                  <a:txBody>
                    <a:bodyPr/>
                    <a:lstStyle/>
                    <a:p>
                      <a:pPr algn="ctr" fontAlgn="ctr"/>
                      <a:r>
                        <a:rPr lang="en-US" sz="1000" b="1" u="none" strike="noStrike">
                          <a:effectLst/>
                          <a:latin typeface="Arial Narrow" panose="020B0606020202030204" pitchFamily="34" charset="0"/>
                        </a:rPr>
                        <a:t>StdOrder</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RunOrder</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CenterPt</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Blocks</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Punch</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Punch Radius</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Respone</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38809">
                <a:tc>
                  <a:txBody>
                    <a:bodyPr/>
                    <a:lstStyle/>
                    <a:p>
                      <a:pPr algn="ctr" fontAlgn="b"/>
                      <a:r>
                        <a:rPr lang="en-US" sz="1000" u="none" strike="noStrike">
                          <a:effectLst/>
                          <a:latin typeface="Arial Narrow" panose="020B0606020202030204" pitchFamily="34" charset="0"/>
                        </a:rPr>
                        <a:t>17</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38809">
                <a:tc>
                  <a:txBody>
                    <a:bodyPr/>
                    <a:lstStyle/>
                    <a:p>
                      <a:pPr algn="ctr" fontAlgn="b"/>
                      <a:r>
                        <a:rPr lang="en-US" sz="1000" u="none" strike="noStrike">
                          <a:effectLst/>
                          <a:latin typeface="Arial Narrow" panose="020B0606020202030204" pitchFamily="34" charset="0"/>
                        </a:rPr>
                        <a:t>12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38809">
                <a:tc>
                  <a:txBody>
                    <a:bodyPr/>
                    <a:lstStyle/>
                    <a:p>
                      <a:pPr algn="ctr" fontAlgn="b"/>
                      <a:r>
                        <a:rPr lang="en-US" sz="1000" u="none" strike="noStrike">
                          <a:effectLst/>
                          <a:latin typeface="Arial Narrow" panose="020B0606020202030204" pitchFamily="34" charset="0"/>
                        </a:rPr>
                        <a:t>19</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38809">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38809">
                <a:tc>
                  <a:txBody>
                    <a:bodyPr/>
                    <a:lstStyle/>
                    <a:p>
                      <a:pPr algn="ctr" fontAlgn="b"/>
                      <a:r>
                        <a:rPr lang="en-US" sz="1000" u="none" strike="noStrike">
                          <a:effectLst/>
                          <a:latin typeface="Arial Narrow" panose="020B0606020202030204" pitchFamily="34" charset="0"/>
                        </a:rPr>
                        <a:t>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38809">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38809">
                <a:tc>
                  <a:txBody>
                    <a:bodyPr/>
                    <a:lstStyle/>
                    <a:p>
                      <a:pPr algn="ctr" fontAlgn="b"/>
                      <a:r>
                        <a:rPr lang="en-US" sz="1000" u="none" strike="noStrike">
                          <a:effectLst/>
                          <a:latin typeface="Arial Narrow" panose="020B0606020202030204" pitchFamily="34" charset="0"/>
                        </a:rPr>
                        <a:t>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7</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38809">
                <a:tc>
                  <a:txBody>
                    <a:bodyPr/>
                    <a:lstStyle/>
                    <a:p>
                      <a:pPr algn="ctr" fontAlgn="b"/>
                      <a:r>
                        <a:rPr lang="en-US" sz="1000" u="none" strike="noStrike">
                          <a:effectLst/>
                          <a:latin typeface="Arial Narrow" panose="020B0606020202030204" pitchFamily="34" charset="0"/>
                        </a:rPr>
                        <a:t>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38809">
                <a:tc>
                  <a:txBody>
                    <a:bodyPr/>
                    <a:lstStyle/>
                    <a:p>
                      <a:pPr algn="ctr" fontAlgn="b"/>
                      <a:r>
                        <a:rPr lang="en-US" sz="1000" u="none" strike="noStrike">
                          <a:effectLst/>
                          <a:latin typeface="Arial Narrow" panose="020B0606020202030204" pitchFamily="34" charset="0"/>
                        </a:rPr>
                        <a:t>18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9</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38809">
                <a:tc>
                  <a:txBody>
                    <a:bodyPr/>
                    <a:lstStyle/>
                    <a:p>
                      <a:pPr algn="ctr" fontAlgn="b"/>
                      <a:r>
                        <a:rPr lang="en-US" sz="1000" u="none" strike="noStrike">
                          <a:effectLst/>
                          <a:latin typeface="Arial Narrow" panose="020B0606020202030204" pitchFamily="34" charset="0"/>
                        </a:rPr>
                        <a:t>16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10</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38809">
                <a:tc>
                  <a:txBody>
                    <a:bodyPr/>
                    <a:lstStyle/>
                    <a:p>
                      <a:pPr algn="ctr" fontAlgn="b"/>
                      <a:r>
                        <a:rPr lang="en-US" sz="1000" u="none" strike="noStrike">
                          <a:effectLst/>
                          <a:latin typeface="Arial Narrow" panose="020B0606020202030204" pitchFamily="34" charset="0"/>
                        </a:rPr>
                        <a:t>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38809">
                <a:tc>
                  <a:txBody>
                    <a:bodyPr/>
                    <a:lstStyle/>
                    <a:p>
                      <a:pPr algn="ctr" fontAlgn="b"/>
                      <a:r>
                        <a:rPr lang="en-US" sz="1000" u="none" strike="noStrike">
                          <a:effectLst/>
                          <a:latin typeface="Arial Narrow" panose="020B0606020202030204" pitchFamily="34" charset="0"/>
                        </a:rPr>
                        <a:t>14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38809">
                <a:tc>
                  <a:txBody>
                    <a:bodyPr/>
                    <a:lstStyle/>
                    <a:p>
                      <a:pPr algn="ctr" fontAlgn="b"/>
                      <a:r>
                        <a:rPr lang="en-US" sz="1000" u="none" strike="noStrike">
                          <a:effectLst/>
                          <a:latin typeface="Arial Narrow" panose="020B0606020202030204" pitchFamily="34" charset="0"/>
                        </a:rPr>
                        <a:t>13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38809">
                <a:tc>
                  <a:txBody>
                    <a:bodyPr/>
                    <a:lstStyle/>
                    <a:p>
                      <a:pPr algn="ctr" fontAlgn="b"/>
                      <a:r>
                        <a:rPr lang="en-US" sz="1000" u="none" strike="noStrike">
                          <a:effectLst/>
                          <a:latin typeface="Arial Narrow" panose="020B0606020202030204" pitchFamily="34" charset="0"/>
                        </a:rPr>
                        <a:t>7</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38809">
                <a:tc>
                  <a:txBody>
                    <a:bodyPr/>
                    <a:lstStyle/>
                    <a:p>
                      <a:pPr algn="ctr" fontAlgn="b"/>
                      <a:r>
                        <a:rPr lang="en-US" sz="1000" u="none" strike="noStrike">
                          <a:effectLst/>
                          <a:latin typeface="Arial Narrow" panose="020B0606020202030204" pitchFamily="34" charset="0"/>
                        </a:rPr>
                        <a:t>11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238809">
                <a:tc>
                  <a:txBody>
                    <a:bodyPr/>
                    <a:lstStyle/>
                    <a:p>
                      <a:pPr algn="ctr" fontAlgn="b"/>
                      <a:r>
                        <a:rPr lang="en-US" sz="1000" u="none" strike="noStrike">
                          <a:effectLst/>
                          <a:latin typeface="Arial Narrow" panose="020B0606020202030204" pitchFamily="34" charset="0"/>
                        </a:rPr>
                        <a:t>10</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238809">
                <a:tc>
                  <a:txBody>
                    <a:bodyPr/>
                    <a:lstStyle/>
                    <a:p>
                      <a:pPr algn="ctr" fontAlgn="b"/>
                      <a:r>
                        <a:rPr lang="en-US" sz="1000" u="none" strike="noStrike">
                          <a:effectLst/>
                          <a:latin typeface="Arial Narrow" panose="020B0606020202030204" pitchFamily="34" charset="0"/>
                        </a:rPr>
                        <a:t>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17</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238809">
                <a:tc>
                  <a:txBody>
                    <a:bodyPr/>
                    <a:lstStyle/>
                    <a:p>
                      <a:pPr algn="ctr" fontAlgn="b"/>
                      <a:r>
                        <a:rPr lang="en-US" sz="1000" u="none" strike="noStrike">
                          <a:effectLst/>
                          <a:latin typeface="Arial Narrow" panose="020B0606020202030204" pitchFamily="34" charset="0"/>
                        </a:rPr>
                        <a:t>9</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238809">
                <a:tc>
                  <a:txBody>
                    <a:bodyPr/>
                    <a:lstStyle/>
                    <a:p>
                      <a:pPr algn="ctr" fontAlgn="b"/>
                      <a:r>
                        <a:rPr lang="en-US" sz="1000" u="none" strike="noStrike">
                          <a:effectLst/>
                          <a:latin typeface="Arial Narrow" panose="020B0606020202030204" pitchFamily="34" charset="0"/>
                        </a:rPr>
                        <a:t>20</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19</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238809">
                <a:tc>
                  <a:txBody>
                    <a:bodyPr/>
                    <a:lstStyle/>
                    <a:p>
                      <a:pPr algn="ctr" fontAlgn="b"/>
                      <a:r>
                        <a:rPr lang="en-US" sz="1000" u="none" strike="noStrike">
                          <a:effectLst/>
                          <a:latin typeface="Arial Narrow" panose="020B0606020202030204" pitchFamily="34" charset="0"/>
                        </a:rPr>
                        <a:t>15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20</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bl>
          </a:graphicData>
        </a:graphic>
      </p:graphicFrame>
      <p:pic>
        <p:nvPicPr>
          <p:cNvPr id="28" name="Picture 27"/>
          <p:cNvPicPr>
            <a:picLocks noChangeAspect="1"/>
          </p:cNvPicPr>
          <p:nvPr/>
        </p:nvPicPr>
        <p:blipFill>
          <a:blip r:embed="rId2"/>
          <a:stretch>
            <a:fillRect/>
          </a:stretch>
        </p:blipFill>
        <p:spPr>
          <a:xfrm>
            <a:off x="-1070543" y="3807267"/>
            <a:ext cx="4904762" cy="6904762"/>
          </a:xfrm>
          <a:prstGeom prst="rect">
            <a:avLst/>
          </a:prstGeom>
        </p:spPr>
      </p:pic>
      <p:sp>
        <p:nvSpPr>
          <p:cNvPr id="3" name="사각형: 둥근 모서리 2">
            <a:extLst>
              <a:ext uri="{FF2B5EF4-FFF2-40B4-BE49-F238E27FC236}">
                <a16:creationId xmlns:a16="http://schemas.microsoft.com/office/drawing/2014/main" id="{FCFD34CE-26F6-71EF-E0D9-64C36AE1CB1C}"/>
              </a:ext>
            </a:extLst>
          </p:cNvPr>
          <p:cNvSpPr/>
          <p:nvPr/>
        </p:nvSpPr>
        <p:spPr>
          <a:xfrm>
            <a:off x="4081455" y="7114037"/>
            <a:ext cx="5450380" cy="96316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I recommend you that you can randomize the run sequence. </a:t>
            </a:r>
          </a:p>
          <a:p>
            <a:r>
              <a:rPr lang="en-US" altLang="ko-KR" sz="1200" dirty="0"/>
              <a:t>You don’t have to measure or experiment again. Here’s data and you can just fill with randomized run with this data. </a:t>
            </a:r>
          </a:p>
        </p:txBody>
      </p:sp>
      <p:sp>
        <p:nvSpPr>
          <p:cNvPr id="30" name="TextBox 29"/>
          <p:cNvSpPr txBox="1"/>
          <p:nvPr/>
        </p:nvSpPr>
        <p:spPr>
          <a:xfrm>
            <a:off x="2397190" y="4511186"/>
            <a:ext cx="3368529" cy="415498"/>
          </a:xfrm>
          <a:prstGeom prst="rect">
            <a:avLst/>
          </a:prstGeom>
          <a:solidFill>
            <a:schemeClr val="accent2">
              <a:lumMod val="75000"/>
            </a:schemeClr>
          </a:solidFill>
        </p:spPr>
        <p:txBody>
          <a:bodyPr wrap="square" rtlCol="0">
            <a:spAutoFit/>
          </a:bodyPr>
          <a:lstStyle/>
          <a:p>
            <a:r>
              <a:rPr lang="en-US" sz="1050" b="1">
                <a:solidFill>
                  <a:schemeClr val="bg1"/>
                </a:solidFill>
              </a:rPr>
              <a:t>24th, Nov. Ken Park</a:t>
            </a:r>
            <a:br>
              <a:rPr lang="en-US" sz="1050">
                <a:solidFill>
                  <a:schemeClr val="bg1"/>
                </a:solidFill>
              </a:rPr>
            </a:br>
            <a:r>
              <a:rPr lang="vi-VN" sz="1050">
                <a:solidFill>
                  <a:schemeClr val="bg1"/>
                </a:solidFill>
              </a:rPr>
              <a:t>Good result with ramdomized run sequence.</a:t>
            </a:r>
            <a:endParaRPr lang="en-US" sz="1050">
              <a:solidFill>
                <a:schemeClr val="bg1"/>
              </a:solidFill>
              <a:latin typeface="Arial Narrow" panose="020B0606020202030204" pitchFamily="34" charset="0"/>
            </a:endParaRPr>
          </a:p>
        </p:txBody>
      </p:sp>
    </p:spTree>
    <p:extLst>
      <p:ext uri="{BB962C8B-B14F-4D97-AF65-F5344CB8AC3E}">
        <p14:creationId xmlns:p14="http://schemas.microsoft.com/office/powerpoint/2010/main" val="1852193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91421" y="2822938"/>
            <a:ext cx="3432303" cy="1931707"/>
          </a:xfrm>
          <a:prstGeom prst="rect">
            <a:avLst/>
          </a:prstGeom>
        </p:spPr>
      </p:pic>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3152" y="69580"/>
            <a:ext cx="3113353" cy="369332"/>
          </a:xfrm>
          <a:prstGeom prst="rect">
            <a:avLst/>
          </a:prstGeom>
          <a:noFill/>
        </p:spPr>
        <p:txBody>
          <a:bodyPr wrap="none" rtlCol="0">
            <a:spAutoFit/>
          </a:bodyPr>
          <a:lstStyle/>
          <a:p>
            <a:r>
              <a:rPr lang="en-US">
                <a:latin typeface="Arial Narrow" panose="020B0606020202030204" pitchFamily="34" charset="0"/>
              </a:rPr>
              <a:t>Establish optimal conditions</a:t>
            </a:r>
            <a:r>
              <a:rPr lang="vi-VN">
                <a:latin typeface="Arial Narrow" panose="020B0606020202030204" pitchFamily="34" charset="0"/>
              </a:rPr>
              <a:t> (DOE)</a:t>
            </a:r>
          </a:p>
        </p:txBody>
      </p:sp>
      <p:sp>
        <p:nvSpPr>
          <p:cNvPr id="2" name="Rectangle 1"/>
          <p:cNvSpPr/>
          <p:nvPr/>
        </p:nvSpPr>
        <p:spPr>
          <a:xfrm>
            <a:off x="140494" y="505381"/>
            <a:ext cx="8979187" cy="338554"/>
          </a:xfrm>
          <a:prstGeom prst="rect">
            <a:avLst/>
          </a:prstGeom>
        </p:spPr>
        <p:txBody>
          <a:bodyPr wrap="square">
            <a:spAutoFit/>
          </a:bodyPr>
          <a:lstStyle/>
          <a:p>
            <a:r>
              <a:rPr lang="en-US" altLang="ko-KR" sz="1600" b="1">
                <a:solidFill>
                  <a:srgbClr val="00B050"/>
                </a:solidFill>
                <a:latin typeface="Arial Narrow" panose="020B0606020202030204" pitchFamily="34" charset="0"/>
                <a:ea typeface="LG스마트체 Regular" panose="020B0600000101010101" pitchFamily="50" charset="-127"/>
              </a:rPr>
              <a:t>※</a:t>
            </a:r>
            <a:r>
              <a:rPr lang="en-US" altLang="ko-KR" sz="1600">
                <a:solidFill>
                  <a:srgbClr val="00B050"/>
                </a:solidFill>
                <a:latin typeface="Arial Narrow" panose="020B0606020202030204" pitchFamily="34" charset="0"/>
                <a:ea typeface="LG스마트체 Regular" panose="020B0600000101010101" pitchFamily="50" charset="-127"/>
              </a:rPr>
              <a:t> </a:t>
            </a:r>
            <a:r>
              <a:rPr lang="en-US" altLang="ko-KR" sz="1600">
                <a:latin typeface="Arial Narrow" panose="020B0606020202030204" pitchFamily="34" charset="0"/>
                <a:ea typeface="LG스마트체 Regular" panose="020B0600000101010101" pitchFamily="50" charset="-127"/>
              </a:rPr>
              <a:t>Factorial Regression: Respone versus Punch Heigh, Punch Radius</a:t>
            </a:r>
            <a:endParaRPr lang="en-US" sz="1600">
              <a:latin typeface="Arial Narrow" panose="020B0606020202030204" pitchFamily="34" charset="0"/>
            </a:endParaRPr>
          </a:p>
        </p:txBody>
      </p:sp>
      <p:sp>
        <p:nvSpPr>
          <p:cNvPr id="28" name="TextBox 27">
            <a:extLst>
              <a:ext uri="{FF2B5EF4-FFF2-40B4-BE49-F238E27FC236}">
                <a16:creationId xmlns:a16="http://schemas.microsoft.com/office/drawing/2014/main" id="{67622116-7642-4C1E-B69E-AEF80EC69F47}"/>
              </a:ext>
            </a:extLst>
          </p:cNvPr>
          <p:cNvSpPr txBox="1"/>
          <p:nvPr/>
        </p:nvSpPr>
        <p:spPr>
          <a:xfrm>
            <a:off x="3623724" y="3280961"/>
            <a:ext cx="6282276" cy="1015663"/>
          </a:xfrm>
          <a:prstGeom prst="rect">
            <a:avLst/>
          </a:prstGeom>
          <a:noFill/>
        </p:spPr>
        <p:txBody>
          <a:bodyPr wrap="square" rtlCol="0">
            <a:spAutoFit/>
          </a:bodyPr>
          <a:lstStyle/>
          <a:p>
            <a:pPr marL="171450" indent="-171450">
              <a:buFont typeface="Wingdings" panose="05000000000000000000" pitchFamily="2" charset="2"/>
              <a:buChar char="Ø"/>
            </a:pPr>
            <a:r>
              <a:rPr lang="en-US" sz="1200" b="1" dirty="0" err="1">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Conslution</a:t>
            </a:r>
            <a:r>
              <a:rPr lang="en-US"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 </a:t>
            </a:r>
            <a:endParaRPr lang="vi-VN"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endParaRPr>
          </a:p>
          <a:p>
            <a:r>
              <a:rPr lang="vi-VN"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In the pareto chart, </a:t>
            </a:r>
            <a:r>
              <a:rPr lang="el-GR"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α</a:t>
            </a:r>
            <a:r>
              <a:rPr lang="vi-VN"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 = 0.05 ~ 2.1. </a:t>
            </a:r>
          </a:p>
          <a:p>
            <a:r>
              <a:rPr lang="en-US" sz="1200">
                <a:latin typeface="Arial Narrow" panose="020B0606020202030204" pitchFamily="34" charset="0"/>
              </a:rPr>
              <a:t>Punch </a:t>
            </a:r>
            <a:r>
              <a:rPr lang="en-US" sz="1200" dirty="0">
                <a:latin typeface="Arial Narrow" panose="020B0606020202030204" pitchFamily="34" charset="0"/>
              </a:rPr>
              <a:t>Radius is the main factor. </a:t>
            </a:r>
            <a:endParaRPr lang="vi-VN" sz="1200" dirty="0"/>
          </a:p>
          <a:p>
            <a:r>
              <a:rPr lang="en-US" sz="1200" dirty="0">
                <a:latin typeface="Arial Narrow" panose="020B0606020202030204" pitchFamily="34" charset="0"/>
              </a:rPr>
              <a:t>The interaction AB also has a significant effect. </a:t>
            </a:r>
            <a:endParaRPr lang="vi-VN" sz="1200" dirty="0"/>
          </a:p>
          <a:p>
            <a:r>
              <a:rPr lang="en-US" sz="1200" dirty="0">
                <a:latin typeface="Arial Narrow" panose="020B0606020202030204" pitchFamily="34" charset="0"/>
              </a:rPr>
              <a:t>Punch Height alone has little influence, but when combined with Punch Radius, it shows a clear </a:t>
            </a:r>
            <a:r>
              <a:rPr lang="vi-VN" sz="1200" dirty="0">
                <a:latin typeface="Arial Narrow" panose="020B0606020202030204" pitchFamily="34" charset="0"/>
              </a:rPr>
              <a:t>impact.</a:t>
            </a:r>
            <a:endParaRPr lang="en-US" sz="1200" dirty="0">
              <a:latin typeface="Arial Narrow" panose="020B0606020202030204" pitchFamily="34" charset="0"/>
              <a:ea typeface="Arial Unicode MS" panose="020B0604020202020204" pitchFamily="34" charset="-128"/>
              <a:cs typeface="Arial" panose="020B0604020202020204" pitchFamily="34" charset="0"/>
              <a:sym typeface="Wingdings" pitchFamily="2" charset="2"/>
            </a:endParaRPr>
          </a:p>
        </p:txBody>
      </p:sp>
      <p:sp>
        <p:nvSpPr>
          <p:cNvPr id="18" name="Rectangle 17"/>
          <p:cNvSpPr/>
          <p:nvPr/>
        </p:nvSpPr>
        <p:spPr>
          <a:xfrm>
            <a:off x="294880" y="3762733"/>
            <a:ext cx="3311909" cy="597599"/>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그룹 2"/>
          <p:cNvGrpSpPr/>
          <p:nvPr/>
        </p:nvGrpSpPr>
        <p:grpSpPr>
          <a:xfrm>
            <a:off x="7373344" y="38312"/>
            <a:ext cx="2457706" cy="325586"/>
            <a:chOff x="7368119" y="116689"/>
            <a:chExt cx="2457706" cy="325586"/>
          </a:xfrm>
        </p:grpSpPr>
        <p:sp>
          <p:nvSpPr>
            <p:cNvPr id="24" name="AutoShape 5"/>
            <p:cNvSpPr>
              <a:spLocks noChangeArrowheads="1"/>
            </p:cNvSpPr>
            <p:nvPr/>
          </p:nvSpPr>
          <p:spPr bwMode="auto">
            <a:xfrm>
              <a:off x="7368119" y="118425"/>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25"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6" name="AutoShape 7"/>
            <p:cNvSpPr>
              <a:spLocks noChangeArrowheads="1"/>
            </p:cNvSpPr>
            <p:nvPr/>
          </p:nvSpPr>
          <p:spPr bwMode="auto">
            <a:xfrm>
              <a:off x="8281257"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27" name="AutoShape 8"/>
            <p:cNvSpPr>
              <a:spLocks noChangeArrowheads="1"/>
            </p:cNvSpPr>
            <p:nvPr/>
          </p:nvSpPr>
          <p:spPr bwMode="auto">
            <a:xfrm>
              <a:off x="8701766" y="118425"/>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0" name="AutoShape 4"/>
            <p:cNvSpPr>
              <a:spLocks noChangeArrowheads="1"/>
            </p:cNvSpPr>
            <p:nvPr/>
          </p:nvSpPr>
          <p:spPr bwMode="auto">
            <a:xfrm>
              <a:off x="7846908" y="118425"/>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pic>
        <p:nvPicPr>
          <p:cNvPr id="8" name="Picture 7"/>
          <p:cNvPicPr>
            <a:picLocks noChangeAspect="1"/>
          </p:cNvPicPr>
          <p:nvPr/>
        </p:nvPicPr>
        <p:blipFill>
          <a:blip r:embed="rId3"/>
          <a:stretch>
            <a:fillRect/>
          </a:stretch>
        </p:blipFill>
        <p:spPr>
          <a:xfrm>
            <a:off x="256217" y="4626501"/>
            <a:ext cx="3619500" cy="981075"/>
          </a:xfrm>
          <a:prstGeom prst="rect">
            <a:avLst/>
          </a:prstGeom>
        </p:spPr>
      </p:pic>
      <p:pic>
        <p:nvPicPr>
          <p:cNvPr id="9" name="Picture 8"/>
          <p:cNvPicPr>
            <a:picLocks noChangeAspect="1"/>
          </p:cNvPicPr>
          <p:nvPr/>
        </p:nvPicPr>
        <p:blipFill>
          <a:blip r:embed="rId4"/>
          <a:stretch>
            <a:fillRect/>
          </a:stretch>
        </p:blipFill>
        <p:spPr>
          <a:xfrm>
            <a:off x="256217" y="910403"/>
            <a:ext cx="3012678" cy="2008452"/>
          </a:xfrm>
          <a:prstGeom prst="rect">
            <a:avLst/>
          </a:prstGeom>
        </p:spPr>
      </p:pic>
    </p:spTree>
    <p:extLst>
      <p:ext uri="{BB962C8B-B14F-4D97-AF65-F5344CB8AC3E}">
        <p14:creationId xmlns:p14="http://schemas.microsoft.com/office/powerpoint/2010/main" val="2406623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r="26785" b="41157"/>
          <a:stretch/>
        </p:blipFill>
        <p:spPr>
          <a:xfrm>
            <a:off x="4421777" y="851592"/>
            <a:ext cx="4697904" cy="2517141"/>
          </a:xfrm>
          <a:prstGeom prst="rect">
            <a:avLst/>
          </a:prstGeom>
        </p:spPr>
      </p:pic>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3152" y="69580"/>
            <a:ext cx="3113353" cy="369332"/>
          </a:xfrm>
          <a:prstGeom prst="rect">
            <a:avLst/>
          </a:prstGeom>
          <a:noFill/>
        </p:spPr>
        <p:txBody>
          <a:bodyPr wrap="none" rtlCol="0">
            <a:spAutoFit/>
          </a:bodyPr>
          <a:lstStyle/>
          <a:p>
            <a:r>
              <a:rPr lang="en-US">
                <a:latin typeface="Arial Narrow" panose="020B0606020202030204" pitchFamily="34" charset="0"/>
              </a:rPr>
              <a:t>Establish optimal conditions</a:t>
            </a:r>
            <a:r>
              <a:rPr lang="vi-VN">
                <a:latin typeface="Arial Narrow" panose="020B0606020202030204" pitchFamily="34" charset="0"/>
              </a:rPr>
              <a:t> (DOE)</a:t>
            </a:r>
          </a:p>
        </p:txBody>
      </p:sp>
      <p:grpSp>
        <p:nvGrpSpPr>
          <p:cNvPr id="28" name="그룹 2"/>
          <p:cNvGrpSpPr/>
          <p:nvPr/>
        </p:nvGrpSpPr>
        <p:grpSpPr>
          <a:xfrm>
            <a:off x="7373344" y="38312"/>
            <a:ext cx="2457706" cy="325586"/>
            <a:chOff x="7368119" y="116689"/>
            <a:chExt cx="2457706" cy="325586"/>
          </a:xfrm>
        </p:grpSpPr>
        <p:sp>
          <p:nvSpPr>
            <p:cNvPr id="30" name="AutoShape 5"/>
            <p:cNvSpPr>
              <a:spLocks noChangeArrowheads="1"/>
            </p:cNvSpPr>
            <p:nvPr/>
          </p:nvSpPr>
          <p:spPr bwMode="auto">
            <a:xfrm>
              <a:off x="7368119" y="118425"/>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31"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2" name="AutoShape 7"/>
            <p:cNvSpPr>
              <a:spLocks noChangeArrowheads="1"/>
            </p:cNvSpPr>
            <p:nvPr/>
          </p:nvSpPr>
          <p:spPr bwMode="auto">
            <a:xfrm>
              <a:off x="8281257"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3" name="AutoShape 8"/>
            <p:cNvSpPr>
              <a:spLocks noChangeArrowheads="1"/>
            </p:cNvSpPr>
            <p:nvPr/>
          </p:nvSpPr>
          <p:spPr bwMode="auto">
            <a:xfrm>
              <a:off x="8701766" y="118425"/>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4" name="AutoShape 4"/>
            <p:cNvSpPr>
              <a:spLocks noChangeArrowheads="1"/>
            </p:cNvSpPr>
            <p:nvPr/>
          </p:nvSpPr>
          <p:spPr bwMode="auto">
            <a:xfrm>
              <a:off x="7846908" y="118425"/>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pic>
        <p:nvPicPr>
          <p:cNvPr id="2" name="Picture 1"/>
          <p:cNvPicPr>
            <a:picLocks noChangeAspect="1"/>
          </p:cNvPicPr>
          <p:nvPr/>
        </p:nvPicPr>
        <p:blipFill rotWithShape="1">
          <a:blip r:embed="rId3"/>
          <a:srcRect t="12488"/>
          <a:stretch/>
        </p:blipFill>
        <p:spPr>
          <a:xfrm>
            <a:off x="4314156" y="3465519"/>
            <a:ext cx="3619500" cy="1425384"/>
          </a:xfrm>
          <a:prstGeom prst="rect">
            <a:avLst/>
          </a:prstGeom>
        </p:spPr>
      </p:pic>
      <p:sp>
        <p:nvSpPr>
          <p:cNvPr id="27" name="Rectangle 26"/>
          <p:cNvSpPr/>
          <p:nvPr/>
        </p:nvSpPr>
        <p:spPr>
          <a:xfrm>
            <a:off x="4306094" y="505381"/>
            <a:ext cx="8979187" cy="338554"/>
          </a:xfrm>
          <a:prstGeom prst="rect">
            <a:avLst/>
          </a:prstGeom>
        </p:spPr>
        <p:txBody>
          <a:bodyPr wrap="square">
            <a:spAutoFit/>
          </a:bodyPr>
          <a:lstStyle/>
          <a:p>
            <a:r>
              <a:rPr lang="en-US" altLang="ko-KR" sz="1600">
                <a:solidFill>
                  <a:srgbClr val="00B050"/>
                </a:solidFill>
                <a:latin typeface="Arial Narrow" panose="020B0606020202030204" pitchFamily="34" charset="0"/>
                <a:ea typeface="LG스마트체 Regular" panose="020B0600000101010101" pitchFamily="50" charset="-127"/>
              </a:rPr>
              <a:t>※ </a:t>
            </a:r>
            <a:r>
              <a:rPr lang="vi-VN" altLang="ko-KR" sz="1600">
                <a:solidFill>
                  <a:srgbClr val="00B050"/>
                </a:solidFill>
                <a:latin typeface="Arial Narrow" panose="020B0606020202030204" pitchFamily="34" charset="0"/>
                <a:ea typeface="LG스마트체 Regular" panose="020B0600000101010101" pitchFamily="50" charset="-127"/>
              </a:rPr>
              <a:t>Response Optimization</a:t>
            </a:r>
            <a:endParaRPr lang="en-US" sz="1600">
              <a:latin typeface="Arial Narrow" panose="020B0606020202030204" pitchFamily="34" charset="0"/>
            </a:endParaRPr>
          </a:p>
        </p:txBody>
      </p:sp>
      <p:pic>
        <p:nvPicPr>
          <p:cNvPr id="8" name="Picture 7"/>
          <p:cNvPicPr>
            <a:picLocks noChangeAspect="1"/>
          </p:cNvPicPr>
          <p:nvPr/>
        </p:nvPicPr>
        <p:blipFill>
          <a:blip r:embed="rId4"/>
          <a:stretch>
            <a:fillRect/>
          </a:stretch>
        </p:blipFill>
        <p:spPr>
          <a:xfrm>
            <a:off x="0" y="843935"/>
            <a:ext cx="3759200" cy="2504893"/>
          </a:xfrm>
          <a:prstGeom prst="rect">
            <a:avLst/>
          </a:prstGeom>
        </p:spPr>
      </p:pic>
      <p:sp>
        <p:nvSpPr>
          <p:cNvPr id="35" name="Rectangle 34"/>
          <p:cNvSpPr/>
          <p:nvPr/>
        </p:nvSpPr>
        <p:spPr>
          <a:xfrm>
            <a:off x="17522" y="497724"/>
            <a:ext cx="8979187" cy="338554"/>
          </a:xfrm>
          <a:prstGeom prst="rect">
            <a:avLst/>
          </a:prstGeom>
        </p:spPr>
        <p:txBody>
          <a:bodyPr wrap="square">
            <a:spAutoFit/>
          </a:bodyPr>
          <a:lstStyle/>
          <a:p>
            <a:r>
              <a:rPr lang="en-US" altLang="ko-KR" sz="1600">
                <a:solidFill>
                  <a:srgbClr val="00B050"/>
                </a:solidFill>
                <a:latin typeface="Arial Narrow" panose="020B0606020202030204" pitchFamily="34" charset="0"/>
                <a:ea typeface="LG스마트체 Regular" panose="020B0600000101010101" pitchFamily="50" charset="-127"/>
              </a:rPr>
              <a:t>※ </a:t>
            </a:r>
            <a:r>
              <a:rPr lang="vi-VN" altLang="ko-KR" sz="1600">
                <a:solidFill>
                  <a:srgbClr val="00B050"/>
                </a:solidFill>
                <a:latin typeface="Arial Narrow" panose="020B0606020202030204" pitchFamily="34" charset="0"/>
                <a:ea typeface="LG스마트체 Regular" panose="020B0600000101010101" pitchFamily="50" charset="-127"/>
              </a:rPr>
              <a:t>Contour plot</a:t>
            </a:r>
            <a:endParaRPr lang="en-US" sz="1600">
              <a:latin typeface="Arial Narrow" panose="020B0606020202030204" pitchFamily="34" charset="0"/>
            </a:endParaRPr>
          </a:p>
        </p:txBody>
      </p:sp>
      <p:cxnSp>
        <p:nvCxnSpPr>
          <p:cNvPr id="10" name="Straight Connector 9"/>
          <p:cNvCxnSpPr/>
          <p:nvPr/>
        </p:nvCxnSpPr>
        <p:spPr>
          <a:xfrm flipH="1">
            <a:off x="1595887" y="1107281"/>
            <a:ext cx="1216324" cy="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1595887" y="1933330"/>
            <a:ext cx="1216324" cy="11928"/>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749365" y="983411"/>
            <a:ext cx="0" cy="1121434"/>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2674592" y="983411"/>
            <a:ext cx="0" cy="1121434"/>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421777" y="4814704"/>
            <a:ext cx="2923173" cy="461665"/>
          </a:xfrm>
          <a:prstGeom prst="rect">
            <a:avLst/>
          </a:prstGeom>
          <a:noFill/>
        </p:spPr>
        <p:txBody>
          <a:bodyPr wrap="none" rtlCol="0">
            <a:spAutoFit/>
          </a:bodyPr>
          <a:lstStyle/>
          <a:p>
            <a:pPr marL="171450" indent="-171450">
              <a:buFont typeface="Wingdings" panose="05000000000000000000" pitchFamily="2" charset="2"/>
              <a:buChar char="Ø"/>
            </a:pPr>
            <a:r>
              <a:rPr lang="en-US" sz="1200" b="1">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Conslution</a:t>
            </a:r>
            <a:r>
              <a:rPr lang="en-US"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a:t>
            </a:r>
            <a:endParaRPr lang="vi-VN"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endParaRPr>
          </a:p>
          <a:p>
            <a:r>
              <a:rPr lang="vi-VN"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Select A (Punch Height , Punch Radius) =(6.8, 6)</a:t>
            </a:r>
            <a:endParaRPr lang="vi-VN" sz="1200">
              <a:latin typeface="Arial Narrow" panose="020B0606020202030204" pitchFamily="34" charset="0"/>
              <a:sym typeface="Wingdings" pitchFamily="2" charset="2"/>
            </a:endParaRPr>
          </a:p>
        </p:txBody>
      </p:sp>
      <p:cxnSp>
        <p:nvCxnSpPr>
          <p:cNvPr id="47" name="Elbow Connector 46"/>
          <p:cNvCxnSpPr/>
          <p:nvPr/>
        </p:nvCxnSpPr>
        <p:spPr>
          <a:xfrm>
            <a:off x="1749364" y="3368733"/>
            <a:ext cx="2632136" cy="2293880"/>
          </a:xfrm>
          <a:prstGeom prst="bentConnector3">
            <a:avLst>
              <a:gd name="adj1" fmla="val 61"/>
            </a:avLst>
          </a:prstGeom>
          <a:ln w="1905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4431574" y="5431780"/>
            <a:ext cx="1657826" cy="461665"/>
          </a:xfrm>
          <a:prstGeom prst="rect">
            <a:avLst/>
          </a:prstGeom>
          <a:noFill/>
        </p:spPr>
        <p:txBody>
          <a:bodyPr wrap="none" rtlCol="0">
            <a:spAutoFit/>
          </a:bodyPr>
          <a:lstStyle/>
          <a:p>
            <a:r>
              <a:rPr lang="vi-VN"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Punch Heigh =(6.6 , 6.8)</a:t>
            </a:r>
          </a:p>
          <a:p>
            <a:r>
              <a:rPr lang="vi-VN" sz="1200">
                <a:latin typeface="Arial Narrow" panose="020B0606020202030204" pitchFamily="34" charset="0"/>
                <a:ea typeface="Arial Unicode MS" panose="020B0604020202020204" pitchFamily="34" charset="-128"/>
                <a:cs typeface="Arial" panose="020B0604020202020204" pitchFamily="34" charset="0"/>
                <a:sym typeface="Wingdings" pitchFamily="2" charset="2"/>
              </a:rPr>
              <a:t>Punch Radius = (5.8 , 6.0)</a:t>
            </a:r>
            <a:endParaRPr lang="vi-VN" sz="1200">
              <a:latin typeface="Arial Narrow" panose="020B0606020202030204" pitchFamily="34" charset="0"/>
              <a:sym typeface="Wingdings" pitchFamily="2" charset="2"/>
            </a:endParaRPr>
          </a:p>
        </p:txBody>
      </p:sp>
      <p:pic>
        <p:nvPicPr>
          <p:cNvPr id="22" name="Picture 21"/>
          <p:cNvPicPr>
            <a:picLocks noChangeAspect="1"/>
          </p:cNvPicPr>
          <p:nvPr/>
        </p:nvPicPr>
        <p:blipFill>
          <a:blip r:embed="rId5"/>
          <a:stretch>
            <a:fillRect/>
          </a:stretch>
        </p:blipFill>
        <p:spPr>
          <a:xfrm>
            <a:off x="7350914" y="5776994"/>
            <a:ext cx="2450571" cy="1024592"/>
          </a:xfrm>
          <a:prstGeom prst="rect">
            <a:avLst/>
          </a:prstGeom>
        </p:spPr>
      </p:pic>
      <p:pic>
        <p:nvPicPr>
          <p:cNvPr id="23" name="Picture 22"/>
          <p:cNvPicPr>
            <a:picLocks noChangeAspect="1"/>
          </p:cNvPicPr>
          <p:nvPr/>
        </p:nvPicPr>
        <p:blipFill>
          <a:blip r:embed="rId6"/>
          <a:stretch>
            <a:fillRect/>
          </a:stretch>
        </p:blipFill>
        <p:spPr>
          <a:xfrm>
            <a:off x="7385227" y="4863906"/>
            <a:ext cx="2325295" cy="968873"/>
          </a:xfrm>
          <a:prstGeom prst="rect">
            <a:avLst/>
          </a:prstGeom>
        </p:spPr>
      </p:pic>
      <p:sp>
        <p:nvSpPr>
          <p:cNvPr id="3" name="Rectangle 2"/>
          <p:cNvSpPr/>
          <p:nvPr/>
        </p:nvSpPr>
        <p:spPr>
          <a:xfrm>
            <a:off x="8576199" y="5276369"/>
            <a:ext cx="904231" cy="38624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사각형: 둥근 모서리 8">
            <a:extLst>
              <a:ext uri="{FF2B5EF4-FFF2-40B4-BE49-F238E27FC236}">
                <a16:creationId xmlns:a16="http://schemas.microsoft.com/office/drawing/2014/main" id="{2876ACF8-45C2-EE40-2BC7-6496E1D99F9A}"/>
              </a:ext>
            </a:extLst>
          </p:cNvPr>
          <p:cNvSpPr/>
          <p:nvPr/>
        </p:nvSpPr>
        <p:spPr>
          <a:xfrm>
            <a:off x="10039560" y="2502356"/>
            <a:ext cx="5450380" cy="96316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Can you share the </a:t>
            </a:r>
            <a:r>
              <a:rPr lang="en-US" altLang="ko-KR" sz="1200" dirty="0" err="1"/>
              <a:t>minitab</a:t>
            </a:r>
            <a:r>
              <a:rPr lang="en-US" altLang="ko-KR" sz="1200" dirty="0"/>
              <a:t> file with me? I want to compare the real data In Page 28 with this expectation…. I have little concern that it’s quite different with expectation..</a:t>
            </a:r>
          </a:p>
        </p:txBody>
      </p:sp>
      <p:cxnSp>
        <p:nvCxnSpPr>
          <p:cNvPr id="11" name="직선 화살표 연결선 10">
            <a:extLst>
              <a:ext uri="{FF2B5EF4-FFF2-40B4-BE49-F238E27FC236}">
                <a16:creationId xmlns:a16="http://schemas.microsoft.com/office/drawing/2014/main" id="{E2E2F02C-EC39-F658-7936-0D3A19C0B0D0}"/>
              </a:ext>
            </a:extLst>
          </p:cNvPr>
          <p:cNvCxnSpPr>
            <a:cxnSpLocks/>
            <a:stCxn id="9" idx="1"/>
          </p:cNvCxnSpPr>
          <p:nvPr/>
        </p:nvCxnSpPr>
        <p:spPr>
          <a:xfrm flipH="1" flipV="1">
            <a:off x="8865919" y="2251249"/>
            <a:ext cx="1173641" cy="73268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aphicFrame>
        <p:nvGraphicFramePr>
          <p:cNvPr id="39" name="Table 38"/>
          <p:cNvGraphicFramePr>
            <a:graphicFrameLocks noGrp="1"/>
          </p:cNvGraphicFramePr>
          <p:nvPr>
            <p:extLst>
              <p:ext uri="{D42A27DB-BD31-4B8C-83A1-F6EECF244321}">
                <p14:modId xmlns:p14="http://schemas.microsoft.com/office/powerpoint/2010/main" val="763994869"/>
              </p:ext>
            </p:extLst>
          </p:nvPr>
        </p:nvGraphicFramePr>
        <p:xfrm>
          <a:off x="10060549" y="3648901"/>
          <a:ext cx="5429391" cy="5253798"/>
        </p:xfrm>
        <a:graphic>
          <a:graphicData uri="http://schemas.openxmlformats.org/drawingml/2006/table">
            <a:tbl>
              <a:tblPr>
                <a:tableStyleId>{5C22544A-7EE6-4342-B048-85BDC9FD1C3A}</a:tableStyleId>
              </a:tblPr>
              <a:tblGrid>
                <a:gridCol w="759798">
                  <a:extLst>
                    <a:ext uri="{9D8B030D-6E8A-4147-A177-3AD203B41FA5}">
                      <a16:colId xmlns:a16="http://schemas.microsoft.com/office/drawing/2014/main" val="20000"/>
                    </a:ext>
                  </a:extLst>
                </a:gridCol>
                <a:gridCol w="870603">
                  <a:extLst>
                    <a:ext uri="{9D8B030D-6E8A-4147-A177-3AD203B41FA5}">
                      <a16:colId xmlns:a16="http://schemas.microsoft.com/office/drawing/2014/main" val="20001"/>
                    </a:ext>
                  </a:extLst>
                </a:gridCol>
                <a:gridCol w="759798">
                  <a:extLst>
                    <a:ext uri="{9D8B030D-6E8A-4147-A177-3AD203B41FA5}">
                      <a16:colId xmlns:a16="http://schemas.microsoft.com/office/drawing/2014/main" val="20002"/>
                    </a:ext>
                  </a:extLst>
                </a:gridCol>
                <a:gridCol w="759798">
                  <a:extLst>
                    <a:ext uri="{9D8B030D-6E8A-4147-A177-3AD203B41FA5}">
                      <a16:colId xmlns:a16="http://schemas.microsoft.com/office/drawing/2014/main" val="20003"/>
                    </a:ext>
                  </a:extLst>
                </a:gridCol>
                <a:gridCol w="759798">
                  <a:extLst>
                    <a:ext uri="{9D8B030D-6E8A-4147-A177-3AD203B41FA5}">
                      <a16:colId xmlns:a16="http://schemas.microsoft.com/office/drawing/2014/main" val="20004"/>
                    </a:ext>
                  </a:extLst>
                </a:gridCol>
                <a:gridCol w="759798">
                  <a:extLst>
                    <a:ext uri="{9D8B030D-6E8A-4147-A177-3AD203B41FA5}">
                      <a16:colId xmlns:a16="http://schemas.microsoft.com/office/drawing/2014/main" val="20005"/>
                    </a:ext>
                  </a:extLst>
                </a:gridCol>
                <a:gridCol w="759798">
                  <a:extLst>
                    <a:ext uri="{9D8B030D-6E8A-4147-A177-3AD203B41FA5}">
                      <a16:colId xmlns:a16="http://schemas.microsoft.com/office/drawing/2014/main" val="20006"/>
                    </a:ext>
                  </a:extLst>
                </a:gridCol>
              </a:tblGrid>
              <a:tr h="477618">
                <a:tc>
                  <a:txBody>
                    <a:bodyPr/>
                    <a:lstStyle/>
                    <a:p>
                      <a:pPr algn="ctr" fontAlgn="ctr"/>
                      <a:r>
                        <a:rPr lang="en-US" sz="1000" b="1" u="none" strike="noStrike">
                          <a:effectLst/>
                          <a:latin typeface="Arial Narrow" panose="020B0606020202030204" pitchFamily="34" charset="0"/>
                        </a:rPr>
                        <a:t>StdOrder</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RunOrder</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CenterPt</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Blocks</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Punch</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Punch Radius</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r>
                        <a:rPr lang="en-US" sz="1000" b="1" u="none" strike="noStrike">
                          <a:effectLst/>
                          <a:latin typeface="Arial Narrow" panose="020B0606020202030204" pitchFamily="34" charset="0"/>
                        </a:rPr>
                        <a:t>Respone</a:t>
                      </a:r>
                      <a:endParaRPr lang="en-US" sz="1000" b="1"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38809">
                <a:tc>
                  <a:txBody>
                    <a:bodyPr/>
                    <a:lstStyle/>
                    <a:p>
                      <a:pPr algn="ctr" fontAlgn="b"/>
                      <a:r>
                        <a:rPr lang="en-US" sz="1000" u="none" strike="noStrike">
                          <a:effectLst/>
                          <a:latin typeface="Arial Narrow" panose="020B0606020202030204" pitchFamily="34" charset="0"/>
                        </a:rPr>
                        <a:t>17</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38809">
                <a:tc>
                  <a:txBody>
                    <a:bodyPr/>
                    <a:lstStyle/>
                    <a:p>
                      <a:pPr algn="ctr" fontAlgn="b"/>
                      <a:r>
                        <a:rPr lang="en-US" sz="1000" u="none" strike="noStrike">
                          <a:effectLst/>
                          <a:latin typeface="Arial Narrow" panose="020B0606020202030204" pitchFamily="34" charset="0"/>
                        </a:rPr>
                        <a:t>12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38809">
                <a:tc>
                  <a:txBody>
                    <a:bodyPr/>
                    <a:lstStyle/>
                    <a:p>
                      <a:pPr algn="ctr" fontAlgn="b"/>
                      <a:r>
                        <a:rPr lang="en-US" sz="1000" u="none" strike="noStrike">
                          <a:effectLst/>
                          <a:latin typeface="Arial Narrow" panose="020B0606020202030204" pitchFamily="34" charset="0"/>
                        </a:rPr>
                        <a:t>19</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38809">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38809">
                <a:tc>
                  <a:txBody>
                    <a:bodyPr/>
                    <a:lstStyle/>
                    <a:p>
                      <a:pPr algn="ctr" fontAlgn="b"/>
                      <a:r>
                        <a:rPr lang="en-US" sz="1000" u="none" strike="noStrike">
                          <a:effectLst/>
                          <a:latin typeface="Arial Narrow" panose="020B0606020202030204" pitchFamily="34" charset="0"/>
                        </a:rPr>
                        <a:t>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38809">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38809">
                <a:tc>
                  <a:txBody>
                    <a:bodyPr/>
                    <a:lstStyle/>
                    <a:p>
                      <a:pPr algn="ctr" fontAlgn="b"/>
                      <a:r>
                        <a:rPr lang="en-US" sz="1000" u="none" strike="noStrike">
                          <a:effectLst/>
                          <a:latin typeface="Arial Narrow" panose="020B0606020202030204" pitchFamily="34" charset="0"/>
                        </a:rPr>
                        <a:t>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7</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38809">
                <a:tc>
                  <a:txBody>
                    <a:bodyPr/>
                    <a:lstStyle/>
                    <a:p>
                      <a:pPr algn="ctr" fontAlgn="b"/>
                      <a:r>
                        <a:rPr lang="en-US" sz="1000" u="none" strike="noStrike">
                          <a:effectLst/>
                          <a:latin typeface="Arial Narrow" panose="020B0606020202030204" pitchFamily="34" charset="0"/>
                        </a:rPr>
                        <a:t>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38809">
                <a:tc>
                  <a:txBody>
                    <a:bodyPr/>
                    <a:lstStyle/>
                    <a:p>
                      <a:pPr algn="ctr" fontAlgn="b"/>
                      <a:r>
                        <a:rPr lang="en-US" sz="1000" u="none" strike="noStrike">
                          <a:effectLst/>
                          <a:latin typeface="Arial Narrow" panose="020B0606020202030204" pitchFamily="34" charset="0"/>
                        </a:rPr>
                        <a:t>18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9</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38809">
                <a:tc>
                  <a:txBody>
                    <a:bodyPr/>
                    <a:lstStyle/>
                    <a:p>
                      <a:pPr algn="ctr" fontAlgn="b"/>
                      <a:r>
                        <a:rPr lang="en-US" sz="1000" u="none" strike="noStrike">
                          <a:effectLst/>
                          <a:latin typeface="Arial Narrow" panose="020B0606020202030204" pitchFamily="34" charset="0"/>
                        </a:rPr>
                        <a:t>16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10</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38809">
                <a:tc>
                  <a:txBody>
                    <a:bodyPr/>
                    <a:lstStyle/>
                    <a:p>
                      <a:pPr algn="ctr" fontAlgn="b"/>
                      <a:r>
                        <a:rPr lang="en-US" sz="1000" u="none" strike="noStrike">
                          <a:effectLst/>
                          <a:latin typeface="Arial Narrow" panose="020B0606020202030204" pitchFamily="34" charset="0"/>
                        </a:rPr>
                        <a:t>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38809">
                <a:tc>
                  <a:txBody>
                    <a:bodyPr/>
                    <a:lstStyle/>
                    <a:p>
                      <a:pPr algn="ctr" fontAlgn="b"/>
                      <a:r>
                        <a:rPr lang="en-US" sz="1000" u="none" strike="noStrike">
                          <a:effectLst/>
                          <a:latin typeface="Arial Narrow" panose="020B0606020202030204" pitchFamily="34" charset="0"/>
                        </a:rPr>
                        <a:t>14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38809">
                <a:tc>
                  <a:txBody>
                    <a:bodyPr/>
                    <a:lstStyle/>
                    <a:p>
                      <a:pPr algn="ctr" fontAlgn="b"/>
                      <a:r>
                        <a:rPr lang="en-US" sz="1000" u="none" strike="noStrike">
                          <a:effectLst/>
                          <a:latin typeface="Arial Narrow" panose="020B0606020202030204" pitchFamily="34" charset="0"/>
                        </a:rPr>
                        <a:t>13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38809">
                <a:tc>
                  <a:txBody>
                    <a:bodyPr/>
                    <a:lstStyle/>
                    <a:p>
                      <a:pPr algn="ctr" fontAlgn="b"/>
                      <a:r>
                        <a:rPr lang="en-US" sz="1000" u="none" strike="noStrike">
                          <a:effectLst/>
                          <a:latin typeface="Arial Narrow" panose="020B0606020202030204" pitchFamily="34" charset="0"/>
                        </a:rPr>
                        <a:t>7</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7.562</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38809">
                <a:tc>
                  <a:txBody>
                    <a:bodyPr/>
                    <a:lstStyle/>
                    <a:p>
                      <a:pPr algn="ctr" fontAlgn="b"/>
                      <a:r>
                        <a:rPr lang="en-US" sz="1000" u="none" strike="noStrike">
                          <a:effectLst/>
                          <a:latin typeface="Arial Narrow" panose="020B0606020202030204" pitchFamily="34" charset="0"/>
                        </a:rPr>
                        <a:t>11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238809">
                <a:tc>
                  <a:txBody>
                    <a:bodyPr/>
                    <a:lstStyle/>
                    <a:p>
                      <a:pPr algn="ctr" fontAlgn="b"/>
                      <a:r>
                        <a:rPr lang="en-US" sz="1000" u="none" strike="noStrike">
                          <a:effectLst/>
                          <a:latin typeface="Arial Narrow" panose="020B0606020202030204" pitchFamily="34" charset="0"/>
                        </a:rPr>
                        <a:t>10</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7.394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238809">
                <a:tc>
                  <a:txBody>
                    <a:bodyPr/>
                    <a:lstStyle/>
                    <a:p>
                      <a:pPr algn="ctr" fontAlgn="b"/>
                      <a:r>
                        <a:rPr lang="en-US" sz="1000" u="none" strike="noStrike">
                          <a:effectLst/>
                          <a:latin typeface="Arial Narrow" panose="020B0606020202030204" pitchFamily="34" charset="0"/>
                        </a:rPr>
                        <a:t>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17</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238809">
                <a:tc>
                  <a:txBody>
                    <a:bodyPr/>
                    <a:lstStyle/>
                    <a:p>
                      <a:pPr algn="ctr" fontAlgn="b"/>
                      <a:r>
                        <a:rPr lang="en-US" sz="1000" u="none" strike="noStrike">
                          <a:effectLst/>
                          <a:latin typeface="Arial Narrow" panose="020B0606020202030204" pitchFamily="34" charset="0"/>
                        </a:rPr>
                        <a:t>9</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5.5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7.371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238809">
                <a:tc>
                  <a:txBody>
                    <a:bodyPr/>
                    <a:lstStyle/>
                    <a:p>
                      <a:pPr algn="ctr" fontAlgn="b"/>
                      <a:r>
                        <a:rPr lang="en-US" sz="1000" u="none" strike="noStrike">
                          <a:effectLst/>
                          <a:latin typeface="Arial Narrow" panose="020B0606020202030204" pitchFamily="34" charset="0"/>
                        </a:rPr>
                        <a:t>20</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19</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6.8</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7.403</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238809">
                <a:tc>
                  <a:txBody>
                    <a:bodyPr/>
                    <a:lstStyle/>
                    <a:p>
                      <a:pPr algn="ctr" fontAlgn="b"/>
                      <a:r>
                        <a:rPr lang="en-US" sz="1000" u="none" strike="noStrike">
                          <a:effectLst/>
                          <a:latin typeface="Arial Narrow" panose="020B0606020202030204" pitchFamily="34" charset="0"/>
                        </a:rPr>
                        <a:t>15</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20</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1</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u="none" strike="noStrike">
                          <a:effectLst/>
                          <a:latin typeface="Arial Narrow" panose="020B0606020202030204" pitchFamily="34" charset="0"/>
                        </a:rPr>
                        <a:t>6</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000" u="none" strike="noStrike">
                          <a:effectLst/>
                          <a:latin typeface="Arial Narrow" panose="020B0606020202030204" pitchFamily="34" charset="0"/>
                        </a:rPr>
                        <a:t>7.564</a:t>
                      </a:r>
                      <a:endParaRPr lang="en-US" sz="1000" b="0" i="0" u="none" strike="noStrike">
                        <a:solidFill>
                          <a:srgbClr val="000000"/>
                        </a:solidFill>
                        <a:effectLst/>
                        <a:latin typeface="Arial Narrow" panose="020B0606020202030204" pitchFamily="34" charset="0"/>
                      </a:endParaRPr>
                    </a:p>
                  </a:txBody>
                  <a:tcPr marL="8990" marR="8990" marT="89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bl>
          </a:graphicData>
        </a:graphic>
      </p:graphicFrame>
      <p:sp>
        <p:nvSpPr>
          <p:cNvPr id="20" name="TextBox 19"/>
          <p:cNvSpPr txBox="1"/>
          <p:nvPr/>
        </p:nvSpPr>
        <p:spPr>
          <a:xfrm>
            <a:off x="2033707" y="1114626"/>
            <a:ext cx="389850" cy="307777"/>
          </a:xfrm>
          <a:prstGeom prst="rect">
            <a:avLst/>
          </a:prstGeom>
          <a:noFill/>
        </p:spPr>
        <p:txBody>
          <a:bodyPr wrap="none" rtlCol="0">
            <a:spAutoFit/>
          </a:bodyPr>
          <a:lstStyle/>
          <a:p>
            <a:r>
              <a:rPr lang="vi-VN" sz="1400" b="1">
                <a:solidFill>
                  <a:schemeClr val="accent3">
                    <a:lumMod val="50000"/>
                  </a:schemeClr>
                </a:solidFill>
                <a:latin typeface="Arial Narrow" panose="020B0606020202030204" pitchFamily="34" charset="0"/>
              </a:rPr>
              <a:t>6.8</a:t>
            </a:r>
            <a:endParaRPr lang="en-US" sz="1400" b="1">
              <a:solidFill>
                <a:schemeClr val="accent3">
                  <a:lumMod val="50000"/>
                </a:schemeClr>
              </a:solidFill>
              <a:latin typeface="Arial Narrow" panose="020B0606020202030204" pitchFamily="34" charset="0"/>
            </a:endParaRPr>
          </a:p>
        </p:txBody>
      </p:sp>
      <p:sp>
        <p:nvSpPr>
          <p:cNvPr id="40" name="TextBox 39"/>
          <p:cNvSpPr txBox="1"/>
          <p:nvPr/>
        </p:nvSpPr>
        <p:spPr>
          <a:xfrm>
            <a:off x="2033707" y="1653290"/>
            <a:ext cx="389850" cy="307777"/>
          </a:xfrm>
          <a:prstGeom prst="rect">
            <a:avLst/>
          </a:prstGeom>
          <a:noFill/>
        </p:spPr>
        <p:txBody>
          <a:bodyPr wrap="none" rtlCol="0">
            <a:spAutoFit/>
          </a:bodyPr>
          <a:lstStyle/>
          <a:p>
            <a:r>
              <a:rPr lang="vi-VN" sz="1400" b="1">
                <a:solidFill>
                  <a:schemeClr val="accent3">
                    <a:lumMod val="50000"/>
                  </a:schemeClr>
                </a:solidFill>
                <a:latin typeface="Arial Narrow" panose="020B0606020202030204" pitchFamily="34" charset="0"/>
              </a:rPr>
              <a:t>6.6</a:t>
            </a:r>
            <a:endParaRPr lang="en-US" sz="1400" b="1">
              <a:solidFill>
                <a:schemeClr val="accent3">
                  <a:lumMod val="50000"/>
                </a:schemeClr>
              </a:solidFill>
              <a:latin typeface="Arial Narrow" panose="020B0606020202030204" pitchFamily="34" charset="0"/>
            </a:endParaRPr>
          </a:p>
        </p:txBody>
      </p:sp>
      <p:sp>
        <p:nvSpPr>
          <p:cNvPr id="41" name="TextBox 40"/>
          <p:cNvSpPr txBox="1"/>
          <p:nvPr/>
        </p:nvSpPr>
        <p:spPr>
          <a:xfrm>
            <a:off x="1702419" y="1390239"/>
            <a:ext cx="389850" cy="307777"/>
          </a:xfrm>
          <a:prstGeom prst="rect">
            <a:avLst/>
          </a:prstGeom>
          <a:noFill/>
        </p:spPr>
        <p:txBody>
          <a:bodyPr wrap="none" rtlCol="0">
            <a:spAutoFit/>
          </a:bodyPr>
          <a:lstStyle/>
          <a:p>
            <a:r>
              <a:rPr lang="vi-VN" sz="1400" b="1">
                <a:solidFill>
                  <a:schemeClr val="accent3">
                    <a:lumMod val="50000"/>
                  </a:schemeClr>
                </a:solidFill>
                <a:latin typeface="Arial Narrow" panose="020B0606020202030204" pitchFamily="34" charset="0"/>
              </a:rPr>
              <a:t>5.8</a:t>
            </a:r>
            <a:endParaRPr lang="en-US" sz="1400" b="1">
              <a:solidFill>
                <a:schemeClr val="accent3">
                  <a:lumMod val="50000"/>
                </a:schemeClr>
              </a:solidFill>
              <a:latin typeface="Arial Narrow" panose="020B0606020202030204" pitchFamily="34" charset="0"/>
            </a:endParaRPr>
          </a:p>
        </p:txBody>
      </p:sp>
      <p:sp>
        <p:nvSpPr>
          <p:cNvPr id="42" name="TextBox 41"/>
          <p:cNvSpPr txBox="1"/>
          <p:nvPr/>
        </p:nvSpPr>
        <p:spPr>
          <a:xfrm>
            <a:off x="2338757" y="1380286"/>
            <a:ext cx="389850" cy="307777"/>
          </a:xfrm>
          <a:prstGeom prst="rect">
            <a:avLst/>
          </a:prstGeom>
          <a:noFill/>
        </p:spPr>
        <p:txBody>
          <a:bodyPr wrap="none" rtlCol="0">
            <a:spAutoFit/>
          </a:bodyPr>
          <a:lstStyle/>
          <a:p>
            <a:r>
              <a:rPr lang="vi-VN" sz="1400" b="1">
                <a:solidFill>
                  <a:schemeClr val="accent3">
                    <a:lumMod val="50000"/>
                  </a:schemeClr>
                </a:solidFill>
                <a:latin typeface="Arial Narrow" panose="020B0606020202030204" pitchFamily="34" charset="0"/>
              </a:rPr>
              <a:t>6.0</a:t>
            </a:r>
            <a:endParaRPr lang="en-US" sz="1400" b="1">
              <a:solidFill>
                <a:schemeClr val="accent3">
                  <a:lumMod val="50000"/>
                </a:schemeClr>
              </a:solidFill>
              <a:latin typeface="Arial Narrow" panose="020B0606020202030204" pitchFamily="34" charset="0"/>
            </a:endParaRPr>
          </a:p>
        </p:txBody>
      </p:sp>
    </p:spTree>
    <p:extLst>
      <p:ext uri="{BB962C8B-B14F-4D97-AF65-F5344CB8AC3E}">
        <p14:creationId xmlns:p14="http://schemas.microsoft.com/office/powerpoint/2010/main" val="3268269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57"/>
          <p:cNvGrpSpPr/>
          <p:nvPr/>
        </p:nvGrpSpPr>
        <p:grpSpPr>
          <a:xfrm>
            <a:off x="388675" y="838490"/>
            <a:ext cx="4638250" cy="2737704"/>
            <a:chOff x="717499" y="679917"/>
            <a:chExt cx="4638250" cy="2737704"/>
          </a:xfrm>
        </p:grpSpPr>
        <p:pic>
          <p:nvPicPr>
            <p:cNvPr id="59" name="Picture 58"/>
            <p:cNvPicPr>
              <a:picLocks noChangeAspect="1"/>
            </p:cNvPicPr>
            <p:nvPr/>
          </p:nvPicPr>
          <p:blipFill>
            <a:blip r:embed="rId2"/>
            <a:stretch>
              <a:fillRect/>
            </a:stretch>
          </p:blipFill>
          <p:spPr>
            <a:xfrm>
              <a:off x="717499" y="679917"/>
              <a:ext cx="4106556" cy="2737704"/>
            </a:xfrm>
            <a:prstGeom prst="rect">
              <a:avLst/>
            </a:prstGeom>
          </p:spPr>
        </p:pic>
        <p:sp>
          <p:nvSpPr>
            <p:cNvPr id="60" name="Rounded Rectangle 59"/>
            <p:cNvSpPr/>
            <p:nvPr/>
          </p:nvSpPr>
          <p:spPr>
            <a:xfrm>
              <a:off x="3912181" y="1534954"/>
              <a:ext cx="948266" cy="119885"/>
            </a:xfrm>
            <a:prstGeom prst="roundRect">
              <a:avLst/>
            </a:prstGeom>
            <a:noFill/>
            <a:ln>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p:cNvSpPr/>
            <p:nvPr/>
          </p:nvSpPr>
          <p:spPr>
            <a:xfrm>
              <a:off x="3823282" y="1735854"/>
              <a:ext cx="1532467" cy="472565"/>
            </a:xfrm>
            <a:prstGeom prst="triangle">
              <a:avLst>
                <a:gd name="adj" fmla="val 22099"/>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p:cNvSpPr/>
            <p:nvPr/>
          </p:nvSpPr>
          <p:spPr>
            <a:xfrm>
              <a:off x="3823281" y="2214679"/>
              <a:ext cx="1532467" cy="658414"/>
            </a:xfrm>
            <a:prstGeom prst="roundRect">
              <a:avLst>
                <a:gd name="adj" fmla="val 1806"/>
              </a:avLst>
            </a:prstGeom>
            <a:solidFill>
              <a:schemeClr val="bg1">
                <a:lumMod val="8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latin typeface="Arial Narrow" panose="020B0606020202030204" pitchFamily="34" charset="0"/>
                </a:rPr>
                <a:t>Data</a:t>
              </a:r>
            </a:p>
            <a:p>
              <a:pPr algn="ctr"/>
              <a:r>
                <a:rPr lang="en-US" sz="1100">
                  <a:solidFill>
                    <a:schemeClr val="tx1"/>
                  </a:solidFill>
                  <a:latin typeface="Arial Narrow" panose="020B0606020202030204" pitchFamily="34" charset="0"/>
                </a:rPr>
                <a:t>P value = 0.053 &gt; 0.05</a:t>
              </a:r>
            </a:p>
            <a:p>
              <a:pPr algn="ctr"/>
              <a:r>
                <a:rPr lang="en-US" sz="1100">
                  <a:solidFill>
                    <a:schemeClr val="tx1"/>
                  </a:solidFill>
                  <a:latin typeface="Arial Narrow" panose="020B0606020202030204" pitchFamily="34" charset="0"/>
                </a:rPr>
                <a:t>Normal Distribution</a:t>
              </a:r>
            </a:p>
          </p:txBody>
        </p:sp>
        <p:sp>
          <p:nvSpPr>
            <p:cNvPr id="63" name="Right Arrow 62"/>
            <p:cNvSpPr/>
            <p:nvPr/>
          </p:nvSpPr>
          <p:spPr>
            <a:xfrm>
              <a:off x="3871793" y="2498855"/>
              <a:ext cx="94053" cy="104503"/>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43644" y="795694"/>
            <a:ext cx="3674534" cy="0"/>
          </a:xfrm>
          <a:prstGeom prst="line">
            <a:avLst/>
          </a:prstGeom>
          <a:ln w="12700"/>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714848" y="443602"/>
            <a:ext cx="3639138" cy="369332"/>
          </a:xfrm>
          <a:prstGeom prst="rect">
            <a:avLst/>
          </a:prstGeom>
          <a:noFill/>
        </p:spPr>
        <p:txBody>
          <a:bodyPr wrap="none" rtlCol="0">
            <a:spAutoFit/>
          </a:bodyPr>
          <a:lstStyle/>
          <a:p>
            <a:r>
              <a:rPr lang="vi-VN" b="1">
                <a:latin typeface="Arial Narrow" panose="020B0606020202030204" pitchFamily="34" charset="0"/>
              </a:rPr>
              <a:t>Punch Height 6.4 mm Punch Radius 6 </a:t>
            </a:r>
            <a:endParaRPr lang="en-US" b="1">
              <a:latin typeface="Arial Narrow" panose="020B0606020202030204" pitchFamily="34" charset="0"/>
            </a:endParaRPr>
          </a:p>
        </p:txBody>
      </p:sp>
      <p:pic>
        <p:nvPicPr>
          <p:cNvPr id="3" name="Picture 2"/>
          <p:cNvPicPr>
            <a:picLocks noChangeAspect="1"/>
          </p:cNvPicPr>
          <p:nvPr/>
        </p:nvPicPr>
        <p:blipFill>
          <a:blip r:embed="rId3"/>
          <a:stretch>
            <a:fillRect/>
          </a:stretch>
        </p:blipFill>
        <p:spPr>
          <a:xfrm>
            <a:off x="5193152" y="880093"/>
            <a:ext cx="4058460" cy="2705640"/>
          </a:xfrm>
          <a:prstGeom prst="rect">
            <a:avLst/>
          </a:prstGeom>
        </p:spPr>
      </p:pic>
      <p:cxnSp>
        <p:nvCxnSpPr>
          <p:cNvPr id="30" name="Straight Connector 29"/>
          <p:cNvCxnSpPr/>
          <p:nvPr/>
        </p:nvCxnSpPr>
        <p:spPr>
          <a:xfrm>
            <a:off x="5368044" y="795877"/>
            <a:ext cx="3674534" cy="0"/>
          </a:xfrm>
          <a:prstGeom prst="line">
            <a:avLst/>
          </a:prstGeom>
          <a:ln w="12700"/>
        </p:spPr>
        <p:style>
          <a:lnRef idx="1">
            <a:schemeClr val="dk1"/>
          </a:lnRef>
          <a:fillRef idx="0">
            <a:schemeClr val="dk1"/>
          </a:fillRef>
          <a:effectRef idx="0">
            <a:schemeClr val="dk1"/>
          </a:effectRef>
          <a:fontRef idx="minor">
            <a:schemeClr val="tx1"/>
          </a:fontRef>
        </p:style>
      </p:cxnSp>
      <p:pic>
        <p:nvPicPr>
          <p:cNvPr id="5" name="Picture 4"/>
          <p:cNvPicPr>
            <a:picLocks noChangeAspect="1"/>
          </p:cNvPicPr>
          <p:nvPr/>
        </p:nvPicPr>
        <p:blipFill>
          <a:blip r:embed="rId4"/>
          <a:stretch>
            <a:fillRect/>
          </a:stretch>
        </p:blipFill>
        <p:spPr>
          <a:xfrm>
            <a:off x="5193152" y="3690891"/>
            <a:ext cx="4058460" cy="3060248"/>
          </a:xfrm>
          <a:prstGeom prst="rect">
            <a:avLst/>
          </a:prstGeom>
        </p:spPr>
      </p:pic>
      <p:sp>
        <p:nvSpPr>
          <p:cNvPr id="32" name="Rounded Rectangle 31"/>
          <p:cNvSpPr/>
          <p:nvPr/>
        </p:nvSpPr>
        <p:spPr>
          <a:xfrm>
            <a:off x="5274766" y="4514504"/>
            <a:ext cx="948266" cy="129207"/>
          </a:xfrm>
          <a:prstGeom prst="roundRect">
            <a:avLst/>
          </a:prstGeom>
          <a:noFill/>
          <a:ln>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p:cNvSpPr/>
          <p:nvPr/>
        </p:nvSpPr>
        <p:spPr>
          <a:xfrm>
            <a:off x="4760596" y="4638180"/>
            <a:ext cx="1462435" cy="472565"/>
          </a:xfrm>
          <a:prstGeom prst="triangle">
            <a:avLst>
              <a:gd name="adj" fmla="val 82320"/>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a:off x="4760597" y="5120495"/>
            <a:ext cx="1462435" cy="575663"/>
          </a:xfrm>
          <a:prstGeom prst="roundRect">
            <a:avLst>
              <a:gd name="adj" fmla="val 1806"/>
            </a:avLst>
          </a:prstGeom>
          <a:solidFill>
            <a:schemeClr val="bg1">
              <a:lumMod val="85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latin typeface="Arial Narrow" panose="020B0606020202030204" pitchFamily="34" charset="0"/>
              </a:rPr>
              <a:t>Sample mean: </a:t>
            </a:r>
            <a:r>
              <a:rPr lang="vi-VN" sz="1100">
                <a:solidFill>
                  <a:schemeClr val="tx1"/>
                </a:solidFill>
                <a:latin typeface="Arial Narrow" panose="020B0606020202030204" pitchFamily="34" charset="0"/>
              </a:rPr>
              <a:t>7.40436</a:t>
            </a:r>
          </a:p>
          <a:p>
            <a:pPr algn="ctr"/>
            <a:r>
              <a:rPr lang="vi-VN" sz="1100" b="1">
                <a:solidFill>
                  <a:schemeClr val="tx1"/>
                </a:solidFill>
                <a:latin typeface="Arial Narrow" panose="020B0606020202030204" pitchFamily="34" charset="0"/>
              </a:rPr>
              <a:t>Achieve Target</a:t>
            </a:r>
            <a:endParaRPr lang="en-US" sz="1100" b="1">
              <a:solidFill>
                <a:schemeClr val="tx1"/>
              </a:solidFill>
              <a:latin typeface="Arial Narrow" panose="020B0606020202030204" pitchFamily="34" charset="0"/>
            </a:endParaRPr>
          </a:p>
        </p:txBody>
      </p:sp>
      <p:sp>
        <p:nvSpPr>
          <p:cNvPr id="35" name="Rounded Rectangle 34"/>
          <p:cNvSpPr/>
          <p:nvPr/>
        </p:nvSpPr>
        <p:spPr>
          <a:xfrm>
            <a:off x="8171831" y="4432775"/>
            <a:ext cx="948266" cy="205405"/>
          </a:xfrm>
          <a:prstGeom prst="roundRect">
            <a:avLst/>
          </a:prstGeom>
          <a:noFill/>
          <a:ln>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p:cNvSpPr/>
          <p:nvPr/>
        </p:nvSpPr>
        <p:spPr>
          <a:xfrm>
            <a:off x="8041382" y="4638181"/>
            <a:ext cx="1789668" cy="1061754"/>
          </a:xfrm>
          <a:prstGeom prst="triangle">
            <a:avLst>
              <a:gd name="adj" fmla="val 22099"/>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p:cNvSpPr/>
          <p:nvPr/>
        </p:nvSpPr>
        <p:spPr>
          <a:xfrm>
            <a:off x="8041381" y="5712634"/>
            <a:ext cx="1789669" cy="665306"/>
          </a:xfrm>
          <a:prstGeom prst="roundRect">
            <a:avLst>
              <a:gd name="adj" fmla="val 1806"/>
            </a:avLst>
          </a:prstGeom>
          <a:solidFill>
            <a:schemeClr val="bg1">
              <a:lumMod val="85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100" b="1">
                <a:solidFill>
                  <a:schemeClr val="tx1"/>
                </a:solidFill>
                <a:latin typeface="Arial Narrow" panose="020B0606020202030204" pitchFamily="34" charset="0"/>
              </a:rPr>
              <a:t>Z Bench Overall Value = 4.76 Achieve Target</a:t>
            </a:r>
            <a:endParaRPr lang="en-US" sz="1100" dirty="0">
              <a:solidFill>
                <a:schemeClr val="tx1"/>
              </a:solidFill>
              <a:latin typeface="Arial Narrow" panose="020B0606020202030204" pitchFamily="34" charset="0"/>
            </a:endParaRPr>
          </a:p>
        </p:txBody>
      </p:sp>
      <p:sp>
        <p:nvSpPr>
          <p:cNvPr id="38" name="Isosceles Triangle 37"/>
          <p:cNvSpPr/>
          <p:nvPr/>
        </p:nvSpPr>
        <p:spPr>
          <a:xfrm>
            <a:off x="8241347" y="1872766"/>
            <a:ext cx="1532467" cy="472565"/>
          </a:xfrm>
          <a:prstGeom prst="triangle">
            <a:avLst>
              <a:gd name="adj" fmla="val 22099"/>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p:cNvSpPr/>
          <p:nvPr/>
        </p:nvSpPr>
        <p:spPr>
          <a:xfrm>
            <a:off x="8241346" y="2367047"/>
            <a:ext cx="1532467" cy="658414"/>
          </a:xfrm>
          <a:prstGeom prst="roundRect">
            <a:avLst>
              <a:gd name="adj" fmla="val 1806"/>
            </a:avLst>
          </a:prstGeom>
          <a:solidFill>
            <a:schemeClr val="bg1">
              <a:lumMod val="85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latin typeface="Arial Narrow" panose="020B0606020202030204" pitchFamily="34" charset="0"/>
              </a:rPr>
              <a:t>Data</a:t>
            </a:r>
          </a:p>
          <a:p>
            <a:pPr algn="ctr"/>
            <a:r>
              <a:rPr lang="en-US" sz="1100">
                <a:solidFill>
                  <a:schemeClr val="tx1"/>
                </a:solidFill>
                <a:latin typeface="Arial Narrow" panose="020B0606020202030204" pitchFamily="34" charset="0"/>
              </a:rPr>
              <a:t>P value = 0.</a:t>
            </a:r>
            <a:r>
              <a:rPr lang="vi-VN" sz="1100">
                <a:solidFill>
                  <a:schemeClr val="tx1"/>
                </a:solidFill>
                <a:latin typeface="Arial Narrow" panose="020B0606020202030204" pitchFamily="34" charset="0"/>
              </a:rPr>
              <a:t>403</a:t>
            </a:r>
            <a:r>
              <a:rPr lang="en-US" sz="1100">
                <a:solidFill>
                  <a:schemeClr val="tx1"/>
                </a:solidFill>
                <a:latin typeface="Arial Narrow" panose="020B0606020202030204" pitchFamily="34" charset="0"/>
              </a:rPr>
              <a:t> &gt; 0.05</a:t>
            </a:r>
          </a:p>
          <a:p>
            <a:pPr algn="ctr"/>
            <a:r>
              <a:rPr lang="en-US" sz="1100">
                <a:solidFill>
                  <a:schemeClr val="tx1"/>
                </a:solidFill>
                <a:latin typeface="Arial Narrow" panose="020B0606020202030204" pitchFamily="34" charset="0"/>
              </a:rPr>
              <a:t>Normal Distribution</a:t>
            </a:r>
          </a:p>
        </p:txBody>
      </p:sp>
      <p:sp>
        <p:nvSpPr>
          <p:cNvPr id="40" name="Rounded Rectangle 39"/>
          <p:cNvSpPr/>
          <p:nvPr/>
        </p:nvSpPr>
        <p:spPr>
          <a:xfrm>
            <a:off x="8399804" y="1721881"/>
            <a:ext cx="948266" cy="119885"/>
          </a:xfrm>
          <a:prstGeom prst="roundRect">
            <a:avLst/>
          </a:prstGeom>
          <a:noFill/>
          <a:ln>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5381914" y="434010"/>
            <a:ext cx="3797835" cy="369332"/>
          </a:xfrm>
          <a:prstGeom prst="rect">
            <a:avLst/>
          </a:prstGeom>
          <a:noFill/>
        </p:spPr>
        <p:txBody>
          <a:bodyPr wrap="none" rtlCol="0">
            <a:spAutoFit/>
          </a:bodyPr>
          <a:lstStyle/>
          <a:p>
            <a:r>
              <a:rPr lang="vi-VN" b="1">
                <a:latin typeface="Arial Narrow" panose="020B0606020202030204" pitchFamily="34" charset="0"/>
              </a:rPr>
              <a:t>Punch Height 6.7 mm Punch Radius 5.9 </a:t>
            </a:r>
            <a:endParaRPr lang="en-US" b="1">
              <a:latin typeface="Arial Narrow" panose="020B0606020202030204" pitchFamily="34" charset="0"/>
            </a:endParaRPr>
          </a:p>
        </p:txBody>
      </p:sp>
      <p:grpSp>
        <p:nvGrpSpPr>
          <p:cNvPr id="42" name="그룹 2"/>
          <p:cNvGrpSpPr/>
          <p:nvPr/>
        </p:nvGrpSpPr>
        <p:grpSpPr>
          <a:xfrm>
            <a:off x="7373344" y="38312"/>
            <a:ext cx="2457706" cy="325586"/>
            <a:chOff x="7368119" y="116689"/>
            <a:chExt cx="2457706" cy="325586"/>
          </a:xfrm>
        </p:grpSpPr>
        <p:sp>
          <p:nvSpPr>
            <p:cNvPr id="43" name="AutoShape 5"/>
            <p:cNvSpPr>
              <a:spLocks noChangeArrowheads="1"/>
            </p:cNvSpPr>
            <p:nvPr/>
          </p:nvSpPr>
          <p:spPr bwMode="auto">
            <a:xfrm>
              <a:off x="7368119" y="118425"/>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44" name="AutoShape 6"/>
            <p:cNvSpPr>
              <a:spLocks noChangeArrowheads="1"/>
            </p:cNvSpPr>
            <p:nvPr/>
          </p:nvSpPr>
          <p:spPr bwMode="auto">
            <a:xfrm>
              <a:off x="9246387" y="116689"/>
              <a:ext cx="579438" cy="323850"/>
            </a:xfrm>
            <a:prstGeom prst="chevron">
              <a:avLst>
                <a:gd name="adj" fmla="val 50397"/>
              </a:avLst>
            </a:prstGeom>
            <a:solidFill>
              <a:srgbClr val="FFFFFF"/>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45" name="AutoShape 7"/>
            <p:cNvSpPr>
              <a:spLocks noChangeArrowheads="1"/>
            </p:cNvSpPr>
            <p:nvPr/>
          </p:nvSpPr>
          <p:spPr bwMode="auto">
            <a:xfrm>
              <a:off x="8281257"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46" name="AutoShape 8"/>
            <p:cNvSpPr>
              <a:spLocks noChangeArrowheads="1"/>
            </p:cNvSpPr>
            <p:nvPr/>
          </p:nvSpPr>
          <p:spPr bwMode="auto">
            <a:xfrm>
              <a:off x="8701766" y="118425"/>
              <a:ext cx="579437" cy="323850"/>
            </a:xfrm>
            <a:prstGeom prst="chevron">
              <a:avLst>
                <a:gd name="adj" fmla="val 50484"/>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47" name="AutoShape 4"/>
            <p:cNvSpPr>
              <a:spLocks noChangeArrowheads="1"/>
            </p:cNvSpPr>
            <p:nvPr/>
          </p:nvSpPr>
          <p:spPr bwMode="auto">
            <a:xfrm>
              <a:off x="7846908" y="118425"/>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grpSp>
        <p:nvGrpSpPr>
          <p:cNvPr id="74" name="Group 73"/>
          <p:cNvGrpSpPr/>
          <p:nvPr/>
        </p:nvGrpSpPr>
        <p:grpSpPr>
          <a:xfrm>
            <a:off x="-57841" y="3677839"/>
            <a:ext cx="5084765" cy="3084946"/>
            <a:chOff x="215179" y="3511336"/>
            <a:chExt cx="5084765" cy="3084946"/>
          </a:xfrm>
        </p:grpSpPr>
        <p:pic>
          <p:nvPicPr>
            <p:cNvPr id="75" name="Picture 74"/>
            <p:cNvPicPr>
              <a:picLocks noChangeAspect="1"/>
            </p:cNvPicPr>
            <p:nvPr/>
          </p:nvPicPr>
          <p:blipFill>
            <a:blip r:embed="rId5"/>
            <a:stretch>
              <a:fillRect/>
            </a:stretch>
          </p:blipFill>
          <p:spPr>
            <a:xfrm>
              <a:off x="697568" y="3511336"/>
              <a:ext cx="4070683" cy="3084946"/>
            </a:xfrm>
            <a:prstGeom prst="rect">
              <a:avLst/>
            </a:prstGeom>
          </p:spPr>
        </p:pic>
        <p:sp>
          <p:nvSpPr>
            <p:cNvPr id="76" name="Isosceles Triangle 75"/>
            <p:cNvSpPr/>
            <p:nvPr/>
          </p:nvSpPr>
          <p:spPr>
            <a:xfrm>
              <a:off x="215179" y="4437407"/>
              <a:ext cx="1532467" cy="472565"/>
            </a:xfrm>
            <a:prstGeom prst="triangle">
              <a:avLst>
                <a:gd name="adj" fmla="val 82320"/>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p:cNvSpPr/>
            <p:nvPr/>
          </p:nvSpPr>
          <p:spPr>
            <a:xfrm>
              <a:off x="215180" y="4919722"/>
              <a:ext cx="1532467" cy="455779"/>
            </a:xfrm>
            <a:prstGeom prst="roundRect">
              <a:avLst>
                <a:gd name="adj" fmla="val 1806"/>
              </a:avLst>
            </a:prstGeom>
            <a:solidFill>
              <a:schemeClr val="bg1">
                <a:lumMod val="8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Arial Narrow" panose="020B0606020202030204" pitchFamily="34" charset="0"/>
                </a:rPr>
                <a:t>Current status</a:t>
              </a:r>
            </a:p>
            <a:p>
              <a:pPr algn="ctr"/>
              <a:r>
                <a:rPr lang="en-US" sz="1100">
                  <a:solidFill>
                    <a:schemeClr val="tx1"/>
                  </a:solidFill>
                  <a:latin typeface="Arial Narrow" panose="020B0606020202030204" pitchFamily="34" charset="0"/>
                </a:rPr>
                <a:t>Sample mean: 7.</a:t>
              </a:r>
              <a:r>
                <a:rPr lang="vi-VN" sz="1100">
                  <a:solidFill>
                    <a:schemeClr val="tx1"/>
                  </a:solidFill>
                  <a:latin typeface="Arial Narrow" panose="020B0606020202030204" pitchFamily="34" charset="0"/>
                </a:rPr>
                <a:t>35176</a:t>
              </a:r>
              <a:endParaRPr lang="en-US" sz="1100">
                <a:solidFill>
                  <a:schemeClr val="tx1"/>
                </a:solidFill>
                <a:latin typeface="Arial Narrow" panose="020B0606020202030204" pitchFamily="34" charset="0"/>
              </a:endParaRPr>
            </a:p>
          </p:txBody>
        </p:sp>
        <p:sp>
          <p:nvSpPr>
            <p:cNvPr id="78" name="Isosceles Triangle 77"/>
            <p:cNvSpPr/>
            <p:nvPr/>
          </p:nvSpPr>
          <p:spPr>
            <a:xfrm>
              <a:off x="3515853" y="4399925"/>
              <a:ext cx="1784091" cy="1259191"/>
            </a:xfrm>
            <a:prstGeom prst="triangle">
              <a:avLst>
                <a:gd name="adj" fmla="val 27794"/>
              </a:avLst>
            </a:prstGeom>
            <a:gradFill flip="none" rotWithShape="1">
              <a:gsLst>
                <a:gs pos="0">
                  <a:schemeClr val="bg1"/>
                </a:gs>
                <a:gs pos="74000">
                  <a:schemeClr val="bg1">
                    <a:lumMod val="85000"/>
                  </a:schemeClr>
                </a:gs>
                <a:gs pos="83000">
                  <a:schemeClr val="bg1">
                    <a:lumMod val="75000"/>
                  </a:schemeClr>
                </a:gs>
                <a:gs pos="100000">
                  <a:schemeClr val="bg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ounded Rectangle 78"/>
            <p:cNvSpPr/>
            <p:nvPr/>
          </p:nvSpPr>
          <p:spPr>
            <a:xfrm>
              <a:off x="3515852" y="5678076"/>
              <a:ext cx="1784092" cy="455779"/>
            </a:xfrm>
            <a:prstGeom prst="roundRect">
              <a:avLst>
                <a:gd name="adj" fmla="val 1806"/>
              </a:avLst>
            </a:prstGeom>
            <a:solidFill>
              <a:schemeClr val="bg1">
                <a:lumMod val="8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100" b="1">
                  <a:solidFill>
                    <a:schemeClr val="tx1"/>
                  </a:solidFill>
                  <a:latin typeface="Arial Narrow" panose="020B0606020202030204" pitchFamily="34" charset="0"/>
                </a:rPr>
                <a:t>Z Bench Overall Value = 0.21 confirmed as level</a:t>
              </a:r>
              <a:endParaRPr lang="en-US" sz="1100" dirty="0">
                <a:solidFill>
                  <a:schemeClr val="tx1"/>
                </a:solidFill>
                <a:latin typeface="Arial Narrow" panose="020B0606020202030204" pitchFamily="34" charset="0"/>
              </a:endParaRPr>
            </a:p>
          </p:txBody>
        </p:sp>
      </p:grpSp>
      <p:sp>
        <p:nvSpPr>
          <p:cNvPr id="80" name="Rounded Rectangle 79"/>
          <p:cNvSpPr/>
          <p:nvPr/>
        </p:nvSpPr>
        <p:spPr>
          <a:xfrm>
            <a:off x="3469190" y="4418531"/>
            <a:ext cx="823721" cy="188879"/>
          </a:xfrm>
          <a:prstGeom prst="roundRect">
            <a:avLst/>
          </a:prstGeom>
          <a:noFill/>
          <a:ln>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ounded Rectangle 80"/>
          <p:cNvSpPr/>
          <p:nvPr/>
        </p:nvSpPr>
        <p:spPr>
          <a:xfrm>
            <a:off x="484931" y="4514504"/>
            <a:ext cx="989695" cy="92906"/>
          </a:xfrm>
          <a:prstGeom prst="roundRect">
            <a:avLst/>
          </a:prstGeom>
          <a:noFill/>
          <a:ln>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5831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24084" y="2069156"/>
            <a:ext cx="1975477" cy="523220"/>
          </a:xfrm>
          <a:prstGeom prst="rect">
            <a:avLst/>
          </a:prstGeom>
          <a:noFill/>
        </p:spPr>
        <p:txBody>
          <a:bodyPr wrap="none" rtlCol="0">
            <a:spAutoFit/>
          </a:bodyPr>
          <a:lstStyle/>
          <a:p>
            <a:r>
              <a:rPr lang="vi-VN" sz="2800" b="1" u="sng">
                <a:latin typeface="Arial Narrow" panose="020B0606020202030204" pitchFamily="34" charset="0"/>
              </a:rPr>
              <a:t>V</a:t>
            </a:r>
            <a:r>
              <a:rPr lang="en-US" sz="2800" b="1" u="sng">
                <a:latin typeface="Arial Narrow" panose="020B0606020202030204" pitchFamily="34" charset="0"/>
              </a:rPr>
              <a:t>. </a:t>
            </a:r>
            <a:r>
              <a:rPr lang="vi-VN" sz="2800" b="1" u="sng">
                <a:latin typeface="Arial Narrow" panose="020B0606020202030204" pitchFamily="34" charset="0"/>
              </a:rPr>
              <a:t>CONTROL</a:t>
            </a:r>
            <a:endParaRPr lang="en-US" sz="2800" b="1" u="sng">
              <a:latin typeface="Arial Narrow" panose="020B0606020202030204" pitchFamily="34" charset="0"/>
            </a:endParaRPr>
          </a:p>
        </p:txBody>
      </p:sp>
      <p:sp>
        <p:nvSpPr>
          <p:cNvPr id="11" name="TextBox 10"/>
          <p:cNvSpPr txBox="1"/>
          <p:nvPr/>
        </p:nvSpPr>
        <p:spPr>
          <a:xfrm>
            <a:off x="3594691" y="2899954"/>
            <a:ext cx="3094117" cy="584775"/>
          </a:xfrm>
          <a:prstGeom prst="rect">
            <a:avLst/>
          </a:prstGeom>
          <a:noFill/>
        </p:spPr>
        <p:txBody>
          <a:bodyPr wrap="none" rtlCol="0">
            <a:spAutoFit/>
          </a:bodyPr>
          <a:lstStyle/>
          <a:p>
            <a:pPr marL="342900" indent="-342900">
              <a:buAutoNum type="arabicPeriod"/>
            </a:pPr>
            <a:r>
              <a:rPr lang="vi-VN" sz="1600" b="1">
                <a:latin typeface="Arial Narrow" panose="020B0606020202030204" pitchFamily="34" charset="0"/>
              </a:rPr>
              <a:t>Maintenance mold process</a:t>
            </a:r>
          </a:p>
          <a:p>
            <a:pPr marL="342900" indent="-342900">
              <a:buAutoNum type="arabicPeriod"/>
            </a:pPr>
            <a:r>
              <a:rPr lang="vi-VN" sz="1600" b="1">
                <a:latin typeface="Arial Narrow" panose="020B0606020202030204" pitchFamily="34" charset="0"/>
              </a:rPr>
              <a:t>Apply new method check punch</a:t>
            </a:r>
          </a:p>
        </p:txBody>
      </p:sp>
    </p:spTree>
    <p:extLst>
      <p:ext uri="{BB962C8B-B14F-4D97-AF65-F5344CB8AC3E}">
        <p14:creationId xmlns:p14="http://schemas.microsoft.com/office/powerpoint/2010/main" val="871930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8" name="그룹 2"/>
          <p:cNvGrpSpPr/>
          <p:nvPr/>
        </p:nvGrpSpPr>
        <p:grpSpPr>
          <a:xfrm>
            <a:off x="7373344" y="40048"/>
            <a:ext cx="2339959" cy="323850"/>
            <a:chOff x="7368119" y="118425"/>
            <a:chExt cx="2339959" cy="323850"/>
          </a:xfrm>
        </p:grpSpPr>
        <p:sp>
          <p:nvSpPr>
            <p:cNvPr id="30" name="AutoShape 5"/>
            <p:cNvSpPr>
              <a:spLocks noChangeArrowheads="1"/>
            </p:cNvSpPr>
            <p:nvPr/>
          </p:nvSpPr>
          <p:spPr bwMode="auto">
            <a:xfrm>
              <a:off x="7368119" y="118425"/>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31" name="AutoShape 6"/>
            <p:cNvSpPr>
              <a:spLocks noChangeArrowheads="1"/>
            </p:cNvSpPr>
            <p:nvPr/>
          </p:nvSpPr>
          <p:spPr bwMode="auto">
            <a:xfrm>
              <a:off x="9128640" y="118425"/>
              <a:ext cx="579438" cy="323850"/>
            </a:xfrm>
            <a:prstGeom prst="chevron">
              <a:avLst>
                <a:gd name="adj" fmla="val 50397"/>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2" name="AutoShape 7"/>
            <p:cNvSpPr>
              <a:spLocks noChangeArrowheads="1"/>
            </p:cNvSpPr>
            <p:nvPr/>
          </p:nvSpPr>
          <p:spPr bwMode="auto">
            <a:xfrm>
              <a:off x="8281257"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3" name="AutoShape 8"/>
            <p:cNvSpPr>
              <a:spLocks noChangeArrowheads="1"/>
            </p:cNvSpPr>
            <p:nvPr/>
          </p:nvSpPr>
          <p:spPr bwMode="auto">
            <a:xfrm>
              <a:off x="8701766"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4" name="AutoShape 4"/>
            <p:cNvSpPr>
              <a:spLocks noChangeArrowheads="1"/>
            </p:cNvSpPr>
            <p:nvPr/>
          </p:nvSpPr>
          <p:spPr bwMode="auto">
            <a:xfrm>
              <a:off x="7846908" y="118425"/>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sp>
        <p:nvSpPr>
          <p:cNvPr id="60" name="TextBox 59"/>
          <p:cNvSpPr txBox="1"/>
          <p:nvPr/>
        </p:nvSpPr>
        <p:spPr>
          <a:xfrm>
            <a:off x="73152" y="69580"/>
            <a:ext cx="3958135" cy="369332"/>
          </a:xfrm>
          <a:prstGeom prst="rect">
            <a:avLst/>
          </a:prstGeom>
          <a:noFill/>
        </p:spPr>
        <p:txBody>
          <a:bodyPr wrap="none" rtlCol="0">
            <a:spAutoFit/>
          </a:bodyPr>
          <a:lstStyle/>
          <a:p>
            <a:r>
              <a:rPr lang="vi-VN">
                <a:latin typeface="Arial Narrow" panose="020B0606020202030204" pitchFamily="34" charset="0"/>
              </a:rPr>
              <a:t>Use X bar Chart to control after improvement</a:t>
            </a:r>
            <a:endParaRPr lang="en-US">
              <a:latin typeface="Arial Narrow" panose="020B0606020202030204" pitchFamily="34" charset="0"/>
            </a:endParaRPr>
          </a:p>
        </p:txBody>
      </p:sp>
      <p:sp>
        <p:nvSpPr>
          <p:cNvPr id="61" name="Rectangle 60"/>
          <p:cNvSpPr/>
          <p:nvPr/>
        </p:nvSpPr>
        <p:spPr>
          <a:xfrm>
            <a:off x="140494" y="505381"/>
            <a:ext cx="8979187" cy="307777"/>
          </a:xfrm>
          <a:prstGeom prst="rect">
            <a:avLst/>
          </a:prstGeom>
        </p:spPr>
        <p:txBody>
          <a:bodyPr wrap="square">
            <a:spAutoFit/>
          </a:bodyPr>
          <a:lstStyle/>
          <a:p>
            <a:r>
              <a:rPr lang="en-US" altLang="ko-KR" sz="1400" b="1">
                <a:solidFill>
                  <a:srgbClr val="00B050"/>
                </a:solidFill>
                <a:latin typeface="Arial Narrow" panose="020B0606020202030204" pitchFamily="34" charset="0"/>
                <a:ea typeface="LG스마트체 Regular" panose="020B0600000101010101" pitchFamily="50" charset="-127"/>
              </a:rPr>
              <a:t>※</a:t>
            </a:r>
            <a:r>
              <a:rPr lang="en-US" altLang="ko-KR" sz="1400">
                <a:solidFill>
                  <a:srgbClr val="00B050"/>
                </a:solidFill>
                <a:latin typeface="Arial Narrow" panose="020B0606020202030204" pitchFamily="34" charset="0"/>
                <a:ea typeface="LG스마트체 Regular" panose="020B0600000101010101" pitchFamily="50" charset="-127"/>
              </a:rPr>
              <a:t> </a:t>
            </a:r>
            <a:r>
              <a:rPr lang="vi-VN" altLang="ko-KR" sz="1400">
                <a:solidFill>
                  <a:srgbClr val="00B050"/>
                </a:solidFill>
                <a:latin typeface="Arial Narrow" panose="020B0606020202030204" pitchFamily="34" charset="0"/>
                <a:ea typeface="LG스마트체 Regular" panose="020B0600000101010101" pitchFamily="50" charset="-127"/>
              </a:rPr>
              <a:t>After Maintenance Punch of the mold, LGEVH requests Supplier control this NG dimension by X Bar R Chart </a:t>
            </a:r>
            <a:endParaRPr lang="en-US" sz="1400">
              <a:latin typeface="Arial Narrow" panose="020B0606020202030204" pitchFamily="34" charset="0"/>
            </a:endParaRPr>
          </a:p>
        </p:txBody>
      </p:sp>
      <p:sp>
        <p:nvSpPr>
          <p:cNvPr id="3" name="사각형: 둥근 모서리 2">
            <a:extLst>
              <a:ext uri="{FF2B5EF4-FFF2-40B4-BE49-F238E27FC236}">
                <a16:creationId xmlns:a16="http://schemas.microsoft.com/office/drawing/2014/main" id="{FA3B1A95-6197-7FFA-8618-94071801D020}"/>
              </a:ext>
            </a:extLst>
          </p:cNvPr>
          <p:cNvSpPr/>
          <p:nvPr/>
        </p:nvSpPr>
        <p:spPr>
          <a:xfrm>
            <a:off x="-5051098" y="2281171"/>
            <a:ext cx="4212898" cy="963163"/>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200" dirty="0"/>
              <a:t>11st, Nov. Ken Park</a:t>
            </a:r>
          </a:p>
          <a:p>
            <a:r>
              <a:rPr lang="en-US" altLang="ko-KR" sz="1200" dirty="0"/>
              <a:t>You’d better add X bar – R Chart at this control phase for Project Y </a:t>
            </a:r>
            <a:r>
              <a:rPr lang="en-US" altLang="ko-KR" sz="1200"/>
              <a:t>dimension.</a:t>
            </a:r>
            <a:endParaRPr lang="vi-VN" altLang="ko-KR" sz="1200"/>
          </a:p>
          <a:p>
            <a:r>
              <a:rPr lang="vi-VN" altLang="ko-KR" sz="1200"/>
              <a:t>==</a:t>
            </a:r>
            <a:r>
              <a:rPr lang="vi-VN" altLang="ko-KR" sz="1200">
                <a:sym typeface="Wingdings" panose="05000000000000000000" pitchFamily="2" charset="2"/>
              </a:rPr>
              <a:t> Add control by X bar R</a:t>
            </a:r>
            <a:endParaRPr lang="en-US" altLang="ko-KR" sz="1200" dirty="0"/>
          </a:p>
        </p:txBody>
      </p:sp>
      <p:cxnSp>
        <p:nvCxnSpPr>
          <p:cNvPr id="5" name="직선 화살표 연결선 4">
            <a:extLst>
              <a:ext uri="{FF2B5EF4-FFF2-40B4-BE49-F238E27FC236}">
                <a16:creationId xmlns:a16="http://schemas.microsoft.com/office/drawing/2014/main" id="{7217A256-47F9-33E3-4833-806F3375DB98}"/>
              </a:ext>
            </a:extLst>
          </p:cNvPr>
          <p:cNvCxnSpPr>
            <a:cxnSpLocks/>
            <a:stCxn id="3" idx="1"/>
          </p:cNvCxnSpPr>
          <p:nvPr/>
        </p:nvCxnSpPr>
        <p:spPr>
          <a:xfrm flipH="1" flipV="1">
            <a:off x="-6037943" y="1944914"/>
            <a:ext cx="986845" cy="81783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aphicFrame>
        <p:nvGraphicFramePr>
          <p:cNvPr id="62" name="Table 61">
            <a:extLst>
              <a:ext uri="{FF2B5EF4-FFF2-40B4-BE49-F238E27FC236}">
                <a16:creationId xmlns:a16="http://schemas.microsoft.com/office/drawing/2014/main" id="{A56CE9A3-9CB3-4EA4-A0CB-7C25C771DA23}"/>
              </a:ext>
            </a:extLst>
          </p:cNvPr>
          <p:cNvGraphicFramePr>
            <a:graphicFrameLocks noGrp="1"/>
          </p:cNvGraphicFramePr>
          <p:nvPr>
            <p:extLst>
              <p:ext uri="{D42A27DB-BD31-4B8C-83A1-F6EECF244321}">
                <p14:modId xmlns:p14="http://schemas.microsoft.com/office/powerpoint/2010/main" val="3889781391"/>
              </p:ext>
            </p:extLst>
          </p:nvPr>
        </p:nvGraphicFramePr>
        <p:xfrm>
          <a:off x="240222" y="1517134"/>
          <a:ext cx="4541048" cy="4256552"/>
        </p:xfrm>
        <a:graphic>
          <a:graphicData uri="http://schemas.openxmlformats.org/drawingml/2006/table">
            <a:tbl>
              <a:tblPr/>
              <a:tblGrid>
                <a:gridCol w="337909">
                  <a:extLst>
                    <a:ext uri="{9D8B030D-6E8A-4147-A177-3AD203B41FA5}">
                      <a16:colId xmlns:a16="http://schemas.microsoft.com/office/drawing/2014/main" val="2004856194"/>
                    </a:ext>
                  </a:extLst>
                </a:gridCol>
                <a:gridCol w="797353">
                  <a:extLst>
                    <a:ext uri="{9D8B030D-6E8A-4147-A177-3AD203B41FA5}">
                      <a16:colId xmlns:a16="http://schemas.microsoft.com/office/drawing/2014/main" val="736895385"/>
                    </a:ext>
                  </a:extLst>
                </a:gridCol>
                <a:gridCol w="567631">
                  <a:extLst>
                    <a:ext uri="{9D8B030D-6E8A-4147-A177-3AD203B41FA5}">
                      <a16:colId xmlns:a16="http://schemas.microsoft.com/office/drawing/2014/main" val="2211048133"/>
                    </a:ext>
                  </a:extLst>
                </a:gridCol>
                <a:gridCol w="567631">
                  <a:extLst>
                    <a:ext uri="{9D8B030D-6E8A-4147-A177-3AD203B41FA5}">
                      <a16:colId xmlns:a16="http://schemas.microsoft.com/office/drawing/2014/main" val="3569644538"/>
                    </a:ext>
                  </a:extLst>
                </a:gridCol>
                <a:gridCol w="567631">
                  <a:extLst>
                    <a:ext uri="{9D8B030D-6E8A-4147-A177-3AD203B41FA5}">
                      <a16:colId xmlns:a16="http://schemas.microsoft.com/office/drawing/2014/main" val="2854871768"/>
                    </a:ext>
                  </a:extLst>
                </a:gridCol>
                <a:gridCol w="567631">
                  <a:extLst>
                    <a:ext uri="{9D8B030D-6E8A-4147-A177-3AD203B41FA5}">
                      <a16:colId xmlns:a16="http://schemas.microsoft.com/office/drawing/2014/main" val="1639378562"/>
                    </a:ext>
                  </a:extLst>
                </a:gridCol>
                <a:gridCol w="567631">
                  <a:extLst>
                    <a:ext uri="{9D8B030D-6E8A-4147-A177-3AD203B41FA5}">
                      <a16:colId xmlns:a16="http://schemas.microsoft.com/office/drawing/2014/main" val="20006"/>
                    </a:ext>
                  </a:extLst>
                </a:gridCol>
                <a:gridCol w="567631">
                  <a:extLst>
                    <a:ext uri="{9D8B030D-6E8A-4147-A177-3AD203B41FA5}">
                      <a16:colId xmlns:a16="http://schemas.microsoft.com/office/drawing/2014/main" val="20007"/>
                    </a:ext>
                  </a:extLst>
                </a:gridCol>
              </a:tblGrid>
              <a:tr h="241985">
                <a:tc rowSpan="3">
                  <a:txBody>
                    <a:bodyPr/>
                    <a:lstStyle/>
                    <a:p>
                      <a:pPr algn="ctr" fontAlgn="ctr"/>
                      <a:r>
                        <a:rPr lang="en-US" sz="1100" b="0" i="0" u="none" strike="noStrike">
                          <a:solidFill>
                            <a:srgbClr val="000000"/>
                          </a:solidFill>
                          <a:effectLst/>
                          <a:latin typeface="Arial Narrow" panose="020B0606020202030204" pitchFamily="34" charset="0"/>
                        </a:rPr>
                        <a:t>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sz="1100" b="1" i="0" u="none" strike="noStrike">
                          <a:solidFill>
                            <a:srgbClr val="000000"/>
                          </a:solidFill>
                          <a:effectLst/>
                          <a:latin typeface="Arial Narrow" panose="020B0606020202030204" pitchFamily="34" charset="0"/>
                        </a:rPr>
                        <a:t>Time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gridSpan="6">
                  <a:txBody>
                    <a:bodyPr/>
                    <a:lstStyle/>
                    <a:p>
                      <a:pPr algn="ctr" fontAlgn="ctr"/>
                      <a:r>
                        <a:rPr lang="en-US" sz="1100" b="1" i="0" u="none" strike="noStrike">
                          <a:solidFill>
                            <a:srgbClr val="000000"/>
                          </a:solidFill>
                          <a:effectLst/>
                          <a:latin typeface="Arial Narrow" panose="020B0606020202030204" pitchFamily="34" charset="0"/>
                        </a:rPr>
                        <a:t>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836471960"/>
                  </a:ext>
                </a:extLst>
              </a:tr>
              <a:tr h="236151">
                <a:tc v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100" b="1" i="0" u="none" strike="noStrike">
                          <a:solidFill>
                            <a:srgbClr val="000000"/>
                          </a:solidFill>
                          <a:effectLst/>
                          <a:latin typeface="Arial Narrow" panose="020B0606020202030204" pitchFamily="34" charset="0"/>
                        </a:rPr>
                        <a:t>First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100" b="1" i="0" u="none" strike="noStrike">
                          <a:solidFill>
                            <a:srgbClr val="000000"/>
                          </a:solidFill>
                          <a:effectLst/>
                          <a:latin typeface="Arial Narrow" panose="020B0606020202030204" pitchFamily="34" charset="0"/>
                        </a:rPr>
                        <a:t>Middle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100" b="1" i="0" u="none" strike="noStrike">
                          <a:solidFill>
                            <a:srgbClr val="000000"/>
                          </a:solidFill>
                          <a:effectLst/>
                          <a:latin typeface="Arial Narrow" panose="020B0606020202030204" pitchFamily="34" charset="0"/>
                        </a:rPr>
                        <a:t>Last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1076772"/>
                  </a:ext>
                </a:extLst>
              </a:tr>
              <a:tr h="236151">
                <a:tc v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Narrow" panose="020B0606020202030204" pitchFamily="34" charset="0"/>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vi-VN" sz="1100" b="1" i="0" u="none" strike="noStrike">
                          <a:solidFill>
                            <a:srgbClr val="000000"/>
                          </a:solidFill>
                          <a:effectLst/>
                          <a:latin typeface="Arial Narrow" panose="020B0606020202030204" pitchFamily="34" charset="0"/>
                        </a:rPr>
                        <a:t>#</a:t>
                      </a:r>
                      <a:r>
                        <a:rPr lang="vi-VN" sz="1100" b="1" i="0" u="none" strike="noStrike" baseline="0">
                          <a:solidFill>
                            <a:srgbClr val="000000"/>
                          </a:solidFill>
                          <a:effectLst/>
                          <a:latin typeface="Arial Narrow" panose="020B0606020202030204" pitchFamily="34" charset="0"/>
                        </a:rPr>
                        <a:t> </a:t>
                      </a:r>
                      <a:r>
                        <a:rPr lang="en-US" sz="1100" b="1" i="0" u="none" strike="noStrike">
                          <a:solidFill>
                            <a:srgbClr val="000000"/>
                          </a:solidFill>
                          <a:effectLst/>
                          <a:latin typeface="Arial Narrow" panose="020B060602020203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vi-VN" sz="1100" b="1" i="0" u="none" strike="noStrike">
                          <a:solidFill>
                            <a:srgbClr val="000000"/>
                          </a:solidFill>
                          <a:effectLst/>
                          <a:latin typeface="Arial Narrow" panose="020B0606020202030204" pitchFamily="34" charset="0"/>
                        </a:rPr>
                        <a:t>#</a:t>
                      </a:r>
                      <a:r>
                        <a:rPr lang="en-US" sz="1100" b="1" i="0" u="none" strike="noStrike">
                          <a:solidFill>
                            <a:srgbClr val="000000"/>
                          </a:solidFill>
                          <a:effectLst/>
                          <a:latin typeface="Arial Narrow" panose="020B0606020202030204" pitchFamily="34" charset="0"/>
                        </a:rPr>
                        <a:t>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vi-VN" sz="1100" b="1" i="0" u="none" strike="noStrike">
                          <a:solidFill>
                            <a:srgbClr val="000000"/>
                          </a:solidFill>
                          <a:effectLst/>
                          <a:latin typeface="Arial Narrow" panose="020B0606020202030204" pitchFamily="34" charset="0"/>
                        </a:rPr>
                        <a:t>#</a:t>
                      </a:r>
                      <a:r>
                        <a:rPr lang="en-US" sz="1100" b="1" i="0" u="none" strike="noStrike">
                          <a:solidFill>
                            <a:srgbClr val="000000"/>
                          </a:solidFill>
                          <a:effectLst/>
                          <a:latin typeface="Arial Narrow" panose="020B0606020202030204" pitchFamily="34" charset="0"/>
                        </a:rPr>
                        <a:t> 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vi-VN" sz="1100" b="1" i="0" u="none" strike="noStrike">
                          <a:solidFill>
                            <a:srgbClr val="000000"/>
                          </a:solidFill>
                          <a:effectLst/>
                          <a:latin typeface="Arial Narrow" panose="020B0606020202030204" pitchFamily="34" charset="0"/>
                        </a:rPr>
                        <a:t>#</a:t>
                      </a:r>
                      <a:r>
                        <a:rPr lang="en-US" sz="1100" b="1" i="0" u="none" strike="noStrike">
                          <a:solidFill>
                            <a:srgbClr val="000000"/>
                          </a:solidFill>
                          <a:effectLst/>
                          <a:latin typeface="Arial Narrow" panose="020B0606020202030204" pitchFamily="34" charset="0"/>
                        </a:rPr>
                        <a:t> 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vi-VN" sz="1100" b="1" i="0" u="none" strike="noStrike">
                          <a:solidFill>
                            <a:srgbClr val="000000"/>
                          </a:solidFill>
                          <a:effectLst/>
                          <a:latin typeface="Arial Narrow" panose="020B0606020202030204" pitchFamily="34" charset="0"/>
                        </a:rPr>
                        <a:t>#</a:t>
                      </a:r>
                      <a:r>
                        <a:rPr lang="en-US" sz="1100" b="1" i="0" u="none" strike="noStrike">
                          <a:solidFill>
                            <a:srgbClr val="000000"/>
                          </a:solidFill>
                          <a:effectLst/>
                          <a:latin typeface="Arial Narrow" panose="020B0606020202030204" pitchFamily="34" charset="0"/>
                        </a:rPr>
                        <a:t> 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vi-VN" sz="1100" b="1" i="0" u="none" strike="noStrike">
                          <a:solidFill>
                            <a:srgbClr val="000000"/>
                          </a:solidFill>
                          <a:effectLst/>
                          <a:latin typeface="Arial Narrow" panose="020B0606020202030204" pitchFamily="34" charset="0"/>
                        </a:rPr>
                        <a:t>#</a:t>
                      </a:r>
                      <a:r>
                        <a:rPr lang="en-US" sz="1100" b="1" i="0" u="none" strike="noStrike">
                          <a:solidFill>
                            <a:srgbClr val="000000"/>
                          </a:solidFill>
                          <a:effectLst/>
                          <a:latin typeface="Arial Narrow" panose="020B0606020202030204" pitchFamily="34" charset="0"/>
                        </a:rPr>
                        <a:t> 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26343639"/>
                  </a:ext>
                </a:extLst>
              </a:tr>
              <a:tr h="236151">
                <a:tc>
                  <a:txBody>
                    <a:bodyPr/>
                    <a:lstStyle/>
                    <a:p>
                      <a:pPr algn="ctr" fontAlgn="ctr"/>
                      <a:r>
                        <a:rPr lang="en-US" sz="1100" b="0" i="0" u="none" strike="noStrike">
                          <a:solidFill>
                            <a:srgbClr val="000000"/>
                          </a:solidFill>
                          <a:effectLst/>
                          <a:latin typeface="Arial Narrow" panose="020B060602020203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15-Sep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5531898"/>
                  </a:ext>
                </a:extLst>
              </a:tr>
              <a:tr h="236151">
                <a:tc>
                  <a:txBody>
                    <a:bodyPr/>
                    <a:lstStyle/>
                    <a:p>
                      <a:pPr algn="ctr" fontAlgn="ctr"/>
                      <a:r>
                        <a:rPr lang="en-US" sz="1100" b="0" i="0" u="none" strike="noStrike">
                          <a:solidFill>
                            <a:srgbClr val="000000"/>
                          </a:solidFill>
                          <a:effectLst/>
                          <a:latin typeface="Arial Narrow" panose="020B0606020202030204"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16-Sep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040395"/>
                  </a:ext>
                </a:extLst>
              </a:tr>
              <a:tr h="236151">
                <a:tc>
                  <a:txBody>
                    <a:bodyPr/>
                    <a:lstStyle/>
                    <a:p>
                      <a:pPr algn="ctr" fontAlgn="ctr"/>
                      <a:r>
                        <a:rPr lang="en-US" sz="1100" b="0" i="0" u="none" strike="noStrike">
                          <a:solidFill>
                            <a:srgbClr val="000000"/>
                          </a:solidFill>
                          <a:effectLst/>
                          <a:latin typeface="Arial Narrow" panose="020B0606020202030204" pitchFamily="34"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17-Sep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3406043"/>
                  </a:ext>
                </a:extLst>
              </a:tr>
              <a:tr h="236151">
                <a:tc>
                  <a:txBody>
                    <a:bodyPr/>
                    <a:lstStyle/>
                    <a:p>
                      <a:pPr algn="ctr" fontAlgn="ctr"/>
                      <a:r>
                        <a:rPr lang="en-US" sz="1100" b="0" i="0" u="none" strike="noStrike">
                          <a:solidFill>
                            <a:srgbClr val="000000"/>
                          </a:solidFill>
                          <a:effectLst/>
                          <a:latin typeface="Arial Narrow" panose="020B0606020202030204" pitchFamily="34"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18-Sep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8981042"/>
                  </a:ext>
                </a:extLst>
              </a:tr>
              <a:tr h="236151">
                <a:tc>
                  <a:txBody>
                    <a:bodyPr/>
                    <a:lstStyle/>
                    <a:p>
                      <a:pPr algn="ctr" fontAlgn="ctr"/>
                      <a:r>
                        <a:rPr lang="en-US" sz="1100" b="0" i="0" u="none" strike="noStrike">
                          <a:solidFill>
                            <a:srgbClr val="000000"/>
                          </a:solidFill>
                          <a:effectLst/>
                          <a:latin typeface="Arial Narrow" panose="020B0606020202030204" pitchFamily="34"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19-Sep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174773"/>
                  </a:ext>
                </a:extLst>
              </a:tr>
              <a:tr h="236151">
                <a:tc>
                  <a:txBody>
                    <a:bodyPr/>
                    <a:lstStyle/>
                    <a:p>
                      <a:pPr algn="ctr" fontAlgn="ctr"/>
                      <a:r>
                        <a:rPr lang="en-US" sz="1100" b="0" i="0" u="none" strike="noStrike">
                          <a:solidFill>
                            <a:srgbClr val="000000"/>
                          </a:solidFill>
                          <a:effectLst/>
                          <a:latin typeface="Arial Narrow" panose="020B0606020202030204" pitchFamily="34"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20-Sep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4041604"/>
                  </a:ext>
                </a:extLst>
              </a:tr>
              <a:tr h="236151">
                <a:tc>
                  <a:txBody>
                    <a:bodyPr/>
                    <a:lstStyle/>
                    <a:p>
                      <a:pPr algn="ctr" fontAlgn="ctr"/>
                      <a:r>
                        <a:rPr lang="en-US" sz="1100" b="0" i="0" u="none" strike="noStrike">
                          <a:solidFill>
                            <a:srgbClr val="000000"/>
                          </a:solidFill>
                          <a:effectLst/>
                          <a:latin typeface="Arial Narrow" panose="020B0606020202030204" pitchFamily="34"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22-Sep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8528226"/>
                  </a:ext>
                </a:extLst>
              </a:tr>
              <a:tr h="236151">
                <a:tc>
                  <a:txBody>
                    <a:bodyPr/>
                    <a:lstStyle/>
                    <a:p>
                      <a:pPr algn="ctr" fontAlgn="ctr"/>
                      <a:r>
                        <a:rPr lang="en-US" sz="1100" b="0" i="0" u="none" strike="noStrike">
                          <a:solidFill>
                            <a:srgbClr val="000000"/>
                          </a:solidFill>
                          <a:effectLst/>
                          <a:latin typeface="Arial Narrow" panose="020B0606020202030204" pitchFamily="34"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23-Sep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461391"/>
                  </a:ext>
                </a:extLst>
              </a:tr>
              <a:tr h="236151">
                <a:tc>
                  <a:txBody>
                    <a:bodyPr/>
                    <a:lstStyle/>
                    <a:p>
                      <a:pPr algn="ctr" fontAlgn="ctr"/>
                      <a:r>
                        <a:rPr lang="en-US" sz="1100" b="0" i="0" u="none" strike="noStrike">
                          <a:solidFill>
                            <a:srgbClr val="000000"/>
                          </a:solidFill>
                          <a:effectLst/>
                          <a:latin typeface="Arial Narrow" panose="020B0606020202030204" pitchFamily="34"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24-Sep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36151">
                <a:tc>
                  <a:txBody>
                    <a:bodyPr/>
                    <a:lstStyle/>
                    <a:p>
                      <a:pPr algn="ctr" fontAlgn="ctr"/>
                      <a:r>
                        <a:rPr lang="en-US" sz="1100" b="0" i="0" u="none" strike="noStrike">
                          <a:solidFill>
                            <a:srgbClr val="000000"/>
                          </a:solidFill>
                          <a:effectLst/>
                          <a:latin typeface="Arial Narrow" panose="020B060602020203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25-Sep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36151">
                <a:tc>
                  <a:txBody>
                    <a:bodyPr/>
                    <a:lstStyle/>
                    <a:p>
                      <a:pPr algn="ctr" fontAlgn="ctr"/>
                      <a:r>
                        <a:rPr lang="en-US" sz="1100" b="0" i="0" u="none" strike="noStrike">
                          <a:solidFill>
                            <a:srgbClr val="000000"/>
                          </a:solidFill>
                          <a:effectLst/>
                          <a:latin typeface="Arial Narrow" panose="020B0606020202030204" pitchFamily="34"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26-Sep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36151">
                <a:tc>
                  <a:txBody>
                    <a:bodyPr/>
                    <a:lstStyle/>
                    <a:p>
                      <a:pPr algn="ctr" fontAlgn="ctr"/>
                      <a:r>
                        <a:rPr lang="en-US" sz="1100" b="0" i="0" u="none" strike="noStrike">
                          <a:solidFill>
                            <a:srgbClr val="000000"/>
                          </a:solidFill>
                          <a:effectLst/>
                          <a:latin typeface="Arial Narrow" panose="020B0606020202030204" pitchFamily="34"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27-Sep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36151">
                <a:tc>
                  <a:txBody>
                    <a:bodyPr/>
                    <a:lstStyle/>
                    <a:p>
                      <a:pPr algn="ctr" fontAlgn="ctr"/>
                      <a:r>
                        <a:rPr lang="en-US" sz="1100" b="0" i="0" u="none" strike="noStrike">
                          <a:solidFill>
                            <a:srgbClr val="000000"/>
                          </a:solidFill>
                          <a:effectLst/>
                          <a:latin typeface="Arial Narrow" panose="020B0606020202030204" pitchFamily="34" charset="0"/>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28-Sep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36151">
                <a:tc>
                  <a:txBody>
                    <a:bodyPr/>
                    <a:lstStyle/>
                    <a:p>
                      <a:pPr algn="ctr" fontAlgn="ctr"/>
                      <a:r>
                        <a:rPr lang="en-US" sz="1100" b="0" i="0" u="none" strike="noStrike">
                          <a:solidFill>
                            <a:srgbClr val="000000"/>
                          </a:solidFill>
                          <a:effectLst/>
                          <a:latin typeface="Arial Narrow" panose="020B0606020202030204" pitchFamily="34" charset="0"/>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29-Sep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36151">
                <a:tc>
                  <a:txBody>
                    <a:bodyPr/>
                    <a:lstStyle/>
                    <a:p>
                      <a:pPr algn="ctr" fontAlgn="ctr"/>
                      <a:r>
                        <a:rPr lang="en-US" sz="1100" b="0" i="0" u="none" strike="noStrike">
                          <a:solidFill>
                            <a:srgbClr val="000000"/>
                          </a:solidFill>
                          <a:effectLst/>
                          <a:latin typeface="Arial Narrow" panose="020B0606020202030204" pitchFamily="34"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Narrow" panose="020B0606020202030204" pitchFamily="34" charset="0"/>
                        </a:rPr>
                        <a:t>30-Sep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Arial Narrow" panose="020B0606020202030204" pitchFamily="34" charset="0"/>
                        </a:rPr>
                        <a:t>7.428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63" name="Text Box 2">
            <a:extLst>
              <a:ext uri="{FF2B5EF4-FFF2-40B4-BE49-F238E27FC236}">
                <a16:creationId xmlns:a16="http://schemas.microsoft.com/office/drawing/2014/main" id="{FC299830-76C4-4A98-813D-65F7ED183C40}"/>
              </a:ext>
            </a:extLst>
          </p:cNvPr>
          <p:cNvSpPr txBox="1">
            <a:spLocks noChangeArrowheads="1"/>
          </p:cNvSpPr>
          <p:nvPr/>
        </p:nvSpPr>
        <p:spPr bwMode="auto">
          <a:xfrm>
            <a:off x="140493" y="596681"/>
            <a:ext cx="4621287" cy="965872"/>
          </a:xfrm>
          <a:prstGeom prst="rect">
            <a:avLst/>
          </a:prstGeom>
          <a:noFill/>
          <a:ln w="9525" algn="ctr">
            <a:noFill/>
            <a:miter lim="800000"/>
            <a:headEnd/>
            <a:tailEnd/>
          </a:ln>
        </p:spPr>
        <p:txBody>
          <a:bodyPr lIns="84374" tIns="42187" rIns="84374" bIns="42187" anchor="ctr"/>
          <a:lstStyle/>
          <a:p>
            <a:pPr latinLnBrk="0"/>
            <a:r>
              <a:rPr lang="vi-VN" altLang="ko-KR" sz="1200" b="1">
                <a:latin typeface="Arial Narrow" panose="020B0606020202030204" pitchFamily="34" charset="0"/>
                <a:ea typeface="LG스마트체 Regular" panose="020B0600000101010101" pitchFamily="50" charset="-127"/>
              </a:rPr>
              <a:t>Method:</a:t>
            </a:r>
          </a:p>
          <a:p>
            <a:pPr latinLnBrk="0"/>
            <a:r>
              <a:rPr lang="vi-VN" altLang="ko-KR" sz="1200">
                <a:latin typeface="Arial Narrow" panose="020B0606020202030204" pitchFamily="34" charset="0"/>
                <a:ea typeface="LG스마트체 Regular" panose="020B0600000101010101" pitchFamily="50" charset="-127"/>
              </a:rPr>
              <a:t>Time: Control 15 Days with NG point</a:t>
            </a:r>
          </a:p>
          <a:p>
            <a:pPr latinLnBrk="0"/>
            <a:r>
              <a:rPr lang="vi-VN" altLang="ko-KR" sz="1200">
                <a:latin typeface="Arial Narrow" panose="020B0606020202030204" pitchFamily="34" charset="0"/>
                <a:ea typeface="LG스마트체 Regular" panose="020B0600000101010101" pitchFamily="50" charset="-127"/>
              </a:rPr>
              <a:t>Sample: 6ea at Out-Going Quality (OQC) (2ea per First, middle, Last  /     Day) </a:t>
            </a:r>
            <a:endParaRPr lang="en-US" altLang="ko-KR" sz="1200" dirty="0">
              <a:latin typeface="Arial Narrow" panose="020B0606020202030204" pitchFamily="34" charset="0"/>
              <a:ea typeface="LG스마트체 Regular" panose="020B0600000101010101" pitchFamily="50" charset="-127"/>
            </a:endParaRPr>
          </a:p>
        </p:txBody>
      </p:sp>
      <p:pic>
        <p:nvPicPr>
          <p:cNvPr id="6" name="Picture 5"/>
          <p:cNvPicPr>
            <a:picLocks noChangeAspect="1"/>
          </p:cNvPicPr>
          <p:nvPr/>
        </p:nvPicPr>
        <p:blipFill>
          <a:blip r:embed="rId2"/>
          <a:stretch>
            <a:fillRect/>
          </a:stretch>
        </p:blipFill>
        <p:spPr>
          <a:xfrm>
            <a:off x="4876239" y="1517134"/>
            <a:ext cx="4900003" cy="3657600"/>
          </a:xfrm>
          <a:prstGeom prst="rect">
            <a:avLst/>
          </a:prstGeom>
        </p:spPr>
      </p:pic>
    </p:spTree>
    <p:extLst>
      <p:ext uri="{BB962C8B-B14F-4D97-AF65-F5344CB8AC3E}">
        <p14:creationId xmlns:p14="http://schemas.microsoft.com/office/powerpoint/2010/main" val="1528375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8" name="그룹 2"/>
          <p:cNvGrpSpPr/>
          <p:nvPr/>
        </p:nvGrpSpPr>
        <p:grpSpPr>
          <a:xfrm>
            <a:off x="7373344" y="40048"/>
            <a:ext cx="2339959" cy="323850"/>
            <a:chOff x="7368119" y="118425"/>
            <a:chExt cx="2339959" cy="323850"/>
          </a:xfrm>
        </p:grpSpPr>
        <p:sp>
          <p:nvSpPr>
            <p:cNvPr id="30" name="AutoShape 5"/>
            <p:cNvSpPr>
              <a:spLocks noChangeArrowheads="1"/>
            </p:cNvSpPr>
            <p:nvPr/>
          </p:nvSpPr>
          <p:spPr bwMode="auto">
            <a:xfrm>
              <a:off x="7368119" y="118425"/>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31" name="AutoShape 6"/>
            <p:cNvSpPr>
              <a:spLocks noChangeArrowheads="1"/>
            </p:cNvSpPr>
            <p:nvPr/>
          </p:nvSpPr>
          <p:spPr bwMode="auto">
            <a:xfrm>
              <a:off x="9128640" y="118425"/>
              <a:ext cx="579438" cy="323850"/>
            </a:xfrm>
            <a:prstGeom prst="chevron">
              <a:avLst>
                <a:gd name="adj" fmla="val 50397"/>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2" name="AutoShape 7"/>
            <p:cNvSpPr>
              <a:spLocks noChangeArrowheads="1"/>
            </p:cNvSpPr>
            <p:nvPr/>
          </p:nvSpPr>
          <p:spPr bwMode="auto">
            <a:xfrm>
              <a:off x="8281257"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3" name="AutoShape 8"/>
            <p:cNvSpPr>
              <a:spLocks noChangeArrowheads="1"/>
            </p:cNvSpPr>
            <p:nvPr/>
          </p:nvSpPr>
          <p:spPr bwMode="auto">
            <a:xfrm>
              <a:off x="8701766"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4" name="AutoShape 4"/>
            <p:cNvSpPr>
              <a:spLocks noChangeArrowheads="1"/>
            </p:cNvSpPr>
            <p:nvPr/>
          </p:nvSpPr>
          <p:spPr bwMode="auto">
            <a:xfrm>
              <a:off x="7846908" y="118425"/>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pic>
        <p:nvPicPr>
          <p:cNvPr id="27" name="Picture 26">
            <a:extLst>
              <a:ext uri="{FF2B5EF4-FFF2-40B4-BE49-F238E27FC236}">
                <a16:creationId xmlns:a16="http://schemas.microsoft.com/office/drawing/2014/main" id="{C8806688-3502-4EA9-83F6-9CB93CDFF6C6}"/>
              </a:ext>
            </a:extLst>
          </p:cNvPr>
          <p:cNvPicPr>
            <a:picLocks noChangeAspect="1"/>
          </p:cNvPicPr>
          <p:nvPr/>
        </p:nvPicPr>
        <p:blipFill>
          <a:blip r:embed="rId2"/>
          <a:stretch>
            <a:fillRect/>
          </a:stretch>
        </p:blipFill>
        <p:spPr>
          <a:xfrm>
            <a:off x="599710" y="1375478"/>
            <a:ext cx="3970957" cy="2715080"/>
          </a:xfrm>
          <a:prstGeom prst="rect">
            <a:avLst/>
          </a:prstGeom>
          <a:ln>
            <a:solidFill>
              <a:schemeClr val="bg1">
                <a:lumMod val="65000"/>
              </a:schemeClr>
            </a:solidFill>
          </a:ln>
        </p:spPr>
      </p:pic>
      <p:sp>
        <p:nvSpPr>
          <p:cNvPr id="35" name="Rectangle 34">
            <a:extLst>
              <a:ext uri="{FF2B5EF4-FFF2-40B4-BE49-F238E27FC236}">
                <a16:creationId xmlns:a16="http://schemas.microsoft.com/office/drawing/2014/main" id="{3D4060A3-49B7-4101-9160-69AE9DC98EBB}"/>
              </a:ext>
            </a:extLst>
          </p:cNvPr>
          <p:cNvSpPr/>
          <p:nvPr/>
        </p:nvSpPr>
        <p:spPr>
          <a:xfrm>
            <a:off x="491213" y="1232943"/>
            <a:ext cx="8520423" cy="4598878"/>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02">
              <a:latin typeface="Arial Narrow" panose="020B060602020203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C8E4426D-9F33-44D0-BCF9-7756D9DD7670}"/>
              </a:ext>
            </a:extLst>
          </p:cNvPr>
          <p:cNvCxnSpPr>
            <a:stCxn id="35" idx="0"/>
            <a:endCxn id="35" idx="2"/>
          </p:cNvCxnSpPr>
          <p:nvPr/>
        </p:nvCxnSpPr>
        <p:spPr>
          <a:xfrm>
            <a:off x="4751425" y="1232943"/>
            <a:ext cx="0" cy="45988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Pentagon 64">
            <a:extLst>
              <a:ext uri="{FF2B5EF4-FFF2-40B4-BE49-F238E27FC236}">
                <a16:creationId xmlns:a16="http://schemas.microsoft.com/office/drawing/2014/main" id="{D3D073F5-8292-48A3-9E88-D487E1DE6D72}"/>
              </a:ext>
            </a:extLst>
          </p:cNvPr>
          <p:cNvSpPr/>
          <p:nvPr/>
        </p:nvSpPr>
        <p:spPr>
          <a:xfrm>
            <a:off x="491213" y="910403"/>
            <a:ext cx="900423" cy="268783"/>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2" b="1" dirty="0">
                <a:solidFill>
                  <a:schemeClr val="bg1"/>
                </a:solidFill>
                <a:latin typeface="Arial Narrow" panose="020B0606020202030204" pitchFamily="34" charset="0"/>
                <a:cs typeface="Arial" panose="020B0604020202020204" pitchFamily="34" charset="0"/>
              </a:rPr>
              <a:t>BEFORE</a:t>
            </a:r>
          </a:p>
        </p:txBody>
      </p:sp>
      <p:sp>
        <p:nvSpPr>
          <p:cNvPr id="38" name="Pentagon 65">
            <a:extLst>
              <a:ext uri="{FF2B5EF4-FFF2-40B4-BE49-F238E27FC236}">
                <a16:creationId xmlns:a16="http://schemas.microsoft.com/office/drawing/2014/main" id="{FF98C207-EFD9-4932-9A65-D3D4CE4D0F38}"/>
              </a:ext>
            </a:extLst>
          </p:cNvPr>
          <p:cNvSpPr/>
          <p:nvPr/>
        </p:nvSpPr>
        <p:spPr>
          <a:xfrm>
            <a:off x="4570667" y="934594"/>
            <a:ext cx="900423" cy="268783"/>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2" b="1" dirty="0">
                <a:solidFill>
                  <a:schemeClr val="bg1"/>
                </a:solidFill>
                <a:latin typeface="Arial Narrow" panose="020B0606020202030204" pitchFamily="34" charset="0"/>
                <a:cs typeface="Arial" panose="020B0604020202020204" pitchFamily="34" charset="0"/>
              </a:rPr>
              <a:t>AFTER</a:t>
            </a:r>
          </a:p>
        </p:txBody>
      </p:sp>
      <p:sp>
        <p:nvSpPr>
          <p:cNvPr id="39" name="Pentagon 7">
            <a:extLst>
              <a:ext uri="{FF2B5EF4-FFF2-40B4-BE49-F238E27FC236}">
                <a16:creationId xmlns:a16="http://schemas.microsoft.com/office/drawing/2014/main" id="{5B767C96-2146-4830-B60A-D48FDAAC615E}"/>
              </a:ext>
            </a:extLst>
          </p:cNvPr>
          <p:cNvSpPr/>
          <p:nvPr/>
        </p:nvSpPr>
        <p:spPr>
          <a:xfrm>
            <a:off x="578913" y="4355309"/>
            <a:ext cx="806366" cy="247650"/>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Mold reaper finish</a:t>
            </a:r>
          </a:p>
        </p:txBody>
      </p:sp>
      <p:sp>
        <p:nvSpPr>
          <p:cNvPr id="40" name="Pentagon 43">
            <a:extLst>
              <a:ext uri="{FF2B5EF4-FFF2-40B4-BE49-F238E27FC236}">
                <a16:creationId xmlns:a16="http://schemas.microsoft.com/office/drawing/2014/main" id="{074F0641-DDCB-4319-88C8-898EAB965B1D}"/>
              </a:ext>
            </a:extLst>
          </p:cNvPr>
          <p:cNvSpPr/>
          <p:nvPr/>
        </p:nvSpPr>
        <p:spPr>
          <a:xfrm>
            <a:off x="1659452" y="4364400"/>
            <a:ext cx="806366" cy="247650"/>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Setting trial</a:t>
            </a:r>
          </a:p>
        </p:txBody>
      </p:sp>
      <p:sp>
        <p:nvSpPr>
          <p:cNvPr id="41" name="Pentagon 44">
            <a:extLst>
              <a:ext uri="{FF2B5EF4-FFF2-40B4-BE49-F238E27FC236}">
                <a16:creationId xmlns:a16="http://schemas.microsoft.com/office/drawing/2014/main" id="{2F4272E7-EE33-4A76-BF2F-7E7C4B50AFAE}"/>
              </a:ext>
            </a:extLst>
          </p:cNvPr>
          <p:cNvSpPr/>
          <p:nvPr/>
        </p:nvSpPr>
        <p:spPr>
          <a:xfrm>
            <a:off x="2709018" y="4364400"/>
            <a:ext cx="806366" cy="247650"/>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LQC check sample </a:t>
            </a:r>
          </a:p>
        </p:txBody>
      </p:sp>
      <p:sp>
        <p:nvSpPr>
          <p:cNvPr id="42" name="Pentagon 45">
            <a:extLst>
              <a:ext uri="{FF2B5EF4-FFF2-40B4-BE49-F238E27FC236}">
                <a16:creationId xmlns:a16="http://schemas.microsoft.com/office/drawing/2014/main" id="{7015C5A0-2994-44E5-A05E-2FB75036E8EB}"/>
              </a:ext>
            </a:extLst>
          </p:cNvPr>
          <p:cNvSpPr/>
          <p:nvPr/>
        </p:nvSpPr>
        <p:spPr>
          <a:xfrm>
            <a:off x="3766418" y="4339000"/>
            <a:ext cx="806366" cy="247650"/>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Confirm MP</a:t>
            </a:r>
          </a:p>
        </p:txBody>
      </p:sp>
      <p:sp>
        <p:nvSpPr>
          <p:cNvPr id="43" name="Rectangle 42">
            <a:extLst>
              <a:ext uri="{FF2B5EF4-FFF2-40B4-BE49-F238E27FC236}">
                <a16:creationId xmlns:a16="http://schemas.microsoft.com/office/drawing/2014/main" id="{20C2239E-647B-4AFF-A40D-F45D096B3EF8}"/>
              </a:ext>
            </a:extLst>
          </p:cNvPr>
          <p:cNvSpPr/>
          <p:nvPr/>
        </p:nvSpPr>
        <p:spPr>
          <a:xfrm>
            <a:off x="2709018" y="4666458"/>
            <a:ext cx="698685" cy="51745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Check 5 sample if OK confirm </a:t>
            </a:r>
            <a:r>
              <a:rPr lang="en-US" sz="700" dirty="0">
                <a:solidFill>
                  <a:srgbClr val="FF0000"/>
                </a:solidFill>
                <a:latin typeface="Arial Narrow" panose="020B0606020202030204" pitchFamily="34" charset="0"/>
                <a:cs typeface="Arial" panose="020B0604020202020204" pitchFamily="34" charset="0"/>
              </a:rPr>
              <a:t>MP if NG continues repair Mold</a:t>
            </a:r>
          </a:p>
        </p:txBody>
      </p:sp>
      <p:sp>
        <p:nvSpPr>
          <p:cNvPr id="44" name="Rectangle 43">
            <a:extLst>
              <a:ext uri="{FF2B5EF4-FFF2-40B4-BE49-F238E27FC236}">
                <a16:creationId xmlns:a16="http://schemas.microsoft.com/office/drawing/2014/main" id="{3E019DA0-E563-4E2A-9096-447688D9BCC5}"/>
              </a:ext>
            </a:extLst>
          </p:cNvPr>
          <p:cNvSpPr/>
          <p:nvPr/>
        </p:nvSpPr>
        <p:spPr>
          <a:xfrm>
            <a:off x="3407704" y="2689748"/>
            <a:ext cx="585884" cy="10439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45" name="Rectangle 44">
            <a:extLst>
              <a:ext uri="{FF2B5EF4-FFF2-40B4-BE49-F238E27FC236}">
                <a16:creationId xmlns:a16="http://schemas.microsoft.com/office/drawing/2014/main" id="{CA3F7F84-EEE5-4ADA-AE78-D9820062B2AF}"/>
              </a:ext>
            </a:extLst>
          </p:cNvPr>
          <p:cNvSpPr/>
          <p:nvPr/>
        </p:nvSpPr>
        <p:spPr>
          <a:xfrm>
            <a:off x="2605794" y="4273685"/>
            <a:ext cx="927958" cy="9690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Arial Narrow" panose="020B0606020202030204" pitchFamily="34" charset="0"/>
            </a:endParaRPr>
          </a:p>
        </p:txBody>
      </p:sp>
      <p:sp>
        <p:nvSpPr>
          <p:cNvPr id="46" name="Rectangle 45">
            <a:extLst>
              <a:ext uri="{FF2B5EF4-FFF2-40B4-BE49-F238E27FC236}">
                <a16:creationId xmlns:a16="http://schemas.microsoft.com/office/drawing/2014/main" id="{E8B6DEC0-26E2-47B9-834F-903F0EF9918B}"/>
              </a:ext>
            </a:extLst>
          </p:cNvPr>
          <p:cNvSpPr/>
          <p:nvPr/>
        </p:nvSpPr>
        <p:spPr>
          <a:xfrm>
            <a:off x="599710" y="5418760"/>
            <a:ext cx="3902864" cy="3476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40329" indent="-240329">
              <a:buFont typeface="Wingdings" panose="05000000000000000000" pitchFamily="2" charset="2"/>
              <a:buChar char="Ø"/>
              <a:defRPr/>
            </a:pPr>
            <a:r>
              <a:rPr lang="en-US" sz="1100" dirty="0">
                <a:solidFill>
                  <a:srgbClr val="FF0000"/>
                </a:solidFill>
                <a:latin typeface="Arial Narrow" panose="020B0606020202030204" pitchFamily="34" charset="0"/>
                <a:cs typeface="Arial" panose="020B0604020202020204" pitchFamily="34" charset="0"/>
              </a:rPr>
              <a:t>After repair Mold only LQC </a:t>
            </a:r>
            <a:r>
              <a:rPr lang="en-US" sz="1100">
                <a:solidFill>
                  <a:srgbClr val="FF0000"/>
                </a:solidFill>
                <a:latin typeface="Arial Narrow" panose="020B0606020202030204" pitchFamily="34" charset="0"/>
                <a:cs typeface="Arial" panose="020B0604020202020204" pitchFamily="34" charset="0"/>
              </a:rPr>
              <a:t>check </a:t>
            </a:r>
            <a:r>
              <a:rPr lang="vi-VN" sz="1100">
                <a:solidFill>
                  <a:srgbClr val="FF0000"/>
                </a:solidFill>
                <a:latin typeface="Arial Narrow" panose="020B0606020202030204" pitchFamily="34" charset="0"/>
                <a:cs typeface="Arial" panose="020B0604020202020204" pitchFamily="34" charset="0"/>
              </a:rPr>
              <a:t>5ea</a:t>
            </a:r>
            <a:r>
              <a:rPr lang="en-US" sz="1100">
                <a:solidFill>
                  <a:srgbClr val="FF0000"/>
                </a:solidFill>
                <a:latin typeface="Arial Narrow" panose="020B0606020202030204" pitchFamily="34" charset="0"/>
                <a:cs typeface="Arial" panose="020B0604020202020204" pitchFamily="34" charset="0"/>
              </a:rPr>
              <a:t> sample </a:t>
            </a:r>
            <a:endParaRPr lang="vi-VN" sz="1100">
              <a:solidFill>
                <a:srgbClr val="FF0000"/>
              </a:solidFill>
              <a:latin typeface="Arial Narrow" panose="020B0606020202030204" pitchFamily="34" charset="0"/>
              <a:cs typeface="Arial" panose="020B0604020202020204" pitchFamily="34" charset="0"/>
            </a:endParaRPr>
          </a:p>
          <a:p>
            <a:pPr>
              <a:defRPr/>
            </a:pPr>
            <a:r>
              <a:rPr lang="vi-VN" sz="1100">
                <a:solidFill>
                  <a:srgbClr val="FF0000"/>
                </a:solidFill>
                <a:latin typeface="Arial Narrow" panose="020B0606020202030204" pitchFamily="34" charset="0"/>
                <a:cs typeface="Arial" panose="020B0604020202020204" pitchFamily="34" charset="0"/>
              </a:rPr>
              <a:t>       (Only DR dimension and appearance)</a:t>
            </a:r>
            <a:endParaRPr lang="en-US" sz="1100" dirty="0">
              <a:solidFill>
                <a:srgbClr val="FF0000"/>
              </a:solidFill>
              <a:latin typeface="Arial Narrow" panose="020B0606020202030204" pitchFamily="34" charset="0"/>
              <a:cs typeface="Arial" panose="020B0604020202020204" pitchFamily="34" charset="0"/>
            </a:endParaRPr>
          </a:p>
        </p:txBody>
      </p:sp>
      <p:pic>
        <p:nvPicPr>
          <p:cNvPr id="47" name="Picture 46">
            <a:extLst>
              <a:ext uri="{FF2B5EF4-FFF2-40B4-BE49-F238E27FC236}">
                <a16:creationId xmlns:a16="http://schemas.microsoft.com/office/drawing/2014/main" id="{F066CF9C-524B-4CDC-B8FD-931275802C86}"/>
              </a:ext>
            </a:extLst>
          </p:cNvPr>
          <p:cNvPicPr>
            <a:picLocks noChangeAspect="1"/>
          </p:cNvPicPr>
          <p:nvPr/>
        </p:nvPicPr>
        <p:blipFill>
          <a:blip r:embed="rId3"/>
          <a:stretch>
            <a:fillRect/>
          </a:stretch>
        </p:blipFill>
        <p:spPr>
          <a:xfrm>
            <a:off x="4928015" y="1375479"/>
            <a:ext cx="3902864" cy="2715079"/>
          </a:xfrm>
          <a:prstGeom prst="rect">
            <a:avLst/>
          </a:prstGeom>
          <a:ln>
            <a:solidFill>
              <a:schemeClr val="bg1">
                <a:lumMod val="65000"/>
              </a:schemeClr>
            </a:solidFill>
          </a:ln>
        </p:spPr>
      </p:pic>
      <p:sp>
        <p:nvSpPr>
          <p:cNvPr id="48" name="Pentagon 48">
            <a:extLst>
              <a:ext uri="{FF2B5EF4-FFF2-40B4-BE49-F238E27FC236}">
                <a16:creationId xmlns:a16="http://schemas.microsoft.com/office/drawing/2014/main" id="{BE950289-24CA-45A0-86D1-1485C0463086}"/>
              </a:ext>
            </a:extLst>
          </p:cNvPr>
          <p:cNvSpPr/>
          <p:nvPr/>
        </p:nvSpPr>
        <p:spPr>
          <a:xfrm>
            <a:off x="4807005" y="4355309"/>
            <a:ext cx="806366" cy="247650"/>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Mold reaper finish</a:t>
            </a:r>
          </a:p>
        </p:txBody>
      </p:sp>
      <p:sp>
        <p:nvSpPr>
          <p:cNvPr id="49" name="Pentagon 49">
            <a:extLst>
              <a:ext uri="{FF2B5EF4-FFF2-40B4-BE49-F238E27FC236}">
                <a16:creationId xmlns:a16="http://schemas.microsoft.com/office/drawing/2014/main" id="{BE5592C1-597B-4F63-AF8E-4952A8D14F4A}"/>
              </a:ext>
            </a:extLst>
          </p:cNvPr>
          <p:cNvSpPr/>
          <p:nvPr/>
        </p:nvSpPr>
        <p:spPr>
          <a:xfrm>
            <a:off x="5690346" y="4355309"/>
            <a:ext cx="806366" cy="247650"/>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Setting trial</a:t>
            </a:r>
          </a:p>
        </p:txBody>
      </p:sp>
      <p:sp>
        <p:nvSpPr>
          <p:cNvPr id="50" name="Pentagon 50">
            <a:extLst>
              <a:ext uri="{FF2B5EF4-FFF2-40B4-BE49-F238E27FC236}">
                <a16:creationId xmlns:a16="http://schemas.microsoft.com/office/drawing/2014/main" id="{EF0F678D-1324-4D3C-A389-0EA134E1888A}"/>
              </a:ext>
            </a:extLst>
          </p:cNvPr>
          <p:cNvSpPr/>
          <p:nvPr/>
        </p:nvSpPr>
        <p:spPr>
          <a:xfrm>
            <a:off x="6584001" y="4364400"/>
            <a:ext cx="806366" cy="247650"/>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LQC check sample </a:t>
            </a:r>
          </a:p>
        </p:txBody>
      </p:sp>
      <p:sp>
        <p:nvSpPr>
          <p:cNvPr id="51" name="Pentagon 51">
            <a:extLst>
              <a:ext uri="{FF2B5EF4-FFF2-40B4-BE49-F238E27FC236}">
                <a16:creationId xmlns:a16="http://schemas.microsoft.com/office/drawing/2014/main" id="{8785E1C2-9008-4B2A-A007-D030996645BD}"/>
              </a:ext>
            </a:extLst>
          </p:cNvPr>
          <p:cNvSpPr/>
          <p:nvPr/>
        </p:nvSpPr>
        <p:spPr>
          <a:xfrm>
            <a:off x="7458661" y="4339000"/>
            <a:ext cx="806366" cy="247650"/>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OQC check</a:t>
            </a:r>
          </a:p>
        </p:txBody>
      </p:sp>
      <p:sp>
        <p:nvSpPr>
          <p:cNvPr id="52" name="Rectangle 51">
            <a:extLst>
              <a:ext uri="{FF2B5EF4-FFF2-40B4-BE49-F238E27FC236}">
                <a16:creationId xmlns:a16="http://schemas.microsoft.com/office/drawing/2014/main" id="{E0DC2752-5B5E-4A2E-8D7C-B2F55E1B10CB}"/>
              </a:ext>
            </a:extLst>
          </p:cNvPr>
          <p:cNvSpPr/>
          <p:nvPr/>
        </p:nvSpPr>
        <p:spPr>
          <a:xfrm>
            <a:off x="6584001" y="4658106"/>
            <a:ext cx="698685" cy="52582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Check 5 sample if OK confirm </a:t>
            </a:r>
            <a:r>
              <a:rPr lang="en-US" sz="700" dirty="0">
                <a:solidFill>
                  <a:srgbClr val="FF0000"/>
                </a:solidFill>
                <a:latin typeface="Arial Narrow" panose="020B0606020202030204" pitchFamily="34" charset="0"/>
                <a:cs typeface="Arial" panose="020B0604020202020204" pitchFamily="34" charset="0"/>
              </a:rPr>
              <a:t>MP if NG continues repair Mold</a:t>
            </a:r>
          </a:p>
        </p:txBody>
      </p:sp>
      <p:sp>
        <p:nvSpPr>
          <p:cNvPr id="53" name="Rectangle 52">
            <a:extLst>
              <a:ext uri="{FF2B5EF4-FFF2-40B4-BE49-F238E27FC236}">
                <a16:creationId xmlns:a16="http://schemas.microsoft.com/office/drawing/2014/main" id="{75284554-E9F9-4FAE-AFFE-001895B58234}"/>
              </a:ext>
            </a:extLst>
          </p:cNvPr>
          <p:cNvSpPr/>
          <p:nvPr/>
        </p:nvSpPr>
        <p:spPr>
          <a:xfrm>
            <a:off x="4852959" y="5327205"/>
            <a:ext cx="3902864" cy="739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40329" indent="-240329">
              <a:buFont typeface="Wingdings" panose="05000000000000000000" pitchFamily="2" charset="2"/>
              <a:buChar char="Ø"/>
              <a:defRPr/>
            </a:pPr>
            <a:r>
              <a:rPr lang="en-US" sz="1100" dirty="0">
                <a:solidFill>
                  <a:srgbClr val="00B050"/>
                </a:solidFill>
                <a:latin typeface="Arial Narrow" panose="020B0606020202030204" pitchFamily="34" charset="0"/>
                <a:cs typeface="Arial" panose="020B0604020202020204" pitchFamily="34" charset="0"/>
              </a:rPr>
              <a:t>After repair Mold, LQC and </a:t>
            </a:r>
            <a:r>
              <a:rPr lang="en-US" sz="1100">
                <a:solidFill>
                  <a:srgbClr val="00B050"/>
                </a:solidFill>
                <a:latin typeface="Arial Narrow" panose="020B0606020202030204" pitchFamily="34" charset="0"/>
                <a:cs typeface="Arial" panose="020B0604020202020204" pitchFamily="34" charset="0"/>
              </a:rPr>
              <a:t>OQC check</a:t>
            </a:r>
            <a:r>
              <a:rPr lang="vi-VN" sz="1100">
                <a:solidFill>
                  <a:srgbClr val="00B050"/>
                </a:solidFill>
                <a:latin typeface="Arial Narrow" panose="020B0606020202030204" pitchFamily="34" charset="0"/>
                <a:cs typeface="Arial" panose="020B0604020202020204" pitchFamily="34" charset="0"/>
              </a:rPr>
              <a:t> 5ea sample </a:t>
            </a:r>
          </a:p>
          <a:p>
            <a:pPr>
              <a:defRPr/>
            </a:pPr>
            <a:r>
              <a:rPr lang="vi-VN" sz="1100">
                <a:solidFill>
                  <a:srgbClr val="00B050"/>
                </a:solidFill>
                <a:latin typeface="Arial Narrow" panose="020B0606020202030204" pitchFamily="34" charset="0"/>
                <a:cs typeface="Arial" panose="020B0604020202020204" pitchFamily="34" charset="0"/>
              </a:rPr>
              <a:t>        (All dimension and appearance)</a:t>
            </a:r>
            <a:endParaRPr lang="en-US" sz="1000" dirty="0">
              <a:solidFill>
                <a:srgbClr val="00B050"/>
              </a:solidFill>
              <a:latin typeface="Arial Narrow" panose="020B0606020202030204" pitchFamily="34" charset="0"/>
              <a:cs typeface="Arial" panose="020B0604020202020204" pitchFamily="34" charset="0"/>
            </a:endParaRPr>
          </a:p>
          <a:p>
            <a:pPr marL="240329" indent="-240329">
              <a:buFont typeface="Wingdings" panose="05000000000000000000" pitchFamily="2" charset="2"/>
              <a:buChar char="Ø"/>
              <a:defRPr/>
            </a:pPr>
            <a:endParaRPr lang="en-US" sz="1100" dirty="0">
              <a:solidFill>
                <a:srgbClr val="00B050"/>
              </a:solidFill>
              <a:latin typeface="Arial Narrow" panose="020B0606020202030204" pitchFamily="34" charset="0"/>
              <a:cs typeface="Arial" panose="020B0604020202020204" pitchFamily="34" charset="0"/>
            </a:endParaRPr>
          </a:p>
        </p:txBody>
      </p:sp>
      <p:sp>
        <p:nvSpPr>
          <p:cNvPr id="54" name="Pentagon 55">
            <a:extLst>
              <a:ext uri="{FF2B5EF4-FFF2-40B4-BE49-F238E27FC236}">
                <a16:creationId xmlns:a16="http://schemas.microsoft.com/office/drawing/2014/main" id="{212E205E-4F16-4937-8565-399965B00BB1}"/>
              </a:ext>
            </a:extLst>
          </p:cNvPr>
          <p:cNvSpPr/>
          <p:nvPr/>
        </p:nvSpPr>
        <p:spPr>
          <a:xfrm>
            <a:off x="8354444" y="4325402"/>
            <a:ext cx="562526" cy="232851"/>
          </a:xfrm>
          <a:prstGeom prst="homePlat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Confirm MP</a:t>
            </a:r>
          </a:p>
        </p:txBody>
      </p:sp>
      <p:sp>
        <p:nvSpPr>
          <p:cNvPr id="55" name="Rectangle 54">
            <a:extLst>
              <a:ext uri="{FF2B5EF4-FFF2-40B4-BE49-F238E27FC236}">
                <a16:creationId xmlns:a16="http://schemas.microsoft.com/office/drawing/2014/main" id="{F73CB14D-9DCA-4557-9C43-11832D932468}"/>
              </a:ext>
            </a:extLst>
          </p:cNvPr>
          <p:cNvSpPr/>
          <p:nvPr/>
        </p:nvSpPr>
        <p:spPr>
          <a:xfrm>
            <a:off x="7458661" y="4646550"/>
            <a:ext cx="698685" cy="68194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Arial Narrow" panose="020B0606020202030204" pitchFamily="34" charset="0"/>
                <a:cs typeface="Arial" panose="020B0604020202020204" pitchFamily="34" charset="0"/>
              </a:rPr>
              <a:t>OQC check Ok confirm, if structure different inform to SQA LG confirm Ok or Not</a:t>
            </a:r>
            <a:endParaRPr lang="en-US" sz="700" dirty="0">
              <a:solidFill>
                <a:srgbClr val="FF0000"/>
              </a:solidFill>
              <a:latin typeface="Arial Narrow" panose="020B060602020203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40BC3D6A-B0B9-44A3-A413-5BDDAAD006FA}"/>
              </a:ext>
            </a:extLst>
          </p:cNvPr>
          <p:cNvSpPr/>
          <p:nvPr/>
        </p:nvSpPr>
        <p:spPr>
          <a:xfrm>
            <a:off x="6504623" y="4233827"/>
            <a:ext cx="1789437" cy="11240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Arial Narrow" panose="020B0606020202030204" pitchFamily="34" charset="0"/>
            </a:endParaRPr>
          </a:p>
        </p:txBody>
      </p:sp>
      <p:cxnSp>
        <p:nvCxnSpPr>
          <p:cNvPr id="57" name="Elbow Connector 15">
            <a:extLst>
              <a:ext uri="{FF2B5EF4-FFF2-40B4-BE49-F238E27FC236}">
                <a16:creationId xmlns:a16="http://schemas.microsoft.com/office/drawing/2014/main" id="{F4EDBD44-31AB-4777-AD28-9BE76DD2E044}"/>
              </a:ext>
            </a:extLst>
          </p:cNvPr>
          <p:cNvCxnSpPr>
            <a:endCxn id="45" idx="0"/>
          </p:cNvCxnSpPr>
          <p:nvPr/>
        </p:nvCxnSpPr>
        <p:spPr>
          <a:xfrm rot="10800000" flipV="1">
            <a:off x="3069774" y="3794713"/>
            <a:ext cx="636263" cy="478971"/>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Elbow Connector 60">
            <a:extLst>
              <a:ext uri="{FF2B5EF4-FFF2-40B4-BE49-F238E27FC236}">
                <a16:creationId xmlns:a16="http://schemas.microsoft.com/office/drawing/2014/main" id="{64E4A4A2-AFD5-4BDF-8D0A-B579586530E2}"/>
              </a:ext>
            </a:extLst>
          </p:cNvPr>
          <p:cNvCxnSpPr>
            <a:endCxn id="56" idx="0"/>
          </p:cNvCxnSpPr>
          <p:nvPr/>
        </p:nvCxnSpPr>
        <p:spPr>
          <a:xfrm rot="5400000">
            <a:off x="7450407" y="3743649"/>
            <a:ext cx="439113" cy="541242"/>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10">
            <a:extLst>
              <a:ext uri="{FF2B5EF4-FFF2-40B4-BE49-F238E27FC236}">
                <a16:creationId xmlns:a16="http://schemas.microsoft.com/office/drawing/2014/main" id="{C7B0A820-B734-4624-BC36-3512782E16EE}"/>
              </a:ext>
            </a:extLst>
          </p:cNvPr>
          <p:cNvSpPr/>
          <p:nvPr/>
        </p:nvSpPr>
        <p:spPr>
          <a:xfrm>
            <a:off x="7687215" y="2689748"/>
            <a:ext cx="585884" cy="10439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60" name="TextBox 59"/>
          <p:cNvSpPr txBox="1"/>
          <p:nvPr/>
        </p:nvSpPr>
        <p:spPr>
          <a:xfrm>
            <a:off x="73152" y="69580"/>
            <a:ext cx="3855543" cy="369332"/>
          </a:xfrm>
          <a:prstGeom prst="rect">
            <a:avLst/>
          </a:prstGeom>
          <a:noFill/>
        </p:spPr>
        <p:txBody>
          <a:bodyPr wrap="none" rtlCol="0">
            <a:spAutoFit/>
          </a:bodyPr>
          <a:lstStyle/>
          <a:p>
            <a:r>
              <a:rPr lang="vi-VN">
                <a:latin typeface="Arial Narrow" panose="020B0606020202030204" pitchFamily="34" charset="0"/>
              </a:rPr>
              <a:t>Increase inspection after Maintenance Mold</a:t>
            </a:r>
            <a:endParaRPr lang="en-US">
              <a:latin typeface="Arial Narrow" panose="020B0606020202030204" pitchFamily="34" charset="0"/>
            </a:endParaRPr>
          </a:p>
        </p:txBody>
      </p:sp>
      <p:sp>
        <p:nvSpPr>
          <p:cNvPr id="61" name="Rectangle 60"/>
          <p:cNvSpPr/>
          <p:nvPr/>
        </p:nvSpPr>
        <p:spPr>
          <a:xfrm>
            <a:off x="140494" y="505381"/>
            <a:ext cx="8979187" cy="338554"/>
          </a:xfrm>
          <a:prstGeom prst="rect">
            <a:avLst/>
          </a:prstGeom>
        </p:spPr>
        <p:txBody>
          <a:bodyPr wrap="square">
            <a:spAutoFit/>
          </a:bodyPr>
          <a:lstStyle/>
          <a:p>
            <a:r>
              <a:rPr lang="en-US" altLang="ko-KR" sz="1600">
                <a:solidFill>
                  <a:srgbClr val="00B050"/>
                </a:solidFill>
                <a:latin typeface="Arial Narrow" panose="020B0606020202030204" pitchFamily="34" charset="0"/>
                <a:ea typeface="LG스마트체 Regular" panose="020B0600000101010101" pitchFamily="50" charset="-127"/>
              </a:rPr>
              <a:t>※ </a:t>
            </a:r>
            <a:r>
              <a:rPr lang="vi-VN" altLang="ko-KR" sz="1600">
                <a:solidFill>
                  <a:srgbClr val="00B050"/>
                </a:solidFill>
                <a:latin typeface="Arial Narrow" panose="020B0606020202030204" pitchFamily="34" charset="0"/>
                <a:ea typeface="LG스마트체 Regular" panose="020B0600000101010101" pitchFamily="50" charset="-127"/>
              </a:rPr>
              <a:t>Maintenance mold process</a:t>
            </a:r>
            <a:endParaRPr lang="en-US" sz="1600">
              <a:latin typeface="Arial Narrow" panose="020B0606020202030204" pitchFamily="34" charset="0"/>
            </a:endParaRPr>
          </a:p>
        </p:txBody>
      </p:sp>
    </p:spTree>
    <p:extLst>
      <p:ext uri="{BB962C8B-B14F-4D97-AF65-F5344CB8AC3E}">
        <p14:creationId xmlns:p14="http://schemas.microsoft.com/office/powerpoint/2010/main" val="2655622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73152" y="438912"/>
            <a:ext cx="9703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8" name="그룹 2"/>
          <p:cNvGrpSpPr/>
          <p:nvPr/>
        </p:nvGrpSpPr>
        <p:grpSpPr>
          <a:xfrm>
            <a:off x="7373344" y="40048"/>
            <a:ext cx="2339959" cy="323850"/>
            <a:chOff x="7368119" y="118425"/>
            <a:chExt cx="2339959" cy="323850"/>
          </a:xfrm>
        </p:grpSpPr>
        <p:sp>
          <p:nvSpPr>
            <p:cNvPr id="30" name="AutoShape 5"/>
            <p:cNvSpPr>
              <a:spLocks noChangeArrowheads="1"/>
            </p:cNvSpPr>
            <p:nvPr/>
          </p:nvSpPr>
          <p:spPr bwMode="auto">
            <a:xfrm>
              <a:off x="7368119" y="118425"/>
              <a:ext cx="636587" cy="323850"/>
            </a:xfrm>
            <a:prstGeom prst="homePlate">
              <a:avLst>
                <a:gd name="adj" fmla="val 47281"/>
              </a:avLst>
            </a:prstGeom>
            <a:noFill/>
            <a:ln w="3175">
              <a:solidFill>
                <a:schemeClr val="bg1">
                  <a:lumMod val="50000"/>
                </a:schemeClr>
              </a:solidFill>
              <a:miter lim="800000"/>
              <a:headEnd/>
              <a:tailEnd/>
            </a:ln>
          </p:spPr>
          <p:txBody>
            <a:bodyPr wrap="none" anchor="ctr"/>
            <a:lstStyle/>
            <a:p>
              <a:pPr algn="ctr">
                <a:defRPr/>
              </a:pPr>
              <a:r>
                <a:rPr lang="en-US" altLang="ko-KR" sz="1200" b="1">
                  <a:latin typeface="Arial Narrow" panose="020B0606020202030204" pitchFamily="34" charset="0"/>
                  <a:ea typeface="LG스마트체 Regular" panose="020B0600000101010101" pitchFamily="50" charset="-127"/>
                </a:rPr>
                <a:t>D</a:t>
              </a:r>
              <a:endParaRPr lang="ko-KR" altLang="ko-KR" sz="1200" b="1" dirty="0">
                <a:latin typeface="Arial Narrow" panose="020B0606020202030204" pitchFamily="34" charset="0"/>
                <a:ea typeface="LG스마트체 Regular" panose="020B0600000101010101" pitchFamily="50" charset="-127"/>
              </a:endParaRPr>
            </a:p>
          </p:txBody>
        </p:sp>
        <p:sp>
          <p:nvSpPr>
            <p:cNvPr id="31" name="AutoShape 6"/>
            <p:cNvSpPr>
              <a:spLocks noChangeArrowheads="1"/>
            </p:cNvSpPr>
            <p:nvPr/>
          </p:nvSpPr>
          <p:spPr bwMode="auto">
            <a:xfrm>
              <a:off x="9128640" y="118425"/>
              <a:ext cx="579438" cy="323850"/>
            </a:xfrm>
            <a:prstGeom prst="chevron">
              <a:avLst>
                <a:gd name="adj" fmla="val 50397"/>
              </a:avLst>
            </a:prstGeom>
            <a:solidFill>
              <a:schemeClr val="bg1">
                <a:lumMod val="75000"/>
              </a:schemeClr>
            </a:solid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C</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2" name="AutoShape 7"/>
            <p:cNvSpPr>
              <a:spLocks noChangeArrowheads="1"/>
            </p:cNvSpPr>
            <p:nvPr/>
          </p:nvSpPr>
          <p:spPr bwMode="auto">
            <a:xfrm>
              <a:off x="8281257"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A</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3" name="AutoShape 8"/>
            <p:cNvSpPr>
              <a:spLocks noChangeArrowheads="1"/>
            </p:cNvSpPr>
            <p:nvPr/>
          </p:nvSpPr>
          <p:spPr bwMode="auto">
            <a:xfrm>
              <a:off x="8701766" y="118425"/>
              <a:ext cx="579437" cy="323850"/>
            </a:xfrm>
            <a:prstGeom prst="chevron">
              <a:avLst>
                <a:gd name="adj" fmla="val 50484"/>
              </a:avLst>
            </a:prstGeom>
            <a:noFill/>
            <a:ln w="3175">
              <a:solidFill>
                <a:schemeClr val="bg1">
                  <a:lumMod val="50000"/>
                </a:schemeClr>
              </a:solidFill>
              <a:miter lim="800000"/>
              <a:headEnd/>
              <a:tailEnd/>
            </a:ln>
          </p:spPr>
          <p:txBody>
            <a:bodyPr wrap="none" anchor="ctr"/>
            <a:lstStyle/>
            <a:p>
              <a:pPr algn="ctr">
                <a:defRPr/>
              </a:pPr>
              <a:r>
                <a:rPr lang="en-US" altLang="ko-KR" sz="1200" b="1">
                  <a:solidFill>
                    <a:srgbClr val="000000"/>
                  </a:solidFill>
                  <a:latin typeface="Arial Narrow" panose="020B0606020202030204" pitchFamily="34" charset="0"/>
                  <a:ea typeface="LG스마트체 Regular" panose="020B0600000101010101" pitchFamily="50" charset="-127"/>
                </a:rPr>
                <a:t>I</a:t>
              </a:r>
              <a:endParaRPr lang="ko-KR" altLang="ko-KR" b="1" dirty="0">
                <a:solidFill>
                  <a:srgbClr val="000000"/>
                </a:solidFill>
                <a:latin typeface="Arial Narrow" panose="020B0606020202030204" pitchFamily="34" charset="0"/>
                <a:ea typeface="LG스마트체 Regular" panose="020B0600000101010101" pitchFamily="50" charset="-127"/>
              </a:endParaRPr>
            </a:p>
          </p:txBody>
        </p:sp>
        <p:sp>
          <p:nvSpPr>
            <p:cNvPr id="34" name="AutoShape 4"/>
            <p:cNvSpPr>
              <a:spLocks noChangeArrowheads="1"/>
            </p:cNvSpPr>
            <p:nvPr/>
          </p:nvSpPr>
          <p:spPr bwMode="auto">
            <a:xfrm>
              <a:off x="7846908" y="118425"/>
              <a:ext cx="592137" cy="323850"/>
            </a:xfrm>
            <a:prstGeom prst="chevron">
              <a:avLst>
                <a:gd name="adj" fmla="val 51443"/>
              </a:avLst>
            </a:prstGeom>
            <a:noFill/>
            <a:ln w="3175">
              <a:solidFill>
                <a:schemeClr val="bg1">
                  <a:lumMod val="50000"/>
                </a:schemeClr>
              </a:solidFill>
              <a:miter lim="800000"/>
              <a:headEnd/>
              <a:tailEnd/>
            </a:ln>
          </p:spPr>
          <p:txBody>
            <a:bodyPr wrap="none" anchor="ctr"/>
            <a:lstStyle/>
            <a:p>
              <a:pPr algn="ctr">
                <a:defRPr/>
              </a:pPr>
              <a:r>
                <a:rPr lang="en-US" altLang="ko-KR" sz="1200" b="1" dirty="0">
                  <a:solidFill>
                    <a:srgbClr val="000000"/>
                  </a:solidFill>
                  <a:latin typeface="Arial Narrow" panose="020B0606020202030204" pitchFamily="34" charset="0"/>
                  <a:ea typeface="LG스마트체 Regular" panose="020B0600000101010101" pitchFamily="50" charset="-127"/>
                </a:rPr>
                <a:t> M</a:t>
              </a:r>
              <a:endParaRPr lang="ko-KR" altLang="ko-KR" sz="1200" b="1" dirty="0">
                <a:solidFill>
                  <a:srgbClr val="000000"/>
                </a:solidFill>
                <a:latin typeface="Arial Narrow" panose="020B0606020202030204" pitchFamily="34" charset="0"/>
                <a:ea typeface="LG스마트체 Regular" panose="020B0600000101010101" pitchFamily="50" charset="-127"/>
              </a:endParaRPr>
            </a:p>
          </p:txBody>
        </p:sp>
      </p:grpSp>
      <p:pic>
        <p:nvPicPr>
          <p:cNvPr id="2" name="Picture 1"/>
          <p:cNvPicPr>
            <a:picLocks noChangeAspect="1"/>
          </p:cNvPicPr>
          <p:nvPr/>
        </p:nvPicPr>
        <p:blipFill>
          <a:blip r:embed="rId2"/>
          <a:stretch>
            <a:fillRect/>
          </a:stretch>
        </p:blipFill>
        <p:spPr>
          <a:xfrm>
            <a:off x="4924697" y="1544261"/>
            <a:ext cx="2982903" cy="2791433"/>
          </a:xfrm>
          <a:prstGeom prst="rect">
            <a:avLst/>
          </a:prstGeom>
        </p:spPr>
      </p:pic>
      <p:sp>
        <p:nvSpPr>
          <p:cNvPr id="11" name="Rectangle 10"/>
          <p:cNvSpPr/>
          <p:nvPr/>
        </p:nvSpPr>
        <p:spPr>
          <a:xfrm>
            <a:off x="140494" y="505381"/>
            <a:ext cx="8979187" cy="338554"/>
          </a:xfrm>
          <a:prstGeom prst="rect">
            <a:avLst/>
          </a:prstGeom>
        </p:spPr>
        <p:txBody>
          <a:bodyPr wrap="square">
            <a:spAutoFit/>
          </a:bodyPr>
          <a:lstStyle/>
          <a:p>
            <a:r>
              <a:rPr lang="en-US" altLang="ko-KR" sz="1600">
                <a:solidFill>
                  <a:srgbClr val="00B050"/>
                </a:solidFill>
                <a:latin typeface="Arial Narrow" panose="020B0606020202030204" pitchFamily="34" charset="0"/>
                <a:ea typeface="LG스마트체 Regular" panose="020B0600000101010101" pitchFamily="50" charset="-127"/>
              </a:rPr>
              <a:t>※ </a:t>
            </a:r>
            <a:r>
              <a:rPr lang="vi-VN" altLang="ko-KR" sz="1600">
                <a:solidFill>
                  <a:srgbClr val="00B050"/>
                </a:solidFill>
                <a:latin typeface="Arial Narrow" panose="020B0606020202030204" pitchFamily="34" charset="0"/>
                <a:ea typeface="LG스마트체 Regular" panose="020B0600000101010101" pitchFamily="50" charset="-127"/>
              </a:rPr>
              <a:t>Make new tool to check punch shape</a:t>
            </a:r>
            <a:endParaRPr lang="en-US" sz="1600">
              <a:latin typeface="Arial Narrow" panose="020B0606020202030204" pitchFamily="34" charset="0"/>
            </a:endParaRPr>
          </a:p>
        </p:txBody>
      </p:sp>
      <p:sp>
        <p:nvSpPr>
          <p:cNvPr id="12" name="TextBox 11"/>
          <p:cNvSpPr txBox="1"/>
          <p:nvPr/>
        </p:nvSpPr>
        <p:spPr>
          <a:xfrm>
            <a:off x="73152" y="69580"/>
            <a:ext cx="2864887" cy="369332"/>
          </a:xfrm>
          <a:prstGeom prst="rect">
            <a:avLst/>
          </a:prstGeom>
          <a:noFill/>
        </p:spPr>
        <p:txBody>
          <a:bodyPr wrap="none" rtlCol="0">
            <a:spAutoFit/>
          </a:bodyPr>
          <a:lstStyle/>
          <a:p>
            <a:r>
              <a:rPr lang="vi-VN">
                <a:latin typeface="Arial Narrow" panose="020B0606020202030204" pitchFamily="34" charset="0"/>
              </a:rPr>
              <a:t>Apply new method check punch</a:t>
            </a:r>
            <a:endParaRPr lang="en-US">
              <a:latin typeface="Arial Narrow" panose="020B0606020202030204" pitchFamily="34" charset="0"/>
            </a:endParaRPr>
          </a:p>
        </p:txBody>
      </p:sp>
      <p:sp>
        <p:nvSpPr>
          <p:cNvPr id="5" name="Rectangle 4"/>
          <p:cNvSpPr/>
          <p:nvPr/>
        </p:nvSpPr>
        <p:spPr>
          <a:xfrm>
            <a:off x="855133" y="1634067"/>
            <a:ext cx="1845734" cy="863600"/>
          </a:xfrm>
          <a:prstGeom prst="rect">
            <a:avLst/>
          </a:prstGeom>
          <a:solidFill>
            <a:srgbClr val="D44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236133" y="2091268"/>
            <a:ext cx="1083733" cy="11965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1778000" y="2074334"/>
            <a:ext cx="18711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778000" y="2497667"/>
            <a:ext cx="18711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649133" y="2098134"/>
            <a:ext cx="0" cy="35559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783487" y="2091268"/>
            <a:ext cx="449162" cy="369332"/>
          </a:xfrm>
          <a:prstGeom prst="rect">
            <a:avLst/>
          </a:prstGeom>
          <a:noFill/>
        </p:spPr>
        <p:txBody>
          <a:bodyPr wrap="none" rtlCol="0">
            <a:spAutoFit/>
          </a:bodyPr>
          <a:lstStyle/>
          <a:p>
            <a:r>
              <a:rPr lang="vi-VN">
                <a:latin typeface="Arial Narrow" panose="020B0606020202030204" pitchFamily="34" charset="0"/>
              </a:rPr>
              <a:t>6.8</a:t>
            </a:r>
            <a:endParaRPr lang="en-US">
              <a:latin typeface="Arial Narrow" panose="020B0606020202030204" pitchFamily="34" charset="0"/>
            </a:endParaRPr>
          </a:p>
        </p:txBody>
      </p:sp>
      <p:cxnSp>
        <p:nvCxnSpPr>
          <p:cNvPr id="15" name="Straight Arrow Connector 14"/>
          <p:cNvCxnSpPr/>
          <p:nvPr/>
        </p:nvCxnSpPr>
        <p:spPr>
          <a:xfrm flipH="1" flipV="1">
            <a:off x="1524000" y="2159000"/>
            <a:ext cx="254000" cy="338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396999" y="2338735"/>
            <a:ext cx="290464" cy="369332"/>
          </a:xfrm>
          <a:prstGeom prst="rect">
            <a:avLst/>
          </a:prstGeom>
          <a:noFill/>
        </p:spPr>
        <p:txBody>
          <a:bodyPr wrap="none" rtlCol="0">
            <a:spAutoFit/>
          </a:bodyPr>
          <a:lstStyle/>
          <a:p>
            <a:r>
              <a:rPr lang="vi-VN">
                <a:latin typeface="Arial Narrow" panose="020B0606020202030204" pitchFamily="34" charset="0"/>
              </a:rPr>
              <a:t>6</a:t>
            </a:r>
            <a:endParaRPr lang="en-US">
              <a:latin typeface="Arial Narrow" panose="020B0606020202030204" pitchFamily="34" charset="0"/>
            </a:endParaRPr>
          </a:p>
        </p:txBody>
      </p:sp>
    </p:spTree>
    <p:extLst>
      <p:ext uri="{BB962C8B-B14F-4D97-AF65-F5344CB8AC3E}">
        <p14:creationId xmlns:p14="http://schemas.microsoft.com/office/powerpoint/2010/main" val="29185659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i7mwUP5JCkmT873sHxWC.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i7mwUP5JCkmT873sHxWC.Q"/>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c6ed9fc-fefc-4a0c-a6d6-10cf236c0d4f}" enabled="1" method="Standard" siteId="{5069cde4-642a-45c0-8094-d0c2dec10be3}" contentBits="1" removed="0"/>
</clbl:labelList>
</file>

<file path=docProps/app.xml><?xml version="1.0" encoding="utf-8"?>
<Properties xmlns="http://schemas.openxmlformats.org/officeDocument/2006/extended-properties" xmlns:vt="http://schemas.openxmlformats.org/officeDocument/2006/docPropsVTypes">
  <Template>Office Theme</Template>
  <TotalTime>4820</TotalTime>
  <Words>6723</Words>
  <Application>Microsoft Office PowerPoint</Application>
  <PresentationFormat>A4 Paper (210x297 mm)</PresentationFormat>
  <Paragraphs>1725</Paragraphs>
  <Slides>31</Slides>
  <Notes>1</Notes>
  <HiddenSlides>0</HiddenSlides>
  <MMClips>1</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1" baseType="lpstr">
      <vt:lpstr>LG스마트체 Regular</vt:lpstr>
      <vt:lpstr>Malgun Gothic</vt:lpstr>
      <vt:lpstr>Arial</vt:lpstr>
      <vt:lpstr>Arial Narrow</vt:lpstr>
      <vt:lpstr>Calibri</vt:lpstr>
      <vt:lpstr>Calibri Light</vt:lpstr>
      <vt:lpstr>Times New Roman</vt:lpstr>
      <vt:lpstr>Wingdings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HIEU DUC TRINH/LGEVH IVI SQC Part(hieu.trinh@lge.com)</dc:creator>
  <cp:lastModifiedBy>HANH MINH PHAM/LGEVH IVI QA NA CS Part</cp:lastModifiedBy>
  <cp:revision>243</cp:revision>
  <dcterms:created xsi:type="dcterms:W3CDTF">2025-09-03T02:24:33Z</dcterms:created>
  <dcterms:modified xsi:type="dcterms:W3CDTF">2026-07-11T13:24:25Z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c6ed9fc-fefc-4a0c-a6d6-10cf236c0d4f_Enabled">
    <vt:lpwstr>true</vt:lpwstr>
  </property>
  <property fmtid="{D5CDD505-2E9C-101B-9397-08002B2CF9AE}" pid="3" name="MSIP_Label_cc6ed9fc-fefc-4a0c-a6d6-10cf236c0d4f_SetDate">
    <vt:lpwstr>2025-11-11T13:14:32Z</vt:lpwstr>
  </property>
  <property fmtid="{D5CDD505-2E9C-101B-9397-08002B2CF9AE}" pid="4" name="MSIP_Label_cc6ed9fc-fefc-4a0c-a6d6-10cf236c0d4f_Method">
    <vt:lpwstr>Standard</vt:lpwstr>
  </property>
  <property fmtid="{D5CDD505-2E9C-101B-9397-08002B2CF9AE}" pid="5" name="MSIP_Label_cc6ed9fc-fefc-4a0c-a6d6-10cf236c0d4f_Name">
    <vt:lpwstr>Internal use only</vt:lpwstr>
  </property>
  <property fmtid="{D5CDD505-2E9C-101B-9397-08002B2CF9AE}" pid="6" name="MSIP_Label_cc6ed9fc-fefc-4a0c-a6d6-10cf236c0d4f_SiteId">
    <vt:lpwstr>5069cde4-642a-45c0-8094-d0c2dec10be3</vt:lpwstr>
  </property>
  <property fmtid="{D5CDD505-2E9C-101B-9397-08002B2CF9AE}" pid="7" name="MSIP_Label_cc6ed9fc-fefc-4a0c-a6d6-10cf236c0d4f_ActionId">
    <vt:lpwstr>c95b0822-5248-4d59-befd-d78de89f4e05</vt:lpwstr>
  </property>
  <property fmtid="{D5CDD505-2E9C-101B-9397-08002B2CF9AE}" pid="8" name="MSIP_Label_cc6ed9fc-fefc-4a0c-a6d6-10cf236c0d4f_ContentBits">
    <vt:lpwstr>1</vt:lpwstr>
  </property>
  <property fmtid="{D5CDD505-2E9C-101B-9397-08002B2CF9AE}" pid="9" name="ClassificationContentMarkingHeaderLocations">
    <vt:lpwstr>Office Theme:8</vt:lpwstr>
  </property>
  <property fmtid="{D5CDD505-2E9C-101B-9397-08002B2CF9AE}" pid="10" name="ClassificationContentMarkingHeaderText">
    <vt:lpwstr>LGE Internal Use Only</vt:lpwstr>
  </property>
</Properties>
</file>