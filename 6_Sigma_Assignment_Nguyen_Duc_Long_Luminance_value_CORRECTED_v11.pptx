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34.xml" ContentType="application/vnd.openxmlformats-officedocument.presentationml.slide+xml"/>
  <Override PartName="/ppt/slides/slide35.xml" ContentType="application/vnd.openxmlformats-officedocument.presentationml.slide+xml"/>
  <Override PartName="/ppt/charts/chart2.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35"/>
  </p:notesMasterIdLst>
  <p:handoutMasterIdLst>
    <p:handoutMasterId r:id="rId36"/>
  </p:handoutMasterIdLst>
  <p:sldIdLst>
    <p:sldId id="510" r:id="rId2"/>
    <p:sldId id="543" r:id="rId3"/>
    <p:sldId id="537" r:id="rId5"/>
    <p:sldId id="584" r:id="rId42"/>
    <p:sldId id="576" r:id="rId6"/>
    <p:sldId id="464" r:id="rId7"/>
    <p:sldId id="521" r:id="rId9"/>
    <p:sldId id="524" r:id="rId11"/>
    <p:sldId id="585" r:id="rId43"/>
    <p:sldId id="490" r:id="rId12"/>
    <p:sldId id="538" r:id="rId13"/>
    <p:sldId id="541" r:id="rId14"/>
    <p:sldId id="540" r:id="rId15"/>
    <p:sldId id="542" r:id="rId16"/>
    <p:sldId id="539" r:id="rId17"/>
    <p:sldId id="263" r:id="rId18"/>
    <p:sldId id="533" r:id="rId19"/>
    <p:sldId id="257" r:id="rId20"/>
    <p:sldId id="259" r:id="rId21"/>
    <p:sldId id="473" r:id="rId33"/>
    <p:sldId id="578" r:id="rId22"/>
    <p:sldId id="532" r:id="rId24"/>
    <p:sldId id="530" r:id="rId29"/>
    <p:sldId id="529" r:id="rId30"/>
    <p:sldId id="531" r:id="rId31"/>
    <p:sldId id="526" r:id="rId26"/>
    <p:sldId id="580" r:id="rId34"/>
    <p:sldId id="581" r:id="rId32"/>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ONG NGOC VU/LGEVH IVI IE Tele/AVN/HUD Part" initials="VNVIITP" lastIdx="0" clrIdx="0">
    <p:extLst>
      <p:ext uri="{19B8F6BF-5375-455C-9EA6-DF929625EA0E}">
        <p15:presenceInfo xmlns:p15="http://schemas.microsoft.com/office/powerpoint/2012/main" userId="S-1-5-21-2543426832-1914326140-3112152631-27985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8D621"/>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87663" autoAdjust="0"/>
  </p:normalViewPr>
  <p:slideViewPr>
    <p:cSldViewPr>
      <p:cViewPr varScale="1">
        <p:scale>
          <a:sx n="76" d="100"/>
          <a:sy n="76" d="100"/>
        </p:scale>
        <p:origin x="1620" y="78"/>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handoutMaster" Target="handoutMasters/handoutMaster1.xml"/><Relationship Id="rId19" Type="http://schemas.openxmlformats.org/officeDocument/2006/relationships/slide" Target="slides/slide18.xml"/><Relationship Id="rId31" Type="http://schemas.openxmlformats.org/officeDocument/2006/relationships/slide" Target="slides/slide30.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slide" Target="slides/slide29.xml"/><Relationship Id="rId3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presProps" Target="presProps.xml"/>  <Relationship Id="rId42" Type="http://schemas.openxmlformats.org/officeDocument/2006/relationships/slide" Target="slides/slide34.xml"/>
  <Relationship Id="rId43" Type="http://schemas.openxmlformats.org/officeDocument/2006/relationships/slide" Target="slides/slide35.xml"/>
</Relationships>
</file>

<file path=ppt/charts/_rels/chart1.xml.rels><?xml version="1.0" encoding="UTF-8" standalone="yes"?>
<Relationships xmlns="http://schemas.openxmlformats.org/package/2006/relationships"><Relationship Id="rId3" Type="http://schemas.openxmlformats.org/officeDocument/2006/relationships/oleObject" Target="file:///C:\Users\vuong.vu\AppData\Local\Temp\_AZTMP1_\all.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Luminance defect</a:t>
            </a:r>
            <a:r>
              <a:rPr lang="en-US" baseline="0" dirty="0"/>
              <a:t> rate of J1 Dual model</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Sheet1!$D$7</c:f>
              <c:strCache>
                <c:ptCount val="1"/>
                <c:pt idx="0">
                  <c:v>Total NG</c:v>
                </c:pt>
              </c:strCache>
            </c:strRef>
          </c:tx>
          <c:spPr>
            <a:solidFill>
              <a:srgbClr val="4472C4"/>
            </a:solidFill>
            <a:ln>
              <a:noFill/>
            </a:ln>
            <a:effectLst/>
          </c:spPr>
          <c:invertIfNegative val="0"/>
          <c:dLbls>
            <c:numFmt formatCode="0" sourceLinked="0"/>
            <c:dLblPos val="outEnd"/>
            <c:showLegendKey val="0"/>
            <c:showVal val="1"/>
            <c:showCatName val="0"/>
            <c:showSerName val="0"/>
            <c:showPercent val="0"/>
            <c:showBubbleSize val="0"/>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Sheet1!$E$7:$K$7</c:f>
              <c:numCache>
                <c:formatCode>General</c:formatCode>
                <c:ptCount val="7"/>
                <c:pt idx="0">
                  <c:v>13</c:v>
                </c:pt>
                <c:pt idx="1">
                  <c:v>8</c:v>
                </c:pt>
                <c:pt idx="2">
                  <c:v>92</c:v>
                </c:pt>
                <c:pt idx="3">
                  <c:v>30</c:v>
                </c:pt>
                <c:pt idx="4">
                  <c:v>0</c:v>
                </c:pt>
                <c:pt idx="5">
                  <c:v>0</c:v>
                </c:pt>
                <c:pt idx="6">
                  <c:v>0</c:v>
                </c:pt>
              </c:numCache>
            </c:numRef>
          </c:val>
          <c:extLst>
            <c:ext xmlns:c16="http://schemas.microsoft.com/office/drawing/2014/chart" uri="{C3380CC4-5D6E-409C-BE32-E72D297353CC}">
              <c16:uniqueId val="{00000000-8241-4E88-B6AB-4C7FE8828860}"/>
            </c:ext>
          </c:extLst>
        </c:ser>
        <c:ser>
          <c:idx val="1"/>
          <c:order val="1"/>
          <c:tx>
            <c:strRef>
              <c:f>Sheet1!$D$8</c:f>
              <c:strCache>
                <c:ptCount val="1"/>
                <c:pt idx="0">
                  <c:v>Prod Q'ty</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Sheet1!$E$8:$K$8</c:f>
              <c:numCache>
                <c:formatCode>General</c:formatCode>
                <c:ptCount val="7"/>
                <c:pt idx="0">
                  <c:v>200</c:v>
                </c:pt>
                <c:pt idx="1">
                  <c:v>120</c:v>
                </c:pt>
                <c:pt idx="2">
                  <c:v>240</c:v>
                </c:pt>
                <c:pt idx="3">
                  <c:v>71</c:v>
                </c:pt>
                <c:pt idx="4">
                  <c:v>240</c:v>
                </c:pt>
                <c:pt idx="5">
                  <c:v>120</c:v>
                </c:pt>
                <c:pt idx="6">
                  <c:v>60</c:v>
                </c:pt>
              </c:numCache>
            </c:numRef>
          </c:val>
          <c:extLst>
            <c:ext xmlns:c16="http://schemas.microsoft.com/office/drawing/2014/chart" uri="{C3380CC4-5D6E-409C-BE32-E72D297353CC}">
              <c16:uniqueId val="{00000001-8241-4E88-B6AB-4C7FE8828860}"/>
            </c:ext>
          </c:extLst>
        </c:ser>
        <c:dLbls>
          <c:showLegendKey val="0"/>
          <c:showVal val="1"/>
          <c:showCatName val="0"/>
          <c:showSerName val="0"/>
          <c:showPercent val="0"/>
          <c:showBubbleSize val="0"/>
        </c:dLbls>
        <c:gapWidth val="219"/>
        <c:overlap val="-27"/>
        <c:axId val="137649919"/>
        <c:axId val="294917759"/>
      </c:barChart>
      <c:lineChart>
        <c:grouping val="standard"/>
        <c:varyColors val="0"/>
        <c:ser>
          <c:idx val="2"/>
          <c:order val="2"/>
          <c:tx>
            <c:strRef>
              <c:f>Sheet1!$D$9</c:f>
              <c:strCache>
                <c:ptCount val="1"/>
                <c:pt idx="0">
                  <c:v>Defect rate (ppm)</c:v>
                </c:pt>
              </c:strCache>
            </c:strRef>
          </c:tx>
          <c:spPr>
            <a:ln w="28575" cap="rnd">
              <a:solidFill>
                <a:srgbClr val="FF0000">
                  <a:alpha val="83000"/>
                </a:srgbClr>
              </a:solidFill>
              <a:round/>
            </a:ln>
            <a:effectLst>
              <a:softEdge rad="0"/>
            </a:effectLst>
          </c:spPr>
          <c:marker>
            <c:symbol val="none"/>
          </c:marker>
          <c:dLbls>
            <c:numFmt formatCode="#,##0" sourceLinked="0"/>
            <c:dLbl>
              <c:idx val="0"/>
              <c:layout>
                <c:manualLayout>
                  <c:x val="-6.9630276639563615E-2"/>
                  <c:y val="-7.5998353676227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41-4E88-B6AB-4C7FE8828860}"/>
                </c:ext>
              </c:extLst>
            </c:dLbl>
            <c:dLbl>
              <c:idx val="1"/>
              <c:layout>
                <c:manualLayout>
                  <c:x val="-7.0184840271801302E-2"/>
                  <c:y val="-0.127412235424299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41-4E88-B6AB-4C7FE8828860}"/>
                </c:ext>
              </c:extLst>
            </c:dLbl>
            <c:dLbl>
              <c:idx val="2"/>
              <c:layout>
                <c:manualLayout>
                  <c:x val="-6.9102773246329532E-2"/>
                  <c:y val="-7.942594579276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41-4E88-B6AB-4C7FE8828860}"/>
                </c:ext>
              </c:extLst>
            </c:dLbl>
            <c:dLbl>
              <c:idx val="3"/>
              <c:layout>
                <c:manualLayout>
                  <c:x val="-5.3877107123436734E-2"/>
                  <c:y val="-7.25707615596893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41-4E88-B6AB-4C7FE8828860}"/>
                </c:ext>
              </c:extLst>
            </c:dLbl>
            <c:dLbl>
              <c:idx val="4"/>
              <c:layout>
                <c:manualLayout>
                  <c:x val="6.5198049265049046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41-4E88-B6AB-4C7FE8828860}"/>
                </c:ext>
              </c:extLst>
            </c:dLbl>
            <c:dLbl>
              <c:idx val="5"/>
              <c:layout>
                <c:manualLayout>
                  <c:x val="-2.1805757151481678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241-4E88-B6AB-4C7FE8828860}"/>
                </c:ext>
              </c:extLst>
            </c:dLbl>
            <c:dLbl>
              <c:idx val="6"/>
              <c:layout>
                <c:manualLayout>
                  <c:x val="8.6949000869181725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241-4E88-B6AB-4C7FE882886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Sheet1!$E$9:$K$9</c:f>
              <c:numCache>
                <c:formatCode>0.00</c:formatCode>
                <c:ptCount val="7"/>
                <c:pt idx="0" formatCode="General">
                  <c:v>65000</c:v>
                </c:pt>
                <c:pt idx="1">
                  <c:v>66666.666666666672</c:v>
                </c:pt>
                <c:pt idx="2">
                  <c:v>383333.33333333337</c:v>
                </c:pt>
                <c:pt idx="3">
                  <c:v>422535.2112676056</c:v>
                </c:pt>
                <c:pt idx="4" formatCode="General">
                  <c:v>0</c:v>
                </c:pt>
                <c:pt idx="5" formatCode="General">
                  <c:v>0</c:v>
                </c:pt>
                <c:pt idx="6" formatCode="General">
                  <c:v>0</c:v>
                </c:pt>
              </c:numCache>
            </c:numRef>
          </c:val>
          <c:smooth val="0"/>
          <c:extLst>
            <c:ext xmlns:c16="http://schemas.microsoft.com/office/drawing/2014/chart" uri="{C3380CC4-5D6E-409C-BE32-E72D297353CC}">
              <c16:uniqueId val="{00000003-8241-4E88-B6AB-4C7FE8828860}"/>
            </c:ext>
          </c:extLst>
        </c:ser>
        <c:dLbls>
          <c:showLegendKey val="0"/>
          <c:showVal val="1"/>
          <c:showCatName val="0"/>
          <c:showSerName val="0"/>
          <c:showPercent val="0"/>
          <c:showBubbleSize val="0"/>
        </c:dLbls>
        <c:marker val="1"/>
        <c:smooth val="0"/>
        <c:axId val="144407247"/>
        <c:axId val="294901951"/>
      </c:lineChart>
      <c:catAx>
        <c:axId val="14440724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4901951"/>
        <c:crosses val="autoZero"/>
        <c:auto val="1"/>
        <c:lblAlgn val="ctr"/>
        <c:lblOffset val="100"/>
        <c:noMultiLvlLbl val="0"/>
      </c:catAx>
      <c:valAx>
        <c:axId val="294901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07247"/>
        <c:crosses val="autoZero"/>
        <c:crossBetween val="between"/>
      </c:valAx>
      <c:valAx>
        <c:axId val="29491775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649919"/>
        <c:crosses val="max"/>
        <c:crossBetween val="between"/>
      </c:valAx>
      <c:catAx>
        <c:axId val="137649919"/>
        <c:scaling>
          <c:orientation val="minMax"/>
        </c:scaling>
        <c:delete val="1"/>
        <c:axPos val="b"/>
        <c:numFmt formatCode="General" sourceLinked="1"/>
        <c:majorTickMark val="out"/>
        <c:minorTickMark val="none"/>
        <c:tickLblPos val="nextTo"/>
        <c:crossAx val="2949177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a:pPr>
            <a:r>
              <a:rPr lang="en-US" sz="1200" b="1"/>
              <a:t>Pareto chart of Porsche CID defects (Nov.2025~Mar.2026)</a:t>
            </a:r>
          </a:p>
        </c:rich>
      </c:tx>
      <c:overlay val="0"/>
    </c:title>
    <c:autoTitleDeleted val="0"/>
    <c:plotArea>
      <c:layout/>
      <c:barChart>
        <c:barDir val="col"/>
        <c:grouping val="clustered"/>
        <c:varyColors val="0"/>
        <c:ser>
          <c:idx val="0"/>
          <c:order val="0"/>
          <c:tx>
            <c:strRef>
              <c:f>Sheet1!$B$1</c:f>
              <c:strCache>
                <c:ptCount val="1"/>
                <c:pt idx="0">
                  <c:v>Defect rate (ppm)</c:v>
                </c:pt>
              </c:strCache>
            </c:strRef>
          </c:tx>
          <c:spPr>
            <a:solidFill>
              <a:srgbClr val="4472C4"/>
            </a:solidFill>
          </c:spPr>
          <c:invertIfNegative val="0"/>
          <c:dLbls>
            <c:dLbl>
              <c:idx val="0"/>
              <c:numFmt formatCode="#,##0" sourceLinked="0"/>
              <c:spPr>
                <a:noFill/>
                <a:ln>
                  <a:noFill/>
                </a:ln>
              </c:spPr>
              <c:txPr>
                <a:bodyPr/>
                <a:lstStyle/>
                <a:p>
                  <a:pPr>
                    <a:defRPr sz="1100" b="1">
                      <a:solidFill>
                        <a:srgbClr val="FFFFFF"/>
                      </a:solidFill>
                    </a:defRPr>
                  </a:pPr>
                  <a:endParaRPr lang="en-US"/>
                </a:p>
              </c:txPr>
              <c:dLblPos val="inEnd"/>
              <c:showLegendKey val="0"/>
              <c:showVal val="1"/>
              <c:showCatName val="0"/>
              <c:showSerName val="0"/>
              <c:showPercent val="0"/>
              <c:showBubbleSize val="0"/>
            </c:dLbl>
            <c:numFmt formatCode="#,##0" sourceLinked="0"/>
            <c:spPr>
              <a:noFill/>
              <a:ln>
                <a:noFill/>
              </a:ln>
            </c:spPr>
            <c:txPr>
              <a:bodyPr/>
              <a:lstStyle/>
              <a:p>
                <a:pPr>
                  <a:defRPr sz="1050" b="1">
                    <a:solidFill>
                      <a:srgbClr val="333333"/>
                    </a:solidFill>
                  </a:defRPr>
                </a:pPr>
                <a:endParaRPr lang="en-US"/>
              </a:p>
            </c:txPr>
            <c:dLblPos val="outEnd"/>
            <c:showLegendKey val="0"/>
            <c:showVal val="1"/>
            <c:showCatName val="0"/>
            <c:showSerName val="0"/>
            <c:showPercent val="0"/>
            <c:showBubbleSize val="0"/>
          </c:dLbls>
          <c:cat>
            <c:strRef>
              <c:f>Sheet1!$A$2:$A$6</c:f>
              <c:strCache>
                <c:ptCount val="5"/>
                <c:pt idx="0">
                  <c:v>Luminance value</c:v>
                </c:pt>
                <c:pt idx="1">
                  <c:v>Hardware</c:v>
                </c:pt>
                <c:pt idx="2">
                  <c:v>Software</c:v>
                </c:pt>
                <c:pt idx="3">
                  <c:v>Contrast value</c:v>
                </c:pt>
                <c:pt idx="4">
                  <c:v>Haptic / Touch</c:v>
                </c:pt>
              </c:strCache>
            </c:strRef>
          </c:cat>
          <c:val>
            <c:numRef>
              <c:f>Sheet1!$B$2:$B$6</c:f>
              <c:numCache>
                <c:formatCode>#,##0</c:formatCode>
                <c:ptCount val="5"/>
                <c:pt idx="0">
                  <c:v>226624</c:v>
                </c:pt>
                <c:pt idx="1">
                  <c:v>15600</c:v>
                </c:pt>
                <c:pt idx="2">
                  <c:v>9100</c:v>
                </c:pt>
                <c:pt idx="3">
                  <c:v>6076</c:v>
                </c:pt>
                <c:pt idx="4">
                  <c:v>2600</c:v>
                </c:pt>
              </c:numCache>
            </c:numRef>
          </c:val>
        </c:ser>
        <c:gapWidth val="45"/>
        <c:axId val="50010"/>
        <c:axId val="50020"/>
      </c:barChart>
      <c:lineChart>
        <c:grouping val="standard"/>
        <c:varyColors val="0"/>
        <c:ser>
          <c:idx val="1"/>
          <c:order val="1"/>
          <c:tx>
            <c:strRef>
              <c:f>Sheet1!$C$1</c:f>
              <c:strCache>
                <c:ptCount val="1"/>
                <c:pt idx="0">
                  <c:v>Cumulative %</c:v>
                </c:pt>
              </c:strCache>
            </c:strRef>
          </c:tx>
          <c:spPr>
            <a:ln w="28575" cap="rnd">
              <a:solidFill>
                <a:srgbClr val="C00000"/>
              </a:solidFill>
              <a:round/>
            </a:ln>
          </c:spPr>
          <c:marker>
            <c:symbol val="circle"/>
            <c:size val="7"/>
            <c:spPr>
              <a:solidFill>
                <a:srgbClr val="C00000"/>
              </a:solidFill>
              <a:ln>
                <a:noFill/>
              </a:ln>
            </c:spPr>
          </c:marker>
          <c:dLbls>
            <c:numFmt formatCode="0.0&quot;%&quot;" sourceLinked="0"/>
            <c:spPr>
              <a:noFill/>
              <a:ln>
                <a:noFill/>
              </a:ln>
            </c:spPr>
            <c:txPr>
              <a:bodyPr/>
              <a:lstStyle/>
              <a:p>
                <a:pPr>
                  <a:defRPr sz="1050" b="1">
                    <a:solidFill>
                      <a:srgbClr val="C00000"/>
                    </a:solidFill>
                  </a:defRPr>
                </a:pPr>
                <a:endParaRPr lang="en-US"/>
              </a:p>
            </c:txPr>
            <c:dLblPos val="t"/>
            <c:showLegendKey val="0"/>
            <c:showVal val="1"/>
            <c:showCatName val="0"/>
            <c:showSerName val="0"/>
            <c:showPercent val="0"/>
            <c:showBubbleSize val="0"/>
          </c:dLbls>
          <c:cat>
            <c:strRef>
              <c:f>Sheet1!$A$2:$A$6</c:f>
              <c:strCache>
                <c:ptCount val="5"/>
                <c:pt idx="0">
                  <c:v>Luminance value</c:v>
                </c:pt>
                <c:pt idx="1">
                  <c:v>Hardware</c:v>
                </c:pt>
                <c:pt idx="2">
                  <c:v>Software</c:v>
                </c:pt>
                <c:pt idx="3">
                  <c:v>Contrast value</c:v>
                </c:pt>
                <c:pt idx="4">
                  <c:v>Haptic / Touch</c:v>
                </c:pt>
              </c:strCache>
            </c:strRef>
          </c:cat>
          <c:val>
            <c:numRef>
              <c:f>Sheet1!$C$2:$C$6</c:f>
              <c:numCache>
                <c:formatCode>0.0</c:formatCode>
                <c:ptCount val="5"/>
                <c:pt idx="0">
                  <c:v>87.2</c:v>
                </c:pt>
                <c:pt idx="1">
                  <c:v>93.2</c:v>
                </c:pt>
                <c:pt idx="2">
                  <c:v>96.7</c:v>
                </c:pt>
                <c:pt idx="3">
                  <c:v>99.0</c:v>
                </c:pt>
                <c:pt idx="4">
                  <c:v>100.0</c:v>
                </c:pt>
              </c:numCache>
            </c:numRef>
          </c:val>
          <c:smooth val="0"/>
        </c:ser>
        <c:ser>
          <c:idx val="2"/>
          <c:order val="2"/>
          <c:tx>
            <c:strRef>
              <c:f>Sheet1!$D$1</c:f>
              <c:strCache>
                <c:ptCount val="1"/>
                <c:pt idx="0">
                  <c:v>80% line</c:v>
                </c:pt>
              </c:strCache>
            </c:strRef>
          </c:tx>
          <c:spPr>
            <a:ln w="15875">
              <a:solidFill>
                <a:srgbClr val="7F7F7F"/>
              </a:solidFill>
              <a:prstDash val="dash"/>
            </a:ln>
          </c:spPr>
          <c:marker>
            <c:symbol val="none"/>
          </c:marker>
          <c:cat>
            <c:strRef>
              <c:f>Sheet1!$A$2:$A$6</c:f>
              <c:strCache>
                <c:ptCount val="5"/>
                <c:pt idx="0">
                  <c:v>Luminance value</c:v>
                </c:pt>
                <c:pt idx="1">
                  <c:v>Hardware</c:v>
                </c:pt>
                <c:pt idx="2">
                  <c:v>Software</c:v>
                </c:pt>
                <c:pt idx="3">
                  <c:v>Contrast value</c:v>
                </c:pt>
                <c:pt idx="4">
                  <c:v>Haptic / Touch</c:v>
                </c:pt>
              </c:strCache>
            </c:strRef>
          </c:cat>
          <c:val>
            <c:numRef>
              <c:f>Sheet1!$D$2:$D$6</c:f>
              <c:numCache>
                <c:formatCode>General</c:formatCode>
                <c:ptCount val="5"/>
                <c:pt idx="0">
                  <c:v>80</c:v>
                </c:pt>
                <c:pt idx="1">
                  <c:v>80</c:v>
                </c:pt>
                <c:pt idx="2">
                  <c:v>80</c:v>
                </c:pt>
                <c:pt idx="3">
                  <c:v>80</c:v>
                </c:pt>
                <c:pt idx="4">
                  <c:v>80</c:v>
                </c:pt>
              </c:numCache>
            </c:numRef>
          </c:val>
          <c:smooth val="0"/>
        </c:ser>
        <c:marker val="1"/>
        <c:axId val="50030"/>
        <c:axId val="50040"/>
      </c:lineChart>
      <c:catAx>
        <c:axId val="50010"/>
        <c:scaling>
          <c:orientation val="minMax"/>
        </c:scaling>
        <c:delete val="0"/>
        <c:axPos val="b"/>
        <c:numFmt formatCode="General" sourceLinked="0"/>
        <c:majorTickMark val="none"/>
        <c:minorTickMark val="none"/>
        <c:tickLblPos val="nextTo"/>
        <c:spPr>
          <a:ln w="9525">
            <a:solidFill>
              <a:srgbClr val="999999"/>
            </a:solidFill>
          </a:ln>
        </c:spPr>
        <c:txPr>
          <a:bodyPr/>
          <a:lstStyle/>
          <a:p>
            <a:pPr>
              <a:defRPr sz="1000" b="0">
                <a:solidFill>
                  <a:srgbClr val="404040"/>
                </a:solidFill>
              </a:defRPr>
            </a:pPr>
            <a:endParaRPr lang="en-US"/>
          </a:p>
        </c:txPr>
        <c:crossAx val="50020"/>
        <c:crosses val="autoZero"/>
        <c:auto val="1"/>
        <c:lblAlgn val="ctr"/>
        <c:lblOffset val="100"/>
        <c:noMultiLvlLbl val="0"/>
      </c:catAx>
      <c:valAx>
        <c:axId val="50020"/>
        <c:scaling>
          <c:orientation val="minMax"/>
          <c:max val="260000"/>
          <c:min val="0"/>
        </c:scaling>
        <c:delete val="0"/>
        <c:axPos val="l"/>
        <c:majorGridlines>
          <c:spPr>
            <a:ln w="6350">
              <a:solidFill>
                <a:srgbClr val="E0E0E0"/>
              </a:solidFill>
            </a:ln>
          </c:spPr>
        </c:majorGridlines>
        <c:numFmt formatCode="#,##0"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10"/>
        <c:crosses val="autoZero"/>
        <c:crossBetween val="between"/>
        <c:majorUnit val="65000"/>
      </c:valAx>
      <c:catAx>
        <c:axId val="50030"/>
        <c:scaling>
          <c:orientation val="minMax"/>
        </c:scaling>
        <c:delete val="1"/>
        <c:axPos val="b"/>
        <c:majorTickMark val="none"/>
        <c:minorTickMark val="none"/>
        <c:tickLblPos val="nextTo"/>
        <c:crossAx val="50040"/>
        <c:crosses val="autoZero"/>
        <c:auto val="1"/>
        <c:lblAlgn val="ctr"/>
        <c:lblOffset val="100"/>
        <c:noMultiLvlLbl val="0"/>
      </c:catAx>
      <c:valAx>
        <c:axId val="50040"/>
        <c:scaling>
          <c:orientation val="minMax"/>
          <c:max val="100"/>
          <c:min val="0"/>
        </c:scaling>
        <c:delete val="0"/>
        <c:axPos val="r"/>
        <c:numFmt formatCode="0&quot;%&quot;"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30"/>
        <c:crosses val="max"/>
        <c:crossBetween val="between"/>
        <c:majorUnit val="25"/>
      </c:valAx>
    </c:plotArea>
    <c:legend>
      <c:legendPos val="b"/>
      <c:overlay val="0"/>
      <c:txPr>
        <a:bodyPr/>
        <a:lstStyle/>
        <a:p>
          <a:pPr>
            <a:defRPr sz="1000" b="0">
              <a:solidFill>
                <a:srgbClr val="404040"/>
              </a:solidFill>
            </a:defRPr>
          </a:pPr>
          <a:endParaRPr lang="en-US"/>
        </a:p>
      </c:txPr>
    </c:legend>
    <c:plotVisOnly val="1"/>
    <c:dispBlanksAs val="gap"/>
  </c:chart>
  <c:txPr>
    <a:bodyPr/>
    <a:lstStyle/>
    <a:p>
      <a:pPr>
        <a:defRPr sz="10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6E2330A-8D0C-445B-8B20-23313C7DE240}" type="datetimeFigureOut">
              <a:rPr lang="en-US" smtClean="0"/>
              <a:t>9/30/2026</a:t>
            </a:fld>
            <a:endParaRPr lang="en-US"/>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E4EAB48F-E3FC-40BF-BD3F-3260D120AEE0}" type="slidenum">
              <a:rPr lang="en-US" smtClean="0"/>
              <a:t>‹#›</a:t>
            </a:fld>
            <a:endParaRPr lang="en-US"/>
          </a:p>
        </p:txBody>
      </p:sp>
    </p:spTree>
    <p:extLst>
      <p:ext uri="{BB962C8B-B14F-4D97-AF65-F5344CB8AC3E}">
        <p14:creationId xmlns:p14="http://schemas.microsoft.com/office/powerpoint/2010/main" val="19028396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2026-09-30</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r>
              <a:rPr lang="en-US" altLang="ko-KR"/>
              <a:t>1</a:t>
            </a: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712788" y="746125"/>
            <a:ext cx="5380037" cy="3725863"/>
          </a:xfrm>
          <a:ln/>
        </p:spPr>
      </p:sp>
      <p:sp>
        <p:nvSpPr>
          <p:cNvPr id="19459" name="슬라이드 노트 개체 틀 2"/>
          <p:cNvSpPr>
            <a:spLocks noGrp="1"/>
          </p:cNvSpPr>
          <p:nvPr>
            <p:ph type="body" idx="1"/>
          </p:nvPr>
        </p:nvSpPr>
        <p:spPr>
          <a:xfrm>
            <a:off x="681038" y="4722813"/>
            <a:ext cx="5445125" cy="4470400"/>
          </a:xfrm>
          <a:noFill/>
          <a:ln/>
        </p:spPr>
        <p:txBody>
          <a:bodyPr lIns="91742" tIns="45871" rIns="91742" bIns="45871"/>
          <a:lstStyle/>
          <a:p>
            <a:endParaRPr lang="ko-KR" altLang="en-US" dirty="0"/>
          </a:p>
        </p:txBody>
      </p:sp>
      <p:sp>
        <p:nvSpPr>
          <p:cNvPr id="19460" name="슬라이드 번호 개체 틀 3"/>
          <p:cNvSpPr txBox="1">
            <a:spLocks noGrp="1"/>
          </p:cNvSpPr>
          <p:nvPr/>
        </p:nvSpPr>
        <p:spPr bwMode="auto">
          <a:xfrm>
            <a:off x="3856038" y="9440863"/>
            <a:ext cx="2949575" cy="496887"/>
          </a:xfrm>
          <a:prstGeom prst="rect">
            <a:avLst/>
          </a:prstGeom>
          <a:noFill/>
          <a:ln w="9525">
            <a:noFill/>
            <a:miter lim="800000"/>
            <a:headEnd/>
            <a:tailEnd/>
          </a:ln>
        </p:spPr>
        <p:txBody>
          <a:bodyPr lIns="91742" tIns="45871" rIns="91742" bIns="45871" anchor="b"/>
          <a:lstStyle/>
          <a:p>
            <a:pPr algn="r" defTabSz="917575"/>
            <a:fld id="{507ACCBB-C431-42CE-B77B-8DA086166DDE}" type="slidenum">
              <a:rPr lang="ko-KR" altLang="en-US">
                <a:latin typeface="굴림" pitchFamily="50" charset="-127"/>
              </a:rPr>
              <a:pPr algn="r" defTabSz="917575"/>
              <a:t>1</a:t>
            </a:fld>
            <a:endParaRPr lang="en-US" altLang="ko-KR" dirty="0">
              <a:latin typeface="굴림" pitchFamily="50" charset="-127"/>
            </a:endParaRPr>
          </a:p>
        </p:txBody>
      </p:sp>
    </p:spTree>
    <p:extLst>
      <p:ext uri="{BB962C8B-B14F-4D97-AF65-F5344CB8AC3E}">
        <p14:creationId xmlns:p14="http://schemas.microsoft.com/office/powerpoint/2010/main" val="97871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4200" y="511175"/>
            <a:ext cx="3686175"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r>
              <a:rPr lang="en-US" altLang="ko-KR" dirty="0"/>
              <a:t>Define: 3/9~3/31 (about 3 weeks)</a:t>
            </a:r>
          </a:p>
          <a:p>
            <a:pPr eaLnBrk="1" hangingPunct="1">
              <a:spcBef>
                <a:spcPct val="0"/>
              </a:spcBef>
            </a:pPr>
            <a:r>
              <a:rPr lang="en-US" altLang="ko-KR" dirty="0"/>
              <a:t>Measure: 4/1~4/30 (4 weeks)</a:t>
            </a:r>
          </a:p>
          <a:p>
            <a:pPr eaLnBrk="1" hangingPunct="1">
              <a:spcBef>
                <a:spcPct val="0"/>
              </a:spcBef>
            </a:pPr>
            <a:r>
              <a:rPr lang="en-US" altLang="ko-KR" dirty="0"/>
              <a:t>Analyze: 5/1~5/18 (about 3 weeks)</a:t>
            </a:r>
          </a:p>
          <a:p>
            <a:pPr eaLnBrk="1" hangingPunct="1">
              <a:spcBef>
                <a:spcPct val="0"/>
              </a:spcBef>
            </a:pPr>
            <a:r>
              <a:rPr lang="en-US" altLang="ko-KR" dirty="0"/>
              <a:t>Improve: 5/19~6/14 (4 weeks)</a:t>
            </a:r>
          </a:p>
          <a:p>
            <a:pPr eaLnBrk="1" hangingPunct="1">
              <a:spcBef>
                <a:spcPct val="0"/>
              </a:spcBef>
            </a:pPr>
            <a:r>
              <a:rPr lang="en-US" altLang="ko-KR" dirty="0"/>
              <a:t>Control: 6/15~9/20 (monitoring)</a:t>
            </a: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panose="020B060402020202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panose="020B0604020202020204" pitchFamily="34" charset="0"/>
              <a:ea typeface="돋움" panose="020B0600000101010101" pitchFamily="50" charset="-127"/>
            </a:endParaRPr>
          </a:p>
        </p:txBody>
      </p:sp>
    </p:spTree>
    <p:extLst>
      <p:ext uri="{BB962C8B-B14F-4D97-AF65-F5344CB8AC3E}">
        <p14:creationId xmlns:p14="http://schemas.microsoft.com/office/powerpoint/2010/main" val="3431465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190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3829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b="0" i="0" u="none" strike="noStrike" kern="1200" baseline="0" dirty="0">
                <a:solidFill>
                  <a:schemeClr val="tx1"/>
                </a:solidFill>
                <a:latin typeface="Arial" panose="020B0604020202020204" pitchFamily="34" charset="0"/>
                <a:ea typeface="+mn-ea"/>
                <a:cs typeface="Arial" panose="020B0604020202020204" pitchFamily="34" charset="0"/>
              </a:rPr>
              <a:t xml:space="preserve">Output level resolution: 0.01 Cd/m²</a:t>
            </a:r>
            <a:endParaRPr lang="en-US" sz="1050"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6</a:t>
            </a:fld>
            <a:endParaRPr lang="ko-KR" altLang="en-US" dirty="0"/>
          </a:p>
        </p:txBody>
      </p:sp>
    </p:spTree>
    <p:extLst>
      <p:ext uri="{BB962C8B-B14F-4D97-AF65-F5344CB8AC3E}">
        <p14:creationId xmlns:p14="http://schemas.microsoft.com/office/powerpoint/2010/main" val="2144263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1: Run chart: all measurements should stay inside Reference ± 10% of the tolerance (910 ± 120 = 790 ~ 1030 Cd/m²).</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2: Check the p-value to assess the bias (p-value vs. α = 0.05).</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3: Check Cg and Cgk to assess the capability of the measurement system (benchmark: ≥ 1.33).</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Cg (potential gage capability): compares 20% of the tolerance with the spread (6 x s) of the repeated measurements, i.e. repeatability only. Criterion: Cg ≥ 1.33.</a:t>
            </a:r>
            <a:endPar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endParaRPr>
          </a:p>
          <a:p>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 (gage capability index): like Cg but also takes the bias into account (distance between the mean of the measurements and the reference value). Criterion: Cgk ≥ 1.33.</a:t>
            </a:r>
          </a:p>
          <a:p>
            <a:endParaRPr kumimoji="1" lang="ja-JP" alt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8</a:t>
            </a:fld>
            <a:endParaRPr lang="ko-KR" altLang="en-US" dirty="0"/>
          </a:p>
        </p:txBody>
      </p:sp>
    </p:spTree>
    <p:extLst>
      <p:ext uri="{BB962C8B-B14F-4D97-AF65-F5344CB8AC3E}">
        <p14:creationId xmlns:p14="http://schemas.microsoft.com/office/powerpoint/2010/main" val="2404249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H1: at least one part mean is different</a:t>
            </a: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100" b="0" i="0" u="none" strike="noStrike" cap="none" normalizeH="0" baseline="0" dirty="0">
                <a:ln>
                  <a:noFill/>
                </a:ln>
                <a:solidFill>
                  <a:schemeClr val="tx1"/>
                </a:solidFill>
                <a:effectLst/>
                <a:latin typeface="Arial" charset="0"/>
                <a:ea typeface="돋움" pitchFamily="50" charset="-127"/>
              </a:rPr>
              <a:t>Follow AIAG guidelines: %Study Var and %Tolerance &lt; 10% = acceptable, 10-30% = conditionally acceptable, &gt; 30% = unacceptable; %Contribution &lt; 1% = acceptable, &gt; 9% = unacceptable. Here %Contribution (71.56%) and %Study Var (84.59%) are far above the limits and NDC = 1 &lt; 5, so the measurement system is NOT acceptable (only %Tolerance = 8.33% is below 10%). The ANOVA p-value (0.077 &gt; 0.05) also shows that the 25 selected parts cannot be distinguished from the repeatability error.</a:t>
            </a:r>
            <a:endParaRPr kumimoji="1" lang="en-US" altLang="ja-JP" sz="100" b="0" i="0" u="none" strike="noStrike" cap="none" normalizeH="0" baseline="0" dirty="0">
              <a:ln>
                <a:noFill/>
              </a:ln>
              <a:solidFill>
                <a:schemeClr val="tx1"/>
              </a:solidFill>
              <a:effectLst/>
              <a:latin typeface="Arial" charset="0"/>
              <a:ea typeface="돋움" pitchFamily="50" charset="-127"/>
            </a:endParaRPr>
          </a:p>
          <a:p>
            <a:pPr algn="l"/>
            <a:endParaRPr lang="en-US" altLang="ja-JP" sz="100" dirty="0"/>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NDC (number of distinct categories): the number of groups of parts the measurement system can reliably distinguish; NDC ≥ 5 is required.</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10</a:t>
            </a:fld>
            <a:endParaRPr lang="ko-KR" altLang="en-US" dirty="0"/>
          </a:p>
        </p:txBody>
      </p:sp>
    </p:spTree>
    <p:extLst>
      <p:ext uri="{BB962C8B-B14F-4D97-AF65-F5344CB8AC3E}">
        <p14:creationId xmlns:p14="http://schemas.microsoft.com/office/powerpoint/2010/main" val="3070854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3706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90218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78F89C-25FB-47FE-9A04-A7BE919D4590}" type="slidenum">
              <a:rPr lang="en-US" smtClean="0"/>
              <a:pPr/>
              <a:t>17</a:t>
            </a:fld>
            <a:endParaRPr lang="en-US"/>
          </a:p>
        </p:txBody>
      </p:sp>
    </p:spTree>
    <p:extLst>
      <p:ext uri="{BB962C8B-B14F-4D97-AF65-F5344CB8AC3E}">
        <p14:creationId xmlns:p14="http://schemas.microsoft.com/office/powerpoint/2010/main" val="3541109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21</a:t>
            </a:fld>
            <a:endParaRPr lang="ko-KR" altLang="en-US" dirty="0"/>
          </a:p>
        </p:txBody>
      </p:sp>
    </p:spTree>
    <p:extLst>
      <p:ext uri="{BB962C8B-B14F-4D97-AF65-F5344CB8AC3E}">
        <p14:creationId xmlns:p14="http://schemas.microsoft.com/office/powerpoint/2010/main" val="1220819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the variation of each source and of any additional factor that affects the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at least one part mean is different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 %Contribution: almost all of the variation comes from part-to-part, so 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AIAG guidelines: if %Study Var and %Tolerance are below 10% (and %Contribution below 1%), the measurement system is acceptable. Here all three are below the limits and NDC ≥ 5, so the measurement system is Good.</a:t>
            </a:r>
            <a:endParaRPr kumimoji="1" lang="en-US" altLang="ja-JP" sz="600" b="0" i="0" u="none" strike="noStrike" cap="none" normalizeH="0" baseline="0" dirty="0">
              <a:ln>
                <a:noFill/>
              </a:ln>
              <a:solidFill>
                <a:schemeClr val="tx1"/>
              </a:solidFill>
              <a:effectLst/>
              <a:latin typeface="Arial" charset="0"/>
              <a:ea typeface="돋움" pitchFamily="50" charset="-127"/>
            </a:endParaRPr>
          </a:p>
        </p:txBody>
      </p:sp>
      <p:sp>
        <p:nvSpPr>
          <p:cNvPr id="4" name="Footer Placeholder 3"/>
          <p:cNvSpPr>
            <a:spLocks noGrp="1"/>
          </p:cNvSpPr>
          <p:nvPr>
            <p:ph type="ftr" sz="quarter" idx="4"/>
          </p:nvPr>
        </p:nvSpPr>
        <p:spPr/>
        <p:txBody>
          <a:bodyPr/>
          <a:lstStyle/>
          <a:p>
            <a:pPr>
              <a:defRPr/>
            </a:pPr>
            <a:r>
              <a:rPr lang="en-US" altLang="ko-KR"/>
              <a:t>1</a:t>
            </a:r>
            <a:endParaRPr lang="ko-KR" altLang="en-US" dirty="0"/>
          </a:p>
        </p:txBody>
      </p:sp>
      <p:sp>
        <p:nvSpPr>
          <p:cNvPr id="5" name="Slide Number Placeholder 4"/>
          <p:cNvSpPr>
            <a:spLocks noGrp="1"/>
          </p:cNvSpPr>
          <p:nvPr>
            <p:ph type="sldNum" sz="quarter" idx="5"/>
          </p:nvPr>
        </p:nvSpPr>
        <p:spPr/>
        <p:txBody>
          <a:bodyPr/>
          <a:lstStyle/>
          <a:p>
            <a:pPr>
              <a:defRPr/>
            </a:pPr>
            <a:fld id="{97375BCD-8584-40B1-BC96-764EEABFA733}" type="slidenum">
              <a:rPr lang="ko-KR" altLang="en-US" smtClean="0"/>
              <a:pPr>
                <a:defRPr/>
              </a:pPr>
              <a:t>23</a:t>
            </a:fld>
            <a:endParaRPr lang="ko-KR" altLang="en-US" dirty="0"/>
          </a:p>
        </p:txBody>
      </p:sp>
    </p:spTree>
    <p:extLst>
      <p:ext uri="{BB962C8B-B14F-4D97-AF65-F5344CB8AC3E}">
        <p14:creationId xmlns:p14="http://schemas.microsoft.com/office/powerpoint/2010/main" val="3993729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25</a:t>
            </a:fld>
            <a:endParaRPr lang="ko-KR" altLang="en-US" dirty="0"/>
          </a:p>
        </p:txBody>
      </p:sp>
    </p:spTree>
    <p:extLst>
      <p:ext uri="{BB962C8B-B14F-4D97-AF65-F5344CB8AC3E}">
        <p14:creationId xmlns:p14="http://schemas.microsoft.com/office/powerpoint/2010/main" val="1687972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28</a:t>
            </a:fld>
            <a:endParaRPr lang="ko-KR" altLang="en-US" dirty="0"/>
          </a:p>
        </p:txBody>
      </p:sp>
    </p:spTree>
    <p:extLst>
      <p:ext uri="{BB962C8B-B14F-4D97-AF65-F5344CB8AC3E}">
        <p14:creationId xmlns:p14="http://schemas.microsoft.com/office/powerpoint/2010/main" val="3406233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1" dirty="0" err="1"/>
                  <a:t>Zst: within (short-term), Zlt: overall (long-term). The short-term process capability (Zst) represents the best capability of the current process. Zlt represents the process capability from the customer’s perspective.</a:t>
                </a:r>
              </a:p>
              <a:p>
                <a:r>
                  <a:rPr kumimoji="1" lang="en-US" altLang="ja-JP" b="1" dirty="0"/>
                  <a:t>Over time the quality deteriorates because of tool and equipment wear, variation between workers and changes of environment. Zshift = Zst − Zlt indicates the degree of deterioration; a shift of about 1.0 to 1.5 is typical. If Zshift is greater than 1.5, management (control) is judged not good; if Zshift is less than 1.5, management is judged good.</a:t>
                </a:r>
              </a:p>
              <a:p>
                <a:r>
                  <a:rPr kumimoji="1" lang="en-US" altLang="ja-JP" dirty="0" err="1"/>
                  <a:t>Cpk</a:t>
                </a:r>
                <a:r>
                  <a:rPr kumimoji="1" lang="en-US" altLang="ja-JP" dirty="0"/>
                  <a:t> is a measure of the potential capability of the process and equals the minimum of CPU and CPL. </a:t>
                </a:r>
                <a:r>
                  <a:rPr kumimoji="1" lang="en-US" altLang="ja-JP" dirty="0" err="1"/>
                  <a:t>Cpk</a:t>
                </a:r>
                <a:r>
                  <a:rPr kumimoji="1" lang="en-US" altLang="ja-JP" dirty="0"/>
                  <a:t> is a ratio that compares two values:</a:t>
                </a:r>
              </a:p>
              <a:p>
                <a:r>
                  <a:rPr kumimoji="1" lang="en-US" altLang="ja-JP" dirty="0"/>
                  <a:t>The distance from the process mean to the closest specification limit (USL or LSL)</a:t>
                </a:r>
              </a:p>
              <a:p>
                <a:r>
                  <a:rPr kumimoji="1" lang="en-US" altLang="ja-JP" dirty="0"/>
                  <a:t>The one-sided spread of the process (the 3-σ variation) based on the within-subgroup standard deviation</a:t>
                </a:r>
              </a:p>
              <a:p>
                <a:r>
                  <a:rPr kumimoji="1" lang="en-US" altLang="ja-JP" dirty="0" err="1"/>
                  <a:t>Cpk</a:t>
                </a:r>
                <a:r>
                  <a:rPr kumimoji="1" lang="en-US" altLang="ja-JP" dirty="0"/>
                  <a:t> considers both the location and the variation (within subgroups) of the process.</a:t>
                </a:r>
                <a:endParaRPr kumimoji="1" lang="ja-JP" altLang="en-US" dirty="0"/>
              </a:p>
              <a:p>
                <a:endParaRPr kumimoji="1" lang="ja-JP" altLang="en-US" dirty="0"/>
              </a:p>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29</a:t>
            </a:fld>
            <a:endParaRPr lang="ko-KR" altLang="en-US" dirty="0"/>
          </a:p>
        </p:txBody>
      </p:sp>
    </p:spTree>
    <p:extLst>
      <p:ext uri="{BB962C8B-B14F-4D97-AF65-F5344CB8AC3E}">
        <p14:creationId xmlns:p14="http://schemas.microsoft.com/office/powerpoint/2010/main" val="3337533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3728864" y="6542599"/>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ko-KR" altLang="en-US" dirty="0">
                <a:solidFill>
                  <a:prstClr val="black">
                    <a:tint val="75000"/>
                  </a:prstClr>
                </a:solidFill>
              </a:rPr>
              <a:t> </a:t>
            </a:r>
            <a:r>
              <a:rPr lang="en-US" altLang="ko-KR" dirty="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a:xfrm>
            <a:off x="742950" y="6248400"/>
            <a:ext cx="2063750" cy="457200"/>
          </a:xfrm>
          <a:prstGeom prst="rect">
            <a:avLst/>
          </a:prstGeom>
        </p:spPr>
        <p:txBody>
          <a:bodyPr/>
          <a:lstStyle>
            <a:lvl1pPr>
              <a:defRPr/>
            </a:lvl1pPr>
          </a:lstStyle>
          <a:p>
            <a:pPr>
              <a:defRPr/>
            </a:pPr>
            <a:endParaRPr lang="ko-KR" altLang="en-US" dirty="0">
              <a:solidFill>
                <a:srgbClr val="000000"/>
              </a:solidFill>
            </a:endParaRPr>
          </a:p>
        </p:txBody>
      </p:sp>
      <p:sp>
        <p:nvSpPr>
          <p:cNvPr id="3" name="바닥글 개체 틀 2"/>
          <p:cNvSpPr>
            <a:spLocks noGrp="1"/>
          </p:cNvSpPr>
          <p:nvPr>
            <p:ph type="ftr" sz="quarter" idx="11"/>
          </p:nvPr>
        </p:nvSpPr>
        <p:spPr>
          <a:xfrm>
            <a:off x="3384550" y="6248400"/>
            <a:ext cx="3136900" cy="457200"/>
          </a:xfrm>
          <a:prstGeom prst="rect">
            <a:avLst/>
          </a:prstGeom>
        </p:spPr>
        <p:txBody>
          <a:bodyPr/>
          <a:lstStyle>
            <a:lvl1pPr>
              <a:defRPr/>
            </a:lvl1pPr>
          </a:lstStyle>
          <a:p>
            <a:pPr>
              <a:defRPr/>
            </a:pPr>
            <a:endParaRPr lang="ko-KR" altLang="en-US">
              <a:solidFill>
                <a:srgbClr val="000000"/>
              </a:solidFill>
            </a:endParaRPr>
          </a:p>
        </p:txBody>
      </p:sp>
      <p:sp>
        <p:nvSpPr>
          <p:cNvPr id="4" name="슬라이드 번호 개체 틀 3"/>
          <p:cNvSpPr>
            <a:spLocks noGrp="1"/>
          </p:cNvSpPr>
          <p:nvPr>
            <p:ph type="sldNum" sz="quarter" idx="12"/>
          </p:nvPr>
        </p:nvSpPr>
        <p:spPr>
          <a:xfrm>
            <a:off x="7099300" y="6356350"/>
            <a:ext cx="2311400" cy="365125"/>
          </a:xfrm>
          <a:prstGeom prst="rect">
            <a:avLst/>
          </a:prstGeom>
        </p:spPr>
        <p:txBody>
          <a:bodyPr/>
          <a:lstStyle>
            <a:lvl1pPr>
              <a:defRPr/>
            </a:lvl1pPr>
          </a:lstStyle>
          <a:p>
            <a:pPr>
              <a:defRPr/>
            </a:pPr>
            <a:fld id="{0674F093-85E3-4077-80AF-B10359088A98}" type="slidenum">
              <a:rPr lang="ko-KR" altLang="en-US" sz="1200">
                <a:solidFill>
                  <a:srgbClr val="000000"/>
                </a:solidFill>
                <a:latin typeface="Arial" charset="0"/>
                <a:ea typeface="돋움" pitchFamily="50" charset="-127"/>
              </a:rPr>
              <a:pPr>
                <a:defRPr/>
              </a:pPr>
              <a:t>‹#›</a:t>
            </a:fld>
            <a:endParaRPr lang="ko-KR" altLang="en-US" sz="1200" dirty="0">
              <a:solidFill>
                <a:srgbClr val="000000"/>
              </a:solidFill>
              <a:latin typeface="Arial" charset="0"/>
              <a:ea typeface="돋움" pitchFamily="50" charset="-127"/>
            </a:endParaRPr>
          </a:p>
        </p:txBody>
      </p:sp>
    </p:spTree>
    <p:extLst>
      <p:ext uri="{BB962C8B-B14F-4D97-AF65-F5344CB8AC3E}">
        <p14:creationId xmlns:p14="http://schemas.microsoft.com/office/powerpoint/2010/main" val="271553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0E64B-9113-4BE4-BEDA-1D3C752AD11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AF9C5-787B-4812-8641-4E431B5130D1}" type="slidenum">
              <a:rPr lang="en-US" smtClean="0"/>
              <a:pPr/>
              <a:t>‹#›</a:t>
            </a:fld>
            <a:endParaRPr lang="en-US"/>
          </a:p>
        </p:txBody>
      </p:sp>
      <p:sp>
        <p:nvSpPr>
          <p:cNvPr id="8" name="Content Placeholder 7"/>
          <p:cNvSpPr>
            <a:spLocks noGrp="1"/>
          </p:cNvSpPr>
          <p:nvPr>
            <p:ph sz="quarter" idx="13"/>
          </p:nvPr>
        </p:nvSpPr>
        <p:spPr>
          <a:xfrm>
            <a:off x="8253413" y="18732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0C1232D1-D26A-4B9E-9F74-30AF75FEA22D}" type="datetimeFigureOut">
              <a:rPr lang="en-US" smtClean="0"/>
              <a:t>9/30/2026</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A7EEBFAC-7688-42D7-A474-447757C1272C}" type="slidenum">
              <a:rPr lang="en-US" smtClean="0"/>
              <a:t>‹#›</a:t>
            </a:fld>
            <a:endParaRPr lang="en-US"/>
          </a:p>
        </p:txBody>
      </p:sp>
    </p:spTree>
    <p:extLst>
      <p:ext uri="{BB962C8B-B14F-4D97-AF65-F5344CB8AC3E}">
        <p14:creationId xmlns:p14="http://schemas.microsoft.com/office/powerpoint/2010/main" val="406597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94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495300" y="6356353"/>
            <a:ext cx="2311400" cy="365125"/>
          </a:xfrm>
          <a:prstGeom prst="rect">
            <a:avLst/>
          </a:prstGeo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7099300" y="6356353"/>
            <a:ext cx="2311400" cy="365125"/>
          </a:xfrm>
          <a:prstGeom prst="rect">
            <a:avLst/>
          </a:prstGeom>
        </p:spPr>
        <p:txBody>
          <a:bodyPr/>
          <a:lstStyle/>
          <a:p>
            <a:fld id="{9BFF983A-EC0A-4770-8E0B-A2C9B8B7F425}" type="slidenum">
              <a:rPr lang="ko-KR" altLang="en-US">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906503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a:t>제목을 입력 하세요</a:t>
            </a:r>
          </a:p>
        </p:txBody>
      </p:sp>
      <p:sp>
        <p:nvSpPr>
          <p:cNvPr id="4" name="TextBox 3">
            <a:extLst>
              <a:ext uri="{FF2B5EF4-FFF2-40B4-BE49-F238E27FC236}">
                <a16:creationId xmlns:a16="http://schemas.microsoft.com/office/drawing/2014/main" id="{9DAD3A4A-DBC2-B460-D6E3-B6C54F17340C}"/>
              </a:ext>
            </a:extLst>
          </p:cNvPr>
          <p:cNvSpPr txBox="1"/>
          <p:nvPr userDrawn="1">
            <p:extLst>
              <p:ext uri="{1162E1C5-73C7-4A58-AE30-91384D911F3F}">
                <p184:classification xmlns:p184="http://schemas.microsoft.com/office/powerpoint/2018/4/main" val="hdr"/>
              </p:ext>
            </p:extLst>
          </p:nvPr>
        </p:nvSpPr>
        <p:spPr>
          <a:xfrm>
            <a:off x="4281488" y="63500"/>
            <a:ext cx="1377950"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F0502020204030204" pitchFamily="34" charset="0"/>
                <a:ea typeface="Arial" panose="020F0502020204030204" pitchFamily="34" charset="0"/>
                <a:cs typeface="Calibri" panose="020F0502020204030204" pitchFamily="34" charset="0"/>
              </a:rPr>
              <a:t>LGE Internal Use Only</a:t>
            </a:r>
          </a:p>
        </p:txBody>
      </p:sp>
    </p:spTree>
  </p:cSld>
  <p:clrMap bg1="lt1" tx1="dk1" bg2="lt2" tx2="dk2" accent1="accent1" accent2="accent2" accent3="accent3" accent4="accent4" accent5="accent5" accent6="accent6" hlink="hlink" folHlink="folHlink"/>
  <p:sldLayoutIdLst>
    <p:sldLayoutId id="2147485194" r:id="rId1"/>
    <p:sldLayoutId id="2147485197" r:id="rId2"/>
    <p:sldLayoutId id="2147485201" r:id="rId3"/>
    <p:sldLayoutId id="2147485203" r:id="rId4"/>
    <p:sldLayoutId id="2147485204" r:id="rId5"/>
    <p:sldLayoutId id="2147485205" r:id="rId6"/>
  </p:sldLayoutIdLst>
  <p:hf hdr="0" dt="0"/>
  <p:txStyles>
    <p:title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mn-lt"/>
          <a:ea typeface="돋움"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굴림" charset="-127"/>
          <a:ea typeface="굴림" charset="-127"/>
        </a:defRPr>
      </a:lvl2pPr>
      <a:lvl3pPr marL="1147763" indent="-228600" algn="l" rtl="0" eaLnBrk="0" fontAlgn="base" latinLnBrk="1" hangingPunct="0">
        <a:spcBef>
          <a:spcPct val="20000"/>
        </a:spcBef>
        <a:spcAft>
          <a:spcPct val="0"/>
        </a:spcAft>
        <a:buChar char="•"/>
        <a:defRPr kumimoji="1" sz="2400">
          <a:solidFill>
            <a:schemeClr val="tx1"/>
          </a:solidFill>
          <a:latin typeface="굴림" charset="-127"/>
          <a:ea typeface="굴림" charset="-127"/>
        </a:defRPr>
      </a:lvl3pPr>
      <a:lvl4pPr marL="16002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4pPr>
      <a:lvl5pPr marL="20574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5pPr>
      <a:lvl6pPr marL="2514600" indent="-228600" algn="l" rtl="0" fontAlgn="base" latinLnBrk="1">
        <a:spcBef>
          <a:spcPct val="20000"/>
        </a:spcBef>
        <a:spcAft>
          <a:spcPct val="0"/>
        </a:spcAft>
        <a:buChar char="»"/>
        <a:defRPr kumimoji="1" sz="2000">
          <a:solidFill>
            <a:schemeClr val="tx1"/>
          </a:solidFill>
          <a:latin typeface="굴림" charset="-127"/>
          <a:ea typeface="굴림" charset="-127"/>
        </a:defRPr>
      </a:lvl6pPr>
      <a:lvl7pPr marL="2971800" indent="-228600" algn="l" rtl="0" fontAlgn="base" latinLnBrk="1">
        <a:spcBef>
          <a:spcPct val="20000"/>
        </a:spcBef>
        <a:spcAft>
          <a:spcPct val="0"/>
        </a:spcAft>
        <a:buChar char="»"/>
        <a:defRPr kumimoji="1" sz="2000">
          <a:solidFill>
            <a:schemeClr val="tx1"/>
          </a:solidFill>
          <a:latin typeface="굴림" charset="-127"/>
          <a:ea typeface="굴림" charset="-127"/>
        </a:defRPr>
      </a:lvl7pPr>
      <a:lvl8pPr marL="3429000" indent="-228600" algn="l" rtl="0" fontAlgn="base" latinLnBrk="1">
        <a:spcBef>
          <a:spcPct val="20000"/>
        </a:spcBef>
        <a:spcAft>
          <a:spcPct val="0"/>
        </a:spcAft>
        <a:buChar char="»"/>
        <a:defRPr kumimoji="1" sz="2000">
          <a:solidFill>
            <a:schemeClr val="tx1"/>
          </a:solidFill>
          <a:latin typeface="굴림" charset="-127"/>
          <a:ea typeface="굴림" charset="-127"/>
        </a:defRPr>
      </a:lvl8pPr>
      <a:lvl9pPr marL="3886200" indent="-228600" algn="l" rtl="0" fontAlgn="base" latinLnBrk="1">
        <a:spcBef>
          <a:spcPct val="20000"/>
        </a:spcBef>
        <a:spcAft>
          <a:spcPct val="0"/>
        </a:spcAft>
        <a:buChar char="»"/>
        <a:defRPr kumimoji="1" sz="2000">
          <a:solidFill>
            <a:schemeClr val="tx1"/>
          </a:solidFill>
          <a:latin typeface="굴림" charset="-127"/>
          <a:ea typeface="굴림" charset="-127"/>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package" Target="../embeddings/Microsoft_PowerPoint_Presentation1.pptx"/><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wmf"/><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package" Target="../embeddings/Microsoft_Excel_Worksheet2.xlsx"/><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8" Type="http://schemas.openxmlformats.org/officeDocument/2006/relationships/image" Target="../media/rev_s28_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rev_s28_6.png"/></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rev_s29_4.png"/><Relationship Id="rId7" Type="http://schemas.openxmlformats.org/officeDocument/2006/relationships/diagramQuickStyle" Target="../diagrams/quickStyle5.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rev_s29_3.png"/><Relationship Id="rId9" Type="http://schemas.microsoft.com/office/2007/relationships/diagramDrawing" Target="../diagrams/drawin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package" Target="../embeddings/Microsoft_Excel_Worksheet3.xlsx"/><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 Id="rId6" Type="http://schemas.openxmlformats.org/officeDocument/2006/relationships/chart" Target="../charts/char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8" Type="http://schemas.openxmlformats.org/officeDocument/2006/relationships/image" Target="../media/baseline_prob.png"/><Relationship Id="rId9" Type="http://schemas.openxmlformats.org/officeDocument/2006/relationships/image" Target="../media/baseline_cap.png"/><Relationship Id="rId10" Type="http://schemas.openxmlformats.org/officeDocument/2006/relationships/image" Target="../media/targets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p:cNvSpPr>
            <a:spLocks noChangeArrowheads="1"/>
          </p:cNvSpPr>
          <p:nvPr/>
        </p:nvSpPr>
        <p:spPr bwMode="auto">
          <a:xfrm>
            <a:off x="1984375" y="764704"/>
            <a:ext cx="5992813" cy="1116012"/>
          </a:xfrm>
          <a:prstGeom prst="rect">
            <a:avLst/>
          </a:prstGeom>
          <a:solidFill>
            <a:srgbClr val="EAEAEA"/>
          </a:solidFill>
          <a:ln w="9525">
            <a:solidFill>
              <a:srgbClr val="C0C0C0"/>
            </a:solidFill>
            <a:miter lim="800000"/>
            <a:headEnd/>
            <a:tailEnd/>
          </a:ln>
        </p:spPr>
        <p:txBody>
          <a:bodyPr wrap="none" anchor="ctr"/>
          <a:lstStyle/>
          <a:p>
            <a:pPr algn="ctr" eaLnBrk="1" fontAlgn="auto" latinLnBrk="0">
              <a:spcBef>
                <a:spcPts val="0"/>
              </a:spcBef>
              <a:spcAft>
                <a:spcPts val="0"/>
              </a:spcAft>
              <a:defRPr/>
            </a:pPr>
            <a:r>
              <a:rPr kumimoji="0" lang="en-US" altLang="en-US" sz="2600" b="1" kern="0" dirty="0">
                <a:solidFill>
                  <a:sysClr val="windowText" lastClr="000000"/>
                </a:solidFill>
                <a:latin typeface="Arial" pitchFamily="50" charset="-127"/>
                <a:ea typeface="Arial" pitchFamily="50" charset="-127"/>
              </a:rPr>
              <a:t>Luminance value NG of</a:t>
            </a:r>
            <a:br>
              <a:rPr kumimoji="0" lang="en-US" altLang="en-US" sz="2600" b="1" kern="0" dirty="0">
                <a:solidFill>
                  <a:sysClr val="windowText" lastClr="000000"/>
                </a:solidFill>
                <a:latin typeface="Arial" pitchFamily="50" charset="-127"/>
                <a:ea typeface="Arial" pitchFamily="50" charset="-127"/>
              </a:rPr>
            </a:br>
            <a:r>
              <a:rPr kumimoji="0" lang="en-US" altLang="en-US" sz="2600" b="1" kern="0" dirty="0">
                <a:solidFill>
                  <a:sysClr val="windowText" lastClr="000000"/>
                </a:solidFill>
                <a:latin typeface="Arial" pitchFamily="50" charset="-127"/>
                <a:ea typeface="Arial" pitchFamily="50" charset="-127"/>
              </a:rPr>
              <a:t>Porsche CID J1 Dual</a:t>
            </a:r>
          </a:p>
        </p:txBody>
      </p:sp>
      <p:grpSp>
        <p:nvGrpSpPr>
          <p:cNvPr id="2" name="Group 1">
            <a:extLst>
              <a:ext uri="{FF2B5EF4-FFF2-40B4-BE49-F238E27FC236}">
                <a16:creationId xmlns:a16="http://schemas.microsoft.com/office/drawing/2014/main" id="{C73B0D02-5891-4E36-BF6C-DBA735A890E7}"/>
              </a:ext>
            </a:extLst>
          </p:cNvPr>
          <p:cNvGrpSpPr/>
          <p:nvPr/>
        </p:nvGrpSpPr>
        <p:grpSpPr>
          <a:xfrm>
            <a:off x="3057475" y="2149003"/>
            <a:ext cx="3846611" cy="2700338"/>
            <a:chOff x="3122613" y="2564905"/>
            <a:chExt cx="3603625" cy="2519858"/>
          </a:xfrm>
        </p:grpSpPr>
        <p:sp>
          <p:nvSpPr>
            <p:cNvPr id="33" name="Rectangle 7"/>
            <p:cNvSpPr>
              <a:spLocks noChangeArrowheads="1"/>
            </p:cNvSpPr>
            <p:nvPr>
              <p:custDataLst>
                <p:tags r:id="rId1"/>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fontAlgn="auto" latinLnBrk="0">
                <a:spcBef>
                  <a:spcPts val="0"/>
                </a:spcBef>
                <a:spcAft>
                  <a:spcPts val="0"/>
                </a:spcAft>
                <a:defRPr/>
              </a:pPr>
              <a:r>
                <a:rPr kumimoji="0" lang="en-US" altLang="ko-KR" sz="1800" b="1" kern="0">
                  <a:solidFill>
                    <a:srgbClr val="FFFFFF"/>
                  </a:solidFill>
                  <a:latin typeface="Arial" pitchFamily="50" charset="-127"/>
                  <a:ea typeface="Arial" pitchFamily="50" charset="-127"/>
                </a:rPr>
                <a:t>Contents</a:t>
              </a:r>
              <a:endParaRPr kumimoji="0" lang="ko-KR" altLang="en-US" sz="1800" b="1" kern="0" dirty="0">
                <a:solidFill>
                  <a:srgbClr val="FFFFFF"/>
                </a:solidFill>
                <a:latin typeface="맑은 고딕" pitchFamily="50" charset="-127"/>
                <a:ea typeface="맑은 고딕" pitchFamily="50" charset="-127"/>
              </a:endParaRPr>
            </a:p>
          </p:txBody>
        </p:sp>
        <p:sp>
          <p:nvSpPr>
            <p:cNvPr id="34" name="Rectangle 8"/>
            <p:cNvSpPr>
              <a:spLocks noChangeArrowheads="1"/>
            </p:cNvSpPr>
            <p:nvPr>
              <p:custDataLst>
                <p:tags r:id="rId2"/>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1. Define</a:t>
              </a:r>
              <a:endParaRPr kumimoji="0" lang="ko-KR" altLang="en-US" sz="1500" b="1" kern="0" dirty="0">
                <a:solidFill>
                  <a:sysClr val="windowText" lastClr="000000"/>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2. Measure</a:t>
              </a:r>
              <a:endParaRPr kumimoji="0" lang="en-US" altLang="ko-KR" sz="1500" b="1" kern="0" dirty="0">
                <a:solidFill>
                  <a:srgbClr val="FFFFFF">
                    <a:lumMod val="65000"/>
                  </a:srgbClr>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3. Analyze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4. Improve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5. Control</a:t>
              </a:r>
            </a:p>
          </p:txBody>
        </p:sp>
      </p:grpSp>
      <p:sp>
        <p:nvSpPr>
          <p:cNvPr id="10246" name="Text Box 9"/>
          <p:cNvSpPr txBox="1">
            <a:spLocks noChangeArrowheads="1"/>
          </p:cNvSpPr>
          <p:nvPr/>
        </p:nvSpPr>
        <p:spPr bwMode="auto">
          <a:xfrm>
            <a:off x="3325813" y="5117629"/>
            <a:ext cx="3197225" cy="830985"/>
          </a:xfrm>
          <a:prstGeom prst="rect">
            <a:avLst/>
          </a:prstGeom>
          <a:noFill/>
          <a:ln w="9525">
            <a:noFill/>
            <a:miter lim="800000"/>
            <a:headEnd/>
            <a:tailEnd/>
          </a:ln>
        </p:spPr>
        <p:txBody>
          <a:bodyPr lIns="91429" tIns="45714" rIns="91429" bIns="45714">
            <a:spAutoFit/>
          </a:bodyPr>
          <a:lstStyle/>
          <a:p>
            <a:pPr algn="ctr" eaLnBrk="1" latinLnBrk="0">
              <a:defRPr/>
            </a:pPr>
            <a:r>
              <a:rPr kumimoji="0" lang="en-US" altLang="ko-KR" sz="1600" b="1" kern="0" dirty="0">
                <a:solidFill>
                  <a:srgbClr val="333333"/>
                </a:solidFill>
                <a:latin typeface="Arial" panose="020B0606020202030204" pitchFamily="34" charset="0"/>
                <a:ea typeface="Arial" panose="020B0600000101010101" pitchFamily="50" charset="-127"/>
                <a:cs typeface="Arial" panose="020B0604020202020204" pitchFamily="34" charset="0"/>
              </a:rPr>
              <a:t>6 Sigma GB Assignment</a:t>
            </a:r>
          </a:p>
          <a:p>
            <a:pPr algn="ctr" eaLnBrk="1" latinLnBrk="0">
              <a:defRPr/>
            </a:pPr>
            <a:r>
              <a:rPr sz="1600" b="1" dirty="0">
                <a:latin typeface="Arial"/>
              </a:rPr>
              <a:t>IVI LD Nguyen Duc Long</a:t>
            </a:r>
          </a:p>
        </p:txBody>
      </p:sp>
    </p:spTree>
    <p:extLst>
      <p:ext uri="{BB962C8B-B14F-4D97-AF65-F5344CB8AC3E}">
        <p14:creationId xmlns:p14="http://schemas.microsoft.com/office/powerpoint/2010/main" val="278717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61212" y="76200"/>
            <a:ext cx="2935356" cy="369302"/>
          </a:xfrm>
          <a:prstGeom prst="rect">
            <a:avLst/>
          </a:prstGeom>
          <a:noFill/>
          <a:ln w="9525" algn="ctr">
            <a:noFill/>
            <a:miter lim="800000"/>
            <a:headEnd/>
            <a:tailEnd/>
          </a:ln>
        </p:spPr>
        <p:txBody>
          <a:bodyPr wrap="none" lIns="91409" tIns="45705" rIns="91409" bIns="45705" anchor="ctr">
            <a:spAutoFit/>
          </a:bodyPr>
          <a:lstStyle/>
          <a:p>
            <a:pPr algn="ctr" eaLnBrk="1" latinLnBrk="0" hangingPunct="0">
              <a:buFont typeface="Wingdings" pitchFamily="2" charset="2"/>
              <a:buNone/>
            </a:pPr>
            <a:r>
              <a:rPr kumimoji="0" lang="en-US" altLang="ko-KR" sz="1000" u="sng" dirty="0">
                <a:solidFill>
                  <a:srgbClr val="000000"/>
                </a:solidFill>
                <a:latin typeface="Arial" panose="020B0600000101010101" pitchFamily="50" charset="-127"/>
                <a:ea typeface="Arial" panose="020B0600000101010101" pitchFamily="50" charset="-127"/>
                <a:cs typeface="Arial" pitchFamily="34" charset="0"/>
              </a:rPr>
              <a:t>Six Sigma Project Register </a:t>
            </a:r>
            <a:endParaRPr kumimoji="0" lang="ko-KR" altLang="en-US" u="sng"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75" name="Group 68"/>
          <p:cNvGraphicFramePr>
            <a:graphicFrameLocks noGrp="1"/>
          </p:cNvGraphicFramePr>
          <p:nvPr>
            <p:extLst>
              <p:ext uri="{D42A27DB-BD31-4B8C-83A1-F6EECF244321}">
                <p14:modId xmlns:p14="http://schemas.microsoft.com/office/powerpoint/2010/main" val="2189576015"/>
              </p:ext>
            </p:extLst>
          </p:nvPr>
        </p:nvGraphicFramePr>
        <p:xfrm>
          <a:off x="7221832" y="106389"/>
          <a:ext cx="2557087" cy="657225"/>
        </p:xfrm>
        <a:graphic>
          <a:graphicData uri="http://schemas.openxmlformats.org/drawingml/2006/table">
            <a:tbl>
              <a:tblPr/>
              <a:tblGrid>
                <a:gridCol w="675354">
                  <a:extLst>
                    <a:ext uri="{9D8B030D-6E8A-4147-A177-3AD203B41FA5}">
                      <a16:colId xmlns:a16="http://schemas.microsoft.com/office/drawing/2014/main" val="20000"/>
                    </a:ext>
                  </a:extLst>
                </a:gridCol>
                <a:gridCol w="1881733">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Team</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50" charset="-127"/>
                          <a:ea typeface="Arial" panose="020B0600000101010101" pitchFamily="50" charset="-127"/>
                        </a:rPr>
                        <a:t>IVI LD</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Leader</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Nguyen Dinh Huong TL</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Owner</a:t>
                      </a:r>
                      <a:endParaRPr kumimoji="0"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algn="ctr" eaLnBrk="1" latinLnBrk="0"/>
                      <a:r>
                        <a:rPr sz="1000" b="0" dirty="0">
                          <a:latin typeface="Arial"/>
                        </a:rPr>
                        <a:t>Nguyen Duc Long</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2316957716"/>
              </p:ext>
            </p:extLst>
          </p:nvPr>
        </p:nvGraphicFramePr>
        <p:xfrm>
          <a:off x="120650" y="984162"/>
          <a:ext cx="9669509" cy="5797639"/>
        </p:xfrm>
        <a:graphic>
          <a:graphicData uri="http://schemas.openxmlformats.org/drawingml/2006/table">
            <a:tbl>
              <a:tblPr/>
              <a:tblGrid>
                <a:gridCol w="717550">
                  <a:extLst>
                    <a:ext uri="{9D8B030D-6E8A-4147-A177-3AD203B41FA5}">
                      <a16:colId xmlns:a16="http://schemas.microsoft.com/office/drawing/2014/main" val="20000"/>
                    </a:ext>
                  </a:extLst>
                </a:gridCol>
                <a:gridCol w="195456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44016">
                  <a:extLst>
                    <a:ext uri="{9D8B030D-6E8A-4147-A177-3AD203B41FA5}">
                      <a16:colId xmlns:a16="http://schemas.microsoft.com/office/drawing/2014/main" val="20004"/>
                    </a:ext>
                  </a:extLst>
                </a:gridCol>
                <a:gridCol w="649455">
                  <a:extLst>
                    <a:ext uri="{9D8B030D-6E8A-4147-A177-3AD203B41FA5}">
                      <a16:colId xmlns:a16="http://schemas.microsoft.com/office/drawing/2014/main" val="20005"/>
                    </a:ext>
                  </a:extLst>
                </a:gridCol>
                <a:gridCol w="115401">
                  <a:extLst>
                    <a:ext uri="{9D8B030D-6E8A-4147-A177-3AD203B41FA5}">
                      <a16:colId xmlns:a16="http://schemas.microsoft.com/office/drawing/2014/main" val="20006"/>
                    </a:ext>
                  </a:extLst>
                </a:gridCol>
                <a:gridCol w="543911">
                  <a:extLst>
                    <a:ext uri="{9D8B030D-6E8A-4147-A177-3AD203B41FA5}">
                      <a16:colId xmlns:a16="http://schemas.microsoft.com/office/drawing/2014/main" val="377791108"/>
                    </a:ext>
                  </a:extLst>
                </a:gridCol>
                <a:gridCol w="720080">
                  <a:extLst>
                    <a:ext uri="{9D8B030D-6E8A-4147-A177-3AD203B41FA5}">
                      <a16:colId xmlns:a16="http://schemas.microsoft.com/office/drawing/2014/main" val="20007"/>
                    </a:ext>
                  </a:extLst>
                </a:gridCol>
                <a:gridCol w="1006729">
                  <a:extLst>
                    <a:ext uri="{9D8B030D-6E8A-4147-A177-3AD203B41FA5}">
                      <a16:colId xmlns:a16="http://schemas.microsoft.com/office/drawing/2014/main" val="20008"/>
                    </a:ext>
                  </a:extLst>
                </a:gridCol>
                <a:gridCol w="1945599">
                  <a:extLst>
                    <a:ext uri="{9D8B030D-6E8A-4147-A177-3AD203B41FA5}">
                      <a16:colId xmlns:a16="http://schemas.microsoft.com/office/drawing/2014/main" val="20009"/>
                    </a:ext>
                  </a:extLst>
                </a:gridCol>
              </a:tblGrid>
              <a:tr h="536833">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Theme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Reduce defect rate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of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Model Porsche CID J1 Dual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Luminance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Period</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2026.Mar.0</a:t>
                      </a:r>
                      <a:r>
                        <a:rPr kumimoji="1" lang="en-US" altLang="ko-KR" sz="1000" i="0" u="none" strike="noStrike" kern="0" cap="none" spc="0" normalizeH="0" baseline="0" noProof="0" dirty="0">
                          <a:ln>
                            <a:noFill/>
                          </a:ln>
                          <a:solidFill>
                            <a:schemeClr val="tx1"/>
                          </a:solidFill>
                          <a:effectLst/>
                          <a:uLnTx/>
                          <a:uFillTx/>
                          <a:latin typeface="+mn-lt"/>
                          <a:ea typeface="LG Smart_H Regular" pitchFamily="34" charset="-127"/>
                          <a:cs typeface="+mn-cs"/>
                        </a:rPr>
                        <a:t>9</a:t>
                      </a: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 xml:space="preserve"> ~ 2026.Sep.20</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rPr>
                        <a:t>Inspection Engineering Project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4836">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Six Sigma Project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Goal (Stretch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Idea of breaking the limit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extLst>
                  <a:ext uri="{0D108BD9-81ED-4DB2-BD59-A6C34878D82A}">
                    <a16:rowId xmlns:a16="http://schemas.microsoft.com/office/drawing/2014/main" val="10001"/>
                  </a:ext>
                </a:extLst>
              </a:tr>
              <a:tr h="405055">
                <a:tc gridSpan="2" vMerge="1">
                  <a:txBody>
                    <a:bodyPr/>
                    <a:lstStyle/>
                    <a:p>
                      <a:pPr eaLnBrk="1" latinLnBrk="0"/>
                      <a:endParaRPr lang="ko-KR" alt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index</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Current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Best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Goal</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2"/>
                  </a:ext>
                </a:extLst>
              </a:tr>
              <a:tr h="422810">
                <a:tc rowSpan="2" gridSpan="2">
                  <a:txBody>
                    <a:bodyPr/>
                    <a:lstStyle/>
                    <a:p>
                      <a:pPr algn="ctr" eaLnBrk="1" latinLnBrk="0"/>
                      <a:r>
                        <a:rPr lang="en-US" alt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Improve Luminance value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KPI</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Defect rate</a:t>
                      </a:r>
                    </a:p>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(ppm) </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dirty="0">
                          <a:solidFill>
                            <a:schemeClr val="tx1"/>
                          </a:solidFill>
                          <a:latin typeface="Arial" panose="020B0600000101010101" pitchFamily="34" charset="-127"/>
                          <a:ea typeface="Arial" panose="020B0600000101010101" pitchFamily="34" charset="-127"/>
                          <a:cs typeface="Arial" panose="020B0604020202020204" pitchFamily="34" charset="0"/>
                        </a:rPr>
                        <a:t>226,624</a:t>
                      </a: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ppm</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0 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Teaching robot and change camera angle for detecting the central of PID</a:t>
                      </a:r>
                    </a:p>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Make check sheet to control camera equipment</a:t>
                      </a:r>
                    </a:p>
                    <a:p>
                      <a:pPr marL="171450" marR="0" lvl="0" indent="-171450" algn="l" defTabSz="914400" rtl="0" eaLnBrk="1" fontAlgn="base" latinLnBrk="0" hangingPunct="0">
                        <a:lnSpc>
                          <a:spcPct val="100000"/>
                        </a:lnSpc>
                        <a:spcBef>
                          <a:spcPct val="0"/>
                        </a:spcBef>
                        <a:spcAft>
                          <a:spcPct val="0"/>
                        </a:spcAft>
                        <a:buClrTx/>
                        <a:buSzTx/>
                        <a:buFontTx/>
                        <a:buChar char="-"/>
                        <a:tabLst/>
                        <a:defRPr/>
                      </a:pPr>
                      <a:endParaRPr kumimoji="1" lang="en-US" altLang="ko-KR" sz="1000" i="0" u="none" strike="noStrike" kern="0" cap="none" spc="0" normalizeH="0" baseline="0" noProof="0" dirty="0">
                        <a:ln>
                          <a:noFill/>
                        </a:ln>
                        <a:solidFill>
                          <a:schemeClr val="tx1"/>
                        </a:solidFill>
                        <a:effectLst/>
                        <a:uLnTx/>
                        <a:uFillTx/>
                        <a:latin typeface="LG Smart_H Regular" panose="020B0600000101010101" pitchFamily="34" charset="-127"/>
                        <a:ea typeface="LG Smart_H Regular" panose="020B0600000101010101" pitchFamily="34" charset="-127"/>
                        <a:cs typeface="+mn-cs"/>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extLst>
                  <a:ext uri="{0D108BD9-81ED-4DB2-BD59-A6C34878D82A}">
                    <a16:rowId xmlns:a16="http://schemas.microsoft.com/office/drawing/2014/main" val="10003"/>
                  </a:ext>
                </a:extLst>
              </a:tr>
              <a:tr h="444862">
                <a:tc gridSpan="2" vMerge="1">
                  <a:txBody>
                    <a:bodyPr/>
                    <a:lstStyle/>
                    <a:p>
                      <a:pPr eaLnBrk="1" latinLnBrk="0"/>
                      <a:endParaRPr lang="ko-KR" altLang="en-US"/>
                    </a:p>
                  </a:txBody>
                  <a:tcPr/>
                </a:tc>
                <a:tc hMerge="1" v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ProjectY</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Luminance </a:t>
                      </a:r>
                    </a:p>
                    <a:p>
                      <a:pPr algn="ctr" eaLnBrk="1" latinLnBrk="0"/>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(800-2000Cd/m</a:t>
                      </a:r>
                      <a:r>
                        <a:rPr kumimoji="0" lang="en-US" altLang="ko-KR" sz="1000" b="0" i="1"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a:t>
                      </a:r>
                      <a:endParaRPr kumimoji="0" lang="ko-KR" altLang="en-US" sz="1000" b="0" i="1"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Ppk = 0.45</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1.34</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1.33</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4.5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4"/>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Management</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Issue (Biz. Issue)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Implement Plan</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5"/>
                  </a:ext>
                </a:extLst>
              </a:tr>
              <a:tr h="1619045">
                <a:tc rowSpan="3" gridSpan="2">
                  <a:txBody>
                    <a:bodyPr/>
                    <a:lstStyle/>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The Luminance issue affects the line UPH and causes loss time.</a:t>
                      </a:r>
                    </a:p>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NG LCDs after retest are returned to the supplier (HEESUNG) for scrap, leading to IF cost, so an action is needed to eliminate this issue and improve factory performance.</a:t>
                      </a:r>
                    </a:p>
                    <a:p>
                      <a:pPr marL="114300" indent="0" algn="l" eaLnBrk="1" fontAlgn="b" latinLnBrk="0">
                        <a:lnSpc>
                          <a:spcPct val="150000"/>
                        </a:lnSpc>
                        <a:buNone/>
                      </a:pPr>
                      <a:endParaRPr kumimoji="0" lang="en-US" altLang="ko-KR" sz="1000" b="0" i="0" u="none" strike="noStrike" cap="none" normalizeH="0" baseline="0" dirty="0">
                        <a:ln>
                          <a:noFill/>
                        </a:ln>
                        <a:solidFill>
                          <a:schemeClr val="tx1"/>
                        </a:solidFill>
                        <a:effectLst/>
                        <a:latin typeface="LG Smart_H Regular" pitchFamily="34" charset="-127"/>
                        <a:ea typeface="LG Smart_H Regular" pitchFamily="34" charset="-127"/>
                        <a:cs typeface="Arial" pitchFamily="34" charset="0"/>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en-US"/>
                    </a:p>
                  </a:txBody>
                  <a:tcPr/>
                </a:tc>
                <a:tc rowSpan="3" hMerge="1">
                  <a:txBody>
                    <a:bodyPr/>
                    <a:lstStyle/>
                    <a:p>
                      <a:pPr eaLnBrk="1" latinLnBrk="0"/>
                      <a:endParaRPr lang="ko-KR" altLang="en-US"/>
                    </a:p>
                  </a:txBody>
                  <a:tcPr/>
                </a:tc>
                <a:tc gridSpan="2">
                  <a:txBody>
                    <a:body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6"/>
                  </a:ext>
                </a:extLst>
              </a:tr>
              <a:tr h="3118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7"/>
                  </a:ext>
                </a:extLst>
              </a:tr>
              <a:tr h="2881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 Smart_H Regular" pitchFamily="34" charset="-127"/>
                          <a:cs typeface="Arial" panose="020B0604020202020204" pitchFamily="34" charset="0"/>
                        </a:rPr>
                        <a:t>LG Electronics Viet Nam-Hai Phong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8"/>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Qualitative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Quantitative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9"/>
                  </a:ext>
                </a:extLst>
              </a:tr>
              <a:tr h="820614">
                <a:tc gridSpan="2">
                  <a:txBody>
                    <a:bodyPr/>
                    <a:lstStyle/>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Improving smoothly testing process for sets</a:t>
                      </a:r>
                    </a:p>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gridSpan="7">
                  <a:txBody>
                    <a:bodyPr/>
                    <a:lstStyle/>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 LCD part =118.72$</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The scrap cost of Luminance issue on March:</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19*118.72 = 2255.68$</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sym typeface="Wingdings" panose="05000000000000000000" pitchFamily="2" charset="2"/>
                        </a:rPr>
                        <a:t> Result: 0 NG / 420 sets after improvement</a:t>
                      </a:r>
                      <a:endParaRPr lang="en-US" altLang="ko-KR" sz="1000" b="0" dirty="0">
                        <a:solidFill>
                          <a:srgbClr val="000000"/>
                        </a:solidFill>
                        <a:latin typeface="LG스마트체 Regular" panose="020B0600000101010101" pitchFamily="50" charset="-127"/>
                        <a:ea typeface="LG스마트체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rgbClr val="000000"/>
                          </a:solidFill>
                          <a:effectLst/>
                          <a:latin typeface="Arial" panose="020B0600000101010101" pitchFamily="50" charset="-127"/>
                          <a:ea typeface="Arial" panose="020B0600000101010101" pitchFamily="50" charset="-127"/>
                          <a:cs typeface="Arial" charset="0"/>
                        </a:rPr>
                        <a:t>Because improvement action related to equipment, So need support from PE team</a:t>
                      </a:r>
                    </a:p>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10"/>
                  </a:ext>
                </a:extLst>
              </a:tr>
            </a:tbl>
          </a:graphicData>
        </a:graphic>
      </p:graphicFrame>
      <p:sp>
        <p:nvSpPr>
          <p:cNvPr id="19552" name="직사각형 39"/>
          <p:cNvSpPr>
            <a:spLocks noChangeArrowheads="1"/>
          </p:cNvSpPr>
          <p:nvPr/>
        </p:nvSpPr>
        <p:spPr bwMode="auto">
          <a:xfrm>
            <a:off x="2714516" y="3335179"/>
            <a:ext cx="843501" cy="246221"/>
          </a:xfrm>
          <a:prstGeom prst="rect">
            <a:avLst/>
          </a:prstGeom>
          <a:noFill/>
          <a:ln w="9525">
            <a:noFill/>
            <a:miter lim="800000"/>
            <a:headEnd/>
            <a:tailEnd/>
          </a:ln>
        </p:spPr>
        <p:txBody>
          <a:bodyPr wrap="none">
            <a:spAutoFit/>
          </a:bodyPr>
          <a:lstStyle/>
          <a:p>
            <a:pPr eaLnBrk="1" latinLnBrk="0" hangingPunct="0"/>
            <a:r>
              <a:rPr kumimoji="0" lang="ko-KR" altLang="en-US" sz="1000" dirty="0">
                <a:solidFill>
                  <a:srgbClr val="000000"/>
                </a:solidFill>
                <a:latin typeface="Arial" panose="020B0600000101010101" pitchFamily="50" charset="-127"/>
                <a:ea typeface="Arial" panose="020B0600000101010101" pitchFamily="50" charset="-127"/>
                <a:cs typeface="Arial" pitchFamily="34" charset="0"/>
                <a:sym typeface="Wingdings" pitchFamily="2" charset="2"/>
              </a:rPr>
              <a:t> </a:t>
            </a: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Schedule</a:t>
            </a:r>
            <a:endParaRPr kumimoji="0" lang="ko-KR" altLang="en-US" sz="1000"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sp>
        <p:nvSpPr>
          <p:cNvPr id="19553" name="직사각형 40"/>
          <p:cNvSpPr>
            <a:spLocks noChangeArrowheads="1"/>
          </p:cNvSpPr>
          <p:nvPr/>
        </p:nvSpPr>
        <p:spPr bwMode="auto">
          <a:xfrm>
            <a:off x="2732062" y="3886200"/>
            <a:ext cx="4078288" cy="1804661"/>
          </a:xfrm>
          <a:prstGeom prst="rect">
            <a:avLst/>
          </a:prstGeom>
          <a:noFill/>
          <a:ln w="9525">
            <a:noFill/>
            <a:miter lim="800000"/>
            <a:headEnd/>
            <a:tailEnd/>
          </a:ln>
        </p:spPr>
        <p:txBody>
          <a:bodyPr>
            <a:spAutoFit/>
          </a:bodyPr>
          <a:lstStyle/>
          <a:p>
            <a:pPr eaLnBrk="1" latinLnBrk="0" hangingPunct="0">
              <a:lnSpc>
                <a:spcPts val="1500"/>
              </a:lnSpc>
              <a:buFont typeface="Wingdings" pitchFamily="2" charset="2"/>
              <a:buChar char="q"/>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Key activity / Output</a:t>
            </a:r>
          </a:p>
          <a:p>
            <a:pPr eaLnBrk="1" latinLnBrk="0" hangingPunct="0">
              <a:lnSpc>
                <a:spcPts val="1500"/>
              </a:lnSpc>
              <a:buFont typeface="Arial" panose="020B0604020202020204" pitchFamily="34" charset="0"/>
              <a:buChar cha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D : </a:t>
            </a:r>
            <a:r>
              <a:rPr lang="en-US" sz="1000" dirty="0">
                <a:latin typeface="Arial" panose="020B0600000101010101" pitchFamily="34" charset="-127"/>
                <a:ea typeface="Arial" panose="020B0600000101010101" pitchFamily="34" charset="-127"/>
                <a:cs typeface="Arial" panose="020B0604020202020204" pitchFamily="34" charset="0"/>
              </a:rPr>
              <a:t>Define issue, </a:t>
            </a:r>
            <a:r>
              <a:rPr lang="en-US"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d</a:t>
            </a:r>
            <a:r>
              <a:rPr lang="en-US" altLang="ko-KR"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efine defect rate, collect defective sample and issue information</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M : </a:t>
            </a:r>
            <a:r>
              <a:rPr lang="en-US" sz="1000" dirty="0">
                <a:latin typeface="Arial" panose="020B0600000101010101" pitchFamily="34" charset="-127"/>
                <a:ea typeface="Arial" panose="020B0600000101010101" pitchFamily="34" charset="-127"/>
              </a:rPr>
              <a:t>Gage R&amp;R (Type 1, Type 3) to evaluate equipment</a:t>
            </a:r>
            <a:endParaRPr 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A : </a:t>
            </a:r>
            <a:r>
              <a:rPr lang="en-US" sz="1000" dirty="0">
                <a:latin typeface="Arial" panose="020B0600000101010101" pitchFamily="34" charset="-127"/>
                <a:ea typeface="Arial" panose="020B0600000101010101" pitchFamily="34" charset="-127"/>
              </a:rPr>
              <a:t xml:space="preserve">Use logic tree and 5 Why to find root cause.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Test samples with different CANSIM, camera and camera angle</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I : </a:t>
            </a:r>
            <a:r>
              <a:rPr lang="en-US" sz="1000" dirty="0">
                <a:latin typeface="Arial" panose="020B0600000101010101" pitchFamily="34" charset="-127"/>
                <a:ea typeface="Arial" panose="020B0600000101010101" pitchFamily="34" charset="-127"/>
              </a:rPr>
              <a:t xml:space="preserve">Meeting with HQ IE to discuss improvement action. </a:t>
            </a:r>
            <a:r>
              <a:rPr lang="en-US" altLang="ko-KR" sz="1000" kern="0" dirty="0">
                <a:solidFill>
                  <a:srgbClr val="000000"/>
                </a:solidFill>
                <a:latin typeface="Arial" panose="020B0600000101010101" pitchFamily="34" charset="-127"/>
                <a:ea typeface="Arial" panose="020B0600000101010101" pitchFamily="34" charset="-127"/>
                <a:cs typeface="Arial" pitchFamily="34" charset="0"/>
              </a:rPr>
              <a:t>Correct camera angle to 90° and verify the result</a:t>
            </a:r>
            <a:endParaRPr kumimoji="0" lang="ko-KR" alt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C :</a:t>
            </a: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Control by daily Master sample check; defect rate via GMES</a:t>
            </a:r>
          </a:p>
        </p:txBody>
      </p:sp>
      <p:sp>
        <p:nvSpPr>
          <p:cNvPr id="19554" name="AutoShape 110"/>
          <p:cNvSpPr>
            <a:spLocks noChangeArrowheads="1"/>
          </p:cNvSpPr>
          <p:nvPr/>
        </p:nvSpPr>
        <p:spPr bwMode="auto">
          <a:xfrm>
            <a:off x="2999259" y="3644131"/>
            <a:ext cx="576262"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D</a:t>
            </a:r>
          </a:p>
        </p:txBody>
      </p:sp>
      <p:sp>
        <p:nvSpPr>
          <p:cNvPr id="19555" name="AutoShape 111"/>
          <p:cNvSpPr>
            <a:spLocks noChangeArrowheads="1"/>
          </p:cNvSpPr>
          <p:nvPr/>
        </p:nvSpPr>
        <p:spPr bwMode="auto">
          <a:xfrm>
            <a:off x="3575521"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M</a:t>
            </a:r>
          </a:p>
        </p:txBody>
      </p:sp>
      <p:sp>
        <p:nvSpPr>
          <p:cNvPr id="19556" name="AutoShape 112"/>
          <p:cNvSpPr>
            <a:spLocks noChangeArrowheads="1"/>
          </p:cNvSpPr>
          <p:nvPr/>
        </p:nvSpPr>
        <p:spPr bwMode="auto">
          <a:xfrm>
            <a:off x="415178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A</a:t>
            </a:r>
          </a:p>
        </p:txBody>
      </p:sp>
      <p:sp>
        <p:nvSpPr>
          <p:cNvPr id="19557" name="AutoShape 117"/>
          <p:cNvSpPr>
            <a:spLocks noChangeArrowheads="1"/>
          </p:cNvSpPr>
          <p:nvPr/>
        </p:nvSpPr>
        <p:spPr bwMode="auto">
          <a:xfrm>
            <a:off x="472963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I</a:t>
            </a:r>
          </a:p>
        </p:txBody>
      </p:sp>
      <p:sp>
        <p:nvSpPr>
          <p:cNvPr id="19558" name="AutoShape 118"/>
          <p:cNvSpPr>
            <a:spLocks noChangeArrowheads="1"/>
          </p:cNvSpPr>
          <p:nvPr/>
        </p:nvSpPr>
        <p:spPr bwMode="auto">
          <a:xfrm>
            <a:off x="5305896" y="3644131"/>
            <a:ext cx="576263"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C</a:t>
            </a:r>
          </a:p>
        </p:txBody>
      </p:sp>
      <p:sp>
        <p:nvSpPr>
          <p:cNvPr id="19559" name="Text Box 115"/>
          <p:cNvSpPr txBox="1">
            <a:spLocks noChangeArrowheads="1"/>
          </p:cNvSpPr>
          <p:nvPr/>
        </p:nvSpPr>
        <p:spPr bwMode="auto">
          <a:xfrm>
            <a:off x="33469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3/9</a:t>
            </a:r>
          </a:p>
        </p:txBody>
      </p:sp>
      <p:sp>
        <p:nvSpPr>
          <p:cNvPr id="19560" name="Text Box 115"/>
          <p:cNvSpPr txBox="1">
            <a:spLocks noChangeArrowheads="1"/>
          </p:cNvSpPr>
          <p:nvPr/>
        </p:nvSpPr>
        <p:spPr bwMode="auto">
          <a:xfrm>
            <a:off x="38685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4/1</a:t>
            </a:r>
          </a:p>
        </p:txBody>
      </p:sp>
      <p:sp>
        <p:nvSpPr>
          <p:cNvPr id="19561" name="Text Box 113"/>
          <p:cNvSpPr txBox="1">
            <a:spLocks noChangeArrowheads="1"/>
          </p:cNvSpPr>
          <p:nvPr/>
        </p:nvSpPr>
        <p:spPr bwMode="auto">
          <a:xfrm>
            <a:off x="4495800" y="3417119"/>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a:t>
            </a:r>
          </a:p>
        </p:txBody>
      </p:sp>
      <p:sp>
        <p:nvSpPr>
          <p:cNvPr id="19562" name="Text Box 114"/>
          <p:cNvSpPr txBox="1">
            <a:spLocks noChangeArrowheads="1"/>
          </p:cNvSpPr>
          <p:nvPr/>
        </p:nvSpPr>
        <p:spPr bwMode="auto">
          <a:xfrm>
            <a:off x="5074121"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5/19</a:t>
            </a:r>
          </a:p>
        </p:txBody>
      </p:sp>
      <p:sp>
        <p:nvSpPr>
          <p:cNvPr id="19563" name="Text Box 115"/>
          <p:cNvSpPr txBox="1">
            <a:spLocks noChangeArrowheads="1"/>
          </p:cNvSpPr>
          <p:nvPr/>
        </p:nvSpPr>
        <p:spPr bwMode="auto">
          <a:xfrm>
            <a:off x="5638800"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6/15</a:t>
            </a:r>
          </a:p>
        </p:txBody>
      </p:sp>
      <p:sp>
        <p:nvSpPr>
          <p:cNvPr id="24" name="직사각형 20"/>
          <p:cNvSpPr>
            <a:spLocks noChangeArrowheads="1"/>
          </p:cNvSpPr>
          <p:nvPr/>
        </p:nvSpPr>
        <p:spPr bwMode="auto">
          <a:xfrm>
            <a:off x="5600530" y="325775"/>
            <a:ext cx="2131846" cy="553998"/>
          </a:xfrm>
          <a:prstGeom prst="rect">
            <a:avLst/>
          </a:prstGeom>
          <a:noFill/>
          <a:ln w="9525">
            <a:noFill/>
            <a:miter lim="800000"/>
            <a:headEnd/>
            <a:tailEnd/>
          </a:ln>
        </p:spPr>
        <p:txBody>
          <a:bodyPr wrap="square">
            <a:spAutoFit/>
          </a:bodyPr>
          <a:lstStyle/>
          <a:p>
            <a:pPr algn="just" defTabSz="912813" eaLnBrk="1" latinLnBrk="0" hangingPunct="0"/>
            <a:r>
              <a:rPr lang="en-US" altLang="ko-KR" sz="1000">
                <a:solidFill>
                  <a:srgbClr val="000000"/>
                </a:solidFill>
                <a:latin typeface="Arial" panose="020B0600000101010101" pitchFamily="50" charset="-127"/>
                <a:ea typeface="Arial" panose="020B0600000101010101" pitchFamily="50" charset="-127"/>
                <a:cs typeface="Arial" charset="0"/>
              </a:rPr>
              <a:t>Task category</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a:p>
            <a:pPr algn="just" defTabSz="912813" eaLnBrk="1" latinLnBrk="0" hangingPunct="0"/>
            <a:r>
              <a:rPr lang="ko-KR" altLang="en-US" sz="1000" dirty="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HW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dirty="0">
                <a:solidFill>
                  <a:srgbClr val="000000"/>
                </a:solidFill>
                <a:latin typeface="Arial" panose="020B0600000101010101" pitchFamily="50" charset="-127"/>
                <a:ea typeface="Arial" panose="020B0600000101010101" pitchFamily="50" charset="-127"/>
                <a:cs typeface="Arial" charset="0"/>
              </a:rPr>
              <a:t>SW</a:t>
            </a:r>
          </a:p>
          <a:p>
            <a:pPr algn="just" defTabSz="912813" eaLnBrk="1" latinLnBrk="0" hangingPunct="0"/>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Mecha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Current job</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p:txBody>
      </p:sp>
      <p:graphicFrame>
        <p:nvGraphicFramePr>
          <p:cNvPr id="21" name="Group 133">
            <a:extLst>
              <a:ext uri="{FF2B5EF4-FFF2-40B4-BE49-F238E27FC236}">
                <a16:creationId xmlns:a16="http://schemas.microsoft.com/office/drawing/2014/main" id="{871447DD-1D73-49D5-866D-9AC4D91C41AE}"/>
              </a:ext>
            </a:extLst>
          </p:cNvPr>
          <p:cNvGraphicFramePr>
            <a:graphicFrameLocks noGrp="1"/>
          </p:cNvGraphicFramePr>
          <p:nvPr>
            <p:extLst>
              <p:ext uri="{D42A27DB-BD31-4B8C-83A1-F6EECF244321}">
                <p14:modId xmlns:p14="http://schemas.microsoft.com/office/powerpoint/2010/main" val="3793983478"/>
              </p:ext>
            </p:extLst>
          </p:nvPr>
        </p:nvGraphicFramePr>
        <p:xfrm>
          <a:off x="6847563" y="3429000"/>
          <a:ext cx="2931523" cy="1526608"/>
        </p:xfrm>
        <a:graphic>
          <a:graphicData uri="http://schemas.openxmlformats.org/drawingml/2006/table">
            <a:tbl>
              <a:tblPr/>
              <a:tblGrid>
                <a:gridCol w="541685">
                  <a:extLst>
                    <a:ext uri="{9D8B030D-6E8A-4147-A177-3AD203B41FA5}">
                      <a16:colId xmlns:a16="http://schemas.microsoft.com/office/drawing/2014/main" val="20000"/>
                    </a:ext>
                  </a:extLst>
                </a:gridCol>
                <a:gridCol w="1511977">
                  <a:extLst>
                    <a:ext uri="{9D8B030D-6E8A-4147-A177-3AD203B41FA5}">
                      <a16:colId xmlns:a16="http://schemas.microsoft.com/office/drawing/2014/main" val="20001"/>
                    </a:ext>
                  </a:extLst>
                </a:gridCol>
                <a:gridCol w="877861">
                  <a:extLst>
                    <a:ext uri="{9D8B030D-6E8A-4147-A177-3AD203B41FA5}">
                      <a16:colId xmlns:a16="http://schemas.microsoft.com/office/drawing/2014/main" val="20002"/>
                    </a:ext>
                  </a:extLst>
                </a:gridCol>
              </a:tblGrid>
              <a:tr h="296971">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Name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Role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7916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LD</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sz="1000" b="0" dirty="0">
                          <a:latin typeface="Arial"/>
                        </a:rPr>
                        <a:t>Nguyen Duc Long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Task leader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159">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Hoang Nhan Quoc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PE</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Pham Van Hung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4292548"/>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PM</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 Van Cong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803826"/>
                  </a:ext>
                </a:extLst>
              </a:tr>
            </a:tbl>
          </a:graphicData>
        </a:graphic>
      </p:graphicFrame>
    </p:spTree>
    <p:extLst>
      <p:ext uri="{BB962C8B-B14F-4D97-AF65-F5344CB8AC3E}">
        <p14:creationId xmlns:p14="http://schemas.microsoft.com/office/powerpoint/2010/main" val="3593654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1.1 Y-y breakdown</a:t>
            </a:r>
            <a:endParaRPr lang="ko-KR" altLang="en-US" sz="1800" b="1" kern="0" dirty="0">
              <a:latin typeface="Arial Narrow" panose="020B0606020202030204" pitchFamily="34" charset="0"/>
              <a:ea typeface="LG스마트체 Regular" panose="020B0600000101010101" pitchFamily="50" charset="-127"/>
              <a:cs typeface="+mj-cs"/>
            </a:endParaRPr>
          </a:p>
        </p:txBody>
      </p:sp>
      <p:graphicFrame>
        <p:nvGraphicFramePr>
          <p:cNvPr id="75" name="표 44">
            <a:extLst>
              <a:ext uri="{FF2B5EF4-FFF2-40B4-BE49-F238E27FC236}">
                <a16:creationId xmlns:a16="http://schemas.microsoft.com/office/drawing/2014/main" id="{62E95B8F-07A4-4620-864C-2FBBFA255844}"/>
              </a:ext>
            </a:extLst>
          </p:cNvPr>
          <p:cNvGraphicFramePr>
            <a:graphicFrameLocks noGrp="1"/>
          </p:cNvGraphicFramePr>
          <p:nvPr>
            <p:extLst>
              <p:ext uri="{D42A27DB-BD31-4B8C-83A1-F6EECF244321}">
                <p14:modId xmlns:p14="http://schemas.microsoft.com/office/powerpoint/2010/main" val="2929659898"/>
              </p:ext>
            </p:extLst>
          </p:nvPr>
        </p:nvGraphicFramePr>
        <p:xfrm>
          <a:off x="260401" y="703388"/>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7" name="표 45">
            <a:extLst>
              <a:ext uri="{FF2B5EF4-FFF2-40B4-BE49-F238E27FC236}">
                <a16:creationId xmlns:a16="http://schemas.microsoft.com/office/drawing/2014/main" id="{499556D8-5147-4323-B83A-8E52DFD161DA}"/>
              </a:ext>
            </a:extLst>
          </p:cNvPr>
          <p:cNvGraphicFramePr>
            <a:graphicFrameLocks noGrp="1"/>
          </p:cNvGraphicFramePr>
          <p:nvPr>
            <p:extLst>
              <p:ext uri="{D42A27DB-BD31-4B8C-83A1-F6EECF244321}">
                <p14:modId xmlns:p14="http://schemas.microsoft.com/office/powerpoint/2010/main" val="2626578847"/>
              </p:ext>
            </p:extLst>
          </p:nvPr>
        </p:nvGraphicFramePr>
        <p:xfrm>
          <a:off x="3633320" y="715698"/>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a:cxnSpLocks/>
            <a:stCxn id="68" idx="3"/>
            <a:endCxn id="104" idx="1"/>
          </p:cNvCxnSpPr>
          <p:nvPr/>
        </p:nvCxnSpPr>
        <p:spPr>
          <a:xfrm>
            <a:off x="2867767" y="1437809"/>
            <a:ext cx="771729" cy="16254"/>
          </a:xfrm>
          <a:prstGeom prst="straightConnector1">
            <a:avLst/>
          </a:prstGeom>
          <a:noFill/>
          <a:ln w="9525" cap="flat" cmpd="sng" algn="ctr">
            <a:solidFill>
              <a:srgbClr val="C00000"/>
            </a:solidFill>
            <a:prstDash val="solid"/>
            <a:round/>
            <a:headEnd type="none" w="med" len="med"/>
            <a:tailEnd type="triangle"/>
          </a:ln>
          <a:effectLst/>
        </p:spPr>
      </p:cxnSp>
      <p:sp>
        <p:nvSpPr>
          <p:cNvPr id="129" name="직사각형 124">
            <a:extLst>
              <a:ext uri="{FF2B5EF4-FFF2-40B4-BE49-F238E27FC236}">
                <a16:creationId xmlns:a16="http://schemas.microsoft.com/office/drawing/2014/main" id="{34502E28-C1BD-478D-B067-6D24CDCCF17A}"/>
              </a:ext>
            </a:extLst>
          </p:cNvPr>
          <p:cNvSpPr/>
          <p:nvPr/>
        </p:nvSpPr>
        <p:spPr>
          <a:xfrm>
            <a:off x="5442125" y="1260273"/>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Luminance value</a:t>
            </a:r>
          </a:p>
        </p:txBody>
      </p:sp>
      <p:sp>
        <p:nvSpPr>
          <p:cNvPr id="130" name="직사각형 124">
            <a:extLst>
              <a:ext uri="{FF2B5EF4-FFF2-40B4-BE49-F238E27FC236}">
                <a16:creationId xmlns:a16="http://schemas.microsoft.com/office/drawing/2014/main" id="{13446F57-EBDE-4ECD-B078-B6D3C3C38C44}"/>
              </a:ext>
            </a:extLst>
          </p:cNvPr>
          <p:cNvSpPr/>
          <p:nvPr/>
        </p:nvSpPr>
        <p:spPr>
          <a:xfrm>
            <a:off x="5466839" y="2084721"/>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Calculate contrast value</a:t>
            </a:r>
          </a:p>
        </p:txBody>
      </p:sp>
      <p:cxnSp>
        <p:nvCxnSpPr>
          <p:cNvPr id="220" name="Straight Arrow Connector 219">
            <a:extLst>
              <a:ext uri="{FF2B5EF4-FFF2-40B4-BE49-F238E27FC236}">
                <a16:creationId xmlns:a16="http://schemas.microsoft.com/office/drawing/2014/main" id="{6349E0A9-07EC-47F5-B8C4-ED8B16151483}"/>
              </a:ext>
            </a:extLst>
          </p:cNvPr>
          <p:cNvCxnSpPr>
            <a:cxnSpLocks/>
            <a:stCxn id="104" idx="3"/>
            <a:endCxn id="129" idx="1"/>
          </p:cNvCxnSpPr>
          <p:nvPr/>
        </p:nvCxnSpPr>
        <p:spPr>
          <a:xfrm>
            <a:off x="4822973" y="1454063"/>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104" name="직사각형 124">
            <a:extLst>
              <a:ext uri="{FF2B5EF4-FFF2-40B4-BE49-F238E27FC236}">
                <a16:creationId xmlns:a16="http://schemas.microsoft.com/office/drawing/2014/main" id="{9B9F9D1B-2EF7-453F-A467-28A0282E9129}"/>
              </a:ext>
            </a:extLst>
          </p:cNvPr>
          <p:cNvSpPr/>
          <p:nvPr/>
        </p:nvSpPr>
        <p:spPr>
          <a:xfrm>
            <a:off x="3639496" y="1232831"/>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 xml:space="preserve">Luminance Function</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51" name="표 45">
            <a:extLst>
              <a:ext uri="{FF2B5EF4-FFF2-40B4-BE49-F238E27FC236}">
                <a16:creationId xmlns:a16="http://schemas.microsoft.com/office/drawing/2014/main" id="{E5BD5886-F8BF-4C7D-977D-717364C24859}"/>
              </a:ext>
            </a:extLst>
          </p:cNvPr>
          <p:cNvGraphicFramePr>
            <a:graphicFrameLocks noGrp="1"/>
          </p:cNvGraphicFramePr>
          <p:nvPr>
            <p:extLst>
              <p:ext uri="{D42A27DB-BD31-4B8C-83A1-F6EECF244321}">
                <p14:modId xmlns:p14="http://schemas.microsoft.com/office/powerpoint/2010/main" val="3356529664"/>
              </p:ext>
            </p:extLst>
          </p:nvPr>
        </p:nvGraphicFramePr>
        <p:xfrm>
          <a:off x="1634164" y="715698"/>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68" name="직사각형 124">
            <a:extLst>
              <a:ext uri="{FF2B5EF4-FFF2-40B4-BE49-F238E27FC236}">
                <a16:creationId xmlns:a16="http://schemas.microsoft.com/office/drawing/2014/main" id="{839B0C23-7FDA-49E6-9061-B2E15E0B38F3}"/>
              </a:ext>
            </a:extLst>
          </p:cNvPr>
          <p:cNvSpPr/>
          <p:nvPr/>
        </p:nvSpPr>
        <p:spPr>
          <a:xfrm>
            <a:off x="1651508" y="1228923"/>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Machine defect</a:t>
            </a:r>
          </a:p>
        </p:txBody>
      </p:sp>
      <p:sp>
        <p:nvSpPr>
          <p:cNvPr id="52" name="직사각형 124">
            <a:extLst>
              <a:ext uri="{FF2B5EF4-FFF2-40B4-BE49-F238E27FC236}">
                <a16:creationId xmlns:a16="http://schemas.microsoft.com/office/drawing/2014/main" id="{4415074A-29BC-4A5B-9687-F14C61349A2C}"/>
              </a:ext>
            </a:extLst>
          </p:cNvPr>
          <p:cNvSpPr/>
          <p:nvPr/>
        </p:nvSpPr>
        <p:spPr>
          <a:xfrm>
            <a:off x="0" y="1247253"/>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Reduce Porsche CID Defect rate</a:t>
            </a:r>
          </a:p>
        </p:txBody>
      </p:sp>
      <p:sp>
        <p:nvSpPr>
          <p:cNvPr id="83" name="직사각형 124">
            <a:extLst>
              <a:ext uri="{FF2B5EF4-FFF2-40B4-BE49-F238E27FC236}">
                <a16:creationId xmlns:a16="http://schemas.microsoft.com/office/drawing/2014/main" id="{CA83E05B-BD5C-4D19-937D-8440D1E97727}"/>
              </a:ext>
            </a:extLst>
          </p:cNvPr>
          <p:cNvSpPr/>
          <p:nvPr/>
        </p:nvSpPr>
        <p:spPr>
          <a:xfrm>
            <a:off x="1647314" y="2840939"/>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Hardware defect</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84" name="Straight Arrow Connector 83">
            <a:extLst>
              <a:ext uri="{FF2B5EF4-FFF2-40B4-BE49-F238E27FC236}">
                <a16:creationId xmlns:a16="http://schemas.microsoft.com/office/drawing/2014/main" id="{79F9BF4D-AD41-4475-A659-3F1176F386EB}"/>
              </a:ext>
            </a:extLst>
          </p:cNvPr>
          <p:cNvCxnSpPr>
            <a:cxnSpLocks/>
            <a:stCxn id="52" idx="3"/>
            <a:endCxn id="68" idx="1"/>
          </p:cNvCxnSpPr>
          <p:nvPr/>
        </p:nvCxnSpPr>
        <p:spPr>
          <a:xfrm flipV="1">
            <a:off x="1257197" y="1437809"/>
            <a:ext cx="394311" cy="7401"/>
          </a:xfrm>
          <a:prstGeom prst="straightConnector1">
            <a:avLst/>
          </a:prstGeom>
          <a:noFill/>
          <a:ln w="9525" cap="flat" cmpd="sng" algn="ctr">
            <a:solidFill>
              <a:srgbClr val="C00000"/>
            </a:solidFill>
            <a:prstDash val="solid"/>
            <a:round/>
            <a:headEnd type="none" w="med" len="med"/>
            <a:tailEnd type="triangle"/>
          </a:ln>
          <a:effectLst/>
        </p:spPr>
      </p:cxnSp>
      <p:sp>
        <p:nvSpPr>
          <p:cNvPr id="71" name="직사각형 124">
            <a:extLst>
              <a:ext uri="{FF2B5EF4-FFF2-40B4-BE49-F238E27FC236}">
                <a16:creationId xmlns:a16="http://schemas.microsoft.com/office/drawing/2014/main" id="{84C613EF-B7C1-4EE7-B1DE-F6F54BF90DC1}"/>
              </a:ext>
            </a:extLst>
          </p:cNvPr>
          <p:cNvSpPr/>
          <p:nvPr/>
        </p:nvSpPr>
        <p:spPr>
          <a:xfrm>
            <a:off x="1689870" y="3706771"/>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Software defect</a:t>
            </a:r>
          </a:p>
        </p:txBody>
      </p:sp>
      <p:cxnSp>
        <p:nvCxnSpPr>
          <p:cNvPr id="3" name="Straight Connector 2">
            <a:extLst>
              <a:ext uri="{FF2B5EF4-FFF2-40B4-BE49-F238E27FC236}">
                <a16:creationId xmlns:a16="http://schemas.microsoft.com/office/drawing/2014/main" id="{C382F0B5-FE2A-44F8-A778-4490D033265A}"/>
              </a:ext>
            </a:extLst>
          </p:cNvPr>
          <p:cNvCxnSpPr>
            <a:cxnSpLocks/>
          </p:cNvCxnSpPr>
          <p:nvPr/>
        </p:nvCxnSpPr>
        <p:spPr>
          <a:xfrm>
            <a:off x="656431" y="5436406"/>
            <a:ext cx="1790464"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E5D3784-A161-4E39-ABFC-E9884EBC2613}"/>
              </a:ext>
            </a:extLst>
          </p:cNvPr>
          <p:cNvSpPr/>
          <p:nvPr/>
        </p:nvSpPr>
        <p:spPr>
          <a:xfrm>
            <a:off x="1913425" y="4896997"/>
            <a:ext cx="829775" cy="533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a:latin typeface="Arial"/>
              </a:rPr>
              <a:t>33,376 PPM</a:t>
            </a:r>
            <a:endParaRPr lang="en-US" sz="10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D6ABC82-A55A-4E3D-9824-C9ABB364FBE1}"/>
              </a:ext>
            </a:extLst>
          </p:cNvPr>
          <p:cNvSpPr/>
          <p:nvPr/>
        </p:nvSpPr>
        <p:spPr>
          <a:xfrm>
            <a:off x="552966" y="4386015"/>
            <a:ext cx="818860" cy="1047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a:latin typeface="Arial"/>
              </a:rPr>
              <a:t>260,000 PPM</a:t>
            </a:r>
            <a:endParaRPr lang="en-US" sz="1050" dirty="0">
              <a:solidFill>
                <a:schemeClr val="tx1"/>
              </a:solidFill>
              <a:latin typeface="Arial" panose="020B0604020202020204" pitchFamily="34" charset="0"/>
              <a:cs typeface="Arial" panose="020B0604020202020204" pitchFamily="34" charset="0"/>
            </a:endParaRPr>
          </a:p>
        </p:txBody>
      </p:sp>
      <p:sp>
        <p:nvSpPr>
          <p:cNvPr id="59" name="직사각형 124">
            <a:extLst>
              <a:ext uri="{FF2B5EF4-FFF2-40B4-BE49-F238E27FC236}">
                <a16:creationId xmlns:a16="http://schemas.microsoft.com/office/drawing/2014/main" id="{6488CD88-09C5-4039-9404-8FA529031D59}"/>
              </a:ext>
            </a:extLst>
          </p:cNvPr>
          <p:cNvSpPr/>
          <p:nvPr/>
        </p:nvSpPr>
        <p:spPr>
          <a:xfrm>
            <a:off x="637872" y="5436406"/>
            <a:ext cx="1786889" cy="4035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Decrease defect rate of Porsche CID</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1" name="직사각형 124">
            <a:extLst>
              <a:ext uri="{FF2B5EF4-FFF2-40B4-BE49-F238E27FC236}">
                <a16:creationId xmlns:a16="http://schemas.microsoft.com/office/drawing/2014/main" id="{85F4DA65-E4DC-4E8D-9E8A-592DB1E42CC9}"/>
              </a:ext>
            </a:extLst>
          </p:cNvPr>
          <p:cNvSpPr/>
          <p:nvPr/>
        </p:nvSpPr>
        <p:spPr>
          <a:xfrm>
            <a:off x="581222" y="4191000"/>
            <a:ext cx="762348"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Before</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2" name="직사각형 124">
            <a:extLst>
              <a:ext uri="{FF2B5EF4-FFF2-40B4-BE49-F238E27FC236}">
                <a16:creationId xmlns:a16="http://schemas.microsoft.com/office/drawing/2014/main" id="{C64B288A-C4DC-4C32-8350-28B1FD1A5C8C}"/>
              </a:ext>
            </a:extLst>
          </p:cNvPr>
          <p:cNvSpPr/>
          <p:nvPr/>
        </p:nvSpPr>
        <p:spPr>
          <a:xfrm>
            <a:off x="2003461" y="4688813"/>
            <a:ext cx="649702"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After</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9" name="직사각형 124">
            <a:extLst>
              <a:ext uri="{FF2B5EF4-FFF2-40B4-BE49-F238E27FC236}">
                <a16:creationId xmlns:a16="http://schemas.microsoft.com/office/drawing/2014/main" id="{5A1ACA1F-B7FE-4D14-98DB-0463FDB3B045}"/>
              </a:ext>
            </a:extLst>
          </p:cNvPr>
          <p:cNvSpPr/>
          <p:nvPr/>
        </p:nvSpPr>
        <p:spPr>
          <a:xfrm>
            <a:off x="7322594" y="1260024"/>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6 Sigma assignment</a:t>
            </a:r>
          </a:p>
        </p:txBody>
      </p:sp>
      <p:sp>
        <p:nvSpPr>
          <p:cNvPr id="70" name="직사각형 124">
            <a:extLst>
              <a:ext uri="{FF2B5EF4-FFF2-40B4-BE49-F238E27FC236}">
                <a16:creationId xmlns:a16="http://schemas.microsoft.com/office/drawing/2014/main" id="{08E76798-9784-458B-85C4-0CA820956B8D}"/>
              </a:ext>
            </a:extLst>
          </p:cNvPr>
          <p:cNvSpPr/>
          <p:nvPr/>
        </p:nvSpPr>
        <p:spPr>
          <a:xfrm>
            <a:off x="7347308" y="2084472"/>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Real defect _ Material</a:t>
            </a:r>
          </a:p>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Return to supplier</a:t>
            </a:r>
          </a:p>
        </p:txBody>
      </p:sp>
      <p:graphicFrame>
        <p:nvGraphicFramePr>
          <p:cNvPr id="74" name="표 46">
            <a:extLst>
              <a:ext uri="{FF2B5EF4-FFF2-40B4-BE49-F238E27FC236}">
                <a16:creationId xmlns:a16="http://schemas.microsoft.com/office/drawing/2014/main" id="{E5BFD7BA-52E1-4DEB-8CC0-42C339E19764}"/>
              </a:ext>
            </a:extLst>
          </p:cNvPr>
          <p:cNvGraphicFramePr>
            <a:graphicFrameLocks noGrp="1"/>
          </p:cNvGraphicFramePr>
          <p:nvPr>
            <p:extLst>
              <p:ext uri="{D42A27DB-BD31-4B8C-83A1-F6EECF244321}">
                <p14:modId xmlns:p14="http://schemas.microsoft.com/office/powerpoint/2010/main" val="414107595"/>
              </p:ext>
            </p:extLst>
          </p:nvPr>
        </p:nvGraphicFramePr>
        <p:xfrm>
          <a:off x="7322594" y="720833"/>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6" name="표 45">
            <a:extLst>
              <a:ext uri="{FF2B5EF4-FFF2-40B4-BE49-F238E27FC236}">
                <a16:creationId xmlns:a16="http://schemas.microsoft.com/office/drawing/2014/main" id="{340A01BA-E649-4A07-BE4C-FE4BD7441B73}"/>
              </a:ext>
            </a:extLst>
          </p:cNvPr>
          <p:cNvGraphicFramePr>
            <a:graphicFrameLocks noGrp="1"/>
          </p:cNvGraphicFramePr>
          <p:nvPr>
            <p:extLst>
              <p:ext uri="{D42A27DB-BD31-4B8C-83A1-F6EECF244321}">
                <p14:modId xmlns:p14="http://schemas.microsoft.com/office/powerpoint/2010/main" val="1695317186"/>
              </p:ext>
            </p:extLst>
          </p:nvPr>
        </p:nvGraphicFramePr>
        <p:xfrm>
          <a:off x="5442125" y="726392"/>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9" name="Straight Arrow Connector 88">
            <a:extLst>
              <a:ext uri="{FF2B5EF4-FFF2-40B4-BE49-F238E27FC236}">
                <a16:creationId xmlns:a16="http://schemas.microsoft.com/office/drawing/2014/main" id="{93DB9B81-6E8A-4C8A-9C14-CAA405A93511}"/>
              </a:ext>
            </a:extLst>
          </p:cNvPr>
          <p:cNvCxnSpPr>
            <a:cxnSpLocks/>
            <a:stCxn id="129" idx="3"/>
            <a:endCxn id="69" idx="1"/>
          </p:cNvCxnSpPr>
          <p:nvPr/>
        </p:nvCxnSpPr>
        <p:spPr>
          <a:xfrm flipV="1">
            <a:off x="6869345" y="1457981"/>
            <a:ext cx="453249" cy="249"/>
          </a:xfrm>
          <a:prstGeom prst="straightConnector1">
            <a:avLst/>
          </a:prstGeom>
          <a:noFill/>
          <a:ln w="9525" cap="flat" cmpd="sng" algn="ctr">
            <a:solidFill>
              <a:srgbClr val="C0000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E42DC42A-02BC-4314-AFEF-5343F6F313A8}"/>
              </a:ext>
            </a:extLst>
          </p:cNvPr>
          <p:cNvCxnSpPr>
            <a:cxnSpLocks/>
            <a:stCxn id="130" idx="3"/>
            <a:endCxn id="70" idx="1"/>
          </p:cNvCxnSpPr>
          <p:nvPr/>
        </p:nvCxnSpPr>
        <p:spPr>
          <a:xfrm flipV="1">
            <a:off x="6894059" y="2282429"/>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294C19-F708-49EE-A527-FA9394A10AA7}"/>
              </a:ext>
            </a:extLst>
          </p:cNvPr>
          <p:cNvSpPr txBox="1"/>
          <p:nvPr/>
        </p:nvSpPr>
        <p:spPr>
          <a:xfrm>
            <a:off x="57849" y="5921514"/>
            <a:ext cx="9577064" cy="707886"/>
          </a:xfrm>
          <a:prstGeom prst="rect">
            <a:avLst/>
          </a:prstGeom>
          <a:noFill/>
        </p:spPr>
        <p:txBody>
          <a:bodyPr wrap="square" rtlCol="0">
            <a:noAutofit/>
          </a:bodyPr>
          <a:lstStyle/>
          <a:p>
            <a:pPr marL="171450" lvl="0" indent="-171450" eaLnBrk="1" latinLnBrk="0">
              <a:buFontTx/>
              <a:buChar char="-"/>
            </a:pPr>
            <a:r>
              <a:rPr sz="1000" b="0">
                <a:latin typeface="Arial"/>
              </a:rPr>
              <a:t>Hardware issues (6.0%, 15,600 PPM) are mainly broken pin connector (check PCBA), foreign material inside the set after assembly, SQA circuit and LCD from supplier; they will be improved by HW members.</a:t>
            </a:r>
            <a:br/>
            <a:r>
              <a:rPr sz="1000" b="0">
                <a:latin typeface="Arial"/>
              </a:rPr>
              <a:t>Software issues (3.5%, 9,100 PPM) will be solved by HQ software members.</a:t>
            </a:r>
            <a:br/>
            <a:r>
              <a:rPr sz="1000" b="0">
                <a:latin typeface="Arial"/>
              </a:rPr>
              <a:t>Machine defect accounts for 90.5% (235,300 PPM), where Luminance value is the overwhelming root issue causing 226,624 PPM (87.2% of all defects), causing severe UPH loss and scrap cost. That is why Luminance value is selected as Project Y for this Six Sigma assignment.</a:t>
            </a:r>
          </a:p>
        </p:txBody>
      </p:sp>
      <p:graphicFrame>
        <p:nvGraphicFramePr>
          <p:cNvPr id="12" name="Object 11">
            <a:extLst>
              <a:ext uri="{FF2B5EF4-FFF2-40B4-BE49-F238E27FC236}">
                <a16:creationId xmlns:a16="http://schemas.microsoft.com/office/drawing/2014/main" id="{641D5FF9-8E48-4313-BA6F-2F3C8DCE93A7}"/>
              </a:ext>
            </a:extLst>
          </p:cNvPr>
          <p:cNvGraphicFramePr>
            <a:graphicFrameLocks noChangeAspect="1"/>
          </p:cNvGraphicFramePr>
          <p:nvPr>
            <p:extLst>
              <p:ext uri="{D42A27DB-BD31-4B8C-83A1-F6EECF244321}">
                <p14:modId xmlns:p14="http://schemas.microsoft.com/office/powerpoint/2010/main" val="561615864"/>
              </p:ext>
            </p:extLst>
          </p:nvPr>
        </p:nvGraphicFramePr>
        <p:xfrm>
          <a:off x="304468" y="2246935"/>
          <a:ext cx="467633" cy="394566"/>
        </p:xfrm>
        <a:graphic>
          <a:graphicData uri="http://schemas.openxmlformats.org/presentationml/2006/ole">
            <mc:AlternateContent xmlns:mc="http://schemas.openxmlformats.org/markup-compatibility/2006">
              <mc:Choice xmlns:v="urn:schemas-microsoft-com:vml" Requires="v">
                <p:oleObj name="Worksheet" showAsIcon="1" r:id="rId4" imgW="914400" imgH="771792" progId="Excel.Sheet.12">
                  <p:embed/>
                </p:oleObj>
              </mc:Choice>
              <mc:Fallback>
                <p:oleObj name="Worksheet" showAsIcon="1" r:id="rId4" imgW="914400" imgH="771792" progId="Excel.Sheet.12">
                  <p:embed/>
                  <p:pic>
                    <p:nvPicPr>
                      <p:cNvPr id="0" name=""/>
                      <p:cNvPicPr/>
                      <p:nvPr/>
                    </p:nvPicPr>
                    <p:blipFill>
                      <a:blip r:embed="rId5"/>
                      <a:stretch>
                        <a:fillRect/>
                      </a:stretch>
                    </p:blipFill>
                    <p:spPr>
                      <a:xfrm>
                        <a:off x="304468" y="2246935"/>
                        <a:ext cx="467633" cy="394566"/>
                      </a:xfrm>
                      <a:prstGeom prst="rect">
                        <a:avLst/>
                      </a:prstGeom>
                    </p:spPr>
                  </p:pic>
                </p:oleObj>
              </mc:Fallback>
            </mc:AlternateContent>
          </a:graphicData>
        </a:graphic>
      </p:graphicFrame>
      <p:sp>
        <p:nvSpPr>
          <p:cNvPr id="2" name="Arrow: Right 1">
            <a:extLst>
              <a:ext uri="{FF2B5EF4-FFF2-40B4-BE49-F238E27FC236}">
                <a16:creationId xmlns:a16="http://schemas.microsoft.com/office/drawing/2014/main" id="{883DEA73-C594-43D5-86DD-20AFA7CB55DE}"/>
              </a:ext>
            </a:extLst>
          </p:cNvPr>
          <p:cNvSpPr/>
          <p:nvPr/>
        </p:nvSpPr>
        <p:spPr bwMode="auto">
          <a:xfrm rot="1145973">
            <a:off x="1406635" y="4896997"/>
            <a:ext cx="471981" cy="173244"/>
          </a:xfrm>
          <a:prstGeom prst="rightArrow">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
        <p:nvSpPr>
          <p:cNvPr id="50" name="직사각형 124">
            <a:extLst>
              <a:ext uri="{FF2B5EF4-FFF2-40B4-BE49-F238E27FC236}">
                <a16:creationId xmlns:a16="http://schemas.microsoft.com/office/drawing/2014/main" id="{90A54F67-C922-4481-83DE-35020CA82089}"/>
              </a:ext>
            </a:extLst>
          </p:cNvPr>
          <p:cNvSpPr/>
          <p:nvPr/>
        </p:nvSpPr>
        <p:spPr>
          <a:xfrm>
            <a:off x="9111999" y="1263867"/>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b="0" dirty="0">
                <a:solidFill>
                  <a:schemeClr val="tx1"/>
                </a:solidFill>
                <a:latin typeface="Arial"/>
              </a:rPr>
              <a:t>IVI LD</a:t>
            </a:r>
            <a:r>
              <a:rPr sz="1000" b="0" dirty="0">
                <a:latin typeface="Arial"/>
              </a:rPr>
              <a:t> IE</a:t>
            </a:r>
          </a:p>
        </p:txBody>
      </p:sp>
      <p:sp>
        <p:nvSpPr>
          <p:cNvPr id="53" name="직사각형 124">
            <a:extLst>
              <a:ext uri="{FF2B5EF4-FFF2-40B4-BE49-F238E27FC236}">
                <a16:creationId xmlns:a16="http://schemas.microsoft.com/office/drawing/2014/main" id="{1045D11C-94C8-40D5-BC41-24537629FD31}"/>
              </a:ext>
            </a:extLst>
          </p:cNvPr>
          <p:cNvSpPr/>
          <p:nvPr/>
        </p:nvSpPr>
        <p:spPr>
          <a:xfrm>
            <a:off x="9136713" y="2078607"/>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HEESUNG vendor</a:t>
            </a:r>
          </a:p>
        </p:txBody>
      </p:sp>
      <p:graphicFrame>
        <p:nvGraphicFramePr>
          <p:cNvPr id="56" name="표 46">
            <a:extLst>
              <a:ext uri="{FF2B5EF4-FFF2-40B4-BE49-F238E27FC236}">
                <a16:creationId xmlns:a16="http://schemas.microsoft.com/office/drawing/2014/main" id="{389174B0-4A7E-4DAC-B76B-156987A7EF90}"/>
              </a:ext>
            </a:extLst>
          </p:cNvPr>
          <p:cNvGraphicFramePr>
            <a:graphicFrameLocks noGrp="1"/>
          </p:cNvGraphicFramePr>
          <p:nvPr>
            <p:extLst>
              <p:ext uri="{D42A27DB-BD31-4B8C-83A1-F6EECF244321}">
                <p14:modId xmlns:p14="http://schemas.microsoft.com/office/powerpoint/2010/main" val="4294634826"/>
              </p:ext>
            </p:extLst>
          </p:nvPr>
        </p:nvGraphicFramePr>
        <p:xfrm>
          <a:off x="9112590" y="735156"/>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Rectangle 4">
            <a:extLst>
              <a:ext uri="{FF2B5EF4-FFF2-40B4-BE49-F238E27FC236}">
                <a16:creationId xmlns:a16="http://schemas.microsoft.com/office/drawing/2014/main" id="{6AF0C5BD-1F30-4E1B-B64B-6F14E8B4E4DA}"/>
              </a:ext>
            </a:extLst>
          </p:cNvPr>
          <p:cNvSpPr/>
          <p:nvPr/>
        </p:nvSpPr>
        <p:spPr>
          <a:xfrm>
            <a:off x="51601" y="1670837"/>
            <a:ext cx="1261884" cy="600164"/>
          </a:xfrm>
          <a:prstGeom prst="rect">
            <a:avLst/>
          </a:prstGeom>
        </p:spPr>
        <p:txBody>
          <a:bodyPr wrap="square">
            <a:noAutofit/>
          </a:bodyPr>
          <a:lstStyle/>
          <a:p>
            <a:pPr algn="ctr" eaLnBrk="1" latinLnBrk="0"/>
            <a:r>
              <a:rPr sz="900" b="1" dirty="0">
                <a:latin typeface="Arial"/>
              </a:rPr>
              <a:t>260,000 PPM</a:t>
            </a:r>
            <a:br>
              <a:rPr dirty="0"/>
            </a:br>
            <a:r>
              <a:rPr sz="900" b="1" dirty="0">
                <a:latin typeface="Arial"/>
              </a:rPr>
              <a:t>(164/631EA</a:t>
            </a:r>
            <a:br>
              <a:rPr dirty="0"/>
            </a:br>
            <a:r>
              <a:rPr sz="900" b="1" dirty="0" err="1">
                <a:latin typeface="Arial"/>
              </a:rPr>
              <a:t xml:space="preserve">Nov.2025~Mar.2026</a:t>
            </a:r>
            <a:r>
              <a:rPr sz="900" b="1" dirty="0">
                <a:latin typeface="Arial"/>
              </a:rPr>
              <a:t xml:space="preserve">)</a:t>
            </a:r>
            <a:endParaRPr lang="en-US" sz="11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 name="Rectangle 5">
            <a:extLst>
              <a:ext uri="{FF2B5EF4-FFF2-40B4-BE49-F238E27FC236}">
                <a16:creationId xmlns:a16="http://schemas.microsoft.com/office/drawing/2014/main" id="{05F4D52F-1976-4C98-B1BC-20259337E454}"/>
              </a:ext>
            </a:extLst>
          </p:cNvPr>
          <p:cNvSpPr/>
          <p:nvPr/>
        </p:nvSpPr>
        <p:spPr>
          <a:xfrm>
            <a:off x="1677199" y="1639657"/>
            <a:ext cx="1224000" cy="246221"/>
          </a:xfrm>
          <a:prstGeom prst="rect">
            <a:avLst/>
          </a:prstGeom>
        </p:spPr>
        <p:txBody>
          <a:bodyPr wrap="square">
            <a:noAutofit/>
          </a:bodyPr>
          <a:lstStyle/>
          <a:p>
            <a:pPr algn="ctr" eaLnBrk="1" latinLnBrk="0"/>
            <a:r>
              <a:rPr sz="950" b="1">
                <a:latin typeface="Arial"/>
              </a:rPr>
              <a:t>90.5% 235,300 PPM</a:t>
            </a:r>
          </a:p>
        </p:txBody>
      </p:sp>
      <p:sp>
        <p:nvSpPr>
          <p:cNvPr id="7" name="Rectangle 6">
            <a:extLst>
              <a:ext uri="{FF2B5EF4-FFF2-40B4-BE49-F238E27FC236}">
                <a16:creationId xmlns:a16="http://schemas.microsoft.com/office/drawing/2014/main" id="{30B36D77-47D1-4939-B27C-3B292C8F8F4D}"/>
              </a:ext>
            </a:extLst>
          </p:cNvPr>
          <p:cNvSpPr/>
          <p:nvPr/>
        </p:nvSpPr>
        <p:spPr>
          <a:xfrm>
            <a:off x="1713759" y="4148648"/>
            <a:ext cx="1152000" cy="246221"/>
          </a:xfrm>
          <a:prstGeom prst="rect">
            <a:avLst/>
          </a:prstGeom>
        </p:spPr>
        <p:txBody>
          <a:bodyPr wrap="square">
            <a:noAutofit/>
          </a:bodyPr>
          <a:lstStyle/>
          <a:p>
            <a:pPr algn="ctr" eaLnBrk="1" latinLnBrk="0"/>
            <a:r>
              <a:rPr sz="950" b="1">
                <a:latin typeface="Arial"/>
              </a:rPr>
              <a:t>3.5% 9,100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8" name="Rectangle 7">
            <a:extLst>
              <a:ext uri="{FF2B5EF4-FFF2-40B4-BE49-F238E27FC236}">
                <a16:creationId xmlns:a16="http://schemas.microsoft.com/office/drawing/2014/main" id="{760BD9FF-BA40-45C8-B5BF-7471B03E5658}"/>
              </a:ext>
            </a:extLst>
          </p:cNvPr>
          <p:cNvSpPr/>
          <p:nvPr/>
        </p:nvSpPr>
        <p:spPr>
          <a:xfrm>
            <a:off x="1710838" y="3210563"/>
            <a:ext cx="1152000" cy="246221"/>
          </a:xfrm>
          <a:prstGeom prst="rect">
            <a:avLst/>
          </a:prstGeom>
        </p:spPr>
        <p:txBody>
          <a:bodyPr wrap="square">
            <a:noAutofit/>
          </a:bodyPr>
          <a:lstStyle/>
          <a:p>
            <a:pPr algn="ctr" eaLnBrk="1" latinLnBrk="0"/>
            <a:r>
              <a:rPr sz="950" b="1">
                <a:latin typeface="Arial"/>
              </a:rPr>
              <a:t>6.0% 15,600 PPM</a:t>
            </a:r>
          </a:p>
        </p:txBody>
      </p:sp>
      <p:cxnSp>
        <p:nvCxnSpPr>
          <p:cNvPr id="10" name="Connector: Elbow 9">
            <a:extLst>
              <a:ext uri="{FF2B5EF4-FFF2-40B4-BE49-F238E27FC236}">
                <a16:creationId xmlns:a16="http://schemas.microsoft.com/office/drawing/2014/main" id="{368EBAD9-AB13-4234-82B1-F3C26DD02447}"/>
              </a:ext>
            </a:extLst>
          </p:cNvPr>
          <p:cNvCxnSpPr>
            <a:stCxn id="104" idx="3"/>
            <a:endCxn id="130" idx="1"/>
          </p:cNvCxnSpPr>
          <p:nvPr/>
        </p:nvCxnSpPr>
        <p:spPr bwMode="auto">
          <a:xfrm>
            <a:off x="4822973" y="1454063"/>
            <a:ext cx="643866" cy="828615"/>
          </a:xfrm>
          <a:prstGeom prst="bentConnector3">
            <a:avLst/>
          </a:prstGeom>
          <a:noFill/>
          <a:ln w="9525" cap="flat" cmpd="sng" algn="ctr">
            <a:solidFill>
              <a:schemeClr val="bg2"/>
            </a:solidFill>
            <a:prstDash val="solid"/>
            <a:round/>
            <a:headEnd type="none" w="med" len="med"/>
            <a:tailEnd type="triangle"/>
          </a:ln>
          <a:effectLst/>
        </p:spPr>
      </p:cxnSp>
      <p:cxnSp>
        <p:nvCxnSpPr>
          <p:cNvPr id="13" name="Connector: Elbow 12">
            <a:extLst>
              <a:ext uri="{FF2B5EF4-FFF2-40B4-BE49-F238E27FC236}">
                <a16:creationId xmlns:a16="http://schemas.microsoft.com/office/drawing/2014/main" id="{856C0AA8-FC66-4C21-B31D-56F322604C13}"/>
              </a:ext>
            </a:extLst>
          </p:cNvPr>
          <p:cNvCxnSpPr>
            <a:stCxn id="52" idx="3"/>
            <a:endCxn id="71" idx="1"/>
          </p:cNvCxnSpPr>
          <p:nvPr/>
        </p:nvCxnSpPr>
        <p:spPr bwMode="auto">
          <a:xfrm>
            <a:off x="1257197" y="1445210"/>
            <a:ext cx="432673" cy="2451447"/>
          </a:xfrm>
          <a:prstGeom prst="bentConnector3">
            <a:avLst>
              <a:gd name="adj1" fmla="val 50000"/>
            </a:avLst>
          </a:prstGeom>
          <a:noFill/>
          <a:ln w="9525" cap="flat" cmpd="sng" algn="ctr">
            <a:solidFill>
              <a:schemeClr val="bg2"/>
            </a:solidFill>
            <a:prstDash val="solid"/>
            <a:round/>
            <a:headEnd type="none" w="med" len="med"/>
            <a:tailEnd type="triangle"/>
          </a:ln>
          <a:effectLst/>
        </p:spPr>
      </p:cxnSp>
      <p:cxnSp>
        <p:nvCxnSpPr>
          <p:cNvPr id="15" name="Connector: Elbow 14">
            <a:extLst>
              <a:ext uri="{FF2B5EF4-FFF2-40B4-BE49-F238E27FC236}">
                <a16:creationId xmlns:a16="http://schemas.microsoft.com/office/drawing/2014/main" id="{DB7FD541-B9AE-4E0D-A3AE-AC9AA5B1A5C8}"/>
              </a:ext>
            </a:extLst>
          </p:cNvPr>
          <p:cNvCxnSpPr>
            <a:cxnSpLocks/>
            <a:stCxn id="52" idx="3"/>
            <a:endCxn id="83" idx="1"/>
          </p:cNvCxnSpPr>
          <p:nvPr/>
        </p:nvCxnSpPr>
        <p:spPr bwMode="auto">
          <a:xfrm>
            <a:off x="1257197" y="1445210"/>
            <a:ext cx="390117" cy="1585615"/>
          </a:xfrm>
          <a:prstGeom prst="bentConnector3">
            <a:avLst>
              <a:gd name="adj1" fmla="val 50000"/>
            </a:avLst>
          </a:prstGeom>
          <a:noFill/>
          <a:ln w="9525" cap="flat" cmpd="sng" algn="ctr">
            <a:solidFill>
              <a:schemeClr val="bg2"/>
            </a:solidFill>
            <a:prstDash val="solid"/>
            <a:round/>
            <a:headEnd type="none" w="med" len="med"/>
            <a:tailEnd type="triangle"/>
          </a:ln>
          <a:effectLst/>
        </p:spPr>
      </p:cxnSp>
      <p:sp>
        <p:nvSpPr>
          <p:cNvPr id="65" name="직사각형 124">
            <a:extLst>
              <a:ext uri="{FF2B5EF4-FFF2-40B4-BE49-F238E27FC236}">
                <a16:creationId xmlns:a16="http://schemas.microsoft.com/office/drawing/2014/main" id="{DCFE7B6D-E84B-4231-8DAF-21ACE678009D}"/>
              </a:ext>
            </a:extLst>
          </p:cNvPr>
          <p:cNvSpPr/>
          <p:nvPr/>
        </p:nvSpPr>
        <p:spPr>
          <a:xfrm>
            <a:off x="3600726" y="2057400"/>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Haptic/Touch </a:t>
            </a:r>
          </a:p>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Function</a:t>
            </a:r>
          </a:p>
        </p:txBody>
      </p:sp>
      <p:sp>
        <p:nvSpPr>
          <p:cNvPr id="16" name="Rectangle 15">
            <a:extLst>
              <a:ext uri="{FF2B5EF4-FFF2-40B4-BE49-F238E27FC236}">
                <a16:creationId xmlns:a16="http://schemas.microsoft.com/office/drawing/2014/main" id="{288E1CE7-F4BC-4EBD-90F5-3CFE8E35BDA1}"/>
              </a:ext>
            </a:extLst>
          </p:cNvPr>
          <p:cNvSpPr/>
          <p:nvPr/>
        </p:nvSpPr>
        <p:spPr>
          <a:xfrm>
            <a:off x="3678910" y="2514600"/>
            <a:ext cx="1152000" cy="246221"/>
          </a:xfrm>
          <a:prstGeom prst="rect">
            <a:avLst/>
          </a:prstGeom>
        </p:spPr>
        <p:txBody>
          <a:bodyPr wrap="square">
            <a:noAutofit/>
          </a:bodyPr>
          <a:lstStyle/>
          <a:p>
            <a:pPr algn="ctr" eaLnBrk="1" latinLnBrk="0"/>
            <a:r>
              <a:rPr sz="950" b="1">
                <a:latin typeface="Arial"/>
              </a:rPr>
              <a:t>1.0% 2,600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7" name="Rectangle 16">
            <a:extLst>
              <a:ext uri="{FF2B5EF4-FFF2-40B4-BE49-F238E27FC236}">
                <a16:creationId xmlns:a16="http://schemas.microsoft.com/office/drawing/2014/main" id="{6B236DF7-163A-478C-958C-BB6F9A456983}"/>
              </a:ext>
            </a:extLst>
          </p:cNvPr>
          <p:cNvSpPr/>
          <p:nvPr/>
        </p:nvSpPr>
        <p:spPr>
          <a:xfrm>
            <a:off x="3671058" y="1639402"/>
            <a:ext cx="1224000" cy="246221"/>
          </a:xfrm>
          <a:prstGeom prst="rect">
            <a:avLst/>
          </a:prstGeom>
        </p:spPr>
        <p:txBody>
          <a:bodyPr wrap="square">
            <a:noAutofit/>
          </a:bodyPr>
          <a:lstStyle/>
          <a:p>
            <a:pPr algn="ctr" eaLnBrk="1" latinLnBrk="0"/>
            <a:r>
              <a:rPr sz="950" b="1">
                <a:latin typeface="Arial"/>
              </a:rPr>
              <a:t>89.5% 232,700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8" name="Rectangle 17">
            <a:extLst>
              <a:ext uri="{FF2B5EF4-FFF2-40B4-BE49-F238E27FC236}">
                <a16:creationId xmlns:a16="http://schemas.microsoft.com/office/drawing/2014/main" id="{3E9C44D0-3B3F-416F-A77E-B52AFB15C63C}"/>
              </a:ext>
            </a:extLst>
          </p:cNvPr>
          <p:cNvSpPr/>
          <p:nvPr/>
        </p:nvSpPr>
        <p:spPr>
          <a:xfrm>
            <a:off x="5603342" y="1670836"/>
            <a:ext cx="1260000" cy="270000"/>
          </a:xfrm>
          <a:prstGeom prst="rect">
            <a:avLst/>
          </a:prstGeom>
        </p:spPr>
        <p:txBody>
          <a:bodyPr wrap="square">
            <a:noAutofit/>
          </a:bodyPr>
          <a:lstStyle/>
          <a:p>
            <a:pPr algn="ctr" eaLnBrk="1" latinLnBrk="0"/>
            <a:r>
              <a:rPr sz="950" b="1">
                <a:latin typeface="Arial"/>
              </a:rPr>
              <a:t>87.2% 226,624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9" name="Rectangle 18">
            <a:extLst>
              <a:ext uri="{FF2B5EF4-FFF2-40B4-BE49-F238E27FC236}">
                <a16:creationId xmlns:a16="http://schemas.microsoft.com/office/drawing/2014/main" id="{9610AA58-682F-4FB2-9E51-FF3CD21FFCAB}"/>
              </a:ext>
            </a:extLst>
          </p:cNvPr>
          <p:cNvSpPr/>
          <p:nvPr/>
        </p:nvSpPr>
        <p:spPr>
          <a:xfrm>
            <a:off x="5663322" y="2502569"/>
            <a:ext cx="1152000" cy="246221"/>
          </a:xfrm>
          <a:prstGeom prst="rect">
            <a:avLst/>
          </a:prstGeom>
        </p:spPr>
        <p:txBody>
          <a:bodyPr wrap="square">
            <a:noAutofit/>
          </a:bodyPr>
          <a:lstStyle/>
          <a:p>
            <a:pPr algn="ctr" eaLnBrk="1" latinLnBrk="0"/>
            <a:r>
              <a:rPr sz="950" b="1">
                <a:latin typeface="Arial"/>
              </a:rPr>
              <a:t>2.3% 6,076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24" name="Straight Arrow Connector 23">
            <a:extLst>
              <a:ext uri="{FF2B5EF4-FFF2-40B4-BE49-F238E27FC236}">
                <a16:creationId xmlns:a16="http://schemas.microsoft.com/office/drawing/2014/main" id="{BC6C054B-5829-4BE0-A31D-2CA7A59F1F41}"/>
              </a:ext>
            </a:extLst>
          </p:cNvPr>
          <p:cNvCxnSpPr>
            <a:stCxn id="69" idx="3"/>
            <a:endCxn id="50" idx="1"/>
          </p:cNvCxnSpPr>
          <p:nvPr/>
        </p:nvCxnSpPr>
        <p:spPr bwMode="auto">
          <a:xfrm>
            <a:off x="8909413" y="1457981"/>
            <a:ext cx="202586" cy="3843"/>
          </a:xfrm>
          <a:prstGeom prst="straightConnector1">
            <a:avLst/>
          </a:prstGeom>
          <a:noFill/>
          <a:ln w="9525" cap="flat" cmpd="sng" algn="ctr">
            <a:solidFill>
              <a:srgbClr val="C0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8BE62C-07D6-473A-B50C-1AC28254AF33}"/>
              </a:ext>
            </a:extLst>
          </p:cNvPr>
          <p:cNvCxnSpPr>
            <a:stCxn id="70" idx="3"/>
            <a:endCxn id="53" idx="1"/>
          </p:cNvCxnSpPr>
          <p:nvPr/>
        </p:nvCxnSpPr>
        <p:spPr bwMode="auto">
          <a:xfrm flipV="1">
            <a:off x="8934127" y="2276564"/>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4D5C481-9F97-4082-8B72-7206183B9A86}"/>
              </a:ext>
            </a:extLst>
          </p:cNvPr>
          <p:cNvCxnSpPr>
            <a:stCxn id="68" idx="3"/>
            <a:endCxn id="65" idx="1"/>
          </p:cNvCxnSpPr>
          <p:nvPr/>
        </p:nvCxnSpPr>
        <p:spPr bwMode="auto">
          <a:xfrm>
            <a:off x="2867767" y="1437809"/>
            <a:ext cx="732959" cy="840823"/>
          </a:xfrm>
          <a:prstGeom prst="bentConnector3">
            <a:avLst/>
          </a:prstGeom>
          <a:noFill/>
          <a:ln w="9525" cap="flat" cmpd="sng" algn="ctr">
            <a:solidFill>
              <a:schemeClr val="bg2"/>
            </a:solidFill>
            <a:prstDash val="solid"/>
            <a:round/>
            <a:headEnd type="none" w="med" len="med"/>
            <a:tailEnd type="triangle"/>
          </a:ln>
          <a:effectLst/>
        </p:spPr>
      </p:cxnSp>
      <p:sp>
        <p:nvSpPr>
          <p:cNvPr id="54" name="직사각형 124">
            <a:extLst>
              <a:ext uri="{FF2B5EF4-FFF2-40B4-BE49-F238E27FC236}">
                <a16:creationId xmlns:a16="http://schemas.microsoft.com/office/drawing/2014/main" id="{6E4609AA-34B6-4679-A537-F7B40309CB26}"/>
              </a:ext>
            </a:extLst>
          </p:cNvPr>
          <p:cNvSpPr/>
          <p:nvPr/>
        </p:nvSpPr>
        <p:spPr>
          <a:xfrm>
            <a:off x="3611236" y="2840939"/>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Power Function</a:t>
            </a:r>
          </a:p>
        </p:txBody>
      </p:sp>
      <p:sp>
        <p:nvSpPr>
          <p:cNvPr id="58" name="직사각형 124">
            <a:extLst>
              <a:ext uri="{FF2B5EF4-FFF2-40B4-BE49-F238E27FC236}">
                <a16:creationId xmlns:a16="http://schemas.microsoft.com/office/drawing/2014/main" id="{219D5C33-0AD8-4A59-AFDB-684F26C6C4AF}"/>
              </a:ext>
            </a:extLst>
          </p:cNvPr>
          <p:cNvSpPr/>
          <p:nvPr/>
        </p:nvSpPr>
        <p:spPr>
          <a:xfrm>
            <a:off x="5423821" y="2842534"/>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Initial/ Booting </a:t>
            </a:r>
          </a:p>
        </p:txBody>
      </p:sp>
      <p:cxnSp>
        <p:nvCxnSpPr>
          <p:cNvPr id="11" name="Straight Arrow Connector 10">
            <a:extLst>
              <a:ext uri="{FF2B5EF4-FFF2-40B4-BE49-F238E27FC236}">
                <a16:creationId xmlns:a16="http://schemas.microsoft.com/office/drawing/2014/main" id="{316FA9F6-1715-4F4C-B7AF-5D0BE96AEC3A}"/>
              </a:ext>
            </a:extLst>
          </p:cNvPr>
          <p:cNvCxnSpPr>
            <a:cxnSpLocks/>
            <a:stCxn id="83" idx="3"/>
            <a:endCxn id="54" idx="1"/>
          </p:cNvCxnSpPr>
          <p:nvPr/>
        </p:nvCxnSpPr>
        <p:spPr bwMode="auto">
          <a:xfrm flipV="1">
            <a:off x="2863573" y="3026979"/>
            <a:ext cx="747663"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20F0BDF-CB60-46E4-9AA0-1B74E29B6406}"/>
              </a:ext>
            </a:extLst>
          </p:cNvPr>
          <p:cNvCxnSpPr>
            <a:stCxn id="54" idx="3"/>
            <a:endCxn id="58" idx="1"/>
          </p:cNvCxnSpPr>
          <p:nvPr/>
        </p:nvCxnSpPr>
        <p:spPr bwMode="auto">
          <a:xfrm>
            <a:off x="4794713" y="302697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66" name="직사각형 124">
            <a:extLst>
              <a:ext uri="{FF2B5EF4-FFF2-40B4-BE49-F238E27FC236}">
                <a16:creationId xmlns:a16="http://schemas.microsoft.com/office/drawing/2014/main" id="{6AA2B0E5-EC42-4C84-994A-778FC6501B06}"/>
              </a:ext>
            </a:extLst>
          </p:cNvPr>
          <p:cNvSpPr/>
          <p:nvPr/>
        </p:nvSpPr>
        <p:spPr>
          <a:xfrm>
            <a:off x="7322593" y="2819400"/>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Broken pin connector _ check PCBA</a:t>
            </a:r>
          </a:p>
        </p:txBody>
      </p:sp>
      <p:cxnSp>
        <p:nvCxnSpPr>
          <p:cNvPr id="30" name="Straight Arrow Connector 29">
            <a:extLst>
              <a:ext uri="{FF2B5EF4-FFF2-40B4-BE49-F238E27FC236}">
                <a16:creationId xmlns:a16="http://schemas.microsoft.com/office/drawing/2014/main" id="{654EA2C0-7A57-4607-B4AC-BFF85E4612BC}"/>
              </a:ext>
            </a:extLst>
          </p:cNvPr>
          <p:cNvCxnSpPr>
            <a:stCxn id="58" idx="3"/>
            <a:endCxn id="66" idx="1"/>
          </p:cNvCxnSpPr>
          <p:nvPr/>
        </p:nvCxnSpPr>
        <p:spPr bwMode="auto">
          <a:xfrm flipV="1">
            <a:off x="6851041" y="3027616"/>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2" name="직사각형 124">
            <a:extLst>
              <a:ext uri="{FF2B5EF4-FFF2-40B4-BE49-F238E27FC236}">
                <a16:creationId xmlns:a16="http://schemas.microsoft.com/office/drawing/2014/main" id="{A6CBACB8-857B-400B-873A-143B2C375E95}"/>
              </a:ext>
            </a:extLst>
          </p:cNvPr>
          <p:cNvSpPr/>
          <p:nvPr/>
        </p:nvSpPr>
        <p:spPr>
          <a:xfrm>
            <a:off x="9103367" y="2829021"/>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Mr. Hai HW</a:t>
            </a:r>
          </a:p>
        </p:txBody>
      </p:sp>
      <p:cxnSp>
        <p:nvCxnSpPr>
          <p:cNvPr id="21" name="Straight Arrow Connector 20">
            <a:extLst>
              <a:ext uri="{FF2B5EF4-FFF2-40B4-BE49-F238E27FC236}">
                <a16:creationId xmlns:a16="http://schemas.microsoft.com/office/drawing/2014/main" id="{BD629D11-E31F-42F2-886F-2ACA099FB128}"/>
              </a:ext>
            </a:extLst>
          </p:cNvPr>
          <p:cNvCxnSpPr>
            <a:stCxn id="66" idx="3"/>
            <a:endCxn id="72" idx="1"/>
          </p:cNvCxnSpPr>
          <p:nvPr/>
        </p:nvCxnSpPr>
        <p:spPr bwMode="auto">
          <a:xfrm flipV="1">
            <a:off x="8909412" y="3026978"/>
            <a:ext cx="193955"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3" name="직사각형 124">
            <a:extLst>
              <a:ext uri="{FF2B5EF4-FFF2-40B4-BE49-F238E27FC236}">
                <a16:creationId xmlns:a16="http://schemas.microsoft.com/office/drawing/2014/main" id="{02F03E4C-6B25-4594-A904-49A6F7A6D5AB}"/>
              </a:ext>
            </a:extLst>
          </p:cNvPr>
          <p:cNvSpPr/>
          <p:nvPr/>
        </p:nvSpPr>
        <p:spPr>
          <a:xfrm>
            <a:off x="3611236" y="3710617"/>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Uniformity Function</a:t>
            </a:r>
          </a:p>
        </p:txBody>
      </p:sp>
      <p:sp>
        <p:nvSpPr>
          <p:cNvPr id="78" name="직사각형 124">
            <a:extLst>
              <a:ext uri="{FF2B5EF4-FFF2-40B4-BE49-F238E27FC236}">
                <a16:creationId xmlns:a16="http://schemas.microsoft.com/office/drawing/2014/main" id="{AF1F87F1-6034-411B-A915-807D211A396D}"/>
              </a:ext>
            </a:extLst>
          </p:cNvPr>
          <p:cNvSpPr/>
          <p:nvPr/>
        </p:nvSpPr>
        <p:spPr>
          <a:xfrm>
            <a:off x="5415782" y="3707926"/>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Black Uniformity value</a:t>
            </a:r>
          </a:p>
        </p:txBody>
      </p:sp>
      <p:sp>
        <p:nvSpPr>
          <p:cNvPr id="81" name="직사각형 124">
            <a:extLst>
              <a:ext uri="{FF2B5EF4-FFF2-40B4-BE49-F238E27FC236}">
                <a16:creationId xmlns:a16="http://schemas.microsoft.com/office/drawing/2014/main" id="{8420CAE5-18AF-453C-961B-E2C9C8CEA2EA}"/>
              </a:ext>
            </a:extLst>
          </p:cNvPr>
          <p:cNvSpPr/>
          <p:nvPr/>
        </p:nvSpPr>
        <p:spPr>
          <a:xfrm>
            <a:off x="7314554" y="368844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Improve software</a:t>
            </a:r>
          </a:p>
        </p:txBody>
      </p:sp>
      <p:cxnSp>
        <p:nvCxnSpPr>
          <p:cNvPr id="82" name="Straight Arrow Connector 81">
            <a:extLst>
              <a:ext uri="{FF2B5EF4-FFF2-40B4-BE49-F238E27FC236}">
                <a16:creationId xmlns:a16="http://schemas.microsoft.com/office/drawing/2014/main" id="{2AF4C39A-6C4C-4507-8D8E-700E8114055E}"/>
              </a:ext>
            </a:extLst>
          </p:cNvPr>
          <p:cNvCxnSpPr>
            <a:stCxn id="78" idx="3"/>
            <a:endCxn id="81" idx="1"/>
          </p:cNvCxnSpPr>
          <p:nvPr/>
        </p:nvCxnSpPr>
        <p:spPr bwMode="auto">
          <a:xfrm>
            <a:off x="6843002" y="3896656"/>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87" name="직사각형 124">
            <a:extLst>
              <a:ext uri="{FF2B5EF4-FFF2-40B4-BE49-F238E27FC236}">
                <a16:creationId xmlns:a16="http://schemas.microsoft.com/office/drawing/2014/main" id="{67F1B8FE-E275-4B4F-8EC5-A272AA3A0D0E}"/>
              </a:ext>
            </a:extLst>
          </p:cNvPr>
          <p:cNvSpPr/>
          <p:nvPr/>
        </p:nvSpPr>
        <p:spPr>
          <a:xfrm>
            <a:off x="9095328" y="3698700"/>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HQ R&amp;D</a:t>
            </a:r>
          </a:p>
        </p:txBody>
      </p:sp>
      <p:cxnSp>
        <p:nvCxnSpPr>
          <p:cNvPr id="88" name="Straight Arrow Connector 87">
            <a:extLst>
              <a:ext uri="{FF2B5EF4-FFF2-40B4-BE49-F238E27FC236}">
                <a16:creationId xmlns:a16="http://schemas.microsoft.com/office/drawing/2014/main" id="{1938498C-816F-4E61-9CA7-375B5168EFF2}"/>
              </a:ext>
            </a:extLst>
          </p:cNvPr>
          <p:cNvCxnSpPr>
            <a:stCxn id="81" idx="3"/>
            <a:endCxn id="87" idx="1"/>
          </p:cNvCxnSpPr>
          <p:nvPr/>
        </p:nvCxnSpPr>
        <p:spPr bwMode="auto">
          <a:xfrm>
            <a:off x="8901373" y="3896657"/>
            <a:ext cx="193955"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9614912F-ED54-4E11-8172-5D2E5AECB661}"/>
              </a:ext>
            </a:extLst>
          </p:cNvPr>
          <p:cNvCxnSpPr>
            <a:stCxn id="71" idx="3"/>
            <a:endCxn id="73" idx="1"/>
          </p:cNvCxnSpPr>
          <p:nvPr/>
        </p:nvCxnSpPr>
        <p:spPr bwMode="auto">
          <a:xfrm>
            <a:off x="2906129" y="3896657"/>
            <a:ext cx="70510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26651EDC-BC53-4F29-A438-9CCB88853252}"/>
              </a:ext>
            </a:extLst>
          </p:cNvPr>
          <p:cNvCxnSpPr>
            <a:stCxn id="73" idx="3"/>
            <a:endCxn id="78" idx="1"/>
          </p:cNvCxnSpPr>
          <p:nvPr/>
        </p:nvCxnSpPr>
        <p:spPr bwMode="auto">
          <a:xfrm flipV="1">
            <a:off x="4794713" y="3896656"/>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Tree>
    <p:extLst>
      <p:ext uri="{BB962C8B-B14F-4D97-AF65-F5344CB8AC3E}">
        <p14:creationId xmlns:p14="http://schemas.microsoft.com/office/powerpoint/2010/main" val="173838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58C813-0DB8-4A39-A4D8-BBFF0639DBF9}"/>
              </a:ext>
            </a:extLst>
          </p:cNvPr>
          <p:cNvPicPr>
            <a:picLocks noChangeAspect="1"/>
          </p:cNvPicPr>
          <p:nvPr/>
        </p:nvPicPr>
        <p:blipFill>
          <a:blip r:embed="rId3"/>
          <a:stretch>
            <a:fillRect/>
          </a:stretch>
        </p:blipFill>
        <p:spPr>
          <a:xfrm>
            <a:off x="7344886" y="1969261"/>
            <a:ext cx="2257810" cy="1509767"/>
          </a:xfrm>
          <a:prstGeom prst="rect">
            <a:avLst/>
          </a:prstGeom>
        </p:spPr>
      </p:pic>
      <p:cxnSp>
        <p:nvCxnSpPr>
          <p:cNvPr id="6" name="Straight Arrow Connector 5">
            <a:extLst>
              <a:ext uri="{FF2B5EF4-FFF2-40B4-BE49-F238E27FC236}">
                <a16:creationId xmlns:a16="http://schemas.microsoft.com/office/drawing/2014/main" id="{1CF9D283-0BE3-4211-9C24-96F49A398B87}"/>
              </a:ext>
            </a:extLst>
          </p:cNvPr>
          <p:cNvCxnSpPr>
            <a:cxnSpLocks/>
          </p:cNvCxnSpPr>
          <p:nvPr/>
        </p:nvCxnSpPr>
        <p:spPr bwMode="auto">
          <a:xfrm>
            <a:off x="461814" y="3962400"/>
            <a:ext cx="2788042" cy="0"/>
          </a:xfrm>
          <a:prstGeom prst="straightConnector1">
            <a:avLst/>
          </a:prstGeom>
          <a:noFill/>
          <a:ln w="9525" cap="flat" cmpd="sng" algn="ctr">
            <a:solidFill>
              <a:schemeClr val="tx1"/>
            </a:solidFill>
            <a:prstDash val="solid"/>
            <a:round/>
            <a:headEnd type="triangle"/>
            <a:tailEnd type="triangle"/>
          </a:ln>
          <a:effectLst/>
        </p:spPr>
      </p:cxnSp>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1.3 Define Project Y</a:t>
            </a:r>
            <a:endParaRPr lang="ko-KR" altLang="en-US" sz="1600" b="1" kern="0" dirty="0">
              <a:latin typeface="Arial Narrow" panose="020B0606020202030204" pitchFamily="34" charset="0"/>
              <a:ea typeface="LG스마트체 Regular" panose="020B0600000101010101" pitchFamily="50" charset="-127"/>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0"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05 / 28</a:t>
            </a:r>
          </a:p>
          <a:p>
            <a:pPr algn="ctr" eaLnBrk="1" latinLnBrk="0"/>
            <a:endParaRPr lang="ko-KR" altLang="en-US" sz="1200" dirty="0">
              <a:solidFill>
                <a:prstClr val="black">
                  <a:tint val="75000"/>
                </a:prstClr>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 name="Rectangle 1">
            <a:extLst>
              <a:ext uri="{FF2B5EF4-FFF2-40B4-BE49-F238E27FC236}">
                <a16:creationId xmlns:a16="http://schemas.microsoft.com/office/drawing/2014/main" id="{CB35B87B-F8D3-4412-A631-FE92C5556A7C}"/>
              </a:ext>
            </a:extLst>
          </p:cNvPr>
          <p:cNvSpPr/>
          <p:nvPr/>
        </p:nvSpPr>
        <p:spPr>
          <a:xfrm>
            <a:off x="207432" y="686965"/>
            <a:ext cx="8284633" cy="276999"/>
          </a:xfrm>
          <a:prstGeom prst="rect">
            <a:avLst/>
          </a:prstGeom>
        </p:spPr>
        <p:txBody>
          <a:bodyPr wrap="square">
            <a:spAutoFit/>
          </a:bodyPr>
          <a:lstStyle/>
          <a:p>
            <a:pPr eaLnBrk="1" latinLnBrk="0"/>
            <a:r>
              <a:rPr lang="en-US" sz="1000" dirty="0">
                <a:latin typeface="Arial" panose="020B0600000101010101" pitchFamily="34" charset="-127"/>
                <a:ea typeface="Arial" panose="020B0600000101010101" pitchFamily="34" charset="-127"/>
                <a:cs typeface="Arial" panose="020B0604020202020204" pitchFamily="34" charset="0"/>
              </a:rPr>
              <a:t>To reduce the Luminance test NG, Project Y is defined as “Luminance value”.</a:t>
            </a:r>
          </a:p>
        </p:txBody>
      </p:sp>
      <p:sp>
        <p:nvSpPr>
          <p:cNvPr id="19" name="Rectangle 18">
            <a:extLst>
              <a:ext uri="{FF2B5EF4-FFF2-40B4-BE49-F238E27FC236}">
                <a16:creationId xmlns:a16="http://schemas.microsoft.com/office/drawing/2014/main" id="{242EAB6C-D76B-40D5-8D75-24A6F062710A}"/>
              </a:ext>
            </a:extLst>
          </p:cNvPr>
          <p:cNvSpPr/>
          <p:nvPr/>
        </p:nvSpPr>
        <p:spPr>
          <a:xfrm>
            <a:off x="1828804" y="1179270"/>
            <a:ext cx="1654229" cy="276999"/>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What is Luminance ?</a:t>
            </a:r>
          </a:p>
        </p:txBody>
      </p:sp>
      <p:sp>
        <p:nvSpPr>
          <p:cNvPr id="20" name="Rectangle 19">
            <a:extLst>
              <a:ext uri="{FF2B5EF4-FFF2-40B4-BE49-F238E27FC236}">
                <a16:creationId xmlns:a16="http://schemas.microsoft.com/office/drawing/2014/main" id="{D405AB4F-F26F-45A9-8F7F-C5783CC870BF}"/>
              </a:ext>
            </a:extLst>
          </p:cNvPr>
          <p:cNvSpPr/>
          <p:nvPr/>
        </p:nvSpPr>
        <p:spPr>
          <a:xfrm>
            <a:off x="7095071" y="1179270"/>
            <a:ext cx="982125" cy="276998"/>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Project Y</a:t>
            </a:r>
          </a:p>
        </p:txBody>
      </p:sp>
      <p:sp>
        <p:nvSpPr>
          <p:cNvPr id="27" name="Rectangle 26">
            <a:extLst>
              <a:ext uri="{FF2B5EF4-FFF2-40B4-BE49-F238E27FC236}">
                <a16:creationId xmlns:a16="http://schemas.microsoft.com/office/drawing/2014/main" id="{E1F16C62-F577-40B3-8AB6-3B7E6758EDA6}"/>
              </a:ext>
            </a:extLst>
          </p:cNvPr>
          <p:cNvSpPr/>
          <p:nvPr/>
        </p:nvSpPr>
        <p:spPr>
          <a:xfrm>
            <a:off x="283394" y="1665339"/>
            <a:ext cx="4606191" cy="1277273"/>
          </a:xfrm>
          <a:prstGeom prst="rect">
            <a:avLst/>
          </a:prstGeom>
        </p:spPr>
        <p:txBody>
          <a:bodyPr wrap="square">
            <a:spAutoFit/>
          </a:bodyPr>
          <a:lstStyle/>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a photometric quantity used for light sources and displays such as LCDs.</a:t>
            </a:r>
          </a:p>
          <a:p>
            <a:pPr eaLnBrk="1" latinLnBrk="0"/>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 xml:space="preserve">Luminance is the luminous intensity per unit area emitted by a surface in a given direction (unit: cd/m², also called nit) </a:t>
            </a:r>
          </a:p>
          <a:p>
            <a:pPr eaLnBrk="1" latinLnBrk="0"/>
            <a:r>
              <a:rPr lang="en-US" sz="1000" dirty="0">
                <a:latin typeface="Arial" panose="020B0600000101010101" pitchFamily="34" charset="-127"/>
                <a:ea typeface="Arial" panose="020B0600000101010101" pitchFamily="34" charset="-127"/>
                <a:cs typeface="Arial" panose="020B0604020202020204" pitchFamily="34" charset="0"/>
              </a:rPr>
              <a:t xml:space="preserve">    It quantifies the brightness level of the display.</a:t>
            </a:r>
          </a:p>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61" name="Rectangle 60">
            <a:extLst>
              <a:ext uri="{FF2B5EF4-FFF2-40B4-BE49-F238E27FC236}">
                <a16:creationId xmlns:a16="http://schemas.microsoft.com/office/drawing/2014/main" id="{D96E2486-3128-4120-9217-9F837F3982C6}"/>
              </a:ext>
            </a:extLst>
          </p:cNvPr>
          <p:cNvSpPr/>
          <p:nvPr/>
        </p:nvSpPr>
        <p:spPr>
          <a:xfrm>
            <a:off x="5169435" y="1660181"/>
            <a:ext cx="4472313" cy="430887"/>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Project Y: “Luminance value” of the Porsche CID J1 Dual model.</a:t>
            </a:r>
          </a:p>
        </p:txBody>
      </p:sp>
      <p:sp>
        <p:nvSpPr>
          <p:cNvPr id="118" name="Rectangle 117">
            <a:extLst>
              <a:ext uri="{FF2B5EF4-FFF2-40B4-BE49-F238E27FC236}">
                <a16:creationId xmlns:a16="http://schemas.microsoft.com/office/drawing/2014/main" id="{191C40F2-5603-4149-B4BA-529994C06C94}"/>
              </a:ext>
            </a:extLst>
          </p:cNvPr>
          <p:cNvSpPr/>
          <p:nvPr/>
        </p:nvSpPr>
        <p:spPr bwMode="auto">
          <a:xfrm>
            <a:off x="63500" y="1557871"/>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20" name="Rectangle 119">
            <a:extLst>
              <a:ext uri="{FF2B5EF4-FFF2-40B4-BE49-F238E27FC236}">
                <a16:creationId xmlns:a16="http://schemas.microsoft.com/office/drawing/2014/main" id="{100A0EA0-F5A9-436D-9D0E-8A7F23604522}"/>
              </a:ext>
            </a:extLst>
          </p:cNvPr>
          <p:cNvSpPr/>
          <p:nvPr/>
        </p:nvSpPr>
        <p:spPr bwMode="auto">
          <a:xfrm>
            <a:off x="4953085" y="1557866"/>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grpSp>
        <p:nvGrpSpPr>
          <p:cNvPr id="23" name="Group 22">
            <a:extLst>
              <a:ext uri="{FF2B5EF4-FFF2-40B4-BE49-F238E27FC236}">
                <a16:creationId xmlns:a16="http://schemas.microsoft.com/office/drawing/2014/main" id="{B3510BD3-45E9-4C25-A573-941E65C8BB4E}"/>
              </a:ext>
            </a:extLst>
          </p:cNvPr>
          <p:cNvGrpSpPr/>
          <p:nvPr/>
        </p:nvGrpSpPr>
        <p:grpSpPr>
          <a:xfrm>
            <a:off x="461814" y="2760869"/>
            <a:ext cx="4092785" cy="1430131"/>
            <a:chOff x="2874491" y="438296"/>
            <a:chExt cx="6320086" cy="3164992"/>
          </a:xfrm>
        </p:grpSpPr>
        <p:sp>
          <p:nvSpPr>
            <p:cNvPr id="32" name="Rectangle 31">
              <a:extLst>
                <a:ext uri="{FF2B5EF4-FFF2-40B4-BE49-F238E27FC236}">
                  <a16:creationId xmlns:a16="http://schemas.microsoft.com/office/drawing/2014/main" id="{D39F5129-BAF6-46F3-A235-D0CF5CD6BD42}"/>
                </a:ext>
              </a:extLst>
            </p:cNvPr>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3" name="Rectangle 32">
              <a:extLst>
                <a:ext uri="{FF2B5EF4-FFF2-40B4-BE49-F238E27FC236}">
                  <a16:creationId xmlns:a16="http://schemas.microsoft.com/office/drawing/2014/main" id="{67C9F4A3-9565-4093-84E6-8D3A1DD83121}"/>
                </a:ext>
              </a:extLst>
            </p:cNvPr>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0000101010101" pitchFamily="34" charset="-127"/>
                  <a:ea typeface="Arial" panose="020B0600000101010101" pitchFamily="34" charset="-127"/>
                </a:rPr>
                <a:t>+</a:t>
              </a:r>
            </a:p>
          </p:txBody>
        </p:sp>
        <p:cxnSp>
          <p:nvCxnSpPr>
            <p:cNvPr id="34" name="Straight Connector 33">
              <a:extLst>
                <a:ext uri="{FF2B5EF4-FFF2-40B4-BE49-F238E27FC236}">
                  <a16:creationId xmlns:a16="http://schemas.microsoft.com/office/drawing/2014/main" id="{9828F0AD-5A19-4D73-BB8A-65B8CDAD978F}"/>
                </a:ext>
              </a:extLst>
            </p:cNvPr>
            <p:cNvCxnSpPr>
              <a:stCxn id="33" idx="0"/>
              <a:endCxn id="32"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564BEA-F1BC-4357-9354-0C15C28CF1A0}"/>
                </a:ext>
              </a:extLst>
            </p:cNvPr>
            <p:cNvCxnSpPr>
              <a:stCxn id="37"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4767A0C-8332-4F58-BE3F-9B731132E6BA}"/>
                </a:ext>
              </a:extLst>
            </p:cNvPr>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7" name="Rectangle 36">
              <a:extLst>
                <a:ext uri="{FF2B5EF4-FFF2-40B4-BE49-F238E27FC236}">
                  <a16:creationId xmlns:a16="http://schemas.microsoft.com/office/drawing/2014/main" id="{56B4BDCF-6360-4CDC-B5A9-CF549A2654F6}"/>
                </a:ext>
              </a:extLst>
            </p:cNvPr>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8" name="TextBox 37">
              <a:extLst>
                <a:ext uri="{FF2B5EF4-FFF2-40B4-BE49-F238E27FC236}">
                  <a16:creationId xmlns:a16="http://schemas.microsoft.com/office/drawing/2014/main" id="{D1EA06A3-30E7-4165-AE11-51957BBD9466}"/>
                </a:ext>
              </a:extLst>
            </p:cNvPr>
            <p:cNvSpPr txBox="1"/>
            <p:nvPr/>
          </p:nvSpPr>
          <p:spPr>
            <a:xfrm>
              <a:off x="3592976" y="2795782"/>
              <a:ext cx="831445" cy="613020"/>
            </a:xfrm>
            <a:prstGeom prst="rect">
              <a:avLst/>
            </a:prstGeom>
            <a:noFill/>
          </p:spPr>
          <p:txBody>
            <a:bodyPr wrap="square" rtlCol="0">
              <a:spAutoFit/>
            </a:bodyPr>
            <a:lstStyle/>
            <a:p>
              <a:pPr algn="ctr"/>
              <a:r>
                <a:rPr lang="en-US" sz="600" dirty="0">
                  <a:latin typeface="Arial" panose="020B0600000101010101" pitchFamily="34" charset="-127"/>
                  <a:ea typeface="Arial" panose="020B0600000101010101" pitchFamily="34" charset="-127"/>
                </a:rPr>
                <a:t>Camera</a:t>
              </a:r>
            </a:p>
            <a:p>
              <a:pPr algn="ctr"/>
              <a:r>
                <a:rPr lang="en-US" sz="600" dirty="0">
                  <a:latin typeface="Arial" panose="020B0600000101010101" pitchFamily="34" charset="-127"/>
                  <a:ea typeface="Arial" panose="020B0600000101010101" pitchFamily="34" charset="-127"/>
                </a:rPr>
                <a:t>CS2000</a:t>
              </a:r>
            </a:p>
          </p:txBody>
        </p:sp>
        <p:sp>
          <p:nvSpPr>
            <p:cNvPr id="39" name="TextBox 38">
              <a:extLst>
                <a:ext uri="{FF2B5EF4-FFF2-40B4-BE49-F238E27FC236}">
                  <a16:creationId xmlns:a16="http://schemas.microsoft.com/office/drawing/2014/main" id="{9C1C1BAD-EBC5-4492-96B1-BDA3AF775ABC}"/>
                </a:ext>
              </a:extLst>
            </p:cNvPr>
            <p:cNvSpPr txBox="1"/>
            <p:nvPr/>
          </p:nvSpPr>
          <p:spPr>
            <a:xfrm>
              <a:off x="3742627" y="438296"/>
              <a:ext cx="55992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PID</a:t>
              </a:r>
            </a:p>
          </p:txBody>
        </p:sp>
        <p:sp>
          <p:nvSpPr>
            <p:cNvPr id="40" name="TextBox 39">
              <a:extLst>
                <a:ext uri="{FF2B5EF4-FFF2-40B4-BE49-F238E27FC236}">
                  <a16:creationId xmlns:a16="http://schemas.microsoft.com/office/drawing/2014/main" id="{E22AE40D-F801-4C4A-9EF9-F9D2A39F3647}"/>
                </a:ext>
              </a:extLst>
            </p:cNvPr>
            <p:cNvSpPr txBox="1"/>
            <p:nvPr/>
          </p:nvSpPr>
          <p:spPr>
            <a:xfrm>
              <a:off x="5819778" y="438296"/>
              <a:ext cx="56487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CID</a:t>
              </a:r>
            </a:p>
          </p:txBody>
        </p:sp>
        <p:sp>
          <p:nvSpPr>
            <p:cNvPr id="45" name="TextBox 44">
              <a:extLst>
                <a:ext uri="{FF2B5EF4-FFF2-40B4-BE49-F238E27FC236}">
                  <a16:creationId xmlns:a16="http://schemas.microsoft.com/office/drawing/2014/main" id="{12BE85C0-15EE-41DE-B564-360A2B3B0D71}"/>
                </a:ext>
              </a:extLst>
            </p:cNvPr>
            <p:cNvSpPr txBox="1"/>
            <p:nvPr/>
          </p:nvSpPr>
          <p:spPr>
            <a:xfrm>
              <a:off x="7250924" y="1094159"/>
              <a:ext cx="1943653"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J1 Dual PPR RHD set</a:t>
              </a:r>
            </a:p>
          </p:txBody>
        </p:sp>
      </p:grpSp>
      <p:sp>
        <p:nvSpPr>
          <p:cNvPr id="47" name="Rectangle 46">
            <a:extLst>
              <a:ext uri="{FF2B5EF4-FFF2-40B4-BE49-F238E27FC236}">
                <a16:creationId xmlns:a16="http://schemas.microsoft.com/office/drawing/2014/main" id="{6F77CA24-93D9-4FB1-B981-DD60FB4D2381}"/>
              </a:ext>
            </a:extLst>
          </p:cNvPr>
          <p:cNvSpPr/>
          <p:nvPr/>
        </p:nvSpPr>
        <p:spPr>
          <a:xfrm>
            <a:off x="256209" y="4508325"/>
            <a:ext cx="458046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The sensor inside the detector receives the light from the center of the LCD, calculates the luminance value and returns the measurement result to the program.</a:t>
            </a:r>
          </a:p>
        </p:txBody>
      </p:sp>
      <p:sp>
        <p:nvSpPr>
          <p:cNvPr id="48" name="Rectangle 47">
            <a:extLst>
              <a:ext uri="{FF2B5EF4-FFF2-40B4-BE49-F238E27FC236}">
                <a16:creationId xmlns:a16="http://schemas.microsoft.com/office/drawing/2014/main" id="{A6E5C9F6-7913-475A-85E1-43C17ABA4F1D}"/>
              </a:ext>
            </a:extLst>
          </p:cNvPr>
          <p:cNvSpPr/>
          <p:nvPr/>
        </p:nvSpPr>
        <p:spPr>
          <a:xfrm>
            <a:off x="256208" y="5267236"/>
            <a:ext cx="472015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Issue: The luminance measured on the PID screen is lower than the average of the compared values, so the luminance test result falls below the spec.</a:t>
            </a:r>
          </a:p>
        </p:txBody>
      </p:sp>
      <p:grpSp>
        <p:nvGrpSpPr>
          <p:cNvPr id="9" name="Group 8">
            <a:extLst>
              <a:ext uri="{FF2B5EF4-FFF2-40B4-BE49-F238E27FC236}">
                <a16:creationId xmlns:a16="http://schemas.microsoft.com/office/drawing/2014/main" id="{D70DAEF3-BCAB-4209-A697-FA691623BE35}"/>
              </a:ext>
            </a:extLst>
          </p:cNvPr>
          <p:cNvGrpSpPr/>
          <p:nvPr/>
        </p:nvGrpSpPr>
        <p:grpSpPr>
          <a:xfrm>
            <a:off x="5059910" y="4454756"/>
            <a:ext cx="4845498" cy="2026116"/>
            <a:chOff x="5057775" y="4374684"/>
            <a:chExt cx="4673065" cy="2026116"/>
          </a:xfrm>
        </p:grpSpPr>
        <p:sp>
          <p:nvSpPr>
            <p:cNvPr id="25" name="Rectangle 24">
              <a:extLst>
                <a:ext uri="{FF2B5EF4-FFF2-40B4-BE49-F238E27FC236}">
                  <a16:creationId xmlns:a16="http://schemas.microsoft.com/office/drawing/2014/main" id="{19DBA1ED-3148-49D7-A167-BF35898176B1}"/>
                </a:ext>
              </a:extLst>
            </p:cNvPr>
            <p:cNvSpPr/>
            <p:nvPr/>
          </p:nvSpPr>
          <p:spPr>
            <a:xfrm>
              <a:off x="5057775" y="6139190"/>
              <a:ext cx="4472313" cy="261610"/>
            </a:xfrm>
            <a:prstGeom prst="rect">
              <a:avLst/>
            </a:prstGeom>
          </p:spPr>
          <p:txBody>
            <a:bodyPr wrap="square">
              <a:spAutoFit/>
            </a:bodyPr>
            <a:lstStyle/>
            <a:p>
              <a:pPr marL="171450" indent="-171450">
                <a:buFont typeface="Arial" panose="020B0604020202020204" pitchFamily="34" charset="0"/>
                <a:buChar char="•"/>
              </a:pPr>
              <a:r>
                <a:rPr lang="en-US" sz="1100" b="1" dirty="0">
                  <a:latin typeface="Arial" panose="020B0600000101010101" pitchFamily="34" charset="-127"/>
                  <a:ea typeface="Arial" panose="020B0600000101010101" pitchFamily="34" charset="-127"/>
                  <a:cs typeface="Arial" panose="020B0604020202020204" pitchFamily="34" charset="0"/>
                </a:rPr>
                <a:t xml:space="preserve">Project Y= Luminance value = f(x1, x2, …, xn) + ε</a:t>
              </a:r>
            </a:p>
          </p:txBody>
        </p:sp>
        <p:sp>
          <p:nvSpPr>
            <p:cNvPr id="49" name="Rectangle 48">
              <a:extLst>
                <a:ext uri="{FF2B5EF4-FFF2-40B4-BE49-F238E27FC236}">
                  <a16:creationId xmlns:a16="http://schemas.microsoft.com/office/drawing/2014/main" id="{FE2864A1-6435-4223-BFD7-661C15F6E3E5}"/>
                </a:ext>
              </a:extLst>
            </p:cNvPr>
            <p:cNvSpPr/>
            <p:nvPr/>
          </p:nvSpPr>
          <p:spPr>
            <a:xfrm>
              <a:off x="5057775" y="4374684"/>
              <a:ext cx="4673065" cy="1785104"/>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Measurement method:</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set is connected to the test bench; when the program sends the request, the display shows the highest brightness level.</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J1 display shows a white screen at maximum brightness.</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CS2000 detector moves to the center of the PID LCD, recognizes the center of the display and measures the luminance.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 xml:space="preserve">Because the center always has higher brightness than the corner and edges, the detector must be placed exactly at the center.</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result is recorded and sent back to the program.</a:t>
              </a:r>
            </a:p>
          </p:txBody>
        </p:sp>
      </p:grpSp>
      <p:sp xmlns:a14="http://schemas.microsoft.com/office/drawing/2010/main">
        <p:nvSpPr>
          <p:cNvPr id="8" name="Rectangle 7">
            <a:extLst>
              <a:ext uri="{FF2B5EF4-FFF2-40B4-BE49-F238E27FC236}">
                <a16:creationId xmlns:a16="http://schemas.microsoft.com/office/drawing/2014/main" id="{F5DF5708-2DFB-4E65-8558-59C7418E7751}"/>
              </a:ext>
            </a:extLst>
          </p:cNvPr>
          <p:cNvSpPr/>
          <p:nvPr/>
        </p:nvSpPr>
        <p:spPr>
          <a:xfrm>
            <a:off x="5161251" y="2277557"/>
            <a:ext cx="4673065" cy="2177199"/>
          </a:xfrm>
          <a:prstGeom prst="rect">
            <a:avLst/>
          </a:prstGeom>
        </p:spPr>
        <p:txBody>
          <a:bodyPr wrap="square">
            <a:spAutoFit/>
          </a:bodyPr>
          <a:lstStyle/>
          <a:p>
            <a:r>
              <a:rPr lang="en-US" sz="1100" dirty="0">
                <a:latin typeface="LG Smart_H Regular" panose="020B0600000101010101" pitchFamily="34" charset="-127"/>
                <a:ea typeface="LG Smart_H Regular" panose="020B0600000101010101" pitchFamily="34" charset="-127"/>
                <a:cs typeface="Arial" panose="020B0604020202020204" pitchFamily="34" charset="0"/>
              </a:rPr>
              <a:t>Luminance formula:</a:t>
            </a:r>
          </a:p>
          <a:p>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L = d²Φ / (dA · dω · cos θ)</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r>
              <a:rPr lang="en-US" sz="1100" dirty="0">
                <a:latin typeface="LG Smart_H Regular" panose="020B0600000101010101" pitchFamily="34" charset="-127"/>
                <a:ea typeface="LG Smart_H Regular" panose="020B0600000101010101" pitchFamily="34" charset="-127"/>
                <a:cs typeface="Arial" panose="020B0604020202020204" pitchFamily="34" charset="0"/>
              </a:rPr>
              <a:t>Spec: 800-2000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cd/m</a:t>
            </a:r>
            <a:r>
              <a:rPr lang="en-US" sz="1100" i="1" baseline="30000" dirty="0">
                <a:latin typeface="LG Smart_H Regular" panose="020B0600000101010101" pitchFamily="34" charset="-127"/>
                <a:ea typeface="LG Smart_H Regular" panose="020B0600000101010101" pitchFamily="34" charset="-127"/>
                <a:cs typeface="Arial" panose="020B0604020202020204" pitchFamily="34" charset="0"/>
              </a:rPr>
              <a:t>2</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spcBef>
                <a:spcPts val="1400"/>
              </a:spcBef>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d²Φ stands for the luminous flux in lumens (lm)</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θ stands for the angle between the surface normal of the display and the sight line of the detector, in this case θ = 0°</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dA stands for the differential area in square meters (m²)</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dω stands for the differential solid angle in steradians (sr)</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Tree>
    <p:extLst>
      <p:ext uri="{BB962C8B-B14F-4D97-AF65-F5344CB8AC3E}">
        <p14:creationId xmlns:p14="http://schemas.microsoft.com/office/powerpoint/2010/main" val="311884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8464" y="1031890"/>
            <a:ext cx="3612264" cy="2123658"/>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Equipment information:</a:t>
            </a:r>
          </a:p>
          <a:p>
            <a:pPr eaLnBrk="1" latinLnBrk="0"/>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285750" indent="-285750" eaLnBrk="1" latinLnBrk="0">
              <a:buFont typeface="Arial" panose="020B0604020202020204" pitchFamily="34" charset="0"/>
              <a:buChar char="•"/>
            </a:pPr>
            <a:r>
              <a:rPr lang="en-US" altLang="ko-KR" sz="1000" dirty="0">
                <a:latin typeface="Arial" panose="020B0604020202020204" pitchFamily="34" charset="0"/>
                <a:ea typeface="Arial Unicode MS" panose="020B0604020202020204" pitchFamily="34" charset="-128"/>
                <a:cs typeface="Arial" panose="020B0604020202020204" pitchFamily="34" charset="0"/>
              </a:rPr>
              <a:t>Equipment: </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Power supply, Pallet</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CID bench</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CANSIM</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xml:space="preserve">	- Camera CS2000 (spectroradiometer)</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Resolution: 0.01 Cd/m</a:t>
            </a:r>
            <a:r>
              <a:rPr lang="en-US" altLang="ko-KR" sz="1000" baseline="30000" dirty="0">
                <a:latin typeface="Arial" panose="020B0604020202020204" pitchFamily="34" charset="0"/>
                <a:ea typeface="Arial Unicode MS" panose="020B0604020202020204" pitchFamily="34" charset="-128"/>
                <a:cs typeface="Arial" panose="020B0604020202020204" pitchFamily="34" charset="0"/>
              </a:rPr>
              <a:t>2</a:t>
            </a:r>
            <a:r>
              <a:rPr lang="en-US" altLang="ko-KR" sz="1000" dirty="0">
                <a:latin typeface="Arial" panose="020B0604020202020204" pitchFamily="34" charset="0"/>
                <a:ea typeface="Arial Unicode MS" panose="020B0604020202020204" pitchFamily="34" charset="-128"/>
                <a:cs typeface="Arial" panose="020B0604020202020204" pitchFamily="34" charset="0"/>
              </a:rPr>
              <a:t>		</a:t>
            </a:r>
          </a:p>
          <a:p>
            <a:pPr marL="285750" indent="-285750" eaLnBrk="1" latinLnBrk="0">
              <a:buFont typeface="Arial" panose="020B0604020202020204" pitchFamily="34" charset="0"/>
              <a:buChar char="•"/>
            </a:pPr>
            <a:r>
              <a:rPr lang="en-US" sz="1000" dirty="0">
                <a:solidFill>
                  <a:srgbClr val="000000"/>
                </a:solidFill>
                <a:latin typeface="Arial" panose="020B0604020202020204" pitchFamily="34" charset="0"/>
                <a:ea typeface="Arial Unicode MS" panose="020B0604020202020204" pitchFamily="34" charset="-128"/>
                <a:cs typeface="Arial" panose="020B0604020202020204" pitchFamily="34" charset="0"/>
              </a:rPr>
              <a:t>Program: LG Moohantech</a:t>
            </a:r>
          </a:p>
          <a:p>
            <a:pPr eaLnBrk="1" latinLnBrk="0"/>
            <a:endParaRPr lang="en-US" sz="1200" dirty="0">
              <a:solidFill>
                <a:srgbClr val="000000"/>
              </a:solidFill>
              <a:latin typeface="Arial" panose="020B0604020202020204" pitchFamily="34" charset="0"/>
              <a:ea typeface="Arial Unicode MS" panose="020B0604020202020204" pitchFamily="34" charset="-128"/>
              <a:cs typeface="Arial" panose="020B0604020202020204" pitchFamily="34" charset="0"/>
            </a:endParaRPr>
          </a:p>
        </p:txBody>
      </p:sp>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23E752-56C7-4841-8742-6226DE8F5A23}"/>
              </a:ext>
            </a:extLst>
          </p:cNvPr>
          <p:cNvSpPr txBox="1"/>
          <p:nvPr/>
        </p:nvSpPr>
        <p:spPr>
          <a:xfrm>
            <a:off x="128464" y="3473398"/>
            <a:ext cx="3671999" cy="2031325"/>
          </a:xfrm>
          <a:prstGeom prst="rect">
            <a:avLst/>
          </a:prstGeom>
          <a:noFill/>
        </p:spPr>
        <p:txBody>
          <a:bodyPr wrap="square" rtlCol="0" anchor="t">
            <a:no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Function test Luminance station</a:t>
            </a:r>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brightness level</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Detect and measure Luminance value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Test set without CAN mode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CID black / white patterns</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Calculate contrast ratio</a:t>
            </a:r>
          </a:p>
          <a:p>
            <a:pPr marL="285750" indent="-285750" eaLnBrk="1" latinLnBrk="0">
              <a:buFont typeface="Arial" panose="020B0604020202020204" pitchFamily="34" charset="0"/>
              <a:buChar char="•"/>
            </a:pPr>
            <a:endParaRPr kumimoji="0" lang="ja-JP" altLang="ja-JP" sz="1200" dirty="0">
              <a:latin typeface="Arial" panose="020B0604020202020204" pitchFamily="34" charset="0"/>
              <a:ea typeface="Arial Unicode MS" panose="020B0604020202020204" pitchFamily="34" charset="-128"/>
              <a:cs typeface="Arial" panose="020B0604020202020204" pitchFamily="34" charset="0"/>
            </a:endParaRPr>
          </a:p>
          <a:p>
            <a:pPr eaLnBrk="1" latinLnBrk="0"/>
            <a:endParaRPr lang="ko-KR" altLang="en-US"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5334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1 Preparation of Gage R&amp;R</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pic>
        <p:nvPicPr>
          <p:cNvPr id="26" name="Picture 25">
            <a:extLst>
              <a:ext uri="{FF2B5EF4-FFF2-40B4-BE49-F238E27FC236}">
                <a16:creationId xmlns:a16="http://schemas.microsoft.com/office/drawing/2014/main" id="{B7318AFB-3E4E-4F2D-9F27-68979D22E268}"/>
              </a:ext>
            </a:extLst>
          </p:cNvPr>
          <p:cNvPicPr>
            <a:picLocks noChangeAspect="1"/>
          </p:cNvPicPr>
          <p:nvPr/>
        </p:nvPicPr>
        <p:blipFill>
          <a:blip r:embed="rId3"/>
          <a:stretch>
            <a:fillRect/>
          </a:stretch>
        </p:blipFill>
        <p:spPr>
          <a:xfrm>
            <a:off x="6255430" y="4354954"/>
            <a:ext cx="1694969" cy="1694969"/>
          </a:xfrm>
          <a:prstGeom prst="rect">
            <a:avLst/>
          </a:prstGeom>
        </p:spPr>
      </p:pic>
      <p:sp>
        <p:nvSpPr>
          <p:cNvPr id="27" name="TextBox 26">
            <a:extLst>
              <a:ext uri="{FF2B5EF4-FFF2-40B4-BE49-F238E27FC236}">
                <a16:creationId xmlns:a16="http://schemas.microsoft.com/office/drawing/2014/main" id="{1F23290D-FFCC-4467-B33A-7BFD68762FF8}"/>
              </a:ext>
            </a:extLst>
          </p:cNvPr>
          <p:cNvSpPr txBox="1"/>
          <p:nvPr/>
        </p:nvSpPr>
        <p:spPr>
          <a:xfrm>
            <a:off x="6104699" y="6049923"/>
            <a:ext cx="188765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xml:space="preserve">Camera CS2000 (spectroradiometer)</a:t>
            </a:r>
          </a:p>
        </p:txBody>
      </p:sp>
      <p:sp>
        <p:nvSpPr>
          <p:cNvPr id="30" name="TextBox 29">
            <a:extLst>
              <a:ext uri="{FF2B5EF4-FFF2-40B4-BE49-F238E27FC236}">
                <a16:creationId xmlns:a16="http://schemas.microsoft.com/office/drawing/2014/main" id="{D6DA2A8A-8142-4788-BCA7-5A9926BF1C45}"/>
              </a:ext>
            </a:extLst>
          </p:cNvPr>
          <p:cNvSpPr txBox="1"/>
          <p:nvPr/>
        </p:nvSpPr>
        <p:spPr>
          <a:xfrm>
            <a:off x="3863179" y="3656060"/>
            <a:ext cx="202034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xml:space="preserve">Luminance station diagram</a:t>
            </a:r>
          </a:p>
        </p:txBody>
      </p:sp>
      <p:grpSp>
        <p:nvGrpSpPr>
          <p:cNvPr id="5" name="Group 4">
            <a:extLst>
              <a:ext uri="{FF2B5EF4-FFF2-40B4-BE49-F238E27FC236}">
                <a16:creationId xmlns:a16="http://schemas.microsoft.com/office/drawing/2014/main" id="{050F06E4-0F81-4918-87F9-CB372E4F5864}"/>
              </a:ext>
            </a:extLst>
          </p:cNvPr>
          <p:cNvGrpSpPr/>
          <p:nvPr/>
        </p:nvGrpSpPr>
        <p:grpSpPr>
          <a:xfrm>
            <a:off x="4024176" y="1580371"/>
            <a:ext cx="5845556" cy="2034838"/>
            <a:chOff x="4024176" y="1580371"/>
            <a:chExt cx="5845556" cy="2034838"/>
          </a:xfrm>
        </p:grpSpPr>
        <p:pic>
          <p:nvPicPr>
            <p:cNvPr id="2" name="Picture 1">
              <a:extLst>
                <a:ext uri="{FF2B5EF4-FFF2-40B4-BE49-F238E27FC236}">
                  <a16:creationId xmlns:a16="http://schemas.microsoft.com/office/drawing/2014/main" id="{FB6C22B7-D86A-457E-97D6-DC13E71AED19}"/>
                </a:ext>
              </a:extLst>
            </p:cNvPr>
            <p:cNvPicPr>
              <a:picLocks noChangeAspect="1"/>
            </p:cNvPicPr>
            <p:nvPr/>
          </p:nvPicPr>
          <p:blipFill>
            <a:blip r:embed="rId4"/>
            <a:stretch>
              <a:fillRect/>
            </a:stretch>
          </p:blipFill>
          <p:spPr>
            <a:xfrm>
              <a:off x="4024176" y="1580371"/>
              <a:ext cx="5819775" cy="2034838"/>
            </a:xfrm>
            <a:prstGeom prst="rect">
              <a:avLst/>
            </a:prstGeom>
          </p:spPr>
        </p:pic>
        <p:pic>
          <p:nvPicPr>
            <p:cNvPr id="3" name="Picture 2">
              <a:extLst>
                <a:ext uri="{FF2B5EF4-FFF2-40B4-BE49-F238E27FC236}">
                  <a16:creationId xmlns:a16="http://schemas.microsoft.com/office/drawing/2014/main" id="{9BF84F16-1BE4-4851-BE3B-8C427D42DF8C}"/>
                </a:ext>
              </a:extLst>
            </p:cNvPr>
            <p:cNvPicPr>
              <a:picLocks noChangeAspect="1"/>
            </p:cNvPicPr>
            <p:nvPr/>
          </p:nvPicPr>
          <p:blipFill>
            <a:blip r:embed="rId5"/>
            <a:stretch>
              <a:fillRect/>
            </a:stretch>
          </p:blipFill>
          <p:spPr>
            <a:xfrm>
              <a:off x="8844243" y="2362201"/>
              <a:ext cx="1025489" cy="609599"/>
            </a:xfrm>
            <a:prstGeom prst="rect">
              <a:avLst/>
            </a:prstGeom>
          </p:spPr>
        </p:pic>
      </p:grpSp>
      <p:cxnSp>
        <p:nvCxnSpPr>
          <p:cNvPr id="6" name="Straight Arrow Connector 5">
            <a:extLst>
              <a:ext uri="{FF2B5EF4-FFF2-40B4-BE49-F238E27FC236}">
                <a16:creationId xmlns:a16="http://schemas.microsoft.com/office/drawing/2014/main" id="{D5EFFC24-7EB8-4BF2-8848-23404B7E3518}"/>
              </a:ext>
            </a:extLst>
          </p:cNvPr>
          <p:cNvCxnSpPr>
            <a:cxnSpLocks/>
          </p:cNvCxnSpPr>
          <p:nvPr/>
        </p:nvCxnSpPr>
        <p:spPr bwMode="auto">
          <a:xfrm>
            <a:off x="6934063" y="3656060"/>
            <a:ext cx="0" cy="698894"/>
          </a:xfrm>
          <a:prstGeom prst="straightConnector1">
            <a:avLst/>
          </a:prstGeom>
          <a:noFill/>
          <a:ln w="9525" cap="flat" cmpd="sng" algn="ctr">
            <a:solidFill>
              <a:srgbClr val="C00000"/>
            </a:solidFill>
            <a:prstDash val="solid"/>
            <a:round/>
            <a:headEnd type="none" w="med" len="med"/>
            <a:tailEnd type="triangle"/>
          </a:ln>
          <a:effectLst/>
        </p:spPr>
      </p:cxnSp>
      <p:sp>
        <p:nvSpPr>
          <p:cNvPr id="31" name="Added text 31"/>
          <p:cNvSpPr txBox="1"/>
          <p:nvPr/>
        </p:nvSpPr>
        <p:spPr>
          <a:xfrm>
            <a:off x="123825" y="609600"/>
            <a:ext cx="5905500" cy="381000"/>
          </a:xfrm>
          <a:prstGeom prst="rect">
            <a:avLst/>
          </a:prstGeom>
          <a:noFill/>
        </p:spPr>
        <p:txBody>
          <a:bodyPr wrap="square" lIns="0" tIns="0" rIns="0" bIns="0" rtlCol="0">
            <a:noAutofit/>
          </a:bodyPr>
          <a:lstStyle/>
          <a:p>
            <a:pPr marL="0" indent="0">
              <a:spcAft>
                <a:spcPts val="200"/>
              </a:spcAft>
              <a:buNone/>
            </a:pPr>
            <a:r>
              <a:rPr lang="en-US" sz="1100" b="1" dirty="0">
                <a:solidFill>
                  <a:srgbClr val="000000"/>
                </a:solidFill>
                <a:latin typeface="Arial"/>
                <a:cs typeface="Arial"/>
              </a:rPr>
              <a:t>Model: </a:t>
            </a:r>
            <a:r>
              <a:rPr lang="en-US" sz="1100" b="0" dirty="0">
                <a:solidFill>
                  <a:srgbClr val="000000"/>
                </a:solidFill>
                <a:latin typeface="Arial"/>
                <a:cs typeface="Arial"/>
              </a:rPr>
              <a:t>Porsche CID J1 Dual PPR (PID / CID display set)</a:t>
            </a:r>
          </a:p>
          <a:p>
            <a:pPr marL="0" indent="0">
              <a:spcAft>
                <a:spcPts val="0"/>
              </a:spcAft>
              <a:buNone/>
            </a:pPr>
            <a:r>
              <a:rPr lang="en-US" sz="1100" b="1" dirty="0">
                <a:solidFill>
                  <a:srgbClr val="000000"/>
                </a:solidFill>
                <a:latin typeface="Arial"/>
                <a:cs typeface="Arial"/>
              </a:rPr>
              <a:t>Station: </a:t>
            </a:r>
            <a:r>
              <a:rPr lang="en-US" sz="1100" b="0" dirty="0">
                <a:solidFill>
                  <a:srgbClr val="000000"/>
                </a:solidFill>
                <a:latin typeface="Arial"/>
                <a:cs typeface="Arial"/>
              </a:rPr>
              <a:t>Luminance station (camera CS2000), the station where the Luminance NG occurs</a:t>
            </a:r>
          </a:p>
        </p:txBody>
      </p:sp>
      <p:sp>
        <p:nvSpPr>
          <p:cNvPr id="32" name="Added text 32"/>
          <p:cNvSpPr txBox="1"/>
          <p:nvPr/>
        </p:nvSpPr>
        <p:spPr>
          <a:xfrm>
            <a:off x="123825" y="4876800"/>
            <a:ext cx="3810000" cy="1619250"/>
          </a:xfrm>
          <a:prstGeom prst="rect">
            <a:avLst/>
          </a:prstGeom>
          <a:noFill/>
        </p:spPr>
        <p:txBody>
          <a:bodyPr wrap="square" lIns="0" tIns="0" rIns="0" bIns="0" rtlCol="0">
            <a:noAutofit/>
          </a:bodyPr>
          <a:lstStyle/>
          <a:p>
            <a:pPr marL="0" indent="0">
              <a:spcAft>
                <a:spcPts val="300"/>
              </a:spcAft>
              <a:buNone/>
            </a:pPr>
            <a:r>
              <a:rPr lang="en-US" sz="1100" b="1" dirty="0">
                <a:solidFill>
                  <a:srgbClr val="000000"/>
                </a:solidFill>
                <a:latin typeface="Arial"/>
                <a:cs typeface="Arial"/>
              </a:rPr>
              <a:t>How to get sample (sampling)</a:t>
            </a:r>
          </a:p>
          <a:p>
            <a:pPr marL="171450" indent="-171450">
              <a:spcAft>
                <a:spcPts val="300"/>
              </a:spcAft>
              <a:buFont typeface="Arial"/>
              <a:buChar char="•"/>
            </a:pPr>
            <a:r>
              <a:rPr lang="en-US" sz="1000" b="0" dirty="0">
                <a:solidFill>
                  <a:srgbClr val="000000"/>
                </a:solidFill>
                <a:latin typeface="Arial"/>
                <a:cs typeface="Arial"/>
              </a:rPr>
              <a:t>Type 1: 1 golden sample (reference 910 Cd/m²), measured 30 times.</a:t>
            </a:r>
          </a:p>
          <a:p>
            <a:pPr marL="171450" indent="-171450">
              <a:spcAft>
                <a:spcPts val="300"/>
              </a:spcAft>
              <a:buFont typeface="Arial"/>
              <a:buChar char="•"/>
            </a:pPr>
            <a:r>
              <a:rPr lang="en-US" sz="1000" b="0" dirty="0">
                <a:solidFill>
                  <a:srgbClr val="000000"/>
                </a:solidFill>
                <a:latin typeface="Arial"/>
                <a:cs typeface="Arial"/>
              </a:rPr>
              <a:t>Type 3: 25 samples, each measured 2 times (the station is automatic, no operator influence).</a:t>
            </a:r>
          </a:p>
          <a:p>
            <a:pPr marL="171450" indent="-171450">
              <a:spcAft>
                <a:spcPts val="300"/>
              </a:spcAft>
              <a:buFont typeface="Arial"/>
              <a:buChar char="•"/>
            </a:pPr>
            <a:r>
              <a:rPr lang="en-US" sz="1000" b="0" dirty="0">
                <a:solidFill>
                  <a:srgbClr val="000000"/>
                </a:solidFill>
                <a:latin typeface="Arial"/>
                <a:cs typeface="Arial"/>
              </a:rPr>
              <a:t>Guideline: the samples should cover the spec and the dispersion of the process (include NG / OK samples and samples near the spec).</a:t>
            </a:r>
          </a:p>
        </p:txBody>
      </p:sp>
    </p:spTree>
    <p:extLst>
      <p:ext uri="{BB962C8B-B14F-4D97-AF65-F5344CB8AC3E}">
        <p14:creationId xmlns:p14="http://schemas.microsoft.com/office/powerpoint/2010/main" val="2569419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2.1 Type 1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07 / 28</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234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xml:space="preserve">• P value &lt; 0.001 (≤ 0.05)  Reject H0 -&gt; Bias ≠ 0 (FAIL)</a:t>
            </a:r>
          </a:p>
          <a:p>
            <a:pPr eaLnBrk="1" latinLnBrk="0"/>
            <a:r>
              <a:rPr sz="1000" b="0">
                <a:latin typeface="Arial"/>
              </a:rPr>
              <a:t xml:space="preserve">• Cg = 0.91 (Std ≥ 1.33) FAIL | Cgk = 0.49 (Std ≥ 1.33) FAIL</a:t>
            </a:r>
          </a:p>
          <a:p>
            <a:pPr eaLnBrk="1" latinLnBrk="0"/>
            <a:r>
              <a:rPr sz="1000" b="0">
                <a:latin typeface="Arial"/>
              </a:rPr>
              <a:t xml:space="preserve">• %Var(Repeatability) = 21.99% (&gt; 10%) FAIL</a:t>
            </a:r>
          </a:p>
          <a:p>
            <a:pPr eaLnBrk="1" latinLnBrk="0"/>
            <a:r>
              <a:rPr sz="1000" b="0">
                <a:latin typeface="Arial"/>
              </a:rPr>
              <a:t xml:space="preserve">• %Var(Repeatability &amp; Bias) = 40.63% (&gt; 10%) FAIL</a:t>
            </a:r>
          </a:p>
        </p:txBody>
      </p:sp>
      <p:pic>
        <p:nvPicPr>
          <p:cNvPr id="5" name="Picture 4">
            <a:extLst>
              <a:ext uri="{FF2B5EF4-FFF2-40B4-BE49-F238E27FC236}">
                <a16:creationId xmlns:a16="http://schemas.microsoft.com/office/drawing/2014/main" id="{622F548D-3A7A-4D5B-91E6-696720BAEDCD}"/>
              </a:ext>
            </a:extLst>
          </p:cNvPr>
          <p:cNvPicPr>
            <a:picLocks noChangeAspect="1"/>
          </p:cNvPicPr>
          <p:nvPr/>
        </p:nvPicPr>
        <p:blipFill>
          <a:blip r:embed="rId3"/>
          <a:stretch>
            <a:fillRect/>
          </a:stretch>
        </p:blipFill>
        <p:spPr>
          <a:xfrm>
            <a:off x="6081737" y="508838"/>
            <a:ext cx="3670300" cy="2515529"/>
          </a:xfrm>
          <a:prstGeom prst="rect">
            <a:avLst/>
          </a:prstGeom>
        </p:spPr>
      </p:pic>
      <p:graphicFrame>
        <p:nvGraphicFramePr>
          <p:cNvPr id="8" name="Table 7">
            <a:extLst>
              <a:ext uri="{FF2B5EF4-FFF2-40B4-BE49-F238E27FC236}">
                <a16:creationId xmlns:a16="http://schemas.microsoft.com/office/drawing/2014/main" id="{6762E103-568D-44B2-B836-06647021EE55}"/>
              </a:ext>
            </a:extLst>
          </p:cNvPr>
          <p:cNvGraphicFramePr>
            <a:graphicFrameLocks noGrp="1"/>
          </p:cNvGraphicFramePr>
          <p:nvPr>
            <p:extLst>
              <p:ext uri="{D42A27DB-BD31-4B8C-83A1-F6EECF244321}">
                <p14:modId xmlns:p14="http://schemas.microsoft.com/office/powerpoint/2010/main" val="1536392145"/>
              </p:ext>
            </p:extLst>
          </p:nvPr>
        </p:nvGraphicFramePr>
        <p:xfrm>
          <a:off x="153963" y="1957420"/>
          <a:ext cx="3670300" cy="3152775"/>
        </p:xfrm>
        <a:graphic>
          <a:graphicData uri="http://schemas.openxmlformats.org/drawingml/2006/table">
            <a:tbl>
              <a:tblPr/>
              <a:tblGrid>
                <a:gridCol w="379437">
                  <a:extLst>
                    <a:ext uri="{9D8B030D-6E8A-4147-A177-3AD203B41FA5}">
                      <a16:colId xmlns:a16="http://schemas.microsoft.com/office/drawing/2014/main" val="2928826695"/>
                    </a:ext>
                  </a:extLst>
                </a:gridCol>
                <a:gridCol w="1485321">
                  <a:extLst>
                    <a:ext uri="{9D8B030D-6E8A-4147-A177-3AD203B41FA5}">
                      <a16:colId xmlns:a16="http://schemas.microsoft.com/office/drawing/2014/main" val="3225775588"/>
                    </a:ext>
                  </a:extLst>
                </a:gridCol>
                <a:gridCol w="419679">
                  <a:extLst>
                    <a:ext uri="{9D8B030D-6E8A-4147-A177-3AD203B41FA5}">
                      <a16:colId xmlns:a16="http://schemas.microsoft.com/office/drawing/2014/main" val="1137933355"/>
                    </a:ext>
                  </a:extLst>
                </a:gridCol>
                <a:gridCol w="1385863">
                  <a:extLst>
                    <a:ext uri="{9D8B030D-6E8A-4147-A177-3AD203B41FA5}">
                      <a16:colId xmlns:a16="http://schemas.microsoft.com/office/drawing/2014/main" val="2284661630"/>
                    </a:ext>
                  </a:extLst>
                </a:gridCol>
              </a:tblGrid>
              <a:tr h="2952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014747"/>
                  </a:ext>
                </a:extLst>
              </a:tr>
              <a:tr h="190500">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779.90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872.50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08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881.38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8442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794.00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820.60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08722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829.24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905.68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11026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887.44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897.04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617810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844.39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833.60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52201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851.46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885.70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705928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799.79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838.27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779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903.47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837.62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17871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876.02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863.52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4974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904.05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892.00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77747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918.50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847.93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6760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890.05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885.27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415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786.15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3320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748.30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859.40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796975"/>
                  </a:ext>
                </a:extLst>
              </a:tr>
            </a:tbl>
          </a:graphicData>
        </a:graphic>
      </p:graphicFrame>
      <p:cxnSp>
        <p:nvCxnSpPr>
          <p:cNvPr id="16" name="Straight Connector 15">
            <a:extLst>
              <a:ext uri="{FF2B5EF4-FFF2-40B4-BE49-F238E27FC236}">
                <a16:creationId xmlns:a16="http://schemas.microsoft.com/office/drawing/2014/main" id="{87501724-7158-4FE8-ACBA-6688A19E2B8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9BD94B-49AB-4069-9056-4246765E0D3B}"/>
              </a:ext>
            </a:extLst>
          </p:cNvPr>
          <p:cNvSpPr txBox="1"/>
          <p:nvPr/>
        </p:nvSpPr>
        <p:spPr>
          <a:xfrm>
            <a:off x="5482309" y="3107127"/>
            <a:ext cx="2355668" cy="707886"/>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910 (golden sample)</a:t>
            </a:r>
          </a:p>
          <a:p>
            <a:pPr eaLnBrk="1" latinLnBrk="0">
              <a:spcBef>
                <a:spcPts val="600"/>
              </a:spcBef>
            </a:pPr>
            <a:r>
              <a:rPr lang="en-US" sz="1000" dirty="0">
                <a:latin typeface="Arial" panose="020B0600000101010101" pitchFamily="34" charset="-127"/>
                <a:ea typeface="Arial" panose="020B0600000101010101" pitchFamily="34" charset="-127"/>
              </a:rPr>
              <a:t>Resolution of Instrument: 0.01 </a:t>
            </a:r>
          </a:p>
        </p:txBody>
      </p:sp>
      <p:pic>
        <p:nvPicPr>
          <p:cNvPr id="4" name="Picture 3">
            <a:extLst>
              <a:ext uri="{FF2B5EF4-FFF2-40B4-BE49-F238E27FC236}">
                <a16:creationId xmlns:a16="http://schemas.microsoft.com/office/drawing/2014/main" id="{B77B3597-6FB3-429B-AD6A-0BC49F816375}"/>
              </a:ext>
            </a:extLst>
          </p:cNvPr>
          <p:cNvPicPr>
            <a:picLocks noChangeAspect="1"/>
          </p:cNvPicPr>
          <p:nvPr/>
        </p:nvPicPr>
        <p:blipFill>
          <a:blip r:embed="rId4"/>
          <a:stretch>
            <a:fillRect/>
          </a:stretch>
        </p:blipFill>
        <p:spPr>
          <a:xfrm>
            <a:off x="5494865" y="3811302"/>
            <a:ext cx="4256925" cy="2859916"/>
          </a:xfrm>
          <a:prstGeom prst="rect">
            <a:avLst/>
          </a:prstGeom>
        </p:spPr>
      </p:pic>
      <p:sp>
        <p:nvSpPr>
          <p:cNvPr id="25" name="TextBox 24">
            <a:extLst>
              <a:ext uri="{FF2B5EF4-FFF2-40B4-BE49-F238E27FC236}">
                <a16:creationId xmlns:a16="http://schemas.microsoft.com/office/drawing/2014/main" id="{1C130328-DF82-4F66-919E-E17B44353E09}"/>
              </a:ext>
            </a:extLst>
          </p:cNvPr>
          <p:cNvSpPr txBox="1"/>
          <p:nvPr/>
        </p:nvSpPr>
        <p:spPr>
          <a:xfrm>
            <a:off x="95421" y="792716"/>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 chose the Type 1 gage study to assess the measurement capability of the gage, based on its repeatability and bias.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
        <p:nvSpPr>
          <p:cNvPr id="30" name="TextBox 29">
            <a:extLst>
              <a:ext uri="{FF2B5EF4-FFF2-40B4-BE49-F238E27FC236}">
                <a16:creationId xmlns:a16="http://schemas.microsoft.com/office/drawing/2014/main" id="{B96D4B9C-38B5-48CE-89A8-155AFE43FEA6}"/>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has problem. Cannot measure consistently (large repeatability error and significant bias). Need to improve measurement system.</a:t>
            </a:r>
          </a:p>
        </p:txBody>
      </p:sp>
    </p:spTree>
    <p:extLst>
      <p:ext uri="{BB962C8B-B14F-4D97-AF65-F5344CB8AC3E}">
        <p14:creationId xmlns:p14="http://schemas.microsoft.com/office/powerpoint/2010/main" val="4026112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762500" cy="418058"/>
          </a:xfrm>
          <a:prstGeom prst="rect">
            <a:avLst/>
          </a:prstGeom>
        </p:spPr>
        <p:txBody>
          <a:bodyPr vert="horz" lIns="91440" tIns="45720" rIns="91440" bIns="45720" rtlCol="0" anchor="ctr">
            <a:norm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2.2 Type 3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4" name="Rectangle 3">
            <a:extLst>
              <a:ext uri="{FF2B5EF4-FFF2-40B4-BE49-F238E27FC236}">
                <a16:creationId xmlns:a16="http://schemas.microsoft.com/office/drawing/2014/main" id="{48934BF3-CC0B-450B-ACCE-8B259B73DAE4}"/>
              </a:ext>
            </a:extLst>
          </p:cNvPr>
          <p:cNvSpPr/>
          <p:nvPr/>
        </p:nvSpPr>
        <p:spPr>
          <a:xfrm>
            <a:off x="179294" y="1429017"/>
            <a:ext cx="1765227" cy="261610"/>
          </a:xfrm>
          <a:prstGeom prst="rect">
            <a:avLst/>
          </a:prstGeom>
        </p:spPr>
        <p:txBody>
          <a:bodyPr wrap="none">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Spec: 800- 2000 (Cd/m2)</a:t>
            </a:r>
            <a:endParaRPr lang="en-US" sz="1100" dirty="0"/>
          </a:p>
        </p:txBody>
      </p:sp>
      <p:sp>
        <p:nvSpPr>
          <p:cNvPr id="19" name="TextBox 18">
            <a:extLst>
              <a:ext uri="{FF2B5EF4-FFF2-40B4-BE49-F238E27FC236}">
                <a16:creationId xmlns:a16="http://schemas.microsoft.com/office/drawing/2014/main" id="{FE0BCEBF-7305-42B3-B115-08C7954FB69C}"/>
              </a:ext>
            </a:extLst>
          </p:cNvPr>
          <p:cNvSpPr txBox="1"/>
          <p:nvPr/>
        </p:nvSpPr>
        <p:spPr>
          <a:xfrm>
            <a:off x="49365" y="554971"/>
            <a:ext cx="20703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424CE4AD-BCCA-49E0-A50B-E95635AC090C}"/>
              </a:ext>
            </a:extLst>
          </p:cNvPr>
          <p:cNvSpPr txBox="1"/>
          <p:nvPr/>
        </p:nvSpPr>
        <p:spPr>
          <a:xfrm>
            <a:off x="67838" y="867970"/>
            <a:ext cx="9281571" cy="525047"/>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 xml:space="preserve">Need to evaluate the repeatability of the measurement system. </a:t>
            </a:r>
          </a:p>
          <a:p>
            <a:pPr eaLnBrk="1" latinLnBrk="0"/>
            <a:r>
              <a:rPr sz="1000" b="0">
                <a:latin typeface="Arial"/>
              </a:rPr>
              <a:t>Because the Luminance station is fully automated with no operator influence, Type 3 Gage Study is used to evaluate equipment repeatability.</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type 3 study, use 25 samples to verify station, each sample is measured repeat 2 times.</a:t>
            </a:r>
          </a:p>
        </p:txBody>
      </p:sp>
      <p:graphicFrame>
        <p:nvGraphicFramePr>
          <p:cNvPr id="5" name="Table 4">
            <a:extLst>
              <a:ext uri="{FF2B5EF4-FFF2-40B4-BE49-F238E27FC236}">
                <a16:creationId xmlns:a16="http://schemas.microsoft.com/office/drawing/2014/main" id="{B177F281-A5EB-4A9B-8F2B-81AE0B6EDB3C}"/>
              </a:ext>
            </a:extLst>
          </p:cNvPr>
          <p:cNvGraphicFramePr>
            <a:graphicFrameLocks noGrp="1"/>
          </p:cNvGraphicFramePr>
          <p:nvPr>
            <p:extLst>
              <p:ext uri="{D42A27DB-BD31-4B8C-83A1-F6EECF244321}">
                <p14:modId xmlns:p14="http://schemas.microsoft.com/office/powerpoint/2010/main" val="3322818604"/>
              </p:ext>
            </p:extLst>
          </p:nvPr>
        </p:nvGraphicFramePr>
        <p:xfrm>
          <a:off x="169589" y="1655916"/>
          <a:ext cx="2330040" cy="4516281"/>
        </p:xfrm>
        <a:graphic>
          <a:graphicData uri="http://schemas.openxmlformats.org/drawingml/2006/table">
            <a:tbl>
              <a:tblPr/>
              <a:tblGrid>
                <a:gridCol w="582510">
                  <a:extLst>
                    <a:ext uri="{9D8B030D-6E8A-4147-A177-3AD203B41FA5}">
                      <a16:colId xmlns:a16="http://schemas.microsoft.com/office/drawing/2014/main" val="2099896177"/>
                    </a:ext>
                  </a:extLst>
                </a:gridCol>
                <a:gridCol w="582510">
                  <a:extLst>
                    <a:ext uri="{9D8B030D-6E8A-4147-A177-3AD203B41FA5}">
                      <a16:colId xmlns:a16="http://schemas.microsoft.com/office/drawing/2014/main" val="1074729442"/>
                    </a:ext>
                  </a:extLst>
                </a:gridCol>
                <a:gridCol w="582510">
                  <a:extLst>
                    <a:ext uri="{9D8B030D-6E8A-4147-A177-3AD203B41FA5}">
                      <a16:colId xmlns:a16="http://schemas.microsoft.com/office/drawing/2014/main" val="3326624257"/>
                    </a:ext>
                  </a:extLst>
                </a:gridCol>
                <a:gridCol w="582510">
                  <a:extLst>
                    <a:ext uri="{9D8B030D-6E8A-4147-A177-3AD203B41FA5}">
                      <a16:colId xmlns:a16="http://schemas.microsoft.com/office/drawing/2014/main" val="2970423013"/>
                    </a:ext>
                  </a:extLst>
                </a:gridCol>
              </a:tblGrid>
              <a:tr h="148506">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90625296"/>
                  </a:ext>
                </a:extLst>
              </a:tr>
              <a:tr h="174711">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796.95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837.73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5403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811.78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134368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794.73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833.46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8570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796.58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836.42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11463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838.61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963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817.70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3335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810.76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 xml:space="preserve">857.90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6693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837.17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47806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815.12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816260"/>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828.88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8845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823.98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826.94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2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834.57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840.14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3814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827.40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839.72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5102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1002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58626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7696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826.32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72797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842.06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825.35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1290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834.01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630667"/>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834.48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838.87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08036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834.67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22835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850.33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53322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786.15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819.42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87436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780.77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755.89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1119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853.94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2125278"/>
                  </a:ext>
                </a:extLst>
              </a:tr>
            </a:tbl>
          </a:graphicData>
        </a:graphic>
      </p:graphicFrame>
      <p:sp>
        <p:nvSpPr>
          <p:cNvPr id="32" name="TextBox 31">
            <a:extLst>
              <a:ext uri="{FF2B5EF4-FFF2-40B4-BE49-F238E27FC236}">
                <a16:creationId xmlns:a16="http://schemas.microsoft.com/office/drawing/2014/main" id="{7CF4679F-CC6C-45D5-90C5-B2C94D3F932D}"/>
              </a:ext>
            </a:extLst>
          </p:cNvPr>
          <p:cNvSpPr txBox="1"/>
          <p:nvPr/>
        </p:nvSpPr>
        <p:spPr>
          <a:xfrm>
            <a:off x="5875171" y="4953000"/>
            <a:ext cx="4030829" cy="830997"/>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7</a:t>
            </a:r>
            <a:r>
              <a:rPr lang="en-US" sz="1000" dirty="0">
                <a:latin typeface="Arial" panose="020B0604020202020204" pitchFamily="34" charset="0"/>
                <a:ea typeface="Arial Unicode MS" panose="020B0604020202020204" pitchFamily="34" charset="-128"/>
                <a:cs typeface="Arial" panose="020B0604020202020204" pitchFamily="34" charset="0"/>
              </a:rPr>
              <a:t>1</a:t>
            </a:r>
            <a:r>
              <a:rPr lang="vi-VN" sz="1000" dirty="0">
                <a:latin typeface="Arial" panose="020B0604020202020204" pitchFamily="34" charset="0"/>
                <a:ea typeface="Arial Unicode MS" panose="020B0604020202020204" pitchFamily="34" charset="-128"/>
                <a:cs typeface="Arial" panose="020B0604020202020204" pitchFamily="34" charset="0"/>
              </a:rPr>
              <a:t>.</a:t>
            </a:r>
            <a:r>
              <a:rPr lang="en-US" sz="1000" dirty="0">
                <a:latin typeface="Arial" panose="020B0604020202020204" pitchFamily="34" charset="0"/>
                <a:ea typeface="Arial Unicode MS" panose="020B0604020202020204" pitchFamily="34" charset="-128"/>
                <a:cs typeface="Arial" panose="020B0604020202020204" pitchFamily="34" charset="0"/>
              </a:rPr>
              <a:t>56</a:t>
            </a:r>
            <a:r>
              <a:rPr lang="vi-VN" sz="1000" dirty="0">
                <a:latin typeface="Arial" panose="020B0604020202020204" pitchFamily="34" charset="0"/>
                <a:ea typeface="Arial Unicode MS" panose="020B0604020202020204" pitchFamily="34" charset="-128"/>
                <a:cs typeface="Arial" panose="020B0604020202020204" pitchFamily="34" charset="0"/>
              </a:rPr>
              <a:t xml:space="preserve">% &gt; 9% (std &lt;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NG</a:t>
            </a: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8</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4.59</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xml:space="preserve"> &gt; </a:t>
            </a:r>
            <a:r>
              <a:rPr lang="vi-VN" sz="1000" dirty="0">
                <a:latin typeface="Arial" panose="020B0604020202020204" pitchFamily="34" charset="0"/>
                <a:ea typeface="Arial Unicode MS" panose="020B0604020202020204" pitchFamily="34" charset="-128"/>
                <a:cs typeface="Arial" panose="020B0604020202020204" pitchFamily="34" charset="0"/>
              </a:rPr>
              <a:t>10%</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 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xml:space="preserve">% Tolerance = 8.33% &lt;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OK</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NDC: 1 &lt; 5 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NG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p:txBody>
      </p:sp>
      <p:sp>
        <p:nvSpPr>
          <p:cNvPr id="33" name="TextBox 32">
            <a:extLst>
              <a:ext uri="{FF2B5EF4-FFF2-40B4-BE49-F238E27FC236}">
                <a16:creationId xmlns:a16="http://schemas.microsoft.com/office/drawing/2014/main" id="{905D7C2E-0446-4D3E-B01F-0F913AFAFE04}"/>
              </a:ext>
            </a:extLst>
          </p:cNvPr>
          <p:cNvSpPr txBox="1"/>
          <p:nvPr/>
        </p:nvSpPr>
        <p:spPr>
          <a:xfrm>
            <a:off x="59902" y="6296220"/>
            <a:ext cx="9369942" cy="31127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 %Contribution = 71.56% (&gt; 9% NG), %Study Var = 84.59% (NG), %Tolerance = 8.33% (OK), NDC = 1 (&lt; 5 NG). The repeatability error (SD ≈ 16.7) is large vs. the part variation (SD ≈ 10.5) and Type 1 also failed, so the system is NOT acceptable: improve.</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9CC0D461-7724-4A16-8B0F-A1D501ACB4B3}"/>
              </a:ext>
            </a:extLst>
          </p:cNvPr>
          <p:cNvPicPr>
            <a:picLocks noChangeAspect="1"/>
          </p:cNvPicPr>
          <p:nvPr/>
        </p:nvPicPr>
        <p:blipFill>
          <a:blip r:embed="rId3"/>
          <a:stretch>
            <a:fillRect/>
          </a:stretch>
        </p:blipFill>
        <p:spPr>
          <a:xfrm>
            <a:off x="2588009" y="1579993"/>
            <a:ext cx="2700224" cy="3757612"/>
          </a:xfrm>
          <a:prstGeom prst="rect">
            <a:avLst/>
          </a:prstGeom>
        </p:spPr>
      </p:pic>
      <p:pic>
        <p:nvPicPr>
          <p:cNvPr id="3" name="Picture 2">
            <a:extLst>
              <a:ext uri="{FF2B5EF4-FFF2-40B4-BE49-F238E27FC236}">
                <a16:creationId xmlns:a16="http://schemas.microsoft.com/office/drawing/2014/main" id="{BA95E6EA-E652-449C-9F8A-5EFC5269E60F}"/>
              </a:ext>
            </a:extLst>
          </p:cNvPr>
          <p:cNvPicPr>
            <a:picLocks noChangeAspect="1"/>
          </p:cNvPicPr>
          <p:nvPr/>
        </p:nvPicPr>
        <p:blipFill>
          <a:blip r:embed="rId4"/>
          <a:stretch>
            <a:fillRect/>
          </a:stretch>
        </p:blipFill>
        <p:spPr>
          <a:xfrm>
            <a:off x="5482981" y="1579992"/>
            <a:ext cx="4264219" cy="3220607"/>
          </a:xfrm>
          <a:prstGeom prst="rect">
            <a:avLst/>
          </a:prstGeom>
        </p:spPr>
      </p:pic>
      <p:cxnSp>
        <p:nvCxnSpPr>
          <p:cNvPr id="18" name="Straight Connector 17">
            <a:extLst>
              <a:ext uri="{FF2B5EF4-FFF2-40B4-BE49-F238E27FC236}">
                <a16:creationId xmlns:a16="http://schemas.microsoft.com/office/drawing/2014/main" id="{C5241C5D-C65E-467C-9A84-DDA1FEE8E50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49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1" latinLnBrk="0" hangingPunct="0">
              <a:defRPr/>
            </a:pPr>
            <a:r>
              <a:rPr lang="en-US" altLang="ko-KR" sz="1600" b="1" kern="0" dirty="0">
                <a:solidFill>
                  <a:srgbClr val="000000"/>
                </a:solidFill>
                <a:latin typeface="Arial Narrow" panose="020B0606020202030204" pitchFamily="34" charset="0"/>
                <a:ea typeface="LG Smart_H Regular" pitchFamily="34" charset="-127"/>
              </a:rPr>
              <a:t>3.1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00000" y="6642000"/>
            <a:ext cx="2133600" cy="198000"/>
          </a:xfrm>
        </p:spPr>
        <p:txBody>
          <a:bodyPr/>
          <a:lstStyle/>
          <a:p>
            <a:pPr algn="ctr" eaLnBrk="1" latinLnBrk="0"/>
            <a:r>
              <a:rPr sz="1000" b="0">
                <a:latin typeface="Arial"/>
              </a:rPr>
              <a:t>10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2" name="Text Box 2">
            <a:extLst>
              <a:ext uri="{FF2B5EF4-FFF2-40B4-BE49-F238E27FC236}">
                <a16:creationId xmlns:a16="http://schemas.microsoft.com/office/drawing/2014/main" id="{154D2356-34D8-4A47-AE3E-15659243DDEF}"/>
              </a:ext>
            </a:extLst>
          </p:cNvPr>
          <p:cNvSpPr txBox="1">
            <a:spLocks noChangeArrowheads="1"/>
          </p:cNvSpPr>
          <p:nvPr/>
        </p:nvSpPr>
        <p:spPr bwMode="auto">
          <a:xfrm>
            <a:off x="0" y="2684839"/>
            <a:ext cx="1800000" cy="304800"/>
          </a:xfrm>
          <a:prstGeom prst="rect">
            <a:avLst/>
          </a:prstGeom>
          <a:noFill/>
          <a:ln w="9525" algn="ctr">
            <a:noFill/>
            <a:miter lim="800000"/>
            <a:headEnd/>
            <a:tailEnd/>
          </a:ln>
        </p:spPr>
        <p:txBody>
          <a:bodyPr lIns="84374" tIns="42187" rIns="84374" bIns="42187" anchor="ctr">
            <a:noAutofit/>
          </a:bodyP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Logic tree analysis</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73" name="Rectangle 72">
            <a:extLst>
              <a:ext uri="{FF2B5EF4-FFF2-40B4-BE49-F238E27FC236}">
                <a16:creationId xmlns:a16="http://schemas.microsoft.com/office/drawing/2014/main" id="{98BB49C0-2391-4488-9636-39BB014241CF}"/>
              </a:ext>
            </a:extLst>
          </p:cNvPr>
          <p:cNvSpPr/>
          <p:nvPr/>
        </p:nvSpPr>
        <p:spPr>
          <a:xfrm>
            <a:off x="159774" y="3156008"/>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b="1" dirty="0">
                <a:solidFill>
                  <a:prstClr val="black"/>
                </a:solidFill>
                <a:latin typeface="Arial" panose="020B0600000101010101" pitchFamily="34" charset="-127"/>
                <a:ea typeface="Arial" panose="020B0600000101010101" pitchFamily="34" charset="-127"/>
                <a:cs typeface="Arial" pitchFamily="34" charset="0"/>
              </a:rPr>
              <a:t>Luminance at the station</a:t>
            </a:r>
          </a:p>
        </p:txBody>
      </p:sp>
      <p:sp>
        <p:nvSpPr>
          <p:cNvPr id="74" name="Rectangle 73">
            <a:extLst>
              <a:ext uri="{FF2B5EF4-FFF2-40B4-BE49-F238E27FC236}">
                <a16:creationId xmlns:a16="http://schemas.microsoft.com/office/drawing/2014/main" id="{8A7F75B1-1676-4838-AC23-A6F29218D318}"/>
              </a:ext>
            </a:extLst>
          </p:cNvPr>
          <p:cNvSpPr/>
          <p:nvPr/>
        </p:nvSpPr>
        <p:spPr>
          <a:xfrm>
            <a:off x="1651384" y="5944884"/>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a:t>
            </a:r>
          </a:p>
        </p:txBody>
      </p:sp>
      <p:sp>
        <p:nvSpPr>
          <p:cNvPr id="75" name="Rectangle 74">
            <a:extLst>
              <a:ext uri="{FF2B5EF4-FFF2-40B4-BE49-F238E27FC236}">
                <a16:creationId xmlns:a16="http://schemas.microsoft.com/office/drawing/2014/main" id="{AA95EC89-2D59-457C-9D51-482F9FF272A8}"/>
              </a:ext>
            </a:extLst>
          </p:cNvPr>
          <p:cNvSpPr/>
          <p:nvPr/>
        </p:nvSpPr>
        <p:spPr>
          <a:xfrm>
            <a:off x="4719475" y="6271041"/>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Automatic process</a:t>
            </a:r>
          </a:p>
        </p:txBody>
      </p:sp>
      <p:sp>
        <p:nvSpPr>
          <p:cNvPr id="76" name="Rectangle 75">
            <a:extLst>
              <a:ext uri="{FF2B5EF4-FFF2-40B4-BE49-F238E27FC236}">
                <a16:creationId xmlns:a16="http://schemas.microsoft.com/office/drawing/2014/main" id="{D1A52889-10F4-4654-BF9E-1C234D11F6E6}"/>
              </a:ext>
            </a:extLst>
          </p:cNvPr>
          <p:cNvSpPr/>
          <p:nvPr/>
        </p:nvSpPr>
        <p:spPr>
          <a:xfrm>
            <a:off x="1618209" y="1427357"/>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Machine</a:t>
            </a:r>
          </a:p>
        </p:txBody>
      </p:sp>
      <p:sp>
        <p:nvSpPr>
          <p:cNvPr id="77" name="Rectangle 76">
            <a:extLst>
              <a:ext uri="{FF2B5EF4-FFF2-40B4-BE49-F238E27FC236}">
                <a16:creationId xmlns:a16="http://schemas.microsoft.com/office/drawing/2014/main" id="{8B2EA42F-BBCA-476E-A6D2-DCED7477DD94}"/>
              </a:ext>
            </a:extLst>
          </p:cNvPr>
          <p:cNvSpPr/>
          <p:nvPr/>
        </p:nvSpPr>
        <p:spPr>
          <a:xfrm>
            <a:off x="3132282" y="1603784"/>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Pallet</a:t>
            </a:r>
          </a:p>
        </p:txBody>
      </p:sp>
      <p:sp>
        <p:nvSpPr>
          <p:cNvPr id="78" name="Rectangle 77">
            <a:extLst>
              <a:ext uri="{FF2B5EF4-FFF2-40B4-BE49-F238E27FC236}">
                <a16:creationId xmlns:a16="http://schemas.microsoft.com/office/drawing/2014/main" id="{CB14BB72-DACF-49D8-B9E7-7795EBE9B6A4}"/>
              </a:ext>
            </a:extLst>
          </p:cNvPr>
          <p:cNvSpPr/>
          <p:nvPr/>
        </p:nvSpPr>
        <p:spPr>
          <a:xfrm>
            <a:off x="3123027" y="967992"/>
            <a:ext cx="1296573" cy="54000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a:t>
            </a:r>
          </a:p>
        </p:txBody>
      </p:sp>
      <p:sp>
        <p:nvSpPr>
          <p:cNvPr id="79" name="Rectangle 78">
            <a:extLst>
              <a:ext uri="{FF2B5EF4-FFF2-40B4-BE49-F238E27FC236}">
                <a16:creationId xmlns:a16="http://schemas.microsoft.com/office/drawing/2014/main" id="{EEDD2645-0EFA-436C-A6E7-C8D003106F1B}"/>
              </a:ext>
            </a:extLst>
          </p:cNvPr>
          <p:cNvSpPr/>
          <p:nvPr/>
        </p:nvSpPr>
        <p:spPr>
          <a:xfrm>
            <a:off x="4730616" y="96767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stable</a:t>
            </a:r>
          </a:p>
        </p:txBody>
      </p:sp>
      <p:sp>
        <p:nvSpPr>
          <p:cNvPr id="80" name="Rectangle 79">
            <a:extLst>
              <a:ext uri="{FF2B5EF4-FFF2-40B4-BE49-F238E27FC236}">
                <a16:creationId xmlns:a16="http://schemas.microsoft.com/office/drawing/2014/main" id="{6DF543DF-7565-40EB-9D0A-0B63AA26DE3B}"/>
              </a:ext>
            </a:extLst>
          </p:cNvPr>
          <p:cNvSpPr/>
          <p:nvPr/>
        </p:nvSpPr>
        <p:spPr>
          <a:xfrm>
            <a:off x="3118102" y="6271041"/>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Working skill</a:t>
            </a:r>
          </a:p>
        </p:txBody>
      </p:sp>
      <p:sp>
        <p:nvSpPr>
          <p:cNvPr id="81" name="Rectangle 80">
            <a:extLst>
              <a:ext uri="{FF2B5EF4-FFF2-40B4-BE49-F238E27FC236}">
                <a16:creationId xmlns:a16="http://schemas.microsoft.com/office/drawing/2014/main" id="{221A6137-4C2A-4CAD-B245-15DBCEC5BE1C}"/>
              </a:ext>
            </a:extLst>
          </p:cNvPr>
          <p:cNvSpPr/>
          <p:nvPr/>
        </p:nvSpPr>
        <p:spPr>
          <a:xfrm>
            <a:off x="4733655" y="1603784"/>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All model used same kind of pallet</a:t>
            </a:r>
          </a:p>
        </p:txBody>
      </p:sp>
      <p:sp>
        <p:nvSpPr>
          <p:cNvPr id="84" name="Rectangle 83">
            <a:extLst>
              <a:ext uri="{FF2B5EF4-FFF2-40B4-BE49-F238E27FC236}">
                <a16:creationId xmlns:a16="http://schemas.microsoft.com/office/drawing/2014/main" id="{1690E334-C0F6-498D-B406-B7676F0A33E0}"/>
              </a:ext>
            </a:extLst>
          </p:cNvPr>
          <p:cNvSpPr/>
          <p:nvPr/>
        </p:nvSpPr>
        <p:spPr>
          <a:xfrm>
            <a:off x="3130401" y="2334979"/>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equipment (CS2000)</a:t>
            </a:r>
          </a:p>
        </p:txBody>
      </p:sp>
      <p:cxnSp>
        <p:nvCxnSpPr>
          <p:cNvPr id="85" name="Elbow Connector 11">
            <a:extLst>
              <a:ext uri="{FF2B5EF4-FFF2-40B4-BE49-F238E27FC236}">
                <a16:creationId xmlns:a16="http://schemas.microsoft.com/office/drawing/2014/main" id="{A0900B0B-88B7-436C-8708-BACE50220958}"/>
              </a:ext>
            </a:extLst>
          </p:cNvPr>
          <p:cNvCxnSpPr>
            <a:stCxn id="73" idx="3"/>
            <a:endCxn id="76" idx="1"/>
          </p:cNvCxnSpPr>
          <p:nvPr/>
        </p:nvCxnSpPr>
        <p:spPr>
          <a:xfrm flipV="1">
            <a:off x="1324999" y="1697232"/>
            <a:ext cx="293210" cy="172865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4">
            <a:extLst>
              <a:ext uri="{FF2B5EF4-FFF2-40B4-BE49-F238E27FC236}">
                <a16:creationId xmlns:a16="http://schemas.microsoft.com/office/drawing/2014/main" id="{7C3D603A-2E8C-4A1D-8161-53008CE24C0D}"/>
              </a:ext>
            </a:extLst>
          </p:cNvPr>
          <p:cNvCxnSpPr>
            <a:stCxn id="73" idx="3"/>
            <a:endCxn id="74" idx="1"/>
          </p:cNvCxnSpPr>
          <p:nvPr/>
        </p:nvCxnSpPr>
        <p:spPr>
          <a:xfrm>
            <a:off x="1324999" y="3425883"/>
            <a:ext cx="326385" cy="27888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DFF0DF6-D5B0-453E-A753-5B5ED81A50F4}"/>
              </a:ext>
            </a:extLst>
          </p:cNvPr>
          <p:cNvSpPr/>
          <p:nvPr/>
        </p:nvSpPr>
        <p:spPr>
          <a:xfrm>
            <a:off x="4748132" y="2334979"/>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Measure incorrectly</a:t>
            </a:r>
          </a:p>
        </p:txBody>
      </p:sp>
      <p:cxnSp>
        <p:nvCxnSpPr>
          <p:cNvPr id="102" name="Straight Arrow Connector 101">
            <a:extLst>
              <a:ext uri="{FF2B5EF4-FFF2-40B4-BE49-F238E27FC236}">
                <a16:creationId xmlns:a16="http://schemas.microsoft.com/office/drawing/2014/main" id="{7840A584-72DD-4DDF-A457-81F5E3DDA5CE}"/>
              </a:ext>
            </a:extLst>
          </p:cNvPr>
          <p:cNvCxnSpPr>
            <a:stCxn id="80" idx="3"/>
            <a:endCxn id="75" idx="1"/>
          </p:cNvCxnSpPr>
          <p:nvPr/>
        </p:nvCxnSpPr>
        <p:spPr>
          <a:xfrm>
            <a:off x="4414675" y="654091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9DF8E102-D994-4E57-A889-210E1C85B4EE}"/>
              </a:ext>
            </a:extLst>
          </p:cNvPr>
          <p:cNvSpPr/>
          <p:nvPr/>
        </p:nvSpPr>
        <p:spPr>
          <a:xfrm>
            <a:off x="6414325" y="967675"/>
            <a:ext cx="196573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not affected</a:t>
            </a:r>
          </a:p>
        </p:txBody>
      </p:sp>
      <p:sp>
        <p:nvSpPr>
          <p:cNvPr id="104" name="Rectangle 103">
            <a:extLst>
              <a:ext uri="{FF2B5EF4-FFF2-40B4-BE49-F238E27FC236}">
                <a16:creationId xmlns:a16="http://schemas.microsoft.com/office/drawing/2014/main" id="{293E51A7-2F56-473A-BCFB-084759CC0310}"/>
              </a:ext>
            </a:extLst>
          </p:cNvPr>
          <p:cNvSpPr/>
          <p:nvPr/>
        </p:nvSpPr>
        <p:spPr>
          <a:xfrm>
            <a:off x="6394839" y="1603784"/>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Changing pallet no different</a:t>
            </a:r>
          </a:p>
        </p:txBody>
      </p:sp>
      <p:sp>
        <p:nvSpPr>
          <p:cNvPr id="106" name="Rectangle 105">
            <a:extLst>
              <a:ext uri="{FF2B5EF4-FFF2-40B4-BE49-F238E27FC236}">
                <a16:creationId xmlns:a16="http://schemas.microsoft.com/office/drawing/2014/main" id="{E26365BE-C1C2-40A3-AA3C-F648D3A85333}"/>
              </a:ext>
            </a:extLst>
          </p:cNvPr>
          <p:cNvSpPr/>
          <p:nvPr/>
        </p:nvSpPr>
        <p:spPr>
          <a:xfrm>
            <a:off x="6421698" y="2339739"/>
            <a:ext cx="195836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camera </a:t>
            </a:r>
          </a:p>
        </p:txBody>
      </p:sp>
      <p:sp>
        <p:nvSpPr>
          <p:cNvPr id="107" name="Rectangle 106">
            <a:extLst>
              <a:ext uri="{FF2B5EF4-FFF2-40B4-BE49-F238E27FC236}">
                <a16:creationId xmlns:a16="http://schemas.microsoft.com/office/drawing/2014/main" id="{ACC36094-8B79-406C-AD09-9862013612E5}"/>
              </a:ext>
            </a:extLst>
          </p:cNvPr>
          <p:cNvSpPr/>
          <p:nvPr/>
        </p:nvSpPr>
        <p:spPr>
          <a:xfrm>
            <a:off x="6409400" y="6271041"/>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 is not related</a:t>
            </a:r>
          </a:p>
        </p:txBody>
      </p:sp>
      <p:cxnSp>
        <p:nvCxnSpPr>
          <p:cNvPr id="144" name="Straight Arrow Connector 143">
            <a:extLst>
              <a:ext uri="{FF2B5EF4-FFF2-40B4-BE49-F238E27FC236}">
                <a16:creationId xmlns:a16="http://schemas.microsoft.com/office/drawing/2014/main" id="{F6348AC4-7CC7-4562-A5F4-3D08FCFA7F86}"/>
              </a:ext>
            </a:extLst>
          </p:cNvPr>
          <p:cNvCxnSpPr>
            <a:cxnSpLocks/>
            <a:stCxn id="75" idx="3"/>
            <a:endCxn id="107" idx="1"/>
          </p:cNvCxnSpPr>
          <p:nvPr/>
        </p:nvCxnSpPr>
        <p:spPr>
          <a:xfrm>
            <a:off x="6091075" y="654091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460B8F4-80BE-49C8-89CB-A5C7E9A567C0}"/>
              </a:ext>
            </a:extLst>
          </p:cNvPr>
          <p:cNvSpPr/>
          <p:nvPr/>
        </p:nvSpPr>
        <p:spPr>
          <a:xfrm>
            <a:off x="1651384" y="4355386"/>
            <a:ext cx="113883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Material</a:t>
            </a:r>
          </a:p>
        </p:txBody>
      </p:sp>
      <p:sp>
        <p:nvSpPr>
          <p:cNvPr id="150" name="Rectangle 149">
            <a:extLst>
              <a:ext uri="{FF2B5EF4-FFF2-40B4-BE49-F238E27FC236}">
                <a16:creationId xmlns:a16="http://schemas.microsoft.com/office/drawing/2014/main" id="{0103916A-A389-4D0B-82E8-4E5DD92F975F}"/>
              </a:ext>
            </a:extLst>
          </p:cNvPr>
          <p:cNvSpPr/>
          <p:nvPr/>
        </p:nvSpPr>
        <p:spPr>
          <a:xfrm>
            <a:off x="1636823" y="500281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Method</a:t>
            </a:r>
          </a:p>
        </p:txBody>
      </p:sp>
      <p:sp>
        <p:nvSpPr>
          <p:cNvPr id="151" name="Rectangle 150">
            <a:extLst>
              <a:ext uri="{FF2B5EF4-FFF2-40B4-BE49-F238E27FC236}">
                <a16:creationId xmlns:a16="http://schemas.microsoft.com/office/drawing/2014/main" id="{6DDBBEBB-5CA9-48F3-8807-40C42BCDD09A}"/>
              </a:ext>
            </a:extLst>
          </p:cNvPr>
          <p:cNvSpPr/>
          <p:nvPr/>
        </p:nvSpPr>
        <p:spPr>
          <a:xfrm>
            <a:off x="4684883" y="4355386"/>
            <a:ext cx="1430006"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Return LCD and check on vendor </a:t>
            </a: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sym typeface="Wingdings" panose="05000000000000000000" pitchFamily="2" charset="2"/>
              </a:rPr>
              <a:t> result is OK</a:t>
            </a:r>
            <a:endParaRPr 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52" name="Rectangle 151">
            <a:extLst>
              <a:ext uri="{FF2B5EF4-FFF2-40B4-BE49-F238E27FC236}">
                <a16:creationId xmlns:a16="http://schemas.microsoft.com/office/drawing/2014/main" id="{3AD0F078-8893-47B3-AAA2-B875B6B049B4}"/>
              </a:ext>
            </a:extLst>
          </p:cNvPr>
          <p:cNvSpPr/>
          <p:nvPr/>
        </p:nvSpPr>
        <p:spPr>
          <a:xfrm>
            <a:off x="3118103" y="4355386"/>
            <a:ext cx="1263872"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Set</a:t>
            </a:r>
          </a:p>
        </p:txBody>
      </p:sp>
      <p:cxnSp>
        <p:nvCxnSpPr>
          <p:cNvPr id="154" name="Straight Arrow Connector 153">
            <a:extLst>
              <a:ext uri="{FF2B5EF4-FFF2-40B4-BE49-F238E27FC236}">
                <a16:creationId xmlns:a16="http://schemas.microsoft.com/office/drawing/2014/main" id="{2EF4C1BB-E769-49BE-82E8-09AC2E114D3D}"/>
              </a:ext>
            </a:extLst>
          </p:cNvPr>
          <p:cNvCxnSpPr>
            <a:cxnSpLocks/>
            <a:stCxn id="152" idx="3"/>
            <a:endCxn id="151" idx="1"/>
          </p:cNvCxnSpPr>
          <p:nvPr/>
        </p:nvCxnSpPr>
        <p:spPr>
          <a:xfrm>
            <a:off x="4381975" y="4625261"/>
            <a:ext cx="30290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7D61E8F-3848-40A1-938A-C00B0BD74350}"/>
              </a:ext>
            </a:extLst>
          </p:cNvPr>
          <p:cNvSpPr/>
          <p:nvPr/>
        </p:nvSpPr>
        <p:spPr>
          <a:xfrm>
            <a:off x="6409400" y="4355386"/>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LCD is not affected</a:t>
            </a:r>
          </a:p>
        </p:txBody>
      </p:sp>
      <p:cxnSp>
        <p:nvCxnSpPr>
          <p:cNvPr id="157" name="Straight Arrow Connector 156">
            <a:extLst>
              <a:ext uri="{FF2B5EF4-FFF2-40B4-BE49-F238E27FC236}">
                <a16:creationId xmlns:a16="http://schemas.microsoft.com/office/drawing/2014/main" id="{0099F56D-264D-4C71-87E1-E36D5E5023CF}"/>
              </a:ext>
            </a:extLst>
          </p:cNvPr>
          <p:cNvCxnSpPr>
            <a:cxnSpLocks/>
            <a:stCxn id="151" idx="3"/>
            <a:endCxn id="155" idx="1"/>
          </p:cNvCxnSpPr>
          <p:nvPr/>
        </p:nvCxnSpPr>
        <p:spPr>
          <a:xfrm>
            <a:off x="6114889" y="4625261"/>
            <a:ext cx="29451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8467BE26-3B27-40D6-82FD-EC081804E80A}"/>
              </a:ext>
            </a:extLst>
          </p:cNvPr>
          <p:cNvCxnSpPr>
            <a:stCxn id="149" idx="3"/>
            <a:endCxn id="152" idx="1"/>
          </p:cNvCxnSpPr>
          <p:nvPr/>
        </p:nvCxnSpPr>
        <p:spPr>
          <a:xfrm>
            <a:off x="2790221" y="4625261"/>
            <a:ext cx="32788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Elbow Connector 11">
            <a:extLst>
              <a:ext uri="{FF2B5EF4-FFF2-40B4-BE49-F238E27FC236}">
                <a16:creationId xmlns:a16="http://schemas.microsoft.com/office/drawing/2014/main" id="{2108C2DB-4457-487E-B74E-832776759959}"/>
              </a:ext>
            </a:extLst>
          </p:cNvPr>
          <p:cNvCxnSpPr>
            <a:cxnSpLocks/>
            <a:stCxn id="73" idx="3"/>
            <a:endCxn id="149" idx="1"/>
          </p:cNvCxnSpPr>
          <p:nvPr/>
        </p:nvCxnSpPr>
        <p:spPr>
          <a:xfrm>
            <a:off x="1324999" y="3425883"/>
            <a:ext cx="326385" cy="119937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Elbow Connector 11">
            <a:extLst>
              <a:ext uri="{FF2B5EF4-FFF2-40B4-BE49-F238E27FC236}">
                <a16:creationId xmlns:a16="http://schemas.microsoft.com/office/drawing/2014/main" id="{A8539414-FDD4-4ED4-AF7D-6DD857B0A62B}"/>
              </a:ext>
            </a:extLst>
          </p:cNvPr>
          <p:cNvCxnSpPr>
            <a:stCxn id="73" idx="3"/>
            <a:endCxn id="150" idx="1"/>
          </p:cNvCxnSpPr>
          <p:nvPr/>
        </p:nvCxnSpPr>
        <p:spPr>
          <a:xfrm>
            <a:off x="1324999" y="3425883"/>
            <a:ext cx="311824" cy="18468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B4C87628-BF12-40D4-9A9A-68CDD2BF67F1}"/>
              </a:ext>
            </a:extLst>
          </p:cNvPr>
          <p:cNvSpPr/>
          <p:nvPr/>
        </p:nvSpPr>
        <p:spPr>
          <a:xfrm>
            <a:off x="3103541" y="500281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test, timing</a:t>
            </a:r>
          </a:p>
        </p:txBody>
      </p:sp>
      <p:cxnSp>
        <p:nvCxnSpPr>
          <p:cNvPr id="165" name="Straight Arrow Connector 164">
            <a:extLst>
              <a:ext uri="{FF2B5EF4-FFF2-40B4-BE49-F238E27FC236}">
                <a16:creationId xmlns:a16="http://schemas.microsoft.com/office/drawing/2014/main" id="{1D50A4B6-DF5E-4323-9BED-2E5C23A78571}"/>
              </a:ext>
            </a:extLst>
          </p:cNvPr>
          <p:cNvCxnSpPr>
            <a:stCxn id="150" idx="3"/>
            <a:endCxn id="164" idx="1"/>
          </p:cNvCxnSpPr>
          <p:nvPr/>
        </p:nvCxnSpPr>
        <p:spPr>
          <a:xfrm>
            <a:off x="2802048" y="5272691"/>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076F5FA-D971-4E47-82BE-E8A1D3F94816}"/>
              </a:ext>
            </a:extLst>
          </p:cNvPr>
          <p:cNvSpPr/>
          <p:nvPr/>
        </p:nvSpPr>
        <p:spPr>
          <a:xfrm>
            <a:off x="4704913" y="5002816"/>
            <a:ext cx="143000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used for all model, but only this model have issue</a:t>
            </a:r>
          </a:p>
        </p:txBody>
      </p:sp>
      <p:cxnSp>
        <p:nvCxnSpPr>
          <p:cNvPr id="168" name="Straight Arrow Connector 167">
            <a:extLst>
              <a:ext uri="{FF2B5EF4-FFF2-40B4-BE49-F238E27FC236}">
                <a16:creationId xmlns:a16="http://schemas.microsoft.com/office/drawing/2014/main" id="{55DC3AAF-635D-41C2-8877-A829B844A728}"/>
              </a:ext>
            </a:extLst>
          </p:cNvPr>
          <p:cNvCxnSpPr>
            <a:cxnSpLocks/>
            <a:stCxn id="164" idx="3"/>
            <a:endCxn id="166" idx="1"/>
          </p:cNvCxnSpPr>
          <p:nvPr/>
        </p:nvCxnSpPr>
        <p:spPr>
          <a:xfrm>
            <a:off x="4400114" y="5272691"/>
            <a:ext cx="30479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FE6039A6-3D38-448A-8C19-55ADC48F64FD}"/>
              </a:ext>
            </a:extLst>
          </p:cNvPr>
          <p:cNvSpPr/>
          <p:nvPr/>
        </p:nvSpPr>
        <p:spPr>
          <a:xfrm>
            <a:off x="6394839" y="5002816"/>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not affected</a:t>
            </a:r>
          </a:p>
        </p:txBody>
      </p:sp>
      <p:cxnSp>
        <p:nvCxnSpPr>
          <p:cNvPr id="173" name="Straight Arrow Connector 172">
            <a:extLst>
              <a:ext uri="{FF2B5EF4-FFF2-40B4-BE49-F238E27FC236}">
                <a16:creationId xmlns:a16="http://schemas.microsoft.com/office/drawing/2014/main" id="{F555F9C6-D9E2-4FF4-B104-ECEC3D3E2660}"/>
              </a:ext>
            </a:extLst>
          </p:cNvPr>
          <p:cNvCxnSpPr>
            <a:cxnSpLocks/>
            <a:stCxn id="166" idx="3"/>
            <a:endCxn id="170" idx="1"/>
          </p:cNvCxnSpPr>
          <p:nvPr/>
        </p:nvCxnSpPr>
        <p:spPr>
          <a:xfrm>
            <a:off x="6134918" y="5272691"/>
            <a:ext cx="25992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8F08C70E-C661-4A4A-A32D-07D838FE4A52}"/>
              </a:ext>
            </a:extLst>
          </p:cNvPr>
          <p:cNvSpPr/>
          <p:nvPr/>
        </p:nvSpPr>
        <p:spPr>
          <a:xfrm>
            <a:off x="4711158" y="5646868"/>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Other function is OK, only Luminance is NG</a:t>
            </a:r>
          </a:p>
        </p:txBody>
      </p:sp>
      <p:sp>
        <p:nvSpPr>
          <p:cNvPr id="175" name="Rectangle 174">
            <a:extLst>
              <a:ext uri="{FF2B5EF4-FFF2-40B4-BE49-F238E27FC236}">
                <a16:creationId xmlns:a16="http://schemas.microsoft.com/office/drawing/2014/main" id="{B895C442-E39F-4F78-9F50-F0A2DC18C153}"/>
              </a:ext>
            </a:extLst>
          </p:cNvPr>
          <p:cNvSpPr/>
          <p:nvPr/>
        </p:nvSpPr>
        <p:spPr>
          <a:xfrm>
            <a:off x="3109785" y="5646868"/>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Plug in set to pallet not fully</a:t>
            </a:r>
          </a:p>
        </p:txBody>
      </p:sp>
      <p:cxnSp>
        <p:nvCxnSpPr>
          <p:cNvPr id="176" name="Straight Arrow Connector 175">
            <a:extLst>
              <a:ext uri="{FF2B5EF4-FFF2-40B4-BE49-F238E27FC236}">
                <a16:creationId xmlns:a16="http://schemas.microsoft.com/office/drawing/2014/main" id="{C530E187-51B7-4142-AC22-C60B4DBD0D5C}"/>
              </a:ext>
            </a:extLst>
          </p:cNvPr>
          <p:cNvCxnSpPr>
            <a:stCxn id="175" idx="3"/>
            <a:endCxn id="174" idx="1"/>
          </p:cNvCxnSpPr>
          <p:nvPr/>
        </p:nvCxnSpPr>
        <p:spPr>
          <a:xfrm>
            <a:off x="4406358" y="5916743"/>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23F39FC5-DB21-4BF0-B0ED-09C2FE172F84}"/>
              </a:ext>
            </a:extLst>
          </p:cNvPr>
          <p:cNvSpPr/>
          <p:nvPr/>
        </p:nvSpPr>
        <p:spPr>
          <a:xfrm>
            <a:off x="6401083" y="5646868"/>
            <a:ext cx="197898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Not relate to set plugging in</a:t>
            </a:r>
          </a:p>
        </p:txBody>
      </p:sp>
      <p:cxnSp>
        <p:nvCxnSpPr>
          <p:cNvPr id="178" name="Straight Arrow Connector 177">
            <a:extLst>
              <a:ext uri="{FF2B5EF4-FFF2-40B4-BE49-F238E27FC236}">
                <a16:creationId xmlns:a16="http://schemas.microsoft.com/office/drawing/2014/main" id="{ABB10B07-3DA1-42EA-859D-3CF7A3708297}"/>
              </a:ext>
            </a:extLst>
          </p:cNvPr>
          <p:cNvCxnSpPr>
            <a:cxnSpLocks/>
            <a:stCxn id="174" idx="3"/>
            <a:endCxn id="177" idx="1"/>
          </p:cNvCxnSpPr>
          <p:nvPr/>
        </p:nvCxnSpPr>
        <p:spPr>
          <a:xfrm>
            <a:off x="6082758" y="5916743"/>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98">
            <a:extLst>
              <a:ext uri="{FF2B5EF4-FFF2-40B4-BE49-F238E27FC236}">
                <a16:creationId xmlns:a16="http://schemas.microsoft.com/office/drawing/2014/main" id="{E6BD7F65-64F4-4BC6-8A09-AA53ECEE1177}"/>
              </a:ext>
            </a:extLst>
          </p:cNvPr>
          <p:cNvCxnSpPr>
            <a:stCxn id="74" idx="3"/>
            <a:endCxn id="80" idx="1"/>
          </p:cNvCxnSpPr>
          <p:nvPr/>
        </p:nvCxnSpPr>
        <p:spPr>
          <a:xfrm>
            <a:off x="2816609" y="6214759"/>
            <a:ext cx="301493"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Elbow Connector 98">
            <a:extLst>
              <a:ext uri="{FF2B5EF4-FFF2-40B4-BE49-F238E27FC236}">
                <a16:creationId xmlns:a16="http://schemas.microsoft.com/office/drawing/2014/main" id="{1ADB74E5-B249-445C-B177-17CEE8F659B2}"/>
              </a:ext>
            </a:extLst>
          </p:cNvPr>
          <p:cNvCxnSpPr>
            <a:stCxn id="74" idx="3"/>
            <a:endCxn id="175" idx="1"/>
          </p:cNvCxnSpPr>
          <p:nvPr/>
        </p:nvCxnSpPr>
        <p:spPr>
          <a:xfrm flipV="1">
            <a:off x="2816609" y="5916743"/>
            <a:ext cx="293176"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9F3DF8AA-61E9-45AC-A326-EEC96FD43AA4}"/>
              </a:ext>
            </a:extLst>
          </p:cNvPr>
          <p:cNvSpPr txBox="1"/>
          <p:nvPr/>
        </p:nvSpPr>
        <p:spPr>
          <a:xfrm>
            <a:off x="8192469" y="2232808"/>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4" name="TextBox 183">
            <a:extLst>
              <a:ext uri="{FF2B5EF4-FFF2-40B4-BE49-F238E27FC236}">
                <a16:creationId xmlns:a16="http://schemas.microsoft.com/office/drawing/2014/main" id="{100AD42B-DE28-44C1-9F87-EC6EEC4098F1}"/>
              </a:ext>
            </a:extLst>
          </p:cNvPr>
          <p:cNvSpPr txBox="1"/>
          <p:nvPr/>
        </p:nvSpPr>
        <p:spPr>
          <a:xfrm>
            <a:off x="8441892" y="6504761"/>
            <a:ext cx="180000" cy="369332"/>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5" name="TextBox 184">
            <a:extLst>
              <a:ext uri="{FF2B5EF4-FFF2-40B4-BE49-F238E27FC236}">
                <a16:creationId xmlns:a16="http://schemas.microsoft.com/office/drawing/2014/main" id="{E9206562-A479-4925-9BC1-FF6A9BBDE250}"/>
              </a:ext>
            </a:extLst>
          </p:cNvPr>
          <p:cNvSpPr txBox="1"/>
          <p:nvPr/>
        </p:nvSpPr>
        <p:spPr>
          <a:xfrm>
            <a:off x="8694077" y="6560610"/>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88" name="Rectangle 187">
            <a:extLst>
              <a:ext uri="{FF2B5EF4-FFF2-40B4-BE49-F238E27FC236}">
                <a16:creationId xmlns:a16="http://schemas.microsoft.com/office/drawing/2014/main" id="{78AD3491-CD21-48CA-ADF9-A64AE6C8A009}"/>
              </a:ext>
            </a:extLst>
          </p:cNvPr>
          <p:cNvSpPr/>
          <p:nvPr/>
        </p:nvSpPr>
        <p:spPr>
          <a:xfrm>
            <a:off x="4743289" y="3016995"/>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Angle is changed</a:t>
            </a:r>
          </a:p>
        </p:txBody>
      </p:sp>
      <p:sp>
        <p:nvSpPr>
          <p:cNvPr id="189" name="Rectangle 188">
            <a:extLst>
              <a:ext uri="{FF2B5EF4-FFF2-40B4-BE49-F238E27FC236}">
                <a16:creationId xmlns:a16="http://schemas.microsoft.com/office/drawing/2014/main" id="{189A6C18-A8FA-4996-8E52-61C097CBED86}"/>
              </a:ext>
            </a:extLst>
          </p:cNvPr>
          <p:cNvSpPr/>
          <p:nvPr/>
        </p:nvSpPr>
        <p:spPr>
          <a:xfrm>
            <a:off x="6416856" y="3021755"/>
            <a:ext cx="1963208"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angle of camera</a:t>
            </a:r>
          </a:p>
        </p:txBody>
      </p:sp>
      <p:sp>
        <p:nvSpPr>
          <p:cNvPr id="190" name="Text Box 2">
            <a:extLst>
              <a:ext uri="{FF2B5EF4-FFF2-40B4-BE49-F238E27FC236}">
                <a16:creationId xmlns:a16="http://schemas.microsoft.com/office/drawing/2014/main" id="{388E17BD-8641-4FEC-A5A8-2A21B1B0CD89}"/>
              </a:ext>
            </a:extLst>
          </p:cNvPr>
          <p:cNvSpPr txBox="1">
            <a:spLocks noChangeArrowheads="1"/>
          </p:cNvSpPr>
          <p:nvPr/>
        </p:nvSpPr>
        <p:spPr bwMode="auto">
          <a:xfrm>
            <a:off x="-38384" y="552932"/>
            <a:ext cx="9825377" cy="304800"/>
          </a:xfrm>
          <a:prstGeom prst="rect">
            <a:avLst/>
          </a:prstGeom>
          <a:noFill/>
          <a:ln w="9525" algn="ctr">
            <a:noFill/>
            <a:miter lim="800000"/>
            <a:headEnd/>
            <a:tailEnd/>
          </a:ln>
        </p:spPr>
        <p:txBody>
          <a:bodyPr lIns="84374" tIns="42187" rIns="84374" bIns="42187" anchor="ct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After the Type 1 study, we see that the measurement system of the Luminance station has problems, so a logic tree is used to find the root cause</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91" name="AutoShape 55">
            <a:extLst>
              <a:ext uri="{FF2B5EF4-FFF2-40B4-BE49-F238E27FC236}">
                <a16:creationId xmlns:a16="http://schemas.microsoft.com/office/drawing/2014/main" id="{CBB9EF69-BB7B-4362-AF27-5EC61A24968A}"/>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2" name="AutoShape 56">
            <a:extLst>
              <a:ext uri="{FF2B5EF4-FFF2-40B4-BE49-F238E27FC236}">
                <a16:creationId xmlns:a16="http://schemas.microsoft.com/office/drawing/2014/main" id="{899114A1-A363-4B04-A11E-ECA42BBFABBB}"/>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4" name="AutoShape 59">
            <a:extLst>
              <a:ext uri="{FF2B5EF4-FFF2-40B4-BE49-F238E27FC236}">
                <a16:creationId xmlns:a16="http://schemas.microsoft.com/office/drawing/2014/main" id="{189FE38E-6AAE-4AC6-A89D-C8987F0B06F3}"/>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aphicFrame>
        <p:nvGraphicFramePr>
          <p:cNvPr id="4" name="Object 3">
            <a:hlinkClick r:id="" action="ppaction://ole?verb=0"/>
            <a:extLst>
              <a:ext uri="{FF2B5EF4-FFF2-40B4-BE49-F238E27FC236}">
                <a16:creationId xmlns:a16="http://schemas.microsoft.com/office/drawing/2014/main" id="{CE5C7E09-1A6D-40CA-984C-4350A69E000C}"/>
              </a:ext>
            </a:extLst>
          </p:cNvPr>
          <p:cNvGraphicFramePr>
            <a:graphicFrameLocks noChangeAspect="1"/>
          </p:cNvGraphicFramePr>
          <p:nvPr>
            <p:extLst>
              <p:ext uri="{D42A27DB-BD31-4B8C-83A1-F6EECF244321}">
                <p14:modId xmlns:p14="http://schemas.microsoft.com/office/powerpoint/2010/main" val="1233077575"/>
              </p:ext>
            </p:extLst>
          </p:nvPr>
        </p:nvGraphicFramePr>
        <p:xfrm>
          <a:off x="9291889" y="2477855"/>
          <a:ext cx="495105" cy="417745"/>
        </p:xfrm>
        <a:graphic>
          <a:graphicData uri="http://schemas.openxmlformats.org/presentationml/2006/ole">
            <mc:AlternateContent xmlns:mc="http://schemas.openxmlformats.org/markup-compatibility/2006">
              <mc:Choice xmlns:v="urn:schemas-microsoft-com:vml" Requires="v">
                <p:oleObj name="Presentation" showAsIcon="1" r:id="rId3" imgW="914400" imgH="771792" progId="PowerPoint.Show.12">
                  <p:embed/>
                </p:oleObj>
              </mc:Choice>
              <mc:Fallback>
                <p:oleObj name="Presentation" showAsIcon="1" r:id="rId3" imgW="914400" imgH="771792" progId="PowerPoint.Show.12">
                  <p:embed/>
                  <p:pic>
                    <p:nvPicPr>
                      <p:cNvPr id="0" name=""/>
                      <p:cNvPicPr/>
                      <p:nvPr/>
                    </p:nvPicPr>
                    <p:blipFill>
                      <a:blip r:embed="rId4"/>
                      <a:stretch>
                        <a:fillRect/>
                      </a:stretch>
                    </p:blipFill>
                    <p:spPr>
                      <a:xfrm>
                        <a:off x="9291889" y="2477855"/>
                        <a:ext cx="495105" cy="417745"/>
                      </a:xfrm>
                      <a:prstGeom prst="rect">
                        <a:avLst/>
                      </a:prstGeom>
                    </p:spPr>
                  </p:pic>
                </p:oleObj>
              </mc:Fallback>
            </mc:AlternateContent>
          </a:graphicData>
        </a:graphic>
      </p:graphicFrame>
      <p:graphicFrame>
        <p:nvGraphicFramePr>
          <p:cNvPr id="5" name="Object 4">
            <a:hlinkClick r:id="" action="ppaction://ole?verb=0"/>
            <a:extLst>
              <a:ext uri="{FF2B5EF4-FFF2-40B4-BE49-F238E27FC236}">
                <a16:creationId xmlns:a16="http://schemas.microsoft.com/office/drawing/2014/main" id="{C929FD74-D7E2-40CF-AC12-F07CA7B9DE9E}"/>
              </a:ext>
            </a:extLst>
          </p:cNvPr>
          <p:cNvGraphicFramePr>
            <a:graphicFrameLocks noChangeAspect="1"/>
          </p:cNvGraphicFramePr>
          <p:nvPr>
            <p:extLst>
              <p:ext uri="{D42A27DB-BD31-4B8C-83A1-F6EECF244321}">
                <p14:modId xmlns:p14="http://schemas.microsoft.com/office/powerpoint/2010/main" val="1657059760"/>
              </p:ext>
            </p:extLst>
          </p:nvPr>
        </p:nvGraphicFramePr>
        <p:xfrm>
          <a:off x="9291888" y="4469007"/>
          <a:ext cx="495105" cy="417745"/>
        </p:xfrm>
        <a:graphic>
          <a:graphicData uri="http://schemas.openxmlformats.org/presentationml/2006/ole">
            <mc:AlternateContent xmlns:mc="http://schemas.openxmlformats.org/markup-compatibility/2006">
              <mc:Choice xmlns:v="urn:schemas-microsoft-com:vml" Requires="v">
                <p:oleObj name="Presentation" showAsIcon="1" r:id="rId5" imgW="914400" imgH="771792" progId="PowerPoint.Show.12">
                  <p:embed/>
                </p:oleObj>
              </mc:Choice>
              <mc:Fallback>
                <p:oleObj name="Presentation" showAsIcon="1" r:id="rId5" imgW="914400" imgH="771792" progId="PowerPoint.Show.12">
                  <p:embed/>
                  <p:pic>
                    <p:nvPicPr>
                      <p:cNvPr id="0" name=""/>
                      <p:cNvPicPr/>
                      <p:nvPr/>
                    </p:nvPicPr>
                    <p:blipFill>
                      <a:blip r:embed="rId6"/>
                      <a:stretch>
                        <a:fillRect/>
                      </a:stretch>
                    </p:blipFill>
                    <p:spPr>
                      <a:xfrm>
                        <a:off x="9291888" y="4469007"/>
                        <a:ext cx="495105" cy="417745"/>
                      </a:xfrm>
                      <a:prstGeom prst="rect">
                        <a:avLst/>
                      </a:prstGeom>
                    </p:spPr>
                  </p:pic>
                </p:oleObj>
              </mc:Fallback>
            </mc:AlternateContent>
          </a:graphicData>
        </a:graphic>
      </p:graphicFrame>
      <p:sp>
        <p:nvSpPr>
          <p:cNvPr id="182" name="TextBox 181">
            <a:extLst>
              <a:ext uri="{FF2B5EF4-FFF2-40B4-BE49-F238E27FC236}">
                <a16:creationId xmlns:a16="http://schemas.microsoft.com/office/drawing/2014/main" id="{131D16A1-B68B-4A32-87D0-AB885CC09560}"/>
              </a:ext>
            </a:extLst>
          </p:cNvPr>
          <p:cNvSpPr txBox="1"/>
          <p:nvPr/>
        </p:nvSpPr>
        <p:spPr>
          <a:xfrm>
            <a:off x="8229086" y="2975692"/>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97" name="Rectangle 96">
            <a:extLst>
              <a:ext uri="{FF2B5EF4-FFF2-40B4-BE49-F238E27FC236}">
                <a16:creationId xmlns:a16="http://schemas.microsoft.com/office/drawing/2014/main" id="{F4C9CF36-A57D-4285-8408-0B6B8AEFD0E4}"/>
              </a:ext>
            </a:extLst>
          </p:cNvPr>
          <p:cNvSpPr/>
          <p:nvPr/>
        </p:nvSpPr>
        <p:spPr>
          <a:xfrm>
            <a:off x="3118102" y="3625915"/>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a:t>
            </a:r>
          </a:p>
        </p:txBody>
      </p:sp>
      <p:sp>
        <p:nvSpPr>
          <p:cNvPr id="98" name="Rectangle 97">
            <a:extLst>
              <a:ext uri="{FF2B5EF4-FFF2-40B4-BE49-F238E27FC236}">
                <a16:creationId xmlns:a16="http://schemas.microsoft.com/office/drawing/2014/main" id="{75994054-C7FA-4934-9ED4-D403523FBE00}"/>
              </a:ext>
            </a:extLst>
          </p:cNvPr>
          <p:cNvSpPr/>
          <p:nvPr/>
        </p:nvSpPr>
        <p:spPr>
          <a:xfrm>
            <a:off x="4735833" y="3625915"/>
            <a:ext cx="1371600" cy="539750"/>
          </a:xfrm>
          <a:prstGeom prst="rect">
            <a:avLst/>
          </a:prstGeom>
          <a:solidFill>
            <a:schemeClr val="bg1">
              <a:lumMod val="9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 send weak signal for LCD recognize</a:t>
            </a:r>
          </a:p>
        </p:txBody>
      </p:sp>
      <p:sp>
        <p:nvSpPr>
          <p:cNvPr id="99" name="Rectangle 98">
            <a:extLst>
              <a:ext uri="{FF2B5EF4-FFF2-40B4-BE49-F238E27FC236}">
                <a16:creationId xmlns:a16="http://schemas.microsoft.com/office/drawing/2014/main" id="{5A1F7A52-226E-4A78-A0F9-0D9A9A23EAB8}"/>
              </a:ext>
            </a:extLst>
          </p:cNvPr>
          <p:cNvSpPr/>
          <p:nvPr/>
        </p:nvSpPr>
        <p:spPr>
          <a:xfrm>
            <a:off x="6409400" y="3630675"/>
            <a:ext cx="1970664"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CANSIM</a:t>
            </a:r>
          </a:p>
        </p:txBody>
      </p:sp>
      <p:sp>
        <p:nvSpPr>
          <p:cNvPr id="100" name="TextBox 99">
            <a:extLst>
              <a:ext uri="{FF2B5EF4-FFF2-40B4-BE49-F238E27FC236}">
                <a16:creationId xmlns:a16="http://schemas.microsoft.com/office/drawing/2014/main" id="{B140B348-EE79-468D-ACA4-7D910D6C585A}"/>
              </a:ext>
            </a:extLst>
          </p:cNvPr>
          <p:cNvSpPr txBox="1"/>
          <p:nvPr/>
        </p:nvSpPr>
        <p:spPr>
          <a:xfrm>
            <a:off x="8245705" y="3559095"/>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cxnSp>
        <p:nvCxnSpPr>
          <p:cNvPr id="37" name="Connector: Elbow 36">
            <a:extLst>
              <a:ext uri="{FF2B5EF4-FFF2-40B4-BE49-F238E27FC236}">
                <a16:creationId xmlns:a16="http://schemas.microsoft.com/office/drawing/2014/main" id="{7A1AC0BE-D61B-4DF5-A5B3-7E662E9388EC}"/>
              </a:ext>
            </a:extLst>
          </p:cNvPr>
          <p:cNvCxnSpPr>
            <a:stCxn id="76" idx="3"/>
            <a:endCxn id="78" idx="1"/>
          </p:cNvCxnSpPr>
          <p:nvPr/>
        </p:nvCxnSpPr>
        <p:spPr bwMode="auto">
          <a:xfrm flipV="1">
            <a:off x="2783434" y="1237992"/>
            <a:ext cx="339593" cy="459240"/>
          </a:xfrm>
          <a:prstGeom prst="bentConnector3">
            <a:avLst/>
          </a:prstGeom>
          <a:noFill/>
          <a:ln w="9525" cap="flat" cmpd="sng" algn="ctr">
            <a:solidFill>
              <a:schemeClr val="tx1"/>
            </a:solidFill>
            <a:prstDash val="solid"/>
            <a:round/>
            <a:headEnd type="none" w="med" len="med"/>
            <a:tailEnd type="triangle"/>
          </a:ln>
          <a:effectLst/>
        </p:spPr>
      </p:cxnSp>
      <p:cxnSp>
        <p:nvCxnSpPr>
          <p:cNvPr id="39" name="Connector: Elbow 38">
            <a:extLst>
              <a:ext uri="{FF2B5EF4-FFF2-40B4-BE49-F238E27FC236}">
                <a16:creationId xmlns:a16="http://schemas.microsoft.com/office/drawing/2014/main" id="{815AC848-5978-4A92-9CE9-375F6E7FDBD4}"/>
              </a:ext>
            </a:extLst>
          </p:cNvPr>
          <p:cNvCxnSpPr>
            <a:stCxn id="76" idx="3"/>
            <a:endCxn id="77" idx="1"/>
          </p:cNvCxnSpPr>
          <p:nvPr/>
        </p:nvCxnSpPr>
        <p:spPr bwMode="auto">
          <a:xfrm>
            <a:off x="2783434" y="1697232"/>
            <a:ext cx="348848" cy="176427"/>
          </a:xfrm>
          <a:prstGeom prst="bentConnector3">
            <a:avLst/>
          </a:prstGeom>
          <a:noFill/>
          <a:ln w="9525" cap="flat" cmpd="sng" algn="ctr">
            <a:solidFill>
              <a:schemeClr val="tx1"/>
            </a:solidFill>
            <a:prstDash val="solid"/>
            <a:round/>
            <a:headEnd type="none" w="med" len="med"/>
            <a:tailEnd type="triangle"/>
          </a:ln>
          <a:effectLst/>
        </p:spPr>
      </p:cxnSp>
      <p:cxnSp>
        <p:nvCxnSpPr>
          <p:cNvPr id="41" name="Connector: Elbow 40">
            <a:extLst>
              <a:ext uri="{FF2B5EF4-FFF2-40B4-BE49-F238E27FC236}">
                <a16:creationId xmlns:a16="http://schemas.microsoft.com/office/drawing/2014/main" id="{7C42D187-FF46-4A63-9E9D-A025BC7CC663}"/>
              </a:ext>
            </a:extLst>
          </p:cNvPr>
          <p:cNvCxnSpPr>
            <a:stCxn id="76" idx="3"/>
            <a:endCxn id="84" idx="1"/>
          </p:cNvCxnSpPr>
          <p:nvPr/>
        </p:nvCxnSpPr>
        <p:spPr bwMode="auto">
          <a:xfrm>
            <a:off x="2783434" y="1697232"/>
            <a:ext cx="346967" cy="907622"/>
          </a:xfrm>
          <a:prstGeom prst="bentConnector3">
            <a:avLst/>
          </a:prstGeom>
          <a:noFill/>
          <a:ln w="9525" cap="flat" cmpd="sng" algn="ctr">
            <a:solidFill>
              <a:srgbClr val="FF0000"/>
            </a:solidFill>
            <a:prstDash val="solid"/>
            <a:round/>
            <a:headEnd type="none" w="med" len="med"/>
            <a:tailEnd type="triangle"/>
          </a:ln>
          <a:effectLst/>
        </p:spPr>
      </p:cxnSp>
      <p:cxnSp>
        <p:nvCxnSpPr>
          <p:cNvPr id="45" name="Connector: Elbow 44">
            <a:extLst>
              <a:ext uri="{FF2B5EF4-FFF2-40B4-BE49-F238E27FC236}">
                <a16:creationId xmlns:a16="http://schemas.microsoft.com/office/drawing/2014/main" id="{303C918B-97A1-4B86-8F1E-F6CE142A657B}"/>
              </a:ext>
            </a:extLst>
          </p:cNvPr>
          <p:cNvCxnSpPr>
            <a:stCxn id="76" idx="3"/>
            <a:endCxn id="97" idx="1"/>
          </p:cNvCxnSpPr>
          <p:nvPr/>
        </p:nvCxnSpPr>
        <p:spPr bwMode="auto">
          <a:xfrm>
            <a:off x="2783434" y="1697232"/>
            <a:ext cx="334668" cy="2198558"/>
          </a:xfrm>
          <a:prstGeom prst="bentConnector3">
            <a:avLst/>
          </a:prstGeom>
          <a:noFill/>
          <a:ln w="9525" cap="flat" cmpd="sng" algn="ctr">
            <a:solidFill>
              <a:srgbClr val="FF0000"/>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CD65241C-0538-4EDA-9433-9F69261C4D85}"/>
              </a:ext>
            </a:extLst>
          </p:cNvPr>
          <p:cNvCxnSpPr>
            <a:stCxn id="97" idx="3"/>
            <a:endCxn id="98" idx="1"/>
          </p:cNvCxnSpPr>
          <p:nvPr/>
        </p:nvCxnSpPr>
        <p:spPr bwMode="auto">
          <a:xfrm>
            <a:off x="4414675" y="3895790"/>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4527899-A765-458F-8A78-A363E20CA815}"/>
              </a:ext>
            </a:extLst>
          </p:cNvPr>
          <p:cNvCxnSpPr>
            <a:stCxn id="84" idx="3"/>
            <a:endCxn id="89" idx="1"/>
          </p:cNvCxnSpPr>
          <p:nvPr/>
        </p:nvCxnSpPr>
        <p:spPr bwMode="auto">
          <a:xfrm>
            <a:off x="4426974" y="2604854"/>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AFC0009-2914-4210-BA1F-C7185110F42E}"/>
              </a:ext>
            </a:extLst>
          </p:cNvPr>
          <p:cNvCxnSpPr>
            <a:stCxn id="77" idx="3"/>
            <a:endCxn id="81" idx="1"/>
          </p:cNvCxnSpPr>
          <p:nvPr/>
        </p:nvCxnSpPr>
        <p:spPr bwMode="auto">
          <a:xfrm>
            <a:off x="4428855" y="1873659"/>
            <a:ext cx="304800" cy="0"/>
          </a:xfrm>
          <a:prstGeom prst="straightConnector1">
            <a:avLst/>
          </a:prstGeom>
          <a:noFill/>
          <a:ln w="9525" cap="flat" cmpd="sng" algn="ctr">
            <a:solidFill>
              <a:schemeClr val="tx1"/>
            </a:solidFill>
            <a:prstDash val="solid"/>
            <a:round/>
            <a:headEnd type="none" w="med" len="med"/>
            <a:tailEnd type="triangle"/>
          </a:ln>
          <a:effectLst/>
        </p:spPr>
      </p:cxnSp>
      <p:cxnSp>
        <p:nvCxnSpPr>
          <p:cNvPr id="55" name="Straight Arrow Connector 54">
            <a:extLst>
              <a:ext uri="{FF2B5EF4-FFF2-40B4-BE49-F238E27FC236}">
                <a16:creationId xmlns:a16="http://schemas.microsoft.com/office/drawing/2014/main" id="{6AF0FBA5-C2E8-41FC-94EA-78655BBAEBCA}"/>
              </a:ext>
            </a:extLst>
          </p:cNvPr>
          <p:cNvCxnSpPr>
            <a:stCxn id="78" idx="3"/>
            <a:endCxn id="79" idx="1"/>
          </p:cNvCxnSpPr>
          <p:nvPr/>
        </p:nvCxnSpPr>
        <p:spPr bwMode="auto">
          <a:xfrm flipV="1">
            <a:off x="4419600" y="1237550"/>
            <a:ext cx="311016" cy="442"/>
          </a:xfrm>
          <a:prstGeom prst="straightConnector1">
            <a:avLst/>
          </a:prstGeom>
          <a:no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1F3F4B1A-206F-4764-AB45-1B97FEE192AC}"/>
              </a:ext>
            </a:extLst>
          </p:cNvPr>
          <p:cNvCxnSpPr>
            <a:stCxn id="79" idx="3"/>
            <a:endCxn id="103" idx="1"/>
          </p:cNvCxnSpPr>
          <p:nvPr/>
        </p:nvCxnSpPr>
        <p:spPr bwMode="auto">
          <a:xfrm>
            <a:off x="6102216" y="1237550"/>
            <a:ext cx="312109" cy="0"/>
          </a:xfrm>
          <a:prstGeom prst="straightConnector1">
            <a:avLst/>
          </a:prstGeom>
          <a:no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4ED58CB8-EB39-4ECB-BB3D-DF765EEF23C6}"/>
              </a:ext>
            </a:extLst>
          </p:cNvPr>
          <p:cNvCxnSpPr>
            <a:stCxn id="81" idx="3"/>
            <a:endCxn id="104" idx="1"/>
          </p:cNvCxnSpPr>
          <p:nvPr/>
        </p:nvCxnSpPr>
        <p:spPr bwMode="auto">
          <a:xfrm>
            <a:off x="6105255" y="1873659"/>
            <a:ext cx="289584" cy="0"/>
          </a:xfrm>
          <a:prstGeom prst="straightConnector1">
            <a:avLst/>
          </a:prstGeom>
          <a:no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F40C8031-D0CB-4EA3-B672-41A2BAA53A8B}"/>
              </a:ext>
            </a:extLst>
          </p:cNvPr>
          <p:cNvCxnSpPr>
            <a:stCxn id="89" idx="3"/>
            <a:endCxn id="106" idx="1"/>
          </p:cNvCxnSpPr>
          <p:nvPr/>
        </p:nvCxnSpPr>
        <p:spPr bwMode="auto">
          <a:xfrm>
            <a:off x="6119732" y="2604854"/>
            <a:ext cx="301966"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170F0DBF-836A-475B-A067-ABA424571F49}"/>
              </a:ext>
            </a:extLst>
          </p:cNvPr>
          <p:cNvCxnSpPr>
            <a:cxnSpLocks/>
            <a:stCxn id="188" idx="3"/>
            <a:endCxn id="189" idx="1"/>
          </p:cNvCxnSpPr>
          <p:nvPr/>
        </p:nvCxnSpPr>
        <p:spPr bwMode="auto">
          <a:xfrm>
            <a:off x="6114889" y="3286870"/>
            <a:ext cx="301967"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7" name="Straight Arrow Connector 66">
            <a:extLst>
              <a:ext uri="{FF2B5EF4-FFF2-40B4-BE49-F238E27FC236}">
                <a16:creationId xmlns:a16="http://schemas.microsoft.com/office/drawing/2014/main" id="{10B380A6-82B8-4C3E-A43A-E1768E54CA4B}"/>
              </a:ext>
            </a:extLst>
          </p:cNvPr>
          <p:cNvCxnSpPr>
            <a:stCxn id="98" idx="3"/>
            <a:endCxn id="99" idx="1"/>
          </p:cNvCxnSpPr>
          <p:nvPr/>
        </p:nvCxnSpPr>
        <p:spPr bwMode="auto">
          <a:xfrm>
            <a:off x="6107433" y="3895790"/>
            <a:ext cx="301967" cy="4760"/>
          </a:xfrm>
          <a:prstGeom prst="straightConnector1">
            <a:avLst/>
          </a:prstGeom>
          <a:noFill/>
          <a:ln w="9525" cap="flat" cmpd="sng" algn="ctr">
            <a:solidFill>
              <a:srgbClr val="C00000"/>
            </a:solidFill>
            <a:prstDash val="solid"/>
            <a:round/>
            <a:headEnd type="none" w="med" len="med"/>
            <a:tailEnd type="triangle"/>
          </a:ln>
          <a:effectLst/>
        </p:spPr>
      </p:cxnSp>
      <p:sp>
        <p:nvSpPr>
          <p:cNvPr id="172" name="AutoShape 58">
            <a:extLst>
              <a:ext uri="{FF2B5EF4-FFF2-40B4-BE49-F238E27FC236}">
                <a16:creationId xmlns:a16="http://schemas.microsoft.com/office/drawing/2014/main" id="{B62677B9-888A-4840-899E-E32D64306EB5}"/>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83" name="AutoShape 57">
            <a:extLst>
              <a:ext uri="{FF2B5EF4-FFF2-40B4-BE49-F238E27FC236}">
                <a16:creationId xmlns:a16="http://schemas.microsoft.com/office/drawing/2014/main" id="{23C9CAEE-59A1-46EB-8940-8C7223841C65}"/>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cxnSp>
        <p:nvCxnSpPr>
          <p:cNvPr id="15" name="Connector: Elbow 14">
            <a:extLst>
              <a:ext uri="{FF2B5EF4-FFF2-40B4-BE49-F238E27FC236}">
                <a16:creationId xmlns:a16="http://schemas.microsoft.com/office/drawing/2014/main" id="{BCF99099-F0BF-42B7-BA7E-6881BC669740}"/>
              </a:ext>
            </a:extLst>
          </p:cNvPr>
          <p:cNvCxnSpPr>
            <a:cxnSpLocks/>
            <a:stCxn id="84" idx="3"/>
            <a:endCxn id="188" idx="1"/>
          </p:cNvCxnSpPr>
          <p:nvPr/>
        </p:nvCxnSpPr>
        <p:spPr bwMode="auto">
          <a:xfrm>
            <a:off x="4426974" y="2604854"/>
            <a:ext cx="316315" cy="682016"/>
          </a:xfrm>
          <a:prstGeom prst="bentConnector3">
            <a:avLst/>
          </a:prstGeom>
          <a:noFill/>
          <a:ln w="9525" cap="flat" cmpd="sng" algn="ctr">
            <a:solidFill>
              <a:srgbClr val="C00000"/>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165D5E96-02F4-4B54-9857-CC1D4C995313}"/>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4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11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2536506491"/>
              </p:ext>
            </p:extLst>
          </p:nvPr>
        </p:nvGraphicFramePr>
        <p:xfrm>
          <a:off x="328027" y="1087809"/>
          <a:ext cx="8793194"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664115">
                  <a:extLst>
                    <a:ext uri="{9D8B030D-6E8A-4147-A177-3AD203B41FA5}">
                      <a16:colId xmlns:a16="http://schemas.microsoft.com/office/drawing/2014/main" val="4121057302"/>
                    </a:ext>
                  </a:extLst>
                </a:gridCol>
                <a:gridCol w="942128">
                  <a:extLst>
                    <a:ext uri="{9D8B030D-6E8A-4147-A177-3AD203B41FA5}">
                      <a16:colId xmlns:a16="http://schemas.microsoft.com/office/drawing/2014/main" val="6004670"/>
                    </a:ext>
                  </a:extLst>
                </a:gridCol>
              </a:tblGrid>
              <a:tr h="532635">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List checking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CANSIM send weak signal to LCD recognized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CANSIM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Measure incorrectly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camera</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Camera angle changed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Checking luminance value before /after changing angle of detector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13" name="Straight Connector 12">
            <a:extLst>
              <a:ext uri="{FF2B5EF4-FFF2-40B4-BE49-F238E27FC236}">
                <a16:creationId xmlns:a16="http://schemas.microsoft.com/office/drawing/2014/main" id="{30BD119D-483F-4B62-A423-BE8480B87DC8}"/>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82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E53BB-8EA3-4A02-8B07-C1241536D4CC}"/>
              </a:ext>
            </a:extLst>
          </p:cNvPr>
          <p:cNvPicPr>
            <a:picLocks noChangeAspect="1"/>
          </p:cNvPicPr>
          <p:nvPr/>
        </p:nvPicPr>
        <p:blipFill>
          <a:blip r:embed="rId3"/>
          <a:stretch>
            <a:fillRect/>
          </a:stretch>
        </p:blipFill>
        <p:spPr>
          <a:xfrm>
            <a:off x="6929967" y="1459562"/>
            <a:ext cx="2554377" cy="4328997"/>
          </a:xfrm>
          <a:prstGeom prst="rect">
            <a:avLst/>
          </a:prstGeom>
        </p:spPr>
      </p:pic>
      <p:pic>
        <p:nvPicPr>
          <p:cNvPr id="8" name="Picture 7">
            <a:extLst>
              <a:ext uri="{FF2B5EF4-FFF2-40B4-BE49-F238E27FC236}">
                <a16:creationId xmlns:a16="http://schemas.microsoft.com/office/drawing/2014/main" id="{690435D6-C429-45C3-B6B1-35C46158EE86}"/>
              </a:ext>
            </a:extLst>
          </p:cNvPr>
          <p:cNvPicPr>
            <a:picLocks noChangeAspect="1"/>
          </p:cNvPicPr>
          <p:nvPr/>
        </p:nvPicPr>
        <p:blipFill>
          <a:blip r:embed="rId4"/>
          <a:stretch>
            <a:fillRect/>
          </a:stretch>
        </p:blipFill>
        <p:spPr>
          <a:xfrm>
            <a:off x="3639951" y="1487678"/>
            <a:ext cx="2850569" cy="4224337"/>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12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CANSIM of the Luminance station_Change to the new CANSIM</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CANSIM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CANSIM affects the luminance in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1" name="Rectangle 40">
            <a:extLst>
              <a:ext uri="{FF2B5EF4-FFF2-40B4-BE49-F238E27FC236}">
                <a16:creationId xmlns:a16="http://schemas.microsoft.com/office/drawing/2014/main" id="{B1E05F07-6192-43D2-BDDA-820ED5A6D7C8}"/>
              </a:ext>
            </a:extLst>
          </p:cNvPr>
          <p:cNvSpPr/>
          <p:nvPr/>
        </p:nvSpPr>
        <p:spPr>
          <a:xfrm>
            <a:off x="3622945" y="554014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 0.695 &gt; 0.05 -&gt; Fail to reject H0 (No significant difference before/after changing CANSIM).</a:t>
            </a:r>
          </a:p>
        </p:txBody>
      </p:sp>
      <p:sp>
        <p:nvSpPr>
          <p:cNvPr id="42" name="Rectangle 41">
            <a:extLst>
              <a:ext uri="{FF2B5EF4-FFF2-40B4-BE49-F238E27FC236}">
                <a16:creationId xmlns:a16="http://schemas.microsoft.com/office/drawing/2014/main" id="{56AC9E33-5B26-4D42-8AD9-8C8F452EA347}"/>
              </a:ext>
            </a:extLst>
          </p:cNvPr>
          <p:cNvSpPr/>
          <p:nvPr/>
        </p:nvSpPr>
        <p:spPr>
          <a:xfrm>
            <a:off x="7005666" y="5568722"/>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Changing CANSIM has no significant effect on luminance (Factor eliminated).</a:t>
            </a:r>
          </a:p>
        </p:txBody>
      </p:sp>
      <p:sp>
        <p:nvSpPr>
          <p:cNvPr id="43" name="Rectangle 42">
            <a:extLst>
              <a:ext uri="{FF2B5EF4-FFF2-40B4-BE49-F238E27FC236}">
                <a16:creationId xmlns:a16="http://schemas.microsoft.com/office/drawing/2014/main" id="{6E83014D-3F1B-4CCF-854B-576FA6A74A3A}"/>
              </a:ext>
            </a:extLst>
          </p:cNvPr>
          <p:cNvSpPr/>
          <p:nvPr/>
        </p:nvSpPr>
        <p:spPr>
          <a:xfrm>
            <a:off x="152438" y="4574457"/>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Both samples fail the normality test (Anderson-Darling P &lt; 0.005); with n = 30 per group the 2-sample t-test (Welch) is robust.</a:t>
            </a:r>
          </a:p>
        </p:txBody>
      </p:sp>
      <p:pic>
        <p:nvPicPr>
          <p:cNvPr id="10" name="Picture 9">
            <a:extLst>
              <a:ext uri="{FF2B5EF4-FFF2-40B4-BE49-F238E27FC236}">
                <a16:creationId xmlns:a16="http://schemas.microsoft.com/office/drawing/2014/main" id="{ED8DA734-5217-4015-98F6-80B3FBB26F85}"/>
              </a:ext>
            </a:extLst>
          </p:cNvPr>
          <p:cNvPicPr>
            <a:picLocks noChangeAspect="1"/>
          </p:cNvPicPr>
          <p:nvPr/>
        </p:nvPicPr>
        <p:blipFill>
          <a:blip r:embed="rId5"/>
          <a:stretch>
            <a:fillRect/>
          </a:stretch>
        </p:blipFill>
        <p:spPr>
          <a:xfrm>
            <a:off x="161963" y="2127473"/>
            <a:ext cx="3183204" cy="2168212"/>
          </a:xfrm>
          <a:prstGeom prst="rect">
            <a:avLst/>
          </a:prstGeom>
        </p:spPr>
      </p:pic>
      <p:cxnSp>
        <p:nvCxnSpPr>
          <p:cNvPr id="21" name="Straight Connector 20">
            <a:extLst>
              <a:ext uri="{FF2B5EF4-FFF2-40B4-BE49-F238E27FC236}">
                <a16:creationId xmlns:a16="http://schemas.microsoft.com/office/drawing/2014/main" id="{3B2BAC12-9112-4963-B6B7-476061BB0D9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4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7F0C3D-A52B-4FFE-B84A-79BA69F43C4C}"/>
              </a:ext>
            </a:extLst>
          </p:cNvPr>
          <p:cNvPicPr>
            <a:picLocks noChangeAspect="1"/>
          </p:cNvPicPr>
          <p:nvPr/>
        </p:nvPicPr>
        <p:blipFill>
          <a:blip r:embed="rId3"/>
          <a:stretch>
            <a:fillRect/>
          </a:stretch>
        </p:blipFill>
        <p:spPr>
          <a:xfrm>
            <a:off x="7106684" y="1592725"/>
            <a:ext cx="2234166" cy="4047856"/>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new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new camera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new camera affects luminance in the Luminance station</a:t>
            </a:r>
          </a:p>
        </p:txBody>
      </p:sp>
      <p:grpSp>
        <p:nvGrpSpPr>
          <p:cNvPr id="18" name="Group 17">
            <a:extLst>
              <a:ext uri="{FF2B5EF4-FFF2-40B4-BE49-F238E27FC236}">
                <a16:creationId xmlns:a16="http://schemas.microsoft.com/office/drawing/2014/main" id="{6004C03C-D103-4228-8164-DAC001218135}"/>
              </a:ext>
            </a:extLst>
          </p:cNvPr>
          <p:cNvGrpSpPr/>
          <p:nvPr/>
        </p:nvGrpSpPr>
        <p:grpSpPr>
          <a:xfrm>
            <a:off x="98866" y="1363842"/>
            <a:ext cx="3417450" cy="4985319"/>
            <a:chOff x="27541" y="1363842"/>
            <a:chExt cx="3488775" cy="4985319"/>
          </a:xfrm>
        </p:grpSpPr>
        <p:sp>
          <p:nvSpPr>
            <p:cNvPr id="30" name="Rectangle 29">
              <a:extLst>
                <a:ext uri="{FF2B5EF4-FFF2-40B4-BE49-F238E27FC236}">
                  <a16:creationId xmlns:a16="http://schemas.microsoft.com/office/drawing/2014/main" id="{3DCD8DDD-848A-4DD4-8977-795C2A45FAA7}"/>
                </a:ext>
              </a:extLst>
            </p:cNvPr>
            <p:cNvSpPr/>
            <p:nvPr/>
          </p:nvSpPr>
          <p:spPr>
            <a:xfrm>
              <a:off x="82231" y="457445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 xml:space="preserve">Both samples fail the normality test (Anderson-Darling P &lt; 0.005). With n = 30 per group the 2-sample t-test (Welch) is robust: P = 0.950 &gt; 0.05, so changing the camera has no significant effect.</a:t>
              </a:r>
            </a:p>
          </p:txBody>
        </p:sp>
        <p:sp>
          <p:nvSpPr>
            <p:cNvPr id="13" name="Rectangle 12">
              <a:extLst>
                <a:ext uri="{FF2B5EF4-FFF2-40B4-BE49-F238E27FC236}">
                  <a16:creationId xmlns:a16="http://schemas.microsoft.com/office/drawing/2014/main" id="{6991B64C-3D0C-4AFC-9A02-6A7E183572E6}"/>
                </a:ext>
              </a:extLst>
            </p:cNvPr>
            <p:cNvSpPr/>
            <p:nvPr/>
          </p:nvSpPr>
          <p:spPr>
            <a:xfrm>
              <a:off x="27541" y="1363842"/>
              <a:ext cx="3488775"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25E2A72-A1A7-475D-B240-E52042B39D12}"/>
              </a:ext>
            </a:extLst>
          </p:cNvPr>
          <p:cNvSpPr/>
          <p:nvPr/>
        </p:nvSpPr>
        <p:spPr>
          <a:xfrm>
            <a:off x="3616861" y="5650106"/>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 0.950 &gt; 0.05 -&gt; Fail to reject H0 (No significant difference before/after changing camera).</a:t>
            </a:r>
          </a:p>
        </p:txBody>
      </p:sp>
      <p:pic>
        <p:nvPicPr>
          <p:cNvPr id="4" name="Picture 3">
            <a:extLst>
              <a:ext uri="{FF2B5EF4-FFF2-40B4-BE49-F238E27FC236}">
                <a16:creationId xmlns:a16="http://schemas.microsoft.com/office/drawing/2014/main" id="{713F22A1-2A24-4A0B-8A57-21B51CCA25AF}"/>
              </a:ext>
            </a:extLst>
          </p:cNvPr>
          <p:cNvPicPr>
            <a:picLocks noChangeAspect="1"/>
          </p:cNvPicPr>
          <p:nvPr/>
        </p:nvPicPr>
        <p:blipFill>
          <a:blip r:embed="rId4"/>
          <a:stretch>
            <a:fillRect/>
          </a:stretch>
        </p:blipFill>
        <p:spPr>
          <a:xfrm>
            <a:off x="3774759" y="1787863"/>
            <a:ext cx="2606993" cy="3724275"/>
          </a:xfrm>
          <a:prstGeom prst="rect">
            <a:avLst/>
          </a:prstGeom>
        </p:spPr>
      </p:pic>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28" name="Rectangle 27">
            <a:extLst>
              <a:ext uri="{FF2B5EF4-FFF2-40B4-BE49-F238E27FC236}">
                <a16:creationId xmlns:a16="http://schemas.microsoft.com/office/drawing/2014/main" id="{247185BE-8036-4784-9456-394E8FE0CE4B}"/>
              </a:ext>
            </a:extLst>
          </p:cNvPr>
          <p:cNvSpPr/>
          <p:nvPr/>
        </p:nvSpPr>
        <p:spPr>
          <a:xfrm>
            <a:off x="6890602" y="5528419"/>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Changing camera has no significant effect on luminance (Factor eliminated).</a:t>
            </a:r>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pic>
        <p:nvPicPr>
          <p:cNvPr id="2" name="Picture 1">
            <a:extLst>
              <a:ext uri="{FF2B5EF4-FFF2-40B4-BE49-F238E27FC236}">
                <a16:creationId xmlns:a16="http://schemas.microsoft.com/office/drawing/2014/main" id="{AFCD0B0C-4467-4222-A67F-45926F3433D6}"/>
              </a:ext>
            </a:extLst>
          </p:cNvPr>
          <p:cNvPicPr>
            <a:picLocks noChangeAspect="1"/>
          </p:cNvPicPr>
          <p:nvPr/>
        </p:nvPicPr>
        <p:blipFill>
          <a:blip r:embed="rId5"/>
          <a:stretch>
            <a:fillRect/>
          </a:stretch>
        </p:blipFill>
        <p:spPr>
          <a:xfrm>
            <a:off x="142669" y="2162694"/>
            <a:ext cx="3253640" cy="2162957"/>
          </a:xfrm>
          <a:prstGeom prst="rect">
            <a:avLst/>
          </a:prstGeom>
        </p:spPr>
      </p:pic>
      <p:cxnSp>
        <p:nvCxnSpPr>
          <p:cNvPr id="22" name="Straight Connector 21">
            <a:extLst>
              <a:ext uri="{FF2B5EF4-FFF2-40B4-BE49-F238E27FC236}">
                <a16:creationId xmlns:a16="http://schemas.microsoft.com/office/drawing/2014/main" id="{481D8C7D-05B6-4D3D-9ABB-71119BC488A9}"/>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7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F81463-D00C-42E3-B8C4-F13E6DF99BB3}"/>
              </a:ext>
            </a:extLst>
          </p:cNvPr>
          <p:cNvPicPr>
            <a:picLocks noChangeAspect="1"/>
          </p:cNvPicPr>
          <p:nvPr/>
        </p:nvPicPr>
        <p:blipFill>
          <a:blip r:embed="rId3"/>
          <a:stretch>
            <a:fillRect/>
          </a:stretch>
        </p:blipFill>
        <p:spPr>
          <a:xfrm>
            <a:off x="3578913" y="1463388"/>
            <a:ext cx="2830034" cy="4232009"/>
          </a:xfrm>
          <a:prstGeom prst="rect">
            <a:avLst/>
          </a:prstGeom>
        </p:spPr>
      </p:pic>
      <p:pic>
        <p:nvPicPr>
          <p:cNvPr id="5" name="Picture 4">
            <a:extLst>
              <a:ext uri="{FF2B5EF4-FFF2-40B4-BE49-F238E27FC236}">
                <a16:creationId xmlns:a16="http://schemas.microsoft.com/office/drawing/2014/main" id="{B02A1F05-CB59-4ED6-9475-01BA35AED076}"/>
              </a:ext>
            </a:extLst>
          </p:cNvPr>
          <p:cNvPicPr>
            <a:picLocks noChangeAspect="1"/>
          </p:cNvPicPr>
          <p:nvPr/>
        </p:nvPicPr>
        <p:blipFill>
          <a:blip r:embed="rId4"/>
          <a:stretch>
            <a:fillRect/>
          </a:stretch>
        </p:blipFill>
        <p:spPr>
          <a:xfrm>
            <a:off x="6881471" y="1821584"/>
            <a:ext cx="2794242" cy="3819383"/>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35883" y="6564853"/>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latinLnBrk="0">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angle of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angle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angle affects the luminance in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1" name="Rectangle 30">
            <a:extLst>
              <a:ext uri="{FF2B5EF4-FFF2-40B4-BE49-F238E27FC236}">
                <a16:creationId xmlns:a16="http://schemas.microsoft.com/office/drawing/2014/main" id="{97D18562-BCC3-4013-82DD-F4D405717BC8}"/>
              </a:ext>
            </a:extLst>
          </p:cNvPr>
          <p:cNvSpPr/>
          <p:nvPr/>
        </p:nvSpPr>
        <p:spPr>
          <a:xfrm>
            <a:off x="7078109" y="5640967"/>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1">
                <a:solidFill>
                  <a:prstClr val="black"/>
                </a:solidFill>
                <a:latin typeface="Arial"/>
              </a:rPr>
              <a:t>Changing camera angle significantly affects luminance → Root Cause verified!</a:t>
            </a:r>
          </a:p>
        </p:txBody>
      </p:sp>
      <p:sp>
        <p:nvSpPr>
          <p:cNvPr id="34" name="Rectangle 33">
            <a:extLst>
              <a:ext uri="{FF2B5EF4-FFF2-40B4-BE49-F238E27FC236}">
                <a16:creationId xmlns:a16="http://schemas.microsoft.com/office/drawing/2014/main" id="{57C9282F-7684-42EC-8ACA-B2F7764FEB40}"/>
              </a:ext>
            </a:extLst>
          </p:cNvPr>
          <p:cNvSpPr/>
          <p:nvPr/>
        </p:nvSpPr>
        <p:spPr>
          <a:xfrm>
            <a:off x="3608582" y="5694299"/>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&lt; 0.001 (&lt; 0.05) -&gt; Reject H0 (Significant difference before/after angle adjustment).</a:t>
            </a:r>
          </a:p>
        </p:txBody>
      </p:sp>
      <p:sp>
        <p:nvSpPr>
          <p:cNvPr id="35" name="Rectangle 34">
            <a:extLst>
              <a:ext uri="{FF2B5EF4-FFF2-40B4-BE49-F238E27FC236}">
                <a16:creationId xmlns:a16="http://schemas.microsoft.com/office/drawing/2014/main" id="{C6D04D18-793F-4BB5-941D-DBC9777DF9A3}"/>
              </a:ext>
            </a:extLst>
          </p:cNvPr>
          <p:cNvSpPr/>
          <p:nvPr/>
        </p:nvSpPr>
        <p:spPr>
          <a:xfrm>
            <a:off x="98866" y="5564534"/>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The before-fix sample (C1) fails the normality test (Anderson-Darling P &lt; 0.005); with n = 30 per group the 2-sample t-test (Welch) is robust. After the angle correction the mean is 48.99 Cd/m² higher (95% CI 32.93 to 65.05).</a:t>
            </a:r>
          </a:p>
        </p:txBody>
      </p:sp>
      <p:pic>
        <p:nvPicPr>
          <p:cNvPr id="7" name="Picture 6">
            <a:extLst>
              <a:ext uri="{FF2B5EF4-FFF2-40B4-BE49-F238E27FC236}">
                <a16:creationId xmlns:a16="http://schemas.microsoft.com/office/drawing/2014/main" id="{0BD2CE55-1666-4BA2-8F5D-76D7AD09ED1B}"/>
              </a:ext>
            </a:extLst>
          </p:cNvPr>
          <p:cNvPicPr>
            <a:picLocks noChangeAspect="1"/>
          </p:cNvPicPr>
          <p:nvPr/>
        </p:nvPicPr>
        <p:blipFill>
          <a:blip r:embed="rId5"/>
          <a:stretch>
            <a:fillRect/>
          </a:stretch>
        </p:blipFill>
        <p:spPr>
          <a:xfrm>
            <a:off x="189458" y="2514600"/>
            <a:ext cx="3160523" cy="2113294"/>
          </a:xfrm>
          <a:prstGeom prst="rect">
            <a:avLst/>
          </a:prstGeom>
        </p:spPr>
      </p:pic>
      <p:cxnSp>
        <p:nvCxnSpPr>
          <p:cNvPr id="23" name="Straight Connector 22">
            <a:extLst>
              <a:ext uri="{FF2B5EF4-FFF2-40B4-BE49-F238E27FC236}">
                <a16:creationId xmlns:a16="http://schemas.microsoft.com/office/drawing/2014/main" id="{BA493B99-CBD5-4FF7-890F-B765055A2C9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824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15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Box 13">
            <a:extLst>
              <a:ext uri="{FF2B5EF4-FFF2-40B4-BE49-F238E27FC236}">
                <a16:creationId xmlns:a16="http://schemas.microsoft.com/office/drawing/2014/main" id="{77319FFA-3B9B-430E-9F64-271EFD67D4AA}"/>
              </a:ext>
            </a:extLst>
          </p:cNvPr>
          <p:cNvSpPr txBox="1"/>
          <p:nvPr/>
        </p:nvSpPr>
        <p:spPr>
          <a:xfrm>
            <a:off x="6391971" y="2262358"/>
            <a:ext cx="391772" cy="374589"/>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graphicFrame>
        <p:nvGraphicFramePr>
          <p:cNvPr id="3" name="Table 2">
            <a:extLst>
              <a:ext uri="{FF2B5EF4-FFF2-40B4-BE49-F238E27FC236}">
                <a16:creationId xmlns:a16="http://schemas.microsoft.com/office/drawing/2014/main" id="{BF03B95D-B4D0-4970-B381-592923B524DE}"/>
              </a:ext>
            </a:extLst>
          </p:cNvPr>
          <p:cNvGraphicFramePr>
            <a:graphicFrameLocks noGrp="1"/>
          </p:cNvGraphicFramePr>
          <p:nvPr>
            <p:extLst>
              <p:ext uri="{D42A27DB-BD31-4B8C-83A1-F6EECF244321}">
                <p14:modId xmlns:p14="http://schemas.microsoft.com/office/powerpoint/2010/main" val="2992845359"/>
              </p:ext>
            </p:extLst>
          </p:nvPr>
        </p:nvGraphicFramePr>
        <p:xfrm>
          <a:off x="281227" y="976320"/>
          <a:ext cx="9243773" cy="1518595"/>
        </p:xfrm>
        <a:graphic>
          <a:graphicData uri="http://schemas.openxmlformats.org/drawingml/2006/table">
            <a:tbl>
              <a:tblPr/>
              <a:tblGrid>
                <a:gridCol w="467054">
                  <a:extLst>
                    <a:ext uri="{9D8B030D-6E8A-4147-A177-3AD203B41FA5}">
                      <a16:colId xmlns:a16="http://schemas.microsoft.com/office/drawing/2014/main" val="2109521739"/>
                    </a:ext>
                  </a:extLst>
                </a:gridCol>
                <a:gridCol w="2199045">
                  <a:extLst>
                    <a:ext uri="{9D8B030D-6E8A-4147-A177-3AD203B41FA5}">
                      <a16:colId xmlns:a16="http://schemas.microsoft.com/office/drawing/2014/main" val="3424737538"/>
                    </a:ext>
                  </a:extLst>
                </a:gridCol>
                <a:gridCol w="3901845">
                  <a:extLst>
                    <a:ext uri="{9D8B030D-6E8A-4147-A177-3AD203B41FA5}">
                      <a16:colId xmlns:a16="http://schemas.microsoft.com/office/drawing/2014/main" val="2242494846"/>
                    </a:ext>
                  </a:extLst>
                </a:gridCol>
                <a:gridCol w="788153">
                  <a:extLst>
                    <a:ext uri="{9D8B030D-6E8A-4147-A177-3AD203B41FA5}">
                      <a16:colId xmlns:a16="http://schemas.microsoft.com/office/drawing/2014/main" val="1537678072"/>
                    </a:ext>
                  </a:extLst>
                </a:gridCol>
                <a:gridCol w="467054">
                  <a:extLst>
                    <a:ext uri="{9D8B030D-6E8A-4147-A177-3AD203B41FA5}">
                      <a16:colId xmlns:a16="http://schemas.microsoft.com/office/drawing/2014/main" val="2323986976"/>
                    </a:ext>
                  </a:extLst>
                </a:gridCol>
                <a:gridCol w="1420622">
                  <a:extLst>
                    <a:ext uri="{9D8B030D-6E8A-4147-A177-3AD203B41FA5}">
                      <a16:colId xmlns:a16="http://schemas.microsoft.com/office/drawing/2014/main" val="1603859258"/>
                    </a:ext>
                  </a:extLst>
                </a:gridCol>
              </a:tblGrid>
              <a:tr h="422670">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No</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Potential Factors</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List checking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Tool to identify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 value</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Conclusion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650287274"/>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CANSIM send weak signal to LCD recognized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CANSIM</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0.695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196543"/>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Measure incorrectly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camera</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0.950</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5251994"/>
                  </a:ext>
                </a:extLst>
              </a:tr>
              <a:tr h="0">
                <a:tc>
                  <a:txBody>
                    <a:bodyPr/>
                    <a:lstStyle/>
                    <a:p>
                      <a:pPr algn="ctr" eaLnBrk="1" fontAlgn="ctr" latinLnBrk="0"/>
                      <a:r>
                        <a:rPr lang="en-US" sz="800" b="0" i="0" u="none" strike="noStrike">
                          <a:solidFill>
                            <a:srgbClr val="000000"/>
                          </a:solidFill>
                          <a:effectLst/>
                          <a:latin typeface="Arial" panose="020F0502020204030204" pitchFamily="34" charset="0"/>
                          <a:ea typeface="Arial"/>
                        </a:rPr>
                        <a:t>3</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Camera angle changed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Checking luminance value before /after changing angle of detector</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&lt; 0.001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eaLnBrk="1" latinLnBrk="0"/>
                      <a:r>
                        <a:rPr sz="800" b="0" dirty="0">
                          <a:latin typeface="Arial"/>
                        </a:rPr>
                        <a:t>Root Cause (Significant effect, P &lt;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136179"/>
                  </a:ext>
                </a:extLst>
              </a:tr>
            </a:tbl>
          </a:graphicData>
        </a:graphic>
      </p:graphicFrame>
      <p:cxnSp>
        <p:nvCxnSpPr>
          <p:cNvPr id="15" name="Straight Connector 14">
            <a:extLst>
              <a:ext uri="{FF2B5EF4-FFF2-40B4-BE49-F238E27FC236}">
                <a16:creationId xmlns:a16="http://schemas.microsoft.com/office/drawing/2014/main" id="{E3DE82FB-9C04-4132-BDB3-42EC338047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82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112718" y="692150"/>
            <a:ext cx="9598025" cy="379413"/>
          </a:xfrm>
          <a:prstGeom prst="rect">
            <a:avLst/>
          </a:prstGeom>
          <a:solidFill>
            <a:srgbClr val="DDDDDD"/>
          </a:solidFill>
          <a:ln w="9525">
            <a:solidFill>
              <a:srgbClr val="000000"/>
            </a:solidFill>
            <a:miter lim="800000"/>
            <a:headEnd/>
            <a:tailEnd/>
          </a:ln>
        </p:spPr>
        <p:txBody>
          <a:bodyPr wrap="none" lIns="91311" tIns="45659" rIns="91311" bIns="45659" anchor="ctr"/>
          <a:lstStyle/>
          <a:p>
            <a:pPr eaLnBrk="1" fontAlgn="auto" latinLnBrk="0">
              <a:spcBef>
                <a:spcPts val="0"/>
              </a:spcBef>
              <a:spcAft>
                <a:spcPts val="0"/>
              </a:spcAft>
              <a:defRPr/>
            </a:pPr>
            <a:endParaRPr kumimoji="0" lang="zh-CN" altLang="zh-CN" b="1" kern="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1" name="Rectangle 21"/>
          <p:cNvSpPr>
            <a:spLocks noChangeArrowheads="1"/>
          </p:cNvSpPr>
          <p:nvPr/>
        </p:nvSpPr>
        <p:spPr bwMode="auto">
          <a:xfrm>
            <a:off x="112719" y="686988"/>
            <a:ext cx="9602749" cy="6094792"/>
          </a:xfrm>
          <a:prstGeom prst="rect">
            <a:avLst/>
          </a:prstGeom>
          <a:noFill/>
          <a:ln w="9525">
            <a:solidFill>
              <a:srgbClr val="5F5F5F"/>
            </a:solidFill>
            <a:miter lim="800000"/>
            <a:headEnd/>
            <a:tailEnd/>
          </a:ln>
        </p:spPr>
        <p:txBody>
          <a:bodyPr wrap="none" lIns="91311" tIns="45659" rIns="91311" bIns="45659" anchor="ctr"/>
          <a:lstStyle/>
          <a:p>
            <a:pPr eaLnBrk="1" fontAlgn="auto" latinLnBrk="0">
              <a:spcBef>
                <a:spcPts val="0"/>
              </a:spcBef>
              <a:spcAft>
                <a:spcPts val="0"/>
              </a:spcAft>
            </a:pPr>
            <a:endParaRPr kumimoji="0" lang="zh-CN" altLang="zh-CN"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2" name="TextBox 466"/>
          <p:cNvSpPr txBox="1">
            <a:spLocks noChangeArrowheads="1"/>
          </p:cNvSpPr>
          <p:nvPr/>
        </p:nvSpPr>
        <p:spPr bwMode="auto">
          <a:xfrm>
            <a:off x="3232600" y="5721501"/>
            <a:ext cx="3448592" cy="861762"/>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Easy Working: ✔ (automatic test, no operator action)</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Difficulty Working: –</a:t>
            </a: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Impossible Working: –</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Working Feeling</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Can detect by program</a:t>
            </a:r>
            <a:endParaRPr kumimoji="0" lang="zh-CN"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3" name="TextBox 468"/>
          <p:cNvSpPr txBox="1">
            <a:spLocks noChangeArrowheads="1"/>
          </p:cNvSpPr>
          <p:nvPr/>
        </p:nvSpPr>
        <p:spPr bwMode="auto">
          <a:xfrm>
            <a:off x="6743704" y="5721501"/>
            <a:ext cx="2942776" cy="827999"/>
          </a:xfrm>
          <a:prstGeom prst="rect">
            <a:avLst/>
          </a:prstGeom>
          <a:noFill/>
          <a:ln w="9525">
            <a:noFill/>
            <a:miter lim="800000"/>
            <a:headEnd/>
            <a:tailEnd/>
          </a:ln>
        </p:spPr>
        <p:txBody>
          <a:bodyPr wrap="square" lIns="91429" tIns="45714" rIns="91429" bIns="45714">
            <a:noAutofit/>
          </a:bodyPr>
          <a:lstStyle/>
          <a:p>
            <a:pPr eaLnBrk="1" fontAlgn="auto" latinLnBrk="0">
              <a:lnSpc>
                <a:spcPts val="1600"/>
              </a:lnSpc>
              <a:spcBef>
                <a:spcPts val="0"/>
              </a:spcBef>
              <a:spcAft>
                <a:spcPts val="0"/>
              </a:spcAft>
              <a:buFont typeface="Wingdings" pitchFamily="2" charset="2"/>
              <a:buChar char="p"/>
            </a:pP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With who</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a:t>
            </a: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vi-VN" altLang="zh-CN" sz="1000" dirty="0">
                <a:solidFill>
                  <a:prstClr val="black"/>
                </a:solidFill>
                <a:latin typeface="Arial" panose="020B0600000101010101" pitchFamily="34" charset="-127"/>
                <a:ea typeface="Arial" panose="020B0600000101010101" pitchFamily="34" charset="-127"/>
                <a:cs typeface="Arial" pitchFamily="34" charset="0"/>
              </a:rPr>
              <a:t>M</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r. </a:t>
            </a:r>
            <a:r>
              <a:rPr kumimoji="0" lang="en-US" altLang="zh-CN" sz="1000" dirty="0" err="1">
                <a:solidFill>
                  <a:prstClr val="black"/>
                </a:solidFill>
                <a:latin typeface="Arial" panose="020B0600000101010101" pitchFamily="34" charset="-127"/>
                <a:ea typeface="Arial" panose="020B0600000101010101" pitchFamily="34" charset="-127"/>
                <a:cs typeface="Arial" pitchFamily="34" charset="0"/>
              </a:rPr>
              <a:t>Chien</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LQC</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Field request</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when issues happen, the repair member uses repair station to check if NTF, PE member check the camera status.</a:t>
            </a:r>
          </a:p>
        </p:txBody>
      </p:sp>
      <p:sp>
        <p:nvSpPr>
          <p:cNvPr id="15" name="Line 10"/>
          <p:cNvSpPr>
            <a:spLocks noChangeShapeType="1"/>
          </p:cNvSpPr>
          <p:nvPr/>
        </p:nvSpPr>
        <p:spPr bwMode="auto">
          <a:xfrm>
            <a:off x="124866" y="5414954"/>
            <a:ext cx="9593151" cy="1142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9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6" name="Line 10"/>
          <p:cNvSpPr>
            <a:spLocks noChangeShapeType="1"/>
          </p:cNvSpPr>
          <p:nvPr/>
        </p:nvSpPr>
        <p:spPr bwMode="auto">
          <a:xfrm>
            <a:off x="120763" y="5680830"/>
            <a:ext cx="9593151" cy="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2" name="그룹 296"/>
          <p:cNvGrpSpPr/>
          <p:nvPr/>
        </p:nvGrpSpPr>
        <p:grpSpPr>
          <a:xfrm>
            <a:off x="3216233" y="5429265"/>
            <a:ext cx="3524294" cy="1216014"/>
            <a:chOff x="3055327" y="5143503"/>
            <a:chExt cx="3166698" cy="1501775"/>
          </a:xfrm>
        </p:grpSpPr>
        <p:cxnSp>
          <p:nvCxnSpPr>
            <p:cNvPr id="18" name="直接连接符 92"/>
            <p:cNvCxnSpPr/>
            <p:nvPr/>
          </p:nvCxnSpPr>
          <p:spPr>
            <a:xfrm rot="5400000">
              <a:off x="5471199" y="5894452"/>
              <a:ext cx="1500187"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2"/>
            <p:cNvCxnSpPr/>
            <p:nvPr/>
          </p:nvCxnSpPr>
          <p:spPr>
            <a:xfrm rot="5400000">
              <a:off x="2305966" y="5892864"/>
              <a:ext cx="1500188"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462"/>
          <p:cNvSpPr txBox="1">
            <a:spLocks noChangeArrowheads="1"/>
          </p:cNvSpPr>
          <p:nvPr/>
        </p:nvSpPr>
        <p:spPr bwMode="auto">
          <a:xfrm>
            <a:off x="111126" y="5706181"/>
            <a:ext cx="3113682" cy="1118243"/>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600"/>
              </a:lnSpc>
              <a:spcBef>
                <a:spcPts val="0"/>
              </a:spcBef>
              <a:spcAft>
                <a:spcPts val="0"/>
              </a:spcAft>
              <a:buFont typeface="Wingdings" pitchFamily="2" charset="2"/>
              <a:buChar char="p"/>
            </a:pPr>
            <a:r>
              <a:rPr sz="1000" dirty="0">
                <a:latin typeface="Arial"/>
              </a:rPr>
              <a:t> Date: Feb-2026</a:t>
            </a:r>
            <a:endParaRPr kumimoji="0" lang="en-US" altLang="zh-CN"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Line: IVI 5</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Area: FA production line</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sz="1000" b="0" dirty="0">
                <a:latin typeface="Arial"/>
              </a:rPr>
              <a:t> Detail Checking: Visual check the cable of LCD with PCBA to check set OK or not</a:t>
            </a:r>
            <a:endParaRPr kumimoji="0" lang="zh-CN" altLang="en-US"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28" name="직선 연결선 27"/>
          <p:cNvCxnSpPr/>
          <p:nvPr/>
        </p:nvCxnSpPr>
        <p:spPr>
          <a:xfrm rot="5400000">
            <a:off x="2878015" y="305909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4759190" y="3055344"/>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Box 12"/>
          <p:cNvSpPr txBox="1">
            <a:spLocks noChangeArrowheads="1"/>
          </p:cNvSpPr>
          <p:nvPr/>
        </p:nvSpPr>
        <p:spPr bwMode="auto">
          <a:xfrm>
            <a:off x="124634" y="694919"/>
            <a:ext cx="2445468"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Problem</a:t>
            </a:r>
          </a:p>
        </p:txBody>
      </p:sp>
      <p:sp>
        <p:nvSpPr>
          <p:cNvPr id="34" name="TextBox 423"/>
          <p:cNvSpPr txBox="1">
            <a:spLocks noChangeArrowheads="1"/>
          </p:cNvSpPr>
          <p:nvPr/>
        </p:nvSpPr>
        <p:spPr bwMode="auto">
          <a:xfrm>
            <a:off x="1050274" y="5441972"/>
            <a:ext cx="1652587" cy="246209"/>
          </a:xfrm>
          <a:prstGeom prst="rect">
            <a:avLst/>
          </a:prstGeom>
          <a:noFill/>
          <a:ln w="9525">
            <a:noFill/>
            <a:miter lim="800000"/>
            <a:headEnd/>
            <a:tailEnd/>
          </a:ln>
        </p:spPr>
        <p:txBody>
          <a:bodyPr lIns="91429" tIns="45714" rIns="91429" bIns="45714">
            <a:spAutoFit/>
          </a:bodyPr>
          <a:lstStyle/>
          <a:p>
            <a:pP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Checking</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5" name="TextBox 424"/>
          <p:cNvSpPr txBox="1">
            <a:spLocks noChangeArrowheads="1"/>
          </p:cNvSpPr>
          <p:nvPr/>
        </p:nvSpPr>
        <p:spPr bwMode="auto">
          <a:xfrm>
            <a:off x="3216235" y="5468792"/>
            <a:ext cx="3546518"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Workability  </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6" name="TextBox 425"/>
          <p:cNvSpPr txBox="1">
            <a:spLocks noChangeArrowheads="1"/>
          </p:cNvSpPr>
          <p:nvPr/>
        </p:nvSpPr>
        <p:spPr bwMode="auto">
          <a:xfrm>
            <a:off x="6762753" y="5441972"/>
            <a:ext cx="2942775"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a:solidFill>
                  <a:prstClr val="black"/>
                </a:solidFill>
                <a:latin typeface="Arial" panose="020B0600000101010101" pitchFamily="34" charset="-127"/>
                <a:ea typeface="Arial" panose="020B0600000101010101" pitchFamily="34" charset="-127"/>
                <a:cs typeface="Arial" pitchFamily="34" charset="0"/>
              </a:rPr>
              <a:t> Field Interview</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7" name="Text Box 16"/>
          <p:cNvSpPr txBox="1">
            <a:spLocks noChangeArrowheads="1"/>
          </p:cNvSpPr>
          <p:nvPr/>
        </p:nvSpPr>
        <p:spPr bwMode="auto">
          <a:xfrm>
            <a:off x="5230883" y="702924"/>
            <a:ext cx="1889092"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Improvement</a:t>
            </a:r>
          </a:p>
        </p:txBody>
      </p:sp>
      <p:sp>
        <p:nvSpPr>
          <p:cNvPr id="38" name="Text Box 13"/>
          <p:cNvSpPr txBox="1">
            <a:spLocks noChangeArrowheads="1"/>
          </p:cNvSpPr>
          <p:nvPr/>
        </p:nvSpPr>
        <p:spPr bwMode="auto">
          <a:xfrm>
            <a:off x="2566230" y="714307"/>
            <a:ext cx="2672570"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Cause</a:t>
            </a:r>
          </a:p>
        </p:txBody>
      </p:sp>
      <p:sp>
        <p:nvSpPr>
          <p:cNvPr id="40" name="TextBox 128"/>
          <p:cNvSpPr txBox="1">
            <a:spLocks noChangeArrowheads="1"/>
          </p:cNvSpPr>
          <p:nvPr/>
        </p:nvSpPr>
        <p:spPr bwMode="auto">
          <a:xfrm>
            <a:off x="7295558" y="1083346"/>
            <a:ext cx="1250472" cy="261523"/>
          </a:xfrm>
          <a:prstGeom prst="rect">
            <a:avLst/>
          </a:prstGeom>
          <a:noFill/>
          <a:ln w="9525">
            <a:noFill/>
            <a:miter lim="800000"/>
            <a:headEnd/>
            <a:tailEnd/>
          </a:ln>
        </p:spPr>
        <p:txBody>
          <a:bodyPr wrap="none" lIns="91345" tIns="45677" rIns="91345" bIns="45677">
            <a:spAutoFit/>
          </a:bodyPr>
          <a:lstStyle/>
          <a:p>
            <a:pPr eaLnBrk="1" fontAlgn="auto" latinLnBrk="0">
              <a:spcBef>
                <a:spcPts val="0"/>
              </a:spcBef>
              <a:spcAft>
                <a:spcPts val="0"/>
              </a:spcAft>
              <a:buFont typeface="Arial" pitchFamily="34" charset="0"/>
              <a:buChar char="•"/>
            </a:pP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 Progress</a:t>
            </a:r>
            <a:r>
              <a:rPr kumimoji="0" lang="ko-KR" altLang="en-US" sz="1000" b="1" u="sng"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Status</a:t>
            </a:r>
          </a:p>
        </p:txBody>
      </p:sp>
      <p:sp>
        <p:nvSpPr>
          <p:cNvPr id="41" name="Text Box 16"/>
          <p:cNvSpPr txBox="1">
            <a:spLocks noChangeArrowheads="1"/>
          </p:cNvSpPr>
          <p:nvPr/>
        </p:nvSpPr>
        <p:spPr bwMode="auto">
          <a:xfrm>
            <a:off x="7119975" y="702937"/>
            <a:ext cx="2600591"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Progress  Monitoring</a:t>
            </a:r>
          </a:p>
        </p:txBody>
      </p:sp>
      <p:sp>
        <p:nvSpPr>
          <p:cNvPr id="42" name="Text Box 17"/>
          <p:cNvSpPr txBox="1">
            <a:spLocks noChangeArrowheads="1"/>
          </p:cNvSpPr>
          <p:nvPr/>
        </p:nvSpPr>
        <p:spPr bwMode="auto">
          <a:xfrm>
            <a:off x="8748000" y="1428105"/>
            <a:ext cx="540000"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ko-KR" sz="900" dirty="0">
                <a:solidFill>
                  <a:prstClr val="black"/>
                </a:solidFill>
                <a:latin typeface="Arial" panose="020B0600000101010101" pitchFamily="34" charset="-127"/>
                <a:ea typeface="Arial" panose="020B0600000101010101" pitchFamily="34" charset="-127"/>
                <a:cs typeface="Arial" pitchFamily="34" charset="0"/>
              </a:rPr>
              <a:t>Owner</a:t>
            </a:r>
            <a:endParaRPr lang="en-US" altLang="zh-CN" sz="8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3" name="Text Box 20"/>
          <p:cNvSpPr txBox="1">
            <a:spLocks noChangeArrowheads="1"/>
          </p:cNvSpPr>
          <p:nvPr/>
        </p:nvSpPr>
        <p:spPr bwMode="auto">
          <a:xfrm>
            <a:off x="9270000" y="1436695"/>
            <a:ext cx="503999"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Verify</a:t>
            </a:r>
          </a:p>
        </p:txBody>
      </p:sp>
      <p:sp>
        <p:nvSpPr>
          <p:cNvPr id="44" name="TextBox 474"/>
          <p:cNvSpPr txBox="1">
            <a:spLocks noChangeArrowheads="1"/>
          </p:cNvSpPr>
          <p:nvPr/>
        </p:nvSpPr>
        <p:spPr bwMode="auto">
          <a:xfrm>
            <a:off x="7150116" y="1417423"/>
            <a:ext cx="61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b="1" dirty="0">
                <a:solidFill>
                  <a:prstClr val="black"/>
                </a:solidFill>
                <a:latin typeface="Arial" panose="020B0600000101010101" pitchFamily="34" charset="-127"/>
                <a:ea typeface="Arial" panose="020B0600000101010101" pitchFamily="34" charset="-127"/>
                <a:cs typeface="Arial" pitchFamily="34" charset="0"/>
              </a:rPr>
              <a:t>Remark</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5" name="TextBox 476"/>
          <p:cNvSpPr txBox="1">
            <a:spLocks noChangeArrowheads="1"/>
          </p:cNvSpPr>
          <p:nvPr/>
        </p:nvSpPr>
        <p:spPr bwMode="auto">
          <a:xfrm>
            <a:off x="7740000" y="1346549"/>
            <a:ext cx="97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   </a:t>
            </a:r>
            <a:r>
              <a:rPr lang="en-US" altLang="zh-CN" sz="900" b="1" dirty="0">
                <a:solidFill>
                  <a:prstClr val="black"/>
                </a:solidFill>
                <a:latin typeface="Arial" panose="020B0600000101010101" pitchFamily="34" charset="-127"/>
                <a:ea typeface="Arial" panose="020B0600000101010101" pitchFamily="34" charset="-127"/>
                <a:cs typeface="Arial" pitchFamily="34" charset="0"/>
              </a:rPr>
              <a:t>Schedule</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3" name="Group 121"/>
          <p:cNvGrpSpPr/>
          <p:nvPr/>
        </p:nvGrpSpPr>
        <p:grpSpPr>
          <a:xfrm>
            <a:off x="7151567" y="1362407"/>
            <a:ext cx="2533170" cy="1892995"/>
            <a:chOff x="5120821" y="1060197"/>
            <a:chExt cx="1877538" cy="1362964"/>
          </a:xfrm>
        </p:grpSpPr>
        <p:cxnSp>
          <p:nvCxnSpPr>
            <p:cNvPr id="47" name="直接连接符 118"/>
            <p:cNvCxnSpPr/>
            <p:nvPr/>
          </p:nvCxnSpPr>
          <p:spPr>
            <a:xfrm>
              <a:off x="5123679" y="1303136"/>
              <a:ext cx="1871568"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 name="Group 93"/>
            <p:cNvGrpSpPr/>
            <p:nvPr/>
          </p:nvGrpSpPr>
          <p:grpSpPr>
            <a:xfrm>
              <a:off x="5120821" y="1060197"/>
              <a:ext cx="1877538" cy="1362964"/>
              <a:chOff x="5120821" y="1060197"/>
              <a:chExt cx="1877538" cy="1362964"/>
            </a:xfrm>
          </p:grpSpPr>
          <p:sp>
            <p:nvSpPr>
              <p:cNvPr id="50" name="矩形 115"/>
              <p:cNvSpPr/>
              <p:nvPr/>
            </p:nvSpPr>
            <p:spPr>
              <a:xfrm>
                <a:off x="5120821" y="1060197"/>
                <a:ext cx="1877538" cy="13629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3645" tIns="26822" rIns="53645" bIns="26822" anchor="ctr"/>
              <a:lstStyle/>
              <a:p>
                <a:pPr algn="ctr" latinLnBrk="0">
                  <a:defRPr/>
                </a:pPr>
                <a:endParaRPr lang="zh-CN" altLang="en-US"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51" name="直接连接符 121"/>
              <p:cNvCxnSpPr/>
              <p:nvPr/>
            </p:nvCxnSpPr>
            <p:spPr>
              <a:xfrm rot="16200000" flipH="1">
                <a:off x="4865021" y="1741263"/>
                <a:ext cx="13533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26"/>
              <p:cNvCxnSpPr/>
              <p:nvPr/>
            </p:nvCxnSpPr>
            <p:spPr>
              <a:xfrm rot="16200000" flipH="1">
                <a:off x="5655761" y="1741444"/>
                <a:ext cx="136245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127"/>
              <p:cNvCxnSpPr>
                <a:cxnSpLocks/>
              </p:cNvCxnSpPr>
              <p:nvPr/>
            </p:nvCxnSpPr>
            <p:spPr>
              <a:xfrm>
                <a:off x="6718491" y="1066568"/>
                <a:ext cx="22403" cy="135610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30"/>
              <p:cNvCxnSpPr/>
              <p:nvPr/>
            </p:nvCxnSpPr>
            <p:spPr>
              <a:xfrm rot="5400000">
                <a:off x="5324829" y="1798251"/>
                <a:ext cx="1232039" cy="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9" name="直接连接符 129"/>
            <p:cNvCxnSpPr>
              <a:cxnSpLocks/>
            </p:cNvCxnSpPr>
            <p:nvPr/>
          </p:nvCxnSpPr>
          <p:spPr>
            <a:xfrm>
              <a:off x="5546192" y="1178144"/>
              <a:ext cx="788427"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7" name="직선 연결선 26"/>
          <p:cNvCxnSpPr/>
          <p:nvPr/>
        </p:nvCxnSpPr>
        <p:spPr>
          <a:xfrm rot="5400000">
            <a:off x="197403" y="305348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72"/>
          <p:cNvSpPr>
            <a:spLocks noChangeArrowheads="1"/>
          </p:cNvSpPr>
          <p:nvPr/>
        </p:nvSpPr>
        <p:spPr bwMode="auto">
          <a:xfrm>
            <a:off x="125999" y="1036800"/>
            <a:ext cx="2340000" cy="82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171450" indent="-171450" eaLnBrk="1" latinLnBrk="0">
              <a:lnSpc>
                <a:spcPts val="1600"/>
              </a:lnSpc>
              <a:buFont typeface="Wingdings" pitchFamily="2" charset="2"/>
              <a:buChar char="q"/>
            </a:pPr>
            <a:r>
              <a:rPr sz="950" b="1">
                <a:latin typeface="Arial"/>
              </a:rPr>
              <a:t>• Issue: Luminance NG ppm (Model: J1 Dual)</a:t>
            </a:r>
            <a:endParaRPr lang="vi-VN" altLang="ko-KR" sz="1100" b="1"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a:r>
              <a:rPr sz="950" b="0">
                <a:latin typeface="Arial"/>
              </a:rPr>
              <a:t>• Defect date: Feb-2026 | Station: Luminance</a:t>
            </a:r>
          </a:p>
          <a:p>
            <a:pPr eaLnBrk="1" latinLnBrk="0"/>
            <a:r>
              <a:rPr sz="950" b="0">
                <a:latin typeface="Arial"/>
              </a:rPr>
              <a:t>• Q’ty: 92 ea / 383,333 ppm (Total before: 143 ea / 631 = 226,624 ppm)</a:t>
            </a:r>
          </a:p>
        </p:txBody>
      </p:sp>
      <p:sp>
        <p:nvSpPr>
          <p:cNvPr id="65" name="TextBox 64"/>
          <p:cNvSpPr txBox="1"/>
          <p:nvPr/>
        </p:nvSpPr>
        <p:spPr>
          <a:xfrm>
            <a:off x="7637145" y="1560040"/>
            <a:ext cx="795298" cy="215444"/>
          </a:xfrm>
          <a:prstGeom prst="rect">
            <a:avLst/>
          </a:prstGeom>
          <a:noFill/>
        </p:spPr>
        <p:txBody>
          <a:bodyPr wrap="square" lIns="18000" tIns="18000" rIns="18000" bIns="18000" rtlCol="0">
            <a:spAutoFit/>
          </a:bodyPr>
          <a:lstStyle/>
          <a:p>
            <a:pPr algn="ctr" eaLnBrk="1" latinLnBrk="0"/>
            <a:r>
              <a:rPr lang="vi-VN" sz="1000" dirty="0">
                <a:latin typeface="Arial" panose="020B0600000101010101" pitchFamily="34" charset="-127"/>
                <a:ea typeface="Arial" panose="020B0600000101010101" pitchFamily="34" charset="-127"/>
                <a:cs typeface="Arial" pitchFamily="34" charset="0"/>
              </a:rPr>
              <a:t>Jun</a:t>
            </a:r>
            <a:endParaRPr lang="en-US" sz="800" dirty="0">
              <a:latin typeface="LG Smart_H Regular" panose="020B0600000101010101" pitchFamily="34" charset="-127"/>
              <a:ea typeface="LG Smart_H Regular" panose="020B0600000101010101" pitchFamily="34" charset="-127"/>
              <a:cs typeface="Arial" pitchFamily="34" charset="0"/>
            </a:endParaRPr>
          </a:p>
        </p:txBody>
      </p:sp>
      <p:sp>
        <p:nvSpPr>
          <p:cNvPr id="72" name="Text Box 60"/>
          <p:cNvSpPr txBox="1">
            <a:spLocks noChangeArrowheads="1"/>
          </p:cNvSpPr>
          <p:nvPr/>
        </p:nvSpPr>
        <p:spPr bwMode="auto">
          <a:xfrm>
            <a:off x="2556000" y="1036800"/>
            <a:ext cx="2592000" cy="2520000"/>
          </a:xfrm>
          <a:prstGeom prst="rect">
            <a:avLst/>
          </a:prstGeom>
          <a:noFill/>
          <a:ln w="9525">
            <a:noFill/>
            <a:miter lim="800000"/>
            <a:headEnd/>
            <a:tailEnd/>
          </a:ln>
        </p:spPr>
        <p:txBody>
          <a:bodyPr wrap="square" lIns="91307" tIns="45654" rIns="91307" bIns="45654">
            <a:noAutofit/>
          </a:bodyPr>
          <a:lstStyle/>
          <a:p>
            <a:pPr marL="171450" indent="-171450" eaLnBrk="1" fontAlgn="base" latinLnBrk="0">
              <a:lnSpc>
                <a:spcPct val="150000"/>
              </a:lnSpc>
              <a:spcBef>
                <a:spcPct val="0"/>
              </a:spcBef>
              <a:spcAft>
                <a:spcPct val="0"/>
              </a:spcAft>
              <a:buFont typeface="Wingdings" panose="05000000000000000000" pitchFamily="2" charset="2"/>
              <a:buChar char="q"/>
            </a:pPr>
            <a:r>
              <a:rPr sz="1000" b="1" dirty="0">
                <a:latin typeface="Arial"/>
              </a:rPr>
              <a:t>Root Cause: 5-Why Analysis</a:t>
            </a:r>
          </a:p>
          <a:p>
            <a:pPr eaLnBrk="1" latinLnBrk="0"/>
            <a:r>
              <a:rPr sz="900" b="0" dirty="0">
                <a:latin typeface="Arial"/>
              </a:rPr>
              <a:t>1. Why occur? Luminance value measured under spec (800~2000 Cd/m²).</a:t>
            </a:r>
          </a:p>
          <a:p>
            <a:pPr eaLnBrk="1" latinLnBrk="0"/>
            <a:r>
              <a:rPr sz="900" b="0" dirty="0">
                <a:latin typeface="Arial"/>
              </a:rPr>
              <a:t>2. Why under spec? Camera axis not perpendicular (90°) to the LCD surface.</a:t>
            </a:r>
          </a:p>
          <a:p>
            <a:pPr eaLnBrk="1" latinLnBrk="0"/>
            <a:r>
              <a:rPr sz="900" b="0" dirty="0">
                <a:latin typeface="Arial"/>
              </a:rPr>
              <a:t>3. Why angle changed? Long production time caused angle drift from 90° standard.</a:t>
            </a:r>
          </a:p>
          <a:p>
            <a:pPr eaLnBrk="1" latinLnBrk="0"/>
            <a:r>
              <a:rPr sz="900" b="0" dirty="0">
                <a:latin typeface="Arial"/>
              </a:rPr>
              <a:t>4. Why did angle drift? Dual display (PID/CID) requires camera motion; vibration loosened fixture.</a:t>
            </a:r>
          </a:p>
          <a:p>
            <a:pPr eaLnBrk="1" latinLnBrk="0"/>
            <a:r>
              <a:rPr sz="900" b="0" dirty="0">
                <a:latin typeface="Arial"/>
              </a:rPr>
              <a:t>5. Why no prevention? No daily Master sample check sheet to verify angle before production.</a:t>
            </a:r>
          </a:p>
        </p:txBody>
      </p:sp>
      <p:sp>
        <p:nvSpPr>
          <p:cNvPr id="77" name="Oval 76"/>
          <p:cNvSpPr/>
          <p:nvPr/>
        </p:nvSpPr>
        <p:spPr>
          <a:xfrm>
            <a:off x="9403135" y="1926797"/>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57" name="TextBox 56">
            <a:extLst>
              <a:ext uri="{FF2B5EF4-FFF2-40B4-BE49-F238E27FC236}">
                <a16:creationId xmlns:a16="http://schemas.microsoft.com/office/drawing/2014/main" id="{8637D2F0-6B90-41E4-9032-0E95A98516C0}"/>
              </a:ext>
            </a:extLst>
          </p:cNvPr>
          <p:cNvSpPr txBox="1"/>
          <p:nvPr/>
        </p:nvSpPr>
        <p:spPr>
          <a:xfrm>
            <a:off x="540000" y="3330000"/>
            <a:ext cx="1568113" cy="180000"/>
          </a:xfrm>
          <a:prstGeom prst="rect">
            <a:avLst/>
          </a:prstGeom>
          <a:noFill/>
        </p:spPr>
        <p:txBody>
          <a:bodyPr wrap="square" rtlCol="0">
            <a:noAutofit/>
          </a:bodyPr>
          <a:lstStyle/>
          <a:p>
            <a:pPr eaLnBrk="1" latinLnBrk="0"/>
            <a:r>
              <a:rPr lang="en-US" sz="1000" b="1" dirty="0">
                <a:latin typeface="Arial" panose="020B0600000101010101" pitchFamily="34" charset="-127"/>
                <a:ea typeface="Arial" panose="020B0600000101010101" pitchFamily="34" charset="-127"/>
              </a:rPr>
              <a:t>[Luminance NG]</a:t>
            </a:r>
          </a:p>
        </p:txBody>
      </p:sp>
      <p:sp>
        <p:nvSpPr>
          <p:cNvPr id="58" name="TextBox 57">
            <a:extLst>
              <a:ext uri="{FF2B5EF4-FFF2-40B4-BE49-F238E27FC236}">
                <a16:creationId xmlns:a16="http://schemas.microsoft.com/office/drawing/2014/main" id="{0F602090-E50C-4F49-B857-754EE553DF4D}"/>
              </a:ext>
            </a:extLst>
          </p:cNvPr>
          <p:cNvSpPr txBox="1"/>
          <p:nvPr/>
        </p:nvSpPr>
        <p:spPr>
          <a:xfrm>
            <a:off x="8155635" y="1499387"/>
            <a:ext cx="795298" cy="215444"/>
          </a:xfrm>
          <a:prstGeom prst="rect">
            <a:avLst/>
          </a:prstGeom>
          <a:noFill/>
        </p:spPr>
        <p:txBody>
          <a:bodyPr wrap="square" lIns="18000" tIns="18000" rIns="18000" bIns="18000" rtlCol="0">
            <a:spAutoFit/>
          </a:bodyPr>
          <a:lstStyle/>
          <a:p>
            <a:pPr algn="ctr" eaLnBrk="1" latinLnBrk="0"/>
            <a:endParaRPr lang="en-US" sz="800" dirty="0">
              <a:latin typeface="LG Smart_H Regular" panose="020B0600000101010101" pitchFamily="34" charset="-127"/>
              <a:ea typeface="LG Smart_H Regular" panose="020B0600000101010101" pitchFamily="34" charset="-127"/>
              <a:cs typeface="Arial" pitchFamily="34" charset="0"/>
            </a:endParaRPr>
          </a:p>
        </p:txBody>
      </p:sp>
      <p:cxnSp>
        <p:nvCxnSpPr>
          <p:cNvPr id="59" name="Straight Arrow Connector 58">
            <a:extLst>
              <a:ext uri="{FF2B5EF4-FFF2-40B4-BE49-F238E27FC236}">
                <a16:creationId xmlns:a16="http://schemas.microsoft.com/office/drawing/2014/main" id="{91CBDE20-C90F-4404-974B-0FCE7E1DC650}"/>
              </a:ext>
            </a:extLst>
          </p:cNvPr>
          <p:cNvCxnSpPr>
            <a:cxnSpLocks/>
          </p:cNvCxnSpPr>
          <p:nvPr/>
        </p:nvCxnSpPr>
        <p:spPr>
          <a:xfrm flipV="1">
            <a:off x="8073091" y="2049910"/>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Box 128">
            <a:extLst>
              <a:ext uri="{FF2B5EF4-FFF2-40B4-BE49-F238E27FC236}">
                <a16:creationId xmlns:a16="http://schemas.microsoft.com/office/drawing/2014/main" id="{983CA82C-C735-4016-BE24-6F82F94F46DC}"/>
              </a:ext>
            </a:extLst>
          </p:cNvPr>
          <p:cNvSpPr txBox="1">
            <a:spLocks noChangeArrowheads="1"/>
          </p:cNvSpPr>
          <p:nvPr/>
        </p:nvSpPr>
        <p:spPr bwMode="auto">
          <a:xfrm>
            <a:off x="5220000" y="1296000"/>
            <a:ext cx="1800000" cy="306000"/>
          </a:xfrm>
          <a:prstGeom prst="rect">
            <a:avLst/>
          </a:prstGeom>
          <a:noFill/>
          <a:ln w="9525">
            <a:noFill/>
            <a:miter lim="800000"/>
            <a:headEnd/>
            <a:tailEnd/>
          </a:ln>
        </p:spPr>
        <p:txBody>
          <a:bodyPr wrap="square" lIns="91345" tIns="45677" rIns="91345" bIns="45677">
            <a:noAutofit/>
          </a:bodyPr>
          <a:lstStyle/>
          <a:p>
            <a:pPr marL="171450" indent="-171450" eaLnBrk="1" latinLnBrk="0">
              <a:buFontTx/>
              <a:buChar char="-"/>
            </a:pPr>
            <a:r>
              <a:rPr sz="950" b="1">
                <a:latin typeface="Arial"/>
              </a:rPr>
              <a:t>1. Teaching robot &amp; adjust angle of CS2000 Camera (Std: 90.0°)</a:t>
            </a:r>
          </a:p>
        </p:txBody>
      </p:sp>
      <p:sp>
        <p:nvSpPr>
          <p:cNvPr id="64" name="TextBox 93">
            <a:extLst>
              <a:ext uri="{FF2B5EF4-FFF2-40B4-BE49-F238E27FC236}">
                <a16:creationId xmlns:a16="http://schemas.microsoft.com/office/drawing/2014/main" id="{EE94C9A6-714C-4DF8-A112-382381776DDE}"/>
              </a:ext>
            </a:extLst>
          </p:cNvPr>
          <p:cNvSpPr txBox="1"/>
          <p:nvPr/>
        </p:nvSpPr>
        <p:spPr>
          <a:xfrm>
            <a:off x="7782327" y="1801251"/>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66" name="TextBox 93">
            <a:extLst>
              <a:ext uri="{FF2B5EF4-FFF2-40B4-BE49-F238E27FC236}">
                <a16:creationId xmlns:a16="http://schemas.microsoft.com/office/drawing/2014/main" id="{8D337C30-8194-4ADE-93BE-89A00C68871C}"/>
              </a:ext>
            </a:extLst>
          </p:cNvPr>
          <p:cNvSpPr txBox="1"/>
          <p:nvPr/>
        </p:nvSpPr>
        <p:spPr>
          <a:xfrm>
            <a:off x="8712000" y="1930439"/>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a:t>
            </a:r>
            <a:r>
              <a:rPr lang="vi-VN" sz="850" dirty="0">
                <a:latin typeface="Arial" panose="020B0600000101010101" pitchFamily="34" charset="-127"/>
                <a:ea typeface="Arial" panose="020B0600000101010101" pitchFamily="34" charset="-127"/>
                <a:cs typeface="Arial" pitchFamily="34" charset="0"/>
              </a:rPr>
              <a:t> 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60" name="TextBox 128">
            <a:extLst>
              <a:ext uri="{FF2B5EF4-FFF2-40B4-BE49-F238E27FC236}">
                <a16:creationId xmlns:a16="http://schemas.microsoft.com/office/drawing/2014/main" id="{5666655F-1E01-4994-850E-5E6166294887}"/>
              </a:ext>
            </a:extLst>
          </p:cNvPr>
          <p:cNvSpPr txBox="1">
            <a:spLocks noChangeArrowheads="1"/>
          </p:cNvSpPr>
          <p:nvPr/>
        </p:nvSpPr>
        <p:spPr bwMode="auto">
          <a:xfrm>
            <a:off x="5207954" y="1063268"/>
            <a:ext cx="2207754" cy="276912"/>
          </a:xfrm>
          <a:prstGeom prst="rect">
            <a:avLst/>
          </a:prstGeom>
          <a:noFill/>
          <a:ln w="9525">
            <a:noFill/>
            <a:miter lim="800000"/>
            <a:headEnd/>
            <a:tailEnd/>
          </a:ln>
        </p:spPr>
        <p:txBody>
          <a:bodyPr wrap="square" lIns="91345" tIns="45677" rIns="91345" bIns="45677">
            <a:spAutoFit/>
          </a:bodyPr>
          <a:lstStyle/>
          <a:p>
            <a:pPr eaLnBrk="1" fontAlgn="auto" latinLnBrk="0">
              <a:spcBef>
                <a:spcPts val="0"/>
              </a:spcBef>
              <a:spcAft>
                <a:spcPts val="0"/>
              </a:spcAft>
              <a:buFont typeface="Wingdings" pitchFamily="2" charset="2"/>
              <a:buChar char="q"/>
            </a:pPr>
            <a:r>
              <a:rPr kumimoji="0" lang="en-US" altLang="ko-KR" sz="1000" b="1" u="sng" dirty="0">
                <a:solidFill>
                  <a:prstClr val="black"/>
                </a:solidFill>
                <a:latin typeface="Arial" panose="020B0600000101010101" pitchFamily="34" charset="-127"/>
                <a:ea typeface="Arial" panose="020B0600000101010101" pitchFamily="34" charset="-127"/>
                <a:cs typeface="Arial" panose="020B0604020202020204" pitchFamily="34" charset="0"/>
              </a:rPr>
              <a:t> Improvement</a:t>
            </a:r>
          </a:p>
        </p:txBody>
      </p:sp>
      <p:sp>
        <p:nvSpPr>
          <p:cNvPr id="62" name="TextBox 128">
            <a:extLst>
              <a:ext uri="{FF2B5EF4-FFF2-40B4-BE49-F238E27FC236}">
                <a16:creationId xmlns:a16="http://schemas.microsoft.com/office/drawing/2014/main" id="{C66630D7-5675-4F9F-B957-7BEA31EDB70D}"/>
              </a:ext>
            </a:extLst>
          </p:cNvPr>
          <p:cNvSpPr txBox="1">
            <a:spLocks noChangeArrowheads="1"/>
          </p:cNvSpPr>
          <p:nvPr/>
        </p:nvSpPr>
        <p:spPr bwMode="auto">
          <a:xfrm>
            <a:off x="7128000" y="1842413"/>
            <a:ext cx="630000" cy="492356"/>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1. Adjust angle</a:t>
            </a:r>
          </a:p>
          <a:p>
            <a:pPr eaLnBrk="1" latinLnBrk="0"/>
            <a:r>
              <a:rPr sz="850">
                <a:latin typeface="Arial"/>
              </a:rPr>
              <a:t>of CS2000</a:t>
            </a:r>
          </a:p>
          <a:p>
            <a:pPr eaLnBrk="1" latinLnBrk="0"/>
            <a:r>
              <a:rPr sz="850">
                <a:latin typeface="Arial"/>
              </a:rPr>
              <a:t>Camera</a:t>
            </a:r>
          </a:p>
        </p:txBody>
      </p:sp>
      <p:cxnSp>
        <p:nvCxnSpPr>
          <p:cNvPr id="67" name="Straight Arrow Connector 66">
            <a:extLst>
              <a:ext uri="{FF2B5EF4-FFF2-40B4-BE49-F238E27FC236}">
                <a16:creationId xmlns:a16="http://schemas.microsoft.com/office/drawing/2014/main" id="{DC0D2E81-B641-4A00-AC8D-397DF12660C0}"/>
              </a:ext>
            </a:extLst>
          </p:cNvPr>
          <p:cNvCxnSpPr>
            <a:cxnSpLocks/>
          </p:cNvCxnSpPr>
          <p:nvPr/>
        </p:nvCxnSpPr>
        <p:spPr>
          <a:xfrm flipV="1">
            <a:off x="8074192" y="2521219"/>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34AC5C43-25D8-45D4-B158-4429C0460685}"/>
              </a:ext>
            </a:extLst>
          </p:cNvPr>
          <p:cNvSpPr/>
          <p:nvPr/>
        </p:nvSpPr>
        <p:spPr>
          <a:xfrm>
            <a:off x="9403135" y="2389989"/>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73" name="TextBox 93">
            <a:extLst>
              <a:ext uri="{FF2B5EF4-FFF2-40B4-BE49-F238E27FC236}">
                <a16:creationId xmlns:a16="http://schemas.microsoft.com/office/drawing/2014/main" id="{40D0226D-DEC2-4D06-9639-C07205FDEEC5}"/>
              </a:ext>
            </a:extLst>
          </p:cNvPr>
          <p:cNvSpPr txBox="1"/>
          <p:nvPr/>
        </p:nvSpPr>
        <p:spPr>
          <a:xfrm>
            <a:off x="7809419" y="2311324"/>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82" name="TextBox 128">
            <a:extLst>
              <a:ext uri="{FF2B5EF4-FFF2-40B4-BE49-F238E27FC236}">
                <a16:creationId xmlns:a16="http://schemas.microsoft.com/office/drawing/2014/main" id="{313E9328-5552-484F-A3B2-16E4CFD45CD3}"/>
              </a:ext>
            </a:extLst>
          </p:cNvPr>
          <p:cNvSpPr txBox="1">
            <a:spLocks noChangeArrowheads="1"/>
          </p:cNvSpPr>
          <p:nvPr/>
        </p:nvSpPr>
        <p:spPr bwMode="auto">
          <a:xfrm>
            <a:off x="7128000" y="2392728"/>
            <a:ext cx="630000" cy="276912"/>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2. Monitoring</a:t>
            </a:r>
          </a:p>
          <a:p>
            <a:pPr eaLnBrk="1" latinLnBrk="0"/>
            <a:r>
              <a:rPr sz="850">
                <a:latin typeface="Arial"/>
              </a:rPr>
              <a:t>result</a:t>
            </a:r>
          </a:p>
        </p:txBody>
      </p:sp>
      <p:sp>
        <p:nvSpPr>
          <p:cNvPr id="89" name="TextBox 93">
            <a:extLst>
              <a:ext uri="{FF2B5EF4-FFF2-40B4-BE49-F238E27FC236}">
                <a16:creationId xmlns:a16="http://schemas.microsoft.com/office/drawing/2014/main" id="{754F827D-7B4C-4967-985B-F20B89D9F272}"/>
              </a:ext>
            </a:extLst>
          </p:cNvPr>
          <p:cNvSpPr txBox="1"/>
          <p:nvPr/>
        </p:nvSpPr>
        <p:spPr>
          <a:xfrm>
            <a:off x="8712000" y="2413420"/>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 </a:t>
            </a:r>
            <a:r>
              <a:rPr lang="vi-VN" sz="850" dirty="0">
                <a:latin typeface="Arial" panose="020B0600000101010101" pitchFamily="34" charset="-127"/>
                <a:ea typeface="Arial" panose="020B0600000101010101" pitchFamily="34" charset="-127"/>
                <a:cs typeface="Arial" pitchFamily="34" charset="0"/>
              </a:rPr>
              <a:t>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96" name="Slide Number Placeholder 4">
            <a:extLst>
              <a:ext uri="{FF2B5EF4-FFF2-40B4-BE49-F238E27FC236}">
                <a16:creationId xmlns:a16="http://schemas.microsoft.com/office/drawing/2014/main" id="{14609694-DD49-4E0A-9942-EE39A65918AD}"/>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3" name="AutoShape 55">
            <a:extLst>
              <a:ext uri="{FF2B5EF4-FFF2-40B4-BE49-F238E27FC236}">
                <a16:creationId xmlns:a16="http://schemas.microsoft.com/office/drawing/2014/main" id="{5FF6A60A-3B00-49E1-A8A5-82E4EB233D0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8" name="AutoShape 56">
            <a:extLst>
              <a:ext uri="{FF2B5EF4-FFF2-40B4-BE49-F238E27FC236}">
                <a16:creationId xmlns:a16="http://schemas.microsoft.com/office/drawing/2014/main" id="{BE828803-685E-4F72-BA18-05549CE77D40}"/>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00" name="AutoShape 59">
            <a:extLst>
              <a:ext uri="{FF2B5EF4-FFF2-40B4-BE49-F238E27FC236}">
                <a16:creationId xmlns:a16="http://schemas.microsoft.com/office/drawing/2014/main" id="{A2335E91-637C-41F5-8FF2-3999615C314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pSp>
        <p:nvGrpSpPr>
          <p:cNvPr id="5" name="Group 4">
            <a:extLst>
              <a:ext uri="{FF2B5EF4-FFF2-40B4-BE49-F238E27FC236}">
                <a16:creationId xmlns:a16="http://schemas.microsoft.com/office/drawing/2014/main" id="{70CCCD43-E2C8-4475-B7AC-985605111E3B}"/>
              </a:ext>
            </a:extLst>
          </p:cNvPr>
          <p:cNvGrpSpPr/>
          <p:nvPr/>
        </p:nvGrpSpPr>
        <p:grpSpPr>
          <a:xfrm>
            <a:off x="159196" y="2090051"/>
            <a:ext cx="2340000" cy="1321200"/>
            <a:chOff x="151863" y="2084210"/>
            <a:chExt cx="3735245" cy="2027105"/>
          </a:xfrm>
        </p:grpSpPr>
        <p:pic>
          <p:nvPicPr>
            <p:cNvPr id="81" name="Picture 80">
              <a:extLst>
                <a:ext uri="{FF2B5EF4-FFF2-40B4-BE49-F238E27FC236}">
                  <a16:creationId xmlns:a16="http://schemas.microsoft.com/office/drawing/2014/main" id="{1F7EBDA6-5181-4B85-984A-6B5EEF356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28" r="13608" b="9278"/>
            <a:stretch/>
          </p:blipFill>
          <p:spPr>
            <a:xfrm>
              <a:off x="169923" y="2084210"/>
              <a:ext cx="3699125" cy="1728031"/>
            </a:xfrm>
            <a:prstGeom prst="rect">
              <a:avLst/>
            </a:prstGeom>
          </p:spPr>
        </p:pic>
        <p:pic>
          <p:nvPicPr>
            <p:cNvPr id="102" name="Picture 101">
              <a:extLst>
                <a:ext uri="{FF2B5EF4-FFF2-40B4-BE49-F238E27FC236}">
                  <a16:creationId xmlns:a16="http://schemas.microsoft.com/office/drawing/2014/main" id="{472B5B2A-7AF0-481A-9348-20F0F45334F2}"/>
                </a:ext>
              </a:extLst>
            </p:cNvPr>
            <p:cNvPicPr>
              <a:picLocks noChangeAspect="1"/>
            </p:cNvPicPr>
            <p:nvPr/>
          </p:nvPicPr>
          <p:blipFill rotWithShape="1">
            <a:blip r:embed="rId4"/>
            <a:srcRect t="6181"/>
            <a:stretch/>
          </p:blipFill>
          <p:spPr>
            <a:xfrm>
              <a:off x="151863" y="3812241"/>
              <a:ext cx="3735245" cy="299074"/>
            </a:xfrm>
            <a:prstGeom prst="rect">
              <a:avLst/>
            </a:prstGeom>
          </p:spPr>
        </p:pic>
      </p:grpSp>
      <p:sp>
        <p:nvSpPr>
          <p:cNvPr id="68" name="AutoShape 58">
            <a:extLst>
              <a:ext uri="{FF2B5EF4-FFF2-40B4-BE49-F238E27FC236}">
                <a16:creationId xmlns:a16="http://schemas.microsoft.com/office/drawing/2014/main" id="{8439CF7A-E4A4-48F9-BB8E-8C6D3596338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70" name="AutoShape 57">
            <a:extLst>
              <a:ext uri="{FF2B5EF4-FFF2-40B4-BE49-F238E27FC236}">
                <a16:creationId xmlns:a16="http://schemas.microsoft.com/office/drawing/2014/main" id="{56AAA23E-69A7-4A40-B391-03F1B1B425D9}"/>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63" name="제목 1">
            <a:extLst>
              <a:ext uri="{FF2B5EF4-FFF2-40B4-BE49-F238E27FC236}">
                <a16:creationId xmlns:a16="http://schemas.microsoft.com/office/drawing/2014/main" id="{88D77FF8-1554-4412-B6B1-066B61688658}"/>
              </a:ext>
            </a:extLst>
          </p:cNvPr>
          <p:cNvSpPr txBox="1">
            <a:spLocks/>
          </p:cNvSpPr>
          <p:nvPr/>
        </p:nvSpPr>
        <p:spPr>
          <a:xfrm>
            <a:off x="28800" y="64800"/>
            <a:ext cx="5940000" cy="396000"/>
          </a:xfrm>
          <a:prstGeom prst="rect">
            <a:avLst/>
          </a:prstGeom>
        </p:spPr>
        <p:txBody>
          <a:bodyPr vert="horz" lIns="91440" tIns="45720" rIns="91440" bIns="45720" rtlCol="0" anchor="ctr">
            <a:noAutofit/>
          </a:bodyPr>
          <a:lstStyle/>
          <a:p>
            <a:pPr eaLnBrk="1" latinLnBrk="0" hangingPunct="0">
              <a:defRPr/>
            </a:pPr>
            <a:r>
              <a:rPr lang="vi-VN" altLang="ko-KR" sz="1300" b="1" kern="0" dirty="0">
                <a:solidFill>
                  <a:srgbClr val="000000"/>
                </a:solidFill>
                <a:latin typeface="Arial" panose="020B0606020202030204" pitchFamily="34" charset="0"/>
                <a:ea typeface="LG Smart_H Regular" pitchFamily="34" charset="-127"/>
              </a:rPr>
              <a:t>3.1</a:t>
            </a:r>
            <a:r>
              <a:rPr lang="en-US" altLang="ko-KR" sz="1300" b="1" kern="0" dirty="0">
                <a:solidFill>
                  <a:srgbClr val="000000"/>
                </a:solidFill>
                <a:latin typeface="Arial"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pic>
        <p:nvPicPr>
          <p:cNvPr id="71" name="Picture 70">
            <a:extLst>
              <a:ext uri="{FF2B5EF4-FFF2-40B4-BE49-F238E27FC236}">
                <a16:creationId xmlns:a16="http://schemas.microsoft.com/office/drawing/2014/main" id="{BB59170F-BA1F-4852-BC1D-995D04CFD141}"/>
              </a:ext>
            </a:extLst>
          </p:cNvPr>
          <p:cNvPicPr>
            <a:picLocks/>
          </p:cNvPicPr>
          <p:nvPr/>
        </p:nvPicPr>
        <p:blipFill>
          <a:blip r:embed="rId5"/>
          <a:stretch>
            <a:fillRect/>
          </a:stretch>
        </p:blipFill>
        <p:spPr>
          <a:xfrm>
            <a:off x="5328000" y="1638000"/>
            <a:ext cx="1512000" cy="900000"/>
          </a:xfrm>
          <a:prstGeom prst="rect">
            <a:avLst/>
          </a:prstGeom>
        </p:spPr>
      </p:pic>
      <p:cxnSp>
        <p:nvCxnSpPr>
          <p:cNvPr id="74" name="Straight Connector 73">
            <a:extLst>
              <a:ext uri="{FF2B5EF4-FFF2-40B4-BE49-F238E27FC236}">
                <a16:creationId xmlns:a16="http://schemas.microsoft.com/office/drawing/2014/main" id="{CC4C4646-645C-4749-997E-6E7BC56E3BFC}"/>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8976FD-D84B-4631-B28C-087AEA346DD6}"/>
              </a:ext>
            </a:extLst>
          </p:cNvPr>
          <p:cNvPicPr>
            <a:picLocks noChangeAspect="1"/>
          </p:cNvPicPr>
          <p:nvPr/>
        </p:nvPicPr>
        <p:blipFill>
          <a:blip r:embed="rId6"/>
          <a:stretch>
            <a:fillRect/>
          </a:stretch>
        </p:blipFill>
        <p:spPr>
          <a:xfrm>
            <a:off x="5364000" y="3024000"/>
            <a:ext cx="1368000" cy="900000"/>
          </a:xfrm>
          <a:prstGeom prst="rect">
            <a:avLst/>
          </a:prstGeom>
        </p:spPr>
      </p:pic>
      <p:sp>
        <p:nvSpPr>
          <p:cNvPr id="122" name="TextBox 121"/>
          <p:cNvSpPr txBox="1"/>
          <p:nvPr/>
        </p:nvSpPr>
        <p:spPr>
          <a:xfrm>
            <a:off x="5220000" y="2592000"/>
            <a:ext cx="1800000" cy="396000"/>
          </a:xfrm>
          <a:prstGeom prst="rect">
            <a:avLst/>
          </a:prstGeom>
          <a:noFill/>
        </p:spPr>
        <p:txBody>
          <a:bodyPr wrap="square">
            <a:noAutofit/>
          </a:bodyPr>
          <a:lstStyle/>
          <a:p>
            <a:pPr eaLnBrk="1" latinLnBrk="0"/>
            <a:r>
              <a:rPr sz="950" b="1">
                <a:latin typeface="Arial"/>
              </a:rPr>
              <a:t>2. Add check sheet to measure Master sample and verify Camera angle</a:t>
            </a:r>
          </a:p>
        </p:txBody>
      </p:sp>
      <p:sp>
        <p:nvSpPr>
          <p:cNvPr id="123" name="TextBox 122"/>
          <p:cNvSpPr txBox="1"/>
          <p:nvPr/>
        </p:nvSpPr>
        <p:spPr>
          <a:xfrm>
            <a:off x="5220000" y="3996000"/>
            <a:ext cx="1800000" cy="324000"/>
          </a:xfrm>
          <a:prstGeom prst="rect">
            <a:avLst/>
          </a:prstGeom>
          <a:noFill/>
        </p:spPr>
        <p:txBody>
          <a:bodyPr wrap="square">
            <a:noAutofit/>
          </a:bodyPr>
          <a:lstStyle/>
          <a:p>
            <a:pPr eaLnBrk="1" latinLnBrk="0"/>
            <a:r>
              <a:rPr sz="950" b="1">
                <a:latin typeface="Arial"/>
              </a:rPr>
              <a:t>3. Inform supplier (Heesung): LCD is not a cause (returned LCD OK at vendor), no process change needed</a:t>
            </a:r>
          </a:p>
        </p:txBody>
      </p:sp>
    </p:spTree>
    <p:extLst>
      <p:ext uri="{BB962C8B-B14F-4D97-AF65-F5344CB8AC3E}">
        <p14:creationId xmlns:p14="http://schemas.microsoft.com/office/powerpoint/2010/main" val="291441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7">
            <a:extLst>
              <a:ext uri="{FF2B5EF4-FFF2-40B4-BE49-F238E27FC236}">
                <a16:creationId xmlns:a16="http://schemas.microsoft.com/office/drawing/2014/main" id="{070DE589-DDD5-47D1-A503-62ED9BC3ABFC}"/>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23631B7D-C17E-41E8-9D6B-B9B3F68937B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6" name="AutoShape 58">
            <a:extLst>
              <a:ext uri="{FF2B5EF4-FFF2-40B4-BE49-F238E27FC236}">
                <a16:creationId xmlns:a16="http://schemas.microsoft.com/office/drawing/2014/main" id="{44574530-997A-46EB-A83C-40E10BC125A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14" name="Picture 13">
            <a:extLst>
              <a:ext uri="{FF2B5EF4-FFF2-40B4-BE49-F238E27FC236}">
                <a16:creationId xmlns:a16="http://schemas.microsoft.com/office/drawing/2014/main" id="{5B082D17-34B4-449C-8443-54621443924F}"/>
              </a:ext>
            </a:extLst>
          </p:cNvPr>
          <p:cNvPicPr>
            <a:picLocks/>
          </p:cNvPicPr>
          <p:nvPr/>
        </p:nvPicPr>
        <p:blipFill>
          <a:blip r:embed="rId2"/>
          <a:stretch>
            <a:fillRect/>
          </a:stretch>
        </p:blipFill>
        <p:spPr>
          <a:xfrm>
            <a:off x="5685274" y="3598209"/>
            <a:ext cx="1972979" cy="1320070"/>
          </a:xfrm>
          <a:prstGeom prst="rect">
            <a:avLst/>
          </a:prstGeom>
        </p:spPr>
      </p:pic>
      <p:sp>
        <p:nvSpPr>
          <p:cNvPr id="16" name="TextBox 15">
            <a:extLst>
              <a:ext uri="{FF2B5EF4-FFF2-40B4-BE49-F238E27FC236}">
                <a16:creationId xmlns:a16="http://schemas.microsoft.com/office/drawing/2014/main" id="{D43ED96F-C0E0-4D2F-95EC-E23F350DE80A}"/>
              </a:ext>
            </a:extLst>
          </p:cNvPr>
          <p:cNvSpPr txBox="1"/>
          <p:nvPr/>
        </p:nvSpPr>
        <p:spPr>
          <a:xfrm>
            <a:off x="173009" y="1007491"/>
            <a:ext cx="461118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Before measurement</a:t>
            </a:r>
            <a:br>
              <a:rPr lang="en-US" sz="1200" dirty="0">
                <a:latin typeface="Arial Narrow" panose="020B0606020202030204" pitchFamily="34" charset="0"/>
                <a:sym typeface="Wingdings" panose="05000000000000000000" pitchFamily="2" charset="2"/>
              </a:rPr>
            </a:br>
            <a:r>
              <a:rPr lang="en-US" sz="1000" dirty="0">
                <a:solidFill>
                  <a:srgbClr val="FF0000"/>
                </a:solidFill>
                <a:latin typeface="Arial" panose="020B0606020202030204" pitchFamily="34" charset="0"/>
                <a:sym typeface="Wingdings" panose="05000000000000000000" pitchFamily="2" charset="2"/>
              </a:rPr>
              <a:t> </a:t>
            </a:r>
            <a:r>
              <a:rPr lang="en-US" sz="1000" dirty="0">
                <a:latin typeface="Arial" panose="020B0606020202030204" pitchFamily="34" charset="0"/>
                <a:sym typeface="Wingdings" panose="05000000000000000000" pitchFamily="2" charset="2"/>
              </a:rPr>
              <a:t>XZ: 89.075</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88.806</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sp>
        <p:nvSpPr>
          <p:cNvPr id="17" name="TextBox 16">
            <a:extLst>
              <a:ext uri="{FF2B5EF4-FFF2-40B4-BE49-F238E27FC236}">
                <a16:creationId xmlns:a16="http://schemas.microsoft.com/office/drawing/2014/main" id="{295D5869-11BE-479D-9E74-3B8C469DF7D2}"/>
              </a:ext>
            </a:extLst>
          </p:cNvPr>
          <p:cNvSpPr txBox="1"/>
          <p:nvPr/>
        </p:nvSpPr>
        <p:spPr>
          <a:xfrm>
            <a:off x="5194180" y="1077373"/>
            <a:ext cx="460679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After measurement </a:t>
            </a:r>
          </a:p>
          <a:p>
            <a:pPr algn="ctr" eaLnBrk="1" latinLnBrk="0"/>
            <a:r>
              <a:rPr lang="en-US" sz="1000" dirty="0">
                <a:latin typeface="Arial" panose="020B0606020202030204" pitchFamily="34" charset="0"/>
                <a:sym typeface="Wingdings" panose="05000000000000000000" pitchFamily="2" charset="2"/>
              </a:rPr>
              <a:t xml:space="preserve"> XZ: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xml:space="preserve"> ; YZ: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grpSp>
        <p:nvGrpSpPr>
          <p:cNvPr id="18" name="Group 17">
            <a:extLst>
              <a:ext uri="{FF2B5EF4-FFF2-40B4-BE49-F238E27FC236}">
                <a16:creationId xmlns:a16="http://schemas.microsoft.com/office/drawing/2014/main" id="{FFDFEB6B-6C38-4E13-8FF2-58968AF811CE}"/>
              </a:ext>
            </a:extLst>
          </p:cNvPr>
          <p:cNvGrpSpPr/>
          <p:nvPr/>
        </p:nvGrpSpPr>
        <p:grpSpPr>
          <a:xfrm>
            <a:off x="5483506" y="1633963"/>
            <a:ext cx="3081098" cy="1555753"/>
            <a:chOff x="5019235" y="2239786"/>
            <a:chExt cx="1856981" cy="1207008"/>
          </a:xfrm>
        </p:grpSpPr>
        <p:pic>
          <p:nvPicPr>
            <p:cNvPr id="19" name="Picture 18">
              <a:extLst>
                <a:ext uri="{FF2B5EF4-FFF2-40B4-BE49-F238E27FC236}">
                  <a16:creationId xmlns:a16="http://schemas.microsoft.com/office/drawing/2014/main" id="{E8E1BD45-198B-47D2-BCE1-A451860F970D}"/>
                </a:ext>
              </a:extLst>
            </p:cNvPr>
            <p:cNvPicPr>
              <a:picLocks/>
            </p:cNvPicPr>
            <p:nvPr/>
          </p:nvPicPr>
          <p:blipFill>
            <a:blip r:embed="rId3"/>
            <a:stretch>
              <a:fillRect/>
            </a:stretch>
          </p:blipFill>
          <p:spPr>
            <a:xfrm>
              <a:off x="5130063" y="2239786"/>
              <a:ext cx="1634235" cy="1207008"/>
            </a:xfrm>
            <a:prstGeom prst="rect">
              <a:avLst/>
            </a:prstGeom>
          </p:spPr>
        </p:pic>
        <p:sp>
          <p:nvSpPr>
            <p:cNvPr id="21" name="TextBox 20">
              <a:extLst>
                <a:ext uri="{FF2B5EF4-FFF2-40B4-BE49-F238E27FC236}">
                  <a16:creationId xmlns:a16="http://schemas.microsoft.com/office/drawing/2014/main" id="{3EC54F66-68DD-4487-AA96-B48B87AFD744}"/>
                </a:ext>
              </a:extLst>
            </p:cNvPr>
            <p:cNvSpPr txBox="1"/>
            <p:nvPr/>
          </p:nvSpPr>
          <p:spPr>
            <a:xfrm>
              <a:off x="634386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22" name="TextBox 21">
              <a:extLst>
                <a:ext uri="{FF2B5EF4-FFF2-40B4-BE49-F238E27FC236}">
                  <a16:creationId xmlns:a16="http://schemas.microsoft.com/office/drawing/2014/main" id="{FB6A216C-48E7-4F57-8343-10A50ACA411B}"/>
                </a:ext>
              </a:extLst>
            </p:cNvPr>
            <p:cNvSpPr txBox="1"/>
            <p:nvPr/>
          </p:nvSpPr>
          <p:spPr>
            <a:xfrm>
              <a:off x="501923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grpSp>
        <p:nvGrpSpPr>
          <p:cNvPr id="23" name="Group 22">
            <a:extLst>
              <a:ext uri="{FF2B5EF4-FFF2-40B4-BE49-F238E27FC236}">
                <a16:creationId xmlns:a16="http://schemas.microsoft.com/office/drawing/2014/main" id="{055BAE43-8118-4D06-8250-847B5596110A}"/>
              </a:ext>
            </a:extLst>
          </p:cNvPr>
          <p:cNvGrpSpPr/>
          <p:nvPr/>
        </p:nvGrpSpPr>
        <p:grpSpPr>
          <a:xfrm>
            <a:off x="7853491" y="3724867"/>
            <a:ext cx="1540078" cy="1219751"/>
            <a:chOff x="8468343" y="2246708"/>
            <a:chExt cx="1313079" cy="1200086"/>
          </a:xfrm>
        </p:grpSpPr>
        <p:pic>
          <p:nvPicPr>
            <p:cNvPr id="24" name="Picture 23">
              <a:extLst>
                <a:ext uri="{FF2B5EF4-FFF2-40B4-BE49-F238E27FC236}">
                  <a16:creationId xmlns:a16="http://schemas.microsoft.com/office/drawing/2014/main" id="{12373177-7176-4DE4-9D57-B26FE528CFB2}"/>
                </a:ext>
              </a:extLst>
            </p:cNvPr>
            <p:cNvPicPr>
              <a:picLocks noChangeAspect="1"/>
            </p:cNvPicPr>
            <p:nvPr/>
          </p:nvPicPr>
          <p:blipFill>
            <a:blip r:embed="rId4"/>
            <a:stretch>
              <a:fillRect/>
            </a:stretch>
          </p:blipFill>
          <p:spPr>
            <a:xfrm>
              <a:off x="8500201" y="2246708"/>
              <a:ext cx="1236653" cy="1200086"/>
            </a:xfrm>
            <a:prstGeom prst="rect">
              <a:avLst/>
            </a:prstGeom>
          </p:spPr>
        </p:pic>
        <p:sp>
          <p:nvSpPr>
            <p:cNvPr id="25" name="TextBox 24">
              <a:extLst>
                <a:ext uri="{FF2B5EF4-FFF2-40B4-BE49-F238E27FC236}">
                  <a16:creationId xmlns:a16="http://schemas.microsoft.com/office/drawing/2014/main" id="{185A6C82-02E0-42B6-8729-7702DD4F2023}"/>
                </a:ext>
              </a:extLst>
            </p:cNvPr>
            <p:cNvSpPr txBox="1"/>
            <p:nvPr/>
          </p:nvSpPr>
          <p:spPr>
            <a:xfrm>
              <a:off x="9199140" y="3082704"/>
              <a:ext cx="256802" cy="276999"/>
            </a:xfrm>
            <a:prstGeom prst="rect">
              <a:avLst/>
            </a:prstGeom>
            <a:noFill/>
          </p:spPr>
          <p:txBody>
            <a:bodyPr wrap="none" rtlCol="0">
              <a:spAutoFit/>
            </a:bodyPr>
            <a:lstStyle/>
            <a:p>
              <a:r>
                <a:rPr lang="en-US" sz="1200"/>
                <a:t>Z</a:t>
              </a:r>
            </a:p>
          </p:txBody>
        </p:sp>
        <p:sp>
          <p:nvSpPr>
            <p:cNvPr id="26" name="TextBox 25">
              <a:extLst>
                <a:ext uri="{FF2B5EF4-FFF2-40B4-BE49-F238E27FC236}">
                  <a16:creationId xmlns:a16="http://schemas.microsoft.com/office/drawing/2014/main" id="{4C3EED04-DFC9-4D87-A6E4-ED4C59855162}"/>
                </a:ext>
              </a:extLst>
            </p:cNvPr>
            <p:cNvSpPr txBox="1"/>
            <p:nvPr/>
          </p:nvSpPr>
          <p:spPr>
            <a:xfrm>
              <a:off x="9516606" y="2807458"/>
              <a:ext cx="264816" cy="276999"/>
            </a:xfrm>
            <a:prstGeom prst="rect">
              <a:avLst/>
            </a:prstGeom>
            <a:noFill/>
          </p:spPr>
          <p:txBody>
            <a:bodyPr wrap="none" rtlCol="0">
              <a:spAutoFit/>
            </a:bodyPr>
            <a:lstStyle/>
            <a:p>
              <a:r>
                <a:rPr lang="en-US" sz="1200"/>
                <a:t>X</a:t>
              </a:r>
            </a:p>
          </p:txBody>
        </p:sp>
        <p:sp>
          <p:nvSpPr>
            <p:cNvPr id="27" name="TextBox 26">
              <a:extLst>
                <a:ext uri="{FF2B5EF4-FFF2-40B4-BE49-F238E27FC236}">
                  <a16:creationId xmlns:a16="http://schemas.microsoft.com/office/drawing/2014/main" id="{96DBFDFA-1BE8-4248-8725-ED73D8793DC1}"/>
                </a:ext>
              </a:extLst>
            </p:cNvPr>
            <p:cNvSpPr txBox="1"/>
            <p:nvPr/>
          </p:nvSpPr>
          <p:spPr>
            <a:xfrm>
              <a:off x="8468343" y="2773834"/>
              <a:ext cx="264816" cy="276999"/>
            </a:xfrm>
            <a:prstGeom prst="rect">
              <a:avLst/>
            </a:prstGeom>
            <a:noFill/>
          </p:spPr>
          <p:txBody>
            <a:bodyPr wrap="none" rtlCol="0">
              <a:spAutoFit/>
            </a:bodyPr>
            <a:lstStyle/>
            <a:p>
              <a:r>
                <a:rPr lang="en-US" sz="1200"/>
                <a:t>Y</a:t>
              </a:r>
            </a:p>
          </p:txBody>
        </p:sp>
      </p:grpSp>
      <p:sp>
        <p:nvSpPr>
          <p:cNvPr id="28" name="Rectangular Callout 58">
            <a:extLst>
              <a:ext uri="{FF2B5EF4-FFF2-40B4-BE49-F238E27FC236}">
                <a16:creationId xmlns:a16="http://schemas.microsoft.com/office/drawing/2014/main" id="{7BB701AD-2FCE-4A96-942A-E2D723992B75}"/>
              </a:ext>
            </a:extLst>
          </p:cNvPr>
          <p:cNvSpPr/>
          <p:nvPr/>
        </p:nvSpPr>
        <p:spPr>
          <a:xfrm>
            <a:off x="7743717" y="3478021"/>
            <a:ext cx="1540078" cy="1453639"/>
          </a:xfrm>
          <a:prstGeom prst="wedgeRectCallout">
            <a:avLst>
              <a:gd name="adj1" fmla="val -108972"/>
              <a:gd name="adj2" fmla="val 208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29" name="Group 28">
            <a:extLst>
              <a:ext uri="{FF2B5EF4-FFF2-40B4-BE49-F238E27FC236}">
                <a16:creationId xmlns:a16="http://schemas.microsoft.com/office/drawing/2014/main" id="{511C2AAA-739A-4938-AF5C-0A55CBA5F2ED}"/>
              </a:ext>
            </a:extLst>
          </p:cNvPr>
          <p:cNvGrpSpPr/>
          <p:nvPr/>
        </p:nvGrpSpPr>
        <p:grpSpPr>
          <a:xfrm>
            <a:off x="77425" y="1485896"/>
            <a:ext cx="3247628" cy="1987179"/>
            <a:chOff x="125050" y="2038370"/>
            <a:chExt cx="1856981" cy="1207008"/>
          </a:xfrm>
        </p:grpSpPr>
        <p:pic>
          <p:nvPicPr>
            <p:cNvPr id="30" name="Picture 29">
              <a:extLst>
                <a:ext uri="{FF2B5EF4-FFF2-40B4-BE49-F238E27FC236}">
                  <a16:creationId xmlns:a16="http://schemas.microsoft.com/office/drawing/2014/main" id="{C4950509-DC7B-4818-A7D7-E807C7E0A5DC}"/>
                </a:ext>
              </a:extLst>
            </p:cNvPr>
            <p:cNvPicPr>
              <a:picLocks/>
            </p:cNvPicPr>
            <p:nvPr/>
          </p:nvPicPr>
          <p:blipFill>
            <a:blip r:embed="rId5"/>
            <a:stretch>
              <a:fillRect/>
            </a:stretch>
          </p:blipFill>
          <p:spPr>
            <a:xfrm>
              <a:off x="228439" y="2038370"/>
              <a:ext cx="1636776" cy="1207008"/>
            </a:xfrm>
            <a:prstGeom prst="rect">
              <a:avLst/>
            </a:prstGeom>
          </p:spPr>
        </p:pic>
        <p:sp>
          <p:nvSpPr>
            <p:cNvPr id="31" name="TextBox 30">
              <a:extLst>
                <a:ext uri="{FF2B5EF4-FFF2-40B4-BE49-F238E27FC236}">
                  <a16:creationId xmlns:a16="http://schemas.microsoft.com/office/drawing/2014/main" id="{31F06AF7-217B-44D6-945D-FFBFA7CB8934}"/>
                </a:ext>
              </a:extLst>
            </p:cNvPr>
            <p:cNvSpPr txBox="1"/>
            <p:nvPr/>
          </p:nvSpPr>
          <p:spPr>
            <a:xfrm>
              <a:off x="144968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39" name="TextBox 38">
              <a:extLst>
                <a:ext uri="{FF2B5EF4-FFF2-40B4-BE49-F238E27FC236}">
                  <a16:creationId xmlns:a16="http://schemas.microsoft.com/office/drawing/2014/main" id="{EED274E5-CC64-4277-B9DB-F4375B0150CC}"/>
                </a:ext>
              </a:extLst>
            </p:cNvPr>
            <p:cNvSpPr txBox="1"/>
            <p:nvPr/>
          </p:nvSpPr>
          <p:spPr>
            <a:xfrm>
              <a:off x="12505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pic>
        <p:nvPicPr>
          <p:cNvPr id="40" name="Picture 39">
            <a:extLst>
              <a:ext uri="{FF2B5EF4-FFF2-40B4-BE49-F238E27FC236}">
                <a16:creationId xmlns:a16="http://schemas.microsoft.com/office/drawing/2014/main" id="{44305FBD-0C39-44B7-B79B-29D3AAE06EE3}"/>
              </a:ext>
            </a:extLst>
          </p:cNvPr>
          <p:cNvPicPr>
            <a:picLocks/>
          </p:cNvPicPr>
          <p:nvPr/>
        </p:nvPicPr>
        <p:blipFill>
          <a:blip r:embed="rId6"/>
          <a:stretch>
            <a:fillRect/>
          </a:stretch>
        </p:blipFill>
        <p:spPr>
          <a:xfrm>
            <a:off x="323313" y="3560167"/>
            <a:ext cx="2171589" cy="1364786"/>
          </a:xfrm>
          <a:prstGeom prst="rect">
            <a:avLst/>
          </a:prstGeom>
        </p:spPr>
      </p:pic>
      <p:sp>
        <p:nvSpPr>
          <p:cNvPr id="41" name="Rectangular Callout 69">
            <a:extLst>
              <a:ext uri="{FF2B5EF4-FFF2-40B4-BE49-F238E27FC236}">
                <a16:creationId xmlns:a16="http://schemas.microsoft.com/office/drawing/2014/main" id="{53971F0F-89D2-4566-976C-0BD679EE98A1}"/>
              </a:ext>
            </a:extLst>
          </p:cNvPr>
          <p:cNvSpPr/>
          <p:nvPr/>
        </p:nvSpPr>
        <p:spPr>
          <a:xfrm>
            <a:off x="2494902" y="3579832"/>
            <a:ext cx="1637790" cy="1364786"/>
          </a:xfrm>
          <a:prstGeom prst="wedgeRectCallout">
            <a:avLst>
              <a:gd name="adj1" fmla="val -108503"/>
              <a:gd name="adj2" fmla="val 496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42" name="Group 41">
            <a:extLst>
              <a:ext uri="{FF2B5EF4-FFF2-40B4-BE49-F238E27FC236}">
                <a16:creationId xmlns:a16="http://schemas.microsoft.com/office/drawing/2014/main" id="{BF5A8FAC-056C-4EAD-BC06-72A7BCE984E4}"/>
              </a:ext>
            </a:extLst>
          </p:cNvPr>
          <p:cNvGrpSpPr/>
          <p:nvPr/>
        </p:nvGrpSpPr>
        <p:grpSpPr>
          <a:xfrm>
            <a:off x="2462031" y="3583156"/>
            <a:ext cx="1750686" cy="1354447"/>
            <a:chOff x="3566770" y="2034773"/>
            <a:chExt cx="1319532" cy="1197864"/>
          </a:xfrm>
        </p:grpSpPr>
        <p:pic>
          <p:nvPicPr>
            <p:cNvPr id="43" name="Picture 42">
              <a:extLst>
                <a:ext uri="{FF2B5EF4-FFF2-40B4-BE49-F238E27FC236}">
                  <a16:creationId xmlns:a16="http://schemas.microsoft.com/office/drawing/2014/main" id="{1BC10210-DD2E-45B5-A344-F6E8B945F174}"/>
                </a:ext>
              </a:extLst>
            </p:cNvPr>
            <p:cNvPicPr>
              <a:picLocks/>
            </p:cNvPicPr>
            <p:nvPr/>
          </p:nvPicPr>
          <p:blipFill>
            <a:blip r:embed="rId7"/>
            <a:stretch>
              <a:fillRect/>
            </a:stretch>
          </p:blipFill>
          <p:spPr>
            <a:xfrm>
              <a:off x="3598747" y="2034773"/>
              <a:ext cx="1234440" cy="1197864"/>
            </a:xfrm>
            <a:prstGeom prst="rect">
              <a:avLst/>
            </a:prstGeom>
          </p:spPr>
        </p:pic>
        <p:sp>
          <p:nvSpPr>
            <p:cNvPr id="44" name="TextBox 43">
              <a:extLst>
                <a:ext uri="{FF2B5EF4-FFF2-40B4-BE49-F238E27FC236}">
                  <a16:creationId xmlns:a16="http://schemas.microsoft.com/office/drawing/2014/main" id="{164C464D-B3C2-4407-BDB6-0DA3DB59F201}"/>
                </a:ext>
              </a:extLst>
            </p:cNvPr>
            <p:cNvSpPr txBox="1"/>
            <p:nvPr/>
          </p:nvSpPr>
          <p:spPr>
            <a:xfrm>
              <a:off x="3923225" y="2662157"/>
              <a:ext cx="256802" cy="276999"/>
            </a:xfrm>
            <a:prstGeom prst="rect">
              <a:avLst/>
            </a:prstGeom>
            <a:noFill/>
          </p:spPr>
          <p:txBody>
            <a:bodyPr wrap="none" rtlCol="0">
              <a:spAutoFit/>
            </a:bodyPr>
            <a:lstStyle/>
            <a:p>
              <a:r>
                <a:rPr lang="en-US" sz="1200"/>
                <a:t>Z</a:t>
              </a:r>
            </a:p>
          </p:txBody>
        </p:sp>
        <p:sp>
          <p:nvSpPr>
            <p:cNvPr id="45" name="TextBox 44">
              <a:extLst>
                <a:ext uri="{FF2B5EF4-FFF2-40B4-BE49-F238E27FC236}">
                  <a16:creationId xmlns:a16="http://schemas.microsoft.com/office/drawing/2014/main" id="{F3045DC7-CFDA-41F6-A023-413FC7614317}"/>
                </a:ext>
              </a:extLst>
            </p:cNvPr>
            <p:cNvSpPr txBox="1"/>
            <p:nvPr/>
          </p:nvSpPr>
          <p:spPr>
            <a:xfrm>
              <a:off x="4621486" y="2385158"/>
              <a:ext cx="264816" cy="276999"/>
            </a:xfrm>
            <a:prstGeom prst="rect">
              <a:avLst/>
            </a:prstGeom>
            <a:noFill/>
          </p:spPr>
          <p:txBody>
            <a:bodyPr wrap="none" rtlCol="0">
              <a:spAutoFit/>
            </a:bodyPr>
            <a:lstStyle/>
            <a:p>
              <a:r>
                <a:rPr lang="en-US" sz="1200"/>
                <a:t>X</a:t>
              </a:r>
            </a:p>
          </p:txBody>
        </p:sp>
        <p:sp>
          <p:nvSpPr>
            <p:cNvPr id="46" name="TextBox 45">
              <a:extLst>
                <a:ext uri="{FF2B5EF4-FFF2-40B4-BE49-F238E27FC236}">
                  <a16:creationId xmlns:a16="http://schemas.microsoft.com/office/drawing/2014/main" id="{F28BCC1F-A169-4DA7-9F4E-D8DB22F9D13A}"/>
                </a:ext>
              </a:extLst>
            </p:cNvPr>
            <p:cNvSpPr txBox="1"/>
            <p:nvPr/>
          </p:nvSpPr>
          <p:spPr>
            <a:xfrm>
              <a:off x="3566770" y="2532540"/>
              <a:ext cx="264816" cy="276999"/>
            </a:xfrm>
            <a:prstGeom prst="rect">
              <a:avLst/>
            </a:prstGeom>
            <a:noFill/>
          </p:spPr>
          <p:txBody>
            <a:bodyPr wrap="none" rtlCol="0">
              <a:spAutoFit/>
            </a:bodyPr>
            <a:lstStyle/>
            <a:p>
              <a:r>
                <a:rPr lang="en-US" sz="1200"/>
                <a:t>Y</a:t>
              </a:r>
            </a:p>
          </p:txBody>
        </p:sp>
      </p:grpSp>
      <p:sp>
        <p:nvSpPr>
          <p:cNvPr id="38" name="Arrow: Pentagon 37">
            <a:extLst>
              <a:ext uri="{FF2B5EF4-FFF2-40B4-BE49-F238E27FC236}">
                <a16:creationId xmlns:a16="http://schemas.microsoft.com/office/drawing/2014/main" id="{A14AF0D6-0157-4A37-8465-7003C201F12B}"/>
              </a:ext>
            </a:extLst>
          </p:cNvPr>
          <p:cNvSpPr/>
          <p:nvPr/>
        </p:nvSpPr>
        <p:spPr>
          <a:xfrm>
            <a:off x="100067" y="997045"/>
            <a:ext cx="4991276" cy="4053093"/>
          </a:xfrm>
          <a:prstGeom prst="homePlate">
            <a:avLst>
              <a:gd name="adj" fmla="val 8496"/>
            </a:avLst>
          </a:prstGeom>
          <a:noFill/>
          <a:ln>
            <a:solidFill>
              <a:srgbClr val="FF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8" name="Rectangle 47">
            <a:extLst>
              <a:ext uri="{FF2B5EF4-FFF2-40B4-BE49-F238E27FC236}">
                <a16:creationId xmlns:a16="http://schemas.microsoft.com/office/drawing/2014/main" id="{8A01F703-7AED-49D9-BA5F-ED2257D3FBA0}"/>
              </a:ext>
            </a:extLst>
          </p:cNvPr>
          <p:cNvSpPr/>
          <p:nvPr/>
        </p:nvSpPr>
        <p:spPr>
          <a:xfrm>
            <a:off x="5195367" y="990600"/>
            <a:ext cx="4453247" cy="40595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9" name="TextBox 48">
            <a:extLst>
              <a:ext uri="{FF2B5EF4-FFF2-40B4-BE49-F238E27FC236}">
                <a16:creationId xmlns:a16="http://schemas.microsoft.com/office/drawing/2014/main" id="{5A4ADFE1-6D46-4FDB-B3C8-F8FE8E05C7E4}"/>
              </a:ext>
            </a:extLst>
          </p:cNvPr>
          <p:cNvSpPr txBox="1"/>
          <p:nvPr/>
        </p:nvSpPr>
        <p:spPr>
          <a:xfrm>
            <a:off x="63248" y="535377"/>
            <a:ext cx="5715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(before / after)</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0" name="TextBox 49">
            <a:extLst>
              <a:ext uri="{FF2B5EF4-FFF2-40B4-BE49-F238E27FC236}">
                <a16:creationId xmlns:a16="http://schemas.microsoft.com/office/drawing/2014/main" id="{9796D67F-121E-4991-B95F-AD4E2D8F1606}"/>
              </a:ext>
            </a:extLst>
          </p:cNvPr>
          <p:cNvSpPr txBox="1"/>
          <p:nvPr/>
        </p:nvSpPr>
        <p:spPr>
          <a:xfrm>
            <a:off x="87912" y="5250882"/>
            <a:ext cx="6160488" cy="577081"/>
          </a:xfrm>
          <a:prstGeom prst="rect">
            <a:avLst/>
          </a:prstGeom>
          <a:noFill/>
        </p:spPr>
        <p:txBody>
          <a:bodyPr wrap="square" rtlCol="0">
            <a:spAutoFit/>
          </a:bodyPr>
          <a:lstStyle/>
          <a:p>
            <a:pPr marL="171450" indent="-171450" algn="just" eaLnBrk="1" latinLnBrk="0">
              <a:spcBef>
                <a:spcPct val="20000"/>
              </a:spcBef>
              <a:buFont typeface="Wingdings" panose="05000000000000000000" pitchFamily="2" charset="2"/>
              <a:buChar char="Ø"/>
            </a:pPr>
            <a:r>
              <a:rPr sz="1000" b="0">
                <a:latin typeface="Arial"/>
              </a:rPr>
              <a:t xml:space="preserve">After adjusting the detector camera angle to the 90.0° target (measured 89.889°) and re-testing samples, no Luminance NG was observed in the re-test. Correcting CS2000 camera angle is confirmed as the effective solution.</a:t>
            </a:r>
            <a:endParaRPr lang="ko-KR" altLang="en-US" sz="1050" dirty="0">
              <a:solidFill>
                <a:prstClr val="black"/>
              </a:solidFill>
              <a:latin typeface="Arial" panose="020B0604020202020204" pitchFamily="34" charset="0"/>
              <a:ea typeface="LG Smart_H Regular" panose="020B0600000101010101" pitchFamily="34" charset="-127"/>
              <a:cs typeface="Arial" panose="020B0604020202020204" pitchFamily="34" charset="0"/>
            </a:endParaRPr>
          </a:p>
        </p:txBody>
      </p:sp>
      <p:pic>
        <p:nvPicPr>
          <p:cNvPr id="51" name="Picture 50">
            <a:extLst>
              <a:ext uri="{FF2B5EF4-FFF2-40B4-BE49-F238E27FC236}">
                <a16:creationId xmlns:a16="http://schemas.microsoft.com/office/drawing/2014/main" id="{DC490346-BFF1-42EE-9917-D7CC93E7D79D}"/>
              </a:ext>
            </a:extLst>
          </p:cNvPr>
          <p:cNvPicPr>
            <a:picLocks/>
          </p:cNvPicPr>
          <p:nvPr/>
        </p:nvPicPr>
        <p:blipFill>
          <a:blip r:embed="rId8"/>
          <a:stretch>
            <a:fillRect/>
          </a:stretch>
        </p:blipFill>
        <p:spPr>
          <a:xfrm>
            <a:off x="6654452" y="5267813"/>
            <a:ext cx="2267434" cy="1163112"/>
          </a:xfrm>
          <a:prstGeom prst="rect">
            <a:avLst/>
          </a:prstGeom>
        </p:spPr>
      </p:pic>
      <p:sp>
        <p:nvSpPr>
          <p:cNvPr id="52" name="제목 1">
            <a:extLst>
              <a:ext uri="{FF2B5EF4-FFF2-40B4-BE49-F238E27FC236}">
                <a16:creationId xmlns:a16="http://schemas.microsoft.com/office/drawing/2014/main" id="{5DEA8993-5816-41E5-B83D-7C241142F792}"/>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37" name="Straight Connector 36">
            <a:extLst>
              <a:ext uri="{FF2B5EF4-FFF2-40B4-BE49-F238E27FC236}">
                <a16:creationId xmlns:a16="http://schemas.microsoft.com/office/drawing/2014/main" id="{40623CFD-7D50-4755-9BC8-5BB2B026E5E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17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51742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0328D7-4F88-4E3F-906D-CDB9E15A1C4F}"/>
              </a:ext>
            </a:extLst>
          </p:cNvPr>
          <p:cNvCxnSpPr/>
          <p:nvPr/>
        </p:nvCxnSpPr>
        <p:spPr bwMode="auto">
          <a:xfrm>
            <a:off x="3810000" y="6349162"/>
            <a:ext cx="1094487" cy="0"/>
          </a:xfrm>
          <a:prstGeom prst="straightConnector1">
            <a:avLst/>
          </a:prstGeom>
          <a:noFill/>
          <a:ln w="9525" cap="flat" cmpd="sng" algn="ctr">
            <a:solidFill>
              <a:srgbClr val="C00000"/>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343B9057-F582-4381-91D8-097F77C1B3CF}"/>
              </a:ext>
            </a:extLst>
          </p:cNvPr>
          <p:cNvCxnSpPr/>
          <p:nvPr/>
        </p:nvCxnSpPr>
        <p:spPr bwMode="auto">
          <a:xfrm flipH="1">
            <a:off x="426181" y="6349162"/>
            <a:ext cx="1371600" cy="0"/>
          </a:xfrm>
          <a:prstGeom prst="straightConnector1">
            <a:avLst/>
          </a:prstGeom>
          <a:noFill/>
          <a:ln w="9525" cap="flat" cmpd="sng" algn="ctr">
            <a:solidFill>
              <a:srgbClr val="C00000"/>
            </a:solidFill>
            <a:prstDash val="solid"/>
            <a:round/>
            <a:headEnd type="none" w="med" len="med"/>
            <a:tailEnd type="triangle"/>
          </a:ln>
          <a:effectLst/>
        </p:spPr>
      </p:cxnSp>
      <p:grpSp>
        <p:nvGrpSpPr>
          <p:cNvPr id="27" name="Group 26"/>
          <p:cNvGrpSpPr/>
          <p:nvPr/>
        </p:nvGrpSpPr>
        <p:grpSpPr>
          <a:xfrm>
            <a:off x="1984978" y="947234"/>
            <a:ext cx="5204525" cy="2862385"/>
            <a:chOff x="1196275" y="805422"/>
            <a:chExt cx="5889416" cy="3554856"/>
          </a:xfrm>
        </p:grpSpPr>
        <p:grpSp>
          <p:nvGrpSpPr>
            <p:cNvPr id="28" name="Group 27"/>
            <p:cNvGrpSpPr/>
            <p:nvPr/>
          </p:nvGrpSpPr>
          <p:grpSpPr>
            <a:xfrm>
              <a:off x="2780391" y="805422"/>
              <a:ext cx="4305300" cy="2712480"/>
              <a:chOff x="2874491" y="438296"/>
              <a:chExt cx="4305300" cy="3164992"/>
            </a:xfrm>
          </p:grpSpPr>
          <p:sp>
            <p:nvSpPr>
              <p:cNvPr id="38" name="Rectangle 37"/>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p>
            </p:txBody>
          </p:sp>
          <p:cxnSp>
            <p:nvCxnSpPr>
              <p:cNvPr id="45" name="Straight Connector 44"/>
              <p:cNvCxnSpPr>
                <a:stCxn id="39" idx="0"/>
                <a:endCxn id="38"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52"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3592975" y="2795783"/>
                <a:ext cx="831444" cy="538683"/>
              </a:xfrm>
              <a:prstGeom prst="rect">
                <a:avLst/>
              </a:prstGeom>
              <a:noFill/>
            </p:spPr>
            <p:txBody>
              <a:bodyPr wrap="square" rtlCol="0">
                <a:spAutoFit/>
              </a:bodyPr>
              <a:lstStyle/>
              <a:p>
                <a:pPr algn="ctr"/>
                <a:r>
                  <a:rPr lang="en-US" sz="1200">
                    <a:latin typeface="Arial Narrow" panose="020B0606020202030204" pitchFamily="34" charset="0"/>
                  </a:rPr>
                  <a:t>Camera</a:t>
                </a:r>
              </a:p>
              <a:p>
                <a:pPr algn="ctr"/>
                <a:r>
                  <a:rPr lang="en-US" sz="1200">
                    <a:latin typeface="Arial Narrow" panose="020B0606020202030204" pitchFamily="34" charset="0"/>
                  </a:rPr>
                  <a:t>CS2000</a:t>
                </a:r>
              </a:p>
            </p:txBody>
          </p:sp>
          <p:sp>
            <p:nvSpPr>
              <p:cNvPr id="61" name="TextBox 60"/>
              <p:cNvSpPr txBox="1"/>
              <p:nvPr/>
            </p:nvSpPr>
            <p:spPr>
              <a:xfrm>
                <a:off x="3742628" y="438296"/>
                <a:ext cx="526409" cy="490601"/>
              </a:xfrm>
              <a:prstGeom prst="rect">
                <a:avLst/>
              </a:prstGeom>
              <a:noFill/>
            </p:spPr>
            <p:txBody>
              <a:bodyPr wrap="none" rtlCol="0">
                <a:spAutoFit/>
              </a:bodyPr>
              <a:lstStyle/>
              <a:p>
                <a:r>
                  <a:rPr lang="en-US" sz="1600">
                    <a:latin typeface="Arial Narrow" panose="020B0606020202030204" pitchFamily="34" charset="0"/>
                  </a:rPr>
                  <a:t>PID</a:t>
                </a:r>
              </a:p>
            </p:txBody>
          </p:sp>
          <p:sp>
            <p:nvSpPr>
              <p:cNvPr id="62" name="TextBox 61"/>
              <p:cNvSpPr txBox="1"/>
              <p:nvPr/>
            </p:nvSpPr>
            <p:spPr>
              <a:xfrm>
                <a:off x="5819779" y="438296"/>
                <a:ext cx="537293" cy="490601"/>
              </a:xfrm>
              <a:prstGeom prst="rect">
                <a:avLst/>
              </a:prstGeom>
              <a:noFill/>
            </p:spPr>
            <p:txBody>
              <a:bodyPr wrap="none" rtlCol="0">
                <a:spAutoFit/>
              </a:bodyPr>
              <a:lstStyle/>
              <a:p>
                <a:r>
                  <a:rPr lang="en-US" sz="1600">
                    <a:latin typeface="Arial Narrow" panose="020B0606020202030204" pitchFamily="34" charset="0"/>
                  </a:rPr>
                  <a:t>CID</a:t>
                </a:r>
              </a:p>
            </p:txBody>
          </p:sp>
          <p:cxnSp>
            <p:nvCxnSpPr>
              <p:cNvPr id="17" name="Straight Connector 16"/>
              <p:cNvCxnSpPr>
                <a:endCxn id="39" idx="2"/>
              </p:cNvCxnSpPr>
              <p:nvPr/>
            </p:nvCxnSpPr>
            <p:spPr>
              <a:xfrm>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0"/>
              </p:cNvCxnSpPr>
              <p:nvPr/>
            </p:nvCxnSpPr>
            <p:spPr>
              <a:xfrm flipH="1">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261339" y="1967733"/>
                <a:ext cx="1558440" cy="338554"/>
              </a:xfrm>
              <a:prstGeom prst="rect">
                <a:avLst/>
              </a:prstGeom>
              <a:noFill/>
            </p:spPr>
            <p:txBody>
              <a:bodyPr wrap="none" rtlCol="0">
                <a:spAutoFit/>
              </a:bodyPr>
              <a:lstStyle/>
              <a:p>
                <a:r>
                  <a:rPr lang="en-US" sz="1600">
                    <a:latin typeface="Arial Narrow" panose="020B0606020202030204" pitchFamily="34" charset="0"/>
                  </a:rPr>
                  <a:t>J1 Dual PPR RHD</a:t>
                </a:r>
              </a:p>
            </p:txBody>
          </p:sp>
          <p:sp>
            <p:nvSpPr>
              <p:cNvPr id="68" name="TextBox 67"/>
              <p:cNvSpPr txBox="1"/>
              <p:nvPr/>
            </p:nvSpPr>
            <p:spPr>
              <a:xfrm>
                <a:off x="4407816" y="1209084"/>
                <a:ext cx="470000" cy="314312"/>
              </a:xfrm>
              <a:prstGeom prst="rect">
                <a:avLst/>
              </a:prstGeom>
              <a:noFill/>
            </p:spPr>
            <p:txBody>
              <a:bodyPr wrap="none" rtlCol="0">
                <a:spAutoFit/>
              </a:bodyPr>
              <a:lstStyle/>
              <a:p>
                <a:r>
                  <a:rPr lang="en-US" sz="900">
                    <a:latin typeface="Arial Narrow" panose="020B0606020202030204" pitchFamily="34" charset="0"/>
                  </a:rPr>
                  <a:t>Center</a:t>
                </a:r>
              </a:p>
            </p:txBody>
          </p:sp>
        </p:grpSp>
        <p:pic>
          <p:nvPicPr>
            <p:cNvPr id="70" name="Picture 69"/>
            <p:cNvPicPr>
              <a:picLocks noChangeAspect="1"/>
            </p:cNvPicPr>
            <p:nvPr/>
          </p:nvPicPr>
          <p:blipFill>
            <a:blip r:embed="rId2"/>
            <a:stretch>
              <a:fillRect/>
            </a:stretch>
          </p:blipFill>
          <p:spPr>
            <a:xfrm>
              <a:off x="1196275" y="2700544"/>
              <a:ext cx="1702020" cy="1659734"/>
            </a:xfrm>
            <a:prstGeom prst="rect">
              <a:avLst/>
            </a:prstGeom>
          </p:spPr>
        </p:pic>
        <p:sp>
          <p:nvSpPr>
            <p:cNvPr id="5" name="Oval 4"/>
            <p:cNvSpPr/>
            <p:nvPr/>
          </p:nvSpPr>
          <p:spPr>
            <a:xfrm>
              <a:off x="3753070" y="1466007"/>
              <a:ext cx="323055" cy="3198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flipH="1">
              <a:off x="4105275" y="1613358"/>
              <a:ext cx="267247" cy="7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196275" y="2700544"/>
              <a:ext cx="1702020" cy="1659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3"/>
            </p:cNvCxnSpPr>
            <p:nvPr/>
          </p:nvCxnSpPr>
          <p:spPr>
            <a:xfrm flipH="1">
              <a:off x="1196275" y="1739010"/>
              <a:ext cx="2604105"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 idx="3"/>
            </p:cNvCxnSpPr>
            <p:nvPr/>
          </p:nvCxnSpPr>
          <p:spPr>
            <a:xfrm flipH="1">
              <a:off x="2896154" y="1739010"/>
              <a:ext cx="904226"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42491" y="877319"/>
            <a:ext cx="3139783" cy="461665"/>
          </a:xfrm>
          <a:prstGeom prst="rect">
            <a:avLst/>
          </a:prstGeom>
          <a:noFill/>
        </p:spPr>
        <p:txBody>
          <a:bodyPr wrap="square" rtlCol="0">
            <a:spAutoFit/>
          </a:bodyPr>
          <a:lstStyle/>
          <a:p>
            <a:pPr eaLnBrk="1" latinLnBrk="0"/>
            <a:r>
              <a:rPr lang="en-US" sz="1000" dirty="0">
                <a:latin typeface="Arial" panose="020B0606020202030204" pitchFamily="34" charset="0"/>
              </a:rPr>
              <a:t>1. Camera position is correct after checking.</a:t>
            </a:r>
          </a:p>
          <a:p>
            <a:pPr eaLnBrk="1" latinLnBrk="0"/>
            <a:r>
              <a:rPr lang="en-US" sz="1000" dirty="0">
                <a:latin typeface="Arial" panose="020B0606020202030204" pitchFamily="34" charset="0"/>
                <a:sym typeface="Wingdings" panose="05000000000000000000" pitchFamily="2" charset="2"/>
              </a:rPr>
              <a:t> Camera center coincides with the SET center</a:t>
            </a:r>
            <a:r>
              <a:rPr lang="en-US" sz="1000" dirty="0">
                <a:latin typeface="Arial" panose="020B0606020202030204" pitchFamily="34" charset="0"/>
              </a:rPr>
              <a:t> </a:t>
            </a:r>
          </a:p>
        </p:txBody>
      </p:sp>
      <p:sp>
        <p:nvSpPr>
          <p:cNvPr id="71" name="TextBox 70"/>
          <p:cNvSpPr txBox="1"/>
          <p:nvPr/>
        </p:nvSpPr>
        <p:spPr>
          <a:xfrm>
            <a:off x="327172" y="3868129"/>
            <a:ext cx="8313888" cy="461665"/>
          </a:xfrm>
          <a:prstGeom prst="rect">
            <a:avLst/>
          </a:prstGeom>
          <a:noFill/>
        </p:spPr>
        <p:txBody>
          <a:bodyPr wrap="square" rtlCol="0">
            <a:spAutoFit/>
          </a:bodyPr>
          <a:lstStyle/>
          <a:p>
            <a:pPr eaLnBrk="1" latinLnBrk="0"/>
            <a:r>
              <a:rPr lang="en-US" sz="1000" dirty="0">
                <a:latin typeface="Arial" panose="020B0606020202030204" pitchFamily="34" charset="0"/>
              </a:rPr>
              <a:t xml:space="preserve">2. LHD and RHD use the same servo positions (48, 49) but mirrored screens. </a:t>
            </a:r>
            <a:r>
              <a:rPr lang="en-US" sz="1000" dirty="0">
                <a:latin typeface="Arial" panose="020B0606020202030204" pitchFamily="34" charset="0"/>
                <a:sym typeface="Wingdings" panose="05000000000000000000" pitchFamily="2" charset="2"/>
              </a:rPr>
              <a:t xml:space="preserve"> If the position is not correct, J1 PPR LHD will be NG. </a:t>
            </a:r>
            <a:endParaRPr lang="en-US" sz="1200" dirty="0">
              <a:latin typeface="Arial Narrow" panose="020B0606020202030204" pitchFamily="34" charset="0"/>
            </a:endParaRPr>
          </a:p>
          <a:p>
            <a:pPr eaLnBrk="1" latinLnBrk="0"/>
            <a:r>
              <a:rPr lang="en-US" sz="1000" dirty="0">
                <a:latin typeface="Arial" panose="020B0606020202030204" pitchFamily="34" charset="0"/>
                <a:sym typeface="Wingdings" panose="05000000000000000000" pitchFamily="2" charset="2"/>
              </a:rPr>
              <a:t>(Servo positions 48 and 49: see the diagrams below)</a:t>
            </a:r>
            <a:endParaRPr lang="en-US" sz="1200" dirty="0">
              <a:latin typeface="Arial Narrow" panose="020B0606020202030204" pitchFamily="34" charset="0"/>
            </a:endParaRPr>
          </a:p>
        </p:txBody>
      </p:sp>
      <p:pic>
        <p:nvPicPr>
          <p:cNvPr id="33" name="Picture 32"/>
          <p:cNvPicPr>
            <a:picLocks noChangeAspect="1"/>
          </p:cNvPicPr>
          <p:nvPr/>
        </p:nvPicPr>
        <p:blipFill>
          <a:blip r:embed="rId3"/>
          <a:stretch>
            <a:fillRect/>
          </a:stretch>
        </p:blipFill>
        <p:spPr>
          <a:xfrm>
            <a:off x="426181" y="5144816"/>
            <a:ext cx="4478306" cy="1552310"/>
          </a:xfrm>
          <a:prstGeom prst="rect">
            <a:avLst/>
          </a:prstGeom>
        </p:spPr>
      </p:pic>
      <p:pic>
        <p:nvPicPr>
          <p:cNvPr id="34" name="Picture 33"/>
          <p:cNvPicPr>
            <a:picLocks/>
          </p:cNvPicPr>
          <p:nvPr/>
        </p:nvPicPr>
        <p:blipFill>
          <a:blip r:embed="rId4"/>
          <a:stretch>
            <a:fillRect/>
          </a:stretch>
        </p:blipFill>
        <p:spPr>
          <a:xfrm>
            <a:off x="5287188" y="5144816"/>
            <a:ext cx="4479533" cy="1554480"/>
          </a:xfrm>
          <a:prstGeom prst="rect">
            <a:avLst/>
          </a:prstGeom>
        </p:spPr>
      </p:pic>
      <p:cxnSp>
        <p:nvCxnSpPr>
          <p:cNvPr id="36" name="Straight Connector 35"/>
          <p:cNvCxnSpPr/>
          <p:nvPr/>
        </p:nvCxnSpPr>
        <p:spPr>
          <a:xfrm>
            <a:off x="5095837" y="5144816"/>
            <a:ext cx="0" cy="155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5"/>
          <a:srcRect t="2551"/>
          <a:stretch/>
        </p:blipFill>
        <p:spPr>
          <a:xfrm>
            <a:off x="2423836" y="4340760"/>
            <a:ext cx="5106113" cy="668702"/>
          </a:xfrm>
          <a:prstGeom prst="rect">
            <a:avLst/>
          </a:prstGeom>
        </p:spPr>
      </p:pic>
      <p:sp>
        <p:nvSpPr>
          <p:cNvPr id="37" name="AutoShape 57">
            <a:extLst>
              <a:ext uri="{FF2B5EF4-FFF2-40B4-BE49-F238E27FC236}">
                <a16:creationId xmlns:a16="http://schemas.microsoft.com/office/drawing/2014/main" id="{68DDE1B3-3D28-43A2-9A04-83B6A91CE5E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43" name="AutoShape 55">
            <a:extLst>
              <a:ext uri="{FF2B5EF4-FFF2-40B4-BE49-F238E27FC236}">
                <a16:creationId xmlns:a16="http://schemas.microsoft.com/office/drawing/2014/main" id="{79FEF9DE-91F2-466D-8D5A-77EA15C545BE}"/>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44" name="AutoShape 56">
            <a:extLst>
              <a:ext uri="{FF2B5EF4-FFF2-40B4-BE49-F238E27FC236}">
                <a16:creationId xmlns:a16="http://schemas.microsoft.com/office/drawing/2014/main" id="{090CE2DB-80F1-4E32-BAFD-64B2789C99F7}"/>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46" name="AutoShape 59">
            <a:extLst>
              <a:ext uri="{FF2B5EF4-FFF2-40B4-BE49-F238E27FC236}">
                <a16:creationId xmlns:a16="http://schemas.microsoft.com/office/drawing/2014/main" id="{3264D4EE-B2E7-41C4-B5D1-4BC9AD3C777F}"/>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47" name="AutoShape 58">
            <a:extLst>
              <a:ext uri="{FF2B5EF4-FFF2-40B4-BE49-F238E27FC236}">
                <a16:creationId xmlns:a16="http://schemas.microsoft.com/office/drawing/2014/main" id="{42D6958D-B1E2-4DD9-96D1-51C0AB9FB66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9" name="TextBox 48">
            <a:extLst>
              <a:ext uri="{FF2B5EF4-FFF2-40B4-BE49-F238E27FC236}">
                <a16:creationId xmlns:a16="http://schemas.microsoft.com/office/drawing/2014/main" id="{8798F2BE-084D-42A1-A858-95A723788943}"/>
              </a:ext>
            </a:extLst>
          </p:cNvPr>
          <p:cNvSpPr txBox="1"/>
          <p:nvPr/>
        </p:nvSpPr>
        <p:spPr>
          <a:xfrm>
            <a:off x="63248" y="535377"/>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camera position and servo position</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4" name="제목 1">
            <a:extLst>
              <a:ext uri="{FF2B5EF4-FFF2-40B4-BE49-F238E27FC236}">
                <a16:creationId xmlns:a16="http://schemas.microsoft.com/office/drawing/2014/main" id="{CCCE3919-55FD-41DA-B3C1-6C5CCEBCC1BF}"/>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56" name="Straight Connector 55">
            <a:extLst>
              <a:ext uri="{FF2B5EF4-FFF2-40B4-BE49-F238E27FC236}">
                <a16:creationId xmlns:a16="http://schemas.microsoft.com/office/drawing/2014/main" id="{1891B0EE-1FBE-46BF-A1A2-CA4A34E5075A}"/>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74306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35"/>
          <p:cNvGraphicFramePr>
            <a:graphicFrameLocks noGrp="1"/>
          </p:cNvGraphicFramePr>
          <p:nvPr/>
        </p:nvGraphicFramePr>
        <p:xfrm>
          <a:off x="425381" y="820753"/>
          <a:ext cx="3765983" cy="5560572"/>
        </p:xfrm>
        <a:graphic>
          <a:graphicData uri="http://schemas.openxmlformats.org/drawingml/2006/table">
            <a:tbl>
              <a:tblPr/>
              <a:tblGrid>
                <a:gridCol w="386956">
                  <a:extLst>
                    <a:ext uri="{9D8B030D-6E8A-4147-A177-3AD203B41FA5}">
                      <a16:colId xmlns:a16="http://schemas.microsoft.com/office/drawing/2014/main" val="20000"/>
                    </a:ext>
                  </a:extLst>
                </a:gridCol>
                <a:gridCol w="994169">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898958">
                  <a:extLst>
                    <a:ext uri="{9D8B030D-6E8A-4147-A177-3AD203B41FA5}">
                      <a16:colId xmlns:a16="http://schemas.microsoft.com/office/drawing/2014/main" val="20004"/>
                    </a:ext>
                  </a:extLst>
                </a:gridCol>
              </a:tblGrid>
              <a:tr h="204469">
                <a:tc rowSpan="2">
                  <a:txBody>
                    <a:bodyPr/>
                    <a:lstStyle/>
                    <a:p>
                      <a:pPr algn="ctr" eaLnBrk="1" fontAlgn="ctr" latinLnBrk="0"/>
                      <a:r>
                        <a:rPr lang="en-US" sz="900" b="1" i="0" u="none" strike="noStrike" dirty="0">
                          <a:solidFill>
                            <a:srgbClr val="000000"/>
                          </a:solidFill>
                          <a:effectLst/>
                          <a:latin typeface="Arial" panose="020B0604020202020204" pitchFamily="34" charset="0"/>
                        </a:rPr>
                        <a:t>No</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3">
                  <a:txBody>
                    <a:bodyPr/>
                    <a:lstStyle/>
                    <a:p>
                      <a:pPr algn="ctr" eaLnBrk="1" fontAlgn="ctr" latinLnBrk="0"/>
                      <a:r>
                        <a:rPr lang="en-US" sz="900" b="1" i="0" u="none" strike="noStrike" dirty="0">
                          <a:solidFill>
                            <a:srgbClr val="000000"/>
                          </a:solidFill>
                          <a:effectLst/>
                          <a:latin typeface="Arial" panose="020B0604020202020204" pitchFamily="34" charset="0"/>
                        </a:rPr>
                        <a:t>IVI</a:t>
                      </a:r>
                      <a:r>
                        <a:rPr lang="en-US" sz="900" b="1" i="0" u="none" strike="noStrike" baseline="0" dirty="0">
                          <a:solidFill>
                            <a:srgbClr val="000000"/>
                          </a:solidFill>
                          <a:effectLst/>
                          <a:latin typeface="Arial" panose="020B0604020202020204" pitchFamily="34" charset="0"/>
                        </a:rPr>
                        <a:t> 5 LINE</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en-US"/>
                    </a:p>
                  </a:txBody>
                  <a:tcPr/>
                </a:tc>
                <a:tc hMerge="1">
                  <a:txBody>
                    <a:bodyPr/>
                    <a:lstStyle/>
                    <a:p>
                      <a:pPr algn="ctr" eaLnBrk="1" fontAlgn="ctr" latinLnBrk="0"/>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altLang="ko-KR" sz="900" b="1" i="0" u="none" strike="noStrike" dirty="0">
                          <a:solidFill>
                            <a:srgbClr val="000000"/>
                          </a:solidFill>
                          <a:effectLst/>
                          <a:latin typeface="Arial" panose="020B0604020202020204" pitchFamily="34" charset="0"/>
                        </a:rPr>
                        <a:t>CS2000</a:t>
                      </a:r>
                    </a:p>
                    <a:p>
                      <a:pPr algn="ctr" eaLnBrk="1" fontAlgn="ctr" latinLnBrk="0"/>
                      <a:r>
                        <a:rPr lang="en-US" altLang="ko-KR" sz="900" b="1" i="0" u="none" strike="noStrike" dirty="0">
                          <a:solidFill>
                            <a:srgbClr val="000000"/>
                          </a:solidFill>
                          <a:effectLst/>
                          <a:latin typeface="Arial" panose="020B0604020202020204" pitchFamily="34" charset="0"/>
                        </a:rPr>
                        <a:t>Apply luminance compensation</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9239">
                <a:tc vMerge="1">
                  <a:txBody>
                    <a:bodyPr/>
                    <a:lstStyle/>
                    <a:p>
                      <a:pPr eaLnBrk="1" latinLnBrk="0"/>
                      <a:endParaRPr lang="ko-KR" altLang="en-US"/>
                    </a:p>
                  </a:txBody>
                  <a:tcPr/>
                </a:tc>
                <a:tc gridSpan="2">
                  <a:txBody>
                    <a:bodyPr/>
                    <a:lstStyle/>
                    <a:p>
                      <a:pPr algn="ctr" eaLnBrk="1" fontAlgn="ctr" latinLnBrk="0"/>
                      <a:r>
                        <a:rPr lang="en-US" sz="900" b="1" i="0" u="none" strike="noStrike" dirty="0">
                          <a:solidFill>
                            <a:srgbClr val="000000"/>
                          </a:solidFill>
                          <a:effectLst/>
                          <a:latin typeface="Arial" panose="020B0604020202020204" pitchFamily="34" charset="0"/>
                        </a:rPr>
                        <a:t>Model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ko-KR" altLang="en-US"/>
                    </a:p>
                  </a:txBody>
                  <a:tcPr/>
                </a:tc>
                <a:tc>
                  <a:txBody>
                    <a:bodyPr/>
                    <a:lstStyle/>
                    <a:p>
                      <a:pPr algn="ctr" eaLnBrk="1" fontAlgn="ctr" latinLnBrk="0"/>
                      <a:r>
                        <a:rPr lang="en-US" sz="900" b="1" i="0" u="none" strike="noStrike" dirty="0">
                          <a:solidFill>
                            <a:srgbClr val="000000"/>
                          </a:solidFill>
                          <a:effectLst/>
                          <a:latin typeface="Arial" panose="020B0604020202020204" pitchFamily="34" charset="0"/>
                        </a:rPr>
                        <a:t>BLU Type</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eaLnBrk="1" latinLnBrk="0"/>
                      <a:endParaRPr lang="ko-KR" altLang="en-US"/>
                    </a:p>
                  </a:txBody>
                  <a:tcPr/>
                </a:tc>
                <a:extLst>
                  <a:ext uri="{0D108BD9-81ED-4DB2-BD59-A6C34878D82A}">
                    <a16:rowId xmlns:a16="http://schemas.microsoft.com/office/drawing/2014/main" val="10001"/>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 xml:space="preserve">Bentayga (Bentley)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Macan</a:t>
                      </a:r>
                      <a:r>
                        <a:rPr lang="en-US" sz="900" b="0" i="0" u="none" strike="noStrike" kern="1200" baseline="0" dirty="0">
                          <a:solidFill>
                            <a:srgbClr val="000000"/>
                          </a:solidFill>
                          <a:effectLst/>
                          <a:latin typeface="Arial" panose="020B0604020202020204" pitchFamily="34" charset="0"/>
                          <a:ea typeface="+mn-ea"/>
                          <a:cs typeface="+mn-cs"/>
                        </a:rPr>
                        <a:t> LZV</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992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5</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6</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CID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198">
                <a:tc rowSpan="4">
                  <a:txBody>
                    <a:bodyPr/>
                    <a:lstStyle/>
                    <a:p>
                      <a:pPr eaLnBrk="1" latinLnBrk="0" algn="ctr"/>
                      <a:r>
                        <a:rPr sz="1000" b="0">
                          <a:latin typeface="Arial"/>
                        </a:rPr>
                        <a:t>7*</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J1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8</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Lamborghini</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9</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LHD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RHD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10</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bl>
          </a:graphicData>
        </a:graphic>
      </p:graphicFrame>
      <p:pic>
        <p:nvPicPr>
          <p:cNvPr id="27" name="그림 26"/>
          <p:cNvPicPr>
            <a:picLocks noChangeAspect="1"/>
          </p:cNvPicPr>
          <p:nvPr/>
        </p:nvPicPr>
        <p:blipFill>
          <a:blip r:embed="rId2"/>
          <a:stretch>
            <a:fillRect/>
          </a:stretch>
        </p:blipFill>
        <p:spPr>
          <a:xfrm>
            <a:off x="4797272" y="5053264"/>
            <a:ext cx="1713598" cy="1285199"/>
          </a:xfrm>
          <a:prstGeom prst="rect">
            <a:avLst/>
          </a:prstGeom>
        </p:spPr>
      </p:pic>
      <p:pic>
        <p:nvPicPr>
          <p:cNvPr id="28" name="그림 27"/>
          <p:cNvPicPr>
            <a:picLocks noChangeAspect="1"/>
          </p:cNvPicPr>
          <p:nvPr/>
        </p:nvPicPr>
        <p:blipFill>
          <a:blip r:embed="rId3"/>
          <a:stretch>
            <a:fillRect/>
          </a:stretch>
        </p:blipFill>
        <p:spPr>
          <a:xfrm>
            <a:off x="7301071" y="5076792"/>
            <a:ext cx="1650858" cy="1238144"/>
          </a:xfrm>
          <a:prstGeom prst="rect">
            <a:avLst/>
          </a:prstGeom>
        </p:spPr>
      </p:pic>
      <p:sp>
        <p:nvSpPr>
          <p:cNvPr id="29" name="TextBox 37"/>
          <p:cNvSpPr txBox="1">
            <a:spLocks noChangeArrowheads="1"/>
          </p:cNvSpPr>
          <p:nvPr/>
        </p:nvSpPr>
        <p:spPr bwMode="auto">
          <a:xfrm>
            <a:off x="4702628" y="4600800"/>
            <a:ext cx="1752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View Angle (PID)</a:t>
            </a:r>
          </a:p>
          <a:p>
            <a:pPr marL="0" indent="0" eaLnBrk="1" latinLnBrk="0">
              <a:defRPr/>
            </a:pPr>
            <a:endParaRPr lang="en-US" altLang="ko-KR" sz="1100" b="0"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0" name="TextBox 37"/>
          <p:cNvSpPr txBox="1">
            <a:spLocks noChangeArrowheads="1"/>
          </p:cNvSpPr>
          <p:nvPr/>
        </p:nvSpPr>
        <p:spPr bwMode="auto">
          <a:xfrm>
            <a:off x="7280550" y="4600800"/>
            <a:ext cx="1691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 View Angle (CID)</a:t>
            </a:r>
          </a:p>
        </p:txBody>
      </p:sp>
      <p:pic>
        <p:nvPicPr>
          <p:cNvPr id="8" name="그림 7"/>
          <p:cNvPicPr>
            <a:picLocks noChangeAspect="1"/>
          </p:cNvPicPr>
          <p:nvPr/>
        </p:nvPicPr>
        <p:blipFill rotWithShape="1">
          <a:blip r:embed="rId4"/>
          <a:srcRect l="52980" t="20433" r="20933" b="68609"/>
          <a:stretch/>
        </p:blipFill>
        <p:spPr>
          <a:xfrm>
            <a:off x="4550818" y="3845476"/>
            <a:ext cx="4723003" cy="557966"/>
          </a:xfrm>
          <a:prstGeom prst="rect">
            <a:avLst/>
          </a:prstGeom>
        </p:spPr>
      </p:pic>
      <p:grpSp>
        <p:nvGrpSpPr>
          <p:cNvPr id="10" name="그룹 9"/>
          <p:cNvGrpSpPr/>
          <p:nvPr/>
        </p:nvGrpSpPr>
        <p:grpSpPr>
          <a:xfrm>
            <a:off x="4766088" y="1806629"/>
            <a:ext cx="4137556" cy="2023142"/>
            <a:chOff x="4889570" y="1204240"/>
            <a:chExt cx="4137556" cy="2023142"/>
          </a:xfrm>
        </p:grpSpPr>
        <p:pic>
          <p:nvPicPr>
            <p:cNvPr id="2" name="그림 1"/>
            <p:cNvPicPr>
              <a:picLocks noChangeAspect="1"/>
            </p:cNvPicPr>
            <p:nvPr/>
          </p:nvPicPr>
          <p:blipFill rotWithShape="1">
            <a:blip r:embed="rId5"/>
            <a:srcRect l="21954" t="30233" r="63077" b="43273"/>
            <a:stretch/>
          </p:blipFill>
          <p:spPr>
            <a:xfrm>
              <a:off x="4889570" y="1353650"/>
              <a:ext cx="3242600" cy="1873732"/>
            </a:xfrm>
            <a:prstGeom prst="rect">
              <a:avLst/>
            </a:prstGeom>
          </p:spPr>
        </p:pic>
        <p:cxnSp>
          <p:nvCxnSpPr>
            <p:cNvPr id="5" name="직선 연결선 4"/>
            <p:cNvCxnSpPr/>
            <p:nvPr/>
          </p:nvCxnSpPr>
          <p:spPr>
            <a:xfrm>
              <a:off x="8126500" y="1812324"/>
              <a:ext cx="255373" cy="0"/>
            </a:xfrm>
            <a:prstGeom prst="line">
              <a:avLst/>
            </a:prstGeom>
            <a:ln w="25400">
              <a:solidFill>
                <a:srgbClr val="EE8943"/>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8126500" y="2001794"/>
              <a:ext cx="25537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7"/>
            <p:cNvSpPr txBox="1">
              <a:spLocks noChangeArrowheads="1"/>
            </p:cNvSpPr>
            <p:nvPr/>
          </p:nvSpPr>
          <p:spPr bwMode="auto">
            <a:xfrm>
              <a:off x="8358353" y="1690872"/>
              <a:ext cx="6687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a:t>
              </a:r>
            </a:p>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a:t>
              </a:r>
            </a:p>
          </p:txBody>
        </p:sp>
        <p:cxnSp>
          <p:nvCxnSpPr>
            <p:cNvPr id="36" name="직선 연결선 35"/>
            <p:cNvCxnSpPr/>
            <p:nvPr/>
          </p:nvCxnSpPr>
          <p:spPr>
            <a:xfrm flipV="1">
              <a:off x="6605478" y="1437146"/>
              <a:ext cx="0" cy="15857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flipV="1">
              <a:off x="6535584" y="1437146"/>
              <a:ext cx="0" cy="158575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0" name="TextBox 37"/>
            <p:cNvSpPr txBox="1">
              <a:spLocks noChangeArrowheads="1"/>
            </p:cNvSpPr>
            <p:nvPr/>
          </p:nvSpPr>
          <p:spPr bwMode="auto">
            <a:xfrm>
              <a:off x="6403698" y="1480352"/>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1" name="TextBox 37"/>
            <p:cNvSpPr txBox="1">
              <a:spLocks noChangeArrowheads="1"/>
            </p:cNvSpPr>
            <p:nvPr/>
          </p:nvSpPr>
          <p:spPr bwMode="auto">
            <a:xfrm>
              <a:off x="6189378"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43" name="TextBox 37"/>
            <p:cNvSpPr txBox="1">
              <a:spLocks noChangeArrowheads="1"/>
            </p:cNvSpPr>
            <p:nvPr/>
          </p:nvSpPr>
          <p:spPr bwMode="auto">
            <a:xfrm>
              <a:off x="6582101"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grpSp>
      <p:sp>
        <p:nvSpPr>
          <p:cNvPr id="44" name="직사각형 43"/>
          <p:cNvSpPr/>
          <p:nvPr/>
        </p:nvSpPr>
        <p:spPr>
          <a:xfrm>
            <a:off x="6971579" y="4047013"/>
            <a:ext cx="330783" cy="339783"/>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sp>
        <p:nvSpPr>
          <p:cNvPr id="45" name="TextBox 37"/>
          <p:cNvSpPr txBox="1">
            <a:spLocks noChangeArrowheads="1"/>
          </p:cNvSpPr>
          <p:nvPr/>
        </p:nvSpPr>
        <p:spPr bwMode="auto">
          <a:xfrm>
            <a:off x="6822000" y="4384328"/>
            <a:ext cx="23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p>
            <a:pPr algn="ctr" eaLnBrk="1" latinLnBrk="0"/>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6" name="TextBox 37"/>
          <p:cNvSpPr txBox="1">
            <a:spLocks noChangeArrowheads="1"/>
          </p:cNvSpPr>
          <p:nvPr/>
        </p:nvSpPr>
        <p:spPr bwMode="auto">
          <a:xfrm>
            <a:off x="653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55" name="TextBox 37"/>
          <p:cNvSpPr txBox="1">
            <a:spLocks noChangeArrowheads="1"/>
          </p:cNvSpPr>
          <p:nvPr/>
        </p:nvSpPr>
        <p:spPr bwMode="auto">
          <a:xfrm>
            <a:off x="707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sp>
        <p:nvSpPr>
          <p:cNvPr id="64" name="직사각형 63"/>
          <p:cNvSpPr/>
          <p:nvPr/>
        </p:nvSpPr>
        <p:spPr>
          <a:xfrm>
            <a:off x="6630498" y="4047013"/>
            <a:ext cx="330783" cy="339783"/>
          </a:xfrm>
          <a:prstGeom prst="rect">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graphicFrame>
        <p:nvGraphicFramePr>
          <p:cNvPr id="9" name="개체 8"/>
          <p:cNvGraphicFramePr>
            <a:graphicFrameLocks noChangeAspect="1"/>
          </p:cNvGraphicFramePr>
          <p:nvPr>
            <p:extLst>
              <p:ext uri="{D42A27DB-BD31-4B8C-83A1-F6EECF244321}">
                <p14:modId xmlns:p14="http://schemas.microsoft.com/office/powerpoint/2010/main" val="4216972648"/>
              </p:ext>
            </p:extLst>
          </p:nvPr>
        </p:nvGraphicFramePr>
        <p:xfrm>
          <a:off x="8235539" y="3017987"/>
          <a:ext cx="914400" cy="771525"/>
        </p:xfrm>
        <a:graphic>
          <a:graphicData uri="http://schemas.openxmlformats.org/presentationml/2006/ole">
            <mc:AlternateContent xmlns:mc="http://schemas.openxmlformats.org/markup-compatibility/2006">
              <mc:Choice xmlns:v="urn:schemas-microsoft-com:vml" Requires="v">
                <p:oleObj name="Worksheet" showAsIcon="1" r:id="rId6" imgW="914400" imgH="771480" progId="Excel.Sheet.12">
                  <p:embed/>
                </p:oleObj>
              </mc:Choice>
              <mc:Fallback>
                <p:oleObj name="Worksheet" showAsIcon="1" r:id="rId6" imgW="914400" imgH="771480" progId="Excel.Sheet.12">
                  <p:embed/>
                  <p:pic>
                    <p:nvPicPr>
                      <p:cNvPr id="9" name="개체 8"/>
                      <p:cNvPicPr/>
                      <p:nvPr/>
                    </p:nvPicPr>
                    <p:blipFill>
                      <a:blip r:embed="rId7"/>
                      <a:stretch>
                        <a:fillRect/>
                      </a:stretch>
                    </p:blipFill>
                    <p:spPr>
                      <a:xfrm>
                        <a:off x="8235539" y="3017987"/>
                        <a:ext cx="914400" cy="771525"/>
                      </a:xfrm>
                      <a:prstGeom prst="rect">
                        <a:avLst/>
                      </a:prstGeom>
                    </p:spPr>
                  </p:pic>
                </p:oleObj>
              </mc:Fallback>
            </mc:AlternateContent>
          </a:graphicData>
        </a:graphic>
      </p:graphicFrame>
      <p:sp>
        <p:nvSpPr>
          <p:cNvPr id="66" name="TextBox 37"/>
          <p:cNvSpPr txBox="1">
            <a:spLocks noChangeArrowheads="1"/>
          </p:cNvSpPr>
          <p:nvPr/>
        </p:nvSpPr>
        <p:spPr bwMode="auto">
          <a:xfrm>
            <a:off x="4818857" y="6413741"/>
            <a:ext cx="4038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 xml:space="preserve">Difference between Privacy and Public: whether or not an LCF (louver) film is applied </a:t>
            </a:r>
          </a:p>
          <a:p>
            <a:pPr marL="0" indent="0" eaLnBrk="1" latinLnBrk="0">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for the privacy display function within the BLU module</a:t>
            </a:r>
          </a:p>
        </p:txBody>
      </p:sp>
      <p:sp>
        <p:nvSpPr>
          <p:cNvPr id="67" name="TextBox 37"/>
          <p:cNvSpPr txBox="1">
            <a:spLocks noChangeArrowheads="1"/>
          </p:cNvSpPr>
          <p:nvPr/>
        </p:nvSpPr>
        <p:spPr bwMode="auto">
          <a:xfrm>
            <a:off x="4485214" y="638277"/>
            <a:ext cx="5420785" cy="746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spcBef>
                <a:spcPts val="300"/>
              </a:spcBef>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 Correcting the CS2000 camera angle from the existing 89° to 90° raises the measured luminance of the RHD Privacy (PID) displays by about 13%, whereas Public (CID) models change by less than 0.5%, so only the RHD Privacy models need luminance compensation (13%).</a:t>
            </a:r>
          </a:p>
        </p:txBody>
      </p:sp>
      <p:cxnSp>
        <p:nvCxnSpPr>
          <p:cNvPr id="71" name="직선 화살표 연결선 161"/>
          <p:cNvCxnSpPr>
            <a:cxnSpLocks noChangeShapeType="1"/>
          </p:cNvCxnSpPr>
          <p:nvPr/>
        </p:nvCxnSpPr>
        <p:spPr bwMode="auto">
          <a:xfrm flipV="1">
            <a:off x="6519753" y="2484503"/>
            <a:ext cx="85725" cy="131762"/>
          </a:xfrm>
          <a:prstGeom prst="straightConnector1">
            <a:avLst/>
          </a:prstGeom>
          <a:noFill/>
          <a:ln w="25400" algn="ctr">
            <a:solidFill>
              <a:srgbClr val="FF0000"/>
            </a:solidFill>
            <a:round/>
            <a:headEnd/>
            <a:tailEnd type="stealth" w="med" len="med"/>
          </a:ln>
          <a:extLst>
            <a:ext uri="{909E8E84-426E-40DD-AFC4-6F175D3DCCD1}">
              <a14:hiddenFill xmlns:a14="http://schemas.microsoft.com/office/drawing/2010/main">
                <a:noFill/>
              </a14:hiddenFill>
            </a:ext>
          </a:extLst>
        </p:spPr>
      </p:cxnSp>
      <p:cxnSp>
        <p:nvCxnSpPr>
          <p:cNvPr id="74" name="직선 화살표 연결선 161"/>
          <p:cNvCxnSpPr>
            <a:cxnSpLocks noChangeShapeType="1"/>
          </p:cNvCxnSpPr>
          <p:nvPr/>
        </p:nvCxnSpPr>
        <p:spPr bwMode="auto">
          <a:xfrm>
            <a:off x="6517013" y="1740587"/>
            <a:ext cx="103188" cy="0"/>
          </a:xfrm>
          <a:prstGeom prst="straightConnector1">
            <a:avLst/>
          </a:prstGeom>
          <a:noFill/>
          <a:ln w="25400" algn="ctr">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79" name="TextBox 37"/>
          <p:cNvSpPr txBox="1">
            <a:spLocks noChangeArrowheads="1"/>
          </p:cNvSpPr>
          <p:nvPr/>
        </p:nvSpPr>
        <p:spPr bwMode="auto">
          <a:xfrm>
            <a:off x="4797272" y="1433640"/>
            <a:ext cx="3818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u="sng"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&amp; Public Brightness changes depending on viewing angle</a:t>
            </a:r>
            <a:endParaRPr lang="en-US" altLang="ko-KR" sz="1100" b="0" u="sng"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1" name="AutoShape 57">
            <a:extLst>
              <a:ext uri="{FF2B5EF4-FFF2-40B4-BE49-F238E27FC236}">
                <a16:creationId xmlns:a16="http://schemas.microsoft.com/office/drawing/2014/main" id="{D123ED7D-1627-4425-8E1C-E0769947629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710F07CB-AD46-4102-9196-B391B0CE38C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668E3865-DB76-45D5-9F6D-A72984A44BFF}"/>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7" name="AutoShape 59">
            <a:extLst>
              <a:ext uri="{FF2B5EF4-FFF2-40B4-BE49-F238E27FC236}">
                <a16:creationId xmlns:a16="http://schemas.microsoft.com/office/drawing/2014/main" id="{0CCDE314-7273-49D5-A38E-FA39075D2A52}"/>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8" name="AutoShape 58">
            <a:extLst>
              <a:ext uri="{FF2B5EF4-FFF2-40B4-BE49-F238E27FC236}">
                <a16:creationId xmlns:a16="http://schemas.microsoft.com/office/drawing/2014/main" id="{88E7A157-1CAC-4DAB-921E-EB94CA3CD767}"/>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2" name="TextBox 41">
            <a:extLst>
              <a:ext uri="{FF2B5EF4-FFF2-40B4-BE49-F238E27FC236}">
                <a16:creationId xmlns:a16="http://schemas.microsoft.com/office/drawing/2014/main" id="{89E657DE-328C-4EAB-A06D-1CB735961433}"/>
              </a:ext>
            </a:extLst>
          </p:cNvPr>
          <p:cNvSpPr txBox="1"/>
          <p:nvPr/>
        </p:nvSpPr>
        <p:spPr>
          <a:xfrm>
            <a:off x="63248" y="535377"/>
            <a:ext cx="51435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4.2 Luminance compensation for Privacy models</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47" name="제목 1">
            <a:extLst>
              <a:ext uri="{FF2B5EF4-FFF2-40B4-BE49-F238E27FC236}">
                <a16:creationId xmlns:a16="http://schemas.microsoft.com/office/drawing/2014/main" id="{2C8BFCFC-70E5-4DFC-8FC2-47983BF73131}"/>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48" name="Straight Connector 47">
            <a:extLst>
              <a:ext uri="{FF2B5EF4-FFF2-40B4-BE49-F238E27FC236}">
                <a16:creationId xmlns:a16="http://schemas.microsoft.com/office/drawing/2014/main" id="{2C016ABE-1AFD-4D27-91EC-F67F090244C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Slide Number Placeholder 4"/>
          <p:cNvSpPr>
            <a:spLocks noGrp="1"/>
          </p:cNvSpPr>
          <p:nvPr>
            <p:ph type="sldNum" sz="quarter" idx="12"/>
          </p:nvPr>
        </p:nvSpPr>
        <p:spPr>
          <a:xfrm>
            <a:off x="8300000" y="6631416"/>
            <a:ext cx="1300000" cy="198047"/>
          </a:xfrm>
        </p:spPr>
        <p:txBody>
          <a:bodyPr/>
          <a:lstStyle/>
          <a:p>
            <a:pPr algn="ctr" eaLnBrk="1" latinLnBrk="0"/>
            <a:r>
              <a:rPr sz="1000" b="0">
                <a:latin typeface="Arial"/>
              </a:rPr>
              <a:t>19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1" name="Added text 81"/>
          <p:cNvSpPr txBox="1"/>
          <p:nvPr/>
        </p:nvSpPr>
        <p:spPr>
          <a:xfrm>
            <a:off x="428625" y="6572250"/>
            <a:ext cx="3762375" cy="152400"/>
          </a:xfrm>
          <a:prstGeom prst="rect">
            <a:avLst/>
          </a:prstGeom>
          <a:noFill/>
        </p:spPr>
        <p:txBody>
          <a:bodyPr wrap="square" lIns="0" tIns="0" rIns="0" bIns="0" rtlCol="0">
            <a:noAutofit/>
          </a:bodyPr>
          <a:lstStyle/>
          <a:p>
            <a:r>
              <a:rPr lang="en-US" sz="900" b="0" dirty="0">
                <a:solidFill>
                  <a:srgbClr val="000000"/>
                </a:solidFill>
                <a:latin typeface="Arial"/>
                <a:cs typeface="Arial"/>
              </a:rPr>
              <a:t>* Discontinued model (J1 Dual LHD / RHD)</a:t>
            </a:r>
          </a:p>
        </p:txBody>
      </p:sp>
    </p:spTree>
    <p:extLst>
      <p:ext uri="{BB962C8B-B14F-4D97-AF65-F5344CB8AC3E}">
        <p14:creationId xmlns:p14="http://schemas.microsoft.com/office/powerpoint/2010/main" val="1830081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6096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4.4 Type 1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21 / 28</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29" name="TextBox 28">
            <a:extLst>
              <a:ext uri="{FF2B5EF4-FFF2-40B4-BE49-F238E27FC236}">
                <a16:creationId xmlns:a16="http://schemas.microsoft.com/office/drawing/2014/main" id="{1B343AEE-326F-4166-A091-AF8F5A490D4A}"/>
              </a:ext>
            </a:extLst>
          </p:cNvPr>
          <p:cNvSpPr txBox="1"/>
          <p:nvPr/>
        </p:nvSpPr>
        <p:spPr>
          <a:xfrm>
            <a:off x="5188636" y="3236635"/>
            <a:ext cx="2362200" cy="477054"/>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910 (golden sample)</a:t>
            </a:r>
            <a:endParaRPr lang="en-US" sz="1000" dirty="0">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198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 0.926 &gt; 0.05  Fail to reject H0 -&gt; No significant bias (PASS)</a:t>
            </a:r>
          </a:p>
          <a:p>
            <a:pPr eaLnBrk="1" latinLnBrk="0"/>
            <a:r>
              <a:rPr sz="1000" b="0">
                <a:latin typeface="Arial"/>
              </a:rPr>
              <a:t>• Cg = 2.51 (Std ≥ 1.33) PASS | Cgk = 2.50 (Std ≥ 1.33) PASS</a:t>
            </a:r>
          </a:p>
          <a:p>
            <a:pPr eaLnBrk="1" latinLnBrk="0"/>
            <a:r>
              <a:rPr sz="1000" b="0">
                <a:latin typeface="Arial"/>
              </a:rPr>
              <a:t>• %Var(Repeatability) = 7.98% (&lt; 10%) PASS</a:t>
            </a:r>
          </a:p>
          <a:p>
            <a:pPr eaLnBrk="1" latinLnBrk="0"/>
            <a:r>
              <a:rPr sz="1000" b="0">
                <a:latin typeface="Arial"/>
              </a:rPr>
              <a:t>• %Var(Repeatability &amp; Bias) = 8.00% (&lt; 10%) PASS</a:t>
            </a:r>
          </a:p>
        </p:txBody>
      </p:sp>
      <p:pic>
        <p:nvPicPr>
          <p:cNvPr id="3" name="Picture 2">
            <a:extLst>
              <a:ext uri="{FF2B5EF4-FFF2-40B4-BE49-F238E27FC236}">
                <a16:creationId xmlns:a16="http://schemas.microsoft.com/office/drawing/2014/main" id="{0CF4BAE4-7011-4E5A-AC6B-231C9D00DB5E}"/>
              </a:ext>
            </a:extLst>
          </p:cNvPr>
          <p:cNvPicPr>
            <a:picLocks noChangeAspect="1"/>
          </p:cNvPicPr>
          <p:nvPr/>
        </p:nvPicPr>
        <p:blipFill>
          <a:blip r:embed="rId3"/>
          <a:stretch>
            <a:fillRect/>
          </a:stretch>
        </p:blipFill>
        <p:spPr>
          <a:xfrm>
            <a:off x="5976241" y="624615"/>
            <a:ext cx="3858817" cy="2583445"/>
          </a:xfrm>
          <a:prstGeom prst="rect">
            <a:avLst/>
          </a:prstGeom>
        </p:spPr>
      </p:pic>
      <p:pic>
        <p:nvPicPr>
          <p:cNvPr id="4" name="Picture 3">
            <a:extLst>
              <a:ext uri="{FF2B5EF4-FFF2-40B4-BE49-F238E27FC236}">
                <a16:creationId xmlns:a16="http://schemas.microsoft.com/office/drawing/2014/main" id="{2B4A6D4C-07A1-4D69-BEAA-6C2D30E87DB8}"/>
              </a:ext>
            </a:extLst>
          </p:cNvPr>
          <p:cNvPicPr>
            <a:picLocks noChangeAspect="1"/>
          </p:cNvPicPr>
          <p:nvPr/>
        </p:nvPicPr>
        <p:blipFill>
          <a:blip r:embed="rId4"/>
          <a:stretch>
            <a:fillRect/>
          </a:stretch>
        </p:blipFill>
        <p:spPr>
          <a:xfrm>
            <a:off x="5217211" y="3649940"/>
            <a:ext cx="4641164" cy="3144270"/>
          </a:xfrm>
          <a:prstGeom prst="rect">
            <a:avLst/>
          </a:prstGeom>
        </p:spPr>
      </p:pic>
      <p:sp>
        <p:nvSpPr>
          <p:cNvPr id="24" name="TextBox 23">
            <a:extLst>
              <a:ext uri="{FF2B5EF4-FFF2-40B4-BE49-F238E27FC236}">
                <a16:creationId xmlns:a16="http://schemas.microsoft.com/office/drawing/2014/main" id="{2E6C57C6-8F91-41B9-BC8E-38F5C99A38B5}"/>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xml:space="preserve">✔ Equipment is OK. Camera CS2000 of the Luminance station can be used to measure Luminance value.</a:t>
            </a:r>
          </a:p>
        </p:txBody>
      </p:sp>
      <p:graphicFrame>
        <p:nvGraphicFramePr>
          <p:cNvPr id="9" name="Table 8">
            <a:extLst>
              <a:ext uri="{FF2B5EF4-FFF2-40B4-BE49-F238E27FC236}">
                <a16:creationId xmlns:a16="http://schemas.microsoft.com/office/drawing/2014/main" id="{1F794835-D2AA-4427-9577-00F62D39277C}"/>
              </a:ext>
            </a:extLst>
          </p:cNvPr>
          <p:cNvGraphicFramePr>
            <a:graphicFrameLocks noGrp="1"/>
          </p:cNvGraphicFramePr>
          <p:nvPr>
            <p:extLst>
              <p:ext uri="{D42A27DB-BD31-4B8C-83A1-F6EECF244321}">
                <p14:modId xmlns:p14="http://schemas.microsoft.com/office/powerpoint/2010/main" val="2150053924"/>
              </p:ext>
            </p:extLst>
          </p:nvPr>
        </p:nvGraphicFramePr>
        <p:xfrm>
          <a:off x="119760" y="1858281"/>
          <a:ext cx="3810000" cy="3267075"/>
        </p:xfrm>
        <a:graphic>
          <a:graphicData uri="http://schemas.openxmlformats.org/drawingml/2006/table">
            <a:tbl>
              <a:tblPr/>
              <a:tblGrid>
                <a:gridCol w="608547">
                  <a:extLst>
                    <a:ext uri="{9D8B030D-6E8A-4147-A177-3AD203B41FA5}">
                      <a16:colId xmlns:a16="http://schemas.microsoft.com/office/drawing/2014/main" val="1750809248"/>
                    </a:ext>
                  </a:extLst>
                </a:gridCol>
                <a:gridCol w="1372653">
                  <a:extLst>
                    <a:ext uri="{9D8B030D-6E8A-4147-A177-3AD203B41FA5}">
                      <a16:colId xmlns:a16="http://schemas.microsoft.com/office/drawing/2014/main" val="507090747"/>
                    </a:ext>
                  </a:extLst>
                </a:gridCol>
                <a:gridCol w="443480">
                  <a:extLst>
                    <a:ext uri="{9D8B030D-6E8A-4147-A177-3AD203B41FA5}">
                      <a16:colId xmlns:a16="http://schemas.microsoft.com/office/drawing/2014/main" val="2319962046"/>
                    </a:ext>
                  </a:extLst>
                </a:gridCol>
                <a:gridCol w="1385320">
                  <a:extLst>
                    <a:ext uri="{9D8B030D-6E8A-4147-A177-3AD203B41FA5}">
                      <a16:colId xmlns:a16="http://schemas.microsoft.com/office/drawing/2014/main" val="2794394947"/>
                    </a:ext>
                  </a:extLst>
                </a:gridCol>
              </a:tblGrid>
              <a:tr h="4095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038827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913.97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90682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7093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1157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08110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8371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63548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42746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884.59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01257"/>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6576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739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07259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000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482182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8284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001934"/>
                  </a:ext>
                </a:extLst>
              </a:tr>
            </a:tbl>
          </a:graphicData>
        </a:graphic>
      </p:graphicFrame>
      <p:sp>
        <p:nvSpPr>
          <p:cNvPr id="16" name="AutoShape 57">
            <a:extLst>
              <a:ext uri="{FF2B5EF4-FFF2-40B4-BE49-F238E27FC236}">
                <a16:creationId xmlns:a16="http://schemas.microsoft.com/office/drawing/2014/main" id="{E56DB63D-2D01-4DBC-A986-26AC25D62E2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5">
            <a:extLst>
              <a:ext uri="{FF2B5EF4-FFF2-40B4-BE49-F238E27FC236}">
                <a16:creationId xmlns:a16="http://schemas.microsoft.com/office/drawing/2014/main" id="{DE503F63-9490-4916-B9A6-B6442FD6B399}"/>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6" name="AutoShape 56">
            <a:extLst>
              <a:ext uri="{FF2B5EF4-FFF2-40B4-BE49-F238E27FC236}">
                <a16:creationId xmlns:a16="http://schemas.microsoft.com/office/drawing/2014/main" id="{D2E20A55-BE65-4BAD-8A38-75FD26911C99}"/>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8" name="AutoShape 59">
            <a:extLst>
              <a:ext uri="{FF2B5EF4-FFF2-40B4-BE49-F238E27FC236}">
                <a16:creationId xmlns:a16="http://schemas.microsoft.com/office/drawing/2014/main" id="{9C494BAF-7E5D-498F-A235-2F6AB64EE481}"/>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0" name="AutoShape 58">
            <a:extLst>
              <a:ext uri="{FF2B5EF4-FFF2-40B4-BE49-F238E27FC236}">
                <a16:creationId xmlns:a16="http://schemas.microsoft.com/office/drawing/2014/main" id="{91402361-DAA8-4064-A8C7-952CFA000153}"/>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cxnSp>
        <p:nvCxnSpPr>
          <p:cNvPr id="31" name="Straight Connector 30">
            <a:extLst>
              <a:ext uri="{FF2B5EF4-FFF2-40B4-BE49-F238E27FC236}">
                <a16:creationId xmlns:a16="http://schemas.microsoft.com/office/drawing/2014/main" id="{EE1CB60C-262D-436D-81A8-3D72B6B4811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8CD868-16BA-46A5-AECC-0273074C5396}"/>
              </a:ext>
            </a:extLst>
          </p:cNvPr>
          <p:cNvSpPr txBox="1"/>
          <p:nvPr/>
        </p:nvSpPr>
        <p:spPr>
          <a:xfrm>
            <a:off x="63248" y="737999"/>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Use the Type 1 gage study to assess the measurement capability of the gage, based on its repeatability and bias after improvement.</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212664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9">
            <a:extLst>
              <a:ext uri="{FF2B5EF4-FFF2-40B4-BE49-F238E27FC236}">
                <a16:creationId xmlns:a16="http://schemas.microsoft.com/office/drawing/2014/main" id="{42E250E9-7B6D-4CB6-9D59-474D4A6C6285}"/>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8" name="AutoShape 56">
            <a:extLst>
              <a:ext uri="{FF2B5EF4-FFF2-40B4-BE49-F238E27FC236}">
                <a16:creationId xmlns:a16="http://schemas.microsoft.com/office/drawing/2014/main" id="{C0C944A4-101E-42D6-81BA-0D952D7C49D3}"/>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pic>
        <p:nvPicPr>
          <p:cNvPr id="9" name="Picture 8">
            <a:extLst>
              <a:ext uri="{FF2B5EF4-FFF2-40B4-BE49-F238E27FC236}">
                <a16:creationId xmlns:a16="http://schemas.microsoft.com/office/drawing/2014/main" id="{D87638E1-3883-4927-AC6D-92EA20AB92E1}"/>
              </a:ext>
            </a:extLst>
          </p:cNvPr>
          <p:cNvPicPr>
            <a:picLocks noChangeAspect="1"/>
          </p:cNvPicPr>
          <p:nvPr/>
        </p:nvPicPr>
        <p:blipFill>
          <a:blip r:embed="rId3"/>
          <a:stretch>
            <a:fillRect/>
          </a:stretch>
        </p:blipFill>
        <p:spPr>
          <a:xfrm>
            <a:off x="2898636" y="1261535"/>
            <a:ext cx="3197364" cy="4488279"/>
          </a:xfrm>
          <a:prstGeom prst="rect">
            <a:avLst/>
          </a:prstGeom>
        </p:spPr>
      </p:pic>
      <p:sp>
        <p:nvSpPr>
          <p:cNvPr id="7" name="제목 1"/>
          <p:cNvSpPr txBox="1">
            <a:spLocks/>
          </p:cNvSpPr>
          <p:nvPr/>
        </p:nvSpPr>
        <p:spPr>
          <a:xfrm>
            <a:off x="63248" y="59759"/>
            <a:ext cx="609600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4.4 Type 3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2F116EDF-8FB8-49D4-9D95-4106566CA48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8B7C0E50-731F-45CB-B95B-47B094B1A43F}"/>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22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2" name="TextBox 21">
            <a:extLst>
              <a:ext uri="{FF2B5EF4-FFF2-40B4-BE49-F238E27FC236}">
                <a16:creationId xmlns:a16="http://schemas.microsoft.com/office/drawing/2014/main" id="{1D7A0E4A-FE65-4EFE-9AAA-D95F0FD47D39}"/>
              </a:ext>
            </a:extLst>
          </p:cNvPr>
          <p:cNvSpPr txBox="1"/>
          <p:nvPr/>
        </p:nvSpPr>
        <p:spPr>
          <a:xfrm>
            <a:off x="63248" y="535377"/>
            <a:ext cx="26799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3966E839-E464-44A6-B3A7-069EFFB3BB53}"/>
              </a:ext>
            </a:extLst>
          </p:cNvPr>
          <p:cNvSpPr txBox="1"/>
          <p:nvPr/>
        </p:nvSpPr>
        <p:spPr>
          <a:xfrm>
            <a:off x="6027146" y="4781800"/>
            <a:ext cx="3780000" cy="1015663"/>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a:t>
            </a:r>
            <a:r>
              <a:rPr lang="en-US" sz="1000" dirty="0">
                <a:latin typeface="Arial" panose="020B0604020202020204" pitchFamily="34" charset="0"/>
                <a:ea typeface="Arial Unicode MS" panose="020B0604020202020204" pitchFamily="34" charset="-128"/>
                <a:cs typeface="Arial" panose="020B0604020202020204" pitchFamily="34" charset="0"/>
              </a:rPr>
              <a:t>0.22</a:t>
            </a:r>
            <a:r>
              <a:rPr lang="vi-VN" sz="1000" dirty="0">
                <a:latin typeface="Arial" panose="020B0604020202020204" pitchFamily="34" charset="0"/>
                <a:ea typeface="Arial Unicode MS" panose="020B0604020202020204" pitchFamily="34" charset="-128"/>
                <a:cs typeface="Arial" panose="020B0604020202020204" pitchFamily="34" charset="0"/>
              </a:rPr>
              <a:t>% </a:t>
            </a:r>
            <a:r>
              <a:rPr lang="en-US" sz="1000" dirty="0">
                <a:latin typeface="Arial" panose="020B0604020202020204" pitchFamily="34" charset="0"/>
                <a:ea typeface="Arial Unicode MS" panose="020B0604020202020204" pitchFamily="34" charset="-128"/>
                <a:cs typeface="Arial" panose="020B0604020202020204" pitchFamily="34" charset="0"/>
              </a:rPr>
              <a:t>&lt;</a:t>
            </a:r>
            <a:r>
              <a:rPr lang="vi-VN" sz="1000" dirty="0">
                <a:latin typeface="Arial" panose="020B0604020202020204" pitchFamily="34" charset="0"/>
                <a:ea typeface="Arial Unicode MS" panose="020B0604020202020204" pitchFamily="34" charset="-128"/>
                <a:cs typeface="Arial" panose="020B0604020202020204" pitchFamily="34" charset="0"/>
              </a:rPr>
              <a:t xml:space="preserve">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4.64</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&lt;</a:t>
            </a:r>
            <a:r>
              <a:rPr lang="vi-VN" sz="1000" dirty="0">
                <a:latin typeface="Arial" panose="020B0604020202020204" pitchFamily="34" charset="0"/>
                <a:ea typeface="Arial Unicode MS" panose="020B0604020202020204" pitchFamily="34" charset="-128"/>
                <a:cs typeface="Arial" panose="020B0604020202020204" pitchFamily="34" charset="0"/>
              </a:rPr>
              <a: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en-US" sz="1000" noProof="1">
                <a:latin typeface="Arial" panose="020B0600000101010101" pitchFamily="34" charset="-127"/>
                <a:ea typeface="Arial" panose="020B0600000101010101" pitchFamily="34" charset="-127"/>
              </a:rPr>
              <a:t xml:space="preserve">% Tolerance = 0.86% &lt; 10% </a:t>
            </a:r>
            <a:r>
              <a:rPr lang="en-US" sz="1000" dirty="0">
                <a:latin typeface="Arial" panose="020B0600000101010101" pitchFamily="34" charset="-127"/>
                <a:ea typeface="Arial" panose="020B0600000101010101" pitchFamily="34" charset="-127"/>
                <a:sym typeface="Wingdings" pitchFamily="2" charset="2"/>
              </a:rPr>
              <a:t> </a:t>
            </a:r>
            <a:r>
              <a:rPr lang="en-US" sz="10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NDC: 30 &gt; 5  OK</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sp>
        <p:nvSpPr>
          <p:cNvPr id="21" name="TextBox 20">
            <a:extLst>
              <a:ext uri="{FF2B5EF4-FFF2-40B4-BE49-F238E27FC236}">
                <a16:creationId xmlns:a16="http://schemas.microsoft.com/office/drawing/2014/main" id="{0C04EA2E-54FC-4AFE-90F2-2B41EEBF1447}"/>
              </a:ext>
            </a:extLst>
          </p:cNvPr>
          <p:cNvSpPr txBox="1"/>
          <p:nvPr/>
        </p:nvSpPr>
        <p:spPr>
          <a:xfrm>
            <a:off x="59902" y="6296220"/>
            <a:ext cx="6765306" cy="27699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Measurement system of the Luminance station is Good after improving measurement system</a:t>
            </a:r>
          </a:p>
        </p:txBody>
      </p:sp>
      <p:sp>
        <p:nvSpPr>
          <p:cNvPr id="23" name="Text Box 2">
            <a:extLst>
              <a:ext uri="{FF2B5EF4-FFF2-40B4-BE49-F238E27FC236}">
                <a16:creationId xmlns:a16="http://schemas.microsoft.com/office/drawing/2014/main" id="{18AB2045-A1D9-4F7C-ABE5-0EE724EF6EEB}"/>
              </a:ext>
            </a:extLst>
          </p:cNvPr>
          <p:cNvSpPr txBox="1">
            <a:spLocks noChangeArrowheads="1"/>
          </p:cNvSpPr>
          <p:nvPr/>
        </p:nvSpPr>
        <p:spPr bwMode="auto">
          <a:xfrm>
            <a:off x="40311" y="786484"/>
            <a:ext cx="9332289" cy="304800"/>
          </a:xfrm>
          <a:prstGeom prst="rect">
            <a:avLst/>
          </a:prstGeom>
          <a:noFill/>
          <a:ln w="9525" algn="ctr">
            <a:noFill/>
            <a:miter lim="800000"/>
            <a:headEnd/>
            <a:tailEnd/>
          </a:ln>
        </p:spPr>
        <p:txBody>
          <a:bodyPr lIns="84374" tIns="42187" rIns="84374" bIns="42187" anchor="ctr"/>
          <a:lstStyle/>
          <a:p>
            <a:pPr defTabSz="844083" eaLnBrk="1" latinLnBrk="0">
              <a:defRPr/>
            </a:pPr>
            <a:r>
              <a:rPr sz="1000" b="0">
                <a:latin typeface="Arial"/>
              </a:rPr>
              <a:t>After adjusting camera angle to 90.0°, Type 3 Gage Study was repeated for the Luminance station to verify measurement repeatability.</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4" name="AutoShape 55">
            <a:extLst>
              <a:ext uri="{FF2B5EF4-FFF2-40B4-BE49-F238E27FC236}">
                <a16:creationId xmlns:a16="http://schemas.microsoft.com/office/drawing/2014/main" id="{D17A6884-A0A7-406C-A731-813E957B5BCD}"/>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graphicFrame>
        <p:nvGraphicFramePr>
          <p:cNvPr id="6" name="Table 5">
            <a:extLst>
              <a:ext uri="{FF2B5EF4-FFF2-40B4-BE49-F238E27FC236}">
                <a16:creationId xmlns:a16="http://schemas.microsoft.com/office/drawing/2014/main" id="{EBD78909-2208-48C8-9FE8-B1C822F4B79B}"/>
              </a:ext>
            </a:extLst>
          </p:cNvPr>
          <p:cNvGraphicFramePr>
            <a:graphicFrameLocks noGrp="1"/>
          </p:cNvGraphicFramePr>
          <p:nvPr>
            <p:extLst>
              <p:ext uri="{D42A27DB-BD31-4B8C-83A1-F6EECF244321}">
                <p14:modId xmlns:p14="http://schemas.microsoft.com/office/powerpoint/2010/main" val="1538451455"/>
              </p:ext>
            </p:extLst>
          </p:nvPr>
        </p:nvGraphicFramePr>
        <p:xfrm>
          <a:off x="107420" y="1247455"/>
          <a:ext cx="2711980" cy="4769863"/>
        </p:xfrm>
        <a:graphic>
          <a:graphicData uri="http://schemas.openxmlformats.org/drawingml/2006/table">
            <a:tbl>
              <a:tblPr/>
              <a:tblGrid>
                <a:gridCol w="677995">
                  <a:extLst>
                    <a:ext uri="{9D8B030D-6E8A-4147-A177-3AD203B41FA5}">
                      <a16:colId xmlns:a16="http://schemas.microsoft.com/office/drawing/2014/main" val="2454351302"/>
                    </a:ext>
                  </a:extLst>
                </a:gridCol>
                <a:gridCol w="677995">
                  <a:extLst>
                    <a:ext uri="{9D8B030D-6E8A-4147-A177-3AD203B41FA5}">
                      <a16:colId xmlns:a16="http://schemas.microsoft.com/office/drawing/2014/main" val="1364988761"/>
                    </a:ext>
                  </a:extLst>
                </a:gridCol>
                <a:gridCol w="677995">
                  <a:extLst>
                    <a:ext uri="{9D8B030D-6E8A-4147-A177-3AD203B41FA5}">
                      <a16:colId xmlns:a16="http://schemas.microsoft.com/office/drawing/2014/main" val="540453528"/>
                    </a:ext>
                  </a:extLst>
                </a:gridCol>
                <a:gridCol w="677995">
                  <a:extLst>
                    <a:ext uri="{9D8B030D-6E8A-4147-A177-3AD203B41FA5}">
                      <a16:colId xmlns:a16="http://schemas.microsoft.com/office/drawing/2014/main" val="1565661320"/>
                    </a:ext>
                  </a:extLst>
                </a:gridCol>
              </a:tblGrid>
              <a:tr h="159488">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8967789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946.86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928.45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09260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949.24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3077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170185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919.34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95219"/>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6036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903.63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9766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901.35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900.43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28979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898.05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5701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951.03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57202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872.57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26152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890.56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869.91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7589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948.43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0735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855.23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950.59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3332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851.36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63078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889.44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920.88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0739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886.99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846.80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93092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78034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870.83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3663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745787"/>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937.61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961.99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361145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861.69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963.88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6278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859.00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931.05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1796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936.46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37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0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660481"/>
                  </a:ext>
                </a:extLst>
              </a:tr>
            </a:tbl>
          </a:graphicData>
        </a:graphic>
      </p:graphicFrame>
      <p:pic>
        <p:nvPicPr>
          <p:cNvPr id="8" name="Picture 7">
            <a:extLst>
              <a:ext uri="{FF2B5EF4-FFF2-40B4-BE49-F238E27FC236}">
                <a16:creationId xmlns:a16="http://schemas.microsoft.com/office/drawing/2014/main" id="{BB0F8718-B35E-4C23-BD06-E9D07E02704C}"/>
              </a:ext>
            </a:extLst>
          </p:cNvPr>
          <p:cNvPicPr>
            <a:picLocks noChangeAspect="1"/>
          </p:cNvPicPr>
          <p:nvPr/>
        </p:nvPicPr>
        <p:blipFill>
          <a:blip r:embed="rId4"/>
          <a:stretch>
            <a:fillRect/>
          </a:stretch>
        </p:blipFill>
        <p:spPr>
          <a:xfrm>
            <a:off x="5911316" y="1508265"/>
            <a:ext cx="3931436" cy="2957124"/>
          </a:xfrm>
          <a:prstGeom prst="rect">
            <a:avLst/>
          </a:prstGeom>
        </p:spPr>
      </p:pic>
      <p:sp>
        <p:nvSpPr>
          <p:cNvPr id="17" name="AutoShape 57">
            <a:extLst>
              <a:ext uri="{FF2B5EF4-FFF2-40B4-BE49-F238E27FC236}">
                <a16:creationId xmlns:a16="http://schemas.microsoft.com/office/drawing/2014/main" id="{7AC55846-A8AC-4576-9929-69CC7DB8A83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19" name="AutoShape 58">
            <a:extLst>
              <a:ext uri="{FF2B5EF4-FFF2-40B4-BE49-F238E27FC236}">
                <a16:creationId xmlns:a16="http://schemas.microsoft.com/office/drawing/2014/main" id="{C1BD87E1-CF39-4ACA-8A8B-E73D4CC9739D}"/>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Tree>
    <p:extLst>
      <p:ext uri="{BB962C8B-B14F-4D97-AF65-F5344CB8AC3E}">
        <p14:creationId xmlns:p14="http://schemas.microsoft.com/office/powerpoint/2010/main" val="381964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5315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5.1 Xbar-R Chart Review after improvement</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19" name="AutoShape 59"/>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1" name="AutoShape 57"/>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2" name="AutoShape 56"/>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3" name="AutoShape 58"/>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823484"/>
            <a:ext cx="9228584" cy="646331"/>
          </a:xfrm>
          <a:prstGeom prst="rect">
            <a:avLst/>
          </a:prstGeom>
          <a:noFill/>
        </p:spPr>
        <p:txBody>
          <a:bodyPr wrap="square" rtlCol="0">
            <a:spAutoFit/>
          </a:bodyPr>
          <a:lstStyle/>
          <a:p>
            <a:pPr marL="171450" indent="-171450" eaLnBrk="1" latinLnBrk="0">
              <a:buFont typeface="Wingdings" panose="05000000000000000000" pitchFamily="2" charset="2"/>
              <a:buChar char="Ø"/>
            </a:pPr>
            <a:r>
              <a:rPr lang="en-US" altLang="ko-KR" sz="1000" b="1" u="sng" dirty="0">
                <a:latin typeface="Arial" panose="020B0604020202020204" pitchFamily="34" charset="0"/>
                <a:ea typeface="LG Smart_H Regular" panose="020B0600000101010101" pitchFamily="34" charset="-127"/>
                <a:cs typeface="Arial" panose="020B0604020202020204" pitchFamily="34" charset="0"/>
              </a:rPr>
              <a:t>Conclusion:</a:t>
            </a:r>
            <a:r>
              <a:rPr lang="vi-VN" altLang="ko-KR" sz="10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eaLnBrk="1" latinLnBrk="0">
              <a:buFont typeface="Arial" panose="020B0604020202020204" pitchFamily="34" charset="0"/>
              <a:buChar char="•"/>
            </a:pPr>
            <a:r>
              <a:rPr lang="en-US" altLang="en-US" sz="1000" dirty="0">
                <a:latin typeface="Arial" panose="020B0600000101010101" pitchFamily="34" charset="-127"/>
                <a:ea typeface="Arial" panose="020B0600000101010101" pitchFamily="34" charset="-127"/>
              </a:rPr>
              <a:t>No out-of-control point and no abnormal pattern (run tests) was found in the Xbar and R control charts. Therefore the process is stable over time.</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eaLnBrk="1" fontAlgn="ctr" latinLnBrk="0"/>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3-Jul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905.74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884.21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917.92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957.93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8"/>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Sampling method: rational subgroups of the first 5 sets per day at the production line, for 10 days (1-Jul to 10-Jul-2026).</a:t>
            </a:r>
          </a:p>
        </p:txBody>
      </p:sp>
    </p:spTree>
    <p:extLst>
      <p:ext uri="{BB962C8B-B14F-4D97-AF65-F5344CB8AC3E}">
        <p14:creationId xmlns:p14="http://schemas.microsoft.com/office/powerpoint/2010/main" val="1308763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5572865" y="5360459"/>
            <a:ext cx="3429000" cy="338426"/>
          </a:xfrm>
          <a:prstGeom prst="rect">
            <a:avLst/>
          </a:prstGeom>
          <a:noFill/>
        </p:spPr>
        <p:txBody>
          <a:bodyPr wrap="square" rtlCol="0">
            <a:spAutoFit/>
          </a:bodyPr>
          <a:lstStyle/>
          <a:p>
            <a:pPr eaLnBrk="1" latinLnBrk="0">
              <a:lnSpc>
                <a:spcPct val="150000"/>
              </a:lnSpc>
            </a:pPr>
            <a:r>
              <a:rPr lang="en-US" sz="1000" dirty="0">
                <a:latin typeface="Arial" panose="020B0600000101010101" pitchFamily="34" charset="-127"/>
                <a:ea typeface="Arial" panose="020B0600000101010101" pitchFamily="34" charset="-127"/>
                <a:cs typeface="Arial" panose="020B0604020202020204" pitchFamily="34" charset="0"/>
              </a:rPr>
              <a:t xml:space="preserve">Cpk = 2.39 (= CPL; USL 2000 is far from the process) (Goal ≥ 1.33; target ≥ 1.67) </a:t>
            </a:r>
            <a:r>
              <a:rPr lang="en-US" sz="10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endParaRPr lang="en-US" sz="12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2" name="TextBox 21">
            <a:extLst>
              <a:ext uri="{FF2B5EF4-FFF2-40B4-BE49-F238E27FC236}">
                <a16:creationId xmlns:a16="http://schemas.microsoft.com/office/drawing/2014/main" id="{91A13D46-5B91-4121-A651-FD19FF223FEC}"/>
              </a:ext>
            </a:extLst>
          </p:cNvPr>
          <p:cNvSpPr txBox="1"/>
          <p:nvPr/>
        </p:nvSpPr>
        <p:spPr>
          <a:xfrm>
            <a:off x="307691" y="5360459"/>
            <a:ext cx="4876800" cy="616259"/>
          </a:xfrm>
          <a:prstGeom prst="rect">
            <a:avLst/>
          </a:prstGeom>
          <a:noFill/>
        </p:spPr>
        <p:txBody>
          <a:bodyPr wrap="square" rtlCol="0">
            <a:spAutoFit/>
          </a:bodyPr>
          <a:lstStyle/>
          <a:p>
            <a:pPr eaLnBrk="1" latinLnBrk="0">
              <a:lnSpc>
                <a:spcPct val="150000"/>
              </a:lnSpc>
            </a:pPr>
            <a:r>
              <a:rPr sz="1000" b="0">
                <a:latin typeface="Arial"/>
              </a:rPr>
              <a:t xml:space="preserve">P-value = 0.503 &gt; 0.05 -&gt; Fail to reject H0 -&gt; No evidence against normality (PASS)</a:t>
            </a:r>
          </a:p>
          <a:p>
            <a:pPr eaLnBrk="1" latinLnBrk="0">
              <a:lnSpc>
                <a:spcPct val="150000"/>
              </a:lnSpc>
            </a:pP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altLang="ko-KR" sz="1000" dirty="0">
                <a:latin typeface="Arial" panose="020B0600000101010101" pitchFamily="34" charset="-127"/>
                <a:ea typeface="Arial" panose="020B0600000101010101" pitchFamily="34" charset="-127"/>
                <a:cs typeface="Arial"/>
                <a:sym typeface="Wingdings" pitchFamily="2" charset="2"/>
              </a:rPr>
              <a:t>Data can be treated as normally distributed</a:t>
            </a: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sz="1000" dirty="0">
                <a:latin typeface="Arial" panose="020B0600000101010101" pitchFamily="34" charset="-127"/>
                <a:ea typeface="Arial" panose="020B0600000101010101" pitchFamily="34" charset="-127"/>
                <a:cs typeface="Arial" panose="020B0604020202020204" pitchFamily="34" charset="0"/>
              </a:rPr>
              <a:t> </a:t>
            </a:r>
          </a:p>
        </p:txBody>
      </p:sp>
      <p:sp>
        <p:nvSpPr>
          <p:cNvPr id="24" name="제목 1">
            <a:extLst>
              <a:ext uri="{FF2B5EF4-FFF2-40B4-BE49-F238E27FC236}">
                <a16:creationId xmlns:a16="http://schemas.microsoft.com/office/drawing/2014/main" id="{031A6440-6634-4103-92B8-49C3ED90C4C8}"/>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5" name="TextBox 24">
            <a:extLst>
              <a:ext uri="{FF2B5EF4-FFF2-40B4-BE49-F238E27FC236}">
                <a16:creationId xmlns:a16="http://schemas.microsoft.com/office/drawing/2014/main" id="{B7674296-F9ED-4CBE-BD6B-2C6DA8CD6EBE}"/>
              </a:ext>
            </a:extLst>
          </p:cNvPr>
          <p:cNvSpPr txBox="1"/>
          <p:nvPr/>
        </p:nvSpPr>
        <p:spPr>
          <a:xfrm>
            <a:off x="29671" y="594277"/>
            <a:ext cx="29421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23" name="AutoShape 57">
            <a:extLst>
              <a:ext uri="{FF2B5EF4-FFF2-40B4-BE49-F238E27FC236}">
                <a16:creationId xmlns:a16="http://schemas.microsoft.com/office/drawing/2014/main" id="{73911B39-23F6-4CF1-B590-3BF4AF2DF50F}"/>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6" name="AutoShape 56">
            <a:extLst>
              <a:ext uri="{FF2B5EF4-FFF2-40B4-BE49-F238E27FC236}">
                <a16:creationId xmlns:a16="http://schemas.microsoft.com/office/drawing/2014/main" id="{293DCF7A-2413-46F4-BD40-0B6E07C06B26}"/>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7" name="AutoShape 58">
            <a:extLst>
              <a:ext uri="{FF2B5EF4-FFF2-40B4-BE49-F238E27FC236}">
                <a16:creationId xmlns:a16="http://schemas.microsoft.com/office/drawing/2014/main" id="{DE0B4DB6-3714-4D76-943B-90338DEBD7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5" name="Picture 4">
            <a:extLst>
              <a:ext uri="{FF2B5EF4-FFF2-40B4-BE49-F238E27FC236}">
                <a16:creationId xmlns:a16="http://schemas.microsoft.com/office/drawing/2014/main" id="{CDBFE2BA-22EC-4E68-8012-8DD2082BFAE0}"/>
              </a:ext>
            </a:extLst>
          </p:cNvPr>
          <p:cNvPicPr>
            <a:picLocks noChangeAspect="1"/>
          </p:cNvPicPr>
          <p:nvPr/>
        </p:nvPicPr>
        <p:blipFill>
          <a:blip r:embed="rId8"/>
          <a:stretch>
            <a:fillRect/>
          </a:stretch>
        </p:blipFill>
        <p:spPr>
          <a:xfrm>
            <a:off x="0" y="1781554"/>
            <a:ext cx="4937235" cy="3357985"/>
          </a:xfrm>
          <a:prstGeom prst="rect">
            <a:avLst/>
          </a:prstGeom>
        </p:spPr>
      </p:pic>
      <p:pic>
        <p:nvPicPr>
          <p:cNvPr id="6" name="Picture 5">
            <a:extLst>
              <a:ext uri="{FF2B5EF4-FFF2-40B4-BE49-F238E27FC236}">
                <a16:creationId xmlns:a16="http://schemas.microsoft.com/office/drawing/2014/main" id="{1041727C-0180-47BE-980A-7240A140896B}"/>
              </a:ext>
            </a:extLst>
          </p:cNvPr>
          <p:cNvPicPr>
            <a:picLocks noChangeAspect="1"/>
          </p:cNvPicPr>
          <p:nvPr/>
        </p:nvPicPr>
        <p:blipFill>
          <a:blip r:embed="rId9"/>
          <a:stretch>
            <a:fillRect/>
          </a:stretch>
        </p:blipFill>
        <p:spPr>
          <a:xfrm>
            <a:off x="5071808" y="1811242"/>
            <a:ext cx="4453192" cy="3328297"/>
          </a:xfrm>
          <a:prstGeom prst="rect">
            <a:avLst/>
          </a:prstGeom>
        </p:spPr>
      </p:pic>
      <p:sp>
        <p:nvSpPr>
          <p:cNvPr id="2" name="Rectangle 1">
            <a:extLst>
              <a:ext uri="{FF2B5EF4-FFF2-40B4-BE49-F238E27FC236}">
                <a16:creationId xmlns:a16="http://schemas.microsoft.com/office/drawing/2014/main" id="{77DD4380-CC7A-4120-9471-60982EE3B35F}"/>
              </a:ext>
            </a:extLst>
          </p:cNvPr>
          <p:cNvSpPr/>
          <p:nvPr/>
        </p:nvSpPr>
        <p:spPr>
          <a:xfrm>
            <a:off x="83021" y="942979"/>
            <a:ext cx="3069045" cy="276999"/>
          </a:xfrm>
          <a:prstGeom prst="rect">
            <a:avLst/>
          </a:prstGeom>
        </p:spPr>
        <p:txBody>
          <a:bodyPr wrap="none">
            <a:spAutoFit/>
          </a:bodyPr>
          <a:lstStyle/>
          <a:p>
            <a:pPr lvl="0" eaLnBrk="1" latinLnBrk="0" hangingPunct="0">
              <a:defRPr/>
            </a:pPr>
            <a:r>
              <a:rPr lang="en-US" altLang="ja-JP" sz="1000" dirty="0">
                <a:latin typeface="Arial" panose="020B0604020202020204" pitchFamily="34" charset="0"/>
                <a:ea typeface="Arial Unicode MS" panose="020B0604020202020204" pitchFamily="34" charset="-128"/>
                <a:cs typeface="Arial" panose="020B0604020202020204" pitchFamily="34" charset="0"/>
              </a:rPr>
              <a:t>To evaluate process capability of the Luminance station:</a:t>
            </a:r>
          </a:p>
        </p:txBody>
      </p:sp>
      <p:sp>
        <p:nvSpPr>
          <p:cNvPr id="28" name="Added text 28"/>
          <p:cNvSpPr txBox="1"/>
          <p:nvPr/>
        </p:nvSpPr>
        <p:spPr>
          <a:xfrm>
            <a:off x="571500" y="1295400"/>
            <a:ext cx="4476750" cy="438150"/>
          </a:xfrm>
          <a:prstGeom prst="rect">
            <a:avLst/>
          </a:prstGeom>
          <a:noFill/>
        </p:spPr>
        <p:txBody>
          <a:bodyPr wrap="square" lIns="0" tIns="0" rIns="0" bIns="0" rtlCol="0">
            <a:noAutofit/>
          </a:bodyPr>
          <a:lstStyle/>
          <a:p>
            <a:r>
              <a:rPr lang="en-US" sz="1000" b="0" dirty="0">
                <a:solidFill>
                  <a:srgbClr val="000000"/>
                </a:solidFill>
                <a:latin typeface="Arial"/>
                <a:cs typeface="Arial"/>
              </a:rPr>
              <a:t>Normality test (Anderson-Darling): H0: data follow a normal distribution; H1: data do NOT follow a normal distribution.</a:t>
            </a:r>
          </a:p>
        </p:txBody>
      </p:sp>
      <p:sp>
        <p:nvSpPr>
          <p:cNvPr id="29" name="Added text 29"/>
          <p:cNvSpPr txBox="1"/>
          <p:nvPr/>
        </p:nvSpPr>
        <p:spPr>
          <a:xfrm>
            <a:off x="5334000" y="704850"/>
            <a:ext cx="4476750" cy="800100"/>
          </a:xfrm>
          <a:prstGeom prst="rect">
            <a:avLst/>
          </a:prstGeom>
          <a:noFill/>
        </p:spPr>
        <p:txBody>
          <a:bodyPr wrap="square" lIns="0" tIns="0" rIns="0" bIns="0" rtlCol="0">
            <a:noAutofit/>
          </a:bodyPr>
          <a:lstStyle/>
          <a:p>
            <a:pPr marL="0" indent="0">
              <a:spcAft>
                <a:spcPts val="400"/>
              </a:spcAft>
              <a:buNone/>
            </a:pPr>
            <a:r>
              <a:rPr lang="en-US" sz="1100" b="1" dirty="0">
                <a:solidFill>
                  <a:srgbClr val="C00000"/>
                </a:solidFill>
                <a:latin typeface="Arial"/>
                <a:cs typeface="Arial"/>
              </a:rPr>
              <a:t>Before (2.3): </a:t>
            </a:r>
            <a:r>
              <a:rPr lang="en-US" sz="1100" b="0" dirty="0">
                <a:solidFill>
                  <a:srgbClr val="C00000"/>
                </a:solidFill>
                <a:latin typeface="Arial"/>
                <a:cs typeface="Arial"/>
              </a:rPr>
              <a:t>Ppk = 0.45 (Z = 1.34) → Standard ≥ 1.33 → NG, lack of process capability</a:t>
            </a:r>
          </a:p>
          <a:p>
            <a:pPr marL="0" indent="0">
              <a:spcAft>
                <a:spcPts val="0"/>
              </a:spcAft>
              <a:buNone/>
            </a:pPr>
            <a:r>
              <a:rPr lang="en-US" sz="1100" b="1" dirty="0">
                <a:solidFill>
                  <a:srgbClr val="1E7B34"/>
                </a:solidFill>
                <a:latin typeface="Arial"/>
                <a:cs typeface="Arial"/>
              </a:rPr>
              <a:t>After: </a:t>
            </a:r>
            <a:r>
              <a:rPr lang="en-US" sz="1100" b="0" dirty="0">
                <a:solidFill>
                  <a:srgbClr val="1E7B34"/>
                </a:solidFill>
                <a:latin typeface="Arial"/>
                <a:cs typeface="Arial"/>
              </a:rPr>
              <a:t>Cpk = 2.39, Ppk = 2.30 (Z = 7.18) → Standard ≥ 1.33 → OK, good process capability</a:t>
            </a:r>
          </a:p>
        </p:txBody>
      </p:sp>
    </p:spTree>
    <p:extLst>
      <p:ext uri="{BB962C8B-B14F-4D97-AF65-F5344CB8AC3E}">
        <p14:creationId xmlns:p14="http://schemas.microsoft.com/office/powerpoint/2010/main" val="3301881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66E45-431A-4EF3-A2E5-33060C669DFC}"/>
              </a:ext>
            </a:extLst>
          </p:cNvPr>
          <p:cNvPicPr>
            <a:picLocks noChangeAspect="1"/>
          </p:cNvPicPr>
          <p:nvPr/>
        </p:nvPicPr>
        <p:blipFill>
          <a:blip r:embed="rId3"/>
          <a:stretch>
            <a:fillRect/>
          </a:stretch>
        </p:blipFill>
        <p:spPr>
          <a:xfrm>
            <a:off x="5085601" y="803973"/>
            <a:ext cx="4376380" cy="3268076"/>
          </a:xfrm>
          <a:prstGeom prst="rect">
            <a:avLst/>
          </a:prstGeom>
          <a:ln>
            <a:noFill/>
          </a:ln>
        </p:spPr>
      </p:pic>
      <p:pic>
        <p:nvPicPr>
          <p:cNvPr id="4" name="Picture 3">
            <a:extLst>
              <a:ext uri="{FF2B5EF4-FFF2-40B4-BE49-F238E27FC236}">
                <a16:creationId xmlns:a16="http://schemas.microsoft.com/office/drawing/2014/main" id="{E2D6D6AB-CED2-4959-B087-729054AAA04B}"/>
              </a:ext>
            </a:extLst>
          </p:cNvPr>
          <p:cNvPicPr>
            <a:picLocks noChangeAspect="1"/>
          </p:cNvPicPr>
          <p:nvPr/>
        </p:nvPicPr>
        <p:blipFill>
          <a:blip r:embed="rId4"/>
          <a:stretch>
            <a:fillRect/>
          </a:stretch>
        </p:blipFill>
        <p:spPr>
          <a:xfrm>
            <a:off x="453669" y="839100"/>
            <a:ext cx="4140698" cy="3128528"/>
          </a:xfrm>
          <a:prstGeom prst="rect">
            <a:avLst/>
          </a:prstGeom>
        </p:spPr>
      </p:pic>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76600" y="3161026"/>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xml:space="preserve"> Z Long term = 6.89</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93510" y="3044271"/>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xml:space="preserve"> Z Short term = 7.18   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9" name="TextBox 28">
            <a:extLst>
              <a:ext uri="{FF2B5EF4-FFF2-40B4-BE49-F238E27FC236}">
                <a16:creationId xmlns:a16="http://schemas.microsoft.com/office/drawing/2014/main" id="{3F03CC85-78FB-49D7-B96C-52B4B103B707}"/>
              </a:ext>
            </a:extLst>
          </p:cNvPr>
          <p:cNvSpPr txBox="1"/>
          <p:nvPr/>
        </p:nvSpPr>
        <p:spPr>
          <a:xfrm>
            <a:off x="222124" y="4752877"/>
            <a:ext cx="4376380" cy="1169423"/>
          </a:xfrm>
          <a:prstGeom prst="rect">
            <a:avLst/>
          </a:prstGeom>
          <a:solidFill>
            <a:schemeClr val="bg1"/>
          </a:solidFill>
        </p:spPr>
        <p:txBody>
          <a:bodyPr wrap="square" rtlCol="0">
            <a:spAutoFit/>
          </a:bodyPr>
          <a:lstStyle/>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rPr>
              <a:t xml:space="preserve">  Zshift = Zst – Zlt = 7.18 – 6.89 = 0.29 </a:t>
            </a:r>
            <a:r>
              <a:rPr lang="en-US" altLang="ko-KR" sz="1000" noProof="1">
                <a:latin typeface="Arial" panose="020B0600000101010101" pitchFamily="34" charset="-127"/>
                <a:ea typeface="Arial" panose="020B0600000101010101" pitchFamily="34" charset="-127"/>
                <a:sym typeface="Wingdings" pitchFamily="2" charset="2"/>
              </a:rPr>
              <a:t> Z shift &lt; 1.5 </a:t>
            </a: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Proper process control </a:t>
            </a:r>
            <a:r>
              <a:rPr lang="en-US" altLang="ko-KR" sz="1000" noProof="1">
                <a:latin typeface="Arial" panose="020B0600000101010101" pitchFamily="34" charset="-127"/>
                <a:ea typeface="Arial" panose="020B0600000101010101" pitchFamily="34" charset="-127"/>
              </a:rPr>
              <a:t>management</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sym typeface="Wingdings" pitchFamily="2" charset="2"/>
              </a:rPr>
              <a:t xml:space="preserve">  Z short term: 7.18 </a:t>
            </a:r>
            <a:r>
              <a:rPr lang="en-US" altLang="ko-KR" sz="1000" dirty="0">
                <a:latin typeface="Arial" panose="020B0600000101010101" pitchFamily="34" charset="-127"/>
                <a:ea typeface="Arial" panose="020B0600000101010101" pitchFamily="34" charset="-127"/>
                <a:cs typeface="Arial" panose="020B0604020202020204" pitchFamily="34" charset="0"/>
              </a:rPr>
              <a:t>≥ 4.5</a:t>
            </a:r>
            <a:r>
              <a:rPr lang="en-US" altLang="ko-KR" sz="1000" noProof="1">
                <a:latin typeface="Arial" panose="020B0600000101010101" pitchFamily="34" charset="-127"/>
                <a:ea typeface="Arial" panose="020B0600000101010101" pitchFamily="34" charset="-127"/>
                <a:sym typeface="Wingdings" pitchFamily="2" charset="2"/>
              </a:rPr>
              <a:t xml:space="preserve"> , Z long term: 6.89 </a:t>
            </a:r>
            <a:r>
              <a:rPr lang="en-US" altLang="ko-KR" sz="1000" dirty="0">
                <a:latin typeface="Arial" panose="020B0600000101010101" pitchFamily="34" charset="-127"/>
                <a:ea typeface="Arial" panose="020B0600000101010101" pitchFamily="34" charset="-127"/>
                <a:cs typeface="Arial" panose="020B0604020202020204" pitchFamily="34" charset="0"/>
              </a:rPr>
              <a:t>≥ 4.5</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Technology is OK</a:t>
            </a:r>
            <a:endParaRPr lang="en-US" altLang="ko-KR" sz="1200" noProof="1">
              <a:latin typeface="LG Smart_H Regular" panose="020B0600000101010101" pitchFamily="34" charset="-127"/>
              <a:ea typeface="LG Smart_H Regular" panose="020B0600000101010101" pitchFamily="34" charset="-127"/>
            </a:endParaRP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500000"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a:t>
              </a:r>
              <a:endParaRPr lang="en-US" altLang="ko-KR"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Technology</a:t>
              </a:r>
            </a:p>
          </p:txBody>
        </p:sp>
      </p:grpSp>
      <p:sp>
        <p:nvSpPr>
          <p:cNvPr id="54" name="제목 1">
            <a:extLst>
              <a:ext uri="{FF2B5EF4-FFF2-40B4-BE49-F238E27FC236}">
                <a16:creationId xmlns:a16="http://schemas.microsoft.com/office/drawing/2014/main" id="{C1E39F43-4212-4D85-A402-9DA4EED98FCF}"/>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 (Z value)</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55" name="TextBox 54">
            <a:extLst>
              <a:ext uri="{FF2B5EF4-FFF2-40B4-BE49-F238E27FC236}">
                <a16:creationId xmlns:a16="http://schemas.microsoft.com/office/drawing/2014/main" id="{98D96AB4-12A2-4255-A061-D35744AE3B8D}"/>
              </a:ext>
            </a:extLst>
          </p:cNvPr>
          <p:cNvSpPr txBox="1"/>
          <p:nvPr/>
        </p:nvSpPr>
        <p:spPr>
          <a:xfrm>
            <a:off x="29671" y="594277"/>
            <a:ext cx="26373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52" name="AutoShape 57">
            <a:extLst>
              <a:ext uri="{FF2B5EF4-FFF2-40B4-BE49-F238E27FC236}">
                <a16:creationId xmlns:a16="http://schemas.microsoft.com/office/drawing/2014/main" id="{508EC12D-F11B-4FFB-88DA-39948A1A7C3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53" name="AutoShape 56">
            <a:extLst>
              <a:ext uri="{FF2B5EF4-FFF2-40B4-BE49-F238E27FC236}">
                <a16:creationId xmlns:a16="http://schemas.microsoft.com/office/drawing/2014/main" id="{F95FD074-5AF2-4416-AFCF-7A5073F4B158}"/>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56" name="AutoShape 58">
            <a:extLst>
              <a:ext uri="{FF2B5EF4-FFF2-40B4-BE49-F238E27FC236}">
                <a16:creationId xmlns:a16="http://schemas.microsoft.com/office/drawing/2014/main" id="{F6CA6BFA-4510-4DAD-83FD-90AD22316A5B}"/>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57" name="Oval 56">
            <a:extLst>
              <a:ext uri="{FF2B5EF4-FFF2-40B4-BE49-F238E27FC236}">
                <a16:creationId xmlns:a16="http://schemas.microsoft.com/office/drawing/2014/main" id="{6E8DCBC3-A95D-4092-B08D-A31121EC3FF1}"/>
              </a:ext>
            </a:extLst>
          </p:cNvPr>
          <p:cNvSpPr/>
          <p:nvPr/>
        </p:nvSpPr>
        <p:spPr bwMode="auto">
          <a:xfrm>
            <a:off x="7997309" y="5292918"/>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Tree>
    <p:extLst>
      <p:ext uri="{BB962C8B-B14F-4D97-AF65-F5344CB8AC3E}">
        <p14:creationId xmlns:p14="http://schemas.microsoft.com/office/powerpoint/2010/main" val="3788297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6B8DA67-8CAF-45C2-B88E-D3D992BF994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4">
            <a:extLst>
              <a:ext uri="{FF2B5EF4-FFF2-40B4-BE49-F238E27FC236}">
                <a16:creationId xmlns:a16="http://schemas.microsoft.com/office/drawing/2014/main" id="{AAF66B0A-7BB0-4BF6-8480-6319118578F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25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7" name="제목 1">
            <a:extLst>
              <a:ext uri="{FF2B5EF4-FFF2-40B4-BE49-F238E27FC236}">
                <a16:creationId xmlns:a16="http://schemas.microsoft.com/office/drawing/2014/main" id="{3E2CD205-658C-4605-9774-0129D43DEF0F}"/>
              </a:ext>
            </a:extLst>
          </p:cNvPr>
          <p:cNvSpPr txBox="1">
            <a:spLocks/>
          </p:cNvSpPr>
          <p:nvPr/>
        </p:nvSpPr>
        <p:spPr>
          <a:xfrm>
            <a:off x="110170" y="71674"/>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4.6 Conclusion</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8" name="TextBox 37">
            <a:extLst>
              <a:ext uri="{FF2B5EF4-FFF2-40B4-BE49-F238E27FC236}">
                <a16:creationId xmlns:a16="http://schemas.microsoft.com/office/drawing/2014/main" id="{FCB45B73-A320-43DB-85F3-C32E2B96BB81}"/>
              </a:ext>
            </a:extLst>
          </p:cNvPr>
          <p:cNvSpPr txBox="1"/>
          <p:nvPr/>
        </p:nvSpPr>
        <p:spPr>
          <a:xfrm>
            <a:off x="94266" y="836712"/>
            <a:ext cx="9717468" cy="1532727"/>
          </a:xfrm>
          <a:prstGeom prst="rect">
            <a:avLst/>
          </a:prstGeom>
          <a:noFill/>
        </p:spPr>
        <p:txBody>
          <a:bodyPr wrap="square" rtlCol="0">
            <a:spAutoFit/>
          </a:bodyPr>
          <a:lstStyle/>
          <a:p>
            <a:pPr marL="171450" indent="-171450" algn="just" eaLnBrk="1" latinLnBrk="0">
              <a:spcBef>
                <a:spcPct val="20000"/>
              </a:spcBef>
              <a:buFontTx/>
              <a:buChar char="-"/>
            </a:pPr>
            <a:r>
              <a:rPr sz="1000" b="0">
                <a:latin typeface="Arial"/>
              </a:rPr>
              <a:t>After evaluation, we confirmed that the measurement system at the Luminance station had significant problems during testing. We proved that camera angle misalignment was the root cause of the Luminance NG defect.</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0">
                <a:latin typeface="Arial"/>
              </a:rPr>
              <a:t>We improved the measurement system by correcting the camera angle to 90.0°. We then verified stability and capability using Type 1 Study, Type 3 Gage R&amp;R, Xbar-R control chart, and Process Capability analysis at the Luminance station.</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1">
                <a:latin typeface="Arial"/>
              </a:rPr>
              <a:t xml:space="preserve">The results demonstrate that the measurement system now achieves high repeatability and no significant bias (Type 1: Cg/Cgk ≥ 1.33; Type 3: %Study Var &lt; 10% and %Contribution &lt; 1%), and the process measured at the Luminance station shows excellent capability (Cpk = 2.39 &gt; 2.0). Result vs goal: Luminance defect rate 226,624 ppm → 0 ppm (0 NG / 420 units after improvement; 95% upper confidence bound ≈ 7,100 ppm, still &gt; 96% below the baseline).</a:t>
            </a:r>
          </a:p>
        </p:txBody>
      </p:sp>
      <p:sp>
        <p:nvSpPr>
          <p:cNvPr id="11" name="AutoShape 57">
            <a:extLst>
              <a:ext uri="{FF2B5EF4-FFF2-40B4-BE49-F238E27FC236}">
                <a16:creationId xmlns:a16="http://schemas.microsoft.com/office/drawing/2014/main" id="{48FAC05E-800B-4E1A-9771-36BFD9957914}"/>
              </a:ext>
            </a:extLst>
          </p:cNvPr>
          <p:cNvSpPr>
            <a:spLocks noChangeArrowheads="1"/>
          </p:cNvSpPr>
          <p:nvPr/>
        </p:nvSpPr>
        <p:spPr bwMode="auto">
          <a:xfrm>
            <a:off x="7727634" y="17228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Analyze</a:t>
            </a:r>
          </a:p>
        </p:txBody>
      </p:sp>
      <p:sp>
        <p:nvSpPr>
          <p:cNvPr id="12" name="AutoShape 58">
            <a:extLst>
              <a:ext uri="{FF2B5EF4-FFF2-40B4-BE49-F238E27FC236}">
                <a16:creationId xmlns:a16="http://schemas.microsoft.com/office/drawing/2014/main" id="{39ACC0DB-2BA4-4515-9475-B37010C8E563}"/>
              </a:ext>
            </a:extLst>
          </p:cNvPr>
          <p:cNvSpPr>
            <a:spLocks noChangeArrowheads="1"/>
          </p:cNvSpPr>
          <p:nvPr/>
        </p:nvSpPr>
        <p:spPr bwMode="auto">
          <a:xfrm>
            <a:off x="7056121" y="17228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Measure </a:t>
            </a:r>
          </a:p>
        </p:txBody>
      </p:sp>
      <p:sp>
        <p:nvSpPr>
          <p:cNvPr id="13" name="AutoShape 56">
            <a:extLst>
              <a:ext uri="{FF2B5EF4-FFF2-40B4-BE49-F238E27FC236}">
                <a16:creationId xmlns:a16="http://schemas.microsoft.com/office/drawing/2014/main" id="{841C5A25-FB18-4642-856C-7D543A29395F}"/>
              </a:ext>
            </a:extLst>
          </p:cNvPr>
          <p:cNvSpPr>
            <a:spLocks noChangeArrowheads="1"/>
          </p:cNvSpPr>
          <p:nvPr/>
        </p:nvSpPr>
        <p:spPr bwMode="auto">
          <a:xfrm>
            <a:off x="8419784" y="4687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panose="020B0503020000020004" pitchFamily="50" charset="-127"/>
                <a:ea typeface="Arial" panose="020B0503020000020004" pitchFamily="50" charset="-127"/>
              </a:rPr>
              <a:t>Improve</a:t>
            </a:r>
          </a:p>
        </p:txBody>
      </p:sp>
    </p:spTree>
    <p:extLst>
      <p:ext uri="{BB962C8B-B14F-4D97-AF65-F5344CB8AC3E}">
        <p14:creationId xmlns:p14="http://schemas.microsoft.com/office/powerpoint/2010/main" val="4119998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5.3 Result of project</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838825"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Summary: Luminance defect rate of J1 Dual model before / after improvement</a:t>
            </a:r>
          </a:p>
        </p:txBody>
      </p:sp>
      <p:graphicFrame>
        <p:nvGraphicFramePr>
          <p:cNvPr id="3" name="Table 2">
            <a:extLst>
              <a:ext uri="{FF2B5EF4-FFF2-40B4-BE49-F238E27FC236}">
                <a16:creationId xmlns:a16="http://schemas.microsoft.com/office/drawing/2014/main" id="{8BD0EBF9-1057-4CB9-9589-B88CACBE8668}"/>
              </a:ext>
            </a:extLst>
          </p:cNvPr>
          <p:cNvGraphicFramePr>
            <a:graphicFrameLocks noGrp="1"/>
          </p:cNvGraphicFramePr>
          <p:nvPr>
            <p:extLst>
              <p:ext uri="{D42A27DB-BD31-4B8C-83A1-F6EECF244321}">
                <p14:modId xmlns:p14="http://schemas.microsoft.com/office/powerpoint/2010/main" val="3828555247"/>
              </p:ext>
            </p:extLst>
          </p:nvPr>
        </p:nvGraphicFramePr>
        <p:xfrm>
          <a:off x="1219199" y="5271354"/>
          <a:ext cx="6629401" cy="952500"/>
        </p:xfrm>
        <a:graphic>
          <a:graphicData uri="http://schemas.openxmlformats.org/drawingml/2006/table">
            <a:tbl>
              <a:tblPr/>
              <a:tblGrid>
                <a:gridCol w="1132469">
                  <a:extLst>
                    <a:ext uri="{9D8B030D-6E8A-4147-A177-3AD203B41FA5}">
                      <a16:colId xmlns:a16="http://schemas.microsoft.com/office/drawing/2014/main" val="2004553203"/>
                    </a:ext>
                  </a:extLst>
                </a:gridCol>
                <a:gridCol w="782549">
                  <a:extLst>
                    <a:ext uri="{9D8B030D-6E8A-4147-A177-3AD203B41FA5}">
                      <a16:colId xmlns:a16="http://schemas.microsoft.com/office/drawing/2014/main" val="4232704115"/>
                    </a:ext>
                  </a:extLst>
                </a:gridCol>
                <a:gridCol w="801636">
                  <a:extLst>
                    <a:ext uri="{9D8B030D-6E8A-4147-A177-3AD203B41FA5}">
                      <a16:colId xmlns:a16="http://schemas.microsoft.com/office/drawing/2014/main" val="654927867"/>
                    </a:ext>
                  </a:extLst>
                </a:gridCol>
                <a:gridCol w="801636">
                  <a:extLst>
                    <a:ext uri="{9D8B030D-6E8A-4147-A177-3AD203B41FA5}">
                      <a16:colId xmlns:a16="http://schemas.microsoft.com/office/drawing/2014/main" val="3292068108"/>
                    </a:ext>
                  </a:extLst>
                </a:gridCol>
                <a:gridCol w="801636">
                  <a:extLst>
                    <a:ext uri="{9D8B030D-6E8A-4147-A177-3AD203B41FA5}">
                      <a16:colId xmlns:a16="http://schemas.microsoft.com/office/drawing/2014/main" val="741631198"/>
                    </a:ext>
                  </a:extLst>
                </a:gridCol>
                <a:gridCol w="763463">
                  <a:extLst>
                    <a:ext uri="{9D8B030D-6E8A-4147-A177-3AD203B41FA5}">
                      <a16:colId xmlns:a16="http://schemas.microsoft.com/office/drawing/2014/main" val="3339929106"/>
                    </a:ext>
                  </a:extLst>
                </a:gridCol>
                <a:gridCol w="782549">
                  <a:extLst>
                    <a:ext uri="{9D8B030D-6E8A-4147-A177-3AD203B41FA5}">
                      <a16:colId xmlns:a16="http://schemas.microsoft.com/office/drawing/2014/main" val="648464248"/>
                    </a:ext>
                  </a:extLst>
                </a:gridCol>
                <a:gridCol w="763463">
                  <a:extLst>
                    <a:ext uri="{9D8B030D-6E8A-4147-A177-3AD203B41FA5}">
                      <a16:colId xmlns:a16="http://schemas.microsoft.com/office/drawing/2014/main" val="4249366675"/>
                    </a:ext>
                  </a:extLst>
                </a:gridCol>
              </a:tblGrid>
              <a:tr h="190500">
                <a:tc>
                  <a:txBody>
                    <a:bodyPr/>
                    <a:lstStyle/>
                    <a:p>
                      <a:pPr algn="l" eaLnBrk="1" fontAlgn="b" latinLnBrk="0"/>
                      <a:endParaRPr lang="en-US" sz="11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4">
                  <a:txBody>
                    <a:bodyPr/>
                    <a:lstStyle/>
                    <a:p>
                      <a:pPr algn="ctr" eaLnBrk="1" fontAlgn="b" latinLnBrk="0"/>
                      <a:r>
                        <a:rPr lang="en-US" sz="1000" b="1" i="0" u="none" strike="noStrike">
                          <a:solidFill>
                            <a:srgbClr val="000000"/>
                          </a:solidFill>
                          <a:effectLst/>
                          <a:latin typeface="Arial" panose="020F0502020204030204" pitchFamily="34" charset="0"/>
                          <a:ea typeface="Arial"/>
                        </a:rPr>
                        <a:t>Before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tc hMerge="1">
                  <a:txBody>
                    <a:bodyPr/>
                    <a:lstStyle/>
                    <a:p>
                      <a:pPr eaLnBrk="1" latinLnBrk="0"/>
                      <a:endParaRPr lang="en-US"/>
                    </a:p>
                  </a:txBody>
                  <a:tcPr/>
                </a:tc>
                <a:tc gridSpan="3">
                  <a:txBody>
                    <a:bodyPr/>
                    <a:lstStyle/>
                    <a:p>
                      <a:pPr algn="ctr" eaLnBrk="1" fontAlgn="b" latinLnBrk="0"/>
                      <a:r>
                        <a:rPr lang="en-US" sz="1000" b="1" i="0" u="none" strike="noStrike" dirty="0">
                          <a:solidFill>
                            <a:srgbClr val="000000"/>
                          </a:solidFill>
                          <a:effectLst/>
                          <a:latin typeface="Arial" panose="020F0502020204030204" pitchFamily="34" charset="0"/>
                          <a:ea typeface="Arial"/>
                        </a:rPr>
                        <a:t>After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extLst>
                  <a:ext uri="{0D108BD9-81ED-4DB2-BD59-A6C34878D82A}">
                    <a16:rowId xmlns:a16="http://schemas.microsoft.com/office/drawing/2014/main" val="2478485715"/>
                  </a:ext>
                </a:extLst>
              </a:tr>
              <a:tr h="190500">
                <a:tc>
                  <a:txBody>
                    <a:bodyPr/>
                    <a:lstStyle/>
                    <a:p>
                      <a:pPr eaLnBrk="1" latinLnBrk="0"/>
                      <a:r>
                        <a:rPr sz="1000">
                          <a:latin typeface="Arial"/>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16.Nov.2025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2.Jan.2026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23.Feb.2026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1.Mar.2026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15.Jul.2026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21.Aug.2026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20.Sep.2026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2667689879"/>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Total 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299594"/>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Prod Q'ty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353430"/>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Defect rate (ppm)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65000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66666.67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383333.33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422535.21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4561"/>
                  </a:ext>
                </a:extLst>
              </a:tr>
            </a:tbl>
          </a:graphicData>
        </a:graphic>
      </p:graphicFrame>
      <p:graphicFrame>
        <p:nvGraphicFramePr>
          <p:cNvPr id="14" name="Chart 13">
            <a:extLst>
              <a:ext uri="{FF2B5EF4-FFF2-40B4-BE49-F238E27FC236}">
                <a16:creationId xmlns:a16="http://schemas.microsoft.com/office/drawing/2014/main" id="{50EEBF16-A037-4D15-A91C-137FDDA65F87}"/>
              </a:ext>
            </a:extLst>
          </p:cNvPr>
          <p:cNvGraphicFramePr>
            <a:graphicFrameLocks/>
          </p:cNvGraphicFramePr>
          <p:nvPr>
            <p:extLst>
              <p:ext uri="{D42A27DB-BD31-4B8C-83A1-F6EECF244321}">
                <p14:modId xmlns:p14="http://schemas.microsoft.com/office/powerpoint/2010/main" val="60871288"/>
              </p:ext>
            </p:extLst>
          </p:nvPr>
        </p:nvGraphicFramePr>
        <p:xfrm>
          <a:off x="1847713" y="1228913"/>
          <a:ext cx="5838825" cy="3705225"/>
        </p:xfrm>
        <a:graphic>
          <a:graphicData uri="http://schemas.openxmlformats.org/drawingml/2006/chart">
            <c:chart xmlns:c="http://schemas.openxmlformats.org/drawingml/2006/chart" xmlns:r="http://schemas.openxmlformats.org/officeDocument/2006/relationships" r:id="rId2"/>
          </a:graphicData>
        </a:graphic>
      </p:graphicFrame>
      <p:sp>
        <p:nvSpPr>
          <p:cNvPr id="24" name="Added text 24"/>
          <p:cNvSpPr txBox="1"/>
          <p:nvPr/>
        </p:nvSpPr>
        <p:spPr>
          <a:xfrm>
            <a:off x="1219200" y="6305550"/>
            <a:ext cx="6629400" cy="285750"/>
          </a:xfrm>
          <a:prstGeom prst="rect">
            <a:avLst/>
          </a:prstGeom>
          <a:noFill/>
        </p:spPr>
        <p:txBody>
          <a:bodyPr wrap="square" lIns="0" tIns="0" rIns="0" bIns="0" rtlCol="0">
            <a:noAutofit/>
          </a:bodyPr>
          <a:lstStyle/>
          <a:p>
            <a:r>
              <a:rPr lang="en-US" sz="900" b="0" dirty="0">
                <a:solidFill>
                  <a:srgbClr val="000000"/>
                </a:solidFill>
                <a:latin typeface="Arial"/>
                <a:cs typeface="Arial"/>
              </a:rPr>
              <a:t>After improvement: 0 NG / 420 sets → 95% upper confidence bound ≈ 7,100 ppm (3/420), still &gt; 96% below the 226,624 ppm baseline. Fisher's exact test, 143/631 before vs 0/420 after: p &lt; 0.001.</a:t>
            </a:r>
          </a:p>
        </p:txBody>
      </p:sp>
    </p:spTree>
    <p:extLst>
      <p:ext uri="{BB962C8B-B14F-4D97-AF65-F5344CB8AC3E}">
        <p14:creationId xmlns:p14="http://schemas.microsoft.com/office/powerpoint/2010/main" val="3223371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20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0" name="AutoShape 58"/>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1" name="AutoShape 59"/>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6"/>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23" name="AutoShape 55"/>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47625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4. Improvement (long term)</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4.3 Add Master sample check sheet to control the camera angle</a:t>
            </a:r>
          </a:p>
        </p:txBody>
      </p:sp>
      <p:sp>
        <p:nvSpPr>
          <p:cNvPr id="15" name="TextBox 14">
            <a:extLst>
              <a:ext uri="{FF2B5EF4-FFF2-40B4-BE49-F238E27FC236}">
                <a16:creationId xmlns:a16="http://schemas.microsoft.com/office/drawing/2014/main" id="{80938115-D6E4-4142-920C-CD47680F7AF5}"/>
              </a:ext>
            </a:extLst>
          </p:cNvPr>
          <p:cNvSpPr txBox="1"/>
          <p:nvPr/>
        </p:nvSpPr>
        <p:spPr>
          <a:xfrm>
            <a:off x="34159" y="5782179"/>
            <a:ext cx="8382000" cy="825320"/>
          </a:xfrm>
          <a:prstGeom prst="rect">
            <a:avLst/>
          </a:prstGeom>
          <a:noFill/>
        </p:spPr>
        <p:txBody>
          <a:bodyPr wrap="square" rtlCol="0">
            <a:noAutofit/>
          </a:bodyPr>
          <a:lstStyle/>
          <a:p>
            <a:pPr algn="just" eaLnBrk="1" latinLnBrk="0">
              <a:spcBef>
                <a:spcPct val="20000"/>
              </a:spcBef>
            </a:pPr>
            <a:r>
              <a:rPr sz="1000" b="0">
                <a:latin typeface="Arial"/>
              </a:rPr>
              <a:t>A daily check sheet is established to monitor equipment status using a Master sample. Because the J1 Dual model features dual displays requiring camera movement, camera angle status must be verified during pre-production setup to prevent angle deviation.</a:t>
            </a:r>
          </a:p>
          <a:p>
            <a:pPr algn="just" eaLnBrk="1" latinLnBrk="0">
              <a:spcBef>
                <a:spcPct val="20000"/>
              </a:spcBef>
            </a:pPr>
            <a:endParaRPr sz="1100" b="0">
              <a:latin typeface="Arial"/>
            </a:endParaRPr>
          </a:p>
          <a:p>
            <a:pPr algn="just" eaLnBrk="1" latinLnBrk="0">
              <a:spcBef>
                <a:spcPct val="20000"/>
              </a:spcBef>
            </a:pPr>
            <a:endParaRPr sz="1100" b="0">
              <a:latin typeface="Arial"/>
            </a:endParaRPr>
          </a:p>
        </p:txBody>
      </p:sp>
      <p:sp>
        <p:nvSpPr>
          <p:cNvPr id="18" name="TextBox 17">
            <a:extLst>
              <a:ext uri="{FF2B5EF4-FFF2-40B4-BE49-F238E27FC236}">
                <a16:creationId xmlns:a16="http://schemas.microsoft.com/office/drawing/2014/main" id="{9E3F5A17-8E19-4E92-AFD5-3A6969AF5F7F}"/>
              </a:ext>
            </a:extLst>
          </p:cNvPr>
          <p:cNvSpPr txBox="1"/>
          <p:nvPr/>
        </p:nvSpPr>
        <p:spPr>
          <a:xfrm>
            <a:off x="123613" y="982704"/>
            <a:ext cx="9525000" cy="538609"/>
          </a:xfrm>
          <a:prstGeom prst="rect">
            <a:avLst/>
          </a:prstGeom>
          <a:noFill/>
        </p:spPr>
        <p:txBody>
          <a:bodyPr wrap="square" rtlCol="0">
            <a:spAutoFit/>
          </a:bodyPr>
          <a:lstStyle/>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Before: no daily check of the camera angle, so an angle drift is not detected until NG sets appear.</a:t>
            </a:r>
          </a:p>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After: a daily check sheet with the Master sample (reference 910 Cd/m²) at shift start to verify the camera angle.</a:t>
            </a:r>
          </a:p>
          <a:p>
            <a:pPr eaLnBrk="1" latinLnBrk="0">
              <a:spcBef>
                <a:spcPts val="600"/>
              </a:spcBef>
            </a:pPr>
            <a:r>
              <a:rPr lang="en-US" sz="1000" dirty="0">
                <a:latin typeface="Arial" panose="020B0600000101010101" pitchFamily="34" charset="-127"/>
                <a:ea typeface="Arial" panose="020B0600000101010101" pitchFamily="34" charset="-127"/>
              </a:rPr>
              <a:t> </a:t>
            </a:r>
          </a:p>
        </p:txBody>
      </p:sp>
      <p:graphicFrame>
        <p:nvGraphicFramePr>
          <p:cNvPr id="4" name="Object 3">
            <a:extLst>
              <a:ext uri="{FF2B5EF4-FFF2-40B4-BE49-F238E27FC236}">
                <a16:creationId xmlns:a16="http://schemas.microsoft.com/office/drawing/2014/main" id="{F707B042-44B2-4C31-B6D1-DF9E136E9F5F}"/>
              </a:ext>
            </a:extLst>
          </p:cNvPr>
          <p:cNvGraphicFramePr>
            <a:graphicFrameLocks noChangeAspect="1"/>
          </p:cNvGraphicFramePr>
          <p:nvPr>
            <p:extLst>
              <p:ext uri="{D42A27DB-BD31-4B8C-83A1-F6EECF244321}">
                <p14:modId xmlns:p14="http://schemas.microsoft.com/office/powerpoint/2010/main" val="1464855402"/>
              </p:ext>
            </p:extLst>
          </p:nvPr>
        </p:nvGraphicFramePr>
        <p:xfrm>
          <a:off x="8542187" y="5277591"/>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792" progId="Excel.Sheet.12">
                  <p:embed/>
                </p:oleObj>
              </mc:Choice>
              <mc:Fallback>
                <p:oleObj name="Worksheet" showAsIcon="1" r:id="rId2" imgW="914400" imgH="771792" progId="Excel.Sheet.12">
                  <p:embed/>
                  <p:pic>
                    <p:nvPicPr>
                      <p:cNvPr id="0" name=""/>
                      <p:cNvPicPr/>
                      <p:nvPr/>
                    </p:nvPicPr>
                    <p:blipFill>
                      <a:blip r:embed="rId3"/>
                      <a:stretch>
                        <a:fillRect/>
                      </a:stretch>
                    </p:blipFill>
                    <p:spPr>
                      <a:xfrm>
                        <a:off x="8542187" y="5277591"/>
                        <a:ext cx="914400" cy="771525"/>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3A1F7D6-78B6-4903-8B08-17F7BF22736E}"/>
              </a:ext>
            </a:extLst>
          </p:cNvPr>
          <p:cNvPicPr>
            <a:picLocks noChangeAspect="1"/>
          </p:cNvPicPr>
          <p:nvPr/>
        </p:nvPicPr>
        <p:blipFill>
          <a:blip r:embed="rId4"/>
          <a:stretch>
            <a:fillRect/>
          </a:stretch>
        </p:blipFill>
        <p:spPr>
          <a:xfrm>
            <a:off x="256441" y="1482932"/>
            <a:ext cx="4477700" cy="3354765"/>
          </a:xfrm>
          <a:prstGeom prst="rect">
            <a:avLst/>
          </a:prstGeom>
        </p:spPr>
      </p:pic>
      <p:sp>
        <p:nvSpPr>
          <p:cNvPr id="10" name="TextBox 9">
            <a:extLst>
              <a:ext uri="{FF2B5EF4-FFF2-40B4-BE49-F238E27FC236}">
                <a16:creationId xmlns:a16="http://schemas.microsoft.com/office/drawing/2014/main" id="{1FCA5DC4-72B4-4AE7-850D-6E6718474DCD}"/>
              </a:ext>
            </a:extLst>
          </p:cNvPr>
          <p:cNvSpPr txBox="1"/>
          <p:nvPr/>
        </p:nvSpPr>
        <p:spPr>
          <a:xfrm>
            <a:off x="1004337" y="4922426"/>
            <a:ext cx="2981907"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Actual DID check sheet in production line</a:t>
            </a:r>
          </a:p>
        </p:txBody>
      </p:sp>
      <p:pic>
        <p:nvPicPr>
          <p:cNvPr id="11" name="Picture 10">
            <a:extLst>
              <a:ext uri="{FF2B5EF4-FFF2-40B4-BE49-F238E27FC236}">
                <a16:creationId xmlns:a16="http://schemas.microsoft.com/office/drawing/2014/main" id="{E3F08EC4-155B-456F-B519-D2C962C8D150}"/>
              </a:ext>
            </a:extLst>
          </p:cNvPr>
          <p:cNvPicPr>
            <a:picLocks noChangeAspect="1"/>
          </p:cNvPicPr>
          <p:nvPr/>
        </p:nvPicPr>
        <p:blipFill rotWithShape="1">
          <a:blip r:embed="rId5"/>
          <a:srcRect b="5200"/>
          <a:stretch/>
        </p:blipFill>
        <p:spPr>
          <a:xfrm>
            <a:off x="4861689" y="1482932"/>
            <a:ext cx="4848959" cy="2992582"/>
          </a:xfrm>
          <a:prstGeom prst="rect">
            <a:avLst/>
          </a:prstGeom>
        </p:spPr>
      </p:pic>
      <p:sp>
        <p:nvSpPr>
          <p:cNvPr id="24" name="TextBox 23">
            <a:extLst>
              <a:ext uri="{FF2B5EF4-FFF2-40B4-BE49-F238E27FC236}">
                <a16:creationId xmlns:a16="http://schemas.microsoft.com/office/drawing/2014/main" id="{51591882-9305-4E72-8150-888EA1F3C22B}"/>
              </a:ext>
            </a:extLst>
          </p:cNvPr>
          <p:cNvSpPr txBox="1"/>
          <p:nvPr/>
        </p:nvSpPr>
        <p:spPr>
          <a:xfrm>
            <a:off x="6460326" y="4944935"/>
            <a:ext cx="1790875"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DID check sheet format</a:t>
            </a:r>
          </a:p>
        </p:txBody>
      </p:sp>
    </p:spTree>
    <p:extLst>
      <p:ext uri="{BB962C8B-B14F-4D97-AF65-F5344CB8AC3E}">
        <p14:creationId xmlns:p14="http://schemas.microsoft.com/office/powerpoint/2010/main" val="3637931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27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5.2 Future plan (Management plan)</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263491"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Management plan</a:t>
            </a:r>
          </a:p>
        </p:txBody>
      </p:sp>
      <p:sp>
        <p:nvSpPr>
          <p:cNvPr id="5" name="Rectangle 4">
            <a:extLst>
              <a:ext uri="{FF2B5EF4-FFF2-40B4-BE49-F238E27FC236}">
                <a16:creationId xmlns:a16="http://schemas.microsoft.com/office/drawing/2014/main" id="{F5FE59E6-9BB3-42ED-8FCB-1F488C986E37}"/>
              </a:ext>
            </a:extLst>
          </p:cNvPr>
          <p:cNvSpPr/>
          <p:nvPr/>
        </p:nvSpPr>
        <p:spPr>
          <a:xfrm>
            <a:off x="102040" y="1124809"/>
            <a:ext cx="9380293" cy="1384995"/>
          </a:xfrm>
          <a:prstGeom prst="rect">
            <a:avLst/>
          </a:prstGeom>
        </p:spPr>
        <p:txBody>
          <a:bodyPr wrap="square">
            <a:spAutoFit/>
          </a:bodyPr>
          <a:lstStyle/>
          <a:p>
            <a:pPr eaLnBrk="1" latinLnBrk="0"/>
            <a:r>
              <a:rPr sz="1000" b="0">
                <a:latin typeface="Arial"/>
              </a:rPr>
              <a:t>Master Sample Management Procedure:</a:t>
            </a:r>
            <a:br/>
            <a:r>
              <a:rPr sz="1000" b="0">
                <a:latin typeface="Arial"/>
              </a:rPr>
              <a:t xml:space="preserve">• Inspection Timing: Daily at shift start (08:00~10:00 for day shift, 20:00~22:00 for night shift).</a:t>
            </a:r>
            <a:br/>
            <a:r>
              <a:rPr sz="1000" b="0">
                <a:latin typeface="Arial"/>
              </a:rPr>
              <a:t>• Responsible: PM Technician &amp; Line Leader.</a:t>
            </a:r>
            <a:br/>
            <a:r>
              <a:rPr sz="1000" b="0">
                <a:latin typeface="Arial"/>
              </a:rPr>
              <a:t>• Procedure:</a:t>
            </a:r>
            <a:br/>
            <a:r>
              <a:rPr sz="1000" b="0">
                <a:latin typeface="Arial"/>
              </a:rPr>
              <a:t xml:space="preserve">  1. Test the Master Sample (reference 910 Cd/m²) at the Luminance station; the reading must be inside the control limits 910 ± 48 Cd/m² (±3s of the Type 1 study after improvement, s = 15.96) and inside spec (800~2000 Cd/m²).</a:t>
            </a:r>
            <a:br/>
            <a:r>
              <a:rPr sz="1000" b="0">
                <a:latin typeface="Arial"/>
              </a:rPr>
              <a:t xml:space="preserve">  2. If a reading is out of the limits, stop judging OK/NG and report immediately to Line Leader; PE &amp; PM teams will inspect the camera angle (target 90.0°) and confirm with the Master Sample again before restarting.</a:t>
            </a:r>
            <a:br/>
            <a:r>
              <a:rPr sz="1000" b="0">
                <a:latin typeface="Arial"/>
              </a:rPr>
              <a:t>  3. GMES version checking (SW/HW) is skipped during Master Sample testing to focus strictly on hardware measurement stability.</a:t>
            </a:r>
          </a:p>
          <a:p>
            <a:pPr eaLnBrk="1" latinLnBrk="0"/>
            <a:endParaRPr lang="en-US" sz="1200" dirty="0">
              <a:latin typeface="Arial" panose="020B0604020202020204" pitchFamily="34" charset="0"/>
              <a:cs typeface="Arial" panose="020B0604020202020204" pitchFamily="34" charset="0"/>
            </a:endParaRPr>
          </a:p>
        </p:txBody>
      </p:sp>
      <p:sp>
        <p:nvSpPr>
          <p:cNvPr id="24" name="Added text 24"/>
          <p:cNvSpPr txBox="1"/>
          <p:nvPr/>
        </p:nvSpPr>
        <p:spPr>
          <a:xfrm>
            <a:off x="123825" y="2857500"/>
            <a:ext cx="9525000" cy="1238250"/>
          </a:xfrm>
          <a:prstGeom prst="rect">
            <a:avLst/>
          </a:prstGeom>
          <a:noFill/>
        </p:spPr>
        <p:txBody>
          <a:bodyPr wrap="square" rtlCol="0">
            <a:noAutofit/>
          </a:bodyPr>
          <a:lstStyle/>
          <a:p>
            <a:r>
              <a:rPr lang="en-US" sz="1000" b="0" dirty="0">
                <a:solidFill>
                  <a:srgbClr val="000000"/>
                </a:solidFill>
                <a:latin typeface="Arial"/>
                <a:cs typeface="Arial"/>
              </a:rPr>
              <a:t>Standardization &amp; horizontal deployment (planned):</a:t>
            </a:r>
          </a:p>
          <a:p>
            <a:r>
              <a:rPr lang="en-US" sz="1000" b="0" dirty="0">
                <a:solidFill>
                  <a:srgbClr val="000000"/>
                </a:solidFill>
                <a:latin typeface="Arial"/>
                <a:cs typeface="Arial"/>
              </a:rPr>
              <a:t>• Add the camera-angle check (target 90.0°) to the pre-production setup standard (SOP) of the Luminance station.</a:t>
            </a:r>
          </a:p>
          <a:p>
            <a:r>
              <a:rPr lang="en-US" sz="1000" b="0" dirty="0">
                <a:solidFill>
                  <a:srgbClr val="000000"/>
                </a:solidFill>
                <a:latin typeface="Arial"/>
                <a:cs typeface="Arial"/>
              </a:rPr>
              <a:t>• Apply the same Master sample check to the other dual-display models measured with the CS2000 (E3PA Dual, G3 Dual, J1 Dual PPR); the RHD Privacy models also need the 13% luminance compensation (slide 19).</a:t>
            </a:r>
          </a:p>
          <a:p>
            <a:r>
              <a:rPr lang="en-US" sz="1000" b="0" dirty="0">
                <a:solidFill>
                  <a:srgbClr val="000000"/>
                </a:solidFill>
                <a:latin typeface="Arial"/>
                <a:cs typeface="Arial"/>
              </a:rPr>
              <a:t>• Keep monitoring with the Xbar-R chart; if a point goes out of control, apply the reaction plan above (step 2).</a:t>
            </a:r>
          </a:p>
        </p:txBody>
      </p:sp>
    </p:spTree>
    <p:extLst>
      <p:ext uri="{BB962C8B-B14F-4D97-AF65-F5344CB8AC3E}">
        <p14:creationId xmlns:p14="http://schemas.microsoft.com/office/powerpoint/2010/main" val="1379288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4762500"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1.2 Pareto</a:t>
            </a:r>
            <a:endParaRPr lang="ko-KR" altLang="en-US" sz="1800" b="1" kern="0" dirty="0">
              <a:latin typeface="Arial Narrow" panose="020B0606020202030204" pitchFamily="34" charset="0"/>
              <a:ea typeface="LG스마트체 Regular" panose="020B0600000101010101" pitchFamily="50" charset="-127"/>
              <a:cs typeface="+mj-cs"/>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229" name="Pareto chart"/>
          <p:cNvGraphicFramePr>
            <a:graphicFrameLocks/>
          </p:cNvGraphicFramePr>
          <p:nvPr/>
        </p:nvGraphicFramePr>
        <p:xfrm>
          <a:off x="190500" y="666750"/>
          <a:ext cx="6096000" cy="4286250"/>
        </p:xfrm>
        <a:graphic>
          <a:graphicData uri="http://schemas.openxmlformats.org/drawingml/2006/chart">
            <c:chart xmlns:c="http://schemas.openxmlformats.org/drawingml/2006/chart" r:id="rId6"/>
          </a:graphicData>
        </a:graphic>
      </p:graphicFrame>
      <p:sp>
        <p:nvSpPr>
          <p:cNvPr id="230" name="Added text 230"/>
          <p:cNvSpPr txBox="1"/>
          <p:nvPr/>
        </p:nvSpPr>
        <p:spPr>
          <a:xfrm>
            <a:off x="6515100" y="800100"/>
            <a:ext cx="3238500" cy="4095750"/>
          </a:xfrm>
          <a:prstGeom prst="rect">
            <a:avLst/>
          </a:prstGeom>
          <a:noFill/>
        </p:spPr>
        <p:txBody>
          <a:bodyPr wrap="square" lIns="0" tIns="0" rIns="0" bIns="0" rtlCol="0">
            <a:noAutofit/>
          </a:bodyPr>
          <a:lstStyle/>
          <a:p>
            <a:pPr marL="0" indent="0">
              <a:spcAft>
                <a:spcPts val="400"/>
              </a:spcAft>
              <a:buNone/>
            </a:pPr>
            <a:r>
              <a:rPr lang="en-US" sz="1200" b="1" dirty="0">
                <a:solidFill>
                  <a:srgbClr val="000000"/>
                </a:solidFill>
                <a:latin typeface="Arial"/>
                <a:cs typeface="Arial"/>
              </a:rPr>
              <a:t>80:20 rule</a:t>
            </a:r>
          </a:p>
          <a:p>
            <a:pPr marL="171450" indent="-171450">
              <a:spcAft>
                <a:spcPts val="900"/>
              </a:spcAft>
              <a:buFont typeface="Arial"/>
              <a:buChar char="•"/>
            </a:pPr>
            <a:r>
              <a:rPr lang="en-US" sz="1050" b="0" dirty="0">
                <a:solidFill>
                  <a:srgbClr val="000000"/>
                </a:solidFill>
                <a:latin typeface="Arial"/>
                <a:cs typeface="Arial"/>
              </a:rPr>
              <a:t>About 80% of the defects come from about 20% of the items (the vital few). Solve the vital few first.</a:t>
            </a:r>
          </a:p>
          <a:p>
            <a:pPr marL="0" indent="0">
              <a:spcAft>
                <a:spcPts val="400"/>
              </a:spcAft>
              <a:buNone/>
            </a:pPr>
            <a:r>
              <a:rPr lang="en-US" sz="1200" b="1" dirty="0">
                <a:solidFill>
                  <a:srgbClr val="000000"/>
                </a:solidFill>
                <a:latin typeface="Arial"/>
                <a:cs typeface="Arial"/>
              </a:rPr>
              <a:t>Result</a:t>
            </a:r>
          </a:p>
          <a:p>
            <a:pPr marL="171450" indent="-171450">
              <a:spcAft>
                <a:spcPts val="500"/>
              </a:spcAft>
              <a:buFont typeface="Arial"/>
              <a:buChar char="•"/>
            </a:pPr>
            <a:r>
              <a:rPr lang="en-US" sz="1050" b="1" dirty="0">
                <a:solidFill>
                  <a:srgbClr val="C00000"/>
                </a:solidFill>
                <a:latin typeface="Arial"/>
                <a:cs typeface="Arial"/>
              </a:rPr>
              <a:t>Luminance value</a:t>
            </a:r>
            <a:r>
              <a:rPr lang="en-US" sz="1050" b="0" dirty="0">
                <a:solidFill>
                  <a:srgbClr val="000000"/>
                </a:solidFill>
                <a:latin typeface="Arial"/>
                <a:cs typeface="Arial"/>
              </a:rPr>
              <a:t> = 226,624 ppm = </a:t>
            </a:r>
            <a:r>
              <a:rPr lang="en-US" sz="1050" b="1" dirty="0">
                <a:solidFill>
                  <a:srgbClr val="C00000"/>
                </a:solidFill>
                <a:latin typeface="Arial"/>
                <a:cs typeface="Arial"/>
              </a:rPr>
              <a:t>87.2%</a:t>
            </a:r>
            <a:r>
              <a:rPr lang="en-US" sz="1050" b="0" dirty="0">
                <a:solidFill>
                  <a:srgbClr val="000000"/>
                </a:solidFill>
                <a:latin typeface="Arial"/>
                <a:cs typeface="Arial"/>
              </a:rPr>
              <a:t> of all defects (&gt; 80%): it is the vital few.</a:t>
            </a:r>
          </a:p>
          <a:p>
            <a:pPr marL="171450" indent="-171450">
              <a:spcAft>
                <a:spcPts val="500"/>
              </a:spcAft>
              <a:buFont typeface="Arial"/>
              <a:buChar char="•"/>
            </a:pPr>
            <a:r>
              <a:rPr lang="en-US" sz="1050" b="0" dirty="0">
                <a:solidFill>
                  <a:srgbClr val="000000"/>
                </a:solidFill>
                <a:latin typeface="Arial"/>
                <a:cs typeface="Arial"/>
              </a:rPr>
              <a:t>The other 4 items together are only 12.8% (Hardware 6.0%, Software 3.5%, Contrast value 2.3%, Haptic/Touch 1.0%).</a:t>
            </a:r>
          </a:p>
          <a:p>
            <a:pPr marL="171450" indent="-171450">
              <a:spcAft>
                <a:spcPts val="0"/>
              </a:spcAft>
              <a:buFont typeface="Arial"/>
              <a:buChar char="•"/>
            </a:pPr>
            <a:r>
              <a:rPr lang="en-US" sz="1050" b="0" dirty="0">
                <a:solidFill>
                  <a:srgbClr val="000000"/>
                </a:solidFill>
                <a:latin typeface="Arial"/>
                <a:cs typeface="Arial"/>
              </a:rPr>
              <a:t>So Luminance value is selected as Project Y for this 6 Sigma assignment.</a:t>
            </a:r>
          </a:p>
        </p:txBody>
      </p:sp>
      <p:sp>
        <p:nvSpPr>
          <p:cNvPr id="231" name="Added text 231"/>
          <p:cNvSpPr txBox="1"/>
          <p:nvPr/>
        </p:nvSpPr>
        <p:spPr>
          <a:xfrm>
            <a:off x="190500" y="5143500"/>
            <a:ext cx="9525000" cy="1238250"/>
          </a:xfrm>
          <a:prstGeom prst="rect">
            <a:avLst/>
          </a:prstGeom>
          <a:noFill/>
        </p:spPr>
        <p:txBody>
          <a:bodyPr wrap="square" lIns="0" tIns="0" rIns="0" bIns="0" rtlCol="0">
            <a:noAutofit/>
          </a:bodyPr>
          <a:lstStyle/>
          <a:p>
            <a:pPr marL="0" indent="0">
              <a:spcAft>
                <a:spcPts val="500"/>
              </a:spcAft>
              <a:buNone/>
            </a:pPr>
            <a:r>
              <a:rPr lang="en-US" sz="1050" b="1" dirty="0">
                <a:solidFill>
                  <a:srgbClr val="000000"/>
                </a:solidFill>
                <a:latin typeface="Arial"/>
                <a:cs typeface="Arial"/>
              </a:rPr>
              <a:t>Data: </a:t>
            </a:r>
            <a:r>
              <a:rPr lang="en-US" sz="1050" b="0" dirty="0">
                <a:solidFill>
                  <a:srgbClr val="000000"/>
                </a:solidFill>
                <a:latin typeface="Arial"/>
                <a:cs typeface="Arial"/>
              </a:rPr>
              <a:t>164 NG / 631 EA = 260,000 ppm (Nov.2025~Mar.2026); Luminance value = 143 NG = 226,624 ppm.</a:t>
            </a:r>
          </a:p>
          <a:p>
            <a:pPr marL="0" indent="0">
              <a:spcAft>
                <a:spcPts val="500"/>
              </a:spcAft>
              <a:buNone/>
            </a:pPr>
            <a:r>
              <a:rPr lang="en-US" sz="1050" b="1" dirty="0">
                <a:solidFill>
                  <a:srgbClr val="000000"/>
                </a:solidFill>
                <a:latin typeface="Arial"/>
                <a:cs typeface="Arial"/>
              </a:rPr>
              <a:t>Item (80%): </a:t>
            </a:r>
            <a:r>
              <a:rPr lang="en-US" sz="1050" b="0" dirty="0">
                <a:solidFill>
                  <a:srgbClr val="000000"/>
                </a:solidFill>
                <a:latin typeface="Arial"/>
                <a:cs typeface="Arial"/>
              </a:rPr>
              <a:t>Luminance value</a:t>
            </a:r>
            <a:r>
              <a:rPr lang="en-US" sz="1050" b="1" dirty="0">
                <a:solidFill>
                  <a:srgbClr val="000000"/>
                </a:solidFill>
                <a:latin typeface="Arial"/>
                <a:cs typeface="Arial"/>
              </a:rPr>
              <a:t>     PIC: </a:t>
            </a:r>
            <a:r>
              <a:rPr lang="en-US" sz="1050" b="0" dirty="0">
                <a:solidFill>
                  <a:srgbClr val="000000"/>
                </a:solidFill>
                <a:latin typeface="Arial"/>
                <a:cs typeface="Arial"/>
              </a:rPr>
              <a:t>IVI LD (this 6 Sigma assignment)</a:t>
            </a:r>
            <a:r>
              <a:rPr lang="en-US" sz="1050" b="1" dirty="0">
                <a:solidFill>
                  <a:srgbClr val="000000"/>
                </a:solidFill>
                <a:latin typeface="Arial"/>
                <a:cs typeface="Arial"/>
              </a:rPr>
              <a:t>     MFG: </a:t>
            </a:r>
            <a:r>
              <a:rPr lang="en-US" sz="1050" b="0" dirty="0">
                <a:solidFill>
                  <a:srgbClr val="000000"/>
                </a:solidFill>
                <a:latin typeface="Arial"/>
                <a:cs typeface="Arial"/>
              </a:rPr>
              <a:t>Line IVI 5, FA production line</a:t>
            </a:r>
          </a:p>
          <a:p>
            <a:pPr marL="0" indent="0">
              <a:spcAft>
                <a:spcPts val="0"/>
              </a:spcAft>
              <a:buNone/>
            </a:pPr>
            <a:r>
              <a:rPr lang="en-US" sz="1050" b="1" dirty="0">
                <a:solidFill>
                  <a:srgbClr val="000000"/>
                </a:solidFill>
                <a:latin typeface="Arial"/>
                <a:cs typeface="Arial"/>
              </a:rPr>
              <a:t>Other items: </a:t>
            </a:r>
            <a:r>
              <a:rPr lang="en-US" sz="1050" b="0" dirty="0">
                <a:solidFill>
                  <a:srgbClr val="000000"/>
                </a:solidFill>
                <a:latin typeface="Arial"/>
                <a:cs typeface="Arial"/>
              </a:rPr>
              <a:t>Hardware (broken pin connector) → Mr. Hai HW;  Software → HQ R&amp;D;  Contrast value (real defect) → HEESUNG vendor.</a:t>
            </a:r>
          </a:p>
        </p:txBody>
      </p:sp>
    </p:spTree>
    <p:extLst>
      <p:ext uri="{BB962C8B-B14F-4D97-AF65-F5344CB8AC3E}">
        <p14:creationId xmlns:p14="http://schemas.microsoft.com/office/powerpoint/2010/main" val="1738383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09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2.3 Result of current Cpk</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4" name="Added text 24"/>
          <p:cNvSpPr txBox="1"/>
          <p:nvPr/>
        </p:nvSpPr>
        <p:spPr>
          <a:xfrm>
            <a:off x="190500" y="6096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Current Cpk</a:t>
            </a:r>
          </a:p>
        </p:txBody>
      </p:sp>
      <p:pic>
        <p:nvPicPr>
          <p:cNvPr id="25" name="Probability plot before"/>
          <p:cNvPicPr>
            <a:picLocks noChangeAspect="1"/>
          </p:cNvPicPr>
          <p:nvPr/>
        </p:nvPicPr>
        <p:blipFill>
          <a:blip r:embed="rId8"/>
          <a:stretch>
            <a:fillRect/>
          </a:stretch>
        </p:blipFill>
        <p:spPr>
          <a:xfrm>
            <a:off x="190500" y="876300"/>
            <a:ext cx="3143250" cy="2619375"/>
          </a:xfrm>
          <a:prstGeom prst="rect">
            <a:avLst/>
          </a:prstGeom>
        </p:spPr>
      </p:pic>
      <p:pic>
        <p:nvPicPr>
          <p:cNvPr id="26" name="Capability report before"/>
          <p:cNvPicPr>
            <a:picLocks noChangeAspect="1"/>
          </p:cNvPicPr>
          <p:nvPr/>
        </p:nvPicPr>
        <p:blipFill>
          <a:blip r:embed="rId9"/>
          <a:stretch>
            <a:fillRect/>
          </a:stretch>
        </p:blipFill>
        <p:spPr>
          <a:xfrm>
            <a:off x="3429000" y="876300"/>
            <a:ext cx="3543300" cy="2905125"/>
          </a:xfrm>
          <a:prstGeom prst="rect">
            <a:avLst/>
          </a:prstGeom>
        </p:spPr>
      </p:pic>
      <p:sp>
        <p:nvSpPr>
          <p:cNvPr id="27" name="Added text 27"/>
          <p:cNvSpPr txBox="1"/>
          <p:nvPr/>
        </p:nvSpPr>
        <p:spPr>
          <a:xfrm>
            <a:off x="7124700" y="952500"/>
            <a:ext cx="2686050" cy="2857500"/>
          </a:xfrm>
          <a:prstGeom prst="rect">
            <a:avLst/>
          </a:prstGeom>
          <a:noFill/>
        </p:spPr>
        <p:txBody>
          <a:bodyPr wrap="square" lIns="0" tIns="0" rIns="0" bIns="0" rtlCol="0">
            <a:noAutofit/>
          </a:bodyPr>
          <a:lstStyle/>
          <a:p>
            <a:pPr marL="171450" indent="-171450">
              <a:spcAft>
                <a:spcPts val="100"/>
              </a:spcAft>
              <a:buFont typeface="Arial"/>
              <a:buChar char="•"/>
            </a:pPr>
            <a:r>
              <a:rPr lang="en-US" sz="1050" b="0" dirty="0">
                <a:solidFill>
                  <a:srgbClr val="000000"/>
                </a:solidFill>
                <a:latin typeface="Arial"/>
                <a:cs typeface="Arial"/>
              </a:rPr>
              <a:t>P-value &lt; 0.005 &lt; 0.05 → </a:t>
            </a:r>
            <a:r>
              <a:rPr lang="en-US" sz="1050" b="1" dirty="0">
                <a:solidFill>
                  <a:srgbClr val="C00000"/>
                </a:solidFill>
                <a:latin typeface="Arial"/>
                <a:cs typeface="Arial"/>
              </a:rPr>
              <a:t>NG</a:t>
            </a:r>
          </a:p>
          <a:p>
            <a:pPr marL="0" indent="0">
              <a:spcAft>
                <a:spcPts val="700"/>
              </a:spcAft>
              <a:buNone/>
            </a:pPr>
            <a:r>
              <a:rPr lang="en-US" sz="950" b="0" dirty="0">
                <a:solidFill>
                  <a:srgbClr val="595959"/>
                </a:solidFill>
                <a:latin typeface="Arial"/>
                <a:cs typeface="Arial"/>
              </a:rPr>
              <a:t>(Data do not follow a normal distribution)</a:t>
            </a:r>
          </a:p>
          <a:p>
            <a:pPr marL="171450" indent="-171450">
              <a:spcAft>
                <a:spcPts val="100"/>
              </a:spcAft>
              <a:buFont typeface="Arial"/>
              <a:buChar char="•"/>
            </a:pPr>
            <a:r>
              <a:rPr lang="en-US" sz="1050" b="0" dirty="0">
                <a:solidFill>
                  <a:srgbClr val="000000"/>
                </a:solidFill>
                <a:latin typeface="Arial"/>
                <a:cs typeface="Arial"/>
              </a:rPr>
              <a:t>Current process capability: Ppk = 0.45 &lt; 1.33 → </a:t>
            </a:r>
            <a:r>
              <a:rPr lang="en-US" sz="1050" b="1" dirty="0">
                <a:solidFill>
                  <a:srgbClr val="C00000"/>
                </a:solidFill>
                <a:latin typeface="Arial"/>
                <a:cs typeface="Arial"/>
              </a:rPr>
              <a:t>NG</a:t>
            </a:r>
          </a:p>
          <a:p>
            <a:pPr marL="0" indent="0">
              <a:spcAft>
                <a:spcPts val="700"/>
              </a:spcAft>
              <a:buNone/>
            </a:pPr>
            <a:r>
              <a:rPr lang="en-US" sz="950" b="0" dirty="0">
                <a:solidFill>
                  <a:srgbClr val="595959"/>
                </a:solidFill>
                <a:latin typeface="Arial"/>
                <a:cs typeface="Arial"/>
              </a:rPr>
              <a:t>Lack of process capability</a:t>
            </a:r>
          </a:p>
          <a:p>
            <a:pPr marL="171450" indent="-171450">
              <a:spcAft>
                <a:spcPts val="700"/>
              </a:spcAft>
              <a:buFont typeface="Arial"/>
              <a:buChar char="•"/>
            </a:pPr>
            <a:r>
              <a:rPr lang="en-US" sz="1050" b="0" dirty="0">
                <a:solidFill>
                  <a:srgbClr val="000000"/>
                </a:solidFill>
                <a:latin typeface="Arial"/>
                <a:cs typeface="Arial"/>
              </a:rPr>
              <a:t>The process mean 826.25 is close to the LSL 800; about 14% of the readings (7 of 50) are below the LSL.</a:t>
            </a:r>
          </a:p>
          <a:p>
            <a:pPr marL="0" indent="0">
              <a:spcAft>
                <a:spcPts val="0"/>
              </a:spcAft>
              <a:buNone/>
            </a:pPr>
            <a:r>
              <a:rPr lang="en-US" sz="900" b="0" dirty="0">
                <a:solidFill>
                  <a:srgbClr val="595959"/>
                </a:solidFill>
                <a:latin typeface="Arial"/>
                <a:cs typeface="Arial"/>
              </a:rPr>
              <a:t>Baseline sample: the 50 readings (25 sets × 2) measured at the station before improvement, see 2.2.</a:t>
            </a:r>
          </a:p>
        </p:txBody>
      </p:sp>
      <p:sp>
        <p:nvSpPr>
          <p:cNvPr id="28" name="Added text 28"/>
          <p:cNvSpPr txBox="1"/>
          <p:nvPr/>
        </p:nvSpPr>
        <p:spPr>
          <a:xfrm>
            <a:off x="190500" y="39243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Target of improvement</a:t>
            </a:r>
          </a:p>
        </p:txBody>
      </p:sp>
      <p:sp>
        <p:nvSpPr>
          <p:cNvPr id="29" name="Added text 29"/>
          <p:cNvSpPr txBox="1"/>
          <p:nvPr/>
        </p:nvSpPr>
        <p:spPr>
          <a:xfrm>
            <a:off x="190500" y="4191000"/>
            <a:ext cx="3333750" cy="1809750"/>
          </a:xfrm>
          <a:prstGeom prst="rect">
            <a:avLst/>
          </a:prstGeom>
          <a:noFill/>
        </p:spPr>
        <p:txBody>
          <a:bodyPr wrap="square" lIns="0" tIns="0" rIns="0" bIns="0" rtlCol="0">
            <a:noAutofit/>
          </a:bodyPr>
          <a:lstStyle/>
          <a:p>
            <a:pPr marL="171450" indent="-171450">
              <a:spcAft>
                <a:spcPts val="500"/>
              </a:spcAft>
              <a:buFont typeface="Arial"/>
              <a:buChar char="•"/>
            </a:pPr>
            <a:r>
              <a:rPr lang="en-US" sz="1050" b="0" dirty="0">
                <a:solidFill>
                  <a:srgbClr val="000000"/>
                </a:solidFill>
                <a:latin typeface="Arial"/>
                <a:cs typeface="Arial"/>
              </a:rPr>
              <a:t>Improvement goal (practical): measure the luminance correctly, i.e. the reference sample reads 910 Cd/m² (bias → 0).</a:t>
            </a:r>
          </a:p>
          <a:p>
            <a:pPr marL="171450" indent="-171450">
              <a:spcAft>
                <a:spcPts val="500"/>
              </a:spcAft>
              <a:buFont typeface="Arial"/>
              <a:buChar char="•"/>
            </a:pPr>
            <a:r>
              <a:rPr lang="en-US" sz="1050" b="0" dirty="0">
                <a:solidFill>
                  <a:srgbClr val="000000"/>
                </a:solidFill>
                <a:latin typeface="Arial"/>
                <a:cs typeface="Arial"/>
              </a:rPr>
              <a:t>(Before improvement) Z = 1.34  →  (After improvement) Cpk ≥ 1.33, Z = 4.5</a:t>
            </a:r>
          </a:p>
          <a:p>
            <a:pPr marL="171450" indent="-171450">
              <a:spcAft>
                <a:spcPts val="0"/>
              </a:spcAft>
              <a:buFont typeface="Arial"/>
              <a:buChar char="•"/>
            </a:pPr>
            <a:r>
              <a:rPr lang="en-US" sz="1050" b="0" dirty="0">
                <a:solidFill>
                  <a:srgbClr val="000000"/>
                </a:solidFill>
                <a:latin typeface="Arial"/>
                <a:cs typeface="Arial"/>
              </a:rPr>
              <a:t>Defect rate 226,624 ppm → 0 ppm</a:t>
            </a:r>
          </a:p>
        </p:txBody>
      </p:sp>
      <p:pic>
        <p:nvPicPr>
          <p:cNvPr id="30" name="Target of improvement"/>
          <p:cNvPicPr>
            <a:picLocks noChangeAspect="1"/>
          </p:cNvPicPr>
          <p:nvPr/>
        </p:nvPicPr>
        <p:blipFill>
          <a:blip r:embed="rId10"/>
          <a:stretch>
            <a:fillRect/>
          </a:stretch>
        </p:blipFill>
        <p:spPr>
          <a:xfrm>
            <a:off x="3667125" y="4048125"/>
            <a:ext cx="6096000" cy="1657350"/>
          </a:xfrm>
          <a:prstGeom prst="rect">
            <a:avLst/>
          </a:prstGeom>
        </p:spPr>
      </p:pic>
    </p:spTree>
    <p:extLst>
      <p:ext uri="{BB962C8B-B14F-4D97-AF65-F5344CB8AC3E}">
        <p14:creationId xmlns:p14="http://schemas.microsoft.com/office/powerpoint/2010/main" val="25694190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a:theme xmlns:a="http://schemas.openxmlformats.org/drawingml/2006/main" name="3_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Arial" charset="0"/>
            <a:ea typeface="돋움" pitchFamily="50" charset="-127"/>
          </a:defRPr>
        </a:defPPr>
      </a:lstStyle>
    </a:spDef>
    <a:lnDef>
      <a:spPr bwMode="auto">
        <a:noFill/>
        <a:ln w="9525" cap="flat" cmpd="sng" algn="ctr">
          <a:solidFill>
            <a:srgbClr val="C00000"/>
          </a:solidFill>
          <a:prstDash val="solid"/>
          <a:round/>
          <a:headEnd type="none" w="med" len="med"/>
          <a:tailEnd type="triangle" w="med" len="med"/>
        </a:ln>
        <a:effectLst/>
      </a:spPr>
      <a:body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c6ed9fc-fefc-4a0c-a6d6-10cf236c0d4f}" enabled="1" method="Standard" siteId="{5069cde4-642a-45c0-8094-d0c2dec10be3}" contentBits="1" removed="0"/>
</clbl:labelList>
</file>

<file path=docProps/app.xml><?xml version="1.0" encoding="utf-8"?>
<Properties xmlns="http://schemas.openxmlformats.org/officeDocument/2006/extended-properties" xmlns:vt="http://schemas.openxmlformats.org/officeDocument/2006/docPropsVTypes">
  <TotalTime>89542</TotalTime>
  <Words>6714</Words>
  <Application>Microsoft Office PowerPoint</Application>
  <PresentationFormat>A4 Paper (210x297 mm)</PresentationFormat>
  <Paragraphs>1740</Paragraphs>
  <Slides>33</Slides>
  <Notes>26</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47" baseType="lpstr">
      <vt:lpstr>Arial Unicode MS</vt:lpstr>
      <vt:lpstr>굴림</vt:lpstr>
      <vt:lpstr>현대하모니 L</vt:lpstr>
      <vt:lpstr>LG Smart_H Regular</vt:lpstr>
      <vt:lpstr>LG Smart_H Regular</vt:lpstr>
      <vt:lpstr>맑은 고딕</vt:lpstr>
      <vt:lpstr>Arial</vt:lpstr>
      <vt:lpstr>Arial Narrow</vt:lpstr>
      <vt:lpstr>Calibri</vt:lpstr>
      <vt:lpstr>Cambria Math</vt:lpstr>
      <vt:lpstr>Wingdings</vt:lpstr>
      <vt:lpstr>3_디자인 사용자 지정</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Bery</dc:creator>
  <cp:lastModifiedBy>LONG DUC NGUYEN/LGEVH IVI LD Cyber Security Part</cp:lastModifiedBy>
  <cp:revision>3215</cp:revision>
  <cp:lastPrinted>2017-04-20T00:57:17Z</cp:lastPrinted>
  <dcterms:created xsi:type="dcterms:W3CDTF">2013-07-05T02:04:59Z</dcterms:created>
  <dcterms:modified xsi:type="dcterms:W3CDTF">2026-10-01T02:06:12Z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3_디자인 사용자 지정:4</vt:lpwstr>
  </property>
  <property fmtid="{D5CDD505-2E9C-101B-9397-08002B2CF9AE}" pid="3" name="ClassificationContentMarkingHeaderText">
    <vt:lpwstr>LGE Internal Use Only</vt:lpwstr>
  </property>
</Properties>
</file>